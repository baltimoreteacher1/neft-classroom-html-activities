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3E33288-25B0-DC61-9E1C-5ED281FCBD22}">
          <p14:sldIdLst>
            <p14:sldId id="256"/>
            <p14:sldId id="257"/>
          </p14:sldIdLst>
        </p14:section>
        <p14:section name="Question 1" id="{CBF84267-F7F9-8DC5-5F26-B2E2D5F9F664}">
          <p14:sldIdLst>
            <p14:sldId id="258"/>
            <p14:sldId id="259"/>
          </p14:sldIdLst>
        </p14:section>
        <p14:section name="Question 2" id="{441B394E-83EE-DB71-EE13-31D1090CAEDB}">
          <p14:sldIdLst>
            <p14:sldId id="260"/>
            <p14:sldId id="261"/>
          </p14:sldIdLst>
        </p14:section>
        <p14:section name="Question 3" id="{2FB296BB-7020-4F3F-0544-6E0586D9C032}">
          <p14:sldIdLst>
            <p14:sldId id="262"/>
            <p14:sldId id="263"/>
          </p14:sldIdLst>
        </p14:section>
        <p14:section name="Question 4" id="{D1CFEB4B-F17C-A2A5-57B9-3F40CE763E81}">
          <p14:sldIdLst>
            <p14:sldId id="264"/>
            <p14:sldId id="265"/>
          </p14:sldIdLst>
        </p14:section>
        <p14:section name="Question 5" id="{04750ABA-C790-498A-C231-B5733E9F97AD}">
          <p14:sldIdLst>
            <p14:sldId id="266"/>
            <p14:sldId id="267"/>
          </p14:sldIdLst>
        </p14:section>
        <p14:section name="Question 6" id="{5FE924AF-F336-C68A-FE52-FF768B210740}">
          <p14:sldIdLst>
            <p14:sldId id="268"/>
            <p14:sldId id="269"/>
          </p14:sldIdLst>
        </p14:section>
        <p14:section name="Question 7" id="{42BBC68B-704D-F804-27FE-27E9FCFDF95F}">
          <p14:sldIdLst>
            <p14:sldId id="270"/>
            <p14:sldId id="271"/>
          </p14:sldIdLst>
        </p14:section>
        <p14:section name="Question 8" id="{8007001A-C9A6-45B8-D3F7-78F3DF3DE669}">
          <p14:sldIdLst>
            <p14:sldId id="272"/>
            <p14:sldId id="273"/>
          </p14:sldIdLst>
        </p14:section>
        <p14:section name="Question 9" id="{52017AC6-2DBB-7B92-CDCC-274883D19A15}">
          <p14:sldIdLst>
            <p14:sldId id="274"/>
            <p14:sldId id="275"/>
          </p14:sldIdLst>
        </p14:section>
        <p14:section name="Question 10" id="{7EA6E89D-BD7D-722D-B458-ADE42297BE93}">
          <p14:sldIdLst>
            <p14:sldId id="276"/>
            <p14:sldId id="277"/>
          </p14:sldIdLst>
        </p14:section>
        <p14:section name="Question 11" id="{95F0FE34-79B2-BF62-5AAE-B6A086089912}">
          <p14:sldIdLst>
            <p14:sldId id="278"/>
            <p14:sldId id="279"/>
          </p14:sldIdLst>
        </p14:section>
        <p14:section name="Question 12" id="{6669CE64-11C8-EE5F-0F76-1F08683DE0B9}">
          <p14:sldIdLst>
            <p14:sldId id="280"/>
            <p14:sldId id="281"/>
          </p14:sldIdLst>
        </p14:section>
        <p14:section name="Question 13" id="{AFD6DBF7-825B-FE70-2FEB-D31D17E59834}">
          <p14:sldIdLst>
            <p14:sldId id="282"/>
            <p14:sldId id="283"/>
          </p14:sldIdLst>
        </p14:section>
        <p14:section name="Wrap-Up" id="{FD165EEE-86D8-8CB4-31EA-F8A71C5EA4D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Stickers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E36414"/>
              </a:solidFill>
              <a:ln w="9525" cap="flat">
                <a:solidFill>
                  <a:srgbClr val="E36414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  <c:pt idx="4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CB2-FB4E-928A-064A406AA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"/>
          <c:min val="0"/>
        </c:scaling>
        <c:delete val="0"/>
        <c:axPos val="b"/>
        <c:majorGridlines>
          <c:spPr>
            <a:ln w="12700" cap="flat">
              <a:solidFill>
                <a:srgbClr val="D3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r>
                  <a:rPr lang="en-US" sz="1300" b="0" i="0" u="none" strike="noStrike">
                    <a:solidFill>
                      <a:srgbClr val="1B2A33"/>
                    </a:solidFill>
                    <a:latin typeface="+mn-lt"/>
                  </a:rPr>
                  <a:t>Number of Pages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crossBetween val="midCat"/>
        <c:majorUnit val="1"/>
      </c:val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D3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r>
                  <a:rPr lang="en-US" sz="1300" b="0" i="0" u="none" strike="noStrike">
                    <a:solidFill>
                      <a:srgbClr val="1B2A33"/>
                    </a:solidFill>
                    <a:latin typeface="+mn-lt"/>
                  </a:rPr>
                  <a:t>Number of Stickers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 A</c:v>
                </c:pt>
              </c:strCache>
            </c:strRef>
          </c:tx>
          <c:spPr>
            <a:ln w="2540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8AF-3443-8F1C-E1BD72F7D7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 B</c:v>
                </c:pt>
              </c:strCache>
            </c:strRef>
          </c:tx>
          <c:spPr>
            <a:ln w="25400" cap="flat">
              <a:solidFill>
                <a:srgbClr val="E36414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36414"/>
              </a:solidFill>
              <a:ln w="9525" cap="flat">
                <a:solidFill>
                  <a:srgbClr val="E36414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8AF-3443-8F1C-E1BD72F7D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D3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r>
                  <a:rPr lang="en-US" sz="1300" b="0" i="0" u="none" strike="noStrike">
                    <a:solidFill>
                      <a:srgbClr val="1B2A33"/>
                    </a:solidFill>
                    <a:latin typeface="+mn-lt"/>
                  </a:rPr>
                  <a:t>Servings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crossBetween val="midCat"/>
        <c:majorUnit val="1"/>
      </c:val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3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r>
                  <a:rPr lang="en-US" sz="1300" b="0" i="0" u="none" strike="noStrike">
                    <a:solidFill>
                      <a:srgbClr val="1B2A33"/>
                    </a:solidFill>
                    <a:latin typeface="+mn-lt"/>
                  </a:rPr>
                  <a:t>Fiber (g)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B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44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go over the Unit 3 test together. For each question we first read the problem, then solve it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routine: first slide shows the problem, next slide shows the steps. Pause on each problem slide and ask students what they know and what they need to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is the ratio? (1 red : 5 blue). What is the total? (24). Point out that 24 is the TOTAL, not the number of blue beads.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mistake: 24 ÷ 5. Remind students that one group has 6 beads (1 + 5).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question twice. Which group comes first? Robotics. Which comes second? Soccer. Ignore Art Club and Debate Team — they are extra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students who wrote 36/30 or 6/5 — the order is reversed. For Part B, use the sentence: For every ___ in ___, there are ___ in ___.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does 'unit rate' mean? (The amount for ONE unit — here, 1 second.)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the top and bottom by the same number (48) to get down to 1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price = cost of 1 pound. A bigger bag is not always a better deal — we compare the price for the SAME amount (1 pound).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13.50 ÷ 2.5, you can multiply both by 2: 27 ÷ 5 = 5.40. Choice C is a trap: a bigger bag does not mean a better buy.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both people's pay for ONE hour. Tasha's is a calculation; Devon's we can read from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point to the 1-hour mark on the number line before reading the dollar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ratio is chocolate : white = 4 : 3. Every column in the table must keep this same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one: 44 ÷ 4 = 11 groups, 11 × 3 = 33. Students who subtracted 1 (12 → 11) used adding, not multiplying.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x-axis = pages (go RIGHT). y-axis = stickers (go 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y-axis counts by 2s, so 3, 9 and 15 sit halfway between grid lines. That is the most common plotting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B does not start at 1 serving. We need to find the fiber in 1 serving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graph, the steeper line has the greater rate. Brand B's line is steeper.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rate here is MINUTES per mile, so minutes go on top: 27 ÷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ratio table helps: 3 → 1 → 5 miles, 27 → 9 → 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Equivalent rates have the same unit rate. Find calories per 1 minute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 answer says YES and gives the reason (both are 9 calories per minute).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kilogram is MORE than 2 pounds. So the number of pounds should be bigger than 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who picked A or B divided instead of multiplied. 60 × 2 = 120 is a quick estimate that rules out C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Does the ratio 7 : 4 mean 'add or subtract 3'? Or does it mean groups of 7 and 4?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box in the tape diagram has the same value. Label all 11 boxes with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yard is bigger than a foot, so we should get FEWER yards than feet.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who got 6,300 multiplied. Ask: should there be more yards or fewer yards than feet?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big ideas. Ask students which question each idea helped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Test Review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Ratios, Rates, and Unit Rates  •  Version B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Review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Number"/>
          <p:cNvSpPr/>
          <p:nvPr/>
        </p:nvSpPr>
        <p:spPr>
          <a:xfrm>
            <a:off x="185166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8516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problem together. Look at the picture or table.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4343400" y="1554480"/>
            <a:ext cx="3520440" cy="4023360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Number"/>
          <p:cNvSpPr/>
          <p:nvPr/>
        </p:nvSpPr>
        <p:spPr>
          <a:xfrm>
            <a:off x="564642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464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749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know? What do we need to find?</a:t>
            </a:r>
            <a:endParaRPr lang="en-US" sz="2000" dirty="0"/>
          </a:p>
        </p:txBody>
      </p:sp>
      <p:sp>
        <p:nvSpPr>
          <p:cNvPr id="13" name="Card"/>
          <p:cNvSpPr/>
          <p:nvPr/>
        </p:nvSpPr>
        <p:spPr>
          <a:xfrm>
            <a:off x="8138160" y="1554480"/>
            <a:ext cx="3520440" cy="40233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Number"/>
          <p:cNvSpPr/>
          <p:nvPr/>
        </p:nvSpPr>
        <p:spPr>
          <a:xfrm>
            <a:off x="9441180" y="187452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4411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749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simple steps. Check your answer.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Bracelet Beads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8064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is stringing beads to make a bracelet.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uses 1 red bead for every 5 blue beads.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bracelet has 24 beads in all.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each color bead will Priya use?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cs typeface="Calibri" pitchFamily="34" charset="-120"/>
              </a:rPr>
              <a:t>Hint: 1+5 =6 and 24/6 =4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cs typeface="Calibri" pitchFamily="34" charset="-120"/>
              </a:rPr>
              <a:t>*Scale each part by x4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6903720" y="1325880"/>
            <a:ext cx="4754880" cy="43434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903720" y="24460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37719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beads in all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red : 5 blue</a:t>
            </a:r>
            <a:endParaRPr lang="en-US" sz="2200" dirty="0"/>
          </a:p>
        </p:txBody>
      </p:sp>
      <p:sp>
        <p:nvSpPr>
          <p:cNvPr id="10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blue beads and the number of red beads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Bracelet Beads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group.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red + 5 blue = 6 beads in each group.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003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00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458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groups.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÷ 6 = 4 groups.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color by 4.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1 × 4 = 4.   Blue: 5 × 4 = 20.</a:t>
            </a:r>
            <a:endParaRPr lang="en-US" sz="2000" dirty="0"/>
          </a:p>
        </p:txBody>
      </p:sp>
      <p:sp>
        <p:nvSpPr>
          <p:cNvPr id="14" name="Step 4 mar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66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2054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+ 20 = 24 ✓</a:t>
            </a:r>
            <a:endParaRPr lang="en-US" sz="2000" dirty="0"/>
          </a:p>
        </p:txBody>
      </p:sp>
      <p:sp>
        <p:nvSpPr>
          <p:cNvPr id="17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8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blue beads and 4 red beads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98080" y="1463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group = 1 red + 5 blue = 6 beads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103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400" dirty="0"/>
          </a:p>
        </p:txBody>
      </p:sp>
      <p:sp>
        <p:nvSpPr>
          <p:cNvPr id="22" name="Bead"/>
          <p:cNvSpPr/>
          <p:nvPr/>
        </p:nvSpPr>
        <p:spPr>
          <a:xfrm>
            <a:off x="8458200" y="21031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ead"/>
          <p:cNvSpPr/>
          <p:nvPr/>
        </p:nvSpPr>
        <p:spPr>
          <a:xfrm>
            <a:off x="8951976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ead"/>
          <p:cNvSpPr/>
          <p:nvPr/>
        </p:nvSpPr>
        <p:spPr>
          <a:xfrm>
            <a:off x="9445752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ead"/>
          <p:cNvSpPr/>
          <p:nvPr/>
        </p:nvSpPr>
        <p:spPr>
          <a:xfrm>
            <a:off x="9939528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Bead"/>
          <p:cNvSpPr/>
          <p:nvPr/>
        </p:nvSpPr>
        <p:spPr>
          <a:xfrm>
            <a:off x="10433304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ead"/>
          <p:cNvSpPr/>
          <p:nvPr/>
        </p:nvSpPr>
        <p:spPr>
          <a:xfrm>
            <a:off x="10927080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498080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400" dirty="0"/>
          </a:p>
        </p:txBody>
      </p:sp>
      <p:sp>
        <p:nvSpPr>
          <p:cNvPr id="29" name="Bead"/>
          <p:cNvSpPr/>
          <p:nvPr/>
        </p:nvSpPr>
        <p:spPr>
          <a:xfrm>
            <a:off x="8458200" y="2834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ead"/>
          <p:cNvSpPr/>
          <p:nvPr/>
        </p:nvSpPr>
        <p:spPr>
          <a:xfrm>
            <a:off x="8951976" y="283464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Bead"/>
          <p:cNvSpPr/>
          <p:nvPr/>
        </p:nvSpPr>
        <p:spPr>
          <a:xfrm>
            <a:off x="9445752" y="283464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Bead"/>
          <p:cNvSpPr/>
          <p:nvPr/>
        </p:nvSpPr>
        <p:spPr>
          <a:xfrm>
            <a:off x="9939528" y="283464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Bead"/>
          <p:cNvSpPr/>
          <p:nvPr/>
        </p:nvSpPr>
        <p:spPr>
          <a:xfrm>
            <a:off x="10433304" y="283464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Bead"/>
          <p:cNvSpPr/>
          <p:nvPr/>
        </p:nvSpPr>
        <p:spPr>
          <a:xfrm>
            <a:off x="10927080" y="283464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498080" y="3566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1400" dirty="0"/>
          </a:p>
        </p:txBody>
      </p:sp>
      <p:sp>
        <p:nvSpPr>
          <p:cNvPr id="36" name="Bead"/>
          <p:cNvSpPr/>
          <p:nvPr/>
        </p:nvSpPr>
        <p:spPr>
          <a:xfrm>
            <a:off x="8458200" y="35661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Bead"/>
          <p:cNvSpPr/>
          <p:nvPr/>
        </p:nvSpPr>
        <p:spPr>
          <a:xfrm>
            <a:off x="8951976" y="35661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Bead"/>
          <p:cNvSpPr/>
          <p:nvPr/>
        </p:nvSpPr>
        <p:spPr>
          <a:xfrm>
            <a:off x="9445752" y="35661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Bead"/>
          <p:cNvSpPr/>
          <p:nvPr/>
        </p:nvSpPr>
        <p:spPr>
          <a:xfrm>
            <a:off x="9939528" y="35661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Bead"/>
          <p:cNvSpPr/>
          <p:nvPr/>
        </p:nvSpPr>
        <p:spPr>
          <a:xfrm>
            <a:off x="10433304" y="35661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Bead"/>
          <p:cNvSpPr/>
          <p:nvPr/>
        </p:nvSpPr>
        <p:spPr>
          <a:xfrm>
            <a:off x="10927080" y="35661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498080" y="4297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1400" dirty="0"/>
          </a:p>
        </p:txBody>
      </p:sp>
      <p:sp>
        <p:nvSpPr>
          <p:cNvPr id="43" name="Bead"/>
          <p:cNvSpPr/>
          <p:nvPr/>
        </p:nvSpPr>
        <p:spPr>
          <a:xfrm>
            <a:off x="8458200" y="42976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Bead"/>
          <p:cNvSpPr/>
          <p:nvPr/>
        </p:nvSpPr>
        <p:spPr>
          <a:xfrm>
            <a:off x="8951976" y="42976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Bead"/>
          <p:cNvSpPr/>
          <p:nvPr/>
        </p:nvSpPr>
        <p:spPr>
          <a:xfrm>
            <a:off x="9445752" y="42976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Bead"/>
          <p:cNvSpPr/>
          <p:nvPr/>
        </p:nvSpPr>
        <p:spPr>
          <a:xfrm>
            <a:off x="9939528" y="42976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Bead"/>
          <p:cNvSpPr/>
          <p:nvPr/>
        </p:nvSpPr>
        <p:spPr>
          <a:xfrm>
            <a:off x="10433304" y="42976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Bead"/>
          <p:cNvSpPr/>
          <p:nvPr/>
        </p:nvSpPr>
        <p:spPr>
          <a:xfrm>
            <a:off x="10927080" y="42976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7498080" y="58064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groups × 6 = 24 beads</a:t>
            </a:r>
            <a:endParaRPr lang="en-US" sz="18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School Groups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ratio of students in the Robotics Club to students on the Soccer Team. Write it as a fraction in simplest form.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your simplified ratio means.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91640"/>
          <a:ext cx="4754880" cy="2834640"/>
        </p:xfrm>
        <a:graphic>
          <a:graphicData uri="http://schemas.openxmlformats.org/drawingml/2006/table">
            <a:tbl>
              <a:tblPr/>
              <a:tblGrid>
                <a:gridCol w="2948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Group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Soccer Team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Club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 Club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Debate Team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to soccer as a fraction in simplest form, then explain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School Groups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first (top), Soccer second (bottom): 30/36.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003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00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458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GCF.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greatest common factor of 30 and 36 is 6.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both by 6.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÷ 6 = 5   and   36 ÷ 6 = 6  →  5/6</a:t>
            </a:r>
            <a:endParaRPr lang="en-US" sz="2000" dirty="0"/>
          </a:p>
        </p:txBody>
      </p:sp>
      <p:sp>
        <p:nvSpPr>
          <p:cNvPr id="14" name="Step 4 mar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66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2054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explain.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5 students in Robotics Club, there are 6 students on the Soccer Team.</a:t>
            </a:r>
            <a:endParaRPr lang="en-US" sz="2000" dirty="0"/>
          </a:p>
        </p:txBody>
      </p:sp>
      <p:sp>
        <p:nvSpPr>
          <p:cNvPr id="17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8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98080" y="15087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→ top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 → bottom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788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7772400" y="3538728"/>
            <a:ext cx="82296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635240" y="359359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3108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6</a:t>
            </a:r>
            <a:endParaRPr lang="en-US" sz="1800" dirty="0"/>
          </a:p>
        </p:txBody>
      </p:sp>
      <p:sp>
        <p:nvSpPr>
          <p:cNvPr id="25" name="Arrow"/>
          <p:cNvSpPr/>
          <p:nvPr/>
        </p:nvSpPr>
        <p:spPr>
          <a:xfrm>
            <a:off x="8915400" y="3611880"/>
            <a:ext cx="114300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195560" y="2788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10332720" y="3538728"/>
            <a:ext cx="82296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10195560" y="359359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5623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GCF of 30 and 36 is 6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Jumping Jacks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Darnell does 192 jumping jacks in 48 seconds.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rate as a unit rate.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6903720" y="1325880"/>
            <a:ext cx="4754880" cy="43434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903720" y="24460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37719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jacks in 48 seconds</a:t>
            </a:r>
            <a:endParaRPr lang="en-US" sz="2200" dirty="0"/>
          </a:p>
        </p:txBody>
      </p:sp>
      <p:sp>
        <p:nvSpPr>
          <p:cNvPr id="10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jacks in 1 second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Jumping Jacks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goal.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rate tells how many in 1 second.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2316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÷ 48 = 4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7472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48 = 192 ✓</a:t>
            </a:r>
            <a:endParaRPr lang="en-US" sz="2000" dirty="0"/>
          </a:p>
        </p:txBody>
      </p:sp>
      <p:sp>
        <p:nvSpPr>
          <p:cNvPr id="14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5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jumping jacks per second</a:t>
            </a:r>
            <a:endParaRPr lang="en-US" sz="2200" dirty="0"/>
          </a:p>
        </p:txBody>
      </p:sp>
      <p:sp>
        <p:nvSpPr>
          <p:cNvPr id="16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423160"/>
          <a:ext cx="3886200" cy="13411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Jumping jacks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543800" y="40690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48 on both rows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Trail Mix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475488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429768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unit price (price per pound) at each store.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store is the better buy?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5623560" y="1325880"/>
            <a:ext cx="2743200" cy="2057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897880" y="1508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Market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4-pound bag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$22.60</a:t>
            </a:r>
            <a:endParaRPr lang="en-US" sz="3800" dirty="0"/>
          </a:p>
        </p:txBody>
      </p:sp>
      <p:sp>
        <p:nvSpPr>
          <p:cNvPr id="11" name="Card"/>
          <p:cNvSpPr/>
          <p:nvPr/>
        </p:nvSpPr>
        <p:spPr>
          <a:xfrm>
            <a:off x="5623560" y="3566160"/>
            <a:ext cx="2743200" cy="2057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89788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Nature's Pantry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2.5-pound bag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$13.50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choices: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8595360" y="1828800"/>
            <a:ext cx="3063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778240" y="1828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Fresh Market — lower unit price</a:t>
            </a:r>
            <a:endParaRPr lang="en-US" sz="1800" dirty="0"/>
          </a:p>
        </p:txBody>
      </p:sp>
      <p:sp>
        <p:nvSpPr>
          <p:cNvPr id="18" name="Card"/>
          <p:cNvSpPr/>
          <p:nvPr/>
        </p:nvSpPr>
        <p:spPr>
          <a:xfrm>
            <a:off x="8595360" y="2761488"/>
            <a:ext cx="3063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778240" y="276148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Nature's Pantry — lower unit price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8595360" y="3694176"/>
            <a:ext cx="3063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778240" y="369417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Fresh Market — bigger bag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8595360" y="4626864"/>
            <a:ext cx="3063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778240" y="462686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Either store — equally good</a:t>
            </a:r>
            <a:endParaRPr lang="en-US" sz="1800" dirty="0"/>
          </a:p>
        </p:txBody>
      </p:sp>
      <p:sp>
        <p:nvSpPr>
          <p:cNvPr id="24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for 1 pound at each store, then the better buy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Trail Mix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= price ÷ pounds.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cost of 1 pound.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003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00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458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Market.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$22.60 ÷ 4 = $5.65 per pound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Nature's Pantry.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$13.50 ÷ 2.5 = $5.40 per pound</a:t>
            </a:r>
            <a:endParaRPr lang="en-US" sz="2000" dirty="0"/>
          </a:p>
        </p:txBody>
      </p:sp>
      <p:sp>
        <p:nvSpPr>
          <p:cNvPr id="14" name="Step 4 mar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66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2054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compare.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 &lt; $5.65, so Nature's Pantry is cheaper per pound.</a:t>
            </a:r>
            <a:endParaRPr lang="en-US" sz="2000" dirty="0"/>
          </a:p>
        </p:txBody>
      </p:sp>
      <p:sp>
        <p:nvSpPr>
          <p:cNvPr id="17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8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$5.65 and $5.40; Nature's Pantry (lower unit price)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1325880"/>
            <a:ext cx="4343400" cy="164592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89520" y="14630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Market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19659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$5.65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pound</a:t>
            </a:r>
            <a:endParaRPr lang="en-US" sz="3600" dirty="0"/>
          </a:p>
        </p:txBody>
      </p:sp>
      <p:sp>
        <p:nvSpPr>
          <p:cNvPr id="22" name="Card"/>
          <p:cNvSpPr/>
          <p:nvPr/>
        </p:nvSpPr>
        <p:spPr>
          <a:xfrm>
            <a:off x="7315200" y="3154680"/>
            <a:ext cx="4343400" cy="1645920"/>
          </a:xfrm>
          <a:prstGeom prst="roundRect">
            <a:avLst>
              <a:gd name="adj" fmla="val 8333"/>
            </a:avLst>
          </a:prstGeom>
          <a:solidFill>
            <a:srgbClr val="E3F2E6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589520" y="3291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Nature's Pantry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3794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pound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5120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unit price = better buy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Who Earns More?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 earns $56 in 4 hours.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number line shows what Devon earns.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sentence: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Tasha / Devon ] earns $[ 1 / 2 / 3 / 4 ] more per hour.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6903720" y="1325880"/>
            <a:ext cx="475488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08660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Devon's earnings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600" dirty="0"/>
          </a:p>
        </p:txBody>
      </p:sp>
      <p:sp>
        <p:nvSpPr>
          <p:cNvPr id="10" name="Hours line"/>
          <p:cNvSpPr/>
          <p:nvPr/>
        </p:nvSpPr>
        <p:spPr>
          <a:xfrm>
            <a:off x="8092440" y="2743200"/>
            <a:ext cx="32461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ck"/>
          <p:cNvSpPr/>
          <p:nvPr/>
        </p:nvSpPr>
        <p:spPr>
          <a:xfrm>
            <a:off x="809244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81812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ick"/>
          <p:cNvSpPr/>
          <p:nvPr/>
        </p:nvSpPr>
        <p:spPr>
          <a:xfrm>
            <a:off x="868680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41248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ick"/>
          <p:cNvSpPr/>
          <p:nvPr/>
        </p:nvSpPr>
        <p:spPr>
          <a:xfrm>
            <a:off x="928116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00684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ick"/>
          <p:cNvSpPr/>
          <p:nvPr/>
        </p:nvSpPr>
        <p:spPr>
          <a:xfrm>
            <a:off x="987552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60120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ick"/>
          <p:cNvSpPr/>
          <p:nvPr/>
        </p:nvSpPr>
        <p:spPr>
          <a:xfrm>
            <a:off x="1046988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19556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ick"/>
          <p:cNvSpPr/>
          <p:nvPr/>
        </p:nvSpPr>
        <p:spPr>
          <a:xfrm>
            <a:off x="1106424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78992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246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</a:t>
            </a:r>
            <a:endParaRPr lang="en-US" sz="1600" dirty="0"/>
          </a:p>
        </p:txBody>
      </p:sp>
      <p:sp>
        <p:nvSpPr>
          <p:cNvPr id="24" name="Dollars line"/>
          <p:cNvSpPr/>
          <p:nvPr/>
        </p:nvSpPr>
        <p:spPr>
          <a:xfrm>
            <a:off x="8092440" y="3429000"/>
            <a:ext cx="32461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ick"/>
          <p:cNvSpPr/>
          <p:nvPr/>
        </p:nvSpPr>
        <p:spPr>
          <a:xfrm>
            <a:off x="809244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81812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7" name="Tick"/>
          <p:cNvSpPr/>
          <p:nvPr/>
        </p:nvSpPr>
        <p:spPr>
          <a:xfrm>
            <a:off x="868680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41248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9" name="Tick"/>
          <p:cNvSpPr/>
          <p:nvPr/>
        </p:nvSpPr>
        <p:spPr>
          <a:xfrm>
            <a:off x="928116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00684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31" name="Tick"/>
          <p:cNvSpPr/>
          <p:nvPr/>
        </p:nvSpPr>
        <p:spPr>
          <a:xfrm>
            <a:off x="987552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60120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600" dirty="0"/>
          </a:p>
        </p:txBody>
      </p:sp>
      <p:sp>
        <p:nvSpPr>
          <p:cNvPr id="33" name="Tick"/>
          <p:cNvSpPr/>
          <p:nvPr/>
        </p:nvSpPr>
        <p:spPr>
          <a:xfrm>
            <a:off x="1046988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019556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600" dirty="0"/>
          </a:p>
        </p:txBody>
      </p:sp>
      <p:sp>
        <p:nvSpPr>
          <p:cNvPr id="35" name="Tick"/>
          <p:cNvSpPr/>
          <p:nvPr/>
        </p:nvSpPr>
        <p:spPr>
          <a:xfrm>
            <a:off x="1106424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1078992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4343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Tasha: $56 in 4 hours</a:t>
            </a:r>
            <a:endParaRPr lang="en-US" sz="2000" dirty="0"/>
          </a:p>
        </p:txBody>
      </p:sp>
      <p:sp>
        <p:nvSpPr>
          <p:cNvPr id="38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earns more per hour, and how much more</a:t>
            </a:r>
            <a:endParaRPr lang="en-US" sz="2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Who Earns More?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 per hour.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 ÷ 4 = $14 per hour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2316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per hour.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line at 1 hour: $11 per hour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7472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$14 − $11 = $3. Tasha earns more.</a:t>
            </a:r>
            <a:endParaRPr lang="en-US" sz="2000" dirty="0"/>
          </a:p>
        </p:txBody>
      </p:sp>
      <p:sp>
        <p:nvSpPr>
          <p:cNvPr id="14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5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 earns $3 more per hour</a:t>
            </a:r>
            <a:endParaRPr lang="en-US" sz="2200" dirty="0"/>
          </a:p>
        </p:txBody>
      </p:sp>
      <p:sp>
        <p:nvSpPr>
          <p:cNvPr id="16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0" y="15087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Devon's earnings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600" dirty="0"/>
          </a:p>
        </p:txBody>
      </p:sp>
      <p:sp>
        <p:nvSpPr>
          <p:cNvPr id="19" name="Hours line"/>
          <p:cNvSpPr/>
          <p:nvPr/>
        </p:nvSpPr>
        <p:spPr>
          <a:xfrm>
            <a:off x="8503920" y="2743200"/>
            <a:ext cx="2834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ick"/>
          <p:cNvSpPr/>
          <p:nvPr/>
        </p:nvSpPr>
        <p:spPr>
          <a:xfrm>
            <a:off x="850392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ick"/>
          <p:cNvSpPr/>
          <p:nvPr/>
        </p:nvSpPr>
        <p:spPr>
          <a:xfrm>
            <a:off x="9015984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741664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ick"/>
          <p:cNvSpPr/>
          <p:nvPr/>
        </p:nvSpPr>
        <p:spPr>
          <a:xfrm>
            <a:off x="9528048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253728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ick"/>
          <p:cNvSpPr/>
          <p:nvPr/>
        </p:nvSpPr>
        <p:spPr>
          <a:xfrm>
            <a:off x="10040112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765792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ick"/>
          <p:cNvSpPr/>
          <p:nvPr/>
        </p:nvSpPr>
        <p:spPr>
          <a:xfrm>
            <a:off x="10552176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277856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ick"/>
          <p:cNvSpPr/>
          <p:nvPr/>
        </p:nvSpPr>
        <p:spPr>
          <a:xfrm>
            <a:off x="11064240" y="26517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078992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246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</a:t>
            </a:r>
            <a:endParaRPr lang="en-US" sz="1600" dirty="0"/>
          </a:p>
        </p:txBody>
      </p:sp>
      <p:sp>
        <p:nvSpPr>
          <p:cNvPr id="33" name="Dollars line"/>
          <p:cNvSpPr/>
          <p:nvPr/>
        </p:nvSpPr>
        <p:spPr>
          <a:xfrm>
            <a:off x="8503920" y="3429000"/>
            <a:ext cx="2834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ick"/>
          <p:cNvSpPr/>
          <p:nvPr/>
        </p:nvSpPr>
        <p:spPr>
          <a:xfrm>
            <a:off x="850392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22960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Tick"/>
          <p:cNvSpPr/>
          <p:nvPr/>
        </p:nvSpPr>
        <p:spPr>
          <a:xfrm>
            <a:off x="9015984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741664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8" name="Tick"/>
          <p:cNvSpPr/>
          <p:nvPr/>
        </p:nvSpPr>
        <p:spPr>
          <a:xfrm>
            <a:off x="9528048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9253728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40" name="Tick"/>
          <p:cNvSpPr/>
          <p:nvPr/>
        </p:nvSpPr>
        <p:spPr>
          <a:xfrm>
            <a:off x="10040112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765792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600" dirty="0"/>
          </a:p>
        </p:txBody>
      </p:sp>
      <p:sp>
        <p:nvSpPr>
          <p:cNvPr id="42" name="Tick"/>
          <p:cNvSpPr/>
          <p:nvPr/>
        </p:nvSpPr>
        <p:spPr>
          <a:xfrm>
            <a:off x="10552176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0277856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600" dirty="0"/>
          </a:p>
        </p:txBody>
      </p:sp>
      <p:sp>
        <p:nvSpPr>
          <p:cNvPr id="44" name="Tick"/>
          <p:cNvSpPr/>
          <p:nvPr/>
        </p:nvSpPr>
        <p:spPr>
          <a:xfrm>
            <a:off x="11064240" y="3337560"/>
            <a:ext cx="0" cy="18288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78992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46" name="1 hour highlight"/>
          <p:cNvSpPr/>
          <p:nvPr/>
        </p:nvSpPr>
        <p:spPr>
          <a:xfrm>
            <a:off x="8759952" y="2194560"/>
            <a:ext cx="512064" cy="1783080"/>
          </a:xfrm>
          <a:prstGeom prst="roundRect">
            <a:avLst>
              <a:gd name="adj" fmla="val 17857"/>
            </a:avLst>
          </a:prstGeom>
          <a:solidFill>
            <a:schemeClr val="accent1"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749808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→ $11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0" y="4892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Tasha: $14   vs.   Devon: $11</a:t>
            </a:r>
            <a:endParaRPr lang="en-US" sz="18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6: Milk Survey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4 people who like chocolate milk, 3 people like white milk.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table.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you found your answers. Start with: “I know this because…”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6903720" y="1325880"/>
            <a:ext cx="475488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08660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: White = 4 : 3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423160"/>
          <a:ext cx="4389120" cy="12801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white milk people for each column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6: Milk Survey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ratio.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chocolate : 3 white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003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00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458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groups.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÷ 4 = 3 groups, so white = 3 × 3 = 9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15,   32 → 24,   44 → 33</a:t>
            </a:r>
            <a:endParaRPr lang="en-US" sz="2000" dirty="0"/>
          </a:p>
        </p:txBody>
      </p:sp>
      <p:sp>
        <p:nvSpPr>
          <p:cNvPr id="14" name="Step 4 mar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66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2054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this because I divided by 4 to find the groups, then multiplied by 3.”</a:t>
            </a:r>
            <a:endParaRPr lang="en-US" sz="2000" dirty="0"/>
          </a:p>
        </p:txBody>
      </p:sp>
      <p:sp>
        <p:nvSpPr>
          <p:cNvPr id="17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8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9, 15, 24, 33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98080" y="15544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: White = 4 : 3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423160"/>
          <a:ext cx="3977640" cy="12801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498080" y="3977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4, then ×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7: Scrapbook Stickers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puts 3 stickers on each page of her scrapbook.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points to show the number of stickers for 1, 2, 3, 4, and 5 pages.</a:t>
            </a:r>
            <a:endParaRPr lang="en-US" sz="2600" dirty="0"/>
          </a:p>
        </p:txBody>
      </p:sp>
      <p:pic>
        <p:nvPicPr>
          <p:cNvPr id="7" name="Image 0" descr="Blank grid: Number of Pages 0 to 7 across, Number of Stickers 0 to 16 up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676" y="1325880"/>
            <a:ext cx="3968969" cy="4343400"/>
          </a:xfrm>
          <a:prstGeom prst="rect">
            <a:avLst/>
          </a:prstGeom>
        </p:spPr>
      </p:pic>
      <p:sp>
        <p:nvSpPr>
          <p:cNvPr id="8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points: (pages, stickers)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7: Scrapbook Stickers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rule.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stickers per page → stickers = pages × 3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003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00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458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pairs.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3)  (2, 6)  (3, 9)  (4, 12)  (5, 15)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each point.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right to the pages, then up to the stickers.</a:t>
            </a:r>
            <a:endParaRPr lang="en-US" sz="2000" dirty="0"/>
          </a:p>
        </p:txBody>
      </p:sp>
      <p:sp>
        <p:nvSpPr>
          <p:cNvPr id="14" name="Step 4 mar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66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2054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line up in a straight line.</a:t>
            </a:r>
            <a:endParaRPr lang="en-US" sz="2000" dirty="0"/>
          </a:p>
        </p:txBody>
      </p:sp>
      <p:sp>
        <p:nvSpPr>
          <p:cNvPr id="17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8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3), (2, 6), (3, 9), (4, 12), (5, 15)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20" name="Chart 0"/>
          <p:cNvGraphicFramePr/>
          <p:nvPr/>
        </p:nvGraphicFramePr>
        <p:xfrm>
          <a:off x="7452360" y="1463040"/>
          <a:ext cx="4069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8: Cereal Fiber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 has 3 grams of fiber per serving.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 is shown in the table.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ordered pairs for 1, 2, 3, and 4 servings of each brand.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brand has more fiber per serving?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240280"/>
          <a:ext cx="4754880" cy="1280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(g)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(servings, fiber) pairs for both brands, then the brand with more fiber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8: Cereal Fiber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A: × 3.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3)  (2, 6)  (3, 9)  (4, 12)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003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00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458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 unit rate.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÷ 2 = 4 grams per serving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B: × 4.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4)  (2, 8)  (3, 12)  (4, 16)</a:t>
            </a:r>
            <a:endParaRPr lang="en-US" sz="2000" dirty="0"/>
          </a:p>
        </p:txBody>
      </p:sp>
      <p:sp>
        <p:nvSpPr>
          <p:cNvPr id="14" name="Step 4 mar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66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2054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compare.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grams &gt; 3 grams per serving</a:t>
            </a:r>
            <a:endParaRPr lang="en-US" sz="2000" dirty="0"/>
          </a:p>
        </p:txBody>
      </p:sp>
      <p:sp>
        <p:nvSpPr>
          <p:cNvPr id="17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8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 has the greater ratio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20" name="Chart 0"/>
          <p:cNvGraphicFramePr/>
          <p:nvPr/>
        </p:nvGraphicFramePr>
        <p:xfrm>
          <a:off x="7452360" y="1463040"/>
          <a:ext cx="4069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9: Jordan's Run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runs 3 miles in 27 minutes.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sentences: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rate is ___ minutes per mile.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rate, Jordan would run ___ miles in 45 minutes.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6903720" y="1325880"/>
            <a:ext cx="4754880" cy="43434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903720" y="24460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37719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27 minutes</a:t>
            </a:r>
            <a:endParaRPr lang="en-US" sz="2200" dirty="0"/>
          </a:p>
        </p:txBody>
      </p:sp>
      <p:sp>
        <p:nvSpPr>
          <p:cNvPr id="10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for 1 mile, then miles in 45 minutes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9: Jordan's Run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rate.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÷ 3 = 9 minutes per mile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2316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unit rate.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9s are in 45?  45 ÷ 9 = 5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7472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miles × 9 minutes = 45 minutes ✓</a:t>
            </a:r>
            <a:endParaRPr lang="en-US" sz="2000" dirty="0"/>
          </a:p>
        </p:txBody>
      </p:sp>
      <p:sp>
        <p:nvSpPr>
          <p:cNvPr id="14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5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minutes per mile;  5 miles in 45 minutes</a:t>
            </a:r>
            <a:endParaRPr lang="en-US" sz="2200" dirty="0"/>
          </a:p>
        </p:txBody>
      </p:sp>
      <p:sp>
        <p:nvSpPr>
          <p:cNvPr id="16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423160"/>
          <a:ext cx="3886200" cy="1280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543800" y="40690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mile = 9 minutes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10: Calories Burned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burns 270 calories swimming for 30 minutes.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he burns 180 calories riding a bike for 20 minutes.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rates equivalent?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057400"/>
          <a:ext cx="4754880" cy="192024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Swimming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both activities burn the same calories per minute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10: Calories Burned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unit rate.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÷ 30 = 9 calories per minute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2316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Biking unit rate.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÷ 20 = 9 calories per minute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7472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rates are the same.</a:t>
            </a:r>
            <a:endParaRPr lang="en-US" sz="2000" dirty="0"/>
          </a:p>
        </p:txBody>
      </p:sp>
      <p:sp>
        <p:nvSpPr>
          <p:cNvPr id="14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5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Both rates are 9 calories per minute.</a:t>
            </a:r>
            <a:endParaRPr lang="en-US" sz="2200" dirty="0"/>
          </a:p>
        </p:txBody>
      </p:sp>
      <p:sp>
        <p:nvSpPr>
          <p:cNvPr id="16" name="Card"/>
          <p:cNvSpPr/>
          <p:nvPr/>
        </p:nvSpPr>
        <p:spPr>
          <a:xfrm>
            <a:off x="7315200" y="1325880"/>
            <a:ext cx="4343400" cy="17830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589520" y="14630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0116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÷ 30 = </a:t>
            </a: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 per min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3337560"/>
            <a:ext cx="4343400" cy="17830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89520" y="3474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Biking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02336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÷ 20 = </a:t>
            </a: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 per min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5532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= 9  →  equivalent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11: Kilograms to Pounds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does squats with 60-kilogram weights.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best estimate of the weight in pounds?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325880"/>
          <a:ext cx="4754880" cy="1005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kilograms to pounds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kg ≈ 2.2 lb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6903720" y="2743200"/>
            <a:ext cx="228600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0372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27 pounds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9372600" y="2743200"/>
            <a:ext cx="228600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37260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33 pounds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903720" y="3977640"/>
            <a:ext cx="228600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903720" y="3977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108 pounds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9372600" y="3977640"/>
            <a:ext cx="228600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372600" y="3977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132 pounds</a:t>
            </a:r>
            <a:endParaRPr lang="en-US" sz="2000" dirty="0"/>
          </a:p>
        </p:txBody>
      </p:sp>
      <p:sp>
        <p:nvSpPr>
          <p:cNvPr id="16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kilograms in pounds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11: Kilograms to Pounds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kg ≈ 2.2 lb, so pounds will be a bigger number than 60.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2316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(27) and B (33) are smaller than 60.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7472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× 2.2 = 132</a:t>
            </a:r>
            <a:endParaRPr lang="en-US" sz="2000" dirty="0"/>
          </a:p>
        </p:txBody>
      </p:sp>
      <p:sp>
        <p:nvSpPr>
          <p:cNvPr id="14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5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132 pounds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25880"/>
          <a:ext cx="4343400" cy="1005840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kilograms to pounds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kg ≈ 2.2 lb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Card"/>
          <p:cNvSpPr/>
          <p:nvPr/>
        </p:nvSpPr>
        <p:spPr>
          <a:xfrm>
            <a:off x="7315200" y="2743200"/>
            <a:ext cx="20802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0" y="2743200"/>
            <a:ext cx="20802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strike="sngStrike" dirty="0">
                <a:solidFill>
                  <a:srgbClr val="8A9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27 pounds</a:t>
            </a:r>
            <a:endParaRPr lang="en-US" sz="2000" dirty="0"/>
          </a:p>
        </p:txBody>
      </p:sp>
      <p:sp>
        <p:nvSpPr>
          <p:cNvPr id="19" name="Card"/>
          <p:cNvSpPr/>
          <p:nvPr/>
        </p:nvSpPr>
        <p:spPr>
          <a:xfrm>
            <a:off x="9578340" y="2743200"/>
            <a:ext cx="20802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578340" y="2743200"/>
            <a:ext cx="20802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strike="sngStrike" dirty="0">
                <a:solidFill>
                  <a:srgbClr val="8A9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33 pounds</a:t>
            </a:r>
            <a:endParaRPr lang="en-US" sz="2000" dirty="0"/>
          </a:p>
        </p:txBody>
      </p:sp>
      <p:sp>
        <p:nvSpPr>
          <p:cNvPr id="21" name="Card"/>
          <p:cNvSpPr/>
          <p:nvPr/>
        </p:nvSpPr>
        <p:spPr>
          <a:xfrm>
            <a:off x="7315200" y="3977640"/>
            <a:ext cx="20802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315200" y="3977640"/>
            <a:ext cx="20802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108 pounds</a:t>
            </a:r>
            <a:endParaRPr lang="en-US" sz="2000" dirty="0"/>
          </a:p>
        </p:txBody>
      </p:sp>
      <p:sp>
        <p:nvSpPr>
          <p:cNvPr id="23" name="Card"/>
          <p:cNvSpPr/>
          <p:nvPr/>
        </p:nvSpPr>
        <p:spPr>
          <a:xfrm>
            <a:off x="9578340" y="3977640"/>
            <a:ext cx="208026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578340" y="3977640"/>
            <a:ext cx="20802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132 pounds</a:t>
            </a:r>
            <a:endParaRPr lang="en-US" sz="20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12: Muffins and Bagels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448056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402336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bakery sells muffins and bagels in a ratio of 7 : 4.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student's work.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student is wrong.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tape diagram. Find the bagels when there are 42 muffins.</a:t>
            </a:r>
            <a:endParaRPr lang="en-US" sz="2600" dirty="0"/>
          </a:p>
        </p:txBody>
      </p:sp>
      <p:pic>
        <p:nvPicPr>
          <p:cNvPr id="7" name="Image 0" descr="Student tape diagram: muffins 7 boxes, bagels 4 boxes. The student says there are 3 more muffins, subtracts 3 from 42, and claims 39 bagel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857146"/>
            <a:ext cx="6309360" cy="3280867"/>
          </a:xfrm>
          <a:prstGeom prst="rect">
            <a:avLst/>
          </a:prstGeom>
        </p:spPr>
      </p:pic>
      <p:sp>
        <p:nvSpPr>
          <p:cNvPr id="8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mistake, then the correct number of bagels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12: Muffins and Bagels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mistake.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multiply, not subtract. 42 − 3 = 39 does not keep 7 : 4.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003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00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458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box.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boxes = 42 muffins, so 42 ÷ 7 = 6 in each box.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bagels.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boxes × 6 = 24 bagels.</a:t>
            </a:r>
            <a:endParaRPr lang="en-US" sz="2000" dirty="0"/>
          </a:p>
        </p:txBody>
      </p:sp>
      <p:sp>
        <p:nvSpPr>
          <p:cNvPr id="14" name="Step 4 mar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66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20540"/>
            <a:ext cx="5669280" cy="93726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this because each box is 6, and 4 boxes of 6 is 24.”</a:t>
            </a:r>
            <a:endParaRPr lang="en-US" sz="2000" dirty="0"/>
          </a:p>
        </p:txBody>
      </p:sp>
      <p:sp>
        <p:nvSpPr>
          <p:cNvPr id="17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8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bagels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52360" y="22402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Muffins</a:t>
            </a:r>
            <a:endParaRPr lang="en-US" sz="1600" dirty="0"/>
          </a:p>
        </p:txBody>
      </p:sp>
      <p:sp>
        <p:nvSpPr>
          <p:cNvPr id="21" name="Muffins box"/>
          <p:cNvSpPr/>
          <p:nvPr/>
        </p:nvSpPr>
        <p:spPr>
          <a:xfrm>
            <a:off x="8458200" y="2240280"/>
            <a:ext cx="438912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458200" y="2240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Muffins box"/>
          <p:cNvSpPr/>
          <p:nvPr/>
        </p:nvSpPr>
        <p:spPr>
          <a:xfrm>
            <a:off x="8897112" y="2240280"/>
            <a:ext cx="438912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897112" y="2240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Muffins box"/>
          <p:cNvSpPr/>
          <p:nvPr/>
        </p:nvSpPr>
        <p:spPr>
          <a:xfrm>
            <a:off x="9336024" y="2240280"/>
            <a:ext cx="438912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336024" y="2240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Muffins box"/>
          <p:cNvSpPr/>
          <p:nvPr/>
        </p:nvSpPr>
        <p:spPr>
          <a:xfrm>
            <a:off x="9774936" y="2240280"/>
            <a:ext cx="438912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774936" y="2240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Muffins box"/>
          <p:cNvSpPr/>
          <p:nvPr/>
        </p:nvSpPr>
        <p:spPr>
          <a:xfrm>
            <a:off x="10213848" y="2240280"/>
            <a:ext cx="438912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0213848" y="2240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Muffins box"/>
          <p:cNvSpPr/>
          <p:nvPr/>
        </p:nvSpPr>
        <p:spPr>
          <a:xfrm>
            <a:off x="10652760" y="2240280"/>
            <a:ext cx="438912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10652760" y="2240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Muffins box"/>
          <p:cNvSpPr/>
          <p:nvPr/>
        </p:nvSpPr>
        <p:spPr>
          <a:xfrm>
            <a:off x="11091672" y="2240280"/>
            <a:ext cx="438912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1091672" y="2240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otal bracket"/>
          <p:cNvSpPr/>
          <p:nvPr/>
        </p:nvSpPr>
        <p:spPr>
          <a:xfrm>
            <a:off x="8458200" y="2926080"/>
            <a:ext cx="3072384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racket end"/>
          <p:cNvSpPr/>
          <p:nvPr/>
        </p:nvSpPr>
        <p:spPr>
          <a:xfrm>
            <a:off x="8458200" y="2834640"/>
            <a:ext cx="0" cy="914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Bracket end"/>
          <p:cNvSpPr/>
          <p:nvPr/>
        </p:nvSpPr>
        <p:spPr>
          <a:xfrm>
            <a:off x="11530584" y="2834640"/>
            <a:ext cx="0" cy="914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458200" y="306324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boxes = 42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3566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Bagels</a:t>
            </a:r>
            <a:endParaRPr lang="en-US" sz="1600" dirty="0"/>
          </a:p>
        </p:txBody>
      </p:sp>
      <p:sp>
        <p:nvSpPr>
          <p:cNvPr id="40" name="Bagels box"/>
          <p:cNvSpPr/>
          <p:nvPr/>
        </p:nvSpPr>
        <p:spPr>
          <a:xfrm>
            <a:off x="8458200" y="3566160"/>
            <a:ext cx="438912" cy="548640"/>
          </a:xfrm>
          <a:prstGeom prst="rect">
            <a:avLst/>
          </a:prstGeom>
          <a:solidFill>
            <a:srgbClr val="E3F2E6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458200" y="356616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Bagels box"/>
          <p:cNvSpPr/>
          <p:nvPr/>
        </p:nvSpPr>
        <p:spPr>
          <a:xfrm>
            <a:off x="8897112" y="3566160"/>
            <a:ext cx="438912" cy="548640"/>
          </a:xfrm>
          <a:prstGeom prst="rect">
            <a:avLst/>
          </a:prstGeom>
          <a:solidFill>
            <a:srgbClr val="E3F2E6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8897112" y="356616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Bagels box"/>
          <p:cNvSpPr/>
          <p:nvPr/>
        </p:nvSpPr>
        <p:spPr>
          <a:xfrm>
            <a:off x="9336024" y="3566160"/>
            <a:ext cx="438912" cy="548640"/>
          </a:xfrm>
          <a:prstGeom prst="rect">
            <a:avLst/>
          </a:prstGeom>
          <a:solidFill>
            <a:srgbClr val="E3F2E6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336024" y="356616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6" name="Bagels box"/>
          <p:cNvSpPr/>
          <p:nvPr/>
        </p:nvSpPr>
        <p:spPr>
          <a:xfrm>
            <a:off x="9774936" y="3566160"/>
            <a:ext cx="438912" cy="548640"/>
          </a:xfrm>
          <a:prstGeom prst="rect">
            <a:avLst/>
          </a:prstGeom>
          <a:solidFill>
            <a:srgbClr val="E3F2E6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774936" y="356616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8" name="Total bracket"/>
          <p:cNvSpPr/>
          <p:nvPr/>
        </p:nvSpPr>
        <p:spPr>
          <a:xfrm>
            <a:off x="8458200" y="4251960"/>
            <a:ext cx="175564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Bracket end"/>
          <p:cNvSpPr/>
          <p:nvPr/>
        </p:nvSpPr>
        <p:spPr>
          <a:xfrm>
            <a:off x="8458200" y="4160520"/>
            <a:ext cx="0" cy="914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Bracket end"/>
          <p:cNvSpPr/>
          <p:nvPr/>
        </p:nvSpPr>
        <p:spPr>
          <a:xfrm>
            <a:off x="10213848" y="4160520"/>
            <a:ext cx="0" cy="914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8458200" y="4389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boxes = 24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7498080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÷ 7 = 6 in each box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0" y="57150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42 : 24 = 7 : 4 ✓</a:t>
            </a:r>
            <a:endParaRPr lang="en-US" sz="18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13: Walk to the Library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6035040" cy="434340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557784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Aaliyah walks to the library.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is 2,100 feet away.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yards did Aaliyah walk?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91640"/>
          <a:ext cx="4754880" cy="1188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yards and feet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yd = 3 ft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6903720" y="3063240"/>
            <a:ext cx="4754880" cy="26060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03720" y="33147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2,100</a:t>
            </a:r>
            <a:endParaRPr lang="en-US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46405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endParaRPr lang="en-US" sz="2200" dirty="0"/>
          </a:p>
        </p:txBody>
      </p:sp>
      <p:sp>
        <p:nvSpPr>
          <p:cNvPr id="11" name="Find bar"/>
          <p:cNvSpPr/>
          <p:nvPr/>
        </p:nvSpPr>
        <p:spPr>
          <a:xfrm>
            <a:off x="548640" y="585216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FIND: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 feet in yards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13: Walk to the Library</a:t>
            </a:r>
            <a:endParaRPr lang="en-US" sz="3400" dirty="0"/>
          </a:p>
        </p:txBody>
      </p:sp>
      <p:sp>
        <p:nvSpPr>
          <p:cNvPr id="3" name="Stage chip"/>
          <p:cNvSpPr/>
          <p:nvPr/>
        </p:nvSpPr>
        <p:spPr>
          <a:xfrm>
            <a:off x="9921240" y="4572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921240" y="457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5" name="Step 1 marker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Yards are bigger, so the answer is smaller than 2,100.</a:t>
            </a:r>
            <a:endParaRPr lang="en-US" sz="20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2316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3.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 ÷ 3 = 700</a:t>
            </a:r>
            <a:endParaRPr lang="en-US" sz="20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74720"/>
            <a:ext cx="5669280" cy="100584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Check. 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× 3 = 2,100 ✓</a:t>
            </a:r>
            <a:endParaRPr lang="en-US" sz="2000" dirty="0"/>
          </a:p>
        </p:txBody>
      </p:sp>
      <p:sp>
        <p:nvSpPr>
          <p:cNvPr id="14" name="Answer button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Show Answer</a:t>
            </a:r>
            <a:endParaRPr lang="en-US" sz="2200" dirty="0"/>
          </a:p>
        </p:txBody>
      </p:sp>
      <p:sp>
        <p:nvSpPr>
          <p:cNvPr id="15" name="Answer box"/>
          <p:cNvSpPr txBox="1"/>
          <p:nvPr/>
        </p:nvSpPr>
        <p:spPr>
          <a:xfrm>
            <a:off x="548640" y="5440680"/>
            <a:ext cx="6400800" cy="1005840"/>
          </a:xfrm>
          <a:prstGeom prst="roundRect">
            <a:avLst>
              <a:gd name="adj" fmla="val 13636"/>
            </a:avLst>
          </a:prstGeom>
          <a:solidFill>
            <a:srgbClr val="E3F2E6"/>
          </a:solidFill>
          <a:ln w="25400">
            <a:solidFill>
              <a:schemeClr val="accent3"/>
            </a:solidFill>
          </a:ln>
        </p:spPr>
        <p:txBody>
          <a:bodyPr wrap="square" lIns="0" tIns="228600" rIns="22860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yards</a:t>
            </a:r>
            <a:endParaRPr lang="en-US" sz="2200" dirty="0"/>
          </a:p>
        </p:txBody>
      </p:sp>
      <p:sp>
        <p:nvSpPr>
          <p:cNvPr id="16" name="Card"/>
          <p:cNvSpPr/>
          <p:nvPr/>
        </p:nvSpPr>
        <p:spPr>
          <a:xfrm>
            <a:off x="7315200" y="1325880"/>
            <a:ext cx="4343400" cy="512064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0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feet make 1 yard</a:t>
            </a:r>
            <a:endParaRPr lang="en-US" sz="2000" dirty="0"/>
          </a:p>
        </p:txBody>
      </p:sp>
      <p:sp>
        <p:nvSpPr>
          <p:cNvPr id="18" name="Foot"/>
          <p:cNvSpPr/>
          <p:nvPr/>
        </p:nvSpPr>
        <p:spPr>
          <a:xfrm>
            <a:off x="7978140" y="2331720"/>
            <a:ext cx="1005840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78140" y="2331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ft</a:t>
            </a:r>
            <a:endParaRPr lang="en-US" sz="1800" dirty="0"/>
          </a:p>
        </p:txBody>
      </p:sp>
      <p:sp>
        <p:nvSpPr>
          <p:cNvPr id="20" name="Foot"/>
          <p:cNvSpPr/>
          <p:nvPr/>
        </p:nvSpPr>
        <p:spPr>
          <a:xfrm>
            <a:off x="8983980" y="2331720"/>
            <a:ext cx="1005840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983980" y="2331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ft</a:t>
            </a:r>
            <a:endParaRPr lang="en-US" sz="1800" dirty="0"/>
          </a:p>
        </p:txBody>
      </p:sp>
      <p:sp>
        <p:nvSpPr>
          <p:cNvPr id="22" name="Foot"/>
          <p:cNvSpPr/>
          <p:nvPr/>
        </p:nvSpPr>
        <p:spPr>
          <a:xfrm>
            <a:off x="9989820" y="2331720"/>
            <a:ext cx="1005840" cy="548640"/>
          </a:xfrm>
          <a:prstGeom prst="rect">
            <a:avLst/>
          </a:prstGeom>
          <a:solidFill>
            <a:srgbClr val="E1EAF6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989820" y="2331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ft</a:t>
            </a:r>
            <a:endParaRPr lang="en-US" sz="1800" dirty="0"/>
          </a:p>
        </p:txBody>
      </p:sp>
      <p:sp>
        <p:nvSpPr>
          <p:cNvPr id="24" name="Yard"/>
          <p:cNvSpPr/>
          <p:nvPr/>
        </p:nvSpPr>
        <p:spPr>
          <a:xfrm>
            <a:off x="7978140" y="3063240"/>
            <a:ext cx="3017520" cy="548640"/>
          </a:xfrm>
          <a:prstGeom prst="rect">
            <a:avLst/>
          </a:prstGeom>
          <a:solidFill>
            <a:srgbClr val="E3F2E6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97814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 → yards: divide by 3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8920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 ÷ 3 = 700</a:t>
            </a:r>
            <a:endParaRPr lang="en-US" sz="2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Ideas to Remember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Marker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4688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ratio in the order the question asks.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6217920" y="1463040"/>
            <a:ext cx="5440680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Marker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7830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rate = amount for 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4688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to find how much for 1.</a:t>
            </a:r>
            <a:endParaRPr lang="en-US" sz="2000" dirty="0"/>
          </a:p>
        </p:txBody>
      </p:sp>
      <p:sp>
        <p:nvSpPr>
          <p:cNvPr id="13" name="Card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Marker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605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multiply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46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ratios multiply or divide — never add or subtract.</a:t>
            </a:r>
            <a:endParaRPr lang="en-US" sz="2000" dirty="0"/>
          </a:p>
        </p:txBody>
      </p:sp>
      <p:sp>
        <p:nvSpPr>
          <p:cNvPr id="18" name="Card"/>
          <p:cNvSpPr/>
          <p:nvPr/>
        </p:nvSpPr>
        <p:spPr>
          <a:xfrm>
            <a:off x="6217920" y="3840480"/>
            <a:ext cx="544068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rgbClr val="D3E2E4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Marker"/>
          <p:cNvSpPr/>
          <p:nvPr/>
        </p:nvSpPr>
        <p:spPr>
          <a:xfrm>
            <a:off x="649224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1605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unit price wins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846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price of the SAME amount.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t 3 Review">
  <a:themeElements>
    <a:clrScheme name="Unit 3 Review">
      <a:dk1>
        <a:srgbClr val="1B2A33"/>
      </a:dk1>
      <a:lt1>
        <a:srgbClr val="FFFFFF"/>
      </a:lt1>
      <a:dk2>
        <a:srgbClr val="0F4C5C"/>
      </a:dk2>
      <a:lt2>
        <a:srgbClr val="EAF3F4"/>
      </a:lt2>
      <a:accent1>
        <a:srgbClr val="E36414"/>
      </a:accent1>
      <a:accent2>
        <a:srgbClr val="0F8B8D"/>
      </a:accent2>
      <a:accent3>
        <a:srgbClr val="3E9B4F"/>
      </a:accent3>
      <a:accent4>
        <a:srgbClr val="C0392B"/>
      </a:accent4>
      <a:accent5>
        <a:srgbClr val="2E6FBA"/>
      </a:accent5>
      <a:accent6>
        <a:srgbClr val="F2B134"/>
      </a:accent6>
      <a:hlink>
        <a:srgbClr val="0F8B8D"/>
      </a:hlink>
      <a:folHlink>
        <a:srgbClr val="6D597A"/>
      </a:folHlink>
    </a:clrScheme>
    <a:fontScheme name="Unit 3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2988</Words>
  <Application>Microsoft Macintosh PowerPoint</Application>
  <PresentationFormat>Widescreen</PresentationFormat>
  <Paragraphs>527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Unit 3 Review</vt:lpstr>
      <vt:lpstr>Unit 3 Test Review</vt:lpstr>
      <vt:lpstr>How We Will Review</vt:lpstr>
      <vt:lpstr>Question 1: Bracelet Beads</vt:lpstr>
      <vt:lpstr>Question 1: Bracelet Beads</vt:lpstr>
      <vt:lpstr>Question 2: School Groups</vt:lpstr>
      <vt:lpstr>Question 2: School Groups</vt:lpstr>
      <vt:lpstr>Question 3: Jumping Jacks</vt:lpstr>
      <vt:lpstr>Question 3: Jumping Jacks</vt:lpstr>
      <vt:lpstr>Question 4: Trail Mix</vt:lpstr>
      <vt:lpstr>Question 4: Trail Mix</vt:lpstr>
      <vt:lpstr>Question 5: Who Earns More?</vt:lpstr>
      <vt:lpstr>Question 5: Who Earns More?</vt:lpstr>
      <vt:lpstr>Question 6: Milk Survey</vt:lpstr>
      <vt:lpstr>Question 6: Milk Survey</vt:lpstr>
      <vt:lpstr>Question 7: Scrapbook Stickers</vt:lpstr>
      <vt:lpstr>Question 7: Scrapbook Stickers</vt:lpstr>
      <vt:lpstr>Question 8: Cereal Fiber</vt:lpstr>
      <vt:lpstr>Question 8: Cereal Fiber</vt:lpstr>
      <vt:lpstr>Question 9: Jordan's Run</vt:lpstr>
      <vt:lpstr>Question 9: Jordan's Run</vt:lpstr>
      <vt:lpstr>Question 10: Calories Burned</vt:lpstr>
      <vt:lpstr>Question 10: Calories Burned</vt:lpstr>
      <vt:lpstr>Question 11: Kilograms to Pounds</vt:lpstr>
      <vt:lpstr>Question 11: Kilograms to Pounds</vt:lpstr>
      <vt:lpstr>Question 12: Muffins and Bagels</vt:lpstr>
      <vt:lpstr>Question 12: Muffins and Bagels</vt:lpstr>
      <vt:lpstr>Question 13: Walk to the Library</vt:lpstr>
      <vt:lpstr>Question 13: Walk to the Library</vt:lpstr>
      <vt:lpstr>Big Ideas to Remember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Test Review</dc:title>
  <dc:subject>PptxGenJS Presentation</dc:subject>
  <dc:creator>PptxGenJS</dc:creator>
  <cp:lastModifiedBy>Neft, Joel D.</cp:lastModifiedBy>
  <cp:revision>2</cp:revision>
  <dcterms:created xsi:type="dcterms:W3CDTF">2026-10-07T09:43:46Z</dcterms:created>
  <dcterms:modified xsi:type="dcterms:W3CDTF">2026-10-07T15:40:43Z</dcterms:modified>
</cp:coreProperties>
</file>