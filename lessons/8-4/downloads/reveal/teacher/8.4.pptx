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26" r:id="rId68"/>
    <p:sldId id="325" r:id="rId48"/>
    <p:sldId id="324" r:id="rId47"/>
    <p:sldId id="323" r:id="rId46"/>
    <p:sldId id="322" r:id="rId45"/>
    <p:sldId id="321" r:id="rId44"/>
    <p:sldId id="320" r:id="rId43"/>
    <p:sldId id="319" r:id="rId31"/>
    <p:sldId id="261" r:id="rId15"/>
    <p:sldId id="272" r:id="rId26"/>
    <p:sldId id="275" r:id="rId29"/>
    <p:sldId id="279" r:id="rId33"/>
    <p:sldId id="281" r:id="rId35"/>
    <p:sldId id="283" r:id="rId37"/>
    <p:sldId id="330" r:id="rId72"/>
    <p:sldId id="285" r:id="rId39"/>
    <p:sldId id="287" r:id="rId41"/>
    <p:sldId id="331" r:id="rId73"/>
    <p:sldId id="327" r:id="rId69"/>
    <p:sldId id="318" r:id="rId32"/>
    <p:sldId id="312" r:id="rId66"/>
    <p:sldId id="332" r:id="rId74"/>
    <p:sldId id="313" r:id="rId67"/>
    <p:sldId id="288" r:id="rId42"/>
    <p:sldId id="295" r:id="rId49"/>
    <p:sldId id="297" r:id="rId51"/>
    <p:sldId id="333" r:id="rId75"/>
    <p:sldId id="299" r:id="rId53"/>
    <p:sldId id="303" r:id="rId57"/>
    <p:sldId id="305" r:id="rId59"/>
    <p:sldId id="306" r:id="rId60"/>
    <p:sldId id="308" r:id="rId62"/>
    <p:sldId id="334" r:id="rId76"/>
    <p:sldId id="328" r:id="rId70"/>
    <p:sldId id="317" r:id="rId40"/>
    <p:sldId id="335" r:id="rId77"/>
    <p:sldId id="316" r:id="rId34"/>
    <p:sldId id="309" r:id="rId63"/>
    <p:sldId id="310" r:id="rId64"/>
    <p:sldId id="311" r:id="rId65"/>
    <p:sldId id="315" r:id="rId38"/>
    <p:sldId id="314" r:id="rId36"/>
    <p:sldId id="329" r:id="rId71"/>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BE1B17-B6C2-4EDB-9EBD-CE6878C18511}">
  <a:tblStyle styleId="{08BE1B17-B6C2-4EDB-9EBD-CE6878C1851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ACADB947-2184-4C95-A37C-B7AEDDE4D2B0}"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9" Type="http://schemas.openxmlformats.org/officeDocument/2006/relationships/slide" Target="slides/slide17.xml"/><Relationship Id="rId31" Type="http://schemas.openxmlformats.org/officeDocument/2006/relationships/slide" Target="slides/slide14.xml"/><Relationship Id="rId32" Type="http://schemas.openxmlformats.org/officeDocument/2006/relationships/slide" Target="slides/slide24.xml"/><Relationship Id="rId33" Type="http://schemas.openxmlformats.org/officeDocument/2006/relationships/slide" Target="slides/slide18.xml"/><Relationship Id="rId34" Type="http://schemas.openxmlformats.org/officeDocument/2006/relationships/slide" Target="slides/slide37.xml"/><Relationship Id="rId35" Type="http://schemas.openxmlformats.org/officeDocument/2006/relationships/slide" Target="slides/slide19.xml"/><Relationship Id="rId36" Type="http://schemas.openxmlformats.org/officeDocument/2006/relationships/slide" Target="slides/slide42.xml"/><Relationship Id="rId37" Type="http://schemas.openxmlformats.org/officeDocument/2006/relationships/slide" Target="slides/slide20.xml"/><Relationship Id="rId38" Type="http://schemas.openxmlformats.org/officeDocument/2006/relationships/slide" Target="slides/slide41.xml"/><Relationship Id="rId39" Type="http://schemas.openxmlformats.org/officeDocument/2006/relationships/slide" Target="slides/slide21.xml"/><Relationship Id="rId40" Type="http://schemas.openxmlformats.org/officeDocument/2006/relationships/slide" Target="slides/slide36.xml"/><Relationship Id="rId41" Type="http://schemas.openxmlformats.org/officeDocument/2006/relationships/slide" Target="slides/slide22.xml"/><Relationship Id="rId42" Type="http://schemas.openxmlformats.org/officeDocument/2006/relationships/slide" Target="slides/slide27.xml"/><Relationship Id="rId43" Type="http://schemas.openxmlformats.org/officeDocument/2006/relationships/slide" Target="slides/slide13.xml"/><Relationship Id="rId44" Type="http://schemas.openxmlformats.org/officeDocument/2006/relationships/slide" Target="slides/slide12.xml"/><Relationship Id="rId45" Type="http://schemas.openxmlformats.org/officeDocument/2006/relationships/slide" Target="slides/slide11.xml"/><Relationship Id="rId46" Type="http://schemas.openxmlformats.org/officeDocument/2006/relationships/slide" Target="slides/slide10.xml"/><Relationship Id="rId47" Type="http://schemas.openxmlformats.org/officeDocument/2006/relationships/slide" Target="slides/slide9.xml"/><Relationship Id="rId48" Type="http://schemas.openxmlformats.org/officeDocument/2006/relationships/slide" Target="slides/slide8.xml"/><Relationship Id="rId49" Type="http://schemas.openxmlformats.org/officeDocument/2006/relationships/slide" Target="slides/slide28.xml"/><Relationship Id="rId51" Type="http://schemas.openxmlformats.org/officeDocument/2006/relationships/slide" Target="slides/slide29.xml"/><Relationship Id="rId53" Type="http://schemas.openxmlformats.org/officeDocument/2006/relationships/slide" Target="slides/slide30.xml"/><Relationship Id="rId57"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2" Type="http://schemas.openxmlformats.org/officeDocument/2006/relationships/slide" Target="slides/slide34.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25.xml"/><Relationship Id="rId67" Type="http://schemas.openxmlformats.org/officeDocument/2006/relationships/slide" Target="slides/slide26.xml"/><Relationship Id="rId68" Type="http://schemas.openxmlformats.org/officeDocument/2006/relationships/slide" Target="slides/slide7.xml"/><Relationship Id="rId69" Type="http://schemas.openxmlformats.org/officeDocument/2006/relationships/slide" Target="slides/slide23.xml"/><Relationship Id="rId70" Type="http://schemas.openxmlformats.org/officeDocument/2006/relationships/slide" Target="slides/slide35.xml"/><Relationship Id="rId71" Type="http://schemas.openxmlformats.org/officeDocument/2006/relationships/slide" Target="slides/slide43.xml"/><Relationship Id="rId72" Type="http://schemas.openxmlformats.org/officeDocument/2006/relationships/slide" Target="slides/slide44.xml"/><Relationship Id="rId73"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7"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4 | DIVIDER</a:t>
            </a:r>
          </a:p>
          <a:p xmlns:a="http://schemas.openxmlformats.org/drawingml/2006/main">
            <a:pPr>
              <a:buNone/>
            </a:pPr>
            <a:r>
              <a:rPr lang="en-US" sz="1100"/>
              <a:t>Focus on the existing task: Write and Represent Inequalities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5 | TASK</a:t>
            </a:r>
          </a:p>
          <a:p xmlns:a="http://schemas.openxmlformats.org/drawingml/2006/main">
            <a:pPr>
              <a:buNone/>
            </a:pPr>
            <a:r>
              <a:rPr lang="en-US" sz="1100"/>
              <a:t>Focus on the existing task: This or That?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 | WARMUP</a:t>
            </a:r>
          </a:p>
          <a:p xmlns:a="http://schemas.openxmlformats.org/drawingml/2006/main">
            <a:pPr>
              <a:buNone/>
            </a:pPr>
            <a:r>
              <a:rPr lang="en-US" sz="1100"/>
              <a:t>Focus on the existing task: ______ QUESTION 4 Is 9 a solution of x &gt; 9?</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&lt;   2) ≥   3) 2   4) no</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translate a constraint; distinguish strict from inclusive bounds; explain multiple solutions. Review recent work and today’s warm-up to choose flexible groups and access supports; do not infer needs from identity or perceived ability. Use the existing lesson tasks and stated standards.</a:t>
            </a:r>
          </a:p>
          <a:p>
            <a:pPr>
              <a:buNone/>
            </a:pPr>
            <a:r>
              <a:rPr lang="en-US" sz="1100"/>
              <a:t>Anticipate: confusing at least with greater than or reversing the comparison. If observed, test the boundary against the original words before selecting the symbol.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6 | GOAL</a:t>
            </a:r>
          </a:p>
          <a:p xmlns:a="http://schemas.openxmlformats.org/drawingml/2006/main">
            <a:pPr>
              <a:buNone/>
            </a:pPr>
            <a:r>
              <a:rPr lang="en-US" sz="1100"/>
              <a:t>Focus on the existing task: Today’s Objectives Write and Represent Inequalities…</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translate a constraint; distinguish strict from inclusive bounds; explain multiple solutions. Ask: “Which part of your work would show this?” Revisit that evidence after the task; a confidence rating alone is not evidence of understanding.</a:t>
            </a:r>
          </a:p>
        </p:txBody>
      </p:sp>
      <p:sp>
        <p:nvSpPr>
          <p:cNvPr id="315" name="Google Shape;315;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15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37" name="Google Shape;337;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2" name="Google Shape;502;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30" name="Google Shape;530;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16 | CURIOUS</a:t>
            </a:r>
          </a:p>
          <a:p xmlns:a="http://schemas.openxmlformats.org/drawingml/2006/main">
            <a:pPr>
              <a:buNone/>
            </a:pPr>
            <a:r>
              <a:rPr lang="en-US" sz="1100"/>
              <a:t>Focus on the existing task: Be Curious Mindset What are some ways to resolve disagreements in math class?</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72" name="Google Shape;572;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17 | REVEAL</a:t>
            </a:r>
          </a:p>
          <a:p xmlns:a="http://schemas.openxmlformats.org/drawingml/2006/main">
            <a:pPr>
              <a:buNone/>
            </a:pPr>
            <a:r>
              <a:rPr lang="en-US" sz="1100"/>
              <a:t>Focus on the existing task: Voting Age In the United States, a person must be at least 18 years old to vote. How can you represent the age of a voter in the United States?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a number line.</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“Is the boundary value allowed in the stated situation, and how does the symbol communicate that?” Wait for evidence, invite another pathway, and have a student ask a follow-up question. Do not replace students’ reasoning with a sequence of leading steps.</a:t>
            </a:r>
          </a:p>
        </p:txBody>
      </p:sp>
      <p:sp>
        <p:nvSpPr>
          <p:cNvPr id="601" name="Google Shape;601;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18 | TASK</a:t>
            </a:r>
          </a:p>
          <a:p xmlns:a="http://schemas.openxmlformats.org/drawingml/2006/main">
            <a:pPr>
              <a:buNone/>
            </a:pPr>
            <a:r>
              <a:rPr lang="en-US" sz="1100"/>
              <a:t>Focus on the existing task: Voting Age Recognizing Repetition What about the process is repeating?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about the process is repeating?</a:t>
            </a:r>
          </a:p>
          <a:p>
            <a:pPr indent="0" lvl="0" marL="0" rtl="0" algn="l">
              <a:lnSpc>
                <a:spcPct val="100000"/>
              </a:lnSpc>
              <a:spcBef>
                <a:spcPts val="0"/>
              </a:spcBef>
              <a:spcAft>
                <a:spcPts val="0"/>
              </a:spcAft>
              <a:buSzPts val="1400"/>
              <a:buNone/>
            </a:pPr>
            <a:r>
              <a:t>UIFR: TEACH 1 · TEACH 3.</a:t>
            </a:r>
          </a:p>
        </p:txBody>
      </p:sp>
      <p:sp>
        <p:nvSpPr>
          <p:cNvPr id="641" name="Google Shape;641;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19 | REVEAL</a:t>
            </a:r>
          </a:p>
          <a:p xmlns:a="http://schemas.openxmlformats.org/drawingml/2006/main">
            <a:pPr>
              <a:buNone/>
            </a:pPr>
            <a:r>
              <a:rPr lang="en-US" sz="1100"/>
              <a:t>Focus on the existing task: Voting Age Reveal: There are several ages that satisfy the constraint. In the United States, a person must be at least 18 years old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several ages that satisfy the constraint.</a:t>
            </a:r>
          </a:p>
          <a:p>
            <a:pPr indent="0" lvl="0" marL="0" rtl="0" algn="l">
              <a:lnSpc>
                <a:spcPct val="100000"/>
              </a:lnSpc>
              <a:spcBef>
                <a:spcPts val="0"/>
              </a:spcBef>
              <a:spcAft>
                <a:spcPts val="0"/>
              </a:spcAft>
              <a:buSzPts val="1400"/>
              <a:buNone/>
            </a:pPr>
            <a:r>
              <a:t>UIFR: TEACH 3 · TEACH 4.</a:t>
            </a:r>
          </a:p>
        </p:txBody>
      </p:sp>
      <p:sp>
        <p:nvSpPr>
          <p:cNvPr id="664" name="Google Shape;664;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20 | COLLABORATE</a:t>
            </a:r>
          </a:p>
          <a:p xmlns:a="http://schemas.openxmlformats.org/drawingml/2006/main">
            <a:pPr>
              <a:buNone/>
            </a:pPr>
            <a:r>
              <a:rPr lang="en-US" sz="1100"/>
              <a:t>Focus on the existing task: In the United States, a person must be at least 18 years old to vote. Collaborate and Connect Compare each of the ages plotted to the age…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at least with greater than or reversing the comparison. If it appears, test the boundary against the original words before selecting the symbol; then ask the student to revise the same response and explain the change. If evidence is secure, have students compare a second valid pathway or state why their approach works. Choose the next step from the responses, not a preset pace.</a:t>
            </a:r>
          </a:p>
        </p:txBody>
      </p:sp>
      <p:sp>
        <p:nvSpPr>
          <p:cNvPr id="687" name="Google Shape;687;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21 | TASK</a:t>
            </a:r>
          </a:p>
          <a:p xmlns:a="http://schemas.openxmlformats.org/drawingml/2006/main">
            <a:pPr>
              <a:buNone/>
            </a:pPr>
            <a:r>
              <a:rPr lang="en-US" sz="1100"/>
              <a:t>Focus on the existing task: Voting Age Think About It: How is the inequality symbol ≥ similar to symbols you have seen before?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09" name="Google Shape;709;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22 | PRACTICE</a:t>
            </a:r>
          </a:p>
          <a:p xmlns:a="http://schemas.openxmlformats.org/drawingml/2006/main">
            <a:pPr>
              <a:buNone/>
            </a:pPr>
            <a:r>
              <a:rPr lang="en-US" sz="1100"/>
              <a:t>Focus on the existing task: Let’s Explore More Workspace Workspace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30" name="Google Shape;730;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27 | DIVIDER</a:t>
            </a:r>
          </a:p>
          <a:p xmlns:a="http://schemas.openxmlformats.org/drawingml/2006/main">
            <a:pPr>
              <a:buNone/>
            </a:pPr>
            <a:r>
              <a:rPr lang="en-US" sz="1100"/>
              <a:t>Focus on the existing task: Write and Represent Inequalities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42" name="Google Shape;742;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28 | TASK</a:t>
            </a:r>
          </a:p>
          <a:p xmlns:a="http://schemas.openxmlformats.org/drawingml/2006/main">
            <a:pPr>
              <a:buNone/>
            </a:pPr>
            <a:r>
              <a:rPr lang="en-US" sz="1100"/>
              <a:t>Focus on the existing task: Freezing Point The diagram shows the three states of matter for water and the temperatures at which each state occurs. How can you represent the temperatures at which water is a solid?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“Is the boundary value allowed in the stated situation, and how does the symbol communicate that?” Wait for evidence, invite another pathway, and have a student ask a follow-up question. Do not replace students’ reasoning with a sequence of leading steps.</a:t>
            </a:r>
          </a:p>
        </p:txBody>
      </p:sp>
      <p:sp>
        <p:nvSpPr>
          <p:cNvPr id="811" name="Google Shape;81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29 | REVEAL</a:t>
            </a:r>
          </a:p>
          <a:p xmlns:a="http://schemas.openxmlformats.org/drawingml/2006/main">
            <a:pPr>
              <a:buNone/>
            </a:pPr>
            <a:r>
              <a:rPr lang="en-US" sz="1100"/>
              <a:t>Focus on the existing task: Freezing Point Let’s think about the structure of the problem. How many temperatures result in a solid?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are many temperatures at which water is a solid. We can use a number line to plot several points that represent the temperatures.</a:t>
            </a:r>
          </a:p>
          <a:p>
            <a:pPr indent="0" lvl="0" marL="0" rtl="0" algn="l">
              <a:lnSpc>
                <a:spcPct val="100000"/>
              </a:lnSpc>
              <a:spcBef>
                <a:spcPts val="0"/>
              </a:spcBef>
              <a:spcAft>
                <a:spcPts val="0"/>
              </a:spcAft>
              <a:buSzPts val="1400"/>
              <a:buNone/>
            </a:pPr>
            <a:r>
              <a:t>UIFR: TEACH 3 · TEACH 4.</a:t>
            </a:r>
          </a:p>
        </p:txBody>
      </p:sp>
      <p:sp>
        <p:nvSpPr>
          <p:cNvPr id="831" name="Google Shape;831;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30 | WORKED</a:t>
            </a:r>
          </a:p>
          <a:p xmlns:a="http://schemas.openxmlformats.org/drawingml/2006/main">
            <a:pPr>
              <a:buNone/>
            </a:pPr>
            <a:r>
              <a:rPr lang="en-US" sz="1100"/>
              <a:t>Focus on the existing task: Freezing Point Water is a solid for all temperatures that are 32°F or below. Let’s plot several possible temperatures at which water is…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50" name="Google Shape;850;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31 | TASK</a:t>
            </a:r>
          </a:p>
          <a:p xmlns:a="http://schemas.openxmlformats.org/drawingml/2006/main">
            <a:pPr>
              <a:buNone/>
            </a:pPr>
            <a:r>
              <a:rPr lang="en-US" sz="1100"/>
              <a:t>Focus on the existing task: Freezing Point Looking for Patterns How can arriving at a generalization be helpful in approaching this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90" name="Google Shape;890;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32 | COLLABORATE</a:t>
            </a:r>
          </a:p>
          <a:p xmlns:a="http://schemas.openxmlformats.org/drawingml/2006/main">
            <a:pPr>
              <a:buNone/>
            </a:pPr>
            <a:r>
              <a:rPr lang="en-US" sz="1100"/>
              <a:t>Focus on the existing task: Collaborate and Connect Water is a solid for all temperatures less than or equal to 32°F. What symbol do you think you can use to show less than or equal to?</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at least with greater than or reversing the comparison. If it appears, test the boundary against the original words before selecting the symbol; then ask the student to revise the same response and explain the change. If evidence is secure, have students compare a second valid pathway or state why their approach works. Choose the next step from the responses, not a preset pace.</a:t>
            </a:r>
          </a:p>
        </p:txBody>
      </p:sp>
      <p:sp>
        <p:nvSpPr>
          <p:cNvPr id="912" name="Google Shape;912;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33 | WORKED</a:t>
            </a:r>
          </a:p>
          <a:p xmlns:a="http://schemas.openxmlformats.org/drawingml/2006/main">
            <a:pPr>
              <a:buNone/>
            </a:pPr>
            <a:r>
              <a:rPr lang="en-US" sz="1100"/>
              <a:t>Focus on the existing task: Freezing Point The solution is a range of values, so an inequality represents the problem.</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22" name="Google Shape;922;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34 | PRACTICE</a:t>
            </a:r>
          </a:p>
          <a:p xmlns:a="http://schemas.openxmlformats.org/drawingml/2006/main">
            <a:pPr>
              <a:buNone/>
            </a:pPr>
            <a:r>
              <a:rPr lang="en-US" sz="1100"/>
              <a:t>Focus on the existing task: Let’s Explore More How is an inequality different from an equation?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strict from inclusive bounds.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42" name="Google Shape;942;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38 | SUMMARIZE</a:t>
            </a:r>
          </a:p>
          <a:p xmlns:a="http://schemas.openxmlformats.org/drawingml/2006/main">
            <a:pPr>
              <a:buNone/>
            </a:pPr>
            <a:r>
              <a:rPr lang="en-US" sz="1100"/>
              <a:t>Focus on the existing task: Summarize: Write and Represent Inequalities An inequality is a mathematical sentence that compares quantities. It uses an inequality…</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54" name="Google Shape;954;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39 | APPLY</a:t>
            </a:r>
          </a:p>
          <a:p xmlns:a="http://schemas.openxmlformats.org/drawingml/2006/main">
            <a:pPr>
              <a:buNone/>
            </a:pPr>
            <a:r>
              <a:rPr lang="en-US" sz="1100"/>
              <a:t>Focus on the existing task: Apply: Festival Tickets Four friends are doing yard work around town to earn money to attend the upcoming festival advertised in the flyer.</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translate a constraint; distinguish strict from inclusive bounds; explain multiple solutions. Respond with one specific next step tied to the work. Students revise and annotate what changed, then identify a criterion they can now demonstrate and one they still need to practice.</a:t>
            </a:r>
          </a:p>
        </p:txBody>
      </p:sp>
      <p:sp>
        <p:nvSpPr>
          <p:cNvPr id="963" name="Google Shape;963;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8.4, slide 40 | REFLECTION</a:t>
            </a:r>
          </a:p>
          <a:p xmlns:a="http://schemas.openxmlformats.org/drawingml/2006/main">
            <a:pPr>
              <a:buNone/>
            </a:pPr>
            <a:r>
              <a:rPr lang="en-US" sz="1100"/>
              <a:t>Focus on the existing task: Learning Targets I can write inequalities to represent a real-world or mathematical problem. I can use repeated reasoning to understand…</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72" name="Google Shape;972;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8.4, slide 25 | WARMUP</a:t>
            </a:r>
          </a:p>
          <a:p xmlns:a="http://schemas.openxmlformats.org/drawingml/2006/main">
            <a:pPr>
              <a:buNone/>
            </a:pPr>
            <a:r>
              <a:rPr lang="en-US" sz="1100"/>
              <a:t>Focus on the existing task: Session 2 Warm-Up Session 2 Warm-Up Check what you…</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translate a constraint; distinguish strict from inclusive bounds; explain multiple solutions. Ask: “Which part of your work would show this?” Revisit that evidence after the task; a confidence rating alone is not evidence of understanding.</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8.4, slide 26 | NOTES</a:t>
            </a:r>
          </a:p>
          <a:p xmlns:a="http://schemas.openxmlformats.org/drawingml/2006/main">
            <a:pPr>
              <a:buNone/>
            </a:pPr>
            <a:r>
              <a:rPr lang="en-US" sz="1100"/>
              <a:t>Focus on the existing task: Today’s Math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42 | REFLECTION</a:t>
            </a:r>
          </a:p>
          <a:p xmlns:a="http://schemas.openxmlformats.org/drawingml/2006/main">
            <a:pPr>
              <a:buNone/>
            </a:pPr>
            <a:r>
              <a:rPr lang="en-US" sz="1100"/>
              <a:t>Focus on the existing task: Learning Targets I can write inequalities to represent a real-world or mathematical problem. I can use repeated reasoning to understand…</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confusing at least with greater than or reversing the comparison.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test the boundary against the original words before selecting the symbol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7 | PRIOR_INSERT</a:t>
            </a:r>
          </a:p>
          <a:p xmlns:a="http://schemas.openxmlformats.org/drawingml/2006/main">
            <a:pPr>
              <a:buNone/>
            </a:pPr>
            <a:r>
              <a:rPr lang="en-US" sz="1100"/>
              <a:t>Focus on the existing task: LESSON 8.4 / OUR LEARNING What will show your learning?</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8 | VOCAB</a:t>
            </a:r>
          </a:p>
          <a:p xmlns:a="http://schemas.openxmlformats.org/drawingml/2006/main">
            <a:pPr>
              <a:buNone/>
            </a:pPr>
            <a:r>
              <a:rPr lang="en-US" sz="1100"/>
              <a:t>Focus on the existing task: Vocabulary 1 of 7 Write Inequalities Represent a range of…</a:t>
            </a:r>
          </a:p>
          <a:p xmlns:a="http://schemas.openxmlformats.org/drawingml/2006/main">
            <a:pPr>
              <a:buNone/>
            </a:pPr>
            <a:r>
              <a:rPr lang="en-US" sz="1100"/>
              <a:t>ASK (T1/3/5): Where does “Write Inequalities”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9 | VOCAB</a:t>
            </a:r>
          </a:p>
          <a:p xmlns:a="http://schemas.openxmlformats.org/drawingml/2006/main">
            <a:pPr>
              <a:buNone/>
            </a:pPr>
            <a:r>
              <a:rPr lang="en-US" sz="1100"/>
              <a:t>Focus on the existing task: Vocabulary 2 of 7 Inequality A math sentence that…</a:t>
            </a:r>
          </a:p>
          <a:p xmlns:a="http://schemas.openxmlformats.org/drawingml/2006/main">
            <a:pPr>
              <a:buNone/>
            </a:pPr>
            <a:r>
              <a:rPr lang="en-US" sz="1100"/>
              <a:t>ASK (T1/3/5): Where does “Inequality”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10 | VOCAB</a:t>
            </a:r>
          </a:p>
          <a:p xmlns:a="http://schemas.openxmlformats.org/drawingml/2006/main">
            <a:pPr>
              <a:buNone/>
            </a:pPr>
            <a:r>
              <a:rPr lang="en-US" sz="1100"/>
              <a:t>Focus on the existing task: Vocabulary 3 of 7 Greater than The &gt; sign, showing one…</a:t>
            </a:r>
          </a:p>
          <a:p xmlns:a="http://schemas.openxmlformats.org/drawingml/2006/main">
            <a:pPr>
              <a:buNone/>
            </a:pPr>
            <a:r>
              <a:rPr lang="en-US" sz="1100"/>
              <a:t>ASK (T1/3/5): Where does “Greater than”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11 | VOCAB</a:t>
            </a:r>
          </a:p>
          <a:p xmlns:a="http://schemas.openxmlformats.org/drawingml/2006/main">
            <a:pPr>
              <a:buNone/>
            </a:pPr>
            <a:r>
              <a:rPr lang="en-US" sz="1100"/>
              <a:t>Focus on the existing task: Vocabulary 4 of 7 Less than The &lt; sign, showing one…</a:t>
            </a:r>
          </a:p>
          <a:p xmlns:a="http://schemas.openxmlformats.org/drawingml/2006/main">
            <a:pPr>
              <a:buNone/>
            </a:pPr>
            <a:r>
              <a:rPr lang="en-US" sz="1100"/>
              <a:t>ASK (T1/3/5): Where does “Less than”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12 | VOCAB</a:t>
            </a:r>
          </a:p>
          <a:p xmlns:a="http://schemas.openxmlformats.org/drawingml/2006/main">
            <a:pPr>
              <a:buNone/>
            </a:pPr>
            <a:r>
              <a:rPr lang="en-US" sz="1100"/>
              <a:t>Focus on the existing task: Vocabulary 5 of 7 At least / At most ‘At least’ means ≥.…</a:t>
            </a:r>
          </a:p>
          <a:p xmlns:a="http://schemas.openxmlformats.org/drawingml/2006/main">
            <a:pPr>
              <a:buNone/>
            </a:pPr>
            <a:r>
              <a:rPr lang="en-US" sz="1100"/>
              <a:t>ASK (T1/3/5): Where does “At least / At most”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13 | VOCAB</a:t>
            </a:r>
          </a:p>
          <a:p xmlns:a="http://schemas.openxmlformats.org/drawingml/2006/main">
            <a:pPr>
              <a:buNone/>
            </a:pPr>
            <a:r>
              <a:rPr lang="en-US" sz="1100"/>
              <a:t>Focus on the existing task: Vocabulary 6 of 7 Variable A letter that stands for a…</a:t>
            </a:r>
          </a:p>
          <a:p xmlns:a="http://schemas.openxmlformats.org/drawingml/2006/main">
            <a:pPr>
              <a:buNone/>
            </a:pPr>
            <a:r>
              <a:rPr lang="en-US" sz="1100"/>
              <a:t>ASK (T1/3/5): Where does “Variable”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14 | VOCAB</a:t>
            </a:r>
          </a:p>
          <a:p xmlns:a="http://schemas.openxmlformats.org/drawingml/2006/main">
            <a:pPr>
              <a:buNone/>
            </a:pPr>
            <a:r>
              <a:rPr lang="en-US" sz="1100"/>
              <a:t>Focus on the existing task: Vocabulary 7 of 7 No more than A phrase meaning less than…</a:t>
            </a:r>
          </a:p>
          <a:p xmlns:a="http://schemas.openxmlformats.org/drawingml/2006/main">
            <a:pPr>
              <a:buNone/>
            </a:pPr>
            <a:r>
              <a:rPr lang="en-US" sz="1100"/>
              <a:t>ASK (T1/3/5): Where does “No more than”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24 | REVEAL</a:t>
            </a:r>
          </a:p>
          <a:p xmlns:a="http://schemas.openxmlformats.org/drawingml/2006/main">
            <a:pPr>
              <a:buNone/>
            </a:pPr>
            <a:r>
              <a:rPr lang="en-US" sz="1100"/>
              <a:t>Focus on the existing task: Voting Age Reveal: There are several ages that satisfy the constraint. In the United States, a person must be at least 18 years old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35 | PRIOR_INSERT</a:t>
            </a:r>
          </a:p>
          <a:p xmlns:a="http://schemas.openxmlformats.org/drawingml/2006/main">
            <a:pPr>
              <a:buNone/>
            </a:pPr>
            <a:r>
              <a:rPr lang="en-US" sz="1100"/>
              <a:t>Focus on the existing task: LESSON 8.4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36 | REVEAL</a:t>
            </a:r>
          </a:p>
          <a:p xmlns:a="http://schemas.openxmlformats.org/drawingml/2006/main">
            <a:pPr>
              <a:buNone/>
            </a:pPr>
            <a:r>
              <a:rPr lang="en-US" sz="1100"/>
              <a:t>Focus on the existing task: Free Books Let’s think about the structure of the problem. How many temperatures result in a solid?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37 | REVEAL</a:t>
            </a:r>
          </a:p>
          <a:p xmlns:a="http://schemas.openxmlformats.org/drawingml/2006/main">
            <a:pPr>
              <a:buNone/>
            </a:pPr>
            <a:r>
              <a:rPr lang="en-US" sz="1100"/>
              <a:t>Focus on the existing task: Freezing Point Water is a solid for all temperatures that are 32°F or below. What do you notice about the temperatures at which water is a solid?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41 | CURIOUS</a:t>
            </a:r>
          </a:p>
          <a:p xmlns:a="http://schemas.openxmlformats.org/drawingml/2006/main">
            <a:pPr>
              <a:buNone/>
            </a:pPr>
            <a:r>
              <a:rPr lang="en-US" sz="1100"/>
              <a:t>Focus on the existing task: Be Curious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translate a constraint. Ask which feature of their work supports the claim.</a:t>
            </a:r>
          </a:p>
          <a:p xmlns:a="http://schemas.openxmlformats.org/drawingml/2006/main">
            <a:pPr>
              <a:buNone/>
            </a:pPr>
            <a:r>
              <a:rPr lang="en-US" sz="1100"/>
              <a:t>RESPOND: If this task shows the lesson misconception—confusing at least with greater than or reversing the comparison—test the boundary against the original words before selecting the symbol.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8.4, slide 43 | PRIOR_INSERT</a:t>
            </a:r>
          </a:p>
          <a:p xmlns:a="http://schemas.openxmlformats.org/drawingml/2006/main">
            <a:pPr>
              <a:buNone/>
            </a:pPr>
            <a:r>
              <a:rPr lang="en-US" sz="1100"/>
              <a:t>Focus on the existing task: LESSON 8.4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translate a constraint; distinguish strict from inclusive bounds; explain multiple solutions.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Represent Inequalities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Write and Represent Inequalities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png"/><Relationship Id="rId3" Type="http://schemas.openxmlformats.org/officeDocument/2006/relationships/notesSlide" Target="../notesSlides/notesSlide6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6.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notesSlide" Target="../notesSlides/notesSlide7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8-4 · Write and Represent Inequalities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Write &lt; or &gt; :  7 ______ 12</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At least 48 inches tall means</a:t>
            </a:r>
          </a:p>
          <a:p>
            <a:pPr algn="l"/>
            <a:r>
              <a:rPr sz="1800" b="1">
                <a:solidFill>
                  <a:srgbClr val="23282D"/>
                </a:solidFill>
                <a:latin typeface="Arial"/>
              </a:rPr>
              <a:t>h ______ 48</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Which is farther right on a number line:</a:t>
            </a:r>
          </a:p>
          <a:p>
            <a:pPr algn="l"/>
            <a:r>
              <a:rPr sz="1800" b="1">
                <a:solidFill>
                  <a:srgbClr val="23282D"/>
                </a:solidFill>
                <a:latin typeface="Arial"/>
              </a:rPr>
              <a:t>−3 or 2?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Is 9 a solution of x &gt; 9?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49</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7" name="Google Shape;507;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508" name="Google Shape;508;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0" name="Google Shape;510;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11" name="Google Shape;511;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3" name="Google Shape;513;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6" name="Google Shape;516;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Write Inequalities</a:t>
            </a:r>
            <a:endParaRPr/>
          </a:p>
        </p:txBody>
      </p:sp>
      <p:sp>
        <p:nvSpPr>
          <p:cNvPr id="517" name="Google Shape;517;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Represent a range of possible values with &lt;</a:t>
            </a:r>
            <a:endParaRPr/>
          </a:p>
        </p:txBody>
      </p:sp>
      <p:sp>
        <p:nvSpPr>
          <p:cNvPr id="518" name="Google Shape;518;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21" name="Google Shape;521;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Inequality</a:t>
            </a:r>
            <a:endParaRPr/>
          </a:p>
        </p:txBody>
      </p:sp>
      <p:sp>
        <p:nvSpPr>
          <p:cNvPr id="522" name="Google Shape;522;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math sentence that compares two sides with &lt;</a:t>
            </a:r>
            <a:endParaRPr/>
          </a:p>
        </p:txBody>
      </p:sp>
      <p:sp>
        <p:nvSpPr>
          <p:cNvPr id="523" name="Google Shape;523;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6" name="Google Shape;526;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Greater than</a:t>
            </a:r>
            <a:endParaRPr/>
          </a:p>
        </p:txBody>
      </p:sp>
      <p:sp>
        <p:nvSpPr>
          <p:cNvPr id="527" name="Google Shape;527;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&gt; sign, showing one number is bigger</a:t>
            </a:r>
            <a:endParaRPr/>
          </a:p>
        </p:txBody>
      </p:sp>
      <p:sp>
        <p:nvSpPr>
          <p:cNvPr id="5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49</a:t>
            </a:r>
          </a:p>
        </p:txBody>
      </p:sp>
      <p:grpSp>
        <p:nvGrpSpPr>
          <p:cNvPr id="529" name="TEACH-1-student-move" descr="TEACH 1 · Facilitate clear, standards-based content learning"/>
          <p:cNvGrpSpPr/>
          <p:nvPr/>
        </p:nvGrpSpPr>
        <p:grpSpPr>
          <a:xfrm>
            <a:off x="6187440" y="1682496"/>
            <a:ext cx="5501640" cy="594360"/>
            <a:chOff x="6187440" y="1682496"/>
            <a:chExt cx="5501640" cy="594360"/>
          </a:xfrm>
        </p:grpSpPr>
        <p:sp>
          <p:nvSpPr>
            <p:cNvPr id="530"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31"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32"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35" name="Google Shape;535;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536" name="Google Shape;536;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8" name="Google Shape;538;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39" name="Google Shape;539;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41" name="Google Shape;541;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Writing &amp; Representing Inequalities</a:t>
            </a:r>
            <a:endParaRPr/>
          </a:p>
        </p:txBody>
      </p:sp>
      <p:sp>
        <p:nvSpPr>
          <p:cNvPr id="543" name="Google Shape;543;p54"/>
          <p:cNvSpPr/>
          <p:nvPr/>
        </p:nvSpPr>
        <p:spPr>
          <a:xfrm>
            <a:off x="640080" y="3182112"/>
            <a:ext cx="2522212"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4"/>
          <p:cNvSpPr txBox="1"/>
          <p:nvPr/>
        </p:nvSpPr>
        <p:spPr>
          <a:xfrm>
            <a:off x="768096" y="3264408"/>
            <a:ext cx="2266180"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&lt; (less)</a:t>
            </a:r>
            <a:endParaRPr/>
          </a:p>
        </p:txBody>
      </p:sp>
      <p:sp>
        <p:nvSpPr>
          <p:cNvPr id="545" name="Google Shape;545;p54"/>
          <p:cNvSpPr/>
          <p:nvPr/>
        </p:nvSpPr>
        <p:spPr>
          <a:xfrm>
            <a:off x="3436612" y="3182112"/>
            <a:ext cx="2522212"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4"/>
          <p:cNvSpPr txBox="1"/>
          <p:nvPr/>
        </p:nvSpPr>
        <p:spPr>
          <a:xfrm>
            <a:off x="3564628" y="3264408"/>
            <a:ext cx="2266180"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&gt; (greater)</a:t>
            </a:r>
            <a:endParaRPr/>
          </a:p>
        </p:txBody>
      </p:sp>
      <p:sp>
        <p:nvSpPr>
          <p:cNvPr id="547" name="Google Shape;547;p54"/>
          <p:cNvSpPr/>
          <p:nvPr/>
        </p:nvSpPr>
        <p:spPr>
          <a:xfrm>
            <a:off x="6233144" y="3182112"/>
            <a:ext cx="2522212"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4"/>
          <p:cNvSpPr txBox="1"/>
          <p:nvPr/>
        </p:nvSpPr>
        <p:spPr>
          <a:xfrm>
            <a:off x="6361160" y="3264408"/>
            <a:ext cx="2266180"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 (at most / ≤)</a:t>
            </a:r>
            <a:endParaRPr/>
          </a:p>
        </p:txBody>
      </p:sp>
      <p:sp>
        <p:nvSpPr>
          <p:cNvPr id="549" name="Google Shape;549;p54"/>
          <p:cNvSpPr/>
          <p:nvPr/>
        </p:nvSpPr>
        <p:spPr>
          <a:xfrm>
            <a:off x="9029677" y="3182112"/>
            <a:ext cx="2522212"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9157693" y="3264408"/>
            <a:ext cx="2266180"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defRPr/>
            </a:pPr>
            <a:r>
              <a:rPr b="1" i="0" lang="en-US" sz="2200" u="none" cap="none" strike="noStrike">
                <a:solidFill>
                  <a:srgbClr val="C2410C"/>
                </a:solidFill>
                <a:latin typeface="Arial"/>
                <a:ea typeface="Arial"/>
                <a:cs typeface="Arial"/>
                <a:sym typeface="Arial"/>
              </a:rPr>
              <a:t>≥ (at least / ≥)</a:t>
            </a:r>
            <a:endParaRPr/>
          </a:p>
        </p:txBody>
      </p:sp>
      <p:sp>
        <p:nvSpPr>
          <p:cNvPr id="551" name="Google Shape;551;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53" name="Google Shape;553;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a:t>
            </a:r>
            <a:r>
              <a:rPr b="1" i="0" lang="en-US" sz="1600" u="none" cap="none" strike="noStrike">
                <a:solidFill>
                  <a:srgbClr val="14223A"/>
                </a:solidFill>
                <a:latin typeface="Arial"/>
                <a:ea typeface="Arial"/>
                <a:cs typeface="Arial"/>
                <a:sym typeface="Arial"/>
              </a:rPr>
              <a:t xml:space="preserve">At least</a:t>
            </a:r>
            <a:r>
              <a:rPr b="0" i="0" lang="en-US" sz="1600" u="none" cap="none" strike="noStrike">
                <a:solidFill>
                  <a:srgbClr val="14223A"/>
                </a:solidFill>
                <a:latin typeface="Arial"/>
                <a:ea typeface="Arial"/>
                <a:cs typeface="Arial"/>
                <a:sym typeface="Arial"/>
              </a:rPr>
              <a:t xml:space="preserve">’, ‘minimum’, ‘</a:t>
            </a:r>
            <a:r>
              <a:rPr b="1" i="0" lang="en-US" sz="1600" u="none" cap="none" strike="noStrike">
                <a:solidFill>
                  <a:srgbClr val="14223A"/>
                </a:solidFill>
                <a:latin typeface="Arial"/>
                <a:ea typeface="Arial"/>
                <a:cs typeface="Arial"/>
                <a:sym typeface="Arial"/>
              </a:rPr>
              <a:t xml:space="preserve">no less than</a:t>
            </a:r>
            <a:r>
              <a:rPr b="0" i="0" lang="en-US" sz="1600" u="none" cap="none" strike="noStrike">
                <a:solidFill>
                  <a:srgbClr val="14223A"/>
                </a:solidFill>
                <a:latin typeface="Arial"/>
                <a:ea typeface="Arial"/>
                <a:cs typeface="Arial"/>
                <a:sym typeface="Arial"/>
              </a:rPr>
              <a:t xml:space="preserve">’ translate to ≥ (greater than or equal to)</a:t>
            </a:r>
            <a:endParaRPr/>
          </a:p>
        </p:txBody>
      </p:sp>
      <p:sp>
        <p:nvSpPr>
          <p:cNvPr id="554" name="Google Shape;554;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56" name="Google Shape;556;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a:t>
            </a:r>
            <a:r>
              <a:rPr b="1" i="0" lang="en-US" sz="1600" u="none" cap="none" strike="noStrike">
                <a:solidFill>
                  <a:srgbClr val="14223A"/>
                </a:solidFill>
                <a:latin typeface="Arial"/>
                <a:ea typeface="Arial"/>
                <a:cs typeface="Arial"/>
                <a:sym typeface="Arial"/>
              </a:rPr>
              <a:t xml:space="preserve">At most</a:t>
            </a:r>
            <a:r>
              <a:rPr b="0" i="0" lang="en-US" sz="1600" u="none" cap="none" strike="noStrike">
                <a:solidFill>
                  <a:srgbClr val="14223A"/>
                </a:solidFill>
                <a:latin typeface="Arial"/>
                <a:ea typeface="Arial"/>
                <a:cs typeface="Arial"/>
                <a:sym typeface="Arial"/>
              </a:rPr>
              <a:t xml:space="preserve">’, ‘maximum’, ‘</a:t>
            </a:r>
            <a:r>
              <a:rPr b="1" i="0" lang="en-US" sz="1600" u="none" cap="none" strike="noStrike">
                <a:solidFill>
                  <a:srgbClr val="14223A"/>
                </a:solidFill>
                <a:latin typeface="Arial"/>
                <a:ea typeface="Arial"/>
                <a:cs typeface="Arial"/>
                <a:sym typeface="Arial"/>
              </a:rPr>
              <a:t xml:space="preserve">no more than</a:t>
            </a:r>
            <a:r>
              <a:rPr b="0" i="0" lang="en-US" sz="1600" u="none" cap="none" strike="noStrike">
                <a:solidFill>
                  <a:srgbClr val="14223A"/>
                </a:solidFill>
                <a:latin typeface="Arial"/>
                <a:ea typeface="Arial"/>
                <a:cs typeface="Arial"/>
                <a:sym typeface="Arial"/>
              </a:rPr>
              <a:t xml:space="preserve">’ translate to ≤ (less than or equal to)</a:t>
            </a:r>
            <a:endParaRPr/>
          </a:p>
        </p:txBody>
      </p:sp>
      <p:sp>
        <p:nvSpPr>
          <p:cNvPr id="557" name="Google Shape;557;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59" name="Google Shape;559;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‘More than’ is &gt;; ‘Fewer than’ / ‘</a:t>
            </a:r>
            <a:r>
              <a:rPr b="1" i="0" lang="en-US" sz="1600" u="none" cap="none" strike="noStrike">
                <a:solidFill>
                  <a:srgbClr val="14223A"/>
                </a:solidFill>
                <a:latin typeface="Arial"/>
                <a:ea typeface="Arial"/>
                <a:cs typeface="Arial"/>
                <a:sym typeface="Arial"/>
              </a:rPr>
              <a:t xml:space="preserve">Less than</a:t>
            </a:r>
            <a:r>
              <a:rPr b="0" i="0" lang="en-US" sz="1600" u="none" cap="none" strike="noStrike">
                <a:solidFill>
                  <a:srgbClr val="14223A"/>
                </a:solidFill>
                <a:latin typeface="Arial"/>
                <a:ea typeface="Arial"/>
                <a:cs typeface="Arial"/>
                <a:sym typeface="Arial"/>
              </a:rPr>
              <a:t xml:space="preserve">’ is &lt;</a:t>
            </a:r>
            <a:endParaRPr/>
          </a:p>
        </p:txBody>
      </p:sp>
      <p:sp>
        <p:nvSpPr>
          <p:cNvPr id="5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49</a:t>
            </a:r>
          </a:p>
        </p:txBody>
      </p:sp>
      <p:grpSp>
        <p:nvGrpSpPr>
          <p:cNvPr id="561" name="TEACH-1-student-move" descr="TEACH 1 · Facilitate clear, standards-based content learning"/>
          <p:cNvGrpSpPr/>
          <p:nvPr/>
        </p:nvGrpSpPr>
        <p:grpSpPr>
          <a:xfrm>
            <a:off x="6187440" y="1682496"/>
            <a:ext cx="5501640" cy="594360"/>
            <a:chOff x="6187440" y="1682496"/>
            <a:chExt cx="5501640" cy="594360"/>
          </a:xfrm>
        </p:grpSpPr>
        <p:sp>
          <p:nvSpPr>
            <p:cNvPr id="562"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63"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64"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Represent Inequalities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49</a:t>
            </a:r>
          </a:p>
        </p:txBody>
      </p:sp>
      <p:grpSp>
        <p:nvGrpSpPr>
          <p:cNvPr id="237" name="TEACH-2-student-move" descr="TEACH 2 · Use strategies and tasks to engage students in rigorous work"/>
          <p:cNvGrpSpPr/>
          <p:nvPr/>
        </p:nvGrpSpPr>
        <p:grpSpPr>
          <a:xfrm>
            <a:off x="502920" y="3201930"/>
            <a:ext cx="11186160" cy="731520"/>
            <a:chOff x="502920" y="3201930"/>
            <a:chExt cx="11186160" cy="731520"/>
          </a:xfrm>
        </p:grpSpPr>
        <p:sp>
          <p:nvSpPr>
            <p:cNvPr id="238" name="TEACH-move-card"/>
            <p:cNvSpPr/>
            <p:nvPr/>
          </p:nvSpPr>
          <p:spPr>
            <a:xfrm>
              <a:off x="502920" y="3201930"/>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9"/>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30"/>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486000" y="316034"/>
            <a:ext cx="3643548" cy="486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5999" y="936000"/>
            <a:ext cx="736260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Would you rather have THIS or THAT hours of free time?</a:t>
            </a:r>
            <a:endParaRPr b="0" i="0" sz="2800" u="none" cap="none" strike="noStrike">
              <a:solidFill>
                <a:schemeClr val="dk1"/>
              </a:solidFill>
              <a:latin typeface="Arial"/>
              <a:ea typeface="Arial"/>
              <a:cs typeface="Arial"/>
              <a:sym typeface="Arial"/>
            </a:endParaRPr>
          </a:p>
        </p:txBody>
      </p:sp>
      <p:graphicFrame>
        <p:nvGraphicFramePr>
          <p:cNvPr id="244" name="Google Shape;244;p41"/>
          <p:cNvGraphicFramePr/>
          <p:nvPr/>
        </p:nvGraphicFramePr>
        <p:xfrm>
          <a:off x="485999" y="2099456"/>
          <a:ext cx="3000000" cy="3000000"/>
        </p:xfrm>
        <a:graphic>
          <a:graphicData uri="http://schemas.openxmlformats.org/drawingml/2006/table">
            <a:tbl>
              <a:tblPr bandRow="1" firstRow="1">
                <a:noFill/>
                <a:tableStyleId>{08BE1B17-B6C2-4EDB-9EBD-CE6878C18511}</a:tableStyleId>
              </a:tblPr>
              <a:tblGrid>
                <a:gridCol w="4410875"/>
                <a:gridCol w="4410875"/>
              </a:tblGrid>
              <a:tr h="518150">
                <a:tc gridSpan="2">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solidFill>
                            <a:schemeClr val="dk1"/>
                          </a:solidFill>
                          <a:latin typeface="Arial"/>
                          <a:ea typeface="Arial"/>
                          <a:cs typeface="Arial"/>
                          <a:sym typeface="Arial"/>
                        </a:rPr>
                        <a:t>THIS or THAT</a:t>
                      </a:r>
                      <a:endParaRPr sz="2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hMerge="1"/>
              </a:tr>
              <a:tr h="51815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 xml:space="preserve">THIS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25D9C"/>
                    </a:solidFill>
                  </a:tcPr>
                </a:tc>
              </a:tr>
              <a:tr h="8902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532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645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49</a:t>
            </a:r>
          </a:p>
        </p:txBody>
      </p:sp>
      <p:sp xmlns:p="http://schemas.openxmlformats.org/presentationml/2006/main" xmlns:a="http://schemas.openxmlformats.org/drawingml/2006/main">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20" name="Google Shape;320;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321" name="Google Shape;321;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23" name="Google Shape;323;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Write and Represent Inequalities</a:t>
            </a:r>
            <a:endParaRPr/>
          </a:p>
        </p:txBody>
      </p:sp>
      <p:sp>
        <p:nvSpPr>
          <p:cNvPr id="324" name="Google Shape;324;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6.AT.9</a:t>
            </a:r>
            <a:endParaRPr/>
          </a:p>
        </p:txBody>
      </p:sp>
      <p:sp>
        <p:nvSpPr>
          <p:cNvPr id="325" name="Google Shape;325;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28" name="Google Shape;328;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29" name="Google Shape;329;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write inequalities to represent real-world situations.</a:t>
            </a:r>
            <a:endParaRPr/>
          </a:p>
        </p:txBody>
      </p:sp>
      <p:sp>
        <p:nvSpPr>
          <p:cNvPr id="330" name="Google Shape;330;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33" name="Google Shape;333;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34" name="Google Shape;334;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inequality using the words inequality, greater than, less than, and at least / at most.</a:t>
            </a:r>
            <a:endParaRPr/>
          </a:p>
        </p:txBody>
      </p:sp>
      <p:sp>
        <p:nvSpPr>
          <p:cNvPr id="3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49</a:t>
            </a:r>
          </a:p>
        </p:txBody>
      </p:sp>
      <p:grpSp>
        <p:nvGrpSpPr>
          <p:cNvPr id="336" name="TEACH-1-student-move" descr="TEACH 1 · Facilitate clear, standards-based content learning"/>
          <p:cNvGrpSpPr/>
          <p:nvPr/>
        </p:nvGrpSpPr>
        <p:grpSpPr>
          <a:xfrm>
            <a:off x="502920" y="1993392"/>
            <a:ext cx="11186160" cy="402336"/>
            <a:chOff x="502920" y="1993392"/>
            <a:chExt cx="11186160" cy="402336"/>
          </a:xfrm>
        </p:grpSpPr>
        <p:sp>
          <p:nvSpPr>
            <p:cNvPr id="337"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38"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39"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Translate a constraint.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strict from inclusive bounds.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Explain multiple solutions.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9" name="Google Shape;37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7</a:t>
            </a:r>
            <a:endParaRPr/>
          </a:p>
        </p:txBody>
      </p:sp>
      <p:sp>
        <p:nvSpPr>
          <p:cNvPr id="382" name="Google Shape;38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383" name="Google Shape;38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85" name="Google Shape;385;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Write Inequalities</a:t>
            </a:r>
            <a:endParaRPr/>
          </a:p>
        </p:txBody>
      </p:sp>
      <p:sp>
        <p:nvSpPr>
          <p:cNvPr id="386" name="Google Shape;386;p46"/>
          <p:cNvSpPr/>
          <p:nvPr/>
        </p:nvSpPr>
        <p:spPr>
          <a:xfrm>
            <a:off x="658368" y="2934843"/>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Represent a range of possible values with &lt;, &gt;, ≤, or ≥.</a:t>
            </a:r>
            <a:endParaRPr/>
          </a:p>
        </p:txBody>
      </p:sp>
      <p:sp>
        <p:nvSpPr>
          <p:cNvPr id="388" name="Google Shape;388;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391" name="Google Shape;391;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You must be at least 12 years old: a ≥ 12.</a:t>
            </a:r>
            <a:endParaRPr/>
          </a:p>
        </p:txBody>
      </p:sp>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49</a:t>
            </a:r>
          </a:p>
        </p:txBody>
      </p:sp>
      <p:sp xmlns:p="http://schemas.openxmlformats.org/presentationml/2006/main" xmlns:a="http://schemas.openxmlformats.org/drawingml/2006/main">
        <p:nvSpPr>
          <p:cNvPr id="392"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“Write Inequalities”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399" name="Google Shape;39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00" name="Google Shape;40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Inequality</a:t>
            </a:r>
            <a:endParaRPr/>
          </a:p>
        </p:txBody>
      </p:sp>
      <p:sp>
        <p:nvSpPr>
          <p:cNvPr id="403" name="Google Shape;403;p47"/>
          <p:cNvSpPr/>
          <p:nvPr/>
        </p:nvSpPr>
        <p:spPr>
          <a:xfrm>
            <a:off x="658368" y="263880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sentence that compares two sides with &lt;, &gt;, ≤, or ≥.</a:t>
            </a:r>
            <a:endParaRPr/>
          </a:p>
        </p:txBody>
      </p:sp>
      <p:sp>
        <p:nvSpPr>
          <p:cNvPr id="405" name="Google Shape;405;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x &gt; 5 means x can be 6, 7, 8, … — any number greater than 5</a:t>
            </a:r>
            <a:endParaRPr/>
          </a:p>
        </p:txBody>
      </p:sp>
      <p:pic>
        <p:nvPicPr>
          <p:cNvPr descr="inequality.png" id="409" name="Google Shape;409;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49</a:t>
            </a:r>
          </a:p>
        </p:txBody>
      </p:sp>
      <p:sp xmlns:p="http://schemas.openxmlformats.org/presentationml/2006/main" xmlns:a="http://schemas.openxmlformats.org/drawingml/2006/main">
        <p:nvSpPr>
          <p:cNvPr id="41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“Inequality”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4" name="Google Shape;414;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17" name="Google Shape;417;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18" name="Google Shape;418;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0" name="Google Shape;420;p48"/>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Greater than</a:t>
            </a:r>
            <a:endParaRPr/>
          </a:p>
        </p:txBody>
      </p:sp>
      <p:sp>
        <p:nvSpPr>
          <p:cNvPr id="421" name="Google Shape;421;p48"/>
          <p:cNvSpPr/>
          <p:nvPr/>
        </p:nvSpPr>
        <p:spPr>
          <a:xfrm>
            <a:off x="658368" y="291388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8"/>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&gt; sign, showing one number is bigger.</a:t>
            </a:r>
            <a:endParaRPr/>
          </a:p>
        </p:txBody>
      </p:sp>
      <p:sp>
        <p:nvSpPr>
          <p:cNvPr id="423" name="Google Shape;423;p48"/>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8"/>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6" name="Google Shape;426;p48"/>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 &gt; 3 — eight is larger than three</a:t>
            </a:r>
            <a:endParaRPr/>
          </a:p>
        </p:txBody>
      </p:sp>
      <p:pic>
        <p:nvPicPr>
          <p:cNvPr descr="greater-than.png" id="427" name="Google Shape;427;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49</a:t>
            </a:r>
          </a:p>
        </p:txBody>
      </p:sp>
      <p:sp xmlns:p="http://schemas.openxmlformats.org/presentationml/2006/main" xmlns:a="http://schemas.openxmlformats.org/drawingml/2006/main">
        <p:nvSpPr>
          <p:cNvPr id="42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“Greater than”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2" name="Google Shape;432;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35" name="Google Shape;435;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36" name="Google Shape;436;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8" name="Google Shape;438;p49"/>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Less than</a:t>
            </a:r>
            <a:endParaRPr/>
          </a:p>
        </p:txBody>
      </p:sp>
      <p:sp>
        <p:nvSpPr>
          <p:cNvPr id="439" name="Google Shape;439;p49"/>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9"/>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&lt; sign, showing one number is smaller.</a:t>
            </a:r>
            <a:endParaRPr/>
          </a:p>
        </p:txBody>
      </p:sp>
      <p:sp>
        <p:nvSpPr>
          <p:cNvPr id="441" name="Google Shape;441;p49"/>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9"/>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4" name="Google Shape;444;p49"/>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 &lt; 7 — two is smaller than seven</a:t>
            </a:r>
            <a:endParaRPr/>
          </a:p>
        </p:txBody>
      </p:sp>
      <p:pic>
        <p:nvPicPr>
          <p:cNvPr descr="less-than.png" id="445" name="Google Shape;445;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49</a:t>
            </a:r>
          </a:p>
        </p:txBody>
      </p:sp>
      <p:sp xmlns:p="http://schemas.openxmlformats.org/presentationml/2006/main" xmlns:a="http://schemas.openxmlformats.org/drawingml/2006/main">
        <p:nvSpPr>
          <p:cNvPr id="44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“Less than”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0" name="Google Shape;450;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53" name="Google Shape;453;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54" name="Google Shape;454;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6" name="Google Shape;456;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At least / At most</a:t>
            </a:r>
            <a:endParaRPr/>
          </a:p>
        </p:txBody>
      </p:sp>
      <p:sp>
        <p:nvSpPr>
          <p:cNvPr id="457" name="Google Shape;457;p50"/>
          <p:cNvSpPr/>
          <p:nvPr/>
        </p:nvSpPr>
        <p:spPr>
          <a:xfrm>
            <a:off x="658368" y="2814828"/>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‘At least’ means ≥. ‘At most’ means ≤.</a:t>
            </a:r>
            <a:endParaRPr/>
          </a:p>
        </p:txBody>
      </p:sp>
      <p:sp>
        <p:nvSpPr>
          <p:cNvPr id="459" name="Google Shape;459;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2" name="Google Shape;462;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‘At least 10 players’ → p ≥ 10 (could be 10, 11, 12, …); ‘At most 5 tries’ → t ≤ 5 (could be 5, 4, 3, …)</a:t>
            </a:r>
            <a:endParaRPr/>
          </a:p>
        </p:txBody>
      </p:sp>
      <p:pic>
        <p:nvPicPr>
          <p:cNvPr descr="inequality.png" id="463" name="Google Shape;463;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49</a:t>
            </a:r>
          </a:p>
        </p:txBody>
      </p:sp>
      <p:sp xmlns:p="http://schemas.openxmlformats.org/presentationml/2006/main" xmlns:a="http://schemas.openxmlformats.org/drawingml/2006/main">
        <p:nvSpPr>
          <p:cNvPr id="46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“At least / At most”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Google Shape;468;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71" name="Google Shape;471;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72" name="Google Shape;472;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4" name="Google Shape;474;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Variable</a:t>
            </a:r>
            <a:endParaRPr/>
          </a:p>
        </p:txBody>
      </p:sp>
      <p:sp>
        <p:nvSpPr>
          <p:cNvPr id="475" name="Google Shape;475;p51"/>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letter that stands for a number that is unknown or can change.</a:t>
            </a:r>
            <a:endParaRPr/>
          </a:p>
        </p:txBody>
      </p:sp>
      <p:sp>
        <p:nvSpPr>
          <p:cNvPr id="477" name="Google Shape;477;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0" name="Google Shape;480;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x &gt; 5, the letter x stands for any number greater than 5.</a:t>
            </a:r>
            <a:endParaRPr/>
          </a:p>
        </p:txBody>
      </p:sp>
      <p:pic>
        <p:nvPicPr>
          <p:cNvPr descr="variable.png" id="481" name="Google Shape;481;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49</a:t>
            </a:r>
          </a:p>
        </p:txBody>
      </p:sp>
      <p:sp xmlns:p="http://schemas.openxmlformats.org/presentationml/2006/main" xmlns:a="http://schemas.openxmlformats.org/drawingml/2006/main">
        <p:nvSpPr>
          <p:cNvPr id="48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“Variable”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6" name="Google Shape;486;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489" name="Google Shape;489;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8-4 · Write and Represent Inequalities</a:t>
            </a:r>
            <a:endParaRPr/>
          </a:p>
        </p:txBody>
      </p:sp>
      <p:sp>
        <p:nvSpPr>
          <p:cNvPr id="490" name="Google Shape;490;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2" name="Google Shape;492;p52"/>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No more than</a:t>
            </a:r>
            <a:endParaRPr/>
          </a:p>
        </p:txBody>
      </p:sp>
      <p:sp>
        <p:nvSpPr>
          <p:cNvPr id="493" name="Google Shape;493;p52"/>
          <p:cNvSpPr/>
          <p:nvPr/>
        </p:nvSpPr>
        <p:spPr>
          <a:xfrm>
            <a:off x="658368" y="2913888"/>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2"/>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phrase meaning less than or equal to (≤).</a:t>
            </a:r>
            <a:endParaRPr/>
          </a:p>
        </p:txBody>
      </p:sp>
      <p:sp>
        <p:nvSpPr>
          <p:cNvPr id="495" name="Google Shape;495;p52"/>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2"/>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2"/>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8" name="Google Shape;498;p52"/>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“No more than 8 people” means people ≤ 8.</a:t>
            </a:r>
            <a:endParaRPr/>
          </a:p>
        </p:txBody>
      </p:sp>
      <p:pic>
        <p:nvPicPr>
          <p:cNvPr descr="inequality.png" id="499" name="Google Shape;499;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49</a:t>
            </a:r>
          </a:p>
        </p:txBody>
      </p:sp>
      <p:sp xmlns:p="http://schemas.openxmlformats.org/presentationml/2006/main" xmlns:a="http://schemas.openxmlformats.org/drawingml/2006/main">
        <p:nvSpPr>
          <p:cNvPr id="500"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“No more than”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42" name="Google Shape;342;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343" name="Google Shape;343;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5" name="Google Shape;345;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46" name="Google Shape;346;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47" name="Google Shape;347;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Write Inequalities</a:t>
            </a:r>
            <a:endParaRPr/>
          </a:p>
        </p:txBody>
      </p:sp>
      <p:sp>
        <p:nvSpPr>
          <p:cNvPr id="350" name="Google Shape;350;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Represent a range of possible values with &lt;, &gt;, ≤, or ≥</a:t>
            </a:r>
            <a:endParaRPr/>
          </a:p>
        </p:txBody>
      </p:sp>
      <p:sp>
        <p:nvSpPr>
          <p:cNvPr id="351" name="Google Shape;351;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Inequality</a:t>
            </a:r>
            <a:endParaRPr/>
          </a:p>
        </p:txBody>
      </p:sp>
      <p:sp>
        <p:nvSpPr>
          <p:cNvPr id="354" name="Google Shape;354;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math sentence that compares two sides with &lt;, &gt;, ≤, or ≥</a:t>
            </a:r>
            <a:endParaRPr/>
          </a:p>
        </p:txBody>
      </p:sp>
      <p:sp>
        <p:nvSpPr>
          <p:cNvPr id="355" name="Google Shape;355;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Greater than</a:t>
            </a:r>
            <a:endParaRPr/>
          </a:p>
        </p:txBody>
      </p:sp>
      <p:sp>
        <p:nvSpPr>
          <p:cNvPr id="358" name="Google Shape;358;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&gt; sign, showing one number is bigger</a:t>
            </a:r>
            <a:endParaRPr/>
          </a:p>
        </p:txBody>
      </p:sp>
      <p:sp>
        <p:nvSpPr>
          <p:cNvPr id="359" name="Google Shape;359;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Less than</a:t>
            </a:r>
            <a:endParaRPr/>
          </a:p>
        </p:txBody>
      </p:sp>
      <p:sp>
        <p:nvSpPr>
          <p:cNvPr id="362" name="Google Shape;362;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&lt; sign, showing one number is smaller</a:t>
            </a:r>
            <a:endParaRPr/>
          </a:p>
        </p:txBody>
      </p:sp>
      <p:sp>
        <p:nvSpPr>
          <p:cNvPr id="363" name="Google Shape;363;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At least / At most</a:t>
            </a:r>
            <a:endParaRPr/>
          </a:p>
        </p:txBody>
      </p:sp>
      <p:sp>
        <p:nvSpPr>
          <p:cNvPr id="366" name="Google Shape;366;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‘At least’ means ≥</a:t>
            </a:r>
            <a:endParaRPr/>
          </a:p>
        </p:txBody>
      </p:sp>
      <p:sp>
        <p:nvSpPr>
          <p:cNvPr id="367" name="Google Shape;367;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Variable</a:t>
            </a:r>
            <a:endParaRPr/>
          </a:p>
        </p:txBody>
      </p:sp>
      <p:sp>
        <p:nvSpPr>
          <p:cNvPr id="370" name="Google Shape;370;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letter that stands for a number that is unknown or can change</a:t>
            </a:r>
            <a:endParaRPr/>
          </a:p>
        </p:txBody>
      </p:sp>
      <p:sp>
        <p:nvSpPr>
          <p:cNvPr id="371" name="Google Shape;371;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No more than</a:t>
            </a:r>
            <a:endParaRPr/>
          </a:p>
        </p:txBody>
      </p:sp>
      <p:sp>
        <p:nvSpPr>
          <p:cNvPr id="374" name="Google Shape;374;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phrase meaning less than or equal to (≤)</a:t>
            </a:r>
            <a:endParaRPr/>
          </a:p>
        </p:txBody>
      </p:sp>
      <p:sp>
        <p:nvSpPr>
          <p:cNvPr id="3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49</a:t>
            </a:r>
          </a:p>
        </p:txBody>
      </p:sp>
      <p:sp xmlns:p="http://schemas.openxmlformats.org/presentationml/2006/main" xmlns:a="http://schemas.openxmlformats.org/drawingml/2006/main">
        <p:nvSpPr>
          <p:cNvPr id="376"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cxnSp>
        <p:nvCxnSpPr>
          <p:cNvPr id="574" name="Google Shape;574;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5" name="Google Shape;575;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76" name="Google Shape;576;p56"/>
          <p:cNvPicPr preferRelativeResize="0"/>
          <p:nvPr/>
        </p:nvPicPr>
        <p:blipFill rotWithShape="1">
          <a:blip r:embed="rId3">
            <a:alphaModFix/>
          </a:blip>
          <a:srcRect b="0" l="0" r="0" t="0"/>
          <a:stretch/>
        </p:blipFill>
        <p:spPr>
          <a:xfrm>
            <a:off x="484560" y="5001460"/>
            <a:ext cx="5054600" cy="838200"/>
          </a:xfrm>
          <a:prstGeom prst="rect">
            <a:avLst/>
          </a:prstGeom>
          <a:noFill/>
          <a:ln>
            <a:noFill/>
          </a:ln>
        </p:spPr>
      </p:pic>
      <p:sp>
        <p:nvSpPr>
          <p:cNvPr id="577" name="Google Shape;577;p56"/>
          <p:cNvSpPr txBox="1"/>
          <p:nvPr/>
        </p:nvSpPr>
        <p:spPr>
          <a:xfrm>
            <a:off x="3149976" y="514169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78" name="Google Shape;578;p56"/>
          <p:cNvSpPr/>
          <p:nvPr/>
        </p:nvSpPr>
        <p:spPr>
          <a:xfrm>
            <a:off x="490755" y="5829872"/>
            <a:ext cx="10096809"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are some ways to resolve disagreements in math class?</a:t>
            </a:r>
            <a:endParaRPr b="0" i="0" sz="2600" u="none" cap="none" strike="noStrike">
              <a:solidFill>
                <a:srgbClr val="595959"/>
              </a:solidFill>
              <a:latin typeface="Arial"/>
              <a:ea typeface="Arial"/>
              <a:cs typeface="Arial"/>
              <a:sym typeface="Arial"/>
            </a:endParaRPr>
          </a:p>
        </p:txBody>
      </p:sp>
      <p:sp>
        <p:nvSpPr>
          <p:cNvPr id="579" name="Google Shape;579;p56"/>
          <p:cNvSpPr txBox="1"/>
          <p:nvPr/>
        </p:nvSpPr>
        <p:spPr>
          <a:xfrm>
            <a:off x="484560" y="936000"/>
            <a:ext cx="4154115" cy="1445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C:\Users\HP\Desktop\Grade_6_Unit_8\OPS\img\.assets\815bfc9465bf4e9cbb98de135bd47883\narm24_c10804_se_003a-dig.png" id="580" name="Google Shape;580;p56"/>
          <p:cNvPicPr preferRelativeResize="0"/>
          <p:nvPr/>
        </p:nvPicPr>
        <p:blipFill rotWithShape="1">
          <a:blip r:embed="rId4">
            <a:alphaModFix/>
          </a:blip>
          <a:srcRect b="0" l="0" r="0" t="0"/>
          <a:stretch/>
        </p:blipFill>
        <p:spPr>
          <a:xfrm>
            <a:off x="4802737" y="1230145"/>
            <a:ext cx="7082171" cy="3614400"/>
          </a:xfrm>
          <a:prstGeom prst="rect">
            <a:avLst/>
          </a:prstGeom>
          <a:noFill/>
          <a:ln>
            <a:noFill/>
          </a:ln>
        </p:spPr>
      </p:pic>
      <p:sp>
        <p:nvSpPr>
          <p:cNvPr id="5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49</a:t>
            </a:r>
          </a:p>
        </p:txBody>
      </p:sp>
      <p:grpSp>
        <p:nvGrpSpPr>
          <p:cNvPr id="582" name="TEACH-3-student-move" descr="TEACH 3 · Use intentional questioning to deepen learning"/>
          <p:cNvGrpSpPr/>
          <p:nvPr/>
        </p:nvGrpSpPr>
        <p:grpSpPr>
          <a:xfrm>
            <a:off x="6187440" y="5153216"/>
            <a:ext cx="5501640" cy="594360"/>
            <a:chOff x="6187440" y="5153216"/>
            <a:chExt cx="5501640" cy="594360"/>
          </a:xfrm>
        </p:grpSpPr>
        <p:sp>
          <p:nvSpPr>
            <p:cNvPr id="583" name="TEACH-move-card"/>
            <p:cNvSpPr/>
            <p:nvPr/>
          </p:nvSpPr>
          <p:spPr>
            <a:xfrm>
              <a:off x="6187440" y="515321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84" name="TEACH-move-rule"/>
            <p:cNvSpPr/>
            <p:nvPr/>
          </p:nvSpPr>
          <p:spPr>
            <a:xfrm>
              <a:off x="6233160" y="5266144"/>
              <a:ext cx="100584" cy="368504"/>
            </a:xfrm>
            <a:prstGeom prst="roundRect">
              <a:avLst>
                <a:gd name="adj" fmla="val 50000"/>
              </a:avLst>
            </a:prstGeom>
            <a:solidFill>
              <a:srgbClr val="01708C"/>
            </a:solidFill>
            <a:ln>
              <a:noFill/>
            </a:ln>
          </p:spPr>
          <p:txBody>
            <a:bodyPr/>
            <a:lstStyle/>
            <a:p>
              <a:endParaRPr/>
            </a:p>
          </p:txBody>
        </p:sp>
        <p:sp>
          <p:nvSpPr>
            <p:cNvPr id="585" name="TEACH-move-text"/>
            <p:cNvSpPr txBox="1"/>
            <p:nvPr/>
          </p:nvSpPr>
          <p:spPr>
            <a:xfrm>
              <a:off x="6507480" y="515321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cxnSp>
        <p:nvCxnSpPr>
          <p:cNvPr id="603" name="Google Shape;603;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4" name="Google Shape;604;p59"/>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Voting Age</a:t>
            </a:r>
            <a:endParaRPr b="0" i="0" sz="1400" u="none" cap="none" strike="noStrike">
              <a:solidFill>
                <a:srgbClr val="000000"/>
              </a:solidFill>
              <a:latin typeface="Arial"/>
              <a:ea typeface="Arial"/>
              <a:cs typeface="Arial"/>
              <a:sym typeface="Arial"/>
            </a:endParaRPr>
          </a:p>
        </p:txBody>
      </p:sp>
      <p:sp>
        <p:nvSpPr>
          <p:cNvPr id="605" name="Google Shape;605;p59"/>
          <p:cNvSpPr txBox="1"/>
          <p:nvPr/>
        </p:nvSpPr>
        <p:spPr>
          <a:xfrm>
            <a:off x="484565" y="936000"/>
            <a:ext cx="7802185" cy="14928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In the United States, a person must be at least 18 years old to vote. How can you represent the age of a voter in the United States?</a:t>
            </a:r>
            <a:endParaRPr b="0" i="0" sz="1400" u="none" cap="none" strike="noStrike">
              <a:solidFill>
                <a:srgbClr val="000000"/>
              </a:solidFill>
              <a:latin typeface="Arial"/>
              <a:ea typeface="Arial"/>
              <a:cs typeface="Arial"/>
              <a:sym typeface="Arial"/>
            </a:endParaRPr>
          </a:p>
        </p:txBody>
      </p:sp>
      <p:sp>
        <p:nvSpPr>
          <p:cNvPr id="606" name="Google Shape;606;p59"/>
          <p:cNvSpPr txBox="1"/>
          <p:nvPr/>
        </p:nvSpPr>
        <p:spPr>
          <a:xfrm>
            <a:off x="484565" y="2906111"/>
            <a:ext cx="698608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tool can you use to compare other ages to the voting age requirement?</a:t>
            </a:r>
            <a:endParaRPr b="0" i="0" sz="1400" u="none" cap="none" strike="noStrike">
              <a:solidFill>
                <a:srgbClr val="000000"/>
              </a:solidFill>
              <a:latin typeface="Arial"/>
              <a:ea typeface="Arial"/>
              <a:cs typeface="Arial"/>
              <a:sym typeface="Arial"/>
            </a:endParaRPr>
          </a:p>
        </p:txBody>
      </p:sp>
      <p:sp>
        <p:nvSpPr>
          <p:cNvPr id="607" name="Google Shape;607;p59"/>
          <p:cNvSpPr txBox="1"/>
          <p:nvPr/>
        </p:nvSpPr>
        <p:spPr>
          <a:xfrm>
            <a:off x="486000" y="4337452"/>
            <a:ext cx="5034316" cy="12608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number line.</a:t>
            </a:r>
            <a:endParaRPr b="0" i="0" sz="1400" u="none" cap="none" strike="noStrike">
              <a:solidFill>
                <a:srgbClr val="000000"/>
              </a:solidFill>
              <a:latin typeface="Arial"/>
              <a:ea typeface="Arial"/>
              <a:cs typeface="Arial"/>
              <a:sym typeface="Arial"/>
            </a:endParaRPr>
          </a:p>
        </p:txBody>
      </p:sp>
      <p:sp>
        <p:nvSpPr>
          <p:cNvPr id="60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49</a:t>
            </a:r>
          </a:p>
        </p:txBody>
      </p:sp>
      <p:sp>
        <p:nvSpPr>
          <p:cNvPr id="609" name="EWL-COVER-1"/>
          <p:cNvSpPr/>
          <p:nvPr/>
        </p:nvSpPr>
        <p:spPr>
          <a:xfrm>
            <a:off x="431136" y="4282588"/>
            <a:ext cx="5144044" cy="1370611"/>
          </a:xfrm>
          <a:prstGeom prst="rect">
            <a:avLst/>
          </a:prstGeom>
          <a:solidFill>
            <a:srgbClr val="FFFFFF"/>
          </a:solidFill>
          <a:ln>
            <a:noFill/>
          </a:ln>
        </p:spPr>
        <p:txBody>
          <a:bodyPr/>
          <a:lstStyle/>
          <a:p/>
        </p:txBody>
      </p:sp>
      <p:sp xmlns:p="http://schemas.openxmlformats.org/presentationml/2006/main" xmlns:a="http://schemas.openxmlformats.org/drawingml/2006/main">
        <p:nvSpPr>
          <p:cNvPr id="610"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cxnSp>
        <p:nvCxnSpPr>
          <p:cNvPr id="643" name="Google Shape;643;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4" name="Google Shape;644;p63"/>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Voting Age</a:t>
            </a:r>
            <a:endParaRPr b="0" i="0" sz="1400" u="none" cap="none" strike="noStrike">
              <a:solidFill>
                <a:srgbClr val="000000"/>
              </a:solidFill>
              <a:latin typeface="Arial"/>
              <a:ea typeface="Arial"/>
              <a:cs typeface="Arial"/>
              <a:sym typeface="Arial"/>
            </a:endParaRPr>
          </a:p>
        </p:txBody>
      </p:sp>
      <p:pic>
        <p:nvPicPr>
          <p:cNvPr id="645" name="Google Shape;645;p63"/>
          <p:cNvPicPr preferRelativeResize="0"/>
          <p:nvPr/>
        </p:nvPicPr>
        <p:blipFill rotWithShape="1">
          <a:blip r:embed="rId3">
            <a:alphaModFix/>
          </a:blip>
          <a:srcRect b="0" l="0" r="0" t="0"/>
          <a:stretch/>
        </p:blipFill>
        <p:spPr>
          <a:xfrm>
            <a:off x="484563" y="4950842"/>
            <a:ext cx="7073900" cy="838200"/>
          </a:xfrm>
          <a:prstGeom prst="rect">
            <a:avLst/>
          </a:prstGeom>
          <a:noFill/>
          <a:ln>
            <a:noFill/>
          </a:ln>
        </p:spPr>
      </p:pic>
      <p:sp>
        <p:nvSpPr>
          <p:cNvPr id="646" name="Google Shape;646;p63"/>
          <p:cNvSpPr/>
          <p:nvPr/>
        </p:nvSpPr>
        <p:spPr>
          <a:xfrm>
            <a:off x="3254373" y="5108332"/>
            <a:ext cx="388600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Recognizing Repetition</a:t>
            </a:r>
            <a:endParaRPr b="0" i="0" sz="1400" u="none" cap="none" strike="noStrike">
              <a:solidFill>
                <a:srgbClr val="000000"/>
              </a:solidFill>
              <a:latin typeface="Arial"/>
              <a:ea typeface="Arial"/>
              <a:cs typeface="Arial"/>
              <a:sym typeface="Arial"/>
            </a:endParaRPr>
          </a:p>
        </p:txBody>
      </p:sp>
      <p:sp>
        <p:nvSpPr>
          <p:cNvPr id="647" name="Google Shape;647;p63"/>
          <p:cNvSpPr/>
          <p:nvPr/>
        </p:nvSpPr>
        <p:spPr>
          <a:xfrm>
            <a:off x="484563" y="5789042"/>
            <a:ext cx="571823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about the process is repeating?</a:t>
            </a:r>
            <a:endParaRPr b="0" i="0" sz="2600" u="none" cap="none" strike="noStrike">
              <a:solidFill>
                <a:srgbClr val="595959"/>
              </a:solidFill>
              <a:latin typeface="Arial"/>
              <a:ea typeface="Arial"/>
              <a:cs typeface="Arial"/>
              <a:sym typeface="Arial"/>
            </a:endParaRPr>
          </a:p>
        </p:txBody>
      </p:sp>
      <p:sp>
        <p:nvSpPr>
          <p:cNvPr id="648" name="Google Shape;648;p63"/>
          <p:cNvSpPr txBox="1"/>
          <p:nvPr/>
        </p:nvSpPr>
        <p:spPr>
          <a:xfrm>
            <a:off x="484563" y="936001"/>
            <a:ext cx="7965754"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In the United States, a person must be at least 18 years old to vote.</a:t>
            </a:r>
            <a:endParaRPr b="0" i="0" sz="1400" u="none" cap="none" strike="noStrike">
              <a:solidFill>
                <a:srgbClr val="000000"/>
              </a:solidFill>
              <a:latin typeface="Arial"/>
              <a:ea typeface="Arial"/>
              <a:cs typeface="Arial"/>
              <a:sym typeface="Arial"/>
            </a:endParaRPr>
          </a:p>
        </p:txBody>
      </p:sp>
      <p:sp>
        <p:nvSpPr>
          <p:cNvPr id="649" name="Google Shape;649;p63"/>
          <p:cNvSpPr/>
          <p:nvPr/>
        </p:nvSpPr>
        <p:spPr>
          <a:xfrm>
            <a:off x="484563" y="2102032"/>
            <a:ext cx="8572276"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Let’s reason about the problem using a number line. We can plot several possible ages of individuals who are able to vote on a number line.</a:t>
            </a:r>
            <a:endParaRPr b="0" i="0" sz="2800" u="none" cap="none" strike="noStrike">
              <a:solidFill>
                <a:schemeClr val="dk1"/>
              </a:solidFill>
              <a:latin typeface="Arial"/>
              <a:ea typeface="Arial"/>
              <a:cs typeface="Arial"/>
              <a:sym typeface="Arial"/>
            </a:endParaRPr>
          </a:p>
        </p:txBody>
      </p:sp>
      <p:pic>
        <p:nvPicPr>
          <p:cNvPr id="650" name="Google Shape;650;p63"/>
          <p:cNvPicPr preferRelativeResize="0"/>
          <p:nvPr/>
        </p:nvPicPr>
        <p:blipFill rotWithShape="1">
          <a:blip r:embed="rId4">
            <a:alphaModFix/>
          </a:blip>
          <a:srcRect b="0" l="0" r="0" t="0"/>
          <a:stretch/>
        </p:blipFill>
        <p:spPr>
          <a:xfrm>
            <a:off x="1105175" y="3893199"/>
            <a:ext cx="6724528" cy="720000"/>
          </a:xfrm>
          <a:prstGeom prst="rect">
            <a:avLst/>
          </a:prstGeom>
          <a:noFill/>
          <a:ln>
            <a:noFill/>
          </a:ln>
        </p:spPr>
      </p:pic>
      <p:sp>
        <p:nvSpPr>
          <p:cNvPr id="6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49</a:t>
            </a:r>
          </a:p>
        </p:txBody>
      </p:sp>
      <p:grpSp>
        <p:nvGrpSpPr>
          <p:cNvPr id="652" name="TEACH-6-student-move" descr="TEACH 6 · Organize and implement routines to support a learning-focused classroom"/>
          <p:cNvGrpSpPr/>
          <p:nvPr/>
        </p:nvGrpSpPr>
        <p:grpSpPr>
          <a:xfrm>
            <a:off x="502920" y="3536583"/>
            <a:ext cx="11186160" cy="320040"/>
            <a:chOff x="502920" y="3536583"/>
            <a:chExt cx="11186160" cy="320040"/>
          </a:xfrm>
        </p:grpSpPr>
        <p:sp>
          <p:nvSpPr>
            <p:cNvPr id="653" name="TEACH-move-card"/>
            <p:cNvSpPr/>
            <p:nvPr/>
          </p:nvSpPr>
          <p:spPr>
            <a:xfrm>
              <a:off x="502920" y="3536583"/>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54" name="TEACH-move-rule"/>
            <p:cNvSpPr/>
            <p:nvPr/>
          </p:nvSpPr>
          <p:spPr>
            <a:xfrm>
              <a:off x="548640" y="3597391"/>
              <a:ext cx="100584" cy="198424"/>
            </a:xfrm>
            <a:prstGeom prst="roundRect">
              <a:avLst>
                <a:gd name="adj" fmla="val 50000"/>
              </a:avLst>
            </a:prstGeom>
            <a:solidFill>
              <a:srgbClr val="01708C"/>
            </a:solidFill>
            <a:ln>
              <a:noFill/>
            </a:ln>
          </p:spPr>
          <p:txBody>
            <a:bodyPr/>
            <a:lstStyle/>
            <a:p>
              <a:endParaRPr/>
            </a:p>
          </p:txBody>
        </p:sp>
        <p:sp>
          <p:nvSpPr>
            <p:cNvPr id="655" name="TEACH-move-text"/>
            <p:cNvSpPr txBox="1"/>
            <p:nvPr/>
          </p:nvSpPr>
          <p:spPr>
            <a:xfrm>
              <a:off x="822960" y="3536583"/>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cxnSp>
        <p:nvCxnSpPr>
          <p:cNvPr id="666" name="Google Shape;66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7" name="Google Shape;667;p65"/>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Voting Age</a:t>
            </a:r>
            <a:endParaRPr b="0" i="0" sz="1400" u="none" cap="none" strike="noStrike">
              <a:solidFill>
                <a:srgbClr val="000000"/>
              </a:solidFill>
              <a:latin typeface="Arial"/>
              <a:ea typeface="Arial"/>
              <a:cs typeface="Arial"/>
              <a:sym typeface="Arial"/>
            </a:endParaRPr>
          </a:p>
        </p:txBody>
      </p:sp>
      <p:sp>
        <p:nvSpPr>
          <p:cNvPr id="668" name="Google Shape;668;p65"/>
          <p:cNvSpPr txBox="1"/>
          <p:nvPr/>
        </p:nvSpPr>
        <p:spPr>
          <a:xfrm>
            <a:off x="484563" y="5189691"/>
            <a:ext cx="8158218" cy="1178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several ages that satisfy the constraint.</a:t>
            </a:r>
            <a:endParaRPr b="0" i="0" sz="1400" u="none" cap="none" strike="noStrike">
              <a:solidFill>
                <a:srgbClr val="000000"/>
              </a:solidFill>
              <a:latin typeface="Arial"/>
              <a:ea typeface="Arial"/>
              <a:cs typeface="Arial"/>
              <a:sym typeface="Arial"/>
            </a:endParaRPr>
          </a:p>
        </p:txBody>
      </p:sp>
      <p:sp>
        <p:nvSpPr>
          <p:cNvPr id="669" name="Google Shape;669;p65"/>
          <p:cNvSpPr txBox="1"/>
          <p:nvPr/>
        </p:nvSpPr>
        <p:spPr>
          <a:xfrm>
            <a:off x="484563" y="936001"/>
            <a:ext cx="7587382"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In the United States, a person must be at least 18 years old to vote.</a:t>
            </a:r>
            <a:endParaRPr b="0" i="0" sz="1400" u="none" cap="none" strike="noStrike">
              <a:solidFill>
                <a:srgbClr val="000000"/>
              </a:solidFill>
              <a:latin typeface="Arial"/>
              <a:ea typeface="Arial"/>
              <a:cs typeface="Arial"/>
              <a:sym typeface="Arial"/>
            </a:endParaRPr>
          </a:p>
        </p:txBody>
      </p:sp>
      <p:sp>
        <p:nvSpPr>
          <p:cNvPr id="670" name="Google Shape;670;p65"/>
          <p:cNvSpPr txBox="1"/>
          <p:nvPr/>
        </p:nvSpPr>
        <p:spPr>
          <a:xfrm>
            <a:off x="484563" y="4103357"/>
            <a:ext cx="698303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number of ages that satisfy the constraint?</a:t>
            </a:r>
            <a:endParaRPr b="0" i="0" sz="1400" u="none" cap="none" strike="noStrike">
              <a:solidFill>
                <a:srgbClr val="000000"/>
              </a:solidFill>
              <a:latin typeface="Arial"/>
              <a:ea typeface="Arial"/>
              <a:cs typeface="Arial"/>
              <a:sym typeface="Arial"/>
            </a:endParaRPr>
          </a:p>
        </p:txBody>
      </p:sp>
      <p:sp>
        <p:nvSpPr>
          <p:cNvPr id="671" name="Google Shape;671;p65"/>
          <p:cNvSpPr/>
          <p:nvPr/>
        </p:nvSpPr>
        <p:spPr>
          <a:xfrm>
            <a:off x="484563" y="2319925"/>
            <a:ext cx="462083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The voting age requirement is a </a:t>
            </a:r>
            <a:r>
              <a:rPr b="0" i="1" lang="en-US" sz="2800" u="none" cap="none" strike="noStrike">
                <a:solidFill>
                  <a:schemeClr val="dk1"/>
                </a:solidFill>
                <a:latin typeface="Arial"/>
                <a:ea typeface="Arial"/>
                <a:cs typeface="Arial"/>
                <a:sym typeface="Arial"/>
              </a:rPr>
              <a:t>constraint</a:t>
            </a:r>
            <a:r>
              <a:rPr b="0" i="0" lang="en-US" sz="2800" u="none" cap="none" strike="noStrike">
                <a:solidFill>
                  <a:schemeClr val="dk1"/>
                </a:solidFill>
                <a:latin typeface="Arial"/>
                <a:ea typeface="Arial"/>
                <a:cs typeface="Arial"/>
                <a:sym typeface="Arial"/>
              </a:rPr>
              <a:t> or a condition that a solution must satisfy.</a:t>
            </a:r>
            <a:endParaRPr b="0" i="0" sz="2800" u="none" cap="none" strike="noStrike">
              <a:solidFill>
                <a:schemeClr val="dk1"/>
              </a:solidFill>
              <a:latin typeface="Arial"/>
              <a:ea typeface="Arial"/>
              <a:cs typeface="Arial"/>
              <a:sym typeface="Arial"/>
            </a:endParaRPr>
          </a:p>
        </p:txBody>
      </p:sp>
      <p:pic>
        <p:nvPicPr>
          <p:cNvPr descr="C:\Users\HP\Desktop\Grade_6_Unit_8\OPS\img\.assets\e33a6f2d49894b3f9f9ade674acea061\narm24_c10804_se_005a-dig-b-eps.png" id="672" name="Google Shape;672;p65"/>
          <p:cNvPicPr preferRelativeResize="0"/>
          <p:nvPr/>
        </p:nvPicPr>
        <p:blipFill rotWithShape="1">
          <a:blip r:embed="rId3">
            <a:alphaModFix/>
          </a:blip>
          <a:srcRect b="0" l="0" r="0" t="0"/>
          <a:stretch/>
        </p:blipFill>
        <p:spPr>
          <a:xfrm>
            <a:off x="5683505" y="1768210"/>
            <a:ext cx="6381750" cy="2228850"/>
          </a:xfrm>
          <a:prstGeom prst="rect">
            <a:avLst/>
          </a:prstGeom>
          <a:noFill/>
          <a:ln>
            <a:noFill/>
          </a:ln>
        </p:spPr>
      </p:pic>
      <p:sp>
        <p:nvSpPr>
          <p:cNvPr id="6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49</a:t>
            </a:r>
          </a:p>
        </p:txBody>
      </p:sp>
      <p:sp>
        <p:nvSpPr>
          <p:cNvPr id="674" name="EWL-COVER-1"/>
          <p:cNvSpPr/>
          <p:nvPr/>
        </p:nvSpPr>
        <p:spPr>
          <a:xfrm>
            <a:off x="429699" y="5134827"/>
            <a:ext cx="8267946" cy="128872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cxnSp>
        <p:nvCxnSpPr>
          <p:cNvPr id="689" name="Google Shape;689;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0" name="Google Shape;690;p67"/>
          <p:cNvSpPr txBox="1"/>
          <p:nvPr/>
        </p:nvSpPr>
        <p:spPr>
          <a:xfrm>
            <a:off x="486000" y="936099"/>
            <a:ext cx="7286399" cy="9063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In the United States, a person must be at least 18 years old to vote.</a:t>
            </a:r>
            <a:endParaRPr b="0" i="0" sz="1400" u="none" cap="none" strike="noStrike">
              <a:solidFill>
                <a:srgbClr val="000000"/>
              </a:solidFill>
              <a:latin typeface="Arial"/>
              <a:ea typeface="Arial"/>
              <a:cs typeface="Arial"/>
              <a:sym typeface="Arial"/>
            </a:endParaRPr>
          </a:p>
        </p:txBody>
      </p:sp>
      <p:sp>
        <p:nvSpPr>
          <p:cNvPr id="691" name="Google Shape;691;p67"/>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692" name="Google Shape;692;p67"/>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693" name="Google Shape;693;p67"/>
          <p:cNvSpPr/>
          <p:nvPr/>
        </p:nvSpPr>
        <p:spPr>
          <a:xfrm>
            <a:off x="486000" y="2905153"/>
            <a:ext cx="6305325"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Compare each of the ages plotted to the age requirement of 18 using &lt;, &gt;, or =. What do you notice about the ages that satisfy the constraint?</a:t>
            </a:r>
            <a:endParaRPr b="0" i="0" sz="2800" u="none" cap="none" strike="noStrike">
              <a:solidFill>
                <a:schemeClr val="dk1"/>
              </a:solidFill>
              <a:latin typeface="Arial"/>
              <a:ea typeface="Arial"/>
              <a:cs typeface="Arial"/>
              <a:sym typeface="Arial"/>
            </a:endParaRPr>
          </a:p>
        </p:txBody>
      </p:sp>
      <p:sp>
        <p:nvSpPr>
          <p:cNvPr id="694" name="Google Shape;694;p67"/>
          <p:cNvSpPr txBox="1"/>
          <p:nvPr/>
        </p:nvSpPr>
        <p:spPr>
          <a:xfrm>
            <a:off x="510547" y="4829171"/>
            <a:ext cx="9556635" cy="1625194"/>
          </a:xfrm>
          <a:prstGeom prst="rect">
            <a:avLst/>
          </a:prstGeom>
          <a:blipFill rotWithShape="1">
            <a:blip r:embed="rId4">
              <a:alphaModFix/>
            </a:blip>
            <a:stretch>
              <a:fillRect b="-4120" l="-1340" r="0" t="-374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5" name="Google Shape;695;p67"/>
          <p:cNvSpPr/>
          <p:nvPr/>
        </p:nvSpPr>
        <p:spPr>
          <a:xfrm>
            <a:off x="486000" y="1896747"/>
            <a:ext cx="605217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There are several possible ages of voters.</a:t>
            </a:r>
            <a:endParaRPr b="0" i="0" sz="2800" u="none" cap="none" strike="noStrike">
              <a:solidFill>
                <a:schemeClr val="dk1"/>
              </a:solidFill>
              <a:latin typeface="Arial"/>
              <a:ea typeface="Arial"/>
              <a:cs typeface="Arial"/>
              <a:sym typeface="Arial"/>
            </a:endParaRPr>
          </a:p>
        </p:txBody>
      </p:sp>
      <p:pic>
        <p:nvPicPr>
          <p:cNvPr descr="C:\Users\HP\Desktop\Grade_6_Unit_8\OPS\img\.assets\e33a6f2d49894b3f9f9ade674acea061\narm24_c10804_se_005a-dig-b-eps.png" id="696" name="Google Shape;696;p67"/>
          <p:cNvPicPr preferRelativeResize="0"/>
          <p:nvPr/>
        </p:nvPicPr>
        <p:blipFill rotWithShape="1">
          <a:blip r:embed="rId5">
            <a:alphaModFix/>
          </a:blip>
          <a:srcRect b="0" l="0" r="0" t="0"/>
          <a:stretch/>
        </p:blipFill>
        <p:spPr>
          <a:xfrm>
            <a:off x="6693155" y="2054304"/>
            <a:ext cx="5349692" cy="1868400"/>
          </a:xfrm>
          <a:prstGeom prst="rect">
            <a:avLst/>
          </a:prstGeom>
          <a:noFill/>
          <a:ln>
            <a:noFill/>
          </a:ln>
        </p:spPr>
      </p:pic>
      <p:sp>
        <p:nvSpPr>
          <p:cNvPr id="6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49</a:t>
            </a:r>
          </a:p>
        </p:txBody>
      </p:sp>
      <p:sp>
        <p:nvSpPr>
          <p:cNvPr id="69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cxnSp>
        <p:nvCxnSpPr>
          <p:cNvPr id="711" name="Google Shape;711;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2" name="Google Shape;712;p69"/>
          <p:cNvSpPr txBox="1"/>
          <p:nvPr/>
        </p:nvSpPr>
        <p:spPr>
          <a:xfrm>
            <a:off x="486000" y="316800"/>
            <a:ext cx="5015483" cy="48841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Voting Age</a:t>
            </a:r>
            <a:endParaRPr b="0" i="0" sz="1400" u="none" cap="none" strike="noStrike">
              <a:solidFill>
                <a:srgbClr val="000000"/>
              </a:solidFill>
              <a:latin typeface="Arial"/>
              <a:ea typeface="Arial"/>
              <a:cs typeface="Arial"/>
              <a:sym typeface="Arial"/>
            </a:endParaRPr>
          </a:p>
        </p:txBody>
      </p:sp>
      <p:sp>
        <p:nvSpPr>
          <p:cNvPr id="713" name="Google Shape;713;p69"/>
          <p:cNvSpPr txBox="1"/>
          <p:nvPr/>
        </p:nvSpPr>
        <p:spPr>
          <a:xfrm>
            <a:off x="504531" y="4911462"/>
            <a:ext cx="8698664" cy="14420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is the inequality symbol ≥ similar to symbols you have seen before?</a:t>
            </a:r>
            <a:endParaRPr b="0" i="0" sz="1400" u="none" cap="none" strike="noStrike">
              <a:solidFill>
                <a:srgbClr val="000000"/>
              </a:solidFill>
              <a:latin typeface="Arial"/>
              <a:ea typeface="Arial"/>
              <a:cs typeface="Arial"/>
              <a:sym typeface="Arial"/>
            </a:endParaRPr>
          </a:p>
        </p:txBody>
      </p:sp>
      <p:sp>
        <p:nvSpPr>
          <p:cNvPr id="714" name="Google Shape;714;p69"/>
          <p:cNvSpPr/>
          <p:nvPr/>
        </p:nvSpPr>
        <p:spPr>
          <a:xfrm>
            <a:off x="486000" y="922194"/>
            <a:ext cx="6646458" cy="954107"/>
          </a:xfrm>
          <a:prstGeom prst="rect">
            <a:avLst/>
          </a:prstGeom>
          <a:blipFill rotWithShape="1">
            <a:blip r:embed="rId3">
              <a:alphaModFix/>
            </a:blip>
            <a:stretch>
              <a:fillRect b="-16561" l="-1927"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5" name="Google Shape;715;p69"/>
          <p:cNvSpPr/>
          <p:nvPr/>
        </p:nvSpPr>
        <p:spPr>
          <a:xfrm>
            <a:off x="486000" y="2044005"/>
            <a:ext cx="7542767"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The solution is a range of values, so an inequality represents the problem. An </a:t>
            </a:r>
            <a:r>
              <a:rPr b="1" i="0" lang="en-US" sz="2800" u="none" cap="none" strike="noStrike">
                <a:solidFill>
                  <a:srgbClr val="23282D"/>
                </a:solidFill>
                <a:highlight>
                  <a:srgbClr val="FFFF00"/>
                </a:highlight>
                <a:latin typeface="Arial"/>
                <a:ea typeface="Arial"/>
                <a:cs typeface="Arial"/>
                <a:sym typeface="Arial"/>
              </a:rPr>
              <a:t>inequality</a:t>
            </a:r>
            <a:r>
              <a:rPr b="0" i="0" lang="en-US" sz="2800" u="none" cap="none" strike="noStrike">
                <a:solidFill>
                  <a:schemeClr val="dk1"/>
                </a:solidFill>
                <a:latin typeface="Arial"/>
                <a:ea typeface="Arial"/>
                <a:cs typeface="Arial"/>
                <a:sym typeface="Arial"/>
              </a:rPr>
              <a:t xml:space="preserve"> is a mathematical statement that compares quantities using inequality symbols.</a:t>
            </a:r>
            <a:endParaRPr b="0" i="0" sz="2800" u="none" cap="none" strike="noStrike">
              <a:solidFill>
                <a:schemeClr val="dk1"/>
              </a:solidFill>
              <a:latin typeface="Arial"/>
              <a:ea typeface="Arial"/>
              <a:cs typeface="Arial"/>
              <a:sym typeface="Arial"/>
            </a:endParaRPr>
          </a:p>
        </p:txBody>
      </p:sp>
      <p:pic>
        <p:nvPicPr>
          <p:cNvPr descr="C:\Users\HP\Desktop\Grade_6_Unit_8\OPS\img\.assets\ecf4cd561c1a47428286cdacc2384fe4\narm24_c10804_ebk_001a-eps.png" id="716" name="Google Shape;716;p69"/>
          <p:cNvPicPr preferRelativeResize="0"/>
          <p:nvPr/>
        </p:nvPicPr>
        <p:blipFill rotWithShape="1">
          <a:blip r:embed="rId4">
            <a:alphaModFix/>
          </a:blip>
          <a:srcRect b="0" l="0" r="0" t="0"/>
          <a:stretch/>
        </p:blipFill>
        <p:spPr>
          <a:xfrm>
            <a:off x="8266350" y="2321946"/>
            <a:ext cx="3433211" cy="1260000"/>
          </a:xfrm>
          <a:prstGeom prst="rect">
            <a:avLst/>
          </a:prstGeom>
          <a:noFill/>
          <a:ln>
            <a:noFill/>
          </a:ln>
        </p:spPr>
      </p:pic>
      <p:sp>
        <p:nvSpPr>
          <p:cNvPr id="7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49</a:t>
            </a:r>
          </a:p>
        </p:txBody>
      </p:sp>
      <p:sp xmlns:p="http://schemas.openxmlformats.org/presentationml/2006/main" xmlns:a="http://schemas.openxmlformats.org/drawingml/2006/main">
        <p:nvSpPr>
          <p:cNvPr id="718"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cxnSp>
        <p:nvCxnSpPr>
          <p:cNvPr id="732" name="Google Shape;732;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3" name="Google Shape;733;p71"/>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34" name="Google Shape;734;p71"/>
          <p:cNvSpPr txBox="1"/>
          <p:nvPr/>
        </p:nvSpPr>
        <p:spPr>
          <a:xfrm>
            <a:off x="484565" y="936000"/>
            <a:ext cx="8231046" cy="1042925"/>
          </a:xfrm>
          <a:prstGeom prst="rect">
            <a:avLst/>
          </a:prstGeom>
          <a:blipFill rotWithShape="1">
            <a:blip r:embed="rId3">
              <a:alphaModFix/>
            </a:blip>
            <a:stretch>
              <a:fillRect b="0" l="-1332" r="-1332" t="-64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35" name="Google Shape;735;p71"/>
          <p:cNvSpPr/>
          <p:nvPr/>
        </p:nvSpPr>
        <p:spPr>
          <a:xfrm>
            <a:off x="489872" y="1958535"/>
            <a:ext cx="8463629" cy="11878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6" name="Google Shape;736;p71"/>
          <p:cNvSpPr txBox="1"/>
          <p:nvPr/>
        </p:nvSpPr>
        <p:spPr>
          <a:xfrm>
            <a:off x="7746632" y="2832183"/>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7" name="Google Shape;737;p71"/>
          <p:cNvSpPr/>
          <p:nvPr/>
        </p:nvSpPr>
        <p:spPr>
          <a:xfrm>
            <a:off x="476638" y="5110494"/>
            <a:ext cx="8476864" cy="113178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38" name="Google Shape;738;p71"/>
          <p:cNvSpPr txBox="1"/>
          <p:nvPr/>
        </p:nvSpPr>
        <p:spPr>
          <a:xfrm>
            <a:off x="7746631" y="5903724"/>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39" name="Google Shape;739;p71"/>
          <p:cNvSpPr/>
          <p:nvPr/>
        </p:nvSpPr>
        <p:spPr>
          <a:xfrm>
            <a:off x="476637" y="3275478"/>
            <a:ext cx="8476864" cy="1815882"/>
          </a:xfrm>
          <a:prstGeom prst="rect">
            <a:avLst/>
          </a:prstGeom>
          <a:blipFill rotWithShape="1">
            <a:blip r:embed="rId4">
              <a:alphaModFix/>
            </a:blip>
            <a:stretch>
              <a:fillRect b="-8389" l="-1294" r="-1725" t="-335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Is the boundary value allowed in the stated situation, and how does the symbol communicate that?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6" name="Google Shape;66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7" name="Google Shape;667;p65"/>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Voting Age</a:t>
            </a:r>
            <a:endParaRPr b="0" i="0" sz="1400" u="none" cap="none" strike="noStrike">
              <a:solidFill>
                <a:srgbClr val="000000"/>
              </a:solidFill>
              <a:latin typeface="Arial"/>
              <a:ea typeface="Arial"/>
              <a:cs typeface="Arial"/>
              <a:sym typeface="Arial"/>
            </a:endParaRPr>
          </a:p>
        </p:txBody>
      </p:sp>
      <p:sp>
        <p:nvSpPr>
          <p:cNvPr id="668" name="Google Shape;668;p65"/>
          <p:cNvSpPr txBox="1"/>
          <p:nvPr/>
        </p:nvSpPr>
        <p:spPr>
          <a:xfrm>
            <a:off x="484563" y="5189691"/>
            <a:ext cx="8158218" cy="1178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several ages that satisfy the constraint.</a:t>
            </a:r>
            <a:endParaRPr b="0" i="0" sz="1400" u="none" cap="none" strike="noStrike">
              <a:solidFill>
                <a:srgbClr val="000000"/>
              </a:solidFill>
              <a:latin typeface="Arial"/>
              <a:ea typeface="Arial"/>
              <a:cs typeface="Arial"/>
              <a:sym typeface="Arial"/>
            </a:endParaRPr>
          </a:p>
        </p:txBody>
      </p:sp>
      <p:sp>
        <p:nvSpPr>
          <p:cNvPr id="669" name="Google Shape;669;p65"/>
          <p:cNvSpPr txBox="1"/>
          <p:nvPr/>
        </p:nvSpPr>
        <p:spPr>
          <a:xfrm>
            <a:off x="484563" y="936001"/>
            <a:ext cx="7587382" cy="9854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In the United States, a person must be at least 18 years old to vote.</a:t>
            </a:r>
            <a:endParaRPr b="0" i="0" sz="1400" u="none" cap="none" strike="noStrike">
              <a:solidFill>
                <a:srgbClr val="000000"/>
              </a:solidFill>
              <a:latin typeface="Arial"/>
              <a:ea typeface="Arial"/>
              <a:cs typeface="Arial"/>
              <a:sym typeface="Arial"/>
            </a:endParaRPr>
          </a:p>
        </p:txBody>
      </p:sp>
      <p:sp>
        <p:nvSpPr>
          <p:cNvPr id="670" name="Google Shape;670;p65"/>
          <p:cNvSpPr txBox="1"/>
          <p:nvPr/>
        </p:nvSpPr>
        <p:spPr>
          <a:xfrm>
            <a:off x="484563" y="4103357"/>
            <a:ext cx="698303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number of ages that satisfy the constraint?</a:t>
            </a:r>
            <a:endParaRPr b="0" i="0" sz="1400" u="none" cap="none" strike="noStrike">
              <a:solidFill>
                <a:srgbClr val="000000"/>
              </a:solidFill>
              <a:latin typeface="Arial"/>
              <a:ea typeface="Arial"/>
              <a:cs typeface="Arial"/>
              <a:sym typeface="Arial"/>
            </a:endParaRPr>
          </a:p>
        </p:txBody>
      </p:sp>
      <p:sp>
        <p:nvSpPr>
          <p:cNvPr id="671" name="Google Shape;671;p65"/>
          <p:cNvSpPr/>
          <p:nvPr/>
        </p:nvSpPr>
        <p:spPr>
          <a:xfrm>
            <a:off x="484563" y="2319925"/>
            <a:ext cx="4620837"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voting age requirement is a </a:t>
            </a:r>
            <a:r>
              <a:rPr b="0" i="1" lang="en-US" sz="2800" u="none" cap="none" strike="noStrike">
                <a:solidFill>
                  <a:schemeClr val="dk1"/>
                </a:solidFill>
                <a:latin typeface="Arial"/>
                <a:ea typeface="Arial"/>
                <a:cs typeface="Arial"/>
                <a:sym typeface="Arial"/>
              </a:rPr>
              <a:t>constraint</a:t>
            </a:r>
            <a:r>
              <a:rPr b="0" i="0" lang="en-US" sz="2800" u="none" cap="none" strike="noStrike">
                <a:solidFill>
                  <a:schemeClr val="dk1"/>
                </a:solidFill>
                <a:latin typeface="Arial"/>
                <a:ea typeface="Arial"/>
                <a:cs typeface="Arial"/>
                <a:sym typeface="Arial"/>
              </a:rPr>
              <a:t> or a condition that a solution must satisfy.</a:t>
            </a:r>
            <a:endParaRPr b="0" i="0" sz="2800" u="none" cap="none" strike="noStrike">
              <a:solidFill>
                <a:schemeClr val="dk1"/>
              </a:solidFill>
              <a:latin typeface="Arial"/>
              <a:ea typeface="Arial"/>
              <a:cs typeface="Arial"/>
              <a:sym typeface="Arial"/>
            </a:endParaRPr>
          </a:p>
        </p:txBody>
      </p:sp>
      <p:pic>
        <p:nvPicPr>
          <p:cNvPr descr="C:\Users\HP\Desktop\Grade_6_Unit_8\OPS\img\.assets\e33a6f2d49894b3f9f9ade674acea061\narm24_c10804_se_005a-dig-b-eps.png" id="672" name="Google Shape;672;p65"/>
          <p:cNvPicPr preferRelativeResize="0"/>
          <p:nvPr/>
        </p:nvPicPr>
        <p:blipFill rotWithShape="1">
          <a:blip r:embed="rId2">
            <a:alphaModFix/>
          </a:blip>
          <a:srcRect b="0" l="0" r="0" t="0"/>
          <a:stretch/>
        </p:blipFill>
        <p:spPr>
          <a:xfrm>
            <a:off x="5683505" y="1768210"/>
            <a:ext cx="6381750" cy="2228850"/>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49</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An inequality compares quantities that are:</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Strictly equal</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Not necessarily equal (&lt;, &gt;, ≤, ≥)</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fractions</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Identical</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symbol represents “less than or equal to”?</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&lt;</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&gt;</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speed limit of 45 mph or less” is written:</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 &gt; 45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 ≤ 45</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 = 45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 &lt; 45</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Unlike equations, inequalities typically have: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 answers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Infinitely many solutions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one answer</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Zero solutions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49</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8-4 · Write and Represent Inequalities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Inequality Symbols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&lt; (</a:t>
            </a:r>
            <a:r>
              <a:rPr b="1" i="0" lang="en-US" sz="1450" u="none" cap="none" strike="noStrike">
                <a:solidFill>
                  <a:srgbClr val="475569"/>
                </a:solidFill>
                <a:latin typeface="Arial"/>
                <a:ea typeface="Arial"/>
                <a:cs typeface="Arial"/>
                <a:sym typeface="Arial"/>
              </a:rPr>
              <a:t xml:space="preserve">less than</a:t>
            </a:r>
            <a:r>
              <a:rPr b="0" i="0" lang="en-US" sz="1450" u="none" cap="none" strike="noStrike">
                <a:solidFill>
                  <a:srgbClr val="475569"/>
                </a:solidFill>
                <a:latin typeface="Arial"/>
                <a:ea typeface="Arial"/>
                <a:cs typeface="Arial"/>
                <a:sym typeface="Arial"/>
              </a:rPr>
              <a:t xml:space="preserve">), &gt; (</a:t>
            </a:r>
            <a:r>
              <a:rPr b="1" i="0" lang="en-US" sz="1450" u="none" cap="none" strike="noStrike">
                <a:solidFill>
                  <a:srgbClr val="475569"/>
                </a:solidFill>
                <a:latin typeface="Arial"/>
                <a:ea typeface="Arial"/>
                <a:cs typeface="Arial"/>
                <a:sym typeface="Arial"/>
              </a:rPr>
              <a:t xml:space="preserve">greater than</a:t>
            </a:r>
            <a:r>
              <a:rPr b="0" i="0" lang="en-US" sz="1450" u="none" cap="none" strike="noStrike">
                <a:solidFill>
                  <a:srgbClr val="475569"/>
                </a:solidFill>
                <a:latin typeface="Arial"/>
                <a:ea typeface="Arial"/>
                <a:cs typeface="Arial"/>
                <a:sym typeface="Arial"/>
              </a:rPr>
              <a:t xml:space="preserve">), ≤ (less than or equal to), ≥ (greater than or equal to).</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Solution Sets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Inequalities</a:t>
            </a:r>
            <a:r>
              <a:rPr b="0" i="0" lang="en-US" sz="1450" u="none" cap="none" strike="noStrike">
                <a:solidFill>
                  <a:srgbClr val="475569"/>
                </a:solidFill>
                <a:latin typeface="Arial"/>
                <a:ea typeface="Arial"/>
                <a:cs typeface="Arial"/>
                <a:sym typeface="Arial"/>
              </a:rPr>
              <a:t xml:space="preserve"> describe an entire set or range of values that satisfy the condition.</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Key Phrases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t>
            </a:r>
            <a:r>
              <a:rPr b="1" i="0" lang="en-US" sz="1450" u="none" cap="none" strike="noStrike">
                <a:solidFill>
                  <a:srgbClr val="475569"/>
                </a:solidFill>
                <a:latin typeface="Arial"/>
                <a:ea typeface="Arial"/>
                <a:cs typeface="Arial"/>
                <a:sym typeface="Arial"/>
              </a:rPr>
              <a:t xml:space="preserve">At least</a:t>
            </a:r>
            <a:r>
              <a:rPr b="0" i="0" lang="en-US" sz="1450" u="none" cap="none" strike="noStrike">
                <a:solidFill>
                  <a:srgbClr val="475569"/>
                </a:solidFill>
                <a:latin typeface="Arial"/>
                <a:ea typeface="Arial"/>
                <a:cs typeface="Arial"/>
                <a:sym typeface="Arial"/>
              </a:rPr>
              <a:t xml:space="preserve">’ means ≥; ‘</a:t>
            </a:r>
            <a:r>
              <a:rPr b="1" i="0" lang="en-US" sz="1450" u="none" cap="none" strike="noStrike">
                <a:solidFill>
                  <a:srgbClr val="475569"/>
                </a:solidFill>
                <a:latin typeface="Arial"/>
                <a:ea typeface="Arial"/>
                <a:cs typeface="Arial"/>
                <a:sym typeface="Arial"/>
              </a:rPr>
              <a:t xml:space="preserve">at most</a:t>
            </a:r>
            <a:r>
              <a:rPr b="0" i="0" lang="en-US" sz="1450" u="none" cap="none" strike="noStrike">
                <a:solidFill>
                  <a:srgbClr val="475569"/>
                </a:solidFill>
                <a:latin typeface="Arial"/>
                <a:ea typeface="Arial"/>
                <a:cs typeface="Arial"/>
                <a:sym typeface="Arial"/>
              </a:rPr>
              <a:t xml:space="preserve">’ means ≤; ‘exceeds’ means &gt;; ‘fewer than’ means &lt;.</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49</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72"/>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Write and Represent Inequalities</a:t>
            </a:r>
            <a:endParaRPr b="0" i="0" sz="1400" u="none" cap="none" strike="noStrike">
              <a:solidFill>
                <a:srgbClr val="000000"/>
              </a:solidFill>
              <a:latin typeface="Arial"/>
              <a:ea typeface="Arial"/>
              <a:cs typeface="Arial"/>
              <a:sym typeface="Arial"/>
            </a:endParaRPr>
          </a:p>
        </p:txBody>
      </p:sp>
      <p:sp>
        <p:nvSpPr>
          <p:cNvPr id="745" name="Google Shape;745;p7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6" name="Google Shape;746;p72"/>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49</a:t>
            </a:r>
          </a:p>
        </p:txBody>
      </p:sp>
      <p:grpSp>
        <p:nvGrpSpPr>
          <p:cNvPr id="748" name="TEACH-5-student-move" descr="TEACH 5 · Facilitate student interactions and academic talk"/>
          <p:cNvGrpSpPr/>
          <p:nvPr/>
        </p:nvGrpSpPr>
        <p:grpSpPr>
          <a:xfrm>
            <a:off x="502920" y="3201929"/>
            <a:ext cx="11186160" cy="731520"/>
            <a:chOff x="502920" y="3201929"/>
            <a:chExt cx="11186160" cy="731520"/>
          </a:xfrm>
        </p:grpSpPr>
        <p:sp>
          <p:nvSpPr>
            <p:cNvPr id="749"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50"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51"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THE MATH WORDS  ·  </a:t>
              </a:r>
              <a:r>
                <a:rPr lang="en-US" sz="1800" dirty="0">
                  <a:solidFill>
                    <a:srgbClr val="13303A"/>
                  </a:solidFill>
                  <a:latin typeface="Arial"/>
                </a:rPr>
                <a:t>Use today’s math words in your explanation — not “it” and “that thing.”</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cxnSp>
        <p:nvCxnSpPr>
          <p:cNvPr id="813" name="Google Shape;813;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4" name="Google Shape;814;p79"/>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sp>
        <p:nvSpPr>
          <p:cNvPr id="815" name="Google Shape;815;p79"/>
          <p:cNvSpPr txBox="1"/>
          <p:nvPr/>
        </p:nvSpPr>
        <p:spPr>
          <a:xfrm>
            <a:off x="486000" y="935999"/>
            <a:ext cx="7239103" cy="219709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diagram shows the three states of matter for water and the temperatures at which each state occurs. How can you represent the temperatures at which water is a solid?</a:t>
            </a:r>
            <a:endParaRPr b="0" i="0" sz="1400" u="none" cap="none" strike="noStrike">
              <a:solidFill>
                <a:srgbClr val="000000"/>
              </a:solidFill>
              <a:latin typeface="Arial"/>
              <a:ea typeface="Arial"/>
              <a:cs typeface="Arial"/>
              <a:sym typeface="Arial"/>
            </a:endParaRPr>
          </a:p>
        </p:txBody>
      </p:sp>
      <p:sp>
        <p:nvSpPr>
          <p:cNvPr id="816" name="Google Shape;816;p79"/>
          <p:cNvSpPr/>
          <p:nvPr/>
        </p:nvSpPr>
        <p:spPr>
          <a:xfrm>
            <a:off x="484565" y="3442100"/>
            <a:ext cx="698828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know about the temperature(s) at which water is a solid?</a:t>
            </a:r>
            <a:endParaRPr b="0" i="0" sz="2800" u="none" cap="none" strike="noStrike">
              <a:solidFill>
                <a:schemeClr val="dk1"/>
              </a:solidFill>
              <a:latin typeface="Arial"/>
              <a:ea typeface="Arial"/>
              <a:cs typeface="Arial"/>
              <a:sym typeface="Arial"/>
            </a:endParaRPr>
          </a:p>
        </p:txBody>
      </p:sp>
      <p:sp>
        <p:nvSpPr>
          <p:cNvPr id="817" name="Google Shape;817;p79"/>
          <p:cNvSpPr txBox="1"/>
          <p:nvPr/>
        </p:nvSpPr>
        <p:spPr>
          <a:xfrm>
            <a:off x="484565" y="5188427"/>
            <a:ext cx="7777125" cy="11084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At what temperature(s) is water not a solid?</a:t>
            </a:r>
            <a:endParaRPr b="0" i="0" sz="1400" u="none" cap="none" strike="noStrike">
              <a:solidFill>
                <a:srgbClr val="000000"/>
              </a:solidFill>
              <a:latin typeface="Arial"/>
              <a:ea typeface="Arial"/>
              <a:cs typeface="Arial"/>
              <a:sym typeface="Arial"/>
            </a:endParaRPr>
          </a:p>
        </p:txBody>
      </p:sp>
      <p:pic>
        <p:nvPicPr>
          <p:cNvPr descr="C:\Users\HP\Desktop\Grade_6_Unit_8\OPS\img\.assets\b9d8587c0b734ad1a0e5e9b95a53175f\narm24_c10804_se_006a-dig.png" id="818" name="Google Shape;818;p79"/>
          <p:cNvPicPr preferRelativeResize="0"/>
          <p:nvPr/>
        </p:nvPicPr>
        <p:blipFill rotWithShape="1">
          <a:blip r:embed="rId3">
            <a:alphaModFix/>
          </a:blip>
          <a:srcRect b="0" l="0" r="0" t="0"/>
          <a:stretch/>
        </p:blipFill>
        <p:spPr>
          <a:xfrm>
            <a:off x="7716132" y="1379121"/>
            <a:ext cx="4143375" cy="3752850"/>
          </a:xfrm>
          <a:prstGeom prst="rect">
            <a:avLst/>
          </a:prstGeom>
          <a:noFill/>
          <a:ln>
            <a:noFill/>
          </a:ln>
        </p:spPr>
      </p:pic>
      <p:sp>
        <p:nvSpPr>
          <p:cNvPr id="81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49</a:t>
            </a:r>
          </a:p>
        </p:txBody>
      </p:sp>
      <p:grpSp>
        <p:nvGrpSpPr>
          <p:cNvPr id="820" name="TEACH-4-student-move" descr="TEACH 4 · Monitor progress and provide feedback"/>
          <p:cNvGrpSpPr/>
          <p:nvPr/>
        </p:nvGrpSpPr>
        <p:grpSpPr>
          <a:xfrm>
            <a:off x="2593543" y="2794000"/>
            <a:ext cx="3411017" cy="681375"/>
            <a:chOff x="502920" y="4749515"/>
            <a:chExt cx="5501640" cy="402336"/>
          </a:xfrm>
        </p:grpSpPr>
        <p:sp>
          <p:nvSpPr>
            <p:cNvPr id="821" name="TEACH-move-card"/>
            <p:cNvSpPr/>
            <p:nvPr/>
          </p:nvSpPr>
          <p:spPr>
            <a:xfrm>
              <a:off x="502920" y="4749515"/>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22" name="TEACH-move-rule"/>
            <p:cNvSpPr/>
            <p:nvPr/>
          </p:nvSpPr>
          <p:spPr>
            <a:xfrm>
              <a:off x="548640" y="4825959"/>
              <a:ext cx="100584" cy="249448"/>
            </a:xfrm>
            <a:prstGeom prst="roundRect">
              <a:avLst>
                <a:gd name="adj" fmla="val 50000"/>
              </a:avLst>
            </a:prstGeom>
            <a:solidFill>
              <a:srgbClr val="01708C"/>
            </a:solidFill>
            <a:ln>
              <a:noFill/>
            </a:ln>
          </p:spPr>
          <p:txBody>
            <a:bodyPr/>
            <a:lstStyle/>
            <a:p>
              <a:endParaRPr/>
            </a:p>
          </p:txBody>
        </p:sp>
        <p:sp>
          <p:nvSpPr>
            <p:cNvPr id="823" name="TEACH-move-text"/>
            <p:cNvSpPr txBox="1"/>
            <p:nvPr/>
          </p:nvSpPr>
          <p:spPr>
            <a:xfrm>
              <a:off x="822960" y="4749515"/>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cxnSp>
        <p:nvCxnSpPr>
          <p:cNvPr id="833" name="Google Shape;833;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4" name="Google Shape;834;p81"/>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sp>
        <p:nvSpPr>
          <p:cNvPr id="835" name="Google Shape;835;p81"/>
          <p:cNvSpPr txBox="1"/>
          <p:nvPr/>
        </p:nvSpPr>
        <p:spPr>
          <a:xfrm>
            <a:off x="486000" y="936000"/>
            <a:ext cx="7511589" cy="6334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think about the structure of the problem.</a:t>
            </a:r>
            <a:endParaRPr b="0" i="0" sz="1400" u="none" cap="none" strike="noStrike">
              <a:solidFill>
                <a:srgbClr val="000000"/>
              </a:solidFill>
              <a:latin typeface="Arial"/>
              <a:ea typeface="Arial"/>
              <a:cs typeface="Arial"/>
              <a:sym typeface="Arial"/>
            </a:endParaRPr>
          </a:p>
        </p:txBody>
      </p:sp>
      <p:sp>
        <p:nvSpPr>
          <p:cNvPr id="836" name="Google Shape;836;p81"/>
          <p:cNvSpPr/>
          <p:nvPr/>
        </p:nvSpPr>
        <p:spPr>
          <a:xfrm>
            <a:off x="484565" y="2803975"/>
            <a:ext cx="822937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many temperatures result in a solid? How can you show the possible temperatures the result in a solid? </a:t>
            </a:r>
            <a:endParaRPr b="0" i="0" sz="2800" u="none" cap="none" strike="noStrike">
              <a:solidFill>
                <a:schemeClr val="dk1"/>
              </a:solidFill>
              <a:latin typeface="Arial"/>
              <a:ea typeface="Arial"/>
              <a:cs typeface="Arial"/>
              <a:sym typeface="Arial"/>
            </a:endParaRPr>
          </a:p>
        </p:txBody>
      </p:sp>
      <p:sp>
        <p:nvSpPr>
          <p:cNvPr id="837" name="Google Shape;837;p81"/>
          <p:cNvSpPr/>
          <p:nvPr/>
        </p:nvSpPr>
        <p:spPr>
          <a:xfrm>
            <a:off x="484565" y="1709681"/>
            <a:ext cx="850560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Water is a solid for all temperatures that are 32°F or below.</a:t>
            </a:r>
            <a:endParaRPr b="0" i="0" sz="2800" u="none" cap="none" strike="noStrike">
              <a:solidFill>
                <a:schemeClr val="dk1"/>
              </a:solidFill>
              <a:latin typeface="Arial"/>
              <a:ea typeface="Arial"/>
              <a:cs typeface="Arial"/>
              <a:sym typeface="Arial"/>
            </a:endParaRPr>
          </a:p>
        </p:txBody>
      </p:sp>
      <p:sp>
        <p:nvSpPr>
          <p:cNvPr id="838" name="Google Shape;838;p81"/>
          <p:cNvSpPr txBox="1"/>
          <p:nvPr/>
        </p:nvSpPr>
        <p:spPr>
          <a:xfrm>
            <a:off x="484565" y="4329157"/>
            <a:ext cx="10266083" cy="19452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many temperatures at which water is a solid. We can use a number line to plot several points that represent the temperatures.</a:t>
            </a:r>
            <a:endParaRPr b="0" i="0" sz="1400" u="none" cap="none" strike="noStrike">
              <a:solidFill>
                <a:srgbClr val="000000"/>
              </a:solidFill>
              <a:latin typeface="Arial"/>
              <a:ea typeface="Arial"/>
              <a:cs typeface="Arial"/>
              <a:sym typeface="Arial"/>
            </a:endParaRPr>
          </a:p>
        </p:txBody>
      </p:sp>
      <p:sp>
        <p:nvSpPr>
          <p:cNvPr id="8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49</a:t>
            </a:r>
          </a:p>
        </p:txBody>
      </p:sp>
      <p:sp>
        <p:nvSpPr>
          <p:cNvPr id="840" name="EWL-COVER-1"/>
          <p:cNvSpPr/>
          <p:nvPr/>
        </p:nvSpPr>
        <p:spPr>
          <a:xfrm>
            <a:off x="429701" y="4274293"/>
            <a:ext cx="10375811" cy="205499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3" name="Google Shape;853;p83"/>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sp>
        <p:nvSpPr>
          <p:cNvPr id="854" name="Google Shape;854;p83"/>
          <p:cNvSpPr txBox="1"/>
          <p:nvPr/>
        </p:nvSpPr>
        <p:spPr>
          <a:xfrm>
            <a:off x="486000" y="935999"/>
            <a:ext cx="7314975" cy="10985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Water is a solid for all temperatures that are 32°F or below.  </a:t>
            </a:r>
            <a:endParaRPr b="0" i="0" sz="1400" u="none" cap="none" strike="noStrike">
              <a:solidFill>
                <a:srgbClr val="000000"/>
              </a:solidFill>
              <a:latin typeface="Arial"/>
              <a:ea typeface="Arial"/>
              <a:cs typeface="Arial"/>
              <a:sym typeface="Arial"/>
            </a:endParaRPr>
          </a:p>
        </p:txBody>
      </p:sp>
      <p:sp>
        <p:nvSpPr>
          <p:cNvPr id="855" name="Google Shape;855;p83"/>
          <p:cNvSpPr/>
          <p:nvPr/>
        </p:nvSpPr>
        <p:spPr>
          <a:xfrm>
            <a:off x="484565" y="2528597"/>
            <a:ext cx="7954586"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Let’s plot several possible temperatures at which water is a solid on a number line.</a:t>
            </a:r>
            <a:endParaRPr b="0" i="0" sz="2800" u="none" cap="none" strike="noStrike">
              <a:solidFill>
                <a:schemeClr val="dk1"/>
              </a:solidFill>
              <a:latin typeface="Arial"/>
              <a:ea typeface="Arial"/>
              <a:cs typeface="Arial"/>
              <a:sym typeface="Arial"/>
            </a:endParaRPr>
          </a:p>
        </p:txBody>
      </p:sp>
      <p:pic>
        <p:nvPicPr>
          <p:cNvPr id="856" name="Google Shape;856;p83"/>
          <p:cNvPicPr preferRelativeResize="0"/>
          <p:nvPr/>
        </p:nvPicPr>
        <p:blipFill rotWithShape="1">
          <a:blip r:embed="rId3">
            <a:alphaModFix/>
          </a:blip>
          <a:srcRect b="0" l="0" r="0" t="0"/>
          <a:stretch/>
        </p:blipFill>
        <p:spPr>
          <a:xfrm>
            <a:off x="1390970" y="3976756"/>
            <a:ext cx="5524364" cy="720000"/>
          </a:xfrm>
          <a:prstGeom prst="rect">
            <a:avLst/>
          </a:prstGeom>
          <a:noFill/>
          <a:ln>
            <a:noFill/>
          </a:ln>
        </p:spPr>
      </p:pic>
      <p:sp>
        <p:nvSpPr>
          <p:cNvPr id="8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49</a:t>
            </a:r>
          </a:p>
        </p:txBody>
      </p:sp>
      <p:sp xmlns:p="http://schemas.openxmlformats.org/presentationml/2006/main" xmlns:a="http://schemas.openxmlformats.org/drawingml/2006/main">
        <p:nvSpPr>
          <p:cNvPr id="85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scale and positions on the number line to justify your answer.</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cxnSp>
        <p:nvCxnSpPr>
          <p:cNvPr id="892" name="Google Shape;892;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3" name="Google Shape;893;p87"/>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pic>
        <p:nvPicPr>
          <p:cNvPr id="894" name="Google Shape;894;p87"/>
          <p:cNvPicPr preferRelativeResize="0"/>
          <p:nvPr/>
        </p:nvPicPr>
        <p:blipFill rotWithShape="1">
          <a:blip r:embed="rId3">
            <a:alphaModFix/>
          </a:blip>
          <a:srcRect b="0" l="0" r="0" t="0"/>
          <a:stretch/>
        </p:blipFill>
        <p:spPr>
          <a:xfrm>
            <a:off x="484565" y="4094541"/>
            <a:ext cx="7073900" cy="838200"/>
          </a:xfrm>
          <a:prstGeom prst="rect">
            <a:avLst/>
          </a:prstGeom>
          <a:noFill/>
          <a:ln>
            <a:noFill/>
          </a:ln>
        </p:spPr>
      </p:pic>
      <p:sp>
        <p:nvSpPr>
          <p:cNvPr id="895" name="Google Shape;895;p87"/>
          <p:cNvSpPr/>
          <p:nvPr/>
        </p:nvSpPr>
        <p:spPr>
          <a:xfrm>
            <a:off x="3169292" y="4252031"/>
            <a:ext cx="340349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Looking for Patterns</a:t>
            </a:r>
            <a:endParaRPr b="0" i="0" sz="1400" u="none" cap="none" strike="noStrike">
              <a:solidFill>
                <a:srgbClr val="000000"/>
              </a:solidFill>
              <a:latin typeface="Arial"/>
              <a:ea typeface="Arial"/>
              <a:cs typeface="Arial"/>
              <a:sym typeface="Arial"/>
            </a:endParaRPr>
          </a:p>
        </p:txBody>
      </p:sp>
      <p:sp>
        <p:nvSpPr>
          <p:cNvPr id="896" name="Google Shape;896;p87"/>
          <p:cNvSpPr/>
          <p:nvPr/>
        </p:nvSpPr>
        <p:spPr>
          <a:xfrm>
            <a:off x="484565" y="4932741"/>
            <a:ext cx="10866607"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arriving at a generalization be helpful in approaching this problem?</a:t>
            </a:r>
            <a:endParaRPr b="0" i="0" sz="2600" u="none" cap="none" strike="noStrike">
              <a:solidFill>
                <a:srgbClr val="595959"/>
              </a:solidFill>
              <a:latin typeface="Arial"/>
              <a:ea typeface="Arial"/>
              <a:cs typeface="Arial"/>
              <a:sym typeface="Arial"/>
            </a:endParaRPr>
          </a:p>
        </p:txBody>
      </p:sp>
      <p:sp>
        <p:nvSpPr>
          <p:cNvPr id="897" name="Google Shape;897;p87"/>
          <p:cNvSpPr txBox="1"/>
          <p:nvPr/>
        </p:nvSpPr>
        <p:spPr>
          <a:xfrm>
            <a:off x="485999" y="936001"/>
            <a:ext cx="6088222" cy="9064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Water is a solid for all temperatures that are 32°F or below.</a:t>
            </a:r>
            <a:endParaRPr b="0" i="0" sz="1400" u="none" cap="none" strike="noStrike">
              <a:solidFill>
                <a:srgbClr val="000000"/>
              </a:solidFill>
              <a:latin typeface="Arial"/>
              <a:ea typeface="Arial"/>
              <a:cs typeface="Arial"/>
              <a:sym typeface="Arial"/>
            </a:endParaRPr>
          </a:p>
        </p:txBody>
      </p:sp>
      <p:sp>
        <p:nvSpPr>
          <p:cNvPr id="898" name="Google Shape;898;p87"/>
          <p:cNvSpPr/>
          <p:nvPr/>
        </p:nvSpPr>
        <p:spPr>
          <a:xfrm>
            <a:off x="484566" y="2363690"/>
            <a:ext cx="6088222"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temperatures at which water is a solid?</a:t>
            </a:r>
            <a:endParaRPr b="0" i="0" sz="2800" u="none" cap="none" strike="noStrike">
              <a:solidFill>
                <a:schemeClr val="dk1"/>
              </a:solidFill>
              <a:latin typeface="Arial"/>
              <a:ea typeface="Arial"/>
              <a:cs typeface="Arial"/>
              <a:sym typeface="Arial"/>
            </a:endParaRPr>
          </a:p>
        </p:txBody>
      </p:sp>
      <p:pic>
        <p:nvPicPr>
          <p:cNvPr descr="C:\Users\HP\Desktop\Grade_6_Unit_8\OPS\img\.assets\eb73bdc0cabf4127829d22d8f8dc31a2\narm24_c10804_se_007a-dig-b-eps.png" id="899" name="Google Shape;899;p87"/>
          <p:cNvPicPr preferRelativeResize="0"/>
          <p:nvPr/>
        </p:nvPicPr>
        <p:blipFill rotWithShape="1">
          <a:blip r:embed="rId4">
            <a:alphaModFix/>
          </a:blip>
          <a:srcRect b="0" l="0" r="0" t="0"/>
          <a:stretch/>
        </p:blipFill>
        <p:spPr>
          <a:xfrm>
            <a:off x="6849013" y="2032995"/>
            <a:ext cx="5143500" cy="1666875"/>
          </a:xfrm>
          <a:prstGeom prst="rect">
            <a:avLst/>
          </a:prstGeom>
          <a:noFill/>
          <a:ln>
            <a:noFill/>
          </a:ln>
        </p:spPr>
      </p:pic>
      <p:sp>
        <p:nvSpPr>
          <p:cNvPr id="9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49</a:t>
            </a:r>
          </a:p>
        </p:txBody>
      </p:sp>
      <p:grpSp>
        <p:nvGrpSpPr>
          <p:cNvPr id="901" name="TEACH-2-student-move" descr="TEACH 2 · Use strategies and tasks to engage students in rigorous work"/>
          <p:cNvGrpSpPr/>
          <p:nvPr/>
        </p:nvGrpSpPr>
        <p:grpSpPr>
          <a:xfrm>
            <a:off x="502920" y="5861869"/>
            <a:ext cx="11186160" cy="402336"/>
            <a:chOff x="502920" y="5861869"/>
            <a:chExt cx="11186160" cy="402336"/>
          </a:xfrm>
        </p:grpSpPr>
        <p:sp>
          <p:nvSpPr>
            <p:cNvPr id="902" name="TEACH-move-card"/>
            <p:cNvSpPr/>
            <p:nvPr/>
          </p:nvSpPr>
          <p:spPr>
            <a:xfrm>
              <a:off x="502920" y="5861869"/>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3" name="TEACH-move-rule"/>
            <p:cNvSpPr/>
            <p:nvPr/>
          </p:nvSpPr>
          <p:spPr>
            <a:xfrm>
              <a:off x="548640" y="5938313"/>
              <a:ext cx="100584" cy="249448"/>
            </a:xfrm>
            <a:prstGeom prst="roundRect">
              <a:avLst>
                <a:gd name="adj" fmla="val 50000"/>
              </a:avLst>
            </a:prstGeom>
            <a:solidFill>
              <a:srgbClr val="01708C"/>
            </a:solidFill>
            <a:ln>
              <a:noFill/>
            </a:ln>
          </p:spPr>
          <p:txBody>
            <a:bodyPr/>
            <a:lstStyle/>
            <a:p>
              <a:endParaRPr/>
            </a:p>
          </p:txBody>
        </p:sp>
        <p:sp>
          <p:nvSpPr>
            <p:cNvPr id="904" name="TEACH-move-text"/>
            <p:cNvSpPr txBox="1"/>
            <p:nvPr/>
          </p:nvSpPr>
          <p:spPr>
            <a:xfrm>
              <a:off x="822960" y="5861869"/>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cxnSp>
        <p:nvCxnSpPr>
          <p:cNvPr id="914" name="Google Shape;914;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5" name="Google Shape;915;p89"/>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16" name="Google Shape;916;p89"/>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917" name="Google Shape;917;p89"/>
          <p:cNvSpPr txBox="1"/>
          <p:nvPr/>
        </p:nvSpPr>
        <p:spPr>
          <a:xfrm>
            <a:off x="484565" y="3825404"/>
            <a:ext cx="9083391" cy="879458"/>
          </a:xfrm>
          <a:prstGeom prst="rect">
            <a:avLst/>
          </a:prstGeom>
          <a:blipFill rotWithShape="1">
            <a:blip r:embed="rId4">
              <a:alphaModFix/>
            </a:blip>
            <a:stretch>
              <a:fillRect b="0" l="-1341" r="0" t="-7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8" name="Google Shape;918;p89"/>
          <p:cNvSpPr txBox="1"/>
          <p:nvPr/>
        </p:nvSpPr>
        <p:spPr>
          <a:xfrm>
            <a:off x="484565" y="936101"/>
            <a:ext cx="6980760" cy="892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Water is a solid for all temperatures less than or equal to 32°F.</a:t>
            </a:r>
            <a:endParaRPr b="0" i="0" sz="1400" u="none" cap="none" strike="noStrike">
              <a:solidFill>
                <a:srgbClr val="000000"/>
              </a:solidFill>
              <a:latin typeface="Arial"/>
              <a:ea typeface="Arial"/>
              <a:cs typeface="Arial"/>
              <a:sym typeface="Arial"/>
            </a:endParaRPr>
          </a:p>
        </p:txBody>
      </p:sp>
      <p:sp>
        <p:nvSpPr>
          <p:cNvPr id="919" name="Google Shape;919;p89"/>
          <p:cNvSpPr/>
          <p:nvPr/>
        </p:nvSpPr>
        <p:spPr>
          <a:xfrm>
            <a:off x="484565" y="2350049"/>
            <a:ext cx="74211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symbol do you think you can use to show less than or equal to?</a:t>
            </a:r>
            <a:endParaRPr b="0" i="0" sz="2800" u="none" cap="none" strike="noStrike">
              <a:solidFill>
                <a:schemeClr val="dk1"/>
              </a:solidFill>
              <a:latin typeface="Arial"/>
              <a:ea typeface="Arial"/>
              <a:cs typeface="Arial"/>
              <a:sym typeface="Arial"/>
            </a:endParaRPr>
          </a:p>
        </p:txBody>
      </p:sp>
      <p:sp>
        <p:nvSpPr>
          <p:cNvPr id="9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49</a:t>
            </a:r>
          </a:p>
        </p:txBody>
      </p:sp>
      <p:sp>
        <p:nvSpPr>
          <p:cNvPr id="92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2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cxnSp>
        <p:nvCxnSpPr>
          <p:cNvPr id="924" name="Google Shape;924;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5" name="Google Shape;925;p90"/>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sp>
        <p:nvSpPr>
          <p:cNvPr id="926" name="Google Shape;926;p90"/>
          <p:cNvSpPr txBox="1"/>
          <p:nvPr/>
        </p:nvSpPr>
        <p:spPr>
          <a:xfrm>
            <a:off x="484565" y="936000"/>
            <a:ext cx="7792660" cy="994400"/>
          </a:xfrm>
          <a:prstGeom prst="rect">
            <a:avLst/>
          </a:prstGeom>
          <a:blipFill rotWithShape="1">
            <a:blip r:embed="rId3">
              <a:alphaModFix/>
            </a:blip>
            <a:stretch>
              <a:fillRect b="-12270" l="-1564" r="-1799" t="-674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8\OPS\img\.assets\a7dae3ffe8804986ba57aceed9c32efe\narm24_c10804_ebk_002a-eps.png" id="927" name="Google Shape;927;p90"/>
          <p:cNvPicPr preferRelativeResize="0"/>
          <p:nvPr/>
        </p:nvPicPr>
        <p:blipFill rotWithShape="1">
          <a:blip r:embed="rId4">
            <a:alphaModFix/>
          </a:blip>
          <a:srcRect b="0" l="0" r="0" t="0"/>
          <a:stretch/>
        </p:blipFill>
        <p:spPr>
          <a:xfrm>
            <a:off x="638400" y="3657776"/>
            <a:ext cx="5858256" cy="2357032"/>
          </a:xfrm>
          <a:prstGeom prst="rect">
            <a:avLst/>
          </a:prstGeom>
          <a:noFill/>
          <a:ln>
            <a:noFill/>
          </a:ln>
        </p:spPr>
      </p:pic>
      <p:sp>
        <p:nvSpPr>
          <p:cNvPr id="928" name="Google Shape;928;p90"/>
          <p:cNvSpPr txBox="1"/>
          <p:nvPr/>
        </p:nvSpPr>
        <p:spPr>
          <a:xfrm>
            <a:off x="484565" y="2317035"/>
            <a:ext cx="843083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 xml:space="preserve">The solution is a range of values, so an inequality represents the problem. </a:t>
            </a:r>
            <a:endParaRPr b="0" i="0" sz="1400" u="none" cap="none" strike="noStrike">
              <a:solidFill>
                <a:srgbClr val="000000"/>
              </a:solidFill>
              <a:latin typeface="Arial"/>
              <a:ea typeface="Arial"/>
              <a:cs typeface="Arial"/>
              <a:sym typeface="Arial"/>
            </a:endParaRPr>
          </a:p>
        </p:txBody>
      </p:sp>
      <p:sp>
        <p:nvSpPr>
          <p:cNvPr id="9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49</a:t>
            </a:r>
          </a:p>
        </p:txBody>
      </p:sp>
      <p:sp xmlns:p="http://schemas.openxmlformats.org/presentationml/2006/main" xmlns:a="http://schemas.openxmlformats.org/drawingml/2006/main">
        <p:nvSpPr>
          <p:cNvPr id="930"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cxnSp>
        <p:nvCxnSpPr>
          <p:cNvPr id="944" name="Google Shape;944;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5" name="Google Shape;945;p9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1" i="0" sz="1600" u="none" cap="none" strike="noStrike">
              <a:solidFill>
                <a:srgbClr val="782DA0"/>
              </a:solidFill>
              <a:latin typeface="Arial"/>
              <a:ea typeface="Arial"/>
              <a:cs typeface="Arial"/>
              <a:sym typeface="Arial"/>
            </a:endParaRPr>
          </a:p>
        </p:txBody>
      </p:sp>
      <p:sp>
        <p:nvSpPr>
          <p:cNvPr id="946" name="Google Shape;946;p92"/>
          <p:cNvSpPr txBox="1"/>
          <p:nvPr/>
        </p:nvSpPr>
        <p:spPr>
          <a:xfrm>
            <a:off x="484566" y="936000"/>
            <a:ext cx="7735509" cy="94995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How is an inequality different from an equation?</a:t>
            </a:r>
            <a:endParaRPr b="0" i="0" sz="1400" u="none" cap="none" strike="noStrike">
              <a:solidFill>
                <a:srgbClr val="000000"/>
              </a:solidFill>
              <a:latin typeface="Arial"/>
              <a:ea typeface="Arial"/>
              <a:cs typeface="Arial"/>
              <a:sym typeface="Arial"/>
            </a:endParaRPr>
          </a:p>
        </p:txBody>
      </p:sp>
      <p:sp>
        <p:nvSpPr>
          <p:cNvPr id="947" name="Google Shape;947;p92"/>
          <p:cNvSpPr/>
          <p:nvPr/>
        </p:nvSpPr>
        <p:spPr>
          <a:xfrm>
            <a:off x="484566" y="2039508"/>
            <a:ext cx="7735510" cy="139207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48" name="Google Shape;948;p92"/>
          <p:cNvSpPr txBox="1"/>
          <p:nvPr/>
        </p:nvSpPr>
        <p:spPr>
          <a:xfrm>
            <a:off x="7013206" y="301291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49" name="Google Shape;949;p92"/>
          <p:cNvSpPr/>
          <p:nvPr/>
        </p:nvSpPr>
        <p:spPr>
          <a:xfrm>
            <a:off x="457661" y="3578769"/>
            <a:ext cx="7905289" cy="954107"/>
          </a:xfrm>
          <a:prstGeom prst="rect">
            <a:avLst/>
          </a:prstGeom>
          <a:blipFill rotWithShape="1">
            <a:blip r:embed="rId3">
              <a:alphaModFix/>
            </a:blip>
            <a:stretch>
              <a:fillRect b="-16561" l="-1389" r="-1389"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0" name="Google Shape;950;p92"/>
          <p:cNvSpPr/>
          <p:nvPr/>
        </p:nvSpPr>
        <p:spPr>
          <a:xfrm>
            <a:off x="457662" y="4648933"/>
            <a:ext cx="7762414" cy="1392071"/>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51" name="Google Shape;951;p92"/>
          <p:cNvSpPr txBox="1"/>
          <p:nvPr/>
        </p:nvSpPr>
        <p:spPr>
          <a:xfrm>
            <a:off x="6944211" y="562193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confusing at least with greater than or reversing the comparison.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Test the boundary against the given words before selecting the symbol.</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33" name="Google Shape;833;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4" name="Google Shape;834;p81"/>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Free Books</a:t>
            </a:r>
            <a:endParaRPr b="0" i="0" sz="1400" u="none" cap="none" strike="noStrike">
              <a:solidFill>
                <a:srgbClr val="000000"/>
              </a:solidFill>
              <a:latin typeface="Arial"/>
              <a:ea typeface="Arial"/>
              <a:cs typeface="Arial"/>
              <a:sym typeface="Arial"/>
            </a:endParaRPr>
          </a:p>
        </p:txBody>
      </p:sp>
      <p:sp>
        <p:nvSpPr>
          <p:cNvPr id="835" name="Google Shape;835;p81"/>
          <p:cNvSpPr txBox="1"/>
          <p:nvPr/>
        </p:nvSpPr>
        <p:spPr>
          <a:xfrm>
            <a:off x="486000" y="936000"/>
            <a:ext cx="7511589" cy="6334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think about the structure of the problem.</a:t>
            </a:r>
            <a:endParaRPr b="0" i="0" sz="1400" u="none" cap="none" strike="noStrike">
              <a:solidFill>
                <a:srgbClr val="000000"/>
              </a:solidFill>
              <a:latin typeface="Arial"/>
              <a:ea typeface="Arial"/>
              <a:cs typeface="Arial"/>
              <a:sym typeface="Arial"/>
            </a:endParaRPr>
          </a:p>
        </p:txBody>
      </p:sp>
      <p:sp>
        <p:nvSpPr>
          <p:cNvPr id="836" name="Google Shape;836;p81"/>
          <p:cNvSpPr/>
          <p:nvPr/>
        </p:nvSpPr>
        <p:spPr>
          <a:xfrm>
            <a:off x="484565" y="2803975"/>
            <a:ext cx="822937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many temperatures result in a solid? How can you show the possible temperatures the result in a solid? </a:t>
            </a:r>
            <a:endParaRPr b="0" i="0" sz="2800" u="none" cap="none" strike="noStrike">
              <a:solidFill>
                <a:schemeClr val="dk1"/>
              </a:solidFill>
              <a:latin typeface="Arial"/>
              <a:ea typeface="Arial"/>
              <a:cs typeface="Arial"/>
              <a:sym typeface="Arial"/>
            </a:endParaRPr>
          </a:p>
        </p:txBody>
      </p:sp>
      <p:sp>
        <p:nvSpPr>
          <p:cNvPr id="837" name="Google Shape;837;p81"/>
          <p:cNvSpPr/>
          <p:nvPr/>
        </p:nvSpPr>
        <p:spPr>
          <a:xfrm>
            <a:off x="484565" y="1709681"/>
            <a:ext cx="850560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Water is a solid for all temperatures that are 32°F or below.</a:t>
            </a:r>
            <a:endParaRPr b="0" i="0" sz="2800" u="none" cap="none" strike="noStrike">
              <a:solidFill>
                <a:schemeClr val="dk1"/>
              </a:solidFill>
              <a:latin typeface="Arial"/>
              <a:ea typeface="Arial"/>
              <a:cs typeface="Arial"/>
              <a:sym typeface="Arial"/>
            </a:endParaRPr>
          </a:p>
        </p:txBody>
      </p:sp>
      <p:sp>
        <p:nvSpPr>
          <p:cNvPr id="838" name="Google Shape;838;p81"/>
          <p:cNvSpPr txBox="1"/>
          <p:nvPr/>
        </p:nvSpPr>
        <p:spPr>
          <a:xfrm>
            <a:off x="484565" y="4329157"/>
            <a:ext cx="10266083" cy="194526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are many temperatures at which water is a solid. We can use a number line to plot several points that represent the temperatures.</a:t>
            </a:r>
            <a:endParaRPr b="0" i="0" sz="1400" u="none" cap="none" strike="noStrike">
              <a:solidFill>
                <a:srgbClr val="000000"/>
              </a:solidFill>
              <a:latin typeface="Arial"/>
              <a:ea typeface="Arial"/>
              <a:cs typeface="Arial"/>
              <a:sym typeface="Arial"/>
            </a:endParaRPr>
          </a:p>
        </p:txBody>
      </p:sp>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1" name="Google Shape;871;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2" name="Google Shape;872;p85"/>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Freezing Point</a:t>
            </a:r>
            <a:endParaRPr b="0" i="0" sz="1400" u="none" cap="none" strike="noStrike">
              <a:solidFill>
                <a:srgbClr val="000000"/>
              </a:solidFill>
              <a:latin typeface="Arial"/>
              <a:ea typeface="Arial"/>
              <a:cs typeface="Arial"/>
              <a:sym typeface="Arial"/>
            </a:endParaRPr>
          </a:p>
        </p:txBody>
      </p:sp>
      <p:sp>
        <p:nvSpPr>
          <p:cNvPr id="873" name="Google Shape;873;p85"/>
          <p:cNvSpPr txBox="1"/>
          <p:nvPr/>
        </p:nvSpPr>
        <p:spPr>
          <a:xfrm>
            <a:off x="485999" y="936001"/>
            <a:ext cx="6088222" cy="9064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Water is a solid for all temperatures that are 32°F or below.</a:t>
            </a:r>
            <a:endParaRPr b="0" i="0" sz="1400" u="none" cap="none" strike="noStrike">
              <a:solidFill>
                <a:srgbClr val="000000"/>
              </a:solidFill>
              <a:latin typeface="Arial"/>
              <a:ea typeface="Arial"/>
              <a:cs typeface="Arial"/>
              <a:sym typeface="Arial"/>
            </a:endParaRPr>
          </a:p>
        </p:txBody>
      </p:sp>
      <p:sp>
        <p:nvSpPr>
          <p:cNvPr id="874" name="Google Shape;874;p85"/>
          <p:cNvSpPr/>
          <p:nvPr/>
        </p:nvSpPr>
        <p:spPr>
          <a:xfrm>
            <a:off x="484566" y="2363690"/>
            <a:ext cx="6088222"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temperatures at which water is a solid?</a:t>
            </a:r>
            <a:endParaRPr b="0" i="0" sz="2800" u="none" cap="none" strike="noStrike">
              <a:solidFill>
                <a:schemeClr val="dk1"/>
              </a:solidFill>
              <a:latin typeface="Arial"/>
              <a:ea typeface="Arial"/>
              <a:cs typeface="Arial"/>
              <a:sym typeface="Arial"/>
            </a:endParaRPr>
          </a:p>
        </p:txBody>
      </p:sp>
      <p:sp>
        <p:nvSpPr>
          <p:cNvPr id="875" name="Google Shape;875;p85"/>
          <p:cNvSpPr txBox="1"/>
          <p:nvPr/>
        </p:nvSpPr>
        <p:spPr>
          <a:xfrm>
            <a:off x="484565" y="4269926"/>
            <a:ext cx="8040310" cy="14912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All the temperatures at which water is a solid are less than or equal to 32°F.</a:t>
            </a:r>
            <a:endParaRPr b="0" i="0" sz="1400" u="none" cap="none" strike="noStrike">
              <a:solidFill>
                <a:srgbClr val="000000"/>
              </a:solidFill>
              <a:latin typeface="Arial"/>
              <a:ea typeface="Arial"/>
              <a:cs typeface="Arial"/>
              <a:sym typeface="Arial"/>
            </a:endParaRPr>
          </a:p>
        </p:txBody>
      </p:sp>
      <p:pic>
        <p:nvPicPr>
          <p:cNvPr descr="C:\Users\HP\Desktop\Grade_6_Unit_8\OPS\img\.assets\eb73bdc0cabf4127829d22d8f8dc31a2\narm24_c10804_se_007a-dig-b-eps.png" id="876" name="Google Shape;876;p85"/>
          <p:cNvPicPr preferRelativeResize="0"/>
          <p:nvPr/>
        </p:nvPicPr>
        <p:blipFill rotWithShape="1">
          <a:blip r:embed="rId2">
            <a:alphaModFix/>
          </a:blip>
          <a:srcRect b="0" l="0" r="0" t="0"/>
          <a:stretch/>
        </p:blipFill>
        <p:spPr>
          <a:xfrm>
            <a:off x="6849013" y="2032995"/>
            <a:ext cx="5143500" cy="1666875"/>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49</a:t>
            </a:r>
          </a:p>
        </p:txBody>
      </p:sp>
      <p:grpSp>
        <p:nvGrpSpPr>
          <p:cNvPr id="877" name="TEACH-3-student-move" descr="TEACH 3 · Use intentional questioning to deepen learning"/>
          <p:cNvGrpSpPr/>
          <p:nvPr/>
        </p:nvGrpSpPr>
        <p:grpSpPr>
          <a:xfrm>
            <a:off x="502920" y="5797753"/>
            <a:ext cx="11186160" cy="457200"/>
            <a:chOff x="502920" y="5797753"/>
            <a:chExt cx="11186160" cy="457200"/>
          </a:xfrm>
        </p:grpSpPr>
        <p:sp>
          <p:nvSpPr>
            <p:cNvPr id="878" name="TEACH-move-card"/>
            <p:cNvSpPr/>
            <p:nvPr/>
          </p:nvSpPr>
          <p:spPr>
            <a:xfrm>
              <a:off x="502920" y="5797753"/>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879" name="TEACH-move-rule"/>
            <p:cNvSpPr/>
            <p:nvPr/>
          </p:nvSpPr>
          <p:spPr>
            <a:xfrm>
              <a:off x="548640" y="5884621"/>
              <a:ext cx="100584" cy="283464"/>
            </a:xfrm>
            <a:prstGeom prst="roundRect">
              <a:avLst>
                <a:gd name="adj" fmla="val 50000"/>
              </a:avLst>
            </a:prstGeom>
            <a:solidFill>
              <a:srgbClr val="01708C"/>
            </a:solidFill>
            <a:ln>
              <a:noFill/>
            </a:ln>
          </p:spPr>
          <p:txBody>
            <a:bodyPr/>
            <a:lstStyle/>
            <a:p>
              <a:endParaRPr/>
            </a:p>
          </p:txBody>
        </p:sp>
        <p:sp>
          <p:nvSpPr>
            <p:cNvPr id="880" name="TEACH-move-text"/>
            <p:cNvSpPr txBox="1"/>
            <p:nvPr/>
          </p:nvSpPr>
          <p:spPr>
            <a:xfrm>
              <a:off x="822960" y="5797753"/>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ANOTHER PATHWAY  ·  </a:t>
              </a:r>
              <a:r>
                <a:rPr lang="en-US" sz="1400" dirty="0">
                  <a:solidFill>
                    <a:srgbClr val="13303A"/>
                  </a:solidFill>
                  <a:latin typeface="Arial"/>
                </a:rPr>
                <a:t>Did anyone get there a different way? Put both pathways side by side and compare.</a:t>
              </a:r>
              <a:endParaRPr lang="en-US" sz="14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93"/>
          <p:cNvSpPr txBox="1"/>
          <p:nvPr/>
        </p:nvSpPr>
        <p:spPr>
          <a:xfrm>
            <a:off x="486001" y="316800"/>
            <a:ext cx="5781449" cy="85667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Write and Represent Inequalities</a:t>
            </a:r>
            <a:endParaRPr b="0" i="0" sz="1400" u="none" cap="none" strike="noStrike">
              <a:solidFill>
                <a:srgbClr val="000000"/>
              </a:solidFill>
              <a:latin typeface="Arial"/>
              <a:ea typeface="Arial"/>
              <a:cs typeface="Arial"/>
              <a:sym typeface="Arial"/>
            </a:endParaRPr>
          </a:p>
        </p:txBody>
      </p:sp>
      <p:cxnSp>
        <p:nvCxnSpPr>
          <p:cNvPr id="957" name="Google Shape;957;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8" name="Google Shape;958;p93"/>
          <p:cNvSpPr txBox="1"/>
          <p:nvPr/>
        </p:nvSpPr>
        <p:spPr>
          <a:xfrm>
            <a:off x="486002" y="1296000"/>
            <a:ext cx="8953274" cy="115753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An inequality is a mathematical sentence that compares quantities. It uses an inequality symbol.</a:t>
            </a:r>
            <a:endParaRPr b="0" i="0" sz="1400" u="none" cap="none" strike="noStrike">
              <a:solidFill>
                <a:srgbClr val="000000"/>
              </a:solidFill>
              <a:latin typeface="Arial"/>
              <a:ea typeface="Arial"/>
              <a:cs typeface="Arial"/>
              <a:sym typeface="Arial"/>
            </a:endParaRPr>
          </a:p>
        </p:txBody>
      </p:sp>
      <p:sp>
        <p:nvSpPr>
          <p:cNvPr id="959" name="Google Shape;959;p93"/>
          <p:cNvSpPr/>
          <p:nvPr/>
        </p:nvSpPr>
        <p:spPr>
          <a:xfrm>
            <a:off x="486001" y="2418347"/>
            <a:ext cx="865799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A solution of an inequality with an unknown value is any value that makes the inequality a true statement.</a:t>
            </a:r>
            <a:endParaRPr b="0" i="0" sz="2800" u="none" cap="none" strike="noStrike">
              <a:solidFill>
                <a:schemeClr val="dk1"/>
              </a:solidFill>
              <a:latin typeface="Arial"/>
              <a:ea typeface="Arial"/>
              <a:cs typeface="Arial"/>
              <a:sym typeface="Arial"/>
            </a:endParaRPr>
          </a:p>
        </p:txBody>
      </p:sp>
      <p:graphicFrame>
        <p:nvGraphicFramePr>
          <p:cNvPr id="960" name="Google Shape;960;p93"/>
          <p:cNvGraphicFramePr/>
          <p:nvPr/>
        </p:nvGraphicFramePr>
        <p:xfrm>
          <a:off x="1669630" y="3575881"/>
          <a:ext cx="3000000" cy="3000000"/>
        </p:xfrm>
        <a:graphic>
          <a:graphicData uri="http://schemas.openxmlformats.org/drawingml/2006/table">
            <a:tbl>
              <a:tblPr bandRow="1" firstRow="1">
                <a:noFill/>
                <a:tableStyleId>{ACADB947-2184-4C95-A37C-B7AEDDE4D2B0}</a:tableStyleId>
              </a:tblPr>
              <a:tblGrid>
                <a:gridCol w="2026075"/>
                <a:gridCol w="4286250"/>
              </a:tblGrid>
              <a:tr h="370850">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&lt;</a:t>
                      </a:r>
                      <a:endParaRPr sz="2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less than</a:t>
                      </a:r>
                      <a:endParaRPr sz="2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a:t>
                      </a:r>
                      <a:endParaRPr sz="2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less than or equal to</a:t>
                      </a:r>
                      <a:endParaRPr sz="2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chemeClr val="dk1"/>
                        </a:buClr>
                        <a:buSzPts val="2800"/>
                        <a:buFont typeface="Arial"/>
                        <a:buNone/>
                      </a:pPr>
                      <a:r>
                        <a:rPr lang="en-US" sz="2800" u="none" cap="none" strike="noStrike">
                          <a:latin typeface="Arial"/>
                          <a:ea typeface="Arial"/>
                          <a:cs typeface="Arial"/>
                          <a:sym typeface="Arial"/>
                        </a:rPr>
                        <a:t>&gt;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greater than</a:t>
                      </a:r>
                      <a:endParaRPr sz="28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chemeClr val="dk1"/>
                        </a:buClr>
                        <a:buSzPts val="2800"/>
                        <a:buFont typeface="Arial"/>
                        <a:buNone/>
                      </a:pPr>
                      <a:r>
                        <a:rPr lang="en-US" sz="2800" u="none" cap="none" strike="noStrike">
                          <a:latin typeface="Arial"/>
                          <a:ea typeface="Arial"/>
                          <a:cs typeface="Arial"/>
                          <a:sym typeface="Aria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latin typeface="Arial"/>
                          <a:ea typeface="Arial"/>
                          <a:cs typeface="Arial"/>
                          <a:sym typeface="Arial"/>
                        </a:rPr>
                        <a:t>greater than or equal to</a:t>
                      </a:r>
                      <a:endParaRPr sz="2800" u="none" cap="none" strike="noStrike"/>
                    </a:p>
                  </a:txBody>
                  <a:tcPr marT="45725" marB="45725" marR="91450" marL="91450"/>
                </a:tc>
              </a:tr>
            </a:tbl>
          </a:graphicData>
        </a:graphic>
      </p:graphicFrame>
      <p:sp>
        <p:nvSpPr>
          <p:cNvPr id="9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49</a:t>
            </a:r>
          </a:p>
        </p:txBody>
      </p:sp>
      <p:sp>
        <p:nvSpPr>
          <p:cNvPr id="96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grpSp>
        <p:nvGrpSpPr>
          <p:cNvPr id="963" name="TEACH-3-student-move" descr="TEACH 3 · Use intentional questioning to deepen learning"/>
          <p:cNvGrpSpPr/>
          <p:nvPr/>
        </p:nvGrpSpPr>
        <p:grpSpPr>
          <a:xfrm>
            <a:off x="6187440" y="5641446"/>
            <a:ext cx="5501640" cy="594360"/>
            <a:chOff x="6187440" y="5235046"/>
            <a:chExt cx="5501640" cy="594360"/>
          </a:xfrm>
        </p:grpSpPr>
        <p:sp>
          <p:nvSpPr>
            <p:cNvPr id="964" name="TEACH-move-card"/>
            <p:cNvSpPr/>
            <p:nvPr/>
          </p:nvSpPr>
          <p:spPr>
            <a:xfrm>
              <a:off x="6187440" y="523504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65" name="TEACH-move-rule"/>
            <p:cNvSpPr/>
            <p:nvPr/>
          </p:nvSpPr>
          <p:spPr>
            <a:xfrm>
              <a:off x="6233160" y="5347974"/>
              <a:ext cx="100584" cy="368504"/>
            </a:xfrm>
            <a:prstGeom prst="roundRect">
              <a:avLst>
                <a:gd name="adj" fmla="val 50000"/>
              </a:avLst>
            </a:prstGeom>
            <a:solidFill>
              <a:srgbClr val="01708C"/>
            </a:solidFill>
            <a:ln>
              <a:noFill/>
            </a:ln>
          </p:spPr>
          <p:txBody>
            <a:bodyPr/>
            <a:lstStyle/>
            <a:p>
              <a:endParaRPr/>
            </a:p>
          </p:txBody>
        </p:sp>
        <p:sp>
          <p:nvSpPr>
            <p:cNvPr id="966" name="TEACH-move-text"/>
            <p:cNvSpPr txBox="1"/>
            <p:nvPr/>
          </p:nvSpPr>
          <p:spPr>
            <a:xfrm>
              <a:off x="6507480" y="523504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Festival Tickets</a:t>
            </a:r>
            <a:endParaRPr b="1" i="0" sz="2800" u="none" cap="none" strike="noStrike">
              <a:solidFill>
                <a:srgbClr val="7030A0"/>
              </a:solidFill>
              <a:latin typeface="Arial"/>
              <a:ea typeface="Arial"/>
              <a:cs typeface="Arial"/>
              <a:sym typeface="Arial"/>
            </a:endParaRPr>
          </a:p>
        </p:txBody>
      </p:sp>
      <p:cxnSp>
        <p:nvCxnSpPr>
          <p:cNvPr id="966" name="Google Shape;966;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7" name="Google Shape;967;p94"/>
          <p:cNvSpPr txBox="1"/>
          <p:nvPr/>
        </p:nvSpPr>
        <p:spPr>
          <a:xfrm>
            <a:off x="486000" y="935999"/>
            <a:ext cx="6556245" cy="2735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Four friends are doing yard work around town to earn money to attend the upcoming festival advertised in the flyer. They are charging $15 per hour for yard work. The four friends will combine their earnings.</a:t>
            </a:r>
            <a:endParaRPr b="0" i="0" sz="1400" u="none" cap="none" strike="noStrike">
              <a:solidFill>
                <a:srgbClr val="000000"/>
              </a:solidFill>
              <a:latin typeface="Arial"/>
              <a:ea typeface="Arial"/>
              <a:cs typeface="Arial"/>
              <a:sym typeface="Arial"/>
            </a:endParaRPr>
          </a:p>
        </p:txBody>
      </p:sp>
      <p:sp>
        <p:nvSpPr>
          <p:cNvPr id="968" name="Google Shape;968;p94"/>
          <p:cNvSpPr/>
          <p:nvPr/>
        </p:nvSpPr>
        <p:spPr>
          <a:xfrm>
            <a:off x="484565" y="4087366"/>
            <a:ext cx="7403841" cy="18158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How many hours do the four friends need to work to earn enough money to buy four tickets? Propose a breakdown of the number of hours each friend might work.</a:t>
            </a:r>
            <a:endParaRPr b="0" i="0" sz="2800" u="none" cap="none" strike="noStrike">
              <a:solidFill>
                <a:schemeClr val="dk1"/>
              </a:solidFill>
              <a:latin typeface="Arial"/>
              <a:ea typeface="Arial"/>
              <a:cs typeface="Arial"/>
              <a:sym typeface="Arial"/>
            </a:endParaRPr>
          </a:p>
        </p:txBody>
      </p:sp>
      <p:pic>
        <p:nvPicPr>
          <p:cNvPr descr="C:\Users\HP\Desktop\Grade_6_Unit_8\OPS\img\.assets\5e6db4d3157d4d4bbcdd9d05473f7a0b\narm24_c10804_se_008a-dig.png" id="969" name="Google Shape;969;p94"/>
          <p:cNvPicPr preferRelativeResize="0"/>
          <p:nvPr/>
        </p:nvPicPr>
        <p:blipFill rotWithShape="1">
          <a:blip r:embed="rId3">
            <a:alphaModFix/>
          </a:blip>
          <a:srcRect b="0" l="0" r="0" t="0"/>
          <a:stretch/>
        </p:blipFill>
        <p:spPr>
          <a:xfrm>
            <a:off x="8371500" y="1331248"/>
            <a:ext cx="3257550" cy="4572000"/>
          </a:xfrm>
          <a:prstGeom prst="rect">
            <a:avLst/>
          </a:prstGeom>
          <a:noFill/>
          <a:ln>
            <a:noFill/>
          </a:ln>
        </p:spPr>
      </p:pic>
      <p:sp>
        <p:nvSpPr>
          <p:cNvPr id="9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49</a:t>
            </a:r>
          </a:p>
        </p:txBody>
      </p:sp>
      <p:sp>
        <p:nvSpPr>
          <p:cNvPr id="97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grpSp>
        <p:nvGrpSpPr>
          <p:cNvPr id="972" name="TEACH-2-student-move" descr="TEACH 2 · Use strategies and tasks to engage students in rigorous work"/>
          <p:cNvGrpSpPr/>
          <p:nvPr/>
        </p:nvGrpSpPr>
        <p:grpSpPr>
          <a:xfrm>
            <a:off x="502920" y="5948278"/>
            <a:ext cx="11186160" cy="320040"/>
            <a:chOff x="502920" y="5948278"/>
            <a:chExt cx="11186160" cy="320040"/>
          </a:xfrm>
        </p:grpSpPr>
        <p:sp>
          <p:nvSpPr>
            <p:cNvPr id="973" name="TEACH-move-card"/>
            <p:cNvSpPr/>
            <p:nvPr/>
          </p:nvSpPr>
          <p:spPr>
            <a:xfrm>
              <a:off x="502920" y="5948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74" name="TEACH-move-rule"/>
            <p:cNvSpPr/>
            <p:nvPr/>
          </p:nvSpPr>
          <p:spPr>
            <a:xfrm>
              <a:off x="548640" y="6009086"/>
              <a:ext cx="100584" cy="198424"/>
            </a:xfrm>
            <a:prstGeom prst="roundRect">
              <a:avLst>
                <a:gd name="adj" fmla="val 50000"/>
              </a:avLst>
            </a:prstGeom>
            <a:solidFill>
              <a:srgbClr val="01708C"/>
            </a:solidFill>
            <a:ln>
              <a:noFill/>
            </a:ln>
          </p:spPr>
          <p:txBody>
            <a:bodyPr/>
            <a:lstStyle/>
            <a:p>
              <a:endParaRPr/>
            </a:p>
          </p:txBody>
        </p:sp>
        <p:sp>
          <p:nvSpPr>
            <p:cNvPr id="975" name="TEACH-move-text"/>
            <p:cNvSpPr txBox="1"/>
            <p:nvPr/>
          </p:nvSpPr>
          <p:spPr>
            <a:xfrm>
              <a:off x="822960" y="5948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95"/>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75" name="Google Shape;975;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95"/>
          <p:cNvSpPr txBox="1"/>
          <p:nvPr/>
        </p:nvSpPr>
        <p:spPr>
          <a:xfrm>
            <a:off x="484565" y="1178250"/>
            <a:ext cx="8895918" cy="263700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inequalities to represent a real-world or mathematical problem.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repeated reasoning to understand ways that problems can be represented by inequalities.</a:t>
            </a:r>
            <a:endParaRPr b="0" i="0" sz="1400" u="none" cap="none" strike="noStrike">
              <a:solidFill>
                <a:srgbClr val="000000"/>
              </a:solidFill>
              <a:latin typeface="Arial"/>
              <a:ea typeface="Arial"/>
              <a:cs typeface="Arial"/>
              <a:sym typeface="Arial"/>
            </a:endParaRPr>
          </a:p>
        </p:txBody>
      </p:sp>
      <p:sp>
        <p:nvSpPr>
          <p:cNvPr id="9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49</a:t>
            </a:r>
          </a:p>
        </p:txBody>
      </p:sp>
      <p:sp xmlns:p="http://schemas.openxmlformats.org/presentationml/2006/main" xmlns:a="http://schemas.openxmlformats.org/drawingml/2006/main">
        <p:nvSpPr>
          <p:cNvPr id="97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62" name="Google Shape;76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3" name="Google Shape;763;p7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64" name="Google Shape;764;p74"/>
          <p:cNvSpPr txBox="1"/>
          <p:nvPr/>
        </p:nvSpPr>
        <p:spPr>
          <a:xfrm>
            <a:off x="484560" y="1022823"/>
            <a:ext cx="4851295" cy="524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pic>
        <p:nvPicPr>
          <p:cNvPr id="765" name="Google Shape;765;p74"/>
          <p:cNvPicPr preferRelativeResize="0"/>
          <p:nvPr/>
        </p:nvPicPr>
        <p:blipFill rotWithShape="1">
          <a:blip r:embed="rId2">
            <a:alphaModFix/>
          </a:blip>
          <a:srcRect b="0" l="0" r="0" t="0"/>
          <a:stretch/>
        </p:blipFill>
        <p:spPr>
          <a:xfrm>
            <a:off x="484560" y="4894316"/>
            <a:ext cx="5054600" cy="838200"/>
          </a:xfrm>
          <a:prstGeom prst="rect">
            <a:avLst/>
          </a:prstGeom>
          <a:noFill/>
          <a:ln>
            <a:noFill/>
          </a:ln>
        </p:spPr>
      </p:pic>
      <p:sp>
        <p:nvSpPr>
          <p:cNvPr id="766" name="Google Shape;766;p74"/>
          <p:cNvSpPr txBox="1"/>
          <p:nvPr/>
        </p:nvSpPr>
        <p:spPr>
          <a:xfrm>
            <a:off x="3141271" y="502097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67" name="Google Shape;767;p74"/>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68" name="Google Shape;768;p74"/>
          <p:cNvSpPr/>
          <p:nvPr/>
        </p:nvSpPr>
        <p:spPr>
          <a:xfrm>
            <a:off x="484560" y="5756959"/>
            <a:ext cx="8276625"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have you resolved a disagreement in math class?</a:t>
            </a:r>
            <a:endParaRPr b="0" i="0" sz="2600" u="none" cap="none" strike="noStrike">
              <a:solidFill>
                <a:srgbClr val="595959"/>
              </a:solidFill>
              <a:latin typeface="Arial"/>
              <a:ea typeface="Arial"/>
              <a:cs typeface="Arial"/>
              <a:sym typeface="Arial"/>
            </a:endParaRPr>
          </a:p>
        </p:txBody>
      </p:sp>
      <p:pic>
        <p:nvPicPr>
          <p:cNvPr descr="A picture containing text, building, brick&#10;&#10;Description automatically generated" id="769" name="Google Shape;769;p74"/>
          <p:cNvPicPr preferRelativeResize="0"/>
          <p:nvPr/>
        </p:nvPicPr>
        <p:blipFill rotWithShape="1">
          <a:blip r:embed="rId3">
            <a:alphaModFix/>
          </a:blip>
          <a:srcRect b="0" l="0" r="0" t="0"/>
          <a:stretch/>
        </p:blipFill>
        <p:spPr>
          <a:xfrm>
            <a:off x="5853744" y="1285238"/>
            <a:ext cx="5940000" cy="3960000"/>
          </a:xfrm>
          <a:prstGeom prst="rect">
            <a:avLst/>
          </a:prstGeom>
          <a:noFill/>
          <a:ln>
            <a:noFill/>
          </a:ln>
        </p:spPr>
      </p:pic>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49</a:t>
            </a:r>
          </a:p>
        </p:txBody>
      </p:sp>
      <p:sp xmlns:p="http://schemas.openxmlformats.org/presentationml/2006/main" xmlns:a="http://schemas.openxmlformats.org/drawingml/2006/main">
        <p:nvSpPr>
          <p:cNvPr id="770" name="TEACH-embedded-student-prompt" descr="Student thinking and response directions"/>
          <p:cNvSpPr txBox="1"/>
          <p:nvPr/>
        </p:nvSpPr>
        <p:spPr>
          <a:xfrm>
            <a:off x="594360" y="363931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74" name="Google Shape;974;p95"/>
          <p:cNvSpPr txBox="1"/>
          <p:nvPr/>
        </p:nvSpPr>
        <p:spPr>
          <a:xfrm>
            <a:off x="484565" y="434021"/>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75" name="Google Shape;975;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6" name="Google Shape;976;p95"/>
          <p:cNvSpPr txBox="1"/>
          <p:nvPr/>
        </p:nvSpPr>
        <p:spPr>
          <a:xfrm>
            <a:off x="484565" y="1178250"/>
            <a:ext cx="8895918" cy="2637005"/>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write inequalities to represent a real-world or mathematical problem.</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 can use repeated reasoning to understand ways that problems can be represented by inequalities.</a:t>
            </a:r>
            <a:endParaRPr b="0" i="0" sz="1400" u="none" cap="none" strike="noStrike">
              <a:solidFill>
                <a:srgbClr val="000000"/>
              </a:solidFill>
              <a:latin typeface="Arial"/>
              <a:ea typeface="Arial"/>
              <a:cs typeface="Arial"/>
              <a:sym typeface="Arial"/>
            </a:endParaRPr>
          </a:p>
        </p:txBody>
      </p:sp>
      <p:sp>
        <p:nvSpPr>
          <p:cNvPr id="31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49</a:t>
            </a:r>
          </a:p>
        </p:txBody>
      </p:sp>
      <p:sp xmlns:p="http://schemas.openxmlformats.org/presentationml/2006/main" xmlns:a="http://schemas.openxmlformats.org/drawingml/2006/main">
        <p:nvSpPr>
          <p:cNvPr id="97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8.4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Translate a constraint.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49</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49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JUSTIFY IT  ·  </a:t>
            </a:r>
            <a:r>
              <a:rPr lang="en-US" sz="2000" b="0" dirty="0">
                <a:solidFill>
                  <a:srgbClr val="13303A"/>
                </a:solidFill>
                <a:latin typeface="Arial"/>
              </a:rPr>
              <a:t>Say it like this: “I know ______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6-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28 / 49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49</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8-4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49</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8.4 — Write and Represent Inequalities</dc:title>
  <dc:creator>Neft Teacher</dc:creator>
  <cp:lastModifiedBy>Neft Teacher</cp:lastModifiedBy>
  <dcterms:created xsi:type="dcterms:W3CDTF">2026-09-30T12:04:43Z</dcterms:created>
  <dcterms:modified xsi:type="dcterms:W3CDTF">2026-09-30T12:04:43Z</dcterms:modified>
</cp:coreProperties>
</file>