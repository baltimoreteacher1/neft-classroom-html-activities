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The median (32.5) is the better measure. The value 5 is an outlier (the player was injured that game) that pulls the mean down to 28.2, which is lower than any of the player's healthy games. The median (32.5) better represents typical minutes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Appropriate Measures</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6.SP.5d</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8-4</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choose the best measure of center for a data set based on its shape.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choice using the words mean, median, outlier, and skewed.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Stats Report Decision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The league is creating awards for the season. For the scoring title, they need to pick the best measure of a typical game. Here are the top scorer's points per game: 22, 24, 20, 25, 23, 21, 58. That 58-point game was a record-breaker! Should the league report the mean (27.6) or the median (23) as the player's typical scoring?</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does the 58-point game compare to the other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is the mean? What is the median?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measure is closer to what this player usually scores?</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When does an outlier make the mean misleading?</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a rule for when to use mean vs. median?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average. Add all the numbers, then divide by how many there are.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promedio. Suma todos los números y divide entre cuántos hay.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Mean of 10, 20, 30 = (10+20+30) ÷ 3 = 20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Median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Mediana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middle number when you put them in order.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número del medio cuando los pones en orden.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5, 8, 12, 15, 20 → median is 12 (the 3rd of 5 values)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Outlier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atípico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that is much bigger or smaller than the rest.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mucho mayor o menor que los demás.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12, 14, 13, 15, 45 → 45 is far from the cluster, so it is an outlier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Skewed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Sesgado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When most data sits on one side with a tail on the other.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Cuando la mayoría de los datos está de un lado con una cola del otro.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Scores: 5, 6, 7, 8, 8, 35 → most scores are low, but 35 creates a tail to the right (skewed 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Symmetric = even on both sides. Skewed = bunched on one side with a tail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Skewed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Most values low with a few very high values  </a:t>
            </a:r>
            <a:pPr indent="0" marL="0">
              <a:buNone/>
            </a:pPr>
            <a:r>
              <a:rPr lang="en-US" sz="800" dirty="0">
                <a:solidFill>
                  <a:srgbClr val="24323F"/>
                </a:solidFill>
                <a:latin typeface="Hanken Grotesk" pitchFamily="34" charset="0"/>
                <a:ea typeface="Hanken Grotesk" pitchFamily="34" charset="-122"/>
                <a:cs typeface="Hanken Grotesk" pitchFamily="34" charset="-120"/>
              </a:rPr>
              <a:t>The data has a tail, so it is skewed.</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Values spread evenly around the center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symmetric, not skewed.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Should I use the mean or the median?</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Data set A: 4, 5, 6, 7, 8. Are there any outliers? If not, which measure should we use, mean or median?</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Data set B: 4, 5, 6, 7, 40. Which value is an outlier here?</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For data set B, would the outlier pull the mean up or down? So which measure best shows a typical value?</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top scorer's points were 22, 24, 20, 25, 23, 21, 58. The mean is 27.6 but the median is 23. Which should the league report as the 'typical' game, and why?</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Use the mean for data with no outliers; use the median when an outlier or a skewed shape would pull the mean away from typical.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Sort each sports data scenario into the correct category: Use Mean or Use Median.</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Basketball: Points per game — 18, 20, 19, 22, 21, 20 (no outliers, symmetric)</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Baseball: Home runs — 2, 3, 1, 2, 3, 2, 25 (one player hit 25)</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Soccer: Goals per season — 8, 10, 9, 11, 7, 10, 9 (clustered together)</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Football: Rushing yards — 45, 52, 48, 50, 210 (one breakout game)</a:t>
            </a:r>
            <a:endParaRPr lang="en-US" sz="900" dirty="0"/>
          </a:p>
        </p:txBody>
      </p:sp>
      <p:sp>
        <p:nvSpPr>
          <p:cNvPr id="28" name="Shape 26"/>
          <p:cNvSpPr/>
          <p:nvPr/>
        </p:nvSpPr>
        <p:spPr>
          <a:xfrm>
            <a:off x="236220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245364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Swimming: 100m times — 58s, 59s, 57s, 60s, 58s (consistent data)</a:t>
            </a:r>
            <a:endParaRPr lang="en-US" sz="900" dirty="0"/>
          </a:p>
        </p:txBody>
      </p:sp>
      <p:sp>
        <p:nvSpPr>
          <p:cNvPr id="30" name="Shape 28"/>
          <p:cNvSpPr/>
          <p:nvPr/>
        </p:nvSpPr>
        <p:spPr>
          <a:xfrm>
            <a:off x="413004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22148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Track: Long jump — 12ft, 13ft, 11ft, 14ft, 42ft (one record jump)</a:t>
            </a:r>
            <a:endParaRPr lang="en-US" sz="900" dirty="0"/>
          </a:p>
        </p:txBody>
      </p:sp>
      <p:sp>
        <p:nvSpPr>
          <p:cNvPr id="32" name="Shape 30"/>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Use Mean</a:t>
            </a:r>
            <a:endParaRPr lang="en-US" sz="950" dirty="0"/>
          </a:p>
        </p:txBody>
      </p:sp>
      <p:sp>
        <p:nvSpPr>
          <p:cNvPr id="34" name="Shape 32"/>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Use Median</a:t>
            </a:r>
            <a:endParaRPr lang="en-US" sz="950" dirty="0"/>
          </a:p>
        </p:txBody>
      </p:sp>
      <p:sp>
        <p:nvSpPr>
          <p:cNvPr id="36" name="Shape 34"/>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7" name="Text 35"/>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8" name="Text 36"/>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you sort scenarios into 'Use Mean' or 'Use Median,' what clue tells you a data set needs the median instead of the mean?</a:t>
            </a:r>
            <a:endParaRPr lang="en-US" sz="1000" dirty="0"/>
          </a:p>
        </p:txBody>
      </p:sp>
      <p:sp>
        <p:nvSpPr>
          <p:cNvPr id="39" name="Shape 37"/>
          <p:cNvSpPr/>
          <p:nvPr/>
        </p:nvSpPr>
        <p:spPr>
          <a:xfrm>
            <a:off x="6217920" y="2743200"/>
            <a:ext cx="2423160" cy="0"/>
          </a:xfrm>
          <a:prstGeom prst="line">
            <a:avLst/>
          </a:prstGeom>
          <a:noFill/>
          <a:ln w="9525">
            <a:solidFill>
              <a:srgbClr val="C7CDD2"/>
            </a:solidFill>
            <a:prstDash val="dash"/>
          </a:ln>
        </p:spPr>
      </p:sp>
      <p:sp>
        <p:nvSpPr>
          <p:cNvPr id="40" name="Shape 38"/>
          <p:cNvSpPr/>
          <p:nvPr/>
        </p:nvSpPr>
        <p:spPr>
          <a:xfrm>
            <a:off x="6217920" y="3072384"/>
            <a:ext cx="2423160" cy="0"/>
          </a:xfrm>
          <a:prstGeom prst="line">
            <a:avLst/>
          </a:prstGeom>
          <a:noFill/>
          <a:ln w="9525">
            <a:solidFill>
              <a:srgbClr val="C7CDD2"/>
            </a:solidFill>
            <a:prstDash val="dash"/>
          </a:ln>
        </p:spPr>
      </p:sp>
      <p:sp>
        <p:nvSpPr>
          <p:cNvPr id="41" name="Shape 39"/>
          <p:cNvSpPr/>
          <p:nvPr/>
        </p:nvSpPr>
        <p:spPr>
          <a:xfrm>
            <a:off x="6217920" y="3401568"/>
            <a:ext cx="2423160" cy="0"/>
          </a:xfrm>
          <a:prstGeom prst="line">
            <a:avLst/>
          </a:prstGeom>
          <a:noFill/>
          <a:ln w="9525">
            <a:solidFill>
              <a:srgbClr val="C7CDD2"/>
            </a:solidFill>
            <a:prstDash val="dash"/>
          </a:ln>
        </p:spPr>
      </p:sp>
      <p:sp>
        <p:nvSpPr>
          <p:cNvPr id="42" name="Shape 40"/>
          <p:cNvSpPr/>
          <p:nvPr/>
        </p:nvSpPr>
        <p:spPr>
          <a:xfrm>
            <a:off x="6217920" y="3730752"/>
            <a:ext cx="2423160" cy="0"/>
          </a:xfrm>
          <a:prstGeom prst="line">
            <a:avLst/>
          </a:prstGeom>
          <a:noFill/>
          <a:ln w="9525">
            <a:solidFill>
              <a:srgbClr val="C7CDD2"/>
            </a:solidFill>
            <a:prstDash val="dash"/>
          </a:ln>
        </p:spPr>
      </p:sp>
      <p:sp>
        <p:nvSpPr>
          <p:cNvPr id="43" name="Shape 41"/>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Reasoning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a:t>
            </a:r>
            <a:pPr indent="0" marL="0">
              <a:buNone/>
            </a:pPr>
            <a:r>
              <a:rPr lang="en-US" sz="950" b="1" dirty="0">
                <a:solidFill>
                  <a:srgbClr val="24323F"/>
                </a:solidFill>
                <a:latin typeface="Courier New" pitchFamily="34" charset="0"/>
                <a:ea typeface="Courier New" pitchFamily="34" charset="-122"/>
                <a:cs typeface="Courier New" pitchFamily="34" charset="-120"/>
              </a:rPr>
              <a:t>Player minutes per game: 32, 34, 30, 35, 33, 5</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mean:  </a:t>
            </a:r>
            <a:pPr indent="0" marL="0">
              <a:buNone/>
            </a:pPr>
            <a:r>
              <a:rPr lang="en-US" sz="950" b="1" dirty="0">
                <a:solidFill>
                  <a:srgbClr val="24323F"/>
                </a:solidFill>
                <a:latin typeface="Courier New" pitchFamily="34" charset="0"/>
                <a:ea typeface="Courier New" pitchFamily="34" charset="-122"/>
                <a:cs typeface="Courier New" pitchFamily="34" charset="-120"/>
              </a:rPr>
              <a:t>Sum = 169, Count = 6, Mean = 28.2</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median:  </a:t>
            </a:r>
            <a:pPr indent="0" marL="0">
              <a:buNone/>
            </a:pPr>
            <a:r>
              <a:rPr lang="en-US" sz="950" b="1" dirty="0">
                <a:solidFill>
                  <a:srgbClr val="24323F"/>
                </a:solidFill>
                <a:latin typeface="Courier New" pitchFamily="34" charset="0"/>
                <a:ea typeface="Courier New" pitchFamily="34" charset="-122"/>
                <a:cs typeface="Courier New" pitchFamily="34" charset="-120"/>
              </a:rPr>
              <a:t>Ordered: 5, 30, 32, 33, 34, 35 → Median = (32+33) ÷ 2 = 32.5</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Conclusion:  </a:t>
            </a:r>
            <a:pPr indent="0" marL="0">
              <a:buNone/>
            </a:pPr>
            <a:r>
              <a:rPr lang="en-US" sz="950" b="1" dirty="0">
                <a:solidFill>
                  <a:srgbClr val="24323F"/>
                </a:solidFill>
                <a:latin typeface="Courier New" pitchFamily="34" charset="0"/>
                <a:ea typeface="Courier New" pitchFamily="34" charset="-122"/>
                <a:cs typeface="Courier New" pitchFamily="34" charset="-120"/>
              </a:rPr>
              <a:t>The mean (28.2) is the best measure because it uses all the data.</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the top scorer's points: 22, 24, 20, 25, 23, 21, 58. I notice 58 is much bigger than the rest, so it is an outlier.</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Mean: 22 + 24 + 20 + 25 + 23 + 21 + 58 = 193, then 193 ÷ 7 ≈ 27.6.</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Median: in order they are 20, 21, 22, 23, 24, 25, 58. The middle (4th) value is 23.</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 mean (27.6) is higher than 6 of the 7 games because 58 pulled it up. So the median (23) better shows a typical game.</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Mean and Median.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"Use the mean for data with no outliers; use the median when an outlier or a skewed shape would pull the mean away from typical."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Mean,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baseball player's batting averages over 6 seasons are: .280, .295, .290, .285, .300, .110. The .110 was an injury-shortened season. Which measure better represents the player's typical batting average?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Match the reason with whether to use mean or median.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gymnast's scores are: 8.5, 8.8, 8.7, 8.6, 8.9. There are no outliers. Which measure best represents a typical score?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reporter writes 'the average playoff ticket is $85,' but prices are $45, $50, $48, $52, $55, $260. Is $85 a fair 'typical' price? What measure should the reporter use?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"Use the mean for data with no outliers; use the median when an outlier or a skewed shape would pull the mean away from typical."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Mean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Mean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Data set: 15, 18, 16, 17, 15, 72. Which measure of center best represents the data?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Median, because 72 is an outlier</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Mean, because it uses all values</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Mean, because it is always best</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Neither works for this data</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6.SP.5d</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8-4</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choose the best measure of center for a data set based on its shape.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8-4: Appropriate Measures</dc:title>
  <dc:subject>6.SP.5d</dc:subject>
  <dc:creator>Neft Teacher</dc:creator>
  <cp:lastModifiedBy>Neft Teacher</cp:lastModifiedBy>
  <cp:revision>1</cp:revision>
  <dcterms:created xsi:type="dcterms:W3CDTF">2026-06-08T12:10:58Z</dcterms:created>
  <dcterms:modified xsi:type="dcterms:W3CDTF">2026-06-08T12:10:58Z</dcterms:modified>
</cp:coreProperties>
</file>