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7" r:id="rId21"/>
    <p:sldId id="268" r:id="rId22"/>
    <p:sldId id="256" r:id="rId10"/>
    <p:sldId id="257" r:id="rId11"/>
    <p:sldId id="260" r:id="rId14"/>
    <p:sldId id="333" r:id="rId77"/>
    <p:sldId id="332" r:id="rId47"/>
    <p:sldId id="331" r:id="rId46"/>
    <p:sldId id="330" r:id="rId45"/>
    <p:sldId id="329" r:id="rId32"/>
    <p:sldId id="328" r:id="rId33"/>
    <p:sldId id="261" r:id="rId15"/>
    <p:sldId id="270" r:id="rId24"/>
    <p:sldId id="272" r:id="rId26"/>
    <p:sldId id="273" r:id="rId27"/>
    <p:sldId id="281" r:id="rId35"/>
    <p:sldId id="283" r:id="rId37"/>
    <p:sldId id="285" r:id="rId39"/>
    <p:sldId id="287" r:id="rId41"/>
    <p:sldId id="289" r:id="rId43"/>
    <p:sldId id="334" r:id="rId78"/>
    <p:sldId id="327" r:id="rId42"/>
    <p:sldId id="321" r:id="rId75"/>
    <p:sldId id="337" r:id="rId81"/>
    <p:sldId id="322" r:id="rId76"/>
    <p:sldId id="290" r:id="rId44"/>
    <p:sldId id="296" r:id="rId50"/>
    <p:sldId id="297" r:id="rId51"/>
    <p:sldId id="307" r:id="rId61"/>
    <p:sldId id="309" r:id="rId63"/>
    <p:sldId id="338" r:id="rId82"/>
    <p:sldId id="314" r:id="rId68"/>
    <p:sldId id="316" r:id="rId70"/>
    <p:sldId id="317" r:id="rId71"/>
    <p:sldId id="335" r:id="rId79"/>
    <p:sldId id="326" r:id="rId34"/>
    <p:sldId id="325" r:id="rId40"/>
    <p:sldId id="324" r:id="rId36"/>
    <p:sldId id="339" r:id="rId83"/>
    <p:sldId id="318" r:id="rId72"/>
    <p:sldId id="319" r:id="rId73"/>
    <p:sldId id="340" r:id="rId84"/>
    <p:sldId id="320" r:id="rId74"/>
    <p:sldId id="323" r:id="rId38"/>
    <p:sldId id="336" r:id="rId80"/>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720992-DD3E-42AB-A9E2-FC60245CCD62}">
  <a:tblStyle styleId="{7F720992-DD3E-42AB-A9E2-FC60245CCD62}"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b="off" i="off"/>
    </a:band2H>
    <a:band1V>
      <a:tcTxStyle b="off"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b="off"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3.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35.xml"/><Relationship Id="rId35" Type="http://schemas.openxmlformats.org/officeDocument/2006/relationships/slide" Target="slides/slide17.xml"/><Relationship Id="rId36" Type="http://schemas.openxmlformats.org/officeDocument/2006/relationships/slide" Target="slides/slide37.xml"/><Relationship Id="rId37" Type="http://schemas.openxmlformats.org/officeDocument/2006/relationships/slide" Target="slides/slide18.xml"/><Relationship Id="rId38" Type="http://schemas.openxmlformats.org/officeDocument/2006/relationships/slide" Target="slides/slide41.xml"/><Relationship Id="rId39" Type="http://schemas.openxmlformats.org/officeDocument/2006/relationships/slide" Target="slides/slide19.xml"/><Relationship Id="rId40" Type="http://schemas.openxmlformats.org/officeDocument/2006/relationships/slide" Target="slides/slide36.xml"/><Relationship Id="rId41" Type="http://schemas.openxmlformats.org/officeDocument/2006/relationships/slide" Target="slides/slide20.xml"/><Relationship Id="rId42" Type="http://schemas.openxmlformats.org/officeDocument/2006/relationships/slide" Target="slides/slide23.xml"/><Relationship Id="rId43" Type="http://schemas.openxmlformats.org/officeDocument/2006/relationships/slide" Target="slides/slide21.xml"/><Relationship Id="rId44" Type="http://schemas.openxmlformats.org/officeDocument/2006/relationships/slide" Target="slides/slide26.xml"/><Relationship Id="rId45" Type="http://schemas.openxmlformats.org/officeDocument/2006/relationships/slide" Target="slides/slide10.xml"/><Relationship Id="rId46" Type="http://schemas.openxmlformats.org/officeDocument/2006/relationships/slide" Target="slides/slide9.xml"/><Relationship Id="rId47" Type="http://schemas.openxmlformats.org/officeDocument/2006/relationships/slide" Target="slides/slide8.xml"/><Relationship Id="rId50" Type="http://schemas.openxmlformats.org/officeDocument/2006/relationships/slide" Target="slides/slide27.xml"/><Relationship Id="rId51" Type="http://schemas.openxmlformats.org/officeDocument/2006/relationships/slide" Target="slides/slide28.xml"/><Relationship Id="rId61" Type="http://schemas.openxmlformats.org/officeDocument/2006/relationships/slide" Target="slides/slide29.xml"/><Relationship Id="rId63" Type="http://schemas.openxmlformats.org/officeDocument/2006/relationships/slide" Target="slides/slide30.xml"/><Relationship Id="rId68" Type="http://schemas.openxmlformats.org/officeDocument/2006/relationships/slide" Target="slides/slide31.xml"/><Relationship Id="rId70" Type="http://schemas.openxmlformats.org/officeDocument/2006/relationships/slide" Target="slides/slide32.xml"/><Relationship Id="rId71" Type="http://schemas.openxmlformats.org/officeDocument/2006/relationships/slide" Target="slides/slide33.xml"/><Relationship Id="rId72" Type="http://schemas.openxmlformats.org/officeDocument/2006/relationships/slide" Target="slides/slide38.xml"/><Relationship Id="rId73" Type="http://schemas.openxmlformats.org/officeDocument/2006/relationships/slide" Target="slides/slide39.xml"/><Relationship Id="rId74" Type="http://schemas.openxmlformats.org/officeDocument/2006/relationships/slide" Target="slides/slide40.xml"/><Relationship Id="rId75" Type="http://schemas.openxmlformats.org/officeDocument/2006/relationships/slide" Target="slides/slide24.xml"/><Relationship Id="rId76" Type="http://schemas.openxmlformats.org/officeDocument/2006/relationships/slide" Target="slides/slide25.xml"/><Relationship Id="rId77" Type="http://schemas.openxmlformats.org/officeDocument/2006/relationships/slide" Target="slides/slide7.xml"/><Relationship Id="rId78" Type="http://schemas.openxmlformats.org/officeDocument/2006/relationships/slide" Target="slides/slide22.xml"/><Relationship Id="rId79" Type="http://schemas.openxmlformats.org/officeDocument/2006/relationships/slide" Target="slides/slide34.xml"/><Relationship Id="rId80" Type="http://schemas.openxmlformats.org/officeDocument/2006/relationships/slide" Target="slides/slide42.xml"/><Relationship Id="rId81" Type="http://schemas.openxmlformats.org/officeDocument/2006/relationships/slide" Target="slides/slide43.xml"/><Relationship Id="rId82" Type="http://schemas.openxmlformats.org/officeDocument/2006/relationships/slide" Target="slides/slide44.xml"/><Relationship Id="rId83" Type="http://schemas.openxmlformats.org/officeDocument/2006/relationships/slide" Target="slides/slide45.xml"/><Relationship Id="rId84"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4 | DIVIDER</a:t>
            </a:r>
          </a:p>
          <a:p xmlns:a="http://schemas.openxmlformats.org/drawingml/2006/main">
            <a:pPr>
              <a:buNone/>
            </a:pPr>
            <a:r>
              <a:rPr lang="en-US" sz="1100"/>
              <a:t>Focus on the existing task: Explore Numerical Expressions with Exponents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5 | WORKED</a:t>
            </a:r>
          </a:p>
          <a:p xmlns:a="http://schemas.openxmlformats.org/drawingml/2006/main">
            <a:pPr>
              <a:buNone/>
            </a:pPr>
            <a:r>
              <a:rPr lang="en-US" sz="1100"/>
              <a:t>Focus on the existing task: Or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 | WARMUP</a:t>
            </a:r>
          </a:p>
          <a:p xmlns:a="http://schemas.openxmlformats.org/drawingml/2006/main">
            <a:pPr>
              <a:buNone/>
            </a:pPr>
            <a:r>
              <a:rPr lang="en-US" sz="1100"/>
              <a:t>Focus on the existing task: Warm-Up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8   2) 36   3) 1,000   4) 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distinguish base and exponent; expand repeated factors; evaluate the power. Review recent work and today’s warm-up to choose flexible groups and access supports; do not infer needs from identity or perceived ability. Use the existing lesson tasks and stated standards.</a:t>
            </a:r>
          </a:p>
          <a:p>
            <a:pPr>
              <a:buNone/>
            </a:pPr>
            <a:r>
              <a:rPr lang="en-US" sz="1100"/>
              <a:t>Anticipate: multiplying the base by the exponent. If observed, expand the original power as repeated multiplication before calculating.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6 | GOAL</a:t>
            </a:r>
          </a:p>
          <a:p xmlns:a="http://schemas.openxmlformats.org/drawingml/2006/main">
            <a:pPr>
              <a:buNone/>
            </a:pPr>
            <a:r>
              <a:rPr lang="en-US" sz="1100"/>
              <a:t>Focus on the existing task: Today’s Objectives Explore Numerical…</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distinguish base and exponent; expand repeated factors; evaluate the power. Ask: “Which part of your work would show this?” Revisit that evidence after the task; a confidence rating alone is not evidence of understanding.</a:t>
            </a:r>
          </a:p>
        </p:txBody>
      </p:sp>
      <p:sp>
        <p:nvSpPr>
          <p:cNvPr id="331" name="Google Shape;331;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13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3" name="Google Shape;353;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74" name="Google Shape;474;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 | NOTES</a:t>
            </a:r>
          </a:p>
          <a:p xmlns:a="http://schemas.openxmlformats.org/drawingml/2006/main">
            <a:pPr>
              <a:buNone/>
            </a:pPr>
            <a:r>
              <a:rPr lang="en-US" sz="1100"/>
              <a:t>Focus on the existing task: Today’s Math Notes Section 2: Today’s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2" name="Google Shape;502;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14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38" name="Google Shape;538;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15 | REVEAL</a:t>
            </a:r>
          </a:p>
          <a:p xmlns:a="http://schemas.openxmlformats.org/drawingml/2006/main">
            <a:pPr>
              <a:buNone/>
            </a:pPr>
            <a:r>
              <a:rPr lang="en-US" sz="1100"/>
              <a:t>Focus on the existing task: How are these two expressions different?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many factors does the exponent tell you to write, and what is each factor?” Wait for evidence, invite another pathway, and have a student ask a follow-up question. Do not replace students’ reasoning with a sequence of leading steps.</a:t>
            </a:r>
          </a:p>
        </p:txBody>
      </p:sp>
      <p:sp>
        <p:nvSpPr>
          <p:cNvPr id="557" name="Google Shape;557;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16 | REVEAL</a:t>
            </a:r>
          </a:p>
          <a:p xmlns:a="http://schemas.openxmlformats.org/drawingml/2006/main">
            <a:pPr>
              <a:buNone/>
            </a:pPr>
            <a:r>
              <a:rPr lang="en-US" sz="1100"/>
              <a:t>Focus on the existing task: How are these two expressions different?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four 5s in each expression. One expression uses addition, and the other uses multiplication.</a:t>
            </a:r>
          </a:p>
          <a:p>
            <a:pPr indent="0" lvl="0" marL="0" rtl="0" algn="l">
              <a:lnSpc>
                <a:spcPct val="100000"/>
              </a:lnSpc>
              <a:spcBef>
                <a:spcPts val="0"/>
              </a:spcBef>
              <a:spcAft>
                <a:spcPts val="0"/>
              </a:spcAft>
              <a:buSzPts val="1400"/>
              <a:buNone/>
            </a:pPr>
            <a:r>
              <a:t>UIFR: TEACH 3 · TEACH 4.</a:t>
            </a:r>
          </a:p>
        </p:txBody>
      </p:sp>
      <p:sp>
        <p:nvSpPr>
          <p:cNvPr id="566" name="Google Shape;566;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17 | TASK</a:t>
            </a:r>
          </a:p>
          <a:p xmlns:a="http://schemas.openxmlformats.org/drawingml/2006/main">
            <a:pPr>
              <a:buNone/>
            </a:pPr>
            <a:r>
              <a:rPr lang="en-US" sz="1100"/>
              <a:t>Focus on the existing task: Think About It: Where have you seen repeated multiplication before?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expand repeated factors.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31" name="Google Shape;631;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18 | REVEAL</a:t>
            </a:r>
          </a:p>
          <a:p xmlns:a="http://schemas.openxmlformats.org/drawingml/2006/main">
            <a:pPr>
              <a:buNone/>
            </a:pPr>
            <a:r>
              <a:rPr lang="en-US" sz="1100"/>
              <a:t>Focus on the existing task: How can you rewrite the repeated multiplication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rewrite the expression using an exponent, 5 4 .</a:t>
            </a:r>
          </a:p>
          <a:p>
            <a:pPr indent="0" lvl="0" marL="0" rtl="0" algn="l">
              <a:lnSpc>
                <a:spcPct val="100000"/>
              </a:lnSpc>
              <a:spcBef>
                <a:spcPts val="0"/>
              </a:spcBef>
              <a:spcAft>
                <a:spcPts val="0"/>
              </a:spcAft>
              <a:buSzPts val="1400"/>
              <a:buNone/>
            </a:pPr>
            <a:r>
              <a:t>UIFR: TEACH 3 · TEACH 4.</a:t>
            </a:r>
          </a:p>
        </p:txBody>
      </p:sp>
      <p:sp>
        <p:nvSpPr>
          <p:cNvPr id="648" name="Google Shape;648;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19 | TASK</a:t>
            </a:r>
          </a:p>
          <a:p xmlns:a="http://schemas.openxmlformats.org/drawingml/2006/main">
            <a:pPr>
              <a:buNone/>
            </a:pPr>
            <a:r>
              <a:rPr lang="en-US" sz="1100"/>
              <a:t>Focus on the existing task: How can you be sure you have understood the argument presented?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67" name="Google Shape;667;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20 | COLLABORATE</a:t>
            </a:r>
          </a:p>
          <a:p xmlns:a="http://schemas.openxmlformats.org/drawingml/2006/main">
            <a:pPr>
              <a:buNone/>
            </a:pPr>
            <a:r>
              <a:rPr lang="en-US" sz="1100"/>
              <a:t>Focus on the existing task: What is another power of 5?</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multiplying the base by the exponent. If it appears, expand the original power as repeated multiplication before calculating; then ask the student to revise the same response and explain the change. If evidence is secure, have students compare a second valid pathway or state why their approach works. Choose the next step from the responses, not a preset pace.</a:t>
            </a:r>
          </a:p>
        </p:txBody>
      </p:sp>
      <p:sp>
        <p:nvSpPr>
          <p:cNvPr id="687" name="Google Shape;687;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21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05" name="Google Shape;705;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26 | DIVIDER</a:t>
            </a:r>
          </a:p>
          <a:p xmlns:a="http://schemas.openxmlformats.org/drawingml/2006/main">
            <a:pPr>
              <a:buNone/>
            </a:pPr>
            <a:r>
              <a:rPr lang="en-US" sz="1100"/>
              <a:t>Focus on the existing task: Explore Numerical Expressions with Exponents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11" name="Google Shape;711;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27 | REVEAL</a:t>
            </a:r>
          </a:p>
          <a:p xmlns:a="http://schemas.openxmlformats.org/drawingml/2006/main">
            <a:pPr>
              <a:buNone/>
            </a:pPr>
            <a:r>
              <a:rPr lang="en-US" sz="1100"/>
              <a:t>Focus on the existing task: This expression represents 1.5 to the third power. What operation is represented by the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765" name="Google Shape;765;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28 | REVEAL</a:t>
            </a:r>
          </a:p>
          <a:p xmlns:a="http://schemas.openxmlformats.org/drawingml/2006/main">
            <a:pPr>
              <a:buNone/>
            </a:pPr>
            <a:r>
              <a:rPr lang="en-US" sz="1100"/>
              <a:t>Focus on the existing task: This expression represents 1.5 to the third power. What operation is represented by the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expand repeated factors.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represents multiplication because a power represents repeated multiplication.</a:t>
            </a:r>
          </a:p>
          <a:p>
            <a:pPr indent="0" lvl="0" marL="0" rtl="0" algn="l">
              <a:lnSpc>
                <a:spcPct val="100000"/>
              </a:lnSpc>
              <a:spcBef>
                <a:spcPts val="0"/>
              </a:spcBef>
              <a:spcAft>
                <a:spcPts val="0"/>
              </a:spcAft>
              <a:buSzPts val="1400"/>
              <a:buNone/>
            </a:pPr>
            <a:r>
              <a:t>UIFR: TEACH 3 · TEACH 4.</a:t>
            </a:r>
          </a:p>
        </p:txBody>
      </p:sp>
      <p:sp>
        <p:nvSpPr>
          <p:cNvPr id="774" name="Google Shape;774;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29 | REVEAL</a:t>
            </a:r>
          </a:p>
          <a:p xmlns:a="http://schemas.openxmlformats.org/drawingml/2006/main">
            <a:pPr>
              <a:buNone/>
            </a:pPr>
            <a:r>
              <a:rPr lang="en-US" sz="1100"/>
              <a:t>Focus on the existing task: Let’s look at another way to find the value of the expression 1.5 3. Powers of 1.5 include 1.5 1, 1.5 2, 1.5 3, etc. How can you organize the powers of 1.5?</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 table.</a:t>
            </a:r>
          </a:p>
          <a:p>
            <a:pPr indent="0" lvl="0" marL="0" rtl="0" algn="l">
              <a:lnSpc>
                <a:spcPct val="100000"/>
              </a:lnSpc>
              <a:spcBef>
                <a:spcPts val="0"/>
              </a:spcBef>
              <a:spcAft>
                <a:spcPts val="0"/>
              </a:spcAft>
              <a:buSzPts val="1400"/>
              <a:buNone/>
            </a:pPr>
            <a:r>
              <a:t>UIFR: TEACH 3 · TEACH 4.</a:t>
            </a:r>
          </a:p>
        </p:txBody>
      </p:sp>
      <p:sp>
        <p:nvSpPr>
          <p:cNvPr id="857" name="Google Shape;857;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30 | REVEAL</a:t>
            </a:r>
          </a:p>
          <a:p xmlns:a="http://schemas.openxmlformats.org/drawingml/2006/main">
            <a:pPr>
              <a:buNone/>
            </a:pPr>
            <a:r>
              <a:rPr lang="en-US" sz="1100"/>
              <a:t>Focus on the existing task: Let’s use a table of values to organize powers of 1.5. How can you find the value of each power?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multiply the previous value in the table by 1.5 to find the next value in the table.</a:t>
            </a:r>
          </a:p>
          <a:p>
            <a:pPr indent="0" lvl="0" marL="0" rtl="0" algn="l">
              <a:lnSpc>
                <a:spcPct val="100000"/>
              </a:lnSpc>
              <a:spcBef>
                <a:spcPts val="0"/>
              </a:spcBef>
              <a:spcAft>
                <a:spcPts val="0"/>
              </a:spcAft>
              <a:buSzPts val="1400"/>
              <a:buNone/>
            </a:pPr>
            <a:r>
              <a:t>UIFR: TEACH 3 · TEACH 4.</a:t>
            </a:r>
          </a:p>
        </p:txBody>
      </p:sp>
      <p:sp>
        <p:nvSpPr>
          <p:cNvPr id="874" name="Google Shape;874;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31 | COLLABORATE</a:t>
            </a:r>
          </a:p>
          <a:p xmlns:a="http://schemas.openxmlformats.org/drawingml/2006/main">
            <a:pPr>
              <a:buNone/>
            </a:pPr>
            <a:r>
              <a:rPr lang="en-US" sz="1100"/>
              <a:t>Focus on the existing task: Collaborate and Connect Reveal: The value to the right is 1.5 times greater than the value to its left. Power 1.5 1 1.5 2 1.5 3 Value 1.5 2.25 3.375 How are the values in the table related?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917" name="Google Shape;917;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32 | TASK</a:t>
            </a:r>
          </a:p>
          <a:p xmlns:a="http://schemas.openxmlformats.org/drawingml/2006/main">
            <a:pPr>
              <a:buNone/>
            </a:pPr>
            <a:r>
              <a:rPr lang="en-US" sz="1100"/>
              <a:t>Focus on the existing task: What is the value of the expression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38" name="Google Shape;938;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33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50" name="Google Shape;950;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38 | SUMMARIZE</a:t>
            </a:r>
          </a:p>
          <a:p xmlns:a="http://schemas.openxmlformats.org/drawingml/2006/main">
            <a:pPr>
              <a:buNone/>
            </a:pPr>
            <a:r>
              <a:rPr lang="en-US" sz="1100"/>
              <a:t>Focus on the existing task: Summarize: Explore Numerical Expressions with Exponents You can use exponents to represent a repeated multiplication expression. An…</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56" name="Google Shape;956;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39 | APPLY</a:t>
            </a:r>
          </a:p>
          <a:p xmlns:a="http://schemas.openxmlformats.org/drawingml/2006/main">
            <a:pPr>
              <a:buNone/>
            </a:pPr>
            <a:r>
              <a:rPr lang="en-US" sz="1100"/>
              <a:t>Focus on the existing task: Question 2: What power would represent the number of bacteria after 25 hours?</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distinguish base and exponent; expand repeated factors; evaluate the power. Respond with one specific next step tied to the work. Students revise and annotate what changed, then identify a criterion they can now demonstrate and one they still need to practice.</a:t>
            </a:r>
          </a:p>
        </p:txBody>
      </p:sp>
      <p:sp>
        <p:nvSpPr>
          <p:cNvPr id="965" name="Google Shape;965;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6.3, slide 40 | REFLECTION</a:t>
            </a:r>
          </a:p>
          <a:p xmlns:a="http://schemas.openxmlformats.org/drawingml/2006/main">
            <a:pPr>
              <a:buNone/>
            </a:pPr>
            <a:r>
              <a:rPr lang="en-US" sz="1100"/>
              <a:t>Focus on the existing task: I can make use of structure to write a product of whole numbers, fractions, and decimals as a power. I can write a power as a product of…</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73" name="Google Shape;973;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6.3, slide 24 | WARMUP</a:t>
            </a:r>
          </a:p>
          <a:p xmlns:a="http://schemas.openxmlformats.org/drawingml/2006/main">
            <a:pPr>
              <a:buNone/>
            </a:pPr>
            <a:r>
              <a:rPr lang="en-US" sz="1100"/>
              <a:t>Focus on the existing task: Warm-Up Session 2 Warm-Up Check what you remember from Session 1 1 In 4³, what is the base and what is the exponent?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6.3, slide 25 | NOTES</a:t>
            </a:r>
          </a:p>
          <a:p xmlns:a="http://schemas.openxmlformats.org/drawingml/2006/main">
            <a:pPr>
              <a:buNone/>
            </a:pPr>
            <a:r>
              <a:rPr lang="en-US" sz="1100"/>
              <a:t>Focus on the existing task: Review Notes — Session 2 Session 2: Review…</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41 | CURIOUS</a:t>
            </a:r>
          </a:p>
          <a:p xmlns:a="http://schemas.openxmlformats.org/drawingml/2006/main">
            <a:pPr>
              <a:buNone/>
            </a:pPr>
            <a:r>
              <a:rPr lang="en-US" sz="1100"/>
              <a:t>Focus on the existing task: Which doesn’t belong?</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multiplying the base by the exponent.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expand the original power as repeated multiplication before calculating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7 | PRIOR_INSERT</a:t>
            </a:r>
          </a:p>
          <a:p xmlns:a="http://schemas.openxmlformats.org/drawingml/2006/main">
            <a:pPr>
              <a:buNone/>
            </a:pPr>
            <a:r>
              <a:rPr lang="en-US" sz="1100"/>
              <a:t>Focus on the existing task: LESSON 6.3 / OUR LEARNING What will show your learning?</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8 | VOCAB</a:t>
            </a:r>
          </a:p>
          <a:p xmlns:a="http://schemas.openxmlformats.org/drawingml/2006/main">
            <a:pPr>
              <a:buNone/>
            </a:pPr>
            <a:r>
              <a:rPr lang="en-US" sz="1100"/>
              <a:t>Focus on the existing task: Vocabulary 1 of 5 Powers and Exponents A…</a:t>
            </a:r>
          </a:p>
          <a:p xmlns:a="http://schemas.openxmlformats.org/drawingml/2006/main">
            <a:pPr>
              <a:buNone/>
            </a:pPr>
            <a:r>
              <a:rPr lang="en-US" sz="1100"/>
              <a:t>ASK (T1/3/5): Where does “Powers and Exponents”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9 | VOCAB</a:t>
            </a:r>
          </a:p>
          <a:p xmlns:a="http://schemas.openxmlformats.org/drawingml/2006/main">
            <a:pPr>
              <a:buNone/>
            </a:pPr>
            <a:r>
              <a:rPr lang="en-US" sz="1100"/>
              <a:t>Focus on the existing task: Vocabulary 2 of 5 Exponent A small number…</a:t>
            </a:r>
          </a:p>
          <a:p xmlns:a="http://schemas.openxmlformats.org/drawingml/2006/main">
            <a:pPr>
              <a:buNone/>
            </a:pPr>
            <a:r>
              <a:rPr lang="en-US" sz="1100"/>
              <a:t>ASK (T1/3/5): Where does “Exponent”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10 | VOCAB</a:t>
            </a:r>
          </a:p>
          <a:p xmlns:a="http://schemas.openxmlformats.org/drawingml/2006/main">
            <a:pPr>
              <a:buNone/>
            </a:pPr>
            <a:r>
              <a:rPr lang="en-US" sz="1100"/>
              <a:t>Focus on the existing task: Vocabulary 3 of 5 Base The number that gets…</a:t>
            </a:r>
          </a:p>
          <a:p xmlns:a="http://schemas.openxmlformats.org/drawingml/2006/main">
            <a:pPr>
              <a:buNone/>
            </a:pPr>
            <a:r>
              <a:rPr lang="en-US" sz="1100"/>
              <a:t>ASK (T1/3/5): Where does “Base”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11 | VOCAB</a:t>
            </a:r>
          </a:p>
          <a:p xmlns:a="http://schemas.openxmlformats.org/drawingml/2006/main">
            <a:pPr>
              <a:buNone/>
            </a:pPr>
            <a:r>
              <a:rPr lang="en-US" sz="1100"/>
              <a:t>Focus on the existing task: Vocabulary 4 of 5 Power A number written with…</a:t>
            </a:r>
          </a:p>
          <a:p xmlns:a="http://schemas.openxmlformats.org/drawingml/2006/main">
            <a:pPr>
              <a:buNone/>
            </a:pPr>
            <a:r>
              <a:rPr lang="en-US" sz="1100"/>
              <a:t>ASK (T1/3/5): Where does “Power”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12 | VOCAB</a:t>
            </a:r>
          </a:p>
          <a:p xmlns:a="http://schemas.openxmlformats.org/drawingml/2006/main">
            <a:pPr>
              <a:buNone/>
            </a:pPr>
            <a:r>
              <a:rPr lang="en-US" sz="1100"/>
              <a:t>Focus on the existing task: Vocabulary 5 of 5 Evaluate To find the value…</a:t>
            </a:r>
          </a:p>
          <a:p xmlns:a="http://schemas.openxmlformats.org/drawingml/2006/main">
            <a:pPr>
              <a:buNone/>
            </a:pPr>
            <a:r>
              <a:rPr lang="en-US" sz="1100"/>
              <a:t>ASK (T1/3/5): Where does “Evaluate”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22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23 | REVEAL</a:t>
            </a:r>
          </a:p>
          <a:p xmlns:a="http://schemas.openxmlformats.org/drawingml/2006/main">
            <a:pPr>
              <a:buNone/>
            </a:pPr>
            <a:r>
              <a:rPr lang="en-US" sz="1100"/>
              <a:t>Focus on the existing task: How can you rewrite the repeated multiplication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34 | PRIOR_INSERT</a:t>
            </a:r>
          </a:p>
          <a:p xmlns:a="http://schemas.openxmlformats.org/drawingml/2006/main">
            <a:pPr>
              <a:buNone/>
            </a:pPr>
            <a:r>
              <a:rPr lang="en-US" sz="1100"/>
              <a:t>Focus on the existing task: LESSON 6.3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35 | REVEAL</a:t>
            </a:r>
          </a:p>
          <a:p xmlns:a="http://schemas.openxmlformats.org/drawingml/2006/main">
            <a:pPr>
              <a:buNone/>
            </a:pPr>
            <a:r>
              <a:rPr lang="en-US" sz="1100"/>
              <a:t>Focus on the existing task: How can you describe the expression as a power?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36 | REVEAL</a:t>
            </a:r>
          </a:p>
          <a:p xmlns:a="http://schemas.openxmlformats.org/drawingml/2006/main">
            <a:pPr>
              <a:buNone/>
            </a:pPr>
            <a:r>
              <a:rPr lang="en-US" sz="1100"/>
              <a:t>Focus on the existing task: This expression represents multiplication. A power represents repeated multiplication. What number will be used as the factor in the related multiplication expression?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base and exponent.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37 | REVEAL</a:t>
            </a:r>
          </a:p>
          <a:p xmlns:a="http://schemas.openxmlformats.org/drawingml/2006/main">
            <a:pPr>
              <a:buNone/>
            </a:pPr>
            <a:r>
              <a:rPr lang="en-US" sz="1100"/>
              <a:t>Focus on the existing task: Let’s use a table of values to organize powers of 1.5. How can you find the value of each power?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evaluate the power. Ask which feature of their work supports the claim.</a:t>
            </a:r>
          </a:p>
          <a:p xmlns:a="http://schemas.openxmlformats.org/drawingml/2006/main">
            <a:pPr>
              <a:buNone/>
            </a:pPr>
            <a:r>
              <a:rPr lang="en-US" sz="1100"/>
              <a:t>RESPOND: If this task shows the lesson misconception—multiplying the base by the exponent—expand the original power as repeated multiplication before calculating.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6.3, slide 42 | PRIOR_INSERT</a:t>
            </a:r>
          </a:p>
          <a:p xmlns:a="http://schemas.openxmlformats.org/drawingml/2006/main">
            <a:pPr>
              <a:buNone/>
            </a:pPr>
            <a:r>
              <a:rPr lang="en-US" sz="1100"/>
              <a:t>Focus on the existing task: LESSON 6.3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distinguish base and exponent; expand repeated factors; evaluate the power.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Explore Numerical Expressions with Exponents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Explore Numerical Expressions with Exponents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png"/><Relationship Id="rId3" Type="http://schemas.openxmlformats.org/officeDocument/2006/relationships/notesSlide" Target="../notesSlides/notesSlide7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8.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7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notesSlide" Target="../notesSlides/notesSlide7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8.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6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6-3 · Explore Numerical Expressions with Exponents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2 × 2 × 2 =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6 × 6 =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10 × 10 × 10 =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In 7 × 7 × 7 × 7, the factor 7 is written ______ times</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79" name="Google Shape;479;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480" name="Google Shape;480;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2" name="Google Shape;482;p5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83" name="Google Shape;483;p5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85" name="Google Shape;485;p5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88" name="Google Shape;488;p5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Powers and Exponents</a:t>
            </a:r>
            <a:endParaRPr/>
          </a:p>
        </p:txBody>
      </p:sp>
      <p:sp>
        <p:nvSpPr>
          <p:cNvPr id="489" name="Google Shape;489;p5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a:t>
            </a:r>
            <a:r>
              <a:rPr b="1" i="0" lang="en-US" sz="1450" u="none" cap="none" strike="noStrike">
                <a:solidFill>
                  <a:srgbClr val="475569"/>
                </a:solidFill>
                <a:latin typeface="Arial"/>
                <a:ea typeface="Arial"/>
                <a:cs typeface="Arial"/>
                <a:sym typeface="Arial"/>
              </a:rPr>
              <a:t xml:space="preserve">power</a:t>
            </a:r>
            <a:r>
              <a:rPr b="0" i="0" lang="en-US" sz="1450" u="none" cap="none" strike="noStrike">
                <a:solidFill>
                  <a:srgbClr val="475569"/>
                </a:solidFill>
                <a:latin typeface="Arial"/>
                <a:ea typeface="Arial"/>
                <a:cs typeface="Arial"/>
                <a:sym typeface="Arial"/>
              </a:rPr>
              <a:t xml:space="preserve"> uses a </a:t>
            </a:r>
            <a:r>
              <a:rPr b="1" i="0" lang="en-US" sz="1450" u="none" cap="none" strike="noStrike">
                <a:solidFill>
                  <a:srgbClr val="475569"/>
                </a:solidFill>
                <a:latin typeface="Arial"/>
                <a:ea typeface="Arial"/>
                <a:cs typeface="Arial"/>
                <a:sym typeface="Arial"/>
              </a:rPr>
              <a:t xml:space="preserve">base</a:t>
            </a:r>
            <a:r>
              <a:rPr b="0" i="0" lang="en-US" sz="1450" u="none" cap="none" strike="noStrike">
                <a:solidFill>
                  <a:srgbClr val="475569"/>
                </a:solidFill>
                <a:latin typeface="Arial"/>
                <a:ea typeface="Arial"/>
                <a:cs typeface="Arial"/>
                <a:sym typeface="Arial"/>
              </a:rPr>
              <a:t xml:space="preserve"> and an exponent to show repeated</a:t>
            </a:r>
            <a:endParaRPr/>
          </a:p>
        </p:txBody>
      </p:sp>
      <p:sp>
        <p:nvSpPr>
          <p:cNvPr id="490" name="Google Shape;490;p5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93" name="Google Shape;493;p5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Exponent</a:t>
            </a:r>
            <a:endParaRPr/>
          </a:p>
        </p:txBody>
      </p:sp>
      <p:sp>
        <p:nvSpPr>
          <p:cNvPr id="494" name="Google Shape;494;p5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small number</a:t>
            </a:r>
            <a:endParaRPr/>
          </a:p>
        </p:txBody>
      </p:sp>
      <p:sp>
        <p:nvSpPr>
          <p:cNvPr id="495" name="Google Shape;495;p5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498" name="Google Shape;498;p5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Base</a:t>
            </a:r>
            <a:endParaRPr/>
          </a:p>
        </p:txBody>
      </p:sp>
      <p:sp>
        <p:nvSpPr>
          <p:cNvPr id="499" name="Google Shape;499;p5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number that gets multiplied by itself</a:t>
            </a:r>
            <a:endParaRPr/>
          </a:p>
        </p:txBody>
      </p:sp>
      <p:sp>
        <p:nvSpPr>
          <p:cNvPr id="5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46</a:t>
            </a:r>
          </a:p>
        </p:txBody>
      </p:sp>
      <p:grpSp>
        <p:nvGrpSpPr>
          <p:cNvPr id="501" name="TEACH-1-student-move" descr="TEACH 1 · Facilitate clear, standards-based content learning"/>
          <p:cNvGrpSpPr/>
          <p:nvPr/>
        </p:nvGrpSpPr>
        <p:grpSpPr>
          <a:xfrm>
            <a:off x="6187440" y="1682496"/>
            <a:ext cx="5501640" cy="594360"/>
            <a:chOff x="6187440" y="1682496"/>
            <a:chExt cx="5501640" cy="594360"/>
          </a:xfrm>
        </p:grpSpPr>
        <p:sp>
          <p:nvSpPr>
            <p:cNvPr id="502"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3"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04"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07" name="Google Shape;507;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508" name="Google Shape;508;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0" name="Google Shape;510;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11" name="Google Shape;511;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13" name="Google Shape;513;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Powers &amp; Exponents</a:t>
            </a:r>
            <a:endParaRPr/>
          </a:p>
        </p:txBody>
      </p:sp>
      <p:sp>
        <p:nvSpPr>
          <p:cNvPr id="515" name="Google Shape;515;p52"/>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Base^Exponent (b^n = b · b · … · b n times)</a:t>
            </a:r>
            <a:endParaRPr/>
          </a:p>
        </p:txBody>
      </p:sp>
      <p:sp>
        <p:nvSpPr>
          <p:cNvPr id="517" name="Google Shape;517;p52"/>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2"/>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19" name="Google Shape;519;p52"/>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Base</a:t>
            </a:r>
            <a:r>
              <a:rPr b="0" i="0" lang="en-US" sz="1600" u="none" cap="none" strike="noStrike">
                <a:solidFill>
                  <a:srgbClr val="14223A"/>
                </a:solidFill>
                <a:latin typeface="Arial"/>
                <a:ea typeface="Arial"/>
                <a:cs typeface="Arial"/>
                <a:sym typeface="Arial"/>
              </a:rPr>
              <a:t xml:space="preserve"> is the </a:t>
            </a:r>
            <a:r>
              <a:rPr b="1" i="0" lang="en-US" sz="1600" u="none" cap="none" strike="noStrike">
                <a:solidFill>
                  <a:srgbClr val="14223A"/>
                </a:solidFill>
                <a:latin typeface="Arial"/>
                <a:ea typeface="Arial"/>
                <a:cs typeface="Arial"/>
                <a:sym typeface="Arial"/>
              </a:rPr>
              <a:t xml:space="preserve">factor</a:t>
            </a:r>
            <a:r>
              <a:rPr b="0" i="0" lang="en-US" sz="1600" u="none" cap="none" strike="noStrike">
                <a:solidFill>
                  <a:srgbClr val="14223A"/>
                </a:solidFill>
                <a:latin typeface="Arial"/>
                <a:ea typeface="Arial"/>
                <a:cs typeface="Arial"/>
                <a:sym typeface="Arial"/>
              </a:rPr>
              <a:t xml:space="preserve"> being multiplied repeatedly</a:t>
            </a:r>
            <a:endParaRPr/>
          </a:p>
        </p:txBody>
      </p:sp>
      <p:sp>
        <p:nvSpPr>
          <p:cNvPr id="520" name="Google Shape;520;p52"/>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2" name="Google Shape;522;p52"/>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Exponent</a:t>
            </a:r>
            <a:r>
              <a:rPr b="0" i="0" lang="en-US" sz="1600" u="none" cap="none" strike="noStrike">
                <a:solidFill>
                  <a:srgbClr val="14223A"/>
                </a:solidFill>
                <a:latin typeface="Arial"/>
                <a:ea typeface="Arial"/>
                <a:cs typeface="Arial"/>
                <a:sym typeface="Arial"/>
              </a:rPr>
              <a:t xml:space="preserve"> tells how many times to multiply the base by itself</a:t>
            </a:r>
            <a:endParaRPr/>
          </a:p>
        </p:txBody>
      </p:sp>
      <p:sp>
        <p:nvSpPr>
          <p:cNvPr id="523" name="Google Shape;523;p52"/>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2"/>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25" name="Google Shape;525;p52"/>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Evaluate: </a:t>
            </a:r>
            <a:r>
              <a:rPr b="0" i="0" lang="en-US" sz="1600" u="none" cap="none" strike="noStrike">
                <a:solidFill>
                  <a:srgbClr val="14223A"/>
                </a:solidFill>
                <a:latin typeface="Arial"/>
                <a:ea typeface="Arial"/>
                <a:cs typeface="Arial"/>
                <a:sym typeface="Arial"/>
              </a:rPr>
              <a:t>2³ = 2 × 2 × 2 = 8 (not 2 × 3 = 6)</a:t>
            </a:r>
            <a:endParaRPr/>
          </a:p>
        </p:txBody>
      </p:sp>
      <p:sp>
        <p:nvSpPr>
          <p:cNvPr id="5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46</a:t>
            </a:r>
          </a:p>
        </p:txBody>
      </p:sp>
      <p:sp xmlns:p="http://schemas.openxmlformats.org/presentationml/2006/main" xmlns:a="http://schemas.openxmlformats.org/drawingml/2006/main">
        <p:nvSpPr>
          <p:cNvPr id="527"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Explore Numerical Expressions with Exponents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46</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Or You Could</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507712" y="1349430"/>
            <a:ext cx="6275473" cy="237467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46</a:t>
            </a:r>
          </a:p>
        </p:txBody>
      </p:sp>
      <p:sp xmlns:p="http://schemas.openxmlformats.org/presentationml/2006/main" xmlns:a="http://schemas.openxmlformats.org/drawingml/2006/main">
        <p:nvSpPr>
          <p:cNvPr id="2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6248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750" u="none" cap="none" strike="noStrike">
                <a:solidFill>
                  <a:srgbClr val="14223A"/>
                </a:solidFill>
                <a:latin typeface="Arial"/>
                <a:ea typeface="Arial"/>
                <a:cs typeface="Arial"/>
                <a:sym typeface="Arial"/>
              </a:rPr>
              <a:t>Explore Numerical Expressions with Exponents</a:t>
            </a:r>
            <a:endParaRPr/>
          </a:p>
        </p:txBody>
      </p:sp>
      <p:sp>
        <p:nvSpPr>
          <p:cNvPr id="340" name="Google Shape;340;p44"/>
          <p:cNvSpPr txBox="1"/>
          <p:nvPr/>
        </p:nvSpPr>
        <p:spPr>
          <a:xfrm>
            <a:off x="640080" y="163068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6.AT.5</a:t>
            </a:r>
            <a:endParaRPr/>
          </a:p>
        </p:txBody>
      </p:sp>
      <p:sp>
        <p:nvSpPr>
          <p:cNvPr id="341" name="Google Shape;341;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write and evaluate numbers in exponent form using a base and a power.</a:t>
            </a:r>
            <a:endParaRPr/>
          </a:p>
        </p:txBody>
      </p:sp>
      <p:sp>
        <p:nvSpPr>
          <p:cNvPr id="346" name="Google Shape;346;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exponent, base, power, and evaluate.</a:t>
            </a:r>
            <a:endParaRPr/>
          </a:p>
        </p:txBody>
      </p:sp>
      <p:sp>
        <p:nvSpPr>
          <p:cNvPr id="3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46</a:t>
            </a:r>
          </a:p>
        </p:txBody>
      </p:sp>
      <p:grpSp>
        <p:nvGrpSpPr>
          <p:cNvPr id="352" name="TEACH-1-student-move" descr="TEACH 1 · Facilitate clear, standards-based content learning"/>
          <p:cNvGrpSpPr/>
          <p:nvPr/>
        </p:nvGrpSpPr>
        <p:grpSpPr>
          <a:xfrm>
            <a:off x="502920" y="1993392"/>
            <a:ext cx="11186160" cy="402336"/>
            <a:chOff x="502920" y="1993392"/>
            <a:chExt cx="11186160" cy="402336"/>
          </a:xfrm>
        </p:grpSpPr>
        <p:sp>
          <p:nvSpPr>
            <p:cNvPr id="353"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4"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5"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base and exponent.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Expand repeated factors.</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Evaluate the power.</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7" name="Google Shape;387;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0" name="Google Shape;390;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391" name="Google Shape;391;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3" name="Google Shape;393;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Powers and Exponents</a:t>
            </a:r>
            <a:endParaRPr/>
          </a:p>
        </p:txBody>
      </p:sp>
      <p:sp>
        <p:nvSpPr>
          <p:cNvPr id="394" name="Google Shape;394;p46"/>
          <p:cNvSpPr/>
          <p:nvPr/>
        </p:nvSpPr>
        <p:spPr>
          <a:xfrm>
            <a:off x="658368" y="2934843"/>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A power uses a base and an exponent to show repeated multiplication.</a:t>
            </a:r>
            <a:endParaRPr/>
          </a:p>
        </p:txBody>
      </p:sp>
      <p:sp>
        <p:nvSpPr>
          <p:cNvPr id="396" name="Google Shape;396;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99" name="Google Shape;399;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2⁴ = 2 × 2 × 2 × 2 = 16</a:t>
            </a:r>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46</a:t>
            </a:r>
          </a:p>
        </p:txBody>
      </p:sp>
      <p:sp xmlns:p="http://schemas.openxmlformats.org/presentationml/2006/main" xmlns:a="http://schemas.openxmlformats.org/drawingml/2006/main">
        <p:nvSpPr>
          <p:cNvPr id="400"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“Powers and Exponents” to explain the example. Point</a:t>
            </a:r>
            <a:endParaRPr lang="en-US" sz="2000"/>
          </a:p>
          <a:p>
            <a:pPr>
              <a:lnSpc>
                <a:spcPts val="2400"/>
              </a:lnSpc>
              <a:buNone/>
            </a:pPr>
            <a:r>
              <a:rPr lang="en-US" sz="2000">
                <a:solidFill>
                  <a:srgbClr val="174D60"/>
                </a:solidFill>
                <a:latin typeface="Arial"/>
              </a:rPr>
              <a:t>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4" name="Google Shape;404;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07" name="Google Shape;407;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408" name="Google Shape;408;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0" name="Google Shape;410;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Exponent</a:t>
            </a:r>
            <a:endParaRPr/>
          </a:p>
        </p:txBody>
      </p:sp>
      <p:sp>
        <p:nvSpPr>
          <p:cNvPr id="411" name="Google Shape;411;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small number that tells how many times to multiply a number by itself.</a:t>
            </a:r>
            <a:endParaRPr/>
          </a:p>
        </p:txBody>
      </p:sp>
      <p:sp>
        <p:nvSpPr>
          <p:cNvPr id="413" name="Google Shape;413;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6" name="Google Shape;416;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2³, the small 3 means multiply 2 by itself 3 times: 2 × 2 × 2 = 8</a:t>
            </a:r>
            <a:endParaRPr/>
          </a:p>
        </p:txBody>
      </p:sp>
      <p:pic>
        <p:nvPicPr>
          <p:cNvPr descr="exponent.png" id="417" name="Google Shape;417;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46</a:t>
            </a:r>
          </a:p>
        </p:txBody>
      </p:sp>
      <p:sp xmlns:p="http://schemas.openxmlformats.org/presentationml/2006/main" xmlns:a="http://schemas.openxmlformats.org/drawingml/2006/main">
        <p:nvSpPr>
          <p:cNvPr id="41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“Exponent”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2" name="Google Shape;422;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25" name="Google Shape;425;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426" name="Google Shape;426;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8" name="Google Shape;428;p4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a:t>
            </a:r>
            <a:endParaRPr/>
          </a:p>
        </p:txBody>
      </p:sp>
      <p:sp>
        <p:nvSpPr>
          <p:cNvPr id="429" name="Google Shape;429;p48"/>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that gets multiplied by itself.</a:t>
            </a:r>
            <a:endParaRPr/>
          </a:p>
        </p:txBody>
      </p:sp>
      <p:sp>
        <p:nvSpPr>
          <p:cNvPr id="431" name="Google Shape;431;p4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4" name="Google Shape;434;p4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5², the base is 5 — it is the number being multiplied: 5 × 5 = 25</a:t>
            </a:r>
            <a:endParaRPr/>
          </a:p>
        </p:txBody>
      </p:sp>
      <p:pic>
        <p:nvPicPr>
          <p:cNvPr descr="exponent-base.png" id="435" name="Google Shape;435;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46</a:t>
            </a:r>
          </a:p>
        </p:txBody>
      </p:sp>
      <p:sp xmlns:p="http://schemas.openxmlformats.org/presentationml/2006/main" xmlns:a="http://schemas.openxmlformats.org/drawingml/2006/main">
        <p:nvSpPr>
          <p:cNvPr id="43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0" name="Google Shape;440;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43" name="Google Shape;443;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444" name="Google Shape;444;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6" name="Google Shape;446;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Power</a:t>
            </a:r>
            <a:endParaRPr/>
          </a:p>
        </p:txBody>
      </p:sp>
      <p:sp>
        <p:nvSpPr>
          <p:cNvPr id="447" name="Google Shape;447;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written with a base and an exponent, like 2³.</a:t>
            </a:r>
            <a:endParaRPr/>
          </a:p>
        </p:txBody>
      </p:sp>
      <p:sp>
        <p:nvSpPr>
          <p:cNvPr id="449" name="Google Shape;449;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2" name="Google Shape;452;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10³ = 10 × 10 × 10 = 1,000 — read as ‘10 to the third power’ or ‘10 cubed’</a:t>
            </a:r>
            <a:endParaRPr/>
          </a:p>
        </p:txBody>
      </p:sp>
      <p:pic>
        <p:nvPicPr>
          <p:cNvPr descr="exponent.png" id="453" name="Google Shape;453;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46</a:t>
            </a:r>
          </a:p>
        </p:txBody>
      </p:sp>
      <p:sp xmlns:p="http://schemas.openxmlformats.org/presentationml/2006/main" xmlns:a="http://schemas.openxmlformats.org/drawingml/2006/main">
        <p:nvSpPr>
          <p:cNvPr id="45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“Power”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8" name="Google Shape;458;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61" name="Google Shape;461;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462" name="Google Shape;462;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4" name="Google Shape;464;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Evaluate</a:t>
            </a:r>
            <a:endParaRPr/>
          </a:p>
        </p:txBody>
      </p:sp>
      <p:sp>
        <p:nvSpPr>
          <p:cNvPr id="465" name="Google Shape;465;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find the value by putting numbers in for the letters.</a:t>
            </a:r>
            <a:endParaRPr/>
          </a:p>
        </p:txBody>
      </p:sp>
      <p:sp>
        <p:nvSpPr>
          <p:cNvPr id="467" name="Google Shape;467;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0" name="Google Shape;470;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Evaluate 3⁴: write 3 × 3 × 3 × 3, then multiply step by step: 9 × 9 = 81</a:t>
            </a:r>
            <a:endParaRPr/>
          </a:p>
        </p:txBody>
      </p:sp>
      <p:pic>
        <p:nvPicPr>
          <p:cNvPr descr="expression.png" id="471" name="Google Shape;471;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46</a:t>
            </a:r>
          </a:p>
        </p:txBody>
      </p:sp>
      <p:sp xmlns:p="http://schemas.openxmlformats.org/presentationml/2006/main" xmlns:a="http://schemas.openxmlformats.org/drawingml/2006/main">
        <p:nvSpPr>
          <p:cNvPr id="47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“Evaluate”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Powers and Exponents</a:t>
            </a:r>
            <a:endParaRPr/>
          </a:p>
        </p:txBody>
      </p:sp>
      <p:sp>
        <p:nvSpPr>
          <p:cNvPr id="366" name="Google Shape;366;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power uses a base and an exponent to show repeated multiplication</a:t>
            </a:r>
            <a:endParaRPr/>
          </a:p>
        </p:txBody>
      </p:sp>
      <p:sp>
        <p:nvSpPr>
          <p:cNvPr id="367" name="Google Shape;367;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Exponent</a:t>
            </a:r>
            <a:endParaRPr/>
          </a:p>
        </p:txBody>
      </p:sp>
      <p:sp>
        <p:nvSpPr>
          <p:cNvPr id="370" name="Google Shape;370;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small number that tells how many times to multiply a number by itself</a:t>
            </a:r>
            <a:endParaRPr/>
          </a:p>
        </p:txBody>
      </p:sp>
      <p:sp>
        <p:nvSpPr>
          <p:cNvPr id="371" name="Google Shape;371;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Base</a:t>
            </a:r>
            <a:endParaRPr/>
          </a:p>
        </p:txBody>
      </p:sp>
      <p:sp>
        <p:nvSpPr>
          <p:cNvPr id="374" name="Google Shape;374;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number that gets multiplied by itself</a:t>
            </a:r>
            <a:endParaRPr/>
          </a:p>
        </p:txBody>
      </p:sp>
      <p:sp>
        <p:nvSpPr>
          <p:cNvPr id="375" name="Google Shape;375;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Power</a:t>
            </a:r>
            <a:endParaRPr/>
          </a:p>
        </p:txBody>
      </p:sp>
      <p:sp>
        <p:nvSpPr>
          <p:cNvPr id="378" name="Google Shape;378;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number written with a base and an exponent, like 2³</a:t>
            </a:r>
            <a:endParaRPr/>
          </a:p>
        </p:txBody>
      </p:sp>
      <p:sp>
        <p:nvSpPr>
          <p:cNvPr id="379" name="Google Shape;379;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Evaluate</a:t>
            </a:r>
            <a:endParaRPr/>
          </a:p>
        </p:txBody>
      </p:sp>
      <p:sp>
        <p:nvSpPr>
          <p:cNvPr id="382" name="Google Shape;382;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To find the value by putting numbers in for the letters</a:t>
            </a:r>
            <a:endParaRPr/>
          </a:p>
        </p:txBody>
      </p:sp>
      <p:sp>
        <p:nvSpPr>
          <p:cNvPr id="3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46</a:t>
            </a:r>
          </a:p>
        </p:txBody>
      </p:sp>
      <p:sp xmlns:p="http://schemas.openxmlformats.org/presentationml/2006/main" xmlns:a="http://schemas.openxmlformats.org/drawingml/2006/main">
        <p:nvSpPr>
          <p:cNvPr id="384"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cxnSp>
        <p:nvCxnSpPr>
          <p:cNvPr id="540" name="Google Shape;540;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1" name="Google Shape;541;p54"/>
          <p:cNvSpPr txBox="1"/>
          <p:nvPr/>
        </p:nvSpPr>
        <p:spPr>
          <a:xfrm>
            <a:off x="474056" y="936100"/>
            <a:ext cx="3715560" cy="11255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542" name="Google Shape;542;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43" name="Google Shape;543;p54"/>
          <p:cNvPicPr preferRelativeResize="0"/>
          <p:nvPr/>
        </p:nvPicPr>
        <p:blipFill rotWithShape="1">
          <a:blip r:embed="rId3">
            <a:alphaModFix/>
          </a:blip>
          <a:srcRect b="0" l="0" r="0" t="0"/>
          <a:stretch/>
        </p:blipFill>
        <p:spPr>
          <a:xfrm>
            <a:off x="4189616" y="1284936"/>
            <a:ext cx="5959951" cy="3276000"/>
          </a:xfrm>
          <a:prstGeom prst="rect">
            <a:avLst/>
          </a:prstGeom>
          <a:noFill/>
          <a:ln>
            <a:noFill/>
          </a:ln>
        </p:spPr>
      </p:pic>
      <p:sp>
        <p:nvSpPr>
          <p:cNvPr id="544" name="Google Shape;544;p54"/>
          <p:cNvSpPr/>
          <p:nvPr/>
        </p:nvSpPr>
        <p:spPr>
          <a:xfrm>
            <a:off x="641386" y="5743518"/>
            <a:ext cx="11046802"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show others that you respect their ideas about math?</a:t>
            </a:r>
            <a:endParaRPr b="0" i="0" sz="1400" u="none" cap="none" strike="noStrike">
              <a:solidFill>
                <a:srgbClr val="000000"/>
              </a:solidFill>
              <a:latin typeface="Arial"/>
              <a:ea typeface="Arial"/>
              <a:cs typeface="Arial"/>
              <a:sym typeface="Arial"/>
            </a:endParaRPr>
          </a:p>
        </p:txBody>
      </p:sp>
      <p:pic>
        <p:nvPicPr>
          <p:cNvPr id="545" name="Google Shape;545;p54"/>
          <p:cNvPicPr preferRelativeResize="0"/>
          <p:nvPr/>
        </p:nvPicPr>
        <p:blipFill rotWithShape="1">
          <a:blip r:embed="rId4">
            <a:alphaModFix/>
          </a:blip>
          <a:srcRect b="0" l="0" r="0" t="0"/>
          <a:stretch/>
        </p:blipFill>
        <p:spPr>
          <a:xfrm>
            <a:off x="474056" y="4960666"/>
            <a:ext cx="5054600" cy="838200"/>
          </a:xfrm>
          <a:prstGeom prst="rect">
            <a:avLst/>
          </a:prstGeom>
          <a:noFill/>
          <a:ln>
            <a:noFill/>
          </a:ln>
        </p:spPr>
      </p:pic>
      <p:sp>
        <p:nvSpPr>
          <p:cNvPr id="546" name="Google Shape;546;p54"/>
          <p:cNvSpPr txBox="1"/>
          <p:nvPr/>
        </p:nvSpPr>
        <p:spPr>
          <a:xfrm>
            <a:off x="3334073" y="511798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46</a:t>
            </a:r>
          </a:p>
        </p:txBody>
      </p:sp>
      <p:sp xmlns:p="http://schemas.openxmlformats.org/presentationml/2006/main" xmlns:a="http://schemas.openxmlformats.org/drawingml/2006/main">
        <p:nvSpPr>
          <p:cNvPr id="548"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cxnSp>
        <p:nvCxnSpPr>
          <p:cNvPr id="559" name="Google Shape;559;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0" name="Google Shape;560;p56"/>
          <p:cNvSpPr txBox="1"/>
          <p:nvPr/>
        </p:nvSpPr>
        <p:spPr>
          <a:xfrm>
            <a:off x="484565" y="936099"/>
            <a:ext cx="6795124" cy="27464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these two expressions different?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can the expressions be written in different ways?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same about each expression? different?</a:t>
            </a:r>
            <a:endParaRPr b="0" i="0" sz="1400" u="none" cap="none" strike="noStrike">
              <a:solidFill>
                <a:srgbClr val="000000"/>
              </a:solidFill>
              <a:latin typeface="Arial"/>
              <a:ea typeface="Arial"/>
              <a:cs typeface="Arial"/>
              <a:sym typeface="Arial"/>
            </a:endParaRPr>
          </a:p>
        </p:txBody>
      </p:sp>
      <p:pic>
        <p:nvPicPr>
          <p:cNvPr id="561" name="Google Shape;561;p56"/>
          <p:cNvPicPr preferRelativeResize="0"/>
          <p:nvPr/>
        </p:nvPicPr>
        <p:blipFill rotWithShape="1">
          <a:blip r:embed="rId3">
            <a:alphaModFix/>
          </a:blip>
          <a:srcRect b="0" l="0" r="0" t="0"/>
          <a:stretch/>
        </p:blipFill>
        <p:spPr>
          <a:xfrm>
            <a:off x="8743863" y="1280419"/>
            <a:ext cx="3000375" cy="3000375"/>
          </a:xfrm>
          <a:prstGeom prst="rect">
            <a:avLst/>
          </a:prstGeom>
          <a:noFill/>
          <a:ln>
            <a:noFill/>
          </a:ln>
        </p:spPr>
      </p:pic>
      <p:sp>
        <p:nvSpPr>
          <p:cNvPr id="562" name="Google Shape;562;p56"/>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Compare Expressions</a:t>
            </a:r>
            <a:endParaRPr b="0" i="0" sz="1400" u="none" cap="none" strike="noStrike">
              <a:solidFill>
                <a:srgbClr val="000000"/>
              </a:solidFill>
              <a:latin typeface="Arial"/>
              <a:ea typeface="Arial"/>
              <a:cs typeface="Arial"/>
              <a:sym typeface="Arial"/>
            </a:endParaRPr>
          </a:p>
        </p:txBody>
      </p:sp>
      <p:sp>
        <p:nvSpPr>
          <p:cNvPr id="563" name="Google Shape;563;p56"/>
          <p:cNvSpPr txBox="1"/>
          <p:nvPr/>
        </p:nvSpPr>
        <p:spPr>
          <a:xfrm>
            <a:off x="484565" y="4801465"/>
            <a:ext cx="9610047" cy="1484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56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46</a:t>
            </a:r>
          </a:p>
        </p:txBody>
      </p:sp>
      <p:sp xmlns:p="http://schemas.openxmlformats.org/presentationml/2006/main" xmlns:a="http://schemas.openxmlformats.org/drawingml/2006/main">
        <p:nvSpPr>
          <p:cNvPr id="565" name="TEACH-embedded-student-prompt" descr="Student thinking and response directions"/>
          <p:cNvSpPr txBox="1"/>
          <p:nvPr/>
        </p:nvSpPr>
        <p:spPr>
          <a:xfrm>
            <a:off x="5943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cxnSp>
        <p:nvCxnSpPr>
          <p:cNvPr id="568" name="Google Shape;568;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9" name="Google Shape;569;p57"/>
          <p:cNvSpPr txBox="1"/>
          <p:nvPr/>
        </p:nvSpPr>
        <p:spPr>
          <a:xfrm>
            <a:off x="484565" y="936099"/>
            <a:ext cx="6795124" cy="27464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these two expressions different?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can the expressions be written in different ways?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same about each expression? different?</a:t>
            </a:r>
            <a:endParaRPr b="0" i="0" sz="1400" u="none" cap="none" strike="noStrike">
              <a:solidFill>
                <a:srgbClr val="000000"/>
              </a:solidFill>
              <a:latin typeface="Arial"/>
              <a:ea typeface="Arial"/>
              <a:cs typeface="Arial"/>
              <a:sym typeface="Arial"/>
            </a:endParaRPr>
          </a:p>
        </p:txBody>
      </p:sp>
      <p:pic>
        <p:nvPicPr>
          <p:cNvPr id="570" name="Google Shape;570;p57"/>
          <p:cNvPicPr preferRelativeResize="0"/>
          <p:nvPr/>
        </p:nvPicPr>
        <p:blipFill rotWithShape="1">
          <a:blip r:embed="rId3">
            <a:alphaModFix/>
          </a:blip>
          <a:srcRect b="0" l="0" r="0" t="0"/>
          <a:stretch/>
        </p:blipFill>
        <p:spPr>
          <a:xfrm>
            <a:off x="8743863" y="1280419"/>
            <a:ext cx="3000375" cy="3000375"/>
          </a:xfrm>
          <a:prstGeom prst="rect">
            <a:avLst/>
          </a:prstGeom>
          <a:noFill/>
          <a:ln>
            <a:noFill/>
          </a:ln>
        </p:spPr>
      </p:pic>
      <p:sp>
        <p:nvSpPr>
          <p:cNvPr id="571" name="Google Shape;571;p57"/>
          <p:cNvSpPr txBox="1"/>
          <p:nvPr/>
        </p:nvSpPr>
        <p:spPr>
          <a:xfrm>
            <a:off x="484565" y="4801465"/>
            <a:ext cx="9610047" cy="1484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There are four 5s in each expression. One expression uses addition, and the other uses multiplication.</a:t>
            </a:r>
            <a:endParaRPr b="0" i="0" sz="1400" u="none" cap="none" strike="noStrike">
              <a:solidFill>
                <a:srgbClr val="000000"/>
              </a:solidFill>
              <a:latin typeface="Arial"/>
              <a:ea typeface="Arial"/>
              <a:cs typeface="Arial"/>
              <a:sym typeface="Arial"/>
            </a:endParaRPr>
          </a:p>
        </p:txBody>
      </p:sp>
      <p:sp>
        <p:nvSpPr>
          <p:cNvPr id="572" name="Google Shape;572;p57"/>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Compare Expressions</a:t>
            </a:r>
            <a:endParaRPr b="0" i="0" sz="1400" u="none" cap="none" strike="noStrike">
              <a:solidFill>
                <a:srgbClr val="000000"/>
              </a:solidFill>
              <a:latin typeface="Arial"/>
              <a:ea typeface="Arial"/>
              <a:cs typeface="Arial"/>
              <a:sym typeface="Arial"/>
            </a:endParaRPr>
          </a:p>
        </p:txBody>
      </p:sp>
      <p:sp>
        <p:nvSpPr>
          <p:cNvPr id="5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46</a:t>
            </a:r>
          </a:p>
        </p:txBody>
      </p:sp>
      <p:sp>
        <p:nvSpPr>
          <p:cNvPr id="574" name="EWL-COVER-1"/>
          <p:cNvSpPr/>
          <p:nvPr/>
        </p:nvSpPr>
        <p:spPr>
          <a:xfrm>
            <a:off x="429701" y="4746601"/>
            <a:ext cx="9719775" cy="1594590"/>
          </a:xfrm>
          <a:prstGeom prst="rect">
            <a:avLst/>
          </a:prstGeom>
          <a:solidFill>
            <a:srgbClr val="FFFFFF"/>
          </a:solidFill>
          <a:ln>
            <a:noFill/>
          </a:ln>
        </p:spPr>
        <p:txBody>
          <a:bodyPr/>
          <a:lstStyle/>
          <a:p/>
        </p:txBody>
      </p:sp>
      <p:sp xmlns:p="http://schemas.openxmlformats.org/presentationml/2006/main" xmlns:a="http://schemas.openxmlformats.org/drawingml/2006/main">
        <p:nvSpPr>
          <p:cNvPr id="575" name="TEACH-embedded-student-prompt" descr="Student thinking and response directions"/>
          <p:cNvSpPr txBox="1"/>
          <p:nvPr/>
        </p:nvSpPr>
        <p:spPr>
          <a:xfrm>
            <a:off x="5943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574"/>
                                  </p:tgtEl>
                                  <p:attrNameLst>
                                    <p:attrName>style.visibility</p:attrName>
                                  </p:attrNameLst>
                                </p:cBhvr>
                                <p:to>
                                  <p:strVal val="hidden"/>
                                </p:to>
                              </p:set>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cxnSp>
        <p:nvCxnSpPr>
          <p:cNvPr id="633" name="Google Shape;633;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4" name="Google Shape;634;p65"/>
          <p:cNvSpPr txBox="1"/>
          <p:nvPr/>
        </p:nvSpPr>
        <p:spPr>
          <a:xfrm>
            <a:off x="484565" y="936098"/>
            <a:ext cx="6795124" cy="2073109"/>
          </a:xfrm>
          <a:prstGeom prst="rect">
            <a:avLst/>
          </a:prstGeom>
          <a:blipFill rotWithShape="1">
            <a:blip r:embed="rId3">
              <a:alphaModFix/>
            </a:blip>
            <a:stretch>
              <a:fillRect b="0" l="-1794" r="0" t="-32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35" name="Google Shape;635;p65"/>
          <p:cNvSpPr txBox="1"/>
          <p:nvPr/>
        </p:nvSpPr>
        <p:spPr>
          <a:xfrm>
            <a:off x="484565" y="4350033"/>
            <a:ext cx="10995312" cy="12614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Where have you seen repeated multiplication before?</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636" name="Google Shape;636;p65"/>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Compare Expressions</a:t>
            </a:r>
            <a:endParaRPr b="0" i="0" sz="1400" u="none" cap="none" strike="noStrike">
              <a:solidFill>
                <a:srgbClr val="000000"/>
              </a:solidFill>
              <a:latin typeface="Arial"/>
              <a:ea typeface="Arial"/>
              <a:cs typeface="Arial"/>
              <a:sym typeface="Arial"/>
            </a:endParaRPr>
          </a:p>
        </p:txBody>
      </p:sp>
      <p:sp>
        <p:nvSpPr>
          <p:cNvPr id="6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46</a:t>
            </a:r>
          </a:p>
        </p:txBody>
      </p:sp>
      <p:sp xmlns:p="http://schemas.openxmlformats.org/presentationml/2006/main" xmlns:a="http://schemas.openxmlformats.org/drawingml/2006/main">
        <p:nvSpPr>
          <p:cNvPr id="638"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cxnSp>
        <p:nvCxnSpPr>
          <p:cNvPr id="650" name="Google Shape;650;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1" name="Google Shape;651;p67"/>
          <p:cNvSpPr txBox="1"/>
          <p:nvPr/>
        </p:nvSpPr>
        <p:spPr>
          <a:xfrm>
            <a:off x="484565" y="936098"/>
            <a:ext cx="6795124" cy="2073109"/>
          </a:xfrm>
          <a:prstGeom prst="rect">
            <a:avLst/>
          </a:prstGeom>
          <a:blipFill rotWithShape="1">
            <a:blip r:embed="rId3">
              <a:alphaModFix/>
            </a:blip>
            <a:stretch>
              <a:fillRect b="0" l="-1794" r="0" t="-32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52" name="Google Shape;652;p67"/>
          <p:cNvSpPr/>
          <p:nvPr/>
        </p:nvSpPr>
        <p:spPr>
          <a:xfrm>
            <a:off x="484564" y="4622669"/>
            <a:ext cx="1071268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How can you rewrite the repeated multiplication expression?</a:t>
            </a:r>
            <a:endParaRPr b="0" i="0" sz="1400" u="none" cap="none" strike="noStrike">
              <a:solidFill>
                <a:srgbClr val="000000"/>
              </a:solidFill>
              <a:latin typeface="Arial"/>
              <a:ea typeface="Arial"/>
              <a:cs typeface="Arial"/>
              <a:sym typeface="Arial"/>
            </a:endParaRPr>
          </a:p>
        </p:txBody>
      </p:sp>
      <p:sp>
        <p:nvSpPr>
          <p:cNvPr id="653" name="Google Shape;653;p67"/>
          <p:cNvSpPr txBox="1"/>
          <p:nvPr/>
        </p:nvSpPr>
        <p:spPr>
          <a:xfrm>
            <a:off x="484564" y="5121135"/>
            <a:ext cx="10915145" cy="10763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rewrite the expression using an exponent, 5</a:t>
            </a:r>
            <a:r>
              <a:rPr b="0" baseline="30000" i="0" lang="en-US" sz="2800" u="none" cap="none" strike="noStrike">
                <a:solidFill>
                  <a:srgbClr val="595959"/>
                </a:solidFill>
                <a:latin typeface="Arial"/>
                <a:ea typeface="Arial"/>
                <a:cs typeface="Arial"/>
                <a:sym typeface="Arial"/>
              </a:rPr>
              <a:t>4</a:t>
            </a:r>
            <a:r>
              <a:rPr b="0" i="0" lang="en-US" sz="2800" u="none" cap="none" strike="noStrike">
                <a:solidFill>
                  <a:srgbClr val="595959"/>
                </a:solidFill>
                <a:latin typeface="Arial"/>
                <a:ea typeface="Arial"/>
                <a:cs typeface="Arial"/>
                <a:sym typeface="Arial"/>
              </a:rPr>
              <a:t>.</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1" sz="2800" u="none" cap="none" strike="noStrike">
              <a:solidFill>
                <a:srgbClr val="595959"/>
              </a:solidFill>
              <a:latin typeface="Arial"/>
              <a:ea typeface="Arial"/>
              <a:cs typeface="Arial"/>
              <a:sym typeface="Arial"/>
            </a:endParaRPr>
          </a:p>
        </p:txBody>
      </p:sp>
      <p:sp>
        <p:nvSpPr>
          <p:cNvPr id="654" name="Google Shape;654;p67"/>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Compare Expressions</a:t>
            </a:r>
            <a:endParaRPr b="0" i="0" sz="1400" u="none" cap="none" strike="noStrike">
              <a:solidFill>
                <a:srgbClr val="000000"/>
              </a:solidFill>
              <a:latin typeface="Arial"/>
              <a:ea typeface="Arial"/>
              <a:cs typeface="Arial"/>
              <a:sym typeface="Arial"/>
            </a:endParaRPr>
          </a:p>
        </p:txBody>
      </p:sp>
      <p:sp>
        <p:nvSpPr>
          <p:cNvPr id="6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46</a:t>
            </a:r>
          </a:p>
        </p:txBody>
      </p:sp>
      <p:sp>
        <p:nvSpPr>
          <p:cNvPr id="656" name="EWL-COVER-1"/>
          <p:cNvSpPr/>
          <p:nvPr/>
        </p:nvSpPr>
        <p:spPr>
          <a:xfrm>
            <a:off x="429700" y="5066271"/>
            <a:ext cx="11024873" cy="1301476"/>
          </a:xfrm>
          <a:prstGeom prst="rect">
            <a:avLst/>
          </a:prstGeom>
          <a:solidFill>
            <a:srgbClr val="FFFFFF"/>
          </a:solidFill>
          <a:ln>
            <a:noFill/>
          </a:ln>
        </p:spPr>
        <p:txBody>
          <a:bodyPr/>
          <a:lstStyle/>
          <a:p/>
        </p:txBody>
      </p:sp>
      <p:sp xmlns:p="http://schemas.openxmlformats.org/presentationml/2006/main" xmlns:a="http://schemas.openxmlformats.org/drawingml/2006/main">
        <p:nvSpPr>
          <p:cNvPr id="657" name="TEACH-embedded-student-prompt" descr="Student thinking and response directions"/>
          <p:cNvSpPr txBox="1"/>
          <p:nvPr/>
        </p:nvSpPr>
        <p:spPr>
          <a:xfrm>
            <a:off x="594360" y="39867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cxnSp>
        <p:nvCxnSpPr>
          <p:cNvPr id="669" name="Google Shape;669;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70" name="Google Shape;670;p69"/>
          <p:cNvPicPr preferRelativeResize="0"/>
          <p:nvPr/>
        </p:nvPicPr>
        <p:blipFill rotWithShape="1">
          <a:blip r:embed="rId3">
            <a:alphaModFix/>
          </a:blip>
          <a:srcRect b="0" l="0" r="0" t="0"/>
          <a:stretch/>
        </p:blipFill>
        <p:spPr>
          <a:xfrm>
            <a:off x="7279689" y="1889525"/>
            <a:ext cx="4268548" cy="3586280"/>
          </a:xfrm>
          <a:prstGeom prst="rect">
            <a:avLst/>
          </a:prstGeom>
          <a:noFill/>
          <a:ln>
            <a:noFill/>
          </a:ln>
        </p:spPr>
      </p:pic>
      <p:sp>
        <p:nvSpPr>
          <p:cNvPr id="671" name="Google Shape;671;p69"/>
          <p:cNvSpPr/>
          <p:nvPr/>
        </p:nvSpPr>
        <p:spPr>
          <a:xfrm>
            <a:off x="649775" y="5640397"/>
            <a:ext cx="11046802"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be sure you have understood the argument presented?</a:t>
            </a:r>
            <a:endParaRPr b="0" i="0" sz="1400" u="none" cap="none" strike="noStrike">
              <a:solidFill>
                <a:srgbClr val="000000"/>
              </a:solidFill>
              <a:latin typeface="Arial"/>
              <a:ea typeface="Arial"/>
              <a:cs typeface="Arial"/>
              <a:sym typeface="Arial"/>
            </a:endParaRPr>
          </a:p>
        </p:txBody>
      </p:sp>
      <p:sp>
        <p:nvSpPr>
          <p:cNvPr id="672" name="Google Shape;672;p69"/>
          <p:cNvSpPr txBox="1"/>
          <p:nvPr/>
        </p:nvSpPr>
        <p:spPr>
          <a:xfrm>
            <a:off x="484565" y="936098"/>
            <a:ext cx="6795124" cy="19068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number written with an exponent is a </a:t>
            </a:r>
            <a:r>
              <a:rPr b="1" i="0" lang="en-US" sz="2800" u="none" cap="none" strike="noStrike">
                <a:solidFill>
                  <a:srgbClr val="23282D"/>
                </a:solidFill>
                <a:highlight>
                  <a:srgbClr val="FFFF00"/>
                </a:highlight>
                <a:latin typeface="Arial"/>
                <a:ea typeface="Arial"/>
                <a:cs typeface="Arial"/>
                <a:sym typeface="Arial"/>
              </a:rPr>
              <a:t>power</a:t>
            </a:r>
            <a:r>
              <a:rPr b="0" i="0" lang="en-US" sz="2800" u="none" cap="none" strike="noStrike">
                <a:solidFill>
                  <a:srgbClr val="23282D"/>
                </a:solidFill>
                <a:latin typeface="Arial"/>
                <a:ea typeface="Arial"/>
                <a:cs typeface="Arial"/>
                <a:sym typeface="Arial"/>
              </a:rPr>
              <a:t>. This expression is a power of 5. The exponent represents how many times the base is a factor.</a:t>
            </a:r>
            <a:endParaRPr b="1" i="0" sz="2800" u="none" cap="none" strike="noStrike">
              <a:solidFill>
                <a:srgbClr val="262626"/>
              </a:solidFill>
              <a:latin typeface="Arial"/>
              <a:ea typeface="Arial"/>
              <a:cs typeface="Arial"/>
              <a:sym typeface="Arial"/>
            </a:endParaRPr>
          </a:p>
        </p:txBody>
      </p:sp>
      <p:sp>
        <p:nvSpPr>
          <p:cNvPr id="673" name="Google Shape;673;p6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Compare Expressions</a:t>
            </a:r>
            <a:endParaRPr b="0" i="0" sz="1400" u="none" cap="none" strike="noStrike">
              <a:solidFill>
                <a:srgbClr val="000000"/>
              </a:solidFill>
              <a:latin typeface="Arial"/>
              <a:ea typeface="Arial"/>
              <a:cs typeface="Arial"/>
              <a:sym typeface="Arial"/>
            </a:endParaRPr>
          </a:p>
        </p:txBody>
      </p:sp>
      <p:pic>
        <p:nvPicPr>
          <p:cNvPr id="674" name="Google Shape;674;p69"/>
          <p:cNvPicPr preferRelativeResize="0"/>
          <p:nvPr/>
        </p:nvPicPr>
        <p:blipFill rotWithShape="1">
          <a:blip r:embed="rId4">
            <a:alphaModFix/>
          </a:blip>
          <a:srcRect b="0" l="0" r="0" t="0"/>
          <a:stretch/>
        </p:blipFill>
        <p:spPr>
          <a:xfrm>
            <a:off x="484565" y="4832816"/>
            <a:ext cx="5054600" cy="838200"/>
          </a:xfrm>
          <a:prstGeom prst="rect">
            <a:avLst/>
          </a:prstGeom>
          <a:noFill/>
          <a:ln>
            <a:noFill/>
          </a:ln>
        </p:spPr>
      </p:pic>
      <p:sp>
        <p:nvSpPr>
          <p:cNvPr id="675" name="Google Shape;675;p69"/>
          <p:cNvSpPr txBox="1"/>
          <p:nvPr/>
        </p:nvSpPr>
        <p:spPr>
          <a:xfrm>
            <a:off x="3061344" y="4982392"/>
            <a:ext cx="1701849"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Listening</a:t>
            </a:r>
            <a:endParaRPr b="0" i="0" sz="1400" u="none" cap="none" strike="noStrike">
              <a:solidFill>
                <a:srgbClr val="000000"/>
              </a:solidFill>
              <a:latin typeface="Arial"/>
              <a:ea typeface="Arial"/>
              <a:cs typeface="Arial"/>
              <a:sym typeface="Arial"/>
            </a:endParaRPr>
          </a:p>
        </p:txBody>
      </p:sp>
      <p:sp>
        <p:nvSpPr>
          <p:cNvPr id="67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46</a:t>
            </a:r>
          </a:p>
        </p:txBody>
      </p:sp>
      <p:sp xmlns:p="http://schemas.openxmlformats.org/presentationml/2006/main" xmlns:a="http://schemas.openxmlformats.org/drawingml/2006/main">
        <p:nvSpPr>
          <p:cNvPr id="677"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cxnSp>
        <p:nvCxnSpPr>
          <p:cNvPr id="689" name="Google Shape;689;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0" name="Google Shape;690;p71"/>
          <p:cNvSpPr txBox="1"/>
          <p:nvPr/>
        </p:nvSpPr>
        <p:spPr>
          <a:xfrm>
            <a:off x="484564" y="1183505"/>
            <a:ext cx="6795124" cy="13499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another power of 5?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write it?</a:t>
            </a:r>
            <a:endParaRPr b="0" i="0" sz="1400" u="none" cap="none" strike="noStrike">
              <a:solidFill>
                <a:srgbClr val="000000"/>
              </a:solidFill>
              <a:latin typeface="Arial"/>
              <a:ea typeface="Arial"/>
              <a:cs typeface="Arial"/>
              <a:sym typeface="Arial"/>
            </a:endParaRPr>
          </a:p>
        </p:txBody>
      </p:sp>
      <p:sp>
        <p:nvSpPr>
          <p:cNvPr id="691" name="Google Shape;691;p71"/>
          <p:cNvSpPr txBox="1"/>
          <p:nvPr/>
        </p:nvSpPr>
        <p:spPr>
          <a:xfrm>
            <a:off x="953847" y="522385"/>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030A0"/>
              </a:solidFill>
              <a:latin typeface="Arial"/>
              <a:ea typeface="Arial"/>
              <a:cs typeface="Arial"/>
              <a:sym typeface="Arial"/>
            </a:endParaRPr>
          </a:p>
        </p:txBody>
      </p:sp>
      <p:pic>
        <p:nvPicPr>
          <p:cNvPr id="692" name="Google Shape;692;p71"/>
          <p:cNvPicPr preferRelativeResize="0"/>
          <p:nvPr/>
        </p:nvPicPr>
        <p:blipFill rotWithShape="1">
          <a:blip r:embed="rId3">
            <a:alphaModFix/>
          </a:blip>
          <a:srcRect b="0" l="0" r="0" t="0"/>
          <a:stretch/>
        </p:blipFill>
        <p:spPr>
          <a:xfrm>
            <a:off x="543714" y="588718"/>
            <a:ext cx="353635" cy="340537"/>
          </a:xfrm>
          <a:prstGeom prst="rect">
            <a:avLst/>
          </a:prstGeom>
          <a:noFill/>
          <a:ln>
            <a:noFill/>
          </a:ln>
        </p:spPr>
      </p:pic>
      <p:sp>
        <p:nvSpPr>
          <p:cNvPr id="693" name="Google Shape;693;p71"/>
          <p:cNvSpPr txBox="1"/>
          <p:nvPr/>
        </p:nvSpPr>
        <p:spPr>
          <a:xfrm>
            <a:off x="543714" y="5182039"/>
            <a:ext cx="10915145" cy="10763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5</a:t>
            </a:r>
            <a:r>
              <a:rPr b="0" baseline="30000" i="0" lang="en-US" sz="2800" u="none" cap="none" strike="noStrike">
                <a:solidFill>
                  <a:srgbClr val="595959"/>
                </a:solidFill>
                <a:latin typeface="Arial"/>
                <a:ea typeface="Arial"/>
                <a:cs typeface="Arial"/>
                <a:sym typeface="Arial"/>
              </a:rPr>
              <a:t>2</a:t>
            </a:r>
            <a:r>
              <a:rPr b="0" i="0" lang="en-US" sz="2800" u="none" cap="none" strike="noStrike">
                <a:solidFill>
                  <a:srgbClr val="595959"/>
                </a:solidFill>
                <a:latin typeface="Arial"/>
                <a:ea typeface="Arial"/>
                <a:cs typeface="Arial"/>
                <a:sym typeface="Arial"/>
              </a:rPr>
              <a:t>, 5</a:t>
            </a:r>
            <a:r>
              <a:rPr b="0" baseline="30000" i="0" lang="en-US" sz="2800" u="none" cap="none" strike="noStrike">
                <a:solidFill>
                  <a:srgbClr val="595959"/>
                </a:solidFill>
                <a:latin typeface="Arial"/>
                <a:ea typeface="Arial"/>
                <a:cs typeface="Arial"/>
                <a:sym typeface="Arial"/>
              </a:rPr>
              <a:t>3</a:t>
            </a:r>
            <a:r>
              <a:rPr b="0" i="0" lang="en-US" sz="2800" u="none" cap="none" strike="noStrike">
                <a:solidFill>
                  <a:srgbClr val="595959"/>
                </a:solidFill>
                <a:latin typeface="Arial"/>
                <a:ea typeface="Arial"/>
                <a:cs typeface="Arial"/>
                <a:sym typeface="Arial"/>
              </a:rPr>
              <a:t>, 5</a:t>
            </a:r>
            <a:r>
              <a:rPr b="0" baseline="30000" i="0" lang="en-US" sz="2800" u="none" cap="none" strike="noStrike">
                <a:solidFill>
                  <a:srgbClr val="595959"/>
                </a:solidFill>
                <a:latin typeface="Arial"/>
                <a:ea typeface="Arial"/>
                <a:cs typeface="Arial"/>
                <a:sym typeface="Arial"/>
              </a:rPr>
              <a:t>5</a:t>
            </a:r>
            <a:r>
              <a:rPr b="0" i="0" lang="en-US" sz="2800" u="none" cap="none" strike="noStrike">
                <a:solidFill>
                  <a:srgbClr val="595959"/>
                </a:solidFill>
                <a:latin typeface="Arial"/>
                <a:ea typeface="Arial"/>
                <a:cs typeface="Arial"/>
                <a:sym typeface="Arial"/>
              </a:rPr>
              <a:t>, 5</a:t>
            </a:r>
            <a:r>
              <a:rPr b="0" baseline="30000" i="0" lang="en-US" sz="2800" u="none" cap="none" strike="noStrike">
                <a:solidFill>
                  <a:srgbClr val="595959"/>
                </a:solidFill>
                <a:latin typeface="Arial"/>
                <a:ea typeface="Arial"/>
                <a:cs typeface="Arial"/>
                <a:sym typeface="Arial"/>
              </a:rPr>
              <a:t>6</a:t>
            </a:r>
            <a:r>
              <a:rPr b="0" i="0" lang="en-US" sz="2800" u="none" cap="none" strike="noStrike">
                <a:solidFill>
                  <a:srgbClr val="595959"/>
                </a:solidFill>
                <a:latin typeface="Arial"/>
                <a:ea typeface="Arial"/>
                <a:cs typeface="Arial"/>
                <a:sym typeface="Arial"/>
              </a:rPr>
              <a:t>, 5</a:t>
            </a:r>
            <a:r>
              <a:rPr b="0" baseline="30000" i="0" lang="en-US" sz="2800" u="none" cap="none" strike="noStrike">
                <a:solidFill>
                  <a:srgbClr val="595959"/>
                </a:solidFill>
                <a:latin typeface="Arial"/>
                <a:ea typeface="Arial"/>
                <a:cs typeface="Arial"/>
                <a:sym typeface="Arial"/>
              </a:rPr>
              <a:t>7</a:t>
            </a:r>
            <a:r>
              <a:rPr b="0" i="0" lang="en-US" sz="2800" u="none" cap="none" strike="noStrike">
                <a:solidFill>
                  <a:srgbClr val="595959"/>
                </a:solidFill>
                <a:latin typeface="Arial"/>
                <a:ea typeface="Arial"/>
                <a:cs typeface="Arial"/>
                <a:sym typeface="Arial"/>
              </a:rPr>
              <a:t>, 5</a:t>
            </a:r>
            <a:r>
              <a:rPr b="0" baseline="30000" i="0" lang="en-US" sz="2800" u="none" cap="none" strike="noStrike">
                <a:solidFill>
                  <a:srgbClr val="595959"/>
                </a:solidFill>
                <a:latin typeface="Arial"/>
                <a:ea typeface="Arial"/>
                <a:cs typeface="Arial"/>
                <a:sym typeface="Arial"/>
              </a:rPr>
              <a:t>8</a:t>
            </a:r>
            <a:r>
              <a:rPr b="0" i="0" lang="en-US" sz="2800" u="none" cap="none" strike="noStrike">
                <a:solidFill>
                  <a:srgbClr val="595959"/>
                </a:solidFill>
                <a:latin typeface="Arial"/>
                <a:ea typeface="Arial"/>
                <a:cs typeface="Arial"/>
                <a:sym typeface="Arial"/>
              </a:rPr>
              <a:t>, 5</a:t>
            </a:r>
            <a:r>
              <a:rPr b="0" baseline="30000" i="0" lang="en-US" sz="2800" u="none" cap="none" strike="noStrike">
                <a:solidFill>
                  <a:srgbClr val="595959"/>
                </a:solidFill>
                <a:latin typeface="Arial"/>
                <a:ea typeface="Arial"/>
                <a:cs typeface="Arial"/>
                <a:sym typeface="Arial"/>
              </a:rPr>
              <a:t>9</a:t>
            </a:r>
            <a:endParaRPr b="0" baseline="30000" i="1" sz="2800" u="none" cap="none" strike="noStrike">
              <a:solidFill>
                <a:srgbClr val="595959"/>
              </a:solidFill>
              <a:latin typeface="Arial"/>
              <a:ea typeface="Arial"/>
              <a:cs typeface="Arial"/>
              <a:sym typeface="Arial"/>
            </a:endParaRPr>
          </a:p>
        </p:txBody>
      </p:sp>
      <p:sp>
        <p:nvSpPr>
          <p:cNvPr id="6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46</a:t>
            </a:r>
          </a:p>
        </p:txBody>
      </p:sp>
      <p:sp>
        <p:nvSpPr>
          <p:cNvPr id="695" name="EWL-COVER-1"/>
          <p:cNvSpPr/>
          <p:nvPr/>
        </p:nvSpPr>
        <p:spPr>
          <a:xfrm>
            <a:off x="488850" y="5127175"/>
            <a:ext cx="11024873" cy="1186034"/>
          </a:xfrm>
          <a:prstGeom prst="rect">
            <a:avLst/>
          </a:prstGeom>
          <a:solidFill>
            <a:srgbClr val="FFFFFF"/>
          </a:solidFill>
          <a:ln>
            <a:noFill/>
          </a:ln>
        </p:spPr>
        <p:txBody>
          <a:bodyPr/>
          <a:lstStyle/>
          <a:p/>
        </p:txBody>
      </p:sp>
      <p:sp>
        <p:nvSpPr>
          <p:cNvPr id="69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697"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08" name="Google Shape;708;p73"/>
          <p:cNvSpPr txBox="1"/>
          <p:nvPr/>
        </p:nvSpPr>
        <p:spPr>
          <a:xfrm>
            <a:off x="495445" y="1256109"/>
            <a:ext cx="8305655" cy="5172972"/>
          </a:xfrm>
          <a:prstGeom prst="rect">
            <a:avLst/>
          </a:prstGeom>
          <a:blipFill rotWithShape="1">
            <a:blip r:embed="rId3">
              <a:alphaModFix/>
            </a:blip>
            <a:stretch>
              <a:fillRect b="0" l="-1321" r="0" t="-117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46</a:t>
            </a:r>
          </a:p>
        </p:txBody>
      </p:sp>
      <p:grpSp>
        <p:nvGrpSpPr>
          <p:cNvPr id="710" name="TEACH-2-student-move" descr="TEACH 2 · Use strategies and tasks to engage students in rigorous work"/>
          <p:cNvGrpSpPr/>
          <p:nvPr/>
        </p:nvGrpSpPr>
        <p:grpSpPr>
          <a:xfrm>
            <a:off x="502920" y="899493"/>
            <a:ext cx="11186160" cy="320040"/>
            <a:chOff x="502920" y="899493"/>
            <a:chExt cx="11186160" cy="320040"/>
          </a:xfrm>
        </p:grpSpPr>
        <p:sp>
          <p:nvSpPr>
            <p:cNvPr id="711" name="TEACH-move-card"/>
            <p:cNvSpPr/>
            <p:nvPr/>
          </p:nvSpPr>
          <p:spPr>
            <a:xfrm>
              <a:off x="502920" y="89949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712" name="TEACH-move-rule"/>
            <p:cNvSpPr/>
            <p:nvPr/>
          </p:nvSpPr>
          <p:spPr>
            <a:xfrm>
              <a:off x="548640" y="960301"/>
              <a:ext cx="100584" cy="198424"/>
            </a:xfrm>
            <a:prstGeom prst="roundRect">
              <a:avLst>
                <a:gd name="adj" fmla="val 50000"/>
              </a:avLst>
            </a:prstGeom>
            <a:solidFill>
              <a:srgbClr val="01708C"/>
            </a:solidFill>
            <a:ln>
              <a:noFill/>
            </a:ln>
          </p:spPr>
          <p:txBody>
            <a:bodyPr/>
            <a:lstStyle/>
            <a:p>
              <a:endParaRPr/>
            </a:p>
          </p:txBody>
        </p:sp>
        <p:sp>
          <p:nvSpPr>
            <p:cNvPr id="713" name="TEACH-move-text"/>
            <p:cNvSpPr txBox="1"/>
            <p:nvPr/>
          </p:nvSpPr>
          <p:spPr>
            <a:xfrm>
              <a:off x="822960" y="89949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many factors does the exponent tell you to write, and what is each factor?</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50" name="Google Shape;650;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1" name="Google Shape;651;p67"/>
          <p:cNvSpPr txBox="1"/>
          <p:nvPr/>
        </p:nvSpPr>
        <p:spPr>
          <a:xfrm>
            <a:off x="484565" y="936098"/>
            <a:ext cx="6795124" cy="2073109"/>
          </a:xfrm>
          <a:prstGeom prst="rect">
            <a:avLst/>
          </a:prstGeom>
          <a:blipFill rotWithShape="1">
            <a:blip r:embed="rId2">
              <a:alphaModFix/>
            </a:blip>
            <a:stretch>
              <a:fillRect b="0" l="-1794" r="0" t="-32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52" name="Google Shape;652;p67"/>
          <p:cNvSpPr/>
          <p:nvPr/>
        </p:nvSpPr>
        <p:spPr>
          <a:xfrm>
            <a:off x="484564" y="4622669"/>
            <a:ext cx="1071268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How can you rewrite the repeated multiplication expression?</a:t>
            </a:r>
            <a:endParaRPr b="0" i="0" sz="1400" u="none" cap="none" strike="noStrike">
              <a:solidFill>
                <a:srgbClr val="000000"/>
              </a:solidFill>
              <a:latin typeface="Arial"/>
              <a:ea typeface="Arial"/>
              <a:cs typeface="Arial"/>
              <a:sym typeface="Arial"/>
            </a:endParaRPr>
          </a:p>
        </p:txBody>
      </p:sp>
      <p:sp>
        <p:nvSpPr>
          <p:cNvPr id="653" name="Google Shape;653;p67"/>
          <p:cNvSpPr txBox="1"/>
          <p:nvPr/>
        </p:nvSpPr>
        <p:spPr>
          <a:xfrm>
            <a:off x="484564" y="5249151"/>
            <a:ext cx="10915145" cy="10763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rewrite the expression using an exponent, 5</a:t>
            </a:r>
            <a:r>
              <a:rPr b="0" baseline="30000" i="0" lang="en-US" sz="2800" u="none" cap="none" strike="noStrike">
                <a:solidFill>
                  <a:srgbClr val="595959"/>
                </a:solidFill>
                <a:latin typeface="Arial"/>
                <a:ea typeface="Arial"/>
                <a:cs typeface="Arial"/>
                <a:sym typeface="Arial"/>
              </a:rPr>
              <a:t>4</a:t>
            </a:r>
            <a:r>
              <a:rPr b="0" i="0" lang="en-US" sz="2800" u="none" cap="none" strike="noStrike">
                <a:solidFill>
                  <a:srgbClr val="595959"/>
                </a:solidFill>
                <a:latin typeface="Arial"/>
                <a:ea typeface="Arial"/>
                <a:cs typeface="Arial"/>
                <a:sym typeface="Arial"/>
              </a:rPr>
              <a:t>.</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1" sz="2800" u="none" cap="none" strike="noStrike">
              <a:solidFill>
                <a:srgbClr val="595959"/>
              </a:solidFill>
              <a:latin typeface="Arial"/>
              <a:ea typeface="Arial"/>
              <a:cs typeface="Arial"/>
              <a:sym typeface="Arial"/>
            </a:endParaRPr>
          </a:p>
        </p:txBody>
      </p:sp>
      <p:sp>
        <p:nvSpPr>
          <p:cNvPr id="654" name="Google Shape;654;p67"/>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Compare Expressions</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46</a:t>
            </a:r>
          </a:p>
        </p:txBody>
      </p:sp>
      <p:sp xmlns:p="http://schemas.openxmlformats.org/presentationml/2006/main" xmlns:a="http://schemas.openxmlformats.org/drawingml/2006/main">
        <p:nvSpPr>
          <p:cNvPr id="655" name="TEACH-embedded-student-prompt" descr="Student thinking and response directions"/>
          <p:cNvSpPr txBox="1"/>
          <p:nvPr/>
        </p:nvSpPr>
        <p:spPr>
          <a:xfrm>
            <a:off x="594360" y="39867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4³, what is the base and what is the exponent?</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Base 3, exp 4</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Base 4, exp 3</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are 4</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are 3</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does 2⁴ mean in expanded form?</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 × 4</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 × 2 × 2 × 2</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 + 2 + 2 + 2</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 × 4</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value of 3³?</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9</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27</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18</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81</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Any non-zero number raised to the power 1 equals: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Itself</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46</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6-3 · Explore Numerical Expressions with Exponents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Exponential Notation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base</a:t>
            </a:r>
            <a:r>
              <a:rPr b="0" i="0" lang="en-US" sz="1450" u="none" cap="none" strike="noStrike">
                <a:solidFill>
                  <a:srgbClr val="475569"/>
                </a:solidFill>
                <a:latin typeface="Arial"/>
                <a:ea typeface="Arial"/>
                <a:cs typeface="Arial"/>
                <a:sym typeface="Arial"/>
              </a:rPr>
              <a:t xml:space="preserve"> is the </a:t>
            </a:r>
            <a:r>
              <a:rPr b="1" i="0" lang="en-US" sz="1450" u="none" cap="none" strike="noStrike">
                <a:solidFill>
                  <a:srgbClr val="475569"/>
                </a:solidFill>
                <a:latin typeface="Arial"/>
                <a:ea typeface="Arial"/>
                <a:cs typeface="Arial"/>
                <a:sym typeface="Arial"/>
              </a:rPr>
              <a:t xml:space="preserve">factor</a:t>
            </a:r>
            <a:r>
              <a:rPr b="0" i="0" lang="en-US" sz="1450" u="none" cap="none" strike="noStrike">
                <a:solidFill>
                  <a:srgbClr val="475569"/>
                </a:solidFill>
                <a:latin typeface="Arial"/>
                <a:ea typeface="Arial"/>
                <a:cs typeface="Arial"/>
                <a:sym typeface="Arial"/>
              </a:rPr>
              <a:t xml:space="preserve"> being multiplied; the exponent indicates how many times it repeats.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Expanded vs Evaluated</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Expanded: 5³ = 5 × 5 × 5. </a:t>
            </a:r>
            <a:r>
              <a:rPr b="1" i="0" lang="en-US" sz="1450" u="none" cap="none" strike="noStrike">
                <a:solidFill>
                  <a:srgbClr val="475569"/>
                </a:solidFill>
                <a:latin typeface="Arial"/>
                <a:ea typeface="Arial"/>
                <a:cs typeface="Arial"/>
                <a:sym typeface="Arial"/>
              </a:rPr>
              <a:t xml:space="preserve">Evaluated</a:t>
            </a:r>
            <a:r>
              <a:rPr b="0" i="0" lang="en-US" sz="1450" u="none" cap="none" strike="noStrike">
                <a:solidFill>
                  <a:srgbClr val="475569"/>
                </a:solidFill>
                <a:latin typeface="Arial"/>
                <a:ea typeface="Arial"/>
                <a:cs typeface="Arial"/>
                <a:sym typeface="Arial"/>
              </a:rPr>
              <a:t xml:space="preserve"> numerical value: 125.</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Common Misconception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An </a:t>
            </a:r>
            <a:r>
              <a:rPr b="1" i="0" lang="en-US" sz="1450" u="none" cap="none" strike="noStrike">
                <a:solidFill>
                  <a:srgbClr val="475569"/>
                </a:solidFill>
                <a:latin typeface="Arial"/>
                <a:ea typeface="Arial"/>
                <a:cs typeface="Arial"/>
                <a:sym typeface="Arial"/>
              </a:rPr>
              <a:t xml:space="preserve">exponent</a:t>
            </a:r>
            <a:r>
              <a:rPr b="0" i="0" lang="en-US" sz="1450" u="none" cap="none" strike="noStrike">
                <a:solidFill>
                  <a:srgbClr val="475569"/>
                </a:solidFill>
                <a:latin typeface="Arial"/>
                <a:ea typeface="Arial"/>
                <a:cs typeface="Arial"/>
                <a:sym typeface="Arial"/>
              </a:rPr>
              <a:t xml:space="preserve"> represents </a:t>
            </a:r>
            <a:r>
              <a:rPr b="1" i="0" lang="en-US" sz="1450" u="none" cap="none" strike="noStrike">
                <a:solidFill>
                  <a:srgbClr val="475569"/>
                </a:solidFill>
                <a:latin typeface="Arial"/>
                <a:ea typeface="Arial"/>
                <a:cs typeface="Arial"/>
                <a:sym typeface="Arial"/>
              </a:rPr>
              <a:t xml:space="preserve">repeated multiplication</a:t>
            </a:r>
            <a:r>
              <a:rPr b="0" i="0" lang="en-US" sz="1450" u="none" cap="none" strike="noStrike">
                <a:solidFill>
                  <a:srgbClr val="475569"/>
                </a:solidFill>
                <a:latin typeface="Arial"/>
                <a:ea typeface="Arial"/>
                <a:cs typeface="Arial"/>
                <a:sym typeface="Arial"/>
              </a:rPr>
              <a:t xml:space="preserve">, NEVER base multiplied by exponent (5³ ≠ 15).</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4"/>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Explore Numerical Expressions with Exponents</a:t>
            </a:r>
            <a:endParaRPr b="0" i="0" sz="1400" u="none" cap="none" strike="noStrike">
              <a:solidFill>
                <a:srgbClr val="000000"/>
              </a:solidFill>
              <a:latin typeface="Arial"/>
              <a:ea typeface="Arial"/>
              <a:cs typeface="Arial"/>
              <a:sym typeface="Arial"/>
            </a:endParaRPr>
          </a:p>
        </p:txBody>
      </p:sp>
      <p:sp>
        <p:nvSpPr>
          <p:cNvPr id="714" name="Google Shape;714;p74"/>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15" name="Google Shape;715;p74"/>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46</a:t>
            </a:r>
          </a:p>
        </p:txBody>
      </p:sp>
      <p:grpSp>
        <p:nvGrpSpPr>
          <p:cNvPr id="717" name="TEACH-2-student-move" descr="TEACH 2 · Use strategies and tasks to engage students in rigorous work"/>
          <p:cNvGrpSpPr/>
          <p:nvPr/>
        </p:nvGrpSpPr>
        <p:grpSpPr>
          <a:xfrm>
            <a:off x="502920" y="3867612"/>
            <a:ext cx="11186160" cy="731520"/>
            <a:chOff x="502920" y="3867612"/>
            <a:chExt cx="11186160" cy="731520"/>
          </a:xfrm>
        </p:grpSpPr>
        <p:sp>
          <p:nvSpPr>
            <p:cNvPr id="71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1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2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YOUR TOOLS  ·  </a:t>
              </a:r>
              <a:r>
                <a:rPr lang="en-US" sz="1800" dirty="0">
                  <a:solidFill>
                    <a:srgbClr val="13303A"/>
                  </a:solidFill>
                  <a:latin typeface="Arial"/>
                </a:rPr>
                <a:t>Reach for your notes, a model, or a manipulative before you reach for an answer.</a:t>
              </a:r>
              <a:endParaRPr lang="en-US" sz="18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cxnSp>
        <p:nvCxnSpPr>
          <p:cNvPr id="767" name="Google Shape;767;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8" name="Google Shape;768;p80"/>
          <p:cNvSpPr txBox="1"/>
          <p:nvPr/>
        </p:nvSpPr>
        <p:spPr>
          <a:xfrm>
            <a:off x="484565" y="936100"/>
            <a:ext cx="6980264" cy="28545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This expression represents 1.5 to the third power.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operation is represented by the expression? How do you know?</a:t>
            </a:r>
            <a:endParaRPr b="0" i="0" sz="1400" u="none" cap="none" strike="noStrike">
              <a:solidFill>
                <a:srgbClr val="000000"/>
              </a:solidFill>
              <a:latin typeface="Arial"/>
              <a:ea typeface="Arial"/>
              <a:cs typeface="Arial"/>
              <a:sym typeface="Arial"/>
            </a:endParaRPr>
          </a:p>
        </p:txBody>
      </p:sp>
      <p:pic>
        <p:nvPicPr>
          <p:cNvPr id="769" name="Google Shape;769;p80"/>
          <p:cNvPicPr preferRelativeResize="0"/>
          <p:nvPr/>
        </p:nvPicPr>
        <p:blipFill rotWithShape="1">
          <a:blip r:embed="rId3">
            <a:alphaModFix/>
          </a:blip>
          <a:srcRect b="0" l="0" r="0" t="0"/>
          <a:stretch/>
        </p:blipFill>
        <p:spPr>
          <a:xfrm>
            <a:off x="8831931" y="1512051"/>
            <a:ext cx="2543223" cy="2628000"/>
          </a:xfrm>
          <a:prstGeom prst="rect">
            <a:avLst/>
          </a:prstGeom>
          <a:noFill/>
          <a:ln>
            <a:noFill/>
          </a:ln>
        </p:spPr>
      </p:pic>
      <p:sp>
        <p:nvSpPr>
          <p:cNvPr id="770" name="Google Shape;770;p80"/>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771" name="Google Shape;771;p80"/>
          <p:cNvSpPr txBox="1"/>
          <p:nvPr/>
        </p:nvSpPr>
        <p:spPr>
          <a:xfrm>
            <a:off x="484565" y="4741159"/>
            <a:ext cx="10915145" cy="15082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46</a:t>
            </a:r>
          </a:p>
        </p:txBody>
      </p:sp>
      <p:grpSp>
        <p:nvGrpSpPr>
          <p:cNvPr id="773" name="TEACH-5-student-move" descr="TEACH 5 · Facilitate student interactions and academic talk"/>
          <p:cNvGrpSpPr/>
          <p:nvPr/>
        </p:nvGrpSpPr>
        <p:grpSpPr>
          <a:xfrm>
            <a:off x="502920" y="5472790"/>
            <a:ext cx="11186160" cy="402336"/>
            <a:chOff x="502920" y="5472790"/>
            <a:chExt cx="11186160" cy="402336"/>
          </a:xfrm>
        </p:grpSpPr>
        <p:sp>
          <p:nvSpPr>
            <p:cNvPr id="77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7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77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cxnSp>
        <p:nvCxnSpPr>
          <p:cNvPr id="776" name="Google Shape;776;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7" name="Google Shape;777;p81"/>
          <p:cNvSpPr txBox="1"/>
          <p:nvPr/>
        </p:nvSpPr>
        <p:spPr>
          <a:xfrm>
            <a:off x="484565" y="936100"/>
            <a:ext cx="6980264" cy="28545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This expression represents 1.5 to the third power.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operation is represented by the expression? How do you know?</a:t>
            </a:r>
            <a:endParaRPr b="0" i="0" sz="1400" u="none" cap="none" strike="noStrike">
              <a:solidFill>
                <a:srgbClr val="000000"/>
              </a:solidFill>
              <a:latin typeface="Arial"/>
              <a:ea typeface="Arial"/>
              <a:cs typeface="Arial"/>
              <a:sym typeface="Arial"/>
            </a:endParaRPr>
          </a:p>
        </p:txBody>
      </p:sp>
      <p:pic>
        <p:nvPicPr>
          <p:cNvPr id="778" name="Google Shape;778;p81"/>
          <p:cNvPicPr preferRelativeResize="0"/>
          <p:nvPr/>
        </p:nvPicPr>
        <p:blipFill rotWithShape="1">
          <a:blip r:embed="rId3">
            <a:alphaModFix/>
          </a:blip>
          <a:srcRect b="0" l="0" r="0" t="0"/>
          <a:stretch/>
        </p:blipFill>
        <p:spPr>
          <a:xfrm>
            <a:off x="8831931" y="1512051"/>
            <a:ext cx="2543223" cy="2628000"/>
          </a:xfrm>
          <a:prstGeom prst="rect">
            <a:avLst/>
          </a:prstGeom>
          <a:noFill/>
          <a:ln>
            <a:noFill/>
          </a:ln>
        </p:spPr>
      </p:pic>
      <p:sp>
        <p:nvSpPr>
          <p:cNvPr id="779" name="Google Shape;779;p81"/>
          <p:cNvSpPr txBox="1"/>
          <p:nvPr/>
        </p:nvSpPr>
        <p:spPr>
          <a:xfrm>
            <a:off x="484565" y="4741159"/>
            <a:ext cx="10915145" cy="15082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represents multiplication because a power represents repeated multiplication.</a:t>
            </a:r>
            <a:endParaRPr b="0" i="1" sz="2800" u="none" cap="none" strike="noStrike">
              <a:solidFill>
                <a:srgbClr val="595959"/>
              </a:solidFill>
              <a:latin typeface="Arial"/>
              <a:ea typeface="Arial"/>
              <a:cs typeface="Arial"/>
              <a:sym typeface="Arial"/>
            </a:endParaRPr>
          </a:p>
        </p:txBody>
      </p:sp>
      <p:sp>
        <p:nvSpPr>
          <p:cNvPr id="780" name="Google Shape;780;p81"/>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7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46</a:t>
            </a:r>
          </a:p>
        </p:txBody>
      </p:sp>
      <p:sp>
        <p:nvSpPr>
          <p:cNvPr id="782" name="EWL-COVER-1"/>
          <p:cNvSpPr/>
          <p:nvPr/>
        </p:nvSpPr>
        <p:spPr>
          <a:xfrm>
            <a:off x="429701" y="4686295"/>
            <a:ext cx="11024873" cy="1617985"/>
          </a:xfrm>
          <a:prstGeom prst="rect">
            <a:avLst/>
          </a:prstGeom>
          <a:solidFill>
            <a:srgbClr val="FFFFFF"/>
          </a:solidFill>
          <a:ln>
            <a:noFill/>
          </a:ln>
        </p:spPr>
        <p:txBody>
          <a:bodyPr/>
          <a:lstStyle/>
          <a:p/>
        </p:txBody>
      </p:sp>
      <p:grpSp>
        <p:nvGrpSpPr>
          <p:cNvPr id="783" name="TEACH-6-student-move" descr="TEACH 6 · Organize and implement routines to support a learning-focused classroom"/>
          <p:cNvGrpSpPr/>
          <p:nvPr/>
        </p:nvGrpSpPr>
        <p:grpSpPr>
          <a:xfrm>
            <a:off x="502920" y="4302247"/>
            <a:ext cx="11186160" cy="402336"/>
            <a:chOff x="502920" y="4302247"/>
            <a:chExt cx="11186160" cy="402336"/>
          </a:xfrm>
        </p:grpSpPr>
        <p:sp>
          <p:nvSpPr>
            <p:cNvPr id="784" name="TEACH-move-card"/>
            <p:cNvSpPr/>
            <p:nvPr/>
          </p:nvSpPr>
          <p:spPr>
            <a:xfrm>
              <a:off x="502920" y="430224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85" name="TEACH-move-rule"/>
            <p:cNvSpPr/>
            <p:nvPr/>
          </p:nvSpPr>
          <p:spPr>
            <a:xfrm>
              <a:off x="548640" y="4378691"/>
              <a:ext cx="100584" cy="249448"/>
            </a:xfrm>
            <a:prstGeom prst="roundRect">
              <a:avLst>
                <a:gd name="adj" fmla="val 50000"/>
              </a:avLst>
            </a:prstGeom>
            <a:solidFill>
              <a:srgbClr val="01708C"/>
            </a:solidFill>
            <a:ln>
              <a:noFill/>
            </a:ln>
          </p:spPr>
          <p:txBody>
            <a:bodyPr/>
            <a:lstStyle/>
            <a:p>
              <a:endParaRPr/>
            </a:p>
          </p:txBody>
        </p:sp>
        <p:sp>
          <p:nvSpPr>
            <p:cNvPr id="786" name="TEACH-move-text"/>
            <p:cNvSpPr txBox="1"/>
            <p:nvPr/>
          </p:nvSpPr>
          <p:spPr>
            <a:xfrm>
              <a:off x="822960" y="430224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782"/>
                                  </p:tgtEl>
                                  <p:attrNameLst>
                                    <p:attrName>style.visibility</p:attrName>
                                  </p:attrNameLst>
                                </p:cBhvr>
                                <p:to>
                                  <p:strVal val="hidden"/>
                                </p:to>
                              </p:set>
                            </p:childTnLst>
                          </p:cTn>
                        </p:par>
                      </p:childTnLst>
                    </p:cTn>
                  </p:par>
                </p:childTnLst>
              </p:cTn>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cxnSp>
        <p:nvCxnSpPr>
          <p:cNvPr id="859" name="Google Shape;859;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0" name="Google Shape;860;p91"/>
          <p:cNvSpPr txBox="1"/>
          <p:nvPr/>
        </p:nvSpPr>
        <p:spPr>
          <a:xfrm>
            <a:off x="484565" y="936099"/>
            <a:ext cx="7612031" cy="284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look at another way to find the value of the expression 1.5</a:t>
            </a:r>
            <a:r>
              <a:rPr b="0" baseline="30000" i="0" lang="en-US" sz="2800" u="none" cap="none" strike="noStrike">
                <a:solidFill>
                  <a:srgbClr val="23282D"/>
                </a:solidFill>
                <a:latin typeface="Arial"/>
                <a:ea typeface="Arial"/>
                <a:cs typeface="Arial"/>
                <a:sym typeface="Arial"/>
              </a:rPr>
              <a:t>3</a:t>
            </a:r>
            <a:r>
              <a:rPr b="0"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Powers of 1.5 include 1.5</a:t>
            </a:r>
            <a:r>
              <a:rPr b="0" baseline="30000" i="0" lang="en-US" sz="2800" u="none" cap="none" strike="noStrike">
                <a:solidFill>
                  <a:srgbClr val="23282D"/>
                </a:solidFill>
                <a:latin typeface="Arial"/>
                <a:ea typeface="Arial"/>
                <a:cs typeface="Arial"/>
                <a:sym typeface="Arial"/>
              </a:rPr>
              <a:t>1</a:t>
            </a:r>
            <a:r>
              <a:rPr b="0" i="0" lang="en-US" sz="2800" u="none" cap="none" strike="noStrike">
                <a:solidFill>
                  <a:srgbClr val="23282D"/>
                </a:solidFill>
                <a:latin typeface="Arial"/>
                <a:ea typeface="Arial"/>
                <a:cs typeface="Arial"/>
                <a:sym typeface="Arial"/>
              </a:rPr>
              <a:t>, 1.5</a:t>
            </a:r>
            <a:r>
              <a:rPr b="0" baseline="30000" i="0" lang="en-US" sz="2800" u="none" cap="none" strike="noStrike">
                <a:solidFill>
                  <a:srgbClr val="23282D"/>
                </a:solidFill>
                <a:latin typeface="Arial"/>
                <a:ea typeface="Arial"/>
                <a:cs typeface="Arial"/>
                <a:sym typeface="Arial"/>
              </a:rPr>
              <a:t>2</a:t>
            </a:r>
            <a:r>
              <a:rPr b="0" i="0" lang="en-US" sz="2800" u="none" cap="none" strike="noStrike">
                <a:solidFill>
                  <a:srgbClr val="23282D"/>
                </a:solidFill>
                <a:latin typeface="Arial"/>
                <a:ea typeface="Arial"/>
                <a:cs typeface="Arial"/>
                <a:sym typeface="Arial"/>
              </a:rPr>
              <a:t>, 1.5</a:t>
            </a:r>
            <a:r>
              <a:rPr b="0" baseline="30000" i="0" lang="en-US" sz="2800" u="none" cap="none" strike="noStrike">
                <a:solidFill>
                  <a:srgbClr val="23282D"/>
                </a:solidFill>
                <a:latin typeface="Arial"/>
                <a:ea typeface="Arial"/>
                <a:cs typeface="Arial"/>
                <a:sym typeface="Arial"/>
              </a:rPr>
              <a:t>3</a:t>
            </a:r>
            <a:r>
              <a:rPr b="0" i="0" lang="en-US" sz="2800" u="none" cap="none" strike="noStrike">
                <a:solidFill>
                  <a:srgbClr val="23282D"/>
                </a:solidFill>
                <a:latin typeface="Arial"/>
                <a:ea typeface="Arial"/>
                <a:cs typeface="Arial"/>
                <a:sym typeface="Arial"/>
              </a:rPr>
              <a:t>, etc.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organize the powers of 1.5?</a:t>
            </a:r>
            <a:endParaRPr b="0" i="0" sz="1400" u="none" cap="none" strike="noStrike">
              <a:solidFill>
                <a:srgbClr val="000000"/>
              </a:solidFill>
              <a:latin typeface="Arial"/>
              <a:ea typeface="Arial"/>
              <a:cs typeface="Arial"/>
              <a:sym typeface="Arial"/>
            </a:endParaRPr>
          </a:p>
        </p:txBody>
      </p:sp>
      <p:sp>
        <p:nvSpPr>
          <p:cNvPr id="861" name="Google Shape;861;p91"/>
          <p:cNvSpPr txBox="1"/>
          <p:nvPr/>
        </p:nvSpPr>
        <p:spPr>
          <a:xfrm>
            <a:off x="484565" y="5139941"/>
            <a:ext cx="10915145" cy="10676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table.</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1" sz="2800" u="none" cap="none" strike="noStrike">
              <a:solidFill>
                <a:srgbClr val="595959"/>
              </a:solidFill>
              <a:latin typeface="Arial"/>
              <a:ea typeface="Arial"/>
              <a:cs typeface="Arial"/>
              <a:sym typeface="Arial"/>
            </a:endParaRPr>
          </a:p>
        </p:txBody>
      </p:sp>
      <p:sp>
        <p:nvSpPr>
          <p:cNvPr id="862" name="Google Shape;862;p91"/>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8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46</a:t>
            </a:r>
          </a:p>
        </p:txBody>
      </p:sp>
      <p:sp>
        <p:nvSpPr>
          <p:cNvPr id="864" name="EWL-COVER-1"/>
          <p:cNvSpPr/>
          <p:nvPr/>
        </p:nvSpPr>
        <p:spPr>
          <a:xfrm>
            <a:off x="429701" y="5085077"/>
            <a:ext cx="11024873" cy="1301476"/>
          </a:xfrm>
          <a:prstGeom prst="rect">
            <a:avLst/>
          </a:prstGeom>
          <a:solidFill>
            <a:srgbClr val="FFFFFF"/>
          </a:solidFill>
          <a:ln>
            <a:noFill/>
          </a:ln>
        </p:spPr>
        <p:txBody>
          <a:bodyPr/>
          <a:lstStyle/>
          <a:p/>
        </p:txBody>
      </p:sp>
      <p:sp xmlns:p="http://schemas.openxmlformats.org/presentationml/2006/main" xmlns:a="http://schemas.openxmlformats.org/drawingml/2006/main">
        <p:nvSpPr>
          <p:cNvPr id="865"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cxnSp>
        <p:nvCxnSpPr>
          <p:cNvPr id="876" name="Google Shape;87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93"/>
          <p:cNvSpPr txBox="1"/>
          <p:nvPr/>
        </p:nvSpPr>
        <p:spPr>
          <a:xfrm>
            <a:off x="484565" y="936099"/>
            <a:ext cx="7612031" cy="35527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a table of values to organize powers of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find the value of each power? </a:t>
            </a:r>
            <a:endParaRPr b="0" i="0" sz="1400" u="none" cap="none" strike="noStrike">
              <a:solidFill>
                <a:srgbClr val="000000"/>
              </a:solidFill>
              <a:latin typeface="Arial"/>
              <a:ea typeface="Arial"/>
              <a:cs typeface="Arial"/>
              <a:sym typeface="Arial"/>
            </a:endParaRPr>
          </a:p>
        </p:txBody>
      </p:sp>
      <p:sp>
        <p:nvSpPr>
          <p:cNvPr id="878" name="Google Shape;878;p93"/>
          <p:cNvSpPr txBox="1"/>
          <p:nvPr/>
        </p:nvSpPr>
        <p:spPr>
          <a:xfrm>
            <a:off x="484565" y="4825049"/>
            <a:ext cx="10915145" cy="15082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multiply the previous value in the table by 1.5 to find the next value in the table.</a:t>
            </a:r>
            <a:endParaRPr b="0" i="1" sz="2800" u="none" cap="none" strike="noStrike">
              <a:solidFill>
                <a:srgbClr val="595959"/>
              </a:solidFill>
              <a:latin typeface="Arial"/>
              <a:ea typeface="Arial"/>
              <a:cs typeface="Arial"/>
              <a:sym typeface="Arial"/>
            </a:endParaRPr>
          </a:p>
        </p:txBody>
      </p:sp>
      <p:graphicFrame>
        <p:nvGraphicFramePr>
          <p:cNvPr id="879" name="Google Shape;879;p93"/>
          <p:cNvGraphicFramePr/>
          <p:nvPr/>
        </p:nvGraphicFramePr>
        <p:xfrm>
          <a:off x="1520902" y="2486886"/>
          <a:ext cx="3000000" cy="3000000"/>
        </p:xfrm>
        <a:graphic>
          <a:graphicData uri="http://schemas.openxmlformats.org/drawingml/2006/table">
            <a:tbl>
              <a:tblPr bandRow="1" firstRow="1">
                <a:noFill/>
                <a:tableStyleId>{7F720992-DD3E-42AB-A9E2-FC60245CCD62}</a:tableStyleId>
              </a:tblPr>
              <a:tblGrid>
                <a:gridCol w="1181425"/>
                <a:gridCol w="776600"/>
                <a:gridCol w="776600"/>
                <a:gridCol w="1089450"/>
              </a:tblGrid>
              <a:tr h="531700">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Power</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1.5</a:t>
                      </a:r>
                      <a:r>
                        <a:rPr b="0" baseline="30000" lang="en-US" sz="2400" u="none" cap="none" strike="noStrike">
                          <a:solidFill>
                            <a:schemeClr val="dk1"/>
                          </a:solidFill>
                          <a:latin typeface="Arial"/>
                          <a:ea typeface="Arial"/>
                          <a:cs typeface="Arial"/>
                          <a:sym typeface="Arial"/>
                        </a:rPr>
                        <a:t>1</a:t>
                      </a:r>
                      <a:endParaRPr b="0" baseline="30000" sz="2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1.5</a:t>
                      </a:r>
                      <a:r>
                        <a:rPr b="0" baseline="30000" lang="en-US" sz="2400" u="none" cap="none" strike="noStrike">
                          <a:solidFill>
                            <a:schemeClr val="dk1"/>
                          </a:solidFill>
                          <a:latin typeface="Arial"/>
                          <a:ea typeface="Arial"/>
                          <a:cs typeface="Arial"/>
                          <a:sym typeface="Arial"/>
                        </a:rPr>
                        <a:t>2</a:t>
                      </a:r>
                      <a:endParaRPr b="0" baseline="30000" sz="2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1.5</a:t>
                      </a:r>
                      <a:r>
                        <a:rPr b="0" baseline="30000" i="0" lang="en-US" sz="2400" u="none" cap="none" strike="noStrike">
                          <a:solidFill>
                            <a:schemeClr val="dk1"/>
                          </a:solidFill>
                          <a:latin typeface="Arial"/>
                          <a:ea typeface="Arial"/>
                          <a:cs typeface="Arial"/>
                          <a:sym typeface="Arial"/>
                        </a:rPr>
                        <a:t>3</a:t>
                      </a:r>
                      <a:endParaRPr b="0" baseline="30000" i="0" sz="2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r>
              <a:tr h="531700">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Value</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1.5</a:t>
                      </a:r>
                      <a:endParaRPr sz="24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Arial"/>
                        <a:ea typeface="Arial"/>
                        <a:cs typeface="Arial"/>
                        <a:sym typeface="Arial"/>
                      </a:endParaRPr>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b="1" sz="2400" u="none" cap="none" strike="noStrike">
                        <a:latin typeface="Arial"/>
                        <a:ea typeface="Arial"/>
                        <a:cs typeface="Arial"/>
                        <a:sym typeface="Arial"/>
                      </a:endParaRPr>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880" name="Google Shape;880;p93"/>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8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46</a:t>
            </a:r>
          </a:p>
        </p:txBody>
      </p:sp>
      <p:sp>
        <p:nvSpPr>
          <p:cNvPr id="882" name="EWL-COVER-1"/>
          <p:cNvSpPr/>
          <p:nvPr/>
        </p:nvSpPr>
        <p:spPr>
          <a:xfrm>
            <a:off x="429701" y="4770185"/>
            <a:ext cx="11024873" cy="161798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cxnSp>
        <p:nvCxnSpPr>
          <p:cNvPr id="919" name="Google Shape;919;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0" name="Google Shape;920;p98"/>
          <p:cNvSpPr txBox="1"/>
          <p:nvPr/>
        </p:nvSpPr>
        <p:spPr>
          <a:xfrm>
            <a:off x="868697" y="419976"/>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21" name="Google Shape;921;p98"/>
          <p:cNvPicPr preferRelativeResize="0"/>
          <p:nvPr/>
        </p:nvPicPr>
        <p:blipFill rotWithShape="1">
          <a:blip r:embed="rId3">
            <a:alphaModFix/>
          </a:blip>
          <a:srcRect b="0" l="0" r="0" t="0"/>
          <a:stretch/>
        </p:blipFill>
        <p:spPr>
          <a:xfrm>
            <a:off x="515062" y="499534"/>
            <a:ext cx="353635" cy="340537"/>
          </a:xfrm>
          <a:prstGeom prst="rect">
            <a:avLst/>
          </a:prstGeom>
          <a:noFill/>
          <a:ln>
            <a:noFill/>
          </a:ln>
        </p:spPr>
      </p:pic>
      <p:sp>
        <p:nvSpPr>
          <p:cNvPr id="922" name="Google Shape;922;p98"/>
          <p:cNvSpPr txBox="1"/>
          <p:nvPr/>
        </p:nvSpPr>
        <p:spPr>
          <a:xfrm>
            <a:off x="531479" y="5174841"/>
            <a:ext cx="10915145" cy="1051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value to the right is 1.5 times greater than the value to its left.</a:t>
            </a:r>
            <a:endParaRPr b="0" i="1" sz="2800" u="none" cap="none" strike="noStrike">
              <a:solidFill>
                <a:srgbClr val="595959"/>
              </a:solidFill>
              <a:latin typeface="Arial"/>
              <a:ea typeface="Arial"/>
              <a:cs typeface="Arial"/>
              <a:sym typeface="Arial"/>
            </a:endParaRPr>
          </a:p>
        </p:txBody>
      </p:sp>
      <p:graphicFrame>
        <p:nvGraphicFramePr>
          <p:cNvPr id="923" name="Google Shape;923;p98"/>
          <p:cNvGraphicFramePr/>
          <p:nvPr/>
        </p:nvGraphicFramePr>
        <p:xfrm>
          <a:off x="1431549" y="2503051"/>
          <a:ext cx="3000000" cy="3000000"/>
        </p:xfrm>
        <a:graphic>
          <a:graphicData uri="http://schemas.openxmlformats.org/drawingml/2006/table">
            <a:tbl>
              <a:tblPr bandRow="1" firstRow="1">
                <a:noFill/>
                <a:tableStyleId>{7F720992-DD3E-42AB-A9E2-FC60245CCD62}</a:tableStyleId>
              </a:tblPr>
              <a:tblGrid>
                <a:gridCol w="1181425"/>
                <a:gridCol w="776600"/>
                <a:gridCol w="776600"/>
                <a:gridCol w="1089450"/>
              </a:tblGrid>
              <a:tr h="531700">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Power</a:t>
                      </a:r>
                      <a:endParaRPr sz="1400" u="none" cap="none" strike="noStrike"/>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1.5</a:t>
                      </a:r>
                      <a:r>
                        <a:rPr b="0" baseline="30000" lang="en-US" sz="2400" u="none" cap="none" strike="noStrike">
                          <a:solidFill>
                            <a:schemeClr val="dk1"/>
                          </a:solidFill>
                          <a:latin typeface="Arial"/>
                          <a:ea typeface="Arial"/>
                          <a:cs typeface="Arial"/>
                          <a:sym typeface="Arial"/>
                        </a:rPr>
                        <a:t>1</a:t>
                      </a:r>
                      <a:endParaRPr b="0" baseline="3000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1.5</a:t>
                      </a:r>
                      <a:r>
                        <a:rPr b="0" baseline="30000" lang="en-US" sz="2400" u="none" cap="none" strike="noStrike">
                          <a:solidFill>
                            <a:schemeClr val="dk1"/>
                          </a:solidFill>
                          <a:latin typeface="Arial"/>
                          <a:ea typeface="Arial"/>
                          <a:cs typeface="Arial"/>
                          <a:sym typeface="Arial"/>
                        </a:rPr>
                        <a:t>2</a:t>
                      </a:r>
                      <a:endParaRPr b="0" baseline="3000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1.5</a:t>
                      </a:r>
                      <a:r>
                        <a:rPr b="0" baseline="30000" i="0" lang="en-US" sz="2400" u="none" cap="none" strike="noStrike">
                          <a:solidFill>
                            <a:schemeClr val="dk1"/>
                          </a:solidFill>
                          <a:latin typeface="Arial"/>
                          <a:ea typeface="Arial"/>
                          <a:cs typeface="Arial"/>
                          <a:sym typeface="Arial"/>
                        </a:rPr>
                        <a:t>3</a:t>
                      </a:r>
                      <a:endParaRPr b="0" baseline="30000" i="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r>
              <a:tr h="531700">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Value</a:t>
                      </a:r>
                      <a:endParaRPr sz="1400" u="none" cap="none" strike="noStrike"/>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1.5</a:t>
                      </a:r>
                      <a:endParaRPr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2.25</a:t>
                      </a:r>
                      <a:endParaRPr sz="2400" u="none" cap="none" strike="noStrike">
                        <a:latin typeface="Arial"/>
                        <a:ea typeface="Arial"/>
                        <a:cs typeface="Arial"/>
                        <a:sym typeface="Arial"/>
                      </a:endParaRPr>
                    </a:p>
                  </a:txBody>
                  <a:tcPr marT="45725" marB="45725" marR="91450" marL="91450">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b="0" lang="en-US" sz="2400" u="none" cap="none" strike="noStrike">
                          <a:latin typeface="Arial"/>
                          <a:ea typeface="Arial"/>
                          <a:cs typeface="Arial"/>
                          <a:sym typeface="Arial"/>
                        </a:rPr>
                        <a:t>3.375</a:t>
                      </a:r>
                      <a:endParaRPr b="0" sz="2400" u="none" cap="none" strike="noStrike">
                        <a:latin typeface="Arial"/>
                        <a:ea typeface="Arial"/>
                        <a:cs typeface="Arial"/>
                        <a:sym typeface="Arial"/>
                      </a:endParaRPr>
                    </a:p>
                  </a:txBody>
                  <a:tcPr marT="45725" marB="45725" marR="91450" marL="91450">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924" name="Google Shape;924;p98"/>
          <p:cNvSpPr txBox="1"/>
          <p:nvPr/>
        </p:nvSpPr>
        <p:spPr>
          <a:xfrm>
            <a:off x="531479" y="1397714"/>
            <a:ext cx="7612031" cy="6682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are the values in the table related?</a:t>
            </a:r>
            <a:endParaRPr b="0" i="0" sz="1400" u="none" cap="none" strike="noStrike">
              <a:solidFill>
                <a:srgbClr val="000000"/>
              </a:solidFill>
              <a:latin typeface="Arial"/>
              <a:ea typeface="Arial"/>
              <a:cs typeface="Arial"/>
              <a:sym typeface="Arial"/>
            </a:endParaRPr>
          </a:p>
        </p:txBody>
      </p:sp>
      <p:sp>
        <p:nvSpPr>
          <p:cNvPr id="92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46</a:t>
            </a:r>
          </a:p>
        </p:txBody>
      </p:sp>
      <p:sp>
        <p:nvSpPr>
          <p:cNvPr id="926" name="EWL-COVER-1"/>
          <p:cNvSpPr/>
          <p:nvPr/>
        </p:nvSpPr>
        <p:spPr>
          <a:xfrm>
            <a:off x="476615" y="5119977"/>
            <a:ext cx="11024873" cy="1160786"/>
          </a:xfrm>
          <a:prstGeom prst="rect">
            <a:avLst/>
          </a:prstGeom>
          <a:solidFill>
            <a:srgbClr val="FFFFFF"/>
          </a:solidFill>
          <a:ln>
            <a:noFill/>
          </a:ln>
        </p:spPr>
        <p:txBody>
          <a:bodyPr/>
          <a:lstStyle/>
          <a:p/>
        </p:txBody>
      </p:sp>
      <p:sp>
        <p:nvSpPr>
          <p:cNvPr id="92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928" name="TEACH-embedded-student-prompt" descr="Student thinking and response directions"/>
          <p:cNvSpPr txBox="1"/>
          <p:nvPr/>
        </p:nvSpPr>
        <p:spPr>
          <a:xfrm>
            <a:off x="611124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cxnSp>
        <p:nvCxnSpPr>
          <p:cNvPr id="940" name="Google Shape;940;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1" name="Google Shape;941;p100"/>
          <p:cNvSpPr txBox="1"/>
          <p:nvPr/>
        </p:nvSpPr>
        <p:spPr>
          <a:xfrm>
            <a:off x="484565" y="936101"/>
            <a:ext cx="6980264" cy="10173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value of the expression shown?</a:t>
            </a:r>
            <a:endParaRPr b="0" i="0" sz="1400" u="none" cap="none" strike="noStrike">
              <a:solidFill>
                <a:srgbClr val="000000"/>
              </a:solidFill>
              <a:latin typeface="Arial"/>
              <a:ea typeface="Arial"/>
              <a:cs typeface="Arial"/>
              <a:sym typeface="Arial"/>
            </a:endParaRPr>
          </a:p>
        </p:txBody>
      </p:sp>
      <p:pic>
        <p:nvPicPr>
          <p:cNvPr id="942" name="Google Shape;942;p100"/>
          <p:cNvPicPr preferRelativeResize="0"/>
          <p:nvPr/>
        </p:nvPicPr>
        <p:blipFill rotWithShape="1">
          <a:blip r:embed="rId3">
            <a:alphaModFix/>
          </a:blip>
          <a:srcRect b="0" l="0" r="0" t="0"/>
          <a:stretch/>
        </p:blipFill>
        <p:spPr>
          <a:xfrm>
            <a:off x="8831931" y="1512051"/>
            <a:ext cx="2543223" cy="2628000"/>
          </a:xfrm>
          <a:prstGeom prst="rect">
            <a:avLst/>
          </a:prstGeom>
          <a:noFill/>
          <a:ln>
            <a:noFill/>
          </a:ln>
        </p:spPr>
      </p:pic>
      <p:sp>
        <p:nvSpPr>
          <p:cNvPr id="943" name="Google Shape;943;p100"/>
          <p:cNvSpPr/>
          <p:nvPr/>
        </p:nvSpPr>
        <p:spPr>
          <a:xfrm>
            <a:off x="484565" y="2311948"/>
            <a:ext cx="4522392" cy="523220"/>
          </a:xfrm>
          <a:prstGeom prst="rect">
            <a:avLst/>
          </a:prstGeom>
          <a:noFill/>
          <a:ln cap="flat" cmpd="sng" w="12700">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value of 1.5</a:t>
            </a:r>
            <a:r>
              <a:rPr b="0" baseline="30000" i="0" lang="en-US" sz="2800" u="none" cap="none" strike="noStrike">
                <a:solidFill>
                  <a:schemeClr val="dk1"/>
                </a:solidFill>
                <a:latin typeface="Arial"/>
                <a:ea typeface="Arial"/>
                <a:cs typeface="Arial"/>
                <a:sym typeface="Arial"/>
              </a:rPr>
              <a:t>3</a:t>
            </a:r>
            <a:r>
              <a:rPr b="0" i="0" lang="en-US" sz="2800" u="none" cap="none" strike="noStrike">
                <a:solidFill>
                  <a:schemeClr val="dk1"/>
                </a:solidFill>
                <a:latin typeface="Arial"/>
                <a:ea typeface="Arial"/>
                <a:cs typeface="Arial"/>
                <a:sym typeface="Arial"/>
              </a:rPr>
              <a:t> is 3.375.</a:t>
            </a:r>
            <a:endParaRPr b="0" i="0" sz="1400" u="none" cap="none" strike="noStrike">
              <a:solidFill>
                <a:srgbClr val="000000"/>
              </a:solidFill>
              <a:latin typeface="Arial"/>
              <a:ea typeface="Arial"/>
              <a:cs typeface="Arial"/>
              <a:sym typeface="Arial"/>
            </a:endParaRPr>
          </a:p>
        </p:txBody>
      </p:sp>
      <p:sp>
        <p:nvSpPr>
          <p:cNvPr id="944" name="Google Shape;944;p100"/>
          <p:cNvSpPr/>
          <p:nvPr/>
        </p:nvSpPr>
        <p:spPr>
          <a:xfrm>
            <a:off x="567115" y="5546793"/>
            <a:ext cx="994410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use mathematics to justify your process?</a:t>
            </a:r>
            <a:endParaRPr b="0" i="0" sz="1400" u="none" cap="none" strike="noStrike">
              <a:solidFill>
                <a:srgbClr val="000000"/>
              </a:solidFill>
              <a:latin typeface="Arial"/>
              <a:ea typeface="Arial"/>
              <a:cs typeface="Arial"/>
              <a:sym typeface="Arial"/>
            </a:endParaRPr>
          </a:p>
        </p:txBody>
      </p:sp>
      <p:pic>
        <p:nvPicPr>
          <p:cNvPr id="945" name="Google Shape;945;p100"/>
          <p:cNvPicPr preferRelativeResize="0"/>
          <p:nvPr/>
        </p:nvPicPr>
        <p:blipFill rotWithShape="1">
          <a:blip r:embed="rId4">
            <a:alphaModFix/>
          </a:blip>
          <a:srcRect b="0" l="0" r="0" t="0"/>
          <a:stretch/>
        </p:blipFill>
        <p:spPr>
          <a:xfrm>
            <a:off x="484565" y="4681848"/>
            <a:ext cx="5054600" cy="838200"/>
          </a:xfrm>
          <a:prstGeom prst="rect">
            <a:avLst/>
          </a:prstGeom>
          <a:noFill/>
          <a:ln>
            <a:noFill/>
          </a:ln>
        </p:spPr>
      </p:pic>
      <p:sp>
        <p:nvSpPr>
          <p:cNvPr id="946" name="Google Shape;946;p100"/>
          <p:cNvSpPr txBox="1"/>
          <p:nvPr/>
        </p:nvSpPr>
        <p:spPr>
          <a:xfrm>
            <a:off x="3298307" y="4822287"/>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Justifying</a:t>
            </a:r>
            <a:endParaRPr b="0" i="0" sz="2000" u="none" cap="none" strike="noStrike">
              <a:solidFill>
                <a:srgbClr val="262626"/>
              </a:solidFill>
              <a:latin typeface="Arial"/>
              <a:ea typeface="Calibri"/>
              <a:cs typeface="Calibri"/>
              <a:sym typeface="Calibri"/>
            </a:endParaRPr>
          </a:p>
        </p:txBody>
      </p:sp>
      <p:sp>
        <p:nvSpPr>
          <p:cNvPr id="947" name="Google Shape;947;p100"/>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9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46</a:t>
            </a:r>
          </a:p>
        </p:txBody>
      </p:sp>
      <p:sp xmlns:p="http://schemas.openxmlformats.org/presentationml/2006/main" xmlns:a="http://schemas.openxmlformats.org/drawingml/2006/main">
        <p:nvSpPr>
          <p:cNvPr id="949" name="TEACH-embedded-student-prompt" descr="Student thinking and response directions"/>
          <p:cNvSpPr txBox="1"/>
          <p:nvPr/>
        </p:nvSpPr>
        <p:spPr>
          <a:xfrm>
            <a:off x="594360" y="37673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53" name="Google Shape;953;p101"/>
          <p:cNvSpPr txBox="1"/>
          <p:nvPr/>
        </p:nvSpPr>
        <p:spPr>
          <a:xfrm>
            <a:off x="495445" y="1256109"/>
            <a:ext cx="8534255" cy="5172972"/>
          </a:xfrm>
          <a:prstGeom prst="rect">
            <a:avLst/>
          </a:prstGeom>
          <a:blipFill rotWithShape="1">
            <a:blip r:embed="rId3">
              <a:alphaModFix/>
            </a:blip>
            <a:stretch>
              <a:fillRect b="0" l="-1286"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46</a:t>
            </a:r>
          </a:p>
        </p:txBody>
      </p:sp>
      <p:grpSp>
        <p:nvGrpSpPr>
          <p:cNvPr id="955" name="TEACH-2-student-move" descr="TEACH 2 · Use strategies and tasks to engage students in rigorous work"/>
          <p:cNvGrpSpPr/>
          <p:nvPr/>
        </p:nvGrpSpPr>
        <p:grpSpPr>
          <a:xfrm>
            <a:off x="502920" y="899493"/>
            <a:ext cx="11186160" cy="320040"/>
            <a:chOff x="502920" y="899493"/>
            <a:chExt cx="11186160" cy="320040"/>
          </a:xfrm>
        </p:grpSpPr>
        <p:sp>
          <p:nvSpPr>
            <p:cNvPr id="956" name="TEACH-move-card"/>
            <p:cNvSpPr/>
            <p:nvPr/>
          </p:nvSpPr>
          <p:spPr>
            <a:xfrm>
              <a:off x="502920" y="89949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57" name="TEACH-move-rule"/>
            <p:cNvSpPr/>
            <p:nvPr/>
          </p:nvSpPr>
          <p:spPr>
            <a:xfrm>
              <a:off x="548640" y="960301"/>
              <a:ext cx="100584" cy="198424"/>
            </a:xfrm>
            <a:prstGeom prst="roundRect">
              <a:avLst>
                <a:gd name="adj" fmla="val 50000"/>
              </a:avLst>
            </a:prstGeom>
            <a:solidFill>
              <a:srgbClr val="01708C"/>
            </a:solidFill>
            <a:ln>
              <a:noFill/>
            </a:ln>
          </p:spPr>
          <p:txBody>
            <a:bodyPr/>
            <a:lstStyle/>
            <a:p>
              <a:endParaRPr/>
            </a:p>
          </p:txBody>
        </p:sp>
        <p:sp>
          <p:nvSpPr>
            <p:cNvPr id="958" name="TEACH-move-text"/>
            <p:cNvSpPr txBox="1"/>
            <p:nvPr/>
          </p:nvSpPr>
          <p:spPr>
            <a:xfrm>
              <a:off x="822960" y="89949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multiplying the base by the exponent.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Expand the given power as repeated multiplication before calculating.</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58" name="Google Shape;758;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9" name="Google Shape;759;p79"/>
          <p:cNvSpPr txBox="1"/>
          <p:nvPr/>
        </p:nvSpPr>
        <p:spPr>
          <a:xfrm>
            <a:off x="484565" y="936101"/>
            <a:ext cx="6980264" cy="10173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describe the expression as a power?</a:t>
            </a:r>
            <a:endParaRPr b="0" i="0" sz="1400" u="none" cap="none" strike="noStrike">
              <a:solidFill>
                <a:srgbClr val="000000"/>
              </a:solidFill>
              <a:latin typeface="Arial"/>
              <a:ea typeface="Arial"/>
              <a:cs typeface="Arial"/>
              <a:sym typeface="Arial"/>
            </a:endParaRPr>
          </a:p>
        </p:txBody>
      </p:sp>
      <p:pic>
        <p:nvPicPr>
          <p:cNvPr id="760" name="Google Shape;760;p79"/>
          <p:cNvPicPr preferRelativeResize="0"/>
          <p:nvPr/>
        </p:nvPicPr>
        <p:blipFill rotWithShape="1">
          <a:blip r:embed="rId2">
            <a:alphaModFix/>
          </a:blip>
          <a:srcRect b="0" l="0" r="0" t="0"/>
          <a:stretch/>
        </p:blipFill>
        <p:spPr>
          <a:xfrm>
            <a:off x="8831931" y="1512051"/>
            <a:ext cx="2543223" cy="2628000"/>
          </a:xfrm>
          <a:prstGeom prst="rect">
            <a:avLst/>
          </a:prstGeom>
          <a:noFill/>
          <a:ln>
            <a:noFill/>
          </a:ln>
        </p:spPr>
      </p:pic>
      <p:sp>
        <p:nvSpPr>
          <p:cNvPr id="761" name="Google Shape;761;p79"/>
          <p:cNvSpPr txBox="1"/>
          <p:nvPr/>
        </p:nvSpPr>
        <p:spPr>
          <a:xfrm>
            <a:off x="484565" y="5156872"/>
            <a:ext cx="10915145" cy="10763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This shows 1.5 to the third power.​</a:t>
            </a:r>
            <a:endParaRPr b="0" i="1" sz="2800" u="none" cap="none" strike="noStrike">
              <a:solidFill>
                <a:srgbClr val="595959"/>
              </a:solidFill>
              <a:latin typeface="Arial"/>
              <a:ea typeface="Arial"/>
              <a:cs typeface="Arial"/>
              <a:sym typeface="Arial"/>
            </a:endParaRPr>
          </a:p>
        </p:txBody>
      </p:sp>
      <p:sp>
        <p:nvSpPr>
          <p:cNvPr id="762" name="Google Shape;762;p79"/>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46</a:t>
            </a:r>
          </a:p>
        </p:txBody>
      </p:sp>
      <p:sp xmlns:p="http://schemas.openxmlformats.org/presentationml/2006/main" xmlns:a="http://schemas.openxmlformats.org/drawingml/2006/main">
        <p:nvSpPr>
          <p:cNvPr id="76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4" name="Google Shape;794;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5" name="Google Shape;795;p83"/>
          <p:cNvSpPr txBox="1"/>
          <p:nvPr/>
        </p:nvSpPr>
        <p:spPr>
          <a:xfrm>
            <a:off x="484565" y="936100"/>
            <a:ext cx="6980264" cy="39185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This expression represents multiplication.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A power represents repeated multiplication.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number will be used as the factor in the related multiplication expression?</a:t>
            </a:r>
            <a:endParaRPr b="0" i="0" sz="1400" u="none" cap="none" strike="noStrike">
              <a:solidFill>
                <a:srgbClr val="000000"/>
              </a:solidFill>
              <a:latin typeface="Arial"/>
              <a:ea typeface="Arial"/>
              <a:cs typeface="Arial"/>
              <a:sym typeface="Arial"/>
            </a:endParaRPr>
          </a:p>
        </p:txBody>
      </p:sp>
      <p:pic>
        <p:nvPicPr>
          <p:cNvPr id="796" name="Google Shape;796;p83"/>
          <p:cNvPicPr preferRelativeResize="0"/>
          <p:nvPr/>
        </p:nvPicPr>
        <p:blipFill rotWithShape="1">
          <a:blip r:embed="rId2">
            <a:alphaModFix/>
          </a:blip>
          <a:srcRect b="0" l="0" r="0" t="0"/>
          <a:stretch/>
        </p:blipFill>
        <p:spPr>
          <a:xfrm>
            <a:off x="8831931" y="1512051"/>
            <a:ext cx="2543223" cy="2628000"/>
          </a:xfrm>
          <a:prstGeom prst="rect">
            <a:avLst/>
          </a:prstGeom>
          <a:noFill/>
          <a:ln>
            <a:noFill/>
          </a:ln>
        </p:spPr>
      </p:pic>
      <p:sp>
        <p:nvSpPr>
          <p:cNvPr id="797" name="Google Shape;797;p83"/>
          <p:cNvSpPr txBox="1"/>
          <p:nvPr/>
        </p:nvSpPr>
        <p:spPr>
          <a:xfrm>
            <a:off x="484565" y="5232527"/>
            <a:ext cx="10915145" cy="10926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base, 1.5</a:t>
            </a:r>
            <a:endParaRPr b="0" i="1" sz="2800" u="none" cap="none" strike="noStrike">
              <a:solidFill>
                <a:srgbClr val="595959"/>
              </a:solidFill>
              <a:latin typeface="Arial"/>
              <a:ea typeface="Arial"/>
              <a:cs typeface="Arial"/>
              <a:sym typeface="Arial"/>
            </a:endParaRPr>
          </a:p>
        </p:txBody>
      </p:sp>
      <p:sp>
        <p:nvSpPr>
          <p:cNvPr id="798" name="Google Shape;798;p83"/>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6" name="Google Shape;87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93"/>
          <p:cNvSpPr txBox="1"/>
          <p:nvPr/>
        </p:nvSpPr>
        <p:spPr>
          <a:xfrm>
            <a:off x="484565" y="936099"/>
            <a:ext cx="7612031" cy="35527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use a table of values to organize powers of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find the value of each power? </a:t>
            </a:r>
            <a:endParaRPr b="0" i="0" sz="1400" u="none" cap="none" strike="noStrike">
              <a:solidFill>
                <a:srgbClr val="000000"/>
              </a:solidFill>
              <a:latin typeface="Arial"/>
              <a:ea typeface="Arial"/>
              <a:cs typeface="Arial"/>
              <a:sym typeface="Arial"/>
            </a:endParaRPr>
          </a:p>
        </p:txBody>
      </p:sp>
      <p:sp>
        <p:nvSpPr>
          <p:cNvPr id="878" name="Google Shape;878;p93"/>
          <p:cNvSpPr txBox="1"/>
          <p:nvPr/>
        </p:nvSpPr>
        <p:spPr>
          <a:xfrm>
            <a:off x="484565" y="4825049"/>
            <a:ext cx="10915145" cy="15082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multiply the previous value in the table by 1.5 to find the next value in the table.</a:t>
            </a:r>
            <a:endParaRPr b="0" i="1" sz="2800" u="none" cap="none" strike="noStrike">
              <a:solidFill>
                <a:srgbClr val="595959"/>
              </a:solidFill>
              <a:latin typeface="Arial"/>
              <a:ea typeface="Arial"/>
              <a:cs typeface="Arial"/>
              <a:sym typeface="Arial"/>
            </a:endParaRPr>
          </a:p>
        </p:txBody>
      </p:sp>
      <p:graphicFrame>
        <p:nvGraphicFramePr>
          <p:cNvPr id="879" name="Google Shape;879;p93"/>
          <p:cNvGraphicFramePr/>
          <p:nvPr/>
        </p:nvGraphicFramePr>
        <p:xfrm>
          <a:off x="1520902" y="2486886"/>
          <a:ext cx="3000000" cy="3000000"/>
        </p:xfrm>
        <a:graphic>
          <a:graphicData uri="http://schemas.openxmlformats.org/drawingml/2006/table">
            <a:tbl>
              <a:tblPr bandRow="1" firstRow="1">
                <a:noFill/>
                <a:tableStyleId>{724709B1-53DE-4981-B183-2739D18A0955}</a:tableStyleId>
              </a:tblPr>
              <a:tblGrid>
                <a:gridCol w="1181425"/>
                <a:gridCol w="776600"/>
                <a:gridCol w="776600"/>
                <a:gridCol w="1089450"/>
              </a:tblGrid>
              <a:tr h="531700">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Power</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1.5</a:t>
                      </a:r>
                      <a:r>
                        <a:rPr b="0" baseline="30000" lang="en-US" sz="2400" u="none" cap="none" strike="noStrike">
                          <a:solidFill>
                            <a:schemeClr val="dk1"/>
                          </a:solidFill>
                          <a:latin typeface="Arial"/>
                          <a:ea typeface="Arial"/>
                          <a:cs typeface="Arial"/>
                          <a:sym typeface="Arial"/>
                        </a:rPr>
                        <a:t>1</a:t>
                      </a:r>
                      <a:endParaRPr b="0" baseline="30000" sz="2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1.5</a:t>
                      </a:r>
                      <a:r>
                        <a:rPr b="0" baseline="30000" lang="en-US" sz="2400" u="none" cap="none" strike="noStrike">
                          <a:solidFill>
                            <a:schemeClr val="dk1"/>
                          </a:solidFill>
                          <a:latin typeface="Arial"/>
                          <a:ea typeface="Arial"/>
                          <a:cs typeface="Arial"/>
                          <a:sym typeface="Arial"/>
                        </a:rPr>
                        <a:t>2</a:t>
                      </a:r>
                      <a:endParaRPr b="0" baseline="30000" sz="2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1.5</a:t>
                      </a:r>
                      <a:r>
                        <a:rPr b="0" baseline="30000" i="0" lang="en-US" sz="2400" u="none" cap="none" strike="noStrike">
                          <a:solidFill>
                            <a:schemeClr val="dk1"/>
                          </a:solidFill>
                          <a:latin typeface="Arial"/>
                          <a:ea typeface="Arial"/>
                          <a:cs typeface="Arial"/>
                          <a:sym typeface="Arial"/>
                        </a:rPr>
                        <a:t>3</a:t>
                      </a:r>
                      <a:endParaRPr b="0" baseline="30000" i="0" sz="2400" u="none" cap="none" strike="noStrike">
                        <a:solidFill>
                          <a:schemeClr val="dk1"/>
                        </a:solidFill>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r>
              <a:tr h="531700">
                <a:tc>
                  <a:txBody>
                    <a:bodyPr/>
                    <a:lstStyle/>
                    <a:p>
                      <a:pPr indent="0" lvl="0" marL="0" marR="0" rtl="0" algn="l">
                        <a:lnSpc>
                          <a:spcPct val="100000"/>
                        </a:lnSpc>
                        <a:spcBef>
                          <a:spcPts val="0"/>
                        </a:spcBef>
                        <a:spcAft>
                          <a:spcPts val="0"/>
                        </a:spcAft>
                        <a:buClr>
                          <a:srgbClr val="000000"/>
                        </a:buClr>
                        <a:buSzPts val="2400"/>
                        <a:buFont typeface="Arial"/>
                        <a:buNone/>
                      </a:pPr>
                      <a:r>
                        <a:rPr b="1" lang="en-US" sz="2400" u="none" cap="none" strike="noStrike">
                          <a:solidFill>
                            <a:schemeClr val="lt1"/>
                          </a:solidFill>
                          <a:latin typeface="Arial"/>
                          <a:ea typeface="Arial"/>
                          <a:cs typeface="Arial"/>
                          <a:sym typeface="Arial"/>
                        </a:rPr>
                        <a:t>Value</a:t>
                      </a:r>
                      <a:endParaRPr sz="14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1.5</a:t>
                      </a:r>
                      <a:endParaRPr sz="24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Arial"/>
                        <a:ea typeface="Arial"/>
                        <a:cs typeface="Arial"/>
                        <a:sym typeface="Arial"/>
                      </a:endParaRPr>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b="1" sz="2400" u="none" cap="none" strike="noStrike">
                        <a:latin typeface="Arial"/>
                        <a:ea typeface="Arial"/>
                        <a:cs typeface="Arial"/>
                        <a:sym typeface="Arial"/>
                      </a:endParaRPr>
                    </a:p>
                  </a:txBody>
                  <a:tcPr marT="45725" marB="45725" marR="91450" marL="9145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880" name="Google Shape;880;p93"/>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How Much Is It?</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46</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cxnSp>
        <p:nvCxnSpPr>
          <p:cNvPr id="958" name="Google Shape;958;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9" name="Google Shape;959;p102"/>
          <p:cNvSpPr txBox="1"/>
          <p:nvPr/>
        </p:nvSpPr>
        <p:spPr>
          <a:xfrm>
            <a:off x="484565" y="316033"/>
            <a:ext cx="5600351" cy="9142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Explore Numerical Expressions with Exponents</a:t>
            </a:r>
            <a:endParaRPr b="0" i="0" sz="1400" u="none" cap="none" strike="noStrike">
              <a:solidFill>
                <a:srgbClr val="000000"/>
              </a:solidFill>
              <a:latin typeface="Arial"/>
              <a:ea typeface="Arial"/>
              <a:cs typeface="Arial"/>
              <a:sym typeface="Arial"/>
            </a:endParaRPr>
          </a:p>
        </p:txBody>
      </p:sp>
      <p:sp>
        <p:nvSpPr>
          <p:cNvPr id="960" name="Google Shape;960;p102"/>
          <p:cNvSpPr/>
          <p:nvPr/>
        </p:nvSpPr>
        <p:spPr>
          <a:xfrm>
            <a:off x="484566" y="1612669"/>
            <a:ext cx="4644647"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You can use exponents to represent a repeated multiplication expression. An expression written with an exponent is a power.</a:t>
            </a:r>
            <a:endParaRPr b="0" i="0" sz="1400" u="none" cap="none" strike="noStrike">
              <a:solidFill>
                <a:srgbClr val="000000"/>
              </a:solidFill>
              <a:latin typeface="Arial"/>
              <a:ea typeface="Arial"/>
              <a:cs typeface="Arial"/>
              <a:sym typeface="Arial"/>
            </a:endParaRPr>
          </a:p>
        </p:txBody>
      </p:sp>
      <p:pic>
        <p:nvPicPr>
          <p:cNvPr id="961" name="Google Shape;961;p102"/>
          <p:cNvPicPr preferRelativeResize="0"/>
          <p:nvPr/>
        </p:nvPicPr>
        <p:blipFill rotWithShape="1">
          <a:blip r:embed="rId3">
            <a:alphaModFix/>
          </a:blip>
          <a:srcRect b="0" l="0" r="0" t="0"/>
          <a:stretch/>
        </p:blipFill>
        <p:spPr>
          <a:xfrm>
            <a:off x="856040" y="3859438"/>
            <a:ext cx="3561575" cy="2523951"/>
          </a:xfrm>
          <a:prstGeom prst="rect">
            <a:avLst/>
          </a:prstGeom>
          <a:noFill/>
          <a:ln>
            <a:noFill/>
          </a:ln>
        </p:spPr>
      </p:pic>
      <p:sp>
        <p:nvSpPr>
          <p:cNvPr id="962" name="Google Shape;962;p102"/>
          <p:cNvSpPr/>
          <p:nvPr/>
        </p:nvSpPr>
        <p:spPr>
          <a:xfrm>
            <a:off x="6096000" y="1612669"/>
            <a:ext cx="5622518" cy="3970318"/>
          </a:xfrm>
          <a:prstGeom prst="rect">
            <a:avLst/>
          </a:prstGeom>
          <a:blipFill rotWithShape="1">
            <a:blip r:embed="rId4">
              <a:alphaModFix/>
            </a:blip>
            <a:stretch>
              <a:fillRect b="0" l="-2169" r="0" t="-16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46</a:t>
            </a:r>
          </a:p>
        </p:txBody>
      </p:sp>
      <p:sp>
        <p:nvSpPr>
          <p:cNvPr id="96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965" name="TEACH-2-student-move" descr="TEACH 2 · Use strategies and tasks to engage students in rigorous work"/>
          <p:cNvGrpSpPr/>
          <p:nvPr/>
        </p:nvGrpSpPr>
        <p:grpSpPr>
          <a:xfrm>
            <a:off x="6187440" y="5665283"/>
            <a:ext cx="5501640" cy="594360"/>
            <a:chOff x="6187440" y="5665283"/>
            <a:chExt cx="5501640" cy="594360"/>
          </a:xfrm>
        </p:grpSpPr>
        <p:sp>
          <p:nvSpPr>
            <p:cNvPr id="966" name="TEACH-move-card"/>
            <p:cNvSpPr/>
            <p:nvPr/>
          </p:nvSpPr>
          <p:spPr>
            <a:xfrm>
              <a:off x="6187440" y="566528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67" name="TEACH-move-rule"/>
            <p:cNvSpPr/>
            <p:nvPr/>
          </p:nvSpPr>
          <p:spPr>
            <a:xfrm>
              <a:off x="6233160" y="5778211"/>
              <a:ext cx="100584" cy="368504"/>
            </a:xfrm>
            <a:prstGeom prst="roundRect">
              <a:avLst>
                <a:gd name="adj" fmla="val 50000"/>
              </a:avLst>
            </a:prstGeom>
            <a:solidFill>
              <a:srgbClr val="01708C"/>
            </a:solidFill>
            <a:ln>
              <a:noFill/>
            </a:ln>
          </p:spPr>
          <p:txBody>
            <a:bodyPr/>
            <a:lstStyle/>
            <a:p>
              <a:endParaRPr/>
            </a:p>
          </p:txBody>
        </p:sp>
        <p:sp>
          <p:nvSpPr>
            <p:cNvPr id="968" name="TEACH-move-text"/>
            <p:cNvSpPr txBox="1"/>
            <p:nvPr/>
          </p:nvSpPr>
          <p:spPr>
            <a:xfrm>
              <a:off x="6507480" y="566528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YOUR CHOICE  ·  </a:t>
              </a:r>
              <a:r>
                <a:rPr lang="en-US" sz="1200" dirty="0">
                  <a:solidFill>
                    <a:srgbClr val="13303A"/>
                  </a:solidFill>
                  <a:latin typeface="Arial"/>
                </a:rPr>
                <a:t>You choose how to show this — numbers, words, or a diagram. Make your reasoning visible.</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cxnSp>
        <p:nvCxnSpPr>
          <p:cNvPr id="967" name="Google Shape;967;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8" name="Google Shape;968;p103"/>
          <p:cNvSpPr txBox="1"/>
          <p:nvPr/>
        </p:nvSpPr>
        <p:spPr>
          <a:xfrm>
            <a:off x="484563" y="927528"/>
            <a:ext cx="7102099" cy="55148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James is studying the growth rate of a specific type of bacteria. He places three cells in a Petri dish and records the number of bacteria every five hours. The table shows his results.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Choose a question to answer.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 1:</a:t>
            </a:r>
            <a:r>
              <a:rPr b="0" i="0" lang="en-US" sz="2800" u="none" cap="none" strike="noStrike">
                <a:solidFill>
                  <a:srgbClr val="23282D"/>
                </a:solidFill>
                <a:latin typeface="Arial"/>
                <a:ea typeface="Arial"/>
                <a:cs typeface="Arial"/>
                <a:sym typeface="Arial"/>
              </a:rPr>
              <a:t> What power represents the number of bacteria recorded every 5 hours?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 2:</a:t>
            </a:r>
            <a:r>
              <a:rPr b="0" i="0" lang="en-US" sz="2800" u="none" cap="none" strike="noStrike">
                <a:solidFill>
                  <a:srgbClr val="23282D"/>
                </a:solidFill>
                <a:latin typeface="Arial"/>
                <a:ea typeface="Arial"/>
                <a:cs typeface="Arial"/>
                <a:sym typeface="Arial"/>
              </a:rPr>
              <a:t> What power would represent the number of bacteria after 25 hours?</a:t>
            </a:r>
            <a:endParaRPr b="0" i="0" sz="1400" u="none" cap="none" strike="noStrike">
              <a:solidFill>
                <a:srgbClr val="000000"/>
              </a:solidFill>
              <a:latin typeface="Arial"/>
              <a:ea typeface="Arial"/>
              <a:cs typeface="Arial"/>
              <a:sym typeface="Arial"/>
            </a:endParaRPr>
          </a:p>
        </p:txBody>
      </p:sp>
      <p:sp>
        <p:nvSpPr>
          <p:cNvPr id="969" name="Google Shape;969;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Biology</a:t>
            </a:r>
            <a:endParaRPr b="0" i="0" sz="1400" u="none" cap="none" strike="noStrike">
              <a:solidFill>
                <a:srgbClr val="000000"/>
              </a:solidFill>
              <a:latin typeface="Arial"/>
              <a:ea typeface="Arial"/>
              <a:cs typeface="Arial"/>
              <a:sym typeface="Arial"/>
            </a:endParaRPr>
          </a:p>
        </p:txBody>
      </p:sp>
      <p:pic>
        <p:nvPicPr>
          <p:cNvPr id="970" name="Google Shape;970;p103"/>
          <p:cNvPicPr preferRelativeResize="0"/>
          <p:nvPr/>
        </p:nvPicPr>
        <p:blipFill rotWithShape="1">
          <a:blip r:embed="rId3">
            <a:alphaModFix/>
          </a:blip>
          <a:srcRect b="0" l="0" r="0" t="0"/>
          <a:stretch/>
        </p:blipFill>
        <p:spPr>
          <a:xfrm>
            <a:off x="7189977" y="2549093"/>
            <a:ext cx="4741017" cy="2520000"/>
          </a:xfrm>
          <a:prstGeom prst="rect">
            <a:avLst/>
          </a:prstGeom>
          <a:noFill/>
          <a:ln>
            <a:noFill/>
          </a:ln>
        </p:spPr>
      </p:pic>
      <p:sp>
        <p:nvSpPr>
          <p:cNvPr id="9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46</a:t>
            </a:r>
          </a:p>
        </p:txBody>
      </p:sp>
      <p:sp>
        <p:nvSpPr>
          <p:cNvPr id="97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cxnSp>
        <p:nvCxnSpPr>
          <p:cNvPr id="975" name="Google Shape;975;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104"/>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make use of structure to write a product of whole numbers, fractions, and decimals as a power.</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write a power as a product of factors to find its value.</a:t>
            </a:r>
            <a:endParaRPr b="0" i="0" sz="1400" u="none" cap="none" strike="noStrike">
              <a:solidFill>
                <a:srgbClr val="000000"/>
              </a:solidFill>
              <a:latin typeface="Arial"/>
              <a:ea typeface="Arial"/>
              <a:cs typeface="Arial"/>
              <a:sym typeface="Arial"/>
            </a:endParaRPr>
          </a:p>
        </p:txBody>
      </p:sp>
      <p:sp>
        <p:nvSpPr>
          <p:cNvPr id="977" name="Google Shape;977;p10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9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46</a:t>
            </a:r>
          </a:p>
        </p:txBody>
      </p:sp>
      <p:grpSp>
        <p:nvGrpSpPr>
          <p:cNvPr id="979" name="TEACH-1-student-move" descr="TEACH 1 · Facilitate clear, standards-based content learning"/>
          <p:cNvGrpSpPr/>
          <p:nvPr/>
        </p:nvGrpSpPr>
        <p:grpSpPr>
          <a:xfrm>
            <a:off x="502920" y="5472790"/>
            <a:ext cx="11186160" cy="402336"/>
            <a:chOff x="502920" y="5472790"/>
            <a:chExt cx="11186160" cy="402336"/>
          </a:xfrm>
        </p:grpSpPr>
        <p:sp>
          <p:nvSpPr>
            <p:cNvPr id="980"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81"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82"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0" name="Google Shape;730;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1" name="Google Shape;731;p76"/>
          <p:cNvSpPr txBox="1"/>
          <p:nvPr/>
        </p:nvSpPr>
        <p:spPr>
          <a:xfrm>
            <a:off x="474055" y="936101"/>
            <a:ext cx="4358575" cy="6599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Which doesn’t belong?</a:t>
            </a:r>
            <a:endParaRPr b="0" i="0" sz="1400" u="none" cap="none" strike="noStrike">
              <a:solidFill>
                <a:srgbClr val="000000"/>
              </a:solidFill>
              <a:latin typeface="Arial"/>
              <a:ea typeface="Arial"/>
              <a:cs typeface="Arial"/>
              <a:sym typeface="Arial"/>
            </a:endParaRPr>
          </a:p>
        </p:txBody>
      </p:sp>
      <p:sp>
        <p:nvSpPr>
          <p:cNvPr id="732" name="Google Shape;732;p76"/>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33" name="Google Shape;733;p76"/>
          <p:cNvSpPr/>
          <p:nvPr/>
        </p:nvSpPr>
        <p:spPr>
          <a:xfrm>
            <a:off x="649774" y="5900456"/>
            <a:ext cx="1130392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showing others that you respect their ideas about math?</a:t>
            </a:r>
            <a:endParaRPr b="0" i="0" sz="1400" u="none" cap="none" strike="noStrike">
              <a:solidFill>
                <a:srgbClr val="000000"/>
              </a:solidFill>
              <a:latin typeface="Arial"/>
              <a:ea typeface="Arial"/>
              <a:cs typeface="Arial"/>
              <a:sym typeface="Arial"/>
            </a:endParaRPr>
          </a:p>
        </p:txBody>
      </p:sp>
      <p:sp>
        <p:nvSpPr>
          <p:cNvPr id="734" name="Google Shape;734;p76"/>
          <p:cNvSpPr/>
          <p:nvPr/>
        </p:nvSpPr>
        <p:spPr>
          <a:xfrm>
            <a:off x="578269" y="2008009"/>
            <a:ext cx="7937081" cy="2664004"/>
          </a:xfrm>
          <a:prstGeom prst="snip1Rect">
            <a:avLst>
              <a:gd fmla="val 16667" name="adj"/>
            </a:avLst>
          </a:prstGeom>
          <a:blipFill rotWithShape="1">
            <a:blip r:embed="rId2">
              <a:alphaModFix/>
            </a:blip>
            <a:stretch>
              <a:fillRect b="0" l="0" r="0" t="0"/>
            </a:stretch>
          </a:blipFill>
          <a:ln cap="flat" cmpd="sng" w="952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35" name="Google Shape;735;p76"/>
          <p:cNvPicPr preferRelativeResize="0"/>
          <p:nvPr/>
        </p:nvPicPr>
        <p:blipFill rotWithShape="1">
          <a:blip r:embed="rId3">
            <a:alphaModFix/>
          </a:blip>
          <a:srcRect b="0" l="0" r="0" t="0"/>
          <a:stretch/>
        </p:blipFill>
        <p:spPr>
          <a:xfrm>
            <a:off x="481450" y="5128446"/>
            <a:ext cx="5054600" cy="838200"/>
          </a:xfrm>
          <a:prstGeom prst="rect">
            <a:avLst/>
          </a:prstGeom>
          <a:noFill/>
          <a:ln>
            <a:noFill/>
          </a:ln>
        </p:spPr>
      </p:pic>
      <p:sp>
        <p:nvSpPr>
          <p:cNvPr id="736" name="Google Shape;736;p76"/>
          <p:cNvSpPr txBox="1"/>
          <p:nvPr/>
        </p:nvSpPr>
        <p:spPr>
          <a:xfrm>
            <a:off x="3341467" y="528576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46</a:t>
            </a:r>
          </a:p>
        </p:txBody>
      </p:sp>
      <p:sp xmlns:p="http://schemas.openxmlformats.org/presentationml/2006/main" xmlns:a="http://schemas.openxmlformats.org/drawingml/2006/main">
        <p:nvSpPr>
          <p:cNvPr id="737"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Distinguish base and exponent.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46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JUSTIFY IT  ·  </a:t>
            </a:r>
            <a:r>
              <a:rPr lang="en-US" sz="2000" b="0" dirty="0">
                <a:solidFill>
                  <a:srgbClr val="13303A"/>
                </a:solidFill>
                <a:latin typeface="Arial"/>
              </a:rPr>
              <a:t>Say it like this: “I know ______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REVISE NOW  ·  </a:t>
            </a:r>
            <a:r>
              <a:rPr lang="en-US" sz="2000" b="0" dirty="0">
                <a:solidFill>
                  <a:srgbClr val="13303A"/>
                </a:solidFill>
                <a:latin typeface="Arial"/>
              </a:rPr>
              <a:t>Change one answer and write why you changed it. A revision is evidence of learning.</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46</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6.3 — Explore Numerical Expressions with Exponents</dc:title>
  <dc:creator>Neft Teacher</dc:creator>
  <cp:lastModifiedBy>Neft Teacher</cp:lastModifiedBy>
  <dcterms:created xsi:type="dcterms:W3CDTF">2026-09-30T12:04:43Z</dcterms:created>
  <dcterms:modified xsi:type="dcterms:W3CDTF">2026-09-30T12:04:43Z</dcterms:modified>
</cp:coreProperties>
</file>