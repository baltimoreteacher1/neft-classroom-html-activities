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4.xml" ContentType="application/vnd.openxmlformats-officedocument.presentationml.notesSlide+xml"/>
  <Override PartName="/ppt/notesSlides/notesSlide56.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9" r:id="rId22"/>
    <p:sldId id="270" r:id="rId23"/>
    <p:sldId id="256" r:id="rId9"/>
    <p:sldId id="257" r:id="rId10"/>
    <p:sldId id="260" r:id="rId13"/>
    <p:sldId id="330" r:id="rId73"/>
    <p:sldId id="329" r:id="rId31"/>
    <p:sldId id="328" r:id="rId33"/>
    <p:sldId id="327" r:id="rId47"/>
    <p:sldId id="326" r:id="rId36"/>
    <p:sldId id="325" r:id="rId45"/>
    <p:sldId id="324" r:id="rId44"/>
    <p:sldId id="323" r:id="rId43"/>
    <p:sldId id="261" r:id="rId14"/>
    <p:sldId id="272" r:id="rId25"/>
    <p:sldId id="273" r:id="rId26"/>
    <p:sldId id="275" r:id="rId28"/>
    <p:sldId id="279" r:id="rId32"/>
    <p:sldId id="281" r:id="rId34"/>
    <p:sldId id="334" r:id="rId77"/>
    <p:sldId id="282" r:id="rId35"/>
    <p:sldId id="284" r:id="rId37"/>
    <p:sldId id="285" r:id="rId38"/>
    <p:sldId id="287" r:id="rId40"/>
    <p:sldId id="335" r:id="rId78"/>
    <p:sldId id="293" r:id="rId46"/>
    <p:sldId id="295" r:id="rId48"/>
    <p:sldId id="336" r:id="rId79"/>
    <p:sldId id="331" r:id="rId74"/>
    <p:sldId id="322" r:id="rId42"/>
    <p:sldId id="318" r:id="rId71"/>
    <p:sldId id="337" r:id="rId80"/>
    <p:sldId id="319" r:id="rId72"/>
    <p:sldId id="296" r:id="rId49"/>
    <p:sldId id="301" r:id="rId54"/>
    <p:sldId id="303" r:id="rId56"/>
    <p:sldId id="305" r:id="rId58"/>
    <p:sldId id="338" r:id="rId81"/>
    <p:sldId id="309" r:id="rId62"/>
    <p:sldId id="311" r:id="rId64"/>
    <p:sldId id="313" r:id="rId66"/>
    <p:sldId id="314" r:id="rId67"/>
    <p:sldId id="332" r:id="rId75"/>
    <p:sldId id="315" r:id="rId68"/>
    <p:sldId id="339" r:id="rId82"/>
    <p:sldId id="316" r:id="rId69"/>
    <p:sldId id="317" r:id="rId70"/>
    <p:sldId id="321" r:id="rId41"/>
    <p:sldId id="320" r:id="rId39"/>
    <p:sldId id="333" r:id="rId76"/>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9" Type="http://schemas.openxmlformats.org/officeDocument/2006/relationships/slide" Target="slides/slide4.xml"/><Relationship Id="rId10" Type="http://schemas.openxmlformats.org/officeDocument/2006/relationships/slide" Target="slides/slide5.xml"/><Relationship Id="rId12" Type="http://schemas.openxmlformats.org/officeDocument/2006/relationships/slide" Target="slides/slide1.xml"/><Relationship Id="rId13" Type="http://schemas.openxmlformats.org/officeDocument/2006/relationships/slide" Target="slides/slide6.xml"/><Relationship Id="rId14"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5" Type="http://schemas.openxmlformats.org/officeDocument/2006/relationships/slide" Target="slides/slide16.xml"/><Relationship Id="rId26" Type="http://schemas.openxmlformats.org/officeDocument/2006/relationships/slide" Target="slides/slide17.xml"/><Relationship Id="rId28" Type="http://schemas.openxmlformats.org/officeDocument/2006/relationships/slide" Target="slides/slide18.xml"/><Relationship Id="rId31" Type="http://schemas.openxmlformats.org/officeDocument/2006/relationships/slide" Target="slides/slide8.xml"/><Relationship Id="rId32" Type="http://schemas.openxmlformats.org/officeDocument/2006/relationships/slide" Target="slides/slide19.xml"/><Relationship Id="rId33" Type="http://schemas.openxmlformats.org/officeDocument/2006/relationships/slide" Target="slides/slide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1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44.xml"/><Relationship Id="rId40" Type="http://schemas.openxmlformats.org/officeDocument/2006/relationships/slide" Target="slides/slide24.xml"/><Relationship Id="rId41" Type="http://schemas.openxmlformats.org/officeDocument/2006/relationships/slide" Target="slides/slide43.xml"/><Relationship Id="rId42" Type="http://schemas.openxmlformats.org/officeDocument/2006/relationships/slide" Target="slides/slide28.xml"/><Relationship Id="rId43" Type="http://schemas.openxmlformats.org/officeDocument/2006/relationships/slide" Target="slides/slide14.xml"/><Relationship Id="rId44" Type="http://schemas.openxmlformats.org/officeDocument/2006/relationships/slide" Target="slides/slide13.xml"/><Relationship Id="rId45" Type="http://schemas.openxmlformats.org/officeDocument/2006/relationships/slide" Target="slides/slide12.xml"/><Relationship Id="rId46" Type="http://schemas.openxmlformats.org/officeDocument/2006/relationships/slide" Target="slides/slide25.xml"/><Relationship Id="rId47" Type="http://schemas.openxmlformats.org/officeDocument/2006/relationships/slide" Target="slides/slide10.xml"/><Relationship Id="rId48" Type="http://schemas.openxmlformats.org/officeDocument/2006/relationships/slide" Target="slides/slide26.xml"/><Relationship Id="rId49" Type="http://schemas.openxmlformats.org/officeDocument/2006/relationships/slide" Target="slides/slide31.xml"/><Relationship Id="rId54" Type="http://schemas.openxmlformats.org/officeDocument/2006/relationships/slide" Target="slides/slide32.xml"/><Relationship Id="rId56" Type="http://schemas.openxmlformats.org/officeDocument/2006/relationships/slide" Target="slides/slide33.xml"/><Relationship Id="rId58" Type="http://schemas.openxmlformats.org/officeDocument/2006/relationships/slide" Target="slides/slide34.xml"/><Relationship Id="rId62" Type="http://schemas.openxmlformats.org/officeDocument/2006/relationships/slide" Target="slides/slide35.xml"/><Relationship Id="rId64" Type="http://schemas.openxmlformats.org/officeDocument/2006/relationships/slide" Target="slides/slide36.xml"/><Relationship Id="rId66" Type="http://schemas.openxmlformats.org/officeDocument/2006/relationships/slide" Target="slides/slide37.xml"/><Relationship Id="rId67" Type="http://schemas.openxmlformats.org/officeDocument/2006/relationships/slide" Target="slides/slide38.xml"/><Relationship Id="rId68" Type="http://schemas.openxmlformats.org/officeDocument/2006/relationships/slide" Target="slides/slide40.xml"/><Relationship Id="rId69" Type="http://schemas.openxmlformats.org/officeDocument/2006/relationships/slide" Target="slides/slide41.xml"/><Relationship Id="rId70" Type="http://schemas.openxmlformats.org/officeDocument/2006/relationships/slide" Target="slides/slide42.xml"/><Relationship Id="rId71" Type="http://schemas.openxmlformats.org/officeDocument/2006/relationships/slide" Target="slides/slide29.xml"/><Relationship Id="rId72" Type="http://schemas.openxmlformats.org/officeDocument/2006/relationships/slide" Target="slides/slide30.xml"/><Relationship Id="rId73" Type="http://schemas.openxmlformats.org/officeDocument/2006/relationships/slide" Target="slides/slide7.xml"/><Relationship Id="rId74" Type="http://schemas.openxmlformats.org/officeDocument/2006/relationships/slide" Target="slides/slide27.xml"/><Relationship Id="rId75" Type="http://schemas.openxmlformats.org/officeDocument/2006/relationships/slide" Target="slides/slide39.xml"/><Relationship Id="rId76" Type="http://schemas.openxmlformats.org/officeDocument/2006/relationships/slide" Target="slides/slide45.xml"/><Relationship Id="rId77" Type="http://schemas.openxmlformats.org/officeDocument/2006/relationships/slide" Target="slides/slide46.xml"/><Relationship Id="rId78" Type="http://schemas.openxmlformats.org/officeDocument/2006/relationships/slide" Target="slides/slide47.xml"/><Relationship Id="rId79" Type="http://schemas.openxmlformats.org/officeDocument/2006/relationships/slide" Target="slides/slide48.xml"/><Relationship Id="rId80" Type="http://schemas.openxmlformats.org/officeDocument/2006/relationships/slide" Target="slides/slide49.xml"/><Relationship Id="rId81" Type="http://schemas.openxmlformats.org/officeDocument/2006/relationships/slide" Target="slides/slide50.xml"/><Relationship Id="rId8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4 | DIVIDER</a:t>
            </a:r>
          </a:p>
          <a:p xmlns:a="http://schemas.openxmlformats.org/drawingml/2006/main">
            <a:pPr>
              <a:buNone/>
            </a:pPr>
            <a:r>
              <a:rPr lang="en-US" sz="1100"/>
              <a:t>Focus on the existing task: Represent Rational Numbers on the Coordinate Plane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5 | TASK</a:t>
            </a:r>
          </a:p>
          <a:p xmlns:a="http://schemas.openxmlformats.org/drawingml/2006/main">
            <a:pPr>
              <a:buNone/>
            </a:pPr>
            <a:r>
              <a:rPr lang="en-US" sz="1100"/>
              <a:t>Focus on the existing task: It’s About What percent is shaded?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9" name="Google Shape;239;p2: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1 | WARMUP</a:t>
            </a:r>
          </a:p>
          <a:p xmlns:a="http://schemas.openxmlformats.org/drawingml/2006/main">
            <a:pPr>
              <a:buNone/>
            </a:pPr>
            <a:r>
              <a:rPr lang="en-US" sz="1100"/>
              <a:t>Focus on the existing task: Warm-Up WARM-UP · THINK • TRY • CHECK…</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3 up   2) Quadrant II   3) 2 down   4) 6</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interpret ordered pairs as horizontal then vertical; use signs to select directions. Review recent work and today’s warm-up to choose flexible groups and access supports; do not infer needs from identity or perceived ability. Use the existing lesson tasks and stated standards.</a:t>
            </a:r>
          </a:p>
          <a:p>
            <a:pPr>
              <a:buNone/>
            </a:pPr>
            <a:r>
              <a:rPr lang="en-US" sz="1100"/>
              <a:t>Anticipate: interchanging x and y or reversing a negative direction. If observed, trace horizontal then vertical movement on the original coordinate plane.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6 | GOAL</a:t>
            </a:r>
          </a:p>
          <a:p xmlns:a="http://schemas.openxmlformats.org/drawingml/2006/main">
            <a:pPr>
              <a:buNone/>
            </a:pPr>
            <a:r>
              <a:rPr lang="en-US" sz="1100"/>
              <a:t>Focus on the existing task: Today’s Objectives Represent Rational…</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ordered pairs as horizontal then vertical; use signs to select directions. Ask: “Which part of your work would show this?” Revisit that evidence after the task; a confidence rating alone is not evidence of understanding.</a:t>
            </a:r>
          </a:p>
        </p:txBody>
      </p:sp>
      <p:sp>
        <p:nvSpPr>
          <p:cNvPr id="333" name="Google Shape;333;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15 | VOCAB</a:t>
            </a:r>
          </a:p>
          <a:p xmlns:a="http://schemas.openxmlformats.org/drawingml/2006/main">
            <a:pPr>
              <a:buNone/>
            </a:pPr>
            <a:r>
              <a:rPr lang="en-US" sz="1100"/>
              <a:t>Focus on the existing task: Vocabulary Today’s Math Words We learn…</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5" name="Google Shape;35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 | NOTES</a:t>
            </a:r>
          </a:p>
          <a:p xmlns:a="http://schemas.openxmlformats.org/drawingml/2006/main">
            <a:pPr>
              <a:buNone/>
            </a:pPr>
            <a:r>
              <a:rPr lang="en-US" sz="1100"/>
              <a:t>Focus on the existing task: Today’s Math Notes Section 1: Math Words…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9" name="Google Shape;519;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 | NOTES</a:t>
            </a:r>
          </a:p>
          <a:p xmlns:a="http://schemas.openxmlformats.org/drawingml/2006/main">
            <a:pPr>
              <a:buNone/>
            </a:pPr>
            <a:r>
              <a:rPr lang="en-US" sz="1100"/>
              <a:t>Focus on the existing task: Today’s Math Notes Section 2: Today’s…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7" name="Google Shape;547;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16 | CURIOUS</a:t>
            </a:r>
          </a:p>
          <a:p xmlns:a="http://schemas.openxmlformats.org/drawingml/2006/main">
            <a:pPr>
              <a:buNone/>
            </a:pPr>
            <a:r>
              <a:rPr lang="en-US" sz="1100"/>
              <a:t>Focus on the existing task: Be Curious Mindset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3" name="Google Shape;583;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1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17 | TASK</a:t>
            </a:r>
          </a:p>
          <a:p xmlns:a="http://schemas.openxmlformats.org/drawingml/2006/main">
            <a:pPr>
              <a:buNone/>
            </a:pPr>
            <a:r>
              <a:rPr lang="en-US" sz="1100"/>
              <a:t>Focus on the existing task: The Coordinate Plane The coordinate plane shows points A, B, C, and D. What are the coordinates of the four points?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each coordinate control one movement from the origin?” Wait for evidence, invite another pathway, and have a student ask a follow-up question. Do not replace students’ reasoning with a sequence of leading steps.</a:t>
            </a:r>
          </a:p>
        </p:txBody>
      </p:sp>
      <p:sp>
        <p:nvSpPr>
          <p:cNvPr id="594" name="Google Shape;594;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18 | REVEAL</a:t>
            </a:r>
          </a:p>
          <a:p xmlns:a="http://schemas.openxmlformats.org/drawingml/2006/main">
            <a:pPr>
              <a:buNone/>
            </a:pPr>
            <a:r>
              <a:rPr lang="en-US" sz="1100"/>
              <a:t>Focus on the existing task: The coordinate plane shows points A, B, C, and D. What do you notice about the coordinate plane and the points?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coordinate plane is separated into 4 sections. Each point is in a different section of the coordinate plane.</a:t>
            </a:r>
          </a:p>
          <a:p>
            <a:pPr indent="0" lvl="0" marL="0" rtl="0" algn="l">
              <a:lnSpc>
                <a:spcPct val="100000"/>
              </a:lnSpc>
              <a:spcBef>
                <a:spcPts val="0"/>
              </a:spcBef>
              <a:spcAft>
                <a:spcPts val="0"/>
              </a:spcAft>
              <a:buSzPts val="1400"/>
              <a:buNone/>
            </a:pPr>
            <a:r>
              <a:t>UIFR: TEACH 3 · TEACH 4.</a:t>
            </a:r>
          </a:p>
        </p:txBody>
      </p:sp>
      <p:sp>
        <p:nvSpPr>
          <p:cNvPr id="613" name="Google Shape;613;p2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19 | TASK</a:t>
            </a:r>
          </a:p>
          <a:p xmlns:a="http://schemas.openxmlformats.org/drawingml/2006/main">
            <a:pPr>
              <a:buNone/>
            </a:pPr>
            <a:r>
              <a:rPr lang="en-US" sz="1100"/>
              <a:t>Focus on the existing task: The Coordinate Plane Think About It: How does what you know about quarters relate to quadrants?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653" name="Google Shape;653;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20 | TASK</a:t>
            </a:r>
          </a:p>
          <a:p xmlns:a="http://schemas.openxmlformats.org/drawingml/2006/main">
            <a:pPr>
              <a:buNone/>
            </a:pPr>
            <a:r>
              <a:rPr lang="en-US" sz="1100"/>
              <a:t>Focus on the existing task: How can you find the coordinates of a point in Quadrant I?</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74" name="Google Shape;674;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21 | WORKED</a:t>
            </a:r>
          </a:p>
          <a:p xmlns:a="http://schemas.openxmlformats.org/drawingml/2006/main">
            <a:pPr>
              <a:buNone/>
            </a:pPr>
            <a:r>
              <a:rPr lang="en-US" sz="1100"/>
              <a:t>Focus on the existing task: Let’s find the coordinates of Point C in Quadrant I. The Coordinate Plane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685" name="Google Shape;685;p2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22 | TASK</a:t>
            </a:r>
          </a:p>
          <a:p xmlns:a="http://schemas.openxmlformats.org/drawingml/2006/main">
            <a:pPr>
              <a:buNone/>
            </a:pPr>
            <a:r>
              <a:rPr lang="en-US" sz="1100"/>
              <a:t>Focus on the existing task: How do the locations of points A, B, and D compare to the origin?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05" name="Google Shape;705;p2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23 | WORKED</a:t>
            </a:r>
          </a:p>
          <a:p xmlns:a="http://schemas.openxmlformats.org/drawingml/2006/main">
            <a:pPr>
              <a:buNone/>
            </a:pPr>
            <a:r>
              <a:rPr lang="en-US" sz="1100"/>
              <a:t>Focus on the existing task: Move left 1 unit along the x -axis, then up 1.5 units along the y -axis. The Coordinate Plane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14" name="Google Shape;714;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24 | COLLABORATE</a:t>
            </a:r>
          </a:p>
          <a:p xmlns:a="http://schemas.openxmlformats.org/drawingml/2006/main">
            <a:pPr>
              <a:buNone/>
            </a:pPr>
            <a:r>
              <a:rPr lang="en-US" sz="1100"/>
              <a:t>Focus on the existing task: Find the coordinates of points B and D. Collaborate and Connect COLLABORATE · TALK IT THROUGH • AGREE ON A MODEL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interchanging x and y or reversing a negative direction. If it appears, trace horizontal then vertical movement on the original coordinate plane; then ask the student to revise the same response and explain the change. If evidence is secure, have students compare a second valid pathway or state why their approach works. Choose the next step from the responses, not a preset pace.</a:t>
            </a:r>
          </a:p>
        </p:txBody>
      </p:sp>
      <p:sp>
        <p:nvSpPr>
          <p:cNvPr id="737" name="Google Shape;737;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25 | TASK</a:t>
            </a:r>
          </a:p>
          <a:p xmlns:a="http://schemas.openxmlformats.org/drawingml/2006/main">
            <a:pPr>
              <a:buNone/>
            </a:pPr>
            <a:r>
              <a:rPr lang="en-US" sz="1100"/>
              <a:t>Focus on the existing task: What do you notice about the signs of the coordinates of the points in each quadrant?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use signs to select directions.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93" name="Google Shape;793;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26 | PRACTICE</a:t>
            </a:r>
          </a:p>
          <a:p xmlns:a="http://schemas.openxmlformats.org/drawingml/2006/main">
            <a:pPr>
              <a:buNone/>
            </a:pPr>
            <a:r>
              <a:rPr lang="en-US" sz="1100"/>
              <a:t>Focus on the existing task: Let’s Explore More What statement can you make about the coordinates for points in Quadrant III?</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18" name="Google Shape;818;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31 | DIVIDER</a:t>
            </a:r>
          </a:p>
          <a:p xmlns:a="http://schemas.openxmlformats.org/drawingml/2006/main">
            <a:pPr>
              <a:buNone/>
            </a:pPr>
            <a:r>
              <a:rPr lang="en-US" sz="1100"/>
              <a:t>Focus on the existing task: Represent Rational Numbers on the Coordinate Plane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30" name="Google Shape;830;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32 | TASK</a:t>
            </a:r>
          </a:p>
          <a:p xmlns:a="http://schemas.openxmlformats.org/drawingml/2006/main">
            <a:pPr>
              <a:buNone/>
            </a:pPr>
            <a:r>
              <a:rPr lang="en-US" sz="1100"/>
              <a:t>Focus on the existing task: Point Relationships How do points E, F, and G relate?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does each coordinate control one movement from the origin?” Wait for evidence, invite another pathway, and have a student ask a follow-up question. Do not replace students’ reasoning with a sequence of leading steps.</a:t>
            </a:r>
          </a:p>
        </p:txBody>
      </p:sp>
      <p:sp>
        <p:nvSpPr>
          <p:cNvPr id="878" name="Google Shape;878;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33 | TASK</a:t>
            </a:r>
          </a:p>
          <a:p xmlns:a="http://schemas.openxmlformats.org/drawingml/2006/main">
            <a:pPr>
              <a:buNone/>
            </a:pPr>
            <a:r>
              <a:rPr lang="en-US" sz="1100"/>
              <a:t>Focus on the existing task: Point Relationships How can you find the coordinates of each point?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98" name="Google Shape;898;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5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34 | TASK</a:t>
            </a:r>
          </a:p>
          <a:p xmlns:a="http://schemas.openxmlformats.org/drawingml/2006/main">
            <a:pPr>
              <a:buNone/>
            </a:pPr>
            <a:r>
              <a:rPr lang="en-US" sz="1100"/>
              <a:t>Focus on the existing task: Point Relationships Let’s find the coordinates of points E and G. Point E is in Quadrant I. Point G is in Quadrant II. What do you notice about the coordinates for points E and G?</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22" name="Google Shape;922;p5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35 | COLLABORATE</a:t>
            </a:r>
          </a:p>
          <a:p xmlns:a="http://schemas.openxmlformats.org/drawingml/2006/main">
            <a:pPr>
              <a:buNone/>
            </a:pPr>
            <a:r>
              <a:rPr lang="en-US" sz="1100"/>
              <a:t>Focus on the existing task: Point E is in Quadrant I. Collaborate and Connect Compare the coordinates of points E and F. How could you describe the relationship between the points?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interchanging x and y or reversing a negative direction. If it appears, trace horizontal then vertical movement on the original coordinate plane; then ask the student to revise the same response and explain the change. If evidence is secure, have students compare a second valid pathway or state why their approach works. Choose the next step from the responses, not a preset pace.</a:t>
            </a:r>
          </a:p>
        </p:txBody>
      </p:sp>
      <p:sp>
        <p:nvSpPr>
          <p:cNvPr id="968" name="Google Shape;968;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5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36 | TASK</a:t>
            </a:r>
          </a:p>
          <a:p xmlns:a="http://schemas.openxmlformats.org/drawingml/2006/main">
            <a:pPr>
              <a:buNone/>
            </a:pPr>
            <a:r>
              <a:rPr lang="en-US" sz="1100"/>
              <a:t>Focus on the existing task: Point Relationships Think About It: How does a reflection on the coordinate plane relate to a reflection in the mirror?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90" name="Google Shape;990;p5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5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37 | TASK</a:t>
            </a:r>
          </a:p>
          <a:p xmlns:a="http://schemas.openxmlformats.org/drawingml/2006/main">
            <a:pPr>
              <a:buNone/>
            </a:pPr>
            <a:r>
              <a:rPr lang="en-US" sz="1100"/>
              <a:t>Focus on the existing task: Point Relationships Looking for Structure How can exploring patterns be helpful in solving this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12" name="Google Shape;1012;p5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38 | PRACTICE</a:t>
            </a:r>
          </a:p>
          <a:p xmlns:a="http://schemas.openxmlformats.org/drawingml/2006/main">
            <a:pPr>
              <a:buNone/>
            </a:pPr>
            <a:r>
              <a:rPr lang="en-US" sz="1100"/>
              <a:t>Focus on the existing task: Let’s Explore More How does point H relate to point 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25" name="Google Shape;1025;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40 | SUMMARIZE</a:t>
            </a:r>
          </a:p>
          <a:p xmlns:a="http://schemas.openxmlformats.org/drawingml/2006/main">
            <a:pPr>
              <a:buNone/>
            </a:pPr>
            <a:r>
              <a:rPr lang="en-US" sz="1100"/>
              <a:t>Focus on the existing task: Summarize: Represent Rational Numbers on the Coordinate Plane SUMMARIZE · SAY IT IN YOUR OWN WORDS</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37" name="Google Shape;1037;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41 | APPLY</a:t>
            </a:r>
          </a:p>
          <a:p xmlns:a="http://schemas.openxmlformats.org/drawingml/2006/main">
            <a:pPr>
              <a:buNone/>
            </a:pPr>
            <a:r>
              <a:rPr lang="en-US" sz="1100"/>
              <a:t>Focus on the existing task: Apply: Let’s Draw Shapes Question: What shape can you create on the coordinate plane that will have all of its vertices be reflections of each other?</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interpret ordered pairs as horizontal then vertical; use signs to select directions. Respond with one specific next step tied to the work. Students revise and annotate what changed, then identify a criterion they can now demonstrate and one they still need to practice.</a:t>
            </a:r>
          </a:p>
        </p:txBody>
      </p:sp>
      <p:sp>
        <p:nvSpPr>
          <p:cNvPr id="1045" name="Google Shape;1045;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7.5, slide 42 | REFLECTION</a:t>
            </a:r>
          </a:p>
          <a:p xmlns:a="http://schemas.openxmlformats.org/drawingml/2006/main">
            <a:pPr>
              <a:buNone/>
            </a:pPr>
            <a:r>
              <a:rPr lang="en-US" sz="1100"/>
              <a:t>Focus on the existing task: Learning Targets</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053" name="Google Shape;1053;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7.5, slide 29 | WARMUP</a:t>
            </a:r>
          </a:p>
          <a:p xmlns:a="http://schemas.openxmlformats.org/drawingml/2006/main">
            <a:pPr>
              <a:buNone/>
            </a:pPr>
            <a:r>
              <a:rPr lang="en-US" sz="1100"/>
              <a:t>Focus on the existing task: Session 2 Warm-Up Session 2 Warm-Up…</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ordered pairs as horizontal then vertical; use signs to select directions. Ask: “Which part of your work would show this?” Revisit that evidence after the task; a confidence rating alone is not evidence of understanding.</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7.5, slide 30 | NOTES</a:t>
            </a:r>
          </a:p>
          <a:p xmlns:a="http://schemas.openxmlformats.org/drawingml/2006/main">
            <a:pPr>
              <a:buNone/>
            </a:pPr>
            <a:r>
              <a:rPr lang="en-US" sz="1100"/>
              <a:t>Focus on the existing task: Today’s Math Notes Review Notes…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44 | REFLECTION</a:t>
            </a:r>
          </a:p>
          <a:p xmlns:a="http://schemas.openxmlformats.org/drawingml/2006/main">
            <a:pPr>
              <a:buNone/>
            </a:pPr>
            <a:r>
              <a:rPr lang="en-US" sz="1100"/>
              <a:t>Focus on the existing task: Learning Targets</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interchanging x and y or reversing a negative direction.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trace horizontal then vertical movement on the original coordinate plane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7 | PRIOR_INSERT</a:t>
            </a:r>
          </a:p>
          <a:p xmlns:a="http://schemas.openxmlformats.org/drawingml/2006/main">
            <a:pPr>
              <a:buNone/>
            </a:pPr>
            <a:r>
              <a:rPr lang="en-US" sz="1100"/>
              <a:t>Focus on the existing task: LESSON 7.5 / OUR LEARNING What will show your learning?</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8 | VOCAB</a:t>
            </a:r>
          </a:p>
          <a:p xmlns:a="http://schemas.openxmlformats.org/drawingml/2006/main">
            <a:pPr>
              <a:buNone/>
            </a:pPr>
            <a:r>
              <a:rPr lang="en-US" sz="1100"/>
              <a:t>Focus on the existing task: Vocabulary 1 of 7 Graph on the…</a:t>
            </a:r>
          </a:p>
          <a:p xmlns:a="http://schemas.openxmlformats.org/drawingml/2006/main">
            <a:pPr>
              <a:buNone/>
            </a:pPr>
            <a:r>
              <a:rPr lang="en-US" sz="1100"/>
              <a:t>ASK (T1/3/5): Where does “Graph on the Coordinate Plane”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9 | VOCAB</a:t>
            </a:r>
          </a:p>
          <a:p xmlns:a="http://schemas.openxmlformats.org/drawingml/2006/main">
            <a:pPr>
              <a:buNone/>
            </a:pPr>
            <a:r>
              <a:rPr lang="en-US" sz="1100"/>
              <a:t>Focus on the existing task: Vocabulary 2 of 7 Coordinate plane A…</a:t>
            </a:r>
          </a:p>
          <a:p xmlns:a="http://schemas.openxmlformats.org/drawingml/2006/main">
            <a:pPr>
              <a:buNone/>
            </a:pPr>
            <a:r>
              <a:rPr lang="en-US" sz="1100"/>
              <a:t>ASK (T1/3/5): Where does “Coordinate plane”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10 | VOCAB</a:t>
            </a:r>
          </a:p>
          <a:p xmlns:a="http://schemas.openxmlformats.org/drawingml/2006/main">
            <a:pPr>
              <a:buNone/>
            </a:pPr>
            <a:r>
              <a:rPr lang="en-US" sz="1100"/>
              <a:t>Focus on the existing task: Vocabulary 3 of 7 Ordered pair Two…</a:t>
            </a:r>
          </a:p>
          <a:p xmlns:a="http://schemas.openxmlformats.org/drawingml/2006/main">
            <a:pPr>
              <a:buNone/>
            </a:pPr>
            <a:r>
              <a:rPr lang="en-US" sz="1100"/>
              <a:t>ASK (T1/3/5): Where does “Ordered pair”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11 | VOCAB</a:t>
            </a:r>
          </a:p>
          <a:p xmlns:a="http://schemas.openxmlformats.org/drawingml/2006/main">
            <a:pPr>
              <a:buNone/>
            </a:pPr>
            <a:r>
              <a:rPr lang="en-US" sz="1100"/>
              <a:t>Focus on the existing task: Vocabulary 4 of 7 Origin The point (0, 0)</a:t>
            </a:r>
          </a:p>
          <a:p xmlns:a="http://schemas.openxmlformats.org/drawingml/2006/main">
            <a:pPr>
              <a:buNone/>
            </a:pPr>
            <a:r>
              <a:rPr lang="en-US" sz="1100"/>
              <a:t>ASK (T1/3/5): Where does “Origin”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12 | VOCAB</a:t>
            </a:r>
          </a:p>
          <a:p xmlns:a="http://schemas.openxmlformats.org/drawingml/2006/main">
            <a:pPr>
              <a:buNone/>
            </a:pPr>
            <a:r>
              <a:rPr lang="en-US" sz="1100"/>
              <a:t>Focus on the existing task: Vocabulary 5 of 7 Quadrant One of the…</a:t>
            </a:r>
          </a:p>
          <a:p xmlns:a="http://schemas.openxmlformats.org/drawingml/2006/main">
            <a:pPr>
              <a:buNone/>
            </a:pPr>
            <a:r>
              <a:rPr lang="en-US" sz="1100"/>
              <a:t>ASK (T1/3/5): Where does “Quadrant”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13 | VOCAB</a:t>
            </a:r>
          </a:p>
          <a:p xmlns:a="http://schemas.openxmlformats.org/drawingml/2006/main">
            <a:pPr>
              <a:buNone/>
            </a:pPr>
            <a:r>
              <a:rPr lang="en-US" sz="1100"/>
              <a:t>Focus on the existing task: Vocabulary 6 of 7 Reflection A flipped…</a:t>
            </a:r>
          </a:p>
          <a:p xmlns:a="http://schemas.openxmlformats.org/drawingml/2006/main">
            <a:pPr>
              <a:buNone/>
            </a:pPr>
            <a:r>
              <a:rPr lang="en-US" sz="1100"/>
              <a:t>ASK (T1/3/5): Where does “Reflection”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14 | VOCAB</a:t>
            </a:r>
          </a:p>
          <a:p xmlns:a="http://schemas.openxmlformats.org/drawingml/2006/main">
            <a:pPr>
              <a:buNone/>
            </a:pPr>
            <a:r>
              <a:rPr lang="en-US" sz="1100"/>
              <a:t>Focus on the existing task: Vocabulary 7 of 7 Integer Whole numbers…</a:t>
            </a:r>
          </a:p>
          <a:p xmlns:a="http://schemas.openxmlformats.org/drawingml/2006/main">
            <a:pPr>
              <a:buNone/>
            </a:pPr>
            <a:r>
              <a:rPr lang="en-US" sz="1100"/>
              <a:t>ASK (T1/3/5): Where does “Integer”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27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28 | REVEAL</a:t>
            </a:r>
          </a:p>
          <a:p xmlns:a="http://schemas.openxmlformats.org/drawingml/2006/main">
            <a:pPr>
              <a:buNone/>
            </a:pPr>
            <a:r>
              <a:rPr lang="en-US" sz="1100"/>
              <a:t>Focus on the existing task: The coordinate plane shows points A, B, C, and D. What do you notice about the coordinate plane and the points?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39 | PRIOR_INSERT</a:t>
            </a:r>
          </a:p>
          <a:p xmlns:a="http://schemas.openxmlformats.org/drawingml/2006/main">
            <a:pPr>
              <a:buNone/>
            </a:pPr>
            <a:r>
              <a:rPr lang="en-US" sz="1100"/>
              <a:t>Focus on the existing task: LESSON 7.5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43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interpret ordered pairs as horizontal then vertical. Ask which feature of their work supports the claim.</a:t>
            </a:r>
          </a:p>
          <a:p xmlns:a="http://schemas.openxmlformats.org/drawingml/2006/main">
            <a:pPr>
              <a:buNone/>
            </a:pPr>
            <a:r>
              <a:rPr lang="en-US" sz="1100"/>
              <a:t>RESPOND: If this task shows the lesson misconception—interchanging x and y or reversing a negative direction—trace horizontal then vertical movement on the original coordinate plane.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7.5, slide 45 | PRIOR_INSERT</a:t>
            </a:r>
          </a:p>
          <a:p xmlns:a="http://schemas.openxmlformats.org/drawingml/2006/main">
            <a:pPr>
              <a:buNone/>
            </a:pPr>
            <a:r>
              <a:rPr lang="en-US" sz="1100"/>
              <a:t>Focus on the existing task: LESSON 7.5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interpret ordered pairs as horizontal then vertical; use signs to select directions.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Rational Numbers on the Coordinate Plane</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Represent Rational Numbers on the Coordinate Plane</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 xml:space="preserve">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6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6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7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5.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6.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33.png"/><Relationship Id="rId7"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notesSlide" Target="../notesSlides/notesSlide7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6.png"/><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9.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2.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6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64.png"/><Relationship Id="rId4" Type="http://schemas.openxmlformats.org/officeDocument/2006/relationships/image" Target="../media/image6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6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6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45.png"/><Relationship Id="rId4" Type="http://schemas.openxmlformats.org/officeDocument/2006/relationships/notesSlide" Target="../notesSlides/notesSlide7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7.png"/><Relationship Id="rId3" Type="http://schemas.openxmlformats.org/officeDocument/2006/relationships/notesSlide" Target="../notesSlides/notesSlide6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7-5 · Represent Rational Numbers on the Coordinate Plane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From the origin, (4, 3) is 4 right and ______ up.</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Which quadrant holds (−4, 5)?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To plot (3, −2): move 3 right, then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Each tick on an axis is 2 units. The 3rd tick right of 0 is at ______</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4" name="Google Shape;524;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525" name="Google Shape;525;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6" name="Google Shape;526;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7" name="Google Shape;527;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8" name="Google Shape;528;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30" name="Google Shape;530;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2" name="Google Shape;532;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3" name="Google Shape;533;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Graph on the Coordinate Plane</a:t>
            </a:r>
            <a:endParaRPr/>
          </a:p>
        </p:txBody>
      </p:sp>
      <p:sp>
        <p:nvSpPr>
          <p:cNvPr id="534" name="Google Shape;534;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Plot a point by moving horizontally to its </a:t>
            </a:r>
            <a:r>
              <a:rPr b="1" i="0" lang="en-US" sz="1450" u="none" cap="none" strike="noStrike">
                <a:solidFill>
                  <a:srgbClr val="475569"/>
                </a:solidFill>
                <a:latin typeface="Arial"/>
                <a:ea typeface="Arial"/>
                <a:cs typeface="Arial"/>
                <a:sym typeface="Arial"/>
              </a:rPr>
              <a:t xml:space="preserve">x-coordinate</a:t>
            </a:r>
            <a:r>
              <a:rPr b="0" i="0" lang="en-US" sz="1450" u="none" cap="none" strike="noStrike">
                <a:solidFill>
                  <a:srgbClr val="475569"/>
                </a:solidFill>
                <a:latin typeface="Arial"/>
                <a:ea typeface="Arial"/>
                <a:cs typeface="Arial"/>
                <a:sym typeface="Arial"/>
              </a:rPr>
              <a:t xml:space="preserve"> and vertically</a:t>
            </a:r>
            <a:endParaRPr/>
          </a:p>
        </p:txBody>
      </p:sp>
      <p:sp>
        <p:nvSpPr>
          <p:cNvPr id="535" name="Google Shape;535;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7" name="Google Shape;537;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8" name="Google Shape;538;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Coordinate plane</a:t>
            </a:r>
            <a:endParaRPr/>
          </a:p>
        </p:txBody>
      </p:sp>
      <p:sp>
        <p:nvSpPr>
          <p:cNvPr id="539" name="Google Shape;539;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grid with a line going across and a line going</a:t>
            </a:r>
            <a:endParaRPr/>
          </a:p>
        </p:txBody>
      </p:sp>
      <p:sp>
        <p:nvSpPr>
          <p:cNvPr id="540" name="Google Shape;540;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3" name="Google Shape;543;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Ordered pair</a:t>
            </a:r>
            <a:endParaRPr/>
          </a:p>
        </p:txBody>
      </p:sp>
      <p:sp>
        <p:nvSpPr>
          <p:cNvPr id="544" name="Google Shape;544;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Two numbers (x, y)</a:t>
            </a:r>
            <a:endParaRPr/>
          </a:p>
        </p:txBody>
      </p:sp>
      <p:sp>
        <p:nvSpPr>
          <p:cNvPr id="5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51</a:t>
            </a:r>
          </a:p>
        </p:txBody>
      </p:sp>
      <p:grpSp>
        <p:nvGrpSpPr>
          <p:cNvPr id="546" name="TEACH-1-student-move" descr="TEACH 1 · Facilitate clear, standards-based content learning"/>
          <p:cNvGrpSpPr/>
          <p:nvPr/>
        </p:nvGrpSpPr>
        <p:grpSpPr>
          <a:xfrm>
            <a:off x="6187440" y="1682496"/>
            <a:ext cx="5501640" cy="594360"/>
            <a:chOff x="6187440" y="1682496"/>
            <a:chExt cx="5501640" cy="594360"/>
          </a:xfrm>
        </p:grpSpPr>
        <p:sp>
          <p:nvSpPr>
            <p:cNvPr id="54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1" name="Google Shape;551;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52" name="Google Shape;552;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553" name="Google Shape;553;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4" name="Google Shape;554;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55" name="Google Shape;555;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56" name="Google Shape;556;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58" name="Google Shape;558;p54"/>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9" name="Google Shape;559;p54"/>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Coordinate Plane: Plotting Points</a:t>
            </a:r>
            <a:endParaRPr/>
          </a:p>
        </p:txBody>
      </p:sp>
      <p:sp>
        <p:nvSpPr>
          <p:cNvPr id="560" name="Google Shape;560;p54"/>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1" name="Google Shape;561;p54"/>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50" u="none" cap="none" strike="noStrike">
                <a:solidFill>
                  <a:srgbClr val="C2410C"/>
                </a:solidFill>
                <a:latin typeface="Arial"/>
                <a:ea typeface="Arial"/>
                <a:cs typeface="Arial"/>
                <a:sym typeface="Arial"/>
              </a:rPr>
              <a:t>Ordered Pair: (x, y) = (Horizontal, Vertical)</a:t>
            </a:r>
            <a:endParaRPr/>
          </a:p>
        </p:txBody>
      </p:sp>
      <p:sp>
        <p:nvSpPr>
          <p:cNvPr id="562" name="Google Shape;562;p54"/>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4" name="Google Shape;564;p54"/>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Always start at the </a:t>
            </a:r>
            <a:r>
              <a:rPr b="1" i="0" lang="en-US" sz="1600" u="none" cap="none" strike="noStrike">
                <a:solidFill>
                  <a:srgbClr val="14223A"/>
                </a:solidFill>
                <a:latin typeface="Arial"/>
                <a:ea typeface="Arial"/>
                <a:cs typeface="Arial"/>
                <a:sym typeface="Arial"/>
              </a:rPr>
              <a:t xml:space="preserve">Origin</a:t>
            </a:r>
            <a:r>
              <a:rPr b="0" i="0" lang="en-US" sz="1600" u="none" cap="none" strike="noStrike">
                <a:solidFill>
                  <a:srgbClr val="14223A"/>
                </a:solidFill>
                <a:latin typeface="Arial"/>
                <a:ea typeface="Arial"/>
                <a:cs typeface="Arial"/>
                <a:sym typeface="Arial"/>
              </a:rPr>
              <a:t xml:space="preserve"> (0, 0)</a:t>
            </a:r>
            <a:endParaRPr/>
          </a:p>
        </p:txBody>
      </p:sp>
      <p:sp>
        <p:nvSpPr>
          <p:cNvPr id="565" name="Google Shape;565;p54"/>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4"/>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7" name="Google Shape;567;p54"/>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x-coordinate: </a:t>
            </a:r>
            <a:r>
              <a:rPr b="0" i="0" lang="en-US" sz="1600" u="none" cap="none" strike="noStrike">
                <a:solidFill>
                  <a:srgbClr val="14223A"/>
                </a:solidFill>
                <a:latin typeface="Arial"/>
                <a:ea typeface="Arial"/>
                <a:cs typeface="Arial"/>
                <a:sym typeface="Arial"/>
              </a:rPr>
              <a:t>Move right for positive (+), left for negative (-)</a:t>
            </a:r>
            <a:endParaRPr/>
          </a:p>
        </p:txBody>
      </p:sp>
      <p:sp>
        <p:nvSpPr>
          <p:cNvPr id="568" name="Google Shape;568;p54"/>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9" name="Google Shape;569;p54"/>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70" name="Google Shape;570;p54"/>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y-coordinate: </a:t>
            </a:r>
            <a:r>
              <a:rPr b="0" i="0" lang="en-US" sz="1600" u="none" cap="none" strike="noStrike">
                <a:solidFill>
                  <a:srgbClr val="14223A"/>
                </a:solidFill>
                <a:latin typeface="Arial"/>
                <a:ea typeface="Arial"/>
                <a:cs typeface="Arial"/>
                <a:sym typeface="Arial"/>
              </a:rPr>
              <a:t>Move up for positive (+), down for negative (-)</a:t>
            </a:r>
            <a:endParaRPr/>
          </a:p>
        </p:txBody>
      </p:sp>
      <p:sp>
        <p:nvSpPr>
          <p:cNvPr id="57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51</a:t>
            </a:r>
          </a:p>
        </p:txBody>
      </p:sp>
      <p:sp xmlns:p="http://schemas.openxmlformats.org/presentationml/2006/main" xmlns:a="http://schemas.openxmlformats.org/drawingml/2006/main">
        <p:nvSpPr>
          <p:cNvPr id="572"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1"/>
            <a:ext cx="9144000" cy="13985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Rational Numbers on the Coordinate Plane</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51</a:t>
            </a:r>
          </a:p>
        </p:txBody>
      </p:sp>
      <p:grpSp>
        <p:nvGrpSpPr>
          <p:cNvPr id="237" name="TEACH-2-student-move" descr="TEACH 2 · Use strategies and tasks to engage students in rigorous work"/>
          <p:cNvGrpSpPr/>
          <p:nvPr/>
        </p:nvGrpSpPr>
        <p:grpSpPr>
          <a:xfrm>
            <a:off x="502920" y="3867613"/>
            <a:ext cx="11186160" cy="731520"/>
            <a:chOff x="502920" y="3867613"/>
            <a:chExt cx="11186160" cy="731520"/>
          </a:xfrm>
        </p:grpSpPr>
        <p:sp>
          <p:nvSpPr>
            <p:cNvPr id="238" name="TEACH-move-card"/>
            <p:cNvSpPr/>
            <p:nvPr/>
          </p:nvSpPr>
          <p:spPr>
            <a:xfrm>
              <a:off x="502920" y="3867613"/>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2"/>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3"/>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cxnSp>
        <p:nvCxnSpPr>
          <p:cNvPr id="241" name="Google Shape;241;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2" name="Google Shape;242;p41"/>
          <p:cNvSpPr txBox="1"/>
          <p:nvPr/>
        </p:nvSpPr>
        <p:spPr>
          <a:xfrm>
            <a:off x="505579"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It’s About</a:t>
            </a:r>
            <a:endParaRPr b="0" i="0" sz="1400" u="none" cap="none" strike="noStrike">
              <a:solidFill>
                <a:srgbClr val="000000"/>
              </a:solidFill>
              <a:latin typeface="Arial"/>
              <a:ea typeface="Arial"/>
              <a:cs typeface="Arial"/>
              <a:sym typeface="Arial"/>
            </a:endParaRPr>
          </a:p>
        </p:txBody>
      </p:sp>
      <p:sp>
        <p:nvSpPr>
          <p:cNvPr id="243" name="Google Shape;243;p41"/>
          <p:cNvSpPr/>
          <p:nvPr/>
        </p:nvSpPr>
        <p:spPr>
          <a:xfrm>
            <a:off x="486000" y="936000"/>
            <a:ext cx="724905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What percent is shaded? How do you know?</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chapter42\narm24_c10705_esp_001a.png" id="244" name="Google Shape;244;p41"/>
          <p:cNvPicPr preferRelativeResize="0"/>
          <p:nvPr/>
        </p:nvPicPr>
        <p:blipFill rotWithShape="1">
          <a:blip r:embed="rId3">
            <a:alphaModFix/>
          </a:blip>
          <a:srcRect b="0" l="0" r="0" t="0"/>
          <a:stretch/>
        </p:blipFill>
        <p:spPr>
          <a:xfrm>
            <a:off x="505579" y="2079186"/>
            <a:ext cx="7229475" cy="3105150"/>
          </a:xfrm>
          <a:prstGeom prst="rect">
            <a:avLst/>
          </a:prstGeom>
          <a:noFill/>
          <a:ln>
            <a:noFill/>
          </a:ln>
        </p:spPr>
      </p:pic>
      <p:sp>
        <p:nvSpPr>
          <p:cNvPr id="24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51</a:t>
            </a:r>
          </a:p>
        </p:txBody>
      </p:sp>
      <p:sp xmlns:p="http://schemas.openxmlformats.org/presentationml/2006/main" xmlns:a="http://schemas.openxmlformats.org/drawingml/2006/main">
        <p:nvSpPr>
          <p:cNvPr id="24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8" name="Google Shape;338;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339" name="Google Shape;339;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1" name="Google Shape;341;p44"/>
          <p:cNvSpPr txBox="1"/>
          <p:nvPr/>
        </p:nvSpPr>
        <p:spPr>
          <a:xfrm>
            <a:off x="640080" y="969264"/>
            <a:ext cx="10911809" cy="567944"/>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350" u="none" cap="none" strike="noStrike">
                <a:solidFill>
                  <a:srgbClr val="14223A"/>
                </a:solidFill>
                <a:latin typeface="Arial"/>
                <a:ea typeface="Arial"/>
                <a:cs typeface="Arial"/>
                <a:sym typeface="Arial"/>
              </a:rPr>
              <a:t>Represent Rational Numbers on the Coordinate Plane</a:t>
            </a:r>
            <a:endParaRPr/>
          </a:p>
        </p:txBody>
      </p:sp>
      <p:sp>
        <p:nvSpPr>
          <p:cNvPr id="342" name="Google Shape;342;p44"/>
          <p:cNvSpPr txBox="1"/>
          <p:nvPr/>
        </p:nvSpPr>
        <p:spPr>
          <a:xfrm>
            <a:off x="640080" y="157378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6.NOS.6</a:t>
            </a:r>
            <a:endParaRPr/>
          </a:p>
        </p:txBody>
      </p:sp>
      <p:sp>
        <p:nvSpPr>
          <p:cNvPr id="343" name="Google Shape;343;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6" name="Google Shape;346;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7" name="Google Shape;347;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plot and identify points on the coordinate plane using ordered pairs.</a:t>
            </a:r>
            <a:endParaRPr/>
          </a:p>
        </p:txBody>
      </p:sp>
      <p:sp>
        <p:nvSpPr>
          <p:cNvPr id="348" name="Google Shape;348;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1" name="Google Shape;351;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2" name="Google Shape;352;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work using the words coordinate plane, ordered pair, origin, and quadrant.</a:t>
            </a:r>
            <a:endParaRPr/>
          </a:p>
        </p:txBody>
      </p:sp>
      <p:sp>
        <p:nvSpPr>
          <p:cNvPr id="3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51</a:t>
            </a:r>
          </a:p>
        </p:txBody>
      </p:sp>
      <p:grpSp>
        <p:nvGrpSpPr>
          <p:cNvPr id="354" name="TEACH-1-student-move" descr="TEACH 1 · Facilitate clear, standards-based content learning"/>
          <p:cNvGrpSpPr/>
          <p:nvPr/>
        </p:nvGrpSpPr>
        <p:grpSpPr>
          <a:xfrm>
            <a:off x="502920" y="1993392"/>
            <a:ext cx="11186160" cy="402336"/>
            <a:chOff x="502920" y="1993392"/>
            <a:chExt cx="11186160" cy="402336"/>
          </a:xfrm>
        </p:grpSpPr>
        <p:sp>
          <p:nvSpPr>
            <p:cNvPr id="355"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6"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7"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7.5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Interpret ordered pairs as horizontal then vertical.</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Use signs to select directions.</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7" name="Google Shape;397;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400" name="Google Shape;400;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401" name="Google Shape;401;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3" name="Google Shape;403;p46"/>
          <p:cNvSpPr txBox="1"/>
          <p:nvPr/>
        </p:nvSpPr>
        <p:spPr>
          <a:xfrm>
            <a:off x="640080" y="1761743"/>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5200" u="none" cap="none" strike="noStrike">
                <a:solidFill>
                  <a:srgbClr val="14223A"/>
                </a:solidFill>
                <a:latin typeface="Arial"/>
                <a:ea typeface="Arial"/>
                <a:cs typeface="Arial"/>
                <a:sym typeface="Arial"/>
              </a:rPr>
              <a:t>Graph on the Coordinate Plane</a:t>
            </a:r>
            <a:endParaRPr/>
          </a:p>
        </p:txBody>
      </p:sp>
      <p:sp>
        <p:nvSpPr>
          <p:cNvPr id="404" name="Google Shape;404;p46"/>
          <p:cNvSpPr/>
          <p:nvPr/>
        </p:nvSpPr>
        <p:spPr>
          <a:xfrm>
            <a:off x="658368" y="2718816"/>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txBox="1"/>
          <p:nvPr/>
        </p:nvSpPr>
        <p:spPr>
          <a:xfrm>
            <a:off x="640080" y="3080004"/>
            <a:ext cx="10911809" cy="86410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700" u="none" cap="none" strike="noStrike">
                <a:solidFill>
                  <a:srgbClr val="14223A"/>
                </a:solidFill>
                <a:latin typeface="Arial"/>
                <a:ea typeface="Arial"/>
                <a:cs typeface="Arial"/>
                <a:sym typeface="Arial"/>
              </a:rPr>
              <a:t>Plot a point by moving horizontally to its x-coordinate and vertically to its y-coordinate.</a:t>
            </a:r>
            <a:endParaRPr/>
          </a:p>
        </p:txBody>
      </p:sp>
      <p:sp>
        <p:nvSpPr>
          <p:cNvPr id="406" name="Google Shape;406;p46"/>
          <p:cNvSpPr/>
          <p:nvPr/>
        </p:nvSpPr>
        <p:spPr>
          <a:xfrm>
            <a:off x="640080" y="4364736"/>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7" name="Google Shape;407;p46"/>
          <p:cNvSpPr/>
          <p:nvPr/>
        </p:nvSpPr>
        <p:spPr>
          <a:xfrm>
            <a:off x="640080" y="43647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6"/>
          <p:cNvSpPr txBox="1"/>
          <p:nvPr/>
        </p:nvSpPr>
        <p:spPr>
          <a:xfrm>
            <a:off x="932688" y="4538472"/>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9" name="Google Shape;409;p46"/>
          <p:cNvSpPr txBox="1"/>
          <p:nvPr/>
        </p:nvSpPr>
        <p:spPr>
          <a:xfrm>
            <a:off x="932688" y="4840224"/>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2100" u="none" cap="none" strike="noStrike">
                <a:solidFill>
                  <a:srgbClr val="14223A"/>
                </a:solidFill>
                <a:latin typeface="Arial"/>
                <a:ea typeface="Arial"/>
                <a:cs typeface="Arial"/>
                <a:sym typeface="Arial"/>
              </a:rPr>
              <a:t>For (3, −2), move right 3 and down 2.</a:t>
            </a:r>
            <a:endParaRPr/>
          </a:p>
        </p:txBody>
      </p:sp>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51</a:t>
            </a:r>
          </a:p>
        </p:txBody>
      </p:sp>
      <p:grpSp>
        <p:nvGrpSpPr>
          <p:cNvPr id="410" name="TEACH-5-student-move" descr="TEACH 5 · Facilitate student interactions and academic talk"/>
          <p:cNvGrpSpPr/>
          <p:nvPr/>
        </p:nvGrpSpPr>
        <p:grpSpPr>
          <a:xfrm>
            <a:off x="502920" y="5751576"/>
            <a:ext cx="11186160" cy="548640"/>
            <a:chOff x="502920" y="5751576"/>
            <a:chExt cx="11186160" cy="548640"/>
          </a:xfrm>
        </p:grpSpPr>
        <p:sp>
          <p:nvSpPr>
            <p:cNvPr id="411"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12"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13"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4" name="Google Shape;414;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7" name="Google Shape;417;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418" name="Google Shape;418;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0" name="Google Shape;420;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Coordinate plane</a:t>
            </a:r>
            <a:endParaRPr/>
          </a:p>
        </p:txBody>
      </p:sp>
      <p:sp>
        <p:nvSpPr>
          <p:cNvPr id="421" name="Google Shape;421;p47"/>
          <p:cNvSpPr/>
          <p:nvPr/>
        </p:nvSpPr>
        <p:spPr>
          <a:xfrm>
            <a:off x="658368" y="263880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grid with a line going across and a line going up to plot points.</a:t>
            </a:r>
            <a:endParaRPr/>
          </a:p>
        </p:txBody>
      </p:sp>
      <p:sp>
        <p:nvSpPr>
          <p:cNvPr id="423" name="Google Shape;423;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6" name="Google Shape;426;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grid with a horizontal line (x-axis) crossing a vertical line (y-axis), making four sections</a:t>
            </a:r>
            <a:endParaRPr/>
          </a:p>
        </p:txBody>
      </p:sp>
      <p:pic>
        <p:nvPicPr>
          <p:cNvPr descr="coordinate-plane.png" id="427" name="Google Shape;427;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51</a:t>
            </a:r>
          </a:p>
        </p:txBody>
      </p:sp>
      <p:sp xmlns:p="http://schemas.openxmlformats.org/presentationml/2006/main" xmlns:a="http://schemas.openxmlformats.org/drawingml/2006/main">
        <p:nvSpPr>
          <p:cNvPr id="428"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“Coordinate plane”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2" name="Google Shape;432;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5" name="Google Shape;435;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436" name="Google Shape;436;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8" name="Google Shape;438;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Ordered pair</a:t>
            </a:r>
            <a:endParaRPr/>
          </a:p>
        </p:txBody>
      </p:sp>
      <p:sp>
        <p:nvSpPr>
          <p:cNvPr id="439" name="Google Shape;439;p48"/>
          <p:cNvSpPr/>
          <p:nvPr/>
        </p:nvSpPr>
        <p:spPr>
          <a:xfrm>
            <a:off x="658368" y="273786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numbers (x, y) that tell where a point is on a grid.</a:t>
            </a:r>
            <a:endParaRPr/>
          </a:p>
        </p:txBody>
      </p:sp>
      <p:sp>
        <p:nvSpPr>
          <p:cNvPr id="441" name="Google Shape;441;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4" name="Google Shape;444;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5) means move right 3 from the origin, then up 5</a:t>
            </a:r>
            <a:endParaRPr/>
          </a:p>
        </p:txBody>
      </p:sp>
      <p:pic>
        <p:nvPicPr>
          <p:cNvPr descr="ordered-pair.png" id="445" name="Google Shape;445;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51</a:t>
            </a:r>
          </a:p>
        </p:txBody>
      </p:sp>
      <p:sp xmlns:p="http://schemas.openxmlformats.org/presentationml/2006/main" xmlns:a="http://schemas.openxmlformats.org/drawingml/2006/main">
        <p:nvSpPr>
          <p:cNvPr id="44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“Ordered pair”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0" name="Google Shape;450;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7</a:t>
            </a:r>
            <a:endParaRPr/>
          </a:p>
        </p:txBody>
      </p:sp>
      <p:sp>
        <p:nvSpPr>
          <p:cNvPr id="453" name="Google Shape;453;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454" name="Google Shape;454;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6" name="Google Shape;456;p49"/>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Origin</a:t>
            </a:r>
            <a:endParaRPr/>
          </a:p>
        </p:txBody>
      </p:sp>
      <p:sp>
        <p:nvSpPr>
          <p:cNvPr id="457" name="Google Shape;457;p49"/>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point (0, 0) where the two grid lines cross.</a:t>
            </a:r>
            <a:endParaRPr/>
          </a:p>
        </p:txBody>
      </p:sp>
      <p:sp>
        <p:nvSpPr>
          <p:cNvPr id="459" name="Google Shape;459;p49"/>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49"/>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9"/>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2" name="Google Shape;462;p49"/>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starting point at the center where both axes cross — (0, 0)</a:t>
            </a:r>
            <a:endParaRPr/>
          </a:p>
        </p:txBody>
      </p:sp>
      <p:pic>
        <p:nvPicPr>
          <p:cNvPr descr="origin.png" id="463" name="Google Shape;463;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51</a:t>
            </a:r>
          </a:p>
        </p:txBody>
      </p:sp>
      <p:sp xmlns:p="http://schemas.openxmlformats.org/presentationml/2006/main" xmlns:a="http://schemas.openxmlformats.org/drawingml/2006/main">
        <p:nvSpPr>
          <p:cNvPr id="46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“Origin”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8" name="Google Shape;468;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7</a:t>
            </a:r>
            <a:endParaRPr/>
          </a:p>
        </p:txBody>
      </p:sp>
      <p:sp>
        <p:nvSpPr>
          <p:cNvPr id="471" name="Google Shape;471;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472" name="Google Shape;472;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4" name="Google Shape;474;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Quadrant</a:t>
            </a:r>
            <a:endParaRPr/>
          </a:p>
        </p:txBody>
      </p:sp>
      <p:sp>
        <p:nvSpPr>
          <p:cNvPr id="475" name="Google Shape;475;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One of the four parts of a coordinate grid, numbered I to IV.</a:t>
            </a:r>
            <a:endParaRPr/>
          </a:p>
        </p:txBody>
      </p:sp>
      <p:sp>
        <p:nvSpPr>
          <p:cNvPr id="477" name="Google Shape;477;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0" name="Google Shape;480;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 (+,+) top-right, II (-,+) top-left, III (-,-) bottom-left, IV (+,-) bottom-right</a:t>
            </a:r>
            <a:endParaRPr/>
          </a:p>
        </p:txBody>
      </p:sp>
      <p:pic>
        <p:nvPicPr>
          <p:cNvPr descr="quadrant.png" id="481" name="Google Shape;481;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51</a:t>
            </a:r>
          </a:p>
        </p:txBody>
      </p:sp>
      <p:sp xmlns:p="http://schemas.openxmlformats.org/presentationml/2006/main" xmlns:a="http://schemas.openxmlformats.org/drawingml/2006/main">
        <p:nvSpPr>
          <p:cNvPr id="48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“Quadrant”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6" name="Google Shape;486;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9" name="Google Shape;489;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490" name="Google Shape;490;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2" name="Google Shape;492;p51"/>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Reflection</a:t>
            </a:r>
            <a:endParaRPr/>
          </a:p>
        </p:txBody>
      </p:sp>
      <p:sp>
        <p:nvSpPr>
          <p:cNvPr id="493" name="Google Shape;493;p51"/>
          <p:cNvSpPr/>
          <p:nvPr/>
        </p:nvSpPr>
        <p:spPr>
          <a:xfrm>
            <a:off x="658368" y="2814828"/>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flipped, mirror image across a line.</a:t>
            </a:r>
            <a:endParaRPr/>
          </a:p>
        </p:txBody>
      </p:sp>
      <p:sp>
        <p:nvSpPr>
          <p:cNvPr id="495" name="Google Shape;495;p51"/>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6" name="Google Shape;496;p51"/>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8" name="Google Shape;498;p51"/>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2) reflected over the x-axis becomes (3, −2) — same x, opposite y</a:t>
            </a:r>
            <a:endParaRPr/>
          </a:p>
        </p:txBody>
      </p:sp>
      <p:pic>
        <p:nvPicPr>
          <p:cNvPr descr="reflection.png" id="499" name="Google Shape;499;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51</a:t>
            </a:r>
          </a:p>
        </p:txBody>
      </p:sp>
      <p:sp xmlns:p="http://schemas.openxmlformats.org/presentationml/2006/main" xmlns:a="http://schemas.openxmlformats.org/drawingml/2006/main">
        <p:nvSpPr>
          <p:cNvPr id="50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“Reflection”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4" name="Google Shape;504;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7</a:t>
            </a:r>
            <a:endParaRPr/>
          </a:p>
        </p:txBody>
      </p:sp>
      <p:sp>
        <p:nvSpPr>
          <p:cNvPr id="507" name="Google Shape;507;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508" name="Google Shape;508;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0" name="Google Shape;510;p52"/>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Integer</a:t>
            </a:r>
            <a:endParaRPr/>
          </a:p>
        </p:txBody>
      </p:sp>
      <p:sp>
        <p:nvSpPr>
          <p:cNvPr id="511" name="Google Shape;511;p52"/>
          <p:cNvSpPr/>
          <p:nvPr/>
        </p:nvSpPr>
        <p:spPr>
          <a:xfrm>
            <a:off x="658368" y="2934843"/>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Whole numbers and their opposites, like −2, −1, 0, 1, 2.</a:t>
            </a:r>
            <a:endParaRPr/>
          </a:p>
        </p:txBody>
      </p:sp>
      <p:sp>
        <p:nvSpPr>
          <p:cNvPr id="513" name="Google Shape;513;p52"/>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2"/>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6" name="Google Shape;516;p52"/>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 −3, −2, −1, 0, 1, 2, 3, …</a:t>
            </a:r>
            <a:endParaRPr/>
          </a:p>
        </p:txBody>
      </p:sp>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51</a:t>
            </a:r>
          </a:p>
        </p:txBody>
      </p:sp>
      <p:sp xmlns:p="http://schemas.openxmlformats.org/presentationml/2006/main" xmlns:a="http://schemas.openxmlformats.org/drawingml/2006/main">
        <p:nvSpPr>
          <p:cNvPr id="51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“Integer”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0" name="Google Shape;360;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361" name="Google Shape;361;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3" name="Google Shape;363;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4" name="Google Shape;364;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5" name="Google Shape;365;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Graph on the Coordinate Plane</a:t>
            </a:r>
            <a:endParaRPr/>
          </a:p>
        </p:txBody>
      </p:sp>
      <p:sp>
        <p:nvSpPr>
          <p:cNvPr id="368" name="Google Shape;368;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Plot a point by moving horizontally to its x-coordinate and vertically to its y-coordinate</a:t>
            </a:r>
            <a:endParaRPr/>
          </a:p>
        </p:txBody>
      </p:sp>
      <p:sp>
        <p:nvSpPr>
          <p:cNvPr id="369" name="Google Shape;369;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Coordinate plane</a:t>
            </a:r>
            <a:endParaRPr/>
          </a:p>
        </p:txBody>
      </p:sp>
      <p:sp>
        <p:nvSpPr>
          <p:cNvPr id="372" name="Google Shape;372;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grid with a line going across and a line going up to plot points</a:t>
            </a:r>
            <a:endParaRPr/>
          </a:p>
        </p:txBody>
      </p:sp>
      <p:sp>
        <p:nvSpPr>
          <p:cNvPr id="373" name="Google Shape;373;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Ordered pair</a:t>
            </a:r>
            <a:endParaRPr/>
          </a:p>
        </p:txBody>
      </p:sp>
      <p:sp>
        <p:nvSpPr>
          <p:cNvPr id="376" name="Google Shape;376;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Two numbers (x, y) that tell where a point is on a grid</a:t>
            </a:r>
            <a:endParaRPr/>
          </a:p>
        </p:txBody>
      </p:sp>
      <p:sp>
        <p:nvSpPr>
          <p:cNvPr id="377" name="Google Shape;377;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Origin</a:t>
            </a:r>
            <a:endParaRPr/>
          </a:p>
        </p:txBody>
      </p:sp>
      <p:sp>
        <p:nvSpPr>
          <p:cNvPr id="380" name="Google Shape;380;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point (0, 0) where the two grid lines cross</a:t>
            </a:r>
            <a:endParaRPr/>
          </a:p>
        </p:txBody>
      </p:sp>
      <p:sp>
        <p:nvSpPr>
          <p:cNvPr id="381" name="Google Shape;381;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Quadrant</a:t>
            </a:r>
            <a:endParaRPr/>
          </a:p>
        </p:txBody>
      </p:sp>
      <p:sp>
        <p:nvSpPr>
          <p:cNvPr id="384" name="Google Shape;384;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One of the four parts of a coordinate grid, numbered I to IV</a:t>
            </a:r>
            <a:endParaRPr/>
          </a:p>
        </p:txBody>
      </p:sp>
      <p:sp>
        <p:nvSpPr>
          <p:cNvPr id="385" name="Google Shape;385;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6" name="Google Shape;386;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Reflection</a:t>
            </a:r>
            <a:endParaRPr/>
          </a:p>
        </p:txBody>
      </p:sp>
      <p:sp>
        <p:nvSpPr>
          <p:cNvPr id="388" name="Google Shape;388;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flipped, mirror image across a line</a:t>
            </a:r>
            <a:endParaRPr/>
          </a:p>
        </p:txBody>
      </p:sp>
      <p:sp>
        <p:nvSpPr>
          <p:cNvPr id="389" name="Google Shape;389;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Integer</a:t>
            </a:r>
            <a:endParaRPr/>
          </a:p>
        </p:txBody>
      </p:sp>
      <p:sp>
        <p:nvSpPr>
          <p:cNvPr id="392" name="Google Shape;392;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Whole numbers and their opposites, like −2, −1, 0, 1, 2</a:t>
            </a:r>
            <a:endParaRPr/>
          </a:p>
        </p:txBody>
      </p:sp>
      <p:sp>
        <p:nvSpPr>
          <p:cNvPr id="3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51</a:t>
            </a:r>
          </a:p>
        </p:txBody>
      </p:sp>
      <p:sp xmlns:p="http://schemas.openxmlformats.org/presentationml/2006/main" xmlns:a="http://schemas.openxmlformats.org/drawingml/2006/main">
        <p:nvSpPr>
          <p:cNvPr id="394"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cxnSp>
        <p:nvCxnSpPr>
          <p:cNvPr id="585" name="Google Shape;585;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6" name="Google Shape;586;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87" name="Google Shape;587;p56"/>
          <p:cNvPicPr preferRelativeResize="0"/>
          <p:nvPr/>
        </p:nvPicPr>
        <p:blipFill rotWithShape="1">
          <a:blip r:embed="rId3">
            <a:alphaModFix/>
          </a:blip>
          <a:srcRect b="0" l="0" r="0" t="0"/>
          <a:stretch/>
        </p:blipFill>
        <p:spPr>
          <a:xfrm>
            <a:off x="484560" y="3981086"/>
            <a:ext cx="5054600" cy="838200"/>
          </a:xfrm>
          <a:prstGeom prst="rect">
            <a:avLst/>
          </a:prstGeom>
          <a:noFill/>
          <a:ln>
            <a:noFill/>
          </a:ln>
        </p:spPr>
      </p:pic>
      <p:sp>
        <p:nvSpPr>
          <p:cNvPr id="588" name="Google Shape;588;p56"/>
          <p:cNvSpPr txBox="1"/>
          <p:nvPr/>
        </p:nvSpPr>
        <p:spPr>
          <a:xfrm>
            <a:off x="3046010" y="408032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89" name="Google Shape;589;p56"/>
          <p:cNvSpPr txBox="1"/>
          <p:nvPr/>
        </p:nvSpPr>
        <p:spPr>
          <a:xfrm>
            <a:off x="484560" y="936000"/>
            <a:ext cx="4860000" cy="14489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90" name="Google Shape;590;p56"/>
          <p:cNvSpPr/>
          <p:nvPr/>
        </p:nvSpPr>
        <p:spPr>
          <a:xfrm>
            <a:off x="643502" y="4818922"/>
            <a:ext cx="5973166" cy="1292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In what ways can understanding different reasoning strategies help you in math?</a:t>
            </a:r>
            <a:endParaRPr b="0" i="0" sz="2600" u="none" cap="none" strike="noStrike">
              <a:solidFill>
                <a:srgbClr val="595959"/>
              </a:solidFill>
              <a:latin typeface="Arial"/>
              <a:ea typeface="Arial"/>
              <a:cs typeface="Arial"/>
              <a:sym typeface="Arial"/>
            </a:endParaRPr>
          </a:p>
        </p:txBody>
      </p:sp>
      <p:pic>
        <p:nvPicPr>
          <p:cNvPr descr="C:\Users\HP\Desktop\Grade_6_Unit_7-20230217T053830Z-001\Grade_6_Unit_7\OPS\img\chapter44\narm24_c10705_se_006a-dig.png" id="591" name="Google Shape;591;p56"/>
          <p:cNvPicPr preferRelativeResize="0"/>
          <p:nvPr/>
        </p:nvPicPr>
        <p:blipFill rotWithShape="1">
          <a:blip r:embed="rId4">
            <a:alphaModFix/>
          </a:blip>
          <a:srcRect b="0" l="0" r="0" t="0"/>
          <a:stretch/>
        </p:blipFill>
        <p:spPr>
          <a:xfrm>
            <a:off x="7000538" y="1460831"/>
            <a:ext cx="4781550" cy="4743450"/>
          </a:xfrm>
          <a:prstGeom prst="rect">
            <a:avLst/>
          </a:prstGeom>
          <a:noFill/>
          <a:ln>
            <a:noFill/>
          </a:ln>
        </p:spPr>
      </p:pic>
      <p:sp>
        <p:nvSpPr>
          <p:cNvPr id="5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51</a:t>
            </a:r>
          </a:p>
        </p:txBody>
      </p:sp>
      <p:sp xmlns:p="http://schemas.openxmlformats.org/presentationml/2006/main" xmlns:a="http://schemas.openxmlformats.org/drawingml/2006/main">
        <p:nvSpPr>
          <p:cNvPr id="593" name="TEACH-embedded-student-prompt" descr="Student thinking and response directions"/>
          <p:cNvSpPr txBox="1"/>
          <p:nvPr/>
        </p:nvSpPr>
        <p:spPr>
          <a:xfrm>
            <a:off x="594360" y="30358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cxnSp>
        <p:nvCxnSpPr>
          <p:cNvPr id="596" name="Google Shape;596;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97" name="Google Shape;597;p57"/>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sp>
        <p:nvSpPr>
          <p:cNvPr id="598" name="Google Shape;598;p57"/>
          <p:cNvSpPr txBox="1"/>
          <p:nvPr/>
        </p:nvSpPr>
        <p:spPr>
          <a:xfrm>
            <a:off x="484565" y="936000"/>
            <a:ext cx="7173536" cy="135503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xml:space="preserve">The coordinate plane shows points </a:t>
            </a:r>
            <a:r>
              <a:rPr b="0" i="1" lang="en-US" sz="2800" u="none" cap="none" strike="noStrike">
                <a:solidFill>
                  <a:schemeClr val="dk1"/>
                </a:solidFill>
                <a:latin typeface="Arial"/>
                <a:ea typeface="Arial"/>
                <a:cs typeface="Arial"/>
                <a:sym typeface="Arial"/>
              </a:rPr>
              <a:t>A, B, C,</a:t>
            </a:r>
            <a:r>
              <a:rPr b="0" i="0" lang="en-US" sz="2800" u="none" cap="none" strike="noStrike">
                <a:solidFill>
                  <a:schemeClr val="dk1"/>
                </a:solidFill>
                <a:latin typeface="Arial"/>
                <a:ea typeface="Arial"/>
                <a:cs typeface="Arial"/>
                <a:sym typeface="Arial"/>
              </a:rPr>
              <a:t xml:space="preserve"> and </a:t>
            </a:r>
            <a:r>
              <a:rPr b="0" i="1" lang="en-US" sz="2800" u="none" cap="none" strike="noStrike">
                <a:solidFill>
                  <a:schemeClr val="dk1"/>
                </a:solidFill>
                <a:latin typeface="Arial"/>
                <a:ea typeface="Arial"/>
                <a:cs typeface="Arial"/>
                <a:sym typeface="Arial"/>
              </a:rPr>
              <a:t>D.</a:t>
            </a:r>
            <a:endParaRPr b="0" i="0" sz="2800" u="none" cap="none" strike="noStrike">
              <a:solidFill>
                <a:schemeClr val="dk1"/>
              </a:solidFill>
              <a:latin typeface="Arial"/>
              <a:ea typeface="Arial"/>
              <a:cs typeface="Arial"/>
              <a:sym typeface="Arial"/>
            </a:endParaRPr>
          </a:p>
        </p:txBody>
      </p:sp>
      <p:sp>
        <p:nvSpPr>
          <p:cNvPr id="599" name="Google Shape;599;p57"/>
          <p:cNvSpPr txBox="1"/>
          <p:nvPr/>
        </p:nvSpPr>
        <p:spPr>
          <a:xfrm>
            <a:off x="499647" y="2710842"/>
            <a:ext cx="763568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are the coordinates of the four points?</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00502afe118c44c7b4f3bac40125d371\narm24_c10705_se_007a-dig-eps.png" id="600" name="Google Shape;600;p57"/>
          <p:cNvPicPr preferRelativeResize="0"/>
          <p:nvPr/>
        </p:nvPicPr>
        <p:blipFill rotWithShape="1">
          <a:blip r:embed="rId3">
            <a:alphaModFix/>
          </a:blip>
          <a:srcRect b="0" l="0" r="0" t="0"/>
          <a:stretch/>
        </p:blipFill>
        <p:spPr>
          <a:xfrm>
            <a:off x="8285456" y="1723531"/>
            <a:ext cx="3420000" cy="3420000"/>
          </a:xfrm>
          <a:prstGeom prst="rect">
            <a:avLst/>
          </a:prstGeom>
          <a:noFill/>
          <a:ln>
            <a:noFill/>
          </a:ln>
        </p:spPr>
      </p:pic>
      <p:sp>
        <p:nvSpPr>
          <p:cNvPr id="60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51</a:t>
            </a:r>
          </a:p>
        </p:txBody>
      </p:sp>
      <p:sp xmlns:p="http://schemas.openxmlformats.org/presentationml/2006/main" xmlns:a="http://schemas.openxmlformats.org/drawingml/2006/main">
        <p:nvSpPr>
          <p:cNvPr id="60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cxnSp>
        <p:nvCxnSpPr>
          <p:cNvPr id="615" name="Google Shape;615;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6" name="Google Shape;616;p59"/>
          <p:cNvSpPr txBox="1"/>
          <p:nvPr/>
        </p:nvSpPr>
        <p:spPr>
          <a:xfrm>
            <a:off x="484565" y="936000"/>
            <a:ext cx="7686041" cy="10039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The coordinate plane shows points</a:t>
            </a:r>
            <a:r>
              <a:rPr b="0" i="1" lang="en-US" sz="2800" u="none" cap="none" strike="noStrike">
                <a:solidFill>
                  <a:schemeClr val="dk1"/>
                </a:solidFill>
                <a:latin typeface="Arial"/>
                <a:ea typeface="Arial"/>
                <a:cs typeface="Arial"/>
                <a:sym typeface="Arial"/>
              </a:rPr>
              <a:t xml:space="preserve"> A, B, C,</a:t>
            </a:r>
            <a:r>
              <a:rPr b="0" i="0" lang="en-US" sz="2800" u="none" cap="none" strike="noStrike">
                <a:solidFill>
                  <a:schemeClr val="dk1"/>
                </a:solidFill>
                <a:latin typeface="Arial"/>
                <a:ea typeface="Arial"/>
                <a:cs typeface="Arial"/>
                <a:sym typeface="Arial"/>
              </a:rPr>
              <a:t xml:space="preserve"> and</a:t>
            </a:r>
            <a:r>
              <a:rPr b="0" i="1" lang="en-US" sz="2800" u="none" cap="none" strike="noStrike">
                <a:solidFill>
                  <a:schemeClr val="dk1"/>
                </a:solidFill>
                <a:latin typeface="Arial"/>
                <a:ea typeface="Arial"/>
                <a:cs typeface="Arial"/>
                <a:sym typeface="Arial"/>
              </a:rPr>
              <a:t xml:space="preserve"> D.</a:t>
            </a:r>
            <a:endParaRPr b="0" i="0" sz="2800" u="none" cap="none" strike="noStrike">
              <a:solidFill>
                <a:schemeClr val="dk1"/>
              </a:solidFill>
              <a:latin typeface="Arial"/>
              <a:ea typeface="Arial"/>
              <a:cs typeface="Arial"/>
              <a:sym typeface="Arial"/>
            </a:endParaRPr>
          </a:p>
        </p:txBody>
      </p:sp>
      <p:sp>
        <p:nvSpPr>
          <p:cNvPr id="617" name="Google Shape;617;p59"/>
          <p:cNvSpPr txBox="1"/>
          <p:nvPr/>
        </p:nvSpPr>
        <p:spPr>
          <a:xfrm>
            <a:off x="484565" y="2344605"/>
            <a:ext cx="745006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What do you notice about the coordinate plane and the points?</a:t>
            </a:r>
            <a:endParaRPr b="1" i="0" sz="2800" u="none" cap="none" strike="noStrike">
              <a:solidFill>
                <a:schemeClr val="dk1"/>
              </a:solidFill>
              <a:latin typeface="Arial"/>
              <a:ea typeface="Arial"/>
              <a:cs typeface="Arial"/>
              <a:sym typeface="Arial"/>
            </a:endParaRPr>
          </a:p>
        </p:txBody>
      </p:sp>
      <p:sp>
        <p:nvSpPr>
          <p:cNvPr id="618" name="Google Shape;618;p59"/>
          <p:cNvSpPr txBox="1"/>
          <p:nvPr/>
        </p:nvSpPr>
        <p:spPr>
          <a:xfrm>
            <a:off x="486000" y="4400178"/>
            <a:ext cx="7592635" cy="18958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coordinate plane is separated into 4 sections. Each point is in a different section of the coordinate plane.</a:t>
            </a:r>
            <a:endParaRPr b="0" i="0" sz="1400" u="none" cap="none" strike="noStrike">
              <a:solidFill>
                <a:srgbClr val="000000"/>
              </a:solidFill>
              <a:latin typeface="Arial"/>
              <a:ea typeface="Arial"/>
              <a:cs typeface="Arial"/>
              <a:sym typeface="Arial"/>
            </a:endParaRPr>
          </a:p>
        </p:txBody>
      </p:sp>
      <p:sp>
        <p:nvSpPr>
          <p:cNvPr id="619" name="Google Shape;619;p59"/>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00502afe118c44c7b4f3bac40125d371\narm24_c10705_se_007a-dig-eps.png" id="620" name="Google Shape;620;p59"/>
          <p:cNvPicPr preferRelativeResize="0"/>
          <p:nvPr/>
        </p:nvPicPr>
        <p:blipFill rotWithShape="1">
          <a:blip r:embed="rId3">
            <a:alphaModFix/>
          </a:blip>
          <a:srcRect b="0" l="0" r="0" t="0"/>
          <a:stretch/>
        </p:blipFill>
        <p:spPr>
          <a:xfrm>
            <a:off x="8285456" y="1723531"/>
            <a:ext cx="3420000" cy="3420000"/>
          </a:xfrm>
          <a:prstGeom prst="rect">
            <a:avLst/>
          </a:prstGeom>
          <a:noFill/>
          <a:ln>
            <a:noFill/>
          </a:ln>
        </p:spPr>
      </p:pic>
      <p:sp>
        <p:nvSpPr>
          <p:cNvPr id="62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51</a:t>
            </a:r>
          </a:p>
        </p:txBody>
      </p:sp>
      <p:sp>
        <p:nvSpPr>
          <p:cNvPr id="622" name="EWL-COVER-1"/>
          <p:cNvSpPr/>
          <p:nvPr/>
        </p:nvSpPr>
        <p:spPr>
          <a:xfrm>
            <a:off x="431136" y="4345314"/>
            <a:ext cx="7702363" cy="2005575"/>
          </a:xfrm>
          <a:prstGeom prst="rect">
            <a:avLst/>
          </a:prstGeom>
          <a:solidFill>
            <a:srgbClr val="FFFFFF"/>
          </a:solidFill>
          <a:ln>
            <a:noFill/>
          </a:ln>
        </p:spPr>
        <p:txBody>
          <a:bodyPr/>
          <a:lstStyle/>
          <a:p/>
        </p:txBody>
      </p:sp>
      <p:grpSp>
        <p:nvGrpSpPr>
          <p:cNvPr id="623" name="TEACH-3-student-move" descr="TEACH 3 · Use intentional questioning to deepen learning"/>
          <p:cNvGrpSpPr/>
          <p:nvPr/>
        </p:nvGrpSpPr>
        <p:grpSpPr>
          <a:xfrm>
            <a:off x="502920" y="3723522"/>
            <a:ext cx="5501640" cy="594360"/>
            <a:chOff x="502920" y="3723522"/>
            <a:chExt cx="5501640" cy="594360"/>
          </a:xfrm>
        </p:grpSpPr>
        <p:sp>
          <p:nvSpPr>
            <p:cNvPr id="624" name="TEACH-move-card"/>
            <p:cNvSpPr/>
            <p:nvPr/>
          </p:nvSpPr>
          <p:spPr>
            <a:xfrm>
              <a:off x="502920" y="3723522"/>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25" name="TEACH-move-rule"/>
            <p:cNvSpPr/>
            <p:nvPr/>
          </p:nvSpPr>
          <p:spPr>
            <a:xfrm>
              <a:off x="548640" y="3836450"/>
              <a:ext cx="100584" cy="368504"/>
            </a:xfrm>
            <a:prstGeom prst="roundRect">
              <a:avLst>
                <a:gd name="adj" fmla="val 50000"/>
              </a:avLst>
            </a:prstGeom>
            <a:solidFill>
              <a:srgbClr val="01708C"/>
            </a:solidFill>
            <a:ln>
              <a:noFill/>
            </a:ln>
          </p:spPr>
          <p:txBody>
            <a:bodyPr/>
            <a:lstStyle/>
            <a:p>
              <a:endParaRPr/>
            </a:p>
          </p:txBody>
        </p:sp>
        <p:sp>
          <p:nvSpPr>
            <p:cNvPr id="626" name="TEACH-move-text"/>
            <p:cNvSpPr txBox="1"/>
            <p:nvPr/>
          </p:nvSpPr>
          <p:spPr>
            <a:xfrm>
              <a:off x="822960" y="3723522"/>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cxnSp>
        <p:nvCxnSpPr>
          <p:cNvPr id="655" name="Google Shape;655;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6" name="Google Shape;656;p63"/>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sp>
        <p:nvSpPr>
          <p:cNvPr id="657" name="Google Shape;657;p63"/>
          <p:cNvSpPr txBox="1"/>
          <p:nvPr/>
        </p:nvSpPr>
        <p:spPr>
          <a:xfrm>
            <a:off x="513324" y="4704153"/>
            <a:ext cx="9366744" cy="15883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How does what you know about quarters relate to quadrants?</a:t>
            </a:r>
            <a:endParaRPr b="0" i="0" sz="1400" u="none" cap="none" strike="noStrike">
              <a:solidFill>
                <a:srgbClr val="000000"/>
              </a:solidFill>
              <a:latin typeface="Arial"/>
              <a:ea typeface="Arial"/>
              <a:cs typeface="Arial"/>
              <a:sym typeface="Arial"/>
            </a:endParaRPr>
          </a:p>
        </p:txBody>
      </p:sp>
      <p:sp>
        <p:nvSpPr>
          <p:cNvPr id="658" name="Google Shape;658;p63"/>
          <p:cNvSpPr txBox="1"/>
          <p:nvPr/>
        </p:nvSpPr>
        <p:spPr>
          <a:xfrm>
            <a:off x="484566" y="936000"/>
            <a:ext cx="6175541" cy="17526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This coordinate plane has 4 sections or </a:t>
            </a:r>
            <a:r>
              <a:rPr b="1" i="0" lang="en-US" sz="2800" u="none" cap="none" strike="noStrike">
                <a:solidFill>
                  <a:schemeClr val="dk1"/>
                </a:solidFill>
                <a:highlight>
                  <a:srgbClr val="FFFF00"/>
                </a:highlight>
                <a:latin typeface="Arial"/>
                <a:ea typeface="Arial"/>
                <a:cs typeface="Arial"/>
                <a:sym typeface="Arial"/>
              </a:rPr>
              <a:t>quadrants</a:t>
            </a:r>
            <a:r>
              <a:rPr b="0" i="0" lang="en-US" sz="2800" u="none" cap="none" strike="noStrike">
                <a:solidFill>
                  <a:schemeClr val="dk1"/>
                </a:solidFill>
                <a:latin typeface="Arial"/>
                <a:ea typeface="Arial"/>
                <a:cs typeface="Arial"/>
                <a:sym typeface="Arial"/>
              </a:rPr>
              <a:t>. The coordinates of a point may indicate in which quadrant the point is located.</a:t>
            </a:r>
            <a:endParaRPr b="0" i="0" sz="1400" u="none" cap="none" strike="noStrike">
              <a:solidFill>
                <a:srgbClr val="000000"/>
              </a:solidFill>
              <a:latin typeface="Arial"/>
              <a:ea typeface="Arial"/>
              <a:cs typeface="Arial"/>
              <a:sym typeface="Arial"/>
            </a:endParaRPr>
          </a:p>
        </p:txBody>
      </p:sp>
      <p:sp>
        <p:nvSpPr>
          <p:cNvPr id="659" name="Google Shape;659;p63"/>
          <p:cNvSpPr txBox="1"/>
          <p:nvPr/>
        </p:nvSpPr>
        <p:spPr>
          <a:xfrm>
            <a:off x="464163" y="2821658"/>
            <a:ext cx="6045819" cy="1384995"/>
          </a:xfrm>
          <a:prstGeom prst="rect">
            <a:avLst/>
          </a:prstGeom>
          <a:blipFill rotWithShape="1">
            <a:blip r:embed="rId3">
              <a:alphaModFix/>
            </a:blip>
            <a:stretch>
              <a:fillRect b="-11454" l="-2016" r="0"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c9ef45a2cacc4e7bb897b6d5fa721c61\narm24_c10705_se_008a-dig-a-eps.png" id="660" name="Google Shape;660;p63"/>
          <p:cNvPicPr preferRelativeResize="0"/>
          <p:nvPr/>
        </p:nvPicPr>
        <p:blipFill rotWithShape="1">
          <a:blip r:embed="rId4">
            <a:alphaModFix/>
          </a:blip>
          <a:srcRect b="0" l="0" r="0" t="0"/>
          <a:stretch/>
        </p:blipFill>
        <p:spPr>
          <a:xfrm>
            <a:off x="6660107" y="1364880"/>
            <a:ext cx="5305425" cy="3552825"/>
          </a:xfrm>
          <a:prstGeom prst="rect">
            <a:avLst/>
          </a:prstGeom>
          <a:noFill/>
          <a:ln>
            <a:noFill/>
          </a:ln>
        </p:spPr>
      </p:pic>
      <p:sp>
        <p:nvSpPr>
          <p:cNvPr id="66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51</a:t>
            </a:r>
          </a:p>
        </p:txBody>
      </p:sp>
      <p:grpSp>
        <p:nvGrpSpPr>
          <p:cNvPr id="662" name="TEACH-6-student-move" descr="TEACH 6 · Organize and implement routines to support a learning-focused classroom"/>
          <p:cNvGrpSpPr/>
          <p:nvPr/>
        </p:nvGrpSpPr>
        <p:grpSpPr>
          <a:xfrm>
            <a:off x="502920" y="4265241"/>
            <a:ext cx="5501640" cy="402336"/>
            <a:chOff x="502920" y="4265241"/>
            <a:chExt cx="5501640" cy="402336"/>
          </a:xfrm>
        </p:grpSpPr>
        <p:sp>
          <p:nvSpPr>
            <p:cNvPr id="663" name="TEACH-move-card"/>
            <p:cNvSpPr/>
            <p:nvPr/>
          </p:nvSpPr>
          <p:spPr>
            <a:xfrm>
              <a:off x="502920" y="4265241"/>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64" name="TEACH-move-rule"/>
            <p:cNvSpPr/>
            <p:nvPr/>
          </p:nvSpPr>
          <p:spPr>
            <a:xfrm>
              <a:off x="548640" y="4341685"/>
              <a:ext cx="100584" cy="249448"/>
            </a:xfrm>
            <a:prstGeom prst="roundRect">
              <a:avLst>
                <a:gd name="adj" fmla="val 50000"/>
              </a:avLst>
            </a:prstGeom>
            <a:solidFill>
              <a:srgbClr val="01708C"/>
            </a:solidFill>
            <a:ln>
              <a:noFill/>
            </a:ln>
          </p:spPr>
          <p:txBody>
            <a:bodyPr/>
            <a:lstStyle/>
            <a:p>
              <a:endParaRPr/>
            </a:p>
          </p:txBody>
        </p:sp>
        <p:sp>
          <p:nvSpPr>
            <p:cNvPr id="665" name="TEACH-move-text"/>
            <p:cNvSpPr txBox="1"/>
            <p:nvPr/>
          </p:nvSpPr>
          <p:spPr>
            <a:xfrm>
              <a:off x="822960" y="4265241"/>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cxnSp>
        <p:nvCxnSpPr>
          <p:cNvPr id="676" name="Google Shape;676;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7" name="Google Shape;677;p65"/>
          <p:cNvSpPr txBox="1"/>
          <p:nvPr/>
        </p:nvSpPr>
        <p:spPr>
          <a:xfrm>
            <a:off x="486000" y="4540431"/>
            <a:ext cx="7696494" cy="1785091"/>
          </a:xfrm>
          <a:prstGeom prst="rect">
            <a:avLst/>
          </a:prstGeom>
          <a:blipFill rotWithShape="1">
            <a:blip r:embed="rId3">
              <a:alphaModFix/>
            </a:blip>
            <a:stretch>
              <a:fillRect b="-14333" l="-1664" r="0" t="-37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8" name="Google Shape;678;p65"/>
          <p:cNvSpPr txBox="1"/>
          <p:nvPr/>
        </p:nvSpPr>
        <p:spPr>
          <a:xfrm>
            <a:off x="486000" y="936000"/>
            <a:ext cx="7772175" cy="1345717"/>
          </a:xfrm>
          <a:prstGeom prst="rect">
            <a:avLst/>
          </a:prstGeom>
          <a:blipFill rotWithShape="1">
            <a:blip r:embed="rId4">
              <a:alphaModFix/>
            </a:blip>
            <a:stretch>
              <a:fillRect b="0" l="-1647" r="0" t="-50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79" name="Google Shape;679;p65"/>
          <p:cNvSpPr txBox="1"/>
          <p:nvPr/>
        </p:nvSpPr>
        <p:spPr>
          <a:xfrm>
            <a:off x="474112" y="2274829"/>
            <a:ext cx="7784063" cy="1384995"/>
          </a:xfrm>
          <a:prstGeom prst="rect">
            <a:avLst/>
          </a:prstGeom>
          <a:blipFill rotWithShape="1">
            <a:blip r:embed="rId5">
              <a:alphaModFix/>
            </a:blip>
            <a:stretch>
              <a:fillRect b="0" l="-1644" r="0" t="-440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80" name="Google Shape;680;p65"/>
          <p:cNvSpPr/>
          <p:nvPr/>
        </p:nvSpPr>
        <p:spPr>
          <a:xfrm>
            <a:off x="474112" y="3652935"/>
            <a:ext cx="769649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find the coordinates of a point in Quadrant I?</a:t>
            </a:r>
            <a:endParaRPr b="0" i="0" sz="2800" u="none" cap="none" strike="noStrike">
              <a:solidFill>
                <a:schemeClr val="dk1"/>
              </a:solidFill>
              <a:latin typeface="Arial"/>
              <a:ea typeface="Arial"/>
              <a:cs typeface="Arial"/>
              <a:sym typeface="Arial"/>
            </a:endParaRPr>
          </a:p>
        </p:txBody>
      </p:sp>
      <p:pic>
        <p:nvPicPr>
          <p:cNvPr descr="C:\Users\HP\Desktop\Grade_6_Unit_7-20230217T053830Z-001\Grade_6_Unit_7\OPS\img\.assets\1a61221035dd4e71bec8ba91e4ecd2ce\narm24_c10705_se_008a-dig-b-eps.png" id="681" name="Google Shape;681;p65"/>
          <p:cNvPicPr preferRelativeResize="0"/>
          <p:nvPr/>
        </p:nvPicPr>
        <p:blipFill rotWithShape="1">
          <a:blip r:embed="rId6">
            <a:alphaModFix/>
          </a:blip>
          <a:srcRect b="0" l="0" r="0" t="0"/>
          <a:stretch/>
        </p:blipFill>
        <p:spPr>
          <a:xfrm>
            <a:off x="8443543" y="1509617"/>
            <a:ext cx="3409941" cy="3420000"/>
          </a:xfrm>
          <a:prstGeom prst="rect">
            <a:avLst/>
          </a:prstGeom>
          <a:noFill/>
          <a:ln>
            <a:noFill/>
          </a:ln>
        </p:spPr>
      </p:pic>
      <p:sp>
        <p:nvSpPr>
          <p:cNvPr id="682" name="Google Shape;682;p65"/>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sp>
        <p:nvSpPr>
          <p:cNvPr id="6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51</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cxnSp>
        <p:nvCxnSpPr>
          <p:cNvPr id="687" name="Google Shape;687;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8" name="Google Shape;688;p66"/>
          <p:cNvSpPr txBox="1"/>
          <p:nvPr/>
        </p:nvSpPr>
        <p:spPr>
          <a:xfrm>
            <a:off x="486001" y="936001"/>
            <a:ext cx="7095900" cy="8451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xml:space="preserve">Let’s find the coordinates of Point </a:t>
            </a:r>
            <a:r>
              <a:rPr b="0" i="1" lang="en-US" sz="2800" u="none" cap="none" strike="noStrike">
                <a:solidFill>
                  <a:schemeClr val="dk1"/>
                </a:solidFill>
                <a:latin typeface="Arial"/>
                <a:ea typeface="Arial"/>
                <a:cs typeface="Arial"/>
                <a:sym typeface="Arial"/>
              </a:rPr>
              <a:t>C</a:t>
            </a:r>
            <a:r>
              <a:rPr b="0" i="0" lang="en-US" sz="2800" u="none" cap="none" strike="noStrike">
                <a:solidFill>
                  <a:schemeClr val="dk1"/>
                </a:solidFill>
                <a:latin typeface="Arial"/>
                <a:ea typeface="Arial"/>
                <a:cs typeface="Arial"/>
                <a:sym typeface="Arial"/>
              </a:rPr>
              <a:t xml:space="preserve"> in Quadrant I.</a:t>
            </a:r>
            <a:endParaRPr b="0" i="0" sz="1400" u="none" cap="none" strike="noStrike">
              <a:solidFill>
                <a:srgbClr val="000000"/>
              </a:solidFill>
              <a:latin typeface="Arial"/>
              <a:ea typeface="Arial"/>
              <a:cs typeface="Arial"/>
              <a:sym typeface="Arial"/>
            </a:endParaRPr>
          </a:p>
        </p:txBody>
      </p:sp>
      <p:sp>
        <p:nvSpPr>
          <p:cNvPr id="689" name="Google Shape;689;p66"/>
          <p:cNvSpPr/>
          <p:nvPr/>
        </p:nvSpPr>
        <p:spPr>
          <a:xfrm>
            <a:off x="486000" y="2065656"/>
            <a:ext cx="3924985" cy="523220"/>
          </a:xfrm>
          <a:prstGeom prst="rect">
            <a:avLst/>
          </a:prstGeom>
          <a:blipFill rotWithShape="1">
            <a:blip r:embed="rId3">
              <a:alphaModFix/>
            </a:blip>
            <a:stretch>
              <a:fillRect b="-30233" l="-3261" r="0" t="-1395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0" name="Google Shape;690;p66"/>
          <p:cNvSpPr/>
          <p:nvPr/>
        </p:nvSpPr>
        <p:spPr>
          <a:xfrm>
            <a:off x="486000" y="4111944"/>
            <a:ext cx="6337504" cy="523220"/>
          </a:xfrm>
          <a:prstGeom prst="rect">
            <a:avLst/>
          </a:prstGeom>
          <a:blipFill rotWithShape="1">
            <a:blip r:embed="rId4">
              <a:alphaModFix/>
            </a:blip>
            <a:stretch>
              <a:fillRect b="-31765" l="-2021" r="0" t="-141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a44fb762941f4f01b3336f82256f9f37\narm24_c10705_se_008a-dig-eps.png" id="691" name="Google Shape;691;p66"/>
          <p:cNvPicPr preferRelativeResize="0"/>
          <p:nvPr/>
        </p:nvPicPr>
        <p:blipFill rotWithShape="1">
          <a:blip r:embed="rId5">
            <a:alphaModFix/>
          </a:blip>
          <a:srcRect b="0" l="0" r="0" t="0"/>
          <a:stretch/>
        </p:blipFill>
        <p:spPr>
          <a:xfrm>
            <a:off x="8442000" y="1508400"/>
            <a:ext cx="3420000" cy="3420000"/>
          </a:xfrm>
          <a:prstGeom prst="rect">
            <a:avLst/>
          </a:prstGeom>
          <a:noFill/>
          <a:ln>
            <a:noFill/>
          </a:ln>
        </p:spPr>
      </p:pic>
      <p:sp>
        <p:nvSpPr>
          <p:cNvPr id="692" name="Google Shape;692;p66"/>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sp>
        <p:nvSpPr>
          <p:cNvPr id="693" name="Google Shape;693;p66"/>
          <p:cNvSpPr txBox="1"/>
          <p:nvPr/>
        </p:nvSpPr>
        <p:spPr>
          <a:xfrm>
            <a:off x="486000" y="2868911"/>
            <a:ext cx="7095902" cy="954107"/>
          </a:xfrm>
          <a:prstGeom prst="rect">
            <a:avLst/>
          </a:prstGeom>
          <a:blipFill rotWithShape="1">
            <a:blip r:embed="rId6">
              <a:alphaModFix/>
            </a:blip>
            <a:stretch>
              <a:fillRect b="-16026" l="-1804" r="0" t="-83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6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51</a:t>
            </a:r>
          </a:p>
        </p:txBody>
      </p:sp>
      <p:sp xmlns:p="http://schemas.openxmlformats.org/presentationml/2006/main" xmlns:a="http://schemas.openxmlformats.org/drawingml/2006/main">
        <p:nvSpPr>
          <p:cNvPr id="695"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cxnSp>
        <p:nvCxnSpPr>
          <p:cNvPr id="707" name="Google Shape;707;p6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8" name="Google Shape;708;p68"/>
          <p:cNvSpPr txBox="1"/>
          <p:nvPr/>
        </p:nvSpPr>
        <p:spPr>
          <a:xfrm>
            <a:off x="486001" y="936000"/>
            <a:ext cx="7301148" cy="1738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1" i="0" lang="en-US" sz="2800" u="none" cap="none" strike="noStrike">
                <a:solidFill>
                  <a:schemeClr val="dk1"/>
                </a:solidFill>
                <a:latin typeface="Arial"/>
                <a:ea typeface="Arial"/>
                <a:cs typeface="Arial"/>
                <a:sym typeface="Arial"/>
              </a:rPr>
              <a:t xml:space="preserve">How do the locations of points </a:t>
            </a:r>
            <a:r>
              <a:rPr b="1" i="1" lang="en-US" sz="2800" u="none" cap="none" strike="noStrike">
                <a:solidFill>
                  <a:schemeClr val="dk1"/>
                </a:solidFill>
                <a:latin typeface="Arial"/>
                <a:ea typeface="Arial"/>
                <a:cs typeface="Arial"/>
                <a:sym typeface="Arial"/>
              </a:rPr>
              <a:t>A</a:t>
            </a:r>
            <a:r>
              <a:rPr b="1" i="0" lang="en-US" sz="2800" u="none" cap="none" strike="noStrike">
                <a:solidFill>
                  <a:schemeClr val="dk1"/>
                </a:solidFill>
                <a:latin typeface="Arial"/>
                <a:ea typeface="Arial"/>
                <a:cs typeface="Arial"/>
                <a:sym typeface="Arial"/>
              </a:rPr>
              <a:t xml:space="preserve">, </a:t>
            </a:r>
            <a:r>
              <a:rPr b="1" i="1" lang="en-US" sz="2800" u="none" cap="none" strike="noStrike">
                <a:solidFill>
                  <a:schemeClr val="dk1"/>
                </a:solidFill>
                <a:latin typeface="Arial"/>
                <a:ea typeface="Arial"/>
                <a:cs typeface="Arial"/>
                <a:sym typeface="Arial"/>
              </a:rPr>
              <a:t>B</a:t>
            </a:r>
            <a:r>
              <a:rPr b="1" i="0" lang="en-US" sz="2800" u="none" cap="none" strike="noStrike">
                <a:solidFill>
                  <a:schemeClr val="dk1"/>
                </a:solidFill>
                <a:latin typeface="Arial"/>
                <a:ea typeface="Arial"/>
                <a:cs typeface="Arial"/>
                <a:sym typeface="Arial"/>
              </a:rPr>
              <a:t xml:space="preserve">, and </a:t>
            </a:r>
            <a:r>
              <a:rPr b="1" i="1" lang="en-US" sz="2800" u="none" cap="none" strike="noStrike">
                <a:solidFill>
                  <a:schemeClr val="dk1"/>
                </a:solidFill>
                <a:latin typeface="Arial"/>
                <a:ea typeface="Arial"/>
                <a:cs typeface="Arial"/>
                <a:sym typeface="Arial"/>
              </a:rPr>
              <a:t>D</a:t>
            </a:r>
            <a:r>
              <a:rPr b="1" i="0" lang="en-US" sz="2800" u="none" cap="none" strike="noStrike">
                <a:solidFill>
                  <a:schemeClr val="dk1"/>
                </a:solidFill>
                <a:latin typeface="Arial"/>
                <a:ea typeface="Arial"/>
                <a:cs typeface="Arial"/>
                <a:sym typeface="Arial"/>
              </a:rPr>
              <a:t xml:space="preserve"> compare to the origin? How might this affect the coordinates of the points?</a:t>
            </a:r>
            <a:endParaRPr b="0" i="0" sz="2800" u="none" cap="none" strike="noStrike">
              <a:solidFill>
                <a:schemeClr val="dk1"/>
              </a:solidFill>
              <a:latin typeface="Arial"/>
              <a:ea typeface="Arial"/>
              <a:cs typeface="Arial"/>
              <a:sym typeface="Arial"/>
            </a:endParaRPr>
          </a:p>
        </p:txBody>
      </p:sp>
      <p:sp>
        <p:nvSpPr>
          <p:cNvPr id="709" name="Google Shape;709;p68"/>
          <p:cNvSpPr txBox="1"/>
          <p:nvPr/>
        </p:nvSpPr>
        <p:spPr>
          <a:xfrm>
            <a:off x="486000" y="3392765"/>
            <a:ext cx="7772175" cy="2788960"/>
          </a:xfrm>
          <a:prstGeom prst="rect">
            <a:avLst/>
          </a:prstGeom>
          <a:blipFill rotWithShape="1">
            <a:blip r:embed="rId3">
              <a:alphaModFix/>
            </a:blip>
            <a:stretch>
              <a:fillRect b="-3939" l="-1647" r="0" t="-240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0" name="Google Shape;710;p68"/>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a44fb762941f4f01b3336f82256f9f37\narm24_c10705_se_008a-dig-eps.png" id="711" name="Google Shape;711;p68"/>
          <p:cNvPicPr preferRelativeResize="0"/>
          <p:nvPr/>
        </p:nvPicPr>
        <p:blipFill rotWithShape="1">
          <a:blip r:embed="rId4">
            <a:alphaModFix/>
          </a:blip>
          <a:srcRect b="0" l="0" r="0" t="0"/>
          <a:stretch/>
        </p:blipFill>
        <p:spPr>
          <a:xfrm>
            <a:off x="8442000" y="1508400"/>
            <a:ext cx="3420000" cy="3420000"/>
          </a:xfrm>
          <a:prstGeom prst="rect">
            <a:avLst/>
          </a:prstGeom>
          <a:noFill/>
          <a:ln>
            <a:noFill/>
          </a:ln>
        </p:spPr>
      </p:pic>
      <p:sp>
        <p:nvSpPr>
          <p:cNvPr id="71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51</a:t>
            </a:r>
          </a:p>
        </p:txBody>
      </p:sp>
      <p:grpSp>
        <p:nvGrpSpPr>
          <p:cNvPr id="713" name="TEACH-5-student-move" descr="TEACH 5 · Facilitate student interactions and academic talk"/>
          <p:cNvGrpSpPr/>
          <p:nvPr/>
        </p:nvGrpSpPr>
        <p:grpSpPr>
          <a:xfrm>
            <a:off x="502920" y="2953853"/>
            <a:ext cx="5501640" cy="402336"/>
            <a:chOff x="502920" y="2953853"/>
            <a:chExt cx="5501640" cy="402336"/>
          </a:xfrm>
        </p:grpSpPr>
        <p:sp>
          <p:nvSpPr>
            <p:cNvPr id="714" name="TEACH-move-card"/>
            <p:cNvSpPr/>
            <p:nvPr/>
          </p:nvSpPr>
          <p:spPr>
            <a:xfrm>
              <a:off x="502920" y="2953853"/>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15" name="TEACH-move-rule"/>
            <p:cNvSpPr/>
            <p:nvPr/>
          </p:nvSpPr>
          <p:spPr>
            <a:xfrm>
              <a:off x="548640" y="3030297"/>
              <a:ext cx="100584" cy="249448"/>
            </a:xfrm>
            <a:prstGeom prst="roundRect">
              <a:avLst>
                <a:gd name="adj" fmla="val 50000"/>
              </a:avLst>
            </a:prstGeom>
            <a:solidFill>
              <a:srgbClr val="01708C"/>
            </a:solidFill>
            <a:ln>
              <a:noFill/>
            </a:ln>
          </p:spPr>
          <p:txBody>
            <a:bodyPr/>
            <a:lstStyle/>
            <a:p>
              <a:endParaRPr/>
            </a:p>
          </p:txBody>
        </p:sp>
        <p:sp>
          <p:nvSpPr>
            <p:cNvPr id="716" name="TEACH-move-text"/>
            <p:cNvSpPr txBox="1"/>
            <p:nvPr/>
          </p:nvSpPr>
          <p:spPr>
            <a:xfrm>
              <a:off x="822960" y="2953853"/>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cxnSp>
        <p:nvCxnSpPr>
          <p:cNvPr id="716" name="Google Shape;716;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7" name="Google Shape;717;p69"/>
          <p:cNvSpPr txBox="1"/>
          <p:nvPr/>
        </p:nvSpPr>
        <p:spPr>
          <a:xfrm>
            <a:off x="486000" y="936001"/>
            <a:ext cx="7360142" cy="1442920"/>
          </a:xfrm>
          <a:prstGeom prst="rect">
            <a:avLst/>
          </a:prstGeom>
          <a:blipFill rotWithShape="1">
            <a:blip r:embed="rId3">
              <a:alphaModFix/>
            </a:blip>
            <a:stretch>
              <a:fillRect b="-7203" l="-1740" r="0" t="-46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8" name="Google Shape;718;p69"/>
          <p:cNvSpPr/>
          <p:nvPr/>
        </p:nvSpPr>
        <p:spPr>
          <a:xfrm>
            <a:off x="486000" y="2598335"/>
            <a:ext cx="3861955" cy="523220"/>
          </a:xfrm>
          <a:prstGeom prst="rect">
            <a:avLst/>
          </a:prstGeom>
          <a:blipFill rotWithShape="1">
            <a:blip r:embed="rId4">
              <a:alphaModFix/>
            </a:blip>
            <a:stretch>
              <a:fillRect b="-30232" l="-3318" r="0" t="-127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19" name="Google Shape;719;p69"/>
          <p:cNvSpPr/>
          <p:nvPr/>
        </p:nvSpPr>
        <p:spPr>
          <a:xfrm>
            <a:off x="486000" y="3340969"/>
            <a:ext cx="6096000"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Move left 1 unit along the </a:t>
            </a:r>
            <a:r>
              <a:rPr b="0" i="1" lang="en-US" sz="2800" u="none" cap="none" strike="noStrike">
                <a:solidFill>
                  <a:schemeClr val="dk1"/>
                </a:solidFill>
                <a:latin typeface="Arial"/>
                <a:ea typeface="Arial"/>
                <a:cs typeface="Arial"/>
                <a:sym typeface="Arial"/>
              </a:rPr>
              <a:t>x</a:t>
            </a:r>
            <a:r>
              <a:rPr b="0" i="0" lang="en-US" sz="2800" u="none" cap="none" strike="noStrike">
                <a:solidFill>
                  <a:schemeClr val="dk1"/>
                </a:solidFill>
                <a:latin typeface="Arial"/>
                <a:ea typeface="Arial"/>
                <a:cs typeface="Arial"/>
                <a:sym typeface="Arial"/>
              </a:rPr>
              <a:t>-axis, then up 1.5 units along the </a:t>
            </a:r>
            <a:r>
              <a:rPr b="0" i="1" lang="en-US" sz="2800" u="none" cap="none" strike="noStrike">
                <a:solidFill>
                  <a:schemeClr val="dk1"/>
                </a:solidFill>
                <a:latin typeface="Arial"/>
                <a:ea typeface="Arial"/>
                <a:cs typeface="Arial"/>
                <a:sym typeface="Arial"/>
              </a:rPr>
              <a:t>y</a:t>
            </a:r>
            <a:r>
              <a:rPr b="0" i="0" lang="en-US" sz="2800" u="none" cap="none" strike="noStrike">
                <a:solidFill>
                  <a:schemeClr val="dk1"/>
                </a:solidFill>
                <a:latin typeface="Arial"/>
                <a:ea typeface="Arial"/>
                <a:cs typeface="Arial"/>
                <a:sym typeface="Arial"/>
              </a:rPr>
              <a:t>-axis.</a:t>
            </a:r>
            <a:endParaRPr b="0" i="0" sz="1400" u="none" cap="none" strike="noStrike">
              <a:solidFill>
                <a:srgbClr val="000000"/>
              </a:solidFill>
              <a:latin typeface="Arial"/>
              <a:ea typeface="Arial"/>
              <a:cs typeface="Arial"/>
              <a:sym typeface="Arial"/>
            </a:endParaRPr>
          </a:p>
        </p:txBody>
      </p:sp>
      <p:sp>
        <p:nvSpPr>
          <p:cNvPr id="720" name="Google Shape;720;p69"/>
          <p:cNvSpPr/>
          <p:nvPr/>
        </p:nvSpPr>
        <p:spPr>
          <a:xfrm>
            <a:off x="486000" y="4514489"/>
            <a:ext cx="6678944" cy="523220"/>
          </a:xfrm>
          <a:prstGeom prst="rect">
            <a:avLst/>
          </a:prstGeom>
          <a:blipFill rotWithShape="1">
            <a:blip r:embed="rId5">
              <a:alphaModFix/>
            </a:blip>
            <a:stretch>
              <a:fillRect b="-31765" l="-1918" r="0" t="-1411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2c795189ed1b4e66980028897448810f\narm24_c10705_se_009a-dig-eps.png" id="721" name="Google Shape;721;p69"/>
          <p:cNvPicPr preferRelativeResize="0"/>
          <p:nvPr/>
        </p:nvPicPr>
        <p:blipFill rotWithShape="1">
          <a:blip r:embed="rId6">
            <a:alphaModFix/>
          </a:blip>
          <a:srcRect b="0" l="0" r="0" t="0"/>
          <a:stretch/>
        </p:blipFill>
        <p:spPr>
          <a:xfrm>
            <a:off x="8442000" y="1508400"/>
            <a:ext cx="3420000" cy="3420000"/>
          </a:xfrm>
          <a:prstGeom prst="rect">
            <a:avLst/>
          </a:prstGeom>
          <a:noFill/>
          <a:ln>
            <a:noFill/>
          </a:ln>
        </p:spPr>
      </p:pic>
      <p:sp>
        <p:nvSpPr>
          <p:cNvPr id="722" name="Google Shape;722;p69"/>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sp>
        <p:nvSpPr>
          <p:cNvPr id="7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51</a:t>
            </a:r>
          </a:p>
        </p:txBody>
      </p:sp>
      <p:sp xmlns:p="http://schemas.openxmlformats.org/presentationml/2006/main" xmlns:a="http://schemas.openxmlformats.org/drawingml/2006/main">
        <p:nvSpPr>
          <p:cNvPr id="724"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cxnSp>
        <p:nvCxnSpPr>
          <p:cNvPr id="739" name="Google Shape;739;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0" name="Google Shape;740;p71"/>
          <p:cNvSpPr txBox="1"/>
          <p:nvPr/>
        </p:nvSpPr>
        <p:spPr>
          <a:xfrm>
            <a:off x="485999" y="3589465"/>
            <a:ext cx="806411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 xml:space="preserve">Find the coordinates of points </a:t>
            </a:r>
            <a:r>
              <a:rPr b="1" i="1" lang="en-US" sz="2800" u="none" cap="none" strike="noStrike">
                <a:solidFill>
                  <a:schemeClr val="dk1"/>
                </a:solidFill>
                <a:latin typeface="Arial"/>
                <a:ea typeface="Arial"/>
                <a:cs typeface="Arial"/>
                <a:sym typeface="Arial"/>
              </a:rPr>
              <a:t>B</a:t>
            </a:r>
            <a:r>
              <a:rPr b="1" i="0" lang="en-US" sz="2800" u="none" cap="none" strike="noStrike">
                <a:solidFill>
                  <a:schemeClr val="dk1"/>
                </a:solidFill>
                <a:latin typeface="Arial"/>
                <a:ea typeface="Arial"/>
                <a:cs typeface="Arial"/>
                <a:sym typeface="Arial"/>
              </a:rPr>
              <a:t xml:space="preserve"> and </a:t>
            </a:r>
            <a:r>
              <a:rPr b="1" i="1" lang="en-US" sz="2800" u="none" cap="none" strike="noStrike">
                <a:solidFill>
                  <a:schemeClr val="dk1"/>
                </a:solidFill>
                <a:latin typeface="Arial"/>
                <a:ea typeface="Arial"/>
                <a:cs typeface="Arial"/>
                <a:sym typeface="Arial"/>
              </a:rPr>
              <a:t>D</a:t>
            </a:r>
            <a:r>
              <a:rPr b="1" i="0" lang="en-US" sz="28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p:txBody>
      </p:sp>
      <p:sp>
        <p:nvSpPr>
          <p:cNvPr id="741" name="Google Shape;741;p71"/>
          <p:cNvSpPr txBox="1"/>
          <p:nvPr/>
        </p:nvSpPr>
        <p:spPr>
          <a:xfrm>
            <a:off x="491458" y="4462633"/>
            <a:ext cx="7656256" cy="1846683"/>
          </a:xfrm>
          <a:prstGeom prst="rect">
            <a:avLst/>
          </a:prstGeom>
          <a:blipFill rotWithShape="1">
            <a:blip r:embed="rId3">
              <a:alphaModFix/>
            </a:blip>
            <a:stretch>
              <a:fillRect b="0" l="-1673" r="0" t="-33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2" name="Google Shape;742;p71"/>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743" name="Google Shape;743;p71"/>
          <p:cNvPicPr preferRelativeResize="0"/>
          <p:nvPr/>
        </p:nvPicPr>
        <p:blipFill rotWithShape="1">
          <a:blip r:embed="rId4">
            <a:alphaModFix/>
          </a:blip>
          <a:srcRect b="0" l="0" r="0" t="0"/>
          <a:stretch/>
        </p:blipFill>
        <p:spPr>
          <a:xfrm>
            <a:off x="486000" y="383706"/>
            <a:ext cx="353635" cy="340537"/>
          </a:xfrm>
          <a:prstGeom prst="rect">
            <a:avLst/>
          </a:prstGeom>
          <a:noFill/>
          <a:ln>
            <a:noFill/>
          </a:ln>
        </p:spPr>
      </p:pic>
      <p:sp>
        <p:nvSpPr>
          <p:cNvPr id="744" name="Google Shape;744;p71"/>
          <p:cNvSpPr txBox="1"/>
          <p:nvPr/>
        </p:nvSpPr>
        <p:spPr>
          <a:xfrm>
            <a:off x="486000" y="936000"/>
            <a:ext cx="7224985" cy="1083869"/>
          </a:xfrm>
          <a:prstGeom prst="rect">
            <a:avLst/>
          </a:prstGeom>
          <a:blipFill rotWithShape="1">
            <a:blip r:embed="rId5">
              <a:alphaModFix/>
            </a:blip>
            <a:stretch>
              <a:fillRect b="-3390" l="-1772" r="-2025" t="-621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45" name="Google Shape;745;p71"/>
          <p:cNvSpPr txBox="1"/>
          <p:nvPr/>
        </p:nvSpPr>
        <p:spPr>
          <a:xfrm>
            <a:off x="486000" y="2270177"/>
            <a:ext cx="7224985" cy="954107"/>
          </a:xfrm>
          <a:prstGeom prst="rect">
            <a:avLst/>
          </a:prstGeom>
          <a:blipFill rotWithShape="1">
            <a:blip r:embed="rId6">
              <a:alphaModFix/>
            </a:blip>
            <a:stretch>
              <a:fillRect b="-16561" l="-1772"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1a61221035dd4e71bec8ba91e4ecd2ce\narm24_c10705_se_008a-dig-b-eps.png" id="746" name="Google Shape;746;p71"/>
          <p:cNvPicPr preferRelativeResize="0"/>
          <p:nvPr/>
        </p:nvPicPr>
        <p:blipFill rotWithShape="1">
          <a:blip r:embed="rId7">
            <a:alphaModFix/>
          </a:blip>
          <a:srcRect b="0" l="0" r="0" t="0"/>
          <a:stretch/>
        </p:blipFill>
        <p:spPr>
          <a:xfrm>
            <a:off x="8442000" y="1508400"/>
            <a:ext cx="3409941" cy="3420000"/>
          </a:xfrm>
          <a:prstGeom prst="rect">
            <a:avLst/>
          </a:prstGeom>
          <a:noFill/>
          <a:ln>
            <a:noFill/>
          </a:ln>
        </p:spPr>
      </p:pic>
      <p:sp>
        <p:nvSpPr>
          <p:cNvPr id="7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51</a:t>
            </a:r>
          </a:p>
        </p:txBody>
      </p:sp>
      <p:sp>
        <p:nvSpPr>
          <p:cNvPr id="74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cxnSp>
        <p:nvCxnSpPr>
          <p:cNvPr id="795" name="Google Shape;795;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6" name="Google Shape;796;p77"/>
          <p:cNvSpPr txBox="1"/>
          <p:nvPr/>
        </p:nvSpPr>
        <p:spPr>
          <a:xfrm>
            <a:off x="486000" y="936000"/>
            <a:ext cx="7236697" cy="14387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do you notice about the signs of the coordinates of the points in each quadrant?</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06cfcbe6f3be403f90588308d6bd06cd\narm24_c10705_se_009a-dig-c-eps.png" id="797" name="Google Shape;797;p77"/>
          <p:cNvPicPr preferRelativeResize="0"/>
          <p:nvPr/>
        </p:nvPicPr>
        <p:blipFill rotWithShape="1">
          <a:blip r:embed="rId3">
            <a:alphaModFix/>
          </a:blip>
          <a:srcRect b="0" l="0" r="0" t="0"/>
          <a:stretch/>
        </p:blipFill>
        <p:spPr>
          <a:xfrm>
            <a:off x="8229600" y="1333565"/>
            <a:ext cx="3759732" cy="3240000"/>
          </a:xfrm>
          <a:prstGeom prst="rect">
            <a:avLst/>
          </a:prstGeom>
          <a:noFill/>
          <a:ln>
            <a:noFill/>
          </a:ln>
        </p:spPr>
      </p:pic>
      <p:sp>
        <p:nvSpPr>
          <p:cNvPr id="798" name="Google Shape;798;p77"/>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pic>
        <p:nvPicPr>
          <p:cNvPr id="799" name="Google Shape;799;p77"/>
          <p:cNvPicPr preferRelativeResize="0"/>
          <p:nvPr/>
        </p:nvPicPr>
        <p:blipFill rotWithShape="1">
          <a:blip r:embed="rId4">
            <a:alphaModFix/>
          </a:blip>
          <a:srcRect b="0" l="0" r="0" t="0"/>
          <a:stretch/>
        </p:blipFill>
        <p:spPr>
          <a:xfrm>
            <a:off x="486000" y="4804925"/>
            <a:ext cx="5610000" cy="838200"/>
          </a:xfrm>
          <a:prstGeom prst="rect">
            <a:avLst/>
          </a:prstGeom>
          <a:noFill/>
          <a:ln>
            <a:noFill/>
          </a:ln>
        </p:spPr>
      </p:pic>
      <p:sp>
        <p:nvSpPr>
          <p:cNvPr id="800" name="Google Shape;800;p77"/>
          <p:cNvSpPr/>
          <p:nvPr/>
        </p:nvSpPr>
        <p:spPr>
          <a:xfrm>
            <a:off x="727743" y="5628400"/>
            <a:ext cx="938172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generalizing be helpful in solving this problem?</a:t>
            </a:r>
            <a:endParaRPr b="0" i="0" sz="2600" u="none" cap="none" strike="noStrike">
              <a:solidFill>
                <a:srgbClr val="595959"/>
              </a:solidFill>
              <a:latin typeface="Arial"/>
              <a:ea typeface="Arial"/>
              <a:cs typeface="Arial"/>
              <a:sym typeface="Arial"/>
            </a:endParaRPr>
          </a:p>
        </p:txBody>
      </p:sp>
      <p:sp>
        <p:nvSpPr>
          <p:cNvPr id="801" name="Google Shape;801;p77"/>
          <p:cNvSpPr/>
          <p:nvPr/>
        </p:nvSpPr>
        <p:spPr>
          <a:xfrm>
            <a:off x="3291000" y="4962415"/>
            <a:ext cx="268821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Using Structure</a:t>
            </a:r>
            <a:endParaRPr b="0" i="0" sz="1400" u="none" cap="none" strike="noStrike">
              <a:solidFill>
                <a:srgbClr val="000000"/>
              </a:solidFill>
              <a:latin typeface="Arial"/>
              <a:ea typeface="Arial"/>
              <a:cs typeface="Arial"/>
              <a:sym typeface="Arial"/>
            </a:endParaRPr>
          </a:p>
        </p:txBody>
      </p:sp>
      <p:sp>
        <p:nvSpPr>
          <p:cNvPr id="8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51</a:t>
            </a:r>
          </a:p>
        </p:txBody>
      </p:sp>
      <p:sp xmlns:p="http://schemas.openxmlformats.org/presentationml/2006/main" xmlns:a="http://schemas.openxmlformats.org/drawingml/2006/main">
        <p:nvSpPr>
          <p:cNvPr id="803" name="TEACH-embedded-student-prompt" descr="Student thinking and response directions"/>
          <p:cNvSpPr txBox="1"/>
          <p:nvPr/>
        </p:nvSpPr>
        <p:spPr>
          <a:xfrm>
            <a:off x="594360" y="385876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cxnSp>
        <p:nvCxnSpPr>
          <p:cNvPr id="820" name="Google Shape;820;p7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1" name="Google Shape;821;p79"/>
          <p:cNvSpPr txBox="1"/>
          <p:nvPr/>
        </p:nvSpPr>
        <p:spPr>
          <a:xfrm>
            <a:off x="484564"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22" name="Google Shape;822;p79"/>
          <p:cNvSpPr txBox="1"/>
          <p:nvPr/>
        </p:nvSpPr>
        <p:spPr>
          <a:xfrm>
            <a:off x="486001" y="936000"/>
            <a:ext cx="8177490" cy="132952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Arial"/>
              <a:buAutoNum type="alphaLcPeriod"/>
              <a:defRPr/>
            </a:pPr>
            <a:r>
              <a:rPr b="0" i="0" lang="en-US" sz="2800" u="none" cap="none" strike="noStrike">
                <a:solidFill>
                  <a:schemeClr val="dk1"/>
                </a:solidFill>
                <a:latin typeface="Arial"/>
                <a:ea typeface="Arial"/>
                <a:cs typeface="Arial"/>
                <a:sym typeface="Arial"/>
              </a:rPr>
              <a:t>What statement can you make about the coordinates for points in Quadrant III? In Quadrant IV?</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chemeClr val="dk2"/>
              </a:solidFill>
              <a:latin typeface="Arial"/>
              <a:ea typeface="Arial"/>
              <a:cs typeface="Arial"/>
              <a:sym typeface="Arial"/>
            </a:endParaRPr>
          </a:p>
        </p:txBody>
      </p:sp>
      <p:sp>
        <p:nvSpPr>
          <p:cNvPr id="823" name="Google Shape;823;p79"/>
          <p:cNvSpPr/>
          <p:nvPr/>
        </p:nvSpPr>
        <p:spPr>
          <a:xfrm>
            <a:off x="484564" y="2349260"/>
            <a:ext cx="8206949" cy="118782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24" name="Google Shape;824;p79"/>
          <p:cNvSpPr txBox="1"/>
          <p:nvPr/>
        </p:nvSpPr>
        <p:spPr>
          <a:xfrm>
            <a:off x="7456621" y="319853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25" name="Google Shape;825;p79"/>
          <p:cNvSpPr/>
          <p:nvPr/>
        </p:nvSpPr>
        <p:spPr>
          <a:xfrm>
            <a:off x="484564" y="5091360"/>
            <a:ext cx="8206949" cy="1267517"/>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26" name="Google Shape;826;p79"/>
          <p:cNvSpPr txBox="1"/>
          <p:nvPr/>
        </p:nvSpPr>
        <p:spPr>
          <a:xfrm>
            <a:off x="7484644" y="5954335"/>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27" name="Google Shape;827;p79"/>
          <p:cNvSpPr/>
          <p:nvPr/>
        </p:nvSpPr>
        <p:spPr>
          <a:xfrm>
            <a:off x="484564" y="3620821"/>
            <a:ext cx="8100110" cy="138499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startAt="2"/>
              <a:defRPr/>
            </a:pPr>
            <a:r>
              <a:rPr b="0" i="0" lang="en-US" sz="2800" u="none" cap="none" strike="noStrike">
                <a:solidFill>
                  <a:schemeClr val="dk1"/>
                </a:solidFill>
                <a:latin typeface="Arial"/>
                <a:ea typeface="Arial"/>
                <a:cs typeface="Arial"/>
                <a:sym typeface="Arial"/>
              </a:rPr>
              <a:t>How are the coordinates for points in Quadrant I different from the coordinates for points in Quadrant II?</a:t>
            </a:r>
            <a:endParaRPr b="0" i="0" sz="1400" u="none" cap="none" strike="noStrike">
              <a:solidFill>
                <a:srgbClr val="000000"/>
              </a:solidFill>
              <a:latin typeface="Arial"/>
              <a:ea typeface="Arial"/>
              <a:cs typeface="Arial"/>
              <a:sym typeface="Arial"/>
            </a:endParaRPr>
          </a:p>
        </p:txBody>
      </p:sp>
      <p:sp>
        <p:nvSpPr>
          <p:cNvPr id="8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does each coordinate control one movement from the origin?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15" name="Google Shape;615;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6" name="Google Shape;616;p59"/>
          <p:cNvSpPr txBox="1"/>
          <p:nvPr/>
        </p:nvSpPr>
        <p:spPr>
          <a:xfrm>
            <a:off x="484565" y="936000"/>
            <a:ext cx="7686041" cy="100392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The coordinate plane shows points</a:t>
            </a:r>
            <a:r>
              <a:rPr b="0" i="1" lang="en-US" sz="2800" u="none" cap="none" strike="noStrike">
                <a:solidFill>
                  <a:schemeClr val="dk1"/>
                </a:solidFill>
                <a:latin typeface="Arial"/>
                <a:ea typeface="Arial"/>
                <a:cs typeface="Arial"/>
                <a:sym typeface="Arial"/>
              </a:rPr>
              <a:t> A, B, C,</a:t>
            </a:r>
            <a:r>
              <a:rPr b="0" i="0" lang="en-US" sz="2800" u="none" cap="none" strike="noStrike">
                <a:solidFill>
                  <a:schemeClr val="dk1"/>
                </a:solidFill>
                <a:latin typeface="Arial"/>
                <a:ea typeface="Arial"/>
                <a:cs typeface="Arial"/>
                <a:sym typeface="Arial"/>
              </a:rPr>
              <a:t> and</a:t>
            </a:r>
            <a:r>
              <a:rPr b="0" i="1" lang="en-US" sz="2800" u="none" cap="none" strike="noStrike">
                <a:solidFill>
                  <a:schemeClr val="dk1"/>
                </a:solidFill>
                <a:latin typeface="Arial"/>
                <a:ea typeface="Arial"/>
                <a:cs typeface="Arial"/>
                <a:sym typeface="Arial"/>
              </a:rPr>
              <a:t> D.</a:t>
            </a:r>
            <a:endParaRPr b="0" i="0" sz="2800" u="none" cap="none" strike="noStrike">
              <a:solidFill>
                <a:schemeClr val="dk1"/>
              </a:solidFill>
              <a:latin typeface="Arial"/>
              <a:ea typeface="Arial"/>
              <a:cs typeface="Arial"/>
              <a:sym typeface="Arial"/>
            </a:endParaRPr>
          </a:p>
        </p:txBody>
      </p:sp>
      <p:sp>
        <p:nvSpPr>
          <p:cNvPr id="617" name="Google Shape;617;p59"/>
          <p:cNvSpPr txBox="1"/>
          <p:nvPr/>
        </p:nvSpPr>
        <p:spPr>
          <a:xfrm>
            <a:off x="484565" y="2344605"/>
            <a:ext cx="7450067"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do you notice about the coordinate plane and the points?</a:t>
            </a:r>
            <a:endParaRPr b="1" i="0" sz="2800" u="none" cap="none" strike="noStrike">
              <a:solidFill>
                <a:schemeClr val="dk1"/>
              </a:solidFill>
              <a:latin typeface="Arial"/>
              <a:ea typeface="Arial"/>
              <a:cs typeface="Arial"/>
              <a:sym typeface="Arial"/>
            </a:endParaRPr>
          </a:p>
        </p:txBody>
      </p:sp>
      <p:sp>
        <p:nvSpPr>
          <p:cNvPr id="618" name="Google Shape;618;p59"/>
          <p:cNvSpPr txBox="1"/>
          <p:nvPr/>
        </p:nvSpPr>
        <p:spPr>
          <a:xfrm>
            <a:off x="486000" y="4400178"/>
            <a:ext cx="7592635" cy="189584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coordinate plane is separated into 4 sections. Each point is in a different section of the coordinate plane.</a:t>
            </a:r>
            <a:endParaRPr b="0" i="0" sz="1400" u="none" cap="none" strike="noStrike">
              <a:solidFill>
                <a:srgbClr val="000000"/>
              </a:solidFill>
              <a:latin typeface="Arial"/>
              <a:ea typeface="Arial"/>
              <a:cs typeface="Arial"/>
              <a:sym typeface="Arial"/>
            </a:endParaRPr>
          </a:p>
        </p:txBody>
      </p:sp>
      <p:sp>
        <p:nvSpPr>
          <p:cNvPr id="619" name="Google Shape;619;p59"/>
          <p:cNvSpPr txBox="1"/>
          <p:nvPr/>
        </p:nvSpPr>
        <p:spPr>
          <a:xfrm>
            <a:off x="486000" y="316800"/>
            <a:ext cx="5015483"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The Coordinate Plane</a:t>
            </a:r>
            <a:endParaRPr b="0" i="0" sz="1400" u="none" cap="none" strike="noStrike">
              <a:solidFill>
                <a:srgbClr val="000000"/>
              </a:solidFill>
              <a:latin typeface="Arial"/>
              <a:ea typeface="Arial"/>
              <a:cs typeface="Arial"/>
              <a:sym typeface="Arial"/>
            </a:endParaRPr>
          </a:p>
        </p:txBody>
      </p:sp>
      <p:pic>
        <p:nvPicPr>
          <p:cNvPr descr="C:\Users\HP\Desktop\Grade_6_Unit_7-20230217T053830Z-001\Grade_6_Unit_7\OPS\img\.assets\00502afe118c44c7b4f3bac40125d371\narm24_c10705_se_007a-dig-eps.png" id="620" name="Google Shape;620;p59"/>
          <p:cNvPicPr preferRelativeResize="0"/>
          <p:nvPr/>
        </p:nvPicPr>
        <p:blipFill rotWithShape="1">
          <a:blip r:embed="rId2">
            <a:alphaModFix/>
          </a:blip>
          <a:srcRect b="0" l="0" r="0" t="0"/>
          <a:stretch/>
        </p:blipFill>
        <p:spPr>
          <a:xfrm>
            <a:off x="8285456" y="1723531"/>
            <a:ext cx="3420000" cy="3420000"/>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51</a:t>
            </a:r>
          </a:p>
        </p:txBody>
      </p:sp>
      <p:sp xmlns:p="http://schemas.openxmlformats.org/presentationml/2006/main" xmlns:a="http://schemas.openxmlformats.org/drawingml/2006/main">
        <p:nvSpPr>
          <p:cNvPr id="621" name="TEACH-embedded-student-prompt" descr="Student thinking and response directions"/>
          <p:cNvSpPr txBox="1"/>
          <p:nvPr/>
        </p:nvSpPr>
        <p:spPr>
          <a:xfrm>
            <a:off x="594360" y="349300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a:t>
            </a:r>
            <a:endParaRPr lang="en-US" sz="2000"/>
          </a:p>
          <a:p>
            <a:pPr>
              <a:lnSpc>
                <a:spcPts val="2400"/>
              </a:lnSpc>
              <a:buNone/>
            </a:pPr>
            <a:r>
              <a:rPr lang="en-US" sz="2000">
                <a:solidFill>
                  <a:srgbClr val="174D60"/>
                </a:solidFill>
                <a:latin typeface="Arial"/>
              </a:rPr>
              <a:t>revision you make.</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Check what you remember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In an ordered pair (x, y), x represents:</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Vertical move</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Horizontal move along x-axis</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Angle size</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number</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The point where the x-axis and y-axis intersect is:</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Apex</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Origin (0, 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Infinity</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quadrant contains the point (−3, 4)?</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II</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III</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IV</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Point (−5, −2) is located in:</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II</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III</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Quadrant IV</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51</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7-5 · Represent Rational Numbers on the Coordinate Plane</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4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Coordinate Plane Quadrants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Quad I (+, +), Quad II (−, +), Quad III (−, −), Quad IV (+, −), intersecting at </a:t>
            </a:r>
            <a:r>
              <a:rPr b="1" i="0" lang="en-US" sz="1450" u="none" cap="none" strike="noStrike">
                <a:solidFill>
                  <a:srgbClr val="475569"/>
                </a:solidFill>
                <a:latin typeface="Arial"/>
                <a:ea typeface="Arial"/>
                <a:cs typeface="Arial"/>
                <a:sym typeface="Arial"/>
              </a:rPr>
              <a:t xml:space="preserve">Origin</a:t>
            </a:r>
            <a:r>
              <a:rPr b="0" i="0" lang="en-US" sz="1450" u="none" cap="none" strike="noStrike">
                <a:solidFill>
                  <a:srgbClr val="475569"/>
                </a:solidFill>
                <a:latin typeface="Arial"/>
                <a:ea typeface="Arial"/>
                <a:cs typeface="Arial"/>
                <a:sym typeface="Arial"/>
              </a:rPr>
              <a:t xml:space="preserve"> (0,0).</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Ordered Pairs (x, y)</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Move x units horizontally (right +, left −), then y units vertically (up +, down −).</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Axis Points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Points with y = 0 sit on the </a:t>
            </a:r>
            <a:r>
              <a:rPr b="1" i="0" lang="en-US" sz="1450" u="none" cap="none" strike="noStrike">
                <a:solidFill>
                  <a:srgbClr val="475569"/>
                </a:solidFill>
                <a:latin typeface="Arial"/>
                <a:ea typeface="Arial"/>
                <a:cs typeface="Arial"/>
                <a:sym typeface="Arial"/>
              </a:rPr>
              <a:t xml:space="preserve">x-axis</a:t>
            </a:r>
            <a:r>
              <a:rPr b="0" i="0" lang="en-US" sz="1450" u="none" cap="none" strike="noStrike">
                <a:solidFill>
                  <a:srgbClr val="475569"/>
                </a:solidFill>
                <a:latin typeface="Arial"/>
                <a:ea typeface="Arial"/>
                <a:cs typeface="Arial"/>
                <a:sym typeface="Arial"/>
              </a:rPr>
              <a:t xml:space="preserve">; points with x = 0 sit on the </a:t>
            </a:r>
            <a:r>
              <a:rPr b="1" i="0" lang="en-US" sz="1450" u="none" cap="none" strike="noStrike">
                <a:solidFill>
                  <a:srgbClr val="475569"/>
                </a:solidFill>
                <a:latin typeface="Arial"/>
                <a:ea typeface="Arial"/>
                <a:cs typeface="Arial"/>
                <a:sym typeface="Arial"/>
              </a:rPr>
              <a:t xml:space="preserve">y-axis</a:t>
            </a:r>
            <a:r>
              <a:rPr b="0" i="0" lang="en-US" sz="1450" u="none" cap="none" strike="noStrike">
                <a:solidFill>
                  <a:srgbClr val="475569"/>
                </a:solidFill>
                <a:latin typeface="Arial"/>
                <a:ea typeface="Arial"/>
                <a:cs typeface="Arial"/>
                <a:sym typeface="Arial"/>
              </a:rPr>
              <a:t xml:space="preserve">.</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8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Represent Rational Numbers on the Coordinate Plane</a:t>
            </a:r>
            <a:endParaRPr b="0" i="0" sz="1400" u="none" cap="none" strike="noStrike">
              <a:solidFill>
                <a:srgbClr val="000000"/>
              </a:solidFill>
              <a:latin typeface="Arial"/>
              <a:ea typeface="Arial"/>
              <a:cs typeface="Arial"/>
              <a:sym typeface="Arial"/>
            </a:endParaRPr>
          </a:p>
        </p:txBody>
      </p:sp>
      <p:sp>
        <p:nvSpPr>
          <p:cNvPr id="833" name="Google Shape;833;p8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34" name="Google Shape;834;p80"/>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51</a:t>
            </a:r>
          </a:p>
        </p:txBody>
      </p:sp>
      <p:grpSp>
        <p:nvGrpSpPr>
          <p:cNvPr id="836" name="TEACH-4-student-move" descr="TEACH 4 · Monitor progress and provide feedback"/>
          <p:cNvGrpSpPr/>
          <p:nvPr/>
        </p:nvGrpSpPr>
        <p:grpSpPr>
          <a:xfrm>
            <a:off x="502920" y="3867612"/>
            <a:ext cx="11186160" cy="731520"/>
            <a:chOff x="502920" y="3867612"/>
            <a:chExt cx="11186160" cy="731520"/>
          </a:xfrm>
        </p:grpSpPr>
        <p:sp>
          <p:nvSpPr>
            <p:cNvPr id="837"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38"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39"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cxnSp>
        <p:nvCxnSpPr>
          <p:cNvPr id="880" name="Google Shape;880;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1" name="Google Shape;881;p85"/>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Point Relationships</a:t>
            </a:r>
            <a:endParaRPr b="0" i="0" sz="1400" u="none" cap="none" strike="noStrike">
              <a:solidFill>
                <a:srgbClr val="000000"/>
              </a:solidFill>
              <a:latin typeface="Arial"/>
              <a:ea typeface="Arial"/>
              <a:cs typeface="Arial"/>
              <a:sym typeface="Arial"/>
            </a:endParaRPr>
          </a:p>
        </p:txBody>
      </p:sp>
      <p:sp>
        <p:nvSpPr>
          <p:cNvPr id="882" name="Google Shape;882;p85"/>
          <p:cNvSpPr txBox="1"/>
          <p:nvPr/>
        </p:nvSpPr>
        <p:spPr>
          <a:xfrm>
            <a:off x="486000" y="936000"/>
            <a:ext cx="5819266" cy="5379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 xml:space="preserve">How do points </a:t>
            </a:r>
            <a:r>
              <a:rPr b="0" i="1" lang="en-US" sz="2800" u="none" cap="none" strike="noStrike">
                <a:solidFill>
                  <a:schemeClr val="dk1"/>
                </a:solidFill>
                <a:latin typeface="Arial"/>
                <a:ea typeface="Arial"/>
                <a:cs typeface="Arial"/>
                <a:sym typeface="Arial"/>
              </a:rPr>
              <a:t>E</a:t>
            </a:r>
            <a:r>
              <a:rPr b="0" i="0" lang="en-US" sz="2800" u="none" cap="none" strike="noStrike">
                <a:solidFill>
                  <a:schemeClr val="dk1"/>
                </a:solidFill>
                <a:latin typeface="Arial"/>
                <a:ea typeface="Arial"/>
                <a:cs typeface="Arial"/>
                <a:sym typeface="Arial"/>
              </a:rPr>
              <a:t xml:space="preserve">, </a:t>
            </a:r>
            <a:r>
              <a:rPr b="0" i="1" lang="en-US" sz="2800" u="none" cap="none" strike="noStrike">
                <a:solidFill>
                  <a:schemeClr val="dk1"/>
                </a:solidFill>
                <a:latin typeface="Arial"/>
                <a:ea typeface="Arial"/>
                <a:cs typeface="Arial"/>
                <a:sym typeface="Arial"/>
              </a:rPr>
              <a:t>F</a:t>
            </a:r>
            <a:r>
              <a:rPr b="0" i="0" lang="en-US" sz="2800" u="none" cap="none" strike="noStrike">
                <a:solidFill>
                  <a:schemeClr val="dk1"/>
                </a:solidFill>
                <a:latin typeface="Arial"/>
                <a:ea typeface="Arial"/>
                <a:cs typeface="Arial"/>
                <a:sym typeface="Arial"/>
              </a:rPr>
              <a:t xml:space="preserve">, and </a:t>
            </a:r>
            <a:r>
              <a:rPr b="0" i="1" lang="en-US" sz="2800" u="none" cap="none" strike="noStrike">
                <a:solidFill>
                  <a:schemeClr val="dk1"/>
                </a:solidFill>
                <a:latin typeface="Arial"/>
                <a:ea typeface="Arial"/>
                <a:cs typeface="Arial"/>
                <a:sym typeface="Arial"/>
              </a:rPr>
              <a:t>G</a:t>
            </a:r>
            <a:r>
              <a:rPr b="0" i="0" lang="en-US" sz="2800" u="none" cap="none" strike="noStrike">
                <a:solidFill>
                  <a:schemeClr val="dk1"/>
                </a:solidFill>
                <a:latin typeface="Arial"/>
                <a:ea typeface="Arial"/>
                <a:cs typeface="Arial"/>
                <a:sym typeface="Arial"/>
              </a:rPr>
              <a:t xml:space="preserve"> relate?</a:t>
            </a:r>
            <a:endParaRPr b="0" i="0" sz="1400" u="none" cap="none" strike="noStrike">
              <a:solidFill>
                <a:srgbClr val="000000"/>
              </a:solidFill>
              <a:latin typeface="Arial"/>
              <a:ea typeface="Arial"/>
              <a:cs typeface="Arial"/>
              <a:sym typeface="Arial"/>
            </a:endParaRPr>
          </a:p>
        </p:txBody>
      </p:sp>
      <p:sp>
        <p:nvSpPr>
          <p:cNvPr id="883" name="Google Shape;883;p85"/>
          <p:cNvSpPr txBox="1"/>
          <p:nvPr/>
        </p:nvSpPr>
        <p:spPr>
          <a:xfrm>
            <a:off x="465812" y="2009839"/>
            <a:ext cx="664632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do you notice about the points?</a:t>
            </a:r>
            <a:endParaRPr b="1" i="0" sz="2800" u="none" cap="none" strike="noStrike">
              <a:solidFill>
                <a:schemeClr val="dk1"/>
              </a:solidFill>
              <a:latin typeface="Arial"/>
              <a:ea typeface="Arial"/>
              <a:cs typeface="Arial"/>
              <a:sym typeface="Arial"/>
            </a:endParaRPr>
          </a:p>
        </p:txBody>
      </p:sp>
      <p:sp>
        <p:nvSpPr>
          <p:cNvPr id="884" name="Google Shape;884;p85"/>
          <p:cNvSpPr txBox="1"/>
          <p:nvPr/>
        </p:nvSpPr>
        <p:spPr>
          <a:xfrm>
            <a:off x="484565" y="3695700"/>
            <a:ext cx="6495825" cy="2306732"/>
          </a:xfrm>
          <a:prstGeom prst="rect">
            <a:avLst/>
          </a:prstGeom>
          <a:blipFill rotWithShape="1">
            <a:blip r:embed="rId3">
              <a:alphaModFix/>
            </a:blip>
            <a:stretch>
              <a:fillRect b="0" l="-1877" r="-1970" t="-263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885" name="Google Shape;885;p85"/>
          <p:cNvPicPr preferRelativeResize="0"/>
          <p:nvPr/>
        </p:nvPicPr>
        <p:blipFill rotWithShape="1">
          <a:blip r:embed="rId4">
            <a:alphaModFix/>
          </a:blip>
          <a:srcRect b="0" l="0" r="0" t="0"/>
          <a:stretch/>
        </p:blipFill>
        <p:spPr>
          <a:xfrm>
            <a:off x="7758894" y="1859199"/>
            <a:ext cx="3872274" cy="3872274"/>
          </a:xfrm>
          <a:prstGeom prst="rect">
            <a:avLst/>
          </a:prstGeom>
          <a:noFill/>
          <a:ln>
            <a:noFill/>
          </a:ln>
        </p:spPr>
      </p:pic>
      <p:sp>
        <p:nvSpPr>
          <p:cNvPr id="88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51</a:t>
            </a:r>
          </a:p>
        </p:txBody>
      </p:sp>
      <p:sp xmlns:p="http://schemas.openxmlformats.org/presentationml/2006/main" xmlns:a="http://schemas.openxmlformats.org/drawingml/2006/main">
        <p:nvSpPr>
          <p:cNvPr id="887" name="TEACH-embedded-student-prompt" descr="Student thinking and response directions"/>
          <p:cNvSpPr txBox="1"/>
          <p:nvPr/>
        </p:nvSpPr>
        <p:spPr>
          <a:xfrm>
            <a:off x="594360" y="27614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cxnSp>
        <p:nvCxnSpPr>
          <p:cNvPr id="900" name="Google Shape;900;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1" name="Google Shape;901;p87"/>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Point Relationships</a:t>
            </a:r>
            <a:endParaRPr b="0" i="0" sz="1400" u="none" cap="none" strike="noStrike">
              <a:solidFill>
                <a:srgbClr val="000000"/>
              </a:solidFill>
              <a:latin typeface="Arial"/>
              <a:ea typeface="Arial"/>
              <a:cs typeface="Arial"/>
              <a:sym typeface="Arial"/>
            </a:endParaRPr>
          </a:p>
        </p:txBody>
      </p:sp>
      <p:sp>
        <p:nvSpPr>
          <p:cNvPr id="902" name="Google Shape;902;p87"/>
          <p:cNvSpPr txBox="1"/>
          <p:nvPr/>
        </p:nvSpPr>
        <p:spPr>
          <a:xfrm>
            <a:off x="484565" y="3699328"/>
            <a:ext cx="6792535" cy="2682422"/>
          </a:xfrm>
          <a:prstGeom prst="rect">
            <a:avLst/>
          </a:prstGeom>
          <a:blipFill rotWithShape="1">
            <a:blip r:embed="rId3">
              <a:alphaModFix/>
            </a:blip>
            <a:stretch>
              <a:fillRect b="0" l="-1794" r="-269" t="-25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03" name="Google Shape;903;p87"/>
          <p:cNvSpPr txBox="1"/>
          <p:nvPr/>
        </p:nvSpPr>
        <p:spPr>
          <a:xfrm>
            <a:off x="478166" y="2745221"/>
            <a:ext cx="6132184"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find the coordinates of each point?</a:t>
            </a:r>
            <a:endParaRPr b="1" i="0" sz="2800" u="none" cap="none" strike="noStrike">
              <a:solidFill>
                <a:schemeClr val="dk1"/>
              </a:solidFill>
              <a:latin typeface="Arial"/>
              <a:ea typeface="Arial"/>
              <a:cs typeface="Arial"/>
              <a:sym typeface="Arial"/>
            </a:endParaRPr>
          </a:p>
        </p:txBody>
      </p:sp>
      <p:sp>
        <p:nvSpPr>
          <p:cNvPr id="904" name="Google Shape;904;p87"/>
          <p:cNvSpPr txBox="1"/>
          <p:nvPr/>
        </p:nvSpPr>
        <p:spPr>
          <a:xfrm>
            <a:off x="485999" y="936000"/>
            <a:ext cx="6124351" cy="1820848"/>
          </a:xfrm>
          <a:prstGeom prst="rect">
            <a:avLst/>
          </a:prstGeom>
          <a:blipFill rotWithShape="1">
            <a:blip r:embed="rId4">
              <a:alphaModFix/>
            </a:blip>
            <a:stretch>
              <a:fillRect b="0" l="-2092" r="-299" t="-36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05" name="Google Shape;905;p87"/>
          <p:cNvPicPr preferRelativeResize="0"/>
          <p:nvPr/>
        </p:nvPicPr>
        <p:blipFill rotWithShape="1">
          <a:blip r:embed="rId5">
            <a:alphaModFix/>
          </a:blip>
          <a:srcRect b="0" l="0" r="0" t="0"/>
          <a:stretch/>
        </p:blipFill>
        <p:spPr>
          <a:xfrm>
            <a:off x="7758894" y="1859199"/>
            <a:ext cx="3872274" cy="3872274"/>
          </a:xfrm>
          <a:prstGeom prst="rect">
            <a:avLst/>
          </a:prstGeom>
          <a:noFill/>
          <a:ln>
            <a:noFill/>
          </a:ln>
        </p:spPr>
      </p:pic>
      <p:sp>
        <p:nvSpPr>
          <p:cNvPr id="9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51</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cxnSp>
        <p:nvCxnSpPr>
          <p:cNvPr id="924" name="Google Shape;924;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5" name="Google Shape;925;p89"/>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Point Relationships</a:t>
            </a:r>
            <a:endParaRPr b="0" i="0" sz="1400" u="none" cap="none" strike="noStrike">
              <a:solidFill>
                <a:srgbClr val="000000"/>
              </a:solidFill>
              <a:latin typeface="Arial"/>
              <a:ea typeface="Arial"/>
              <a:cs typeface="Arial"/>
              <a:sym typeface="Arial"/>
            </a:endParaRPr>
          </a:p>
        </p:txBody>
      </p:sp>
      <p:sp>
        <p:nvSpPr>
          <p:cNvPr id="926" name="Google Shape;926;p89"/>
          <p:cNvSpPr txBox="1"/>
          <p:nvPr/>
        </p:nvSpPr>
        <p:spPr>
          <a:xfrm>
            <a:off x="486000" y="936000"/>
            <a:ext cx="8207624" cy="660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 xml:space="preserve">Let’s find the coordinates of points </a:t>
            </a:r>
            <a:r>
              <a:rPr b="0" i="1" lang="en-US" sz="2800" u="none" cap="none" strike="noStrike">
                <a:solidFill>
                  <a:schemeClr val="dk1"/>
                </a:solidFill>
                <a:latin typeface="Arial"/>
                <a:ea typeface="Arial"/>
                <a:cs typeface="Arial"/>
                <a:sym typeface="Arial"/>
              </a:rPr>
              <a:t>E</a:t>
            </a:r>
            <a:r>
              <a:rPr b="0" i="0" lang="en-US" sz="2800" u="none" cap="none" strike="noStrike">
                <a:solidFill>
                  <a:schemeClr val="dk1"/>
                </a:solidFill>
                <a:latin typeface="Arial"/>
                <a:ea typeface="Arial"/>
                <a:cs typeface="Arial"/>
                <a:sym typeface="Arial"/>
              </a:rPr>
              <a:t xml:space="preserve"> and </a:t>
            </a:r>
            <a:r>
              <a:rPr b="0" i="1" lang="en-US" sz="2800" u="none" cap="none" strike="noStrike">
                <a:solidFill>
                  <a:schemeClr val="dk1"/>
                </a:solidFill>
                <a:latin typeface="Arial"/>
                <a:ea typeface="Arial"/>
                <a:cs typeface="Arial"/>
                <a:sym typeface="Arial"/>
              </a:rPr>
              <a:t>G</a:t>
            </a:r>
            <a:r>
              <a:rPr b="0"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27" name="Google Shape;927;p89"/>
          <p:cNvSpPr txBox="1"/>
          <p:nvPr/>
        </p:nvSpPr>
        <p:spPr>
          <a:xfrm>
            <a:off x="494761" y="2229820"/>
            <a:ext cx="6293169" cy="523220"/>
          </a:xfrm>
          <a:prstGeom prst="rect">
            <a:avLst/>
          </a:prstGeom>
          <a:blipFill rotWithShape="1">
            <a:blip r:embed="rId3">
              <a:alphaModFix/>
            </a:blip>
            <a:stretch>
              <a:fillRect b="-31395" l="-1936" r="0" t="-127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8" name="Google Shape;928;p89"/>
          <p:cNvSpPr txBox="1"/>
          <p:nvPr/>
        </p:nvSpPr>
        <p:spPr>
          <a:xfrm>
            <a:off x="480195" y="4918306"/>
            <a:ext cx="6307735" cy="1441058"/>
          </a:xfrm>
          <a:prstGeom prst="rect">
            <a:avLst/>
          </a:prstGeom>
          <a:blipFill rotWithShape="1">
            <a:blip r:embed="rId4">
              <a:alphaModFix/>
            </a:blip>
            <a:stretch>
              <a:fillRect b="-12288" l="-2029" r="-1159" t="-46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29" name="Google Shape;929;p89"/>
          <p:cNvSpPr/>
          <p:nvPr/>
        </p:nvSpPr>
        <p:spPr>
          <a:xfrm>
            <a:off x="484565" y="1651694"/>
            <a:ext cx="397897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Point </a:t>
            </a:r>
            <a:r>
              <a:rPr b="0" i="1" lang="en-US" sz="2800" u="none" cap="none" strike="noStrike">
                <a:solidFill>
                  <a:schemeClr val="dk1"/>
                </a:solidFill>
                <a:latin typeface="Arial"/>
                <a:ea typeface="Arial"/>
                <a:cs typeface="Arial"/>
                <a:sym typeface="Arial"/>
              </a:rPr>
              <a:t>E</a:t>
            </a:r>
            <a:r>
              <a:rPr b="0" i="0" lang="en-US" sz="2800" u="none" cap="none" strike="noStrike">
                <a:solidFill>
                  <a:schemeClr val="dk1"/>
                </a:solidFill>
                <a:latin typeface="Arial"/>
                <a:ea typeface="Arial"/>
                <a:cs typeface="Arial"/>
                <a:sym typeface="Arial"/>
              </a:rPr>
              <a:t xml:space="preserve"> is in Quadrant I.</a:t>
            </a:r>
            <a:endParaRPr b="0" i="0" sz="1400" u="none" cap="none" strike="noStrike">
              <a:solidFill>
                <a:srgbClr val="000000"/>
              </a:solidFill>
              <a:latin typeface="Arial"/>
              <a:ea typeface="Arial"/>
              <a:cs typeface="Arial"/>
              <a:sym typeface="Arial"/>
            </a:endParaRPr>
          </a:p>
        </p:txBody>
      </p:sp>
      <p:sp>
        <p:nvSpPr>
          <p:cNvPr id="930" name="Google Shape;930;p89"/>
          <p:cNvSpPr/>
          <p:nvPr/>
        </p:nvSpPr>
        <p:spPr>
          <a:xfrm>
            <a:off x="486000" y="2807946"/>
            <a:ext cx="4118435"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chemeClr val="dk1"/>
                </a:solidFill>
                <a:latin typeface="Arial"/>
                <a:ea typeface="Arial"/>
                <a:cs typeface="Arial"/>
                <a:sym typeface="Arial"/>
              </a:rPr>
              <a:t xml:space="preserve">Point </a:t>
            </a:r>
            <a:r>
              <a:rPr b="0" i="1" lang="en-US" sz="2800" u="none" cap="none" strike="noStrike">
                <a:solidFill>
                  <a:schemeClr val="dk1"/>
                </a:solidFill>
                <a:latin typeface="Arial"/>
                <a:ea typeface="Arial"/>
                <a:cs typeface="Arial"/>
                <a:sym typeface="Arial"/>
              </a:rPr>
              <a:t>G</a:t>
            </a:r>
            <a:r>
              <a:rPr b="0" i="0" lang="en-US" sz="2800" u="none" cap="none" strike="noStrike">
                <a:solidFill>
                  <a:schemeClr val="dk1"/>
                </a:solidFill>
                <a:latin typeface="Arial"/>
                <a:ea typeface="Arial"/>
                <a:cs typeface="Arial"/>
                <a:sym typeface="Arial"/>
              </a:rPr>
              <a:t xml:space="preserve"> is in Quadrant II.</a:t>
            </a:r>
            <a:endParaRPr b="0" i="0" sz="2800" u="none" cap="none" strike="noStrike">
              <a:solidFill>
                <a:schemeClr val="dk1"/>
              </a:solidFill>
              <a:latin typeface="Arial"/>
              <a:ea typeface="Arial"/>
              <a:cs typeface="Arial"/>
              <a:sym typeface="Arial"/>
            </a:endParaRPr>
          </a:p>
        </p:txBody>
      </p:sp>
      <p:sp>
        <p:nvSpPr>
          <p:cNvPr id="931" name="Google Shape;931;p89"/>
          <p:cNvSpPr/>
          <p:nvPr/>
        </p:nvSpPr>
        <p:spPr>
          <a:xfrm>
            <a:off x="480195" y="3386072"/>
            <a:ext cx="4492448" cy="523220"/>
          </a:xfrm>
          <a:prstGeom prst="rect">
            <a:avLst/>
          </a:prstGeom>
          <a:blipFill rotWithShape="1">
            <a:blip r:embed="rId5">
              <a:alphaModFix/>
            </a:blip>
            <a:stretch>
              <a:fillRect b="-31395" l="-2849" r="0" t="-1162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32" name="Google Shape;932;p89"/>
          <p:cNvSpPr/>
          <p:nvPr/>
        </p:nvSpPr>
        <p:spPr>
          <a:xfrm>
            <a:off x="494761" y="3964199"/>
            <a:ext cx="6487064"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 xml:space="preserve">What do you notice about the coordinates for points </a:t>
            </a:r>
            <a:r>
              <a:rPr b="1" i="1" lang="en-US" sz="2800" u="none" cap="none" strike="noStrike">
                <a:solidFill>
                  <a:schemeClr val="dk1"/>
                </a:solidFill>
                <a:latin typeface="Arial"/>
                <a:ea typeface="Arial"/>
                <a:cs typeface="Arial"/>
                <a:sym typeface="Arial"/>
              </a:rPr>
              <a:t>E</a:t>
            </a:r>
            <a:r>
              <a:rPr b="1" i="0" lang="en-US" sz="2800" u="none" cap="none" strike="noStrike">
                <a:solidFill>
                  <a:schemeClr val="dk1"/>
                </a:solidFill>
                <a:latin typeface="Arial"/>
                <a:ea typeface="Arial"/>
                <a:cs typeface="Arial"/>
                <a:sym typeface="Arial"/>
              </a:rPr>
              <a:t xml:space="preserve"> and </a:t>
            </a:r>
            <a:r>
              <a:rPr b="1" i="1" lang="en-US" sz="2800" u="none" cap="none" strike="noStrike">
                <a:solidFill>
                  <a:schemeClr val="dk1"/>
                </a:solidFill>
                <a:latin typeface="Arial"/>
                <a:ea typeface="Arial"/>
                <a:cs typeface="Arial"/>
                <a:sym typeface="Arial"/>
              </a:rPr>
              <a:t>G</a:t>
            </a:r>
            <a:r>
              <a:rPr b="1" i="0" lang="en-US" sz="2800" u="none" cap="none" strike="noStrike">
                <a:solidFill>
                  <a:schemeClr val="dk1"/>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p:txBody>
      </p:sp>
      <p:pic>
        <p:nvPicPr>
          <p:cNvPr id="933" name="Google Shape;933;p89"/>
          <p:cNvPicPr preferRelativeResize="0"/>
          <p:nvPr/>
        </p:nvPicPr>
        <p:blipFill rotWithShape="1">
          <a:blip r:embed="rId6">
            <a:alphaModFix/>
          </a:blip>
          <a:srcRect b="0" l="0" r="0" t="0"/>
          <a:stretch/>
        </p:blipFill>
        <p:spPr>
          <a:xfrm>
            <a:off x="7758894" y="1859199"/>
            <a:ext cx="3872274" cy="3872274"/>
          </a:xfrm>
          <a:prstGeom prst="rect">
            <a:avLst/>
          </a:prstGeom>
          <a:noFill/>
          <a:ln>
            <a:noFill/>
          </a:ln>
        </p:spPr>
      </p:pic>
      <p:sp>
        <p:nvSpPr>
          <p:cNvPr id="93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51</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cxnSp>
        <p:nvCxnSpPr>
          <p:cNvPr id="970" name="Google Shape;970;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1" name="Google Shape;971;p93"/>
          <p:cNvSpPr txBox="1"/>
          <p:nvPr/>
        </p:nvSpPr>
        <p:spPr>
          <a:xfrm>
            <a:off x="484565" y="936100"/>
            <a:ext cx="3978253" cy="6197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defRPr/>
            </a:pPr>
            <a:r>
              <a:rPr b="0" i="0" lang="en-US" sz="2800" u="none" cap="none" strike="noStrike">
                <a:solidFill>
                  <a:schemeClr val="dk1"/>
                </a:solidFill>
                <a:latin typeface="Arial"/>
                <a:ea typeface="Arial"/>
                <a:cs typeface="Arial"/>
                <a:sym typeface="Arial"/>
              </a:rPr>
              <a:t xml:space="preserve">Point </a:t>
            </a:r>
            <a:r>
              <a:rPr b="0" i="1" lang="en-US" sz="2800" u="none" cap="none" strike="noStrike">
                <a:solidFill>
                  <a:schemeClr val="dk1"/>
                </a:solidFill>
                <a:latin typeface="Arial"/>
                <a:ea typeface="Arial"/>
                <a:cs typeface="Arial"/>
                <a:sym typeface="Arial"/>
              </a:rPr>
              <a:t>E</a:t>
            </a:r>
            <a:r>
              <a:rPr b="0" i="0" lang="en-US" sz="2800" u="none" cap="none" strike="noStrike">
                <a:solidFill>
                  <a:schemeClr val="dk1"/>
                </a:solidFill>
                <a:latin typeface="Arial"/>
                <a:ea typeface="Arial"/>
                <a:cs typeface="Arial"/>
                <a:sym typeface="Arial"/>
              </a:rPr>
              <a:t xml:space="preserve"> is in Quadrant I.</a:t>
            </a:r>
            <a:endParaRPr b="0" i="0" sz="2800" u="none" cap="none" strike="noStrike">
              <a:solidFill>
                <a:schemeClr val="dk1"/>
              </a:solidFill>
              <a:latin typeface="Arial"/>
              <a:ea typeface="Arial"/>
              <a:cs typeface="Arial"/>
              <a:sym typeface="Arial"/>
            </a:endParaRPr>
          </a:p>
        </p:txBody>
      </p:sp>
      <p:sp>
        <p:nvSpPr>
          <p:cNvPr id="972" name="Google Shape;972;p93"/>
          <p:cNvSpPr txBox="1"/>
          <p:nvPr/>
        </p:nvSpPr>
        <p:spPr>
          <a:xfrm>
            <a:off x="853200" y="316800"/>
            <a:ext cx="4779840"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0" i="0" sz="1400" u="none" cap="none" strike="noStrike">
              <a:solidFill>
                <a:srgbClr val="000000"/>
              </a:solidFill>
              <a:latin typeface="Arial"/>
              <a:ea typeface="Arial"/>
              <a:cs typeface="Arial"/>
              <a:sym typeface="Arial"/>
            </a:endParaRPr>
          </a:p>
        </p:txBody>
      </p:sp>
      <p:pic>
        <p:nvPicPr>
          <p:cNvPr id="973" name="Google Shape;973;p93"/>
          <p:cNvPicPr preferRelativeResize="0"/>
          <p:nvPr/>
        </p:nvPicPr>
        <p:blipFill rotWithShape="1">
          <a:blip r:embed="rId3">
            <a:alphaModFix/>
          </a:blip>
          <a:srcRect b="0" l="0" r="0" t="0"/>
          <a:stretch/>
        </p:blipFill>
        <p:spPr>
          <a:xfrm>
            <a:off x="486000" y="383706"/>
            <a:ext cx="353635" cy="340537"/>
          </a:xfrm>
          <a:prstGeom prst="rect">
            <a:avLst/>
          </a:prstGeom>
          <a:noFill/>
          <a:ln>
            <a:noFill/>
          </a:ln>
        </p:spPr>
      </p:pic>
      <p:sp>
        <p:nvSpPr>
          <p:cNvPr id="974" name="Google Shape;974;p93"/>
          <p:cNvSpPr txBox="1"/>
          <p:nvPr/>
        </p:nvSpPr>
        <p:spPr>
          <a:xfrm>
            <a:off x="484564" y="2149153"/>
            <a:ext cx="659130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 xml:space="preserve">Compare the coordinates of points </a:t>
            </a:r>
            <a:r>
              <a:rPr b="1" i="1" lang="en-US" sz="2800" u="none" cap="none" strike="noStrike">
                <a:solidFill>
                  <a:schemeClr val="dk1"/>
                </a:solidFill>
                <a:latin typeface="Arial"/>
                <a:ea typeface="Arial"/>
                <a:cs typeface="Arial"/>
                <a:sym typeface="Arial"/>
              </a:rPr>
              <a:t>E</a:t>
            </a:r>
            <a:r>
              <a:rPr b="1" i="0" lang="en-US" sz="2800" u="none" cap="none" strike="noStrike">
                <a:solidFill>
                  <a:schemeClr val="dk1"/>
                </a:solidFill>
                <a:latin typeface="Arial"/>
                <a:ea typeface="Arial"/>
                <a:cs typeface="Arial"/>
                <a:sym typeface="Arial"/>
              </a:rPr>
              <a:t xml:space="preserve"> and </a:t>
            </a:r>
            <a:r>
              <a:rPr b="1" i="1" lang="en-US" sz="2800" u="none" cap="none" strike="noStrike">
                <a:solidFill>
                  <a:schemeClr val="dk1"/>
                </a:solidFill>
                <a:latin typeface="Arial"/>
                <a:ea typeface="Arial"/>
                <a:cs typeface="Arial"/>
                <a:sym typeface="Arial"/>
              </a:rPr>
              <a:t>F</a:t>
            </a:r>
            <a:r>
              <a:rPr b="1" i="0" lang="en-US" sz="2800" u="none" cap="none" strike="noStrike">
                <a:solidFill>
                  <a:schemeClr val="dk1"/>
                </a:solidFill>
                <a:latin typeface="Arial"/>
                <a:ea typeface="Arial"/>
                <a:cs typeface="Arial"/>
                <a:sym typeface="Arial"/>
              </a:rPr>
              <a:t>. How could you describe the relationship between the points?</a:t>
            </a:r>
            <a:endParaRPr b="1" i="0" sz="2800" u="none" cap="none" strike="noStrike">
              <a:solidFill>
                <a:schemeClr val="dk1"/>
              </a:solidFill>
              <a:latin typeface="Arial"/>
              <a:ea typeface="Arial"/>
              <a:cs typeface="Arial"/>
              <a:sym typeface="Arial"/>
            </a:endParaRPr>
          </a:p>
        </p:txBody>
      </p:sp>
      <p:sp>
        <p:nvSpPr>
          <p:cNvPr id="975" name="Google Shape;975;p93"/>
          <p:cNvSpPr/>
          <p:nvPr/>
        </p:nvSpPr>
        <p:spPr>
          <a:xfrm>
            <a:off x="486000" y="1590889"/>
            <a:ext cx="4281941" cy="523220"/>
          </a:xfrm>
          <a:prstGeom prst="rect">
            <a:avLst/>
          </a:prstGeom>
          <a:blipFill rotWithShape="1">
            <a:blip r:embed="rId4">
              <a:alphaModFix/>
            </a:blip>
            <a:stretch>
              <a:fillRect b="-31395" l="-2991" r="0" t="-1279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6" name="Google Shape;976;p93"/>
          <p:cNvSpPr txBox="1"/>
          <p:nvPr/>
        </p:nvSpPr>
        <p:spPr>
          <a:xfrm>
            <a:off x="484564" y="3673253"/>
            <a:ext cx="6626131" cy="2679922"/>
          </a:xfrm>
          <a:prstGeom prst="rect">
            <a:avLst/>
          </a:prstGeom>
          <a:blipFill rotWithShape="1">
            <a:blip r:embed="rId5">
              <a:alphaModFix/>
            </a:blip>
            <a:stretch>
              <a:fillRect b="-8200" l="-1840" r="0" t="-25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77" name="Google Shape;977;p93"/>
          <p:cNvPicPr preferRelativeResize="0"/>
          <p:nvPr/>
        </p:nvPicPr>
        <p:blipFill rotWithShape="1">
          <a:blip r:embed="rId6">
            <a:alphaModFix/>
          </a:blip>
          <a:srcRect b="0" l="0" r="0" t="0"/>
          <a:stretch/>
        </p:blipFill>
        <p:spPr>
          <a:xfrm>
            <a:off x="7758894" y="1859199"/>
            <a:ext cx="3872274" cy="3872274"/>
          </a:xfrm>
          <a:prstGeom prst="rect">
            <a:avLst/>
          </a:prstGeom>
          <a:noFill/>
          <a:ln>
            <a:noFill/>
          </a:ln>
        </p:spPr>
      </p:pic>
      <p:sp>
        <p:nvSpPr>
          <p:cNvPr id="97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51</a:t>
            </a:r>
          </a:p>
        </p:txBody>
      </p:sp>
      <p:sp>
        <p:nvSpPr>
          <p:cNvPr id="97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grpSp>
        <p:nvGrpSpPr>
          <p:cNvPr id="980" name="TEACH-5-student-move" descr="TEACH 5 · Facilitate student interactions and academic talk"/>
          <p:cNvGrpSpPr/>
          <p:nvPr/>
        </p:nvGrpSpPr>
        <p:grpSpPr>
          <a:xfrm>
            <a:off x="6187440" y="1182543"/>
            <a:ext cx="5501640" cy="594360"/>
            <a:chOff x="6187440" y="1182543"/>
            <a:chExt cx="5501640" cy="594360"/>
          </a:xfrm>
        </p:grpSpPr>
        <p:sp>
          <p:nvSpPr>
            <p:cNvPr id="981" name="TEACH-move-card"/>
            <p:cNvSpPr/>
            <p:nvPr/>
          </p:nvSpPr>
          <p:spPr>
            <a:xfrm>
              <a:off x="6187440" y="118254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82" name="TEACH-move-rule"/>
            <p:cNvSpPr/>
            <p:nvPr/>
          </p:nvSpPr>
          <p:spPr>
            <a:xfrm>
              <a:off x="6233160" y="1295471"/>
              <a:ext cx="100584" cy="368504"/>
            </a:xfrm>
            <a:prstGeom prst="roundRect">
              <a:avLst>
                <a:gd name="adj" fmla="val 50000"/>
              </a:avLst>
            </a:prstGeom>
            <a:solidFill>
              <a:srgbClr val="01708C"/>
            </a:solidFill>
            <a:ln>
              <a:noFill/>
            </a:ln>
          </p:spPr>
          <p:txBody>
            <a:bodyPr/>
            <a:lstStyle/>
            <a:p>
              <a:endParaRPr/>
            </a:p>
          </p:txBody>
        </p:sp>
        <p:sp>
          <p:nvSpPr>
            <p:cNvPr id="983" name="TEACH-move-text"/>
            <p:cNvSpPr txBox="1"/>
            <p:nvPr/>
          </p:nvSpPr>
          <p:spPr>
            <a:xfrm>
              <a:off x="6507480" y="118254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cxnSp>
        <p:nvCxnSpPr>
          <p:cNvPr id="992" name="Google Shape;992;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93" name="Google Shape;993;p95"/>
          <p:cNvSpPr txBox="1"/>
          <p:nvPr/>
        </p:nvSpPr>
        <p:spPr>
          <a:xfrm>
            <a:off x="485999" y="936000"/>
            <a:ext cx="7124475" cy="1454775"/>
          </a:xfrm>
          <a:prstGeom prst="rect">
            <a:avLst/>
          </a:prstGeom>
          <a:blipFill rotWithShape="1">
            <a:blip r:embed="rId3">
              <a:alphaModFix/>
            </a:blip>
            <a:stretch>
              <a:fillRect b="-6303" l="-1798" r="0" t="-46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4" name="Google Shape;994;p95"/>
          <p:cNvSpPr/>
          <p:nvPr/>
        </p:nvSpPr>
        <p:spPr>
          <a:xfrm>
            <a:off x="438827" y="245401"/>
            <a:ext cx="353975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Point Relationships</a:t>
            </a:r>
            <a:endParaRPr b="0" i="0" sz="1400" u="none" cap="none" strike="noStrike">
              <a:solidFill>
                <a:srgbClr val="000000"/>
              </a:solidFill>
              <a:latin typeface="Arial"/>
              <a:ea typeface="Arial"/>
              <a:cs typeface="Arial"/>
              <a:sym typeface="Arial"/>
            </a:endParaRPr>
          </a:p>
        </p:txBody>
      </p:sp>
      <p:sp>
        <p:nvSpPr>
          <p:cNvPr id="995" name="Google Shape;995;p95"/>
          <p:cNvSpPr/>
          <p:nvPr/>
        </p:nvSpPr>
        <p:spPr>
          <a:xfrm>
            <a:off x="485999" y="2558154"/>
            <a:ext cx="6991126" cy="954107"/>
          </a:xfrm>
          <a:prstGeom prst="rect">
            <a:avLst/>
          </a:prstGeom>
          <a:blipFill rotWithShape="1">
            <a:blip r:embed="rId4">
              <a:alphaModFix/>
            </a:blip>
            <a:stretch>
              <a:fillRect b="-17308" l="-1831" r="-1221" t="-705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96" name="Google Shape;996;p95"/>
          <p:cNvSpPr txBox="1"/>
          <p:nvPr/>
        </p:nvSpPr>
        <p:spPr>
          <a:xfrm>
            <a:off x="438827" y="4957366"/>
            <a:ext cx="10590868"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does a reflection on the coordinate plane relate to a reflection in the mirror?</a:t>
            </a:r>
            <a:endParaRPr b="0" i="0" sz="1400" u="none" cap="none" strike="noStrike">
              <a:solidFill>
                <a:srgbClr val="000000"/>
              </a:solidFill>
              <a:latin typeface="Arial"/>
              <a:ea typeface="Arial"/>
              <a:cs typeface="Arial"/>
              <a:sym typeface="Arial"/>
            </a:endParaRPr>
          </a:p>
        </p:txBody>
      </p:sp>
      <p:pic>
        <p:nvPicPr>
          <p:cNvPr id="997" name="Google Shape;997;p95"/>
          <p:cNvPicPr preferRelativeResize="0"/>
          <p:nvPr/>
        </p:nvPicPr>
        <p:blipFill rotWithShape="1">
          <a:blip r:embed="rId5">
            <a:alphaModFix/>
          </a:blip>
          <a:srcRect b="0" l="0" r="0" t="0"/>
          <a:stretch/>
        </p:blipFill>
        <p:spPr>
          <a:xfrm>
            <a:off x="7791195" y="1890316"/>
            <a:ext cx="3209925" cy="3209925"/>
          </a:xfrm>
          <a:prstGeom prst="rect">
            <a:avLst/>
          </a:prstGeom>
          <a:noFill/>
          <a:ln>
            <a:noFill/>
          </a:ln>
        </p:spPr>
      </p:pic>
      <p:sp>
        <p:nvSpPr>
          <p:cNvPr id="99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51</a:t>
            </a:r>
          </a:p>
        </p:txBody>
      </p:sp>
      <p:sp xmlns:p="http://schemas.openxmlformats.org/presentationml/2006/main" xmlns:a="http://schemas.openxmlformats.org/drawingml/2006/main">
        <p:nvSpPr>
          <p:cNvPr id="999" name="TEACH-embedded-student-prompt" descr="Student thinking and response directions"/>
          <p:cNvSpPr txBox="1"/>
          <p:nvPr/>
        </p:nvSpPr>
        <p:spPr>
          <a:xfrm>
            <a:off x="594360" y="4041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cxnSp>
        <p:nvCxnSpPr>
          <p:cNvPr id="1014" name="Google Shape;1014;p9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5" name="Google Shape;1015;p97"/>
          <p:cNvSpPr txBox="1"/>
          <p:nvPr/>
        </p:nvSpPr>
        <p:spPr>
          <a:xfrm>
            <a:off x="484565" y="316033"/>
            <a:ext cx="5029132" cy="61996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Point Relationships</a:t>
            </a:r>
            <a:endParaRPr b="0" i="0" sz="1400" u="none" cap="none" strike="noStrike">
              <a:solidFill>
                <a:srgbClr val="000000"/>
              </a:solidFill>
              <a:latin typeface="Arial"/>
              <a:ea typeface="Arial"/>
              <a:cs typeface="Arial"/>
              <a:sym typeface="Arial"/>
            </a:endParaRPr>
          </a:p>
        </p:txBody>
      </p:sp>
      <p:pic>
        <p:nvPicPr>
          <p:cNvPr id="1016" name="Google Shape;1016;p97"/>
          <p:cNvPicPr preferRelativeResize="0"/>
          <p:nvPr/>
        </p:nvPicPr>
        <p:blipFill rotWithShape="1">
          <a:blip r:embed="rId3">
            <a:alphaModFix/>
          </a:blip>
          <a:srcRect b="0" l="0" r="0" t="0"/>
          <a:stretch/>
        </p:blipFill>
        <p:spPr>
          <a:xfrm>
            <a:off x="481809" y="4927110"/>
            <a:ext cx="7073900" cy="838200"/>
          </a:xfrm>
          <a:prstGeom prst="rect">
            <a:avLst/>
          </a:prstGeom>
          <a:noFill/>
          <a:ln>
            <a:noFill/>
          </a:ln>
        </p:spPr>
      </p:pic>
      <p:sp>
        <p:nvSpPr>
          <p:cNvPr id="1017" name="Google Shape;1017;p97"/>
          <p:cNvSpPr/>
          <p:nvPr/>
        </p:nvSpPr>
        <p:spPr>
          <a:xfrm>
            <a:off x="3131960" y="5084600"/>
            <a:ext cx="3523722"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Looking for Structure</a:t>
            </a:r>
            <a:endParaRPr b="0" i="0" sz="1400" u="none" cap="none" strike="noStrike">
              <a:solidFill>
                <a:srgbClr val="000000"/>
              </a:solidFill>
              <a:latin typeface="Arial"/>
              <a:ea typeface="Arial"/>
              <a:cs typeface="Arial"/>
              <a:sym typeface="Arial"/>
            </a:endParaRPr>
          </a:p>
        </p:txBody>
      </p:sp>
      <p:sp>
        <p:nvSpPr>
          <p:cNvPr id="1018" name="Google Shape;1018;p97"/>
          <p:cNvSpPr/>
          <p:nvPr/>
        </p:nvSpPr>
        <p:spPr>
          <a:xfrm>
            <a:off x="604142" y="5765310"/>
            <a:ext cx="9353843"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exploring patterns be helpful in solving this problem?</a:t>
            </a:r>
            <a:endParaRPr b="0" i="0" sz="2600" u="none" cap="none" strike="noStrike">
              <a:solidFill>
                <a:srgbClr val="595959"/>
              </a:solidFill>
              <a:latin typeface="Arial"/>
              <a:ea typeface="Arial"/>
              <a:cs typeface="Arial"/>
              <a:sym typeface="Arial"/>
            </a:endParaRPr>
          </a:p>
        </p:txBody>
      </p:sp>
      <p:sp>
        <p:nvSpPr>
          <p:cNvPr id="1019" name="Google Shape;1019;p97"/>
          <p:cNvSpPr txBox="1"/>
          <p:nvPr/>
        </p:nvSpPr>
        <p:spPr>
          <a:xfrm>
            <a:off x="486000" y="936000"/>
            <a:ext cx="8207624" cy="660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 xml:space="preserve">How do points </a:t>
            </a:r>
            <a:r>
              <a:rPr b="1" i="1" lang="en-US" sz="2800" u="none" cap="none" strike="noStrike">
                <a:solidFill>
                  <a:schemeClr val="dk1"/>
                </a:solidFill>
                <a:latin typeface="Arial"/>
                <a:ea typeface="Arial"/>
                <a:cs typeface="Arial"/>
                <a:sym typeface="Arial"/>
              </a:rPr>
              <a:t>E</a:t>
            </a:r>
            <a:r>
              <a:rPr b="1" i="0" lang="en-US" sz="2800" u="none" cap="none" strike="noStrike">
                <a:solidFill>
                  <a:schemeClr val="dk1"/>
                </a:solidFill>
                <a:latin typeface="Arial"/>
                <a:ea typeface="Arial"/>
                <a:cs typeface="Arial"/>
                <a:sym typeface="Arial"/>
              </a:rPr>
              <a:t xml:space="preserve">, </a:t>
            </a:r>
            <a:r>
              <a:rPr b="1" i="1" lang="en-US" sz="2800" u="none" cap="none" strike="noStrike">
                <a:solidFill>
                  <a:schemeClr val="dk1"/>
                </a:solidFill>
                <a:latin typeface="Arial"/>
                <a:ea typeface="Arial"/>
                <a:cs typeface="Arial"/>
                <a:sym typeface="Arial"/>
              </a:rPr>
              <a:t>F</a:t>
            </a:r>
            <a:r>
              <a:rPr b="1" i="0" lang="en-US" sz="2800" u="none" cap="none" strike="noStrike">
                <a:solidFill>
                  <a:schemeClr val="dk1"/>
                </a:solidFill>
                <a:latin typeface="Arial"/>
                <a:ea typeface="Arial"/>
                <a:cs typeface="Arial"/>
                <a:sym typeface="Arial"/>
              </a:rPr>
              <a:t xml:space="preserve">, and </a:t>
            </a:r>
            <a:r>
              <a:rPr b="1" i="1" lang="en-US" sz="2800" u="none" cap="none" strike="noStrike">
                <a:solidFill>
                  <a:schemeClr val="dk1"/>
                </a:solidFill>
                <a:latin typeface="Arial"/>
                <a:ea typeface="Arial"/>
                <a:cs typeface="Arial"/>
                <a:sym typeface="Arial"/>
              </a:rPr>
              <a:t>G</a:t>
            </a:r>
            <a:r>
              <a:rPr b="1" i="0" lang="en-US" sz="2800" u="none" cap="none" strike="noStrike">
                <a:solidFill>
                  <a:schemeClr val="dk1"/>
                </a:solidFill>
                <a:latin typeface="Arial"/>
                <a:ea typeface="Arial"/>
                <a:cs typeface="Arial"/>
                <a:sym typeface="Arial"/>
              </a:rPr>
              <a:t xml:space="preserve"> relate?</a:t>
            </a:r>
            <a:endParaRPr b="0" i="0" sz="2800" u="none" cap="none" strike="noStrike">
              <a:solidFill>
                <a:schemeClr val="dk1"/>
              </a:solidFill>
              <a:latin typeface="Arial"/>
              <a:ea typeface="Arial"/>
              <a:cs typeface="Arial"/>
              <a:sym typeface="Arial"/>
            </a:endParaRPr>
          </a:p>
        </p:txBody>
      </p:sp>
      <p:sp>
        <p:nvSpPr>
          <p:cNvPr id="1020" name="Google Shape;1020;p97"/>
          <p:cNvSpPr/>
          <p:nvPr/>
        </p:nvSpPr>
        <p:spPr>
          <a:xfrm>
            <a:off x="603569" y="1754278"/>
            <a:ext cx="6261497" cy="1384995"/>
          </a:xfrm>
          <a:prstGeom prst="rect">
            <a:avLst/>
          </a:prstGeom>
          <a:blipFill rotWithShape="1">
            <a:blip r:embed="rId4">
              <a:alphaModFix/>
            </a:blip>
            <a:stretch>
              <a:fillRect b="-11454" l="-1947" r="0" t="-484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21" name="Google Shape;1021;p97"/>
          <p:cNvSpPr/>
          <p:nvPr/>
        </p:nvSpPr>
        <p:spPr>
          <a:xfrm>
            <a:off x="486001" y="1605416"/>
            <a:ext cx="6600600" cy="1661659"/>
          </a:xfrm>
          <a:prstGeom prst="rect">
            <a:avLst/>
          </a:prstGeom>
          <a:noFill/>
          <a:ln cap="flat" cmpd="sng" w="12700">
            <a:solidFill>
              <a:srgbClr val="7030A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pic>
        <p:nvPicPr>
          <p:cNvPr id="1022" name="Google Shape;1022;p97"/>
          <p:cNvPicPr preferRelativeResize="0"/>
          <p:nvPr/>
        </p:nvPicPr>
        <p:blipFill rotWithShape="1">
          <a:blip r:embed="rId5">
            <a:alphaModFix/>
          </a:blip>
          <a:srcRect b="0" l="0" r="0" t="0"/>
          <a:stretch/>
        </p:blipFill>
        <p:spPr>
          <a:xfrm>
            <a:off x="7758894" y="1859199"/>
            <a:ext cx="3741519" cy="3741519"/>
          </a:xfrm>
          <a:prstGeom prst="rect">
            <a:avLst/>
          </a:prstGeom>
          <a:noFill/>
          <a:ln>
            <a:noFill/>
          </a:ln>
        </p:spPr>
      </p:pic>
      <p:sp>
        <p:nvSpPr>
          <p:cNvPr id="102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42 / 51</a:t>
            </a:r>
          </a:p>
        </p:txBody>
      </p:sp>
      <p:sp xmlns:p="http://schemas.openxmlformats.org/presentationml/2006/main" xmlns:a="http://schemas.openxmlformats.org/drawingml/2006/main">
        <p:nvSpPr>
          <p:cNvPr id="1024" name="TEACH-embedded-student-prompt" descr="Student thinking and response directions"/>
          <p:cNvSpPr txBox="1"/>
          <p:nvPr/>
        </p:nvSpPr>
        <p:spPr>
          <a:xfrm>
            <a:off x="594360" y="4041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cxnSp>
        <p:nvCxnSpPr>
          <p:cNvPr id="1027" name="Google Shape;1027;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8" name="Google Shape;1028;p9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29" name="Google Shape;1029;p98"/>
          <p:cNvSpPr txBox="1"/>
          <p:nvPr/>
        </p:nvSpPr>
        <p:spPr>
          <a:xfrm>
            <a:off x="484566" y="936000"/>
            <a:ext cx="8221284" cy="635625"/>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1"/>
              </a:buClr>
              <a:buSzPts val="2800"/>
              <a:buFont typeface="Calibri"/>
              <a:buAutoNum type="alphaLcPeriod"/>
              <a:defRPr/>
            </a:pPr>
            <a:r>
              <a:rPr b="0" i="0" lang="en-US" sz="2800" u="none" cap="none" strike="noStrike">
                <a:solidFill>
                  <a:schemeClr val="dk1"/>
                </a:solidFill>
                <a:latin typeface="Arial"/>
                <a:ea typeface="Arial"/>
                <a:cs typeface="Arial"/>
                <a:sym typeface="Arial"/>
              </a:rPr>
              <a:t xml:space="preserve">How does point </a:t>
            </a:r>
            <a:r>
              <a:rPr b="0" i="1" lang="en-US" sz="2800" u="none" cap="none" strike="noStrike">
                <a:solidFill>
                  <a:schemeClr val="dk1"/>
                </a:solidFill>
                <a:latin typeface="Arial"/>
                <a:ea typeface="Arial"/>
                <a:cs typeface="Arial"/>
                <a:sym typeface="Arial"/>
              </a:rPr>
              <a:t>H</a:t>
            </a:r>
            <a:r>
              <a:rPr b="0" i="0" lang="en-US" sz="2800" u="none" cap="none" strike="noStrike">
                <a:solidFill>
                  <a:schemeClr val="dk1"/>
                </a:solidFill>
                <a:latin typeface="Arial"/>
                <a:ea typeface="Arial"/>
                <a:cs typeface="Arial"/>
                <a:sym typeface="Arial"/>
              </a:rPr>
              <a:t xml:space="preserve"> relate to point </a:t>
            </a:r>
            <a:r>
              <a:rPr b="0" i="1" lang="en-US" sz="2800" u="none" cap="none" strike="noStrike">
                <a:solidFill>
                  <a:schemeClr val="dk1"/>
                </a:solidFill>
                <a:latin typeface="Arial"/>
                <a:ea typeface="Arial"/>
                <a:cs typeface="Arial"/>
                <a:sym typeface="Arial"/>
              </a:rPr>
              <a:t>F</a:t>
            </a:r>
            <a:r>
              <a:rPr b="0" i="0" lang="en-US" sz="2800" u="none" cap="none" strike="noStrike">
                <a:solidFill>
                  <a:schemeClr val="dk1"/>
                </a:solidFill>
                <a:latin typeface="Arial"/>
                <a:ea typeface="Arial"/>
                <a:cs typeface="Arial"/>
                <a:sym typeface="Arial"/>
              </a:rPr>
              <a:t xml:space="preserve">? to point </a:t>
            </a:r>
            <a:r>
              <a:rPr b="0" i="1" lang="en-US" sz="2800" u="none" cap="none" strike="noStrike">
                <a:solidFill>
                  <a:schemeClr val="dk1"/>
                </a:solidFill>
                <a:latin typeface="Arial"/>
                <a:ea typeface="Arial"/>
                <a:cs typeface="Arial"/>
                <a:sym typeface="Arial"/>
              </a:rPr>
              <a:t>G</a:t>
            </a:r>
            <a:r>
              <a:rPr b="0"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030" name="Google Shape;1030;p98"/>
          <p:cNvSpPr/>
          <p:nvPr/>
        </p:nvSpPr>
        <p:spPr>
          <a:xfrm>
            <a:off x="484564" y="1641835"/>
            <a:ext cx="9338166" cy="1551979"/>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31" name="Google Shape;1031;p98"/>
          <p:cNvSpPr txBox="1"/>
          <p:nvPr/>
        </p:nvSpPr>
        <p:spPr>
          <a:xfrm>
            <a:off x="8530328" y="5548350"/>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32" name="Google Shape;1032;p98"/>
          <p:cNvSpPr txBox="1"/>
          <p:nvPr/>
        </p:nvSpPr>
        <p:spPr>
          <a:xfrm>
            <a:off x="8530328" y="2848316"/>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1033" name="Google Shape;1033;p98"/>
          <p:cNvSpPr/>
          <p:nvPr/>
        </p:nvSpPr>
        <p:spPr>
          <a:xfrm>
            <a:off x="484782" y="4288341"/>
            <a:ext cx="9337948" cy="1598563"/>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1034" name="Google Shape;1034;p98"/>
          <p:cNvSpPr/>
          <p:nvPr/>
        </p:nvSpPr>
        <p:spPr>
          <a:xfrm>
            <a:off x="484564" y="3264024"/>
            <a:ext cx="9116444" cy="954107"/>
          </a:xfrm>
          <a:prstGeom prst="rect">
            <a:avLst/>
          </a:prstGeom>
          <a:blipFill rotWithShape="1">
            <a:blip r:embed="rId3">
              <a:alphaModFix/>
            </a:blip>
            <a:stretch>
              <a:fillRect b="-16561" l="-1203" r="-802"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3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51</a:t>
            </a:r>
          </a:p>
        </p:txBody>
      </p:sp>
      <p:grpSp>
        <p:nvGrpSpPr>
          <p:cNvPr id="1036" name="TEACH-2-student-move" descr="TEACH 2 · Use strategies and tasks to engage students in rigorous work"/>
          <p:cNvGrpSpPr/>
          <p:nvPr/>
        </p:nvGrpSpPr>
        <p:grpSpPr>
          <a:xfrm>
            <a:off x="502920" y="5948278"/>
            <a:ext cx="11186160" cy="320040"/>
            <a:chOff x="502920" y="5948278"/>
            <a:chExt cx="11186160" cy="320040"/>
          </a:xfrm>
        </p:grpSpPr>
        <p:sp>
          <p:nvSpPr>
            <p:cNvPr id="1037" name="TEACH-move-card"/>
            <p:cNvSpPr/>
            <p:nvPr/>
          </p:nvSpPr>
          <p:spPr>
            <a:xfrm>
              <a:off x="502920" y="594827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1038" name="TEACH-move-rule"/>
            <p:cNvSpPr/>
            <p:nvPr/>
          </p:nvSpPr>
          <p:spPr>
            <a:xfrm>
              <a:off x="548640" y="6009086"/>
              <a:ext cx="100584" cy="198424"/>
            </a:xfrm>
            <a:prstGeom prst="roundRect">
              <a:avLst>
                <a:gd name="adj" fmla="val 50000"/>
              </a:avLst>
            </a:prstGeom>
            <a:solidFill>
              <a:srgbClr val="01708C"/>
            </a:solidFill>
            <a:ln>
              <a:noFill/>
            </a:ln>
          </p:spPr>
          <p:txBody>
            <a:bodyPr/>
            <a:lstStyle/>
            <a:p>
              <a:endParaRPr/>
            </a:p>
          </p:txBody>
        </p:sp>
        <p:sp>
          <p:nvSpPr>
            <p:cNvPr id="1039" name="TEACH-move-text"/>
            <p:cNvSpPr txBox="1"/>
            <p:nvPr/>
          </p:nvSpPr>
          <p:spPr>
            <a:xfrm>
              <a:off x="822960" y="594827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interchanging x and y or reversing a negative direction.</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Trace horizontal then vertical movement on the given coordinate plane.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99"/>
          <p:cNvSpPr txBox="1"/>
          <p:nvPr/>
        </p:nvSpPr>
        <p:spPr>
          <a:xfrm>
            <a:off x="486000" y="316800"/>
            <a:ext cx="6269641" cy="85667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 xml:space="preserve">Summarize: </a:t>
            </a:r>
            <a:r>
              <a:rPr b="1" i="0" lang="en-US" sz="2800" u="none" cap="none" strike="noStrike">
                <a:solidFill>
                  <a:srgbClr val="782DA0"/>
                </a:solidFill>
                <a:latin typeface="Arial"/>
                <a:ea typeface="Arial"/>
                <a:cs typeface="Arial"/>
                <a:sym typeface="Arial"/>
              </a:rPr>
              <a:t>Represent Rational Numbers on the Coordinate Plane</a:t>
            </a:r>
            <a:endParaRPr b="0" i="0" sz="1400" u="none" cap="none" strike="noStrike">
              <a:solidFill>
                <a:srgbClr val="000000"/>
              </a:solidFill>
              <a:latin typeface="Arial"/>
              <a:ea typeface="Arial"/>
              <a:cs typeface="Arial"/>
              <a:sym typeface="Arial"/>
            </a:endParaRPr>
          </a:p>
        </p:txBody>
      </p:sp>
      <p:cxnSp>
        <p:nvCxnSpPr>
          <p:cNvPr id="1040" name="Google Shape;1040;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1" name="Google Shape;1041;p99"/>
          <p:cNvSpPr txBox="1"/>
          <p:nvPr/>
        </p:nvSpPr>
        <p:spPr>
          <a:xfrm>
            <a:off x="486000" y="1296000"/>
            <a:ext cx="6743475" cy="4886436"/>
          </a:xfrm>
          <a:prstGeom prst="rect">
            <a:avLst/>
          </a:prstGeom>
          <a:blipFill rotWithShape="1">
            <a:blip r:embed="rId3">
              <a:alphaModFix/>
            </a:blip>
            <a:stretch>
              <a:fillRect b="0" l="-1899" r="-1085" t="-137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42" name="Google Shape;1042;p99"/>
          <p:cNvPicPr preferRelativeResize="0"/>
          <p:nvPr/>
        </p:nvPicPr>
        <p:blipFill rotWithShape="1">
          <a:blip r:embed="rId4">
            <a:alphaModFix/>
          </a:blip>
          <a:srcRect b="0" l="0" r="0" t="0"/>
          <a:stretch/>
        </p:blipFill>
        <p:spPr>
          <a:xfrm>
            <a:off x="7848354" y="1747125"/>
            <a:ext cx="3782814" cy="3805001"/>
          </a:xfrm>
          <a:prstGeom prst="rect">
            <a:avLst/>
          </a:prstGeom>
          <a:noFill/>
          <a:ln>
            <a:noFill/>
          </a:ln>
        </p:spPr>
      </p:pic>
      <p:sp>
        <p:nvSpPr>
          <p:cNvPr id="10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51</a:t>
            </a:r>
          </a:p>
        </p:txBody>
      </p:sp>
      <p:sp>
        <p:nvSpPr>
          <p:cNvPr id="104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xml:space="preserve">  ·  SAY IT IN YOUR OWN WORDS</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p10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 xml:space="preserve">Apply: </a:t>
            </a:r>
            <a:r>
              <a:rPr b="1" i="0" lang="en-US" sz="2800" u="none" cap="none" strike="noStrike">
                <a:solidFill>
                  <a:srgbClr val="782DA0"/>
                </a:solidFill>
                <a:latin typeface="Arial"/>
                <a:ea typeface="Arial"/>
                <a:cs typeface="Arial"/>
                <a:sym typeface="Arial"/>
              </a:rPr>
              <a:t>Let’s Draw Shapes</a:t>
            </a:r>
            <a:endParaRPr b="1" i="0" sz="2800" u="none" cap="none" strike="noStrike">
              <a:solidFill>
                <a:srgbClr val="7030A0"/>
              </a:solidFill>
              <a:latin typeface="Arial"/>
              <a:ea typeface="Arial"/>
              <a:cs typeface="Arial"/>
              <a:sym typeface="Arial"/>
            </a:endParaRPr>
          </a:p>
        </p:txBody>
      </p:sp>
      <p:cxnSp>
        <p:nvCxnSpPr>
          <p:cNvPr id="1048" name="Google Shape;1048;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9" name="Google Shape;1049;p100"/>
          <p:cNvSpPr txBox="1"/>
          <p:nvPr/>
        </p:nvSpPr>
        <p:spPr>
          <a:xfrm>
            <a:off x="486000" y="935999"/>
            <a:ext cx="6419625" cy="2635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 xml:space="preserve">Question: </a:t>
            </a:r>
            <a:r>
              <a:rPr b="0" i="0" lang="en-US" sz="2800" u="none" cap="none" strike="noStrike">
                <a:solidFill>
                  <a:schemeClr val="dk1"/>
                </a:solidFill>
                <a:latin typeface="Arial"/>
                <a:ea typeface="Arial"/>
                <a:cs typeface="Arial"/>
                <a:sym typeface="Arial"/>
              </a:rPr>
              <a:t>What shape can you create on the coordinate plane that will have all of its vertices be reflections of each other? What are the coordinates of each vertex?</a:t>
            </a:r>
            <a:endParaRPr b="0" i="0" sz="1400" u="none" cap="none" strike="noStrike">
              <a:solidFill>
                <a:srgbClr val="000000"/>
              </a:solidFill>
              <a:latin typeface="Arial"/>
              <a:ea typeface="Arial"/>
              <a:cs typeface="Arial"/>
              <a:sym typeface="Arial"/>
            </a:endParaRPr>
          </a:p>
        </p:txBody>
      </p:sp>
      <p:pic>
        <p:nvPicPr>
          <p:cNvPr id="1050" name="Google Shape;1050;p100"/>
          <p:cNvPicPr preferRelativeResize="0"/>
          <p:nvPr/>
        </p:nvPicPr>
        <p:blipFill rotWithShape="1">
          <a:blip r:embed="rId3">
            <a:alphaModFix/>
          </a:blip>
          <a:srcRect b="0" l="0" r="0" t="0"/>
          <a:stretch/>
        </p:blipFill>
        <p:spPr>
          <a:xfrm>
            <a:off x="7877543" y="1830240"/>
            <a:ext cx="3753625" cy="3753625"/>
          </a:xfrm>
          <a:prstGeom prst="rect">
            <a:avLst/>
          </a:prstGeom>
          <a:noFill/>
          <a:ln>
            <a:noFill/>
          </a:ln>
        </p:spPr>
      </p:pic>
      <p:sp>
        <p:nvSpPr>
          <p:cNvPr id="105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51</a:t>
            </a:r>
          </a:p>
        </p:txBody>
      </p:sp>
      <p:sp>
        <p:nvSpPr>
          <p:cNvPr id="105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105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101"/>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6" name="Google Shape;1056;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7" name="Google Shape;1057;p101"/>
          <p:cNvSpPr txBox="1"/>
          <p:nvPr/>
        </p:nvSpPr>
        <p:spPr>
          <a:xfrm>
            <a:off x="484565" y="936000"/>
            <a:ext cx="8246481" cy="3315489"/>
          </a:xfrm>
          <a:prstGeom prst="rect">
            <a:avLst/>
          </a:prstGeom>
          <a:blipFill rotWithShape="1">
            <a:blip r:embed="rId3">
              <a:alphaModFix/>
            </a:blip>
            <a:stretch>
              <a:fillRect b="0" l="-1330" r="0" t="-202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51</a:t>
            </a:r>
          </a:p>
        </p:txBody>
      </p:sp>
      <p:sp xmlns:p="http://schemas.openxmlformats.org/presentationml/2006/main" xmlns:a="http://schemas.openxmlformats.org/drawingml/2006/main">
        <p:nvSpPr>
          <p:cNvPr id="105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50" name="Google Shape;850;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1" name="Google Shape;851;p82"/>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52" name="Google Shape;852;p82"/>
          <p:cNvSpPr txBox="1"/>
          <p:nvPr/>
        </p:nvSpPr>
        <p:spPr>
          <a:xfrm>
            <a:off x="484560" y="1022823"/>
            <a:ext cx="4264421" cy="12917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How are they the same?</a:t>
            </a:r>
            <a:endParaRPr b="0" i="0" sz="1400" u="none" cap="none" strike="noStrike">
              <a:solidFill>
                <a:srgbClr val="000000"/>
              </a:solidFill>
              <a:latin typeface="Arial"/>
              <a:ea typeface="Arial"/>
              <a:cs typeface="Arial"/>
              <a:sym typeface="Arial"/>
            </a:endParaRPr>
          </a:p>
        </p:txBody>
      </p:sp>
      <p:pic>
        <p:nvPicPr>
          <p:cNvPr id="853" name="Google Shape;853;p82"/>
          <p:cNvPicPr preferRelativeResize="0"/>
          <p:nvPr/>
        </p:nvPicPr>
        <p:blipFill rotWithShape="1">
          <a:blip r:embed="rId2">
            <a:alphaModFix/>
          </a:blip>
          <a:srcRect b="0" l="0" r="0" t="0"/>
          <a:stretch/>
        </p:blipFill>
        <p:spPr>
          <a:xfrm>
            <a:off x="484560" y="4481331"/>
            <a:ext cx="5054600" cy="838200"/>
          </a:xfrm>
          <a:prstGeom prst="rect">
            <a:avLst/>
          </a:prstGeom>
          <a:noFill/>
          <a:ln>
            <a:noFill/>
          </a:ln>
        </p:spPr>
      </p:pic>
      <p:sp>
        <p:nvSpPr>
          <p:cNvPr id="854" name="Google Shape;854;p82"/>
          <p:cNvSpPr txBox="1"/>
          <p:nvPr/>
        </p:nvSpPr>
        <p:spPr>
          <a:xfrm>
            <a:off x="3104344" y="465028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55" name="Google Shape;855;p82"/>
          <p:cNvSpPr txBox="1"/>
          <p:nvPr/>
        </p:nvSpPr>
        <p:spPr>
          <a:xfrm>
            <a:off x="484560" y="315403"/>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56" name="Google Shape;856;p82"/>
          <p:cNvSpPr/>
          <p:nvPr/>
        </p:nvSpPr>
        <p:spPr>
          <a:xfrm>
            <a:off x="564469" y="5319531"/>
            <a:ext cx="7274333"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In what ways is understanding different reasoning strategies helping you in math?</a:t>
            </a:r>
            <a:endParaRPr b="0" i="0" sz="2600" u="none" cap="none" strike="noStrike">
              <a:solidFill>
                <a:srgbClr val="595959"/>
              </a:solidFill>
              <a:latin typeface="Arial"/>
              <a:ea typeface="Arial"/>
              <a:cs typeface="Arial"/>
              <a:sym typeface="Arial"/>
            </a:endParaRPr>
          </a:p>
        </p:txBody>
      </p:sp>
      <p:pic>
        <p:nvPicPr>
          <p:cNvPr id="857" name="Google Shape;857;p82"/>
          <p:cNvPicPr preferRelativeResize="0"/>
          <p:nvPr/>
        </p:nvPicPr>
        <p:blipFill rotWithShape="1">
          <a:blip r:embed="rId3">
            <a:alphaModFix/>
          </a:blip>
          <a:srcRect b="0" l="0" r="0" t="0"/>
          <a:stretch/>
        </p:blipFill>
        <p:spPr>
          <a:xfrm>
            <a:off x="7758894" y="1859199"/>
            <a:ext cx="3238500" cy="3238500"/>
          </a:xfrm>
          <a:prstGeom prst="rect">
            <a:avLst/>
          </a:prstGeom>
          <a:noFill/>
          <a:ln>
            <a:noFill/>
          </a:ln>
        </p:spPr>
      </p:pic>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51</a:t>
            </a:r>
          </a:p>
        </p:txBody>
      </p:sp>
      <p:sp xmlns:p="http://schemas.openxmlformats.org/presentationml/2006/main" xmlns:a="http://schemas.openxmlformats.org/drawingml/2006/main">
        <p:nvSpPr>
          <p:cNvPr id="858" name="TEACH-embedded-student-prompt" descr="Student thinking and response directions"/>
          <p:cNvSpPr txBox="1"/>
          <p:nvPr/>
        </p:nvSpPr>
        <p:spPr>
          <a:xfrm>
            <a:off x="594360" y="35844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5" name="Google Shape;1055;p101"/>
          <p:cNvSpPr txBox="1"/>
          <p:nvPr/>
        </p:nvSpPr>
        <p:spPr>
          <a:xfrm>
            <a:off x="484565" y="316800"/>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6" name="Google Shape;1056;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7" name="Google Shape;1057;p101"/>
          <p:cNvSpPr txBox="1"/>
          <p:nvPr/>
        </p:nvSpPr>
        <p:spPr>
          <a:xfrm>
            <a:off x="484565" y="936000"/>
            <a:ext cx="8246481" cy="3315489"/>
          </a:xfrm>
          <a:prstGeom prst="rect">
            <a:avLst/>
          </a:prstGeom>
          <a:blipFill rotWithShape="1">
            <a:blip r:embed="rId2">
              <a:alphaModFix/>
            </a:blip>
            <a:stretch>
              <a:fillRect b="0" l="-1330" r="0" t="-202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3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51</a:t>
            </a:r>
          </a:p>
        </p:txBody>
      </p:sp>
      <p:sp xmlns:p="http://schemas.openxmlformats.org/presentationml/2006/main" xmlns:a="http://schemas.openxmlformats.org/drawingml/2006/main">
        <p:nvSpPr>
          <p:cNvPr id="105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7.5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Interpret ordered pairs as horizontal then vertical.</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21 / 51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51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51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51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5-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TEACH A PARTNER  ·  </a:t>
            </a:r>
            <a:r>
              <a:rPr lang="en-US" sz="2000" b="0" dirty="0">
                <a:solidFill>
                  <a:srgbClr val="13303A"/>
                </a:solidFill>
                <a:latin typeface="Arial"/>
              </a:rPr>
              <a:t>Teach this to someone who missed it. If you can teach it, you know it.</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39 / 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7-5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46 / 51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7.5 — Represent Rational Numbers on the Coordinate Plane</dc:title>
  <dc:creator>Neft Teacher</dc:creator>
  <cp:lastModifiedBy>Neft Teacher</cp:lastModifiedBy>
  <dcterms:created xsi:type="dcterms:W3CDTF">2026-09-30T12:04:43Z</dcterms:created>
  <dcterms:modified xsi:type="dcterms:W3CDTF">2026-09-30T12:04:43Z</dcterms:modified>
</cp:coreProperties>
</file>