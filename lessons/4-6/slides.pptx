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 — Since 3 feet = 1 yard, you divide by 3 (not multiply). 6 ÷ 3 = 2 yards.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Shape 1"/>
          <p:cNvSpPr/>
          <p:nvPr/>
        </p:nvSpPr>
        <p:spPr>
          <a:xfrm>
            <a:off x="2651760" y="-640080"/>
            <a:ext cx="2011680" cy="2011680"/>
          </a:xfrm>
          <a:prstGeom prst="ellipse">
            <a:avLst/>
          </a:prstGeom>
          <a:solidFill>
            <a:srgbClr val="B0883B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65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🕹️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Convert Measurement Units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4160520"/>
            <a:ext cx="1188720" cy="310896"/>
          </a:xfrm>
          <a:prstGeom prst="rect">
            <a:avLst>
              <a:gd name="adj" fmla="val 50000"/>
            </a:avLst>
          </a:prstGeom>
          <a:solidFill>
            <a:srgbClr val="B088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6.RP.3d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41605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6E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Unit 4  ·  Lesson 4-6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23360" y="41148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51960" y="548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My Math Notebook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51960" y="102412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Name: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83480" y="1207008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28016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Date: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1463040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153619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Period: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1719072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201168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06240" y="210312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88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 CAN…  </a:t>
            </a:r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 Yo puedo…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0" y="2395728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convert measurement units using ratios and conversion factors.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23360" y="3291840"/>
            <a:ext cx="4800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06240" y="338328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88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 WILL EXPLAIN…  </a:t>
            </a:r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 Objetivo de lenguaje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06240" y="3675888"/>
            <a:ext cx="4434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explain my conversion using the words conversion factor, unit, equivalent, and ratio.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 Curious / Sé Curioso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B088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6.RP.3d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4  ·  Lesson 4-6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371600" cy="274320"/>
          </a:xfrm>
          <a:prstGeom prst="rect">
            <a:avLst>
              <a:gd name="adj" fmla="val 50000"/>
            </a:avLst>
          </a:prstGeom>
          <a:solidFill>
            <a:srgbClr val="B088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VISUAL PROMPT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20700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Arcade Builder Challenge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508760"/>
            <a:ext cx="3794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You're building a brand-new arcade cabinet! The blueprints use feet, but the parts catalog lists measurements in inches. The wiring instructions use yards, and the weight limits are in pounds — but the shipping labels use ounces. You need to convert between units to make sure everything fits and ships correctly.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3154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Jot your first idea: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356616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94360" y="388620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94360" y="420624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709160" y="68580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685800"/>
            <a:ext cx="411480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👁  I Notice…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105156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Why might the blueprint and the parts catalog use different units?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How many inches are in 1 foot? How many feet in 1 yard?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743200"/>
            <a:ext cx="4114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9160" y="2743200"/>
            <a:ext cx="4114800" cy="274320"/>
          </a:xfrm>
          <a:prstGeom prst="rect">
            <a:avLst/>
          </a:prstGeom>
          <a:solidFill>
            <a:srgbClr val="F2C1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💭  I Wonder…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10896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How do you decide whether to multiply or divide when converting?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Can you use a ratio table to help convert units?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Vocabulary / Vocabulario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B088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6.RP.3d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4  ·  Lesson 4-6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68580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11480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Term / Término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Meaning / Significado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Example / Ejemplo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Conversion Factor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Factor de conversión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 ratio that helps you change one unit into another.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Una razón que te ayuda a cambiar una unidad por otra.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1 foot = 12 inches, so the factor is 12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Unit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Unidad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 standard amount used to measure, like an inch or a liter.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Una cantidad estándar para medir, como una pulgada o un litro.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Inches, feet, pounds, ounces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Equivalent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Equivalente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Having the same value, just in different units.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Tener el mismo valor, solo en unidades distintas.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2 feet = 24 inches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Ratio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Razón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 way to compare two amounts.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Una manera de comparar dos cantidades.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12 inches per 1 foot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Customary units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Unidades usuales (sistema inglés)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The U.S. way of measuring, like inches, feet, and pounds.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La forma de medir de EE. UU., como pulgadas, pies y libras.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12 inches = 1 foot, 3 feet = 1 yard, 16 ounces = 1 pound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11480" y="352044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Customary units — example vs. non-example: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11480" y="3813048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E7F6F4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21208" y="3813048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✓ </a:t>
            </a:r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foot  </a:t>
            </a:r>
            <a:pPr indent="0" marL="0">
              <a:buNone/>
            </a:pPr>
            <a:r>
              <a:rPr lang="en-US" sz="8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foot is a customary unit of length.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663440" y="3813048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 w="12700">
            <a:solidFill>
              <a:srgbClr val="E2A39B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773168" y="3813048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✗ </a:t>
            </a:r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meter  </a:t>
            </a:r>
            <a:pPr indent="0" marL="0">
              <a:buNone/>
            </a:pPr>
            <a:r>
              <a:rPr lang="en-US" sz="8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meter is a metric unit.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Guided Practice / Práctica Guiada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B088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6.RP.3d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4  ·  Lesson 4-6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737360" cy="274320"/>
          </a:xfrm>
          <a:prstGeom prst="rect">
            <a:avLst>
              <a:gd name="adj" fmla="val 50000"/>
            </a:avLst>
          </a:prstGeom>
          <a:solidFill>
            <a:srgbClr val="B088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👩‍🏫 WE DO TOGETHER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188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do I change one measurement unit into another?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1609344"/>
            <a:ext cx="274320" cy="274320"/>
          </a:xfrm>
          <a:prstGeom prst="ellipse">
            <a:avLst/>
          </a:prstGeom>
          <a:solidFill>
            <a:srgbClr val="B0883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1609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" y="1554480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wire is 4 yards long. The factor is 1 yard = 3 feet.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2084832"/>
            <a:ext cx="274320" cy="274320"/>
          </a:xfrm>
          <a:prstGeom prst="ellipse">
            <a:avLst/>
          </a:prstGeom>
          <a:solidFill>
            <a:srgbClr val="B0883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084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4128" y="2029968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Feet are smaller than yards, so do we multiply or divide? (Multiply)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2560320"/>
            <a:ext cx="274320" cy="274320"/>
          </a:xfrm>
          <a:prstGeom prst="ellipse">
            <a:avLst/>
          </a:prstGeom>
          <a:solidFill>
            <a:srgbClr val="B0883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560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" y="2505456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is 4 × 3 feet? (12 feet)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" y="38862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Your turn — show your work: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4297680"/>
            <a:ext cx="51206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10972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cabinet blueprint uses feet but the parts catalog uses inches. Why do you have to convert, and which is the bigger unit, a foot or an inch?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27432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09360" y="2834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88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🔑 Key Idea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09360" y="31089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Multiply when changing to a smaller unit, and divide when changing to a bigger unit.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Sort It Out / Clasifícalo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B088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6.RP.3d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4  ·  Lesson 4-6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Use conversion factors to complete the ratio table. Convert each measurement to the target unit.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123444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Bank — cut or sort these cards: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436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1481328"/>
            <a:ext cx="144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36220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453640" y="1481328"/>
            <a:ext cx="144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3004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221480" y="1481328"/>
            <a:ext cx="144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" y="1975104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5800" y="1975104"/>
            <a:ext cx="144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4360" y="2560320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B0883B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" y="2560320"/>
            <a:ext cx="2514600" cy="292608"/>
          </a:xfrm>
          <a:prstGeom prst="rect">
            <a:avLst/>
          </a:prstGeom>
          <a:solidFill>
            <a:srgbClr val="B088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Group 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46120" y="2560320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B0883B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246120" y="2560320"/>
            <a:ext cx="2514600" cy="292608"/>
          </a:xfrm>
          <a:prstGeom prst="rect">
            <a:avLst/>
          </a:prstGeom>
          <a:solidFill>
            <a:srgbClr val="B088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Group B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109728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did you use a conversion factor like '1 ft = 12 in' to fill in the ratio table, and how did you decide whether to multiply or divide?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274320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217920" y="307238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217920" y="340156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6217920" y="3730752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6217920" y="405993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Error Analysis / Análisis de Errores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B088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6.RP.3d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4  ·  Lesson 4-6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554480" cy="274320"/>
          </a:xfrm>
          <a:prstGeom prst="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⚠ FIND THE ERROR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8412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Find the Conversion Error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188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classmate turned in the work below. One step has a mistake — find it, name it, fix it.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" y="1627632"/>
            <a:ext cx="5166360" cy="1901952"/>
          </a:xfrm>
          <a:prstGeom prst="roundRect">
            <a:avLst>
              <a:gd name="adj" fmla="val 2404"/>
            </a:avLst>
          </a:prstGeom>
          <a:solidFill>
            <a:srgbClr val="F4F1E8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3232" y="169164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Student's work (contains an error):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" y="193852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Convert 6 feet to yards: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feet → yards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7240" y="2322576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Use conversion factor: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yard = 3 feet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77240" y="2706624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Multiply: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× 3 = 18 yards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77240" y="309067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Final answer: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feet = 18 yards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" y="3666744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Which step has the error? Circle it above.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FCE6DE"/>
          </a:solidFill>
          <a:ln w="12700">
            <a:solidFill>
              <a:srgbClr val="E2A39B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🛠 Explain &amp; Fix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1097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mistake was </a:t>
            </a:r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</a:t>
            </a:r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because </a:t>
            </a:r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</a:t>
            </a:r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178308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217920" y="207568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217920" y="236829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6217920" y="2788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Fix it — rewrite the step correctly: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324612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217920" y="353872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217920" y="383133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6217920" y="412394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Two-Column Notes / Notas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B088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6.RP.3d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4  ·  Lesson 4-6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685800"/>
            <a:ext cx="4160520" cy="292608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Steps / Pasos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1243584"/>
            <a:ext cx="274320" cy="274320"/>
          </a:xfrm>
          <a:prstGeom prst="ellipse">
            <a:avLst/>
          </a:prstGeom>
          <a:solidFill>
            <a:srgbClr val="B0883B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12435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78408" y="1188720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cabinet is 5 feet tall. I want to know how many inches that is.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" y="1719072"/>
            <a:ext cx="274320" cy="274320"/>
          </a:xfrm>
          <a:prstGeom prst="ellipse">
            <a:avLst/>
          </a:prstGeom>
          <a:solidFill>
            <a:srgbClr val="B0883B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78408" y="1664208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My conversion factor is 1 foot = 12 inches.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2194560"/>
            <a:ext cx="274320" cy="274320"/>
          </a:xfrm>
          <a:prstGeom prst="ellipse">
            <a:avLst/>
          </a:prstGeom>
          <a:solidFill>
            <a:srgbClr val="B0883B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8408" y="2139696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Inches are smaller than feet, so I multiply: 5 × 12 = 60.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" y="2670048"/>
            <a:ext cx="274320" cy="274320"/>
          </a:xfrm>
          <a:prstGeom prst="ellipse">
            <a:avLst/>
          </a:prstGeom>
          <a:solidFill>
            <a:srgbClr val="B0883B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2670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78408" y="2615184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 5 feet = 60 inches.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68580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09160" y="685800"/>
            <a:ext cx="4114800" cy="292608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My Example / Mi Ejemplo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 one problem here, matching each step on the left: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92040" y="178308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4892040" y="211226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892040" y="2441448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892040" y="2770632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892040" y="3099816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892040" y="342900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892040" y="375818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4892040" y="4087368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Choice Board / Tablero de Opciones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B088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6.RP.3d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4  ·  Lesson 4-6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Choose ONE to show what you know: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105156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DFF2E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11612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23444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Draw &amp; Label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170992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Sketch a model for today's problem. Label it using Conversion Factor and Unit.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05156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11612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53212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Explain 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170992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2–3 sentences, explain "Multiply when changing to a smaller unit, and divide when changing to a bigger unit." in your own words.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283464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CE6D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29443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🧮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23444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Solve It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34930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 one practice problem and show every step clearly.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83464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EAF2F1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46320" y="29443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53212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Create a Problem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34930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Write your own problem that uses Conversion Factor, then solve it and make an answer key.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Independent Practice / Práctica Independiente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B088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6.RP.3d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4  ·  Lesson 4-6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463040" cy="274320"/>
          </a:xfrm>
          <a:prstGeom prst="rect">
            <a:avLst>
              <a:gd name="adj" fmla="val 50000"/>
            </a:avLst>
          </a:prstGeom>
          <a:solidFill>
            <a:srgbClr val="B088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✍️ ON YOUR OWN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23444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0883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shelf is 30 inches long. How many feet and inches is that?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178308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94360" y="219456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0883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many inches are in 7 feet?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274320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94360" y="315468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0883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many feet are in 3 yards?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" y="370332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10972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doorway is 80 inches tall and a new cabinet is listed as 7 feet. Your friend says it won't fit because 7 feet is 82 inches. Will it fit, and where is the error?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283464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217920" y="316382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217920" y="349300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217920" y="3822192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217920" y="415137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Think–Write–Respond / Piensa y Escribe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B088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6.RP.3d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4  ·  Lesson 4-6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Use evidence from today's lesson to complete each frame.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96012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1051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1 — </a:t>
            </a:r>
            <a:pPr indent="0" marL="0">
              <a:buNone/>
            </a:pPr>
            <a:r>
              <a:rPr lang="en-US" sz="1100" b="1" dirty="0">
                <a:solidFill>
                  <a:srgbClr val="B088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Explain the Rule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34416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Today's key idea is "Multiply when changing to a smaller unit, and divide when changing to a bigger unit." — and it works because ___.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189280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11480" y="224028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2331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2 — </a:t>
            </a:r>
            <a:pPr indent="0" marL="0">
              <a:buNone/>
            </a:pPr>
            <a:r>
              <a:rPr lang="en-US" sz="1100" b="1" dirty="0">
                <a:solidFill>
                  <a:srgbClr val="B088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Because / But / So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262432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Because Conversion Factor means ___, but a tricky part is ___, so I have to ___.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317296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11480" y="352044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" y="3611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3 — </a:t>
            </a:r>
            <a:pPr indent="0" marL="0">
              <a:buNone/>
            </a:pPr>
            <a:r>
              <a:rPr lang="en-US" sz="1100" b="1" dirty="0">
                <a:solidFill>
                  <a:srgbClr val="B0883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Catch the Mistake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3904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common mistake with Conversion Factor is ___. It happens because ___, and the fix is ___.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" y="445312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Exit Ticket / Boleto de Salida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B088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6.RP.3d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4  ·  Lesson 4-6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685800"/>
            <a:ext cx="41605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Reflection / Reflexión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10972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Today I learned that ___ because ___.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178308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94360" y="2093976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94360" y="2404872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94360" y="28346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 thing I am still not sure about is ___.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352044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94360" y="3831336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94360" y="4142232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709160" y="68580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09160" y="685800"/>
            <a:ext cx="4114800" cy="274320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Quick Exit Ticket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10972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0883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Tier 1 —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Which is the correct conversion of 5 yards to inches?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A.  180 inches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20939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B.  60 inches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24048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C.  15 inches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27157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D.  540 inches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16382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0883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Tier 2 —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Explain how you know your answer is correct. Use at least one vocabulary word.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92040" y="380390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892040" y="4096512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892040" y="438912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Goal Tracker / Seguimiento de Metas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B088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6.RP.3d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4  ·  Lesson 4-6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58368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7324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65836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15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My Goal: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convert measurement units using ratios and conversion factors.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CE6D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138428" y="1508760"/>
            <a:ext cx="512064" cy="512064"/>
          </a:xfrm>
          <a:prstGeom prst="ellipse">
            <a:avLst/>
          </a:prstGeom>
          <a:solidFill>
            <a:srgbClr val="B0883B"/>
          </a:solidFill>
          <a:ln/>
        </p:spPr>
      </p:sp>
      <p:sp>
        <p:nvSpPr>
          <p:cNvPr id="21" name="Text 19"/>
          <p:cNvSpPr/>
          <p:nvPr/>
        </p:nvSpPr>
        <p:spPr>
          <a:xfrm>
            <a:off x="113842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Not Yet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120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need more help. This does not make sense to me yet.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6032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87268" y="1508760"/>
            <a:ext cx="512064" cy="512064"/>
          </a:xfrm>
          <a:prstGeom prst="ellipse">
            <a:avLst/>
          </a:prstGeom>
          <a:solidFill>
            <a:srgbClr val="B0883B"/>
          </a:solidFill>
          <a:ln/>
        </p:spPr>
      </p:sp>
      <p:sp>
        <p:nvSpPr>
          <p:cNvPr id="27" name="Text 25"/>
          <p:cNvSpPr/>
          <p:nvPr/>
        </p:nvSpPr>
        <p:spPr>
          <a:xfrm>
            <a:off x="328726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60604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Getting There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67004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understand the idea but I make mistakes when I work.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0604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0916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DFF2E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36108" y="1508760"/>
            <a:ext cx="512064" cy="512064"/>
          </a:xfrm>
          <a:prstGeom prst="ellipse">
            <a:avLst/>
          </a:prstGeom>
          <a:solidFill>
            <a:srgbClr val="B0883B"/>
          </a:solidFill>
          <a:ln/>
        </p:spPr>
      </p:sp>
      <p:sp>
        <p:nvSpPr>
          <p:cNvPr id="33" name="Text 31"/>
          <p:cNvSpPr/>
          <p:nvPr/>
        </p:nvSpPr>
        <p:spPr>
          <a:xfrm>
            <a:off x="543610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75488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Got It!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1888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solve problems on my own and explain my thinking.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85800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EAF2F1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584948" y="1508760"/>
            <a:ext cx="512064" cy="512064"/>
          </a:xfrm>
          <a:prstGeom prst="ellipse">
            <a:avLst/>
          </a:prstGeom>
          <a:solidFill>
            <a:srgbClr val="B0883B"/>
          </a:solidFill>
          <a:ln/>
        </p:spPr>
      </p:sp>
      <p:sp>
        <p:nvSpPr>
          <p:cNvPr id="39" name="Text 37"/>
          <p:cNvSpPr/>
          <p:nvPr/>
        </p:nvSpPr>
        <p:spPr>
          <a:xfrm>
            <a:off x="758494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90372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Can Teach It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96772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clearly teach this strategy to a classmate.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0372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11480" y="397764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0080" y="397764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883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My next step:  </a:t>
            </a:r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 move up one level, I will ___.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Neft Teacher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4-6: Convert Measurement Units</dc:title>
  <dc:subject>6.RP.3d</dc:subject>
  <dc:creator>Neft Teacher</dc:creator>
  <cp:lastModifiedBy>Neft Teacher</cp:lastModifiedBy>
  <cp:revision>1</cp:revision>
  <dcterms:created xsi:type="dcterms:W3CDTF">2026-06-08T12:10:58Z</dcterms:created>
  <dcterms:modified xsi:type="dcterms:W3CDTF">2026-06-08T12:10:58Z</dcterms:modified>
</cp:coreProperties>
</file>