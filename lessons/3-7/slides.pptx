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 Step 2 compares numbers that are measured in different units. Convert first: 5 kilometers ≈ 0.6 × 5 = 3 miles. Comparing 3 miles with 5 miles shows that 5 miles is the longer distance.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3749040" cy="5143500"/>
          </a:xfrm>
          <a:prstGeom prst="rect">
            <a:avLst/>
          </a:prstGeom>
          <a:solidFill>
            <a:srgbClr val="17324D"/>
          </a:solidFill>
          <a:ln/>
        </p:spPr>
      </p:sp>
      <p:sp>
        <p:nvSpPr>
          <p:cNvPr id="3" name="Shape 1"/>
          <p:cNvSpPr/>
          <p:nvPr/>
        </p:nvSpPr>
        <p:spPr>
          <a:xfrm>
            <a:off x="2651760" y="-640080"/>
            <a:ext cx="2011680" cy="2011680"/>
          </a:xfrm>
          <a:prstGeom prst="ellipse">
            <a:avLst/>
          </a:prstGeom>
          <a:solidFill>
            <a:srgbClr val="C0654A">
              <a:alpha val="35000"/>
            </a:srgbClr>
          </a:solidFill>
          <a:ln/>
        </p:spPr>
      </p:sp>
      <p:sp>
        <p:nvSpPr>
          <p:cNvPr id="4" name="Text 2"/>
          <p:cNvSpPr/>
          <p:nvPr/>
        </p:nvSpPr>
        <p:spPr>
          <a:xfrm>
            <a:off x="411480" y="365760"/>
            <a:ext cx="3017520" cy="274320"/>
          </a:xfrm>
          <a:prstGeom prst="rect">
            <a:avLst/>
          </a:prstGeom>
          <a:noFill/>
          <a:ln/>
        </p:spPr>
        <p:txBody>
          <a:bodyPr wrap="square" rtlCol="0" anchor="ctr"/>
          <a:lstStyle/>
          <a:p>
            <a:pPr indent="0" marL="0">
              <a:buNone/>
            </a:pPr>
            <a:r>
              <a:rPr lang="en-US" sz="1100" b="1" spc="200" kern="0" dirty="0">
                <a:solidFill>
                  <a:srgbClr val="BFE6E2"/>
                </a:solidFill>
                <a:latin typeface="Outfit" pitchFamily="34" charset="0"/>
                <a:ea typeface="Outfit" pitchFamily="34" charset="-122"/>
                <a:cs typeface="Outfit" pitchFamily="34" charset="-120"/>
              </a:rPr>
              <a:t>NEFT TEACHER</a:t>
            </a:r>
            <a:endParaRPr lang="en-US" sz="1100" dirty="0"/>
          </a:p>
        </p:txBody>
      </p:sp>
      <p:sp>
        <p:nvSpPr>
          <p:cNvPr id="5" name="Text 3"/>
          <p:cNvSpPr/>
          <p:nvPr/>
        </p:nvSpPr>
        <p:spPr>
          <a:xfrm>
            <a:off x="411480" y="777240"/>
            <a:ext cx="1371600" cy="822960"/>
          </a:xfrm>
          <a:prstGeom prst="rect">
            <a:avLst/>
          </a:prstGeom>
          <a:noFill/>
          <a:ln/>
        </p:spPr>
        <p:txBody>
          <a:bodyPr wrap="square" rtlCol="0" anchor="ctr"/>
          <a:lstStyle/>
          <a:p>
            <a:pPr indent="0" marL="0">
              <a:buNone/>
            </a:pPr>
            <a:r>
              <a:rPr lang="en-US" sz="4400" dirty="0">
                <a:solidFill>
                  <a:srgbClr val="000000"/>
                </a:solidFill>
              </a:rPr>
              <a:t>👨‍🍳</a:t>
            </a:r>
            <a:endParaRPr lang="en-US" sz="4400" dirty="0"/>
          </a:p>
        </p:txBody>
      </p:sp>
      <p:sp>
        <p:nvSpPr>
          <p:cNvPr id="6" name="Text 4"/>
          <p:cNvSpPr/>
          <p:nvPr/>
        </p:nvSpPr>
        <p:spPr>
          <a:xfrm>
            <a:off x="411480" y="1783080"/>
            <a:ext cx="3017520" cy="1554480"/>
          </a:xfrm>
          <a:prstGeom prst="rect">
            <a:avLst/>
          </a:prstGeom>
          <a:noFill/>
          <a:ln/>
        </p:spPr>
        <p:txBody>
          <a:bodyPr wrap="square" rtlCol="0" anchor="t"/>
          <a:lstStyle/>
          <a:p>
            <a:pPr indent="0" marL="0">
              <a:lnSpc>
                <a:spcPct val="95000"/>
              </a:lnSpc>
              <a:buNone/>
            </a:pPr>
            <a:r>
              <a:rPr lang="en-US" sz="3000" b="1" dirty="0">
                <a:solidFill>
                  <a:srgbClr val="FFFFFF"/>
                </a:solidFill>
                <a:latin typeface="Outfit" pitchFamily="34" charset="0"/>
                <a:ea typeface="Outfit" pitchFamily="34" charset="-122"/>
                <a:cs typeface="Outfit" pitchFamily="34" charset="-120"/>
              </a:rPr>
              <a:t>Ratio Reasoning: Convert Measurements Between Systems</a:t>
            </a:r>
            <a:endParaRPr lang="en-US" sz="3000" dirty="0"/>
          </a:p>
        </p:txBody>
      </p:sp>
      <p:sp>
        <p:nvSpPr>
          <p:cNvPr id="7" name="Text 5"/>
          <p:cNvSpPr/>
          <p:nvPr/>
        </p:nvSpPr>
        <p:spPr>
          <a:xfrm>
            <a:off x="411480" y="4160520"/>
            <a:ext cx="1188720" cy="310896"/>
          </a:xfrm>
          <a:prstGeom prst="rect">
            <a:avLst>
              <a:gd name="adj" fmla="val 50000"/>
            </a:avLst>
          </a:prstGeom>
          <a:solidFill>
            <a:srgbClr val="C0654A"/>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6.AT.3c</a:t>
            </a:r>
            <a:endParaRPr lang="en-US" sz="1000" dirty="0"/>
          </a:p>
        </p:txBody>
      </p:sp>
      <p:sp>
        <p:nvSpPr>
          <p:cNvPr id="8" name="Text 6"/>
          <p:cNvSpPr/>
          <p:nvPr/>
        </p:nvSpPr>
        <p:spPr>
          <a:xfrm>
            <a:off x="1691640" y="4160520"/>
            <a:ext cx="1920240" cy="310896"/>
          </a:xfrm>
          <a:prstGeom prst="rect">
            <a:avLst/>
          </a:prstGeom>
          <a:noFill/>
          <a:ln/>
        </p:spPr>
        <p:txBody>
          <a:bodyPr wrap="square" rtlCol="0" anchor="ctr"/>
          <a:lstStyle/>
          <a:p>
            <a:pPr indent="0" marL="0">
              <a:buNone/>
            </a:pPr>
            <a:r>
              <a:rPr lang="en-US" sz="1000" dirty="0">
                <a:solidFill>
                  <a:srgbClr val="BFE6E2"/>
                </a:solidFill>
                <a:latin typeface="Hanken Grotesk" pitchFamily="34" charset="0"/>
                <a:ea typeface="Hanken Grotesk" pitchFamily="34" charset="-122"/>
                <a:cs typeface="Hanken Grotesk" pitchFamily="34" charset="-120"/>
              </a:rPr>
              <a:t>Unit 3  ·  Lesson 3-7</a:t>
            </a:r>
            <a:endParaRPr lang="en-US" sz="1000" dirty="0"/>
          </a:p>
        </p:txBody>
      </p:sp>
      <p:sp>
        <p:nvSpPr>
          <p:cNvPr id="9" name="Shape 7"/>
          <p:cNvSpPr/>
          <p:nvPr/>
        </p:nvSpPr>
        <p:spPr>
          <a:xfrm>
            <a:off x="4023360" y="411480"/>
            <a:ext cx="4800600" cy="1417320"/>
          </a:xfrm>
          <a:prstGeom prst="roundRect">
            <a:avLst>
              <a:gd name="adj" fmla="val 516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0" name="Text 8"/>
          <p:cNvSpPr/>
          <p:nvPr/>
        </p:nvSpPr>
        <p:spPr>
          <a:xfrm>
            <a:off x="4251960" y="548640"/>
            <a:ext cx="4389120" cy="365760"/>
          </a:xfrm>
          <a:prstGeom prst="rect">
            <a:avLst/>
          </a:prstGeom>
          <a:noFill/>
          <a:ln/>
        </p:spPr>
        <p:txBody>
          <a:bodyPr wrap="square" rtlCol="0" anchor="ctr"/>
          <a:lstStyle/>
          <a:p>
            <a:pPr indent="0" marL="0">
              <a:buNone/>
            </a:pPr>
            <a:r>
              <a:rPr lang="en-US" sz="1600" b="1" dirty="0">
                <a:solidFill>
                  <a:srgbClr val="17324D"/>
                </a:solidFill>
                <a:latin typeface="Outfit" pitchFamily="34" charset="0"/>
                <a:ea typeface="Outfit" pitchFamily="34" charset="-122"/>
                <a:cs typeface="Outfit" pitchFamily="34" charset="-120"/>
              </a:rPr>
              <a:t>My Math Notebook</a:t>
            </a:r>
            <a:endParaRPr lang="en-US" sz="1600" dirty="0"/>
          </a:p>
        </p:txBody>
      </p:sp>
      <p:sp>
        <p:nvSpPr>
          <p:cNvPr id="11" name="Text 9"/>
          <p:cNvSpPr/>
          <p:nvPr/>
        </p:nvSpPr>
        <p:spPr>
          <a:xfrm>
            <a:off x="4251960" y="1024128"/>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Name:</a:t>
            </a:r>
            <a:endParaRPr lang="en-US" sz="1000" dirty="0"/>
          </a:p>
        </p:txBody>
      </p:sp>
      <p:sp>
        <p:nvSpPr>
          <p:cNvPr id="12" name="Shape 10"/>
          <p:cNvSpPr/>
          <p:nvPr/>
        </p:nvSpPr>
        <p:spPr>
          <a:xfrm>
            <a:off x="4983480" y="1207008"/>
            <a:ext cx="3566160" cy="0"/>
          </a:xfrm>
          <a:prstGeom prst="line">
            <a:avLst/>
          </a:prstGeom>
          <a:noFill/>
          <a:ln w="9525">
            <a:solidFill>
              <a:srgbClr val="C7CDD2"/>
            </a:solidFill>
            <a:prstDash val="solid"/>
          </a:ln>
        </p:spPr>
      </p:sp>
      <p:sp>
        <p:nvSpPr>
          <p:cNvPr id="13" name="Text 11"/>
          <p:cNvSpPr/>
          <p:nvPr/>
        </p:nvSpPr>
        <p:spPr>
          <a:xfrm>
            <a:off x="4251960" y="1280160"/>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Date:</a:t>
            </a:r>
            <a:endParaRPr lang="en-US" sz="1000" dirty="0"/>
          </a:p>
        </p:txBody>
      </p:sp>
      <p:sp>
        <p:nvSpPr>
          <p:cNvPr id="14" name="Shape 12"/>
          <p:cNvSpPr/>
          <p:nvPr/>
        </p:nvSpPr>
        <p:spPr>
          <a:xfrm>
            <a:off x="4983480" y="1463040"/>
            <a:ext cx="3566160" cy="0"/>
          </a:xfrm>
          <a:prstGeom prst="line">
            <a:avLst/>
          </a:prstGeom>
          <a:noFill/>
          <a:ln w="9525">
            <a:solidFill>
              <a:srgbClr val="C7CDD2"/>
            </a:solidFill>
            <a:prstDash val="solid"/>
          </a:ln>
        </p:spPr>
      </p:sp>
      <p:sp>
        <p:nvSpPr>
          <p:cNvPr id="15" name="Text 13"/>
          <p:cNvSpPr/>
          <p:nvPr/>
        </p:nvSpPr>
        <p:spPr>
          <a:xfrm>
            <a:off x="4251960" y="1536192"/>
            <a:ext cx="731520" cy="219456"/>
          </a:xfrm>
          <a:prstGeom prst="rect">
            <a:avLst/>
          </a:prstGeom>
          <a:noFill/>
          <a:ln/>
        </p:spPr>
        <p:txBody>
          <a:bodyPr wrap="square" rtlCol="0" anchor="ctr"/>
          <a:lstStyle/>
          <a:p>
            <a:pPr indent="0" marL="0">
              <a:buNone/>
            </a:pPr>
            <a:r>
              <a:rPr lang="en-US" sz="1000" b="1" dirty="0">
                <a:solidFill>
                  <a:srgbClr val="24323F"/>
                </a:solidFill>
                <a:latin typeface="Hanken Grotesk" pitchFamily="34" charset="0"/>
                <a:ea typeface="Hanken Grotesk" pitchFamily="34" charset="-122"/>
                <a:cs typeface="Hanken Grotesk" pitchFamily="34" charset="-120"/>
              </a:rPr>
              <a:t>Period:</a:t>
            </a:r>
            <a:endParaRPr lang="en-US" sz="1000" dirty="0"/>
          </a:p>
        </p:txBody>
      </p:sp>
      <p:sp>
        <p:nvSpPr>
          <p:cNvPr id="16" name="Shape 14"/>
          <p:cNvSpPr/>
          <p:nvPr/>
        </p:nvSpPr>
        <p:spPr>
          <a:xfrm>
            <a:off x="4983480" y="1719072"/>
            <a:ext cx="3566160" cy="0"/>
          </a:xfrm>
          <a:prstGeom prst="line">
            <a:avLst/>
          </a:prstGeom>
          <a:noFill/>
          <a:ln w="9525">
            <a:solidFill>
              <a:srgbClr val="C7CDD2"/>
            </a:solidFill>
            <a:prstDash val="solid"/>
          </a:ln>
        </p:spPr>
      </p:sp>
      <p:sp>
        <p:nvSpPr>
          <p:cNvPr id="17" name="Shape 15"/>
          <p:cNvSpPr/>
          <p:nvPr/>
        </p:nvSpPr>
        <p:spPr>
          <a:xfrm>
            <a:off x="4023360" y="2011680"/>
            <a:ext cx="4800600" cy="1143000"/>
          </a:xfrm>
          <a:prstGeom prst="roundRect">
            <a:avLst>
              <a:gd name="adj" fmla="val 6400"/>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206240" y="2103120"/>
            <a:ext cx="4434840" cy="274320"/>
          </a:xfrm>
          <a:prstGeom prst="rect">
            <a:avLst/>
          </a:prstGeom>
          <a:noFill/>
          <a:ln/>
        </p:spPr>
        <p:txBody>
          <a:bodyPr wrap="square" rtlCol="0" anchor="ctr"/>
          <a:lstStyle/>
          <a:p>
            <a:pPr indent="0" marL="0">
              <a:buNone/>
            </a:pPr>
            <a:r>
              <a:rPr lang="en-US" sz="1100" b="1" dirty="0">
                <a:solidFill>
                  <a:srgbClr val="C0654A"/>
                </a:solidFill>
                <a:latin typeface="Outfit" pitchFamily="34" charset="0"/>
                <a:ea typeface="Outfit" pitchFamily="34" charset="-122"/>
                <a:cs typeface="Outfit" pitchFamily="34" charset="-120"/>
              </a:rPr>
              <a:t>I CAN…  </a:t>
            </a:r>
            <a:pPr indent="0" marL="0">
              <a:buNone/>
            </a:pPr>
            <a:r>
              <a:rPr lang="en-US" sz="900" i="1" dirty="0">
                <a:solidFill>
                  <a:srgbClr val="8A96A3"/>
                </a:solidFill>
                <a:latin typeface="Outfit" pitchFamily="34" charset="0"/>
                <a:ea typeface="Outfit" pitchFamily="34" charset="-122"/>
                <a:cs typeface="Outfit" pitchFamily="34" charset="-120"/>
              </a:rPr>
              <a:t>/ Yo puedo…</a:t>
            </a:r>
            <a:endParaRPr lang="en-US" sz="1100" dirty="0"/>
          </a:p>
        </p:txBody>
      </p:sp>
      <p:sp>
        <p:nvSpPr>
          <p:cNvPr id="19" name="Text 17"/>
          <p:cNvSpPr/>
          <p:nvPr/>
        </p:nvSpPr>
        <p:spPr>
          <a:xfrm>
            <a:off x="4206240" y="2395728"/>
            <a:ext cx="4434840" cy="713232"/>
          </a:xfrm>
          <a:prstGeom prst="rect">
            <a:avLst/>
          </a:prstGeom>
          <a:noFill/>
          <a:ln/>
        </p:spPr>
        <p:txBody>
          <a:bodyPr wrap="square" rtlCol="0" anchor="t"/>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I can use ratio reasoning to convert measurements between the customary and metric systems.</a:t>
            </a:r>
            <a:endParaRPr lang="en-US" sz="1100" dirty="0"/>
          </a:p>
        </p:txBody>
      </p:sp>
      <p:sp>
        <p:nvSpPr>
          <p:cNvPr id="20" name="Shape 18"/>
          <p:cNvSpPr/>
          <p:nvPr/>
        </p:nvSpPr>
        <p:spPr>
          <a:xfrm>
            <a:off x="4023360" y="3291840"/>
            <a:ext cx="4800600" cy="1280160"/>
          </a:xfrm>
          <a:prstGeom prst="roundRect">
            <a:avLst>
              <a:gd name="adj" fmla="val 5714"/>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1" name="Text 19"/>
          <p:cNvSpPr/>
          <p:nvPr/>
        </p:nvSpPr>
        <p:spPr>
          <a:xfrm>
            <a:off x="4206240" y="3383280"/>
            <a:ext cx="4434840" cy="274320"/>
          </a:xfrm>
          <a:prstGeom prst="rect">
            <a:avLst/>
          </a:prstGeom>
          <a:noFill/>
          <a:ln/>
        </p:spPr>
        <p:txBody>
          <a:bodyPr wrap="square" rtlCol="0" anchor="ctr"/>
          <a:lstStyle/>
          <a:p>
            <a:pPr indent="0" marL="0">
              <a:buNone/>
            </a:pPr>
            <a:r>
              <a:rPr lang="en-US" sz="1100" b="1" dirty="0">
                <a:solidFill>
                  <a:srgbClr val="C0654A"/>
                </a:solidFill>
                <a:latin typeface="Outfit" pitchFamily="34" charset="0"/>
                <a:ea typeface="Outfit" pitchFamily="34" charset="-122"/>
                <a:cs typeface="Outfit" pitchFamily="34" charset="-120"/>
              </a:rPr>
              <a:t>I WILL EXPLAIN…  </a:t>
            </a:r>
            <a:pPr indent="0" marL="0">
              <a:buNone/>
            </a:pPr>
            <a:r>
              <a:rPr lang="en-US" sz="900" i="1" dirty="0">
                <a:solidFill>
                  <a:srgbClr val="8A96A3"/>
                </a:solidFill>
                <a:latin typeface="Outfit" pitchFamily="34" charset="0"/>
                <a:ea typeface="Outfit" pitchFamily="34" charset="-122"/>
                <a:cs typeface="Outfit" pitchFamily="34" charset="-120"/>
              </a:rPr>
              <a:t>/ Objetivo de lenguaje</a:t>
            </a:r>
            <a:endParaRPr lang="en-US" sz="1100" dirty="0"/>
          </a:p>
        </p:txBody>
      </p:sp>
      <p:sp>
        <p:nvSpPr>
          <p:cNvPr id="22" name="Text 20"/>
          <p:cNvSpPr/>
          <p:nvPr/>
        </p:nvSpPr>
        <p:spPr>
          <a:xfrm>
            <a:off x="4206240" y="3675888"/>
            <a:ext cx="4434840" cy="841248"/>
          </a:xfrm>
          <a:prstGeom prst="rect">
            <a:avLst/>
          </a:prstGeom>
          <a:noFill/>
          <a:ln/>
        </p:spPr>
        <p:txBody>
          <a:bodyPr wrap="square" rtlCol="0" anchor="t"/>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can explain a conversion between systems using the words conversion factor, approximately, customary, and metric.</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Learning Objectives / Objetivos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2</a:t>
            </a:r>
            <a:endParaRPr lang="en-US" sz="800" dirty="0"/>
          </a:p>
        </p:txBody>
      </p:sp>
      <p:sp>
        <p:nvSpPr>
          <p:cNvPr id="17" name="Text 15"/>
          <p:cNvSpPr/>
          <p:nvPr/>
        </p:nvSpPr>
        <p:spPr>
          <a:xfrm>
            <a:off x="411480" y="603504"/>
            <a:ext cx="8412480" cy="274320"/>
          </a:xfrm>
          <a:prstGeom prst="rect">
            <a:avLst/>
          </a:prstGeom>
          <a:noFill/>
          <a:ln/>
        </p:spPr>
        <p:txBody>
          <a:bodyPr wrap="square" rtlCol="0" anchor="ctr"/>
          <a:lstStyle/>
          <a:p>
            <a:pPr indent="0" marL="0">
              <a:buNone/>
            </a:pPr>
            <a:r>
              <a:rPr lang="en-US" sz="1100" i="1" dirty="0">
                <a:solidFill>
                  <a:srgbClr val="8A96A3"/>
                </a:solidFill>
                <a:latin typeface="Hanken Grotesk" pitchFamily="34" charset="0"/>
                <a:ea typeface="Hanken Grotesk" pitchFamily="34" charset="-122"/>
                <a:cs typeface="Hanken Grotesk" pitchFamily="34" charset="-120"/>
              </a:rPr>
              <a:t>Today's goals — what I will know and be able to say:</a:t>
            </a:r>
            <a:endParaRPr lang="en-US" sz="1100" dirty="0"/>
          </a:p>
        </p:txBody>
      </p:sp>
      <p:sp>
        <p:nvSpPr>
          <p:cNvPr id="18" name="Shape 16"/>
          <p:cNvSpPr/>
          <p:nvPr/>
        </p:nvSpPr>
        <p:spPr>
          <a:xfrm>
            <a:off x="411480" y="1005840"/>
            <a:ext cx="8412480" cy="1600200"/>
          </a:xfrm>
          <a:prstGeom prst="roundRect">
            <a:avLst>
              <a:gd name="adj" fmla="val 4571"/>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94360" y="1170432"/>
            <a:ext cx="1920240" cy="310896"/>
          </a:xfrm>
          <a:prstGeom prst="rect">
            <a:avLst>
              <a:gd name="adj" fmla="val 50000"/>
            </a:avLst>
          </a:prstGeom>
          <a:solidFill>
            <a:srgbClr val="C0654A"/>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CONTENT OBJECTIVE</a:t>
            </a:r>
            <a:endParaRPr lang="en-US" sz="1000" dirty="0"/>
          </a:p>
        </p:txBody>
      </p:sp>
      <p:sp>
        <p:nvSpPr>
          <p:cNvPr id="20" name="Text 18"/>
          <p:cNvSpPr/>
          <p:nvPr/>
        </p:nvSpPr>
        <p:spPr>
          <a:xfrm>
            <a:off x="2651760" y="1170432"/>
            <a:ext cx="6035040" cy="310896"/>
          </a:xfrm>
          <a:prstGeom prst="rect">
            <a:avLst/>
          </a:prstGeom>
          <a:noFill/>
          <a:ln/>
        </p:spPr>
        <p:txBody>
          <a:bodyPr wrap="square" rtlCol="0" anchor="ctr"/>
          <a:lstStyle/>
          <a:p>
            <a:pPr indent="0" marL="0">
              <a:buNone/>
            </a:pPr>
            <a:r>
              <a:rPr lang="en-US" sz="1300" b="1" dirty="0">
                <a:solidFill>
                  <a:srgbClr val="C0654A"/>
                </a:solidFill>
                <a:latin typeface="Outfit" pitchFamily="34" charset="0"/>
                <a:ea typeface="Outfit" pitchFamily="34" charset="-122"/>
                <a:cs typeface="Outfit" pitchFamily="34" charset="-120"/>
              </a:rPr>
              <a:t>I can…  </a:t>
            </a:r>
            <a:pPr indent="0" marL="0">
              <a:buNone/>
            </a:pPr>
            <a:r>
              <a:rPr lang="en-US" sz="1100" i="1" dirty="0">
                <a:solidFill>
                  <a:srgbClr val="8A96A3"/>
                </a:solidFill>
                <a:latin typeface="Outfit" pitchFamily="34" charset="0"/>
                <a:ea typeface="Outfit" pitchFamily="34" charset="-122"/>
                <a:cs typeface="Outfit" pitchFamily="34" charset="-120"/>
              </a:rPr>
              <a:t>Yo puedo…</a:t>
            </a:r>
            <a:endParaRPr lang="en-US" sz="1300" dirty="0"/>
          </a:p>
        </p:txBody>
      </p:sp>
      <p:sp>
        <p:nvSpPr>
          <p:cNvPr id="21" name="Text 19"/>
          <p:cNvSpPr/>
          <p:nvPr/>
        </p:nvSpPr>
        <p:spPr>
          <a:xfrm>
            <a:off x="640080" y="1572768"/>
            <a:ext cx="7955280" cy="914400"/>
          </a:xfrm>
          <a:prstGeom prst="rect">
            <a:avLst/>
          </a:prstGeom>
          <a:noFill/>
          <a:ln/>
        </p:spPr>
        <p:txBody>
          <a:bodyPr wrap="square" rtlCol="0" anchor="t"/>
          <a:lstStyle/>
          <a:p>
            <a:pPr indent="0" marL="0">
              <a:lnSpc>
                <a:spcPct val="105000"/>
              </a:lnSpc>
              <a:buNone/>
            </a:pPr>
            <a:r>
              <a:rPr lang="en-US" sz="1800" dirty="0">
                <a:solidFill>
                  <a:srgbClr val="17324D"/>
                </a:solidFill>
                <a:latin typeface="Hanken Grotesk" pitchFamily="34" charset="0"/>
                <a:ea typeface="Hanken Grotesk" pitchFamily="34" charset="-122"/>
                <a:cs typeface="Hanken Grotesk" pitchFamily="34" charset="-120"/>
              </a:rPr>
              <a:t>I can use ratio reasoning to convert measurements between the customary and metric systems.</a:t>
            </a:r>
            <a:endParaRPr lang="en-US" sz="1800" dirty="0"/>
          </a:p>
        </p:txBody>
      </p:sp>
      <p:sp>
        <p:nvSpPr>
          <p:cNvPr id="22" name="Shape 20"/>
          <p:cNvSpPr/>
          <p:nvPr/>
        </p:nvSpPr>
        <p:spPr>
          <a:xfrm>
            <a:off x="411480" y="2788920"/>
            <a:ext cx="8412480" cy="1600200"/>
          </a:xfrm>
          <a:prstGeom prst="roundRect">
            <a:avLst>
              <a:gd name="adj" fmla="val 4571"/>
            </a:avLst>
          </a:prstGeom>
          <a:solidFill>
            <a:srgbClr val="FBEFD0"/>
          </a:solidFill>
          <a:ln w="12700">
            <a:solidFill>
              <a:srgbClr val="F2C15B"/>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594360" y="2953512"/>
            <a:ext cx="1920240" cy="310896"/>
          </a:xfrm>
          <a:prstGeom prst="rect">
            <a:avLst>
              <a:gd name="adj" fmla="val 50000"/>
            </a:avLst>
          </a:prstGeom>
          <a:solidFill>
            <a:srgbClr val="C0654A"/>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LANGUAGE OBJECTIVE</a:t>
            </a:r>
            <a:endParaRPr lang="en-US" sz="1000" dirty="0"/>
          </a:p>
        </p:txBody>
      </p:sp>
      <p:sp>
        <p:nvSpPr>
          <p:cNvPr id="24" name="Text 22"/>
          <p:cNvSpPr/>
          <p:nvPr/>
        </p:nvSpPr>
        <p:spPr>
          <a:xfrm>
            <a:off x="2651760" y="2953512"/>
            <a:ext cx="6035040" cy="310896"/>
          </a:xfrm>
          <a:prstGeom prst="rect">
            <a:avLst/>
          </a:prstGeom>
          <a:noFill/>
          <a:ln/>
        </p:spPr>
        <p:txBody>
          <a:bodyPr wrap="square" rtlCol="0" anchor="ctr"/>
          <a:lstStyle/>
          <a:p>
            <a:pPr indent="0" marL="0">
              <a:buNone/>
            </a:pPr>
            <a:r>
              <a:rPr lang="en-US" sz="1300" b="1" dirty="0">
                <a:solidFill>
                  <a:srgbClr val="C0654A"/>
                </a:solidFill>
                <a:latin typeface="Outfit" pitchFamily="34" charset="0"/>
                <a:ea typeface="Outfit" pitchFamily="34" charset="-122"/>
                <a:cs typeface="Outfit" pitchFamily="34" charset="-120"/>
              </a:rPr>
              <a:t>I can explain…  </a:t>
            </a:r>
            <a:pPr indent="0" marL="0">
              <a:buNone/>
            </a:pPr>
            <a:r>
              <a:rPr lang="en-US" sz="1100" i="1" dirty="0">
                <a:solidFill>
                  <a:srgbClr val="8A96A3"/>
                </a:solidFill>
                <a:latin typeface="Outfit" pitchFamily="34" charset="0"/>
                <a:ea typeface="Outfit" pitchFamily="34" charset="-122"/>
                <a:cs typeface="Outfit" pitchFamily="34" charset="-120"/>
              </a:rPr>
              <a:t>Puedo explicar…</a:t>
            </a:r>
            <a:endParaRPr lang="en-US" sz="1300" dirty="0"/>
          </a:p>
        </p:txBody>
      </p:sp>
      <p:sp>
        <p:nvSpPr>
          <p:cNvPr id="25" name="Text 23"/>
          <p:cNvSpPr/>
          <p:nvPr/>
        </p:nvSpPr>
        <p:spPr>
          <a:xfrm>
            <a:off x="640080" y="3355848"/>
            <a:ext cx="7955280" cy="914400"/>
          </a:xfrm>
          <a:prstGeom prst="rect">
            <a:avLst/>
          </a:prstGeom>
          <a:noFill/>
          <a:ln/>
        </p:spPr>
        <p:txBody>
          <a:bodyPr wrap="square" rtlCol="0" anchor="t"/>
          <a:lstStyle/>
          <a:p>
            <a:pPr indent="0" marL="0">
              <a:lnSpc>
                <a:spcPct val="105000"/>
              </a:lnSpc>
              <a:buNone/>
            </a:pPr>
            <a:r>
              <a:rPr lang="en-US" sz="1700" dirty="0">
                <a:solidFill>
                  <a:srgbClr val="17324D"/>
                </a:solidFill>
                <a:latin typeface="Hanken Grotesk" pitchFamily="34" charset="0"/>
                <a:ea typeface="Hanken Grotesk" pitchFamily="34" charset="-122"/>
                <a:cs typeface="Hanken Grotesk" pitchFamily="34" charset="-120"/>
              </a:rPr>
              <a:t>I can explain a conversion between systems using the words conversion factor, approximately, customary, and metric.</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Turn &amp; Talk · Launch / Comenta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3</a:t>
            </a:r>
            <a:endParaRPr lang="en-US" sz="800" dirty="0"/>
          </a:p>
        </p:txBody>
      </p:sp>
      <p:sp>
        <p:nvSpPr>
          <p:cNvPr id="17" name="Shape 15"/>
          <p:cNvSpPr/>
          <p:nvPr/>
        </p:nvSpPr>
        <p:spPr>
          <a:xfrm>
            <a:off x="411480" y="685800"/>
            <a:ext cx="557784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68680"/>
            <a:ext cx="2194560" cy="310896"/>
          </a:xfrm>
          <a:prstGeom prst="rect">
            <a:avLst>
              <a:gd name="adj" fmla="val 50000"/>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 LAUNCH DISCUSSION</a:t>
            </a:r>
            <a:endParaRPr lang="en-US" sz="950" dirty="0"/>
          </a:p>
        </p:txBody>
      </p:sp>
      <p:sp>
        <p:nvSpPr>
          <p:cNvPr id="19" name="Text 17"/>
          <p:cNvSpPr/>
          <p:nvPr/>
        </p:nvSpPr>
        <p:spPr>
          <a:xfrm>
            <a:off x="594360" y="1280160"/>
            <a:ext cx="5212080" cy="27432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Talk with your partner. Use full sentences and math words.</a:t>
            </a:r>
            <a:endParaRPr lang="en-US" sz="950" dirty="0"/>
          </a:p>
        </p:txBody>
      </p:sp>
      <p:sp>
        <p:nvSpPr>
          <p:cNvPr id="20" name="Text 18"/>
          <p:cNvSpPr/>
          <p:nvPr/>
        </p:nvSpPr>
        <p:spPr>
          <a:xfrm>
            <a:off x="594360" y="1627632"/>
            <a:ext cx="5212080" cy="1828800"/>
          </a:xfrm>
          <a:prstGeom prst="rect">
            <a:avLst/>
          </a:prstGeom>
          <a:noFill/>
          <a:ln/>
        </p:spPr>
        <p:txBody>
          <a:bodyPr wrap="square" rtlCol="0" anchor="t"/>
          <a:lstStyle/>
          <a:p>
            <a:pPr indent="0" marL="0">
              <a:lnSpc>
                <a:spcPct val="108000"/>
              </a:lnSpc>
              <a:buNone/>
            </a:pPr>
            <a:r>
              <a:rPr lang="en-US" sz="1400" dirty="0">
                <a:solidFill>
                  <a:srgbClr val="17324D"/>
                </a:solidFill>
                <a:latin typeface="Hanken Grotesk" pitchFamily="34" charset="0"/>
                <a:ea typeface="Hanken Grotesk" pitchFamily="34" charset="-122"/>
                <a:cs typeface="Hanken Grotesk" pitchFamily="34" charset="-120"/>
              </a:rPr>
              <a:t>A 5-kilometer race and a 5-mile race have the same number — 5. Before converting anything: which race is longer, and how do you know?</a:t>
            </a:r>
            <a:endParaRPr lang="en-US" sz="1400" dirty="0"/>
          </a:p>
        </p:txBody>
      </p:sp>
      <p:sp>
        <p:nvSpPr>
          <p:cNvPr id="21" name="Text 19"/>
          <p:cNvSpPr/>
          <p:nvPr/>
        </p:nvSpPr>
        <p:spPr>
          <a:xfrm>
            <a:off x="594360" y="3703320"/>
            <a:ext cx="521208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partner talk here:</a:t>
            </a:r>
            <a:endParaRPr lang="en-US" sz="900" dirty="0"/>
          </a:p>
        </p:txBody>
      </p:sp>
      <p:sp>
        <p:nvSpPr>
          <p:cNvPr id="22" name="Shape 20"/>
          <p:cNvSpPr/>
          <p:nvPr/>
        </p:nvSpPr>
        <p:spPr>
          <a:xfrm>
            <a:off x="594360" y="4114800"/>
            <a:ext cx="5212080" cy="0"/>
          </a:xfrm>
          <a:prstGeom prst="line">
            <a:avLst/>
          </a:prstGeom>
          <a:noFill/>
          <a:ln w="9525">
            <a:solidFill>
              <a:srgbClr val="C7CDD2"/>
            </a:solidFill>
            <a:prstDash val="dash"/>
          </a:ln>
        </p:spPr>
      </p:sp>
      <p:sp>
        <p:nvSpPr>
          <p:cNvPr id="23" name="Shape 21"/>
          <p:cNvSpPr/>
          <p:nvPr/>
        </p:nvSpPr>
        <p:spPr>
          <a:xfrm>
            <a:off x="594360" y="4407408"/>
            <a:ext cx="5212080" cy="0"/>
          </a:xfrm>
          <a:prstGeom prst="line">
            <a:avLst/>
          </a:prstGeom>
          <a:noFill/>
          <a:ln w="9525">
            <a:solidFill>
              <a:srgbClr val="C7CDD2"/>
            </a:solidFill>
            <a:prstDash val="dash"/>
          </a:ln>
        </p:spPr>
      </p:sp>
      <p:sp>
        <p:nvSpPr>
          <p:cNvPr id="24" name="Shape 22"/>
          <p:cNvSpPr/>
          <p:nvPr/>
        </p:nvSpPr>
        <p:spPr>
          <a:xfrm>
            <a:off x="6080760" y="685800"/>
            <a:ext cx="2697480" cy="4023360"/>
          </a:xfrm>
          <a:prstGeom prst="roundRect">
            <a:avLst>
              <a:gd name="adj" fmla="val 2712"/>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6080760" y="685800"/>
            <a:ext cx="269748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Sentence starters</a:t>
            </a:r>
            <a:endParaRPr lang="en-US" sz="1000" dirty="0"/>
          </a:p>
        </p:txBody>
      </p:sp>
      <p:sp>
        <p:nvSpPr>
          <p:cNvPr id="26" name="Text 24"/>
          <p:cNvSpPr/>
          <p:nvPr/>
        </p:nvSpPr>
        <p:spPr>
          <a:xfrm>
            <a:off x="6263640" y="1051560"/>
            <a:ext cx="2377440" cy="1280160"/>
          </a:xfrm>
          <a:prstGeom prst="rect">
            <a:avLst/>
          </a:prstGeom>
          <a:noFill/>
          <a:ln/>
        </p:spPr>
        <p:txBody>
          <a:bodyPr wrap="square" rtlCol="0" anchor="t"/>
          <a:lstStyle/>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think ___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agree/disagree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My evidence is ___.</a:t>
            </a:r>
            <a:endParaRPr lang="en-US" sz="1000" dirty="0"/>
          </a:p>
        </p:txBody>
      </p:sp>
      <p:sp>
        <p:nvSpPr>
          <p:cNvPr id="27" name="Text 25"/>
          <p:cNvSpPr/>
          <p:nvPr/>
        </p:nvSpPr>
        <p:spPr>
          <a:xfrm>
            <a:off x="6080760" y="2423160"/>
            <a:ext cx="269748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Word bank</a:t>
            </a:r>
            <a:endParaRPr lang="en-US" sz="1000" dirty="0"/>
          </a:p>
        </p:txBody>
      </p:sp>
      <p:sp>
        <p:nvSpPr>
          <p:cNvPr id="28" name="Text 26"/>
          <p:cNvSpPr/>
          <p:nvPr/>
        </p:nvSpPr>
        <p:spPr>
          <a:xfrm>
            <a:off x="62636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kilometer</a:t>
            </a:r>
            <a:endParaRPr lang="en-US" sz="900" dirty="0"/>
          </a:p>
        </p:txBody>
      </p:sp>
      <p:sp>
        <p:nvSpPr>
          <p:cNvPr id="29" name="Text 27"/>
          <p:cNvSpPr/>
          <p:nvPr/>
        </p:nvSpPr>
        <p:spPr>
          <a:xfrm>
            <a:off x="75209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mile</a:t>
            </a:r>
            <a:endParaRPr lang="en-US" sz="900" dirty="0"/>
          </a:p>
        </p:txBody>
      </p:sp>
      <p:sp>
        <p:nvSpPr>
          <p:cNvPr id="30" name="Text 28"/>
          <p:cNvSpPr/>
          <p:nvPr/>
        </p:nvSpPr>
        <p:spPr>
          <a:xfrm>
            <a:off x="62636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unit</a:t>
            </a:r>
            <a:endParaRPr lang="en-US" sz="900" dirty="0"/>
          </a:p>
        </p:txBody>
      </p:sp>
      <p:sp>
        <p:nvSpPr>
          <p:cNvPr id="31" name="Text 29"/>
          <p:cNvSpPr/>
          <p:nvPr/>
        </p:nvSpPr>
        <p:spPr>
          <a:xfrm>
            <a:off x="75209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convert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Turn &amp; Talk · Explore / Comenta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4</a:t>
            </a:r>
            <a:endParaRPr lang="en-US" sz="800" dirty="0"/>
          </a:p>
        </p:txBody>
      </p:sp>
      <p:sp>
        <p:nvSpPr>
          <p:cNvPr id="17" name="Shape 15"/>
          <p:cNvSpPr/>
          <p:nvPr/>
        </p:nvSpPr>
        <p:spPr>
          <a:xfrm>
            <a:off x="411480" y="685800"/>
            <a:ext cx="557784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68680"/>
            <a:ext cx="2194560" cy="310896"/>
          </a:xfrm>
          <a:prstGeom prst="rect">
            <a:avLst>
              <a:gd name="adj" fmla="val 50000"/>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 EXPLORE DISCUSSION</a:t>
            </a:r>
            <a:endParaRPr lang="en-US" sz="950" dirty="0"/>
          </a:p>
        </p:txBody>
      </p:sp>
      <p:sp>
        <p:nvSpPr>
          <p:cNvPr id="19" name="Text 17"/>
          <p:cNvSpPr/>
          <p:nvPr/>
        </p:nvSpPr>
        <p:spPr>
          <a:xfrm>
            <a:off x="594360" y="1280160"/>
            <a:ext cx="5212080" cy="27432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Talk with your partner. Use full sentences and math words.</a:t>
            </a:r>
            <a:endParaRPr lang="en-US" sz="950" dirty="0"/>
          </a:p>
        </p:txBody>
      </p:sp>
      <p:sp>
        <p:nvSpPr>
          <p:cNvPr id="20" name="Text 18"/>
          <p:cNvSpPr/>
          <p:nvPr/>
        </p:nvSpPr>
        <p:spPr>
          <a:xfrm>
            <a:off x="594360" y="1627632"/>
            <a:ext cx="5212080" cy="1828800"/>
          </a:xfrm>
          <a:prstGeom prst="rect">
            <a:avLst/>
          </a:prstGeom>
          <a:noFill/>
          <a:ln/>
        </p:spPr>
        <p:txBody>
          <a:bodyPr wrap="square" rtlCol="0" anchor="t"/>
          <a:lstStyle/>
          <a:p>
            <a:pPr indent="0" marL="0">
              <a:lnSpc>
                <a:spcPct val="108000"/>
              </a:lnSpc>
              <a:buNone/>
            </a:pPr>
            <a:r>
              <a:rPr lang="en-US" sz="1400" dirty="0">
                <a:solidFill>
                  <a:srgbClr val="17324D"/>
                </a:solidFill>
                <a:latin typeface="Hanken Grotesk" pitchFamily="34" charset="0"/>
                <a:ea typeface="Hanken Grotesk" pitchFamily="34" charset="-122"/>
                <a:cs typeface="Hanken Grotesk" pitchFamily="34" charset="-120"/>
              </a:rPr>
              <a:t>To convert between systems you used a conversion factor like 1 km ≈ 0.6 mi as a RATIO. How does writing it as the ratio 1 : 0.6 let a table do the converting for you?</a:t>
            </a:r>
            <a:endParaRPr lang="en-US" sz="1400" dirty="0"/>
          </a:p>
        </p:txBody>
      </p:sp>
      <p:sp>
        <p:nvSpPr>
          <p:cNvPr id="21" name="Text 19"/>
          <p:cNvSpPr/>
          <p:nvPr/>
        </p:nvSpPr>
        <p:spPr>
          <a:xfrm>
            <a:off x="594360" y="3703320"/>
            <a:ext cx="521208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partner talk here:</a:t>
            </a:r>
            <a:endParaRPr lang="en-US" sz="900" dirty="0"/>
          </a:p>
        </p:txBody>
      </p:sp>
      <p:sp>
        <p:nvSpPr>
          <p:cNvPr id="22" name="Shape 20"/>
          <p:cNvSpPr/>
          <p:nvPr/>
        </p:nvSpPr>
        <p:spPr>
          <a:xfrm>
            <a:off x="594360" y="4114800"/>
            <a:ext cx="5212080" cy="0"/>
          </a:xfrm>
          <a:prstGeom prst="line">
            <a:avLst/>
          </a:prstGeom>
          <a:noFill/>
          <a:ln w="9525">
            <a:solidFill>
              <a:srgbClr val="C7CDD2"/>
            </a:solidFill>
            <a:prstDash val="dash"/>
          </a:ln>
        </p:spPr>
      </p:sp>
      <p:sp>
        <p:nvSpPr>
          <p:cNvPr id="23" name="Shape 21"/>
          <p:cNvSpPr/>
          <p:nvPr/>
        </p:nvSpPr>
        <p:spPr>
          <a:xfrm>
            <a:off x="594360" y="4407408"/>
            <a:ext cx="5212080" cy="0"/>
          </a:xfrm>
          <a:prstGeom prst="line">
            <a:avLst/>
          </a:prstGeom>
          <a:noFill/>
          <a:ln w="9525">
            <a:solidFill>
              <a:srgbClr val="C7CDD2"/>
            </a:solidFill>
            <a:prstDash val="dash"/>
          </a:ln>
        </p:spPr>
      </p:sp>
      <p:sp>
        <p:nvSpPr>
          <p:cNvPr id="24" name="Shape 22"/>
          <p:cNvSpPr/>
          <p:nvPr/>
        </p:nvSpPr>
        <p:spPr>
          <a:xfrm>
            <a:off x="6080760" y="685800"/>
            <a:ext cx="2697480" cy="4023360"/>
          </a:xfrm>
          <a:prstGeom prst="roundRect">
            <a:avLst>
              <a:gd name="adj" fmla="val 2712"/>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6080760" y="685800"/>
            <a:ext cx="269748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Sentence starters</a:t>
            </a:r>
            <a:endParaRPr lang="en-US" sz="1000" dirty="0"/>
          </a:p>
        </p:txBody>
      </p:sp>
      <p:sp>
        <p:nvSpPr>
          <p:cNvPr id="26" name="Text 24"/>
          <p:cNvSpPr/>
          <p:nvPr/>
        </p:nvSpPr>
        <p:spPr>
          <a:xfrm>
            <a:off x="6263640" y="1051560"/>
            <a:ext cx="2377440" cy="1280160"/>
          </a:xfrm>
          <a:prstGeom prst="rect">
            <a:avLst/>
          </a:prstGeom>
          <a:noFill/>
          <a:ln/>
        </p:spPr>
        <p:txBody>
          <a:bodyPr wrap="square" rtlCol="0" anchor="t"/>
          <a:lstStyle/>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think ___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agree/disagree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My evidence is ___.</a:t>
            </a:r>
            <a:endParaRPr lang="en-US" sz="1000" dirty="0"/>
          </a:p>
        </p:txBody>
      </p:sp>
      <p:sp>
        <p:nvSpPr>
          <p:cNvPr id="27" name="Text 25"/>
          <p:cNvSpPr/>
          <p:nvPr/>
        </p:nvSpPr>
        <p:spPr>
          <a:xfrm>
            <a:off x="6080760" y="2423160"/>
            <a:ext cx="269748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Word bank</a:t>
            </a:r>
            <a:endParaRPr lang="en-US" sz="1000" dirty="0"/>
          </a:p>
        </p:txBody>
      </p:sp>
      <p:sp>
        <p:nvSpPr>
          <p:cNvPr id="28" name="Text 26"/>
          <p:cNvSpPr/>
          <p:nvPr/>
        </p:nvSpPr>
        <p:spPr>
          <a:xfrm>
            <a:off x="62636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conversion factor</a:t>
            </a:r>
            <a:endParaRPr lang="en-US" sz="900" dirty="0"/>
          </a:p>
        </p:txBody>
      </p:sp>
      <p:sp>
        <p:nvSpPr>
          <p:cNvPr id="29" name="Text 27"/>
          <p:cNvSpPr/>
          <p:nvPr/>
        </p:nvSpPr>
        <p:spPr>
          <a:xfrm>
            <a:off x="75209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ratio</a:t>
            </a:r>
            <a:endParaRPr lang="en-US" sz="900" dirty="0"/>
          </a:p>
        </p:txBody>
      </p:sp>
      <p:sp>
        <p:nvSpPr>
          <p:cNvPr id="30" name="Text 28"/>
          <p:cNvSpPr/>
          <p:nvPr/>
        </p:nvSpPr>
        <p:spPr>
          <a:xfrm>
            <a:off x="62636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equivalent</a:t>
            </a:r>
            <a:endParaRPr lang="en-US" sz="900" dirty="0"/>
          </a:p>
        </p:txBody>
      </p:sp>
      <p:sp>
        <p:nvSpPr>
          <p:cNvPr id="31" name="Text 29"/>
          <p:cNvSpPr/>
          <p:nvPr/>
        </p:nvSpPr>
        <p:spPr>
          <a:xfrm>
            <a:off x="75209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scale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Turn &amp; Talk · Connect / Comenta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5</a:t>
            </a:r>
            <a:endParaRPr lang="en-US" sz="800" dirty="0"/>
          </a:p>
        </p:txBody>
      </p:sp>
      <p:sp>
        <p:nvSpPr>
          <p:cNvPr id="17" name="Shape 15"/>
          <p:cNvSpPr/>
          <p:nvPr/>
        </p:nvSpPr>
        <p:spPr>
          <a:xfrm>
            <a:off x="411480" y="685800"/>
            <a:ext cx="557784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68680"/>
            <a:ext cx="2194560" cy="310896"/>
          </a:xfrm>
          <a:prstGeom prst="rect">
            <a:avLst>
              <a:gd name="adj" fmla="val 50000"/>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 CONNECT DISCUSSION</a:t>
            </a:r>
            <a:endParaRPr lang="en-US" sz="950" dirty="0"/>
          </a:p>
        </p:txBody>
      </p:sp>
      <p:sp>
        <p:nvSpPr>
          <p:cNvPr id="19" name="Text 17"/>
          <p:cNvSpPr/>
          <p:nvPr/>
        </p:nvSpPr>
        <p:spPr>
          <a:xfrm>
            <a:off x="594360" y="1280160"/>
            <a:ext cx="5212080" cy="27432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Talk with your partner. Use full sentences and math words.</a:t>
            </a:r>
            <a:endParaRPr lang="en-US" sz="950" dirty="0"/>
          </a:p>
        </p:txBody>
      </p:sp>
      <p:sp>
        <p:nvSpPr>
          <p:cNvPr id="20" name="Text 18"/>
          <p:cNvSpPr/>
          <p:nvPr/>
        </p:nvSpPr>
        <p:spPr>
          <a:xfrm>
            <a:off x="594360" y="1627632"/>
            <a:ext cx="5212080" cy="1828800"/>
          </a:xfrm>
          <a:prstGeom prst="rect">
            <a:avLst/>
          </a:prstGeom>
          <a:noFill/>
          <a:ln/>
        </p:spPr>
        <p:txBody>
          <a:bodyPr wrap="square" rtlCol="0" anchor="t"/>
          <a:lstStyle/>
          <a:p>
            <a:pPr indent="0" marL="0">
              <a:lnSpc>
                <a:spcPct val="108000"/>
              </a:lnSpc>
              <a:buNone/>
            </a:pPr>
            <a:r>
              <a:rPr lang="en-US" sz="1400" dirty="0">
                <a:solidFill>
                  <a:srgbClr val="17324D"/>
                </a:solidFill>
                <a:latin typeface="Hanken Grotesk" pitchFamily="34" charset="0"/>
                <a:ea typeface="Hanken Grotesk" pitchFamily="34" charset="-122"/>
                <a:cs typeface="Hanken Grotesk" pitchFamily="34" charset="-120"/>
              </a:rPr>
              <a:t>Evelyn sees a 100 km/h speed sign in Canada, and at home her highway limit is 65 mi/h. One partner should convert with the table, the other with 100 × 0.6. Is 100 km/h faster or slower than her usual 65 mi/h?</a:t>
            </a:r>
            <a:endParaRPr lang="en-US" sz="1400" dirty="0"/>
          </a:p>
        </p:txBody>
      </p:sp>
      <p:sp>
        <p:nvSpPr>
          <p:cNvPr id="21" name="Text 19"/>
          <p:cNvSpPr/>
          <p:nvPr/>
        </p:nvSpPr>
        <p:spPr>
          <a:xfrm>
            <a:off x="594360" y="3703320"/>
            <a:ext cx="521208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partner talk here:</a:t>
            </a:r>
            <a:endParaRPr lang="en-US" sz="900" dirty="0"/>
          </a:p>
        </p:txBody>
      </p:sp>
      <p:sp>
        <p:nvSpPr>
          <p:cNvPr id="22" name="Shape 20"/>
          <p:cNvSpPr/>
          <p:nvPr/>
        </p:nvSpPr>
        <p:spPr>
          <a:xfrm>
            <a:off x="594360" y="4114800"/>
            <a:ext cx="5212080" cy="0"/>
          </a:xfrm>
          <a:prstGeom prst="line">
            <a:avLst/>
          </a:prstGeom>
          <a:noFill/>
          <a:ln w="9525">
            <a:solidFill>
              <a:srgbClr val="C7CDD2"/>
            </a:solidFill>
            <a:prstDash val="dash"/>
          </a:ln>
        </p:spPr>
      </p:sp>
      <p:sp>
        <p:nvSpPr>
          <p:cNvPr id="23" name="Shape 21"/>
          <p:cNvSpPr/>
          <p:nvPr/>
        </p:nvSpPr>
        <p:spPr>
          <a:xfrm>
            <a:off x="594360" y="4407408"/>
            <a:ext cx="5212080" cy="0"/>
          </a:xfrm>
          <a:prstGeom prst="line">
            <a:avLst/>
          </a:prstGeom>
          <a:noFill/>
          <a:ln w="9525">
            <a:solidFill>
              <a:srgbClr val="C7CDD2"/>
            </a:solidFill>
            <a:prstDash val="dash"/>
          </a:ln>
        </p:spPr>
      </p:sp>
      <p:sp>
        <p:nvSpPr>
          <p:cNvPr id="24" name="Shape 22"/>
          <p:cNvSpPr/>
          <p:nvPr/>
        </p:nvSpPr>
        <p:spPr>
          <a:xfrm>
            <a:off x="6080760" y="685800"/>
            <a:ext cx="2697480" cy="4023360"/>
          </a:xfrm>
          <a:prstGeom prst="roundRect">
            <a:avLst>
              <a:gd name="adj" fmla="val 2712"/>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6080760" y="685800"/>
            <a:ext cx="269748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Sentence starters</a:t>
            </a:r>
            <a:endParaRPr lang="en-US" sz="1000" dirty="0"/>
          </a:p>
        </p:txBody>
      </p:sp>
      <p:sp>
        <p:nvSpPr>
          <p:cNvPr id="26" name="Text 24"/>
          <p:cNvSpPr/>
          <p:nvPr/>
        </p:nvSpPr>
        <p:spPr>
          <a:xfrm>
            <a:off x="6263640" y="1051560"/>
            <a:ext cx="2377440" cy="1280160"/>
          </a:xfrm>
          <a:prstGeom prst="rect">
            <a:avLst/>
          </a:prstGeom>
          <a:noFill/>
          <a:ln/>
        </p:spPr>
        <p:txBody>
          <a:bodyPr wrap="square" rtlCol="0" anchor="t"/>
          <a:lstStyle/>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think ___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agree/disagree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My evidence is ___.</a:t>
            </a:r>
            <a:endParaRPr lang="en-US" sz="1000" dirty="0"/>
          </a:p>
        </p:txBody>
      </p:sp>
      <p:sp>
        <p:nvSpPr>
          <p:cNvPr id="27" name="Text 25"/>
          <p:cNvSpPr/>
          <p:nvPr/>
        </p:nvSpPr>
        <p:spPr>
          <a:xfrm>
            <a:off x="6080760" y="2423160"/>
            <a:ext cx="269748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Word bank</a:t>
            </a:r>
            <a:endParaRPr lang="en-US" sz="1000" dirty="0"/>
          </a:p>
        </p:txBody>
      </p:sp>
      <p:sp>
        <p:nvSpPr>
          <p:cNvPr id="28" name="Text 26"/>
          <p:cNvSpPr/>
          <p:nvPr/>
        </p:nvSpPr>
        <p:spPr>
          <a:xfrm>
            <a:off x="62636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kilometer</a:t>
            </a:r>
            <a:endParaRPr lang="en-US" sz="900" dirty="0"/>
          </a:p>
        </p:txBody>
      </p:sp>
      <p:sp>
        <p:nvSpPr>
          <p:cNvPr id="29" name="Text 27"/>
          <p:cNvSpPr/>
          <p:nvPr/>
        </p:nvSpPr>
        <p:spPr>
          <a:xfrm>
            <a:off x="75209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mile</a:t>
            </a:r>
            <a:endParaRPr lang="en-US" sz="900" dirty="0"/>
          </a:p>
        </p:txBody>
      </p:sp>
      <p:sp>
        <p:nvSpPr>
          <p:cNvPr id="30" name="Text 28"/>
          <p:cNvSpPr/>
          <p:nvPr/>
        </p:nvSpPr>
        <p:spPr>
          <a:xfrm>
            <a:off x="62636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convert</a:t>
            </a:r>
            <a:endParaRPr lang="en-US" sz="900" dirty="0"/>
          </a:p>
        </p:txBody>
      </p:sp>
      <p:sp>
        <p:nvSpPr>
          <p:cNvPr id="31" name="Text 29"/>
          <p:cNvSpPr/>
          <p:nvPr/>
        </p:nvSpPr>
        <p:spPr>
          <a:xfrm>
            <a:off x="75209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unit rate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Turn &amp; Talk · Practice / Comenta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6</a:t>
            </a:r>
            <a:endParaRPr lang="en-US" sz="800" dirty="0"/>
          </a:p>
        </p:txBody>
      </p:sp>
      <p:sp>
        <p:nvSpPr>
          <p:cNvPr id="17" name="Shape 15"/>
          <p:cNvSpPr/>
          <p:nvPr/>
        </p:nvSpPr>
        <p:spPr>
          <a:xfrm>
            <a:off x="411480" y="685800"/>
            <a:ext cx="557784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68680"/>
            <a:ext cx="2194560" cy="310896"/>
          </a:xfrm>
          <a:prstGeom prst="rect">
            <a:avLst>
              <a:gd name="adj" fmla="val 50000"/>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 PRACTICE DISCUSSION</a:t>
            </a:r>
            <a:endParaRPr lang="en-US" sz="950" dirty="0"/>
          </a:p>
        </p:txBody>
      </p:sp>
      <p:sp>
        <p:nvSpPr>
          <p:cNvPr id="19" name="Text 17"/>
          <p:cNvSpPr/>
          <p:nvPr/>
        </p:nvSpPr>
        <p:spPr>
          <a:xfrm>
            <a:off x="594360" y="1280160"/>
            <a:ext cx="5212080" cy="27432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Talk with your partner. Use full sentences and math words.</a:t>
            </a:r>
            <a:endParaRPr lang="en-US" sz="950" dirty="0"/>
          </a:p>
        </p:txBody>
      </p:sp>
      <p:sp>
        <p:nvSpPr>
          <p:cNvPr id="20" name="Text 18"/>
          <p:cNvSpPr/>
          <p:nvPr/>
        </p:nvSpPr>
        <p:spPr>
          <a:xfrm>
            <a:off x="594360" y="1627632"/>
            <a:ext cx="5212080" cy="1828800"/>
          </a:xfrm>
          <a:prstGeom prst="rect">
            <a:avLst/>
          </a:prstGeom>
          <a:noFill/>
          <a:ln/>
        </p:spPr>
        <p:txBody>
          <a:bodyPr wrap="square" rtlCol="0" anchor="t"/>
          <a:lstStyle/>
          <a:p>
            <a:pPr indent="0" marL="0">
              <a:lnSpc>
                <a:spcPct val="108000"/>
              </a:lnSpc>
              <a:buNone/>
            </a:pPr>
            <a:r>
              <a:rPr lang="en-US" sz="1400" dirty="0">
                <a:solidFill>
                  <a:srgbClr val="17324D"/>
                </a:solidFill>
                <a:latin typeface="Hanken Grotesk" pitchFamily="34" charset="0"/>
                <a:ea typeface="Hanken Grotesk" pitchFamily="34" charset="-122"/>
                <a:cs typeface="Hanken Grotesk" pitchFamily="34" charset="-120"/>
              </a:rPr>
              <a:t>During practice converting between systems, how did you decide whether the converted number should come out BIGGER or SMALLER than the number you started with?</a:t>
            </a:r>
            <a:endParaRPr lang="en-US" sz="1400" dirty="0"/>
          </a:p>
        </p:txBody>
      </p:sp>
      <p:sp>
        <p:nvSpPr>
          <p:cNvPr id="21" name="Text 19"/>
          <p:cNvSpPr/>
          <p:nvPr/>
        </p:nvSpPr>
        <p:spPr>
          <a:xfrm>
            <a:off x="594360" y="3703320"/>
            <a:ext cx="521208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partner talk here:</a:t>
            </a:r>
            <a:endParaRPr lang="en-US" sz="900" dirty="0"/>
          </a:p>
        </p:txBody>
      </p:sp>
      <p:sp>
        <p:nvSpPr>
          <p:cNvPr id="22" name="Shape 20"/>
          <p:cNvSpPr/>
          <p:nvPr/>
        </p:nvSpPr>
        <p:spPr>
          <a:xfrm>
            <a:off x="594360" y="4114800"/>
            <a:ext cx="5212080" cy="0"/>
          </a:xfrm>
          <a:prstGeom prst="line">
            <a:avLst/>
          </a:prstGeom>
          <a:noFill/>
          <a:ln w="9525">
            <a:solidFill>
              <a:srgbClr val="C7CDD2"/>
            </a:solidFill>
            <a:prstDash val="dash"/>
          </a:ln>
        </p:spPr>
      </p:sp>
      <p:sp>
        <p:nvSpPr>
          <p:cNvPr id="23" name="Shape 21"/>
          <p:cNvSpPr/>
          <p:nvPr/>
        </p:nvSpPr>
        <p:spPr>
          <a:xfrm>
            <a:off x="594360" y="4407408"/>
            <a:ext cx="5212080" cy="0"/>
          </a:xfrm>
          <a:prstGeom prst="line">
            <a:avLst/>
          </a:prstGeom>
          <a:noFill/>
          <a:ln w="9525">
            <a:solidFill>
              <a:srgbClr val="C7CDD2"/>
            </a:solidFill>
            <a:prstDash val="dash"/>
          </a:ln>
        </p:spPr>
      </p:sp>
      <p:sp>
        <p:nvSpPr>
          <p:cNvPr id="24" name="Shape 22"/>
          <p:cNvSpPr/>
          <p:nvPr/>
        </p:nvSpPr>
        <p:spPr>
          <a:xfrm>
            <a:off x="6080760" y="685800"/>
            <a:ext cx="2697480" cy="4023360"/>
          </a:xfrm>
          <a:prstGeom prst="roundRect">
            <a:avLst>
              <a:gd name="adj" fmla="val 2712"/>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5" name="Text 23"/>
          <p:cNvSpPr/>
          <p:nvPr/>
        </p:nvSpPr>
        <p:spPr>
          <a:xfrm>
            <a:off x="6080760" y="685800"/>
            <a:ext cx="269748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Sentence starters</a:t>
            </a:r>
            <a:endParaRPr lang="en-US" sz="1000" dirty="0"/>
          </a:p>
        </p:txBody>
      </p:sp>
      <p:sp>
        <p:nvSpPr>
          <p:cNvPr id="26" name="Text 24"/>
          <p:cNvSpPr/>
          <p:nvPr/>
        </p:nvSpPr>
        <p:spPr>
          <a:xfrm>
            <a:off x="6263640" y="1051560"/>
            <a:ext cx="2377440" cy="1280160"/>
          </a:xfrm>
          <a:prstGeom prst="rect">
            <a:avLst/>
          </a:prstGeom>
          <a:noFill/>
          <a:ln/>
        </p:spPr>
        <p:txBody>
          <a:bodyPr wrap="square" rtlCol="0" anchor="t"/>
          <a:lstStyle/>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think ___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I agree/disagree because ___.</a:t>
            </a:r>
            <a:endParaRPr lang="en-US" sz="1000" dirty="0"/>
          </a:p>
          <a:p>
            <a:pPr indent="0" marL="0">
              <a:lnSpc>
                <a:spcPct val="110000"/>
              </a:lnSpc>
              <a:buNone/>
            </a:pPr>
            <a:r>
              <a:rPr lang="en-US" sz="1000" dirty="0">
                <a:solidFill>
                  <a:srgbClr val="17324D"/>
                </a:solidFill>
                <a:latin typeface="Hanken Grotesk" pitchFamily="34" charset="0"/>
                <a:ea typeface="Hanken Grotesk" pitchFamily="34" charset="-122"/>
                <a:cs typeface="Hanken Grotesk" pitchFamily="34" charset="-120"/>
              </a:rPr>
              <a:t>•  My evidence is ___.</a:t>
            </a:r>
            <a:endParaRPr lang="en-US" sz="1000" dirty="0"/>
          </a:p>
        </p:txBody>
      </p:sp>
      <p:sp>
        <p:nvSpPr>
          <p:cNvPr id="27" name="Text 25"/>
          <p:cNvSpPr/>
          <p:nvPr/>
        </p:nvSpPr>
        <p:spPr>
          <a:xfrm>
            <a:off x="6080760" y="2423160"/>
            <a:ext cx="269748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Word bank</a:t>
            </a:r>
            <a:endParaRPr lang="en-US" sz="1000" dirty="0"/>
          </a:p>
        </p:txBody>
      </p:sp>
      <p:sp>
        <p:nvSpPr>
          <p:cNvPr id="28" name="Text 26"/>
          <p:cNvSpPr/>
          <p:nvPr/>
        </p:nvSpPr>
        <p:spPr>
          <a:xfrm>
            <a:off x="62636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convert</a:t>
            </a:r>
            <a:endParaRPr lang="en-US" sz="900" dirty="0"/>
          </a:p>
        </p:txBody>
      </p:sp>
      <p:sp>
        <p:nvSpPr>
          <p:cNvPr id="29" name="Text 27"/>
          <p:cNvSpPr/>
          <p:nvPr/>
        </p:nvSpPr>
        <p:spPr>
          <a:xfrm>
            <a:off x="7520940" y="2788920"/>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unit</a:t>
            </a:r>
            <a:endParaRPr lang="en-US" sz="900" dirty="0"/>
          </a:p>
        </p:txBody>
      </p:sp>
      <p:sp>
        <p:nvSpPr>
          <p:cNvPr id="30" name="Text 28"/>
          <p:cNvSpPr/>
          <p:nvPr/>
        </p:nvSpPr>
        <p:spPr>
          <a:xfrm>
            <a:off x="62636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larger</a:t>
            </a:r>
            <a:endParaRPr lang="en-US" sz="900" dirty="0"/>
          </a:p>
        </p:txBody>
      </p:sp>
      <p:sp>
        <p:nvSpPr>
          <p:cNvPr id="31" name="Text 29"/>
          <p:cNvSpPr/>
          <p:nvPr/>
        </p:nvSpPr>
        <p:spPr>
          <a:xfrm>
            <a:off x="7520940" y="3227832"/>
            <a:ext cx="1120140" cy="329184"/>
          </a:xfrm>
          <a:prstGeom prst="roundRect">
            <a:avLst>
              <a:gd name="adj" fmla="val 13889"/>
            </a:avLst>
          </a:prstGeom>
          <a:solidFill>
            <a:srgbClr val="FFFFFF"/>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smaller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Be Curious / Sé Curioso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7</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3716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VISUAL PROMPT</a:t>
            </a:r>
            <a:endParaRPr lang="en-US" sz="900" dirty="0"/>
          </a:p>
        </p:txBody>
      </p:sp>
      <p:sp>
        <p:nvSpPr>
          <p:cNvPr id="19" name="Text 17"/>
          <p:cNvSpPr/>
          <p:nvPr/>
        </p:nvSpPr>
        <p:spPr>
          <a:xfrm>
            <a:off x="594360" y="1207008"/>
            <a:ext cx="379476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Border-Crossing Converter</a:t>
            </a:r>
            <a:endParaRPr lang="en-US" sz="1100" dirty="0"/>
          </a:p>
        </p:txBody>
      </p:sp>
      <p:sp>
        <p:nvSpPr>
          <p:cNvPr id="20" name="Text 18"/>
          <p:cNvSpPr/>
          <p:nvPr/>
        </p:nvSpPr>
        <p:spPr>
          <a:xfrm>
            <a:off x="594360" y="1508760"/>
            <a:ext cx="3794760" cy="1554480"/>
          </a:xfrm>
          <a:prstGeom prst="rect">
            <a:avLst/>
          </a:prstGeom>
          <a:noFill/>
          <a:ln/>
        </p:spPr>
        <p:txBody>
          <a:bodyPr wrap="square" rtlCol="0" anchor="t"/>
          <a:lstStyle/>
          <a:p>
            <a:pPr indent="0" marL="0">
              <a:buNone/>
            </a:pPr>
            <a:r>
              <a:rPr lang="en-US" sz="1150" dirty="0">
                <a:solidFill>
                  <a:srgbClr val="24323F"/>
                </a:solidFill>
                <a:latin typeface="Hanken Grotesk" pitchFamily="34" charset="0"/>
                <a:ea typeface="Hanken Grotesk" pitchFamily="34" charset="-122"/>
                <a:cs typeface="Hanken Grotesk" pitchFamily="34" charset="-120"/>
              </a:rPr>
              <a:t>The academy's kitchen orders from suppliers in two different countries. One ships in pounds and quarts, the other in kilograms and liters. Compare measurements by converting with the appropriate factor. Some factors are exact; rounded factors give approximate results. One supplier ships 10 pounds of rice and the other ships 5 kilograms. Use 1 pound ≈ 0.45 kilogram to find which shipment is more.</a:t>
            </a:r>
            <a:endParaRPr lang="en-US" sz="1150" dirty="0"/>
          </a:p>
        </p:txBody>
      </p:sp>
      <p:sp>
        <p:nvSpPr>
          <p:cNvPr id="21" name="Text 19"/>
          <p:cNvSpPr/>
          <p:nvPr/>
        </p:nvSpPr>
        <p:spPr>
          <a:xfrm>
            <a:off x="594360" y="3154680"/>
            <a:ext cx="365760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Jot your first idea:</a:t>
            </a:r>
            <a:endParaRPr lang="en-US" sz="900" dirty="0"/>
          </a:p>
        </p:txBody>
      </p:sp>
      <p:sp>
        <p:nvSpPr>
          <p:cNvPr id="22" name="Shape 20"/>
          <p:cNvSpPr/>
          <p:nvPr/>
        </p:nvSpPr>
        <p:spPr>
          <a:xfrm>
            <a:off x="594360" y="3566160"/>
            <a:ext cx="3794760" cy="0"/>
          </a:xfrm>
          <a:prstGeom prst="line">
            <a:avLst/>
          </a:prstGeom>
          <a:noFill/>
          <a:ln w="9525">
            <a:solidFill>
              <a:srgbClr val="C7CDD2"/>
            </a:solidFill>
            <a:prstDash val="dash"/>
          </a:ln>
        </p:spPr>
      </p:sp>
      <p:sp>
        <p:nvSpPr>
          <p:cNvPr id="23" name="Shape 21"/>
          <p:cNvSpPr/>
          <p:nvPr/>
        </p:nvSpPr>
        <p:spPr>
          <a:xfrm>
            <a:off x="594360" y="3886200"/>
            <a:ext cx="3794760" cy="0"/>
          </a:xfrm>
          <a:prstGeom prst="line">
            <a:avLst/>
          </a:prstGeom>
          <a:noFill/>
          <a:ln w="9525">
            <a:solidFill>
              <a:srgbClr val="C7CDD2"/>
            </a:solidFill>
            <a:prstDash val="dash"/>
          </a:ln>
        </p:spPr>
      </p:sp>
      <p:sp>
        <p:nvSpPr>
          <p:cNvPr id="24" name="Shape 22"/>
          <p:cNvSpPr/>
          <p:nvPr/>
        </p:nvSpPr>
        <p:spPr>
          <a:xfrm>
            <a:off x="594360" y="4206240"/>
            <a:ext cx="3794760" cy="0"/>
          </a:xfrm>
          <a:prstGeom prst="line">
            <a:avLst/>
          </a:prstGeom>
          <a:noFill/>
          <a:ln w="9525">
            <a:solidFill>
              <a:srgbClr val="C7CDD2"/>
            </a:solidFill>
            <a:prstDash val="dash"/>
          </a:ln>
        </p:spPr>
      </p:sp>
      <p:sp>
        <p:nvSpPr>
          <p:cNvPr id="25" name="Shape 23"/>
          <p:cNvSpPr/>
          <p:nvPr/>
        </p:nvSpPr>
        <p:spPr>
          <a:xfrm>
            <a:off x="4709160" y="685800"/>
            <a:ext cx="4114800" cy="1920240"/>
          </a:xfrm>
          <a:prstGeom prst="roundRect">
            <a:avLst>
              <a:gd name="adj" fmla="val 381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4709160" y="685800"/>
            <a:ext cx="411480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I Notice…</a:t>
            </a:r>
            <a:endParaRPr lang="en-US" sz="1000" dirty="0"/>
          </a:p>
        </p:txBody>
      </p:sp>
      <p:sp>
        <p:nvSpPr>
          <p:cNvPr id="27" name="Text 25"/>
          <p:cNvSpPr/>
          <p:nvPr/>
        </p:nvSpPr>
        <p:spPr>
          <a:xfrm>
            <a:off x="4892040" y="1051560"/>
            <a:ext cx="3749040" cy="146304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I notice one measurement uses a ___ unit and the other uses a ___ unit.</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I notice the two numbers cannot be compared until they share a ___.</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I notice the conversion factor uses the ≈ sign because it is ___.</a:t>
            </a:r>
            <a:endParaRPr lang="en-US" sz="1000" dirty="0"/>
          </a:p>
        </p:txBody>
      </p:sp>
      <p:sp>
        <p:nvSpPr>
          <p:cNvPr id="28" name="Shape 26"/>
          <p:cNvSpPr/>
          <p:nvPr/>
        </p:nvSpPr>
        <p:spPr>
          <a:xfrm>
            <a:off x="4709160" y="2743200"/>
            <a:ext cx="4114800" cy="1965960"/>
          </a:xfrm>
          <a:prstGeom prst="roundRect">
            <a:avLst>
              <a:gd name="adj" fmla="val 3721"/>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4709160" y="2743200"/>
            <a:ext cx="4114800" cy="274320"/>
          </a:xfrm>
          <a:prstGeom prst="rect">
            <a:avLst/>
          </a:prstGeom>
          <a:solidFill>
            <a:srgbClr val="F2C15B"/>
          </a:solidFill>
          <a:ln/>
        </p:spPr>
        <p:txBody>
          <a:bodyPr wrap="square" rtlCol="0" anchor="ctr"/>
          <a:lstStyle/>
          <a:p>
            <a:pPr algn="ctr" indent="0" marL="0">
              <a:buNone/>
            </a:pPr>
            <a:r>
              <a:rPr lang="en-US" sz="1000" b="1" dirty="0">
                <a:solidFill>
                  <a:srgbClr val="17324D"/>
                </a:solidFill>
                <a:latin typeface="Outfit" pitchFamily="34" charset="0"/>
                <a:ea typeface="Outfit" pitchFamily="34" charset="-122"/>
                <a:cs typeface="Outfit" pitchFamily="34" charset="-120"/>
              </a:rPr>
              <a:t>💭  I Wonder…</a:t>
            </a:r>
            <a:endParaRPr lang="en-US" sz="1000" dirty="0"/>
          </a:p>
        </p:txBody>
      </p:sp>
      <p:sp>
        <p:nvSpPr>
          <p:cNvPr id="30" name="Text 28"/>
          <p:cNvSpPr/>
          <p:nvPr/>
        </p:nvSpPr>
        <p:spPr>
          <a:xfrm>
            <a:off x="4892040" y="3108960"/>
            <a:ext cx="3749040" cy="1508760"/>
          </a:xfrm>
          <a:prstGeom prst="rect">
            <a:avLst/>
          </a:prstGeom>
          <a:noFill/>
          <a:ln/>
        </p:spPr>
        <p:txBody>
          <a:bodyPr wrap="square" rtlCol="0" anchor="t"/>
          <a:lstStyle/>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I wonder which amount is actually bigger once I ___ them.</a:t>
            </a:r>
            <a:endParaRPr lang="en-US" sz="1000" dirty="0"/>
          </a:p>
          <a:p>
            <a:pPr indent="0" marL="0">
              <a:lnSpc>
                <a:spcPct val="110000"/>
              </a:lnSpc>
              <a:buNone/>
            </a:pPr>
            <a:r>
              <a:rPr lang="en-US" sz="1000" dirty="0">
                <a:solidFill>
                  <a:srgbClr val="24323F"/>
                </a:solidFill>
                <a:latin typeface="Hanken Grotesk" pitchFamily="34" charset="0"/>
                <a:ea typeface="Hanken Grotesk" pitchFamily="34" charset="-122"/>
                <a:cs typeface="Hanken Grotesk" pitchFamily="34" charset="-120"/>
              </a:rPr>
              <a:t>•  I wonder why conversions between systems are only ___.</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Vocabulary / Vocabulario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685800"/>
          <a:ext cx="8412480" cy="914400"/>
        </p:xfrm>
        <a:graphic>
          <a:graphicData uri="http://schemas.openxmlformats.org/drawingml/2006/table">
            <a:tbl>
              <a:tblPr/>
              <a:tblGrid>
                <a:gridCol w="2103120"/>
                <a:gridCol w="4114800"/>
                <a:gridCol w="2194560"/>
              </a:tblGrid>
              <a:tr h="457200">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Term / Término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Meaning / Significado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c>
                  <a:txBody>
                    <a:bodyPr/>
                    <a:lstStyle/>
                    <a:p>
                      <a:pPr indent="0" marL="0">
                        <a:buNone/>
                      </a:pPr>
                      <a:r>
                        <a:rPr lang="en-US" sz="1000" b="1" dirty="0">
                          <a:solidFill>
                            <a:srgbClr val="FFFFFF"/>
                          </a:solidFill>
                          <a:latin typeface="Outfit" pitchFamily="34" charset="0"/>
                          <a:ea typeface="Outfit" pitchFamily="34" charset="-122"/>
                          <a:cs typeface="Outfit" pitchFamily="34" charset="-120"/>
                        </a:rPr>
                        <a:t>Example / Ejemplo</a:t>
                      </a:r>
                      <a:endParaRPr lang="en-US" sz="1000" dirty="0">
                        <a:latin typeface="Outfit" charset="0"/>
                        <a:ea typeface="Outfit" charset="0"/>
                        <a:cs typeface="Outfit"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17324D"/>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Convert Measurements Between Systems</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Convertir medidas entre sistemas</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Rewriting a customary measurement as a metric one, or the reverse, so two amounts can be compared.</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Reescribir una medida usual como métrica, o al revés, para poder comparar dos cantidades.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100 kilometers ≈ 60 miles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Conversion factor</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Factor de conversión</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ratio that links a unit in one system to a unit in the other, such as 1 mile to about 1.609 kilometers.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La razón que relaciona una unidad de un sistema con una del otro, como 1 milla a unos 1.609 kilómetros.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1 lb ≈ 0.45 kg · 1 in = 2.54 cm</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Customary system</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Sistema usual</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measurement system used in the United States: inches, feet, miles, ounces, pounds, cups, quarts, gallons.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El sistema de medidas que se usa en Estados Unidos: pulgadas, pies, millas, onzas, libras, tazas, cuartos y galones.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in · ft · mi · oz · lb · qt · gal</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Metric system</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Sistema métrico</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The measurement system used in most of the world, built on tens: centimeters, meters, kilometers, grams, kilograms, liters.</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El sistema de medidas que se usa en casi todo el mundo, basado en decenas: centímetros, metros, kilómetros, gramos, kilogramos y litros.</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cm · m · km · g · kg · mL · L</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4F1E8"/>
                    </a:solidFill>
                  </a:tcPr>
                </a:tc>
              </a:tr>
              <a:tr h="457200">
                <a:tc>
                  <a:txBody>
                    <a:bodyP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Approximately</a:t>
                      </a:r>
                      <a:pPr indent="0" marL="0">
                        <a:buNone/>
                      </a:pPr>
                      <a:endParaRPr lang="en-US" sz="95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Aproximadamente</a:t>
                      </a:r>
                      <a:endParaRPr lang="en-US" sz="95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dirty="0">
                          <a:solidFill>
                            <a:srgbClr val="24323F"/>
                          </a:solidFill>
                          <a:latin typeface="Hanken Grotesk" pitchFamily="34" charset="0"/>
                          <a:ea typeface="Hanken Grotesk" pitchFamily="34" charset="-122"/>
                          <a:cs typeface="Hanken Grotesk" pitchFamily="34" charset="-120"/>
                        </a:rPr>
                        <a:t>Close to, but not exactly equal. A rounded conversion factor gives an approximate result, written with ≈; an exact conversion uses =.</a:t>
                      </a:r>
                      <a:pPr indent="0" marL="0">
                        <a:buNone/>
                      </a:pPr>
                      <a:endParaRPr lang="en-US" sz="900" dirty="0">
                        <a:latin typeface="Hanken Grotesk" charset="0"/>
                        <a:ea typeface="Hanken Grotesk" charset="0"/>
                        <a:cs typeface="Hanken Grotesk" charset="0"/>
                      </a:endParaRPr>
                    </a:p>
                    <a:p>
                      <a:pPr indent="0" marL="0">
                        <a:buNone/>
                      </a:pPr>
                      <a:r>
                        <a:rPr lang="en-US" sz="850" i="1" dirty="0">
                          <a:solidFill>
                            <a:srgbClr val="8A96A3"/>
                          </a:solidFill>
                          <a:latin typeface="Hanken Grotesk" pitchFamily="34" charset="0"/>
                          <a:ea typeface="Hanken Grotesk" pitchFamily="34" charset="-122"/>
                          <a:cs typeface="Hanken Grotesk" pitchFamily="34" charset="-120"/>
                        </a:rPr>
                        <a:t>Cercano, pero no exactamente igual. Un factor de conversión redondeado da un resultado aproximado, escrito con ≈; una conversión exacta usa =.</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c>
                  <a:txBody>
                    <a:bodyPr/>
                    <a:lstStyle/>
                    <a:p>
                      <a:pPr indent="0" marL="0">
                        <a:buNone/>
                      </a:pPr>
                      <a:r>
                        <a:rPr lang="en-US" sz="900" i="1" dirty="0">
                          <a:solidFill>
                            <a:srgbClr val="24323F"/>
                          </a:solidFill>
                          <a:latin typeface="Hanken Grotesk" pitchFamily="34" charset="0"/>
                          <a:ea typeface="Hanken Grotesk" pitchFamily="34" charset="-122"/>
                          <a:cs typeface="Hanken Grotesk" pitchFamily="34" charset="-120"/>
                        </a:rPr>
                        <a:t>1 km ≈ 0.6 mi, not exactly 0.6</a:t>
                      </a:r>
                      <a:endParaRPr lang="en-US" sz="900" dirty="0">
                        <a:latin typeface="Hanken Grotesk" charset="0"/>
                        <a:ea typeface="Hanken Grotesk" charset="0"/>
                        <a:cs typeface="Hanken Grotesk" charset="0"/>
                      </a:endParaRPr>
                    </a:p>
                  </a:txBody>
                  <a:tcPr marL="91440" marR="91440" marT="45720" marB="45720" anchor="ctr">
                    <a:lnL w="9525" cap="flat" cmpd="sng" algn="ctr">
                      <a:solidFill>
                        <a:srgbClr val="D6DBDF"/>
                      </a:solidFill>
                      <a:prstDash val="solid"/>
                      <a:round/>
                      <a:headEnd type="none" w="med" len="med"/>
                      <a:tailEnd type="none" w="med" len="med"/>
                    </a:lnL>
                    <a:lnR w="9525" cap="flat" cmpd="sng" algn="ctr">
                      <a:solidFill>
                        <a:srgbClr val="D6DBDF"/>
                      </a:solidFill>
                      <a:prstDash val="solid"/>
                      <a:round/>
                      <a:headEnd type="none" w="med" len="med"/>
                      <a:tailEnd type="none" w="med" len="med"/>
                    </a:lnR>
                    <a:lnT w="9525" cap="flat" cmpd="sng" algn="ctr">
                      <a:solidFill>
                        <a:srgbClr val="D6DBDF"/>
                      </a:solidFill>
                      <a:prstDash val="solid"/>
                      <a:round/>
                      <a:headEnd type="none" w="med" len="med"/>
                      <a:tailEnd type="none" w="med" len="med"/>
                    </a:lnT>
                    <a:lnB w="9525" cap="flat" cmpd="sng" algn="ctr">
                      <a:solidFill>
                        <a:srgbClr val="D6DBDF"/>
                      </a:solidFill>
                      <a:prstDash val="solid"/>
                      <a:round/>
                      <a:headEnd type="none" w="med" len="med"/>
                      <a:tailEnd type="none" w="med" len="med"/>
                    </a:lnB>
                    <a:solidFill>
                      <a:srgbClr val="FFFFFF"/>
                    </a:solidFill>
                  </a:tcPr>
                </a:tc>
              </a:tr>
            </a:tbl>
          </a:graphicData>
        </a:graphic>
      </p:graphicFrame>
      <p:sp>
        <p:nvSpPr>
          <p:cNvPr id="18" name="Text 15"/>
          <p:cNvSpPr/>
          <p:nvPr/>
        </p:nvSpPr>
        <p:spPr>
          <a:xfrm>
            <a:off x="411480" y="3520440"/>
            <a:ext cx="8412480" cy="237744"/>
          </a:xfrm>
          <a:prstGeom prst="rect">
            <a:avLst/>
          </a:prstGeom>
          <a:noFill/>
          <a:ln/>
        </p:spPr>
        <p:txBody>
          <a:bodyPr wrap="square" rtlCol="0" anchor="ctr"/>
          <a:lstStyle/>
          <a:p>
            <a:pPr indent="0" marL="0">
              <a:buNone/>
            </a:pPr>
            <a:r>
              <a:rPr lang="en-US" sz="950" b="1" dirty="0">
                <a:solidFill>
                  <a:srgbClr val="17324D"/>
                </a:solidFill>
                <a:latin typeface="Outfit" pitchFamily="34" charset="0"/>
                <a:ea typeface="Outfit" pitchFamily="34" charset="-122"/>
                <a:cs typeface="Outfit" pitchFamily="34" charset="-120"/>
              </a:rPr>
              <a:t>Convert Measurements Between Systems — example vs. non-example:</a:t>
            </a:r>
            <a:endParaRPr lang="en-US" sz="950" dirty="0"/>
          </a:p>
        </p:txBody>
      </p:sp>
      <p:sp>
        <p:nvSpPr>
          <p:cNvPr id="19" name="Shape 16"/>
          <p:cNvSpPr/>
          <p:nvPr/>
        </p:nvSpPr>
        <p:spPr>
          <a:xfrm>
            <a:off x="411480" y="3813048"/>
            <a:ext cx="4114800" cy="457200"/>
          </a:xfrm>
          <a:prstGeom prst="roundRect">
            <a:avLst>
              <a:gd name="adj" fmla="val 10000"/>
            </a:avLst>
          </a:prstGeom>
          <a:solidFill>
            <a:srgbClr val="E7F6F4"/>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0" name="Text 17"/>
          <p:cNvSpPr/>
          <p:nvPr/>
        </p:nvSpPr>
        <p:spPr>
          <a:xfrm>
            <a:off x="521208" y="3813048"/>
            <a:ext cx="3895344" cy="457200"/>
          </a:xfrm>
          <a:prstGeom prst="rect">
            <a:avLst/>
          </a:prstGeom>
          <a:noFill/>
          <a:ln/>
        </p:spPr>
        <p:txBody>
          <a:bodyPr wrap="square" rtlCol="0" anchor="ctr"/>
          <a:lstStyle/>
          <a:p>
            <a:pPr indent="0" marL="0">
              <a:buNone/>
            </a:pPr>
            <a:r>
              <a:rPr lang="en-US" sz="900" b="1" dirty="0">
                <a:solidFill>
                  <a:srgbClr val="1FA6A2"/>
                </a:solidFill>
                <a:latin typeface="Hanken Grotesk" pitchFamily="34" charset="0"/>
                <a:ea typeface="Hanken Grotesk" pitchFamily="34" charset="-122"/>
                <a:cs typeface="Hanken Grotesk" pitchFamily="34" charset="-120"/>
              </a:rPr>
              <a:t>✓ </a:t>
            </a:r>
            <a:pPr indent="0" marL="0">
              <a:buNone/>
            </a:pPr>
            <a:r>
              <a:rPr lang="en-US" sz="900" b="1" dirty="0">
                <a:solidFill>
                  <a:srgbClr val="17324D"/>
                </a:solidFill>
                <a:latin typeface="Hanken Grotesk" pitchFamily="34" charset="0"/>
                <a:ea typeface="Hanken Grotesk" pitchFamily="34" charset="-122"/>
                <a:cs typeface="Hanken Grotesk" pitchFamily="34" charset="-120"/>
              </a:rPr>
              <a:t>80 km ≈ 48 miles  </a:t>
            </a:r>
            <a:pPr indent="0" marL="0">
              <a:buNone/>
            </a:pPr>
            <a:r>
              <a:rPr lang="en-US" sz="800" dirty="0">
                <a:solidFill>
                  <a:srgbClr val="24323F"/>
                </a:solidFill>
                <a:latin typeface="Hanken Grotesk" pitchFamily="34" charset="0"/>
                <a:ea typeface="Hanken Grotesk" pitchFamily="34" charset="-122"/>
                <a:cs typeface="Hanken Grotesk" pitchFamily="34" charset="-120"/>
              </a:rPr>
              <a:t>These units belong to different systems; this particular factor is rounded.</a:t>
            </a:r>
            <a:endParaRPr lang="en-US" sz="900" dirty="0"/>
          </a:p>
        </p:txBody>
      </p:sp>
      <p:sp>
        <p:nvSpPr>
          <p:cNvPr id="21" name="Shape 18"/>
          <p:cNvSpPr/>
          <p:nvPr/>
        </p:nvSpPr>
        <p:spPr>
          <a:xfrm>
            <a:off x="4663440" y="3813048"/>
            <a:ext cx="4114800" cy="457200"/>
          </a:xfrm>
          <a:prstGeom prst="roundRect">
            <a:avLst>
              <a:gd name="adj" fmla="val 10000"/>
            </a:avLst>
          </a:prstGeom>
          <a:solidFill>
            <a:srgbClr val="FDECEA"/>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2" name="Text 19"/>
          <p:cNvSpPr/>
          <p:nvPr/>
        </p:nvSpPr>
        <p:spPr>
          <a:xfrm>
            <a:off x="4773168" y="3813048"/>
            <a:ext cx="3895344" cy="457200"/>
          </a:xfrm>
          <a:prstGeom prst="rect">
            <a:avLst/>
          </a:prstGeom>
          <a:noFill/>
          <a:ln/>
        </p:spPr>
        <p:txBody>
          <a:bodyPr wrap="square" rtlCol="0" anchor="ctr"/>
          <a:lstStyle/>
          <a:p>
            <a:pPr indent="0" marL="0">
              <a:buNone/>
            </a:pPr>
            <a:r>
              <a:rPr lang="en-US" sz="900" b="1" dirty="0">
                <a:solidFill>
                  <a:srgbClr val="C0392B"/>
                </a:solidFill>
                <a:latin typeface="Hanken Grotesk" pitchFamily="34" charset="0"/>
                <a:ea typeface="Hanken Grotesk" pitchFamily="34" charset="-122"/>
                <a:cs typeface="Hanken Grotesk" pitchFamily="34" charset="-120"/>
              </a:rPr>
              <a:t>✗ </a:t>
            </a:r>
            <a:pPr indent="0" marL="0">
              <a:buNone/>
            </a:pPr>
            <a:r>
              <a:rPr lang="en-US" sz="900" b="1" dirty="0">
                <a:solidFill>
                  <a:srgbClr val="17324D"/>
                </a:solidFill>
                <a:latin typeface="Hanken Grotesk" pitchFamily="34" charset="0"/>
                <a:ea typeface="Hanken Grotesk" pitchFamily="34" charset="-122"/>
                <a:cs typeface="Hanken Grotesk" pitchFamily="34" charset="-120"/>
              </a:rPr>
              <a:t>80 km = 48 miles exactly  </a:t>
            </a:r>
            <a:pPr indent="0" marL="0">
              <a:buNone/>
            </a:pPr>
            <a:r>
              <a:rPr lang="en-US" sz="800" dirty="0">
                <a:solidFill>
                  <a:srgbClr val="24323F"/>
                </a:solidFill>
                <a:latin typeface="Hanken Grotesk" pitchFamily="34" charset="0"/>
                <a:ea typeface="Hanken Grotesk" pitchFamily="34" charset="-122"/>
                <a:cs typeface="Hanken Grotesk" pitchFamily="34" charset="-120"/>
              </a:rPr>
              <a:t>The factor is rounded; = claims too much.</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Guided Practice / Práctica Guiada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9</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73736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WE DO TOGETHER</a:t>
            </a:r>
            <a:endParaRPr lang="en-US" sz="900" dirty="0"/>
          </a:p>
        </p:txBody>
      </p:sp>
      <p:sp>
        <p:nvSpPr>
          <p:cNvPr id="19" name="Text 17"/>
          <p:cNvSpPr/>
          <p:nvPr/>
        </p:nvSpPr>
        <p:spPr>
          <a:xfrm>
            <a:off x="594360" y="1188720"/>
            <a:ext cx="512064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Comparing across two measurement systems</a:t>
            </a:r>
            <a:endParaRPr lang="en-US" sz="1200" dirty="0"/>
          </a:p>
        </p:txBody>
      </p:sp>
      <p:sp>
        <p:nvSpPr>
          <p:cNvPr id="20" name="Shape 18"/>
          <p:cNvSpPr/>
          <p:nvPr/>
        </p:nvSpPr>
        <p:spPr>
          <a:xfrm>
            <a:off x="640080" y="1609344"/>
            <a:ext cx="274320" cy="274320"/>
          </a:xfrm>
          <a:prstGeom prst="ellipse">
            <a:avLst/>
          </a:prstGeom>
          <a:solidFill>
            <a:srgbClr val="C0654A"/>
          </a:solidFill>
          <a:ln/>
        </p:spPr>
      </p:sp>
      <p:sp>
        <p:nvSpPr>
          <p:cNvPr id="21" name="Text 19"/>
          <p:cNvSpPr/>
          <p:nvPr/>
        </p:nvSpPr>
        <p:spPr>
          <a:xfrm>
            <a:off x="640080" y="160934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2" name="Text 20"/>
          <p:cNvSpPr/>
          <p:nvPr/>
        </p:nvSpPr>
        <p:spPr>
          <a:xfrm>
            <a:off x="1024128" y="1554480"/>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Terrance needs flea medicine for a dog weighing 31 pounds, but the packages are labeled in kilograms.</a:t>
            </a:r>
            <a:endParaRPr lang="en-US" sz="1050" dirty="0"/>
          </a:p>
        </p:txBody>
      </p:sp>
      <p:sp>
        <p:nvSpPr>
          <p:cNvPr id="23" name="Shape 21"/>
          <p:cNvSpPr/>
          <p:nvPr/>
        </p:nvSpPr>
        <p:spPr>
          <a:xfrm>
            <a:off x="640080" y="2084832"/>
            <a:ext cx="274320" cy="274320"/>
          </a:xfrm>
          <a:prstGeom prst="ellipse">
            <a:avLst/>
          </a:prstGeom>
          <a:solidFill>
            <a:srgbClr val="C0654A"/>
          </a:solidFill>
          <a:ln/>
        </p:spPr>
      </p:sp>
      <p:sp>
        <p:nvSpPr>
          <p:cNvPr id="24" name="Text 22"/>
          <p:cNvSpPr/>
          <p:nvPr/>
        </p:nvSpPr>
        <p:spPr>
          <a:xfrm>
            <a:off x="640080" y="208483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5" name="Text 23"/>
          <p:cNvSpPr/>
          <p:nvPr/>
        </p:nvSpPr>
        <p:spPr>
          <a:xfrm>
            <a:off x="1024128" y="2029968"/>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The conversion factor is 1 pound ≈ 0.45 kilogram, so the ratio is 1 : 0.45.</a:t>
            </a:r>
            <a:endParaRPr lang="en-US" sz="1050" dirty="0"/>
          </a:p>
        </p:txBody>
      </p:sp>
      <p:sp>
        <p:nvSpPr>
          <p:cNvPr id="26" name="Shape 24"/>
          <p:cNvSpPr/>
          <p:nvPr/>
        </p:nvSpPr>
        <p:spPr>
          <a:xfrm>
            <a:off x="640080" y="2560320"/>
            <a:ext cx="274320" cy="274320"/>
          </a:xfrm>
          <a:prstGeom prst="ellipse">
            <a:avLst/>
          </a:prstGeom>
          <a:solidFill>
            <a:srgbClr val="C0654A"/>
          </a:solidFill>
          <a:ln/>
        </p:spPr>
      </p:sp>
      <p:sp>
        <p:nvSpPr>
          <p:cNvPr id="27" name="Text 25"/>
          <p:cNvSpPr/>
          <p:nvPr/>
        </p:nvSpPr>
        <p:spPr>
          <a:xfrm>
            <a:off x="640080" y="256032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8" name="Text 26"/>
          <p:cNvSpPr/>
          <p:nvPr/>
        </p:nvSpPr>
        <p:spPr>
          <a:xfrm>
            <a:off x="1024128" y="2505456"/>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Scale it with a ratio table: 10 lb ≈ 4.5 kg, 20 lb ≈ 9 kg, 30 lb ≈ 13.5 kg, 40 lb ≈ 18 kg.</a:t>
            </a:r>
            <a:endParaRPr lang="en-US" sz="1050" dirty="0"/>
          </a:p>
        </p:txBody>
      </p:sp>
      <p:sp>
        <p:nvSpPr>
          <p:cNvPr id="29" name="Shape 27"/>
          <p:cNvSpPr/>
          <p:nvPr/>
        </p:nvSpPr>
        <p:spPr>
          <a:xfrm>
            <a:off x="640080" y="3035808"/>
            <a:ext cx="274320" cy="274320"/>
          </a:xfrm>
          <a:prstGeom prst="ellipse">
            <a:avLst/>
          </a:prstGeom>
          <a:solidFill>
            <a:srgbClr val="C0654A"/>
          </a:solidFill>
          <a:ln/>
        </p:spPr>
      </p:sp>
      <p:sp>
        <p:nvSpPr>
          <p:cNvPr id="30" name="Text 28"/>
          <p:cNvSpPr/>
          <p:nvPr/>
        </p:nvSpPr>
        <p:spPr>
          <a:xfrm>
            <a:off x="640080" y="303580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1" name="Text 29"/>
          <p:cNvSpPr/>
          <p:nvPr/>
        </p:nvSpPr>
        <p:spPr>
          <a:xfrm>
            <a:off x="1024128" y="2980944"/>
            <a:ext cx="48280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31 pounds is just past 30, so the dog is a little more than 13.5 kilograms. That falls inside the package for dogs between 10 and 25 kilograms.</a:t>
            </a:r>
            <a:endParaRPr lang="en-US" sz="1050" dirty="0"/>
          </a:p>
        </p:txBody>
      </p:sp>
      <p:sp>
        <p:nvSpPr>
          <p:cNvPr id="32" name="Text 30"/>
          <p:cNvSpPr/>
          <p:nvPr/>
        </p:nvSpPr>
        <p:spPr>
          <a:xfrm>
            <a:off x="594360" y="3886200"/>
            <a:ext cx="5120640" cy="228600"/>
          </a:xfrm>
          <a:prstGeom prst="rect">
            <a:avLst/>
          </a:prstGeom>
          <a:noFill/>
          <a:ln/>
        </p:spPr>
        <p:txBody>
          <a:bodyPr wrap="square" rtlCol="0" anchor="ctr"/>
          <a:lstStyle/>
          <a:p>
            <a:pPr indent="0" marL="0">
              <a:buNone/>
            </a:pPr>
            <a:r>
              <a:rPr lang="en-US" sz="900" i="1" dirty="0">
                <a:solidFill>
                  <a:srgbClr val="8A96A3"/>
                </a:solidFill>
                <a:latin typeface="Hanken Grotesk" pitchFamily="34" charset="0"/>
                <a:ea typeface="Hanken Grotesk" pitchFamily="34" charset="-122"/>
                <a:cs typeface="Hanken Grotesk" pitchFamily="34" charset="-120"/>
              </a:rPr>
              <a:t>Your turn — show your work:</a:t>
            </a:r>
            <a:endParaRPr lang="en-US" sz="900" dirty="0"/>
          </a:p>
        </p:txBody>
      </p:sp>
      <p:sp>
        <p:nvSpPr>
          <p:cNvPr id="33" name="Shape 31"/>
          <p:cNvSpPr/>
          <p:nvPr/>
        </p:nvSpPr>
        <p:spPr>
          <a:xfrm>
            <a:off x="640080" y="4297680"/>
            <a:ext cx="5120640" cy="0"/>
          </a:xfrm>
          <a:prstGeom prst="line">
            <a:avLst/>
          </a:prstGeom>
          <a:noFill/>
          <a:ln w="9525">
            <a:solidFill>
              <a:srgbClr val="C7CDD2"/>
            </a:solidFill>
            <a:prstDash val="dash"/>
          </a:ln>
        </p:spPr>
      </p:sp>
      <p:sp>
        <p:nvSpPr>
          <p:cNvPr id="34" name="Shape 32"/>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6" name="Text 34"/>
          <p:cNvSpPr/>
          <p:nvPr/>
        </p:nvSpPr>
        <p:spPr>
          <a:xfrm>
            <a:off x="6217920" y="1097280"/>
            <a:ext cx="2468880" cy="146304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A 5-kilometer race and a 5-mile race have the same number — 5. Before converting anything: which race is longer, and how do you know?</a:t>
            </a:r>
            <a:endParaRPr lang="en-US" sz="1000" dirty="0"/>
          </a:p>
        </p:txBody>
      </p:sp>
      <p:sp>
        <p:nvSpPr>
          <p:cNvPr id="37" name="Shape 35"/>
          <p:cNvSpPr/>
          <p:nvPr/>
        </p:nvSpPr>
        <p:spPr>
          <a:xfrm>
            <a:off x="6172200" y="2743200"/>
            <a:ext cx="2514600" cy="1828800"/>
          </a:xfrm>
          <a:prstGeom prst="roundRect">
            <a:avLst>
              <a:gd name="adj" fmla="val 40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Text 36"/>
          <p:cNvSpPr/>
          <p:nvPr/>
        </p:nvSpPr>
        <p:spPr>
          <a:xfrm>
            <a:off x="6309360" y="2834640"/>
            <a:ext cx="2286000" cy="228600"/>
          </a:xfrm>
          <a:prstGeom prst="rect">
            <a:avLst/>
          </a:prstGeom>
          <a:noFill/>
          <a:ln/>
        </p:spPr>
        <p:txBody>
          <a:bodyPr wrap="square" rtlCol="0" anchor="ctr"/>
          <a:lstStyle/>
          <a:p>
            <a:pPr indent="0" marL="0">
              <a:buNone/>
            </a:pPr>
            <a:r>
              <a:rPr lang="en-US" sz="950" b="1" dirty="0">
                <a:solidFill>
                  <a:srgbClr val="C0654A"/>
                </a:solidFill>
                <a:latin typeface="Outfit" pitchFamily="34" charset="0"/>
                <a:ea typeface="Outfit" pitchFamily="34" charset="-122"/>
                <a:cs typeface="Outfit" pitchFamily="34" charset="-120"/>
              </a:rPr>
              <a:t>🔑 Key Idea</a:t>
            </a:r>
            <a:endParaRPr lang="en-US" sz="950" dirty="0"/>
          </a:p>
        </p:txBody>
      </p:sp>
      <p:sp>
        <p:nvSpPr>
          <p:cNvPr id="39" name="Text 37"/>
          <p:cNvSpPr/>
          <p:nvPr/>
        </p:nvSpPr>
        <p:spPr>
          <a:xfrm>
            <a:off x="6309360" y="3108960"/>
            <a:ext cx="2286000" cy="1371600"/>
          </a:xfrm>
          <a:prstGeom prst="rect">
            <a:avLst/>
          </a:prstGeom>
          <a:noFill/>
          <a:ln/>
        </p:spPr>
        <p:txBody>
          <a:bodyPr wrap="square" rtlCol="0" anchor="t"/>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Converting Measurements Between Systems. 1. Identify the conversion ratio connecting systems (e.g. 1 in = 2.54 cm, 1 kg ≈ 2.2 lbs). 2. Set up a ratio table or proportion aligning customary and metric units. 3. Multiply or divide by the conversion factor to compute the equivalent measurement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Sort It Out / Clasifícalo</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10</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22960"/>
            <a:ext cx="5120640" cy="365760"/>
          </a:xfrm>
          <a:prstGeom prst="rect">
            <a:avLst/>
          </a:prstGeom>
          <a:noFill/>
          <a:ln/>
        </p:spPr>
        <p:txBody>
          <a:bodyPr wrap="square" rtlCol="0" anchor="ctr"/>
          <a:lstStyle/>
          <a:p>
            <a:pPr indent="0" marL="0">
              <a:buNone/>
            </a:pPr>
            <a:r>
              <a:rPr lang="en-US" sz="1050" b="1" dirty="0">
                <a:solidFill>
                  <a:srgbClr val="17324D"/>
                </a:solidFill>
                <a:latin typeface="Outfit" pitchFamily="34" charset="0"/>
                <a:ea typeface="Outfit" pitchFamily="34" charset="-122"/>
                <a:cs typeface="Outfit" pitchFamily="34" charset="-120"/>
              </a:rPr>
              <a:t>Sort each unit into the measurement system it belongs to. Converting between systems always crosses this line.</a:t>
            </a:r>
            <a:endParaRPr lang="en-US" sz="1050" dirty="0"/>
          </a:p>
        </p:txBody>
      </p:sp>
      <p:sp>
        <p:nvSpPr>
          <p:cNvPr id="19" name="Text 17"/>
          <p:cNvSpPr/>
          <p:nvPr/>
        </p:nvSpPr>
        <p:spPr>
          <a:xfrm>
            <a:off x="594360" y="1234440"/>
            <a:ext cx="5120640" cy="219456"/>
          </a:xfrm>
          <a:prstGeom prst="rect">
            <a:avLst/>
          </a:prstGeom>
          <a:noFill/>
          <a:ln/>
        </p:spPr>
        <p:txBody>
          <a:bodyPr wrap="square" rtlCol="0" anchor="ctr"/>
          <a:lstStyle/>
          <a:p>
            <a:pPr indent="0" marL="0">
              <a:buNone/>
            </a:pPr>
            <a:r>
              <a:rPr lang="en-US" sz="850" i="1" dirty="0">
                <a:solidFill>
                  <a:srgbClr val="8A96A3"/>
                </a:solidFill>
                <a:latin typeface="Hanken Grotesk" pitchFamily="34" charset="0"/>
                <a:ea typeface="Hanken Grotesk" pitchFamily="34" charset="-122"/>
                <a:cs typeface="Hanken Grotesk" pitchFamily="34" charset="-120"/>
              </a:rPr>
              <a:t>Card Bank — cut or sort these cards:</a:t>
            </a:r>
            <a:endParaRPr lang="en-US" sz="850" dirty="0"/>
          </a:p>
        </p:txBody>
      </p:sp>
      <p:sp>
        <p:nvSpPr>
          <p:cNvPr id="20" name="Text 18"/>
          <p:cNvSpPr/>
          <p:nvPr/>
        </p:nvSpPr>
        <p:spPr>
          <a:xfrm>
            <a:off x="59436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mile</a:t>
            </a:r>
            <a:endParaRPr lang="en-US" sz="900" dirty="0"/>
          </a:p>
        </p:txBody>
      </p:sp>
      <p:sp>
        <p:nvSpPr>
          <p:cNvPr id="21" name="Text 19"/>
          <p:cNvSpPr/>
          <p:nvPr/>
        </p:nvSpPr>
        <p:spPr>
          <a:xfrm>
            <a:off x="236220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kilometer</a:t>
            </a:r>
            <a:endParaRPr lang="en-US" sz="900" dirty="0"/>
          </a:p>
        </p:txBody>
      </p:sp>
      <p:sp>
        <p:nvSpPr>
          <p:cNvPr id="22" name="Text 20"/>
          <p:cNvSpPr/>
          <p:nvPr/>
        </p:nvSpPr>
        <p:spPr>
          <a:xfrm>
            <a:off x="4130040" y="1481328"/>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pound</a:t>
            </a:r>
            <a:endParaRPr lang="en-US" sz="900" dirty="0"/>
          </a:p>
        </p:txBody>
      </p:sp>
      <p:sp>
        <p:nvSpPr>
          <p:cNvPr id="23" name="Text 21"/>
          <p:cNvSpPr/>
          <p:nvPr/>
        </p:nvSpPr>
        <p:spPr>
          <a:xfrm>
            <a:off x="594360" y="1975104"/>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kilogram</a:t>
            </a:r>
            <a:endParaRPr lang="en-US" sz="900" dirty="0"/>
          </a:p>
        </p:txBody>
      </p:sp>
      <p:sp>
        <p:nvSpPr>
          <p:cNvPr id="24" name="Text 22"/>
          <p:cNvSpPr/>
          <p:nvPr/>
        </p:nvSpPr>
        <p:spPr>
          <a:xfrm>
            <a:off x="2362200" y="1975104"/>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inch</a:t>
            </a:r>
            <a:endParaRPr lang="en-US" sz="900" dirty="0"/>
          </a:p>
        </p:txBody>
      </p:sp>
      <p:sp>
        <p:nvSpPr>
          <p:cNvPr id="25" name="Text 23"/>
          <p:cNvSpPr/>
          <p:nvPr/>
        </p:nvSpPr>
        <p:spPr>
          <a:xfrm>
            <a:off x="4130040" y="1975104"/>
            <a:ext cx="1630680" cy="384048"/>
          </a:xfrm>
          <a:prstGeom prst="roundRect">
            <a:avLst>
              <a:gd name="adj" fmla="val 11905"/>
            </a:avLst>
          </a:prstGeom>
          <a:solidFill>
            <a:srgbClr val="FBEFD0"/>
          </a:solidFill>
          <a:ln w="12700">
            <a:solidFill>
              <a:srgbClr val="D6DBDF"/>
            </a:solidFill>
          </a:ln>
        </p:spPr>
        <p:txBody>
          <a:bodyPr wrap="square" rtlCol="0" anchor="ctr"/>
          <a:lstStyle/>
          <a:p>
            <a:pPr algn="ctr" indent="0" marL="0">
              <a:buNone/>
            </a:pPr>
            <a:r>
              <a:rPr lang="en-US" sz="900" b="1" dirty="0">
                <a:solidFill>
                  <a:srgbClr val="17324D"/>
                </a:solidFill>
                <a:latin typeface="Hanken Grotesk" pitchFamily="34" charset="0"/>
                <a:ea typeface="Hanken Grotesk" pitchFamily="34" charset="-122"/>
                <a:cs typeface="Hanken Grotesk" pitchFamily="34" charset="-120"/>
              </a:rPr>
              <a:t>centimeter</a:t>
            </a:r>
            <a:endParaRPr lang="en-US" sz="900" dirty="0"/>
          </a:p>
        </p:txBody>
      </p:sp>
      <p:sp>
        <p:nvSpPr>
          <p:cNvPr id="26" name="Shape 24"/>
          <p:cNvSpPr/>
          <p:nvPr/>
        </p:nvSpPr>
        <p:spPr>
          <a:xfrm>
            <a:off x="594360" y="2560320"/>
            <a:ext cx="2514600" cy="1965960"/>
          </a:xfrm>
          <a:prstGeom prst="roundRect">
            <a:avLst>
              <a:gd name="adj" fmla="val 2326"/>
            </a:avLst>
          </a:prstGeom>
          <a:solidFill>
            <a:srgbClr val="FFFFFF"/>
          </a:solidFill>
          <a:ln w="12700">
            <a:solidFill>
              <a:srgbClr val="C0654A"/>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94360" y="2560320"/>
            <a:ext cx="2514600" cy="292608"/>
          </a:xfrm>
          <a:prstGeom prst="rect">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Customary</a:t>
            </a:r>
            <a:endParaRPr lang="en-US" sz="950" dirty="0"/>
          </a:p>
        </p:txBody>
      </p:sp>
      <p:sp>
        <p:nvSpPr>
          <p:cNvPr id="28" name="Shape 26"/>
          <p:cNvSpPr/>
          <p:nvPr/>
        </p:nvSpPr>
        <p:spPr>
          <a:xfrm>
            <a:off x="3246120" y="2560320"/>
            <a:ext cx="2514600" cy="1965960"/>
          </a:xfrm>
          <a:prstGeom prst="roundRect">
            <a:avLst>
              <a:gd name="adj" fmla="val 2326"/>
            </a:avLst>
          </a:prstGeom>
          <a:solidFill>
            <a:srgbClr val="FFFFFF"/>
          </a:solidFill>
          <a:ln w="12700">
            <a:solidFill>
              <a:srgbClr val="C0654A"/>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3246120" y="2560320"/>
            <a:ext cx="2514600" cy="292608"/>
          </a:xfrm>
          <a:prstGeom prst="rect">
            <a:avLst/>
          </a:prstGeom>
          <a:solidFill>
            <a:srgbClr val="C0654A"/>
          </a:solidFill>
          <a:ln/>
        </p:spPr>
        <p:txBody>
          <a:bodyPr wrap="square" rtlCol="0" anchor="ctr"/>
          <a:lstStyle/>
          <a:p>
            <a:pPr algn="ctr" indent="0" marL="0">
              <a:buNone/>
            </a:pPr>
            <a:r>
              <a:rPr lang="en-US" sz="950" b="1" dirty="0">
                <a:solidFill>
                  <a:srgbClr val="FFFFFF"/>
                </a:solidFill>
                <a:latin typeface="Outfit" pitchFamily="34" charset="0"/>
                <a:ea typeface="Outfit" pitchFamily="34" charset="-122"/>
                <a:cs typeface="Outfit" pitchFamily="34" charset="-120"/>
              </a:rPr>
              <a:t>Metric</a:t>
            </a:r>
            <a:endParaRPr lang="en-US" sz="950" dirty="0"/>
          </a:p>
        </p:txBody>
      </p:sp>
      <p:sp>
        <p:nvSpPr>
          <p:cNvPr id="30" name="Shape 28"/>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32" name="Text 30"/>
          <p:cNvSpPr/>
          <p:nvPr/>
        </p:nvSpPr>
        <p:spPr>
          <a:xfrm>
            <a:off x="6217920" y="1097280"/>
            <a:ext cx="2468880" cy="137160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To convert between systems you used a conversion factor like 1 km ≈ 0.6 mi as a RATIO. How does writing it as the ratio 1 : 0.6 let a table do the converting for you?</a:t>
            </a:r>
            <a:endParaRPr lang="en-US" sz="1000" dirty="0"/>
          </a:p>
        </p:txBody>
      </p:sp>
      <p:sp>
        <p:nvSpPr>
          <p:cNvPr id="33" name="Shape 31"/>
          <p:cNvSpPr/>
          <p:nvPr/>
        </p:nvSpPr>
        <p:spPr>
          <a:xfrm>
            <a:off x="6217920" y="2743200"/>
            <a:ext cx="2423160" cy="0"/>
          </a:xfrm>
          <a:prstGeom prst="line">
            <a:avLst/>
          </a:prstGeom>
          <a:noFill/>
          <a:ln w="9525">
            <a:solidFill>
              <a:srgbClr val="C7CDD2"/>
            </a:solidFill>
            <a:prstDash val="dash"/>
          </a:ln>
        </p:spPr>
      </p:sp>
      <p:sp>
        <p:nvSpPr>
          <p:cNvPr id="34" name="Shape 32"/>
          <p:cNvSpPr/>
          <p:nvPr/>
        </p:nvSpPr>
        <p:spPr>
          <a:xfrm>
            <a:off x="6217920" y="3072384"/>
            <a:ext cx="2423160" cy="0"/>
          </a:xfrm>
          <a:prstGeom prst="line">
            <a:avLst/>
          </a:prstGeom>
          <a:noFill/>
          <a:ln w="9525">
            <a:solidFill>
              <a:srgbClr val="C7CDD2"/>
            </a:solidFill>
            <a:prstDash val="dash"/>
          </a:ln>
        </p:spPr>
      </p:sp>
      <p:sp>
        <p:nvSpPr>
          <p:cNvPr id="35" name="Shape 33"/>
          <p:cNvSpPr/>
          <p:nvPr/>
        </p:nvSpPr>
        <p:spPr>
          <a:xfrm>
            <a:off x="6217920" y="3401568"/>
            <a:ext cx="2423160" cy="0"/>
          </a:xfrm>
          <a:prstGeom prst="line">
            <a:avLst/>
          </a:prstGeom>
          <a:noFill/>
          <a:ln w="9525">
            <a:solidFill>
              <a:srgbClr val="C7CDD2"/>
            </a:solidFill>
            <a:prstDash val="dash"/>
          </a:ln>
        </p:spPr>
      </p:sp>
      <p:sp>
        <p:nvSpPr>
          <p:cNvPr id="36" name="Shape 34"/>
          <p:cNvSpPr/>
          <p:nvPr/>
        </p:nvSpPr>
        <p:spPr>
          <a:xfrm>
            <a:off x="6217920" y="3730752"/>
            <a:ext cx="2423160" cy="0"/>
          </a:xfrm>
          <a:prstGeom prst="line">
            <a:avLst/>
          </a:prstGeom>
          <a:noFill/>
          <a:ln w="9525">
            <a:solidFill>
              <a:srgbClr val="C7CDD2"/>
            </a:solidFill>
            <a:prstDash val="dash"/>
          </a:ln>
        </p:spPr>
      </p:sp>
      <p:sp>
        <p:nvSpPr>
          <p:cNvPr id="37" name="Shape 35"/>
          <p:cNvSpPr/>
          <p:nvPr/>
        </p:nvSpPr>
        <p:spPr>
          <a:xfrm>
            <a:off x="6217920" y="4059936"/>
            <a:ext cx="2423160" cy="0"/>
          </a:xfrm>
          <a:prstGeom prst="line">
            <a:avLst/>
          </a:prstGeom>
          <a:noFill/>
          <a:ln w="9525">
            <a:solidFill>
              <a:srgbClr val="C7CDD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Error Analysis / Análisis de Errores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11</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554480" cy="274320"/>
          </a:xfrm>
          <a:prstGeom prst="rect">
            <a:avLst>
              <a:gd name="adj" fmla="val 50000"/>
            </a:avLst>
          </a:prstGeom>
          <a:solidFill>
            <a:srgbClr val="C0392B"/>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FIND THE ERROR</a:t>
            </a:r>
            <a:endParaRPr lang="en-US" sz="900" dirty="0"/>
          </a:p>
        </p:txBody>
      </p:sp>
      <p:sp>
        <p:nvSpPr>
          <p:cNvPr id="19" name="Text 17"/>
          <p:cNvSpPr/>
          <p:nvPr/>
        </p:nvSpPr>
        <p:spPr>
          <a:xfrm>
            <a:off x="2286000" y="841248"/>
            <a:ext cx="3383280" cy="274320"/>
          </a:xfrm>
          <a:prstGeom prst="rect">
            <a:avLst/>
          </a:prstGeom>
          <a:noFill/>
          <a:ln/>
        </p:spPr>
        <p:txBody>
          <a:bodyPr wrap="square" rtlCol="0" anchor="ctr"/>
          <a:lstStyle/>
          <a:p>
            <a:pPr indent="0" marL="0">
              <a:buNone/>
            </a:pPr>
            <a:r>
              <a:rPr lang="en-US" sz="1100" b="1" dirty="0">
                <a:solidFill>
                  <a:srgbClr val="17324D"/>
                </a:solidFill>
                <a:latin typeface="Outfit" pitchFamily="34" charset="0"/>
                <a:ea typeface="Outfit" pitchFamily="34" charset="-122"/>
                <a:cs typeface="Outfit" pitchFamily="34" charset="-120"/>
              </a:rPr>
              <a:t>Find the error</a:t>
            </a:r>
            <a:endParaRPr lang="en-US" sz="1100" dirty="0"/>
          </a:p>
        </p:txBody>
      </p:sp>
      <p:sp>
        <p:nvSpPr>
          <p:cNvPr id="20" name="Text 18"/>
          <p:cNvSpPr/>
          <p:nvPr/>
        </p:nvSpPr>
        <p:spPr>
          <a:xfrm>
            <a:off x="594360" y="1188720"/>
            <a:ext cx="5120640" cy="365760"/>
          </a:xfrm>
          <a:prstGeom prst="rect">
            <a:avLst/>
          </a:prstGeom>
          <a:noFill/>
          <a:ln/>
        </p:spPr>
        <p:txBody>
          <a:bodyPr wrap="square" rtlCol="0" anchor="ctr"/>
          <a:lstStyle/>
          <a:p>
            <a:pPr indent="0" marL="0">
              <a:buNone/>
            </a:pPr>
            <a:r>
              <a:rPr lang="en-US" sz="950" dirty="0">
                <a:solidFill>
                  <a:srgbClr val="24323F"/>
                </a:solidFill>
                <a:latin typeface="Hanken Grotesk" pitchFamily="34" charset="0"/>
                <a:ea typeface="Hanken Grotesk" pitchFamily="34" charset="-122"/>
                <a:cs typeface="Hanken Grotesk" pitchFamily="34" charset="-120"/>
              </a:rPr>
              <a:t>A classmate turned in the work below. One step has a mistake — find it, name it, fix it.</a:t>
            </a:r>
            <a:endParaRPr lang="en-US" sz="950" dirty="0"/>
          </a:p>
        </p:txBody>
      </p:sp>
      <p:sp>
        <p:nvSpPr>
          <p:cNvPr id="21" name="Shape 19"/>
          <p:cNvSpPr/>
          <p:nvPr/>
        </p:nvSpPr>
        <p:spPr>
          <a:xfrm>
            <a:off x="594360" y="1627632"/>
            <a:ext cx="5166360" cy="1901952"/>
          </a:xfrm>
          <a:prstGeom prst="roundRect">
            <a:avLst>
              <a:gd name="adj" fmla="val 2404"/>
            </a:avLst>
          </a:prstGeom>
          <a:solidFill>
            <a:srgbClr val="F4F1E8"/>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2" name="Text 20"/>
          <p:cNvSpPr/>
          <p:nvPr/>
        </p:nvSpPr>
        <p:spPr>
          <a:xfrm>
            <a:off x="713232" y="1691640"/>
            <a:ext cx="4937760" cy="219456"/>
          </a:xfrm>
          <a:prstGeom prst="rect">
            <a:avLst/>
          </a:prstGeom>
          <a:noFill/>
          <a:ln/>
        </p:spPr>
        <p:txBody>
          <a:bodyPr wrap="square" rtlCol="0" anchor="ctr"/>
          <a:lstStyle/>
          <a:p>
            <a:pPr indent="0" marL="0">
              <a:buNone/>
            </a:pPr>
            <a:r>
              <a:rPr lang="en-US" sz="800" i="1" dirty="0">
                <a:solidFill>
                  <a:srgbClr val="8A96A3"/>
                </a:solidFill>
                <a:latin typeface="Hanken Grotesk" pitchFamily="34" charset="0"/>
                <a:ea typeface="Hanken Grotesk" pitchFamily="34" charset="-122"/>
                <a:cs typeface="Hanken Grotesk" pitchFamily="34" charset="-120"/>
              </a:rPr>
              <a:t>Student's work (contains an error):</a:t>
            </a:r>
            <a:endParaRPr lang="en-US" sz="800" dirty="0"/>
          </a:p>
        </p:txBody>
      </p:sp>
      <p:sp>
        <p:nvSpPr>
          <p:cNvPr id="23" name="Text 21"/>
          <p:cNvSpPr/>
          <p:nvPr/>
        </p:nvSpPr>
        <p:spPr>
          <a:xfrm>
            <a:off x="777240" y="1938528"/>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1. </a:t>
            </a:r>
            <a:pPr indent="0" marL="0">
              <a:buNone/>
            </a:pPr>
            <a:r>
              <a:rPr lang="en-US" sz="950" b="1" dirty="0">
                <a:solidFill>
                  <a:srgbClr val="17324D"/>
                </a:solidFill>
                <a:latin typeface="Hanken Grotesk" pitchFamily="34" charset="0"/>
                <a:ea typeface="Hanken Grotesk" pitchFamily="34" charset="-122"/>
                <a:cs typeface="Hanken Grotesk" pitchFamily="34" charset="-120"/>
              </a:rPr>
              <a:t>Setup:  </a:t>
            </a:r>
            <a:pPr indent="0" marL="0">
              <a:buNone/>
            </a:pPr>
            <a:r>
              <a:rPr lang="en-US" sz="950" b="1" dirty="0">
                <a:solidFill>
                  <a:srgbClr val="24323F"/>
                </a:solidFill>
                <a:latin typeface="Courier New" pitchFamily="34" charset="0"/>
                <a:ea typeface="Courier New" pitchFamily="34" charset="-122"/>
                <a:cs typeface="Courier New" pitchFamily="34" charset="-120"/>
              </a:rPr>
              <a:t>Which is longer, 5 kilometers or 5 miles? (1 km ≈ 0.6 mi)</a:t>
            </a:r>
            <a:endParaRPr lang="en-US" sz="950" dirty="0"/>
          </a:p>
        </p:txBody>
      </p:sp>
      <p:sp>
        <p:nvSpPr>
          <p:cNvPr id="24" name="Text 22"/>
          <p:cNvSpPr/>
          <p:nvPr/>
        </p:nvSpPr>
        <p:spPr>
          <a:xfrm>
            <a:off x="777240" y="2322576"/>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2. </a:t>
            </a:r>
            <a:pPr indent="0" marL="0">
              <a:buNone/>
            </a:pPr>
            <a:r>
              <a:rPr lang="en-US" sz="950" b="1" dirty="0">
                <a:solidFill>
                  <a:srgbClr val="17324D"/>
                </a:solidFill>
                <a:latin typeface="Hanken Grotesk" pitchFamily="34" charset="0"/>
                <a:ea typeface="Hanken Grotesk" pitchFamily="34" charset="-122"/>
                <a:cs typeface="Hanken Grotesk" pitchFamily="34" charset="-120"/>
              </a:rPr>
              <a:t>Step 1:  </a:t>
            </a:r>
            <a:pPr indent="0" marL="0">
              <a:buNone/>
            </a:pPr>
            <a:r>
              <a:rPr lang="en-US" sz="950" b="1" dirty="0">
                <a:solidFill>
                  <a:srgbClr val="24323F"/>
                </a:solidFill>
                <a:latin typeface="Courier New" pitchFamily="34" charset="0"/>
                <a:ea typeface="Courier New" pitchFamily="34" charset="-122"/>
                <a:cs typeface="Courier New" pitchFamily="34" charset="-120"/>
              </a:rPr>
              <a:t>Both numbers are 5.</a:t>
            </a:r>
            <a:endParaRPr lang="en-US" sz="950" dirty="0"/>
          </a:p>
        </p:txBody>
      </p:sp>
      <p:sp>
        <p:nvSpPr>
          <p:cNvPr id="25" name="Text 23"/>
          <p:cNvSpPr/>
          <p:nvPr/>
        </p:nvSpPr>
        <p:spPr>
          <a:xfrm>
            <a:off x="777240" y="2706624"/>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3. </a:t>
            </a:r>
            <a:pPr indent="0" marL="0">
              <a:buNone/>
            </a:pPr>
            <a:r>
              <a:rPr lang="en-US" sz="950" b="1" dirty="0">
                <a:solidFill>
                  <a:srgbClr val="17324D"/>
                </a:solidFill>
                <a:latin typeface="Hanken Grotesk" pitchFamily="34" charset="0"/>
                <a:ea typeface="Hanken Grotesk" pitchFamily="34" charset="-122"/>
                <a:cs typeface="Hanken Grotesk" pitchFamily="34" charset="-120"/>
              </a:rPr>
              <a:t>Step 2:  </a:t>
            </a:r>
            <a:pPr indent="0" marL="0">
              <a:buNone/>
            </a:pPr>
            <a:r>
              <a:rPr lang="en-US" sz="950" b="1" dirty="0">
                <a:solidFill>
                  <a:srgbClr val="24323F"/>
                </a:solidFill>
                <a:latin typeface="Courier New" pitchFamily="34" charset="0"/>
                <a:ea typeface="Courier New" pitchFamily="34" charset="-122"/>
                <a:cs typeface="Courier New" pitchFamily="34" charset="-120"/>
              </a:rPr>
              <a:t>The units are different, so I compare the numbers: they are equal.</a:t>
            </a:r>
            <a:endParaRPr lang="en-US" sz="950" dirty="0"/>
          </a:p>
        </p:txBody>
      </p:sp>
      <p:sp>
        <p:nvSpPr>
          <p:cNvPr id="26" name="Text 24"/>
          <p:cNvSpPr/>
          <p:nvPr/>
        </p:nvSpPr>
        <p:spPr>
          <a:xfrm>
            <a:off x="777240" y="3090672"/>
            <a:ext cx="4892040" cy="347472"/>
          </a:xfrm>
          <a:prstGeom prst="rect">
            <a:avLst/>
          </a:prstGeom>
          <a:noFill/>
          <a:ln/>
        </p:spPr>
        <p:txBody>
          <a:bodyPr wrap="square" rtlCol="0" anchor="ctr"/>
          <a:lstStyle/>
          <a:p>
            <a:pPr indent="0" marL="0">
              <a:buNone/>
            </a:pPr>
            <a:r>
              <a:rPr lang="en-US" sz="950" b="1" dirty="0">
                <a:solidFill>
                  <a:srgbClr val="17324D"/>
                </a:solidFill>
                <a:latin typeface="Hanken Grotesk" pitchFamily="34" charset="0"/>
                <a:ea typeface="Hanken Grotesk" pitchFamily="34" charset="-122"/>
                <a:cs typeface="Hanken Grotesk" pitchFamily="34" charset="-120"/>
              </a:rPr>
              <a:t>4. </a:t>
            </a:r>
            <a:pPr indent="0" marL="0">
              <a:buNone/>
            </a:pPr>
            <a:r>
              <a:rPr lang="en-US" sz="950" b="1" dirty="0">
                <a:solidFill>
                  <a:srgbClr val="17324D"/>
                </a:solidFill>
                <a:latin typeface="Hanken Grotesk" pitchFamily="34" charset="0"/>
                <a:ea typeface="Hanken Grotesk" pitchFamily="34" charset="-122"/>
                <a:cs typeface="Hanken Grotesk" pitchFamily="34" charset="-120"/>
              </a:rPr>
              <a:t>Step 3:  </a:t>
            </a:r>
            <a:pPr indent="0" marL="0">
              <a:buNone/>
            </a:pPr>
            <a:r>
              <a:rPr lang="en-US" sz="950" b="1" dirty="0">
                <a:solidFill>
                  <a:srgbClr val="24323F"/>
                </a:solidFill>
                <a:latin typeface="Courier New" pitchFamily="34" charset="0"/>
                <a:ea typeface="Courier New" pitchFamily="34" charset="-122"/>
                <a:cs typeface="Courier New" pitchFamily="34" charset="-120"/>
              </a:rPr>
              <a:t>5 kilometers is the same distance as 5 miles.</a:t>
            </a:r>
            <a:endParaRPr lang="en-US" sz="950" dirty="0"/>
          </a:p>
        </p:txBody>
      </p:sp>
      <p:sp>
        <p:nvSpPr>
          <p:cNvPr id="27" name="Text 25"/>
          <p:cNvSpPr/>
          <p:nvPr/>
        </p:nvSpPr>
        <p:spPr>
          <a:xfrm>
            <a:off x="594360" y="3666744"/>
            <a:ext cx="5120640" cy="22860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Which step has the error? Circle it above.</a:t>
            </a:r>
            <a:endParaRPr lang="en-US" sz="900" dirty="0"/>
          </a:p>
        </p:txBody>
      </p:sp>
      <p:sp>
        <p:nvSpPr>
          <p:cNvPr id="28" name="Shape 26"/>
          <p:cNvSpPr/>
          <p:nvPr/>
        </p:nvSpPr>
        <p:spPr>
          <a:xfrm>
            <a:off x="6035040" y="685800"/>
            <a:ext cx="2788920" cy="4023360"/>
          </a:xfrm>
          <a:prstGeom prst="roundRect">
            <a:avLst>
              <a:gd name="adj" fmla="val 2623"/>
            </a:avLst>
          </a:prstGeom>
          <a:solidFill>
            <a:srgbClr val="FCE6DE"/>
          </a:solidFill>
          <a:ln w="12700">
            <a:solidFill>
              <a:srgbClr val="E2A39B"/>
            </a:solidFill>
            <a:prstDash val="solid"/>
          </a:ln>
          <a:effectLst>
            <a:outerShdw sx="100000" sy="100000" kx="0" ky="0" algn="bl" rotWithShape="0" blurRad="50800" dist="12700" dir="5400000">
              <a:srgbClr val="1C2E42">
                <a:alpha val="10000"/>
              </a:srgbClr>
            </a:outerShdw>
          </a:effectLst>
        </p:spPr>
      </p:sp>
      <p:sp>
        <p:nvSpPr>
          <p:cNvPr id="29" name="Text 27"/>
          <p:cNvSpPr/>
          <p:nvPr/>
        </p:nvSpPr>
        <p:spPr>
          <a:xfrm>
            <a:off x="6035040" y="685800"/>
            <a:ext cx="2788920" cy="274320"/>
          </a:xfrm>
          <a:prstGeom prst="rect">
            <a:avLst/>
          </a:prstGeom>
          <a:solidFill>
            <a:srgbClr val="C0392B"/>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Explain &amp; Fix</a:t>
            </a:r>
            <a:endParaRPr lang="en-US" sz="1000" dirty="0"/>
          </a:p>
        </p:txBody>
      </p:sp>
      <p:sp>
        <p:nvSpPr>
          <p:cNvPr id="30" name="Text 28"/>
          <p:cNvSpPr/>
          <p:nvPr/>
        </p:nvSpPr>
        <p:spPr>
          <a:xfrm>
            <a:off x="6217920" y="1097280"/>
            <a:ext cx="2468880" cy="50292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The mistake was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 because </a:t>
            </a:r>
            <a:pPr indent="0" marL="0">
              <a:buNone/>
            </a:pPr>
            <a:r>
              <a:rPr lang="en-US" sz="1000" b="1" dirty="0">
                <a:solidFill>
                  <a:srgbClr val="17324D"/>
                </a:solidFill>
                <a:latin typeface="Hanken Grotesk" pitchFamily="34" charset="0"/>
                <a:ea typeface="Hanken Grotesk" pitchFamily="34" charset="-122"/>
                <a:cs typeface="Hanken Grotesk" pitchFamily="34" charset="-120"/>
              </a:rPr>
              <a:t>___</a:t>
            </a:r>
            <a:pPr indent="0" marL="0">
              <a:buNone/>
            </a:pPr>
            <a:r>
              <a:rPr lang="en-US" sz="1000" dirty="0">
                <a:solidFill>
                  <a:srgbClr val="17324D"/>
                </a:solidFill>
                <a:latin typeface="Hanken Grotesk" pitchFamily="34" charset="0"/>
                <a:ea typeface="Hanken Grotesk" pitchFamily="34" charset="-122"/>
                <a:cs typeface="Hanken Grotesk" pitchFamily="34" charset="-120"/>
              </a:rPr>
              <a:t>.</a:t>
            </a:r>
            <a:endParaRPr lang="en-US" sz="1000" dirty="0"/>
          </a:p>
        </p:txBody>
      </p:sp>
      <p:sp>
        <p:nvSpPr>
          <p:cNvPr id="31" name="Shape 29"/>
          <p:cNvSpPr/>
          <p:nvPr/>
        </p:nvSpPr>
        <p:spPr>
          <a:xfrm>
            <a:off x="6217920" y="1783080"/>
            <a:ext cx="2423160" cy="0"/>
          </a:xfrm>
          <a:prstGeom prst="line">
            <a:avLst/>
          </a:prstGeom>
          <a:noFill/>
          <a:ln w="9525">
            <a:solidFill>
              <a:srgbClr val="C7CDD2"/>
            </a:solidFill>
            <a:prstDash val="dash"/>
          </a:ln>
        </p:spPr>
      </p:sp>
      <p:sp>
        <p:nvSpPr>
          <p:cNvPr id="32" name="Shape 30"/>
          <p:cNvSpPr/>
          <p:nvPr/>
        </p:nvSpPr>
        <p:spPr>
          <a:xfrm>
            <a:off x="6217920" y="2075688"/>
            <a:ext cx="2423160" cy="0"/>
          </a:xfrm>
          <a:prstGeom prst="line">
            <a:avLst/>
          </a:prstGeom>
          <a:noFill/>
          <a:ln w="9525">
            <a:solidFill>
              <a:srgbClr val="C7CDD2"/>
            </a:solidFill>
            <a:prstDash val="dash"/>
          </a:ln>
        </p:spPr>
      </p:sp>
      <p:sp>
        <p:nvSpPr>
          <p:cNvPr id="33" name="Shape 31"/>
          <p:cNvSpPr/>
          <p:nvPr/>
        </p:nvSpPr>
        <p:spPr>
          <a:xfrm>
            <a:off x="6217920" y="2368296"/>
            <a:ext cx="2423160" cy="0"/>
          </a:xfrm>
          <a:prstGeom prst="line">
            <a:avLst/>
          </a:prstGeom>
          <a:noFill/>
          <a:ln w="9525">
            <a:solidFill>
              <a:srgbClr val="C7CDD2"/>
            </a:solidFill>
            <a:prstDash val="dash"/>
          </a:ln>
        </p:spPr>
      </p:sp>
      <p:sp>
        <p:nvSpPr>
          <p:cNvPr id="34" name="Text 32"/>
          <p:cNvSpPr/>
          <p:nvPr/>
        </p:nvSpPr>
        <p:spPr>
          <a:xfrm>
            <a:off x="6217920" y="2788920"/>
            <a:ext cx="2468880" cy="274320"/>
          </a:xfrm>
          <a:prstGeom prst="rect">
            <a:avLst/>
          </a:prstGeom>
          <a:noFill/>
          <a:ln/>
        </p:spPr>
        <p:txBody>
          <a:bodyPr wrap="square" rtlCol="0" anchor="ctr"/>
          <a:lstStyle/>
          <a:p>
            <a:pPr indent="0" marL="0">
              <a:buNone/>
            </a:pPr>
            <a:r>
              <a:rPr lang="en-US" sz="900" b="1" dirty="0">
                <a:solidFill>
                  <a:srgbClr val="17324D"/>
                </a:solidFill>
                <a:latin typeface="Hanken Grotesk" pitchFamily="34" charset="0"/>
                <a:ea typeface="Hanken Grotesk" pitchFamily="34" charset="-122"/>
                <a:cs typeface="Hanken Grotesk" pitchFamily="34" charset="-120"/>
              </a:rPr>
              <a:t>Fix it — rewrite the step correctly:</a:t>
            </a:r>
            <a:endParaRPr lang="en-US" sz="900" dirty="0"/>
          </a:p>
        </p:txBody>
      </p:sp>
      <p:sp>
        <p:nvSpPr>
          <p:cNvPr id="35" name="Shape 33"/>
          <p:cNvSpPr/>
          <p:nvPr/>
        </p:nvSpPr>
        <p:spPr>
          <a:xfrm>
            <a:off x="6217920" y="3246120"/>
            <a:ext cx="2423160" cy="0"/>
          </a:xfrm>
          <a:prstGeom prst="line">
            <a:avLst/>
          </a:prstGeom>
          <a:noFill/>
          <a:ln w="9525">
            <a:solidFill>
              <a:srgbClr val="C7CDD2"/>
            </a:solidFill>
            <a:prstDash val="dash"/>
          </a:ln>
        </p:spPr>
      </p:sp>
      <p:sp>
        <p:nvSpPr>
          <p:cNvPr id="36" name="Shape 34"/>
          <p:cNvSpPr/>
          <p:nvPr/>
        </p:nvSpPr>
        <p:spPr>
          <a:xfrm>
            <a:off x="6217920" y="3538728"/>
            <a:ext cx="2423160" cy="0"/>
          </a:xfrm>
          <a:prstGeom prst="line">
            <a:avLst/>
          </a:prstGeom>
          <a:noFill/>
          <a:ln w="9525">
            <a:solidFill>
              <a:srgbClr val="C7CDD2"/>
            </a:solidFill>
            <a:prstDash val="dash"/>
          </a:ln>
        </p:spPr>
      </p:sp>
      <p:sp>
        <p:nvSpPr>
          <p:cNvPr id="37" name="Shape 35"/>
          <p:cNvSpPr/>
          <p:nvPr/>
        </p:nvSpPr>
        <p:spPr>
          <a:xfrm>
            <a:off x="6217920" y="3831336"/>
            <a:ext cx="2423160" cy="0"/>
          </a:xfrm>
          <a:prstGeom prst="line">
            <a:avLst/>
          </a:prstGeom>
          <a:noFill/>
          <a:ln w="9525">
            <a:solidFill>
              <a:srgbClr val="C7CDD2"/>
            </a:solidFill>
            <a:prstDash val="dash"/>
          </a:ln>
        </p:spPr>
      </p:sp>
      <p:sp>
        <p:nvSpPr>
          <p:cNvPr id="38" name="Shape 36"/>
          <p:cNvSpPr/>
          <p:nvPr/>
        </p:nvSpPr>
        <p:spPr>
          <a:xfrm>
            <a:off x="6217920" y="4123944"/>
            <a:ext cx="2423160" cy="0"/>
          </a:xfrm>
          <a:prstGeom prst="line">
            <a:avLst/>
          </a:prstGeom>
          <a:noFill/>
          <a:ln w="9525">
            <a:solidFill>
              <a:srgbClr val="C7CDD2"/>
            </a:solidFill>
            <a:prstDash val="dash"/>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Two-Column Notes / Notas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12</a:t>
            </a:r>
            <a:endParaRPr lang="en-US" sz="800" dirty="0"/>
          </a:p>
        </p:txBody>
      </p:sp>
      <p:sp>
        <p:nvSpPr>
          <p:cNvPr id="17" name="Shape 15"/>
          <p:cNvSpPr/>
          <p:nvPr/>
        </p:nvSpPr>
        <p:spPr>
          <a:xfrm>
            <a:off x="411480" y="685800"/>
            <a:ext cx="416052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92608"/>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Steps / Pasos</a:t>
            </a:r>
            <a:endParaRPr lang="en-US" sz="1000" dirty="0"/>
          </a:p>
        </p:txBody>
      </p:sp>
      <p:sp>
        <p:nvSpPr>
          <p:cNvPr id="19" name="Shape 17"/>
          <p:cNvSpPr/>
          <p:nvPr/>
        </p:nvSpPr>
        <p:spPr>
          <a:xfrm>
            <a:off x="594360" y="1243584"/>
            <a:ext cx="274320" cy="274320"/>
          </a:xfrm>
          <a:prstGeom prst="ellipse">
            <a:avLst/>
          </a:prstGeom>
          <a:solidFill>
            <a:srgbClr val="C0654A"/>
          </a:solidFill>
          <a:ln/>
        </p:spPr>
      </p:sp>
      <p:sp>
        <p:nvSpPr>
          <p:cNvPr id="20" name="Text 18"/>
          <p:cNvSpPr/>
          <p:nvPr/>
        </p:nvSpPr>
        <p:spPr>
          <a:xfrm>
            <a:off x="594360" y="1243584"/>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1</a:t>
            </a:r>
            <a:endParaRPr lang="en-US" sz="1100" dirty="0"/>
          </a:p>
        </p:txBody>
      </p:sp>
      <p:sp>
        <p:nvSpPr>
          <p:cNvPr id="21" name="Text 19"/>
          <p:cNvSpPr/>
          <p:nvPr/>
        </p:nvSpPr>
        <p:spPr>
          <a:xfrm>
            <a:off x="978408" y="1188720"/>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Evelyn sees a Canadian highway sign reading 100 kilometers per hour and wonders whether that is faster or slower than 100 miles per hour.</a:t>
            </a:r>
            <a:endParaRPr lang="en-US" sz="1050" dirty="0"/>
          </a:p>
        </p:txBody>
      </p:sp>
      <p:sp>
        <p:nvSpPr>
          <p:cNvPr id="22" name="Shape 20"/>
          <p:cNvSpPr/>
          <p:nvPr/>
        </p:nvSpPr>
        <p:spPr>
          <a:xfrm>
            <a:off x="594360" y="1719072"/>
            <a:ext cx="274320" cy="274320"/>
          </a:xfrm>
          <a:prstGeom prst="ellipse">
            <a:avLst/>
          </a:prstGeom>
          <a:solidFill>
            <a:srgbClr val="C0654A"/>
          </a:solidFill>
          <a:ln/>
        </p:spPr>
      </p:sp>
      <p:sp>
        <p:nvSpPr>
          <p:cNvPr id="23" name="Text 21"/>
          <p:cNvSpPr/>
          <p:nvPr/>
        </p:nvSpPr>
        <p:spPr>
          <a:xfrm>
            <a:off x="594360" y="1719072"/>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2</a:t>
            </a:r>
            <a:endParaRPr lang="en-US" sz="1100" dirty="0"/>
          </a:p>
        </p:txBody>
      </p:sp>
      <p:sp>
        <p:nvSpPr>
          <p:cNvPr id="24" name="Text 22"/>
          <p:cNvSpPr/>
          <p:nvPr/>
        </p:nvSpPr>
        <p:spPr>
          <a:xfrm>
            <a:off x="978408" y="1664208"/>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Kilometers are metric and miles are customary, so 100 and 100 cannot be compared as they stand. Both measure distance, so a conversion factor links them: 1 kilometer ≈ 0.6 mile, or the ratio 1 : 0.6.</a:t>
            </a:r>
            <a:endParaRPr lang="en-US" sz="1050" dirty="0"/>
          </a:p>
        </p:txBody>
      </p:sp>
      <p:sp>
        <p:nvSpPr>
          <p:cNvPr id="25" name="Shape 23"/>
          <p:cNvSpPr/>
          <p:nvPr/>
        </p:nvSpPr>
        <p:spPr>
          <a:xfrm>
            <a:off x="594360" y="2194560"/>
            <a:ext cx="274320" cy="274320"/>
          </a:xfrm>
          <a:prstGeom prst="ellipse">
            <a:avLst/>
          </a:prstGeom>
          <a:solidFill>
            <a:srgbClr val="C0654A"/>
          </a:solidFill>
          <a:ln/>
        </p:spPr>
      </p:sp>
      <p:sp>
        <p:nvSpPr>
          <p:cNvPr id="26" name="Text 24"/>
          <p:cNvSpPr/>
          <p:nvPr/>
        </p:nvSpPr>
        <p:spPr>
          <a:xfrm>
            <a:off x="594360" y="2194560"/>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3</a:t>
            </a:r>
            <a:endParaRPr lang="en-US" sz="1100" dirty="0"/>
          </a:p>
        </p:txBody>
      </p:sp>
      <p:sp>
        <p:nvSpPr>
          <p:cNvPr id="27" name="Text 25"/>
          <p:cNvSpPr/>
          <p:nvPr/>
        </p:nvSpPr>
        <p:spPr>
          <a:xfrm>
            <a:off x="978408" y="2139696"/>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I build a ratio table from that unit ratio. Kilometers 1, 10, 100 pair with miles 0.6, 6, 60 — each column multiplies both numbers by the same factor.</a:t>
            </a:r>
            <a:endParaRPr lang="en-US" sz="1050" dirty="0"/>
          </a:p>
        </p:txBody>
      </p:sp>
      <p:sp>
        <p:nvSpPr>
          <p:cNvPr id="28" name="Shape 26"/>
          <p:cNvSpPr/>
          <p:nvPr/>
        </p:nvSpPr>
        <p:spPr>
          <a:xfrm>
            <a:off x="594360" y="2670048"/>
            <a:ext cx="274320" cy="274320"/>
          </a:xfrm>
          <a:prstGeom prst="ellipse">
            <a:avLst/>
          </a:prstGeom>
          <a:solidFill>
            <a:srgbClr val="C0654A"/>
          </a:solidFill>
          <a:ln/>
        </p:spPr>
      </p:sp>
      <p:sp>
        <p:nvSpPr>
          <p:cNvPr id="29" name="Text 27"/>
          <p:cNvSpPr/>
          <p:nvPr/>
        </p:nvSpPr>
        <p:spPr>
          <a:xfrm>
            <a:off x="594360" y="2670048"/>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4</a:t>
            </a:r>
            <a:endParaRPr lang="en-US" sz="1100" dirty="0"/>
          </a:p>
        </p:txBody>
      </p:sp>
      <p:sp>
        <p:nvSpPr>
          <p:cNvPr id="30" name="Text 28"/>
          <p:cNvSpPr/>
          <p:nvPr/>
        </p:nvSpPr>
        <p:spPr>
          <a:xfrm>
            <a:off x="978408" y="2615184"/>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So 100 kilometers ≈ 60 miles, which means 100 kilometers per hour ≈ 60 miles per hour.</a:t>
            </a:r>
            <a:endParaRPr lang="en-US" sz="1050" dirty="0"/>
          </a:p>
        </p:txBody>
      </p:sp>
      <p:sp>
        <p:nvSpPr>
          <p:cNvPr id="31" name="Shape 29"/>
          <p:cNvSpPr/>
          <p:nvPr/>
        </p:nvSpPr>
        <p:spPr>
          <a:xfrm>
            <a:off x="594360" y="3145536"/>
            <a:ext cx="274320" cy="274320"/>
          </a:xfrm>
          <a:prstGeom prst="ellipse">
            <a:avLst/>
          </a:prstGeom>
          <a:solidFill>
            <a:srgbClr val="C0654A"/>
          </a:solidFill>
          <a:ln/>
        </p:spPr>
      </p:sp>
      <p:sp>
        <p:nvSpPr>
          <p:cNvPr id="32" name="Text 30"/>
          <p:cNvSpPr/>
          <p:nvPr/>
        </p:nvSpPr>
        <p:spPr>
          <a:xfrm>
            <a:off x="594360" y="3145536"/>
            <a:ext cx="274320" cy="274320"/>
          </a:xfrm>
          <a:prstGeom prst="rect">
            <a:avLst/>
          </a:prstGeom>
          <a:noFill/>
          <a:ln/>
        </p:spPr>
        <p:txBody>
          <a:bodyPr wrap="square" rtlCol="0" anchor="ctr"/>
          <a:lstStyle/>
          <a:p>
            <a:pPr algn="ctr" indent="0" marL="0">
              <a:buNone/>
            </a:pPr>
            <a:r>
              <a:rPr lang="en-US" sz="1100" b="1" dirty="0">
                <a:solidFill>
                  <a:srgbClr val="FFFFFF"/>
                </a:solidFill>
                <a:latin typeface="Outfit" pitchFamily="34" charset="0"/>
                <a:ea typeface="Outfit" pitchFamily="34" charset="-122"/>
                <a:cs typeface="Outfit" pitchFamily="34" charset="-120"/>
              </a:rPr>
              <a:t>5</a:t>
            </a:r>
            <a:endParaRPr lang="en-US" sz="1100" dirty="0"/>
          </a:p>
        </p:txBody>
      </p:sp>
      <p:sp>
        <p:nvSpPr>
          <p:cNvPr id="33" name="Text 31"/>
          <p:cNvSpPr/>
          <p:nvPr/>
        </p:nvSpPr>
        <p:spPr>
          <a:xfrm>
            <a:off x="978408" y="3090672"/>
            <a:ext cx="3456432" cy="420624"/>
          </a:xfrm>
          <a:prstGeom prst="rect">
            <a:avLst/>
          </a:prstGeom>
          <a:noFill/>
          <a:ln/>
        </p:spPr>
        <p:txBody>
          <a:bodyPr wrap="square" rtlCol="0" anchor="ctr"/>
          <a:lstStyle/>
          <a:p>
            <a:pPr indent="0" marL="0">
              <a:buNone/>
            </a:pPr>
            <a:r>
              <a:rPr lang="en-US" sz="1050" dirty="0">
                <a:solidFill>
                  <a:srgbClr val="24323F"/>
                </a:solidFill>
                <a:latin typeface="Hanken Grotesk" pitchFamily="34" charset="0"/>
                <a:ea typeface="Hanken Grotesk" pitchFamily="34" charset="-122"/>
                <a:cs typeface="Hanken Grotesk" pitchFamily="34" charset="-120"/>
              </a:rPr>
              <a:t>Now the comparison is fair: 100 miles per hour is faster, because in one hour you would travel 100 miles instead of only about 60.</a:t>
            </a:r>
            <a:endParaRPr lang="en-US" sz="1050" dirty="0"/>
          </a:p>
        </p:txBody>
      </p:sp>
      <p:sp>
        <p:nvSpPr>
          <p:cNvPr id="34" name="Shape 32"/>
          <p:cNvSpPr/>
          <p:nvPr/>
        </p:nvSpPr>
        <p:spPr>
          <a:xfrm>
            <a:off x="4709160" y="685800"/>
            <a:ext cx="411480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35" name="Text 33"/>
          <p:cNvSpPr/>
          <p:nvPr/>
        </p:nvSpPr>
        <p:spPr>
          <a:xfrm>
            <a:off x="4709160" y="685800"/>
            <a:ext cx="4114800" cy="292608"/>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My Example / Mi Ejemplo</a:t>
            </a:r>
            <a:endParaRPr lang="en-US" sz="1000" dirty="0"/>
          </a:p>
        </p:txBody>
      </p:sp>
      <p:sp>
        <p:nvSpPr>
          <p:cNvPr id="36" name="Text 34"/>
          <p:cNvSpPr/>
          <p:nvPr/>
        </p:nvSpPr>
        <p:spPr>
          <a:xfrm>
            <a:off x="4892040" y="1143000"/>
            <a:ext cx="3749040" cy="365760"/>
          </a:xfrm>
          <a:prstGeom prst="rect">
            <a:avLst/>
          </a:prstGeom>
          <a:noFill/>
          <a:ln/>
        </p:spPr>
        <p:txBody>
          <a:bodyPr wrap="square" rtlCol="0" anchor="ctr"/>
          <a:lstStyle/>
          <a:p>
            <a:pPr indent="0" marL="0">
              <a:buNone/>
            </a:pPr>
            <a:r>
              <a:rPr lang="en-US" sz="950" i="1" dirty="0">
                <a:solidFill>
                  <a:srgbClr val="8A96A3"/>
                </a:solidFill>
                <a:latin typeface="Hanken Grotesk" pitchFamily="34" charset="0"/>
                <a:ea typeface="Hanken Grotesk" pitchFamily="34" charset="-122"/>
                <a:cs typeface="Hanken Grotesk" pitchFamily="34" charset="-120"/>
              </a:rPr>
              <a:t>Work one problem here, matching each step on the left:</a:t>
            </a:r>
            <a:endParaRPr lang="en-US" sz="950" dirty="0"/>
          </a:p>
        </p:txBody>
      </p:sp>
      <p:sp>
        <p:nvSpPr>
          <p:cNvPr id="37" name="Shape 35"/>
          <p:cNvSpPr/>
          <p:nvPr/>
        </p:nvSpPr>
        <p:spPr>
          <a:xfrm>
            <a:off x="4892040" y="1783080"/>
            <a:ext cx="3749040" cy="0"/>
          </a:xfrm>
          <a:prstGeom prst="line">
            <a:avLst/>
          </a:prstGeom>
          <a:noFill/>
          <a:ln w="9525">
            <a:solidFill>
              <a:srgbClr val="C7CDD2"/>
            </a:solidFill>
            <a:prstDash val="dash"/>
          </a:ln>
        </p:spPr>
      </p:sp>
      <p:sp>
        <p:nvSpPr>
          <p:cNvPr id="38" name="Shape 36"/>
          <p:cNvSpPr/>
          <p:nvPr/>
        </p:nvSpPr>
        <p:spPr>
          <a:xfrm>
            <a:off x="4892040" y="2112264"/>
            <a:ext cx="3749040" cy="0"/>
          </a:xfrm>
          <a:prstGeom prst="line">
            <a:avLst/>
          </a:prstGeom>
          <a:noFill/>
          <a:ln w="9525">
            <a:solidFill>
              <a:srgbClr val="C7CDD2"/>
            </a:solidFill>
            <a:prstDash val="dash"/>
          </a:ln>
        </p:spPr>
      </p:sp>
      <p:sp>
        <p:nvSpPr>
          <p:cNvPr id="39" name="Shape 37"/>
          <p:cNvSpPr/>
          <p:nvPr/>
        </p:nvSpPr>
        <p:spPr>
          <a:xfrm>
            <a:off x="4892040" y="2441448"/>
            <a:ext cx="3749040" cy="0"/>
          </a:xfrm>
          <a:prstGeom prst="line">
            <a:avLst/>
          </a:prstGeom>
          <a:noFill/>
          <a:ln w="9525">
            <a:solidFill>
              <a:srgbClr val="C7CDD2"/>
            </a:solidFill>
            <a:prstDash val="dash"/>
          </a:ln>
        </p:spPr>
      </p:sp>
      <p:sp>
        <p:nvSpPr>
          <p:cNvPr id="40" name="Shape 38"/>
          <p:cNvSpPr/>
          <p:nvPr/>
        </p:nvSpPr>
        <p:spPr>
          <a:xfrm>
            <a:off x="4892040" y="2770632"/>
            <a:ext cx="3749040" cy="0"/>
          </a:xfrm>
          <a:prstGeom prst="line">
            <a:avLst/>
          </a:prstGeom>
          <a:noFill/>
          <a:ln w="9525">
            <a:solidFill>
              <a:srgbClr val="C7CDD2"/>
            </a:solidFill>
            <a:prstDash val="dash"/>
          </a:ln>
        </p:spPr>
      </p:sp>
      <p:sp>
        <p:nvSpPr>
          <p:cNvPr id="41" name="Shape 39"/>
          <p:cNvSpPr/>
          <p:nvPr/>
        </p:nvSpPr>
        <p:spPr>
          <a:xfrm>
            <a:off x="4892040" y="3099816"/>
            <a:ext cx="3749040" cy="0"/>
          </a:xfrm>
          <a:prstGeom prst="line">
            <a:avLst/>
          </a:prstGeom>
          <a:noFill/>
          <a:ln w="9525">
            <a:solidFill>
              <a:srgbClr val="C7CDD2"/>
            </a:solidFill>
            <a:prstDash val="dash"/>
          </a:ln>
        </p:spPr>
      </p:sp>
      <p:sp>
        <p:nvSpPr>
          <p:cNvPr id="42" name="Shape 40"/>
          <p:cNvSpPr/>
          <p:nvPr/>
        </p:nvSpPr>
        <p:spPr>
          <a:xfrm>
            <a:off x="4892040" y="3429000"/>
            <a:ext cx="3749040" cy="0"/>
          </a:xfrm>
          <a:prstGeom prst="line">
            <a:avLst/>
          </a:prstGeom>
          <a:noFill/>
          <a:ln w="9525">
            <a:solidFill>
              <a:srgbClr val="C7CDD2"/>
            </a:solidFill>
            <a:prstDash val="dash"/>
          </a:ln>
        </p:spPr>
      </p:sp>
      <p:sp>
        <p:nvSpPr>
          <p:cNvPr id="43" name="Shape 41"/>
          <p:cNvSpPr/>
          <p:nvPr/>
        </p:nvSpPr>
        <p:spPr>
          <a:xfrm>
            <a:off x="4892040" y="3758184"/>
            <a:ext cx="3749040" cy="0"/>
          </a:xfrm>
          <a:prstGeom prst="line">
            <a:avLst/>
          </a:prstGeom>
          <a:noFill/>
          <a:ln w="9525">
            <a:solidFill>
              <a:srgbClr val="C7CDD2"/>
            </a:solidFill>
            <a:prstDash val="dash"/>
          </a:ln>
        </p:spPr>
      </p:sp>
      <p:sp>
        <p:nvSpPr>
          <p:cNvPr id="44" name="Shape 42"/>
          <p:cNvSpPr/>
          <p:nvPr/>
        </p:nvSpPr>
        <p:spPr>
          <a:xfrm>
            <a:off x="4892040" y="4087368"/>
            <a:ext cx="3749040" cy="0"/>
          </a:xfrm>
          <a:prstGeom prst="line">
            <a:avLst/>
          </a:prstGeom>
          <a:noFill/>
          <a:ln w="9525">
            <a:solidFill>
              <a:srgbClr val="C7CDD2"/>
            </a:solidFill>
            <a:prstDash val="dash"/>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Choice Board / Tablero de Opciones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13</a:t>
            </a:r>
            <a:endParaRPr lang="en-US" sz="800" dirty="0"/>
          </a:p>
        </p:txBody>
      </p:sp>
      <p:sp>
        <p:nvSpPr>
          <p:cNvPr id="17" name="Text 15"/>
          <p:cNvSpPr/>
          <p:nvPr/>
        </p:nvSpPr>
        <p:spPr>
          <a:xfrm>
            <a:off x="411480" y="640080"/>
            <a:ext cx="8412480" cy="274320"/>
          </a:xfrm>
          <a:prstGeom prst="rect">
            <a:avLst/>
          </a:prstGeom>
          <a:noFill/>
          <a:ln/>
        </p:spPr>
        <p:txBody>
          <a:bodyPr wrap="square" rtlCol="0" anchor="ctr"/>
          <a:lstStyle/>
          <a:p>
            <a:pPr indent="0" marL="0">
              <a:buNone/>
            </a:pPr>
            <a:r>
              <a:rPr lang="en-US" sz="1200" b="1" dirty="0">
                <a:solidFill>
                  <a:srgbClr val="17324D"/>
                </a:solidFill>
                <a:latin typeface="Outfit" pitchFamily="34" charset="0"/>
                <a:ea typeface="Outfit" pitchFamily="34" charset="-122"/>
                <a:cs typeface="Outfit" pitchFamily="34" charset="-120"/>
              </a:rPr>
              <a:t>Choose ONE to show what you know:</a:t>
            </a:r>
            <a:endParaRPr lang="en-US" sz="1200" dirty="0"/>
          </a:p>
        </p:txBody>
      </p:sp>
      <p:sp>
        <p:nvSpPr>
          <p:cNvPr id="18" name="Shape 16"/>
          <p:cNvSpPr/>
          <p:nvPr/>
        </p:nvSpPr>
        <p:spPr>
          <a:xfrm>
            <a:off x="411480" y="1051560"/>
            <a:ext cx="4114800" cy="1645920"/>
          </a:xfrm>
          <a:prstGeom prst="roundRect">
            <a:avLst>
              <a:gd name="adj" fmla="val 4444"/>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4864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0" name="Text 18"/>
          <p:cNvSpPr/>
          <p:nvPr/>
        </p:nvSpPr>
        <p:spPr>
          <a:xfrm>
            <a:off x="123444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Draw &amp; Label</a:t>
            </a:r>
            <a:endParaRPr lang="en-US" sz="1300" dirty="0"/>
          </a:p>
        </p:txBody>
      </p:sp>
      <p:sp>
        <p:nvSpPr>
          <p:cNvPr id="21" name="Text 19"/>
          <p:cNvSpPr/>
          <p:nvPr/>
        </p:nvSpPr>
        <p:spPr>
          <a:xfrm>
            <a:off x="59436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Sketch a model for today's problem. Label it using Convert Measurements Between Systems and Conversion factor.</a:t>
            </a:r>
            <a:endParaRPr lang="en-US" sz="1000" dirty="0"/>
          </a:p>
        </p:txBody>
      </p:sp>
      <p:sp>
        <p:nvSpPr>
          <p:cNvPr id="22" name="Shape 20"/>
          <p:cNvSpPr/>
          <p:nvPr/>
        </p:nvSpPr>
        <p:spPr>
          <a:xfrm>
            <a:off x="4709160" y="1051560"/>
            <a:ext cx="4114800" cy="1645920"/>
          </a:xfrm>
          <a:prstGeom prst="roundRect">
            <a:avLst>
              <a:gd name="adj" fmla="val 4444"/>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4846320" y="116128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4" name="Text 22"/>
          <p:cNvSpPr/>
          <p:nvPr/>
        </p:nvSpPr>
        <p:spPr>
          <a:xfrm>
            <a:off x="5532120" y="118872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Explain It</a:t>
            </a:r>
            <a:endParaRPr lang="en-US" sz="1300" dirty="0"/>
          </a:p>
        </p:txBody>
      </p:sp>
      <p:sp>
        <p:nvSpPr>
          <p:cNvPr id="25" name="Text 23"/>
          <p:cNvSpPr/>
          <p:nvPr/>
        </p:nvSpPr>
        <p:spPr>
          <a:xfrm>
            <a:off x="4892040" y="170992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In 2–3 sentences, explain "Converting Measurements Between Systems. 1. Identify the conversion ratio connecting systems (e.g. 1 in = 2.54 cm, 1 kg ≈ 2.2 lbs). 2. Set up a ratio table or proportion aligning customary and metric units. 3. Multiply or divide by the conversion factor to compute the equivalent measurement" in your own words.</a:t>
            </a:r>
            <a:endParaRPr lang="en-US" sz="1000" dirty="0"/>
          </a:p>
        </p:txBody>
      </p:sp>
      <p:sp>
        <p:nvSpPr>
          <p:cNvPr id="26" name="Shape 24"/>
          <p:cNvSpPr/>
          <p:nvPr/>
        </p:nvSpPr>
        <p:spPr>
          <a:xfrm>
            <a:off x="411480" y="2834640"/>
            <a:ext cx="4114800" cy="1645920"/>
          </a:xfrm>
          <a:prstGeom prst="roundRect">
            <a:avLst>
              <a:gd name="adj" fmla="val 4444"/>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4864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28" name="Text 26"/>
          <p:cNvSpPr/>
          <p:nvPr/>
        </p:nvSpPr>
        <p:spPr>
          <a:xfrm>
            <a:off x="123444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Solve It</a:t>
            </a:r>
            <a:endParaRPr lang="en-US" sz="1300" dirty="0"/>
          </a:p>
        </p:txBody>
      </p:sp>
      <p:sp>
        <p:nvSpPr>
          <p:cNvPr id="29" name="Text 27"/>
          <p:cNvSpPr/>
          <p:nvPr/>
        </p:nvSpPr>
        <p:spPr>
          <a:xfrm>
            <a:off x="59436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Work one practice problem and show every step clearly.</a:t>
            </a:r>
            <a:endParaRPr lang="en-US" sz="1000" dirty="0"/>
          </a:p>
        </p:txBody>
      </p:sp>
      <p:sp>
        <p:nvSpPr>
          <p:cNvPr id="30" name="Shape 28"/>
          <p:cNvSpPr/>
          <p:nvPr/>
        </p:nvSpPr>
        <p:spPr>
          <a:xfrm>
            <a:off x="4709160" y="2834640"/>
            <a:ext cx="4114800" cy="1645920"/>
          </a:xfrm>
          <a:prstGeom prst="roundRect">
            <a:avLst>
              <a:gd name="adj" fmla="val 4444"/>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1" name="Text 29"/>
          <p:cNvSpPr/>
          <p:nvPr/>
        </p:nvSpPr>
        <p:spPr>
          <a:xfrm>
            <a:off x="4846320" y="2944368"/>
            <a:ext cx="640080" cy="548640"/>
          </a:xfrm>
          <a:prstGeom prst="rect">
            <a:avLst/>
          </a:prstGeom>
          <a:noFill/>
          <a:ln/>
        </p:spPr>
        <p:txBody>
          <a:bodyPr wrap="square" rtlCol="0" anchor="ctr"/>
          <a:lstStyle/>
          <a:p>
            <a:pPr indent="0" marL="0">
              <a:buNone/>
            </a:pPr>
            <a:r>
              <a:rPr lang="en-US" sz="2600" dirty="0">
                <a:solidFill>
                  <a:srgbClr val="000000"/>
                </a:solidFill>
              </a:rPr>
              <a:t>🎯</a:t>
            </a:r>
            <a:endParaRPr lang="en-US" sz="2600" dirty="0"/>
          </a:p>
        </p:txBody>
      </p:sp>
      <p:sp>
        <p:nvSpPr>
          <p:cNvPr id="32" name="Text 30"/>
          <p:cNvSpPr/>
          <p:nvPr/>
        </p:nvSpPr>
        <p:spPr>
          <a:xfrm>
            <a:off x="5532120" y="2971800"/>
            <a:ext cx="3108960" cy="365760"/>
          </a:xfrm>
          <a:prstGeom prst="rect">
            <a:avLst/>
          </a:prstGeom>
          <a:noFill/>
          <a:ln/>
        </p:spPr>
        <p:txBody>
          <a:bodyPr wrap="square" rtlCol="0" anchor="ctr"/>
          <a:lstStyle/>
          <a:p>
            <a:pPr indent="0" marL="0">
              <a:buNone/>
            </a:pPr>
            <a:r>
              <a:rPr lang="en-US" sz="1300" b="1" dirty="0">
                <a:solidFill>
                  <a:srgbClr val="17324D"/>
                </a:solidFill>
                <a:latin typeface="Outfit" pitchFamily="34" charset="0"/>
                <a:ea typeface="Outfit" pitchFamily="34" charset="-122"/>
                <a:cs typeface="Outfit" pitchFamily="34" charset="-120"/>
              </a:rPr>
              <a:t>Create a Problem</a:t>
            </a:r>
            <a:endParaRPr lang="en-US" sz="1300" dirty="0"/>
          </a:p>
        </p:txBody>
      </p:sp>
      <p:sp>
        <p:nvSpPr>
          <p:cNvPr id="33" name="Text 31"/>
          <p:cNvSpPr/>
          <p:nvPr/>
        </p:nvSpPr>
        <p:spPr>
          <a:xfrm>
            <a:off x="4892040" y="3493008"/>
            <a:ext cx="3749040" cy="868680"/>
          </a:xfrm>
          <a:prstGeom prst="rect">
            <a:avLst/>
          </a:prstGeom>
          <a:noFill/>
          <a:ln/>
        </p:spPr>
        <p:txBody>
          <a:bodyPr wrap="square" rtlCol="0" anchor="t"/>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Write your own problem that uses Convert Measurements Between Systems, then solve it and make an answer key.</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Independent Practice / Práctica Independiente</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14</a:t>
            </a:r>
            <a:endParaRPr lang="en-US" sz="800" dirty="0"/>
          </a:p>
        </p:txBody>
      </p:sp>
      <p:sp>
        <p:nvSpPr>
          <p:cNvPr id="17" name="Shape 15"/>
          <p:cNvSpPr/>
          <p:nvPr/>
        </p:nvSpPr>
        <p:spPr>
          <a:xfrm>
            <a:off x="411480" y="685800"/>
            <a:ext cx="54864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594360" y="841248"/>
            <a:ext cx="146304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 ON YOUR OWN</a:t>
            </a:r>
            <a:endParaRPr lang="en-US" sz="900" dirty="0"/>
          </a:p>
        </p:txBody>
      </p:sp>
      <p:sp>
        <p:nvSpPr>
          <p:cNvPr id="19" name="Text 17"/>
          <p:cNvSpPr/>
          <p:nvPr/>
        </p:nvSpPr>
        <p:spPr>
          <a:xfrm>
            <a:off x="594360" y="123444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1.  </a:t>
            </a:r>
            <a:pPr indent="0" marL="0">
              <a:buNone/>
            </a:pPr>
            <a:r>
              <a:rPr lang="en-US" sz="1050" dirty="0">
                <a:solidFill>
                  <a:srgbClr val="17324D"/>
                </a:solidFill>
                <a:latin typeface="Hanken Grotesk" pitchFamily="34" charset="0"/>
                <a:ea typeface="Hanken Grotesk" pitchFamily="34" charset="-122"/>
                <a:cs typeface="Hanken Grotesk" pitchFamily="34" charset="-120"/>
              </a:rPr>
              <a:t>A dog weighs 31 pounds. Flea medicine comes in packages for 4–10 kg, 10–25 kg, and 25–40 kg. Which package is correct?</a:t>
            </a:r>
            <a:endParaRPr lang="en-US" sz="1050" dirty="0"/>
          </a:p>
        </p:txBody>
      </p:sp>
      <p:sp>
        <p:nvSpPr>
          <p:cNvPr id="20" name="Shape 18"/>
          <p:cNvSpPr/>
          <p:nvPr/>
        </p:nvSpPr>
        <p:spPr>
          <a:xfrm>
            <a:off x="777240" y="1783080"/>
            <a:ext cx="4983480" cy="0"/>
          </a:xfrm>
          <a:prstGeom prst="line">
            <a:avLst/>
          </a:prstGeom>
          <a:noFill/>
          <a:ln w="9525">
            <a:solidFill>
              <a:srgbClr val="C7CDD2"/>
            </a:solidFill>
            <a:prstDash val="dash"/>
          </a:ln>
        </p:spPr>
      </p:sp>
      <p:sp>
        <p:nvSpPr>
          <p:cNvPr id="21" name="Text 19"/>
          <p:cNvSpPr/>
          <p:nvPr/>
        </p:nvSpPr>
        <p:spPr>
          <a:xfrm>
            <a:off x="594360" y="219456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2.  </a:t>
            </a:r>
            <a:pPr indent="0" marL="0">
              <a:buNone/>
            </a:pPr>
            <a:r>
              <a:rPr lang="en-US" sz="1050" dirty="0">
                <a:solidFill>
                  <a:srgbClr val="17324D"/>
                </a:solidFill>
                <a:latin typeface="Hanken Grotesk" pitchFamily="34" charset="0"/>
                <a:ea typeface="Hanken Grotesk" pitchFamily="34" charset="-122"/>
                <a:cs typeface="Hanken Grotesk" pitchFamily="34" charset="-120"/>
              </a:rPr>
              <a:t>Converting between systems: sort each conversion by what happens to the number.</a:t>
            </a:r>
            <a:endParaRPr lang="en-US" sz="1050" dirty="0"/>
          </a:p>
        </p:txBody>
      </p:sp>
      <p:sp>
        <p:nvSpPr>
          <p:cNvPr id="22" name="Shape 20"/>
          <p:cNvSpPr/>
          <p:nvPr/>
        </p:nvSpPr>
        <p:spPr>
          <a:xfrm>
            <a:off x="777240" y="2743200"/>
            <a:ext cx="4983480" cy="0"/>
          </a:xfrm>
          <a:prstGeom prst="line">
            <a:avLst/>
          </a:prstGeom>
          <a:noFill/>
          <a:ln w="9525">
            <a:solidFill>
              <a:srgbClr val="C7CDD2"/>
            </a:solidFill>
            <a:prstDash val="dash"/>
          </a:ln>
        </p:spPr>
      </p:sp>
      <p:sp>
        <p:nvSpPr>
          <p:cNvPr id="23" name="Text 21"/>
          <p:cNvSpPr/>
          <p:nvPr/>
        </p:nvSpPr>
        <p:spPr>
          <a:xfrm>
            <a:off x="594360" y="3154680"/>
            <a:ext cx="5166360" cy="45720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3.  </a:t>
            </a:r>
            <a:pPr indent="0" marL="0">
              <a:buNone/>
            </a:pPr>
            <a:r>
              <a:rPr lang="en-US" sz="1050" dirty="0">
                <a:solidFill>
                  <a:srgbClr val="17324D"/>
                </a:solidFill>
                <a:latin typeface="Hanken Grotesk" pitchFamily="34" charset="0"/>
                <a:ea typeface="Hanken Grotesk" pitchFamily="34" charset="-122"/>
                <a:cs typeface="Hanken Grotesk" pitchFamily="34" charset="-120"/>
              </a:rPr>
              <a:t>One of the academy's suppliers ships olive oil in 4-liter tins. Using 1 liter ≈ 1.06 quarts, about how many quarts of oil are in one tin?</a:t>
            </a:r>
            <a:endParaRPr lang="en-US" sz="1050" dirty="0"/>
          </a:p>
        </p:txBody>
      </p:sp>
      <p:sp>
        <p:nvSpPr>
          <p:cNvPr id="24" name="Shape 22"/>
          <p:cNvSpPr/>
          <p:nvPr/>
        </p:nvSpPr>
        <p:spPr>
          <a:xfrm>
            <a:off x="777240" y="3703320"/>
            <a:ext cx="4983480" cy="0"/>
          </a:xfrm>
          <a:prstGeom prst="line">
            <a:avLst/>
          </a:prstGeom>
          <a:noFill/>
          <a:ln w="9525">
            <a:solidFill>
              <a:srgbClr val="C7CDD2"/>
            </a:solidFill>
            <a:prstDash val="dash"/>
          </a:ln>
        </p:spPr>
      </p:sp>
      <p:sp>
        <p:nvSpPr>
          <p:cNvPr id="25" name="Shape 23"/>
          <p:cNvSpPr/>
          <p:nvPr/>
        </p:nvSpPr>
        <p:spPr>
          <a:xfrm>
            <a:off x="6035040" y="685800"/>
            <a:ext cx="2788920" cy="4023360"/>
          </a:xfrm>
          <a:prstGeom prst="roundRect">
            <a:avLst>
              <a:gd name="adj" fmla="val 2623"/>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26" name="Text 24"/>
          <p:cNvSpPr/>
          <p:nvPr/>
        </p:nvSpPr>
        <p:spPr>
          <a:xfrm>
            <a:off x="6035040" y="685800"/>
            <a:ext cx="27889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 Talk It Over</a:t>
            </a:r>
            <a:endParaRPr lang="en-US" sz="1000" dirty="0"/>
          </a:p>
        </p:txBody>
      </p:sp>
      <p:sp>
        <p:nvSpPr>
          <p:cNvPr id="27" name="Text 25"/>
          <p:cNvSpPr/>
          <p:nvPr/>
        </p:nvSpPr>
        <p:spPr>
          <a:xfrm>
            <a:off x="6217920" y="1097280"/>
            <a:ext cx="2468880" cy="1554480"/>
          </a:xfrm>
          <a:prstGeom prst="rect">
            <a:avLst/>
          </a:prstGeom>
          <a:noFill/>
          <a:ln/>
        </p:spPr>
        <p:txBody>
          <a:bodyPr wrap="square" rtlCol="0" anchor="t"/>
          <a:lstStyle/>
          <a:p>
            <a:pPr indent="0" marL="0">
              <a:buNone/>
            </a:pPr>
            <a:r>
              <a:rPr lang="en-US" sz="1000" dirty="0">
                <a:solidFill>
                  <a:srgbClr val="17324D"/>
                </a:solidFill>
                <a:latin typeface="Hanken Grotesk" pitchFamily="34" charset="0"/>
                <a:ea typeface="Hanken Grotesk" pitchFamily="34" charset="-122"/>
                <a:cs typeface="Hanken Grotesk" pitchFamily="34" charset="-120"/>
              </a:rPr>
              <a:t>Evelyn sees a 100 km/h speed sign in Canada, and at home her highway limit is 65 mi/h. One partner should convert with the table, the other with 100 × 0.6. Is 100 km/h faster or slower than her usual 65 mi/h?</a:t>
            </a:r>
            <a:endParaRPr lang="en-US" sz="1000" dirty="0"/>
          </a:p>
        </p:txBody>
      </p:sp>
      <p:sp>
        <p:nvSpPr>
          <p:cNvPr id="28" name="Shape 26"/>
          <p:cNvSpPr/>
          <p:nvPr/>
        </p:nvSpPr>
        <p:spPr>
          <a:xfrm>
            <a:off x="6217920" y="2834640"/>
            <a:ext cx="2423160" cy="0"/>
          </a:xfrm>
          <a:prstGeom prst="line">
            <a:avLst/>
          </a:prstGeom>
          <a:noFill/>
          <a:ln w="9525">
            <a:solidFill>
              <a:srgbClr val="C7CDD2"/>
            </a:solidFill>
            <a:prstDash val="dash"/>
          </a:ln>
        </p:spPr>
      </p:sp>
      <p:sp>
        <p:nvSpPr>
          <p:cNvPr id="29" name="Shape 27"/>
          <p:cNvSpPr/>
          <p:nvPr/>
        </p:nvSpPr>
        <p:spPr>
          <a:xfrm>
            <a:off x="6217920" y="3163824"/>
            <a:ext cx="2423160" cy="0"/>
          </a:xfrm>
          <a:prstGeom prst="line">
            <a:avLst/>
          </a:prstGeom>
          <a:noFill/>
          <a:ln w="9525">
            <a:solidFill>
              <a:srgbClr val="C7CDD2"/>
            </a:solidFill>
            <a:prstDash val="dash"/>
          </a:ln>
        </p:spPr>
      </p:sp>
      <p:sp>
        <p:nvSpPr>
          <p:cNvPr id="30" name="Shape 28"/>
          <p:cNvSpPr/>
          <p:nvPr/>
        </p:nvSpPr>
        <p:spPr>
          <a:xfrm>
            <a:off x="6217920" y="3493008"/>
            <a:ext cx="2423160" cy="0"/>
          </a:xfrm>
          <a:prstGeom prst="line">
            <a:avLst/>
          </a:prstGeom>
          <a:noFill/>
          <a:ln w="9525">
            <a:solidFill>
              <a:srgbClr val="C7CDD2"/>
            </a:solidFill>
            <a:prstDash val="dash"/>
          </a:ln>
        </p:spPr>
      </p:sp>
      <p:sp>
        <p:nvSpPr>
          <p:cNvPr id="31" name="Shape 29"/>
          <p:cNvSpPr/>
          <p:nvPr/>
        </p:nvSpPr>
        <p:spPr>
          <a:xfrm>
            <a:off x="6217920" y="3822192"/>
            <a:ext cx="2423160" cy="0"/>
          </a:xfrm>
          <a:prstGeom prst="line">
            <a:avLst/>
          </a:prstGeom>
          <a:noFill/>
          <a:ln w="9525">
            <a:solidFill>
              <a:srgbClr val="C7CDD2"/>
            </a:solidFill>
            <a:prstDash val="dash"/>
          </a:ln>
        </p:spPr>
      </p:sp>
      <p:sp>
        <p:nvSpPr>
          <p:cNvPr id="32" name="Shape 30"/>
          <p:cNvSpPr/>
          <p:nvPr/>
        </p:nvSpPr>
        <p:spPr>
          <a:xfrm>
            <a:off x="6217920" y="4151376"/>
            <a:ext cx="2423160" cy="0"/>
          </a:xfrm>
          <a:prstGeom prst="line">
            <a:avLst/>
          </a:prstGeom>
          <a:noFill/>
          <a:ln w="9525">
            <a:solidFill>
              <a:srgbClr val="C7CDD2"/>
            </a:solidFill>
            <a:prstDash val="dash"/>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Think–Write–Respond / Piensa y Escribe</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15</a:t>
            </a:r>
            <a:endParaRPr lang="en-US" sz="800" dirty="0"/>
          </a:p>
        </p:txBody>
      </p:sp>
      <p:sp>
        <p:nvSpPr>
          <p:cNvPr id="17" name="Text 15"/>
          <p:cNvSpPr/>
          <p:nvPr/>
        </p:nvSpPr>
        <p:spPr>
          <a:xfrm>
            <a:off x="411480" y="603504"/>
            <a:ext cx="8412480" cy="274320"/>
          </a:xfrm>
          <a:prstGeom prst="rect">
            <a:avLst/>
          </a:prstGeom>
          <a:noFill/>
          <a:ln/>
        </p:spPr>
        <p:txBody>
          <a:bodyPr wrap="square" rtlCol="0" anchor="ctr"/>
          <a:lstStyle/>
          <a:p>
            <a:pPr indent="0" marL="0">
              <a:buNone/>
            </a:pPr>
            <a:r>
              <a:rPr lang="en-US" sz="1000" i="1" dirty="0">
                <a:solidFill>
                  <a:srgbClr val="8A96A3"/>
                </a:solidFill>
                <a:latin typeface="Hanken Grotesk" pitchFamily="34" charset="0"/>
                <a:ea typeface="Hanken Grotesk" pitchFamily="34" charset="-122"/>
                <a:cs typeface="Hanken Grotesk" pitchFamily="34" charset="-120"/>
              </a:rPr>
              <a:t>Use evidence from today's lesson to complete each frame.</a:t>
            </a:r>
            <a:endParaRPr lang="en-US" sz="1000" dirty="0"/>
          </a:p>
        </p:txBody>
      </p:sp>
      <p:sp>
        <p:nvSpPr>
          <p:cNvPr id="18" name="Shape 16"/>
          <p:cNvSpPr/>
          <p:nvPr/>
        </p:nvSpPr>
        <p:spPr>
          <a:xfrm>
            <a:off x="411480" y="96012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19" name="Text 17"/>
          <p:cNvSpPr/>
          <p:nvPr/>
        </p:nvSpPr>
        <p:spPr>
          <a:xfrm>
            <a:off x="594360" y="105156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1 — </a:t>
            </a:r>
            <a:pPr indent="0" marL="0">
              <a:buNone/>
            </a:pPr>
            <a:r>
              <a:rPr lang="en-US" sz="1100" b="1" dirty="0">
                <a:solidFill>
                  <a:srgbClr val="C0654A"/>
                </a:solidFill>
                <a:latin typeface="Outfit" pitchFamily="34" charset="0"/>
                <a:ea typeface="Outfit" pitchFamily="34" charset="-122"/>
                <a:cs typeface="Outfit" pitchFamily="34" charset="-120"/>
              </a:rPr>
              <a:t>Explain the Rule</a:t>
            </a:r>
            <a:endParaRPr lang="en-US" sz="1100" dirty="0"/>
          </a:p>
        </p:txBody>
      </p:sp>
      <p:sp>
        <p:nvSpPr>
          <p:cNvPr id="20" name="Text 18"/>
          <p:cNvSpPr/>
          <p:nvPr/>
        </p:nvSpPr>
        <p:spPr>
          <a:xfrm>
            <a:off x="594360" y="134416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Today's key idea is "Converting Measurements Between Systems. 1. Identify the conversion ratio connecting systems (e.g. 1 in = 2.54 cm, 1 kg ≈ 2.2 lbs). 2. Set up a ratio table or proportion aligning customary and metric units. 3. Multiply or divide by the conversion factor to compute the equivalent measurement" — and it works because ___.</a:t>
            </a:r>
            <a:endParaRPr lang="en-US" sz="1050" dirty="0"/>
          </a:p>
        </p:txBody>
      </p:sp>
      <p:sp>
        <p:nvSpPr>
          <p:cNvPr id="21" name="Shape 19"/>
          <p:cNvSpPr/>
          <p:nvPr/>
        </p:nvSpPr>
        <p:spPr>
          <a:xfrm>
            <a:off x="594360" y="1892808"/>
            <a:ext cx="8046720" cy="0"/>
          </a:xfrm>
          <a:prstGeom prst="line">
            <a:avLst/>
          </a:prstGeom>
          <a:noFill/>
          <a:ln w="9525">
            <a:solidFill>
              <a:srgbClr val="C7CDD2"/>
            </a:solidFill>
            <a:prstDash val="dash"/>
          </a:ln>
        </p:spPr>
      </p:sp>
      <p:sp>
        <p:nvSpPr>
          <p:cNvPr id="22" name="Shape 20"/>
          <p:cNvSpPr/>
          <p:nvPr/>
        </p:nvSpPr>
        <p:spPr>
          <a:xfrm>
            <a:off x="411480" y="224028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3" name="Text 21"/>
          <p:cNvSpPr/>
          <p:nvPr/>
        </p:nvSpPr>
        <p:spPr>
          <a:xfrm>
            <a:off x="594360" y="233172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2 — </a:t>
            </a:r>
            <a:pPr indent="0" marL="0">
              <a:buNone/>
            </a:pPr>
            <a:r>
              <a:rPr lang="en-US" sz="1100" b="1" dirty="0">
                <a:solidFill>
                  <a:srgbClr val="C0654A"/>
                </a:solidFill>
                <a:latin typeface="Outfit" pitchFamily="34" charset="0"/>
                <a:ea typeface="Outfit" pitchFamily="34" charset="-122"/>
                <a:cs typeface="Outfit" pitchFamily="34" charset="-120"/>
              </a:rPr>
              <a:t>Because / But / So</a:t>
            </a:r>
            <a:endParaRPr lang="en-US" sz="1100" dirty="0"/>
          </a:p>
        </p:txBody>
      </p:sp>
      <p:sp>
        <p:nvSpPr>
          <p:cNvPr id="24" name="Text 22"/>
          <p:cNvSpPr/>
          <p:nvPr/>
        </p:nvSpPr>
        <p:spPr>
          <a:xfrm>
            <a:off x="594360" y="262432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Because Convert Measurements Between Systems means ___, but a tricky part is ___, so I have to ___.</a:t>
            </a:r>
            <a:endParaRPr lang="en-US" sz="1050" dirty="0"/>
          </a:p>
        </p:txBody>
      </p:sp>
      <p:sp>
        <p:nvSpPr>
          <p:cNvPr id="25" name="Shape 23"/>
          <p:cNvSpPr/>
          <p:nvPr/>
        </p:nvSpPr>
        <p:spPr>
          <a:xfrm>
            <a:off x="594360" y="3172968"/>
            <a:ext cx="8046720" cy="0"/>
          </a:xfrm>
          <a:prstGeom prst="line">
            <a:avLst/>
          </a:prstGeom>
          <a:noFill/>
          <a:ln w="9525">
            <a:solidFill>
              <a:srgbClr val="C7CDD2"/>
            </a:solidFill>
            <a:prstDash val="dash"/>
          </a:ln>
        </p:spPr>
      </p:sp>
      <p:sp>
        <p:nvSpPr>
          <p:cNvPr id="26" name="Shape 24"/>
          <p:cNvSpPr/>
          <p:nvPr/>
        </p:nvSpPr>
        <p:spPr>
          <a:xfrm>
            <a:off x="411480" y="3520440"/>
            <a:ext cx="8412480" cy="1143000"/>
          </a:xfrm>
          <a:prstGeom prst="roundRect">
            <a:avLst>
              <a:gd name="adj" fmla="val 6400"/>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7" name="Text 25"/>
          <p:cNvSpPr/>
          <p:nvPr/>
        </p:nvSpPr>
        <p:spPr>
          <a:xfrm>
            <a:off x="594360" y="3611880"/>
            <a:ext cx="8046720" cy="274320"/>
          </a:xfrm>
          <a:prstGeom prst="rect">
            <a:avLst/>
          </a:prstGeom>
          <a:noFill/>
          <a:ln/>
        </p:spPr>
        <p:txBody>
          <a:bodyPr wrap="square" rtlCol="0" anchor="ctr"/>
          <a:lstStyle/>
          <a:p>
            <a:pPr indent="0" marL="0">
              <a:buNone/>
            </a:pPr>
            <a:r>
              <a:rPr lang="en-US" sz="1100" dirty="0">
                <a:solidFill>
                  <a:srgbClr val="8A96A3"/>
                </a:solidFill>
                <a:latin typeface="Outfit" pitchFamily="34" charset="0"/>
                <a:ea typeface="Outfit" pitchFamily="34" charset="-122"/>
                <a:cs typeface="Outfit" pitchFamily="34" charset="-120"/>
              </a:rPr>
              <a:t>Frame 3 — </a:t>
            </a:r>
            <a:pPr indent="0" marL="0">
              <a:buNone/>
            </a:pPr>
            <a:r>
              <a:rPr lang="en-US" sz="1100" b="1" dirty="0">
                <a:solidFill>
                  <a:srgbClr val="C0654A"/>
                </a:solidFill>
                <a:latin typeface="Outfit" pitchFamily="34" charset="0"/>
                <a:ea typeface="Outfit" pitchFamily="34" charset="-122"/>
                <a:cs typeface="Outfit" pitchFamily="34" charset="-120"/>
              </a:rPr>
              <a:t>Catch the Mistake</a:t>
            </a:r>
            <a:endParaRPr lang="en-US" sz="1100" dirty="0"/>
          </a:p>
        </p:txBody>
      </p:sp>
      <p:sp>
        <p:nvSpPr>
          <p:cNvPr id="28" name="Text 26"/>
          <p:cNvSpPr/>
          <p:nvPr/>
        </p:nvSpPr>
        <p:spPr>
          <a:xfrm>
            <a:off x="594360" y="3904488"/>
            <a:ext cx="8046720" cy="365760"/>
          </a:xfrm>
          <a:prstGeom prst="rect">
            <a:avLst/>
          </a:prstGeom>
          <a:noFill/>
          <a:ln/>
        </p:spPr>
        <p:txBody>
          <a:bodyPr wrap="square" rtlCol="0" anchor="t"/>
          <a:lstStyle/>
          <a:p>
            <a:pPr indent="0" marL="0">
              <a:buNone/>
            </a:pPr>
            <a:r>
              <a:rPr lang="en-US" sz="1050" dirty="0">
                <a:solidFill>
                  <a:srgbClr val="17324D"/>
                </a:solidFill>
                <a:latin typeface="Hanken Grotesk" pitchFamily="34" charset="0"/>
                <a:ea typeface="Hanken Grotesk" pitchFamily="34" charset="-122"/>
                <a:cs typeface="Hanken Grotesk" pitchFamily="34" charset="-120"/>
              </a:rPr>
              <a:t>A common mistake with Convert Measurements Between Systems is ___. It happens because ___, and the fix is ___.</a:t>
            </a:r>
            <a:endParaRPr lang="en-US" sz="1050" dirty="0"/>
          </a:p>
        </p:txBody>
      </p:sp>
      <p:sp>
        <p:nvSpPr>
          <p:cNvPr id="29" name="Shape 27"/>
          <p:cNvSpPr/>
          <p:nvPr/>
        </p:nvSpPr>
        <p:spPr>
          <a:xfrm>
            <a:off x="594360" y="4453128"/>
            <a:ext cx="8046720" cy="0"/>
          </a:xfrm>
          <a:prstGeom prst="line">
            <a:avLst/>
          </a:prstGeom>
          <a:noFill/>
          <a:ln w="9525">
            <a:solidFill>
              <a:srgbClr val="C7CDD2"/>
            </a:solidFill>
            <a:prstDash val="dash"/>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Exit Ticket / Boleto de Salida</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16</a:t>
            </a:r>
            <a:endParaRPr lang="en-US" sz="800" dirty="0"/>
          </a:p>
        </p:txBody>
      </p:sp>
      <p:sp>
        <p:nvSpPr>
          <p:cNvPr id="17" name="Shape 15"/>
          <p:cNvSpPr/>
          <p:nvPr/>
        </p:nvSpPr>
        <p:spPr>
          <a:xfrm>
            <a:off x="411480" y="685800"/>
            <a:ext cx="4160520" cy="4023360"/>
          </a:xfrm>
          <a:prstGeom prst="roundRect">
            <a:avLst>
              <a:gd name="adj" fmla="val 1818"/>
            </a:avLst>
          </a:prstGeom>
          <a:solidFill>
            <a:srgbClr val="DFF2EE"/>
          </a:solidFill>
          <a:ln w="12700">
            <a:solidFill>
              <a:srgbClr val="1FA6A2"/>
            </a:solidFill>
            <a:prstDash val="solid"/>
          </a:ln>
          <a:effectLst>
            <a:outerShdw sx="100000" sy="100000" kx="0" ky="0" algn="bl" rotWithShape="0" blurRad="50800" dist="12700" dir="5400000">
              <a:srgbClr val="1C2E42">
                <a:alpha val="10000"/>
              </a:srgbClr>
            </a:outerShdw>
          </a:effectLst>
        </p:spPr>
      </p:sp>
      <p:sp>
        <p:nvSpPr>
          <p:cNvPr id="18" name="Text 16"/>
          <p:cNvSpPr/>
          <p:nvPr/>
        </p:nvSpPr>
        <p:spPr>
          <a:xfrm>
            <a:off x="411480" y="685800"/>
            <a:ext cx="4160520" cy="274320"/>
          </a:xfrm>
          <a:prstGeom prst="rect">
            <a:avLst/>
          </a:prstGeom>
          <a:solidFill>
            <a:srgbClr val="1FA6A2"/>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Reflection / Reflexión</a:t>
            </a:r>
            <a:endParaRPr lang="en-US" sz="1000" dirty="0"/>
          </a:p>
        </p:txBody>
      </p:sp>
      <p:sp>
        <p:nvSpPr>
          <p:cNvPr id="19" name="Text 17"/>
          <p:cNvSpPr/>
          <p:nvPr/>
        </p:nvSpPr>
        <p:spPr>
          <a:xfrm>
            <a:off x="594360" y="109728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Today I learned that ___ because ___.</a:t>
            </a:r>
            <a:endParaRPr lang="en-US" sz="1100" dirty="0"/>
          </a:p>
        </p:txBody>
      </p:sp>
      <p:sp>
        <p:nvSpPr>
          <p:cNvPr id="20" name="Shape 18"/>
          <p:cNvSpPr/>
          <p:nvPr/>
        </p:nvSpPr>
        <p:spPr>
          <a:xfrm>
            <a:off x="594360" y="1783080"/>
            <a:ext cx="3794760" cy="0"/>
          </a:xfrm>
          <a:prstGeom prst="line">
            <a:avLst/>
          </a:prstGeom>
          <a:noFill/>
          <a:ln w="9525">
            <a:solidFill>
              <a:srgbClr val="C7CDD2"/>
            </a:solidFill>
            <a:prstDash val="dash"/>
          </a:ln>
        </p:spPr>
      </p:sp>
      <p:sp>
        <p:nvSpPr>
          <p:cNvPr id="21" name="Shape 19"/>
          <p:cNvSpPr/>
          <p:nvPr/>
        </p:nvSpPr>
        <p:spPr>
          <a:xfrm>
            <a:off x="594360" y="2093976"/>
            <a:ext cx="3794760" cy="0"/>
          </a:xfrm>
          <a:prstGeom prst="line">
            <a:avLst/>
          </a:prstGeom>
          <a:noFill/>
          <a:ln w="9525">
            <a:solidFill>
              <a:srgbClr val="C7CDD2"/>
            </a:solidFill>
            <a:prstDash val="dash"/>
          </a:ln>
        </p:spPr>
      </p:sp>
      <p:sp>
        <p:nvSpPr>
          <p:cNvPr id="22" name="Shape 20"/>
          <p:cNvSpPr/>
          <p:nvPr/>
        </p:nvSpPr>
        <p:spPr>
          <a:xfrm>
            <a:off x="594360" y="2404872"/>
            <a:ext cx="3794760" cy="0"/>
          </a:xfrm>
          <a:prstGeom prst="line">
            <a:avLst/>
          </a:prstGeom>
          <a:noFill/>
          <a:ln w="9525">
            <a:solidFill>
              <a:srgbClr val="C7CDD2"/>
            </a:solidFill>
            <a:prstDash val="dash"/>
          </a:ln>
        </p:spPr>
      </p:sp>
      <p:sp>
        <p:nvSpPr>
          <p:cNvPr id="23" name="Text 21"/>
          <p:cNvSpPr/>
          <p:nvPr/>
        </p:nvSpPr>
        <p:spPr>
          <a:xfrm>
            <a:off x="594360" y="2834640"/>
            <a:ext cx="3794760" cy="365760"/>
          </a:xfrm>
          <a:prstGeom prst="rect">
            <a:avLst/>
          </a:prstGeom>
          <a:noFill/>
          <a:ln/>
        </p:spPr>
        <p:txBody>
          <a:bodyPr wrap="square" rtlCol="0" anchor="ctr"/>
          <a:lstStyle/>
          <a:p>
            <a:pPr indent="0" marL="0">
              <a:buNone/>
            </a:pPr>
            <a:r>
              <a:rPr lang="en-US" sz="1100" dirty="0">
                <a:solidFill>
                  <a:srgbClr val="17324D"/>
                </a:solidFill>
                <a:latin typeface="Hanken Grotesk" pitchFamily="34" charset="0"/>
                <a:ea typeface="Hanken Grotesk" pitchFamily="34" charset="-122"/>
                <a:cs typeface="Hanken Grotesk" pitchFamily="34" charset="-120"/>
              </a:rPr>
              <a:t>One thing I am still not sure about is ___.</a:t>
            </a:r>
            <a:endParaRPr lang="en-US" sz="1100" dirty="0"/>
          </a:p>
        </p:txBody>
      </p:sp>
      <p:sp>
        <p:nvSpPr>
          <p:cNvPr id="24" name="Shape 22"/>
          <p:cNvSpPr/>
          <p:nvPr/>
        </p:nvSpPr>
        <p:spPr>
          <a:xfrm>
            <a:off x="594360" y="3520440"/>
            <a:ext cx="3794760" cy="0"/>
          </a:xfrm>
          <a:prstGeom prst="line">
            <a:avLst/>
          </a:prstGeom>
          <a:noFill/>
          <a:ln w="9525">
            <a:solidFill>
              <a:srgbClr val="C7CDD2"/>
            </a:solidFill>
            <a:prstDash val="dash"/>
          </a:ln>
        </p:spPr>
      </p:sp>
      <p:sp>
        <p:nvSpPr>
          <p:cNvPr id="25" name="Shape 23"/>
          <p:cNvSpPr/>
          <p:nvPr/>
        </p:nvSpPr>
        <p:spPr>
          <a:xfrm>
            <a:off x="594360" y="3831336"/>
            <a:ext cx="3794760" cy="0"/>
          </a:xfrm>
          <a:prstGeom prst="line">
            <a:avLst/>
          </a:prstGeom>
          <a:noFill/>
          <a:ln w="9525">
            <a:solidFill>
              <a:srgbClr val="C7CDD2"/>
            </a:solidFill>
            <a:prstDash val="dash"/>
          </a:ln>
        </p:spPr>
      </p:sp>
      <p:sp>
        <p:nvSpPr>
          <p:cNvPr id="26" name="Shape 24"/>
          <p:cNvSpPr/>
          <p:nvPr/>
        </p:nvSpPr>
        <p:spPr>
          <a:xfrm>
            <a:off x="594360" y="4142232"/>
            <a:ext cx="3794760" cy="0"/>
          </a:xfrm>
          <a:prstGeom prst="line">
            <a:avLst/>
          </a:prstGeom>
          <a:noFill/>
          <a:ln w="9525">
            <a:solidFill>
              <a:srgbClr val="C7CDD2"/>
            </a:solidFill>
            <a:prstDash val="dash"/>
          </a:ln>
        </p:spPr>
      </p:sp>
      <p:sp>
        <p:nvSpPr>
          <p:cNvPr id="27" name="Shape 25"/>
          <p:cNvSpPr/>
          <p:nvPr/>
        </p:nvSpPr>
        <p:spPr>
          <a:xfrm>
            <a:off x="4709160" y="685800"/>
            <a:ext cx="4114800" cy="4023360"/>
          </a:xfrm>
          <a:prstGeom prst="roundRect">
            <a:avLst>
              <a:gd name="adj" fmla="val 1818"/>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8" name="Text 26"/>
          <p:cNvSpPr/>
          <p:nvPr/>
        </p:nvSpPr>
        <p:spPr>
          <a:xfrm>
            <a:off x="4709160" y="685800"/>
            <a:ext cx="4114800" cy="274320"/>
          </a:xfrm>
          <a:prstGeom prst="rect">
            <a:avLst/>
          </a:prstGeom>
          <a:solidFill>
            <a:srgbClr val="17324D"/>
          </a:solidFill>
          <a:ln/>
        </p:spPr>
        <p:txBody>
          <a:bodyPr wrap="square" rtlCol="0" anchor="ctr"/>
          <a:lstStyle/>
          <a:p>
            <a:pPr algn="ctr" indent="0" marL="0">
              <a:buNone/>
            </a:pPr>
            <a:r>
              <a:rPr lang="en-US" sz="1000" b="1" dirty="0">
                <a:solidFill>
                  <a:srgbClr val="FFFFFF"/>
                </a:solidFill>
                <a:latin typeface="Outfit" pitchFamily="34" charset="0"/>
                <a:ea typeface="Outfit" pitchFamily="34" charset="-122"/>
                <a:cs typeface="Outfit" pitchFamily="34" charset="-120"/>
              </a:rPr>
              <a:t>Quick Exit Ticket</a:t>
            </a:r>
            <a:endParaRPr lang="en-US" sz="1000" dirty="0"/>
          </a:p>
        </p:txBody>
      </p:sp>
      <p:sp>
        <p:nvSpPr>
          <p:cNvPr id="29" name="Text 27"/>
          <p:cNvSpPr/>
          <p:nvPr/>
        </p:nvSpPr>
        <p:spPr>
          <a:xfrm>
            <a:off x="4892040" y="1097280"/>
            <a:ext cx="3749040" cy="64008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Tier 1 — </a:t>
            </a:r>
            <a:pPr indent="0" marL="0">
              <a:buNone/>
            </a:pPr>
            <a:r>
              <a:rPr lang="en-US" sz="1050" dirty="0">
                <a:solidFill>
                  <a:srgbClr val="17324D"/>
                </a:solidFill>
                <a:latin typeface="Hanken Grotesk" pitchFamily="34" charset="0"/>
                <a:ea typeface="Hanken Grotesk" pitchFamily="34" charset="-122"/>
                <a:cs typeface="Hanken Grotesk" pitchFamily="34" charset="-120"/>
              </a:rPr>
              <a:t>A highway sign in Canada reads 100 km/h. Using 1 km ≈ 0.6 mi, is that faster or slower than 100 mi/h?</a:t>
            </a:r>
            <a:endParaRPr lang="en-US" sz="1050" dirty="0"/>
          </a:p>
        </p:txBody>
      </p:sp>
      <p:sp>
        <p:nvSpPr>
          <p:cNvPr id="30" name="Text 28"/>
          <p:cNvSpPr/>
          <p:nvPr/>
        </p:nvSpPr>
        <p:spPr>
          <a:xfrm>
            <a:off x="5029200" y="1783080"/>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A.  Faster — 100 km/h is about 160 mi/h</a:t>
            </a:r>
            <a:endParaRPr lang="en-US" sz="1000" dirty="0"/>
          </a:p>
        </p:txBody>
      </p:sp>
      <p:sp>
        <p:nvSpPr>
          <p:cNvPr id="31" name="Text 29"/>
          <p:cNvSpPr/>
          <p:nvPr/>
        </p:nvSpPr>
        <p:spPr>
          <a:xfrm>
            <a:off x="5029200" y="2093976"/>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B.  The same, because both numbers are 100</a:t>
            </a:r>
            <a:endParaRPr lang="en-US" sz="1000" dirty="0"/>
          </a:p>
        </p:txBody>
      </p:sp>
      <p:sp>
        <p:nvSpPr>
          <p:cNvPr id="32" name="Text 30"/>
          <p:cNvSpPr/>
          <p:nvPr/>
        </p:nvSpPr>
        <p:spPr>
          <a:xfrm>
            <a:off x="5029200" y="2404872"/>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C.  Slower — 100 km/h is about 60 mi/h</a:t>
            </a:r>
            <a:endParaRPr lang="en-US" sz="1000" dirty="0"/>
          </a:p>
        </p:txBody>
      </p:sp>
      <p:sp>
        <p:nvSpPr>
          <p:cNvPr id="33" name="Text 31"/>
          <p:cNvSpPr/>
          <p:nvPr/>
        </p:nvSpPr>
        <p:spPr>
          <a:xfrm>
            <a:off x="5029200" y="2715768"/>
            <a:ext cx="3566160" cy="274320"/>
          </a:xfrm>
          <a:prstGeom prst="rect">
            <a:avLst/>
          </a:prstGeom>
          <a:noFill/>
          <a:ln/>
        </p:spPr>
        <p:txBody>
          <a:bodyPr wrap="square" rtlCol="0" anchor="ctr"/>
          <a:lstStyle/>
          <a:p>
            <a:pPr indent="0" marL="0">
              <a:buNone/>
            </a:pPr>
            <a:r>
              <a:rPr lang="en-US" sz="1000" dirty="0">
                <a:solidFill>
                  <a:srgbClr val="24323F"/>
                </a:solidFill>
                <a:latin typeface="Hanken Grotesk" pitchFamily="34" charset="0"/>
                <a:ea typeface="Hanken Grotesk" pitchFamily="34" charset="-122"/>
                <a:cs typeface="Hanken Grotesk" pitchFamily="34" charset="-120"/>
              </a:rPr>
              <a:t>D.  You cannot compare two different systems</a:t>
            </a:r>
            <a:endParaRPr lang="en-US" sz="1000" dirty="0"/>
          </a:p>
        </p:txBody>
      </p:sp>
      <p:sp>
        <p:nvSpPr>
          <p:cNvPr id="34" name="Text 32"/>
          <p:cNvSpPr/>
          <p:nvPr/>
        </p:nvSpPr>
        <p:spPr>
          <a:xfrm>
            <a:off x="4892040" y="3163824"/>
            <a:ext cx="3749040" cy="502920"/>
          </a:xfrm>
          <a:prstGeom prst="rect">
            <a:avLst/>
          </a:prstGeom>
          <a:noFill/>
          <a:ln/>
        </p:spPr>
        <p:txBody>
          <a:bodyPr wrap="square" rtlCol="0" anchor="t"/>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Tier 2 — </a:t>
            </a:r>
            <a:pPr indent="0" marL="0">
              <a:buNone/>
            </a:pPr>
            <a:r>
              <a:rPr lang="en-US" sz="1050" dirty="0">
                <a:solidFill>
                  <a:srgbClr val="17324D"/>
                </a:solidFill>
                <a:latin typeface="Hanken Grotesk" pitchFamily="34" charset="0"/>
                <a:ea typeface="Hanken Grotesk" pitchFamily="34" charset="-122"/>
                <a:cs typeface="Hanken Grotesk" pitchFamily="34" charset="-120"/>
              </a:rPr>
              <a:t>Explain how you know your answer is correct. Use at least one vocabulary word.</a:t>
            </a:r>
            <a:endParaRPr lang="en-US" sz="1050" dirty="0"/>
          </a:p>
        </p:txBody>
      </p:sp>
      <p:sp>
        <p:nvSpPr>
          <p:cNvPr id="35" name="Shape 33"/>
          <p:cNvSpPr/>
          <p:nvPr/>
        </p:nvSpPr>
        <p:spPr>
          <a:xfrm>
            <a:off x="4892040" y="3803904"/>
            <a:ext cx="3749040" cy="0"/>
          </a:xfrm>
          <a:prstGeom prst="line">
            <a:avLst/>
          </a:prstGeom>
          <a:noFill/>
          <a:ln w="9525">
            <a:solidFill>
              <a:srgbClr val="C7CDD2"/>
            </a:solidFill>
            <a:prstDash val="dash"/>
          </a:ln>
        </p:spPr>
      </p:sp>
      <p:sp>
        <p:nvSpPr>
          <p:cNvPr id="36" name="Shape 34"/>
          <p:cNvSpPr/>
          <p:nvPr/>
        </p:nvSpPr>
        <p:spPr>
          <a:xfrm>
            <a:off x="4892040" y="4096512"/>
            <a:ext cx="3749040" cy="0"/>
          </a:xfrm>
          <a:prstGeom prst="line">
            <a:avLst/>
          </a:prstGeom>
          <a:noFill/>
          <a:ln w="9525">
            <a:solidFill>
              <a:srgbClr val="C7CDD2"/>
            </a:solidFill>
            <a:prstDash val="dash"/>
          </a:ln>
        </p:spPr>
      </p:sp>
      <p:sp>
        <p:nvSpPr>
          <p:cNvPr id="37" name="Shape 35"/>
          <p:cNvSpPr/>
          <p:nvPr/>
        </p:nvSpPr>
        <p:spPr>
          <a:xfrm>
            <a:off x="4892040" y="4389120"/>
            <a:ext cx="3749040" cy="0"/>
          </a:xfrm>
          <a:prstGeom prst="line">
            <a:avLst/>
          </a:prstGeom>
          <a:noFill/>
          <a:ln w="9525">
            <a:solidFill>
              <a:srgbClr val="C7CDD2"/>
            </a:solidFill>
            <a:prstDash val="dash"/>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17324D"/>
          </a:solidFill>
          <a:ln/>
        </p:spPr>
      </p:sp>
      <p:sp>
        <p:nvSpPr>
          <p:cNvPr id="3" name="Text 1"/>
          <p:cNvSpPr/>
          <p:nvPr/>
        </p:nvSpPr>
        <p:spPr>
          <a:xfrm>
            <a:off x="274320" y="0"/>
            <a:ext cx="2194560" cy="475488"/>
          </a:xfrm>
          <a:prstGeom prst="rect">
            <a:avLst/>
          </a:prstGeom>
          <a:noFill/>
          <a:ln/>
        </p:spPr>
        <p:txBody>
          <a:bodyPr wrap="square" rtlCol="0" anchor="ctr"/>
          <a:lstStyle/>
          <a:p>
            <a:pPr indent="0" marL="0">
              <a:buNone/>
            </a:pPr>
            <a:r>
              <a:rPr lang="en-US" sz="850" b="1" spc="100" kern="0" dirty="0">
                <a:solidFill>
                  <a:srgbClr val="BFE6E2"/>
                </a:solidFill>
                <a:latin typeface="Outfit" pitchFamily="34" charset="0"/>
                <a:ea typeface="Outfit" pitchFamily="34" charset="-122"/>
                <a:cs typeface="Outfit" pitchFamily="34" charset="-120"/>
              </a:rPr>
              <a:t>NEFT TEACHER</a:t>
            </a:r>
            <a:endParaRPr lang="en-US" sz="850" dirty="0"/>
          </a:p>
        </p:txBody>
      </p:sp>
      <p:sp>
        <p:nvSpPr>
          <p:cNvPr id="4" name="Text 2"/>
          <p:cNvSpPr/>
          <p:nvPr/>
        </p:nvSpPr>
        <p:spPr>
          <a:xfrm>
            <a:off x="1737360" y="0"/>
            <a:ext cx="5120640" cy="475488"/>
          </a:xfrm>
          <a:prstGeom prst="rect">
            <a:avLst/>
          </a:prstGeom>
          <a:noFill/>
          <a:ln/>
        </p:spPr>
        <p:txBody>
          <a:bodyPr wrap="square" rtlCol="0" anchor="ctr"/>
          <a:lstStyle/>
          <a:p>
            <a:pPr indent="0" marL="0">
              <a:buNone/>
            </a:pPr>
            <a:r>
              <a:rPr lang="en-US" sz="1500" b="1" dirty="0">
                <a:solidFill>
                  <a:srgbClr val="FFFFFF"/>
                </a:solidFill>
                <a:latin typeface="Outfit" pitchFamily="34" charset="0"/>
                <a:ea typeface="Outfit" pitchFamily="34" charset="-122"/>
                <a:cs typeface="Outfit" pitchFamily="34" charset="-120"/>
              </a:rPr>
              <a:t>Goal Tracker / Seguimiento de Metas</a:t>
            </a:r>
            <a:endParaRPr lang="en-US" sz="1500" dirty="0"/>
          </a:p>
        </p:txBody>
      </p:sp>
      <p:sp>
        <p:nvSpPr>
          <p:cNvPr id="5" name="Text 3"/>
          <p:cNvSpPr/>
          <p:nvPr/>
        </p:nvSpPr>
        <p:spPr>
          <a:xfrm>
            <a:off x="7360920" y="100584"/>
            <a:ext cx="914400" cy="274320"/>
          </a:xfrm>
          <a:prstGeom prst="rect">
            <a:avLst>
              <a:gd name="adj" fmla="val 50000"/>
            </a:avLst>
          </a:prstGeom>
          <a:solidFill>
            <a:srgbClr val="C0654A"/>
          </a:solidFill>
          <a:ln/>
        </p:spPr>
        <p:txBody>
          <a:bodyPr wrap="square" rtlCol="0" anchor="ctr"/>
          <a:lstStyle/>
          <a:p>
            <a:pPr algn="ctr" indent="0" marL="0">
              <a:buNone/>
            </a:pPr>
            <a:r>
              <a:rPr lang="en-US" sz="900" b="1" dirty="0">
                <a:solidFill>
                  <a:srgbClr val="FFFFFF"/>
                </a:solidFill>
                <a:latin typeface="Outfit" pitchFamily="34" charset="0"/>
                <a:ea typeface="Outfit" pitchFamily="34" charset="-122"/>
                <a:cs typeface="Outfit" pitchFamily="34" charset="-120"/>
              </a:rPr>
              <a:t>6.AT.3c</a:t>
            </a:r>
            <a:endParaRPr lang="en-US" sz="900" dirty="0"/>
          </a:p>
        </p:txBody>
      </p:sp>
      <p:sp>
        <p:nvSpPr>
          <p:cNvPr id="6" name="Shape 4"/>
          <p:cNvSpPr/>
          <p:nvPr/>
        </p:nvSpPr>
        <p:spPr>
          <a:xfrm>
            <a:off x="73152" y="685800"/>
            <a:ext cx="109728" cy="109728"/>
          </a:xfrm>
          <a:prstGeom prst="ellipse">
            <a:avLst/>
          </a:prstGeom>
          <a:solidFill>
            <a:srgbClr val="CBD3D9"/>
          </a:solidFill>
          <a:ln/>
        </p:spPr>
      </p:sp>
      <p:sp>
        <p:nvSpPr>
          <p:cNvPr id="7" name="Shape 5"/>
          <p:cNvSpPr/>
          <p:nvPr/>
        </p:nvSpPr>
        <p:spPr>
          <a:xfrm>
            <a:off x="73152" y="1161288"/>
            <a:ext cx="109728" cy="109728"/>
          </a:xfrm>
          <a:prstGeom prst="ellipse">
            <a:avLst/>
          </a:prstGeom>
          <a:solidFill>
            <a:srgbClr val="CBD3D9"/>
          </a:solidFill>
          <a:ln/>
        </p:spPr>
      </p:sp>
      <p:sp>
        <p:nvSpPr>
          <p:cNvPr id="8" name="Shape 6"/>
          <p:cNvSpPr/>
          <p:nvPr/>
        </p:nvSpPr>
        <p:spPr>
          <a:xfrm>
            <a:off x="73152" y="1636776"/>
            <a:ext cx="109728" cy="109728"/>
          </a:xfrm>
          <a:prstGeom prst="ellipse">
            <a:avLst/>
          </a:prstGeom>
          <a:solidFill>
            <a:srgbClr val="CBD3D9"/>
          </a:solidFill>
          <a:ln/>
        </p:spPr>
      </p:sp>
      <p:sp>
        <p:nvSpPr>
          <p:cNvPr id="9" name="Shape 7"/>
          <p:cNvSpPr/>
          <p:nvPr/>
        </p:nvSpPr>
        <p:spPr>
          <a:xfrm>
            <a:off x="73152" y="2112264"/>
            <a:ext cx="109728" cy="109728"/>
          </a:xfrm>
          <a:prstGeom prst="ellipse">
            <a:avLst/>
          </a:prstGeom>
          <a:solidFill>
            <a:srgbClr val="CBD3D9"/>
          </a:solidFill>
          <a:ln/>
        </p:spPr>
      </p:sp>
      <p:sp>
        <p:nvSpPr>
          <p:cNvPr id="10" name="Shape 8"/>
          <p:cNvSpPr/>
          <p:nvPr/>
        </p:nvSpPr>
        <p:spPr>
          <a:xfrm>
            <a:off x="73152" y="2587752"/>
            <a:ext cx="109728" cy="109728"/>
          </a:xfrm>
          <a:prstGeom prst="ellipse">
            <a:avLst/>
          </a:prstGeom>
          <a:solidFill>
            <a:srgbClr val="CBD3D9"/>
          </a:solidFill>
          <a:ln/>
        </p:spPr>
      </p:sp>
      <p:sp>
        <p:nvSpPr>
          <p:cNvPr id="11" name="Shape 9"/>
          <p:cNvSpPr/>
          <p:nvPr/>
        </p:nvSpPr>
        <p:spPr>
          <a:xfrm>
            <a:off x="73152" y="3063240"/>
            <a:ext cx="109728" cy="109728"/>
          </a:xfrm>
          <a:prstGeom prst="ellipse">
            <a:avLst/>
          </a:prstGeom>
          <a:solidFill>
            <a:srgbClr val="CBD3D9"/>
          </a:solidFill>
          <a:ln/>
        </p:spPr>
      </p:sp>
      <p:sp>
        <p:nvSpPr>
          <p:cNvPr id="12" name="Shape 10"/>
          <p:cNvSpPr/>
          <p:nvPr/>
        </p:nvSpPr>
        <p:spPr>
          <a:xfrm>
            <a:off x="73152" y="3538728"/>
            <a:ext cx="109728" cy="109728"/>
          </a:xfrm>
          <a:prstGeom prst="ellipse">
            <a:avLst/>
          </a:prstGeom>
          <a:solidFill>
            <a:srgbClr val="CBD3D9"/>
          </a:solidFill>
          <a:ln/>
        </p:spPr>
      </p:sp>
      <p:sp>
        <p:nvSpPr>
          <p:cNvPr id="13" name="Shape 11"/>
          <p:cNvSpPr/>
          <p:nvPr/>
        </p:nvSpPr>
        <p:spPr>
          <a:xfrm>
            <a:off x="73152" y="4014216"/>
            <a:ext cx="109728" cy="109728"/>
          </a:xfrm>
          <a:prstGeom prst="ellipse">
            <a:avLst/>
          </a:prstGeom>
          <a:solidFill>
            <a:srgbClr val="CBD3D9"/>
          </a:solidFill>
          <a:ln/>
        </p:spPr>
      </p:sp>
      <p:sp>
        <p:nvSpPr>
          <p:cNvPr id="14" name="Shape 12"/>
          <p:cNvSpPr/>
          <p:nvPr/>
        </p:nvSpPr>
        <p:spPr>
          <a:xfrm>
            <a:off x="73152" y="4489704"/>
            <a:ext cx="109728" cy="109728"/>
          </a:xfrm>
          <a:prstGeom prst="ellipse">
            <a:avLst/>
          </a:prstGeom>
          <a:solidFill>
            <a:srgbClr val="CBD3D9"/>
          </a:solidFill>
          <a:ln/>
        </p:spPr>
      </p:sp>
      <p:sp>
        <p:nvSpPr>
          <p:cNvPr id="15" name="Text 13"/>
          <p:cNvSpPr/>
          <p:nvPr/>
        </p:nvSpPr>
        <p:spPr>
          <a:xfrm>
            <a:off x="274320" y="4850892"/>
            <a:ext cx="6400800" cy="256032"/>
          </a:xfrm>
          <a:prstGeom prst="rect">
            <a:avLst/>
          </a:prstGeom>
          <a:noFill/>
          <a:ln/>
        </p:spPr>
        <p:txBody>
          <a:bodyPr wrap="square" rtlCol="0" anchor="ctr"/>
          <a:lstStyle/>
          <a:p>
            <a:pPr indent="0" marL="0">
              <a:buNone/>
            </a:pPr>
            <a:r>
              <a:rPr lang="en-US" sz="750" dirty="0">
                <a:solidFill>
                  <a:srgbClr val="8A96A3"/>
                </a:solidFill>
                <a:latin typeface="Hanken Grotesk" pitchFamily="34" charset="0"/>
                <a:ea typeface="Hanken Grotesk" pitchFamily="34" charset="-122"/>
                <a:cs typeface="Hanken Grotesk" pitchFamily="34" charset="-120"/>
              </a:rPr>
              <a:t>Reveal Math Grade 6  ·  Unit 3  ·  Lesson 3-7</a:t>
            </a:r>
            <a:endParaRPr lang="en-US" sz="750" dirty="0"/>
          </a:p>
        </p:txBody>
      </p:sp>
      <p:sp>
        <p:nvSpPr>
          <p:cNvPr id="16" name="Text 14"/>
          <p:cNvSpPr/>
          <p:nvPr/>
        </p:nvSpPr>
        <p:spPr>
          <a:xfrm>
            <a:off x="8412480" y="4850892"/>
            <a:ext cx="457200" cy="256032"/>
          </a:xfrm>
          <a:prstGeom prst="rect">
            <a:avLst/>
          </a:prstGeom>
          <a:noFill/>
          <a:ln/>
        </p:spPr>
        <p:txBody>
          <a:bodyPr wrap="square" rtlCol="0" anchor="ctr"/>
          <a:lstStyle/>
          <a:p>
            <a:pPr algn="r" indent="0" marL="0">
              <a:buNone/>
            </a:pPr>
            <a:r>
              <a:rPr lang="en-US" sz="800" b="1" dirty="0">
                <a:solidFill>
                  <a:srgbClr val="8A96A3"/>
                </a:solidFill>
                <a:latin typeface="Outfit" pitchFamily="34" charset="0"/>
                <a:ea typeface="Outfit" pitchFamily="34" charset="-122"/>
                <a:cs typeface="Outfit" pitchFamily="34" charset="-120"/>
              </a:rPr>
              <a:t>17</a:t>
            </a:r>
            <a:endParaRPr lang="en-US" sz="800" dirty="0"/>
          </a:p>
        </p:txBody>
      </p:sp>
      <p:sp>
        <p:nvSpPr>
          <p:cNvPr id="17" name="Shape 15"/>
          <p:cNvSpPr/>
          <p:nvPr/>
        </p:nvSpPr>
        <p:spPr>
          <a:xfrm>
            <a:off x="411480" y="658368"/>
            <a:ext cx="8412480" cy="502920"/>
          </a:xfrm>
          <a:prstGeom prst="roundRect">
            <a:avLst>
              <a:gd name="adj" fmla="val 14545"/>
            </a:avLst>
          </a:prstGeom>
          <a:solidFill>
            <a:srgbClr val="17324D"/>
          </a:solidFill>
          <a:ln/>
        </p:spPr>
      </p:sp>
      <p:sp>
        <p:nvSpPr>
          <p:cNvPr id="18" name="Text 16"/>
          <p:cNvSpPr/>
          <p:nvPr/>
        </p:nvSpPr>
        <p:spPr>
          <a:xfrm>
            <a:off x="640080" y="658368"/>
            <a:ext cx="7955280" cy="502920"/>
          </a:xfrm>
          <a:prstGeom prst="rect">
            <a:avLst/>
          </a:prstGeom>
          <a:noFill/>
          <a:ln/>
        </p:spPr>
        <p:txBody>
          <a:bodyPr wrap="square" rtlCol="0" anchor="ctr"/>
          <a:lstStyle/>
          <a:p>
            <a:pPr indent="0" marL="0">
              <a:buNone/>
            </a:pPr>
            <a:r>
              <a:rPr lang="en-US" sz="1100" b="1" dirty="0">
                <a:solidFill>
                  <a:srgbClr val="F2C15B"/>
                </a:solidFill>
                <a:latin typeface="Hanken Grotesk" pitchFamily="34" charset="0"/>
                <a:ea typeface="Hanken Grotesk" pitchFamily="34" charset="-122"/>
                <a:cs typeface="Hanken Grotesk" pitchFamily="34" charset="-120"/>
              </a:rPr>
              <a:t>My Goal:  </a:t>
            </a:r>
            <a:pPr indent="0" marL="0">
              <a:buNone/>
            </a:pPr>
            <a:r>
              <a:rPr lang="en-US" sz="1100" dirty="0">
                <a:solidFill>
                  <a:srgbClr val="FFFFFF"/>
                </a:solidFill>
                <a:latin typeface="Hanken Grotesk" pitchFamily="34" charset="0"/>
                <a:ea typeface="Hanken Grotesk" pitchFamily="34" charset="-122"/>
                <a:cs typeface="Hanken Grotesk" pitchFamily="34" charset="-120"/>
              </a:rPr>
              <a:t>I can use ratio reasoning to convert measurements between the customary and metric systems.</a:t>
            </a:r>
            <a:endParaRPr lang="en-US" sz="1100" dirty="0"/>
          </a:p>
        </p:txBody>
      </p:sp>
      <p:sp>
        <p:nvSpPr>
          <p:cNvPr id="19" name="Shape 17"/>
          <p:cNvSpPr/>
          <p:nvPr/>
        </p:nvSpPr>
        <p:spPr>
          <a:xfrm>
            <a:off x="411480" y="1371600"/>
            <a:ext cx="1965960" cy="2377440"/>
          </a:xfrm>
          <a:prstGeom prst="roundRect">
            <a:avLst>
              <a:gd name="adj" fmla="val 3721"/>
            </a:avLst>
          </a:prstGeom>
          <a:solidFill>
            <a:srgbClr val="FCE6D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0" name="Shape 18"/>
          <p:cNvSpPr/>
          <p:nvPr/>
        </p:nvSpPr>
        <p:spPr>
          <a:xfrm>
            <a:off x="1138428" y="1508760"/>
            <a:ext cx="512064" cy="512064"/>
          </a:xfrm>
          <a:prstGeom prst="ellipse">
            <a:avLst/>
          </a:prstGeom>
          <a:solidFill>
            <a:srgbClr val="C0654A"/>
          </a:solidFill>
          <a:ln/>
        </p:spPr>
      </p:sp>
      <p:sp>
        <p:nvSpPr>
          <p:cNvPr id="21" name="Text 19"/>
          <p:cNvSpPr/>
          <p:nvPr/>
        </p:nvSpPr>
        <p:spPr>
          <a:xfrm>
            <a:off x="113842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1</a:t>
            </a:r>
            <a:endParaRPr lang="en-US" sz="2000" dirty="0"/>
          </a:p>
        </p:txBody>
      </p:sp>
      <p:sp>
        <p:nvSpPr>
          <p:cNvPr id="22" name="Text 20"/>
          <p:cNvSpPr/>
          <p:nvPr/>
        </p:nvSpPr>
        <p:spPr>
          <a:xfrm>
            <a:off x="45720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Not Yet</a:t>
            </a:r>
            <a:endParaRPr lang="en-US" sz="1150" dirty="0"/>
          </a:p>
        </p:txBody>
      </p:sp>
      <p:sp>
        <p:nvSpPr>
          <p:cNvPr id="23" name="Text 21"/>
          <p:cNvSpPr/>
          <p:nvPr/>
        </p:nvSpPr>
        <p:spPr>
          <a:xfrm>
            <a:off x="52120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need more help. This does not make sense to me yet.</a:t>
            </a:r>
            <a:endParaRPr lang="en-US" sz="900" dirty="0"/>
          </a:p>
        </p:txBody>
      </p:sp>
      <p:sp>
        <p:nvSpPr>
          <p:cNvPr id="24" name="Text 22"/>
          <p:cNvSpPr/>
          <p:nvPr/>
        </p:nvSpPr>
        <p:spPr>
          <a:xfrm>
            <a:off x="45720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25" name="Shape 23"/>
          <p:cNvSpPr/>
          <p:nvPr/>
        </p:nvSpPr>
        <p:spPr>
          <a:xfrm>
            <a:off x="2560320" y="1371600"/>
            <a:ext cx="1965960" cy="2377440"/>
          </a:xfrm>
          <a:prstGeom prst="roundRect">
            <a:avLst>
              <a:gd name="adj" fmla="val 3721"/>
            </a:avLst>
          </a:prstGeom>
          <a:solidFill>
            <a:srgbClr val="FBEFD0"/>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26" name="Shape 24"/>
          <p:cNvSpPr/>
          <p:nvPr/>
        </p:nvSpPr>
        <p:spPr>
          <a:xfrm>
            <a:off x="3287268" y="1508760"/>
            <a:ext cx="512064" cy="512064"/>
          </a:xfrm>
          <a:prstGeom prst="ellipse">
            <a:avLst/>
          </a:prstGeom>
          <a:solidFill>
            <a:srgbClr val="C0654A"/>
          </a:solidFill>
          <a:ln/>
        </p:spPr>
      </p:sp>
      <p:sp>
        <p:nvSpPr>
          <p:cNvPr id="27" name="Text 25"/>
          <p:cNvSpPr/>
          <p:nvPr/>
        </p:nvSpPr>
        <p:spPr>
          <a:xfrm>
            <a:off x="328726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2</a:t>
            </a:r>
            <a:endParaRPr lang="en-US" sz="2000" dirty="0"/>
          </a:p>
        </p:txBody>
      </p:sp>
      <p:sp>
        <p:nvSpPr>
          <p:cNvPr id="28" name="Text 26"/>
          <p:cNvSpPr/>
          <p:nvPr/>
        </p:nvSpPr>
        <p:spPr>
          <a:xfrm>
            <a:off x="260604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Getting There</a:t>
            </a:r>
            <a:endParaRPr lang="en-US" sz="1150" dirty="0"/>
          </a:p>
        </p:txBody>
      </p:sp>
      <p:sp>
        <p:nvSpPr>
          <p:cNvPr id="29" name="Text 27"/>
          <p:cNvSpPr/>
          <p:nvPr/>
        </p:nvSpPr>
        <p:spPr>
          <a:xfrm>
            <a:off x="267004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understand the idea but I make mistakes when I work.</a:t>
            </a:r>
            <a:endParaRPr lang="en-US" sz="900" dirty="0"/>
          </a:p>
        </p:txBody>
      </p:sp>
      <p:sp>
        <p:nvSpPr>
          <p:cNvPr id="30" name="Text 28"/>
          <p:cNvSpPr/>
          <p:nvPr/>
        </p:nvSpPr>
        <p:spPr>
          <a:xfrm>
            <a:off x="260604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1" name="Shape 29"/>
          <p:cNvSpPr/>
          <p:nvPr/>
        </p:nvSpPr>
        <p:spPr>
          <a:xfrm>
            <a:off x="4709160" y="1371600"/>
            <a:ext cx="1965960" cy="2377440"/>
          </a:xfrm>
          <a:prstGeom prst="roundRect">
            <a:avLst>
              <a:gd name="adj" fmla="val 3721"/>
            </a:avLst>
          </a:prstGeom>
          <a:solidFill>
            <a:srgbClr val="DFF2EE"/>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2" name="Shape 30"/>
          <p:cNvSpPr/>
          <p:nvPr/>
        </p:nvSpPr>
        <p:spPr>
          <a:xfrm>
            <a:off x="5436108" y="1508760"/>
            <a:ext cx="512064" cy="512064"/>
          </a:xfrm>
          <a:prstGeom prst="ellipse">
            <a:avLst/>
          </a:prstGeom>
          <a:solidFill>
            <a:srgbClr val="C0654A"/>
          </a:solidFill>
          <a:ln/>
        </p:spPr>
      </p:sp>
      <p:sp>
        <p:nvSpPr>
          <p:cNvPr id="33" name="Text 31"/>
          <p:cNvSpPr/>
          <p:nvPr/>
        </p:nvSpPr>
        <p:spPr>
          <a:xfrm>
            <a:off x="543610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3</a:t>
            </a:r>
            <a:endParaRPr lang="en-US" sz="2000" dirty="0"/>
          </a:p>
        </p:txBody>
      </p:sp>
      <p:sp>
        <p:nvSpPr>
          <p:cNvPr id="34" name="Text 32"/>
          <p:cNvSpPr/>
          <p:nvPr/>
        </p:nvSpPr>
        <p:spPr>
          <a:xfrm>
            <a:off x="475488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Got It!</a:t>
            </a:r>
            <a:endParaRPr lang="en-US" sz="1150" dirty="0"/>
          </a:p>
        </p:txBody>
      </p:sp>
      <p:sp>
        <p:nvSpPr>
          <p:cNvPr id="35" name="Text 33"/>
          <p:cNvSpPr/>
          <p:nvPr/>
        </p:nvSpPr>
        <p:spPr>
          <a:xfrm>
            <a:off x="481888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solve problems on my own and explain my thinking.</a:t>
            </a:r>
            <a:endParaRPr lang="en-US" sz="900" dirty="0"/>
          </a:p>
        </p:txBody>
      </p:sp>
      <p:sp>
        <p:nvSpPr>
          <p:cNvPr id="36" name="Text 34"/>
          <p:cNvSpPr/>
          <p:nvPr/>
        </p:nvSpPr>
        <p:spPr>
          <a:xfrm>
            <a:off x="475488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37" name="Shape 35"/>
          <p:cNvSpPr/>
          <p:nvPr/>
        </p:nvSpPr>
        <p:spPr>
          <a:xfrm>
            <a:off x="6858000" y="1371600"/>
            <a:ext cx="1965960" cy="2377440"/>
          </a:xfrm>
          <a:prstGeom prst="roundRect">
            <a:avLst>
              <a:gd name="adj" fmla="val 3721"/>
            </a:avLst>
          </a:prstGeom>
          <a:solidFill>
            <a:srgbClr val="EAF2F1"/>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38" name="Shape 36"/>
          <p:cNvSpPr/>
          <p:nvPr/>
        </p:nvSpPr>
        <p:spPr>
          <a:xfrm>
            <a:off x="7584948" y="1508760"/>
            <a:ext cx="512064" cy="512064"/>
          </a:xfrm>
          <a:prstGeom prst="ellipse">
            <a:avLst/>
          </a:prstGeom>
          <a:solidFill>
            <a:srgbClr val="C0654A"/>
          </a:solidFill>
          <a:ln/>
        </p:spPr>
      </p:sp>
      <p:sp>
        <p:nvSpPr>
          <p:cNvPr id="39" name="Text 37"/>
          <p:cNvSpPr/>
          <p:nvPr/>
        </p:nvSpPr>
        <p:spPr>
          <a:xfrm>
            <a:off x="7584948" y="1508760"/>
            <a:ext cx="512064" cy="512064"/>
          </a:xfrm>
          <a:prstGeom prst="rect">
            <a:avLst/>
          </a:prstGeom>
          <a:noFill/>
          <a:ln/>
        </p:spPr>
        <p:txBody>
          <a:bodyPr wrap="square" rtlCol="0" anchor="ctr"/>
          <a:lstStyle/>
          <a:p>
            <a:pPr algn="ctr" indent="0" marL="0">
              <a:buNone/>
            </a:pPr>
            <a:r>
              <a:rPr lang="en-US" sz="2000" b="1" dirty="0">
                <a:solidFill>
                  <a:srgbClr val="FFFFFF"/>
                </a:solidFill>
                <a:latin typeface="Outfit" pitchFamily="34" charset="0"/>
                <a:ea typeface="Outfit" pitchFamily="34" charset="-122"/>
                <a:cs typeface="Outfit" pitchFamily="34" charset="-120"/>
              </a:rPr>
              <a:t>4</a:t>
            </a:r>
            <a:endParaRPr lang="en-US" sz="2000" dirty="0"/>
          </a:p>
        </p:txBody>
      </p:sp>
      <p:sp>
        <p:nvSpPr>
          <p:cNvPr id="40" name="Text 38"/>
          <p:cNvSpPr/>
          <p:nvPr/>
        </p:nvSpPr>
        <p:spPr>
          <a:xfrm>
            <a:off x="6903720" y="2148840"/>
            <a:ext cx="1874520" cy="320040"/>
          </a:xfrm>
          <a:prstGeom prst="rect">
            <a:avLst/>
          </a:prstGeom>
          <a:noFill/>
          <a:ln/>
        </p:spPr>
        <p:txBody>
          <a:bodyPr wrap="square" rtlCol="0" anchor="ctr"/>
          <a:lstStyle/>
          <a:p>
            <a:pPr algn="ctr" indent="0" marL="0">
              <a:buNone/>
            </a:pPr>
            <a:r>
              <a:rPr lang="en-US" sz="1150" b="1" dirty="0">
                <a:solidFill>
                  <a:srgbClr val="17324D"/>
                </a:solidFill>
                <a:latin typeface="Outfit" pitchFamily="34" charset="0"/>
                <a:ea typeface="Outfit" pitchFamily="34" charset="-122"/>
                <a:cs typeface="Outfit" pitchFamily="34" charset="-120"/>
              </a:rPr>
              <a:t>Can Teach It</a:t>
            </a:r>
            <a:endParaRPr lang="en-US" sz="1150" dirty="0"/>
          </a:p>
        </p:txBody>
      </p:sp>
      <p:sp>
        <p:nvSpPr>
          <p:cNvPr id="41" name="Text 39"/>
          <p:cNvSpPr/>
          <p:nvPr/>
        </p:nvSpPr>
        <p:spPr>
          <a:xfrm>
            <a:off x="6967728" y="2514600"/>
            <a:ext cx="1746504" cy="1051560"/>
          </a:xfrm>
          <a:prstGeom prst="rect">
            <a:avLst/>
          </a:prstGeom>
          <a:noFill/>
          <a:ln/>
        </p:spPr>
        <p:txBody>
          <a:bodyPr wrap="square" rtlCol="0" anchor="t"/>
          <a:lstStyle/>
          <a:p>
            <a:pPr algn="ctr" indent="0" marL="0">
              <a:buNone/>
            </a:pPr>
            <a:r>
              <a:rPr lang="en-US" sz="900" dirty="0">
                <a:solidFill>
                  <a:srgbClr val="24323F"/>
                </a:solidFill>
                <a:latin typeface="Hanken Grotesk" pitchFamily="34" charset="0"/>
                <a:ea typeface="Hanken Grotesk" pitchFamily="34" charset="-122"/>
                <a:cs typeface="Hanken Grotesk" pitchFamily="34" charset="-120"/>
              </a:rPr>
              <a:t>I can clearly teach this strategy to a classmate.</a:t>
            </a:r>
            <a:endParaRPr lang="en-US" sz="900" dirty="0"/>
          </a:p>
        </p:txBody>
      </p:sp>
      <p:sp>
        <p:nvSpPr>
          <p:cNvPr id="42" name="Text 40"/>
          <p:cNvSpPr/>
          <p:nvPr/>
        </p:nvSpPr>
        <p:spPr>
          <a:xfrm>
            <a:off x="6903720" y="3520440"/>
            <a:ext cx="1874520" cy="182880"/>
          </a:xfrm>
          <a:prstGeom prst="rect">
            <a:avLst/>
          </a:prstGeom>
          <a:noFill/>
          <a:ln/>
        </p:spPr>
        <p:txBody>
          <a:bodyPr wrap="square" rtlCol="0" anchor="ctr"/>
          <a:lstStyle/>
          <a:p>
            <a:pPr algn="ctr" indent="0" marL="0">
              <a:buNone/>
            </a:pPr>
            <a:r>
              <a:rPr lang="en-US" sz="800" i="1" dirty="0">
                <a:solidFill>
                  <a:srgbClr val="8A96A3"/>
                </a:solidFill>
                <a:latin typeface="Hanken Grotesk" pitchFamily="34" charset="0"/>
                <a:ea typeface="Hanken Grotesk" pitchFamily="34" charset="-122"/>
                <a:cs typeface="Hanken Grotesk" pitchFamily="34" charset="-120"/>
              </a:rPr>
              <a:t>○ circle me</a:t>
            </a:r>
            <a:endParaRPr lang="en-US" sz="800" dirty="0"/>
          </a:p>
        </p:txBody>
      </p:sp>
      <p:sp>
        <p:nvSpPr>
          <p:cNvPr id="43" name="Shape 41"/>
          <p:cNvSpPr/>
          <p:nvPr/>
        </p:nvSpPr>
        <p:spPr>
          <a:xfrm>
            <a:off x="411480" y="3977640"/>
            <a:ext cx="8412480" cy="685800"/>
          </a:xfrm>
          <a:prstGeom prst="roundRect">
            <a:avLst>
              <a:gd name="adj" fmla="val 10667"/>
            </a:avLst>
          </a:prstGeom>
          <a:solidFill>
            <a:srgbClr val="FFFFFF"/>
          </a:solidFill>
          <a:ln w="12700">
            <a:solidFill>
              <a:srgbClr val="D6DBDF"/>
            </a:solidFill>
            <a:prstDash val="solid"/>
          </a:ln>
          <a:effectLst>
            <a:outerShdw sx="100000" sy="100000" kx="0" ky="0" algn="bl" rotWithShape="0" blurRad="50800" dist="12700" dir="5400000">
              <a:srgbClr val="1C2E42">
                <a:alpha val="10000"/>
              </a:srgbClr>
            </a:outerShdw>
          </a:effectLst>
        </p:spPr>
      </p:sp>
      <p:sp>
        <p:nvSpPr>
          <p:cNvPr id="44" name="Text 42"/>
          <p:cNvSpPr/>
          <p:nvPr/>
        </p:nvSpPr>
        <p:spPr>
          <a:xfrm>
            <a:off x="640080" y="3977640"/>
            <a:ext cx="7955280" cy="685800"/>
          </a:xfrm>
          <a:prstGeom prst="rect">
            <a:avLst/>
          </a:prstGeom>
          <a:noFill/>
          <a:ln/>
        </p:spPr>
        <p:txBody>
          <a:bodyPr wrap="square" rtlCol="0" anchor="ctr"/>
          <a:lstStyle/>
          <a:p>
            <a:pPr indent="0" marL="0">
              <a:buNone/>
            </a:pPr>
            <a:r>
              <a:rPr lang="en-US" sz="1050" b="1" dirty="0">
                <a:solidFill>
                  <a:srgbClr val="C0654A"/>
                </a:solidFill>
                <a:latin typeface="Hanken Grotesk" pitchFamily="34" charset="0"/>
                <a:ea typeface="Hanken Grotesk" pitchFamily="34" charset="-122"/>
                <a:cs typeface="Hanken Grotesk" pitchFamily="34" charset="-120"/>
              </a:rPr>
              <a:t>My next step:  </a:t>
            </a:r>
            <a:pPr indent="0" marL="0">
              <a:buNone/>
            </a:pPr>
            <a:r>
              <a:rPr lang="en-US" sz="1050" dirty="0">
                <a:solidFill>
                  <a:srgbClr val="24323F"/>
                </a:solidFill>
                <a:latin typeface="Hanken Grotesk" pitchFamily="34" charset="0"/>
                <a:ea typeface="Hanken Grotesk" pitchFamily="34" charset="-122"/>
                <a:cs typeface="Hanken Grotesk" pitchFamily="34" charset="-120"/>
              </a:rPr>
              <a:t>To move up one level, I will ___.</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Neft Teacher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3-7: Ratio Reasoning: Convert Measurements Between Systems</dc:title>
  <dc:subject>6.AT.3c</dc:subject>
  <dc:creator>Neft Teacher</dc:creator>
  <cp:lastModifiedBy>Neft Teacher</cp:lastModifiedBy>
  <cp:revision>1</cp:revision>
  <dcterms:created xsi:type="dcterms:W3CDTF">2026-10-18T11:13:09Z</dcterms:created>
  <dcterms:modified xsi:type="dcterms:W3CDTF">2026-10-18T11:13:09Z</dcterms:modified>
</cp:coreProperties>
</file>