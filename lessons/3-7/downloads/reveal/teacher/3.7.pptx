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r3_notesSlide1.xml" ContentType="application/vnd.openxmlformats-officedocument.presentationml.notesSlide+xml"/>
  <Override PartName="/ppt/notesSlides/r3_notesSlide2.xml" ContentType="application/vnd.openxmlformats-officedocument.presentationml.notesSlide+xml"/>
  <Override PartName="/ppt/notesSlides/r3_notesSlide3.xml" ContentType="application/vnd.openxmlformats-officedocument.presentationml.notesSlide+xml"/>
  <Override PartName="/ppt/notesSlides/r3_notesSlide4.xml" ContentType="application/vnd.openxmlformats-officedocument.presentationml.notesSlide+xml"/>
  <Override PartName="/ppt/notesSlides/u3_notesSlide1.xml" ContentType="application/vnd.openxmlformats-officedocument.presentationml.notesSlide+xml"/>
  <Override PartName="/ppt/notesSlides/u3_notesSlide2.xml" ContentType="application/vnd.openxmlformats-officedocument.presentationml.notesSlide+xml"/>
  <Override PartName="/ppt/notesSlides/u3_notesSlide3.xml" ContentType="application/vnd.openxmlformats-officedocument.presentationml.notesSlide+xml"/>
  <Override PartName="/ppt/notesSlides/u3_notesSlide4.xml" ContentType="application/vnd.openxmlformats-officedocument.presentationml.notesSlide+xml"/>
  <Override PartName="/ppt/notesSlides/u3_notesSlide5.xml" ContentType="application/vnd.openxmlformats-officedocument.presentationml.notesSlide+xml"/>
  <Override PartName="/ppt/notesSlides/u3_notesSlide6.xml" ContentType="application/vnd.openxmlformats-officedocument.presentationml.notesSlide+xml"/>
  <Override PartName="/ppt/notesSlides/u3_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r3_slideLayout1.xml" ContentType="application/vnd.openxmlformats-officedocument.presentationml.slideLayout+xml"/>
  <Override PartName="/ppt/slideLayouts/ref_slideLayout10.xml" ContentType="application/vnd.openxmlformats-officedocument.presentationml.slideLayout+xml"/>
  <Override PartName="/ppt/slideLayouts/ref_slideLayout11.xml" ContentType="application/vnd.openxmlformats-officedocument.presentationml.slideLayout+xml"/>
  <Override PartName="/ppt/slideLayouts/ref_slideLayout12.xml" ContentType="application/vnd.openxmlformats-officedocument.presentationml.slideLayout+xml"/>
  <Override PartName="/ppt/slideLayouts/ref_slideLayout13.xml" ContentType="application/vnd.openxmlformats-officedocument.presentationml.slideLayout+xml"/>
  <Override PartName="/ppt/slideLayouts/ref_slideLayout3.xml" ContentType="application/vnd.openxmlformats-officedocument.presentationml.slideLayout+xml"/>
  <Override PartName="/ppt/slideLayouts/ref_slideLayout4.xml" ContentType="application/vnd.openxmlformats-officedocument.presentationml.slideLayout+xml"/>
  <Override PartName="/ppt/slideLayouts/ref_slideLayout5.xml" ContentType="application/vnd.openxmlformats-officedocument.presentationml.slideLayout+xml"/>
  <Override PartName="/ppt/slideLayouts/ref_slideLayout6.xml" ContentType="application/vnd.openxmlformats-officedocument.presentationml.slideLayout+xml"/>
  <Override PartName="/ppt/slideLayouts/ref_slideLayout7.xml" ContentType="application/vnd.openxmlformats-officedocument.presentationml.slideLayout+xml"/>
  <Override PartName="/ppt/slideLayouts/ref_slideLayout8.xml" ContentType="application/vnd.openxmlformats-officedocument.presentationml.slideLayout+xml"/>
  <Override PartName="/ppt/slideLayouts/ref_slideLayout9.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u3_slideLayout1.xml" ContentType="application/vnd.openxmlformats-officedocument.presentationml.slideLayout+xml"/>
  <Override PartName="/ppt/slideMasters/r3_slideMaster1.xml" ContentType="application/vnd.openxmlformats-officedocument.presentationml.slideMaster+xml"/>
  <Override PartName="/ppt/slideMasters/ref_slideMaster2.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r3_theme2.xml" ContentType="application/vnd.openxmlformats-officedocument.theme+xml"/>
  <Override PartName="/ppt/slideMasters/theme/u3_theme2.xml" ContentType="application/vnd.openxmlformats-officedocument.theme+xml"/>
  <Override PartName="/ppt/slideMasters/u3_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ref_theme2.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49" r:id="rId6"/>
    <p:sldMasterId id="2147483650" r:id="rId7"/>
    <p:sldMasterId id="2147483651" r:id="rId8"/>
    <p:sldMasterId id="2147483652" r:id="u3_slideMaster_0"/>
    <p:sldMasterId id="2147483653" r:id="r3_sldMasterIdLst_0"/>
    <p:sldMasterId id="2147483654" r:id="ref_master2"/>
  </p:sldMasterIdLst>
  <p:notesMasterIdLst>
    <p:notesMasterId r:id="rId9"/>
  </p:notesMasterIdLst>
  <p:sldIdLst>
    <p:sldId id="5018" r:id="rIdWarmUp"/>
    <p:sldId id="5005" r:id="r3_order_5"/>
    <p:sldId id="5000" r:id="r3_order_0"/>
    <p:sldId id="5035" r:id="rId63"/>
    <p:sldId id="5034" r:id="rId62"/>
    <p:sldId id="5033" r:id="rId61"/>
    <p:sldId id="5032" r:id="rId60"/>
    <p:sldId id="5031" r:id="rId59"/>
    <p:sldId id="5030" r:id="rId58"/>
    <p:sldId id="5029" r:id="rId57"/>
    <p:sldId id="5001" r:id="r3_order_1"/>
    <p:sldId id="5002" r:id="r3_order_2"/>
    <p:sldId id="5003" r:id="r3_order_3"/>
    <p:sldId id="5004" r:id="r3_order_4"/>
    <p:sldId id="5006" r:id="r3_order_6"/>
    <p:sldId id="5038" r:id="rId90"/>
    <p:sldId id="5036" r:id="rId88"/>
    <p:sldId id="5007" r:id="r3_order_7"/>
    <p:sldId id="5028" r:id="rId56"/>
    <p:sldId id="5039" r:id="rId91"/>
    <p:sldId id="5027" r:id="rId55"/>
    <p:sldId id="5026" r:id="rId54"/>
    <p:sldId id="5019" r:id="rId86"/>
    <p:sldId id="5020" r:id="rId87"/>
    <p:sldId id="5008" r:id="r3_order_8"/>
    <p:sldId id="5025" r:id="rId53"/>
    <p:sldId id="5009" r:id="r3_order_9"/>
    <p:sldId id="5010" r:id="r3_order_10"/>
    <p:sldId id="5011" r:id="r3_order_11"/>
    <p:sldId id="5012" r:id="r3_order_12"/>
    <p:sldId id="5013" r:id="r3_order_13"/>
    <p:sldId id="5037" r:id="rId89"/>
    <p:sldId id="5024" r:id="rId52"/>
    <p:sldId id="5040" r:id="rId92"/>
    <p:sldId id="5023" r:id="rId51"/>
    <p:sldId id="5022" r:id="rId50"/>
    <p:sldId id="5014" r:id="r3_order_14"/>
    <p:sldId id="5015" r:id="r3_order_15"/>
    <p:sldId id="5016" r:id="r3_order_16"/>
    <p:sldId id="5021" r:id="rId49"/>
    <p:sldId id="5017" r:id="r3_order_17"/>
  </p:sldIdLst>
  <p:sldSz cy="6858000" cx="12192000"/>
  <p:notesSz cx="7010400" cy="9236075"/>
  <p:embeddedFontLst>
    <p:embeddedFont>
      <p:font typeface="Cambria Math"/>
      <p:regular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D45DC9-7322-4270-8B5D-F1E38083AEF1}">
  <a:tblStyle styleId="{72D45DC9-7322-4270-8B5D-F1E38083AEF1}"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1BB060A-8D2C-4A77-A818-6EF30758E985}"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4578F4EC-B16B-42C2-B396-37991A9B68EB}"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3_order_0" Type="http://schemas.openxmlformats.org/officeDocument/2006/relationships/slide" Target="slides/slide3.xml"/><Relationship Id="r3_order_1" Type="http://schemas.openxmlformats.org/officeDocument/2006/relationships/slide" Target="slides/slide11.xml"/><Relationship Id="r3_order_10" Type="http://schemas.openxmlformats.org/officeDocument/2006/relationships/slide" Target="slides/slide26.xml"/><Relationship Id="r3_order_11" Type="http://schemas.openxmlformats.org/officeDocument/2006/relationships/slide" Target="slides/slide27.xml"/><Relationship Id="r3_order_12" Type="http://schemas.openxmlformats.org/officeDocument/2006/relationships/slide" Target="slides/slide28.xml"/><Relationship Id="r3_order_13" Type="http://schemas.openxmlformats.org/officeDocument/2006/relationships/slide" Target="slides/slide29.xml"/><Relationship Id="r3_order_14" Type="http://schemas.openxmlformats.org/officeDocument/2006/relationships/slide" Target="slides/slide34.xml"/><Relationship Id="r3_order_15" Type="http://schemas.openxmlformats.org/officeDocument/2006/relationships/slide" Target="slides/slide35.xml"/><Relationship Id="r3_order_16" Type="http://schemas.openxmlformats.org/officeDocument/2006/relationships/slide" Target="slides/slide36.xml"/><Relationship Id="r3_order_17" Type="http://schemas.openxmlformats.org/officeDocument/2006/relationships/slide" Target="slides/slide38.xml"/><Relationship Id="r3_order_2" Type="http://schemas.openxmlformats.org/officeDocument/2006/relationships/slide" Target="slides/slide12.xml"/><Relationship Id="r3_order_3" Type="http://schemas.openxmlformats.org/officeDocument/2006/relationships/slide" Target="slides/slide13.xml"/><Relationship Id="r3_order_4" Type="http://schemas.openxmlformats.org/officeDocument/2006/relationships/slide" Target="slides/slide14.xml"/><Relationship Id="r3_order_5" Type="http://schemas.openxmlformats.org/officeDocument/2006/relationships/slide" Target="slides/slide2.xml"/><Relationship Id="r3_order_6" Type="http://schemas.openxmlformats.org/officeDocument/2006/relationships/slide" Target="slides/slide15.xml"/><Relationship Id="r3_order_7" Type="http://schemas.openxmlformats.org/officeDocument/2006/relationships/slide" Target="slides/slide17.xml"/><Relationship Id="r3_order_8" Type="http://schemas.openxmlformats.org/officeDocument/2006/relationships/slide" Target="slides/slide23.xml"/><Relationship Id="r3_order_9" Type="http://schemas.openxmlformats.org/officeDocument/2006/relationships/slide" Target="slides/slide25.xml"/><Relationship Id="r3_sldMasterIdLst_0" Type="http://schemas.openxmlformats.org/officeDocument/2006/relationships/slideMaster" Target="slideMasters/r3_slideMaster1.xml"/><Relationship Id="rIdWarmUp" Type="http://schemas.openxmlformats.org/officeDocument/2006/relationships/slide" Target="slides/slide1.xml"/><Relationship Id="ref_master2" Type="http://schemas.openxmlformats.org/officeDocument/2006/relationships/slideMaster" Target="slideMasters/ref_slideMaster2.xml"/><Relationship Id="u3_slideMaster_0" Type="http://schemas.openxmlformats.org/officeDocument/2006/relationships/slideMaster" Target="slideMasters/u3_slideMaster1.xml"/><Relationship Id="u3_slide_1" Type="http://schemas.openxmlformats.org/officeDocument/2006/relationships/slide" Target="slides/slide3.xml"/><Relationship Id="u3_slide_2" Type="http://schemas.openxmlformats.org/officeDocument/2006/relationships/slide" Target="slides/slide23.xml"/><Relationship Id="u3_slide_3" Type="http://schemas.openxmlformats.org/officeDocument/2006/relationships/slide" Target="slides/slide2.xml"/><Relationship Id="u3_slide_4" Type="http://schemas.openxmlformats.org/officeDocument/2006/relationships/slide" Target="slides/slide28.xml"/><Relationship Id="u3_slide_5" Type="http://schemas.openxmlformats.org/officeDocument/2006/relationships/slide" Target="slides/slide17.xml"/><Relationship Id="u3_slide_6" Type="http://schemas.openxmlformats.org/officeDocument/2006/relationships/slide" Target="slides/slide36.xml"/><Relationship Id="u3_slide_7"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1" Type="http://schemas.openxmlformats.org/officeDocument/2006/relationships/slide" Target="slides/slide11.xml"/><Relationship Id="rId15" Type="http://schemas.openxmlformats.org/officeDocument/2006/relationships/slide" Target="slides/slide12.xml"/><Relationship Id="rId42" Type="http://schemas.openxmlformats.org/officeDocument/2006/relationships/slide" Target="slides/slide15.xml"/><Relationship Id="rId46" Type="http://schemas.openxmlformats.org/officeDocument/2006/relationships/slide" Target="slides/slide25.xml"/><Relationship Id="rId49" Type="http://schemas.openxmlformats.org/officeDocument/2006/relationships/slide" Target="slides/slide37.xml"/><Relationship Id="rId50" Type="http://schemas.openxmlformats.org/officeDocument/2006/relationships/slide" Target="slides/slide33.xml"/><Relationship Id="rId51" Type="http://schemas.openxmlformats.org/officeDocument/2006/relationships/slide" Target="slides/slide32.xml"/><Relationship Id="rId52" Type="http://schemas.openxmlformats.org/officeDocument/2006/relationships/slide" Target="slides/slide31.xml"/><Relationship Id="rId53" Type="http://schemas.openxmlformats.org/officeDocument/2006/relationships/slide" Target="slides/slide24.xml"/><Relationship Id="rId54" Type="http://schemas.openxmlformats.org/officeDocument/2006/relationships/slide" Target="slides/slide20.xml"/><Relationship Id="rId55" Type="http://schemas.openxmlformats.org/officeDocument/2006/relationships/slide" Target="slides/slide19.xml"/><Relationship Id="rId56" Type="http://schemas.openxmlformats.org/officeDocument/2006/relationships/slide" Target="slides/slide18.xml"/><Relationship Id="rId57" Type="http://schemas.openxmlformats.org/officeDocument/2006/relationships/slide" Target="slides/slide10.xml"/><Relationship Id="rId58" Type="http://schemas.openxmlformats.org/officeDocument/2006/relationships/slide" Target="slides/slide9.xml"/><Relationship Id="rId59" Type="http://schemas.openxmlformats.org/officeDocument/2006/relationships/slide" Target="slides/slide8.xml"/><Relationship Id="rId60" Type="http://schemas.openxmlformats.org/officeDocument/2006/relationships/slide" Target="slides/slide7.xml"/><Relationship Id="rId61" Type="http://schemas.openxmlformats.org/officeDocument/2006/relationships/slide" Target="slides/slide6.xml"/><Relationship Id="rId62" Type="http://schemas.openxmlformats.org/officeDocument/2006/relationships/slide" Target="slides/slide5.xml"/><Relationship Id="rId63" Type="http://schemas.openxmlformats.org/officeDocument/2006/relationships/slide" Target="slides/slide4.xml"/><Relationship Id="rId64" Type="http://schemas.openxmlformats.org/officeDocument/2006/relationships/slide" Target="slides/slide29.xml"/><Relationship Id="rId65" Type="http://schemas.openxmlformats.org/officeDocument/2006/relationships/slide" Target="slides/slide34.xml"/><Relationship Id="rId66" Type="http://schemas.openxmlformats.org/officeDocument/2006/relationships/slide" Target="slides/slide35.xml"/><Relationship Id="rId68" Type="http://schemas.openxmlformats.org/officeDocument/2006/relationships/font" Target="fonts/CambriaMath-regular.fntdata"/><Relationship Id="rId86" Type="http://schemas.openxmlformats.org/officeDocument/2006/relationships/slide" Target="slides/slide21.xml"/><Relationship Id="rId87" Type="http://schemas.openxmlformats.org/officeDocument/2006/relationships/slide" Target="slides/slide22.xml"/><Relationship Id="rId88" Type="http://schemas.openxmlformats.org/officeDocument/2006/relationships/slide" Target="slides/slide16.xml"/><Relationship Id="rId89" Type="http://schemas.openxmlformats.org/officeDocument/2006/relationships/slide" Target="slides/slide30.xml"/><Relationship Id="rId90" Type="http://schemas.openxmlformats.org/officeDocument/2006/relationships/slide" Target="slides/slide39.xml"/><Relationship Id="rId91" Type="http://schemas.openxmlformats.org/officeDocument/2006/relationships/slide" Target="slides/slide40.xml"/><Relationship Id="rId92"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r3_notesSlide1.xml.rels><?xml version='1.0' encoding='UTF-8' standalone='yes'?>
<Relationships xmlns="http://schemas.openxmlformats.org/package/2006/relationships"><Relationship Id="Rc5d69e229cbc4d1a" Type="http://schemas.openxmlformats.org/officeDocument/2006/relationships/slide" Target="../slides/slide13.xml"/><Relationship Id="Rce8791b6ae764312" Type="http://schemas.openxmlformats.org/officeDocument/2006/relationships/notesMaster" Target="../notesMasters/notesMaster1.xml"/></Relationships>
</file>

<file path=ppt/notesSlides/_rels/r3_notesSlide2.xml.rels><?xml version='1.0' encoding='UTF-8' standalone='yes'?>
<Relationships xmlns="http://schemas.openxmlformats.org/package/2006/relationships"><Relationship Id="R0665593fdd924b35" Type="http://schemas.openxmlformats.org/officeDocument/2006/relationships/notesMaster" Target="../notesMasters/notesMaster1.xml"/><Relationship Id="R3677adcd27464d17" Type="http://schemas.openxmlformats.org/officeDocument/2006/relationships/slide" Target="../slides/slide14.xml"/></Relationships>
</file>

<file path=ppt/notesSlides/_rels/r3_notesSlide3.xml.rels><?xml version='1.0' encoding='UTF-8' standalone='yes'?>
<Relationships xmlns="http://schemas.openxmlformats.org/package/2006/relationships"><Relationship Id="R07c7801bc2494484" Type="http://schemas.openxmlformats.org/officeDocument/2006/relationships/slide" Target="../slides/slide26.xml"/><Relationship Id="Rfab7beb5b6cc4e69" Type="http://schemas.openxmlformats.org/officeDocument/2006/relationships/notesMaster" Target="../notesMasters/notesMaster1.xml"/></Relationships>
</file>

<file path=ppt/notesSlides/_rels/r3_notesSlide4.xml.rels><?xml version='1.0' encoding='UTF-8' standalone='yes'?>
<Relationships xmlns="http://schemas.openxmlformats.org/package/2006/relationships"><Relationship Id="R9e0f1eb4937149b5" Type="http://schemas.openxmlformats.org/officeDocument/2006/relationships/notesMaster" Target="../notesMasters/notesMaster1.xml"/><Relationship Id="Rb056dd82eab2405c" Type="http://schemas.openxmlformats.org/officeDocument/2006/relationships/slide" Target="../slides/slide27.xml"/></Relationships>
</file>

<file path=ppt/notesSlides/_rels/u3_notesSlide1.xml.rels><?xml version='1.0' encoding='UTF-8' standalone='yes'?>
<Relationships xmlns="http://schemas.openxmlformats.org/package/2006/relationships"><Relationship Id="R3e0c42deb17145b4" Type="http://schemas.openxmlformats.org/officeDocument/2006/relationships/slide" Target="../slides/slide3.xml"/><Relationship Id="R6fcefcb284e04036" Type="http://schemas.openxmlformats.org/officeDocument/2006/relationships/notesMaster" Target="../notesMasters/notesMaster1.xml"/></Relationships>
</file>

<file path=ppt/notesSlides/_rels/u3_notesSlide2.xml.rels><?xml version='1.0' encoding='UTF-8' standalone='yes'?>
<Relationships xmlns="http://schemas.openxmlformats.org/package/2006/relationships"><Relationship Id="Rb94e51bbeb624b57" Type="http://schemas.openxmlformats.org/officeDocument/2006/relationships/notesMaster" Target="../notesMasters/notesMaster1.xml"/><Relationship Id="Rea41d6a9876546c2" Type="http://schemas.openxmlformats.org/officeDocument/2006/relationships/slide" Target="../slides/slide23.xml"/></Relationships>
</file>

<file path=ppt/notesSlides/_rels/u3_notesSlide3.xml.rels><?xml version='1.0' encoding='UTF-8' standalone='yes'?>
<Relationships xmlns="http://schemas.openxmlformats.org/package/2006/relationships"><Relationship Id="R73b2f01fdf5a4028" Type="http://schemas.openxmlformats.org/officeDocument/2006/relationships/notesMaster" Target="../notesMasters/notesMaster1.xml"/><Relationship Id="R9da93ed3b1d640a3" Type="http://schemas.openxmlformats.org/officeDocument/2006/relationships/slide" Target="../slides/slide2.xml"/></Relationships>
</file>

<file path=ppt/notesSlides/_rels/u3_notesSlide4.xml.rels><?xml version='1.0' encoding='UTF-8' standalone='yes'?>
<Relationships xmlns="http://schemas.openxmlformats.org/package/2006/relationships"><Relationship Id="Ra832a8a3b94046ca" Type="http://schemas.openxmlformats.org/officeDocument/2006/relationships/slide" Target="../slides/slide28.xml"/><Relationship Id="Rb166ee0fe91d40a9" Type="http://schemas.openxmlformats.org/officeDocument/2006/relationships/notesMaster" Target="../notesMasters/notesMaster1.xml"/></Relationships>
</file>

<file path=ppt/notesSlides/_rels/u3_notesSlide5.xml.rels><?xml version='1.0' encoding='UTF-8' standalone='yes'?>
<Relationships xmlns="http://schemas.openxmlformats.org/package/2006/relationships"><Relationship Id="R14ffe43c8512422c" Type="http://schemas.openxmlformats.org/officeDocument/2006/relationships/slide" Target="../slides/slide17.xml"/><Relationship Id="Rd79573458add40aa" Type="http://schemas.openxmlformats.org/officeDocument/2006/relationships/notesMaster" Target="../notesMasters/notesMaster1.xml"/></Relationships>
</file>

<file path=ppt/notesSlides/_rels/u3_notesSlide6.xml.rels><?xml version='1.0' encoding='UTF-8' standalone='yes'?>
<Relationships xmlns="http://schemas.openxmlformats.org/package/2006/relationships"><Relationship Id="R6a054895fb8540b6" Type="http://schemas.openxmlformats.org/officeDocument/2006/relationships/slide" Target="../slides/slide36.xml"/><Relationship Id="Rbd4abcc736464f6b" Type="http://schemas.openxmlformats.org/officeDocument/2006/relationships/notesMaster" Target="../notesMasters/notesMaster1.xml"/></Relationships>
</file>

<file path=ppt/notesSlides/_rels/u3_notesSlide7.xml.rels><?xml version='1.0' encoding='UTF-8' standalone='yes'?>
<Relationships xmlns="http://schemas.openxmlformats.org/package/2006/relationships"><Relationship Id="Rc503c1d5ca8648b7" Type="http://schemas.openxmlformats.org/officeDocument/2006/relationships/slide" Target="../slides/slide38.xml"/><Relationship Id="Rf99affe824074918"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3.7, slide 11 | TASK</a:t>
            </a:r>
          </a:p>
          <a:p xmlns:a="http://schemas.openxmlformats.org/drawingml/2006/main">
            <a:pPr>
              <a:buNone/>
            </a:pPr>
            <a:r>
              <a:rPr lang="en-US" sz="1100"/>
              <a:t>Focus on the existing task: More or Less Than 5 13.58 − 7.08 18.09 − 13.67 7.86 − 2.33 STUDENT MOVE · ESTIMATE • DEFEND • COMPARE Estimate first. Choose one…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matching units.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Partner press: ask Why? and answer with evidence.</a:t>
            </a:r>
          </a:p>
          <a:p>
            <a:r>
              <a:rPr lang="en-US"/>
              <a:t>Routine: STUDENT MOVE  ·  ESTIMATE • DEFEND • COMPARE</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“Where does the approximation enter your comparison, and how should that affect your explanation?” Wait for evidence, invite another pathway, and have a student ask a follow-up question. Do not replace students’ reasoning with a sequence of leading steps.</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3.7, slide 12 | TASK</a:t>
            </a:r>
          </a:p>
          <a:p xmlns:a="http://schemas.openxmlformats.org/drawingml/2006/main">
            <a:pPr>
              <a:buNone/>
            </a:pPr>
            <a:r>
              <a:rPr lang="en-US" sz="1100"/>
              <a:t>Focus on the existing task: Speed Limit Evelyn is visiting family in Canada. She sees the sign shown on the highway and wonders whether the speed limit shown is…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matching units.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Ask a partner a question; choose a model together.</a:t>
            </a:r>
          </a:p>
          <a:p>
            <a:r>
              <a:rPr lang="en-US"/>
              <a:t>Routine: STUDENT MOVE  ·  THINK → PARTNER TALK → EXPLAIN</a:t>
            </a:r>
          </a:p>
        </p:txBody>
      </p:sp>
      <p:sp>
        <p:nvSpPr>
          <p:cNvPr id="275" name="Google Shape;275;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3.7, slide 15 | PRACTICE</a:t>
            </a:r>
          </a:p>
          <a:p xmlns:a="http://schemas.openxmlformats.org/drawingml/2006/main">
            <a:pPr>
              <a:buNone/>
            </a:pPr>
            <a:r>
              <a:rPr lang="en-US" sz="1100"/>
              <a:t>Focus on the existing task: Let’s Explore More The ratio of kilometers to miles is about 1.61: 1. Why is the ratio of kilometers to miles different from the ratio of miles to kilometers?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the stated cross-system factor.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THINK → PARTNER TALK → EXPLAIN</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treating a rounded conversion factor as exact. If it appears, write the given conversion with its units and retain its stated precision; then ask the student to revise the same response and explain the change. If evidence is secure, have students compare a second valid pathway or state why their approach works. Choose the next step from the responses, not a preset pace.</a:t>
            </a:r>
          </a:p>
        </p:txBody>
      </p:sp>
      <p:sp>
        <p:nvSpPr>
          <p:cNvPr id="504" name="Google Shape;504;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37: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3.7, slide 25 | TASK</a:t>
            </a:r>
          </a:p>
          <a:p xmlns:a="http://schemas.openxmlformats.org/drawingml/2006/main">
            <a:pPr>
              <a:buNone/>
            </a:pPr>
            <a:r>
              <a:rPr lang="en-US" sz="1100"/>
              <a:t>Focus on the existing task: Veterinary Medicine Terrance is helping at a veterinarian’s office. A customer needs flea treatment for her dog that weighs 31 pounds. The…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matching units.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Compare strategies; defend one with evidence.</a:t>
            </a:r>
          </a:p>
          <a:p>
            <a:r>
              <a:rPr lang="en-US"/>
              <a:t>Routine: STUDENT MOVE  ·  THINK → PARTNER TALK → EXPLAIN</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“Where does the approximation enter your comparison, and how should that affect your explanation?” Wait for evidence, invite another pathway, and have a student ask a follow-up question. Do not replace students’ reasoning with a sequence of leading steps.</a:t>
            </a:r>
          </a:p>
        </p:txBody>
      </p:sp>
      <p:sp>
        <p:nvSpPr>
          <p:cNvPr id="543" name="Google Shape;543;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5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3.7, slide 29 | PRACTICE</a:t>
            </a:r>
          </a:p>
          <a:p xmlns:a="http://schemas.openxmlformats.org/drawingml/2006/main">
            <a:pPr>
              <a:buNone/>
            </a:pPr>
            <a:r>
              <a:rPr lang="en-US" sz="1100"/>
              <a:t>Focus on the existing task: Let’s Explore More What would you expect the ratio of kilograms to pounds to be?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matching units.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Compare pathways with a partner; name one revision.</a:t>
            </a:r>
          </a:p>
          <a:p>
            <a:r>
              <a:rPr lang="en-US"/>
              <a:t>Routine: STUDENT MOVE  ·  THINK → PARTNER TALK → EXPLAIN</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treating a rounded conversion factor as exact. If it appears, write the given conversion with its units and retain its stated precision; then ask the student to revise the same response and explain the change. If evidence is secure, have students compare a second valid pathway or state why their approach works. Choose the next step from the responses, not a preset pace.</a:t>
            </a:r>
          </a:p>
        </p:txBody>
      </p:sp>
      <p:sp>
        <p:nvSpPr>
          <p:cNvPr id="714" name="Google Shape;714;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5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3.7, slide 34 | SUMMARIZE</a:t>
            </a:r>
          </a:p>
          <a:p xmlns:a="http://schemas.openxmlformats.org/drawingml/2006/main">
            <a:pPr>
              <a:buNone/>
            </a:pPr>
            <a:r>
              <a:rPr lang="en-US" sz="1100"/>
              <a:t>Focus on the existing task: 1. Start with the given conversion factor. 2. Scale both quantities by the same factor. 3. Compare amounts in matching units. 4. Use ≈…</a:t>
            </a:r>
          </a:p>
          <a:p xmlns:a="http://schemas.openxmlformats.org/drawingml/2006/main">
            <a:pPr>
              <a:buNone/>
            </a:pPr>
            <a:r>
              <a:rPr lang="en-US" sz="1100"/>
              <a:t>CONNECT (T1/4): Ask students to restate the displayed goal or key idea and connect it to earlier work. Relevant lesson evidence: use the stated cross-system factor; compare matching units; identify approximate results.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THINK → PARTNER TALK → EXPLAIN</a:t>
            </a:r>
          </a:p>
        </p:txBody>
      </p:sp>
      <p:sp>
        <p:nvSpPr>
          <p:cNvPr id="725" name="Google Shape;725;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57: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3.7, slide 35 | APPLY</a:t>
            </a:r>
          </a:p>
          <a:p xmlns:a="http://schemas.openxmlformats.org/drawingml/2006/main">
            <a:pPr>
              <a:buNone/>
            </a:pPr>
            <a:r>
              <a:rPr lang="en-US" sz="1100"/>
              <a:t>Focus on the existing task: Apply: Bridge Engineering For this math model, assume the bridge can support 35,924,000 pounds of cars. An average midsize car has a mass of about 1,524 kilograms. About how many cars does the model allow?</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compare matching units.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THINK → PARTNER TALK → EXPLAIN</a:t>
            </a:r>
          </a:p>
        </p:txBody>
      </p:sp>
      <p:sp>
        <p:nvSpPr>
          <p:cNvPr id="734" name="Google Shape;734;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3.7, slide 1 | WARMUP</a:t>
            </a:r>
          </a:p>
          <a:p xmlns:a="http://schemas.openxmlformats.org/drawingml/2006/main">
            <a:pPr>
              <a:buNone/>
            </a:pPr>
            <a:r>
              <a:rPr lang="en-US" sz="1100"/>
              <a:t>Focus on the existing task: Warm-Up WARM-UP · THINK • TRY • CHECK Do these four on your own.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Warm-Up answers (teacher only): 1) 6.4   2) 4.5   3) 14   4) 11</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use the stated cross-system factor; compare matching units; identify approximate results. Review recent work and today’s warm-up to choose flexible groups and access supports; do not infer needs from identity or perceived ability. Use the existing lesson tasks and stated standards.</a:t>
            </a:r>
          </a:p>
          <a:p>
            <a:pPr>
              <a:buNone/>
            </a:pPr>
            <a:r>
              <a:rPr lang="en-US" sz="1100"/>
              <a:t>Anticipate: treating a rounded conversion factor as exact. If observed, write the given conversion with its units and retain its stated precision.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3.7, slide 21 | WARMUP</a:t>
            </a:r>
          </a:p>
          <a:p xmlns:a="http://schemas.openxmlformats.org/drawingml/2006/main">
            <a:pPr>
              <a:buNone/>
            </a:pPr>
            <a:r>
              <a:rPr lang="en-US" sz="1100"/>
              <a:t>Focus on the existing task: QUESTION 4 Which is greater: 1 kilogram or 1 pound?</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3.7, slide 22 | NOTES</a:t>
            </a:r>
          </a:p>
          <a:p xmlns:a="http://schemas.openxmlformats.org/drawingml/2006/main">
            <a:pPr>
              <a:buNone/>
            </a:pPr>
            <a:r>
              <a:rPr lang="en-US" sz="1100"/>
              <a:t>Focus on the existing task: Review Notes — Session 2 Review the key ideas before Session 2. COPY THESE 3 LINES 01 A conversion factor links two measurement units.…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37 | REFLECTION</a:t>
            </a:r>
          </a:p>
          <a:p xmlns:a="http://schemas.openxmlformats.org/drawingml/2006/main">
            <a:pPr>
              <a:buNone/>
            </a:pPr>
            <a:r>
              <a:rPr lang="en-US" sz="1100"/>
              <a:t>Focus on the existing task: Learning Targets I can use ratio reasoning to convert units of different measurement systems. I can attend to precision to convert units…</a:t>
            </a:r>
          </a:p>
          <a:p xmlns:a="http://schemas.openxmlformats.org/drawingml/2006/main">
            <a:pPr>
              <a:buNone/>
            </a:pPr>
            <a:r>
              <a:rPr lang="en-US" sz="1100"/>
              <a:t>CONNECT (T1/4): Ask students to restate the displayed goal or key idea and connect it to earlier work. Relevant lesson evidence: use the stated cross-system factor; compare matching units; identify approximate results.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treating a rounded conversion factor as exact.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write the given conversion with its units and retain its stated precision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4 | VOCAB</a:t>
            </a:r>
          </a:p>
          <a:p xmlns:a="http://schemas.openxmlformats.org/drawingml/2006/main">
            <a:pPr>
              <a:buNone/>
            </a:pPr>
            <a:r>
              <a:rPr lang="en-US" sz="1100"/>
              <a:t>Focus on the existing task: Vocabulary 1 of 6 Convert…</a:t>
            </a:r>
          </a:p>
          <a:p xmlns:a="http://schemas.openxmlformats.org/drawingml/2006/main">
            <a:pPr>
              <a:buNone/>
            </a:pPr>
            <a:r>
              <a:rPr lang="en-US" sz="1100"/>
              <a:t>ASK (T1/3/5): Where does “Convert Measurements Between Systems”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5 | VOCAB</a:t>
            </a:r>
          </a:p>
          <a:p xmlns:a="http://schemas.openxmlformats.org/drawingml/2006/main">
            <a:pPr>
              <a:buNone/>
            </a:pPr>
            <a:r>
              <a:rPr lang="en-US" sz="1100"/>
              <a:t>Focus on the existing task: Vocabulary 2 of 6 Conversion factor…</a:t>
            </a:r>
          </a:p>
          <a:p xmlns:a="http://schemas.openxmlformats.org/drawingml/2006/main">
            <a:pPr>
              <a:buNone/>
            </a:pPr>
            <a:r>
              <a:rPr lang="en-US" sz="1100"/>
              <a:t>ASK (T1/3/5): Where does “Conversion factor”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6 | VOCAB</a:t>
            </a:r>
          </a:p>
          <a:p xmlns:a="http://schemas.openxmlformats.org/drawingml/2006/main">
            <a:pPr>
              <a:buNone/>
            </a:pPr>
            <a:r>
              <a:rPr lang="en-US" sz="1100"/>
              <a:t>Focus on the existing task: Vocabulary 3 of 6 Customary system…</a:t>
            </a:r>
          </a:p>
          <a:p xmlns:a="http://schemas.openxmlformats.org/drawingml/2006/main">
            <a:pPr>
              <a:buNone/>
            </a:pPr>
            <a:r>
              <a:rPr lang="en-US" sz="1100"/>
              <a:t>ASK (T1/3/5): Where does “Customary system”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7 | VOCAB</a:t>
            </a:r>
          </a:p>
          <a:p xmlns:a="http://schemas.openxmlformats.org/drawingml/2006/main">
            <a:pPr>
              <a:buNone/>
            </a:pPr>
            <a:r>
              <a:rPr lang="en-US" sz="1100"/>
              <a:t>Focus on the existing task: Vocabulary 4 of 6 Metric system The…</a:t>
            </a:r>
          </a:p>
          <a:p xmlns:a="http://schemas.openxmlformats.org/drawingml/2006/main">
            <a:pPr>
              <a:buNone/>
            </a:pPr>
            <a:r>
              <a:rPr lang="en-US" sz="1100"/>
              <a:t>ASK (T1/3/5): Where does “Metric system”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8 | VOCAB</a:t>
            </a:r>
          </a:p>
          <a:p xmlns:a="http://schemas.openxmlformats.org/drawingml/2006/main">
            <a:pPr>
              <a:buNone/>
            </a:pPr>
            <a:r>
              <a:rPr lang="en-US" sz="1100"/>
              <a:t>Focus on the existing task: Vocabulary 5 of 6 Approximately…</a:t>
            </a:r>
          </a:p>
          <a:p xmlns:a="http://schemas.openxmlformats.org/drawingml/2006/main">
            <a:pPr>
              <a:buNone/>
            </a:pPr>
            <a:r>
              <a:rPr lang="en-US" sz="1100"/>
              <a:t>ASK (T1/3/5): Where does “Approximately”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9 | VOCAB</a:t>
            </a:r>
          </a:p>
          <a:p xmlns:a="http://schemas.openxmlformats.org/drawingml/2006/main">
            <a:pPr>
              <a:buNone/>
            </a:pPr>
            <a:r>
              <a:rPr lang="en-US" sz="1100"/>
              <a:t>Focus on the existing task: Vocabulary 6 of 6 Ratio table A…</a:t>
            </a:r>
          </a:p>
          <a:p xmlns:a="http://schemas.openxmlformats.org/drawingml/2006/main">
            <a:pPr>
              <a:buNone/>
            </a:pPr>
            <a:r>
              <a:rPr lang="en-US" sz="1100"/>
              <a:t>ASK (T1/3/5): Where does “Ratio table”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10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use the stated cross-system factor.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16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use the stated cross-system factor; compare matching units; identify approximate results.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18 | REVEAL</a:t>
            </a:r>
          </a:p>
          <a:p xmlns:a="http://schemas.openxmlformats.org/drawingml/2006/main">
            <a:pPr>
              <a:buNone/>
            </a:pPr>
            <a:r>
              <a:rPr lang="en-US" sz="1100"/>
              <a:t>Focus on the existing task: What quantities are in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the stated cross-system factor.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19 | REVEAL</a:t>
            </a:r>
          </a:p>
          <a:p xmlns:a="http://schemas.openxmlformats.org/drawingml/2006/main">
            <a:pPr>
              <a:buNone/>
            </a:pPr>
            <a:r>
              <a:rPr lang="en-US" sz="1100"/>
              <a:t>Focus on the existing task: Kilometers and miles are both measures of distance. We can compare kilometers and miles. 1 kilometer is about 0.6 mile. How can you represent this relationship as a ratio of kilometers to miles?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matching units.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20 | REVEAL</a:t>
            </a:r>
          </a:p>
          <a:p xmlns:a="http://schemas.openxmlformats.org/drawingml/2006/main">
            <a:pPr>
              <a:buNone/>
            </a:pPr>
            <a:r>
              <a:rPr lang="en-US" sz="1100"/>
              <a:t>Focus on the existing task: Kilometers 1 10 100 Miles 0.6 How can you complete the table of equivalent ratios to compare miles to 10 kilometers?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matching units.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24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use the stated cross-system factor.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30 | PRIOR_INSERT</a:t>
            </a:r>
          </a:p>
          <a:p xmlns:a="http://schemas.openxmlformats.org/drawingml/2006/main">
            <a:pPr>
              <a:buNone/>
            </a:pPr>
            <a:r>
              <a:rPr lang="en-US" sz="1100"/>
              <a:t>Focus on the existing task: LESSON 3.7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use the stated cross-system factor; compare matching units; identify approximate results.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31 | REVEAL</a:t>
            </a:r>
          </a:p>
          <a:p xmlns:a="http://schemas.openxmlformats.org/drawingml/2006/main">
            <a:pPr>
              <a:buNone/>
            </a:pPr>
            <a:r>
              <a:rPr lang="en-US" sz="1100"/>
              <a:t>Focus on the existing task: Kilograms are metric units and pounds are customary units. How can you compare 31 pounds to the units on the packages?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matching units.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32 | REVEAL</a:t>
            </a:r>
          </a:p>
          <a:p xmlns:a="http://schemas.openxmlformats.org/drawingml/2006/main">
            <a:pPr>
              <a:buNone/>
            </a:pPr>
            <a:r>
              <a:rPr lang="en-US" sz="1100"/>
              <a:t>Focus on the existing task: One pound is approximately 0.45 kilograms. How can you represent this relationship as a ratio of pounds to kilograms?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the stated cross-system factor.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3.7, slide 33 | COLLABORATE</a:t>
            </a:r>
          </a:p>
          <a:p xmlns:a="http://schemas.openxmlformats.org/drawingml/2006/main">
            <a:pPr>
              <a:buNone/>
            </a:pPr>
            <a:r>
              <a:rPr lang="en-US" sz="1100"/>
              <a:t>Focus on the existing task: How can you complete the table to determine about how much 31 pounds is in kilograms?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the stated cross-system factor.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r3_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3.7, slide 13 | WORKED</a:t>
            </a:r>
          </a:p>
          <a:p xmlns:a="http://schemas.openxmlformats.org/drawingml/2006/main">
            <a:pPr>
              <a:buNone/>
            </a:pPr>
            <a:r>
              <a:rPr lang="en-US" sz="1100"/>
              <a:t>Focus on the existing task: Kilometers → Miles Kilometers are metric units. Miles are customary units. Speed tells distance traveled per unit of time. Use the…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the stated cross-system factor.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3_notesSlide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3.7, slide 14 | TASK</a:t>
            </a:r>
          </a:p>
          <a:p xmlns:a="http://schemas.openxmlformats.org/drawingml/2006/main">
            <a:pPr>
              <a:buNone/>
            </a:pPr>
            <a:r>
              <a:rPr lang="en-US" sz="1100"/>
              <a:t>Focus on the existing task: Compare in the Same Unit Multiply both quantities by 100. 100 kilometers is about 60 miles. So 100 km/h is about 60 mi/h, which is slower…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matching units.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3_notesSlide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3.7, slide 26 | WORKED</a:t>
            </a:r>
          </a:p>
          <a:p xmlns:a="http://schemas.openxmlformats.org/drawingml/2006/main">
            <a:pPr>
              <a:buNone/>
            </a:pPr>
            <a:r>
              <a:rPr lang="en-US" sz="1100"/>
              <a:t>Focus on the existing task: Pounds → Kilograms The dog’s weight is 31 pounds. The packages use kilograms. Pounds are customary units. Kilograms are metric units.…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the stated cross-system factor.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3_notesSlide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3.7, slide 27 | WORKED</a:t>
            </a:r>
          </a:p>
          <a:p xmlns:a="http://schemas.openxmlformats.org/drawingml/2006/main">
            <a:pPr>
              <a:buNone/>
            </a:pPr>
            <a:r>
              <a:rPr lang="en-US" sz="1100"/>
              <a:t>Focus on the existing task: Match the Weight to the Range Multiply: 31 × 0.45 = 13.95. 31 pounds is about 14 kilograms. That weight falls in the package range from 10…</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the stated cross-system factor.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3.7, slide 3 | GOAL</a:t>
            </a:r>
          </a:p>
          <a:p xmlns:a="http://schemas.openxmlformats.org/drawingml/2006/main">
            <a:pPr>
              <a:buNone/>
            </a:pPr>
            <a:r>
              <a:rPr lang="en-US" sz="1100"/>
              <a:t>Focus on the existing task: Learning Target — Session 1 | Maryland Standard 6.AT.3 LEARNING TARGET · CONVERT • COMPARE…</a:t>
            </a:r>
          </a:p>
          <a:p xmlns:a="http://schemas.openxmlformats.org/drawingml/2006/main">
            <a:pPr>
              <a:buNone/>
            </a:pPr>
            <a:r>
              <a:rPr lang="en-US" sz="1100"/>
              <a:t>CONNECT (T1/4): Ask students to restate the displayed goal or key idea and connect it to earlier work. Relevant lesson evidence: use the stated cross-system factor; compare matching units; identify approximate results.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the stated cross-system factor; compare matching units; identify approximate results. Ask: “Which part of your work would show this?” Revisit that evidence after the task; a confidence rating alone is not evidence of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3.7, slide 23 | GOAL</a:t>
            </a:r>
          </a:p>
          <a:p xmlns:a="http://schemas.openxmlformats.org/drawingml/2006/main">
            <a:pPr>
              <a:buNone/>
            </a:pPr>
            <a:r>
              <a:rPr lang="en-US" sz="1100"/>
              <a:t>Focus on the existing task: Learning Target — Session 2 | Maryland Standard 6.AT.3 LEARNING TARGET · CONVERT • COMPARE…</a:t>
            </a:r>
          </a:p>
          <a:p xmlns:a="http://schemas.openxmlformats.org/drawingml/2006/main">
            <a:pPr>
              <a:buNone/>
            </a:pPr>
            <a:r>
              <a:rPr lang="en-US" sz="1100"/>
              <a:t>CONNECT (T1/4): Ask students to restate the displayed goal or key idea and connect it to earlier work. Relevant lesson evidence: use the stated cross-system factor; compare matching units; identify approximate results.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the stated cross-system factor; compare matching units; identify approximate results. Ask: “Which part of your work would show this?” Revisit that evidence after the task; a confidence rating alone is not evidence of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3.7, slide 2 | NOTES</a:t>
            </a:r>
          </a:p>
          <a:p xmlns:a="http://schemas.openxmlformats.org/drawingml/2006/main">
            <a:pPr>
              <a:buNone/>
            </a:pPr>
            <a:r>
              <a:rPr lang="en-US" sz="1100"/>
              <a:t>Focus on the existing task: Today’s Math Notes — Session 1 Keep the idea from Speed Limit. COPY THESE 3 LINES 01 A conversion factor links two measurement units.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3.7, slide 28 | NOTES</a:t>
            </a:r>
          </a:p>
          <a:p xmlns:a="http://schemas.openxmlformats.org/drawingml/2006/main">
            <a:pPr>
              <a:buNone/>
            </a:pPr>
            <a:r>
              <a:rPr lang="en-US" sz="1100"/>
              <a:t>Focus on the existing task: Today’s Math Notes — Session 2 Keep the idea from Veterinary Medicine. COPY THESE 3 LINES 01 Convert to the unit used in the comparison.…</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3.7, slide 17 | TASK</a:t>
            </a:r>
          </a:p>
          <a:p xmlns:a="http://schemas.openxmlformats.org/drawingml/2006/main">
            <a:pPr>
              <a:buNone/>
            </a:pPr>
            <a:r>
              <a:rPr lang="en-US" sz="1100"/>
              <a:t>Focus on the existing task: Show a ratio table or equation. 2 — EXPLAIN + PROVE Why is the result approximate?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approximate results.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Answer: About 12 miles; 20 × 0.6. The conversion factor is rounded. Give quiet thinking time before sharing. If a student is stuck, point back to the relevant worked model without doing the task for them. Give specific feedback, then allow a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3.7, slide 36 | ASSESSMENT</a:t>
            </a:r>
          </a:p>
          <a:p xmlns:a="http://schemas.openxmlformats.org/drawingml/2006/main">
            <a:pPr>
              <a:buNone/>
            </a:pPr>
            <a:r>
              <a:rPr lang="en-US" sz="1100"/>
              <a:t>Focus on the existing task: Exit Ticket + Self-Check STUDENT MOVE · SELF-ASSESS • NAME YOUR NEXT STEP Use the rounded conversion factor 1 pound ≈ 0.45 kilogram. About how many kilograms is a 20-pound package?</a:t>
            </a:r>
          </a:p>
          <a:p xmlns:a="http://schemas.openxmlformats.org/drawingml/2006/main">
            <a:pPr>
              <a:buNone/>
            </a:pPr>
            <a:r>
              <a:rPr lang="en-US" sz="1100"/>
              <a:t>LAUNCH (T2/3/5): Gather an independent response before feedback. Students choose a suitable representation and justify it. Keep the first attempt separate from the revision.</a:t>
            </a:r>
          </a:p>
          <a:p xmlns:a="http://schemas.openxmlformats.org/drawingml/2006/main">
            <a:pPr>
              <a:buNone/>
            </a:pPr>
            <a:r>
              <a:rPr lang="en-US" sz="1100"/>
              <a:t>LOOK FOR (T4): Where this task addresses it, students can compare matching units. Ask which feature of their work supports the claim.</a:t>
            </a:r>
          </a:p>
          <a:p xmlns:a="http://schemas.openxmlformats.org/drawingml/2006/main">
            <a:pPr>
              <a:buNone/>
            </a:pPr>
            <a:r>
              <a:rPr lang="en-US" sz="1100"/>
              <a:t>RESPOND: If this task shows the lesson misconception—treating a rounded conversion factor as exact—write the given conversion with its units and retain its stated precision.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Answer: 20 lb ≈ 9 kg; the factor 0.45 is rounded. Give quiet thinking time before sharing. If a student is stuck, point back to the relevant worked model without doing the task for them. Give specific feedback, then allow a correction.</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use the stated cross-system factor; compare matching units; identify approximate results. Respond with one specific next step tied to the work. Students revise and annotate what changed, then identify a criterion they can now demonstrate and one they still need to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3.7, slide 38 | REFERENCE</a:t>
            </a:r>
          </a:p>
          <a:p xmlns:a="http://schemas.openxmlformats.org/drawingml/2006/main">
            <a:pPr>
              <a:buNone/>
            </a:pPr>
            <a:r>
              <a:rPr lang="en-US" sz="1100"/>
              <a:t>Focus on the existing task: UIFR TEACH — Teacher Reference Teacher reference • hidden from the student slideshow TEACH 1 · Session goals, purpose, and content-linked…</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Source: Baltimore City Public Schools, Updated Instructional Framework Rubric, June 2020. Teacher enactment determines the quality of instruction; this is a support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r3_slideLayout1.xml.rels><?xml version='1.0' encoding='UTF-8' standalone='yes'?>
<Relationships xmlns="http://schemas.openxmlformats.org/package/2006/relationships"><Relationship Id="R7d42d9d72af0471f" Type="http://schemas.openxmlformats.org/officeDocument/2006/relationships/slideMaster" Target="../slideMasters/r3_slideMaster1.xml"/></Relationships>
</file>

<file path=ppt/slideLayouts/_rels/ref_slideLayout3.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4.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5.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6.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7.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8.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9.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10.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11.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12.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13.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u3_slideLayout1.xml.rels><?xml version='1.0' encoding='UTF-8' standalone='yes'?>
<Relationships xmlns="http://schemas.openxmlformats.org/package/2006/relationships"><Relationship Id="Rb61ec751f5294f0b" Type="http://schemas.openxmlformats.org/officeDocument/2006/relationships/slideMaster" Target="../slideMasters/u3_slideMaster1.xml"/></Relationships>
</file>

<file path=ppt/slideLayouts/r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ref_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5272930"/>
      </p:ext>
    </p:extLst>
  </p:cSld>
  <p:clrMapOvr>
    <a:masterClrMapping/>
  </p:clrMapOvr>
</p:sldLayout>
</file>

<file path=ppt/slideLayouts/ref_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769D-F592-2049-8CD9-3C1B32B2A7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9CB6B09-56C4-7846-91C7-D59B315A4E00}"/>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FD7E8-7200-C949-BB13-E118073F91F2}"/>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5" name="Footer Placeholder 4">
            <a:extLst>
              <a:ext uri="{FF2B5EF4-FFF2-40B4-BE49-F238E27FC236}">
                <a16:creationId xmlns:a16="http://schemas.microsoft.com/office/drawing/2014/main" id="{E7D72EFC-4EE7-4144-B95B-17CEC44247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AEEA334-DEDB-FD4F-A53E-79E012CF9F82}"/>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954597839"/>
      </p:ext>
    </p:extLst>
  </p:cSld>
  <p:clrMapOvr>
    <a:masterClrMapping/>
  </p:clrMapOvr>
</p:sldLayout>
</file>

<file path=ppt/slideLayouts/ref_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61B1-1B3F-1D4F-BAF9-3AED686D041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68BD20-3EDF-1145-A857-0A2532D8EDA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4FF297-A420-0E4D-8F5A-96354E7D482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5" name="Footer Placeholder 4">
            <a:extLst>
              <a:ext uri="{FF2B5EF4-FFF2-40B4-BE49-F238E27FC236}">
                <a16:creationId xmlns:a16="http://schemas.microsoft.com/office/drawing/2014/main" id="{91CD8232-4862-E442-8744-1E53D51884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5946B13-3CFA-694F-883B-C9278D1A9D8F}"/>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64206763"/>
      </p:ext>
    </p:extLst>
  </p:cSld>
  <p:clrMapOvr>
    <a:masterClrMapping/>
  </p:clrMapOvr>
</p:sldLayout>
</file>

<file path=ppt/slideLayouts/ref_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FD96-1F21-9341-9470-D1F6FFBAA8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9F910CA-4AF6-1749-AB0F-67BB34724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05B918-DC9E-A948-A567-F7C72364A9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5F046-E5F8-414F-838B-1E32E10C416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6" name="Footer Placeholder 5">
            <a:extLst>
              <a:ext uri="{FF2B5EF4-FFF2-40B4-BE49-F238E27FC236}">
                <a16:creationId xmlns:a16="http://schemas.microsoft.com/office/drawing/2014/main" id="{3162DBDD-179C-CF42-B4CE-C2805343451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D6D4D96-8DBD-5C46-B28F-FAA0903CB81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796359678"/>
      </p:ext>
    </p:extLst>
  </p:cSld>
  <p:clrMapOvr>
    <a:masterClrMapping/>
  </p:clrMapOvr>
</p:sldLayout>
</file>

<file path=ppt/slideLayouts/ref_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3F92-104A-9347-A779-BB46FF26A8C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A4409B-23B4-E649-87C8-C7FF6C11B00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428990-9B24-CB41-BA6A-B87D8AC4D5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013B01-5E24-C14E-82B9-9575D70E4BE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0F52B-161F-6A4C-B060-C83953959F0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85CE9F-AA0C-AA41-BF7B-1F905189C3C0}"/>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8" name="Footer Placeholder 7">
            <a:extLst>
              <a:ext uri="{FF2B5EF4-FFF2-40B4-BE49-F238E27FC236}">
                <a16:creationId xmlns:a16="http://schemas.microsoft.com/office/drawing/2014/main" id="{5299CB08-02C8-4040-8A99-81393E307A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C624D65-BBE1-0840-9374-4BB6B564FBE1}"/>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29116020"/>
      </p:ext>
    </p:extLst>
  </p:cSld>
  <p:clrMapOvr>
    <a:masterClrMapping/>
  </p:clrMapOvr>
</p:sldLayout>
</file>

<file path=ppt/slideLayouts/ref_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58484-B3AD-9047-9FEB-02810EBA723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AD3965A-F46D-5147-9CCD-8A3B9831D3AF}"/>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4" name="Footer Placeholder 3">
            <a:extLst>
              <a:ext uri="{FF2B5EF4-FFF2-40B4-BE49-F238E27FC236}">
                <a16:creationId xmlns:a16="http://schemas.microsoft.com/office/drawing/2014/main" id="{FEDCDC3B-B0F5-B546-B615-443CF233118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B81633E-DE52-574B-9D1C-CB1522C6D444}"/>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60170509"/>
      </p:ext>
    </p:extLst>
  </p:cSld>
  <p:clrMapOvr>
    <a:masterClrMapping/>
  </p:clrMapOvr>
</p:sldLayout>
</file>

<file path=ppt/slideLayouts/ref_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ADF3D-2733-D541-A6F0-113535947F5D}"/>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3" name="Footer Placeholder 2">
            <a:extLst>
              <a:ext uri="{FF2B5EF4-FFF2-40B4-BE49-F238E27FC236}">
                <a16:creationId xmlns:a16="http://schemas.microsoft.com/office/drawing/2014/main" id="{2CA48EED-1BCE-484A-A04B-59E5A1FDC7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642D01-D152-E14E-A6FF-C30AC8D49D1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4055708461"/>
      </p:ext>
    </p:extLst>
  </p:cSld>
  <p:clrMapOvr>
    <a:masterClrMapping/>
  </p:clrMapOvr>
</p:sldLayout>
</file>

<file path=ppt/slideLayouts/ref_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BB66-84CB-9947-976C-4F6A66C190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716C2F-957B-8B41-B2E1-5905C4080AA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2202C1-BE7A-BA4C-AB5F-712D63C088B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9417E-77FB-3C40-95FC-B74C241D71BC}"/>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6" name="Footer Placeholder 5">
            <a:extLst>
              <a:ext uri="{FF2B5EF4-FFF2-40B4-BE49-F238E27FC236}">
                <a16:creationId xmlns:a16="http://schemas.microsoft.com/office/drawing/2014/main" id="{A586D0B9-B2F1-B846-8D9E-ABA1961B47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AC2AE01-31A0-F849-9F7C-F176989D72B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570880827"/>
      </p:ext>
    </p:extLst>
  </p:cSld>
  <p:clrMapOvr>
    <a:masterClrMapping/>
  </p:clrMapOvr>
</p:sldLayout>
</file>

<file path=ppt/slideLayouts/ref_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7998-1F1A-3C40-969A-21C392F7A8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40331-6224-DA4B-80D7-D45D0B7917B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228D2-3869-9A45-912D-C9DC1FABB9B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E8450-A06C-FD4F-A28C-49ECD9FB83B8}"/>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6" name="Footer Placeholder 5">
            <a:extLst>
              <a:ext uri="{FF2B5EF4-FFF2-40B4-BE49-F238E27FC236}">
                <a16:creationId xmlns:a16="http://schemas.microsoft.com/office/drawing/2014/main" id="{537347B8-BC56-AF4A-85A3-E7CA9A68829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3DFB10-112C-B643-935B-970B5CC9BE7B}"/>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05071379"/>
      </p:ext>
    </p:extLst>
  </p:cSld>
  <p:clrMapOvr>
    <a:masterClrMapping/>
  </p:clrMapOvr>
</p:sldLayout>
</file>

<file path=ppt/slideLayouts/ref_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E914-F3CA-0945-B2AA-8C7AF720EE0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399F88-00FF-D140-A8A6-3C6772925C6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1986D-1C20-914A-AD35-5B63CFE0F42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5" name="Footer Placeholder 4">
            <a:extLst>
              <a:ext uri="{FF2B5EF4-FFF2-40B4-BE49-F238E27FC236}">
                <a16:creationId xmlns:a16="http://schemas.microsoft.com/office/drawing/2014/main" id="{CE9244C6-D626-EC42-9DAA-C77B5F7D1E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417302-F1F7-0044-8A67-38CA545F63BA}"/>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076149571"/>
      </p:ext>
    </p:extLst>
  </p:cSld>
  <p:clrMapOvr>
    <a:masterClrMapping/>
  </p:clrMapOvr>
</p:sldLayout>
</file>

<file path=ppt/slideLayouts/ref_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E9C3F-1005-CB4E-B0F6-D1C0C457C64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0AEDC-2F40-0C44-AA13-1D0849FFD471}"/>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8080A-0DE6-534B-9F0D-0F62A2792B7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5" name="Footer Placeholder 4">
            <a:extLst>
              <a:ext uri="{FF2B5EF4-FFF2-40B4-BE49-F238E27FC236}">
                <a16:creationId xmlns:a16="http://schemas.microsoft.com/office/drawing/2014/main" id="{A659B2E0-1405-3149-B511-4F6C6FBFE11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8DFEAF-7F52-6542-9AF3-CC6A7561395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326893662"/>
      </p:ext>
    </p:extLst>
  </p:cSld>
  <p:clrMapOvr>
    <a:masterClrMapping/>
  </p:clrMapOvr>
</p:sldLayout>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chemeClr val="dk2"/>
                </a:solidFill>
                <a:latin typeface="Arial"/>
                <a:ea typeface="Arial"/>
                <a:cs typeface="Arial"/>
                <a:sym typeface="Arial"/>
              </a:defRPr>
            </a:lvl1pPr>
            <a:lvl2pPr indent="0" lvl="1" marL="0" marR="0" rtl="0" algn="r">
              <a:spcBef>
                <a:spcPts val="0"/>
              </a:spcBef>
              <a:buNone/>
              <a:defRPr sz="900">
                <a:solidFill>
                  <a:schemeClr val="dk2"/>
                </a:solidFill>
                <a:latin typeface="Arial"/>
                <a:ea typeface="Arial"/>
                <a:cs typeface="Arial"/>
                <a:sym typeface="Arial"/>
              </a:defRPr>
            </a:lvl2pPr>
            <a:lvl3pPr indent="0" lvl="2" marL="0" marR="0" rtl="0" algn="r">
              <a:spcBef>
                <a:spcPts val="0"/>
              </a:spcBef>
              <a:buNone/>
              <a:defRPr sz="900">
                <a:solidFill>
                  <a:schemeClr val="dk2"/>
                </a:solidFill>
                <a:latin typeface="Arial"/>
                <a:ea typeface="Arial"/>
                <a:cs typeface="Arial"/>
                <a:sym typeface="Arial"/>
              </a:defRPr>
            </a:lvl3pPr>
            <a:lvl4pPr indent="0" lvl="3" marL="0" marR="0" rtl="0" algn="r">
              <a:spcBef>
                <a:spcPts val="0"/>
              </a:spcBef>
              <a:buNone/>
              <a:defRPr sz="900">
                <a:solidFill>
                  <a:schemeClr val="dk2"/>
                </a:solidFill>
                <a:latin typeface="Arial"/>
                <a:ea typeface="Arial"/>
                <a:cs typeface="Arial"/>
                <a:sym typeface="Arial"/>
              </a:defRPr>
            </a:lvl4pPr>
            <a:lvl5pPr indent="0" lvl="4" marL="0" marR="0" rtl="0" algn="r">
              <a:spcBef>
                <a:spcPts val="0"/>
              </a:spcBef>
              <a:buNone/>
              <a:defRPr sz="900">
                <a:solidFill>
                  <a:schemeClr val="dk2"/>
                </a:solidFill>
                <a:latin typeface="Arial"/>
                <a:ea typeface="Arial"/>
                <a:cs typeface="Arial"/>
                <a:sym typeface="Arial"/>
              </a:defRPr>
            </a:lvl5pPr>
            <a:lvl6pPr indent="0" lvl="5" marL="0" marR="0" rtl="0" algn="r">
              <a:spcBef>
                <a:spcPts val="0"/>
              </a:spcBef>
              <a:buNone/>
              <a:defRPr sz="900">
                <a:solidFill>
                  <a:schemeClr val="dk2"/>
                </a:solidFill>
                <a:latin typeface="Arial"/>
                <a:ea typeface="Arial"/>
                <a:cs typeface="Arial"/>
                <a:sym typeface="Arial"/>
              </a:defRPr>
            </a:lvl6pPr>
            <a:lvl7pPr indent="0" lvl="6" marL="0" marR="0" rtl="0" algn="r">
              <a:spcBef>
                <a:spcPts val="0"/>
              </a:spcBef>
              <a:buNone/>
              <a:defRPr sz="900">
                <a:solidFill>
                  <a:schemeClr val="dk2"/>
                </a:solidFill>
                <a:latin typeface="Arial"/>
                <a:ea typeface="Arial"/>
                <a:cs typeface="Arial"/>
                <a:sym typeface="Arial"/>
              </a:defRPr>
            </a:lvl7pPr>
            <a:lvl8pPr indent="0" lvl="7" marL="0" marR="0" rtl="0" algn="r">
              <a:spcBef>
                <a:spcPts val="0"/>
              </a:spcBef>
              <a:buNone/>
              <a:defRPr sz="900">
                <a:solidFill>
                  <a:schemeClr val="dk2"/>
                </a:solidFill>
                <a:latin typeface="Arial"/>
                <a:ea typeface="Arial"/>
                <a:cs typeface="Arial"/>
                <a:sym typeface="Arial"/>
              </a:defRPr>
            </a:lvl8pPr>
            <a:lvl9pPr indent="0" lvl="8" marL="0" marR="0" rtl="0" algn="r">
              <a:spcBef>
                <a:spcPts val="0"/>
              </a:spcBef>
              <a:buNone/>
              <a:defRPr sz="9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u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r3_slideMaster1.xml.rels><?xml version='1.0' encoding='UTF-8' standalone='yes'?>
<Relationships xmlns="http://schemas.openxmlformats.org/package/2006/relationships"><Relationship Id="R971159b0d1fa41a7" Type="http://schemas.openxmlformats.org/officeDocument/2006/relationships/slideLayout" Target="../slideLayouts/r3_slideLayout1.xml"/><Relationship Id="Re6629aafe65b4721" Type="http://schemas.openxmlformats.org/officeDocument/2006/relationships/theme" Target="theme/r3_theme2.xml"/></Relationships>
</file>

<file path=ppt/slideMasters/_rels/ref_slideMaster2.xml.rels><?xml version='1.0' encoding='UTF-8' standalone='yes'?>
<Relationships xmlns="http://schemas.openxmlformats.org/package/2006/relationships"><Relationship Id="rId1" Type="http://schemas.openxmlformats.org/officeDocument/2006/relationships/slideLayout" Target="../slideLayouts/ref_slideLayout3.xml"/><Relationship Id="rId2" Type="http://schemas.openxmlformats.org/officeDocument/2006/relationships/slideLayout" Target="../slideLayouts/ref_slideLayout4.xml"/><Relationship Id="rId3" Type="http://schemas.openxmlformats.org/officeDocument/2006/relationships/slideLayout" Target="../slideLayouts/ref_slideLayout5.xml"/><Relationship Id="rId4" Type="http://schemas.openxmlformats.org/officeDocument/2006/relationships/slideLayout" Target="../slideLayouts/ref_slideLayout6.xml"/><Relationship Id="rId5" Type="http://schemas.openxmlformats.org/officeDocument/2006/relationships/slideLayout" Target="../slideLayouts/ref_slideLayout7.xml"/><Relationship Id="rId6" Type="http://schemas.openxmlformats.org/officeDocument/2006/relationships/slideLayout" Target="../slideLayouts/ref_slideLayout8.xml"/><Relationship Id="rId7" Type="http://schemas.openxmlformats.org/officeDocument/2006/relationships/slideLayout" Target="../slideLayouts/ref_slideLayout9.xml"/><Relationship Id="rId8" Type="http://schemas.openxmlformats.org/officeDocument/2006/relationships/slideLayout" Target="../slideLayouts/ref_slideLayout10.xml"/><Relationship Id="rId9" Type="http://schemas.openxmlformats.org/officeDocument/2006/relationships/slideLayout" Target="../slideLayouts/ref_slideLayout11.xml"/><Relationship Id="rId10" Type="http://schemas.openxmlformats.org/officeDocument/2006/relationships/slideLayout" Target="../slideLayouts/ref_slideLayout12.xml"/><Relationship Id="rId11" Type="http://schemas.openxmlformats.org/officeDocument/2006/relationships/slideLayout" Target="../slideLayouts/ref_slideLayout13.xml"/><Relationship Id="rId12" Type="http://schemas.openxmlformats.org/officeDocument/2006/relationships/theme" Target="../theme/ref_theme2.xml"/><Relationship Id="rId13" Type="http://schemas.openxmlformats.org/officeDocument/2006/relationships/image" Target="../media/ref_image1.png"/></Relationships>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3.xml"/></Relationships>
</file>

<file path=ppt/slideMasters/_rels/u3_slideMaster1.xml.rels><?xml version='1.0' encoding='UTF-8' standalone='yes'?>
<Relationships xmlns="http://schemas.openxmlformats.org/package/2006/relationships"><Relationship Id="R83f0b2bdb0494fb8" Type="http://schemas.openxmlformats.org/officeDocument/2006/relationships/theme" Target="theme/u3_theme2.xml"/><Relationship Id="Rcdd21f201fca4d6e" Type="http://schemas.openxmlformats.org/officeDocument/2006/relationships/slideLayout" Target="../slideLayouts/u3_slideLayout1.xml"/></Relationships>
</file>

<file path=ppt/slideMasters/r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5" r:id="R971159b0d1fa41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ref_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223C3C7-1489-9C41-8C28-D9B5002D9755}"/>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9">
            <a:extLst>
              <a:ext uri="{FF2B5EF4-FFF2-40B4-BE49-F238E27FC236}">
                <a16:creationId xmlns:a16="http://schemas.microsoft.com/office/drawing/2014/main" id="{31BA0F39-6F16-BD45-B2F6-8E8E0FCE6D22}"/>
              </a:ext>
            </a:extLst>
          </p:cNvPr>
          <p:cNvSpPr txBox="1">
            <a:spLocks/>
          </p:cNvSpPr>
          <p:nvPr userDrawn="1"/>
        </p:nvSpPr>
        <p:spPr>
          <a:xfrm>
            <a:off x="490549" y="6528815"/>
            <a:ext cx="1036320" cy="32466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a:solidFill>
                  <a:schemeClr val="tx2"/>
                </a:solidFill>
                <a:latin typeface="Arial" panose="020B0604020202020204" pitchFamily="34" charset="0"/>
                <a:cs typeface="Arial" panose="020B0604020202020204" pitchFamily="34" charset="0"/>
              </a:rPr>
              <a:t xml:space="preserve">McGraw Hill   </a:t>
            </a:r>
            <a:r>
              <a:rPr lang="en-US" sz="900" b="1" spc="0" baseline="0">
                <a:solidFill>
                  <a:schemeClr val="tx2"/>
                </a:solidFill>
                <a:latin typeface="Arial" panose="020B0604020202020204" pitchFamily="34" charset="0"/>
                <a:cs typeface="Arial" panose="020B0604020202020204" pitchFamily="34" charset="0"/>
              </a:rPr>
              <a:t>|</a:t>
            </a:r>
            <a:endParaRPr lang="en-US" sz="900">
              <a:solidFill>
                <a:schemeClr val="tx2"/>
              </a:solidFill>
              <a:latin typeface="Arial" panose="020B0604020202020204" pitchFamily="34" charset="0"/>
              <a:cs typeface="Arial" panose="020B0604020202020204" pitchFamily="34" charset="0"/>
            </a:endParaRPr>
          </a:p>
        </p:txBody>
      </p:sp>
      <p:sp>
        <p:nvSpPr>
          <p:cNvPr id="10" name="Footer Placeholder 4">
            <a:extLst>
              <a:ext uri="{FF2B5EF4-FFF2-40B4-BE49-F238E27FC236}">
                <a16:creationId xmlns:a16="http://schemas.microsoft.com/office/drawing/2014/main" id="{65D709DB-80CD-BD4D-958F-080EA8C05428}"/>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pic>
        <p:nvPicPr>
          <p:cNvPr id="11" name="Picture 10">
            <a:extLst>
              <a:ext uri="{FF2B5EF4-FFF2-40B4-BE49-F238E27FC236}">
                <a16:creationId xmlns:a16="http://schemas.microsoft.com/office/drawing/2014/main" id="{DB6EED09-8B61-F64F-907D-F4B749DB901C}"/>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p:blipFill>
        <p:spPr>
          <a:xfrm>
            <a:off x="4896996" y="0"/>
            <a:ext cx="7295004" cy="1193294"/>
          </a:xfrm>
          <a:prstGeom prst="rect">
            <a:avLst/>
          </a:prstGeom>
        </p:spPr>
      </p:pic>
      <p:sp>
        <p:nvSpPr>
          <p:cNvPr id="12" name="Footer Placeholder 9">
            <a:extLst>
              <a:ext uri="{FF2B5EF4-FFF2-40B4-BE49-F238E27FC236}">
                <a16:creationId xmlns:a16="http://schemas.microsoft.com/office/drawing/2014/main" id="{0FFCF478-E46E-474C-A6F6-E53E48F9103D}"/>
              </a:ext>
            </a:extLst>
          </p:cNvPr>
          <p:cNvSpPr txBox="1">
            <a:spLocks/>
          </p:cNvSpPr>
          <p:nvPr userDrawn="1"/>
        </p:nvSpPr>
        <p:spPr>
          <a:xfrm>
            <a:off x="1401178" y="6548751"/>
            <a:ext cx="4694822" cy="32468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0" dirty="0">
                <a:solidFill>
                  <a:schemeClr val="tx2"/>
                </a:solidFill>
                <a:latin typeface="Arial" panose="020B0604020202020204" pitchFamily="34" charset="0"/>
                <a:cs typeface="Arial" panose="020B0604020202020204" pitchFamily="34" charset="0"/>
              </a:rPr>
              <a:t>Converting Between Systems</a:t>
            </a:r>
          </a:p>
        </p:txBody>
      </p:sp>
    </p:spTree>
    <p:extLst>
      <p:ext uri="{BB962C8B-B14F-4D97-AF65-F5344CB8AC3E}">
        <p14:creationId xmlns:p14="http://schemas.microsoft.com/office/powerpoint/2010/main" val="1795604345"/>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chemeClr val="dk2"/>
                </a:solidFill>
                <a:latin typeface="Arial"/>
                <a:ea typeface="Arial"/>
                <a:cs typeface="Arial"/>
                <a:sym typeface="Arial"/>
              </a:rPr>
              <a:t>Copyright © McGraw Hill</a:t>
            </a:r>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a:p>
        </p:txBody>
      </p:sp>
    </p:spTree>
  </p:cSld>
  <p:clrMap accent1="accent1" accent2="accent2" accent3="accent3" accent4="accent4" accent5="accent5" accent6="accent6" bg1="lt1" bg2="dk2" tx1="dk1" tx2="lt2" folHlink="folHlink" hlink="hlink"/>
  <p:sldLayoutIdLst>
    <p:sldLayoutId id="2147483667" r:id="rId3"/>
    <p:sldLayoutId id="2147483668"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00">
                <a:solidFill>
                  <a:schemeClr val="dk2"/>
                </a:solidFill>
                <a:latin typeface="Arial"/>
                <a:ea typeface="Arial"/>
                <a:cs typeface="Arial"/>
                <a:sym typeface="Arial"/>
              </a:rPr>
              <a:t>Measurement Conversion Between Systems</a:t>
            </a:r>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00">
                <a:solidFill>
                  <a:schemeClr val="dk2"/>
                </a:solidFill>
                <a:latin typeface="Arial"/>
                <a:ea typeface="Arial"/>
                <a:cs typeface="Arial"/>
                <a:sym typeface="Arial"/>
              </a:rPr>
              <a:t>Measurement Conversion Between Systems</a:t>
            </a:r>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theme/r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u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u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02" r:id="Rcdd21f201fca4d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0387ada4300e43f7" Type="http://schemas.openxmlformats.org/officeDocument/2006/relationships/slideLayout" Target="../slideLayouts/ref_slideLayout9.xml"/><Relationship Id="rIdWarmUpNotes" Type="http://schemas.openxmlformats.org/officeDocument/2006/relationships/notesSlide" Target="../notesSlides/notesSlide66.xml"/></Relationships>
</file>

<file path=ppt/slides/_rels/slide2.xml.rels><?xml version='1.0' encoding='UTF-8' standalone='yes'?>
<Relationships xmlns="http://schemas.openxmlformats.org/package/2006/relationships"><Relationship Id="R7aa9270ee1ec4230" Type="http://schemas.openxmlformats.org/officeDocument/2006/relationships/notesSlide" Target="../notesSlides/u3_notesSlide3.xml"/><Relationship Id="Rd39147b2437d4f32" Type="http://schemas.openxmlformats.org/officeDocument/2006/relationships/slideLayout" Target="../slideLayouts/ref_slideLayout9.xml"/></Relationships>
</file>

<file path=ppt/slides/_rels/slide3.xml.rels><?xml version='1.0' encoding='UTF-8' standalone='yes'?>
<Relationships xmlns="http://schemas.openxmlformats.org/package/2006/relationships"><Relationship Id="R0387ada4300e43f7" Type="http://schemas.openxmlformats.org/officeDocument/2006/relationships/slideLayout" Target="../slideLayouts/ref_slideLayout9.xml"/><Relationship Id="R274b13ee473f4182" Type="http://schemas.openxmlformats.org/officeDocument/2006/relationships/notesSlide" Target="../notesSlides/u3_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7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3b22b8b6555f4c01" Type="http://schemas.openxmlformats.org/officeDocument/2006/relationships/notesSlide" Target="../notesSlides/r3_notesSlide1.xml"/><Relationship Id="Rfcc3de137a154710" Type="http://schemas.openxmlformats.org/officeDocument/2006/relationships/slideLayout" Target="../slideLayouts/ref_slideLayout9.xml"/></Relationships>
</file>

<file path=ppt/slides/_rels/slide14.xml.rels><?xml version='1.0' encoding='UTF-8' standalone='yes'?>
<Relationships xmlns="http://schemas.openxmlformats.org/package/2006/relationships"><Relationship Id="R4ed5ae16db854f3e" Type="http://schemas.openxmlformats.org/officeDocument/2006/relationships/slideLayout" Target="../slideLayouts/ref_slideLayout9.xml"/><Relationship Id="R6e9b175b869b41a9" Type="http://schemas.openxmlformats.org/officeDocument/2006/relationships/notesSlide" Target="../notesSlides/r3_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3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17.xml.rels><?xml version='1.0' encoding='UTF-8' standalone='yes'?>
<Relationships xmlns="http://schemas.openxmlformats.org/package/2006/relationships"><Relationship Id="R54e7d7758a574076" Type="http://schemas.openxmlformats.org/officeDocument/2006/relationships/notesSlide" Target="../notesSlides/u3_notesSlide5.xml"/><Relationship Id="Rfb17f5dbae5948ef" Type="http://schemas.openxmlformats.org/officeDocument/2006/relationships/slideLayout" Target="../slideLayouts/ref_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jpg"/><Relationship Id="rId3" Type="http://schemas.openxmlformats.org/officeDocument/2006/relationships/notesSlide" Target="../notesSlides/notesSlide7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7.png"/><Relationship Id="rId3" Type="http://schemas.openxmlformats.org/officeDocument/2006/relationships/notesSlide" Target="../notesSlides/notesSlide7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0.xml"/></Relationships>
</file>

<file path=ppt/slides/_rels/slide21.xml.rels><?xml version='1.0' encoding='UTF-8' standalone='yes'?>
<Relationships xmlns="http://schemas.openxmlformats.org/package/2006/relationships"><Relationship Id="R0387ada4300e43f7" Type="http://schemas.openxmlformats.org/officeDocument/2006/relationships/slideLayout" Target="../slideLayouts/ref_slideLayout9.xml"/><Relationship Id="rId1" Type="http://schemas.openxmlformats.org/officeDocument/2006/relationships/notesSlide" Target="../notesSlides/notesSlide67.xml"/></Relationships>
</file>

<file path=ppt/slides/_rels/slide22.xml.rels><?xml version='1.0' encoding='UTF-8' standalone='yes'?>
<Relationships xmlns="http://schemas.openxmlformats.org/package/2006/relationships"><Relationship Id="Rd39147b2437d4f32" Type="http://schemas.openxmlformats.org/officeDocument/2006/relationships/slideLayout" Target="../slideLayouts/ref_slideLayout9.xml"/><Relationship Id="rId1" Type="http://schemas.openxmlformats.org/officeDocument/2006/relationships/notesSlide" Target="../notesSlides/notesSlide68.xml"/></Relationships>
</file>

<file path=ppt/slides/_rels/slide23.xml.rels><?xml version='1.0' encoding='UTF-8' standalone='yes'?>
<Relationships xmlns="http://schemas.openxmlformats.org/package/2006/relationships"><Relationship Id="R3ddf7913eff64681" Type="http://schemas.openxmlformats.org/officeDocument/2006/relationships/slideLayout" Target="../slideLayouts/ref_slideLayout9.xml"/><Relationship Id="R9791b3a0aa354e7c" Type="http://schemas.openxmlformats.org/officeDocument/2006/relationships/notesSlide" Target="../notesSlides/u3_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6.png"/><Relationship Id="rId4" Type="http://schemas.openxmlformats.org/officeDocument/2006/relationships/notesSlide" Target="../notesSlides/notesSlide8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16d096940ef94e51" Type="http://schemas.openxmlformats.org/officeDocument/2006/relationships/notesSlide" Target="../notesSlides/r3_notesSlide3.xml"/><Relationship Id="R76597d8f9f5d4694" Type="http://schemas.openxmlformats.org/officeDocument/2006/relationships/slideLayout" Target="../slideLayouts/ref_slideLayout9.xml"/></Relationships>
</file>

<file path=ppt/slides/_rels/slide27.xml.rels><?xml version='1.0' encoding='UTF-8' standalone='yes'?>
<Relationships xmlns="http://schemas.openxmlformats.org/package/2006/relationships"><Relationship Id="R1c98813b86c94de3" Type="http://schemas.openxmlformats.org/officeDocument/2006/relationships/slideLayout" Target="../slideLayouts/ref_slideLayout9.xml"/><Relationship Id="Rb18179d9db154fe9" Type="http://schemas.openxmlformats.org/officeDocument/2006/relationships/notesSlide" Target="../notesSlides/r3_notesSlide4.xml"/></Relationships>
</file>

<file path=ppt/slides/_rels/slide28.xml.rels><?xml version='1.0' encoding='UTF-8' standalone='yes'?>
<Relationships xmlns="http://schemas.openxmlformats.org/package/2006/relationships"><Relationship Id="R010215aaaf1044d8" Type="http://schemas.openxmlformats.org/officeDocument/2006/relationships/notesSlide" Target="../notesSlides/u3_notesSlide4.xml"/><Relationship Id="R3ba2846481b84415" Type="http://schemas.openxmlformats.org/officeDocument/2006/relationships/slideLayout" Target="../slideLayouts/ref_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5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notesSlide" Target="../notesSlides/notesSlide8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notesSlide" Target="../notesSlides/notesSlide8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8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5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57.xml"/><Relationship Id="rId3" Type="http://schemas.openxmlformats.org/officeDocument/2006/relationships/image" Target="../media/image13.jpg"/></Relationships>
</file>

<file path=ppt/slides/_rels/slide36.xml.rels><?xml version='1.0' encoding='UTF-8' standalone='yes'?>
<Relationships xmlns="http://schemas.openxmlformats.org/package/2006/relationships"><Relationship Id="R6af6dce219a4407c" Type="http://schemas.openxmlformats.org/officeDocument/2006/relationships/slideLayout" Target="../slideLayouts/ref_slideLayout9.xml"/><Relationship Id="R8e085dc25e884f2a" Type="http://schemas.openxmlformats.org/officeDocument/2006/relationships/notesSlide" Target="../notesSlides/u3_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38.xml.rels><?xml version='1.0' encoding='UTF-8' standalone='yes'?>
<Relationships xmlns="http://schemas.openxmlformats.org/package/2006/relationships"><Relationship Id="R9471f6e7ad7848e1" Type="http://schemas.openxmlformats.org/officeDocument/2006/relationships/slideLayout" Target="../slideLayouts/ref_slideLayout9.xml"/><Relationship Id="Ra71a6ae9c8074016" Type="http://schemas.openxmlformats.org/officeDocument/2006/relationships/notesSlide" Target="../notesSlides/u3_notesSlide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ref_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3-7 · Converting Between Systems   |   Warm-Up · about 4 minutes</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4 × 1.6 = ______</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10 × 0.45 = ______</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Round 13.95 to the nearest</a:t>
            </a:r>
          </a:p>
          <a:p>
            <a:pPr algn="l"/>
            <a:r>
              <a:rPr sz="1800" b="1">
                <a:solidFill>
                  <a:srgbClr val="23282D"/>
                </a:solidFill>
                <a:latin typeface="Arial"/>
              </a:rPr>
              <a:t>whole number: ______</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5 × 2.2 = ______</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41</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F2219A-8E70-465B-90FB-1ECD46C78032}"/>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00" b="1">
                <ns0:solidFill>
                  <ns0:srgbClr val="782DA0"/>
                </ns0:solidFill>
                <ns0:latin typeface="Arial"/>
                <ns0:ea typeface="Arial"/>
                <ns0:cs typeface="Arial"/>
              </ns0:defRPr>
            </ns0:pPr>
            <ns0:r>
              <ns0:rPr sz="2800" b="1">
                <ns0:solidFill>
                  <ns0:srgbClr val="782DA0"/>
                </ns0:solidFill>
                <ns0:latin typeface="Arial"/>
                <ns0:ea typeface="Arial"/>
                <ns0:cs typeface="Arial"/>
              </ns0:rPr>
              <ns0:t>Today’s Math Notes — Session 1</ns0:t>
            </ns0:r>
          </ns0:p>
        </p:txBody>
      </p:sp>
      <p:sp>
        <p:nvSpPr>
          <p:cNvPr id="2" name="">
            <a:extLst xmlns:a="http://schemas.openxmlformats.org/drawingml/2006/main">
              <a:ext uri="{FF2B5EF4-FFF2-40B4-BE49-F238E27FC236}">
                <a16:creationId xmlns:a16="http://schemas.microsoft.com/office/drawing/2014/main" id="{BC7A8218-008D-4E3A-A77D-FFB849C26BAF}"/>
              </a:ext>
            </a:extLst>
          </p:cNvPr>
          <p:cNvSpPr>
            <a:spLocks xmlns:a="http://schemas.openxmlformats.org/drawingml/2006/main" noGrp="1"/>
          </p:cNvSpPr>
          <p:nvPr/>
        </p:nvSpPr>
        <p:spPr>
          <a:xfrm xmlns:a="http://schemas.openxmlformats.org/drawingml/2006/main">
            <a:off x="523875" y="1028700"/>
            <a:ext cx="866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6872"/>
                </a:solidFill>
                <a:latin typeface="Arial"/>
                <a:ea typeface="Arial"/>
                <a:cs typeface="Arial"/>
              </a:defRPr>
            </a:pPr>
            <a:r>
              <a:rPr sz="1575" b="0">
                <a:solidFill>
                  <a:srgbClr val="5D6872"/>
                </a:solidFill>
                <a:latin typeface="Arial"/>
                <a:ea typeface="Arial"/>
                <a:cs typeface="Arial"/>
              </a:rPr>
              <a:t xml:space="preserve">Keep the idea from </a:t>
            </a:r>
            <a:r>
              <a:rPr sz="1575" b="1">
                <a:solidFill>
                  <a:srgbClr val="23282D"/>
                </a:solidFill>
                <a:highlight>
                  <a:srgbClr val="FFF2A8"/>
                </a:highlight>
                <a:latin typeface="Arial"/>
                <a:ea typeface="Arial"/>
                <a:cs typeface="Arial"/>
              </a:rPr>
              <a:t>Speed</a:t>
            </a:r>
            <a:r>
              <a:rPr sz="1575" b="0">
                <a:solidFill>
                  <a:srgbClr val="5D6872"/>
                </a:solidFill>
                <a:latin typeface="Arial"/>
                <a:ea typeface="Arial"/>
                <a:cs typeface="Arial"/>
              </a:rPr>
              <a:t xml:space="preserve"> Limit.</a:t>
            </a:r>
          </a:p>
        </p:txBody>
      </p:sp>
      <p:sp>
        <p:nvSpPr>
          <p:cNvPr id="3" name="">
            <a:extLst xmlns:a="http://schemas.openxmlformats.org/drawingml/2006/main">
              <a:ext uri="{FF2B5EF4-FFF2-40B4-BE49-F238E27FC236}">
                <a16:creationId xmlns:a16="http://schemas.microsoft.com/office/drawing/2014/main" id="{396B1FC7-3440-45D3-BAC5-100C17923E72}"/>
              </a:ext>
            </a:extLst>
          </p:cNvPr>
          <p:cNvSpPr>
            <a:spLocks xmlns:a="http://schemas.openxmlformats.org/drawingml/2006/main" noGrp="1"/>
          </p:cNvSpPr>
          <p:nvPr/>
        </p:nvSpPr>
        <p:spPr>
          <a:xfrm xmlns:a="http://schemas.openxmlformats.org/drawingml/2006/main">
            <a:off x="514350" y="1609725"/>
            <a:ext cx="5762625" cy="4114800"/>
          </a:xfrm>
          <a:prstGeom xmlns:a="http://schemas.openxmlformats.org/drawingml/2006/main" prst="roundRect">
            <a:avLst>
              <a:gd name="adj" fmla="val 1852"/>
            </a:avLst>
          </a:prstGeom>
          <a:solidFill xmlns:a="http://schemas.openxmlformats.org/drawingml/2006/main">
            <a:srgbClr val="FFF0E6"/>
          </a:solidFill>
          <a:ln xmlns:a="http://schemas.openxmlformats.org/drawingml/2006/main" w="9525">
            <a:solidFill>
              <a:srgbClr val="D6E0E8"/>
            </a:solidFill>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CBB91B34-5528-439D-AE0F-FD01B29620C4}"/>
              </a:ext>
            </a:extLst>
          </p:cNvPr>
          <p:cNvSpPr>
            <a:spLocks xmlns:a="http://schemas.openxmlformats.org/drawingml/2006/main" noGrp="1"/>
          </p:cNvSpPr>
          <p:nvPr/>
        </p:nvSpPr>
        <p:spPr>
          <a:xfrm xmlns:a="http://schemas.openxmlformats.org/drawingml/2006/main">
            <a:off x="6543675" y="1609725"/>
            <a:ext cx="5114925" cy="4114800"/>
          </a:xfrm>
          <a:prstGeom xmlns:a="http://schemas.openxmlformats.org/drawingml/2006/main" prst="roundRect">
            <a:avLst>
              <a:gd name="adj" fmla="val 1852"/>
            </a:avLst>
          </a:prstGeom>
          <a:solidFill xmlns:a="http://schemas.openxmlformats.org/drawingml/2006/main">
            <a:srgbClr val="EAF7F5"/>
          </a:solidFill>
          <a:ln xmlns:a="http://schemas.openxmlformats.org/drawingml/2006/main" w="9525">
            <a:solidFill>
              <a:srgbClr val="D6E0E8"/>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99FEC43-A702-4406-8956-20DB2AF35D7E}"/>
              </a:ext>
            </a:extLst>
          </p:cNvPr>
          <p:cNvSpPr>
            <a:spLocks xmlns:a="http://schemas.openxmlformats.org/drawingml/2006/main" noGrp="1"/>
          </p:cNvSpPr>
          <p:nvPr/>
        </p:nvSpPr>
        <p:spPr>
          <a:xfrm xmlns:a="http://schemas.openxmlformats.org/drawingml/2006/main">
            <a:off x="723900" y="18002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1:p xmlns:ns1="http://schemas.openxmlformats.org/drawingml/2006/main">
            <ns1:pPr>
              <ns1:defRPr sz="1350" b="1">
                <ns1:solidFill>
                  <ns1:srgbClr val="782DA0"/>
                </ns1:solidFill>
                <ns1:latin typeface="Arial"/>
                <ns1:ea typeface="Arial"/>
                <ns1:cs typeface="Arial"/>
              </ns1:defRPr>
            </ns1:pPr>
            <ns1:r>
              <ns1:rPr sz="1300" b="1">
                <ns1:solidFill>
                  <ns1:srgbClr val="782DA0"/>
                </ns1:solidFill>
                <ns1:latin typeface="Arial"/>
                <ns1:ea typeface="Arial"/>
                <ns1:cs typeface="Arial"/>
              </ns1:rPr>
              <ns1:t>COPY THESE 3 LINES</ns1:t>
            </ns1:r>
          </ns1:p>
        </p:txBody>
      </p:sp>
      <p:sp>
        <p:nvSpPr>
          <p:cNvPr id="6" name="">
            <a:extLst xmlns:a="http://schemas.openxmlformats.org/drawingml/2006/main">
              <a:ext uri="{FF2B5EF4-FFF2-40B4-BE49-F238E27FC236}">
                <a16:creationId xmlns:a16="http://schemas.microsoft.com/office/drawing/2014/main" id="{017F5DAA-4823-4CA9-B140-59CE14DE8CBB}"/>
              </a:ext>
            </a:extLst>
          </p:cNvPr>
          <p:cNvSpPr>
            <a:spLocks xmlns:a="http://schemas.openxmlformats.org/drawingml/2006/main" noGrp="1"/>
          </p:cNvSpPr>
          <p:nvPr/>
        </p:nvSpPr>
        <p:spPr>
          <a:xfrm xmlns:a="http://schemas.openxmlformats.org/drawingml/2006/main">
            <a:off x="733425" y="235267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1536352-6D1E-4D8D-A2BB-93939162668A}"/>
              </a:ext>
            </a:extLst>
          </p:cNvPr>
          <p:cNvSpPr>
            <a:spLocks xmlns:a="http://schemas.openxmlformats.org/drawingml/2006/main" noGrp="1"/>
          </p:cNvSpPr>
          <p:nvPr/>
        </p:nvSpPr>
        <p:spPr>
          <a:xfrm xmlns:a="http://schemas.openxmlformats.org/drawingml/2006/main">
            <a:off x="1257300" y="232410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 xml:space="preserve">A </a:t>
            </a:r>
            <a:r>
              <a:rPr sz="2100" b="1">
                <a:solidFill>
                  <a:srgbClr val="23282D"/>
                </a:solidFill>
                <a:highlight>
                  <a:srgbClr val="FFF2A8"/>
                </a:highlight>
                <a:latin typeface="Arial"/>
                <a:ea typeface="Arial"/>
                <a:cs typeface="Arial"/>
              </a:rPr>
              <a:t>conversion factor</a:t>
            </a:r>
            <a:r>
              <a:rPr sz="2100" b="0">
                <a:solidFill>
                  <a:srgbClr val="23282D"/>
                </a:solidFill>
                <a:latin typeface="Arial"/>
                <a:ea typeface="Arial"/>
                <a:cs typeface="Arial"/>
              </a:rPr>
              <a:t xml:space="preserve"> links two </a:t>
            </a:r>
            <a:r>
              <a:rPr sz="2100" b="1">
                <a:solidFill>
                  <a:srgbClr val="23282D"/>
                </a:solidFill>
                <a:latin typeface="Arial"/>
                <a:ea typeface="Arial"/>
                <a:cs typeface="Arial"/>
              </a:rPr>
              <a:t xml:space="preserve">measurement units</a:t>
            </a:r>
            <a:r>
              <a:rPr sz="2100" b="0">
                <a:solidFill>
                  <a:srgbClr val="23282D"/>
                </a:solidFill>
                <a:latin typeface="Arial"/>
                <a:ea typeface="Arial"/>
                <a:cs typeface="Arial"/>
              </a:rPr>
              <a:t xml:space="preserve">.</a:t>
            </a:r>
          </a:p>
        </p:txBody>
      </p:sp>
      <p:sp>
        <p:nvSpPr>
          <p:cNvPr id="8" name="">
            <a:extLst xmlns:a="http://schemas.openxmlformats.org/drawingml/2006/main">
              <a:ext uri="{FF2B5EF4-FFF2-40B4-BE49-F238E27FC236}">
                <a16:creationId xmlns:a16="http://schemas.microsoft.com/office/drawing/2014/main" id="{032F0C46-F723-4372-B138-76D9E8D3F416}"/>
              </a:ext>
            </a:extLst>
          </p:cNvPr>
          <p:cNvSpPr>
            <a:spLocks xmlns:a="http://schemas.openxmlformats.org/drawingml/2006/main" noGrp="1"/>
          </p:cNvSpPr>
          <p:nvPr/>
        </p:nvSpPr>
        <p:spPr>
          <a:xfrm xmlns:a="http://schemas.openxmlformats.org/drawingml/2006/main">
            <a:off x="733425" y="3333750"/>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DDD3C3EC-8836-43F8-BC92-819495E45FA0}"/>
              </a:ext>
            </a:extLst>
          </p:cNvPr>
          <p:cNvSpPr>
            <a:spLocks xmlns:a="http://schemas.openxmlformats.org/drawingml/2006/main" noGrp="1"/>
          </p:cNvSpPr>
          <p:nvPr/>
        </p:nvSpPr>
        <p:spPr>
          <a:xfrm xmlns:a="http://schemas.openxmlformats.org/drawingml/2006/main">
            <a:off x="1257300" y="3305175"/>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1">
                <a:solidFill>
                  <a:srgbClr val="23282D"/>
                </a:solidFill>
                <a:latin typeface="Arial"/>
                <a:ea typeface="Arial"/>
                <a:cs typeface="Arial"/>
              </a:rPr>
              <a:t xml:space="preserve">Scale</a:t>
            </a:r>
            <a:r>
              <a:rPr sz="2100" b="0">
                <a:solidFill>
                  <a:srgbClr val="23282D"/>
                </a:solidFill>
                <a:latin typeface="Arial"/>
                <a:ea typeface="Arial"/>
                <a:cs typeface="Arial"/>
              </a:rPr>
              <a:t xml:space="preserve"> both </a:t>
            </a:r>
            <a:r>
              <a:rPr sz="2100" b="1">
                <a:solidFill>
                  <a:srgbClr val="23282D"/>
                </a:solidFill>
                <a:latin typeface="Arial"/>
                <a:ea typeface="Arial"/>
                <a:cs typeface="Arial"/>
              </a:rPr>
              <a:t xml:space="preserve">quantities</a:t>
            </a:r>
            <a:r>
              <a:rPr sz="2100" b="0">
                <a:solidFill>
                  <a:srgbClr val="23282D"/>
                </a:solidFill>
                <a:latin typeface="Arial"/>
                <a:ea typeface="Arial"/>
                <a:cs typeface="Arial"/>
              </a:rPr>
              <a:t xml:space="preserve"> by the same number.</a:t>
            </a:r>
          </a:p>
        </p:txBody>
      </p:sp>
      <p:sp>
        <p:nvSpPr>
          <p:cNvPr id="10" name="">
            <a:extLst xmlns:a="http://schemas.openxmlformats.org/drawingml/2006/main">
              <a:ext uri="{FF2B5EF4-FFF2-40B4-BE49-F238E27FC236}">
                <a16:creationId xmlns:a16="http://schemas.microsoft.com/office/drawing/2014/main" id="{B97C05AB-0EAC-4B4E-9651-E2B0A38E70A4}"/>
              </a:ext>
            </a:extLst>
          </p:cNvPr>
          <p:cNvSpPr>
            <a:spLocks xmlns:a="http://schemas.openxmlformats.org/drawingml/2006/main" noGrp="1"/>
          </p:cNvSpPr>
          <p:nvPr/>
        </p:nvSpPr>
        <p:spPr>
          <a:xfrm xmlns:a="http://schemas.openxmlformats.org/drawingml/2006/main">
            <a:off x="733425" y="431482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89D2752-5396-4B5C-B87E-3CEBA8F00D80}"/>
              </a:ext>
            </a:extLst>
          </p:cNvPr>
          <p:cNvSpPr>
            <a:spLocks xmlns:a="http://schemas.openxmlformats.org/drawingml/2006/main" noGrp="1"/>
          </p:cNvSpPr>
          <p:nvPr/>
        </p:nvSpPr>
        <p:spPr>
          <a:xfrm xmlns:a="http://schemas.openxmlformats.org/drawingml/2006/main">
            <a:off x="1257300" y="428625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 xml:space="preserve">Use ≈ when the </a:t>
            </a:r>
            <a:r>
              <a:rPr sz="2100" b="1">
                <a:solidFill>
                  <a:srgbClr val="23282D"/>
                </a:solidFill>
                <a:highlight>
                  <a:srgbClr val="FFF2A8"/>
                </a:highlight>
                <a:latin typeface="Arial"/>
                <a:ea typeface="Arial"/>
                <a:cs typeface="Arial"/>
              </a:rPr>
              <a:t>conversion factor</a:t>
            </a:r>
            <a:r>
              <a:rPr sz="2100" b="0">
                <a:solidFill>
                  <a:srgbClr val="23282D"/>
                </a:solidFill>
                <a:latin typeface="Arial"/>
                <a:ea typeface="Arial"/>
                <a:cs typeface="Arial"/>
              </a:rPr>
              <a:t xml:space="preserve"> is rounded.</a:t>
            </a:r>
          </a:p>
        </p:txBody>
      </p:sp>
      <p:sp>
        <p:nvSpPr>
          <p:cNvPr id="12" name="">
            <a:extLst xmlns:a="http://schemas.openxmlformats.org/drawingml/2006/main">
              <a:ext uri="{FF2B5EF4-FFF2-40B4-BE49-F238E27FC236}">
                <a16:creationId xmlns:a16="http://schemas.microsoft.com/office/drawing/2014/main" id="{DF9FD1ED-7BA0-4294-A640-7432EDEB0ACE}"/>
              </a:ext>
            </a:extLst>
          </p:cNvPr>
          <p:cNvSpPr>
            <a:spLocks xmlns:a="http://schemas.openxmlformats.org/drawingml/2006/main" noGrp="1"/>
          </p:cNvSpPr>
          <p:nvPr/>
        </p:nvSpPr>
        <p:spPr>
          <a:xfrm xmlns:a="http://schemas.openxmlformats.org/drawingml/2006/main">
            <a:off x="6743700" y="18097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
          <p:cNvGraphicFramePr/>
          <p:nvPr/>
        </p:nvGraphicFramePr>
        <p:xfrm>
          <a:off xmlns:a="http://schemas.openxmlformats.org/drawingml/2006/main" x="6743700" y="2333625"/>
          <a:ext xmlns:a="http://schemas.openxmlformats.org/drawingml/2006/main" cx="4705350" cy="2019300"/>
        </p:xfrm>
        <a:graphic xmlns:a="http://schemas.openxmlformats.org/drawingml/2006/main">
          <a:graphicData uri="http://schemas.openxmlformats.org/drawingml/2006/table">
            <a:tbl>
              <a:tblPr/>
              <a:tblGrid>
                <a:gridCol w="2352675"/>
                <a:gridCol w="2352675"/>
              </a:tblGrid>
              <a:tr h="504825">
                <a:tc>
                  <a:txBody>
                    <a:bodyPr/>
                    <a:lstStyle/>
                    <a:p>
                      <a:r>
                        <a:rPr sz="1425" b="1">
                          <a:solidFill>
                            <a:srgbClr val="FFFFFF"/>
                          </a:solidFill>
                          <a:latin typeface="Arial"/>
                          <a:ea typeface="Arial"/>
                          <a:cs typeface="Arial"/>
                        </a:rPr>
                        <a:t>Kilometers</a:t>
                      </a:r>
                    </a:p>
                  </a:txBody>
                  <a:tcPr marL="91440" marR="91440" marT="45720" marB="45720">
                    <a:solidFill>
                      <a:srgbClr val="0070C0"/>
                    </a:solidFill>
                  </a:tcPr>
                </a:tc>
                <a:tc>
                  <a:txBody>
                    <a:bodyPr/>
                    <a:lstStyle/>
                    <a:p>
                      <a:r>
                        <a:rPr sz="1425" b="1">
                          <a:solidFill>
                            <a:srgbClr val="FFFFFF"/>
                          </a:solidFill>
                          <a:latin typeface="Arial"/>
                          <a:ea typeface="Arial"/>
                          <a:cs typeface="Arial"/>
                        </a:rPr>
                        <a:t>Miles (about)</a:t>
                      </a:r>
                    </a:p>
                  </a:txBody>
                  <a:tcPr marL="91440" marR="91440" marT="45720" marB="45720">
                    <a:solidFill>
                      <a:srgbClr val="0070C0"/>
                    </a:solidFill>
                  </a:tcPr>
                </a:tc>
              </a:tr>
              <a:tr h="504825">
                <a:tc>
                  <a:txBody>
                    <a:bodyPr/>
                    <a:lstStyle/>
                    <a:p>
                      <a:r>
                        <a:rPr sz="1800" b="0">
                          <a:solidFill>
                            <a:srgbClr val="23282D"/>
                          </a:solidFill>
                          <a:latin typeface="Arial"/>
                          <a:ea typeface="Arial"/>
                          <a:cs typeface="Arial"/>
                        </a:rPr>
                        <a:t>1</a:t>
                      </a:r>
                    </a:p>
                  </a:txBody>
                  <a:tcPr marL="91440" marR="91440" marT="45720" marB="45720">
                    <a:solidFill>
                      <a:srgbClr val="FFFFFF"/>
                    </a:solidFill>
                  </a:tcPr>
                </a:tc>
                <a:tc>
                  <a:txBody>
                    <a:bodyPr/>
                    <a:lstStyle/>
                    <a:p>
                      <a:r>
                        <a:rPr sz="1800" b="0">
                          <a:solidFill>
                            <a:srgbClr val="23282D"/>
                          </a:solidFill>
                          <a:latin typeface="Arial"/>
                          <a:ea typeface="Arial"/>
                          <a:cs typeface="Arial"/>
                        </a:rPr>
                        <a:t>0.6</a:t>
                      </a:r>
                    </a:p>
                  </a:txBody>
                  <a:tcPr marL="91440" marR="91440" marT="45720" marB="45720">
                    <a:solidFill>
                      <a:srgbClr val="FFFFFF"/>
                    </a:solidFill>
                  </a:tcPr>
                </a:tc>
              </a:tr>
              <a:tr h="504825">
                <a:tc>
                  <a:txBody>
                    <a:bodyPr/>
                    <a:lstStyle/>
                    <a:p>
                      <a:r>
                        <a:rPr sz="1800" b="0">
                          <a:solidFill>
                            <a:srgbClr val="23282D"/>
                          </a:solidFill>
                          <a:latin typeface="Arial"/>
                          <a:ea typeface="Arial"/>
                          <a:cs typeface="Arial"/>
                        </a:rPr>
                        <a:t>10</a:t>
                      </a:r>
                    </a:p>
                  </a:txBody>
                  <a:tcPr marL="91440" marR="91440" marT="45720" marB="45720">
                    <a:solidFill>
                      <a:srgbClr val="FFFFFF"/>
                    </a:solidFill>
                  </a:tcPr>
                </a:tc>
                <a:tc>
                  <a:txBody>
                    <a:bodyPr/>
                    <a:lstStyle/>
                    <a:p>
                      <a:r>
                        <a:rPr sz="1800" b="0">
                          <a:solidFill>
                            <a:srgbClr val="23282D"/>
                          </a:solidFill>
                          <a:latin typeface="Arial"/>
                          <a:ea typeface="Arial"/>
                          <a:cs typeface="Arial"/>
                        </a:rPr>
                        <a:t>6</a:t>
                      </a:r>
                    </a:p>
                  </a:txBody>
                  <a:tcPr marL="91440" marR="91440" marT="45720" marB="45720">
                    <a:solidFill>
                      <a:srgbClr val="FFFFFF"/>
                    </a:solidFill>
                  </a:tcPr>
                </a:tc>
              </a:tr>
              <a:tr h="504825">
                <a:tc>
                  <a:txBody>
                    <a:bodyPr/>
                    <a:lstStyle/>
                    <a:p>
                      <a:r>
                        <a:rPr sz="1800" b="0">
                          <a:solidFill>
                            <a:srgbClr val="23282D"/>
                          </a:solidFill>
                          <a:latin typeface="Arial"/>
                          <a:ea typeface="Arial"/>
                          <a:cs typeface="Arial"/>
                        </a:rPr>
                        <a:t>100</a:t>
                      </a:r>
                    </a:p>
                  </a:txBody>
                  <a:tcPr marL="91440" marR="91440" marT="45720" marB="45720">
                    <a:solidFill>
                      <a:srgbClr val="FFFFFF"/>
                    </a:solidFill>
                  </a:tcPr>
                </a:tc>
                <a:tc>
                  <a:txBody>
                    <a:bodyPr/>
                    <a:lstStyle/>
                    <a:p>
                      <a:r>
                        <a:rPr sz="1800" b="0">
                          <a:solidFill>
                            <a:srgbClr val="23282D"/>
                          </a:solidFill>
                          <a:latin typeface="Arial"/>
                          <a:ea typeface="Arial"/>
                          <a:cs typeface="Arial"/>
                        </a:rPr>
                        <a:t>60</a:t>
                      </a:r>
                    </a:p>
                  </a:txBody>
                  <a:tcPr marL="91440" marR="91440" marT="45720" marB="45720">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2C3E2E62-B8CE-4E0C-AD51-51D7889BF3F6}"/>
              </a:ext>
            </a:extLst>
          </p:cNvPr>
          <p:cNvSpPr>
            <a:spLocks xmlns:a="http://schemas.openxmlformats.org/drawingml/2006/main" noGrp="1"/>
          </p:cNvSpPr>
          <p:nvPr/>
        </p:nvSpPr>
        <p:spPr>
          <a:xfrm xmlns:a="http://schemas.openxmlformats.org/drawingml/2006/main">
            <a:off x="6743700" y="4581525"/>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0C0"/>
                </a:solidFill>
                <a:latin typeface="Arial"/>
                <a:ea typeface="Arial"/>
                <a:cs typeface="Arial"/>
              </a:defRPr>
            </a:pPr>
            <a:r>
              <a:rPr sz="1875" b="1">
                <a:solidFill>
                  <a:srgbClr val="0070C0"/>
                </a:solidFill>
                <a:latin typeface="Arial"/>
                <a:ea typeface="Arial"/>
                <a:cs typeface="Arial"/>
              </a:rPr>
              <a:t>100 km/h ≈ 60 mi/h, so it is slower than 100 mi/h.</a:t>
            </a:r>
          </a:p>
        </p:txBody>
      </p:sp>
      <p:sp xmlns:a="http://schemas.openxmlformats.org/drawingml/2006/main">
        <p:nvSpPr>
          <p:cNvPr id="28"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NOTES</a:t>
            </a:r>
            <a:r>
              <a:rPr lang="en-US" sz="1150" b="1" dirty="0">
                <a:solidFill>
                  <a:srgbClr val="2D3A40"/>
                </a:solidFill>
                <a:latin typeface="Arial"/>
              </a:rPr>
              <a:t xml:space="preserve">  ·  COPY LESS • UNDERSTAND MORE</a:t>
            </a:r>
          </a:p>
        </p:txBody>
      </p:sp>
      <p:sp xmlns:a="http://schemas.openxmlformats.org/drawingml/2006/main">
        <p:nvSpPr>
          <p:cNvPr id="30" name="Rounded Rectangle 17"/>
          <p:cNvSpPr/>
          <p:nvPr/>
        </p:nvSpPr>
        <p:spPr>
          <a:xfrm>
            <a:off x="502920" y="5486400"/>
            <a:ext cx="11064240" cy="77724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1" name="Rectangle 18"/>
          <p:cNvSpPr/>
          <p:nvPr/>
        </p:nvSpPr>
        <p:spPr>
          <a:xfrm>
            <a:off x="502920" y="5486400"/>
            <a:ext cx="64008" cy="77724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2" name="TextBox 19"/>
          <p:cNvSpPr txBox="1"/>
          <p:nvPr/>
        </p:nvSpPr>
        <p:spPr>
          <a:xfrm>
            <a:off x="667512" y="5596128"/>
            <a:ext cx="10771632" cy="210312"/>
          </a:xfrm>
          <a:prstGeom prst="rect">
            <a:avLst/>
          </a:prstGeom>
          <a:noFill/>
        </p:spPr>
        <p:txBody>
          <a:bodyPr wrap="square" lIns="0" tIns="0" rIns="0" bIns="0" anchor="t">
            <a:spAutoFit/>
          </a:bodyPr>
          <a:lstStyle/>
          <a:p>
            <a:pPr algn="l"/>
            <a:r>
              <a:rPr sz="1100" b="1">
                <a:solidFill>
                  <a:srgbClr val="782DA0"/>
                </a:solidFill>
                <a:latin typeface="Arial"/>
              </a:rPr>
              <a:t>EXPLAIN THE CONNECTION</a:t>
            </a:r>
          </a:p>
        </p:txBody>
      </p:sp>
      <p:sp xmlns:a="http://schemas.openxmlformats.org/drawingml/2006/main">
        <p:nvSpPr>
          <p:cNvPr id="33" name="TextBox 20"/>
          <p:cNvSpPr txBox="1"/>
          <p:nvPr/>
        </p:nvSpPr>
        <p:spPr>
          <a:xfrm>
            <a:off x="667512" y="5888736"/>
            <a:ext cx="10771632" cy="320040"/>
          </a:xfrm>
          <a:prstGeom prst="rect">
            <a:avLst/>
          </a:prstGeom>
          <a:noFill/>
        </p:spPr>
        <p:txBody>
          <a:bodyPr wrap="square" lIns="0" tIns="0" rIns="0" bIns="0" anchor="t">
            <a:spAutoFit/>
          </a:bodyPr>
          <a:lstStyle/>
          <a:p>
            <a:pPr algn="l"/>
            <a:r>
              <a:rPr sz="1600" b="0">
                <a:solidFill>
                  <a:srgbClr val="23282D"/>
                </a:solidFill>
                <a:latin typeface="Arial"/>
              </a:rPr>
              <a:t>“I used ≈ because ___. Both quantities were multiplied by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talk: connect today’s idea to prior learning.</a:t>
            </a:r>
          </a:p>
        </p:txBody>
      </p:sp>
      <p:sp>
        <p:nvSpPr>
          <p:cNvPr id="9002"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 / 41</ns3:t>
            </ns3:r>
          </ns3:p>
        </p:txBody>
      </p:sp>
    </p:spTree>
    <p:extLst>
      <p:ext uri="{BB962C8B-B14F-4D97-AF65-F5344CB8AC3E}">
        <p14:creationId xmlns:p14="http://schemas.microsoft.com/office/powerpoint/2010/main" val="1817784952"/>
      </p:ext>
    </p:extLst>
  </p:cSld>
</p:sld>
</file>

<file path=ppt/slides/slide3.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Learning Target — Session 1</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3-7 · Converting Between Systems   |   Maryland Standard 6.AT.3</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LEARNING TARGET</a:t>
            </a:r>
            <a:r>
              <a:rPr lang="en-US" sz="1150" b="1" dirty="0">
                <a:solidFill>
                  <a:srgbClr val="2D3A40"/>
                </a:solidFill>
                <a:latin typeface="Arial"/>
              </a:rPr>
              <a:t xml:space="preserve">  ·  CONVERT • COMPARE • EXPLAIN</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Today I will convert to matching units and explain what the result means.</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I can use a conversion factor to compare kilometers and miles.</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I can explain an approximate comparison using the same units.</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1600" b="0">
                <a:solidFill>
                  <a:srgbClr val="23282D"/>
                </a:solidFill>
                <a:latin typeface="Arial"/>
              </a:rPr>
              <a:t>✓ Write the given conversion factor.</a:t>
            </a:r>
          </a:p>
          <a:p>
            <a:pPr algn="l"/>
            <a:r>
              <a:rPr sz="1600" b="0">
                <a:solidFill>
                  <a:srgbClr val="23282D"/>
                </a:solidFill>
                <a:latin typeface="Arial"/>
              </a:rPr>
              <a:t>✓ Convert to matching units.</a:t>
            </a:r>
          </a:p>
          <a:p>
            <a:pPr algn="l"/>
            <a:r>
              <a:rPr sz="1600" b="0">
                <a:solidFill>
                  <a:srgbClr val="23282D"/>
                </a:solidFill>
                <a:latin typeface="Arial"/>
              </a:rPr>
              <a:t>✓ Use “about” when the factor is rounded.</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1600" b="1">
                <a:latin typeface="Arial"/>
              </a:rPr>
              <a:t>Converting units helps us understand measurements used in different places.</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MATH COMMUNITY:  Different strategies are welcome  •  Ask before telling  •  Revising your thinking is part of learning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41</a:t>
            </a:r>
          </a:p>
        </p:txBody>
      </p:sp>
    </p:spTree>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0" name="Google Shape;390;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93" name="Google Shape;393;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3-7 · Ratio Reasoning: Convert Measurements Between Systems</a:t>
            </a:r>
            <a:endParaRPr/>
          </a:p>
        </p:txBody>
      </p:sp>
      <p:sp>
        <p:nvSpPr>
          <p:cNvPr id="394" name="Google Shape;394;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96" name="Google Shape;396;p46"/>
          <p:cNvSpPr txBox="1"/>
          <p:nvPr/>
        </p:nvSpPr>
        <p:spPr>
          <a:xfrm>
            <a:off x="640080" y="1385315"/>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Convert Measurements Between Systems</a:t>
            </a:r>
            <a:endParaRPr/>
          </a:p>
        </p:txBody>
      </p:sp>
      <p:sp>
        <p:nvSpPr>
          <p:cNvPr id="397" name="Google Shape;397;p46"/>
          <p:cNvSpPr/>
          <p:nvPr/>
        </p:nvSpPr>
        <p:spPr>
          <a:xfrm>
            <a:off x="658368" y="2903219"/>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txBox="1"/>
          <p:nvPr/>
        </p:nvSpPr>
        <p:spPr>
          <a:xfrm>
            <a:off x="640080" y="3264407"/>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Rewriting a customary measurement as a metric one, or the reverse, so two amounts can be compared.</a:t>
            </a:r>
            <a:endParaRPr/>
          </a:p>
        </p:txBody>
      </p:sp>
      <p:sp>
        <p:nvSpPr>
          <p:cNvPr id="399" name="Google Shape;399;p46"/>
          <p:cNvSpPr/>
          <p:nvPr/>
        </p:nvSpPr>
        <p:spPr>
          <a:xfrm>
            <a:off x="640080" y="474116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p:nvPr/>
        </p:nvSpPr>
        <p:spPr>
          <a:xfrm>
            <a:off x="640080" y="474116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932688" y="491490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2" name="Google Shape;402;p46"/>
          <p:cNvSpPr txBox="1"/>
          <p:nvPr/>
        </p:nvSpPr>
        <p:spPr>
          <a:xfrm>
            <a:off x="932688" y="521665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100 kilometers ≈ 60 miles</a:t>
            </a:r>
            <a:endParaRPr/>
          </a:p>
        </p:txBody>
      </p:sp>
      <p:pic>
        <p:nvPicPr>
          <p:cNvPr descr="measurement.png" id="403" name="Google Shape;403;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41</a:t>
            </a:r>
          </a:p>
        </p:txBody>
      </p:sp>
      <p:grpSp>
        <p:nvGrpSpPr>
          <p:cNvPr id="9003" name="TEACH-5-student-move" descr="TEACH 5 · Facilitate student interactions and academic talk"/>
          <p:cNvGrpSpPr/>
          <p:nvPr/>
        </p:nvGrpSpPr>
        <p:grpSpPr>
          <a:xfrm>
            <a:off x="502920" y="5829300"/>
            <a:ext cx="11186160" cy="457200"/>
            <a:chOff x="502920" y="5829300"/>
            <a:chExt cx="11186160" cy="457200"/>
          </a:xfrm>
        </p:grpSpPr>
        <p:sp>
          <p:nvSpPr>
            <p:cNvPr id="9004" name="TEACH-move-card"/>
            <p:cNvSpPr/>
            <p:nvPr/>
          </p:nvSpPr>
          <p:spPr>
            <a:xfrm>
              <a:off x="502920" y="582930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916168"/>
              <a:ext cx="100584" cy="28346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82930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8" name="Google Shape;408;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2 of 6</a:t>
            </a:r>
            <a:endParaRPr/>
          </a:p>
        </p:txBody>
      </p:sp>
      <p:sp>
        <p:nvSpPr>
          <p:cNvPr id="411" name="Google Shape;411;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3-7 · Ratio Reasoning: Convert Measurements Between Systems</a:t>
            </a:r>
            <a:endParaRPr/>
          </a:p>
        </p:txBody>
      </p:sp>
      <p:sp>
        <p:nvSpPr>
          <p:cNvPr id="412" name="Google Shape;412;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14" name="Google Shape;414;p47"/>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Conversion factor</a:t>
            </a:r>
            <a:endParaRPr/>
          </a:p>
        </p:txBody>
      </p:sp>
      <p:sp>
        <p:nvSpPr>
          <p:cNvPr id="415" name="Google Shape;415;p47"/>
          <p:cNvSpPr/>
          <p:nvPr/>
        </p:nvSpPr>
        <p:spPr>
          <a:xfrm>
            <a:off x="658368" y="2561844"/>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47"/>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ratio that links a unit in one system to a unit in the other, such as 1 mile to about 1.609 kilometers.</a:t>
            </a:r>
            <a:endParaRPr/>
          </a:p>
        </p:txBody>
      </p:sp>
      <p:sp>
        <p:nvSpPr>
          <p:cNvPr id="417" name="Google Shape;417;p47"/>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7"/>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20" name="Google Shape;420;p47"/>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1 lb ≈ 0.45 kg · 1 in ≈ 2.54 cm</a:t>
            </a:r>
            <a:endParaRPr/>
          </a:p>
        </p:txBody>
      </p:sp>
      <p:pic>
        <p:nvPicPr>
          <p:cNvPr descr="measurement.png" id="421" name="Google Shape;421;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41</a:t>
            </a:r>
          </a:p>
        </p:txBody>
      </p:sp>
      <p:grpSp>
        <p:nvGrpSpPr>
          <p:cNvPr id="9003" name="TEACH-5-student-move" descr="TEACH 5 · Facilitate student interactions and academic talk"/>
          <p:cNvGrpSpPr/>
          <p:nvPr/>
        </p:nvGrpSpPr>
        <p:grpSpPr>
          <a:xfrm>
            <a:off x="502920" y="5751576"/>
            <a:ext cx="11186160" cy="548640"/>
            <a:chOff x="502920" y="5751576"/>
            <a:chExt cx="11186160" cy="548640"/>
          </a:xfrm>
        </p:grpSpPr>
        <p:sp>
          <p:nvSpPr>
            <p:cNvPr id="900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6" name="Google Shape;426;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3 of 6</a:t>
            </a:r>
            <a:endParaRPr/>
          </a:p>
        </p:txBody>
      </p:sp>
      <p:sp>
        <p:nvSpPr>
          <p:cNvPr id="429" name="Google Shape;429;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3-7 · Ratio Reasoning: Convert Measurements Between Systems</a:t>
            </a:r>
            <a:endParaRPr/>
          </a:p>
        </p:txBody>
      </p:sp>
      <p:sp>
        <p:nvSpPr>
          <p:cNvPr id="430" name="Google Shape;430;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32" name="Google Shape;432;p48"/>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Customary system</a:t>
            </a:r>
            <a:endParaRPr/>
          </a:p>
        </p:txBody>
      </p:sp>
      <p:sp>
        <p:nvSpPr>
          <p:cNvPr id="433" name="Google Shape;433;p48"/>
          <p:cNvSpPr/>
          <p:nvPr/>
        </p:nvSpPr>
        <p:spPr>
          <a:xfrm>
            <a:off x="658368" y="2561844"/>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8"/>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measurement system used in the United States: inches, feet, miles, ounces, pounds, cups, quarts, gallons.</a:t>
            </a:r>
            <a:endParaRPr/>
          </a:p>
        </p:txBody>
      </p:sp>
      <p:sp>
        <p:nvSpPr>
          <p:cNvPr id="435" name="Google Shape;435;p48"/>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8"/>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38" name="Google Shape;438;p48"/>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in · ft · mi · oz · lb · qt · gal</a:t>
            </a:r>
            <a:endParaRPr/>
          </a:p>
        </p:txBody>
      </p:sp>
      <p:pic>
        <p:nvPicPr>
          <p:cNvPr descr="measurement.png" id="439" name="Google Shape;439;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41</a:t>
            </a:r>
          </a:p>
        </p:txBody>
      </p:sp>
      <p:grpSp>
        <p:nvGrpSpPr>
          <p:cNvPr id="9003" name="TEACH-5-student-move" descr="TEACH 5 · Facilitate student interactions and academic talk"/>
          <p:cNvGrpSpPr/>
          <p:nvPr/>
        </p:nvGrpSpPr>
        <p:grpSpPr>
          <a:xfrm>
            <a:off x="502920" y="5751576"/>
            <a:ext cx="11186160" cy="548640"/>
            <a:chOff x="502920" y="5751576"/>
            <a:chExt cx="11186160" cy="548640"/>
          </a:xfrm>
        </p:grpSpPr>
        <p:sp>
          <p:nvSpPr>
            <p:cNvPr id="900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TAKE TURNS  ·  </a:t>
              </a:r>
              <a:r>
                <a:rPr lang="en-US" sz="1400" dirty="0">
                  <a:solidFill>
                    <a:srgbClr val="13303A"/>
                  </a:solidFill>
                  <a:latin typeface="Arial"/>
                </a:rPr>
                <a:t>One explains, one asks a question. Then switch, so both of you talk.</a:t>
              </a:r>
              <a:endParaRPr lang="en-US" sz="14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4" name="Google Shape;444;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447" name="Google Shape;447;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3-7 · Ratio Reasoning: Convert Measurements Between Systems</a:t>
            </a:r>
            <a:endParaRPr/>
          </a:p>
        </p:txBody>
      </p:sp>
      <p:sp>
        <p:nvSpPr>
          <p:cNvPr id="448" name="Google Shape;448;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0" name="Google Shape;450;p49"/>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Metric system</a:t>
            </a:r>
            <a:endParaRPr/>
          </a:p>
        </p:txBody>
      </p:sp>
      <p:sp>
        <p:nvSpPr>
          <p:cNvPr id="451" name="Google Shape;451;p49"/>
          <p:cNvSpPr/>
          <p:nvPr/>
        </p:nvSpPr>
        <p:spPr>
          <a:xfrm>
            <a:off x="658368" y="2561844"/>
            <a:ext cx="154533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49"/>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measurement system used in most of the world, built on tens: centimeters, meters, kilometers, grams, kilograms, liters.</a:t>
            </a:r>
            <a:endParaRPr/>
          </a:p>
        </p:txBody>
      </p:sp>
      <p:sp>
        <p:nvSpPr>
          <p:cNvPr id="453" name="Google Shape;453;p49"/>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9"/>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6" name="Google Shape;456;p49"/>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cm · m · km · g · kg · mL · L</a:t>
            </a:r>
            <a:endParaRPr/>
          </a:p>
        </p:txBody>
      </p:sp>
      <p:pic>
        <p:nvPicPr>
          <p:cNvPr descr="measurement.png" id="457" name="Google Shape;457;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7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“Metric system” to explain</a:t>
            </a:r>
            <a:endParaRPr lang="en-US" sz="2000"/>
          </a:p>
          <a:p>
            <a:pPr>
              <a:lnSpc>
                <a:spcPts val="2400"/>
              </a:lnSpc>
              <a:buNone/>
            </a:pPr>
            <a:r>
              <a:rPr lang="en-US" sz="2000">
                <a:solidFill>
                  <a:srgbClr val="174D60"/>
                </a:solidFill>
                <a:latin typeface="Arial"/>
              </a:rPr>
              <a:t>the example. Point to 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2" name="Google Shape;462;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65" name="Google Shape;465;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3-7 · Ratio Reasoning: Convert Measurements Between Systems</a:t>
            </a:r>
            <a:endParaRPr/>
          </a:p>
        </p:txBody>
      </p:sp>
      <p:sp>
        <p:nvSpPr>
          <p:cNvPr id="466" name="Google Shape;466;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8" name="Google Shape;468;p50"/>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Approximately</a:t>
            </a:r>
            <a:endParaRPr/>
          </a:p>
        </p:txBody>
      </p:sp>
      <p:sp>
        <p:nvSpPr>
          <p:cNvPr id="469" name="Google Shape;469;p50"/>
          <p:cNvSpPr/>
          <p:nvPr/>
        </p:nvSpPr>
        <p:spPr>
          <a:xfrm>
            <a:off x="658368" y="2561844"/>
            <a:ext cx="154533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50"/>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Close to, but not exactly equal. Conversions between systems are almost always approximate, so they use the ≈ sign.</a:t>
            </a:r>
            <a:endParaRPr/>
          </a:p>
        </p:txBody>
      </p:sp>
      <p:sp>
        <p:nvSpPr>
          <p:cNvPr id="471" name="Google Shape;471;p50"/>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0"/>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4" name="Google Shape;474;p50"/>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1 km ≈ 0.6 mi, not exactly 0.6</a:t>
            </a:r>
            <a:endParaRPr/>
          </a:p>
        </p:txBody>
      </p:sp>
      <p:pic>
        <p:nvPicPr>
          <p:cNvPr descr="estimate.png" id="475" name="Google Shape;475;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“Approximately” to explain</a:t>
            </a:r>
            <a:endParaRPr lang="en-US" sz="2000"/>
          </a:p>
          <a:p>
            <a:pPr>
              <a:lnSpc>
                <a:spcPts val="2400"/>
              </a:lnSpc>
              <a:buNone/>
            </a:pPr>
            <a:r>
              <a:rPr lang="en-US" sz="2000">
                <a:solidFill>
                  <a:srgbClr val="174D60"/>
                </a:solidFill>
                <a:latin typeface="Arial"/>
              </a:rPr>
              <a:t>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0" name="Google Shape;480;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83" name="Google Shape;483;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3-7 · Ratio Reasoning: Convert Measurements Between Systems</a:t>
            </a:r>
            <a:endParaRPr/>
          </a:p>
        </p:txBody>
      </p:sp>
      <p:sp>
        <p:nvSpPr>
          <p:cNvPr id="484" name="Google Shape;484;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6" name="Google Shape;486;p51"/>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Ratio table</a:t>
            </a:r>
            <a:endParaRPr/>
          </a:p>
        </p:txBody>
      </p:sp>
      <p:sp>
        <p:nvSpPr>
          <p:cNvPr id="487" name="Google Shape;487;p51"/>
          <p:cNvSpPr/>
          <p:nvPr/>
        </p:nvSpPr>
        <p:spPr>
          <a:xfrm>
            <a:off x="658368" y="2561844"/>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51"/>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table of equal ratios used to scale a conversion factor up to the amount you actually need.</a:t>
            </a:r>
            <a:endParaRPr/>
          </a:p>
        </p:txBody>
      </p:sp>
      <p:sp>
        <p:nvSpPr>
          <p:cNvPr id="489" name="Google Shape;489;p51"/>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2" name="Google Shape;492;p51"/>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km: 1, 10, 100 · mi: 0.6, 6, 60</a:t>
            </a:r>
            <a:endParaRPr/>
          </a:p>
        </p:txBody>
      </p:sp>
      <p:pic>
        <p:nvPicPr>
          <p:cNvPr descr="ratio-table.png" id="493" name="Google Shape;493;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“Ratio table”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60" name="Google Shape;560;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1" name="Google Shape;561;p55"/>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62" name="Google Shape;562;p55"/>
          <p:cNvSpPr txBox="1"/>
          <p:nvPr/>
        </p:nvSpPr>
        <p:spPr>
          <a:xfrm>
            <a:off x="484560" y="936100"/>
            <a:ext cx="7705762"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descr="C:\Users\e402540\Downloads\kanchana\ePress PPT creation\sn_47fe6-1080mp4\OPS\img\.assets\2a0796b726704347b26e36e181f2be1a\narm24_c10307_se_001a-dig.png" id="563" name="Google Shape;563;p55"/>
          <p:cNvPicPr preferRelativeResize="0"/>
          <p:nvPr/>
        </p:nvPicPr>
        <p:blipFill rotWithShape="1">
          <a:blip r:embed="rId2">
            <a:alphaModFix/>
          </a:blip>
          <a:srcRect b="0" l="0" r="0" t="0"/>
          <a:stretch/>
        </p:blipFill>
        <p:spPr>
          <a:xfrm>
            <a:off x="4133459" y="1025618"/>
            <a:ext cx="4719540" cy="3636000"/>
          </a:xfrm>
          <a:prstGeom prst="rect">
            <a:avLst/>
          </a:prstGeom>
          <a:noFill/>
          <a:ln>
            <a:noFill/>
          </a:ln>
        </p:spPr>
      </p:pic>
      <p:pic>
        <p:nvPicPr>
          <p:cNvPr id="564" name="Google Shape;564;p55"/>
          <p:cNvPicPr preferRelativeResize="0"/>
          <p:nvPr/>
        </p:nvPicPr>
        <p:blipFill rotWithShape="1">
          <a:blip r:embed="rId3">
            <a:alphaModFix/>
          </a:blip>
          <a:srcRect b="0" l="0" r="0" t="0"/>
          <a:stretch/>
        </p:blipFill>
        <p:spPr>
          <a:xfrm>
            <a:off x="484560" y="4687802"/>
            <a:ext cx="5054600" cy="838200"/>
          </a:xfrm>
          <a:prstGeom prst="rect">
            <a:avLst/>
          </a:prstGeom>
          <a:noFill/>
          <a:ln>
            <a:noFill/>
          </a:ln>
        </p:spPr>
      </p:pic>
      <p:sp>
        <p:nvSpPr>
          <p:cNvPr id="565" name="Google Shape;565;p55"/>
          <p:cNvSpPr txBox="1"/>
          <p:nvPr/>
        </p:nvSpPr>
        <p:spPr>
          <a:xfrm>
            <a:off x="3344577" y="4845120"/>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66" name="Google Shape;566;p55"/>
          <p:cNvSpPr/>
          <p:nvPr/>
        </p:nvSpPr>
        <p:spPr>
          <a:xfrm>
            <a:off x="697756" y="5503125"/>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strategies can you use to help you be more successful in math class?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41</a:t>
            </a:r>
          </a:p>
        </p:txBody>
      </p:sp>
      <p:grpSp>
        <p:nvGrpSpPr>
          <p:cNvPr id="9003" name="TEACH-3-student-move" descr="TEACH 3 · Use intentional questioning to deepen learning"/>
          <p:cNvGrpSpPr/>
          <p:nvPr/>
        </p:nvGrpSpPr>
        <p:grpSpPr>
          <a:xfrm>
            <a:off x="6187440" y="4826469"/>
            <a:ext cx="5501640" cy="594360"/>
            <a:chOff x="6187440" y="4826469"/>
            <a:chExt cx="5501640" cy="594360"/>
          </a:xfrm>
        </p:grpSpPr>
        <p:sp>
          <p:nvSpPr>
            <p:cNvPr id="9004" name="TEACH-move-card"/>
            <p:cNvSpPr/>
            <p:nvPr/>
          </p:nvSpPr>
          <p:spPr>
            <a:xfrm>
              <a:off x="6187440" y="482646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6233160" y="4939397"/>
              <a:ext cx="100584" cy="36850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6507480" y="482646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241" name="Google Shape;241;p41"/>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lang="en-US" sz="2800">
                <a:solidFill>
                  <a:srgbClr val="782DA0"/>
                </a:solidFill>
                <a:latin typeface="Arial"/>
                <a:ea typeface="Arial"/>
                <a:cs typeface="Arial"/>
                <a:sym typeface="Arial"/>
              </a:rPr>
              <a:t>More or Less Than 5</a:t>
            </a:r>
            <a:endParaRPr/>
          </a:p>
        </p:txBody>
      </p:sp>
      <p:sp>
        <p:nvSpPr>
          <p:cNvPr id="242" name="Google Shape;242;p41"/>
          <p:cNvSpPr txBox="1"/>
          <p:nvPr/>
        </p:nvSpPr>
        <p:spPr>
          <a:xfrm>
            <a:off x="956343" y="2775548"/>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rgbClr val="23282D"/>
                </a:solidFill>
                <a:latin typeface="Cambria Math"/>
                <a:ea typeface="Cambria Math"/>
                <a:cs typeface="Cambria Math"/>
                <a:sym typeface="Cambria Math"/>
              </a:rPr>
              <a:t xml:space="preserve">13.58 </a:t>
            </a:r>
            <a:r>
              <a:rPr lang="en-US" sz="2800">
                <a:solidFill>
                  <a:schemeClr val="dk1"/>
                </a:solidFill>
                <a:latin typeface="Cambria Math"/>
                <a:ea typeface="Cambria Math"/>
                <a:cs typeface="Cambria Math"/>
                <a:sym typeface="Cambria Math"/>
              </a:rPr>
              <a:t>−</a:t>
            </a:r>
            <a:r>
              <a:rPr lang="en-US" sz="2800">
                <a:solidFill>
                  <a:srgbClr val="23282D"/>
                </a:solidFill>
                <a:latin typeface="Cambria Math"/>
                <a:ea typeface="Cambria Math"/>
                <a:cs typeface="Cambria Math"/>
                <a:sym typeface="Cambria Math"/>
              </a:rPr>
              <a:t xml:space="preserve"> 7.08</a:t>
            </a:r>
            <a:endParaRPr/>
          </a:p>
        </p:txBody>
      </p:sp>
      <p:sp>
        <p:nvSpPr>
          <p:cNvPr id="243" name="Google Shape;243;p41"/>
          <p:cNvSpPr txBox="1"/>
          <p:nvPr/>
        </p:nvSpPr>
        <p:spPr>
          <a:xfrm>
            <a:off x="4188274" y="2775546"/>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mbria Math"/>
                <a:ea typeface="Cambria Math"/>
                <a:cs typeface="Cambria Math"/>
                <a:sym typeface="Cambria Math"/>
              </a:rPr>
              <a:t>18.09 − 13.67</a:t>
            </a:r>
            <a:endParaRPr i="1" sz="2800">
              <a:solidFill>
                <a:srgbClr val="262626"/>
              </a:solidFill>
              <a:latin typeface="Cambria Math"/>
              <a:ea typeface="Cambria Math"/>
              <a:cs typeface="Cambria Math"/>
              <a:sym typeface="Cambria Math"/>
            </a:endParaRPr>
          </a:p>
        </p:txBody>
      </p:sp>
      <p:sp>
        <p:nvSpPr>
          <p:cNvPr id="244" name="Google Shape;244;p41"/>
          <p:cNvSpPr txBox="1"/>
          <p:nvPr/>
        </p:nvSpPr>
        <p:spPr>
          <a:xfrm>
            <a:off x="7420206" y="2775547"/>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rgbClr val="23282D"/>
                </a:solidFill>
                <a:latin typeface="Cambria Math"/>
                <a:ea typeface="Cambria Math"/>
                <a:cs typeface="Cambria Math"/>
                <a:sym typeface="Cambria Math"/>
              </a:rPr>
              <a:t xml:space="preserve">7.86 </a:t>
            </a:r>
            <a:r>
              <a:rPr lang="en-US" sz="2800">
                <a:solidFill>
                  <a:schemeClr val="dk1"/>
                </a:solidFill>
                <a:latin typeface="Cambria Math"/>
                <a:ea typeface="Cambria Math"/>
                <a:cs typeface="Cambria Math"/>
                <a:sym typeface="Cambria Math"/>
              </a:rPr>
              <a:t>−</a:t>
            </a:r>
            <a:r>
              <a:rPr lang="en-US" sz="2800">
                <a:solidFill>
                  <a:srgbClr val="23282D"/>
                </a:solidFill>
                <a:latin typeface="Cambria Math"/>
                <a:ea typeface="Cambria Math"/>
                <a:cs typeface="Cambria Math"/>
                <a:sym typeface="Cambria Math"/>
              </a:rPr>
              <a:t xml:space="preserve"> 2.33</a:t>
            </a:r>
            <a:endParaRPr/>
          </a:p>
        </p:txBody>
      </p:sp>
      <p:sp>
        <p:nvSpPr>
          <p:cNvPr id="245"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ESTIMATE • DEFEND • COMPARE</a:t>
            </a:r>
          </a:p>
        </p:txBody>
      </p:sp>
      <p:sp>
        <p:nvSpPr>
          <p:cNvPr id="247" name="TextBox 20"/>
          <p:cNvSpPr txBox="1"/>
          <p:nvPr/>
        </p:nvSpPr>
        <p:spPr>
          <a:xfrm>
            <a:off x="502920" y="1124712"/>
            <a:ext cx="7589520" cy="548640"/>
          </a:xfrm>
          <a:prstGeom prst="rect">
            <a:avLst/>
          </a:prstGeom>
          <a:noFill/>
        </p:spPr>
        <p:txBody>
          <a:bodyPr wrap="square" lIns="0" tIns="0" rIns="0" bIns="0" anchor="t">
            <a:spAutoFit/>
          </a:bodyPr>
          <a:lstStyle/>
          <a:p>
            <a:pPr algn="l"/>
            <a:r>
              <a:rPr sz="1700" b="0">
                <a:solidFill>
                  <a:srgbClr val="23282D"/>
                </a:solidFill>
                <a:latin typeface="Arial"/>
              </a:rPr>
              <a:t>Estimate first. Choose one expression and defend your estimate.</a:t>
            </a:r>
          </a:p>
        </p:txBody>
      </p:sp>
      <p:sp>
        <p:nvSpPr>
          <p:cNvPr id="248" name="Rounded Rectangle 17"/>
          <p:cNvSpPr/>
          <p:nvPr/>
        </p:nvSpPr>
        <p:spPr>
          <a:xfrm>
            <a:off x="502920" y="4800600"/>
            <a:ext cx="8686800" cy="91440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Rectangle 18"/>
          <p:cNvSpPr/>
          <p:nvPr/>
        </p:nvSpPr>
        <p:spPr>
          <a:xfrm>
            <a:off x="502920" y="4800600"/>
            <a:ext cx="64008" cy="91440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19"/>
          <p:cNvSpPr txBox="1"/>
          <p:nvPr/>
        </p:nvSpPr>
        <p:spPr>
          <a:xfrm>
            <a:off x="667512" y="4910328"/>
            <a:ext cx="8394192" cy="210312"/>
          </a:xfrm>
          <a:prstGeom prst="rect">
            <a:avLst/>
          </a:prstGeom>
          <a:noFill/>
        </p:spPr>
        <p:txBody>
          <a:bodyPr wrap="square" lIns="0" tIns="0" rIns="0" bIns="0" anchor="t">
            <a:spAutoFit/>
          </a:bodyPr>
          <a:lstStyle/>
          <a:p>
            <a:pPr algn="l"/>
            <a:r>
              <a:rPr sz="1100" b="1">
                <a:solidFill>
                  <a:srgbClr val="782DA0"/>
                </a:solidFill>
                <a:latin typeface="Arial"/>
              </a:rPr>
              <a:t>EXPLAIN YOUR THINKING</a:t>
            </a:r>
          </a:p>
        </p:txBody>
      </p:sp>
      <p:sp>
        <p:nvSpPr>
          <p:cNvPr id="251" name="TextBox 20"/>
          <p:cNvSpPr txBox="1"/>
          <p:nvPr/>
        </p:nvSpPr>
        <p:spPr>
          <a:xfrm>
            <a:off x="667512" y="5202936"/>
            <a:ext cx="8394192" cy="457200"/>
          </a:xfrm>
          <a:prstGeom prst="rect">
            <a:avLst/>
          </a:prstGeom>
          <a:noFill/>
        </p:spPr>
        <p:txBody>
          <a:bodyPr wrap="square" lIns="0" tIns="0" rIns="0" bIns="0" anchor="t">
            <a:spAutoFit/>
          </a:bodyPr>
          <a:lstStyle/>
          <a:p>
            <a:pPr algn="l"/>
            <a:r>
              <a:rPr sz="1600" b="0">
                <a:solidFill>
                  <a:srgbClr val="23282D"/>
                </a:solidFill>
                <a:latin typeface="Arial"/>
              </a:rPr>
              <a:t>“I think it is more/less than 5 because ___.” Compare strategies.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cxnSp>
        <p:nvCxnSpPr>
          <p:cNvPr id="277" name="Google Shape;277;p45"/>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278" name="Google Shape;278;p45"/>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lang="en-US" sz="2800">
                <a:solidFill>
                  <a:srgbClr val="23282D"/>
                </a:solidFill>
                <a:highlight>
                  <a:srgbClr val="FFF2A8"/>
                </a:highlight>
                <a:latin typeface="Arial"/>
                <a:ea typeface="Arial"/>
                <a:cs typeface="Arial"/>
                <a:sym typeface="Arial"/>
              </a:rPr>
              <a:t>Speed</a:t>
            </a:r>
            <a:r>
              <a:rPr b="1" lang="en-US" sz="2800">
                <a:solidFill>
                  <a:srgbClr val="782DA0"/>
                </a:solidFill>
                <a:latin typeface="Arial"/>
                <a:ea typeface="Arial"/>
                <a:cs typeface="Arial"/>
                <a:sym typeface="Arial"/>
              </a:rPr>
              <a:t xml:space="preserve"> Limit</a:t>
            </a:r>
            <a:endParaRPr/>
          </a:p>
        </p:txBody>
      </p:sp>
      <p:sp>
        <p:nvSpPr>
          <p:cNvPr id="279" name="Google Shape;279;p45"/>
          <p:cNvSpPr txBox="1"/>
          <p:nvPr/>
        </p:nvSpPr>
        <p:spPr>
          <a:xfrm>
            <a:off x="484565" y="936100"/>
            <a:ext cx="6598987" cy="4351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 xml:space="preserve">Evelyn is visiting family in Canada. She sees the sign shown on the highway and wonders whether the </a:t>
            </a:r>
            <a:r>
              <a:rPr lang="en-US" sz="2800" b="1">
                <a:solidFill>
                  <a:srgbClr val="23282D"/>
                </a:solidFill>
                <a:highlight>
                  <a:srgbClr val="FFF2A8"/>
                </a:highlight>
                <a:latin typeface="Arial"/>
                <a:ea typeface="Arial"/>
                <a:cs typeface="Arial"/>
                <a:sym typeface="Arial"/>
              </a:rPr>
              <a:t>speed</a:t>
            </a:r>
            <a:r>
              <a:rPr lang="en-US" sz="2800">
                <a:solidFill>
                  <a:srgbClr val="23282D"/>
                </a:solidFill>
                <a:latin typeface="Arial"/>
                <a:ea typeface="Arial"/>
                <a:cs typeface="Arial"/>
                <a:sym typeface="Arial"/>
              </a:rPr>
              <a:t xml:space="preserve"> limit shown is faster or slower than 100 miles per hour.</a:t>
            </a:r>
            <a:endParaRPr/>
          </a:p>
          <a:p>
            <a:pPr indent="0" lvl="0" marL="0" marR="0" rtl="0" algn="l">
              <a:lnSpc>
                <a:spcPct val="100000"/>
              </a:lnSpc>
              <a:spcBef>
                <a:spcPts val="1800"/>
              </a:spcBef>
              <a:spcAft>
                <a:spcPts val="0"/>
              </a:spcAft>
              <a:buClr>
                <a:srgbClr val="262626"/>
              </a:buClr>
              <a:buSzPts val="2800"/>
              <a:buFont typeface="Arial"/>
              <a:buNone/>
            </a:pPr>
            <a:r>
              <a:rPr b="1" lang="en-US" sz="2800">
                <a:solidFill>
                  <a:srgbClr val="23282D"/>
                </a:solidFill>
                <a:latin typeface="Arial"/>
                <a:ea typeface="Arial"/>
                <a:cs typeface="Arial"/>
                <a:sym typeface="Arial"/>
              </a:rPr>
              <a:t>How can Evelyn determine which is faster: 100 kilometers per hour or 100 miles per hour?</a:t>
            </a:r>
            <a:endParaRPr/>
          </a:p>
        </p:txBody>
      </p:sp>
      <p:pic>
        <p:nvPicPr>
          <p:cNvPr descr="A stop sign on the side of the road&#10;&#10;Description automatically generated" id="280" name="Google Shape;280;p45"/>
          <p:cNvPicPr preferRelativeResize="0"/>
          <p:nvPr/>
        </p:nvPicPr>
        <p:blipFill rotWithShape="1">
          <a:blip r:embed="rId3">
            <a:alphaModFix/>
          </a:blip>
          <a:srcRect b="0" l="0" r="0" t="0"/>
          <a:stretch/>
        </p:blipFill>
        <p:spPr>
          <a:xfrm>
            <a:off x="8073780" y="1222131"/>
            <a:ext cx="3743081" cy="5015542"/>
          </a:xfrm>
          <a:prstGeom prst="rect">
            <a:avLst/>
          </a:prstGeom>
          <a:noFill/>
          <a:ln>
            <a:noFill/>
          </a:ln>
        </p:spPr>
      </p:pic>
      <p:sp>
        <p:nvSpPr>
          <p:cNvPr id="28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283" name="Rounded Rectangle 17"/>
          <p:cNvSpPr/>
          <p:nvPr/>
        </p:nvSpPr>
        <p:spPr>
          <a:xfrm>
            <a:off x="502920" y="4800600"/>
            <a:ext cx="8686800" cy="96012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Rectangle 18"/>
          <p:cNvSpPr/>
          <p:nvPr/>
        </p:nvSpPr>
        <p:spPr>
          <a:xfrm>
            <a:off x="502920" y="4800600"/>
            <a:ext cx="64008" cy="96012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TextBox 19"/>
          <p:cNvSpPr txBox="1"/>
          <p:nvPr/>
        </p:nvSpPr>
        <p:spPr>
          <a:xfrm>
            <a:off x="667512" y="4910328"/>
            <a:ext cx="8394192" cy="210312"/>
          </a:xfrm>
          <a:prstGeom prst="rect">
            <a:avLst/>
          </a:prstGeom>
          <a:noFill/>
        </p:spPr>
        <p:txBody>
          <a:bodyPr wrap="square" lIns="0" tIns="0" rIns="0" bIns="0" anchor="t">
            <a:spAutoFit/>
          </a:bodyPr>
          <a:lstStyle/>
          <a:p>
            <a:pPr algn="l"/>
            <a:r>
              <a:rPr sz="1100" b="1">
                <a:solidFill>
                  <a:srgbClr val="782DA0"/>
                </a:solidFill>
                <a:latin typeface="Arial"/>
              </a:rPr>
              <a:t>COMPARE FAIRLY</a:t>
            </a:r>
          </a:p>
        </p:txBody>
      </p:sp>
      <p:sp>
        <p:nvSpPr>
          <p:cNvPr id="286" name="TextBox 20"/>
          <p:cNvSpPr txBox="1"/>
          <p:nvPr/>
        </p:nvSpPr>
        <p:spPr>
          <a:xfrm>
            <a:off x="667512" y="5202936"/>
            <a:ext cx="8394192" cy="502920"/>
          </a:xfrm>
          <a:prstGeom prst="rect">
            <a:avLst/>
          </a:prstGeom>
          <a:noFill/>
        </p:spPr>
        <p:txBody>
          <a:bodyPr wrap="square" lIns="0" tIns="0" rIns="0" bIns="0" anchor="t">
            <a:spAutoFit/>
          </a:bodyPr>
          <a:lstStyle/>
          <a:p>
            <a:pPr algn="l"/>
            <a:r>
              <a:rPr sz="1600" b="0">
                <a:solidFill>
                  <a:srgbClr val="23282D"/>
                </a:solidFill>
                <a:latin typeface="Arial"/>
              </a:rPr>
              <a:t>“Both numbers are 100, but the units differ. I need to convert ___ to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41</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3A43D4-73A3-4FD7-8D6A-D5B4D03A6B53}"/>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75" b="1">
                <ns0:solidFill>
                  <ns0:srgbClr val="782DA0"/>
                </ns0:solidFill>
                <ns0:latin typeface="Arial"/>
                <ns0:ea typeface="Arial"/>
                <ns0:cs typeface="Arial"/>
              </ns0:defRPr>
            </ns0:pPr>
            <ns0:r>
              <ns0:rPr sz="2800" b="1">
                <ns0:solidFill>
                  <ns0:srgbClr val="782DA0"/>
                </ns0:solidFill>
                <ns0:latin typeface="Arial"/>
                <ns0:ea typeface="Arial"/>
                <ns0:cs typeface="Arial"/>
              </ns0:rPr>
              <ns0:t>Kilometers → Miles</ns0:t>
            </ns0:r>
          </ns0:p>
        </p:txBody>
      </p:sp>
      <p:sp>
        <p:nvSpPr>
          <p:cNvPr id="2" name="">
            <a:extLst xmlns:a="http://schemas.openxmlformats.org/drawingml/2006/main">
              <a:ext uri="{FF2B5EF4-FFF2-40B4-BE49-F238E27FC236}">
                <a16:creationId xmlns:a16="http://schemas.microsoft.com/office/drawing/2014/main" id="{F4B03157-1C24-4D44-B2D4-7E3D396D6BCB}"/>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Kilometers are </a:t>
            </a:r>
            <a:r>
              <a:rPr sz="2250" b="1">
                <a:solidFill>
                  <a:srgbClr val="23282D"/>
                </a:solidFill>
                <a:highlight>
                  <a:srgbClr val="FFF2A8"/>
                </a:highlight>
                <a:latin typeface="Arial"/>
                <a:ea typeface="Arial"/>
                <a:cs typeface="Arial"/>
              </a:rPr>
              <a:t>metric units</a:t>
            </a:r>
            <a:r>
              <a:rPr sz="2250" b="0">
                <a:solidFill>
                  <a:srgbClr val="23282D"/>
                </a:solidFill>
                <a:latin typeface="Arial"/>
                <a:ea typeface="Arial"/>
                <a:cs typeface="Arial"/>
              </a:rPr>
              <a:t xml:space="preserve">. Miles are </a:t>
            </a:r>
            <a:r>
              <a:rPr sz="2250" b="1">
                <a:solidFill>
                  <a:srgbClr val="23282D"/>
                </a:solidFill>
                <a:highlight>
                  <a:srgbClr val="FFF2A8"/>
                </a:highlight>
                <a:latin typeface="Arial"/>
                <a:ea typeface="Arial"/>
                <a:cs typeface="Arial"/>
              </a:rPr>
              <a:t>customary units</a:t>
            </a:r>
            <a:r>
              <a:rPr sz="2250" b="0">
                <a:solidFill>
                  <a:srgbClr val="2328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A2576C60-2318-4850-A5B4-5667F07A3660}"/>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1">
                <a:solidFill>
                  <a:srgbClr val="23282D"/>
                </a:solidFill>
                <a:highlight>
                  <a:srgbClr val="FFF2A8"/>
                </a:highlight>
                <a:latin typeface="Arial"/>
                <a:ea typeface="Arial"/>
                <a:cs typeface="Arial"/>
              </a:rPr>
              <a:t>Speed</a:t>
            </a:r>
            <a:r>
              <a:rPr sz="2250" b="0">
                <a:solidFill>
                  <a:srgbClr val="23282D"/>
                </a:solidFill>
                <a:latin typeface="Arial"/>
                <a:ea typeface="Arial"/>
                <a:cs typeface="Arial"/>
              </a:rPr>
              <a:t xml:space="preserve"> tells distance traveled per unit of time.</a:t>
            </a:r>
          </a:p>
        </p:txBody>
      </p:sp>
      <p:sp>
        <p:nvSpPr>
          <p:cNvPr id="4" name="">
            <a:extLst xmlns:a="http://schemas.openxmlformats.org/drawingml/2006/main">
              <a:ext uri="{FF2B5EF4-FFF2-40B4-BE49-F238E27FC236}">
                <a16:creationId xmlns:a16="http://schemas.microsoft.com/office/drawing/2014/main" id="{EDE91281-85C0-45F2-AFBD-93B4275BC031}"/>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Use the </a:t>
            </a:r>
            <a:r>
              <a:rPr sz="2250" b="1">
                <a:solidFill>
                  <a:srgbClr val="23282D"/>
                </a:solidFill>
                <a:highlight>
                  <a:srgbClr val="FFF2A8"/>
                </a:highlight>
                <a:latin typeface="Arial"/>
                <a:ea typeface="Arial"/>
                <a:cs typeface="Arial"/>
              </a:rPr>
              <a:t>approximate</a:t>
            </a:r>
            <a:r>
              <a:rPr sz="2250" b="0">
                <a:solidFill>
                  <a:srgbClr val="23282D"/>
                </a:solidFill>
                <a:latin typeface="Arial"/>
                <a:ea typeface="Arial"/>
                <a:cs typeface="Arial"/>
              </a:rPr>
              <a:t xml:space="preserve"> </a:t>
            </a:r>
            <a:r>
              <a:rPr sz="2250" b="1">
                <a:solidFill>
                  <a:srgbClr val="23282D"/>
                </a:solidFill>
                <a:highlight>
                  <a:srgbClr val="FFF2A8"/>
                </a:highlight>
                <a:latin typeface="Arial"/>
                <a:ea typeface="Arial"/>
                <a:cs typeface="Arial"/>
              </a:rPr>
              <a:t>conversion factor</a:t>
            </a:r>
            <a:r>
              <a:rPr sz="2250" b="0">
                <a:solidFill>
                  <a:srgbClr val="23282D"/>
                </a:solidFill>
                <a:latin typeface="Arial"/>
                <a:ea typeface="Arial"/>
                <a:cs typeface="Arial"/>
              </a:rPr>
              <a:t>: 1 kilometer ≈ 0.6 mile.</a:t>
            </a:r>
          </a:p>
        </p:txBody>
      </p:sp>
      <p:graphicFrame>
        <p:nvGraphicFramePr>
          <p:cNvPr id="11" name=""/>
          <p:cNvGraphicFramePr/>
          <p:nvPr/>
        </p:nvGraphicFramePr>
        <p:xfrm>
          <a:off xmlns:a="http://schemas.openxmlformats.org/drawingml/2006/main" x="6210300" y="1809750"/>
          <a:ext xmlns:a="http://schemas.openxmlformats.org/drawingml/2006/main" cx="5410200" cy="1257300"/>
        </p:xfrm>
        <a:graphic xmlns:a="http://schemas.openxmlformats.org/drawingml/2006/main">
          <a:graphicData uri="http://schemas.openxmlformats.org/drawingml/2006/table">
            <a:tbl>
              <a:tblPr/>
              <a:tblGrid>
                <a:gridCol w="2705100"/>
                <a:gridCol w="2705100"/>
              </a:tblGrid>
              <a:tr h="628650">
                <a:tc>
                  <a:txBody>
                    <a:bodyPr/>
                    <a:lstStyle/>
                    <a:p>
                      <a:r>
                        <a:rPr sz="1875" b="1">
                          <a:solidFill>
                            <a:srgbClr val="FFFFFF"/>
                          </a:solidFill>
                          <a:latin typeface="Arial"/>
                          <a:ea typeface="Arial"/>
                          <a:cs typeface="Arial"/>
                        </a:rPr>
                        <a:t>Kilometers</a:t>
                      </a:r>
                    </a:p>
                  </a:txBody>
                  <a:tcPr marL="91440" marR="91440" marT="45720" marB="45720">
                    <a:solidFill>
                      <a:srgbClr val="0070C0"/>
                    </a:solidFill>
                  </a:tcPr>
                </a:tc>
                <a:tc>
                  <a:txBody>
                    <a:bodyPr/>
                    <a:lstStyle/>
                    <a:p>
                      <a:r>
                        <a:rPr sz="1875" b="1">
                          <a:solidFill>
                            <a:srgbClr val="FFFFFF"/>
                          </a:solidFill>
                          <a:latin typeface="Arial"/>
                          <a:ea typeface="Arial"/>
                          <a:cs typeface="Arial"/>
                        </a:rPr>
                        <a:t>Miles (about)</a:t>
                      </a:r>
                    </a:p>
                  </a:txBody>
                  <a:tcPr marL="91440" marR="91440" marT="45720" marB="45720">
                    <a:solidFill>
                      <a:srgbClr val="0070C0"/>
                    </a:solidFill>
                  </a:tcPr>
                </a:tc>
              </a:tr>
              <a:tr h="628650">
                <a:tc>
                  <a:txBody>
                    <a:bodyPr/>
                    <a:lstStyle/>
                    <a:p>
                      <a:r>
                        <a:rPr sz="1875" b="0">
                          <a:solidFill>
                            <a:srgbClr val="23282D"/>
                          </a:solidFill>
                          <a:latin typeface="Arial"/>
                          <a:ea typeface="Arial"/>
                          <a:cs typeface="Arial"/>
                        </a:rPr>
                        <a:t>1</a:t>
                      </a:r>
                    </a:p>
                  </a:txBody>
                  <a:tcPr marL="91440" marR="91440" marT="45720" marB="45720">
                    <a:solidFill>
                      <a:srgbClr val="FFFFFF"/>
                    </a:solidFill>
                  </a:tcPr>
                </a:tc>
                <a:tc>
                  <a:txBody>
                    <a:bodyPr/>
                    <a:lstStyle/>
                    <a:p>
                      <a:r>
                        <a:rPr sz="1875" b="0">
                          <a:solidFill>
                            <a:srgbClr val="23282D"/>
                          </a:solidFill>
                          <a:latin typeface="Arial"/>
                          <a:ea typeface="Arial"/>
                          <a:cs typeface="Arial"/>
                        </a:rPr>
                        <a:t>0.6</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SCALE • LABEL • EXPLAIN</a:t>
            </a:r>
          </a:p>
        </p:txBody>
      </p:sp>
      <p:sp xmlns:a="http://schemas.openxmlformats.org/drawingml/2006/main">
        <p:nvSpPr>
          <p:cNvPr id="14" name="Rounded Rectangle 17"/>
          <p:cNvSpPr/>
          <p:nvPr/>
        </p:nvSpPr>
        <p:spPr>
          <a:xfrm>
            <a:off x="502920" y="5486400"/>
            <a:ext cx="10972800" cy="75895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02920" y="5486400"/>
            <a:ext cx="64008" cy="75895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667512" y="5596128"/>
            <a:ext cx="10680192" cy="210312"/>
          </a:xfrm>
          <a:prstGeom prst="rect">
            <a:avLst/>
          </a:prstGeom>
          <a:noFill/>
        </p:spPr>
        <p:txBody>
          <a:bodyPr wrap="square" lIns="0" tIns="0" rIns="0" bIns="0" anchor="t">
            <a:spAutoFit/>
          </a:bodyPr>
          <a:lstStyle/>
          <a:p>
            <a:pPr algn="l"/>
            <a:r>
              <a:rPr sz="1100" b="1">
                <a:solidFill>
                  <a:srgbClr val="782DA0"/>
                </a:solidFill>
                <a:latin typeface="Arial"/>
              </a:rPr>
              <a:t>TALK TOOL</a:t>
            </a:r>
          </a:p>
        </p:txBody>
      </p:sp>
      <p:sp xmlns:a="http://schemas.openxmlformats.org/drawingml/2006/main">
        <p:nvSpPr>
          <p:cNvPr id="17" name="TextBox 20"/>
          <p:cNvSpPr txBox="1"/>
          <p:nvPr/>
        </p:nvSpPr>
        <p:spPr>
          <a:xfrm>
            <a:off x="667512" y="5888736"/>
            <a:ext cx="10680192" cy="301752"/>
          </a:xfrm>
          <a:prstGeom prst="rect">
            <a:avLst/>
          </a:prstGeom>
          <a:noFill/>
        </p:spPr>
        <p:txBody>
          <a:bodyPr wrap="square" lIns="0" tIns="0" rIns="0" bIns="0" anchor="t">
            <a:spAutoFit/>
          </a:bodyPr>
          <a:lstStyle/>
          <a:p>
            <a:pPr algn="l"/>
            <a:r>
              <a:rPr sz="1600" b="0">
                <a:solidFill>
                  <a:srgbClr val="23282D"/>
                </a:solidFill>
                <a:latin typeface="Arial"/>
              </a:rPr>
              <a:t>“The symbol ≈ means ___. This conversion is approximate because ___.”</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13 / 41</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52982192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D35045-5233-4C2D-9D65-260CA2A6F875}"/>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75" b="1">
                <ns0:solidFill>
                  <ns0:srgbClr val="782DA0"/>
                </ns0:solidFill>
                <ns0:latin typeface="Arial"/>
                <ns0:ea typeface="Arial"/>
                <ns0:cs typeface="Arial"/>
              </ns0:defRPr>
            </ns0:pPr>
            <ns0:r>
              <ns0:rPr sz="2800" b="1">
                <ns0:solidFill>
                  <ns0:srgbClr val="782DA0"/>
                </ns0:solidFill>
                <ns0:latin typeface="Arial"/>
                <ns0:ea typeface="Arial"/>
                <ns0:cs typeface="Arial"/>
              </ns0:rPr>
              <ns0:t>Compare in the Same Unit</ns0:t>
            </ns0:r>
          </ns0:p>
        </p:txBody>
      </p:sp>
      <p:sp>
        <p:nvSpPr>
          <p:cNvPr id="2" name="">
            <a:extLst xmlns:a="http://schemas.openxmlformats.org/drawingml/2006/main">
              <a:ext uri="{FF2B5EF4-FFF2-40B4-BE49-F238E27FC236}">
                <a16:creationId xmlns:a16="http://schemas.microsoft.com/office/drawing/2014/main" id="{CE748C5E-3F2F-42D1-8A27-6967DD106F16}"/>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Multiply both quantities by 100.</a:t>
            </a:r>
          </a:p>
        </p:txBody>
      </p:sp>
      <p:sp>
        <p:nvSpPr>
          <p:cNvPr id="3" name="">
            <a:extLst xmlns:a="http://schemas.openxmlformats.org/drawingml/2006/main">
              <a:ext uri="{FF2B5EF4-FFF2-40B4-BE49-F238E27FC236}">
                <a16:creationId xmlns:a16="http://schemas.microsoft.com/office/drawing/2014/main" id="{01822A01-F212-4898-83F1-735D8B79C0C7}"/>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100 kilometers is about 60 miles.</a:t>
            </a:r>
          </a:p>
        </p:txBody>
      </p:sp>
      <p:sp>
        <p:nvSpPr>
          <p:cNvPr id="4" name="">
            <a:extLst xmlns:a="http://schemas.openxmlformats.org/drawingml/2006/main">
              <a:ext uri="{FF2B5EF4-FFF2-40B4-BE49-F238E27FC236}">
                <a16:creationId xmlns:a16="http://schemas.microsoft.com/office/drawing/2014/main" id="{4D22DB64-48E5-4442-AFBE-EFC26DD49ABB}"/>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So 100 km/h is about 60 mi/h, which is slower than 100 mi/h.</a:t>
            </a:r>
          </a:p>
        </p:txBody>
      </p:sp>
      <p:graphicFrame>
        <p:nvGraphicFramePr>
          <p:cNvPr id="11" name=""/>
          <p:cNvGraphicFramePr/>
          <p:nvPr/>
        </p:nvGraphicFramePr>
        <p:xfrm>
          <a:off xmlns:a="http://schemas.openxmlformats.org/drawingml/2006/main" x="6210300" y="1809750"/>
          <a:ext xmlns:a="http://schemas.openxmlformats.org/drawingml/2006/main" cx="5410200" cy="2514600"/>
        </p:xfrm>
        <a:graphic xmlns:a="http://schemas.openxmlformats.org/drawingml/2006/main">
          <a:graphicData uri="http://schemas.openxmlformats.org/drawingml/2006/table">
            <a:tbl>
              <a:tblPr/>
              <a:tblGrid>
                <a:gridCol w="2705100"/>
                <a:gridCol w="2705100"/>
              </a:tblGrid>
              <a:tr h="628650">
                <a:tc>
                  <a:txBody>
                    <a:bodyPr/>
                    <a:lstStyle/>
                    <a:p>
                      <a:r>
                        <a:rPr sz="1875" b="1">
                          <a:solidFill>
                            <a:srgbClr val="FFFFFF"/>
                          </a:solidFill>
                          <a:latin typeface="Arial"/>
                          <a:ea typeface="Arial"/>
                          <a:cs typeface="Arial"/>
                        </a:rPr>
                        <a:t>Kilometers</a:t>
                      </a:r>
                    </a:p>
                  </a:txBody>
                  <a:tcPr marL="91440" marR="91440" marT="45720" marB="45720">
                    <a:solidFill>
                      <a:srgbClr val="0070C0"/>
                    </a:solidFill>
                  </a:tcPr>
                </a:tc>
                <a:tc>
                  <a:txBody>
                    <a:bodyPr/>
                    <a:lstStyle/>
                    <a:p>
                      <a:r>
                        <a:rPr sz="1875" b="1">
                          <a:solidFill>
                            <a:srgbClr val="FFFFFF"/>
                          </a:solidFill>
                          <a:latin typeface="Arial"/>
                          <a:ea typeface="Arial"/>
                          <a:cs typeface="Arial"/>
                        </a:rPr>
                        <a:t>Miles (about)</a:t>
                      </a:r>
                    </a:p>
                  </a:txBody>
                  <a:tcPr marL="91440" marR="91440" marT="45720" marB="45720">
                    <a:solidFill>
                      <a:srgbClr val="0070C0"/>
                    </a:solidFill>
                  </a:tcPr>
                </a:tc>
              </a:tr>
              <a:tr h="628650">
                <a:tc>
                  <a:txBody>
                    <a:bodyPr/>
                    <a:lstStyle/>
                    <a:p>
                      <a:r>
                        <a:rPr sz="1875" b="0">
                          <a:solidFill>
                            <a:srgbClr val="23282D"/>
                          </a:solidFill>
                          <a:latin typeface="Arial"/>
                          <a:ea typeface="Arial"/>
                          <a:cs typeface="Arial"/>
                        </a:rPr>
                        <a:t>1</a:t>
                      </a:r>
                    </a:p>
                  </a:txBody>
                  <a:tcPr marL="91440" marR="91440" marT="45720" marB="45720">
                    <a:solidFill>
                      <a:srgbClr val="FFFFFF"/>
                    </a:solidFill>
                  </a:tcPr>
                </a:tc>
                <a:tc>
                  <a:txBody>
                    <a:bodyPr/>
                    <a:lstStyle/>
                    <a:p>
                      <a:r>
                        <a:rPr sz="1875" b="0">
                          <a:solidFill>
                            <a:srgbClr val="23282D"/>
                          </a:solidFill>
                          <a:latin typeface="Arial"/>
                          <a:ea typeface="Arial"/>
                          <a:cs typeface="Arial"/>
                        </a:rPr>
                        <a:t>0.6</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10</a:t>
                      </a:r>
                    </a:p>
                  </a:txBody>
                  <a:tcPr marL="91440" marR="91440" marT="45720" marB="45720">
                    <a:solidFill>
                      <a:srgbClr val="FFFFFF"/>
                    </a:solidFill>
                  </a:tcPr>
                </a:tc>
                <a:tc>
                  <a:txBody>
                    <a:bodyPr/>
                    <a:lstStyle/>
                    <a:p>
                      <a:r>
                        <a:rPr sz="1875" b="0">
                          <a:solidFill>
                            <a:srgbClr val="23282D"/>
                          </a:solidFill>
                          <a:latin typeface="Arial"/>
                          <a:ea typeface="Arial"/>
                          <a:cs typeface="Arial"/>
                        </a:rPr>
                        <a:t>6</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100</a:t>
                      </a:r>
                    </a:p>
                  </a:txBody>
                  <a:tcPr marL="91440" marR="91440" marT="45720" marB="45720">
                    <a:solidFill>
                      <a:srgbClr val="FFFFFF"/>
                    </a:solidFill>
                  </a:tcPr>
                </a:tc>
                <a:tc>
                  <a:txBody>
                    <a:bodyPr/>
                    <a:lstStyle/>
                    <a:p>
                      <a:r>
                        <a:rPr sz="1875" b="0">
                          <a:solidFill>
                            <a:srgbClr val="23282D"/>
                          </a:solidFill>
                          <a:latin typeface="Arial"/>
                          <a:ea typeface="Arial"/>
                          <a:cs typeface="Arial"/>
                        </a:rPr>
                        <a:t>60</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SCALE • LABEL • EXPLAIN</a:t>
            </a:r>
          </a:p>
        </p:txBody>
      </p:sp>
      <p:sp xmlns:a="http://schemas.openxmlformats.org/drawingml/2006/main">
        <p:nvSpPr>
          <p:cNvPr id="14" name="Rounded Rectangle 17"/>
          <p:cNvSpPr/>
          <p:nvPr/>
        </p:nvSpPr>
        <p:spPr>
          <a:xfrm>
            <a:off x="502920" y="5486400"/>
            <a:ext cx="10972800" cy="75895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02920" y="5486400"/>
            <a:ext cx="64008" cy="75895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667512" y="5596128"/>
            <a:ext cx="10680192" cy="210312"/>
          </a:xfrm>
          <a:prstGeom prst="rect">
            <a:avLst/>
          </a:prstGeom>
          <a:noFill/>
        </p:spPr>
        <p:txBody>
          <a:bodyPr wrap="square" lIns="0" tIns="0" rIns="0" bIns="0" anchor="t">
            <a:spAutoFit/>
          </a:bodyPr>
          <a:lstStyle/>
          <a:p>
            <a:pPr algn="l"/>
            <a:r>
              <a:rPr sz="1100" b="1">
                <a:solidFill>
                  <a:srgbClr val="782DA0"/>
                </a:solidFill>
                <a:latin typeface="Arial"/>
              </a:rPr>
              <a:t>TALK TOOL</a:t>
            </a:r>
          </a:p>
        </p:txBody>
      </p:sp>
      <p:sp xmlns:a="http://schemas.openxmlformats.org/drawingml/2006/main">
        <p:nvSpPr>
          <p:cNvPr id="17" name="TextBox 20"/>
          <p:cNvSpPr txBox="1"/>
          <p:nvPr/>
        </p:nvSpPr>
        <p:spPr>
          <a:xfrm>
            <a:off x="667512" y="5888736"/>
            <a:ext cx="10680192" cy="301752"/>
          </a:xfrm>
          <a:prstGeom prst="rect">
            <a:avLst/>
          </a:prstGeom>
          <a:noFill/>
        </p:spPr>
        <p:txBody>
          <a:bodyPr wrap="square" lIns="0" tIns="0" rIns="0" bIns="0" anchor="t">
            <a:spAutoFit/>
          </a:bodyPr>
          <a:lstStyle/>
          <a:p>
            <a:pPr algn="l"/>
            <a:r>
              <a:rPr sz="1600" b="0">
                <a:solidFill>
                  <a:srgbClr val="23282D"/>
                </a:solidFill>
                <a:latin typeface="Arial"/>
              </a:rPr>
              <a:t>“100 km/h is about ___ mi/h. I can compare them because the units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14 / 41</ns3:t>
            </ns3:r>
          </ns3: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extLst>
      <p:ext uri="{BB962C8B-B14F-4D97-AF65-F5344CB8AC3E}">
        <p14:creationId xmlns:p14="http://schemas.microsoft.com/office/powerpoint/2010/main" val="1179447169"/>
      </p:ext>
    </p:extLst>
  </p:cSld>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lang="en-US" sz="2800">
                <a:solidFill>
                  <a:srgbClr val="782DA0"/>
                </a:solidFill>
                <a:latin typeface="Arial"/>
                <a:ea typeface="Arial"/>
                <a:cs typeface="Arial"/>
                <a:sym typeface="Arial"/>
              </a:rPr>
              <a:t>Let’s Explore More</a:t>
            </a:r>
            <a:endParaRPr/>
          </a:p>
        </p:txBody>
      </p:sp>
      <p:sp>
        <p:nvSpPr>
          <p:cNvPr id="507" name="Google Shape;507;p72"/>
          <p:cNvSpPr txBox="1"/>
          <p:nvPr/>
        </p:nvSpPr>
        <p:spPr>
          <a:xfrm>
            <a:off x="484632" y="914400"/>
            <a:ext cx="8412480" cy="121615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lang="en-US" sz="2000">
                <a:solidFill>
                  <a:srgbClr val="23282D"/>
                </a:solidFill>
                <a:latin typeface="Arial"/>
                <a:ea typeface="Arial"/>
                <a:cs typeface="Arial"/>
                <a:sym typeface="Arial"/>
              </a:rPr>
              <a:t xml:space="preserve">The ratio of kilometers to miles is about </a:t>
            </a:r>
            <a:r>
              <a:rPr lang="en-US" sz="2000">
                <a:solidFill>
                  <a:srgbClr val="23282D"/>
                </a:solidFill>
                <a:latin typeface="Arial"/>
                <a:ea typeface="Cambria Math"/>
                <a:cs typeface="Cambria Math"/>
                <a:sym typeface="Cambria Math"/>
              </a:rPr>
              <a:t>1.61 : 1</a:t>
            </a:r>
            <a:r>
              <a:rPr lang="en-US" sz="2000">
                <a:solidFill>
                  <a:srgbClr val="23282D"/>
                </a:solidFill>
                <a:latin typeface="Arial"/>
                <a:ea typeface="Arial"/>
                <a:cs typeface="Arial"/>
                <a:sym typeface="Arial"/>
              </a:rPr>
              <a:t>. Why is the ratio of kilometers to miles different from the ratio of miles to kilometers?</a:t>
            </a:r>
            <a:endParaRPr/>
          </a:p>
        </p:txBody>
      </p:sp>
      <p:sp>
        <p:nvSpPr>
          <p:cNvPr id="508" name="Google Shape;508;p72"/>
          <p:cNvSpPr txBox="1"/>
          <p:nvPr/>
        </p:nvSpPr>
        <p:spPr>
          <a:xfrm>
            <a:off x="7424371" y="3256902"/>
            <a:ext cx="12068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BFBF"/>
                </a:solidFill>
                <a:latin typeface="Arial"/>
                <a:ea typeface="Arial"/>
                <a:cs typeface="Arial"/>
                <a:sym typeface="Arial"/>
              </a:rPr>
              <a:t/>
            </a:r>
            <a:endParaRPr/>
          </a:p>
        </p:txBody>
      </p:sp>
      <p:sp>
        <p:nvSpPr>
          <p:cNvPr id="509" name="Google Shape;509;p72"/>
          <p:cNvSpPr/>
          <p:nvPr/>
        </p:nvSpPr>
        <p:spPr>
          <a:xfrm>
            <a:off x="484632" y="2157984"/>
            <a:ext cx="8247888" cy="1005840"/>
          </a:xfrm>
          <a:prstGeom prst="rect">
            <a:avLst/>
          </a:prstGeom>
          <a:noFill/>
          <a:ln cap="flat" cmpd="sng" w="12700">
            <a:solidFill>
              <a:srgbClr val="8296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Calibri"/>
              <a:cs typeface="Calibri"/>
              <a:sym typeface="Calibri"/>
            </a:endParaRPr>
          </a:p>
        </p:txBody>
      </p:sp>
      <p:sp>
        <p:nvSpPr>
          <p:cNvPr id="510" name="Google Shape;510;p72"/>
          <p:cNvSpPr txBox="1"/>
          <p:nvPr/>
        </p:nvSpPr>
        <p:spPr>
          <a:xfrm>
            <a:off x="484632" y="3456432"/>
            <a:ext cx="8412480" cy="13716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defRPr/>
            </a:pPr>
            <a:r>
              <a:rPr lang="en-US" sz="1900">
                <a:solidFill>
                  <a:srgbClr val="23282D"/>
                </a:solidFill>
                <a:latin typeface="Arial"/>
                <a:ea typeface="Arial"/>
                <a:cs typeface="Arial"/>
                <a:sym typeface="Arial"/>
              </a:rPr>
              <a:t>One meter is about the same length as one yard. Knowing that one meter equals 100 centimeters and one yard equals 36 inches, what can you conclude about the ratio of centimeters to inches?</a:t>
            </a:r>
            <a:endParaRPr/>
          </a:p>
        </p:txBody>
      </p:sp>
      <p:sp>
        <p:nvSpPr>
          <p:cNvPr id="511" name="Google Shape;511;p72"/>
          <p:cNvSpPr txBox="1"/>
          <p:nvPr/>
        </p:nvSpPr>
        <p:spPr>
          <a:xfrm>
            <a:off x="7424371" y="6072603"/>
            <a:ext cx="12068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BFBF"/>
                </a:solidFill>
                <a:latin typeface="Arial"/>
                <a:ea typeface="Arial"/>
                <a:cs typeface="Arial"/>
                <a:sym typeface="Arial"/>
              </a:rPr>
              <a:t/>
            </a:r>
            <a:endParaRPr/>
          </a:p>
        </p:txBody>
      </p:sp>
      <p:sp>
        <p:nvSpPr>
          <p:cNvPr id="512" name="Google Shape;512;p72"/>
          <p:cNvSpPr/>
          <p:nvPr/>
        </p:nvSpPr>
        <p:spPr>
          <a:xfrm>
            <a:off x="484632" y="4901184"/>
            <a:ext cx="8247888" cy="1005840"/>
          </a:xfrm>
          <a:prstGeom prst="rect">
            <a:avLst/>
          </a:prstGeom>
          <a:noFill/>
          <a:ln cap="flat" cmpd="sng" w="12700">
            <a:solidFill>
              <a:srgbClr val="8296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Calibri"/>
              <a:cs typeface="Calibri"/>
              <a:sym typeface="Calibri"/>
            </a:endParaRPr>
          </a:p>
        </p:txBody>
      </p:sp>
      <p:sp>
        <p:nvSpPr>
          <p:cNvPr id="513"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515" name="Rounded Rectangle 17"/>
          <p:cNvSpPr/>
          <p:nvPr/>
        </p:nvSpPr>
        <p:spPr>
          <a:xfrm>
            <a:off x="521207" y="2231136"/>
            <a:ext cx="8138160" cy="859536"/>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Rectangle 18"/>
          <p:cNvSpPr/>
          <p:nvPr/>
        </p:nvSpPr>
        <p:spPr>
          <a:xfrm>
            <a:off x="521207" y="2231136"/>
            <a:ext cx="64008" cy="859536"/>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TextBox 19"/>
          <p:cNvSpPr txBox="1"/>
          <p:nvPr/>
        </p:nvSpPr>
        <p:spPr>
          <a:xfrm>
            <a:off x="685800" y="2331720"/>
            <a:ext cx="7845552" cy="210312"/>
          </a:xfrm>
          <a:prstGeom prst="rect">
            <a:avLst/>
          </a:prstGeom>
          <a:noFill/>
        </p:spPr>
        <p:txBody>
          <a:bodyPr wrap="square" lIns="0" tIns="0" rIns="0" bIns="0" anchor="t">
            <a:spAutoFit/>
          </a:bodyPr>
          <a:lstStyle/>
          <a:p>
            <a:pPr algn="l">
              <a:defRPr/>
            </a:pPr>
            <a:r>
              <a:rPr sz="1100" b="1">
                <a:solidFill>
                  <a:srgbClr val="782DA0"/>
                </a:solidFill>
                <a:latin typeface="Arial"/>
              </a:rPr>
              <a:t>ORDER MATTERS</a:t>
            </a:r>
          </a:p>
        </p:txBody>
      </p:sp>
      <p:sp>
        <p:nvSpPr>
          <p:cNvPr id="518" name="TextBox 20"/>
          <p:cNvSpPr txBox="1"/>
          <p:nvPr/>
        </p:nvSpPr>
        <p:spPr>
          <a:xfrm>
            <a:off x="685800" y="2587752"/>
            <a:ext cx="7845552" cy="438912"/>
          </a:xfrm>
          <a:prstGeom prst="rect">
            <a:avLst/>
          </a:prstGeom>
          <a:noFill/>
        </p:spPr>
        <p:txBody>
          <a:bodyPr wrap="square" lIns="0" tIns="0" rIns="0" bIns="0" anchor="t">
            <a:spAutoFit/>
          </a:bodyPr>
          <a:lstStyle/>
          <a:p>
            <a:pPr algn="l">
              <a:defRPr/>
            </a:pPr>
            <a:r>
              <a:rPr sz="1400" b="0">
                <a:solidFill>
                  <a:srgbClr val="23282D"/>
                </a:solidFill>
                <a:latin typeface="Arial"/>
              </a:rPr>
              <a:t>“Kilometers : miles is about 1.61 : 1. Reversing the order gives ___.”</a:t>
            </a:r>
          </a:p>
        </p:txBody>
      </p:sp>
      <p:sp>
        <p:nvSpPr>
          <p:cNvPr id="519" name="Rounded Rectangle 17"/>
          <p:cNvSpPr/>
          <p:nvPr/>
        </p:nvSpPr>
        <p:spPr>
          <a:xfrm>
            <a:off x="521207" y="4974336"/>
            <a:ext cx="8138160" cy="859536"/>
          </a:xfrm>
          <a:prstGeom prst="roundRect">
            <a:avLst/>
          </a:prstGeom>
          <a:solidFill>
            <a:srgbClr val="EAF7F5"/>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Rectangle 18"/>
          <p:cNvSpPr/>
          <p:nvPr/>
        </p:nvSpPr>
        <p:spPr>
          <a:xfrm>
            <a:off x="521207" y="4974336"/>
            <a:ext cx="64008" cy="859536"/>
          </a:xfrm>
          <a:prstGeom prst="rect">
            <a:avLst/>
          </a:prstGeom>
          <a:solidFill>
            <a:srgbClr val="008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TextBox 19"/>
          <p:cNvSpPr txBox="1"/>
          <p:nvPr/>
        </p:nvSpPr>
        <p:spPr>
          <a:xfrm>
            <a:off x="685800" y="5074920"/>
            <a:ext cx="7845552" cy="210312"/>
          </a:xfrm>
          <a:prstGeom prst="rect">
            <a:avLst/>
          </a:prstGeom>
          <a:noFill/>
        </p:spPr>
        <p:txBody>
          <a:bodyPr wrap="square" lIns="0" tIns="0" rIns="0" bIns="0" anchor="t">
            <a:spAutoFit/>
          </a:bodyPr>
          <a:lstStyle/>
          <a:p>
            <a:pPr algn="l">
              <a:defRPr/>
            </a:pPr>
            <a:r>
              <a:rPr sz="1100" b="1">
                <a:solidFill>
                  <a:srgbClr val="008B78"/>
                </a:solidFill>
                <a:latin typeface="Arial"/>
              </a:rPr>
              <a:t>MAKE AN ESTIMATE</a:t>
            </a:r>
          </a:p>
        </p:txBody>
      </p:sp>
      <p:sp>
        <p:nvSpPr>
          <p:cNvPr id="522" name="TextBox 20"/>
          <p:cNvSpPr txBox="1"/>
          <p:nvPr/>
        </p:nvSpPr>
        <p:spPr>
          <a:xfrm>
            <a:off x="685800" y="5330952"/>
            <a:ext cx="7845552" cy="429768"/>
          </a:xfrm>
          <a:prstGeom prst="rect">
            <a:avLst/>
          </a:prstGeom>
          <a:noFill/>
        </p:spPr>
        <p:txBody>
          <a:bodyPr wrap="square" lIns="0" tIns="0" rIns="0" bIns="0" anchor="t">
            <a:spAutoFit/>
          </a:bodyPr>
          <a:lstStyle/>
          <a:p>
            <a:pPr algn="l">
              <a:defRPr/>
            </a:pPr>
            <a:r>
              <a:rPr sz="1400" b="0">
                <a:solidFill>
                  <a:srgbClr val="23282D"/>
                </a:solidFill>
                <a:latin typeface="Arial"/>
              </a:rPr>
              <a:t>“Using 1 m ≈ 1 yd gives about 100 cm : 36 in. This is an estimate because ___.”</a:t>
            </a:r>
          </a:p>
        </p:txBody>
      </p:sp>
      <p:sp>
        <p:nvSpPr>
          <p:cNvPr id="52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3.7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Where does the approximation enter your comparison, and how should that affect your explanation?</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17.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29184"/>
            <a:ext cx="7132320" cy="530352"/>
          </a:xfrm>
          <a:prstGeom prst="rect">
            <a:avLst/>
          </a:prstGeom>
          <a:noFill/>
        </p:spPr>
        <p:txBody>
          <a:bodyPr wrap="square" lIns="0" tIns="0" rIns="0" bIns="0" anchor="t">
            <a:spAutoFit/>
          </a:bodyPr>
          <a:lstStyle/>
          <a:p>
            <a:pPr algn="l"/>
            <a:r>
              <a:rPr sz="2800" b="1">
                <a:solidFill>
                  <a:srgbClr val="782DA0"/>
                </a:solidFill>
                <a:latin typeface="Arial"/>
              </a:rPr>
              <a:t>60-Second Check</a:t>
            </a:r>
          </a:p>
        </p:txBody>
      </p:sp>
      <p:sp>
        <p:nvSpPr>
          <p:cNvPr id="3" name="TextBox 2"/>
          <p:cNvSpPr txBox="1"/>
          <p:nvPr/>
        </p:nvSpPr>
        <p:spPr>
          <a:xfrm>
            <a:off x="521207" y="896112"/>
            <a:ext cx="7589520" cy="320040"/>
          </a:xfrm>
          <a:prstGeom prst="rect">
            <a:avLst/>
          </a:prstGeom>
          <a:noFill/>
        </p:spPr>
        <p:txBody>
          <a:bodyPr wrap="square" lIns="0" tIns="0" rIns="0" bIns="0" anchor="t">
            <a:spAutoFit/>
          </a:bodyPr>
          <a:lstStyle/>
          <a:p>
            <a:pPr algn="l"/>
            <a:r>
              <a:rPr sz="1500" b="0">
                <a:solidFill>
                  <a:srgbClr val="5D6872"/>
                </a:solidFill>
                <a:latin typeface="Arial"/>
              </a:rPr>
              <a:t>Work independently first. Your response tells us what to do next.</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FORMATIVE CHECK</a:t>
            </a:r>
            <a:r>
              <a:rPr lang="en-US" sz="1150" b="1" dirty="0">
                <a:solidFill>
                  <a:srgbClr val="2D3A40"/>
                </a:solidFill>
                <a:latin typeface="Arial"/>
              </a:rPr>
              <a:t xml:space="preserve">  ·  SOLO → CHECK → REVISE</a:t>
            </a:r>
          </a:p>
        </p:txBody>
      </p:sp>
      <p:sp>
        <p:nvSpPr>
          <p:cNvPr id="6" name="Rounded Rectangle 5"/>
          <p:cNvSpPr/>
          <p:nvPr/>
        </p:nvSpPr>
        <p:spPr>
          <a:xfrm>
            <a:off x="502920" y="1353312"/>
            <a:ext cx="11082528" cy="868680"/>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53312"/>
            <a:ext cx="73152" cy="868680"/>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463040"/>
            <a:ext cx="10789919" cy="219456"/>
          </a:xfrm>
          <a:prstGeom prst="rect">
            <a:avLst/>
          </a:prstGeom>
          <a:noFill/>
        </p:spPr>
        <p:txBody>
          <a:bodyPr wrap="square" lIns="0" tIns="0" rIns="0" bIns="0" anchor="t">
            <a:spAutoFit/>
          </a:bodyPr>
          <a:lstStyle/>
          <a:p>
            <a:pPr algn="l"/>
            <a:r>
              <a:rPr sz="1400" b="1">
                <a:solidFill>
                  <a:srgbClr val="01708C"/>
                </a:solidFill>
                <a:latin typeface="Arial"/>
              </a:rPr>
              <a:t>USE THIS CONVERSION FACT</a:t>
            </a:r>
          </a:p>
        </p:txBody>
      </p:sp>
      <p:sp>
        <p:nvSpPr>
          <p:cNvPr id="9" name="TextBox 8"/>
          <p:cNvSpPr txBox="1"/>
          <p:nvPr/>
        </p:nvSpPr>
        <p:spPr>
          <a:xfrm>
            <a:off x="667512" y="1737360"/>
            <a:ext cx="10771632" cy="393191"/>
          </a:xfrm>
          <a:prstGeom prst="rect">
            <a:avLst/>
          </a:prstGeom>
          <a:noFill/>
        </p:spPr>
        <p:txBody>
          <a:bodyPr wrap="square" lIns="0" tIns="0" rIns="0" bIns="0" anchor="t">
            <a:spAutoFit/>
          </a:bodyPr>
          <a:lstStyle/>
          <a:p>
            <a:pPr algn="l"/>
            <a:r>
              <a:rPr sz="1800" b="0">
                <a:solidFill>
                  <a:srgbClr val="23282D"/>
                </a:solidFill>
                <a:latin typeface="Arial"/>
              </a:rPr>
              <a:t>1 kilometer ≈ 0.6 mile. A route is 20 kilometers.</a:t>
            </a:r>
          </a:p>
        </p:txBody>
      </p:sp>
      <p:sp>
        <p:nvSpPr>
          <p:cNvPr id="10" name="Rounded Rectangle 9"/>
          <p:cNvSpPr/>
          <p:nvPr/>
        </p:nvSpPr>
        <p:spPr>
          <a:xfrm>
            <a:off x="502920" y="2487168"/>
            <a:ext cx="3520440" cy="239572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487168"/>
            <a:ext cx="73152" cy="239572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596896"/>
            <a:ext cx="3227832" cy="219456"/>
          </a:xfrm>
          <a:prstGeom prst="rect">
            <a:avLst/>
          </a:prstGeom>
          <a:noFill/>
        </p:spPr>
        <p:txBody>
          <a:bodyPr wrap="square" lIns="0" tIns="0" rIns="0" bIns="0" anchor="t">
            <a:spAutoFit/>
          </a:bodyPr>
          <a:lstStyle/>
          <a:p>
            <a:pPr algn="l"/>
            <a:r>
              <a:rPr sz="1400" b="1">
                <a:solidFill>
                  <a:srgbClr val="782DA0"/>
                </a:solidFill>
                <a:latin typeface="Arial"/>
              </a:rPr>
              <a:t>1 — CONVERT</a:t>
            </a:r>
          </a:p>
        </p:txBody>
      </p:sp>
      <p:sp>
        <p:nvSpPr>
          <p:cNvPr id="13" name="TextBox 12"/>
          <p:cNvSpPr txBox="1"/>
          <p:nvPr/>
        </p:nvSpPr>
        <p:spPr>
          <a:xfrm>
            <a:off x="667512" y="2871216"/>
            <a:ext cx="3209544" cy="1920240"/>
          </a:xfrm>
          <a:prstGeom prst="rect">
            <a:avLst/>
          </a:prstGeom>
          <a:noFill/>
        </p:spPr>
        <p:txBody>
          <a:bodyPr wrap="square" lIns="0" tIns="0" rIns="0" bIns="0" anchor="t">
            <a:spAutoFit/>
          </a:bodyPr>
          <a:lstStyle/>
          <a:p>
            <a:pPr algn="l"/>
            <a:r>
              <a:rPr sz="1700" b="0">
                <a:solidFill>
                  <a:srgbClr val="23282D"/>
                </a:solidFill>
                <a:latin typeface="Arial"/>
              </a:rPr>
              <a:t>About how many miles long is the route? Show a ratio table or equation.</a:t>
            </a:r>
          </a:p>
        </p:txBody>
      </p:sp>
      <p:sp>
        <p:nvSpPr>
          <p:cNvPr id="14" name="Rounded Rectangle 13"/>
          <p:cNvSpPr/>
          <p:nvPr/>
        </p:nvSpPr>
        <p:spPr>
          <a:xfrm>
            <a:off x="4270248" y="2487168"/>
            <a:ext cx="3520440" cy="239572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70248" y="2487168"/>
            <a:ext cx="73152" cy="2395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40" y="2596896"/>
            <a:ext cx="3227832" cy="219456"/>
          </a:xfrm>
          <a:prstGeom prst="rect">
            <a:avLst/>
          </a:prstGeom>
          <a:noFill/>
        </p:spPr>
        <p:txBody>
          <a:bodyPr wrap="square" lIns="0" tIns="0" rIns="0" bIns="0" anchor="t">
            <a:spAutoFit/>
          </a:bodyPr>
          <a:lstStyle/>
          <a:p>
            <a:pPr algn="l"/>
            <a:r>
              <a:rPr sz="1400" b="1">
                <a:solidFill>
                  <a:srgbClr val="0070C0"/>
                </a:solidFill>
                <a:latin typeface="Arial"/>
              </a:rPr>
              <a:t>2 — EXPLAIN + PROVE</a:t>
            </a:r>
          </a:p>
        </p:txBody>
      </p:sp>
      <p:sp>
        <p:nvSpPr>
          <p:cNvPr id="17" name="TextBox 16"/>
          <p:cNvSpPr txBox="1"/>
          <p:nvPr/>
        </p:nvSpPr>
        <p:spPr>
          <a:xfrm>
            <a:off x="4434840" y="2871216"/>
            <a:ext cx="3209544" cy="1920240"/>
          </a:xfrm>
          <a:prstGeom prst="rect">
            <a:avLst/>
          </a:prstGeom>
          <a:noFill/>
        </p:spPr>
        <p:txBody>
          <a:bodyPr wrap="square" lIns="0" tIns="0" rIns="0" bIns="0" anchor="t">
            <a:spAutoFit/>
          </a:bodyPr>
          <a:lstStyle/>
          <a:p>
            <a:pPr algn="l"/>
            <a:r>
              <a:rPr sz="1700" b="0">
                <a:solidFill>
                  <a:srgbClr val="23282D"/>
                </a:solidFill>
                <a:latin typeface="Arial"/>
              </a:rPr>
              <a:t>Why is the result approximate? Explain what the ≈ sign tells us.</a:t>
            </a:r>
          </a:p>
        </p:txBody>
      </p:sp>
      <p:sp>
        <p:nvSpPr>
          <p:cNvPr id="18" name="Rounded Rectangle 17"/>
          <p:cNvSpPr/>
          <p:nvPr/>
        </p:nvSpPr>
        <p:spPr>
          <a:xfrm>
            <a:off x="8046720" y="2487168"/>
            <a:ext cx="3538728" cy="239572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6720" y="2487168"/>
            <a:ext cx="73152" cy="239572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11312" y="2596896"/>
            <a:ext cx="3246120" cy="219456"/>
          </a:xfrm>
          <a:prstGeom prst="rect">
            <a:avLst/>
          </a:prstGeom>
          <a:noFill/>
        </p:spPr>
        <p:txBody>
          <a:bodyPr wrap="square" lIns="0" tIns="0" rIns="0" bIns="0" anchor="t">
            <a:spAutoFit/>
          </a:bodyPr>
          <a:lstStyle/>
          <a:p>
            <a:pPr algn="l"/>
            <a:r>
              <a:rPr sz="1400" b="1">
                <a:solidFill>
                  <a:srgbClr val="008A62"/>
                </a:solidFill>
                <a:latin typeface="Arial"/>
              </a:rPr>
              <a:t>3 — SELF-MONITOR</a:t>
            </a:r>
          </a:p>
        </p:txBody>
      </p:sp>
      <p:sp>
        <p:nvSpPr>
          <p:cNvPr id="21" name="TextBox 20"/>
          <p:cNvSpPr txBox="1"/>
          <p:nvPr/>
        </p:nvSpPr>
        <p:spPr>
          <a:xfrm>
            <a:off x="8211312" y="2871216"/>
            <a:ext cx="3227832" cy="1920240"/>
          </a:xfrm>
          <a:prstGeom prst="rect">
            <a:avLst/>
          </a:prstGeom>
          <a:noFill/>
        </p:spPr>
        <p:txBody>
          <a:bodyPr wrap="square" lIns="0" tIns="0" rIns="0" bIns="0" anchor="t">
            <a:spAutoFit/>
          </a:bodyPr>
          <a:lstStyle/>
          <a:p>
            <a:pPr algn="l"/>
            <a:r>
              <a:rPr sz="1500" b="0">
                <a:solidFill>
                  <a:srgbClr val="23282D"/>
                </a:solidFill>
                <a:latin typeface="Arial"/>
              </a:rPr>
              <a:t>Circle one:
READY — I can explain it.
ALMOST — I need one hint.
NOT YET — I need a model.</a:t>
            </a:r>
          </a:p>
        </p:txBody>
      </p:sp>
      <p:sp>
        <p:nvSpPr>
          <p:cNvPr id="22" name="TextBox 21"/>
          <p:cNvSpPr txBox="1"/>
          <p:nvPr/>
        </p:nvSpPr>
        <p:spPr>
          <a:xfrm>
            <a:off x="658368" y="5239512"/>
            <a:ext cx="10789920" cy="512064"/>
          </a:xfrm>
          <a:prstGeom prst="rect">
            <a:avLst/>
          </a:prstGeom>
          <a:noFill/>
        </p:spPr>
        <p:txBody>
          <a:bodyPr wrap="square" lIns="0" tIns="0" rIns="0" bIns="0" anchor="t">
            <a:spAutoFit/>
          </a:bodyPr>
          <a:lstStyle/>
          <a:p>
            <a:pPr algn="ctr"/>
            <a:r>
              <a:rPr sz="1400" b="1">
                <a:solidFill>
                  <a:srgbClr val="1E2682"/>
                </a:solidFill>
                <a:latin typeface="Arial"/>
              </a:rPr>
              <a:t>Partner feedback: Ask “How do you know?”  The solver may clarify or revise before sharing.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Defend your method; partner gives one specific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41</a:t>
            </a:r>
          </a:p>
        </p:txBody>
      </p:sp>
    </p:spTree>
  </p:cSld>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88" name="Google Shape;588;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9" name="Google Shape;589;p58"/>
          <p:cNvSpPr txBox="1"/>
          <p:nvPr/>
        </p:nvSpPr>
        <p:spPr>
          <a:xfrm>
            <a:off x="484565" y="623124"/>
            <a:ext cx="6964747" cy="34776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Evelyn is visiting family in Canada. She sees the sign shown on the highway and wonders whether 100 kilometers per hour is faster or slower than 100 miles per hour.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How can Evelyn determine which is faster: 100 kilometers per hour or 100 miles per hour?</a:t>
            </a:r>
            <a:endParaRPr b="0" i="0" sz="1400" u="none" cap="none" strike="noStrike">
              <a:solidFill>
                <a:srgbClr val="000000"/>
              </a:solidFill>
              <a:latin typeface="Arial"/>
              <a:ea typeface="Arial"/>
              <a:cs typeface="Arial"/>
              <a:sym typeface="Arial"/>
            </a:endParaRPr>
          </a:p>
        </p:txBody>
      </p:sp>
      <p:pic>
        <p:nvPicPr>
          <p:cNvPr descr="A stop sign on the side of the road&#10;&#10;Description automatically generated" id="590" name="Google Shape;590;p58"/>
          <p:cNvPicPr preferRelativeResize="0"/>
          <p:nvPr/>
        </p:nvPicPr>
        <p:blipFill rotWithShape="1">
          <a:blip r:embed="rId2">
            <a:alphaModFix/>
          </a:blip>
          <a:srcRect b="0" l="0" r="0" t="0"/>
          <a:stretch/>
        </p:blipFill>
        <p:spPr>
          <a:xfrm>
            <a:off x="8073780" y="1222131"/>
            <a:ext cx="3743081" cy="5015542"/>
          </a:xfrm>
          <a:prstGeom prst="rect">
            <a:avLst/>
          </a:prstGeom>
          <a:noFill/>
          <a:ln>
            <a:noFill/>
          </a:ln>
        </p:spPr>
      </p:pic>
      <p:sp>
        <p:nvSpPr>
          <p:cNvPr id="591" name="Google Shape;591;p58"/>
          <p:cNvSpPr txBox="1"/>
          <p:nvPr/>
        </p:nvSpPr>
        <p:spPr>
          <a:xfrm>
            <a:off x="484565" y="4413738"/>
            <a:ext cx="7199912" cy="62500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quantities are in the problem?</a:t>
            </a:r>
            <a:endParaRPr b="0" i="0" sz="1400" u="none" cap="none" strike="noStrike">
              <a:solidFill>
                <a:srgbClr val="000000"/>
              </a:solidFill>
              <a:latin typeface="Arial"/>
              <a:ea typeface="Arial"/>
              <a:cs typeface="Arial"/>
              <a:sym typeface="Arial"/>
            </a:endParaRPr>
          </a:p>
        </p:txBody>
      </p:sp>
      <p:sp>
        <p:nvSpPr>
          <p:cNvPr id="592" name="Google Shape;592;p58"/>
          <p:cNvSpPr txBox="1"/>
          <p:nvPr/>
        </p:nvSpPr>
        <p:spPr>
          <a:xfrm>
            <a:off x="484565" y="5263028"/>
            <a:ext cx="6494206" cy="10860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Miles per hour and kilometers per hour.</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48" name="Google Shape;648;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9" name="Google Shape;649;p66"/>
          <p:cNvSpPr txBox="1"/>
          <p:nvPr/>
        </p:nvSpPr>
        <p:spPr>
          <a:xfrm>
            <a:off x="484564" y="623124"/>
            <a:ext cx="8140690" cy="17807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Kilometers and miles are both measures of distance. We can compare kilometers and miles.</a:t>
            </a:r>
            <a:br>
              <a:rPr b="0" i="0" lang="en-US" sz="2800" u="none" cap="none" strike="noStrike">
                <a:solidFill>
                  <a:srgbClr val="262626"/>
                </a:solidFill>
                <a:latin typeface="Arial"/>
                <a:ea typeface="Arial"/>
                <a:cs typeface="Arial"/>
                <a:sym typeface="Arial"/>
              </a:rPr>
            </a:br>
            <a:r>
              <a:rPr b="0" i="0" lang="en-US" sz="2800" u="none" cap="none" strike="noStrike">
                <a:solidFill>
                  <a:srgbClr val="262626"/>
                </a:solidFill>
                <a:latin typeface="Arial"/>
                <a:ea typeface="Arial"/>
                <a:cs typeface="Arial"/>
                <a:sym typeface="Arial"/>
              </a:rPr>
              <a:t>1 kilometer is about 0.6 mile.</a:t>
            </a:r>
            <a:endParaRPr b="0" i="0" sz="1400" u="none" cap="none" strike="noStrike">
              <a:solidFill>
                <a:srgbClr val="000000"/>
              </a:solidFill>
              <a:latin typeface="Arial"/>
              <a:ea typeface="Arial"/>
              <a:cs typeface="Arial"/>
              <a:sym typeface="Arial"/>
            </a:endParaRPr>
          </a:p>
        </p:txBody>
      </p:sp>
      <p:sp>
        <p:nvSpPr>
          <p:cNvPr id="650" name="Google Shape;650;p66"/>
          <p:cNvSpPr txBox="1"/>
          <p:nvPr/>
        </p:nvSpPr>
        <p:spPr>
          <a:xfrm>
            <a:off x="484564" y="4135207"/>
            <a:ext cx="8844073" cy="91124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represent this relationship as a ratio of kilometers to miles?</a:t>
            </a:r>
            <a:endParaRPr b="0" i="0" sz="1400" u="none" cap="none" strike="noStrike">
              <a:solidFill>
                <a:srgbClr val="000000"/>
              </a:solidFill>
              <a:latin typeface="Arial"/>
              <a:ea typeface="Arial"/>
              <a:cs typeface="Arial"/>
              <a:sym typeface="Arial"/>
            </a:endParaRPr>
          </a:p>
        </p:txBody>
      </p:sp>
      <p:pic>
        <p:nvPicPr>
          <p:cNvPr descr="C:\Users\e402540\Downloads\kanchana\ePress PPT creation\sn_47fe6-1080mp4\OPS\img\.assets\d24da871a7214e4c8becc0aa0399ee9c\narm24_c10307_se_004a-dig.png" id="651" name="Google Shape;651;p66"/>
          <p:cNvPicPr preferRelativeResize="0"/>
          <p:nvPr/>
        </p:nvPicPr>
        <p:blipFill rotWithShape="1">
          <a:blip r:embed="rId2">
            <a:alphaModFix/>
          </a:blip>
          <a:srcRect b="0" l="0" r="0" t="0"/>
          <a:stretch/>
        </p:blipFill>
        <p:spPr>
          <a:xfrm>
            <a:off x="3168772" y="1989937"/>
            <a:ext cx="2315075" cy="1815346"/>
          </a:xfrm>
          <a:prstGeom prst="rect">
            <a:avLst/>
          </a:prstGeom>
          <a:noFill/>
          <a:ln>
            <a:noFill/>
          </a:ln>
        </p:spPr>
      </p:pic>
      <p:sp>
        <p:nvSpPr>
          <p:cNvPr id="652" name="Google Shape;652;p66"/>
          <p:cNvSpPr txBox="1"/>
          <p:nvPr/>
        </p:nvSpPr>
        <p:spPr>
          <a:xfrm>
            <a:off x="484564" y="5330713"/>
            <a:ext cx="5960624" cy="10567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Cambria Math"/>
                <a:ea typeface="Cambria Math"/>
                <a:cs typeface="Cambria Math"/>
                <a:sym typeface="Cambria Math"/>
              </a:rPr>
              <a:t>1 : 0.6</a:t>
            </a:r>
            <a:endParaRPr b="0" i="0" sz="2800" u="none" cap="none" strike="noStrike">
              <a:solidFill>
                <a:srgbClr val="595959"/>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3218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03" name="Google Shape;703;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graphicFrame>
        <p:nvGraphicFramePr>
          <p:cNvPr id="704" name="Google Shape;704;p72"/>
          <p:cNvGraphicFramePr/>
          <p:nvPr/>
        </p:nvGraphicFramePr>
        <p:xfrm>
          <a:off x="614744" y="2616250"/>
          <a:ext cx="3000000" cy="3000000"/>
        </p:xfrm>
        <a:graphic>
          <a:graphicData uri="http://schemas.openxmlformats.org/drawingml/2006/table">
            <a:tbl>
              <a:tblPr bandRow="1" firstRow="1">
                <a:noFill/>
                <a:tableStyleId>{25D9E9E1-FF04-4C86-B8D1-5D6C51761CA1}</a:tableStyleId>
              </a:tblPr>
              <a:tblGrid>
                <a:gridCol w="3663275"/>
                <a:gridCol w="2118300"/>
                <a:gridCol w="1887400"/>
                <a:gridCol w="2027950"/>
              </a:tblGrid>
              <a:tr h="490500">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Kilometers</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0" lang="en-US" sz="2600" u="none" cap="none" strike="noStrike">
                          <a:solidFill>
                            <a:schemeClr val="dk1"/>
                          </a:solidFill>
                          <a:latin typeface="Arial"/>
                          <a:ea typeface="Arial"/>
                          <a:cs typeface="Arial"/>
                          <a:sym typeface="Arial"/>
                        </a:rPr>
                        <a:t>1</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0" lang="en-US" sz="2600" u="none" cap="none" strike="noStrike">
                          <a:solidFill>
                            <a:schemeClr val="dk1"/>
                          </a:solidFill>
                          <a:latin typeface="Arial"/>
                          <a:ea typeface="Arial"/>
                          <a:cs typeface="Arial"/>
                          <a:sym typeface="Arial"/>
                        </a:rPr>
                        <a:t>10</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0" lang="en-US" sz="2600" u="none" cap="none" strike="noStrike">
                          <a:solidFill>
                            <a:schemeClr val="dk1"/>
                          </a:solidFill>
                          <a:latin typeface="Arial"/>
                          <a:ea typeface="Arial"/>
                          <a:cs typeface="Arial"/>
                          <a:sym typeface="Arial"/>
                        </a:rPr>
                        <a:t>100</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90500">
                <a:tc>
                  <a:txBody>
                    <a:bodyPr/>
                    <a:lstStyle/>
                    <a:p>
                      <a:pPr indent="0" lvl="0" marL="0" marR="0" rtl="0" algn="l">
                        <a:lnSpc>
                          <a:spcPct val="100000"/>
                        </a:lnSpc>
                        <a:spcBef>
                          <a:spcPts val="0"/>
                        </a:spcBef>
                        <a:spcAft>
                          <a:spcPts val="0"/>
                        </a:spcAft>
                        <a:buClr>
                          <a:srgbClr val="000000"/>
                        </a:buClr>
                        <a:buSzPts val="2600"/>
                        <a:buFont typeface="Arial"/>
                        <a:buNone/>
                      </a:pPr>
                      <a:r>
                        <a:rPr b="1" lang="en-US" sz="2600" u="none" cap="none" strike="noStrike">
                          <a:solidFill>
                            <a:schemeClr val="lt1"/>
                          </a:solidFill>
                          <a:latin typeface="Arial"/>
                          <a:ea typeface="Arial"/>
                          <a:cs typeface="Arial"/>
                          <a:sym typeface="Arial"/>
                        </a:rPr>
                        <a:t>Miles</a:t>
                      </a:r>
                      <a:endParaRPr b="1" sz="26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0" lang="en-US" sz="2600" u="none" cap="none" strike="noStrike">
                          <a:solidFill>
                            <a:schemeClr val="dk1"/>
                          </a:solidFill>
                          <a:latin typeface="Arial"/>
                          <a:ea typeface="Arial"/>
                          <a:cs typeface="Arial"/>
                          <a:sym typeface="Arial"/>
                        </a:rPr>
                        <a:t>0.6</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705" name="Google Shape;705;p72"/>
          <p:cNvSpPr txBox="1"/>
          <p:nvPr/>
        </p:nvSpPr>
        <p:spPr>
          <a:xfrm>
            <a:off x="362645" y="498253"/>
            <a:ext cx="6355147" cy="13951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complete the table of equivalent ratios to compare miles to 10 kilometers? to 100 kilometers?</a:t>
            </a:r>
            <a:endParaRPr b="0" i="0" sz="1400" u="none" cap="none" strike="noStrike">
              <a:solidFill>
                <a:srgbClr val="000000"/>
              </a:solidFill>
              <a:latin typeface="Arial"/>
              <a:ea typeface="Arial"/>
              <a:cs typeface="Arial"/>
              <a:sym typeface="Arial"/>
            </a:endParaRPr>
          </a:p>
        </p:txBody>
      </p:sp>
      <p:sp>
        <p:nvSpPr>
          <p:cNvPr id="706" name="Google Shape;706;p72"/>
          <p:cNvSpPr txBox="1"/>
          <p:nvPr/>
        </p:nvSpPr>
        <p:spPr>
          <a:xfrm>
            <a:off x="362645" y="4395639"/>
            <a:ext cx="5960624" cy="196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multiply the unit ratio by 10 and 100 to determine how many miles are in 10 and 100 kilometers.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41</a:t>
            </a:r>
          </a:p>
        </p:txBody>
      </p:sp>
      <p:grpSp>
        <p:nvGrpSpPr>
          <p:cNvPr id="9003" name="TEACH-2-student-move" descr="TEACH 2 · Use strategies and tasks to engage students in rigorous work"/>
          <p:cNvGrpSpPr/>
          <p:nvPr/>
        </p:nvGrpSpPr>
        <p:grpSpPr>
          <a:xfrm>
            <a:off x="502920" y="2177338"/>
            <a:ext cx="11186160" cy="402336"/>
            <a:chOff x="502920" y="2177338"/>
            <a:chExt cx="11186160" cy="402336"/>
          </a:xfrm>
        </p:grpSpPr>
        <p:sp>
          <p:nvSpPr>
            <p:cNvPr id="9004" name="TEACH-move-card"/>
            <p:cNvSpPr/>
            <p:nvPr/>
          </p:nvSpPr>
          <p:spPr>
            <a:xfrm>
              <a:off x="502920" y="217733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2253782"/>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217733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sld>
</file>

<file path=ppt/slides/slide21.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400" b="1">
                <a:solidFill>
                  <a:srgbClr val="7030A0"/>
                </a:solidFill>
                <a:latin typeface="Arial"/>
              </a:rPr>
              <a:t>Session 2 Warm-Up</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2D3A40"/>
                </a:solidFill>
                <a:latin typeface="Arial"/>
              </a:rPr>
              <a:t>Lesson 3-7 · Converting Between Systems   |   Session 2 Warm-Up · about 4 minutes</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73152" rIns="73152" bIns="27432" anchor="t">
            <a:spAutoFit/>
          </a:bodyPr>
          <a:lstStyle/>
          <a:p>
            <a:pPr algn="l"/>
            <a:r>
              <a:rPr sz="1800" b="1">
                <a:solidFill>
                  <a:srgbClr val="2D3A40"/>
                </a:solidFill>
                <a:latin typeface="Arial"/>
              </a:rPr>
              <a:t>1 kilometer ≈ 0.6 mile</a:t>
            </a:r>
          </a:p>
          <a:p>
            <a:pPr algn="l"/>
            <a:r>
              <a:rPr sz="1800" b="1">
                <a:solidFill>
                  <a:srgbClr val="2D3A40"/>
                </a:solidFill>
                <a:latin typeface="Arial"/>
              </a:rPr>
              <a:t>10 kilometers ≈ ______ miles</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73152" rIns="73152" bIns="27432" anchor="t">
            <a:spAutoFit/>
          </a:bodyPr>
          <a:lstStyle/>
          <a:p>
            <a:pPr algn="l"/>
            <a:r>
              <a:rPr sz="1800" b="1">
                <a:solidFill>
                  <a:srgbClr val="2D3A40"/>
                </a:solidFill>
                <a:latin typeface="Arial"/>
              </a:rPr>
              <a:t>1 pound ≈ 0.45 kilogram</a:t>
            </a:r>
          </a:p>
          <a:p>
            <a:pPr algn="l"/>
            <a:r>
              <a:rPr sz="1800" b="1">
                <a:solidFill>
                  <a:srgbClr val="2D3A40"/>
                </a:solidFill>
                <a:latin typeface="Arial"/>
              </a:rPr>
              <a:t>20 pounds ≈ ______ kilograms</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73152" rIns="73152" bIns="27432" anchor="t">
            <a:spAutoFit/>
          </a:bodyPr>
          <a:lstStyle/>
          <a:p>
            <a:pPr algn="l"/>
            <a:r>
              <a:rPr sz="1800" b="1">
                <a:solidFill>
                  <a:srgbClr val="2D3A40"/>
                </a:solidFill>
                <a:latin typeface="Arial"/>
              </a:rPr>
              <a:t>Why do we use ≈ instead of = with a rounded conversion factor?</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73152" rIns="73152" bIns="27432" anchor="t">
            <a:spAutoFit/>
          </a:bodyPr>
          <a:lstStyle/>
          <a:p>
            <a:pPr algn="l"/>
            <a:r>
              <a:rPr sz="1800" b="1">
                <a:solidFill>
                  <a:srgbClr val="2D3A40"/>
                </a:solidFill>
                <a:latin typeface="Arial"/>
              </a:rPr>
              <a:t>Which is greater: 1 kilogram or 1 pound? ______</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41</a:t>
            </a:r>
          </a:p>
        </p:txBody>
      </p:sp>
    </p:spTree>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F2219A-8E70-465B-90FB-1ECD46C78032}"/>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00" b="1">
                <ns0:solidFill>
                  <ns0:srgbClr val="782DA0"/>
                </ns0:solidFill>
                <ns0:latin typeface="Arial"/>
                <ns0:ea typeface="Arial"/>
                <ns0:cs typeface="Arial"/>
              </ns0:defRPr>
            </ns0:pPr>
            <ns0:r>
              <ns0:rPr sz="2400" b="1">
                <ns0:solidFill>
                  <ns0:srgbClr val="7030A0"/>
                </ns0:solidFill>
                <ns0:latin typeface="Arial"/>
                <ns0:ea typeface="Arial"/>
                <ns0:cs typeface="Arial"/>
              </ns0:rPr>
              <ns0:t>Review Notes — Session 2</ns0:t>
            </ns0:r>
          </ns0:p>
        </p:txBody>
      </p:sp>
      <p:sp>
        <p:nvSpPr>
          <p:cNvPr id="2" name="">
            <a:extLst xmlns:a="http://schemas.openxmlformats.org/drawingml/2006/main">
              <a:ext uri="{FF2B5EF4-FFF2-40B4-BE49-F238E27FC236}">
                <a16:creationId xmlns:a16="http://schemas.microsoft.com/office/drawing/2014/main" id="{BC7A8218-008D-4E3A-A77D-FFB849C26BAF}"/>
              </a:ext>
            </a:extLst>
          </p:cNvPr>
          <p:cNvSpPr>
            <a:spLocks xmlns:a="http://schemas.openxmlformats.org/drawingml/2006/main" noGrp="1"/>
          </p:cNvSpPr>
          <p:nvPr/>
        </p:nvSpPr>
        <p:spPr>
          <a:xfrm xmlns:a="http://schemas.openxmlformats.org/drawingml/2006/main">
            <a:off x="523875" y="1028700"/>
            <a:ext cx="866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6872"/>
                </a:solidFill>
                <a:latin typeface="Arial"/>
                <a:ea typeface="Arial"/>
                <a:cs typeface="Arial"/>
              </a:defRPr>
            </a:pPr>
            <a:r>
              <a:rPr sz="1575" b="0">
                <a:solidFill>
                  <a:srgbClr val="5D6872"/>
                </a:solidFill>
                <a:latin typeface="Arial"/>
                <a:ea typeface="Arial"/>
                <a:cs typeface="Arial"/>
              </a:rPr>
              <a:t xml:space="preserve">Review the key ideas before Session 2.</a:t>
            </a:r>
            <a:r>
              <a:rPr sz="1575" b="1">
                <a:solidFill>
                  <a:srgbClr val="23282D"/>
                </a:solidFill>
                <a:highlight>
                  <a:srgbClr val="FFF2A8"/>
                </a:highlight>
                <a:latin typeface="Arial"/>
                <a:ea typeface="Arial"/>
                <a:cs typeface="Arial"/>
              </a:rPr>
              <a:t/>
            </a:r>
            <a:r>
              <a:rPr sz="1575" b="0">
                <a:solidFill>
                  <a:srgbClr val="5D6872"/>
                </a:solidFill>
                <a:latin typeface="Arial"/>
                <a:ea typeface="Arial"/>
                <a:cs typeface="Arial"/>
              </a:rPr>
              <a:t xml:space="preserve"/>
            </a:r>
          </a:p>
        </p:txBody>
      </p:sp>
      <p:sp>
        <p:nvSpPr>
          <p:cNvPr id="3" name="">
            <a:extLst xmlns:a="http://schemas.openxmlformats.org/drawingml/2006/main">
              <a:ext uri="{FF2B5EF4-FFF2-40B4-BE49-F238E27FC236}">
                <a16:creationId xmlns:a16="http://schemas.microsoft.com/office/drawing/2014/main" id="{396B1FC7-3440-45D3-BAC5-100C17923E72}"/>
              </a:ext>
            </a:extLst>
          </p:cNvPr>
          <p:cNvSpPr>
            <a:spLocks xmlns:a="http://schemas.openxmlformats.org/drawingml/2006/main" noGrp="1"/>
          </p:cNvSpPr>
          <p:nvPr/>
        </p:nvSpPr>
        <p:spPr>
          <a:xfrm xmlns:a="http://schemas.openxmlformats.org/drawingml/2006/main">
            <a:off x="514350" y="1609725"/>
            <a:ext cx="5762625" cy="4114800"/>
          </a:xfrm>
          <a:prstGeom xmlns:a="http://schemas.openxmlformats.org/drawingml/2006/main" prst="roundRect">
            <a:avLst>
              <a:gd name="adj" fmla="val 1852"/>
            </a:avLst>
          </a:prstGeom>
          <a:solidFill xmlns:a="http://schemas.openxmlformats.org/drawingml/2006/main">
            <a:srgbClr val="FFF0E6"/>
          </a:solidFill>
          <a:ln xmlns:a="http://schemas.openxmlformats.org/drawingml/2006/main" w="9525">
            <a:solidFill>
              <a:srgbClr val="D6E0E8"/>
            </a:solidFill>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CBB91B34-5528-439D-AE0F-FD01B29620C4}"/>
              </a:ext>
            </a:extLst>
          </p:cNvPr>
          <p:cNvSpPr>
            <a:spLocks xmlns:a="http://schemas.openxmlformats.org/drawingml/2006/main" noGrp="1"/>
          </p:cNvSpPr>
          <p:nvPr/>
        </p:nvSpPr>
        <p:spPr>
          <a:xfrm xmlns:a="http://schemas.openxmlformats.org/drawingml/2006/main">
            <a:off x="6543675" y="1609725"/>
            <a:ext cx="5114925" cy="4114800"/>
          </a:xfrm>
          <a:prstGeom xmlns:a="http://schemas.openxmlformats.org/drawingml/2006/main" prst="roundRect">
            <a:avLst>
              <a:gd name="adj" fmla="val 1852"/>
            </a:avLst>
          </a:prstGeom>
          <a:solidFill xmlns:a="http://schemas.openxmlformats.org/drawingml/2006/main">
            <a:srgbClr val="EAF7F5"/>
          </a:solidFill>
          <a:ln xmlns:a="http://schemas.openxmlformats.org/drawingml/2006/main" w="9525">
            <a:solidFill>
              <a:srgbClr val="D6E0E8"/>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99FEC43-A702-4406-8956-20DB2AF35D7E}"/>
              </a:ext>
            </a:extLst>
          </p:cNvPr>
          <p:cNvSpPr>
            <a:spLocks xmlns:a="http://schemas.openxmlformats.org/drawingml/2006/main" noGrp="1"/>
          </p:cNvSpPr>
          <p:nvPr/>
        </p:nvSpPr>
        <p:spPr>
          <a:xfrm xmlns:a="http://schemas.openxmlformats.org/drawingml/2006/main">
            <a:off x="723900" y="18002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1:p xmlns:ns1="http://schemas.openxmlformats.org/drawingml/2006/main">
            <ns1:pPr>
              <ns1:defRPr sz="1350" b="1">
                <ns1:solidFill>
                  <ns1:srgbClr val="782DA0"/>
                </ns1:solidFill>
                <ns1:latin typeface="Arial"/>
                <ns1:ea typeface="Arial"/>
                <ns1:cs typeface="Arial"/>
              </ns1:defRPr>
            </ns1:pPr>
            <ns1:r>
              <ns1:rPr sz="1300" b="1">
                <ns1:solidFill>
                  <ns1:srgbClr val="782DA0"/>
                </ns1:solidFill>
                <ns1:latin typeface="Arial"/>
                <ns1:ea typeface="Arial"/>
                <ns1:cs typeface="Arial"/>
              </ns1:rPr>
              <ns1:t>COPY THESE 3 LINES</ns1:t>
            </ns1:r>
          </ns1:p>
        </p:txBody>
      </p:sp>
      <p:sp>
        <p:nvSpPr>
          <p:cNvPr id="6" name="">
            <a:extLst xmlns:a="http://schemas.openxmlformats.org/drawingml/2006/main">
              <a:ext uri="{FF2B5EF4-FFF2-40B4-BE49-F238E27FC236}">
                <a16:creationId xmlns:a16="http://schemas.microsoft.com/office/drawing/2014/main" id="{017F5DAA-4823-4CA9-B140-59CE14DE8CBB}"/>
              </a:ext>
            </a:extLst>
          </p:cNvPr>
          <p:cNvSpPr>
            <a:spLocks xmlns:a="http://schemas.openxmlformats.org/drawingml/2006/main" noGrp="1"/>
          </p:cNvSpPr>
          <p:nvPr/>
        </p:nvSpPr>
        <p:spPr>
          <a:xfrm xmlns:a="http://schemas.openxmlformats.org/drawingml/2006/main">
            <a:off x="733425" y="235267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1536352-6D1E-4D8D-A2BB-93939162668A}"/>
              </a:ext>
            </a:extLst>
          </p:cNvPr>
          <p:cNvSpPr>
            <a:spLocks xmlns:a="http://schemas.openxmlformats.org/drawingml/2006/main" noGrp="1"/>
          </p:cNvSpPr>
          <p:nvPr/>
        </p:nvSpPr>
        <p:spPr>
          <a:xfrm xmlns:a="http://schemas.openxmlformats.org/drawingml/2006/main">
            <a:off x="1257300" y="232410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 xml:space="preserve">A </a:t>
            </a:r>
            <a:r>
              <a:rPr sz="2100" b="1">
                <a:solidFill>
                  <a:srgbClr val="23282D"/>
                </a:solidFill>
                <a:highlight>
                  <a:srgbClr val="FFF2A8"/>
                </a:highlight>
                <a:latin typeface="Arial"/>
                <a:ea typeface="Arial"/>
                <a:cs typeface="Arial"/>
              </a:rPr>
              <a:t>conversion factor</a:t>
            </a:r>
            <a:r>
              <a:rPr sz="2100" b="0">
                <a:solidFill>
                  <a:srgbClr val="23282D"/>
                </a:solidFill>
                <a:latin typeface="Arial"/>
                <a:ea typeface="Arial"/>
                <a:cs typeface="Arial"/>
              </a:rPr>
              <a:t xml:space="preserve"> links two </a:t>
            </a:r>
            <a:r>
              <a:rPr sz="2100" b="1">
                <a:solidFill>
                  <a:srgbClr val="23282D"/>
                </a:solidFill>
                <a:latin typeface="Arial"/>
                <a:ea typeface="Arial"/>
                <a:cs typeface="Arial"/>
              </a:rPr>
              <a:t xml:space="preserve">measurement units</a:t>
            </a:r>
            <a:r>
              <a:rPr sz="2100" b="0">
                <a:solidFill>
                  <a:srgbClr val="23282D"/>
                </a:solidFill>
                <a:latin typeface="Arial"/>
                <a:ea typeface="Arial"/>
                <a:cs typeface="Arial"/>
              </a:rPr>
              <a:t xml:space="preserve">.</a:t>
            </a:r>
          </a:p>
        </p:txBody>
      </p:sp>
      <p:sp>
        <p:nvSpPr>
          <p:cNvPr id="8" name="">
            <a:extLst xmlns:a="http://schemas.openxmlformats.org/drawingml/2006/main">
              <a:ext uri="{FF2B5EF4-FFF2-40B4-BE49-F238E27FC236}">
                <a16:creationId xmlns:a16="http://schemas.microsoft.com/office/drawing/2014/main" id="{032F0C46-F723-4372-B138-76D9E8D3F416}"/>
              </a:ext>
            </a:extLst>
          </p:cNvPr>
          <p:cNvSpPr>
            <a:spLocks xmlns:a="http://schemas.openxmlformats.org/drawingml/2006/main" noGrp="1"/>
          </p:cNvSpPr>
          <p:nvPr/>
        </p:nvSpPr>
        <p:spPr>
          <a:xfrm xmlns:a="http://schemas.openxmlformats.org/drawingml/2006/main">
            <a:off x="733425" y="3333750"/>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DDD3C3EC-8836-43F8-BC92-819495E45FA0}"/>
              </a:ext>
            </a:extLst>
          </p:cNvPr>
          <p:cNvSpPr>
            <a:spLocks xmlns:a="http://schemas.openxmlformats.org/drawingml/2006/main" noGrp="1"/>
          </p:cNvSpPr>
          <p:nvPr/>
        </p:nvSpPr>
        <p:spPr>
          <a:xfrm xmlns:a="http://schemas.openxmlformats.org/drawingml/2006/main">
            <a:off x="1257300" y="3305175"/>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1">
                <a:solidFill>
                  <a:srgbClr val="23282D"/>
                </a:solidFill>
                <a:latin typeface="Arial"/>
                <a:ea typeface="Arial"/>
                <a:cs typeface="Arial"/>
              </a:rPr>
              <a:t xml:space="preserve">Scale</a:t>
            </a:r>
            <a:r>
              <a:rPr sz="2100" b="0">
                <a:solidFill>
                  <a:srgbClr val="23282D"/>
                </a:solidFill>
                <a:latin typeface="Arial"/>
                <a:ea typeface="Arial"/>
                <a:cs typeface="Arial"/>
              </a:rPr>
              <a:t xml:space="preserve"> both </a:t>
            </a:r>
            <a:r>
              <a:rPr sz="2100" b="1">
                <a:solidFill>
                  <a:srgbClr val="23282D"/>
                </a:solidFill>
                <a:latin typeface="Arial"/>
                <a:ea typeface="Arial"/>
                <a:cs typeface="Arial"/>
              </a:rPr>
              <a:t xml:space="preserve">quantities</a:t>
            </a:r>
            <a:r>
              <a:rPr sz="2100" b="0">
                <a:solidFill>
                  <a:srgbClr val="23282D"/>
                </a:solidFill>
                <a:latin typeface="Arial"/>
                <a:ea typeface="Arial"/>
                <a:cs typeface="Arial"/>
              </a:rPr>
              <a:t xml:space="preserve"> by the same number.</a:t>
            </a:r>
          </a:p>
        </p:txBody>
      </p:sp>
      <p:sp>
        <p:nvSpPr>
          <p:cNvPr id="10" name="">
            <a:extLst xmlns:a="http://schemas.openxmlformats.org/drawingml/2006/main">
              <a:ext uri="{FF2B5EF4-FFF2-40B4-BE49-F238E27FC236}">
                <a16:creationId xmlns:a16="http://schemas.microsoft.com/office/drawing/2014/main" id="{B97C05AB-0EAC-4B4E-9651-E2B0A38E70A4}"/>
              </a:ext>
            </a:extLst>
          </p:cNvPr>
          <p:cNvSpPr>
            <a:spLocks xmlns:a="http://schemas.openxmlformats.org/drawingml/2006/main" noGrp="1"/>
          </p:cNvSpPr>
          <p:nvPr/>
        </p:nvSpPr>
        <p:spPr>
          <a:xfrm xmlns:a="http://schemas.openxmlformats.org/drawingml/2006/main">
            <a:off x="733425" y="431482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89D2752-5396-4B5C-B87E-3CEBA8F00D80}"/>
              </a:ext>
            </a:extLst>
          </p:cNvPr>
          <p:cNvSpPr>
            <a:spLocks xmlns:a="http://schemas.openxmlformats.org/drawingml/2006/main" noGrp="1"/>
          </p:cNvSpPr>
          <p:nvPr/>
        </p:nvSpPr>
        <p:spPr>
          <a:xfrm xmlns:a="http://schemas.openxmlformats.org/drawingml/2006/main">
            <a:off x="1257300" y="428625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 xml:space="preserve">Use ≈ when the </a:t>
            </a:r>
            <a:r>
              <a:rPr sz="2100" b="1">
                <a:solidFill>
                  <a:srgbClr val="23282D"/>
                </a:solidFill>
                <a:highlight>
                  <a:srgbClr val="FFF2A8"/>
                </a:highlight>
                <a:latin typeface="Arial"/>
                <a:ea typeface="Arial"/>
                <a:cs typeface="Arial"/>
              </a:rPr>
              <a:t>conversion factor</a:t>
            </a:r>
            <a:r>
              <a:rPr sz="2100" b="0">
                <a:solidFill>
                  <a:srgbClr val="23282D"/>
                </a:solidFill>
                <a:latin typeface="Arial"/>
                <a:ea typeface="Arial"/>
                <a:cs typeface="Arial"/>
              </a:rPr>
              <a:t xml:space="preserve"> is rounded.</a:t>
            </a:r>
          </a:p>
        </p:txBody>
      </p:sp>
      <p:sp>
        <p:nvSpPr>
          <p:cNvPr id="12" name="">
            <a:extLst xmlns:a="http://schemas.openxmlformats.org/drawingml/2006/main">
              <a:ext uri="{FF2B5EF4-FFF2-40B4-BE49-F238E27FC236}">
                <a16:creationId xmlns:a16="http://schemas.microsoft.com/office/drawing/2014/main" id="{DF9FD1ED-7BA0-4294-A640-7432EDEB0ACE}"/>
              </a:ext>
            </a:extLst>
          </p:cNvPr>
          <p:cNvSpPr>
            <a:spLocks xmlns:a="http://schemas.openxmlformats.org/drawingml/2006/main" noGrp="1"/>
          </p:cNvSpPr>
          <p:nvPr/>
        </p:nvSpPr>
        <p:spPr>
          <a:xfrm xmlns:a="http://schemas.openxmlformats.org/drawingml/2006/main">
            <a:off x="6743700" y="18097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
          <p:cNvGraphicFramePr/>
          <p:nvPr/>
        </p:nvGraphicFramePr>
        <p:xfrm>
          <a:off xmlns:a="http://schemas.openxmlformats.org/drawingml/2006/main" x="6743700" y="2333625"/>
          <a:ext xmlns:a="http://schemas.openxmlformats.org/drawingml/2006/main" cx="4705350" cy="2019300"/>
        </p:xfrm>
        <a:graphic xmlns:a="http://schemas.openxmlformats.org/drawingml/2006/main">
          <a:graphicData uri="http://schemas.openxmlformats.org/drawingml/2006/table">
            <a:tbl>
              <a:tblPr/>
              <a:tblGrid>
                <a:gridCol w="2352675"/>
                <a:gridCol w="2352675"/>
              </a:tblGrid>
              <a:tr h="504825">
                <a:tc>
                  <a:txBody>
                    <a:bodyPr/>
                    <a:lstStyle/>
                    <a:p>
                      <a:r>
                        <a:rPr sz="1425" b="1">
                          <a:solidFill>
                            <a:srgbClr val="FFFFFF"/>
                          </a:solidFill>
                          <a:latin typeface="Arial"/>
                          <a:ea typeface="Arial"/>
                          <a:cs typeface="Arial"/>
                        </a:rPr>
                        <a:t>Kilometers</a:t>
                      </a:r>
                    </a:p>
                  </a:txBody>
                  <a:tcPr marL="91440" marR="91440" marT="45720" marB="45720">
                    <a:solidFill>
                      <a:srgbClr val="0070C0"/>
                    </a:solidFill>
                  </a:tcPr>
                </a:tc>
                <a:tc>
                  <a:txBody>
                    <a:bodyPr/>
                    <a:lstStyle/>
                    <a:p>
                      <a:r>
                        <a:rPr sz="1425" b="1">
                          <a:solidFill>
                            <a:srgbClr val="FFFFFF"/>
                          </a:solidFill>
                          <a:latin typeface="Arial"/>
                          <a:ea typeface="Arial"/>
                          <a:cs typeface="Arial"/>
                        </a:rPr>
                        <a:t>Miles (about)</a:t>
                      </a:r>
                    </a:p>
                  </a:txBody>
                  <a:tcPr marL="91440" marR="91440" marT="45720" marB="45720">
                    <a:solidFill>
                      <a:srgbClr val="0070C0"/>
                    </a:solidFill>
                  </a:tcPr>
                </a:tc>
              </a:tr>
              <a:tr h="504825">
                <a:tc>
                  <a:txBody>
                    <a:bodyPr/>
                    <a:lstStyle/>
                    <a:p>
                      <a:r>
                        <a:rPr sz="1800" b="0">
                          <a:solidFill>
                            <a:srgbClr val="23282D"/>
                          </a:solidFill>
                          <a:latin typeface="Arial"/>
                          <a:ea typeface="Arial"/>
                          <a:cs typeface="Arial"/>
                        </a:rPr>
                        <a:t>1</a:t>
                      </a:r>
                    </a:p>
                  </a:txBody>
                  <a:tcPr marL="91440" marR="91440" marT="45720" marB="45720">
                    <a:solidFill>
                      <a:srgbClr val="FFFFFF"/>
                    </a:solidFill>
                  </a:tcPr>
                </a:tc>
                <a:tc>
                  <a:txBody>
                    <a:bodyPr/>
                    <a:lstStyle/>
                    <a:p>
                      <a:r>
                        <a:rPr sz="1800" b="0">
                          <a:solidFill>
                            <a:srgbClr val="23282D"/>
                          </a:solidFill>
                          <a:latin typeface="Arial"/>
                          <a:ea typeface="Arial"/>
                          <a:cs typeface="Arial"/>
                        </a:rPr>
                        <a:t>0.6</a:t>
                      </a:r>
                    </a:p>
                  </a:txBody>
                  <a:tcPr marL="91440" marR="91440" marT="45720" marB="45720">
                    <a:solidFill>
                      <a:srgbClr val="FFFFFF"/>
                    </a:solidFill>
                  </a:tcPr>
                </a:tc>
              </a:tr>
              <a:tr h="504825">
                <a:tc>
                  <a:txBody>
                    <a:bodyPr/>
                    <a:lstStyle/>
                    <a:p>
                      <a:r>
                        <a:rPr sz="1800" b="0">
                          <a:solidFill>
                            <a:srgbClr val="23282D"/>
                          </a:solidFill>
                          <a:latin typeface="Arial"/>
                          <a:ea typeface="Arial"/>
                          <a:cs typeface="Arial"/>
                        </a:rPr>
                        <a:t>10</a:t>
                      </a:r>
                    </a:p>
                  </a:txBody>
                  <a:tcPr marL="91440" marR="91440" marT="45720" marB="45720">
                    <a:solidFill>
                      <a:srgbClr val="FFFFFF"/>
                    </a:solidFill>
                  </a:tcPr>
                </a:tc>
                <a:tc>
                  <a:txBody>
                    <a:bodyPr/>
                    <a:lstStyle/>
                    <a:p>
                      <a:r>
                        <a:rPr sz="1800" b="0">
                          <a:solidFill>
                            <a:srgbClr val="23282D"/>
                          </a:solidFill>
                          <a:latin typeface="Arial"/>
                          <a:ea typeface="Arial"/>
                          <a:cs typeface="Arial"/>
                        </a:rPr>
                        <a:t>6</a:t>
                      </a:r>
                    </a:p>
                  </a:txBody>
                  <a:tcPr marL="91440" marR="91440" marT="45720" marB="45720">
                    <a:solidFill>
                      <a:srgbClr val="FFFFFF"/>
                    </a:solidFill>
                  </a:tcPr>
                </a:tc>
              </a:tr>
              <a:tr h="504825">
                <a:tc>
                  <a:txBody>
                    <a:bodyPr/>
                    <a:lstStyle/>
                    <a:p>
                      <a:r>
                        <a:rPr sz="1800" b="0">
                          <a:solidFill>
                            <a:srgbClr val="23282D"/>
                          </a:solidFill>
                          <a:latin typeface="Arial"/>
                          <a:ea typeface="Arial"/>
                          <a:cs typeface="Arial"/>
                        </a:rPr>
                        <a:t>100</a:t>
                      </a:r>
                    </a:p>
                  </a:txBody>
                  <a:tcPr marL="91440" marR="91440" marT="45720" marB="45720">
                    <a:solidFill>
                      <a:srgbClr val="FFFFFF"/>
                    </a:solidFill>
                  </a:tcPr>
                </a:tc>
                <a:tc>
                  <a:txBody>
                    <a:bodyPr/>
                    <a:lstStyle/>
                    <a:p>
                      <a:r>
                        <a:rPr sz="1800" b="0">
                          <a:solidFill>
                            <a:srgbClr val="23282D"/>
                          </a:solidFill>
                          <a:latin typeface="Arial"/>
                          <a:ea typeface="Arial"/>
                          <a:cs typeface="Arial"/>
                        </a:rPr>
                        <a:t>60</a:t>
                      </a:r>
                    </a:p>
                  </a:txBody>
                  <a:tcPr marL="91440" marR="91440" marT="45720" marB="45720">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2C3E2E62-B8CE-4E0C-AD51-51D7889BF3F6}"/>
              </a:ext>
            </a:extLst>
          </p:cNvPr>
          <p:cNvSpPr>
            <a:spLocks xmlns:a="http://schemas.openxmlformats.org/drawingml/2006/main" noGrp="1"/>
          </p:cNvSpPr>
          <p:nvPr/>
        </p:nvSpPr>
        <p:spPr>
          <a:xfrm xmlns:a="http://schemas.openxmlformats.org/drawingml/2006/main">
            <a:off x="6743700" y="4581525"/>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0C0"/>
                </a:solidFill>
                <a:latin typeface="Arial"/>
                <a:ea typeface="Arial"/>
                <a:cs typeface="Arial"/>
              </a:defRPr>
            </a:pPr>
            <a:r>
              <a:rPr sz="1875" b="1">
                <a:solidFill>
                  <a:srgbClr val="0070C0"/>
                </a:solidFill>
                <a:latin typeface="Arial"/>
                <a:ea typeface="Arial"/>
                <a:cs typeface="Arial"/>
              </a:rPr>
              <a:t>100 km/h ≈ 60 mi/h, so it is slower than 100 mi/h.</a:t>
            </a:r>
          </a:p>
        </p:txBody>
      </p:sp>
      <p:sp xmlns:a="http://schemas.openxmlformats.org/drawingml/2006/main">
        <p:nvSpPr>
          <p:cNvPr id="28"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REVIEW NOTES  ·  RECALL • CONNECT • APPLY</a:t>
            </a:r>
            <a:r>
              <a:rPr lang="en-US" sz="1150" b="1" dirty="0">
                <a:solidFill>
                  <a:srgbClr val="2D3A40"/>
                </a:solidFill>
                <a:latin typeface="Arial"/>
              </a:rPr>
              <a:t xml:space="preserve"/>
            </a:r>
          </a:p>
        </p:txBody>
      </p:sp>
      <p:sp xmlns:a="http://schemas.openxmlformats.org/drawingml/2006/main">
        <p:nvSpPr>
          <p:cNvPr id="30" name="Rounded Rectangle 17"/>
          <p:cNvSpPr/>
          <p:nvPr/>
        </p:nvSpPr>
        <p:spPr>
          <a:xfrm>
            <a:off x="502920" y="5486400"/>
            <a:ext cx="11064240" cy="77724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1" name="Rectangle 18"/>
          <p:cNvSpPr/>
          <p:nvPr/>
        </p:nvSpPr>
        <p:spPr>
          <a:xfrm>
            <a:off x="502920" y="5486400"/>
            <a:ext cx="64008" cy="77724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2" name="TextBox 19"/>
          <p:cNvSpPr txBox="1"/>
          <p:nvPr/>
        </p:nvSpPr>
        <p:spPr>
          <a:xfrm>
            <a:off x="667512" y="5596128"/>
            <a:ext cx="10771632" cy="210312"/>
          </a:xfrm>
          <a:prstGeom prst="rect">
            <a:avLst/>
          </a:prstGeom>
          <a:noFill/>
        </p:spPr>
        <p:txBody>
          <a:bodyPr wrap="square" lIns="0" tIns="0" rIns="0" bIns="0" anchor="t">
            <a:spAutoFit/>
          </a:bodyPr>
          <a:lstStyle/>
          <a:p>
            <a:pPr algn="l"/>
            <a:r>
              <a:rPr sz="1100" b="1">
                <a:solidFill>
                  <a:srgbClr val="782DA0"/>
                </a:solidFill>
                <a:latin typeface="Arial"/>
              </a:rPr>
              <a:t>EXPLAIN THE CONNECTION</a:t>
            </a:r>
          </a:p>
        </p:txBody>
      </p:sp>
      <p:sp xmlns:a="http://schemas.openxmlformats.org/drawingml/2006/main">
        <p:nvSpPr>
          <p:cNvPr id="33" name="TextBox 20"/>
          <p:cNvSpPr txBox="1"/>
          <p:nvPr/>
        </p:nvSpPr>
        <p:spPr>
          <a:xfrm>
            <a:off x="667512" y="5888736"/>
            <a:ext cx="10771632" cy="320040"/>
          </a:xfrm>
          <a:prstGeom prst="rect">
            <a:avLst/>
          </a:prstGeom>
          <a:noFill/>
        </p:spPr>
        <p:txBody>
          <a:bodyPr wrap="square" lIns="0" tIns="0" rIns="0" bIns="0" anchor="t">
            <a:spAutoFit/>
          </a:bodyPr>
          <a:lstStyle/>
          <a:p>
            <a:pPr algn="l"/>
            <a:r>
              <a:rPr sz="1600" b="0">
                <a:solidFill>
                  <a:srgbClr val="23282D"/>
                </a:solidFill>
                <a:latin typeface="Arial"/>
              </a:rPr>
              <a:t>“I used ≈ because ___. Both quantities were multiplied by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check: explain one idea without looking.</a:t>
            </a:r>
          </a:p>
        </p:txBody>
      </p:sp>
      <p:sp>
        <p:nvSpPr>
          <p:cNvPr id="9002"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24 / 41</ns3:t>
            </ns3:r>
          </ns3:p>
        </p:txBody>
      </p:sp>
    </p:spTree>
    <p:extLst>
      <p:ext uri="{BB962C8B-B14F-4D97-AF65-F5344CB8AC3E}">
        <p14:creationId xmlns:p14="http://schemas.microsoft.com/office/powerpoint/2010/main" val="1817784952"/>
      </p:ext>
    </p:extLst>
  </p:cSld>
</p:sld>
</file>

<file path=ppt/slides/slide23.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Learning Target — Session 2</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3-7 · Converting Between Systems   |   Maryland Standard 6.AT.3</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LEARNING TARGET</a:t>
            </a:r>
            <a:r>
              <a:rPr lang="en-US" sz="1150" b="1" dirty="0">
                <a:solidFill>
                  <a:srgbClr val="2D3A40"/>
                </a:solidFill>
                <a:latin typeface="Arial"/>
              </a:rPr>
              <a:t xml:space="preserve">  ·  CONVERT • COMPARE • EXPLAIN</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Today I will convert to matching units and explain what the result means.</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I can use ratio reasoning to convert pounds to kilograms.</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I can explain why a rounded conversion factor gives an approximate answer.</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1600" b="0">
                <a:solidFill>
                  <a:srgbClr val="23282D"/>
                </a:solidFill>
                <a:latin typeface="Arial"/>
              </a:rPr>
              <a:t>✓ Scale the pounds and kilograms together.</a:t>
            </a:r>
          </a:p>
          <a:p>
            <a:pPr algn="l"/>
            <a:r>
              <a:rPr sz="1600" b="0">
                <a:solidFill>
                  <a:srgbClr val="23282D"/>
                </a:solidFill>
                <a:latin typeface="Arial"/>
              </a:rPr>
              <a:t>✓ Label the converted amount.</a:t>
            </a:r>
          </a:p>
          <a:p>
            <a:pPr algn="l"/>
            <a:r>
              <a:rPr sz="1600" b="0">
                <a:solidFill>
                  <a:srgbClr val="23282D"/>
                </a:solidFill>
                <a:latin typeface="Arial"/>
              </a:rPr>
              <a:t>✓ Explain how the result answers the question.</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1600" b="1">
                <a:latin typeface="Arial"/>
              </a:rPr>
              <a:t>Converting units helps us understand measurements used in different places.</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MATH COMMUNITY:  Different strategies are welcome  •  Ask before telling  •  Revising your thinking is part of learning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Tell a partner the new goal and how you will show it.</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41</a:t>
            </a:r>
          </a:p>
        </p:txBody>
      </p:sp>
    </p:spTree>
  </p:cSld>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28" name="Google Shape;828;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9" name="Google Shape;829;p86"/>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30" name="Google Shape;830;p86"/>
          <p:cNvSpPr txBox="1"/>
          <p:nvPr/>
        </p:nvSpPr>
        <p:spPr>
          <a:xfrm>
            <a:off x="484560" y="936100"/>
            <a:ext cx="3904129"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id="831" name="Google Shape;831;p86"/>
          <p:cNvPicPr preferRelativeResize="0"/>
          <p:nvPr/>
        </p:nvPicPr>
        <p:blipFill rotWithShape="1">
          <a:blip r:embed="rId2">
            <a:alphaModFix/>
          </a:blip>
          <a:srcRect b="0" l="0" r="0" t="0"/>
          <a:stretch/>
        </p:blipFill>
        <p:spPr>
          <a:xfrm>
            <a:off x="1879439" y="2271744"/>
            <a:ext cx="7154342" cy="2268000"/>
          </a:xfrm>
          <a:prstGeom prst="rect">
            <a:avLst/>
          </a:prstGeom>
          <a:noFill/>
          <a:ln>
            <a:noFill/>
          </a:ln>
        </p:spPr>
      </p:pic>
      <p:pic>
        <p:nvPicPr>
          <p:cNvPr id="832" name="Google Shape;832;p86"/>
          <p:cNvPicPr preferRelativeResize="0"/>
          <p:nvPr/>
        </p:nvPicPr>
        <p:blipFill rotWithShape="1">
          <a:blip r:embed="rId3">
            <a:alphaModFix/>
          </a:blip>
          <a:srcRect b="0" l="0" r="0" t="0"/>
          <a:stretch/>
        </p:blipFill>
        <p:spPr>
          <a:xfrm>
            <a:off x="484560" y="4687442"/>
            <a:ext cx="5054600" cy="838200"/>
          </a:xfrm>
          <a:prstGeom prst="rect">
            <a:avLst/>
          </a:prstGeom>
          <a:noFill/>
          <a:ln>
            <a:noFill/>
          </a:ln>
        </p:spPr>
      </p:pic>
      <p:sp>
        <p:nvSpPr>
          <p:cNvPr id="833" name="Google Shape;833;p86"/>
          <p:cNvSpPr txBox="1"/>
          <p:nvPr/>
        </p:nvSpPr>
        <p:spPr>
          <a:xfrm>
            <a:off x="3344577" y="4844760"/>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34" name="Google Shape;834;p86"/>
          <p:cNvSpPr/>
          <p:nvPr/>
        </p:nvSpPr>
        <p:spPr>
          <a:xfrm>
            <a:off x="697756" y="5502765"/>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strategies are you using to help you be more successful in math class?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13898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cxnSp>
        <p:nvCxnSpPr>
          <p:cNvPr id="545" name="Google Shape;545;p76"/>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546" name="Google Shape;546;p76"/>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lang="en-US" sz="2800">
                <a:solidFill>
                  <a:srgbClr val="782DA0"/>
                </a:solidFill>
                <a:latin typeface="Arial"/>
                <a:ea typeface="Arial"/>
                <a:cs typeface="Arial"/>
                <a:sym typeface="Arial"/>
              </a:rPr>
              <a:t>Veterinary Medicine</a:t>
            </a:r>
            <a:endParaRPr/>
          </a:p>
        </p:txBody>
      </p:sp>
      <p:sp>
        <p:nvSpPr>
          <p:cNvPr id="547" name="Google Shape;547;p76"/>
          <p:cNvSpPr txBox="1"/>
          <p:nvPr/>
        </p:nvSpPr>
        <p:spPr>
          <a:xfrm>
            <a:off x="484565" y="936100"/>
            <a:ext cx="7080892" cy="18359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Terrance is helping at a veterinarian’s office. A customer needs flea treatment for her dog that weighs 31 pounds. The flea treatment comes in four packages shown.</a:t>
            </a:r>
            <a:endParaRPr/>
          </a:p>
          <a:p>
            <a:pPr indent="0" lvl="0" marL="0" marR="0" rtl="0" algn="l">
              <a:lnSpc>
                <a:spcPct val="100000"/>
              </a:lnSpc>
              <a:spcBef>
                <a:spcPts val="1800"/>
              </a:spcBef>
              <a:spcAft>
                <a:spcPts val="0"/>
              </a:spcAft>
              <a:buClr>
                <a:schemeClr val="dk2"/>
              </a:buClr>
              <a:buSzPts val="2800"/>
              <a:buFont typeface="Arial"/>
              <a:buNone/>
            </a:pPr>
            <a:r>
              <a:t/>
            </a:r>
            <a:endParaRPr sz="2800">
              <a:solidFill>
                <a:srgbClr val="262626"/>
              </a:solidFill>
              <a:latin typeface="Arial"/>
              <a:ea typeface="Arial"/>
              <a:cs typeface="Arial"/>
              <a:sym typeface="Arial"/>
            </a:endParaRPr>
          </a:p>
        </p:txBody>
      </p:sp>
      <p:sp>
        <p:nvSpPr>
          <p:cNvPr id="548" name="Google Shape;548;p76"/>
          <p:cNvSpPr/>
          <p:nvPr/>
        </p:nvSpPr>
        <p:spPr>
          <a:xfrm>
            <a:off x="484565" y="5539126"/>
            <a:ext cx="8969700"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 xml:space="preserve">What package should Terrance give the customer? </a:t>
            </a:r>
            <a:endParaRPr/>
          </a:p>
        </p:txBody>
      </p:sp>
      <p:pic>
        <p:nvPicPr>
          <p:cNvPr id="549" name="Google Shape;549;p76"/>
          <p:cNvPicPr preferRelativeResize="0"/>
          <p:nvPr/>
        </p:nvPicPr>
        <p:blipFill rotWithShape="1">
          <a:blip r:embed="rId3">
            <a:alphaModFix/>
          </a:blip>
          <a:srcRect b="0" l="0" r="0" t="0"/>
          <a:stretch/>
        </p:blipFill>
        <p:spPr>
          <a:xfrm>
            <a:off x="2057400" y="2852928"/>
            <a:ext cx="7516368" cy="2386584"/>
          </a:xfrm>
          <a:prstGeom prst="rect">
            <a:avLst/>
          </a:prstGeom>
          <a:noFill/>
          <a:ln>
            <a:noFill/>
          </a:ln>
        </p:spPr>
      </p:pic>
      <p:sp>
        <p:nvSpPr>
          <p:cNvPr id="550"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552" name="Rounded Rectangle 17"/>
          <p:cNvSpPr/>
          <p:nvPr/>
        </p:nvSpPr>
        <p:spPr>
          <a:xfrm>
            <a:off x="7772400" y="1143000"/>
            <a:ext cx="3931920" cy="137160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Rectangle 18"/>
          <p:cNvSpPr/>
          <p:nvPr/>
        </p:nvSpPr>
        <p:spPr>
          <a:xfrm>
            <a:off x="7772400" y="1143000"/>
            <a:ext cx="64008" cy="137160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TextBox 19"/>
          <p:cNvSpPr txBox="1"/>
          <p:nvPr/>
        </p:nvSpPr>
        <p:spPr>
          <a:xfrm>
            <a:off x="7936992" y="1252728"/>
            <a:ext cx="3639312" cy="210312"/>
          </a:xfrm>
          <a:prstGeom prst="rect">
            <a:avLst/>
          </a:prstGeom>
          <a:noFill/>
        </p:spPr>
        <p:txBody>
          <a:bodyPr wrap="square" lIns="0" tIns="0" rIns="0" bIns="0" anchor="t">
            <a:spAutoFit/>
          </a:bodyPr>
          <a:lstStyle/>
          <a:p>
            <a:pPr algn="l"/>
            <a:r>
              <a:rPr sz="1100" b="1">
                <a:solidFill>
                  <a:srgbClr val="782DA0"/>
                </a:solidFill>
                <a:latin typeface="Arial"/>
              </a:rPr>
              <a:t>PLAN YOUR COMPARISON</a:t>
            </a:r>
          </a:p>
        </p:txBody>
      </p:sp>
      <p:sp>
        <p:nvSpPr>
          <p:cNvPr id="555" name="TextBox 20"/>
          <p:cNvSpPr txBox="1"/>
          <p:nvPr/>
        </p:nvSpPr>
        <p:spPr>
          <a:xfrm>
            <a:off x="7936992" y="1545336"/>
            <a:ext cx="3639312" cy="914400"/>
          </a:xfrm>
          <a:prstGeom prst="rect">
            <a:avLst/>
          </a:prstGeom>
          <a:noFill/>
        </p:spPr>
        <p:txBody>
          <a:bodyPr wrap="square" lIns="0" tIns="0" rIns="0" bIns="0" anchor="t">
            <a:spAutoFit/>
          </a:bodyPr>
          <a:lstStyle/>
          <a:p>
            <a:pPr algn="l"/>
            <a:r>
              <a:rPr sz="1600" b="0">
                <a:solidFill>
                  <a:srgbClr val="23282D"/>
                </a:solidFill>
                <a:latin typeface="Arial"/>
              </a:rPr>
              <a:t>“The dog is measured in ___. The packages use ___. First I will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Compare strategies; defend one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41</a:t>
            </a:r>
          </a:p>
        </p:txBody>
      </p:sp>
    </p:spTree>
  </p:cSld>
  <p:clrMapOvr>
    <a:masterClrMapping/>
  </p:clrMapOvr>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018AB0-7294-4081-9D1C-81E0084FABEC}"/>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75" b="1">
                <ns0:solidFill>
                  <ns0:srgbClr val="782DA0"/>
                </ns0:solidFill>
                <ns0:latin typeface="Arial"/>
                <ns0:ea typeface="Arial"/>
                <ns0:cs typeface="Arial"/>
              </ns0:defRPr>
            </ns0:pPr>
            <ns0:r>
              <ns0:rPr sz="2800" b="1">
                <ns0:solidFill>
                  <ns0:srgbClr val="782DA0"/>
                </ns0:solidFill>
                <ns0:latin typeface="Arial"/>
                <ns0:ea typeface="Arial"/>
                <ns0:cs typeface="Arial"/>
              </ns0:rPr>
              <ns0:t>Pounds → Kilograms</ns0:t>
            </ns0:r>
          </ns0:p>
        </p:txBody>
      </p:sp>
      <p:sp>
        <p:nvSpPr>
          <p:cNvPr id="2" name="">
            <a:extLst xmlns:a="http://schemas.openxmlformats.org/drawingml/2006/main">
              <a:ext uri="{FF2B5EF4-FFF2-40B4-BE49-F238E27FC236}">
                <a16:creationId xmlns:a16="http://schemas.microsoft.com/office/drawing/2014/main" id="{0962634A-CC5F-40A2-A18C-1105940400AB}"/>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The dog’s weight is 31 pounds. The packages use kilograms.</a:t>
            </a:r>
          </a:p>
        </p:txBody>
      </p:sp>
      <p:sp>
        <p:nvSpPr>
          <p:cNvPr id="3" name="">
            <a:extLst xmlns:a="http://schemas.openxmlformats.org/drawingml/2006/main">
              <a:ext uri="{FF2B5EF4-FFF2-40B4-BE49-F238E27FC236}">
                <a16:creationId xmlns:a16="http://schemas.microsoft.com/office/drawing/2014/main" id="{A4A6CA60-AD2C-44A7-A6F9-34D5333F35F8}"/>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Pounds are </a:t>
            </a:r>
            <a:r>
              <a:rPr sz="2250" b="1">
                <a:solidFill>
                  <a:srgbClr val="23282D"/>
                </a:solidFill>
                <a:highlight>
                  <a:srgbClr val="FFF2A8"/>
                </a:highlight>
                <a:latin typeface="Arial"/>
                <a:ea typeface="Arial"/>
                <a:cs typeface="Arial"/>
              </a:rPr>
              <a:t>customary units</a:t>
            </a:r>
            <a:r>
              <a:rPr sz="2250" b="0">
                <a:solidFill>
                  <a:srgbClr val="23282D"/>
                </a:solidFill>
                <a:latin typeface="Arial"/>
                <a:ea typeface="Arial"/>
                <a:cs typeface="Arial"/>
              </a:rPr>
              <a:t xml:space="preserve">. Kilograms are </a:t>
            </a:r>
            <a:r>
              <a:rPr sz="2250" b="1">
                <a:solidFill>
                  <a:srgbClr val="23282D"/>
                </a:solidFill>
                <a:highlight>
                  <a:srgbClr val="FFF2A8"/>
                </a:highlight>
                <a:latin typeface="Arial"/>
                <a:ea typeface="Arial"/>
                <a:cs typeface="Arial"/>
              </a:rPr>
              <a:t>metric units</a:t>
            </a:r>
            <a:r>
              <a:rPr sz="2250" b="0">
                <a:solidFill>
                  <a:srgbClr val="23282D"/>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E5795A40-EF67-4669-A3D1-269C506684E1}"/>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Use the </a:t>
            </a:r>
            <a:r>
              <a:rPr sz="2250" b="1">
                <a:solidFill>
                  <a:srgbClr val="23282D"/>
                </a:solidFill>
                <a:highlight>
                  <a:srgbClr val="FFF2A8"/>
                </a:highlight>
                <a:latin typeface="Arial"/>
                <a:ea typeface="Arial"/>
                <a:cs typeface="Arial"/>
              </a:rPr>
              <a:t>approximate</a:t>
            </a:r>
            <a:r>
              <a:rPr sz="2250" b="0">
                <a:solidFill>
                  <a:srgbClr val="23282D"/>
                </a:solidFill>
                <a:latin typeface="Arial"/>
                <a:ea typeface="Arial"/>
                <a:cs typeface="Arial"/>
              </a:rPr>
              <a:t xml:space="preserve"> </a:t>
            </a:r>
            <a:r>
              <a:rPr sz="2250" b="1">
                <a:solidFill>
                  <a:srgbClr val="23282D"/>
                </a:solidFill>
                <a:highlight>
                  <a:srgbClr val="FFF2A8"/>
                </a:highlight>
                <a:latin typeface="Arial"/>
                <a:ea typeface="Arial"/>
                <a:cs typeface="Arial"/>
              </a:rPr>
              <a:t>conversion factor</a:t>
            </a:r>
            <a:r>
              <a:rPr sz="2250" b="0">
                <a:solidFill>
                  <a:srgbClr val="23282D"/>
                </a:solidFill>
                <a:latin typeface="Arial"/>
                <a:ea typeface="Arial"/>
                <a:cs typeface="Arial"/>
              </a:rPr>
              <a:t>: 1 pound ≈ 0.45 kilogram.</a:t>
            </a:r>
          </a:p>
        </p:txBody>
      </p:sp>
      <p:graphicFrame>
        <p:nvGraphicFramePr>
          <p:cNvPr id="11" name=""/>
          <p:cNvGraphicFramePr/>
          <p:nvPr/>
        </p:nvGraphicFramePr>
        <p:xfrm>
          <a:off xmlns:a="http://schemas.openxmlformats.org/drawingml/2006/main" x="6210300" y="1809750"/>
          <a:ext xmlns:a="http://schemas.openxmlformats.org/drawingml/2006/main" cx="5410200" cy="1257300"/>
        </p:xfrm>
        <a:graphic xmlns:a="http://schemas.openxmlformats.org/drawingml/2006/main">
          <a:graphicData uri="http://schemas.openxmlformats.org/drawingml/2006/table">
            <a:tbl>
              <a:tblPr/>
              <a:tblGrid>
                <a:gridCol w="2705100"/>
                <a:gridCol w="2705100"/>
              </a:tblGrid>
              <a:tr h="628650">
                <a:tc>
                  <a:txBody>
                    <a:bodyPr/>
                    <a:lstStyle/>
                    <a:p>
                      <a:r>
                        <a:rPr sz="1875" b="1">
                          <a:solidFill>
                            <a:srgbClr val="FFFFFF"/>
                          </a:solidFill>
                          <a:latin typeface="Arial"/>
                          <a:ea typeface="Arial"/>
                          <a:cs typeface="Arial"/>
                        </a:rPr>
                        <a:t>Pounds</a:t>
                      </a:r>
                    </a:p>
                  </a:txBody>
                  <a:tcPr marL="91440" marR="91440" marT="45720" marB="45720">
                    <a:solidFill>
                      <a:srgbClr val="0070C0"/>
                    </a:solidFill>
                  </a:tcPr>
                </a:tc>
                <a:tc>
                  <a:txBody>
                    <a:bodyPr/>
                    <a:lstStyle/>
                    <a:p>
                      <a:r>
                        <a:rPr sz="1875" b="1">
                          <a:solidFill>
                            <a:srgbClr val="FFFFFF"/>
                          </a:solidFill>
                          <a:latin typeface="Arial"/>
                          <a:ea typeface="Arial"/>
                          <a:cs typeface="Arial"/>
                        </a:rPr>
                        <a:t>Kilograms (about)</a:t>
                      </a:r>
                    </a:p>
                  </a:txBody>
                  <a:tcPr marL="91440" marR="91440" marT="45720" marB="45720">
                    <a:solidFill>
                      <a:srgbClr val="0070C0"/>
                    </a:solidFill>
                  </a:tcPr>
                </a:tc>
              </a:tr>
              <a:tr h="628650">
                <a:tc>
                  <a:txBody>
                    <a:bodyPr/>
                    <a:lstStyle/>
                    <a:p>
                      <a:r>
                        <a:rPr sz="1875" b="0">
                          <a:solidFill>
                            <a:srgbClr val="23282D"/>
                          </a:solidFill>
                          <a:latin typeface="Arial"/>
                          <a:ea typeface="Arial"/>
                          <a:cs typeface="Arial"/>
                        </a:rPr>
                        <a:t>1</a:t>
                      </a:r>
                    </a:p>
                  </a:txBody>
                  <a:tcPr marL="91440" marR="91440" marT="45720" marB="45720">
                    <a:solidFill>
                      <a:srgbClr val="FFFFFF"/>
                    </a:solidFill>
                  </a:tcPr>
                </a:tc>
                <a:tc>
                  <a:txBody>
                    <a:bodyPr/>
                    <a:lstStyle/>
                    <a:p>
                      <a:r>
                        <a:rPr sz="1875" b="0">
                          <a:solidFill>
                            <a:srgbClr val="23282D"/>
                          </a:solidFill>
                          <a:latin typeface="Arial"/>
                          <a:ea typeface="Arial"/>
                          <a:cs typeface="Arial"/>
                        </a:rPr>
                        <a:t>0.45</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SCALE • LABEL • EXPLAIN</a:t>
            </a:r>
          </a:p>
        </p:txBody>
      </p:sp>
      <p:sp xmlns:a="http://schemas.openxmlformats.org/drawingml/2006/main">
        <p:nvSpPr>
          <p:cNvPr id="14" name="Rounded Rectangle 17"/>
          <p:cNvSpPr/>
          <p:nvPr/>
        </p:nvSpPr>
        <p:spPr>
          <a:xfrm>
            <a:off x="502920" y="5486400"/>
            <a:ext cx="10972800" cy="75895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02920" y="5486400"/>
            <a:ext cx="64008" cy="75895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667512" y="5596128"/>
            <a:ext cx="10680192" cy="210312"/>
          </a:xfrm>
          <a:prstGeom prst="rect">
            <a:avLst/>
          </a:prstGeom>
          <a:noFill/>
        </p:spPr>
        <p:txBody>
          <a:bodyPr wrap="square" lIns="0" tIns="0" rIns="0" bIns="0" anchor="t">
            <a:spAutoFit/>
          </a:bodyPr>
          <a:lstStyle/>
          <a:p>
            <a:pPr algn="l"/>
            <a:r>
              <a:rPr sz="1100" b="1">
                <a:solidFill>
                  <a:srgbClr val="782DA0"/>
                </a:solidFill>
                <a:latin typeface="Arial"/>
              </a:rPr>
              <a:t>TALK TOOL</a:t>
            </a:r>
          </a:p>
        </p:txBody>
      </p:sp>
      <p:sp xmlns:a="http://schemas.openxmlformats.org/drawingml/2006/main">
        <p:nvSpPr>
          <p:cNvPr id="17" name="TextBox 20"/>
          <p:cNvSpPr txBox="1"/>
          <p:nvPr/>
        </p:nvSpPr>
        <p:spPr>
          <a:xfrm>
            <a:off x="667512" y="5888736"/>
            <a:ext cx="10680192" cy="301752"/>
          </a:xfrm>
          <a:prstGeom prst="rect">
            <a:avLst/>
          </a:prstGeom>
          <a:noFill/>
        </p:spPr>
        <p:txBody>
          <a:bodyPr wrap="square" lIns="0" tIns="0" rIns="0" bIns="0" anchor="t">
            <a:spAutoFit/>
          </a:bodyPr>
          <a:lstStyle/>
          <a:p>
            <a:pPr algn="l"/>
            <a:r>
              <a:rPr sz="1600" b="0">
                <a:solidFill>
                  <a:srgbClr val="23282D"/>
                </a:solidFill>
                <a:latin typeface="Arial"/>
              </a:rPr>
              <a:t>“I need kilograms because ___. I will multiply both quantities by ___.”</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28 / 41</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85923758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216368-2527-4513-B14A-E6C9402155FF}"/>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75" b="1">
                <ns0:solidFill>
                  <ns0:srgbClr val="782DA0"/>
                </ns0:solidFill>
                <ns0:latin typeface="Arial"/>
                <ns0:ea typeface="Arial"/>
                <ns0:cs typeface="Arial"/>
              </ns0:defRPr>
            </ns0:pPr>
            <ns0:r>
              <ns0:rPr sz="2800" b="1">
                <ns0:solidFill>
                  <ns0:srgbClr val="782DA0"/>
                </ns0:solidFill>
                <ns0:latin typeface="Arial"/>
                <ns0:ea typeface="Arial"/>
                <ns0:cs typeface="Arial"/>
              </ns0:rPr>
              <ns0:t>Match the Weight to the Range</ns0:t>
            </ns0:r>
          </ns0:p>
        </p:txBody>
      </p:sp>
      <p:sp>
        <p:nvSpPr>
          <p:cNvPr id="2" name="">
            <a:extLst xmlns:a="http://schemas.openxmlformats.org/drawingml/2006/main">
              <a:ext uri="{FF2B5EF4-FFF2-40B4-BE49-F238E27FC236}">
                <a16:creationId xmlns:a16="http://schemas.microsoft.com/office/drawing/2014/main" id="{6A22CBE1-3ED3-42A1-B4F2-94F28406CA5B}"/>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Multiply: 31 × 0.45 = 13.95.</a:t>
            </a:r>
          </a:p>
        </p:txBody>
      </p:sp>
      <p:sp>
        <p:nvSpPr>
          <p:cNvPr id="3" name="">
            <a:extLst xmlns:a="http://schemas.openxmlformats.org/drawingml/2006/main">
              <a:ext uri="{FF2B5EF4-FFF2-40B4-BE49-F238E27FC236}">
                <a16:creationId xmlns:a16="http://schemas.microsoft.com/office/drawing/2014/main" id="{7B04CF65-394F-44E3-918D-38B00F0994B3}"/>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31 pounds is about 14 kilograms.</a:t>
            </a:r>
          </a:p>
        </p:txBody>
      </p:sp>
      <p:sp>
        <p:nvSpPr>
          <p:cNvPr id="4" name="">
            <a:extLst xmlns:a="http://schemas.openxmlformats.org/drawingml/2006/main">
              <a:ext uri="{FF2B5EF4-FFF2-40B4-BE49-F238E27FC236}">
                <a16:creationId xmlns:a16="http://schemas.microsoft.com/office/drawing/2014/main" id="{639FF6A7-D796-443C-AE7A-03A9CB45C3B2}"/>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That weight falls in the package range from 10 to 25 kilograms.</a:t>
            </a:r>
          </a:p>
        </p:txBody>
      </p:sp>
      <p:graphicFrame>
        <p:nvGraphicFramePr>
          <p:cNvPr id="11" name=""/>
          <p:cNvGraphicFramePr/>
          <p:nvPr/>
        </p:nvGraphicFramePr>
        <p:xfrm>
          <a:off xmlns:a="http://schemas.openxmlformats.org/drawingml/2006/main" x="6210300" y="1809750"/>
          <a:ext xmlns:a="http://schemas.openxmlformats.org/drawingml/2006/main" cx="5410200" cy="2514600"/>
        </p:xfrm>
        <a:graphic xmlns:a="http://schemas.openxmlformats.org/drawingml/2006/main">
          <a:graphicData uri="http://schemas.openxmlformats.org/drawingml/2006/table">
            <a:tbl>
              <a:tblPr/>
              <a:tblGrid>
                <a:gridCol w="2705100"/>
                <a:gridCol w="2705100"/>
              </a:tblGrid>
              <a:tr h="628650">
                <a:tc>
                  <a:txBody>
                    <a:bodyPr/>
                    <a:lstStyle/>
                    <a:p>
                      <a:r>
                        <a:rPr sz="1875" b="1">
                          <a:solidFill>
                            <a:srgbClr val="FFFFFF"/>
                          </a:solidFill>
                          <a:latin typeface="Arial"/>
                          <a:ea typeface="Arial"/>
                          <a:cs typeface="Arial"/>
                        </a:rPr>
                        <a:t>Pounds</a:t>
                      </a:r>
                    </a:p>
                  </a:txBody>
                  <a:tcPr marL="91440" marR="91440" marT="45720" marB="45720">
                    <a:solidFill>
                      <a:srgbClr val="0070C0"/>
                    </a:solidFill>
                  </a:tcPr>
                </a:tc>
                <a:tc>
                  <a:txBody>
                    <a:bodyPr/>
                    <a:lstStyle/>
                    <a:p>
                      <a:r>
                        <a:rPr sz="1875" b="1">
                          <a:solidFill>
                            <a:srgbClr val="FFFFFF"/>
                          </a:solidFill>
                          <a:latin typeface="Arial"/>
                          <a:ea typeface="Arial"/>
                          <a:cs typeface="Arial"/>
                        </a:rPr>
                        <a:t>Kilograms (about)</a:t>
                      </a:r>
                    </a:p>
                  </a:txBody>
                  <a:tcPr marL="91440" marR="91440" marT="45720" marB="45720">
                    <a:solidFill>
                      <a:srgbClr val="0070C0"/>
                    </a:solidFill>
                  </a:tcPr>
                </a:tc>
              </a:tr>
              <a:tr h="628650">
                <a:tc>
                  <a:txBody>
                    <a:bodyPr/>
                    <a:lstStyle/>
                    <a:p>
                      <a:r>
                        <a:rPr sz="1875" b="0">
                          <a:solidFill>
                            <a:srgbClr val="23282D"/>
                          </a:solidFill>
                          <a:latin typeface="Arial"/>
                          <a:ea typeface="Arial"/>
                          <a:cs typeface="Arial"/>
                        </a:rPr>
                        <a:t>1</a:t>
                      </a:r>
                    </a:p>
                  </a:txBody>
                  <a:tcPr marL="91440" marR="91440" marT="45720" marB="45720">
                    <a:solidFill>
                      <a:srgbClr val="FFFFFF"/>
                    </a:solidFill>
                  </a:tcPr>
                </a:tc>
                <a:tc>
                  <a:txBody>
                    <a:bodyPr/>
                    <a:lstStyle/>
                    <a:p>
                      <a:r>
                        <a:rPr sz="1875" b="0">
                          <a:solidFill>
                            <a:srgbClr val="23282D"/>
                          </a:solidFill>
                          <a:latin typeface="Arial"/>
                          <a:ea typeface="Arial"/>
                          <a:cs typeface="Arial"/>
                        </a:rPr>
                        <a:t>0.45</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30</a:t>
                      </a:r>
                    </a:p>
                  </a:txBody>
                  <a:tcPr marL="91440" marR="91440" marT="45720" marB="45720">
                    <a:solidFill>
                      <a:srgbClr val="FFFFFF"/>
                    </a:solidFill>
                  </a:tcPr>
                </a:tc>
                <a:tc>
                  <a:txBody>
                    <a:bodyPr/>
                    <a:lstStyle/>
                    <a:p>
                      <a:r>
                        <a:rPr sz="1875" b="0">
                          <a:solidFill>
                            <a:srgbClr val="23282D"/>
                          </a:solidFill>
                          <a:latin typeface="Arial"/>
                          <a:ea typeface="Arial"/>
                          <a:cs typeface="Arial"/>
                        </a:rPr>
                        <a:t>13.5</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31</a:t>
                      </a:r>
                    </a:p>
                  </a:txBody>
                  <a:tcPr marL="91440" marR="91440" marT="45720" marB="45720">
                    <a:solidFill>
                      <a:srgbClr val="FFFFFF"/>
                    </a:solidFill>
                  </a:tcPr>
                </a:tc>
                <a:tc>
                  <a:txBody>
                    <a:bodyPr/>
                    <a:lstStyle/>
                    <a:p>
                      <a:r>
                        <a:rPr sz="1875" b="0">
                          <a:solidFill>
                            <a:srgbClr val="23282D"/>
                          </a:solidFill>
                          <a:latin typeface="Arial"/>
                          <a:ea typeface="Arial"/>
                          <a:cs typeface="Arial"/>
                        </a:rPr>
                        <a:t>13.95</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SCALE • LABEL • EXPLAIN</a:t>
            </a:r>
          </a:p>
        </p:txBody>
      </p:sp>
      <p:sp xmlns:a="http://schemas.openxmlformats.org/drawingml/2006/main">
        <p:nvSpPr>
          <p:cNvPr id="14" name="Rounded Rectangle 17"/>
          <p:cNvSpPr/>
          <p:nvPr/>
        </p:nvSpPr>
        <p:spPr>
          <a:xfrm>
            <a:off x="502920" y="5486400"/>
            <a:ext cx="10972800" cy="75895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02920" y="5486400"/>
            <a:ext cx="64008" cy="75895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667512" y="5596128"/>
            <a:ext cx="10680192" cy="210312"/>
          </a:xfrm>
          <a:prstGeom prst="rect">
            <a:avLst/>
          </a:prstGeom>
          <a:noFill/>
        </p:spPr>
        <p:txBody>
          <a:bodyPr wrap="square" lIns="0" tIns="0" rIns="0" bIns="0" anchor="t">
            <a:spAutoFit/>
          </a:bodyPr>
          <a:lstStyle/>
          <a:p>
            <a:pPr algn="l"/>
            <a:r>
              <a:rPr sz="1100" b="1">
                <a:solidFill>
                  <a:srgbClr val="782DA0"/>
                </a:solidFill>
                <a:latin typeface="Arial"/>
              </a:rPr>
              <a:t>TALK TOOL</a:t>
            </a:r>
          </a:p>
        </p:txBody>
      </p:sp>
      <p:sp xmlns:a="http://schemas.openxmlformats.org/drawingml/2006/main">
        <p:nvSpPr>
          <p:cNvPr id="17" name="TextBox 20"/>
          <p:cNvSpPr txBox="1"/>
          <p:nvPr/>
        </p:nvSpPr>
        <p:spPr>
          <a:xfrm>
            <a:off x="667512" y="5888736"/>
            <a:ext cx="10680192" cy="301752"/>
          </a:xfrm>
          <a:prstGeom prst="rect">
            <a:avLst/>
          </a:prstGeom>
          <a:noFill/>
        </p:spPr>
        <p:txBody>
          <a:bodyPr wrap="square" lIns="0" tIns="0" rIns="0" bIns="0" anchor="t">
            <a:spAutoFit/>
          </a:bodyPr>
          <a:lstStyle/>
          <a:p>
            <a:pPr algn="l"/>
            <a:r>
              <a:rPr sz="1600" b="0">
                <a:solidFill>
                  <a:srgbClr val="23282D"/>
                </a:solidFill>
                <a:latin typeface="Arial"/>
              </a:rPr>
              <a:t>“About 14 kg is between ___ and ___, so it matches that package range.”</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29 / 41</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124253068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0F1FD9D-3734-4BEF-86EF-4C17C0D755D3}"/>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00" b="1">
                <ns0:solidFill>
                  <ns0:srgbClr val="782DA0"/>
                </ns0:solidFill>
                <ns0:latin typeface="Arial"/>
                <ns0:ea typeface="Arial"/>
                <ns0:cs typeface="Arial"/>
              </ns0:defRPr>
            </ns0:pPr>
            <ns0:r>
              <ns0:rPr sz="2800" b="1">
                <ns0:solidFill>
                  <ns0:srgbClr val="782DA0"/>
                </ns0:solidFill>
                <ns0:latin typeface="Arial"/>
                <ns0:ea typeface="Arial"/>
                <ns0:cs typeface="Arial"/>
              </ns0:rPr>
              <ns0:t>Today’s Math Notes — Session 2</ns0:t>
            </ns0:r>
          </ns0:p>
        </p:txBody>
      </p:sp>
      <p:sp>
        <p:nvSpPr>
          <p:cNvPr id="2" name="">
            <a:extLst xmlns:a="http://schemas.openxmlformats.org/drawingml/2006/main">
              <a:ext uri="{FF2B5EF4-FFF2-40B4-BE49-F238E27FC236}">
                <a16:creationId xmlns:a16="http://schemas.microsoft.com/office/drawing/2014/main" id="{F6F68760-C5FC-43F2-812F-876725BA9BF2}"/>
              </a:ext>
            </a:extLst>
          </p:cNvPr>
          <p:cNvSpPr>
            <a:spLocks xmlns:a="http://schemas.openxmlformats.org/drawingml/2006/main" noGrp="1"/>
          </p:cNvSpPr>
          <p:nvPr/>
        </p:nvSpPr>
        <p:spPr>
          <a:xfrm xmlns:a="http://schemas.openxmlformats.org/drawingml/2006/main">
            <a:off x="523875" y="1028700"/>
            <a:ext cx="866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6872"/>
                </a:solidFill>
                <a:latin typeface="Arial"/>
                <a:ea typeface="Arial"/>
                <a:cs typeface="Arial"/>
              </a:defRPr>
            </a:pPr>
            <a:r>
              <a:rPr sz="1575" b="0">
                <a:solidFill>
                  <a:srgbClr val="5D6872"/>
                </a:solidFill>
                <a:latin typeface="Arial"/>
                <a:ea typeface="Arial"/>
                <a:cs typeface="Arial"/>
              </a:rPr>
              <a:t>Keep the idea from Veterinary Medicine.</a:t>
            </a:r>
          </a:p>
        </p:txBody>
      </p:sp>
      <p:sp>
        <p:nvSpPr>
          <p:cNvPr id="3" name="">
            <a:extLst xmlns:a="http://schemas.openxmlformats.org/drawingml/2006/main">
              <a:ext uri="{FF2B5EF4-FFF2-40B4-BE49-F238E27FC236}">
                <a16:creationId xmlns:a16="http://schemas.microsoft.com/office/drawing/2014/main" id="{F3151F9A-38D5-409F-AE76-FF75F67329A1}"/>
              </a:ext>
            </a:extLst>
          </p:cNvPr>
          <p:cNvSpPr>
            <a:spLocks xmlns:a="http://schemas.openxmlformats.org/drawingml/2006/main" noGrp="1"/>
          </p:cNvSpPr>
          <p:nvPr/>
        </p:nvSpPr>
        <p:spPr>
          <a:xfrm xmlns:a="http://schemas.openxmlformats.org/drawingml/2006/main">
            <a:off x="514350" y="1609725"/>
            <a:ext cx="5762625" cy="4114800"/>
          </a:xfrm>
          <a:prstGeom xmlns:a="http://schemas.openxmlformats.org/drawingml/2006/main" prst="roundRect">
            <a:avLst>
              <a:gd name="adj" fmla="val 1852"/>
            </a:avLst>
          </a:prstGeom>
          <a:solidFill xmlns:a="http://schemas.openxmlformats.org/drawingml/2006/main">
            <a:srgbClr val="FFF0E6"/>
          </a:solidFill>
          <a:ln xmlns:a="http://schemas.openxmlformats.org/drawingml/2006/main" w="9525">
            <a:solidFill>
              <a:srgbClr val="D6E0E8"/>
            </a:solidFill>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C42869CE-8124-4667-9B33-608C3D3F28EE}"/>
              </a:ext>
            </a:extLst>
          </p:cNvPr>
          <p:cNvSpPr>
            <a:spLocks xmlns:a="http://schemas.openxmlformats.org/drawingml/2006/main" noGrp="1"/>
          </p:cNvSpPr>
          <p:nvPr/>
        </p:nvSpPr>
        <p:spPr>
          <a:xfrm xmlns:a="http://schemas.openxmlformats.org/drawingml/2006/main">
            <a:off x="6543675" y="1609725"/>
            <a:ext cx="5114925" cy="4114800"/>
          </a:xfrm>
          <a:prstGeom xmlns:a="http://schemas.openxmlformats.org/drawingml/2006/main" prst="roundRect">
            <a:avLst>
              <a:gd name="adj" fmla="val 1852"/>
            </a:avLst>
          </a:prstGeom>
          <a:solidFill xmlns:a="http://schemas.openxmlformats.org/drawingml/2006/main">
            <a:srgbClr val="EAF7F5"/>
          </a:solidFill>
          <a:ln xmlns:a="http://schemas.openxmlformats.org/drawingml/2006/main" w="9525">
            <a:solidFill>
              <a:srgbClr val="D6E0E8"/>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E1F7F06-BCB9-4A31-98BF-DC972B6FEBFF}"/>
              </a:ext>
            </a:extLst>
          </p:cNvPr>
          <p:cNvSpPr>
            <a:spLocks xmlns:a="http://schemas.openxmlformats.org/drawingml/2006/main" noGrp="1"/>
          </p:cNvSpPr>
          <p:nvPr/>
        </p:nvSpPr>
        <p:spPr>
          <a:xfrm xmlns:a="http://schemas.openxmlformats.org/drawingml/2006/main">
            <a:off x="723900" y="18002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1:p xmlns:ns1="http://schemas.openxmlformats.org/drawingml/2006/main">
            <ns1:pPr>
              <ns1:defRPr sz="1350" b="1">
                <ns1:solidFill>
                  <ns1:srgbClr val="782DA0"/>
                </ns1:solidFill>
                <ns1:latin typeface="Arial"/>
                <ns1:ea typeface="Arial"/>
                <ns1:cs typeface="Arial"/>
              </ns1:defRPr>
            </ns1:pPr>
            <ns1:r>
              <ns1:rPr sz="1300" b="1">
                <ns1:solidFill>
                  <ns1:srgbClr val="782DA0"/>
                </ns1:solidFill>
                <ns1:latin typeface="Arial"/>
                <ns1:ea typeface="Arial"/>
                <ns1:cs typeface="Arial"/>
              </ns1:rPr>
              <ns1:t>COPY THESE 3 LINES</ns1:t>
            </ns1:r>
          </ns1:p>
        </p:txBody>
      </p:sp>
      <p:sp>
        <p:nvSpPr>
          <p:cNvPr id="6" name="">
            <a:extLst xmlns:a="http://schemas.openxmlformats.org/drawingml/2006/main">
              <a:ext uri="{FF2B5EF4-FFF2-40B4-BE49-F238E27FC236}">
                <a16:creationId xmlns:a16="http://schemas.microsoft.com/office/drawing/2014/main" id="{4654D96B-73C1-46C5-B9A8-A48BAFDCFFAB}"/>
              </a:ext>
            </a:extLst>
          </p:cNvPr>
          <p:cNvSpPr>
            <a:spLocks xmlns:a="http://schemas.openxmlformats.org/drawingml/2006/main" noGrp="1"/>
          </p:cNvSpPr>
          <p:nvPr/>
        </p:nvSpPr>
        <p:spPr>
          <a:xfrm xmlns:a="http://schemas.openxmlformats.org/drawingml/2006/main">
            <a:off x="733425" y="235267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A8303297-9E63-4DBA-ADA7-B64DDD918F3E}"/>
              </a:ext>
            </a:extLst>
          </p:cNvPr>
          <p:cNvSpPr>
            <a:spLocks xmlns:a="http://schemas.openxmlformats.org/drawingml/2006/main" noGrp="1"/>
          </p:cNvSpPr>
          <p:nvPr/>
        </p:nvSpPr>
        <p:spPr>
          <a:xfrm xmlns:a="http://schemas.openxmlformats.org/drawingml/2006/main">
            <a:off x="1257300" y="232410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1">
                <a:solidFill>
                  <a:srgbClr val="23282D"/>
                </a:solidFill>
                <a:latin typeface="Arial"/>
                <a:ea typeface="Arial"/>
                <a:cs typeface="Arial"/>
              </a:rPr>
              <a:t xml:space="preserve">Convert</a:t>
            </a:r>
            <a:r>
              <a:rPr sz="2100" b="0">
                <a:solidFill>
                  <a:srgbClr val="23282D"/>
                </a:solidFill>
                <a:latin typeface="Arial"/>
                <a:ea typeface="Arial"/>
                <a:cs typeface="Arial"/>
              </a:rPr>
              <a:t xml:space="preserve"> to the unit used in the comparison.</a:t>
            </a:r>
          </a:p>
        </p:txBody>
      </p:sp>
      <p:sp>
        <p:nvSpPr>
          <p:cNvPr id="8" name="">
            <a:extLst xmlns:a="http://schemas.openxmlformats.org/drawingml/2006/main">
              <a:ext uri="{FF2B5EF4-FFF2-40B4-BE49-F238E27FC236}">
                <a16:creationId xmlns:a16="http://schemas.microsoft.com/office/drawing/2014/main" id="{92EF7AA2-2BC5-419B-BC95-6D9D2182EF3E}"/>
              </a:ext>
            </a:extLst>
          </p:cNvPr>
          <p:cNvSpPr>
            <a:spLocks xmlns:a="http://schemas.openxmlformats.org/drawingml/2006/main" noGrp="1"/>
          </p:cNvSpPr>
          <p:nvPr/>
        </p:nvSpPr>
        <p:spPr>
          <a:xfrm xmlns:a="http://schemas.openxmlformats.org/drawingml/2006/main">
            <a:off x="733425" y="3333750"/>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EE93885-69B7-46A1-BD3A-74DD4E56DFBC}"/>
              </a:ext>
            </a:extLst>
          </p:cNvPr>
          <p:cNvSpPr>
            <a:spLocks xmlns:a="http://schemas.openxmlformats.org/drawingml/2006/main" noGrp="1"/>
          </p:cNvSpPr>
          <p:nvPr/>
        </p:nvSpPr>
        <p:spPr>
          <a:xfrm xmlns:a="http://schemas.openxmlformats.org/drawingml/2006/main">
            <a:off x="1257300" y="3305175"/>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Keep the units attached to each amount.</a:t>
            </a:r>
          </a:p>
        </p:txBody>
      </p:sp>
      <p:sp>
        <p:nvSpPr>
          <p:cNvPr id="10" name="">
            <a:extLst xmlns:a="http://schemas.openxmlformats.org/drawingml/2006/main">
              <a:ext uri="{FF2B5EF4-FFF2-40B4-BE49-F238E27FC236}">
                <a16:creationId xmlns:a16="http://schemas.microsoft.com/office/drawing/2014/main" id="{28745BC8-A209-4132-8DCC-0A657332BCAF}"/>
              </a:ext>
            </a:extLst>
          </p:cNvPr>
          <p:cNvSpPr>
            <a:spLocks xmlns:a="http://schemas.openxmlformats.org/drawingml/2006/main" noGrp="1"/>
          </p:cNvSpPr>
          <p:nvPr/>
        </p:nvSpPr>
        <p:spPr>
          <a:xfrm xmlns:a="http://schemas.openxmlformats.org/drawingml/2006/main">
            <a:off x="733425" y="431482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31317D5-0035-49EA-8BAB-01D19B3325E8}"/>
              </a:ext>
            </a:extLst>
          </p:cNvPr>
          <p:cNvSpPr>
            <a:spLocks xmlns:a="http://schemas.openxmlformats.org/drawingml/2006/main" noGrp="1"/>
          </p:cNvSpPr>
          <p:nvPr/>
        </p:nvSpPr>
        <p:spPr>
          <a:xfrm xmlns:a="http://schemas.openxmlformats.org/drawingml/2006/main">
            <a:off x="1257300" y="428625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 xml:space="preserve">Check whether the </a:t>
            </a:r>
            <a:r>
              <a:rPr sz="2100" b="1">
                <a:solidFill>
                  <a:srgbClr val="23282D"/>
                </a:solidFill>
                <a:highlight>
                  <a:srgbClr val="FFF2A8"/>
                </a:highlight>
                <a:latin typeface="Arial"/>
                <a:ea typeface="Arial"/>
                <a:cs typeface="Arial"/>
              </a:rPr>
              <a:t>approximate</a:t>
            </a:r>
            <a:r>
              <a:rPr sz="2100" b="0">
                <a:solidFill>
                  <a:srgbClr val="23282D"/>
                </a:solidFill>
                <a:latin typeface="Arial"/>
                <a:ea typeface="Arial"/>
                <a:cs typeface="Arial"/>
              </a:rPr>
              <a:t xml:space="preserve"> answer makes sense.</a:t>
            </a:r>
          </a:p>
        </p:txBody>
      </p:sp>
      <p:sp>
        <p:nvSpPr>
          <p:cNvPr id="12" name="">
            <a:extLst xmlns:a="http://schemas.openxmlformats.org/drawingml/2006/main">
              <a:ext uri="{FF2B5EF4-FFF2-40B4-BE49-F238E27FC236}">
                <a16:creationId xmlns:a16="http://schemas.microsoft.com/office/drawing/2014/main" id="{ECC24A18-702D-43F7-B885-35D6E9899A0E}"/>
              </a:ext>
            </a:extLst>
          </p:cNvPr>
          <p:cNvSpPr>
            <a:spLocks xmlns:a="http://schemas.openxmlformats.org/drawingml/2006/main" noGrp="1"/>
          </p:cNvSpPr>
          <p:nvPr/>
        </p:nvSpPr>
        <p:spPr>
          <a:xfrm xmlns:a="http://schemas.openxmlformats.org/drawingml/2006/main">
            <a:off x="6743700" y="18097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
          <p:cNvGraphicFramePr/>
          <p:nvPr/>
        </p:nvGraphicFramePr>
        <p:xfrm>
          <a:off xmlns:a="http://schemas.openxmlformats.org/drawingml/2006/main" x="6743700" y="2333625"/>
          <a:ext xmlns:a="http://schemas.openxmlformats.org/drawingml/2006/main" cx="4705350" cy="2019300"/>
        </p:xfrm>
        <a:graphic xmlns:a="http://schemas.openxmlformats.org/drawingml/2006/main">
          <a:graphicData uri="http://schemas.openxmlformats.org/drawingml/2006/table">
            <a:tbl>
              <a:tblPr/>
              <a:tblGrid>
                <a:gridCol w="2352675"/>
                <a:gridCol w="2352675"/>
              </a:tblGrid>
              <a:tr h="504825">
                <a:tc>
                  <a:txBody>
                    <a:bodyPr/>
                    <a:lstStyle/>
                    <a:p>
                      <a:r>
                        <a:rPr sz="1425" b="1">
                          <a:solidFill>
                            <a:srgbClr val="FFFFFF"/>
                          </a:solidFill>
                          <a:latin typeface="Arial"/>
                          <a:ea typeface="Arial"/>
                          <a:cs typeface="Arial"/>
                        </a:rPr>
                        <a:t>Pounds</a:t>
                      </a:r>
                    </a:p>
                  </a:txBody>
                  <a:tcPr marL="91440" marR="91440" marT="45720" marB="45720">
                    <a:solidFill>
                      <a:srgbClr val="0070C0"/>
                    </a:solidFill>
                  </a:tcPr>
                </a:tc>
                <a:tc>
                  <a:txBody>
                    <a:bodyPr/>
                    <a:lstStyle/>
                    <a:p>
                      <a:r>
                        <a:rPr sz="1425" b="1">
                          <a:solidFill>
                            <a:srgbClr val="FFFFFF"/>
                          </a:solidFill>
                          <a:latin typeface="Arial"/>
                          <a:ea typeface="Arial"/>
                          <a:cs typeface="Arial"/>
                        </a:rPr>
                        <a:t>Kilograms (about)</a:t>
                      </a:r>
                    </a:p>
                  </a:txBody>
                  <a:tcPr marL="91440" marR="91440" marT="45720" marB="45720">
                    <a:solidFill>
                      <a:srgbClr val="0070C0"/>
                    </a:solidFill>
                  </a:tcPr>
                </a:tc>
              </a:tr>
              <a:tr h="504825">
                <a:tc>
                  <a:txBody>
                    <a:bodyPr/>
                    <a:lstStyle/>
                    <a:p>
                      <a:r>
                        <a:rPr sz="1800" b="0">
                          <a:solidFill>
                            <a:srgbClr val="23282D"/>
                          </a:solidFill>
                          <a:latin typeface="Arial"/>
                          <a:ea typeface="Arial"/>
                          <a:cs typeface="Arial"/>
                        </a:rPr>
                        <a:t>1</a:t>
                      </a:r>
                    </a:p>
                  </a:txBody>
                  <a:tcPr marL="91440" marR="91440" marT="45720" marB="45720">
                    <a:solidFill>
                      <a:srgbClr val="FFFFFF"/>
                    </a:solidFill>
                  </a:tcPr>
                </a:tc>
                <a:tc>
                  <a:txBody>
                    <a:bodyPr/>
                    <a:lstStyle/>
                    <a:p>
                      <a:r>
                        <a:rPr sz="1800" b="0">
                          <a:solidFill>
                            <a:srgbClr val="23282D"/>
                          </a:solidFill>
                          <a:latin typeface="Arial"/>
                          <a:ea typeface="Arial"/>
                          <a:cs typeface="Arial"/>
                        </a:rPr>
                        <a:t>0.45</a:t>
                      </a:r>
                    </a:p>
                  </a:txBody>
                  <a:tcPr marL="91440" marR="91440" marT="45720" marB="45720">
                    <a:solidFill>
                      <a:srgbClr val="FFFFFF"/>
                    </a:solidFill>
                  </a:tcPr>
                </a:tc>
              </a:tr>
              <a:tr h="504825">
                <a:tc>
                  <a:txBody>
                    <a:bodyPr/>
                    <a:lstStyle/>
                    <a:p>
                      <a:r>
                        <a:rPr sz="1800" b="0">
                          <a:solidFill>
                            <a:srgbClr val="23282D"/>
                          </a:solidFill>
                          <a:latin typeface="Arial"/>
                          <a:ea typeface="Arial"/>
                          <a:cs typeface="Arial"/>
                        </a:rPr>
                        <a:t>30</a:t>
                      </a:r>
                    </a:p>
                  </a:txBody>
                  <a:tcPr marL="91440" marR="91440" marT="45720" marB="45720">
                    <a:solidFill>
                      <a:srgbClr val="FFFFFF"/>
                    </a:solidFill>
                  </a:tcPr>
                </a:tc>
                <a:tc>
                  <a:txBody>
                    <a:bodyPr/>
                    <a:lstStyle/>
                    <a:p>
                      <a:r>
                        <a:rPr sz="1800" b="0">
                          <a:solidFill>
                            <a:srgbClr val="23282D"/>
                          </a:solidFill>
                          <a:latin typeface="Arial"/>
                          <a:ea typeface="Arial"/>
                          <a:cs typeface="Arial"/>
                        </a:rPr>
                        <a:t>13.5</a:t>
                      </a:r>
                    </a:p>
                  </a:txBody>
                  <a:tcPr marL="91440" marR="91440" marT="45720" marB="45720">
                    <a:solidFill>
                      <a:srgbClr val="FFFFFF"/>
                    </a:solidFill>
                  </a:tcPr>
                </a:tc>
              </a:tr>
              <a:tr h="504825">
                <a:tc>
                  <a:txBody>
                    <a:bodyPr/>
                    <a:lstStyle/>
                    <a:p>
                      <a:r>
                        <a:rPr sz="1800" b="0">
                          <a:solidFill>
                            <a:srgbClr val="23282D"/>
                          </a:solidFill>
                          <a:latin typeface="Arial"/>
                          <a:ea typeface="Arial"/>
                          <a:cs typeface="Arial"/>
                        </a:rPr>
                        <a:t>31</a:t>
                      </a:r>
                    </a:p>
                  </a:txBody>
                  <a:tcPr marL="91440" marR="91440" marT="45720" marB="45720">
                    <a:solidFill>
                      <a:srgbClr val="FFFFFF"/>
                    </a:solidFill>
                  </a:tcPr>
                </a:tc>
                <a:tc>
                  <a:txBody>
                    <a:bodyPr/>
                    <a:lstStyle/>
                    <a:p>
                      <a:r>
                        <a:rPr sz="1800" b="0">
                          <a:solidFill>
                            <a:srgbClr val="23282D"/>
                          </a:solidFill>
                          <a:latin typeface="Arial"/>
                          <a:ea typeface="Arial"/>
                          <a:cs typeface="Arial"/>
                        </a:rPr>
                        <a:t>13.95</a:t>
                      </a:r>
                    </a:p>
                  </a:txBody>
                  <a:tcPr marL="91440" marR="91440" marT="45720" marB="45720">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443E26A9-FB2F-4A28-B959-92BE684ECB44}"/>
              </a:ext>
            </a:extLst>
          </p:cNvPr>
          <p:cNvSpPr>
            <a:spLocks xmlns:a="http://schemas.openxmlformats.org/drawingml/2006/main" noGrp="1"/>
          </p:cNvSpPr>
          <p:nvPr/>
        </p:nvSpPr>
        <p:spPr>
          <a:xfrm xmlns:a="http://schemas.openxmlformats.org/drawingml/2006/main">
            <a:off x="6743700" y="4581525"/>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0C0"/>
                </a:solidFill>
                <a:latin typeface="Arial"/>
                <a:ea typeface="Arial"/>
                <a:cs typeface="Arial"/>
              </a:defRPr>
            </a:pPr>
            <a:r>
              <a:rPr sz="1875" b="1">
                <a:solidFill>
                  <a:srgbClr val="0070C0"/>
                </a:solidFill>
                <a:latin typeface="Arial"/>
                <a:ea typeface="Arial"/>
                <a:cs typeface="Arial"/>
              </a:rPr>
              <a:t>31 pounds is about 14 kilograms.</a:t>
            </a:r>
          </a:p>
        </p:txBody>
      </p:sp>
      <p:sp xmlns:a="http://schemas.openxmlformats.org/drawingml/2006/main">
        <p:nvSpPr>
          <p:cNvPr id="28"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NOTES</a:t>
            </a:r>
            <a:r>
              <a:rPr lang="en-US" sz="1150" b="1" dirty="0">
                <a:solidFill>
                  <a:srgbClr val="2D3A40"/>
                </a:solidFill>
                <a:latin typeface="Arial"/>
              </a:rPr>
              <a:t xml:space="preserve">  ·  COPY LESS • UNDERSTAND MORE</a:t>
            </a:r>
          </a:p>
        </p:txBody>
      </p:sp>
      <p:sp xmlns:a="http://schemas.openxmlformats.org/drawingml/2006/main">
        <p:nvSpPr>
          <p:cNvPr id="30" name="Rounded Rectangle 17"/>
          <p:cNvSpPr/>
          <p:nvPr/>
        </p:nvSpPr>
        <p:spPr>
          <a:xfrm>
            <a:off x="502920" y="5486400"/>
            <a:ext cx="11064240" cy="77724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1" name="Rectangle 18"/>
          <p:cNvSpPr/>
          <p:nvPr/>
        </p:nvSpPr>
        <p:spPr>
          <a:xfrm>
            <a:off x="502920" y="5486400"/>
            <a:ext cx="64008" cy="77724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2" name="TextBox 19"/>
          <p:cNvSpPr txBox="1"/>
          <p:nvPr/>
        </p:nvSpPr>
        <p:spPr>
          <a:xfrm>
            <a:off x="667512" y="5596128"/>
            <a:ext cx="10771632" cy="210312"/>
          </a:xfrm>
          <a:prstGeom prst="rect">
            <a:avLst/>
          </a:prstGeom>
          <a:noFill/>
        </p:spPr>
        <p:txBody>
          <a:bodyPr wrap="square" lIns="0" tIns="0" rIns="0" bIns="0" anchor="t">
            <a:spAutoFit/>
          </a:bodyPr>
          <a:lstStyle/>
          <a:p>
            <a:pPr algn="l">
              <a:defRPr/>
            </a:pPr>
            <a:r>
              <a:rPr sz="1100" b="1">
                <a:solidFill>
                  <a:srgbClr val="782DA0"/>
                </a:solidFill>
                <a:latin typeface="Arial"/>
              </a:rPr>
              <a:t>EXPLAIN THE CONNECTION</a:t>
            </a:r>
          </a:p>
        </p:txBody>
      </p:sp>
      <p:sp xmlns:a="http://schemas.openxmlformats.org/drawingml/2006/main">
        <p:nvSpPr>
          <p:cNvPr id="33" name="TextBox 20"/>
          <p:cNvSpPr txBox="1"/>
          <p:nvPr/>
        </p:nvSpPr>
        <p:spPr>
          <a:xfrm>
            <a:off x="667512" y="5888736"/>
            <a:ext cx="10771632" cy="320040"/>
          </a:xfrm>
          <a:prstGeom prst="rect">
            <a:avLst/>
          </a:prstGeom>
          <a:noFill/>
        </p:spPr>
        <p:txBody>
          <a:bodyPr wrap="square" lIns="0" tIns="0" rIns="0" bIns="0" anchor="t">
            <a:spAutoFit/>
          </a:bodyPr>
          <a:lstStyle/>
          <a:p>
            <a:pPr algn="l">
              <a:defRPr/>
            </a:pPr>
            <a:r>
              <a:rPr sz="1600" b="0">
                <a:solidFill>
                  <a:srgbClr val="23282D"/>
                </a:solidFill>
                <a:latin typeface="Arial"/>
              </a:rPr>
              <a:t xml:space="preserve">“I used ≈ because ___. Both </a:t>
            </a:r>
            <a:r>
              <a:rPr sz="1600" b="1">
                <a:solidFill>
                  <a:srgbClr val="23282D"/>
                </a:solidFill>
                <a:latin typeface="Arial"/>
              </a:rPr>
              <a:t xml:space="preserve">quantities</a:t>
            </a:r>
            <a:r>
              <a:rPr sz="1600" b="0">
                <a:solidFill>
                  <a:srgbClr val="23282D"/>
                </a:solidFill>
                <a:latin typeface="Arial"/>
              </a:rPr>
              <a:t xml:space="preserve"> were multiplied by ___.”</a:t>
            </a:r>
          </a:p>
        </p:txBody>
      </p:sp>
      <p:sp>
        <p:nvSpPr>
          <p:cNvPr id="34"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30 / 41</ns3:t>
            </ns3:r>
          </ns3:p>
        </p:txBody>
      </p:sp>
      <p:grpSp xmlns:a="http://schemas.openxmlformats.org/drawingml/2006/main">
        <p:nvGrpSpPr>
          <p:cNvPr id="35" name="TEACH-1-student-move" descr="TEACH 1 · Facilitate clear, standards-based content learning"/>
          <p:cNvGrpSpPr/>
          <p:nvPr/>
        </p:nvGrpSpPr>
        <p:grpSpPr>
          <a:xfrm>
            <a:off x="502920" y="1361313"/>
            <a:ext cx="11186160" cy="402336"/>
            <a:chOff x="502920" y="1361313"/>
            <a:chExt cx="11186160" cy="402336"/>
          </a:xfrm>
        </p:grpSpPr>
        <p:sp>
          <p:nvSpPr>
            <p:cNvPr id="36" name="TEACH-move-card"/>
            <p:cNvSpPr/>
            <p:nvPr/>
          </p:nvSpPr>
          <p:spPr>
            <a:xfrm>
              <a:off x="502920" y="136131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7" name="TEACH-move-rule"/>
            <p:cNvSpPr/>
            <p:nvPr/>
          </p:nvSpPr>
          <p:spPr>
            <a:xfrm>
              <a:off x="548640" y="1437757"/>
              <a:ext cx="100584" cy="249448"/>
            </a:xfrm>
            <a:prstGeom prst="roundRect">
              <a:avLst>
                <a:gd name="adj" fmla="val 50000"/>
              </a:avLst>
            </a:prstGeom>
            <a:solidFill>
              <a:srgbClr val="01708C"/>
            </a:solidFill>
            <a:ln>
              <a:noFill/>
            </a:ln>
          </p:spPr>
          <p:txBody>
            <a:bodyPr/>
            <a:lstStyle/>
            <a:p>
              <a:endParaRPr/>
            </a:p>
          </p:txBody>
        </p:sp>
        <p:sp>
          <p:nvSpPr>
            <p:cNvPr id="38" name="TEACH-move-text"/>
            <p:cNvSpPr txBox="1"/>
            <p:nvPr/>
          </p:nvSpPr>
          <p:spPr>
            <a:xfrm>
              <a:off x="822960" y="136131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extLst>
      <p:ext uri="{BB962C8B-B14F-4D97-AF65-F5344CB8AC3E}">
        <p14:creationId xmlns:p14="http://schemas.microsoft.com/office/powerpoint/2010/main" val="656025957"/>
      </p:ext>
    </p:extLst>
  </p:cSld>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9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lang="en-US" sz="2800">
                <a:solidFill>
                  <a:srgbClr val="782DA0"/>
                </a:solidFill>
                <a:latin typeface="Arial"/>
                <a:ea typeface="Arial"/>
                <a:cs typeface="Arial"/>
                <a:sym typeface="Arial"/>
              </a:rPr>
              <a:t>Let’s Explore More</a:t>
            </a:r>
            <a:endParaRPr/>
          </a:p>
        </p:txBody>
      </p:sp>
      <p:sp>
        <p:nvSpPr>
          <p:cNvPr id="717" name="Google Shape;717;p94"/>
          <p:cNvSpPr txBox="1"/>
          <p:nvPr/>
        </p:nvSpPr>
        <p:spPr>
          <a:xfrm>
            <a:off x="484632" y="914400"/>
            <a:ext cx="8001000" cy="74980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lang="en-US" sz="1900">
                <a:solidFill>
                  <a:srgbClr val="23282D"/>
                </a:solidFill>
                <a:latin typeface="Arial"/>
                <a:ea typeface="Arial"/>
                <a:cs typeface="Arial"/>
                <a:sym typeface="Arial"/>
              </a:rPr>
              <a:t>What would you expect the ratio of kilograms to pounds to be?</a:t>
            </a:r>
            <a:endParaRPr/>
          </a:p>
        </p:txBody>
      </p:sp>
      <p:sp>
        <p:nvSpPr>
          <p:cNvPr id="718" name="Google Shape;718;p94"/>
          <p:cNvSpPr txBox="1"/>
          <p:nvPr/>
        </p:nvSpPr>
        <p:spPr>
          <a:xfrm>
            <a:off x="7175797" y="3150370"/>
            <a:ext cx="12068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BFBF"/>
                </a:solidFill>
                <a:latin typeface="Arial"/>
                <a:ea typeface="Arial"/>
                <a:cs typeface="Arial"/>
                <a:sym typeface="Arial"/>
              </a:rPr>
              <a:t/>
            </a:r>
            <a:endParaRPr/>
          </a:p>
        </p:txBody>
      </p:sp>
      <p:sp>
        <p:nvSpPr>
          <p:cNvPr id="719" name="Google Shape;719;p94"/>
          <p:cNvSpPr/>
          <p:nvPr/>
        </p:nvSpPr>
        <p:spPr>
          <a:xfrm>
            <a:off x="566928" y="1773936"/>
            <a:ext cx="7909560" cy="1243584"/>
          </a:xfrm>
          <a:prstGeom prst="rect">
            <a:avLst/>
          </a:prstGeom>
          <a:noFill/>
          <a:ln cap="flat" cmpd="sng" w="12700">
            <a:solidFill>
              <a:srgbClr val="8296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Calibri"/>
              <a:cs typeface="Calibri"/>
              <a:sym typeface="Calibri"/>
            </a:endParaRPr>
          </a:p>
        </p:txBody>
      </p:sp>
      <p:sp>
        <p:nvSpPr>
          <p:cNvPr id="720" name="Google Shape;720;p94"/>
          <p:cNvSpPr txBox="1"/>
          <p:nvPr/>
        </p:nvSpPr>
        <p:spPr>
          <a:xfrm>
            <a:off x="484632" y="3319272"/>
            <a:ext cx="8001000" cy="117043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lang="en-US" sz="1800">
                <a:solidFill>
                  <a:srgbClr val="23282D"/>
                </a:solidFill>
                <a:latin typeface="Arial"/>
                <a:ea typeface="Arial"/>
                <a:cs typeface="Arial"/>
                <a:sym typeface="Arial"/>
              </a:rPr>
              <a:t>Knowing that kilograms are a greater unit than pounds, how can you explain why grams are a smaller unit than ounces?</a:t>
            </a:r>
            <a:endParaRPr/>
          </a:p>
        </p:txBody>
      </p:sp>
      <p:sp>
        <p:nvSpPr>
          <p:cNvPr id="721" name="Google Shape;721;p94"/>
          <p:cNvSpPr txBox="1"/>
          <p:nvPr/>
        </p:nvSpPr>
        <p:spPr>
          <a:xfrm>
            <a:off x="7175797" y="6044491"/>
            <a:ext cx="12068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BFBF"/>
                </a:solidFill>
                <a:latin typeface="Arial"/>
                <a:ea typeface="Arial"/>
                <a:cs typeface="Arial"/>
                <a:sym typeface="Arial"/>
              </a:rPr>
              <a:t/>
            </a:r>
            <a:endParaRPr/>
          </a:p>
        </p:txBody>
      </p:sp>
      <p:sp>
        <p:nvSpPr>
          <p:cNvPr id="722" name="Google Shape;722;p94"/>
          <p:cNvSpPr/>
          <p:nvPr/>
        </p:nvSpPr>
        <p:spPr>
          <a:xfrm>
            <a:off x="566928" y="4590288"/>
            <a:ext cx="7909560" cy="1243584"/>
          </a:xfrm>
          <a:prstGeom prst="rect">
            <a:avLst/>
          </a:prstGeom>
          <a:noFill/>
          <a:ln cap="flat" cmpd="sng" w="12700">
            <a:solidFill>
              <a:srgbClr val="8296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Calibri"/>
              <a:cs typeface="Calibri"/>
              <a:sym typeface="Calibri"/>
            </a:endParaRPr>
          </a:p>
        </p:txBody>
      </p:sp>
      <p:sp>
        <p:nvSpPr>
          <p:cNvPr id="723"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725" name="Rounded Rectangle 17"/>
          <p:cNvSpPr/>
          <p:nvPr/>
        </p:nvSpPr>
        <p:spPr>
          <a:xfrm>
            <a:off x="566928" y="1847088"/>
            <a:ext cx="7680960" cy="102412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6" name="Rectangle 18"/>
          <p:cNvSpPr/>
          <p:nvPr/>
        </p:nvSpPr>
        <p:spPr>
          <a:xfrm>
            <a:off x="566928" y="1847088"/>
            <a:ext cx="64008" cy="102412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7" name="TextBox 19"/>
          <p:cNvSpPr txBox="1"/>
          <p:nvPr/>
        </p:nvSpPr>
        <p:spPr>
          <a:xfrm>
            <a:off x="731520" y="1956816"/>
            <a:ext cx="7388352" cy="210312"/>
          </a:xfrm>
          <a:prstGeom prst="rect">
            <a:avLst/>
          </a:prstGeom>
          <a:noFill/>
        </p:spPr>
        <p:txBody>
          <a:bodyPr wrap="square" lIns="0" tIns="0" rIns="0" bIns="0" anchor="t">
            <a:spAutoFit/>
          </a:bodyPr>
          <a:lstStyle/>
          <a:p>
            <a:pPr algn="l"/>
            <a:r>
              <a:rPr sz="1100" b="1">
                <a:solidFill>
                  <a:srgbClr val="782DA0"/>
                </a:solidFill>
                <a:latin typeface="Arial"/>
              </a:rPr>
              <a:t>REVERSE THE RATIO</a:t>
            </a:r>
          </a:p>
        </p:txBody>
      </p:sp>
      <p:sp>
        <p:nvSpPr>
          <p:cNvPr id="728" name="TextBox 20"/>
          <p:cNvSpPr txBox="1"/>
          <p:nvPr/>
        </p:nvSpPr>
        <p:spPr>
          <a:xfrm>
            <a:off x="731520" y="2249424"/>
            <a:ext cx="7388352" cy="457200"/>
          </a:xfrm>
          <a:prstGeom prst="rect">
            <a:avLst/>
          </a:prstGeom>
          <a:noFill/>
        </p:spPr>
        <p:txBody>
          <a:bodyPr wrap="square" lIns="0" tIns="0" rIns="0" bIns="0" anchor="t">
            <a:spAutoFit/>
          </a:bodyPr>
          <a:lstStyle/>
          <a:p>
            <a:pPr algn="l"/>
            <a:r>
              <a:rPr sz="1400" b="0">
                <a:solidFill>
                  <a:srgbClr val="23282D"/>
                </a:solidFill>
                <a:latin typeface="Arial"/>
              </a:rPr>
              <a:t>“If 1 lb ≈ 0.45 kg, then kilograms : pounds is about ___ : ___.”</a:t>
            </a:r>
          </a:p>
        </p:txBody>
      </p:sp>
      <p:sp>
        <p:nvSpPr>
          <p:cNvPr id="729" name="Rounded Rectangle 17"/>
          <p:cNvSpPr/>
          <p:nvPr/>
        </p:nvSpPr>
        <p:spPr>
          <a:xfrm>
            <a:off x="566928" y="4663440"/>
            <a:ext cx="7680960" cy="1024128"/>
          </a:xfrm>
          <a:prstGeom prst="roundRect">
            <a:avLst/>
          </a:prstGeom>
          <a:solidFill>
            <a:srgbClr val="EAF7F5"/>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0" name="Rectangle 18"/>
          <p:cNvSpPr/>
          <p:nvPr/>
        </p:nvSpPr>
        <p:spPr>
          <a:xfrm>
            <a:off x="566928" y="4663440"/>
            <a:ext cx="64008" cy="1024128"/>
          </a:xfrm>
          <a:prstGeom prst="rect">
            <a:avLst/>
          </a:prstGeom>
          <a:solidFill>
            <a:srgbClr val="008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1" name="TextBox 19"/>
          <p:cNvSpPr txBox="1"/>
          <p:nvPr/>
        </p:nvSpPr>
        <p:spPr>
          <a:xfrm>
            <a:off x="731520" y="4773168"/>
            <a:ext cx="7388352" cy="210312"/>
          </a:xfrm>
          <a:prstGeom prst="rect">
            <a:avLst/>
          </a:prstGeom>
          <a:noFill/>
        </p:spPr>
        <p:txBody>
          <a:bodyPr wrap="square" lIns="0" tIns="0" rIns="0" bIns="0" anchor="t">
            <a:spAutoFit/>
          </a:bodyPr>
          <a:lstStyle/>
          <a:p>
            <a:pPr algn="l"/>
            <a:r>
              <a:rPr sz="1100" b="1">
                <a:solidFill>
                  <a:srgbClr val="008B78"/>
                </a:solidFill>
                <a:latin typeface="Arial"/>
              </a:rPr>
              <a:t>REASON ABOUT UNIT SIZE</a:t>
            </a:r>
          </a:p>
        </p:txBody>
      </p:sp>
      <p:sp>
        <p:nvSpPr>
          <p:cNvPr id="732" name="TextBox 20"/>
          <p:cNvSpPr txBox="1"/>
          <p:nvPr/>
        </p:nvSpPr>
        <p:spPr>
          <a:xfrm>
            <a:off x="731520" y="5065776"/>
            <a:ext cx="7388352" cy="457200"/>
          </a:xfrm>
          <a:prstGeom prst="rect">
            <a:avLst/>
          </a:prstGeom>
          <a:noFill/>
        </p:spPr>
        <p:txBody>
          <a:bodyPr wrap="square" lIns="0" tIns="0" rIns="0" bIns="0" anchor="t">
            <a:spAutoFit/>
          </a:bodyPr>
          <a:lstStyle/>
          <a:p>
            <a:pPr algn="l"/>
            <a:r>
              <a:rPr sz="1350" b="0">
                <a:solidFill>
                  <a:srgbClr val="23282D"/>
                </a:solidFill>
                <a:latin typeface="Arial"/>
              </a:rPr>
              <a:t>Use 1 kg = 1,000 g and 1 lb = 16 oz. Explain why the subdivisions change the comparison.</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Compare pathways with a partner; name one revision.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3.7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treating a rounded conversion factor as exact.</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Write the given conversion with its units and retain its stated precision.</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5" name="Google Shape;875;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6" name="Google Shape;876;p91"/>
          <p:cNvSpPr/>
          <p:nvPr/>
        </p:nvSpPr>
        <p:spPr>
          <a:xfrm>
            <a:off x="484565" y="581478"/>
            <a:ext cx="678053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Kilograms are metric units and pounds are customary units.</a:t>
            </a:r>
            <a:endParaRPr b="1" i="0" sz="2800" u="none" cap="none" strike="noStrike">
              <a:solidFill>
                <a:schemeClr val="dk1"/>
              </a:solidFill>
              <a:latin typeface="Arial"/>
              <a:ea typeface="Arial"/>
              <a:cs typeface="Arial"/>
              <a:sym typeface="Arial"/>
            </a:endParaRPr>
          </a:p>
        </p:txBody>
      </p:sp>
      <p:sp>
        <p:nvSpPr>
          <p:cNvPr id="877" name="Google Shape;877;p91"/>
          <p:cNvSpPr/>
          <p:nvPr/>
        </p:nvSpPr>
        <p:spPr>
          <a:xfrm>
            <a:off x="484565" y="3922458"/>
            <a:ext cx="678053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compare 31 pounds to the units on the packages?</a:t>
            </a:r>
            <a:endParaRPr b="1" i="0" sz="2800" u="none" cap="none" strike="noStrike">
              <a:solidFill>
                <a:schemeClr val="dk1"/>
              </a:solidFill>
              <a:latin typeface="Arial"/>
              <a:ea typeface="Arial"/>
              <a:cs typeface="Arial"/>
              <a:sym typeface="Arial"/>
            </a:endParaRPr>
          </a:p>
        </p:txBody>
      </p:sp>
      <p:pic>
        <p:nvPicPr>
          <p:cNvPr id="878" name="Google Shape;878;p91"/>
          <p:cNvPicPr preferRelativeResize="0"/>
          <p:nvPr/>
        </p:nvPicPr>
        <p:blipFill rotWithShape="1">
          <a:blip r:embed="rId2">
            <a:alphaModFix/>
          </a:blip>
          <a:srcRect b="0" l="0" r="0" t="0"/>
          <a:stretch/>
        </p:blipFill>
        <p:spPr>
          <a:xfrm>
            <a:off x="2518829" y="1654458"/>
            <a:ext cx="7154342" cy="2268000"/>
          </a:xfrm>
          <a:prstGeom prst="rect">
            <a:avLst/>
          </a:prstGeom>
          <a:noFill/>
          <a:ln>
            <a:noFill/>
          </a:ln>
        </p:spPr>
      </p:pic>
      <p:sp>
        <p:nvSpPr>
          <p:cNvPr id="879" name="Google Shape;879;p91"/>
          <p:cNvSpPr txBox="1"/>
          <p:nvPr/>
        </p:nvSpPr>
        <p:spPr>
          <a:xfrm>
            <a:off x="484565" y="4876565"/>
            <a:ext cx="9082130"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 can convert 31 pounds to kilograms to compare it to the packages.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93" name="Google Shape;893;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4" name="Google Shape;894;p93"/>
          <p:cNvSpPr txBox="1"/>
          <p:nvPr/>
        </p:nvSpPr>
        <p:spPr>
          <a:xfrm>
            <a:off x="484564" y="623124"/>
            <a:ext cx="7398769" cy="7167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One pound is approximately 0.45 kilograms.</a:t>
            </a:r>
            <a:endParaRPr b="0" i="0" sz="1400" u="none" cap="none" strike="noStrike">
              <a:solidFill>
                <a:srgbClr val="000000"/>
              </a:solidFill>
              <a:latin typeface="Arial"/>
              <a:ea typeface="Arial"/>
              <a:cs typeface="Arial"/>
              <a:sym typeface="Arial"/>
            </a:endParaRPr>
          </a:p>
        </p:txBody>
      </p:sp>
      <p:sp>
        <p:nvSpPr>
          <p:cNvPr id="895" name="Google Shape;895;p93"/>
          <p:cNvSpPr txBox="1"/>
          <p:nvPr/>
        </p:nvSpPr>
        <p:spPr>
          <a:xfrm>
            <a:off x="484565" y="3997421"/>
            <a:ext cx="7644828" cy="8984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represent this relationship as a ratio of pounds to kilograms?</a:t>
            </a:r>
            <a:endParaRPr b="0" i="0" sz="1400" u="none" cap="none" strike="noStrike">
              <a:solidFill>
                <a:srgbClr val="000000"/>
              </a:solidFill>
              <a:latin typeface="Arial"/>
              <a:ea typeface="Arial"/>
              <a:cs typeface="Arial"/>
              <a:sym typeface="Arial"/>
            </a:endParaRPr>
          </a:p>
        </p:txBody>
      </p:sp>
      <p:pic>
        <p:nvPicPr>
          <p:cNvPr descr="C:\Users\e402540\Downloads\kanchana\ePress PPT creation\sn_47fe6-1080mp4\OPS\img\.assets\91c33ad842a140229729a015eb562d16\narm24_c10307_se_005a-dig.png" id="896" name="Google Shape;896;p93"/>
          <p:cNvPicPr preferRelativeResize="0"/>
          <p:nvPr/>
        </p:nvPicPr>
        <p:blipFill rotWithShape="1">
          <a:blip r:embed="rId2">
            <a:alphaModFix/>
          </a:blip>
          <a:srcRect b="0" l="0" r="0" t="0"/>
          <a:stretch/>
        </p:blipFill>
        <p:spPr>
          <a:xfrm>
            <a:off x="8490683" y="1730969"/>
            <a:ext cx="2752725" cy="1695451"/>
          </a:xfrm>
          <a:prstGeom prst="rect">
            <a:avLst/>
          </a:prstGeom>
          <a:noFill/>
          <a:ln>
            <a:noFill/>
          </a:ln>
        </p:spPr>
      </p:pic>
      <p:sp>
        <p:nvSpPr>
          <p:cNvPr id="897" name="Google Shape;897;p93"/>
          <p:cNvSpPr txBox="1"/>
          <p:nvPr/>
        </p:nvSpPr>
        <p:spPr>
          <a:xfrm>
            <a:off x="484564" y="5262241"/>
            <a:ext cx="8006119" cy="11537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ratio of pounds to kilograms is about 1 : 0.45.</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303580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a:t>
            </a:r>
            <a:endParaRPr lang="en-US" sz="2000"/>
          </a:p>
          <a:p>
            <a:pPr>
              <a:lnSpc>
                <a:spcPts val="2400"/>
              </a:lnSpc>
              <a:buNone/>
            </a:pPr>
            <a:r>
              <a:rPr lang="en-US" sz="2000">
                <a:solidFill>
                  <a:srgbClr val="174D60"/>
                </a:solidFill>
                <a:latin typeface="Arial"/>
              </a:rPr>
              <a:t>revision you make.</a:t>
            </a:r>
            <a:endParaRPr lang="en-US" sz="200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49" name="Google Shape;949;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0" name="Google Shape;950;p99"/>
          <p:cNvSpPr txBox="1"/>
          <p:nvPr/>
        </p:nvSpPr>
        <p:spPr>
          <a:xfrm>
            <a:off x="484564" y="3695775"/>
            <a:ext cx="9107844" cy="963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complete the table to determine about how much 31 pounds is in kilograms?</a:t>
            </a:r>
            <a:endParaRPr b="0" i="0" sz="1400" u="none" cap="none" strike="noStrike">
              <a:solidFill>
                <a:srgbClr val="000000"/>
              </a:solidFill>
              <a:latin typeface="Arial"/>
              <a:ea typeface="Arial"/>
              <a:cs typeface="Arial"/>
              <a:sym typeface="Arial"/>
            </a:endParaRPr>
          </a:p>
        </p:txBody>
      </p:sp>
      <p:sp>
        <p:nvSpPr>
          <p:cNvPr id="951" name="Google Shape;951;p99"/>
          <p:cNvSpPr txBox="1"/>
          <p:nvPr/>
        </p:nvSpPr>
        <p:spPr>
          <a:xfrm>
            <a:off x="484564" y="949020"/>
            <a:ext cx="7349382" cy="4926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We can create a table of equivalent ratios.</a:t>
            </a:r>
            <a:endParaRPr b="0" i="0" sz="1400" u="none" cap="none" strike="noStrike">
              <a:solidFill>
                <a:srgbClr val="000000"/>
              </a:solidFill>
              <a:latin typeface="Arial"/>
              <a:ea typeface="Arial"/>
              <a:cs typeface="Arial"/>
              <a:sym typeface="Arial"/>
            </a:endParaRPr>
          </a:p>
        </p:txBody>
      </p:sp>
      <p:sp>
        <p:nvSpPr>
          <p:cNvPr id="952" name="Google Shape;952;p99"/>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    </a:t>
            </a:r>
            <a:r>
              <a:rPr b="1" i="0" lang="en-US" sz="2800" u="none" cap="none" strike="noStrike">
                <a:solidFill>
                  <a:srgbClr val="7030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53" name="Google Shape;953;p99"/>
          <p:cNvPicPr preferRelativeResize="0"/>
          <p:nvPr/>
        </p:nvPicPr>
        <p:blipFill rotWithShape="1">
          <a:blip r:embed="rId2">
            <a:alphaModFix/>
          </a:blip>
          <a:srcRect b="0" l="0" r="0" t="0"/>
          <a:stretch/>
        </p:blipFill>
        <p:spPr>
          <a:xfrm>
            <a:off x="558276" y="386230"/>
            <a:ext cx="353635" cy="340537"/>
          </a:xfrm>
          <a:prstGeom prst="rect">
            <a:avLst/>
          </a:prstGeom>
          <a:noFill/>
          <a:ln>
            <a:noFill/>
          </a:ln>
        </p:spPr>
      </p:pic>
      <p:graphicFrame>
        <p:nvGraphicFramePr>
          <p:cNvPr id="954" name="Google Shape;954;p99"/>
          <p:cNvGraphicFramePr/>
          <p:nvPr/>
        </p:nvGraphicFramePr>
        <p:xfrm>
          <a:off x="614744" y="1723570"/>
          <a:ext cx="3000000" cy="3000000"/>
        </p:xfrm>
        <a:graphic>
          <a:graphicData uri="http://schemas.openxmlformats.org/drawingml/2006/table">
            <a:tbl>
              <a:tblPr bandRow="1" firstRow="1">
                <a:noFill/>
                <a:tableStyleId>{25D9E9E1-FF04-4C86-B8D1-5D6C51761CA1}</a:tableStyleId>
              </a:tblPr>
              <a:tblGrid>
                <a:gridCol w="2189075"/>
                <a:gridCol w="975350"/>
                <a:gridCol w="890025"/>
                <a:gridCol w="841250"/>
                <a:gridCol w="987550"/>
                <a:gridCol w="858150"/>
              </a:tblGrid>
              <a:tr h="654000">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Pounds</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0" lang="en-US" sz="2600" u="none" cap="none" strike="noStrike">
                          <a:solidFill>
                            <a:schemeClr val="dk1"/>
                          </a:solidFill>
                          <a:latin typeface="Arial"/>
                          <a:ea typeface="Arial"/>
                          <a:cs typeface="Arial"/>
                          <a:sym typeface="Arial"/>
                        </a:rPr>
                        <a:t>1</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84675">
                <a:tc>
                  <a:txBody>
                    <a:bodyPr/>
                    <a:lstStyle/>
                    <a:p>
                      <a:pPr indent="0" lvl="0" marL="0" marR="0" rtl="0" algn="l">
                        <a:lnSpc>
                          <a:spcPct val="100000"/>
                        </a:lnSpc>
                        <a:spcBef>
                          <a:spcPts val="0"/>
                        </a:spcBef>
                        <a:spcAft>
                          <a:spcPts val="0"/>
                        </a:spcAft>
                        <a:buClr>
                          <a:srgbClr val="000000"/>
                        </a:buClr>
                        <a:buSzPts val="2600"/>
                        <a:buFont typeface="Arial"/>
                        <a:buNone/>
                      </a:pPr>
                      <a:r>
                        <a:rPr b="1" lang="en-US" sz="2600" u="none" cap="none" strike="noStrike">
                          <a:solidFill>
                            <a:schemeClr val="lt1"/>
                          </a:solidFill>
                          <a:latin typeface="Arial"/>
                          <a:ea typeface="Arial"/>
                          <a:cs typeface="Arial"/>
                          <a:sym typeface="Arial"/>
                        </a:rPr>
                        <a:t>Kilograms</a:t>
                      </a:r>
                      <a:endParaRPr b="1" sz="26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0" lang="en-US" sz="2600" u="none" cap="none" strike="noStrike">
                          <a:solidFill>
                            <a:schemeClr val="dk1"/>
                          </a:solidFill>
                          <a:latin typeface="Arial"/>
                          <a:ea typeface="Arial"/>
                          <a:cs typeface="Arial"/>
                          <a:sym typeface="Arial"/>
                        </a:rPr>
                        <a:t>0.45</a:t>
                      </a:r>
                      <a:endParaRPr b="0" sz="2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t/>
                      </a:r>
                      <a:endParaRPr b="0" sz="2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t/>
                      </a:r>
                      <a:endParaRPr b="0" sz="2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t/>
                      </a:r>
                      <a:endParaRPr b="0" sz="2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600"/>
                        <a:buFont typeface="Arial"/>
                        <a:buNone/>
                      </a:pPr>
                      <a:r>
                        <a:t/>
                      </a:r>
                      <a:endParaRPr b="0" sz="2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955" name="Google Shape;955;p99"/>
          <p:cNvSpPr txBox="1"/>
          <p:nvPr/>
        </p:nvSpPr>
        <p:spPr>
          <a:xfrm>
            <a:off x="484564" y="4824198"/>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 can use multiples of tens to complete the table.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41</a:t>
            </a:r>
          </a:p>
        </p:txBody>
      </p:sp>
      <p:grpSp>
        <p:nvGrpSpPr>
          <p:cNvPr id="9003" name="TEACH-5-student-move" descr="TEACH 5 · Facilitate student interactions and academic talk"/>
          <p:cNvGrpSpPr/>
          <p:nvPr/>
        </p:nvGrpSpPr>
        <p:grpSpPr>
          <a:xfrm>
            <a:off x="6187440" y="3019119"/>
            <a:ext cx="5501640" cy="594360"/>
            <a:chOff x="6187440" y="3019119"/>
            <a:chExt cx="5501640" cy="594360"/>
          </a:xfrm>
        </p:grpSpPr>
        <p:sp>
          <p:nvSpPr>
            <p:cNvPr id="9004" name="TEACH-move-card"/>
            <p:cNvSpPr/>
            <p:nvPr/>
          </p:nvSpPr>
          <p:spPr>
            <a:xfrm>
              <a:off x="6187440" y="301911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6233160" y="3132047"/>
              <a:ext cx="100584" cy="36850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6507480" y="301911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RESTATE FIRST  ·  </a:t>
              </a:r>
              <a:r>
                <a:rPr lang="en-US" sz="1200" dirty="0">
                  <a:solidFill>
                    <a:srgbClr val="13303A"/>
                  </a:solidFill>
                  <a:latin typeface="Arial"/>
                </a:rPr>
                <a:t>Restate your partner’s idea in your own words before you give yours.</a:t>
              </a:r>
              <a:endParaRPr lang="en-US" sz="1200"/>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cxnSp>
        <p:nvCxnSpPr>
          <p:cNvPr id="727" name="Google Shape;727;p95"/>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728" name="Google Shape;728;p95"/>
          <p:cNvSpPr txBox="1"/>
          <p:nvPr/>
        </p:nvSpPr>
        <p:spPr>
          <a:xfrm>
            <a:off x="548640" y="1234440"/>
            <a:ext cx="5166360" cy="4297680"/>
          </a:xfrm>
          <a:prstGeom prst="rect">
            <a:avLst/>
          </a:prstGeom>
          <a:noFill/>
          <a:ln>
            <a:noFill/>
          </a:ln>
        </p:spPr>
        <p:txBody>
          <a:bodyPr anchorCtr="0" anchor="t" bIns="27432" lIns="73152" spcFirstLastPara="1" rIns="73152" wrap="square">
            <a:noAutofit/>
          </a:bodyPr>
          <a:lstStyle/>
          <a:p>
            <a:pPr indent="0" lvl="0" marL="0" marR="0" rtl="0" algn="l">
              <a:lnSpc>
                <a:spcPct val="100000"/>
              </a:lnSpc>
              <a:spcBef>
                <a:spcPts val="0"/>
              </a:spcBef>
              <a:spcAft>
                <a:spcPts val="0"/>
              </a:spcAft>
              <a:buClr>
                <a:srgbClr val="262626"/>
              </a:buClr>
              <a:buSzPts val="2800"/>
              <a:buFont typeface="Arial"/>
              <a:buNone/>
              <a:defRPr/>
            </a:pPr>
            <a:r>
              <a:rPr sz="1800" b="0">
                <a:solidFill>
                  <a:srgbClr val="2D3A40"/>
                </a:solidFill>
                <a:latin typeface="Arial"/>
              </a:rPr>
              <a:t>1. Start with the given conversion factor.</a:t>
            </a:r>
          </a:p>
          <a:p>
            <a:pPr algn="l">
              <a:defRPr/>
            </a:pPr>
            <a:r>
              <a:rPr sz="1800" b="0">
                <a:solidFill>
                  <a:srgbClr val="2D3A40"/>
                </a:solidFill>
                <a:latin typeface="Arial"/>
              </a:rPr>
              <a:t>2. Scale both quantities by the same factor.</a:t>
            </a:r>
          </a:p>
          <a:p>
            <a:pPr algn="l">
              <a:defRPr/>
            </a:pPr>
            <a:r>
              <a:rPr sz="1800" b="0">
                <a:solidFill>
                  <a:srgbClr val="2D3A40"/>
                </a:solidFill>
                <a:latin typeface="Arial"/>
              </a:rPr>
              <a:t>3. Compare amounts in matching units.</a:t>
            </a:r>
          </a:p>
          <a:p>
            <a:pPr algn="l">
              <a:defRPr/>
            </a:pPr>
            <a:r>
              <a:rPr sz="1800" b="0">
                <a:solidFill>
                  <a:srgbClr val="2D3A40"/>
                </a:solidFill>
                <a:latin typeface="Arial"/>
              </a:rPr>
              <a:t>4. Use ≈ when the conversion factor is rounded.</a:t>
            </a:r>
          </a:p>
        </p:txBody>
      </p:sp>
      <p:sp>
        <p:nvSpPr>
          <p:cNvPr id="729" name="Google Shape;729;p95"/>
          <p:cNvSpPr txBox="1"/>
          <p:nvPr/>
        </p:nvSpPr>
        <p:spPr>
          <a:xfrm>
            <a:off x="502920" y="320040"/>
            <a:ext cx="7315200" cy="6400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lang="en-US" sz="2800">
                <a:solidFill>
                  <a:srgbClr val="782DA0"/>
                </a:solidFill>
                <a:latin typeface="Arial"/>
                <a:ea typeface="Arial"/>
                <a:cs typeface="Arial"/>
                <a:sym typeface="Arial"/>
              </a:rPr>
              <a:t>Summarize: Convert + Compare</a:t>
            </a:r>
          </a:p>
        </p:txBody>
      </p:sp>
      <p:graphicFrame>
        <p:nvGraphicFramePr>
          <p:cNvPr id="730" name="Google Shape;730;p95"/>
          <p:cNvGraphicFramePr/>
          <p:nvPr/>
        </p:nvGraphicFramePr>
        <p:xfrm>
          <a:off x="6263640" y="2395728"/>
          <a:ext cx="4892040" cy="3383280"/>
        </p:xfrm>
        <a:graphic>
          <a:graphicData uri="http://schemas.openxmlformats.org/drawingml/2006/table">
            <a:tbl>
              <a:tblPr>
                <a:noFill/>
                <a:tableStyleId>{4578F4EC-B16B-42C2-B396-37991A9B68EB}</a:tableStyleId>
              </a:tblPr>
              <a:tblGrid>
                <a:gridCol w="1692675"/>
                <a:gridCol w="2414500"/>
              </a:tblGrid>
              <a:tr h="81275">
                <a:tc>
                  <a:txBody>
                    <a:bodyPr/>
                    <a:lstStyle/>
                    <a:p>
                      <a:pPr indent="0" lvl="0" marL="0" marR="0" rtl="0" algn="l">
                        <a:spcBef>
                          <a:spcPts val="0"/>
                        </a:spcBef>
                        <a:spcAft>
                          <a:spcPts val="0"/>
                        </a:spcAft>
                        <a:buNone/>
                      </a:pPr>
                      <a:r>
                        <a:rPr b="1" lang="en-US" sz="2000">
                          <a:solidFill>
                            <a:srgbClr val="FFFFFF"/>
                          </a:solidFill>
                          <a:highlight>
                            <a:srgbClr val="782DA0"/>
                          </a:highlight>
                          <a:latin typeface="Arial"/>
                          <a:ea typeface="Arial"/>
                          <a:cs typeface="Arial"/>
                          <a:sym typeface="Arial"/>
                        </a:rPr>
                        <a:t xml:space="preserve"> Length</a:t>
                      </a:r>
                      <a:endParaRPr sz="2000">
                        <a:highlight>
                          <a:srgbClr val="7030A0"/>
                        </a:highlight>
                        <a:latin typeface="Arial"/>
                        <a:ea typeface="Arial"/>
                        <a:cs typeface="Arial"/>
                        <a:sym typeface="Arial"/>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7030A0"/>
                    </a:solidFill>
                  </a:tcPr>
                </a:tc>
                <a:tc>
                  <a:txBody>
                    <a:bodyPr/>
                    <a:lstStyle/>
                    <a:p>
                      <a:pPr indent="0" lvl="0" marL="0" marR="0" rtl="0" algn="l">
                        <a:spcBef>
                          <a:spcPts val="0"/>
                        </a:spcBef>
                        <a:spcAft>
                          <a:spcPts val="0"/>
                        </a:spcAft>
                        <a:buNone/>
                      </a:pPr>
                      <a:r>
                        <a:rPr lang="en-US" sz="200">
                          <a:latin typeface="Arial"/>
                          <a:ea typeface="Arial"/>
                          <a:cs typeface="Arial"/>
                          <a:sym typeface="Arial"/>
                        </a:rPr>
                        <a:t xml:space="preserve"> </a:t>
                      </a:r>
                      <a:endParaRPr/>
                    </a:p>
                    <a:p>
                      <a:pPr indent="0" lvl="0" marL="0" marR="0" rtl="0" algn="l">
                        <a:spcBef>
                          <a:spcPts val="0"/>
                        </a:spcBef>
                        <a:spcAft>
                          <a:spcPts val="0"/>
                        </a:spcAft>
                        <a:buNone/>
                      </a:pPr>
                      <a:r>
                        <a:rPr lang="en-US" sz="2000">
                          <a:latin typeface="Arial"/>
                          <a:ea typeface="Arial"/>
                          <a:cs typeface="Arial"/>
                          <a:sym typeface="Arial"/>
                        </a:rPr>
                        <a:t>1 in. = 2.54 cm</a:t>
                      </a:r>
                      <a:endParaRPr/>
                    </a:p>
                    <a:p>
                      <a:pPr indent="0" lvl="0" marL="0" marR="0" rtl="0" algn="l">
                        <a:spcBef>
                          <a:spcPts val="0"/>
                        </a:spcBef>
                        <a:spcAft>
                          <a:spcPts val="0"/>
                        </a:spcAft>
                        <a:buNone/>
                      </a:pPr>
                      <a:r>
                        <a:rPr lang="en-US" sz="2000">
                          <a:latin typeface="Arial"/>
                          <a:ea typeface="Arial"/>
                          <a:cs typeface="Arial"/>
                          <a:sym typeface="Arial"/>
                        </a:rPr>
                        <a:t xml:space="preserve"> 1 ft ≈ 0.305 m</a:t>
                      </a:r>
                      <a:endParaRPr/>
                    </a:p>
                    <a:p>
                      <a:pPr indent="0" lvl="0" marL="0" marR="0" rtl="0" algn="l">
                        <a:spcBef>
                          <a:spcPts val="0"/>
                        </a:spcBef>
                        <a:spcAft>
                          <a:spcPts val="0"/>
                        </a:spcAft>
                        <a:buNone/>
                      </a:pPr>
                      <a:r>
                        <a:rPr lang="en-US" sz="2000">
                          <a:latin typeface="Arial"/>
                          <a:ea typeface="Arial"/>
                          <a:cs typeface="Arial"/>
                          <a:sym typeface="Arial"/>
                        </a:rPr>
                        <a:t xml:space="preserve"> 1 yd ≈ 0.914 m</a:t>
                      </a:r>
                      <a:endParaRPr/>
                    </a:p>
                    <a:p>
                      <a:pPr indent="0" lvl="0" marL="0" marR="0" rtl="0" algn="l">
                        <a:spcBef>
                          <a:spcPts val="0"/>
                        </a:spcBef>
                        <a:spcAft>
                          <a:spcPts val="0"/>
                        </a:spcAft>
                        <a:buNone/>
                      </a:pPr>
                      <a:r>
                        <a:rPr lang="en-US" sz="2000">
                          <a:latin typeface="Arial"/>
                          <a:ea typeface="Arial"/>
                          <a:cs typeface="Arial"/>
                          <a:sym typeface="Arial"/>
                        </a:rPr>
                        <a:t xml:space="preserve"> 1 mi ≈ 1.609 km </a:t>
                      </a:r>
                      <a:endParaRPr/>
                    </a:p>
                    <a:p>
                      <a:pPr indent="0" lvl="0" marL="0" marR="0" rtl="0" algn="l">
                        <a:spcBef>
                          <a:spcPts val="0"/>
                        </a:spcBef>
                        <a:spcAft>
                          <a:spcPts val="0"/>
                        </a:spcAft>
                        <a:buNone/>
                      </a:pPr>
                      <a:r>
                        <a:t/>
                      </a:r>
                      <a:endParaRPr sz="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b="1" lang="en-US" sz="2000">
                          <a:solidFill>
                            <a:srgbClr val="FFFFFF"/>
                          </a:solidFill>
                          <a:highlight>
                            <a:srgbClr val="782DA0"/>
                          </a:highlight>
                          <a:latin typeface="Arial"/>
                          <a:ea typeface="Arial"/>
                          <a:cs typeface="Arial"/>
                          <a:sym typeface="Arial"/>
                        </a:rPr>
                        <a:t xml:space="preserve"> Volume and</a:t>
                      </a:r>
                      <a:br>
                        <a:rPr b="1" lang="en-US" sz="2000">
                          <a:solidFill>
                            <a:srgbClr val="FFFFFF"/>
                          </a:solidFill>
                          <a:highlight>
                            <a:srgbClr val="782DA0"/>
                          </a:highlight>
                          <a:latin typeface="Arial"/>
                          <a:ea typeface="Arial"/>
                          <a:cs typeface="Arial"/>
                          <a:sym typeface="Arial"/>
                        </a:rPr>
                      </a:br>
                      <a:r>
                        <a:rPr b="1" lang="en-US" sz="2000">
                          <a:solidFill>
                            <a:srgbClr val="FFFFFF"/>
                          </a:solidFill>
                          <a:highlight>
                            <a:srgbClr val="782DA0"/>
                          </a:highlight>
                          <a:latin typeface="Arial"/>
                          <a:ea typeface="Arial"/>
                          <a:cs typeface="Arial"/>
                          <a:sym typeface="Arial"/>
                        </a:rPr>
                        <a:t xml:space="preserve"> Capacity</a:t>
                      </a:r>
                      <a:endParaRPr sz="2000">
                        <a:highlight>
                          <a:srgbClr val="7030A0"/>
                        </a:highlight>
                        <a:latin typeface="Arial"/>
                        <a:ea typeface="Arial"/>
                        <a:cs typeface="Arial"/>
                        <a:sym typeface="Arial"/>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7030A0"/>
                    </a:solidFill>
                  </a:tcPr>
                </a:tc>
                <a:tc>
                  <a:txBody>
                    <a:bodyPr/>
                    <a:lstStyle/>
                    <a:p>
                      <a:pPr indent="0" lvl="0" marL="0" marR="0" rtl="0" algn="l">
                        <a:spcBef>
                          <a:spcPts val="0"/>
                        </a:spcBef>
                        <a:spcAft>
                          <a:spcPts val="0"/>
                        </a:spcAft>
                        <a:buNone/>
                      </a:pPr>
                      <a:r>
                        <a:t/>
                      </a:r>
                      <a:endParaRPr sz="200">
                        <a:latin typeface="Arial"/>
                        <a:ea typeface="Arial"/>
                        <a:cs typeface="Arial"/>
                        <a:sym typeface="Arial"/>
                      </a:endParaRPr>
                    </a:p>
                    <a:p>
                      <a:pPr indent="0" lvl="0" marL="0" marR="0" rtl="0" algn="l">
                        <a:spcBef>
                          <a:spcPts val="0"/>
                        </a:spcBef>
                        <a:spcAft>
                          <a:spcPts val="0"/>
                        </a:spcAft>
                        <a:buNone/>
                      </a:pPr>
                      <a:r>
                        <a:rPr lang="en-US" sz="2000">
                          <a:latin typeface="Arial"/>
                          <a:ea typeface="Arial"/>
                          <a:cs typeface="Arial"/>
                          <a:sym typeface="Arial"/>
                        </a:rPr>
                        <a:t xml:space="preserve"> 1 fl oz ≈ 29.574 mL</a:t>
                      </a:r>
                      <a:endParaRPr/>
                    </a:p>
                    <a:p>
                      <a:pPr indent="0" lvl="0" marL="0" marR="0" rtl="0" algn="l">
                        <a:spcBef>
                          <a:spcPts val="0"/>
                        </a:spcBef>
                        <a:spcAft>
                          <a:spcPts val="0"/>
                        </a:spcAft>
                        <a:buNone/>
                      </a:pPr>
                      <a:r>
                        <a:rPr lang="en-US" sz="2000">
                          <a:latin typeface="Arial"/>
                          <a:ea typeface="Arial"/>
                          <a:cs typeface="Arial"/>
                          <a:sym typeface="Arial"/>
                        </a:rPr>
                        <a:t xml:space="preserve"> 1 pt ≈ 0.473 L</a:t>
                      </a:r>
                      <a:endParaRPr/>
                    </a:p>
                    <a:p>
                      <a:pPr indent="0" lvl="0" marL="0" marR="0" rtl="0" algn="l">
                        <a:spcBef>
                          <a:spcPts val="0"/>
                        </a:spcBef>
                        <a:spcAft>
                          <a:spcPts val="0"/>
                        </a:spcAft>
                        <a:buNone/>
                      </a:pPr>
                      <a:r>
                        <a:rPr lang="en-US" sz="2000">
                          <a:latin typeface="Arial"/>
                          <a:ea typeface="Arial"/>
                          <a:cs typeface="Arial"/>
                          <a:sym typeface="Arial"/>
                        </a:rPr>
                        <a:t xml:space="preserve"> 1 qt ≈ 0.946 L</a:t>
                      </a:r>
                      <a:endParaRPr/>
                    </a:p>
                    <a:p>
                      <a:pPr indent="0" lvl="0" marL="0" marR="0" rtl="0" algn="l">
                        <a:spcBef>
                          <a:spcPts val="0"/>
                        </a:spcBef>
                        <a:spcAft>
                          <a:spcPts val="0"/>
                        </a:spcAft>
                        <a:buNone/>
                      </a:pPr>
                      <a:r>
                        <a:rPr lang="en-US" sz="2000">
                          <a:latin typeface="Arial"/>
                          <a:ea typeface="Arial"/>
                          <a:cs typeface="Arial"/>
                          <a:sym typeface="Arial"/>
                        </a:rPr>
                        <a:t xml:space="preserve"> 1 gal ≈ 3.785 L</a:t>
                      </a:r>
                      <a:endParaRPr/>
                    </a:p>
                    <a:p>
                      <a:pPr indent="0" lvl="0" marL="0" marR="0" rtl="0" algn="l">
                        <a:spcBef>
                          <a:spcPts val="0"/>
                        </a:spcBef>
                        <a:spcAft>
                          <a:spcPts val="0"/>
                        </a:spcAft>
                        <a:buNone/>
                      </a:pPr>
                      <a:r>
                        <a:t/>
                      </a:r>
                      <a:endParaRPr sz="200">
                        <a:latin typeface="Arial"/>
                        <a:ea typeface="Arial"/>
                        <a:cs typeface="Arial"/>
                        <a:sym typeface="Arial"/>
                      </a:endParaRPr>
                    </a:p>
                    <a:p>
                      <a:pPr indent="0" lvl="0" marL="0" marR="0" rtl="0" algn="l">
                        <a:spcBef>
                          <a:spcPts val="0"/>
                        </a:spcBef>
                        <a:spcAft>
                          <a:spcPts val="0"/>
                        </a:spcAft>
                        <a:buNone/>
                      </a:pPr>
                      <a:r>
                        <a:t/>
                      </a:r>
                      <a:endParaRPr sz="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b="1" lang="en-US" sz="2000">
                          <a:solidFill>
                            <a:srgbClr val="FFFFFF"/>
                          </a:solidFill>
                          <a:highlight>
                            <a:srgbClr val="782DA0"/>
                          </a:highlight>
                          <a:latin typeface="Arial"/>
                          <a:ea typeface="Arial"/>
                          <a:cs typeface="Arial"/>
                          <a:sym typeface="Arial"/>
                        </a:rPr>
                        <a:t xml:space="preserve"> Weight and</a:t>
                      </a:r>
                      <a:br>
                        <a:rPr b="1" lang="en-US" sz="2000">
                          <a:solidFill>
                            <a:srgbClr val="FFFFFF"/>
                          </a:solidFill>
                          <a:highlight>
                            <a:srgbClr val="782DA0"/>
                          </a:highlight>
                          <a:latin typeface="Arial"/>
                          <a:ea typeface="Arial"/>
                          <a:cs typeface="Arial"/>
                          <a:sym typeface="Arial"/>
                        </a:rPr>
                      </a:br>
                      <a:r>
                        <a:rPr b="1" lang="en-US" sz="2000">
                          <a:solidFill>
                            <a:srgbClr val="FFFFFF"/>
                          </a:solidFill>
                          <a:highlight>
                            <a:srgbClr val="782DA0"/>
                          </a:highlight>
                          <a:latin typeface="Arial"/>
                          <a:ea typeface="Arial"/>
                          <a:cs typeface="Arial"/>
                          <a:sym typeface="Arial"/>
                        </a:rPr>
                        <a:t xml:space="preserve"> Mass</a:t>
                      </a:r>
                      <a:endParaRPr sz="2000">
                        <a:highlight>
                          <a:srgbClr val="7030A0"/>
                        </a:highlight>
                        <a:latin typeface="Arial"/>
                        <a:ea typeface="Arial"/>
                        <a:cs typeface="Arial"/>
                        <a:sym typeface="Arial"/>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7030A0"/>
                    </a:solidFill>
                  </a:tcPr>
                </a:tc>
                <a:tc>
                  <a:txBody>
                    <a:bodyPr/>
                    <a:lstStyle/>
                    <a:p>
                      <a:pPr indent="0" lvl="0" marL="0" marR="0" rtl="0" algn="l">
                        <a:spcBef>
                          <a:spcPts val="0"/>
                        </a:spcBef>
                        <a:spcAft>
                          <a:spcPts val="0"/>
                        </a:spcAft>
                        <a:buNone/>
                      </a:pPr>
                      <a:r>
                        <a:t/>
                      </a:r>
                      <a:endParaRPr sz="200">
                        <a:latin typeface="Arial"/>
                        <a:ea typeface="Arial"/>
                        <a:cs typeface="Arial"/>
                        <a:sym typeface="Arial"/>
                      </a:endParaRPr>
                    </a:p>
                    <a:p>
                      <a:pPr indent="0" lvl="0" marL="0" marR="0" rtl="0" algn="l">
                        <a:spcBef>
                          <a:spcPts val="0"/>
                        </a:spcBef>
                        <a:spcAft>
                          <a:spcPts val="0"/>
                        </a:spcAft>
                        <a:buNone/>
                      </a:pPr>
                      <a:r>
                        <a:rPr lang="en-US" sz="2000">
                          <a:latin typeface="Arial"/>
                          <a:ea typeface="Arial"/>
                          <a:cs typeface="Arial"/>
                          <a:sym typeface="Arial"/>
                        </a:rPr>
                        <a:t xml:space="preserve"> 1 oz ≈ 28.35 g</a:t>
                      </a:r>
                      <a:endParaRPr/>
                    </a:p>
                    <a:p>
                      <a:pPr indent="0" lvl="0" marL="0" marR="0" rtl="0" algn="l">
                        <a:spcBef>
                          <a:spcPts val="0"/>
                        </a:spcBef>
                        <a:spcAft>
                          <a:spcPts val="0"/>
                        </a:spcAft>
                        <a:buNone/>
                      </a:pPr>
                      <a:r>
                        <a:rPr lang="en-US" sz="2000">
                          <a:latin typeface="Arial"/>
                          <a:ea typeface="Arial"/>
                          <a:cs typeface="Arial"/>
                          <a:sym typeface="Arial"/>
                        </a:rPr>
                        <a:t xml:space="preserve"> 1 lb ≈ 0.454 kg</a:t>
                      </a:r>
                      <a:endParaRPr/>
                    </a:p>
                    <a:p>
                      <a:pPr indent="0" lvl="0" marL="0" marR="0" rtl="0" algn="l">
                        <a:spcBef>
                          <a:spcPts val="0"/>
                        </a:spcBef>
                        <a:spcAft>
                          <a:spcPts val="0"/>
                        </a:spcAft>
                        <a:buNone/>
                      </a:pPr>
                      <a:r>
                        <a:t/>
                      </a:r>
                      <a:endParaRPr sz="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31" name="Google Shape;731;p95"/>
          <p:cNvSpPr txBox="1"/>
          <p:nvPr/>
        </p:nvSpPr>
        <p:spPr>
          <a:xfrm>
            <a:off x="6053328" y="1170432"/>
            <a:ext cx="5486400" cy="10515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defRPr/>
            </a:pPr>
            <a:r>
              <a:rPr lang="en-US" sz="1800">
                <a:solidFill>
                  <a:srgbClr val="23282D"/>
                </a:solidFill>
                <a:latin typeface="Arial"/>
                <a:ea typeface="Arial"/>
                <a:cs typeface="Arial"/>
                <a:sym typeface="Arial"/>
              </a:rPr>
              <a:t xml:space="preserve">The table shows common </a:t>
            </a:r>
            <a:r>
              <a:rPr lang="en-US" sz="1800" b="1">
                <a:solidFill>
                  <a:srgbClr val="23282D"/>
                </a:solidFill>
                <a:highlight>
                  <a:srgbClr val="FFF2A8"/>
                </a:highlight>
                <a:latin typeface="Arial"/>
                <a:ea typeface="Arial"/>
                <a:cs typeface="Arial"/>
                <a:sym typeface="Arial"/>
              </a:rPr>
              <a:t>conversion factors</a:t>
            </a:r>
            <a:r>
              <a:rPr lang="en-US" sz="1800">
                <a:solidFill>
                  <a:srgbClr val="23282D"/>
                </a:solidFill>
                <a:latin typeface="Arial"/>
                <a:ea typeface="Arial"/>
                <a:cs typeface="Arial"/>
                <a:sym typeface="Arial"/>
              </a:rPr>
              <a:t xml:space="preserve"> for units of length, capacity, and mass or weight.</a:t>
            </a:r>
            <a:endParaRPr sz="1800">
              <a:solidFill>
                <a:schemeClr val="dk1"/>
              </a:solidFill>
              <a:latin typeface="Arial"/>
              <a:ea typeface="Calibri"/>
              <a:cs typeface="Calibri"/>
              <a:sym typeface="Calibri"/>
            </a:endParaRPr>
          </a:p>
        </p:txBody>
      </p:sp>
      <p:sp>
        <p:nvSpPr>
          <p:cNvPr id="732"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7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41</a:t>
            </a:r>
          </a:p>
        </p:txBody>
      </p:sp>
      <p:grpSp>
        <p:nvGrpSpPr>
          <p:cNvPr id="734" name="TEACH-7-student-move" descr="TEACH 7 · Cultivate a supportive learning community"/>
          <p:cNvGrpSpPr/>
          <p:nvPr/>
        </p:nvGrpSpPr>
        <p:grpSpPr>
          <a:xfrm>
            <a:off x="502920" y="5815584"/>
            <a:ext cx="11186160" cy="457200"/>
            <a:chOff x="502920" y="5815584"/>
            <a:chExt cx="11186160" cy="457200"/>
          </a:xfrm>
        </p:grpSpPr>
        <p:sp>
          <p:nvSpPr>
            <p:cNvPr id="735" name="TEACH-move-card"/>
            <p:cNvSpPr/>
            <p:nvPr/>
          </p:nvSpPr>
          <p:spPr>
            <a:xfrm>
              <a:off x="502920" y="5815584"/>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736" name="TEACH-move-rule"/>
            <p:cNvSpPr/>
            <p:nvPr/>
          </p:nvSpPr>
          <p:spPr>
            <a:xfrm>
              <a:off x="548640" y="5902452"/>
              <a:ext cx="100584" cy="283464"/>
            </a:xfrm>
            <a:prstGeom prst="roundRect">
              <a:avLst>
                <a:gd name="adj" fmla="val 50000"/>
              </a:avLst>
            </a:prstGeom>
            <a:solidFill>
              <a:srgbClr val="01708C"/>
            </a:solidFill>
            <a:ln>
              <a:noFill/>
            </a:ln>
          </p:spPr>
          <p:txBody>
            <a:bodyPr/>
            <a:lstStyle/>
            <a:p>
              <a:endParaRPr/>
            </a:p>
          </p:txBody>
        </p:sp>
        <p:sp>
          <p:nvSpPr>
            <p:cNvPr id="737" name="TEACH-move-text"/>
            <p:cNvSpPr txBox="1"/>
            <p:nvPr/>
          </p:nvSpPr>
          <p:spPr>
            <a:xfrm>
              <a:off x="822960" y="5815584"/>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CREDIT A CLASSMATE  ·  </a:t>
              </a:r>
              <a:r>
                <a:rPr lang="en-US" sz="1400" dirty="0">
                  <a:solidFill>
                    <a:srgbClr val="13303A"/>
                  </a:solidFill>
                  <a:latin typeface="Arial"/>
                </a:rPr>
                <a:t>Name one classmate whose idea helped you today, and say what they said.</a:t>
              </a:r>
              <a:endParaRPr lang="en-US" sz="1400"/>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96"/>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lang="en-US" sz="2800">
                <a:solidFill>
                  <a:srgbClr val="782DA0"/>
                </a:solidFill>
                <a:latin typeface="Arial"/>
                <a:ea typeface="Arial"/>
                <a:cs typeface="Arial"/>
                <a:sym typeface="Arial"/>
              </a:rPr>
              <a:t>Apply:</a:t>
            </a:r>
            <a:r>
              <a:rPr b="1" lang="en-US" sz="2800">
                <a:solidFill>
                  <a:srgbClr val="782DA0"/>
                </a:solidFill>
                <a:latin typeface="Arial"/>
                <a:ea typeface="Arial"/>
                <a:cs typeface="Arial"/>
                <a:sym typeface="Arial"/>
              </a:rPr>
              <a:t xml:space="preserve"> Bridge Engineering</a:t>
            </a:r>
            <a:endParaRPr/>
          </a:p>
        </p:txBody>
      </p:sp>
      <p:cxnSp>
        <p:nvCxnSpPr>
          <p:cNvPr id="737" name="Google Shape;737;p96"/>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738" name="Google Shape;738;p96"/>
          <p:cNvSpPr txBox="1"/>
          <p:nvPr/>
        </p:nvSpPr>
        <p:spPr>
          <a:xfrm>
            <a:off x="484565" y="927528"/>
            <a:ext cx="5538166" cy="48780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lang="en-US" sz="2300">
                <a:solidFill>
                  <a:srgbClr val="23282D"/>
                </a:solidFill>
                <a:latin typeface="Arial"/>
                <a:ea typeface="Arial"/>
                <a:cs typeface="Arial"/>
                <a:sym typeface="Arial"/>
              </a:rPr>
              <a:t>For this math model, assume the bridge can support 35,924,000 pounds of cars. An average midsize car has a mass of about 1,524 kilograms.</a:t>
            </a:r>
          </a:p>
          <a:p>
            <a:pPr indent="0" lvl="0" marL="0" marR="0" rtl="0" algn="l">
              <a:lnSpc>
                <a:spcPct val="100000"/>
              </a:lnSpc>
              <a:spcBef>
                <a:spcPts val="0"/>
              </a:spcBef>
              <a:spcAft>
                <a:spcPts val="0"/>
              </a:spcAft>
              <a:buClr>
                <a:srgbClr val="262626"/>
              </a:buClr>
              <a:buSzPts val="2800"/>
              <a:buFont typeface="Arial"/>
              <a:buNone/>
              <a:defRPr/>
            </a:pPr>
            <a:r>
              <a:rPr lang="en-US" sz="2300">
                <a:solidFill>
                  <a:srgbClr val="23282D"/>
                </a:solidFill>
                <a:latin typeface="Arial"/>
                <a:ea typeface="Arial"/>
                <a:cs typeface="Arial"/>
                <a:sym typeface="Arial"/>
              </a:rPr>
              <a:t/>
            </a:r>
          </a:p>
          <a:p>
            <a:pPr indent="0" lvl="0" marL="0" marR="0" rtl="0" algn="l">
              <a:lnSpc>
                <a:spcPct val="100000"/>
              </a:lnSpc>
              <a:spcBef>
                <a:spcPts val="0"/>
              </a:spcBef>
              <a:spcAft>
                <a:spcPts val="0"/>
              </a:spcAft>
              <a:buClr>
                <a:srgbClr val="262626"/>
              </a:buClr>
              <a:buSzPts val="2800"/>
              <a:buFont typeface="Arial"/>
              <a:buNone/>
              <a:defRPr/>
            </a:pPr>
            <a:r>
              <a:rPr lang="en-US" sz="2300">
                <a:solidFill>
                  <a:srgbClr val="23282D"/>
                </a:solidFill>
                <a:latin typeface="Arial"/>
                <a:ea typeface="Arial"/>
                <a:cs typeface="Arial"/>
                <a:sym typeface="Arial"/>
              </a:rPr>
              <a:t>About how many cars does the model allow? Use 1 lb ≈ 0.454 kg.</a:t>
            </a:r>
          </a:p>
        </p:txBody>
      </p:sp>
      <p:pic>
        <p:nvPicPr>
          <p:cNvPr id="739" name="Google Shape;739;p96"/>
          <p:cNvPicPr preferRelativeResize="0"/>
          <p:nvPr/>
        </p:nvPicPr>
        <p:blipFill rotWithShape="1">
          <a:blip r:embed="rId3">
            <a:alphaModFix/>
          </a:blip>
          <a:srcRect b="0" l="0" r="0" t="0"/>
          <a:stretch/>
        </p:blipFill>
        <p:spPr>
          <a:xfrm>
            <a:off x="6128240" y="1418026"/>
            <a:ext cx="5829298" cy="3891003"/>
          </a:xfrm>
          <a:prstGeom prst="rect">
            <a:avLst/>
          </a:prstGeom>
          <a:noFill/>
          <a:ln>
            <a:noFill/>
          </a:ln>
        </p:spPr>
      </p:pic>
      <p:sp>
        <p:nvSpPr>
          <p:cNvPr id="740"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742" name="Rounded Rectangle 17"/>
          <p:cNvSpPr/>
          <p:nvPr/>
        </p:nvSpPr>
        <p:spPr>
          <a:xfrm>
            <a:off x="502920" y="5486400"/>
            <a:ext cx="10972800" cy="77724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3" name="Rectangle 18"/>
          <p:cNvSpPr/>
          <p:nvPr/>
        </p:nvSpPr>
        <p:spPr>
          <a:xfrm>
            <a:off x="502920" y="5486400"/>
            <a:ext cx="64008" cy="77724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4" name="TextBox 19"/>
          <p:cNvSpPr txBox="1"/>
          <p:nvPr/>
        </p:nvSpPr>
        <p:spPr>
          <a:xfrm>
            <a:off x="667512" y="5596128"/>
            <a:ext cx="10680192" cy="210312"/>
          </a:xfrm>
          <a:prstGeom prst="rect">
            <a:avLst/>
          </a:prstGeom>
          <a:noFill/>
        </p:spPr>
        <p:txBody>
          <a:bodyPr wrap="square" lIns="0" tIns="0" rIns="0" bIns="0" anchor="t">
            <a:spAutoFit/>
          </a:bodyPr>
          <a:lstStyle/>
          <a:p>
            <a:pPr algn="l">
              <a:defRPr/>
            </a:pPr>
            <a:r>
              <a:rPr sz="1100" b="1">
                <a:solidFill>
                  <a:srgbClr val="782DA0"/>
                </a:solidFill>
                <a:latin typeface="Arial"/>
              </a:rPr>
              <a:t>BEFORE YOU FINISH</a:t>
            </a:r>
          </a:p>
        </p:txBody>
      </p:sp>
      <p:sp>
        <p:nvSpPr>
          <p:cNvPr id="745" name="TextBox 20"/>
          <p:cNvSpPr txBox="1"/>
          <p:nvPr/>
        </p:nvSpPr>
        <p:spPr>
          <a:xfrm>
            <a:off x="667512" y="5888736"/>
            <a:ext cx="10680192" cy="320040"/>
          </a:xfrm>
          <a:prstGeom prst="rect">
            <a:avLst/>
          </a:prstGeom>
          <a:noFill/>
        </p:spPr>
        <p:txBody>
          <a:bodyPr wrap="square" lIns="0" tIns="0" rIns="0" bIns="0" anchor="t">
            <a:spAutoFit/>
          </a:bodyPr>
          <a:lstStyle/>
          <a:p>
            <a:pPr algn="l">
              <a:defRPr/>
            </a:pPr>
            <a:r>
              <a:rPr sz="1600" b="0">
                <a:solidFill>
                  <a:srgbClr val="23282D"/>
                </a:solidFill>
                <a:latin typeface="Arial"/>
              </a:rPr>
              <a:t>Convert to matching units. Divide the total capacity by the amount per car. Explain your rounding.</a:t>
            </a:r>
          </a:p>
        </p:txBody>
      </p:sp>
      <p:sp>
        <p:nvSpPr>
          <p:cNvPr id="7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41</a:t>
            </a:r>
          </a:p>
        </p:txBody>
      </p:sp>
      <p:grpSp>
        <p:nvGrpSpPr>
          <p:cNvPr id="747" name="TEACH-6-student-move" descr="TEACH 6 · Organize and implement routines to support a learning-focused classroom"/>
          <p:cNvGrpSpPr/>
          <p:nvPr/>
        </p:nvGrpSpPr>
        <p:grpSpPr>
          <a:xfrm>
            <a:off x="502920" y="4809744"/>
            <a:ext cx="5501640" cy="594360"/>
            <a:chOff x="502920" y="4809744"/>
            <a:chExt cx="5501640" cy="594360"/>
          </a:xfrm>
        </p:grpSpPr>
        <p:sp>
          <p:nvSpPr>
            <p:cNvPr id="748" name="TEACH-move-card"/>
            <p:cNvSpPr/>
            <p:nvPr/>
          </p:nvSpPr>
          <p:spPr>
            <a:xfrm>
              <a:off x="502920" y="480974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49" name="TEACH-move-rule"/>
            <p:cNvSpPr/>
            <p:nvPr/>
          </p:nvSpPr>
          <p:spPr>
            <a:xfrm>
              <a:off x="548640" y="4922672"/>
              <a:ext cx="100584" cy="368504"/>
            </a:xfrm>
            <a:prstGeom prst="roundRect">
              <a:avLst>
                <a:gd name="adj" fmla="val 50000"/>
              </a:avLst>
            </a:prstGeom>
            <a:solidFill>
              <a:srgbClr val="01708C"/>
            </a:solidFill>
            <a:ln>
              <a:noFill/>
            </a:ln>
          </p:spPr>
          <p:txBody>
            <a:bodyPr/>
            <a:lstStyle/>
            <a:p>
              <a:endParaRPr/>
            </a:p>
          </p:txBody>
        </p:sp>
        <p:sp>
          <p:nvSpPr>
            <p:cNvPr id="750" name="TEACH-move-text"/>
            <p:cNvSpPr txBox="1"/>
            <p:nvPr/>
          </p:nvSpPr>
          <p:spPr>
            <a:xfrm>
              <a:off x="822960" y="480974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36.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sz="2800" b="1">
                <a:solidFill>
                  <a:srgbClr val="782DA0"/>
                </a:solidFill>
                <a:latin typeface="Arial"/>
              </a:rPr>
              <a:t>Exit Ticket + Self-Check</a:t>
            </a:r>
          </a:p>
        </p:txBody>
      </p:sp>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SELF-ASSESS • NAME YOUR NEXT STEP</a:t>
            </a:r>
          </a:p>
        </p:txBody>
      </p:sp>
      <p:sp>
        <p:nvSpPr>
          <p:cNvPr id="17" name="TextBox 16"/>
          <p:cNvSpPr txBox="1"/>
          <p:nvPr/>
        </p:nvSpPr>
        <p:spPr>
          <a:xfrm>
            <a:off x="530352" y="1115568"/>
            <a:ext cx="7360920" cy="502920"/>
          </a:xfrm>
          <a:prstGeom prst="rect">
            <a:avLst/>
          </a:prstGeom>
          <a:noFill/>
        </p:spPr>
        <p:txBody>
          <a:bodyPr wrap="square" lIns="0" tIns="0" rIns="0" bIns="0" anchor="t">
            <a:spAutoFit/>
          </a:bodyPr>
          <a:lstStyle/>
          <a:p>
            <a:pPr algn="l"/>
            <a:r>
              <a:rPr sz="1900" b="0">
                <a:solidFill>
                  <a:srgbClr val="23282D"/>
                </a:solidFill>
                <a:latin typeface="Arial"/>
              </a:rPr>
              <a:t>Use the rounded conversion factor 1 pound ≈ 0.45 kilogram.</a:t>
            </a:r>
          </a:p>
        </p:txBody>
      </p:sp>
      <p:sp>
        <p:nvSpPr>
          <p:cNvPr id="18" name="TextBox 17"/>
          <p:cNvSpPr txBox="1"/>
          <p:nvPr/>
        </p:nvSpPr>
        <p:spPr>
          <a:xfrm>
            <a:off x="530352" y="1828800"/>
            <a:ext cx="7360920" cy="713232"/>
          </a:xfrm>
          <a:prstGeom prst="rect">
            <a:avLst/>
          </a:prstGeom>
          <a:noFill/>
        </p:spPr>
        <p:txBody>
          <a:bodyPr wrap="square" lIns="0" tIns="0" rIns="0" bIns="0" anchor="t">
            <a:spAutoFit/>
          </a:bodyPr>
          <a:lstStyle/>
          <a:p>
            <a:pPr algn="l"/>
            <a:r>
              <a:rPr sz="2200" b="1">
                <a:solidFill>
                  <a:srgbClr val="23282D"/>
                </a:solidFill>
                <a:latin typeface="Arial"/>
              </a:rPr>
              <a:t>About how many kilograms is a 20-pound package?</a:t>
            </a:r>
          </a:p>
        </p:txBody>
      </p:sp>
      <p:sp>
        <p:nvSpPr>
          <p:cNvPr id="19" name="TextBox 18"/>
          <p:cNvSpPr txBox="1"/>
          <p:nvPr/>
        </p:nvSpPr>
        <p:spPr>
          <a:xfrm>
            <a:off x="530352" y="2761488"/>
            <a:ext cx="7360920" cy="685800"/>
          </a:xfrm>
          <a:prstGeom prst="rect">
            <a:avLst/>
          </a:prstGeom>
          <a:noFill/>
        </p:spPr>
        <p:txBody>
          <a:bodyPr wrap="square" lIns="0" tIns="0" rIns="0" bIns="0" anchor="t">
            <a:spAutoFit/>
          </a:bodyPr>
          <a:lstStyle/>
          <a:p>
            <a:pPr algn="l"/>
            <a:r>
              <a:rPr sz="1900" b="0">
                <a:solidFill>
                  <a:srgbClr val="5D6872"/>
                </a:solidFill>
                <a:latin typeface="Arial"/>
              </a:rPr>
              <a:t>Show a ratio table or equation. Label the units and use the ≈ sign.</a:t>
            </a:r>
          </a:p>
        </p:txBody>
      </p:sp>
      <p:sp>
        <p:nvSpPr>
          <p:cNvPr id="20" name="TextBox 19"/>
          <p:cNvSpPr txBox="1"/>
          <p:nvPr/>
        </p:nvSpPr>
        <p:spPr>
          <a:xfrm>
            <a:off x="530352" y="3584448"/>
            <a:ext cx="7360920" cy="640080"/>
          </a:xfrm>
          <a:prstGeom prst="rect">
            <a:avLst/>
          </a:prstGeom>
          <a:noFill/>
        </p:spPr>
        <p:txBody>
          <a:bodyPr wrap="square" lIns="0" tIns="0" rIns="0" bIns="0" anchor="t">
            <a:spAutoFit/>
          </a:bodyPr>
          <a:lstStyle/>
          <a:p>
            <a:pPr algn="l"/>
            <a:r>
              <a:rPr sz="1900" b="1">
                <a:solidFill>
                  <a:srgbClr val="1E2682"/>
                </a:solidFill>
                <a:latin typeface="Arial"/>
              </a:rPr>
              <a:t>Explain: “My answer is approximate because ___.”</a:t>
            </a:r>
          </a:p>
        </p:txBody>
      </p:sp>
      <p:sp>
        <p:nvSpPr>
          <p:cNvPr id="21" name="Rounded Rectangle 20"/>
          <p:cNvSpPr/>
          <p:nvPr/>
        </p:nvSpPr>
        <p:spPr>
          <a:xfrm>
            <a:off x="8275320" y="1325880"/>
            <a:ext cx="3200400" cy="4462272"/>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75320" y="1325880"/>
            <a:ext cx="73152" cy="4462272"/>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39912" y="1435607"/>
            <a:ext cx="2907792" cy="219456"/>
          </a:xfrm>
          <a:prstGeom prst="rect">
            <a:avLst/>
          </a:prstGeom>
          <a:noFill/>
        </p:spPr>
        <p:txBody>
          <a:bodyPr wrap="square" lIns="0" tIns="0" rIns="0" bIns="0" anchor="t">
            <a:spAutoFit/>
          </a:bodyPr>
          <a:lstStyle/>
          <a:p>
            <a:pPr algn="l"/>
            <a:r>
              <a:rPr sz="1400" b="1">
                <a:solidFill>
                  <a:srgbClr val="008A62"/>
                </a:solidFill>
                <a:latin typeface="Arial"/>
              </a:rPr>
              <a:t>SELF-CHECK</a:t>
            </a:r>
          </a:p>
        </p:txBody>
      </p:sp>
      <p:sp>
        <p:nvSpPr>
          <p:cNvPr id="24" name="TextBox 23"/>
          <p:cNvSpPr txBox="1"/>
          <p:nvPr/>
        </p:nvSpPr>
        <p:spPr>
          <a:xfrm>
            <a:off x="8439912" y="1709928"/>
            <a:ext cx="2889504" cy="3986783"/>
          </a:xfrm>
          <a:prstGeom prst="rect">
            <a:avLst/>
          </a:prstGeom>
          <a:noFill/>
        </p:spPr>
        <p:txBody>
          <a:bodyPr wrap="square" lIns="0" tIns="0" rIns="0" bIns="0" anchor="t">
            <a:spAutoFit/>
          </a:bodyPr>
          <a:lstStyle/>
          <a:p>
            <a:pPr algn="l"/>
            <a:r>
              <a:rPr sz="1400" b="0">
                <a:solidFill>
                  <a:srgbClr val="23282D"/>
                </a:solidFill>
                <a:latin typeface="Arial"/>
              </a:rPr>
              <a:t>1. I can convert to matching units.</a:t>
            </a:r>
          </a:p>
          <a:p>
            <a:pPr algn="l"/>
            <a:r>
              <a:rPr sz="1400" b="0">
                <a:solidFill>
                  <a:srgbClr val="23282D"/>
                </a:solidFill>
                <a:latin typeface="Arial"/>
              </a:rPr>
              <a:t>□ Alone   □ With a hint   □ Not yet</a:t>
            </a:r>
          </a:p>
          <a:p>
            <a:pPr algn="l"/>
            <a:r>
              <a:rPr sz="1400" b="0">
                <a:solidFill>
                  <a:srgbClr val="23282D"/>
                </a:solidFill>
                <a:latin typeface="Arial"/>
              </a:rPr>
              <a:t/>
            </a:r>
          </a:p>
          <a:p>
            <a:pPr algn="l"/>
            <a:r>
              <a:rPr sz="1400" b="0">
                <a:solidFill>
                  <a:srgbClr val="23282D"/>
                </a:solidFill>
                <a:latin typeface="Arial"/>
              </a:rPr>
              <a:t>2. I can explain my result.</a:t>
            </a:r>
          </a:p>
          <a:p>
            <a:pPr algn="l"/>
            <a:r>
              <a:rPr sz="1400" b="0">
                <a:solidFill>
                  <a:srgbClr val="23282D"/>
                </a:solidFill>
                <a:latin typeface="Arial"/>
              </a:rPr>
              <a:t>□ Alone   □ With a hint   □ Not yet</a:t>
            </a:r>
          </a:p>
          <a:p>
            <a:pPr algn="l"/>
            <a:r>
              <a:rPr sz="1400" b="0">
                <a:solidFill>
                  <a:srgbClr val="23282D"/>
                </a:solidFill>
                <a:latin typeface="Arial"/>
              </a:rPr>
              <a:t/>
            </a:r>
          </a:p>
          <a:p>
            <a:pPr algn="l"/>
            <a:r>
              <a:rPr sz="1400" b="0">
                <a:solidFill>
                  <a:srgbClr val="23282D"/>
                </a:solidFill>
                <a:latin typeface="Arial"/>
              </a:rPr>
              <a:t>My next step:</a:t>
            </a:r>
          </a:p>
          <a:p>
            <a:pPr algn="l"/>
            <a:r>
              <a:rPr sz="1400" b="0">
                <a:solidFill>
                  <a:srgbClr val="23282D"/>
                </a:solidFill>
                <a:latin typeface="Arial"/>
              </a:rPr>
              <a:t>____________________</a:t>
            </a:r>
          </a:p>
        </p:txBody>
      </p:sp>
      <p:sp>
        <p:nvSpPr>
          <p:cNvPr id="25" name="Rounded Rectangle 24"/>
          <p:cNvSpPr/>
          <p:nvPr/>
        </p:nvSpPr>
        <p:spPr>
          <a:xfrm>
            <a:off x="585216" y="4443984"/>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 y="4453128"/>
            <a:ext cx="2148840" cy="347472"/>
          </a:xfrm>
          <a:prstGeom prst="rect">
            <a:avLst/>
          </a:prstGeom>
          <a:noFill/>
        </p:spPr>
        <p:txBody>
          <a:bodyPr wrap="none" lIns="9144" tIns="9144" rIns="9144" bIns="9144" anchor="ctr">
            <a:spAutoFit/>
          </a:bodyPr>
          <a:lstStyle/>
          <a:p>
            <a:pPr algn="ctr"/>
            <a:r>
              <a:rPr sz="1400" b="1">
                <a:solidFill>
                  <a:srgbClr val="FFFFFF"/>
                </a:solidFill>
                <a:latin typeface="Arial"/>
              </a:rPr>
              <a:t>CONVERT → CHECK</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debrief: name your evidence and one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413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Work independently and show why. Use feedback to revise</a:t>
            </a:r>
            <a:endParaRPr lang="en-US" sz="2000"/>
          </a:p>
          <a:p>
            <a:pPr>
              <a:lnSpc>
                <a:spcPts val="2400"/>
              </a:lnSpc>
              <a:buNone/>
            </a:pPr>
            <a:r>
              <a:rPr lang="en-US" sz="2000">
                <a:solidFill>
                  <a:srgbClr val="174D60"/>
                </a:solidFill>
                <a:latin typeface="Arial"/>
              </a:rPr>
              <a:t>in a second color.</a:t>
            </a:r>
            <a:endParaRPr lang="en-US" sz="2000"/>
          </a:p>
        </p:txBody>
      </p:sp>
    </p:spTree>
  </p:cSld>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38" name="Google Shape;1038;p10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39" name="Google Shape;1039;p10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0" name="Google Shape;1040;p108"/>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use ratio reasoning to convert units of different measurement systems.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attend to precision to convert units of different measurement systems.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41</a:t>
            </a:r>
          </a:p>
        </p:txBody>
      </p:sp>
      <p:grpSp>
        <p:nvGrpSpPr>
          <p:cNvPr id="9003" name="TEACH-1-student-move" descr="TEACH 1 · Facilitate clear, standards-based content learning"/>
          <p:cNvGrpSpPr/>
          <p:nvPr/>
        </p:nvGrpSpPr>
        <p:grpSpPr>
          <a:xfrm>
            <a:off x="502920" y="5472790"/>
            <a:ext cx="11186160" cy="402336"/>
            <a:chOff x="502920" y="5472790"/>
            <a:chExt cx="11186160" cy="402336"/>
          </a:xfrm>
        </p:grpSpPr>
        <p:sp>
          <p:nvSpPr>
            <p:cNvPr id="9004"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38.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8BF38F9-9428-4E95-95AF-A9F38EAB1E75}"/>
              </a:ext>
            </a:extLst>
          </p:cNvPr>
          <p:cNvSpPr>
            <a:spLocks xmlns:a="http://schemas.openxmlformats.org/drawingml/2006/main" noGrp="1"/>
          </p:cNvSpPr>
          <p:nvPr/>
        </p:nvSpPr>
        <p:spPr>
          <a:xfrm xmlns:a="http://schemas.openxmlformats.org/drawingml/2006/main">
            <a:off x="514350" y="381000"/>
            <a:ext cx="1028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82DA0"/>
                </a:solidFill>
                <a:latin typeface="Arial"/>
                <a:ea typeface="Arial"/>
                <a:cs typeface="Arial"/>
              </a:defRPr>
            </a:pPr>
            <a:r>
              <a:rPr sz="2700" b="1">
                <a:solidFill>
                  <a:srgbClr val="782DA0"/>
                </a:solidFill>
                <a:latin typeface="Arial"/>
                <a:ea typeface="Arial"/>
                <a:cs typeface="Arial"/>
              </a:rPr>
              <a:t>UIFR TEACH — Teacher Reference</a:t>
            </a:r>
          </a:p>
        </p:txBody>
      </p:sp>
      <p:sp>
        <p:nvSpPr>
          <p:cNvPr id="2" name="">
            <a:extLst xmlns:a="http://schemas.openxmlformats.org/drawingml/2006/main">
              <a:ext uri="{FF2B5EF4-FFF2-40B4-BE49-F238E27FC236}">
                <a16:creationId xmlns:a16="http://schemas.microsoft.com/office/drawing/2014/main" id="{EAB6BB2F-879F-446E-AB8E-944D06521FAF}"/>
              </a:ext>
            </a:extLst>
          </p:cNvPr>
          <p:cNvSpPr>
            <a:spLocks xmlns:a="http://schemas.openxmlformats.org/drawingml/2006/main" noGrp="1"/>
          </p:cNvSpPr>
          <p:nvPr/>
        </p:nvSpPr>
        <p:spPr>
          <a:xfrm xmlns:a="http://schemas.openxmlformats.org/drawingml/2006/main">
            <a:off x="523875" y="1028700"/>
            <a:ext cx="866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6872"/>
                </a:solidFill>
                <a:latin typeface="Arial"/>
                <a:ea typeface="Arial"/>
                <a:cs typeface="Arial"/>
              </a:defRPr>
            </a:pPr>
            <a:r>
              <a:rPr sz="1575" b="0">
                <a:solidFill>
                  <a:srgbClr val="5D6872"/>
                </a:solidFill>
                <a:latin typeface="Arial"/>
                <a:ea typeface="Arial"/>
                <a:cs typeface="Arial"/>
              </a:rPr>
              <a:t>Teacher reference • hidden from the student slideshow</a:t>
            </a:r>
          </a:p>
        </p:txBody>
      </p:sp>
      <p:sp>
        <p:nvSpPr>
          <p:cNvPr id="3" name="">
            <a:extLst xmlns:a="http://schemas.openxmlformats.org/drawingml/2006/main">
              <a:ext uri="{FF2B5EF4-FFF2-40B4-BE49-F238E27FC236}">
                <a16:creationId xmlns:a16="http://schemas.microsoft.com/office/drawing/2014/main" id="{C17376F7-4A20-4871-992E-D2089FB9CCF4}"/>
              </a:ext>
            </a:extLst>
          </p:cNvPr>
          <p:cNvSpPr>
            <a:spLocks xmlns:a="http://schemas.openxmlformats.org/drawingml/2006/main" noGrp="1"/>
          </p:cNvSpPr>
          <p:nvPr/>
        </p:nvSpPr>
        <p:spPr>
          <a:xfrm xmlns:a="http://schemas.openxmlformats.org/drawingml/2006/main">
            <a:off x="647700" y="1666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1 · Session goals, purpose, and content-linked success criteria.</a:t>
            </a:r>
          </a:p>
        </p:txBody>
      </p:sp>
      <p:sp>
        <p:nvSpPr>
          <p:cNvPr id="4" name="">
            <a:extLst xmlns:a="http://schemas.openxmlformats.org/drawingml/2006/main">
              <a:ext uri="{FF2B5EF4-FFF2-40B4-BE49-F238E27FC236}">
                <a16:creationId xmlns:a16="http://schemas.microsoft.com/office/drawing/2014/main" id="{06416F7F-B3CD-4293-B06C-77287FA91FCA}"/>
              </a:ext>
            </a:extLst>
          </p:cNvPr>
          <p:cNvSpPr>
            <a:spLocks xmlns:a="http://schemas.openxmlformats.org/drawingml/2006/main" noGrp="1"/>
          </p:cNvSpPr>
          <p:nvPr/>
        </p:nvSpPr>
        <p:spPr>
          <a:xfrm xmlns:a="http://schemas.openxmlformats.org/drawingml/2006/main">
            <a:off x="647700" y="22479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2 · Original models precede checks and independent application.</a:t>
            </a:r>
          </a:p>
        </p:txBody>
      </p:sp>
      <p:sp>
        <p:nvSpPr>
          <p:cNvPr id="5" name="">
            <a:extLst xmlns:a="http://schemas.openxmlformats.org/drawingml/2006/main">
              <a:ext uri="{FF2B5EF4-FFF2-40B4-BE49-F238E27FC236}">
                <a16:creationId xmlns:a16="http://schemas.microsoft.com/office/drawing/2014/main" id="{BB93498A-1876-45AF-912A-CF8B93E244D9}"/>
              </a:ext>
            </a:extLst>
          </p:cNvPr>
          <p:cNvSpPr>
            <a:spLocks xmlns:a="http://schemas.openxmlformats.org/drawingml/2006/main" noGrp="1"/>
          </p:cNvSpPr>
          <p:nvPr/>
        </p:nvSpPr>
        <p:spPr>
          <a:xfrm xmlns:a="http://schemas.openxmlformats.org/drawingml/2006/main">
            <a:off x="647700" y="28289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3 · Original inquiry questions prompt reasoning and justification.</a:t>
            </a:r>
          </a:p>
        </p:txBody>
      </p:sp>
      <p:sp>
        <p:nvSpPr>
          <p:cNvPr id="6" name="">
            <a:extLst xmlns:a="http://schemas.openxmlformats.org/drawingml/2006/main">
              <a:ext uri="{FF2B5EF4-FFF2-40B4-BE49-F238E27FC236}">
                <a16:creationId xmlns:a16="http://schemas.microsoft.com/office/drawing/2014/main" id="{31339D60-53EB-44C2-8F97-FAB2AC730987}"/>
              </a:ext>
            </a:extLst>
          </p:cNvPr>
          <p:cNvSpPr>
            <a:spLocks xmlns:a="http://schemas.openxmlformats.org/drawingml/2006/main" noGrp="1"/>
          </p:cNvSpPr>
          <p:nvPr/>
        </p:nvSpPr>
        <p:spPr>
          <a:xfrm xmlns:a="http://schemas.openxmlformats.org/drawingml/2006/main">
            <a:off x="647700" y="34099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4 · Checks, feedback, and time to revise follow instruction.</a:t>
            </a:r>
          </a:p>
        </p:txBody>
      </p:sp>
      <p:sp>
        <p:nvSpPr>
          <p:cNvPr id="7" name="">
            <a:extLst xmlns:a="http://schemas.openxmlformats.org/drawingml/2006/main">
              <a:ext uri="{FF2B5EF4-FFF2-40B4-BE49-F238E27FC236}">
                <a16:creationId xmlns:a16="http://schemas.microsoft.com/office/drawing/2014/main" id="{427302B5-B9F1-4E31-A25A-0E975D225FA9}"/>
              </a:ext>
            </a:extLst>
          </p:cNvPr>
          <p:cNvSpPr>
            <a:spLocks xmlns:a="http://schemas.openxmlformats.org/drawingml/2006/main" noGrp="1"/>
          </p:cNvSpPr>
          <p:nvPr/>
        </p:nvSpPr>
        <p:spPr>
          <a:xfrm xmlns:a="http://schemas.openxmlformats.org/drawingml/2006/main">
            <a:off x="647700" y="39909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5 · Think time and purposeful partner explanations.</a:t>
            </a:r>
          </a:p>
        </p:txBody>
      </p:sp>
      <p:sp>
        <p:nvSpPr>
          <p:cNvPr id="8" name="">
            <a:extLst xmlns:a="http://schemas.openxmlformats.org/drawingml/2006/main">
              <a:ext uri="{FF2B5EF4-FFF2-40B4-BE49-F238E27FC236}">
                <a16:creationId xmlns:a16="http://schemas.microsoft.com/office/drawing/2014/main" id="{E4B2C3E2-F2DB-42F5-841A-35C47B1D4D01}"/>
              </a:ext>
            </a:extLst>
          </p:cNvPr>
          <p:cNvSpPr>
            <a:spLocks xmlns:a="http://schemas.openxmlformats.org/drawingml/2006/main" noGrp="1"/>
          </p:cNvSpPr>
          <p:nvPr/>
        </p:nvSpPr>
        <p:spPr>
          <a:xfrm xmlns:a="http://schemas.openxmlformats.org/drawingml/2006/main">
            <a:off x="647700" y="45720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6 · Consistent model → notes → practice sequence.</a:t>
            </a:r>
          </a:p>
        </p:txBody>
      </p:sp>
      <p:sp>
        <p:nvSpPr>
          <p:cNvPr id="9" name="">
            <a:extLst xmlns:a="http://schemas.openxmlformats.org/drawingml/2006/main">
              <a:ext uri="{FF2B5EF4-FFF2-40B4-BE49-F238E27FC236}">
                <a16:creationId xmlns:a16="http://schemas.microsoft.com/office/drawing/2014/main" id="{0517F031-25BF-433F-A515-0D0F710D8BFD}"/>
              </a:ext>
            </a:extLst>
          </p:cNvPr>
          <p:cNvSpPr>
            <a:spLocks xmlns:a="http://schemas.openxmlformats.org/drawingml/2006/main" noGrp="1"/>
          </p:cNvSpPr>
          <p:nvPr/>
        </p:nvSpPr>
        <p:spPr>
          <a:xfrm xmlns:a="http://schemas.openxmlformats.org/drawingml/2006/main">
            <a:off x="647700" y="51530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7 · Brief notes, scaffolds, and respectful sharing of strategies.</a:t>
            </a:r>
          </a:p>
        </p:txBody>
      </p:sp>
      <p:sp xmlns:a="http://schemas.openxmlformats.org/drawingml/2006/main">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41</a:t>
            </a:r>
          </a:p>
        </p:txBody>
      </p:sp>
      <p:grpSp xmlns:a="http://schemas.openxmlformats.org/drawingml/2006/main">
        <p:nvGrpSpPr>
          <p:cNvPr id="9003" name="TEACH-1-student-move" descr="TEACH 1 · Facilitate clear, standards-based content learning"/>
          <p:cNvGrpSpPr/>
          <p:nvPr/>
        </p:nvGrpSpPr>
        <p:grpSpPr>
          <a:xfrm>
            <a:off x="502920" y="5582031"/>
            <a:ext cx="11186160" cy="640080"/>
            <a:chOff x="502920" y="5582031"/>
            <a:chExt cx="11186160" cy="640080"/>
          </a:xfrm>
        </p:grpSpPr>
        <p:sp>
          <p:nvSpPr>
            <p:cNvPr id="9004" name="TEACH-move-card"/>
            <p:cNvSpPr/>
            <p:nvPr/>
          </p:nvSpPr>
          <p:spPr>
            <a:xfrm>
              <a:off x="502920" y="5582031"/>
              <a:ext cx="11186160" cy="64008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703646"/>
              <a:ext cx="100584" cy="396850"/>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582031"/>
              <a:ext cx="10728960" cy="640080"/>
            </a:xfrm>
            <a:prstGeom prst="rect">
              <a:avLst/>
            </a:prstGeom>
            <a:noFill/>
            <a:ln>
              <a:noFill/>
            </a:ln>
          </p:spPr>
          <p:txBody>
            <a:bodyPr wrap="square" lIns="0" tIns="0" rIns="0" bIns="0" anchor="ctr">
              <a:noAutofit/>
            </a:bodyPr>
            <a:lstStyle/>
            <a:p>
              <a:pPr algn="l">
                <a:buNone/>
              </a:pPr>
              <a:r>
                <a:rPr lang="en-US" sz="1600" b="1" dirty="0">
                  <a:solidFill>
                    <a:srgbClr val="01708C"/>
                  </a:solidFill>
                  <a:latin typeface="Arial"/>
                </a:rPr>
                <a:t>SHOW YOUR THINKING  ·  </a:t>
              </a:r>
              <a:r>
                <a:rPr lang="en-US" sz="1600" dirty="0">
                  <a:solidFill>
                    <a:srgbClr val="13303A"/>
                  </a:solidFill>
                  <a:latin typeface="Arial"/>
                </a:rPr>
                <a:t>Show what you know — write it, draw it, or build it. A picture counts as an explanation.</a:t>
              </a:r>
              <a:endParaRPr lang="en-US" sz="1600"/>
            </a:p>
          </p:txBody>
        </p:sp>
      </p:grpSp>
    </p:spTree>
    <p:extLst>
      <p:ext uri="{BB962C8B-B14F-4D97-AF65-F5344CB8AC3E}">
        <p14:creationId xmlns:p14="http://schemas.microsoft.com/office/powerpoint/2010/main" val="1443209799"/>
      </p:ext>
    </p:extLst>
  </p:cSld>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3-7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16 / 41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3-7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20 / 41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3-7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34 / 41</a:t>
            </a:r>
          </a:p>
        </p:txBody>
      </p:sp>
    </p:spTree>
  </p:cSld>
  <p:clrMapOvr>
    <a:masterClrMapping/>
  </p:clrMapOvr>
</p:sld>
</file>

<file path=ppt/theme/ref_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3.7 — Ratio Reasoning: Convert Measurements Between Systems</dc:title>
  <dc:creator>Neft Teacher</dc:creator>
  <cp:lastModifiedBy>Neft Teacher</cp:lastModifiedBy>
  <dcterms:created xsi:type="dcterms:W3CDTF">2026-09-30T12:04:43Z</dcterms:created>
  <dcterms:modified xsi:type="dcterms:W3CDTF">2026-09-30T12:04:43Z</dcterms:modified>
</cp:coreProperties>
</file>