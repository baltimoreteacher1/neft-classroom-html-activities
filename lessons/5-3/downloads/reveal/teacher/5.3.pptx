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 id="2147483686" r:id="rId6"/>
    <p:sldMasterId id="2147483687" r:id="rId7"/>
    <p:sldMasterId id="2147483688" r:id="rId8"/>
  </p:sldMasterIdLst>
  <p:notesMasterIdLst>
    <p:notesMasterId r:id="rId9"/>
  </p:notesMasterIdLst>
  <p:sldIdLst>
    <p:sldId id="259" r:id="rId13"/>
    <p:sldId id="270" r:id="rId24"/>
    <p:sldId id="271" r:id="rId25"/>
    <p:sldId id="256" r:id="rId10"/>
    <p:sldId id="257" r:id="rId11"/>
    <p:sldId id="260" r:id="rId14"/>
    <p:sldId id="337" r:id="rId80"/>
    <p:sldId id="336" r:id="rId62"/>
    <p:sldId id="335" r:id="rId33"/>
    <p:sldId id="334" r:id="rId60"/>
    <p:sldId id="333" r:id="rId35"/>
    <p:sldId id="332" r:id="rId58"/>
    <p:sldId id="331" r:id="rId37"/>
    <p:sldId id="330" r:id="rId56"/>
    <p:sldId id="329" r:id="rId39"/>
    <p:sldId id="328" r:id="rId54"/>
    <p:sldId id="261" r:id="rId15"/>
    <p:sldId id="275" r:id="rId29"/>
    <p:sldId id="276" r:id="rId30"/>
    <p:sldId id="278" r:id="rId32"/>
    <p:sldId id="280" r:id="rId34"/>
    <p:sldId id="282" r:id="rId36"/>
    <p:sldId id="284" r:id="rId38"/>
    <p:sldId id="286" r:id="rId40"/>
    <p:sldId id="287" r:id="rId41"/>
    <p:sldId id="288" r:id="rId42"/>
    <p:sldId id="290" r:id="rId44"/>
    <p:sldId id="292" r:id="rId46"/>
    <p:sldId id="293" r:id="rId47"/>
    <p:sldId id="294" r:id="rId48"/>
    <p:sldId id="295" r:id="rId49"/>
    <p:sldId id="296" r:id="rId50"/>
    <p:sldId id="341" r:id="rId84"/>
    <p:sldId id="338" r:id="rId81"/>
    <p:sldId id="327" r:id="rId53"/>
    <p:sldId id="322" r:id="rId78"/>
    <p:sldId id="342" r:id="rId85"/>
    <p:sldId id="323" r:id="rId79"/>
    <p:sldId id="297" r:id="rId51"/>
    <p:sldId id="301" r:id="rId55"/>
    <p:sldId id="303" r:id="rId57"/>
    <p:sldId id="305" r:id="rId59"/>
    <p:sldId id="307" r:id="rId61"/>
    <p:sldId id="309" r:id="rId63"/>
    <p:sldId id="311" r:id="rId65"/>
    <p:sldId id="313" r:id="rId67"/>
    <p:sldId id="343" r:id="rId86"/>
    <p:sldId id="314" r:id="rId68"/>
    <p:sldId id="316" r:id="rId70"/>
    <p:sldId id="344" r:id="rId87"/>
    <p:sldId id="317" r:id="rId71"/>
    <p:sldId id="318" r:id="rId72"/>
    <p:sldId id="319" r:id="rId73"/>
    <p:sldId id="345" r:id="rId88"/>
    <p:sldId id="339" r:id="rId82"/>
    <p:sldId id="326" r:id="rId52"/>
    <p:sldId id="325" r:id="rId43"/>
    <p:sldId id="320" r:id="rId74"/>
    <p:sldId id="346" r:id="rId89"/>
    <p:sldId id="321" r:id="rId75"/>
    <p:sldId id="324" r:id="rId45"/>
    <p:sldId id="340" r:id="rId83"/>
  </p:sldIdLst>
  <p:sldSz cy="6858000" cx="12192000"/>
  <p:notesSz cx="7010400" cy="9236075"/>
  <p:embeddedFontLst>
    <p:embeddedFont>
      <p:font typeface="Cambria Math"/>
      <p:regular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599C9F-E525-49FF-B96C-03CE03877915}">
  <a:tblStyle styleId="{C7599C9F-E525-49FF-B96C-03CE0387791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7.xml"/><Relationship Id="rId24" Type="http://schemas.openxmlformats.org/officeDocument/2006/relationships/slide" Target="slides/slide2.xml"/><Relationship Id="rId25" Type="http://schemas.openxmlformats.org/officeDocument/2006/relationships/slide" Target="slides/slide3.xml"/><Relationship Id="rId29" Type="http://schemas.openxmlformats.org/officeDocument/2006/relationships/slide" Target="slides/slide18.xml"/><Relationship Id="rId30"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9.xml"/><Relationship Id="rId34" Type="http://schemas.openxmlformats.org/officeDocument/2006/relationships/slide" Target="slides/slide21.xml"/><Relationship Id="rId35" Type="http://schemas.openxmlformats.org/officeDocument/2006/relationships/slide" Target="slides/slide11.xml"/><Relationship Id="rId36" Type="http://schemas.openxmlformats.org/officeDocument/2006/relationships/slide" Target="slides/slide22.xml"/><Relationship Id="rId37" Type="http://schemas.openxmlformats.org/officeDocument/2006/relationships/slide" Target="slides/slide13.xml"/><Relationship Id="rId38" Type="http://schemas.openxmlformats.org/officeDocument/2006/relationships/slide" Target="slides/slide23.xml"/><Relationship Id="rId39" Type="http://schemas.openxmlformats.org/officeDocument/2006/relationships/slide" Target="slides/slide15.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52.xml"/><Relationship Id="rId44" Type="http://schemas.openxmlformats.org/officeDocument/2006/relationships/slide" Target="slides/slide27.xml"/><Relationship Id="rId45" Type="http://schemas.openxmlformats.org/officeDocument/2006/relationships/slide" Target="slides/slide55.xml"/><Relationship Id="rId46" Type="http://schemas.openxmlformats.org/officeDocument/2006/relationships/slide" Target="slides/slide28.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7.xml"/><Relationship Id="rId52" Type="http://schemas.openxmlformats.org/officeDocument/2006/relationships/slide" Target="slides/slide51.xml"/><Relationship Id="rId53" Type="http://schemas.openxmlformats.org/officeDocument/2006/relationships/slide" Target="slides/slide34.xml"/><Relationship Id="rId54" Type="http://schemas.openxmlformats.org/officeDocument/2006/relationships/slide" Target="slides/slide16.xml"/><Relationship Id="rId55" Type="http://schemas.openxmlformats.org/officeDocument/2006/relationships/slide" Target="slides/slide38.xml"/><Relationship Id="rId56" Type="http://schemas.openxmlformats.org/officeDocument/2006/relationships/slide" Target="slides/slide14.xml"/><Relationship Id="rId57" Type="http://schemas.openxmlformats.org/officeDocument/2006/relationships/slide" Target="slides/slide39.xml"/><Relationship Id="rId58" Type="http://schemas.openxmlformats.org/officeDocument/2006/relationships/slide" Target="slides/slide12.xml"/><Relationship Id="rId59" Type="http://schemas.openxmlformats.org/officeDocument/2006/relationships/slide" Target="slides/slide40.xml"/><Relationship Id="rId60" Type="http://schemas.openxmlformats.org/officeDocument/2006/relationships/slide" Target="slides/slide10.xml"/><Relationship Id="rId61" Type="http://schemas.openxmlformats.org/officeDocument/2006/relationships/slide" Target="slides/slide41.xml"/><Relationship Id="rId62" Type="http://schemas.openxmlformats.org/officeDocument/2006/relationships/slide" Target="slides/slide8.xml"/><Relationship Id="rId63" Type="http://schemas.openxmlformats.org/officeDocument/2006/relationships/slide" Target="slides/slide42.xml"/><Relationship Id="rId65"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3.xml"/><Relationship Id="rId75" Type="http://schemas.openxmlformats.org/officeDocument/2006/relationships/slide" Target="slides/slide54.xml"/><Relationship Id="rId77" Type="http://schemas.openxmlformats.org/officeDocument/2006/relationships/font" Target="fonts/CambriaMath-regular.fntdata"/><Relationship Id="rId78" Type="http://schemas.openxmlformats.org/officeDocument/2006/relationships/slide" Target="slides/slide35.xml"/><Relationship Id="rId79" Type="http://schemas.openxmlformats.org/officeDocument/2006/relationships/slide" Target="slides/slide36.xml"/><Relationship Id="rId80" Type="http://schemas.openxmlformats.org/officeDocument/2006/relationships/slide" Target="slides/slide7.xml"/><Relationship Id="rId81" Type="http://schemas.openxmlformats.org/officeDocument/2006/relationships/slide" Target="slides/slide33.xml"/><Relationship Id="rId82" Type="http://schemas.openxmlformats.org/officeDocument/2006/relationships/slide" Target="slides/slide50.xml"/><Relationship Id="rId83" Type="http://schemas.openxmlformats.org/officeDocument/2006/relationships/slide" Target="slides/slide56.xml"/><Relationship Id="rId84" Type="http://schemas.openxmlformats.org/officeDocument/2006/relationships/slide" Target="slides/slide57.xml"/><Relationship Id="rId85" Type="http://schemas.openxmlformats.org/officeDocument/2006/relationships/slide" Target="slides/slide58.xml"/><Relationship Id="rId86" Type="http://schemas.openxmlformats.org/officeDocument/2006/relationships/slide" Target="slides/slide59.xml"/><Relationship Id="rId87" Type="http://schemas.openxmlformats.org/officeDocument/2006/relationships/slide" Target="slides/slide60.xml"/><Relationship Id="rId88" Type="http://schemas.openxmlformats.org/officeDocument/2006/relationships/slide" Target="slides/slide61.xml"/><Relationship Id="rId8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 | DIVIDER</a:t>
            </a:r>
          </a:p>
          <a:p xmlns:a="http://schemas.openxmlformats.org/drawingml/2006/main">
            <a:pPr>
              <a:buNone/>
            </a:pPr>
            <a:r>
              <a:rPr lang="en-US" sz="1100"/>
              <a:t>Focus on the existing task: Determine the Area of Trapezoids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3" name="Google Shape;233;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5 | TASK</a:t>
            </a:r>
          </a:p>
          <a:p xmlns:a="http://schemas.openxmlformats.org/drawingml/2006/main">
            <a:pPr>
              <a:buNone/>
            </a:pPr>
            <a:r>
              <a:rPr lang="en-US" sz="1100"/>
              <a:t>Focus on the existing task: This or That Would you rather have THIS or THAT ice cream sandwiches?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0" name="Google Shape;240;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64   2) 16   3) 32   4) 26 square centimeters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the parallel bases and height; explain the half-sum formula; check area units. Review recent work and today’s warm-up to choose flexible groups and access supports; do not infer needs from identity or perceived ability. Use the existing lesson tasks and stated standards.</a:t>
            </a:r>
          </a:p>
          <a:p>
            <a:pPr>
              <a:buNone/>
            </a:pPr>
            <a:r>
              <a:rPr lang="en-US" sz="1100"/>
              <a:t>Anticipate: using one base twice or a slanted side as height. If observed, mark the two parallel bases and perpendicular height before substituting.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6 | GOAL</a:t>
            </a:r>
          </a:p>
          <a:p xmlns:a="http://schemas.openxmlformats.org/drawingml/2006/main">
            <a:pPr>
              <a:buNone/>
            </a:pPr>
            <a:r>
              <a:rPr lang="en-US" sz="1100"/>
              <a:t>Focus on the existing task: Today’s Objectives Determine the Area of Trapezoids…</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the parallel bases and height; explain the half-sum formula; check area units.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17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2" name="Google Shape;542;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70" name="Google Shape;570;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18 | TASK</a:t>
            </a:r>
          </a:p>
          <a:p xmlns:a="http://schemas.openxmlformats.org/drawingml/2006/main">
            <a:pPr>
              <a:buNone/>
            </a:pPr>
            <a:r>
              <a:rPr lang="en-US" sz="1100"/>
              <a:t>Focus on the existing task: What are the important quantities in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combining two copies of the trapezoid explain the sum of the bases?” Wait for evidence, invite another pathway, and have a student ask a follow-up question. Do not replace students’ reasoning with a sequence of leading steps.</a:t>
            </a:r>
          </a:p>
        </p:txBody>
      </p:sp>
      <p:sp>
        <p:nvSpPr>
          <p:cNvPr id="627" name="Google Shape;627;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19 | TASK</a:t>
            </a:r>
          </a:p>
          <a:p xmlns:a="http://schemas.openxmlformats.org/drawingml/2006/main">
            <a:pPr>
              <a:buNone/>
            </a:pPr>
            <a:r>
              <a:rPr lang="en-US" sz="1100"/>
              <a:t>Focus on the existing task: The top of a table is in the shape of an isosceles trapezoid. What is the area of the tabletop?</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38" name="Google Shape;638;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20 | REVEAL</a:t>
            </a:r>
          </a:p>
          <a:p xmlns:a="http://schemas.openxmlformats.org/drawingml/2006/main">
            <a:pPr>
              <a:buNone/>
            </a:pPr>
            <a:r>
              <a:rPr lang="en-US" sz="1100"/>
              <a:t>Focus on the existing task: This type of trapezoid is called an isosceles trapezoid. Using what you know about isosceles triangles, what do you think it means for a trapezoid to be isosceles?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opposite non-parallel sides of the trapezoid are the same length.</a:t>
            </a:r>
          </a:p>
          <a:p>
            <a:pPr indent="0" lvl="0" marL="0" rtl="0" algn="l">
              <a:lnSpc>
                <a:spcPct val="100000"/>
              </a:lnSpc>
              <a:spcBef>
                <a:spcPts val="0"/>
              </a:spcBef>
              <a:spcAft>
                <a:spcPts val="0"/>
              </a:spcAft>
              <a:buSzPts val="1400"/>
              <a:buNone/>
            </a:pPr>
            <a:r>
              <a:t>UIFR: TEACH 3 · TEACH 4.</a:t>
            </a:r>
          </a:p>
        </p:txBody>
      </p:sp>
      <p:sp>
        <p:nvSpPr>
          <p:cNvPr id="658" name="Google Shape;658;p23: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21 | REVEAL</a:t>
            </a:r>
          </a:p>
          <a:p xmlns:a="http://schemas.openxmlformats.org/drawingml/2006/main">
            <a:pPr>
              <a:buNone/>
            </a:pPr>
            <a:r>
              <a:rPr lang="en-US" sz="1100"/>
              <a:t>Focus on the existing task: Reveal: two triangles and a square The opposite non-parallel sides of an isosceles trapezoid are the same length. What other shapes do you see when you look at the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two triangles and a square</a:t>
            </a:r>
          </a:p>
          <a:p>
            <a:pPr indent="0" lvl="0" marL="0" rtl="0" algn="l">
              <a:lnSpc>
                <a:spcPct val="100000"/>
              </a:lnSpc>
              <a:spcBef>
                <a:spcPts val="0"/>
              </a:spcBef>
              <a:spcAft>
                <a:spcPts val="0"/>
              </a:spcAft>
              <a:buSzPts val="1400"/>
              <a:buNone/>
            </a:pPr>
            <a:r>
              <a:t>UIFR: TEACH 3 · TEACH 4.</a:t>
            </a:r>
          </a:p>
        </p:txBody>
      </p:sp>
      <p:sp>
        <p:nvSpPr>
          <p:cNvPr id="679" name="Google Shape;679;p25: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22 | REVEAL</a:t>
            </a:r>
          </a:p>
          <a:p xmlns:a="http://schemas.openxmlformats.org/drawingml/2006/main">
            <a:pPr>
              <a:buNone/>
            </a:pPr>
            <a:r>
              <a:rPr lang="en-US" sz="1100"/>
              <a:t>Focus on the existing task: Reveal: We can use the length of the square and the total length of the bottom base of the trapezoid to calculate each length. This…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length of the square and the total length of the bottom base of the trapezoid to calculate each length.</a:t>
            </a:r>
          </a:p>
          <a:p>
            <a:pPr indent="0" lvl="0" marL="0" rtl="0" algn="l">
              <a:lnSpc>
                <a:spcPct val="100000"/>
              </a:lnSpc>
              <a:spcBef>
                <a:spcPts val="0"/>
              </a:spcBef>
              <a:spcAft>
                <a:spcPts val="0"/>
              </a:spcAft>
              <a:buSzPts val="1400"/>
              <a:buNone/>
            </a:pPr>
            <a:r>
              <a:t>UIFR: TEACH 3 · TEACH 4.</a:t>
            </a:r>
          </a:p>
        </p:txBody>
      </p:sp>
      <p:sp>
        <p:nvSpPr>
          <p:cNvPr id="701" name="Google Shape;701;p27: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23 | REVEAL</a:t>
            </a:r>
          </a:p>
          <a:p xmlns:a="http://schemas.openxmlformats.org/drawingml/2006/main">
            <a:pPr>
              <a:buNone/>
            </a:pPr>
            <a:r>
              <a:rPr lang="en-US" sz="1100"/>
              <a:t>Focus on the existing task: Reveal: We can find the sum of the areas of the triangles and the square. Let’s use the length of the square to determine the base…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sum of the areas of the triangles and the square.</a:t>
            </a:r>
          </a:p>
          <a:p>
            <a:pPr indent="0" lvl="0" marL="0" rtl="0" algn="l">
              <a:lnSpc>
                <a:spcPct val="100000"/>
              </a:lnSpc>
              <a:spcBef>
                <a:spcPts val="0"/>
              </a:spcBef>
              <a:spcAft>
                <a:spcPts val="0"/>
              </a:spcAft>
              <a:buSzPts val="1400"/>
              <a:buNone/>
            </a:pPr>
            <a:r>
              <a:t>UIFR: TEACH 3 · TEACH 4.</a:t>
            </a:r>
          </a:p>
        </p:txBody>
      </p:sp>
      <p:sp>
        <p:nvSpPr>
          <p:cNvPr id="724" name="Google Shape;724;p29: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24 | COLLABORATE</a:t>
            </a:r>
          </a:p>
          <a:p xmlns:a="http://schemas.openxmlformats.org/drawingml/2006/main">
            <a:pPr>
              <a:buNone/>
            </a:pPr>
            <a:r>
              <a:rPr lang="en-US" sz="1100"/>
              <a:t>Focus on the existing task: Reveal: 864 square inches The area of the trapezoid is the sum of the areas of the triangles and the square. What is the area of the trapezoid?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one base twice or a slanted side as height. If it appears, mark the two parallel bases and perpendicular height before substituting; then ask the student to revise the same response and explain the change. If evidence is secure, have students compare a second valid pathway or state why their approach works. Choose the next step from the responses, not a preset pace.</a:t>
            </a:r>
          </a:p>
        </p:txBody>
      </p:sp>
      <p:sp>
        <p:nvSpPr>
          <p:cNvPr id="744" name="Google Shape;744;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25 | TASK</a:t>
            </a:r>
          </a:p>
          <a:p xmlns:a="http://schemas.openxmlformats.org/drawingml/2006/main">
            <a:pPr>
              <a:buNone/>
            </a:pPr>
            <a:r>
              <a:rPr lang="en-US" sz="1100"/>
              <a:t>Focus on the existing task: Let’s find the area of the trapezoid. Find the area of the triangular sections. Area of one Triangle: There are two congruent triangles…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54" name="Google Shape;754;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26 | TASK</a:t>
            </a:r>
          </a:p>
          <a:p xmlns:a="http://schemas.openxmlformats.org/drawingml/2006/main">
            <a:pPr>
              <a:buNone/>
            </a:pPr>
            <a:r>
              <a:rPr lang="en-US" sz="1100"/>
              <a:t>Focus on the existing task: Find the area of the square: Add the areas of the triangles and square to find the area of the trapezoid. Odd-Shaped Furniture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4" name="Google Shape;764;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27 | REVEAL</a:t>
            </a:r>
          </a:p>
          <a:p xmlns:a="http://schemas.openxmlformats.org/drawingml/2006/main">
            <a:pPr>
              <a:buNone/>
            </a:pPr>
            <a:r>
              <a:rPr lang="en-US" sz="1100"/>
              <a:t>Focus on the existing task: Reveal: We can compose it into a rectangle. What is another method you can use to find the area of the isosceles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compose it into a rectangle.</a:t>
            </a:r>
          </a:p>
          <a:p>
            <a:pPr indent="0" lvl="0" marL="0" rtl="0" algn="l">
              <a:lnSpc>
                <a:spcPct val="100000"/>
              </a:lnSpc>
              <a:spcBef>
                <a:spcPts val="0"/>
              </a:spcBef>
              <a:spcAft>
                <a:spcPts val="0"/>
              </a:spcAft>
              <a:buSzPts val="1400"/>
              <a:buNone/>
            </a:pPr>
            <a:r>
              <a:t>UIFR: TEACH 3 · TEACH 4.</a:t>
            </a:r>
          </a:p>
        </p:txBody>
      </p:sp>
      <p:sp>
        <p:nvSpPr>
          <p:cNvPr id="787" name="Google Shape;787;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28 | REVEAL</a:t>
            </a:r>
          </a:p>
          <a:p xmlns:a="http://schemas.openxmlformats.org/drawingml/2006/main">
            <a:pPr>
              <a:buNone/>
            </a:pPr>
            <a:r>
              <a:rPr lang="en-US" sz="1100"/>
              <a:t>Focus on the existing task: Reveal: We can use the area formula for rectangles. Let’s find the area of an isosceles trapezoid by composing it into a rectangle.…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area formula for rectangles .</a:t>
            </a:r>
          </a:p>
          <a:p>
            <a:pPr indent="0" lvl="0" marL="0" rtl="0" algn="l">
              <a:lnSpc>
                <a:spcPct val="100000"/>
              </a:lnSpc>
              <a:spcBef>
                <a:spcPts val="0"/>
              </a:spcBef>
              <a:spcAft>
                <a:spcPts val="0"/>
              </a:spcAft>
              <a:buSzPts val="1400"/>
              <a:buNone/>
            </a:pPr>
            <a:r>
              <a:t>UIFR: TEACH 3 · TEACH 4.</a:t>
            </a:r>
          </a:p>
        </p:txBody>
      </p:sp>
      <p:sp>
        <p:nvSpPr>
          <p:cNvPr id="807" name="Google Shape;807;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29 | WORKED</a:t>
            </a:r>
          </a:p>
          <a:p xmlns:a="http://schemas.openxmlformats.org/drawingml/2006/main">
            <a:pPr>
              <a:buNone/>
            </a:pPr>
            <a:r>
              <a:rPr lang="en-US" sz="1100"/>
              <a:t>Focus on the existing task: Let’s use the area formula for rectangles to find the area. Think About It: Odd-Shaped Furniture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17" name="Google Shape;81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30 | TASK</a:t>
            </a:r>
          </a:p>
          <a:p xmlns:a="http://schemas.openxmlformats.org/drawingml/2006/main">
            <a:pPr>
              <a:buNone/>
            </a:pPr>
            <a:r>
              <a:rPr lang="en-US" sz="1100"/>
              <a:t>Focus on the existing task: Let’s use the area formula for rectangles to find the area. Think About It: Why is the length of the rectangle 36 inches?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29" name="Google Shape;829;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31 | TASK</a:t>
            </a:r>
          </a:p>
          <a:p xmlns:a="http://schemas.openxmlformats.org/drawingml/2006/main">
            <a:pPr>
              <a:buNone/>
            </a:pPr>
            <a:r>
              <a:rPr lang="en-US" sz="1100"/>
              <a:t>Focus on the existing task: The top of a table is in the shape of an isosceles trapezoid. What is the area of the tabletop?</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41" name="Google Shape;84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32 | PRACTICE</a:t>
            </a:r>
          </a:p>
          <a:p xmlns:a="http://schemas.openxmlformats.org/drawingml/2006/main">
            <a:pPr>
              <a:buNone/>
            </a:pPr>
            <a:r>
              <a:rPr lang="en-US" sz="1100"/>
              <a:t>Focus on the existing task: What statement can you make about the lengths of the parallel sides of the trapezoid when composing the trapezoid into a rectangle?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49" name="Google Shape;849;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37 | DIVIDER</a:t>
            </a:r>
          </a:p>
          <a:p xmlns:a="http://schemas.openxmlformats.org/drawingml/2006/main">
            <a:pPr>
              <a:buNone/>
            </a:pPr>
            <a:r>
              <a:rPr lang="en-US" sz="1100"/>
              <a:t>Focus on the existing task: Session 2 Determine the Area of Trapezoids</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57" name="Google Shape;857;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38 | TASK</a:t>
            </a:r>
          </a:p>
          <a:p xmlns:a="http://schemas.openxmlformats.org/drawingml/2006/main">
            <a:pPr>
              <a:buNone/>
            </a:pPr>
            <a:r>
              <a:rPr lang="en-US" sz="1100"/>
              <a:t>Focus on the existing task: The shape of Osceola County, Florida resembles a trapezoid. What is the approximate area of the county?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97" name="Google Shape;897;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39 | REVEAL</a:t>
            </a:r>
          </a:p>
          <a:p xmlns:a="http://schemas.openxmlformats.org/drawingml/2006/main">
            <a:pPr>
              <a:buNone/>
            </a:pPr>
            <a:r>
              <a:rPr lang="en-US" sz="1100"/>
              <a:t>Focus on the existing task: What do you notice about the angles in the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Two of the angles are right angles.</a:t>
            </a:r>
          </a:p>
          <a:p>
            <a:pPr indent="0" lvl="0" marL="0" rtl="0" algn="l">
              <a:lnSpc>
                <a:spcPct val="100000"/>
              </a:lnSpc>
              <a:spcBef>
                <a:spcPts val="0"/>
              </a:spcBef>
              <a:spcAft>
                <a:spcPts val="0"/>
              </a:spcAft>
              <a:buSzPts val="1400"/>
              <a:buNone/>
            </a:pPr>
            <a:r>
              <a:t>UIFR: TEACH 3 · TEACH 4.</a:t>
            </a:r>
          </a:p>
        </p:txBody>
      </p:sp>
      <p:sp>
        <p:nvSpPr>
          <p:cNvPr id="917" name="Google Shape;917;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40 | TASK</a:t>
            </a:r>
          </a:p>
          <a:p xmlns:a="http://schemas.openxmlformats.org/drawingml/2006/main">
            <a:pPr>
              <a:buNone/>
            </a:pPr>
            <a:r>
              <a:rPr lang="en-US" sz="1100"/>
              <a:t>Focus on the existing task: A trapezoid with two right angles is called a right trapezoid. Think About It: How is a right trapezoid similar to a right triangle?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35" name="Google Shape;935;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41 | REVEAL</a:t>
            </a:r>
          </a:p>
          <a:p xmlns:a="http://schemas.openxmlformats.org/drawingml/2006/main">
            <a:pPr>
              <a:buNone/>
            </a:pPr>
            <a:r>
              <a:rPr lang="en-US" sz="1100"/>
              <a:t>Focus on the existing task: What is one method you could use to find the area of the right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could compose the trapezoid into another shape.</a:t>
            </a:r>
          </a:p>
          <a:p>
            <a:pPr indent="0" lvl="0" marL="0" rtl="0" algn="l">
              <a:lnSpc>
                <a:spcPct val="100000"/>
              </a:lnSpc>
              <a:spcBef>
                <a:spcPts val="0"/>
              </a:spcBef>
              <a:spcAft>
                <a:spcPts val="0"/>
              </a:spcAft>
              <a:buSzPts val="1400"/>
              <a:buNone/>
            </a:pPr>
            <a:r>
              <a:t>UIFR: TEACH 3 · TEACH 4.</a:t>
            </a:r>
          </a:p>
        </p:txBody>
      </p:sp>
      <p:sp>
        <p:nvSpPr>
          <p:cNvPr id="954" name="Google Shape;954;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42 | REVEAL</a:t>
            </a:r>
          </a:p>
          <a:p xmlns:a="http://schemas.openxmlformats.org/drawingml/2006/main">
            <a:pPr>
              <a:buNone/>
            </a:pPr>
            <a:r>
              <a:rPr lang="en-US" sz="1100"/>
              <a:t>Focus on the existing task: Reveal: We can use the area formula for rectangles. Let’s compose the trapezoid into a rectangle by copying and combining the trapezoid. How can you find the area of the resulting rectangle?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area formula for rectangles .</a:t>
            </a:r>
          </a:p>
          <a:p>
            <a:pPr indent="0" lvl="0" marL="0" rtl="0" algn="l">
              <a:lnSpc>
                <a:spcPct val="100000"/>
              </a:lnSpc>
              <a:spcBef>
                <a:spcPts val="0"/>
              </a:spcBef>
              <a:spcAft>
                <a:spcPts val="0"/>
              </a:spcAft>
              <a:buSzPts val="1400"/>
              <a:buNone/>
            </a:pPr>
            <a:r>
              <a:t>UIFR: TEACH 3 · TEACH 4.</a:t>
            </a:r>
          </a:p>
        </p:txBody>
      </p:sp>
      <p:sp>
        <p:nvSpPr>
          <p:cNvPr id="973" name="Google Shape;973;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43 | REVEAL</a:t>
            </a:r>
          </a:p>
          <a:p xmlns:a="http://schemas.openxmlformats.org/drawingml/2006/main">
            <a:pPr>
              <a:buNone/>
            </a:pPr>
            <a:r>
              <a:rPr lang="en-US" sz="1100"/>
              <a:t>Focus on the existing task: Reveal: It is equivalent to the sum of the bases of the original trapezoid. Let’s use the area formula for rectangles. What do you notice about the length of the rectangle?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is equivalent to the sum of the bases of the original trapezoid .</a:t>
            </a:r>
          </a:p>
          <a:p>
            <a:pPr indent="0" lvl="0" marL="0" rtl="0" algn="l">
              <a:lnSpc>
                <a:spcPct val="100000"/>
              </a:lnSpc>
              <a:spcBef>
                <a:spcPts val="0"/>
              </a:spcBef>
              <a:spcAft>
                <a:spcPts val="0"/>
              </a:spcAft>
              <a:buSzPts val="1400"/>
              <a:buNone/>
            </a:pPr>
            <a:r>
              <a:t>UIFR: TEACH 3 · TEACH 4.</a:t>
            </a:r>
          </a:p>
        </p:txBody>
      </p:sp>
      <p:sp>
        <p:nvSpPr>
          <p:cNvPr id="997" name="Google Shape;997;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44 | REVEAL</a:t>
            </a:r>
          </a:p>
          <a:p xmlns:a="http://schemas.openxmlformats.org/drawingml/2006/main">
            <a:pPr>
              <a:buNone/>
            </a:pPr>
            <a:r>
              <a:rPr lang="en-US" sz="1100"/>
              <a:t>Focus on the existing task: Reveal: There are two identical trapezoids that form the rectangle. The area of one trapezoid is half the area of the rectangle. Land…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two identical trapezoids that form the rectangle. The area of one trapezoid is half the area of the rectangle.</a:t>
            </a:r>
          </a:p>
          <a:p>
            <a:pPr indent="0" lvl="0" marL="0" rtl="0" algn="l">
              <a:lnSpc>
                <a:spcPct val="100000"/>
              </a:lnSpc>
              <a:spcBef>
                <a:spcPts val="0"/>
              </a:spcBef>
              <a:spcAft>
                <a:spcPts val="0"/>
              </a:spcAft>
              <a:buSzPts val="1400"/>
              <a:buNone/>
            </a:pPr>
            <a:r>
              <a:t>UIFR: TEACH 3 · TEACH 4.</a:t>
            </a:r>
          </a:p>
        </p:txBody>
      </p:sp>
      <p:sp>
        <p:nvSpPr>
          <p:cNvPr id="1020" name="Google Shape;1020;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45 | WORKED</a:t>
            </a:r>
          </a:p>
          <a:p xmlns:a="http://schemas.openxmlformats.org/drawingml/2006/main">
            <a:pPr>
              <a:buNone/>
            </a:pPr>
            <a:r>
              <a:rPr lang="en-US" sz="1100"/>
              <a:t>Focus on the existing task: The area of the trapezoid is half of the area of the rectangle. Land Area</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29" name="Google Shape;1029;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46 | COLLABORATE</a:t>
            </a:r>
          </a:p>
          <a:p xmlns:a="http://schemas.openxmlformats.org/drawingml/2006/main">
            <a:pPr>
              <a:buNone/>
            </a:pPr>
            <a:r>
              <a:rPr lang="en-US" sz="1100"/>
              <a:t>Focus on the existing task: Collaborate and Connect You can find the area of the trapezoid by finding half the area of the rectangle formed by copying and combining…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1048" name="Google Shape;1048;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8" name="Google Shape;1058;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47 | WORKED</a:t>
            </a:r>
          </a:p>
          <a:p xmlns:a="http://schemas.openxmlformats.org/drawingml/2006/main">
            <a:pPr>
              <a:buNone/>
            </a:pPr>
            <a:r>
              <a:rPr lang="en-US" sz="1100"/>
              <a:t>Focus on the existing task: Let’s find the area of the trapezoid using an area formula. Land Area</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the half-sum formula.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59" name="Google Shape;1059;p6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48 | TASK</a:t>
            </a:r>
          </a:p>
          <a:p xmlns:a="http://schemas.openxmlformats.org/drawingml/2006/main">
            <a:pPr>
              <a:buNone/>
            </a:pPr>
            <a:r>
              <a:rPr lang="en-US" sz="1100"/>
              <a:t>Focus on the existing task: The shape of Osceola County, Florida resembles a trapezoid. What is the approximate area of the county?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70" name="Google Shape;1070;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49 | PRACTICE</a:t>
            </a:r>
          </a:p>
          <a:p xmlns:a="http://schemas.openxmlformats.org/drawingml/2006/main">
            <a:pPr>
              <a:buNone/>
            </a:pPr>
            <a:r>
              <a:rPr lang="en-US" sz="1100"/>
              <a:t>Focus on the existing task: Workspace How do the area formulas for a trapezoid and a parallelogram relate?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80" name="Google Shape;1080;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53 | SUMMARIZE</a:t>
            </a:r>
          </a:p>
          <a:p xmlns:a="http://schemas.openxmlformats.org/drawingml/2006/main">
            <a:pPr>
              <a:buNone/>
            </a:pPr>
            <a:r>
              <a:rPr lang="en-US" sz="1100"/>
              <a:t>Focus on the existing task: Summarize: Area of a Trapezoid SUMMARIZE · SAY IT IN YOUR OWN WORDS</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88" name="Google Shape;1088;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5.3, slide 54 | APPLY</a:t>
            </a:r>
          </a:p>
          <a:p xmlns:a="http://schemas.openxmlformats.org/drawingml/2006/main">
            <a:pPr>
              <a:buNone/>
            </a:pPr>
            <a:r>
              <a:rPr lang="en-US" sz="1100"/>
              <a:t>Focus on the existing task: The parking lot shown is being repaved. Asphalt for the parking lot costs $3.95 per square foot, while the cost of labor is about $3 per…</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the parallel bases and height; explain the half-sum formula; check area units. Respond with one specific next step tied to the work. Students revise and annotate what changed, then identify a criterion they can now demonstrate and one they still need to practice.</a:t>
            </a:r>
          </a:p>
        </p:txBody>
      </p:sp>
      <p:sp>
        <p:nvSpPr>
          <p:cNvPr id="1097" name="Google Shape;1097;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5.3, slide 35 | WARMUP</a:t>
            </a:r>
          </a:p>
          <a:p xmlns:a="http://schemas.openxmlformats.org/drawingml/2006/main">
            <a:pPr>
              <a:buNone/>
            </a:pPr>
            <a:r>
              <a:rPr lang="en-US" sz="1100"/>
              <a:t>Focus on the existing task: Warm-Up Session 2 Warm-Up Check what you remember from Session 1 1 Which formula gives the area of a trapezoid?</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5.3, slide 36 | NOTES</a:t>
            </a:r>
          </a:p>
          <a:p xmlns:a="http://schemas.openxmlformats.org/drawingml/2006/main">
            <a:pPr>
              <a:buNone/>
            </a:pPr>
            <a:r>
              <a:rPr lang="en-US" sz="1100"/>
              <a:t>Focus on the existing task: Review Notes — Session 2 Session 2: Review Notes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55 | REFLECTION</a:t>
            </a:r>
          </a:p>
          <a:p xmlns:a="http://schemas.openxmlformats.org/drawingml/2006/main">
            <a:pPr>
              <a:buNone/>
            </a:pPr>
            <a:r>
              <a:rPr lang="en-US" sz="1100"/>
              <a:t>Focus on the existing task: Learning Targets I can find the area of a trapezoid by decomposing into triangles or composing into a rectangle. I can make use of…</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one base twice or a slanted side as height.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the two parallel bases and perpendicular height before substituting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7 | PRIOR_INSERT</a:t>
            </a:r>
          </a:p>
          <a:p xmlns:a="http://schemas.openxmlformats.org/drawingml/2006/main">
            <a:pPr>
              <a:buNone/>
            </a:pPr>
            <a:r>
              <a:rPr lang="en-US" sz="1100"/>
              <a:t>Focus on the existing task: LESSON 5.3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8 | VOCAB</a:t>
            </a:r>
          </a:p>
          <a:p xmlns:a="http://schemas.openxmlformats.org/drawingml/2006/main">
            <a:pPr>
              <a:buNone/>
            </a:pPr>
            <a:r>
              <a:rPr lang="en-US" sz="1100"/>
              <a:t>Focus on the existing task: Vocabulary 1 of 8 Area of Trapezoids The space inside a…</a:t>
            </a:r>
          </a:p>
          <a:p xmlns:a="http://schemas.openxmlformats.org/drawingml/2006/main">
            <a:pPr>
              <a:buNone/>
            </a:pPr>
            <a:r>
              <a:rPr lang="en-US" sz="1100"/>
              <a:t>ASK (T1/3/5): Where does “Area of Trapezoids”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9 | VOCAB</a:t>
            </a:r>
          </a:p>
          <a:p xmlns:a="http://schemas.openxmlformats.org/drawingml/2006/main">
            <a:pPr>
              <a:buNone/>
            </a:pPr>
            <a:r>
              <a:rPr lang="en-US" sz="1100"/>
              <a:t>Focus on the existing task: Vocabulary 2 of 8 Trapezoid A four-sided shape with just…</a:t>
            </a:r>
          </a:p>
          <a:p xmlns:a="http://schemas.openxmlformats.org/drawingml/2006/main">
            <a:pPr>
              <a:buNone/>
            </a:pPr>
            <a:r>
              <a:rPr lang="en-US" sz="1100"/>
              <a:t>ASK (T1/3/5): Where does “Trapezoid”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10 | VOCAB</a:t>
            </a:r>
          </a:p>
          <a:p xmlns:a="http://schemas.openxmlformats.org/drawingml/2006/main">
            <a:pPr>
              <a:buNone/>
            </a:pPr>
            <a:r>
              <a:rPr lang="en-US" sz="1100"/>
              <a:t>Focus on the existing task: Vocabulary 3 of 8 Parallel Two lines or sides that stay…</a:t>
            </a:r>
          </a:p>
          <a:p xmlns:a="http://schemas.openxmlformats.org/drawingml/2006/main">
            <a:pPr>
              <a:buNone/>
            </a:pPr>
            <a:r>
              <a:rPr lang="en-US" sz="1100"/>
              <a:t>ASK (T1/3/5): Where does “Parallel”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11 | VOCAB</a:t>
            </a:r>
          </a:p>
          <a:p xmlns:a="http://schemas.openxmlformats.org/drawingml/2006/main">
            <a:pPr>
              <a:buNone/>
            </a:pPr>
            <a:r>
              <a:rPr lang="en-US" sz="1100"/>
              <a:t>Focus on the existing task: Vocabulary 4 of 8 Base 1 (b1) One of the two parallel…</a:t>
            </a:r>
          </a:p>
          <a:p xmlns:a="http://schemas.openxmlformats.org/drawingml/2006/main">
            <a:pPr>
              <a:buNone/>
            </a:pPr>
            <a:r>
              <a:rPr lang="en-US" sz="1100"/>
              <a:t>ASK (T1/3/5): Where does “Base 1 (b1)”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12 | VOCAB</a:t>
            </a:r>
          </a:p>
          <a:p xmlns:a="http://schemas.openxmlformats.org/drawingml/2006/main">
            <a:pPr>
              <a:buNone/>
            </a:pPr>
            <a:r>
              <a:rPr lang="en-US" sz="1100"/>
              <a:t>Focus on the existing task: Vocabulary 5 of 8 Base 2 (b2) The other parallel side of…</a:t>
            </a:r>
          </a:p>
          <a:p xmlns:a="http://schemas.openxmlformats.org/drawingml/2006/main">
            <a:pPr>
              <a:buNone/>
            </a:pPr>
            <a:r>
              <a:rPr lang="en-US" sz="1100"/>
              <a:t>ASK (T1/3/5): Where does “Base 2 (b2)”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13 | VOCAB</a:t>
            </a:r>
          </a:p>
          <a:p xmlns:a="http://schemas.openxmlformats.org/drawingml/2006/main">
            <a:pPr>
              <a:buNone/>
            </a:pPr>
            <a:r>
              <a:rPr lang="en-US" sz="1100"/>
              <a:t>Focus on the existing task: Vocabulary 6 of 8 Height The straight-up distance between…</a:t>
            </a:r>
          </a:p>
          <a:p xmlns:a="http://schemas.openxmlformats.org/drawingml/2006/main">
            <a:pPr>
              <a:buNone/>
            </a:pPr>
            <a:r>
              <a:rPr lang="en-US" sz="1100"/>
              <a:t>ASK (T1/3/5): Where does “Height”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14 | VOCAB</a:t>
            </a:r>
          </a:p>
          <a:p xmlns:a="http://schemas.openxmlformats.org/drawingml/2006/main">
            <a:pPr>
              <a:buNone/>
            </a:pPr>
            <a:r>
              <a:rPr lang="en-US" sz="1100"/>
              <a:t>Focus on the existing task: Vocabulary 7 of 8 Perpendicular Two lines that meet to…</a:t>
            </a:r>
          </a:p>
          <a:p xmlns:a="http://schemas.openxmlformats.org/drawingml/2006/main">
            <a:pPr>
              <a:buNone/>
            </a:pPr>
            <a:r>
              <a:rPr lang="en-US" sz="1100"/>
              <a:t>ASK (T1/3/5): Where does “Perpendicular”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15 | VOCAB</a:t>
            </a:r>
          </a:p>
          <a:p xmlns:a="http://schemas.openxmlformats.org/drawingml/2006/main">
            <a:pPr>
              <a:buNone/>
            </a:pPr>
            <a:r>
              <a:rPr lang="en-US" sz="1100"/>
              <a:t>Focus on the existing task: Vocabulary 8 of 8 Area How much space is inside a flat…</a:t>
            </a:r>
          </a:p>
          <a:p xmlns:a="http://schemas.openxmlformats.org/drawingml/2006/main">
            <a:pPr>
              <a:buNone/>
            </a:pPr>
            <a:r>
              <a:rPr lang="en-US" sz="1100"/>
              <a:t>ASK (T1/3/5): Where does “Area”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16 | CURIOUS</a:t>
            </a:r>
          </a:p>
          <a:p xmlns:a="http://schemas.openxmlformats.org/drawingml/2006/main">
            <a:pPr>
              <a:buNone/>
            </a:pPr>
            <a:r>
              <a:rPr lang="en-US" sz="1100"/>
              <a:t>Focus on the existing task: How can you use math to help identify a problem in your class or community?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33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34 | CURIOUS</a:t>
            </a:r>
          </a:p>
          <a:p xmlns:a="http://schemas.openxmlformats.org/drawingml/2006/main">
            <a:pPr>
              <a:buNone/>
            </a:pPr>
            <a:r>
              <a:rPr lang="en-US" sz="1100"/>
              <a:t>Focus on the existing task: How are you using math to help identify a problem in your class or community?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the parallel bases and height.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50 | PRIOR_INSERT</a:t>
            </a:r>
          </a:p>
          <a:p xmlns:a="http://schemas.openxmlformats.org/drawingml/2006/main">
            <a:pPr>
              <a:buNone/>
            </a:pPr>
            <a:r>
              <a:rPr lang="en-US" sz="1100"/>
              <a:t>Focus on the existing task: LESSON 5.3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51 | REVEAL</a:t>
            </a:r>
          </a:p>
          <a:p xmlns:a="http://schemas.openxmlformats.org/drawingml/2006/main">
            <a:pPr>
              <a:buNone/>
            </a:pPr>
            <a:r>
              <a:rPr lang="en-US" sz="1100"/>
              <a:t>Focus on the existing task: What do you notice about the angles in the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52 | REVEAL</a:t>
            </a:r>
          </a:p>
          <a:p xmlns:a="http://schemas.openxmlformats.org/drawingml/2006/main">
            <a:pPr>
              <a:buNone/>
            </a:pPr>
            <a:r>
              <a:rPr lang="en-US" sz="1100"/>
              <a:t>Focus on the existing task: What is one method you could use to find the area of the right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area units. Ask which feature of their work supports the claim.</a:t>
            </a:r>
          </a:p>
          <a:p xmlns:a="http://schemas.openxmlformats.org/drawingml/2006/main">
            <a:pPr>
              <a:buNone/>
            </a:pPr>
            <a:r>
              <a:rPr lang="en-US" sz="1100"/>
              <a:t>RESPOND: If this task shows the lesson misconception—using one base twice or a slanted side as height—mark the two parallel bases and perpendicular height before substituting.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5.3, slide 56 | PRIOR_INSERT</a:t>
            </a:r>
          </a:p>
          <a:p xmlns:a="http://schemas.openxmlformats.org/drawingml/2006/main">
            <a:pPr>
              <a:buNone/>
            </a:pPr>
            <a:r>
              <a:rPr lang="en-US" sz="1100"/>
              <a:t>Focus on the existing task: LESSON 5.3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the parallel bases and height; explain the half-sum formula; check area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90" name="Shape 90"/>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0" name="Google Shape;100;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1" name="Shape 10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1" name="Google Shape;111;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3" name="Google Shape;113;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6" name="Google Shape;11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0" name="Google Shape;120;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2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3" name="Google Shape;123;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4" name="Google Shape;124;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6" name="Google Shape;126;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 name="Google Shape;132;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 name="Google Shape;137;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8" name="Google Shape;138;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9" name="Google Shape;139;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1" name="Google Shape;141;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4" name="Google Shape;144;p26"/>
          <p:cNvSpPr/>
          <p:nvPr>
            <p:ph idx="2" type="pic"/>
          </p:nvPr>
        </p:nvSpPr>
        <p:spPr>
          <a:xfrm>
            <a:off x="5183188" y="987425"/>
            <a:ext cx="6172200" cy="4873625"/>
          </a:xfrm>
          <a:prstGeom prst="rect">
            <a:avLst/>
          </a:prstGeom>
          <a:noFill/>
          <a:ln>
            <a:noFill/>
          </a:ln>
        </p:spPr>
      </p:sp>
      <p:sp>
        <p:nvSpPr>
          <p:cNvPr id="145" name="Google Shape;145;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6" name="Google Shape;146;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8" name="Google Shape;148;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1" name="Google Shape;151;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2" name="Google Shape;152;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4" name="Google Shape;154;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8"/>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7" name="Google Shape;157;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 name="Google Shape;158;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0" name="Google Shape;160;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6" name="Shape 16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7" name="Shape 167"/>
        <p:cNvGrpSpPr/>
        <p:nvPr/>
      </p:nvGrpSpPr>
      <p:grpSpPr>
        <a:xfrm>
          <a:off x="0" y="0"/>
          <a:ext cx="0" cy="0"/>
          <a:chOff x="0" y="0"/>
          <a:chExt cx="0" cy="0"/>
        </a:xfrm>
      </p:grpSpPr>
      <p:sp>
        <p:nvSpPr>
          <p:cNvPr id="168" name="Google Shape;168;p3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9" name="Google Shape;16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2" name="Google Shape;172;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3" name="Shape 173"/>
        <p:cNvGrpSpPr/>
        <p:nvPr/>
      </p:nvGrpSpPr>
      <p:grpSpPr>
        <a:xfrm>
          <a:off x="0" y="0"/>
          <a:ext cx="0" cy="0"/>
          <a:chOff x="0" y="0"/>
          <a:chExt cx="0" cy="0"/>
        </a:xfrm>
      </p:grpSpPr>
      <p:sp>
        <p:nvSpPr>
          <p:cNvPr id="174" name="Google Shape;174;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6" name="Google Shape;176;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8" name="Google Shape;178;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9" name="Shape 179"/>
        <p:cNvGrpSpPr/>
        <p:nvPr/>
      </p:nvGrpSpPr>
      <p:grpSpPr>
        <a:xfrm>
          <a:off x="0" y="0"/>
          <a:ext cx="0" cy="0"/>
          <a:chOff x="0" y="0"/>
          <a:chExt cx="0" cy="0"/>
        </a:xfrm>
      </p:grpSpPr>
      <p:sp>
        <p:nvSpPr>
          <p:cNvPr id="180" name="Google Shape;180;p3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5" name="Google Shape;185;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6" name="Shape 186"/>
        <p:cNvGrpSpPr/>
        <p:nvPr/>
      </p:nvGrpSpPr>
      <p:grpSpPr>
        <a:xfrm>
          <a:off x="0" y="0"/>
          <a:ext cx="0" cy="0"/>
          <a:chOff x="0" y="0"/>
          <a:chExt cx="0" cy="0"/>
        </a:xfrm>
      </p:grpSpPr>
      <p:sp>
        <p:nvSpPr>
          <p:cNvPr id="187" name="Google Shape;187;p34"/>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8" name="Google Shape;188;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9" name="Google Shape;189;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0" name="Google Shape;190;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1" name="Google Shape;191;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2" name="Google Shape;192;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4" name="Google Shape;194;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3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7" name="Google Shape;197;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0" name="Shape 200"/>
        <p:cNvGrpSpPr/>
        <p:nvPr/>
      </p:nvGrpSpPr>
      <p:grpSpPr>
        <a:xfrm>
          <a:off x="0" y="0"/>
          <a:ext cx="0" cy="0"/>
          <a:chOff x="0" y="0"/>
          <a:chExt cx="0" cy="0"/>
        </a:xfrm>
      </p:grpSpPr>
      <p:sp>
        <p:nvSpPr>
          <p:cNvPr id="201" name="Google Shape;201;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3" name="Google Shape;203;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 name="Google Shape;206;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7" name="Google Shape;207;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8" name="Google Shape;208;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0" name="Google Shape;210;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 name="Google Shape;213;p38"/>
          <p:cNvSpPr/>
          <p:nvPr>
            <p:ph idx="2" type="pic"/>
          </p:nvPr>
        </p:nvSpPr>
        <p:spPr>
          <a:xfrm>
            <a:off x="5183188" y="987425"/>
            <a:ext cx="6172200" cy="4873625"/>
          </a:xfrm>
          <a:prstGeom prst="rect">
            <a:avLst/>
          </a:prstGeom>
          <a:noFill/>
          <a:ln>
            <a:noFill/>
          </a:ln>
        </p:spPr>
      </p:sp>
      <p:sp>
        <p:nvSpPr>
          <p:cNvPr id="214" name="Google Shape;214;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5" name="Google Shape;215;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7" name="Google Shape;217;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3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 name="Google Shape;220;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 name="Google Shape;221;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3" name="Google Shape;223;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40"/>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6" name="Google Shape;226;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7" name="Google Shape;227;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9" name="Google Shape;229;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230" name="Shape 230"/>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Area of Trapezoids​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cxnSp>
        <p:nvCxnSpPr>
          <p:cNvPr id="92" name="Google Shape;92;p17"/>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3" name="Google Shape;93;p17"/>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4" name="Google Shape;94;p17"/>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Determine the Area of Trapezoids​</a:t>
            </a:r>
            <a:endParaRPr b="0" i="0" sz="1400" u="none" cap="none" strike="noStrike">
              <a:solidFill>
                <a:srgbClr val="000000"/>
              </a:solidFill>
              <a:latin typeface="Arial"/>
              <a:ea typeface="Arial"/>
              <a:cs typeface="Arial"/>
              <a:sym typeface="Arial"/>
            </a:endParaRPr>
          </a:p>
        </p:txBody>
      </p:sp>
      <p:sp>
        <p:nvSpPr>
          <p:cNvPr id="95" name="Google Shape;95;p17"/>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6" name="Google Shape;96;p17"/>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cxnSp>
        <p:nvCxnSpPr>
          <p:cNvPr id="162" name="Google Shape;162;p29"/>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3" name="Google Shape;163;p29"/>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4" name="Google Shape;164;p29"/>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5" name="Google Shape;165;p29"/>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7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7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7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7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7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notesSlide" Target="../notesSlides/notesSlide8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46.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8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9.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9.png"/><Relationship Id="rId4" Type="http://schemas.openxmlformats.org/officeDocument/2006/relationships/image" Target="../media/image40.png"/><Relationship Id="rId5"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7.png"/><Relationship Id="rId4" Type="http://schemas.openxmlformats.org/officeDocument/2006/relationships/image" Target="../media/image41.png"/><Relationship Id="rId5" Type="http://schemas.openxmlformats.org/officeDocument/2006/relationships/image" Target="../media/image49.png"/><Relationship Id="rId6"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8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8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5-3 · Determine the Area of Trapezoids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(6 + 10) × 4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1/2 × 32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1/2 × (6 + 10) × 4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 rectangle of 20 square cm sits beside a triangle of 6 square cm.</a:t>
            </a:r>
          </a:p>
          <a:p>
            <a:pPr algn="l"/>
            <a:r>
              <a:rPr sz="1800" b="1">
                <a:solidFill>
                  <a:srgbClr val="23282D"/>
                </a:solidFill>
                <a:latin typeface="Arial"/>
              </a:rPr>
              <a:t>Together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62</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6"/>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47" name="Google Shape;547;p5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548" name="Google Shape;548;p5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0" name="Google Shape;550;p56"/>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51" name="Google Shape;551;p56"/>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56"/>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3" name="Google Shape;553;p56"/>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6"/>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6"/>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56" name="Google Shape;556;p56"/>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Area of Trapezoids</a:t>
            </a:r>
            <a:endParaRPr/>
          </a:p>
        </p:txBody>
      </p:sp>
      <p:sp>
        <p:nvSpPr>
          <p:cNvPr id="557" name="Google Shape;557;p56"/>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space inside a </a:t>
            </a:r>
            <a:r>
              <a:rPr b="1" i="0" lang="en-US" sz="1450" u="none" cap="none" strike="noStrike">
                <a:solidFill>
                  <a:srgbClr val="475569"/>
                </a:solidFill>
                <a:latin typeface="Arial"/>
                <a:ea typeface="Arial"/>
                <a:cs typeface="Arial"/>
                <a:sym typeface="Arial"/>
              </a:rPr>
              <a:t xml:space="preserve">trapezoid</a:t>
            </a:r>
            <a:endParaRPr/>
          </a:p>
        </p:txBody>
      </p:sp>
      <p:sp>
        <p:nvSpPr>
          <p:cNvPr id="558" name="Google Shape;558;p56"/>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6"/>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56"/>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61" name="Google Shape;561;p56"/>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Trapezoid</a:t>
            </a:r>
            <a:endParaRPr/>
          </a:p>
        </p:txBody>
      </p:sp>
      <p:sp>
        <p:nvSpPr>
          <p:cNvPr id="562" name="Google Shape;562;p56"/>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four-sided shape with just one pair of </a:t>
            </a:r>
            <a:r>
              <a:rPr b="1" i="0" lang="en-US" sz="1450" u="none" cap="none" strike="noStrike">
                <a:solidFill>
                  <a:srgbClr val="475569"/>
                </a:solidFill>
                <a:latin typeface="Arial"/>
                <a:ea typeface="Arial"/>
                <a:cs typeface="Arial"/>
                <a:sym typeface="Arial"/>
              </a:rPr>
              <a:t xml:space="preserve">parallel</a:t>
            </a:r>
            <a:r>
              <a:rPr b="0" i="0" lang="en-US" sz="1450" u="none" cap="none" strike="noStrike">
                <a:solidFill>
                  <a:srgbClr val="475569"/>
                </a:solidFill>
                <a:latin typeface="Arial"/>
                <a:ea typeface="Arial"/>
                <a:cs typeface="Arial"/>
                <a:sym typeface="Arial"/>
              </a:rPr>
              <a:t xml:space="preserve"> sides</a:t>
            </a:r>
            <a:endParaRPr/>
          </a:p>
        </p:txBody>
      </p:sp>
      <p:sp>
        <p:nvSpPr>
          <p:cNvPr id="563" name="Google Shape;563;p56"/>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6"/>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6"/>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66" name="Google Shape;566;p56"/>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Parallel</a:t>
            </a:r>
            <a:endParaRPr/>
          </a:p>
        </p:txBody>
      </p:sp>
      <p:sp>
        <p:nvSpPr>
          <p:cNvPr id="567" name="Google Shape;567;p56"/>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Two lines or sides</a:t>
            </a:r>
            <a:endParaRPr/>
          </a:p>
        </p:txBody>
      </p:sp>
      <p:sp>
        <p:nvSpPr>
          <p:cNvPr id="5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62</a:t>
            </a:r>
          </a:p>
        </p:txBody>
      </p:sp>
      <p:grpSp>
        <p:nvGrpSpPr>
          <p:cNvPr id="569" name="TEACH-1-student-move" descr="TEACH 1 · Facilitate clear, standards-based content learning"/>
          <p:cNvGrpSpPr/>
          <p:nvPr/>
        </p:nvGrpSpPr>
        <p:grpSpPr>
          <a:xfrm>
            <a:off x="6187440" y="1682496"/>
            <a:ext cx="5501640" cy="594360"/>
            <a:chOff x="6187440" y="1682496"/>
            <a:chExt cx="5501640" cy="594360"/>
          </a:xfrm>
        </p:grpSpPr>
        <p:sp>
          <p:nvSpPr>
            <p:cNvPr id="570"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71"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72"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p57"/>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5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75" name="Google Shape;575;p5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576" name="Google Shape;576;p5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7" name="Google Shape;577;p5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78" name="Google Shape;578;p57"/>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79" name="Google Shape;579;p57"/>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0" name="Google Shape;580;p57"/>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81" name="Google Shape;581;p57"/>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57"/>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Area of Trapezoids</a:t>
            </a:r>
            <a:endParaRPr/>
          </a:p>
        </p:txBody>
      </p:sp>
      <p:sp>
        <p:nvSpPr>
          <p:cNvPr id="583" name="Google Shape;583;p57"/>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p57"/>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C2410C"/>
                </a:solidFill>
                <a:latin typeface="Arial"/>
                <a:ea typeface="Arial"/>
                <a:cs typeface="Arial"/>
                <a:sym typeface="Arial"/>
              </a:rPr>
              <a:t>Area = ½ × (b1 + b2) × h</a:t>
            </a:r>
            <a:endParaRPr/>
          </a:p>
        </p:txBody>
      </p:sp>
      <p:sp>
        <p:nvSpPr>
          <p:cNvPr id="585" name="Google Shape;585;p57"/>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6" name="Google Shape;586;p57"/>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87" name="Google Shape;587;p57"/>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 </a:t>
            </a:r>
            <a:r>
              <a:rPr b="1" i="0" lang="en-US" sz="1600" u="none" cap="none" strike="noStrike">
                <a:solidFill>
                  <a:srgbClr val="14223A"/>
                </a:solidFill>
                <a:latin typeface="Arial"/>
                <a:ea typeface="Arial"/>
                <a:cs typeface="Arial"/>
                <a:sym typeface="Arial"/>
              </a:rPr>
              <a:t xml:space="preserve">trapezoid</a:t>
            </a:r>
            <a:r>
              <a:rPr b="0" i="0" lang="en-US" sz="1600" u="none" cap="none" strike="noStrike">
                <a:solidFill>
                  <a:srgbClr val="14223A"/>
                </a:solidFill>
                <a:latin typeface="Arial"/>
                <a:ea typeface="Arial"/>
                <a:cs typeface="Arial"/>
                <a:sym typeface="Arial"/>
              </a:rPr>
              <a:t xml:space="preserve"> is a four-sided shape with one pair of </a:t>
            </a:r>
            <a:r>
              <a:rPr b="1" i="0" lang="en-US" sz="1600" u="none" cap="none" strike="noStrike">
                <a:solidFill>
                  <a:srgbClr val="14223A"/>
                </a:solidFill>
                <a:latin typeface="Arial"/>
                <a:ea typeface="Arial"/>
                <a:cs typeface="Arial"/>
                <a:sym typeface="Arial"/>
              </a:rPr>
              <a:t xml:space="preserve">parallel</a:t>
            </a:r>
            <a:r>
              <a:rPr b="0" i="0" lang="en-US" sz="1600" u="none" cap="none" strike="noStrike">
                <a:solidFill>
                  <a:srgbClr val="14223A"/>
                </a:solidFill>
                <a:latin typeface="Arial"/>
                <a:ea typeface="Arial"/>
                <a:cs typeface="Arial"/>
                <a:sym typeface="Arial"/>
              </a:rPr>
              <a:t xml:space="preserve"> bases</a:t>
            </a:r>
            <a:endParaRPr/>
          </a:p>
        </p:txBody>
      </p:sp>
      <p:sp>
        <p:nvSpPr>
          <p:cNvPr id="588" name="Google Shape;588;p57"/>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9" name="Google Shape;589;p57"/>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90" name="Google Shape;590;p57"/>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Add the two bases together: </a:t>
            </a:r>
            <a:r>
              <a:rPr b="0" i="0" lang="en-US" sz="1600" u="none" cap="none" strike="noStrike">
                <a:solidFill>
                  <a:srgbClr val="14223A"/>
                </a:solidFill>
                <a:latin typeface="Arial"/>
                <a:ea typeface="Arial"/>
                <a:cs typeface="Arial"/>
                <a:sym typeface="Arial"/>
              </a:rPr>
              <a:t>(b1 + b2)</a:t>
            </a:r>
            <a:endParaRPr/>
          </a:p>
        </p:txBody>
      </p:sp>
      <p:sp>
        <p:nvSpPr>
          <p:cNvPr id="591" name="Google Shape;591;p57"/>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2" name="Google Shape;592;p57"/>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93" name="Google Shape;593;p57"/>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Multiply by the </a:t>
            </a:r>
            <a:r>
              <a:rPr b="1" i="0" lang="en-US" sz="1600" u="none" cap="none" strike="noStrike">
                <a:solidFill>
                  <a:srgbClr val="14223A"/>
                </a:solidFill>
                <a:latin typeface="Arial"/>
                <a:ea typeface="Arial"/>
                <a:cs typeface="Arial"/>
                <a:sym typeface="Arial"/>
              </a:rPr>
              <a:t xml:space="preserve">perpendicular</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height</a:t>
            </a:r>
            <a:r>
              <a:rPr b="0" i="0" lang="en-US" sz="1600" u="none" cap="none" strike="noStrike">
                <a:solidFill>
                  <a:srgbClr val="14223A"/>
                </a:solidFill>
                <a:latin typeface="Arial"/>
                <a:ea typeface="Arial"/>
                <a:cs typeface="Arial"/>
                <a:sym typeface="Arial"/>
              </a:rPr>
              <a:t xml:space="preserve">, then take half</a:t>
            </a:r>
            <a:endParaRPr/>
          </a:p>
        </p:txBody>
      </p:sp>
      <p:sp>
        <p:nvSpPr>
          <p:cNvPr id="5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62</a:t>
            </a:r>
          </a:p>
        </p:txBody>
      </p:sp>
      <p:sp xmlns:p="http://schemas.openxmlformats.org/presentationml/2006/main" xmlns:a="http://schemas.openxmlformats.org/drawingml/2006/main">
        <p:nvSpPr>
          <p:cNvPr id="595"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nvSpPr>
        <p:spPr>
          <a:xfrm>
            <a:off x="1402828" y="2453950"/>
            <a:ext cx="7704596" cy="8744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Trapezoids​</a:t>
            </a:r>
            <a:endParaRPr b="0" i="0" sz="1400" u="none" cap="none" strike="noStrike">
              <a:solidFill>
                <a:srgbClr val="000000"/>
              </a:solidFill>
              <a:latin typeface="Arial"/>
              <a:ea typeface="Arial"/>
              <a:cs typeface="Arial"/>
              <a:sym typeface="Arial"/>
            </a:endParaRPr>
          </a:p>
        </p:txBody>
      </p:sp>
      <p:sp>
        <p:nvSpPr>
          <p:cNvPr id="236" name="Google Shape;236;p4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7" name="Google Shape;237;p42"/>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62</a:t>
            </a:r>
          </a:p>
        </p:txBody>
      </p:sp>
      <p:grpSp>
        <p:nvGrpSpPr>
          <p:cNvPr id="239" name="TEACH-2-student-move" descr="TEACH 2 · Use strategies and tasks to engage students in rigorous work"/>
          <p:cNvGrpSpPr/>
          <p:nvPr/>
        </p:nvGrpSpPr>
        <p:grpSpPr>
          <a:xfrm>
            <a:off x="502920" y="3410712"/>
            <a:ext cx="11186160" cy="731520"/>
            <a:chOff x="502920" y="3410712"/>
            <a:chExt cx="11186160" cy="731520"/>
          </a:xfrm>
        </p:grpSpPr>
        <p:sp>
          <p:nvSpPr>
            <p:cNvPr id="240" name="TEACH-move-card"/>
            <p:cNvSpPr/>
            <p:nvPr/>
          </p:nvSpPr>
          <p:spPr>
            <a:xfrm>
              <a:off x="502920" y="34107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1" name="TEACH-move-rule"/>
            <p:cNvSpPr/>
            <p:nvPr/>
          </p:nvSpPr>
          <p:spPr>
            <a:xfrm>
              <a:off x="548640" y="3549701"/>
              <a:ext cx="100584" cy="453542"/>
            </a:xfrm>
            <a:prstGeom prst="roundRect">
              <a:avLst>
                <a:gd name="adj" fmla="val 50000"/>
              </a:avLst>
            </a:prstGeom>
            <a:solidFill>
              <a:srgbClr val="01708C"/>
            </a:solidFill>
            <a:ln>
              <a:noFill/>
            </a:ln>
          </p:spPr>
          <p:txBody>
            <a:bodyPr/>
            <a:lstStyle/>
            <a:p>
              <a:endParaRPr/>
            </a:p>
          </p:txBody>
        </p:sp>
        <p:sp>
          <p:nvSpPr>
            <p:cNvPr id="242" name="TEACH-move-text"/>
            <p:cNvSpPr txBox="1"/>
            <p:nvPr/>
          </p:nvSpPr>
          <p:spPr>
            <a:xfrm>
              <a:off x="822960" y="34107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4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3" name="Google Shape;243;p43"/>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4" name="Google Shape;244;p43"/>
          <p:cNvSpPr txBox="1"/>
          <p:nvPr/>
        </p:nvSpPr>
        <p:spPr>
          <a:xfrm>
            <a:off x="484560" y="936101"/>
            <a:ext cx="7840574" cy="9472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ice cream sandwiches?</a:t>
            </a:r>
            <a:endParaRPr b="0" i="0" sz="1400" u="none" cap="none" strike="noStrike">
              <a:solidFill>
                <a:srgbClr val="000000"/>
              </a:solidFill>
              <a:latin typeface="Arial"/>
              <a:ea typeface="Arial"/>
              <a:cs typeface="Arial"/>
              <a:sym typeface="Arial"/>
            </a:endParaRPr>
          </a:p>
        </p:txBody>
      </p:sp>
      <p:graphicFrame>
        <p:nvGraphicFramePr>
          <p:cNvPr id="245" name="Google Shape;245;p43"/>
          <p:cNvGraphicFramePr/>
          <p:nvPr/>
        </p:nvGraphicFramePr>
        <p:xfrm>
          <a:off x="505579" y="2721802"/>
          <a:ext cx="3000000" cy="3000000"/>
        </p:xfrm>
        <a:graphic>
          <a:graphicData uri="http://schemas.openxmlformats.org/drawingml/2006/table">
            <a:tbl>
              <a:tblPr bandRow="1" firstRow="1">
                <a:noFill/>
                <a:tableStyleId>{C7599C9F-E525-49FF-B96C-03CE03877915}</a:tableStyleId>
              </a:tblPr>
              <a:tblGrid>
                <a:gridCol w="3184100"/>
                <a:gridCol w="2734050"/>
              </a:tblGrid>
              <a:tr h="60310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246" name="Google Shape;246;p43"/>
          <p:cNvSpPr/>
          <p:nvPr/>
        </p:nvSpPr>
        <p:spPr>
          <a:xfrm>
            <a:off x="505579" y="2205272"/>
            <a:ext cx="5918162"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Ice Cream Sandwiches</a:t>
            </a:r>
            <a:endParaRPr b="0" i="0" sz="1400" u="none" cap="none" strike="noStrike">
              <a:solidFill>
                <a:srgbClr val="000000"/>
              </a:solidFill>
              <a:latin typeface="Arial"/>
              <a:ea typeface="Arial"/>
              <a:cs typeface="Arial"/>
              <a:sym typeface="Arial"/>
            </a:endParaRPr>
          </a:p>
        </p:txBody>
      </p:sp>
      <p:sp>
        <p:nvSpPr>
          <p:cNvPr id="2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62</a:t>
            </a:r>
          </a:p>
        </p:txBody>
      </p:sp>
      <p:sp xmlns:p="http://schemas.openxmlformats.org/presentationml/2006/main" xmlns:a="http://schemas.openxmlformats.org/drawingml/2006/main">
        <p:nvSpPr>
          <p:cNvPr id="24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6"/>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338" name="Google Shape;33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6"/>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Determine the Area of Trapezoids</a:t>
            </a:r>
            <a:endParaRPr/>
          </a:p>
        </p:txBody>
      </p:sp>
      <p:sp>
        <p:nvSpPr>
          <p:cNvPr id="341" name="Google Shape;341;p46"/>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6.GR.1</a:t>
            </a:r>
            <a:endParaRPr/>
          </a:p>
        </p:txBody>
      </p:sp>
      <p:sp>
        <p:nvSpPr>
          <p:cNvPr id="342" name="Google Shape;342;p46"/>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6"/>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6"/>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6"/>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6"/>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area of a trapezoid using the formula A = ½(b1 + b2) × h.</a:t>
            </a:r>
            <a:endParaRPr/>
          </a:p>
        </p:txBody>
      </p:sp>
      <p:sp>
        <p:nvSpPr>
          <p:cNvPr id="347" name="Google Shape;347;p46"/>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6"/>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6"/>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6"/>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6"/>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steps using the words trapezoid, base, height, and area.</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62</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the parallel bases and height.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Explain the half-sum formula.</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area units.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0" name="Google Shape;400;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8</a:t>
            </a:r>
            <a:endParaRPr/>
          </a:p>
        </p:txBody>
      </p:sp>
      <p:sp>
        <p:nvSpPr>
          <p:cNvPr id="403" name="Google Shape;403;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04" name="Google Shape;404;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6" name="Google Shape;406;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Area of Trapezoids</a:t>
            </a:r>
            <a:endParaRPr/>
          </a:p>
        </p:txBody>
      </p:sp>
      <p:sp>
        <p:nvSpPr>
          <p:cNvPr id="407" name="Google Shape;407;p48"/>
          <p:cNvSpPr/>
          <p:nvPr/>
        </p:nvSpPr>
        <p:spPr>
          <a:xfrm>
            <a:off x="658368" y="273786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space inside a trapezoid. Formula: A = 1/2(b₁ + b₂)h.</a:t>
            </a:r>
            <a:endParaRPr/>
          </a:p>
        </p:txBody>
      </p:sp>
      <p:sp>
        <p:nvSpPr>
          <p:cNvPr id="409" name="Google Shape;409;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2" name="Google Shape;412;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 1/2(b₁ + b₂)h</a:t>
            </a:r>
            <a:endParaRPr/>
          </a:p>
        </p:txBody>
      </p:sp>
      <p:pic>
        <p:nvPicPr>
          <p:cNvPr descr="area-of-trapezoids.png" id="413" name="Google Shape;413;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62</a:t>
            </a:r>
          </a:p>
        </p:txBody>
      </p:sp>
      <p:sp xmlns:p="http://schemas.openxmlformats.org/presentationml/2006/main" xmlns:a="http://schemas.openxmlformats.org/drawingml/2006/main">
        <p:nvSpPr>
          <p:cNvPr id="41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“Area of Trapezoids”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8" name="Google Shape;41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21" name="Google Shape;42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22" name="Google Shape;42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4" name="Google Shape;424;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Trapezoid</a:t>
            </a:r>
            <a:endParaRPr/>
          </a:p>
        </p:txBody>
      </p:sp>
      <p:sp>
        <p:nvSpPr>
          <p:cNvPr id="425" name="Google Shape;425;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four-sided shape with just one pair of parallel sides.</a:t>
            </a:r>
            <a:endParaRPr/>
          </a:p>
        </p:txBody>
      </p:sp>
      <p:sp>
        <p:nvSpPr>
          <p:cNvPr id="427" name="Google Shape;427;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0" name="Google Shape;430;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table top wider than the bottom shelf — the top and bottom edges are parallel, the two sides slant inward</a:t>
            </a:r>
            <a:endParaRPr/>
          </a:p>
        </p:txBody>
      </p:sp>
      <p:pic>
        <p:nvPicPr>
          <p:cNvPr descr="trapezoid.png" id="431" name="Google Shape;43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62</a:t>
            </a:r>
          </a:p>
        </p:txBody>
      </p:sp>
      <p:sp xmlns:p="http://schemas.openxmlformats.org/presentationml/2006/main" xmlns:a="http://schemas.openxmlformats.org/drawingml/2006/main">
        <p:nvSpPr>
          <p:cNvPr id="43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“Trapezoid”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6" name="Google Shape;43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9" name="Google Shape;43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40" name="Google Shape;44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2" name="Google Shape;442;p50"/>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Parallel</a:t>
            </a:r>
            <a:endParaRPr/>
          </a:p>
        </p:txBody>
      </p:sp>
      <p:sp>
        <p:nvSpPr>
          <p:cNvPr id="443" name="Google Shape;443;p50"/>
          <p:cNvSpPr/>
          <p:nvPr/>
        </p:nvSpPr>
        <p:spPr>
          <a:xfrm>
            <a:off x="658368" y="25092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50"/>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or sides that stay the same distance apart and never meet.</a:t>
            </a:r>
            <a:endParaRPr/>
          </a:p>
        </p:txBody>
      </p:sp>
      <p:sp>
        <p:nvSpPr>
          <p:cNvPr id="445" name="Google Shape;445;p50"/>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50"/>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50"/>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8" name="Google Shape;448;p50"/>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top and bottom of a parallelogram never get closer together — matching arrowheads (›) mark one parallel pair, double arrowheads (››) mark the other.</a:t>
            </a:r>
            <a:endParaRPr/>
          </a:p>
        </p:txBody>
      </p:sp>
      <p:pic>
        <p:nvPicPr>
          <p:cNvPr descr="parallel.png" id="449" name="Google Shape;44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62</a:t>
            </a:r>
          </a:p>
        </p:txBody>
      </p:sp>
      <p:sp xmlns:p="http://schemas.openxmlformats.org/presentationml/2006/main" xmlns:a="http://schemas.openxmlformats.org/drawingml/2006/main">
        <p:nvSpPr>
          <p:cNvPr id="45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“Parallel”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4" name="Google Shape;45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7" name="Google Shape;45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58" name="Google Shape;45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0" name="Google Shape;460;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 1 (b1)</a:t>
            </a:r>
            <a:endParaRPr/>
          </a:p>
        </p:txBody>
      </p:sp>
      <p:sp>
        <p:nvSpPr>
          <p:cNvPr id="461" name="Google Shape;461;p51"/>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of the two parallel sides of a trapezoid.</a:t>
            </a:r>
            <a:endParaRPr/>
          </a:p>
        </p:txBody>
      </p:sp>
      <p:sp>
        <p:nvSpPr>
          <p:cNvPr id="463" name="Google Shape;463;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6" name="Google Shape;466;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the bottom of the trapezoid is 10 ft, then b₁ = 10 ft in the formula A = ½(b₁ + b₂) × h</a:t>
            </a:r>
            <a:endParaRPr/>
          </a:p>
        </p:txBody>
      </p:sp>
      <p:pic>
        <p:nvPicPr>
          <p:cNvPr descr="base-1-trapezoid.png" id="467" name="Google Shape;467;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62</a:t>
            </a:r>
          </a:p>
        </p:txBody>
      </p:sp>
      <p:sp xmlns:p="http://schemas.openxmlformats.org/presentationml/2006/main" xmlns:a="http://schemas.openxmlformats.org/drawingml/2006/main">
        <p:nvSpPr>
          <p:cNvPr id="46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1 (b1)”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2" name="Google Shape;47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5" name="Google Shape;47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76" name="Google Shape;47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8" name="Google Shape;478;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 2 (b2)</a:t>
            </a:r>
            <a:endParaRPr/>
          </a:p>
        </p:txBody>
      </p:sp>
      <p:sp>
        <p:nvSpPr>
          <p:cNvPr id="479" name="Google Shape;479;p52"/>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other parallel side of a trapezoid.</a:t>
            </a:r>
            <a:endParaRPr/>
          </a:p>
        </p:txBody>
      </p:sp>
      <p:sp>
        <p:nvSpPr>
          <p:cNvPr id="481" name="Google Shape;481;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4" name="Google Shape;484;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the top of the trapezoid is 6 ft, then b₂ = 6 ft; both bases are parallel to each other</a:t>
            </a:r>
            <a:endParaRPr/>
          </a:p>
        </p:txBody>
      </p:sp>
      <p:pic>
        <p:nvPicPr>
          <p:cNvPr descr="base-2-trapezoid.png" id="485" name="Google Shape;485;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62</a:t>
            </a:r>
          </a:p>
        </p:txBody>
      </p:sp>
      <p:sp xmlns:p="http://schemas.openxmlformats.org/presentationml/2006/main" xmlns:a="http://schemas.openxmlformats.org/drawingml/2006/main">
        <p:nvSpPr>
          <p:cNvPr id="48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2 (b2)”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0" name="Google Shape;49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3" name="Google Shape;49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494" name="Google Shape;49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6" name="Google Shape;496;p53"/>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Height</a:t>
            </a:r>
            <a:endParaRPr/>
          </a:p>
        </p:txBody>
      </p:sp>
      <p:sp>
        <p:nvSpPr>
          <p:cNvPr id="497" name="Google Shape;497;p53"/>
          <p:cNvSpPr/>
          <p:nvPr/>
        </p:nvSpPr>
        <p:spPr>
          <a:xfrm>
            <a:off x="658368" y="25092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3"/>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straight-up distance between the two parallel sides.</a:t>
            </a:r>
            <a:endParaRPr/>
          </a:p>
        </p:txBody>
      </p:sp>
      <p:sp>
        <p:nvSpPr>
          <p:cNvPr id="499" name="Google Shape;499;p53"/>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3"/>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3"/>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2" name="Google Shape;502;p53"/>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dashed vertical line from the top base straight down to the bottom base at a 90° angle — NOT the slanted side</a:t>
            </a:r>
            <a:endParaRPr/>
          </a:p>
        </p:txBody>
      </p:sp>
      <p:pic>
        <p:nvPicPr>
          <p:cNvPr descr="height-trapezoid.png" id="503" name="Google Shape;503;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62</a:t>
            </a:r>
          </a:p>
        </p:txBody>
      </p:sp>
      <p:sp xmlns:p="http://schemas.openxmlformats.org/presentationml/2006/main" xmlns:a="http://schemas.openxmlformats.org/drawingml/2006/main">
        <p:nvSpPr>
          <p:cNvPr id="50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“Height”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8" name="Google Shape;508;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11" name="Google Shape;511;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512" name="Google Shape;512;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4" name="Google Shape;514;p54"/>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Perpendicular</a:t>
            </a:r>
            <a:endParaRPr/>
          </a:p>
        </p:txBody>
      </p:sp>
      <p:sp>
        <p:nvSpPr>
          <p:cNvPr id="515" name="Google Shape;515;p54"/>
          <p:cNvSpPr/>
          <p:nvPr/>
        </p:nvSpPr>
        <p:spPr>
          <a:xfrm>
            <a:off x="658368" y="2509266"/>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4"/>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that meet to make a square corner (90 degrees).</a:t>
            </a:r>
            <a:endParaRPr/>
          </a:p>
        </p:txBody>
      </p:sp>
      <p:sp>
        <p:nvSpPr>
          <p:cNvPr id="517" name="Google Shape;517;p54"/>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4"/>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4"/>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20" name="Google Shape;520;p54"/>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dashed height meets the base at a square corner — the small 90° box is what makes it perpendicular, not slanted.</a:t>
            </a:r>
            <a:endParaRPr/>
          </a:p>
        </p:txBody>
      </p:sp>
      <p:pic>
        <p:nvPicPr>
          <p:cNvPr descr="perpendicular.png" id="521" name="Google Shape;521;p5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62</a:t>
            </a:r>
          </a:p>
        </p:txBody>
      </p:sp>
      <p:sp xmlns:p="http://schemas.openxmlformats.org/presentationml/2006/main" xmlns:a="http://schemas.openxmlformats.org/drawingml/2006/main">
        <p:nvSpPr>
          <p:cNvPr id="522"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“Perpendicular”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6" name="Google Shape;526;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29" name="Google Shape;529;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5-3 · Determine the Area of Trapezoids</a:t>
            </a:r>
            <a:endParaRPr/>
          </a:p>
        </p:txBody>
      </p:sp>
      <p:sp>
        <p:nvSpPr>
          <p:cNvPr id="530" name="Google Shape;530;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2" name="Google Shape;532;p55"/>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Area</a:t>
            </a:r>
            <a:endParaRPr/>
          </a:p>
        </p:txBody>
      </p:sp>
      <p:sp>
        <p:nvSpPr>
          <p:cNvPr id="533" name="Google Shape;533;p55"/>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5"/>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space is inside a flat shape.</a:t>
            </a:r>
            <a:endParaRPr/>
          </a:p>
        </p:txBody>
      </p:sp>
      <p:sp>
        <p:nvSpPr>
          <p:cNvPr id="535" name="Google Shape;535;p55"/>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5"/>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5"/>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8" name="Google Shape;538;p55"/>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trapezoid with b₁ = 10, b₂ = 6, h = 4 has area = ½(10 + 6) × 4 = 32 sq units</a:t>
            </a:r>
            <a:endParaRPr/>
          </a:p>
        </p:txBody>
      </p:sp>
      <p:pic>
        <p:nvPicPr>
          <p:cNvPr descr="area.png" id="539" name="Google Shape;539;p55"/>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62</a:t>
            </a:r>
          </a:p>
        </p:txBody>
      </p:sp>
      <p:sp xmlns:p="http://schemas.openxmlformats.org/presentationml/2006/main" xmlns:a="http://schemas.openxmlformats.org/drawingml/2006/main">
        <p:nvSpPr>
          <p:cNvPr id="54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“Area” to explain the example. Point to evidence.</a:t>
            </a:r>
            <a:endParaRPr lang="en-US" sz="20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8" name="Google Shape;608;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9" name="Google Shape;609;p59"/>
          <p:cNvSpPr/>
          <p:nvPr/>
        </p:nvSpPr>
        <p:spPr>
          <a:xfrm>
            <a:off x="635958" y="5475624"/>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use math to help identify a problem in your class or community?</a:t>
            </a:r>
            <a:endParaRPr b="0" i="0" sz="1400" u="none" cap="none" strike="noStrike">
              <a:solidFill>
                <a:srgbClr val="000000"/>
              </a:solidFill>
              <a:latin typeface="Arial"/>
              <a:ea typeface="Arial"/>
              <a:cs typeface="Arial"/>
              <a:sym typeface="Arial"/>
            </a:endParaRPr>
          </a:p>
        </p:txBody>
      </p:sp>
      <p:sp>
        <p:nvSpPr>
          <p:cNvPr id="610" name="Google Shape;610;p59"/>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611" name="Google Shape;611;p59"/>
          <p:cNvSpPr txBox="1"/>
          <p:nvPr/>
        </p:nvSpPr>
        <p:spPr>
          <a:xfrm>
            <a:off x="474055" y="936100"/>
            <a:ext cx="3904129"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pic>
        <p:nvPicPr>
          <p:cNvPr descr="A picture containing sky, outdoor, building&#10;&#10;Description automatically generated" id="612" name="Google Shape;612;p59"/>
          <p:cNvPicPr preferRelativeResize="0"/>
          <p:nvPr/>
        </p:nvPicPr>
        <p:blipFill rotWithShape="1">
          <a:blip r:embed="rId2">
            <a:alphaModFix/>
          </a:blip>
          <a:srcRect b="0" l="0" r="0" t="0"/>
          <a:stretch/>
        </p:blipFill>
        <p:spPr>
          <a:xfrm>
            <a:off x="4651346" y="1249108"/>
            <a:ext cx="4680000" cy="3244159"/>
          </a:xfrm>
          <a:prstGeom prst="rect">
            <a:avLst/>
          </a:prstGeom>
          <a:noFill/>
          <a:ln>
            <a:noFill/>
          </a:ln>
        </p:spPr>
      </p:pic>
      <p:pic>
        <p:nvPicPr>
          <p:cNvPr id="613" name="Google Shape;613;p59"/>
          <p:cNvPicPr preferRelativeResize="0"/>
          <p:nvPr/>
        </p:nvPicPr>
        <p:blipFill rotWithShape="1">
          <a:blip r:embed="rId3">
            <a:alphaModFix/>
          </a:blip>
          <a:srcRect b="0" l="0" r="0" t="0"/>
          <a:stretch/>
        </p:blipFill>
        <p:spPr>
          <a:xfrm>
            <a:off x="513664" y="4580314"/>
            <a:ext cx="5054600" cy="838200"/>
          </a:xfrm>
          <a:prstGeom prst="rect">
            <a:avLst/>
          </a:prstGeom>
          <a:noFill/>
          <a:ln>
            <a:noFill/>
          </a:ln>
        </p:spPr>
      </p:pic>
      <p:sp>
        <p:nvSpPr>
          <p:cNvPr id="614" name="Google Shape;614;p59"/>
          <p:cNvSpPr txBox="1"/>
          <p:nvPr/>
        </p:nvSpPr>
        <p:spPr>
          <a:xfrm>
            <a:off x="3208120" y="4705162"/>
            <a:ext cx="236014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62</a:t>
            </a:r>
          </a:p>
        </p:txBody>
      </p:sp>
      <p:grpSp>
        <p:nvGrpSpPr>
          <p:cNvPr id="615" name="TEACH-3-student-move" descr="TEACH 3 · Use intentional questioning to deepen learning"/>
          <p:cNvGrpSpPr/>
          <p:nvPr/>
        </p:nvGrpSpPr>
        <p:grpSpPr>
          <a:xfrm>
            <a:off x="6187440" y="4798968"/>
            <a:ext cx="5501640" cy="594360"/>
            <a:chOff x="6187440" y="4798968"/>
            <a:chExt cx="5501640" cy="594360"/>
          </a:xfrm>
        </p:grpSpPr>
        <p:sp>
          <p:nvSpPr>
            <p:cNvPr id="616" name="TEACH-move-card"/>
            <p:cNvSpPr/>
            <p:nvPr/>
          </p:nvSpPr>
          <p:spPr>
            <a:xfrm>
              <a:off x="6187440" y="4798968"/>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17" name="TEACH-move-rule"/>
            <p:cNvSpPr/>
            <p:nvPr/>
          </p:nvSpPr>
          <p:spPr>
            <a:xfrm>
              <a:off x="6233160" y="4911896"/>
              <a:ext cx="100584" cy="368504"/>
            </a:xfrm>
            <a:prstGeom prst="roundRect">
              <a:avLst>
                <a:gd name="adj" fmla="val 50000"/>
              </a:avLst>
            </a:prstGeom>
            <a:solidFill>
              <a:srgbClr val="01708C"/>
            </a:solidFill>
            <a:ln>
              <a:noFill/>
            </a:ln>
          </p:spPr>
          <p:txBody>
            <a:bodyPr/>
            <a:lstStyle/>
            <a:p>
              <a:endParaRPr/>
            </a:p>
          </p:txBody>
        </p:sp>
        <p:sp>
          <p:nvSpPr>
            <p:cNvPr id="618" name="TEACH-move-text"/>
            <p:cNvSpPr txBox="1"/>
            <p:nvPr/>
          </p:nvSpPr>
          <p:spPr>
            <a:xfrm>
              <a:off x="6507480" y="4798968"/>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360" name="Google Shape;36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7"/>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7"/>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7"/>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7"/>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7"/>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Area of Trapezoids</a:t>
            </a:r>
            <a:endParaRPr/>
          </a:p>
        </p:txBody>
      </p:sp>
      <p:sp>
        <p:nvSpPr>
          <p:cNvPr id="367" name="Google Shape;367;p47"/>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space inside a trapezoid</a:t>
            </a:r>
            <a:endParaRPr/>
          </a:p>
        </p:txBody>
      </p:sp>
      <p:sp>
        <p:nvSpPr>
          <p:cNvPr id="368" name="Google Shape;368;p47"/>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7"/>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7"/>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Trapezoid</a:t>
            </a:r>
            <a:endParaRPr/>
          </a:p>
        </p:txBody>
      </p:sp>
      <p:sp>
        <p:nvSpPr>
          <p:cNvPr id="371" name="Google Shape;371;p47"/>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four-sided shape with just one pair of parallel sides</a:t>
            </a:r>
            <a:endParaRPr/>
          </a:p>
        </p:txBody>
      </p:sp>
      <p:sp>
        <p:nvSpPr>
          <p:cNvPr id="372" name="Google Shape;372;p47"/>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7"/>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7"/>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Parallel</a:t>
            </a:r>
            <a:endParaRPr/>
          </a:p>
        </p:txBody>
      </p:sp>
      <p:sp>
        <p:nvSpPr>
          <p:cNvPr id="375" name="Google Shape;375;p47"/>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00" u="none" cap="none" strike="noStrike">
                <a:solidFill>
                  <a:srgbClr val="475569"/>
                </a:solidFill>
                <a:latin typeface="Arial"/>
                <a:ea typeface="Arial"/>
                <a:cs typeface="Arial"/>
                <a:sym typeface="Arial"/>
              </a:rPr>
              <a:t>Two lines or sides that stay the same distance apart and never meet</a:t>
            </a:r>
            <a:endParaRPr/>
          </a:p>
        </p:txBody>
      </p:sp>
      <p:sp>
        <p:nvSpPr>
          <p:cNvPr id="376" name="Google Shape;376;p47"/>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7"/>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7"/>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Base 1 (b1)</a:t>
            </a:r>
            <a:endParaRPr/>
          </a:p>
        </p:txBody>
      </p:sp>
      <p:sp>
        <p:nvSpPr>
          <p:cNvPr id="379" name="Google Shape;379;p47"/>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One of the two parallel sides of a trapezoid</a:t>
            </a:r>
            <a:endParaRPr/>
          </a:p>
        </p:txBody>
      </p:sp>
      <p:sp>
        <p:nvSpPr>
          <p:cNvPr id="380" name="Google Shape;380;p47"/>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7"/>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7"/>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Base 2 (b2)</a:t>
            </a:r>
            <a:endParaRPr/>
          </a:p>
        </p:txBody>
      </p:sp>
      <p:sp>
        <p:nvSpPr>
          <p:cNvPr id="383" name="Google Shape;383;p47"/>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other parallel side of a trapezoid</a:t>
            </a:r>
            <a:endParaRPr/>
          </a:p>
        </p:txBody>
      </p:sp>
      <p:sp>
        <p:nvSpPr>
          <p:cNvPr id="384" name="Google Shape;384;p47"/>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7"/>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7"/>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Height</a:t>
            </a:r>
            <a:endParaRPr/>
          </a:p>
        </p:txBody>
      </p:sp>
      <p:sp>
        <p:nvSpPr>
          <p:cNvPr id="387" name="Google Shape;387;p47"/>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straight-up distance between the two parallel sides</a:t>
            </a:r>
            <a:endParaRPr/>
          </a:p>
        </p:txBody>
      </p:sp>
      <p:sp>
        <p:nvSpPr>
          <p:cNvPr id="388" name="Google Shape;388;p47"/>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7"/>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7"/>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Perpendicular</a:t>
            </a:r>
            <a:endParaRPr/>
          </a:p>
        </p:txBody>
      </p:sp>
      <p:sp>
        <p:nvSpPr>
          <p:cNvPr id="391" name="Google Shape;391;p47"/>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Two lines that meet to make a square corner (90 degrees)</a:t>
            </a:r>
            <a:endParaRPr/>
          </a:p>
        </p:txBody>
      </p:sp>
      <p:sp>
        <p:nvSpPr>
          <p:cNvPr id="392" name="Google Shape;392;p47"/>
          <p:cNvSpPr/>
          <p:nvPr/>
        </p:nvSpPr>
        <p:spPr>
          <a:xfrm>
            <a:off x="6260576"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7"/>
          <p:cNvSpPr/>
          <p:nvPr/>
        </p:nvSpPr>
        <p:spPr>
          <a:xfrm>
            <a:off x="6260576"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7"/>
          <p:cNvSpPr txBox="1"/>
          <p:nvPr/>
        </p:nvSpPr>
        <p:spPr>
          <a:xfrm>
            <a:off x="6571472"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Area</a:t>
            </a:r>
            <a:endParaRPr/>
          </a:p>
        </p:txBody>
      </p:sp>
      <p:sp>
        <p:nvSpPr>
          <p:cNvPr id="395" name="Google Shape;395;p47"/>
          <p:cNvSpPr txBox="1"/>
          <p:nvPr/>
        </p:nvSpPr>
        <p:spPr>
          <a:xfrm>
            <a:off x="6571472"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much space is inside a flat shape</a:t>
            </a:r>
            <a:endParaRPr/>
          </a:p>
        </p:txBody>
      </p:sp>
      <p:sp>
        <p:nvSpPr>
          <p:cNvPr id="39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62</a:t>
            </a:r>
          </a:p>
        </p:txBody>
      </p:sp>
      <p:grpSp>
        <p:nvGrpSpPr>
          <p:cNvPr id="397" name="TEACH-5-student-move" descr="TEACH 5 · Facilitate student interactions and academic talk"/>
          <p:cNvGrpSpPr/>
          <p:nvPr/>
        </p:nvGrpSpPr>
        <p:grpSpPr>
          <a:xfrm>
            <a:off x="502920" y="649224"/>
            <a:ext cx="11186160" cy="320040"/>
            <a:chOff x="502920" y="649224"/>
            <a:chExt cx="11186160" cy="320040"/>
          </a:xfrm>
        </p:grpSpPr>
        <p:sp>
          <p:nvSpPr>
            <p:cNvPr id="398" name="TEACH-move-card"/>
            <p:cNvSpPr/>
            <p:nvPr/>
          </p:nvSpPr>
          <p:spPr>
            <a:xfrm>
              <a:off x="502920" y="64922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99" name="TEACH-move-rule"/>
            <p:cNvSpPr/>
            <p:nvPr/>
          </p:nvSpPr>
          <p:spPr>
            <a:xfrm>
              <a:off x="548640" y="710032"/>
              <a:ext cx="100584" cy="198424"/>
            </a:xfrm>
            <a:prstGeom prst="roundRect">
              <a:avLst>
                <a:gd name="adj" fmla="val 50000"/>
              </a:avLst>
            </a:prstGeom>
            <a:solidFill>
              <a:srgbClr val="01708C"/>
            </a:solidFill>
            <a:ln>
              <a:noFill/>
            </a:ln>
          </p:spPr>
          <p:txBody>
            <a:bodyPr/>
            <a:lstStyle/>
            <a:p>
              <a:endParaRPr/>
            </a:p>
          </p:txBody>
        </p:sp>
        <p:sp>
          <p:nvSpPr>
            <p:cNvPr id="400" name="TEACH-move-text"/>
            <p:cNvSpPr txBox="1"/>
            <p:nvPr/>
          </p:nvSpPr>
          <p:spPr>
            <a:xfrm>
              <a:off x="822960" y="64922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cxnSp>
        <p:nvCxnSpPr>
          <p:cNvPr id="629" name="Google Shape;629;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0" name="Google Shape;630;p61"/>
          <p:cNvSpPr/>
          <p:nvPr/>
        </p:nvSpPr>
        <p:spPr>
          <a:xfrm>
            <a:off x="614744" y="5802716"/>
            <a:ext cx="9839441"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are the important quantities in the problem?</a:t>
            </a:r>
            <a:endParaRPr b="0" i="0" sz="1400" u="none" cap="none" strike="noStrike">
              <a:solidFill>
                <a:srgbClr val="000000"/>
              </a:solidFill>
              <a:latin typeface="Arial"/>
              <a:ea typeface="Arial"/>
              <a:cs typeface="Arial"/>
              <a:sym typeface="Arial"/>
            </a:endParaRPr>
          </a:p>
        </p:txBody>
      </p:sp>
      <p:pic>
        <p:nvPicPr>
          <p:cNvPr id="631" name="Google Shape;631;p61"/>
          <p:cNvPicPr preferRelativeResize="0"/>
          <p:nvPr/>
        </p:nvPicPr>
        <p:blipFill rotWithShape="1">
          <a:blip r:embed="rId3">
            <a:alphaModFix/>
          </a:blip>
          <a:srcRect b="0" l="0" r="0" t="0"/>
          <a:stretch/>
        </p:blipFill>
        <p:spPr>
          <a:xfrm>
            <a:off x="494267" y="5017017"/>
            <a:ext cx="7073900" cy="838200"/>
          </a:xfrm>
          <a:prstGeom prst="rect">
            <a:avLst/>
          </a:prstGeom>
          <a:noFill/>
          <a:ln>
            <a:noFill/>
          </a:ln>
        </p:spPr>
      </p:pic>
      <p:sp>
        <p:nvSpPr>
          <p:cNvPr id="632" name="Google Shape;632;p61"/>
          <p:cNvSpPr/>
          <p:nvPr/>
        </p:nvSpPr>
        <p:spPr>
          <a:xfrm>
            <a:off x="3289108" y="5174507"/>
            <a:ext cx="522709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Describing Quantities</a:t>
            </a:r>
            <a:r>
              <a:rPr b="0" i="0" lang="en-US" sz="2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633" name="Google Shape;633;p61"/>
          <p:cNvPicPr preferRelativeResize="0"/>
          <p:nvPr/>
        </p:nvPicPr>
        <p:blipFill rotWithShape="1">
          <a:blip r:embed="rId4">
            <a:alphaModFix/>
          </a:blip>
          <a:srcRect b="0" l="0" r="0" t="0"/>
          <a:stretch/>
        </p:blipFill>
        <p:spPr>
          <a:xfrm>
            <a:off x="7874955" y="2005012"/>
            <a:ext cx="3295650" cy="1476375"/>
          </a:xfrm>
          <a:prstGeom prst="rect">
            <a:avLst/>
          </a:prstGeom>
          <a:noFill/>
          <a:ln>
            <a:noFill/>
          </a:ln>
        </p:spPr>
      </p:pic>
      <p:sp>
        <p:nvSpPr>
          <p:cNvPr id="634" name="Google Shape;634;p61"/>
          <p:cNvSpPr txBox="1"/>
          <p:nvPr/>
        </p:nvSpPr>
        <p:spPr>
          <a:xfrm>
            <a:off x="486000" y="936000"/>
            <a:ext cx="6790380" cy="16879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top of a table is in the shape of an isosceles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area of the tabletop?​</a:t>
            </a:r>
            <a:endParaRPr b="0" i="0" sz="1400" u="none" cap="none" strike="noStrike">
              <a:solidFill>
                <a:srgbClr val="000000"/>
              </a:solidFill>
              <a:latin typeface="Arial"/>
              <a:ea typeface="Arial"/>
              <a:cs typeface="Arial"/>
              <a:sym typeface="Arial"/>
            </a:endParaRPr>
          </a:p>
        </p:txBody>
      </p:sp>
      <p:sp>
        <p:nvSpPr>
          <p:cNvPr id="635" name="Google Shape;635;p61"/>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6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62</a:t>
            </a:r>
          </a:p>
        </p:txBody>
      </p:sp>
      <p:sp xmlns:p="http://schemas.openxmlformats.org/presentationml/2006/main" xmlns:a="http://schemas.openxmlformats.org/drawingml/2006/main">
        <p:nvSpPr>
          <p:cNvPr id="637"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what a row or column represents. Use it as evidence for your answer.</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cxnSp>
        <p:nvCxnSpPr>
          <p:cNvPr id="640" name="Google Shape;640;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1" name="Google Shape;641;p62"/>
          <p:cNvSpPr txBox="1"/>
          <p:nvPr/>
        </p:nvSpPr>
        <p:spPr>
          <a:xfrm>
            <a:off x="486000" y="936000"/>
            <a:ext cx="6930680" cy="21730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top of a table is in the shape of an isosceles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is the area of the tabletop?</a:t>
            </a:r>
            <a:endParaRPr b="0" i="0" sz="1400" u="none" cap="none" strike="noStrike">
              <a:solidFill>
                <a:srgbClr val="000000"/>
              </a:solidFill>
              <a:latin typeface="Arial"/>
              <a:ea typeface="Arial"/>
              <a:cs typeface="Arial"/>
              <a:sym typeface="Arial"/>
            </a:endParaRPr>
          </a:p>
        </p:txBody>
      </p:sp>
      <p:sp>
        <p:nvSpPr>
          <p:cNvPr id="642" name="Google Shape;642;p62"/>
          <p:cNvSpPr txBox="1"/>
          <p:nvPr/>
        </p:nvSpPr>
        <p:spPr>
          <a:xfrm>
            <a:off x="484564" y="5139773"/>
            <a:ext cx="8187487" cy="10964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do you know about trapezoids?</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id="643" name="Google Shape;643;p62"/>
          <p:cNvPicPr preferRelativeResize="0"/>
          <p:nvPr/>
        </p:nvPicPr>
        <p:blipFill rotWithShape="1">
          <a:blip r:embed="rId3">
            <a:alphaModFix/>
          </a:blip>
          <a:srcRect b="0" l="0" r="0" t="0"/>
          <a:stretch/>
        </p:blipFill>
        <p:spPr>
          <a:xfrm>
            <a:off x="7874955" y="2005012"/>
            <a:ext cx="3295650" cy="1476375"/>
          </a:xfrm>
          <a:prstGeom prst="rect">
            <a:avLst/>
          </a:prstGeom>
          <a:noFill/>
          <a:ln>
            <a:noFill/>
          </a:ln>
        </p:spPr>
      </p:pic>
      <p:sp>
        <p:nvSpPr>
          <p:cNvPr id="644" name="Google Shape;644;p62"/>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6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62</a:t>
            </a:r>
          </a:p>
        </p:txBody>
      </p:sp>
      <p:sp xmlns:p="http://schemas.openxmlformats.org/presentationml/2006/main" xmlns:a="http://schemas.openxmlformats.org/drawingml/2006/main">
        <p:nvSpPr>
          <p:cNvPr id="646"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what a row or column represents. Use it as evidence for your answer.</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cxnSp>
        <p:nvCxnSpPr>
          <p:cNvPr id="660" name="Google Shape;660;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1" name="Google Shape;661;p64"/>
          <p:cNvSpPr txBox="1"/>
          <p:nvPr/>
        </p:nvSpPr>
        <p:spPr>
          <a:xfrm>
            <a:off x="484565" y="936100"/>
            <a:ext cx="7046535" cy="31532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This type of trapezoid is called an isosceles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Using what you know about isosceles triangles, what do you think it means for a trapezoid to be isosceles?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662" name="Google Shape;662;p64"/>
          <p:cNvSpPr txBox="1"/>
          <p:nvPr/>
        </p:nvSpPr>
        <p:spPr>
          <a:xfrm>
            <a:off x="642106" y="5367600"/>
            <a:ext cx="11549894" cy="10552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opposite non-parallel sides of the trapezoid are the same length.</a:t>
            </a:r>
            <a:endParaRPr b="0" i="0" sz="1400" u="none" cap="none" strike="noStrike">
              <a:solidFill>
                <a:srgbClr val="000000"/>
              </a:solidFill>
              <a:latin typeface="Arial"/>
              <a:ea typeface="Arial"/>
              <a:cs typeface="Arial"/>
              <a:sym typeface="Arial"/>
            </a:endParaRPr>
          </a:p>
        </p:txBody>
      </p:sp>
      <p:pic>
        <p:nvPicPr>
          <p:cNvPr id="663" name="Google Shape;663;p64"/>
          <p:cNvPicPr preferRelativeResize="0"/>
          <p:nvPr/>
        </p:nvPicPr>
        <p:blipFill rotWithShape="1">
          <a:blip r:embed="rId3">
            <a:alphaModFix/>
          </a:blip>
          <a:srcRect b="0" l="0" r="0" t="0"/>
          <a:stretch/>
        </p:blipFill>
        <p:spPr>
          <a:xfrm>
            <a:off x="7531100" y="1368187"/>
            <a:ext cx="4305300" cy="2781300"/>
          </a:xfrm>
          <a:prstGeom prst="rect">
            <a:avLst/>
          </a:prstGeom>
          <a:noFill/>
          <a:ln>
            <a:noFill/>
          </a:ln>
        </p:spPr>
      </p:pic>
      <p:sp>
        <p:nvSpPr>
          <p:cNvPr id="664" name="Google Shape;664;p64"/>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6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62</a:t>
            </a:r>
          </a:p>
        </p:txBody>
      </p:sp>
      <p:sp>
        <p:nvSpPr>
          <p:cNvPr id="666" name="EWL-COVER-1"/>
          <p:cNvSpPr/>
          <p:nvPr/>
        </p:nvSpPr>
        <p:spPr>
          <a:xfrm>
            <a:off x="587242" y="5312736"/>
            <a:ext cx="11601710" cy="1133784"/>
          </a:xfrm>
          <a:prstGeom prst="rect">
            <a:avLst/>
          </a:prstGeom>
          <a:solidFill>
            <a:srgbClr val="FFFFFF"/>
          </a:solidFill>
          <a:ln>
            <a:noFill/>
          </a:ln>
        </p:spPr>
        <p:txBody>
          <a:bodyPr/>
          <a:lstStyle/>
          <a:p/>
        </p:txBody>
      </p:sp>
      <p:sp xmlns:p="http://schemas.openxmlformats.org/presentationml/2006/main" xmlns:a="http://schemas.openxmlformats.org/drawingml/2006/main">
        <p:nvSpPr>
          <p:cNvPr id="667" name="TEACH-embedded-student-prompt" descr="Student thinking and response directions"/>
          <p:cNvSpPr txBox="1"/>
          <p:nvPr/>
        </p:nvSpPr>
        <p:spPr>
          <a:xfrm>
            <a:off x="594360" y="47183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cxnSp>
        <p:nvCxnSpPr>
          <p:cNvPr id="681" name="Google Shape;681;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2" name="Google Shape;682;p66"/>
          <p:cNvSpPr txBox="1"/>
          <p:nvPr/>
        </p:nvSpPr>
        <p:spPr>
          <a:xfrm>
            <a:off x="486000" y="5248266"/>
            <a:ext cx="6112655" cy="9493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triangles and a square</a:t>
            </a:r>
            <a:endParaRPr b="0" i="0" sz="1400" u="none" cap="none" strike="noStrike">
              <a:solidFill>
                <a:srgbClr val="000000"/>
              </a:solidFill>
              <a:latin typeface="Arial"/>
              <a:ea typeface="Arial"/>
              <a:cs typeface="Arial"/>
              <a:sym typeface="Arial"/>
            </a:endParaRPr>
          </a:p>
        </p:txBody>
      </p:sp>
      <p:pic>
        <p:nvPicPr>
          <p:cNvPr id="683" name="Google Shape;683;p66"/>
          <p:cNvPicPr preferRelativeResize="0"/>
          <p:nvPr/>
        </p:nvPicPr>
        <p:blipFill rotWithShape="1">
          <a:blip r:embed="rId3">
            <a:alphaModFix/>
          </a:blip>
          <a:srcRect b="0" l="0" r="0" t="0"/>
          <a:stretch/>
        </p:blipFill>
        <p:spPr>
          <a:xfrm>
            <a:off x="7531100" y="1368187"/>
            <a:ext cx="4305300" cy="2781300"/>
          </a:xfrm>
          <a:prstGeom prst="rect">
            <a:avLst/>
          </a:prstGeom>
          <a:noFill/>
          <a:ln>
            <a:noFill/>
          </a:ln>
        </p:spPr>
      </p:pic>
      <p:sp>
        <p:nvSpPr>
          <p:cNvPr id="684" name="Google Shape;684;p66"/>
          <p:cNvSpPr txBox="1"/>
          <p:nvPr/>
        </p:nvSpPr>
        <p:spPr>
          <a:xfrm>
            <a:off x="486000" y="936000"/>
            <a:ext cx="6801491" cy="9814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opposite non-parallel sides of an isosceles trapezoid are the same length.</a:t>
            </a:r>
            <a:endParaRPr b="0" i="0" sz="1400" u="none" cap="none" strike="noStrike">
              <a:solidFill>
                <a:srgbClr val="000000"/>
              </a:solidFill>
              <a:latin typeface="Arial"/>
              <a:ea typeface="Arial"/>
              <a:cs typeface="Arial"/>
              <a:sym typeface="Arial"/>
            </a:endParaRPr>
          </a:p>
        </p:txBody>
      </p:sp>
      <p:sp>
        <p:nvSpPr>
          <p:cNvPr id="685" name="Google Shape;685;p66"/>
          <p:cNvSpPr txBox="1"/>
          <p:nvPr/>
        </p:nvSpPr>
        <p:spPr>
          <a:xfrm>
            <a:off x="486000" y="2689484"/>
            <a:ext cx="6694156" cy="16104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other shapes do you see when you look at the trapezoid?</a:t>
            </a:r>
            <a:endParaRPr b="0" i="0" sz="1400" u="none" cap="none" strike="noStrike">
              <a:solidFill>
                <a:srgbClr val="000000"/>
              </a:solidFill>
              <a:latin typeface="Arial"/>
              <a:ea typeface="Arial"/>
              <a:cs typeface="Arial"/>
              <a:sym typeface="Arial"/>
            </a:endParaRPr>
          </a:p>
        </p:txBody>
      </p:sp>
      <p:sp>
        <p:nvSpPr>
          <p:cNvPr id="686" name="Google Shape;686;p66"/>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6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62</a:t>
            </a:r>
          </a:p>
        </p:txBody>
      </p:sp>
      <p:sp>
        <p:nvSpPr>
          <p:cNvPr id="688" name="EWL-COVER-1"/>
          <p:cNvSpPr/>
          <p:nvPr/>
        </p:nvSpPr>
        <p:spPr>
          <a:xfrm>
            <a:off x="431136" y="5193402"/>
            <a:ext cx="6222383" cy="1059062"/>
          </a:xfrm>
          <a:prstGeom prst="rect">
            <a:avLst/>
          </a:prstGeom>
          <a:solidFill>
            <a:srgbClr val="FFFFFF"/>
          </a:solidFill>
          <a:ln>
            <a:noFill/>
          </a:ln>
        </p:spPr>
        <p:txBody>
          <a:bodyPr/>
          <a:lstStyle/>
          <a:p/>
        </p:txBody>
      </p:sp>
      <p:sp xmlns:p="http://schemas.openxmlformats.org/presentationml/2006/main" xmlns:a="http://schemas.openxmlformats.org/drawingml/2006/main">
        <p:nvSpPr>
          <p:cNvPr id="689"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cxnSp>
        <p:nvCxnSpPr>
          <p:cNvPr id="703" name="Google Shape;703;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4" name="Google Shape;704;p68"/>
          <p:cNvSpPr txBox="1"/>
          <p:nvPr/>
        </p:nvSpPr>
        <p:spPr>
          <a:xfrm>
            <a:off x="486000" y="4879575"/>
            <a:ext cx="10769606" cy="14629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length of the square and the total length of the bottom base of the trapezoid to calculate each length.</a:t>
            </a:r>
            <a:endParaRPr b="0" i="0" sz="1400" u="none" cap="none" strike="noStrike">
              <a:solidFill>
                <a:srgbClr val="000000"/>
              </a:solidFill>
              <a:latin typeface="Arial"/>
              <a:ea typeface="Arial"/>
              <a:cs typeface="Arial"/>
              <a:sym typeface="Arial"/>
            </a:endParaRPr>
          </a:p>
        </p:txBody>
      </p:sp>
      <p:pic>
        <p:nvPicPr>
          <p:cNvPr id="705" name="Google Shape;705;p68"/>
          <p:cNvPicPr preferRelativeResize="0"/>
          <p:nvPr/>
        </p:nvPicPr>
        <p:blipFill rotWithShape="1">
          <a:blip r:embed="rId3">
            <a:alphaModFix/>
          </a:blip>
          <a:srcRect b="0" l="0" r="0" t="0"/>
          <a:stretch/>
        </p:blipFill>
        <p:spPr>
          <a:xfrm>
            <a:off x="7531100" y="1368187"/>
            <a:ext cx="4305300" cy="2781300"/>
          </a:xfrm>
          <a:prstGeom prst="rect">
            <a:avLst/>
          </a:prstGeom>
          <a:noFill/>
          <a:ln>
            <a:noFill/>
          </a:ln>
        </p:spPr>
      </p:pic>
      <p:sp>
        <p:nvSpPr>
          <p:cNvPr id="706" name="Google Shape;706;p68"/>
          <p:cNvSpPr txBox="1"/>
          <p:nvPr/>
        </p:nvSpPr>
        <p:spPr>
          <a:xfrm>
            <a:off x="486000" y="936101"/>
            <a:ext cx="6694156" cy="9814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This trapezoid can be decomposed into two congruent triangles and a square.	</a:t>
            </a:r>
            <a:endParaRPr b="0" i="0" sz="1400" u="none" cap="none" strike="noStrike">
              <a:solidFill>
                <a:srgbClr val="000000"/>
              </a:solidFill>
              <a:latin typeface="Arial"/>
              <a:ea typeface="Arial"/>
              <a:cs typeface="Arial"/>
              <a:sym typeface="Arial"/>
            </a:endParaRPr>
          </a:p>
        </p:txBody>
      </p:sp>
      <p:sp>
        <p:nvSpPr>
          <p:cNvPr id="707" name="Google Shape;707;p68"/>
          <p:cNvSpPr txBox="1"/>
          <p:nvPr/>
        </p:nvSpPr>
        <p:spPr>
          <a:xfrm>
            <a:off x="486000" y="2647665"/>
            <a:ext cx="6694156" cy="9962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determine the lengths of the bases of the two triangles?</a:t>
            </a:r>
            <a:endParaRPr b="0" i="0" sz="1400" u="none" cap="none" strike="noStrike">
              <a:solidFill>
                <a:srgbClr val="000000"/>
              </a:solidFill>
              <a:latin typeface="Arial"/>
              <a:ea typeface="Arial"/>
              <a:cs typeface="Arial"/>
              <a:sym typeface="Arial"/>
            </a:endParaRPr>
          </a:p>
        </p:txBody>
      </p:sp>
      <p:sp>
        <p:nvSpPr>
          <p:cNvPr id="708" name="Google Shape;708;p68"/>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7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62</a:t>
            </a:r>
          </a:p>
        </p:txBody>
      </p:sp>
      <p:sp>
        <p:nvSpPr>
          <p:cNvPr id="710" name="EWL-COVER-1"/>
          <p:cNvSpPr/>
          <p:nvPr/>
        </p:nvSpPr>
        <p:spPr>
          <a:xfrm>
            <a:off x="431136" y="4824711"/>
            <a:ext cx="10879334" cy="1572696"/>
          </a:xfrm>
          <a:prstGeom prst="rect">
            <a:avLst/>
          </a:prstGeom>
          <a:solidFill>
            <a:srgbClr val="FFFFFF"/>
          </a:solidFill>
          <a:ln>
            <a:noFill/>
          </a:ln>
        </p:spPr>
        <p:txBody>
          <a:bodyPr/>
          <a:lstStyle/>
          <a:p/>
        </p:txBody>
      </p:sp>
      <p:sp xmlns:p="http://schemas.openxmlformats.org/presentationml/2006/main" xmlns:a="http://schemas.openxmlformats.org/drawingml/2006/main">
        <p:nvSpPr>
          <p:cNvPr id="711" name="TEACH-embedded-student-prompt" descr="Student thinking and response directions"/>
          <p:cNvSpPr txBox="1"/>
          <p:nvPr/>
        </p:nvSpPr>
        <p:spPr>
          <a:xfrm>
            <a:off x="594360" y="38587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cxnSp>
        <p:nvCxnSpPr>
          <p:cNvPr id="726" name="Google Shape;726;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7" name="Google Shape;727;p70"/>
          <p:cNvSpPr txBox="1"/>
          <p:nvPr/>
        </p:nvSpPr>
        <p:spPr>
          <a:xfrm>
            <a:off x="484566" y="4605600"/>
            <a:ext cx="5444658" cy="149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sum of the areas of the triangles and the square.</a:t>
            </a:r>
            <a:endParaRPr b="0" i="0" sz="1400" u="none" cap="none" strike="noStrike">
              <a:solidFill>
                <a:srgbClr val="000000"/>
              </a:solidFill>
              <a:latin typeface="Arial"/>
              <a:ea typeface="Arial"/>
              <a:cs typeface="Arial"/>
              <a:sym typeface="Arial"/>
            </a:endParaRPr>
          </a:p>
        </p:txBody>
      </p:sp>
      <p:sp>
        <p:nvSpPr>
          <p:cNvPr id="728" name="Google Shape;728;p70"/>
          <p:cNvSpPr txBox="1"/>
          <p:nvPr/>
        </p:nvSpPr>
        <p:spPr>
          <a:xfrm>
            <a:off x="484566" y="936101"/>
            <a:ext cx="5749979" cy="28952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the length of the square to determine the base lengths of the triangles.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use the triangles and the square to find the area of the trapezoid?</a:t>
            </a:r>
            <a:endParaRPr b="0" i="0" sz="2800" u="none" cap="none" strike="noStrike">
              <a:solidFill>
                <a:schemeClr val="dk1"/>
              </a:solidFill>
              <a:latin typeface="Arial"/>
              <a:ea typeface="Arial"/>
              <a:cs typeface="Arial"/>
              <a:sym typeface="Arial"/>
            </a:endParaRPr>
          </a:p>
        </p:txBody>
      </p:sp>
      <p:sp>
        <p:nvSpPr>
          <p:cNvPr id="729" name="Google Shape;729;p70"/>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pic>
        <p:nvPicPr>
          <p:cNvPr id="730" name="Google Shape;730;p70"/>
          <p:cNvPicPr preferRelativeResize="0"/>
          <p:nvPr/>
        </p:nvPicPr>
        <p:blipFill rotWithShape="1">
          <a:blip r:embed="rId3">
            <a:alphaModFix/>
          </a:blip>
          <a:srcRect b="0" l="0" r="0" t="0"/>
          <a:stretch/>
        </p:blipFill>
        <p:spPr>
          <a:xfrm>
            <a:off x="6925685" y="1139670"/>
            <a:ext cx="4305300" cy="2781300"/>
          </a:xfrm>
          <a:prstGeom prst="rect">
            <a:avLst/>
          </a:prstGeom>
          <a:noFill/>
          <a:ln>
            <a:noFill/>
          </a:ln>
        </p:spPr>
      </p:pic>
      <p:pic>
        <p:nvPicPr>
          <p:cNvPr id="731" name="Google Shape;731;p70"/>
          <p:cNvPicPr preferRelativeResize="0"/>
          <p:nvPr/>
        </p:nvPicPr>
        <p:blipFill rotWithShape="1">
          <a:blip r:embed="rId4">
            <a:alphaModFix/>
          </a:blip>
          <a:srcRect b="0" l="0" r="0" t="0"/>
          <a:stretch/>
        </p:blipFill>
        <p:spPr>
          <a:xfrm>
            <a:off x="6283326" y="3895725"/>
            <a:ext cx="5553075" cy="2505075"/>
          </a:xfrm>
          <a:prstGeom prst="rect">
            <a:avLst/>
          </a:prstGeom>
          <a:noFill/>
          <a:ln>
            <a:noFill/>
          </a:ln>
        </p:spPr>
      </p:pic>
      <p:sp>
        <p:nvSpPr>
          <p:cNvPr id="73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62</a:t>
            </a:r>
          </a:p>
        </p:txBody>
      </p:sp>
      <p:sp>
        <p:nvSpPr>
          <p:cNvPr id="733" name="EWL-COVER-1"/>
          <p:cNvSpPr/>
          <p:nvPr/>
        </p:nvSpPr>
        <p:spPr>
          <a:xfrm>
            <a:off x="429702" y="4550736"/>
            <a:ext cx="5554386" cy="1600128"/>
          </a:xfrm>
          <a:prstGeom prst="rect">
            <a:avLst/>
          </a:prstGeom>
          <a:solidFill>
            <a:srgbClr val="FFFFFF"/>
          </a:solidFill>
          <a:ln>
            <a:noFill/>
          </a:ln>
        </p:spPr>
        <p:txBody>
          <a:bodyPr/>
          <a:lstStyle/>
          <a:p/>
        </p:txBody>
      </p:sp>
      <p:grpSp>
        <p:nvGrpSpPr>
          <p:cNvPr id="734" name="TEACH-6-student-move" descr="TEACH 6 · Organize and implement routines to support a learning-focused classroom"/>
          <p:cNvGrpSpPr/>
          <p:nvPr/>
        </p:nvGrpSpPr>
        <p:grpSpPr>
          <a:xfrm>
            <a:off x="502920" y="3928944"/>
            <a:ext cx="5501640" cy="594360"/>
            <a:chOff x="502920" y="3928944"/>
            <a:chExt cx="5501640" cy="594360"/>
          </a:xfrm>
        </p:grpSpPr>
        <p:sp>
          <p:nvSpPr>
            <p:cNvPr id="735" name="TEACH-move-card"/>
            <p:cNvSpPr/>
            <p:nvPr/>
          </p:nvSpPr>
          <p:spPr>
            <a:xfrm>
              <a:off x="502920" y="39289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6" name="TEACH-move-rule"/>
            <p:cNvSpPr/>
            <p:nvPr/>
          </p:nvSpPr>
          <p:spPr>
            <a:xfrm>
              <a:off x="548640" y="4041872"/>
              <a:ext cx="100584" cy="368504"/>
            </a:xfrm>
            <a:prstGeom prst="roundRect">
              <a:avLst>
                <a:gd name="adj" fmla="val 50000"/>
              </a:avLst>
            </a:prstGeom>
            <a:solidFill>
              <a:srgbClr val="01708C"/>
            </a:solidFill>
            <a:ln>
              <a:noFill/>
            </a:ln>
          </p:spPr>
          <p:txBody>
            <a:bodyPr/>
            <a:lstStyle/>
            <a:p>
              <a:endParaRPr/>
            </a:p>
          </p:txBody>
        </p:sp>
        <p:sp>
          <p:nvSpPr>
            <p:cNvPr id="737" name="TEACH-move-text"/>
            <p:cNvSpPr txBox="1"/>
            <p:nvPr/>
          </p:nvSpPr>
          <p:spPr>
            <a:xfrm>
              <a:off x="822960" y="39289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cxnSp>
        <p:nvCxnSpPr>
          <p:cNvPr id="746" name="Google Shape;746;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7" name="Google Shape;747;p72"/>
          <p:cNvSpPr txBox="1"/>
          <p:nvPr/>
        </p:nvSpPr>
        <p:spPr>
          <a:xfrm>
            <a:off x="484566" y="5266000"/>
            <a:ext cx="6112655" cy="10423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864 square inches</a:t>
            </a:r>
            <a:endParaRPr b="0" i="0" sz="2800" u="none" cap="none" strike="noStrike">
              <a:solidFill>
                <a:srgbClr val="595959"/>
              </a:solidFill>
              <a:latin typeface="Arial"/>
              <a:ea typeface="Arial"/>
              <a:cs typeface="Arial"/>
              <a:sym typeface="Arial"/>
            </a:endParaRPr>
          </a:p>
        </p:txBody>
      </p:sp>
      <p:sp>
        <p:nvSpPr>
          <p:cNvPr id="748" name="Google Shape;748;p72"/>
          <p:cNvSpPr txBox="1"/>
          <p:nvPr/>
        </p:nvSpPr>
        <p:spPr>
          <a:xfrm>
            <a:off x="484566" y="936000"/>
            <a:ext cx="5933316" cy="33731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area of the trapezoid is the sum of the areas of the triangles and the square.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area of the trapezoid?</a:t>
            </a:r>
            <a:endParaRPr b="0" i="0" sz="1400" u="none" cap="none" strike="noStrike">
              <a:solidFill>
                <a:srgbClr val="000000"/>
              </a:solidFill>
              <a:latin typeface="Arial"/>
              <a:ea typeface="Arial"/>
              <a:cs typeface="Arial"/>
              <a:sym typeface="Arial"/>
            </a:endParaRPr>
          </a:p>
        </p:txBody>
      </p:sp>
      <p:sp>
        <p:nvSpPr>
          <p:cNvPr id="749" name="Google Shape;749;p72"/>
          <p:cNvSpPr txBox="1"/>
          <p:nvPr/>
        </p:nvSpPr>
        <p:spPr>
          <a:xfrm>
            <a:off x="839635" y="310327"/>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750" name="Google Shape;750;p72"/>
          <p:cNvPicPr preferRelativeResize="0"/>
          <p:nvPr/>
        </p:nvPicPr>
        <p:blipFill rotWithShape="1">
          <a:blip r:embed="rId3">
            <a:alphaModFix/>
          </a:blip>
          <a:srcRect b="0" l="0" r="0" t="0"/>
          <a:stretch/>
        </p:blipFill>
        <p:spPr>
          <a:xfrm>
            <a:off x="486000" y="362980"/>
            <a:ext cx="353635" cy="340537"/>
          </a:xfrm>
          <a:prstGeom prst="rect">
            <a:avLst/>
          </a:prstGeom>
          <a:noFill/>
          <a:ln>
            <a:noFill/>
          </a:ln>
        </p:spPr>
      </p:pic>
      <p:pic>
        <p:nvPicPr>
          <p:cNvPr id="751" name="Google Shape;751;p72"/>
          <p:cNvPicPr preferRelativeResize="0"/>
          <p:nvPr/>
        </p:nvPicPr>
        <p:blipFill rotWithShape="1">
          <a:blip r:embed="rId4">
            <a:alphaModFix/>
          </a:blip>
          <a:srcRect b="0" l="0" r="0" t="0"/>
          <a:stretch/>
        </p:blipFill>
        <p:spPr>
          <a:xfrm>
            <a:off x="6417882" y="1945010"/>
            <a:ext cx="5553075" cy="2505075"/>
          </a:xfrm>
          <a:prstGeom prst="rect">
            <a:avLst/>
          </a:prstGeom>
          <a:noFill/>
          <a:ln>
            <a:noFill/>
          </a:ln>
        </p:spPr>
      </p:pic>
      <p:sp>
        <p:nvSpPr>
          <p:cNvPr id="7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62</a:t>
            </a:r>
          </a:p>
        </p:txBody>
      </p:sp>
      <p:sp>
        <p:nvSpPr>
          <p:cNvPr id="753" name="EWL-COVER-1"/>
          <p:cNvSpPr/>
          <p:nvPr/>
        </p:nvSpPr>
        <p:spPr>
          <a:xfrm>
            <a:off x="429702" y="5211136"/>
            <a:ext cx="6222383" cy="1152072"/>
          </a:xfrm>
          <a:prstGeom prst="rect">
            <a:avLst/>
          </a:prstGeom>
          <a:solidFill>
            <a:srgbClr val="FFFFFF"/>
          </a:solidFill>
          <a:ln>
            <a:noFill/>
          </a:ln>
        </p:spPr>
        <p:txBody>
          <a:bodyPr/>
          <a:lstStyle/>
          <a:p/>
        </p:txBody>
      </p:sp>
      <p:sp>
        <p:nvSpPr>
          <p:cNvPr id="75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755"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cxnSp>
        <p:nvCxnSpPr>
          <p:cNvPr id="756" name="Google Shape;756;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7" name="Google Shape;757;p73"/>
          <p:cNvSpPr txBox="1"/>
          <p:nvPr/>
        </p:nvSpPr>
        <p:spPr>
          <a:xfrm>
            <a:off x="486000" y="936000"/>
            <a:ext cx="7100120" cy="6135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find the area of the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758" name="Google Shape;758;p73"/>
          <p:cNvSpPr txBox="1"/>
          <p:nvPr/>
        </p:nvSpPr>
        <p:spPr>
          <a:xfrm>
            <a:off x="486000" y="1874520"/>
            <a:ext cx="5860815" cy="9521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Find the area of the triangular sections.</a:t>
            </a:r>
            <a:endParaRPr b="0" i="0" sz="2800" u="none" cap="none" strike="noStrike">
              <a:solidFill>
                <a:schemeClr val="dk1"/>
              </a:solidFill>
              <a:latin typeface="Arial"/>
              <a:ea typeface="Arial"/>
              <a:cs typeface="Arial"/>
              <a:sym typeface="Arial"/>
            </a:endParaRPr>
          </a:p>
        </p:txBody>
      </p:sp>
      <p:graphicFrame>
        <p:nvGraphicFramePr>
          <p:cNvPr id="759" name="Google Shape;759;p73"/>
          <p:cNvGraphicFramePr/>
          <p:nvPr/>
        </p:nvGraphicFramePr>
        <p:xfrm>
          <a:off x="486000" y="2614935"/>
          <a:ext cx="3000000" cy="3000000"/>
        </p:xfrm>
        <a:graphic>
          <a:graphicData uri="http://schemas.openxmlformats.org/drawingml/2006/table">
            <a:tbl>
              <a:tblPr bandRow="1" firstRow="1">
                <a:noFill/>
                <a:tableStyleId>{C7599C9F-E525-49FF-B96C-03CE03877915}</a:tableStyleId>
              </a:tblPr>
              <a:tblGrid>
                <a:gridCol w="2620025"/>
                <a:gridCol w="3157675"/>
              </a:tblGrid>
              <a:tr h="1371600">
                <a:tc>
                  <a:txBody>
                    <a:bodyPr/>
                    <a:lstStyle/>
                    <a:p>
                      <a:pPr indent="0" lvl="0" marL="0" marR="0" rtl="0" algn="l">
                        <a:lnSpc>
                          <a:spcPct val="100000"/>
                        </a:lnSpc>
                        <a:spcBef>
                          <a:spcPts val="0"/>
                        </a:spcBef>
                        <a:spcAft>
                          <a:spcPts val="0"/>
                        </a:spcAft>
                        <a:buClr>
                          <a:schemeClr val="dk1"/>
                        </a:buClr>
                        <a:buSzPts val="2800"/>
                        <a:buFont typeface="Arial"/>
                        <a:buNone/>
                      </a:pPr>
                      <a:r>
                        <a:rPr b="0" lang="en-US" sz="2800" u="none" cap="none" strike="noStrike">
                          <a:solidFill>
                            <a:schemeClr val="dk1"/>
                          </a:solidFill>
                          <a:latin typeface="Arial"/>
                          <a:ea typeface="Arial"/>
                          <a:cs typeface="Arial"/>
                          <a:sym typeface="Arial"/>
                        </a:rPr>
                        <a:t>Area of one Triangle:</a:t>
                      </a:r>
                      <a:endParaRPr sz="1400" u="none" cap="none" strike="noStrike"/>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2800"/>
                        <a:buFont typeface="Arial"/>
                        <a:buNone/>
                      </a:pPr>
                      <a:r>
                        <a:rPr b="0" lang="en-US" sz="2800" u="none" cap="none" strike="noStrike">
                          <a:solidFill>
                            <a:schemeClr val="dk1"/>
                          </a:solidFill>
                          <a:latin typeface="Arial"/>
                          <a:ea typeface="Arial"/>
                          <a:cs typeface="Arial"/>
                          <a:sym typeface="Arial"/>
                        </a:rPr>
                        <a:t>There are two congruent triangles:</a:t>
                      </a:r>
                      <a:endParaRPr b="0" i="1" sz="2800" u="none" cap="none" strike="noStrike">
                        <a:solidFill>
                          <a:schemeClr val="dk1"/>
                        </a:solidFill>
                        <a:latin typeface="Cambria Math"/>
                        <a:ea typeface="Cambria Math"/>
                        <a:cs typeface="Cambria Math"/>
                        <a:sym typeface="Cambria Math"/>
                      </a:endParaRPr>
                    </a:p>
                  </a:txBody>
                  <a:tcPr marT="45725" marB="45725" marR="91450" marL="91450" anchor="b">
                    <a:solidFill>
                      <a:schemeClr val="lt1"/>
                    </a:solidFill>
                  </a:tcPr>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b"/>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b"/>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b"/>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45725" marB="45725" marR="91450" marL="91450" anchor="b">
                    <a:solidFill>
                      <a:schemeClr val="lt1"/>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b"/>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45725" marB="45725" marR="91450" marL="91450" anchor="b">
                    <a:solidFill>
                      <a:schemeClr val="lt1"/>
                    </a:solidFill>
                  </a:tcPr>
                </a:tc>
              </a:tr>
            </a:tbl>
          </a:graphicData>
        </a:graphic>
      </p:graphicFrame>
      <p:sp>
        <p:nvSpPr>
          <p:cNvPr id="760" name="Google Shape;760;p73"/>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pic>
        <p:nvPicPr>
          <p:cNvPr id="761" name="Google Shape;761;p73"/>
          <p:cNvPicPr preferRelativeResize="0"/>
          <p:nvPr/>
        </p:nvPicPr>
        <p:blipFill rotWithShape="1">
          <a:blip r:embed="rId3">
            <a:alphaModFix/>
          </a:blip>
          <a:srcRect b="0" l="0" r="0" t="0"/>
          <a:stretch/>
        </p:blipFill>
        <p:spPr>
          <a:xfrm>
            <a:off x="6417882" y="1945010"/>
            <a:ext cx="5553075" cy="2505075"/>
          </a:xfrm>
          <a:prstGeom prst="rect">
            <a:avLst/>
          </a:prstGeom>
          <a:noFill/>
          <a:ln>
            <a:noFill/>
          </a:ln>
        </p:spPr>
      </p:pic>
      <p:sp>
        <p:nvSpPr>
          <p:cNvPr id="7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62</a:t>
            </a:r>
          </a:p>
        </p:txBody>
      </p:sp>
      <p:sp xmlns:p="http://schemas.openxmlformats.org/presentationml/2006/main" xmlns:a="http://schemas.openxmlformats.org/drawingml/2006/main">
        <p:nvSpPr>
          <p:cNvPr id="763" name="TEACH-embedded-student-prompt" descr="Student thinking and response directions"/>
          <p:cNvSpPr txBox="1"/>
          <p:nvPr/>
        </p:nvSpPr>
        <p:spPr>
          <a:xfrm>
            <a:off x="40995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a:t>
            </a:r>
            <a:endParaRPr lang="en-US" sz="2000"/>
          </a:p>
          <a:p>
            <a:pPr>
              <a:lnSpc>
                <a:spcPts val="2400"/>
              </a:lnSpc>
              <a:buNone/>
            </a:pPr>
            <a:r>
              <a:rPr lang="en-US" sz="2000">
                <a:solidFill>
                  <a:srgbClr val="174D60"/>
                </a:solidFill>
                <a:latin typeface="Arial"/>
              </a:rPr>
              <a:t>your method uses them.</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cxnSp>
        <p:nvCxnSpPr>
          <p:cNvPr id="766" name="Google Shape;766;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7" name="Google Shape;767;p74"/>
          <p:cNvSpPr txBox="1"/>
          <p:nvPr/>
        </p:nvSpPr>
        <p:spPr>
          <a:xfrm>
            <a:off x="486000" y="936000"/>
            <a:ext cx="57094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Find the area of the square:</a:t>
            </a:r>
            <a:endParaRPr b="0" i="0" sz="2800" u="none" cap="none" strike="noStrike">
              <a:solidFill>
                <a:schemeClr val="dk1"/>
              </a:solidFill>
              <a:latin typeface="Arial"/>
              <a:ea typeface="Arial"/>
              <a:cs typeface="Arial"/>
              <a:sym typeface="Arial"/>
            </a:endParaRPr>
          </a:p>
        </p:txBody>
      </p:sp>
      <p:sp>
        <p:nvSpPr>
          <p:cNvPr id="768" name="Google Shape;768;p74"/>
          <p:cNvSpPr txBox="1"/>
          <p:nvPr/>
        </p:nvSpPr>
        <p:spPr>
          <a:xfrm>
            <a:off x="486000" y="1555200"/>
            <a:ext cx="454335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9" name="Google Shape;769;p74"/>
          <p:cNvSpPr txBox="1"/>
          <p:nvPr/>
        </p:nvSpPr>
        <p:spPr>
          <a:xfrm>
            <a:off x="486000" y="2307769"/>
            <a:ext cx="5337122"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0" name="Google Shape;770;p74"/>
          <p:cNvSpPr txBox="1"/>
          <p:nvPr/>
        </p:nvSpPr>
        <p:spPr>
          <a:xfrm>
            <a:off x="486000" y="3060338"/>
            <a:ext cx="6586536"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1" name="Google Shape;771;p74"/>
          <p:cNvSpPr txBox="1"/>
          <p:nvPr/>
        </p:nvSpPr>
        <p:spPr>
          <a:xfrm>
            <a:off x="486000" y="3812907"/>
            <a:ext cx="5790815"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Add the areas of the triangles and square to find the area of the trapezoid.</a:t>
            </a:r>
            <a:endParaRPr b="0" i="0" sz="1400" u="none" cap="none" strike="noStrike">
              <a:solidFill>
                <a:srgbClr val="000000"/>
              </a:solidFill>
              <a:latin typeface="Arial"/>
              <a:ea typeface="Arial"/>
              <a:cs typeface="Arial"/>
              <a:sym typeface="Arial"/>
            </a:endParaRPr>
          </a:p>
        </p:txBody>
      </p:sp>
      <p:sp>
        <p:nvSpPr>
          <p:cNvPr id="772" name="Google Shape;772;p74"/>
          <p:cNvSpPr txBox="1"/>
          <p:nvPr/>
        </p:nvSpPr>
        <p:spPr>
          <a:xfrm>
            <a:off x="486000" y="5405047"/>
            <a:ext cx="5790815"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3" name="Google Shape;773;p74"/>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pic>
        <p:nvPicPr>
          <p:cNvPr id="774" name="Google Shape;774;p74"/>
          <p:cNvPicPr preferRelativeResize="0"/>
          <p:nvPr/>
        </p:nvPicPr>
        <p:blipFill rotWithShape="1">
          <a:blip r:embed="rId7">
            <a:alphaModFix/>
          </a:blip>
          <a:srcRect b="0" l="0" r="0" t="0"/>
          <a:stretch/>
        </p:blipFill>
        <p:spPr>
          <a:xfrm>
            <a:off x="6417882" y="1945010"/>
            <a:ext cx="5553075" cy="2505075"/>
          </a:xfrm>
          <a:prstGeom prst="rect">
            <a:avLst/>
          </a:prstGeom>
          <a:noFill/>
          <a:ln>
            <a:noFill/>
          </a:ln>
        </p:spPr>
      </p:pic>
      <p:sp>
        <p:nvSpPr>
          <p:cNvPr id="7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62</a:t>
            </a:r>
          </a:p>
        </p:txBody>
      </p:sp>
      <p:sp xmlns:p="http://schemas.openxmlformats.org/presentationml/2006/main" xmlns:a="http://schemas.openxmlformats.org/drawingml/2006/main">
        <p:nvSpPr>
          <p:cNvPr id="776"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a:t>
            </a:r>
            <a:endParaRPr lang="en-US" sz="2000"/>
          </a:p>
          <a:p>
            <a:pPr>
              <a:lnSpc>
                <a:spcPts val="2400"/>
              </a:lnSpc>
              <a:buNone/>
            </a:pPr>
            <a:r>
              <a:rPr lang="en-US" sz="2000">
                <a:solidFill>
                  <a:srgbClr val="174D60"/>
                </a:solidFill>
                <a:latin typeface="Arial"/>
              </a:rPr>
              <a:t>matching height. Explain how</a:t>
            </a:r>
            <a:endParaRPr lang="en-US" sz="2000"/>
          </a:p>
          <a:p>
            <a:pPr>
              <a:lnSpc>
                <a:spcPts val="2400"/>
              </a:lnSpc>
              <a:buNone/>
            </a:pPr>
            <a:r>
              <a:rPr lang="en-US" sz="2000">
                <a:solidFill>
                  <a:srgbClr val="174D60"/>
                </a:solidFill>
                <a:latin typeface="Arial"/>
              </a:rPr>
              <a:t>your method uses them.</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cxnSp>
        <p:nvCxnSpPr>
          <p:cNvPr id="789" name="Google Shape;789;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0" name="Google Shape;790;p76"/>
          <p:cNvSpPr txBox="1"/>
          <p:nvPr/>
        </p:nvSpPr>
        <p:spPr>
          <a:xfrm>
            <a:off x="486000" y="4680000"/>
            <a:ext cx="6869774" cy="10233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compose it into a rectangle.</a:t>
            </a:r>
            <a:endParaRPr b="0" i="0" sz="2800" u="none" cap="none" strike="noStrike">
              <a:solidFill>
                <a:srgbClr val="595959"/>
              </a:solidFill>
              <a:latin typeface="Arial"/>
              <a:ea typeface="Arial"/>
              <a:cs typeface="Arial"/>
              <a:sym typeface="Arial"/>
            </a:endParaRPr>
          </a:p>
        </p:txBody>
      </p:sp>
      <p:sp>
        <p:nvSpPr>
          <p:cNvPr id="791" name="Google Shape;791;p76"/>
          <p:cNvSpPr txBox="1"/>
          <p:nvPr/>
        </p:nvSpPr>
        <p:spPr>
          <a:xfrm>
            <a:off x="486000" y="936000"/>
            <a:ext cx="6173418" cy="1610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another method you can use to find the area of the isosceles trapezoid?</a:t>
            </a:r>
            <a:endParaRPr b="0" i="0" sz="1400" u="none" cap="none" strike="noStrike">
              <a:solidFill>
                <a:srgbClr val="000000"/>
              </a:solidFill>
              <a:latin typeface="Arial"/>
              <a:ea typeface="Arial"/>
              <a:cs typeface="Arial"/>
              <a:sym typeface="Arial"/>
            </a:endParaRPr>
          </a:p>
        </p:txBody>
      </p:sp>
      <p:pic>
        <p:nvPicPr>
          <p:cNvPr id="792" name="Google Shape;792;p76"/>
          <p:cNvPicPr preferRelativeResize="0"/>
          <p:nvPr/>
        </p:nvPicPr>
        <p:blipFill rotWithShape="1">
          <a:blip r:embed="rId3">
            <a:alphaModFix/>
          </a:blip>
          <a:srcRect b="0" l="0" r="0" t="0"/>
          <a:stretch/>
        </p:blipFill>
        <p:spPr>
          <a:xfrm>
            <a:off x="7477627" y="3869507"/>
            <a:ext cx="4275000" cy="1980000"/>
          </a:xfrm>
          <a:prstGeom prst="rect">
            <a:avLst/>
          </a:prstGeom>
          <a:noFill/>
          <a:ln>
            <a:noFill/>
          </a:ln>
        </p:spPr>
      </p:pic>
      <p:pic>
        <p:nvPicPr>
          <p:cNvPr id="793" name="Google Shape;793;p76"/>
          <p:cNvPicPr preferRelativeResize="0"/>
          <p:nvPr/>
        </p:nvPicPr>
        <p:blipFill rotWithShape="1">
          <a:blip r:embed="rId4">
            <a:alphaModFix/>
          </a:blip>
          <a:srcRect b="0" l="0" r="0" t="0"/>
          <a:stretch/>
        </p:blipFill>
        <p:spPr>
          <a:xfrm>
            <a:off x="7782476" y="1368187"/>
            <a:ext cx="3524250" cy="2286000"/>
          </a:xfrm>
          <a:prstGeom prst="rect">
            <a:avLst/>
          </a:prstGeom>
          <a:noFill/>
          <a:ln>
            <a:noFill/>
          </a:ln>
        </p:spPr>
      </p:pic>
      <p:sp>
        <p:nvSpPr>
          <p:cNvPr id="794" name="Google Shape;794;p76"/>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7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62</a:t>
            </a:r>
          </a:p>
        </p:txBody>
      </p:sp>
      <p:sp>
        <p:nvSpPr>
          <p:cNvPr id="796" name="EWL-COVER-1"/>
          <p:cNvSpPr/>
          <p:nvPr/>
        </p:nvSpPr>
        <p:spPr>
          <a:xfrm>
            <a:off x="431136" y="4625136"/>
            <a:ext cx="6979502" cy="1133094"/>
          </a:xfrm>
          <a:prstGeom prst="rect">
            <a:avLst/>
          </a:prstGeom>
          <a:solidFill>
            <a:srgbClr val="FFFFFF"/>
          </a:solidFill>
          <a:ln>
            <a:noFill/>
          </a:ln>
        </p:spPr>
        <p:txBody>
          <a:bodyPr/>
          <a:lstStyle/>
          <a:p/>
        </p:txBody>
      </p:sp>
      <p:sp xmlns:p="http://schemas.openxmlformats.org/presentationml/2006/main" xmlns:a="http://schemas.openxmlformats.org/drawingml/2006/main">
        <p:nvSpPr>
          <p:cNvPr id="797"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cxnSp>
        <p:nvCxnSpPr>
          <p:cNvPr id="809" name="Google Shape;809;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0" name="Google Shape;810;p78"/>
          <p:cNvSpPr txBox="1"/>
          <p:nvPr/>
        </p:nvSpPr>
        <p:spPr>
          <a:xfrm>
            <a:off x="484565" y="5236709"/>
            <a:ext cx="8032488" cy="10211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the area formula for rectangles</a:t>
            </a:r>
            <a:r>
              <a:rPr b="0" i="0" lang="en-US" sz="2800" u="none" cap="none" strike="noStrike">
                <a:solidFill>
                  <a:schemeClr val="dk2"/>
                </a:solidFill>
                <a:latin typeface="Arial"/>
                <a:ea typeface="Arial"/>
                <a:cs typeface="Arial"/>
                <a:sym typeface="Arial"/>
              </a:rPr>
              <a:t>.</a:t>
            </a:r>
            <a:endParaRPr b="0" i="0" sz="2800" u="none" cap="none" strike="noStrike">
              <a:solidFill>
                <a:srgbClr val="595959"/>
              </a:solidFill>
              <a:latin typeface="Arial"/>
              <a:ea typeface="Arial"/>
              <a:cs typeface="Arial"/>
              <a:sym typeface="Arial"/>
            </a:endParaRPr>
          </a:p>
        </p:txBody>
      </p:sp>
      <p:pic>
        <p:nvPicPr>
          <p:cNvPr id="811" name="Google Shape;811;p78"/>
          <p:cNvPicPr preferRelativeResize="0"/>
          <p:nvPr/>
        </p:nvPicPr>
        <p:blipFill rotWithShape="1">
          <a:blip r:embed="rId3">
            <a:alphaModFix/>
          </a:blip>
          <a:srcRect b="0" l="0" r="0" t="0"/>
          <a:stretch/>
        </p:blipFill>
        <p:spPr>
          <a:xfrm>
            <a:off x="5022751" y="1324599"/>
            <a:ext cx="6988604" cy="2520000"/>
          </a:xfrm>
          <a:prstGeom prst="rect">
            <a:avLst/>
          </a:prstGeom>
          <a:noFill/>
          <a:ln>
            <a:noFill/>
          </a:ln>
        </p:spPr>
      </p:pic>
      <p:sp>
        <p:nvSpPr>
          <p:cNvPr id="812" name="Google Shape;812;p78"/>
          <p:cNvSpPr txBox="1"/>
          <p:nvPr/>
        </p:nvSpPr>
        <p:spPr>
          <a:xfrm>
            <a:off x="484565" y="936000"/>
            <a:ext cx="4207508" cy="20879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find the area of an isosceles trapezoid by composing it into a rectangle.</a:t>
            </a:r>
            <a:endParaRPr b="0" i="0" sz="2800" u="none" cap="none" strike="noStrike">
              <a:solidFill>
                <a:srgbClr val="262626"/>
              </a:solidFill>
              <a:latin typeface="Arial"/>
              <a:ea typeface="Arial"/>
              <a:cs typeface="Arial"/>
              <a:sym typeface="Arial"/>
            </a:endParaRPr>
          </a:p>
        </p:txBody>
      </p:sp>
      <p:sp>
        <p:nvSpPr>
          <p:cNvPr id="813" name="Google Shape;813;p78"/>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814" name="Google Shape;814;p78"/>
          <p:cNvSpPr txBox="1"/>
          <p:nvPr/>
        </p:nvSpPr>
        <p:spPr>
          <a:xfrm>
            <a:off x="484565" y="4045079"/>
            <a:ext cx="8668671" cy="11916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use what you know about the area of a rectangle to find the area of the trapezoid?</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8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62</a:t>
            </a:r>
          </a:p>
        </p:txBody>
      </p:sp>
      <p:sp>
        <p:nvSpPr>
          <p:cNvPr id="816" name="EWL-COVER-1"/>
          <p:cNvSpPr/>
          <p:nvPr/>
        </p:nvSpPr>
        <p:spPr>
          <a:xfrm>
            <a:off x="429701" y="5181845"/>
            <a:ext cx="8142216" cy="1130855"/>
          </a:xfrm>
          <a:prstGeom prst="rect">
            <a:avLst/>
          </a:prstGeom>
          <a:solidFill>
            <a:srgbClr val="FFFFFF"/>
          </a:solidFill>
          <a:ln>
            <a:noFill/>
          </a:ln>
        </p:spPr>
        <p:txBody>
          <a:bodyPr/>
          <a:lstStyle/>
          <a:p/>
        </p:txBody>
      </p:sp>
      <p:grpSp>
        <p:nvGrpSpPr>
          <p:cNvPr id="817" name="TEACH-5-student-move" descr="TEACH 5 · Facilitate student interactions and academic talk"/>
          <p:cNvGrpSpPr/>
          <p:nvPr/>
        </p:nvGrpSpPr>
        <p:grpSpPr>
          <a:xfrm>
            <a:off x="6187440" y="647943"/>
            <a:ext cx="5501640" cy="594360"/>
            <a:chOff x="6187440" y="647943"/>
            <a:chExt cx="5501640" cy="594360"/>
          </a:xfrm>
        </p:grpSpPr>
        <p:sp>
          <p:nvSpPr>
            <p:cNvPr id="818" name="TEACH-move-card"/>
            <p:cNvSpPr/>
            <p:nvPr/>
          </p:nvSpPr>
          <p:spPr>
            <a:xfrm>
              <a:off x="6187440" y="64794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19" name="TEACH-move-rule"/>
            <p:cNvSpPr/>
            <p:nvPr/>
          </p:nvSpPr>
          <p:spPr>
            <a:xfrm>
              <a:off x="6233160" y="760871"/>
              <a:ext cx="100584" cy="368504"/>
            </a:xfrm>
            <a:prstGeom prst="roundRect">
              <a:avLst>
                <a:gd name="adj" fmla="val 50000"/>
              </a:avLst>
            </a:prstGeom>
            <a:solidFill>
              <a:srgbClr val="01708C"/>
            </a:solidFill>
            <a:ln>
              <a:noFill/>
            </a:ln>
          </p:spPr>
          <p:txBody>
            <a:bodyPr/>
            <a:lstStyle/>
            <a:p>
              <a:endParaRPr/>
            </a:p>
          </p:txBody>
        </p:sp>
        <p:sp>
          <p:nvSpPr>
            <p:cNvPr id="820" name="TEACH-move-text"/>
            <p:cNvSpPr txBox="1"/>
            <p:nvPr/>
          </p:nvSpPr>
          <p:spPr>
            <a:xfrm>
              <a:off x="6507480" y="64794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cxnSp>
        <p:nvCxnSpPr>
          <p:cNvPr id="819" name="Google Shape;819;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0" name="Google Shape;820;p79"/>
          <p:cNvSpPr txBox="1"/>
          <p:nvPr/>
        </p:nvSpPr>
        <p:spPr>
          <a:xfrm>
            <a:off x="484565" y="936000"/>
            <a:ext cx="8078864" cy="969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the area formula for rectangles to find the area.</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821" name="Google Shape;821;p79"/>
          <p:cNvSpPr/>
          <p:nvPr/>
        </p:nvSpPr>
        <p:spPr>
          <a:xfrm>
            <a:off x="5595582" y="2529318"/>
            <a:ext cx="248188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2" name="Google Shape;822;p79"/>
          <p:cNvSpPr/>
          <p:nvPr/>
        </p:nvSpPr>
        <p:spPr>
          <a:xfrm>
            <a:off x="5625269" y="3197330"/>
            <a:ext cx="273504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3" name="Google Shape;823;p79"/>
          <p:cNvSpPr/>
          <p:nvPr/>
        </p:nvSpPr>
        <p:spPr>
          <a:xfrm>
            <a:off x="5625269" y="3826824"/>
            <a:ext cx="22813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4" name="Google Shape;824;p79"/>
          <p:cNvSpPr txBox="1"/>
          <p:nvPr/>
        </p:nvSpPr>
        <p:spPr>
          <a:xfrm>
            <a:off x="486000" y="5220000"/>
            <a:ext cx="7931104" cy="1026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pic>
        <p:nvPicPr>
          <p:cNvPr id="825" name="Google Shape;825;p79"/>
          <p:cNvPicPr preferRelativeResize="0"/>
          <p:nvPr/>
        </p:nvPicPr>
        <p:blipFill rotWithShape="1">
          <a:blip r:embed="rId6">
            <a:alphaModFix/>
          </a:blip>
          <a:srcRect b="0" l="0" r="0" t="0"/>
          <a:stretch/>
        </p:blipFill>
        <p:spPr>
          <a:xfrm>
            <a:off x="585409" y="2123245"/>
            <a:ext cx="4305300" cy="2428875"/>
          </a:xfrm>
          <a:prstGeom prst="rect">
            <a:avLst/>
          </a:prstGeom>
          <a:noFill/>
          <a:ln>
            <a:noFill/>
          </a:ln>
        </p:spPr>
      </p:pic>
      <p:sp>
        <p:nvSpPr>
          <p:cNvPr id="826" name="Google Shape;826;p79"/>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sp>
        <p:nvSpPr>
          <p:cNvPr id="8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62</a:t>
            </a:r>
          </a:p>
        </p:txBody>
      </p:sp>
      <p:grpSp>
        <p:nvGrpSpPr>
          <p:cNvPr id="828" name="TEACH-4-student-move" descr="TEACH 4 · Monitor progress and provide feedback"/>
          <p:cNvGrpSpPr/>
          <p:nvPr/>
        </p:nvGrpSpPr>
        <p:grpSpPr>
          <a:xfrm>
            <a:off x="502920" y="4781088"/>
            <a:ext cx="11186160" cy="402336"/>
            <a:chOff x="502920" y="4781088"/>
            <a:chExt cx="11186160" cy="402336"/>
          </a:xfrm>
        </p:grpSpPr>
        <p:sp>
          <p:nvSpPr>
            <p:cNvPr id="829" name="TEACH-move-card"/>
            <p:cNvSpPr/>
            <p:nvPr/>
          </p:nvSpPr>
          <p:spPr>
            <a:xfrm>
              <a:off x="502920" y="478108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30" name="TEACH-move-rule"/>
            <p:cNvSpPr/>
            <p:nvPr/>
          </p:nvSpPr>
          <p:spPr>
            <a:xfrm>
              <a:off x="548640" y="4857532"/>
              <a:ext cx="100584" cy="249448"/>
            </a:xfrm>
            <a:prstGeom prst="roundRect">
              <a:avLst>
                <a:gd name="adj" fmla="val 50000"/>
              </a:avLst>
            </a:prstGeom>
            <a:solidFill>
              <a:srgbClr val="01708C"/>
            </a:solidFill>
            <a:ln>
              <a:noFill/>
            </a:ln>
          </p:spPr>
          <p:txBody>
            <a:bodyPr/>
            <a:lstStyle/>
            <a:p>
              <a:endParaRPr/>
            </a:p>
          </p:txBody>
        </p:sp>
        <p:sp>
          <p:nvSpPr>
            <p:cNvPr id="831" name="TEACH-move-text"/>
            <p:cNvSpPr txBox="1"/>
            <p:nvPr/>
          </p:nvSpPr>
          <p:spPr>
            <a:xfrm>
              <a:off x="822960" y="478108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cxnSp>
        <p:nvCxnSpPr>
          <p:cNvPr id="831" name="Google Shape;831;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2" name="Google Shape;832;p80"/>
          <p:cNvSpPr txBox="1"/>
          <p:nvPr/>
        </p:nvSpPr>
        <p:spPr>
          <a:xfrm>
            <a:off x="484565" y="936000"/>
            <a:ext cx="8078864" cy="969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the area formula for rectangles to find the area.</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833" name="Google Shape;833;p80"/>
          <p:cNvSpPr/>
          <p:nvPr/>
        </p:nvSpPr>
        <p:spPr>
          <a:xfrm>
            <a:off x="5595582" y="2529318"/>
            <a:ext cx="248188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34" name="Google Shape;834;p80"/>
          <p:cNvSpPr/>
          <p:nvPr/>
        </p:nvSpPr>
        <p:spPr>
          <a:xfrm>
            <a:off x="5625269" y="3197330"/>
            <a:ext cx="273504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35" name="Google Shape;835;p80"/>
          <p:cNvSpPr/>
          <p:nvPr/>
        </p:nvSpPr>
        <p:spPr>
          <a:xfrm>
            <a:off x="5625269" y="3826824"/>
            <a:ext cx="22813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36" name="Google Shape;836;p80"/>
          <p:cNvSpPr txBox="1"/>
          <p:nvPr/>
        </p:nvSpPr>
        <p:spPr>
          <a:xfrm>
            <a:off x="486000" y="5128560"/>
            <a:ext cx="7931104" cy="1026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Why is the length of the rectangle 36 inches?</a:t>
            </a:r>
            <a:endParaRPr b="1" i="0" sz="2800" u="none" cap="none" strike="noStrike">
              <a:solidFill>
                <a:schemeClr val="lt1"/>
              </a:solidFill>
              <a:highlight>
                <a:srgbClr val="1E2682"/>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sp>
        <p:nvSpPr>
          <p:cNvPr id="837" name="Google Shape;837;p80"/>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Odd-Shaped Furniture</a:t>
            </a:r>
            <a:endParaRPr b="0" i="0" sz="1400" u="none" cap="none" strike="noStrike">
              <a:solidFill>
                <a:srgbClr val="000000"/>
              </a:solidFill>
              <a:latin typeface="Arial"/>
              <a:ea typeface="Arial"/>
              <a:cs typeface="Arial"/>
              <a:sym typeface="Arial"/>
            </a:endParaRPr>
          </a:p>
        </p:txBody>
      </p:sp>
      <p:pic>
        <p:nvPicPr>
          <p:cNvPr id="838" name="Google Shape;838;p80"/>
          <p:cNvPicPr preferRelativeResize="0"/>
          <p:nvPr/>
        </p:nvPicPr>
        <p:blipFill rotWithShape="1">
          <a:blip r:embed="rId6">
            <a:alphaModFix/>
          </a:blip>
          <a:srcRect b="0" l="0" r="0" t="0"/>
          <a:stretch/>
        </p:blipFill>
        <p:spPr>
          <a:xfrm>
            <a:off x="585409" y="2123245"/>
            <a:ext cx="4305300" cy="2428875"/>
          </a:xfrm>
          <a:prstGeom prst="rect">
            <a:avLst/>
          </a:prstGeom>
          <a:noFill/>
          <a:ln>
            <a:noFill/>
          </a:ln>
        </p:spPr>
      </p:pic>
      <p:sp>
        <p:nvSpPr>
          <p:cNvPr id="8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62</a:t>
            </a:r>
          </a:p>
        </p:txBody>
      </p:sp>
      <p:grpSp>
        <p:nvGrpSpPr>
          <p:cNvPr id="840" name="TEACH-2-student-move" descr="TEACH 2 · Use strategies and tasks to engage students in rigorous work"/>
          <p:cNvGrpSpPr/>
          <p:nvPr/>
        </p:nvGrpSpPr>
        <p:grpSpPr>
          <a:xfrm>
            <a:off x="502920" y="4689648"/>
            <a:ext cx="11186160" cy="402336"/>
            <a:chOff x="502920" y="4689648"/>
            <a:chExt cx="11186160" cy="402336"/>
          </a:xfrm>
        </p:grpSpPr>
        <p:sp>
          <p:nvSpPr>
            <p:cNvPr id="841" name="TEACH-move-card"/>
            <p:cNvSpPr/>
            <p:nvPr/>
          </p:nvSpPr>
          <p:spPr>
            <a:xfrm>
              <a:off x="502920" y="468964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42" name="TEACH-move-rule"/>
            <p:cNvSpPr/>
            <p:nvPr/>
          </p:nvSpPr>
          <p:spPr>
            <a:xfrm>
              <a:off x="548640" y="4766092"/>
              <a:ext cx="100584" cy="249448"/>
            </a:xfrm>
            <a:prstGeom prst="roundRect">
              <a:avLst>
                <a:gd name="adj" fmla="val 50000"/>
              </a:avLst>
            </a:prstGeom>
            <a:solidFill>
              <a:srgbClr val="01708C"/>
            </a:solidFill>
            <a:ln>
              <a:noFill/>
            </a:ln>
          </p:spPr>
          <p:txBody>
            <a:bodyPr/>
            <a:lstStyle/>
            <a:p>
              <a:endParaRPr/>
            </a:p>
          </p:txBody>
        </p:sp>
        <p:sp>
          <p:nvSpPr>
            <p:cNvPr id="843" name="TEACH-move-text"/>
            <p:cNvSpPr txBox="1"/>
            <p:nvPr/>
          </p:nvSpPr>
          <p:spPr>
            <a:xfrm>
              <a:off x="822960" y="468964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cxnSp>
        <p:nvCxnSpPr>
          <p:cNvPr id="843" name="Google Shape;843;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4" name="Google Shape;844;p81"/>
          <p:cNvSpPr txBox="1"/>
          <p:nvPr/>
        </p:nvSpPr>
        <p:spPr>
          <a:xfrm>
            <a:off x="484565" y="1036737"/>
            <a:ext cx="7541835" cy="969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top of a table is in the shape of an isosceles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area of the tabletop?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845" name="Google Shape;845;p81"/>
          <p:cNvSpPr txBox="1"/>
          <p:nvPr/>
        </p:nvSpPr>
        <p:spPr>
          <a:xfrm>
            <a:off x="567499" y="5388482"/>
            <a:ext cx="8909956" cy="523220"/>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area of the tabletop is 864 square inches.</a:t>
            </a:r>
            <a:endParaRPr b="0" i="0" sz="2800" u="none" cap="none" strike="noStrike">
              <a:solidFill>
                <a:schemeClr val="dk1"/>
              </a:solidFill>
              <a:latin typeface="Arial"/>
              <a:ea typeface="Arial"/>
              <a:cs typeface="Arial"/>
              <a:sym typeface="Arial"/>
            </a:endParaRPr>
          </a:p>
        </p:txBody>
      </p:sp>
      <p:pic>
        <p:nvPicPr>
          <p:cNvPr id="846" name="Google Shape;846;p81"/>
          <p:cNvPicPr preferRelativeResize="0"/>
          <p:nvPr/>
        </p:nvPicPr>
        <p:blipFill rotWithShape="1">
          <a:blip r:embed="rId3">
            <a:alphaModFix/>
          </a:blip>
          <a:srcRect b="0" l="0" r="0" t="0"/>
          <a:stretch/>
        </p:blipFill>
        <p:spPr>
          <a:xfrm>
            <a:off x="7874955" y="2005012"/>
            <a:ext cx="3295650" cy="1476375"/>
          </a:xfrm>
          <a:prstGeom prst="rect">
            <a:avLst/>
          </a:prstGeom>
          <a:noFill/>
          <a:ln>
            <a:noFill/>
          </a:ln>
        </p:spPr>
      </p:pic>
      <p:sp>
        <p:nvSpPr>
          <p:cNvPr id="8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62</a:t>
            </a:r>
          </a:p>
        </p:txBody>
      </p:sp>
      <p:sp xmlns:p="http://schemas.openxmlformats.org/presentationml/2006/main" xmlns:a="http://schemas.openxmlformats.org/drawingml/2006/main">
        <p:nvSpPr>
          <p:cNvPr id="848" name="TEACH-embedded-student-prompt" descr="Student thinking and response directions"/>
          <p:cNvSpPr txBox="1"/>
          <p:nvPr/>
        </p:nvSpPr>
        <p:spPr>
          <a:xfrm>
            <a:off x="594360" y="48097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what a row or column represents. Use it as evidence for your 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82"/>
          <p:cNvSpPr txBox="1"/>
          <p:nvPr/>
        </p:nvSpPr>
        <p:spPr>
          <a:xfrm>
            <a:off x="484563" y="927529"/>
            <a:ext cx="8317691" cy="141850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What statement can you make about the lengths of the parallel sides of the trapezoid when composing the trapezoid into a rectangle?</a:t>
            </a:r>
            <a:endParaRPr b="0" i="0" sz="1400" u="none" cap="none" strike="noStrike">
              <a:solidFill>
                <a:srgbClr val="000000"/>
              </a:solidFill>
              <a:latin typeface="Arial"/>
              <a:ea typeface="Arial"/>
              <a:cs typeface="Arial"/>
              <a:sym typeface="Arial"/>
            </a:endParaRPr>
          </a:p>
        </p:txBody>
      </p:sp>
      <p:sp>
        <p:nvSpPr>
          <p:cNvPr id="852" name="Google Shape;852;p8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53" name="Google Shape;853;p82"/>
          <p:cNvSpPr txBox="1"/>
          <p:nvPr/>
        </p:nvSpPr>
        <p:spPr>
          <a:xfrm>
            <a:off x="484563" y="5031359"/>
            <a:ext cx="7939230" cy="1044531"/>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Is there another way you could decompose the trapezoid to find the area? Explain.</a:t>
            </a:r>
            <a:endParaRPr b="0" i="0" sz="1400" u="none" cap="none" strike="noStrike">
              <a:solidFill>
                <a:srgbClr val="000000"/>
              </a:solidFill>
              <a:latin typeface="Arial"/>
              <a:ea typeface="Arial"/>
              <a:cs typeface="Arial"/>
              <a:sym typeface="Arial"/>
            </a:endParaRPr>
          </a:p>
        </p:txBody>
      </p:sp>
      <p:pic>
        <p:nvPicPr>
          <p:cNvPr id="854" name="Google Shape;854;p82"/>
          <p:cNvPicPr preferRelativeResize="0"/>
          <p:nvPr/>
        </p:nvPicPr>
        <p:blipFill rotWithShape="1">
          <a:blip r:embed="rId3">
            <a:alphaModFix/>
          </a:blip>
          <a:srcRect b="0" l="0" r="0" t="0"/>
          <a:stretch/>
        </p:blipFill>
        <p:spPr>
          <a:xfrm>
            <a:off x="1149106" y="2420126"/>
            <a:ext cx="6988604" cy="2520000"/>
          </a:xfrm>
          <a:prstGeom prst="rect">
            <a:avLst/>
          </a:prstGeom>
          <a:noFill/>
          <a:ln>
            <a:noFill/>
          </a:ln>
        </p:spPr>
      </p:pic>
      <p:sp>
        <p:nvSpPr>
          <p:cNvPr id="8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62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combining two copies of the trapezoid explain the sum of the bases?</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7" name="Google Shape;877;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8" name="Google Shape;878;p85"/>
          <p:cNvSpPr/>
          <p:nvPr/>
        </p:nvSpPr>
        <p:spPr>
          <a:xfrm>
            <a:off x="622728" y="5491182"/>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using math to help identify a problem in your class or community?</a:t>
            </a:r>
            <a:endParaRPr b="0" i="0" sz="1400" u="none" cap="none" strike="noStrike">
              <a:solidFill>
                <a:srgbClr val="000000"/>
              </a:solidFill>
              <a:latin typeface="Arial"/>
              <a:ea typeface="Arial"/>
              <a:cs typeface="Arial"/>
              <a:sym typeface="Arial"/>
            </a:endParaRPr>
          </a:p>
        </p:txBody>
      </p:sp>
      <p:sp>
        <p:nvSpPr>
          <p:cNvPr id="879" name="Google Shape;879;p85"/>
          <p:cNvSpPr txBox="1"/>
          <p:nvPr/>
        </p:nvSpPr>
        <p:spPr>
          <a:xfrm>
            <a:off x="484560" y="936100"/>
            <a:ext cx="4620907"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80" name="Google Shape;880;p85"/>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81" name="Google Shape;881;p85"/>
          <p:cNvPicPr preferRelativeResize="0"/>
          <p:nvPr/>
        </p:nvPicPr>
        <p:blipFill rotWithShape="1">
          <a:blip r:embed="rId2">
            <a:alphaModFix/>
          </a:blip>
          <a:srcRect b="0" l="0" r="0" t="0"/>
          <a:stretch/>
        </p:blipFill>
        <p:spPr>
          <a:xfrm>
            <a:off x="513664" y="4726618"/>
            <a:ext cx="5054600" cy="838200"/>
          </a:xfrm>
          <a:prstGeom prst="rect">
            <a:avLst/>
          </a:prstGeom>
          <a:noFill/>
          <a:ln>
            <a:noFill/>
          </a:ln>
        </p:spPr>
      </p:pic>
      <p:sp>
        <p:nvSpPr>
          <p:cNvPr id="882" name="Google Shape;882;p85"/>
          <p:cNvSpPr txBox="1"/>
          <p:nvPr/>
        </p:nvSpPr>
        <p:spPr>
          <a:xfrm>
            <a:off x="3208120" y="4851466"/>
            <a:ext cx="236014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883" name="Google Shape;883;p85"/>
          <p:cNvPicPr preferRelativeResize="0"/>
          <p:nvPr/>
        </p:nvPicPr>
        <p:blipFill rotWithShape="1">
          <a:blip r:embed="rId3">
            <a:alphaModFix/>
          </a:blip>
          <a:srcRect b="0" l="0" r="0" t="0"/>
          <a:stretch/>
        </p:blipFill>
        <p:spPr>
          <a:xfrm>
            <a:off x="5313507" y="1271453"/>
            <a:ext cx="1752600" cy="3486150"/>
          </a:xfrm>
          <a:prstGeom prst="rect">
            <a:avLst/>
          </a:prstGeom>
          <a:noFill/>
          <a:ln>
            <a:noFill/>
          </a:ln>
        </p:spPr>
      </p:pic>
      <p:pic>
        <p:nvPicPr>
          <p:cNvPr id="884" name="Google Shape;884;p85"/>
          <p:cNvPicPr preferRelativeResize="0"/>
          <p:nvPr/>
        </p:nvPicPr>
        <p:blipFill rotWithShape="1">
          <a:blip r:embed="rId4">
            <a:alphaModFix/>
          </a:blip>
          <a:srcRect b="0" l="0" r="0" t="0"/>
          <a:stretch/>
        </p:blipFill>
        <p:spPr>
          <a:xfrm>
            <a:off x="7755290" y="1801668"/>
            <a:ext cx="2952750" cy="2428875"/>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62</a:t>
            </a:r>
          </a:p>
        </p:txBody>
      </p:sp>
      <p:sp xmlns:p="http://schemas.openxmlformats.org/presentationml/2006/main" xmlns:a="http://schemas.openxmlformats.org/drawingml/2006/main">
        <p:nvSpPr>
          <p:cNvPr id="885" name="TEACH-embedded-student-prompt" descr="Student thinking and response directions"/>
          <p:cNvSpPr txBox="1"/>
          <p:nvPr/>
        </p:nvSpPr>
        <p:spPr>
          <a:xfrm>
            <a:off x="594360" y="34564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formula gives the area of a trapezoid?</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b × h</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½(b1 + b2)h</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b1 + b2 + h</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(b1 × b2) ÷ h</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a trapezoid, what are b1 and b2?</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slanted sides</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two parallel bases</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diagonal lines</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corners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trapezoid has bases 6 cm and 10 cm, height 4 cm. Area is: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16 cm²</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32 cm²</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64 cm²</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 cm²</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Two identical trapezoids placed together form a:</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Circle</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Parallelogram with base (b1 + b2)</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Right triangle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Cube</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62</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5-3 · Determine the Area of Trapezoids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Trapezoid Area Formula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 ½ × (b1 + b2) × h. Average the two </a:t>
            </a:r>
            <a:r>
              <a:rPr b="1" i="0" lang="en-US" sz="1450" u="none" cap="none" strike="noStrike">
                <a:solidFill>
                  <a:srgbClr val="475569"/>
                </a:solidFill>
                <a:latin typeface="Arial"/>
                <a:ea typeface="Arial"/>
                <a:cs typeface="Arial"/>
                <a:sym typeface="Arial"/>
              </a:rPr>
              <a:t xml:space="preserve">parallel</a:t>
            </a:r>
            <a:r>
              <a:rPr b="0" i="0" lang="en-US" sz="1450" u="none" cap="none" strike="noStrike">
                <a:solidFill>
                  <a:srgbClr val="475569"/>
                </a:solidFill>
                <a:latin typeface="Arial"/>
                <a:ea typeface="Arial"/>
                <a:cs typeface="Arial"/>
                <a:sym typeface="Arial"/>
              </a:rPr>
              <a:t xml:space="preserve"> bases and multiply by perpendicular height.</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Composite Decomposition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Trapezoids can also be </a:t>
            </a:r>
            <a:r>
              <a:rPr b="1" i="0" lang="en-US" sz="1450" u="none" cap="none" strike="noStrike">
                <a:solidFill>
                  <a:srgbClr val="475569"/>
                </a:solidFill>
                <a:latin typeface="Arial"/>
                <a:ea typeface="Arial"/>
                <a:cs typeface="Arial"/>
                <a:sym typeface="Arial"/>
              </a:rPr>
              <a:t xml:space="preserve">decomposed</a:t>
            </a:r>
            <a:r>
              <a:rPr b="0" i="0" lang="en-US" sz="1450" u="none" cap="none" strike="noStrike">
                <a:solidFill>
                  <a:srgbClr val="475569"/>
                </a:solidFill>
                <a:latin typeface="Arial"/>
                <a:ea typeface="Arial"/>
                <a:cs typeface="Arial"/>
                <a:sym typeface="Arial"/>
              </a:rPr>
              <a:t xml:space="preserve"> into a central rectangle and one or two right triangles.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Parallel Bases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Always identify the two parallel sides as </a:t>
            </a:r>
            <a:r>
              <a:rPr b="1" i="0" lang="en-US" sz="1450" u="none" cap="none" strike="noStrike">
                <a:solidFill>
                  <a:srgbClr val="475569"/>
                </a:solidFill>
                <a:latin typeface="Arial"/>
                <a:ea typeface="Arial"/>
                <a:cs typeface="Arial"/>
                <a:sym typeface="Arial"/>
              </a:rPr>
              <a:t xml:space="preserve">bases</a:t>
            </a:r>
            <a:r>
              <a:rPr b="0" i="0" lang="en-US" sz="1450" u="none" cap="none" strike="noStrike">
                <a:solidFill>
                  <a:srgbClr val="475569"/>
                </a:solidFill>
                <a:latin typeface="Arial"/>
                <a:ea typeface="Arial"/>
                <a:cs typeface="Arial"/>
                <a:sym typeface="Arial"/>
              </a:rPr>
              <a:t xml:space="preserve">; distance between them is </a:t>
            </a:r>
            <a:r>
              <a:rPr b="1" i="0" lang="en-US" sz="1450" u="none" cap="none" strike="noStrike">
                <a:solidFill>
                  <a:srgbClr val="475569"/>
                </a:solidFill>
                <a:latin typeface="Arial"/>
                <a:ea typeface="Arial"/>
                <a:cs typeface="Arial"/>
                <a:sym typeface="Arial"/>
              </a:rPr>
              <a:t xml:space="preserve">height</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62</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60" name="Google Shape;860;p8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61" name="Google Shape;861;p83"/>
          <p:cNvSpPr txBox="1"/>
          <p:nvPr/>
        </p:nvSpPr>
        <p:spPr>
          <a:xfrm>
            <a:off x="1402828" y="2453950"/>
            <a:ext cx="7704596" cy="8744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Trapezoids​</a:t>
            </a:r>
            <a:endParaRPr b="0" i="0" sz="1400" u="none" cap="none" strike="noStrike">
              <a:solidFill>
                <a:srgbClr val="000000"/>
              </a:solidFill>
              <a:latin typeface="Arial"/>
              <a:ea typeface="Arial"/>
              <a:cs typeface="Arial"/>
              <a:sym typeface="Arial"/>
            </a:endParaRPr>
          </a:p>
        </p:txBody>
      </p:sp>
      <p:sp>
        <p:nvSpPr>
          <p:cNvPr id="8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62</a:t>
            </a:r>
          </a:p>
        </p:txBody>
      </p:sp>
      <p:grpSp>
        <p:nvGrpSpPr>
          <p:cNvPr id="863" name="TEACH-3-student-move" descr="TEACH 3 · Use intentional questioning to deepen learning"/>
          <p:cNvGrpSpPr/>
          <p:nvPr/>
        </p:nvGrpSpPr>
        <p:grpSpPr>
          <a:xfrm>
            <a:off x="502920" y="3410712"/>
            <a:ext cx="11186160" cy="731520"/>
            <a:chOff x="502920" y="3410712"/>
            <a:chExt cx="11186160" cy="731520"/>
          </a:xfrm>
        </p:grpSpPr>
        <p:sp>
          <p:nvSpPr>
            <p:cNvPr id="864" name="TEACH-move-card"/>
            <p:cNvSpPr/>
            <p:nvPr/>
          </p:nvSpPr>
          <p:spPr>
            <a:xfrm>
              <a:off x="502920" y="34107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65" name="TEACH-move-rule"/>
            <p:cNvSpPr/>
            <p:nvPr/>
          </p:nvSpPr>
          <p:spPr>
            <a:xfrm>
              <a:off x="548640" y="3549701"/>
              <a:ext cx="100584" cy="453542"/>
            </a:xfrm>
            <a:prstGeom prst="roundRect">
              <a:avLst>
                <a:gd name="adj" fmla="val 50000"/>
              </a:avLst>
            </a:prstGeom>
            <a:solidFill>
              <a:srgbClr val="01708C"/>
            </a:solidFill>
            <a:ln>
              <a:noFill/>
            </a:ln>
          </p:spPr>
          <p:txBody>
            <a:bodyPr/>
            <a:lstStyle/>
            <a:p>
              <a:endParaRPr/>
            </a:p>
          </p:txBody>
        </p:sp>
        <p:sp>
          <p:nvSpPr>
            <p:cNvPr id="866" name="TEACH-move-text"/>
            <p:cNvSpPr txBox="1"/>
            <p:nvPr/>
          </p:nvSpPr>
          <p:spPr>
            <a:xfrm>
              <a:off x="822960" y="34107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ANOTHER PATHWAY  ·  </a:t>
              </a:r>
              <a:r>
                <a:rPr lang="en-US" sz="1800" dirty="0">
                  <a:solidFill>
                    <a:srgbClr val="13303A"/>
                  </a:solidFill>
                  <a:latin typeface="Arial"/>
                </a:rPr>
                <a:t>Did anyone get there a different way? Put both pathways side by side and compare.</a:t>
              </a:r>
              <a:endParaRPr lang="en-US" sz="18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cxnSp>
        <p:nvCxnSpPr>
          <p:cNvPr id="899" name="Google Shape;899;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00" name="Google Shape;900;p87"/>
          <p:cNvPicPr preferRelativeResize="0"/>
          <p:nvPr/>
        </p:nvPicPr>
        <p:blipFill rotWithShape="1">
          <a:blip r:embed="rId3">
            <a:alphaModFix/>
          </a:blip>
          <a:srcRect b="0" l="0" r="0" t="0"/>
          <a:stretch/>
        </p:blipFill>
        <p:spPr>
          <a:xfrm>
            <a:off x="8357073" y="1561397"/>
            <a:ext cx="2895600" cy="3086100"/>
          </a:xfrm>
          <a:prstGeom prst="rect">
            <a:avLst/>
          </a:prstGeom>
          <a:noFill/>
          <a:ln>
            <a:noFill/>
          </a:ln>
        </p:spPr>
      </p:pic>
      <p:sp>
        <p:nvSpPr>
          <p:cNvPr id="901" name="Google Shape;901;p87"/>
          <p:cNvSpPr txBox="1"/>
          <p:nvPr/>
        </p:nvSpPr>
        <p:spPr>
          <a:xfrm>
            <a:off x="486000" y="936100"/>
            <a:ext cx="7280578" cy="34311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shape of Osceola County, Florida resembles a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the approximate area of the county?</a:t>
            </a:r>
            <a:endParaRPr b="0" i="0" sz="1400" u="none" cap="none" strike="noStrike">
              <a:solidFill>
                <a:srgbClr val="000000"/>
              </a:solidFill>
              <a:latin typeface="Arial"/>
              <a:ea typeface="Arial"/>
              <a:cs typeface="Arial"/>
              <a:sym typeface="Arial"/>
            </a:endParaRPr>
          </a:p>
        </p:txBody>
      </p:sp>
      <p:sp>
        <p:nvSpPr>
          <p:cNvPr id="902" name="Google Shape;902;p87"/>
          <p:cNvSpPr txBox="1"/>
          <p:nvPr/>
        </p:nvSpPr>
        <p:spPr>
          <a:xfrm>
            <a:off x="572133" y="5886332"/>
            <a:ext cx="10444209"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connect the problem to math that you already know?</a:t>
            </a:r>
            <a:endParaRPr b="0" i="0" sz="2600" u="none" cap="none" strike="noStrike">
              <a:solidFill>
                <a:srgbClr val="595959"/>
              </a:solidFill>
              <a:latin typeface="Arial"/>
              <a:ea typeface="Arial"/>
              <a:cs typeface="Arial"/>
              <a:sym typeface="Arial"/>
            </a:endParaRPr>
          </a:p>
        </p:txBody>
      </p:sp>
      <p:pic>
        <p:nvPicPr>
          <p:cNvPr id="903" name="Google Shape;903;p87"/>
          <p:cNvPicPr preferRelativeResize="0"/>
          <p:nvPr/>
        </p:nvPicPr>
        <p:blipFill rotWithShape="1">
          <a:blip r:embed="rId4">
            <a:alphaModFix/>
          </a:blip>
          <a:srcRect b="0" l="0" r="0" t="0"/>
          <a:stretch/>
        </p:blipFill>
        <p:spPr>
          <a:xfrm>
            <a:off x="486000" y="5009488"/>
            <a:ext cx="7073900" cy="838200"/>
          </a:xfrm>
          <a:prstGeom prst="rect">
            <a:avLst/>
          </a:prstGeom>
          <a:noFill/>
          <a:ln>
            <a:noFill/>
          </a:ln>
        </p:spPr>
      </p:pic>
      <p:sp>
        <p:nvSpPr>
          <p:cNvPr id="904" name="Google Shape;904;p87"/>
          <p:cNvSpPr txBox="1"/>
          <p:nvPr/>
        </p:nvSpPr>
        <p:spPr>
          <a:xfrm>
            <a:off x="3177722" y="5166806"/>
            <a:ext cx="403689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Making Connections</a:t>
            </a:r>
            <a:r>
              <a:rPr b="0" i="0" lang="en-US" sz="2800" u="none" cap="none" strike="noStrike">
                <a:solidFill>
                  <a:schemeClr val="dk2"/>
                </a:solidFill>
                <a:latin typeface="Arial"/>
                <a:ea typeface="Calibri"/>
                <a:cs typeface="Calibri"/>
                <a:sym typeface="Calibri"/>
              </a:rPr>
              <a:t>​</a:t>
            </a:r>
            <a:endParaRPr b="0" i="0" sz="2800" u="none" cap="none" strike="noStrike">
              <a:solidFill>
                <a:srgbClr val="262626"/>
              </a:solidFill>
              <a:latin typeface="Arial"/>
              <a:ea typeface="Arial"/>
              <a:cs typeface="Arial"/>
              <a:sym typeface="Arial"/>
            </a:endParaRPr>
          </a:p>
        </p:txBody>
      </p:sp>
      <p:sp>
        <p:nvSpPr>
          <p:cNvPr id="905" name="Google Shape;905;p87"/>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sp>
        <p:nvSpPr>
          <p:cNvPr id="9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62</a:t>
            </a:r>
          </a:p>
        </p:txBody>
      </p:sp>
      <p:grpSp>
        <p:nvGrpSpPr>
          <p:cNvPr id="907" name="TEACH-2-student-move" descr="TEACH 2 · Use strategies and tasks to engage students in rigorous work"/>
          <p:cNvGrpSpPr/>
          <p:nvPr/>
        </p:nvGrpSpPr>
        <p:grpSpPr>
          <a:xfrm>
            <a:off x="502920" y="4332832"/>
            <a:ext cx="5501640" cy="594360"/>
            <a:chOff x="502920" y="4332832"/>
            <a:chExt cx="5501640" cy="594360"/>
          </a:xfrm>
        </p:grpSpPr>
        <p:sp>
          <p:nvSpPr>
            <p:cNvPr id="908" name="TEACH-move-card"/>
            <p:cNvSpPr/>
            <p:nvPr/>
          </p:nvSpPr>
          <p:spPr>
            <a:xfrm>
              <a:off x="502920" y="433283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9" name="TEACH-move-rule"/>
            <p:cNvSpPr/>
            <p:nvPr/>
          </p:nvSpPr>
          <p:spPr>
            <a:xfrm>
              <a:off x="548640" y="4445760"/>
              <a:ext cx="100584" cy="368504"/>
            </a:xfrm>
            <a:prstGeom prst="roundRect">
              <a:avLst>
                <a:gd name="adj" fmla="val 50000"/>
              </a:avLst>
            </a:prstGeom>
            <a:solidFill>
              <a:srgbClr val="01708C"/>
            </a:solidFill>
            <a:ln>
              <a:noFill/>
            </a:ln>
          </p:spPr>
          <p:txBody>
            <a:bodyPr/>
            <a:lstStyle/>
            <a:p>
              <a:endParaRPr/>
            </a:p>
          </p:txBody>
        </p:sp>
        <p:sp>
          <p:nvSpPr>
            <p:cNvPr id="910" name="TEACH-move-text"/>
            <p:cNvSpPr txBox="1"/>
            <p:nvPr/>
          </p:nvSpPr>
          <p:spPr>
            <a:xfrm>
              <a:off x="822960" y="433283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cxnSp>
        <p:nvCxnSpPr>
          <p:cNvPr id="919" name="Google Shape;91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0" name="Google Shape;920;p89"/>
          <p:cNvSpPr txBox="1"/>
          <p:nvPr/>
        </p:nvSpPr>
        <p:spPr>
          <a:xfrm>
            <a:off x="486000" y="936000"/>
            <a:ext cx="7346464"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angles in the trapezoid?​</a:t>
            </a:r>
            <a:endParaRPr b="0" i="0" sz="1400" u="none" cap="none" strike="noStrike">
              <a:solidFill>
                <a:srgbClr val="000000"/>
              </a:solidFill>
              <a:latin typeface="Arial"/>
              <a:ea typeface="Arial"/>
              <a:cs typeface="Arial"/>
              <a:sym typeface="Arial"/>
            </a:endParaRPr>
          </a:p>
        </p:txBody>
      </p:sp>
      <p:sp>
        <p:nvSpPr>
          <p:cNvPr id="921" name="Google Shape;921;p89"/>
          <p:cNvSpPr txBox="1"/>
          <p:nvPr/>
        </p:nvSpPr>
        <p:spPr>
          <a:xfrm>
            <a:off x="486000" y="5040000"/>
            <a:ext cx="6112655" cy="1014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of the angles are right angles.</a:t>
            </a:r>
            <a:endParaRPr b="0" i="0" sz="1400" u="none" cap="none" strike="noStrike">
              <a:solidFill>
                <a:srgbClr val="000000"/>
              </a:solidFill>
              <a:latin typeface="Arial"/>
              <a:ea typeface="Arial"/>
              <a:cs typeface="Arial"/>
              <a:sym typeface="Arial"/>
            </a:endParaRPr>
          </a:p>
        </p:txBody>
      </p:sp>
      <p:sp>
        <p:nvSpPr>
          <p:cNvPr id="922" name="Google Shape;922;p89"/>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23" name="Google Shape;923;p89"/>
          <p:cNvPicPr preferRelativeResize="0"/>
          <p:nvPr/>
        </p:nvPicPr>
        <p:blipFill rotWithShape="1">
          <a:blip r:embed="rId3">
            <a:alphaModFix/>
          </a:blip>
          <a:srcRect b="0" l="0" r="0" t="0"/>
          <a:stretch/>
        </p:blipFill>
        <p:spPr>
          <a:xfrm>
            <a:off x="8716633" y="1795900"/>
            <a:ext cx="2800350" cy="3028950"/>
          </a:xfrm>
          <a:prstGeom prst="rect">
            <a:avLst/>
          </a:prstGeom>
          <a:noFill/>
          <a:ln>
            <a:noFill/>
          </a:ln>
        </p:spPr>
      </p:pic>
      <p:sp>
        <p:nvSpPr>
          <p:cNvPr id="9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62</a:t>
            </a:r>
          </a:p>
        </p:txBody>
      </p:sp>
      <p:sp>
        <p:nvSpPr>
          <p:cNvPr id="925" name="EWL-COVER-1"/>
          <p:cNvSpPr/>
          <p:nvPr/>
        </p:nvSpPr>
        <p:spPr>
          <a:xfrm>
            <a:off x="431136" y="4985136"/>
            <a:ext cx="6222383" cy="1124640"/>
          </a:xfrm>
          <a:prstGeom prst="rect">
            <a:avLst/>
          </a:prstGeom>
          <a:solidFill>
            <a:srgbClr val="FFFFFF"/>
          </a:solidFill>
          <a:ln>
            <a:noFill/>
          </a:ln>
        </p:spPr>
        <p:txBody>
          <a:bodyPr/>
          <a:lstStyle/>
          <a:p/>
        </p:txBody>
      </p:sp>
      <p:sp xmlns:p="http://schemas.openxmlformats.org/presentationml/2006/main" xmlns:a="http://schemas.openxmlformats.org/drawingml/2006/main">
        <p:nvSpPr>
          <p:cNvPr id="926" name="TEACH-embedded-student-prompt" descr="Student thinking and response directions"/>
          <p:cNvSpPr txBox="1"/>
          <p:nvPr/>
        </p:nvSpPr>
        <p:spPr>
          <a:xfrm>
            <a:off x="594360" y="40416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cxnSp>
        <p:nvCxnSpPr>
          <p:cNvPr id="937" name="Google Shape;937;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8" name="Google Shape;938;p91"/>
          <p:cNvSpPr txBox="1"/>
          <p:nvPr/>
        </p:nvSpPr>
        <p:spPr>
          <a:xfrm>
            <a:off x="484564" y="936000"/>
            <a:ext cx="7689618" cy="9788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trapezoid with two right angles is called a right trapezoid.</a:t>
            </a:r>
            <a:endParaRPr b="0" i="0" sz="1400" u="none" cap="none" strike="noStrike">
              <a:solidFill>
                <a:srgbClr val="000000"/>
              </a:solidFill>
              <a:latin typeface="Arial"/>
              <a:ea typeface="Arial"/>
              <a:cs typeface="Arial"/>
              <a:sym typeface="Arial"/>
            </a:endParaRPr>
          </a:p>
        </p:txBody>
      </p:sp>
      <p:sp>
        <p:nvSpPr>
          <p:cNvPr id="939" name="Google Shape;939;p91"/>
          <p:cNvSpPr txBox="1"/>
          <p:nvPr/>
        </p:nvSpPr>
        <p:spPr>
          <a:xfrm>
            <a:off x="484564" y="5129709"/>
            <a:ext cx="8187487" cy="11147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is a right trapezoid similar to a right triangle? </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940" name="Google Shape;940;p91"/>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41" name="Google Shape;941;p91"/>
          <p:cNvPicPr preferRelativeResize="0"/>
          <p:nvPr/>
        </p:nvPicPr>
        <p:blipFill rotWithShape="1">
          <a:blip r:embed="rId3">
            <a:alphaModFix/>
          </a:blip>
          <a:srcRect b="0" l="0" r="0" t="0"/>
          <a:stretch/>
        </p:blipFill>
        <p:spPr>
          <a:xfrm>
            <a:off x="8716633" y="1795900"/>
            <a:ext cx="2800350" cy="3028950"/>
          </a:xfrm>
          <a:prstGeom prst="rect">
            <a:avLst/>
          </a:prstGeom>
          <a:noFill/>
          <a:ln>
            <a:noFill/>
          </a:ln>
        </p:spPr>
      </p:pic>
      <p:sp>
        <p:nvSpPr>
          <p:cNvPr id="9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62</a:t>
            </a:r>
          </a:p>
        </p:txBody>
      </p:sp>
      <p:sp xmlns:p="http://schemas.openxmlformats.org/presentationml/2006/main" xmlns:a="http://schemas.openxmlformats.org/drawingml/2006/main">
        <p:nvSpPr>
          <p:cNvPr id="943" name="TEACH-embedded-student-prompt" descr="Student thinking and response directions"/>
          <p:cNvSpPr txBox="1"/>
          <p:nvPr/>
        </p:nvSpPr>
        <p:spPr>
          <a:xfrm>
            <a:off x="594360" y="42245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a:t>
            </a:r>
            <a:endParaRPr lang="en-US" sz="2000"/>
          </a:p>
          <a:p>
            <a:pPr>
              <a:lnSpc>
                <a:spcPts val="2400"/>
              </a:lnSpc>
              <a:buNone/>
            </a:pPr>
            <a:r>
              <a:rPr lang="en-US" sz="2000">
                <a:solidFill>
                  <a:srgbClr val="174D60"/>
                </a:solidFill>
                <a:latin typeface="Arial"/>
              </a:rPr>
              <a:t>your method uses them.</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cxnSp>
        <p:nvCxnSpPr>
          <p:cNvPr id="956" name="Google Shape;95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7" name="Google Shape;957;p93"/>
          <p:cNvSpPr txBox="1"/>
          <p:nvPr/>
        </p:nvSpPr>
        <p:spPr>
          <a:xfrm>
            <a:off x="486000" y="936000"/>
            <a:ext cx="7346464"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one method you could use to find the area of the right trapezoid?</a:t>
            </a:r>
            <a:endParaRPr b="0" i="0" sz="1400" u="none" cap="none" strike="noStrike">
              <a:solidFill>
                <a:srgbClr val="000000"/>
              </a:solidFill>
              <a:latin typeface="Arial"/>
              <a:ea typeface="Arial"/>
              <a:cs typeface="Arial"/>
              <a:sym typeface="Arial"/>
            </a:endParaRPr>
          </a:p>
        </p:txBody>
      </p:sp>
      <p:sp>
        <p:nvSpPr>
          <p:cNvPr id="958" name="Google Shape;958;p93"/>
          <p:cNvSpPr txBox="1"/>
          <p:nvPr/>
        </p:nvSpPr>
        <p:spPr>
          <a:xfrm>
            <a:off x="486000" y="5293712"/>
            <a:ext cx="8849366" cy="10423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could compose the trapezoid into another shape.</a:t>
            </a:r>
            <a:endParaRPr b="0" i="0" sz="1400" u="none" cap="none" strike="noStrike">
              <a:solidFill>
                <a:srgbClr val="000000"/>
              </a:solidFill>
              <a:latin typeface="Arial"/>
              <a:ea typeface="Arial"/>
              <a:cs typeface="Arial"/>
              <a:sym typeface="Arial"/>
            </a:endParaRPr>
          </a:p>
        </p:txBody>
      </p:sp>
      <p:sp>
        <p:nvSpPr>
          <p:cNvPr id="959" name="Google Shape;959;p93"/>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60" name="Google Shape;960;p93"/>
          <p:cNvPicPr preferRelativeResize="0"/>
          <p:nvPr/>
        </p:nvPicPr>
        <p:blipFill rotWithShape="1">
          <a:blip r:embed="rId3">
            <a:alphaModFix/>
          </a:blip>
          <a:srcRect b="0" l="0" r="0" t="0"/>
          <a:stretch/>
        </p:blipFill>
        <p:spPr>
          <a:xfrm>
            <a:off x="8716633" y="1795900"/>
            <a:ext cx="2800350" cy="3028950"/>
          </a:xfrm>
          <a:prstGeom prst="rect">
            <a:avLst/>
          </a:prstGeom>
          <a:noFill/>
          <a:ln>
            <a:noFill/>
          </a:ln>
        </p:spPr>
      </p:pic>
      <p:sp>
        <p:nvSpPr>
          <p:cNvPr id="9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62</a:t>
            </a:r>
          </a:p>
        </p:txBody>
      </p:sp>
      <p:sp>
        <p:nvSpPr>
          <p:cNvPr id="962" name="EWL-COVER-1"/>
          <p:cNvSpPr/>
          <p:nvPr/>
        </p:nvSpPr>
        <p:spPr>
          <a:xfrm>
            <a:off x="431136" y="5238848"/>
            <a:ext cx="8959094" cy="1152072"/>
          </a:xfrm>
          <a:prstGeom prst="rect">
            <a:avLst/>
          </a:prstGeom>
          <a:solidFill>
            <a:srgbClr val="FFFFFF"/>
          </a:solidFill>
          <a:ln>
            <a:noFill/>
          </a:ln>
        </p:spPr>
        <p:txBody>
          <a:bodyPr/>
          <a:lstStyle/>
          <a:p/>
        </p:txBody>
      </p:sp>
      <p:sp xmlns:p="http://schemas.openxmlformats.org/presentationml/2006/main" xmlns:a="http://schemas.openxmlformats.org/drawingml/2006/main">
        <p:nvSpPr>
          <p:cNvPr id="963" name="TEACH-embedded-student-prompt" descr="Student thinking and response directions"/>
          <p:cNvSpPr txBox="1"/>
          <p:nvPr/>
        </p:nvSpPr>
        <p:spPr>
          <a:xfrm>
            <a:off x="594360" y="43159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cxnSp>
        <p:nvCxnSpPr>
          <p:cNvPr id="975" name="Google Shape;975;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95"/>
          <p:cNvSpPr txBox="1"/>
          <p:nvPr/>
        </p:nvSpPr>
        <p:spPr>
          <a:xfrm>
            <a:off x="486000" y="5040000"/>
            <a:ext cx="9169406" cy="1078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area formula for rectangles</a:t>
            </a:r>
            <a:r>
              <a:rPr b="0" i="0" lang="en-US" sz="3200" u="none" cap="none" strike="noStrike">
                <a:solidFill>
                  <a:schemeClr val="dk2"/>
                </a:solidFill>
                <a:latin typeface="Arial"/>
                <a:ea typeface="Arial"/>
                <a:cs typeface="Arial"/>
                <a:sym typeface="Arial"/>
              </a:rPr>
              <a:t>.</a:t>
            </a:r>
            <a:endParaRPr b="0" i="0" sz="2800" u="none" cap="none" strike="noStrike">
              <a:solidFill>
                <a:srgbClr val="595959"/>
              </a:solidFill>
              <a:latin typeface="Arial"/>
              <a:ea typeface="Arial"/>
              <a:cs typeface="Arial"/>
              <a:sym typeface="Arial"/>
            </a:endParaRPr>
          </a:p>
        </p:txBody>
      </p:sp>
      <p:sp>
        <p:nvSpPr>
          <p:cNvPr id="977" name="Google Shape;977;p95"/>
          <p:cNvSpPr txBox="1"/>
          <p:nvPr/>
        </p:nvSpPr>
        <p:spPr>
          <a:xfrm>
            <a:off x="484564" y="936000"/>
            <a:ext cx="6803301" cy="13729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compose the trapezoid into a rectangle by copying and combining the trapezoid.</a:t>
            </a:r>
            <a:endParaRPr b="0" i="0" sz="1400" u="none" cap="none" strike="noStrike">
              <a:solidFill>
                <a:srgbClr val="000000"/>
              </a:solidFill>
              <a:latin typeface="Arial"/>
              <a:ea typeface="Arial"/>
              <a:cs typeface="Arial"/>
              <a:sym typeface="Arial"/>
            </a:endParaRPr>
          </a:p>
        </p:txBody>
      </p:sp>
      <p:sp>
        <p:nvSpPr>
          <p:cNvPr id="978" name="Google Shape;978;p95"/>
          <p:cNvSpPr/>
          <p:nvPr/>
        </p:nvSpPr>
        <p:spPr>
          <a:xfrm>
            <a:off x="484564" y="2554944"/>
            <a:ext cx="680330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find the area of the resulting rectangle? </a:t>
            </a:r>
            <a:endParaRPr b="1" i="0" sz="2800" u="none" cap="none" strike="noStrike">
              <a:solidFill>
                <a:schemeClr val="dk1"/>
              </a:solidFill>
              <a:latin typeface="Arial"/>
              <a:ea typeface="Arial"/>
              <a:cs typeface="Arial"/>
              <a:sym typeface="Arial"/>
            </a:endParaRPr>
          </a:p>
        </p:txBody>
      </p:sp>
      <p:sp>
        <p:nvSpPr>
          <p:cNvPr id="979" name="Google Shape;979;p95"/>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80" name="Google Shape;980;p95"/>
          <p:cNvPicPr preferRelativeResize="0"/>
          <p:nvPr/>
        </p:nvPicPr>
        <p:blipFill rotWithShape="1">
          <a:blip r:embed="rId3">
            <a:alphaModFix/>
          </a:blip>
          <a:srcRect b="0" l="0" r="0" t="0"/>
          <a:stretch/>
        </p:blipFill>
        <p:spPr>
          <a:xfrm>
            <a:off x="7287865" y="1352694"/>
            <a:ext cx="4667250" cy="3838575"/>
          </a:xfrm>
          <a:prstGeom prst="rect">
            <a:avLst/>
          </a:prstGeom>
          <a:noFill/>
          <a:ln>
            <a:noFill/>
          </a:ln>
        </p:spPr>
      </p:pic>
      <p:sp>
        <p:nvSpPr>
          <p:cNvPr id="9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62</a:t>
            </a:r>
          </a:p>
        </p:txBody>
      </p:sp>
      <p:sp>
        <p:nvSpPr>
          <p:cNvPr id="982" name="EWL-COVER-1"/>
          <p:cNvSpPr/>
          <p:nvPr/>
        </p:nvSpPr>
        <p:spPr>
          <a:xfrm>
            <a:off x="431136" y="4985136"/>
            <a:ext cx="9279134" cy="1188648"/>
          </a:xfrm>
          <a:prstGeom prst="rect">
            <a:avLst/>
          </a:prstGeom>
          <a:solidFill>
            <a:srgbClr val="FFFFFF"/>
          </a:solidFill>
          <a:ln>
            <a:noFill/>
          </a:ln>
        </p:spPr>
        <p:txBody>
          <a:bodyPr/>
          <a:lstStyle/>
          <a:p/>
        </p:txBody>
      </p:sp>
      <p:sp xmlns:p="http://schemas.openxmlformats.org/presentationml/2006/main" xmlns:a="http://schemas.openxmlformats.org/drawingml/2006/main">
        <p:nvSpPr>
          <p:cNvPr id="983"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cxnSp>
        <p:nvCxnSpPr>
          <p:cNvPr id="999" name="Google Shape;999;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0" name="Google Shape;1000;p97"/>
          <p:cNvSpPr txBox="1"/>
          <p:nvPr/>
        </p:nvSpPr>
        <p:spPr>
          <a:xfrm>
            <a:off x="484564" y="4974356"/>
            <a:ext cx="10184390" cy="10929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500" u="none" cap="none" strike="noStrike">
                <a:solidFill>
                  <a:srgbClr val="0070C0"/>
                </a:solidFill>
                <a:highlight>
                  <a:srgbClr val="E0E0E0"/>
                </a:highlight>
                <a:latin typeface="Arial"/>
                <a:ea typeface="Arial"/>
                <a:cs typeface="Arial"/>
                <a:sym typeface="Arial"/>
              </a:rPr>
              <a:t> Reveal</a:t>
            </a:r>
            <a:r>
              <a:rPr b="1" i="0" lang="en-US" sz="2500" u="none" cap="none" strike="noStrike">
                <a:solidFill>
                  <a:srgbClr val="E0E0E0"/>
                </a:solidFill>
                <a:highlight>
                  <a:srgbClr val="E0E0E0"/>
                </a:highlight>
                <a:latin typeface="Arial"/>
                <a:ea typeface="Arial"/>
                <a:cs typeface="Arial"/>
                <a:sym typeface="Arial"/>
              </a:rPr>
              <a:t>:</a:t>
            </a:r>
            <a:r>
              <a:rPr b="1" i="0" lang="en-US" sz="2500" u="none" cap="none" strike="noStrike">
                <a:solidFill>
                  <a:srgbClr val="0070C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500" u="none" cap="none" strike="noStrike">
                <a:solidFill>
                  <a:srgbClr val="595959"/>
                </a:solidFill>
                <a:latin typeface="Arial"/>
                <a:ea typeface="Arial"/>
                <a:cs typeface="Arial"/>
                <a:sym typeface="Arial"/>
              </a:rPr>
              <a:t>It is equivalent to the sum of the bases of the original trapezoid</a:t>
            </a:r>
            <a:r>
              <a:rPr b="0" i="0" lang="en-US" sz="2900" u="none" cap="none" strike="noStrike">
                <a:solidFill>
                  <a:schemeClr val="dk2"/>
                </a:solidFill>
                <a:latin typeface="Arial"/>
                <a:ea typeface="Arial"/>
                <a:cs typeface="Arial"/>
                <a:sym typeface="Arial"/>
              </a:rPr>
              <a:t>.</a:t>
            </a:r>
            <a:endParaRPr b="0" i="0" sz="2500" u="none" cap="none" strike="noStrike">
              <a:solidFill>
                <a:srgbClr val="595959"/>
              </a:solidFill>
              <a:latin typeface="Arial"/>
              <a:ea typeface="Arial"/>
              <a:cs typeface="Arial"/>
              <a:sym typeface="Arial"/>
            </a:endParaRPr>
          </a:p>
        </p:txBody>
      </p:sp>
      <p:sp>
        <p:nvSpPr>
          <p:cNvPr id="1001" name="Google Shape;1001;p97"/>
          <p:cNvSpPr txBox="1"/>
          <p:nvPr/>
        </p:nvSpPr>
        <p:spPr>
          <a:xfrm>
            <a:off x="484564" y="936000"/>
            <a:ext cx="6857932" cy="5781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the area formula for rectangles.</a:t>
            </a:r>
            <a:endParaRPr b="0" i="0" sz="1400" u="none" cap="none" strike="noStrike">
              <a:solidFill>
                <a:srgbClr val="000000"/>
              </a:solidFill>
              <a:latin typeface="Arial"/>
              <a:ea typeface="Arial"/>
              <a:cs typeface="Arial"/>
              <a:sym typeface="Arial"/>
            </a:endParaRPr>
          </a:p>
        </p:txBody>
      </p:sp>
      <p:sp>
        <p:nvSpPr>
          <p:cNvPr id="1002" name="Google Shape;1002;p97"/>
          <p:cNvSpPr/>
          <p:nvPr/>
        </p:nvSpPr>
        <p:spPr>
          <a:xfrm>
            <a:off x="484564" y="1608683"/>
            <a:ext cx="1701876"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3" name="Google Shape;1003;p97"/>
          <p:cNvSpPr/>
          <p:nvPr/>
        </p:nvSpPr>
        <p:spPr>
          <a:xfrm>
            <a:off x="484564" y="2226456"/>
            <a:ext cx="362798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4" name="Google Shape;1004;p97"/>
          <p:cNvSpPr/>
          <p:nvPr/>
        </p:nvSpPr>
        <p:spPr>
          <a:xfrm>
            <a:off x="484564" y="2844229"/>
            <a:ext cx="280346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5" name="Google Shape;1005;p97"/>
          <p:cNvSpPr/>
          <p:nvPr/>
        </p:nvSpPr>
        <p:spPr>
          <a:xfrm>
            <a:off x="484564" y="3462002"/>
            <a:ext cx="2942537"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6" name="Google Shape;1006;p97"/>
          <p:cNvSpPr txBox="1"/>
          <p:nvPr/>
        </p:nvSpPr>
        <p:spPr>
          <a:xfrm>
            <a:off x="484564" y="4079775"/>
            <a:ext cx="68033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length of the rectangle?</a:t>
            </a:r>
            <a:endParaRPr b="0" i="0" sz="1400" u="none" cap="none" strike="noStrike">
              <a:solidFill>
                <a:srgbClr val="000000"/>
              </a:solidFill>
              <a:latin typeface="Arial"/>
              <a:ea typeface="Arial"/>
              <a:cs typeface="Arial"/>
              <a:sym typeface="Arial"/>
            </a:endParaRPr>
          </a:p>
        </p:txBody>
      </p:sp>
      <p:sp>
        <p:nvSpPr>
          <p:cNvPr id="1007" name="Google Shape;1007;p97"/>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1008" name="Google Shape;1008;p97"/>
          <p:cNvPicPr preferRelativeResize="0"/>
          <p:nvPr/>
        </p:nvPicPr>
        <p:blipFill rotWithShape="1">
          <a:blip r:embed="rId7">
            <a:alphaModFix/>
          </a:blip>
          <a:srcRect b="0" l="0" r="0" t="0"/>
          <a:stretch/>
        </p:blipFill>
        <p:spPr>
          <a:xfrm>
            <a:off x="7287865" y="1352694"/>
            <a:ext cx="4667250" cy="3838575"/>
          </a:xfrm>
          <a:prstGeom prst="rect">
            <a:avLst/>
          </a:prstGeom>
          <a:noFill/>
          <a:ln>
            <a:noFill/>
          </a:ln>
        </p:spPr>
      </p:pic>
      <p:sp>
        <p:nvSpPr>
          <p:cNvPr id="10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62</a:t>
            </a:r>
          </a:p>
        </p:txBody>
      </p:sp>
      <p:sp>
        <p:nvSpPr>
          <p:cNvPr id="1010" name="EWL-COVER-1"/>
          <p:cNvSpPr/>
          <p:nvPr/>
        </p:nvSpPr>
        <p:spPr>
          <a:xfrm>
            <a:off x="429700" y="4919492"/>
            <a:ext cx="10294118" cy="143863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cxnSp>
        <p:nvCxnSpPr>
          <p:cNvPr id="1022" name="Google Shape;1022;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3" name="Google Shape;1023;p99"/>
          <p:cNvSpPr txBox="1"/>
          <p:nvPr/>
        </p:nvSpPr>
        <p:spPr>
          <a:xfrm>
            <a:off x="484563" y="4860000"/>
            <a:ext cx="9526022" cy="14172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two identical trapezoids that form the rectangle. The area of one trapezoid is half the area of the rectangle.</a:t>
            </a:r>
            <a:endParaRPr b="0" i="0" sz="1400" u="none" cap="none" strike="noStrike">
              <a:solidFill>
                <a:srgbClr val="000000"/>
              </a:solidFill>
              <a:latin typeface="Arial"/>
              <a:ea typeface="Arial"/>
              <a:cs typeface="Arial"/>
              <a:sym typeface="Arial"/>
            </a:endParaRPr>
          </a:p>
        </p:txBody>
      </p:sp>
      <p:sp>
        <p:nvSpPr>
          <p:cNvPr id="1024" name="Google Shape;1024;p99"/>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sp>
        <p:nvSpPr>
          <p:cNvPr id="1025" name="Google Shape;1025;p99"/>
          <p:cNvSpPr txBox="1"/>
          <p:nvPr/>
        </p:nvSpPr>
        <p:spPr>
          <a:xfrm>
            <a:off x="484563" y="936000"/>
            <a:ext cx="6682855" cy="36821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area of the rectangle is 3,284.4 square miles.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length of the rectangle is equal to the sum of the bases of the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use the area of the rectangle to find the area of the trapezoid?</a:t>
            </a:r>
            <a:endParaRPr b="1" i="0" sz="2800" u="none" cap="none" strike="noStrike">
              <a:solidFill>
                <a:schemeClr val="dk1"/>
              </a:solidFill>
              <a:latin typeface="Arial"/>
              <a:ea typeface="Arial"/>
              <a:cs typeface="Arial"/>
              <a:sym typeface="Arial"/>
            </a:endParaRPr>
          </a:p>
        </p:txBody>
      </p:sp>
      <p:pic>
        <p:nvPicPr>
          <p:cNvPr id="1026" name="Google Shape;1026;p99"/>
          <p:cNvPicPr preferRelativeResize="0"/>
          <p:nvPr/>
        </p:nvPicPr>
        <p:blipFill rotWithShape="1">
          <a:blip r:embed="rId3">
            <a:alphaModFix/>
          </a:blip>
          <a:srcRect b="0" l="0" r="0" t="0"/>
          <a:stretch/>
        </p:blipFill>
        <p:spPr>
          <a:xfrm>
            <a:off x="7287865" y="1352694"/>
            <a:ext cx="4667250" cy="3838575"/>
          </a:xfrm>
          <a:prstGeom prst="rect">
            <a:avLst/>
          </a:prstGeom>
          <a:noFill/>
          <a:ln>
            <a:noFill/>
          </a:ln>
        </p:spPr>
      </p:pic>
      <p:sp>
        <p:nvSpPr>
          <p:cNvPr id="10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62</a:t>
            </a:r>
          </a:p>
        </p:txBody>
      </p:sp>
      <p:sp>
        <p:nvSpPr>
          <p:cNvPr id="1028" name="EWL-COVER-1"/>
          <p:cNvSpPr/>
          <p:nvPr/>
        </p:nvSpPr>
        <p:spPr>
          <a:xfrm>
            <a:off x="429699" y="4805136"/>
            <a:ext cx="9635750" cy="152697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cxnSp>
        <p:nvCxnSpPr>
          <p:cNvPr id="1031" name="Google Shape;1031;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2" name="Google Shape;1032;p100"/>
          <p:cNvSpPr txBox="1"/>
          <p:nvPr/>
        </p:nvSpPr>
        <p:spPr>
          <a:xfrm>
            <a:off x="484564" y="936000"/>
            <a:ext cx="6522164" cy="11000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area of the trapezoid is half of the area of the rectangle.</a:t>
            </a:r>
            <a:endParaRPr b="0" i="0" sz="1400" u="none" cap="none" strike="noStrike">
              <a:solidFill>
                <a:srgbClr val="000000"/>
              </a:solidFill>
              <a:latin typeface="Arial"/>
              <a:ea typeface="Arial"/>
              <a:cs typeface="Arial"/>
              <a:sym typeface="Arial"/>
            </a:endParaRPr>
          </a:p>
        </p:txBody>
      </p:sp>
      <p:sp>
        <p:nvSpPr>
          <p:cNvPr id="1033" name="Google Shape;1033;p100"/>
          <p:cNvSpPr/>
          <p:nvPr/>
        </p:nvSpPr>
        <p:spPr>
          <a:xfrm>
            <a:off x="484564" y="3271981"/>
            <a:ext cx="5528629" cy="106048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4" name="Google Shape;1034;p100"/>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1035" name="Google Shape;1035;p100"/>
          <p:cNvPicPr preferRelativeResize="0"/>
          <p:nvPr/>
        </p:nvPicPr>
        <p:blipFill rotWithShape="1">
          <a:blip r:embed="rId4">
            <a:alphaModFix/>
          </a:blip>
          <a:srcRect b="0" l="0" r="0" t="0"/>
          <a:stretch/>
        </p:blipFill>
        <p:spPr>
          <a:xfrm>
            <a:off x="7287865" y="1352694"/>
            <a:ext cx="4667250" cy="3838575"/>
          </a:xfrm>
          <a:prstGeom prst="rect">
            <a:avLst/>
          </a:prstGeom>
          <a:noFill/>
          <a:ln>
            <a:noFill/>
          </a:ln>
        </p:spPr>
      </p:pic>
      <p:sp>
        <p:nvSpPr>
          <p:cNvPr id="10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62</a:t>
            </a:r>
          </a:p>
        </p:txBody>
      </p:sp>
      <p:sp xmlns:p="http://schemas.openxmlformats.org/presentationml/2006/main" xmlns:a="http://schemas.openxmlformats.org/drawingml/2006/main">
        <p:nvSpPr>
          <p:cNvPr id="103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cxnSp>
        <p:nvCxnSpPr>
          <p:cNvPr id="1050" name="Google Shape;1050;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1" name="Google Shape;1051;p102"/>
          <p:cNvSpPr txBox="1"/>
          <p:nvPr/>
        </p:nvSpPr>
        <p:spPr>
          <a:xfrm>
            <a:off x="953847" y="357793"/>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1052" name="Google Shape;1052;p102"/>
          <p:cNvPicPr preferRelativeResize="0"/>
          <p:nvPr/>
        </p:nvPicPr>
        <p:blipFill rotWithShape="1">
          <a:blip r:embed="rId3">
            <a:alphaModFix/>
          </a:blip>
          <a:srcRect b="0" l="0" r="0" t="0"/>
          <a:stretch/>
        </p:blipFill>
        <p:spPr>
          <a:xfrm>
            <a:off x="543714" y="424126"/>
            <a:ext cx="353635" cy="340537"/>
          </a:xfrm>
          <a:prstGeom prst="rect">
            <a:avLst/>
          </a:prstGeom>
          <a:noFill/>
          <a:ln>
            <a:noFill/>
          </a:ln>
        </p:spPr>
      </p:pic>
      <p:sp>
        <p:nvSpPr>
          <p:cNvPr id="1053" name="Google Shape;1053;p102"/>
          <p:cNvSpPr txBox="1"/>
          <p:nvPr/>
        </p:nvSpPr>
        <p:spPr>
          <a:xfrm>
            <a:off x="543714" y="5099745"/>
            <a:ext cx="10147814" cy="1261800"/>
          </a:xfrm>
          <a:prstGeom prst="rect">
            <a:avLst/>
          </a:prstGeom>
          <a:blipFill rotWithShape="1">
            <a:blip r:embed="rId4">
              <a:alphaModFix/>
            </a:blip>
            <a:stretch>
              <a:fillRect b="-483" l="-1201" r="0" t="-531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54" name="Google Shape;1054;p102"/>
          <p:cNvSpPr txBox="1"/>
          <p:nvPr/>
        </p:nvSpPr>
        <p:spPr>
          <a:xfrm>
            <a:off x="484565" y="1014035"/>
            <a:ext cx="7187531" cy="39920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You can find the area of the trapezoid by finding half the area of the rectangle formed by copying and combining the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length of the rectangle is equal to the sum of the bases of the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use this information to help you develop a formula for the area of a trapezoid?</a:t>
            </a:r>
            <a:endParaRPr b="0" i="0" sz="1400" u="none" cap="none" strike="noStrike">
              <a:solidFill>
                <a:srgbClr val="000000"/>
              </a:solidFill>
              <a:latin typeface="Arial"/>
              <a:ea typeface="Arial"/>
              <a:cs typeface="Arial"/>
              <a:sym typeface="Arial"/>
            </a:endParaRPr>
          </a:p>
        </p:txBody>
      </p:sp>
      <p:pic>
        <p:nvPicPr>
          <p:cNvPr id="1055" name="Google Shape;1055;p102"/>
          <p:cNvPicPr preferRelativeResize="0"/>
          <p:nvPr/>
        </p:nvPicPr>
        <p:blipFill rotWithShape="1">
          <a:blip r:embed="rId5">
            <a:alphaModFix/>
          </a:blip>
          <a:srcRect b="0" l="0" r="0" t="0"/>
          <a:stretch/>
        </p:blipFill>
        <p:spPr>
          <a:xfrm>
            <a:off x="7672097" y="1347790"/>
            <a:ext cx="4241514" cy="4680000"/>
          </a:xfrm>
          <a:prstGeom prst="rect">
            <a:avLst/>
          </a:prstGeom>
          <a:noFill/>
          <a:ln>
            <a:noFill/>
          </a:ln>
        </p:spPr>
      </p:pic>
      <p:sp>
        <p:nvSpPr>
          <p:cNvPr id="10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62</a:t>
            </a:r>
          </a:p>
        </p:txBody>
      </p:sp>
      <p:sp>
        <p:nvSpPr>
          <p:cNvPr id="105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cxnSp>
        <p:nvCxnSpPr>
          <p:cNvPr id="1061" name="Google Shape;1061;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2" name="Google Shape;1062;p103"/>
          <p:cNvSpPr txBox="1"/>
          <p:nvPr/>
        </p:nvSpPr>
        <p:spPr>
          <a:xfrm>
            <a:off x="484564" y="936000"/>
            <a:ext cx="7283218" cy="11000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find the area of the trapezoid using an area formula.​</a:t>
            </a:r>
            <a:endParaRPr b="0" i="0" sz="1400" u="none" cap="none" strike="noStrike">
              <a:solidFill>
                <a:srgbClr val="000000"/>
              </a:solidFill>
              <a:latin typeface="Arial"/>
              <a:ea typeface="Arial"/>
              <a:cs typeface="Arial"/>
              <a:sym typeface="Arial"/>
            </a:endParaRPr>
          </a:p>
        </p:txBody>
      </p:sp>
      <p:sp>
        <p:nvSpPr>
          <p:cNvPr id="1063" name="Google Shape;1063;p103"/>
          <p:cNvSpPr/>
          <p:nvPr/>
        </p:nvSpPr>
        <p:spPr>
          <a:xfrm>
            <a:off x="484564" y="3329866"/>
            <a:ext cx="3926011" cy="8989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4" name="Google Shape;1064;p103"/>
          <p:cNvSpPr/>
          <p:nvPr/>
        </p:nvSpPr>
        <p:spPr>
          <a:xfrm>
            <a:off x="484564" y="2279176"/>
            <a:ext cx="5937354" cy="89896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5" name="Google Shape;1065;p103"/>
          <p:cNvSpPr/>
          <p:nvPr/>
        </p:nvSpPr>
        <p:spPr>
          <a:xfrm>
            <a:off x="484564" y="4455107"/>
            <a:ext cx="269702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6" name="Google Shape;1066;p103"/>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1067" name="Google Shape;1067;p103"/>
          <p:cNvPicPr preferRelativeResize="0"/>
          <p:nvPr/>
        </p:nvPicPr>
        <p:blipFill rotWithShape="1">
          <a:blip r:embed="rId6">
            <a:alphaModFix/>
          </a:blip>
          <a:srcRect b="0" l="0" r="0" t="0"/>
          <a:stretch/>
        </p:blipFill>
        <p:spPr>
          <a:xfrm>
            <a:off x="8243598" y="1841946"/>
            <a:ext cx="3648075" cy="3743325"/>
          </a:xfrm>
          <a:prstGeom prst="rect">
            <a:avLst/>
          </a:prstGeom>
          <a:noFill/>
          <a:ln>
            <a:noFill/>
          </a:ln>
        </p:spPr>
      </p:pic>
      <p:sp>
        <p:nvSpPr>
          <p:cNvPr id="10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62</a:t>
            </a:r>
          </a:p>
        </p:txBody>
      </p:sp>
      <p:sp xmlns:p="http://schemas.openxmlformats.org/presentationml/2006/main" xmlns:a="http://schemas.openxmlformats.org/drawingml/2006/main">
        <p:nvSpPr>
          <p:cNvPr id="106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cxnSp>
        <p:nvCxnSpPr>
          <p:cNvPr id="1072" name="Google Shape;1072;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3" name="Google Shape;1073;p104"/>
          <p:cNvSpPr txBox="1"/>
          <p:nvPr/>
        </p:nvSpPr>
        <p:spPr>
          <a:xfrm>
            <a:off x="484564" y="1027382"/>
            <a:ext cx="7731388" cy="9568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shape of Osceola County, Florida resembles a trapezoid.</a:t>
            </a:r>
            <a:endParaRPr b="0" i="0" sz="1400" u="none" cap="none" strike="noStrike">
              <a:solidFill>
                <a:srgbClr val="000000"/>
              </a:solidFill>
              <a:latin typeface="Arial"/>
              <a:ea typeface="Arial"/>
              <a:cs typeface="Arial"/>
              <a:sym typeface="Arial"/>
            </a:endParaRPr>
          </a:p>
        </p:txBody>
      </p:sp>
      <p:sp>
        <p:nvSpPr>
          <p:cNvPr id="1074" name="Google Shape;1074;p104"/>
          <p:cNvSpPr/>
          <p:nvPr/>
        </p:nvSpPr>
        <p:spPr>
          <a:xfrm>
            <a:off x="484564" y="2564122"/>
            <a:ext cx="739174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approximate area of the county?</a:t>
            </a:r>
            <a:endParaRPr b="0" i="0" sz="1400" u="none" cap="none" strike="noStrike">
              <a:solidFill>
                <a:srgbClr val="000000"/>
              </a:solidFill>
              <a:latin typeface="Arial"/>
              <a:ea typeface="Arial"/>
              <a:cs typeface="Arial"/>
              <a:sym typeface="Arial"/>
            </a:endParaRPr>
          </a:p>
        </p:txBody>
      </p:sp>
      <p:sp>
        <p:nvSpPr>
          <p:cNvPr id="1075" name="Google Shape;1075;p104"/>
          <p:cNvSpPr txBox="1"/>
          <p:nvPr/>
        </p:nvSpPr>
        <p:spPr>
          <a:xfrm>
            <a:off x="484564" y="3848669"/>
            <a:ext cx="6712322"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area of Osceola County is about 1,642.2 square miles.</a:t>
            </a:r>
            <a:endParaRPr b="0" i="0" sz="2800" u="none" cap="none" strike="noStrike">
              <a:solidFill>
                <a:srgbClr val="262626"/>
              </a:solidFill>
              <a:latin typeface="Arial"/>
              <a:ea typeface="Arial"/>
              <a:cs typeface="Arial"/>
              <a:sym typeface="Arial"/>
            </a:endParaRPr>
          </a:p>
        </p:txBody>
      </p:sp>
      <p:pic>
        <p:nvPicPr>
          <p:cNvPr id="1076" name="Google Shape;1076;p104"/>
          <p:cNvPicPr preferRelativeResize="0"/>
          <p:nvPr/>
        </p:nvPicPr>
        <p:blipFill rotWithShape="1">
          <a:blip r:embed="rId3">
            <a:alphaModFix/>
          </a:blip>
          <a:srcRect b="0" l="0" r="0" t="0"/>
          <a:stretch/>
        </p:blipFill>
        <p:spPr>
          <a:xfrm>
            <a:off x="8357073" y="1561397"/>
            <a:ext cx="2895600" cy="3086100"/>
          </a:xfrm>
          <a:prstGeom prst="rect">
            <a:avLst/>
          </a:prstGeom>
          <a:noFill/>
          <a:ln>
            <a:noFill/>
          </a:ln>
        </p:spPr>
      </p:pic>
      <p:sp>
        <p:nvSpPr>
          <p:cNvPr id="1077" name="Google Shape;1077;p104"/>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sp>
        <p:nvSpPr>
          <p:cNvPr id="10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62</a:t>
            </a:r>
          </a:p>
        </p:txBody>
      </p:sp>
      <p:sp xmlns:p="http://schemas.openxmlformats.org/presentationml/2006/main" xmlns:a="http://schemas.openxmlformats.org/drawingml/2006/main">
        <p:nvSpPr>
          <p:cNvPr id="107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05"/>
          <p:cNvSpPr txBox="1"/>
          <p:nvPr/>
        </p:nvSpPr>
        <p:spPr>
          <a:xfrm>
            <a:off x="6554112"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83" name="Google Shape;1083;p105"/>
          <p:cNvSpPr/>
          <p:nvPr/>
        </p:nvSpPr>
        <p:spPr>
          <a:xfrm>
            <a:off x="567559" y="2008909"/>
            <a:ext cx="7371096" cy="430889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84" name="Google Shape;1084;p105"/>
          <p:cNvSpPr txBox="1"/>
          <p:nvPr/>
        </p:nvSpPr>
        <p:spPr>
          <a:xfrm>
            <a:off x="484564" y="927528"/>
            <a:ext cx="7602161" cy="94413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How do the area formulas for a trapezoid and a parallelogram relate?</a:t>
            </a:r>
            <a:endParaRPr b="0" i="0" sz="1400" u="none" cap="none" strike="noStrike">
              <a:solidFill>
                <a:srgbClr val="000000"/>
              </a:solidFill>
              <a:latin typeface="Arial"/>
              <a:ea typeface="Arial"/>
              <a:cs typeface="Arial"/>
              <a:sym typeface="Arial"/>
            </a:endParaRPr>
          </a:p>
        </p:txBody>
      </p:sp>
      <p:sp>
        <p:nvSpPr>
          <p:cNvPr id="1085" name="Google Shape;1085;p10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8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62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one base twice or a slanted side as height.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the two parallel bases and perpendicular height before substituting.</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19" name="Google Shape;91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0" name="Google Shape;920;p89"/>
          <p:cNvSpPr txBox="1"/>
          <p:nvPr/>
        </p:nvSpPr>
        <p:spPr>
          <a:xfrm>
            <a:off x="486000" y="936000"/>
            <a:ext cx="7346464"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the angles in the trapezoid?​</a:t>
            </a:r>
            <a:endParaRPr b="0" i="0" sz="1400" u="none" cap="none" strike="noStrike">
              <a:solidFill>
                <a:srgbClr val="000000"/>
              </a:solidFill>
              <a:latin typeface="Arial"/>
              <a:ea typeface="Arial"/>
              <a:cs typeface="Arial"/>
              <a:sym typeface="Arial"/>
            </a:endParaRPr>
          </a:p>
        </p:txBody>
      </p:sp>
      <p:sp>
        <p:nvSpPr>
          <p:cNvPr id="921" name="Google Shape;921;p89"/>
          <p:cNvSpPr txBox="1"/>
          <p:nvPr/>
        </p:nvSpPr>
        <p:spPr>
          <a:xfrm>
            <a:off x="486000" y="5040000"/>
            <a:ext cx="6112655" cy="1014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of the angles are right angles.</a:t>
            </a:r>
            <a:endParaRPr b="0" i="0" sz="1400" u="none" cap="none" strike="noStrike">
              <a:solidFill>
                <a:srgbClr val="000000"/>
              </a:solidFill>
              <a:latin typeface="Arial"/>
              <a:ea typeface="Arial"/>
              <a:cs typeface="Arial"/>
              <a:sym typeface="Arial"/>
            </a:endParaRPr>
          </a:p>
        </p:txBody>
      </p:sp>
      <p:sp>
        <p:nvSpPr>
          <p:cNvPr id="922" name="Google Shape;922;p89"/>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23" name="Google Shape;923;p89"/>
          <p:cNvPicPr preferRelativeResize="0"/>
          <p:nvPr/>
        </p:nvPicPr>
        <p:blipFill rotWithShape="1">
          <a:blip r:embed="rId2">
            <a:alphaModFix/>
          </a:blip>
          <a:srcRect b="0" l="0" r="0" t="0"/>
          <a:stretch/>
        </p:blipFill>
        <p:spPr>
          <a:xfrm>
            <a:off x="8716633" y="1795900"/>
            <a:ext cx="2800350" cy="302895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56 / 62</a:t>
            </a:r>
          </a:p>
        </p:txBody>
      </p:sp>
      <p:sp xmlns:p="http://schemas.openxmlformats.org/presentationml/2006/main" xmlns:a="http://schemas.openxmlformats.org/drawingml/2006/main">
        <p:nvSpPr>
          <p:cNvPr id="924" name="TEACH-embedded-student-prompt" descr="Student thinking and response directions"/>
          <p:cNvSpPr txBox="1"/>
          <p:nvPr/>
        </p:nvSpPr>
        <p:spPr>
          <a:xfrm>
            <a:off x="594360" y="41330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56" name="Google Shape;95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7" name="Google Shape;957;p93"/>
          <p:cNvSpPr txBox="1"/>
          <p:nvPr/>
        </p:nvSpPr>
        <p:spPr>
          <a:xfrm>
            <a:off x="486000" y="936000"/>
            <a:ext cx="7346464"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one method you could use to find the area of the right trapezoid?</a:t>
            </a:r>
            <a:endParaRPr b="0" i="0" sz="1400" u="none" cap="none" strike="noStrike">
              <a:solidFill>
                <a:srgbClr val="000000"/>
              </a:solidFill>
              <a:latin typeface="Arial"/>
              <a:ea typeface="Arial"/>
              <a:cs typeface="Arial"/>
              <a:sym typeface="Arial"/>
            </a:endParaRPr>
          </a:p>
        </p:txBody>
      </p:sp>
      <p:sp>
        <p:nvSpPr>
          <p:cNvPr id="958" name="Google Shape;958;p93"/>
          <p:cNvSpPr txBox="1"/>
          <p:nvPr/>
        </p:nvSpPr>
        <p:spPr>
          <a:xfrm>
            <a:off x="486000" y="5293712"/>
            <a:ext cx="8849366" cy="10423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could compose the trapezoid into another shape.</a:t>
            </a:r>
            <a:endParaRPr b="0" i="0" sz="1400" u="none" cap="none" strike="noStrike">
              <a:solidFill>
                <a:srgbClr val="000000"/>
              </a:solidFill>
              <a:latin typeface="Arial"/>
              <a:ea typeface="Arial"/>
              <a:cs typeface="Arial"/>
              <a:sym typeface="Arial"/>
            </a:endParaRPr>
          </a:p>
        </p:txBody>
      </p:sp>
      <p:sp>
        <p:nvSpPr>
          <p:cNvPr id="959" name="Google Shape;959;p93"/>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Land Area</a:t>
            </a:r>
            <a:endParaRPr b="0" i="0" sz="1400" u="none" cap="none" strike="noStrike">
              <a:solidFill>
                <a:srgbClr val="000000"/>
              </a:solidFill>
              <a:latin typeface="Arial"/>
              <a:ea typeface="Arial"/>
              <a:cs typeface="Arial"/>
              <a:sym typeface="Arial"/>
            </a:endParaRPr>
          </a:p>
        </p:txBody>
      </p:sp>
      <p:pic>
        <p:nvPicPr>
          <p:cNvPr id="960" name="Google Shape;960;p93"/>
          <p:cNvPicPr preferRelativeResize="0"/>
          <p:nvPr/>
        </p:nvPicPr>
        <p:blipFill rotWithShape="1">
          <a:blip r:embed="rId2">
            <a:alphaModFix/>
          </a:blip>
          <a:srcRect b="0" l="0" r="0" t="0"/>
          <a:stretch/>
        </p:blipFill>
        <p:spPr>
          <a:xfrm>
            <a:off x="8716633" y="1795900"/>
            <a:ext cx="2800350" cy="302895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57 / 62</a:t>
            </a:r>
          </a:p>
        </p:txBody>
      </p:sp>
      <p:sp xmlns:p="http://schemas.openxmlformats.org/presentationml/2006/main" xmlns:a="http://schemas.openxmlformats.org/drawingml/2006/main">
        <p:nvSpPr>
          <p:cNvPr id="961" name="TEACH-embedded-student-prompt" descr="Student thinking and response directions"/>
          <p:cNvSpPr txBox="1"/>
          <p:nvPr/>
        </p:nvSpPr>
        <p:spPr>
          <a:xfrm>
            <a:off x="594360" y="440740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cxnSp>
        <p:nvCxnSpPr>
          <p:cNvPr id="1090" name="Google Shape;1090;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1" name="Google Shape;1091;p106"/>
          <p:cNvSpPr txBox="1"/>
          <p:nvPr/>
        </p:nvSpPr>
        <p:spPr>
          <a:xfrm>
            <a:off x="499079" y="935366"/>
            <a:ext cx="7243994" cy="2255890"/>
          </a:xfrm>
          <a:prstGeom prst="rect">
            <a:avLst/>
          </a:prstGeom>
          <a:blipFill rotWithShape="1">
            <a:blip r:embed="rId3">
              <a:alphaModFix/>
            </a:blip>
            <a:stretch>
              <a:fillRect b="0" l="-1768" r="0" t="-26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92" name="Google Shape;1092;p106"/>
          <p:cNvSpPr txBox="1"/>
          <p:nvPr/>
        </p:nvSpPr>
        <p:spPr>
          <a:xfrm>
            <a:off x="484565" y="316034"/>
            <a:ext cx="5492675" cy="5693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Area of a Trapezoid</a:t>
            </a:r>
            <a:endParaRPr b="0" i="0" sz="1400" u="none" cap="none" strike="noStrike">
              <a:solidFill>
                <a:srgbClr val="000000"/>
              </a:solidFill>
              <a:latin typeface="Arial"/>
              <a:ea typeface="Arial"/>
              <a:cs typeface="Arial"/>
              <a:sym typeface="Arial"/>
            </a:endParaRPr>
          </a:p>
        </p:txBody>
      </p:sp>
      <p:pic>
        <p:nvPicPr>
          <p:cNvPr id="1093" name="Google Shape;1093;p106"/>
          <p:cNvPicPr preferRelativeResize="0"/>
          <p:nvPr/>
        </p:nvPicPr>
        <p:blipFill rotWithShape="1">
          <a:blip r:embed="rId4">
            <a:alphaModFix/>
          </a:blip>
          <a:srcRect b="0" l="0" r="0" t="0"/>
          <a:stretch/>
        </p:blipFill>
        <p:spPr>
          <a:xfrm>
            <a:off x="484565" y="3241251"/>
            <a:ext cx="5419725" cy="2981325"/>
          </a:xfrm>
          <a:prstGeom prst="rect">
            <a:avLst/>
          </a:prstGeom>
          <a:noFill/>
          <a:ln>
            <a:noFill/>
          </a:ln>
        </p:spPr>
      </p:pic>
      <p:pic>
        <p:nvPicPr>
          <p:cNvPr id="1094" name="Google Shape;1094;p106"/>
          <p:cNvPicPr preferRelativeResize="0"/>
          <p:nvPr/>
        </p:nvPicPr>
        <p:blipFill rotWithShape="1">
          <a:blip r:embed="rId5">
            <a:alphaModFix/>
          </a:blip>
          <a:srcRect b="0" l="0" r="0" t="0"/>
          <a:stretch/>
        </p:blipFill>
        <p:spPr>
          <a:xfrm>
            <a:off x="5977240" y="2745951"/>
            <a:ext cx="3876675" cy="3476625"/>
          </a:xfrm>
          <a:prstGeom prst="rect">
            <a:avLst/>
          </a:prstGeom>
          <a:noFill/>
          <a:ln>
            <a:noFill/>
          </a:ln>
        </p:spPr>
      </p:pic>
      <p:sp>
        <p:nvSpPr>
          <p:cNvPr id="10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58 / 62</a:t>
            </a:r>
          </a:p>
        </p:txBody>
      </p:sp>
      <p:sp>
        <p:nvSpPr>
          <p:cNvPr id="109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cxnSp>
        <p:nvCxnSpPr>
          <p:cNvPr id="1099" name="Google Shape;1099;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1100" name="Google Shape;1100;p107"/>
          <p:cNvPicPr preferRelativeResize="0"/>
          <p:nvPr/>
        </p:nvPicPr>
        <p:blipFill rotWithShape="1">
          <a:blip r:embed="rId3">
            <a:alphaModFix/>
          </a:blip>
          <a:srcRect b="0" l="0" r="0" t="0"/>
          <a:stretch/>
        </p:blipFill>
        <p:spPr>
          <a:xfrm>
            <a:off x="8208525" y="2017950"/>
            <a:ext cx="3422643" cy="3200393"/>
          </a:xfrm>
          <a:prstGeom prst="rect">
            <a:avLst/>
          </a:prstGeom>
          <a:noFill/>
          <a:ln>
            <a:noFill/>
          </a:ln>
        </p:spPr>
      </p:pic>
      <p:sp>
        <p:nvSpPr>
          <p:cNvPr id="1101" name="Google Shape;1101;p107"/>
          <p:cNvSpPr txBox="1"/>
          <p:nvPr/>
        </p:nvSpPr>
        <p:spPr>
          <a:xfrm>
            <a:off x="484565" y="927528"/>
            <a:ext cx="7302123" cy="48808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parking lot shown is being repaved. Asphalt for the parking lot costs $3.95 per square foot, while the cost of labor is about $3 per square foot. The project manager also budgets for the use of equipment, including fuel and potential repairs.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How much money would you recommend the project manager budget to complete the project?</a:t>
            </a:r>
            <a:endParaRPr b="0" i="0" sz="1400" u="none" cap="none" strike="noStrike">
              <a:solidFill>
                <a:srgbClr val="000000"/>
              </a:solidFill>
              <a:latin typeface="Arial"/>
              <a:ea typeface="Arial"/>
              <a:cs typeface="Arial"/>
              <a:sym typeface="Arial"/>
            </a:endParaRPr>
          </a:p>
        </p:txBody>
      </p:sp>
      <p:sp>
        <p:nvSpPr>
          <p:cNvPr id="1102" name="Google Shape;1102;p107"/>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Budgets</a:t>
            </a:r>
            <a:endParaRPr b="0" i="0" sz="1400" u="none" cap="none" strike="noStrike">
              <a:solidFill>
                <a:srgbClr val="000000"/>
              </a:solidFill>
              <a:latin typeface="Arial"/>
              <a:ea typeface="Arial"/>
              <a:cs typeface="Arial"/>
              <a:sym typeface="Arial"/>
            </a:endParaRPr>
          </a:p>
        </p:txBody>
      </p:sp>
      <p:sp>
        <p:nvSpPr>
          <p:cNvPr id="11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60 / 62</a:t>
            </a:r>
          </a:p>
        </p:txBody>
      </p:sp>
      <p:sp>
        <p:nvSpPr>
          <p:cNvPr id="110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grpSp>
        <p:nvGrpSpPr>
          <p:cNvPr id="1105" name="TEACH-3-student-move" descr="TEACH 3 · Use intentional questioning to deepen learning"/>
          <p:cNvGrpSpPr/>
          <p:nvPr/>
        </p:nvGrpSpPr>
        <p:grpSpPr>
          <a:xfrm>
            <a:off x="502920" y="5844948"/>
            <a:ext cx="11186160" cy="457200"/>
            <a:chOff x="502920" y="5844948"/>
            <a:chExt cx="11186160" cy="457200"/>
          </a:xfrm>
        </p:grpSpPr>
        <p:sp>
          <p:nvSpPr>
            <p:cNvPr id="1106" name="TEACH-move-card"/>
            <p:cNvSpPr/>
            <p:nvPr/>
          </p:nvSpPr>
          <p:spPr>
            <a:xfrm>
              <a:off x="502920" y="5844948"/>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1107" name="TEACH-move-rule"/>
            <p:cNvSpPr/>
            <p:nvPr/>
          </p:nvSpPr>
          <p:spPr>
            <a:xfrm>
              <a:off x="548640" y="5931816"/>
              <a:ext cx="100584" cy="283464"/>
            </a:xfrm>
            <a:prstGeom prst="roundRect">
              <a:avLst>
                <a:gd name="adj" fmla="val 50000"/>
              </a:avLst>
            </a:prstGeom>
            <a:solidFill>
              <a:srgbClr val="01708C"/>
            </a:solidFill>
            <a:ln>
              <a:noFill/>
            </a:ln>
          </p:spPr>
          <p:txBody>
            <a:bodyPr/>
            <a:lstStyle/>
            <a:p>
              <a:endParaRPr/>
            </a:p>
          </p:txBody>
        </p:sp>
        <p:sp>
          <p:nvSpPr>
            <p:cNvPr id="1108" name="TEACH-move-text"/>
            <p:cNvSpPr txBox="1"/>
            <p:nvPr/>
          </p:nvSpPr>
          <p:spPr>
            <a:xfrm>
              <a:off x="822960" y="5844948"/>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ASK THE CLASS  ·  </a:t>
              </a:r>
              <a:r>
                <a:rPr lang="en-US" sz="1400" dirty="0">
                  <a:solidFill>
                    <a:srgbClr val="13303A"/>
                  </a:solidFill>
                  <a:latin typeface="Arial"/>
                </a:rPr>
                <a:t>Write one question about this that you could ask the class.</a:t>
              </a:r>
              <a:endParaRPr lang="en-US" sz="1400"/>
            </a:p>
          </p:txBody>
        </p:sp>
      </p:gr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07" name="Google Shape;1107;p10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08" name="Google Shape;1108;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9" name="Google Shape;1109;p108"/>
          <p:cNvSpPr txBox="1"/>
          <p:nvPr/>
        </p:nvSpPr>
        <p:spPr>
          <a:xfrm>
            <a:off x="484564" y="927528"/>
            <a:ext cx="818794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 can find the area of a trapezoid by decomposing into triangles or composing into a rectangle.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 can make use of structure to find the area of a trapezoid by composing it into a rectangle or by using a formula.</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61 / 62</a:t>
            </a:r>
          </a:p>
        </p:txBody>
      </p:sp>
      <p:grpSp>
        <p:nvGrpSpPr>
          <p:cNvPr id="1110" name="TEACH-1-student-move" descr="TEACH 1 · Facilitate clear, standards-based content learning"/>
          <p:cNvGrpSpPr/>
          <p:nvPr/>
        </p:nvGrpSpPr>
        <p:grpSpPr>
          <a:xfrm>
            <a:off x="502920" y="5472790"/>
            <a:ext cx="11186160" cy="402336"/>
            <a:chOff x="502920" y="5472790"/>
            <a:chExt cx="11186160" cy="402336"/>
          </a:xfrm>
        </p:grpSpPr>
        <p:sp>
          <p:nvSpPr>
            <p:cNvPr id="1111"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12"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13"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the parallel bases and height.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62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62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62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50 / 62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54 / 62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59 / 62</a:t>
            </a: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5.3 — Determine the Area of Trapezoids</dc:title>
  <dc:creator>Neft Teacher</dc:creator>
  <cp:lastModifiedBy>Neft Teacher</cp:lastModifiedBy>
  <dcterms:created xsi:type="dcterms:W3CDTF">2026-09-30T12:04:43Z</dcterms:created>
  <dcterms:modified xsi:type="dcterms:W3CDTF">2026-09-30T12:04:43Z</dcterms:modified>
</cp:coreProperties>
</file>