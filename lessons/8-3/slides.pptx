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You must use absolute values of the deviations: |−10| = 10, |−5| = 5, |0| = 0, |5| = 5, |10| = 10. MAD = (10 + 5 + 0 + 5 + 10) ÷ 5 = 30 ÷ 5 =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Mean Absolute Deviation</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6.SP.5c</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8-3</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mean absolute deviation (MAD) to describe how spread out data is.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mean absolute deviation, deviation, absolute value, and spread.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Player Consistency Report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Coach wants to know which basketball player is more consistent: Player A scored 18, 22, 20, 24, 16 points in the last 5 games. Player B scored 10, 30, 25, 12, 23 points. Both players average 20 points per game. Which player would you count on to score close to 20 every night?</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Both players have the same mean. What is different about their scores?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player's scores stay closer to 20?</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player has the biggest single-game difference from 20?</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we measure how spread out each player's scores are?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Is there a number that tells us which player is more consistent?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Mean Absolute Deviation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Desviación media absoluta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average distance of each number from the mean.</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distancia promedio de cada número a la media.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8, 10, 12. Mean = 10. Distances from mean: 2, 0, 2. MAD = (2+0+2) ÷ 3 = 1.33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Deviation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Desviación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 number is from the mean.</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lejos está un número de la media.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If mean = 20 and value = 17, deviation = 17 − 20 = −3 (3 below the mean)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Absolute Value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Valor absoluto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 number is from zero. It is always positive.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lejos está un número de cero. Siempre es positivo.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 3 and |3| = 3 — both are 3 units from zero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Spread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Dispersión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apart the numbers are.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separados están los números.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Low spread: 8, 9, 10, 11 (close together). High spread: 2, 9, 10, 25 (far apart)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set clustered tightly around the mean has low MAD; a set spread far from the mean has high MAD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Absolute Value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The absolute value of −4 is 4  </a:t>
            </a:r>
            <a:pPr indent="0" marL="0">
              <a:buNone/>
            </a:pPr>
            <a:r>
              <a:rPr lang="en-US" sz="800" dirty="0">
                <a:solidFill>
                  <a:srgbClr val="24323F"/>
                </a:solidFill>
                <a:latin typeface="Hanken Grotesk" pitchFamily="34" charset="0"/>
                <a:ea typeface="Hanken Grotesk" pitchFamily="34" charset="-122"/>
                <a:cs typeface="Hanken Grotesk" pitchFamily="34" charset="-120"/>
              </a:rPr>
              <a:t>−4 is 4 units from zero.</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The absolute value of −4 is −4  </a:t>
            </a:r>
            <a:pPr indent="0" marL="0">
              <a:buNone/>
            </a:pPr>
            <a:r>
              <a:rPr lang="en-US" sz="800" dirty="0">
                <a:solidFill>
                  <a:srgbClr val="24323F"/>
                </a:solidFill>
                <a:latin typeface="Hanken Grotesk" pitchFamily="34" charset="0"/>
                <a:ea typeface="Hanken Grotesk" pitchFamily="34" charset="-122"/>
                <a:cs typeface="Hanken Grotesk" pitchFamily="34" charset="-120"/>
              </a:rPr>
              <a:t>Absolute value is never negative.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the mean absolute deviation (MAD)?</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New data set: 9, 10, 11. First, what is the mean? Add the three numbers and divide by 3.</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find how far each number is from the mean. What is the distance for 9? For 10? For 11?</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Add those distances and divide by 3. Is this MAD small or large? What does that tell us about the spread?</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Player A scored 18, 22, 20, 24, 16 and Player B scored 10, 30, 25, 12, 23. Both average 20. Which player would you count on to score close to 20 every night, and why?</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MAD = the average of how far each number is from the mean (always a positive distance).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Calculate the Mean Absolute Deviation (MAD) for Player A's scores: 18, 22, 20, 24, 16. Follow each step.</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To find the MAD for Player A (18, 22, 20, 24, 16, mean 20), why do we take the ABSOLUTE VALUE of each deviation before averaging?</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MAD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set:  </a:t>
            </a:r>
            <a:pPr indent="0" marL="0">
              <a:buNone/>
            </a:pPr>
            <a:r>
              <a:rPr lang="en-US" sz="950" b="1" dirty="0">
                <a:solidFill>
                  <a:srgbClr val="24323F"/>
                </a:solidFill>
                <a:latin typeface="Courier New" pitchFamily="34" charset="0"/>
                <a:ea typeface="Courier New" pitchFamily="34" charset="-122"/>
                <a:cs typeface="Courier New" pitchFamily="34" charset="-120"/>
              </a:rPr>
              <a:t>5, 10, 15, 20, 25</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mean:  </a:t>
            </a:r>
            <a:pPr indent="0" marL="0">
              <a:buNone/>
            </a:pPr>
            <a:r>
              <a:rPr lang="en-US" sz="950" b="1" dirty="0">
                <a:solidFill>
                  <a:srgbClr val="24323F"/>
                </a:solidFill>
                <a:latin typeface="Courier New" pitchFamily="34" charset="0"/>
                <a:ea typeface="Courier New" pitchFamily="34" charset="-122"/>
                <a:cs typeface="Courier New" pitchFamily="34" charset="-120"/>
              </a:rPr>
              <a:t>Sum = 75, Count = 5, Mean = 15</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deviations:  </a:t>
            </a:r>
            <a:pPr indent="0" marL="0">
              <a:buNone/>
            </a:pPr>
            <a:r>
              <a:rPr lang="en-US" sz="950" b="1" dirty="0">
                <a:solidFill>
                  <a:srgbClr val="24323F"/>
                </a:solidFill>
                <a:latin typeface="Courier New" pitchFamily="34" charset="0"/>
                <a:ea typeface="Courier New" pitchFamily="34" charset="-122"/>
                <a:cs typeface="Courier New" pitchFamily="34" charset="-120"/>
              </a:rPr>
              <a:t>−10, −5, 0, 5, 10</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MAD:  </a:t>
            </a:r>
            <a:pPr indent="0" marL="0">
              <a:buNone/>
            </a:pPr>
            <a:r>
              <a:rPr lang="en-US" sz="950" b="1" dirty="0">
                <a:solidFill>
                  <a:srgbClr val="24323F"/>
                </a:solidFill>
                <a:latin typeface="Courier New" pitchFamily="34" charset="0"/>
                <a:ea typeface="Courier New" pitchFamily="34" charset="-122"/>
                <a:cs typeface="Courier New" pitchFamily="34" charset="-120"/>
              </a:rPr>
              <a:t>MAD = (−10 + −5 + 0 + 5 + 10) ÷ 5 = 0</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data set: 6, 8, 10, 12. First I find the mean: 6 + 8 + 10 + 12 = 36, then 36 ÷ 4 = 9. The mean is 9.</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Next I find each deviation (value − mean): 6−9 = −3, 8−9 = −1, 10−9 = 1, 12−9 = 3.</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I take the absolute value of each (the distance, always positive): 3, 1, 1, 3.</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Finally I average those distances: 3 + 1 + 1 + 3 = 8, then 8 ÷ 4 = 2. So the MAD = 2 points.</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Mean Absolute Deviation and Deviation.</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"MAD = the average of how far each number is from the mean (always a positive distance)."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Mean Absolute Deviation,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runners have the same average time of 60 seconds. Runner A's MAD is 1.2 seconds. Runner B's MAD is 5.8 seconds. Which runner is the coach more likely to pick for a relay race that needs a reliable time?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The mean of a data set is 15. One value is 11. What is the absolute deviation of that value from the mean?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data set has absolute deviations of 3, 1, 5, 2, 4. What is the MAD?</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Two keepers both allow a mean of 1.67 goals, but Keeper A's MAD is 0.56 and Keeper B's is 1.22. Which keeper should the coach start in the championship, and why?</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"MAD = the average of how far each number is from the mean (always a positive distance)."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Mean Absolute Deviation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Mean Absolute Deviation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Data set: 4, 8, 6, 10, 2. The mean is 6. What is the MAD?</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2.4</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6</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0</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12</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mean absolute deviation (MAD) to describe how spread out data is.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8-3: Mean Absolute Deviation</dc:title>
  <dc:subject>6.SP.5c</dc:subject>
  <dc:creator>Neft Teacher</dc:creator>
  <cp:lastModifiedBy>Neft Teacher</cp:lastModifiedBy>
  <cp:revision>1</cp:revision>
  <dcterms:created xsi:type="dcterms:W3CDTF">2026-06-08T12:10:58Z</dcterms:created>
  <dcterms:modified xsi:type="dcterms:W3CDTF">2026-06-08T12:10:58Z</dcterms:modified>
</cp:coreProperties>
</file>