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70" r:id="rId24"/>
    <p:sldId id="256" r:id="rId10"/>
    <p:sldId id="257" r:id="rId11"/>
    <p:sldId id="260" r:id="rId14"/>
    <p:sldId id="332" r:id="rId73"/>
    <p:sldId id="328" r:id="rId69"/>
    <p:sldId id="327" r:id="rId31"/>
    <p:sldId id="326" r:id="rId52"/>
    <p:sldId id="325" r:id="rId33"/>
    <p:sldId id="324" r:id="rId50"/>
    <p:sldId id="323" r:id="rId49"/>
    <p:sldId id="322" r:id="rId48"/>
    <p:sldId id="321" r:id="rId35"/>
    <p:sldId id="261" r:id="rId15"/>
    <p:sldId id="272" r:id="rId26"/>
    <p:sldId id="274" r:id="rId28"/>
    <p:sldId id="276" r:id="rId30"/>
    <p:sldId id="278" r:id="rId32"/>
    <p:sldId id="333" r:id="rId74"/>
    <p:sldId id="280" r:id="rId34"/>
    <p:sldId id="284" r:id="rId38"/>
    <p:sldId id="285" r:id="rId39"/>
    <p:sldId id="286" r:id="rId40"/>
    <p:sldId id="287" r:id="rId41"/>
    <p:sldId id="334" r:id="rId75"/>
    <p:sldId id="329" r:id="rId70"/>
    <p:sldId id="320" r:id="rId46"/>
    <p:sldId id="335" r:id="rId76"/>
    <p:sldId id="319" r:id="rId45"/>
    <p:sldId id="313" r:id="rId67"/>
    <p:sldId id="336" r:id="rId77"/>
    <p:sldId id="314" r:id="rId68"/>
    <p:sldId id="288" r:id="rId42"/>
    <p:sldId id="293" r:id="rId47"/>
    <p:sldId id="297" r:id="rId51"/>
    <p:sldId id="299" r:id="rId53"/>
    <p:sldId id="337" r:id="rId78"/>
    <p:sldId id="301" r:id="rId55"/>
    <p:sldId id="303" r:id="rId57"/>
    <p:sldId id="305" r:id="rId59"/>
    <p:sldId id="307" r:id="rId61"/>
    <p:sldId id="308" r:id="rId62"/>
    <p:sldId id="338" r:id="rId79"/>
    <p:sldId id="330" r:id="rId71"/>
    <p:sldId id="318" r:id="rId44"/>
    <p:sldId id="339" r:id="rId80"/>
    <p:sldId id="317" r:id="rId43"/>
    <p:sldId id="309" r:id="rId63"/>
    <p:sldId id="310" r:id="rId64"/>
    <p:sldId id="311" r:id="rId65"/>
    <p:sldId id="312" r:id="rId66"/>
    <p:sldId id="316" r:id="rId36"/>
    <p:sldId id="315" r:id="rId37"/>
    <p:sldId id="331" r:id="rId72"/>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519927-2C46-48D7-A4CA-FA01C05FD4E8}">
  <a:tblStyle styleId="{8E519927-2C46-48D7-A4CA-FA01C05FD4E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FF930E9C-E42A-4F59-AA62-8C0E1BDCA982}"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6.xml"/><Relationship Id="rId28"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8.xml"/><Relationship Id="rId32" Type="http://schemas.openxmlformats.org/officeDocument/2006/relationships/slide" Target="slides/slide19.xml"/><Relationship Id="rId33" Type="http://schemas.openxmlformats.org/officeDocument/2006/relationships/slide" Target="slides/slide10.xml"/><Relationship Id="rId34" Type="http://schemas.openxmlformats.org/officeDocument/2006/relationships/slide" Target="slides/slide20.xml"/><Relationship Id="rId35" Type="http://schemas.openxmlformats.org/officeDocument/2006/relationships/slide" Target="slides/slide14.xml"/><Relationship Id="rId36" Type="http://schemas.openxmlformats.org/officeDocument/2006/relationships/slide" Target="slides/slide46.xml"/><Relationship Id="rId37" Type="http://schemas.openxmlformats.org/officeDocument/2006/relationships/slide" Target="slides/slide47.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30.xml"/><Relationship Id="rId43" Type="http://schemas.openxmlformats.org/officeDocument/2006/relationships/slide" Target="slides/slide41.xml"/><Relationship Id="rId44" Type="http://schemas.openxmlformats.org/officeDocument/2006/relationships/slide" Target="slides/slide40.xml"/><Relationship Id="rId45" Type="http://schemas.openxmlformats.org/officeDocument/2006/relationships/slide" Target="slides/slide27.xml"/><Relationship Id="rId46" Type="http://schemas.openxmlformats.org/officeDocument/2006/relationships/slide" Target="slides/slide26.xml"/><Relationship Id="rId47" Type="http://schemas.openxmlformats.org/officeDocument/2006/relationships/slide" Target="slides/slide31.xml"/><Relationship Id="rId48" Type="http://schemas.openxmlformats.org/officeDocument/2006/relationships/slide" Target="slides/slide13.xml"/><Relationship Id="rId49" Type="http://schemas.openxmlformats.org/officeDocument/2006/relationships/slide" Target="slides/slide12.xml"/><Relationship Id="rId50" Type="http://schemas.openxmlformats.org/officeDocument/2006/relationships/slide" Target="slides/slide11.xml"/><Relationship Id="rId51" Type="http://schemas.openxmlformats.org/officeDocument/2006/relationships/slide" Target="slides/slide32.xml"/><Relationship Id="rId52" Type="http://schemas.openxmlformats.org/officeDocument/2006/relationships/slide" Target="slides/slide9.xml"/><Relationship Id="rId53" Type="http://schemas.openxmlformats.org/officeDocument/2006/relationships/slide" Target="slides/slide33.xml"/><Relationship Id="rId55" Type="http://schemas.openxmlformats.org/officeDocument/2006/relationships/slide" Target="slides/slide34.xml"/><Relationship Id="rId57" Type="http://schemas.openxmlformats.org/officeDocument/2006/relationships/slide" Target="slides/slide35.xml"/><Relationship Id="rId59" Type="http://schemas.openxmlformats.org/officeDocument/2006/relationships/slide" Target="slides/slide36.xml"/><Relationship Id="rId61" Type="http://schemas.openxmlformats.org/officeDocument/2006/relationships/slide" Target="slides/slide37.xml"/><Relationship Id="rId62" Type="http://schemas.openxmlformats.org/officeDocument/2006/relationships/slide" Target="slides/slide38.xml"/><Relationship Id="rId63" Type="http://schemas.openxmlformats.org/officeDocument/2006/relationships/slide" Target="slides/slide42.xml"/><Relationship Id="rId64" Type="http://schemas.openxmlformats.org/officeDocument/2006/relationships/slide" Target="slides/slide43.xml"/><Relationship Id="rId65" Type="http://schemas.openxmlformats.org/officeDocument/2006/relationships/slide" Target="slides/slide44.xml"/><Relationship Id="rId66" Type="http://schemas.openxmlformats.org/officeDocument/2006/relationships/slide" Target="slides/slide45.xml"/><Relationship Id="rId67" Type="http://schemas.openxmlformats.org/officeDocument/2006/relationships/slide" Target="slides/slide28.xml"/><Relationship Id="rId68" Type="http://schemas.openxmlformats.org/officeDocument/2006/relationships/slide" Target="slides/slide29.xml"/><Relationship Id="rId69" Type="http://schemas.openxmlformats.org/officeDocument/2006/relationships/slide" Target="slides/slide7.xml"/><Relationship Id="rId70" Type="http://schemas.openxmlformats.org/officeDocument/2006/relationships/slide" Target="slides/slide25.xml"/><Relationship Id="rId71" Type="http://schemas.openxmlformats.org/officeDocument/2006/relationships/slide" Target="slides/slide39.xml"/><Relationship Id="rId72" Type="http://schemas.openxmlformats.org/officeDocument/2006/relationships/slide" Target="slides/slide48.xml"/><Relationship Id="rId73" Type="http://schemas.openxmlformats.org/officeDocument/2006/relationships/slide" Target="slides/slide49.xml"/><Relationship Id="rId74" Type="http://schemas.openxmlformats.org/officeDocument/2006/relationships/slide" Target="slides/slide50.xml"/><Relationship Id="rId75" Type="http://schemas.openxmlformats.org/officeDocument/2006/relationships/slide" Target="slides/slide51.xml"/><Relationship Id="rId76" Type="http://schemas.openxmlformats.org/officeDocument/2006/relationships/slide" Target="slides/slide52.xml"/><Relationship Id="rId77" Type="http://schemas.openxmlformats.org/officeDocument/2006/relationships/slide" Target="slides/slide53.xml"/><Relationship Id="rId78" Type="http://schemas.openxmlformats.org/officeDocument/2006/relationships/slide" Target="slides/slide54.xml"/><Relationship Id="rId79" Type="http://schemas.openxmlformats.org/officeDocument/2006/relationships/slide" Target="slides/slide55.xml"/><Relationship Id="rId80"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4 | DIVIDER</a:t>
            </a:r>
          </a:p>
          <a:p xmlns:a="http://schemas.openxmlformats.org/drawingml/2006/main">
            <a:pPr>
              <a:buNone/>
            </a:pPr>
            <a:r>
              <a:rPr lang="en-US" sz="1100"/>
              <a:t>Focus on the existing task: Write and Solve Equations Using Multiplication or Division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5 | TASK</a:t>
            </a:r>
          </a:p>
          <a:p xmlns:a="http://schemas.openxmlformats.org/drawingml/2006/main">
            <a:pPr>
              <a:buNone/>
            </a:pPr>
            <a:r>
              <a:rPr lang="en-US" sz="1100"/>
              <a:t>Focus on the existing task: This or That?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9" name="Google Shape;239;p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1 | WARMUP</a:t>
            </a:r>
          </a:p>
          <a:p xmlns:a="http://schemas.openxmlformats.org/drawingml/2006/main">
            <a:pPr>
              <a:buNone/>
            </a:pPr>
            <a:r>
              <a:rPr lang="en-US" sz="1100"/>
              <a:t>Focus on the existing task: Warm-Up WARM-UP · THINK • TRY •…</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56   2) 1.2   3) dividing by 4   4) 20</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undo multiplication or division on both sides; preserve equality; check the result. Review recent work and today’s warm-up to choose flexible groups and access supports; do not infer needs from identity or perceived ability. Use the existing lesson tasks and stated standards.</a:t>
            </a:r>
          </a:p>
          <a:p>
            <a:pPr>
              <a:buNone/>
            </a:pPr>
            <a:r>
              <a:rPr lang="en-US" sz="1100"/>
              <a:t>Anticipate: using the reciprocal operation on only one side. If observed, label the operation attached to the variable and show its inverse on both sides.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6 | GOAL</a:t>
            </a:r>
          </a:p>
          <a:p xmlns:a="http://schemas.openxmlformats.org/drawingml/2006/main">
            <a:pPr>
              <a:buNone/>
            </a:pPr>
            <a:r>
              <a:rPr lang="en-US" sz="1100"/>
              <a:t>Focus on the existing task: Today’s Objectives Write and…</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undo multiplication or division on both sides; preserve equality; check the result. Ask: “Which part of your work would show this?” Revisit that evidence after the task; a confidence rating alone is not evidence of understanding.</a:t>
            </a:r>
          </a:p>
        </p:txBody>
      </p:sp>
      <p:sp>
        <p:nvSpPr>
          <p:cNvPr id="331" name="Google Shape;331;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15 | VOCAB</a:t>
            </a:r>
          </a:p>
          <a:p xmlns:a="http://schemas.openxmlformats.org/drawingml/2006/main">
            <a:pPr>
              <a:buNone/>
            </a:pPr>
            <a:r>
              <a:rPr lang="en-US" sz="1100"/>
              <a:t>Focus on the existing task: Vocabulary Today’s Math Words We…</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3" name="Google Shape;353;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2 | NOTES</a:t>
            </a:r>
          </a:p>
          <a:p xmlns:a="http://schemas.openxmlformats.org/drawingml/2006/main">
            <a:pPr>
              <a:buNone/>
            </a:pPr>
            <a:r>
              <a:rPr lang="en-US" sz="1100"/>
              <a:t>Focus on the existing task: Today’s Math Notes Section 1…</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9" name="Google Shape;519;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 | NOTES</a:t>
            </a:r>
          </a:p>
          <a:p xmlns:a="http://schemas.openxmlformats.org/drawingml/2006/main">
            <a:pPr>
              <a:buNone/>
            </a:pPr>
            <a:r>
              <a:rPr lang="en-US" sz="1100"/>
              <a:t>Focus on the existing task: Today’s Math Notes Section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7" name="Google Shape;54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16 | CURIOUS</a:t>
            </a:r>
          </a:p>
          <a:p xmlns:a="http://schemas.openxmlformats.org/drawingml/2006/main">
            <a:pPr>
              <a:buNone/>
            </a:pPr>
            <a:r>
              <a:rPr lang="en-US" sz="1100"/>
              <a:t>Focus on the existing task: Be Curious Mindset What could the question be?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5" name="Google Shape;585;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17 | TASK</a:t>
            </a:r>
          </a:p>
          <a:p xmlns:a="http://schemas.openxmlformats.org/drawingml/2006/main">
            <a:pPr>
              <a:buNone/>
            </a:pPr>
            <a:r>
              <a:rPr lang="en-US" sz="1100"/>
              <a:t>Focus on the existing task: Ayasha’s House What is the distance from Ayasha’s house to the lake?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is the distance from Ayasha’s house to the lake?</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inverse operation undo the change to the variable while keeping both sides equal?” Wait for evidence, invite another pathway, and have a student ask a follow-up question. Do not replace students’ reasoning with a sequence of leading steps.</a:t>
            </a:r>
          </a:p>
        </p:txBody>
      </p:sp>
      <p:sp>
        <p:nvSpPr>
          <p:cNvPr id="607" name="Google Shape;607;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18 | REVEAL</a:t>
            </a:r>
          </a:p>
          <a:p xmlns:a="http://schemas.openxmlformats.org/drawingml/2006/main">
            <a:pPr>
              <a:buNone/>
            </a:pPr>
            <a:r>
              <a:rPr lang="en-US" sz="1100"/>
              <a:t>Focus on the existing task: Ayasha’s House Reveal: The distance from the house to the mountains is 140 miles, while the distance from the house to the lake is…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distance from the house to the mountains is 140 miles, while the distance from the house to the lake is unknown.</a:t>
            </a:r>
          </a:p>
          <a:p>
            <a:pPr indent="0" lvl="0" marL="0" rtl="0" algn="l">
              <a:lnSpc>
                <a:spcPct val="100000"/>
              </a:lnSpc>
              <a:spcBef>
                <a:spcPts val="0"/>
              </a:spcBef>
              <a:spcAft>
                <a:spcPts val="0"/>
              </a:spcAft>
              <a:buSzPts val="1400"/>
              <a:buNone/>
            </a:pPr>
            <a:r>
              <a:t>UIFR: TEACH 3 · TEACH 4.</a:t>
            </a:r>
          </a:p>
        </p:txBody>
      </p:sp>
      <p:sp>
        <p:nvSpPr>
          <p:cNvPr id="630" name="Google Shape;630;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19 | REVEAL</a:t>
            </a:r>
          </a:p>
          <a:p xmlns:a="http://schemas.openxmlformats.org/drawingml/2006/main">
            <a:pPr>
              <a:buNone/>
            </a:pPr>
            <a:r>
              <a:rPr lang="en-US" sz="1100"/>
              <a:t>Focus on the existing task: Ayasha’s House How can you represent the relationship between the two distances algebraically?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an equation with a variable for the distance to the lake.</a:t>
            </a:r>
          </a:p>
          <a:p>
            <a:pPr indent="0" lvl="0" marL="0" rtl="0" algn="l">
              <a:lnSpc>
                <a:spcPct val="100000"/>
              </a:lnSpc>
              <a:spcBef>
                <a:spcPts val="0"/>
              </a:spcBef>
              <a:spcAft>
                <a:spcPts val="0"/>
              </a:spcAft>
              <a:buSzPts val="1400"/>
              <a:buNone/>
            </a:pPr>
            <a:r>
              <a:t>UIFR: TEACH 3 · TEACH 4.</a:t>
            </a:r>
          </a:p>
        </p:txBody>
      </p:sp>
      <p:sp>
        <p:nvSpPr>
          <p:cNvPr id="650" name="Google Shape;650;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20 | COLLABORATE</a:t>
            </a:r>
          </a:p>
          <a:p xmlns:a="http://schemas.openxmlformats.org/drawingml/2006/main">
            <a:pPr>
              <a:buNone/>
            </a:pPr>
            <a:r>
              <a:rPr lang="en-US" sz="1100"/>
              <a:t>Focus on the existing task: Collaborate and Connect Write an equation that represents the relationship between the distances. Be sure to define any variables you…</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the reciprocal operation on only one side. If it appears, label the operation attached to the variable and show its inverse on both sides; then ask the student to revise the same response and explain the change. If evidence is secure, have students compare a second valid pathway or state why their approach works. Choose the next step from the responses, not a preset pace.</a:t>
            </a:r>
          </a:p>
        </p:txBody>
      </p:sp>
      <p:sp>
        <p:nvSpPr>
          <p:cNvPr id="669" name="Google Shape;669;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21 | REVEAL</a:t>
            </a:r>
          </a:p>
          <a:p xmlns:a="http://schemas.openxmlformats.org/drawingml/2006/main">
            <a:pPr>
              <a:buNone/>
            </a:pPr>
            <a:r>
              <a:rPr lang="en-US" sz="1100"/>
              <a:t>Focus on the existing task: Ayasha’s House Reveal: We can use an inverse relationship. How can you solve the equation?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an inverse relationship.</a:t>
            </a:r>
          </a:p>
          <a:p>
            <a:pPr indent="0" lvl="0" marL="0" rtl="0" algn="l">
              <a:lnSpc>
                <a:spcPct val="100000"/>
              </a:lnSpc>
              <a:spcBef>
                <a:spcPts val="0"/>
              </a:spcBef>
              <a:spcAft>
                <a:spcPts val="0"/>
              </a:spcAft>
              <a:buSzPts val="1400"/>
              <a:buNone/>
            </a:pPr>
            <a:r>
              <a:t>UIFR: TEACH 3 · TEACH 4.</a:t>
            </a:r>
          </a:p>
        </p:txBody>
      </p:sp>
      <p:sp>
        <p:nvSpPr>
          <p:cNvPr id="709" name="Google Shape;709;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22 | WORKED</a:t>
            </a:r>
          </a:p>
          <a:p xmlns:a="http://schemas.openxmlformats.org/drawingml/2006/main">
            <a:pPr>
              <a:buNone/>
            </a:pPr>
            <a:r>
              <a:rPr lang="en-US" sz="1100"/>
              <a:t>Focus on the existing task: Ayasha’s House To solve a multiplication equation, you can use the inverse operation, division. The Division Property of Equality states…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19" name="Google Shape;719;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23 | TASK</a:t>
            </a:r>
          </a:p>
          <a:p xmlns:a="http://schemas.openxmlformats.org/drawingml/2006/main">
            <a:pPr>
              <a:buNone/>
            </a:pPr>
            <a:r>
              <a:rPr lang="en-US" sz="1100"/>
              <a:t>Focus on the existing task: Ayasha’s House The distance from Ayasha’s house to the mountains is shown. The distance from her house to the mountains is four times as…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is the distance from Ayasha’s house to the lake?</a:t>
            </a:r>
          </a:p>
          <a:p>
            <a:pPr indent="0" lvl="0" marL="0" rtl="0" algn="l">
              <a:lnSpc>
                <a:spcPct val="100000"/>
              </a:lnSpc>
              <a:spcBef>
                <a:spcPts val="0"/>
              </a:spcBef>
              <a:spcAft>
                <a:spcPts val="0"/>
              </a:spcAft>
              <a:buSzPts val="1400"/>
              <a:buNone/>
            </a:pPr>
            <a:r>
              <a:t>UIFR: TEACH 1 · TEACH 3.</a:t>
            </a:r>
          </a:p>
        </p:txBody>
      </p:sp>
      <p:sp>
        <p:nvSpPr>
          <p:cNvPr id="734" name="Google Shape;734;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24 | PRACTICE</a:t>
            </a:r>
          </a:p>
          <a:p xmlns:a="http://schemas.openxmlformats.org/drawingml/2006/main">
            <a:pPr>
              <a:buNone/>
            </a:pPr>
            <a:r>
              <a:rPr lang="en-US" sz="1100"/>
              <a:t>Focus on the existing task: Let’s Explore More Why can you use division when solving a multiplication equation?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45" name="Google Shape;745;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30 | DIVIDER</a:t>
            </a:r>
          </a:p>
          <a:p xmlns:a="http://schemas.openxmlformats.org/drawingml/2006/main">
            <a:pPr>
              <a:buNone/>
            </a:pPr>
            <a:r>
              <a:rPr lang="en-US" sz="1100"/>
              <a:t>Focus on the existing task: Write and Solve Equations Using Multiplication or Division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57" name="Google Shape;757;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31 | REVEAL</a:t>
            </a:r>
          </a:p>
          <a:p xmlns:a="http://schemas.openxmlformats.org/drawingml/2006/main">
            <a:pPr>
              <a:buNone/>
            </a:pPr>
            <a:r>
              <a:rPr lang="en-US" sz="1100"/>
              <a:t>Focus on the existing task: What information is given?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books can be divided into 21 packets. There will be 6 books in each packet. The number of books the library has to give away is unknown.</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inverse operation undo the change to the variable while keeping both sides equal?” Wait for evidence, invite another pathway, and have a student ask a follow-up question. Do not replace students’ reasoning with a sequence of leading steps.</a:t>
            </a:r>
          </a:p>
        </p:txBody>
      </p:sp>
      <p:sp>
        <p:nvSpPr>
          <p:cNvPr id="806" name="Google Shape;806;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32 | TASK</a:t>
            </a:r>
          </a:p>
          <a:p xmlns:a="http://schemas.openxmlformats.org/drawingml/2006/main">
            <a:pPr>
              <a:buNone/>
            </a:pPr>
            <a:r>
              <a:rPr lang="en-US" sz="1100"/>
              <a:t>Focus on the existing task: Free Books Using Representations How can you use a picture to model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can you use a picture to model the problem?</a:t>
            </a:r>
          </a:p>
          <a:p>
            <a:pPr indent="0" lvl="0" marL="0" rtl="0" algn="l">
              <a:lnSpc>
                <a:spcPct val="100000"/>
              </a:lnSpc>
              <a:spcBef>
                <a:spcPts val="0"/>
              </a:spcBef>
              <a:spcAft>
                <a:spcPts val="0"/>
              </a:spcAft>
              <a:buSzPts val="1400"/>
              <a:buNone/>
            </a:pPr>
            <a:r>
              <a:t>UIFR: TEACH 1 · TEACH 3.</a:t>
            </a:r>
          </a:p>
        </p:txBody>
      </p:sp>
      <p:sp>
        <p:nvSpPr>
          <p:cNvPr id="844" name="Google Shape;844;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33 | REVEAL</a:t>
            </a:r>
          </a:p>
          <a:p xmlns:a="http://schemas.openxmlformats.org/drawingml/2006/main">
            <a:pPr>
              <a:buNone/>
            </a:pPr>
            <a:r>
              <a:rPr lang="en-US" sz="1100"/>
              <a:t>Focus on the existing task: Free Books Reveal: We can use a division equation. Let’s use a tape diagram to think about the structure of the relationship. How can you represent the relationship algebraically?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 division equation.</a:t>
            </a:r>
          </a:p>
          <a:p>
            <a:pPr indent="0" lvl="0" marL="0" rtl="0" algn="l">
              <a:lnSpc>
                <a:spcPct val="100000"/>
              </a:lnSpc>
              <a:spcBef>
                <a:spcPts val="0"/>
              </a:spcBef>
              <a:spcAft>
                <a:spcPts val="0"/>
              </a:spcAft>
              <a:buSzPts val="1400"/>
              <a:buNone/>
            </a:pPr>
            <a:r>
              <a:t>UIFR: TEACH 3 · TEACH 4.</a:t>
            </a:r>
          </a:p>
        </p:txBody>
      </p:sp>
      <p:sp>
        <p:nvSpPr>
          <p:cNvPr id="867" name="Google Shape;867;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34 | REVEAL</a:t>
            </a:r>
          </a:p>
          <a:p xmlns:a="http://schemas.openxmlformats.org/drawingml/2006/main">
            <a:pPr>
              <a:buNone/>
            </a:pPr>
            <a:r>
              <a:rPr lang="en-US" sz="1100"/>
              <a:t>Focus on the existing task: Free Books How can you use an inverse operation to solve the equation?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opposite of division, multiplication.</a:t>
            </a:r>
          </a:p>
          <a:p>
            <a:pPr indent="0" lvl="0" marL="0" rtl="0" algn="l">
              <a:lnSpc>
                <a:spcPct val="100000"/>
              </a:lnSpc>
              <a:spcBef>
                <a:spcPts val="0"/>
              </a:spcBef>
              <a:spcAft>
                <a:spcPts val="0"/>
              </a:spcAft>
              <a:buSzPts val="1400"/>
              <a:buNone/>
            </a:pPr>
            <a:r>
              <a:t>UIFR: TEACH 3 · TEACH 4.</a:t>
            </a:r>
          </a:p>
        </p:txBody>
      </p:sp>
      <p:sp>
        <p:nvSpPr>
          <p:cNvPr id="890" name="Google Shape;890;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35 | COLLABORATE</a:t>
            </a:r>
          </a:p>
          <a:p xmlns:a="http://schemas.openxmlformats.org/drawingml/2006/main">
            <a:pPr>
              <a:buNone/>
            </a:pPr>
            <a:r>
              <a:rPr lang="en-US" sz="1100"/>
              <a:t>Focus on the existing task: To solve a division equation, you can use the inverse operation, multiplication. Collaborate and Connect Use the Multiplication Property…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the reciprocal operation on only one side. If it appears, label the operation attached to the variable and show its inverse on both sides; then ask the student to revise the same response and explain the change. If evidence is secure, have students compare a second valid pathway or state why their approach works. Choose the next step from the responses, not a preset pace.</a:t>
            </a:r>
          </a:p>
        </p:txBody>
      </p:sp>
      <p:sp>
        <p:nvSpPr>
          <p:cNvPr id="913" name="Google Shape;913;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36 | WORKED</a:t>
            </a:r>
          </a:p>
          <a:p xmlns:a="http://schemas.openxmlformats.org/drawingml/2006/main">
            <a:pPr>
              <a:buNone/>
            </a:pPr>
            <a:r>
              <a:rPr lang="en-US" sz="1100"/>
              <a:t>Focus on the existing task: Let’s use the Multiplication Property of Equality to solve the equation. Free Books Multiplication Property of Equality Multiply.</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33" name="Google Shape;933;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37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53" name="Google Shape;953;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38 | PRACTICE</a:t>
            </a:r>
          </a:p>
          <a:p xmlns:a="http://schemas.openxmlformats.org/drawingml/2006/main">
            <a:pPr>
              <a:buNone/>
            </a:pPr>
            <a:r>
              <a:rPr lang="en-US" sz="1100"/>
              <a:t>Focus on the existing task: Let’s Explore More What is another equation that represents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60" name="Google Shape;960;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42 | SUMMARIZE</a:t>
            </a:r>
          </a:p>
          <a:p xmlns:a="http://schemas.openxmlformats.org/drawingml/2006/main">
            <a:pPr>
              <a:buNone/>
            </a:pPr>
            <a:r>
              <a:rPr lang="en-US" sz="1100"/>
              <a:t>Focus on the existing task: Summarize: Write and Solve Equations Using Multiplication or Division You can solve multiplication and division equations using inverse…</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72" name="Google Shape;972;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43 | SUMMARIZE</a:t>
            </a:r>
          </a:p>
          <a:p xmlns:a="http://schemas.openxmlformats.org/drawingml/2006/main">
            <a:pPr>
              <a:buNone/>
            </a:pPr>
            <a:r>
              <a:rPr lang="en-US" sz="1100"/>
              <a:t>Focus on the existing task: Summarize: Write and Solve Equations Using Multiplication or Division You can solve multiplication and division equations using inverse…</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82" name="Google Shape;982;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44 | APPLY</a:t>
            </a:r>
          </a:p>
          <a:p xmlns:a="http://schemas.openxmlformats.org/drawingml/2006/main">
            <a:pPr>
              <a:buNone/>
            </a:pPr>
            <a:r>
              <a:rPr lang="en-US" sz="1100"/>
              <a:t>Focus on the existing task: Apply: Snack Bags The student council buys snacks in bulk to sell during lunch. One box of snacks contains the types and quantities of…</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undo multiplication or division on both sides; preserve equality; check the result. Respond with one specific next step tied to the work. Students revise and annotate what changed, then identify a criterion they can now demonstrate and one they still need to practice.</a:t>
            </a:r>
          </a:p>
        </p:txBody>
      </p:sp>
      <p:sp>
        <p:nvSpPr>
          <p:cNvPr id="992" name="Google Shape;992;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8.3, slide 45 | REFLECTION</a:t>
            </a:r>
          </a:p>
          <a:p xmlns:a="http://schemas.openxmlformats.org/drawingml/2006/main">
            <a:pPr>
              <a:buNone/>
            </a:pPr>
            <a:r>
              <a:rPr lang="en-US" sz="1100"/>
              <a:t>Focus on the existing task: Learning Targets I can write and solve one-step multiplication equations using the Division Property of Equality. I can write and solve…</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01" name="Google Shape;1001;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8.3, slide 28 | WARMUP</a:t>
            </a:r>
          </a:p>
          <a:p xmlns:a="http://schemas.openxmlformats.org/drawingml/2006/main">
            <a:pPr>
              <a:buNone/>
            </a:pPr>
            <a:r>
              <a:rPr lang="en-US" sz="1100"/>
              <a:t>Focus on the existing task: A Addition B Division C Subtraction D Squaring 2 To solve 4x = 28, which operation isolates x?</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undo multiplication or division on both sides; preserve equality; check the result. Ask: “Which part of your work would show this?” Revisit that evidence after the task; a confidence rating alone is not evidence of understanding.</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8.3, slide 29 | NOTES</a:t>
            </a:r>
          </a:p>
          <a:p xmlns:a="http://schemas.openxmlformats.org/drawingml/2006/main">
            <a:pPr>
              <a:buNone/>
            </a:pPr>
            <a:r>
              <a:rPr lang="en-US" sz="1100"/>
              <a:t>Focus on the existing task: Today’s Math Notes Review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47 | REFLECTION</a:t>
            </a:r>
          </a:p>
          <a:p xmlns:a="http://schemas.openxmlformats.org/drawingml/2006/main">
            <a:pPr>
              <a:buNone/>
            </a:pPr>
            <a:r>
              <a:rPr lang="en-US" sz="1100"/>
              <a:t>Focus on the existing task: Learning Targets I can write and solve one-step multiplication equations using the Division Property of Equality. I can write and solve…</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using the reciprocal operation on only one side.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operation attached to the variable and show its inverse on both sides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7 | PRIOR_INSERT</a:t>
            </a:r>
          </a:p>
          <a:p xmlns:a="http://schemas.openxmlformats.org/drawingml/2006/main">
            <a:pPr>
              <a:buNone/>
            </a:pPr>
            <a:r>
              <a:rPr lang="en-US" sz="1100"/>
              <a:t>Focus on the existing task: LESSON 8.3 / OUR LEARNING What will show your learning?</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8 | VOCAB</a:t>
            </a:r>
          </a:p>
          <a:p xmlns:a="http://schemas.openxmlformats.org/drawingml/2006/main">
            <a:pPr>
              <a:buNone/>
            </a:pPr>
            <a:r>
              <a:rPr lang="en-US" sz="1100"/>
              <a:t>Focus on the existing task: Vocabulary 1 of 7 Solve…</a:t>
            </a:r>
          </a:p>
          <a:p xmlns:a="http://schemas.openxmlformats.org/drawingml/2006/main">
            <a:pPr>
              <a:buNone/>
            </a:pPr>
            <a:r>
              <a:rPr lang="en-US" sz="1100"/>
              <a:t>ASK (T1/3/5): Where does “Solve Multiplication and Division Equations”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9 | VOCAB</a:t>
            </a:r>
          </a:p>
          <a:p xmlns:a="http://schemas.openxmlformats.org/drawingml/2006/main">
            <a:pPr>
              <a:buNone/>
            </a:pPr>
            <a:r>
              <a:rPr lang="en-US" sz="1100"/>
              <a:t>Focus on the existing task: Vocabulary 2 of 7 Inverse…</a:t>
            </a:r>
          </a:p>
          <a:p xmlns:a="http://schemas.openxmlformats.org/drawingml/2006/main">
            <a:pPr>
              <a:buNone/>
            </a:pPr>
            <a:r>
              <a:rPr lang="en-US" sz="1100"/>
              <a:t>ASK (T1/3/5): Where does “Inverse operation”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10 | VOCAB</a:t>
            </a:r>
          </a:p>
          <a:p xmlns:a="http://schemas.openxmlformats.org/drawingml/2006/main">
            <a:pPr>
              <a:buNone/>
            </a:pPr>
            <a:r>
              <a:rPr lang="en-US" sz="1100"/>
              <a:t>Focus on the existing task: Vocabulary 3 of 7 Multiply To…</a:t>
            </a:r>
          </a:p>
          <a:p xmlns:a="http://schemas.openxmlformats.org/drawingml/2006/main">
            <a:pPr>
              <a:buNone/>
            </a:pPr>
            <a:r>
              <a:rPr lang="en-US" sz="1100"/>
              <a:t>ASK (T1/3/5): Where does “Multiply”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11 | VOCAB</a:t>
            </a:r>
          </a:p>
          <a:p xmlns:a="http://schemas.openxmlformats.org/drawingml/2006/main">
            <a:pPr>
              <a:buNone/>
            </a:pPr>
            <a:r>
              <a:rPr lang="en-US" sz="1100"/>
              <a:t>Focus on the existing task: Vocabulary 4 of 7 Divide To…</a:t>
            </a:r>
          </a:p>
          <a:p xmlns:a="http://schemas.openxmlformats.org/drawingml/2006/main">
            <a:pPr>
              <a:buNone/>
            </a:pPr>
            <a:r>
              <a:rPr lang="en-US" sz="1100"/>
              <a:t>ASK (T1/3/5): Where does “Divide”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12 | VOCAB</a:t>
            </a:r>
          </a:p>
          <a:p xmlns:a="http://schemas.openxmlformats.org/drawingml/2006/main">
            <a:pPr>
              <a:buNone/>
            </a:pPr>
            <a:r>
              <a:rPr lang="en-US" sz="1100"/>
              <a:t>Focus on the existing task: Vocabulary 5 of 7 Isolate To…</a:t>
            </a:r>
          </a:p>
          <a:p xmlns:a="http://schemas.openxmlformats.org/drawingml/2006/main">
            <a:pPr>
              <a:buNone/>
            </a:pPr>
            <a:r>
              <a:rPr lang="en-US" sz="1100"/>
              <a:t>ASK (T1/3/5): Where does “Isolate”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13 | VOCAB</a:t>
            </a:r>
          </a:p>
          <a:p xmlns:a="http://schemas.openxmlformats.org/drawingml/2006/main">
            <a:pPr>
              <a:buNone/>
            </a:pPr>
            <a:r>
              <a:rPr lang="en-US" sz="1100"/>
              <a:t>Focus on the existing task: Vocabulary 6 of 7 Coefficient…</a:t>
            </a:r>
          </a:p>
          <a:p xmlns:a="http://schemas.openxmlformats.org/drawingml/2006/main">
            <a:pPr>
              <a:buNone/>
            </a:pPr>
            <a:r>
              <a:rPr lang="en-US" sz="1100"/>
              <a:t>ASK (T1/3/5): Where does “Coefficient”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14 | VOCAB</a:t>
            </a:r>
          </a:p>
          <a:p xmlns:a="http://schemas.openxmlformats.org/drawingml/2006/main">
            <a:pPr>
              <a:buNone/>
            </a:pPr>
            <a:r>
              <a:rPr lang="en-US" sz="1100"/>
              <a:t>Focus on the existing task: Vocabulary 7 of 7 Solution A…</a:t>
            </a:r>
          </a:p>
          <a:p xmlns:a="http://schemas.openxmlformats.org/drawingml/2006/main">
            <a:pPr>
              <a:buNone/>
            </a:pPr>
            <a:r>
              <a:rPr lang="en-US" sz="1100"/>
              <a:t>ASK (T1/3/5): Where does “Solution”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25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26 | REVEAL</a:t>
            </a:r>
          </a:p>
          <a:p xmlns:a="http://schemas.openxmlformats.org/drawingml/2006/main">
            <a:pPr>
              <a:buNone/>
            </a:pPr>
            <a:r>
              <a:rPr lang="en-US" sz="1100"/>
              <a:t>Focus on the existing task: Ayasha’s House Reveal: The distance from the house to the mountains is 140 miles, while the distance from the house to the lake is…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27 | REVEAL</a:t>
            </a:r>
          </a:p>
          <a:p xmlns:a="http://schemas.openxmlformats.org/drawingml/2006/main">
            <a:pPr>
              <a:buNone/>
            </a:pPr>
            <a:r>
              <a:rPr lang="en-US" sz="1100"/>
              <a:t>Focus on the existing task: Ayasha’s House Reveal: We can use an inverse relationship. How can you solve the equation?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39 | PRIOR_INSERT</a:t>
            </a:r>
          </a:p>
          <a:p xmlns:a="http://schemas.openxmlformats.org/drawingml/2006/main">
            <a:pPr>
              <a:buNone/>
            </a:pPr>
            <a:r>
              <a:rPr lang="en-US" sz="1100"/>
              <a:t>Focus on the existing task: LESSON 8.3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40 | REVEAL</a:t>
            </a:r>
          </a:p>
          <a:p xmlns:a="http://schemas.openxmlformats.org/drawingml/2006/main">
            <a:pPr>
              <a:buNone/>
            </a:pPr>
            <a:r>
              <a:rPr lang="en-US" sz="1100"/>
              <a:t>Focus on the existing task: Free Books Reveal: We can use a division equation. Let’s use a tape diagram to think about the structure of the relationship. How can you represent the relationship algebraically?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41 | REVEAL</a:t>
            </a:r>
          </a:p>
          <a:p xmlns:a="http://schemas.openxmlformats.org/drawingml/2006/main">
            <a:pPr>
              <a:buNone/>
            </a:pPr>
            <a:r>
              <a:rPr lang="en-US" sz="1100"/>
              <a:t>Focus on the existing task: Free Books How can you use an inverse operation to solve the equation?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46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undo multiplication or division on both sides. Ask which feature of their work supports the claim.</a:t>
            </a:r>
          </a:p>
          <a:p xmlns:a="http://schemas.openxmlformats.org/drawingml/2006/main">
            <a:pPr>
              <a:buNone/>
            </a:pPr>
            <a:r>
              <a:rPr lang="en-US" sz="1100"/>
              <a:t>RESPOND: If this task shows the lesson misconception—using the reciprocal operation on only one side—label the operation attached to the variable and show its inverse on both sides.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8.3, slide 48 | PRIOR_INSERT</a:t>
            </a:r>
          </a:p>
          <a:p xmlns:a="http://schemas.openxmlformats.org/drawingml/2006/main">
            <a:pPr>
              <a:buNone/>
            </a:pPr>
            <a:r>
              <a:rPr lang="en-US" sz="1100"/>
              <a:t>Focus on the existing task: LESSON 8.3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undo multiplication or division on both sides; preserve equality;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Solve Equations Using Multiplication or Division</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Solve Equations Using Multiplication or Division</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18.png"/><Relationship Id="rId7"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notesSlide" Target="../notesSlides/notesSlide7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6.png"/><Relationship Id="rId3" Type="http://schemas.openxmlformats.org/officeDocument/2006/relationships/notesSlide" Target="../notesSlides/notesSlide7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3.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image" Target="../media/image29.png"/><Relationship Id="rId4" Type="http://schemas.openxmlformats.org/officeDocument/2006/relationships/notesSlide" Target="../notesSlides/notesSlide7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7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notesSlide" Target="../notesSlides/notesSlide7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8-3 · Write and Solve Equations Using Multiplication or Division   |   Warm-Up · about 4 minutes</a:t>
            </a:r>
          </a:p>
        </p:txBody>
      </p:sp>
      <p:sp>
        <p:nvSpPr>
          <p:cNvPr id="26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7 × 8 = ______</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7.2 ÷ 6 = ______</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What undoes multiplying by 4?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1/2 × ______ = 10</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4" name="Google Shape;524;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525" name="Google Shape;525;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7" name="Google Shape;527;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8" name="Google Shape;528;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0" name="Google Shape;530;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3" name="Google Shape;533;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Solve Multiplication and Division Equations</a:t>
            </a:r>
            <a:endParaRPr/>
          </a:p>
        </p:txBody>
      </p:sp>
      <p:sp>
        <p:nvSpPr>
          <p:cNvPr id="534" name="Google Shape;534;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Use inverse multiplication or division to </a:t>
            </a:r>
            <a:r>
              <a:rPr b="1" i="0" lang="en-US" sz="1450" u="none" cap="none" strike="noStrike">
                <a:solidFill>
                  <a:srgbClr val="475569"/>
                </a:solidFill>
                <a:latin typeface="Arial"/>
                <a:ea typeface="Arial"/>
                <a:cs typeface="Arial"/>
                <a:sym typeface="Arial"/>
              </a:rPr>
              <a:t xml:space="preserve">isolate</a:t>
            </a:r>
            <a:r>
              <a:rPr b="0" i="0" lang="en-US" sz="1450" u="none" cap="none" strike="noStrike">
                <a:solidFill>
                  <a:srgbClr val="475569"/>
                </a:solidFill>
                <a:latin typeface="Arial"/>
                <a:ea typeface="Arial"/>
                <a:cs typeface="Arial"/>
                <a:sym typeface="Arial"/>
              </a:rPr>
              <a:t xml:space="preserve"> the </a:t>
            </a:r>
            <a:r>
              <a:rPr b="1" i="0" lang="en-US" sz="1450" u="none" cap="none" strike="noStrike">
                <a:solidFill>
                  <a:srgbClr val="475569"/>
                </a:solidFill>
                <a:latin typeface="Arial"/>
                <a:ea typeface="Arial"/>
                <a:cs typeface="Arial"/>
                <a:sym typeface="Arial"/>
              </a:rPr>
              <a:t xml:space="preserve">variable</a:t>
            </a:r>
            <a:endParaRPr/>
          </a:p>
        </p:txBody>
      </p:sp>
      <p:sp>
        <p:nvSpPr>
          <p:cNvPr id="535" name="Google Shape;535;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8" name="Google Shape;538;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Inverse operation</a:t>
            </a:r>
            <a:endParaRPr/>
          </a:p>
        </p:txBody>
      </p:sp>
      <p:sp>
        <p:nvSpPr>
          <p:cNvPr id="539" name="Google Shape;539;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Two math actions that undo each other, like × and ÷</a:t>
            </a:r>
            <a:endParaRPr/>
          </a:p>
        </p:txBody>
      </p:sp>
      <p:sp>
        <p:nvSpPr>
          <p:cNvPr id="540" name="Google Shape;540;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3" name="Google Shape;543;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Multiply</a:t>
            </a:r>
            <a:endParaRPr/>
          </a:p>
        </p:txBody>
      </p:sp>
      <p:sp>
        <p:nvSpPr>
          <p:cNvPr id="544" name="Google Shape;544;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To add equal groups again and again</a:t>
            </a:r>
            <a:endParaRPr/>
          </a:p>
        </p:txBody>
      </p:sp>
      <p:sp>
        <p:nvSpPr>
          <p:cNvPr id="5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56</a:t>
            </a:r>
          </a:p>
        </p:txBody>
      </p:sp>
      <p:grpSp>
        <p:nvGrpSpPr>
          <p:cNvPr id="546" name="TEACH-1-student-move" descr="TEACH 1 · Facilitate clear, standards-based content learning"/>
          <p:cNvGrpSpPr/>
          <p:nvPr/>
        </p:nvGrpSpPr>
        <p:grpSpPr>
          <a:xfrm>
            <a:off x="6187440" y="1682496"/>
            <a:ext cx="5501640" cy="594360"/>
            <a:chOff x="6187440" y="1682496"/>
            <a:chExt cx="5501640" cy="594360"/>
          </a:xfrm>
        </p:grpSpPr>
        <p:sp>
          <p:nvSpPr>
            <p:cNvPr id="54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52" name="Google Shape;552;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553" name="Google Shape;553;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55" name="Google Shape;555;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56" name="Google Shape;556;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8" name="Google Shape;558;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Solving Multiplication &amp; Division Equations</a:t>
            </a:r>
            <a:endParaRPr/>
          </a:p>
        </p:txBody>
      </p:sp>
      <p:sp>
        <p:nvSpPr>
          <p:cNvPr id="560" name="Google Shape;560;p54"/>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54"/>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ax = b → x = b/a</a:t>
            </a:r>
            <a:endParaRPr/>
          </a:p>
        </p:txBody>
      </p:sp>
      <p:sp>
        <p:nvSpPr>
          <p:cNvPr id="562" name="Google Shape;562;p54"/>
          <p:cNvSpPr/>
          <p:nvPr/>
        </p:nvSpPr>
        <p:spPr>
          <a:xfrm>
            <a:off x="466344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txBox="1"/>
          <p:nvPr/>
        </p:nvSpPr>
        <p:spPr>
          <a:xfrm>
            <a:off x="4791455"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x/a = b → x = a · b</a:t>
            </a:r>
            <a:endParaRPr/>
          </a:p>
        </p:txBody>
      </p:sp>
      <p:sp>
        <p:nvSpPr>
          <p:cNvPr id="564" name="Google Shape;564;p54"/>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54"/>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6" name="Google Shape;566;p54"/>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Identify the operation applied to the </a:t>
            </a:r>
            <a:r>
              <a:rPr b="1" i="0" lang="en-US" sz="1600" u="none" cap="none" strike="noStrike">
                <a:solidFill>
                  <a:srgbClr val="14223A"/>
                </a:solidFill>
                <a:latin typeface="Arial"/>
                <a:ea typeface="Arial"/>
                <a:cs typeface="Arial"/>
                <a:sym typeface="Arial"/>
              </a:rPr>
              <a:t xml:space="preserve">variable</a:t>
            </a:r>
            <a:endParaRPr/>
          </a:p>
        </p:txBody>
      </p:sp>
      <p:sp>
        <p:nvSpPr>
          <p:cNvPr id="567" name="Google Shape;567;p54"/>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p54"/>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9" name="Google Shape;569;p54"/>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Use the inverse operation: </a:t>
            </a:r>
            <a:r>
              <a:rPr b="0" i="0" lang="en-US" sz="1600" u="none" cap="none" strike="noStrike">
                <a:solidFill>
                  <a:srgbClr val="14223A"/>
                </a:solidFill>
                <a:latin typeface="Arial"/>
                <a:ea typeface="Arial"/>
                <a:cs typeface="Arial"/>
                <a:sym typeface="Arial"/>
              </a:rPr>
              <a:t>Divide to undo multiplication; multiply to undo division</a:t>
            </a:r>
            <a:endParaRPr/>
          </a:p>
        </p:txBody>
      </p:sp>
      <p:sp>
        <p:nvSpPr>
          <p:cNvPr id="570" name="Google Shape;570;p54"/>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54"/>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72" name="Google Shape;572;p54"/>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Balance: </a:t>
            </a:r>
            <a:r>
              <a:rPr b="0" i="0" lang="en-US" sz="1600" u="none" cap="none" strike="noStrike">
                <a:solidFill>
                  <a:srgbClr val="14223A"/>
                </a:solidFill>
                <a:latin typeface="Arial"/>
                <a:ea typeface="Arial"/>
                <a:cs typeface="Arial"/>
                <a:sym typeface="Arial"/>
              </a:rPr>
              <a:t xml:space="preserve">Apply the </a:t>
            </a:r>
            <a:r>
              <a:rPr b="1" i="0" lang="en-US" sz="1600" u="none" cap="none" strike="noStrike">
                <a:solidFill>
                  <a:srgbClr val="14223A"/>
                </a:solidFill>
                <a:latin typeface="Arial"/>
                <a:ea typeface="Arial"/>
                <a:cs typeface="Arial"/>
                <a:sym typeface="Arial"/>
              </a:rPr>
              <a:t xml:space="preserve">inverse operation</a:t>
            </a:r>
            <a:r>
              <a:rPr b="0" i="0" lang="en-US" sz="1600" u="none" cap="none" strike="noStrike">
                <a:solidFill>
                  <a:srgbClr val="14223A"/>
                </a:solidFill>
                <a:latin typeface="Arial"/>
                <a:ea typeface="Arial"/>
                <a:cs typeface="Arial"/>
                <a:sym typeface="Arial"/>
              </a:rPr>
              <a:t xml:space="preserve"> to both sides to </a:t>
            </a:r>
            <a:r>
              <a:rPr b="1" i="0" lang="en-US" sz="1600" u="none" cap="none" strike="noStrike">
                <a:solidFill>
                  <a:srgbClr val="14223A"/>
                </a:solidFill>
                <a:latin typeface="Arial"/>
                <a:ea typeface="Arial"/>
                <a:cs typeface="Arial"/>
                <a:sym typeface="Arial"/>
              </a:rPr>
              <a:t xml:space="preserve">isolate</a:t>
            </a:r>
            <a:r>
              <a:rPr b="0" i="0" lang="en-US" sz="1600" u="none" cap="none" strike="noStrike">
                <a:solidFill>
                  <a:srgbClr val="14223A"/>
                </a:solidFill>
                <a:latin typeface="Arial"/>
                <a:ea typeface="Arial"/>
                <a:cs typeface="Arial"/>
                <a:sym typeface="Arial"/>
              </a:rPr>
              <a:t xml:space="preserve"> the variable</a:t>
            </a:r>
            <a:endParaRPr/>
          </a:p>
        </p:txBody>
      </p:sp>
      <p:sp>
        <p:nvSpPr>
          <p:cNvPr id="5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56</a:t>
            </a:r>
          </a:p>
        </p:txBody>
      </p:sp>
      <p:grpSp>
        <p:nvGrpSpPr>
          <p:cNvPr id="574" name="TEACH-1-student-move" descr="TEACH 1 · Facilitate clear, standards-based content learning"/>
          <p:cNvGrpSpPr/>
          <p:nvPr/>
        </p:nvGrpSpPr>
        <p:grpSpPr>
          <a:xfrm>
            <a:off x="6187440" y="1682496"/>
            <a:ext cx="5501640" cy="594360"/>
            <a:chOff x="6187440" y="1682496"/>
            <a:chExt cx="5501640" cy="594360"/>
          </a:xfrm>
        </p:grpSpPr>
        <p:sp>
          <p:nvSpPr>
            <p:cNvPr id="57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7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7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Solve Equations Using Multiplication or Division</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56</a:t>
            </a:r>
          </a:p>
        </p:txBody>
      </p:sp>
      <p:grpSp>
        <p:nvGrpSpPr>
          <p:cNvPr id="237" name="TEACH-6-student-move" descr="TEACH 6 · Organize and implement routines to support a learning-focused classroom"/>
          <p:cNvGrpSpPr/>
          <p:nvPr/>
        </p:nvGrpSpPr>
        <p:grpSpPr>
          <a:xfrm>
            <a:off x="502920" y="3867613"/>
            <a:ext cx="11186160" cy="731520"/>
            <a:chOff x="502920" y="3867613"/>
            <a:chExt cx="11186160" cy="731520"/>
          </a:xfrm>
        </p:grpSpPr>
        <p:sp>
          <p:nvSpPr>
            <p:cNvPr id="238" name="TEACH-move-card"/>
            <p:cNvSpPr/>
            <p:nvPr/>
          </p:nvSpPr>
          <p:spPr>
            <a:xfrm>
              <a:off x="502920" y="3867613"/>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2"/>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3"/>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2" name="Google Shape;242;p41"/>
          <p:cNvSpPr txBox="1"/>
          <p:nvPr/>
        </p:nvSpPr>
        <p:spPr>
          <a:xfrm>
            <a:off x="486000" y="316034"/>
            <a:ext cx="3643548" cy="486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6000" y="936000"/>
            <a:ext cx="747022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Would you rather have THIS or THAT many ounces of gold?</a:t>
            </a:r>
            <a:endParaRPr b="0" i="0" sz="2800" u="none" cap="none" strike="noStrike">
              <a:solidFill>
                <a:schemeClr val="dk1"/>
              </a:solidFill>
              <a:latin typeface="Arial"/>
              <a:ea typeface="Arial"/>
              <a:cs typeface="Arial"/>
              <a:sym typeface="Arial"/>
            </a:endParaRPr>
          </a:p>
        </p:txBody>
      </p:sp>
      <p:graphicFrame>
        <p:nvGraphicFramePr>
          <p:cNvPr id="244" name="Google Shape;244;p41"/>
          <p:cNvGraphicFramePr/>
          <p:nvPr/>
        </p:nvGraphicFramePr>
        <p:xfrm>
          <a:off x="486000" y="2313744"/>
          <a:ext cx="3000000" cy="3000000"/>
        </p:xfrm>
        <a:graphic>
          <a:graphicData uri="http://schemas.openxmlformats.org/drawingml/2006/table">
            <a:tbl>
              <a:tblPr bandRow="1" firstRow="1">
                <a:noFill/>
                <a:tableStyleId>{8E519927-2C46-48D7-A4CA-FA01C05FD4E8}</a:tableStyleId>
              </a:tblPr>
              <a:tblGrid>
                <a:gridCol w="4410875"/>
                <a:gridCol w="4410875"/>
              </a:tblGrid>
              <a:tr h="518150">
                <a:tc gridSpan="2">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solidFill>
                            <a:schemeClr val="dk1"/>
                          </a:solidFill>
                          <a:latin typeface="Arial"/>
                          <a:ea typeface="Arial"/>
                          <a:cs typeface="Arial"/>
                          <a:sym typeface="Arial"/>
                        </a:rPr>
                        <a:t>THIS or THAT</a:t>
                      </a:r>
                      <a:endParaRPr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51815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b="1" sz="28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b="1" sz="2800" u="none" cap="none" strike="noStrike">
                        <a:solidFill>
                          <a:schemeClr val="lt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6875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249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48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56</a:t>
            </a:r>
          </a:p>
        </p:txBody>
      </p:sp>
      <p:sp xmlns:p="http://schemas.openxmlformats.org/presentationml/2006/main" xmlns:a="http://schemas.openxmlformats.org/drawingml/2006/main">
        <p:nvSpPr>
          <p:cNvPr id="24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6" name="Google Shape;336;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337" name="Google Shape;337;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9" name="Google Shape;339;p44"/>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Write and Solve Equations Using Multiplication or Division</a:t>
            </a:r>
            <a:endParaRPr/>
          </a:p>
        </p:txBody>
      </p:sp>
      <p:sp>
        <p:nvSpPr>
          <p:cNvPr id="340" name="Google Shape;340;p44"/>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6.AT.8</a:t>
            </a:r>
            <a:endParaRPr/>
          </a:p>
        </p:txBody>
      </p:sp>
      <p:sp>
        <p:nvSpPr>
          <p:cNvPr id="341" name="Google Shape;341;p44"/>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4" name="Google Shape;344;p44"/>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5" name="Google Shape;345;p44"/>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solve one-step multiplication and division equations using inverse operations.</a:t>
            </a:r>
            <a:endParaRPr/>
          </a:p>
        </p:txBody>
      </p:sp>
      <p:sp>
        <p:nvSpPr>
          <p:cNvPr id="346" name="Google Shape;346;p44"/>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9" name="Google Shape;349;p44"/>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0" name="Google Shape;350;p44"/>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steps using the words inverse operation, multiply, divide, and isolate.</a:t>
            </a:r>
            <a:endParaRPr/>
          </a:p>
        </p:txBody>
      </p:sp>
      <p:sp>
        <p:nvSpPr>
          <p:cNvPr id="3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8.3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Undo multiplication or division on both sides.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Preserve equality.</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Check the result.</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5" name="Google Shape;395;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98" name="Google Shape;398;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399" name="Google Shape;399;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1" name="Google Shape;401;p46"/>
          <p:cNvSpPr txBox="1"/>
          <p:nvPr/>
        </p:nvSpPr>
        <p:spPr>
          <a:xfrm>
            <a:off x="640080" y="1561338"/>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Solve Multiplication and Division Equations</a:t>
            </a:r>
            <a:endParaRPr/>
          </a:p>
        </p:txBody>
      </p:sp>
      <p:sp>
        <p:nvSpPr>
          <p:cNvPr id="402" name="Google Shape;402;p46"/>
          <p:cNvSpPr/>
          <p:nvPr/>
        </p:nvSpPr>
        <p:spPr>
          <a:xfrm>
            <a:off x="658368" y="3079241"/>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640080" y="3440429"/>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Use inverse multiplication or division to isolate the variable.</a:t>
            </a:r>
            <a:endParaRPr/>
          </a:p>
        </p:txBody>
      </p:sp>
      <p:sp>
        <p:nvSpPr>
          <p:cNvPr id="404" name="Google Shape;404;p46"/>
          <p:cNvSpPr/>
          <p:nvPr/>
        </p:nvSpPr>
        <p:spPr>
          <a:xfrm>
            <a:off x="640080" y="4565142"/>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6"/>
          <p:cNvSpPr/>
          <p:nvPr/>
        </p:nvSpPr>
        <p:spPr>
          <a:xfrm>
            <a:off x="640080" y="4565142"/>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txBox="1"/>
          <p:nvPr/>
        </p:nvSpPr>
        <p:spPr>
          <a:xfrm>
            <a:off x="932688" y="4738878"/>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7" name="Google Shape;407;p46"/>
          <p:cNvSpPr txBox="1"/>
          <p:nvPr/>
        </p:nvSpPr>
        <p:spPr>
          <a:xfrm>
            <a:off x="932688" y="5040629"/>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4x = 20 → x = 5</a:t>
            </a:r>
            <a:endParaRPr/>
          </a:p>
        </p:txBody>
      </p:sp>
      <p:pic>
        <p:nvPicPr>
          <p:cNvPr descr="concept-solve-multiplication-and-division-equations.png" id="408" name="Google Shape;408;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56</a:t>
            </a:r>
          </a:p>
        </p:txBody>
      </p:sp>
      <p:grpSp>
        <p:nvGrpSpPr>
          <p:cNvPr id="409" name="TEACH-5-student-move" descr="TEACH 5 · Facilitate student interactions and academic talk"/>
          <p:cNvGrpSpPr/>
          <p:nvPr/>
        </p:nvGrpSpPr>
        <p:grpSpPr>
          <a:xfrm>
            <a:off x="502920" y="5751576"/>
            <a:ext cx="11186160" cy="548640"/>
            <a:chOff x="502920" y="5751576"/>
            <a:chExt cx="11186160" cy="548640"/>
          </a:xfrm>
        </p:grpSpPr>
        <p:sp>
          <p:nvSpPr>
            <p:cNvPr id="41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1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6" name="Google Shape;41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417" name="Google Shape;41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Inverse operation</a:t>
            </a:r>
            <a:endParaRPr/>
          </a:p>
        </p:txBody>
      </p:sp>
      <p:sp>
        <p:nvSpPr>
          <p:cNvPr id="420" name="Google Shape;420;p47"/>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math actions that undo each other, like × and ÷.</a:t>
            </a:r>
            <a:endParaRPr/>
          </a:p>
        </p:txBody>
      </p:sp>
      <p:sp>
        <p:nvSpPr>
          <p:cNvPr id="422" name="Google Shape;422;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Multiplication and division are inverses: 3 × 7 = 21, so 21 ÷ 3 = 7</a:t>
            </a:r>
            <a:endParaRPr/>
          </a:p>
        </p:txBody>
      </p:sp>
      <p:pic>
        <p:nvPicPr>
          <p:cNvPr descr="equation.png" id="426" name="Google Shape;426;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56</a:t>
            </a: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“Inverse operation”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4" name="Google Shape;434;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435" name="Google Shape;435;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8"/>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Multiply</a:t>
            </a:r>
            <a:endParaRPr/>
          </a:p>
        </p:txBody>
      </p:sp>
      <p:sp>
        <p:nvSpPr>
          <p:cNvPr id="438" name="Google Shape;438;p48"/>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add equal groups again and again.</a:t>
            </a:r>
            <a:endParaRPr/>
          </a:p>
        </p:txBody>
      </p:sp>
      <p:sp>
        <p:nvSpPr>
          <p:cNvPr id="440" name="Google Shape;440;p48"/>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8"/>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 7 = 21 means 3 groups of 7 equals 21</a:t>
            </a:r>
            <a:endParaRPr/>
          </a:p>
        </p:txBody>
      </p:sp>
      <p:pic>
        <p:nvPicPr>
          <p:cNvPr descr="multiply.png" id="444" name="Google Shape;444;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56</a:t>
            </a:r>
          </a:p>
        </p:txBody>
      </p:sp>
      <p:sp xmlns:p="http://schemas.openxmlformats.org/presentationml/2006/main" xmlns:a="http://schemas.openxmlformats.org/drawingml/2006/main">
        <p:nvSpPr>
          <p:cNvPr id="44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“Multiply”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2" name="Google Shape;452;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453" name="Google Shape;453;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Divide</a:t>
            </a:r>
            <a:endParaRPr/>
          </a:p>
        </p:txBody>
      </p:sp>
      <p:sp>
        <p:nvSpPr>
          <p:cNvPr id="456" name="Google Shape;456;p49"/>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split into equal groups.</a:t>
            </a:r>
            <a:endParaRPr/>
          </a:p>
        </p:txBody>
      </p:sp>
      <p:sp>
        <p:nvSpPr>
          <p:cNvPr id="458" name="Google Shape;458;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36 ÷ 4 = 9 means 36 split into 4 equal groups gives 9 per group</a:t>
            </a:r>
            <a:endParaRPr/>
          </a:p>
        </p:txBody>
      </p:sp>
      <p:pic>
        <p:nvPicPr>
          <p:cNvPr descr="divide.png" id="462" name="Google Shape;462;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56</a:t>
            </a:r>
          </a:p>
        </p:txBody>
      </p:sp>
      <p:sp xmlns:p="http://schemas.openxmlformats.org/presentationml/2006/main" xmlns:a="http://schemas.openxmlformats.org/drawingml/2006/main">
        <p:nvSpPr>
          <p:cNvPr id="46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“Divide”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70" name="Google Shape;470;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471" name="Google Shape;471;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0"/>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Isolate</a:t>
            </a:r>
            <a:endParaRPr/>
          </a:p>
        </p:txBody>
      </p:sp>
      <p:sp>
        <p:nvSpPr>
          <p:cNvPr id="474" name="Google Shape;474;p50"/>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get the letter by itself on one side.</a:t>
            </a:r>
            <a:endParaRPr/>
          </a:p>
        </p:txBody>
      </p:sp>
      <p:sp>
        <p:nvSpPr>
          <p:cNvPr id="476" name="Google Shape;476;p50"/>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0"/>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3x = 21 → divide both sides by 3 → x = 7 (x is alone)</a:t>
            </a:r>
            <a:endParaRPr/>
          </a:p>
        </p:txBody>
      </p:sp>
      <p:pic>
        <p:nvPicPr>
          <p:cNvPr descr="equation.png" id="480" name="Google Shape;480;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56</a:t>
            </a:r>
          </a:p>
        </p:txBody>
      </p:sp>
      <p:sp xmlns:p="http://schemas.openxmlformats.org/presentationml/2006/main" xmlns:a="http://schemas.openxmlformats.org/drawingml/2006/main">
        <p:nvSpPr>
          <p:cNvPr id="48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“Isolate”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5" name="Google Shape;485;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8" name="Google Shape;488;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489" name="Google Shape;489;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1" name="Google Shape;491;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Coefficient</a:t>
            </a:r>
            <a:endParaRPr/>
          </a:p>
        </p:txBody>
      </p:sp>
      <p:sp>
        <p:nvSpPr>
          <p:cNvPr id="492" name="Google Shape;492;p51"/>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in front of a letter, like the 3 in 3x.</a:t>
            </a:r>
            <a:endParaRPr/>
          </a:p>
        </p:txBody>
      </p:sp>
      <p:sp>
        <p:nvSpPr>
          <p:cNvPr id="494" name="Google Shape;494;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7" name="Google Shape;497;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6x = 18, the coefficient is 6; divide both sides by 6 to get x = 3.</a:t>
            </a:r>
            <a:endParaRPr/>
          </a:p>
        </p:txBody>
      </p:sp>
      <p:pic>
        <p:nvPicPr>
          <p:cNvPr descr="coefficient.png" id="498" name="Google Shape;498;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56</a:t>
            </a:r>
          </a:p>
        </p:txBody>
      </p:sp>
      <p:sp xmlns:p="http://schemas.openxmlformats.org/presentationml/2006/main" xmlns:a="http://schemas.openxmlformats.org/drawingml/2006/main">
        <p:nvSpPr>
          <p:cNvPr id="49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“Coefficient”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3" name="Google Shape;503;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6" name="Google Shape;506;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507" name="Google Shape;507;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9" name="Google Shape;509;p52"/>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Solution</a:t>
            </a:r>
            <a:endParaRPr/>
          </a:p>
        </p:txBody>
      </p:sp>
      <p:sp>
        <p:nvSpPr>
          <p:cNvPr id="510" name="Google Shape;510;p52"/>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that makes the equation or inequality true.</a:t>
            </a:r>
            <a:endParaRPr/>
          </a:p>
        </p:txBody>
      </p:sp>
      <p:sp>
        <p:nvSpPr>
          <p:cNvPr id="512" name="Google Shape;512;p52"/>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5" name="Google Shape;515;p52"/>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x = 3 is the solution of 6x = 18 because 6 × 3 = 18.</a:t>
            </a:r>
            <a:endParaRPr/>
          </a:p>
        </p:txBody>
      </p:sp>
      <p:pic>
        <p:nvPicPr>
          <p:cNvPr descr="equation.png" id="516" name="Google Shape;516;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56</a:t>
            </a:r>
          </a:p>
        </p:txBody>
      </p:sp>
      <p:sp xmlns:p="http://schemas.openxmlformats.org/presentationml/2006/main" xmlns:a="http://schemas.openxmlformats.org/drawingml/2006/main">
        <p:nvSpPr>
          <p:cNvPr id="51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“Solution” to explain 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8" name="Google Shape;358;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359" name="Google Shape;359;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1" name="Google Shape;361;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2" name="Google Shape;362;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3" name="Google Shape;363;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Solve Multiplication and Division Equations</a:t>
            </a:r>
            <a:endParaRPr/>
          </a:p>
        </p:txBody>
      </p:sp>
      <p:sp>
        <p:nvSpPr>
          <p:cNvPr id="366" name="Google Shape;366;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Use inverse multiplication or division to isolate the variable</a:t>
            </a:r>
            <a:endParaRPr/>
          </a:p>
        </p:txBody>
      </p:sp>
      <p:sp>
        <p:nvSpPr>
          <p:cNvPr id="367" name="Google Shape;367;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Inverse operation</a:t>
            </a:r>
            <a:endParaRPr/>
          </a:p>
        </p:txBody>
      </p:sp>
      <p:sp>
        <p:nvSpPr>
          <p:cNvPr id="370" name="Google Shape;370;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Two math actions that undo each other, like × and ÷</a:t>
            </a:r>
            <a:endParaRPr/>
          </a:p>
        </p:txBody>
      </p:sp>
      <p:sp>
        <p:nvSpPr>
          <p:cNvPr id="371" name="Google Shape;371;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Multiply</a:t>
            </a:r>
            <a:endParaRPr/>
          </a:p>
        </p:txBody>
      </p:sp>
      <p:sp>
        <p:nvSpPr>
          <p:cNvPr id="374" name="Google Shape;374;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To add equal groups again and again</a:t>
            </a:r>
            <a:endParaRPr/>
          </a:p>
        </p:txBody>
      </p:sp>
      <p:sp>
        <p:nvSpPr>
          <p:cNvPr id="375" name="Google Shape;375;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Divide</a:t>
            </a:r>
            <a:endParaRPr/>
          </a:p>
        </p:txBody>
      </p:sp>
      <p:sp>
        <p:nvSpPr>
          <p:cNvPr id="378" name="Google Shape;378;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To split into equal groups</a:t>
            </a:r>
            <a:endParaRPr/>
          </a:p>
        </p:txBody>
      </p:sp>
      <p:sp>
        <p:nvSpPr>
          <p:cNvPr id="379" name="Google Shape;379;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Isolate</a:t>
            </a:r>
            <a:endParaRPr/>
          </a:p>
        </p:txBody>
      </p:sp>
      <p:sp>
        <p:nvSpPr>
          <p:cNvPr id="382" name="Google Shape;382;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To get the letter by itself on one side</a:t>
            </a:r>
            <a:endParaRPr/>
          </a:p>
        </p:txBody>
      </p:sp>
      <p:sp>
        <p:nvSpPr>
          <p:cNvPr id="383" name="Google Shape;383;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Coefficient</a:t>
            </a:r>
            <a:endParaRPr/>
          </a:p>
        </p:txBody>
      </p:sp>
      <p:sp>
        <p:nvSpPr>
          <p:cNvPr id="386" name="Google Shape;386;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number in front of a letter, like the 3 in 3x</a:t>
            </a:r>
            <a:endParaRPr/>
          </a:p>
        </p:txBody>
      </p:sp>
      <p:sp>
        <p:nvSpPr>
          <p:cNvPr id="387" name="Google Shape;387;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Solution</a:t>
            </a:r>
            <a:endParaRPr/>
          </a:p>
        </p:txBody>
      </p:sp>
      <p:sp>
        <p:nvSpPr>
          <p:cNvPr id="390" name="Google Shape;390;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number that makes the equation or inequality true</a:t>
            </a:r>
            <a:endParaRPr/>
          </a:p>
        </p:txBody>
      </p:sp>
      <p:sp>
        <p:nvSpPr>
          <p:cNvPr id="3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56</a:t>
            </a:r>
          </a:p>
        </p:txBody>
      </p:sp>
      <p:sp xmlns:p="http://schemas.openxmlformats.org/presentationml/2006/main" xmlns:a="http://schemas.openxmlformats.org/drawingml/2006/main">
        <p:nvSpPr>
          <p:cNvPr id="392"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cxnSp>
        <p:nvCxnSpPr>
          <p:cNvPr id="587" name="Google Shape;587;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8" name="Google Shape;588;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89" name="Google Shape;589;p56"/>
          <p:cNvPicPr preferRelativeResize="0"/>
          <p:nvPr/>
        </p:nvPicPr>
        <p:blipFill rotWithShape="1">
          <a:blip r:embed="rId3">
            <a:alphaModFix/>
          </a:blip>
          <a:srcRect b="0" l="0" r="0" t="0"/>
          <a:stretch/>
        </p:blipFill>
        <p:spPr>
          <a:xfrm>
            <a:off x="387260" y="4593823"/>
            <a:ext cx="5054600" cy="838200"/>
          </a:xfrm>
          <a:prstGeom prst="rect">
            <a:avLst/>
          </a:prstGeom>
          <a:noFill/>
          <a:ln>
            <a:noFill/>
          </a:ln>
        </p:spPr>
      </p:pic>
      <p:sp>
        <p:nvSpPr>
          <p:cNvPr id="590" name="Google Shape;590;p56"/>
          <p:cNvSpPr txBox="1"/>
          <p:nvPr/>
        </p:nvSpPr>
        <p:spPr>
          <a:xfrm>
            <a:off x="3149976" y="473323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91" name="Google Shape;591;p56"/>
          <p:cNvSpPr txBox="1"/>
          <p:nvPr/>
        </p:nvSpPr>
        <p:spPr>
          <a:xfrm>
            <a:off x="484560" y="936000"/>
            <a:ext cx="4860000"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could the question be?</a:t>
            </a:r>
            <a:endParaRPr b="0" i="0" sz="1400" u="none" cap="none" strike="noStrike">
              <a:solidFill>
                <a:srgbClr val="000000"/>
              </a:solidFill>
              <a:latin typeface="Arial"/>
              <a:ea typeface="Arial"/>
              <a:cs typeface="Arial"/>
              <a:sym typeface="Arial"/>
            </a:endParaRPr>
          </a:p>
        </p:txBody>
      </p:sp>
      <p:sp>
        <p:nvSpPr>
          <p:cNvPr id="592" name="Google Shape;592;p56"/>
          <p:cNvSpPr/>
          <p:nvPr/>
        </p:nvSpPr>
        <p:spPr>
          <a:xfrm>
            <a:off x="387260" y="5432023"/>
            <a:ext cx="8688501"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be respectful of others even if you disagree with their reasoning?</a:t>
            </a:r>
            <a:endParaRPr b="0" i="0" sz="2600" u="none" cap="none" strike="noStrike">
              <a:solidFill>
                <a:srgbClr val="595959"/>
              </a:solidFill>
              <a:latin typeface="Arial"/>
              <a:ea typeface="Arial"/>
              <a:cs typeface="Arial"/>
              <a:sym typeface="Arial"/>
            </a:endParaRPr>
          </a:p>
        </p:txBody>
      </p:sp>
      <p:pic>
        <p:nvPicPr>
          <p:cNvPr descr="C:\Users\HP\Desktop\Grade_6_Unit_8\OPS\img\.assets\af5e5fd9ae5248e4892aad280aaf9de1\narm24_c10803_se_003a-dig.png" id="593" name="Google Shape;593;p56"/>
          <p:cNvPicPr preferRelativeResize="0"/>
          <p:nvPr/>
        </p:nvPicPr>
        <p:blipFill rotWithShape="1">
          <a:blip r:embed="rId4">
            <a:alphaModFix/>
          </a:blip>
          <a:srcRect b="0" l="0" r="0" t="0"/>
          <a:stretch/>
        </p:blipFill>
        <p:spPr>
          <a:xfrm>
            <a:off x="6096000" y="1389886"/>
            <a:ext cx="4414500" cy="3924000"/>
          </a:xfrm>
          <a:prstGeom prst="rect">
            <a:avLst/>
          </a:prstGeom>
          <a:noFill/>
          <a:ln>
            <a:noFill/>
          </a:ln>
        </p:spPr>
      </p:pic>
      <p:sp>
        <p:nvSpPr>
          <p:cNvPr id="5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56</a:t>
            </a:r>
          </a:p>
        </p:txBody>
      </p:sp>
      <p:sp xmlns:p="http://schemas.openxmlformats.org/presentationml/2006/main" xmlns:a="http://schemas.openxmlformats.org/drawingml/2006/main">
        <p:nvSpPr>
          <p:cNvPr id="595" name="TEACH-embedded-student-prompt" descr="Student thinking and response directions"/>
          <p:cNvSpPr txBox="1"/>
          <p:nvPr/>
        </p:nvSpPr>
        <p:spPr>
          <a:xfrm>
            <a:off x="594360" y="33649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cxnSp>
        <p:nvCxnSpPr>
          <p:cNvPr id="609" name="Google Shape;609;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0" name="Google Shape;610;p58"/>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611" name="Google Shape;611;p58"/>
          <p:cNvSpPr txBox="1"/>
          <p:nvPr/>
        </p:nvSpPr>
        <p:spPr>
          <a:xfrm>
            <a:off x="484565" y="3134257"/>
            <a:ext cx="709032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is the distance from Ayasha’s house to the lake?</a:t>
            </a:r>
            <a:endParaRPr b="0" i="0" sz="1400" u="none" cap="none" strike="noStrike">
              <a:solidFill>
                <a:srgbClr val="000000"/>
              </a:solidFill>
              <a:latin typeface="Arial"/>
              <a:ea typeface="Arial"/>
              <a:cs typeface="Arial"/>
              <a:sym typeface="Arial"/>
            </a:endParaRPr>
          </a:p>
        </p:txBody>
      </p:sp>
      <p:pic>
        <p:nvPicPr>
          <p:cNvPr id="612" name="Google Shape;612;p58"/>
          <p:cNvPicPr preferRelativeResize="0"/>
          <p:nvPr/>
        </p:nvPicPr>
        <p:blipFill rotWithShape="1">
          <a:blip r:embed="rId3">
            <a:alphaModFix/>
          </a:blip>
          <a:srcRect b="0" l="0" r="0" t="0"/>
          <a:stretch/>
        </p:blipFill>
        <p:spPr>
          <a:xfrm>
            <a:off x="466441" y="4984905"/>
            <a:ext cx="5054600" cy="838200"/>
          </a:xfrm>
          <a:prstGeom prst="rect">
            <a:avLst/>
          </a:prstGeom>
          <a:noFill/>
          <a:ln>
            <a:noFill/>
          </a:ln>
        </p:spPr>
      </p:pic>
      <p:sp>
        <p:nvSpPr>
          <p:cNvPr id="613" name="Google Shape;613;p58"/>
          <p:cNvSpPr/>
          <p:nvPr/>
        </p:nvSpPr>
        <p:spPr>
          <a:xfrm>
            <a:off x="3206160" y="5142395"/>
            <a:ext cx="15648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Applying</a:t>
            </a:r>
            <a:endParaRPr b="0" i="0" sz="1400" u="none" cap="none" strike="noStrike">
              <a:solidFill>
                <a:srgbClr val="000000"/>
              </a:solidFill>
              <a:latin typeface="Arial"/>
              <a:ea typeface="Arial"/>
              <a:cs typeface="Arial"/>
              <a:sym typeface="Arial"/>
            </a:endParaRPr>
          </a:p>
        </p:txBody>
      </p:sp>
      <p:sp>
        <p:nvSpPr>
          <p:cNvPr id="614" name="Google Shape;614;p58"/>
          <p:cNvSpPr/>
          <p:nvPr/>
        </p:nvSpPr>
        <p:spPr>
          <a:xfrm>
            <a:off x="484565" y="5823105"/>
            <a:ext cx="8278228"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apply mathematics to model the context?</a:t>
            </a:r>
            <a:endParaRPr b="0" i="0" sz="2600" u="none" cap="none" strike="noStrike">
              <a:solidFill>
                <a:srgbClr val="595959"/>
              </a:solidFill>
              <a:latin typeface="Arial"/>
              <a:ea typeface="Arial"/>
              <a:cs typeface="Arial"/>
              <a:sym typeface="Arial"/>
            </a:endParaRPr>
          </a:p>
        </p:txBody>
      </p:sp>
      <p:sp>
        <p:nvSpPr>
          <p:cNvPr id="615" name="Google Shape;615;p58"/>
          <p:cNvSpPr txBox="1"/>
          <p:nvPr/>
        </p:nvSpPr>
        <p:spPr>
          <a:xfrm>
            <a:off x="484565" y="936000"/>
            <a:ext cx="7090320" cy="2040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distance from Ayasha’s house to the mountains is shown. The distance from her house to the mountains is four times as far as the distance from her house to the lake.</a:t>
            </a:r>
            <a:endParaRPr b="0" i="0" sz="1400" u="none" cap="none" strike="noStrike">
              <a:solidFill>
                <a:srgbClr val="000000"/>
              </a:solidFill>
              <a:latin typeface="Arial"/>
              <a:ea typeface="Arial"/>
              <a:cs typeface="Arial"/>
              <a:sym typeface="Arial"/>
            </a:endParaRPr>
          </a:p>
        </p:txBody>
      </p:sp>
      <p:pic>
        <p:nvPicPr>
          <p:cNvPr descr="C:\Users\HP\Desktop\Grade_6_Unit_8\OPS\img\.assets\9f097a6078df4dd7bf7debb768eb9f40\narm24_c10803_se_004a-dig.png" id="616" name="Google Shape;616;p58"/>
          <p:cNvPicPr preferRelativeResize="0"/>
          <p:nvPr/>
        </p:nvPicPr>
        <p:blipFill rotWithShape="1">
          <a:blip r:embed="rId4">
            <a:alphaModFix/>
          </a:blip>
          <a:srcRect b="0" l="0" r="0" t="0"/>
          <a:stretch/>
        </p:blipFill>
        <p:spPr>
          <a:xfrm>
            <a:off x="7883088" y="1395000"/>
            <a:ext cx="3438525" cy="3657600"/>
          </a:xfrm>
          <a:prstGeom prst="rect">
            <a:avLst/>
          </a:prstGeom>
          <a:noFill/>
          <a:ln>
            <a:noFill/>
          </a:ln>
        </p:spPr>
      </p:pic>
      <p:sp>
        <p:nvSpPr>
          <p:cNvPr id="6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56</a:t>
            </a:r>
          </a:p>
        </p:txBody>
      </p:sp>
      <p:grpSp>
        <p:nvGrpSpPr>
          <p:cNvPr id="618" name="TEACH-3-student-move" descr="TEACH 3 · Use intentional questioning to deepen learning"/>
          <p:cNvGrpSpPr/>
          <p:nvPr/>
        </p:nvGrpSpPr>
        <p:grpSpPr>
          <a:xfrm>
            <a:off x="6187440" y="5146449"/>
            <a:ext cx="5501640" cy="594360"/>
            <a:chOff x="6187440" y="5146449"/>
            <a:chExt cx="5501640" cy="594360"/>
          </a:xfrm>
        </p:grpSpPr>
        <p:sp>
          <p:nvSpPr>
            <p:cNvPr id="619" name="TEACH-move-card"/>
            <p:cNvSpPr/>
            <p:nvPr/>
          </p:nvSpPr>
          <p:spPr>
            <a:xfrm>
              <a:off x="6187440" y="514644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20" name="TEACH-move-rule"/>
            <p:cNvSpPr/>
            <p:nvPr/>
          </p:nvSpPr>
          <p:spPr>
            <a:xfrm>
              <a:off x="6233160" y="5259377"/>
              <a:ext cx="100584" cy="368504"/>
            </a:xfrm>
            <a:prstGeom prst="roundRect">
              <a:avLst>
                <a:gd name="adj" fmla="val 50000"/>
              </a:avLst>
            </a:prstGeom>
            <a:solidFill>
              <a:srgbClr val="01708C"/>
            </a:solidFill>
            <a:ln>
              <a:noFill/>
            </a:ln>
          </p:spPr>
          <p:txBody>
            <a:bodyPr/>
            <a:lstStyle/>
            <a:p>
              <a:endParaRPr/>
            </a:p>
          </p:txBody>
        </p:sp>
        <p:sp>
          <p:nvSpPr>
            <p:cNvPr id="621" name="TEACH-move-text"/>
            <p:cNvSpPr txBox="1"/>
            <p:nvPr/>
          </p:nvSpPr>
          <p:spPr>
            <a:xfrm>
              <a:off x="6507480" y="514644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cxnSp>
        <p:nvCxnSpPr>
          <p:cNvPr id="632" name="Google Shape;632;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3" name="Google Shape;633;p60"/>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634" name="Google Shape;634;p60"/>
          <p:cNvSpPr txBox="1"/>
          <p:nvPr/>
        </p:nvSpPr>
        <p:spPr>
          <a:xfrm>
            <a:off x="484563" y="4542271"/>
            <a:ext cx="7368295" cy="17874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distance from the house to the mountains is 140 miles, while the distance from the house to the lake is unknown.</a:t>
            </a:r>
            <a:endParaRPr b="0" i="0" sz="1400" u="none" cap="none" strike="noStrike">
              <a:solidFill>
                <a:srgbClr val="000000"/>
              </a:solidFill>
              <a:latin typeface="Arial"/>
              <a:ea typeface="Arial"/>
              <a:cs typeface="Arial"/>
              <a:sym typeface="Arial"/>
            </a:endParaRPr>
          </a:p>
        </p:txBody>
      </p:sp>
      <p:sp>
        <p:nvSpPr>
          <p:cNvPr id="635" name="Google Shape;635;p60"/>
          <p:cNvSpPr txBox="1"/>
          <p:nvPr/>
        </p:nvSpPr>
        <p:spPr>
          <a:xfrm>
            <a:off x="484563" y="936001"/>
            <a:ext cx="6803341"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take a closer look at the relationship between the two distances.</a:t>
            </a:r>
            <a:endParaRPr b="0" i="0" sz="1400" u="none" cap="none" strike="noStrike">
              <a:solidFill>
                <a:srgbClr val="000000"/>
              </a:solidFill>
              <a:latin typeface="Arial"/>
              <a:ea typeface="Arial"/>
              <a:cs typeface="Arial"/>
              <a:sym typeface="Arial"/>
            </a:endParaRPr>
          </a:p>
        </p:txBody>
      </p:sp>
      <p:sp>
        <p:nvSpPr>
          <p:cNvPr id="636" name="Google Shape;636;p60"/>
          <p:cNvSpPr txBox="1"/>
          <p:nvPr/>
        </p:nvSpPr>
        <p:spPr>
          <a:xfrm>
            <a:off x="484563" y="3486716"/>
            <a:ext cx="627107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other information do you know about the two distances?</a:t>
            </a:r>
            <a:endParaRPr b="0" i="0" sz="1400" u="none" cap="none" strike="noStrike">
              <a:solidFill>
                <a:srgbClr val="000000"/>
              </a:solidFill>
              <a:latin typeface="Arial"/>
              <a:ea typeface="Arial"/>
              <a:cs typeface="Arial"/>
              <a:sym typeface="Arial"/>
            </a:endParaRPr>
          </a:p>
        </p:txBody>
      </p:sp>
      <p:sp>
        <p:nvSpPr>
          <p:cNvPr id="637" name="Google Shape;637;p60"/>
          <p:cNvSpPr/>
          <p:nvPr/>
        </p:nvSpPr>
        <p:spPr>
          <a:xfrm>
            <a:off x="486000" y="2011604"/>
            <a:ext cx="6096000"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distance from the house to the mountains is four times as far as the distance from the house to the lake.</a:t>
            </a:r>
            <a:endParaRPr b="0" i="0" sz="2800" u="none" cap="none" strike="noStrike">
              <a:solidFill>
                <a:schemeClr val="dk1"/>
              </a:solidFill>
              <a:latin typeface="Arial"/>
              <a:ea typeface="Arial"/>
              <a:cs typeface="Arial"/>
              <a:sym typeface="Arial"/>
            </a:endParaRPr>
          </a:p>
        </p:txBody>
      </p:sp>
      <p:pic>
        <p:nvPicPr>
          <p:cNvPr descr="C:\Users\HP\Desktop\Grade_6_Unit_8\OPS\img\.assets\9f097a6078df4dd7bf7debb768eb9f40\narm24_c10803_se_004a-dig.png" id="638" name="Google Shape;638;p60"/>
          <p:cNvPicPr preferRelativeResize="0"/>
          <p:nvPr/>
        </p:nvPicPr>
        <p:blipFill rotWithShape="1">
          <a:blip r:embed="rId3">
            <a:alphaModFix/>
          </a:blip>
          <a:srcRect b="0" l="0" r="0" t="0"/>
          <a:stretch/>
        </p:blipFill>
        <p:spPr>
          <a:xfrm>
            <a:off x="7883088" y="1395000"/>
            <a:ext cx="3438525" cy="3657600"/>
          </a:xfrm>
          <a:prstGeom prst="rect">
            <a:avLst/>
          </a:prstGeom>
          <a:noFill/>
          <a:ln>
            <a:noFill/>
          </a:ln>
        </p:spPr>
      </p:pic>
      <p:sp>
        <p:nvSpPr>
          <p:cNvPr id="6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56</a:t>
            </a:r>
          </a:p>
        </p:txBody>
      </p:sp>
      <p:sp>
        <p:nvSpPr>
          <p:cNvPr id="640" name="EWL-COVER-1"/>
          <p:cNvSpPr/>
          <p:nvPr/>
        </p:nvSpPr>
        <p:spPr>
          <a:xfrm>
            <a:off x="429699" y="4487407"/>
            <a:ext cx="7478023" cy="189721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cxnSp>
        <p:nvCxnSpPr>
          <p:cNvPr id="652" name="Google Shape;652;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3" name="Google Shape;653;p62"/>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654" name="Google Shape;654;p62"/>
          <p:cNvSpPr txBox="1"/>
          <p:nvPr/>
        </p:nvSpPr>
        <p:spPr>
          <a:xfrm>
            <a:off x="485999" y="936000"/>
            <a:ext cx="9138767" cy="3438037"/>
          </a:xfrm>
          <a:prstGeom prst="rect">
            <a:avLst/>
          </a:prstGeom>
          <a:blipFill rotWithShape="1">
            <a:blip r:embed="rId3">
              <a:alphaModFix/>
            </a:blip>
            <a:stretch>
              <a:fillRect b="-3369" l="-1201" r="-400" t="-19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55" name="Google Shape;655;p62"/>
          <p:cNvSpPr txBox="1"/>
          <p:nvPr/>
        </p:nvSpPr>
        <p:spPr>
          <a:xfrm>
            <a:off x="506673" y="4397496"/>
            <a:ext cx="1054495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the relationship between the two distances algebraically?</a:t>
            </a:r>
            <a:endParaRPr b="0" i="0" sz="1400" u="none" cap="none" strike="noStrike">
              <a:solidFill>
                <a:srgbClr val="000000"/>
              </a:solidFill>
              <a:latin typeface="Arial"/>
              <a:ea typeface="Arial"/>
              <a:cs typeface="Arial"/>
              <a:sym typeface="Arial"/>
            </a:endParaRPr>
          </a:p>
        </p:txBody>
      </p:sp>
      <p:sp>
        <p:nvSpPr>
          <p:cNvPr id="656" name="Google Shape;656;p62"/>
          <p:cNvSpPr txBox="1"/>
          <p:nvPr/>
        </p:nvSpPr>
        <p:spPr>
          <a:xfrm>
            <a:off x="506673" y="5313895"/>
            <a:ext cx="10774707" cy="10629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an equation with a variable for the distance to the lake.</a:t>
            </a:r>
            <a:endParaRPr b="0" i="0" sz="1400" u="none" cap="none" strike="noStrike">
              <a:solidFill>
                <a:srgbClr val="000000"/>
              </a:solidFill>
              <a:latin typeface="Arial"/>
              <a:ea typeface="Arial"/>
              <a:cs typeface="Arial"/>
              <a:sym typeface="Arial"/>
            </a:endParaRPr>
          </a:p>
        </p:txBody>
      </p:sp>
      <p:sp>
        <p:nvSpPr>
          <p:cNvPr id="65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56</a:t>
            </a:r>
          </a:p>
        </p:txBody>
      </p:sp>
      <p:sp>
        <p:nvSpPr>
          <p:cNvPr id="658" name="EWL-COVER-1"/>
          <p:cNvSpPr/>
          <p:nvPr/>
        </p:nvSpPr>
        <p:spPr>
          <a:xfrm>
            <a:off x="451809" y="5259031"/>
            <a:ext cx="10884435" cy="117271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cxnSp>
        <p:nvCxnSpPr>
          <p:cNvPr id="671" name="Google Shape;671;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2" name="Google Shape;672;p64"/>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673" name="Google Shape;673;p64"/>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674" name="Google Shape;674;p64"/>
          <p:cNvSpPr txBox="1"/>
          <p:nvPr/>
        </p:nvSpPr>
        <p:spPr>
          <a:xfrm>
            <a:off x="486000" y="4478348"/>
            <a:ext cx="10407972" cy="1204011"/>
          </a:xfrm>
          <a:prstGeom prst="rect">
            <a:avLst/>
          </a:prstGeom>
          <a:blipFill rotWithShape="1">
            <a:blip r:embed="rId4">
              <a:alphaModFix/>
            </a:blip>
            <a:stretch>
              <a:fillRect b="0" l="-1230" r="0" t="-558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5" name="Google Shape;675;p64"/>
          <p:cNvSpPr txBox="1"/>
          <p:nvPr/>
        </p:nvSpPr>
        <p:spPr>
          <a:xfrm>
            <a:off x="486000" y="936000"/>
            <a:ext cx="7894429" cy="1448981"/>
          </a:xfrm>
          <a:prstGeom prst="rect">
            <a:avLst/>
          </a:prstGeom>
          <a:blipFill rotWithShape="1">
            <a:blip r:embed="rId5">
              <a:alphaModFix/>
            </a:blip>
            <a:stretch>
              <a:fillRect b="-6751" l="-1622" r="-386" t="-46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6" name="Google Shape;676;p64"/>
          <p:cNvSpPr/>
          <p:nvPr/>
        </p:nvSpPr>
        <p:spPr>
          <a:xfrm>
            <a:off x="486000" y="2527127"/>
            <a:ext cx="8271501"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Write an equation that represents the relationship between the distances. Be sure to define any variables you use. </a:t>
            </a:r>
            <a:endParaRPr b="0" i="0" sz="2800" u="none" cap="none" strike="noStrike">
              <a:solidFill>
                <a:schemeClr val="dk1"/>
              </a:solidFill>
              <a:latin typeface="Arial"/>
              <a:ea typeface="Arial"/>
              <a:cs typeface="Arial"/>
              <a:sym typeface="Arial"/>
            </a:endParaRPr>
          </a:p>
        </p:txBody>
      </p:sp>
      <p:sp>
        <p:nvSpPr>
          <p:cNvPr id="6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56</a:t>
            </a:r>
          </a:p>
        </p:txBody>
      </p:sp>
      <p:sp>
        <p:nvSpPr>
          <p:cNvPr id="67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67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cxnSp>
        <p:nvCxnSpPr>
          <p:cNvPr id="711" name="Google Shape;711;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2" name="Google Shape;712;p68"/>
          <p:cNvSpPr txBox="1"/>
          <p:nvPr/>
        </p:nvSpPr>
        <p:spPr>
          <a:xfrm>
            <a:off x="486000" y="316800"/>
            <a:ext cx="5015483" cy="4884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713" name="Google Shape;713;p68"/>
          <p:cNvSpPr txBox="1"/>
          <p:nvPr/>
        </p:nvSpPr>
        <p:spPr>
          <a:xfrm>
            <a:off x="486000" y="5294009"/>
            <a:ext cx="6792963" cy="10170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an inverse relationship.</a:t>
            </a:r>
            <a:endParaRPr b="0" i="0" sz="1400" u="none" cap="none" strike="noStrike">
              <a:solidFill>
                <a:srgbClr val="000000"/>
              </a:solidFill>
              <a:latin typeface="Arial"/>
              <a:ea typeface="Arial"/>
              <a:cs typeface="Arial"/>
              <a:sym typeface="Arial"/>
            </a:endParaRPr>
          </a:p>
        </p:txBody>
      </p:sp>
      <p:sp>
        <p:nvSpPr>
          <p:cNvPr id="714" name="Google Shape;714;p68"/>
          <p:cNvSpPr/>
          <p:nvPr/>
        </p:nvSpPr>
        <p:spPr>
          <a:xfrm>
            <a:off x="486000" y="4373906"/>
            <a:ext cx="642896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solve the equation?</a:t>
            </a:r>
            <a:endParaRPr b="0" i="0" sz="2800" u="none" cap="none" strike="noStrike">
              <a:solidFill>
                <a:schemeClr val="dk1"/>
              </a:solidFill>
              <a:latin typeface="Arial"/>
              <a:ea typeface="Arial"/>
              <a:cs typeface="Arial"/>
              <a:sym typeface="Arial"/>
            </a:endParaRPr>
          </a:p>
        </p:txBody>
      </p:sp>
      <p:pic>
        <p:nvPicPr>
          <p:cNvPr descr="C:\Users\HP\Desktop\Grade_6_Unit_8\OPS\img\.assets\bd530b41209c4d91a8c13eb1a9117156\narm24_c10803_ebk_001a-eps.png" id="715" name="Google Shape;715;p68"/>
          <p:cNvPicPr preferRelativeResize="0"/>
          <p:nvPr/>
        </p:nvPicPr>
        <p:blipFill rotWithShape="1">
          <a:blip r:embed="rId3">
            <a:alphaModFix/>
          </a:blip>
          <a:srcRect b="0" l="0" r="0" t="0"/>
          <a:stretch/>
        </p:blipFill>
        <p:spPr>
          <a:xfrm>
            <a:off x="2577308" y="2234628"/>
            <a:ext cx="2924175" cy="1924050"/>
          </a:xfrm>
          <a:prstGeom prst="rect">
            <a:avLst/>
          </a:prstGeom>
          <a:noFill/>
          <a:ln>
            <a:noFill/>
          </a:ln>
        </p:spPr>
      </p:pic>
      <p:sp>
        <p:nvSpPr>
          <p:cNvPr id="716" name="Google Shape;716;p68"/>
          <p:cNvSpPr/>
          <p:nvPr/>
        </p:nvSpPr>
        <p:spPr>
          <a:xfrm>
            <a:off x="486001" y="936000"/>
            <a:ext cx="771531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We can use an equation to represent the problem.</a:t>
            </a:r>
            <a:endParaRPr b="0" i="0" sz="1400" u="none" cap="none" strike="noStrike">
              <a:solidFill>
                <a:srgbClr val="000000"/>
              </a:solidFill>
              <a:latin typeface="Arial"/>
              <a:ea typeface="Arial"/>
              <a:cs typeface="Arial"/>
              <a:sym typeface="Arial"/>
            </a:endParaRPr>
          </a:p>
        </p:txBody>
      </p:sp>
      <p:sp>
        <p:nvSpPr>
          <p:cNvPr id="7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56</a:t>
            </a:r>
          </a:p>
        </p:txBody>
      </p:sp>
      <p:sp>
        <p:nvSpPr>
          <p:cNvPr id="718" name="EWL-COVER-1"/>
          <p:cNvSpPr/>
          <p:nvPr/>
        </p:nvSpPr>
        <p:spPr>
          <a:xfrm>
            <a:off x="431136" y="5239145"/>
            <a:ext cx="6902691" cy="1126747"/>
          </a:xfrm>
          <a:prstGeom prst="rect">
            <a:avLst/>
          </a:prstGeom>
          <a:solidFill>
            <a:srgbClr val="FFFFFF"/>
          </a:solidFill>
          <a:ln>
            <a:noFill/>
          </a:ln>
        </p:spPr>
        <p:txBody>
          <a:bodyPr/>
          <a:lstStyle/>
          <a:p/>
        </p:txBody>
      </p:sp>
      <p:sp xmlns:p="http://schemas.openxmlformats.org/presentationml/2006/main" xmlns:a="http://schemas.openxmlformats.org/drawingml/2006/main">
        <p:nvSpPr>
          <p:cNvPr id="719" name="TEACH-embedded-student-prompt" descr="Student thinking and response directions"/>
          <p:cNvSpPr txBox="1"/>
          <p:nvPr/>
        </p:nvSpPr>
        <p:spPr>
          <a:xfrm>
            <a:off x="611124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cxnSp>
        <p:nvCxnSpPr>
          <p:cNvPr id="721" name="Google Shape;721;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2" name="Google Shape;722;p69"/>
          <p:cNvSpPr txBox="1"/>
          <p:nvPr/>
        </p:nvSpPr>
        <p:spPr>
          <a:xfrm>
            <a:off x="486000" y="316800"/>
            <a:ext cx="5015483" cy="4884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723" name="Google Shape;723;p69"/>
          <p:cNvSpPr/>
          <p:nvPr/>
        </p:nvSpPr>
        <p:spPr>
          <a:xfrm>
            <a:off x="486000" y="936000"/>
            <a:ext cx="814890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To solve a multiplication equation, you can use the inverse operation, division.</a:t>
            </a:r>
            <a:endParaRPr b="0" i="0" sz="1400" u="none" cap="none" strike="noStrike">
              <a:solidFill>
                <a:srgbClr val="000000"/>
              </a:solidFill>
              <a:latin typeface="Arial"/>
              <a:ea typeface="Arial"/>
              <a:cs typeface="Arial"/>
              <a:sym typeface="Arial"/>
            </a:endParaRPr>
          </a:p>
        </p:txBody>
      </p:sp>
      <p:sp>
        <p:nvSpPr>
          <p:cNvPr id="724" name="Google Shape;724;p69"/>
          <p:cNvSpPr/>
          <p:nvPr/>
        </p:nvSpPr>
        <p:spPr>
          <a:xfrm>
            <a:off x="486000" y="1915962"/>
            <a:ext cx="8507171"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 xml:space="preserve">The </a:t>
            </a:r>
            <a:r>
              <a:rPr b="1" i="0" lang="en-US" sz="2800" u="none" cap="none" strike="noStrike">
                <a:solidFill>
                  <a:srgbClr val="23282D"/>
                </a:solidFill>
                <a:highlight>
                  <a:srgbClr val="FFFF00"/>
                </a:highlight>
                <a:latin typeface="Arial"/>
                <a:ea typeface="Arial"/>
                <a:cs typeface="Arial"/>
                <a:sym typeface="Arial"/>
              </a:rPr>
              <a:t>Division Property of Equality</a:t>
            </a:r>
            <a:r>
              <a:rPr b="0" i="0" lang="en-US" sz="2800" u="none" cap="none" strike="noStrike">
                <a:solidFill>
                  <a:schemeClr val="dk1"/>
                </a:solidFill>
                <a:latin typeface="Arial"/>
                <a:ea typeface="Arial"/>
                <a:cs typeface="Arial"/>
                <a:sym typeface="Arial"/>
              </a:rPr>
              <a:t> states that you can divide each side of the equation by the same nonzero value and maintain equality.</a:t>
            </a:r>
            <a:endParaRPr b="0" i="0" sz="2800" u="none" cap="none" strike="noStrike">
              <a:solidFill>
                <a:schemeClr val="dk1"/>
              </a:solidFill>
              <a:latin typeface="Arial"/>
              <a:ea typeface="Arial"/>
              <a:cs typeface="Arial"/>
              <a:sym typeface="Arial"/>
            </a:endParaRPr>
          </a:p>
        </p:txBody>
      </p:sp>
      <p:sp>
        <p:nvSpPr>
          <p:cNvPr id="725" name="Google Shape;725;p69"/>
          <p:cNvSpPr txBox="1"/>
          <p:nvPr/>
        </p:nvSpPr>
        <p:spPr>
          <a:xfrm>
            <a:off x="504530" y="3399684"/>
            <a:ext cx="1748556"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6" name="Google Shape;726;p69"/>
          <p:cNvSpPr txBox="1"/>
          <p:nvPr/>
        </p:nvSpPr>
        <p:spPr>
          <a:xfrm>
            <a:off x="471916" y="4137598"/>
            <a:ext cx="1748556" cy="907556"/>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7" name="Google Shape;727;p69"/>
          <p:cNvSpPr txBox="1"/>
          <p:nvPr/>
        </p:nvSpPr>
        <p:spPr>
          <a:xfrm>
            <a:off x="471916" y="5137800"/>
            <a:ext cx="1965795"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8" name="Google Shape;728;p69"/>
          <p:cNvSpPr txBox="1"/>
          <p:nvPr/>
        </p:nvSpPr>
        <p:spPr>
          <a:xfrm>
            <a:off x="486000" y="5738512"/>
            <a:ext cx="1767023"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9" name="Google Shape;729;p69"/>
          <p:cNvSpPr/>
          <p:nvPr/>
        </p:nvSpPr>
        <p:spPr>
          <a:xfrm>
            <a:off x="3486459" y="4332379"/>
            <a:ext cx="478047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Division Property of Equality </a:t>
            </a:r>
            <a:endParaRPr b="0" i="0" sz="1400" u="none" cap="none" strike="noStrike">
              <a:solidFill>
                <a:srgbClr val="000000"/>
              </a:solidFill>
              <a:latin typeface="Arial"/>
              <a:ea typeface="Arial"/>
              <a:cs typeface="Arial"/>
              <a:sym typeface="Arial"/>
            </a:endParaRPr>
          </a:p>
        </p:txBody>
      </p:sp>
      <p:sp>
        <p:nvSpPr>
          <p:cNvPr id="730" name="Google Shape;730;p69"/>
          <p:cNvSpPr/>
          <p:nvPr/>
        </p:nvSpPr>
        <p:spPr>
          <a:xfrm>
            <a:off x="3486459" y="4996699"/>
            <a:ext cx="128432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Divide.</a:t>
            </a:r>
            <a:endParaRPr b="0" i="0" sz="1400" u="none" cap="none" strike="noStrike">
              <a:solidFill>
                <a:srgbClr val="000000"/>
              </a:solidFill>
              <a:latin typeface="Arial"/>
              <a:ea typeface="Arial"/>
              <a:cs typeface="Arial"/>
              <a:sym typeface="Arial"/>
            </a:endParaRPr>
          </a:p>
        </p:txBody>
      </p:sp>
      <p:sp>
        <p:nvSpPr>
          <p:cNvPr id="731" name="Google Shape;731;p69"/>
          <p:cNvSpPr/>
          <p:nvPr/>
        </p:nvSpPr>
        <p:spPr>
          <a:xfrm>
            <a:off x="3480072" y="5661020"/>
            <a:ext cx="5202001" cy="523220"/>
          </a:xfrm>
          <a:prstGeom prst="rect">
            <a:avLst/>
          </a:prstGeom>
          <a:blipFill rotWithShape="1">
            <a:blip r:embed="rId7">
              <a:alphaModFix/>
            </a:blip>
            <a:stretch>
              <a:fillRect b="-32942" l="-2462" r="0" t="-129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3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56</a:t>
            </a:r>
          </a:p>
        </p:txBody>
      </p:sp>
      <p:grpSp>
        <p:nvGrpSpPr>
          <p:cNvPr id="733" name="TEACH-5-student-move" descr="TEACH 5 · Facilitate student interactions and academic talk"/>
          <p:cNvGrpSpPr/>
          <p:nvPr/>
        </p:nvGrpSpPr>
        <p:grpSpPr>
          <a:xfrm>
            <a:off x="6187440" y="4984364"/>
            <a:ext cx="5501640" cy="594360"/>
            <a:chOff x="6187440" y="4984364"/>
            <a:chExt cx="5501640" cy="594360"/>
          </a:xfrm>
        </p:grpSpPr>
        <p:sp>
          <p:nvSpPr>
            <p:cNvPr id="734" name="TEACH-move-card"/>
            <p:cNvSpPr/>
            <p:nvPr/>
          </p:nvSpPr>
          <p:spPr>
            <a:xfrm>
              <a:off x="6187440" y="498436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35" name="TEACH-move-rule"/>
            <p:cNvSpPr/>
            <p:nvPr/>
          </p:nvSpPr>
          <p:spPr>
            <a:xfrm>
              <a:off x="6233160" y="5097292"/>
              <a:ext cx="100584" cy="368504"/>
            </a:xfrm>
            <a:prstGeom prst="roundRect">
              <a:avLst>
                <a:gd name="adj" fmla="val 50000"/>
              </a:avLst>
            </a:prstGeom>
            <a:solidFill>
              <a:srgbClr val="01708C"/>
            </a:solidFill>
            <a:ln>
              <a:noFill/>
            </a:ln>
          </p:spPr>
          <p:txBody>
            <a:bodyPr/>
            <a:lstStyle/>
            <a:p>
              <a:endParaRPr/>
            </a:p>
          </p:txBody>
        </p:sp>
        <p:sp>
          <p:nvSpPr>
            <p:cNvPr id="736" name="TEACH-move-text"/>
            <p:cNvSpPr txBox="1"/>
            <p:nvPr/>
          </p:nvSpPr>
          <p:spPr>
            <a:xfrm>
              <a:off x="6507480" y="498436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cxnSp>
        <p:nvCxnSpPr>
          <p:cNvPr id="736" name="Google Shape;736;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7" name="Google Shape;737;p70"/>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738" name="Google Shape;738;p70"/>
          <p:cNvSpPr txBox="1"/>
          <p:nvPr/>
        </p:nvSpPr>
        <p:spPr>
          <a:xfrm>
            <a:off x="484563" y="936000"/>
            <a:ext cx="6688747" cy="22188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distance from Ayasha’s house to the mountains is shown. The distance from her house to the mountains is four times as far as the distance from her house to the lake.</a:t>
            </a:r>
            <a:endParaRPr b="0" i="0" sz="1400" u="none" cap="none" strike="noStrike">
              <a:solidFill>
                <a:srgbClr val="000000"/>
              </a:solidFill>
              <a:latin typeface="Arial"/>
              <a:ea typeface="Arial"/>
              <a:cs typeface="Arial"/>
              <a:sym typeface="Arial"/>
            </a:endParaRPr>
          </a:p>
        </p:txBody>
      </p:sp>
      <p:sp>
        <p:nvSpPr>
          <p:cNvPr id="739" name="Google Shape;739;p70"/>
          <p:cNvSpPr/>
          <p:nvPr/>
        </p:nvSpPr>
        <p:spPr>
          <a:xfrm>
            <a:off x="414157" y="3411889"/>
            <a:ext cx="694834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is the distance from Ayasha’s house to the lake?</a:t>
            </a:r>
            <a:endParaRPr b="0" i="0" sz="2800" u="none" cap="none" strike="noStrike">
              <a:solidFill>
                <a:schemeClr val="dk1"/>
              </a:solidFill>
              <a:latin typeface="Arial"/>
              <a:ea typeface="Arial"/>
              <a:cs typeface="Arial"/>
              <a:sym typeface="Arial"/>
            </a:endParaRPr>
          </a:p>
        </p:txBody>
      </p:sp>
      <p:sp>
        <p:nvSpPr>
          <p:cNvPr id="740" name="Google Shape;740;p70"/>
          <p:cNvSpPr/>
          <p:nvPr/>
        </p:nvSpPr>
        <p:spPr>
          <a:xfrm>
            <a:off x="548765" y="4683404"/>
            <a:ext cx="662454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distance from Ayasha’s house to the lake is 35 miles.</a:t>
            </a:r>
            <a:endParaRPr b="0" i="0" sz="2800" u="none" cap="none" strike="noStrike">
              <a:solidFill>
                <a:schemeClr val="dk1"/>
              </a:solidFill>
              <a:latin typeface="Arial"/>
              <a:ea typeface="Arial"/>
              <a:cs typeface="Arial"/>
              <a:sym typeface="Arial"/>
            </a:endParaRPr>
          </a:p>
        </p:txBody>
      </p:sp>
      <p:sp>
        <p:nvSpPr>
          <p:cNvPr id="741" name="Google Shape;741;p70"/>
          <p:cNvSpPr/>
          <p:nvPr/>
        </p:nvSpPr>
        <p:spPr>
          <a:xfrm>
            <a:off x="484564" y="4623030"/>
            <a:ext cx="6877934" cy="1117894"/>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descr="C:\Users\HP\Desktop\Grade_6_Unit_8\OPS\img\.assets\9f097a6078df4dd7bf7debb768eb9f40\narm24_c10803_se_004a-dig.png" id="742" name="Google Shape;742;p70"/>
          <p:cNvPicPr preferRelativeResize="0"/>
          <p:nvPr/>
        </p:nvPicPr>
        <p:blipFill rotWithShape="1">
          <a:blip r:embed="rId3">
            <a:alphaModFix/>
          </a:blip>
          <a:srcRect b="0" l="0" r="0" t="0"/>
          <a:stretch/>
        </p:blipFill>
        <p:spPr>
          <a:xfrm>
            <a:off x="7883088" y="1395000"/>
            <a:ext cx="3438525" cy="3657600"/>
          </a:xfrm>
          <a:prstGeom prst="rect">
            <a:avLst/>
          </a:prstGeom>
          <a:noFill/>
          <a:ln>
            <a:noFill/>
          </a:ln>
        </p:spPr>
      </p:pic>
      <p:sp>
        <p:nvSpPr>
          <p:cNvPr id="7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56</a:t>
            </a:r>
          </a:p>
        </p:txBody>
      </p:sp>
      <p:grpSp>
        <p:nvGrpSpPr>
          <p:cNvPr id="744" name="TEACH-4-student-move" descr="TEACH 4 · Monitor progress and provide feedback"/>
          <p:cNvGrpSpPr/>
          <p:nvPr/>
        </p:nvGrpSpPr>
        <p:grpSpPr>
          <a:xfrm>
            <a:off x="502920" y="5777500"/>
            <a:ext cx="11186160" cy="457200"/>
            <a:chOff x="502920" y="5777500"/>
            <a:chExt cx="11186160" cy="457200"/>
          </a:xfrm>
        </p:grpSpPr>
        <p:sp>
          <p:nvSpPr>
            <p:cNvPr id="745" name="TEACH-move-card"/>
            <p:cNvSpPr/>
            <p:nvPr/>
          </p:nvSpPr>
          <p:spPr>
            <a:xfrm>
              <a:off x="502920" y="57775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746" name="TEACH-move-rule"/>
            <p:cNvSpPr/>
            <p:nvPr/>
          </p:nvSpPr>
          <p:spPr>
            <a:xfrm>
              <a:off x="548640" y="5864368"/>
              <a:ext cx="100584" cy="283464"/>
            </a:xfrm>
            <a:prstGeom prst="roundRect">
              <a:avLst>
                <a:gd name="adj" fmla="val 50000"/>
              </a:avLst>
            </a:prstGeom>
            <a:solidFill>
              <a:srgbClr val="01708C"/>
            </a:solidFill>
            <a:ln>
              <a:noFill/>
            </a:ln>
          </p:spPr>
          <p:txBody>
            <a:bodyPr/>
            <a:lstStyle/>
            <a:p>
              <a:endParaRPr/>
            </a:p>
          </p:txBody>
        </p:sp>
        <p:sp>
          <p:nvSpPr>
            <p:cNvPr id="747" name="TEACH-move-text"/>
            <p:cNvSpPr txBox="1"/>
            <p:nvPr/>
          </p:nvSpPr>
          <p:spPr>
            <a:xfrm>
              <a:off x="822960" y="57775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SELF-CHECK  ·  </a:t>
              </a:r>
              <a:r>
                <a:rPr lang="en-US" sz="1400" dirty="0">
                  <a:solidFill>
                    <a:srgbClr val="13303A"/>
                  </a:solidFill>
                  <a:latin typeface="Arial"/>
                </a:rPr>
                <a:t>Mark it: ✓ got it  ·  ~ almost  ·  ? stuck. Then fix one thing before we move on.</a:t>
              </a:r>
              <a:endParaRPr lang="en-US" sz="14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cxnSp>
        <p:nvCxnSpPr>
          <p:cNvPr id="747" name="Google Shape;747;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8" name="Google Shape;748;p71"/>
          <p:cNvSpPr txBox="1"/>
          <p:nvPr/>
        </p:nvSpPr>
        <p:spPr>
          <a:xfrm>
            <a:off x="484564"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49" name="Google Shape;749;p71"/>
          <p:cNvSpPr txBox="1"/>
          <p:nvPr/>
        </p:nvSpPr>
        <p:spPr>
          <a:xfrm>
            <a:off x="484565" y="936000"/>
            <a:ext cx="7754462" cy="10429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Arial"/>
              <a:buAutoNum type="alphaLcPeriod"/>
              <a:defRPr/>
            </a:pPr>
            <a:r>
              <a:rPr b="0" i="0" lang="en-US" sz="2800" u="none" cap="none" strike="noStrike">
                <a:solidFill>
                  <a:schemeClr val="dk1"/>
                </a:solidFill>
                <a:latin typeface="Arial"/>
                <a:ea typeface="Arial"/>
                <a:cs typeface="Arial"/>
                <a:sym typeface="Arial"/>
              </a:rPr>
              <a:t>Why can you use division when solving a multiplication equation?</a:t>
            </a:r>
            <a:endParaRPr b="0" i="0" sz="1400" u="none" cap="none" strike="noStrike">
              <a:solidFill>
                <a:srgbClr val="000000"/>
              </a:solidFill>
              <a:latin typeface="Arial"/>
              <a:ea typeface="Arial"/>
              <a:cs typeface="Arial"/>
              <a:sym typeface="Arial"/>
            </a:endParaRPr>
          </a:p>
        </p:txBody>
      </p:sp>
      <p:sp>
        <p:nvSpPr>
          <p:cNvPr id="750" name="Google Shape;750;p71"/>
          <p:cNvSpPr/>
          <p:nvPr/>
        </p:nvSpPr>
        <p:spPr>
          <a:xfrm>
            <a:off x="484565" y="2007254"/>
            <a:ext cx="7867584" cy="139361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1" name="Google Shape;751;p71"/>
          <p:cNvSpPr txBox="1"/>
          <p:nvPr/>
        </p:nvSpPr>
        <p:spPr>
          <a:xfrm>
            <a:off x="7145279" y="302536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52" name="Google Shape;752;p71"/>
          <p:cNvSpPr/>
          <p:nvPr/>
        </p:nvSpPr>
        <p:spPr>
          <a:xfrm>
            <a:off x="484564" y="4879076"/>
            <a:ext cx="7867584" cy="147980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3" name="Google Shape;753;p71"/>
          <p:cNvSpPr txBox="1"/>
          <p:nvPr/>
        </p:nvSpPr>
        <p:spPr>
          <a:xfrm>
            <a:off x="7145278" y="600379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54" name="Google Shape;754;p71"/>
          <p:cNvSpPr/>
          <p:nvPr/>
        </p:nvSpPr>
        <p:spPr>
          <a:xfrm>
            <a:off x="484564" y="3494081"/>
            <a:ext cx="7867584" cy="138499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Why is it important to divide each side by the coefficient in a one-step multiplication equation?</a:t>
            </a:r>
            <a:endParaRPr b="0" i="0" sz="1400" u="none" cap="none" strike="noStrike">
              <a:solidFill>
                <a:srgbClr val="000000"/>
              </a:solidFill>
              <a:latin typeface="Arial"/>
              <a:ea typeface="Arial"/>
              <a:cs typeface="Arial"/>
              <a:sym typeface="Arial"/>
            </a:endParaRPr>
          </a:p>
        </p:txBody>
      </p:sp>
      <p:sp>
        <p:nvSpPr>
          <p:cNvPr id="7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56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the inverse operation undo the change to the variable while keeping both sides equal?</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32" name="Google Shape;632;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3" name="Google Shape;633;p60"/>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634" name="Google Shape;634;p60"/>
          <p:cNvSpPr txBox="1"/>
          <p:nvPr/>
        </p:nvSpPr>
        <p:spPr>
          <a:xfrm>
            <a:off x="484563" y="4542271"/>
            <a:ext cx="7368295" cy="17874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distance from the house to the mountains is 140 miles, while the distance from the house to the lake is unknown.</a:t>
            </a:r>
            <a:endParaRPr b="0" i="0" sz="1400" u="none" cap="none" strike="noStrike">
              <a:solidFill>
                <a:srgbClr val="000000"/>
              </a:solidFill>
              <a:latin typeface="Arial"/>
              <a:ea typeface="Arial"/>
              <a:cs typeface="Arial"/>
              <a:sym typeface="Arial"/>
            </a:endParaRPr>
          </a:p>
        </p:txBody>
      </p:sp>
      <p:sp>
        <p:nvSpPr>
          <p:cNvPr id="635" name="Google Shape;635;p60"/>
          <p:cNvSpPr txBox="1"/>
          <p:nvPr/>
        </p:nvSpPr>
        <p:spPr>
          <a:xfrm>
            <a:off x="484563" y="936001"/>
            <a:ext cx="6803341"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take a closer look at the relationship between the two distances.</a:t>
            </a:r>
            <a:endParaRPr b="0" i="0" sz="1400" u="none" cap="none" strike="noStrike">
              <a:solidFill>
                <a:srgbClr val="000000"/>
              </a:solidFill>
              <a:latin typeface="Arial"/>
              <a:ea typeface="Arial"/>
              <a:cs typeface="Arial"/>
              <a:sym typeface="Arial"/>
            </a:endParaRPr>
          </a:p>
        </p:txBody>
      </p:sp>
      <p:sp>
        <p:nvSpPr>
          <p:cNvPr id="636" name="Google Shape;636;p60"/>
          <p:cNvSpPr txBox="1"/>
          <p:nvPr/>
        </p:nvSpPr>
        <p:spPr>
          <a:xfrm>
            <a:off x="484563" y="3486716"/>
            <a:ext cx="627107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other information do you know about the two distances?</a:t>
            </a:r>
            <a:endParaRPr b="0" i="0" sz="1400" u="none" cap="none" strike="noStrike">
              <a:solidFill>
                <a:srgbClr val="000000"/>
              </a:solidFill>
              <a:latin typeface="Arial"/>
              <a:ea typeface="Arial"/>
              <a:cs typeface="Arial"/>
              <a:sym typeface="Arial"/>
            </a:endParaRPr>
          </a:p>
        </p:txBody>
      </p:sp>
      <p:sp>
        <p:nvSpPr>
          <p:cNvPr id="637" name="Google Shape;637;p60"/>
          <p:cNvSpPr/>
          <p:nvPr/>
        </p:nvSpPr>
        <p:spPr>
          <a:xfrm>
            <a:off x="486000" y="2011604"/>
            <a:ext cx="6096000"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distance from the house to the mountains is four times as far as the distance from the house to the lake.</a:t>
            </a:r>
            <a:endParaRPr b="0" i="0" sz="2800" u="none" cap="none" strike="noStrike">
              <a:solidFill>
                <a:schemeClr val="dk1"/>
              </a:solidFill>
              <a:latin typeface="Arial"/>
              <a:ea typeface="Arial"/>
              <a:cs typeface="Arial"/>
              <a:sym typeface="Arial"/>
            </a:endParaRPr>
          </a:p>
        </p:txBody>
      </p:sp>
      <p:pic>
        <p:nvPicPr>
          <p:cNvPr descr="C:\Users\HP\Desktop\Grade_6_Unit_8\OPS\img\.assets\9f097a6078df4dd7bf7debb768eb9f40\narm24_c10803_se_004a-dig.png" id="638" name="Google Shape;638;p60"/>
          <p:cNvPicPr preferRelativeResize="0"/>
          <p:nvPr/>
        </p:nvPicPr>
        <p:blipFill rotWithShape="1">
          <a:blip r:embed="rId2">
            <a:alphaModFix/>
          </a:blip>
          <a:srcRect b="0" l="0" r="0" t="0"/>
          <a:stretch/>
        </p:blipFill>
        <p:spPr>
          <a:xfrm>
            <a:off x="7883088" y="1395000"/>
            <a:ext cx="3438525" cy="3657600"/>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11" name="Google Shape;711;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2" name="Google Shape;712;p68"/>
          <p:cNvSpPr txBox="1"/>
          <p:nvPr/>
        </p:nvSpPr>
        <p:spPr>
          <a:xfrm>
            <a:off x="486000" y="316800"/>
            <a:ext cx="5015483" cy="4884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Ayasha’s House</a:t>
            </a:r>
            <a:endParaRPr b="0" i="0" sz="1400" u="none" cap="none" strike="noStrike">
              <a:solidFill>
                <a:srgbClr val="000000"/>
              </a:solidFill>
              <a:latin typeface="Arial"/>
              <a:ea typeface="Arial"/>
              <a:cs typeface="Arial"/>
              <a:sym typeface="Arial"/>
            </a:endParaRPr>
          </a:p>
        </p:txBody>
      </p:sp>
      <p:sp>
        <p:nvSpPr>
          <p:cNvPr id="713" name="Google Shape;713;p68"/>
          <p:cNvSpPr txBox="1"/>
          <p:nvPr/>
        </p:nvSpPr>
        <p:spPr>
          <a:xfrm>
            <a:off x="486000" y="5294009"/>
            <a:ext cx="6792963" cy="10170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an inverse relationship.</a:t>
            </a:r>
            <a:endParaRPr b="0" i="0" sz="1400" u="none" cap="none" strike="noStrike">
              <a:solidFill>
                <a:srgbClr val="000000"/>
              </a:solidFill>
              <a:latin typeface="Arial"/>
              <a:ea typeface="Arial"/>
              <a:cs typeface="Arial"/>
              <a:sym typeface="Arial"/>
            </a:endParaRPr>
          </a:p>
        </p:txBody>
      </p:sp>
      <p:sp>
        <p:nvSpPr>
          <p:cNvPr id="714" name="Google Shape;714;p68"/>
          <p:cNvSpPr/>
          <p:nvPr/>
        </p:nvSpPr>
        <p:spPr>
          <a:xfrm>
            <a:off x="486000" y="4373906"/>
            <a:ext cx="642896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solve the equation?</a:t>
            </a:r>
            <a:endParaRPr b="0" i="0" sz="2800" u="none" cap="none" strike="noStrike">
              <a:solidFill>
                <a:schemeClr val="dk1"/>
              </a:solidFill>
              <a:latin typeface="Arial"/>
              <a:ea typeface="Arial"/>
              <a:cs typeface="Arial"/>
              <a:sym typeface="Arial"/>
            </a:endParaRPr>
          </a:p>
        </p:txBody>
      </p:sp>
      <p:pic>
        <p:nvPicPr>
          <p:cNvPr descr="C:\Users\HP\Desktop\Grade_6_Unit_8\OPS\img\.assets\bd530b41209c4d91a8c13eb1a9117156\narm24_c10803_ebk_001a-eps.png" id="715" name="Google Shape;715;p68"/>
          <p:cNvPicPr preferRelativeResize="0"/>
          <p:nvPr/>
        </p:nvPicPr>
        <p:blipFill rotWithShape="1">
          <a:blip r:embed="rId2">
            <a:alphaModFix/>
          </a:blip>
          <a:srcRect b="0" l="0" r="0" t="0"/>
          <a:stretch/>
        </p:blipFill>
        <p:spPr>
          <a:xfrm>
            <a:off x="2577308" y="2234628"/>
            <a:ext cx="2924175" cy="1924050"/>
          </a:xfrm>
          <a:prstGeom prst="rect">
            <a:avLst/>
          </a:prstGeom>
          <a:noFill/>
          <a:ln>
            <a:noFill/>
          </a:ln>
        </p:spPr>
      </p:pic>
      <p:sp>
        <p:nvSpPr>
          <p:cNvPr id="716" name="Google Shape;716;p68"/>
          <p:cNvSpPr/>
          <p:nvPr/>
        </p:nvSpPr>
        <p:spPr>
          <a:xfrm>
            <a:off x="486001" y="936000"/>
            <a:ext cx="771531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We can use an equation to represent the problem.</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56</a:t>
            </a:r>
          </a:p>
        </p:txBody>
      </p:sp>
      <p:sp xmlns:p="http://schemas.openxmlformats.org/presentationml/2006/main" xmlns:a="http://schemas.openxmlformats.org/drawingml/2006/main">
        <p:nvSpPr>
          <p:cNvPr id="717" name="TEACH-embedded-student-prompt" descr="Student thinking and response directions"/>
          <p:cNvSpPr txBox="1"/>
          <p:nvPr/>
        </p:nvSpPr>
        <p:spPr>
          <a:xfrm>
            <a:off x="611124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inverse operation of multiplication?</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Addition</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Division</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Subtraction</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Squaring</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solve 4x = 28, which operation isolates x?</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Multiply both sides by 4</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Divide both sides by 4</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Subtract 4</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 28</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Solve 4x = 28:</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4</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7</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24</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x = 112</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Solve m ÷ 5 = 6:</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 = 1</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 = 30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 = 11</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 = 25</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56</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8-3 · Write and Solve Equations Using Multiplication or Division</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Multiplication &amp; Division Inverses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Multiply to undo division; divide to undo multiplication.</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Isolating Coefficients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Divide both sides by the </a:t>
            </a:r>
            <a:r>
              <a:rPr b="1" i="0" lang="en-US" sz="1450" u="none" cap="none" strike="noStrike">
                <a:solidFill>
                  <a:srgbClr val="475569"/>
                </a:solidFill>
                <a:latin typeface="Arial"/>
                <a:ea typeface="Arial"/>
                <a:cs typeface="Arial"/>
                <a:sym typeface="Arial"/>
              </a:rPr>
              <a:t xml:space="preserve">variable</a:t>
            </a:r>
            <a:r>
              <a:rPr b="0" i="0" lang="en-US" sz="1450" u="none" cap="none" strike="noStrike">
                <a:solidFill>
                  <a:srgbClr val="475569"/>
                </a:solidFill>
                <a:latin typeface="Arial"/>
                <a:ea typeface="Arial"/>
                <a:cs typeface="Arial"/>
                <a:sym typeface="Arial"/>
              </a:rPr>
              <a:t xml:space="preserve">’s </a:t>
            </a:r>
            <a:r>
              <a:rPr b="1" i="0" lang="en-US" sz="1450" u="none" cap="none" strike="noStrike">
                <a:solidFill>
                  <a:srgbClr val="475569"/>
                </a:solidFill>
                <a:latin typeface="Arial"/>
                <a:ea typeface="Arial"/>
                <a:cs typeface="Arial"/>
                <a:sym typeface="Arial"/>
              </a:rPr>
              <a:t xml:space="preserve">coefficient</a:t>
            </a:r>
            <a:r>
              <a:rPr b="0" i="0" lang="en-US" sz="1450" u="none" cap="none" strike="noStrike">
                <a:solidFill>
                  <a:srgbClr val="475569"/>
                </a:solidFill>
                <a:latin typeface="Arial"/>
                <a:ea typeface="Arial"/>
                <a:cs typeface="Arial"/>
                <a:sym typeface="Arial"/>
              </a:rPr>
              <a:t xml:space="preserve">: ax = b implies x = b / a.</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Checking Solutions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Substitute</a:t>
            </a:r>
            <a:r>
              <a:rPr b="0" i="0" lang="en-US" sz="1450" u="none" cap="none" strike="noStrike">
                <a:solidFill>
                  <a:srgbClr val="475569"/>
                </a:solidFill>
                <a:latin typeface="Arial"/>
                <a:ea typeface="Arial"/>
                <a:cs typeface="Arial"/>
                <a:sym typeface="Arial"/>
              </a:rPr>
              <a:t xml:space="preserve"> answer back into original </a:t>
            </a:r>
            <a:r>
              <a:rPr b="1" i="0" lang="en-US" sz="1450" u="none" cap="none" strike="noStrike">
                <a:solidFill>
                  <a:srgbClr val="475569"/>
                </a:solidFill>
                <a:latin typeface="Arial"/>
                <a:ea typeface="Arial"/>
                <a:cs typeface="Arial"/>
                <a:sym typeface="Arial"/>
              </a:rPr>
              <a:t xml:space="preserve">equation</a:t>
            </a:r>
            <a:r>
              <a:rPr b="0" i="0" lang="en-US" sz="1450" u="none" cap="none" strike="noStrike">
                <a:solidFill>
                  <a:srgbClr val="475569"/>
                </a:solidFill>
                <a:latin typeface="Arial"/>
                <a:ea typeface="Arial"/>
                <a:cs typeface="Arial"/>
                <a:sym typeface="Arial"/>
              </a:rPr>
              <a:t xml:space="preserve"> to confirm equality.</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56</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72"/>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Solve Equations Using Multiplication or Division</a:t>
            </a:r>
            <a:endParaRPr b="0" i="0" sz="1400" u="none" cap="none" strike="noStrike">
              <a:solidFill>
                <a:srgbClr val="000000"/>
              </a:solidFill>
              <a:latin typeface="Arial"/>
              <a:ea typeface="Arial"/>
              <a:cs typeface="Arial"/>
              <a:sym typeface="Arial"/>
            </a:endParaRPr>
          </a:p>
        </p:txBody>
      </p:sp>
      <p:sp>
        <p:nvSpPr>
          <p:cNvPr id="760" name="Google Shape;760;p72"/>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61" name="Google Shape;761;p72"/>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56</a:t>
            </a:r>
          </a:p>
        </p:txBody>
      </p:sp>
      <p:grpSp>
        <p:nvGrpSpPr>
          <p:cNvPr id="763" name="TEACH-2-student-move" descr="TEACH 2 · Use strategies and tasks to engage students in rigorous work"/>
          <p:cNvGrpSpPr/>
          <p:nvPr/>
        </p:nvGrpSpPr>
        <p:grpSpPr>
          <a:xfrm>
            <a:off x="502920" y="3867612"/>
            <a:ext cx="11186160" cy="731520"/>
            <a:chOff x="502920" y="3867612"/>
            <a:chExt cx="11186160" cy="731520"/>
          </a:xfrm>
        </p:grpSpPr>
        <p:sp>
          <p:nvSpPr>
            <p:cNvPr id="764"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65"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66"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cxnSp>
        <p:nvCxnSpPr>
          <p:cNvPr id="808" name="Google Shape;808;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9" name="Google Shape;809;p77"/>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sp>
        <p:nvSpPr>
          <p:cNvPr id="810" name="Google Shape;810;p77"/>
          <p:cNvSpPr txBox="1"/>
          <p:nvPr/>
        </p:nvSpPr>
        <p:spPr>
          <a:xfrm>
            <a:off x="486000" y="935999"/>
            <a:ext cx="6952030" cy="21970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local library has some books to give away. The librarian will divide the books into 21 packets resulting with the number of books shown in each packet. How many books does the library have to give away?</a:t>
            </a:r>
            <a:endParaRPr b="0" i="0" sz="1400" u="none" cap="none" strike="noStrike">
              <a:solidFill>
                <a:srgbClr val="000000"/>
              </a:solidFill>
              <a:latin typeface="Arial"/>
              <a:ea typeface="Arial"/>
              <a:cs typeface="Arial"/>
              <a:sym typeface="Arial"/>
            </a:endParaRPr>
          </a:p>
        </p:txBody>
      </p:sp>
      <p:sp>
        <p:nvSpPr>
          <p:cNvPr id="811" name="Google Shape;811;p77"/>
          <p:cNvSpPr/>
          <p:nvPr/>
        </p:nvSpPr>
        <p:spPr>
          <a:xfrm>
            <a:off x="484565" y="3348106"/>
            <a:ext cx="730054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information is given? What information is unknown?</a:t>
            </a:r>
            <a:endParaRPr b="0" i="0" sz="2800" u="none" cap="none" strike="noStrike">
              <a:solidFill>
                <a:schemeClr val="dk1"/>
              </a:solidFill>
              <a:latin typeface="Arial"/>
              <a:ea typeface="Arial"/>
              <a:cs typeface="Arial"/>
              <a:sym typeface="Arial"/>
            </a:endParaRPr>
          </a:p>
        </p:txBody>
      </p:sp>
      <p:sp>
        <p:nvSpPr>
          <p:cNvPr id="812" name="Google Shape;812;p77"/>
          <p:cNvSpPr txBox="1"/>
          <p:nvPr/>
        </p:nvSpPr>
        <p:spPr>
          <a:xfrm>
            <a:off x="484565" y="4517230"/>
            <a:ext cx="10445857" cy="18705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595959"/>
              </a:buClr>
              <a:buSzPts val="2800"/>
              <a:buFont typeface="Arial"/>
              <a:buChar char="•"/>
              <a:defRPr/>
            </a:pPr>
            <a:r>
              <a:rPr b="0" i="0" lang="en-US" sz="2800" u="none" cap="none" strike="noStrike">
                <a:solidFill>
                  <a:srgbClr val="595959"/>
                </a:solidFill>
                <a:latin typeface="Arial"/>
                <a:ea typeface="Arial"/>
                <a:cs typeface="Arial"/>
                <a:sym typeface="Arial"/>
              </a:rPr>
              <a:t>The books can be divided into 21 packets.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595959"/>
              </a:buClr>
              <a:buSzPts val="2800"/>
              <a:buFont typeface="Arial"/>
              <a:buChar char="•"/>
              <a:defRPr/>
            </a:pPr>
            <a:r>
              <a:rPr b="0" i="0" lang="en-US" sz="2800" u="none" cap="none" strike="noStrike">
                <a:solidFill>
                  <a:srgbClr val="595959"/>
                </a:solidFill>
                <a:latin typeface="Arial"/>
                <a:ea typeface="Arial"/>
                <a:cs typeface="Arial"/>
                <a:sym typeface="Arial"/>
              </a:rPr>
              <a:t>There will be 6 books in each packet.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595959"/>
              </a:buClr>
              <a:buSzPts val="2800"/>
              <a:buFont typeface="Arial"/>
              <a:buChar char="•"/>
              <a:defRPr/>
            </a:pPr>
            <a:r>
              <a:rPr b="0" i="0" lang="en-US" sz="2800" u="none" cap="none" strike="noStrike">
                <a:solidFill>
                  <a:srgbClr val="595959"/>
                </a:solidFill>
                <a:latin typeface="Arial"/>
                <a:ea typeface="Arial"/>
                <a:cs typeface="Arial"/>
                <a:sym typeface="Arial"/>
              </a:rPr>
              <a:t>The number of books the library has to give away is unknown.</a:t>
            </a:r>
            <a:endParaRPr b="0" i="0" sz="1400" u="none" cap="none" strike="noStrike">
              <a:solidFill>
                <a:srgbClr val="000000"/>
              </a:solidFill>
              <a:latin typeface="Arial"/>
              <a:ea typeface="Arial"/>
              <a:cs typeface="Arial"/>
              <a:sym typeface="Arial"/>
            </a:endParaRPr>
          </a:p>
        </p:txBody>
      </p:sp>
      <p:pic>
        <p:nvPicPr>
          <p:cNvPr id="813" name="Google Shape;813;p77"/>
          <p:cNvPicPr preferRelativeResize="0"/>
          <p:nvPr/>
        </p:nvPicPr>
        <p:blipFill rotWithShape="1">
          <a:blip r:embed="rId3">
            <a:alphaModFix/>
          </a:blip>
          <a:srcRect b="0" l="0" r="0" t="0"/>
          <a:stretch/>
        </p:blipFill>
        <p:spPr>
          <a:xfrm>
            <a:off x="7912339" y="1267348"/>
            <a:ext cx="3793661" cy="3419994"/>
          </a:xfrm>
          <a:prstGeom prst="rect">
            <a:avLst/>
          </a:prstGeom>
          <a:noFill/>
          <a:ln>
            <a:noFill/>
          </a:ln>
        </p:spPr>
      </p:pic>
      <p:sp>
        <p:nvSpPr>
          <p:cNvPr id="8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56</a:t>
            </a:r>
          </a:p>
        </p:txBody>
      </p:sp>
      <p:sp>
        <p:nvSpPr>
          <p:cNvPr id="815" name="EWL-COVER-1"/>
          <p:cNvSpPr/>
          <p:nvPr/>
        </p:nvSpPr>
        <p:spPr>
          <a:xfrm>
            <a:off x="429701" y="4462366"/>
            <a:ext cx="10555585" cy="1980271"/>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cxnSp>
        <p:nvCxnSpPr>
          <p:cNvPr id="846" name="Google Shape;846;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7" name="Google Shape;847;p81"/>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pic>
        <p:nvPicPr>
          <p:cNvPr id="848" name="Google Shape;848;p81"/>
          <p:cNvPicPr preferRelativeResize="0"/>
          <p:nvPr/>
        </p:nvPicPr>
        <p:blipFill rotWithShape="1">
          <a:blip r:embed="rId3">
            <a:alphaModFix/>
          </a:blip>
          <a:srcRect b="0" l="0" r="0" t="0"/>
          <a:stretch/>
        </p:blipFill>
        <p:spPr>
          <a:xfrm>
            <a:off x="456529" y="4749468"/>
            <a:ext cx="7073900" cy="838200"/>
          </a:xfrm>
          <a:prstGeom prst="rect">
            <a:avLst/>
          </a:prstGeom>
          <a:noFill/>
          <a:ln>
            <a:noFill/>
          </a:ln>
        </p:spPr>
      </p:pic>
      <p:sp>
        <p:nvSpPr>
          <p:cNvPr id="849" name="Google Shape;849;p81"/>
          <p:cNvSpPr/>
          <p:nvPr/>
        </p:nvSpPr>
        <p:spPr>
          <a:xfrm>
            <a:off x="3122437" y="4906958"/>
            <a:ext cx="382508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Using Representations</a:t>
            </a:r>
            <a:endParaRPr b="0" i="0" sz="1400" u="none" cap="none" strike="noStrike">
              <a:solidFill>
                <a:srgbClr val="000000"/>
              </a:solidFill>
              <a:latin typeface="Arial"/>
              <a:ea typeface="Arial"/>
              <a:cs typeface="Arial"/>
              <a:sym typeface="Arial"/>
            </a:endParaRPr>
          </a:p>
        </p:txBody>
      </p:sp>
      <p:sp>
        <p:nvSpPr>
          <p:cNvPr id="850" name="Google Shape;850;p81"/>
          <p:cNvSpPr/>
          <p:nvPr/>
        </p:nvSpPr>
        <p:spPr>
          <a:xfrm>
            <a:off x="457434" y="5587668"/>
            <a:ext cx="810350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How can you use a picture to model the problem?</a:t>
            </a:r>
            <a:endParaRPr b="0" i="0" sz="2800" u="none" cap="none" strike="noStrike">
              <a:solidFill>
                <a:srgbClr val="595959"/>
              </a:solidFill>
              <a:latin typeface="Arial"/>
              <a:ea typeface="Arial"/>
              <a:cs typeface="Arial"/>
              <a:sym typeface="Arial"/>
            </a:endParaRPr>
          </a:p>
        </p:txBody>
      </p:sp>
      <p:sp>
        <p:nvSpPr>
          <p:cNvPr id="851" name="Google Shape;851;p81"/>
          <p:cNvSpPr/>
          <p:nvPr/>
        </p:nvSpPr>
        <p:spPr>
          <a:xfrm>
            <a:off x="456528" y="3255545"/>
            <a:ext cx="891371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Describe, in words, the relationship between the total number of books, the number of packets, and the number of books in each packet.</a:t>
            </a:r>
            <a:endParaRPr b="0" i="0" sz="2800" u="none" cap="none" strike="noStrike">
              <a:solidFill>
                <a:schemeClr val="dk1"/>
              </a:solidFill>
              <a:latin typeface="Arial"/>
              <a:ea typeface="Arial"/>
              <a:cs typeface="Arial"/>
              <a:sym typeface="Arial"/>
            </a:endParaRPr>
          </a:p>
        </p:txBody>
      </p:sp>
      <p:sp>
        <p:nvSpPr>
          <p:cNvPr id="852" name="Google Shape;852;p81"/>
          <p:cNvSpPr txBox="1"/>
          <p:nvPr/>
        </p:nvSpPr>
        <p:spPr>
          <a:xfrm>
            <a:off x="484566" y="936000"/>
            <a:ext cx="8056120" cy="2187014"/>
          </a:xfrm>
          <a:prstGeom prst="rect">
            <a:avLst/>
          </a:prstGeom>
          <a:blipFill rotWithShape="1">
            <a:blip r:embed="rId4">
              <a:alphaModFix/>
            </a:blip>
            <a:stretch>
              <a:fillRect b="-4190" l="-1362" r="0" t="-307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56</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cxnSp>
        <p:nvCxnSpPr>
          <p:cNvPr id="869" name="Google Shape;869;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0" name="Google Shape;870;p83"/>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sp>
        <p:nvSpPr>
          <p:cNvPr id="871" name="Google Shape;871;p83"/>
          <p:cNvSpPr txBox="1"/>
          <p:nvPr/>
        </p:nvSpPr>
        <p:spPr>
          <a:xfrm>
            <a:off x="484565" y="5443937"/>
            <a:ext cx="722716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division equation.</a:t>
            </a:r>
            <a:endParaRPr b="0" i="0" sz="1400" u="none" cap="none" strike="noStrike">
              <a:solidFill>
                <a:srgbClr val="000000"/>
              </a:solidFill>
              <a:latin typeface="Arial"/>
              <a:ea typeface="Arial"/>
              <a:cs typeface="Arial"/>
              <a:sym typeface="Arial"/>
            </a:endParaRPr>
          </a:p>
        </p:txBody>
      </p:sp>
      <p:sp>
        <p:nvSpPr>
          <p:cNvPr id="872" name="Google Shape;872;p83"/>
          <p:cNvSpPr txBox="1"/>
          <p:nvPr/>
        </p:nvSpPr>
        <p:spPr>
          <a:xfrm>
            <a:off x="486000" y="936000"/>
            <a:ext cx="6341521" cy="10565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use a tape diagram to think about the structure of the relationship.</a:t>
            </a:r>
            <a:endParaRPr b="0" i="0" sz="1400" u="none" cap="none" strike="noStrike">
              <a:solidFill>
                <a:srgbClr val="000000"/>
              </a:solidFill>
              <a:latin typeface="Arial"/>
              <a:ea typeface="Arial"/>
              <a:cs typeface="Arial"/>
              <a:sym typeface="Arial"/>
            </a:endParaRPr>
          </a:p>
        </p:txBody>
      </p:sp>
      <p:sp>
        <p:nvSpPr>
          <p:cNvPr id="873" name="Google Shape;873;p83"/>
          <p:cNvSpPr/>
          <p:nvPr/>
        </p:nvSpPr>
        <p:spPr>
          <a:xfrm>
            <a:off x="486000" y="4674050"/>
            <a:ext cx="1058255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the relationship algebraically?</a:t>
            </a:r>
            <a:endParaRPr b="0" i="0" sz="2800" u="none" cap="none" strike="noStrike">
              <a:solidFill>
                <a:schemeClr val="dk1"/>
              </a:solidFill>
              <a:latin typeface="Arial"/>
              <a:ea typeface="Arial"/>
              <a:cs typeface="Arial"/>
              <a:sym typeface="Arial"/>
            </a:endParaRPr>
          </a:p>
        </p:txBody>
      </p:sp>
      <p:sp>
        <p:nvSpPr>
          <p:cNvPr id="874" name="Google Shape;874;p83"/>
          <p:cNvSpPr/>
          <p:nvPr/>
        </p:nvSpPr>
        <p:spPr>
          <a:xfrm>
            <a:off x="486000" y="2106698"/>
            <a:ext cx="6324758" cy="1384995"/>
          </a:xfrm>
          <a:prstGeom prst="rect">
            <a:avLst/>
          </a:prstGeom>
          <a:blipFill rotWithShape="1">
            <a:blip r:embed="rId3">
              <a:alphaModFix/>
            </a:blip>
            <a:stretch>
              <a:fillRect b="-11454" l="-2025" r="0" t="-48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75" name="Google Shape;875;p83"/>
          <p:cNvSpPr/>
          <p:nvPr/>
        </p:nvSpPr>
        <p:spPr>
          <a:xfrm>
            <a:off x="486000" y="3605818"/>
            <a:ext cx="634152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situation is looking for the whole given two parts.</a:t>
            </a:r>
            <a:endParaRPr b="0" i="0" sz="2800" u="none" cap="none" strike="noStrike">
              <a:solidFill>
                <a:schemeClr val="dk1"/>
              </a:solidFill>
              <a:latin typeface="Arial"/>
              <a:ea typeface="Arial"/>
              <a:cs typeface="Arial"/>
              <a:sym typeface="Arial"/>
            </a:endParaRPr>
          </a:p>
        </p:txBody>
      </p:sp>
      <p:pic>
        <p:nvPicPr>
          <p:cNvPr descr="C:\Users\HP\Desktop\Grade_6_Unit_8\OPS\img\.assets\8443bd3a333e45b392675c98b0ce70d1\narm24_c10803_se_006a-dig-a.png" id="876" name="Google Shape;876;p83"/>
          <p:cNvPicPr preferRelativeResize="0"/>
          <p:nvPr/>
        </p:nvPicPr>
        <p:blipFill rotWithShape="1">
          <a:blip r:embed="rId4">
            <a:alphaModFix/>
          </a:blip>
          <a:srcRect b="0" l="0" r="0" t="0"/>
          <a:stretch/>
        </p:blipFill>
        <p:spPr>
          <a:xfrm>
            <a:off x="7385754" y="1687742"/>
            <a:ext cx="4495800" cy="2028825"/>
          </a:xfrm>
          <a:prstGeom prst="rect">
            <a:avLst/>
          </a:prstGeom>
          <a:noFill/>
          <a:ln>
            <a:noFill/>
          </a:ln>
        </p:spPr>
      </p:pic>
      <p:sp>
        <p:nvSpPr>
          <p:cNvPr id="8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56</a:t>
            </a:r>
          </a:p>
        </p:txBody>
      </p:sp>
      <p:sp>
        <p:nvSpPr>
          <p:cNvPr id="878" name="EWL-COVER-1"/>
          <p:cNvSpPr/>
          <p:nvPr/>
        </p:nvSpPr>
        <p:spPr>
          <a:xfrm>
            <a:off x="429701" y="5389073"/>
            <a:ext cx="7336889" cy="105744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cxnSp>
        <p:nvCxnSpPr>
          <p:cNvPr id="892" name="Google Shape;892;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3" name="Google Shape;893;p85"/>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sp>
        <p:nvSpPr>
          <p:cNvPr id="894" name="Google Shape;894;p85"/>
          <p:cNvSpPr/>
          <p:nvPr/>
        </p:nvSpPr>
        <p:spPr>
          <a:xfrm>
            <a:off x="484565" y="4774032"/>
            <a:ext cx="1098143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use an inverse operation to solve the equation?</a:t>
            </a:r>
            <a:endParaRPr b="0" i="0" sz="2800" u="none" cap="none" strike="noStrike">
              <a:solidFill>
                <a:schemeClr val="dk1"/>
              </a:solidFill>
              <a:latin typeface="Arial"/>
              <a:ea typeface="Arial"/>
              <a:cs typeface="Arial"/>
              <a:sym typeface="Arial"/>
            </a:endParaRPr>
          </a:p>
        </p:txBody>
      </p:sp>
      <p:sp>
        <p:nvSpPr>
          <p:cNvPr id="895" name="Google Shape;895;p85"/>
          <p:cNvSpPr txBox="1"/>
          <p:nvPr/>
        </p:nvSpPr>
        <p:spPr>
          <a:xfrm>
            <a:off x="484565" y="5396740"/>
            <a:ext cx="8217750" cy="10280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opposite of division, multiplication.</a:t>
            </a:r>
            <a:endParaRPr b="0" i="0" sz="1400" u="none" cap="none" strike="noStrike">
              <a:solidFill>
                <a:srgbClr val="000000"/>
              </a:solidFill>
              <a:latin typeface="Arial"/>
              <a:ea typeface="Arial"/>
              <a:cs typeface="Arial"/>
              <a:sym typeface="Arial"/>
            </a:endParaRPr>
          </a:p>
        </p:txBody>
      </p:sp>
      <p:sp>
        <p:nvSpPr>
          <p:cNvPr id="896" name="Google Shape;896;p85"/>
          <p:cNvSpPr txBox="1"/>
          <p:nvPr/>
        </p:nvSpPr>
        <p:spPr>
          <a:xfrm>
            <a:off x="2561525" y="3990954"/>
            <a:ext cx="3413755" cy="710579"/>
          </a:xfrm>
          <a:prstGeom prst="rect">
            <a:avLst/>
          </a:prstGeom>
          <a:blipFill rotWithShape="1">
            <a:blip r:embed="rId3">
              <a:alphaModFix/>
            </a:blip>
            <a:stretch>
              <a:fillRect b="-9483"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8\OPS\img\.assets\8443bd3a333e45b392675c98b0ce70d1\narm24_c10803_se_006a-dig-a.png" id="897" name="Google Shape;897;p85"/>
          <p:cNvPicPr preferRelativeResize="0"/>
          <p:nvPr/>
        </p:nvPicPr>
        <p:blipFill rotWithShape="1">
          <a:blip r:embed="rId4">
            <a:alphaModFix/>
          </a:blip>
          <a:srcRect b="0" l="0" r="0" t="0"/>
          <a:stretch/>
        </p:blipFill>
        <p:spPr>
          <a:xfrm>
            <a:off x="2074730" y="1889630"/>
            <a:ext cx="4495800" cy="2028825"/>
          </a:xfrm>
          <a:prstGeom prst="rect">
            <a:avLst/>
          </a:prstGeom>
          <a:noFill/>
          <a:ln>
            <a:noFill/>
          </a:ln>
        </p:spPr>
      </p:pic>
      <p:sp>
        <p:nvSpPr>
          <p:cNvPr id="898" name="Google Shape;898;p85"/>
          <p:cNvSpPr txBox="1"/>
          <p:nvPr/>
        </p:nvSpPr>
        <p:spPr>
          <a:xfrm>
            <a:off x="486000" y="936000"/>
            <a:ext cx="7507930" cy="8811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We can use a division equation to represent the problem.</a:t>
            </a:r>
            <a:endParaRPr b="0" i="0" sz="1400" u="none" cap="none" strike="noStrike">
              <a:solidFill>
                <a:srgbClr val="000000"/>
              </a:solidFill>
              <a:latin typeface="Arial"/>
              <a:ea typeface="Arial"/>
              <a:cs typeface="Arial"/>
              <a:sym typeface="Arial"/>
            </a:endParaRPr>
          </a:p>
        </p:txBody>
      </p:sp>
      <p:sp>
        <p:nvSpPr>
          <p:cNvPr id="89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56</a:t>
            </a:r>
          </a:p>
        </p:txBody>
      </p:sp>
      <p:sp>
        <p:nvSpPr>
          <p:cNvPr id="900" name="EWL-COVER-1"/>
          <p:cNvSpPr/>
          <p:nvPr/>
        </p:nvSpPr>
        <p:spPr>
          <a:xfrm>
            <a:off x="429701" y="5341876"/>
            <a:ext cx="8327478" cy="1104644"/>
          </a:xfrm>
          <a:prstGeom prst="rect">
            <a:avLst/>
          </a:prstGeom>
          <a:solidFill>
            <a:srgbClr val="FFFFFF"/>
          </a:solidFill>
          <a:ln>
            <a:noFill/>
          </a:ln>
        </p:spPr>
        <p:txBody>
          <a:bodyPr/>
          <a:lstStyle/>
          <a:p/>
        </p:txBody>
      </p:sp>
      <p:sp xmlns:p="http://schemas.openxmlformats.org/presentationml/2006/main" xmlns:a="http://schemas.openxmlformats.org/drawingml/2006/main">
        <p:nvSpPr>
          <p:cNvPr id="901" name="TEACH-embedded-student-prompt" descr="Student thinking and response directions"/>
          <p:cNvSpPr txBox="1"/>
          <p:nvPr/>
        </p:nvSpPr>
        <p:spPr>
          <a:xfrm>
            <a:off x="7391400" y="35478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cxnSp>
        <p:nvCxnSpPr>
          <p:cNvPr id="915" name="Google Shape;915;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6" name="Google Shape;916;p87"/>
          <p:cNvSpPr txBox="1"/>
          <p:nvPr/>
        </p:nvSpPr>
        <p:spPr>
          <a:xfrm>
            <a:off x="486000" y="936101"/>
            <a:ext cx="6980760" cy="89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To solve a division equation, you can use the inverse operation, multiplication.</a:t>
            </a:r>
            <a:endParaRPr b="0" i="0" sz="1400" u="none" cap="none" strike="noStrike">
              <a:solidFill>
                <a:srgbClr val="000000"/>
              </a:solidFill>
              <a:latin typeface="Arial"/>
              <a:ea typeface="Arial"/>
              <a:cs typeface="Arial"/>
              <a:sym typeface="Arial"/>
            </a:endParaRPr>
          </a:p>
        </p:txBody>
      </p:sp>
      <p:sp>
        <p:nvSpPr>
          <p:cNvPr id="917" name="Google Shape;917;p87"/>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18" name="Google Shape;918;p87"/>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919" name="Google Shape;919;p87"/>
          <p:cNvSpPr/>
          <p:nvPr/>
        </p:nvSpPr>
        <p:spPr>
          <a:xfrm>
            <a:off x="486000" y="4433205"/>
            <a:ext cx="1056443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Use the Multiplication Property of Equality to solve the equation. Show your work.</a:t>
            </a:r>
            <a:endParaRPr b="0" i="0" sz="2800" u="none" cap="none" strike="noStrike">
              <a:solidFill>
                <a:schemeClr val="dk1"/>
              </a:solidFill>
              <a:latin typeface="Arial"/>
              <a:ea typeface="Arial"/>
              <a:cs typeface="Arial"/>
              <a:sym typeface="Arial"/>
            </a:endParaRPr>
          </a:p>
        </p:txBody>
      </p:sp>
      <p:sp>
        <p:nvSpPr>
          <p:cNvPr id="920" name="Google Shape;920;p87"/>
          <p:cNvSpPr/>
          <p:nvPr/>
        </p:nvSpPr>
        <p:spPr>
          <a:xfrm>
            <a:off x="486000" y="1932752"/>
            <a:ext cx="1013398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 xml:space="preserve">The </a:t>
            </a:r>
            <a:r>
              <a:rPr b="1" i="0" lang="en-US" sz="2800" u="none" cap="none" strike="noStrike">
                <a:solidFill>
                  <a:srgbClr val="23282D"/>
                </a:solidFill>
                <a:highlight>
                  <a:srgbClr val="FFFF00"/>
                </a:highlight>
                <a:latin typeface="Arial"/>
                <a:ea typeface="Arial"/>
                <a:cs typeface="Arial"/>
                <a:sym typeface="Arial"/>
              </a:rPr>
              <a:t>Multiplication Property of Equality</a:t>
            </a:r>
            <a:r>
              <a:rPr b="0" i="0" lang="en-US" sz="2800" u="none" cap="none" strike="noStrike">
                <a:solidFill>
                  <a:schemeClr val="dk1"/>
                </a:solidFill>
                <a:latin typeface="Arial"/>
                <a:ea typeface="Arial"/>
                <a:cs typeface="Arial"/>
                <a:sym typeface="Arial"/>
              </a:rPr>
              <a:t xml:space="preserve"> states that you can multiply each side of the equation by the same nonzero value and maintain equality.</a:t>
            </a:r>
            <a:endParaRPr b="0" i="0" sz="2800" u="none" cap="none" strike="noStrike">
              <a:solidFill>
                <a:schemeClr val="dk1"/>
              </a:solidFill>
              <a:latin typeface="Arial"/>
              <a:ea typeface="Arial"/>
              <a:cs typeface="Arial"/>
              <a:sym typeface="Arial"/>
            </a:endParaRPr>
          </a:p>
        </p:txBody>
      </p:sp>
      <p:sp>
        <p:nvSpPr>
          <p:cNvPr id="921" name="Google Shape;921;p87"/>
          <p:cNvSpPr txBox="1"/>
          <p:nvPr/>
        </p:nvSpPr>
        <p:spPr>
          <a:xfrm>
            <a:off x="486000" y="5491262"/>
            <a:ext cx="6565249" cy="879458"/>
          </a:xfrm>
          <a:prstGeom prst="rect">
            <a:avLst/>
          </a:prstGeom>
          <a:blipFill rotWithShape="1">
            <a:blip r:embed="rId4">
              <a:alphaModFix/>
            </a:blip>
            <a:stretch>
              <a:fillRect b="0" l="-1950" r="0" t="-76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2" name="Google Shape;922;p87"/>
          <p:cNvSpPr txBox="1"/>
          <p:nvPr/>
        </p:nvSpPr>
        <p:spPr>
          <a:xfrm>
            <a:off x="486000" y="3421698"/>
            <a:ext cx="1329979" cy="907556"/>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56</a:t>
            </a:r>
          </a:p>
        </p:txBody>
      </p:sp>
      <p:sp>
        <p:nvSpPr>
          <p:cNvPr id="92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25" name="TEACH-embedded-student-prompt" descr="Student thinking and response directions"/>
          <p:cNvSpPr txBox="1"/>
          <p:nvPr/>
        </p:nvSpPr>
        <p:spPr>
          <a:xfrm>
            <a:off x="4099560" y="349300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a:t>
            </a:r>
            <a:endParaRPr lang="en-US" sz="2000"/>
          </a:p>
          <a:p>
            <a:pPr>
              <a:lnSpc>
                <a:spcPts val="2400"/>
              </a:lnSpc>
              <a:buNone/>
            </a:pPr>
            <a:r>
              <a:rPr lang="en-US" sz="2000">
                <a:solidFill>
                  <a:srgbClr val="174D60"/>
                </a:solidFill>
                <a:latin typeface="Arial"/>
              </a:rPr>
              <a:t>both revise.</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cxnSp>
        <p:nvCxnSpPr>
          <p:cNvPr id="935" name="Google Shape;935;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6" name="Google Shape;936;p89"/>
          <p:cNvSpPr txBox="1"/>
          <p:nvPr/>
        </p:nvSpPr>
        <p:spPr>
          <a:xfrm>
            <a:off x="8427564" y="4569378"/>
            <a:ext cx="3469064" cy="1576897"/>
          </a:xfrm>
          <a:prstGeom prst="rect">
            <a:avLst/>
          </a:prstGeom>
          <a:blipFill rotWithShape="1">
            <a:blip r:embed="rId3">
              <a:alphaModFix/>
            </a:blip>
            <a:stretch>
              <a:fillRect b="-2713" l="-3509" r="0" t="-426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37" name="Google Shape;937;p89"/>
          <p:cNvSpPr txBox="1"/>
          <p:nvPr/>
        </p:nvSpPr>
        <p:spPr>
          <a:xfrm>
            <a:off x="486000" y="935999"/>
            <a:ext cx="8101819" cy="8581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use the Multiplication Property of Equality to solve the equation.</a:t>
            </a:r>
            <a:endParaRPr b="1" i="0" sz="2800" u="none" cap="none" strike="noStrike">
              <a:solidFill>
                <a:schemeClr val="dk1"/>
              </a:solidFill>
              <a:latin typeface="Arial"/>
              <a:ea typeface="Arial"/>
              <a:cs typeface="Arial"/>
              <a:sym typeface="Arial"/>
            </a:endParaRPr>
          </a:p>
        </p:txBody>
      </p:sp>
      <p:sp>
        <p:nvSpPr>
          <p:cNvPr id="938" name="Google Shape;938;p89"/>
          <p:cNvSpPr/>
          <p:nvPr/>
        </p:nvSpPr>
        <p:spPr>
          <a:xfrm>
            <a:off x="486000" y="316800"/>
            <a:ext cx="214353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82D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graphicFrame>
        <p:nvGraphicFramePr>
          <p:cNvPr id="939" name="Google Shape;939;p89"/>
          <p:cNvGraphicFramePr/>
          <p:nvPr/>
        </p:nvGraphicFramePr>
        <p:xfrm>
          <a:off x="486000" y="2014371"/>
          <a:ext cx="3000000" cy="3000000"/>
        </p:xfrm>
        <a:graphic>
          <a:graphicData uri="http://schemas.openxmlformats.org/drawingml/2006/table">
            <a:tbl>
              <a:tblPr bandRow="1" firstRow="1">
                <a:noFill/>
                <a:tableStyleId>{FF930E9C-E42A-4F59-AA62-8C0E1BDCA982}</a:tableStyleId>
              </a:tblPr>
              <a:tblGrid>
                <a:gridCol w="2794525"/>
                <a:gridCol w="5147025"/>
              </a:tblGrid>
              <a:tr h="8412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600"/>
                        <a:buFont typeface="Arial"/>
                        <a:buNone/>
                      </a:pPr>
                      <a:r>
                        <a:t/>
                      </a:r>
                      <a:endParaRPr sz="2600" u="none" cap="none" strike="noStrike">
                        <a:latin typeface="Arial"/>
                        <a:ea typeface="Arial"/>
                        <a:cs typeface="Arial"/>
                        <a:sym typeface="Arial"/>
                      </a:endParaRPr>
                    </a:p>
                  </a:txBody>
                  <a:tcPr marT="45725" marB="45725" marR="91450" marL="91450"/>
                </a:tc>
              </a:tr>
              <a:tr h="8412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600"/>
                        <a:buFont typeface="Arial"/>
                        <a:buNone/>
                      </a:pPr>
                      <a:r>
                        <a:rPr lang="en-US" sz="2600" u="none" cap="none" strike="noStrike">
                          <a:latin typeface="Arial"/>
                          <a:ea typeface="Arial"/>
                          <a:cs typeface="Arial"/>
                          <a:sym typeface="Arial"/>
                        </a:rPr>
                        <a:t>Multiplication Property of Equality</a:t>
                      </a:r>
                      <a:endParaRPr sz="2600" u="none" cap="none" strike="noStrike">
                        <a:latin typeface="Arial"/>
                        <a:ea typeface="Arial"/>
                        <a:cs typeface="Arial"/>
                        <a:sym typeface="Arial"/>
                      </a:endParaRPr>
                    </a:p>
                  </a:txBody>
                  <a:tcPr marT="45725" marB="45725" marR="91450" marL="91450" anchor="ctr"/>
                </a:tc>
              </a:tr>
              <a:tr h="6600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600"/>
                        <a:buFont typeface="Arial"/>
                        <a:buNone/>
                      </a:pPr>
                      <a:r>
                        <a:rPr lang="en-US" sz="2600" u="none" cap="none" strike="noStrike">
                          <a:latin typeface="Arial"/>
                          <a:ea typeface="Arial"/>
                          <a:cs typeface="Arial"/>
                          <a:sym typeface="Arial"/>
                        </a:rPr>
                        <a:t>Multiply.</a:t>
                      </a:r>
                      <a:endParaRPr sz="2600" u="none" cap="none" strike="noStrike">
                        <a:latin typeface="Arial"/>
                        <a:ea typeface="Arial"/>
                        <a:cs typeface="Arial"/>
                        <a:sym typeface="Arial"/>
                      </a:endParaRPr>
                    </a:p>
                  </a:txBody>
                  <a:tcPr marT="45725" marB="45725" marR="91450" marL="91450" anchor="ctr"/>
                </a:tc>
              </a:tr>
              <a:tr h="8333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4876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600"/>
                        <a:buFont typeface="Calibri"/>
                        <a:buNone/>
                      </a:pPr>
                      <a:r>
                        <a:t/>
                      </a:r>
                      <a:endParaRPr sz="2600" u="none" cap="none" strike="noStrike"/>
                    </a:p>
                  </a:txBody>
                  <a:tcPr marT="45725" marB="45725" marR="91450" marL="91450"/>
                </a:tc>
              </a:tr>
            </a:tbl>
          </a:graphicData>
        </a:graphic>
      </p:graphicFrame>
      <p:sp>
        <p:nvSpPr>
          <p:cNvPr id="9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56</a:t>
            </a:r>
          </a:p>
        </p:txBody>
      </p:sp>
      <p:sp xmlns:p="http://schemas.openxmlformats.org/presentationml/2006/main" xmlns:a="http://schemas.openxmlformats.org/drawingml/2006/main">
        <p:nvSpPr>
          <p:cNvPr id="941" name="TEACH-embedded-student-prompt" descr="Student thinking and response directions"/>
          <p:cNvSpPr txBox="1"/>
          <p:nvPr/>
        </p:nvSpPr>
        <p:spPr>
          <a:xfrm>
            <a:off x="5943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your equation represents the situation. Check</a:t>
            </a:r>
            <a:endParaRPr lang="en-US" sz="2000"/>
          </a:p>
          <a:p>
            <a:pPr>
              <a:lnSpc>
                <a:spcPts val="2400"/>
              </a:lnSpc>
              <a:buNone/>
            </a:pPr>
            <a:r>
              <a:rPr lang="en-US" sz="2000">
                <a:solidFill>
                  <a:srgbClr val="174D60"/>
                </a:solidFill>
                <a:latin typeface="Arial"/>
              </a:rPr>
              <a:t>the result.</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cxnSp>
        <p:nvCxnSpPr>
          <p:cNvPr id="955" name="Google Shape;955;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6" name="Google Shape;956;p9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57" name="Google Shape;957;p91"/>
          <p:cNvSpPr txBox="1"/>
          <p:nvPr/>
        </p:nvSpPr>
        <p:spPr>
          <a:xfrm>
            <a:off x="484565" y="936000"/>
            <a:ext cx="8122107" cy="4003645"/>
          </a:xfrm>
          <a:prstGeom prst="rect">
            <a:avLst/>
          </a:prstGeom>
          <a:blipFill rotWithShape="1">
            <a:blip r:embed="rId3">
              <a:alphaModFix/>
            </a:blip>
            <a:stretch>
              <a:fillRect b="0" l="-1350" r="-975" t="-16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56</a:t>
            </a:r>
          </a:p>
        </p:txBody>
      </p:sp>
      <p:sp xmlns:p="http://schemas.openxmlformats.org/presentationml/2006/main" xmlns:a="http://schemas.openxmlformats.org/drawingml/2006/main">
        <p:nvSpPr>
          <p:cNvPr id="95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cxnSp>
        <p:nvCxnSpPr>
          <p:cNvPr id="962" name="Google Shape;962;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3" name="Google Shape;963;p9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1" i="0" sz="1600" u="none" cap="none" strike="noStrike">
              <a:solidFill>
                <a:srgbClr val="782DA0"/>
              </a:solidFill>
              <a:latin typeface="Arial"/>
              <a:ea typeface="Arial"/>
              <a:cs typeface="Arial"/>
              <a:sym typeface="Arial"/>
            </a:endParaRPr>
          </a:p>
        </p:txBody>
      </p:sp>
      <p:sp>
        <p:nvSpPr>
          <p:cNvPr id="964" name="Google Shape;964;p92"/>
          <p:cNvSpPr txBox="1"/>
          <p:nvPr/>
        </p:nvSpPr>
        <p:spPr>
          <a:xfrm>
            <a:off x="486000" y="936000"/>
            <a:ext cx="8305337" cy="102927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What is another equation that represents the problem? Explain your reasoning.</a:t>
            </a:r>
            <a:endParaRPr b="0" i="0" sz="1400" u="none" cap="none" strike="noStrike">
              <a:solidFill>
                <a:srgbClr val="000000"/>
              </a:solidFill>
              <a:latin typeface="Arial"/>
              <a:ea typeface="Arial"/>
              <a:cs typeface="Arial"/>
              <a:sym typeface="Arial"/>
            </a:endParaRPr>
          </a:p>
        </p:txBody>
      </p:sp>
      <p:sp>
        <p:nvSpPr>
          <p:cNvPr id="965" name="Google Shape;965;p92"/>
          <p:cNvSpPr/>
          <p:nvPr/>
        </p:nvSpPr>
        <p:spPr>
          <a:xfrm>
            <a:off x="457662" y="2076908"/>
            <a:ext cx="8305337" cy="139207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66" name="Google Shape;966;p92"/>
          <p:cNvSpPr txBox="1"/>
          <p:nvPr/>
        </p:nvSpPr>
        <p:spPr>
          <a:xfrm>
            <a:off x="7556127" y="304001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67" name="Google Shape;967;p92"/>
          <p:cNvSpPr/>
          <p:nvPr/>
        </p:nvSpPr>
        <p:spPr>
          <a:xfrm>
            <a:off x="457661" y="3580609"/>
            <a:ext cx="8305336" cy="95410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Why is it important to multiply each side by the divisor in a one-step division equation?</a:t>
            </a:r>
            <a:endParaRPr b="0" i="0" sz="2800" u="none" cap="none" strike="noStrike">
              <a:solidFill>
                <a:schemeClr val="dk1"/>
              </a:solidFill>
              <a:latin typeface="Arial"/>
              <a:ea typeface="Arial"/>
              <a:cs typeface="Arial"/>
              <a:sym typeface="Arial"/>
            </a:endParaRPr>
          </a:p>
        </p:txBody>
      </p:sp>
      <p:sp>
        <p:nvSpPr>
          <p:cNvPr id="968" name="Google Shape;968;p92"/>
          <p:cNvSpPr/>
          <p:nvPr/>
        </p:nvSpPr>
        <p:spPr>
          <a:xfrm>
            <a:off x="457662" y="4692447"/>
            <a:ext cx="8305335" cy="139207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69" name="Google Shape;969;p92"/>
          <p:cNvSpPr txBox="1"/>
          <p:nvPr/>
        </p:nvSpPr>
        <p:spPr>
          <a:xfrm>
            <a:off x="7556128" y="566962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using the reciprocal operation on only one side.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the operation attached to the variable and show its inverse on both sides.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69" name="Google Shape;869;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0" name="Google Shape;870;p83"/>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sp>
        <p:nvSpPr>
          <p:cNvPr id="871" name="Google Shape;871;p83"/>
          <p:cNvSpPr txBox="1"/>
          <p:nvPr/>
        </p:nvSpPr>
        <p:spPr>
          <a:xfrm>
            <a:off x="484565" y="5443937"/>
            <a:ext cx="722716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division equation.</a:t>
            </a:r>
            <a:endParaRPr b="0" i="0" sz="1400" u="none" cap="none" strike="noStrike">
              <a:solidFill>
                <a:srgbClr val="000000"/>
              </a:solidFill>
              <a:latin typeface="Arial"/>
              <a:ea typeface="Arial"/>
              <a:cs typeface="Arial"/>
              <a:sym typeface="Arial"/>
            </a:endParaRPr>
          </a:p>
        </p:txBody>
      </p:sp>
      <p:sp>
        <p:nvSpPr>
          <p:cNvPr id="872" name="Google Shape;872;p83"/>
          <p:cNvSpPr txBox="1"/>
          <p:nvPr/>
        </p:nvSpPr>
        <p:spPr>
          <a:xfrm>
            <a:off x="486000" y="936000"/>
            <a:ext cx="6341521" cy="10565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use a tape diagram to think about the structure of the relationship.</a:t>
            </a:r>
            <a:endParaRPr b="0" i="0" sz="1400" u="none" cap="none" strike="noStrike">
              <a:solidFill>
                <a:srgbClr val="000000"/>
              </a:solidFill>
              <a:latin typeface="Arial"/>
              <a:ea typeface="Arial"/>
              <a:cs typeface="Arial"/>
              <a:sym typeface="Arial"/>
            </a:endParaRPr>
          </a:p>
        </p:txBody>
      </p:sp>
      <p:sp>
        <p:nvSpPr>
          <p:cNvPr id="873" name="Google Shape;873;p83"/>
          <p:cNvSpPr/>
          <p:nvPr/>
        </p:nvSpPr>
        <p:spPr>
          <a:xfrm>
            <a:off x="486000" y="4674050"/>
            <a:ext cx="1058255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represent the relationship algebraically?</a:t>
            </a:r>
            <a:endParaRPr b="0" i="0" sz="2800" u="none" cap="none" strike="noStrike">
              <a:solidFill>
                <a:schemeClr val="dk1"/>
              </a:solidFill>
              <a:latin typeface="Arial"/>
              <a:ea typeface="Arial"/>
              <a:cs typeface="Arial"/>
              <a:sym typeface="Arial"/>
            </a:endParaRPr>
          </a:p>
        </p:txBody>
      </p:sp>
      <p:sp>
        <p:nvSpPr>
          <p:cNvPr id="874" name="Google Shape;874;p83"/>
          <p:cNvSpPr/>
          <p:nvPr/>
        </p:nvSpPr>
        <p:spPr>
          <a:xfrm>
            <a:off x="486000" y="2106698"/>
            <a:ext cx="6324758" cy="1384995"/>
          </a:xfrm>
          <a:prstGeom prst="rect">
            <a:avLst/>
          </a:prstGeom>
          <a:blipFill rotWithShape="1">
            <a:blip r:embed="rId2">
              <a:alphaModFix/>
            </a:blip>
            <a:stretch>
              <a:fillRect b="-11454" l="-2025" r="0" t="-48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75" name="Google Shape;875;p83"/>
          <p:cNvSpPr/>
          <p:nvPr/>
        </p:nvSpPr>
        <p:spPr>
          <a:xfrm>
            <a:off x="486000" y="3605818"/>
            <a:ext cx="634152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situation is looking for the whole given two parts.</a:t>
            </a:r>
            <a:endParaRPr b="0" i="0" sz="2800" u="none" cap="none" strike="noStrike">
              <a:solidFill>
                <a:schemeClr val="dk1"/>
              </a:solidFill>
              <a:latin typeface="Arial"/>
              <a:ea typeface="Arial"/>
              <a:cs typeface="Arial"/>
              <a:sym typeface="Arial"/>
            </a:endParaRPr>
          </a:p>
        </p:txBody>
      </p:sp>
      <p:pic>
        <p:nvPicPr>
          <p:cNvPr descr="C:\Users\HP\Desktop\Grade_6_Unit_8\OPS\img\.assets\8443bd3a333e45b392675c98b0ce70d1\narm24_c10803_se_006a-dig-a.png" id="876" name="Google Shape;876;p83"/>
          <p:cNvPicPr preferRelativeResize="0"/>
          <p:nvPr/>
        </p:nvPicPr>
        <p:blipFill rotWithShape="1">
          <a:blip r:embed="rId3">
            <a:alphaModFix/>
          </a:blip>
          <a:srcRect b="0" l="0" r="0" t="0"/>
          <a:stretch/>
        </p:blipFill>
        <p:spPr>
          <a:xfrm>
            <a:off x="7385754" y="1687742"/>
            <a:ext cx="4495800" cy="2028825"/>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92" name="Google Shape;892;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3" name="Google Shape;893;p85"/>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sp>
        <p:nvSpPr>
          <p:cNvPr id="894" name="Google Shape;894;p85"/>
          <p:cNvSpPr/>
          <p:nvPr/>
        </p:nvSpPr>
        <p:spPr>
          <a:xfrm>
            <a:off x="484565" y="4774032"/>
            <a:ext cx="1098143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use an inverse operation to solve the equation?</a:t>
            </a:r>
            <a:endParaRPr b="0" i="0" sz="2800" u="none" cap="none" strike="noStrike">
              <a:solidFill>
                <a:schemeClr val="dk1"/>
              </a:solidFill>
              <a:latin typeface="Arial"/>
              <a:ea typeface="Arial"/>
              <a:cs typeface="Arial"/>
              <a:sym typeface="Arial"/>
            </a:endParaRPr>
          </a:p>
        </p:txBody>
      </p:sp>
      <p:sp>
        <p:nvSpPr>
          <p:cNvPr id="895" name="Google Shape;895;p85"/>
          <p:cNvSpPr txBox="1"/>
          <p:nvPr/>
        </p:nvSpPr>
        <p:spPr>
          <a:xfrm>
            <a:off x="484565" y="5396740"/>
            <a:ext cx="8217750" cy="10280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opposite of division, multiplication.</a:t>
            </a:r>
            <a:endParaRPr b="0" i="0" sz="1400" u="none" cap="none" strike="noStrike">
              <a:solidFill>
                <a:srgbClr val="000000"/>
              </a:solidFill>
              <a:latin typeface="Arial"/>
              <a:ea typeface="Arial"/>
              <a:cs typeface="Arial"/>
              <a:sym typeface="Arial"/>
            </a:endParaRPr>
          </a:p>
        </p:txBody>
      </p:sp>
      <p:sp>
        <p:nvSpPr>
          <p:cNvPr id="896" name="Google Shape;896;p85"/>
          <p:cNvSpPr txBox="1"/>
          <p:nvPr/>
        </p:nvSpPr>
        <p:spPr>
          <a:xfrm>
            <a:off x="2561525" y="3990954"/>
            <a:ext cx="3413755" cy="710579"/>
          </a:xfrm>
          <a:prstGeom prst="rect">
            <a:avLst/>
          </a:prstGeom>
          <a:blipFill rotWithShape="1">
            <a:blip r:embed="rId2">
              <a:alphaModFix/>
            </a:blip>
            <a:stretch>
              <a:fillRect b="-9483"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8\OPS\img\.assets\8443bd3a333e45b392675c98b0ce70d1\narm24_c10803_se_006a-dig-a.png" id="897" name="Google Shape;897;p85"/>
          <p:cNvPicPr preferRelativeResize="0"/>
          <p:nvPr/>
        </p:nvPicPr>
        <p:blipFill rotWithShape="1">
          <a:blip r:embed="rId3">
            <a:alphaModFix/>
          </a:blip>
          <a:srcRect b="0" l="0" r="0" t="0"/>
          <a:stretch/>
        </p:blipFill>
        <p:spPr>
          <a:xfrm>
            <a:off x="2074730" y="1889630"/>
            <a:ext cx="4495800" cy="2028825"/>
          </a:xfrm>
          <a:prstGeom prst="rect">
            <a:avLst/>
          </a:prstGeom>
          <a:noFill/>
          <a:ln>
            <a:noFill/>
          </a:ln>
        </p:spPr>
      </p:pic>
      <p:sp>
        <p:nvSpPr>
          <p:cNvPr id="898" name="Google Shape;898;p85"/>
          <p:cNvSpPr txBox="1"/>
          <p:nvPr/>
        </p:nvSpPr>
        <p:spPr>
          <a:xfrm>
            <a:off x="486000" y="936000"/>
            <a:ext cx="7507930" cy="8811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We can use a division equation to represent the problem.</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56</a:t>
            </a:r>
          </a:p>
        </p:txBody>
      </p:sp>
      <p:sp xmlns:p="http://schemas.openxmlformats.org/presentationml/2006/main" xmlns:a="http://schemas.openxmlformats.org/drawingml/2006/main">
        <p:nvSpPr>
          <p:cNvPr id="899" name="TEACH-embedded-student-prompt" descr="Student thinking and response directions"/>
          <p:cNvSpPr txBox="1"/>
          <p:nvPr/>
        </p:nvSpPr>
        <p:spPr>
          <a:xfrm>
            <a:off x="7391400" y="35478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93"/>
          <p:cNvSpPr txBox="1"/>
          <p:nvPr/>
        </p:nvSpPr>
        <p:spPr>
          <a:xfrm>
            <a:off x="486000" y="316800"/>
            <a:ext cx="6160460" cy="122432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Write and Solve Equations Using Multiplication or Division</a:t>
            </a:r>
            <a:endParaRPr b="0" i="0" sz="1400" u="none" cap="none" strike="noStrike">
              <a:solidFill>
                <a:srgbClr val="000000"/>
              </a:solidFill>
              <a:latin typeface="Arial"/>
              <a:ea typeface="Arial"/>
              <a:cs typeface="Arial"/>
              <a:sym typeface="Arial"/>
            </a:endParaRPr>
          </a:p>
        </p:txBody>
      </p:sp>
      <p:cxnSp>
        <p:nvCxnSpPr>
          <p:cNvPr id="975" name="Google Shape;975;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6" name="Google Shape;976;p93"/>
          <p:cNvSpPr txBox="1"/>
          <p:nvPr/>
        </p:nvSpPr>
        <p:spPr>
          <a:xfrm>
            <a:off x="486000" y="1655999"/>
            <a:ext cx="8450610" cy="14106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You can solve multiplication and division equations using inverse relationships and properties of equality.</a:t>
            </a:r>
            <a:endParaRPr b="0" i="0" sz="1400" u="none" cap="none" strike="noStrike">
              <a:solidFill>
                <a:srgbClr val="000000"/>
              </a:solidFill>
              <a:latin typeface="Arial"/>
              <a:ea typeface="Arial"/>
              <a:cs typeface="Arial"/>
              <a:sym typeface="Arial"/>
            </a:endParaRPr>
          </a:p>
        </p:txBody>
      </p:sp>
      <p:sp>
        <p:nvSpPr>
          <p:cNvPr id="977" name="Google Shape;977;p93"/>
          <p:cNvSpPr/>
          <p:nvPr/>
        </p:nvSpPr>
        <p:spPr>
          <a:xfrm>
            <a:off x="486000" y="3160763"/>
            <a:ext cx="509626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Division Property of Equality</a:t>
            </a:r>
            <a:endParaRPr b="0" i="0" sz="2800" u="none" cap="none" strike="noStrike">
              <a:solidFill>
                <a:schemeClr val="dk1"/>
              </a:solidFill>
              <a:latin typeface="Arial"/>
              <a:ea typeface="Arial"/>
              <a:cs typeface="Arial"/>
              <a:sym typeface="Arial"/>
            </a:endParaRPr>
          </a:p>
        </p:txBody>
      </p:sp>
      <p:sp>
        <p:nvSpPr>
          <p:cNvPr id="978" name="Google Shape;978;p93"/>
          <p:cNvSpPr/>
          <p:nvPr/>
        </p:nvSpPr>
        <p:spPr>
          <a:xfrm>
            <a:off x="486000" y="3778104"/>
            <a:ext cx="835344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 xml:space="preserve">You can </a:t>
            </a:r>
            <a:r>
              <a:rPr b="0" i="1" lang="en-US" sz="2800" u="none" cap="none" strike="noStrike">
                <a:solidFill>
                  <a:schemeClr val="dk1"/>
                </a:solidFill>
                <a:latin typeface="Arial"/>
                <a:ea typeface="Arial"/>
                <a:cs typeface="Arial"/>
                <a:sym typeface="Arial"/>
              </a:rPr>
              <a:t>divide</a:t>
            </a:r>
            <a:r>
              <a:rPr b="0" i="0" lang="en-US" sz="2800" u="none" cap="none" strike="noStrike">
                <a:solidFill>
                  <a:schemeClr val="dk1"/>
                </a:solidFill>
                <a:latin typeface="Arial"/>
                <a:ea typeface="Arial"/>
                <a:cs typeface="Arial"/>
                <a:sym typeface="Arial"/>
              </a:rPr>
              <a:t xml:space="preserve"> each side of the equation by the same nonzero value and maintain the equality.</a:t>
            </a:r>
            <a:endParaRPr b="0" i="0" sz="2800" u="none" cap="none" strike="noStrike">
              <a:solidFill>
                <a:schemeClr val="dk1"/>
              </a:solidFill>
              <a:latin typeface="Arial"/>
              <a:ea typeface="Arial"/>
              <a:cs typeface="Arial"/>
              <a:sym typeface="Arial"/>
            </a:endParaRPr>
          </a:p>
        </p:txBody>
      </p:sp>
      <p:sp>
        <p:nvSpPr>
          <p:cNvPr id="979" name="Google Shape;979;p93"/>
          <p:cNvSpPr/>
          <p:nvPr/>
        </p:nvSpPr>
        <p:spPr>
          <a:xfrm>
            <a:off x="486000" y="4826332"/>
            <a:ext cx="3368358" cy="712887"/>
          </a:xfrm>
          <a:prstGeom prst="rect">
            <a:avLst/>
          </a:prstGeom>
          <a:blipFill rotWithShape="1">
            <a:blip r:embed="rId3">
              <a:alphaModFix/>
            </a:blip>
            <a:stretch>
              <a:fillRect b="-8547" l="-3804"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56</a:t>
            </a:r>
          </a:p>
        </p:txBody>
      </p:sp>
      <p:sp>
        <p:nvSpPr>
          <p:cNvPr id="98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8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cxnSp>
        <p:nvCxnSpPr>
          <p:cNvPr id="984" name="Google Shape;984;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5" name="Google Shape;985;p94"/>
          <p:cNvSpPr txBox="1"/>
          <p:nvPr/>
        </p:nvSpPr>
        <p:spPr>
          <a:xfrm>
            <a:off x="486000" y="316800"/>
            <a:ext cx="6160460" cy="122432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Write and Solve Equations Using Multiplication or Division</a:t>
            </a:r>
            <a:endParaRPr b="0" i="0" sz="1400" u="none" cap="none" strike="noStrike">
              <a:solidFill>
                <a:srgbClr val="000000"/>
              </a:solidFill>
              <a:latin typeface="Arial"/>
              <a:ea typeface="Arial"/>
              <a:cs typeface="Arial"/>
              <a:sym typeface="Arial"/>
            </a:endParaRPr>
          </a:p>
        </p:txBody>
      </p:sp>
      <p:sp>
        <p:nvSpPr>
          <p:cNvPr id="986" name="Google Shape;986;p94"/>
          <p:cNvSpPr txBox="1"/>
          <p:nvPr/>
        </p:nvSpPr>
        <p:spPr>
          <a:xfrm>
            <a:off x="486000" y="1655999"/>
            <a:ext cx="8450610" cy="14106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You can solve multiplication and division equations using inverse relationships and properties of equality.</a:t>
            </a:r>
            <a:endParaRPr b="0" i="0" sz="1400" u="none" cap="none" strike="noStrike">
              <a:solidFill>
                <a:srgbClr val="000000"/>
              </a:solidFill>
              <a:latin typeface="Arial"/>
              <a:ea typeface="Arial"/>
              <a:cs typeface="Arial"/>
              <a:sym typeface="Arial"/>
            </a:endParaRPr>
          </a:p>
        </p:txBody>
      </p:sp>
      <p:sp>
        <p:nvSpPr>
          <p:cNvPr id="987" name="Google Shape;987;p94"/>
          <p:cNvSpPr/>
          <p:nvPr/>
        </p:nvSpPr>
        <p:spPr>
          <a:xfrm>
            <a:off x="485998" y="3153238"/>
            <a:ext cx="601478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Multiplication Property of Equality</a:t>
            </a:r>
            <a:endParaRPr b="0" i="0" sz="2800" u="none" cap="none" strike="noStrike">
              <a:solidFill>
                <a:schemeClr val="dk1"/>
              </a:solidFill>
              <a:latin typeface="Arial"/>
              <a:ea typeface="Arial"/>
              <a:cs typeface="Arial"/>
              <a:sym typeface="Arial"/>
            </a:endParaRPr>
          </a:p>
        </p:txBody>
      </p:sp>
      <p:sp>
        <p:nvSpPr>
          <p:cNvPr id="988" name="Google Shape;988;p94"/>
          <p:cNvSpPr/>
          <p:nvPr/>
        </p:nvSpPr>
        <p:spPr>
          <a:xfrm>
            <a:off x="485998" y="3801663"/>
            <a:ext cx="817723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 xml:space="preserve">You can </a:t>
            </a:r>
            <a:r>
              <a:rPr b="0" i="1" lang="en-US" sz="2800" u="none" cap="none" strike="noStrike">
                <a:solidFill>
                  <a:schemeClr val="dk1"/>
                </a:solidFill>
                <a:latin typeface="Arial"/>
                <a:ea typeface="Arial"/>
                <a:cs typeface="Arial"/>
                <a:sym typeface="Arial"/>
              </a:rPr>
              <a:t xml:space="preserve">multiply </a:t>
            </a:r>
            <a:r>
              <a:rPr b="0" i="0" lang="en-US" sz="2800" u="none" cap="none" strike="noStrike">
                <a:solidFill>
                  <a:schemeClr val="dk1"/>
                </a:solidFill>
                <a:latin typeface="Arial"/>
                <a:ea typeface="Arial"/>
                <a:cs typeface="Arial"/>
                <a:sym typeface="Arial"/>
              </a:rPr>
              <a:t>each side of the equation by the same nonzero value and maintain the equality.</a:t>
            </a:r>
            <a:endParaRPr b="0" i="0" sz="2800" u="none" cap="none" strike="noStrike">
              <a:solidFill>
                <a:schemeClr val="dk1"/>
              </a:solidFill>
              <a:latin typeface="Arial"/>
              <a:ea typeface="Arial"/>
              <a:cs typeface="Arial"/>
              <a:sym typeface="Arial"/>
            </a:endParaRPr>
          </a:p>
        </p:txBody>
      </p:sp>
      <p:sp>
        <p:nvSpPr>
          <p:cNvPr id="989" name="Google Shape;989;p94"/>
          <p:cNvSpPr/>
          <p:nvPr/>
        </p:nvSpPr>
        <p:spPr>
          <a:xfrm>
            <a:off x="485998" y="4921165"/>
            <a:ext cx="4674741" cy="523220"/>
          </a:xfrm>
          <a:prstGeom prst="rect">
            <a:avLst/>
          </a:prstGeom>
          <a:blipFill rotWithShape="1">
            <a:blip r:embed="rId3">
              <a:alphaModFix/>
            </a:blip>
            <a:stretch>
              <a:fillRect b="-31395" l="-2738"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51 / 56</a:t>
            </a:r>
          </a:p>
        </p:txBody>
      </p:sp>
      <p:sp>
        <p:nvSpPr>
          <p:cNvPr id="99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9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Snack Bags</a:t>
            </a:r>
            <a:endParaRPr b="1" i="0" sz="2800" u="none" cap="none" strike="noStrike">
              <a:solidFill>
                <a:srgbClr val="7030A0"/>
              </a:solidFill>
              <a:latin typeface="Arial"/>
              <a:ea typeface="Arial"/>
              <a:cs typeface="Arial"/>
              <a:sym typeface="Arial"/>
            </a:endParaRPr>
          </a:p>
        </p:txBody>
      </p:sp>
      <p:cxnSp>
        <p:nvCxnSpPr>
          <p:cNvPr id="995" name="Google Shape;995;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6" name="Google Shape;996;p95"/>
          <p:cNvSpPr txBox="1"/>
          <p:nvPr/>
        </p:nvSpPr>
        <p:spPr>
          <a:xfrm>
            <a:off x="486000" y="935999"/>
            <a:ext cx="6065629" cy="32265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student council buys snacks in bulk to sell during lunch. One box of snacks contains the types and quantities of snacks shown below. The first month, the student council sold 115 bags of snacks, including 50 bags of cheese crackers.</a:t>
            </a:r>
            <a:endParaRPr b="0" i="0" sz="1400" u="none" cap="none" strike="noStrike">
              <a:solidFill>
                <a:srgbClr val="000000"/>
              </a:solidFill>
              <a:latin typeface="Arial"/>
              <a:ea typeface="Arial"/>
              <a:cs typeface="Arial"/>
              <a:sym typeface="Arial"/>
            </a:endParaRPr>
          </a:p>
        </p:txBody>
      </p:sp>
      <p:sp>
        <p:nvSpPr>
          <p:cNvPr id="997" name="Google Shape;997;p95"/>
          <p:cNvSpPr/>
          <p:nvPr/>
        </p:nvSpPr>
        <p:spPr>
          <a:xfrm>
            <a:off x="484566" y="4396656"/>
            <a:ext cx="6067064"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How many boxes of snacks would you recommend the student council order for next month?</a:t>
            </a:r>
            <a:endParaRPr b="0" i="0" sz="2800" u="none" cap="none" strike="noStrike">
              <a:solidFill>
                <a:schemeClr val="dk1"/>
              </a:solidFill>
              <a:latin typeface="Arial"/>
              <a:ea typeface="Arial"/>
              <a:cs typeface="Arial"/>
              <a:sym typeface="Arial"/>
            </a:endParaRPr>
          </a:p>
        </p:txBody>
      </p:sp>
      <p:pic>
        <p:nvPicPr>
          <p:cNvPr descr="C:\Users\HP\Desktop\Grade_6_Unit_8\OPS\img\.assets\e0ca366a0e8947da90c41584d82af982\narm24_c10803_se_007a-dig-eps.png" id="998" name="Google Shape;998;p95"/>
          <p:cNvPicPr preferRelativeResize="0"/>
          <p:nvPr/>
        </p:nvPicPr>
        <p:blipFill rotWithShape="1">
          <a:blip r:embed="rId3">
            <a:alphaModFix/>
          </a:blip>
          <a:srcRect b="0" l="0" r="0" t="0"/>
          <a:stretch/>
        </p:blipFill>
        <p:spPr>
          <a:xfrm>
            <a:off x="6712307" y="1884490"/>
            <a:ext cx="5114925" cy="3009900"/>
          </a:xfrm>
          <a:prstGeom prst="rect">
            <a:avLst/>
          </a:prstGeom>
          <a:noFill/>
          <a:ln>
            <a:noFill/>
          </a:ln>
        </p:spPr>
      </p:pic>
      <p:sp>
        <p:nvSpPr>
          <p:cNvPr id="99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52 / 56</a:t>
            </a:r>
          </a:p>
        </p:txBody>
      </p:sp>
      <p:sp>
        <p:nvSpPr>
          <p:cNvPr id="100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01"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96"/>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04" name="Google Shape;1004;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5" name="Google Shape;1005;p96"/>
          <p:cNvSpPr txBox="1"/>
          <p:nvPr/>
        </p:nvSpPr>
        <p:spPr>
          <a:xfrm>
            <a:off x="484566" y="936000"/>
            <a:ext cx="8131534" cy="3857774"/>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and solve one-step multiplication equations using the Division Property of Equality.</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and solve one-step division equations using the Multiplication Property of Equality.</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make sense of quantities to write and solve one-step equations.</a:t>
            </a:r>
            <a:endParaRPr b="0" i="0" sz="1400" u="none" cap="none" strike="noStrike">
              <a:solidFill>
                <a:srgbClr val="000000"/>
              </a:solidFill>
              <a:latin typeface="Arial"/>
              <a:ea typeface="Arial"/>
              <a:cs typeface="Arial"/>
              <a:sym typeface="Arial"/>
            </a:endParaRPr>
          </a:p>
        </p:txBody>
      </p:sp>
      <p:sp>
        <p:nvSpPr>
          <p:cNvPr id="10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53 / 56</a:t>
            </a:r>
          </a:p>
        </p:txBody>
      </p:sp>
      <p:sp xmlns:p="http://schemas.openxmlformats.org/presentationml/2006/main" xmlns:a="http://schemas.openxmlformats.org/drawingml/2006/main">
        <p:nvSpPr>
          <p:cNvPr id="100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77" name="Google Shape;777;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8" name="Google Shape;778;p7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79" name="Google Shape;779;p74"/>
          <p:cNvSpPr txBox="1"/>
          <p:nvPr/>
        </p:nvSpPr>
        <p:spPr>
          <a:xfrm>
            <a:off x="484560" y="1022823"/>
            <a:ext cx="4264421" cy="13245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780" name="Google Shape;780;p74"/>
          <p:cNvPicPr preferRelativeResize="0"/>
          <p:nvPr/>
        </p:nvPicPr>
        <p:blipFill rotWithShape="1">
          <a:blip r:embed="rId2">
            <a:alphaModFix/>
          </a:blip>
          <a:srcRect b="0" l="0" r="0" t="0"/>
          <a:stretch/>
        </p:blipFill>
        <p:spPr>
          <a:xfrm>
            <a:off x="613971" y="4439940"/>
            <a:ext cx="5054600" cy="838200"/>
          </a:xfrm>
          <a:prstGeom prst="rect">
            <a:avLst/>
          </a:prstGeom>
          <a:noFill/>
          <a:ln>
            <a:noFill/>
          </a:ln>
        </p:spPr>
      </p:pic>
      <p:sp>
        <p:nvSpPr>
          <p:cNvPr id="781" name="Google Shape;781;p74"/>
          <p:cNvSpPr txBox="1"/>
          <p:nvPr/>
        </p:nvSpPr>
        <p:spPr>
          <a:xfrm>
            <a:off x="3141271" y="4539182"/>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82" name="Google Shape;782;p74"/>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83" name="Google Shape;783;p74"/>
          <p:cNvSpPr/>
          <p:nvPr/>
        </p:nvSpPr>
        <p:spPr>
          <a:xfrm>
            <a:off x="629543" y="5278140"/>
            <a:ext cx="1065170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How is being respectful of others, even if you disagree with their reasoning, helpful in math class?</a:t>
            </a:r>
            <a:endParaRPr b="0" i="0" sz="2800" u="none" cap="none" strike="noStrike">
              <a:solidFill>
                <a:srgbClr val="595959"/>
              </a:solidFill>
              <a:latin typeface="Arial"/>
              <a:ea typeface="Arial"/>
              <a:cs typeface="Arial"/>
              <a:sym typeface="Arial"/>
            </a:endParaRPr>
          </a:p>
        </p:txBody>
      </p:sp>
      <p:pic>
        <p:nvPicPr>
          <p:cNvPr id="784" name="Google Shape;784;p74"/>
          <p:cNvPicPr preferRelativeResize="0"/>
          <p:nvPr/>
        </p:nvPicPr>
        <p:blipFill rotWithShape="1">
          <a:blip r:embed="rId3">
            <a:alphaModFix/>
          </a:blip>
          <a:srcRect b="0" l="0" r="0" t="0"/>
          <a:stretch/>
        </p:blipFill>
        <p:spPr>
          <a:xfrm>
            <a:off x="1191821" y="2515890"/>
            <a:ext cx="4476750" cy="1504950"/>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54 / 56</a:t>
            </a:r>
          </a:p>
        </p:txBody>
      </p:sp>
      <p:sp xmlns:p="http://schemas.openxmlformats.org/presentationml/2006/main" xmlns:a="http://schemas.openxmlformats.org/drawingml/2006/main">
        <p:nvSpPr>
          <p:cNvPr id="785" name="TEACH-embedded-student-prompt" descr="Student thinking and response directions"/>
          <p:cNvSpPr txBox="1"/>
          <p:nvPr/>
        </p:nvSpPr>
        <p:spPr>
          <a:xfrm>
            <a:off x="611124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3" name="Google Shape;1003;p96"/>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04" name="Google Shape;1004;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5" name="Google Shape;1005;p96"/>
          <p:cNvSpPr txBox="1"/>
          <p:nvPr/>
        </p:nvSpPr>
        <p:spPr>
          <a:xfrm>
            <a:off x="484566" y="936000"/>
            <a:ext cx="8131534" cy="3857774"/>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and solve one-step multiplication equations using the Division Property of Equality.</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and solve one-step division equations using the Multiplication Property of Equality.</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make sense of quantities to write and solve one-step equations.</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55 / 56</a:t>
            </a:r>
          </a:p>
        </p:txBody>
      </p:sp>
      <p:sp xmlns:p="http://schemas.openxmlformats.org/presentationml/2006/main" xmlns:a="http://schemas.openxmlformats.org/drawingml/2006/main">
        <p:nvSpPr>
          <p:cNvPr id="100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8.3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Undo multiplication or division on both sides.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NAME THE MATH  ·  </a:t>
            </a:r>
            <a:r>
              <a:rPr lang="en-US" sz="2000" b="0" dirty="0">
                <a:solidFill>
                  <a:srgbClr val="13303A"/>
                </a:solidFill>
                <a:latin typeface="Arial"/>
              </a:rPr>
              <a:t>Point to the part of this that is new today, and say what it changes.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56</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21 / 56</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27 / 56</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30 / 56</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56</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3-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39 / 56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45 / 56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48 / 56</a:t>
            </a:r>
          </a:p>
        </p:txBody>
      </p:sp>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8.3 — Write and Solve Equations Using Multiplication or Division</dc:title>
  <dc:creator>Neft Teacher</dc:creator>
  <cp:lastModifiedBy>Neft Teacher</cp:lastModifiedBy>
  <dcterms:created xsi:type="dcterms:W3CDTF">2026-09-30T12:04:43Z</dcterms:created>
  <dcterms:modified xsi:type="dcterms:W3CDTF">2026-09-30T12:04:43Z</dcterms:modified>
</cp:coreProperties>
</file>