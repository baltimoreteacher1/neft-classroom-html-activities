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3" r:id="rId1"/>
    <p:sldMasterId id="2147483684" r:id="rId2"/>
    <p:sldMasterId id="2147483685" r:id="rId3"/>
    <p:sldMasterId id="2147483686" r:id="rId4"/>
  </p:sldMasterIdLst>
  <p:notesMasterIdLst>
    <p:notesMasterId r:id="rId51"/>
  </p:notesMasterIdLst>
  <p:sldIdLst>
    <p:sldId id="259" r:id="rId5"/>
    <p:sldId id="268" r:id="rId6"/>
    <p:sldId id="269" r:id="rId7"/>
    <p:sldId id="256" r:id="rId8"/>
    <p:sldId id="257" r:id="rId9"/>
    <p:sldId id="260" r:id="rId10"/>
    <p:sldId id="333" r:id="rId11"/>
    <p:sldId id="329" r:id="rId12"/>
    <p:sldId id="328" r:id="rId13"/>
    <p:sldId id="327" r:id="rId14"/>
    <p:sldId id="326" r:id="rId15"/>
    <p:sldId id="325" r:id="rId16"/>
    <p:sldId id="324" r:id="rId17"/>
    <p:sldId id="323" r:id="rId18"/>
    <p:sldId id="322" r:id="rId19"/>
    <p:sldId id="261" r:id="rId20"/>
    <p:sldId id="273" r:id="rId21"/>
    <p:sldId id="276" r:id="rId22"/>
    <p:sldId id="281" r:id="rId23"/>
    <p:sldId id="283" r:id="rId24"/>
    <p:sldId id="289" r:id="rId25"/>
    <p:sldId id="334" r:id="rId26"/>
    <p:sldId id="290" r:id="rId27"/>
    <p:sldId id="330" r:id="rId28"/>
    <p:sldId id="319" r:id="rId29"/>
    <p:sldId id="335" r:id="rId30"/>
    <p:sldId id="320" r:id="rId31"/>
    <p:sldId id="291" r:id="rId32"/>
    <p:sldId id="293" r:id="rId33"/>
    <p:sldId id="295" r:id="rId34"/>
    <p:sldId id="296" r:id="rId35"/>
    <p:sldId id="299" r:id="rId36"/>
    <p:sldId id="303" r:id="rId37"/>
    <p:sldId id="307" r:id="rId38"/>
    <p:sldId id="336" r:id="rId39"/>
    <p:sldId id="309" r:id="rId40"/>
    <p:sldId id="313" r:id="rId41"/>
    <p:sldId id="314" r:id="rId42"/>
    <p:sldId id="331" r:id="rId43"/>
    <p:sldId id="321" r:id="rId44"/>
    <p:sldId id="315" r:id="rId45"/>
    <p:sldId id="316" r:id="rId46"/>
    <p:sldId id="317" r:id="rId47"/>
    <p:sldId id="337" r:id="rId48"/>
    <p:sldId id="318" r:id="rId49"/>
    <p:sldId id="332" r:id="rId50"/>
  </p:sldIdLst>
  <p:sldSz cx="12192000" cy="6858000"/>
  <p:notesSz cx="7010400" cy="92360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28"/>
  </p:normalViewPr>
  <p:slideViewPr>
    <p:cSldViewPr snapToGrid="0">
      <p:cViewPr varScale="1">
        <p:scale>
          <a:sx n="114" d="100"/>
          <a:sy n="114" d="100"/>
        </p:scale>
        <p:origin x="496" y="184"/>
      </p:cViewPr>
      <p:guideLst>
        <p:guide pos="1512"/>
        <p:guide orient="horz" pos="3024"/>
        <p:guide orient="horz" pos="384"/>
        <p:guide orient="horz" pos="2520"/>
        <p:guide orient="horz" pos="1080"/>
        <p:guide orient="horz" pos="1680"/>
        <p:guide orient="horz" pos="3432"/>
        <p:guide orient="horz" pos="3120"/>
        <p:guide pos="48"/>
        <p:guide pos="384"/>
        <p:guide pos="6480"/>
        <p:guide pos="2597"/>
        <p:guide pos="288"/>
        <p:guide orient="horz" pos="2160"/>
        <p:guide orient="horz" pos="216"/>
        <p:guide orient="horz" pos="936"/>
        <p:guide pos="4368"/>
        <p:guide pos="7296"/>
        <p:guide pos="3288"/>
        <p:guide pos="590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8" Type="http://schemas.openxmlformats.org/officeDocument/2006/relationships/slide" Target="slides/slide4.xml"/><Relationship Id="rId51" Type="http://schemas.openxmlformats.org/officeDocument/2006/relationships/notesMaster" Target="notesMasters/notesMaster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2"/>
            <a:ext cx="3037840" cy="463407"/>
          </a:xfrm>
          <a:prstGeom prst="rect">
            <a:avLst/>
          </a:prstGeom>
          <a:noFill/>
          <a:ln>
            <a:noFill/>
          </a:ln>
        </p:spPr>
        <p:txBody>
          <a:bodyPr spcFirstLastPara="1" wrap="square" lIns="92275" tIns="46125" rIns="92275" bIns="461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970938" y="2"/>
            <a:ext cx="3037840" cy="463407"/>
          </a:xfrm>
          <a:prstGeom prst="rect">
            <a:avLst/>
          </a:prstGeom>
          <a:noFill/>
          <a:ln>
            <a:noFill/>
          </a:ln>
        </p:spPr>
        <p:txBody>
          <a:bodyPr spcFirstLastPara="1" wrap="square" lIns="92275" tIns="46125" rIns="92275" bIns="461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772669"/>
            <a:ext cx="3037840" cy="463406"/>
          </a:xfrm>
          <a:prstGeom prst="rect">
            <a:avLst/>
          </a:prstGeom>
          <a:noFill/>
          <a:ln>
            <a:noFill/>
          </a:ln>
        </p:spPr>
        <p:txBody>
          <a:bodyPr spcFirstLastPara="1" wrap="square" lIns="92275" tIns="46125" rIns="92275" bIns="461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970938" y="8772669"/>
            <a:ext cx="3037840" cy="463406"/>
          </a:xfrm>
          <a:prstGeom prst="rect">
            <a:avLst/>
          </a:prstGeom>
          <a:noFill/>
          <a:ln>
            <a:noFill/>
          </a:ln>
        </p:spPr>
        <p:txBody>
          <a:bodyPr spcFirstLastPara="1" wrap="square" lIns="92275" tIns="46125" rIns="92275" bIns="46125"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4: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6.1, slide 1 | WARMUP</a:t>
            </a:r>
          </a:p>
          <a:p>
            <a:pPr>
              <a:buNone/>
            </a:pPr>
            <a:r>
              <a:rPr lang="en-US" sz="1100"/>
              <a:t>Focus on the existing task: Warm-Up WARM-UP · THINK • TRY •…</a:t>
            </a:r>
          </a:p>
          <a:p>
            <a:pPr>
              <a:buNone/>
            </a:pPr>
            <a:r>
              <a:rPr lang="en-US" sz="1100"/>
              <a:t>GATHER EVIDENCE (T4/6): Keep the original items. Students try independently, mark an uncertain item, and explain one method before checking. Use the existing key when present.</a:t>
            </a:r>
          </a:p>
          <a:p>
            <a:pPr>
              <a:buNone/>
            </a:pPr>
            <a:r>
              <a:rPr lang="en-US" sz="1100"/>
              <a:t>RESPOND: Distinguish a calculation slip from a reasoning gap. Give one next step on the same item; have students revise in a second color. Use the responses to choose flexible support for today’s lesson.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Warm-Up answers (teacher only): 1) 2.4   2) 1/5   3) 2   4) 4</a:t>
            </a:r>
          </a:p>
          <a:p>
            <a:pPr>
              <a:buNone/>
            </a:pPr>
            <a:endParaRP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interpret division as groups or sharing; connect the model to the equation; check by multiplication. Review recent work and today’s warm-up to choose flexible groups and access supports; do not infer needs from identity or perceived ability. Use the existing lesson tasks and stated standards.</a:t>
            </a:r>
          </a:p>
          <a:p>
            <a:pPr>
              <a:buNone/>
            </a:pPr>
            <a:r>
              <a:rPr lang="en-US" sz="1100"/>
              <a:t>Anticipate: assuming division always makes a quantity smaller. If observed, label the whole, group size and number of groups on the original fraction model.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5" name="Google Shape;255;p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p13: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6.1, slide 2 | NOTES</a:t>
            </a:r>
          </a:p>
          <a:p>
            <a:pPr>
              <a:buNone/>
            </a:pPr>
            <a:r>
              <a:rPr lang="en-US" sz="1100"/>
              <a:t>Focus on the existing task: Today’s Math Notes Section 1: Math…</a:t>
            </a:r>
          </a:p>
          <a:p>
            <a:pPr>
              <a:buNone/>
            </a:pPr>
            <a:r>
              <a:rPr lang="en-US" sz="1100"/>
              <a:t>ROUTINE (T1/2/4): Read or copy the original notes, cover one line, and explain it using the displayed example. Reopen and correct. Copying alone is not evidence of understanding.</a:t>
            </a:r>
          </a:p>
          <a:p>
            <a:pPr>
              <a:buNone/>
            </a:pPr>
            <a:r>
              <a:rPr lang="en-US" sz="1100"/>
              <a:t>LOOK FOR: A link between a symbol, quantity or feature and the explanation. If missing, point back to that feature and have the student try again; fade the prompt once they can explain.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Copy routine: read one line at a time; students copy, then explain that line to a partner.</a:t>
            </a:r>
          </a:p>
          <a:p>
            <a:pPr marL="0" lvl="0" indent="0" algn="l" rtl="0">
              <a:spcBef>
                <a:spcPts val="0"/>
              </a:spcBef>
              <a:spcAft>
                <a:spcPts val="0"/>
              </a:spcAft>
              <a:buNone/>
            </a:pPr>
            <a:r>
              <a:t>Keep it brisk — the understanding work happens in the examples, not the copying.</a:t>
            </a:r>
          </a:p>
          <a:p>
            <a:pPr marL="0" lvl="0" indent="0" algn="l" rtl="0">
              <a:spcBef>
                <a:spcPts val="0"/>
              </a:spcBef>
              <a:spcAft>
                <a:spcPts val="0"/>
              </a:spcAft>
              <a:buNone/>
            </a:pPr>
            <a:r>
              <a:t>UIFR: TEACH 1 · TEACH 6.</a:t>
            </a:r>
          </a:p>
        </p:txBody>
      </p:sp>
      <p:sp>
        <p:nvSpPr>
          <p:cNvPr id="496" name="Google Shape;496;p13: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p14: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6.1, slide 3 | NOTES</a:t>
            </a:r>
          </a:p>
          <a:p>
            <a:pPr>
              <a:buNone/>
            </a:pPr>
            <a:r>
              <a:rPr lang="en-US" sz="1100"/>
              <a:t>Focus on the existing task: Today’s Math Notes Section 2: Today’s…</a:t>
            </a:r>
          </a:p>
          <a:p>
            <a:pPr>
              <a:buNone/>
            </a:pPr>
            <a:r>
              <a:rPr lang="en-US" sz="1100"/>
              <a:t>ROUTINE (T1/2/4): Read or copy the original notes, cover one line, and explain it using the displayed example. Reopen and correct. Copying alone is not evidence of understanding.</a:t>
            </a:r>
          </a:p>
          <a:p>
            <a:pPr>
              <a:buNone/>
            </a:pPr>
            <a:r>
              <a:rPr lang="en-US" sz="1100"/>
              <a:t>LOOK FOR: A link between a symbol, quantity or feature and the explanation. If missing, point back to that feature and have the student try again; fade the prompt once they can explain.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Copy routine: read one line at a time; students copy, then explain that line to a partner.</a:t>
            </a:r>
          </a:p>
          <a:p>
            <a:pPr marL="0" lvl="0" indent="0" algn="l" rtl="0">
              <a:spcBef>
                <a:spcPts val="0"/>
              </a:spcBef>
              <a:spcAft>
                <a:spcPts val="0"/>
              </a:spcAft>
              <a:buNone/>
            </a:pPr>
            <a:r>
              <a:t>Keep it brisk — the understanding work happens in the examples, not the copying.</a:t>
            </a:r>
          </a:p>
          <a:p>
            <a:pPr marL="0" lvl="0" indent="0" algn="l" rtl="0">
              <a:spcBef>
                <a:spcPts val="0"/>
              </a:spcBef>
              <a:spcAft>
                <a:spcPts val="0"/>
              </a:spcAft>
              <a:buNone/>
            </a:pPr>
            <a:r>
              <a:t>UIFR: TEACH 1 · TEACH 6.</a:t>
            </a:r>
          </a:p>
        </p:txBody>
      </p:sp>
      <p:sp>
        <p:nvSpPr>
          <p:cNvPr id="524" name="Google Shape;524;p1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4 | DIVIDER</a:t>
            </a:r>
          </a:p>
          <a:p>
            <a:pPr>
              <a:buNone/>
            </a:pPr>
            <a:r>
              <a:rPr lang="en-US" sz="1100"/>
              <a:t>Focus on the existing task: Division Expressions with Fractions and Whole Numbers Session 1</a:t>
            </a:r>
          </a:p>
          <a:p>
            <a:pPr>
              <a:buNone/>
            </a:pPr>
            <a:r>
              <a:rPr lang="en-US" sz="1100"/>
              <a:t>TRANSITION (T6/7): Students confirm materials, roles, how to request help, and the next response routine. Ask a student to restate it. Keep teacher-only slides hidden.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Transition cue: state what materials are out and what success looks like this session.</a:t>
            </a:r>
          </a:p>
          <a:p>
            <a:pPr marL="0" lvl="0" indent="0" algn="l" rtl="0">
              <a:lnSpc>
                <a:spcPct val="100000"/>
              </a:lnSpc>
              <a:spcBef>
                <a:spcPts val="0"/>
              </a:spcBef>
              <a:spcAft>
                <a:spcPts val="0"/>
              </a:spcAft>
              <a:buSzPts val="1400"/>
              <a:buNone/>
            </a:pPr>
            <a:r>
              <a:t>Keep the changeover under a minute.</a:t>
            </a:r>
          </a:p>
          <a:p>
            <a:pPr marL="0" lvl="0" indent="0" algn="l" rtl="0">
              <a:lnSpc>
                <a:spcPct val="100000"/>
              </a:lnSpc>
              <a:spcBef>
                <a:spcPts val="0"/>
              </a:spcBef>
              <a:spcAft>
                <a:spcPts val="0"/>
              </a:spcAft>
              <a:buSzPts val="1400"/>
              <a:buNone/>
            </a:pPr>
            <a:r>
              <a:t>UIFR: TEACH 6.</a:t>
            </a:r>
          </a:p>
        </p:txBody>
      </p:sp>
      <p:sp>
        <p:nvSpPr>
          <p:cNvPr id="231" name="Google Shape;231;p1: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2: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5 | WORKED</a:t>
            </a:r>
          </a:p>
          <a:p>
            <a:pPr>
              <a:buNone/>
            </a:pPr>
            <a:r>
              <a:rPr lang="en-US" sz="1100"/>
              <a:t>Focus on the existing task: Or You Could</a:t>
            </a:r>
          </a:p>
          <a:p>
            <a:pPr>
              <a:buNone/>
            </a:pPr>
            <a:r>
              <a:rPr lang="en-US" sz="1100"/>
              <a:t>LAUNCH (T2/3/5): Ask students to explain the displayed idea or example and point to evidence. When a calculation step is shown, ask why it is valid. Have a partner restate the explanation; copying is not the check.</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Model briefly, then hand the thinking back: ask “Why does this step work?” before showing the next one.</a:t>
            </a:r>
          </a:p>
          <a:p>
            <a:pPr marL="0" lvl="0" indent="0" algn="l" rtl="0">
              <a:lnSpc>
                <a:spcPct val="100000"/>
              </a:lnSpc>
              <a:spcBef>
                <a:spcPts val="0"/>
              </a:spcBef>
              <a:spcAft>
                <a:spcPts val="0"/>
              </a:spcAft>
              <a:buSzPts val="1400"/>
              <a:buNone/>
            </a:pPr>
            <a:r>
              <a:t>Quick check before moving on — thumbs or whiteboards from everyone, not volunteers.</a:t>
            </a:r>
          </a:p>
          <a:p>
            <a:pPr marL="0" lvl="0" indent="0" algn="l" rtl="0">
              <a:lnSpc>
                <a:spcPct val="100000"/>
              </a:lnSpc>
              <a:spcBef>
                <a:spcPts val="0"/>
              </a:spcBef>
              <a:spcAft>
                <a:spcPts val="0"/>
              </a:spcAft>
              <a:buSzPts val="1400"/>
              <a:buNone/>
            </a:pPr>
            <a:r>
              <a:t>UIFR: TEACH 2 · TEACH 3 · TEACH 4.</a:t>
            </a:r>
          </a:p>
        </p:txBody>
      </p:sp>
      <p:sp>
        <p:nvSpPr>
          <p:cNvPr id="238" name="Google Shape;238;p2: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5: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6.1, slide 6 | GOAL</a:t>
            </a:r>
          </a:p>
          <a:p>
            <a:pPr>
              <a:buNone/>
            </a:pPr>
            <a:r>
              <a:rPr lang="en-US" sz="1100"/>
              <a:t>Focus on the existing task: Today’s Objectives Division…</a:t>
            </a:r>
          </a:p>
          <a:p>
            <a:pPr>
              <a:buNone/>
            </a:pPr>
            <a:r>
              <a:rPr lang="en-US" sz="1100"/>
              <a:t>CONNECT (T1/4): Ask students to restate the displayed goal or key idea and connect it to earlier work. Relevant lesson evidence: interpret division as groups or sharing; connect the model to the equation; check by multiplication.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Read the objective together, then have one or two students restate today’s goal in their own words.</a:t>
            </a:r>
          </a:p>
          <a:p>
            <a:pPr marL="0" lvl="0" indent="0" algn="l" rtl="0">
              <a:spcBef>
                <a:spcPts val="0"/>
              </a:spcBef>
              <a:spcAft>
                <a:spcPts val="0"/>
              </a:spcAft>
              <a:buNone/>
            </a:pPr>
            <a:r>
              <a:t>Connect it to what the class learned last lesson.</a:t>
            </a:r>
          </a:p>
          <a:p>
            <a:pPr marL="0" lvl="0" indent="0" algn="l" rtl="0">
              <a:spcBef>
                <a:spcPts val="0"/>
              </a:spcBef>
              <a:spcAft>
                <a:spcPts val="0"/>
              </a:spcAft>
              <a:buNone/>
            </a:pPr>
            <a:r>
              <a:t>Return to this goal at the end of class to check it was met.</a:t>
            </a:r>
          </a:p>
          <a:p>
            <a:pPr marL="0" lvl="0" indent="0" algn="l" rtl="0">
              <a:spcBef>
                <a:spcPts val="0"/>
              </a:spcBef>
              <a:spcAft>
                <a:spcPts val="0"/>
              </a:spcAft>
              <a:buNone/>
            </a:pPr>
            <a:r>
              <a:t>UIFR: TEACH 1.</a:t>
            </a:r>
          </a:p>
          <a:p>
            <a:pPr>
              <a:buNone/>
            </a:pPr>
            <a:endParaRP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interpret division as groups or sharing; connect the model to the equation; check by multiplication. Ask: “Which part of your work would show this?” Revisit that evidence after the task; a confidence rating alone is not evidence of understanding.</a:t>
            </a:r>
          </a:p>
        </p:txBody>
      </p:sp>
      <p:sp>
        <p:nvSpPr>
          <p:cNvPr id="331" name="Google Shape;331;p5: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7 | PRIOR_INSERT</a:t>
            </a:r>
          </a:p>
          <a:p>
            <a:pPr>
              <a:buNone/>
            </a:pPr>
            <a:r>
              <a:rPr lang="en-US" sz="1100"/>
              <a:t>Focus on the existing task: LESSON 6.1 / OUR LEARNING What will show your learning?</a:t>
            </a:r>
          </a:p>
          <a:p>
            <a:pPr>
              <a:buNone/>
            </a:pPr>
            <a:r>
              <a:rPr lang="en-US" sz="1100"/>
              <a:t>CONNECT (T1/4): Ask students to restate the displayed goal or key idea and connect it to earlier work. Relevant lesson evidence: interpret division as groups or sharing; connect the model to the equation; check by multiplication.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8 | VOCAB</a:t>
            </a:r>
          </a:p>
          <a:p>
            <a:pPr>
              <a:buNone/>
            </a:pPr>
            <a:r>
              <a:rPr lang="en-US" sz="1100"/>
              <a:t>Focus on the existing task: Vocabulary 1 of 6 Division of…</a:t>
            </a:r>
          </a:p>
          <a:p>
            <a:pPr>
              <a:buNone/>
            </a:pPr>
            <a:r>
              <a:rPr lang="en-US" sz="1100"/>
              <a:t>ASK (T1/3/5): Where does “Division of Fractions”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9 | VOCAB</a:t>
            </a:r>
          </a:p>
          <a:p>
            <a:pPr>
              <a:buNone/>
            </a:pPr>
            <a:r>
              <a:rPr lang="en-US" sz="1100"/>
              <a:t>Focus on the existing task: Vocabulary 2 of 6 Reciprocal A…</a:t>
            </a:r>
          </a:p>
          <a:p>
            <a:pPr>
              <a:buNone/>
            </a:pPr>
            <a:r>
              <a:rPr lang="en-US" sz="1100"/>
              <a:t>ASK (T1/3/5): Where does “Reciprocal”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10 | VOCAB</a:t>
            </a:r>
          </a:p>
          <a:p>
            <a:pPr>
              <a:buNone/>
            </a:pPr>
            <a:r>
              <a:rPr lang="en-US" sz="1100"/>
              <a:t>Focus on the existing task: Vocabulary 3 of 6 Quotient The…</a:t>
            </a:r>
          </a:p>
          <a:p>
            <a:pPr>
              <a:buNone/>
            </a:pPr>
            <a:r>
              <a:rPr lang="en-US" sz="1100"/>
              <a:t>ASK (T1/3/5): Where does “Quotient”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11 | VOCAB</a:t>
            </a:r>
          </a:p>
          <a:p>
            <a:pPr>
              <a:buNone/>
            </a:pPr>
            <a:r>
              <a:rPr lang="en-US" sz="1100"/>
              <a:t>Focus on the existing task: Vocabulary 4 of 6 Dividend The total…</a:t>
            </a:r>
          </a:p>
          <a:p>
            <a:pPr>
              <a:buNone/>
            </a:pPr>
            <a:r>
              <a:rPr lang="en-US" sz="1100"/>
              <a:t>ASK (T1/3/5): Where does “Dividend”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12 | VOCAB</a:t>
            </a:r>
          </a:p>
          <a:p>
            <a:pPr>
              <a:buNone/>
            </a:pPr>
            <a:r>
              <a:rPr lang="en-US" sz="1100"/>
              <a:t>Focus on the existing task: Vocabulary 5 of 6 Divisor The number…</a:t>
            </a:r>
          </a:p>
          <a:p>
            <a:pPr>
              <a:buNone/>
            </a:pPr>
            <a:r>
              <a:rPr lang="en-US" sz="1100"/>
              <a:t>ASK (T1/3/5): Where does “Divisor”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13 | VOCAB</a:t>
            </a:r>
          </a:p>
          <a:p>
            <a:pPr>
              <a:buNone/>
            </a:pPr>
            <a:r>
              <a:rPr lang="en-US" sz="1100"/>
              <a:t>Focus on the existing task: Vocabulary 6 of 6 Unit fraction A…</a:t>
            </a:r>
          </a:p>
          <a:p>
            <a:pPr>
              <a:buNone/>
            </a:pPr>
            <a:r>
              <a:rPr lang="en-US" sz="1100"/>
              <a:t>ASK (T1/3/5): Where does “Unit fraction”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14 | CURIOUS</a:t>
            </a:r>
          </a:p>
          <a:p>
            <a:pPr>
              <a:buNone/>
            </a:pPr>
            <a:r>
              <a:rPr lang="en-US" sz="1100"/>
              <a:t>Focus on the existing task: What do you notice?</a:t>
            </a:r>
          </a:p>
          <a:p>
            <a:pPr>
              <a:buNone/>
            </a:pPr>
            <a:r>
              <a:rPr lang="en-US" sz="1100"/>
              <a:t>LAUNCH (T2/3/5): Allow quiet observation first. Separate a notice from an inference, invite students’ own questions, and follow the existing launch before teaching a procedure.</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p6:notes"/>
          <p:cNvSpPr txBox="1">
            <a:spLocks noGrp="1"/>
          </p:cNvSpPr>
          <p:nvPr>
            <p:ph type="body" idx="1"/>
          </p:nvPr>
        </p:nvSpPr>
        <p:spPr>
          <a:xfrm>
            <a:off x="701040" y="4444862"/>
            <a:ext cx="5608320" cy="3636705"/>
          </a:xfrm>
          <a:prstGeom prst="rect">
            <a:avLst/>
          </a:prstGeom>
        </p:spPr>
        <p:txBody>
          <a:bodyPr spcFirstLastPara="1" wrap="square" lIns="92275" tIns="46125" rIns="92275" bIns="46125" anchor="t" anchorCtr="0">
            <a:noAutofit/>
          </a:bodyPr>
          <a:lstStyle/>
          <a:p>
            <a:pPr>
              <a:buNone/>
            </a:pPr>
            <a:r>
              <a:rPr lang="en-US" sz="1100"/>
              <a:t>TEACH IN PRACTICE | Embedded facilitation | Lesson 6.1, slide 15 | VOCAB</a:t>
            </a:r>
          </a:p>
          <a:p>
            <a:pPr>
              <a:buNone/>
            </a:pPr>
            <a:r>
              <a:rPr lang="en-US" sz="1100"/>
              <a:t>Focus on the existing task: Vocabulary Today’s Math Words We…</a:t>
            </a:r>
          </a:p>
          <a:p>
            <a:pPr>
              <a:buNone/>
            </a:pPr>
            <a:r>
              <a:rPr lang="en-US" sz="1100"/>
              <a:t>ASK (T1/3/5): Where does “the displayed term” appear in the example? Explain the meaning without reading the definition. Partner: restate the idea and ask a clarifying question.</a:t>
            </a:r>
          </a:p>
          <a:p>
            <a:pPr>
              <a:buNone/>
            </a:pPr>
            <a:r>
              <a:rPr lang="en-US" sz="1100"/>
              <a:t>LOOK FOR: A correct connection between the word and a feature of the example. If the student only repeats the definition, invite pointing, sketching or oral rehearsal, then ask for another explanation of this same example.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spcBef>
                <a:spcPts val="0"/>
              </a:spcBef>
              <a:spcAft>
                <a:spcPts val="0"/>
              </a:spcAft>
              <a:buNone/>
            </a:pPr>
            <a:r>
              <a:t>Choral-read each word, its meaning, and what it looks like.</a:t>
            </a:r>
          </a:p>
          <a:p>
            <a:pPr marL="0" lvl="0" indent="0" algn="l" rtl="0">
              <a:spcBef>
                <a:spcPts val="0"/>
              </a:spcBef>
              <a:spcAft>
                <a:spcPts val="0"/>
              </a:spcAft>
              <a:buNone/>
            </a:pPr>
            <a:r>
              <a:t>Students should use these words out loud today — listen for them in partner talk and revoice student ideas with the academic term.</a:t>
            </a:r>
          </a:p>
          <a:p>
            <a:pPr marL="0" lvl="0" indent="0" algn="l" rtl="0">
              <a:spcBef>
                <a:spcPts val="0"/>
              </a:spcBef>
              <a:spcAft>
                <a:spcPts val="0"/>
              </a:spcAft>
              <a:buNone/>
            </a:pPr>
            <a:r>
              <a:t>UIFR: TEACH 1 · TEACH 5.</a:t>
            </a:r>
          </a:p>
        </p:txBody>
      </p:sp>
      <p:sp>
        <p:nvSpPr>
          <p:cNvPr id="353" name="Google Shape;353;p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18: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16 | REVEAL</a:t>
            </a:r>
          </a:p>
          <a:p>
            <a:pPr>
              <a:buNone/>
            </a:pPr>
            <a:r>
              <a:rPr lang="en-US" sz="1100"/>
              <a:t>Focus on the existing task: What do you notice about the units of time used for the session and the activities?</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Students should have shared predictions before this reveal.</a:t>
            </a:r>
          </a:p>
          <a:p>
            <a:pPr marL="0" lvl="0" indent="0" algn="l" rtl="0">
              <a:lnSpc>
                <a:spcPct val="100000"/>
              </a:lnSpc>
              <a:spcBef>
                <a:spcPts val="0"/>
              </a:spcBef>
              <a:spcAft>
                <a:spcPts val="0"/>
              </a:spcAft>
              <a:buSzPts val="1400"/>
              <a:buNone/>
            </a:pPr>
            <a:r>
              <a:t>Have them compare their thinking to what is shown: “Is this the same as what we said? Where is it different?”</a:t>
            </a:r>
          </a:p>
          <a:p>
            <a:pPr marL="0" lvl="0" indent="0" algn="l" rtl="0">
              <a:lnSpc>
                <a:spcPct val="100000"/>
              </a:lnSpc>
              <a:spcBef>
                <a:spcPts val="0"/>
              </a:spcBef>
              <a:spcAft>
                <a:spcPts val="0"/>
              </a:spcAft>
              <a:buSzPts val="1400"/>
              <a:buNone/>
            </a:pPr>
            <a:r>
              <a:t>Press one student to explain the reveal in their own words.</a:t>
            </a:r>
          </a:p>
          <a:p>
            <a:pPr marL="0" lvl="0" indent="0" algn="l" rtl="0">
              <a:lnSpc>
                <a:spcPct val="100000"/>
              </a:lnSpc>
              <a:spcBef>
                <a:spcPts val="0"/>
              </a:spcBef>
              <a:spcAft>
                <a:spcPts val="0"/>
              </a:spcAft>
              <a:buSzPts val="1400"/>
              <a:buNone/>
            </a:pPr>
            <a:r>
              <a:t>UIFR: TEACH 3 · TEACH 4.</a:t>
            </a:r>
          </a:p>
          <a:p>
            <a:pPr>
              <a:buNone/>
            </a:pPr>
            <a:endParaRP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“What does the quotient count in this situation, and why is its size reasonable?” Wait for evidence, invite another pathway, and have a student ask a follow-up question. Do not replace students’ reasoning with a sequence of leading steps.</a:t>
            </a:r>
          </a:p>
        </p:txBody>
      </p:sp>
      <p:sp>
        <p:nvSpPr>
          <p:cNvPr id="580" name="Google Shape;580;p18: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21: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17 | REVEAL</a:t>
            </a:r>
          </a:p>
          <a:p>
            <a:pPr>
              <a:buNone/>
            </a:pPr>
            <a:r>
              <a:rPr lang="en-US" sz="1100"/>
              <a:t>Focus on the existing task: The sessions are 3 hours long. Each activity is 45 minutes long. The units of time are different. The session is measured in hours, and…</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We can divide the length of each activity, in minutes, by the number of minutes in an hour.</a:t>
            </a:r>
          </a:p>
          <a:p>
            <a:pPr marL="0" lvl="0" indent="0" algn="l" rtl="0">
              <a:lnSpc>
                <a:spcPct val="100000"/>
              </a:lnSpc>
              <a:spcBef>
                <a:spcPts val="0"/>
              </a:spcBef>
              <a:spcAft>
                <a:spcPts val="0"/>
              </a:spcAft>
              <a:buSzPts val="1400"/>
              <a:buNone/>
            </a:pPr>
            <a:r>
              <a:t>UIFR: TEACH 3 · TEACH 4.</a:t>
            </a:r>
          </a:p>
        </p:txBody>
      </p:sp>
      <p:sp>
        <p:nvSpPr>
          <p:cNvPr id="606" name="Google Shape;606;p21: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26: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18 | REVEAL</a:t>
            </a:r>
          </a:p>
          <a:p>
            <a:pPr>
              <a:buNone/>
            </a:pPr>
            <a:r>
              <a:rPr lang="en-US" sz="1100"/>
              <a:t>Focus on the existing task: Reveal: One tool is a tape diagram. STEM Camp</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One tool is a tape diagram.</a:t>
            </a:r>
          </a:p>
          <a:p>
            <a:pPr marL="0" lvl="0" indent="0" algn="l" rtl="0">
              <a:lnSpc>
                <a:spcPct val="100000"/>
              </a:lnSpc>
              <a:spcBef>
                <a:spcPts val="0"/>
              </a:spcBef>
              <a:spcAft>
                <a:spcPts val="0"/>
              </a:spcAft>
              <a:buSzPts val="1400"/>
              <a:buNone/>
            </a:pPr>
            <a:r>
              <a:t>UIFR: TEACH 3 · TEACH 4.</a:t>
            </a:r>
          </a:p>
        </p:txBody>
      </p:sp>
      <p:sp>
        <p:nvSpPr>
          <p:cNvPr id="652" name="Google Shape;652;p2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9"/>
        <p:cNvGrpSpPr/>
        <p:nvPr/>
      </p:nvGrpSpPr>
      <p:grpSpPr>
        <a:xfrm>
          <a:off x="0" y="0"/>
          <a:ext cx="0" cy="0"/>
          <a:chOff x="0" y="0"/>
          <a:chExt cx="0" cy="0"/>
        </a:xfrm>
      </p:grpSpPr>
      <p:sp>
        <p:nvSpPr>
          <p:cNvPr id="670" name="Google Shape;670;p28: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19 | REVEAL</a:t>
            </a:r>
          </a:p>
          <a:p>
            <a:pPr>
              <a:buNone/>
            </a:pPr>
            <a:r>
              <a:rPr lang="en-US" sz="1100"/>
              <a:t>Focus on the existing task: Reveal: We can divide the rectangles into fourths. STEM Camp</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We can divide the rectangles into fourths.</a:t>
            </a:r>
          </a:p>
          <a:p>
            <a:pPr marL="0" lvl="0" indent="0" algn="l" rtl="0">
              <a:lnSpc>
                <a:spcPct val="100000"/>
              </a:lnSpc>
              <a:spcBef>
                <a:spcPts val="0"/>
              </a:spcBef>
              <a:spcAft>
                <a:spcPts val="0"/>
              </a:spcAft>
              <a:buSzPts val="1400"/>
              <a:buNone/>
            </a:pPr>
            <a:r>
              <a:t>UIFR: TEACH 3 · TEACH 4.</a:t>
            </a:r>
          </a:p>
        </p:txBody>
      </p:sp>
      <p:sp>
        <p:nvSpPr>
          <p:cNvPr id="671" name="Google Shape;671;p28: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0"/>
        <p:cNvGrpSpPr/>
        <p:nvPr/>
      </p:nvGrpSpPr>
      <p:grpSpPr>
        <a:xfrm>
          <a:off x="0" y="0"/>
          <a:ext cx="0" cy="0"/>
          <a:chOff x="0" y="0"/>
          <a:chExt cx="0" cy="0"/>
        </a:xfrm>
      </p:grpSpPr>
      <p:sp>
        <p:nvSpPr>
          <p:cNvPr id="731" name="Google Shape;731;p34: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20 | TASK</a:t>
            </a:r>
          </a:p>
          <a:p>
            <a:pPr>
              <a:buNone/>
            </a:pPr>
            <a:r>
              <a:rPr lang="en-US" sz="1100"/>
              <a:t>Focus on the existing task: A summer science, technology, engineering, and math (STEM) summer camp has a 3-hour-long afternoon session. The campers choose from…</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Read the context aloud (or have a student read it).</a:t>
            </a:r>
          </a:p>
          <a:p>
            <a:pPr marL="0" lvl="0" indent="0" algn="l" rtl="0">
              <a:lnSpc>
                <a:spcPct val="100000"/>
              </a:lnSpc>
              <a:spcBef>
                <a:spcPts val="0"/>
              </a:spcBef>
              <a:spcAft>
                <a:spcPts val="0"/>
              </a:spcAft>
              <a:buSzPts val="1400"/>
              <a:buNone/>
            </a:pPr>
            <a:r>
              <a:t>Before any math, students restate the situation and what is being asked in their own words.</a:t>
            </a:r>
          </a:p>
          <a:p>
            <a:pPr marL="0" lvl="0" indent="0" algn="l" rtl="0">
              <a:lnSpc>
                <a:spcPct val="100000"/>
              </a:lnSpc>
              <a:spcBef>
                <a:spcPts val="0"/>
              </a:spcBef>
              <a:spcAft>
                <a:spcPts val="0"/>
              </a:spcAft>
              <a:buSzPts val="1400"/>
              <a:buNone/>
            </a:pPr>
            <a:r>
              <a:t>Ask: How many 45-minute activities can the campers complete in the 3-hour afternoon session?</a:t>
            </a:r>
          </a:p>
          <a:p>
            <a:pPr marL="0" lvl="0" indent="0" algn="l" rtl="0">
              <a:lnSpc>
                <a:spcPct val="100000"/>
              </a:lnSpc>
              <a:spcBef>
                <a:spcPts val="0"/>
              </a:spcBef>
              <a:spcAft>
                <a:spcPts val="0"/>
              </a:spcAft>
              <a:buSzPts val="1400"/>
              <a:buNone/>
            </a:pPr>
            <a:r>
              <a:t>UIFR: TEACH 1 · TEACH 3.</a:t>
            </a:r>
          </a:p>
        </p:txBody>
      </p:sp>
      <p:sp>
        <p:nvSpPr>
          <p:cNvPr id="732" name="Google Shape;732;p3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0"/>
        <p:cNvGrpSpPr/>
        <p:nvPr/>
      </p:nvGrpSpPr>
      <p:grpSpPr>
        <a:xfrm>
          <a:off x="0" y="0"/>
          <a:ext cx="0" cy="0"/>
          <a:chOff x="0" y="0"/>
          <a:chExt cx="0" cy="0"/>
        </a:xfrm>
      </p:grpSpPr>
      <p:sp>
        <p:nvSpPr>
          <p:cNvPr id="741" name="Google Shape;741;p35: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21 | PRACTICE</a:t>
            </a:r>
          </a:p>
          <a:p>
            <a:pPr>
              <a:buNone/>
            </a:pPr>
            <a:r>
              <a:rPr lang="en-US" sz="1100"/>
              <a:t>Focus on the existing task: Let’s Explore More The afternoon session begins at 1:00 pm. When does each of the 45-minute activities begin and end?</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connect the model to the equation.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Extension for partners or table groups — students choose their approach and use the workspace to show thinking.</a:t>
            </a:r>
          </a:p>
          <a:p>
            <a:pPr marL="0" lvl="0" indent="0" algn="l" rtl="0">
              <a:lnSpc>
                <a:spcPct val="100000"/>
              </a:lnSpc>
              <a:spcBef>
                <a:spcPts val="0"/>
              </a:spcBef>
              <a:spcAft>
                <a:spcPts val="0"/>
              </a:spcAft>
              <a:buSzPts val="1400"/>
              <a:buNone/>
            </a:pPr>
            <a:r>
              <a:t>Push with “Convince me,” and have two groups with different approaches share.</a:t>
            </a:r>
          </a:p>
          <a:p>
            <a:pPr marL="0" lvl="0" indent="0" algn="l" rtl="0">
              <a:lnSpc>
                <a:spcPct val="100000"/>
              </a:lnSpc>
              <a:spcBef>
                <a:spcPts val="0"/>
              </a:spcBef>
              <a:spcAft>
                <a:spcPts val="0"/>
              </a:spcAft>
              <a:buSzPts val="1400"/>
              <a:buNone/>
            </a:pPr>
            <a:r>
              <a:t>This is where students stretch past the worked example.</a:t>
            </a:r>
          </a:p>
          <a:p>
            <a:pPr marL="0" lvl="0" indent="0" algn="l" rtl="0">
              <a:lnSpc>
                <a:spcPct val="100000"/>
              </a:lnSpc>
              <a:spcBef>
                <a:spcPts val="0"/>
              </a:spcBef>
              <a:spcAft>
                <a:spcPts val="0"/>
              </a:spcAft>
              <a:buSzPts val="1400"/>
              <a:buNone/>
            </a:pPr>
            <a:r>
              <a:t>UIFR: TEACH 2 · TEACH 5.</a:t>
            </a:r>
          </a:p>
          <a:p>
            <a:pPr>
              <a:buNone/>
            </a:pPr>
            <a:endParaRP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assuming division always makes a quantity smaller. If it appears, label the whole, group size and number of groups on the original fraction model; then ask the student to revise the same response and explain the change. If evidence is secure, have students compare a second valid pathway or state why their approach works. Choose the next step from the responses, not a preset pace.</a:t>
            </a:r>
          </a:p>
        </p:txBody>
      </p:sp>
      <p:sp>
        <p:nvSpPr>
          <p:cNvPr id="742" name="Google Shape;742;p35: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22 | PRIOR_INSERT</a:t>
            </a:r>
          </a:p>
          <a:p>
            <a:pPr>
              <a:buNone/>
            </a:pPr>
            <a:r>
              <a:rPr lang="en-US" sz="1100"/>
              <a:t>Focus on the existing task: Point to evidence in your work. Then compare your approach with a partner’s. TAKE TURNS Explain “I know this because…” Ask “Where does your work show that?</a:t>
            </a:r>
          </a:p>
          <a:p>
            <a:pPr>
              <a:buNone/>
            </a:pPr>
            <a:r>
              <a:rPr lang="en-US" sz="1100"/>
              <a:t>CONNECT (T1/4): Ask students to restate the displayed goal or key idea and connect it to earlier work. Relevant lesson evidence: interpret division as groups or sharing; connect the model to the equation; check by multiplication.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a:pPr>
              <a:buNone/>
            </a:pPr>
            <a:r>
              <a:rPr lang="en-US" sz="1100"/>
              <a:t>TEACH IN PRACTICE | Embedded facilitation | Lesson 6.1, slide 23 | WARMUP</a:t>
            </a:r>
          </a:p>
          <a:p>
            <a:pPr>
              <a:buNone/>
            </a:pPr>
            <a:r>
              <a:rPr lang="en-US" sz="1100"/>
              <a:t>Focus on the existing task: A −4 B C 4 D 0.4 3 What is ÷ 3?</a:t>
            </a:r>
          </a:p>
          <a:p>
            <a:pPr>
              <a:buNone/>
            </a:pPr>
            <a:r>
              <a:rPr lang="en-US" sz="1100"/>
              <a:t>GATHER EVIDENCE (T4/6): Keep the original items. Students try independently, mark an uncertain item, and explain one method before checking. Use the existing key when present.</a:t>
            </a:r>
          </a:p>
          <a:p>
            <a:pPr>
              <a:buNone/>
            </a:pPr>
            <a:r>
              <a:rPr lang="en-US" sz="1100"/>
              <a:t>RESPOND: Distinguish a calculation slip from a reasoning gap. Give one next step on the same item; have students revise in a second color. Use the responses to choose flexible support for today’s lesson.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a:spLocks noGrp="1"/>
          </p:cNvSpPr>
          <p:nvPr>
            <p:ph type="body" idx="1"/>
          </p:nvPr>
        </p:nvSpPr>
        <p:spPr>
          <a:xfrm>
            <a:off x="701040" y="4444862"/>
            <a:ext cx="5608320" cy="3636705"/>
          </a:xfrm>
          <a:prstGeom prst="rect">
            <a:avLst/>
          </a:prstGeom>
          <a:noFill/>
          <a:ln>
            <a:noFill/>
          </a:ln>
        </p:spPr>
        <p:txBody>
          <a:bodyPr wrap="square" anchor="t">
            <a:noAutofit/>
          </a:bodyPr>
          <a:lstStyle/>
          <a:p>
            <a:pPr>
              <a:buNone/>
            </a:pPr>
            <a:r>
              <a:rPr lang="en-US" sz="1100"/>
              <a:t>TEACH IN PRACTICE | Embedded facilitation | Lesson 6.1, slide 24 | NOTES</a:t>
            </a:r>
          </a:p>
          <a:p>
            <a:pPr>
              <a:buNone/>
            </a:pPr>
            <a:r>
              <a:rPr lang="en-US" sz="1100"/>
              <a:t>Focus on the existing task: Review Notes — Session 2 Session 2…</a:t>
            </a:r>
          </a:p>
          <a:p>
            <a:pPr>
              <a:buNone/>
            </a:pPr>
            <a:r>
              <a:rPr lang="en-US" sz="1100"/>
              <a:t>ROUTINE (T1/2/4): Read or copy the original notes, cover one line, and explain it using the displayed example. Reopen and correct. Copying alone is not evidence of understanding.</a:t>
            </a:r>
          </a:p>
          <a:p>
            <a:pPr>
              <a:buNone/>
            </a:pPr>
            <a:r>
              <a:rPr lang="en-US" sz="1100"/>
              <a:t>LOOK FOR: A link between a symbol, quantity or feature and the explanation. If missing, point back to that feature and have the student try again; fade the prompt once they can explain.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p36: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25 | DIVIDER</a:t>
            </a:r>
          </a:p>
          <a:p>
            <a:pPr>
              <a:buNone/>
            </a:pPr>
            <a:r>
              <a:rPr lang="en-US" sz="1100"/>
              <a:t>Focus on the existing task: Division Expressions with Fractions and Whole Numbers Session 2</a:t>
            </a:r>
          </a:p>
          <a:p>
            <a:pPr>
              <a:buNone/>
            </a:pPr>
            <a:r>
              <a:rPr lang="en-US" sz="1100"/>
              <a:t>TRANSITION (T6/7): Students confirm materials, roles, how to request help, and the next response routine. Ask a student to restate it. Keep teacher-only slides hidden.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Transition cue: state what materials are out and what success looks like this session.</a:t>
            </a:r>
          </a:p>
          <a:p>
            <a:pPr marL="0" lvl="0" indent="0" algn="l" rtl="0">
              <a:lnSpc>
                <a:spcPct val="100000"/>
              </a:lnSpc>
              <a:spcBef>
                <a:spcPts val="0"/>
              </a:spcBef>
              <a:spcAft>
                <a:spcPts val="0"/>
              </a:spcAft>
              <a:buSzPts val="1400"/>
              <a:buNone/>
            </a:pPr>
            <a:r>
              <a:t>Keep the changeover under a minute.</a:t>
            </a:r>
          </a:p>
          <a:p>
            <a:pPr marL="0" lvl="0" indent="0" algn="l" rtl="0">
              <a:lnSpc>
                <a:spcPct val="100000"/>
              </a:lnSpc>
              <a:spcBef>
                <a:spcPts val="0"/>
              </a:spcBef>
              <a:spcAft>
                <a:spcPts val="0"/>
              </a:spcAft>
              <a:buSzPts val="1400"/>
              <a:buNone/>
            </a:pPr>
            <a:r>
              <a:t>UIFR: TEACH 6.</a:t>
            </a:r>
          </a:p>
        </p:txBody>
      </p:sp>
      <p:sp>
        <p:nvSpPr>
          <p:cNvPr id="748" name="Google Shape;748;p36: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3"/>
        <p:cNvGrpSpPr/>
        <p:nvPr/>
      </p:nvGrpSpPr>
      <p:grpSpPr>
        <a:xfrm>
          <a:off x="0" y="0"/>
          <a:ext cx="0" cy="0"/>
          <a:chOff x="0" y="0"/>
          <a:chExt cx="0" cy="0"/>
        </a:xfrm>
      </p:grpSpPr>
      <p:sp>
        <p:nvSpPr>
          <p:cNvPr id="764" name="Google Shape;764;p38: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26 | CURIOUS</a:t>
            </a:r>
          </a:p>
          <a:p>
            <a:pPr>
              <a:buNone/>
            </a:pPr>
            <a:r>
              <a:rPr lang="en-US" sz="1100"/>
              <a:t>Focus on the existing task: What do you notice?</a:t>
            </a:r>
          </a:p>
          <a:p>
            <a:pPr>
              <a:buNone/>
            </a:pPr>
            <a:r>
              <a:rPr lang="en-US" sz="1100"/>
              <a:t>LAUNCH (T2/3/5): Allow quiet observation first. Separate a notice from an inference, invite students’ own questions, and follow the existing launch before teaching a procedure.</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Accept all noticings and wonderings — there are no wrong answers here.</a:t>
            </a:r>
          </a:p>
          <a:p>
            <a:pPr marL="0" lvl="0" indent="0" algn="l" rtl="0">
              <a:lnSpc>
                <a:spcPct val="100000"/>
              </a:lnSpc>
              <a:spcBef>
                <a:spcPts val="0"/>
              </a:spcBef>
              <a:spcAft>
                <a:spcPts val="0"/>
              </a:spcAft>
              <a:buSzPts val="1400"/>
              <a:buNone/>
            </a:pPr>
            <a:r>
              <a:t>Give 20–30 seconds of quiet think time before taking responses; mix cold and warm calls so it is not always the same voices.</a:t>
            </a:r>
          </a:p>
          <a:p>
            <a:pPr marL="0" lvl="0" indent="0" algn="l" rtl="0">
              <a:lnSpc>
                <a:spcPct val="100000"/>
              </a:lnSpc>
              <a:spcBef>
                <a:spcPts val="0"/>
              </a:spcBef>
              <a:spcAft>
                <a:spcPts val="0"/>
              </a:spcAft>
              <a:buSzPts val="1400"/>
              <a:buNone/>
            </a:pPr>
            <a:r>
              <a:t>Read the mindset question aloud and let two students respond.</a:t>
            </a:r>
          </a:p>
          <a:p>
            <a:pPr marL="0" lvl="0" indent="0" algn="l" rtl="0">
              <a:lnSpc>
                <a:spcPct val="100000"/>
              </a:lnSpc>
              <a:spcBef>
                <a:spcPts val="0"/>
              </a:spcBef>
              <a:spcAft>
                <a:spcPts val="0"/>
              </a:spcAft>
              <a:buSzPts val="1400"/>
              <a:buNone/>
            </a:pPr>
            <a:r>
              <a:t>UIFR: TEACH 3 · TEACH 7.</a:t>
            </a:r>
          </a:p>
        </p:txBody>
      </p:sp>
      <p:sp>
        <p:nvSpPr>
          <p:cNvPr id="765" name="Google Shape;765;p38: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p40: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27 | TASK</a:t>
            </a:r>
          </a:p>
          <a:p>
            <a:pPr>
              <a:buNone/>
            </a:pPr>
            <a:r>
              <a:rPr lang="en-US" sz="1100"/>
              <a:t>Focus on the existing task: Tahira bought the package of trail mix shown. She wants to make 3 snack bags of trail mix, each with the same amount of trail mix. How much trail mix will be in each bag?</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Read the context aloud (or have a student read it).</a:t>
            </a:r>
          </a:p>
          <a:p>
            <a:pPr marL="0" lvl="0" indent="0" algn="l" rtl="0">
              <a:lnSpc>
                <a:spcPct val="100000"/>
              </a:lnSpc>
              <a:spcBef>
                <a:spcPts val="0"/>
              </a:spcBef>
              <a:spcAft>
                <a:spcPts val="0"/>
              </a:spcAft>
              <a:buSzPts val="1400"/>
              <a:buNone/>
            </a:pPr>
            <a:r>
              <a:t>Before any math, students restate the situation and what is being asked in their own words.</a:t>
            </a:r>
          </a:p>
          <a:p>
            <a:pPr marL="0" lvl="0" indent="0" algn="l" rtl="0">
              <a:lnSpc>
                <a:spcPct val="100000"/>
              </a:lnSpc>
              <a:spcBef>
                <a:spcPts val="0"/>
              </a:spcBef>
              <a:spcAft>
                <a:spcPts val="0"/>
              </a:spcAft>
              <a:buSzPts val="1400"/>
              <a:buNone/>
            </a:pPr>
            <a:r>
              <a:t>Ask: How much trail mix will be in each bag?</a:t>
            </a:r>
          </a:p>
          <a:p>
            <a:pPr marL="0" lvl="0" indent="0" algn="l" rtl="0">
              <a:lnSpc>
                <a:spcPct val="100000"/>
              </a:lnSpc>
              <a:spcBef>
                <a:spcPts val="0"/>
              </a:spcBef>
              <a:spcAft>
                <a:spcPts val="0"/>
              </a:spcAft>
              <a:buSzPts val="1400"/>
              <a:buNone/>
            </a:pPr>
            <a:r>
              <a:t>UIFR: TEACH 1 · TEACH 3.</a:t>
            </a:r>
          </a:p>
        </p:txBody>
      </p:sp>
      <p:sp>
        <p:nvSpPr>
          <p:cNvPr id="786" name="Google Shape;786;p40: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p41: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28 | REVEAL</a:t>
            </a:r>
          </a:p>
          <a:p>
            <a:pPr>
              <a:buNone/>
            </a:pPr>
            <a:r>
              <a:rPr lang="en-US" sz="1100"/>
              <a:t>Focus on the existing task: Tahira bought the package of trail mix shown. She wants to make 3 snack bags of trail mix, each with the same amount of trail mix. How much trail mix will be in each bag?</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Students should have shared predictions before this reveal.</a:t>
            </a:r>
          </a:p>
          <a:p>
            <a:pPr marL="0" lvl="0" indent="0" algn="l" rtl="0">
              <a:lnSpc>
                <a:spcPct val="100000"/>
              </a:lnSpc>
              <a:spcBef>
                <a:spcPts val="0"/>
              </a:spcBef>
              <a:spcAft>
                <a:spcPts val="0"/>
              </a:spcAft>
              <a:buSzPts val="1400"/>
              <a:buNone/>
            </a:pPr>
            <a:r>
              <a:t>Have them compare their thinking to what is shown: “Is this the same as what we said? Where is it different?”</a:t>
            </a:r>
          </a:p>
          <a:p>
            <a:pPr marL="0" lvl="0" indent="0" algn="l" rtl="0">
              <a:lnSpc>
                <a:spcPct val="100000"/>
              </a:lnSpc>
              <a:spcBef>
                <a:spcPts val="0"/>
              </a:spcBef>
              <a:spcAft>
                <a:spcPts val="0"/>
              </a:spcAft>
              <a:buSzPts val="1400"/>
              <a:buNone/>
            </a:pPr>
            <a:r>
              <a:t>Press one student to explain the reveal in their own words.</a:t>
            </a:r>
          </a:p>
          <a:p>
            <a:pPr marL="0" lvl="0" indent="0" algn="l" rtl="0">
              <a:lnSpc>
                <a:spcPct val="100000"/>
              </a:lnSpc>
              <a:spcBef>
                <a:spcPts val="0"/>
              </a:spcBef>
              <a:spcAft>
                <a:spcPts val="0"/>
              </a:spcAft>
              <a:buSzPts val="1400"/>
              <a:buNone/>
            </a:pPr>
            <a:r>
              <a:t>UIFR: TEACH 3 · TEACH 4.</a:t>
            </a:r>
          </a:p>
        </p:txBody>
      </p:sp>
      <p:sp>
        <p:nvSpPr>
          <p:cNvPr id="797" name="Google Shape;797;p41: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2"/>
        <p:cNvGrpSpPr/>
        <p:nvPr/>
      </p:nvGrpSpPr>
      <p:grpSpPr>
        <a:xfrm>
          <a:off x="0" y="0"/>
          <a:ext cx="0" cy="0"/>
          <a:chOff x="0" y="0"/>
          <a:chExt cx="0" cy="0"/>
        </a:xfrm>
      </p:grpSpPr>
      <p:sp>
        <p:nvSpPr>
          <p:cNvPr id="823" name="Google Shape;823;p44: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29 | REVEAL</a:t>
            </a:r>
          </a:p>
          <a:p>
            <a:pPr>
              <a:buNone/>
            </a:pPr>
            <a:r>
              <a:rPr lang="en-US" sz="1100"/>
              <a:t>Focus on the existing task: Tahira bought the package of trail mix shown. She wants to make 3 snack bags of trail mix, each with the same amount of trail mix. How much trail mix will be in each bag?</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One tool is a tape diagram.</a:t>
            </a:r>
          </a:p>
          <a:p>
            <a:pPr marL="0" lvl="0" indent="0" algn="l" rtl="0">
              <a:lnSpc>
                <a:spcPct val="100000"/>
              </a:lnSpc>
              <a:spcBef>
                <a:spcPts val="0"/>
              </a:spcBef>
              <a:spcAft>
                <a:spcPts val="0"/>
              </a:spcAft>
              <a:buSzPts val="1400"/>
              <a:buNone/>
            </a:pPr>
            <a:r>
              <a:t>UIFR: TEACH 3 · TEACH 4.</a:t>
            </a:r>
          </a:p>
        </p:txBody>
      </p:sp>
      <p:sp>
        <p:nvSpPr>
          <p:cNvPr id="824" name="Google Shape;824;p4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9"/>
        <p:cNvGrpSpPr/>
        <p:nvPr/>
      </p:nvGrpSpPr>
      <p:grpSpPr>
        <a:xfrm>
          <a:off x="0" y="0"/>
          <a:ext cx="0" cy="0"/>
          <a:chOff x="0" y="0"/>
          <a:chExt cx="0" cy="0"/>
        </a:xfrm>
      </p:grpSpPr>
      <p:sp>
        <p:nvSpPr>
          <p:cNvPr id="860" name="Google Shape;860;p48: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30 | COLLABORATE</a:t>
            </a:r>
          </a:p>
          <a:p>
            <a:pPr>
              <a:buNone/>
            </a:pPr>
            <a:r>
              <a:rPr lang="en-US" sz="1100"/>
              <a:t>Focus on the existing task: Collaborate and Connect Reveal: We can divide each third into 3 equal parts, resulting in 6 shaded parts. Two of the 6 shaded parts…</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connect the model to the equation.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a:t>Routine: COLLABORATE  ·  TALK IT THROUGH • AGREE ON A MODEL</a:t>
            </a:r>
          </a:p>
        </p:txBody>
      </p:sp>
      <p:sp>
        <p:nvSpPr>
          <p:cNvPr id="861" name="Google Shape;861;p48: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6"/>
        <p:cNvGrpSpPr/>
        <p:nvPr/>
      </p:nvGrpSpPr>
      <p:grpSpPr>
        <a:xfrm>
          <a:off x="0" y="0"/>
          <a:ext cx="0" cy="0"/>
          <a:chOff x="0" y="0"/>
          <a:chExt cx="0" cy="0"/>
        </a:xfrm>
      </p:grpSpPr>
      <p:sp>
        <p:nvSpPr>
          <p:cNvPr id="897" name="Google Shape;897;p52: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31 | REVEAL</a:t>
            </a:r>
          </a:p>
          <a:p>
            <a:pPr>
              <a:buNone/>
            </a:pPr>
            <a:r>
              <a:rPr lang="en-US" sz="1100"/>
              <a:t>Focus on the existing task: Reveal: We can use a division equation. Trail Mix</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We can use a division equation.</a:t>
            </a:r>
          </a:p>
          <a:p>
            <a:pPr marL="0" lvl="0" indent="0" algn="l" rtl="0">
              <a:lnSpc>
                <a:spcPct val="100000"/>
              </a:lnSpc>
              <a:spcBef>
                <a:spcPts val="0"/>
              </a:spcBef>
              <a:spcAft>
                <a:spcPts val="0"/>
              </a:spcAft>
              <a:buSzPts val="1400"/>
              <a:buNone/>
            </a:pPr>
            <a:r>
              <a:t>UIFR: TEACH 3 · TEACH 4.</a:t>
            </a:r>
          </a:p>
        </p:txBody>
      </p:sp>
      <p:sp>
        <p:nvSpPr>
          <p:cNvPr id="898" name="Google Shape;898;p52: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4"/>
        <p:cNvGrpSpPr/>
        <p:nvPr/>
      </p:nvGrpSpPr>
      <p:grpSpPr>
        <a:xfrm>
          <a:off x="0" y="0"/>
          <a:ext cx="0" cy="0"/>
          <a:chOff x="0" y="0"/>
          <a:chExt cx="0" cy="0"/>
        </a:xfrm>
      </p:grpSpPr>
      <p:sp>
        <p:nvSpPr>
          <p:cNvPr id="915" name="Google Shape;915;p54: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32 | REVEAL</a:t>
            </a:r>
          </a:p>
          <a:p>
            <a:pPr>
              <a:buNone/>
            </a:pPr>
            <a:r>
              <a:rPr lang="en-US" sz="1100"/>
              <a:t>Focus on the existing task: Let’s use an equation to represent the problem. How can you determine the unknown value?</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connect the model to the equation.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Do not click yet: collect 2–3 student answers with reasons first.</a:t>
            </a:r>
          </a:p>
          <a:p>
            <a:pPr marL="0" lvl="0" indent="0" algn="l" rtl="0">
              <a:lnSpc>
                <a:spcPct val="100000"/>
              </a:lnSpc>
              <a:spcBef>
                <a:spcPts val="0"/>
              </a:spcBef>
              <a:spcAft>
                <a:spcPts val="0"/>
              </a:spcAft>
              <a:buSzPts val="1400"/>
              <a:buNone/>
            </a:pPr>
            <a:r>
              <a:t>Then click to remove the cover and have students compare their thinking to the reveal — “Is this what we said? Where is it different?”</a:t>
            </a:r>
          </a:p>
          <a:p>
            <a:pPr marL="0" lvl="0" indent="0" algn="l" rtl="0">
              <a:lnSpc>
                <a:spcPct val="100000"/>
              </a:lnSpc>
              <a:spcBef>
                <a:spcPts val="0"/>
              </a:spcBef>
              <a:spcAft>
                <a:spcPts val="0"/>
              </a:spcAft>
              <a:buSzPts val="1400"/>
              <a:buNone/>
            </a:pPr>
            <a:r>
              <a:t>Behind the cover: We can use multiplication.</a:t>
            </a:r>
          </a:p>
          <a:p>
            <a:pPr marL="0" lvl="0" indent="0" algn="l" rtl="0">
              <a:lnSpc>
                <a:spcPct val="100000"/>
              </a:lnSpc>
              <a:spcBef>
                <a:spcPts val="0"/>
              </a:spcBef>
              <a:spcAft>
                <a:spcPts val="0"/>
              </a:spcAft>
              <a:buSzPts val="1400"/>
              <a:buNone/>
            </a:pPr>
            <a:r>
              <a:t>UIFR: TEACH 3 · TEACH 4.</a:t>
            </a:r>
          </a:p>
        </p:txBody>
      </p:sp>
      <p:sp>
        <p:nvSpPr>
          <p:cNvPr id="916" name="Google Shape;916;p54: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p58: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33 | TASK</a:t>
            </a:r>
          </a:p>
          <a:p>
            <a:pPr>
              <a:buNone/>
            </a:pPr>
            <a:r>
              <a:rPr lang="en-US" sz="1100"/>
              <a:t>Focus on the existing task: Tahira bought the package of trail mix shown. She wants to make 3 snack bags of trail mix, each with the same amount of trail mix. How much trail mix will be in each bag?</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Read the context aloud (or have a student read it).</a:t>
            </a:r>
          </a:p>
          <a:p>
            <a:pPr marL="0" lvl="0" indent="0" algn="l" rtl="0">
              <a:lnSpc>
                <a:spcPct val="100000"/>
              </a:lnSpc>
              <a:spcBef>
                <a:spcPts val="0"/>
              </a:spcBef>
              <a:spcAft>
                <a:spcPts val="0"/>
              </a:spcAft>
              <a:buSzPts val="1400"/>
              <a:buNone/>
            </a:pPr>
            <a:r>
              <a:t>Before any math, students restate the situation and what is being asked in their own words.</a:t>
            </a:r>
          </a:p>
          <a:p>
            <a:pPr marL="0" lvl="0" indent="0" algn="l" rtl="0">
              <a:lnSpc>
                <a:spcPct val="100000"/>
              </a:lnSpc>
              <a:spcBef>
                <a:spcPts val="0"/>
              </a:spcBef>
              <a:spcAft>
                <a:spcPts val="0"/>
              </a:spcAft>
              <a:buSzPts val="1400"/>
              <a:buNone/>
            </a:pPr>
            <a:r>
              <a:t>Ask: How much trail mix will be in each bag?</a:t>
            </a:r>
          </a:p>
          <a:p>
            <a:pPr marL="0" lvl="0" indent="0" algn="l" rtl="0">
              <a:lnSpc>
                <a:spcPct val="100000"/>
              </a:lnSpc>
              <a:spcBef>
                <a:spcPts val="0"/>
              </a:spcBef>
              <a:spcAft>
                <a:spcPts val="0"/>
              </a:spcAft>
              <a:buSzPts val="1400"/>
              <a:buNone/>
            </a:pPr>
            <a:r>
              <a:t>UIFR: TEACH 1 · TEACH 3.</a:t>
            </a:r>
          </a:p>
        </p:txBody>
      </p:sp>
      <p:sp>
        <p:nvSpPr>
          <p:cNvPr id="952" name="Google Shape;952;p58: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p59: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34 | PRACTICE</a:t>
            </a:r>
          </a:p>
          <a:p>
            <a:pPr>
              <a:buNone/>
            </a:pPr>
            <a:r>
              <a:rPr lang="en-US" sz="1100"/>
              <a:t>Focus on the existing task: Let’s Explore More How would the visual model change if Tahira decided to make 4 snack bags?</a:t>
            </a:r>
          </a:p>
          <a:p>
            <a:pPr>
              <a:buNone/>
            </a:pPr>
            <a:r>
              <a:rPr lang="en-US" sz="1100"/>
              <a:t>LAUNCH (T2/3/5): Use the displayed question. Give private thinking time; then A explains while B asks for evidence. Switch roles. Each student records their own reasoning.</a:t>
            </a:r>
          </a:p>
          <a:p>
            <a:pPr>
              <a:buNone/>
            </a:pPr>
            <a:r>
              <a:rPr lang="en-US" sz="1100"/>
              <a:t>LOOK FOR (T4): Where this task addresses it, students can connect the model to the equation.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Extension for partners or table groups — students choose their approach and use the workspace to show thinking.</a:t>
            </a:r>
          </a:p>
          <a:p>
            <a:pPr marL="0" lvl="0" indent="0" algn="l" rtl="0">
              <a:lnSpc>
                <a:spcPct val="100000"/>
              </a:lnSpc>
              <a:spcBef>
                <a:spcPts val="0"/>
              </a:spcBef>
              <a:spcAft>
                <a:spcPts val="0"/>
              </a:spcAft>
              <a:buSzPts val="1400"/>
              <a:buNone/>
            </a:pPr>
            <a:r>
              <a:t>Push with “Convince me,” and have two groups with different approaches share.</a:t>
            </a:r>
          </a:p>
          <a:p>
            <a:pPr marL="0" lvl="0" indent="0" algn="l" rtl="0">
              <a:lnSpc>
                <a:spcPct val="100000"/>
              </a:lnSpc>
              <a:spcBef>
                <a:spcPts val="0"/>
              </a:spcBef>
              <a:spcAft>
                <a:spcPts val="0"/>
              </a:spcAft>
              <a:buSzPts val="1400"/>
              <a:buNone/>
            </a:pPr>
            <a:r>
              <a:t>This is where students stretch past the worked example.</a:t>
            </a:r>
          </a:p>
          <a:p>
            <a:pPr marL="0" lvl="0" indent="0" algn="l" rtl="0">
              <a:lnSpc>
                <a:spcPct val="100000"/>
              </a:lnSpc>
              <a:spcBef>
                <a:spcPts val="0"/>
              </a:spcBef>
              <a:spcAft>
                <a:spcPts val="0"/>
              </a:spcAft>
              <a:buSzPts val="1400"/>
              <a:buNone/>
            </a:pPr>
            <a:r>
              <a:t>UIFR: TEACH 2 · TEACH 5.</a:t>
            </a:r>
          </a:p>
        </p:txBody>
      </p:sp>
      <p:sp>
        <p:nvSpPr>
          <p:cNvPr id="961" name="Google Shape;961;p59: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35 | PRIOR_INSERT</a:t>
            </a:r>
          </a:p>
          <a:p>
            <a:pPr>
              <a:buNone/>
            </a:pPr>
            <a:r>
              <a:rPr lang="en-US" sz="1100"/>
              <a:t>Focus on the existing task: LESSON 6.1 / CHECK YOUR WORK Pause. Check. Improve. Listen to understand. Ask for evidence. Make room for every voice. CHECK A mistake…</a:t>
            </a:r>
          </a:p>
          <a:p>
            <a:pPr>
              <a:buNone/>
            </a:pPr>
            <a:r>
              <a:rPr lang="en-US" sz="1100"/>
              <a:t>CONNECT (T1/4): Ask students to restate the displayed goal or key idea and connect it to earlier work. Relevant lesson evidence: interpret division as groups or sharing; connect the model to the equation; check by multiplication.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36 | REVEAL</a:t>
            </a:r>
          </a:p>
          <a:p>
            <a:pPr>
              <a:buNone/>
            </a:pPr>
            <a:r>
              <a:rPr lang="en-US" sz="1100"/>
              <a:t>Focus on the existing task: Let’s use an equation to represent the problem. How can you determine the unknown value?</a:t>
            </a:r>
          </a:p>
          <a:p>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a:pPr>
              <a:buNone/>
            </a:pPr>
            <a:r>
              <a:rPr lang="en-US" sz="1100"/>
              <a:t>LOOK FOR (T4): Where this task addresses it, students can connect the model to the equation.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p60: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37 | SUMMARIZE</a:t>
            </a:r>
          </a:p>
          <a:p>
            <a:pPr>
              <a:buNone/>
            </a:pPr>
            <a:r>
              <a:rPr lang="en-US" sz="1100"/>
              <a:t>Focus on the existing task: Summarize: Division Expressions with Fractions and Whole Numbers SUMMARIZE · SAY IT IN YOUR OWN WORDS</a:t>
            </a:r>
          </a:p>
          <a:p>
            <a:pPr>
              <a:buNone/>
            </a:pPr>
            <a:r>
              <a:rPr lang="en-US" sz="1100"/>
              <a:t>CONNECT (T1/4): Ask students to restate the displayed goal or key idea and connect it to earlier work. Relevant lesson evidence: interpret division as groups or sharing; connect the model to the equation; check by multiplication.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a:t>Routine: SUMMARIZE  ·  SAY IT IN YOUR OWN WORDS</a:t>
            </a:r>
          </a:p>
        </p:txBody>
      </p:sp>
      <p:sp>
        <p:nvSpPr>
          <p:cNvPr id="968" name="Google Shape;968;p60: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61: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38 | SUMMARIZE</a:t>
            </a:r>
          </a:p>
          <a:p>
            <a:pPr>
              <a:buNone/>
            </a:pPr>
            <a:r>
              <a:rPr lang="en-US" sz="1100"/>
              <a:t>Focus on the existing task: Summarize: Division Expressions with Fractions and Whole Numbers SUMMARIZE · SAY IT IN YOUR OWN WORDS</a:t>
            </a:r>
          </a:p>
          <a:p>
            <a:pPr>
              <a:buNone/>
            </a:pPr>
            <a:r>
              <a:rPr lang="en-US" sz="1100"/>
              <a:t>CONNECT (T1/4): Ask students to restate the displayed goal or key idea and connect it to earlier work. Relevant lesson evidence: interpret division as groups or sharing; connect the model to the equation; check by multiplication.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a:t>Routine: SUMMARIZE  ·  SAY IT IN YOUR OWN WORDS</a:t>
            </a:r>
          </a:p>
        </p:txBody>
      </p:sp>
      <p:sp>
        <p:nvSpPr>
          <p:cNvPr id="977" name="Google Shape;977;p61: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p62: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39 | APPLY</a:t>
            </a:r>
          </a:p>
          <a:p>
            <a:pPr>
              <a:buNone/>
            </a:pPr>
            <a:r>
              <a:rPr lang="en-US" sz="1100"/>
              <a:t>Focus on the existing task: Andrew has four types of nuts and a different quantity of each type. He wants to make 4 snack bags for each type of nut and will not mix…</a:t>
            </a:r>
          </a:p>
          <a:p>
            <a:pPr>
              <a:buNone/>
            </a:pPr>
            <a:r>
              <a:rPr lang="en-US" sz="1100"/>
              <a:t>LAUNCH (T2/3/5): Use the exact application task independently first. Ask students to justify their choice of method. Collect evidence before a partner discussion or correction.</a:t>
            </a:r>
          </a:p>
          <a:p>
            <a:pPr>
              <a:buNone/>
            </a:pPr>
            <a:r>
              <a:rPr lang="en-US" sz="1100"/>
              <a:t>LOOK FOR (T4): Where this task addresses it, students can interpret division as groups or sharing. Ask which feature of their work supports the claim.</a:t>
            </a:r>
          </a:p>
          <a:p>
            <a:pPr>
              <a:buNone/>
            </a:pPr>
            <a:r>
              <a:rPr lang="en-US" sz="1100"/>
              <a:t>RESPOND: If this task shows the lesson misconception—assuming division always makes a quantity smaller—label the whole, group size and number of groups on the original fraction model. Have the student revise and explain the change. Use this support only where the concept occurs in the current task; otherwise respond to the displayed question.</a:t>
            </a:r>
          </a:p>
          <a:p>
            <a:pPr>
              <a:buNone/>
            </a:pPr>
            <a:r>
              <a:rPr lang="en-US" sz="1100"/>
              <a:t>RECHECK: If a gap is shared, revisit the existing representation together. If it is limited, give targeted support while others compare valid methods on the same task. Check the revision before moving on.</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endParaRPr/>
          </a:p>
          <a:p>
            <a:r>
              <a:rPr lang="en-US"/>
              <a:t>Routine: APPLY  ·  PLAN IT • SOLVE IT • PROVE IT</a:t>
            </a:r>
          </a:p>
          <a:p>
            <a:pPr>
              <a:buNone/>
            </a:pPr>
            <a:endParaRPr lang="en-US"/>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interpret division as groups or sharing; connect the model to the equation; check by multiplication. Respond with one specific next step tied to the work. Students revise and annotate what changed, then identify a criterion they can now demonstrate and one they still need to practice.</a:t>
            </a:r>
          </a:p>
        </p:txBody>
      </p:sp>
      <p:sp>
        <p:nvSpPr>
          <p:cNvPr id="985" name="Google Shape;985;p62: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p63:notes"/>
          <p:cNvSpPr txBox="1">
            <a:spLocks noGrp="1"/>
          </p:cNvSpPr>
          <p:nvPr>
            <p:ph type="body" idx="1"/>
          </p:nvPr>
        </p:nvSpPr>
        <p:spPr>
          <a:xfrm>
            <a:off x="701040" y="4444862"/>
            <a:ext cx="5608320" cy="3636705"/>
          </a:xfrm>
          <a:prstGeom prst="rect">
            <a:avLst/>
          </a:prstGeom>
          <a:noFill/>
          <a:ln>
            <a:noFill/>
          </a:ln>
        </p:spPr>
        <p:txBody>
          <a:bodyPr spcFirstLastPara="1" wrap="square" lIns="92275" tIns="46125" rIns="92275" bIns="46125" anchor="t" anchorCtr="0">
            <a:noAutofit/>
          </a:bodyPr>
          <a:lstStyle/>
          <a:p>
            <a:pPr>
              <a:buNone/>
            </a:pPr>
            <a:r>
              <a:rPr lang="en-US" sz="1100"/>
              <a:t>TEACH IN PRACTICE | Embedded facilitation | Lesson 6.1, slide 40 | REFLECTION</a:t>
            </a:r>
          </a:p>
          <a:p>
            <a:pPr>
              <a:buNone/>
            </a:pPr>
            <a:r>
              <a:rPr lang="en-US" sz="1100"/>
              <a:t>Focus on the existing task: I can use appropriate tools to divide whole numbers by fractions using fraction models. I can divide fractions by whole numbers using…</a:t>
            </a:r>
          </a:p>
          <a:p>
            <a:pPr>
              <a:buNone/>
            </a:pPr>
            <a:r>
              <a:rPr lang="en-US" sz="1100"/>
              <a:t>CONNECT (T1/4): Ask students to restate the displayed goal or key idea and connect it to earlier work. Relevant lesson evidence: interpret division as groups or sharing; connect the model to the equation; check by multiplication.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 Earlier notes and answer keys are retained below.</a:t>
            </a:r>
          </a:p>
          <a:p>
            <a:pPr>
              <a:buNone/>
            </a:pPr>
            <a:endParaRPr lang="en-US" sz="1100"/>
          </a:p>
          <a:p>
            <a:pPr>
              <a:buNone/>
            </a:pPr>
            <a:r>
              <a:rPr lang="en-US" sz="1100"/>
              <a:t>EARLIER NOTES / EXISTING ANSWER KEY</a:t>
            </a:r>
          </a:p>
          <a:p>
            <a:pPr marL="0" lvl="0" indent="0" algn="l" rtl="0">
              <a:lnSpc>
                <a:spcPct val="100000"/>
              </a:lnSpc>
              <a:spcBef>
                <a:spcPts val="0"/>
              </a:spcBef>
              <a:spcAft>
                <a:spcPts val="0"/>
              </a:spcAft>
              <a:buSzPts val="1400"/>
              <a:buNone/>
            </a:pPr>
            <a:r>
              <a:t>Read each target; students self-rate with fist-to-five or thumbs.</a:t>
            </a:r>
          </a:p>
          <a:p>
            <a:pPr marL="0" lvl="0" indent="0" algn="l" rtl="0">
              <a:lnSpc>
                <a:spcPct val="100000"/>
              </a:lnSpc>
              <a:spcBef>
                <a:spcPts val="0"/>
              </a:spcBef>
              <a:spcAft>
                <a:spcPts val="0"/>
              </a:spcAft>
              <a:buSzPts val="1400"/>
              <a:buNone/>
            </a:pPr>
            <a:r>
              <a:t>Tie back to the goal from the start of class: did we get there?</a:t>
            </a:r>
          </a:p>
          <a:p>
            <a:pPr marL="0" lvl="0" indent="0" algn="l" rtl="0">
              <a:lnSpc>
                <a:spcPct val="100000"/>
              </a:lnSpc>
              <a:spcBef>
                <a:spcPts val="0"/>
              </a:spcBef>
              <a:spcAft>
                <a:spcPts val="0"/>
              </a:spcAft>
              <a:buSzPts val="1400"/>
              <a:buNone/>
            </a:pPr>
            <a:r>
              <a:t>Note any target that rates low — revisit it tomorrow.</a:t>
            </a:r>
          </a:p>
          <a:p>
            <a:pPr marL="0" lvl="0" indent="0" algn="l" rtl="0">
              <a:lnSpc>
                <a:spcPct val="100000"/>
              </a:lnSpc>
              <a:spcBef>
                <a:spcPts val="0"/>
              </a:spcBef>
              <a:spcAft>
                <a:spcPts val="0"/>
              </a:spcAft>
              <a:buSzPts val="1400"/>
              <a:buNone/>
            </a:pPr>
            <a:r>
              <a:t>UIFR: TEACH 1 · TEACH 4.</a:t>
            </a:r>
          </a:p>
          <a:p>
            <a:pPr>
              <a:buNone/>
            </a:pPr>
            <a:endParaRP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assuming division always makes a quantity smaller.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the whole, group size and number of groups on the original fraction model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993" name="Google Shape;993;p63:notes"/>
          <p:cNvSpPr>
            <a:spLocks noGrp="1" noRot="1" noChangeAspect="1"/>
          </p:cNvSpPr>
          <p:nvPr>
            <p:ph type="sldImg" idx="2"/>
          </p:nvPr>
        </p:nvSpPr>
        <p:spPr>
          <a:xfrm>
            <a:off x="736600" y="1154113"/>
            <a:ext cx="5537200" cy="31162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Text"/>
          <p:cNvSpPr txBox="1">
            <a:spLocks noGrp="1"/>
          </p:cNvSpPr>
          <p:nvPr>
            <p:ph type="body" idx="1"/>
          </p:nvPr>
        </p:nvSpPr>
        <p:spPr/>
        <p:txBody>
          <a:bodyPr/>
          <a:lstStyle/>
          <a:p>
            <a:pPr>
              <a:buNone/>
            </a:pPr>
            <a:r>
              <a:rPr lang="en-US" sz="1100"/>
              <a:t>TEACH IN PRACTICE | Embedded facilitation | Lesson 6.1, slide 41 | PRIOR_INSERT</a:t>
            </a:r>
          </a:p>
          <a:p>
            <a:pPr>
              <a:buNone/>
            </a:pPr>
            <a:r>
              <a:rPr lang="en-US" sz="1100"/>
              <a:t>Focus on the existing task: LESSON 6.1 / REFLECT ON YOUR LEARNING Show your progress Listen to understand. Ask for evidence. Make room for every voice. 1 SHOW…</a:t>
            </a:r>
          </a:p>
          <a:p>
            <a:pPr>
              <a:buNone/>
            </a:pPr>
            <a:r>
              <a:rPr lang="en-US" sz="1100"/>
              <a:t>CONNECT (T1/4): Ask students to restate the displayed goal or key idea and connect it to earlier work. Relevant lesson evidence: interpret division as groups or sharing; connect the model to the equation; check by multiplication. Use only the criterion that matches the current session.</a:t>
            </a:r>
          </a:p>
          <a:p>
            <a:pPr>
              <a:buNone/>
            </a:pPr>
            <a:r>
              <a:rPr lang="en-US" sz="1100"/>
              <a:t>SHOW PROGRESS: Students point to their own existing work, explain what improved after feedback, and name a next step. Pair confidence ratings with actual evidence.</a:t>
            </a:r>
          </a:p>
          <a:p>
            <a:pPr>
              <a:buNone/>
            </a:pPr>
            <a:r>
              <a:rPr lang="en-US" sz="1100"/>
              <a:t>PARTICIPATION (T5/6/7): Think time before volunteers; accept a written, drawn or rehearsed entry. Students ask for evidence respectfully. Recognize a specific contribution or revision and check that both partners participate.</a:t>
            </a:r>
          </a:p>
          <a:p>
            <a:pPr>
              <a:buNone/>
            </a:pPr>
            <a:r>
              <a:rPr lang="en-US" sz="1100"/>
              <a:t>Source: BCPS Updated Instructional Framework Rubric (June 2020), TEACH 1–7.</a:t>
            </a:r>
          </a:p>
          <a:p>
            <a:pPr>
              <a:buNone/>
            </a:pPr>
            <a:endParaRPr lang="en-US" sz="1100"/>
          </a:p>
          <a:p>
            <a:endParaRPr lang="en-US" sz="11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Title Slide Photo">
  <p:cSld name="2_Title Slide Photo">
    <p:spTree>
      <p:nvGrpSpPr>
        <p:cNvPr id="1" name="Shape 15"/>
        <p:cNvGrpSpPr/>
        <p:nvPr/>
      </p:nvGrpSpPr>
      <p:grpSpPr>
        <a:xfrm>
          <a:off x="0" y="0"/>
          <a:ext cx="0" cy="0"/>
          <a:chOff x="0" y="0"/>
          <a:chExt cx="0" cy="0"/>
        </a:xfrm>
      </p:grpSpPr>
    </p:spTree>
  </p:cSld>
  <p:clrMapOvr>
    <a:masterClrMapping/>
  </p:clrMapOvr>
  <p:extLst>
    <p:ext uri="{DCECCB84-F9BA-43D5-87BE-67443E8EF086}">
      <p15:sldGuideLst xmlns:p15="http://schemas.microsoft.com/office/powerpoint/2012/main">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ntent 1-column">
  <p:cSld name="Content 1-column">
    <p:spTree>
      <p:nvGrpSpPr>
        <p:cNvPr id="1" name="Shape 16"/>
        <p:cNvGrpSpPr/>
        <p:nvPr/>
      </p:nvGrpSpPr>
      <p:grpSpPr>
        <a:xfrm>
          <a:off x="0" y="0"/>
          <a:ext cx="0" cy="0"/>
          <a:chOff x="0" y="0"/>
          <a:chExt cx="0" cy="0"/>
        </a:xfrm>
      </p:grpSpPr>
      <p:sp>
        <p:nvSpPr>
          <p:cNvPr id="17" name="Google Shape;17;p3"/>
          <p:cNvSpPr txBox="1">
            <a:spLocks noGrp="1"/>
          </p:cNvSpPr>
          <p:nvPr>
            <p:ph type="sldNum" idx="12"/>
          </p:nvPr>
        </p:nvSpPr>
        <p:spPr>
          <a:xfrm>
            <a:off x="10436045" y="6528815"/>
            <a:ext cx="1278151" cy="2286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19" name="Google Shape;19;p3"/>
          <p:cNvSpPr txBox="1">
            <a:spLocks noGrp="1"/>
          </p:cNvSpPr>
          <p:nvPr>
            <p:ph type="ftr" idx="11"/>
          </p:nvPr>
        </p:nvSpPr>
        <p:spPr>
          <a:xfrm>
            <a:off x="1402828" y="6528816"/>
            <a:ext cx="7315200" cy="2286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dk2"/>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Ovr>
    <a:masterClrMapping/>
  </p:clrMapOvr>
  <p:extLst>
    <p:ext uri="{DCECCB84-F9BA-43D5-87BE-67443E8EF086}">
      <p15:sldGuideLst xmlns:p15="http://schemas.microsoft.com/office/powerpoint/2012/main">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 name="Google Shape;29;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0" name="Google Shape;30;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36" name="Google Shape;36;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7" name="Google Shape;37;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1" name="Google Shape;41;p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2" name="Google Shape;42;p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43" name="Google Shape;43;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4" name="Google Shape;44;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5" name="Google Shape;45;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8" name="Google Shape;48;p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9" name="Google Shape;49;p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0" name="Google Shape;50;p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51" name="Google Shape;51;p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2" name="Google Shape;5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7" name="Google Shape;57;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8" name="Google Shape;58;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3" name="Google Shape;63;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4"/>
        <p:cNvGrpSpPr/>
        <p:nvPr/>
      </p:nvGrpSpPr>
      <p:grpSpPr>
        <a:xfrm>
          <a:off x="0" y="0"/>
          <a:ext cx="0" cy="0"/>
          <a:chOff x="0" y="0"/>
          <a:chExt cx="0" cy="0"/>
        </a:xfrm>
      </p:grpSpPr>
      <p:sp>
        <p:nvSpPr>
          <p:cNvPr id="65" name="Google Shape;65;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6" name="Google Shape;66;p1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7" name="Google Shape;67;p1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68" name="Google Shape;68;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9" name="Google Shape;69;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1"/>
        <p:cNvGrpSpPr/>
        <p:nvPr/>
      </p:nvGrpSpPr>
      <p:grpSpPr>
        <a:xfrm>
          <a:off x="0" y="0"/>
          <a:ext cx="0" cy="0"/>
          <a:chOff x="0" y="0"/>
          <a:chExt cx="0" cy="0"/>
        </a:xfrm>
      </p:grpSpPr>
      <p:sp>
        <p:nvSpPr>
          <p:cNvPr id="72" name="Google Shape;72;p1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3" name="Google Shape;73;p13"/>
          <p:cNvSpPr>
            <a:spLocks noGrp="1"/>
          </p:cNvSpPr>
          <p:nvPr>
            <p:ph type="pic" idx="2"/>
          </p:nvPr>
        </p:nvSpPr>
        <p:spPr>
          <a:xfrm>
            <a:off x="5183188" y="987425"/>
            <a:ext cx="6172200" cy="4873625"/>
          </a:xfrm>
          <a:prstGeom prst="rect">
            <a:avLst/>
          </a:prstGeom>
          <a:noFill/>
          <a:ln>
            <a:noFill/>
          </a:ln>
        </p:spPr>
      </p:sp>
      <p:sp>
        <p:nvSpPr>
          <p:cNvPr id="74" name="Google Shape;74;p1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75" name="Google Shape;7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6" name="Google Shape;7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7" name="Google Shape;7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8"/>
        <p:cNvGrpSpPr/>
        <p:nvPr/>
      </p:nvGrpSpPr>
      <p:grpSpPr>
        <a:xfrm>
          <a:off x="0" y="0"/>
          <a:ext cx="0" cy="0"/>
          <a:chOff x="0" y="0"/>
          <a:chExt cx="0" cy="0"/>
        </a:xfrm>
      </p:grpSpPr>
      <p:sp>
        <p:nvSpPr>
          <p:cNvPr id="79" name="Google Shape;7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0" name="Google Shape;80;p1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1" name="Google Shape;81;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4"/>
        <p:cNvGrpSpPr/>
        <p:nvPr/>
      </p:nvGrpSpPr>
      <p:grpSpPr>
        <a:xfrm>
          <a:off x="0" y="0"/>
          <a:ext cx="0" cy="0"/>
          <a:chOff x="0" y="0"/>
          <a:chExt cx="0" cy="0"/>
        </a:xfrm>
      </p:grpSpPr>
      <p:sp>
        <p:nvSpPr>
          <p:cNvPr id="85" name="Google Shape;85;p1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6" name="Google Shape;86;p1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7" name="Google Shape;8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8" name="Google Shape;8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6"/>
        <p:cNvGrpSpPr/>
        <p:nvPr/>
      </p:nvGrpSpPr>
      <p:grpSpPr>
        <a:xfrm>
          <a:off x="0" y="0"/>
          <a:ext cx="0" cy="0"/>
          <a:chOff x="0" y="0"/>
          <a:chExt cx="0" cy="0"/>
        </a:xfrm>
      </p:grpSpPr>
      <p:sp>
        <p:nvSpPr>
          <p:cNvPr id="97" name="Google Shape;97;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8" name="Google Shape;98;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9" name="Google Shape;99;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01"/>
        <p:cNvGrpSpPr/>
        <p:nvPr/>
      </p:nvGrpSpPr>
      <p:grpSpPr>
        <a:xfrm>
          <a:off x="0" y="0"/>
          <a:ext cx="0" cy="0"/>
          <a:chOff x="0" y="0"/>
          <a:chExt cx="0" cy="0"/>
        </a:xfrm>
      </p:grpSpPr>
      <p:sp>
        <p:nvSpPr>
          <p:cNvPr id="102" name="Google Shape;102;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3" name="Google Shape;103;p1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04" name="Google Shape;104;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5" name="Google Shape;105;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6" name="Google Shape;106;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9" name="Google Shape;109;p2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10" name="Google Shape;110;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1" name="Google Shape;111;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2" name="Google Shape;112;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13"/>
        <p:cNvGrpSpPr/>
        <p:nvPr/>
      </p:nvGrpSpPr>
      <p:grpSpPr>
        <a:xfrm>
          <a:off x="0" y="0"/>
          <a:ext cx="0" cy="0"/>
          <a:chOff x="0" y="0"/>
          <a:chExt cx="0" cy="0"/>
        </a:xfrm>
      </p:grpSpPr>
      <p:sp>
        <p:nvSpPr>
          <p:cNvPr id="114" name="Google Shape;114;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5" name="Google Shape;115;p2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6" name="Google Shape;116;p2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17" name="Google Shape;117;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8" name="Google Shape;118;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19" name="Google Shape;119;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2" name="Google Shape;122;p2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23" name="Google Shape;123;p2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4" name="Google Shape;124;p2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25" name="Google Shape;125;p2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6" name="Google Shape;126;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7" name="Google Shape;127;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8" name="Google Shape;128;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9"/>
        <p:cNvGrpSpPr/>
        <p:nvPr/>
      </p:nvGrpSpPr>
      <p:grpSpPr>
        <a:xfrm>
          <a:off x="0" y="0"/>
          <a:ext cx="0" cy="0"/>
          <a:chOff x="0" y="0"/>
          <a:chExt cx="0" cy="0"/>
        </a:xfrm>
      </p:grpSpPr>
      <p:sp>
        <p:nvSpPr>
          <p:cNvPr id="130" name="Google Shape;130;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1" name="Google Shape;131;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2" name="Google Shape;132;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3" name="Google Shape;133;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34"/>
        <p:cNvGrpSpPr/>
        <p:nvPr/>
      </p:nvGrpSpPr>
      <p:grpSpPr>
        <a:xfrm>
          <a:off x="0" y="0"/>
          <a:ext cx="0" cy="0"/>
          <a:chOff x="0" y="0"/>
          <a:chExt cx="0" cy="0"/>
        </a:xfrm>
      </p:grpSpPr>
      <p:sp>
        <p:nvSpPr>
          <p:cNvPr id="135" name="Google Shape;135;p2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6" name="Google Shape;136;p2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37" name="Google Shape;137;p2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38" name="Google Shape;138;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9" name="Google Shape;139;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0" name="Google Shape;140;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41"/>
        <p:cNvGrpSpPr/>
        <p:nvPr/>
      </p:nvGrpSpPr>
      <p:grpSpPr>
        <a:xfrm>
          <a:off x="0" y="0"/>
          <a:ext cx="0" cy="0"/>
          <a:chOff x="0" y="0"/>
          <a:chExt cx="0" cy="0"/>
        </a:xfrm>
      </p:grpSpPr>
      <p:sp>
        <p:nvSpPr>
          <p:cNvPr id="142" name="Google Shape;142;p2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3" name="Google Shape;143;p25"/>
          <p:cNvSpPr>
            <a:spLocks noGrp="1"/>
          </p:cNvSpPr>
          <p:nvPr>
            <p:ph type="pic" idx="2"/>
          </p:nvPr>
        </p:nvSpPr>
        <p:spPr>
          <a:xfrm>
            <a:off x="5183188" y="987425"/>
            <a:ext cx="6172200" cy="4873625"/>
          </a:xfrm>
          <a:prstGeom prst="rect">
            <a:avLst/>
          </a:prstGeom>
          <a:noFill/>
          <a:ln>
            <a:noFill/>
          </a:ln>
        </p:spPr>
      </p:sp>
      <p:sp>
        <p:nvSpPr>
          <p:cNvPr id="144" name="Google Shape;144;p2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145" name="Google Shape;145;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6" name="Google Shape;146;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7" name="Google Shape;147;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0" name="Google Shape;150;p2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1" name="Google Shape;151;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2" name="Google Shape;15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3" name="Google Shape;15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54"/>
        <p:cNvGrpSpPr/>
        <p:nvPr/>
      </p:nvGrpSpPr>
      <p:grpSpPr>
        <a:xfrm>
          <a:off x="0" y="0"/>
          <a:ext cx="0" cy="0"/>
          <a:chOff x="0" y="0"/>
          <a:chExt cx="0" cy="0"/>
        </a:xfrm>
      </p:grpSpPr>
      <p:sp>
        <p:nvSpPr>
          <p:cNvPr id="155" name="Google Shape;155;p2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6" name="Google Shape;156;p2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57" name="Google Shape;15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8" name="Google Shape;15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59" name="Google Shape;15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6"/>
        <p:cNvGrpSpPr/>
        <p:nvPr/>
      </p:nvGrpSpPr>
      <p:grpSpPr>
        <a:xfrm>
          <a:off x="0" y="0"/>
          <a:ext cx="0" cy="0"/>
          <a:chOff x="0" y="0"/>
          <a:chExt cx="0" cy="0"/>
        </a:xfrm>
      </p:grpSpPr>
      <p:sp>
        <p:nvSpPr>
          <p:cNvPr id="167" name="Google Shape;167;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8" name="Google Shape;168;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9" name="Google Shape;16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0" name="Google Shape;17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1" name="Google Shape;17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2"/>
        <p:cNvGrpSpPr/>
        <p:nvPr/>
      </p:nvGrpSpPr>
      <p:grpSpPr>
        <a:xfrm>
          <a:off x="0" y="0"/>
          <a:ext cx="0" cy="0"/>
          <a:chOff x="0" y="0"/>
          <a:chExt cx="0" cy="0"/>
        </a:xfrm>
      </p:grpSpPr>
      <p:sp>
        <p:nvSpPr>
          <p:cNvPr id="173" name="Google Shape;173;p3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6000"/>
              <a:buFont typeface="Calibri"/>
              <a:buNone/>
              <a:defRPr sz="60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4" name="Google Shape;174;p3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1pPr>
            <a:lvl2pPr marL="914400" marR="0" lvl="1" indent="-228600" algn="l" rtl="0">
              <a:lnSpc>
                <a:spcPct val="90000"/>
              </a:lnSpc>
              <a:spcBef>
                <a:spcPts val="5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2pPr>
            <a:lvl3pPr marL="1371600" marR="0" lvl="2" indent="-228600" algn="l" rtl="0">
              <a:lnSpc>
                <a:spcPct val="90000"/>
              </a:lnSpc>
              <a:spcBef>
                <a:spcPts val="5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3pPr>
            <a:lvl4pPr marL="1828800" marR="0" lvl="3"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4pPr>
            <a:lvl5pPr marL="2286000" marR="0" lvl="4"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5pPr>
            <a:lvl6pPr marL="2743200" marR="0" lvl="5"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6pPr>
            <a:lvl7pPr marL="3200400" marR="0" lvl="6"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7pPr>
            <a:lvl8pPr marL="3657600" marR="0" lvl="7"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8pPr>
            <a:lvl9pPr marL="4114800" marR="0" lvl="8" indent="-228600" algn="l" rtl="0">
              <a:lnSpc>
                <a:spcPct val="90000"/>
              </a:lnSpc>
              <a:spcBef>
                <a:spcPts val="500"/>
              </a:spcBef>
              <a:spcAft>
                <a:spcPts val="0"/>
              </a:spcAft>
              <a:buClr>
                <a:srgbClr val="888888"/>
              </a:buClr>
              <a:buSzPts val="1600"/>
              <a:buFont typeface="Arial"/>
              <a:buNone/>
              <a:defRPr sz="1600" b="0" i="0" u="none" strike="noStrike" cap="none">
                <a:solidFill>
                  <a:srgbClr val="888888"/>
                </a:solidFill>
                <a:latin typeface="Calibri"/>
                <a:ea typeface="Calibri"/>
                <a:cs typeface="Calibri"/>
                <a:sym typeface="Calibri"/>
              </a:defRPr>
            </a:lvl9pPr>
          </a:lstStyle>
          <a:p>
            <a:endParaRPr/>
          </a:p>
        </p:txBody>
      </p:sp>
      <p:sp>
        <p:nvSpPr>
          <p:cNvPr id="175" name="Google Shape;17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6" name="Google Shape;17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7" name="Google Shape;17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8"/>
        <p:cNvGrpSpPr/>
        <p:nvPr/>
      </p:nvGrpSpPr>
      <p:grpSpPr>
        <a:xfrm>
          <a:off x="0" y="0"/>
          <a:ext cx="0" cy="0"/>
          <a:chOff x="0" y="0"/>
          <a:chExt cx="0" cy="0"/>
        </a:xfrm>
      </p:grpSpPr>
      <p:sp>
        <p:nvSpPr>
          <p:cNvPr id="179" name="Google Shape;179;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0" name="Google Shape;180;p3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1" name="Google Shape;181;p3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2" name="Google Shape;182;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3" name="Google Shape;183;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4" name="Google Shape;184;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85"/>
        <p:cNvGrpSpPr/>
        <p:nvPr/>
      </p:nvGrpSpPr>
      <p:grpSpPr>
        <a:xfrm>
          <a:off x="0" y="0"/>
          <a:ext cx="0" cy="0"/>
          <a:chOff x="0" y="0"/>
          <a:chExt cx="0" cy="0"/>
        </a:xfrm>
      </p:grpSpPr>
      <p:sp>
        <p:nvSpPr>
          <p:cNvPr id="186" name="Google Shape;186;p3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87" name="Google Shape;187;p3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88" name="Google Shape;188;p3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89" name="Google Shape;189;p3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Autofit/>
          </a:bodyPr>
          <a:lstStyle>
            <a:lvl1pPr marL="457200" marR="0" lvl="0" indent="-228600" algn="l" rtl="0">
              <a:lnSpc>
                <a:spcPct val="90000"/>
              </a:lnSpc>
              <a:spcBef>
                <a:spcPts val="1000"/>
              </a:spcBef>
              <a:spcAft>
                <a:spcPts val="0"/>
              </a:spcAft>
              <a:buClr>
                <a:schemeClr val="dk1"/>
              </a:buClr>
              <a:buSzPts val="2400"/>
              <a:buFont typeface="Arial"/>
              <a:buNone/>
              <a:defRPr sz="2400" b="1"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2000"/>
              <a:buFont typeface="Arial"/>
              <a:buNone/>
              <a:defRPr sz="2000" b="1"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800"/>
              <a:buFont typeface="Arial"/>
              <a:buNone/>
              <a:defRPr sz="1800" b="1"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190" name="Google Shape;190;p3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91" name="Google Shape;191;p3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2" name="Google Shape;192;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3" name="Google Shape;193;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4"/>
        <p:cNvGrpSpPr/>
        <p:nvPr/>
      </p:nvGrpSpPr>
      <p:grpSpPr>
        <a:xfrm>
          <a:off x="0" y="0"/>
          <a:ext cx="0" cy="0"/>
          <a:chOff x="0" y="0"/>
          <a:chExt cx="0" cy="0"/>
        </a:xfrm>
      </p:grpSpPr>
      <p:sp>
        <p:nvSpPr>
          <p:cNvPr id="195" name="Google Shape;195;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6" name="Google Shape;196;p3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7" name="Google Shape;197;p3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8" name="Google Shape;198;p3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99"/>
        <p:cNvGrpSpPr/>
        <p:nvPr/>
      </p:nvGrpSpPr>
      <p:grpSpPr>
        <a:xfrm>
          <a:off x="0" y="0"/>
          <a:ext cx="0" cy="0"/>
          <a:chOff x="0" y="0"/>
          <a:chExt cx="0" cy="0"/>
        </a:xfrm>
      </p:grpSpPr>
      <p:sp>
        <p:nvSpPr>
          <p:cNvPr id="200" name="Google Shape;200;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1" name="Google Shape;201;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2" name="Google Shape;202;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3"/>
        <p:cNvGrpSpPr/>
        <p:nvPr/>
      </p:nvGrpSpPr>
      <p:grpSpPr>
        <a:xfrm>
          <a:off x="0" y="0"/>
          <a:ext cx="0" cy="0"/>
          <a:chOff x="0" y="0"/>
          <a:chExt cx="0" cy="0"/>
        </a:xfrm>
      </p:grpSpPr>
      <p:sp>
        <p:nvSpPr>
          <p:cNvPr id="204" name="Google Shape;204;p3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5" name="Google Shape;205;p36"/>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90000"/>
              </a:lnSpc>
              <a:spcBef>
                <a:spcPts val="100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90000"/>
              </a:lnSpc>
              <a:spcBef>
                <a:spcPts val="5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6" name="Google Shape;206;p36"/>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07" name="Google Shape;207;p3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8" name="Google Shape;208;p3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9" name="Google Shape;209;p3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chemeClr val="dk1"/>
              </a:buClr>
              <a:buSzPts val="3200"/>
              <a:buFont typeface="Calibri"/>
              <a:buNone/>
              <a:defRPr sz="3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2" name="Google Shape;212;p37"/>
          <p:cNvSpPr>
            <a:spLocks noGrp="1"/>
          </p:cNvSpPr>
          <p:nvPr>
            <p:ph type="pic" idx="2"/>
          </p:nvPr>
        </p:nvSpPr>
        <p:spPr>
          <a:xfrm>
            <a:off x="5183188" y="987425"/>
            <a:ext cx="6172200" cy="4873625"/>
          </a:xfrm>
          <a:prstGeom prst="rect">
            <a:avLst/>
          </a:prstGeom>
          <a:noFill/>
          <a:ln>
            <a:noFill/>
          </a:ln>
        </p:spPr>
      </p:sp>
      <p:sp>
        <p:nvSpPr>
          <p:cNvPr id="213" name="Google Shape;213;p37"/>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1pPr>
            <a:lvl2pPr marL="914400" marR="0" lvl="1" indent="-228600" algn="l" rtl="0">
              <a:lnSpc>
                <a:spcPct val="90000"/>
              </a:lnSpc>
              <a:spcBef>
                <a:spcPts val="500"/>
              </a:spcBef>
              <a:spcAft>
                <a:spcPts val="0"/>
              </a:spcAft>
              <a:buClr>
                <a:schemeClr val="dk1"/>
              </a:buClr>
              <a:buSzPts val="1400"/>
              <a:buFont typeface="Arial"/>
              <a:buNone/>
              <a:defRPr sz="1400" b="0" i="0" u="none" strike="noStrike" cap="none">
                <a:solidFill>
                  <a:schemeClr val="dk1"/>
                </a:solidFill>
                <a:latin typeface="Calibri"/>
                <a:ea typeface="Calibri"/>
                <a:cs typeface="Calibri"/>
                <a:sym typeface="Calibri"/>
              </a:defRPr>
            </a:lvl2pPr>
            <a:lvl3pPr marL="1371600" marR="0" lvl="2" indent="-228600" algn="l" rtl="0">
              <a:lnSpc>
                <a:spcPct val="90000"/>
              </a:lnSpc>
              <a:spcBef>
                <a:spcPts val="500"/>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4pPr>
            <a:lvl5pPr marL="2286000" marR="0" lvl="4"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5pPr>
            <a:lvl6pPr marL="2743200" marR="0" lvl="5"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6pPr>
            <a:lvl7pPr marL="3200400" marR="0" lvl="6"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7pPr>
            <a:lvl8pPr marL="3657600" marR="0" lvl="7"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8pPr>
            <a:lvl9pPr marL="4114800" marR="0" lvl="8" indent="-228600" algn="l" rtl="0">
              <a:lnSpc>
                <a:spcPct val="90000"/>
              </a:lnSpc>
              <a:spcBef>
                <a:spcPts val="500"/>
              </a:spcBef>
              <a:spcAft>
                <a:spcPts val="0"/>
              </a:spcAft>
              <a:buClr>
                <a:schemeClr val="dk1"/>
              </a:buClr>
              <a:buSzPts val="1000"/>
              <a:buFont typeface="Arial"/>
              <a:buNone/>
              <a:defRPr sz="1000" b="0" i="0" u="none" strike="noStrike" cap="none">
                <a:solidFill>
                  <a:schemeClr val="dk1"/>
                </a:solidFill>
                <a:latin typeface="Calibri"/>
                <a:ea typeface="Calibri"/>
                <a:cs typeface="Calibri"/>
                <a:sym typeface="Calibri"/>
              </a:defRPr>
            </a:lvl9pPr>
          </a:lstStyle>
          <a:p>
            <a:endParaRPr/>
          </a:p>
        </p:txBody>
      </p:sp>
      <p:sp>
        <p:nvSpPr>
          <p:cNvPr id="214" name="Google Shape;214;p3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5" name="Google Shape;215;p3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16" name="Google Shape;216;p3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7"/>
        <p:cNvGrpSpPr/>
        <p:nvPr/>
      </p:nvGrpSpPr>
      <p:grpSpPr>
        <a:xfrm>
          <a:off x="0" y="0"/>
          <a:ext cx="0" cy="0"/>
          <a:chOff x="0" y="0"/>
          <a:chExt cx="0" cy="0"/>
        </a:xfrm>
      </p:grpSpPr>
      <p:sp>
        <p:nvSpPr>
          <p:cNvPr id="218" name="Google Shape;218;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9" name="Google Shape;219;p38"/>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0" name="Google Shape;220;p3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1" name="Google Shape;221;p3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2" name="Google Shape;222;p3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3"/>
        <p:cNvGrpSpPr/>
        <p:nvPr/>
      </p:nvGrpSpPr>
      <p:grpSpPr>
        <a:xfrm>
          <a:off x="0" y="0"/>
          <a:ext cx="0" cy="0"/>
          <a:chOff x="0" y="0"/>
          <a:chExt cx="0" cy="0"/>
        </a:xfrm>
      </p:grpSpPr>
      <p:sp>
        <p:nvSpPr>
          <p:cNvPr id="224" name="Google Shape;224;p39"/>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25" name="Google Shape;225;p39"/>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6" name="Google Shape;226;p3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7" name="Google Shape;227;p3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28" name="Google Shape;228;p3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rgbClr val="000000"/>
              </a:buClr>
              <a:buSzPts val="1800"/>
              <a:buFont typeface="Arial"/>
              <a:buNone/>
              <a:defRPr sz="1800" b="0" i="0" u="none" strike="noStrike" cap="none">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image" Target="../media/image1.png"/><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image" Target="../media/image1.png"/><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3.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image" Target="../media/image1.png"/><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4.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4">
            <a:alphaModFix/>
          </a:blip>
          <a:srcRect/>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Copyright © McGraw Hill</a:t>
            </a:r>
            <a:endParaRPr sz="1400" b="0" i="0" u="none" strike="noStrike" cap="none">
              <a:solidFill>
                <a:srgbClr val="000000"/>
              </a:solidFill>
              <a:latin typeface="Arial"/>
              <a:ea typeface="Arial"/>
              <a:cs typeface="Arial"/>
              <a:sym typeface="Arial"/>
            </a:endParaRPr>
          </a:p>
        </p:txBody>
      </p:sp>
      <p:pic>
        <p:nvPicPr>
          <p:cNvPr id="12" name="Google Shape;12;p1"/>
          <p:cNvPicPr preferRelativeResize="0"/>
          <p:nvPr/>
        </p:nvPicPr>
        <p:blipFill rotWithShape="1">
          <a:blip r:embed="rId5">
            <a:alphaModFix/>
          </a:blip>
          <a:srcRect/>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14" name="Google Shape;14;p1"/>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22" name="Google Shape;22;p4"/>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Division Expressions with Fractions and Whole Numbers</a:t>
            </a:r>
            <a:endParaRPr sz="1400" b="0" i="0" u="none" strike="noStrike" cap="non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92" name="Google Shape;92;p16"/>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93" name="Google Shape;93;p16"/>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pic>
        <p:nvPicPr>
          <p:cNvPr id="94" name="Google Shape;94;p16"/>
          <p:cNvPicPr preferRelativeResize="0"/>
          <p:nvPr/>
        </p:nvPicPr>
        <p:blipFill rotWithShape="1">
          <a:blip r:embed="rId13">
            <a:alphaModFix/>
          </a:blip>
          <a:srcRect/>
          <a:stretch/>
        </p:blipFill>
        <p:spPr>
          <a:xfrm>
            <a:off x="4896996" y="0"/>
            <a:ext cx="7295004" cy="1193294"/>
          </a:xfrm>
          <a:prstGeom prst="rect">
            <a:avLst/>
          </a:prstGeom>
          <a:noFill/>
          <a:ln>
            <a:noFill/>
          </a:ln>
        </p:spPr>
      </p:pic>
      <p:sp>
        <p:nvSpPr>
          <p:cNvPr id="95" name="Google Shape;95;p16"/>
          <p:cNvSpPr txBox="1"/>
          <p:nvPr/>
        </p:nvSpPr>
        <p:spPr>
          <a:xfrm>
            <a:off x="1385464" y="6528815"/>
            <a:ext cx="4694822" cy="3246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0" i="0" u="none" strike="noStrike" cap="none">
                <a:solidFill>
                  <a:schemeClr val="dk2"/>
                </a:solidFill>
                <a:latin typeface="Arial"/>
                <a:ea typeface="Arial"/>
                <a:cs typeface="Arial"/>
                <a:sym typeface="Arial"/>
              </a:rPr>
              <a:t>Division Expressions with Fractions and Whole Numbers</a:t>
            </a: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w="22225" cap="flat" cmpd="sng">
            <a:solidFill>
              <a:srgbClr val="BFBFBF"/>
            </a:solidFill>
            <a:prstDash val="solid"/>
            <a:miter lim="80"/>
            <a:headEnd type="none" w="sm" len="sm"/>
            <a:tailEnd type="none" w="sm" len="sm"/>
          </a:ln>
        </p:spPr>
      </p:cxnSp>
      <p:sp>
        <p:nvSpPr>
          <p:cNvPr id="162" name="Google Shape;162;p28"/>
          <p:cNvSpPr txBox="1"/>
          <p:nvPr/>
        </p:nvSpPr>
        <p:spPr>
          <a:xfrm>
            <a:off x="490549" y="6528815"/>
            <a:ext cx="1036320" cy="3246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900"/>
              <a:buFont typeface="Arial"/>
              <a:buNone/>
            </a:pPr>
            <a:r>
              <a:rPr lang="en-US" sz="900" b="1" i="0" u="none" strike="noStrike" cap="none">
                <a:solidFill>
                  <a:schemeClr val="dk2"/>
                </a:solidFill>
                <a:latin typeface="Arial"/>
                <a:ea typeface="Arial"/>
                <a:cs typeface="Arial"/>
                <a:sym typeface="Arial"/>
              </a:rPr>
              <a:t>McGraw Hill  </a:t>
            </a:r>
            <a:endParaRPr sz="900" b="0" i="0" u="none" strike="noStrike" cap="non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800"/>
              <a:buFont typeface="Arial"/>
              <a:buNone/>
            </a:pPr>
            <a:r>
              <a:rPr lang="en-US" sz="800" b="0" i="0" u="none" strike="noStrike" cap="none">
                <a:solidFill>
                  <a:srgbClr val="3F3F3F"/>
                </a:solidFill>
                <a:latin typeface="Arial"/>
                <a:ea typeface="Arial"/>
                <a:cs typeface="Arial"/>
                <a:sym typeface="Arial"/>
              </a:rPr>
              <a:t>This material may be reproduced for licensed classroom use only and may not be further reproduced or distributed.</a:t>
            </a:r>
            <a:endParaRPr sz="1400" b="0" i="0" u="none" strike="noStrike" cap="non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3">
            <a:alphaModFix/>
          </a:blip>
          <a:srcRect/>
          <a:stretch/>
        </p:blipFill>
        <p:spPr>
          <a:xfrm>
            <a:off x="4896996" y="0"/>
            <a:ext cx="7295004" cy="119329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9.xml"/><Relationship Id="rId1" Type="http://schemas.openxmlformats.org/officeDocument/2006/relationships/slideLayout" Target="../slideLayouts/slideLayout14.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4.xml"/><Relationship Id="rId4" Type="http://schemas.openxmlformats.org/officeDocument/2006/relationships/image" Target="../media/image1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0.xml"/><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3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3.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58"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9" name="TextBox 2"/>
          <p:cNvSpPr txBox="1"/>
          <p:nvPr/>
        </p:nvSpPr>
        <p:spPr>
          <a:xfrm>
            <a:off x="521207" y="877824"/>
            <a:ext cx="10881360" cy="274320"/>
          </a:xfrm>
          <a:prstGeom prst="rect">
            <a:avLst/>
          </a:prstGeom>
          <a:noFill/>
        </p:spPr>
        <p:txBody>
          <a:bodyPr wrap="square" lIns="0" tIns="0" rIns="0" bIns="0" anchor="t">
            <a:spAutoFit/>
          </a:bodyPr>
          <a:lstStyle/>
          <a:p>
            <a:pPr algn="l"/>
            <a:r>
              <a:rPr sz="1400" b="0">
                <a:solidFill>
                  <a:srgbClr val="5D6872"/>
                </a:solidFill>
                <a:latin typeface="Arial"/>
              </a:rPr>
              <a:t>Lesson 6-1 · Division Expressions with Fractions and Whole Numbers   |   Warm-Up · about 4 minutes</a:t>
            </a:r>
          </a:p>
        </p:txBody>
      </p:sp>
      <p:sp>
        <p:nvSpPr>
          <p:cNvPr id="260" name="UIFR_Routine_Label"/>
          <p:cNvSpPr txBox="1"/>
          <p:nvPr/>
        </p:nvSpPr>
        <p:spPr>
          <a:xfrm>
            <a:off x="502920" y="54864"/>
            <a:ext cx="6236208" cy="237744"/>
          </a:xfrm>
          <a:prstGeom prst="rect">
            <a:avLst/>
          </a:prstGeom>
          <a:noFill/>
        </p:spPr>
        <p:txBody>
          <a:bodyPr wrap="square" lIns="0" tIns="0" rIns="0" bIns="0" anchor="ctr">
            <a:noAutofit/>
          </a:bodyPr>
          <a:lstStyle/>
          <a:p>
            <a:pPr algn="l"/>
            <a:r>
              <a:rPr lang="en-US" sz="1150" b="1" dirty="0">
                <a:solidFill>
                  <a:srgbClr val="2D3A40"/>
                </a:solidFill>
                <a:latin typeface="Arial"/>
              </a:rPr>
              <a:t>WARM-UP  ·  THINK • TRY • CHECK</a:t>
            </a:r>
          </a:p>
        </p:txBody>
      </p:sp>
      <p:sp>
        <p:nvSpPr>
          <p:cNvPr id="261"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2"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4"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5"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4.8 ÷ 2 = ______</a:t>
            </a:r>
          </a:p>
        </p:txBody>
      </p:sp>
      <p:sp>
        <p:nvSpPr>
          <p:cNvPr id="266"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8"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9"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The reciprocal of 5 is ______</a:t>
            </a:r>
          </a:p>
        </p:txBody>
      </p:sp>
      <p:sp>
        <p:nvSpPr>
          <p:cNvPr id="270"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2"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3"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6 × 1/3 = ______</a:t>
            </a:r>
          </a:p>
        </p:txBody>
      </p:sp>
      <p:sp>
        <p:nvSpPr>
          <p:cNvPr id="274"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6"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7"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12/3 means 12 ÷ 3, so 12/3 = ______</a:t>
            </a:r>
          </a:p>
        </p:txBody>
      </p:sp>
      <p:sp>
        <p:nvSpPr>
          <p:cNvPr id="278"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9" name="UIFR Level 4 Move"/>
          <p:cNvSpPr txBox="1"/>
          <p:nvPr/>
        </p:nvSpPr>
        <p:spPr>
          <a:xfrm>
            <a:off x="6876288" y="73152"/>
            <a:ext cx="4416552" cy="365760"/>
          </a:xfrm>
          <a:prstGeom prst="roundRect">
            <a:avLst/>
          </a:prstGeom>
          <a:solidFill>
            <a:srgbClr val="1E2682"/>
          </a:solidFill>
          <a:ln>
            <a:noFill/>
          </a:ln>
        </p:spPr>
        <p:txBody>
          <a:bodyPr wrap="square" lIns="0" tIns="0" rIns="0" bIns="0" anchor="ctr">
            <a:noAutofit/>
          </a:bodyPr>
          <a:lstStyle/>
          <a:p>
            <a:pPr algn="ctr"/>
            <a:r>
              <a:rPr lang="en-US" sz="1000" b="1" dirty="0">
                <a:solidFill>
                  <a:srgbClr val="FFFFFF"/>
                </a:solidFill>
                <a:latin typeface="Arial"/>
              </a:rPr>
              <a:t>Turn and talk: compare strategies, then defend one.</a:t>
            </a:r>
          </a:p>
        </p:txBody>
      </p:sp>
      <p:sp>
        <p:nvSpPr>
          <p:cNvPr id="280"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 / 46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52"/>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9" name="Google Shape;499;p52"/>
          <p:cNvSpPr/>
          <p:nvPr/>
        </p:nvSpPr>
        <p:spPr>
          <a:xfrm>
            <a:off x="0" y="0"/>
            <a:ext cx="12191969" cy="713232"/>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0" name="Google Shape;500;p52"/>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Today’s Math Notes</a:t>
            </a:r>
            <a:endParaRPr/>
          </a:p>
        </p:txBody>
      </p:sp>
      <p:sp>
        <p:nvSpPr>
          <p:cNvPr id="501" name="Google Shape;501;p52"/>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200" b="0" i="0" u="none" strike="noStrike" cap="none">
                <a:solidFill>
                  <a:srgbClr val="FFFFFF"/>
                </a:solidFill>
                <a:latin typeface="Arial"/>
                <a:ea typeface="Arial"/>
                <a:cs typeface="Arial"/>
                <a:sym typeface="Arial"/>
              </a:rPr>
              <a:t>Lesson 6-1 · Division Expressions with Fractions and Whole Numbers</a:t>
            </a:r>
            <a:endParaRPr/>
          </a:p>
        </p:txBody>
      </p:sp>
      <p:sp>
        <p:nvSpPr>
          <p:cNvPr id="502" name="Google Shape;502;p52"/>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3" name="Google Shape;503;p52"/>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504" name="Google Shape;504;p52"/>
          <p:cNvSpPr txBox="1"/>
          <p:nvPr/>
        </p:nvSpPr>
        <p:spPr>
          <a:xfrm>
            <a:off x="640080" y="987552"/>
            <a:ext cx="10911809"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3000" b="1" i="0" u="none" strike="noStrike" cap="none">
                <a:solidFill>
                  <a:srgbClr val="14223A"/>
                </a:solidFill>
                <a:latin typeface="Arial"/>
                <a:ea typeface="Arial"/>
                <a:cs typeface="Arial"/>
                <a:sym typeface="Arial"/>
              </a:rPr>
              <a:t>Section 1: Math Words</a:t>
            </a:r>
            <a:endParaRPr/>
          </a:p>
        </p:txBody>
      </p:sp>
      <p:sp>
        <p:nvSpPr>
          <p:cNvPr id="505" name="Google Shape;505;p52"/>
          <p:cNvSpPr/>
          <p:nvPr/>
        </p:nvSpPr>
        <p:spPr>
          <a:xfrm>
            <a:off x="640080" y="1572768"/>
            <a:ext cx="3246120" cy="384048"/>
          </a:xfrm>
          <a:prstGeom prst="roundRect">
            <a:avLst>
              <a:gd name="adj" fmla="val 30000"/>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6" name="Google Shape;506;p52"/>
          <p:cNvSpPr txBox="1"/>
          <p:nvPr/>
        </p:nvSpPr>
        <p:spPr>
          <a:xfrm>
            <a:off x="868680" y="1636776"/>
            <a:ext cx="301752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FFFFFF"/>
                </a:solidFill>
                <a:latin typeface="Arial"/>
                <a:ea typeface="Arial"/>
                <a:cs typeface="Arial"/>
                <a:sym typeface="Arial"/>
              </a:rPr>
              <a:t>Copy. Explain. Check.</a:t>
            </a:r>
            <a:endParaRPr/>
          </a:p>
        </p:txBody>
      </p:sp>
      <p:sp>
        <p:nvSpPr>
          <p:cNvPr id="507" name="Google Shape;507;p52"/>
          <p:cNvSpPr/>
          <p:nvPr/>
        </p:nvSpPr>
        <p:spPr>
          <a:xfrm>
            <a:off x="640080" y="22128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8" name="Google Shape;508;p52"/>
          <p:cNvSpPr/>
          <p:nvPr/>
        </p:nvSpPr>
        <p:spPr>
          <a:xfrm>
            <a:off x="640080" y="22128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09" name="Google Shape;509;p52"/>
          <p:cNvSpPr/>
          <p:nvPr/>
        </p:nvSpPr>
        <p:spPr>
          <a:xfrm>
            <a:off x="896112" y="26334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1</a:t>
            </a:r>
            <a:endParaRPr/>
          </a:p>
        </p:txBody>
      </p:sp>
      <p:sp>
        <p:nvSpPr>
          <p:cNvPr id="510" name="Google Shape;510;p52"/>
          <p:cNvSpPr txBox="1"/>
          <p:nvPr/>
        </p:nvSpPr>
        <p:spPr>
          <a:xfrm>
            <a:off x="1389888" y="23591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Division of Fractions</a:t>
            </a:r>
            <a:endParaRPr/>
          </a:p>
        </p:txBody>
      </p:sp>
      <p:sp>
        <p:nvSpPr>
          <p:cNvPr id="511" name="Google Shape;511;p52"/>
          <p:cNvSpPr txBox="1"/>
          <p:nvPr/>
        </p:nvSpPr>
        <p:spPr>
          <a:xfrm>
            <a:off x="1389888" y="27066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Finding how many groups of one </a:t>
            </a:r>
            <a:r>
              <a:rPr lang="en-US" sz="1450" b="1" i="0" u="none" strike="noStrike" cap="none">
                <a:solidFill>
                  <a:srgbClr val="475569"/>
                </a:solidFill>
                <a:latin typeface="Arial"/>
                <a:ea typeface="Arial"/>
                <a:cs typeface="Arial"/>
                <a:sym typeface="Arial"/>
              </a:rPr>
              <a:t>fraction</a:t>
            </a:r>
            <a:r>
              <a:rPr lang="en-US" sz="1450" b="0" i="0" u="none" strike="noStrike" cap="none">
                <a:solidFill>
                  <a:srgbClr val="475569"/>
                </a:solidFill>
                <a:latin typeface="Arial"/>
                <a:ea typeface="Arial"/>
                <a:cs typeface="Arial"/>
                <a:sym typeface="Arial"/>
              </a:rPr>
              <a:t> fit inside another amount</a:t>
            </a:r>
            <a:endParaRPr/>
          </a:p>
        </p:txBody>
      </p:sp>
      <p:sp>
        <p:nvSpPr>
          <p:cNvPr id="512" name="Google Shape;512;p52"/>
          <p:cNvSpPr/>
          <p:nvPr/>
        </p:nvSpPr>
        <p:spPr>
          <a:xfrm>
            <a:off x="640080" y="35844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3" name="Google Shape;513;p52"/>
          <p:cNvSpPr/>
          <p:nvPr/>
        </p:nvSpPr>
        <p:spPr>
          <a:xfrm>
            <a:off x="640080" y="35844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4" name="Google Shape;514;p52"/>
          <p:cNvSpPr/>
          <p:nvPr/>
        </p:nvSpPr>
        <p:spPr>
          <a:xfrm>
            <a:off x="896112" y="40050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2</a:t>
            </a:r>
            <a:endParaRPr/>
          </a:p>
        </p:txBody>
      </p:sp>
      <p:sp>
        <p:nvSpPr>
          <p:cNvPr id="515" name="Google Shape;515;p52"/>
          <p:cNvSpPr txBox="1"/>
          <p:nvPr/>
        </p:nvSpPr>
        <p:spPr>
          <a:xfrm>
            <a:off x="1389888" y="37307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Reciprocal</a:t>
            </a:r>
            <a:endParaRPr/>
          </a:p>
        </p:txBody>
      </p:sp>
      <p:sp>
        <p:nvSpPr>
          <p:cNvPr id="516" name="Google Shape;516;p52"/>
          <p:cNvSpPr txBox="1"/>
          <p:nvPr/>
        </p:nvSpPr>
        <p:spPr>
          <a:xfrm>
            <a:off x="1389888" y="40782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A fraction turned upside down</a:t>
            </a:r>
            <a:endParaRPr/>
          </a:p>
        </p:txBody>
      </p:sp>
      <p:sp>
        <p:nvSpPr>
          <p:cNvPr id="517" name="Google Shape;517;p52"/>
          <p:cNvSpPr/>
          <p:nvPr/>
        </p:nvSpPr>
        <p:spPr>
          <a:xfrm>
            <a:off x="640080" y="49560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8" name="Google Shape;518;p52"/>
          <p:cNvSpPr/>
          <p:nvPr/>
        </p:nvSpPr>
        <p:spPr>
          <a:xfrm>
            <a:off x="640080" y="49560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19" name="Google Shape;519;p52"/>
          <p:cNvSpPr/>
          <p:nvPr/>
        </p:nvSpPr>
        <p:spPr>
          <a:xfrm>
            <a:off x="896112" y="53766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3</a:t>
            </a:r>
            <a:endParaRPr/>
          </a:p>
        </p:txBody>
      </p:sp>
      <p:sp>
        <p:nvSpPr>
          <p:cNvPr id="520" name="Google Shape;520;p52"/>
          <p:cNvSpPr txBox="1"/>
          <p:nvPr/>
        </p:nvSpPr>
        <p:spPr>
          <a:xfrm>
            <a:off x="1389888" y="51023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Quotient</a:t>
            </a:r>
            <a:endParaRPr/>
          </a:p>
        </p:txBody>
      </p:sp>
      <p:sp>
        <p:nvSpPr>
          <p:cNvPr id="521" name="Google Shape;521;p52"/>
          <p:cNvSpPr txBox="1"/>
          <p:nvPr/>
        </p:nvSpPr>
        <p:spPr>
          <a:xfrm>
            <a:off x="1389888" y="54498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The answer when you divide</a:t>
            </a:r>
            <a:endParaRPr/>
          </a:p>
        </p:txBody>
      </p:sp>
      <p:sp>
        <p:nvSpPr>
          <p:cNvPr id="52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 / 46</a:t>
            </a:r>
          </a:p>
        </p:txBody>
      </p:sp>
      <p:grpSp>
        <p:nvGrpSpPr>
          <p:cNvPr id="523" name="TEACH-1-student-move" descr="TEACH 1 · Facilitate clear, standards-based content learning"/>
          <p:cNvGrpSpPr/>
          <p:nvPr/>
        </p:nvGrpSpPr>
        <p:grpSpPr>
          <a:xfrm>
            <a:off x="6187440" y="1682496"/>
            <a:ext cx="5501640" cy="594360"/>
            <a:chOff x="6187440" y="1682496"/>
            <a:chExt cx="5501640" cy="594360"/>
          </a:xfrm>
        </p:grpSpPr>
        <p:sp>
          <p:nvSpPr>
            <p:cNvPr id="524"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25"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26"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sp>
        <p:nvSpPr>
          <p:cNvPr id="526" name="Google Shape;526;p5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7" name="Google Shape;527;p53"/>
          <p:cNvSpPr/>
          <p:nvPr/>
        </p:nvSpPr>
        <p:spPr>
          <a:xfrm>
            <a:off x="0" y="0"/>
            <a:ext cx="12191969" cy="713232"/>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8" name="Google Shape;528;p53"/>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Today’s Math Notes</a:t>
            </a:r>
            <a:endParaRPr/>
          </a:p>
        </p:txBody>
      </p:sp>
      <p:sp>
        <p:nvSpPr>
          <p:cNvPr id="529" name="Google Shape;529;p53"/>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200" b="0" i="0" u="none" strike="noStrike" cap="none">
                <a:solidFill>
                  <a:srgbClr val="FFFFFF"/>
                </a:solidFill>
                <a:latin typeface="Arial"/>
                <a:ea typeface="Arial"/>
                <a:cs typeface="Arial"/>
                <a:sym typeface="Arial"/>
              </a:rPr>
              <a:t>Lesson 6-1 · Division Expressions with Fractions and Whole Numbers</a:t>
            </a:r>
            <a:endParaRPr/>
          </a:p>
        </p:txBody>
      </p:sp>
      <p:sp>
        <p:nvSpPr>
          <p:cNvPr id="530" name="Google Shape;530;p53"/>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1" name="Google Shape;531;p53"/>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532" name="Google Shape;532;p53"/>
          <p:cNvSpPr txBox="1"/>
          <p:nvPr/>
        </p:nvSpPr>
        <p:spPr>
          <a:xfrm>
            <a:off x="640080" y="987552"/>
            <a:ext cx="10911809"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3000" b="1" i="0" u="none" strike="noStrike" cap="none">
                <a:solidFill>
                  <a:srgbClr val="14223A"/>
                </a:solidFill>
                <a:latin typeface="Arial"/>
                <a:ea typeface="Arial"/>
                <a:cs typeface="Arial"/>
                <a:sym typeface="Arial"/>
              </a:rPr>
              <a:t>Section 2: Today’s Math</a:t>
            </a:r>
            <a:endParaRPr/>
          </a:p>
        </p:txBody>
      </p:sp>
      <p:sp>
        <p:nvSpPr>
          <p:cNvPr id="533" name="Google Shape;533;p53"/>
          <p:cNvSpPr/>
          <p:nvPr/>
        </p:nvSpPr>
        <p:spPr>
          <a:xfrm>
            <a:off x="640080" y="1572768"/>
            <a:ext cx="3246120" cy="384048"/>
          </a:xfrm>
          <a:prstGeom prst="roundRect">
            <a:avLst>
              <a:gd name="adj" fmla="val 30000"/>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4" name="Google Shape;534;p53"/>
          <p:cNvSpPr txBox="1"/>
          <p:nvPr/>
        </p:nvSpPr>
        <p:spPr>
          <a:xfrm>
            <a:off x="868680" y="1636776"/>
            <a:ext cx="301752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FFFFFF"/>
                </a:solidFill>
                <a:latin typeface="Arial"/>
                <a:ea typeface="Arial"/>
                <a:cs typeface="Arial"/>
                <a:sym typeface="Arial"/>
              </a:rPr>
              <a:t>Copy. Explain. Check.</a:t>
            </a:r>
            <a:endParaRPr/>
          </a:p>
        </p:txBody>
      </p:sp>
      <p:sp>
        <p:nvSpPr>
          <p:cNvPr id="535" name="Google Shape;535;p53"/>
          <p:cNvSpPr/>
          <p:nvPr/>
        </p:nvSpPr>
        <p:spPr>
          <a:xfrm>
            <a:off x="640080" y="2231136"/>
            <a:ext cx="10911809" cy="749808"/>
          </a:xfrm>
          <a:prstGeom prst="roundRect">
            <a:avLst>
              <a:gd name="adj" fmla="val 7000"/>
            </a:avLst>
          </a:prstGeom>
          <a:solidFill>
            <a:srgbClr val="FDEE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6" name="Google Shape;536;p53"/>
          <p:cNvSpPr txBox="1"/>
          <p:nvPr/>
        </p:nvSpPr>
        <p:spPr>
          <a:xfrm>
            <a:off x="960120" y="2359152"/>
            <a:ext cx="10271729" cy="493775"/>
          </a:xfrm>
          <a:prstGeom prst="rect">
            <a:avLst/>
          </a:prstGeom>
          <a:noFill/>
          <a:ln>
            <a:noFill/>
          </a:ln>
        </p:spPr>
        <p:txBody>
          <a:bodyPr spcFirstLastPara="1" wrap="square" lIns="0" tIns="0" rIns="0" bIns="0" anchor="ctr" anchorCtr="0">
            <a:spAutoFit/>
          </a:bodyPr>
          <a:lstStyle/>
          <a:p>
            <a:pPr marL="0" marR="0" lvl="0" indent="0" algn="l" rtl="0">
              <a:lnSpc>
                <a:spcPct val="116000"/>
              </a:lnSpc>
              <a:spcBef>
                <a:spcPts val="0"/>
              </a:spcBef>
              <a:spcAft>
                <a:spcPts val="0"/>
              </a:spcAft>
              <a:buNone/>
              <a:defRPr/>
            </a:pPr>
            <a:r>
              <a:rPr lang="en-US" sz="2700" b="1" i="0" u="none" strike="noStrike" cap="none">
                <a:solidFill>
                  <a:srgbClr val="14223A"/>
                </a:solidFill>
                <a:latin typeface="Arial"/>
                <a:ea typeface="Arial"/>
                <a:cs typeface="Arial"/>
                <a:sym typeface="Arial"/>
              </a:rPr>
              <a:t>Dividing Whole Numbers &amp; Fractions</a:t>
            </a:r>
            <a:endParaRPr/>
          </a:p>
        </p:txBody>
      </p:sp>
      <p:sp>
        <p:nvSpPr>
          <p:cNvPr id="537" name="Google Shape;537;p53"/>
          <p:cNvSpPr/>
          <p:nvPr/>
        </p:nvSpPr>
        <p:spPr>
          <a:xfrm>
            <a:off x="640080" y="3182112"/>
            <a:ext cx="10911809" cy="652272"/>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8" name="Google Shape;538;p53"/>
          <p:cNvSpPr/>
          <p:nvPr/>
        </p:nvSpPr>
        <p:spPr>
          <a:xfrm>
            <a:off x="896112" y="3343656"/>
            <a:ext cx="329184" cy="329184"/>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FFFFFF"/>
                </a:solidFill>
                <a:latin typeface="Arial"/>
                <a:ea typeface="Arial"/>
                <a:cs typeface="Arial"/>
                <a:sym typeface="Arial"/>
              </a:rPr>
              <a:t>1</a:t>
            </a:r>
            <a:endParaRPr/>
          </a:p>
        </p:txBody>
      </p:sp>
      <p:sp>
        <p:nvSpPr>
          <p:cNvPr id="539" name="Google Shape;539;p53"/>
          <p:cNvSpPr txBox="1"/>
          <p:nvPr/>
        </p:nvSpPr>
        <p:spPr>
          <a:xfrm>
            <a:off x="1371600" y="3264408"/>
            <a:ext cx="10043129" cy="487680"/>
          </a:xfrm>
          <a:prstGeom prst="rect">
            <a:avLst/>
          </a:prstGeom>
          <a:noFill/>
          <a:ln>
            <a:noFill/>
          </a:ln>
        </p:spPr>
        <p:txBody>
          <a:bodyPr spcFirstLastPara="1" wrap="square" lIns="0" tIns="0" rIns="0" bIns="0" anchor="ctr" anchorCtr="0">
            <a:spAutoFit/>
          </a:bodyPr>
          <a:lstStyle/>
          <a:p>
            <a:pPr marL="0" marR="0" lvl="0" indent="0" algn="l" rtl="0">
              <a:lnSpc>
                <a:spcPct val="116000"/>
              </a:lnSpc>
              <a:spcBef>
                <a:spcPts val="0"/>
              </a:spcBef>
              <a:spcAft>
                <a:spcPts val="0"/>
              </a:spcAft>
              <a:buNone/>
              <a:defRPr/>
            </a:pPr>
            <a:r>
              <a:rPr lang="en-US" sz="1600" b="1" i="0" u="none" strike="noStrike" cap="none">
                <a:solidFill>
                  <a:srgbClr val="14223A"/>
                </a:solidFill>
                <a:latin typeface="Arial"/>
                <a:ea typeface="Arial"/>
                <a:cs typeface="Arial"/>
                <a:sym typeface="Arial"/>
              </a:rPr>
              <a:t>Put a 1 under the whole number: </a:t>
            </a:r>
            <a:r>
              <a:rPr lang="en-US" sz="1600" b="0" i="0" u="none" strike="noStrike" cap="none">
                <a:solidFill>
                  <a:srgbClr val="14223A"/>
                </a:solidFill>
                <a:latin typeface="Arial"/>
                <a:ea typeface="Arial"/>
                <a:cs typeface="Arial"/>
                <a:sym typeface="Arial"/>
              </a:rPr>
              <a:t>3 ÷ 1/4 = 3/1 ÷ 1/4</a:t>
            </a:r>
            <a:endParaRPr/>
          </a:p>
        </p:txBody>
      </p:sp>
      <p:sp>
        <p:nvSpPr>
          <p:cNvPr id="540" name="Google Shape;540;p53"/>
          <p:cNvSpPr/>
          <p:nvPr/>
        </p:nvSpPr>
        <p:spPr>
          <a:xfrm>
            <a:off x="640080" y="3980688"/>
            <a:ext cx="10911809" cy="652272"/>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1" name="Google Shape;541;p53"/>
          <p:cNvSpPr/>
          <p:nvPr/>
        </p:nvSpPr>
        <p:spPr>
          <a:xfrm>
            <a:off x="896112" y="4142232"/>
            <a:ext cx="329184" cy="329184"/>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FFFFFF"/>
                </a:solidFill>
                <a:latin typeface="Arial"/>
                <a:ea typeface="Arial"/>
                <a:cs typeface="Arial"/>
                <a:sym typeface="Arial"/>
              </a:rPr>
              <a:t>2</a:t>
            </a:r>
            <a:endParaRPr/>
          </a:p>
        </p:txBody>
      </p:sp>
      <p:sp>
        <p:nvSpPr>
          <p:cNvPr id="542" name="Google Shape;542;p53"/>
          <p:cNvSpPr txBox="1"/>
          <p:nvPr/>
        </p:nvSpPr>
        <p:spPr>
          <a:xfrm>
            <a:off x="1371600" y="4062984"/>
            <a:ext cx="10043129" cy="487680"/>
          </a:xfrm>
          <a:prstGeom prst="rect">
            <a:avLst/>
          </a:prstGeom>
          <a:noFill/>
          <a:ln>
            <a:noFill/>
          </a:ln>
        </p:spPr>
        <p:txBody>
          <a:bodyPr spcFirstLastPara="1" wrap="square" lIns="0" tIns="0" rIns="0" bIns="0" anchor="ctr" anchorCtr="0">
            <a:spAutoFit/>
          </a:bodyPr>
          <a:lstStyle/>
          <a:p>
            <a:pPr marL="0" marR="0" lvl="0" indent="0" algn="l" rtl="0">
              <a:lnSpc>
                <a:spcPct val="116000"/>
              </a:lnSpc>
              <a:spcBef>
                <a:spcPts val="0"/>
              </a:spcBef>
              <a:spcAft>
                <a:spcPts val="0"/>
              </a:spcAft>
              <a:buNone/>
              <a:defRPr/>
            </a:pPr>
            <a:r>
              <a:rPr lang="en-US" sz="1600" b="1" i="0" u="none" strike="noStrike" cap="none">
                <a:solidFill>
                  <a:srgbClr val="14223A"/>
                </a:solidFill>
                <a:latin typeface="Arial"/>
                <a:ea typeface="Arial"/>
                <a:cs typeface="Arial"/>
                <a:sym typeface="Arial"/>
              </a:rPr>
              <a:t>Keep, Change, Flip: </a:t>
            </a:r>
            <a:r>
              <a:rPr lang="en-US" sz="1600" b="0" i="0" u="none" strike="noStrike" cap="none">
                <a:solidFill>
                  <a:srgbClr val="14223A"/>
                </a:solidFill>
                <a:latin typeface="Arial"/>
                <a:ea typeface="Arial"/>
                <a:cs typeface="Arial"/>
                <a:sym typeface="Arial"/>
              </a:rPr>
              <a:t>3/1 ÷ 1/4 = 3/1 × 4/1</a:t>
            </a:r>
            <a:endParaRPr/>
          </a:p>
        </p:txBody>
      </p:sp>
      <p:sp>
        <p:nvSpPr>
          <p:cNvPr id="543" name="Google Shape;543;p53"/>
          <p:cNvSpPr/>
          <p:nvPr/>
        </p:nvSpPr>
        <p:spPr>
          <a:xfrm>
            <a:off x="640080" y="4779264"/>
            <a:ext cx="10911809" cy="652272"/>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4" name="Google Shape;544;p53"/>
          <p:cNvSpPr/>
          <p:nvPr/>
        </p:nvSpPr>
        <p:spPr>
          <a:xfrm>
            <a:off x="896112" y="4940808"/>
            <a:ext cx="329184" cy="329184"/>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300" b="1" i="0" u="none" strike="noStrike" cap="none">
                <a:solidFill>
                  <a:srgbClr val="FFFFFF"/>
                </a:solidFill>
                <a:latin typeface="Arial"/>
                <a:ea typeface="Arial"/>
                <a:cs typeface="Arial"/>
                <a:sym typeface="Arial"/>
              </a:rPr>
              <a:t>3</a:t>
            </a:r>
            <a:endParaRPr/>
          </a:p>
        </p:txBody>
      </p:sp>
      <p:sp>
        <p:nvSpPr>
          <p:cNvPr id="545" name="Google Shape;545;p53"/>
          <p:cNvSpPr txBox="1"/>
          <p:nvPr/>
        </p:nvSpPr>
        <p:spPr>
          <a:xfrm>
            <a:off x="1371600" y="4861560"/>
            <a:ext cx="10043129" cy="487680"/>
          </a:xfrm>
          <a:prstGeom prst="rect">
            <a:avLst/>
          </a:prstGeom>
          <a:noFill/>
          <a:ln>
            <a:noFill/>
          </a:ln>
        </p:spPr>
        <p:txBody>
          <a:bodyPr spcFirstLastPara="1" wrap="square" lIns="0" tIns="0" rIns="0" bIns="0" anchor="ctr" anchorCtr="0">
            <a:spAutoFit/>
          </a:bodyPr>
          <a:lstStyle/>
          <a:p>
            <a:pPr marL="0" marR="0" lvl="0" indent="0" algn="l" rtl="0">
              <a:lnSpc>
                <a:spcPct val="116000"/>
              </a:lnSpc>
              <a:spcBef>
                <a:spcPts val="0"/>
              </a:spcBef>
              <a:spcAft>
                <a:spcPts val="0"/>
              </a:spcAft>
              <a:buNone/>
              <a:defRPr/>
            </a:pPr>
            <a:r>
              <a:rPr lang="en-US" sz="1600" b="1" i="0" u="none" strike="noStrike" cap="none">
                <a:solidFill>
                  <a:srgbClr val="14223A"/>
                </a:solidFill>
                <a:latin typeface="Arial"/>
                <a:ea typeface="Arial"/>
                <a:cs typeface="Arial"/>
                <a:sym typeface="Arial"/>
              </a:rPr>
              <a:t>Multiply across: </a:t>
            </a:r>
            <a:r>
              <a:rPr lang="en-US" sz="1600" b="0" i="0" u="none" strike="noStrike" cap="none">
                <a:solidFill>
                  <a:srgbClr val="14223A"/>
                </a:solidFill>
                <a:latin typeface="Arial"/>
                <a:ea typeface="Arial"/>
                <a:cs typeface="Arial"/>
                <a:sym typeface="Arial"/>
              </a:rPr>
              <a:t>3/1 × 4/1 = 12/1 = 12</a:t>
            </a:r>
            <a:endParaRPr/>
          </a:p>
        </p:txBody>
      </p:sp>
      <p:sp>
        <p:nvSpPr>
          <p:cNvPr id="546" name="Google Shape;546;p53"/>
          <p:cNvSpPr/>
          <p:nvPr/>
        </p:nvSpPr>
        <p:spPr>
          <a:xfrm>
            <a:off x="640080" y="5522976"/>
            <a:ext cx="10911809" cy="585216"/>
          </a:xfrm>
          <a:prstGeom prst="roundRect">
            <a:avLst>
              <a:gd name="adj" fmla="val 12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7" name="Google Shape;547;p53"/>
          <p:cNvSpPr txBox="1"/>
          <p:nvPr/>
        </p:nvSpPr>
        <p:spPr>
          <a:xfrm>
            <a:off x="932688" y="5632704"/>
            <a:ext cx="960120" cy="29260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1" i="0" u="none" strike="noStrike" cap="none">
                <a:solidFill>
                  <a:srgbClr val="C2410C"/>
                </a:solidFill>
                <a:latin typeface="Arial"/>
                <a:ea typeface="Arial"/>
                <a:cs typeface="Arial"/>
                <a:sym typeface="Arial"/>
              </a:rPr>
              <a:t>Example:</a:t>
            </a:r>
            <a:endParaRPr/>
          </a:p>
        </p:txBody>
      </p:sp>
      <p:sp>
        <p:nvSpPr>
          <p:cNvPr id="548" name="Google Shape;548;p53"/>
          <p:cNvSpPr txBox="1"/>
          <p:nvPr/>
        </p:nvSpPr>
        <p:spPr>
          <a:xfrm>
            <a:off x="1920240" y="5632704"/>
            <a:ext cx="8991569" cy="29260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000" b="1" i="0" u="none" strike="noStrike" cap="none">
                <a:solidFill>
                  <a:srgbClr val="14223A"/>
                </a:solidFill>
                <a:latin typeface="Arial"/>
                <a:ea typeface="Arial"/>
                <a:cs typeface="Arial"/>
                <a:sym typeface="Arial"/>
              </a:rPr>
              <a:t>mixed number → improper fraction: multiply the bottom by the whole number, add the top, keep the same bottom. 3 1/2 → (2 × 3) + 1 = 7 → 7/2</a:t>
            </a:r>
            <a:endParaRPr/>
          </a:p>
        </p:txBody>
      </p:sp>
      <p:sp>
        <p:nvSpPr>
          <p:cNvPr id="54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 / 46</a:t>
            </a:r>
          </a:p>
        </p:txBody>
      </p:sp>
      <p:grpSp>
        <p:nvGrpSpPr>
          <p:cNvPr id="550" name="TEACH-1-student-move" descr="TEACH 1 · Facilitate clear, standards-based content learning"/>
          <p:cNvGrpSpPr/>
          <p:nvPr/>
        </p:nvGrpSpPr>
        <p:grpSpPr>
          <a:xfrm>
            <a:off x="6187440" y="1682496"/>
            <a:ext cx="5501640" cy="594360"/>
            <a:chOff x="6187440" y="1682496"/>
            <a:chExt cx="5501640" cy="594360"/>
          </a:xfrm>
        </p:grpSpPr>
        <p:sp>
          <p:nvSpPr>
            <p:cNvPr id="551"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52"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53"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600"/>
              <a:buFont typeface="Arial"/>
              <a:buNone/>
              <a:defRPr/>
            </a:pPr>
            <a:r>
              <a:rPr lang="en-US" sz="3600" b="1" i="0" u="none" strike="noStrike" cap="none">
                <a:solidFill>
                  <a:schemeClr val="dk1"/>
                </a:solidFill>
                <a:latin typeface="Arial"/>
                <a:ea typeface="Arial"/>
                <a:cs typeface="Arial"/>
                <a:sym typeface="Arial"/>
              </a:rPr>
              <a:t>Division Expressions with Fractions and Whole Numbers</a:t>
            </a:r>
            <a:endParaRPr sz="1400" b="0" i="0" u="none" strike="noStrike" cap="non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0" i="0" u="none" strike="noStrike" cap="none">
                <a:solidFill>
                  <a:srgbClr val="782DA0"/>
                </a:solidFill>
                <a:latin typeface="Arial"/>
                <a:ea typeface="Arial"/>
                <a:cs typeface="Arial"/>
                <a:sym typeface="Arial"/>
              </a:rPr>
              <a:t>Session 1</a:t>
            </a:r>
            <a:endParaRPr sz="2800" b="1" i="0" u="none" strike="noStrike" cap="non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w="19050" cap="flat" cmpd="sng">
            <a:solidFill>
              <a:srgbClr val="782DA0"/>
            </a:solidFill>
            <a:prstDash val="solid"/>
            <a:miter lim="80"/>
            <a:headEnd type="none" w="sm" len="sm"/>
            <a:tailEnd type="none" w="sm" len="sm"/>
          </a:ln>
        </p:spPr>
      </p:cxnSp>
      <p:sp>
        <p:nvSpPr>
          <p:cNvPr id="23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 / 46</a:t>
            </a:r>
          </a:p>
        </p:txBody>
      </p:sp>
      <p:grpSp>
        <p:nvGrpSpPr>
          <p:cNvPr id="237" name="TEACH-6-student-move" descr="TEACH 6 · Organize and implement routines to support a learning-focused classroom"/>
          <p:cNvGrpSpPr/>
          <p:nvPr/>
        </p:nvGrpSpPr>
        <p:grpSpPr>
          <a:xfrm>
            <a:off x="502920" y="3867612"/>
            <a:ext cx="11186160" cy="731520"/>
            <a:chOff x="502920" y="3867612"/>
            <a:chExt cx="11186160" cy="731520"/>
          </a:xfrm>
        </p:grpSpPr>
        <p:sp>
          <p:nvSpPr>
            <p:cNvPr id="238"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TRY IT BEFORE YOU’RE SURE  ·  </a:t>
              </a:r>
              <a:r>
                <a:rPr lang="en-US" sz="1800" dirty="0">
                  <a:solidFill>
                    <a:srgbClr val="13303A"/>
                  </a:solidFill>
                  <a:latin typeface="Arial"/>
                </a:rPr>
                <a:t>Start even if you are not sure. A revised answer counts as much as a first-try answer.</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241" name="Google Shape;241;p41"/>
          <p:cNvSpPr txBox="1"/>
          <p:nvPr/>
        </p:nvSpPr>
        <p:spPr>
          <a:xfrm>
            <a:off x="505579" y="316034"/>
            <a:ext cx="4842276"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Or You Could</a:t>
            </a:r>
            <a:endParaRPr sz="1400" b="0" i="0" u="none" strike="noStrike" cap="none">
              <a:solidFill>
                <a:srgbClr val="000000"/>
              </a:solidFill>
              <a:latin typeface="Arial"/>
              <a:ea typeface="Arial"/>
              <a:cs typeface="Arial"/>
              <a:sym typeface="Arial"/>
            </a:endParaRPr>
          </a:p>
        </p:txBody>
      </p:sp>
      <p:sp>
        <p:nvSpPr>
          <p:cNvPr id="242" name="Google Shape;242;p41"/>
          <p:cNvSpPr txBox="1"/>
          <p:nvPr/>
        </p:nvSpPr>
        <p:spPr>
          <a:xfrm>
            <a:off x="507712" y="1349429"/>
            <a:ext cx="5926976" cy="1817719"/>
          </a:xfrm>
          <a:prstGeom prst="rect">
            <a:avLst/>
          </a:prstGeom>
          <a:blipFill rotWithShape="1">
            <a:blip r:embed="rId3">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243"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5 / 46</a:t>
            </a:r>
          </a:p>
        </p:txBody>
      </p:sp>
      <p:sp>
        <p:nvSpPr>
          <p:cNvPr id="24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44"/>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4" name="Google Shape;334;p44"/>
          <p:cNvSpPr/>
          <p:nvPr/>
        </p:nvSpPr>
        <p:spPr>
          <a:xfrm>
            <a:off x="0" y="0"/>
            <a:ext cx="12191969" cy="713232"/>
          </a:xfrm>
          <a:prstGeom prst="rect">
            <a:avLst/>
          </a:prstGeom>
          <a:solidFill>
            <a:srgbClr val="0F7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5" name="Google Shape;335;p44"/>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Today’s Objectives</a:t>
            </a:r>
            <a:endParaRPr/>
          </a:p>
        </p:txBody>
      </p:sp>
      <p:sp>
        <p:nvSpPr>
          <p:cNvPr id="336" name="Google Shape;336;p44"/>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200" b="0" i="0" u="none" strike="noStrike" cap="none">
                <a:solidFill>
                  <a:srgbClr val="FFFFFF"/>
                </a:solidFill>
                <a:latin typeface="Arial"/>
                <a:ea typeface="Arial"/>
                <a:cs typeface="Arial"/>
                <a:sym typeface="Arial"/>
              </a:rPr>
              <a:t>Lesson 6-1 · Division Expressions with Fractions and Whole Numbers</a:t>
            </a:r>
            <a:endParaRPr/>
          </a:p>
        </p:txBody>
      </p:sp>
      <p:sp>
        <p:nvSpPr>
          <p:cNvPr id="337" name="Google Shape;337;p44"/>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8" name="Google Shape;338;p44"/>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339" name="Google Shape;339;p44"/>
          <p:cNvSpPr txBox="1"/>
          <p:nvPr/>
        </p:nvSpPr>
        <p:spPr>
          <a:xfrm>
            <a:off x="640080" y="969264"/>
            <a:ext cx="10911809" cy="1016000"/>
          </a:xfrm>
          <a:prstGeom prst="rect">
            <a:avLst/>
          </a:prstGeom>
          <a:noFill/>
          <a:ln>
            <a:noFill/>
          </a:ln>
        </p:spPr>
        <p:txBody>
          <a:bodyPr spcFirstLastPara="1" wrap="square" lIns="0" tIns="0" rIns="0" bIns="0" anchor="t" anchorCtr="0">
            <a:spAutoFit/>
          </a:bodyPr>
          <a:lstStyle/>
          <a:p>
            <a:pPr marL="0" marR="0" lvl="0" indent="0" algn="l" rtl="0">
              <a:lnSpc>
                <a:spcPct val="112000"/>
              </a:lnSpc>
              <a:spcBef>
                <a:spcPts val="0"/>
              </a:spcBef>
              <a:spcAft>
                <a:spcPts val="0"/>
              </a:spcAft>
              <a:buNone/>
              <a:defRPr/>
            </a:pPr>
            <a:r>
              <a:rPr lang="en-US" sz="3250" b="1" i="0" u="none" strike="noStrike" cap="none">
                <a:solidFill>
                  <a:srgbClr val="14223A"/>
                </a:solidFill>
                <a:latin typeface="Arial"/>
                <a:ea typeface="Arial"/>
                <a:cs typeface="Arial"/>
                <a:sym typeface="Arial"/>
              </a:rPr>
              <a:t>Division Expressions with Fractions and Whole Numbers</a:t>
            </a:r>
            <a:endParaRPr/>
          </a:p>
        </p:txBody>
      </p:sp>
      <p:sp>
        <p:nvSpPr>
          <p:cNvPr id="340" name="Google Shape;340;p44"/>
          <p:cNvSpPr txBox="1"/>
          <p:nvPr/>
        </p:nvSpPr>
        <p:spPr>
          <a:xfrm>
            <a:off x="640080" y="2021840"/>
            <a:ext cx="1091180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475569"/>
                </a:solidFill>
                <a:latin typeface="Arial"/>
                <a:ea typeface="Arial"/>
                <a:cs typeface="Arial"/>
                <a:sym typeface="Arial"/>
              </a:rPr>
              <a:t>Maryland Standard 6.NOS.1</a:t>
            </a:r>
            <a:endParaRPr/>
          </a:p>
        </p:txBody>
      </p:sp>
      <p:sp>
        <p:nvSpPr>
          <p:cNvPr id="341" name="Google Shape;341;p44"/>
          <p:cNvSpPr/>
          <p:nvPr/>
        </p:nvSpPr>
        <p:spPr>
          <a:xfrm>
            <a:off x="640080" y="2442464"/>
            <a:ext cx="5349240" cy="3610863"/>
          </a:xfrm>
          <a:prstGeom prst="roundRect">
            <a:avLst>
              <a:gd name="adj" fmla="val 4500"/>
            </a:avLst>
          </a:prstGeom>
          <a:solidFill>
            <a:srgbClr val="E3F2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2" name="Google Shape;342;p44"/>
          <p:cNvSpPr/>
          <p:nvPr/>
        </p:nvSpPr>
        <p:spPr>
          <a:xfrm>
            <a:off x="640080" y="2442464"/>
            <a:ext cx="118872" cy="3610863"/>
          </a:xfrm>
          <a:prstGeom prst="rect">
            <a:avLst/>
          </a:prstGeom>
          <a:solidFill>
            <a:srgbClr val="0F766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3" name="Google Shape;343;p44"/>
          <p:cNvSpPr txBox="1"/>
          <p:nvPr/>
        </p:nvSpPr>
        <p:spPr>
          <a:xfrm>
            <a:off x="1097280" y="2808224"/>
            <a:ext cx="448055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0F766E"/>
                </a:solidFill>
                <a:latin typeface="Arial"/>
                <a:ea typeface="Arial"/>
                <a:cs typeface="Arial"/>
                <a:sym typeface="Arial"/>
              </a:rPr>
              <a:t>CONTENT OBJECTIVE</a:t>
            </a:r>
            <a:endParaRPr/>
          </a:p>
        </p:txBody>
      </p:sp>
      <p:sp>
        <p:nvSpPr>
          <p:cNvPr id="344" name="Google Shape;344;p44"/>
          <p:cNvSpPr txBox="1"/>
          <p:nvPr/>
        </p:nvSpPr>
        <p:spPr>
          <a:xfrm>
            <a:off x="1097280" y="3137408"/>
            <a:ext cx="448055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0" i="1" u="none" strike="noStrike" cap="none">
                <a:solidFill>
                  <a:srgbClr val="475569"/>
                </a:solidFill>
                <a:latin typeface="Arial"/>
                <a:ea typeface="Arial"/>
                <a:cs typeface="Arial"/>
                <a:sym typeface="Arial"/>
              </a:rPr>
              <a:t>Restate the goal in your words</a:t>
            </a:r>
            <a:endParaRPr/>
          </a:p>
        </p:txBody>
      </p:sp>
      <p:sp>
        <p:nvSpPr>
          <p:cNvPr id="345" name="Google Shape;345;p44"/>
          <p:cNvSpPr txBox="1"/>
          <p:nvPr/>
        </p:nvSpPr>
        <p:spPr>
          <a:xfrm>
            <a:off x="1097280" y="3612896"/>
            <a:ext cx="4480559" cy="2038095"/>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defRPr/>
            </a:pPr>
            <a:r>
              <a:rPr lang="en-US" sz="2300" b="1" i="0" u="none" strike="noStrike" cap="none">
                <a:solidFill>
                  <a:srgbClr val="14223A"/>
                </a:solidFill>
                <a:latin typeface="Arial"/>
                <a:ea typeface="Arial"/>
                <a:cs typeface="Arial"/>
                <a:sym typeface="Arial"/>
              </a:rPr>
              <a:t>I can divide a whole number by a unit fraction and divide a fraction by a whole number by writing the whole number over 1 and using Keep, Change, Flip.</a:t>
            </a:r>
            <a:endParaRPr/>
          </a:p>
        </p:txBody>
      </p:sp>
      <p:sp>
        <p:nvSpPr>
          <p:cNvPr id="346" name="Google Shape;346;p44"/>
          <p:cNvSpPr/>
          <p:nvPr/>
        </p:nvSpPr>
        <p:spPr>
          <a:xfrm>
            <a:off x="6382512" y="2442464"/>
            <a:ext cx="5349240" cy="3610863"/>
          </a:xfrm>
          <a:prstGeom prst="roundRect">
            <a:avLst>
              <a:gd name="adj" fmla="val 4500"/>
            </a:avLst>
          </a:prstGeom>
          <a:solidFill>
            <a:srgbClr val="FDEEE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7" name="Google Shape;347;p44"/>
          <p:cNvSpPr/>
          <p:nvPr/>
        </p:nvSpPr>
        <p:spPr>
          <a:xfrm>
            <a:off x="6382512" y="2442464"/>
            <a:ext cx="118872" cy="3610863"/>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48" name="Google Shape;348;p44"/>
          <p:cNvSpPr txBox="1"/>
          <p:nvPr/>
        </p:nvSpPr>
        <p:spPr>
          <a:xfrm>
            <a:off x="6839712" y="2808224"/>
            <a:ext cx="448055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C2410C"/>
                </a:solidFill>
                <a:latin typeface="Arial"/>
                <a:ea typeface="Arial"/>
                <a:cs typeface="Arial"/>
                <a:sym typeface="Arial"/>
              </a:rPr>
              <a:t>LANGUAGE OBJECTIVE</a:t>
            </a:r>
            <a:endParaRPr/>
          </a:p>
        </p:txBody>
      </p:sp>
      <p:sp>
        <p:nvSpPr>
          <p:cNvPr id="349" name="Google Shape;349;p44"/>
          <p:cNvSpPr txBox="1"/>
          <p:nvPr/>
        </p:nvSpPr>
        <p:spPr>
          <a:xfrm>
            <a:off x="6839712" y="3137408"/>
            <a:ext cx="448055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0" i="1" u="none" strike="noStrike" cap="none">
                <a:solidFill>
                  <a:srgbClr val="475569"/>
                </a:solidFill>
                <a:latin typeface="Arial"/>
                <a:ea typeface="Arial"/>
                <a:cs typeface="Arial"/>
                <a:sym typeface="Arial"/>
              </a:rPr>
              <a:t>Use these words to explain why</a:t>
            </a:r>
            <a:endParaRPr/>
          </a:p>
        </p:txBody>
      </p:sp>
      <p:sp>
        <p:nvSpPr>
          <p:cNvPr id="350" name="Google Shape;350;p44"/>
          <p:cNvSpPr txBox="1"/>
          <p:nvPr/>
        </p:nvSpPr>
        <p:spPr>
          <a:xfrm>
            <a:off x="6839712" y="3612896"/>
            <a:ext cx="4480559" cy="2038095"/>
          </a:xfrm>
          <a:prstGeom prst="rect">
            <a:avLst/>
          </a:prstGeom>
          <a:noFill/>
          <a:ln>
            <a:noFill/>
          </a:ln>
        </p:spPr>
        <p:txBody>
          <a:bodyPr spcFirstLastPara="1" wrap="square" lIns="0" tIns="0" rIns="0" bIns="0" anchor="t" anchorCtr="0">
            <a:spAutoFit/>
          </a:bodyPr>
          <a:lstStyle/>
          <a:p>
            <a:pPr marL="0" marR="0" lvl="0" indent="0" algn="l" rtl="0">
              <a:lnSpc>
                <a:spcPct val="124000"/>
              </a:lnSpc>
              <a:spcBef>
                <a:spcPts val="0"/>
              </a:spcBef>
              <a:spcAft>
                <a:spcPts val="0"/>
              </a:spcAft>
              <a:buNone/>
              <a:defRPr/>
            </a:pPr>
            <a:r>
              <a:rPr lang="en-US" sz="2500" b="1" i="0" u="none" strike="noStrike" cap="none">
                <a:solidFill>
                  <a:srgbClr val="14223A"/>
                </a:solidFill>
                <a:latin typeface="Arial"/>
                <a:ea typeface="Arial"/>
                <a:cs typeface="Arial"/>
                <a:sym typeface="Arial"/>
              </a:rPr>
              <a:t>I can explain each step of Keep, Change, Flip using the words reciprocal, divisor, and quotient.</a:t>
            </a:r>
            <a:endParaRPr/>
          </a:p>
        </p:txBody>
      </p:sp>
      <p:sp>
        <p:nvSpPr>
          <p:cNvPr id="351"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6 / 46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1-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SAY THE GOAL  ·  </a:t>
            </a:r>
            <a:r>
              <a:rPr lang="en-US" sz="2000" b="0" dirty="0">
                <a:solidFill>
                  <a:srgbClr val="13303A"/>
                </a:solidFill>
                <a:latin typeface="Arial"/>
              </a:rPr>
              <a:t>Say today’s goal in your own words, then name one place this shows up outside math class.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7 / 46</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6.1  /  OUR LEARNING</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What will show your learning?</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95528" y="1929384"/>
            <a:ext cx="219456" cy="338328"/>
          </a:xfrm>
          <a:prstGeom prst="rect">
            <a:avLst/>
          </a:prstGeom>
          <a:noFill/>
        </p:spPr>
        <p:txBody>
          <a:bodyPr wrap="square" lIns="0" tIns="22860" rIns="0" bIns="0">
            <a:spAutoFit/>
          </a:bodyPr>
          <a:lstStyle/>
          <a:p>
            <a:pPr>
              <a:spcAft>
                <a:spcPts val="800"/>
              </a:spcAft>
              <a:defRPr sz="2000" b="1">
                <a:solidFill>
                  <a:srgbClr val="FFFFFF"/>
                </a:solidFill>
                <a:latin typeface="Arial"/>
              </a:defRPr>
            </a:pPr>
            <a:r>
              <a:t>1</a:t>
            </a:r>
          </a:p>
        </p:txBody>
      </p:sp>
      <p:sp>
        <p:nvSpPr>
          <p:cNvPr id="7" name="TextBox 6"/>
          <p:cNvSpPr txBox="1"/>
          <p:nvPr/>
        </p:nvSpPr>
        <p:spPr>
          <a:xfrm>
            <a:off x="1399032" y="1856231"/>
            <a:ext cx="10012680" cy="841248"/>
          </a:xfrm>
          <a:prstGeom prst="rect">
            <a:avLst/>
          </a:prstGeom>
          <a:noFill/>
        </p:spPr>
        <p:txBody>
          <a:bodyPr wrap="square" lIns="0" tIns="22860" rIns="0" bIns="0">
            <a:spAutoFit/>
          </a:bodyPr>
          <a:lstStyle/>
          <a:p>
            <a:pPr>
              <a:spcAft>
                <a:spcPts val="800"/>
              </a:spcAft>
              <a:defRPr sz="2500" b="0">
                <a:solidFill>
                  <a:srgbClr val="24384B"/>
                </a:solidFill>
                <a:latin typeface="Arial"/>
              </a:defRPr>
            </a:pPr>
            <a:r>
              <a:t>Interpret division as groups or sharing.</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5528" y="2916936"/>
            <a:ext cx="219456" cy="338328"/>
          </a:xfrm>
          <a:prstGeom prst="rect">
            <a:avLst/>
          </a:prstGeom>
          <a:noFill/>
        </p:spPr>
        <p:txBody>
          <a:bodyPr wrap="square" lIns="0" tIns="22860" rIns="0" bIns="0">
            <a:spAutoFit/>
          </a:bodyPr>
          <a:lstStyle/>
          <a:p>
            <a:pPr>
              <a:spcAft>
                <a:spcPts val="800"/>
              </a:spcAft>
              <a:defRPr sz="2000" b="1">
                <a:solidFill>
                  <a:srgbClr val="FFFFFF"/>
                </a:solidFill>
                <a:latin typeface="Arial"/>
              </a:defRPr>
            </a:pPr>
            <a:r>
              <a:t>2</a:t>
            </a:r>
          </a:p>
        </p:txBody>
      </p:sp>
      <p:sp>
        <p:nvSpPr>
          <p:cNvPr id="10" name="TextBox 9"/>
          <p:cNvSpPr txBox="1"/>
          <p:nvPr/>
        </p:nvSpPr>
        <p:spPr>
          <a:xfrm>
            <a:off x="1399032" y="2843784"/>
            <a:ext cx="10012680" cy="841248"/>
          </a:xfrm>
          <a:prstGeom prst="rect">
            <a:avLst/>
          </a:prstGeom>
          <a:noFill/>
        </p:spPr>
        <p:txBody>
          <a:bodyPr wrap="square" lIns="0" tIns="22860" rIns="0" bIns="0">
            <a:spAutoFit/>
          </a:bodyPr>
          <a:lstStyle/>
          <a:p>
            <a:pPr>
              <a:spcAft>
                <a:spcPts val="800"/>
              </a:spcAft>
              <a:defRPr sz="2500" b="0">
                <a:solidFill>
                  <a:srgbClr val="24384B"/>
                </a:solidFill>
                <a:latin typeface="Arial"/>
              </a:defRPr>
            </a:pPr>
            <a:r>
              <a:t>Connect the model to the equation.</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95528" y="3904487"/>
            <a:ext cx="219456" cy="338328"/>
          </a:xfrm>
          <a:prstGeom prst="rect">
            <a:avLst/>
          </a:prstGeom>
          <a:noFill/>
        </p:spPr>
        <p:txBody>
          <a:bodyPr wrap="square" lIns="0" tIns="22860" rIns="0" bIns="0">
            <a:spAutoFit/>
          </a:bodyPr>
          <a:lstStyle/>
          <a:p>
            <a:pPr>
              <a:spcAft>
                <a:spcPts val="800"/>
              </a:spcAft>
              <a:defRPr sz="2000" b="1">
                <a:solidFill>
                  <a:srgbClr val="FFFFFF"/>
                </a:solidFill>
                <a:latin typeface="Arial"/>
              </a:defRPr>
            </a:pPr>
            <a:r>
              <a:t>3</a:t>
            </a:r>
          </a:p>
        </p:txBody>
      </p:sp>
      <p:sp>
        <p:nvSpPr>
          <p:cNvPr id="13" name="TextBox 12"/>
          <p:cNvSpPr txBox="1"/>
          <p:nvPr/>
        </p:nvSpPr>
        <p:spPr>
          <a:xfrm>
            <a:off x="1399032" y="3831336"/>
            <a:ext cx="10012680" cy="841248"/>
          </a:xfrm>
          <a:prstGeom prst="rect">
            <a:avLst/>
          </a:prstGeom>
          <a:noFill/>
        </p:spPr>
        <p:txBody>
          <a:bodyPr wrap="square" lIns="0" tIns="22860" rIns="0" bIns="0">
            <a:spAutoFit/>
          </a:bodyPr>
          <a:lstStyle/>
          <a:p>
            <a:pPr>
              <a:spcAft>
                <a:spcPts val="800"/>
              </a:spcAft>
              <a:defRPr sz="2500" b="0">
                <a:solidFill>
                  <a:srgbClr val="24384B"/>
                </a:solidFill>
                <a:latin typeface="Arial"/>
              </a:defRPr>
            </a:pPr>
            <a:r>
              <a:t>Check by multiplication.</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50392" y="5303520"/>
            <a:ext cx="10469880" cy="438912"/>
          </a:xfrm>
          <a:prstGeom prst="rect">
            <a:avLst/>
          </a:prstGeom>
          <a:noFill/>
        </p:spPr>
        <p:txBody>
          <a:bodyPr wrap="square" lIns="0" tIns="22860" rIns="0" bIns="0">
            <a:spAutoFit/>
          </a:bodyPr>
          <a:lstStyle/>
          <a:p>
            <a:pPr>
              <a:spcAft>
                <a:spcPts val="800"/>
              </a:spcAft>
              <a:defRPr sz="2200" b="0">
                <a:solidFill>
                  <a:srgbClr val="096B69"/>
                </a:solidFill>
                <a:latin typeface="Arial"/>
              </a:defRPr>
            </a:pPr>
            <a: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Google Shape;391;p46"/>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2" name="Google Shape;392;p46"/>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3" name="Google Shape;393;p46"/>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1 of 6</a:t>
            </a:r>
            <a:endParaRPr/>
          </a:p>
        </p:txBody>
      </p:sp>
      <p:sp>
        <p:nvSpPr>
          <p:cNvPr id="394" name="Google Shape;394;p46"/>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6-1 · Division Expressions with Fractions and Whole Numbers</a:t>
            </a:r>
            <a:endParaRPr/>
          </a:p>
        </p:txBody>
      </p:sp>
      <p:sp>
        <p:nvSpPr>
          <p:cNvPr id="395" name="Google Shape;395;p46"/>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6" name="Google Shape;396;p46"/>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397" name="Google Shape;397;p46"/>
          <p:cNvSpPr txBox="1"/>
          <p:nvPr/>
        </p:nvSpPr>
        <p:spPr>
          <a:xfrm>
            <a:off x="640080" y="1977771"/>
            <a:ext cx="10911809" cy="90220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5200" b="1" i="0" u="none" strike="noStrike" cap="none">
                <a:solidFill>
                  <a:srgbClr val="14223A"/>
                </a:solidFill>
                <a:latin typeface="Arial"/>
                <a:ea typeface="Arial"/>
                <a:cs typeface="Arial"/>
                <a:sym typeface="Arial"/>
              </a:rPr>
              <a:t>Division of Fractions</a:t>
            </a:r>
            <a:endParaRPr/>
          </a:p>
        </p:txBody>
      </p:sp>
      <p:sp>
        <p:nvSpPr>
          <p:cNvPr id="398" name="Google Shape;398;p46"/>
          <p:cNvSpPr/>
          <p:nvPr/>
        </p:nvSpPr>
        <p:spPr>
          <a:xfrm>
            <a:off x="658368" y="2934843"/>
            <a:ext cx="2496312"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99" name="Google Shape;399;p46"/>
          <p:cNvSpPr txBox="1"/>
          <p:nvPr/>
        </p:nvSpPr>
        <p:spPr>
          <a:xfrm>
            <a:off x="640080" y="3296031"/>
            <a:ext cx="10911809" cy="432054"/>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700" b="0" i="0" u="none" strike="noStrike" cap="none">
                <a:solidFill>
                  <a:srgbClr val="14223A"/>
                </a:solidFill>
                <a:latin typeface="Arial"/>
                <a:ea typeface="Arial"/>
                <a:cs typeface="Arial"/>
                <a:sym typeface="Arial"/>
              </a:rPr>
              <a:t>Finding how many groups of one fraction fit inside another amount.</a:t>
            </a:r>
            <a:endParaRPr/>
          </a:p>
        </p:txBody>
      </p:sp>
      <p:sp>
        <p:nvSpPr>
          <p:cNvPr id="400" name="Google Shape;400;p46"/>
          <p:cNvSpPr/>
          <p:nvPr/>
        </p:nvSpPr>
        <p:spPr>
          <a:xfrm>
            <a:off x="640080" y="4148709"/>
            <a:ext cx="10911809" cy="105156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1" name="Google Shape;401;p46"/>
          <p:cNvSpPr/>
          <p:nvPr/>
        </p:nvSpPr>
        <p:spPr>
          <a:xfrm>
            <a:off x="640080" y="4148709"/>
            <a:ext cx="91440" cy="105156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2" name="Google Shape;402;p46"/>
          <p:cNvSpPr txBox="1"/>
          <p:nvPr/>
        </p:nvSpPr>
        <p:spPr>
          <a:xfrm>
            <a:off x="932688" y="4322445"/>
            <a:ext cx="10344881"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03" name="Google Shape;403;p46"/>
          <p:cNvSpPr txBox="1"/>
          <p:nvPr/>
        </p:nvSpPr>
        <p:spPr>
          <a:xfrm>
            <a:off x="932688" y="4624197"/>
            <a:ext cx="10344881" cy="429767"/>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100" b="0" i="0" u="none" strike="noStrike" cap="none">
                <a:solidFill>
                  <a:srgbClr val="14223A"/>
                </a:solidFill>
                <a:latin typeface="Arial"/>
                <a:ea typeface="Arial"/>
                <a:cs typeface="Arial"/>
                <a:sym typeface="Arial"/>
              </a:rPr>
              <a:t>3 ÷ 1/2 asks how many halves fit in 3; the answer is 6.</a:t>
            </a:r>
            <a:endParaRPr/>
          </a:p>
        </p:txBody>
      </p:sp>
      <p:sp>
        <p:nvSpPr>
          <p:cNvPr id="32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9 / 46</a:t>
            </a:r>
          </a:p>
        </p:txBody>
      </p:sp>
      <p:sp>
        <p:nvSpPr>
          <p:cNvPr id="404" name="TEACH-embedded-student-prompt" descr="Student thinking and response directions"/>
          <p:cNvSpPr txBox="1"/>
          <p:nvPr/>
        </p:nvSpPr>
        <p:spPr>
          <a:xfrm>
            <a:off x="4099560" y="55046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“Division of Fractions” to explain the example. Point to</a:t>
            </a:r>
            <a:endParaRPr lang="en-US" sz="2000"/>
          </a:p>
          <a:p>
            <a:pPr>
              <a:lnSpc>
                <a:spcPts val="2400"/>
              </a:lnSpc>
              <a:buNone/>
            </a:pPr>
            <a:r>
              <a:rPr lang="en-US" sz="2000">
                <a:solidFill>
                  <a:srgbClr val="174D60"/>
                </a:solidFill>
                <a:latin typeface="Arial"/>
              </a:rPr>
              <a:t>evidence.</a:t>
            </a:r>
            <a:endParaRPr lang="en-US"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8" name="Google Shape;408;p47"/>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09" name="Google Shape;409;p47"/>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0" name="Google Shape;410;p47"/>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2 of 6</a:t>
            </a:r>
            <a:endParaRPr/>
          </a:p>
        </p:txBody>
      </p:sp>
      <p:sp>
        <p:nvSpPr>
          <p:cNvPr id="411" name="Google Shape;411;p47"/>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6-1 · Division Expressions with Fractions and Whole Numbers</a:t>
            </a:r>
            <a:endParaRPr/>
          </a:p>
        </p:txBody>
      </p:sp>
      <p:sp>
        <p:nvSpPr>
          <p:cNvPr id="412" name="Google Shape;412;p47"/>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3" name="Google Shape;413;p47"/>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14" name="Google Shape;414;p47"/>
          <p:cNvSpPr txBox="1"/>
          <p:nvPr/>
        </p:nvSpPr>
        <p:spPr>
          <a:xfrm>
            <a:off x="640080" y="1979676"/>
            <a:ext cx="5897880" cy="7802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400" b="1" i="0" u="none" strike="noStrike" cap="none">
                <a:solidFill>
                  <a:srgbClr val="14223A"/>
                </a:solidFill>
                <a:latin typeface="Arial"/>
                <a:ea typeface="Arial"/>
                <a:cs typeface="Arial"/>
                <a:sym typeface="Arial"/>
              </a:rPr>
              <a:t>Reciprocal</a:t>
            </a:r>
            <a:endParaRPr/>
          </a:p>
        </p:txBody>
      </p:sp>
      <p:sp>
        <p:nvSpPr>
          <p:cNvPr id="415" name="Google Shape;415;p47"/>
          <p:cNvSpPr/>
          <p:nvPr/>
        </p:nvSpPr>
        <p:spPr>
          <a:xfrm>
            <a:off x="658368" y="2814828"/>
            <a:ext cx="1188720"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6" name="Google Shape;416;p47"/>
          <p:cNvSpPr txBox="1"/>
          <p:nvPr/>
        </p:nvSpPr>
        <p:spPr>
          <a:xfrm>
            <a:off x="640080" y="3176016"/>
            <a:ext cx="5897880" cy="365760"/>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200" b="0" i="0" u="none" strike="noStrike" cap="none">
                <a:solidFill>
                  <a:srgbClr val="14223A"/>
                </a:solidFill>
                <a:latin typeface="Arial"/>
                <a:ea typeface="Arial"/>
                <a:cs typeface="Arial"/>
                <a:sym typeface="Arial"/>
              </a:rPr>
              <a:t>A fraction turned upside down.</a:t>
            </a:r>
            <a:endParaRPr/>
          </a:p>
        </p:txBody>
      </p:sp>
      <p:sp>
        <p:nvSpPr>
          <p:cNvPr id="417" name="Google Shape;417;p47"/>
          <p:cNvSpPr/>
          <p:nvPr/>
        </p:nvSpPr>
        <p:spPr>
          <a:xfrm>
            <a:off x="640080" y="3948684"/>
            <a:ext cx="5897880" cy="124968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8" name="Google Shape;418;p47"/>
          <p:cNvSpPr/>
          <p:nvPr/>
        </p:nvSpPr>
        <p:spPr>
          <a:xfrm>
            <a:off x="640080" y="3948684"/>
            <a:ext cx="91440" cy="124968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19" name="Google Shape;419;p47"/>
          <p:cNvSpPr txBox="1"/>
          <p:nvPr/>
        </p:nvSpPr>
        <p:spPr>
          <a:xfrm>
            <a:off x="932688" y="4122420"/>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20" name="Google Shape;420;p47"/>
          <p:cNvSpPr txBox="1"/>
          <p:nvPr/>
        </p:nvSpPr>
        <p:spPr>
          <a:xfrm>
            <a:off x="932688" y="4424172"/>
            <a:ext cx="5330952" cy="6278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700" b="0" i="0" u="none" strike="noStrike" cap="none">
                <a:solidFill>
                  <a:srgbClr val="14223A"/>
                </a:solidFill>
                <a:latin typeface="Arial"/>
                <a:ea typeface="Arial"/>
                <a:cs typeface="Arial"/>
                <a:sym typeface="Arial"/>
              </a:rPr>
              <a:t>The reciprocal of 1/4 is 4/1 = 4. A whole number like 3 is 3/1, so its reciprocal is 1/3.</a:t>
            </a:r>
            <a:endParaRPr/>
          </a:p>
        </p:txBody>
      </p:sp>
      <p:pic>
        <p:nvPicPr>
          <p:cNvPr id="421" name="Google Shape;421;p47" descr="reciprocal.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10 / 46</a:t>
            </a:r>
          </a:p>
        </p:txBody>
      </p:sp>
      <p:sp>
        <p:nvSpPr>
          <p:cNvPr id="422"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“Reciprocal” to explain the example. Point to evidence.</a:t>
            </a:r>
            <a:endParaRPr lang="en-US" sz="20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6" name="Google Shape;426;p48"/>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7" name="Google Shape;427;p48"/>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28" name="Google Shape;428;p48"/>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3 of 6</a:t>
            </a:r>
            <a:endParaRPr/>
          </a:p>
        </p:txBody>
      </p:sp>
      <p:sp>
        <p:nvSpPr>
          <p:cNvPr id="429" name="Google Shape;429;p48"/>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6-1 · Division Expressions with Fractions and Whole Numbers</a:t>
            </a:r>
            <a:endParaRPr/>
          </a:p>
        </p:txBody>
      </p:sp>
      <p:sp>
        <p:nvSpPr>
          <p:cNvPr id="430" name="Google Shape;430;p48"/>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1" name="Google Shape;431;p48"/>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32" name="Google Shape;432;p48"/>
          <p:cNvSpPr txBox="1"/>
          <p:nvPr/>
        </p:nvSpPr>
        <p:spPr>
          <a:xfrm>
            <a:off x="640080" y="1979676"/>
            <a:ext cx="5897880" cy="7802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400" b="1" i="0" u="none" strike="noStrike" cap="none">
                <a:solidFill>
                  <a:srgbClr val="14223A"/>
                </a:solidFill>
                <a:latin typeface="Arial"/>
                <a:ea typeface="Arial"/>
                <a:cs typeface="Arial"/>
                <a:sym typeface="Arial"/>
              </a:rPr>
              <a:t>Quotient</a:t>
            </a:r>
            <a:endParaRPr/>
          </a:p>
        </p:txBody>
      </p:sp>
      <p:sp>
        <p:nvSpPr>
          <p:cNvPr id="433" name="Google Shape;433;p48"/>
          <p:cNvSpPr/>
          <p:nvPr/>
        </p:nvSpPr>
        <p:spPr>
          <a:xfrm>
            <a:off x="658368" y="2814828"/>
            <a:ext cx="1097280"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4" name="Google Shape;434;p48"/>
          <p:cNvSpPr txBox="1"/>
          <p:nvPr/>
        </p:nvSpPr>
        <p:spPr>
          <a:xfrm>
            <a:off x="640080" y="3176016"/>
            <a:ext cx="5897880" cy="365760"/>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200" b="0" i="0" u="none" strike="noStrike" cap="none">
                <a:solidFill>
                  <a:srgbClr val="14223A"/>
                </a:solidFill>
                <a:latin typeface="Arial"/>
                <a:ea typeface="Arial"/>
                <a:cs typeface="Arial"/>
                <a:sym typeface="Arial"/>
              </a:rPr>
              <a:t>The answer when you divide.</a:t>
            </a:r>
            <a:endParaRPr/>
          </a:p>
        </p:txBody>
      </p:sp>
      <p:sp>
        <p:nvSpPr>
          <p:cNvPr id="435" name="Google Shape;435;p48"/>
          <p:cNvSpPr/>
          <p:nvPr/>
        </p:nvSpPr>
        <p:spPr>
          <a:xfrm>
            <a:off x="640080" y="3948684"/>
            <a:ext cx="5897880" cy="124968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6" name="Google Shape;436;p48"/>
          <p:cNvSpPr/>
          <p:nvPr/>
        </p:nvSpPr>
        <p:spPr>
          <a:xfrm>
            <a:off x="640080" y="3948684"/>
            <a:ext cx="91440" cy="124968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37" name="Google Shape;437;p48"/>
          <p:cNvSpPr txBox="1"/>
          <p:nvPr/>
        </p:nvSpPr>
        <p:spPr>
          <a:xfrm>
            <a:off x="932688" y="4122420"/>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38" name="Google Shape;438;p48"/>
          <p:cNvSpPr txBox="1"/>
          <p:nvPr/>
        </p:nvSpPr>
        <p:spPr>
          <a:xfrm>
            <a:off x="932688" y="4424172"/>
            <a:ext cx="5330952" cy="6278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700" b="0" i="0" u="none" strike="noStrike" cap="none">
                <a:solidFill>
                  <a:srgbClr val="14223A"/>
                </a:solidFill>
                <a:latin typeface="Arial"/>
                <a:ea typeface="Arial"/>
                <a:cs typeface="Arial"/>
                <a:sym typeface="Arial"/>
              </a:rPr>
              <a:t>In 3 ÷ 1/4 = 12, the quotient is 12 — there are 12 quarter-size pieces in 3</a:t>
            </a:r>
            <a:endParaRPr/>
          </a:p>
        </p:txBody>
      </p:sp>
      <p:pic>
        <p:nvPicPr>
          <p:cNvPr id="439" name="Google Shape;439;p48" descr="quotient.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11 / 46</a:t>
            </a:r>
          </a:p>
        </p:txBody>
      </p:sp>
      <p:sp>
        <p:nvSpPr>
          <p:cNvPr id="440"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“Quotient” to explain the example. Point to evidence.</a:t>
            </a:r>
            <a:endParaRPr lang="en-US" sz="20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4" name="Google Shape;444;p49"/>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5" name="Google Shape;445;p49"/>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6" name="Google Shape;446;p49"/>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4 of 6</a:t>
            </a:r>
            <a:endParaRPr/>
          </a:p>
        </p:txBody>
      </p:sp>
      <p:sp>
        <p:nvSpPr>
          <p:cNvPr id="447" name="Google Shape;447;p49"/>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6-1 · Division Expressions with Fractions and Whole Numbers</a:t>
            </a:r>
            <a:endParaRPr/>
          </a:p>
        </p:txBody>
      </p:sp>
      <p:sp>
        <p:nvSpPr>
          <p:cNvPr id="448" name="Google Shape;448;p49"/>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49" name="Google Shape;449;p49"/>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50" name="Google Shape;450;p49"/>
          <p:cNvSpPr txBox="1"/>
          <p:nvPr/>
        </p:nvSpPr>
        <p:spPr>
          <a:xfrm>
            <a:off x="640080" y="1803654"/>
            <a:ext cx="5897880" cy="7802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400" b="1" i="0" u="none" strike="noStrike" cap="none">
                <a:solidFill>
                  <a:srgbClr val="14223A"/>
                </a:solidFill>
                <a:latin typeface="Arial"/>
                <a:ea typeface="Arial"/>
                <a:cs typeface="Arial"/>
                <a:sym typeface="Arial"/>
              </a:rPr>
              <a:t>Dividend</a:t>
            </a:r>
            <a:endParaRPr/>
          </a:p>
        </p:txBody>
      </p:sp>
      <p:sp>
        <p:nvSpPr>
          <p:cNvPr id="451" name="Google Shape;451;p49"/>
          <p:cNvSpPr/>
          <p:nvPr/>
        </p:nvSpPr>
        <p:spPr>
          <a:xfrm>
            <a:off x="658368" y="2638806"/>
            <a:ext cx="1097280"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2" name="Google Shape;452;p49"/>
          <p:cNvSpPr txBox="1"/>
          <p:nvPr/>
        </p:nvSpPr>
        <p:spPr>
          <a:xfrm>
            <a:off x="640080" y="2999994"/>
            <a:ext cx="5897880" cy="704088"/>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200" b="0" i="0" u="none" strike="noStrike" cap="none">
                <a:solidFill>
                  <a:srgbClr val="14223A"/>
                </a:solidFill>
                <a:latin typeface="Arial"/>
                <a:ea typeface="Arial"/>
                <a:cs typeface="Arial"/>
                <a:sym typeface="Arial"/>
              </a:rPr>
              <a:t>The total number being divided into equal groups (the number inside the division bracket).</a:t>
            </a:r>
            <a:endParaRPr/>
          </a:p>
        </p:txBody>
      </p:sp>
      <p:sp>
        <p:nvSpPr>
          <p:cNvPr id="453" name="Google Shape;453;p49"/>
          <p:cNvSpPr/>
          <p:nvPr/>
        </p:nvSpPr>
        <p:spPr>
          <a:xfrm>
            <a:off x="640080" y="4124706"/>
            <a:ext cx="5897880" cy="124968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4" name="Google Shape;454;p49"/>
          <p:cNvSpPr/>
          <p:nvPr/>
        </p:nvSpPr>
        <p:spPr>
          <a:xfrm>
            <a:off x="640080" y="4124706"/>
            <a:ext cx="91440" cy="124968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55" name="Google Shape;455;p49"/>
          <p:cNvSpPr txBox="1"/>
          <p:nvPr/>
        </p:nvSpPr>
        <p:spPr>
          <a:xfrm>
            <a:off x="932688" y="4298442"/>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56" name="Google Shape;456;p49"/>
          <p:cNvSpPr txBox="1"/>
          <p:nvPr/>
        </p:nvSpPr>
        <p:spPr>
          <a:xfrm>
            <a:off x="932688" y="4600194"/>
            <a:ext cx="5330952" cy="6278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700" b="0" i="0" u="none" strike="noStrike" cap="none">
                <a:solidFill>
                  <a:srgbClr val="14223A"/>
                </a:solidFill>
                <a:latin typeface="Arial"/>
                <a:ea typeface="Arial"/>
                <a:cs typeface="Arial"/>
                <a:sym typeface="Arial"/>
              </a:rPr>
              <a:t>In 3 ÷ 1/4 = 12, the dividend is 3 — it is the total being split</a:t>
            </a:r>
            <a:endParaRPr/>
          </a:p>
        </p:txBody>
      </p:sp>
      <p:pic>
        <p:nvPicPr>
          <p:cNvPr id="457" name="Google Shape;457;p49" descr="dividend.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12 / 46</a:t>
            </a:r>
          </a:p>
        </p:txBody>
      </p:sp>
      <p:sp>
        <p:nvSpPr>
          <p:cNvPr id="45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“Dividend” to explain the example. Point to evidence.</a:t>
            </a:r>
            <a:endParaRPr lang="en-US" sz="20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Google Shape;462;p50"/>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3" name="Google Shape;463;p50"/>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4" name="Google Shape;464;p50"/>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5 of 6</a:t>
            </a:r>
            <a:endParaRPr/>
          </a:p>
        </p:txBody>
      </p:sp>
      <p:sp>
        <p:nvSpPr>
          <p:cNvPr id="465" name="Google Shape;465;p50"/>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6-1 · Division Expressions with Fractions and Whole Numbers</a:t>
            </a:r>
            <a:endParaRPr/>
          </a:p>
        </p:txBody>
      </p:sp>
      <p:sp>
        <p:nvSpPr>
          <p:cNvPr id="466" name="Google Shape;466;p50"/>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67" name="Google Shape;467;p50"/>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68" name="Google Shape;468;p50"/>
          <p:cNvSpPr txBox="1"/>
          <p:nvPr/>
        </p:nvSpPr>
        <p:spPr>
          <a:xfrm>
            <a:off x="640080" y="1803654"/>
            <a:ext cx="5897880" cy="7802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400" b="1" i="0" u="none" strike="noStrike" cap="none">
                <a:solidFill>
                  <a:srgbClr val="14223A"/>
                </a:solidFill>
                <a:latin typeface="Arial"/>
                <a:ea typeface="Arial"/>
                <a:cs typeface="Arial"/>
                <a:sym typeface="Arial"/>
              </a:rPr>
              <a:t>Divisor</a:t>
            </a:r>
            <a:endParaRPr/>
          </a:p>
        </p:txBody>
      </p:sp>
      <p:sp>
        <p:nvSpPr>
          <p:cNvPr id="469" name="Google Shape;469;p50"/>
          <p:cNvSpPr/>
          <p:nvPr/>
        </p:nvSpPr>
        <p:spPr>
          <a:xfrm>
            <a:off x="658368" y="2638806"/>
            <a:ext cx="1097280"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0" name="Google Shape;470;p50"/>
          <p:cNvSpPr txBox="1"/>
          <p:nvPr/>
        </p:nvSpPr>
        <p:spPr>
          <a:xfrm>
            <a:off x="640080" y="2999994"/>
            <a:ext cx="5897880" cy="704088"/>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200" b="0" i="0" u="none" strike="noStrike" cap="none">
                <a:solidFill>
                  <a:srgbClr val="14223A"/>
                </a:solidFill>
                <a:latin typeface="Arial"/>
                <a:ea typeface="Arial"/>
                <a:cs typeface="Arial"/>
                <a:sym typeface="Arial"/>
              </a:rPr>
              <a:t>The number of equal groups you are dividing into (the number outside the division bracket).</a:t>
            </a:r>
            <a:endParaRPr/>
          </a:p>
        </p:txBody>
      </p:sp>
      <p:sp>
        <p:nvSpPr>
          <p:cNvPr id="471" name="Google Shape;471;p50"/>
          <p:cNvSpPr/>
          <p:nvPr/>
        </p:nvSpPr>
        <p:spPr>
          <a:xfrm>
            <a:off x="640080" y="4124706"/>
            <a:ext cx="5897880" cy="124968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2" name="Google Shape;472;p50"/>
          <p:cNvSpPr/>
          <p:nvPr/>
        </p:nvSpPr>
        <p:spPr>
          <a:xfrm>
            <a:off x="640080" y="4124706"/>
            <a:ext cx="91440" cy="124968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73" name="Google Shape;473;p50"/>
          <p:cNvSpPr txBox="1"/>
          <p:nvPr/>
        </p:nvSpPr>
        <p:spPr>
          <a:xfrm>
            <a:off x="932688" y="4298442"/>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74" name="Google Shape;474;p50"/>
          <p:cNvSpPr txBox="1"/>
          <p:nvPr/>
        </p:nvSpPr>
        <p:spPr>
          <a:xfrm>
            <a:off x="932688" y="4600194"/>
            <a:ext cx="5330952" cy="6278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700" b="0" i="0" u="none" strike="noStrike" cap="none">
                <a:solidFill>
                  <a:srgbClr val="14223A"/>
                </a:solidFill>
                <a:latin typeface="Arial"/>
                <a:ea typeface="Arial"/>
                <a:cs typeface="Arial"/>
                <a:sym typeface="Arial"/>
              </a:rPr>
              <a:t>In 3 ÷ 1/4 = 12, the divisor is 1/4 — it is the size of each piece</a:t>
            </a:r>
            <a:endParaRPr/>
          </a:p>
        </p:txBody>
      </p:sp>
      <p:pic>
        <p:nvPicPr>
          <p:cNvPr id="475" name="Google Shape;475;p50" descr="divisor.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13 / 46</a:t>
            </a:r>
          </a:p>
        </p:txBody>
      </p:sp>
      <p:sp>
        <p:nvSpPr>
          <p:cNvPr id="47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“Divisor” to explain the example. Point to evidence.</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 name="Google Shape;480;p51"/>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1" name="Google Shape;481;p51"/>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2" name="Google Shape;482;p51"/>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2000" b="1" i="0" u="none" strike="noStrike" cap="none">
                <a:solidFill>
                  <a:srgbClr val="FFFFFF"/>
                </a:solidFill>
                <a:latin typeface="Arial"/>
                <a:ea typeface="Arial"/>
                <a:cs typeface="Arial"/>
                <a:sym typeface="Arial"/>
              </a:rPr>
              <a:t>Vocabulary  6 of 6</a:t>
            </a:r>
            <a:endParaRPr/>
          </a:p>
        </p:txBody>
      </p:sp>
      <p:sp>
        <p:nvSpPr>
          <p:cNvPr id="483" name="Google Shape;483;p51"/>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pPr>
            <a:r>
              <a:rPr lang="en-US" sz="1200" b="0" i="0" u="none" strike="noStrike" cap="none">
                <a:solidFill>
                  <a:srgbClr val="FFFFFF"/>
                </a:solidFill>
                <a:latin typeface="Arial"/>
                <a:ea typeface="Arial"/>
                <a:cs typeface="Arial"/>
                <a:sym typeface="Arial"/>
              </a:rPr>
              <a:t>Lesson 6-1 · Division Expressions with Fractions and Whole Numbers</a:t>
            </a:r>
            <a:endParaRPr/>
          </a:p>
        </p:txBody>
      </p:sp>
      <p:sp>
        <p:nvSpPr>
          <p:cNvPr id="484" name="Google Shape;484;p51"/>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5" name="Google Shape;485;p51"/>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475569"/>
                </a:solidFill>
                <a:latin typeface="Arial"/>
                <a:ea typeface="Arial"/>
                <a:cs typeface="Arial"/>
                <a:sym typeface="Arial"/>
              </a:rPr>
              <a:t>eduwonderlab.com  ·  Neft Teacher</a:t>
            </a:r>
            <a:endParaRPr/>
          </a:p>
        </p:txBody>
      </p:sp>
      <p:sp>
        <p:nvSpPr>
          <p:cNvPr id="486" name="Google Shape;486;p51"/>
          <p:cNvSpPr txBox="1"/>
          <p:nvPr/>
        </p:nvSpPr>
        <p:spPr>
          <a:xfrm>
            <a:off x="640080" y="1979676"/>
            <a:ext cx="5897880" cy="7802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4400" b="1" i="0" u="none" strike="noStrike" cap="none">
                <a:solidFill>
                  <a:srgbClr val="14223A"/>
                </a:solidFill>
                <a:latin typeface="Arial"/>
                <a:ea typeface="Arial"/>
                <a:cs typeface="Arial"/>
                <a:sym typeface="Arial"/>
              </a:rPr>
              <a:t>Unit fraction</a:t>
            </a:r>
            <a:endParaRPr/>
          </a:p>
        </p:txBody>
      </p:sp>
      <p:sp>
        <p:nvSpPr>
          <p:cNvPr id="487" name="Google Shape;487;p51"/>
          <p:cNvSpPr/>
          <p:nvPr/>
        </p:nvSpPr>
        <p:spPr>
          <a:xfrm>
            <a:off x="658368" y="2814828"/>
            <a:ext cx="1545336" cy="68580"/>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88" name="Google Shape;488;p51"/>
          <p:cNvSpPr txBox="1"/>
          <p:nvPr/>
        </p:nvSpPr>
        <p:spPr>
          <a:xfrm>
            <a:off x="640080" y="3176016"/>
            <a:ext cx="5897880" cy="365760"/>
          </a:xfrm>
          <a:prstGeom prst="rect">
            <a:avLst/>
          </a:prstGeom>
          <a:noFill/>
          <a:ln>
            <a:noFill/>
          </a:ln>
        </p:spPr>
        <p:txBody>
          <a:bodyPr spcFirstLastPara="1" wrap="square" lIns="0" tIns="0" rIns="0" bIns="0" anchor="t" anchorCtr="0">
            <a:spAutoFit/>
          </a:bodyPr>
          <a:lstStyle/>
          <a:p>
            <a:pPr marL="0" marR="0" lvl="0" indent="0" algn="l" rtl="0">
              <a:lnSpc>
                <a:spcPct val="126000"/>
              </a:lnSpc>
              <a:spcBef>
                <a:spcPts val="0"/>
              </a:spcBef>
              <a:spcAft>
                <a:spcPts val="0"/>
              </a:spcAft>
              <a:buNone/>
            </a:pPr>
            <a:r>
              <a:rPr lang="en-US" sz="2200" b="0" i="0" u="none" strike="noStrike" cap="none">
                <a:solidFill>
                  <a:srgbClr val="14223A"/>
                </a:solidFill>
                <a:latin typeface="Arial"/>
                <a:ea typeface="Arial"/>
                <a:cs typeface="Arial"/>
                <a:sym typeface="Arial"/>
              </a:rPr>
              <a:t>A fraction with 1 on top, like 1/4.</a:t>
            </a:r>
            <a:endParaRPr/>
          </a:p>
        </p:txBody>
      </p:sp>
      <p:sp>
        <p:nvSpPr>
          <p:cNvPr id="489" name="Google Shape;489;p51"/>
          <p:cNvSpPr/>
          <p:nvPr/>
        </p:nvSpPr>
        <p:spPr>
          <a:xfrm>
            <a:off x="640080" y="3948684"/>
            <a:ext cx="5897880" cy="1249680"/>
          </a:xfrm>
          <a:prstGeom prst="roundRect">
            <a:avLst>
              <a:gd name="adj" fmla="val 7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0" name="Google Shape;490;p51"/>
          <p:cNvSpPr/>
          <p:nvPr/>
        </p:nvSpPr>
        <p:spPr>
          <a:xfrm>
            <a:off x="640080" y="3948684"/>
            <a:ext cx="91440" cy="124968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91" name="Google Shape;491;p51"/>
          <p:cNvSpPr txBox="1"/>
          <p:nvPr/>
        </p:nvSpPr>
        <p:spPr>
          <a:xfrm>
            <a:off x="932688" y="4122420"/>
            <a:ext cx="5330952" cy="23774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150" b="1" i="0" u="none" strike="noStrike" cap="none">
                <a:solidFill>
                  <a:srgbClr val="C2410C"/>
                </a:solidFill>
                <a:latin typeface="Arial"/>
                <a:ea typeface="Arial"/>
                <a:cs typeface="Arial"/>
                <a:sym typeface="Arial"/>
              </a:rPr>
              <a:t>EXAMPLE · EXPLAIN WHY IT FITS</a:t>
            </a:r>
            <a:endParaRPr/>
          </a:p>
        </p:txBody>
      </p:sp>
      <p:sp>
        <p:nvSpPr>
          <p:cNvPr id="492" name="Google Shape;492;p51"/>
          <p:cNvSpPr txBox="1"/>
          <p:nvPr/>
        </p:nvSpPr>
        <p:spPr>
          <a:xfrm>
            <a:off x="932688" y="4424172"/>
            <a:ext cx="5330952" cy="62788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700" b="0" i="0" u="none" strike="noStrike" cap="none">
                <a:solidFill>
                  <a:srgbClr val="14223A"/>
                </a:solidFill>
                <a:latin typeface="Arial"/>
                <a:ea typeface="Arial"/>
                <a:cs typeface="Arial"/>
                <a:sym typeface="Arial"/>
              </a:rPr>
              <a:t>1/2, 1/3, 1/4, 1/5 — each represents one equal part of a whole</a:t>
            </a:r>
            <a:endParaRPr/>
          </a:p>
        </p:txBody>
      </p:sp>
      <p:pic>
        <p:nvPicPr>
          <p:cNvPr id="493" name="Google Shape;493;p51" descr="unit-fraction.png"/>
          <p:cNvPicPr preferRelativeResize="0"/>
          <p:nvPr/>
        </p:nvPicPr>
        <p:blipFill rotWithShape="1">
          <a:blip r:embed="rId3">
            <a:alphaModFix/>
          </a:blip>
          <a:srcRect/>
          <a:stretch/>
        </p:blipFill>
        <p:spPr>
          <a:xfrm>
            <a:off x="6903720" y="1853738"/>
            <a:ext cx="4572000" cy="3424843"/>
          </a:xfrm>
          <a:prstGeom prst="rect">
            <a:avLst/>
          </a:prstGeom>
          <a:noFill/>
          <a:ln>
            <a:noFill/>
          </a:ln>
        </p:spPr>
      </p:pic>
      <p:sp>
        <p:nvSpPr>
          <p:cNvPr id="32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14 / 46</a:t>
            </a:r>
          </a:p>
        </p:txBody>
      </p:sp>
      <p:sp>
        <p:nvSpPr>
          <p:cNvPr id="49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“Unit fraction” to explain the example. Point to evidence.</a:t>
            </a:r>
            <a:endParaRPr lang="en-US" sz="2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63" name="Google Shape;563;p55"/>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564" name="Google Shape;564;p55"/>
          <p:cNvSpPr txBox="1"/>
          <p:nvPr/>
        </p:nvSpPr>
        <p:spPr>
          <a:xfrm>
            <a:off x="474055" y="936100"/>
            <a:ext cx="4319887" cy="122933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62626"/>
                </a:solidFill>
                <a:latin typeface="Arial"/>
                <a:ea typeface="Arial"/>
                <a:cs typeface="Arial"/>
                <a:sym typeface="Arial"/>
              </a:rPr>
              <a:t>What do you notice?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0" i="0" u="none" strike="noStrike" cap="none">
                <a:solidFill>
                  <a:srgbClr val="262626"/>
                </a:solidFill>
                <a:latin typeface="Arial"/>
                <a:ea typeface="Arial"/>
                <a:cs typeface="Arial"/>
                <a:sym typeface="Arial"/>
              </a:rPr>
              <a:t>What do you wonder?</a:t>
            </a:r>
            <a:endParaRPr sz="1400" b="0" i="0" u="none" strike="noStrike" cap="none">
              <a:solidFill>
                <a:srgbClr val="000000"/>
              </a:solidFill>
              <a:latin typeface="Arial"/>
              <a:ea typeface="Arial"/>
              <a:cs typeface="Arial"/>
              <a:sym typeface="Arial"/>
            </a:endParaRPr>
          </a:p>
        </p:txBody>
      </p:sp>
      <p:sp>
        <p:nvSpPr>
          <p:cNvPr id="565" name="Google Shape;565;p55"/>
          <p:cNvSpPr txBox="1"/>
          <p:nvPr/>
        </p:nvSpPr>
        <p:spPr>
          <a:xfrm>
            <a:off x="484560" y="316034"/>
            <a:ext cx="390412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B050"/>
              </a:buClr>
              <a:buSzPts val="2800"/>
              <a:buFont typeface="Arial"/>
              <a:buNone/>
            </a:pPr>
            <a:r>
              <a:rPr lang="en-US" sz="2800" b="1" i="0" u="none" strike="noStrike" cap="none">
                <a:solidFill>
                  <a:srgbClr val="00B050"/>
                </a:solidFill>
                <a:latin typeface="Arial"/>
                <a:ea typeface="Arial"/>
                <a:cs typeface="Arial"/>
                <a:sym typeface="Arial"/>
              </a:rPr>
              <a:t>Be Curious</a:t>
            </a:r>
            <a:endParaRPr sz="1400" b="0" i="0" u="none" strike="noStrike" cap="none">
              <a:solidFill>
                <a:srgbClr val="000000"/>
              </a:solidFill>
              <a:latin typeface="Arial"/>
              <a:ea typeface="Arial"/>
              <a:cs typeface="Arial"/>
              <a:sym typeface="Arial"/>
            </a:endParaRPr>
          </a:p>
        </p:txBody>
      </p:sp>
      <p:pic>
        <p:nvPicPr>
          <p:cNvPr id="566" name="Google Shape;566;p55"/>
          <p:cNvPicPr preferRelativeResize="0"/>
          <p:nvPr/>
        </p:nvPicPr>
        <p:blipFill rotWithShape="1">
          <a:blip r:embed="rId3">
            <a:alphaModFix/>
          </a:blip>
          <a:srcRect/>
          <a:stretch/>
        </p:blipFill>
        <p:spPr>
          <a:xfrm>
            <a:off x="4495220" y="787911"/>
            <a:ext cx="3066690" cy="3996000"/>
          </a:xfrm>
          <a:prstGeom prst="rect">
            <a:avLst/>
          </a:prstGeom>
          <a:noFill/>
          <a:ln>
            <a:noFill/>
          </a:ln>
        </p:spPr>
      </p:pic>
      <p:pic>
        <p:nvPicPr>
          <p:cNvPr id="567" name="Google Shape;567;p55"/>
          <p:cNvPicPr preferRelativeResize="0"/>
          <p:nvPr/>
        </p:nvPicPr>
        <p:blipFill rotWithShape="1">
          <a:blip r:embed="rId4">
            <a:alphaModFix/>
          </a:blip>
          <a:srcRect/>
          <a:stretch/>
        </p:blipFill>
        <p:spPr>
          <a:xfrm>
            <a:off x="484560" y="5083700"/>
            <a:ext cx="5054600" cy="838200"/>
          </a:xfrm>
          <a:prstGeom prst="rect">
            <a:avLst/>
          </a:prstGeom>
          <a:noFill/>
          <a:ln>
            <a:noFill/>
          </a:ln>
        </p:spPr>
      </p:pic>
      <p:sp>
        <p:nvSpPr>
          <p:cNvPr id="568" name="Google Shape;568;p55"/>
          <p:cNvSpPr txBox="1"/>
          <p:nvPr/>
        </p:nvSpPr>
        <p:spPr>
          <a:xfrm>
            <a:off x="3344577" y="5241018"/>
            <a:ext cx="2194584" cy="63971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62626"/>
                </a:solidFill>
                <a:latin typeface="Arial"/>
                <a:ea typeface="Arial"/>
                <a:cs typeface="Arial"/>
                <a:sym typeface="Arial"/>
              </a:rPr>
              <a:t>Mindset</a:t>
            </a:r>
            <a:endParaRPr sz="1400" b="0" i="0" u="none" strike="noStrike" cap="none">
              <a:solidFill>
                <a:srgbClr val="000000"/>
              </a:solidFill>
              <a:latin typeface="Arial"/>
              <a:ea typeface="Arial"/>
              <a:cs typeface="Arial"/>
              <a:sym typeface="Arial"/>
            </a:endParaRPr>
          </a:p>
        </p:txBody>
      </p:sp>
      <p:sp>
        <p:nvSpPr>
          <p:cNvPr id="569" name="Google Shape;569;p55"/>
          <p:cNvSpPr/>
          <p:nvPr/>
        </p:nvSpPr>
        <p:spPr>
          <a:xfrm>
            <a:off x="697756" y="5899023"/>
            <a:ext cx="10741420"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0" i="0" u="none" strike="noStrike" cap="none">
                <a:solidFill>
                  <a:srgbClr val="595959"/>
                </a:solidFill>
                <a:latin typeface="Arial"/>
                <a:ea typeface="Arial"/>
                <a:cs typeface="Arial"/>
                <a:sym typeface="Arial"/>
              </a:rPr>
              <a:t>How can you build your confidence when engaging with math?</a:t>
            </a:r>
            <a:endParaRPr sz="1400" b="0" i="0" u="none" strike="noStrike" cap="non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15 / 46</a:t>
            </a:r>
          </a:p>
        </p:txBody>
      </p:sp>
      <p:sp>
        <p:nvSpPr>
          <p:cNvPr id="570"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55" name="Google Shape;355;p45"/>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6" name="Google Shape;356;p45"/>
          <p:cNvSpPr/>
          <p:nvPr/>
        </p:nvSpPr>
        <p:spPr>
          <a:xfrm>
            <a:off x="0" y="0"/>
            <a:ext cx="12191969" cy="713232"/>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57" name="Google Shape;357;p45"/>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Vocabulary</a:t>
            </a:r>
            <a:endParaRPr/>
          </a:p>
        </p:txBody>
      </p:sp>
      <p:sp>
        <p:nvSpPr>
          <p:cNvPr id="358" name="Google Shape;358;p45"/>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1200" b="0" i="0" u="none" strike="noStrike" cap="none">
                <a:solidFill>
                  <a:srgbClr val="FFFFFF"/>
                </a:solidFill>
                <a:latin typeface="Arial"/>
                <a:ea typeface="Arial"/>
                <a:cs typeface="Arial"/>
                <a:sym typeface="Arial"/>
              </a:rPr>
              <a:t>Lesson 6-1 · Division Expressions with Fractions and Whole Numbers</a:t>
            </a:r>
            <a:endParaRPr/>
          </a:p>
        </p:txBody>
      </p:sp>
      <p:sp>
        <p:nvSpPr>
          <p:cNvPr id="359" name="Google Shape;359;p45"/>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0" name="Google Shape;360;p45"/>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361" name="Google Shape;361;p45"/>
          <p:cNvSpPr txBox="1"/>
          <p:nvPr/>
        </p:nvSpPr>
        <p:spPr>
          <a:xfrm>
            <a:off x="640080" y="1005840"/>
            <a:ext cx="10911809" cy="512064"/>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3400" b="1" i="0" u="none" strike="noStrike" cap="none">
                <a:solidFill>
                  <a:srgbClr val="14223A"/>
                </a:solidFill>
                <a:latin typeface="Arial"/>
                <a:ea typeface="Arial"/>
                <a:cs typeface="Arial"/>
                <a:sym typeface="Arial"/>
              </a:rPr>
              <a:t>Today’s Math Words</a:t>
            </a:r>
            <a:endParaRPr/>
          </a:p>
        </p:txBody>
      </p:sp>
      <p:sp>
        <p:nvSpPr>
          <p:cNvPr id="362" name="Google Shape;362;p45"/>
          <p:cNvSpPr txBox="1"/>
          <p:nvPr/>
        </p:nvSpPr>
        <p:spPr>
          <a:xfrm>
            <a:off x="640080" y="1591056"/>
            <a:ext cx="1091180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0" i="1" u="none" strike="noStrike" cap="none">
                <a:solidFill>
                  <a:srgbClr val="475569"/>
                </a:solidFill>
                <a:latin typeface="Arial"/>
                <a:ea typeface="Arial"/>
                <a:cs typeface="Arial"/>
                <a:sym typeface="Arial"/>
              </a:rPr>
              <a:t>We learn every word — what it means and what it looks like — before we use it.</a:t>
            </a:r>
            <a:endParaRPr/>
          </a:p>
        </p:txBody>
      </p:sp>
      <p:sp>
        <p:nvSpPr>
          <p:cNvPr id="363" name="Google Shape;363;p45"/>
          <p:cNvSpPr/>
          <p:nvPr/>
        </p:nvSpPr>
        <p:spPr>
          <a:xfrm>
            <a:off x="640080" y="2103120"/>
            <a:ext cx="5291312" cy="1115568"/>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4" name="Google Shape;364;p45"/>
          <p:cNvSpPr/>
          <p:nvPr/>
        </p:nvSpPr>
        <p:spPr>
          <a:xfrm>
            <a:off x="640080" y="2103120"/>
            <a:ext cx="91440" cy="1115568"/>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5" name="Google Shape;365;p45"/>
          <p:cNvSpPr txBox="1"/>
          <p:nvPr/>
        </p:nvSpPr>
        <p:spPr>
          <a:xfrm>
            <a:off x="950976" y="2240279"/>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defRPr/>
            </a:pPr>
            <a:r>
              <a:rPr lang="en-US" sz="1700" b="1" i="0" u="none" strike="noStrike" cap="none">
                <a:solidFill>
                  <a:srgbClr val="14223A"/>
                </a:solidFill>
                <a:latin typeface="Arial"/>
                <a:ea typeface="Arial"/>
                <a:cs typeface="Arial"/>
                <a:sym typeface="Arial"/>
              </a:rPr>
              <a:t>Division of Fractions</a:t>
            </a:r>
            <a:endParaRPr/>
          </a:p>
        </p:txBody>
      </p:sp>
      <p:sp>
        <p:nvSpPr>
          <p:cNvPr id="366" name="Google Shape;366;p45"/>
          <p:cNvSpPr txBox="1"/>
          <p:nvPr/>
        </p:nvSpPr>
        <p:spPr>
          <a:xfrm>
            <a:off x="950976" y="2578608"/>
            <a:ext cx="4724384" cy="548640"/>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defRPr/>
            </a:pPr>
            <a:r>
              <a:rPr lang="en-US" sz="1250" b="0" i="0" u="none" strike="noStrike" cap="none">
                <a:solidFill>
                  <a:srgbClr val="475569"/>
                </a:solidFill>
                <a:latin typeface="Arial"/>
                <a:ea typeface="Arial"/>
                <a:cs typeface="Arial"/>
                <a:sym typeface="Arial"/>
              </a:rPr>
              <a:t>Finding how many groups of one fraction fit inside another amount</a:t>
            </a:r>
            <a:endParaRPr/>
          </a:p>
        </p:txBody>
      </p:sp>
      <p:sp>
        <p:nvSpPr>
          <p:cNvPr id="367" name="Google Shape;367;p45"/>
          <p:cNvSpPr/>
          <p:nvPr/>
        </p:nvSpPr>
        <p:spPr>
          <a:xfrm>
            <a:off x="6260576" y="2103120"/>
            <a:ext cx="5291312" cy="1115568"/>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8" name="Google Shape;368;p45"/>
          <p:cNvSpPr/>
          <p:nvPr/>
        </p:nvSpPr>
        <p:spPr>
          <a:xfrm>
            <a:off x="6260576" y="2103120"/>
            <a:ext cx="91440" cy="1115568"/>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69" name="Google Shape;369;p45"/>
          <p:cNvSpPr txBox="1"/>
          <p:nvPr/>
        </p:nvSpPr>
        <p:spPr>
          <a:xfrm>
            <a:off x="6571472" y="2240279"/>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defRPr/>
            </a:pPr>
            <a:r>
              <a:rPr lang="en-US" sz="1700" b="1" i="0" u="none" strike="noStrike" cap="none">
                <a:solidFill>
                  <a:srgbClr val="14223A"/>
                </a:solidFill>
                <a:latin typeface="Arial"/>
                <a:ea typeface="Arial"/>
                <a:cs typeface="Arial"/>
                <a:sym typeface="Arial"/>
              </a:rPr>
              <a:t>Reciprocal</a:t>
            </a:r>
            <a:endParaRPr/>
          </a:p>
        </p:txBody>
      </p:sp>
      <p:sp>
        <p:nvSpPr>
          <p:cNvPr id="370" name="Google Shape;370;p45"/>
          <p:cNvSpPr txBox="1"/>
          <p:nvPr/>
        </p:nvSpPr>
        <p:spPr>
          <a:xfrm>
            <a:off x="6571472" y="2578608"/>
            <a:ext cx="4724384" cy="548640"/>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defRPr/>
            </a:pPr>
            <a:r>
              <a:rPr lang="en-US" sz="1400" b="0" i="0" u="none" strike="noStrike" cap="none">
                <a:solidFill>
                  <a:srgbClr val="475569"/>
                </a:solidFill>
                <a:latin typeface="Arial"/>
                <a:ea typeface="Arial"/>
                <a:cs typeface="Arial"/>
                <a:sym typeface="Arial"/>
              </a:rPr>
              <a:t>A fraction turned upside down</a:t>
            </a:r>
            <a:endParaRPr/>
          </a:p>
        </p:txBody>
      </p:sp>
      <p:sp>
        <p:nvSpPr>
          <p:cNvPr id="371" name="Google Shape;371;p45"/>
          <p:cNvSpPr/>
          <p:nvPr/>
        </p:nvSpPr>
        <p:spPr>
          <a:xfrm>
            <a:off x="640080" y="3401568"/>
            <a:ext cx="5291312" cy="1115568"/>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2" name="Google Shape;372;p45"/>
          <p:cNvSpPr/>
          <p:nvPr/>
        </p:nvSpPr>
        <p:spPr>
          <a:xfrm>
            <a:off x="640080" y="3401568"/>
            <a:ext cx="91440" cy="1115568"/>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3" name="Google Shape;373;p45"/>
          <p:cNvSpPr txBox="1"/>
          <p:nvPr/>
        </p:nvSpPr>
        <p:spPr>
          <a:xfrm>
            <a:off x="950976" y="3538727"/>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defRPr/>
            </a:pPr>
            <a:r>
              <a:rPr lang="en-US" sz="1700" b="1" i="0" u="none" strike="noStrike" cap="none">
                <a:solidFill>
                  <a:srgbClr val="14223A"/>
                </a:solidFill>
                <a:latin typeface="Arial"/>
                <a:ea typeface="Arial"/>
                <a:cs typeface="Arial"/>
                <a:sym typeface="Arial"/>
              </a:rPr>
              <a:t>Quotient</a:t>
            </a:r>
            <a:endParaRPr/>
          </a:p>
        </p:txBody>
      </p:sp>
      <p:sp>
        <p:nvSpPr>
          <p:cNvPr id="374" name="Google Shape;374;p45"/>
          <p:cNvSpPr txBox="1"/>
          <p:nvPr/>
        </p:nvSpPr>
        <p:spPr>
          <a:xfrm>
            <a:off x="950976" y="3877056"/>
            <a:ext cx="4724384" cy="548640"/>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defRPr/>
            </a:pPr>
            <a:r>
              <a:rPr lang="en-US" sz="1400" b="0" i="0" u="none" strike="noStrike" cap="none">
                <a:solidFill>
                  <a:srgbClr val="475569"/>
                </a:solidFill>
                <a:latin typeface="Arial"/>
                <a:ea typeface="Arial"/>
                <a:cs typeface="Arial"/>
                <a:sym typeface="Arial"/>
              </a:rPr>
              <a:t>The answer when you divide</a:t>
            </a:r>
            <a:endParaRPr/>
          </a:p>
        </p:txBody>
      </p:sp>
      <p:sp>
        <p:nvSpPr>
          <p:cNvPr id="375" name="Google Shape;375;p45"/>
          <p:cNvSpPr/>
          <p:nvPr/>
        </p:nvSpPr>
        <p:spPr>
          <a:xfrm>
            <a:off x="6260576" y="3401568"/>
            <a:ext cx="5291312" cy="1115568"/>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6" name="Google Shape;376;p45"/>
          <p:cNvSpPr/>
          <p:nvPr/>
        </p:nvSpPr>
        <p:spPr>
          <a:xfrm>
            <a:off x="6260576" y="3401568"/>
            <a:ext cx="91440" cy="1115568"/>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77" name="Google Shape;377;p45"/>
          <p:cNvSpPr txBox="1"/>
          <p:nvPr/>
        </p:nvSpPr>
        <p:spPr>
          <a:xfrm>
            <a:off x="6571472" y="3538727"/>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defRPr/>
            </a:pPr>
            <a:r>
              <a:rPr lang="en-US" sz="1700" b="1" i="0" u="none" strike="noStrike" cap="none">
                <a:solidFill>
                  <a:srgbClr val="14223A"/>
                </a:solidFill>
                <a:latin typeface="Arial"/>
                <a:ea typeface="Arial"/>
                <a:cs typeface="Arial"/>
                <a:sym typeface="Arial"/>
              </a:rPr>
              <a:t>Dividend</a:t>
            </a:r>
            <a:endParaRPr/>
          </a:p>
        </p:txBody>
      </p:sp>
      <p:sp>
        <p:nvSpPr>
          <p:cNvPr id="378" name="Google Shape;378;p45"/>
          <p:cNvSpPr txBox="1"/>
          <p:nvPr/>
        </p:nvSpPr>
        <p:spPr>
          <a:xfrm>
            <a:off x="6571472" y="3877056"/>
            <a:ext cx="4724384" cy="548640"/>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defRPr/>
            </a:pPr>
            <a:r>
              <a:rPr lang="en-US" sz="1250" b="0" i="0" u="none" strike="noStrike" cap="none">
                <a:solidFill>
                  <a:srgbClr val="475569"/>
                </a:solidFill>
                <a:latin typeface="Arial"/>
                <a:ea typeface="Arial"/>
                <a:cs typeface="Arial"/>
                <a:sym typeface="Arial"/>
              </a:rPr>
              <a:t>The total number being divided into equal groups (the number inside the division bracket)</a:t>
            </a:r>
            <a:endParaRPr/>
          </a:p>
        </p:txBody>
      </p:sp>
      <p:sp>
        <p:nvSpPr>
          <p:cNvPr id="379" name="Google Shape;379;p45"/>
          <p:cNvSpPr/>
          <p:nvPr/>
        </p:nvSpPr>
        <p:spPr>
          <a:xfrm>
            <a:off x="640080" y="4700016"/>
            <a:ext cx="5291312" cy="1115568"/>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0" name="Google Shape;380;p45"/>
          <p:cNvSpPr/>
          <p:nvPr/>
        </p:nvSpPr>
        <p:spPr>
          <a:xfrm>
            <a:off x="640080" y="4700016"/>
            <a:ext cx="91440" cy="1115568"/>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1" name="Google Shape;381;p45"/>
          <p:cNvSpPr txBox="1"/>
          <p:nvPr/>
        </p:nvSpPr>
        <p:spPr>
          <a:xfrm>
            <a:off x="950976" y="4837176"/>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defRPr/>
            </a:pPr>
            <a:r>
              <a:rPr lang="en-US" sz="1700" b="1" i="0" u="none" strike="noStrike" cap="none">
                <a:solidFill>
                  <a:srgbClr val="14223A"/>
                </a:solidFill>
                <a:latin typeface="Arial"/>
                <a:ea typeface="Arial"/>
                <a:cs typeface="Arial"/>
                <a:sym typeface="Arial"/>
              </a:rPr>
              <a:t>Divisor</a:t>
            </a:r>
            <a:endParaRPr/>
          </a:p>
        </p:txBody>
      </p:sp>
      <p:sp>
        <p:nvSpPr>
          <p:cNvPr id="382" name="Google Shape;382;p45"/>
          <p:cNvSpPr txBox="1"/>
          <p:nvPr/>
        </p:nvSpPr>
        <p:spPr>
          <a:xfrm>
            <a:off x="950976" y="5175504"/>
            <a:ext cx="4724384" cy="548640"/>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defRPr/>
            </a:pPr>
            <a:r>
              <a:rPr lang="en-US" sz="1250" b="0" i="0" u="none" strike="noStrike" cap="none">
                <a:solidFill>
                  <a:srgbClr val="475569"/>
                </a:solidFill>
                <a:latin typeface="Arial"/>
                <a:ea typeface="Arial"/>
                <a:cs typeface="Arial"/>
                <a:sym typeface="Arial"/>
              </a:rPr>
              <a:t>The number of equal groups you are dividing into (the number outside the division bracket)</a:t>
            </a:r>
            <a:endParaRPr/>
          </a:p>
        </p:txBody>
      </p:sp>
      <p:sp>
        <p:nvSpPr>
          <p:cNvPr id="383" name="Google Shape;383;p45"/>
          <p:cNvSpPr/>
          <p:nvPr/>
        </p:nvSpPr>
        <p:spPr>
          <a:xfrm>
            <a:off x="6260576" y="4700016"/>
            <a:ext cx="5291312" cy="1115568"/>
          </a:xfrm>
          <a:prstGeom prst="roundRect">
            <a:avLst>
              <a:gd name="adj" fmla="val 9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4" name="Google Shape;384;p45"/>
          <p:cNvSpPr/>
          <p:nvPr/>
        </p:nvSpPr>
        <p:spPr>
          <a:xfrm>
            <a:off x="6260576" y="4700016"/>
            <a:ext cx="91440" cy="1115568"/>
          </a:xfrm>
          <a:prstGeom prst="rect">
            <a:avLst/>
          </a:prstGeom>
          <a:solidFill>
            <a:srgbClr val="02639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85" name="Google Shape;385;p45"/>
          <p:cNvSpPr txBox="1"/>
          <p:nvPr/>
        </p:nvSpPr>
        <p:spPr>
          <a:xfrm>
            <a:off x="6571472" y="4837176"/>
            <a:ext cx="4724384" cy="310896"/>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defRPr/>
            </a:pPr>
            <a:r>
              <a:rPr lang="en-US" sz="1700" b="1" i="0" u="none" strike="noStrike" cap="none">
                <a:solidFill>
                  <a:srgbClr val="14223A"/>
                </a:solidFill>
                <a:latin typeface="Arial"/>
                <a:ea typeface="Arial"/>
                <a:cs typeface="Arial"/>
                <a:sym typeface="Arial"/>
              </a:rPr>
              <a:t>Unit fraction</a:t>
            </a:r>
            <a:endParaRPr/>
          </a:p>
        </p:txBody>
      </p:sp>
      <p:sp>
        <p:nvSpPr>
          <p:cNvPr id="386" name="Google Shape;386;p45"/>
          <p:cNvSpPr txBox="1"/>
          <p:nvPr/>
        </p:nvSpPr>
        <p:spPr>
          <a:xfrm>
            <a:off x="6571472" y="5175504"/>
            <a:ext cx="4724384" cy="548640"/>
          </a:xfrm>
          <a:prstGeom prst="rect">
            <a:avLst/>
          </a:prstGeom>
          <a:noFill/>
          <a:ln>
            <a:noFill/>
          </a:ln>
        </p:spPr>
        <p:txBody>
          <a:bodyPr spcFirstLastPara="1" wrap="square" lIns="0" tIns="0" rIns="0" bIns="0" anchor="t" anchorCtr="0">
            <a:spAutoFit/>
          </a:bodyPr>
          <a:lstStyle/>
          <a:p>
            <a:pPr marL="0" marR="0" lvl="0" indent="0" algn="l" rtl="0">
              <a:lnSpc>
                <a:spcPct val="116000"/>
              </a:lnSpc>
              <a:spcBef>
                <a:spcPts val="0"/>
              </a:spcBef>
              <a:spcAft>
                <a:spcPts val="0"/>
              </a:spcAft>
              <a:buNone/>
              <a:defRPr/>
            </a:pPr>
            <a:r>
              <a:rPr lang="en-US" sz="1400" b="0" i="0" u="none" strike="noStrike" cap="none">
                <a:solidFill>
                  <a:srgbClr val="475569"/>
                </a:solidFill>
                <a:latin typeface="Arial"/>
                <a:ea typeface="Arial"/>
                <a:cs typeface="Arial"/>
                <a:sym typeface="Arial"/>
              </a:rPr>
              <a:t>A fraction with 1 on top, like 1/4</a:t>
            </a:r>
            <a:endParaRPr/>
          </a:p>
        </p:txBody>
      </p:sp>
      <p:sp>
        <p:nvSpPr>
          <p:cNvPr id="387"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16 / 46</a:t>
            </a:r>
          </a:p>
        </p:txBody>
      </p:sp>
      <p:grpSp>
        <p:nvGrpSpPr>
          <p:cNvPr id="388" name="TEACH-5-student-move" descr="TEACH 5 · Facilitate student interactions and academic talk"/>
          <p:cNvGrpSpPr/>
          <p:nvPr/>
        </p:nvGrpSpPr>
        <p:grpSpPr>
          <a:xfrm>
            <a:off x="502920" y="5852160"/>
            <a:ext cx="11186160" cy="457200"/>
            <a:chOff x="502920" y="5852160"/>
            <a:chExt cx="11186160" cy="457200"/>
          </a:xfrm>
        </p:grpSpPr>
        <p:sp>
          <p:nvSpPr>
            <p:cNvPr id="389" name="TEACH-move-card"/>
            <p:cNvSpPr/>
            <p:nvPr/>
          </p:nvSpPr>
          <p:spPr>
            <a:xfrm>
              <a:off x="502920" y="585216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390" name="TEACH-move-rule"/>
            <p:cNvSpPr/>
            <p:nvPr/>
          </p:nvSpPr>
          <p:spPr>
            <a:xfrm>
              <a:off x="548640" y="5939028"/>
              <a:ext cx="100584" cy="283464"/>
            </a:xfrm>
            <a:prstGeom prst="roundRect">
              <a:avLst>
                <a:gd name="adj" fmla="val 50000"/>
              </a:avLst>
            </a:prstGeom>
            <a:solidFill>
              <a:srgbClr val="01708C"/>
            </a:solidFill>
            <a:ln>
              <a:noFill/>
            </a:ln>
          </p:spPr>
          <p:txBody>
            <a:bodyPr/>
            <a:lstStyle/>
            <a:p>
              <a:endParaRPr/>
            </a:p>
          </p:txBody>
        </p:sp>
        <p:sp>
          <p:nvSpPr>
            <p:cNvPr id="391" name="TEACH-move-text"/>
            <p:cNvSpPr txBox="1"/>
            <p:nvPr/>
          </p:nvSpPr>
          <p:spPr>
            <a:xfrm>
              <a:off x="822960" y="585216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cxnSp>
        <p:nvCxnSpPr>
          <p:cNvPr id="582" name="Google Shape;582;p57"/>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583" name="Google Shape;583;p57"/>
          <p:cNvSpPr txBox="1"/>
          <p:nvPr/>
        </p:nvSpPr>
        <p:spPr>
          <a:xfrm>
            <a:off x="484565" y="936099"/>
            <a:ext cx="7567004" cy="423441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A summer science, technology, engineering, and math (STEM) summer camp has a 3-hour-long afternoon session. The campers choose from different afternoon activities that are each 45 minutes long. How many 45-minute activities can the campers complete in the 3-hour afternoon session?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i="0" u="none" strike="noStrike" cap="none">
                <a:solidFill>
                  <a:srgbClr val="23282D"/>
                </a:solidFill>
                <a:latin typeface="Arial"/>
                <a:ea typeface="Arial"/>
                <a:cs typeface="Arial"/>
                <a:sym typeface="Arial"/>
              </a:rPr>
              <a:t>What do you notice about the units of time used for the session and the activities?</a:t>
            </a:r>
            <a:endParaRPr sz="1400" b="0" i="0" u="none" strike="noStrike" cap="none">
              <a:solidFill>
                <a:srgbClr val="000000"/>
              </a:solidFill>
              <a:latin typeface="Arial"/>
              <a:ea typeface="Arial"/>
              <a:cs typeface="Arial"/>
              <a:sym typeface="Arial"/>
            </a:endParaRPr>
          </a:p>
        </p:txBody>
      </p:sp>
      <p:pic>
        <p:nvPicPr>
          <p:cNvPr id="584" name="Google Shape;584;p57"/>
          <p:cNvPicPr preferRelativeResize="0"/>
          <p:nvPr/>
        </p:nvPicPr>
        <p:blipFill rotWithShape="1">
          <a:blip r:embed="rId3">
            <a:alphaModFix/>
          </a:blip>
          <a:srcRect/>
          <a:stretch/>
        </p:blipFill>
        <p:spPr>
          <a:xfrm>
            <a:off x="8051569" y="1429789"/>
            <a:ext cx="3888000" cy="2592000"/>
          </a:xfrm>
          <a:prstGeom prst="rect">
            <a:avLst/>
          </a:prstGeom>
          <a:noFill/>
          <a:ln>
            <a:noFill/>
          </a:ln>
        </p:spPr>
      </p:pic>
      <p:sp>
        <p:nvSpPr>
          <p:cNvPr id="585" name="Google Shape;585;p57"/>
          <p:cNvSpPr txBox="1"/>
          <p:nvPr/>
        </p:nvSpPr>
        <p:spPr>
          <a:xfrm>
            <a:off x="484565" y="5220000"/>
            <a:ext cx="5960624" cy="11344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586" name="Google Shape;586;p57"/>
          <p:cNvSpPr txBox="1"/>
          <p:nvPr/>
        </p:nvSpPr>
        <p:spPr>
          <a:xfrm>
            <a:off x="484565" y="316034"/>
            <a:ext cx="5641027" cy="62006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STEM Camp</a:t>
            </a:r>
            <a:endParaRPr sz="1400" b="0" i="0" u="none" strike="noStrike" cap="none">
              <a:solidFill>
                <a:srgbClr val="000000"/>
              </a:solidFill>
              <a:latin typeface="Arial"/>
              <a:ea typeface="Arial"/>
              <a:cs typeface="Arial"/>
              <a:sym typeface="Arial"/>
            </a:endParaRPr>
          </a:p>
        </p:txBody>
      </p:sp>
      <p:sp>
        <p:nvSpPr>
          <p:cNvPr id="587"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17 / 46</a:t>
            </a:r>
          </a:p>
        </p:txBody>
      </p:sp>
      <p:grpSp>
        <p:nvGrpSpPr>
          <p:cNvPr id="588" name="TEACH-3-student-move" descr="TEACH 3 · Use intentional questioning to deepen learning"/>
          <p:cNvGrpSpPr/>
          <p:nvPr/>
        </p:nvGrpSpPr>
        <p:grpSpPr>
          <a:xfrm>
            <a:off x="502920" y="5774329"/>
            <a:ext cx="11186160" cy="457200"/>
            <a:chOff x="502920" y="5774329"/>
            <a:chExt cx="11186160" cy="457200"/>
          </a:xfrm>
        </p:grpSpPr>
        <p:sp>
          <p:nvSpPr>
            <p:cNvPr id="589" name="TEACH-move-card"/>
            <p:cNvSpPr/>
            <p:nvPr/>
          </p:nvSpPr>
          <p:spPr>
            <a:xfrm>
              <a:off x="502920" y="5774329"/>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590" name="TEACH-move-rule"/>
            <p:cNvSpPr/>
            <p:nvPr/>
          </p:nvSpPr>
          <p:spPr>
            <a:xfrm>
              <a:off x="548640" y="5861197"/>
              <a:ext cx="100584" cy="283464"/>
            </a:xfrm>
            <a:prstGeom prst="roundRect">
              <a:avLst>
                <a:gd name="adj" fmla="val 50000"/>
              </a:avLst>
            </a:prstGeom>
            <a:solidFill>
              <a:srgbClr val="01708C"/>
            </a:solidFill>
            <a:ln>
              <a:noFill/>
            </a:ln>
          </p:spPr>
          <p:txBody>
            <a:bodyPr/>
            <a:lstStyle/>
            <a:p>
              <a:endParaRPr/>
            </a:p>
          </p:txBody>
        </p:sp>
        <p:sp>
          <p:nvSpPr>
            <p:cNvPr id="591" name="TEACH-move-text"/>
            <p:cNvSpPr txBox="1"/>
            <p:nvPr/>
          </p:nvSpPr>
          <p:spPr>
            <a:xfrm>
              <a:off x="822960" y="5774329"/>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HOW DO YOU KNOW?  ·  </a:t>
              </a:r>
              <a:r>
                <a:rPr lang="en-US" sz="1400" dirty="0">
                  <a:solidFill>
                    <a:srgbClr val="13303A"/>
                  </a:solidFill>
                  <a:latin typeface="Arial"/>
                </a:rPr>
                <a:t>Ask your partner “How do you know?” Answer by pointing to your own work.</a:t>
              </a:r>
              <a:endParaRPr lang="en-US" sz="1400"/>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cxnSp>
        <p:nvCxnSpPr>
          <p:cNvPr id="608" name="Google Shape;608;p60"/>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609" name="Google Shape;609;p60"/>
          <p:cNvSpPr txBox="1"/>
          <p:nvPr/>
        </p:nvSpPr>
        <p:spPr>
          <a:xfrm>
            <a:off x="484565" y="936099"/>
            <a:ext cx="7567004" cy="349458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The sessions are 3 hours long. Each activity is 45 minutes long.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The units of time are different. The session is measured in hours, and the activities are measured in minutes.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i="0" u="none" strike="noStrike" cap="none">
                <a:solidFill>
                  <a:srgbClr val="23282D"/>
                </a:solidFill>
                <a:latin typeface="Arial"/>
                <a:ea typeface="Arial"/>
                <a:cs typeface="Arial"/>
                <a:sym typeface="Arial"/>
              </a:rPr>
              <a:t>How can you determine the length of each activity in hours?</a:t>
            </a:r>
            <a:endParaRPr sz="1400" b="0" i="0" u="none" strike="noStrike" cap="none">
              <a:solidFill>
                <a:srgbClr val="000000"/>
              </a:solidFill>
              <a:latin typeface="Arial"/>
              <a:ea typeface="Arial"/>
              <a:cs typeface="Arial"/>
              <a:sym typeface="Arial"/>
            </a:endParaRPr>
          </a:p>
        </p:txBody>
      </p:sp>
      <p:sp>
        <p:nvSpPr>
          <p:cNvPr id="610" name="Google Shape;610;p60"/>
          <p:cNvSpPr txBox="1"/>
          <p:nvPr/>
        </p:nvSpPr>
        <p:spPr>
          <a:xfrm>
            <a:off x="484564" y="4854222"/>
            <a:ext cx="10255479" cy="15082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divide the length of each activity, in minutes, by the number of minutes in an hour.</a:t>
            </a:r>
            <a:endParaRPr sz="2800" b="0" i="1" u="none" strike="noStrike" cap="none">
              <a:solidFill>
                <a:srgbClr val="595959"/>
              </a:solidFill>
              <a:latin typeface="Arial"/>
              <a:ea typeface="Arial"/>
              <a:cs typeface="Arial"/>
              <a:sym typeface="Arial"/>
            </a:endParaRPr>
          </a:p>
        </p:txBody>
      </p:sp>
      <p:sp>
        <p:nvSpPr>
          <p:cNvPr id="611" name="Google Shape;611;p60"/>
          <p:cNvSpPr txBox="1"/>
          <p:nvPr/>
        </p:nvSpPr>
        <p:spPr>
          <a:xfrm>
            <a:off x="484565" y="316034"/>
            <a:ext cx="5641027" cy="62006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STEM Camp</a:t>
            </a:r>
            <a:endParaRPr sz="1400" b="0" i="0" u="none" strike="noStrike" cap="none">
              <a:solidFill>
                <a:srgbClr val="000000"/>
              </a:solidFill>
              <a:latin typeface="Arial"/>
              <a:ea typeface="Arial"/>
              <a:cs typeface="Arial"/>
              <a:sym typeface="Arial"/>
            </a:endParaRPr>
          </a:p>
        </p:txBody>
      </p:sp>
      <p:sp>
        <p:nvSpPr>
          <p:cNvPr id="612"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18 / 46</a:t>
            </a:r>
          </a:p>
        </p:txBody>
      </p:sp>
      <p:sp>
        <p:nvSpPr>
          <p:cNvPr id="613" name="EWL-COVER-1"/>
          <p:cNvSpPr/>
          <p:nvPr/>
        </p:nvSpPr>
        <p:spPr>
          <a:xfrm>
            <a:off x="429700" y="4799358"/>
            <a:ext cx="10365207" cy="1617968"/>
          </a:xfrm>
          <a:prstGeom prst="rect">
            <a:avLst/>
          </a:prstGeom>
          <a:solidFill>
            <a:srgbClr val="FFFFFF"/>
          </a:solidFill>
          <a:ln>
            <a:noFill/>
          </a:ln>
        </p:spPr>
        <p:txBody>
          <a:bodyPr/>
          <a:lstStyle/>
          <a:p>
            <a:endParaRPr/>
          </a:p>
        </p:txBody>
      </p:sp>
      <p:grpSp>
        <p:nvGrpSpPr>
          <p:cNvPr id="614" name="TEACH-3-student-move" descr="TEACH 3 · Use intentional questioning to deepen learning"/>
          <p:cNvGrpSpPr/>
          <p:nvPr/>
        </p:nvGrpSpPr>
        <p:grpSpPr>
          <a:xfrm>
            <a:off x="502920" y="4497606"/>
            <a:ext cx="11186160" cy="320040"/>
            <a:chOff x="502920" y="4497606"/>
            <a:chExt cx="11186160" cy="320040"/>
          </a:xfrm>
        </p:grpSpPr>
        <p:sp>
          <p:nvSpPr>
            <p:cNvPr id="615" name="TEACH-move-card"/>
            <p:cNvSpPr/>
            <p:nvPr/>
          </p:nvSpPr>
          <p:spPr>
            <a:xfrm>
              <a:off x="502920" y="4497606"/>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616" name="TEACH-move-rule"/>
            <p:cNvSpPr/>
            <p:nvPr/>
          </p:nvSpPr>
          <p:spPr>
            <a:xfrm>
              <a:off x="548640" y="4558414"/>
              <a:ext cx="100584" cy="198424"/>
            </a:xfrm>
            <a:prstGeom prst="roundRect">
              <a:avLst>
                <a:gd name="adj" fmla="val 50000"/>
              </a:avLst>
            </a:prstGeom>
            <a:solidFill>
              <a:srgbClr val="01708C"/>
            </a:solidFill>
            <a:ln>
              <a:noFill/>
            </a:ln>
          </p:spPr>
          <p:txBody>
            <a:bodyPr/>
            <a:lstStyle/>
            <a:p>
              <a:endParaRPr/>
            </a:p>
          </p:txBody>
        </p:sp>
        <p:sp>
          <p:nvSpPr>
            <p:cNvPr id="617" name="TEACH-move-text"/>
            <p:cNvSpPr txBox="1"/>
            <p:nvPr/>
          </p:nvSpPr>
          <p:spPr>
            <a:xfrm>
              <a:off x="822960" y="4497606"/>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1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53"/>
        <p:cNvGrpSpPr/>
        <p:nvPr/>
      </p:nvGrpSpPr>
      <p:grpSpPr>
        <a:xfrm>
          <a:off x="0" y="0"/>
          <a:ext cx="0" cy="0"/>
          <a:chOff x="0" y="0"/>
          <a:chExt cx="0" cy="0"/>
        </a:xfrm>
      </p:grpSpPr>
      <p:cxnSp>
        <p:nvCxnSpPr>
          <p:cNvPr id="654" name="Google Shape;654;p65"/>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cxnSp>
        <p:nvCxnSpPr>
          <p:cNvPr id="655" name="Google Shape;655;p65"/>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656" name="Google Shape;656;p65"/>
          <p:cNvSpPr txBox="1"/>
          <p:nvPr/>
        </p:nvSpPr>
        <p:spPr>
          <a:xfrm>
            <a:off x="484565" y="936100"/>
            <a:ext cx="8468242" cy="3174843"/>
          </a:xfrm>
          <a:prstGeom prst="rect">
            <a:avLst/>
          </a:prstGeom>
          <a:blipFill rotWithShape="1">
            <a:blip r:embed="rId3">
              <a:alphaModFix/>
            </a:blip>
            <a:stretch>
              <a:fillRect l="-1439" t="-2115" r="-1078" b="-2693"/>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657" name="Google Shape;657;p65"/>
          <p:cNvSpPr txBox="1"/>
          <p:nvPr/>
        </p:nvSpPr>
        <p:spPr>
          <a:xfrm>
            <a:off x="484565" y="5229485"/>
            <a:ext cx="10255479" cy="1067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One tool is a tape diagram.</a:t>
            </a:r>
            <a:endParaRPr sz="2800" b="0" i="1" u="none" strike="noStrike" cap="none">
              <a:solidFill>
                <a:srgbClr val="595959"/>
              </a:solidFill>
              <a:latin typeface="Arial"/>
              <a:ea typeface="Arial"/>
              <a:cs typeface="Arial"/>
              <a:sym typeface="Arial"/>
            </a:endParaRPr>
          </a:p>
        </p:txBody>
      </p:sp>
      <p:sp>
        <p:nvSpPr>
          <p:cNvPr id="658" name="Google Shape;658;p65"/>
          <p:cNvSpPr txBox="1"/>
          <p:nvPr/>
        </p:nvSpPr>
        <p:spPr>
          <a:xfrm>
            <a:off x="484565" y="316034"/>
            <a:ext cx="5641027" cy="62006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1" i="0" u="none" strike="noStrike" cap="none">
                <a:solidFill>
                  <a:srgbClr val="782DA0"/>
                </a:solidFill>
                <a:latin typeface="Arial"/>
                <a:ea typeface="Arial"/>
                <a:cs typeface="Arial"/>
                <a:sym typeface="Arial"/>
              </a:rPr>
              <a:t>STEM Camp</a:t>
            </a:r>
            <a:endParaRPr sz="1400" b="0" i="0" u="none" strike="noStrike" cap="none">
              <a:solidFill>
                <a:srgbClr val="000000"/>
              </a:solidFill>
              <a:latin typeface="Arial"/>
              <a:ea typeface="Arial"/>
              <a:cs typeface="Arial"/>
              <a:sym typeface="Arial"/>
            </a:endParaRPr>
          </a:p>
        </p:txBody>
      </p:sp>
      <p:sp>
        <p:nvSpPr>
          <p:cNvPr id="65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19 / 46</a:t>
            </a:r>
          </a:p>
        </p:txBody>
      </p:sp>
      <p:sp>
        <p:nvSpPr>
          <p:cNvPr id="660" name="EWL-COVER-1"/>
          <p:cNvSpPr/>
          <p:nvPr/>
        </p:nvSpPr>
        <p:spPr>
          <a:xfrm>
            <a:off x="429701" y="5174621"/>
            <a:ext cx="10365207" cy="1177393"/>
          </a:xfrm>
          <a:prstGeom prst="rect">
            <a:avLst/>
          </a:prstGeom>
          <a:solidFill>
            <a:srgbClr val="FFFFFF"/>
          </a:solidFill>
          <a:ln>
            <a:noFill/>
          </a:ln>
        </p:spPr>
        <p:txBody>
          <a:bodyPr/>
          <a:lstStyle/>
          <a:p>
            <a:endParaRPr/>
          </a:p>
        </p:txBody>
      </p:sp>
      <p:sp>
        <p:nvSpPr>
          <p:cNvPr id="661"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6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72"/>
        <p:cNvGrpSpPr/>
        <p:nvPr/>
      </p:nvGrpSpPr>
      <p:grpSpPr>
        <a:xfrm>
          <a:off x="0" y="0"/>
          <a:ext cx="0" cy="0"/>
          <a:chOff x="0" y="0"/>
          <a:chExt cx="0" cy="0"/>
        </a:xfrm>
      </p:grpSpPr>
      <p:cxnSp>
        <p:nvCxnSpPr>
          <p:cNvPr id="673" name="Google Shape;673;p67"/>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cxnSp>
        <p:nvCxnSpPr>
          <p:cNvPr id="674" name="Google Shape;674;p67"/>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pic>
        <p:nvPicPr>
          <p:cNvPr id="675" name="Google Shape;675;p67"/>
          <p:cNvPicPr preferRelativeResize="0"/>
          <p:nvPr/>
        </p:nvPicPr>
        <p:blipFill rotWithShape="1">
          <a:blip r:embed="rId3">
            <a:alphaModFix/>
          </a:blip>
          <a:srcRect/>
          <a:stretch/>
        </p:blipFill>
        <p:spPr>
          <a:xfrm>
            <a:off x="1432560" y="3240752"/>
            <a:ext cx="4572000" cy="476250"/>
          </a:xfrm>
          <a:prstGeom prst="rect">
            <a:avLst/>
          </a:prstGeom>
          <a:noFill/>
          <a:ln>
            <a:noFill/>
          </a:ln>
        </p:spPr>
      </p:pic>
      <p:sp>
        <p:nvSpPr>
          <p:cNvPr id="676" name="Google Shape;676;p67"/>
          <p:cNvSpPr txBox="1"/>
          <p:nvPr/>
        </p:nvSpPr>
        <p:spPr>
          <a:xfrm>
            <a:off x="484565" y="5265708"/>
            <a:ext cx="10255479" cy="106766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divide the rectangles into fourths.</a:t>
            </a:r>
            <a:endParaRPr sz="2800" b="0" i="1" u="none" strike="noStrike" cap="none">
              <a:solidFill>
                <a:srgbClr val="595959"/>
              </a:solidFill>
              <a:latin typeface="Arial"/>
              <a:ea typeface="Arial"/>
              <a:cs typeface="Arial"/>
              <a:sym typeface="Arial"/>
            </a:endParaRPr>
          </a:p>
        </p:txBody>
      </p:sp>
      <p:sp>
        <p:nvSpPr>
          <p:cNvPr id="677" name="Google Shape;677;p67"/>
          <p:cNvSpPr txBox="1"/>
          <p:nvPr/>
        </p:nvSpPr>
        <p:spPr>
          <a:xfrm>
            <a:off x="484565" y="936100"/>
            <a:ext cx="9291202" cy="4456166"/>
          </a:xfrm>
          <a:prstGeom prst="rect">
            <a:avLst/>
          </a:prstGeom>
          <a:blipFill rotWithShape="1">
            <a:blip r:embed="rId4">
              <a:alphaModFix/>
            </a:blip>
            <a:stretch>
              <a:fillRect l="-1311" t="-1505" r="-1705"/>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678" name="Google Shape;678;p67"/>
          <p:cNvSpPr txBox="1"/>
          <p:nvPr/>
        </p:nvSpPr>
        <p:spPr>
          <a:xfrm>
            <a:off x="484565" y="316034"/>
            <a:ext cx="5641027" cy="62006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STEM Camp</a:t>
            </a:r>
            <a:endParaRPr sz="1400" b="0" i="0" u="none" strike="noStrike" cap="none">
              <a:solidFill>
                <a:srgbClr val="000000"/>
              </a:solidFill>
              <a:latin typeface="Arial"/>
              <a:ea typeface="Arial"/>
              <a:cs typeface="Arial"/>
              <a:sym typeface="Arial"/>
            </a:endParaRPr>
          </a:p>
        </p:txBody>
      </p:sp>
      <p:sp>
        <p:nvSpPr>
          <p:cNvPr id="67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20 / 46</a:t>
            </a:r>
          </a:p>
        </p:txBody>
      </p:sp>
      <p:sp>
        <p:nvSpPr>
          <p:cNvPr id="680" name="EWL-COVER-1"/>
          <p:cNvSpPr/>
          <p:nvPr/>
        </p:nvSpPr>
        <p:spPr>
          <a:xfrm>
            <a:off x="429701" y="5210844"/>
            <a:ext cx="10365207" cy="1177393"/>
          </a:xfrm>
          <a:prstGeom prst="rect">
            <a:avLst/>
          </a:prstGeom>
          <a:solidFill>
            <a:srgbClr val="FFFFFF"/>
          </a:solidFill>
          <a:ln>
            <a:noFill/>
          </a:ln>
        </p:spPr>
        <p:txBody>
          <a:body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8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3"/>
        <p:cNvGrpSpPr/>
        <p:nvPr/>
      </p:nvGrpSpPr>
      <p:grpSpPr>
        <a:xfrm>
          <a:off x="0" y="0"/>
          <a:ext cx="0" cy="0"/>
          <a:chOff x="0" y="0"/>
          <a:chExt cx="0" cy="0"/>
        </a:xfrm>
      </p:grpSpPr>
      <p:cxnSp>
        <p:nvCxnSpPr>
          <p:cNvPr id="734" name="Google Shape;734;p73"/>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735" name="Google Shape;735;p73"/>
          <p:cNvSpPr txBox="1"/>
          <p:nvPr/>
        </p:nvSpPr>
        <p:spPr>
          <a:xfrm>
            <a:off x="484565" y="936099"/>
            <a:ext cx="7344985" cy="373565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A summer science, technology, engineering, and math (STEM) summer camp has a 3-hour-long afternoon session. The campers choose from different afternoon activities that are each 45 minutes long.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i="0" u="none" strike="noStrike" cap="none">
                <a:solidFill>
                  <a:srgbClr val="23282D"/>
                </a:solidFill>
                <a:latin typeface="Arial"/>
                <a:ea typeface="Arial"/>
                <a:cs typeface="Arial"/>
                <a:sym typeface="Arial"/>
              </a:rPr>
              <a:t>How many 45-minute activities can the campers complete in the 3-hour afternoon session?</a:t>
            </a:r>
            <a:endParaRPr sz="1400" b="0" i="0" u="none" strike="noStrike" cap="none">
              <a:solidFill>
                <a:srgbClr val="000000"/>
              </a:solidFill>
              <a:latin typeface="Arial"/>
              <a:ea typeface="Arial"/>
              <a:cs typeface="Arial"/>
              <a:sym typeface="Arial"/>
            </a:endParaRPr>
          </a:p>
        </p:txBody>
      </p:sp>
      <p:sp>
        <p:nvSpPr>
          <p:cNvPr id="736" name="Google Shape;736;p73"/>
          <p:cNvSpPr/>
          <p:nvPr/>
        </p:nvSpPr>
        <p:spPr>
          <a:xfrm>
            <a:off x="611046" y="4723998"/>
            <a:ext cx="9020418" cy="1631216"/>
          </a:xfrm>
          <a:prstGeom prst="rect">
            <a:avLst/>
          </a:prstGeom>
          <a:noFill/>
          <a:ln w="9525" cap="flat" cmpd="sng">
            <a:solidFill>
              <a:srgbClr val="7030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Calibri"/>
              <a:cs typeface="Calibri"/>
              <a:sym typeface="Calibri"/>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Calibri"/>
              <a:cs typeface="Calibri"/>
              <a:sym typeface="Calibri"/>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a:solidFill>
                  <a:schemeClr val="dk1"/>
                </a:solidFill>
                <a:latin typeface="Arial"/>
                <a:ea typeface="Arial"/>
                <a:cs typeface="Arial"/>
                <a:sym typeface="Arial"/>
              </a:rPr>
              <a:t>They can complete 4 activities in the afternoon session.</a:t>
            </a:r>
            <a:endParaRPr sz="2800" b="0" i="0" u="none" strike="noStrike" cap="none">
              <a:solidFill>
                <a:schemeClr val="dk1"/>
              </a:solidFill>
              <a:latin typeface="Arial"/>
              <a:ea typeface="Arial"/>
              <a:cs typeface="Arial"/>
              <a:sym typeface="Arial"/>
            </a:endParaRPr>
          </a:p>
        </p:txBody>
      </p:sp>
      <p:pic>
        <p:nvPicPr>
          <p:cNvPr id="737" name="Google Shape;737;p73"/>
          <p:cNvPicPr preferRelativeResize="0"/>
          <p:nvPr/>
        </p:nvPicPr>
        <p:blipFill rotWithShape="1">
          <a:blip r:embed="rId3">
            <a:alphaModFix/>
          </a:blip>
          <a:srcRect/>
          <a:stretch/>
        </p:blipFill>
        <p:spPr>
          <a:xfrm>
            <a:off x="1019078" y="4992250"/>
            <a:ext cx="4572000" cy="800100"/>
          </a:xfrm>
          <a:prstGeom prst="rect">
            <a:avLst/>
          </a:prstGeom>
          <a:noFill/>
          <a:ln>
            <a:noFill/>
          </a:ln>
        </p:spPr>
      </p:pic>
      <p:pic>
        <p:nvPicPr>
          <p:cNvPr id="738" name="Google Shape;738;p73"/>
          <p:cNvPicPr preferRelativeResize="0"/>
          <p:nvPr/>
        </p:nvPicPr>
        <p:blipFill rotWithShape="1">
          <a:blip r:embed="rId4">
            <a:alphaModFix/>
          </a:blip>
          <a:srcRect/>
          <a:stretch/>
        </p:blipFill>
        <p:spPr>
          <a:xfrm>
            <a:off x="8051569" y="1429789"/>
            <a:ext cx="3888000" cy="2592000"/>
          </a:xfrm>
          <a:prstGeom prst="rect">
            <a:avLst/>
          </a:prstGeom>
          <a:noFill/>
          <a:ln>
            <a:noFill/>
          </a:ln>
        </p:spPr>
      </p:pic>
      <p:sp>
        <p:nvSpPr>
          <p:cNvPr id="739" name="Google Shape;739;p73"/>
          <p:cNvSpPr txBox="1"/>
          <p:nvPr/>
        </p:nvSpPr>
        <p:spPr>
          <a:xfrm>
            <a:off x="484565" y="316034"/>
            <a:ext cx="5641027" cy="62006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STEM Camp</a:t>
            </a:r>
            <a:endParaRPr sz="1400" b="0" i="0" u="none" strike="noStrike" cap="none">
              <a:solidFill>
                <a:srgbClr val="000000"/>
              </a:solidFill>
              <a:latin typeface="Arial"/>
              <a:ea typeface="Arial"/>
              <a:cs typeface="Arial"/>
              <a:sym typeface="Arial"/>
            </a:endParaRPr>
          </a:p>
        </p:txBody>
      </p:sp>
      <p:sp>
        <p:nvSpPr>
          <p:cNvPr id="740"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21 / 46</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TWO MINUTES SOLO  ·  </a:t>
            </a:r>
            <a:r>
              <a:rPr lang="en-US" sz="2000" b="0" dirty="0">
                <a:solidFill>
                  <a:srgbClr val="13303A"/>
                </a:solidFill>
                <a:latin typeface="Arial"/>
              </a:rPr>
              <a:t>Two minutes on your own, then compare. Bring one thing you tried, even if it did not work.</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22 / 46</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43"/>
        <p:cNvGrpSpPr/>
        <p:nvPr/>
      </p:nvGrpSpPr>
      <p:grpSpPr>
        <a:xfrm>
          <a:off x="0" y="0"/>
          <a:ext cx="0" cy="0"/>
          <a:chOff x="0" y="0"/>
          <a:chExt cx="0" cy="0"/>
        </a:xfrm>
      </p:grpSpPr>
      <p:sp>
        <p:nvSpPr>
          <p:cNvPr id="744" name="Google Shape;744;p74"/>
          <p:cNvSpPr txBox="1"/>
          <p:nvPr/>
        </p:nvSpPr>
        <p:spPr>
          <a:xfrm>
            <a:off x="484565" y="316034"/>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Let’s Explore More</a:t>
            </a:r>
            <a:endParaRPr sz="1400" b="0" i="0" u="none" strike="noStrike" cap="none">
              <a:solidFill>
                <a:srgbClr val="000000"/>
              </a:solidFill>
              <a:latin typeface="Arial"/>
              <a:ea typeface="Arial"/>
              <a:cs typeface="Arial"/>
              <a:sym typeface="Arial"/>
            </a:endParaRPr>
          </a:p>
        </p:txBody>
      </p:sp>
      <p:sp>
        <p:nvSpPr>
          <p:cNvPr id="745" name="Google Shape;745;p74"/>
          <p:cNvSpPr txBox="1"/>
          <p:nvPr/>
        </p:nvSpPr>
        <p:spPr>
          <a:xfrm>
            <a:off x="484566" y="1003942"/>
            <a:ext cx="8187948" cy="5438422"/>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rgbClr val="262626"/>
              </a:buClr>
              <a:buSzPts val="2800"/>
              <a:buFont typeface="Calibri"/>
              <a:buAutoNum type="alphaLcPeriod"/>
              <a:defRPr/>
            </a:pPr>
            <a:r>
              <a:rPr lang="en-US" sz="2800" b="0" i="0" u="none" strike="noStrike" cap="none">
                <a:solidFill>
                  <a:srgbClr val="23282D"/>
                </a:solidFill>
                <a:latin typeface="Arial"/>
                <a:ea typeface="Arial"/>
                <a:cs typeface="Arial"/>
                <a:sym typeface="Arial"/>
              </a:rPr>
              <a:t>The afternoon session begins at 1:00 pm. When does each of the 45-minute activities begin and end?</a:t>
            </a:r>
            <a:endParaRPr sz="2800" b="0" i="0" u="none" strike="noStrike" cap="none">
              <a:solidFill>
                <a:schemeClr val="dk1"/>
              </a:solidFill>
              <a:latin typeface="Arial"/>
              <a:ea typeface="Arial"/>
              <a:cs typeface="Arial"/>
              <a:sym typeface="Arial"/>
            </a:endParaRPr>
          </a:p>
          <a:p>
            <a:pPr marL="514350" marR="0" lvl="0" indent="-336550" algn="l" rtl="0">
              <a:lnSpc>
                <a:spcPct val="100000"/>
              </a:lnSpc>
              <a:spcBef>
                <a:spcPts val="1800"/>
              </a:spcBef>
              <a:spcAft>
                <a:spcPts val="0"/>
              </a:spcAft>
              <a:buClr>
                <a:schemeClr val="dk2"/>
              </a:buClr>
              <a:buSzPts val="2800"/>
              <a:buFont typeface="Arial"/>
              <a:buNone/>
              <a:defRPr/>
            </a:pPr>
            <a:endParaRPr sz="2800" b="0" i="0" u="none" strike="noStrike" cap="none">
              <a:solidFill>
                <a:srgbClr val="262626"/>
              </a:solidFill>
              <a:latin typeface="Arial"/>
              <a:ea typeface="Arial"/>
              <a:cs typeface="Arial"/>
              <a:sym typeface="Arial"/>
            </a:endParaRPr>
          </a:p>
          <a:p>
            <a:pPr marL="514350" marR="0" lvl="0" indent="-336550" algn="l" rtl="0">
              <a:lnSpc>
                <a:spcPct val="100000"/>
              </a:lnSpc>
              <a:spcBef>
                <a:spcPts val="1800"/>
              </a:spcBef>
              <a:spcAft>
                <a:spcPts val="0"/>
              </a:spcAft>
              <a:buClr>
                <a:schemeClr val="dk2"/>
              </a:buClr>
              <a:buSzPts val="2800"/>
              <a:buFont typeface="Arial"/>
              <a:buNone/>
              <a:defRPr/>
            </a:pPr>
            <a:endParaRPr sz="2800" b="0" i="0" u="none" strike="noStrike" cap="none">
              <a:solidFill>
                <a:srgbClr val="262626"/>
              </a:solidFill>
              <a:latin typeface="Arial"/>
              <a:ea typeface="Arial"/>
              <a:cs typeface="Arial"/>
              <a:sym typeface="Arial"/>
            </a:endParaRPr>
          </a:p>
          <a:p>
            <a:pPr marL="514350" marR="0" lvl="0" indent="-514350" algn="l" rtl="0">
              <a:lnSpc>
                <a:spcPct val="100000"/>
              </a:lnSpc>
              <a:spcBef>
                <a:spcPts val="1800"/>
              </a:spcBef>
              <a:spcAft>
                <a:spcPts val="0"/>
              </a:spcAft>
              <a:buClr>
                <a:srgbClr val="262626"/>
              </a:buClr>
              <a:buSzPts val="2800"/>
              <a:buFont typeface="Calibri"/>
              <a:buAutoNum type="alphaLcPeriod"/>
              <a:defRPr/>
            </a:pPr>
            <a:r>
              <a:rPr lang="en-US" sz="2800" b="0" i="0" u="none" strike="noStrike" cap="none">
                <a:solidFill>
                  <a:srgbClr val="23282D"/>
                </a:solidFill>
                <a:latin typeface="Arial"/>
                <a:ea typeface="Arial"/>
                <a:cs typeface="Arial"/>
                <a:sym typeface="Arial"/>
              </a:rPr>
              <a:t>How would the model change if each activity were 30 minutes?</a:t>
            </a:r>
            <a:endParaRPr sz="2800" b="0" i="0" u="none" strike="noStrike" cap="none">
              <a:solidFill>
                <a:schemeClr val="dk1"/>
              </a:solidFill>
              <a:latin typeface="Arial"/>
              <a:ea typeface="Arial"/>
              <a:cs typeface="Arial"/>
              <a:sym typeface="Arial"/>
            </a:endParaRPr>
          </a:p>
        </p:txBody>
      </p:sp>
      <p:sp>
        <p:nvSpPr>
          <p:cNvPr id="74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23 / 46</a:t>
            </a:r>
          </a:p>
        </p:txBody>
      </p:sp>
      <p:grpSp>
        <p:nvGrpSpPr>
          <p:cNvPr id="747" name="TEACH-2-student-move" descr="TEACH 2 · Use strategies and tasks to engage students in rigorous work"/>
          <p:cNvGrpSpPr/>
          <p:nvPr/>
        </p:nvGrpSpPr>
        <p:grpSpPr>
          <a:xfrm>
            <a:off x="502920" y="4759789"/>
            <a:ext cx="11186160" cy="731520"/>
            <a:chOff x="502920" y="4340689"/>
            <a:chExt cx="11186160" cy="731520"/>
          </a:xfrm>
        </p:grpSpPr>
        <p:sp>
          <p:nvSpPr>
            <p:cNvPr id="748" name="TEACH-move-card"/>
            <p:cNvSpPr/>
            <p:nvPr/>
          </p:nvSpPr>
          <p:spPr>
            <a:xfrm>
              <a:off x="502920" y="434068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49" name="TEACH-move-rule"/>
            <p:cNvSpPr/>
            <p:nvPr/>
          </p:nvSpPr>
          <p:spPr>
            <a:xfrm>
              <a:off x="548640" y="4479678"/>
              <a:ext cx="100584" cy="453542"/>
            </a:xfrm>
            <a:prstGeom prst="roundRect">
              <a:avLst>
                <a:gd name="adj" fmla="val 50000"/>
              </a:avLst>
            </a:prstGeom>
            <a:solidFill>
              <a:srgbClr val="01708C"/>
            </a:solidFill>
            <a:ln>
              <a:noFill/>
            </a:ln>
          </p:spPr>
          <p:txBody>
            <a:bodyPr/>
            <a:lstStyle/>
            <a:p>
              <a:endParaRPr/>
            </a:p>
          </p:txBody>
        </p:sp>
        <p:sp>
          <p:nvSpPr>
            <p:cNvPr id="750" name="TEACH-move-text"/>
            <p:cNvSpPr txBox="1"/>
            <p:nvPr/>
          </p:nvSpPr>
          <p:spPr>
            <a:xfrm>
              <a:off x="822960" y="434068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6.1  /  DISCUSS THE TASK</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Explain and compare</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tIns="22860" rIns="0" bIns="0">
            <a:spAutoFit/>
          </a:bodyPr>
          <a:lstStyle/>
          <a:p>
            <a:pPr>
              <a:spcAft>
                <a:spcPts val="800"/>
              </a:spcAft>
              <a:defRPr sz="2000" b="1">
                <a:solidFill>
                  <a:srgbClr val="096B69"/>
                </a:solidFill>
                <a:latin typeface="Arial"/>
              </a:defRPr>
            </a:pPr>
            <a:r>
              <a:t>Use the task you just explored.</a:t>
            </a:r>
          </a:p>
        </p:txBody>
      </p:sp>
      <p:sp>
        <p:nvSpPr>
          <p:cNvPr id="6" name="TextBox 5"/>
          <p:cNvSpPr txBox="1"/>
          <p:nvPr/>
        </p:nvSpPr>
        <p:spPr>
          <a:xfrm>
            <a:off x="621792" y="2322576"/>
            <a:ext cx="6583680" cy="2057400"/>
          </a:xfrm>
          <a:prstGeom prst="rect">
            <a:avLst/>
          </a:prstGeom>
          <a:noFill/>
        </p:spPr>
        <p:txBody>
          <a:bodyPr wrap="square" lIns="0" tIns="22860" rIns="0" bIns="0">
            <a:spAutoFit/>
          </a:bodyPr>
          <a:lstStyle/>
          <a:p>
            <a:pPr>
              <a:spcAft>
                <a:spcPts val="800"/>
              </a:spcAft>
              <a:defRPr sz="2900" b="0">
                <a:solidFill>
                  <a:srgbClr val="24384B"/>
                </a:solidFill>
                <a:latin typeface="Arial"/>
              </a:defRPr>
            </a:pPr>
            <a:r>
              <a:t>What does the quotient count in this situation, and why is its size reasonable?</a:t>
            </a:r>
          </a:p>
        </p:txBody>
      </p:sp>
      <p:sp>
        <p:nvSpPr>
          <p:cNvPr id="7" name="TextBox 6"/>
          <p:cNvSpPr txBox="1"/>
          <p:nvPr/>
        </p:nvSpPr>
        <p:spPr>
          <a:xfrm>
            <a:off x="621792" y="4590288"/>
            <a:ext cx="6629400" cy="960120"/>
          </a:xfrm>
          <a:prstGeom prst="rect">
            <a:avLst/>
          </a:prstGeom>
          <a:noFill/>
        </p:spPr>
        <p:txBody>
          <a:bodyPr wrap="square" lIns="0" tIns="22860" rIns="0" bIns="0">
            <a:spAutoFit/>
          </a:bodyPr>
          <a:lstStyle/>
          <a:p>
            <a:pPr>
              <a:spcAft>
                <a:spcPts val="800"/>
              </a:spcAft>
              <a:defRPr sz="2300" b="0">
                <a:solidFill>
                  <a:srgbClr val="24384B"/>
                </a:solidFill>
                <a:latin typeface="Arial"/>
              </a:defRPr>
            </a:pPr>
            <a:r>
              <a:t>Point to evidence in your work.</a:t>
            </a:r>
          </a:p>
          <a:p>
            <a:pPr>
              <a:spcAft>
                <a:spcPts val="800"/>
              </a:spcAft>
              <a:defRPr sz="2300" b="0">
                <a:solidFill>
                  <a:srgbClr val="24384B"/>
                </a:solidFill>
                <a:latin typeface="Arial"/>
              </a:defRPr>
            </a:pPr>
            <a: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982712" y="2066543"/>
            <a:ext cx="320040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TAKE TURNS</a:t>
            </a:r>
          </a:p>
        </p:txBody>
      </p:sp>
      <p:sp>
        <p:nvSpPr>
          <p:cNvPr id="10" name="TextBox 9"/>
          <p:cNvSpPr txBox="1"/>
          <p:nvPr/>
        </p:nvSpPr>
        <p:spPr>
          <a:xfrm>
            <a:off x="7982712" y="2715768"/>
            <a:ext cx="3200400" cy="2606040"/>
          </a:xfrm>
          <a:prstGeom prst="rect">
            <a:avLst/>
          </a:prstGeom>
          <a:noFill/>
        </p:spPr>
        <p:txBody>
          <a:bodyPr wrap="square" lIns="0" tIns="22860" rIns="0" bIns="0">
            <a:spAutoFit/>
          </a:bodyPr>
          <a:lstStyle/>
          <a:p>
            <a:pPr>
              <a:spcAft>
                <a:spcPts val="800"/>
              </a:spcAft>
              <a:defRPr sz="2200" b="0">
                <a:solidFill>
                  <a:srgbClr val="24384B"/>
                </a:solidFill>
                <a:latin typeface="Arial"/>
              </a:defRPr>
            </a:pPr>
            <a:r>
              <a:t>Explain</a:t>
            </a:r>
          </a:p>
          <a:p>
            <a:pPr>
              <a:spcAft>
                <a:spcPts val="800"/>
              </a:spcAft>
              <a:defRPr sz="2200" b="0">
                <a:solidFill>
                  <a:srgbClr val="24384B"/>
                </a:solidFill>
                <a:latin typeface="Arial"/>
              </a:defRPr>
            </a:pPr>
            <a:r>
              <a:t>“I know this because…”</a:t>
            </a:r>
          </a:p>
          <a:p>
            <a:pPr>
              <a:spcAft>
                <a:spcPts val="800"/>
              </a:spcAft>
              <a:defRPr sz="2200" b="0">
                <a:solidFill>
                  <a:srgbClr val="24384B"/>
                </a:solidFill>
                <a:latin typeface="Arial"/>
              </a:defRPr>
            </a:pPr>
            <a:endParaRPr/>
          </a:p>
          <a:p>
            <a:pPr>
              <a:spcAft>
                <a:spcPts val="800"/>
              </a:spcAft>
              <a:defRPr sz="2200" b="0">
                <a:solidFill>
                  <a:srgbClr val="24384B"/>
                </a:solidFill>
                <a:latin typeface="Arial"/>
              </a:defRPr>
            </a:pPr>
            <a:r>
              <a:t>Ask</a:t>
            </a:r>
          </a:p>
          <a:p>
            <a:pPr>
              <a:spcAft>
                <a:spcPts val="800"/>
              </a:spcAft>
              <a:defRPr sz="2200" b="0">
                <a:solidFill>
                  <a:srgbClr val="24384B"/>
                </a:solidFill>
                <a:latin typeface="Arial"/>
              </a:defRPr>
            </a:pPr>
            <a: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ANOTHER PATHWAY  ·  </a:t>
              </a:r>
              <a:r>
                <a:rPr lang="en-US" sz="1200" dirty="0">
                  <a:solidFill>
                    <a:srgbClr val="13303A"/>
                  </a:solidFill>
                  <a:latin typeface="Arial"/>
                </a:rPr>
                <a:t>Did anyone get there a different way? Put both pathways side by side and compare.</a:t>
              </a:r>
              <a:endParaRPr lang="en-US" sz="1200"/>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950" b="0" i="0" u="none" strike="noStrike" cap="none">
                <a:solidFill>
                  <a:srgbClr val="FFFFFF"/>
                </a:solidFill>
                <a:latin typeface="Arial"/>
                <a:ea typeface="Arial"/>
                <a:cs typeface="Arial"/>
                <a:sym typeface="Arial"/>
              </a:rPr>
              <a:t>Lesson 6-1 · Division Expressions with Fractions and Whole Numbers</a:t>
            </a:r>
            <a:endParaRPr sz="950"/>
          </a:p>
        </p:txBody>
      </p:sp>
      <p:sp>
        <p:nvSpPr>
          <p:cNvPr id="265" name="Google Shape;265;p43"/>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3200" b="1" i="0" u="none" strike="noStrike" cap="non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500" b="0" i="1" u="none" strike="noStrike" cap="non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250" b="1" i="0" u="none" strike="noStrike" cap="none">
                <a:solidFill>
                  <a:srgbClr val="14223A"/>
                </a:solidFill>
                <a:latin typeface="Arial"/>
                <a:ea typeface="Arial"/>
                <a:cs typeface="Arial"/>
                <a:sym typeface="Arial"/>
              </a:rPr>
              <a:t>To divide a fraction by a whole number, multiply by its:</a:t>
            </a:r>
            <a:endParaRPr/>
          </a:p>
        </p:txBody>
      </p:sp>
      <p:sp>
        <p:nvSpPr>
          <p:cNvPr id="273" name="Google Shape;273;p43"/>
          <p:cNvSpPr/>
          <p:nvPr/>
        </p:nvSpPr>
        <p:spPr>
          <a:xfrm>
            <a:off x="1444752" y="253288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Opposite</a:t>
            </a:r>
            <a:endParaRPr/>
          </a:p>
        </p:txBody>
      </p:sp>
      <p:sp>
        <p:nvSpPr>
          <p:cNvPr id="276" name="Google Shape;276;p43"/>
          <p:cNvSpPr/>
          <p:nvPr/>
        </p:nvSpPr>
        <p:spPr>
          <a:xfrm>
            <a:off x="1444752" y="285292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Reciprocal</a:t>
            </a:r>
            <a:endParaRPr/>
          </a:p>
        </p:txBody>
      </p:sp>
      <p:sp>
        <p:nvSpPr>
          <p:cNvPr id="279" name="Google Shape;279;p43"/>
          <p:cNvSpPr/>
          <p:nvPr/>
        </p:nvSpPr>
        <p:spPr>
          <a:xfrm>
            <a:off x="1444752" y="317296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Numerator</a:t>
            </a:r>
            <a:endParaRPr/>
          </a:p>
        </p:txBody>
      </p:sp>
      <p:sp>
        <p:nvSpPr>
          <p:cNvPr id="282" name="Google Shape;282;p43"/>
          <p:cNvSpPr/>
          <p:nvPr/>
        </p:nvSpPr>
        <p:spPr>
          <a:xfrm>
            <a:off x="1444752" y="349300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Square</a:t>
            </a:r>
            <a:endParaRPr/>
          </a:p>
        </p:txBody>
      </p:sp>
      <p:sp>
        <p:nvSpPr>
          <p:cNvPr id="285" name="Google Shape;285;p43"/>
          <p:cNvSpPr/>
          <p:nvPr/>
        </p:nvSpPr>
        <p:spPr>
          <a:xfrm>
            <a:off x="6260576" y="1828800"/>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400" b="1" i="0" u="none" strike="noStrike" cap="none">
                <a:solidFill>
                  <a:srgbClr val="14223A"/>
                </a:solidFill>
                <a:latin typeface="Arial"/>
                <a:ea typeface="Arial"/>
                <a:cs typeface="Arial"/>
                <a:sym typeface="Arial"/>
              </a:rPr>
              <a:t>What is the reciprocal of 4?</a:t>
            </a:r>
            <a:endParaRPr/>
          </a:p>
        </p:txBody>
      </p:sp>
      <p:sp>
        <p:nvSpPr>
          <p:cNvPr id="289" name="Google Shape;289;p43"/>
          <p:cNvSpPr/>
          <p:nvPr/>
        </p:nvSpPr>
        <p:spPr>
          <a:xfrm>
            <a:off x="7068312" y="253288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−4</a:t>
            </a:r>
            <a:endParaRPr/>
          </a:p>
        </p:txBody>
      </p:sp>
      <p:sp>
        <p:nvSpPr>
          <p:cNvPr id="292" name="Google Shape;292;p43"/>
          <p:cNvSpPr/>
          <p:nvPr/>
        </p:nvSpPr>
        <p:spPr>
          <a:xfrm>
            <a:off x="7068312" y="285292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0" i="0" u="none" strike="noStrike" cap="none">
                <a:solidFill>
                  <a:srgbClr val="14223A"/>
                </a:solidFill>
                <a:latin typeface="Arial"/>
                <a:ea typeface="Arial"/>
                <a:cs typeface="Arial"/>
                <a:sym typeface="Arial"/>
              </a:rPr>
              <a:t>21 / 37</a:t>
            </a:r>
            <a:endParaRPr/>
          </a:p>
        </p:txBody>
      </p:sp>
      <p:sp>
        <p:nvSpPr>
          <p:cNvPr id="295" name="Google Shape;295;p43"/>
          <p:cNvSpPr/>
          <p:nvPr/>
        </p:nvSpPr>
        <p:spPr>
          <a:xfrm>
            <a:off x="7068312" y="317296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4</a:t>
            </a:r>
            <a:endParaRPr/>
          </a:p>
        </p:txBody>
      </p:sp>
      <p:sp>
        <p:nvSpPr>
          <p:cNvPr id="298" name="Google Shape;298;p43"/>
          <p:cNvSpPr/>
          <p:nvPr/>
        </p:nvSpPr>
        <p:spPr>
          <a:xfrm>
            <a:off x="7068312" y="3493008"/>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0.4</a:t>
            </a:r>
            <a:endParaRPr/>
          </a:p>
        </p:txBody>
      </p:sp>
      <p:sp>
        <p:nvSpPr>
          <p:cNvPr id="301" name="Google Shape;301;p43"/>
          <p:cNvSpPr/>
          <p:nvPr/>
        </p:nvSpPr>
        <p:spPr>
          <a:xfrm>
            <a:off x="640080" y="4133088"/>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400" b="1" i="0" u="none" strike="noStrike" cap="none">
                <a:solidFill>
                  <a:srgbClr val="14223A"/>
                </a:solidFill>
                <a:latin typeface="Arial"/>
                <a:ea typeface="Arial"/>
                <a:cs typeface="Arial"/>
                <a:sym typeface="Arial"/>
              </a:rPr>
              <a:t>What is 1/2 ÷ 3?</a:t>
            </a:r>
            <a:endParaRPr/>
          </a:p>
        </p:txBody>
      </p:sp>
      <p:sp>
        <p:nvSpPr>
          <p:cNvPr id="305" name="Google Shape;305;p43"/>
          <p:cNvSpPr/>
          <p:nvPr/>
        </p:nvSpPr>
        <p:spPr>
          <a:xfrm>
            <a:off x="1444752" y="483717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0" i="0" u="none" strike="noStrike" cap="none">
                <a:solidFill>
                  <a:srgbClr val="14223A"/>
                </a:solidFill>
                <a:latin typeface="Arial"/>
                <a:ea typeface="Arial"/>
                <a:cs typeface="Arial"/>
                <a:sym typeface="Arial"/>
              </a:rPr>
              <a:t>21 / 37</a:t>
            </a:r>
            <a:endParaRPr/>
          </a:p>
        </p:txBody>
      </p:sp>
      <p:sp>
        <p:nvSpPr>
          <p:cNvPr id="308" name="Google Shape;308;p43"/>
          <p:cNvSpPr/>
          <p:nvPr/>
        </p:nvSpPr>
        <p:spPr>
          <a:xfrm>
            <a:off x="1444752" y="515721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0" i="0" u="none" strike="noStrike" cap="none">
                <a:solidFill>
                  <a:srgbClr val="14223A"/>
                </a:solidFill>
                <a:latin typeface="Arial"/>
                <a:ea typeface="Arial"/>
                <a:cs typeface="Arial"/>
                <a:sym typeface="Arial"/>
              </a:rPr>
              <a:t>21 / 37</a:t>
            </a:r>
            <a:endParaRPr/>
          </a:p>
        </p:txBody>
      </p:sp>
      <p:sp>
        <p:nvSpPr>
          <p:cNvPr id="311" name="Google Shape;311;p43"/>
          <p:cNvSpPr/>
          <p:nvPr/>
        </p:nvSpPr>
        <p:spPr>
          <a:xfrm>
            <a:off x="1444752" y="547725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0" i="0" u="none" strike="noStrike" cap="none">
                <a:solidFill>
                  <a:srgbClr val="14223A"/>
                </a:solidFill>
                <a:latin typeface="Arial"/>
                <a:ea typeface="Arial"/>
                <a:cs typeface="Arial"/>
                <a:sym typeface="Arial"/>
              </a:rPr>
              <a:t>21 / 37</a:t>
            </a:r>
            <a:endParaRPr/>
          </a:p>
        </p:txBody>
      </p:sp>
      <p:sp>
        <p:nvSpPr>
          <p:cNvPr id="314" name="Google Shape;314;p43"/>
          <p:cNvSpPr/>
          <p:nvPr/>
        </p:nvSpPr>
        <p:spPr>
          <a:xfrm>
            <a:off x="1444752" y="579729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0" i="0" u="none" strike="noStrike" cap="none">
                <a:solidFill>
                  <a:srgbClr val="14223A"/>
                </a:solidFill>
                <a:latin typeface="Arial"/>
                <a:ea typeface="Arial"/>
                <a:cs typeface="Arial"/>
                <a:sym typeface="Arial"/>
              </a:rPr>
              <a:t>21 / 37</a:t>
            </a:r>
            <a:endParaRPr/>
          </a:p>
        </p:txBody>
      </p:sp>
      <p:sp>
        <p:nvSpPr>
          <p:cNvPr id="317" name="Google Shape;317;p43"/>
          <p:cNvSpPr/>
          <p:nvPr/>
        </p:nvSpPr>
        <p:spPr>
          <a:xfrm>
            <a:off x="6260576" y="4133088"/>
            <a:ext cx="5291312" cy="2066544"/>
          </a:xfrm>
          <a:prstGeom prst="roundRect">
            <a:avLst>
              <a:gd name="adj" fmla="val 6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defRPr/>
            </a:pPr>
            <a:r>
              <a:rPr lang="en-US" sz="1400" b="1" i="0" u="none" strike="noStrike" cap="none">
                <a:solidFill>
                  <a:srgbClr val="14223A"/>
                </a:solidFill>
                <a:latin typeface="Arial"/>
                <a:ea typeface="Arial"/>
                <a:cs typeface="Arial"/>
                <a:sym typeface="Arial"/>
              </a:rPr>
              <a:t>What is 6 ÷ 1/3?</a:t>
            </a:r>
            <a:endParaRPr/>
          </a:p>
        </p:txBody>
      </p:sp>
      <p:sp>
        <p:nvSpPr>
          <p:cNvPr id="321" name="Google Shape;321;p43"/>
          <p:cNvSpPr/>
          <p:nvPr/>
        </p:nvSpPr>
        <p:spPr>
          <a:xfrm>
            <a:off x="7068312" y="483717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2</a:t>
            </a:r>
            <a:endParaRPr/>
          </a:p>
        </p:txBody>
      </p:sp>
      <p:sp>
        <p:nvSpPr>
          <p:cNvPr id="324" name="Google Shape;324;p43"/>
          <p:cNvSpPr/>
          <p:nvPr/>
        </p:nvSpPr>
        <p:spPr>
          <a:xfrm>
            <a:off x="7068312" y="515721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18</a:t>
            </a:r>
            <a:endParaRPr/>
          </a:p>
        </p:txBody>
      </p:sp>
      <p:sp>
        <p:nvSpPr>
          <p:cNvPr id="327" name="Google Shape;327;p43"/>
          <p:cNvSpPr/>
          <p:nvPr/>
        </p:nvSpPr>
        <p:spPr>
          <a:xfrm>
            <a:off x="7068312" y="547725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400" b="0" i="0" u="none" strike="noStrike" cap="none">
                <a:solidFill>
                  <a:srgbClr val="14223A"/>
                </a:solidFill>
                <a:latin typeface="Arial"/>
                <a:ea typeface="Arial"/>
                <a:cs typeface="Arial"/>
                <a:sym typeface="Arial"/>
              </a:rPr>
              <a:t>6</a:t>
            </a:r>
            <a:endParaRPr/>
          </a:p>
        </p:txBody>
      </p:sp>
      <p:sp>
        <p:nvSpPr>
          <p:cNvPr id="330" name="Google Shape;330;p43"/>
          <p:cNvSpPr/>
          <p:nvPr/>
        </p:nvSpPr>
        <p:spPr>
          <a:xfrm>
            <a:off x="7068312" y="5797296"/>
            <a:ext cx="274320" cy="256032"/>
          </a:xfrm>
          <a:prstGeom prst="roundRect">
            <a:avLst>
              <a:gd name="adj" fmla="val 16000"/>
            </a:avLst>
          </a:prstGeom>
          <a:solidFill>
            <a:srgbClr val="FFFFFF"/>
          </a:solidFill>
          <a:ln w="15875" cap="flat" cmpd="sng">
            <a:solidFill>
              <a:srgbClr val="E2E8F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1" i="0" u="none" strike="noStrike" cap="non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1100" b="0" i="0" u="none" strike="noStrike" cap="none">
                <a:solidFill>
                  <a:srgbClr val="14223A"/>
                </a:solidFill>
                <a:latin typeface="Arial"/>
                <a:ea typeface="Arial"/>
                <a:cs typeface="Arial"/>
                <a:sym typeface="Arial"/>
              </a:rPr>
              <a:t>21 / 37</a:t>
            </a:r>
            <a:endParaRPr/>
          </a:p>
        </p:txBody>
      </p:sp>
      <p:sp>
        <p:nvSpPr>
          <p:cNvPr id="333"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25 / 46</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26 / 46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defRPr/>
            </a:pPr>
            <a:r>
              <a:rPr lang="en-US" sz="2000" b="1" i="0" u="none" strike="noStrike" cap="non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spcFirstLastPara="1" wrap="square" lIns="0" tIns="0" rIns="0" bIns="0" anchor="ctr" anchorCtr="0">
            <a:spAutoFit/>
          </a:bodyPr>
          <a:lstStyle/>
          <a:p>
            <a:pPr marL="0" marR="0" lvl="0" indent="0" algn="r" rtl="0">
              <a:lnSpc>
                <a:spcPct val="100000"/>
              </a:lnSpc>
              <a:spcBef>
                <a:spcPts val="0"/>
              </a:spcBef>
              <a:spcAft>
                <a:spcPts val="0"/>
              </a:spcAft>
              <a:buNone/>
              <a:defRPr/>
            </a:pPr>
            <a:r>
              <a:rPr lang="en-US" sz="950" b="0" i="0" u="none" strike="noStrike" cap="none">
                <a:solidFill>
                  <a:srgbClr val="FFFFFF"/>
                </a:solidFill>
                <a:latin typeface="Arial"/>
                <a:ea typeface="Arial"/>
                <a:cs typeface="Arial"/>
                <a:sym typeface="Arial"/>
              </a:rPr>
              <a:t>Lesson 6-1 · Division Expressions with Fractions and Whole Numbers</a:t>
            </a:r>
            <a:endParaRPr sz="950"/>
          </a:p>
        </p:txBody>
      </p:sp>
      <p:sp>
        <p:nvSpPr>
          <p:cNvPr id="524" name="Google Shape;524;p53"/>
          <p:cNvSpPr/>
          <p:nvPr/>
        </p:nvSpPr>
        <p:spPr>
          <a:xfrm>
            <a:off x="502920" y="6382512"/>
            <a:ext cx="11186129" cy="10972"/>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000" b="0" i="0" u="none" strike="noStrike" cap="non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3000" b="1" i="0" u="none" strike="noStrike" cap="non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name="adj" fmla="val 30000"/>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400" b="1" i="0" u="none" strike="noStrike" cap="non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Fraction Division Rule</a:t>
            </a:r>
            <a:endParaRPr/>
          </a:p>
        </p:txBody>
      </p:sp>
      <p:sp>
        <p:nvSpPr>
          <p:cNvPr id="533" name="Google Shape;533;p53"/>
          <p:cNvSpPr txBox="1"/>
          <p:nvPr/>
        </p:nvSpPr>
        <p:spPr>
          <a:xfrm>
            <a:off x="1389888" y="27066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Dividing by a number is equivalent to multiplying by its </a:t>
            </a:r>
            <a:r>
              <a:rPr lang="en-US" sz="1450" b="1" i="0" u="none" strike="noStrike" cap="none">
                <a:solidFill>
                  <a:srgbClr val="475569"/>
                </a:solidFill>
                <a:latin typeface="Arial"/>
                <a:ea typeface="Arial"/>
                <a:cs typeface="Arial"/>
                <a:sym typeface="Arial"/>
              </a:rPr>
              <a:t>multiplicative inverse</a:t>
            </a:r>
            <a:r>
              <a:rPr lang="en-US" sz="1450" b="0" i="0" u="none" strike="noStrike" cap="none">
                <a:solidFill>
                  <a:srgbClr val="475569"/>
                </a:solidFill>
                <a:latin typeface="Arial"/>
                <a:ea typeface="Arial"/>
                <a:cs typeface="Arial"/>
                <a:sym typeface="Arial"/>
              </a:rPr>
              <a:t> (</a:t>
            </a:r>
            <a:r>
              <a:rPr lang="en-US" sz="1450" b="1" i="0" u="none" strike="noStrike" cap="none">
                <a:solidFill>
                  <a:srgbClr val="475569"/>
                </a:solidFill>
                <a:latin typeface="Arial"/>
                <a:ea typeface="Arial"/>
                <a:cs typeface="Arial"/>
                <a:sym typeface="Arial"/>
              </a:rPr>
              <a:t>reciprocal</a:t>
            </a:r>
            <a:r>
              <a:rPr lang="en-US" sz="1450" b="0" i="0" u="none" strike="noStrike" cap="none">
                <a:solidFill>
                  <a:srgbClr val="475569"/>
                </a:solidFill>
                <a:latin typeface="Arial"/>
                <a:ea typeface="Arial"/>
                <a:cs typeface="Arial"/>
                <a:sym typeface="Arial"/>
              </a:rPr>
              <a:t>).</a:t>
            </a:r>
            <a:endParaRPr/>
          </a:p>
        </p:txBody>
      </p:sp>
      <p:sp>
        <p:nvSpPr>
          <p:cNvPr id="534" name="Google Shape;534;p53"/>
          <p:cNvSpPr/>
          <p:nvPr/>
        </p:nvSpPr>
        <p:spPr>
          <a:xfrm>
            <a:off x="640080" y="35844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Reciprocal Definition</a:t>
            </a:r>
            <a:endParaRPr/>
          </a:p>
        </p:txBody>
      </p:sp>
      <p:sp>
        <p:nvSpPr>
          <p:cNvPr id="538" name="Google Shape;538;p53"/>
          <p:cNvSpPr txBox="1"/>
          <p:nvPr/>
        </p:nvSpPr>
        <p:spPr>
          <a:xfrm>
            <a:off x="1389888" y="40782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Two numbers whose product equals 1 (e.g. 4 and 1/4, 2/3 and 3/2).</a:t>
            </a:r>
            <a:endParaRPr/>
          </a:p>
        </p:txBody>
      </p:sp>
      <p:sp>
        <p:nvSpPr>
          <p:cNvPr id="539" name="Google Shape;539;p53"/>
          <p:cNvSpPr/>
          <p:nvPr/>
        </p:nvSpPr>
        <p:spPr>
          <a:xfrm>
            <a:off x="640080" y="4956048"/>
            <a:ext cx="10911809" cy="1188720"/>
          </a:xfrm>
          <a:prstGeom prst="roundRect">
            <a:avLst>
              <a:gd name="adj" fmla="val 8000"/>
            </a:avLst>
          </a:prstGeom>
          <a:solidFill>
            <a:srgbClr val="F7F4E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r>
              <a:rPr lang="en-US" sz="1400" b="1" i="0" u="none" strike="noStrike" cap="non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defRPr/>
            </a:pPr>
            <a:r>
              <a:rPr lang="en-US" sz="1800" b="1" i="0" u="none" strike="noStrike" cap="none">
                <a:solidFill>
                  <a:srgbClr val="14223A"/>
                </a:solidFill>
                <a:latin typeface="Arial"/>
                <a:ea typeface="Arial"/>
                <a:cs typeface="Arial"/>
                <a:sym typeface="Arial"/>
              </a:rPr>
              <a:t>Tape Models</a:t>
            </a:r>
            <a:endParaRPr/>
          </a:p>
        </p:txBody>
      </p:sp>
      <p:sp>
        <p:nvSpPr>
          <p:cNvPr id="543" name="Google Shape;543;p53"/>
          <p:cNvSpPr txBox="1"/>
          <p:nvPr/>
        </p:nvSpPr>
        <p:spPr>
          <a:xfrm>
            <a:off x="1389888" y="5449824"/>
            <a:ext cx="9860249" cy="585216"/>
          </a:xfrm>
          <a:prstGeom prst="rect">
            <a:avLst/>
          </a:prstGeom>
          <a:noFill/>
          <a:ln>
            <a:noFill/>
          </a:ln>
        </p:spPr>
        <p:txBody>
          <a:bodyPr spcFirstLastPara="1" wrap="square" lIns="0" tIns="0" rIns="0" bIns="0" anchor="t" anchorCtr="0">
            <a:spAutoFit/>
          </a:bodyPr>
          <a:lstStyle/>
          <a:p>
            <a:pPr marL="0" marR="0" lvl="0" indent="0" algn="l" rtl="0">
              <a:lnSpc>
                <a:spcPct val="118000"/>
              </a:lnSpc>
              <a:spcBef>
                <a:spcPts val="0"/>
              </a:spcBef>
              <a:spcAft>
                <a:spcPts val="0"/>
              </a:spcAft>
              <a:buNone/>
              <a:defRPr/>
            </a:pPr>
            <a:r>
              <a:rPr lang="en-US" sz="1450" b="0" i="0" u="none" strike="noStrike" cap="none">
                <a:solidFill>
                  <a:srgbClr val="475569"/>
                </a:solidFill>
                <a:latin typeface="Arial"/>
                <a:ea typeface="Arial"/>
                <a:cs typeface="Arial"/>
                <a:sym typeface="Arial"/>
              </a:rPr>
              <a:t>Visualize how many </a:t>
            </a:r>
            <a:r>
              <a:rPr lang="en-US" sz="1450" b="1" i="0" u="none" strike="noStrike" cap="none">
                <a:solidFill>
                  <a:srgbClr val="475569"/>
                </a:solidFill>
                <a:latin typeface="Arial"/>
                <a:ea typeface="Arial"/>
                <a:cs typeface="Arial"/>
                <a:sym typeface="Arial"/>
              </a:rPr>
              <a:t>divisor</a:t>
            </a:r>
            <a:r>
              <a:rPr lang="en-US" sz="1450" b="0" i="0" u="none" strike="noStrike" cap="none">
                <a:solidFill>
                  <a:srgbClr val="475569"/>
                </a:solidFill>
                <a:latin typeface="Arial"/>
                <a:ea typeface="Arial"/>
                <a:cs typeface="Arial"/>
                <a:sym typeface="Arial"/>
              </a:rPr>
              <a:t> groups fit inside the </a:t>
            </a:r>
            <a:r>
              <a:rPr lang="en-US" sz="1450" b="1" i="0" u="none" strike="noStrike" cap="none">
                <a:solidFill>
                  <a:srgbClr val="475569"/>
                </a:solidFill>
                <a:latin typeface="Arial"/>
                <a:ea typeface="Arial"/>
                <a:cs typeface="Arial"/>
                <a:sym typeface="Arial"/>
              </a:rPr>
              <a:t>dividend</a:t>
            </a:r>
            <a:r>
              <a:rPr lang="en-US" sz="1450" b="0" i="0" u="none" strike="noStrike" cap="none">
                <a:solidFill>
                  <a:srgbClr val="475569"/>
                </a:solidFill>
                <a:latin typeface="Arial"/>
                <a:ea typeface="Arial"/>
                <a:cs typeface="Arial"/>
                <a:sym typeface="Arial"/>
              </a:rPr>
              <a:t> using bar models.</a:t>
            </a:r>
            <a:endParaRPr/>
          </a:p>
        </p:txBody>
      </p:sp>
      <p:sp>
        <p:nvSpPr>
          <p:cNvPr id="54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27 / 46</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p75"/>
          <p:cNvSpPr txBox="1"/>
          <p:nvPr/>
        </p:nvSpPr>
        <p:spPr>
          <a:xfrm>
            <a:off x="1402828" y="2453950"/>
            <a:ext cx="9144000" cy="217646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3600"/>
              <a:buFont typeface="Arial"/>
              <a:buNone/>
              <a:defRPr/>
            </a:pPr>
            <a:r>
              <a:rPr lang="en-US" sz="3600" b="1" i="0" u="none" strike="noStrike" cap="none">
                <a:solidFill>
                  <a:schemeClr val="dk1"/>
                </a:solidFill>
                <a:latin typeface="Arial"/>
                <a:ea typeface="Arial"/>
                <a:cs typeface="Arial"/>
                <a:sym typeface="Arial"/>
              </a:rPr>
              <a:t>Division Expressions with Fractions and Whole Numbers</a:t>
            </a:r>
            <a:endParaRPr sz="1400" b="0" i="0" u="none" strike="noStrike" cap="none">
              <a:solidFill>
                <a:srgbClr val="000000"/>
              </a:solidFill>
              <a:latin typeface="Arial"/>
              <a:ea typeface="Arial"/>
              <a:cs typeface="Arial"/>
              <a:sym typeface="Arial"/>
            </a:endParaRPr>
          </a:p>
        </p:txBody>
      </p:sp>
      <p:sp>
        <p:nvSpPr>
          <p:cNvPr id="751" name="Google Shape;751;p75"/>
          <p:cNvSpPr/>
          <p:nvPr/>
        </p:nvSpPr>
        <p:spPr>
          <a:xfrm>
            <a:off x="1402828" y="1037162"/>
            <a:ext cx="1763624" cy="52322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800"/>
              <a:buFont typeface="Arial"/>
              <a:buNone/>
              <a:defRPr/>
            </a:pPr>
            <a:r>
              <a:rPr lang="en-US" sz="2800" b="0" i="0" u="none" strike="noStrike" cap="none">
                <a:solidFill>
                  <a:srgbClr val="01708C"/>
                </a:solidFill>
                <a:latin typeface="Arial"/>
                <a:ea typeface="Arial"/>
                <a:cs typeface="Arial"/>
                <a:sym typeface="Arial"/>
              </a:rPr>
              <a:t>Session 2</a:t>
            </a:r>
            <a:endParaRPr sz="2800" b="1" i="0" u="none" strike="noStrike" cap="none">
              <a:solidFill>
                <a:srgbClr val="01708C"/>
              </a:solidFill>
              <a:latin typeface="Arial"/>
              <a:ea typeface="Arial"/>
              <a:cs typeface="Arial"/>
              <a:sym typeface="Arial"/>
            </a:endParaRPr>
          </a:p>
        </p:txBody>
      </p:sp>
      <p:cxnSp>
        <p:nvCxnSpPr>
          <p:cNvPr id="752" name="Google Shape;752;p75"/>
          <p:cNvCxnSpPr/>
          <p:nvPr/>
        </p:nvCxnSpPr>
        <p:spPr>
          <a:xfrm>
            <a:off x="-1" y="1560382"/>
            <a:ext cx="3166453" cy="0"/>
          </a:xfrm>
          <a:prstGeom prst="straightConnector1">
            <a:avLst/>
          </a:prstGeom>
          <a:noFill/>
          <a:ln w="19050" cap="flat" cmpd="sng">
            <a:solidFill>
              <a:srgbClr val="01708C"/>
            </a:solidFill>
            <a:prstDash val="solid"/>
            <a:miter lim="80"/>
            <a:headEnd type="none" w="sm" len="sm"/>
            <a:tailEnd type="none" w="sm" len="sm"/>
          </a:ln>
        </p:spPr>
      </p:cxnSp>
      <p:sp>
        <p:nvSpPr>
          <p:cNvPr id="753"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28 / 46</a:t>
            </a:r>
          </a:p>
        </p:txBody>
      </p:sp>
      <p:grpSp>
        <p:nvGrpSpPr>
          <p:cNvPr id="754" name="TEACH-5-student-move" descr="TEACH 5 · Facilitate student interactions and academic talk"/>
          <p:cNvGrpSpPr/>
          <p:nvPr/>
        </p:nvGrpSpPr>
        <p:grpSpPr>
          <a:xfrm>
            <a:off x="502920" y="3867612"/>
            <a:ext cx="11186160" cy="731520"/>
            <a:chOff x="502920" y="3867612"/>
            <a:chExt cx="11186160" cy="731520"/>
          </a:xfrm>
        </p:grpSpPr>
        <p:sp>
          <p:nvSpPr>
            <p:cNvPr id="755"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56"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57"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ADD ON  ·  </a:t>
              </a:r>
              <a:r>
                <a:rPr lang="en-US" sz="1800" dirty="0">
                  <a:solidFill>
                    <a:srgbClr val="13303A"/>
                  </a:solidFill>
                  <a:latin typeface="Arial"/>
                </a:rPr>
                <a:t>Add on: “I agree because ______.”  or  “I see it differently because ______.”</a:t>
              </a:r>
              <a:endParaRPr lang="en-US" sz="1800"/>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66"/>
        <p:cNvGrpSpPr/>
        <p:nvPr/>
      </p:nvGrpSpPr>
      <p:grpSpPr>
        <a:xfrm>
          <a:off x="0" y="0"/>
          <a:ext cx="0" cy="0"/>
          <a:chOff x="0" y="0"/>
          <a:chExt cx="0" cy="0"/>
        </a:xfrm>
      </p:grpSpPr>
      <p:cxnSp>
        <p:nvCxnSpPr>
          <p:cNvPr id="767" name="Google Shape;767;p77"/>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768" name="Google Shape;768;p77"/>
          <p:cNvSpPr txBox="1"/>
          <p:nvPr/>
        </p:nvSpPr>
        <p:spPr>
          <a:xfrm>
            <a:off x="474055" y="936101"/>
            <a:ext cx="4358575" cy="122520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What do you notice?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What do you wonder?</a:t>
            </a:r>
            <a:endParaRPr sz="1400" b="0" i="0" u="none" strike="noStrike" cap="none">
              <a:solidFill>
                <a:srgbClr val="000000"/>
              </a:solidFill>
              <a:latin typeface="Arial"/>
              <a:ea typeface="Arial"/>
              <a:cs typeface="Arial"/>
              <a:sym typeface="Arial"/>
            </a:endParaRPr>
          </a:p>
        </p:txBody>
      </p:sp>
      <p:sp>
        <p:nvSpPr>
          <p:cNvPr id="769" name="Google Shape;769;p77"/>
          <p:cNvSpPr txBox="1"/>
          <p:nvPr/>
        </p:nvSpPr>
        <p:spPr>
          <a:xfrm>
            <a:off x="474055" y="316034"/>
            <a:ext cx="3904129"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00B050"/>
              </a:buClr>
              <a:buSzPts val="2800"/>
              <a:buFont typeface="Arial"/>
              <a:buNone/>
            </a:pPr>
            <a:r>
              <a:rPr lang="en-US" sz="2800" b="1" i="0" u="none" strike="noStrike" cap="none">
                <a:solidFill>
                  <a:srgbClr val="00B050"/>
                </a:solidFill>
                <a:latin typeface="Arial"/>
                <a:ea typeface="Arial"/>
                <a:cs typeface="Arial"/>
                <a:sym typeface="Arial"/>
              </a:rPr>
              <a:t>Be Curious</a:t>
            </a:r>
            <a:endParaRPr sz="1400" b="0" i="0" u="none" strike="noStrike" cap="none">
              <a:solidFill>
                <a:srgbClr val="000000"/>
              </a:solidFill>
              <a:latin typeface="Arial"/>
              <a:ea typeface="Arial"/>
              <a:cs typeface="Arial"/>
              <a:sym typeface="Arial"/>
            </a:endParaRPr>
          </a:p>
        </p:txBody>
      </p:sp>
      <p:pic>
        <p:nvPicPr>
          <p:cNvPr id="770" name="Google Shape;770;p77"/>
          <p:cNvPicPr preferRelativeResize="0"/>
          <p:nvPr/>
        </p:nvPicPr>
        <p:blipFill rotWithShape="1">
          <a:blip r:embed="rId3">
            <a:alphaModFix/>
          </a:blip>
          <a:srcRect/>
          <a:stretch/>
        </p:blipFill>
        <p:spPr>
          <a:xfrm>
            <a:off x="1485207" y="2781376"/>
            <a:ext cx="6614160" cy="871061"/>
          </a:xfrm>
          <a:prstGeom prst="rect">
            <a:avLst/>
          </a:prstGeom>
          <a:noFill/>
          <a:ln>
            <a:noFill/>
          </a:ln>
        </p:spPr>
      </p:pic>
      <p:pic>
        <p:nvPicPr>
          <p:cNvPr id="771" name="Google Shape;771;p77"/>
          <p:cNvPicPr preferRelativeResize="0"/>
          <p:nvPr/>
        </p:nvPicPr>
        <p:blipFill rotWithShape="1">
          <a:blip r:embed="rId4">
            <a:alphaModFix/>
          </a:blip>
          <a:srcRect/>
          <a:stretch/>
        </p:blipFill>
        <p:spPr>
          <a:xfrm>
            <a:off x="474055" y="4629701"/>
            <a:ext cx="5054600" cy="838200"/>
          </a:xfrm>
          <a:prstGeom prst="rect">
            <a:avLst/>
          </a:prstGeom>
          <a:noFill/>
          <a:ln>
            <a:noFill/>
          </a:ln>
        </p:spPr>
      </p:pic>
      <p:sp>
        <p:nvSpPr>
          <p:cNvPr id="772" name="Google Shape;772;p77"/>
          <p:cNvSpPr txBox="1"/>
          <p:nvPr/>
        </p:nvSpPr>
        <p:spPr>
          <a:xfrm>
            <a:off x="3334072" y="4787019"/>
            <a:ext cx="2194584" cy="63971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Mindset</a:t>
            </a:r>
            <a:endParaRPr sz="1400" b="0" i="0" u="none" strike="noStrike" cap="none">
              <a:solidFill>
                <a:srgbClr val="000000"/>
              </a:solidFill>
              <a:latin typeface="Arial"/>
              <a:ea typeface="Arial"/>
              <a:cs typeface="Arial"/>
              <a:sym typeface="Arial"/>
            </a:endParaRPr>
          </a:p>
        </p:txBody>
      </p:sp>
      <p:sp>
        <p:nvSpPr>
          <p:cNvPr id="773" name="Google Shape;773;p77"/>
          <p:cNvSpPr/>
          <p:nvPr/>
        </p:nvSpPr>
        <p:spPr>
          <a:xfrm>
            <a:off x="687251" y="5445024"/>
            <a:ext cx="10741420"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0" i="0" u="none" strike="noStrike" cap="none">
                <a:solidFill>
                  <a:srgbClr val="595959"/>
                </a:solidFill>
                <a:latin typeface="Arial"/>
                <a:ea typeface="Arial"/>
                <a:cs typeface="Arial"/>
                <a:sym typeface="Arial"/>
              </a:rPr>
              <a:t>How are you building your confidence when engaging with math?</a:t>
            </a:r>
            <a:endParaRPr sz="1400" b="0" i="0" u="none" strike="noStrike" cap="none">
              <a:solidFill>
                <a:srgbClr val="000000"/>
              </a:solidFill>
              <a:latin typeface="Arial"/>
              <a:ea typeface="Arial"/>
              <a:cs typeface="Arial"/>
              <a:sym typeface="Arial"/>
            </a:endParaRPr>
          </a:p>
        </p:txBody>
      </p:sp>
      <p:sp>
        <p:nvSpPr>
          <p:cNvPr id="77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29 / 46</a:t>
            </a:r>
          </a:p>
        </p:txBody>
      </p:sp>
      <p:sp>
        <p:nvSpPr>
          <p:cNvPr id="775" name="TEACH-embedded-student-prompt" descr="Student thinking and response directions"/>
          <p:cNvSpPr txBox="1"/>
          <p:nvPr/>
        </p:nvSpPr>
        <p:spPr>
          <a:xfrm>
            <a:off x="594360" y="39867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 build on a classmate’s idea.</a:t>
            </a:r>
            <a:endParaRPr lang="en-US" sz="20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cxnSp>
        <p:nvCxnSpPr>
          <p:cNvPr id="788" name="Google Shape;788;p79"/>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789" name="Google Shape;789;p79"/>
          <p:cNvSpPr txBox="1"/>
          <p:nvPr/>
        </p:nvSpPr>
        <p:spPr>
          <a:xfrm>
            <a:off x="484565" y="936101"/>
            <a:ext cx="7819850" cy="203985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Tahira bought the package of trail mix shown. She wants to make 3 snack bags of trail mix, each with the same amount of trail mix.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3282D"/>
                </a:solidFill>
                <a:latin typeface="Arial"/>
                <a:ea typeface="Arial"/>
                <a:cs typeface="Arial"/>
                <a:sym typeface="Arial"/>
              </a:rPr>
              <a:t>How much trail mix will be in each bag?</a:t>
            </a:r>
            <a:endParaRPr sz="1400" b="0" i="0" u="none" strike="noStrike" cap="none">
              <a:solidFill>
                <a:srgbClr val="000000"/>
              </a:solidFill>
              <a:latin typeface="Arial"/>
              <a:ea typeface="Arial"/>
              <a:cs typeface="Arial"/>
              <a:sym typeface="Arial"/>
            </a:endParaRPr>
          </a:p>
        </p:txBody>
      </p:sp>
      <p:sp>
        <p:nvSpPr>
          <p:cNvPr id="790" name="Google Shape;790;p79"/>
          <p:cNvSpPr txBox="1"/>
          <p:nvPr/>
        </p:nvSpPr>
        <p:spPr>
          <a:xfrm>
            <a:off x="484565" y="316034"/>
            <a:ext cx="5974424"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Trail Mix</a:t>
            </a:r>
            <a:endParaRPr sz="1400" b="0" i="0" u="none" strike="noStrike" cap="none">
              <a:solidFill>
                <a:srgbClr val="000000"/>
              </a:solidFill>
              <a:latin typeface="Arial"/>
              <a:ea typeface="Arial"/>
              <a:cs typeface="Arial"/>
              <a:sym typeface="Arial"/>
            </a:endParaRPr>
          </a:p>
        </p:txBody>
      </p:sp>
      <p:pic>
        <p:nvPicPr>
          <p:cNvPr id="791" name="Google Shape;791;p79"/>
          <p:cNvPicPr preferRelativeResize="0"/>
          <p:nvPr/>
        </p:nvPicPr>
        <p:blipFill rotWithShape="1">
          <a:blip r:embed="rId3">
            <a:alphaModFix/>
          </a:blip>
          <a:srcRect/>
          <a:stretch/>
        </p:blipFill>
        <p:spPr>
          <a:xfrm>
            <a:off x="484565" y="4924345"/>
            <a:ext cx="7073900" cy="838200"/>
          </a:xfrm>
          <a:prstGeom prst="rect">
            <a:avLst/>
          </a:prstGeom>
          <a:noFill/>
          <a:ln>
            <a:noFill/>
          </a:ln>
        </p:spPr>
      </p:pic>
      <p:sp>
        <p:nvSpPr>
          <p:cNvPr id="792" name="Google Shape;792;p79"/>
          <p:cNvSpPr txBox="1"/>
          <p:nvPr/>
        </p:nvSpPr>
        <p:spPr>
          <a:xfrm>
            <a:off x="3202087" y="5081663"/>
            <a:ext cx="6783781" cy="63971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Asking Questions</a:t>
            </a:r>
            <a:endParaRPr sz="1400" b="0" i="0" u="none" strike="noStrike" cap="none">
              <a:solidFill>
                <a:srgbClr val="000000"/>
              </a:solidFill>
              <a:latin typeface="Arial"/>
              <a:ea typeface="Arial"/>
              <a:cs typeface="Arial"/>
              <a:sym typeface="Arial"/>
            </a:endParaRPr>
          </a:p>
        </p:txBody>
      </p:sp>
      <p:sp>
        <p:nvSpPr>
          <p:cNvPr id="793" name="Google Shape;793;p79"/>
          <p:cNvSpPr/>
          <p:nvPr/>
        </p:nvSpPr>
        <p:spPr>
          <a:xfrm>
            <a:off x="674139" y="5739668"/>
            <a:ext cx="10741420" cy="49244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600"/>
              <a:buFont typeface="Arial"/>
              <a:buNone/>
            </a:pPr>
            <a:r>
              <a:rPr lang="en-US" sz="2600" b="0" i="0" u="none" strike="noStrike" cap="none">
                <a:solidFill>
                  <a:srgbClr val="595959"/>
                </a:solidFill>
                <a:latin typeface="Arial"/>
                <a:ea typeface="Arial"/>
                <a:cs typeface="Arial"/>
                <a:sym typeface="Arial"/>
              </a:rPr>
              <a:t>What questions can you ask to better define the problem?</a:t>
            </a:r>
            <a:endParaRPr sz="1400" b="0" i="0" u="none" strike="noStrike" cap="none">
              <a:solidFill>
                <a:srgbClr val="000000"/>
              </a:solidFill>
              <a:latin typeface="Arial"/>
              <a:ea typeface="Arial"/>
              <a:cs typeface="Arial"/>
              <a:sym typeface="Arial"/>
            </a:endParaRPr>
          </a:p>
        </p:txBody>
      </p:sp>
      <p:pic>
        <p:nvPicPr>
          <p:cNvPr id="794" name="Google Shape;794;p79"/>
          <p:cNvPicPr preferRelativeResize="0"/>
          <p:nvPr/>
        </p:nvPicPr>
        <p:blipFill rotWithShape="1">
          <a:blip r:embed="rId4">
            <a:alphaModFix/>
          </a:blip>
          <a:srcRect/>
          <a:stretch/>
        </p:blipFill>
        <p:spPr>
          <a:xfrm>
            <a:off x="9087359" y="1350155"/>
            <a:ext cx="2235858" cy="3774720"/>
          </a:xfrm>
          <a:prstGeom prst="rect">
            <a:avLst/>
          </a:prstGeom>
          <a:noFill/>
          <a:ln>
            <a:noFill/>
          </a:ln>
        </p:spPr>
      </p:pic>
      <p:sp>
        <p:nvSpPr>
          <p:cNvPr id="795"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30 / 46</a:t>
            </a:r>
          </a:p>
        </p:txBody>
      </p:sp>
      <p:sp>
        <p:nvSpPr>
          <p:cNvPr id="796" name="TEACH-embedded-student-prompt" descr="Student thinking and response directions"/>
          <p:cNvSpPr txBox="1"/>
          <p:nvPr/>
        </p:nvSpPr>
        <p:spPr>
          <a:xfrm>
            <a:off x="594360" y="404164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cxnSp>
        <p:nvCxnSpPr>
          <p:cNvPr id="799" name="Google Shape;799;p80"/>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00" name="Google Shape;800;p80"/>
          <p:cNvSpPr txBox="1"/>
          <p:nvPr/>
        </p:nvSpPr>
        <p:spPr>
          <a:xfrm>
            <a:off x="484565" y="936101"/>
            <a:ext cx="7416423" cy="31205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Tahira bought the package of trail mix shown. She wants to make 3 snack bags of trail mix, each with the same amount of trail mix. How much trail mix will be in each bag?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i="0" u="none" strike="noStrike" cap="none">
                <a:solidFill>
                  <a:srgbClr val="23282D"/>
                </a:solidFill>
                <a:latin typeface="Arial"/>
                <a:ea typeface="Arial"/>
                <a:cs typeface="Arial"/>
                <a:sym typeface="Arial"/>
              </a:rPr>
              <a:t>What is the problem asking you to do?</a:t>
            </a:r>
            <a:endParaRPr sz="1400" b="0" i="0" u="none" strike="noStrike" cap="none">
              <a:solidFill>
                <a:srgbClr val="000000"/>
              </a:solidFill>
              <a:latin typeface="Arial"/>
              <a:ea typeface="Arial"/>
              <a:cs typeface="Arial"/>
              <a:sym typeface="Arial"/>
            </a:endParaRPr>
          </a:p>
        </p:txBody>
      </p:sp>
      <p:pic>
        <p:nvPicPr>
          <p:cNvPr id="801" name="Google Shape;801;p80"/>
          <p:cNvPicPr preferRelativeResize="0"/>
          <p:nvPr/>
        </p:nvPicPr>
        <p:blipFill rotWithShape="1">
          <a:blip r:embed="rId3">
            <a:alphaModFix/>
          </a:blip>
          <a:srcRect/>
          <a:stretch/>
        </p:blipFill>
        <p:spPr>
          <a:xfrm>
            <a:off x="9087359" y="1350155"/>
            <a:ext cx="2235858" cy="3774720"/>
          </a:xfrm>
          <a:prstGeom prst="rect">
            <a:avLst/>
          </a:prstGeom>
          <a:noFill/>
          <a:ln>
            <a:noFill/>
          </a:ln>
        </p:spPr>
      </p:pic>
      <p:sp>
        <p:nvSpPr>
          <p:cNvPr id="802" name="Google Shape;802;p80"/>
          <p:cNvSpPr txBox="1"/>
          <p:nvPr/>
        </p:nvSpPr>
        <p:spPr>
          <a:xfrm>
            <a:off x="484565" y="316034"/>
            <a:ext cx="5974424"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82DA0"/>
                </a:solidFill>
                <a:latin typeface="Arial"/>
                <a:ea typeface="Arial"/>
                <a:cs typeface="Arial"/>
                <a:sym typeface="Arial"/>
              </a:rPr>
              <a:t>Trail Mix</a:t>
            </a:r>
            <a:endParaRPr sz="1400" b="0" i="0" u="none" strike="noStrike" cap="none">
              <a:solidFill>
                <a:srgbClr val="000000"/>
              </a:solidFill>
              <a:latin typeface="Arial"/>
              <a:ea typeface="Arial"/>
              <a:cs typeface="Arial"/>
              <a:sym typeface="Arial"/>
            </a:endParaRPr>
          </a:p>
        </p:txBody>
      </p:sp>
      <p:sp>
        <p:nvSpPr>
          <p:cNvPr id="803" name="Google Shape;803;p80"/>
          <p:cNvSpPr txBox="1"/>
          <p:nvPr/>
        </p:nvSpPr>
        <p:spPr>
          <a:xfrm>
            <a:off x="484565" y="4946160"/>
            <a:ext cx="7763508" cy="135027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804"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31 / 46</a:t>
            </a:r>
          </a:p>
        </p:txBody>
      </p:sp>
      <p:grpSp>
        <p:nvGrpSpPr>
          <p:cNvPr id="805" name="TEACH-4-student-move" descr="TEACH 4 · Monitor progress and provide feedback"/>
          <p:cNvGrpSpPr/>
          <p:nvPr/>
        </p:nvGrpSpPr>
        <p:grpSpPr>
          <a:xfrm>
            <a:off x="502920" y="5546209"/>
            <a:ext cx="11186160" cy="731520"/>
            <a:chOff x="502920" y="5546209"/>
            <a:chExt cx="11186160" cy="731520"/>
          </a:xfrm>
        </p:grpSpPr>
        <p:sp>
          <p:nvSpPr>
            <p:cNvPr id="806" name="TEACH-move-card"/>
            <p:cNvSpPr/>
            <p:nvPr/>
          </p:nvSpPr>
          <p:spPr>
            <a:xfrm>
              <a:off x="502920" y="554620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07" name="TEACH-move-rule"/>
            <p:cNvSpPr/>
            <p:nvPr/>
          </p:nvSpPr>
          <p:spPr>
            <a:xfrm>
              <a:off x="548640" y="5685198"/>
              <a:ext cx="100584" cy="453542"/>
            </a:xfrm>
            <a:prstGeom prst="roundRect">
              <a:avLst>
                <a:gd name="adj" fmla="val 50000"/>
              </a:avLst>
            </a:prstGeom>
            <a:solidFill>
              <a:srgbClr val="01708C"/>
            </a:solidFill>
            <a:ln>
              <a:noFill/>
            </a:ln>
          </p:spPr>
          <p:txBody>
            <a:bodyPr/>
            <a:lstStyle/>
            <a:p>
              <a:endParaRPr/>
            </a:p>
          </p:txBody>
        </p:sp>
        <p:sp>
          <p:nvSpPr>
            <p:cNvPr id="808" name="TEACH-move-text"/>
            <p:cNvSpPr txBox="1"/>
            <p:nvPr/>
          </p:nvSpPr>
          <p:spPr>
            <a:xfrm>
              <a:off x="822960" y="554620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SELF-CHECK  ·  </a:t>
              </a:r>
              <a:r>
                <a:rPr lang="en-US" sz="1800" dirty="0">
                  <a:solidFill>
                    <a:srgbClr val="13303A"/>
                  </a:solidFill>
                  <a:latin typeface="Arial"/>
                </a:rPr>
                <a:t>Mark it: ✓ got it  ·  ~ almost  ·  ? stuck. Then fix one thing before we move on.</a:t>
              </a:r>
              <a:endParaRPr lang="en-US" sz="1800"/>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825"/>
        <p:cNvGrpSpPr/>
        <p:nvPr/>
      </p:nvGrpSpPr>
      <p:grpSpPr>
        <a:xfrm>
          <a:off x="0" y="0"/>
          <a:ext cx="0" cy="0"/>
          <a:chOff x="0" y="0"/>
          <a:chExt cx="0" cy="0"/>
        </a:xfrm>
      </p:grpSpPr>
      <p:cxnSp>
        <p:nvCxnSpPr>
          <p:cNvPr id="826" name="Google Shape;826;p83"/>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27" name="Google Shape;827;p83"/>
          <p:cNvSpPr txBox="1"/>
          <p:nvPr/>
        </p:nvSpPr>
        <p:spPr>
          <a:xfrm>
            <a:off x="484565" y="936101"/>
            <a:ext cx="7819850" cy="292100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Tahira bought the package of trail mix shown. She wants to make 3 snack bags of trail mix, each with the same amount of trail mix. How much trail mix will be in each bag?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3282D"/>
                </a:solidFill>
                <a:latin typeface="Arial"/>
                <a:ea typeface="Arial"/>
                <a:cs typeface="Arial"/>
                <a:sym typeface="Arial"/>
              </a:rPr>
              <a:t>What tool can you use to visualize the problem? </a:t>
            </a:r>
            <a:endParaRPr sz="1400" b="0" i="0" u="none" strike="noStrike" cap="none">
              <a:solidFill>
                <a:srgbClr val="000000"/>
              </a:solidFill>
              <a:latin typeface="Arial"/>
              <a:ea typeface="Arial"/>
              <a:cs typeface="Arial"/>
              <a:sym typeface="Arial"/>
            </a:endParaRPr>
          </a:p>
        </p:txBody>
      </p:sp>
      <p:sp>
        <p:nvSpPr>
          <p:cNvPr id="828" name="Google Shape;828;p83"/>
          <p:cNvSpPr txBox="1"/>
          <p:nvPr/>
        </p:nvSpPr>
        <p:spPr>
          <a:xfrm>
            <a:off x="484565" y="5075469"/>
            <a:ext cx="10944982" cy="116831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pPr>
            <a:r>
              <a:rPr lang="en-US" sz="2800" b="0" i="0" u="none" strike="noStrike" cap="none">
                <a:solidFill>
                  <a:srgbClr val="595959"/>
                </a:solidFill>
                <a:latin typeface="Arial"/>
                <a:ea typeface="Arial"/>
                <a:cs typeface="Arial"/>
                <a:sym typeface="Arial"/>
              </a:rPr>
              <a:t>One tool is a tape diagram.</a:t>
            </a:r>
            <a:endParaRPr sz="2800" b="0" i="1" u="none" strike="noStrike" cap="none">
              <a:solidFill>
                <a:srgbClr val="595959"/>
              </a:solidFill>
              <a:latin typeface="Arial"/>
              <a:ea typeface="Arial"/>
              <a:cs typeface="Arial"/>
              <a:sym typeface="Arial"/>
            </a:endParaRPr>
          </a:p>
        </p:txBody>
      </p:sp>
      <p:pic>
        <p:nvPicPr>
          <p:cNvPr id="829" name="Google Shape;829;p83"/>
          <p:cNvPicPr preferRelativeResize="0"/>
          <p:nvPr/>
        </p:nvPicPr>
        <p:blipFill rotWithShape="1">
          <a:blip r:embed="rId3">
            <a:alphaModFix/>
          </a:blip>
          <a:srcRect/>
          <a:stretch/>
        </p:blipFill>
        <p:spPr>
          <a:xfrm>
            <a:off x="9087359" y="1350155"/>
            <a:ext cx="2235858" cy="3774720"/>
          </a:xfrm>
          <a:prstGeom prst="rect">
            <a:avLst/>
          </a:prstGeom>
          <a:noFill/>
          <a:ln>
            <a:noFill/>
          </a:ln>
        </p:spPr>
      </p:pic>
      <p:sp>
        <p:nvSpPr>
          <p:cNvPr id="830" name="Google Shape;830;p83"/>
          <p:cNvSpPr txBox="1"/>
          <p:nvPr/>
        </p:nvSpPr>
        <p:spPr>
          <a:xfrm>
            <a:off x="484565" y="316034"/>
            <a:ext cx="5974424"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Trail Mix</a:t>
            </a:r>
            <a:endParaRPr sz="1400" b="0" i="0" u="none" strike="noStrike" cap="none">
              <a:solidFill>
                <a:srgbClr val="000000"/>
              </a:solidFill>
              <a:latin typeface="Arial"/>
              <a:ea typeface="Arial"/>
              <a:cs typeface="Arial"/>
              <a:sym typeface="Arial"/>
            </a:endParaRPr>
          </a:p>
        </p:txBody>
      </p:sp>
      <p:sp>
        <p:nvSpPr>
          <p:cNvPr id="831"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32 / 46</a:t>
            </a:r>
          </a:p>
        </p:txBody>
      </p:sp>
      <p:sp>
        <p:nvSpPr>
          <p:cNvPr id="832" name="EWL-COVER-1"/>
          <p:cNvSpPr/>
          <p:nvPr/>
        </p:nvSpPr>
        <p:spPr>
          <a:xfrm>
            <a:off x="429701" y="5020605"/>
            <a:ext cx="11054710" cy="1278041"/>
          </a:xfrm>
          <a:prstGeom prst="rect">
            <a:avLst/>
          </a:prstGeom>
          <a:solidFill>
            <a:srgbClr val="FFFFFF"/>
          </a:solidFill>
          <a:ln>
            <a:noFill/>
          </a:ln>
        </p:spPr>
        <p:txBody>
          <a:bodyPr/>
          <a:lstStyle/>
          <a:p>
            <a:endParaRPr/>
          </a:p>
        </p:txBody>
      </p:sp>
      <p:sp>
        <p:nvSpPr>
          <p:cNvPr id="833" name="TEACH-embedded-student-prompt" descr="Student thinking and response directions"/>
          <p:cNvSpPr txBox="1"/>
          <p:nvPr/>
        </p:nvSpPr>
        <p:spPr>
          <a:xfrm>
            <a:off x="594360" y="41330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a:t>
            </a:r>
            <a:endParaRPr lang="en-US" sz="2000"/>
          </a:p>
          <a:p>
            <a:pPr>
              <a:lnSpc>
                <a:spcPts val="2400"/>
              </a:lnSpc>
              <a:buNone/>
            </a:pPr>
            <a:r>
              <a:rPr lang="en-US" sz="2000">
                <a:solidFill>
                  <a:srgbClr val="174D60"/>
                </a:solidFill>
                <a:latin typeface="Arial"/>
              </a:rPr>
              <a:t>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0"/>
                      </p:stCondLst>
                      <p:childTnLst>
                        <p:par>
                          <p:cTn id="4" presetID="1" presetClass="exit" presetSubtype="0" fill="hold" nodeType="clickEffect">
                            <p:stCondLst>
                              <p:cond delay="0"/>
                            </p:stCondLst>
                            <p:childTnLst>
                              <p:set>
                                <p:cBhvr>
                                  <p:cTn id="5" dur="1" fill="hold"/>
                                  <p:tgtEl>
                                    <p:spTgt spid="832"/>
                                  </p:tgtEl>
                                  <p:attrNameLst>
                                    <p:attrName>style.visibility</p:attrName>
                                  </p:attrNameLst>
                                </p:cBhvr>
                                <p:to>
                                  <p:strVal val="hidden"/>
                                </p:to>
                              </p:set>
                            </p:childTnLst>
                          </p:cTn>
                        </p:par>
                      </p:childTnLst>
                    </p:cTn>
                  </p:par>
                </p:childTnLst>
              </p:cTn>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862"/>
        <p:cNvGrpSpPr/>
        <p:nvPr/>
      </p:nvGrpSpPr>
      <p:grpSpPr>
        <a:xfrm>
          <a:off x="0" y="0"/>
          <a:ext cx="0" cy="0"/>
          <a:chOff x="0" y="0"/>
          <a:chExt cx="0" cy="0"/>
        </a:xfrm>
      </p:grpSpPr>
      <p:pic>
        <p:nvPicPr>
          <p:cNvPr id="863" name="Google Shape;863;p87"/>
          <p:cNvPicPr preferRelativeResize="0"/>
          <p:nvPr/>
        </p:nvPicPr>
        <p:blipFill rotWithShape="1">
          <a:blip r:embed="rId3">
            <a:alphaModFix/>
          </a:blip>
          <a:srcRect/>
          <a:stretch/>
        </p:blipFill>
        <p:spPr>
          <a:xfrm>
            <a:off x="1328652" y="2575374"/>
            <a:ext cx="4286250" cy="1722154"/>
          </a:xfrm>
          <a:prstGeom prst="rect">
            <a:avLst/>
          </a:prstGeom>
          <a:noFill/>
          <a:ln>
            <a:noFill/>
          </a:ln>
        </p:spPr>
      </p:pic>
      <p:cxnSp>
        <p:nvCxnSpPr>
          <p:cNvPr id="864" name="Google Shape;864;p87"/>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865" name="Google Shape;865;p87"/>
          <p:cNvSpPr txBox="1"/>
          <p:nvPr/>
        </p:nvSpPr>
        <p:spPr>
          <a:xfrm>
            <a:off x="484565" y="936101"/>
            <a:ext cx="7819850" cy="3145448"/>
          </a:xfrm>
          <a:prstGeom prst="rect">
            <a:avLst/>
          </a:prstGeom>
          <a:blipFill rotWithShape="1">
            <a:blip r:embed="rId4">
              <a:alphaModFix/>
            </a:blip>
            <a:stretch>
              <a:fillRect l="-1559" t="-2131" r="-78"/>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866" name="Google Shape;866;p87"/>
          <p:cNvSpPr txBox="1"/>
          <p:nvPr/>
        </p:nvSpPr>
        <p:spPr>
          <a:xfrm>
            <a:off x="484565" y="316034"/>
            <a:ext cx="5382835"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    Collaborate and Connect</a:t>
            </a:r>
            <a:endParaRPr sz="1400" b="0" i="0" u="none" strike="noStrike" cap="none">
              <a:solidFill>
                <a:srgbClr val="000000"/>
              </a:solidFill>
              <a:latin typeface="Arial"/>
              <a:ea typeface="Arial"/>
              <a:cs typeface="Arial"/>
              <a:sym typeface="Arial"/>
            </a:endParaRPr>
          </a:p>
        </p:txBody>
      </p:sp>
      <p:pic>
        <p:nvPicPr>
          <p:cNvPr id="867" name="Google Shape;867;p87"/>
          <p:cNvPicPr preferRelativeResize="0"/>
          <p:nvPr/>
        </p:nvPicPr>
        <p:blipFill rotWithShape="1">
          <a:blip r:embed="rId5">
            <a:alphaModFix/>
          </a:blip>
          <a:srcRect/>
          <a:stretch/>
        </p:blipFill>
        <p:spPr>
          <a:xfrm>
            <a:off x="558276" y="386230"/>
            <a:ext cx="353635" cy="340537"/>
          </a:xfrm>
          <a:prstGeom prst="rect">
            <a:avLst/>
          </a:prstGeom>
          <a:noFill/>
          <a:ln>
            <a:noFill/>
          </a:ln>
        </p:spPr>
      </p:pic>
      <p:sp>
        <p:nvSpPr>
          <p:cNvPr id="868" name="Google Shape;868;p87"/>
          <p:cNvSpPr txBox="1"/>
          <p:nvPr/>
        </p:nvSpPr>
        <p:spPr>
          <a:xfrm>
            <a:off x="484565" y="4767894"/>
            <a:ext cx="10944982" cy="1516528"/>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divide each third into 3 equal parts, resulting in 6 shaded parts. Two of the 6 shaded parts will go in each of the 3 bags.</a:t>
            </a:r>
            <a:endParaRPr sz="2800" b="0" i="1" u="none" strike="noStrike" cap="none">
              <a:solidFill>
                <a:srgbClr val="595959"/>
              </a:solidFill>
              <a:latin typeface="Arial"/>
              <a:ea typeface="Arial"/>
              <a:cs typeface="Arial"/>
              <a:sym typeface="Arial"/>
            </a:endParaRPr>
          </a:p>
        </p:txBody>
      </p:sp>
      <p:sp>
        <p:nvSpPr>
          <p:cNvPr id="86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33 / 46</a:t>
            </a:r>
          </a:p>
        </p:txBody>
      </p:sp>
      <p:sp>
        <p:nvSpPr>
          <p:cNvPr id="870" name="EWL-COVER-1"/>
          <p:cNvSpPr/>
          <p:nvPr/>
        </p:nvSpPr>
        <p:spPr>
          <a:xfrm>
            <a:off x="429701" y="4713030"/>
            <a:ext cx="11054710" cy="1626256"/>
          </a:xfrm>
          <a:prstGeom prst="rect">
            <a:avLst/>
          </a:prstGeom>
          <a:solidFill>
            <a:srgbClr val="FFFFFF"/>
          </a:solidFill>
          <a:ln>
            <a:noFill/>
          </a:ln>
        </p:spPr>
        <p:txBody>
          <a:bodyPr/>
          <a:lstStyle/>
          <a:p>
            <a:endParaRPr/>
          </a:p>
        </p:txBody>
      </p:sp>
      <p:sp>
        <p:nvSpPr>
          <p:cNvPr id="871"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defRPr/>
            </a:pPr>
            <a:r>
              <a:rPr lang="en-US" sz="1200" b="1">
                <a:solidFill>
                  <a:srgbClr val="1E2682"/>
                </a:solidFill>
                <a:latin typeface="Arial"/>
              </a:rPr>
              <a:t>COLLABORATE</a:t>
            </a:r>
            <a:r>
              <a:rPr lang="en-US" sz="1200" b="1">
                <a:solidFill>
                  <a:srgbClr val="5D6872"/>
                </a:solidFill>
                <a:latin typeface="Arial"/>
              </a:rPr>
              <a:t>  ·  TALK IT THROUGH • AGREE ON A MODEL</a:t>
            </a:r>
          </a:p>
        </p:txBody>
      </p:sp>
      <p:grpSp>
        <p:nvGrpSpPr>
          <p:cNvPr id="872" name="TEACH-5-student-move" descr="TEACH 5 · Facilitate student interactions and academic talk"/>
          <p:cNvGrpSpPr/>
          <p:nvPr/>
        </p:nvGrpSpPr>
        <p:grpSpPr>
          <a:xfrm>
            <a:off x="502920" y="4411278"/>
            <a:ext cx="11186160" cy="320040"/>
            <a:chOff x="502920" y="4411278"/>
            <a:chExt cx="11186160" cy="320040"/>
          </a:xfrm>
        </p:grpSpPr>
        <p:sp>
          <p:nvSpPr>
            <p:cNvPr id="873" name="TEACH-move-card"/>
            <p:cNvSpPr/>
            <p:nvPr/>
          </p:nvSpPr>
          <p:spPr>
            <a:xfrm>
              <a:off x="502920" y="441127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874" name="TEACH-move-rule"/>
            <p:cNvSpPr/>
            <p:nvPr/>
          </p:nvSpPr>
          <p:spPr>
            <a:xfrm>
              <a:off x="548640" y="4472086"/>
              <a:ext cx="100584" cy="198424"/>
            </a:xfrm>
            <a:prstGeom prst="roundRect">
              <a:avLst>
                <a:gd name="adj" fmla="val 50000"/>
              </a:avLst>
            </a:prstGeom>
            <a:solidFill>
              <a:srgbClr val="01708C"/>
            </a:solidFill>
            <a:ln>
              <a:noFill/>
            </a:ln>
          </p:spPr>
          <p:txBody>
            <a:bodyPr/>
            <a:lstStyle/>
            <a:p>
              <a:endParaRPr/>
            </a:p>
          </p:txBody>
        </p:sp>
        <p:sp>
          <p:nvSpPr>
            <p:cNvPr id="875" name="TEACH-move-text"/>
            <p:cNvSpPr txBox="1"/>
            <p:nvPr/>
          </p:nvSpPr>
          <p:spPr>
            <a:xfrm>
              <a:off x="822960" y="441127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TAKE TURNS  ·  </a:t>
              </a:r>
              <a:r>
                <a:rPr lang="en-US" sz="1200" dirty="0">
                  <a:solidFill>
                    <a:srgbClr val="13303A"/>
                  </a:solidFill>
                  <a:latin typeface="Arial"/>
                </a:rPr>
                <a:t>One explains, one asks a question. Then switch, so both of you talk.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87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cxnSp>
        <p:nvCxnSpPr>
          <p:cNvPr id="900" name="Google Shape;900;p91"/>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01" name="Google Shape;901;p91"/>
          <p:cNvSpPr txBox="1"/>
          <p:nvPr/>
        </p:nvSpPr>
        <p:spPr>
          <a:xfrm>
            <a:off x="484567" y="936101"/>
            <a:ext cx="8373683" cy="4446933"/>
          </a:xfrm>
          <a:prstGeom prst="rect">
            <a:avLst/>
          </a:prstGeom>
          <a:blipFill rotWithShape="1">
            <a:blip r:embed="rId3">
              <a:alphaModFix/>
            </a:blip>
            <a:stretch>
              <a:fillRect l="-1456" t="-1509" r="-146" b="-192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902" name="Google Shape;902;p91"/>
          <p:cNvPicPr preferRelativeResize="0"/>
          <p:nvPr/>
        </p:nvPicPr>
        <p:blipFill rotWithShape="1">
          <a:blip r:embed="rId4">
            <a:alphaModFix/>
          </a:blip>
          <a:srcRect/>
          <a:stretch/>
        </p:blipFill>
        <p:spPr>
          <a:xfrm>
            <a:off x="1328652" y="2259455"/>
            <a:ext cx="4286250" cy="1800223"/>
          </a:xfrm>
          <a:prstGeom prst="rect">
            <a:avLst/>
          </a:prstGeom>
          <a:noFill/>
          <a:ln>
            <a:noFill/>
          </a:ln>
        </p:spPr>
      </p:pic>
      <p:sp>
        <p:nvSpPr>
          <p:cNvPr id="903" name="Google Shape;903;p91"/>
          <p:cNvSpPr txBox="1"/>
          <p:nvPr/>
        </p:nvSpPr>
        <p:spPr>
          <a:xfrm>
            <a:off x="484565" y="5271332"/>
            <a:ext cx="10944982" cy="103633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use a division equation.</a:t>
            </a:r>
            <a:endParaRPr sz="2800" b="0" i="1" u="none" strike="noStrike" cap="none">
              <a:solidFill>
                <a:srgbClr val="595959"/>
              </a:solidFill>
              <a:latin typeface="Arial"/>
              <a:ea typeface="Arial"/>
              <a:cs typeface="Arial"/>
              <a:sym typeface="Arial"/>
            </a:endParaRPr>
          </a:p>
        </p:txBody>
      </p:sp>
      <p:sp>
        <p:nvSpPr>
          <p:cNvPr id="904" name="Google Shape;904;p91"/>
          <p:cNvSpPr txBox="1"/>
          <p:nvPr/>
        </p:nvSpPr>
        <p:spPr>
          <a:xfrm>
            <a:off x="484565" y="316034"/>
            <a:ext cx="5974424"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82DA0"/>
                </a:solidFill>
                <a:latin typeface="Arial"/>
                <a:ea typeface="Arial"/>
                <a:cs typeface="Arial"/>
                <a:sym typeface="Arial"/>
              </a:rPr>
              <a:t>Trail Mix</a:t>
            </a:r>
            <a:endParaRPr sz="1400" b="0" i="0" u="none" strike="noStrike" cap="none">
              <a:solidFill>
                <a:srgbClr val="000000"/>
              </a:solidFill>
              <a:latin typeface="Arial"/>
              <a:ea typeface="Arial"/>
              <a:cs typeface="Arial"/>
              <a:sym typeface="Arial"/>
            </a:endParaRPr>
          </a:p>
        </p:txBody>
      </p:sp>
      <p:sp>
        <p:nvSpPr>
          <p:cNvPr id="905"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34 / 46</a:t>
            </a:r>
          </a:p>
        </p:txBody>
      </p:sp>
      <p:sp>
        <p:nvSpPr>
          <p:cNvPr id="906" name="EWL-COVER-1"/>
          <p:cNvSpPr/>
          <p:nvPr/>
        </p:nvSpPr>
        <p:spPr>
          <a:xfrm>
            <a:off x="429701" y="5216468"/>
            <a:ext cx="11054710" cy="1146059"/>
          </a:xfrm>
          <a:prstGeom prst="rect">
            <a:avLst/>
          </a:prstGeom>
          <a:solidFill>
            <a:srgbClr val="FFFFFF"/>
          </a:solidFill>
          <a:ln>
            <a:noFill/>
          </a:ln>
        </p:spPr>
        <p:txBody>
          <a:body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0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RESTATE FIRST  ·  </a:t>
            </a:r>
            <a:r>
              <a:rPr lang="en-US" sz="2000" b="0" dirty="0">
                <a:solidFill>
                  <a:srgbClr val="13303A"/>
                </a:solidFill>
                <a:latin typeface="Arial"/>
              </a:rPr>
              <a:t>Restate your partner’s idea in your own words before you give yours.</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35 / 46</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917"/>
        <p:cNvGrpSpPr/>
        <p:nvPr/>
      </p:nvGrpSpPr>
      <p:grpSpPr>
        <a:xfrm>
          <a:off x="0" y="0"/>
          <a:ext cx="0" cy="0"/>
          <a:chOff x="0" y="0"/>
          <a:chExt cx="0" cy="0"/>
        </a:xfrm>
      </p:grpSpPr>
      <p:cxnSp>
        <p:nvCxnSpPr>
          <p:cNvPr id="918" name="Google Shape;918;p93"/>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19" name="Google Shape;919;p93"/>
          <p:cNvSpPr txBox="1"/>
          <p:nvPr/>
        </p:nvSpPr>
        <p:spPr>
          <a:xfrm>
            <a:off x="484565" y="936100"/>
            <a:ext cx="7329399" cy="404322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Let’s use an equation to represent the problem.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defRPr/>
            </a:pPr>
            <a:endParaRPr sz="2800" b="1"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defRPr/>
            </a:pPr>
            <a:endParaRPr sz="2800" b="1"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i="0" u="none" strike="noStrike" cap="none">
                <a:solidFill>
                  <a:srgbClr val="23282D"/>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i="0" u="none" strike="noStrike" cap="none">
                <a:solidFill>
                  <a:srgbClr val="23282D"/>
                </a:solidFill>
                <a:latin typeface="Arial"/>
                <a:ea typeface="Arial"/>
                <a:cs typeface="Arial"/>
                <a:sym typeface="Arial"/>
              </a:rPr>
              <a:t>How can you determine the unknown value?</a:t>
            </a:r>
            <a:endParaRPr sz="1400" b="0" i="0" u="none" strike="noStrike" cap="none">
              <a:solidFill>
                <a:srgbClr val="000000"/>
              </a:solidFill>
              <a:latin typeface="Arial"/>
              <a:ea typeface="Arial"/>
              <a:cs typeface="Arial"/>
              <a:sym typeface="Arial"/>
            </a:endParaRPr>
          </a:p>
        </p:txBody>
      </p:sp>
      <p:sp>
        <p:nvSpPr>
          <p:cNvPr id="920" name="Google Shape;920;p93"/>
          <p:cNvSpPr txBox="1"/>
          <p:nvPr/>
        </p:nvSpPr>
        <p:spPr>
          <a:xfrm>
            <a:off x="484565" y="5185748"/>
            <a:ext cx="10944982" cy="103633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use multiplication.</a:t>
            </a:r>
            <a:endParaRPr sz="2800" b="0" i="1" u="none" strike="noStrike" cap="none">
              <a:solidFill>
                <a:srgbClr val="595959"/>
              </a:solidFill>
              <a:latin typeface="Arial"/>
              <a:ea typeface="Arial"/>
              <a:cs typeface="Arial"/>
              <a:sym typeface="Arial"/>
            </a:endParaRPr>
          </a:p>
        </p:txBody>
      </p:sp>
      <p:pic>
        <p:nvPicPr>
          <p:cNvPr id="921" name="Google Shape;921;p93"/>
          <p:cNvPicPr preferRelativeResize="0"/>
          <p:nvPr/>
        </p:nvPicPr>
        <p:blipFill rotWithShape="1">
          <a:blip r:embed="rId3">
            <a:alphaModFix/>
          </a:blip>
          <a:srcRect/>
          <a:stretch/>
        </p:blipFill>
        <p:spPr>
          <a:xfrm>
            <a:off x="6405476" y="1660691"/>
            <a:ext cx="3210012" cy="1480779"/>
          </a:xfrm>
          <a:prstGeom prst="rect">
            <a:avLst/>
          </a:prstGeom>
          <a:noFill/>
          <a:ln>
            <a:noFill/>
          </a:ln>
        </p:spPr>
      </p:pic>
      <p:sp>
        <p:nvSpPr>
          <p:cNvPr id="922" name="Google Shape;922;p93"/>
          <p:cNvSpPr txBox="1"/>
          <p:nvPr/>
        </p:nvSpPr>
        <p:spPr>
          <a:xfrm>
            <a:off x="484565" y="316034"/>
            <a:ext cx="5974424"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82DA0"/>
                </a:solidFill>
                <a:latin typeface="Arial"/>
                <a:ea typeface="Arial"/>
                <a:cs typeface="Arial"/>
                <a:sym typeface="Arial"/>
              </a:rPr>
              <a:t>Trail Mix</a:t>
            </a:r>
            <a:endParaRPr sz="1400" b="0" i="0" u="none" strike="noStrike" cap="none">
              <a:solidFill>
                <a:srgbClr val="000000"/>
              </a:solidFill>
              <a:latin typeface="Arial"/>
              <a:ea typeface="Arial"/>
              <a:cs typeface="Arial"/>
              <a:sym typeface="Arial"/>
            </a:endParaRPr>
          </a:p>
        </p:txBody>
      </p:sp>
      <p:sp>
        <p:nvSpPr>
          <p:cNvPr id="923"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36 / 46</a:t>
            </a:r>
          </a:p>
        </p:txBody>
      </p:sp>
      <p:sp>
        <p:nvSpPr>
          <p:cNvPr id="924" name="EWL-COVER-1"/>
          <p:cNvSpPr/>
          <p:nvPr/>
        </p:nvSpPr>
        <p:spPr>
          <a:xfrm>
            <a:off x="429701" y="5130884"/>
            <a:ext cx="11054710" cy="1146059"/>
          </a:xfrm>
          <a:prstGeom prst="rect">
            <a:avLst/>
          </a:prstGeom>
          <a:solidFill>
            <a:srgbClr val="FFFFFF"/>
          </a:solidFill>
          <a:ln>
            <a:noFill/>
          </a:ln>
        </p:spPr>
        <p:txBody>
          <a:bodyPr/>
          <a:lstStyle/>
          <a:p>
            <a:endParaRPr/>
          </a:p>
        </p:txBody>
      </p:sp>
      <p:grpSp>
        <p:nvGrpSpPr>
          <p:cNvPr id="925" name="TEACH-2-student-move" descr="TEACH 2 · Use strategies and tasks to engage students in rigorous work"/>
          <p:cNvGrpSpPr/>
          <p:nvPr/>
        </p:nvGrpSpPr>
        <p:grpSpPr>
          <a:xfrm>
            <a:off x="502920" y="3629236"/>
            <a:ext cx="11186160" cy="402336"/>
            <a:chOff x="502920" y="4746836"/>
            <a:chExt cx="11186160" cy="402336"/>
          </a:xfrm>
        </p:grpSpPr>
        <p:sp>
          <p:nvSpPr>
            <p:cNvPr id="926" name="TEACH-move-card"/>
            <p:cNvSpPr/>
            <p:nvPr/>
          </p:nvSpPr>
          <p:spPr>
            <a:xfrm>
              <a:off x="502920" y="474683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27" name="TEACH-move-rule"/>
            <p:cNvSpPr/>
            <p:nvPr/>
          </p:nvSpPr>
          <p:spPr>
            <a:xfrm>
              <a:off x="548640" y="4823280"/>
              <a:ext cx="100584" cy="249448"/>
            </a:xfrm>
            <a:prstGeom prst="roundRect">
              <a:avLst>
                <a:gd name="adj" fmla="val 50000"/>
              </a:avLst>
            </a:prstGeom>
            <a:solidFill>
              <a:srgbClr val="01708C"/>
            </a:solidFill>
            <a:ln>
              <a:noFill/>
            </a:ln>
          </p:spPr>
          <p:txBody>
            <a:bodyPr/>
            <a:lstStyle/>
            <a:p>
              <a:endParaRPr/>
            </a:p>
          </p:txBody>
        </p:sp>
        <p:sp>
          <p:nvSpPr>
            <p:cNvPr id="928" name="TEACH-move-text"/>
            <p:cNvSpPr txBox="1"/>
            <p:nvPr/>
          </p:nvSpPr>
          <p:spPr>
            <a:xfrm>
              <a:off x="822960" y="474683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cxnSp>
        <p:nvCxnSpPr>
          <p:cNvPr id="954" name="Google Shape;954;p97"/>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55" name="Google Shape;955;p97"/>
          <p:cNvSpPr txBox="1"/>
          <p:nvPr/>
        </p:nvSpPr>
        <p:spPr>
          <a:xfrm>
            <a:off x="484565" y="936101"/>
            <a:ext cx="6594155" cy="2921004"/>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pPr>
            <a:r>
              <a:rPr lang="en-US" sz="2800" b="0" i="0" u="none" strike="noStrike" cap="none">
                <a:solidFill>
                  <a:srgbClr val="23282D"/>
                </a:solidFill>
                <a:latin typeface="Arial"/>
                <a:ea typeface="Arial"/>
                <a:cs typeface="Arial"/>
                <a:sym typeface="Arial"/>
              </a:rPr>
              <a:t>Tahira bought the package of trail mix shown. She wants to make 3 snack bags of trail mix, each with the same amount of trail mix.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pPr>
            <a:r>
              <a:rPr lang="en-US" sz="2800" b="1" i="0" u="none" strike="noStrike" cap="none">
                <a:solidFill>
                  <a:srgbClr val="23282D"/>
                </a:solidFill>
                <a:latin typeface="Arial"/>
                <a:ea typeface="Arial"/>
                <a:cs typeface="Arial"/>
                <a:sym typeface="Arial"/>
              </a:rPr>
              <a:t>How much trail mix will be in each bag?</a:t>
            </a:r>
            <a:endParaRPr sz="1400" b="0" i="0" u="none" strike="noStrike" cap="none">
              <a:solidFill>
                <a:srgbClr val="000000"/>
              </a:solidFill>
              <a:latin typeface="Arial"/>
              <a:ea typeface="Arial"/>
              <a:cs typeface="Arial"/>
              <a:sym typeface="Arial"/>
            </a:endParaRPr>
          </a:p>
        </p:txBody>
      </p:sp>
      <p:sp>
        <p:nvSpPr>
          <p:cNvPr id="956" name="Google Shape;956;p97"/>
          <p:cNvSpPr/>
          <p:nvPr/>
        </p:nvSpPr>
        <p:spPr>
          <a:xfrm>
            <a:off x="616695" y="4058981"/>
            <a:ext cx="6462025" cy="701602"/>
          </a:xfrm>
          <a:prstGeom prst="rect">
            <a:avLst/>
          </a:prstGeom>
          <a:blipFill rotWithShape="1">
            <a:blip r:embed="rId3">
              <a:alphaModFix/>
            </a:blip>
            <a:stretch>
              <a:fillRect l="-1789" b="-8547"/>
            </a:stretch>
          </a:blipFill>
          <a:ln w="9525" cap="flat" cmpd="sng">
            <a:solidFill>
              <a:srgbClr val="7030A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957" name="Google Shape;957;p97"/>
          <p:cNvPicPr preferRelativeResize="0"/>
          <p:nvPr/>
        </p:nvPicPr>
        <p:blipFill rotWithShape="1">
          <a:blip r:embed="rId4">
            <a:alphaModFix/>
          </a:blip>
          <a:srcRect/>
          <a:stretch/>
        </p:blipFill>
        <p:spPr>
          <a:xfrm>
            <a:off x="9087359" y="1350155"/>
            <a:ext cx="2235858" cy="3774720"/>
          </a:xfrm>
          <a:prstGeom prst="rect">
            <a:avLst/>
          </a:prstGeom>
          <a:noFill/>
          <a:ln>
            <a:noFill/>
          </a:ln>
        </p:spPr>
      </p:pic>
      <p:sp>
        <p:nvSpPr>
          <p:cNvPr id="958" name="Google Shape;958;p97"/>
          <p:cNvSpPr txBox="1"/>
          <p:nvPr/>
        </p:nvSpPr>
        <p:spPr>
          <a:xfrm>
            <a:off x="484565" y="316034"/>
            <a:ext cx="5974424"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pPr>
            <a:r>
              <a:rPr lang="en-US" sz="2800" b="1" i="0" u="none" strike="noStrike" cap="none">
                <a:solidFill>
                  <a:srgbClr val="782DA0"/>
                </a:solidFill>
                <a:latin typeface="Arial"/>
                <a:ea typeface="Arial"/>
                <a:cs typeface="Arial"/>
                <a:sym typeface="Arial"/>
              </a:rPr>
              <a:t>Trail Mix</a:t>
            </a:r>
            <a:endParaRPr sz="1400" b="0" i="0" u="none" strike="noStrike" cap="none">
              <a:solidFill>
                <a:srgbClr val="000000"/>
              </a:solidFill>
              <a:latin typeface="Arial"/>
              <a:ea typeface="Arial"/>
              <a:cs typeface="Arial"/>
              <a:sym typeface="Arial"/>
            </a:endParaRPr>
          </a:p>
        </p:txBody>
      </p:sp>
      <p:sp>
        <p:nvSpPr>
          <p:cNvPr id="95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37 / 46</a:t>
            </a:r>
          </a:p>
        </p:txBody>
      </p:sp>
      <p:sp>
        <p:nvSpPr>
          <p:cNvPr id="96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98"/>
          <p:cNvSpPr txBox="1"/>
          <p:nvPr/>
        </p:nvSpPr>
        <p:spPr>
          <a:xfrm>
            <a:off x="484565" y="316034"/>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Let’s Explore More</a:t>
            </a:r>
            <a:endParaRPr sz="1400" b="0" i="0" u="none" strike="noStrike" cap="none">
              <a:solidFill>
                <a:srgbClr val="000000"/>
              </a:solidFill>
              <a:latin typeface="Arial"/>
              <a:ea typeface="Arial"/>
              <a:cs typeface="Arial"/>
              <a:sym typeface="Arial"/>
            </a:endParaRPr>
          </a:p>
        </p:txBody>
      </p:sp>
      <p:sp>
        <p:nvSpPr>
          <p:cNvPr id="964" name="Google Shape;964;p98"/>
          <p:cNvSpPr txBox="1"/>
          <p:nvPr/>
        </p:nvSpPr>
        <p:spPr>
          <a:xfrm>
            <a:off x="484565" y="1003942"/>
            <a:ext cx="8313603" cy="5421796"/>
          </a:xfrm>
          <a:prstGeom prst="rect">
            <a:avLst/>
          </a:prstGeom>
          <a:noFill/>
          <a:ln>
            <a:noFill/>
          </a:ln>
        </p:spPr>
        <p:txBody>
          <a:bodyPr spcFirstLastPara="1" wrap="square" lIns="91425" tIns="45700" rIns="91425" bIns="45700" anchor="t" anchorCtr="0">
            <a:noAutofit/>
          </a:bodyPr>
          <a:lstStyle/>
          <a:p>
            <a:pPr marL="514350" marR="0" lvl="0" indent="-514350" algn="l" rtl="0">
              <a:lnSpc>
                <a:spcPct val="100000"/>
              </a:lnSpc>
              <a:spcBef>
                <a:spcPts val="0"/>
              </a:spcBef>
              <a:spcAft>
                <a:spcPts val="0"/>
              </a:spcAft>
              <a:buClr>
                <a:srgbClr val="262626"/>
              </a:buClr>
              <a:buSzPts val="2800"/>
              <a:buFont typeface="Calibri"/>
              <a:buAutoNum type="alphaLcPeriod"/>
              <a:defRPr/>
            </a:pPr>
            <a:r>
              <a:rPr lang="en-US" sz="2800" b="0" i="0" u="none" strike="noStrike" cap="none">
                <a:solidFill>
                  <a:srgbClr val="23282D"/>
                </a:solidFill>
                <a:latin typeface="Arial"/>
                <a:ea typeface="Arial"/>
                <a:cs typeface="Arial"/>
                <a:sym typeface="Arial"/>
              </a:rPr>
              <a:t>How would the visual model change if Tahira decided to make 4 snack bags?</a:t>
            </a:r>
            <a:endParaRPr sz="2800" b="0" i="0" u="none" strike="noStrike" cap="none">
              <a:solidFill>
                <a:schemeClr val="dk1"/>
              </a:solidFill>
              <a:latin typeface="Arial"/>
              <a:ea typeface="Arial"/>
              <a:cs typeface="Arial"/>
              <a:sym typeface="Arial"/>
            </a:endParaRPr>
          </a:p>
          <a:p>
            <a:pPr marL="514350" marR="0" lvl="0" indent="-336550" algn="l" rtl="0">
              <a:lnSpc>
                <a:spcPct val="100000"/>
              </a:lnSpc>
              <a:spcBef>
                <a:spcPts val="1800"/>
              </a:spcBef>
              <a:spcAft>
                <a:spcPts val="0"/>
              </a:spcAft>
              <a:buClr>
                <a:schemeClr val="dk2"/>
              </a:buClr>
              <a:buSzPts val="2800"/>
              <a:buFont typeface="Arial"/>
              <a:buNone/>
              <a:defRPr/>
            </a:pPr>
            <a:endParaRPr sz="2800" b="0" i="0" u="none" strike="noStrike" cap="none">
              <a:solidFill>
                <a:srgbClr val="262626"/>
              </a:solidFill>
              <a:latin typeface="Arial"/>
              <a:ea typeface="Arial"/>
              <a:cs typeface="Arial"/>
              <a:sym typeface="Arial"/>
            </a:endParaRPr>
          </a:p>
          <a:p>
            <a:pPr marL="514350" marR="0" lvl="0" indent="-336550" algn="l" rtl="0">
              <a:lnSpc>
                <a:spcPct val="100000"/>
              </a:lnSpc>
              <a:spcBef>
                <a:spcPts val="1800"/>
              </a:spcBef>
              <a:spcAft>
                <a:spcPts val="0"/>
              </a:spcAft>
              <a:buClr>
                <a:schemeClr val="dk2"/>
              </a:buClr>
              <a:buSzPts val="2800"/>
              <a:buFont typeface="Arial"/>
              <a:buNone/>
              <a:defRPr/>
            </a:pPr>
            <a:endParaRPr sz="2800" b="0" i="0" u="none" strike="noStrike" cap="none">
              <a:solidFill>
                <a:srgbClr val="262626"/>
              </a:solidFill>
              <a:latin typeface="Arial"/>
              <a:ea typeface="Arial"/>
              <a:cs typeface="Arial"/>
              <a:sym typeface="Arial"/>
            </a:endParaRPr>
          </a:p>
          <a:p>
            <a:pPr marL="514350" marR="0" lvl="0" indent="-514350" algn="l" rtl="0">
              <a:lnSpc>
                <a:spcPct val="100000"/>
              </a:lnSpc>
              <a:spcBef>
                <a:spcPts val="1800"/>
              </a:spcBef>
              <a:spcAft>
                <a:spcPts val="0"/>
              </a:spcAft>
              <a:buClr>
                <a:srgbClr val="262626"/>
              </a:buClr>
              <a:buSzPts val="2800"/>
              <a:buFont typeface="Calibri"/>
              <a:buAutoNum type="alphaLcPeriod"/>
              <a:defRPr/>
            </a:pPr>
            <a:r>
              <a:rPr lang="en-US" sz="2800" b="0" i="0" u="none" strike="noStrike" cap="none">
                <a:solidFill>
                  <a:srgbClr val="23282D"/>
                </a:solidFill>
                <a:latin typeface="Arial"/>
                <a:ea typeface="Arial"/>
                <a:cs typeface="Arial"/>
                <a:sym typeface="Arial"/>
              </a:rPr>
              <a:t>How much would be in each bag if Tahira decided to make 4 snack bags?</a:t>
            </a:r>
            <a:endParaRPr sz="2800" b="0" i="0" u="none" strike="noStrike" cap="none">
              <a:solidFill>
                <a:schemeClr val="dk1"/>
              </a:solidFill>
              <a:latin typeface="Arial"/>
              <a:ea typeface="Arial"/>
              <a:cs typeface="Arial"/>
              <a:sym typeface="Arial"/>
            </a:endParaRPr>
          </a:p>
        </p:txBody>
      </p:sp>
      <p:pic>
        <p:nvPicPr>
          <p:cNvPr id="965" name="Google Shape;965;p98"/>
          <p:cNvPicPr preferRelativeResize="0"/>
          <p:nvPr/>
        </p:nvPicPr>
        <p:blipFill rotWithShape="1">
          <a:blip r:embed="rId3">
            <a:alphaModFix/>
          </a:blip>
          <a:srcRect/>
          <a:stretch/>
        </p:blipFill>
        <p:spPr>
          <a:xfrm>
            <a:off x="2258227" y="2361670"/>
            <a:ext cx="4766277" cy="667279"/>
          </a:xfrm>
          <a:prstGeom prst="rect">
            <a:avLst/>
          </a:prstGeom>
          <a:noFill/>
          <a:ln>
            <a:noFill/>
          </a:ln>
        </p:spPr>
      </p:pic>
      <p:sp>
        <p:nvSpPr>
          <p:cNvPr id="966"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38 / 46</a:t>
            </a:r>
          </a:p>
        </p:txBody>
      </p:sp>
      <p:grpSp>
        <p:nvGrpSpPr>
          <p:cNvPr id="967" name="TEACH-2-student-move" descr="TEACH 2 · Use strategies and tasks to engage students in rigorous work"/>
          <p:cNvGrpSpPr/>
          <p:nvPr/>
        </p:nvGrpSpPr>
        <p:grpSpPr>
          <a:xfrm>
            <a:off x="502920" y="4572235"/>
            <a:ext cx="11186160" cy="731520"/>
            <a:chOff x="502920" y="3822935"/>
            <a:chExt cx="11186160" cy="731520"/>
          </a:xfrm>
        </p:grpSpPr>
        <p:sp>
          <p:nvSpPr>
            <p:cNvPr id="968" name="TEACH-move-card"/>
            <p:cNvSpPr/>
            <p:nvPr/>
          </p:nvSpPr>
          <p:spPr>
            <a:xfrm>
              <a:off x="502920" y="3822935"/>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969" name="TEACH-move-rule"/>
            <p:cNvSpPr/>
            <p:nvPr/>
          </p:nvSpPr>
          <p:spPr>
            <a:xfrm>
              <a:off x="548640" y="3961924"/>
              <a:ext cx="100584" cy="453542"/>
            </a:xfrm>
            <a:prstGeom prst="roundRect">
              <a:avLst>
                <a:gd name="adj" fmla="val 50000"/>
              </a:avLst>
            </a:prstGeom>
            <a:solidFill>
              <a:srgbClr val="01708C"/>
            </a:solidFill>
            <a:ln>
              <a:noFill/>
            </a:ln>
          </p:spPr>
          <p:txBody>
            <a:bodyPr/>
            <a:lstStyle/>
            <a:p>
              <a:endParaRPr/>
            </a:p>
          </p:txBody>
        </p:sp>
        <p:sp>
          <p:nvSpPr>
            <p:cNvPr id="970" name="TEACH-move-text"/>
            <p:cNvSpPr txBox="1"/>
            <p:nvPr/>
          </p:nvSpPr>
          <p:spPr>
            <a:xfrm>
              <a:off x="822960" y="3822935"/>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USE YOUR TOOLS  ·  </a:t>
              </a:r>
              <a:r>
                <a:rPr lang="en-US" sz="1800" dirty="0">
                  <a:solidFill>
                    <a:srgbClr val="13303A"/>
                  </a:solidFill>
                  <a:latin typeface="Arial"/>
                </a:rPr>
                <a:t>Reach for your notes, a model, or a manipulative before you reach for an answer.</a:t>
              </a:r>
              <a:endParaRPr lang="en-US" sz="1800"/>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6.1  /  CHECK YOUR WORK</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Pause. Check. Improve.</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8" y="2011680"/>
            <a:ext cx="128016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CHECK</a:t>
            </a:r>
          </a:p>
        </p:txBody>
      </p:sp>
      <p:sp>
        <p:nvSpPr>
          <p:cNvPr id="7" name="TextBox 6"/>
          <p:cNvSpPr txBox="1"/>
          <p:nvPr/>
        </p:nvSpPr>
        <p:spPr>
          <a:xfrm>
            <a:off x="2340864" y="1975104"/>
            <a:ext cx="8933688" cy="832104"/>
          </a:xfrm>
          <a:prstGeom prst="rect">
            <a:avLst/>
          </a:prstGeom>
          <a:noFill/>
        </p:spPr>
        <p:txBody>
          <a:bodyPr wrap="square" lIns="0" tIns="22860" rIns="0" bIns="0">
            <a:spAutoFit/>
          </a:bodyPr>
          <a:lstStyle/>
          <a:p>
            <a:pPr>
              <a:spcAft>
                <a:spcPts val="800"/>
              </a:spcAft>
              <a:defRPr sz="2300" b="0">
                <a:solidFill>
                  <a:srgbClr val="24384B"/>
                </a:solidFill>
                <a:latin typeface="Arial"/>
              </a:defRPr>
            </a:pPr>
            <a:r>
              <a:t>A mistake to watch for: assuming division always makes a quantity smaller.</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41248" y="3310128"/>
            <a:ext cx="128016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TRY</a:t>
            </a:r>
          </a:p>
        </p:txBody>
      </p:sp>
      <p:sp>
        <p:nvSpPr>
          <p:cNvPr id="10" name="TextBox 9"/>
          <p:cNvSpPr txBox="1"/>
          <p:nvPr/>
        </p:nvSpPr>
        <p:spPr>
          <a:xfrm>
            <a:off x="2340864" y="3273552"/>
            <a:ext cx="8933688" cy="832104"/>
          </a:xfrm>
          <a:prstGeom prst="rect">
            <a:avLst/>
          </a:prstGeom>
          <a:noFill/>
        </p:spPr>
        <p:txBody>
          <a:bodyPr wrap="square" lIns="0" tIns="22860" rIns="0" bIns="0">
            <a:spAutoFit/>
          </a:bodyPr>
          <a:lstStyle/>
          <a:p>
            <a:pPr>
              <a:spcAft>
                <a:spcPts val="800"/>
              </a:spcAft>
              <a:defRPr sz="2300" b="0">
                <a:solidFill>
                  <a:srgbClr val="24384B"/>
                </a:solidFill>
                <a:latin typeface="Arial"/>
              </a:defRPr>
            </a:pPr>
            <a:r>
              <a:t>Label the whole, group size and number of groups on the given fraction model.</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41248" y="4608576"/>
            <a:ext cx="1280160" cy="365760"/>
          </a:xfrm>
          <a:prstGeom prst="rect">
            <a:avLst/>
          </a:prstGeom>
          <a:noFill/>
        </p:spPr>
        <p:txBody>
          <a:bodyPr wrap="square" lIns="0" tIns="22860" rIns="0" bIns="0">
            <a:spAutoFit/>
          </a:bodyPr>
          <a:lstStyle/>
          <a:p>
            <a:pPr>
              <a:spcAft>
                <a:spcPts val="800"/>
              </a:spcAft>
              <a:defRPr sz="1700" b="1">
                <a:solidFill>
                  <a:srgbClr val="096B69"/>
                </a:solidFill>
                <a:latin typeface="Arial"/>
              </a:defRPr>
            </a:pPr>
            <a:r>
              <a:t>REVISE</a:t>
            </a:r>
          </a:p>
        </p:txBody>
      </p:sp>
      <p:sp>
        <p:nvSpPr>
          <p:cNvPr id="13" name="TextBox 12"/>
          <p:cNvSpPr txBox="1"/>
          <p:nvPr/>
        </p:nvSpPr>
        <p:spPr>
          <a:xfrm>
            <a:off x="2340864" y="4572000"/>
            <a:ext cx="8933688" cy="832104"/>
          </a:xfrm>
          <a:prstGeom prst="rect">
            <a:avLst/>
          </a:prstGeom>
          <a:noFill/>
        </p:spPr>
        <p:txBody>
          <a:bodyPr wrap="square" lIns="0" tIns="22860" rIns="0" bIns="0">
            <a:spAutoFit/>
          </a:bodyPr>
          <a:lstStyle/>
          <a:p>
            <a:pPr>
              <a:spcAft>
                <a:spcPts val="800"/>
              </a:spcAft>
              <a:defRPr sz="2300" b="0">
                <a:solidFill>
                  <a:srgbClr val="24384B"/>
                </a:solidFill>
                <a:latin typeface="Arial"/>
              </a:defRPr>
            </a:pPr>
            <a: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18" name="Google Shape;918;p93"/>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19" name="Google Shape;919;p93"/>
          <p:cNvSpPr txBox="1"/>
          <p:nvPr/>
        </p:nvSpPr>
        <p:spPr>
          <a:xfrm>
            <a:off x="484565" y="936100"/>
            <a:ext cx="7329399" cy="4043223"/>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62626"/>
                </a:solidFill>
                <a:latin typeface="Arial"/>
                <a:ea typeface="Arial"/>
                <a:cs typeface="Arial"/>
                <a:sym typeface="Arial"/>
              </a:rPr>
              <a:t>Let’s use an equation to represent the problem.</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defRPr/>
            </a:pPr>
            <a:endParaRPr sz="2800" b="1"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chemeClr val="dk2"/>
              </a:buClr>
              <a:buSzPts val="2800"/>
              <a:buFont typeface="Arial"/>
              <a:buNone/>
              <a:defRPr/>
            </a:pPr>
            <a:endParaRPr sz="2800" b="1" i="0" u="none" strike="noStrike" cap="none">
              <a:solidFill>
                <a:srgbClr val="262626"/>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i="0" u="none" strike="noStrike" cap="none">
                <a:solidFill>
                  <a:srgbClr val="262626"/>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i="0" u="none" strike="noStrike" cap="none">
                <a:solidFill>
                  <a:srgbClr val="262626"/>
                </a:solidFill>
                <a:latin typeface="Arial"/>
                <a:ea typeface="Arial"/>
                <a:cs typeface="Arial"/>
                <a:sym typeface="Arial"/>
              </a:rPr>
              <a:t>How can you determine the unknown value?</a:t>
            </a:r>
            <a:endParaRPr sz="1400" b="0" i="0" u="none" strike="noStrike" cap="none">
              <a:solidFill>
                <a:srgbClr val="000000"/>
              </a:solidFill>
              <a:latin typeface="Arial"/>
              <a:ea typeface="Arial"/>
              <a:cs typeface="Arial"/>
              <a:sym typeface="Arial"/>
            </a:endParaRPr>
          </a:p>
        </p:txBody>
      </p:sp>
      <p:sp>
        <p:nvSpPr>
          <p:cNvPr id="920" name="Google Shape;920;p93"/>
          <p:cNvSpPr txBox="1"/>
          <p:nvPr/>
        </p:nvSpPr>
        <p:spPr>
          <a:xfrm>
            <a:off x="484565" y="5185748"/>
            <a:ext cx="10944982" cy="103633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70C0"/>
              </a:buClr>
              <a:buSzPts val="2800"/>
              <a:buFont typeface="Arial"/>
              <a:buNone/>
              <a:defRPr/>
            </a:pPr>
            <a:r>
              <a:rPr lang="en-US" sz="2800" b="1" i="0" u="none" strike="noStrike" cap="none">
                <a:solidFill>
                  <a:srgbClr val="0070C0"/>
                </a:solidFill>
                <a:highlight>
                  <a:srgbClr val="E0E0E0"/>
                </a:highlight>
                <a:latin typeface="Arial"/>
                <a:ea typeface="Arial"/>
                <a:cs typeface="Arial"/>
                <a:sym typeface="Arial"/>
              </a:rPr>
              <a:t> Reveal</a:t>
            </a:r>
            <a:r>
              <a:rPr lang="en-US" sz="2800" b="1" i="0" u="none" strike="noStrike" cap="none">
                <a:solidFill>
                  <a:srgbClr val="E0E0E0"/>
                </a:solidFill>
                <a:highlight>
                  <a:srgbClr val="E0E0E0"/>
                </a:highlight>
                <a:latin typeface="Arial"/>
                <a:ea typeface="Arial"/>
                <a:cs typeface="Arial"/>
                <a:sym typeface="Arial"/>
              </a:rPr>
              <a:t>:</a:t>
            </a:r>
            <a:r>
              <a:rPr lang="en-US" sz="2800" b="1" i="0" u="none" strike="noStrike" cap="none">
                <a:solidFill>
                  <a:srgbClr val="0070C0"/>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200"/>
              </a:spcBef>
              <a:spcAft>
                <a:spcPts val="0"/>
              </a:spcAft>
              <a:buClr>
                <a:srgbClr val="595959"/>
              </a:buClr>
              <a:buSzPts val="2800"/>
              <a:buFont typeface="Arial"/>
              <a:buNone/>
              <a:defRPr/>
            </a:pPr>
            <a:r>
              <a:rPr lang="en-US" sz="2800" b="0" i="0" u="none" strike="noStrike" cap="none">
                <a:solidFill>
                  <a:srgbClr val="595959"/>
                </a:solidFill>
                <a:latin typeface="Arial"/>
                <a:ea typeface="Arial"/>
                <a:cs typeface="Arial"/>
                <a:sym typeface="Arial"/>
              </a:rPr>
              <a:t>We can use multiplication.</a:t>
            </a:r>
            <a:endParaRPr sz="2800" b="0" i="1" u="none" strike="noStrike" cap="none">
              <a:solidFill>
                <a:srgbClr val="595959"/>
              </a:solidFill>
              <a:latin typeface="Arial"/>
              <a:ea typeface="Arial"/>
              <a:cs typeface="Arial"/>
              <a:sym typeface="Arial"/>
            </a:endParaRPr>
          </a:p>
        </p:txBody>
      </p:sp>
      <p:pic>
        <p:nvPicPr>
          <p:cNvPr id="921" name="Google Shape;921;p93"/>
          <p:cNvPicPr preferRelativeResize="0"/>
          <p:nvPr/>
        </p:nvPicPr>
        <p:blipFill rotWithShape="1">
          <a:blip r:embed="rId3">
            <a:alphaModFix/>
          </a:blip>
          <a:srcRect/>
          <a:stretch/>
        </p:blipFill>
        <p:spPr>
          <a:xfrm>
            <a:off x="6405476" y="1660691"/>
            <a:ext cx="3210012" cy="1480779"/>
          </a:xfrm>
          <a:prstGeom prst="rect">
            <a:avLst/>
          </a:prstGeom>
          <a:noFill/>
          <a:ln>
            <a:noFill/>
          </a:ln>
        </p:spPr>
      </p:pic>
      <p:sp>
        <p:nvSpPr>
          <p:cNvPr id="922" name="Google Shape;922;p93"/>
          <p:cNvSpPr txBox="1"/>
          <p:nvPr/>
        </p:nvSpPr>
        <p:spPr>
          <a:xfrm>
            <a:off x="484565" y="316034"/>
            <a:ext cx="5974424" cy="66112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030A0"/>
              </a:buClr>
              <a:buSzPts val="2800"/>
              <a:buFont typeface="Arial"/>
              <a:buNone/>
              <a:defRPr/>
            </a:pPr>
            <a:r>
              <a:rPr lang="en-US" sz="2800" b="1" i="0" u="none" strike="noStrike" cap="none">
                <a:solidFill>
                  <a:srgbClr val="7030A0"/>
                </a:solidFill>
                <a:latin typeface="Arial"/>
                <a:ea typeface="Arial"/>
                <a:cs typeface="Arial"/>
                <a:sym typeface="Arial"/>
              </a:rPr>
              <a:t>Trail Mix</a:t>
            </a:r>
            <a:endParaRPr sz="1400" b="0" i="0" u="none" strike="noStrike" cap="none">
              <a:solidFill>
                <a:srgbClr val="000000"/>
              </a:solidFill>
              <a:latin typeface="Arial"/>
              <a:ea typeface="Arial"/>
              <a:cs typeface="Arial"/>
              <a:sym typeface="Arial"/>
            </a:endParaRPr>
          </a:p>
        </p:txBody>
      </p:sp>
      <p:sp>
        <p:nvSpPr>
          <p:cNvPr id="329"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40 / 46</a:t>
            </a:r>
          </a:p>
        </p:txBody>
      </p:sp>
      <p:grpSp>
        <p:nvGrpSpPr>
          <p:cNvPr id="923" name="TEACH-3-student-move" descr="TEACH 3 · Use intentional questioning to deepen learning"/>
          <p:cNvGrpSpPr/>
          <p:nvPr/>
        </p:nvGrpSpPr>
        <p:grpSpPr>
          <a:xfrm>
            <a:off x="502920" y="3629236"/>
            <a:ext cx="11186160" cy="402336"/>
            <a:chOff x="502920" y="4746836"/>
            <a:chExt cx="11186160" cy="402336"/>
          </a:xfrm>
        </p:grpSpPr>
        <p:sp>
          <p:nvSpPr>
            <p:cNvPr id="924" name="TEACH-move-card"/>
            <p:cNvSpPr/>
            <p:nvPr/>
          </p:nvSpPr>
          <p:spPr>
            <a:xfrm>
              <a:off x="502920" y="4746836"/>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25" name="TEACH-move-rule"/>
            <p:cNvSpPr/>
            <p:nvPr/>
          </p:nvSpPr>
          <p:spPr>
            <a:xfrm>
              <a:off x="548640" y="4823280"/>
              <a:ext cx="100584" cy="249448"/>
            </a:xfrm>
            <a:prstGeom prst="roundRect">
              <a:avLst>
                <a:gd name="adj" fmla="val 50000"/>
              </a:avLst>
            </a:prstGeom>
            <a:solidFill>
              <a:srgbClr val="01708C"/>
            </a:solidFill>
            <a:ln>
              <a:noFill/>
            </a:ln>
          </p:spPr>
          <p:txBody>
            <a:bodyPr/>
            <a:lstStyle/>
            <a:p>
              <a:endParaRPr/>
            </a:p>
          </p:txBody>
        </p:sp>
        <p:sp>
          <p:nvSpPr>
            <p:cNvPr id="926" name="TEACH-move-text"/>
            <p:cNvSpPr txBox="1"/>
            <p:nvPr/>
          </p:nvSpPr>
          <p:spPr>
            <a:xfrm>
              <a:off x="822960" y="4746836"/>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cxnSp>
        <p:nvCxnSpPr>
          <p:cNvPr id="970" name="Google Shape;970;p99"/>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71" name="Google Shape;971;p99"/>
          <p:cNvSpPr txBox="1"/>
          <p:nvPr/>
        </p:nvSpPr>
        <p:spPr>
          <a:xfrm>
            <a:off x="484565" y="316033"/>
            <a:ext cx="6373435" cy="129663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pPr>
            <a:r>
              <a:rPr lang="en-US" sz="2800" b="0" i="0" u="none" strike="noStrike" cap="none">
                <a:solidFill>
                  <a:srgbClr val="782DA0"/>
                </a:solidFill>
                <a:latin typeface="Arial"/>
                <a:ea typeface="Arial"/>
                <a:cs typeface="Arial"/>
                <a:sym typeface="Arial"/>
              </a:rPr>
              <a:t>Summarize:</a:t>
            </a:r>
            <a:r>
              <a:rPr lang="en-US" sz="2800" b="1" i="0" u="none" strike="noStrike" cap="none">
                <a:solidFill>
                  <a:srgbClr val="782DA0"/>
                </a:solidFill>
                <a:latin typeface="Arial"/>
                <a:ea typeface="Arial"/>
                <a:cs typeface="Arial"/>
                <a:sym typeface="Arial"/>
              </a:rPr>
              <a:t> Division Expressions with Fractions and Whole Numbers</a:t>
            </a:r>
            <a:endParaRPr sz="1400" b="0" i="0" u="none" strike="noStrike" cap="none">
              <a:solidFill>
                <a:srgbClr val="000000"/>
              </a:solidFill>
              <a:latin typeface="Arial"/>
              <a:ea typeface="Arial"/>
              <a:cs typeface="Arial"/>
              <a:sym typeface="Arial"/>
            </a:endParaRPr>
          </a:p>
        </p:txBody>
      </p:sp>
      <p:sp>
        <p:nvSpPr>
          <p:cNvPr id="972" name="Google Shape;972;p99"/>
          <p:cNvSpPr/>
          <p:nvPr/>
        </p:nvSpPr>
        <p:spPr>
          <a:xfrm>
            <a:off x="484566" y="1612669"/>
            <a:ext cx="9759572" cy="3896195"/>
          </a:xfrm>
          <a:prstGeom prst="rect">
            <a:avLst/>
          </a:prstGeom>
          <a:blipFill rotWithShape="1">
            <a:blip r:embed="rId3">
              <a:alphaModFix/>
            </a:blip>
            <a:stretch>
              <a:fillRect l="-1249" t="-1721" b="-939"/>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973" name="Google Shape;973;p99"/>
          <p:cNvPicPr preferRelativeResize="0"/>
          <p:nvPr/>
        </p:nvPicPr>
        <p:blipFill rotWithShape="1">
          <a:blip r:embed="rId4">
            <a:alphaModFix/>
          </a:blip>
          <a:srcRect/>
          <a:stretch/>
        </p:blipFill>
        <p:spPr>
          <a:xfrm>
            <a:off x="484565" y="3846701"/>
            <a:ext cx="4970749" cy="869881"/>
          </a:xfrm>
          <a:prstGeom prst="rect">
            <a:avLst/>
          </a:prstGeom>
          <a:noFill/>
          <a:ln>
            <a:noFill/>
          </a:ln>
        </p:spPr>
      </p:pic>
      <p:sp>
        <p:nvSpPr>
          <p:cNvPr id="974" name="Google Shape;974;p99"/>
          <p:cNvSpPr txBox="1"/>
          <p:nvPr/>
        </p:nvSpPr>
        <p:spPr>
          <a:xfrm>
            <a:off x="6858000" y="3846701"/>
            <a:ext cx="2093118" cy="701602"/>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sp>
        <p:nvSpPr>
          <p:cNvPr id="975"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41 / 46</a:t>
            </a:r>
          </a:p>
        </p:txBody>
      </p:sp>
      <p:sp>
        <p:nvSpPr>
          <p:cNvPr id="976"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r>
              <a:rPr lang="en-US" sz="1200" b="1">
                <a:solidFill>
                  <a:srgbClr val="1E2682"/>
                </a:solidFill>
                <a:latin typeface="Arial"/>
              </a:rPr>
              <a:t>SUMMARIZE</a:t>
            </a:r>
            <a:r>
              <a:rPr lang="en-US" sz="1200" b="1">
                <a:solidFill>
                  <a:srgbClr val="5D6872"/>
                </a:solidFill>
                <a:latin typeface="Arial"/>
              </a:rPr>
              <a:t>  ·  SAY IT IN YOUR OWN WORDS</a:t>
            </a:r>
          </a:p>
        </p:txBody>
      </p:sp>
      <p:sp>
        <p:nvSpPr>
          <p:cNvPr id="977"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978"/>
        <p:cNvGrpSpPr/>
        <p:nvPr/>
      </p:nvGrpSpPr>
      <p:grpSpPr>
        <a:xfrm>
          <a:off x="0" y="0"/>
          <a:ext cx="0" cy="0"/>
          <a:chOff x="0" y="0"/>
          <a:chExt cx="0" cy="0"/>
        </a:xfrm>
      </p:grpSpPr>
      <p:sp>
        <p:nvSpPr>
          <p:cNvPr id="979" name="Google Shape;979;p100"/>
          <p:cNvSpPr txBox="1"/>
          <p:nvPr/>
        </p:nvSpPr>
        <p:spPr>
          <a:xfrm>
            <a:off x="484565" y="316033"/>
            <a:ext cx="6373435" cy="129663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0" i="0" u="none" strike="noStrike" cap="none">
                <a:solidFill>
                  <a:srgbClr val="782DA0"/>
                </a:solidFill>
                <a:latin typeface="Arial"/>
                <a:ea typeface="Arial"/>
                <a:cs typeface="Arial"/>
                <a:sym typeface="Arial"/>
              </a:rPr>
              <a:t>Summarize:</a:t>
            </a:r>
            <a:r>
              <a:rPr lang="en-US" sz="2800" b="1" i="0" u="none" strike="noStrike" cap="none">
                <a:solidFill>
                  <a:srgbClr val="782DA0"/>
                </a:solidFill>
                <a:latin typeface="Arial"/>
                <a:ea typeface="Arial"/>
                <a:cs typeface="Arial"/>
                <a:sym typeface="Arial"/>
              </a:rPr>
              <a:t> Division Expressions with Fractions and Whole Numbers</a:t>
            </a:r>
            <a:endParaRPr sz="1400" b="0" i="0" u="none" strike="noStrike" cap="none">
              <a:solidFill>
                <a:srgbClr val="000000"/>
              </a:solidFill>
              <a:latin typeface="Arial"/>
              <a:ea typeface="Arial"/>
              <a:cs typeface="Arial"/>
              <a:sym typeface="Arial"/>
            </a:endParaRPr>
          </a:p>
        </p:txBody>
      </p:sp>
      <p:cxnSp>
        <p:nvCxnSpPr>
          <p:cNvPr id="980" name="Google Shape;980;p100"/>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81" name="Google Shape;981;p100"/>
          <p:cNvSpPr/>
          <p:nvPr/>
        </p:nvSpPr>
        <p:spPr>
          <a:xfrm>
            <a:off x="484565" y="1612669"/>
            <a:ext cx="9816723" cy="4658839"/>
          </a:xfrm>
          <a:prstGeom prst="rect">
            <a:avLst/>
          </a:prstGeom>
          <a:blipFill rotWithShape="1">
            <a:blip r:embed="rId3">
              <a:alphaModFix/>
            </a:blip>
            <a:stretch>
              <a:fillRect l="-1241" t="-1440"/>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3282D"/>
                </a:solidFill>
                <a:latin typeface="Arial"/>
                <a:ea typeface="Calibri"/>
                <a:cs typeface="Calibri"/>
                <a:sym typeface="Calibri"/>
              </a:rPr>
              <a:t> </a:t>
            </a:r>
            <a:endParaRPr sz="1400" b="0" i="0" u="none" strike="noStrike" cap="none">
              <a:solidFill>
                <a:srgbClr val="000000"/>
              </a:solidFill>
              <a:latin typeface="Arial"/>
              <a:ea typeface="Arial"/>
              <a:cs typeface="Arial"/>
              <a:sym typeface="Arial"/>
            </a:endParaRPr>
          </a:p>
        </p:txBody>
      </p:sp>
      <p:pic>
        <p:nvPicPr>
          <p:cNvPr id="982" name="Google Shape;982;p100"/>
          <p:cNvPicPr preferRelativeResize="0"/>
          <p:nvPr/>
        </p:nvPicPr>
        <p:blipFill rotWithShape="1">
          <a:blip r:embed="rId4">
            <a:alphaModFix/>
          </a:blip>
          <a:srcRect/>
          <a:stretch/>
        </p:blipFill>
        <p:spPr>
          <a:xfrm>
            <a:off x="3164473" y="2533302"/>
            <a:ext cx="4456905" cy="1568832"/>
          </a:xfrm>
          <a:prstGeom prst="rect">
            <a:avLst/>
          </a:prstGeom>
          <a:noFill/>
          <a:ln>
            <a:noFill/>
          </a:ln>
        </p:spPr>
      </p:pic>
      <p:sp>
        <p:nvSpPr>
          <p:cNvPr id="983"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42 / 46</a:t>
            </a:r>
          </a:p>
        </p:txBody>
      </p:sp>
      <p:sp>
        <p:nvSpPr>
          <p:cNvPr id="984"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defRPr/>
            </a:pPr>
            <a:r>
              <a:rPr lang="en-US" sz="1200" b="1">
                <a:solidFill>
                  <a:srgbClr val="1E2682"/>
                </a:solidFill>
                <a:latin typeface="Arial"/>
              </a:rPr>
              <a:t>SUMMARIZE</a:t>
            </a:r>
            <a:r>
              <a:rPr lang="en-US" sz="1200" b="1">
                <a:solidFill>
                  <a:srgbClr val="5D6872"/>
                </a:solidFill>
                <a:latin typeface="Arial"/>
              </a:rPr>
              <a:t>  ·  SAY IT IN YOUR OWN WORDS</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cxnSp>
        <p:nvCxnSpPr>
          <p:cNvPr id="987" name="Google Shape;987;p101"/>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88" name="Google Shape;988;p101"/>
          <p:cNvSpPr txBox="1"/>
          <p:nvPr/>
        </p:nvSpPr>
        <p:spPr>
          <a:xfrm>
            <a:off x="484564" y="927528"/>
            <a:ext cx="7262898" cy="5514836"/>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62626"/>
              </a:buClr>
              <a:buSzPts val="2800"/>
              <a:buFont typeface="Arial"/>
              <a:buNone/>
              <a:defRPr/>
            </a:pPr>
            <a:r>
              <a:rPr lang="en-US" sz="2800" b="0" i="0" u="none" strike="noStrike" cap="none">
                <a:solidFill>
                  <a:srgbClr val="23282D"/>
                </a:solidFill>
                <a:latin typeface="Arial"/>
                <a:ea typeface="Arial"/>
                <a:cs typeface="Arial"/>
                <a:sym typeface="Arial"/>
              </a:rPr>
              <a:t>Andrew has four types of nuts and a different quantity of each type. He wants to make 4 snack bags for each type of nut and will not mix the nuts in the snack bags.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1800"/>
              </a:spcBef>
              <a:spcAft>
                <a:spcPts val="0"/>
              </a:spcAft>
              <a:buClr>
                <a:srgbClr val="262626"/>
              </a:buClr>
              <a:buSzPts val="2800"/>
              <a:buFont typeface="Arial"/>
              <a:buNone/>
              <a:defRPr/>
            </a:pPr>
            <a:r>
              <a:rPr lang="en-US" sz="2800" b="1" i="0" u="none" strike="noStrike" cap="none">
                <a:solidFill>
                  <a:srgbClr val="23282D"/>
                </a:solidFill>
                <a:latin typeface="Arial"/>
                <a:ea typeface="Arial"/>
                <a:cs typeface="Arial"/>
                <a:sym typeface="Arial"/>
              </a:rPr>
              <a:t>Question:</a:t>
            </a:r>
            <a:r>
              <a:rPr lang="en-US" sz="2800" b="0" i="0" u="none" strike="noStrike" cap="none">
                <a:solidFill>
                  <a:srgbClr val="23282D"/>
                </a:solidFill>
                <a:latin typeface="Arial"/>
                <a:ea typeface="Arial"/>
                <a:cs typeface="Arial"/>
                <a:sym typeface="Arial"/>
              </a:rPr>
              <a:t> What will be the weight of the snack bags for each type of nut? Explain your reasoning. </a:t>
            </a:r>
            <a:endParaRPr sz="1400" b="0" i="0" u="none" strike="noStrike" cap="none">
              <a:solidFill>
                <a:srgbClr val="000000"/>
              </a:solidFill>
              <a:latin typeface="Arial"/>
              <a:ea typeface="Arial"/>
              <a:cs typeface="Arial"/>
              <a:sym typeface="Arial"/>
            </a:endParaRPr>
          </a:p>
        </p:txBody>
      </p:sp>
      <p:sp>
        <p:nvSpPr>
          <p:cNvPr id="989" name="Google Shape;989;p101"/>
          <p:cNvSpPr txBox="1"/>
          <p:nvPr/>
        </p:nvSpPr>
        <p:spPr>
          <a:xfrm>
            <a:off x="484565" y="316034"/>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0" i="0" u="none" strike="noStrike" cap="none">
                <a:solidFill>
                  <a:srgbClr val="782DA0"/>
                </a:solidFill>
                <a:latin typeface="Arial"/>
                <a:ea typeface="Arial"/>
                <a:cs typeface="Arial"/>
                <a:sym typeface="Arial"/>
              </a:rPr>
              <a:t>Apply:</a:t>
            </a:r>
            <a:r>
              <a:rPr lang="en-US" sz="2800" b="1" i="0" u="none" strike="noStrike" cap="none">
                <a:solidFill>
                  <a:srgbClr val="782DA0"/>
                </a:solidFill>
                <a:latin typeface="Arial"/>
                <a:ea typeface="Arial"/>
                <a:cs typeface="Arial"/>
                <a:sym typeface="Arial"/>
              </a:rPr>
              <a:t> Snack Bags</a:t>
            </a:r>
            <a:endParaRPr sz="1400" b="0" i="0" u="none" strike="noStrike" cap="none">
              <a:solidFill>
                <a:srgbClr val="000000"/>
              </a:solidFill>
              <a:latin typeface="Arial"/>
              <a:ea typeface="Arial"/>
              <a:cs typeface="Arial"/>
              <a:sym typeface="Arial"/>
            </a:endParaRPr>
          </a:p>
        </p:txBody>
      </p:sp>
      <p:pic>
        <p:nvPicPr>
          <p:cNvPr id="990" name="Google Shape;990;p101"/>
          <p:cNvPicPr preferRelativeResize="0"/>
          <p:nvPr/>
        </p:nvPicPr>
        <p:blipFill rotWithShape="1">
          <a:blip r:embed="rId3">
            <a:alphaModFix/>
          </a:blip>
          <a:srcRect/>
          <a:stretch/>
        </p:blipFill>
        <p:spPr>
          <a:xfrm>
            <a:off x="889635" y="4538056"/>
            <a:ext cx="5713200" cy="1656000"/>
          </a:xfrm>
          <a:prstGeom prst="rect">
            <a:avLst/>
          </a:prstGeom>
          <a:noFill/>
          <a:ln>
            <a:noFill/>
          </a:ln>
        </p:spPr>
      </p:pic>
      <p:sp>
        <p:nvSpPr>
          <p:cNvPr id="991"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43 / 46</a:t>
            </a:r>
          </a:p>
        </p:txBody>
      </p:sp>
      <p:sp>
        <p:nvSpPr>
          <p:cNvPr id="992" name="EWL-Routine"/>
          <p:cNvSpPr>
            <a:spLocks noGrp="1"/>
          </p:cNvSpPr>
          <p:nvPr/>
        </p:nvSpPr>
        <p:spPr>
          <a:xfrm>
            <a:off x="502920" y="54864"/>
            <a:ext cx="6035040" cy="237744"/>
          </a:xfrm>
          <a:prstGeom prst="rect">
            <a:avLst/>
          </a:prstGeom>
          <a:noFill/>
        </p:spPr>
        <p:txBody>
          <a:bodyPr wrap="square" lIns="0" tIns="0" rIns="0" bIns="0" anchor="ctr">
            <a:noAutofit/>
          </a:bodyPr>
          <a:lstStyle/>
          <a:p>
            <a:pPr algn="l">
              <a:defRPr/>
            </a:pPr>
            <a:r>
              <a:rPr lang="en-US" sz="1200" b="1">
                <a:solidFill>
                  <a:srgbClr val="1E2682"/>
                </a:solidFill>
                <a:latin typeface="Arial"/>
              </a:rPr>
              <a:t>APPLY</a:t>
            </a:r>
            <a:r>
              <a:rPr lang="en-US" sz="1200" b="1">
                <a:solidFill>
                  <a:srgbClr val="5D6872"/>
                </a:solidFill>
                <a:latin typeface="Arial"/>
              </a:rPr>
              <a:t>  ·  PLAN IT • SOLVE IT • PROVE IT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6-1</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2-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YOUR CHOICE  ·  </a:t>
            </a:r>
            <a:r>
              <a:rPr lang="en-US" sz="2000" b="0" dirty="0">
                <a:solidFill>
                  <a:srgbClr val="13303A"/>
                </a:solidFill>
                <a:latin typeface="Arial"/>
              </a:rPr>
              <a:t>You choose how to show this — numbers, words, or a diagram. Make your reasoning visible.</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44 / 46</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cxnSp>
        <p:nvCxnSpPr>
          <p:cNvPr id="995" name="Google Shape;995;p102"/>
          <p:cNvCxnSpPr/>
          <p:nvPr/>
        </p:nvCxnSpPr>
        <p:spPr>
          <a:xfrm>
            <a:off x="13164879" y="5911702"/>
            <a:ext cx="0" cy="0"/>
          </a:xfrm>
          <a:prstGeom prst="straightConnector1">
            <a:avLst/>
          </a:prstGeom>
          <a:noFill/>
          <a:ln w="9525" cap="flat" cmpd="sng">
            <a:solidFill>
              <a:schemeClr val="accent1"/>
            </a:solidFill>
            <a:prstDash val="solid"/>
            <a:miter lim="80"/>
            <a:headEnd type="none" w="sm" len="sm"/>
            <a:tailEnd type="none" w="sm" len="sm"/>
          </a:ln>
        </p:spPr>
      </p:cxnSp>
      <p:sp>
        <p:nvSpPr>
          <p:cNvPr id="996" name="Google Shape;996;p102"/>
          <p:cNvSpPr txBox="1"/>
          <p:nvPr/>
        </p:nvSpPr>
        <p:spPr>
          <a:xfrm>
            <a:off x="484564" y="927528"/>
            <a:ext cx="8188919" cy="5305106"/>
          </a:xfrm>
          <a:prstGeom prst="rect">
            <a:avLst/>
          </a:prstGeom>
          <a:noFill/>
          <a:ln>
            <a:noFill/>
          </a:ln>
        </p:spPr>
        <p:txBody>
          <a:bodyPr spcFirstLastPara="1" wrap="square" lIns="91425" tIns="45700" rIns="91425" bIns="45700" anchor="t" anchorCtr="0">
            <a:noAutofit/>
          </a:bodyPr>
          <a:lstStyle/>
          <a:p>
            <a:pPr marL="457200" marR="0" lvl="0" indent="-457200" algn="l" rtl="0">
              <a:lnSpc>
                <a:spcPct val="100000"/>
              </a:lnSpc>
              <a:spcBef>
                <a:spcPts val="0"/>
              </a:spcBef>
              <a:spcAft>
                <a:spcPts val="0"/>
              </a:spcAft>
              <a:buClr>
                <a:srgbClr val="262626"/>
              </a:buClr>
              <a:buSzPts val="2800"/>
              <a:buFont typeface="Arial"/>
              <a:buChar char="•"/>
              <a:defRPr/>
            </a:pPr>
            <a:r>
              <a:rPr lang="en-US" sz="2800" b="0" i="0" u="none" strike="noStrike" cap="none">
                <a:solidFill>
                  <a:srgbClr val="23282D"/>
                </a:solidFill>
                <a:latin typeface="Arial"/>
                <a:ea typeface="Arial"/>
                <a:cs typeface="Arial"/>
                <a:sym typeface="Arial"/>
              </a:rPr>
              <a:t>I can use appropriate tools to divide whole numbers by fractions using fraction models.</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1800"/>
              </a:spcBef>
              <a:spcAft>
                <a:spcPts val="0"/>
              </a:spcAft>
              <a:buClr>
                <a:srgbClr val="262626"/>
              </a:buClr>
              <a:buSzPts val="2800"/>
              <a:buFont typeface="Arial"/>
              <a:buChar char="•"/>
              <a:defRPr/>
            </a:pPr>
            <a:r>
              <a:rPr lang="en-US" sz="2800" b="0" i="0" u="none" strike="noStrike" cap="none">
                <a:solidFill>
                  <a:srgbClr val="23282D"/>
                </a:solidFill>
                <a:latin typeface="Arial"/>
                <a:ea typeface="Arial"/>
                <a:cs typeface="Arial"/>
                <a:sym typeface="Arial"/>
              </a:rPr>
              <a:t>I can divide fractions by whole numbers using fraction models and equations.</a:t>
            </a:r>
            <a:endParaRPr sz="1400" b="0" i="0" u="none" strike="noStrike" cap="none">
              <a:solidFill>
                <a:srgbClr val="000000"/>
              </a:solidFill>
              <a:latin typeface="Arial"/>
              <a:ea typeface="Arial"/>
              <a:cs typeface="Arial"/>
              <a:sym typeface="Arial"/>
            </a:endParaRPr>
          </a:p>
        </p:txBody>
      </p:sp>
      <p:sp>
        <p:nvSpPr>
          <p:cNvPr id="997" name="Google Shape;997;p102"/>
          <p:cNvSpPr txBox="1"/>
          <p:nvPr/>
        </p:nvSpPr>
        <p:spPr>
          <a:xfrm>
            <a:off x="484565" y="316034"/>
            <a:ext cx="5492675" cy="537406"/>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782DA0"/>
              </a:buClr>
              <a:buSzPts val="2800"/>
              <a:buFont typeface="Arial"/>
              <a:buNone/>
              <a:defRPr/>
            </a:pPr>
            <a:r>
              <a:rPr lang="en-US" sz="2800" b="1" i="0" u="none" strike="noStrike" cap="none">
                <a:solidFill>
                  <a:srgbClr val="782DA0"/>
                </a:solidFill>
                <a:latin typeface="Arial"/>
                <a:ea typeface="Arial"/>
                <a:cs typeface="Arial"/>
                <a:sym typeface="Arial"/>
              </a:rPr>
              <a:t>Learning Targets</a:t>
            </a:r>
            <a:endParaRPr sz="1400" b="0" i="0" u="none" strike="noStrike" cap="none">
              <a:solidFill>
                <a:srgbClr val="000000"/>
              </a:solidFill>
              <a:latin typeface="Arial"/>
              <a:ea typeface="Arial"/>
              <a:cs typeface="Arial"/>
              <a:sym typeface="Arial"/>
            </a:endParaRPr>
          </a:p>
        </p:txBody>
      </p:sp>
      <p:sp>
        <p:nvSpPr>
          <p:cNvPr id="998" name="EWL-SlideNumber"/>
          <p:cNvSpPr>
            <a:spLocks noGrp="1"/>
          </p:cNvSpPr>
          <p:nvPr/>
        </p:nvSpPr>
        <p:spPr>
          <a:xfrm>
            <a:off x="5577840" y="6492240"/>
            <a:ext cx="1033272" cy="256032"/>
          </a:xfrm>
          <a:prstGeom prst="rect">
            <a:avLst/>
          </a:prstGeom>
          <a:noFill/>
        </p:spPr>
        <p:txBody>
          <a:bodyPr wrap="square" lIns="0" tIns="0" rIns="0" bIns="0" anchor="ctr">
            <a:noAutofit/>
          </a:bodyPr>
          <a:lstStyle/>
          <a:p>
            <a:pPr algn="ctr"/>
            <a:r>
              <a:rPr lang="en-US" sz="1100" b="0" dirty="0">
                <a:solidFill>
                  <a:srgbClr val="5D6872"/>
                </a:solidFill>
                <a:latin typeface="Arial"/>
              </a:rPr>
              <a:t>45 / 46</a:t>
            </a:r>
          </a:p>
        </p:txBody>
      </p:sp>
      <p:grpSp>
        <p:nvGrpSpPr>
          <p:cNvPr id="999" name="TEACH-1-student-move" descr="TEACH 1 · Facilitate clear, standards-based content learning"/>
          <p:cNvGrpSpPr/>
          <p:nvPr/>
        </p:nvGrpSpPr>
        <p:grpSpPr>
          <a:xfrm>
            <a:off x="502920" y="5472790"/>
            <a:ext cx="11186160" cy="402336"/>
            <a:chOff x="502920" y="5472790"/>
            <a:chExt cx="11186160" cy="402336"/>
          </a:xfrm>
        </p:grpSpPr>
        <p:sp>
          <p:nvSpPr>
            <p:cNvPr id="1000"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001"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002"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47472"/>
            <a:ext cx="10972800" cy="301752"/>
          </a:xfrm>
          <a:prstGeom prst="rect">
            <a:avLst/>
          </a:prstGeom>
          <a:noFill/>
        </p:spPr>
        <p:txBody>
          <a:bodyPr wrap="square" lIns="0" tIns="22860" rIns="0" bIns="0">
            <a:spAutoFit/>
          </a:bodyPr>
          <a:lstStyle/>
          <a:p>
            <a:pPr>
              <a:spcAft>
                <a:spcPts val="800"/>
              </a:spcAft>
              <a:defRPr sz="1300" b="1">
                <a:solidFill>
                  <a:srgbClr val="096B69"/>
                </a:solidFill>
                <a:latin typeface="Arial"/>
              </a:defRPr>
            </a:pPr>
            <a:r>
              <a:t>LESSON 6.1  /  REFLECT ON YOUR LEARNING</a:t>
            </a:r>
          </a:p>
        </p:txBody>
      </p:sp>
      <p:sp>
        <p:nvSpPr>
          <p:cNvPr id="3" name="TextBox 2"/>
          <p:cNvSpPr txBox="1"/>
          <p:nvPr/>
        </p:nvSpPr>
        <p:spPr>
          <a:xfrm>
            <a:off x="594360" y="914400"/>
            <a:ext cx="10972800" cy="640080"/>
          </a:xfrm>
          <a:prstGeom prst="rect">
            <a:avLst/>
          </a:prstGeom>
          <a:noFill/>
        </p:spPr>
        <p:txBody>
          <a:bodyPr wrap="square" lIns="0" tIns="22860" rIns="0" bIns="0">
            <a:spAutoFit/>
          </a:bodyPr>
          <a:lstStyle/>
          <a:p>
            <a:pPr>
              <a:spcAft>
                <a:spcPts val="800"/>
              </a:spcAft>
              <a:defRPr sz="3600" b="1">
                <a:solidFill>
                  <a:srgbClr val="173451"/>
                </a:solidFill>
                <a:latin typeface="Arial"/>
              </a:defRPr>
            </a:pPr>
            <a:r>
              <a:t>Show your progress</a:t>
            </a:r>
          </a:p>
        </p:txBody>
      </p:sp>
      <p:sp>
        <p:nvSpPr>
          <p:cNvPr id="4" name="TextBox 3"/>
          <p:cNvSpPr txBox="1"/>
          <p:nvPr/>
        </p:nvSpPr>
        <p:spPr>
          <a:xfrm>
            <a:off x="594360" y="6263640"/>
            <a:ext cx="10789920" cy="274320"/>
          </a:xfrm>
          <a:prstGeom prst="rect">
            <a:avLst/>
          </a:prstGeom>
          <a:noFill/>
        </p:spPr>
        <p:txBody>
          <a:bodyPr wrap="square" lIns="0" tIns="22860" rIns="0" bIns="0">
            <a:spAutoFit/>
          </a:bodyPr>
          <a:lstStyle/>
          <a:p>
            <a:pPr>
              <a:spcAft>
                <a:spcPts val="800"/>
              </a:spcAft>
              <a:defRPr sz="1300" b="0">
                <a:solidFill>
                  <a:srgbClr val="506478"/>
                </a:solidFill>
                <a:latin typeface="Arial"/>
              </a:defRPr>
            </a:pPr>
            <a: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86968" y="2103120"/>
            <a:ext cx="4709160" cy="365760"/>
          </a:xfrm>
          <a:prstGeom prst="rect">
            <a:avLst/>
          </a:prstGeom>
          <a:noFill/>
        </p:spPr>
        <p:txBody>
          <a:bodyPr wrap="square" lIns="0" tIns="22860" rIns="0" bIns="0">
            <a:spAutoFit/>
          </a:bodyPr>
          <a:lstStyle/>
          <a:p>
            <a:pPr>
              <a:spcAft>
                <a:spcPts val="800"/>
              </a:spcAft>
              <a:defRPr sz="1800" b="1">
                <a:solidFill>
                  <a:srgbClr val="096B69"/>
                </a:solidFill>
                <a:latin typeface="Arial"/>
              </a:defRPr>
            </a:pPr>
            <a:r>
              <a:t>1  SHOW EVIDENCE</a:t>
            </a:r>
          </a:p>
        </p:txBody>
      </p:sp>
      <p:sp>
        <p:nvSpPr>
          <p:cNvPr id="8" name="TextBox 7"/>
          <p:cNvSpPr txBox="1"/>
          <p:nvPr/>
        </p:nvSpPr>
        <p:spPr>
          <a:xfrm>
            <a:off x="886968" y="2743200"/>
            <a:ext cx="4617720" cy="1353312"/>
          </a:xfrm>
          <a:prstGeom prst="rect">
            <a:avLst/>
          </a:prstGeom>
          <a:noFill/>
        </p:spPr>
        <p:txBody>
          <a:bodyPr wrap="square" lIns="0" tIns="22860" rIns="0" bIns="0">
            <a:spAutoFit/>
          </a:bodyPr>
          <a:lstStyle/>
          <a:p>
            <a:pPr>
              <a:spcAft>
                <a:spcPts val="800"/>
              </a:spcAft>
              <a:defRPr sz="2600" b="0">
                <a:solidFill>
                  <a:srgbClr val="24384B"/>
                </a:solidFill>
                <a:latin typeface="Arial"/>
              </a:defRPr>
            </a:pPr>
            <a: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tIns="22860" rIns="0" bIns="0">
            <a:spAutoFit/>
          </a:bodyPr>
          <a:lstStyle/>
          <a:p>
            <a:pPr>
              <a:spcAft>
                <a:spcPts val="800"/>
              </a:spcAft>
              <a:defRPr sz="1900" b="0">
                <a:solidFill>
                  <a:srgbClr val="506478"/>
                </a:solidFill>
                <a:latin typeface="Arial"/>
              </a:defRPr>
            </a:pPr>
            <a:r>
              <a:t>“My work shows ___ because ___.”</a:t>
            </a:r>
          </a:p>
        </p:txBody>
      </p:sp>
      <p:sp>
        <p:nvSpPr>
          <p:cNvPr id="10" name="TextBox 9"/>
          <p:cNvSpPr txBox="1"/>
          <p:nvPr/>
        </p:nvSpPr>
        <p:spPr>
          <a:xfrm>
            <a:off x="6528816" y="2103120"/>
            <a:ext cx="4700016" cy="365760"/>
          </a:xfrm>
          <a:prstGeom prst="rect">
            <a:avLst/>
          </a:prstGeom>
          <a:noFill/>
        </p:spPr>
        <p:txBody>
          <a:bodyPr wrap="square" lIns="0" tIns="22860" rIns="0" bIns="0">
            <a:spAutoFit/>
          </a:bodyPr>
          <a:lstStyle/>
          <a:p>
            <a:pPr>
              <a:spcAft>
                <a:spcPts val="800"/>
              </a:spcAft>
              <a:defRPr sz="1800" b="1">
                <a:solidFill>
                  <a:srgbClr val="096B69"/>
                </a:solidFill>
                <a:latin typeface="Arial"/>
              </a:defRPr>
            </a:pPr>
            <a:r>
              <a:t>2  CHOOSE A NEXT STEP</a:t>
            </a:r>
          </a:p>
        </p:txBody>
      </p:sp>
      <p:sp>
        <p:nvSpPr>
          <p:cNvPr id="11" name="TextBox 10"/>
          <p:cNvSpPr txBox="1"/>
          <p:nvPr/>
        </p:nvSpPr>
        <p:spPr>
          <a:xfrm>
            <a:off x="6528816" y="2743200"/>
            <a:ext cx="4617720" cy="1353312"/>
          </a:xfrm>
          <a:prstGeom prst="rect">
            <a:avLst/>
          </a:prstGeom>
          <a:noFill/>
        </p:spPr>
        <p:txBody>
          <a:bodyPr wrap="square" lIns="0" tIns="22860" rIns="0" bIns="0">
            <a:spAutoFit/>
          </a:bodyPr>
          <a:lstStyle/>
          <a:p>
            <a:pPr>
              <a:spcAft>
                <a:spcPts val="800"/>
              </a:spcAft>
              <a:defRPr sz="2600" b="0">
                <a:solidFill>
                  <a:srgbClr val="24384B"/>
                </a:solidFill>
                <a:latin typeface="Arial"/>
              </a:defRPr>
            </a:pPr>
            <a: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tIns="22860" rIns="0" bIns="0">
            <a:spAutoFit/>
          </a:bodyPr>
          <a:lstStyle/>
          <a:p>
            <a:pPr>
              <a:spcAft>
                <a:spcPts val="800"/>
              </a:spcAft>
              <a:defRPr sz="1900" b="0">
                <a:solidFill>
                  <a:srgbClr val="506478"/>
                </a:solidFill>
                <a:latin typeface="Arial"/>
              </a:defRPr>
            </a:pPr>
            <a:r>
              <a:t>“Next time, I will ___ to help me ___.”</a:t>
            </a:r>
          </a:p>
        </p:txBody>
      </p:sp>
      <p:sp>
        <p:nvSpPr>
          <p:cNvPr id="13" name="TextBox 12"/>
          <p:cNvSpPr txBox="1"/>
          <p:nvPr/>
        </p:nvSpPr>
        <p:spPr>
          <a:xfrm>
            <a:off x="621792" y="5376672"/>
            <a:ext cx="10954512" cy="685800"/>
          </a:xfrm>
          <a:prstGeom prst="rect">
            <a:avLst/>
          </a:prstGeom>
          <a:noFill/>
        </p:spPr>
        <p:txBody>
          <a:bodyPr wrap="square" lIns="0" tIns="22860" rIns="0" bIns="0">
            <a:spAutoFit/>
          </a:bodyPr>
          <a:lstStyle/>
          <a:p>
            <a:pPr>
              <a:spcAft>
                <a:spcPts val="800"/>
              </a:spcAft>
              <a:defRPr sz="2200" b="1">
                <a:solidFill>
                  <a:srgbClr val="173451"/>
                </a:solidFill>
                <a:latin typeface="Arial"/>
              </a:defRPr>
            </a:pPr>
            <a:r>
              <a:t>Today’s focus: Interpret division as groups or sharing.</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theme/theme1.xml><?xml version="1.0" encoding="utf-8"?>
<a:theme xmlns:a="http://schemas.openxmlformats.org/drawingml/2006/main"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14604</Words>
  <Application>Microsoft Macintosh PowerPoint</Application>
  <PresentationFormat>Widescreen</PresentationFormat>
  <Paragraphs>917</Paragraphs>
  <Slides>46</Slides>
  <Notes>41</Notes>
  <HiddenSlides>0</HiddenSlides>
  <MMClips>0</MMClips>
  <ScaleCrop>false</ScaleCrop>
  <HeadingPairs>
    <vt:vector size="6" baseType="variant">
      <vt:variant>
        <vt:lpstr>Fonts Used</vt:lpstr>
      </vt:variant>
      <vt:variant>
        <vt:i4>2</vt:i4>
      </vt:variant>
      <vt:variant>
        <vt:lpstr>Theme</vt:lpstr>
      </vt:variant>
      <vt:variant>
        <vt:i4>4</vt:i4>
      </vt:variant>
      <vt:variant>
        <vt:lpstr>Slide Titles</vt:lpstr>
      </vt:variant>
      <vt:variant>
        <vt:i4>46</vt:i4>
      </vt:variant>
    </vt:vector>
  </HeadingPairs>
  <TitlesOfParts>
    <vt:vector size="52" baseType="lpstr">
      <vt:lpstr>Arial</vt:lpstr>
      <vt:lpstr>Calibri</vt:lpstr>
      <vt:lpstr>Title Slide</vt:lpstr>
      <vt:lpstr>1_Custom Design</vt:lpstr>
      <vt:lpstr>Custom Design</vt:lpstr>
      <vt:lpstr>2_Custom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Neft, Joel D.</cp:lastModifiedBy>
  <cp:revision>1</cp:revision>
  <dcterms:modified xsi:type="dcterms:W3CDTF">2026-09-29T15:38:27Z</dcterms:modified>
  <dc:title>Reveal Math Grade 6 · Lesson 6.1 — Division Expressions with Fractions and Whole Numbers</dc:title>
</cp:coreProperties>
</file>