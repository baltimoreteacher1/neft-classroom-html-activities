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4.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3.xml" ContentType="application/vnd.openxmlformats-officedocument.presentationml.notesSlide+xml"/>
  <Override PartName="/ppt/notesSlides/notesSlide45.xml" ContentType="application/vnd.openxmlformats-officedocument.presentationml.notesSlide+xml"/>
  <Override PartName="/ppt/notesSlides/notesSlide47.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3" r:id="rId5"/>
    <p:sldMasterId id="2147483684" r:id="rId6"/>
    <p:sldMasterId id="2147483685" r:id="rId7"/>
    <p:sldMasterId id="2147483686" r:id="rId8"/>
  </p:sldMasterIdLst>
  <p:notesMasterIdLst>
    <p:notesMasterId r:id="rId9"/>
  </p:notesMasterIdLst>
  <p:sldIdLst>
    <p:sldId id="259" r:id="rId13"/>
    <p:sldId id="270" r:id="rId24"/>
    <p:sldId id="271" r:id="rId25"/>
    <p:sldId id="256" r:id="rId10"/>
    <p:sldId id="257" r:id="rId11"/>
    <p:sldId id="260" r:id="rId14"/>
    <p:sldId id="327" r:id="rId70"/>
    <p:sldId id="326" r:id="rId50"/>
    <p:sldId id="325" r:id="rId49"/>
    <p:sldId id="324" r:id="rId30"/>
    <p:sldId id="323" r:id="rId31"/>
    <p:sldId id="322" r:id="rId32"/>
    <p:sldId id="321" r:id="rId45"/>
    <p:sldId id="320" r:id="rId44"/>
    <p:sldId id="319" r:id="rId34"/>
    <p:sldId id="318" r:id="rId42"/>
    <p:sldId id="261" r:id="rId15"/>
    <p:sldId id="274" r:id="rId28"/>
    <p:sldId id="279" r:id="rId33"/>
    <p:sldId id="281" r:id="rId35"/>
    <p:sldId id="283" r:id="rId37"/>
    <p:sldId id="285" r:id="rId39"/>
    <p:sldId id="286" r:id="rId40"/>
    <p:sldId id="331" r:id="rId74"/>
    <p:sldId id="287" r:id="rId41"/>
    <p:sldId id="289" r:id="rId43"/>
    <p:sldId id="292" r:id="rId46"/>
    <p:sldId id="293" r:id="rId47"/>
    <p:sldId id="332" r:id="rId75"/>
    <p:sldId id="328" r:id="rId71"/>
    <p:sldId id="317" r:id="rId36"/>
    <p:sldId id="314" r:id="rId68"/>
    <p:sldId id="333" r:id="rId76"/>
    <p:sldId id="315" r:id="rId69"/>
    <p:sldId id="313" r:id="rId48"/>
    <p:sldId id="298" r:id="rId52"/>
    <p:sldId id="300" r:id="rId54"/>
    <p:sldId id="302" r:id="rId56"/>
    <p:sldId id="334" r:id="rId77"/>
    <p:sldId id="304" r:id="rId58"/>
    <p:sldId id="306" r:id="rId60"/>
    <p:sldId id="308" r:id="rId62"/>
    <p:sldId id="335" r:id="rId78"/>
    <p:sldId id="309" r:id="rId63"/>
    <p:sldId id="310" r:id="rId64"/>
    <p:sldId id="329" r:id="rId72"/>
    <p:sldId id="311" r:id="rId65"/>
    <p:sldId id="312" r:id="rId66"/>
    <p:sldId id="316" r:id="rId38"/>
    <p:sldId id="330" r:id="rId73"/>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666F0E5-3147-4255-8669-8E65EB0D5001}">
  <a:tblStyle styleId="{7666F0E5-3147-4255-8669-8E65EB0D5001}"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0" Type="http://schemas.openxmlformats.org/officeDocument/2006/relationships/slide" Target="slides/slide4.xml"/><Relationship Id="rId11" Type="http://schemas.openxmlformats.org/officeDocument/2006/relationships/slide" Target="slides/slide5.xml"/><Relationship Id="rId13" Type="http://schemas.openxmlformats.org/officeDocument/2006/relationships/slide" Target="slides/slide1.xml"/><Relationship Id="rId14" Type="http://schemas.openxmlformats.org/officeDocument/2006/relationships/slide" Target="slides/slide6.xml"/><Relationship Id="rId15" Type="http://schemas.openxmlformats.org/officeDocument/2006/relationships/slide" Target="slides/slide17.xml"/><Relationship Id="rId24" Type="http://schemas.openxmlformats.org/officeDocument/2006/relationships/slide" Target="slides/slide2.xml"/><Relationship Id="rId25" Type="http://schemas.openxmlformats.org/officeDocument/2006/relationships/slide" Target="slides/slide3.xml"/><Relationship Id="rId28" Type="http://schemas.openxmlformats.org/officeDocument/2006/relationships/slide" Target="slides/slide18.xml"/><Relationship Id="rId30" Type="http://schemas.openxmlformats.org/officeDocument/2006/relationships/slide" Target="slides/slide10.xml"/><Relationship Id="rId31" Type="http://schemas.openxmlformats.org/officeDocument/2006/relationships/slide" Target="slides/slide11.xml"/><Relationship Id="rId32" Type="http://schemas.openxmlformats.org/officeDocument/2006/relationships/slide" Target="slides/slide12.xml"/><Relationship Id="rId33" Type="http://schemas.openxmlformats.org/officeDocument/2006/relationships/slide" Target="slides/slide19.xml"/><Relationship Id="rId34" Type="http://schemas.openxmlformats.org/officeDocument/2006/relationships/slide" Target="slides/slide15.xml"/><Relationship Id="rId35" Type="http://schemas.openxmlformats.org/officeDocument/2006/relationships/slide" Target="slides/slide20.xml"/><Relationship Id="rId36" Type="http://schemas.openxmlformats.org/officeDocument/2006/relationships/slide" Target="slides/slide29.xml"/><Relationship Id="rId37" Type="http://schemas.openxmlformats.org/officeDocument/2006/relationships/slide" Target="slides/slide21.xml"/><Relationship Id="rId38" Type="http://schemas.openxmlformats.org/officeDocument/2006/relationships/slide" Target="slides/slide44.xml"/><Relationship Id="rId39" Type="http://schemas.openxmlformats.org/officeDocument/2006/relationships/slide" Target="slides/slide22.xml"/><Relationship Id="rId40" Type="http://schemas.openxmlformats.org/officeDocument/2006/relationships/slide" Target="slides/slide23.xml"/><Relationship Id="rId41" Type="http://schemas.openxmlformats.org/officeDocument/2006/relationships/slide" Target="slides/slide24.xml"/><Relationship Id="rId42" Type="http://schemas.openxmlformats.org/officeDocument/2006/relationships/slide" Target="slides/slide16.xml"/><Relationship Id="rId43" Type="http://schemas.openxmlformats.org/officeDocument/2006/relationships/slide" Target="slides/slide25.xml"/><Relationship Id="rId44" Type="http://schemas.openxmlformats.org/officeDocument/2006/relationships/slide" Target="slides/slide14.xml"/><Relationship Id="rId45" Type="http://schemas.openxmlformats.org/officeDocument/2006/relationships/slide" Target="slides/slide13.xml"/><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32.xml"/><Relationship Id="rId49" Type="http://schemas.openxmlformats.org/officeDocument/2006/relationships/slide" Target="slides/slide9.xml"/><Relationship Id="rId50" Type="http://schemas.openxmlformats.org/officeDocument/2006/relationships/slide" Target="slides/slide8.xml"/><Relationship Id="rId52" Type="http://schemas.openxmlformats.org/officeDocument/2006/relationships/slide" Target="slides/slide33.xml"/><Relationship Id="rId54" Type="http://schemas.openxmlformats.org/officeDocument/2006/relationships/slide" Target="slides/slide34.xml"/><Relationship Id="rId56" Type="http://schemas.openxmlformats.org/officeDocument/2006/relationships/slide" Target="slides/slide35.xml"/><Relationship Id="rId58" Type="http://schemas.openxmlformats.org/officeDocument/2006/relationships/slide" Target="slides/slide36.xml"/><Relationship Id="rId60" Type="http://schemas.openxmlformats.org/officeDocument/2006/relationships/slide" Target="slides/slide37.xml"/><Relationship Id="rId62" Type="http://schemas.openxmlformats.org/officeDocument/2006/relationships/slide" Target="slides/slide38.xml"/><Relationship Id="rId63" Type="http://schemas.openxmlformats.org/officeDocument/2006/relationships/slide" Target="slides/slide39.xml"/><Relationship Id="rId64" Type="http://schemas.openxmlformats.org/officeDocument/2006/relationships/slide" Target="slides/slide40.xml"/><Relationship Id="rId65" Type="http://schemas.openxmlformats.org/officeDocument/2006/relationships/slide" Target="slides/slide42.xml"/><Relationship Id="rId66" Type="http://schemas.openxmlformats.org/officeDocument/2006/relationships/slide" Target="slides/slide43.xml"/><Relationship Id="rId68" Type="http://schemas.openxmlformats.org/officeDocument/2006/relationships/slide" Target="slides/slide30.xml"/><Relationship Id="rId69" Type="http://schemas.openxmlformats.org/officeDocument/2006/relationships/slide" Target="slides/slide31.xml"/><Relationship Id="rId70" Type="http://schemas.openxmlformats.org/officeDocument/2006/relationships/slide" Target="slides/slide7.xml"/><Relationship Id="rId71" Type="http://schemas.openxmlformats.org/officeDocument/2006/relationships/slide" Target="slides/slide28.xml"/><Relationship Id="rId72" Type="http://schemas.openxmlformats.org/officeDocument/2006/relationships/slide" Target="slides/slide41.xml"/><Relationship Id="rId73" Type="http://schemas.openxmlformats.org/officeDocument/2006/relationships/slide" Target="slides/slide45.xml"/><Relationship Id="rId74" Type="http://schemas.openxmlformats.org/officeDocument/2006/relationships/slide" Target="slides/slide46.xml"/><Relationship Id="rId75" Type="http://schemas.openxmlformats.org/officeDocument/2006/relationships/slide" Target="slides/slide47.xml"/><Relationship Id="rId76" Type="http://schemas.openxmlformats.org/officeDocument/2006/relationships/slide" Target="slides/slide48.xml"/><Relationship Id="rId77" Type="http://schemas.openxmlformats.org/officeDocument/2006/relationships/slide" Target="slides/slide49.xml"/><Relationship Id="rId78"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5.2, slide 4 | DIVIDER</a:t>
            </a:r>
          </a:p>
          <a:p xmlns:a="http://schemas.openxmlformats.org/drawingml/2006/main">
            <a:pPr>
              <a:buNone/>
            </a:pPr>
            <a:r>
              <a:rPr lang="en-US" sz="1100"/>
              <a:t>Focus on the existing task: Determine the Area of Triangles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1" name="Google Shape;231;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5.2, slide 5 | TASK</a:t>
            </a:r>
          </a:p>
          <a:p xmlns:a="http://schemas.openxmlformats.org/drawingml/2006/main">
            <a:pPr>
              <a:buNone/>
            </a:pPr>
            <a:r>
              <a:rPr lang="en-US" sz="1100"/>
              <a:t>Focus on the existing task: This or That Would you rather have THIS or THAT box of gold coins?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a matching base and height. Ask which feature of their work supports the claim.</a:t>
            </a:r>
          </a:p>
          <a:p xmlns:a="http://schemas.openxmlformats.org/drawingml/2006/main">
            <a:pPr>
              <a:buNone/>
            </a:pPr>
            <a:r>
              <a:rPr lang="en-US" sz="1100"/>
              <a:t>RESPOND: If this task shows the lesson misconception—omitting the half or using a nonperpendicular side—trace the base and perpendicular height and relate the figure to the shown parallelogram.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Number-sense routine — every voice in. Give quiet think time, then hear from at least three students.</a:t>
            </a:r>
          </a:p>
          <a:p>
            <a:pPr indent="0" lvl="0" marL="0" rtl="0" algn="l">
              <a:lnSpc>
                <a:spcPct val="100000"/>
              </a:lnSpc>
              <a:spcBef>
                <a:spcPts val="0"/>
              </a:spcBef>
              <a:spcAft>
                <a:spcPts val="0"/>
              </a:spcAft>
              <a:buSzPts val="1400"/>
              <a:buNone/>
            </a:pPr>
            <a:r>
              <a:t>Always follow with “How do you know?” — the reasoning is the point, not the answer.</a:t>
            </a:r>
          </a:p>
          <a:p>
            <a:pPr indent="0" lvl="0" marL="0" rtl="0" algn="l">
              <a:lnSpc>
                <a:spcPct val="100000"/>
              </a:lnSpc>
              <a:spcBef>
                <a:spcPts val="0"/>
              </a:spcBef>
              <a:spcAft>
                <a:spcPts val="0"/>
              </a:spcAft>
              <a:buSzPts val="1400"/>
              <a:buNone/>
            </a:pPr>
            <a:r>
              <a:t>There is more than one path; name and celebrate different strategies.</a:t>
            </a:r>
          </a:p>
          <a:p>
            <a:pPr indent="0" lvl="0" marL="0" rtl="0" algn="l">
              <a:lnSpc>
                <a:spcPct val="100000"/>
              </a:lnSpc>
              <a:spcBef>
                <a:spcPts val="0"/>
              </a:spcBef>
              <a:spcAft>
                <a:spcPts val="0"/>
              </a:spcAft>
              <a:buSzPts val="1400"/>
              <a:buNone/>
            </a:pPr>
            <a:r>
              <a:t>UIFR: TEACH 3 · TEACH 5 · TEACH 6.</a:t>
            </a:r>
          </a:p>
        </p:txBody>
      </p:sp>
      <p:sp>
        <p:nvSpPr>
          <p:cNvPr id="239" name="Google Shape;239;p2: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5.2, slide 1 | WARMUP</a:t>
            </a:r>
          </a:p>
          <a:p xmlns:a="http://schemas.openxmlformats.org/drawingml/2006/main">
            <a:pPr>
              <a:buNone/>
            </a:pPr>
            <a:r>
              <a:rPr lang="en-US" sz="1100"/>
              <a:t>Focus on the existing task: Warm-Up WARM-UP · THINK • TRY • CHECK Do these four on…</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28, then 14   2) 9   3) 54 square meters   4) 4 centimeters</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identify a matching base and height; explain the factor one-half; use square units. Review recent work and today’s warm-up to choose flexible groups and access supports; do not infer needs from identity or perceived ability. Use the existing lesson tasks and stated standards.</a:t>
            </a:r>
          </a:p>
          <a:p>
            <a:pPr>
              <a:buNone/>
            </a:pPr>
            <a:r>
              <a:rPr lang="en-US" sz="1100"/>
              <a:t>Anticipate: omitting the half or using a nonperpendicular side. If observed, trace the base and perpendicular height and relate the figure to the shown parallelogram.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5" name="Google Shape;255;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5.2, slide 6 | GOAL</a:t>
            </a:r>
          </a:p>
          <a:p xmlns:a="http://schemas.openxmlformats.org/drawingml/2006/main">
            <a:pPr>
              <a:buNone/>
            </a:pPr>
            <a:r>
              <a:rPr lang="en-US" sz="1100"/>
              <a:t>Focus on the existing task: Today’s Objectives Determine the Area of Triangles Maryland…</a:t>
            </a:r>
          </a:p>
          <a:p xmlns:a="http://schemas.openxmlformats.org/drawingml/2006/main">
            <a:pPr>
              <a:buNone/>
            </a:pPr>
            <a:r>
              <a:rPr lang="en-US" sz="1100"/>
              <a:t>CONNECT (T1/4): Ask students to restate the displayed goal or key idea and connect it to earlier work. Relevant lesson evidence: identify a matching base and height; explain the factor one-half; use square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identify a matching base and height; explain the factor one-half; use square units. Ask: “Which part of your work would show this?” Revisit that evidence after the task; a confidence rating alone is not evidence of understanding.</a:t>
            </a:r>
          </a:p>
        </p:txBody>
      </p:sp>
      <p:sp>
        <p:nvSpPr>
          <p:cNvPr id="331" name="Google Shape;331;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5.2, slide 17 | VOCAB</a:t>
            </a:r>
          </a:p>
          <a:p xmlns:a="http://schemas.openxmlformats.org/drawingml/2006/main">
            <a:pPr>
              <a:buNone/>
            </a:pPr>
            <a:r>
              <a:rPr lang="en-US" sz="1100"/>
              <a:t>Focus on the existing task: Vocabulary Today’s Math Words We learn every word — what it…</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53" name="Google Shape;353;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1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5.2, slide 2 | NOTES</a:t>
            </a:r>
          </a:p>
          <a:p xmlns:a="http://schemas.openxmlformats.org/drawingml/2006/main">
            <a:pPr>
              <a:buNone/>
            </a:pPr>
            <a:r>
              <a:rPr lang="en-US" sz="1100"/>
              <a:t>Focus on the existing task: Today’s Math Notes Section 1: Math Words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41" name="Google Shape;541;p1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1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5.2, slide 3 | NOTES</a:t>
            </a:r>
          </a:p>
          <a:p xmlns:a="http://schemas.openxmlformats.org/drawingml/2006/main">
            <a:pPr>
              <a:buNone/>
            </a:pPr>
            <a:r>
              <a:rPr lang="en-US" sz="1100"/>
              <a:t>Focus on the existing task: Today’s Math Notes Section 2: Today’s Math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69" name="Google Shape;569;p1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5.2, slide 18 | TASK</a:t>
            </a:r>
          </a:p>
          <a:p xmlns:a="http://schemas.openxmlformats.org/drawingml/2006/main">
            <a:pPr>
              <a:buNone/>
            </a:pPr>
            <a:r>
              <a:rPr lang="en-US" sz="1100"/>
              <a:t>Focus on the existing task: What is the area of each of the triangles shown?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a matching base and height. Ask which feature of their work supports the claim.</a:t>
            </a:r>
          </a:p>
          <a:p xmlns:a="http://schemas.openxmlformats.org/drawingml/2006/main">
            <a:pPr>
              <a:buNone/>
            </a:pPr>
            <a:r>
              <a:rPr lang="en-US" sz="1100"/>
              <a:t>RESPOND: If this task shows the lesson misconception—omitting the half or using a nonperpendicular side—trace the base and perpendicular height and relate the figure to the shown parallelogram.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“How do two copies of this triangle explain the area formula?” Wait for evidence, invite another pathway, and have a student ask a follow-up question. Do not replace students’ reasoning with a sequence of leading steps.</a:t>
            </a:r>
          </a:p>
        </p:txBody>
      </p:sp>
      <p:sp>
        <p:nvSpPr>
          <p:cNvPr id="616" name="Google Shape;616;p1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2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5.2, slide 19 | REVEAL</a:t>
            </a:r>
          </a:p>
          <a:p xmlns:a="http://schemas.openxmlformats.org/drawingml/2006/main">
            <a:pPr>
              <a:buNone/>
            </a:pPr>
            <a:r>
              <a:rPr lang="en-US" sz="1100"/>
              <a:t>Focus on the existing task: Reveal: We can compose the triangle into a parallelogram to determine the area. How can you use what you know about finding the area of a parallelogram to find the area of Triangle A?</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a matching base and height. Ask which feature of their work supports the claim.</a:t>
            </a:r>
          </a:p>
          <a:p xmlns:a="http://schemas.openxmlformats.org/drawingml/2006/main">
            <a:pPr>
              <a:buNone/>
            </a:pPr>
            <a:r>
              <a:rPr lang="en-US" sz="1100"/>
              <a:t>RESPOND: If this task shows the lesson misconception—omitting the half or using a nonperpendicular side—trace the base and perpendicular height and relate the figure to the shown parallelogram.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compose the triangle into a parallelogram to determine the area .</a:t>
            </a:r>
          </a:p>
          <a:p>
            <a:pPr indent="0" lvl="0" marL="0" rtl="0" algn="l">
              <a:lnSpc>
                <a:spcPct val="100000"/>
              </a:lnSpc>
              <a:spcBef>
                <a:spcPts val="0"/>
              </a:spcBef>
              <a:spcAft>
                <a:spcPts val="0"/>
              </a:spcAft>
              <a:buSzPts val="1400"/>
              <a:buNone/>
            </a:pPr>
            <a:r>
              <a:t>UIFR: TEACH 3 · TEACH 4.</a:t>
            </a:r>
          </a:p>
        </p:txBody>
      </p:sp>
      <p:sp>
        <p:nvSpPr>
          <p:cNvPr id="660" name="Google Shape;660;p2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2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5.2, slide 20 | COLLABORATE</a:t>
            </a:r>
          </a:p>
          <a:p xmlns:a="http://schemas.openxmlformats.org/drawingml/2006/main">
            <a:pPr>
              <a:buNone/>
            </a:pPr>
            <a:r>
              <a:rPr lang="en-US" sz="1100"/>
              <a:t>Focus on the existing task: Reveal: We can compose the triangle into a parallelogram by copying and rotating the triangle. How can you compose the triangle into a parallelogram?</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a matching base and height. Ask which feature of their work supports the claim.</a:t>
            </a:r>
          </a:p>
          <a:p xmlns:a="http://schemas.openxmlformats.org/drawingml/2006/main">
            <a:pPr>
              <a:buNone/>
            </a:pPr>
            <a:r>
              <a:rPr lang="en-US" sz="1100"/>
              <a:t>RESPOND: If this task shows the lesson misconception—omitting the half or using a nonperpendicular side—trace the base and perpendicular height and relate the figure to the shown parallelogram.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omitting the half or using a nonperpendicular side. If it appears, trace the base and perpendicular height and relate the figure to the shown parallelogram; then ask the student to revise the same response and explain the change. If evidence is secure, have students compare a second valid pathway or state why their approach works. Choose the next step from the responses, not a preset pace.</a:t>
            </a:r>
          </a:p>
        </p:txBody>
      </p:sp>
      <p:sp>
        <p:nvSpPr>
          <p:cNvPr id="679" name="Google Shape;679;p2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2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5.2, slide 21 | TASK</a:t>
            </a:r>
          </a:p>
          <a:p xmlns:a="http://schemas.openxmlformats.org/drawingml/2006/main">
            <a:pPr>
              <a:buNone/>
            </a:pPr>
            <a:r>
              <a:rPr lang="en-US" sz="1100"/>
              <a:t>Focus on the existing task: Let’s compose the triangle into a parallelogram by copying and combining the triangle. How can you find the area of the resulting parallelogram?</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a matching base and height. Ask which feature of their work supports the claim.</a:t>
            </a:r>
          </a:p>
          <a:p xmlns:a="http://schemas.openxmlformats.org/drawingml/2006/main">
            <a:pPr>
              <a:buNone/>
            </a:pPr>
            <a:r>
              <a:rPr lang="en-US" sz="1100"/>
              <a:t>RESPOND: If this task shows the lesson misconception—omitting the half or using a nonperpendicular side—trace the base and perpendicular height and relate the figure to the shown parallelogram.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698" name="Google Shape;698;p2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3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5.2, slide 22 | REVEAL</a:t>
            </a:r>
          </a:p>
          <a:p xmlns:a="http://schemas.openxmlformats.org/drawingml/2006/main">
            <a:pPr>
              <a:buNone/>
            </a:pPr>
            <a:r>
              <a:rPr lang="en-US" sz="1100"/>
              <a:t>Focus on the existing task: Reveal: We used two copies of the triangle to compose the parallelogram. So, the area of the triangle is half the area of the…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explain the factor one-half. Ask which feature of their work supports the claim.</a:t>
            </a:r>
          </a:p>
          <a:p xmlns:a="http://schemas.openxmlformats.org/drawingml/2006/main">
            <a:pPr>
              <a:buNone/>
            </a:pPr>
            <a:r>
              <a:rPr lang="en-US" sz="1100"/>
              <a:t>RESPOND: If this task shows the lesson misconception—omitting the half or using a nonperpendicular side—trace the base and perpendicular height and relate the figure to the shown parallelogram.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used two copies of the triangle to compose the parallelogram. So, the area of the triangle is half the area of the parallelogram.</a:t>
            </a:r>
          </a:p>
          <a:p>
            <a:pPr indent="0" lvl="0" marL="0" rtl="0" algn="l">
              <a:lnSpc>
                <a:spcPct val="100000"/>
              </a:lnSpc>
              <a:spcBef>
                <a:spcPts val="0"/>
              </a:spcBef>
              <a:spcAft>
                <a:spcPts val="0"/>
              </a:spcAft>
              <a:buSzPts val="1400"/>
              <a:buNone/>
            </a:pPr>
            <a:r>
              <a:t>UIFR: TEACH 3 · TEACH 4.</a:t>
            </a:r>
          </a:p>
        </p:txBody>
      </p:sp>
      <p:sp>
        <p:nvSpPr>
          <p:cNvPr id="720" name="Google Shape;720;p3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3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5.2, slide 23 | TASK</a:t>
            </a:r>
          </a:p>
          <a:p xmlns:a="http://schemas.openxmlformats.org/drawingml/2006/main">
            <a:pPr>
              <a:buNone/>
            </a:pPr>
            <a:r>
              <a:rPr lang="en-US" sz="1100"/>
              <a:t>Focus on the existing task: Area of the parallelogram: Area of the triangle: How can you use this information to help you develop a formula for the area of a triangle?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a matching base and height. Ask which feature of their work supports the claim.</a:t>
            </a:r>
          </a:p>
          <a:p xmlns:a="http://schemas.openxmlformats.org/drawingml/2006/main">
            <a:pPr>
              <a:buNone/>
            </a:pPr>
            <a:r>
              <a:rPr lang="en-US" sz="1100"/>
              <a:t>RESPOND: If this task shows the lesson misconception—omitting the half or using a nonperpendicular side—trace the base and perpendicular height and relate the figure to the shown parallelogram.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33" name="Google Shape;733;p3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3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5.2, slide 24 | WORKED</a:t>
            </a:r>
          </a:p>
          <a:p xmlns:a="http://schemas.openxmlformats.org/drawingml/2006/main">
            <a:pPr>
              <a:buNone/>
            </a:pPr>
            <a:r>
              <a:rPr lang="en-US" sz="1100"/>
              <a:t>Focus on the existing task: We can write the formula that reflects half the area of a parallelogram. Area of the parallelogram: Area of the triangle: Triangles</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explain the factor one-half. Ask which feature of their work supports the claim.</a:t>
            </a:r>
          </a:p>
          <a:p xmlns:a="http://schemas.openxmlformats.org/drawingml/2006/main">
            <a:pPr>
              <a:buNone/>
            </a:pPr>
            <a:r>
              <a:rPr lang="en-US" sz="1100"/>
              <a:t>RESPOND: If this task shows the lesson misconception—omitting the half or using a nonperpendicular side—trace the base and perpendicular height and relate the figure to the shown parallelogram.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48" name="Google Shape;748;p3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3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5.2, slide 25 | REVEAL</a:t>
            </a:r>
          </a:p>
          <a:p xmlns:a="http://schemas.openxmlformats.org/drawingml/2006/main">
            <a:pPr>
              <a:buNone/>
            </a:pPr>
            <a:r>
              <a:rPr lang="en-US" sz="1100"/>
              <a:t>Focus on the existing task: What type of triangle is Triangle B?</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a matching base and height. Ask which feature of their work supports the claim.</a:t>
            </a:r>
          </a:p>
          <a:p xmlns:a="http://schemas.openxmlformats.org/drawingml/2006/main">
            <a:pPr>
              <a:buNone/>
            </a:pPr>
            <a:r>
              <a:rPr lang="en-US" sz="1100"/>
              <a:t>RESPOND: If this task shows the lesson misconception—omitting the half or using a nonperpendicular side—trace the base and perpendicular height and relate the figure to the shown parallelogram.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It is a right triangle, so the height of the triangle is the same as the vertical side connecting the base to the opposite vertex.</a:t>
            </a:r>
          </a:p>
          <a:p>
            <a:pPr indent="0" lvl="0" marL="0" rtl="0" algn="l">
              <a:lnSpc>
                <a:spcPct val="100000"/>
              </a:lnSpc>
              <a:spcBef>
                <a:spcPts val="0"/>
              </a:spcBef>
              <a:spcAft>
                <a:spcPts val="0"/>
              </a:spcAft>
              <a:buSzPts val="1400"/>
              <a:buNone/>
            </a:pPr>
            <a:r>
              <a:t>UIFR: TEACH 3 · TEACH 4.</a:t>
            </a:r>
          </a:p>
        </p:txBody>
      </p:sp>
      <p:sp>
        <p:nvSpPr>
          <p:cNvPr id="774" name="Google Shape;774;p3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3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5.2, slide 26 | TASK</a:t>
            </a:r>
          </a:p>
          <a:p xmlns:a="http://schemas.openxmlformats.org/drawingml/2006/main">
            <a:pPr>
              <a:buNone/>
            </a:pPr>
            <a:r>
              <a:rPr lang="en-US" sz="1100"/>
              <a:t>Focus on the existing task: Using Symbols Appropriately What units of measure are needed to be precise?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square units. Ask which feature of their work supports the claim.</a:t>
            </a:r>
          </a:p>
          <a:p xmlns:a="http://schemas.openxmlformats.org/drawingml/2006/main">
            <a:pPr>
              <a:buNone/>
            </a:pPr>
            <a:r>
              <a:rPr lang="en-US" sz="1100"/>
              <a:t>RESPOND: If this task shows the lesson misconception—omitting the half or using a nonperpendicular side—trace the base and perpendicular height and relate the figure to the shown parallelogram.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04" name="Google Shape;804;p3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p3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5.2, slide 27 | PRACTICE</a:t>
            </a:r>
          </a:p>
          <a:p xmlns:a="http://schemas.openxmlformats.org/drawingml/2006/main">
            <a:pPr>
              <a:buNone/>
            </a:pPr>
            <a:r>
              <a:rPr lang="en-US" sz="1100"/>
              <a:t>Focus on the existing task: Workspace Lucy found the area of the triangle shown by first taking half of the height and then multiplying the result by the base. Is this an acceptable way to find the area of a triangle?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a matching base and height. Ask which feature of their work supports the claim.</a:t>
            </a:r>
          </a:p>
          <a:p xmlns:a="http://schemas.openxmlformats.org/drawingml/2006/main">
            <a:pPr>
              <a:buNone/>
            </a:pPr>
            <a:r>
              <a:rPr lang="en-US" sz="1100"/>
              <a:t>RESPOND: If this task shows the lesson misconception—omitting the half or using a nonperpendicular side—trace the base and perpendicular height and relate the figure to the shown parallelogram.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819" name="Google Shape;819;p3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3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5.2, slide 32 | DIVIDER</a:t>
            </a:r>
          </a:p>
          <a:p xmlns:a="http://schemas.openxmlformats.org/drawingml/2006/main">
            <a:pPr>
              <a:buNone/>
            </a:pPr>
            <a:r>
              <a:rPr lang="en-US" sz="1100"/>
              <a:t>Focus on the existing task: Determine the Area of Triangles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828" name="Google Shape;828;p3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p4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5.2, slide 33 | TASK</a:t>
            </a:r>
          </a:p>
          <a:p xmlns:a="http://schemas.openxmlformats.org/drawingml/2006/main">
            <a:pPr>
              <a:buNone/>
            </a:pPr>
            <a:r>
              <a:rPr lang="en-US" sz="1100"/>
              <a:t>Focus on the existing task: Does the problem call for an estimate or an exact solution?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square units. Ask which feature of their work supports the claim.</a:t>
            </a:r>
          </a:p>
          <a:p xmlns:a="http://schemas.openxmlformats.org/drawingml/2006/main">
            <a:pPr>
              <a:buNone/>
            </a:pPr>
            <a:r>
              <a:rPr lang="en-US" sz="1100"/>
              <a:t>RESPOND: If this task shows the lesson misconception—omitting the half or using a nonperpendicular side—trace the base and perpendicular height and relate the figure to the shown parallelogram.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What is the approximate distance from Bermuda to San Juan?</a:t>
            </a:r>
          </a:p>
          <a:p>
            <a:pPr indent="0" lvl="0" marL="0" rtl="0" algn="l">
              <a:lnSpc>
                <a:spcPct val="100000"/>
              </a:lnSpc>
              <a:spcBef>
                <a:spcPts val="0"/>
              </a:spcBef>
              <a:spcAft>
                <a:spcPts val="0"/>
              </a:spcAft>
              <a:buSzPts val="1400"/>
              <a:buNone/>
            </a:pPr>
            <a:r>
              <a:t>UIFR: TEACH 1 · TEACH 3.</a:t>
            </a:r>
          </a:p>
        </p:txBody>
      </p:sp>
      <p:sp>
        <p:nvSpPr>
          <p:cNvPr id="866" name="Google Shape;866;p4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p4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5.2, slide 34 | REVEAL</a:t>
            </a:r>
          </a:p>
          <a:p xmlns:a="http://schemas.openxmlformats.org/drawingml/2006/main">
            <a:pPr>
              <a:buNone/>
            </a:pPr>
            <a:r>
              <a:rPr lang="en-US" sz="1100"/>
              <a:t>Focus on the existing task: What tool can you use to represent the problem?</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square units. Ask which feature of their work supports the claim.</a:t>
            </a:r>
          </a:p>
          <a:p xmlns:a="http://schemas.openxmlformats.org/drawingml/2006/main">
            <a:pPr>
              <a:buNone/>
            </a:pPr>
            <a:r>
              <a:rPr lang="en-US" sz="1100"/>
              <a:t>RESPOND: If this task shows the lesson misconception—omitting the half or using a nonperpendicular side—trace the base and perpendicular height and relate the figure to the shown parallelogram.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use a visual representation.</a:t>
            </a:r>
          </a:p>
          <a:p>
            <a:pPr indent="0" lvl="0" marL="0" rtl="0" algn="l">
              <a:lnSpc>
                <a:spcPct val="100000"/>
              </a:lnSpc>
              <a:spcBef>
                <a:spcPts val="0"/>
              </a:spcBef>
              <a:spcAft>
                <a:spcPts val="0"/>
              </a:spcAft>
              <a:buSzPts val="1400"/>
              <a:buNone/>
            </a:pPr>
            <a:r>
              <a:t>UIFR: TEACH 3 · TEACH 4.</a:t>
            </a:r>
          </a:p>
        </p:txBody>
      </p:sp>
      <p:sp>
        <p:nvSpPr>
          <p:cNvPr id="887" name="Google Shape;887;p4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p4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5.2, slide 35 | REVEAL</a:t>
            </a:r>
          </a:p>
          <a:p xmlns:a="http://schemas.openxmlformats.org/drawingml/2006/main">
            <a:pPr>
              <a:buNone/>
            </a:pPr>
            <a:r>
              <a:rPr lang="en-US" sz="1100"/>
              <a:t>Focus on the existing task: Step 1 Let’s create a visual representation of the problem. The Bermuda Triangle covers an area of about 437,409 square miles. What is the approximate distance from Bermuda to San Juan?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a matching base and height. Ask which feature of their work supports the claim.</a:t>
            </a:r>
          </a:p>
          <a:p xmlns:a="http://schemas.openxmlformats.org/drawingml/2006/main">
            <a:pPr>
              <a:buNone/>
            </a:pPr>
            <a:r>
              <a:rPr lang="en-US" sz="1100"/>
              <a:t>RESPOND: If this task shows the lesson misconception—omitting the half or using a nonperpendicular side—trace the base and perpendicular height and relate the figure to the shown parallelogram.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need to find the distance from Bermuda to San Juan, which is the base of the triangle.</a:t>
            </a:r>
          </a:p>
          <a:p>
            <a:pPr indent="0" lvl="0" marL="0" rtl="0" algn="l">
              <a:lnSpc>
                <a:spcPct val="100000"/>
              </a:lnSpc>
              <a:spcBef>
                <a:spcPts val="0"/>
              </a:spcBef>
              <a:spcAft>
                <a:spcPts val="0"/>
              </a:spcAft>
              <a:buSzPts val="1400"/>
              <a:buNone/>
            </a:pPr>
            <a:r>
              <a:t>UIFR: TEACH 3 · TEACH 4.</a:t>
            </a:r>
          </a:p>
        </p:txBody>
      </p:sp>
      <p:sp>
        <p:nvSpPr>
          <p:cNvPr id="907" name="Google Shape;907;p4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p4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5.2, slide 36 | REVEAL</a:t>
            </a:r>
          </a:p>
          <a:p xmlns:a="http://schemas.openxmlformats.org/drawingml/2006/main">
            <a:pPr>
              <a:buNone/>
            </a:pPr>
            <a:r>
              <a:rPr lang="en-US" sz="1100"/>
              <a:t>Focus on the existing task: Reveal: We can use the area formula for triangles. We need to find the distance from Bermuda to San Juan, which is the base of the…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a matching base and height. Ask which feature of their work supports the claim.</a:t>
            </a:r>
          </a:p>
          <a:p xmlns:a="http://schemas.openxmlformats.org/drawingml/2006/main">
            <a:pPr>
              <a:buNone/>
            </a:pPr>
            <a:r>
              <a:rPr lang="en-US" sz="1100"/>
              <a:t>RESPOND: If this task shows the lesson misconception—omitting the half or using a nonperpendicular side—trace the base and perpendicular height and relate the figure to the shown parallelogram.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use the area formula for triangles.</a:t>
            </a:r>
          </a:p>
          <a:p>
            <a:pPr indent="0" lvl="0" marL="0" rtl="0" algn="l">
              <a:lnSpc>
                <a:spcPct val="100000"/>
              </a:lnSpc>
              <a:spcBef>
                <a:spcPts val="0"/>
              </a:spcBef>
              <a:spcAft>
                <a:spcPts val="0"/>
              </a:spcAft>
              <a:buSzPts val="1400"/>
              <a:buNone/>
            </a:pPr>
            <a:r>
              <a:t>UIFR: TEACH 3 · TEACH 4.</a:t>
            </a:r>
          </a:p>
        </p:txBody>
      </p:sp>
      <p:sp>
        <p:nvSpPr>
          <p:cNvPr id="927" name="Google Shape;927;p4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p5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5.2, slide 37 | COLLABORATE</a:t>
            </a:r>
          </a:p>
          <a:p xmlns:a="http://schemas.openxmlformats.org/drawingml/2006/main">
            <a:pPr>
              <a:buNone/>
            </a:pPr>
            <a:r>
              <a:rPr lang="en-US" sz="1100"/>
              <a:t>Focus on the existing task: Collaborate and Connect Let’s use an area formula for triangles to find the base. What is the missing measure?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a matching base and height. Ask which feature of their work supports the claim.</a:t>
            </a:r>
          </a:p>
          <a:p xmlns:a="http://schemas.openxmlformats.org/drawingml/2006/main">
            <a:pPr>
              <a:buNone/>
            </a:pPr>
            <a:r>
              <a:rPr lang="en-US" sz="1100"/>
              <a:t>RESPOND: If this task shows the lesson misconception—omitting the half or using a nonperpendicular side—trace the base and perpendicular height and relate the figure to the shown parallelogram.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p:txBody>
      </p:sp>
      <p:sp>
        <p:nvSpPr>
          <p:cNvPr id="949" name="Google Shape;949;p5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p5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5.2, slide 38 | WORKED</a:t>
            </a:r>
          </a:p>
          <a:p xmlns:a="http://schemas.openxmlformats.org/drawingml/2006/main">
            <a:pPr>
              <a:buNone/>
            </a:pPr>
            <a:r>
              <a:rPr lang="en-US" sz="1100"/>
              <a:t>Focus on the existing task: Let’s substitute the given values for the area and the height for A and h in the formula, then solve for b. The Bermuda Triangle…</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identify a matching base and height. Ask which feature of their work supports the claim.</a:t>
            </a:r>
          </a:p>
          <a:p xmlns:a="http://schemas.openxmlformats.org/drawingml/2006/main">
            <a:pPr>
              <a:buNone/>
            </a:pPr>
            <a:r>
              <a:rPr lang="en-US" sz="1100"/>
              <a:t>RESPOND: If this task shows the lesson misconception—omitting the half or using a nonperpendicular side—trace the base and perpendicular height and relate the figure to the shown parallelogram.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971" name="Google Shape;971;p5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p5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5.2, slide 39 | TASK</a:t>
            </a:r>
          </a:p>
          <a:p xmlns:a="http://schemas.openxmlformats.org/drawingml/2006/main">
            <a:pPr>
              <a:buNone/>
            </a:pPr>
            <a:r>
              <a:rPr lang="en-US" sz="1100"/>
              <a:t>Focus on the existing task: The approximate distance from Bermuda to San Juan, Puerto Rico, is 954 miles. The Bermuda Triangle is an area in the Atlantic Ocean…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square units. Ask which feature of their work supports the claim.</a:t>
            </a:r>
          </a:p>
          <a:p xmlns:a="http://schemas.openxmlformats.org/drawingml/2006/main">
            <a:pPr>
              <a:buNone/>
            </a:pPr>
            <a:r>
              <a:rPr lang="en-US" sz="1100"/>
              <a:t>RESPOND: If this task shows the lesson misconception—omitting the half or using a nonperpendicular side—trace the base and perpendicular height and relate the figure to the shown parallelogram.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Apply task — students try it independently first, then partners compare answers and reasoning.</a:t>
            </a:r>
          </a:p>
          <a:p>
            <a:pPr indent="0" lvl="0" marL="0" rtl="0" algn="l">
              <a:lnSpc>
                <a:spcPct val="100000"/>
              </a:lnSpc>
              <a:spcBef>
                <a:spcPts val="0"/>
              </a:spcBef>
              <a:spcAft>
                <a:spcPts val="0"/>
              </a:spcAft>
              <a:buSzPts val="1400"/>
              <a:buNone/>
            </a:pPr>
            <a:r>
              <a:t>Collect a quick pulse (thumbs or whiteboards) before the close; this tells you who needs a second look tomorrow.</a:t>
            </a:r>
          </a:p>
          <a:p>
            <a:pPr indent="0" lvl="0" marL="0" rtl="0" algn="l">
              <a:lnSpc>
                <a:spcPct val="100000"/>
              </a:lnSpc>
              <a:spcBef>
                <a:spcPts val="0"/>
              </a:spcBef>
              <a:spcAft>
                <a:spcPts val="0"/>
              </a:spcAft>
              <a:buSzPts val="1400"/>
              <a:buNone/>
            </a:pPr>
            <a:r>
              <a:t>UIFR: TEACH 2 · TEACH 4.</a:t>
            </a:r>
          </a:p>
        </p:txBody>
      </p:sp>
      <p:sp>
        <p:nvSpPr>
          <p:cNvPr id="981" name="Google Shape;981;p5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5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5.2, slide 40 | PRACTICE</a:t>
            </a:r>
          </a:p>
          <a:p xmlns:a="http://schemas.openxmlformats.org/drawingml/2006/main">
            <a:pPr>
              <a:buNone/>
            </a:pPr>
            <a:r>
              <a:rPr lang="en-US" sz="1100"/>
              <a:t>Focus on the existing task: What other information would you need to calculate the distance from San Juan to Miami using the area formula?</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a matching base and height. Ask which feature of their work supports the claim.</a:t>
            </a:r>
          </a:p>
          <a:p xmlns:a="http://schemas.openxmlformats.org/drawingml/2006/main">
            <a:pPr>
              <a:buNone/>
            </a:pPr>
            <a:r>
              <a:rPr lang="en-US" sz="1100"/>
              <a:t>RESPOND: If this task shows the lesson misconception—omitting the half or using a nonperpendicular side—trace the base and perpendicular height and relate the figure to the shown parallelogram.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990" name="Google Shape;990;p5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p5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5.2, slide 42 | SUMMARIZE</a:t>
            </a:r>
          </a:p>
          <a:p xmlns:a="http://schemas.openxmlformats.org/drawingml/2006/main">
            <a:pPr>
              <a:buNone/>
            </a:pPr>
            <a:r>
              <a:rPr lang="en-US" sz="1100"/>
              <a:t>Focus on the existing task: Summarize: Determine the Area of Triangles SUMMARIZE · SAY IT IN YOUR OWN WORDS</a:t>
            </a:r>
          </a:p>
          <a:p xmlns:a="http://schemas.openxmlformats.org/drawingml/2006/main">
            <a:pPr>
              <a:buNone/>
            </a:pPr>
            <a:r>
              <a:rPr lang="en-US" sz="1100"/>
              <a:t>CONNECT (T1/4): Ask students to restate the displayed goal or key idea and connect it to earlier work. Relevant lesson evidence: identify a matching base and height; explain the factor one-half; use square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998" name="Google Shape;998;p5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p5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5.2, slide 43 | APPLY</a:t>
            </a:r>
          </a:p>
          <a:p xmlns:a="http://schemas.openxmlformats.org/drawingml/2006/main">
            <a:pPr>
              <a:buNone/>
            </a:pPr>
            <a:r>
              <a:rPr lang="en-US" sz="1100"/>
              <a:t>Focus on the existing task: Apply: Painting a Cabin APPLY · PLAN IT • SOLVE IT • PROVE IT</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identify a matching base and height. Ask which feature of their work supports the claim.</a:t>
            </a:r>
          </a:p>
          <a:p xmlns:a="http://schemas.openxmlformats.org/drawingml/2006/main">
            <a:pPr>
              <a:buNone/>
            </a:pPr>
            <a:r>
              <a:rPr lang="en-US" sz="1100"/>
              <a:t>RESPOND: If this task shows the lesson misconception—omitting the half or using a nonperpendicular side—trace the base and perpendicular height and relate the figure to the shown parallelogram.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identify a matching base and height; explain the factor one-half; use square units. Respond with one specific next step tied to the work. Students revise and annotate what changed, then identify a criterion they can now demonstrate and one they still need to practice.</a:t>
            </a:r>
          </a:p>
        </p:txBody>
      </p:sp>
      <p:sp>
        <p:nvSpPr>
          <p:cNvPr id="1008" name="Google Shape;1008;p5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5.2, slide 30 | WARMUP</a:t>
            </a:r>
          </a:p>
          <a:p xmlns:a="http://schemas.openxmlformats.org/drawingml/2006/main">
            <a:pPr>
              <a:buNone/>
            </a:pPr>
            <a:r>
              <a:rPr lang="en-US" sz="1100"/>
              <a:t>Focus on the existing task: Warm-Up Session 2 Warm-Up Check what you remember from Session 1 1 Which formula gives the area of a triangle?</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5.2, slide 31 | NOTES</a:t>
            </a:r>
          </a:p>
          <a:p xmlns:a="http://schemas.openxmlformats.org/drawingml/2006/main">
            <a:pPr>
              <a:buNone/>
            </a:pPr>
            <a:r>
              <a:rPr lang="en-US" sz="1100"/>
              <a:t>Focus on the existing task: Review Notes — Session 2 Session 2: Review Notes Copy into…</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6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5.2, slide 44 | REFLECTION</a:t>
            </a:r>
          </a:p>
          <a:p xmlns:a="http://schemas.openxmlformats.org/drawingml/2006/main">
            <a:pPr>
              <a:buNone/>
            </a:pPr>
            <a:r>
              <a:rPr lang="en-US" sz="1100"/>
              <a:t>Focus on the existing task: Learning Targets I can find the area of a triangle by composing it into a parallelogram and by using a formula. I can attend to precision…</a:t>
            </a:r>
          </a:p>
          <a:p xmlns:a="http://schemas.openxmlformats.org/drawingml/2006/main">
            <a:pPr>
              <a:buNone/>
            </a:pPr>
            <a:r>
              <a:rPr lang="en-US" sz="1100"/>
              <a:t>CONNECT (T1/4): Ask students to restate the displayed goal or key idea and connect it to earlier work. Relevant lesson evidence: identify a matching base and height; explain the factor one-half; use square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omitting the half or using a nonperpendicular side.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trace the base and perpendicular height and relate the figure to the shown parallelogram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6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5.2, slide 7 | PRIOR_INSERT</a:t>
            </a:r>
          </a:p>
          <a:p xmlns:a="http://schemas.openxmlformats.org/drawingml/2006/main">
            <a:pPr>
              <a:buNone/>
            </a:pPr>
            <a:r>
              <a:rPr lang="en-US" sz="1100"/>
              <a:t>Focus on the existing task: LESSON 5.2 / OUR LEARNING What will show your learning?</a:t>
            </a:r>
          </a:p>
          <a:p xmlns:a="http://schemas.openxmlformats.org/drawingml/2006/main">
            <a:pPr>
              <a:buNone/>
            </a:pPr>
            <a:r>
              <a:rPr lang="en-US" sz="1100"/>
              <a:t>CONNECT (T1/4): Ask students to restate the displayed goal or key idea and connect it to earlier work. Relevant lesson evidence: identify a matching base and height; explain the factor one-half; use square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5.2, slide 8 | VOCAB</a:t>
            </a:r>
          </a:p>
          <a:p xmlns:a="http://schemas.openxmlformats.org/drawingml/2006/main">
            <a:pPr>
              <a:buNone/>
            </a:pPr>
            <a:r>
              <a:rPr lang="en-US" sz="1100"/>
              <a:t>Focus on the existing task: Vocabulary 1 of 8 Area of a Triangle The space inside a…</a:t>
            </a:r>
          </a:p>
          <a:p xmlns:a="http://schemas.openxmlformats.org/drawingml/2006/main">
            <a:pPr>
              <a:buNone/>
            </a:pPr>
            <a:r>
              <a:rPr lang="en-US" sz="1100"/>
              <a:t>ASK (T1/3/5): Where does “Area of a Triangle”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5.2, slide 9 | VOCAB</a:t>
            </a:r>
          </a:p>
          <a:p xmlns:a="http://schemas.openxmlformats.org/drawingml/2006/main">
            <a:pPr>
              <a:buNone/>
            </a:pPr>
            <a:r>
              <a:rPr lang="en-US" sz="1100"/>
              <a:t>Focus on the existing task: Vocabulary 2 of 8 Base Any side of a triangle can be the…</a:t>
            </a:r>
          </a:p>
          <a:p xmlns:a="http://schemas.openxmlformats.org/drawingml/2006/main">
            <a:pPr>
              <a:buNone/>
            </a:pPr>
            <a:r>
              <a:rPr lang="en-US" sz="1100"/>
              <a:t>ASK (T1/3/5): Where does “Base”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5.2, slide 10 | VOCAB</a:t>
            </a:r>
          </a:p>
          <a:p xmlns:a="http://schemas.openxmlformats.org/drawingml/2006/main">
            <a:pPr>
              <a:buNone/>
            </a:pPr>
            <a:r>
              <a:rPr lang="en-US" sz="1100"/>
              <a:t>Focus on the existing task: Vocabulary 3 of 8 Height The straight-up distance from the…</a:t>
            </a:r>
          </a:p>
          <a:p xmlns:a="http://schemas.openxmlformats.org/drawingml/2006/main">
            <a:pPr>
              <a:buNone/>
            </a:pPr>
            <a:r>
              <a:rPr lang="en-US" sz="1100"/>
              <a:t>ASK (T1/3/5): Where does “Height”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5.2, slide 11 | VOCAB</a:t>
            </a:r>
          </a:p>
          <a:p xmlns:a="http://schemas.openxmlformats.org/drawingml/2006/main">
            <a:pPr>
              <a:buNone/>
            </a:pPr>
            <a:r>
              <a:rPr lang="en-US" sz="1100"/>
              <a:t>Focus on the existing task: Vocabulary 4 of 8 Area How much space is inside a flat…</a:t>
            </a:r>
          </a:p>
          <a:p xmlns:a="http://schemas.openxmlformats.org/drawingml/2006/main">
            <a:pPr>
              <a:buNone/>
            </a:pPr>
            <a:r>
              <a:rPr lang="en-US" sz="1100"/>
              <a:t>ASK (T1/3/5): Where does “Area”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5.2, slide 12 | VOCAB</a:t>
            </a:r>
          </a:p>
          <a:p xmlns:a="http://schemas.openxmlformats.org/drawingml/2006/main">
            <a:pPr>
              <a:buNone/>
            </a:pPr>
            <a:r>
              <a:rPr lang="en-US" sz="1100"/>
              <a:t>Focus on the existing task: Vocabulary 5 of 8 Perpendicular Two lines that meet to…</a:t>
            </a:r>
          </a:p>
          <a:p xmlns:a="http://schemas.openxmlformats.org/drawingml/2006/main">
            <a:pPr>
              <a:buNone/>
            </a:pPr>
            <a:r>
              <a:rPr lang="en-US" sz="1100"/>
              <a:t>ASK (T1/3/5): Where does “Perpendicular”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5.2, slide 13 | VOCAB</a:t>
            </a:r>
          </a:p>
          <a:p xmlns:a="http://schemas.openxmlformats.org/drawingml/2006/main">
            <a:pPr>
              <a:buNone/>
            </a:pPr>
            <a:r>
              <a:rPr lang="en-US" sz="1100"/>
              <a:t>Focus on the existing task: Vocabulary 6 of 8 Composite figure A shape made by putting…</a:t>
            </a:r>
          </a:p>
          <a:p xmlns:a="http://schemas.openxmlformats.org/drawingml/2006/main">
            <a:pPr>
              <a:buNone/>
            </a:pPr>
            <a:r>
              <a:rPr lang="en-US" sz="1100"/>
              <a:t>ASK (T1/3/5): Where does “Composite figure”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5.2, slide 14 | VOCAB</a:t>
            </a:r>
          </a:p>
          <a:p xmlns:a="http://schemas.openxmlformats.org/drawingml/2006/main">
            <a:pPr>
              <a:buNone/>
            </a:pPr>
            <a:r>
              <a:rPr lang="en-US" sz="1100"/>
              <a:t>Focus on the existing task: Vocabulary 7 of 8 Formula A math rule written with symbols.</a:t>
            </a:r>
          </a:p>
          <a:p xmlns:a="http://schemas.openxmlformats.org/drawingml/2006/main">
            <a:pPr>
              <a:buNone/>
            </a:pPr>
            <a:r>
              <a:rPr lang="en-US" sz="1100"/>
              <a:t>ASK (T1/3/5): Where does “Formula”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5.2, slide 15 | VOCAB</a:t>
            </a:r>
          </a:p>
          <a:p xmlns:a="http://schemas.openxmlformats.org/drawingml/2006/main">
            <a:pPr>
              <a:buNone/>
            </a:pPr>
            <a:r>
              <a:rPr lang="en-US" sz="1100"/>
              <a:t>Focus on the existing task: Vocabulary 8 of 8 Parallel Two lines or sides that stay…</a:t>
            </a:r>
          </a:p>
          <a:p xmlns:a="http://schemas.openxmlformats.org/drawingml/2006/main">
            <a:pPr>
              <a:buNone/>
            </a:pPr>
            <a:r>
              <a:rPr lang="en-US" sz="1100"/>
              <a:t>ASK (T1/3/5): Where does “Parallel”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5.2, slide 16 | CURIOUS</a:t>
            </a:r>
          </a:p>
          <a:p xmlns:a="http://schemas.openxmlformats.org/drawingml/2006/main">
            <a:pPr>
              <a:buNone/>
            </a:pPr>
            <a:r>
              <a:rPr lang="en-US" sz="1100"/>
              <a:t>Focus on the existing task: Be Curious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identify a matching base and height. Ask which feature of their work supports the claim.</a:t>
            </a:r>
          </a:p>
          <a:p xmlns:a="http://schemas.openxmlformats.org/drawingml/2006/main">
            <a:pPr>
              <a:buNone/>
            </a:pPr>
            <a:r>
              <a:rPr lang="en-US" sz="1100"/>
              <a:t>RESPOND: If this task shows the lesson misconception—omitting the half or using a nonperpendicular side—trace the base and perpendicular height and relate the figure to the shown parallelogram.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5.2, slide 28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identify a matching base and height; explain the factor one-half; use square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5.2, slide 29 | CURIOUS</a:t>
            </a:r>
          </a:p>
          <a:p xmlns:a="http://schemas.openxmlformats.org/drawingml/2006/main">
            <a:pPr>
              <a:buNone/>
            </a:pPr>
            <a:r>
              <a:rPr lang="en-US" sz="1100"/>
              <a:t>Focus on the existing task: How are you establishing a positive relationship with a classmate in math class?</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identify a matching base and height. Ask which feature of their work supports the claim.</a:t>
            </a:r>
          </a:p>
          <a:p xmlns:a="http://schemas.openxmlformats.org/drawingml/2006/main">
            <a:pPr>
              <a:buNone/>
            </a:pPr>
            <a:r>
              <a:rPr lang="en-US" sz="1100"/>
              <a:t>RESPOND: If this task shows the lesson misconception—omitting the half or using a nonperpendicular side—trace the base and perpendicular height and relate the figure to the shown parallelogram.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5.2, slide 41 | PRIOR_INSERT</a:t>
            </a:r>
          </a:p>
          <a:p xmlns:a="http://schemas.openxmlformats.org/drawingml/2006/main">
            <a:pPr>
              <a:buNone/>
            </a:pPr>
            <a:r>
              <a:rPr lang="en-US" sz="1100"/>
              <a:t>Focus on the existing task: LESSON 5.2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identify a matching base and height; explain the factor one-half; use square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5.2, slide 45 | PRIOR_INSERT</a:t>
            </a:r>
          </a:p>
          <a:p xmlns:a="http://schemas.openxmlformats.org/drawingml/2006/main">
            <a:pPr>
              <a:buNone/>
            </a:pPr>
            <a:r>
              <a:rPr lang="en-US" sz="1100"/>
              <a:t>Focus on the existing task: LESSON 5.2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identify a matching base and height; explain the factor one-half; use square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4.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Determine the Area of Triangles</a:t>
            </a:r>
            <a:endParaRPr b="0" i="0" sz="1400" u="none" cap="none" strike="noStrik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Determine the Area of Triangles</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6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notesSlide" Target="../notesSlides/notesSlide6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notesSlide" Target="../notesSlides/notesSlide6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6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6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6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6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7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notesSlide" Target="../notesSlides/notesSlide7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16.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19.png"/><Relationship Id="rId4" Type="http://schemas.openxmlformats.org/officeDocument/2006/relationships/image" Target="../media/image34.png"/><Relationship Id="rId5"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33.png"/><Relationship Id="rId4" Type="http://schemas.openxmlformats.org/officeDocument/2006/relationships/image" Target="../media/image23.png"/><Relationship Id="rId5" Type="http://schemas.openxmlformats.org/officeDocument/2006/relationships/image" Target="../media/image28.png"/><Relationship Id="rId6" Type="http://schemas.openxmlformats.org/officeDocument/2006/relationships/image" Target="../media/image25.png"/><Relationship Id="rId7" Type="http://schemas.openxmlformats.org/officeDocument/2006/relationships/image" Target="../media/image21.png"/><Relationship Id="rId8" Type="http://schemas.openxmlformats.org/officeDocument/2006/relationships/image" Target="../media/image27.png"/><Relationship Id="rId9"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33.png"/><Relationship Id="rId4" Type="http://schemas.openxmlformats.org/officeDocument/2006/relationships/image" Target="../media/image23.png"/><Relationship Id="rId5" Type="http://schemas.openxmlformats.org/officeDocument/2006/relationships/image" Target="../media/image28.png"/><Relationship Id="rId6" Type="http://schemas.openxmlformats.org/officeDocument/2006/relationships/image" Target="../media/image21.png"/><Relationship Id="rId7" Type="http://schemas.openxmlformats.org/officeDocument/2006/relationships/image" Target="../media/image27.png"/><Relationship Id="rId8" Type="http://schemas.openxmlformats.org/officeDocument/2006/relationships/image" Target="../media/image26.png"/><Relationship Id="rId9"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40.png"/><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24.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30.png"/><Relationship Id="rId4" Type="http://schemas.openxmlformats.org/officeDocument/2006/relationships/notesSlide" Target="../notesSlides/notesSlide7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png"/><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42.png"/><Relationship Id="rId4" Type="http://schemas.openxmlformats.org/officeDocument/2006/relationships/image" Target="../media/image41.png"/><Relationship Id="rId5" Type="http://schemas.openxmlformats.org/officeDocument/2006/relationships/image" Target="../media/image4.png"/><Relationship Id="rId6" Type="http://schemas.openxmlformats.org/officeDocument/2006/relationships/image" Target="../media/image4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46.png"/><Relationship Id="rId4" Type="http://schemas.openxmlformats.org/officeDocument/2006/relationships/image" Target="../media/image38.png"/><Relationship Id="rId5" Type="http://schemas.openxmlformats.org/officeDocument/2006/relationships/image" Target="../media/image4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3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44.png"/><Relationship Id="rId4" Type="http://schemas.openxmlformats.org/officeDocument/2006/relationships/image" Target="../media/image3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47.png"/><Relationship Id="rId4" Type="http://schemas.openxmlformats.org/officeDocument/2006/relationships/image" Target="../media/image45.png"/><Relationship Id="rId5" Type="http://schemas.openxmlformats.org/officeDocument/2006/relationships/image" Target="../media/image50.png"/><Relationship Id="rId6" Type="http://schemas.openxmlformats.org/officeDocument/2006/relationships/image" Target="../media/image4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51.png"/><Relationship Id="rId4" Type="http://schemas.openxmlformats.org/officeDocument/2006/relationships/image" Target="../media/image4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8"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59"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5-2 · Determine the Area of Triangles   |   Warm-Up · about 4 minutes</a:t>
            </a:r>
          </a:p>
        </p:txBody>
      </p:sp>
      <p:sp>
        <p:nvSpPr>
          <p:cNvPr id="260"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1"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2"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5"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7 × 4 = ______, and half of that is ______</a:t>
            </a:r>
          </a:p>
        </p:txBody>
      </p:sp>
      <p:sp>
        <p:nvSpPr>
          <p:cNvPr id="266"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69"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1/2 × 18 = ______</a:t>
            </a:r>
          </a:p>
        </p:txBody>
      </p:sp>
      <p:sp>
        <p:nvSpPr>
          <p:cNvPr id="270"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3"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A parallelogram has base 9 m and height 6 m. Area = ______</a:t>
            </a:r>
          </a:p>
        </p:txBody>
      </p:sp>
      <p:sp>
        <p:nvSpPr>
          <p:cNvPr id="274"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7"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Triangle: base 10 cm, slanted side 7 cm, height 4 cm.</a:t>
            </a:r>
          </a:p>
          <a:p>
            <a:pPr algn="l"/>
            <a:r>
              <a:rPr sz="1800" b="1">
                <a:solidFill>
                  <a:srgbClr val="23282D"/>
                </a:solidFill>
                <a:latin typeface="Arial"/>
              </a:rPr>
              <a:t>The height is ______</a:t>
            </a:r>
          </a:p>
        </p:txBody>
      </p:sp>
      <p:sp>
        <p:nvSpPr>
          <p:cNvPr id="278"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79"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50</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5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4" name="Google Shape;544;p54"/>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5" name="Google Shape;545;p5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46" name="Google Shape;546;p5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5-2 · Determine the Area of Triangles</a:t>
            </a:r>
            <a:endParaRPr/>
          </a:p>
        </p:txBody>
      </p:sp>
      <p:sp>
        <p:nvSpPr>
          <p:cNvPr id="547" name="Google Shape;547;p5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8" name="Google Shape;548;p5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49" name="Google Shape;549;p54"/>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550" name="Google Shape;550;p54"/>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1" name="Google Shape;551;p54"/>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52" name="Google Shape;552;p54"/>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3" name="Google Shape;553;p54"/>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4" name="Google Shape;554;p54"/>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55" name="Google Shape;555;p54"/>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Area of a Triangle</a:t>
            </a:r>
            <a:endParaRPr/>
          </a:p>
        </p:txBody>
      </p:sp>
      <p:sp>
        <p:nvSpPr>
          <p:cNvPr id="556" name="Google Shape;556;p54"/>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The space inside a </a:t>
            </a:r>
            <a:r>
              <a:rPr b="1" i="0" lang="en-US" sz="1450" u="none" cap="none" strike="noStrike">
                <a:solidFill>
                  <a:srgbClr val="475569"/>
                </a:solidFill>
                <a:latin typeface="Arial"/>
                <a:ea typeface="Arial"/>
                <a:cs typeface="Arial"/>
                <a:sym typeface="Arial"/>
              </a:rPr>
              <a:t xml:space="preserve">triangle</a:t>
            </a:r>
            <a:endParaRPr/>
          </a:p>
        </p:txBody>
      </p:sp>
      <p:sp>
        <p:nvSpPr>
          <p:cNvPr id="557" name="Google Shape;557;p54"/>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8" name="Google Shape;558;p54"/>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9" name="Google Shape;559;p54"/>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60" name="Google Shape;560;p54"/>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Base</a:t>
            </a:r>
            <a:endParaRPr/>
          </a:p>
        </p:txBody>
      </p:sp>
      <p:sp>
        <p:nvSpPr>
          <p:cNvPr id="561" name="Google Shape;561;p54"/>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Any side of a triangle can be the </a:t>
            </a:r>
            <a:r>
              <a:rPr b="1" i="0" lang="en-US" sz="1450" u="none" cap="none" strike="noStrike">
                <a:solidFill>
                  <a:srgbClr val="475569"/>
                </a:solidFill>
                <a:latin typeface="Arial"/>
                <a:ea typeface="Arial"/>
                <a:cs typeface="Arial"/>
                <a:sym typeface="Arial"/>
              </a:rPr>
              <a:t xml:space="preserve">base</a:t>
            </a:r>
            <a:endParaRPr/>
          </a:p>
        </p:txBody>
      </p:sp>
      <p:sp>
        <p:nvSpPr>
          <p:cNvPr id="562" name="Google Shape;562;p54"/>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3" name="Google Shape;563;p54"/>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4" name="Google Shape;564;p54"/>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65" name="Google Shape;565;p54"/>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Height</a:t>
            </a:r>
            <a:endParaRPr/>
          </a:p>
        </p:txBody>
      </p:sp>
      <p:sp>
        <p:nvSpPr>
          <p:cNvPr id="566" name="Google Shape;566;p54"/>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The straight-up distance from the base to the top corner</a:t>
            </a:r>
            <a:endParaRPr/>
          </a:p>
        </p:txBody>
      </p:sp>
      <p:sp>
        <p:nvSpPr>
          <p:cNvPr id="56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50</a:t>
            </a:r>
          </a:p>
        </p:txBody>
      </p:sp>
      <p:grpSp>
        <p:nvGrpSpPr>
          <p:cNvPr id="568" name="TEACH-1-student-move" descr="TEACH 1 · Facilitate clear, standards-based content learning"/>
          <p:cNvGrpSpPr/>
          <p:nvPr/>
        </p:nvGrpSpPr>
        <p:grpSpPr>
          <a:xfrm>
            <a:off x="6187440" y="1682496"/>
            <a:ext cx="5501640" cy="594360"/>
            <a:chOff x="6187440" y="1682496"/>
            <a:chExt cx="5501640" cy="594360"/>
          </a:xfrm>
        </p:grpSpPr>
        <p:sp>
          <p:nvSpPr>
            <p:cNvPr id="569"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70"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71"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5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2" name="Google Shape;572;p55"/>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3" name="Google Shape;573;p5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Today’s Math Notes</a:t>
            </a:r>
            <a:endParaRPr/>
          </a:p>
        </p:txBody>
      </p:sp>
      <p:sp>
        <p:nvSpPr>
          <p:cNvPr id="574" name="Google Shape;574;p5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400" u="none" cap="none" strike="noStrike">
                <a:solidFill>
                  <a:srgbClr val="FFFFFF"/>
                </a:solidFill>
                <a:latin typeface="Arial"/>
                <a:ea typeface="Arial"/>
                <a:cs typeface="Arial"/>
                <a:sym typeface="Arial"/>
              </a:rPr>
              <a:t>Lesson 5-2 · Determine the Area of Triangles</a:t>
            </a:r>
            <a:endParaRPr/>
          </a:p>
        </p:txBody>
      </p:sp>
      <p:sp>
        <p:nvSpPr>
          <p:cNvPr id="575" name="Google Shape;575;p5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6" name="Google Shape;576;p5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77" name="Google Shape;577;p55"/>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14223A"/>
                </a:solidFill>
                <a:latin typeface="Arial"/>
                <a:ea typeface="Arial"/>
                <a:cs typeface="Arial"/>
                <a:sym typeface="Arial"/>
              </a:rPr>
              <a:t>Section 2: Today’s Math</a:t>
            </a:r>
            <a:endParaRPr/>
          </a:p>
        </p:txBody>
      </p:sp>
      <p:sp>
        <p:nvSpPr>
          <p:cNvPr id="578" name="Google Shape;578;p55"/>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9" name="Google Shape;579;p55"/>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Copy. Explain. Check.</a:t>
            </a:r>
            <a:endParaRPr/>
          </a:p>
        </p:txBody>
      </p:sp>
      <p:sp>
        <p:nvSpPr>
          <p:cNvPr id="580" name="Google Shape;580;p55"/>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1" name="Google Shape;581;p55"/>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2700" u="none" cap="none" strike="noStrike">
                <a:solidFill>
                  <a:srgbClr val="14223A"/>
                </a:solidFill>
                <a:latin typeface="Arial"/>
                <a:ea typeface="Arial"/>
                <a:cs typeface="Arial"/>
                <a:sym typeface="Arial"/>
              </a:rPr>
              <a:t>Area of Triangles</a:t>
            </a:r>
            <a:endParaRPr/>
          </a:p>
        </p:txBody>
      </p:sp>
      <p:sp>
        <p:nvSpPr>
          <p:cNvPr id="582" name="Google Shape;582;p55"/>
          <p:cNvSpPr/>
          <p:nvPr/>
        </p:nvSpPr>
        <p:spPr>
          <a:xfrm>
            <a:off x="64008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3" name="Google Shape;583;p55"/>
          <p:cNvSpPr txBox="1"/>
          <p:nvPr/>
        </p:nvSpPr>
        <p:spPr>
          <a:xfrm>
            <a:off x="768096"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50" u="none" cap="none" strike="noStrike">
                <a:solidFill>
                  <a:srgbClr val="C2410C"/>
                </a:solidFill>
                <a:latin typeface="Arial"/>
                <a:ea typeface="Arial"/>
                <a:cs typeface="Arial"/>
                <a:sym typeface="Arial"/>
              </a:rPr>
              <a:t>Area = ½ × Base × Height (A = ½ b · h)</a:t>
            </a:r>
            <a:endParaRPr/>
          </a:p>
        </p:txBody>
      </p:sp>
      <p:sp>
        <p:nvSpPr>
          <p:cNvPr id="584" name="Google Shape;584;p55"/>
          <p:cNvSpPr/>
          <p:nvPr/>
        </p:nvSpPr>
        <p:spPr>
          <a:xfrm>
            <a:off x="640080" y="4005072"/>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5" name="Google Shape;585;p55"/>
          <p:cNvSpPr/>
          <p:nvPr/>
        </p:nvSpPr>
        <p:spPr>
          <a:xfrm>
            <a:off x="896112" y="41513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86" name="Google Shape;586;p55"/>
          <p:cNvSpPr txBox="1"/>
          <p:nvPr/>
        </p:nvSpPr>
        <p:spPr>
          <a:xfrm>
            <a:off x="1371600" y="4087368"/>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Identify the </a:t>
            </a:r>
            <a:r>
              <a:rPr b="1" i="0" lang="en-US" sz="1600" u="none" cap="none" strike="noStrike">
                <a:solidFill>
                  <a:srgbClr val="14223A"/>
                </a:solidFill>
                <a:latin typeface="Arial"/>
                <a:ea typeface="Arial"/>
                <a:cs typeface="Arial"/>
                <a:sym typeface="Arial"/>
              </a:rPr>
              <a:t xml:space="preserve">base</a:t>
            </a:r>
            <a:r>
              <a:rPr b="0" i="0" lang="en-US" sz="1600" u="none" cap="none" strike="noStrike">
                <a:solidFill>
                  <a:srgbClr val="14223A"/>
                </a:solidFill>
                <a:latin typeface="Arial"/>
                <a:ea typeface="Arial"/>
                <a:cs typeface="Arial"/>
                <a:sym typeface="Arial"/>
              </a:rPr>
              <a:t xml:space="preserve"> and the </a:t>
            </a:r>
            <a:r>
              <a:rPr b="1" i="0" lang="en-US" sz="1600" u="none" cap="none" strike="noStrike">
                <a:solidFill>
                  <a:srgbClr val="14223A"/>
                </a:solidFill>
                <a:latin typeface="Arial"/>
                <a:ea typeface="Arial"/>
                <a:cs typeface="Arial"/>
                <a:sym typeface="Arial"/>
              </a:rPr>
              <a:t xml:space="preserve">perpendicular</a:t>
            </a:r>
            <a:r>
              <a:rPr b="0" i="0" lang="en-US" sz="1600" u="none" cap="none" strike="noStrike">
                <a:solidFill>
                  <a:srgbClr val="14223A"/>
                </a:solidFill>
                <a:latin typeface="Arial"/>
                <a:ea typeface="Arial"/>
                <a:cs typeface="Arial"/>
                <a:sym typeface="Arial"/>
              </a:rPr>
              <a:t xml:space="preserve"> height to that base</a:t>
            </a:r>
            <a:endParaRPr/>
          </a:p>
        </p:txBody>
      </p:sp>
      <p:sp>
        <p:nvSpPr>
          <p:cNvPr id="587" name="Google Shape;587;p55"/>
          <p:cNvSpPr/>
          <p:nvPr/>
        </p:nvSpPr>
        <p:spPr>
          <a:xfrm>
            <a:off x="640080" y="4773168"/>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8" name="Google Shape;588;p55"/>
          <p:cNvSpPr/>
          <p:nvPr/>
        </p:nvSpPr>
        <p:spPr>
          <a:xfrm>
            <a:off x="896112" y="491947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89" name="Google Shape;589;p55"/>
          <p:cNvSpPr txBox="1"/>
          <p:nvPr/>
        </p:nvSpPr>
        <p:spPr>
          <a:xfrm>
            <a:off x="1371600" y="4855464"/>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A </a:t>
            </a:r>
            <a:r>
              <a:rPr b="1" i="0" lang="en-US" sz="1600" u="none" cap="none" strike="noStrike">
                <a:solidFill>
                  <a:srgbClr val="14223A"/>
                </a:solidFill>
                <a:latin typeface="Arial"/>
                <a:ea typeface="Arial"/>
                <a:cs typeface="Arial"/>
                <a:sym typeface="Arial"/>
              </a:rPr>
              <a:t xml:space="preserve">triangle</a:t>
            </a:r>
            <a:r>
              <a:rPr b="0" i="0" lang="en-US" sz="1600" u="none" cap="none" strike="noStrike">
                <a:solidFill>
                  <a:srgbClr val="14223A"/>
                </a:solidFill>
                <a:latin typeface="Arial"/>
                <a:ea typeface="Arial"/>
                <a:cs typeface="Arial"/>
                <a:sym typeface="Arial"/>
              </a:rPr>
              <a:t xml:space="preserve"> is exactly half of a rectangle with the same base and </a:t>
            </a:r>
            <a:r>
              <a:rPr b="1" i="0" lang="en-US" sz="1600" u="none" cap="none" strike="noStrike">
                <a:solidFill>
                  <a:srgbClr val="14223A"/>
                </a:solidFill>
                <a:latin typeface="Arial"/>
                <a:ea typeface="Arial"/>
                <a:cs typeface="Arial"/>
                <a:sym typeface="Arial"/>
              </a:rPr>
              <a:t xml:space="preserve">height</a:t>
            </a:r>
            <a:endParaRPr/>
          </a:p>
        </p:txBody>
      </p:sp>
      <p:sp>
        <p:nvSpPr>
          <p:cNvPr id="590" name="Google Shape;590;p55"/>
          <p:cNvSpPr/>
          <p:nvPr/>
        </p:nvSpPr>
        <p:spPr>
          <a:xfrm>
            <a:off x="640080" y="5541264"/>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1" name="Google Shape;591;p55"/>
          <p:cNvSpPr/>
          <p:nvPr/>
        </p:nvSpPr>
        <p:spPr>
          <a:xfrm>
            <a:off x="896112" y="568756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92" name="Google Shape;592;p55"/>
          <p:cNvSpPr txBox="1"/>
          <p:nvPr/>
        </p:nvSpPr>
        <p:spPr>
          <a:xfrm>
            <a:off x="1371600" y="5623560"/>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Multiply base by height, then divide by 2</a:t>
            </a:r>
            <a:endParaRPr/>
          </a:p>
        </p:txBody>
      </p:sp>
      <p:sp>
        <p:nvSpPr>
          <p:cNvPr id="59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50</a:t>
            </a:r>
          </a:p>
        </p:txBody>
      </p:sp>
      <p:sp xmlns:p="http://schemas.openxmlformats.org/presentationml/2006/main" xmlns:a="http://schemas.openxmlformats.org/drawingml/2006/main">
        <p:nvSpPr>
          <p:cNvPr id="594" name="TEACH-embedded-student-prompt" descr="Student thinking and response directions"/>
          <p:cNvSpPr txBox="1"/>
          <p:nvPr/>
        </p:nvSpPr>
        <p:spPr>
          <a:xfrm>
            <a:off x="6111240" y="3127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Read, cover, explain. Reopen your notes to</a:t>
            </a:r>
            <a:endParaRPr lang="en-US" sz="2000"/>
          </a:p>
          <a:p>
            <a:pPr>
              <a:lnSpc>
                <a:spcPts val="2400"/>
              </a:lnSpc>
              <a:buNone/>
            </a:pPr>
            <a:r>
              <a:rPr lang="en-US" sz="2000">
                <a:solidFill>
                  <a:srgbClr val="174D60"/>
                </a:solidFill>
                <a:latin typeface="Arial"/>
              </a:rPr>
              <a:t>check and improve your explanation.</a:t>
            </a:r>
            <a:endParaRPr lang="en-US"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nvSpPr>
        <p:spPr>
          <a:xfrm>
            <a:off x="1402828" y="2453951"/>
            <a:ext cx="7533908" cy="8351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Determine the Area of Triangles</a:t>
            </a:r>
            <a:endParaRPr b="1" i="0" sz="3600" u="none" cap="none" strike="noStrike">
              <a:solidFill>
                <a:schemeClr val="dk1"/>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50</a:t>
            </a:r>
          </a:p>
        </p:txBody>
      </p:sp>
      <p:grpSp>
        <p:nvGrpSpPr>
          <p:cNvPr id="237" name="TEACH-2-student-move" descr="TEACH 2 · Use strategies and tasks to engage students in rigorous work"/>
          <p:cNvGrpSpPr/>
          <p:nvPr/>
        </p:nvGrpSpPr>
        <p:grpSpPr>
          <a:xfrm>
            <a:off x="502920" y="3201930"/>
            <a:ext cx="11186160" cy="731520"/>
            <a:chOff x="502920" y="3201930"/>
            <a:chExt cx="11186160" cy="731520"/>
          </a:xfrm>
        </p:grpSpPr>
        <p:sp>
          <p:nvSpPr>
            <p:cNvPr id="238" name="TEACH-move-card"/>
            <p:cNvSpPr/>
            <p:nvPr/>
          </p:nvSpPr>
          <p:spPr>
            <a:xfrm>
              <a:off x="502920" y="3201930"/>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3340919"/>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3201930"/>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cxnSp>
        <p:nvCxnSpPr>
          <p:cNvPr id="241" name="Google Shape;241;p4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2" name="Google Shape;242;p41"/>
          <p:cNvSpPr txBox="1"/>
          <p:nvPr/>
        </p:nvSpPr>
        <p:spPr>
          <a:xfrm>
            <a:off x="484560" y="316034"/>
            <a:ext cx="4252852"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This or That</a:t>
            </a:r>
            <a:endParaRPr b="0" i="0" sz="1400" u="none" cap="none" strike="noStrike">
              <a:solidFill>
                <a:srgbClr val="000000"/>
              </a:solidFill>
              <a:latin typeface="Arial"/>
              <a:ea typeface="Arial"/>
              <a:cs typeface="Arial"/>
              <a:sym typeface="Arial"/>
            </a:endParaRPr>
          </a:p>
        </p:txBody>
      </p:sp>
      <p:sp>
        <p:nvSpPr>
          <p:cNvPr id="243" name="Google Shape;243;p41"/>
          <p:cNvSpPr txBox="1"/>
          <p:nvPr/>
        </p:nvSpPr>
        <p:spPr>
          <a:xfrm>
            <a:off x="484560" y="936100"/>
            <a:ext cx="7719988" cy="994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Would you rather have THIS or THAT box of gold coins?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p:txBody>
      </p:sp>
      <p:graphicFrame>
        <p:nvGraphicFramePr>
          <p:cNvPr id="244" name="Google Shape;244;p41"/>
          <p:cNvGraphicFramePr/>
          <p:nvPr/>
        </p:nvGraphicFramePr>
        <p:xfrm>
          <a:off x="505579" y="2609503"/>
          <a:ext cx="3000000" cy="3000000"/>
        </p:xfrm>
        <a:graphic>
          <a:graphicData uri="http://schemas.openxmlformats.org/drawingml/2006/table">
            <a:tbl>
              <a:tblPr bandRow="1" firstRow="1">
                <a:noFill/>
                <a:tableStyleId>{7666F0E5-3147-4255-8669-8E65EB0D5001}</a:tableStyleId>
              </a:tblPr>
              <a:tblGrid>
                <a:gridCol w="3184100"/>
                <a:gridCol w="2734050"/>
              </a:tblGrid>
              <a:tr h="603100">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THIS</a:t>
                      </a:r>
                      <a:endParaRPr i="1" sz="2800" u="none" cap="none" strike="noStrike">
                        <a:latin typeface="Arial"/>
                        <a:ea typeface="Arial"/>
                        <a:cs typeface="Arial"/>
                        <a:sym typeface="Arial"/>
                      </a:endParaRPr>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695B9A"/>
                    </a:solidFill>
                  </a:tcPr>
                </a:tc>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THAT</a:t>
                      </a:r>
                      <a:endParaRPr i="1" sz="2800" u="none" cap="none" strike="noStrike">
                        <a:latin typeface="Arial"/>
                        <a:ea typeface="Arial"/>
                        <a:cs typeface="Arial"/>
                        <a:sym typeface="Arial"/>
                      </a:endParaRPr>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695B9A"/>
                    </a:solidFill>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r>
            </a:tbl>
          </a:graphicData>
        </a:graphic>
      </p:graphicFrame>
      <p:sp>
        <p:nvSpPr>
          <p:cNvPr id="245" name="Google Shape;245;p41"/>
          <p:cNvSpPr/>
          <p:nvPr/>
        </p:nvSpPr>
        <p:spPr>
          <a:xfrm>
            <a:off x="505579" y="2092973"/>
            <a:ext cx="5918162" cy="52322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23282D"/>
                </a:solidFill>
                <a:latin typeface="Arial"/>
                <a:ea typeface="Arial"/>
                <a:cs typeface="Arial"/>
                <a:sym typeface="Arial"/>
              </a:rPr>
              <a:t>Box of Gold Coins</a:t>
            </a:r>
            <a:endParaRPr b="0" i="0" sz="1400" u="none" cap="none" strike="noStrike">
              <a:solidFill>
                <a:srgbClr val="000000"/>
              </a:solidFill>
              <a:latin typeface="Arial"/>
              <a:ea typeface="Arial"/>
              <a:cs typeface="Arial"/>
              <a:sym typeface="Arial"/>
            </a:endParaRPr>
          </a:p>
        </p:txBody>
      </p:sp>
      <p:sp>
        <p:nvSpPr>
          <p:cNvPr id="24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50</a:t>
            </a:r>
          </a:p>
        </p:txBody>
      </p:sp>
      <p:sp xmlns:p="http://schemas.openxmlformats.org/presentationml/2006/main" xmlns:a="http://schemas.openxmlformats.org/drawingml/2006/main">
        <p:nvSpPr>
          <p:cNvPr id="247"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4" name="Google Shape;334;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5" name="Google Shape;335;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36" name="Google Shape;336;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5-2 · Determine the Area of Triangles</a:t>
            </a:r>
            <a:endParaRPr/>
          </a:p>
        </p:txBody>
      </p:sp>
      <p:sp>
        <p:nvSpPr>
          <p:cNvPr id="337" name="Google Shape;337;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8" name="Google Shape;338;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39" name="Google Shape;339;p44"/>
          <p:cNvSpPr txBox="1"/>
          <p:nvPr/>
        </p:nvSpPr>
        <p:spPr>
          <a:xfrm>
            <a:off x="640080" y="969264"/>
            <a:ext cx="10911809" cy="63195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800" u="none" cap="none" strike="noStrike">
                <a:solidFill>
                  <a:srgbClr val="14223A"/>
                </a:solidFill>
                <a:latin typeface="Arial"/>
                <a:ea typeface="Arial"/>
                <a:cs typeface="Arial"/>
                <a:sym typeface="Arial"/>
              </a:rPr>
              <a:t>Determine the Area of Triangles</a:t>
            </a:r>
            <a:endParaRPr/>
          </a:p>
        </p:txBody>
      </p:sp>
      <p:sp>
        <p:nvSpPr>
          <p:cNvPr id="340" name="Google Shape;340;p44"/>
          <p:cNvSpPr txBox="1"/>
          <p:nvPr/>
        </p:nvSpPr>
        <p:spPr>
          <a:xfrm>
            <a:off x="640080" y="163779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6.GR.1</a:t>
            </a:r>
            <a:endParaRPr/>
          </a:p>
        </p:txBody>
      </p:sp>
      <p:sp>
        <p:nvSpPr>
          <p:cNvPr id="341" name="Google Shape;341;p44"/>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2" name="Google Shape;342;p44"/>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44"/>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44" name="Google Shape;344;p44"/>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45" name="Google Shape;345;p44"/>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find the area of a triangle using the formula A = ½ × base × height.</a:t>
            </a:r>
            <a:endParaRPr/>
          </a:p>
        </p:txBody>
      </p:sp>
      <p:sp>
        <p:nvSpPr>
          <p:cNvPr id="346" name="Google Shape;346;p44"/>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7" name="Google Shape;347;p44"/>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8" name="Google Shape;348;p44"/>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49" name="Google Shape;349;p44"/>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50" name="Google Shape;350;p44"/>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my steps using the words base, height, area, and perpendicular.</a:t>
            </a:r>
            <a:endParaRPr/>
          </a:p>
        </p:txBody>
      </p:sp>
      <p:sp>
        <p:nvSpPr>
          <p:cNvPr id="35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50</a:t>
            </a:r>
          </a:p>
        </p:txBody>
      </p:sp>
      <p:grpSp>
        <p:nvGrpSpPr>
          <p:cNvPr id="352" name="TEACH-1-student-move" descr="TEACH 1 · Facilitate clear, standards-based content learning"/>
          <p:cNvGrpSpPr/>
          <p:nvPr/>
        </p:nvGrpSpPr>
        <p:grpSpPr>
          <a:xfrm>
            <a:off x="502920" y="1993392"/>
            <a:ext cx="11186160" cy="402336"/>
            <a:chOff x="502920" y="1993392"/>
            <a:chExt cx="11186160" cy="402336"/>
          </a:xfrm>
        </p:grpSpPr>
        <p:sp>
          <p:nvSpPr>
            <p:cNvPr id="353"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54"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355"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5.2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Identify a matching base and height.</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Explain the factor one-half.</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Use square units.</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9" name="Google Shape;399;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0" name="Google Shape;400;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1 of 8</a:t>
            </a:r>
            <a:endParaRPr/>
          </a:p>
        </p:txBody>
      </p:sp>
      <p:sp>
        <p:nvSpPr>
          <p:cNvPr id="402" name="Google Shape;402;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5-2 · Determine the Area of Triangles</a:t>
            </a:r>
            <a:endParaRPr/>
          </a:p>
        </p:txBody>
      </p:sp>
      <p:sp>
        <p:nvSpPr>
          <p:cNvPr id="403" name="Google Shape;403;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4" name="Google Shape;404;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05" name="Google Shape;405;p46"/>
          <p:cNvSpPr txBox="1"/>
          <p:nvPr/>
        </p:nvSpPr>
        <p:spPr>
          <a:xfrm>
            <a:off x="640080" y="162763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4400" u="none" cap="none" strike="noStrike">
                <a:solidFill>
                  <a:srgbClr val="14223A"/>
                </a:solidFill>
                <a:latin typeface="Arial"/>
                <a:ea typeface="Arial"/>
                <a:cs typeface="Arial"/>
                <a:sym typeface="Arial"/>
              </a:rPr>
              <a:t>Area of a Triangle</a:t>
            </a:r>
            <a:endParaRPr/>
          </a:p>
        </p:txBody>
      </p:sp>
      <p:sp>
        <p:nvSpPr>
          <p:cNvPr id="406" name="Google Shape;406;p46"/>
          <p:cNvSpPr/>
          <p:nvPr/>
        </p:nvSpPr>
        <p:spPr>
          <a:xfrm>
            <a:off x="658368" y="2462784"/>
            <a:ext cx="2139696"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7" name="Google Shape;407;p46"/>
          <p:cNvSpPr txBox="1"/>
          <p:nvPr/>
        </p:nvSpPr>
        <p:spPr>
          <a:xfrm>
            <a:off x="640080" y="282397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The space inside a triangle. A triangle is half of a rectangle with the same base and height, so A = ½ × b × h.</a:t>
            </a:r>
            <a:endParaRPr/>
          </a:p>
        </p:txBody>
      </p:sp>
      <p:sp>
        <p:nvSpPr>
          <p:cNvPr id="408" name="Google Shape;408;p46"/>
          <p:cNvSpPr/>
          <p:nvPr/>
        </p:nvSpPr>
        <p:spPr>
          <a:xfrm>
            <a:off x="640080" y="4300728"/>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9" name="Google Shape;409;p46"/>
          <p:cNvSpPr/>
          <p:nvPr/>
        </p:nvSpPr>
        <p:spPr>
          <a:xfrm>
            <a:off x="640080" y="4300728"/>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0" name="Google Shape;410;p46"/>
          <p:cNvSpPr txBox="1"/>
          <p:nvPr/>
        </p:nvSpPr>
        <p:spPr>
          <a:xfrm>
            <a:off x="932688" y="447446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11" name="Google Shape;411;p46"/>
          <p:cNvSpPr txBox="1"/>
          <p:nvPr/>
        </p:nvSpPr>
        <p:spPr>
          <a:xfrm>
            <a:off x="932688" y="4776215"/>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A = ½ × b × h; if b = 8 and h = 5, then A = ½ × 8 × 5 = 20 square units</a:t>
            </a:r>
            <a:endParaRPr/>
          </a:p>
        </p:txBody>
      </p:sp>
      <p:pic>
        <p:nvPicPr>
          <p:cNvPr descr="area-of-triangles.png" id="412" name="Google Shape;412;p46"/>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50</a:t>
            </a:r>
          </a:p>
        </p:txBody>
      </p:sp>
      <p:grpSp>
        <p:nvGrpSpPr>
          <p:cNvPr id="413" name="TEACH-5-student-move" descr="TEACH 5 · Facilitate student interactions and academic talk"/>
          <p:cNvGrpSpPr/>
          <p:nvPr/>
        </p:nvGrpSpPr>
        <p:grpSpPr>
          <a:xfrm>
            <a:off x="502920" y="5751576"/>
            <a:ext cx="11186160" cy="548640"/>
            <a:chOff x="502920" y="5751576"/>
            <a:chExt cx="11186160" cy="548640"/>
          </a:xfrm>
        </p:grpSpPr>
        <p:sp>
          <p:nvSpPr>
            <p:cNvPr id="414"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415"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416"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7" name="Google Shape;417;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8" name="Google Shape;418;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9" name="Google Shape;419;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8</a:t>
            </a:r>
            <a:endParaRPr/>
          </a:p>
        </p:txBody>
      </p:sp>
      <p:sp>
        <p:nvSpPr>
          <p:cNvPr id="420" name="Google Shape;420;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5-2 · Determine the Area of Triangles</a:t>
            </a:r>
            <a:endParaRPr/>
          </a:p>
        </p:txBody>
      </p:sp>
      <p:sp>
        <p:nvSpPr>
          <p:cNvPr id="421" name="Google Shape;421;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2" name="Google Shape;422;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23" name="Google Shape;423;p47"/>
          <p:cNvSpPr txBox="1"/>
          <p:nvPr/>
        </p:nvSpPr>
        <p:spPr>
          <a:xfrm>
            <a:off x="640080" y="149809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Base</a:t>
            </a:r>
            <a:endParaRPr/>
          </a:p>
        </p:txBody>
      </p:sp>
      <p:sp>
        <p:nvSpPr>
          <p:cNvPr id="424" name="Google Shape;424;p47"/>
          <p:cNvSpPr/>
          <p:nvPr/>
        </p:nvSpPr>
        <p:spPr>
          <a:xfrm>
            <a:off x="658368" y="2333244"/>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5" name="Google Shape;425;p47"/>
          <p:cNvSpPr txBox="1"/>
          <p:nvPr/>
        </p:nvSpPr>
        <p:spPr>
          <a:xfrm>
            <a:off x="640080" y="269443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Any side of a triangle can be the base. Once you pick a base, the height must be measured perpendicular (at a 90° angle) to it.</a:t>
            </a:r>
            <a:endParaRPr/>
          </a:p>
        </p:txBody>
      </p:sp>
      <p:sp>
        <p:nvSpPr>
          <p:cNvPr id="426" name="Google Shape;426;p47"/>
          <p:cNvSpPr/>
          <p:nvPr/>
        </p:nvSpPr>
        <p:spPr>
          <a:xfrm>
            <a:off x="640080" y="4171188"/>
            <a:ext cx="5897880" cy="15087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7" name="Google Shape;427;p47"/>
          <p:cNvSpPr/>
          <p:nvPr/>
        </p:nvSpPr>
        <p:spPr>
          <a:xfrm>
            <a:off x="640080" y="4171188"/>
            <a:ext cx="91440" cy="15087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8" name="Google Shape;428;p47"/>
          <p:cNvSpPr txBox="1"/>
          <p:nvPr/>
        </p:nvSpPr>
        <p:spPr>
          <a:xfrm>
            <a:off x="932688" y="434492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9" name="Google Shape;429;p47"/>
          <p:cNvSpPr txBox="1"/>
          <p:nvPr/>
        </p:nvSpPr>
        <p:spPr>
          <a:xfrm>
            <a:off x="932688" y="4646676"/>
            <a:ext cx="5330952" cy="8869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Any side can be the base: choose the 10 cm side and b = 10 cm, then draw the height from the opposite vertex at 90° to that side in A = ½ × b × h</a:t>
            </a:r>
            <a:endParaRPr/>
          </a:p>
        </p:txBody>
      </p:sp>
      <p:pic>
        <p:nvPicPr>
          <p:cNvPr descr="base-triangle.png" id="430" name="Google Shape;430;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50</a:t>
            </a:r>
          </a:p>
        </p:txBody>
      </p:sp>
      <p:sp xmlns:p="http://schemas.openxmlformats.org/presentationml/2006/main" xmlns:a="http://schemas.openxmlformats.org/drawingml/2006/main">
        <p:nvSpPr>
          <p:cNvPr id="431"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“Base”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35" name="Google Shape;435;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6" name="Google Shape;436;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7" name="Google Shape;437;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8</a:t>
            </a:r>
            <a:endParaRPr/>
          </a:p>
        </p:txBody>
      </p:sp>
      <p:sp>
        <p:nvSpPr>
          <p:cNvPr id="438" name="Google Shape;438;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5-2 · Determine the Area of Triangles</a:t>
            </a:r>
            <a:endParaRPr/>
          </a:p>
        </p:txBody>
      </p:sp>
      <p:sp>
        <p:nvSpPr>
          <p:cNvPr id="439" name="Google Shape;439;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0" name="Google Shape;440;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41" name="Google Shape;441;p48"/>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Height</a:t>
            </a:r>
            <a:endParaRPr/>
          </a:p>
        </p:txBody>
      </p:sp>
      <p:sp>
        <p:nvSpPr>
          <p:cNvPr id="442" name="Google Shape;442;p48"/>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3" name="Google Shape;443;p48"/>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straight-up distance from the base to the top corner.</a:t>
            </a:r>
            <a:endParaRPr/>
          </a:p>
        </p:txBody>
      </p:sp>
      <p:sp>
        <p:nvSpPr>
          <p:cNvPr id="444" name="Google Shape;444;p48"/>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5" name="Google Shape;445;p48"/>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6" name="Google Shape;446;p48"/>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7" name="Google Shape;447;p48"/>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dashed vertical line from the top point straight down to the base at a 90° angle — like dropping a plumb line</a:t>
            </a:r>
            <a:endParaRPr/>
          </a:p>
        </p:txBody>
      </p:sp>
      <p:pic>
        <p:nvPicPr>
          <p:cNvPr descr="height-triangle.png" id="448" name="Google Shape;448;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50</a:t>
            </a:r>
          </a:p>
        </p:txBody>
      </p:sp>
      <p:sp xmlns:p="http://schemas.openxmlformats.org/presentationml/2006/main" xmlns:a="http://schemas.openxmlformats.org/drawingml/2006/main">
        <p:nvSpPr>
          <p:cNvPr id="449"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“Height”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53" name="Google Shape;453;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4" name="Google Shape;454;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5" name="Google Shape;455;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8</a:t>
            </a:r>
            <a:endParaRPr/>
          </a:p>
        </p:txBody>
      </p:sp>
      <p:sp>
        <p:nvSpPr>
          <p:cNvPr id="456" name="Google Shape;456;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5-2 · Determine the Area of Triangles</a:t>
            </a:r>
            <a:endParaRPr/>
          </a:p>
        </p:txBody>
      </p:sp>
      <p:sp>
        <p:nvSpPr>
          <p:cNvPr id="457" name="Google Shape;457;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8" name="Google Shape;458;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9" name="Google Shape;459;p49"/>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Area</a:t>
            </a:r>
            <a:endParaRPr/>
          </a:p>
        </p:txBody>
      </p:sp>
      <p:sp>
        <p:nvSpPr>
          <p:cNvPr id="460" name="Google Shape;460;p49"/>
          <p:cNvSpPr/>
          <p:nvPr/>
        </p:nvSpPr>
        <p:spPr>
          <a:xfrm>
            <a:off x="658368" y="281482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1" name="Google Shape;461;p49"/>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How much space is inside a flat shape.</a:t>
            </a:r>
            <a:endParaRPr/>
          </a:p>
        </p:txBody>
      </p:sp>
      <p:sp>
        <p:nvSpPr>
          <p:cNvPr id="462" name="Google Shape;462;p49"/>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3" name="Google Shape;463;p49"/>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4" name="Google Shape;464;p49"/>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65" name="Google Shape;465;p49"/>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triangle with b = 8 and h = 6 has area = ½ × 8 × 6 = 24 sq units — exactly half the rectangle around it</a:t>
            </a:r>
            <a:endParaRPr/>
          </a:p>
        </p:txBody>
      </p:sp>
      <p:pic>
        <p:nvPicPr>
          <p:cNvPr descr="area.png" id="466" name="Google Shape;466;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50</a:t>
            </a:r>
          </a:p>
        </p:txBody>
      </p:sp>
      <p:sp xmlns:p="http://schemas.openxmlformats.org/presentationml/2006/main" xmlns:a="http://schemas.openxmlformats.org/drawingml/2006/main">
        <p:nvSpPr>
          <p:cNvPr id="467"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“Area” to explain 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71" name="Google Shape;471;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2" name="Google Shape;472;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3" name="Google Shape;473;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8</a:t>
            </a:r>
            <a:endParaRPr/>
          </a:p>
        </p:txBody>
      </p:sp>
      <p:sp>
        <p:nvSpPr>
          <p:cNvPr id="474" name="Google Shape;474;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5-2 · Determine the Area of Triangles</a:t>
            </a:r>
            <a:endParaRPr/>
          </a:p>
        </p:txBody>
      </p:sp>
      <p:sp>
        <p:nvSpPr>
          <p:cNvPr id="475" name="Google Shape;475;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6" name="Google Shape;476;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7" name="Google Shape;477;p50"/>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Perpendicular</a:t>
            </a:r>
            <a:endParaRPr/>
          </a:p>
        </p:txBody>
      </p:sp>
      <p:sp>
        <p:nvSpPr>
          <p:cNvPr id="478" name="Google Shape;478;p50"/>
          <p:cNvSpPr/>
          <p:nvPr/>
        </p:nvSpPr>
        <p:spPr>
          <a:xfrm>
            <a:off x="658368" y="2638806"/>
            <a:ext cx="1545336"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9" name="Google Shape;479;p50"/>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Two lines that meet to make a square corner (90 degrees).</a:t>
            </a:r>
            <a:endParaRPr/>
          </a:p>
        </p:txBody>
      </p:sp>
      <p:sp>
        <p:nvSpPr>
          <p:cNvPr id="480" name="Google Shape;480;p50"/>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1" name="Google Shape;481;p50"/>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2" name="Google Shape;482;p50"/>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83" name="Google Shape;483;p50"/>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The corner of a book or a door frame — the edges meet at exactly 90°, shown by a small square symbol</a:t>
            </a:r>
            <a:endParaRPr/>
          </a:p>
        </p:txBody>
      </p:sp>
      <p:pic>
        <p:nvPicPr>
          <p:cNvPr descr="perpendicular.png" id="484" name="Google Shape;484;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50</a:t>
            </a:r>
          </a:p>
        </p:txBody>
      </p:sp>
      <p:sp xmlns:p="http://schemas.openxmlformats.org/presentationml/2006/main" xmlns:a="http://schemas.openxmlformats.org/drawingml/2006/main">
        <p:nvSpPr>
          <p:cNvPr id="485"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“Perpendicular”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9" name="Google Shape;489;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0" name="Google Shape;490;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1" name="Google Shape;491;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8</a:t>
            </a:r>
            <a:endParaRPr/>
          </a:p>
        </p:txBody>
      </p:sp>
      <p:sp>
        <p:nvSpPr>
          <p:cNvPr id="492" name="Google Shape;492;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5-2 · Determine the Area of Triangles</a:t>
            </a:r>
            <a:endParaRPr/>
          </a:p>
        </p:txBody>
      </p:sp>
      <p:sp>
        <p:nvSpPr>
          <p:cNvPr id="493" name="Google Shape;493;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4" name="Google Shape;494;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95" name="Google Shape;495;p51"/>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Composite figure</a:t>
            </a:r>
            <a:endParaRPr/>
          </a:p>
        </p:txBody>
      </p:sp>
      <p:sp>
        <p:nvSpPr>
          <p:cNvPr id="496" name="Google Shape;496;p51"/>
          <p:cNvSpPr/>
          <p:nvPr/>
        </p:nvSpPr>
        <p:spPr>
          <a:xfrm>
            <a:off x="658368" y="2638806"/>
            <a:ext cx="190195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7" name="Google Shape;497;p51"/>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shape made by putting two or more simple shapes together.</a:t>
            </a:r>
            <a:endParaRPr/>
          </a:p>
        </p:txBody>
      </p:sp>
      <p:sp>
        <p:nvSpPr>
          <p:cNvPr id="498" name="Google Shape;498;p51"/>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9" name="Google Shape;499;p51"/>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0" name="Google Shape;500;p51"/>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01" name="Google Shape;501;p51"/>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house shape = a rectangle (the walls) + a triangle (the roof); total area = rectangle area + triangle area</a:t>
            </a:r>
            <a:endParaRPr/>
          </a:p>
        </p:txBody>
      </p:sp>
      <p:pic>
        <p:nvPicPr>
          <p:cNvPr descr="composite-figure.png" id="502" name="Google Shape;502;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50</a:t>
            </a:r>
          </a:p>
        </p:txBody>
      </p:sp>
      <p:sp xmlns:p="http://schemas.openxmlformats.org/presentationml/2006/main" xmlns:a="http://schemas.openxmlformats.org/drawingml/2006/main">
        <p:nvSpPr>
          <p:cNvPr id="503"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“Composite figure”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07" name="Google Shape;507;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8" name="Google Shape;508;p52"/>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9" name="Google Shape;509;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7 of 8</a:t>
            </a:r>
            <a:endParaRPr/>
          </a:p>
        </p:txBody>
      </p:sp>
      <p:sp>
        <p:nvSpPr>
          <p:cNvPr id="510" name="Google Shape;510;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5-2 · Determine the Area of Triangles</a:t>
            </a:r>
            <a:endParaRPr/>
          </a:p>
        </p:txBody>
      </p:sp>
      <p:sp>
        <p:nvSpPr>
          <p:cNvPr id="511" name="Google Shape;511;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2" name="Google Shape;512;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13" name="Google Shape;513;p52"/>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Formula</a:t>
            </a:r>
            <a:endParaRPr/>
          </a:p>
        </p:txBody>
      </p:sp>
      <p:sp>
        <p:nvSpPr>
          <p:cNvPr id="514" name="Google Shape;514;p52"/>
          <p:cNvSpPr/>
          <p:nvPr/>
        </p:nvSpPr>
        <p:spPr>
          <a:xfrm>
            <a:off x="658368" y="281482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5" name="Google Shape;515;p52"/>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math rule written with symbols.</a:t>
            </a:r>
            <a:endParaRPr/>
          </a:p>
        </p:txBody>
      </p:sp>
      <p:sp>
        <p:nvSpPr>
          <p:cNvPr id="516" name="Google Shape;516;p52"/>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7" name="Google Shape;517;p52"/>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8" name="Google Shape;518;p52"/>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19" name="Google Shape;519;p52"/>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 ½ × b × h means Area equals one-half times base times height; for b = 12 and h = 8, A = 48</a:t>
            </a:r>
            <a:endParaRPr/>
          </a:p>
        </p:txBody>
      </p:sp>
      <p:pic>
        <p:nvPicPr>
          <p:cNvPr descr="area-of-triangles.png" id="520" name="Google Shape;520;p52"/>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50</a:t>
            </a:r>
          </a:p>
        </p:txBody>
      </p:sp>
      <p:sp xmlns:p="http://schemas.openxmlformats.org/presentationml/2006/main" xmlns:a="http://schemas.openxmlformats.org/drawingml/2006/main">
        <p:nvSpPr>
          <p:cNvPr id="521"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“Formula” to explain the example. Point to evidence.</a:t>
            </a:r>
            <a:endParaRPr lang="en-US" sz="20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25" name="Google Shape;525;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6" name="Google Shape;526;p53"/>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7" name="Google Shape;527;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8 of 8</a:t>
            </a:r>
            <a:endParaRPr/>
          </a:p>
        </p:txBody>
      </p:sp>
      <p:sp>
        <p:nvSpPr>
          <p:cNvPr id="528" name="Google Shape;528;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5-2 · Determine the Area of Triangles</a:t>
            </a:r>
            <a:endParaRPr/>
          </a:p>
        </p:txBody>
      </p:sp>
      <p:sp>
        <p:nvSpPr>
          <p:cNvPr id="529" name="Google Shape;529;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31" name="Google Shape;531;p53"/>
          <p:cNvSpPr txBox="1"/>
          <p:nvPr/>
        </p:nvSpPr>
        <p:spPr>
          <a:xfrm>
            <a:off x="640080" y="16741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Parallel</a:t>
            </a:r>
            <a:endParaRPr/>
          </a:p>
        </p:txBody>
      </p:sp>
      <p:sp>
        <p:nvSpPr>
          <p:cNvPr id="532" name="Google Shape;532;p53"/>
          <p:cNvSpPr/>
          <p:nvPr/>
        </p:nvSpPr>
        <p:spPr>
          <a:xfrm>
            <a:off x="658368" y="25092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3" name="Google Shape;533;p53"/>
          <p:cNvSpPr txBox="1"/>
          <p:nvPr/>
        </p:nvSpPr>
        <p:spPr>
          <a:xfrm>
            <a:off x="640080" y="28704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Two lines or sides that stay the same distance apart and never meet.</a:t>
            </a:r>
            <a:endParaRPr/>
          </a:p>
        </p:txBody>
      </p:sp>
      <p:sp>
        <p:nvSpPr>
          <p:cNvPr id="534" name="Google Shape;534;p53"/>
          <p:cNvSpPr/>
          <p:nvPr/>
        </p:nvSpPr>
        <p:spPr>
          <a:xfrm>
            <a:off x="640080" y="3995166"/>
            <a:ext cx="5897880" cy="15087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995166"/>
            <a:ext cx="91440" cy="15087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txBox="1"/>
          <p:nvPr/>
        </p:nvSpPr>
        <p:spPr>
          <a:xfrm>
            <a:off x="932688" y="41689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37" name="Google Shape;537;p53"/>
          <p:cNvSpPr txBox="1"/>
          <p:nvPr/>
        </p:nvSpPr>
        <p:spPr>
          <a:xfrm>
            <a:off x="932688" y="4470654"/>
            <a:ext cx="5330952" cy="8869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The top and bottom of a parallelogram never get closer together — matching arrowheads (›) mark one parallel pair, double arrowheads (››) mark the other.</a:t>
            </a:r>
            <a:endParaRPr/>
          </a:p>
        </p:txBody>
      </p:sp>
      <p:pic>
        <p:nvPicPr>
          <p:cNvPr descr="parallel.png" id="538" name="Google Shape;538;p53"/>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50</a:t>
            </a:r>
          </a:p>
        </p:txBody>
      </p:sp>
      <p:sp xmlns:p="http://schemas.openxmlformats.org/presentationml/2006/main" xmlns:a="http://schemas.openxmlformats.org/drawingml/2006/main">
        <p:nvSpPr>
          <p:cNvPr id="539"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“Parallel” to explain the example. Point to evidence.</a:t>
            </a:r>
            <a:endParaRPr lang="en-US" sz="200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07" name="Google Shape;607;p5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descr="A picture containing building, wooden, floor&#10;&#10;Description automatically generated" id="608" name="Google Shape;608;p57"/>
          <p:cNvPicPr preferRelativeResize="0"/>
          <p:nvPr/>
        </p:nvPicPr>
        <p:blipFill rotWithShape="1">
          <a:blip r:embed="rId2">
            <a:alphaModFix/>
          </a:blip>
          <a:srcRect b="0" l="0" r="0" t="0"/>
          <a:stretch/>
        </p:blipFill>
        <p:spPr>
          <a:xfrm>
            <a:off x="4939980" y="977154"/>
            <a:ext cx="3368040" cy="3368040"/>
          </a:xfrm>
          <a:prstGeom prst="rect">
            <a:avLst/>
          </a:prstGeom>
          <a:noFill/>
          <a:ln>
            <a:noFill/>
          </a:ln>
        </p:spPr>
      </p:pic>
      <p:sp>
        <p:nvSpPr>
          <p:cNvPr id="609" name="Google Shape;609;p57"/>
          <p:cNvSpPr txBox="1"/>
          <p:nvPr/>
        </p:nvSpPr>
        <p:spPr>
          <a:xfrm>
            <a:off x="4972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610" name="Google Shape;610;p57"/>
          <p:cNvSpPr txBox="1"/>
          <p:nvPr/>
        </p:nvSpPr>
        <p:spPr>
          <a:xfrm>
            <a:off x="474055" y="936100"/>
            <a:ext cx="4072545" cy="13415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p:txBody>
      </p:sp>
      <p:sp>
        <p:nvSpPr>
          <p:cNvPr id="611" name="Google Shape;611;p57"/>
          <p:cNvSpPr/>
          <p:nvPr/>
        </p:nvSpPr>
        <p:spPr>
          <a:xfrm>
            <a:off x="694646" y="5509827"/>
            <a:ext cx="9755034"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do you establish a positive relationship with a classmate in math class?</a:t>
            </a:r>
            <a:endParaRPr b="0" i="0" sz="1400" u="none" cap="none" strike="noStrike">
              <a:solidFill>
                <a:srgbClr val="000000"/>
              </a:solidFill>
              <a:latin typeface="Arial"/>
              <a:ea typeface="Arial"/>
              <a:cs typeface="Arial"/>
              <a:sym typeface="Arial"/>
            </a:endParaRPr>
          </a:p>
        </p:txBody>
      </p:sp>
      <p:pic>
        <p:nvPicPr>
          <p:cNvPr id="612" name="Google Shape;612;p57"/>
          <p:cNvPicPr preferRelativeResize="0"/>
          <p:nvPr/>
        </p:nvPicPr>
        <p:blipFill rotWithShape="1">
          <a:blip r:embed="rId3">
            <a:alphaModFix/>
          </a:blip>
          <a:srcRect b="0" l="0" r="0" t="0"/>
          <a:stretch/>
        </p:blipFill>
        <p:spPr>
          <a:xfrm>
            <a:off x="513664" y="4671754"/>
            <a:ext cx="5054600" cy="838200"/>
          </a:xfrm>
          <a:prstGeom prst="rect">
            <a:avLst/>
          </a:prstGeom>
          <a:noFill/>
          <a:ln>
            <a:noFill/>
          </a:ln>
        </p:spPr>
      </p:pic>
      <p:sp>
        <p:nvSpPr>
          <p:cNvPr id="613" name="Google Shape;613;p57"/>
          <p:cNvSpPr txBox="1"/>
          <p:nvPr/>
        </p:nvSpPr>
        <p:spPr>
          <a:xfrm>
            <a:off x="3208120" y="4796602"/>
            <a:ext cx="236014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50</a:t>
            </a:r>
          </a:p>
        </p:txBody>
      </p:sp>
      <p:sp xmlns:p="http://schemas.openxmlformats.org/presentationml/2006/main" xmlns:a="http://schemas.openxmlformats.org/drawingml/2006/main">
        <p:nvSpPr>
          <p:cNvPr id="614" name="TEACH-embedded-student-prompt" descr="Student thinking and response directions"/>
          <p:cNvSpPr txBox="1"/>
          <p:nvPr/>
        </p:nvSpPr>
        <p:spPr>
          <a:xfrm>
            <a:off x="6111240" y="45902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6" name="Google Shape;356;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a:t>
            </a:r>
            <a:endParaRPr/>
          </a:p>
        </p:txBody>
      </p:sp>
      <p:sp>
        <p:nvSpPr>
          <p:cNvPr id="358" name="Google Shape;358;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5-2 · Determine the Area of Triangles</a:t>
            </a:r>
            <a:endParaRPr/>
          </a:p>
        </p:txBody>
      </p:sp>
      <p:sp>
        <p:nvSpPr>
          <p:cNvPr id="359" name="Google Shape;359;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0" name="Google Shape;360;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61" name="Google Shape;361;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400" u="none" cap="none" strike="noStrike">
                <a:solidFill>
                  <a:srgbClr val="14223A"/>
                </a:solidFill>
                <a:latin typeface="Arial"/>
                <a:ea typeface="Arial"/>
                <a:cs typeface="Arial"/>
                <a:sym typeface="Arial"/>
              </a:rPr>
              <a:t>Today’s Math Words</a:t>
            </a:r>
            <a:endParaRPr/>
          </a:p>
        </p:txBody>
      </p:sp>
      <p:sp>
        <p:nvSpPr>
          <p:cNvPr id="362" name="Google Shape;362;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3" name="Google Shape;363;p45"/>
          <p:cNvSpPr/>
          <p:nvPr/>
        </p:nvSpPr>
        <p:spPr>
          <a:xfrm>
            <a:off x="640080"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4" name="Google Shape;364;p45"/>
          <p:cNvSpPr/>
          <p:nvPr/>
        </p:nvSpPr>
        <p:spPr>
          <a:xfrm>
            <a:off x="640080"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Area of a Triangle</a:t>
            </a:r>
            <a:endParaRPr/>
          </a:p>
        </p:txBody>
      </p:sp>
      <p:sp>
        <p:nvSpPr>
          <p:cNvPr id="366" name="Google Shape;366;p45"/>
          <p:cNvSpPr txBox="1"/>
          <p:nvPr/>
        </p:nvSpPr>
        <p:spPr>
          <a:xfrm>
            <a:off x="950976"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The space inside a triangle</a:t>
            </a:r>
            <a:endParaRPr/>
          </a:p>
        </p:txBody>
      </p:sp>
      <p:sp>
        <p:nvSpPr>
          <p:cNvPr id="367" name="Google Shape;367;p45"/>
          <p:cNvSpPr/>
          <p:nvPr/>
        </p:nvSpPr>
        <p:spPr>
          <a:xfrm>
            <a:off x="6260576"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8" name="Google Shape;368;p45"/>
          <p:cNvSpPr/>
          <p:nvPr/>
        </p:nvSpPr>
        <p:spPr>
          <a:xfrm>
            <a:off x="6260576"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Base</a:t>
            </a:r>
            <a:endParaRPr/>
          </a:p>
        </p:txBody>
      </p:sp>
      <p:sp>
        <p:nvSpPr>
          <p:cNvPr id="370" name="Google Shape;370;p45"/>
          <p:cNvSpPr txBox="1"/>
          <p:nvPr/>
        </p:nvSpPr>
        <p:spPr>
          <a:xfrm>
            <a:off x="6571472"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Any side of a triangle can be the base</a:t>
            </a:r>
            <a:endParaRPr/>
          </a:p>
        </p:txBody>
      </p:sp>
      <p:sp>
        <p:nvSpPr>
          <p:cNvPr id="371" name="Google Shape;371;p45"/>
          <p:cNvSpPr/>
          <p:nvPr/>
        </p:nvSpPr>
        <p:spPr>
          <a:xfrm>
            <a:off x="640080"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2" name="Google Shape;372;p45"/>
          <p:cNvSpPr/>
          <p:nvPr/>
        </p:nvSpPr>
        <p:spPr>
          <a:xfrm>
            <a:off x="640080"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5"/>
          <p:cNvSpPr txBox="1"/>
          <p:nvPr/>
        </p:nvSpPr>
        <p:spPr>
          <a:xfrm>
            <a:off x="950976"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Height</a:t>
            </a:r>
            <a:endParaRPr/>
          </a:p>
        </p:txBody>
      </p:sp>
      <p:sp>
        <p:nvSpPr>
          <p:cNvPr id="374" name="Google Shape;374;p45"/>
          <p:cNvSpPr txBox="1"/>
          <p:nvPr/>
        </p:nvSpPr>
        <p:spPr>
          <a:xfrm>
            <a:off x="950976"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The straight-up distance from the base to the top corner</a:t>
            </a:r>
            <a:endParaRPr/>
          </a:p>
        </p:txBody>
      </p:sp>
      <p:sp>
        <p:nvSpPr>
          <p:cNvPr id="375" name="Google Shape;375;p45"/>
          <p:cNvSpPr/>
          <p:nvPr/>
        </p:nvSpPr>
        <p:spPr>
          <a:xfrm>
            <a:off x="6260576"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6" name="Google Shape;376;p45"/>
          <p:cNvSpPr/>
          <p:nvPr/>
        </p:nvSpPr>
        <p:spPr>
          <a:xfrm>
            <a:off x="6260576"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45"/>
          <p:cNvSpPr txBox="1"/>
          <p:nvPr/>
        </p:nvSpPr>
        <p:spPr>
          <a:xfrm>
            <a:off x="6571472"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Area</a:t>
            </a:r>
            <a:endParaRPr/>
          </a:p>
        </p:txBody>
      </p:sp>
      <p:sp>
        <p:nvSpPr>
          <p:cNvPr id="378" name="Google Shape;378;p45"/>
          <p:cNvSpPr txBox="1"/>
          <p:nvPr/>
        </p:nvSpPr>
        <p:spPr>
          <a:xfrm>
            <a:off x="6571472"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How much space is inside a flat shape</a:t>
            </a:r>
            <a:endParaRPr/>
          </a:p>
        </p:txBody>
      </p:sp>
      <p:sp>
        <p:nvSpPr>
          <p:cNvPr id="379" name="Google Shape;379;p45"/>
          <p:cNvSpPr/>
          <p:nvPr/>
        </p:nvSpPr>
        <p:spPr>
          <a:xfrm>
            <a:off x="640080"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0" name="Google Shape;380;p45"/>
          <p:cNvSpPr/>
          <p:nvPr/>
        </p:nvSpPr>
        <p:spPr>
          <a:xfrm>
            <a:off x="640080"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45"/>
          <p:cNvSpPr txBox="1"/>
          <p:nvPr/>
        </p:nvSpPr>
        <p:spPr>
          <a:xfrm>
            <a:off x="950976"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Perpendicular</a:t>
            </a:r>
            <a:endParaRPr/>
          </a:p>
        </p:txBody>
      </p:sp>
      <p:sp>
        <p:nvSpPr>
          <p:cNvPr id="382" name="Google Shape;382;p45"/>
          <p:cNvSpPr txBox="1"/>
          <p:nvPr/>
        </p:nvSpPr>
        <p:spPr>
          <a:xfrm>
            <a:off x="950976"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Two lines that meet to make a square corner (90 degrees)</a:t>
            </a:r>
            <a:endParaRPr/>
          </a:p>
        </p:txBody>
      </p:sp>
      <p:sp>
        <p:nvSpPr>
          <p:cNvPr id="383" name="Google Shape;383;p45"/>
          <p:cNvSpPr/>
          <p:nvPr/>
        </p:nvSpPr>
        <p:spPr>
          <a:xfrm>
            <a:off x="6260576"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4" name="Google Shape;384;p45"/>
          <p:cNvSpPr/>
          <p:nvPr/>
        </p:nvSpPr>
        <p:spPr>
          <a:xfrm>
            <a:off x="6260576"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45"/>
          <p:cNvSpPr txBox="1"/>
          <p:nvPr/>
        </p:nvSpPr>
        <p:spPr>
          <a:xfrm>
            <a:off x="6571472"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Composite figure</a:t>
            </a:r>
            <a:endParaRPr/>
          </a:p>
        </p:txBody>
      </p:sp>
      <p:sp>
        <p:nvSpPr>
          <p:cNvPr id="386" name="Google Shape;386;p45"/>
          <p:cNvSpPr txBox="1"/>
          <p:nvPr/>
        </p:nvSpPr>
        <p:spPr>
          <a:xfrm>
            <a:off x="6571472"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A shape made by putting two or more simple shapes together</a:t>
            </a:r>
            <a:endParaRPr/>
          </a:p>
        </p:txBody>
      </p:sp>
      <p:sp>
        <p:nvSpPr>
          <p:cNvPr id="387" name="Google Shape;387;p45"/>
          <p:cNvSpPr/>
          <p:nvPr/>
        </p:nvSpPr>
        <p:spPr>
          <a:xfrm>
            <a:off x="640080" y="532638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8" name="Google Shape;388;p45"/>
          <p:cNvSpPr/>
          <p:nvPr/>
        </p:nvSpPr>
        <p:spPr>
          <a:xfrm>
            <a:off x="640080" y="532638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9" name="Google Shape;389;p45"/>
          <p:cNvSpPr txBox="1"/>
          <p:nvPr/>
        </p:nvSpPr>
        <p:spPr>
          <a:xfrm>
            <a:off x="950976" y="546354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Formula</a:t>
            </a:r>
            <a:endParaRPr/>
          </a:p>
        </p:txBody>
      </p:sp>
      <p:sp>
        <p:nvSpPr>
          <p:cNvPr id="390" name="Google Shape;390;p45"/>
          <p:cNvSpPr txBox="1"/>
          <p:nvPr/>
        </p:nvSpPr>
        <p:spPr>
          <a:xfrm>
            <a:off x="950976" y="580186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A math rule written with symbols</a:t>
            </a:r>
            <a:endParaRPr/>
          </a:p>
        </p:txBody>
      </p:sp>
      <p:sp>
        <p:nvSpPr>
          <p:cNvPr id="391" name="Google Shape;391;p45"/>
          <p:cNvSpPr/>
          <p:nvPr/>
        </p:nvSpPr>
        <p:spPr>
          <a:xfrm>
            <a:off x="6260576" y="532638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2" name="Google Shape;392;p45"/>
          <p:cNvSpPr/>
          <p:nvPr/>
        </p:nvSpPr>
        <p:spPr>
          <a:xfrm>
            <a:off x="6260576" y="532638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3" name="Google Shape;393;p45"/>
          <p:cNvSpPr txBox="1"/>
          <p:nvPr/>
        </p:nvSpPr>
        <p:spPr>
          <a:xfrm>
            <a:off x="6571472" y="546354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Parallel</a:t>
            </a:r>
            <a:endParaRPr/>
          </a:p>
        </p:txBody>
      </p:sp>
      <p:sp>
        <p:nvSpPr>
          <p:cNvPr id="394" name="Google Shape;394;p45"/>
          <p:cNvSpPr txBox="1"/>
          <p:nvPr/>
        </p:nvSpPr>
        <p:spPr>
          <a:xfrm>
            <a:off x="6571472" y="580186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00" u="none" cap="none" strike="noStrike">
                <a:solidFill>
                  <a:srgbClr val="475569"/>
                </a:solidFill>
                <a:latin typeface="Arial"/>
                <a:ea typeface="Arial"/>
                <a:cs typeface="Arial"/>
                <a:sym typeface="Arial"/>
              </a:rPr>
              <a:t>Two lines or sides that stay the same distance apart and never meet</a:t>
            </a:r>
            <a:endParaRPr/>
          </a:p>
        </p:txBody>
      </p:sp>
      <p:sp>
        <p:nvSpPr>
          <p:cNvPr id="39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50</a:t>
            </a:r>
          </a:p>
        </p:txBody>
      </p:sp>
      <p:grpSp>
        <p:nvGrpSpPr>
          <p:cNvPr id="396" name="TEACH-5-student-move" descr="TEACH 5 · Facilitate student interactions and academic talk"/>
          <p:cNvGrpSpPr/>
          <p:nvPr/>
        </p:nvGrpSpPr>
        <p:grpSpPr>
          <a:xfrm>
            <a:off x="502920" y="649224"/>
            <a:ext cx="11186160" cy="320040"/>
            <a:chOff x="502920" y="649224"/>
            <a:chExt cx="11186160" cy="320040"/>
          </a:xfrm>
        </p:grpSpPr>
        <p:sp>
          <p:nvSpPr>
            <p:cNvPr id="397" name="TEACH-move-card"/>
            <p:cNvSpPr/>
            <p:nvPr/>
          </p:nvSpPr>
          <p:spPr>
            <a:xfrm>
              <a:off x="502920" y="649224"/>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398" name="TEACH-move-rule"/>
            <p:cNvSpPr/>
            <p:nvPr/>
          </p:nvSpPr>
          <p:spPr>
            <a:xfrm>
              <a:off x="548640" y="710032"/>
              <a:ext cx="100584" cy="198424"/>
            </a:xfrm>
            <a:prstGeom prst="roundRect">
              <a:avLst>
                <a:gd name="adj" fmla="val 50000"/>
              </a:avLst>
            </a:prstGeom>
            <a:solidFill>
              <a:srgbClr val="01708C"/>
            </a:solidFill>
            <a:ln>
              <a:noFill/>
            </a:ln>
          </p:spPr>
          <p:txBody>
            <a:bodyPr/>
            <a:lstStyle/>
            <a:p>
              <a:endParaRPr/>
            </a:p>
          </p:txBody>
        </p:sp>
        <p:sp>
          <p:nvSpPr>
            <p:cNvPr id="399" name="TEACH-move-text"/>
            <p:cNvSpPr txBox="1"/>
            <p:nvPr/>
          </p:nvSpPr>
          <p:spPr>
            <a:xfrm>
              <a:off x="822960" y="649224"/>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ADD ON  ·  </a:t>
              </a:r>
              <a:r>
                <a:rPr lang="en-US" sz="1200" dirty="0">
                  <a:solidFill>
                    <a:srgbClr val="13303A"/>
                  </a:solidFill>
                  <a:latin typeface="Arial"/>
                </a:rPr>
                <a:t>Add on: “I agree because ______.”  or  “I see it differently because ______.”</a:t>
              </a:r>
              <a:endParaRPr lang="en-US" sz="1200"/>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cxnSp>
        <p:nvCxnSpPr>
          <p:cNvPr id="618" name="Google Shape;618;p5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19" name="Google Shape;619;p58"/>
          <p:cNvSpPr txBox="1"/>
          <p:nvPr/>
        </p:nvSpPr>
        <p:spPr>
          <a:xfrm>
            <a:off x="484566" y="936000"/>
            <a:ext cx="6692858" cy="107012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What is the area of each of the triangles shown?</a:t>
            </a:r>
            <a:endParaRPr b="0" i="0" sz="1400" u="none" cap="none" strike="noStrike">
              <a:solidFill>
                <a:srgbClr val="000000"/>
              </a:solidFill>
              <a:latin typeface="Arial"/>
              <a:ea typeface="Arial"/>
              <a:cs typeface="Arial"/>
              <a:sym typeface="Arial"/>
            </a:endParaRPr>
          </a:p>
        </p:txBody>
      </p:sp>
      <p:sp>
        <p:nvSpPr>
          <p:cNvPr id="620" name="Google Shape;620;p58"/>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Triangles	</a:t>
            </a:r>
            <a:endParaRPr b="0" i="0" sz="1400" u="none" cap="none" strike="noStrike">
              <a:solidFill>
                <a:srgbClr val="000000"/>
              </a:solidFill>
              <a:latin typeface="Arial"/>
              <a:ea typeface="Arial"/>
              <a:cs typeface="Arial"/>
              <a:sym typeface="Arial"/>
            </a:endParaRPr>
          </a:p>
        </p:txBody>
      </p:sp>
      <p:pic>
        <p:nvPicPr>
          <p:cNvPr id="621" name="Google Shape;621;p58"/>
          <p:cNvPicPr preferRelativeResize="0"/>
          <p:nvPr/>
        </p:nvPicPr>
        <p:blipFill rotWithShape="1">
          <a:blip r:embed="rId3">
            <a:alphaModFix/>
          </a:blip>
          <a:srcRect b="0" l="0" r="0" t="0"/>
          <a:stretch/>
        </p:blipFill>
        <p:spPr>
          <a:xfrm>
            <a:off x="6115050" y="1340666"/>
            <a:ext cx="5934075" cy="3352800"/>
          </a:xfrm>
          <a:prstGeom prst="rect">
            <a:avLst/>
          </a:prstGeom>
          <a:noFill/>
          <a:ln>
            <a:noFill/>
          </a:ln>
        </p:spPr>
      </p:pic>
      <p:sp>
        <p:nvSpPr>
          <p:cNvPr id="62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50</a:t>
            </a:r>
          </a:p>
        </p:txBody>
      </p:sp>
      <p:sp xmlns:p="http://schemas.openxmlformats.org/presentationml/2006/main" xmlns:a="http://schemas.openxmlformats.org/drawingml/2006/main">
        <p:nvSpPr>
          <p:cNvPr id="623"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Point to a base and its matching height. Explain how your method uses them.</a:t>
            </a:r>
            <a:endParaRPr lang="en-US" sz="2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cxnSp>
        <p:nvCxnSpPr>
          <p:cNvPr id="662" name="Google Shape;662;p6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63" name="Google Shape;663;p63"/>
          <p:cNvSpPr txBox="1"/>
          <p:nvPr/>
        </p:nvSpPr>
        <p:spPr>
          <a:xfrm>
            <a:off x="531479" y="4924529"/>
            <a:ext cx="11108148" cy="14945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compose the triangle into a parallelogram to determine the area</a:t>
            </a:r>
            <a:r>
              <a:rPr b="0" i="0" lang="en-US" sz="2800" u="none" cap="none" strike="noStrike">
                <a:solidFill>
                  <a:schemeClr val="dk2"/>
                </a:solidFill>
                <a:latin typeface="Arial"/>
                <a:ea typeface="Arial"/>
                <a:cs typeface="Arial"/>
                <a:sym typeface="Arial"/>
              </a:rPr>
              <a:t>.</a:t>
            </a:r>
            <a:endParaRPr b="0" i="0" sz="2800" u="none" cap="none" strike="noStrike">
              <a:solidFill>
                <a:schemeClr val="dk2"/>
              </a:solidFill>
              <a:latin typeface="Arial"/>
              <a:ea typeface="Arial"/>
              <a:cs typeface="Arial"/>
              <a:sym typeface="Arial"/>
            </a:endParaRPr>
          </a:p>
        </p:txBody>
      </p:sp>
      <p:sp>
        <p:nvSpPr>
          <p:cNvPr id="664" name="Google Shape;664;p63"/>
          <p:cNvSpPr txBox="1"/>
          <p:nvPr/>
        </p:nvSpPr>
        <p:spPr>
          <a:xfrm>
            <a:off x="484565" y="936000"/>
            <a:ext cx="7809043" cy="146387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use what you know about finding the area of a parallelogram to find the area of Triangle A?</a:t>
            </a:r>
            <a:endParaRPr b="0" i="0" sz="1400" u="none" cap="none" strike="noStrike">
              <a:solidFill>
                <a:srgbClr val="000000"/>
              </a:solidFill>
              <a:latin typeface="Arial"/>
              <a:ea typeface="Arial"/>
              <a:cs typeface="Arial"/>
              <a:sym typeface="Arial"/>
            </a:endParaRPr>
          </a:p>
        </p:txBody>
      </p:sp>
      <p:pic>
        <p:nvPicPr>
          <p:cNvPr id="665" name="Google Shape;665;p63"/>
          <p:cNvPicPr preferRelativeResize="0"/>
          <p:nvPr/>
        </p:nvPicPr>
        <p:blipFill rotWithShape="1">
          <a:blip r:embed="rId3">
            <a:alphaModFix/>
          </a:blip>
          <a:srcRect b="0" l="0" r="0" t="0"/>
          <a:stretch/>
        </p:blipFill>
        <p:spPr>
          <a:xfrm>
            <a:off x="8172527" y="2048256"/>
            <a:ext cx="3467100" cy="2590800"/>
          </a:xfrm>
          <a:prstGeom prst="rect">
            <a:avLst/>
          </a:prstGeom>
          <a:noFill/>
          <a:ln>
            <a:noFill/>
          </a:ln>
        </p:spPr>
      </p:pic>
      <p:sp>
        <p:nvSpPr>
          <p:cNvPr id="666" name="Google Shape;666;p63"/>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Triangles 	</a:t>
            </a:r>
            <a:endParaRPr b="0" i="0" sz="1400" u="none" cap="none" strike="noStrike">
              <a:solidFill>
                <a:srgbClr val="000000"/>
              </a:solidFill>
              <a:latin typeface="Arial"/>
              <a:ea typeface="Arial"/>
              <a:cs typeface="Arial"/>
              <a:sym typeface="Arial"/>
            </a:endParaRPr>
          </a:p>
        </p:txBody>
      </p:sp>
      <p:sp>
        <p:nvSpPr>
          <p:cNvPr id="66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50</a:t>
            </a:r>
          </a:p>
        </p:txBody>
      </p:sp>
      <p:sp>
        <p:nvSpPr>
          <p:cNvPr id="668" name="EWL-COVER-1"/>
          <p:cNvSpPr/>
          <p:nvPr/>
        </p:nvSpPr>
        <p:spPr>
          <a:xfrm>
            <a:off x="476615" y="4869665"/>
            <a:ext cx="11217876" cy="1576855"/>
          </a:xfrm>
          <a:prstGeom prst="rect">
            <a:avLst/>
          </a:prstGeom>
          <a:solidFill>
            <a:srgbClr val="FFFFFF"/>
          </a:solidFill>
          <a:ln>
            <a:noFill/>
          </a:ln>
        </p:spPr>
        <p:txBody>
          <a:bodyPr/>
          <a:lstStyle/>
          <a:p/>
        </p:txBody>
      </p:sp>
      <p:sp xmlns:p="http://schemas.openxmlformats.org/presentationml/2006/main" xmlns:a="http://schemas.openxmlformats.org/drawingml/2006/main">
        <p:nvSpPr>
          <p:cNvPr id="669" name="TEACH-embedded-student-prompt" descr="Student thinking and response directions"/>
          <p:cNvSpPr txBox="1"/>
          <p:nvPr/>
        </p:nvSpPr>
        <p:spPr>
          <a:xfrm>
            <a:off x="594360" y="395020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6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cxnSp>
        <p:nvCxnSpPr>
          <p:cNvPr id="681" name="Google Shape;681;p6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82" name="Google Shape;682;p65"/>
          <p:cNvSpPr txBox="1"/>
          <p:nvPr/>
        </p:nvSpPr>
        <p:spPr>
          <a:xfrm>
            <a:off x="531479" y="4924529"/>
            <a:ext cx="11108148" cy="14945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compose the triangle into a parallelogram by copying and rotating the triangle.</a:t>
            </a:r>
            <a:endParaRPr b="0" i="0" sz="2800" u="none" cap="none" strike="noStrike">
              <a:solidFill>
                <a:schemeClr val="dk2"/>
              </a:solidFill>
              <a:latin typeface="Arial"/>
              <a:ea typeface="Arial"/>
              <a:cs typeface="Arial"/>
              <a:sym typeface="Arial"/>
            </a:endParaRPr>
          </a:p>
        </p:txBody>
      </p:sp>
      <p:sp>
        <p:nvSpPr>
          <p:cNvPr id="683" name="Google Shape;683;p65"/>
          <p:cNvSpPr txBox="1"/>
          <p:nvPr/>
        </p:nvSpPr>
        <p:spPr>
          <a:xfrm>
            <a:off x="543714" y="936000"/>
            <a:ext cx="7162011" cy="12539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compose the triangle into a parallelogram?</a:t>
            </a:r>
            <a:endParaRPr b="0" i="0" sz="1400" u="none" cap="none" strike="noStrike">
              <a:solidFill>
                <a:srgbClr val="000000"/>
              </a:solidFill>
              <a:latin typeface="Arial"/>
              <a:ea typeface="Arial"/>
              <a:cs typeface="Arial"/>
              <a:sym typeface="Arial"/>
            </a:endParaRPr>
          </a:p>
        </p:txBody>
      </p:sp>
      <p:pic>
        <p:nvPicPr>
          <p:cNvPr id="684" name="Google Shape;684;p65"/>
          <p:cNvPicPr preferRelativeResize="0"/>
          <p:nvPr/>
        </p:nvPicPr>
        <p:blipFill rotWithShape="1">
          <a:blip r:embed="rId3">
            <a:alphaModFix/>
          </a:blip>
          <a:srcRect b="0" l="0" r="0" t="0"/>
          <a:stretch/>
        </p:blipFill>
        <p:spPr>
          <a:xfrm>
            <a:off x="543714" y="396694"/>
            <a:ext cx="353635" cy="340537"/>
          </a:xfrm>
          <a:prstGeom prst="rect">
            <a:avLst/>
          </a:prstGeom>
          <a:noFill/>
          <a:ln>
            <a:noFill/>
          </a:ln>
        </p:spPr>
      </p:pic>
      <p:sp>
        <p:nvSpPr>
          <p:cNvPr id="685" name="Google Shape;685;p65"/>
          <p:cNvSpPr txBox="1"/>
          <p:nvPr/>
        </p:nvSpPr>
        <p:spPr>
          <a:xfrm>
            <a:off x="923477"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Collaborate and Connect</a:t>
            </a:r>
            <a:endParaRPr b="1" i="0" sz="1500" u="none" cap="none" strike="noStrike">
              <a:solidFill>
                <a:srgbClr val="782DA0"/>
              </a:solidFill>
              <a:latin typeface="Arial"/>
              <a:ea typeface="Arial"/>
              <a:cs typeface="Arial"/>
              <a:sym typeface="Arial"/>
            </a:endParaRPr>
          </a:p>
        </p:txBody>
      </p:sp>
      <p:pic>
        <p:nvPicPr>
          <p:cNvPr id="686" name="Google Shape;686;p65"/>
          <p:cNvPicPr preferRelativeResize="0"/>
          <p:nvPr/>
        </p:nvPicPr>
        <p:blipFill rotWithShape="1">
          <a:blip r:embed="rId4">
            <a:alphaModFix/>
          </a:blip>
          <a:srcRect b="0" l="0" r="0" t="0"/>
          <a:stretch/>
        </p:blipFill>
        <p:spPr>
          <a:xfrm>
            <a:off x="8172527" y="2048256"/>
            <a:ext cx="3467100" cy="2590800"/>
          </a:xfrm>
          <a:prstGeom prst="rect">
            <a:avLst/>
          </a:prstGeom>
          <a:noFill/>
          <a:ln>
            <a:noFill/>
          </a:ln>
        </p:spPr>
      </p:pic>
      <p:sp>
        <p:nvSpPr>
          <p:cNvPr id="68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50</a:t>
            </a:r>
          </a:p>
        </p:txBody>
      </p:sp>
      <p:sp>
        <p:nvSpPr>
          <p:cNvPr id="688" name="EWL-COVER-1"/>
          <p:cNvSpPr/>
          <p:nvPr/>
        </p:nvSpPr>
        <p:spPr>
          <a:xfrm>
            <a:off x="476615" y="4869665"/>
            <a:ext cx="11217876" cy="1576855"/>
          </a:xfrm>
          <a:prstGeom prst="rect">
            <a:avLst/>
          </a:prstGeom>
          <a:solidFill>
            <a:srgbClr val="FFFFFF"/>
          </a:solidFill>
          <a:ln>
            <a:noFill/>
          </a:ln>
        </p:spPr>
        <p:txBody>
          <a:bodyPr/>
          <a:lstStyle/>
          <a:p/>
        </p:txBody>
      </p:sp>
      <p:sp>
        <p:nvSpPr>
          <p:cNvPr id="689"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COLLABORATE</a:t>
            </a:r>
            <a:r>
              <a:rPr lang="en-US" sz="1200" b="1">
                <a:solidFill>
                  <a:srgbClr val="5D6872"/>
                </a:solidFill>
                <a:latin typeface="Arial"/>
              </a:rPr>
              <a:t>  ·  TALK IT THROUGH • AGREE ON A MODEL</a:t>
            </a:r>
          </a:p>
        </p:txBody>
      </p:sp>
      <p:sp xmlns:p="http://schemas.openxmlformats.org/presentationml/2006/main" xmlns:a="http://schemas.openxmlformats.org/drawingml/2006/main">
        <p:nvSpPr>
          <p:cNvPr id="690" name="TEACH-embedded-student-prompt" descr="Student thinking and response directions"/>
          <p:cNvSpPr txBox="1"/>
          <p:nvPr/>
        </p:nvSpPr>
        <p:spPr>
          <a:xfrm>
            <a:off x="594360" y="395020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 evidence.</a:t>
            </a:r>
            <a:endParaRPr lang="en-US" sz="2000"/>
          </a:p>
          <a:p>
            <a:pPr>
              <a:lnSpc>
                <a:spcPts val="2400"/>
              </a:lnSpc>
              <a:buNone/>
            </a:pPr>
            <a:r>
              <a:rPr lang="en-US" sz="2000">
                <a:solidFill>
                  <a:srgbClr val="174D60"/>
                </a:solidFill>
                <a:latin typeface="Arial"/>
              </a:rPr>
              <a:t>Switch roles; both revise.</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8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cxnSp>
        <p:nvCxnSpPr>
          <p:cNvPr id="700" name="Google Shape;700;p6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01" name="Google Shape;701;p67"/>
          <p:cNvSpPr txBox="1"/>
          <p:nvPr/>
        </p:nvSpPr>
        <p:spPr>
          <a:xfrm>
            <a:off x="484566" y="936000"/>
            <a:ext cx="6344860" cy="25794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Let’s compose the triangle into a parallelogram by copying and combining the triangle.​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find the area of the resulting parallelogram?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p:txBody>
      </p:sp>
      <p:sp>
        <p:nvSpPr>
          <p:cNvPr id="702" name="Google Shape;702;p67"/>
          <p:cNvSpPr txBox="1"/>
          <p:nvPr/>
        </p:nvSpPr>
        <p:spPr>
          <a:xfrm>
            <a:off x="531479" y="5235425"/>
            <a:ext cx="11108148" cy="1174519"/>
          </a:xfrm>
          <a:prstGeom prst="rect">
            <a:avLst/>
          </a:prstGeom>
          <a:blipFill rotWithShape="1">
            <a:blip r:embed="rId3">
              <a:alphaModFix/>
            </a:blip>
            <a:stretch>
              <a:fillRect b="-7772" l="-1098" r="0" t="-569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703" name="Google Shape;703;p67"/>
          <p:cNvPicPr preferRelativeResize="0"/>
          <p:nvPr/>
        </p:nvPicPr>
        <p:blipFill rotWithShape="1">
          <a:blip r:embed="rId4">
            <a:alphaModFix/>
          </a:blip>
          <a:srcRect b="0" l="0" r="0" t="0"/>
          <a:stretch/>
        </p:blipFill>
        <p:spPr>
          <a:xfrm>
            <a:off x="6916982" y="2181225"/>
            <a:ext cx="5019675" cy="2495550"/>
          </a:xfrm>
          <a:prstGeom prst="rect">
            <a:avLst/>
          </a:prstGeom>
          <a:noFill/>
          <a:ln>
            <a:noFill/>
          </a:ln>
        </p:spPr>
      </p:pic>
      <p:sp>
        <p:nvSpPr>
          <p:cNvPr id="704" name="Google Shape;704;p67"/>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Triangles 	</a:t>
            </a:r>
            <a:endParaRPr b="0" i="0" sz="1400" u="none" cap="none" strike="noStrike">
              <a:solidFill>
                <a:srgbClr val="000000"/>
              </a:solidFill>
              <a:latin typeface="Arial"/>
              <a:ea typeface="Arial"/>
              <a:cs typeface="Arial"/>
              <a:sym typeface="Arial"/>
            </a:endParaRPr>
          </a:p>
        </p:txBody>
      </p:sp>
      <p:sp>
        <p:nvSpPr>
          <p:cNvPr id="70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50</a:t>
            </a:r>
          </a:p>
        </p:txBody>
      </p:sp>
      <p:sp xmlns:p="http://schemas.openxmlformats.org/presentationml/2006/main" xmlns:a="http://schemas.openxmlformats.org/drawingml/2006/main">
        <p:nvSpPr>
          <p:cNvPr id="706" name="TEACH-embedded-student-prompt" descr="Student thinking and response directions"/>
          <p:cNvSpPr txBox="1"/>
          <p:nvPr/>
        </p:nvSpPr>
        <p:spPr>
          <a:xfrm>
            <a:off x="594360" y="431596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Point to a base and its matching</a:t>
            </a:r>
            <a:endParaRPr lang="en-US" sz="2000"/>
          </a:p>
          <a:p>
            <a:pPr>
              <a:lnSpc>
                <a:spcPts val="2400"/>
              </a:lnSpc>
              <a:buNone/>
            </a:pPr>
            <a:r>
              <a:rPr lang="en-US" sz="2000">
                <a:solidFill>
                  <a:srgbClr val="174D60"/>
                </a:solidFill>
                <a:latin typeface="Arial"/>
              </a:rPr>
              <a:t>height. Explain how your method uses them.</a:t>
            </a:r>
            <a:endParaRPr lang="en-US" sz="2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cxnSp>
        <p:nvCxnSpPr>
          <p:cNvPr id="722" name="Google Shape;722;p6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23" name="Google Shape;723;p69"/>
          <p:cNvSpPr txBox="1"/>
          <p:nvPr/>
        </p:nvSpPr>
        <p:spPr>
          <a:xfrm>
            <a:off x="531479" y="4869665"/>
            <a:ext cx="11108148" cy="15494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used two copies of the triangle to compose the parallelogram. So, the area of the triangle is half the area of the parallelogram.</a:t>
            </a:r>
            <a:endParaRPr b="0" i="0" sz="2800" u="none" cap="none" strike="noStrike">
              <a:solidFill>
                <a:srgbClr val="595959"/>
              </a:solidFill>
              <a:latin typeface="Arial"/>
              <a:ea typeface="Arial"/>
              <a:cs typeface="Arial"/>
              <a:sym typeface="Arial"/>
            </a:endParaRPr>
          </a:p>
        </p:txBody>
      </p:sp>
      <p:sp>
        <p:nvSpPr>
          <p:cNvPr id="724" name="Google Shape;724;p69"/>
          <p:cNvSpPr txBox="1"/>
          <p:nvPr/>
        </p:nvSpPr>
        <p:spPr>
          <a:xfrm>
            <a:off x="484565" y="936000"/>
            <a:ext cx="4441884" cy="4563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Area of the parallelogram:</a:t>
            </a:r>
            <a:endParaRPr b="0" i="0" sz="1400" u="none" cap="none" strike="noStrike">
              <a:solidFill>
                <a:srgbClr val="000000"/>
              </a:solidFill>
              <a:latin typeface="Arial"/>
              <a:ea typeface="Arial"/>
              <a:cs typeface="Arial"/>
              <a:sym typeface="Arial"/>
            </a:endParaRPr>
          </a:p>
        </p:txBody>
      </p:sp>
      <p:sp>
        <p:nvSpPr>
          <p:cNvPr id="725" name="Google Shape;725;p69"/>
          <p:cNvSpPr/>
          <p:nvPr/>
        </p:nvSpPr>
        <p:spPr>
          <a:xfrm>
            <a:off x="400275" y="3375602"/>
            <a:ext cx="6906835"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relationship do you notice between the area of the triangle and the area of the parallelogram? Explain.</a:t>
            </a:r>
            <a:endParaRPr b="1" i="0" sz="2800" u="none" cap="none" strike="noStrike">
              <a:solidFill>
                <a:schemeClr val="dk1"/>
              </a:solidFill>
              <a:latin typeface="Arial"/>
              <a:ea typeface="Arial"/>
              <a:cs typeface="Arial"/>
              <a:sym typeface="Arial"/>
            </a:endParaRPr>
          </a:p>
        </p:txBody>
      </p:sp>
      <p:sp>
        <p:nvSpPr>
          <p:cNvPr id="726" name="Google Shape;726;p69"/>
          <p:cNvSpPr/>
          <p:nvPr/>
        </p:nvSpPr>
        <p:spPr>
          <a:xfrm>
            <a:off x="486000" y="1585227"/>
            <a:ext cx="1434175"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27" name="Google Shape;727;p69"/>
          <p:cNvSpPr/>
          <p:nvPr/>
        </p:nvSpPr>
        <p:spPr>
          <a:xfrm>
            <a:off x="486000" y="2158478"/>
            <a:ext cx="2263761"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28" name="Google Shape;728;p69"/>
          <p:cNvSpPr/>
          <p:nvPr/>
        </p:nvSpPr>
        <p:spPr>
          <a:xfrm>
            <a:off x="486000" y="2743314"/>
            <a:ext cx="2281329"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729" name="Google Shape;729;p69"/>
          <p:cNvPicPr preferRelativeResize="0"/>
          <p:nvPr/>
        </p:nvPicPr>
        <p:blipFill rotWithShape="1">
          <a:blip r:embed="rId3">
            <a:alphaModFix/>
          </a:blip>
          <a:srcRect b="0" l="0" r="0" t="0"/>
          <a:stretch/>
        </p:blipFill>
        <p:spPr>
          <a:xfrm>
            <a:off x="7560450" y="3217061"/>
            <a:ext cx="3423640" cy="1702075"/>
          </a:xfrm>
          <a:prstGeom prst="rect">
            <a:avLst/>
          </a:prstGeom>
          <a:noFill/>
          <a:ln>
            <a:noFill/>
          </a:ln>
        </p:spPr>
      </p:pic>
      <p:sp>
        <p:nvSpPr>
          <p:cNvPr id="730" name="Google Shape;730;p69"/>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Triangles 	</a:t>
            </a:r>
            <a:endParaRPr b="0" i="0" sz="1400" u="none" cap="none" strike="noStrike">
              <a:solidFill>
                <a:srgbClr val="000000"/>
              </a:solidFill>
              <a:latin typeface="Arial"/>
              <a:ea typeface="Arial"/>
              <a:cs typeface="Arial"/>
              <a:sym typeface="Arial"/>
            </a:endParaRPr>
          </a:p>
        </p:txBody>
      </p:sp>
      <p:sp>
        <p:nvSpPr>
          <p:cNvPr id="73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50</a:t>
            </a:r>
          </a:p>
        </p:txBody>
      </p:sp>
      <p:sp>
        <p:nvSpPr>
          <p:cNvPr id="732" name="EWL-COVER-1"/>
          <p:cNvSpPr/>
          <p:nvPr/>
        </p:nvSpPr>
        <p:spPr>
          <a:xfrm>
            <a:off x="476615" y="4814801"/>
            <a:ext cx="11217876" cy="1631719"/>
          </a:xfrm>
          <a:prstGeom prst="rect">
            <a:avLst/>
          </a:prstGeom>
          <a:solidFill>
            <a:srgbClr val="FFFFFF"/>
          </a:solidFill>
          <a:ln>
            <a:noFill/>
          </a:ln>
        </p:spPr>
        <p:txBody>
          <a:bodyPr/>
          <a:lstStyle/>
          <a:p/>
        </p:txBody>
      </p:sp>
      <p:sp xmlns:p="http://schemas.openxmlformats.org/presentationml/2006/main" xmlns:a="http://schemas.openxmlformats.org/drawingml/2006/main">
        <p:nvSpPr>
          <p:cNvPr id="733" name="TEACH-embedded-student-prompt" descr="Student thinking and response directions"/>
          <p:cNvSpPr txBox="1"/>
          <p:nvPr/>
        </p:nvSpPr>
        <p:spPr>
          <a:xfrm>
            <a:off x="4099560" y="23042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a:t>
            </a:r>
            <a:endParaRPr lang="en-US" sz="2000"/>
          </a:p>
          <a:p>
            <a:pPr>
              <a:lnSpc>
                <a:spcPts val="2400"/>
              </a:lnSpc>
              <a:buNone/>
            </a:pPr>
            <a:r>
              <a:rPr lang="en-US" sz="2000">
                <a:solidFill>
                  <a:srgbClr val="174D60"/>
                </a:solidFill>
                <a:latin typeface="Arial"/>
              </a:rPr>
              <a:t>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70"/>
          <p:cNvSpPr/>
          <p:nvPr/>
        </p:nvSpPr>
        <p:spPr>
          <a:xfrm>
            <a:off x="484565" y="3083646"/>
            <a:ext cx="1434175"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36" name="Google Shape;736;p70"/>
          <p:cNvSpPr/>
          <p:nvPr/>
        </p:nvSpPr>
        <p:spPr>
          <a:xfrm>
            <a:off x="484565" y="3643396"/>
            <a:ext cx="2263761"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37" name="Google Shape;737;p70"/>
          <p:cNvSpPr/>
          <p:nvPr/>
        </p:nvSpPr>
        <p:spPr>
          <a:xfrm>
            <a:off x="484565" y="4208867"/>
            <a:ext cx="2281329"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38" name="Google Shape;738;p70"/>
          <p:cNvSpPr/>
          <p:nvPr/>
        </p:nvSpPr>
        <p:spPr>
          <a:xfrm>
            <a:off x="484565" y="931007"/>
            <a:ext cx="6411535" cy="1143518"/>
          </a:xfrm>
          <a:prstGeom prst="rect">
            <a:avLst/>
          </a:prstGeom>
          <a:blipFill rotWithShape="1">
            <a:blip r:embed="rId6">
              <a:alphaModFix/>
            </a:blip>
            <a:stretch>
              <a:fillRect b="-13904" l="-1901" r="-1521"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39" name="Google Shape;739;p70"/>
          <p:cNvSpPr/>
          <p:nvPr/>
        </p:nvSpPr>
        <p:spPr>
          <a:xfrm>
            <a:off x="4160453" y="3083646"/>
            <a:ext cx="2089033" cy="700705"/>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40" name="Google Shape;740;p70"/>
          <p:cNvSpPr/>
          <p:nvPr/>
        </p:nvSpPr>
        <p:spPr>
          <a:xfrm>
            <a:off x="4160453" y="3757763"/>
            <a:ext cx="2281330" cy="523220"/>
          </a:xfrm>
          <a:prstGeom prst="rect">
            <a:avLst/>
          </a:pr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41" name="Google Shape;741;p70"/>
          <p:cNvSpPr txBox="1"/>
          <p:nvPr/>
        </p:nvSpPr>
        <p:spPr>
          <a:xfrm>
            <a:off x="484565" y="2129539"/>
            <a:ext cx="2923032"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Area of the parallelogram:</a:t>
            </a:r>
            <a:endParaRPr b="0" i="0" sz="2800" u="none" cap="none" strike="noStrike">
              <a:solidFill>
                <a:schemeClr val="dk1"/>
              </a:solidFill>
              <a:latin typeface="Arial"/>
              <a:ea typeface="Arial"/>
              <a:cs typeface="Arial"/>
              <a:sym typeface="Arial"/>
            </a:endParaRPr>
          </a:p>
        </p:txBody>
      </p:sp>
      <p:sp>
        <p:nvSpPr>
          <p:cNvPr id="742" name="Google Shape;742;p70"/>
          <p:cNvSpPr txBox="1"/>
          <p:nvPr/>
        </p:nvSpPr>
        <p:spPr>
          <a:xfrm>
            <a:off x="4136136" y="2129538"/>
            <a:ext cx="2923032"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Area of the triangle:</a:t>
            </a:r>
            <a:endParaRPr b="0" i="0" sz="2800" u="none" cap="none" strike="noStrike">
              <a:solidFill>
                <a:schemeClr val="dk1"/>
              </a:solidFill>
              <a:latin typeface="Arial"/>
              <a:ea typeface="Arial"/>
              <a:cs typeface="Arial"/>
              <a:sym typeface="Arial"/>
            </a:endParaRPr>
          </a:p>
        </p:txBody>
      </p:sp>
      <p:sp>
        <p:nvSpPr>
          <p:cNvPr id="743" name="Google Shape;743;p70"/>
          <p:cNvSpPr txBox="1"/>
          <p:nvPr/>
        </p:nvSpPr>
        <p:spPr>
          <a:xfrm>
            <a:off x="484564" y="4815033"/>
            <a:ext cx="7388420"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use this information to help you develop a formula for the area of a triangle?</a:t>
            </a:r>
            <a:endParaRPr b="0" i="0" sz="1400" u="none" cap="none" strike="noStrike">
              <a:solidFill>
                <a:srgbClr val="000000"/>
              </a:solidFill>
              <a:latin typeface="Arial"/>
              <a:ea typeface="Arial"/>
              <a:cs typeface="Arial"/>
              <a:sym typeface="Arial"/>
            </a:endParaRPr>
          </a:p>
        </p:txBody>
      </p:sp>
      <p:pic>
        <p:nvPicPr>
          <p:cNvPr id="744" name="Google Shape;744;p70"/>
          <p:cNvPicPr preferRelativeResize="0"/>
          <p:nvPr/>
        </p:nvPicPr>
        <p:blipFill rotWithShape="1">
          <a:blip r:embed="rId9">
            <a:alphaModFix/>
          </a:blip>
          <a:srcRect b="0" l="0" r="0" t="0"/>
          <a:stretch/>
        </p:blipFill>
        <p:spPr>
          <a:xfrm>
            <a:off x="6916982" y="2181225"/>
            <a:ext cx="5019675" cy="2495550"/>
          </a:xfrm>
          <a:prstGeom prst="rect">
            <a:avLst/>
          </a:prstGeom>
          <a:noFill/>
          <a:ln>
            <a:noFill/>
          </a:ln>
        </p:spPr>
      </p:pic>
      <p:sp>
        <p:nvSpPr>
          <p:cNvPr id="745" name="Google Shape;745;p70"/>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Triangles 	</a:t>
            </a:r>
            <a:endParaRPr b="0" i="0" sz="1400" u="none" cap="none" strike="noStrike">
              <a:solidFill>
                <a:srgbClr val="000000"/>
              </a:solidFill>
              <a:latin typeface="Arial"/>
              <a:ea typeface="Arial"/>
              <a:cs typeface="Arial"/>
              <a:sym typeface="Arial"/>
            </a:endParaRPr>
          </a:p>
        </p:txBody>
      </p:sp>
      <p:sp>
        <p:nvSpPr>
          <p:cNvPr id="74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50</a:t>
            </a: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71"/>
          <p:cNvSpPr/>
          <p:nvPr/>
        </p:nvSpPr>
        <p:spPr>
          <a:xfrm>
            <a:off x="484565" y="3083646"/>
            <a:ext cx="1434175"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51" name="Google Shape;751;p71"/>
          <p:cNvSpPr/>
          <p:nvPr/>
        </p:nvSpPr>
        <p:spPr>
          <a:xfrm>
            <a:off x="484565" y="3643396"/>
            <a:ext cx="2263761"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52" name="Google Shape;752;p71"/>
          <p:cNvSpPr/>
          <p:nvPr/>
        </p:nvSpPr>
        <p:spPr>
          <a:xfrm>
            <a:off x="484565" y="4208867"/>
            <a:ext cx="2281329"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53" name="Google Shape;753;p71"/>
          <p:cNvSpPr/>
          <p:nvPr/>
        </p:nvSpPr>
        <p:spPr>
          <a:xfrm>
            <a:off x="484565" y="931007"/>
            <a:ext cx="6411535"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We can write the formula that reflects half the area of a parallelogram. </a:t>
            </a:r>
            <a:endParaRPr b="0" i="0" sz="1400" u="none" cap="none" strike="noStrike">
              <a:solidFill>
                <a:srgbClr val="000000"/>
              </a:solidFill>
              <a:latin typeface="Arial"/>
              <a:ea typeface="Arial"/>
              <a:cs typeface="Arial"/>
              <a:sym typeface="Arial"/>
            </a:endParaRPr>
          </a:p>
        </p:txBody>
      </p:sp>
      <p:sp>
        <p:nvSpPr>
          <p:cNvPr id="754" name="Google Shape;754;p71"/>
          <p:cNvSpPr/>
          <p:nvPr/>
        </p:nvSpPr>
        <p:spPr>
          <a:xfrm>
            <a:off x="4160453" y="3083646"/>
            <a:ext cx="2089033" cy="700705"/>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55" name="Google Shape;755;p71"/>
          <p:cNvSpPr/>
          <p:nvPr/>
        </p:nvSpPr>
        <p:spPr>
          <a:xfrm>
            <a:off x="4160453" y="3757763"/>
            <a:ext cx="2281330" cy="523220"/>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56" name="Google Shape;756;p71"/>
          <p:cNvSpPr txBox="1"/>
          <p:nvPr/>
        </p:nvSpPr>
        <p:spPr>
          <a:xfrm>
            <a:off x="484565" y="2129539"/>
            <a:ext cx="2923032"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Area of the parallelogram:</a:t>
            </a:r>
            <a:endParaRPr b="0" i="0" sz="2800" u="none" cap="none" strike="noStrike">
              <a:solidFill>
                <a:schemeClr val="dk1"/>
              </a:solidFill>
              <a:latin typeface="Arial"/>
              <a:ea typeface="Arial"/>
              <a:cs typeface="Arial"/>
              <a:sym typeface="Arial"/>
            </a:endParaRPr>
          </a:p>
        </p:txBody>
      </p:sp>
      <p:sp>
        <p:nvSpPr>
          <p:cNvPr id="757" name="Google Shape;757;p71"/>
          <p:cNvSpPr txBox="1"/>
          <p:nvPr/>
        </p:nvSpPr>
        <p:spPr>
          <a:xfrm>
            <a:off x="4136136" y="2129538"/>
            <a:ext cx="2923032"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Area of the triangle:</a:t>
            </a:r>
            <a:endParaRPr b="0" i="0" sz="2800" u="none" cap="none" strike="noStrike">
              <a:solidFill>
                <a:schemeClr val="dk1"/>
              </a:solidFill>
              <a:latin typeface="Arial"/>
              <a:ea typeface="Arial"/>
              <a:cs typeface="Arial"/>
              <a:sym typeface="Arial"/>
            </a:endParaRPr>
          </a:p>
        </p:txBody>
      </p:sp>
      <p:sp>
        <p:nvSpPr>
          <p:cNvPr id="758" name="Google Shape;758;p71"/>
          <p:cNvSpPr txBox="1"/>
          <p:nvPr/>
        </p:nvSpPr>
        <p:spPr>
          <a:xfrm>
            <a:off x="484564" y="4815033"/>
            <a:ext cx="7388420" cy="700705"/>
          </a:xfrm>
          <a:prstGeom prst="rect">
            <a:avLst/>
          </a:prstGeom>
          <a:blipFill rotWithShape="1">
            <a:blip r:embed="rId8">
              <a:alphaModFix/>
            </a:blip>
            <a:stretch>
              <a:fillRect b="-9565" l="-1649"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759" name="Google Shape;759;p71"/>
          <p:cNvPicPr preferRelativeResize="0"/>
          <p:nvPr/>
        </p:nvPicPr>
        <p:blipFill rotWithShape="1">
          <a:blip r:embed="rId9">
            <a:alphaModFix/>
          </a:blip>
          <a:srcRect b="0" l="0" r="0" t="0"/>
          <a:stretch/>
        </p:blipFill>
        <p:spPr>
          <a:xfrm>
            <a:off x="6916982" y="2181225"/>
            <a:ext cx="5019675" cy="2495550"/>
          </a:xfrm>
          <a:prstGeom prst="rect">
            <a:avLst/>
          </a:prstGeom>
          <a:noFill/>
          <a:ln>
            <a:noFill/>
          </a:ln>
        </p:spPr>
      </p:pic>
      <p:sp>
        <p:nvSpPr>
          <p:cNvPr id="760" name="Google Shape;760;p71"/>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Triangles 	</a:t>
            </a:r>
            <a:endParaRPr b="0" i="0" sz="1400" u="none" cap="none" strike="noStrike">
              <a:solidFill>
                <a:srgbClr val="000000"/>
              </a:solidFill>
              <a:latin typeface="Arial"/>
              <a:ea typeface="Arial"/>
              <a:cs typeface="Arial"/>
              <a:sym typeface="Arial"/>
            </a:endParaRPr>
          </a:p>
        </p:txBody>
      </p:sp>
      <p:sp>
        <p:nvSpPr>
          <p:cNvPr id="76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50</a:t>
            </a:r>
          </a:p>
        </p:txBody>
      </p:sp>
      <p:sp xmlns:p="http://schemas.openxmlformats.org/presentationml/2006/main" xmlns:a="http://schemas.openxmlformats.org/drawingml/2006/main">
        <p:nvSpPr>
          <p:cNvPr id="762"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a base and its matching height. Explain how your method uses them.</a:t>
            </a:r>
            <a:endParaRPr lang="en-US" sz="2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cxnSp>
        <p:nvCxnSpPr>
          <p:cNvPr id="776" name="Google Shape;776;p7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77" name="Google Shape;777;p73"/>
          <p:cNvSpPr/>
          <p:nvPr/>
        </p:nvSpPr>
        <p:spPr>
          <a:xfrm>
            <a:off x="457802" y="3540758"/>
            <a:ext cx="8051197"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type of triangle is Triangle B? What does this tell you about the height of the triangle?</a:t>
            </a:r>
            <a:endParaRPr b="1" i="0" sz="2800" u="none" cap="none" strike="noStrike">
              <a:solidFill>
                <a:schemeClr val="dk1"/>
              </a:solidFill>
              <a:latin typeface="Arial"/>
              <a:ea typeface="Arial"/>
              <a:cs typeface="Arial"/>
              <a:sym typeface="Arial"/>
            </a:endParaRPr>
          </a:p>
        </p:txBody>
      </p:sp>
      <p:sp>
        <p:nvSpPr>
          <p:cNvPr id="778" name="Google Shape;778;p73"/>
          <p:cNvSpPr/>
          <p:nvPr/>
        </p:nvSpPr>
        <p:spPr>
          <a:xfrm>
            <a:off x="457802" y="931007"/>
            <a:ext cx="6500435"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Let’s determine the area of Triangle B using the area formula for triangles.</a:t>
            </a:r>
            <a:endParaRPr b="0" i="0" sz="2800" u="none" cap="none" strike="noStrike">
              <a:solidFill>
                <a:schemeClr val="dk1"/>
              </a:solidFill>
              <a:latin typeface="Arial"/>
              <a:ea typeface="Arial"/>
              <a:cs typeface="Arial"/>
              <a:sym typeface="Arial"/>
            </a:endParaRPr>
          </a:p>
        </p:txBody>
      </p:sp>
      <p:sp>
        <p:nvSpPr>
          <p:cNvPr id="779" name="Google Shape;779;p73"/>
          <p:cNvSpPr/>
          <p:nvPr/>
        </p:nvSpPr>
        <p:spPr>
          <a:xfrm>
            <a:off x="457802" y="2031711"/>
            <a:ext cx="2210285" cy="898964"/>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80" name="Google Shape;780;p73"/>
          <p:cNvSpPr txBox="1"/>
          <p:nvPr/>
        </p:nvSpPr>
        <p:spPr>
          <a:xfrm>
            <a:off x="531479" y="4869665"/>
            <a:ext cx="11108148" cy="15494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It is a right triangle, so the height of the triangle is the same as the vertical side connecting the base to the opposite vertex.</a:t>
            </a:r>
            <a:endParaRPr b="0" i="0" sz="2800" u="none" cap="none" strike="noStrike">
              <a:solidFill>
                <a:srgbClr val="595959"/>
              </a:solidFill>
              <a:latin typeface="Arial"/>
              <a:ea typeface="Arial"/>
              <a:cs typeface="Arial"/>
              <a:sym typeface="Arial"/>
            </a:endParaRPr>
          </a:p>
        </p:txBody>
      </p:sp>
      <p:pic>
        <p:nvPicPr>
          <p:cNvPr id="781" name="Google Shape;781;p73"/>
          <p:cNvPicPr preferRelativeResize="0"/>
          <p:nvPr/>
        </p:nvPicPr>
        <p:blipFill rotWithShape="1">
          <a:blip r:embed="rId4">
            <a:alphaModFix/>
          </a:blip>
          <a:srcRect b="0" l="0" r="0" t="0"/>
          <a:stretch/>
        </p:blipFill>
        <p:spPr>
          <a:xfrm>
            <a:off x="9091612" y="1714500"/>
            <a:ext cx="2333625" cy="3352800"/>
          </a:xfrm>
          <a:prstGeom prst="rect">
            <a:avLst/>
          </a:prstGeom>
          <a:noFill/>
          <a:ln>
            <a:noFill/>
          </a:ln>
        </p:spPr>
      </p:pic>
      <p:sp>
        <p:nvSpPr>
          <p:cNvPr id="782" name="Google Shape;782;p73"/>
          <p:cNvSpPr txBox="1"/>
          <p:nvPr/>
        </p:nvSpPr>
        <p:spPr>
          <a:xfrm>
            <a:off x="457802"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Triangles 	</a:t>
            </a:r>
            <a:endParaRPr b="0" i="0" sz="1400" u="none" cap="none" strike="noStrike">
              <a:solidFill>
                <a:srgbClr val="000000"/>
              </a:solidFill>
              <a:latin typeface="Arial"/>
              <a:ea typeface="Arial"/>
              <a:cs typeface="Arial"/>
              <a:sym typeface="Arial"/>
            </a:endParaRPr>
          </a:p>
        </p:txBody>
      </p:sp>
      <p:sp>
        <p:nvSpPr>
          <p:cNvPr id="78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50</a:t>
            </a:r>
          </a:p>
        </p:txBody>
      </p:sp>
      <p:sp>
        <p:nvSpPr>
          <p:cNvPr id="784" name="EWL-COVER-1"/>
          <p:cNvSpPr/>
          <p:nvPr/>
        </p:nvSpPr>
        <p:spPr>
          <a:xfrm>
            <a:off x="476615" y="4814801"/>
            <a:ext cx="11217876" cy="1631719"/>
          </a:xfrm>
          <a:prstGeom prst="rect">
            <a:avLst/>
          </a:prstGeom>
          <a:solidFill>
            <a:srgbClr val="FFFFFF"/>
          </a:solidFill>
          <a:ln>
            <a:noFill/>
          </a:ln>
        </p:spPr>
        <p:txBody>
          <a:bodyPr/>
          <a:lstStyle/>
          <a:p/>
        </p:txBody>
      </p:sp>
      <p:grpSp>
        <p:nvGrpSpPr>
          <p:cNvPr id="785" name="TEACH-3-student-move" descr="TEACH 3 · Use intentional questioning to deepen learning"/>
          <p:cNvGrpSpPr/>
          <p:nvPr/>
        </p:nvGrpSpPr>
        <p:grpSpPr>
          <a:xfrm>
            <a:off x="502920" y="3101846"/>
            <a:ext cx="5501640" cy="402336"/>
            <a:chOff x="502920" y="3101846"/>
            <a:chExt cx="5501640" cy="402336"/>
          </a:xfrm>
        </p:grpSpPr>
        <p:sp>
          <p:nvSpPr>
            <p:cNvPr id="786" name="TEACH-move-card"/>
            <p:cNvSpPr/>
            <p:nvPr/>
          </p:nvSpPr>
          <p:spPr>
            <a:xfrm>
              <a:off x="502920" y="3101846"/>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787" name="TEACH-move-rule"/>
            <p:cNvSpPr/>
            <p:nvPr/>
          </p:nvSpPr>
          <p:spPr>
            <a:xfrm>
              <a:off x="548640" y="3178290"/>
              <a:ext cx="100584" cy="249448"/>
            </a:xfrm>
            <a:prstGeom prst="roundRect">
              <a:avLst>
                <a:gd name="adj" fmla="val 50000"/>
              </a:avLst>
            </a:prstGeom>
            <a:solidFill>
              <a:srgbClr val="01708C"/>
            </a:solidFill>
            <a:ln>
              <a:noFill/>
            </a:ln>
          </p:spPr>
          <p:txBody>
            <a:bodyPr/>
            <a:lstStyle/>
            <a:p>
              <a:endParaRPr/>
            </a:p>
          </p:txBody>
        </p:sp>
        <p:sp>
          <p:nvSpPr>
            <p:cNvPr id="788" name="TEACH-move-text"/>
            <p:cNvSpPr txBox="1"/>
            <p:nvPr/>
          </p:nvSpPr>
          <p:spPr>
            <a:xfrm>
              <a:off x="822960" y="3101846"/>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8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cxnSp>
        <p:nvCxnSpPr>
          <p:cNvPr id="806" name="Google Shape;806;p7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07" name="Google Shape;807;p76"/>
          <p:cNvSpPr txBox="1"/>
          <p:nvPr/>
        </p:nvSpPr>
        <p:spPr>
          <a:xfrm>
            <a:off x="484565" y="2392756"/>
            <a:ext cx="10245620" cy="103624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p:txBody>
      </p:sp>
      <p:sp>
        <p:nvSpPr>
          <p:cNvPr id="808" name="Google Shape;808;p76"/>
          <p:cNvSpPr txBox="1"/>
          <p:nvPr/>
        </p:nvSpPr>
        <p:spPr>
          <a:xfrm>
            <a:off x="484565" y="1225418"/>
            <a:ext cx="9811830" cy="92964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p:txBody>
      </p:sp>
      <p:pic>
        <p:nvPicPr>
          <p:cNvPr id="809" name="Google Shape;809;p76"/>
          <p:cNvPicPr preferRelativeResize="0"/>
          <p:nvPr/>
        </p:nvPicPr>
        <p:blipFill rotWithShape="1">
          <a:blip r:embed="rId3">
            <a:alphaModFix/>
          </a:blip>
          <a:srcRect b="0" l="0" r="0" t="0"/>
          <a:stretch/>
        </p:blipFill>
        <p:spPr>
          <a:xfrm>
            <a:off x="621010" y="5093980"/>
            <a:ext cx="9944100" cy="838200"/>
          </a:xfrm>
          <a:prstGeom prst="rect">
            <a:avLst/>
          </a:prstGeom>
          <a:noFill/>
          <a:ln>
            <a:noFill/>
          </a:ln>
        </p:spPr>
      </p:pic>
      <p:sp>
        <p:nvSpPr>
          <p:cNvPr id="810" name="Google Shape;810;p76"/>
          <p:cNvSpPr txBox="1"/>
          <p:nvPr/>
        </p:nvSpPr>
        <p:spPr>
          <a:xfrm>
            <a:off x="3200574" y="5251470"/>
            <a:ext cx="710225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23282D"/>
                </a:solidFill>
                <a:latin typeface="Arial"/>
                <a:ea typeface="Arial"/>
                <a:cs typeface="Arial"/>
                <a:sym typeface="Arial"/>
              </a:rPr>
              <a:t>Using Symbols Appropriately</a:t>
            </a:r>
            <a:endParaRPr b="0" i="0" sz="1400" u="none" cap="none" strike="noStrike">
              <a:solidFill>
                <a:srgbClr val="000000"/>
              </a:solidFill>
              <a:latin typeface="Arial"/>
              <a:ea typeface="Arial"/>
              <a:cs typeface="Arial"/>
              <a:sym typeface="Arial"/>
            </a:endParaRPr>
          </a:p>
        </p:txBody>
      </p:sp>
      <p:sp>
        <p:nvSpPr>
          <p:cNvPr id="811" name="Google Shape;811;p76"/>
          <p:cNvSpPr txBox="1"/>
          <p:nvPr/>
        </p:nvSpPr>
        <p:spPr>
          <a:xfrm>
            <a:off x="776169" y="5840740"/>
            <a:ext cx="9662412" cy="4924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What units of measure are needed to be precise?</a:t>
            </a:r>
            <a:endParaRPr b="0" i="0" sz="1400" u="none" cap="none" strike="noStrike">
              <a:solidFill>
                <a:srgbClr val="000000"/>
              </a:solidFill>
              <a:latin typeface="Arial"/>
              <a:ea typeface="Arial"/>
              <a:cs typeface="Arial"/>
              <a:sym typeface="Arial"/>
            </a:endParaRPr>
          </a:p>
        </p:txBody>
      </p:sp>
      <p:pic>
        <p:nvPicPr>
          <p:cNvPr id="812" name="Google Shape;812;p76"/>
          <p:cNvPicPr preferRelativeResize="0"/>
          <p:nvPr/>
        </p:nvPicPr>
        <p:blipFill rotWithShape="1">
          <a:blip r:embed="rId3">
            <a:alphaModFix/>
          </a:blip>
          <a:srcRect b="0" l="0" r="0" t="0"/>
          <a:stretch/>
        </p:blipFill>
        <p:spPr>
          <a:xfrm>
            <a:off x="486000" y="5093980"/>
            <a:ext cx="9944100" cy="838200"/>
          </a:xfrm>
          <a:prstGeom prst="rect">
            <a:avLst/>
          </a:prstGeom>
          <a:noFill/>
          <a:ln>
            <a:noFill/>
          </a:ln>
        </p:spPr>
      </p:pic>
      <p:sp>
        <p:nvSpPr>
          <p:cNvPr id="813" name="Google Shape;813;p76"/>
          <p:cNvSpPr txBox="1"/>
          <p:nvPr/>
        </p:nvSpPr>
        <p:spPr>
          <a:xfrm>
            <a:off x="486000" y="2875273"/>
            <a:ext cx="5401884" cy="1384995"/>
          </a:xfrm>
          <a:prstGeom prst="rect">
            <a:avLst/>
          </a:prstGeom>
          <a:solidFill>
            <a:schemeClr val="lt1"/>
          </a:solidFill>
          <a:ln cap="flat" cmpd="sng" w="12700">
            <a:solidFill>
              <a:srgbClr val="782DA0"/>
            </a:solidFill>
            <a:prstDash val="solid"/>
            <a:miter lim="8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23282D"/>
                </a:solidFill>
                <a:latin typeface="Arial"/>
                <a:ea typeface="Arial"/>
                <a:cs typeface="Arial"/>
                <a:sym typeface="Arial"/>
              </a:rPr>
              <a:t>The area of Triangle A is 225 square centimeters. The area of Triangle B is 70 square inches.</a:t>
            </a:r>
            <a:endParaRPr b="0" i="0" sz="1400" u="none" cap="none" strike="noStrike">
              <a:solidFill>
                <a:srgbClr val="000000"/>
              </a:solidFill>
              <a:latin typeface="Arial"/>
              <a:ea typeface="Arial"/>
              <a:cs typeface="Arial"/>
              <a:sym typeface="Arial"/>
            </a:endParaRPr>
          </a:p>
        </p:txBody>
      </p:sp>
      <p:sp>
        <p:nvSpPr>
          <p:cNvPr id="814" name="Google Shape;814;p76"/>
          <p:cNvSpPr txBox="1"/>
          <p:nvPr/>
        </p:nvSpPr>
        <p:spPr>
          <a:xfrm>
            <a:off x="484566" y="936000"/>
            <a:ext cx="5468559" cy="107012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What is the area of each of the triangles shown?</a:t>
            </a:r>
            <a:endParaRPr b="0" i="0" sz="1400" u="none" cap="none" strike="noStrike">
              <a:solidFill>
                <a:srgbClr val="000000"/>
              </a:solidFill>
              <a:latin typeface="Arial"/>
              <a:ea typeface="Arial"/>
              <a:cs typeface="Arial"/>
              <a:sym typeface="Arial"/>
            </a:endParaRPr>
          </a:p>
        </p:txBody>
      </p:sp>
      <p:pic>
        <p:nvPicPr>
          <p:cNvPr id="815" name="Google Shape;815;p76"/>
          <p:cNvPicPr preferRelativeResize="0"/>
          <p:nvPr/>
        </p:nvPicPr>
        <p:blipFill rotWithShape="1">
          <a:blip r:embed="rId4">
            <a:alphaModFix/>
          </a:blip>
          <a:srcRect b="0" l="0" r="0" t="0"/>
          <a:stretch/>
        </p:blipFill>
        <p:spPr>
          <a:xfrm>
            <a:off x="6115050" y="1340666"/>
            <a:ext cx="5934075" cy="3352800"/>
          </a:xfrm>
          <a:prstGeom prst="rect">
            <a:avLst/>
          </a:prstGeom>
          <a:noFill/>
          <a:ln>
            <a:noFill/>
          </a:ln>
        </p:spPr>
      </p:pic>
      <p:sp>
        <p:nvSpPr>
          <p:cNvPr id="816" name="Google Shape;816;p76"/>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Triangles 	</a:t>
            </a:r>
            <a:endParaRPr b="0" i="0" sz="1400" u="none" cap="none" strike="noStrike">
              <a:solidFill>
                <a:srgbClr val="000000"/>
              </a:solidFill>
              <a:latin typeface="Arial"/>
              <a:ea typeface="Arial"/>
              <a:cs typeface="Arial"/>
              <a:sym typeface="Arial"/>
            </a:endParaRPr>
          </a:p>
        </p:txBody>
      </p:sp>
      <p:sp>
        <p:nvSpPr>
          <p:cNvPr id="81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50</a:t>
            </a:r>
          </a:p>
        </p:txBody>
      </p:sp>
      <p:grpSp>
        <p:nvGrpSpPr>
          <p:cNvPr id="818" name="TEACH-6-student-move" descr="TEACH 6 · Organize and implement routines to support a learning-focused classroom"/>
          <p:cNvGrpSpPr/>
          <p:nvPr/>
        </p:nvGrpSpPr>
        <p:grpSpPr>
          <a:xfrm>
            <a:off x="502920" y="4417324"/>
            <a:ext cx="5501640" cy="594360"/>
            <a:chOff x="502920" y="4417324"/>
            <a:chExt cx="5501640" cy="594360"/>
          </a:xfrm>
        </p:grpSpPr>
        <p:sp>
          <p:nvSpPr>
            <p:cNvPr id="819" name="TEACH-move-card"/>
            <p:cNvSpPr/>
            <p:nvPr/>
          </p:nvSpPr>
          <p:spPr>
            <a:xfrm>
              <a:off x="502920" y="4417324"/>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820" name="TEACH-move-rule"/>
            <p:cNvSpPr/>
            <p:nvPr/>
          </p:nvSpPr>
          <p:spPr>
            <a:xfrm>
              <a:off x="548640" y="4530252"/>
              <a:ext cx="100584" cy="368504"/>
            </a:xfrm>
            <a:prstGeom prst="roundRect">
              <a:avLst>
                <a:gd name="adj" fmla="val 50000"/>
              </a:avLst>
            </a:prstGeom>
            <a:solidFill>
              <a:srgbClr val="01708C"/>
            </a:solidFill>
            <a:ln>
              <a:noFill/>
            </a:ln>
          </p:spPr>
          <p:txBody>
            <a:bodyPr/>
            <a:lstStyle/>
            <a:p>
              <a:endParaRPr/>
            </a:p>
          </p:txBody>
        </p:sp>
        <p:sp>
          <p:nvSpPr>
            <p:cNvPr id="821" name="TEACH-move-text"/>
            <p:cNvSpPr txBox="1"/>
            <p:nvPr/>
          </p:nvSpPr>
          <p:spPr>
            <a:xfrm>
              <a:off x="822960" y="4417324"/>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77"/>
          <p:cNvSpPr txBox="1"/>
          <p:nvPr/>
        </p:nvSpPr>
        <p:spPr>
          <a:xfrm>
            <a:off x="6314663" y="5744798"/>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822" name="Google Shape;822;p77"/>
          <p:cNvSpPr/>
          <p:nvPr/>
        </p:nvSpPr>
        <p:spPr>
          <a:xfrm>
            <a:off x="567559" y="3314700"/>
            <a:ext cx="7031726" cy="2963609"/>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823" name="Google Shape;823;p77"/>
          <p:cNvSpPr txBox="1"/>
          <p:nvPr/>
        </p:nvSpPr>
        <p:spPr>
          <a:xfrm>
            <a:off x="484564" y="927528"/>
            <a:ext cx="7114721" cy="2247472"/>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defRPr/>
            </a:pPr>
            <a:r>
              <a:rPr b="0" i="0" lang="en-US" sz="2800" u="none" cap="none" strike="noStrike">
                <a:solidFill>
                  <a:srgbClr val="23282D"/>
                </a:solidFill>
                <a:latin typeface="Arial"/>
                <a:ea typeface="Arial"/>
                <a:cs typeface="Arial"/>
                <a:sym typeface="Arial"/>
              </a:rPr>
              <a:t>Lucy found the area of the triangle shown by first taking half of the height and then multiplying the result by the base. Is this an acceptable way to find the area of a triangle? Explain. ​</a:t>
            </a:r>
            <a:endParaRPr b="0" i="0" sz="1400" u="none" cap="none" strike="noStrike">
              <a:solidFill>
                <a:srgbClr val="000000"/>
              </a:solidFill>
              <a:latin typeface="Arial"/>
              <a:ea typeface="Arial"/>
              <a:cs typeface="Arial"/>
              <a:sym typeface="Arial"/>
            </a:endParaRPr>
          </a:p>
        </p:txBody>
      </p:sp>
      <p:sp>
        <p:nvSpPr>
          <p:cNvPr id="824" name="Google Shape;824;p77"/>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pic>
        <p:nvPicPr>
          <p:cNvPr id="825" name="Google Shape;825;p77"/>
          <p:cNvPicPr preferRelativeResize="0"/>
          <p:nvPr/>
        </p:nvPicPr>
        <p:blipFill rotWithShape="1">
          <a:blip r:embed="rId3">
            <a:alphaModFix/>
          </a:blip>
          <a:srcRect b="0" l="0" r="0" t="0"/>
          <a:stretch/>
        </p:blipFill>
        <p:spPr>
          <a:xfrm>
            <a:off x="7599285" y="1812925"/>
            <a:ext cx="4371975" cy="1123950"/>
          </a:xfrm>
          <a:prstGeom prst="rect">
            <a:avLst/>
          </a:prstGeom>
          <a:noFill/>
          <a:ln>
            <a:noFill/>
          </a:ln>
        </p:spPr>
      </p:pic>
      <p:sp>
        <p:nvSpPr>
          <p:cNvPr id="82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50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5.2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How do two copies of this triangle explain the area formula?</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47" name="Google Shape;847;p8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48" name="Google Shape;848;p80"/>
          <p:cNvSpPr/>
          <p:nvPr/>
        </p:nvSpPr>
        <p:spPr>
          <a:xfrm>
            <a:off x="535185" y="5529217"/>
            <a:ext cx="10741420"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are you establishing a positive relationship with a classmate in math class?</a:t>
            </a:r>
            <a:endParaRPr b="0" i="0" sz="1400" u="none" cap="none" strike="noStrike">
              <a:solidFill>
                <a:srgbClr val="000000"/>
              </a:solidFill>
              <a:latin typeface="Arial"/>
              <a:ea typeface="Arial"/>
              <a:cs typeface="Arial"/>
              <a:sym typeface="Arial"/>
            </a:endParaRPr>
          </a:p>
        </p:txBody>
      </p:sp>
      <p:sp>
        <p:nvSpPr>
          <p:cNvPr id="849" name="Google Shape;849;p80"/>
          <p:cNvSpPr txBox="1"/>
          <p:nvPr/>
        </p:nvSpPr>
        <p:spPr>
          <a:xfrm>
            <a:off x="484560" y="936101"/>
            <a:ext cx="4714969" cy="803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could the question be?</a:t>
            </a:r>
            <a:endParaRPr b="0" i="0" sz="1400" u="none" cap="none" strike="noStrike">
              <a:solidFill>
                <a:srgbClr val="000000"/>
              </a:solidFill>
              <a:latin typeface="Arial"/>
              <a:ea typeface="Arial"/>
              <a:cs typeface="Arial"/>
              <a:sym typeface="Arial"/>
            </a:endParaRPr>
          </a:p>
        </p:txBody>
      </p:sp>
      <p:sp>
        <p:nvSpPr>
          <p:cNvPr id="850" name="Google Shape;850;p80"/>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851" name="Google Shape;851;p80"/>
          <p:cNvPicPr preferRelativeResize="0"/>
          <p:nvPr/>
        </p:nvPicPr>
        <p:blipFill rotWithShape="1">
          <a:blip r:embed="rId2">
            <a:alphaModFix/>
          </a:blip>
          <a:srcRect b="0" l="0" r="0" t="0"/>
          <a:stretch/>
        </p:blipFill>
        <p:spPr>
          <a:xfrm>
            <a:off x="513664" y="4671754"/>
            <a:ext cx="5054600" cy="838200"/>
          </a:xfrm>
          <a:prstGeom prst="rect">
            <a:avLst/>
          </a:prstGeom>
          <a:noFill/>
          <a:ln>
            <a:noFill/>
          </a:ln>
        </p:spPr>
      </p:pic>
      <p:sp>
        <p:nvSpPr>
          <p:cNvPr id="852" name="Google Shape;852;p80"/>
          <p:cNvSpPr txBox="1"/>
          <p:nvPr/>
        </p:nvSpPr>
        <p:spPr>
          <a:xfrm>
            <a:off x="3208120" y="4796602"/>
            <a:ext cx="236014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pic>
        <p:nvPicPr>
          <p:cNvPr id="853" name="Google Shape;853;p80"/>
          <p:cNvPicPr preferRelativeResize="0"/>
          <p:nvPr/>
        </p:nvPicPr>
        <p:blipFill rotWithShape="1">
          <a:blip r:embed="rId3">
            <a:alphaModFix/>
          </a:blip>
          <a:srcRect b="0" l="0" r="0" t="0"/>
          <a:stretch/>
        </p:blipFill>
        <p:spPr>
          <a:xfrm>
            <a:off x="5731810" y="1319977"/>
            <a:ext cx="4324350" cy="3476625"/>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50</a:t>
            </a:r>
          </a:p>
        </p:txBody>
      </p:sp>
      <p:sp xmlns:p="http://schemas.openxmlformats.org/presentationml/2006/main" xmlns:a="http://schemas.openxmlformats.org/drawingml/2006/main">
        <p:nvSpPr>
          <p:cNvPr id="854" name="TEACH-embedded-student-prompt" descr="Student thinking and response directions"/>
          <p:cNvSpPr txBox="1"/>
          <p:nvPr/>
        </p:nvSpPr>
        <p:spPr>
          <a:xfrm>
            <a:off x="594360" y="345643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a:t>
            </a:r>
            <a:endParaRPr lang="en-US" sz="2000"/>
          </a:p>
          <a:p>
            <a:pPr>
              <a:lnSpc>
                <a:spcPts val="2400"/>
              </a:lnSpc>
              <a:buNone/>
            </a:pPr>
            <a:r>
              <a:rPr lang="en-US" sz="2000">
                <a:solidFill>
                  <a:srgbClr val="174D60"/>
                </a:solidFill>
                <a:latin typeface="Arial"/>
              </a:rPr>
              <a:t>question; build on a classmate’s</a:t>
            </a:r>
            <a:endParaRPr lang="en-US" sz="2000"/>
          </a:p>
          <a:p>
            <a:pPr>
              <a:lnSpc>
                <a:spcPts val="2400"/>
              </a:lnSpc>
              <a:buNone/>
            </a:pPr>
            <a:r>
              <a:rPr lang="en-US" sz="2000">
                <a:solidFill>
                  <a:srgbClr val="174D60"/>
                </a:solidFill>
                <a:latin typeface="Arial"/>
              </a:rPr>
              <a:t>idea.</a:t>
            </a:r>
            <a:endParaRPr lang="en-US" sz="20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5-2 · Determine the Area of Triangles</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200" u="none" cap="none" strike="noStrike">
                <a:solidFill>
                  <a:srgbClr val="14223A"/>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Try alone. Explain one. Then revise.</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Which formula gives the area of a triangle?</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 = b × h</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 = ½(b × h)</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 = b + h</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 = 2(b × h)</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Why does the triangle formula include 1/2?</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Triangles have 3 sides</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 triangle is half a parallelogram</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To make numbers smaller</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Only for right triangles</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A triangle has base 10 m and height 6 m. What is its area?</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16 m²</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30 m²</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60 m²</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30 m³</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A right triangle has legs 4 ft and 7 ft. Its area is:</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11 ft²</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14 ft²</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28 ft²</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22 ft²</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50</a:t>
            </a: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Review Notes — Session 2</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5-2 · Determine the Area of Triangles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Session 2: Review Notes</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Triangle Area Formula</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1" i="0" lang="en-US" sz="1450" u="none" cap="none" strike="noStrike">
                <a:solidFill>
                  <a:srgbClr val="475569"/>
                </a:solidFill>
                <a:latin typeface="Arial"/>
                <a:ea typeface="Arial"/>
                <a:cs typeface="Arial"/>
                <a:sym typeface="Arial"/>
              </a:rPr>
              <a:t xml:space="preserve">Area</a:t>
            </a:r>
            <a:r>
              <a:rPr b="0" i="0" lang="en-US" sz="1450" u="none" cap="none" strike="noStrike">
                <a:solidFill>
                  <a:srgbClr val="475569"/>
                </a:solidFill>
                <a:latin typeface="Arial"/>
                <a:ea typeface="Arial"/>
                <a:cs typeface="Arial"/>
                <a:sym typeface="Arial"/>
              </a:rPr>
              <a:t xml:space="preserve"> = ½ × </a:t>
            </a:r>
            <a:r>
              <a:rPr b="1" i="0" lang="en-US" sz="1450" u="none" cap="none" strike="noStrike">
                <a:solidFill>
                  <a:srgbClr val="475569"/>
                </a:solidFill>
                <a:latin typeface="Arial"/>
                <a:ea typeface="Arial"/>
                <a:cs typeface="Arial"/>
                <a:sym typeface="Arial"/>
              </a:rPr>
              <a:t xml:space="preserve">base</a:t>
            </a:r>
            <a:r>
              <a:rPr b="0" i="0" lang="en-US" sz="1450" u="none" cap="none" strike="noStrike">
                <a:solidFill>
                  <a:srgbClr val="475569"/>
                </a:solidFill>
                <a:latin typeface="Arial"/>
                <a:ea typeface="Arial"/>
                <a:cs typeface="Arial"/>
                <a:sym typeface="Arial"/>
              </a:rPr>
              <a:t xml:space="preserve"> × height (A = ½bh). Any triangle is exactly half of a parallelogram with the same base and height.</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Identifying Base &amp; Height</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The base can be any side; the </a:t>
            </a:r>
            <a:r>
              <a:rPr b="1" i="0" lang="en-US" sz="1450" u="none" cap="none" strike="noStrike">
                <a:solidFill>
                  <a:srgbClr val="475569"/>
                </a:solidFill>
                <a:latin typeface="Arial"/>
                <a:ea typeface="Arial"/>
                <a:cs typeface="Arial"/>
                <a:sym typeface="Arial"/>
              </a:rPr>
              <a:t xml:space="preserve">height</a:t>
            </a:r>
            <a:r>
              <a:rPr b="0" i="0" lang="en-US" sz="1450" u="none" cap="none" strike="noStrike">
                <a:solidFill>
                  <a:srgbClr val="475569"/>
                </a:solidFill>
                <a:latin typeface="Arial"/>
                <a:ea typeface="Arial"/>
                <a:cs typeface="Arial"/>
                <a:sym typeface="Arial"/>
              </a:rPr>
              <a:t xml:space="preserve"> is the </a:t>
            </a:r>
            <a:r>
              <a:rPr b="1" i="0" lang="en-US" sz="1450" u="none" cap="none" strike="noStrike">
                <a:solidFill>
                  <a:srgbClr val="475569"/>
                </a:solidFill>
                <a:latin typeface="Arial"/>
                <a:ea typeface="Arial"/>
                <a:cs typeface="Arial"/>
                <a:sym typeface="Arial"/>
              </a:rPr>
              <a:t xml:space="preserve">perpendicular</a:t>
            </a:r>
            <a:r>
              <a:rPr b="0" i="0" lang="en-US" sz="1450" u="none" cap="none" strike="noStrike">
                <a:solidFill>
                  <a:srgbClr val="475569"/>
                </a:solidFill>
                <a:latin typeface="Arial"/>
                <a:ea typeface="Arial"/>
                <a:cs typeface="Arial"/>
                <a:sym typeface="Arial"/>
              </a:rPr>
              <a:t xml:space="preserve"> segment from the opposite vertex to that base.</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Right Triangles</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In a </a:t>
            </a:r>
            <a:r>
              <a:rPr b="1" i="0" lang="en-US" sz="1450" u="none" cap="none" strike="noStrike">
                <a:solidFill>
                  <a:srgbClr val="475569"/>
                </a:solidFill>
                <a:latin typeface="Arial"/>
                <a:ea typeface="Arial"/>
                <a:cs typeface="Arial"/>
                <a:sym typeface="Arial"/>
              </a:rPr>
              <a:t xml:space="preserve">right triangle</a:t>
            </a:r>
            <a:r>
              <a:rPr b="0" i="0" lang="en-US" sz="1450" u="none" cap="none" strike="noStrike">
                <a:solidFill>
                  <a:srgbClr val="475569"/>
                </a:solidFill>
                <a:latin typeface="Arial"/>
                <a:ea typeface="Arial"/>
                <a:cs typeface="Arial"/>
                <a:sym typeface="Arial"/>
              </a:rPr>
              <a:t xml:space="preserve">, the two perpendicular legs serve directly as base and height.</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50</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78"/>
          <p:cNvSpPr txBox="1"/>
          <p:nvPr/>
        </p:nvSpPr>
        <p:spPr>
          <a:xfrm>
            <a:off x="1402828" y="2453951"/>
            <a:ext cx="7533908" cy="8351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Determine the Area of Triangles</a:t>
            </a:r>
            <a:endParaRPr b="1" i="0" sz="3600" u="none" cap="none" strike="noStrike">
              <a:solidFill>
                <a:schemeClr val="dk1"/>
              </a:solidFill>
              <a:latin typeface="Arial"/>
              <a:ea typeface="Arial"/>
              <a:cs typeface="Arial"/>
              <a:sym typeface="Arial"/>
            </a:endParaRPr>
          </a:p>
        </p:txBody>
      </p:sp>
      <p:sp>
        <p:nvSpPr>
          <p:cNvPr id="831" name="Google Shape;831;p78"/>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832" name="Google Shape;832;p78"/>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8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50</a:t>
            </a:r>
          </a:p>
        </p:txBody>
      </p:sp>
      <p:grpSp>
        <p:nvGrpSpPr>
          <p:cNvPr id="834" name="TEACH-4-student-move" descr="TEACH 4 · Monitor progress and provide feedback"/>
          <p:cNvGrpSpPr/>
          <p:nvPr/>
        </p:nvGrpSpPr>
        <p:grpSpPr>
          <a:xfrm>
            <a:off x="502920" y="3201930"/>
            <a:ext cx="11186160" cy="731520"/>
            <a:chOff x="502920" y="3201930"/>
            <a:chExt cx="11186160" cy="731520"/>
          </a:xfrm>
        </p:grpSpPr>
        <p:sp>
          <p:nvSpPr>
            <p:cNvPr id="835" name="TEACH-move-card"/>
            <p:cNvSpPr/>
            <p:nvPr/>
          </p:nvSpPr>
          <p:spPr>
            <a:xfrm>
              <a:off x="502920" y="3201930"/>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836" name="TEACH-move-rule"/>
            <p:cNvSpPr/>
            <p:nvPr/>
          </p:nvSpPr>
          <p:spPr>
            <a:xfrm>
              <a:off x="548640" y="3340919"/>
              <a:ext cx="100584" cy="453542"/>
            </a:xfrm>
            <a:prstGeom prst="roundRect">
              <a:avLst>
                <a:gd name="adj" fmla="val 50000"/>
              </a:avLst>
            </a:prstGeom>
            <a:solidFill>
              <a:srgbClr val="01708C"/>
            </a:solidFill>
            <a:ln>
              <a:noFill/>
            </a:ln>
          </p:spPr>
          <p:txBody>
            <a:bodyPr/>
            <a:lstStyle/>
            <a:p>
              <a:endParaRPr/>
            </a:p>
          </p:txBody>
        </p:sp>
        <p:sp>
          <p:nvSpPr>
            <p:cNvPr id="837" name="TEACH-move-text"/>
            <p:cNvSpPr txBox="1"/>
            <p:nvPr/>
          </p:nvSpPr>
          <p:spPr>
            <a:xfrm>
              <a:off x="822960" y="3201930"/>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SELF-CHECK  ·  </a:t>
              </a:r>
              <a:r>
                <a:rPr lang="en-US" sz="1800" dirty="0">
                  <a:solidFill>
                    <a:srgbClr val="13303A"/>
                  </a:solidFill>
                  <a:latin typeface="Arial"/>
                </a:rPr>
                <a:t>Mark it: ✓ got it  ·  ~ almost  ·  ? stuck. Then fix one thing before we move on.</a:t>
              </a:r>
              <a:endParaRPr lang="en-US" sz="1800"/>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cxnSp>
        <p:nvCxnSpPr>
          <p:cNvPr id="868" name="Google Shape;868;p8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69" name="Google Shape;869;p82"/>
          <p:cNvSpPr txBox="1"/>
          <p:nvPr/>
        </p:nvSpPr>
        <p:spPr>
          <a:xfrm>
            <a:off x="474206" y="913211"/>
            <a:ext cx="6675893" cy="371105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Bermuda Triangle is an area in the Atlantic Ocean between Miami, Florida, the island of Bermuda, and San Juan, Puerto Rico. It covers an area of about 437,409 square miles.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What is the approximate distance from Bermuda to San Juan?</a:t>
            </a:r>
            <a:endParaRPr b="0" i="0" sz="2800" u="none" cap="none" strike="noStrike">
              <a:solidFill>
                <a:schemeClr val="dk1"/>
              </a:solidFill>
              <a:latin typeface="Arial"/>
              <a:ea typeface="Arial"/>
              <a:cs typeface="Arial"/>
              <a:sym typeface="Arial"/>
            </a:endParaRPr>
          </a:p>
        </p:txBody>
      </p:sp>
      <p:sp>
        <p:nvSpPr>
          <p:cNvPr id="870" name="Google Shape;870;p82"/>
          <p:cNvSpPr txBox="1"/>
          <p:nvPr/>
        </p:nvSpPr>
        <p:spPr>
          <a:xfrm>
            <a:off x="670207" y="5466833"/>
            <a:ext cx="9944100" cy="4924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Does</a:t>
            </a:r>
            <a:r>
              <a:rPr b="0" i="0" lang="en-US" sz="2600" u="none" cap="none" strike="noStrike">
                <a:solidFill>
                  <a:schemeClr val="dk1"/>
                </a:solidFill>
                <a:latin typeface="Arial"/>
                <a:ea typeface="Arial"/>
                <a:cs typeface="Arial"/>
                <a:sym typeface="Arial"/>
              </a:rPr>
              <a:t> </a:t>
            </a:r>
            <a:r>
              <a:rPr b="0" i="0" lang="en-US" sz="2600" u="none" cap="none" strike="noStrike">
                <a:solidFill>
                  <a:srgbClr val="595959"/>
                </a:solidFill>
                <a:latin typeface="Arial"/>
                <a:ea typeface="Arial"/>
                <a:cs typeface="Arial"/>
                <a:sym typeface="Arial"/>
              </a:rPr>
              <a:t>the problem call for an estimate or an exact solution?</a:t>
            </a:r>
            <a:endParaRPr b="0" i="0" sz="2600" u="none" cap="none" strike="noStrike">
              <a:solidFill>
                <a:srgbClr val="595959"/>
              </a:solidFill>
              <a:latin typeface="Arial"/>
              <a:ea typeface="Arial"/>
              <a:cs typeface="Arial"/>
              <a:sym typeface="Arial"/>
            </a:endParaRPr>
          </a:p>
        </p:txBody>
      </p:sp>
      <p:sp>
        <p:nvSpPr>
          <p:cNvPr id="871" name="Google Shape;871;p82"/>
          <p:cNvSpPr txBox="1"/>
          <p:nvPr/>
        </p:nvSpPr>
        <p:spPr>
          <a:xfrm>
            <a:off x="474207"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The Bermuda Triangle</a:t>
            </a:r>
            <a:endParaRPr b="0" i="0" sz="1400" u="none" cap="none" strike="noStrike">
              <a:solidFill>
                <a:srgbClr val="000000"/>
              </a:solidFill>
              <a:latin typeface="Arial"/>
              <a:ea typeface="Arial"/>
              <a:cs typeface="Arial"/>
              <a:sym typeface="Arial"/>
            </a:endParaRPr>
          </a:p>
        </p:txBody>
      </p:sp>
      <p:pic>
        <p:nvPicPr>
          <p:cNvPr id="872" name="Google Shape;872;p82"/>
          <p:cNvPicPr preferRelativeResize="0"/>
          <p:nvPr/>
        </p:nvPicPr>
        <p:blipFill rotWithShape="1">
          <a:blip r:embed="rId3">
            <a:alphaModFix/>
          </a:blip>
          <a:srcRect b="0" l="0" r="0" t="0"/>
          <a:stretch/>
        </p:blipFill>
        <p:spPr>
          <a:xfrm>
            <a:off x="513664" y="4671754"/>
            <a:ext cx="5054600" cy="838200"/>
          </a:xfrm>
          <a:prstGeom prst="rect">
            <a:avLst/>
          </a:prstGeom>
          <a:noFill/>
          <a:ln>
            <a:noFill/>
          </a:ln>
        </p:spPr>
      </p:pic>
      <p:sp>
        <p:nvSpPr>
          <p:cNvPr id="873" name="Google Shape;873;p82"/>
          <p:cNvSpPr txBox="1"/>
          <p:nvPr/>
        </p:nvSpPr>
        <p:spPr>
          <a:xfrm>
            <a:off x="3208120" y="4826098"/>
            <a:ext cx="236014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Precision</a:t>
            </a:r>
            <a:endParaRPr b="0" i="0" sz="2800" u="none" cap="none" strike="noStrike">
              <a:solidFill>
                <a:srgbClr val="262626"/>
              </a:solidFill>
              <a:latin typeface="Arial"/>
              <a:ea typeface="Arial"/>
              <a:cs typeface="Arial"/>
              <a:sym typeface="Arial"/>
            </a:endParaRPr>
          </a:p>
        </p:txBody>
      </p:sp>
      <p:pic>
        <p:nvPicPr>
          <p:cNvPr id="874" name="Google Shape;874;p82"/>
          <p:cNvPicPr preferRelativeResize="0"/>
          <p:nvPr/>
        </p:nvPicPr>
        <p:blipFill rotWithShape="1">
          <a:blip r:embed="rId4">
            <a:alphaModFix/>
          </a:blip>
          <a:srcRect b="0" l="0" r="0" t="0"/>
          <a:stretch/>
        </p:blipFill>
        <p:spPr>
          <a:xfrm>
            <a:off x="7562465" y="1510477"/>
            <a:ext cx="4324350" cy="3476625"/>
          </a:xfrm>
          <a:prstGeom prst="rect">
            <a:avLst/>
          </a:prstGeom>
          <a:noFill/>
          <a:ln>
            <a:noFill/>
          </a:ln>
        </p:spPr>
      </p:pic>
      <p:sp>
        <p:nvSpPr>
          <p:cNvPr id="87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50</a:t>
            </a:r>
          </a:p>
        </p:txBody>
      </p:sp>
      <p:grpSp>
        <p:nvGrpSpPr>
          <p:cNvPr id="876" name="TEACH-2-student-move" descr="TEACH 2 · Use strategies and tasks to engage students in rigorous work"/>
          <p:cNvGrpSpPr/>
          <p:nvPr/>
        </p:nvGrpSpPr>
        <p:grpSpPr>
          <a:xfrm>
            <a:off x="6187440" y="5027921"/>
            <a:ext cx="5501640" cy="402336"/>
            <a:chOff x="6187440" y="5027921"/>
            <a:chExt cx="5501640" cy="402336"/>
          </a:xfrm>
        </p:grpSpPr>
        <p:sp>
          <p:nvSpPr>
            <p:cNvPr id="877" name="TEACH-move-card"/>
            <p:cNvSpPr/>
            <p:nvPr/>
          </p:nvSpPr>
          <p:spPr>
            <a:xfrm>
              <a:off x="6187440" y="5027921"/>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878" name="TEACH-move-rule"/>
            <p:cNvSpPr/>
            <p:nvPr/>
          </p:nvSpPr>
          <p:spPr>
            <a:xfrm>
              <a:off x="6233160" y="5104365"/>
              <a:ext cx="100584" cy="249448"/>
            </a:xfrm>
            <a:prstGeom prst="roundRect">
              <a:avLst>
                <a:gd name="adj" fmla="val 50000"/>
              </a:avLst>
            </a:prstGeom>
            <a:solidFill>
              <a:srgbClr val="01708C"/>
            </a:solidFill>
            <a:ln>
              <a:noFill/>
            </a:ln>
          </p:spPr>
          <p:txBody>
            <a:bodyPr/>
            <a:lstStyle/>
            <a:p>
              <a:endParaRPr/>
            </a:p>
          </p:txBody>
        </p:sp>
        <p:sp>
          <p:nvSpPr>
            <p:cNvPr id="879" name="TEACH-move-text"/>
            <p:cNvSpPr txBox="1"/>
            <p:nvPr/>
          </p:nvSpPr>
          <p:spPr>
            <a:xfrm>
              <a:off x="6507480" y="5027921"/>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STRUGGLE FIRST  ·  </a:t>
              </a:r>
              <a:r>
                <a:rPr lang="en-US" sz="1200" dirty="0">
                  <a:solidFill>
                    <a:srgbClr val="13303A"/>
                  </a:solidFill>
                  <a:latin typeface="Arial"/>
                </a:rPr>
                <a:t>Work on your own first. Stuck is allowed — try a second strategy before you ask.</a:t>
              </a:r>
              <a:endParaRPr lang="en-US" sz="1200"/>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cxnSp>
        <p:nvCxnSpPr>
          <p:cNvPr id="889" name="Google Shape;889;p8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90" name="Google Shape;890;p84"/>
          <p:cNvSpPr txBox="1"/>
          <p:nvPr/>
        </p:nvSpPr>
        <p:spPr>
          <a:xfrm>
            <a:off x="531479" y="5281145"/>
            <a:ext cx="11108148" cy="11379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use a visual representation.</a:t>
            </a:r>
            <a:endParaRPr b="0" i="0" sz="2800" u="none" cap="none" strike="noStrike">
              <a:solidFill>
                <a:srgbClr val="595959"/>
              </a:solidFill>
              <a:latin typeface="Arial"/>
              <a:ea typeface="Arial"/>
              <a:cs typeface="Arial"/>
              <a:sym typeface="Arial"/>
            </a:endParaRPr>
          </a:p>
        </p:txBody>
      </p:sp>
      <p:pic>
        <p:nvPicPr>
          <p:cNvPr id="891" name="Google Shape;891;p84"/>
          <p:cNvPicPr preferRelativeResize="0"/>
          <p:nvPr/>
        </p:nvPicPr>
        <p:blipFill rotWithShape="1">
          <a:blip r:embed="rId3">
            <a:alphaModFix/>
          </a:blip>
          <a:srcRect b="0" l="0" r="0" t="0"/>
          <a:stretch/>
        </p:blipFill>
        <p:spPr>
          <a:xfrm>
            <a:off x="7562465" y="1510477"/>
            <a:ext cx="4324350" cy="3476625"/>
          </a:xfrm>
          <a:prstGeom prst="rect">
            <a:avLst/>
          </a:prstGeom>
          <a:noFill/>
          <a:ln>
            <a:noFill/>
          </a:ln>
        </p:spPr>
      </p:pic>
      <p:sp>
        <p:nvSpPr>
          <p:cNvPr id="892" name="Google Shape;892;p84"/>
          <p:cNvSpPr txBox="1"/>
          <p:nvPr/>
        </p:nvSpPr>
        <p:spPr>
          <a:xfrm>
            <a:off x="484565" y="936000"/>
            <a:ext cx="6913495" cy="30574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Bermuda Triangle is an area in the Atlantic Ocean between Miami, Florida, the island of Bermuda, and San Juan, Puerto Rico. It covers an area of about 437,409 square miles. What is the approximate distance from Bermuda to San Juan? ​</a:t>
            </a:r>
            <a:endParaRPr b="0" i="0" sz="1400" u="none" cap="none" strike="noStrike">
              <a:solidFill>
                <a:srgbClr val="000000"/>
              </a:solidFill>
              <a:latin typeface="Arial"/>
              <a:ea typeface="Arial"/>
              <a:cs typeface="Arial"/>
              <a:sym typeface="Arial"/>
            </a:endParaRPr>
          </a:p>
        </p:txBody>
      </p:sp>
      <p:sp>
        <p:nvSpPr>
          <p:cNvPr id="893" name="Google Shape;893;p84"/>
          <p:cNvSpPr/>
          <p:nvPr/>
        </p:nvSpPr>
        <p:spPr>
          <a:xfrm>
            <a:off x="474207" y="4160237"/>
            <a:ext cx="6921550"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tool can you use to represent the problem?</a:t>
            </a:r>
            <a:endParaRPr b="1" i="0" sz="2800" u="none" cap="none" strike="noStrike">
              <a:solidFill>
                <a:schemeClr val="dk1"/>
              </a:solidFill>
              <a:latin typeface="Arial"/>
              <a:ea typeface="Arial"/>
              <a:cs typeface="Arial"/>
              <a:sym typeface="Arial"/>
            </a:endParaRPr>
          </a:p>
        </p:txBody>
      </p:sp>
      <p:sp>
        <p:nvSpPr>
          <p:cNvPr id="894" name="Google Shape;894;p84"/>
          <p:cNvSpPr txBox="1"/>
          <p:nvPr/>
        </p:nvSpPr>
        <p:spPr>
          <a:xfrm>
            <a:off x="474207"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The Bermuda Triangle</a:t>
            </a:r>
            <a:endParaRPr b="0" i="0" sz="1400" u="none" cap="none" strike="noStrike">
              <a:solidFill>
                <a:srgbClr val="000000"/>
              </a:solidFill>
              <a:latin typeface="Arial"/>
              <a:ea typeface="Arial"/>
              <a:cs typeface="Arial"/>
              <a:sym typeface="Arial"/>
            </a:endParaRPr>
          </a:p>
        </p:txBody>
      </p:sp>
      <p:sp>
        <p:nvSpPr>
          <p:cNvPr id="89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50</a:t>
            </a:r>
          </a:p>
        </p:txBody>
      </p:sp>
      <p:sp>
        <p:nvSpPr>
          <p:cNvPr id="896" name="EWL-COVER-1"/>
          <p:cNvSpPr/>
          <p:nvPr/>
        </p:nvSpPr>
        <p:spPr>
          <a:xfrm>
            <a:off x="476615" y="5226281"/>
            <a:ext cx="11217876" cy="1220239"/>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9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cxnSp>
        <p:nvCxnSpPr>
          <p:cNvPr id="909" name="Google Shape;909;p8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10" name="Google Shape;910;p86"/>
          <p:cNvSpPr txBox="1"/>
          <p:nvPr/>
        </p:nvSpPr>
        <p:spPr>
          <a:xfrm>
            <a:off x="484565" y="936100"/>
            <a:ext cx="6983035" cy="29154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Step 1</a:t>
            </a:r>
            <a:r>
              <a:rPr b="0" i="0" lang="en-US" sz="2800" u="none" cap="none" strike="noStrike">
                <a:solidFill>
                  <a:schemeClr val="dk1"/>
                </a:solidFill>
                <a:latin typeface="Arial"/>
                <a:ea typeface="Arial"/>
                <a:cs typeface="Arial"/>
                <a:sym typeface="Arial"/>
              </a:rPr>
              <a:t> Let’s create a visual representation of the problem.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Bermuda Triangle covers an area of about 437,409 square miles. What is the approximate distance from Bermuda to San Juan?</a:t>
            </a:r>
            <a:endParaRPr b="0" i="0" sz="1400" u="none" cap="none" strike="noStrike">
              <a:solidFill>
                <a:srgbClr val="000000"/>
              </a:solidFill>
              <a:latin typeface="Arial"/>
              <a:ea typeface="Arial"/>
              <a:cs typeface="Arial"/>
              <a:sym typeface="Arial"/>
            </a:endParaRPr>
          </a:p>
        </p:txBody>
      </p:sp>
      <p:sp>
        <p:nvSpPr>
          <p:cNvPr id="911" name="Google Shape;911;p86"/>
          <p:cNvSpPr txBox="1"/>
          <p:nvPr/>
        </p:nvSpPr>
        <p:spPr>
          <a:xfrm>
            <a:off x="484565" y="4931609"/>
            <a:ext cx="11108148" cy="145798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need to find the distance from Bermuda to San Juan, which is the base of the triangle.</a:t>
            </a:r>
            <a:endParaRPr b="0" i="0" sz="2800" u="none" cap="none" strike="noStrike">
              <a:solidFill>
                <a:srgbClr val="595959"/>
              </a:solidFill>
              <a:latin typeface="Arial"/>
              <a:ea typeface="Arial"/>
              <a:cs typeface="Arial"/>
              <a:sym typeface="Arial"/>
            </a:endParaRPr>
          </a:p>
        </p:txBody>
      </p:sp>
      <p:pic>
        <p:nvPicPr>
          <p:cNvPr id="912" name="Google Shape;912;p86"/>
          <p:cNvPicPr preferRelativeResize="0"/>
          <p:nvPr/>
        </p:nvPicPr>
        <p:blipFill rotWithShape="1">
          <a:blip r:embed="rId3">
            <a:alphaModFix/>
          </a:blip>
          <a:srcRect b="0" l="0" r="0" t="0"/>
          <a:stretch/>
        </p:blipFill>
        <p:spPr>
          <a:xfrm>
            <a:off x="7467600" y="1448573"/>
            <a:ext cx="4360450" cy="2880000"/>
          </a:xfrm>
          <a:prstGeom prst="rect">
            <a:avLst/>
          </a:prstGeom>
          <a:noFill/>
          <a:ln>
            <a:noFill/>
          </a:ln>
        </p:spPr>
      </p:pic>
      <p:sp>
        <p:nvSpPr>
          <p:cNvPr id="913" name="Google Shape;913;p86"/>
          <p:cNvSpPr/>
          <p:nvPr/>
        </p:nvSpPr>
        <p:spPr>
          <a:xfrm>
            <a:off x="484565" y="3851519"/>
            <a:ext cx="8126035"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is the problem asking you to find? How does this relate to the visual representation?</a:t>
            </a:r>
            <a:endParaRPr b="1" i="0" sz="2800" u="none" cap="none" strike="noStrike">
              <a:solidFill>
                <a:schemeClr val="dk1"/>
              </a:solidFill>
              <a:latin typeface="Arial"/>
              <a:ea typeface="Arial"/>
              <a:cs typeface="Arial"/>
              <a:sym typeface="Arial"/>
            </a:endParaRPr>
          </a:p>
        </p:txBody>
      </p:sp>
      <p:sp>
        <p:nvSpPr>
          <p:cNvPr id="914" name="Google Shape;914;p86"/>
          <p:cNvSpPr txBox="1"/>
          <p:nvPr/>
        </p:nvSpPr>
        <p:spPr>
          <a:xfrm>
            <a:off x="474207"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The Bermuda Triangle</a:t>
            </a:r>
            <a:endParaRPr b="0" i="0" sz="1400" u="none" cap="none" strike="noStrike">
              <a:solidFill>
                <a:srgbClr val="000000"/>
              </a:solidFill>
              <a:latin typeface="Arial"/>
              <a:ea typeface="Arial"/>
              <a:cs typeface="Arial"/>
              <a:sym typeface="Arial"/>
            </a:endParaRPr>
          </a:p>
        </p:txBody>
      </p:sp>
      <p:sp>
        <p:nvSpPr>
          <p:cNvPr id="9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50</a:t>
            </a:r>
          </a:p>
        </p:txBody>
      </p:sp>
      <p:sp>
        <p:nvSpPr>
          <p:cNvPr id="916" name="EWL-COVER-1"/>
          <p:cNvSpPr/>
          <p:nvPr/>
        </p:nvSpPr>
        <p:spPr>
          <a:xfrm>
            <a:off x="429701" y="4876745"/>
            <a:ext cx="11217876" cy="1567711"/>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cxnSp>
        <p:nvCxnSpPr>
          <p:cNvPr id="929" name="Google Shape;929;p8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30" name="Google Shape;930;p88"/>
          <p:cNvSpPr txBox="1"/>
          <p:nvPr/>
        </p:nvSpPr>
        <p:spPr>
          <a:xfrm>
            <a:off x="531479" y="5326865"/>
            <a:ext cx="11108148" cy="108307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use the area formula for triangles.</a:t>
            </a:r>
            <a:endParaRPr b="0" i="0" sz="2800" u="none" cap="none" strike="noStrike">
              <a:solidFill>
                <a:srgbClr val="595959"/>
              </a:solidFill>
              <a:latin typeface="Arial"/>
              <a:ea typeface="Arial"/>
              <a:cs typeface="Arial"/>
              <a:sym typeface="Arial"/>
            </a:endParaRPr>
          </a:p>
        </p:txBody>
      </p:sp>
      <p:sp>
        <p:nvSpPr>
          <p:cNvPr id="931" name="Google Shape;931;p88"/>
          <p:cNvSpPr txBox="1"/>
          <p:nvPr/>
        </p:nvSpPr>
        <p:spPr>
          <a:xfrm>
            <a:off x="484565" y="936100"/>
            <a:ext cx="6792535" cy="15213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We need to find the distance from Bermuda to San Juan, which is the base of the triangle.​</a:t>
            </a:r>
            <a:endParaRPr b="0" i="0" sz="1400" u="none" cap="none" strike="noStrike">
              <a:solidFill>
                <a:srgbClr val="000000"/>
              </a:solidFill>
              <a:latin typeface="Arial"/>
              <a:ea typeface="Arial"/>
              <a:cs typeface="Arial"/>
              <a:sym typeface="Arial"/>
            </a:endParaRPr>
          </a:p>
        </p:txBody>
      </p:sp>
      <p:sp>
        <p:nvSpPr>
          <p:cNvPr id="932" name="Google Shape;932;p88"/>
          <p:cNvSpPr/>
          <p:nvPr/>
        </p:nvSpPr>
        <p:spPr>
          <a:xfrm>
            <a:off x="484566" y="3918635"/>
            <a:ext cx="6878260"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can you relate the base, height, and area to find the missing measure?</a:t>
            </a:r>
            <a:endParaRPr b="1" i="0" sz="2800" u="none" cap="none" strike="noStrike">
              <a:solidFill>
                <a:schemeClr val="dk1"/>
              </a:solidFill>
              <a:latin typeface="Arial"/>
              <a:ea typeface="Arial"/>
              <a:cs typeface="Arial"/>
              <a:sym typeface="Arial"/>
            </a:endParaRPr>
          </a:p>
        </p:txBody>
      </p:sp>
      <p:pic>
        <p:nvPicPr>
          <p:cNvPr id="933" name="Google Shape;933;p88"/>
          <p:cNvPicPr preferRelativeResize="0"/>
          <p:nvPr/>
        </p:nvPicPr>
        <p:blipFill rotWithShape="1">
          <a:blip r:embed="rId3">
            <a:alphaModFix/>
          </a:blip>
          <a:srcRect b="0" l="0" r="0" t="0"/>
          <a:stretch/>
        </p:blipFill>
        <p:spPr>
          <a:xfrm>
            <a:off x="7474211" y="1435322"/>
            <a:ext cx="4360450" cy="2880000"/>
          </a:xfrm>
          <a:prstGeom prst="rect">
            <a:avLst/>
          </a:prstGeom>
          <a:noFill/>
          <a:ln>
            <a:noFill/>
          </a:ln>
        </p:spPr>
      </p:pic>
      <p:sp>
        <p:nvSpPr>
          <p:cNvPr id="934" name="Google Shape;934;p88"/>
          <p:cNvSpPr txBox="1"/>
          <p:nvPr/>
        </p:nvSpPr>
        <p:spPr>
          <a:xfrm>
            <a:off x="474207"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The Bermuda Triangle</a:t>
            </a:r>
            <a:endParaRPr b="0" i="0" sz="1400" u="none" cap="none" strike="noStrike">
              <a:solidFill>
                <a:srgbClr val="000000"/>
              </a:solidFill>
              <a:latin typeface="Arial"/>
              <a:ea typeface="Arial"/>
              <a:cs typeface="Arial"/>
              <a:sym typeface="Arial"/>
            </a:endParaRPr>
          </a:p>
        </p:txBody>
      </p:sp>
      <p:sp>
        <p:nvSpPr>
          <p:cNvPr id="93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50</a:t>
            </a:r>
          </a:p>
        </p:txBody>
      </p:sp>
      <p:sp>
        <p:nvSpPr>
          <p:cNvPr id="936" name="EWL-COVER-1"/>
          <p:cNvSpPr/>
          <p:nvPr/>
        </p:nvSpPr>
        <p:spPr>
          <a:xfrm>
            <a:off x="476615" y="5272001"/>
            <a:ext cx="11217876" cy="1174519"/>
          </a:xfrm>
          <a:prstGeom prst="rect">
            <a:avLst/>
          </a:prstGeom>
          <a:solidFill>
            <a:srgbClr val="FFFFFF"/>
          </a:solidFill>
          <a:ln>
            <a:noFill/>
          </a:ln>
        </p:spPr>
        <p:txBody>
          <a:bodyPr/>
          <a:lstStyle/>
          <a:p/>
        </p:txBody>
      </p:sp>
      <p:sp xmlns:p="http://schemas.openxmlformats.org/presentationml/2006/main" xmlns:a="http://schemas.openxmlformats.org/drawingml/2006/main">
        <p:nvSpPr>
          <p:cNvPr id="937" name="TEACH-embedded-student-prompt" descr="Student thinking and response directions"/>
          <p:cNvSpPr txBox="1"/>
          <p:nvPr/>
        </p:nvSpPr>
        <p:spPr>
          <a:xfrm>
            <a:off x="594360" y="303580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cxnSp>
        <p:nvCxnSpPr>
          <p:cNvPr id="951" name="Google Shape;951;p9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52" name="Google Shape;952;p90"/>
          <p:cNvSpPr txBox="1"/>
          <p:nvPr/>
        </p:nvSpPr>
        <p:spPr>
          <a:xfrm>
            <a:off x="531479" y="4403321"/>
            <a:ext cx="11108148" cy="2024911"/>
          </a:xfrm>
          <a:prstGeom prst="rect">
            <a:avLst/>
          </a:prstGeom>
          <a:blipFill rotWithShape="1">
            <a:blip r:embed="rId3">
              <a:alphaModFix/>
            </a:blip>
            <a:stretch>
              <a:fillRect b="-8108" l="-1098" r="0" t="-300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53" name="Google Shape;953;p90"/>
          <p:cNvSpPr/>
          <p:nvPr/>
        </p:nvSpPr>
        <p:spPr>
          <a:xfrm>
            <a:off x="484565" y="2090042"/>
            <a:ext cx="1926810" cy="898964"/>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954" name="Google Shape;954;p90"/>
          <p:cNvPicPr preferRelativeResize="0"/>
          <p:nvPr/>
        </p:nvPicPr>
        <p:blipFill rotWithShape="1">
          <a:blip r:embed="rId5">
            <a:alphaModFix/>
          </a:blip>
          <a:srcRect b="0" l="0" r="0" t="0"/>
          <a:stretch/>
        </p:blipFill>
        <p:spPr>
          <a:xfrm>
            <a:off x="543714" y="396694"/>
            <a:ext cx="353635" cy="340537"/>
          </a:xfrm>
          <a:prstGeom prst="rect">
            <a:avLst/>
          </a:prstGeom>
          <a:noFill/>
          <a:ln>
            <a:noFill/>
          </a:ln>
        </p:spPr>
      </p:pic>
      <p:sp>
        <p:nvSpPr>
          <p:cNvPr id="955" name="Google Shape;955;p90"/>
          <p:cNvSpPr txBox="1"/>
          <p:nvPr/>
        </p:nvSpPr>
        <p:spPr>
          <a:xfrm>
            <a:off x="923477"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Collaborate and Connect</a:t>
            </a:r>
            <a:endParaRPr b="1" i="0" sz="1500" u="none" cap="none" strike="noStrike">
              <a:solidFill>
                <a:srgbClr val="782DA0"/>
              </a:solidFill>
              <a:latin typeface="Arial"/>
              <a:ea typeface="Arial"/>
              <a:cs typeface="Arial"/>
              <a:sym typeface="Arial"/>
            </a:endParaRPr>
          </a:p>
        </p:txBody>
      </p:sp>
      <p:sp>
        <p:nvSpPr>
          <p:cNvPr id="956" name="Google Shape;956;p90"/>
          <p:cNvSpPr txBox="1"/>
          <p:nvPr/>
        </p:nvSpPr>
        <p:spPr>
          <a:xfrm>
            <a:off x="484566" y="936000"/>
            <a:ext cx="6497260" cy="10604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Let’s use an area formula for triangles to find the base.</a:t>
            </a:r>
            <a:endParaRPr b="0" i="0" sz="1400" u="none" cap="none" strike="noStrike">
              <a:solidFill>
                <a:srgbClr val="000000"/>
              </a:solidFill>
              <a:latin typeface="Arial"/>
              <a:ea typeface="Arial"/>
              <a:cs typeface="Arial"/>
              <a:sym typeface="Arial"/>
            </a:endParaRPr>
          </a:p>
        </p:txBody>
      </p:sp>
      <p:sp>
        <p:nvSpPr>
          <p:cNvPr id="957" name="Google Shape;957;p90"/>
          <p:cNvSpPr/>
          <p:nvPr/>
        </p:nvSpPr>
        <p:spPr>
          <a:xfrm>
            <a:off x="484565" y="3233026"/>
            <a:ext cx="6735385"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is the missing measure? What does this value represent?​</a:t>
            </a:r>
            <a:endParaRPr b="1" i="0" sz="2800" u="none" cap="none" strike="noStrike">
              <a:solidFill>
                <a:schemeClr val="dk1"/>
              </a:solidFill>
              <a:latin typeface="Arial"/>
              <a:ea typeface="Arial"/>
              <a:cs typeface="Arial"/>
              <a:sym typeface="Arial"/>
            </a:endParaRPr>
          </a:p>
        </p:txBody>
      </p:sp>
      <p:pic>
        <p:nvPicPr>
          <p:cNvPr id="958" name="Google Shape;958;p90"/>
          <p:cNvPicPr preferRelativeResize="0"/>
          <p:nvPr/>
        </p:nvPicPr>
        <p:blipFill rotWithShape="1">
          <a:blip r:embed="rId6">
            <a:alphaModFix/>
          </a:blip>
          <a:srcRect b="0" l="0" r="0" t="0"/>
          <a:stretch/>
        </p:blipFill>
        <p:spPr>
          <a:xfrm>
            <a:off x="7474211" y="1435322"/>
            <a:ext cx="4360450" cy="2880000"/>
          </a:xfrm>
          <a:prstGeom prst="rect">
            <a:avLst/>
          </a:prstGeom>
          <a:noFill/>
          <a:ln>
            <a:noFill/>
          </a:ln>
        </p:spPr>
      </p:pic>
      <p:sp>
        <p:nvSpPr>
          <p:cNvPr id="95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50</a:t>
            </a:r>
          </a:p>
        </p:txBody>
      </p:sp>
      <p:sp>
        <p:nvSpPr>
          <p:cNvPr id="960"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  TALK IT THROUGH • AGREE ON A MODEL</a:t>
            </a: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cxnSp>
        <p:nvCxnSpPr>
          <p:cNvPr id="973" name="Google Shape;973;p9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74" name="Google Shape;974;p92"/>
          <p:cNvSpPr/>
          <p:nvPr/>
        </p:nvSpPr>
        <p:spPr>
          <a:xfrm>
            <a:off x="484565" y="936000"/>
            <a:ext cx="7316410"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Let’s substitute the given values for the area and the height for </a:t>
            </a:r>
            <a:r>
              <a:rPr b="0" i="1" lang="en-US" sz="2800" u="none" cap="none" strike="noStrike">
                <a:solidFill>
                  <a:schemeClr val="dk1"/>
                </a:solidFill>
                <a:latin typeface="Arial"/>
                <a:ea typeface="Arial"/>
                <a:cs typeface="Arial"/>
                <a:sym typeface="Arial"/>
              </a:rPr>
              <a:t>A</a:t>
            </a:r>
            <a:r>
              <a:rPr b="0" i="0" lang="en-US" sz="2800" u="none" cap="none" strike="noStrike">
                <a:solidFill>
                  <a:schemeClr val="dk1"/>
                </a:solidFill>
                <a:latin typeface="Arial"/>
                <a:ea typeface="Arial"/>
                <a:cs typeface="Arial"/>
                <a:sym typeface="Arial"/>
              </a:rPr>
              <a:t> and </a:t>
            </a:r>
            <a:r>
              <a:rPr b="0" i="1" lang="en-US" sz="2800" u="none" cap="none" strike="noStrike">
                <a:solidFill>
                  <a:schemeClr val="dk1"/>
                </a:solidFill>
                <a:latin typeface="Arial"/>
                <a:ea typeface="Arial"/>
                <a:cs typeface="Arial"/>
                <a:sym typeface="Arial"/>
              </a:rPr>
              <a:t>h</a:t>
            </a:r>
            <a:r>
              <a:rPr b="0" i="0" lang="en-US" sz="2800" u="none" cap="none" strike="noStrike">
                <a:solidFill>
                  <a:schemeClr val="dk1"/>
                </a:solidFill>
                <a:latin typeface="Arial"/>
                <a:ea typeface="Arial"/>
                <a:cs typeface="Arial"/>
                <a:sym typeface="Arial"/>
              </a:rPr>
              <a:t> in the formula, then solve for </a:t>
            </a:r>
            <a:r>
              <a:rPr b="0" i="1" lang="en-US" sz="2800" u="none" cap="none" strike="noStrike">
                <a:solidFill>
                  <a:schemeClr val="dk1"/>
                </a:solidFill>
                <a:latin typeface="Arial"/>
                <a:ea typeface="Arial"/>
                <a:cs typeface="Arial"/>
                <a:sym typeface="Arial"/>
              </a:rPr>
              <a:t>b</a:t>
            </a:r>
            <a:r>
              <a:rPr b="0" i="0" lang="en-US" sz="2800" u="none" cap="none" strike="noStrike">
                <a:solidFill>
                  <a:schemeClr val="dk1"/>
                </a:solidFill>
                <a:latin typeface="Arial"/>
                <a:ea typeface="Arial"/>
                <a:cs typeface="Arial"/>
                <a:sym typeface="Arial"/>
              </a:rPr>
              <a:t>.</a:t>
            </a:r>
            <a:endParaRPr b="0" i="0" sz="2800" u="none" cap="none" strike="noStrike">
              <a:solidFill>
                <a:schemeClr val="dk1"/>
              </a:solidFill>
              <a:latin typeface="Arial"/>
              <a:ea typeface="Arial"/>
              <a:cs typeface="Arial"/>
              <a:sym typeface="Arial"/>
            </a:endParaRPr>
          </a:p>
        </p:txBody>
      </p:sp>
      <p:sp>
        <p:nvSpPr>
          <p:cNvPr id="975" name="Google Shape;975;p92"/>
          <p:cNvSpPr txBox="1"/>
          <p:nvPr/>
        </p:nvSpPr>
        <p:spPr>
          <a:xfrm>
            <a:off x="964567" y="2155511"/>
            <a:ext cx="5779133" cy="3024995"/>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76" name="Google Shape;976;p92"/>
          <p:cNvSpPr txBox="1"/>
          <p:nvPr/>
        </p:nvSpPr>
        <p:spPr>
          <a:xfrm>
            <a:off x="552218" y="5146263"/>
            <a:ext cx="8666597" cy="1263682"/>
          </a:xfrm>
          <a:prstGeom prst="rect">
            <a:avLst/>
          </a:prstGeom>
          <a:blipFill rotWithShape="1">
            <a:blip r:embed="rId4">
              <a:alphaModFix/>
            </a:blip>
            <a:stretch>
              <a:fillRect b="-2404" l="-1478" r="0" t="-480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977" name="Google Shape;977;p92"/>
          <p:cNvPicPr preferRelativeResize="0"/>
          <p:nvPr/>
        </p:nvPicPr>
        <p:blipFill rotWithShape="1">
          <a:blip r:embed="rId5">
            <a:alphaModFix/>
          </a:blip>
          <a:srcRect b="0" l="0" r="0" t="0"/>
          <a:stretch/>
        </p:blipFill>
        <p:spPr>
          <a:xfrm>
            <a:off x="7474211" y="1435322"/>
            <a:ext cx="4360450" cy="2880000"/>
          </a:xfrm>
          <a:prstGeom prst="rect">
            <a:avLst/>
          </a:prstGeom>
          <a:noFill/>
          <a:ln>
            <a:noFill/>
          </a:ln>
        </p:spPr>
      </p:pic>
      <p:sp>
        <p:nvSpPr>
          <p:cNvPr id="978" name="Google Shape;978;p92"/>
          <p:cNvSpPr txBox="1"/>
          <p:nvPr/>
        </p:nvSpPr>
        <p:spPr>
          <a:xfrm>
            <a:off x="474207"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The Bermuda Triangle</a:t>
            </a:r>
            <a:endParaRPr b="0" i="0" sz="1400" u="none" cap="none" strike="noStrike">
              <a:solidFill>
                <a:srgbClr val="000000"/>
              </a:solidFill>
              <a:latin typeface="Arial"/>
              <a:ea typeface="Arial"/>
              <a:cs typeface="Arial"/>
              <a:sym typeface="Arial"/>
            </a:endParaRPr>
          </a:p>
        </p:txBody>
      </p:sp>
      <p:sp>
        <p:nvSpPr>
          <p:cNvPr id="97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42 / 50</a:t>
            </a: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cxnSp>
        <p:nvCxnSpPr>
          <p:cNvPr id="983" name="Google Shape;983;p9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84" name="Google Shape;984;p93"/>
          <p:cNvSpPr txBox="1"/>
          <p:nvPr/>
        </p:nvSpPr>
        <p:spPr>
          <a:xfrm>
            <a:off x="474206" y="4620269"/>
            <a:ext cx="6687003" cy="954107"/>
          </a:xfrm>
          <a:prstGeom prst="rect">
            <a:avLst/>
          </a:prstGeom>
          <a:solidFill>
            <a:schemeClr val="lt1"/>
          </a:solidFill>
          <a:ln cap="flat" cmpd="sng" w="12700">
            <a:solidFill>
              <a:srgbClr val="782DA0"/>
            </a:solidFill>
            <a:prstDash val="solid"/>
            <a:miter lim="8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The approximate distance from Bermuda to San Juan, Puerto Rico, is 954 miles.</a:t>
            </a:r>
            <a:endParaRPr b="0" i="0" sz="2800" u="none" cap="none" strike="noStrike">
              <a:solidFill>
                <a:schemeClr val="dk1"/>
              </a:solidFill>
              <a:latin typeface="Arial"/>
              <a:ea typeface="Arial"/>
              <a:cs typeface="Arial"/>
              <a:sym typeface="Arial"/>
            </a:endParaRPr>
          </a:p>
        </p:txBody>
      </p:sp>
      <p:sp>
        <p:nvSpPr>
          <p:cNvPr id="985" name="Google Shape;985;p93"/>
          <p:cNvSpPr txBox="1"/>
          <p:nvPr/>
        </p:nvSpPr>
        <p:spPr>
          <a:xfrm>
            <a:off x="474206" y="913211"/>
            <a:ext cx="6675893" cy="346828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The Bermuda Triangle is an area in the Atlantic Ocean between Miami, Florida, the island of Bermuda, and San Juan, Puerto Rico. It covers an area of about 437,409 square miles.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What is the approximate distance from Bermuda to San Juan?</a:t>
            </a:r>
            <a:endParaRPr b="0" i="0" sz="2800" u="none" cap="none" strike="noStrike">
              <a:solidFill>
                <a:schemeClr val="dk1"/>
              </a:solidFill>
              <a:latin typeface="Arial"/>
              <a:ea typeface="Arial"/>
              <a:cs typeface="Arial"/>
              <a:sym typeface="Arial"/>
            </a:endParaRPr>
          </a:p>
        </p:txBody>
      </p:sp>
      <p:pic>
        <p:nvPicPr>
          <p:cNvPr id="986" name="Google Shape;986;p93"/>
          <p:cNvPicPr preferRelativeResize="0"/>
          <p:nvPr/>
        </p:nvPicPr>
        <p:blipFill rotWithShape="1">
          <a:blip r:embed="rId3">
            <a:alphaModFix/>
          </a:blip>
          <a:srcRect b="0" l="0" r="0" t="0"/>
          <a:stretch/>
        </p:blipFill>
        <p:spPr>
          <a:xfrm>
            <a:off x="7562465" y="1510477"/>
            <a:ext cx="4324350" cy="3476625"/>
          </a:xfrm>
          <a:prstGeom prst="rect">
            <a:avLst/>
          </a:prstGeom>
          <a:noFill/>
          <a:ln>
            <a:noFill/>
          </a:ln>
        </p:spPr>
      </p:pic>
      <p:sp>
        <p:nvSpPr>
          <p:cNvPr id="987" name="Google Shape;987;p93"/>
          <p:cNvSpPr txBox="1"/>
          <p:nvPr/>
        </p:nvSpPr>
        <p:spPr>
          <a:xfrm>
            <a:off x="474207"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The Bermuda Triangle</a:t>
            </a:r>
            <a:endParaRPr b="0" i="0" sz="1400" u="none" cap="none" strike="noStrike">
              <a:solidFill>
                <a:srgbClr val="000000"/>
              </a:solidFill>
              <a:latin typeface="Arial"/>
              <a:ea typeface="Arial"/>
              <a:cs typeface="Arial"/>
              <a:sym typeface="Arial"/>
            </a:endParaRPr>
          </a:p>
        </p:txBody>
      </p:sp>
      <p:sp>
        <p:nvSpPr>
          <p:cNvPr id="98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44 / 50</a:t>
            </a:r>
          </a:p>
        </p:txBody>
      </p:sp>
      <p:sp xmlns:p="http://schemas.openxmlformats.org/presentationml/2006/main" xmlns:a="http://schemas.openxmlformats.org/drawingml/2006/main">
        <p:nvSpPr>
          <p:cNvPr id="989"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Point to a base and its matching height. Explain how your method uses them.</a:t>
            </a:r>
            <a:endParaRPr lang="en-US" sz="20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94"/>
          <p:cNvSpPr txBox="1"/>
          <p:nvPr/>
        </p:nvSpPr>
        <p:spPr>
          <a:xfrm>
            <a:off x="484565" y="927527"/>
            <a:ext cx="6506785" cy="1872823"/>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pPr>
            <a:r>
              <a:rPr b="0" i="0" lang="en-US" sz="2800" u="none" cap="none" strike="noStrike">
                <a:solidFill>
                  <a:srgbClr val="23282D"/>
                </a:solidFill>
                <a:latin typeface="Arial"/>
                <a:ea typeface="Arial"/>
                <a:cs typeface="Arial"/>
                <a:sym typeface="Arial"/>
              </a:rPr>
              <a:t>What other information would you need to calculate the distance from San Juan to Miami using the area formula?​</a:t>
            </a:r>
            <a:endParaRPr b="0" i="0" sz="1400" u="none" cap="none" strike="noStrike">
              <a:solidFill>
                <a:srgbClr val="000000"/>
              </a:solidFill>
              <a:latin typeface="Arial"/>
              <a:ea typeface="Arial"/>
              <a:cs typeface="Arial"/>
              <a:sym typeface="Arial"/>
            </a:endParaRPr>
          </a:p>
        </p:txBody>
      </p:sp>
      <p:sp>
        <p:nvSpPr>
          <p:cNvPr id="993" name="Google Shape;993;p94"/>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994" name="Google Shape;994;p94"/>
          <p:cNvSpPr txBox="1"/>
          <p:nvPr/>
        </p:nvSpPr>
        <p:spPr>
          <a:xfrm>
            <a:off x="484565" y="3289480"/>
            <a:ext cx="6506785" cy="2482670"/>
          </a:xfrm>
          <a:prstGeom prst="rect">
            <a:avLst/>
          </a:prstGeom>
          <a:blipFill rotWithShape="1">
            <a:blip r:embed="rId3">
              <a:alphaModFix/>
            </a:blip>
            <a:stretch>
              <a:fillRect b="-3686" l="-1685" r="-2996" t="-270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995" name="Google Shape;995;p94"/>
          <p:cNvPicPr preferRelativeResize="0"/>
          <p:nvPr/>
        </p:nvPicPr>
        <p:blipFill rotWithShape="1">
          <a:blip r:embed="rId4">
            <a:alphaModFix/>
          </a:blip>
          <a:srcRect b="0" l="0" r="0" t="0"/>
          <a:stretch/>
        </p:blipFill>
        <p:spPr>
          <a:xfrm>
            <a:off x="7562465" y="1510477"/>
            <a:ext cx="4324350" cy="3476625"/>
          </a:xfrm>
          <a:prstGeom prst="rect">
            <a:avLst/>
          </a:prstGeom>
          <a:noFill/>
          <a:ln>
            <a:noFill/>
          </a:ln>
        </p:spPr>
      </p:pic>
      <p:sp>
        <p:nvSpPr>
          <p:cNvPr id="99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45 / 50</a:t>
            </a:r>
          </a:p>
        </p:txBody>
      </p:sp>
      <p:sp xmlns:p="http://schemas.openxmlformats.org/presentationml/2006/main" xmlns:a="http://schemas.openxmlformats.org/drawingml/2006/main">
        <p:nvSpPr>
          <p:cNvPr id="997"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it yourself. Compare your</a:t>
            </a:r>
            <a:endParaRPr lang="en-US" sz="2000"/>
          </a:p>
          <a:p>
            <a:pPr>
              <a:lnSpc>
                <a:spcPts val="2400"/>
              </a:lnSpc>
              <a:buNone/>
            </a:pPr>
            <a:r>
              <a:rPr lang="en-US" sz="2000">
                <a:solidFill>
                  <a:srgbClr val="174D60"/>
                </a:solidFill>
                <a:latin typeface="Arial"/>
              </a:rPr>
              <a:t>work with a partner; explain one</a:t>
            </a:r>
            <a:endParaRPr lang="en-US" sz="2000"/>
          </a:p>
          <a:p>
            <a:pPr>
              <a:lnSpc>
                <a:spcPts val="2400"/>
              </a:lnSpc>
              <a:buNone/>
            </a:pPr>
            <a:r>
              <a:rPr lang="en-US" sz="2000">
                <a:solidFill>
                  <a:srgbClr val="174D60"/>
                </a:solidFill>
                <a:latin typeface="Arial"/>
              </a:rPr>
              <a:t>choice and revise.</a:t>
            </a:r>
            <a:endParaRPr lang="en-US" sz="200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5.2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omitting the half or using a nonperpendicular side.</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Trace the base and perpendicular height and relate the figure to the shown parallelogram.</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cxnSp>
        <p:nvCxnSpPr>
          <p:cNvPr id="1000" name="Google Shape;1000;p9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01" name="Google Shape;1001;p95"/>
          <p:cNvSpPr txBox="1"/>
          <p:nvPr/>
        </p:nvSpPr>
        <p:spPr>
          <a:xfrm>
            <a:off x="484565" y="1296000"/>
            <a:ext cx="7116385" cy="1690889"/>
          </a:xfrm>
          <a:prstGeom prst="rect">
            <a:avLst/>
          </a:prstGeom>
          <a:blipFill rotWithShape="1">
            <a:blip r:embed="rId3">
              <a:alphaModFix/>
            </a:blip>
            <a:stretch>
              <a:fillRect b="0" l="-1712" r="-1455" t="-397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02" name="Google Shape;1002;p95"/>
          <p:cNvSpPr/>
          <p:nvPr/>
        </p:nvSpPr>
        <p:spPr>
          <a:xfrm>
            <a:off x="484565" y="3640063"/>
            <a:ext cx="2411558" cy="907749"/>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03" name="Google Shape;1003;p95"/>
          <p:cNvSpPr/>
          <p:nvPr/>
        </p:nvSpPr>
        <p:spPr>
          <a:xfrm>
            <a:off x="484565" y="4788757"/>
            <a:ext cx="2342244"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04" name="Google Shape;1004;p95"/>
          <p:cNvSpPr txBox="1"/>
          <p:nvPr/>
        </p:nvSpPr>
        <p:spPr>
          <a:xfrm>
            <a:off x="484565" y="316034"/>
            <a:ext cx="6031645" cy="99155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Summarize: </a:t>
            </a:r>
            <a:r>
              <a:rPr b="1" i="0" lang="en-US" sz="2800" u="none" cap="none" strike="noStrike">
                <a:solidFill>
                  <a:srgbClr val="782DA0"/>
                </a:solidFill>
                <a:latin typeface="Arial"/>
                <a:ea typeface="Arial"/>
                <a:cs typeface="Arial"/>
                <a:sym typeface="Arial"/>
              </a:rPr>
              <a:t>Determine the Area of Triangles</a:t>
            </a:r>
            <a:endParaRPr b="1" i="0" sz="1500" u="none" cap="none" strike="noStrike">
              <a:solidFill>
                <a:srgbClr val="782DA0"/>
              </a:solidFill>
              <a:latin typeface="Arial"/>
              <a:ea typeface="Arial"/>
              <a:cs typeface="Arial"/>
              <a:sym typeface="Arial"/>
            </a:endParaRPr>
          </a:p>
        </p:txBody>
      </p:sp>
      <p:pic>
        <p:nvPicPr>
          <p:cNvPr id="1005" name="Google Shape;1005;p95"/>
          <p:cNvPicPr preferRelativeResize="0"/>
          <p:nvPr/>
        </p:nvPicPr>
        <p:blipFill rotWithShape="1">
          <a:blip r:embed="rId6">
            <a:alphaModFix/>
          </a:blip>
          <a:srcRect b="0" l="0" r="0" t="0"/>
          <a:stretch/>
        </p:blipFill>
        <p:spPr>
          <a:xfrm>
            <a:off x="7667625" y="2079209"/>
            <a:ext cx="4114800" cy="2066925"/>
          </a:xfrm>
          <a:prstGeom prst="rect">
            <a:avLst/>
          </a:prstGeom>
          <a:noFill/>
          <a:ln>
            <a:noFill/>
          </a:ln>
        </p:spPr>
      </p:pic>
      <p:sp>
        <p:nvSpPr>
          <p:cNvPr id="100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47 / 50</a:t>
            </a:r>
          </a:p>
        </p:txBody>
      </p:sp>
      <p:sp>
        <p:nvSpPr>
          <p:cNvPr id="1007"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SUMMARIZE</a:t>
            </a:r>
            <a:r>
              <a:rPr lang="en-US" sz="1200" b="1">
                <a:solidFill>
                  <a:srgbClr val="5D6872"/>
                </a:solidFill>
                <a:latin typeface="Arial"/>
              </a:rPr>
              <a:t>  ·  SAY IT IN YOUR OWN WORDS</a:t>
            </a:r>
          </a:p>
        </p:txBody>
      </p:sp>
      <p:sp xmlns:p="http://schemas.openxmlformats.org/presentationml/2006/main" xmlns:a="http://schemas.openxmlformats.org/drawingml/2006/main">
        <p:nvSpPr>
          <p:cNvPr id="1008"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the key idea without reading. Use today’s example as evidence.</a:t>
            </a:r>
            <a:endParaRPr lang="en-US" sz="20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cxnSp>
        <p:nvCxnSpPr>
          <p:cNvPr id="1010" name="Google Shape;1010;p9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descr="A picture containing text, grass, outdoor, sky&#10;&#10;Description automatically generated" id="1011" name="Google Shape;1011;p96"/>
          <p:cNvPicPr preferRelativeResize="0"/>
          <p:nvPr/>
        </p:nvPicPr>
        <p:blipFill rotWithShape="1">
          <a:blip r:embed="rId3">
            <a:alphaModFix/>
          </a:blip>
          <a:srcRect b="0" l="0" r="0" t="0"/>
          <a:stretch/>
        </p:blipFill>
        <p:spPr>
          <a:xfrm>
            <a:off x="7088818" y="1848712"/>
            <a:ext cx="4453264" cy="3038475"/>
          </a:xfrm>
          <a:prstGeom prst="rect">
            <a:avLst/>
          </a:prstGeom>
          <a:noFill/>
          <a:ln>
            <a:noFill/>
          </a:ln>
        </p:spPr>
      </p:pic>
      <p:sp>
        <p:nvSpPr>
          <p:cNvPr id="1012" name="Google Shape;1012;p96"/>
          <p:cNvSpPr txBox="1"/>
          <p:nvPr/>
        </p:nvSpPr>
        <p:spPr>
          <a:xfrm>
            <a:off x="484565" y="927528"/>
            <a:ext cx="6299693" cy="4604592"/>
          </a:xfrm>
          <a:prstGeom prst="rect">
            <a:avLst/>
          </a:prstGeom>
          <a:blipFill rotWithShape="1">
            <a:blip r:embed="rId4">
              <a:alphaModFix/>
            </a:blip>
            <a:stretch>
              <a:fillRect b="-2778" l="-1934" r="-3578" t="-132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13" name="Google Shape;1013;p96"/>
          <p:cNvSpPr txBox="1"/>
          <p:nvPr/>
        </p:nvSpPr>
        <p:spPr>
          <a:xfrm>
            <a:off x="484565" y="316034"/>
            <a:ext cx="603164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Apply:</a:t>
            </a:r>
            <a:r>
              <a:rPr b="1" i="0" lang="en-US" sz="2800" u="none" cap="none" strike="noStrike">
                <a:solidFill>
                  <a:srgbClr val="782DA0"/>
                </a:solidFill>
                <a:latin typeface="Arial"/>
                <a:ea typeface="Arial"/>
                <a:cs typeface="Arial"/>
                <a:sym typeface="Arial"/>
              </a:rPr>
              <a:t> Painting a Cabin</a:t>
            </a:r>
            <a:endParaRPr b="0" i="0" sz="1400" u="none" cap="none" strike="noStrike">
              <a:solidFill>
                <a:srgbClr val="000000"/>
              </a:solidFill>
              <a:latin typeface="Arial"/>
              <a:ea typeface="Arial"/>
              <a:cs typeface="Arial"/>
              <a:sym typeface="Arial"/>
            </a:endParaRPr>
          </a:p>
        </p:txBody>
      </p:sp>
      <p:sp>
        <p:nvSpPr>
          <p:cNvPr id="10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48 / 50</a:t>
            </a:r>
          </a:p>
        </p:txBody>
      </p:sp>
      <p:sp>
        <p:nvSpPr>
          <p:cNvPr id="1015"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APPLY</a:t>
            </a:r>
            <a:r>
              <a:rPr lang="en-US" sz="1200" b="1">
                <a:solidFill>
                  <a:srgbClr val="5D6872"/>
                </a:solidFill>
                <a:latin typeface="Arial"/>
              </a:rPr>
              <a:t>  ·  PLAN IT • SOLVE IT • PROVE IT</a:t>
            </a:r>
          </a:p>
        </p:txBody>
      </p:sp>
      <p:sp xmlns:p="http://schemas.openxmlformats.org/presentationml/2006/main" xmlns:a="http://schemas.openxmlformats.org/drawingml/2006/main">
        <p:nvSpPr>
          <p:cNvPr id="1016"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Choose a method. Solve independently, justify your answer, then check the goal.</a:t>
            </a:r>
            <a:endParaRPr lang="en-US" sz="2000"/>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18" name="Google Shape;1018;p97"/>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019" name="Google Shape;1019;p9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20" name="Google Shape;1020;p97"/>
          <p:cNvSpPr txBox="1"/>
          <p:nvPr/>
        </p:nvSpPr>
        <p:spPr>
          <a:xfrm>
            <a:off x="484564" y="927528"/>
            <a:ext cx="8459745"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find the area of a triangle by composing it into a parallelogram and by using a formula.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attend to precision to find the missing dimension of a triangle by using the area formula.</a:t>
            </a:r>
            <a:endParaRPr b="0" i="0" sz="1400" u="none" cap="none" strike="noStrike">
              <a:solidFill>
                <a:srgbClr val="000000"/>
              </a:solidFill>
              <a:latin typeface="Arial"/>
              <a:ea typeface="Arial"/>
              <a:cs typeface="Arial"/>
              <a:sym typeface="Arial"/>
            </a:endParaRPr>
          </a:p>
        </p:txBody>
      </p:sp>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49 / 50</a:t>
            </a:r>
          </a:p>
        </p:txBody>
      </p:sp>
      <p:grpSp>
        <p:nvGrpSpPr>
          <p:cNvPr id="1021" name="TEACH-1-student-move" descr="TEACH 1 · Facilitate clear, standards-based content learning"/>
          <p:cNvGrpSpPr/>
          <p:nvPr/>
        </p:nvGrpSpPr>
        <p:grpSpPr>
          <a:xfrm>
            <a:off x="502920" y="5472790"/>
            <a:ext cx="11186160" cy="402336"/>
            <a:chOff x="502920" y="5472790"/>
            <a:chExt cx="11186160" cy="402336"/>
          </a:xfrm>
        </p:grpSpPr>
        <p:sp>
          <p:nvSpPr>
            <p:cNvPr id="1022"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023"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1024"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NAME THE MATH  ·  </a:t>
              </a:r>
              <a:r>
                <a:rPr lang="en-US" sz="1200" dirty="0">
                  <a:solidFill>
                    <a:srgbClr val="13303A"/>
                  </a:solidFill>
                  <a:latin typeface="Arial"/>
                </a:rPr>
                <a:t>Point to the part of this that is new today, and say what it changes.</a:t>
              </a:r>
              <a:endParaRPr lang="en-US" sz="1200"/>
            </a:p>
          </p:txBody>
        </p:sp>
      </p:gr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5.2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Identify a matching base and height.</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USE YOUR TOOLS  ·  </a:t>
            </a:r>
            <a:r>
              <a:rPr lang="en-US" sz="2000" b="0" dirty="0">
                <a:solidFill>
                  <a:srgbClr val="13303A"/>
                </a:solidFill>
                <a:latin typeface="Arial"/>
              </a:rPr>
              <a:t>Reach for your notes, a model, or a manipulative before you reach for an answer.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24 / 50</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TWO MINUTES SOLO  ·  </a:t>
            </a:r>
            <a:r>
              <a:rPr lang="en-US" sz="2000" b="0" dirty="0">
                <a:solidFill>
                  <a:srgbClr val="13303A"/>
                </a:solidFill>
                <a:latin typeface="Arial"/>
              </a:rPr>
              <a:t>Two minutes on your own, then compare. Bring one thing you tried, even if it did not work.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29 / 50</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33 / 50</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ANOTHER PATHWAY  ·  </a:t>
            </a:r>
            <a:r>
              <a:rPr lang="en-US" sz="2000" b="0" dirty="0">
                <a:solidFill>
                  <a:srgbClr val="13303A"/>
                </a:solidFill>
                <a:latin typeface="Arial"/>
              </a:rPr>
              <a:t>Did anyone get there a different way? Put both pathways side by side and compare.</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5-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TAKE TURNS  ·  </a:t>
            </a:r>
            <a:r>
              <a:rPr lang="en-US" sz="2000" b="0" dirty="0">
                <a:solidFill>
                  <a:srgbClr val="13303A"/>
                </a:solidFill>
                <a:latin typeface="Arial"/>
              </a:rPr>
              <a:t>One explains, one asks a question. Then switch, so both of you talk.</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39 / 50</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RESTATE FIRST  ·  </a:t>
            </a:r>
            <a:r>
              <a:rPr lang="en-US" sz="2000" b="0" dirty="0">
                <a:solidFill>
                  <a:srgbClr val="13303A"/>
                </a:solidFill>
                <a:latin typeface="Arial"/>
              </a:rPr>
              <a:t>Restate your partner’s idea in your own words before you give yours.</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4-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SPECIFIC FEEDBACK  ·  </a:t>
            </a:r>
            <a:r>
              <a:rPr lang="en-US" sz="2000" b="0" dirty="0">
                <a:solidFill>
                  <a:srgbClr val="13303A"/>
                </a:solidFill>
                <a:latin typeface="Arial"/>
              </a:rPr>
              <a:t>Trade work. Give one specific comment: “This part is clear because ______.”</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43 / 50</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5.2 — Determine the Area of Triangles</dc:title>
  <dc:creator>Neft Teacher</dc:creator>
  <cp:lastModifiedBy>Neft Teacher</cp:lastModifiedBy>
  <dcterms:created xsi:type="dcterms:W3CDTF">2026-09-30T12:04:43Z</dcterms:created>
  <dcterms:modified xsi:type="dcterms:W3CDTF">2026-09-30T12:04:43Z</dcterms:modified>
</cp:coreProperties>
</file>