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7.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2.xml" ContentType="application/vnd.openxmlformats-officedocument.presentationml.notesSlide+xml"/>
  <Override PartName="/ppt/notesSlides/notesSlide35.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62.xml" ContentType="application/vnd.openxmlformats-officedocument.presentationml.notesSlide+xml"/>
  <Override PartName="/ppt/notesSlides/notesSlide64.xml" ContentType="application/vnd.openxmlformats-officedocument.presentationml.notesSlide+xml"/>
  <Override PartName="/ppt/notesSlides/notesSlide66.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83" r:id="rId5"/>
    <p:sldMasterId id="2147483684" r:id="rId6"/>
    <p:sldMasterId id="2147483685" r:id="rId7"/>
    <p:sldMasterId id="2147483686" r:id="rId8"/>
  </p:sldMasterIdLst>
  <p:notesMasterIdLst>
    <p:notesMasterId r:id="rId9"/>
  </p:notesMasterIdLst>
  <p:sldIdLst>
    <p:sldId id="259" r:id="rId13"/>
    <p:sldId id="269" r:id="rId23"/>
    <p:sldId id="270" r:id="rId24"/>
    <p:sldId id="256" r:id="rId10"/>
    <p:sldId id="257" r:id="rId11"/>
    <p:sldId id="260" r:id="rId14"/>
    <p:sldId id="346" r:id="rId86"/>
    <p:sldId id="345" r:id="rId51"/>
    <p:sldId id="344" r:id="rId36"/>
    <p:sldId id="343" r:id="rId49"/>
    <p:sldId id="342" r:id="rId37"/>
    <p:sldId id="341" r:id="rId47"/>
    <p:sldId id="340" r:id="rId46"/>
    <p:sldId id="339" r:id="rId45"/>
    <p:sldId id="261" r:id="rId15"/>
    <p:sldId id="272" r:id="rId26"/>
    <p:sldId id="274" r:id="rId28"/>
    <p:sldId id="277" r:id="rId31"/>
    <p:sldId id="350" r:id="rId90"/>
    <p:sldId id="290" r:id="rId44"/>
    <p:sldId id="294" r:id="rId48"/>
    <p:sldId id="296" r:id="rId50"/>
    <p:sldId id="300" r:id="rId54"/>
    <p:sldId id="351" r:id="rId91"/>
    <p:sldId id="301" r:id="rId55"/>
    <p:sldId id="347" r:id="rId87"/>
    <p:sldId id="338" r:id="rId38"/>
    <p:sldId id="337" r:id="rId43"/>
    <p:sldId id="336" r:id="rId42"/>
    <p:sldId id="331" r:id="rId84"/>
    <p:sldId id="352" r:id="rId92"/>
    <p:sldId id="332" r:id="rId85"/>
    <p:sldId id="330" r:id="rId56"/>
    <p:sldId id="312" r:id="rId66"/>
    <p:sldId id="317" r:id="rId71"/>
    <p:sldId id="319" r:id="rId73"/>
    <p:sldId id="321" r:id="rId75"/>
    <p:sldId id="353" r:id="rId93"/>
    <p:sldId id="323" r:id="rId77"/>
    <p:sldId id="324" r:id="rId78"/>
    <p:sldId id="325" r:id="rId79"/>
    <p:sldId id="348" r:id="rId88"/>
    <p:sldId id="335" r:id="rId41"/>
    <p:sldId id="334" r:id="rId40"/>
    <p:sldId id="326" r:id="rId80"/>
    <p:sldId id="327" r:id="rId81"/>
    <p:sldId id="328" r:id="rId82"/>
    <p:sldId id="354" r:id="rId94"/>
    <p:sldId id="329" r:id="rId83"/>
    <p:sldId id="333" r:id="rId39"/>
    <p:sldId id="349" r:id="rId89"/>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1512">
          <p15:clr>
            <a:srgbClr val="A4A3A4"/>
          </p15:clr>
        </p15:guide>
        <p15:guide id="2" orient="horz" pos="3024">
          <p15:clr>
            <a:srgbClr val="A4A3A4"/>
          </p15:clr>
        </p15:guide>
        <p15:guide id="3" orient="horz" pos="384">
          <p15:clr>
            <a:srgbClr val="A4A3A4"/>
          </p15:clr>
        </p15:guide>
        <p15:guide id="4" orient="horz" pos="2520">
          <p15:clr>
            <a:srgbClr val="A4A3A4"/>
          </p15:clr>
        </p15:guide>
        <p15:guide id="5" orient="horz" pos="1080">
          <p15:clr>
            <a:srgbClr val="A4A3A4"/>
          </p15:clr>
        </p15:guide>
        <p15:guide id="6" orient="horz" pos="1680">
          <p15:clr>
            <a:srgbClr val="A4A3A4"/>
          </p15:clr>
        </p15:guide>
        <p15:guide id="7" orient="horz" pos="3432">
          <p15:clr>
            <a:srgbClr val="A4A3A4"/>
          </p15:clr>
        </p15:guide>
        <p15:guide id="8" orient="horz" pos="3120">
          <p15:clr>
            <a:srgbClr val="A4A3A4"/>
          </p15:clr>
        </p15:guide>
        <p15:guide id="9" pos="48">
          <p15:clr>
            <a:srgbClr val="A4A3A4"/>
          </p15:clr>
        </p15:guide>
        <p15:guide id="10" pos="384">
          <p15:clr>
            <a:srgbClr val="A4A3A4"/>
          </p15:clr>
        </p15:guide>
        <p15:guide id="11" pos="6480">
          <p15:clr>
            <a:srgbClr val="A4A3A4"/>
          </p15:clr>
        </p15:guide>
        <p15:guide id="12" pos="2597">
          <p15:clr>
            <a:srgbClr val="A4A3A4"/>
          </p15:clr>
        </p15:guide>
        <p15:guide id="13" pos="288">
          <p15:clr>
            <a:srgbClr val="A4A3A4"/>
          </p15:clr>
        </p15:guide>
        <p15:guide id="14" orient="horz" pos="2160">
          <p15:clr>
            <a:srgbClr val="A4A3A4"/>
          </p15:clr>
        </p15:guide>
        <p15:guide id="15" orient="horz" pos="216">
          <p15:clr>
            <a:srgbClr val="A4A3A4"/>
          </p15:clr>
        </p15:guide>
        <p15:guide id="16" orient="horz" pos="936">
          <p15:clr>
            <a:srgbClr val="A4A3A4"/>
          </p15:clr>
        </p15:guide>
        <p15:guide id="17" pos="4368">
          <p15:clr>
            <a:srgbClr val="A4A3A4"/>
          </p15:clr>
        </p15:guide>
        <p15:guide id="18" pos="7296">
          <p15:clr>
            <a:srgbClr val="A4A3A4"/>
          </p15:clr>
        </p15:guide>
        <p15:guide id="19" pos="3288">
          <p15:clr>
            <a:srgbClr val="A4A3A4"/>
          </p15:clr>
        </p15:guide>
        <p15:guide id="20" pos="5904">
          <p15:clr>
            <a:srgbClr val="A4A3A4"/>
          </p15:clr>
        </p15:guide>
        <p15:guide id="21" pos="556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BC5978F-9256-4E76-B8A6-04CDDA8E880A}">
  <a:tblStyle styleId="{2BC5978F-9256-4E76-B8A6-04CDDA8E880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8EBF5"/>
          </a:solidFill>
        </a:fill>
      </a:tcStyle>
    </a:wholeTbl>
    <a:band1H>
      <a:tcTxStyle b="off" i="off"/>
      <a:tcStyle>
        <a:fill>
          <a:solidFill>
            <a:srgbClr val="CDD4EA"/>
          </a:solidFill>
        </a:fill>
      </a:tcStyle>
    </a:band1H>
    <a:band2H>
      <a:tcTxStyle b="off" i="off"/>
    </a:band2H>
    <a:band1V>
      <a:tcTxStyle b="off" i="off"/>
      <a:tcStyle>
        <a:fill>
          <a:solidFill>
            <a:srgbClr val="CDD4EA"/>
          </a:solidFill>
        </a:fill>
      </a:tcStyle>
    </a:band1V>
    <a:band2V>
      <a:tcTxStyle b="off" i="off"/>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b="off" i="off"/>
    </a:seCell>
    <a:swCell>
      <a:tcTxStyle b="off" i="off"/>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b="off" i="off"/>
    </a:neCell>
    <a:nwCell>
      <a:tcTxStyle b="off" i="off"/>
    </a:nwCell>
  </a:tblStyle>
  <a:tblStyle styleId="{A258F1DB-AE45-47A8-AC02-7ED14D60E218}" styleName="Table_1">
    <a:wholeTbl>
      <a:tcTxStyle b="off" i="off">
        <a:font>
          <a:latin typeface="Calibri"/>
          <a:ea typeface="Calibri"/>
          <a:cs typeface="Calibri"/>
        </a:font>
        <a:schemeClr val="dk1"/>
      </a:tcTxStyle>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b="off" i="off"/>
      <a:tcStyle>
        <a:tcBdr>
          <a:top>
            <a:ln cap="flat" cmpd="sng" w="9525">
              <a:solidFill>
                <a:schemeClr val="accent1"/>
              </a:solidFill>
              <a:prstDash val="solid"/>
              <a:round/>
              <a:headEnd len="sm" w="sm" type="none"/>
              <a:tailEnd len="sm" w="sm" type="none"/>
            </a:ln>
          </a:top>
          <a:bottom>
            <a:ln cap="flat" cmpd="sng" w="9525">
              <a:solidFill>
                <a:schemeClr val="accent1"/>
              </a:solidFill>
              <a:prstDash val="solid"/>
              <a:round/>
              <a:headEnd len="sm" w="sm" type="none"/>
              <a:tailEnd len="sm" w="sm" type="none"/>
            </a:ln>
          </a:bottom>
        </a:tcBdr>
      </a:tcStyle>
    </a:band1H>
    <a:band2H>
      <a:tcTxStyle b="off" i="off"/>
    </a:band2H>
    <a:band1V>
      <a:tcTxStyle b="off"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1V>
    <a:band2V>
      <a:tcTxStyle b="off" i="off"/>
      <a:tcStyle>
        <a:tcBdr>
          <a:left>
            <a:ln cap="flat" cmpd="sng" w="9525">
              <a:solidFill>
                <a:schemeClr val="accent1"/>
              </a:solidFill>
              <a:prstDash val="solid"/>
              <a:round/>
              <a:headEnd len="sm" w="sm" type="none"/>
              <a:tailEnd len="sm" w="sm" type="none"/>
            </a:ln>
          </a:left>
          <a:right>
            <a:ln cap="flat" cmpd="sng" w="9525">
              <a:solidFill>
                <a:schemeClr val="accent1"/>
              </a:solidFill>
              <a:prstDash val="solid"/>
              <a:round/>
              <a:headEnd len="sm" w="sm" type="none"/>
              <a:tailEnd len="sm" w="sm" type="none"/>
            </a:ln>
          </a:right>
        </a:tcBdr>
      </a:tcStyle>
    </a:band2V>
    <a:lastCol>
      <a:tcTxStyle b="on" i="off"/>
    </a:lastCol>
    <a:firstCol>
      <a:tcTxStyle b="on" i="off"/>
    </a:firstCol>
    <a:lastRow>
      <a:tcTxStyle b="on" i="off"/>
      <a:tcStyle>
        <a:tcBdr>
          <a:top>
            <a:ln cap="flat" cmpd="sng" w="50800">
              <a:solidFill>
                <a:schemeClr val="accent1"/>
              </a:solidFill>
              <a:prstDash val="solid"/>
              <a:round/>
              <a:headEnd len="sm" w="sm" type="none"/>
              <a:tailEnd len="sm" w="sm" type="none"/>
            </a:ln>
          </a:top>
        </a:tcBdr>
      </a:tcStyle>
    </a:lastRow>
    <a:seCell>
      <a:tcTxStyle b="off" i="off"/>
    </a:seCell>
    <a:swCell>
      <a:tcTxStyle b="off" i="off"/>
    </a:swCell>
    <a:firstRow>
      <a:tcTxStyle b="on" i="off">
        <a:font>
          <a:latin typeface="Calibri"/>
          <a:ea typeface="Calibri"/>
          <a:cs typeface="Calibri"/>
        </a:font>
        <a:schemeClr val="lt1"/>
      </a:tcTxStyle>
      <a:tcStyle>
        <a:fill>
          <a:solidFill>
            <a:schemeClr val="accent1"/>
          </a:solidFill>
        </a:fill>
      </a:tcStyle>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9" Type="http://schemas.openxmlformats.org/officeDocument/2006/relationships/notesMaster" Target="notesMasters/notesMaster1.xml"/><Relationship Id="rId10" Type="http://schemas.openxmlformats.org/officeDocument/2006/relationships/slide" Target="slides/slide4.xml"/><Relationship Id="rId11" Type="http://schemas.openxmlformats.org/officeDocument/2006/relationships/slide" Target="slides/slide5.xml"/><Relationship Id="rId13" Type="http://schemas.openxmlformats.org/officeDocument/2006/relationships/slide" Target="slides/slide1.xml"/><Relationship Id="rId14" Type="http://schemas.openxmlformats.org/officeDocument/2006/relationships/slide" Target="slides/slide6.xml"/><Relationship Id="rId15" Type="http://schemas.openxmlformats.org/officeDocument/2006/relationships/slide" Target="slides/slide15.xml"/><Relationship Id="rId23" Type="http://schemas.openxmlformats.org/officeDocument/2006/relationships/slide" Target="slides/slide2.xml"/><Relationship Id="rId24" Type="http://schemas.openxmlformats.org/officeDocument/2006/relationships/slide" Target="slides/slide3.xml"/><Relationship Id="rId26" Type="http://schemas.openxmlformats.org/officeDocument/2006/relationships/slide" Target="slides/slide16.xml"/><Relationship Id="rId28" Type="http://schemas.openxmlformats.org/officeDocument/2006/relationships/slide" Target="slides/slide17.xml"/><Relationship Id="rId31" Type="http://schemas.openxmlformats.org/officeDocument/2006/relationships/slide" Target="slides/slide18.xml"/><Relationship Id="rId36" Type="http://schemas.openxmlformats.org/officeDocument/2006/relationships/slide" Target="slides/slide9.xml"/><Relationship Id="rId37" Type="http://schemas.openxmlformats.org/officeDocument/2006/relationships/slide" Target="slides/slide11.xml"/><Relationship Id="rId38" Type="http://schemas.openxmlformats.org/officeDocument/2006/relationships/slide" Target="slides/slide25.xml"/><Relationship Id="rId39" Type="http://schemas.openxmlformats.org/officeDocument/2006/relationships/slide" Target="slides/slide45.xml"/><Relationship Id="rId40" Type="http://schemas.openxmlformats.org/officeDocument/2006/relationships/slide" Target="slides/slide40.xml"/><Relationship Id="rId41" Type="http://schemas.openxmlformats.org/officeDocument/2006/relationships/slide" Target="slides/slide39.xml"/><Relationship Id="rId42" Type="http://schemas.openxmlformats.org/officeDocument/2006/relationships/slide" Target="slides/slide27.xml"/><Relationship Id="rId43" Type="http://schemas.openxmlformats.org/officeDocument/2006/relationships/slide" Target="slides/slide26.xml"/><Relationship Id="rId44" Type="http://schemas.openxmlformats.org/officeDocument/2006/relationships/slide" Target="slides/slide19.xml"/><Relationship Id="rId45" Type="http://schemas.openxmlformats.org/officeDocument/2006/relationships/slide" Target="slides/slide14.xml"/><Relationship Id="rId46" Type="http://schemas.openxmlformats.org/officeDocument/2006/relationships/slide" Target="slides/slide13.xml"/><Relationship Id="rId47" Type="http://schemas.openxmlformats.org/officeDocument/2006/relationships/slide" Target="slides/slide12.xml"/><Relationship Id="rId48" Type="http://schemas.openxmlformats.org/officeDocument/2006/relationships/slide" Target="slides/slide20.xml"/><Relationship Id="rId49" Type="http://schemas.openxmlformats.org/officeDocument/2006/relationships/slide" Target="slides/slide10.xml"/><Relationship Id="rId50" Type="http://schemas.openxmlformats.org/officeDocument/2006/relationships/slide" Target="slides/slide21.xml"/><Relationship Id="rId51" Type="http://schemas.openxmlformats.org/officeDocument/2006/relationships/slide" Target="slides/slide8.xml"/><Relationship Id="rId54" Type="http://schemas.openxmlformats.org/officeDocument/2006/relationships/slide" Target="slides/slide22.xml"/><Relationship Id="rId55" Type="http://schemas.openxmlformats.org/officeDocument/2006/relationships/slide" Target="slides/slide23.xml"/><Relationship Id="rId56" Type="http://schemas.openxmlformats.org/officeDocument/2006/relationships/slide" Target="slides/slide30.xml"/><Relationship Id="rId66" Type="http://schemas.openxmlformats.org/officeDocument/2006/relationships/slide" Target="slides/slide31.xml"/><Relationship Id="rId71" Type="http://schemas.openxmlformats.org/officeDocument/2006/relationships/slide" Target="slides/slide32.xml"/><Relationship Id="rId73" Type="http://schemas.openxmlformats.org/officeDocument/2006/relationships/slide" Target="slides/slide33.xml"/><Relationship Id="rId75" Type="http://schemas.openxmlformats.org/officeDocument/2006/relationships/slide" Target="slides/slide34.xml"/><Relationship Id="rId77" Type="http://schemas.openxmlformats.org/officeDocument/2006/relationships/slide" Target="slides/slide35.xml"/><Relationship Id="rId78" Type="http://schemas.openxmlformats.org/officeDocument/2006/relationships/slide" Target="slides/slide36.xml"/><Relationship Id="rId79" Type="http://schemas.openxmlformats.org/officeDocument/2006/relationships/slide" Target="slides/slide37.xml"/><Relationship Id="rId80" Type="http://schemas.openxmlformats.org/officeDocument/2006/relationships/slide" Target="slides/slide41.xml"/><Relationship Id="rId81" Type="http://schemas.openxmlformats.org/officeDocument/2006/relationships/slide" Target="slides/slide42.xml"/><Relationship Id="rId82" Type="http://schemas.openxmlformats.org/officeDocument/2006/relationships/slide" Target="slides/slide43.xml"/><Relationship Id="rId83" Type="http://schemas.openxmlformats.org/officeDocument/2006/relationships/slide" Target="slides/slide44.xml"/><Relationship Id="rId84" Type="http://schemas.openxmlformats.org/officeDocument/2006/relationships/slide" Target="slides/slide28.xml"/><Relationship Id="rId85" Type="http://schemas.openxmlformats.org/officeDocument/2006/relationships/slide" Target="slides/slide29.xml"/><Relationship Id="rId86" Type="http://schemas.openxmlformats.org/officeDocument/2006/relationships/slide" Target="slides/slide7.xml"/><Relationship Id="rId87" Type="http://schemas.openxmlformats.org/officeDocument/2006/relationships/slide" Target="slides/slide24.xml"/><Relationship Id="rId88" Type="http://schemas.openxmlformats.org/officeDocument/2006/relationships/slide" Target="slides/slide38.xml"/><Relationship Id="rId89" Type="http://schemas.openxmlformats.org/officeDocument/2006/relationships/slide" Target="slides/slide46.xml"/><Relationship Id="rId90" Type="http://schemas.openxmlformats.org/officeDocument/2006/relationships/slide" Target="slides/slide47.xml"/><Relationship Id="rId91" Type="http://schemas.openxmlformats.org/officeDocument/2006/relationships/slide" Target="slides/slide48.xml"/><Relationship Id="rId92" Type="http://schemas.openxmlformats.org/officeDocument/2006/relationships/slide" Target="slides/slide49.xml"/><Relationship Id="rId93" Type="http://schemas.openxmlformats.org/officeDocument/2006/relationships/slide" Target="slides/slide50.xml"/><Relationship Id="rId94"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4 | DIVIDER</a:t>
            </a:r>
          </a:p>
          <a:p xmlns:a="http://schemas.openxmlformats.org/drawingml/2006/main">
            <a:pPr>
              <a:buNone/>
            </a:pPr>
            <a:r>
              <a:rPr lang="en-US" sz="1100"/>
              <a:t>Focus on the existing task: Find Factors and Multiples Session 1</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231" name="Google Shape;231;p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 name="Shape 236"/>
        <p:cNvGrpSpPr/>
        <p:nvPr/>
      </p:nvGrpSpPr>
      <p:grpSpPr>
        <a:xfrm>
          <a:off x="0" y="0"/>
          <a:ext cx="0" cy="0"/>
          <a:chOff x="0" y="0"/>
          <a:chExt cx="0" cy="0"/>
        </a:xfrm>
      </p:grpSpPr>
      <p:sp>
        <p:nvSpPr>
          <p:cNvPr id="237" name="Google Shape;237;p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5 | WORKED</a:t>
            </a:r>
          </a:p>
          <a:p xmlns:a="http://schemas.openxmlformats.org/drawingml/2006/main">
            <a:pPr>
              <a:buNone/>
            </a:pPr>
            <a:r>
              <a:rPr lang="en-US" sz="1100"/>
              <a:t>Focus on the existing task: On You Could</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238" name="Google Shape;238;p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1 | WARMUP</a:t>
            </a:r>
          </a:p>
          <a:p xmlns:a="http://schemas.openxmlformats.org/drawingml/2006/main">
            <a:pPr>
              <a:buNone/>
            </a:pPr>
            <a:r>
              <a:rPr lang="en-US" sz="1100"/>
              <a:t>Focus on the existing task: Warm-Up WARM-UP · THINK • TRY • CHECK Do these four on your own.</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56   2) 1, 2, 3, 6, 9, 18   3) 6, 12, 18, 24, 30   4) yes</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distinguish common factors from common multiples; choose GCF or LCM from context. Review recent work and today’s warm-up to choose flexible groups and access supports; do not infer needs from identity or perceived ability. Use the existing lesson tasks and stated standards.</a:t>
            </a:r>
          </a:p>
          <a:p>
            <a:pPr>
              <a:buNone/>
            </a:pPr>
            <a:r>
              <a:rPr lang="en-US" sz="1100"/>
              <a:t>Anticipate: using the greatest common factor for a repeating-cycle problem. If observed, organize factor lists or multiple lists for the original numbers and connect them to the context.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4" name="Google Shape;254;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6 | GOAL</a:t>
            </a:r>
          </a:p>
          <a:p xmlns:a="http://schemas.openxmlformats.org/drawingml/2006/main">
            <a:pPr>
              <a:buNone/>
            </a:pPr>
            <a:r>
              <a:rPr lang="en-US" sz="1100"/>
              <a:t>Focus on the existing task: Today’s Objectives Find Factors and Multiples Maryland Standard 6.</a:t>
            </a:r>
          </a:p>
          <a:p xmlns:a="http://schemas.openxmlformats.org/drawingml/2006/main">
            <a:pPr>
              <a:buNone/>
            </a:pPr>
            <a:r>
              <a:rPr lang="en-US" sz="1100"/>
              <a:t>CONNECT (T1/4): Ask students to restate the displayed goal or key idea and connect it to earlier work. Relevant lesson evidence: distinguish common factors from common multiples; choose GCF or LCM from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Read the objective together, then have one or two students restate today’s goal in their own words.</a:t>
            </a:r>
          </a:p>
          <a:p>
            <a:pPr indent="0" lvl="0" marL="0" rtl="0" algn="l">
              <a:spcBef>
                <a:spcPts val="0"/>
              </a:spcBef>
              <a:spcAft>
                <a:spcPts val="0"/>
              </a:spcAft>
              <a:buNone/>
            </a:pPr>
            <a:r>
              <a:t>Connect it to what the class learned last lesson.</a:t>
            </a:r>
          </a:p>
          <a:p>
            <a:pPr indent="0" lvl="0" marL="0" rtl="0" algn="l">
              <a:spcBef>
                <a:spcPts val="0"/>
              </a:spcBef>
              <a:spcAft>
                <a:spcPts val="0"/>
              </a:spcAft>
              <a:buNone/>
            </a:pPr>
            <a:r>
              <a:t>Return to this goal at the end of class to check it was met.</a:t>
            </a:r>
          </a:p>
          <a:p>
            <a:pPr indent="0" lvl="0" marL="0" rtl="0" algn="l">
              <a:spcBef>
                <a:spcPts val="0"/>
              </a:spcBef>
              <a:spcAft>
                <a:spcPts val="0"/>
              </a:spcAft>
              <a:buNone/>
            </a:pPr>
            <a:r>
              <a:t>UIFR: TEACH 1.</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distinguish common factors from common multiples; choose GCF or LCM from context. Ask: “Which part of your work would show this?” Revisit that evidence after the task; a confidence rating alone is not evidence of understanding.</a:t>
            </a:r>
          </a:p>
        </p:txBody>
      </p:sp>
      <p:sp>
        <p:nvSpPr>
          <p:cNvPr id="330" name="Google Shape;330;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15 | VOCAB</a:t>
            </a:r>
          </a:p>
          <a:p xmlns:a="http://schemas.openxmlformats.org/drawingml/2006/main">
            <a:pPr>
              <a:buNone/>
            </a:pPr>
            <a:r>
              <a:rPr lang="en-US" sz="1100"/>
              <a:t>Focus on the existing task: Vocabulary Today’s Math Words We learn every word — what it…</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Choral-read each word, its meaning, and what it looks like.</a:t>
            </a:r>
          </a:p>
          <a:p>
            <a:pPr indent="0" lvl="0" marL="0" rtl="0" algn="l">
              <a:spcBef>
                <a:spcPts val="0"/>
              </a:spcBef>
              <a:spcAft>
                <a:spcPts val="0"/>
              </a:spcAft>
              <a:buNone/>
            </a:pPr>
            <a:r>
              <a:t>Students should use these words out loud today — listen for them in partner talk and revoice student ideas with the academic term.</a:t>
            </a:r>
          </a:p>
          <a:p>
            <a:pPr indent="0" lvl="0" marL="0" rtl="0" algn="l">
              <a:spcBef>
                <a:spcPts val="0"/>
              </a:spcBef>
              <a:spcAft>
                <a:spcPts val="0"/>
              </a:spcAft>
              <a:buNone/>
            </a:pPr>
            <a:r>
              <a:t>UIFR: TEACH 1 · TEACH 5.</a:t>
            </a:r>
          </a:p>
        </p:txBody>
      </p:sp>
      <p:sp>
        <p:nvSpPr>
          <p:cNvPr id="352" name="Google Shape;352;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6" name="Shape 516"/>
        <p:cNvGrpSpPr/>
        <p:nvPr/>
      </p:nvGrpSpPr>
      <p:grpSpPr>
        <a:xfrm>
          <a:off x="0" y="0"/>
          <a:ext cx="0" cy="0"/>
          <a:chOff x="0" y="0"/>
          <a:chExt cx="0" cy="0"/>
        </a:xfrm>
      </p:grpSpPr>
      <p:sp>
        <p:nvSpPr>
          <p:cNvPr id="517" name="Google Shape;517;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2 | NOTES</a:t>
            </a:r>
          </a:p>
          <a:p xmlns:a="http://schemas.openxmlformats.org/drawingml/2006/main">
            <a:pPr>
              <a:buNone/>
            </a:pPr>
            <a:r>
              <a:rPr lang="en-US" sz="1100"/>
              <a:t>Focus on the existing task: Today’s Math Notes Section 1: Math Words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18" name="Google Shape;518;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p1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3 | NOTES</a:t>
            </a:r>
          </a:p>
          <a:p xmlns:a="http://schemas.openxmlformats.org/drawingml/2006/main">
            <a:pPr>
              <a:buNone/>
            </a:pPr>
            <a:r>
              <a:rPr lang="en-US" sz="1100"/>
              <a:t>Focus on the existing task: Today’s Math Notes Section 2: Today’s Math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Copy routine: read one line at a time; students copy, then explain that line to a partner.</a:t>
            </a:r>
          </a:p>
          <a:p>
            <a:pPr indent="0" lvl="0" marL="0" rtl="0" algn="l">
              <a:spcBef>
                <a:spcPts val="0"/>
              </a:spcBef>
              <a:spcAft>
                <a:spcPts val="0"/>
              </a:spcAft>
              <a:buNone/>
            </a:pPr>
            <a:r>
              <a:t>Keep it brisk — the understanding work happens in the examples, not the copying.</a:t>
            </a:r>
          </a:p>
          <a:p>
            <a:pPr indent="0" lvl="0" marL="0" rtl="0" algn="l">
              <a:spcBef>
                <a:spcPts val="0"/>
              </a:spcBef>
              <a:spcAft>
                <a:spcPts val="0"/>
              </a:spcAft>
              <a:buNone/>
            </a:pPr>
            <a:r>
              <a:t>UIFR: TEACH 1 · TEACH 6.</a:t>
            </a:r>
          </a:p>
        </p:txBody>
      </p:sp>
      <p:sp>
        <p:nvSpPr>
          <p:cNvPr id="546" name="Google Shape;546;p1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8" name="Shape 578"/>
        <p:cNvGrpSpPr/>
        <p:nvPr/>
      </p:nvGrpSpPr>
      <p:grpSpPr>
        <a:xfrm>
          <a:off x="0" y="0"/>
          <a:ext cx="0" cy="0"/>
          <a:chOff x="0" y="0"/>
          <a:chExt cx="0" cy="0"/>
        </a:xfrm>
      </p:grpSpPr>
      <p:sp>
        <p:nvSpPr>
          <p:cNvPr id="579" name="Google Shape;579;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16 | CURIOUS</a:t>
            </a:r>
          </a:p>
          <a:p xmlns:a="http://schemas.openxmlformats.org/drawingml/2006/main">
            <a:pPr>
              <a:buNone/>
            </a:pPr>
            <a:r>
              <a:rPr lang="en-US" sz="1100"/>
              <a:t>Focus on the existing task: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Accept all noticings and wonderings — there are no wrong answers here.</a:t>
            </a:r>
          </a:p>
          <a:p>
            <a:pPr indent="0" lvl="0" marL="0" rtl="0" algn="l">
              <a:lnSpc>
                <a:spcPct val="100000"/>
              </a:lnSpc>
              <a:spcBef>
                <a:spcPts val="0"/>
              </a:spcBef>
              <a:spcAft>
                <a:spcPts val="0"/>
              </a:spcAft>
              <a:buSzPts val="1400"/>
              <a:buNone/>
            </a:pPr>
            <a:r>
              <a:t>Give 20–30 seconds of quiet think time before taking responses; mix cold and warm calls so it is not always the same voices.</a:t>
            </a:r>
          </a:p>
          <a:p>
            <a:pPr indent="0" lvl="0" marL="0" rtl="0" algn="l">
              <a:lnSpc>
                <a:spcPct val="100000"/>
              </a:lnSpc>
              <a:spcBef>
                <a:spcPts val="0"/>
              </a:spcBef>
              <a:spcAft>
                <a:spcPts val="0"/>
              </a:spcAft>
              <a:buSzPts val="1400"/>
              <a:buNone/>
            </a:pPr>
            <a:r>
              <a:t>Read the mindset question aloud and let two students respond.</a:t>
            </a:r>
          </a:p>
          <a:p>
            <a:pPr indent="0" lvl="0" marL="0" rtl="0" algn="l">
              <a:lnSpc>
                <a:spcPct val="100000"/>
              </a:lnSpc>
              <a:spcBef>
                <a:spcPts val="0"/>
              </a:spcBef>
              <a:spcAft>
                <a:spcPts val="0"/>
              </a:spcAft>
              <a:buSzPts val="1400"/>
              <a:buNone/>
            </a:pPr>
            <a:r>
              <a:t>UIFR: TEACH 3 · TEACH 7.</a:t>
            </a:r>
          </a:p>
        </p:txBody>
      </p:sp>
      <p:sp>
        <p:nvSpPr>
          <p:cNvPr id="580" name="Google Shape;580;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1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17 | REVEAL</a:t>
            </a:r>
          </a:p>
          <a:p xmlns:a="http://schemas.openxmlformats.org/drawingml/2006/main">
            <a:pPr>
              <a:buNone/>
            </a:pPr>
            <a:r>
              <a:rPr lang="en-US" sz="1100"/>
              <a:t>Focus on the existing task: Reveal: The school store manager plans to sell a combo pack as a back-to-school item. Each combo pack will have an equal number of…</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Students should have shared predictions before this reveal.</a:t>
            </a:r>
          </a:p>
          <a:p>
            <a:pPr indent="0" lvl="0" marL="0" rtl="0" algn="l">
              <a:lnSpc>
                <a:spcPct val="100000"/>
              </a:lnSpc>
              <a:spcBef>
                <a:spcPts val="0"/>
              </a:spcBef>
              <a:spcAft>
                <a:spcPts val="0"/>
              </a:spcAft>
              <a:buSzPts val="1400"/>
              <a:buNone/>
            </a:pPr>
            <a:r>
              <a:t>Have them compare their thinking to what is shown: “Is this the same as what we said? Where is it different?”</a:t>
            </a:r>
          </a:p>
          <a:p>
            <a:pPr indent="0" lvl="0" marL="0" rtl="0" algn="l">
              <a:lnSpc>
                <a:spcPct val="100000"/>
              </a:lnSpc>
              <a:spcBef>
                <a:spcPts val="0"/>
              </a:spcBef>
              <a:spcAft>
                <a:spcPts val="0"/>
              </a:spcAft>
              <a:buSzPts val="1400"/>
              <a:buNone/>
            </a:pPr>
            <a:r>
              <a:t>Press one student to explain the reveal in their own words.</a:t>
            </a:r>
          </a:p>
          <a:p>
            <a:pPr indent="0" lvl="0" marL="0" rtl="0" algn="l">
              <a:lnSpc>
                <a:spcPct val="100000"/>
              </a:lnSpc>
              <a:spcBef>
                <a:spcPts val="0"/>
              </a:spcBef>
              <a:spcAft>
                <a:spcPts val="0"/>
              </a:spcAft>
              <a:buSzPts val="1400"/>
              <a:buNone/>
            </a:pPr>
            <a:r>
              <a:t>UIFR: TEACH 3 · TEACH 4.</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“Does this problem ask for equal groups or a shared repeat, and why does that call for a factor or multiple?” Wait for evidence, invite another pathway, and have a student ask a follow-up question. Do not replace students’ reasoning with a sequence of leading steps.</a:t>
            </a:r>
          </a:p>
        </p:txBody>
      </p:sp>
      <p:sp>
        <p:nvSpPr>
          <p:cNvPr id="600" name="Google Shape;600;p1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p2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18 | REVEAL</a:t>
            </a:r>
          </a:p>
          <a:p xmlns:a="http://schemas.openxmlformats.org/drawingml/2006/main">
            <a:pPr>
              <a:buNone/>
            </a:pPr>
            <a:r>
              <a:rPr lang="en-US" sz="1100"/>
              <a:t>Focus on the existing task: What does this tell you about the number of combo packs that can be made?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Each factor pair has a common factor of 2. This means that it is possible to make 2 combo packs with 24 pencils and 18 notebooks in each.</a:t>
            </a:r>
          </a:p>
          <a:p>
            <a:pPr indent="0" lvl="0" marL="0" rtl="0" algn="l">
              <a:lnSpc>
                <a:spcPct val="100000"/>
              </a:lnSpc>
              <a:spcBef>
                <a:spcPts val="0"/>
              </a:spcBef>
              <a:spcAft>
                <a:spcPts val="0"/>
              </a:spcAft>
              <a:buSzPts val="1400"/>
              <a:buNone/>
            </a:pPr>
            <a:r>
              <a:t>UIFR: TEACH 3 · TEACH 4.</a:t>
            </a:r>
          </a:p>
        </p:txBody>
      </p:sp>
      <p:sp>
        <p:nvSpPr>
          <p:cNvPr id="628" name="Google Shape;628;p2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6" name="Shape 746"/>
        <p:cNvGrpSpPr/>
        <p:nvPr/>
      </p:nvGrpSpPr>
      <p:grpSpPr>
        <a:xfrm>
          <a:off x="0" y="0"/>
          <a:ext cx="0" cy="0"/>
          <a:chOff x="0" y="0"/>
          <a:chExt cx="0" cy="0"/>
        </a:xfrm>
      </p:grpSpPr>
      <p:sp>
        <p:nvSpPr>
          <p:cNvPr id="747" name="Google Shape;747;p3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19 | REVEAL</a:t>
            </a:r>
          </a:p>
          <a:p xmlns:a="http://schemas.openxmlformats.org/drawingml/2006/main">
            <a:pPr>
              <a:buNone/>
            </a:pPr>
            <a:r>
              <a:rPr lang="en-US" sz="1100"/>
              <a:t>Focus on the existing task: Reveal: For each non-prime factor, we can repeat the process of finding a factor pair that includes a prime number. To find a prime…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For each non-prime factor, we can repeat the process of finding a factor pair that includes a prime number.</a:t>
            </a:r>
          </a:p>
          <a:p>
            <a:pPr indent="0" lvl="0" marL="0" rtl="0" algn="l">
              <a:lnSpc>
                <a:spcPct val="100000"/>
              </a:lnSpc>
              <a:spcBef>
                <a:spcPts val="0"/>
              </a:spcBef>
              <a:spcAft>
                <a:spcPts val="0"/>
              </a:spcAft>
              <a:buSzPts val="1400"/>
              <a:buNone/>
            </a:pPr>
            <a:r>
              <a:t>UIFR: TEACH 3 · TEACH 4.</a:t>
            </a:r>
          </a:p>
        </p:txBody>
      </p:sp>
      <p:sp>
        <p:nvSpPr>
          <p:cNvPr id="748" name="Google Shape;748;p3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2" name="Shape 782"/>
        <p:cNvGrpSpPr/>
        <p:nvPr/>
      </p:nvGrpSpPr>
      <p:grpSpPr>
        <a:xfrm>
          <a:off x="0" y="0"/>
          <a:ext cx="0" cy="0"/>
          <a:chOff x="0" y="0"/>
          <a:chExt cx="0" cy="0"/>
        </a:xfrm>
      </p:grpSpPr>
      <p:sp>
        <p:nvSpPr>
          <p:cNvPr id="783" name="Google Shape;783;p3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20 | REVEAL</a:t>
            </a:r>
          </a:p>
          <a:p xmlns:a="http://schemas.openxmlformats.org/drawingml/2006/main">
            <a:pPr>
              <a:buNone/>
            </a:pPr>
            <a:r>
              <a:rPr lang="en-US" sz="1100"/>
              <a:t>Focus on the existing task: Reveal: The product of the prime factors is the original number. Let’s repeat the process of finding factor pairs that include prime…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product of the prime factors is the original number.</a:t>
            </a:r>
          </a:p>
          <a:p>
            <a:pPr indent="0" lvl="0" marL="0" rtl="0" algn="l">
              <a:lnSpc>
                <a:spcPct val="100000"/>
              </a:lnSpc>
              <a:spcBef>
                <a:spcPts val="0"/>
              </a:spcBef>
              <a:spcAft>
                <a:spcPts val="0"/>
              </a:spcAft>
              <a:buSzPts val="1400"/>
              <a:buNone/>
            </a:pPr>
            <a:r>
              <a:t>UIFR: TEACH 3 · TEACH 4.</a:t>
            </a:r>
          </a:p>
        </p:txBody>
      </p:sp>
      <p:sp>
        <p:nvSpPr>
          <p:cNvPr id="784" name="Google Shape;784;p3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2" name="Shape 802"/>
        <p:cNvGrpSpPr/>
        <p:nvPr/>
      </p:nvGrpSpPr>
      <p:grpSpPr>
        <a:xfrm>
          <a:off x="0" y="0"/>
          <a:ext cx="0" cy="0"/>
          <a:chOff x="0" y="0"/>
          <a:chExt cx="0" cy="0"/>
        </a:xfrm>
      </p:grpSpPr>
      <p:sp>
        <p:nvSpPr>
          <p:cNvPr id="803" name="Google Shape;803;p4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21 | REVEAL</a:t>
            </a:r>
          </a:p>
          <a:p xmlns:a="http://schemas.openxmlformats.org/drawingml/2006/main">
            <a:pPr>
              <a:buNone/>
            </a:pPr>
            <a:r>
              <a:rPr lang="en-US" sz="1100"/>
              <a:t>Focus on the existing task: Reveal: The numbers share some prime factors. How do the prime factors of the two quantities compare?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The numbers share some prime factors.</a:t>
            </a:r>
          </a:p>
          <a:p>
            <a:pPr indent="0" lvl="0" marL="0" rtl="0" algn="l">
              <a:lnSpc>
                <a:spcPct val="100000"/>
              </a:lnSpc>
              <a:spcBef>
                <a:spcPts val="0"/>
              </a:spcBef>
              <a:spcAft>
                <a:spcPts val="0"/>
              </a:spcAft>
              <a:buSzPts val="1400"/>
              <a:buNone/>
            </a:pPr>
            <a:r>
              <a:t>UIFR: TEACH 3 · TEACH 4.</a:t>
            </a:r>
          </a:p>
        </p:txBody>
      </p:sp>
      <p:sp>
        <p:nvSpPr>
          <p:cNvPr id="804" name="Google Shape;804;p4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5" name="Shape 845"/>
        <p:cNvGrpSpPr/>
        <p:nvPr/>
      </p:nvGrpSpPr>
      <p:grpSpPr>
        <a:xfrm>
          <a:off x="0" y="0"/>
          <a:ext cx="0" cy="0"/>
          <a:chOff x="0" y="0"/>
          <a:chExt cx="0" cy="0"/>
        </a:xfrm>
      </p:grpSpPr>
      <p:sp>
        <p:nvSpPr>
          <p:cNvPr id="846" name="Google Shape;846;p4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22 | TASK</a:t>
            </a:r>
          </a:p>
          <a:p xmlns:a="http://schemas.openxmlformats.org/drawingml/2006/main">
            <a:pPr>
              <a:buNone/>
            </a:pPr>
            <a:r>
              <a:rPr lang="en-US" sz="1100"/>
              <a:t>Focus on the existing task: The school store manager plans to sell a combo pack as a back-to-school item. Each combo pack will have an equal number of pencils and an…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What is the greatest number of combo packs that he can make using all the pencils and notebooks?</a:t>
            </a:r>
          </a:p>
          <a:p>
            <a:pPr indent="0" lvl="0" marL="0" rtl="0" algn="l">
              <a:lnSpc>
                <a:spcPct val="100000"/>
              </a:lnSpc>
              <a:spcBef>
                <a:spcPts val="0"/>
              </a:spcBef>
              <a:spcAft>
                <a:spcPts val="0"/>
              </a:spcAft>
              <a:buSzPts val="1400"/>
              <a:buNone/>
            </a:pPr>
            <a:r>
              <a:t>UIFR: TEACH 1 · TEACH 3.</a:t>
            </a:r>
          </a:p>
        </p:txBody>
      </p:sp>
      <p:sp>
        <p:nvSpPr>
          <p:cNvPr id="847" name="Google Shape;847;p4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5" name="Shape 855"/>
        <p:cNvGrpSpPr/>
        <p:nvPr/>
      </p:nvGrpSpPr>
      <p:grpSpPr>
        <a:xfrm>
          <a:off x="0" y="0"/>
          <a:ext cx="0" cy="0"/>
          <a:chOff x="0" y="0"/>
          <a:chExt cx="0" cy="0"/>
        </a:xfrm>
      </p:grpSpPr>
      <p:sp>
        <p:nvSpPr>
          <p:cNvPr id="856" name="Google Shape;856;p4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23 | PRACTICE</a:t>
            </a:r>
          </a:p>
          <a:p xmlns:a="http://schemas.openxmlformats.org/drawingml/2006/main">
            <a:pPr>
              <a:buNone/>
            </a:pPr>
            <a:r>
              <a:rPr lang="en-US" sz="1100"/>
              <a:t>Focus on the existing task: How many pencils and how many notebooks will be in each of the 12 combo packs?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using the greatest common factor for a repeating-cycle problem. If it appears, organize factor lists or multiple lists for the original numbers and connect them to the context; then ask the student to revise the same response and explain the change. If evidence is secure, have students compare a second valid pathway or state why their approach works. Choose the next step from the responses, not a preset pace.</a:t>
            </a:r>
          </a:p>
        </p:txBody>
      </p:sp>
      <p:sp>
        <p:nvSpPr>
          <p:cNvPr id="857" name="Google Shape;857;p4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3" name="Shape 863"/>
        <p:cNvGrpSpPr/>
        <p:nvPr/>
      </p:nvGrpSpPr>
      <p:grpSpPr>
        <a:xfrm>
          <a:off x="0" y="0"/>
          <a:ext cx="0" cy="0"/>
          <a:chOff x="0" y="0"/>
          <a:chExt cx="0" cy="0"/>
        </a:xfrm>
      </p:grpSpPr>
      <p:sp>
        <p:nvSpPr>
          <p:cNvPr id="864" name="Google Shape;864;p4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30 | DIVIDER</a:t>
            </a:r>
          </a:p>
          <a:p xmlns:a="http://schemas.openxmlformats.org/drawingml/2006/main">
            <a:pPr>
              <a:buNone/>
            </a:pPr>
            <a:r>
              <a:rPr lang="en-US" sz="1100"/>
              <a:t>Focus on the existing task: Find Factors and Multiples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Transition cue: state what materials are out and what success looks like this session.</a:t>
            </a:r>
          </a:p>
          <a:p>
            <a:pPr indent="0" lvl="0" marL="0" rtl="0" algn="l">
              <a:lnSpc>
                <a:spcPct val="100000"/>
              </a:lnSpc>
              <a:spcBef>
                <a:spcPts val="0"/>
              </a:spcBef>
              <a:spcAft>
                <a:spcPts val="0"/>
              </a:spcAft>
              <a:buSzPts val="1400"/>
              <a:buNone/>
            </a:pPr>
            <a:r>
              <a:t>Keep the changeover under a minute.</a:t>
            </a:r>
          </a:p>
          <a:p>
            <a:pPr indent="0" lvl="0" marL="0" rtl="0" algn="l">
              <a:lnSpc>
                <a:spcPct val="100000"/>
              </a:lnSpc>
              <a:spcBef>
                <a:spcPts val="0"/>
              </a:spcBef>
              <a:spcAft>
                <a:spcPts val="0"/>
              </a:spcAft>
              <a:buSzPts val="1400"/>
              <a:buNone/>
            </a:pPr>
            <a:r>
              <a:t>UIFR: TEACH 6.</a:t>
            </a:r>
          </a:p>
        </p:txBody>
      </p:sp>
      <p:sp>
        <p:nvSpPr>
          <p:cNvPr id="865" name="Google Shape;865;p4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31 | REVEAL</a:t>
            </a:r>
          </a:p>
          <a:p xmlns:a="http://schemas.openxmlformats.org/drawingml/2006/main">
            <a:pPr>
              <a:buNone/>
            </a:pPr>
            <a:r>
              <a:rPr lang="en-US" sz="1100"/>
              <a:t>Focus on the existing task: Reveal: Painting class happens every 8 weeks, so we can find multiples of 8 to find when she will have painting class again. Pottery…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Students should have shared predictions before this reveal.</a:t>
            </a:r>
          </a:p>
          <a:p>
            <a:pPr indent="0" lvl="0" marL="0" rtl="0" algn="l">
              <a:lnSpc>
                <a:spcPct val="100000"/>
              </a:lnSpc>
              <a:spcBef>
                <a:spcPts val="0"/>
              </a:spcBef>
              <a:spcAft>
                <a:spcPts val="0"/>
              </a:spcAft>
              <a:buSzPts val="1400"/>
              <a:buNone/>
            </a:pPr>
            <a:r>
              <a:t>Have them compare their thinking to what is shown: “Is this the same as what we said? Where is it different?”</a:t>
            </a:r>
          </a:p>
          <a:p>
            <a:pPr indent="0" lvl="0" marL="0" rtl="0" algn="l">
              <a:lnSpc>
                <a:spcPct val="100000"/>
              </a:lnSpc>
              <a:spcBef>
                <a:spcPts val="0"/>
              </a:spcBef>
              <a:spcAft>
                <a:spcPts val="0"/>
              </a:spcAft>
              <a:buSzPts val="1400"/>
              <a:buNone/>
            </a:pPr>
            <a:r>
              <a:t>Press one student to explain the reveal in their own words.</a:t>
            </a:r>
          </a:p>
          <a:p>
            <a:pPr indent="0" lvl="0" marL="0" rtl="0" algn="l">
              <a:lnSpc>
                <a:spcPct val="100000"/>
              </a:lnSpc>
              <a:spcBef>
                <a:spcPts val="0"/>
              </a:spcBef>
              <a:spcAft>
                <a:spcPts val="0"/>
              </a:spcAft>
              <a:buSzPts val="1400"/>
              <a:buNone/>
            </a:pPr>
            <a:r>
              <a:t>UIFR: TEACH 3 · TEACH 4.</a:t>
            </a:r>
          </a:p>
        </p:txBody>
      </p:sp>
      <p:sp>
        <p:nvSpPr>
          <p:cNvPr id="956" name="Google Shape;956;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p6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32 | REVEAL</a:t>
            </a:r>
          </a:p>
          <a:p xmlns:a="http://schemas.openxmlformats.org/drawingml/2006/main">
            <a:pPr>
              <a:buNone/>
            </a:pPr>
            <a:r>
              <a:rPr lang="en-US" sz="1100"/>
              <a:t>Focus on the existing task: What is the least multiple that the classes have in common?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Do not click yet: collect 2–3 student answers with reasons first.</a:t>
            </a:r>
          </a:p>
          <a:p>
            <a:pPr indent="0" lvl="0" marL="0" rtl="0" algn="l">
              <a:lnSpc>
                <a:spcPct val="100000"/>
              </a:lnSpc>
              <a:spcBef>
                <a:spcPts val="0"/>
              </a:spcBef>
              <a:spcAft>
                <a:spcPts val="0"/>
              </a:spcAft>
              <a:buSzPts val="1400"/>
              <a:buNone/>
            </a:pPr>
            <a:r>
              <a:t>Then click to remove the cover and have students compare their thinking to the reveal — “Is this what we said? Where is it different?”</a:t>
            </a:r>
          </a:p>
          <a:p>
            <a:pPr indent="0" lvl="0" marL="0" rtl="0" algn="l">
              <a:lnSpc>
                <a:spcPct val="100000"/>
              </a:lnSpc>
              <a:spcBef>
                <a:spcPts val="0"/>
              </a:spcBef>
              <a:spcAft>
                <a:spcPts val="0"/>
              </a:spcAft>
              <a:buSzPts val="1400"/>
              <a:buNone/>
            </a:pPr>
            <a:r>
              <a:t>Behind the cover: 24</a:t>
            </a:r>
          </a:p>
          <a:p>
            <a:pPr indent="0" lvl="0" marL="0" rtl="0" algn="l">
              <a:lnSpc>
                <a:spcPct val="100000"/>
              </a:lnSpc>
              <a:spcBef>
                <a:spcPts val="0"/>
              </a:spcBef>
              <a:spcAft>
                <a:spcPts val="0"/>
              </a:spcAft>
              <a:buSzPts val="1400"/>
              <a:buNone/>
            </a:pPr>
            <a:r>
              <a:t>UIFR: TEACH 3 · TEACH 4.</a:t>
            </a:r>
          </a:p>
        </p:txBody>
      </p:sp>
      <p:sp>
        <p:nvSpPr>
          <p:cNvPr id="1001" name="Google Shape;1001;p6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7" name="Shape 1017"/>
        <p:cNvGrpSpPr/>
        <p:nvPr/>
      </p:nvGrpSpPr>
      <p:grpSpPr>
        <a:xfrm>
          <a:off x="0" y="0"/>
          <a:ext cx="0" cy="0"/>
          <a:chOff x="0" y="0"/>
          <a:chExt cx="0" cy="0"/>
        </a:xfrm>
      </p:grpSpPr>
      <p:sp>
        <p:nvSpPr>
          <p:cNvPr id="1018" name="Google Shape;1018;p6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33 | TASK</a:t>
            </a:r>
          </a:p>
          <a:p xmlns:a="http://schemas.openxmlformats.org/drawingml/2006/main">
            <a:pPr>
              <a:buNone/>
            </a:pPr>
            <a:r>
              <a:rPr lang="en-US" sz="1100"/>
              <a:t>Focus on the existing task: Think About It: Why is 48 not the least multiple that the classes have in common?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1019" name="Google Shape;1019;p6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5" name="Shape 1035"/>
        <p:cNvGrpSpPr/>
        <p:nvPr/>
      </p:nvGrpSpPr>
      <p:grpSpPr>
        <a:xfrm>
          <a:off x="0" y="0"/>
          <a:ext cx="0" cy="0"/>
          <a:chOff x="0" y="0"/>
          <a:chExt cx="0" cy="0"/>
        </a:xfrm>
      </p:grpSpPr>
      <p:sp>
        <p:nvSpPr>
          <p:cNvPr id="1036" name="Google Shape;1036;p6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34 | TASK</a:t>
            </a:r>
          </a:p>
          <a:p xmlns:a="http://schemas.openxmlformats.org/drawingml/2006/main">
            <a:pPr>
              <a:buNone/>
            </a:pPr>
            <a:r>
              <a:rPr lang="en-US" sz="1100"/>
              <a:t>Focus on the existing task: Think About It: When finding the LCM of two numbers, you can stop listing multiples when you reach the product of the two numbers. Why do you think this is?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the question, then hold the silence — students think or jot before anyone answers.</a:t>
            </a:r>
          </a:p>
          <a:p>
            <a:pPr indent="0" lvl="0" marL="0" rtl="0" algn="l">
              <a:lnSpc>
                <a:spcPct val="100000"/>
              </a:lnSpc>
              <a:spcBef>
                <a:spcPts val="0"/>
              </a:spcBef>
              <a:spcAft>
                <a:spcPts val="0"/>
              </a:spcAft>
              <a:buSzPts val="1400"/>
              <a:buNone/>
            </a:pPr>
            <a:r>
              <a:t>Take two or three responses and press with “Why?” or “How do you know?” before moving on.</a:t>
            </a:r>
          </a:p>
          <a:p>
            <a:pPr indent="0" lvl="0" marL="0" rtl="0" algn="l">
              <a:lnSpc>
                <a:spcPct val="100000"/>
              </a:lnSpc>
              <a:spcBef>
                <a:spcPts val="0"/>
              </a:spcBef>
              <a:spcAft>
                <a:spcPts val="0"/>
              </a:spcAft>
              <a:buSzPts val="1400"/>
              <a:buNone/>
            </a:pPr>
            <a:r>
              <a:t>UIFR: TEACH 3.</a:t>
            </a:r>
          </a:p>
        </p:txBody>
      </p:sp>
      <p:sp>
        <p:nvSpPr>
          <p:cNvPr id="1037" name="Google Shape;1037;p6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6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35 | TASK</a:t>
            </a:r>
          </a:p>
          <a:p xmlns:a="http://schemas.openxmlformats.org/drawingml/2006/main">
            <a:pPr>
              <a:buNone/>
            </a:pPr>
            <a:r>
              <a:rPr lang="en-US" sz="1100"/>
              <a:t>Focus on the existing task: Generalizing How can this problem be solved more efficiently?</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Model briefly, then hand the thinking back: ask “Why does this step work?” before showing the next one.</a:t>
            </a:r>
          </a:p>
          <a:p>
            <a:pPr indent="0" lvl="0" marL="0" rtl="0" algn="l">
              <a:lnSpc>
                <a:spcPct val="100000"/>
              </a:lnSpc>
              <a:spcBef>
                <a:spcPts val="0"/>
              </a:spcBef>
              <a:spcAft>
                <a:spcPts val="0"/>
              </a:spcAft>
              <a:buSzPts val="1400"/>
              <a:buNone/>
            </a:pPr>
            <a:r>
              <a:t>Quick check before moving on — thumbs or whiteboards from everyone, not volunteers.</a:t>
            </a:r>
          </a:p>
          <a:p>
            <a:pPr indent="0" lvl="0" marL="0" rtl="0" algn="l">
              <a:lnSpc>
                <a:spcPct val="100000"/>
              </a:lnSpc>
              <a:spcBef>
                <a:spcPts val="0"/>
              </a:spcBef>
              <a:spcAft>
                <a:spcPts val="0"/>
              </a:spcAft>
              <a:buSzPts val="1400"/>
              <a:buNone/>
            </a:pPr>
            <a:r>
              <a:t>UIFR: TEACH 2 · TEACH 3 · TEACH 4.</a:t>
            </a:r>
          </a:p>
        </p:txBody>
      </p:sp>
      <p:sp>
        <p:nvSpPr>
          <p:cNvPr id="1056" name="Google Shape;1056;p6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5" name="Shape 1065"/>
        <p:cNvGrpSpPr/>
        <p:nvPr/>
      </p:nvGrpSpPr>
      <p:grpSpPr>
        <a:xfrm>
          <a:off x="0" y="0"/>
          <a:ext cx="0" cy="0"/>
          <a:chOff x="0" y="0"/>
          <a:chExt cx="0" cy="0"/>
        </a:xfrm>
      </p:grpSpPr>
      <p:sp>
        <p:nvSpPr>
          <p:cNvPr id="1066" name="Google Shape;1066;p6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36 | TASK</a:t>
            </a:r>
          </a:p>
          <a:p xmlns:a="http://schemas.openxmlformats.org/drawingml/2006/main">
            <a:pPr>
              <a:buNone/>
            </a:pPr>
            <a:r>
              <a:rPr lang="en-US" sz="1100"/>
              <a:t>Focus on the existing task: Ayasha is at the community center every 8 weeks for her painting class and every 6 weeks for her pottery class. Her schedule for the week is shown. When will she have both classes in the same week again?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the context aloud (or have a student read it).</a:t>
            </a:r>
          </a:p>
          <a:p>
            <a:pPr indent="0" lvl="0" marL="0" rtl="0" algn="l">
              <a:lnSpc>
                <a:spcPct val="100000"/>
              </a:lnSpc>
              <a:spcBef>
                <a:spcPts val="0"/>
              </a:spcBef>
              <a:spcAft>
                <a:spcPts val="0"/>
              </a:spcAft>
              <a:buSzPts val="1400"/>
              <a:buNone/>
            </a:pPr>
            <a:r>
              <a:t>Before any math, students restate the situation and what is being asked in their own words.</a:t>
            </a:r>
          </a:p>
          <a:p>
            <a:pPr indent="0" lvl="0" marL="0" rtl="0" algn="l">
              <a:lnSpc>
                <a:spcPct val="100000"/>
              </a:lnSpc>
              <a:spcBef>
                <a:spcPts val="0"/>
              </a:spcBef>
              <a:spcAft>
                <a:spcPts val="0"/>
              </a:spcAft>
              <a:buSzPts val="1400"/>
              <a:buNone/>
            </a:pPr>
            <a:r>
              <a:t>Ask: When will she have both classes in the same week again?</a:t>
            </a:r>
          </a:p>
          <a:p>
            <a:pPr indent="0" lvl="0" marL="0" rtl="0" algn="l">
              <a:lnSpc>
                <a:spcPct val="100000"/>
              </a:lnSpc>
              <a:spcBef>
                <a:spcPts val="0"/>
              </a:spcBef>
              <a:spcAft>
                <a:spcPts val="0"/>
              </a:spcAft>
              <a:buSzPts val="1400"/>
              <a:buNone/>
            </a:pPr>
            <a:r>
              <a:t>UIFR: TEACH 1 · TEACH 3.</a:t>
            </a:r>
          </a:p>
        </p:txBody>
      </p:sp>
      <p:sp>
        <p:nvSpPr>
          <p:cNvPr id="1067" name="Google Shape;1067;p6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5" name="Shape 1075"/>
        <p:cNvGrpSpPr/>
        <p:nvPr/>
      </p:nvGrpSpPr>
      <p:grpSpPr>
        <a:xfrm>
          <a:off x="0" y="0"/>
          <a:ext cx="0" cy="0"/>
          <a:chOff x="0" y="0"/>
          <a:chExt cx="0" cy="0"/>
        </a:xfrm>
      </p:grpSpPr>
      <p:sp>
        <p:nvSpPr>
          <p:cNvPr id="1076" name="Google Shape;1076;p7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37 | PRACTICE</a:t>
            </a:r>
          </a:p>
          <a:p xmlns:a="http://schemas.openxmlformats.org/drawingml/2006/main">
            <a:pPr>
              <a:buNone/>
            </a:pPr>
            <a:r>
              <a:rPr lang="en-US" sz="1100"/>
              <a:t>Focus on the existing task: Let’s Explore More When would the least common multiple of two numbers be the product of the numbers?</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Extension for partners or table groups — students choose their approach and use the workspace to show thinking.</a:t>
            </a:r>
          </a:p>
          <a:p>
            <a:pPr indent="0" lvl="0" marL="0" rtl="0" algn="l">
              <a:lnSpc>
                <a:spcPct val="100000"/>
              </a:lnSpc>
              <a:spcBef>
                <a:spcPts val="0"/>
              </a:spcBef>
              <a:spcAft>
                <a:spcPts val="0"/>
              </a:spcAft>
              <a:buSzPts val="1400"/>
              <a:buNone/>
            </a:pPr>
            <a:r>
              <a:t>Push with “Convince me,” and have two groups with different approaches share.</a:t>
            </a:r>
          </a:p>
          <a:p>
            <a:pPr indent="0" lvl="0" marL="0" rtl="0" algn="l">
              <a:lnSpc>
                <a:spcPct val="100000"/>
              </a:lnSpc>
              <a:spcBef>
                <a:spcPts val="0"/>
              </a:spcBef>
              <a:spcAft>
                <a:spcPts val="0"/>
              </a:spcAft>
              <a:buSzPts val="1400"/>
              <a:buNone/>
            </a:pPr>
            <a:r>
              <a:t>This is where students stretch past the worked example.</a:t>
            </a:r>
          </a:p>
          <a:p>
            <a:pPr indent="0" lvl="0" marL="0" rtl="0" algn="l">
              <a:lnSpc>
                <a:spcPct val="100000"/>
              </a:lnSpc>
              <a:spcBef>
                <a:spcPts val="0"/>
              </a:spcBef>
              <a:spcAft>
                <a:spcPts val="0"/>
              </a:spcAft>
              <a:buSzPts val="1400"/>
              <a:buNone/>
            </a:pPr>
            <a:r>
              <a:t>UIFR: TEACH 2 · TEACH 5.</a:t>
            </a:r>
          </a:p>
        </p:txBody>
      </p:sp>
      <p:sp>
        <p:nvSpPr>
          <p:cNvPr id="1077" name="Google Shape;1077;p7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1" name="Shape 1081"/>
        <p:cNvGrpSpPr/>
        <p:nvPr/>
      </p:nvGrpSpPr>
      <p:grpSpPr>
        <a:xfrm>
          <a:off x="0" y="0"/>
          <a:ext cx="0" cy="0"/>
          <a:chOff x="0" y="0"/>
          <a:chExt cx="0" cy="0"/>
        </a:xfrm>
      </p:grpSpPr>
      <p:sp>
        <p:nvSpPr>
          <p:cNvPr id="1082" name="Google Shape;1082;p7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41 | SUMMARIZE</a:t>
            </a:r>
          </a:p>
          <a:p xmlns:a="http://schemas.openxmlformats.org/drawingml/2006/main">
            <a:pPr>
              <a:buNone/>
            </a:pPr>
            <a:r>
              <a:rPr lang="en-US" sz="1100"/>
              <a:t>Focus on the existing task: The greatest common factor (GCF) is the factor shared by two or more numbers with the greatest value. Factors of 48: 1, 2, 3, 4, 6, 8…</a:t>
            </a:r>
          </a:p>
          <a:p xmlns:a="http://schemas.openxmlformats.org/drawingml/2006/main">
            <a:pPr>
              <a:buNone/>
            </a:pPr>
            <a:r>
              <a:rPr lang="en-US" sz="1100"/>
              <a:t>CONNECT (T1/4): Ask students to restate the displayed goal or key idea and connect it to earlier work. Relevant lesson evidence: distinguish common factors from common multiples; choose GCF or LCM from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083" name="Google Shape;1083;p7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p7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42 | SUMMARIZE</a:t>
            </a:r>
          </a:p>
          <a:p xmlns:a="http://schemas.openxmlformats.org/drawingml/2006/main">
            <a:pPr>
              <a:buNone/>
            </a:pPr>
            <a:r>
              <a:rPr lang="en-US" sz="1100"/>
              <a:t>Focus on the existing task: The least common multiple (LCM) is the multiple shared by two or more numbers with the least value. Multiples of 15: 15, 30, 45……</a:t>
            </a:r>
          </a:p>
          <a:p xmlns:a="http://schemas.openxmlformats.org/drawingml/2006/main">
            <a:pPr>
              <a:buNone/>
            </a:pPr>
            <a:r>
              <a:rPr lang="en-US" sz="1100"/>
              <a:t>CONNECT (T1/4): Ask students to restate the displayed goal or key idea and connect it to earlier work. Relevant lesson evidence: distinguish common factors from common multiples; choose GCF or LCM from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SUMMARIZE  ·  SAY IT IN YOUR OWN WORDS</a:t>
            </a:r>
          </a:p>
        </p:txBody>
      </p:sp>
      <p:sp>
        <p:nvSpPr>
          <p:cNvPr id="1090" name="Google Shape;1090;p7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4" name="Shape 1094"/>
        <p:cNvGrpSpPr/>
        <p:nvPr/>
      </p:nvGrpSpPr>
      <p:grpSpPr>
        <a:xfrm>
          <a:off x="0" y="0"/>
          <a:ext cx="0" cy="0"/>
          <a:chOff x="0" y="0"/>
          <a:chExt cx="0" cy="0"/>
        </a:xfrm>
      </p:grpSpPr>
      <p:sp>
        <p:nvSpPr>
          <p:cNvPr id="1095" name="Google Shape;1095;p7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43 | APPLY</a:t>
            </a:r>
          </a:p>
          <a:p xmlns:a="http://schemas.openxmlformats.org/drawingml/2006/main">
            <a:pPr>
              <a:buNone/>
            </a:pPr>
            <a:r>
              <a:rPr lang="en-US" sz="1100"/>
              <a:t>Focus on the existing task: Reginald is having hot dogs at his party and 24 people are coming. His mom wants to have the same number of buns and hot dogs. Hot dogs…</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distinguish common factors from common multiples; choose GCF or LCM from context. Respond with one specific next step tied to the work. Students revise and annotate what changed, then identify a criterion they can now demonstrate and one they still need to practice.</a:t>
            </a:r>
          </a:p>
        </p:txBody>
      </p:sp>
      <p:sp>
        <p:nvSpPr>
          <p:cNvPr id="1096" name="Google Shape;1096;p7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p7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6.7, slide 44 | REFLECTION</a:t>
            </a:r>
          </a:p>
          <a:p xmlns:a="http://schemas.openxmlformats.org/drawingml/2006/main">
            <a:pPr>
              <a:buNone/>
            </a:pPr>
            <a:r>
              <a:rPr lang="en-US" sz="1100"/>
              <a:t>Focus on the existing task: I can find the greatest common factor of two whole numbers. I can find the least common multiple of two whole numbers. I can make sense of…</a:t>
            </a:r>
          </a:p>
          <a:p xmlns:a="http://schemas.openxmlformats.org/drawingml/2006/main">
            <a:pPr>
              <a:buNone/>
            </a:pPr>
            <a:r>
              <a:rPr lang="en-US" sz="1100"/>
              <a:t>CONNECT (T1/4): Ask students to restate the displayed goal or key idea and connect it to earlier work. Relevant lesson evidence: distinguish common factors from common multiples; choose GCF or LCM from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Read each target; students self-rate with fist-to-five or thumbs.</a:t>
            </a:r>
          </a:p>
          <a:p>
            <a:pPr indent="0" lvl="0" marL="0" rtl="0" algn="l">
              <a:lnSpc>
                <a:spcPct val="100000"/>
              </a:lnSpc>
              <a:spcBef>
                <a:spcPts val="0"/>
              </a:spcBef>
              <a:spcAft>
                <a:spcPts val="0"/>
              </a:spcAft>
              <a:buSzPts val="1400"/>
              <a:buNone/>
            </a:pPr>
            <a:r>
              <a:t>Tie back to the goal from the start of class: did we get there?</a:t>
            </a:r>
          </a:p>
          <a:p>
            <a:pPr indent="0" lvl="0" marL="0" rtl="0" algn="l">
              <a:lnSpc>
                <a:spcPct val="100000"/>
              </a:lnSpc>
              <a:spcBef>
                <a:spcPts val="0"/>
              </a:spcBef>
              <a:spcAft>
                <a:spcPts val="0"/>
              </a:spcAft>
              <a:buSzPts val="1400"/>
              <a:buNone/>
            </a:pPr>
            <a:r>
              <a:t>Note any target that rates low — revisit it tomorrow.</a:t>
            </a:r>
          </a:p>
          <a:p>
            <a:pPr indent="0" lvl="0" marL="0" rtl="0" algn="l">
              <a:lnSpc>
                <a:spcPct val="100000"/>
              </a:lnSpc>
              <a:spcBef>
                <a:spcPts val="0"/>
              </a:spcBef>
              <a:spcAft>
                <a:spcPts val="0"/>
              </a:spcAft>
              <a:buSzPts val="1400"/>
              <a:buNone/>
            </a:pPr>
            <a:r>
              <a:t>UIFR: TEACH 1 · TEACH 4.</a:t>
            </a:r>
          </a:p>
        </p:txBody>
      </p:sp>
      <p:sp>
        <p:nvSpPr>
          <p:cNvPr id="1104" name="Google Shape;1104;p7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6.7, slide 28 | WARMUP</a:t>
            </a:r>
          </a:p>
          <a:p xmlns:a="http://schemas.openxmlformats.org/drawingml/2006/main">
            <a:pPr>
              <a:buNone/>
            </a:pPr>
            <a:r>
              <a:rPr lang="en-US" sz="1100"/>
              <a:t>Focus on the existing task: Warm-Up Session 2 Warm-Up Check what you remember from Session 1 1 What does GCF stand for?</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6.7, slide 29 | NOTES</a:t>
            </a:r>
          </a:p>
          <a:p xmlns:a="http://schemas.openxmlformats.org/drawingml/2006/main">
            <a:pPr>
              <a:buNone/>
            </a:pPr>
            <a:r>
              <a:rPr lang="en-US" sz="1100"/>
              <a:t>Focus on the existing task: Review Notes — Session 2 Session 2: Review Notes Copy into your…</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6.7, slide 45 | CURIOUS</a:t>
            </a:r>
          </a:p>
          <a:p xmlns:a="http://schemas.openxmlformats.org/drawingml/2006/main">
            <a:pPr>
              <a:buNone/>
            </a:pPr>
            <a:r>
              <a:rPr lang="en-US" sz="1100"/>
              <a:t>Focus on the existing task: Which doesn’t belong?</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
            <a:pPr>
              <a:buNone/>
            </a:pPr>
            <a:r>
              <a:rPr lang="en-US" sz="1100"/>
              <a:t/>
            </a:r>
          </a:p>
          <a:p>
            <a:pPr>
              <a:buNone/>
            </a:pPr>
            <a:r>
              <a:rPr lang="en-US" sz="1100"/>
              <a:t>UIFR FULL | Lesson-specific facilitation</a:t>
            </a:r>
          </a:p>
          <a:p>
            <a:pPr>
              <a:buNone/>
            </a:pPr>
            <a:r>
              <a:rPr lang="en-US" sz="1100"/>
              <a:t>REFLECT &amp; ADJUST 1-2 | After the lesson (UIFR PDF pp. 15-16).</a:t>
            </a:r>
          </a:p>
          <a:p>
            <a:pPr>
              <a:buNone/>
            </a:pPr>
            <a:r>
              <a:rPr lang="en-US" sz="1100"/>
              <a:t>Sort the existing work by demonstrated reasoning, partial understanding, and the specific misconception: using the greatest common factor for a repeating-cycle problem.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organize factor lists or multiple lists for the original numbers and connect them to the context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6.7, slide 7 | PRIOR_INSERT</a:t>
            </a:r>
          </a:p>
          <a:p xmlns:a="http://schemas.openxmlformats.org/drawingml/2006/main">
            <a:pPr>
              <a:buNone/>
            </a:pPr>
            <a:r>
              <a:rPr lang="en-US" sz="1100"/>
              <a:t>Focus on the existing task: LESSON 6.7 / OUR LEARNING What will show your learning?</a:t>
            </a:r>
          </a:p>
          <a:p xmlns:a="http://schemas.openxmlformats.org/drawingml/2006/main">
            <a:pPr>
              <a:buNone/>
            </a:pPr>
            <a:r>
              <a:rPr lang="en-US" sz="1100"/>
              <a:t>CONNECT (T1/4): Ask students to restate the displayed goal or key idea and connect it to earlier work. Relevant lesson evidence: distinguish common factors from common multiples; choose GCF or LCM from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6.7, slide 8 | VOCAB</a:t>
            </a:r>
          </a:p>
          <a:p xmlns:a="http://schemas.openxmlformats.org/drawingml/2006/main">
            <a:pPr>
              <a:buNone/>
            </a:pPr>
            <a:r>
              <a:rPr lang="en-US" sz="1100"/>
              <a:t>Focus on the existing task: Vocabulary 1 of 7 Find Factors and Multiples Listing what…</a:t>
            </a:r>
          </a:p>
          <a:p xmlns:a="http://schemas.openxmlformats.org/drawingml/2006/main">
            <a:pPr>
              <a:buNone/>
            </a:pPr>
            <a:r>
              <a:rPr lang="en-US" sz="1100"/>
              <a:t>ASK (T1/3/5): Where does “Find Factors and Multiples”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6.7, slide 9 | VOCAB</a:t>
            </a:r>
          </a:p>
          <a:p xmlns:a="http://schemas.openxmlformats.org/drawingml/2006/main">
            <a:pPr>
              <a:buNone/>
            </a:pPr>
            <a:r>
              <a:rPr lang="en-US" sz="1100"/>
              <a:t>Focus on the existing task: Vocabulary 2 of 7 Factor A whole number that divides another…</a:t>
            </a:r>
          </a:p>
          <a:p xmlns:a="http://schemas.openxmlformats.org/drawingml/2006/main">
            <a:pPr>
              <a:buNone/>
            </a:pPr>
            <a:r>
              <a:rPr lang="en-US" sz="1100"/>
              <a:t>ASK (T1/3/5): Where does “Factor”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6.7, slide 10 | VOCAB</a:t>
            </a:r>
          </a:p>
          <a:p xmlns:a="http://schemas.openxmlformats.org/drawingml/2006/main">
            <a:pPr>
              <a:buNone/>
            </a:pPr>
            <a:r>
              <a:rPr lang="en-US" sz="1100"/>
              <a:t>Focus on the existing task: Vocabulary 3 of 7 Multiple The result of multiplying a number…</a:t>
            </a:r>
          </a:p>
          <a:p xmlns:a="http://schemas.openxmlformats.org/drawingml/2006/main">
            <a:pPr>
              <a:buNone/>
            </a:pPr>
            <a:r>
              <a:rPr lang="en-US" sz="1100"/>
              <a:t>ASK (T1/3/5): Where does “Multiple”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6.7, slide 11 | VOCAB</a:t>
            </a:r>
          </a:p>
          <a:p xmlns:a="http://schemas.openxmlformats.org/drawingml/2006/main">
            <a:pPr>
              <a:buNone/>
            </a:pPr>
            <a:r>
              <a:rPr lang="en-US" sz="1100"/>
              <a:t>Focus on the existing task: Vocabulary 4 of 7 Greatest common factor (GCF) The largest…</a:t>
            </a:r>
          </a:p>
          <a:p xmlns:a="http://schemas.openxmlformats.org/drawingml/2006/main">
            <a:pPr>
              <a:buNone/>
            </a:pPr>
            <a:r>
              <a:rPr lang="en-US" sz="1100"/>
              <a:t>ASK (T1/3/5): Where does “Greatest common factor (GCF)”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6.7, slide 12 | VOCAB</a:t>
            </a:r>
          </a:p>
          <a:p xmlns:a="http://schemas.openxmlformats.org/drawingml/2006/main">
            <a:pPr>
              <a:buNone/>
            </a:pPr>
            <a:r>
              <a:rPr lang="en-US" sz="1100"/>
              <a:t>Focus on the existing task: Vocabulary 5 of 7 Least common multiple (LCM) The smallest…</a:t>
            </a:r>
          </a:p>
          <a:p xmlns:a="http://schemas.openxmlformats.org/drawingml/2006/main">
            <a:pPr>
              <a:buNone/>
            </a:pPr>
            <a:r>
              <a:rPr lang="en-US" sz="1100"/>
              <a:t>ASK (T1/3/5): Where does “Least common multiple (LCM)”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6.7, slide 13 | VOCAB</a:t>
            </a:r>
          </a:p>
          <a:p xmlns:a="http://schemas.openxmlformats.org/drawingml/2006/main">
            <a:pPr>
              <a:buNone/>
            </a:pPr>
            <a:r>
              <a:rPr lang="en-US" sz="1100"/>
              <a:t>Focus on the existing task: Vocabulary 6 of 7 Factor pair Two factors that multiply to make…</a:t>
            </a:r>
          </a:p>
          <a:p xmlns:a="http://schemas.openxmlformats.org/drawingml/2006/main">
            <a:pPr>
              <a:buNone/>
            </a:pPr>
            <a:r>
              <a:rPr lang="en-US" sz="1100"/>
              <a:t>ASK (T1/3/5): Where does “Factor pair”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6.7, slide 14 | VOCAB</a:t>
            </a:r>
          </a:p>
          <a:p xmlns:a="http://schemas.openxmlformats.org/drawingml/2006/main">
            <a:pPr>
              <a:buNone/>
            </a:pPr>
            <a:r>
              <a:rPr lang="en-US" sz="1100"/>
              <a:t>Focus on the existing task: Vocabulary 7 of 7 Prime factorization Writing a number as a…</a:t>
            </a:r>
          </a:p>
          <a:p xmlns:a="http://schemas.openxmlformats.org/drawingml/2006/main">
            <a:pPr>
              <a:buNone/>
            </a:pPr>
            <a:r>
              <a:rPr lang="en-US" sz="1100"/>
              <a:t>ASK (T1/3/5): Where does “Prime factorization”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6.7, slide 24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distinguish common factors from common multiples; choose GCF or LCM from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6.7, slide 25 | COLLABORATE</a:t>
            </a:r>
          </a:p>
          <a:p xmlns:a="http://schemas.openxmlformats.org/drawingml/2006/main">
            <a:pPr>
              <a:buNone/>
            </a:pPr>
            <a:r>
              <a:rPr lang="en-US" sz="1100"/>
              <a:t>Focus on the existing task: Collaborate and Connect Let’s look for factors that the quantities of pencils and notebooks have in common. List the factors for each quantity. Which factors do the quantities have in common?</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6.7, slide 26 | REVEAL</a:t>
            </a:r>
          </a:p>
          <a:p xmlns:a="http://schemas.openxmlformats.org/drawingml/2006/main">
            <a:pPr>
              <a:buNone/>
            </a:pPr>
            <a:r>
              <a:rPr lang="en-US" sz="1100"/>
              <a:t>Focus on the existing task: Reveal: We can compare the two lists of factors and look for the greatest number they have in common. How can you identify the greatest factor the item quantities share?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6.7, slide 27 | REVEAL</a:t>
            </a:r>
          </a:p>
          <a:p xmlns:a="http://schemas.openxmlformats.org/drawingml/2006/main">
            <a:pPr>
              <a:buNone/>
            </a:pPr>
            <a:r>
              <a:rPr lang="en-US" sz="1100"/>
              <a:t>Focus on the existing task: Reveal: We can find a factor pair that includes a prime number. Let’s look at another way to find the greatest common factor of 48 and…</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6.7, slide 38 | PRIOR_INSERT</a:t>
            </a:r>
          </a:p>
          <a:p xmlns:a="http://schemas.openxmlformats.org/drawingml/2006/main">
            <a:pPr>
              <a:buNone/>
            </a:pPr>
            <a:r>
              <a:rPr lang="en-US" sz="1100"/>
              <a:t>Focus on the existing task: LESSON 6.7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distinguish common factors from common multiples; choose GCF or LCM from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6.7, slide 39 | REVEAL</a:t>
            </a:r>
          </a:p>
          <a:p xmlns:a="http://schemas.openxmlformats.org/drawingml/2006/main">
            <a:pPr>
              <a:buNone/>
            </a:pPr>
            <a:r>
              <a:rPr lang="en-US" sz="1100"/>
              <a:t>Focus on the existing task: pottery class?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6.7, slide 40 | REVEAL</a:t>
            </a:r>
          </a:p>
          <a:p xmlns:a="http://schemas.openxmlformats.org/drawingml/2006/main">
            <a:pPr>
              <a:buNone/>
            </a:pPr>
            <a:r>
              <a:rPr lang="en-US" sz="1100"/>
              <a:t>Focus on the existing task: What is the least multiple that the classes have in common?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distinguish common factors from common multiples. Ask which feature of their work supports the claim.</a:t>
            </a:r>
          </a:p>
          <a:p xmlns:a="http://schemas.openxmlformats.org/drawingml/2006/main">
            <a:pPr>
              <a:buNone/>
            </a:pPr>
            <a:r>
              <a:rPr lang="en-US" sz="1100"/>
              <a:t>RESPOND: If this task shows the lesson misconception—using the greatest common factor for a repeating-cycle problem—organize factor lists or multiple lists for the original numbers and connect them to the context.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9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6.7, slide 46 | PRIOR_INSERT</a:t>
            </a:r>
          </a:p>
          <a:p xmlns:a="http://schemas.openxmlformats.org/drawingml/2006/main">
            <a:pPr>
              <a:buNone/>
            </a:pPr>
            <a:r>
              <a:rPr lang="en-US" sz="1100"/>
              <a:t>Focus on the existing task: LESSON 6.7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distinguish common factors from common multiples; choose GCF or LCM from context.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4" name="Google Shape;24;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
        <p:nvSpPr>
          <p:cNvPr id="25" name="Google Shape;25;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Find Factors and Multiples</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Find Factors and Multiples</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7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8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png"/><Relationship Id="rId3" Type="http://schemas.openxmlformats.org/officeDocument/2006/relationships/notesSlide" Target="../notesSlides/notesSlide8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8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8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notesSlide" Target="../notesSlides/notesSlide8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 Id="rId3" Type="http://schemas.openxmlformats.org/officeDocument/2006/relationships/notesSlide" Target="../notesSlides/notesSlide8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 Id="rId3" Type="http://schemas.openxmlformats.org/officeDocument/2006/relationships/image" Target="../media/image1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 Id="rId3" Type="http://schemas.openxmlformats.org/officeDocument/2006/relationships/image" Target="../media/image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5.xml"/><Relationship Id="rId3" Type="http://schemas.openxmlformats.org/officeDocument/2006/relationships/image" Target="../media/image1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 Id="rId3"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png"/><Relationship Id="rId3" Type="http://schemas.openxmlformats.org/officeDocument/2006/relationships/notesSlide" Target="../notesSlides/notesSlide8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6.xml"/><Relationship Id="rId3"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8.xml"/><Relationship Id="rId3" Type="http://schemas.openxmlformats.org/officeDocument/2006/relationships/image" Target="../media/image3.png"/><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9.xml"/><Relationship Id="rId3" Type="http://schemas.openxmlformats.org/officeDocument/2006/relationships/image" Target="../media/image2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4.png"/><Relationship Id="rId3" Type="http://schemas.openxmlformats.org/officeDocument/2006/relationships/notesSlide" Target="../notesSlides/notesSlide9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3.xml"/><Relationship Id="rId3"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notesSlide" Target="../notesSlides/notesSlide7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7"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58"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6-7 · Find Factors and Multiples   |   Warm-Up · about 4 minutes</a:t>
            </a:r>
          </a:p>
        </p:txBody>
      </p:sp>
      <p:sp>
        <p:nvSpPr>
          <p:cNvPr id="259"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0"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1"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2"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3"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4"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7 × 8 = ______</a:t>
            </a:r>
          </a:p>
        </p:txBody>
      </p:sp>
      <p:sp>
        <p:nvSpPr>
          <p:cNvPr id="265"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7"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68"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List all the factors of 18: ______</a:t>
            </a:r>
          </a:p>
        </p:txBody>
      </p:sp>
      <p:sp>
        <p:nvSpPr>
          <p:cNvPr id="269"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1"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2"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First five multiples of 6: ______</a:t>
            </a:r>
          </a:p>
        </p:txBody>
      </p:sp>
      <p:sp>
        <p:nvSpPr>
          <p:cNvPr id="273"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5"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6"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Is 45 divisible by 9? ______</a:t>
            </a:r>
          </a:p>
        </p:txBody>
      </p:sp>
      <p:sp>
        <p:nvSpPr>
          <p:cNvPr id="277"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78"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7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51</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6-7 · Find Factors and Multiples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1: Math Words</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Find Factors and Multiples</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Listing what divides a number evenly (its </a:t>
            </a:r>
            <a:r>
              <a:rPr b="1" i="0" lang="en-US" sz="1450" u="none" cap="none" strike="noStrike">
                <a:solidFill>
                  <a:srgbClr val="475569"/>
                </a:solidFill>
                <a:latin typeface="Arial"/>
                <a:ea typeface="Arial"/>
                <a:cs typeface="Arial"/>
                <a:sym typeface="Arial"/>
              </a:rPr>
              <a:t xml:space="preserve">factors</a:t>
            </a:r>
            <a:r>
              <a:rPr b="0" i="0" lang="en-US" sz="1450" u="none" cap="none" strike="noStrike">
                <a:solidFill>
                  <a:srgbClr val="475569"/>
                </a:solidFill>
                <a:latin typeface="Arial"/>
                <a:ea typeface="Arial"/>
                <a:cs typeface="Arial"/>
                <a:sym typeface="Arial"/>
              </a:rPr>
              <a:t xml:space="preserve">) and what it</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Factor</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A whole number that divides another number evenly, with no remainder</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Multiple</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result of multiplying a number by 1</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 / 51</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5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9" name="Google Shape;549;p54"/>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0" name="Google Shape;550;p5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Math Notes</a:t>
            </a:r>
            <a:endParaRPr/>
          </a:p>
        </p:txBody>
      </p:sp>
      <p:sp>
        <p:nvSpPr>
          <p:cNvPr id="551" name="Google Shape;551;p5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6-7 · Find Factors and Multiples</a:t>
            </a:r>
            <a:endParaRPr/>
          </a:p>
        </p:txBody>
      </p:sp>
      <p:sp>
        <p:nvSpPr>
          <p:cNvPr id="552" name="Google Shape;552;p5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3" name="Google Shape;553;p5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54" name="Google Shape;554;p54"/>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Section 2: Today’s Math</a:t>
            </a:r>
            <a:endParaRPr/>
          </a:p>
        </p:txBody>
      </p:sp>
      <p:sp>
        <p:nvSpPr>
          <p:cNvPr id="555" name="Google Shape;555;p54"/>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6" name="Google Shape;556;p54"/>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57" name="Google Shape;557;p54"/>
          <p:cNvSpPr/>
          <p:nvPr/>
        </p:nvSpPr>
        <p:spPr>
          <a:xfrm>
            <a:off x="640080" y="2231136"/>
            <a:ext cx="10911809" cy="1106424"/>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58" name="Google Shape;558;p54"/>
          <p:cNvSpPr txBox="1"/>
          <p:nvPr/>
        </p:nvSpPr>
        <p:spPr>
          <a:xfrm>
            <a:off x="960120" y="2359152"/>
            <a:ext cx="10271729" cy="850392"/>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2700" u="none" cap="none" strike="noStrike">
                <a:solidFill>
                  <a:srgbClr val="14223A"/>
                </a:solidFill>
                <a:latin typeface="Arial"/>
                <a:ea typeface="Arial"/>
                <a:cs typeface="Arial"/>
                <a:sym typeface="Arial"/>
              </a:rPr>
              <a:t>Greatest Common Factor (GCF) &amp; Least Common Multiple (LCM)</a:t>
            </a:r>
            <a:endParaRPr/>
          </a:p>
        </p:txBody>
      </p:sp>
      <p:sp>
        <p:nvSpPr>
          <p:cNvPr id="559" name="Google Shape;559;p54"/>
          <p:cNvSpPr/>
          <p:nvPr/>
        </p:nvSpPr>
        <p:spPr>
          <a:xfrm>
            <a:off x="640080" y="3538728"/>
            <a:ext cx="10911809" cy="77724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0" name="Google Shape;560;p54"/>
          <p:cNvSpPr/>
          <p:nvPr/>
        </p:nvSpPr>
        <p:spPr>
          <a:xfrm>
            <a:off x="896112" y="376275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61" name="Google Shape;561;p54"/>
          <p:cNvSpPr txBox="1"/>
          <p:nvPr/>
        </p:nvSpPr>
        <p:spPr>
          <a:xfrm>
            <a:off x="1371600" y="3621024"/>
            <a:ext cx="10043129" cy="612648"/>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GCF: </a:t>
            </a:r>
            <a:r>
              <a:rPr b="0" i="0" lang="en-US" sz="1600" u="none" cap="none" strike="noStrike">
                <a:solidFill>
                  <a:srgbClr val="14223A"/>
                </a:solidFill>
                <a:latin typeface="Arial"/>
                <a:ea typeface="Arial"/>
                <a:cs typeface="Arial"/>
                <a:sym typeface="Arial"/>
              </a:rPr>
              <a:t xml:space="preserve">Largest </a:t>
            </a:r>
            <a:r>
              <a:rPr b="1" i="0" lang="en-US" sz="1600" u="none" cap="none" strike="noStrike">
                <a:solidFill>
                  <a:srgbClr val="14223A"/>
                </a:solidFill>
                <a:latin typeface="Arial"/>
                <a:ea typeface="Arial"/>
                <a:cs typeface="Arial"/>
                <a:sym typeface="Arial"/>
              </a:rPr>
              <a:t xml:space="preserve">factor</a:t>
            </a:r>
            <a:r>
              <a:rPr b="0" i="0" lang="en-US" sz="1600" u="none" cap="none" strike="noStrike">
                <a:solidFill>
                  <a:srgbClr val="14223A"/>
                </a:solidFill>
                <a:latin typeface="Arial"/>
                <a:ea typeface="Arial"/>
                <a:cs typeface="Arial"/>
                <a:sym typeface="Arial"/>
              </a:rPr>
              <a:t xml:space="preserve"> shared by two numbers — used to simplify fractions or divide into equal groups</a:t>
            </a:r>
            <a:endParaRPr/>
          </a:p>
        </p:txBody>
      </p:sp>
      <p:sp>
        <p:nvSpPr>
          <p:cNvPr id="562" name="Google Shape;562;p54"/>
          <p:cNvSpPr/>
          <p:nvPr/>
        </p:nvSpPr>
        <p:spPr>
          <a:xfrm>
            <a:off x="640080" y="4462272"/>
            <a:ext cx="10911809" cy="77724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3" name="Google Shape;563;p54"/>
          <p:cNvSpPr/>
          <p:nvPr/>
        </p:nvSpPr>
        <p:spPr>
          <a:xfrm>
            <a:off x="896112" y="4686300"/>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64" name="Google Shape;564;p54"/>
          <p:cNvSpPr txBox="1"/>
          <p:nvPr/>
        </p:nvSpPr>
        <p:spPr>
          <a:xfrm>
            <a:off x="1371600" y="4544568"/>
            <a:ext cx="10043129" cy="612648"/>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1" i="0" lang="en-US" sz="1600" u="none" cap="none" strike="noStrike">
                <a:solidFill>
                  <a:srgbClr val="14223A"/>
                </a:solidFill>
                <a:latin typeface="Arial"/>
                <a:ea typeface="Arial"/>
                <a:cs typeface="Arial"/>
                <a:sym typeface="Arial"/>
              </a:rPr>
              <a:t>LCM: </a:t>
            </a:r>
            <a:r>
              <a:rPr b="0" i="0" lang="en-US" sz="1600" u="none" cap="none" strike="noStrike">
                <a:solidFill>
                  <a:srgbClr val="14223A"/>
                </a:solidFill>
                <a:latin typeface="Arial"/>
                <a:ea typeface="Arial"/>
                <a:cs typeface="Arial"/>
                <a:sym typeface="Arial"/>
              </a:rPr>
              <a:t xml:space="preserve">Smallest shared </a:t>
            </a:r>
            <a:r>
              <a:rPr b="1" i="0" lang="en-US" sz="1600" u="none" cap="none" strike="noStrike">
                <a:solidFill>
                  <a:srgbClr val="14223A"/>
                </a:solidFill>
                <a:latin typeface="Arial"/>
                <a:ea typeface="Arial"/>
                <a:cs typeface="Arial"/>
                <a:sym typeface="Arial"/>
              </a:rPr>
              <a:t xml:space="preserve">multiple</a:t>
            </a:r>
            <a:r>
              <a:rPr b="0" i="0" lang="en-US" sz="1600" u="none" cap="none" strike="noStrike">
                <a:solidFill>
                  <a:srgbClr val="14223A"/>
                </a:solidFill>
                <a:latin typeface="Arial"/>
                <a:ea typeface="Arial"/>
                <a:cs typeface="Arial"/>
                <a:sym typeface="Arial"/>
              </a:rPr>
              <a:t xml:space="preserve"> — used to find </a:t>
            </a:r>
            <a:r>
              <a:rPr b="1" i="0" lang="en-US" sz="1600" u="none" cap="none" strike="noStrike">
                <a:solidFill>
                  <a:srgbClr val="14223A"/>
                </a:solidFill>
                <a:latin typeface="Arial"/>
                <a:ea typeface="Arial"/>
                <a:cs typeface="Arial"/>
                <a:sym typeface="Arial"/>
              </a:rPr>
              <a:t xml:space="preserve">common denominators</a:t>
            </a:r>
            <a:endParaRPr/>
          </a:p>
        </p:txBody>
      </p:sp>
      <p:sp>
        <p:nvSpPr>
          <p:cNvPr id="565" name="Google Shape;565;p54"/>
          <p:cNvSpPr/>
          <p:nvPr/>
        </p:nvSpPr>
        <p:spPr>
          <a:xfrm>
            <a:off x="640080" y="5385816"/>
            <a:ext cx="10911809" cy="77724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66" name="Google Shape;566;p54"/>
          <p:cNvSpPr/>
          <p:nvPr/>
        </p:nvSpPr>
        <p:spPr>
          <a:xfrm>
            <a:off x="896112" y="5609844"/>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67" name="Google Shape;567;p54"/>
          <p:cNvSpPr txBox="1"/>
          <p:nvPr/>
        </p:nvSpPr>
        <p:spPr>
          <a:xfrm>
            <a:off x="1371600" y="5468112"/>
            <a:ext cx="10043129" cy="612648"/>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defRPr/>
            </a:pPr>
            <a:r>
              <a:rPr b="0" i="0" lang="en-US" sz="1600" u="none" cap="none" strike="noStrike">
                <a:solidFill>
                  <a:srgbClr val="14223A"/>
                </a:solidFill>
                <a:latin typeface="Arial"/>
                <a:ea typeface="Arial"/>
                <a:cs typeface="Arial"/>
                <a:sym typeface="Arial"/>
              </a:rPr>
              <a:t xml:space="preserve">Use prime factor trees or list method to find common </a:t>
            </a:r>
            <a:r>
              <a:rPr b="1" i="0" lang="en-US" sz="1600" u="none" cap="none" strike="noStrike">
                <a:solidFill>
                  <a:srgbClr val="14223A"/>
                </a:solidFill>
                <a:latin typeface="Arial"/>
                <a:ea typeface="Arial"/>
                <a:cs typeface="Arial"/>
                <a:sym typeface="Arial"/>
              </a:rPr>
              <a:t xml:space="preserve">factors</a:t>
            </a:r>
            <a:r>
              <a:rPr b="0" i="0" lang="en-US" sz="1600" u="none" cap="none" strike="noStrike">
                <a:solidFill>
                  <a:srgbClr val="14223A"/>
                </a:solidFill>
                <a:latin typeface="Arial"/>
                <a:ea typeface="Arial"/>
                <a:cs typeface="Arial"/>
                <a:sym typeface="Arial"/>
              </a:rPr>
              <a:t xml:space="preserve">/</a:t>
            </a:r>
            <a:r>
              <a:rPr b="1" i="0" lang="en-US" sz="1600" u="none" cap="none" strike="noStrike">
                <a:solidFill>
                  <a:srgbClr val="14223A"/>
                </a:solidFill>
                <a:latin typeface="Arial"/>
                <a:ea typeface="Arial"/>
                <a:cs typeface="Arial"/>
                <a:sym typeface="Arial"/>
              </a:rPr>
              <a:t xml:space="preserve">multiples</a:t>
            </a:r>
            <a:endParaRPr/>
          </a:p>
        </p:txBody>
      </p:sp>
      <p:sp>
        <p:nvSpPr>
          <p:cNvPr id="56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 / 51</a:t>
            </a:r>
          </a:p>
        </p:txBody>
      </p:sp>
      <p:grpSp>
        <p:nvGrpSpPr>
          <p:cNvPr id="569" name="TEACH-1-student-move" descr="TEACH 1 · Facilitate clear, standards-based content learning"/>
          <p:cNvGrpSpPr/>
          <p:nvPr/>
        </p:nvGrpSpPr>
        <p:grpSpPr>
          <a:xfrm>
            <a:off x="502920" y="5170932"/>
            <a:ext cx="11186160" cy="402336"/>
            <a:chOff x="502920" y="5170932"/>
            <a:chExt cx="11186160" cy="402336"/>
          </a:xfrm>
        </p:grpSpPr>
        <p:sp>
          <p:nvSpPr>
            <p:cNvPr id="570" name="TEACH-move-card"/>
            <p:cNvSpPr/>
            <p:nvPr/>
          </p:nvSpPr>
          <p:spPr>
            <a:xfrm>
              <a:off x="502920" y="517093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571" name="TEACH-move-rule"/>
            <p:cNvSpPr/>
            <p:nvPr/>
          </p:nvSpPr>
          <p:spPr>
            <a:xfrm>
              <a:off x="548640" y="5247376"/>
              <a:ext cx="100584" cy="249448"/>
            </a:xfrm>
            <a:prstGeom prst="roundRect">
              <a:avLst>
                <a:gd name="adj" fmla="val 50000"/>
              </a:avLst>
            </a:prstGeom>
            <a:solidFill>
              <a:srgbClr val="01708C"/>
            </a:solidFill>
            <a:ln>
              <a:noFill/>
            </a:ln>
          </p:spPr>
          <p:txBody>
            <a:bodyPr/>
            <a:lstStyle/>
            <a:p>
              <a:endParaRPr/>
            </a:p>
          </p:txBody>
        </p:sp>
        <p:sp>
          <p:nvSpPr>
            <p:cNvPr id="572" name="TEACH-move-text"/>
            <p:cNvSpPr txBox="1"/>
            <p:nvPr/>
          </p:nvSpPr>
          <p:spPr>
            <a:xfrm>
              <a:off x="822960" y="517093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40"/>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Find Factors and Multiples</a:t>
            </a:r>
            <a:endParaRPr b="0" i="0" sz="1400" u="none" cap="none" strike="noStrike">
              <a:solidFill>
                <a:srgbClr val="000000"/>
              </a:solidFill>
              <a:latin typeface="Arial"/>
              <a:ea typeface="Arial"/>
              <a:cs typeface="Arial"/>
              <a:sym typeface="Arial"/>
            </a:endParaRPr>
          </a:p>
        </p:txBody>
      </p:sp>
      <p:sp>
        <p:nvSpPr>
          <p:cNvPr id="234" name="Google Shape;234;p4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782DA0"/>
                </a:solidFill>
                <a:latin typeface="Arial"/>
                <a:ea typeface="Arial"/>
                <a:cs typeface="Arial"/>
                <a:sym typeface="Arial"/>
              </a:rPr>
              <a:t>Session 1</a:t>
            </a:r>
            <a:endParaRPr b="1" i="0" sz="2800" u="none" cap="none" strike="noStrike">
              <a:solidFill>
                <a:srgbClr val="782DA0"/>
              </a:solidFill>
              <a:latin typeface="Arial"/>
              <a:ea typeface="Arial"/>
              <a:cs typeface="Arial"/>
              <a:sym typeface="Arial"/>
            </a:endParaRPr>
          </a:p>
        </p:txBody>
      </p:sp>
      <p:cxnSp>
        <p:nvCxnSpPr>
          <p:cNvPr id="235" name="Google Shape;235;p40"/>
          <p:cNvCxnSpPr/>
          <p:nvPr/>
        </p:nvCxnSpPr>
        <p:spPr>
          <a:xfrm>
            <a:off x="-1" y="1560382"/>
            <a:ext cx="3166453" cy="0"/>
          </a:xfrm>
          <a:prstGeom prst="straightConnector1">
            <a:avLst/>
          </a:prstGeom>
          <a:noFill/>
          <a:ln cap="flat" cmpd="sng" w="19050">
            <a:solidFill>
              <a:srgbClr val="782DA0"/>
            </a:solidFill>
            <a:prstDash val="solid"/>
            <a:miter lim="80"/>
            <a:headEnd len="sm" w="sm" type="none"/>
            <a:tailEnd len="sm" w="sm" type="none"/>
          </a:ln>
        </p:spPr>
      </p:cxnSp>
      <p:sp>
        <p:nvSpPr>
          <p:cNvPr id="2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 / 51</a:t>
            </a:r>
          </a:p>
        </p:txBody>
      </p:sp>
      <p:grpSp>
        <p:nvGrpSpPr>
          <p:cNvPr id="237" name="TEACH-2-student-move" descr="TEACH 2 · Use strategies and tasks to engage students in rigorous work"/>
          <p:cNvGrpSpPr/>
          <p:nvPr/>
        </p:nvGrpSpPr>
        <p:grpSpPr>
          <a:xfrm>
            <a:off x="502920" y="3201929"/>
            <a:ext cx="11186160" cy="731520"/>
            <a:chOff x="502920" y="3201929"/>
            <a:chExt cx="11186160" cy="731520"/>
          </a:xfrm>
        </p:grpSpPr>
        <p:sp>
          <p:nvSpPr>
            <p:cNvPr id="238"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239"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240"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 name="Shape 239"/>
        <p:cNvGrpSpPr/>
        <p:nvPr/>
      </p:nvGrpSpPr>
      <p:grpSpPr>
        <a:xfrm>
          <a:off x="0" y="0"/>
          <a:ext cx="0" cy="0"/>
          <a:chOff x="0" y="0"/>
          <a:chExt cx="0" cy="0"/>
        </a:xfrm>
      </p:grpSpPr>
      <p:cxnSp>
        <p:nvCxnSpPr>
          <p:cNvPr id="240" name="Google Shape;240;p4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241" name="Google Shape;241;p41"/>
          <p:cNvSpPr txBox="1"/>
          <p:nvPr/>
        </p:nvSpPr>
        <p:spPr>
          <a:xfrm>
            <a:off x="505579"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On You Could</a:t>
            </a:r>
            <a:endParaRPr b="0" i="0" sz="1400" u="none" cap="none" strike="noStrike">
              <a:solidFill>
                <a:srgbClr val="000000"/>
              </a:solidFill>
              <a:latin typeface="Arial"/>
              <a:ea typeface="Arial"/>
              <a:cs typeface="Arial"/>
              <a:sym typeface="Arial"/>
            </a:endParaRPr>
          </a:p>
        </p:txBody>
      </p:sp>
      <p:sp>
        <p:nvSpPr>
          <p:cNvPr id="242" name="Google Shape;242;p41"/>
          <p:cNvSpPr txBox="1"/>
          <p:nvPr/>
        </p:nvSpPr>
        <p:spPr>
          <a:xfrm>
            <a:off x="507712" y="1349430"/>
            <a:ext cx="5926976" cy="1277392"/>
          </a:xfrm>
          <a:prstGeom prst="rect">
            <a:avLst/>
          </a:prstGeom>
          <a:blipFill rotWithShape="1">
            <a:blip r:embed="rId3">
              <a:alphaModFix/>
            </a:blip>
            <a:stretch>
              <a:fillRect b="-3381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24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 / 51</a:t>
            </a:r>
          </a:p>
        </p:txBody>
      </p:sp>
      <p:sp xmlns:p="http://schemas.openxmlformats.org/presentationml/2006/main" xmlns:a="http://schemas.openxmlformats.org/drawingml/2006/main">
        <p:nvSpPr>
          <p:cNvPr id="244"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3" name="Google Shape;333;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Today’s Objectives</a:t>
            </a:r>
            <a:endParaRPr/>
          </a:p>
        </p:txBody>
      </p:sp>
      <p:sp>
        <p:nvSpPr>
          <p:cNvPr id="335" name="Google Shape;335;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6-7 · Find Factors and Multiples</a:t>
            </a:r>
            <a:endParaRPr/>
          </a:p>
        </p:txBody>
      </p:sp>
      <p:sp>
        <p:nvSpPr>
          <p:cNvPr id="336" name="Google Shape;336;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7" name="Google Shape;337;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38" name="Google Shape;338;p44"/>
          <p:cNvSpPr txBox="1"/>
          <p:nvPr/>
        </p:nvSpPr>
        <p:spPr>
          <a:xfrm>
            <a:off x="640080" y="969264"/>
            <a:ext cx="10911809" cy="63195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defRPr/>
            </a:pPr>
            <a:r>
              <a:rPr b="1" i="0" lang="en-US" sz="3800" u="none" cap="none" strike="noStrike">
                <a:solidFill>
                  <a:srgbClr val="14223A"/>
                </a:solidFill>
                <a:latin typeface="Arial"/>
                <a:ea typeface="Arial"/>
                <a:cs typeface="Arial"/>
                <a:sym typeface="Arial"/>
              </a:rPr>
              <a:t>Find Factors and Multiples</a:t>
            </a:r>
            <a:endParaRPr/>
          </a:p>
        </p:txBody>
      </p:sp>
      <p:sp>
        <p:nvSpPr>
          <p:cNvPr id="339" name="Google Shape;339;p44"/>
          <p:cNvSpPr txBox="1"/>
          <p:nvPr/>
        </p:nvSpPr>
        <p:spPr>
          <a:xfrm>
            <a:off x="640080" y="1637792"/>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475569"/>
                </a:solidFill>
                <a:latin typeface="Arial"/>
                <a:ea typeface="Arial"/>
                <a:cs typeface="Arial"/>
                <a:sym typeface="Arial"/>
              </a:rPr>
              <a:t>Maryland Standard 6.NOS.4</a:t>
            </a:r>
            <a:endParaRPr/>
          </a:p>
        </p:txBody>
      </p:sp>
      <p:sp>
        <p:nvSpPr>
          <p:cNvPr id="340" name="Google Shape;340;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1" name="Google Shape;341;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0F766E"/>
                </a:solidFill>
                <a:latin typeface="Arial"/>
                <a:ea typeface="Arial"/>
                <a:cs typeface="Arial"/>
                <a:sym typeface="Arial"/>
              </a:rPr>
              <a:t>CONTENT OBJECTIVE</a:t>
            </a:r>
            <a:endParaRPr/>
          </a:p>
        </p:txBody>
      </p:sp>
      <p:sp>
        <p:nvSpPr>
          <p:cNvPr id="343" name="Google Shape;343;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Restate the goal in your words</a:t>
            </a:r>
            <a:endParaRPr/>
          </a:p>
        </p:txBody>
      </p:sp>
      <p:sp>
        <p:nvSpPr>
          <p:cNvPr id="344" name="Google Shape;344;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find the greatest common factor and the least common multiple of two numbers, and use each to solve a real problem.</a:t>
            </a:r>
            <a:endParaRPr/>
          </a:p>
        </p:txBody>
      </p:sp>
      <p:sp>
        <p:nvSpPr>
          <p:cNvPr id="345" name="Google Shape;345;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6" name="Google Shape;346;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7" name="Google Shape;347;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C2410C"/>
                </a:solidFill>
                <a:latin typeface="Arial"/>
                <a:ea typeface="Arial"/>
                <a:cs typeface="Arial"/>
                <a:sym typeface="Arial"/>
              </a:rPr>
              <a:t>LANGUAGE OBJECTIVE</a:t>
            </a:r>
            <a:endParaRPr/>
          </a:p>
        </p:txBody>
      </p:sp>
      <p:sp>
        <p:nvSpPr>
          <p:cNvPr id="348" name="Google Shape;348;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475569"/>
                </a:solidFill>
                <a:latin typeface="Arial"/>
                <a:ea typeface="Arial"/>
                <a:cs typeface="Arial"/>
                <a:sym typeface="Arial"/>
              </a:rPr>
              <a:t>Use these words to explain why</a:t>
            </a:r>
            <a:endParaRPr/>
          </a:p>
        </p:txBody>
      </p:sp>
      <p:sp>
        <p:nvSpPr>
          <p:cNvPr id="349" name="Google Shape;349;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defRPr/>
            </a:pPr>
            <a:r>
              <a:rPr b="1" i="0" lang="en-US" sz="2500" u="none" cap="none" strike="noStrike">
                <a:solidFill>
                  <a:srgbClr val="14223A"/>
                </a:solidFill>
                <a:latin typeface="Arial"/>
                <a:ea typeface="Arial"/>
                <a:cs typeface="Arial"/>
                <a:sym typeface="Arial"/>
              </a:rPr>
              <a:t>I can explain my choice using the words factor, multiple, common, greatest, and least.</a:t>
            </a:r>
            <a:endParaRPr/>
          </a:p>
        </p:txBody>
      </p:sp>
      <p:sp>
        <p:nvSpPr>
          <p:cNvPr id="35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6 / 51</a:t>
            </a:r>
          </a:p>
        </p:txBody>
      </p:sp>
      <p:grpSp>
        <p:nvGrpSpPr>
          <p:cNvPr id="351" name="TEACH-1-student-move" descr="TEACH 1 · Facilitate clear, standards-based content learning"/>
          <p:cNvGrpSpPr/>
          <p:nvPr/>
        </p:nvGrpSpPr>
        <p:grpSpPr>
          <a:xfrm>
            <a:off x="502920" y="1993392"/>
            <a:ext cx="11186160" cy="402336"/>
            <a:chOff x="502920" y="1993392"/>
            <a:chExt cx="11186160" cy="402336"/>
          </a:xfrm>
        </p:grpSpPr>
        <p:sp>
          <p:nvSpPr>
            <p:cNvPr id="352" name="TEACH-move-card"/>
            <p:cNvSpPr/>
            <p:nvPr/>
          </p:nvSpPr>
          <p:spPr>
            <a:xfrm>
              <a:off x="502920" y="199339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353" name="TEACH-move-rule"/>
            <p:cNvSpPr/>
            <p:nvPr/>
          </p:nvSpPr>
          <p:spPr>
            <a:xfrm>
              <a:off x="548640" y="2069836"/>
              <a:ext cx="100584" cy="249448"/>
            </a:xfrm>
            <a:prstGeom prst="roundRect">
              <a:avLst>
                <a:gd name="adj" fmla="val 50000"/>
              </a:avLst>
            </a:prstGeom>
            <a:solidFill>
              <a:srgbClr val="01708C"/>
            </a:solidFill>
            <a:ln>
              <a:noFill/>
            </a:ln>
          </p:spPr>
          <p:txBody>
            <a:bodyPr/>
            <a:lstStyle/>
            <a:p>
              <a:endParaRPr/>
            </a:p>
          </p:txBody>
        </p:sp>
        <p:sp>
          <p:nvSpPr>
            <p:cNvPr id="354" name="TEACH-move-text"/>
            <p:cNvSpPr txBox="1"/>
            <p:nvPr/>
          </p:nvSpPr>
          <p:spPr>
            <a:xfrm>
              <a:off x="822960" y="199339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SHOW YOUR THINKING  ·  </a:t>
              </a:r>
              <a:r>
                <a:rPr lang="en-US" sz="1200" dirty="0">
                  <a:solidFill>
                    <a:srgbClr val="13303A"/>
                  </a:solidFill>
                  <a:latin typeface="Arial"/>
                </a:rPr>
                <a:t>Show what you know — write it, draw it, or build it. A picture counts as an explanation.</a:t>
              </a:r>
              <a:endParaRPr lang="en-US" sz="1200"/>
            </a:p>
          </p:txBody>
        </p:sp>
      </p:gr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6.7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Distinguish common factors from common multiples.</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Choose GCF or LCM from context.</a:t>
            </a:r>
          </a:p>
        </p:txBody>
      </p:sp>
      <p:sp>
        <p:nvSpPr>
          <p:cNvPr id="11" name="Rounded Rectangle 10"/>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3" name="TEACH-1-student-move" descr="TEACH 1 · Facilitate clear, standards-based content learning"/>
          <p:cNvGrpSpPr/>
          <p:nvPr/>
        </p:nvGrpSpPr>
        <p:grpSpPr>
          <a:xfrm>
            <a:off x="502920" y="5824728"/>
            <a:ext cx="11186160" cy="402336"/>
            <a:chOff x="502920" y="5824728"/>
            <a:chExt cx="11186160" cy="402336"/>
          </a:xfrm>
        </p:grpSpPr>
        <p:sp>
          <p:nvSpPr>
            <p:cNvPr id="14"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5"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6"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WHY IT MATTERS  ·  </a:t>
              </a:r>
              <a:r>
                <a:rPr lang="en-US" sz="1200" dirty="0">
                  <a:solidFill>
                    <a:srgbClr val="13303A"/>
                  </a:solidFill>
                  <a:latin typeface="Arial"/>
                </a:rPr>
                <a:t>Finish this: “This is worth knowing because ______.”</a:t>
              </a:r>
              <a:endParaRPr lang="en-US" sz="1200"/>
            </a:p>
          </p:txBody>
        </p:sp>
      </p:gr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4" name="Google Shape;394;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5" name="Google Shape;395;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 name="Google Shape;396;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7</a:t>
            </a:r>
            <a:endParaRPr/>
          </a:p>
        </p:txBody>
      </p:sp>
      <p:sp>
        <p:nvSpPr>
          <p:cNvPr id="397" name="Google Shape;397;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6-7 · Find Factors and Multiples</a:t>
            </a:r>
            <a:endParaRPr/>
          </a:p>
        </p:txBody>
      </p:sp>
      <p:sp>
        <p:nvSpPr>
          <p:cNvPr id="398" name="Google Shape;398;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9" name="Google Shape;399;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00" name="Google Shape;400;p46"/>
          <p:cNvSpPr txBox="1"/>
          <p:nvPr/>
        </p:nvSpPr>
        <p:spPr>
          <a:xfrm>
            <a:off x="640080" y="1209293"/>
            <a:ext cx="5897880" cy="129844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3900" u="none" cap="none" strike="noStrike">
                <a:solidFill>
                  <a:srgbClr val="14223A"/>
                </a:solidFill>
                <a:latin typeface="Arial"/>
                <a:ea typeface="Arial"/>
                <a:cs typeface="Arial"/>
                <a:sym typeface="Arial"/>
              </a:rPr>
              <a:t>Find Factors and Multiples</a:t>
            </a:r>
            <a:endParaRPr/>
          </a:p>
        </p:txBody>
      </p:sp>
      <p:sp>
        <p:nvSpPr>
          <p:cNvPr id="401" name="Google Shape;401;p46"/>
          <p:cNvSpPr/>
          <p:nvPr/>
        </p:nvSpPr>
        <p:spPr>
          <a:xfrm>
            <a:off x="658368" y="2727197"/>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2" name="Google Shape;402;p46"/>
          <p:cNvSpPr txBox="1"/>
          <p:nvPr/>
        </p:nvSpPr>
        <p:spPr>
          <a:xfrm>
            <a:off x="640080" y="3088385"/>
            <a:ext cx="5897880" cy="1408176"/>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Listing what divides a number evenly (its factors) and what it divides into evenly (its multiples), then finding what two numbers share.</a:t>
            </a:r>
            <a:endParaRPr/>
          </a:p>
        </p:txBody>
      </p:sp>
      <p:sp>
        <p:nvSpPr>
          <p:cNvPr id="403" name="Google Shape;403;p46"/>
          <p:cNvSpPr/>
          <p:nvPr/>
        </p:nvSpPr>
        <p:spPr>
          <a:xfrm>
            <a:off x="640080" y="491718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4" name="Google Shape;404;p46"/>
          <p:cNvSpPr/>
          <p:nvPr/>
        </p:nvSpPr>
        <p:spPr>
          <a:xfrm>
            <a:off x="640080" y="491718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46"/>
          <p:cNvSpPr txBox="1"/>
          <p:nvPr/>
        </p:nvSpPr>
        <p:spPr>
          <a:xfrm>
            <a:off x="932688" y="509092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06" name="Google Shape;406;p46"/>
          <p:cNvSpPr txBox="1"/>
          <p:nvPr/>
        </p:nvSpPr>
        <p:spPr>
          <a:xfrm>
            <a:off x="932688" y="5392673"/>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GCF of 48 and 36 is 12 · LCM of 6 and 8 is 24</a:t>
            </a:r>
            <a:endParaRPr/>
          </a:p>
        </p:txBody>
      </p:sp>
      <p:pic>
        <p:nvPicPr>
          <p:cNvPr descr="factor.png" id="407" name="Google Shape;407;p4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8 / 51</a:t>
            </a:r>
          </a:p>
        </p:txBody>
      </p:sp>
      <p:grpSp>
        <p:nvGrpSpPr>
          <p:cNvPr id="408" name="TEACH-5-student-move" descr="TEACH 5 · Facilitate student interactions and academic talk"/>
          <p:cNvGrpSpPr/>
          <p:nvPr/>
        </p:nvGrpSpPr>
        <p:grpSpPr>
          <a:xfrm>
            <a:off x="502920" y="770381"/>
            <a:ext cx="11186160" cy="402336"/>
            <a:chOff x="502920" y="770381"/>
            <a:chExt cx="11186160" cy="402336"/>
          </a:xfrm>
        </p:grpSpPr>
        <p:sp>
          <p:nvSpPr>
            <p:cNvPr id="409" name="TEACH-move-card"/>
            <p:cNvSpPr/>
            <p:nvPr/>
          </p:nvSpPr>
          <p:spPr>
            <a:xfrm>
              <a:off x="502920" y="770381"/>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410" name="TEACH-move-rule"/>
            <p:cNvSpPr/>
            <p:nvPr/>
          </p:nvSpPr>
          <p:spPr>
            <a:xfrm>
              <a:off x="548640" y="846825"/>
              <a:ext cx="100584" cy="249448"/>
            </a:xfrm>
            <a:prstGeom prst="roundRect">
              <a:avLst>
                <a:gd name="adj" fmla="val 50000"/>
              </a:avLst>
            </a:prstGeom>
            <a:solidFill>
              <a:srgbClr val="01708C"/>
            </a:solidFill>
            <a:ln>
              <a:noFill/>
            </a:ln>
          </p:spPr>
          <p:txBody>
            <a:bodyPr/>
            <a:lstStyle/>
            <a:p>
              <a:endParaRPr/>
            </a:p>
          </p:txBody>
        </p:sp>
        <p:sp>
          <p:nvSpPr>
            <p:cNvPr id="411" name="TEACH-move-text"/>
            <p:cNvSpPr txBox="1"/>
            <p:nvPr/>
          </p:nvSpPr>
          <p:spPr>
            <a:xfrm>
              <a:off x="822960" y="770381"/>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THE MATH WORDS  ·  </a:t>
              </a:r>
              <a:r>
                <a:rPr lang="en-US" sz="1200" dirty="0">
                  <a:solidFill>
                    <a:srgbClr val="13303A"/>
                  </a:solidFill>
                  <a:latin typeface="Arial"/>
                </a:rPr>
                <a:t>Use today’s math words in your explanation — not “it” and “that thing.”</a:t>
              </a:r>
              <a:endParaRPr lang="en-US" sz="12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2" name="Google Shape;412;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3" name="Google Shape;413;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7</a:t>
            </a:r>
            <a:endParaRPr/>
          </a:p>
        </p:txBody>
      </p:sp>
      <p:sp>
        <p:nvSpPr>
          <p:cNvPr id="415" name="Google Shape;415;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6-7 · Find Factors and Multiples</a:t>
            </a:r>
            <a:endParaRPr/>
          </a:p>
        </p:txBody>
      </p:sp>
      <p:sp>
        <p:nvSpPr>
          <p:cNvPr id="416" name="Google Shape;416;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7" name="Google Shape;417;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8" name="Google Shape;418;p47"/>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Factor</a:t>
            </a:r>
            <a:endParaRPr/>
          </a:p>
        </p:txBody>
      </p:sp>
      <p:sp>
        <p:nvSpPr>
          <p:cNvPr id="419" name="Google Shape;419;p47"/>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0" name="Google Shape;420;p47"/>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whole number that divides another number evenly, with no remainder.</a:t>
            </a:r>
            <a:endParaRPr/>
          </a:p>
        </p:txBody>
      </p:sp>
      <p:sp>
        <p:nvSpPr>
          <p:cNvPr id="421" name="Google Shape;421;p47"/>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2" name="Google Shape;422;p47"/>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47"/>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4" name="Google Shape;424;p47"/>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Factors of 36: 1, 2, 3, 4, 6, 9, 12, 18, 36</a:t>
            </a:r>
            <a:endParaRPr/>
          </a:p>
        </p:txBody>
      </p:sp>
      <p:pic>
        <p:nvPicPr>
          <p:cNvPr descr="factor.png" id="425" name="Google Shape;425;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9 / 51</a:t>
            </a:r>
          </a:p>
        </p:txBody>
      </p:sp>
      <p:sp xmlns:p="http://schemas.openxmlformats.org/presentationml/2006/main" xmlns:a="http://schemas.openxmlformats.org/drawingml/2006/main">
        <p:nvSpPr>
          <p:cNvPr id="426"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“Factor”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0" name="Google Shape;430;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1" name="Google Shape;431;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7</a:t>
            </a:r>
            <a:endParaRPr/>
          </a:p>
        </p:txBody>
      </p:sp>
      <p:sp>
        <p:nvSpPr>
          <p:cNvPr id="433" name="Google Shape;433;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6-7 · Find Factors and Multiples</a:t>
            </a:r>
            <a:endParaRPr/>
          </a:p>
        </p:txBody>
      </p:sp>
      <p:sp>
        <p:nvSpPr>
          <p:cNvPr id="434" name="Google Shape;434;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5" name="Google Shape;435;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36" name="Google Shape;436;p48"/>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Multiple</a:t>
            </a:r>
            <a:endParaRPr/>
          </a:p>
        </p:txBody>
      </p:sp>
      <p:sp>
        <p:nvSpPr>
          <p:cNvPr id="437" name="Google Shape;437;p48"/>
          <p:cNvSpPr/>
          <p:nvPr/>
        </p:nvSpPr>
        <p:spPr>
          <a:xfrm>
            <a:off x="658368" y="2561844"/>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8" name="Google Shape;438;p48"/>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result of multiplying a number by 1, 2, 3, and so on — where you land when you skip-count by it.</a:t>
            </a:r>
            <a:endParaRPr/>
          </a:p>
        </p:txBody>
      </p:sp>
      <p:sp>
        <p:nvSpPr>
          <p:cNvPr id="439" name="Google Shape;439;p48"/>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0" name="Google Shape;440;p48"/>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48"/>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42" name="Google Shape;442;p48"/>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Multiples of 8: 8, 16, 24, 32, 40 …</a:t>
            </a:r>
            <a:endParaRPr/>
          </a:p>
        </p:txBody>
      </p:sp>
      <p:pic>
        <p:nvPicPr>
          <p:cNvPr descr="multiple.png" id="443" name="Google Shape;443;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10 / 51</a:t>
            </a:r>
          </a:p>
        </p:txBody>
      </p:sp>
      <p:sp xmlns:p="http://schemas.openxmlformats.org/presentationml/2006/main" xmlns:a="http://schemas.openxmlformats.org/drawingml/2006/main">
        <p:nvSpPr>
          <p:cNvPr id="444"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“Multiple”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8" name="Google Shape;448;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9" name="Google Shape;449;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4 of 7</a:t>
            </a:r>
            <a:endParaRPr/>
          </a:p>
        </p:txBody>
      </p:sp>
      <p:sp>
        <p:nvSpPr>
          <p:cNvPr id="451" name="Google Shape;451;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6-7 · Find Factors and Multiples</a:t>
            </a:r>
            <a:endParaRPr/>
          </a:p>
        </p:txBody>
      </p:sp>
      <p:sp>
        <p:nvSpPr>
          <p:cNvPr id="452" name="Google Shape;452;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3" name="Google Shape;453;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54" name="Google Shape;454;p49"/>
          <p:cNvSpPr txBox="1"/>
          <p:nvPr/>
        </p:nvSpPr>
        <p:spPr>
          <a:xfrm>
            <a:off x="640080" y="1385315"/>
            <a:ext cx="5897880" cy="129844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3900" u="none" cap="none" strike="noStrike">
                <a:solidFill>
                  <a:srgbClr val="14223A"/>
                </a:solidFill>
                <a:latin typeface="Arial"/>
                <a:ea typeface="Arial"/>
                <a:cs typeface="Arial"/>
                <a:sym typeface="Arial"/>
              </a:rPr>
              <a:t>Greatest common factor (GCF)</a:t>
            </a:r>
            <a:endParaRPr/>
          </a:p>
        </p:txBody>
      </p:sp>
      <p:sp>
        <p:nvSpPr>
          <p:cNvPr id="455" name="Google Shape;455;p49"/>
          <p:cNvSpPr/>
          <p:nvPr/>
        </p:nvSpPr>
        <p:spPr>
          <a:xfrm>
            <a:off x="658368" y="2903219"/>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6" name="Google Shape;456;p49"/>
          <p:cNvSpPr txBox="1"/>
          <p:nvPr/>
        </p:nvSpPr>
        <p:spPr>
          <a:xfrm>
            <a:off x="640080" y="3264407"/>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The largest number that is a factor of two or more numbers. It answers “how many equal groups can I make?”</a:t>
            </a:r>
            <a:endParaRPr/>
          </a:p>
        </p:txBody>
      </p:sp>
      <p:sp>
        <p:nvSpPr>
          <p:cNvPr id="457" name="Google Shape;457;p49"/>
          <p:cNvSpPr/>
          <p:nvPr/>
        </p:nvSpPr>
        <p:spPr>
          <a:xfrm>
            <a:off x="640080" y="474116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8" name="Google Shape;458;p49"/>
          <p:cNvSpPr/>
          <p:nvPr/>
        </p:nvSpPr>
        <p:spPr>
          <a:xfrm>
            <a:off x="640080" y="474116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49"/>
          <p:cNvSpPr txBox="1"/>
          <p:nvPr/>
        </p:nvSpPr>
        <p:spPr>
          <a:xfrm>
            <a:off x="932688" y="491490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60" name="Google Shape;460;p49"/>
          <p:cNvSpPr txBox="1"/>
          <p:nvPr/>
        </p:nvSpPr>
        <p:spPr>
          <a:xfrm>
            <a:off x="932688" y="521665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48 and 36 share 1, 2, 3, 4, 6, 12 → GCF = 12</a:t>
            </a:r>
            <a:endParaRPr/>
          </a:p>
        </p:txBody>
      </p:sp>
      <p:pic>
        <p:nvPicPr>
          <p:cNvPr descr="greatest-common-factor.png" id="461" name="Google Shape;461;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11 / 51</a:t>
            </a:r>
          </a:p>
        </p:txBody>
      </p:sp>
      <p:grpSp>
        <p:nvGrpSpPr>
          <p:cNvPr id="462" name="TEACH-5-student-move" descr="TEACH 5 · Facilitate student interactions and academic talk"/>
          <p:cNvGrpSpPr/>
          <p:nvPr/>
        </p:nvGrpSpPr>
        <p:grpSpPr>
          <a:xfrm>
            <a:off x="502920" y="5829300"/>
            <a:ext cx="11186160" cy="457200"/>
            <a:chOff x="502920" y="5829300"/>
            <a:chExt cx="11186160" cy="457200"/>
          </a:xfrm>
        </p:grpSpPr>
        <p:sp>
          <p:nvSpPr>
            <p:cNvPr id="463" name="TEACH-move-card"/>
            <p:cNvSpPr/>
            <p:nvPr/>
          </p:nvSpPr>
          <p:spPr>
            <a:xfrm>
              <a:off x="502920" y="582930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464" name="TEACH-move-rule"/>
            <p:cNvSpPr/>
            <p:nvPr/>
          </p:nvSpPr>
          <p:spPr>
            <a:xfrm>
              <a:off x="548640" y="5916168"/>
              <a:ext cx="100584" cy="283464"/>
            </a:xfrm>
            <a:prstGeom prst="roundRect">
              <a:avLst>
                <a:gd name="adj" fmla="val 50000"/>
              </a:avLst>
            </a:prstGeom>
            <a:solidFill>
              <a:srgbClr val="01708C"/>
            </a:solidFill>
            <a:ln>
              <a:noFill/>
            </a:ln>
          </p:spPr>
          <p:txBody>
            <a:bodyPr/>
            <a:lstStyle/>
            <a:p>
              <a:endParaRPr/>
            </a:p>
          </p:txBody>
        </p:sp>
        <p:sp>
          <p:nvSpPr>
            <p:cNvPr id="465" name="TEACH-move-text"/>
            <p:cNvSpPr txBox="1"/>
            <p:nvPr/>
          </p:nvSpPr>
          <p:spPr>
            <a:xfrm>
              <a:off x="822960" y="582930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ADD ON  ·  </a:t>
              </a:r>
              <a:r>
                <a:rPr lang="en-US" sz="1400" dirty="0">
                  <a:solidFill>
                    <a:srgbClr val="13303A"/>
                  </a:solidFill>
                  <a:latin typeface="Arial"/>
                </a:rPr>
                <a:t>Add on: “I agree because ______.”  or  “I see it differently because ______.”</a:t>
              </a:r>
              <a:endParaRPr lang="en-US" sz="1400"/>
            </a:p>
          </p:txBody>
        </p:sp>
      </p:gr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6" name="Google Shape;466;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7" name="Google Shape;467;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5 of 7</a:t>
            </a:r>
            <a:endParaRPr/>
          </a:p>
        </p:txBody>
      </p:sp>
      <p:sp>
        <p:nvSpPr>
          <p:cNvPr id="469" name="Google Shape;469;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6-7 · Find Factors and Multiples</a:t>
            </a:r>
            <a:endParaRPr/>
          </a:p>
        </p:txBody>
      </p:sp>
      <p:sp>
        <p:nvSpPr>
          <p:cNvPr id="470" name="Google Shape;470;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1" name="Google Shape;471;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72" name="Google Shape;472;p50"/>
          <p:cNvSpPr txBox="1"/>
          <p:nvPr/>
        </p:nvSpPr>
        <p:spPr>
          <a:xfrm>
            <a:off x="640080" y="1385315"/>
            <a:ext cx="5897880" cy="129844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3900" u="none" cap="none" strike="noStrike">
                <a:solidFill>
                  <a:srgbClr val="14223A"/>
                </a:solidFill>
                <a:latin typeface="Arial"/>
                <a:ea typeface="Arial"/>
                <a:cs typeface="Arial"/>
                <a:sym typeface="Arial"/>
              </a:rPr>
              <a:t>Least common multiple (LCM)</a:t>
            </a:r>
            <a:endParaRPr/>
          </a:p>
        </p:txBody>
      </p:sp>
      <p:sp>
        <p:nvSpPr>
          <p:cNvPr id="473" name="Google Shape;473;p50"/>
          <p:cNvSpPr/>
          <p:nvPr/>
        </p:nvSpPr>
        <p:spPr>
          <a:xfrm>
            <a:off x="658368" y="2903219"/>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4" name="Google Shape;474;p50"/>
          <p:cNvSpPr txBox="1"/>
          <p:nvPr/>
        </p:nvSpPr>
        <p:spPr>
          <a:xfrm>
            <a:off x="640080" y="3264407"/>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The smallest number that is a multiple of two or more numbers. It answers “when will these line up again?”</a:t>
            </a:r>
            <a:endParaRPr/>
          </a:p>
        </p:txBody>
      </p:sp>
      <p:sp>
        <p:nvSpPr>
          <p:cNvPr id="475" name="Google Shape;475;p50"/>
          <p:cNvSpPr/>
          <p:nvPr/>
        </p:nvSpPr>
        <p:spPr>
          <a:xfrm>
            <a:off x="640080" y="4741164"/>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6" name="Google Shape;476;p50"/>
          <p:cNvSpPr/>
          <p:nvPr/>
        </p:nvSpPr>
        <p:spPr>
          <a:xfrm>
            <a:off x="640080" y="4741164"/>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50"/>
          <p:cNvSpPr txBox="1"/>
          <p:nvPr/>
        </p:nvSpPr>
        <p:spPr>
          <a:xfrm>
            <a:off x="932688" y="4914900"/>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78" name="Google Shape;478;p50"/>
          <p:cNvSpPr txBox="1"/>
          <p:nvPr/>
        </p:nvSpPr>
        <p:spPr>
          <a:xfrm>
            <a:off x="932688" y="5216652"/>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6, 12, 18, 24 and 8, 16, 24 → LCM = 24</a:t>
            </a:r>
            <a:endParaRPr/>
          </a:p>
        </p:txBody>
      </p:sp>
      <p:pic>
        <p:nvPicPr>
          <p:cNvPr descr="least-common-multiple.png" id="479" name="Google Shape;479;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12 / 51</a:t>
            </a:r>
          </a:p>
        </p:txBody>
      </p:sp>
      <p:grpSp>
        <p:nvGrpSpPr>
          <p:cNvPr id="480" name="TEACH-5-student-move" descr="TEACH 5 · Facilitate student interactions and academic talk"/>
          <p:cNvGrpSpPr/>
          <p:nvPr/>
        </p:nvGrpSpPr>
        <p:grpSpPr>
          <a:xfrm>
            <a:off x="502920" y="5829300"/>
            <a:ext cx="11186160" cy="457200"/>
            <a:chOff x="502920" y="5829300"/>
            <a:chExt cx="11186160" cy="457200"/>
          </a:xfrm>
        </p:grpSpPr>
        <p:sp>
          <p:nvSpPr>
            <p:cNvPr id="481" name="TEACH-move-card"/>
            <p:cNvSpPr/>
            <p:nvPr/>
          </p:nvSpPr>
          <p:spPr>
            <a:xfrm>
              <a:off x="502920" y="582930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482" name="TEACH-move-rule"/>
            <p:cNvSpPr/>
            <p:nvPr/>
          </p:nvSpPr>
          <p:spPr>
            <a:xfrm>
              <a:off x="548640" y="5916168"/>
              <a:ext cx="100584" cy="283464"/>
            </a:xfrm>
            <a:prstGeom prst="roundRect">
              <a:avLst>
                <a:gd name="adj" fmla="val 50000"/>
              </a:avLst>
            </a:prstGeom>
            <a:solidFill>
              <a:srgbClr val="01708C"/>
            </a:solidFill>
            <a:ln>
              <a:noFill/>
            </a:ln>
          </p:spPr>
          <p:txBody>
            <a:bodyPr/>
            <a:lstStyle/>
            <a:p>
              <a:endParaRPr/>
            </a:p>
          </p:txBody>
        </p:sp>
        <p:sp>
          <p:nvSpPr>
            <p:cNvPr id="483" name="TEACH-move-text"/>
            <p:cNvSpPr txBox="1"/>
            <p:nvPr/>
          </p:nvSpPr>
          <p:spPr>
            <a:xfrm>
              <a:off x="822960" y="582930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TAKE TURNS  ·  </a:t>
              </a:r>
              <a:r>
                <a:rPr lang="en-US" sz="1400" dirty="0">
                  <a:solidFill>
                    <a:srgbClr val="13303A"/>
                  </a:solidFill>
                  <a:latin typeface="Arial"/>
                </a:rPr>
                <a:t>One explains, one asks a question. Then switch, so both of you talk.</a:t>
              </a:r>
              <a:endParaRPr lang="en-US" sz="1400"/>
            </a:p>
          </p:txBody>
        </p:sp>
      </p:gr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84" name="Google Shape;484;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5" name="Google Shape;485;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6" name="Google Shape;486;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7</a:t>
            </a:r>
            <a:endParaRPr/>
          </a:p>
        </p:txBody>
      </p:sp>
      <p:sp>
        <p:nvSpPr>
          <p:cNvPr id="487" name="Google Shape;487;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6-7 · Find Factors and Multiples</a:t>
            </a:r>
            <a:endParaRPr/>
          </a:p>
        </p:txBody>
      </p:sp>
      <p:sp>
        <p:nvSpPr>
          <p:cNvPr id="488" name="Google Shape;488;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89" name="Google Shape;489;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90" name="Google Shape;490;p51"/>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Factor pair</a:t>
            </a:r>
            <a:endParaRPr/>
          </a:p>
        </p:txBody>
      </p:sp>
      <p:sp>
        <p:nvSpPr>
          <p:cNvPr id="491" name="Google Shape;491;p51"/>
          <p:cNvSpPr/>
          <p:nvPr/>
        </p:nvSpPr>
        <p:spPr>
          <a:xfrm>
            <a:off x="658368" y="2561844"/>
            <a:ext cx="1307592"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2" name="Google Shape;492;p51"/>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Two factors that multiply to make a number. In a word problem, one is the number of groups and the other is the size of each group.</a:t>
            </a:r>
            <a:endParaRPr/>
          </a:p>
        </p:txBody>
      </p:sp>
      <p:sp>
        <p:nvSpPr>
          <p:cNvPr id="493" name="Google Shape;493;p51"/>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4" name="Google Shape;494;p51"/>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95" name="Google Shape;495;p51"/>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96" name="Google Shape;496;p51"/>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48 = 2 × 24, so 2 packs of 24 pencils</a:t>
            </a:r>
            <a:endParaRPr/>
          </a:p>
        </p:txBody>
      </p:sp>
      <p:pic>
        <p:nvPicPr>
          <p:cNvPr descr="factor.png" id="497" name="Google Shape;497;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13 / 51</a:t>
            </a:r>
          </a:p>
        </p:txBody>
      </p:sp>
      <p:sp xmlns:p="http://schemas.openxmlformats.org/presentationml/2006/main" xmlns:a="http://schemas.openxmlformats.org/drawingml/2006/main">
        <p:nvSpPr>
          <p:cNvPr id="498"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“Factor pair” to explain the example. Point to evidence.</a:t>
            </a:r>
            <a:endParaRPr lang="en-US" sz="2000"/>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02" name="Google Shape;502;p52"/>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3" name="Google Shape;503;p52"/>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4" name="Google Shape;504;p52"/>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7 of 7</a:t>
            </a:r>
            <a:endParaRPr/>
          </a:p>
        </p:txBody>
      </p:sp>
      <p:sp>
        <p:nvSpPr>
          <p:cNvPr id="505" name="Google Shape;505;p52"/>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6-7 · Find Factors and Multiples</a:t>
            </a:r>
            <a:endParaRPr/>
          </a:p>
        </p:txBody>
      </p:sp>
      <p:sp>
        <p:nvSpPr>
          <p:cNvPr id="506" name="Google Shape;506;p52"/>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07" name="Google Shape;507;p52"/>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08" name="Google Shape;508;p52"/>
          <p:cNvSpPr txBox="1"/>
          <p:nvPr/>
        </p:nvSpPr>
        <p:spPr>
          <a:xfrm>
            <a:off x="640080" y="1550669"/>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4400" u="none" cap="none" strike="noStrike">
                <a:solidFill>
                  <a:srgbClr val="14223A"/>
                </a:solidFill>
                <a:latin typeface="Arial"/>
                <a:ea typeface="Arial"/>
                <a:cs typeface="Arial"/>
                <a:sym typeface="Arial"/>
              </a:rPr>
              <a:t>Prime factorization</a:t>
            </a:r>
            <a:endParaRPr/>
          </a:p>
        </p:txBody>
      </p:sp>
      <p:sp>
        <p:nvSpPr>
          <p:cNvPr id="509" name="Google Shape;509;p52"/>
          <p:cNvSpPr/>
          <p:nvPr/>
        </p:nvSpPr>
        <p:spPr>
          <a:xfrm>
            <a:off x="658368" y="2385822"/>
            <a:ext cx="2258568"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0" name="Google Shape;510;p52"/>
          <p:cNvSpPr txBox="1"/>
          <p:nvPr/>
        </p:nvSpPr>
        <p:spPr>
          <a:xfrm>
            <a:off x="640080" y="2747010"/>
            <a:ext cx="5897880" cy="1408176"/>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Writing a number as a product of prime numbers, usually with a factor tree. Multiplying the primes two numbers share also gives the GCF.</a:t>
            </a:r>
            <a:endParaRPr/>
          </a:p>
        </p:txBody>
      </p:sp>
      <p:sp>
        <p:nvSpPr>
          <p:cNvPr id="511" name="Google Shape;511;p52"/>
          <p:cNvSpPr/>
          <p:nvPr/>
        </p:nvSpPr>
        <p:spPr>
          <a:xfrm>
            <a:off x="640080" y="4575810"/>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2" name="Google Shape;512;p52"/>
          <p:cNvSpPr/>
          <p:nvPr/>
        </p:nvSpPr>
        <p:spPr>
          <a:xfrm>
            <a:off x="640080" y="4575810"/>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3" name="Google Shape;513;p52"/>
          <p:cNvSpPr txBox="1"/>
          <p:nvPr/>
        </p:nvSpPr>
        <p:spPr>
          <a:xfrm>
            <a:off x="932688" y="4749546"/>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514" name="Google Shape;514;p52"/>
          <p:cNvSpPr txBox="1"/>
          <p:nvPr/>
        </p:nvSpPr>
        <p:spPr>
          <a:xfrm>
            <a:off x="932688" y="5051297"/>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48 = 2×2×2×2×3, 36 = 2×2×3×3 → shared 2×2×3 = 12</a:t>
            </a:r>
            <a:endParaRPr/>
          </a:p>
        </p:txBody>
      </p:sp>
      <p:pic>
        <p:nvPicPr>
          <p:cNvPr descr="prime-factorization.png" id="515" name="Google Shape;515;p52"/>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14 / 51</a:t>
            </a:r>
          </a:p>
        </p:txBody>
      </p:sp>
      <p:grpSp>
        <p:nvGrpSpPr>
          <p:cNvPr id="516" name="TEACH-5-student-move" descr="TEACH 5 · Facilitate student interactions and academic talk"/>
          <p:cNvGrpSpPr/>
          <p:nvPr/>
        </p:nvGrpSpPr>
        <p:grpSpPr>
          <a:xfrm>
            <a:off x="502920" y="5751576"/>
            <a:ext cx="11186160" cy="548640"/>
            <a:chOff x="502920" y="5751576"/>
            <a:chExt cx="11186160" cy="548640"/>
          </a:xfrm>
        </p:grpSpPr>
        <p:sp>
          <p:nvSpPr>
            <p:cNvPr id="517"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518"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519"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RESTATE FIRST  ·  </a:t>
              </a:r>
              <a:r>
                <a:rPr lang="en-US" sz="1400" dirty="0">
                  <a:solidFill>
                    <a:srgbClr val="13303A"/>
                  </a:solidFill>
                  <a:latin typeface="Arial"/>
                </a:rPr>
                <a:t>Restate your partner’s idea in your own words before you give yours.</a:t>
              </a:r>
              <a:endParaRPr lang="en-US" sz="1400"/>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3" name="Shape 353"/>
        <p:cNvGrpSpPr/>
        <p:nvPr/>
      </p:nvGrpSpPr>
      <p:grpSpPr>
        <a:xfrm>
          <a:off x="0" y="0"/>
          <a:ext cx="0" cy="0"/>
          <a:chOff x="0" y="0"/>
          <a:chExt cx="0" cy="0"/>
        </a:xfrm>
      </p:grpSpPr>
      <p:sp>
        <p:nvSpPr>
          <p:cNvPr id="354" name="Google Shape;354;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5" name="Google Shape;355;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6" name="Google Shape;356;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57" name="Google Shape;357;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400" u="none" cap="none" strike="noStrike">
                <a:solidFill>
                  <a:srgbClr val="FFFFFF"/>
                </a:solidFill>
                <a:latin typeface="Arial"/>
                <a:ea typeface="Arial"/>
                <a:cs typeface="Arial"/>
                <a:sym typeface="Arial"/>
              </a:rPr>
              <a:t>Lesson 6-7 · Find Factors and Multiples</a:t>
            </a:r>
            <a:endParaRPr/>
          </a:p>
        </p:txBody>
      </p:sp>
      <p:sp>
        <p:nvSpPr>
          <p:cNvPr id="358" name="Google Shape;358;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9" name="Google Shape;359;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60" name="Google Shape;360;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61" name="Google Shape;361;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62" name="Google Shape;362;p45"/>
          <p:cNvSpPr/>
          <p:nvPr/>
        </p:nvSpPr>
        <p:spPr>
          <a:xfrm>
            <a:off x="640080"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3" name="Google Shape;363;p45"/>
          <p:cNvSpPr/>
          <p:nvPr/>
        </p:nvSpPr>
        <p:spPr>
          <a:xfrm>
            <a:off x="640080"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4" name="Google Shape;364;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Find Factors and Multiples</a:t>
            </a:r>
            <a:endParaRPr/>
          </a:p>
        </p:txBody>
      </p:sp>
      <p:sp>
        <p:nvSpPr>
          <p:cNvPr id="365" name="Google Shape;365;p45"/>
          <p:cNvSpPr txBox="1"/>
          <p:nvPr/>
        </p:nvSpPr>
        <p:spPr>
          <a:xfrm>
            <a:off x="950976"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Listing what divides a number evenly (its factors) and what it divides into evenly (its multiples), then finding what two numbers share</a:t>
            </a:r>
            <a:endParaRPr/>
          </a:p>
        </p:txBody>
      </p:sp>
      <p:sp>
        <p:nvSpPr>
          <p:cNvPr id="366" name="Google Shape;366;p45"/>
          <p:cNvSpPr/>
          <p:nvPr/>
        </p:nvSpPr>
        <p:spPr>
          <a:xfrm>
            <a:off x="6260576" y="210312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7" name="Google Shape;367;p45"/>
          <p:cNvSpPr/>
          <p:nvPr/>
        </p:nvSpPr>
        <p:spPr>
          <a:xfrm>
            <a:off x="6260576" y="210312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8" name="Google Shape;368;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Factor</a:t>
            </a:r>
            <a:endParaRPr/>
          </a:p>
        </p:txBody>
      </p:sp>
      <p:sp>
        <p:nvSpPr>
          <p:cNvPr id="369" name="Google Shape;369;p45"/>
          <p:cNvSpPr txBox="1"/>
          <p:nvPr/>
        </p:nvSpPr>
        <p:spPr>
          <a:xfrm>
            <a:off x="6571472" y="257860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50" u="none" cap="none" strike="noStrike">
                <a:solidFill>
                  <a:srgbClr val="475569"/>
                </a:solidFill>
                <a:latin typeface="Arial"/>
                <a:ea typeface="Arial"/>
                <a:cs typeface="Arial"/>
                <a:sym typeface="Arial"/>
              </a:rPr>
              <a:t>A whole number that divides another number evenly, with no remainder</a:t>
            </a:r>
            <a:endParaRPr/>
          </a:p>
        </p:txBody>
      </p:sp>
      <p:sp>
        <p:nvSpPr>
          <p:cNvPr id="370" name="Google Shape;370;p45"/>
          <p:cNvSpPr/>
          <p:nvPr/>
        </p:nvSpPr>
        <p:spPr>
          <a:xfrm>
            <a:off x="640080"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1" name="Google Shape;371;p45"/>
          <p:cNvSpPr/>
          <p:nvPr/>
        </p:nvSpPr>
        <p:spPr>
          <a:xfrm>
            <a:off x="640080"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2" name="Google Shape;372;p45"/>
          <p:cNvSpPr txBox="1"/>
          <p:nvPr/>
        </p:nvSpPr>
        <p:spPr>
          <a:xfrm>
            <a:off x="950976"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Multiple</a:t>
            </a:r>
            <a:endParaRPr/>
          </a:p>
        </p:txBody>
      </p:sp>
      <p:sp>
        <p:nvSpPr>
          <p:cNvPr id="373" name="Google Shape;373;p45"/>
          <p:cNvSpPr txBox="1"/>
          <p:nvPr/>
        </p:nvSpPr>
        <p:spPr>
          <a:xfrm>
            <a:off x="950976"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The result of multiplying a number by 1, 2, 3, and so on — where you land when you skip-count by it</a:t>
            </a:r>
            <a:endParaRPr/>
          </a:p>
        </p:txBody>
      </p:sp>
      <p:sp>
        <p:nvSpPr>
          <p:cNvPr id="374" name="Google Shape;374;p45"/>
          <p:cNvSpPr/>
          <p:nvPr/>
        </p:nvSpPr>
        <p:spPr>
          <a:xfrm>
            <a:off x="6260576" y="3177539"/>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5" name="Google Shape;375;p45"/>
          <p:cNvSpPr/>
          <p:nvPr/>
        </p:nvSpPr>
        <p:spPr>
          <a:xfrm>
            <a:off x="6260576" y="3177539"/>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6" name="Google Shape;376;p45"/>
          <p:cNvSpPr txBox="1"/>
          <p:nvPr/>
        </p:nvSpPr>
        <p:spPr>
          <a:xfrm>
            <a:off x="6571472" y="331469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Greatest common factor (GCF)</a:t>
            </a:r>
            <a:endParaRPr/>
          </a:p>
        </p:txBody>
      </p:sp>
      <p:sp>
        <p:nvSpPr>
          <p:cNvPr id="377" name="Google Shape;377;p45"/>
          <p:cNvSpPr txBox="1"/>
          <p:nvPr/>
        </p:nvSpPr>
        <p:spPr>
          <a:xfrm>
            <a:off x="6571472" y="3653027"/>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The largest number that is a factor of two or more numbers</a:t>
            </a:r>
            <a:endParaRPr/>
          </a:p>
        </p:txBody>
      </p:sp>
      <p:sp>
        <p:nvSpPr>
          <p:cNvPr id="378" name="Google Shape;378;p45"/>
          <p:cNvSpPr/>
          <p:nvPr/>
        </p:nvSpPr>
        <p:spPr>
          <a:xfrm>
            <a:off x="640080"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9" name="Google Shape;379;p45"/>
          <p:cNvSpPr/>
          <p:nvPr/>
        </p:nvSpPr>
        <p:spPr>
          <a:xfrm>
            <a:off x="640080"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0" name="Google Shape;380;p45"/>
          <p:cNvSpPr txBox="1"/>
          <p:nvPr/>
        </p:nvSpPr>
        <p:spPr>
          <a:xfrm>
            <a:off x="950976"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Least common multiple (LCM)</a:t>
            </a:r>
            <a:endParaRPr/>
          </a:p>
        </p:txBody>
      </p:sp>
      <p:sp>
        <p:nvSpPr>
          <p:cNvPr id="381" name="Google Shape;381;p45"/>
          <p:cNvSpPr txBox="1"/>
          <p:nvPr/>
        </p:nvSpPr>
        <p:spPr>
          <a:xfrm>
            <a:off x="950976"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The smallest number that is a multiple of two or more numbers</a:t>
            </a:r>
            <a:endParaRPr/>
          </a:p>
        </p:txBody>
      </p:sp>
      <p:sp>
        <p:nvSpPr>
          <p:cNvPr id="382" name="Google Shape;382;p45"/>
          <p:cNvSpPr/>
          <p:nvPr/>
        </p:nvSpPr>
        <p:spPr>
          <a:xfrm>
            <a:off x="6260576" y="425196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3" name="Google Shape;383;p45"/>
          <p:cNvSpPr/>
          <p:nvPr/>
        </p:nvSpPr>
        <p:spPr>
          <a:xfrm>
            <a:off x="6260576" y="425196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4" name="Google Shape;384;p45"/>
          <p:cNvSpPr txBox="1"/>
          <p:nvPr/>
        </p:nvSpPr>
        <p:spPr>
          <a:xfrm>
            <a:off x="6571472" y="438912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Factor pair</a:t>
            </a:r>
            <a:endParaRPr/>
          </a:p>
        </p:txBody>
      </p:sp>
      <p:sp>
        <p:nvSpPr>
          <p:cNvPr id="385" name="Google Shape;385;p45"/>
          <p:cNvSpPr txBox="1"/>
          <p:nvPr/>
        </p:nvSpPr>
        <p:spPr>
          <a:xfrm>
            <a:off x="6571472" y="472744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Two factors that multiply to make a number</a:t>
            </a:r>
            <a:endParaRPr/>
          </a:p>
        </p:txBody>
      </p:sp>
      <p:sp>
        <p:nvSpPr>
          <p:cNvPr id="386" name="Google Shape;386;p45"/>
          <p:cNvSpPr/>
          <p:nvPr/>
        </p:nvSpPr>
        <p:spPr>
          <a:xfrm>
            <a:off x="640080" y="5326380"/>
            <a:ext cx="5291312" cy="891540"/>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7" name="Google Shape;387;p45"/>
          <p:cNvSpPr/>
          <p:nvPr/>
        </p:nvSpPr>
        <p:spPr>
          <a:xfrm>
            <a:off x="640080" y="5326380"/>
            <a:ext cx="91440" cy="89154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 name="Google Shape;388;p45"/>
          <p:cNvSpPr txBox="1"/>
          <p:nvPr/>
        </p:nvSpPr>
        <p:spPr>
          <a:xfrm>
            <a:off x="950976" y="5463540"/>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Prime factorization</a:t>
            </a:r>
            <a:endParaRPr/>
          </a:p>
        </p:txBody>
      </p:sp>
      <p:sp>
        <p:nvSpPr>
          <p:cNvPr id="389" name="Google Shape;389;p45"/>
          <p:cNvSpPr txBox="1"/>
          <p:nvPr/>
        </p:nvSpPr>
        <p:spPr>
          <a:xfrm>
            <a:off x="950976" y="5801868"/>
            <a:ext cx="4724384" cy="324612"/>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100" u="none" cap="none" strike="noStrike">
                <a:solidFill>
                  <a:srgbClr val="475569"/>
                </a:solidFill>
                <a:latin typeface="Arial"/>
                <a:ea typeface="Arial"/>
                <a:cs typeface="Arial"/>
                <a:sym typeface="Arial"/>
              </a:rPr>
              <a:t>Writing a number as a product of prime numbers, usually with a factor tree</a:t>
            </a:r>
            <a:endParaRPr/>
          </a:p>
        </p:txBody>
      </p:sp>
      <p:sp>
        <p:nvSpPr>
          <p:cNvPr id="39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15 / 51</a:t>
            </a:r>
          </a:p>
        </p:txBody>
      </p:sp>
      <p:sp xmlns:p="http://schemas.openxmlformats.org/presentationml/2006/main" xmlns:a="http://schemas.openxmlformats.org/drawingml/2006/main">
        <p:nvSpPr>
          <p:cNvPr id="391" name="TEACH-embedded-student-prompt" descr="Student thinking and response directions"/>
          <p:cNvSpPr txBox="1"/>
          <p:nvPr/>
        </p:nvSpPr>
        <p:spPr>
          <a:xfrm>
            <a:off x="611124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one math word using the example.</a:t>
            </a:r>
            <a:endParaRPr lang="en-US" sz="2000"/>
          </a:p>
          <a:p>
            <a:pPr>
              <a:lnSpc>
                <a:spcPts val="2400"/>
              </a:lnSpc>
              <a:buNone/>
            </a:pPr>
            <a:r>
              <a:rPr lang="en-US" sz="2000">
                <a:solidFill>
                  <a:srgbClr val="174D60"/>
                </a:solidFill>
                <a:latin typeface="Arial"/>
              </a:rPr>
              <a:t>Partner: point to evidence.</a:t>
            </a:r>
            <a:endParaRPr lang="en-US" sz="2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1" name="Shape 581"/>
        <p:cNvGrpSpPr/>
        <p:nvPr/>
      </p:nvGrpSpPr>
      <p:grpSpPr>
        <a:xfrm>
          <a:off x="0" y="0"/>
          <a:ext cx="0" cy="0"/>
          <a:chOff x="0" y="0"/>
          <a:chExt cx="0" cy="0"/>
        </a:xfrm>
      </p:grpSpPr>
      <p:cxnSp>
        <p:nvCxnSpPr>
          <p:cNvPr id="582" name="Google Shape;582;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83" name="Google Shape;583;p56"/>
          <p:cNvSpPr txBox="1"/>
          <p:nvPr/>
        </p:nvSpPr>
        <p:spPr>
          <a:xfrm>
            <a:off x="474055" y="936100"/>
            <a:ext cx="4227341" cy="12293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do you wonder?</a:t>
            </a:r>
            <a:endParaRPr b="0" i="0" sz="1400" u="none" cap="none" strike="noStrike">
              <a:solidFill>
                <a:srgbClr val="000000"/>
              </a:solidFill>
              <a:latin typeface="Arial"/>
              <a:ea typeface="Arial"/>
              <a:cs typeface="Arial"/>
              <a:sym typeface="Arial"/>
            </a:endParaRPr>
          </a:p>
        </p:txBody>
      </p:sp>
      <p:sp>
        <p:nvSpPr>
          <p:cNvPr id="584" name="Google Shape;584;p56"/>
          <p:cNvSpPr txBox="1"/>
          <p:nvPr/>
        </p:nvSpPr>
        <p:spPr>
          <a:xfrm>
            <a:off x="484560"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585" name="Google Shape;585;p56"/>
          <p:cNvPicPr preferRelativeResize="0"/>
          <p:nvPr/>
        </p:nvPicPr>
        <p:blipFill rotWithShape="1">
          <a:blip r:embed="rId3">
            <a:alphaModFix/>
          </a:blip>
          <a:srcRect b="0" l="0" r="0" t="0"/>
          <a:stretch/>
        </p:blipFill>
        <p:spPr>
          <a:xfrm>
            <a:off x="4899803" y="1472887"/>
            <a:ext cx="4266350" cy="3132000"/>
          </a:xfrm>
          <a:prstGeom prst="rect">
            <a:avLst/>
          </a:prstGeom>
          <a:noFill/>
          <a:ln>
            <a:noFill/>
          </a:ln>
        </p:spPr>
      </p:pic>
      <p:pic>
        <p:nvPicPr>
          <p:cNvPr id="586" name="Google Shape;586;p56"/>
          <p:cNvPicPr preferRelativeResize="0"/>
          <p:nvPr/>
        </p:nvPicPr>
        <p:blipFill rotWithShape="1">
          <a:blip r:embed="rId4">
            <a:alphaModFix/>
          </a:blip>
          <a:srcRect b="0" l="0" r="0" t="0"/>
          <a:stretch/>
        </p:blipFill>
        <p:spPr>
          <a:xfrm>
            <a:off x="474055" y="4966013"/>
            <a:ext cx="5054600" cy="838200"/>
          </a:xfrm>
          <a:prstGeom prst="rect">
            <a:avLst/>
          </a:prstGeom>
          <a:noFill/>
          <a:ln>
            <a:noFill/>
          </a:ln>
        </p:spPr>
      </p:pic>
      <p:sp>
        <p:nvSpPr>
          <p:cNvPr id="587" name="Google Shape;587;p56"/>
          <p:cNvSpPr txBox="1"/>
          <p:nvPr/>
        </p:nvSpPr>
        <p:spPr>
          <a:xfrm>
            <a:off x="3334072" y="5123331"/>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588" name="Google Shape;588;p56"/>
          <p:cNvSpPr/>
          <p:nvPr/>
        </p:nvSpPr>
        <p:spPr>
          <a:xfrm>
            <a:off x="687251" y="5781336"/>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strategies could help you work more efficiently?</a:t>
            </a:r>
            <a:endParaRPr b="0" i="0" sz="1400" u="none" cap="none" strike="noStrike">
              <a:solidFill>
                <a:srgbClr val="000000"/>
              </a:solidFill>
              <a:latin typeface="Arial"/>
              <a:ea typeface="Arial"/>
              <a:cs typeface="Arial"/>
              <a:sym typeface="Arial"/>
            </a:endParaRPr>
          </a:p>
        </p:txBody>
      </p:sp>
      <p:sp>
        <p:nvSpPr>
          <p:cNvPr id="58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16 / 51</a:t>
            </a:r>
          </a:p>
        </p:txBody>
      </p:sp>
      <p:sp xmlns:p="http://schemas.openxmlformats.org/presentationml/2006/main" xmlns:a="http://schemas.openxmlformats.org/drawingml/2006/main">
        <p:nvSpPr>
          <p:cNvPr id="590" name="TEACH-embedded-student-prompt" descr="Student thinking and response directions"/>
          <p:cNvSpPr txBox="1"/>
          <p:nvPr/>
        </p:nvSpPr>
        <p:spPr>
          <a:xfrm>
            <a:off x="6111240" y="486460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cxnSp>
        <p:nvCxnSpPr>
          <p:cNvPr id="602" name="Google Shape;602;p5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603" name="Google Shape;603;p58"/>
          <p:cNvPicPr preferRelativeResize="0"/>
          <p:nvPr/>
        </p:nvPicPr>
        <p:blipFill rotWithShape="1">
          <a:blip r:embed="rId3">
            <a:alphaModFix/>
          </a:blip>
          <a:srcRect b="0" l="0" r="0" t="0"/>
          <a:stretch/>
        </p:blipFill>
        <p:spPr>
          <a:xfrm>
            <a:off x="7353660" y="1603631"/>
            <a:ext cx="4610100" cy="2867025"/>
          </a:xfrm>
          <a:prstGeom prst="rect">
            <a:avLst/>
          </a:prstGeom>
          <a:noFill/>
          <a:ln>
            <a:noFill/>
          </a:ln>
        </p:spPr>
      </p:pic>
      <p:sp>
        <p:nvSpPr>
          <p:cNvPr id="604" name="Google Shape;604;p58"/>
          <p:cNvSpPr txBox="1"/>
          <p:nvPr/>
        </p:nvSpPr>
        <p:spPr>
          <a:xfrm>
            <a:off x="505579" y="4875659"/>
            <a:ext cx="10691508"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0" i="0" sz="2800" u="none" cap="none" strike="noStrike">
              <a:solidFill>
                <a:srgbClr val="595959"/>
              </a:solidFill>
              <a:latin typeface="Arial"/>
              <a:ea typeface="Arial"/>
              <a:cs typeface="Arial"/>
              <a:sym typeface="Arial"/>
            </a:endParaRPr>
          </a:p>
        </p:txBody>
      </p:sp>
      <p:sp>
        <p:nvSpPr>
          <p:cNvPr id="605" name="Google Shape;605;p58"/>
          <p:cNvSpPr txBox="1"/>
          <p:nvPr/>
        </p:nvSpPr>
        <p:spPr>
          <a:xfrm>
            <a:off x="484565" y="701453"/>
            <a:ext cx="6654345" cy="417420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school store manager plans to sell a combo pack as a back-to-school item. Each combo pack will have an equal number of pencils and an equal number of notebooks.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Consider the factor pairs 2 and 24 for the pencils and 2 and 18 for the notebooks. What does each factor in a pair represent in this situation?</a:t>
            </a:r>
            <a:endParaRPr b="0" i="0" sz="1400" u="none" cap="none" strike="noStrike">
              <a:solidFill>
                <a:srgbClr val="000000"/>
              </a:solidFill>
              <a:latin typeface="Arial"/>
              <a:ea typeface="Arial"/>
              <a:cs typeface="Arial"/>
              <a:sym typeface="Arial"/>
            </a:endParaRPr>
          </a:p>
        </p:txBody>
      </p:sp>
      <p:sp>
        <p:nvSpPr>
          <p:cNvPr id="606" name="Google Shape;606;p58"/>
          <p:cNvSpPr txBox="1"/>
          <p:nvPr/>
        </p:nvSpPr>
        <p:spPr>
          <a:xfrm>
            <a:off x="484565" y="22725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School Store</a:t>
            </a:r>
            <a:endParaRPr b="0" i="0" sz="1400" u="none" cap="none" strike="noStrike">
              <a:solidFill>
                <a:srgbClr val="000000"/>
              </a:solidFill>
              <a:latin typeface="Arial"/>
              <a:ea typeface="Arial"/>
              <a:cs typeface="Arial"/>
              <a:sym typeface="Arial"/>
            </a:endParaRPr>
          </a:p>
        </p:txBody>
      </p:sp>
      <p:sp>
        <p:nvSpPr>
          <p:cNvPr id="607"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17 / 51</a:t>
            </a:r>
          </a:p>
        </p:txBody>
      </p:sp>
      <p:grpSp>
        <p:nvGrpSpPr>
          <p:cNvPr id="608" name="TEACH-3-student-move" descr="TEACH 3 · Use intentional questioning to deepen learning"/>
          <p:cNvGrpSpPr/>
          <p:nvPr/>
        </p:nvGrpSpPr>
        <p:grpSpPr>
          <a:xfrm>
            <a:off x="502920" y="5762830"/>
            <a:ext cx="11186160" cy="457200"/>
            <a:chOff x="502920" y="5762830"/>
            <a:chExt cx="11186160" cy="457200"/>
          </a:xfrm>
        </p:grpSpPr>
        <p:sp>
          <p:nvSpPr>
            <p:cNvPr id="609" name="TEACH-move-card"/>
            <p:cNvSpPr/>
            <p:nvPr/>
          </p:nvSpPr>
          <p:spPr>
            <a:xfrm>
              <a:off x="502920" y="5762830"/>
              <a:ext cx="11186160" cy="457200"/>
            </a:xfrm>
            <a:prstGeom prst="roundRect">
              <a:avLst>
                <a:gd name="adj" fmla="val 16000"/>
              </a:avLst>
            </a:prstGeom>
            <a:solidFill>
              <a:srgbClr val="E4F0F5"/>
            </a:solidFill>
            <a:ln w="19050">
              <a:solidFill>
                <a:srgbClr val="8CB8C7"/>
              </a:solidFill>
            </a:ln>
          </p:spPr>
          <p:txBody>
            <a:bodyPr/>
            <a:lstStyle/>
            <a:p>
              <a:endParaRPr/>
            </a:p>
          </p:txBody>
        </p:sp>
        <p:sp>
          <p:nvSpPr>
            <p:cNvPr id="610" name="TEACH-move-rule"/>
            <p:cNvSpPr/>
            <p:nvPr/>
          </p:nvSpPr>
          <p:spPr>
            <a:xfrm>
              <a:off x="548640" y="5849698"/>
              <a:ext cx="100584" cy="283464"/>
            </a:xfrm>
            <a:prstGeom prst="roundRect">
              <a:avLst>
                <a:gd name="adj" fmla="val 50000"/>
              </a:avLst>
            </a:prstGeom>
            <a:solidFill>
              <a:srgbClr val="01708C"/>
            </a:solidFill>
            <a:ln>
              <a:noFill/>
            </a:ln>
          </p:spPr>
          <p:txBody>
            <a:bodyPr/>
            <a:lstStyle/>
            <a:p>
              <a:endParaRPr/>
            </a:p>
          </p:txBody>
        </p:sp>
        <p:sp>
          <p:nvSpPr>
            <p:cNvPr id="611" name="TEACH-move-text"/>
            <p:cNvSpPr txBox="1"/>
            <p:nvPr/>
          </p:nvSpPr>
          <p:spPr>
            <a:xfrm>
              <a:off x="822960" y="5762830"/>
              <a:ext cx="10728960" cy="45720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HOW DO YOU KNOW?  ·  </a:t>
              </a:r>
              <a:r>
                <a:rPr lang="en-US" sz="1400" dirty="0">
                  <a:solidFill>
                    <a:srgbClr val="13303A"/>
                  </a:solidFill>
                  <a:latin typeface="Arial"/>
                </a:rPr>
                <a:t>Ask your partner “How do you know?” Answer by pointing to your own work.</a:t>
              </a:r>
              <a:endParaRPr lang="en-US" sz="1400"/>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cxnSp>
        <p:nvCxnSpPr>
          <p:cNvPr id="630" name="Google Shape;630;p6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31" name="Google Shape;631;p61"/>
          <p:cNvSpPr txBox="1"/>
          <p:nvPr/>
        </p:nvSpPr>
        <p:spPr>
          <a:xfrm>
            <a:off x="505580" y="4804998"/>
            <a:ext cx="11580028"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Each factor pair has a common factor of 2. This means that it is possible to make 2 combo packs with 24 pencils and 18 notebooks in each.</a:t>
            </a:r>
            <a:endParaRPr b="0" i="0" sz="1400" u="none" cap="none" strike="noStrike">
              <a:solidFill>
                <a:srgbClr val="000000"/>
              </a:solidFill>
              <a:latin typeface="Arial"/>
              <a:ea typeface="Arial"/>
              <a:cs typeface="Arial"/>
              <a:sym typeface="Arial"/>
            </a:endParaRPr>
          </a:p>
        </p:txBody>
      </p:sp>
      <p:sp>
        <p:nvSpPr>
          <p:cNvPr id="632" name="Google Shape;632;p61"/>
          <p:cNvSpPr txBox="1"/>
          <p:nvPr/>
        </p:nvSpPr>
        <p:spPr>
          <a:xfrm>
            <a:off x="505579" y="710116"/>
            <a:ext cx="6461277" cy="221510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Consider the factor pairs for the item quantities. One factor in each pair represents the number of combo packs and the other represents the number of items in each combo pack.</a:t>
            </a:r>
            <a:endParaRPr b="1" i="0" sz="2800" u="none" cap="none" strike="noStrike">
              <a:solidFill>
                <a:srgbClr val="262626"/>
              </a:solidFill>
              <a:latin typeface="Arial"/>
              <a:ea typeface="Arial"/>
              <a:cs typeface="Arial"/>
              <a:sym typeface="Arial"/>
            </a:endParaRPr>
          </a:p>
        </p:txBody>
      </p:sp>
      <p:sp>
        <p:nvSpPr>
          <p:cNvPr id="633" name="Google Shape;633;p61"/>
          <p:cNvSpPr txBox="1"/>
          <p:nvPr/>
        </p:nvSpPr>
        <p:spPr>
          <a:xfrm>
            <a:off x="505579" y="2925222"/>
            <a:ext cx="6461277" cy="18532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do you notice about the factor pairs? What does this tell you about the number of combo packs that can be made?</a:t>
            </a:r>
            <a:endParaRPr b="0" i="0" sz="1400" u="none" cap="none" strike="noStrike">
              <a:solidFill>
                <a:srgbClr val="000000"/>
              </a:solidFill>
              <a:latin typeface="Arial"/>
              <a:ea typeface="Arial"/>
              <a:cs typeface="Arial"/>
              <a:sym typeface="Arial"/>
            </a:endParaRPr>
          </a:p>
        </p:txBody>
      </p:sp>
      <p:sp>
        <p:nvSpPr>
          <p:cNvPr id="634" name="Google Shape;634;p61"/>
          <p:cNvSpPr txBox="1"/>
          <p:nvPr/>
        </p:nvSpPr>
        <p:spPr>
          <a:xfrm>
            <a:off x="484565" y="22725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School Store</a:t>
            </a:r>
            <a:endParaRPr b="0" i="0" sz="1400" u="none" cap="none" strike="noStrike">
              <a:solidFill>
                <a:srgbClr val="000000"/>
              </a:solidFill>
              <a:latin typeface="Arial"/>
              <a:ea typeface="Arial"/>
              <a:cs typeface="Arial"/>
              <a:sym typeface="Arial"/>
            </a:endParaRPr>
          </a:p>
        </p:txBody>
      </p:sp>
      <p:graphicFrame>
        <p:nvGraphicFramePr>
          <p:cNvPr id="635" name="Google Shape;635;p61"/>
          <p:cNvGraphicFramePr/>
          <p:nvPr/>
        </p:nvGraphicFramePr>
        <p:xfrm>
          <a:off x="7103280" y="1641452"/>
          <a:ext cx="3000000" cy="3000000"/>
        </p:xfrm>
        <a:graphic>
          <a:graphicData uri="http://schemas.openxmlformats.org/drawingml/2006/table">
            <a:tbl>
              <a:tblPr bandRow="1" firstRow="1">
                <a:noFill/>
                <a:tableStyleId>{2BC5978F-9256-4E76-B8A6-04CDDA8E880A}</a:tableStyleId>
              </a:tblPr>
              <a:tblGrid>
                <a:gridCol w="1525825"/>
                <a:gridCol w="1435975"/>
                <a:gridCol w="1717000"/>
              </a:tblGrid>
              <a:tr h="495100">
                <a:tc gridSpan="3">
                  <a:txBody>
                    <a:bodyPr/>
                    <a:lstStyle/>
                    <a:p>
                      <a:pPr indent="0" lvl="0" marL="0" marR="0" rtl="0" algn="l">
                        <a:lnSpc>
                          <a:spcPct val="100000"/>
                        </a:lnSpc>
                        <a:spcBef>
                          <a:spcPts val="0"/>
                        </a:spcBef>
                        <a:spcAft>
                          <a:spcPts val="0"/>
                        </a:spcAft>
                        <a:buClr>
                          <a:srgbClr val="000000"/>
                        </a:buClr>
                        <a:buSzPts val="2300"/>
                        <a:buFont typeface="Arial"/>
                        <a:buNone/>
                      </a:pPr>
                      <a:r>
                        <a:t/>
                      </a:r>
                      <a:endParaRPr sz="2300" u="none" cap="none" strike="noStrike">
                        <a:solidFill>
                          <a:schemeClr val="dk1"/>
                        </a:solidFill>
                      </a:endParaRPr>
                    </a:p>
                  </a:txBody>
                  <a:tcPr marT="35225" marB="35225" marR="70475" marL="70475" anchor="ctr">
                    <a:lnB cap="flat" cmpd="sng" w="12700">
                      <a:solidFill>
                        <a:schemeClr val="dk1"/>
                      </a:solidFill>
                      <a:prstDash val="solid"/>
                      <a:round/>
                      <a:headEnd len="sm" w="sm" type="none"/>
                      <a:tailEnd len="sm" w="sm" type="none"/>
                    </a:lnB>
                    <a:solidFill>
                      <a:schemeClr val="lt1"/>
                    </a:solidFill>
                  </a:tcPr>
                </a:tc>
                <a:tc hMerge="1"/>
                <a:tc hMerge="1"/>
              </a:tr>
              <a:tr h="454075">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Item</a:t>
                      </a:r>
                      <a:endParaRPr sz="1400" u="none" cap="none" strike="noStrike"/>
                    </a:p>
                  </a:txBody>
                  <a:tcPr marT="35225" marB="35225" marR="70475" marL="70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Quantity</a:t>
                      </a:r>
                      <a:endParaRPr sz="1400" u="none" cap="none" strike="noStrike"/>
                    </a:p>
                  </a:txBody>
                  <a:tcPr marT="35225" marB="35225" marR="70475" marL="70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rgbClr val="000000"/>
                        </a:buClr>
                        <a:buSzPts val="2200"/>
                        <a:buFont typeface="Arial"/>
                        <a:buNone/>
                      </a:pPr>
                      <a:r>
                        <a:rPr b="1" lang="en-US" sz="2200" u="none" cap="none" strike="noStrike">
                          <a:solidFill>
                            <a:schemeClr val="lt1"/>
                          </a:solidFill>
                          <a:latin typeface="Arial"/>
                          <a:ea typeface="Arial"/>
                          <a:cs typeface="Arial"/>
                          <a:sym typeface="Arial"/>
                        </a:rPr>
                        <a:t>Factor Pair</a:t>
                      </a:r>
                      <a:endParaRPr sz="1400" u="none" cap="none" strike="noStrike"/>
                    </a:p>
                  </a:txBody>
                  <a:tcPr marT="35225" marB="35225" marR="70475" marL="70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695B9A"/>
                    </a:solidFill>
                  </a:tcPr>
                </a:tc>
              </a:tr>
              <a:tr h="483075">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Pencils</a:t>
                      </a:r>
                      <a:endParaRPr sz="2200" u="none" cap="none" strike="noStrike">
                        <a:latin typeface="Arial"/>
                        <a:ea typeface="Arial"/>
                        <a:cs typeface="Arial"/>
                        <a:sym typeface="Arial"/>
                      </a:endParaRPr>
                    </a:p>
                  </a:txBody>
                  <a:tcPr marT="35225" marB="35225" marR="70475" marL="70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48</a:t>
                      </a:r>
                      <a:endParaRPr sz="2200" u="none" cap="none" strike="noStrike">
                        <a:latin typeface="Arial"/>
                        <a:ea typeface="Arial"/>
                        <a:cs typeface="Arial"/>
                        <a:sym typeface="Arial"/>
                      </a:endParaRPr>
                    </a:p>
                  </a:txBody>
                  <a:tcPr marT="35225" marB="35225" marR="70475" marL="70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2, 24</a:t>
                      </a:r>
                      <a:endParaRPr sz="1400" u="none" cap="none" strike="noStrike"/>
                    </a:p>
                  </a:txBody>
                  <a:tcPr marT="35225" marB="35225" marR="70475" marL="70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r h="279400">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Notebooks</a:t>
                      </a:r>
                      <a:endParaRPr sz="2200" u="none" cap="none" strike="noStrike">
                        <a:latin typeface="Arial"/>
                        <a:ea typeface="Arial"/>
                        <a:cs typeface="Arial"/>
                        <a:sym typeface="Arial"/>
                      </a:endParaRPr>
                    </a:p>
                  </a:txBody>
                  <a:tcPr marT="35225" marB="35225" marR="70475" marL="70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36</a:t>
                      </a:r>
                      <a:endParaRPr sz="2200" u="none" cap="none" strike="noStrike">
                        <a:latin typeface="Arial"/>
                        <a:ea typeface="Arial"/>
                        <a:cs typeface="Arial"/>
                        <a:sym typeface="Arial"/>
                      </a:endParaRPr>
                    </a:p>
                  </a:txBody>
                  <a:tcPr marT="35225" marB="35225" marR="70475" marL="70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200"/>
                        <a:buFont typeface="Arial"/>
                        <a:buNone/>
                      </a:pPr>
                      <a:r>
                        <a:rPr lang="en-US" sz="2200" u="none" cap="none" strike="noStrike">
                          <a:latin typeface="Arial"/>
                          <a:ea typeface="Arial"/>
                          <a:cs typeface="Arial"/>
                          <a:sym typeface="Arial"/>
                        </a:rPr>
                        <a:t>2, 18</a:t>
                      </a:r>
                      <a:endParaRPr sz="1400" u="none" cap="none" strike="noStrike"/>
                    </a:p>
                  </a:txBody>
                  <a:tcPr marT="35225" marB="35225" marR="70475" marL="70475" anchor="ctr">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tcPr>
                </a:tc>
              </a:tr>
            </a:tbl>
          </a:graphicData>
        </a:graphic>
      </p:graphicFrame>
      <p:sp>
        <p:nvSpPr>
          <p:cNvPr id="6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18 / 51</a:t>
            </a:r>
          </a:p>
        </p:txBody>
      </p:sp>
      <p:sp>
        <p:nvSpPr>
          <p:cNvPr id="637" name="EWL-COVER-1"/>
          <p:cNvSpPr/>
          <p:nvPr/>
        </p:nvSpPr>
        <p:spPr>
          <a:xfrm>
            <a:off x="450716" y="4750134"/>
            <a:ext cx="11689756" cy="1659768"/>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9" name="Shape 749"/>
        <p:cNvGrpSpPr/>
        <p:nvPr/>
      </p:nvGrpSpPr>
      <p:grpSpPr>
        <a:xfrm>
          <a:off x="0" y="0"/>
          <a:ext cx="0" cy="0"/>
          <a:chOff x="0" y="0"/>
          <a:chExt cx="0" cy="0"/>
        </a:xfrm>
      </p:grpSpPr>
      <p:cxnSp>
        <p:nvCxnSpPr>
          <p:cNvPr id="750" name="Google Shape;750;p7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51" name="Google Shape;751;p74"/>
          <p:cNvSpPr txBox="1"/>
          <p:nvPr/>
        </p:nvSpPr>
        <p:spPr>
          <a:xfrm>
            <a:off x="505579" y="4789975"/>
            <a:ext cx="9253883" cy="149579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For each non-prime factor, we can repeat the process of finding a factor pair that includes a prime number.</a:t>
            </a:r>
            <a:endParaRPr b="0" i="0" sz="1400" u="none" cap="none" strike="noStrike">
              <a:solidFill>
                <a:srgbClr val="000000"/>
              </a:solidFill>
              <a:latin typeface="Arial"/>
              <a:ea typeface="Arial"/>
              <a:cs typeface="Arial"/>
              <a:sym typeface="Arial"/>
            </a:endParaRPr>
          </a:p>
        </p:txBody>
      </p:sp>
      <p:sp>
        <p:nvSpPr>
          <p:cNvPr id="752" name="Google Shape;752;p74"/>
          <p:cNvSpPr txBox="1"/>
          <p:nvPr/>
        </p:nvSpPr>
        <p:spPr>
          <a:xfrm>
            <a:off x="486000" y="936000"/>
            <a:ext cx="7989492" cy="402429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To find a prime factor, we can find a factor pair that includes a prime number.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Not all the factors are prime. How might you find another prime factor of each number?</a:t>
            </a:r>
            <a:endParaRPr b="0" i="0" sz="1400" u="none" cap="none" strike="noStrike">
              <a:solidFill>
                <a:srgbClr val="000000"/>
              </a:solidFill>
              <a:latin typeface="Arial"/>
              <a:ea typeface="Arial"/>
              <a:cs typeface="Arial"/>
              <a:sym typeface="Arial"/>
            </a:endParaRPr>
          </a:p>
        </p:txBody>
      </p:sp>
      <p:sp>
        <p:nvSpPr>
          <p:cNvPr id="753" name="Google Shape;753;p74"/>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School Store</a:t>
            </a:r>
            <a:endParaRPr b="0" i="0" sz="1400" u="none" cap="none" strike="noStrike">
              <a:solidFill>
                <a:srgbClr val="000000"/>
              </a:solidFill>
              <a:latin typeface="Arial"/>
              <a:ea typeface="Arial"/>
              <a:cs typeface="Arial"/>
              <a:sym typeface="Arial"/>
            </a:endParaRPr>
          </a:p>
        </p:txBody>
      </p:sp>
      <p:pic>
        <p:nvPicPr>
          <p:cNvPr id="754" name="Google Shape;754;p74"/>
          <p:cNvPicPr preferRelativeResize="0"/>
          <p:nvPr/>
        </p:nvPicPr>
        <p:blipFill rotWithShape="1">
          <a:blip r:embed="rId3">
            <a:alphaModFix/>
          </a:blip>
          <a:srcRect b="0" l="0" r="0" t="0"/>
          <a:stretch/>
        </p:blipFill>
        <p:spPr>
          <a:xfrm>
            <a:off x="8475492" y="1768175"/>
            <a:ext cx="3488333" cy="2520000"/>
          </a:xfrm>
          <a:prstGeom prst="rect">
            <a:avLst/>
          </a:prstGeom>
          <a:noFill/>
          <a:ln>
            <a:noFill/>
          </a:ln>
        </p:spPr>
      </p:pic>
      <p:sp>
        <p:nvSpPr>
          <p:cNvPr id="75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20 / 51</a:t>
            </a:r>
          </a:p>
        </p:txBody>
      </p:sp>
      <p:sp>
        <p:nvSpPr>
          <p:cNvPr id="756" name="EWL-COVER-1"/>
          <p:cNvSpPr/>
          <p:nvPr/>
        </p:nvSpPr>
        <p:spPr>
          <a:xfrm>
            <a:off x="450715" y="4735111"/>
            <a:ext cx="9363611" cy="1605520"/>
          </a:xfrm>
          <a:prstGeom prst="rect">
            <a:avLst/>
          </a:prstGeom>
          <a:solidFill>
            <a:srgbClr val="FFFFFF"/>
          </a:solidFill>
          <a:ln>
            <a:noFill/>
          </a:ln>
        </p:spPr>
        <p:txBody>
          <a:bodyPr/>
          <a:lstStyle/>
          <a:p/>
        </p:txBody>
      </p:sp>
      <p:grpSp>
        <p:nvGrpSpPr>
          <p:cNvPr id="757" name="TEACH-6-student-move" descr="TEACH 6 · Organize and implement routines to support a learning-focused classroom"/>
          <p:cNvGrpSpPr/>
          <p:nvPr/>
        </p:nvGrpSpPr>
        <p:grpSpPr>
          <a:xfrm>
            <a:off x="502920" y="4351063"/>
            <a:ext cx="11186160" cy="402336"/>
            <a:chOff x="502920" y="4351063"/>
            <a:chExt cx="11186160" cy="402336"/>
          </a:xfrm>
        </p:grpSpPr>
        <p:sp>
          <p:nvSpPr>
            <p:cNvPr id="758" name="TEACH-move-card"/>
            <p:cNvSpPr/>
            <p:nvPr/>
          </p:nvSpPr>
          <p:spPr>
            <a:xfrm>
              <a:off x="502920" y="4351063"/>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759" name="TEACH-move-rule"/>
            <p:cNvSpPr/>
            <p:nvPr/>
          </p:nvSpPr>
          <p:spPr>
            <a:xfrm>
              <a:off x="548640" y="4427507"/>
              <a:ext cx="100584" cy="249448"/>
            </a:xfrm>
            <a:prstGeom prst="roundRect">
              <a:avLst>
                <a:gd name="adj" fmla="val 50000"/>
              </a:avLst>
            </a:prstGeom>
            <a:solidFill>
              <a:srgbClr val="01708C"/>
            </a:solidFill>
            <a:ln>
              <a:noFill/>
            </a:ln>
          </p:spPr>
          <p:txBody>
            <a:bodyPr/>
            <a:lstStyle/>
            <a:p>
              <a:endParaRPr/>
            </a:p>
          </p:txBody>
        </p:sp>
        <p:sp>
          <p:nvSpPr>
            <p:cNvPr id="760" name="TEACH-move-text"/>
            <p:cNvSpPr txBox="1"/>
            <p:nvPr/>
          </p:nvSpPr>
          <p:spPr>
            <a:xfrm>
              <a:off x="822960" y="4351063"/>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5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5" name="Shape 785"/>
        <p:cNvGrpSpPr/>
        <p:nvPr/>
      </p:nvGrpSpPr>
      <p:grpSpPr>
        <a:xfrm>
          <a:off x="0" y="0"/>
          <a:ext cx="0" cy="0"/>
          <a:chOff x="0" y="0"/>
          <a:chExt cx="0" cy="0"/>
        </a:xfrm>
      </p:grpSpPr>
      <p:cxnSp>
        <p:nvCxnSpPr>
          <p:cNvPr id="786" name="Google Shape;786;p7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787" name="Google Shape;787;p78"/>
          <p:cNvPicPr preferRelativeResize="0"/>
          <p:nvPr/>
        </p:nvPicPr>
        <p:blipFill rotWithShape="1">
          <a:blip r:embed="rId3">
            <a:alphaModFix/>
          </a:blip>
          <a:srcRect b="0" l="0" r="0" t="0"/>
          <a:stretch/>
        </p:blipFill>
        <p:spPr>
          <a:xfrm>
            <a:off x="7387631" y="2007000"/>
            <a:ext cx="4384500" cy="2844000"/>
          </a:xfrm>
          <a:prstGeom prst="rect">
            <a:avLst/>
          </a:prstGeom>
          <a:noFill/>
          <a:ln>
            <a:noFill/>
          </a:ln>
        </p:spPr>
      </p:pic>
      <p:sp>
        <p:nvSpPr>
          <p:cNvPr id="788" name="Google Shape;788;p78"/>
          <p:cNvSpPr txBox="1"/>
          <p:nvPr/>
        </p:nvSpPr>
        <p:spPr>
          <a:xfrm>
            <a:off x="2293283" y="2163794"/>
            <a:ext cx="6818246" cy="1036904"/>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789" name="Google Shape;789;p78"/>
          <p:cNvSpPr txBox="1"/>
          <p:nvPr/>
        </p:nvSpPr>
        <p:spPr>
          <a:xfrm>
            <a:off x="484565" y="5295768"/>
            <a:ext cx="8885001" cy="10752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product of the prime factors is the original number.</a:t>
            </a:r>
            <a:endParaRPr b="0" i="0" sz="1400" u="none" cap="none" strike="noStrike">
              <a:solidFill>
                <a:srgbClr val="000000"/>
              </a:solidFill>
              <a:latin typeface="Arial"/>
              <a:ea typeface="Arial"/>
              <a:cs typeface="Arial"/>
              <a:sym typeface="Arial"/>
            </a:endParaRPr>
          </a:p>
        </p:txBody>
      </p:sp>
      <p:sp>
        <p:nvSpPr>
          <p:cNvPr id="790" name="Google Shape;790;p78"/>
          <p:cNvSpPr txBox="1"/>
          <p:nvPr/>
        </p:nvSpPr>
        <p:spPr>
          <a:xfrm>
            <a:off x="484565" y="936000"/>
            <a:ext cx="7141186" cy="25791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repeat the process of finding factor pairs that include prime numbers.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factor tree is complete when all the factors are prime.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791" name="Google Shape;791;p78"/>
          <p:cNvSpPr txBox="1"/>
          <p:nvPr/>
        </p:nvSpPr>
        <p:spPr>
          <a:xfrm>
            <a:off x="484565" y="4161989"/>
            <a:ext cx="6393868" cy="9565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do the prime factors relate to the original numbers?</a:t>
            </a:r>
            <a:endParaRPr b="0" i="0" sz="1400" u="none" cap="none" strike="noStrike">
              <a:solidFill>
                <a:srgbClr val="000000"/>
              </a:solidFill>
              <a:latin typeface="Arial"/>
              <a:ea typeface="Arial"/>
              <a:cs typeface="Arial"/>
              <a:sym typeface="Arial"/>
            </a:endParaRPr>
          </a:p>
        </p:txBody>
      </p:sp>
      <p:sp>
        <p:nvSpPr>
          <p:cNvPr id="792" name="Google Shape;792;p78"/>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School Store</a:t>
            </a:r>
            <a:endParaRPr b="0" i="0" sz="1400" u="none" cap="none" strike="noStrike">
              <a:solidFill>
                <a:srgbClr val="000000"/>
              </a:solidFill>
              <a:latin typeface="Arial"/>
              <a:ea typeface="Arial"/>
              <a:cs typeface="Arial"/>
              <a:sym typeface="Arial"/>
            </a:endParaRPr>
          </a:p>
        </p:txBody>
      </p:sp>
      <p:sp>
        <p:nvSpPr>
          <p:cNvPr id="79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21 / 51</a:t>
            </a:r>
          </a:p>
        </p:txBody>
      </p:sp>
      <p:sp>
        <p:nvSpPr>
          <p:cNvPr id="794" name="EWL-COVER-1"/>
          <p:cNvSpPr/>
          <p:nvPr/>
        </p:nvSpPr>
        <p:spPr>
          <a:xfrm>
            <a:off x="429701" y="5240904"/>
            <a:ext cx="8994729" cy="1184995"/>
          </a:xfrm>
          <a:prstGeom prst="rect">
            <a:avLst/>
          </a:prstGeom>
          <a:solidFill>
            <a:srgbClr val="FFFFFF"/>
          </a:solidFill>
          <a:ln>
            <a:noFill/>
          </a:ln>
        </p:spPr>
        <p:txBody>
          <a:bodyPr/>
          <a:lstStyle/>
          <a:p/>
        </p:txBody>
      </p:sp>
      <p:grpSp>
        <p:nvGrpSpPr>
          <p:cNvPr id="795" name="TEACH-4-student-move" descr="TEACH 4 · Monitor progress and provide feedback"/>
          <p:cNvGrpSpPr/>
          <p:nvPr/>
        </p:nvGrpSpPr>
        <p:grpSpPr>
          <a:xfrm>
            <a:off x="502920" y="3723077"/>
            <a:ext cx="5501640" cy="402336"/>
            <a:chOff x="502920" y="3723077"/>
            <a:chExt cx="5501640" cy="402336"/>
          </a:xfrm>
        </p:grpSpPr>
        <p:sp>
          <p:nvSpPr>
            <p:cNvPr id="796" name="TEACH-move-card"/>
            <p:cNvSpPr/>
            <p:nvPr/>
          </p:nvSpPr>
          <p:spPr>
            <a:xfrm>
              <a:off x="502920" y="3723077"/>
              <a:ext cx="5501640" cy="402336"/>
            </a:xfrm>
            <a:prstGeom prst="roundRect">
              <a:avLst>
                <a:gd name="adj" fmla="val 16000"/>
              </a:avLst>
            </a:prstGeom>
            <a:solidFill>
              <a:srgbClr val="E4F0F5"/>
            </a:solidFill>
            <a:ln w="19050">
              <a:solidFill>
                <a:srgbClr val="8CB8C7"/>
              </a:solidFill>
            </a:ln>
          </p:spPr>
          <p:txBody>
            <a:bodyPr/>
            <a:lstStyle/>
            <a:p>
              <a:endParaRPr/>
            </a:p>
          </p:txBody>
        </p:sp>
        <p:sp>
          <p:nvSpPr>
            <p:cNvPr id="797" name="TEACH-move-rule"/>
            <p:cNvSpPr/>
            <p:nvPr/>
          </p:nvSpPr>
          <p:spPr>
            <a:xfrm>
              <a:off x="548640" y="3799521"/>
              <a:ext cx="100584" cy="249448"/>
            </a:xfrm>
            <a:prstGeom prst="roundRect">
              <a:avLst>
                <a:gd name="adj" fmla="val 50000"/>
              </a:avLst>
            </a:prstGeom>
            <a:solidFill>
              <a:srgbClr val="01708C"/>
            </a:solidFill>
            <a:ln>
              <a:noFill/>
            </a:ln>
          </p:spPr>
          <p:txBody>
            <a:bodyPr/>
            <a:lstStyle/>
            <a:p>
              <a:endParaRPr/>
            </a:p>
          </p:txBody>
        </p:sp>
        <p:sp>
          <p:nvSpPr>
            <p:cNvPr id="798" name="TEACH-move-text"/>
            <p:cNvSpPr txBox="1"/>
            <p:nvPr/>
          </p:nvSpPr>
          <p:spPr>
            <a:xfrm>
              <a:off x="822960" y="3723077"/>
              <a:ext cx="504444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79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5" name="Shape 805"/>
        <p:cNvGrpSpPr/>
        <p:nvPr/>
      </p:nvGrpSpPr>
      <p:grpSpPr>
        <a:xfrm>
          <a:off x="0" y="0"/>
          <a:ext cx="0" cy="0"/>
          <a:chOff x="0" y="0"/>
          <a:chExt cx="0" cy="0"/>
        </a:xfrm>
      </p:grpSpPr>
      <p:cxnSp>
        <p:nvCxnSpPr>
          <p:cNvPr id="806" name="Google Shape;806;p8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07" name="Google Shape;807;p80"/>
          <p:cNvSpPr txBox="1"/>
          <p:nvPr/>
        </p:nvSpPr>
        <p:spPr>
          <a:xfrm>
            <a:off x="505579" y="5264525"/>
            <a:ext cx="6860992" cy="104589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The numbers share some prime factors.</a:t>
            </a:r>
            <a:endParaRPr b="0" i="0" sz="1400" u="none" cap="none" strike="noStrike">
              <a:solidFill>
                <a:srgbClr val="000000"/>
              </a:solidFill>
              <a:latin typeface="Arial"/>
              <a:ea typeface="Arial"/>
              <a:cs typeface="Arial"/>
              <a:sym typeface="Arial"/>
            </a:endParaRPr>
          </a:p>
        </p:txBody>
      </p:sp>
      <p:pic>
        <p:nvPicPr>
          <p:cNvPr id="808" name="Google Shape;808;p80"/>
          <p:cNvPicPr preferRelativeResize="0"/>
          <p:nvPr/>
        </p:nvPicPr>
        <p:blipFill rotWithShape="1">
          <a:blip r:embed="rId3">
            <a:alphaModFix/>
          </a:blip>
          <a:srcRect b="0" l="0" r="0" t="0"/>
          <a:stretch/>
        </p:blipFill>
        <p:spPr>
          <a:xfrm>
            <a:off x="6695539" y="2007000"/>
            <a:ext cx="5153115" cy="2844000"/>
          </a:xfrm>
          <a:prstGeom prst="rect">
            <a:avLst/>
          </a:prstGeom>
          <a:noFill/>
          <a:ln>
            <a:noFill/>
          </a:ln>
        </p:spPr>
      </p:pic>
      <p:sp>
        <p:nvSpPr>
          <p:cNvPr id="809" name="Google Shape;809;p80"/>
          <p:cNvSpPr txBox="1"/>
          <p:nvPr/>
        </p:nvSpPr>
        <p:spPr>
          <a:xfrm>
            <a:off x="484565" y="1050446"/>
            <a:ext cx="6602587" cy="9565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do the prime factors of the two quantities compare?</a:t>
            </a:r>
            <a:endParaRPr b="0" i="0" sz="1400" u="none" cap="none" strike="noStrike">
              <a:solidFill>
                <a:srgbClr val="000000"/>
              </a:solidFill>
              <a:latin typeface="Arial"/>
              <a:ea typeface="Arial"/>
              <a:cs typeface="Arial"/>
              <a:sym typeface="Arial"/>
            </a:endParaRPr>
          </a:p>
        </p:txBody>
      </p:sp>
      <p:sp>
        <p:nvSpPr>
          <p:cNvPr id="810" name="Google Shape;810;p80"/>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School Store</a:t>
            </a:r>
            <a:endParaRPr b="0" i="0" sz="1400" u="none" cap="none" strike="noStrike">
              <a:solidFill>
                <a:srgbClr val="000000"/>
              </a:solidFill>
              <a:latin typeface="Arial"/>
              <a:ea typeface="Arial"/>
              <a:cs typeface="Arial"/>
              <a:sym typeface="Arial"/>
            </a:endParaRPr>
          </a:p>
        </p:txBody>
      </p:sp>
      <p:sp>
        <p:nvSpPr>
          <p:cNvPr id="81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22 / 51</a:t>
            </a:r>
          </a:p>
        </p:txBody>
      </p:sp>
      <p:sp>
        <p:nvSpPr>
          <p:cNvPr id="812" name="EWL-COVER-1"/>
          <p:cNvSpPr/>
          <p:nvPr/>
        </p:nvSpPr>
        <p:spPr>
          <a:xfrm>
            <a:off x="450715" y="5209661"/>
            <a:ext cx="6970720" cy="1155626"/>
          </a:xfrm>
          <a:prstGeom prst="rect">
            <a:avLst/>
          </a:prstGeom>
          <a:solidFill>
            <a:srgbClr val="FFFFFF"/>
          </a:solidFill>
          <a:ln>
            <a:noFill/>
          </a:ln>
        </p:spPr>
        <p:txBody>
          <a:bodyPr/>
          <a:lstStyle/>
          <a:p/>
        </p:txBody>
      </p:sp>
      <p:sp xmlns:p="http://schemas.openxmlformats.org/presentationml/2006/main" xmlns:a="http://schemas.openxmlformats.org/drawingml/2006/main">
        <p:nvSpPr>
          <p:cNvPr id="813" name="TEACH-embedded-student-prompt" descr="Student thinking and response directions"/>
          <p:cNvSpPr txBox="1"/>
          <p:nvPr/>
        </p:nvSpPr>
        <p:spPr>
          <a:xfrm>
            <a:off x="594360" y="43159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a:t>
            </a:r>
            <a:endParaRPr lang="en-US" sz="2000"/>
          </a:p>
          <a:p>
            <a:pPr>
              <a:lnSpc>
                <a:spcPts val="2400"/>
              </a:lnSpc>
              <a:buNone/>
            </a:pPr>
            <a:r>
              <a:rPr lang="en-US" sz="2000">
                <a:solidFill>
                  <a:srgbClr val="174D60"/>
                </a:solidFill>
                <a:latin typeface="Arial"/>
              </a:rPr>
              <a:t>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1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8" name="Shape 848"/>
        <p:cNvGrpSpPr/>
        <p:nvPr/>
      </p:nvGrpSpPr>
      <p:grpSpPr>
        <a:xfrm>
          <a:off x="0" y="0"/>
          <a:ext cx="0" cy="0"/>
          <a:chOff x="0" y="0"/>
          <a:chExt cx="0" cy="0"/>
        </a:xfrm>
      </p:grpSpPr>
      <p:cxnSp>
        <p:nvCxnSpPr>
          <p:cNvPr id="849" name="Google Shape;849;p8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50" name="Google Shape;850;p84"/>
          <p:cNvSpPr txBox="1"/>
          <p:nvPr/>
        </p:nvSpPr>
        <p:spPr>
          <a:xfrm>
            <a:off x="484565" y="936101"/>
            <a:ext cx="7589760" cy="18157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school store manager plans to sell a combo pack as a back-to-school item. Each combo pack will have an equal number of pencils and an equal number of notebooks.</a:t>
            </a:r>
            <a:endParaRPr b="0" i="0" sz="1400" u="none" cap="none" strike="noStrike">
              <a:solidFill>
                <a:srgbClr val="000000"/>
              </a:solidFill>
              <a:latin typeface="Arial"/>
              <a:ea typeface="Arial"/>
              <a:cs typeface="Arial"/>
              <a:sym typeface="Arial"/>
            </a:endParaRPr>
          </a:p>
        </p:txBody>
      </p:sp>
      <p:sp>
        <p:nvSpPr>
          <p:cNvPr id="851" name="Google Shape;851;p84"/>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School Store</a:t>
            </a:r>
            <a:endParaRPr b="0" i="0" sz="1400" u="none" cap="none" strike="noStrike">
              <a:solidFill>
                <a:srgbClr val="000000"/>
              </a:solidFill>
              <a:latin typeface="Arial"/>
              <a:ea typeface="Arial"/>
              <a:cs typeface="Arial"/>
              <a:sym typeface="Arial"/>
            </a:endParaRPr>
          </a:p>
        </p:txBody>
      </p:sp>
      <p:pic>
        <p:nvPicPr>
          <p:cNvPr id="852" name="Google Shape;852;p84"/>
          <p:cNvPicPr preferRelativeResize="0"/>
          <p:nvPr/>
        </p:nvPicPr>
        <p:blipFill rotWithShape="1">
          <a:blip r:embed="rId3">
            <a:alphaModFix/>
          </a:blip>
          <a:srcRect b="0" l="0" r="0" t="0"/>
          <a:stretch/>
        </p:blipFill>
        <p:spPr>
          <a:xfrm>
            <a:off x="4028460" y="1943143"/>
            <a:ext cx="7143750" cy="2857500"/>
          </a:xfrm>
          <a:prstGeom prst="rect">
            <a:avLst/>
          </a:prstGeom>
          <a:noFill/>
          <a:ln>
            <a:noFill/>
          </a:ln>
        </p:spPr>
      </p:pic>
      <p:sp>
        <p:nvSpPr>
          <p:cNvPr id="853" name="Google Shape;853;p84"/>
          <p:cNvSpPr txBox="1"/>
          <p:nvPr/>
        </p:nvSpPr>
        <p:spPr>
          <a:xfrm>
            <a:off x="484566" y="2819907"/>
            <a:ext cx="3732328" cy="26309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is the greatest number of combo packs that he can make using all the pencils and notebooks?</a:t>
            </a:r>
            <a:endParaRPr b="1" i="0" sz="2200" u="none" cap="none" strike="noStrike">
              <a:solidFill>
                <a:srgbClr val="262626"/>
              </a:solidFill>
              <a:latin typeface="Arial"/>
              <a:ea typeface="Arial"/>
              <a:cs typeface="Arial"/>
              <a:sym typeface="Arial"/>
            </a:endParaRPr>
          </a:p>
        </p:txBody>
      </p:sp>
      <p:sp>
        <p:nvSpPr>
          <p:cNvPr id="854" name="Google Shape;854;p84"/>
          <p:cNvSpPr txBox="1"/>
          <p:nvPr/>
        </p:nvSpPr>
        <p:spPr>
          <a:xfrm>
            <a:off x="3773279" y="5133563"/>
            <a:ext cx="7127254" cy="954107"/>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The manager can make 12 combo packs from the stock of pencils and notebooks.</a:t>
            </a:r>
            <a:endParaRPr b="0" i="0" sz="1400" u="none" cap="none" strike="noStrike">
              <a:solidFill>
                <a:srgbClr val="000000"/>
              </a:solidFill>
              <a:latin typeface="Arial"/>
              <a:ea typeface="Arial"/>
              <a:cs typeface="Arial"/>
              <a:sym typeface="Arial"/>
            </a:endParaRPr>
          </a:p>
        </p:txBody>
      </p:sp>
      <p:sp>
        <p:nvSpPr>
          <p:cNvPr id="85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23 / 51</a:t>
            </a: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8" name="Shape 858"/>
        <p:cNvGrpSpPr/>
        <p:nvPr/>
      </p:nvGrpSpPr>
      <p:grpSpPr>
        <a:xfrm>
          <a:off x="0" y="0"/>
          <a:ext cx="0" cy="0"/>
          <a:chOff x="0" y="0"/>
          <a:chExt cx="0" cy="0"/>
        </a:xfrm>
      </p:grpSpPr>
      <p:sp>
        <p:nvSpPr>
          <p:cNvPr id="859" name="Google Shape;859;p85"/>
          <p:cNvSpPr txBox="1"/>
          <p:nvPr/>
        </p:nvSpPr>
        <p:spPr>
          <a:xfrm>
            <a:off x="484564" y="927528"/>
            <a:ext cx="8227921" cy="962917"/>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a:defRPr/>
            </a:pPr>
            <a:r>
              <a:rPr b="0" i="0" lang="en-US" sz="2800" u="none" cap="none" strike="noStrike">
                <a:solidFill>
                  <a:srgbClr val="23282D"/>
                </a:solidFill>
                <a:latin typeface="Arial"/>
                <a:ea typeface="Arial"/>
                <a:cs typeface="Arial"/>
                <a:sym typeface="Arial"/>
              </a:rPr>
              <a:t>How many pencils and how many notebooks will be in each of the 12 combo packs? Explain.</a:t>
            </a:r>
            <a:endParaRPr b="0" i="0" sz="1400" u="none" cap="none" strike="noStrike">
              <a:solidFill>
                <a:srgbClr val="000000"/>
              </a:solidFill>
              <a:latin typeface="Arial"/>
              <a:ea typeface="Arial"/>
              <a:cs typeface="Arial"/>
              <a:sym typeface="Arial"/>
            </a:endParaRPr>
          </a:p>
        </p:txBody>
      </p:sp>
      <p:sp>
        <p:nvSpPr>
          <p:cNvPr id="860" name="Google Shape;860;p85"/>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861" name="Google Shape;861;p85"/>
          <p:cNvSpPr txBox="1"/>
          <p:nvPr/>
        </p:nvSpPr>
        <p:spPr>
          <a:xfrm>
            <a:off x="484564" y="4477432"/>
            <a:ext cx="8703680" cy="145304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defRPr/>
            </a:pPr>
            <a:r>
              <a:rPr b="0" i="0" lang="en-US" sz="2800" u="none" cap="none" strike="noStrike">
                <a:solidFill>
                  <a:srgbClr val="23282D"/>
                </a:solidFill>
                <a:latin typeface="Arial"/>
                <a:ea typeface="Arial"/>
                <a:cs typeface="Arial"/>
                <a:sym typeface="Arial"/>
              </a:rPr>
              <a:t>The school store manager is considering adding pens to the combo pack. How many combo packs could she make with the current stock of pencils, pens, and notebooks?</a:t>
            </a:r>
            <a:endParaRPr b="0" i="0" sz="1400" u="none" cap="none" strike="noStrike">
              <a:solidFill>
                <a:srgbClr val="000000"/>
              </a:solidFill>
              <a:latin typeface="Arial"/>
              <a:ea typeface="Arial"/>
              <a:cs typeface="Arial"/>
              <a:sym typeface="Arial"/>
            </a:endParaRPr>
          </a:p>
        </p:txBody>
      </p:sp>
      <p:pic>
        <p:nvPicPr>
          <p:cNvPr id="862" name="Google Shape;862;p85"/>
          <p:cNvPicPr preferRelativeResize="0"/>
          <p:nvPr/>
        </p:nvPicPr>
        <p:blipFill rotWithShape="1">
          <a:blip r:embed="rId3">
            <a:alphaModFix/>
          </a:blip>
          <a:srcRect b="0" l="0" r="0" t="0"/>
          <a:stretch/>
        </p:blipFill>
        <p:spPr>
          <a:xfrm>
            <a:off x="4598524" y="1408986"/>
            <a:ext cx="7143750" cy="2857500"/>
          </a:xfrm>
          <a:prstGeom prst="rect">
            <a:avLst/>
          </a:prstGeom>
          <a:noFill/>
          <a:ln>
            <a:noFill/>
          </a:ln>
        </p:spPr>
      </p:pic>
      <p:sp>
        <p:nvSpPr>
          <p:cNvPr id="86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25 / 51</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6.7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Does this problem ask for equal groups or a shared repeat, and why does that call for a factor or multiple?</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670" name="Google Shape;670;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71" name="Google Shape;671;p65"/>
          <p:cNvSpPr txBox="1"/>
          <p:nvPr/>
        </p:nvSpPr>
        <p:spPr>
          <a:xfrm>
            <a:off x="484565" y="316034"/>
            <a:ext cx="5382835"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    Collaborate and Connect</a:t>
            </a:r>
            <a:endParaRPr b="0" i="0" sz="1400" u="none" cap="none" strike="noStrike">
              <a:solidFill>
                <a:srgbClr val="000000"/>
              </a:solidFill>
              <a:latin typeface="Arial"/>
              <a:ea typeface="Arial"/>
              <a:cs typeface="Arial"/>
              <a:sym typeface="Arial"/>
            </a:endParaRPr>
          </a:p>
        </p:txBody>
      </p:sp>
      <p:pic>
        <p:nvPicPr>
          <p:cNvPr id="672" name="Google Shape;672;p65"/>
          <p:cNvPicPr preferRelativeResize="0"/>
          <p:nvPr/>
        </p:nvPicPr>
        <p:blipFill rotWithShape="1">
          <a:blip r:embed="rId2">
            <a:alphaModFix/>
          </a:blip>
          <a:srcRect b="0" l="0" r="0" t="0"/>
          <a:stretch/>
        </p:blipFill>
        <p:spPr>
          <a:xfrm>
            <a:off x="558276" y="386230"/>
            <a:ext cx="353635" cy="340537"/>
          </a:xfrm>
          <a:prstGeom prst="rect">
            <a:avLst/>
          </a:prstGeom>
          <a:noFill/>
          <a:ln>
            <a:noFill/>
          </a:ln>
        </p:spPr>
      </p:pic>
      <p:sp>
        <p:nvSpPr>
          <p:cNvPr id="673" name="Google Shape;673;p65"/>
          <p:cNvSpPr txBox="1"/>
          <p:nvPr/>
        </p:nvSpPr>
        <p:spPr>
          <a:xfrm>
            <a:off x="486000" y="936000"/>
            <a:ext cx="9255972" cy="26300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Let’s look for factors that the quantities of pencils and notebooks have in common.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List the factors for each quantity. Which factors do the quantities have in common?</a:t>
            </a:r>
            <a:endParaRPr b="0" i="0" sz="1400" u="none" cap="none" strike="noStrike">
              <a:solidFill>
                <a:srgbClr val="000000"/>
              </a:solidFill>
              <a:latin typeface="Arial"/>
              <a:ea typeface="Arial"/>
              <a:cs typeface="Arial"/>
              <a:sym typeface="Arial"/>
            </a:endParaRPr>
          </a:p>
        </p:txBody>
      </p:sp>
      <p:sp>
        <p:nvSpPr>
          <p:cNvPr id="674" name="Google Shape;674;p65"/>
          <p:cNvSpPr txBox="1"/>
          <p:nvPr/>
        </p:nvSpPr>
        <p:spPr>
          <a:xfrm>
            <a:off x="486000" y="4730639"/>
            <a:ext cx="8948738" cy="15463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The common factors are 1, 2, 3, 4, 6, and 12. The store manager should make 12 combo packs.</a:t>
            </a:r>
            <a:endParaRPr b="0" i="0" sz="1400" u="none" cap="none" strike="noStrike">
              <a:solidFill>
                <a:srgbClr val="000000"/>
              </a:solidFill>
              <a:latin typeface="Arial"/>
              <a:ea typeface="Arial"/>
              <a:cs typeface="Arial"/>
              <a:sym typeface="Arial"/>
            </a:endParaRPr>
          </a:p>
        </p:txBody>
      </p:sp>
      <p:graphicFrame>
        <p:nvGraphicFramePr>
          <p:cNvPr id="675" name="Google Shape;675;p65"/>
          <p:cNvGraphicFramePr/>
          <p:nvPr/>
        </p:nvGraphicFramePr>
        <p:xfrm>
          <a:off x="6376371" y="3142361"/>
          <a:ext cx="3000000" cy="3000000"/>
        </p:xfrm>
        <a:graphic>
          <a:graphicData uri="http://schemas.openxmlformats.org/drawingml/2006/table">
            <a:tbl>
              <a:tblPr bandRow="1" firstRow="1">
                <a:noFill/>
                <a:tableStyleId>{79F5BE10-BA3D-462B-B59C-4841F3A0418A}</a:tableStyleId>
              </a:tblPr>
              <a:tblGrid>
                <a:gridCol w="1725925"/>
                <a:gridCol w="1502100"/>
                <a:gridCol w="2262025"/>
              </a:tblGrid>
              <a:tr h="606175">
                <a:tc>
                  <a:txBody>
                    <a:bodyPr/>
                    <a:lstStyle/>
                    <a:p>
                      <a:pPr indent="0" lvl="0" marL="0" marR="0" rtl="0" algn="l">
                        <a:lnSpc>
                          <a:spcPct val="100000"/>
                        </a:lnSpc>
                        <a:spcBef>
                          <a:spcPts val="0"/>
                        </a:spcBef>
                        <a:spcAft>
                          <a:spcPts val="0"/>
                        </a:spcAft>
                        <a:buClr>
                          <a:schemeClr val="lt1"/>
                        </a:buClr>
                        <a:buSzPts val="2400"/>
                        <a:buFont typeface="Arial"/>
                        <a:buNone/>
                      </a:pPr>
                      <a:r>
                        <a:rPr b="1" lang="en-US" sz="2400" u="none" cap="none" strike="noStrike">
                          <a:solidFill>
                            <a:schemeClr val="lt1"/>
                          </a:solidFill>
                          <a:latin typeface="Arial"/>
                          <a:ea typeface="Arial"/>
                          <a:cs typeface="Arial"/>
                          <a:sym typeface="Arial"/>
                        </a:rPr>
                        <a:t>Item</a:t>
                      </a:r>
                      <a:endParaRPr b="1" sz="2400" u="none" cap="none" strike="noStrike">
                        <a:solidFill>
                          <a:srgbClr val="7030A0"/>
                        </a:solidFill>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chemeClr val="lt1"/>
                        </a:buClr>
                        <a:buSzPts val="2400"/>
                        <a:buFont typeface="Arial"/>
                        <a:buNone/>
                      </a:pPr>
                      <a:r>
                        <a:rPr b="1" lang="en-US" sz="2400" u="none" cap="none" strike="noStrike">
                          <a:solidFill>
                            <a:schemeClr val="lt1"/>
                          </a:solidFill>
                          <a:latin typeface="Arial"/>
                          <a:ea typeface="Arial"/>
                          <a:cs typeface="Arial"/>
                          <a:sym typeface="Arial"/>
                        </a:rPr>
                        <a:t>Quantity</a:t>
                      </a:r>
                      <a:endParaRPr sz="1400" u="none" cap="none" strike="noStrike"/>
                    </a:p>
                    <a:p>
                      <a:pPr indent="0" lvl="0" marL="0" marR="0" rtl="0" algn="l">
                        <a:lnSpc>
                          <a:spcPct val="100000"/>
                        </a:lnSpc>
                        <a:spcBef>
                          <a:spcPts val="0"/>
                        </a:spcBef>
                        <a:spcAft>
                          <a:spcPts val="0"/>
                        </a:spcAft>
                        <a:buClr>
                          <a:schemeClr val="dk1"/>
                        </a:buClr>
                        <a:buSzPts val="2400"/>
                        <a:buFont typeface="Calibri"/>
                        <a:buNone/>
                      </a:pPr>
                      <a:r>
                        <a:t/>
                      </a:r>
                      <a:endParaRPr b="0" baseline="30000" sz="2400" u="none" cap="none" strike="noStrike">
                        <a:solidFill>
                          <a:srgbClr val="7030A0"/>
                        </a:solidFill>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chemeClr val="lt1"/>
                        </a:buClr>
                        <a:buSzPts val="2400"/>
                        <a:buFont typeface="Arial"/>
                        <a:buNone/>
                      </a:pPr>
                      <a:r>
                        <a:rPr b="1" lang="en-US" sz="2400" u="none" cap="none" strike="noStrike">
                          <a:solidFill>
                            <a:schemeClr val="lt1"/>
                          </a:solidFill>
                          <a:latin typeface="Arial"/>
                          <a:ea typeface="Arial"/>
                          <a:cs typeface="Arial"/>
                          <a:sym typeface="Arial"/>
                        </a:rPr>
                        <a:t>Factor Pair</a:t>
                      </a:r>
                      <a:endParaRPr sz="1400" u="none" cap="none" strike="noStrike"/>
                    </a:p>
                    <a:p>
                      <a:pPr indent="0" lvl="0" marL="0" marR="0" rtl="0" algn="l">
                        <a:lnSpc>
                          <a:spcPct val="100000"/>
                        </a:lnSpc>
                        <a:spcBef>
                          <a:spcPts val="0"/>
                        </a:spcBef>
                        <a:spcAft>
                          <a:spcPts val="0"/>
                        </a:spcAft>
                        <a:buClr>
                          <a:schemeClr val="dk1"/>
                        </a:buClr>
                        <a:buSzPts val="2400"/>
                        <a:buFont typeface="Calibri"/>
                        <a:buNone/>
                      </a:pPr>
                      <a:r>
                        <a:t/>
                      </a:r>
                      <a:endParaRPr b="0" baseline="30000" sz="2400" u="none" cap="none" strike="noStrike">
                        <a:solidFill>
                          <a:srgbClr val="7030A0"/>
                        </a:solidFill>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r>
              <a:tr h="606175">
                <a:tc>
                  <a:txBody>
                    <a:bodyPr/>
                    <a:lstStyle/>
                    <a:p>
                      <a:pPr indent="0" lvl="0" marL="0" marR="0" rtl="0" algn="l">
                        <a:lnSpc>
                          <a:spcPct val="100000"/>
                        </a:lnSpc>
                        <a:spcBef>
                          <a:spcPts val="0"/>
                        </a:spcBef>
                        <a:spcAft>
                          <a:spcPts val="0"/>
                        </a:spcAft>
                        <a:buClr>
                          <a:schemeClr val="dk1"/>
                        </a:buClr>
                        <a:buSzPts val="2400"/>
                        <a:buFont typeface="Arial"/>
                        <a:buNone/>
                      </a:pPr>
                      <a:r>
                        <a:rPr lang="en-US" sz="2400" u="none" cap="none" strike="noStrike">
                          <a:latin typeface="Arial"/>
                          <a:ea typeface="Arial"/>
                          <a:cs typeface="Arial"/>
                          <a:sym typeface="Arial"/>
                        </a:rPr>
                        <a:t>Pencils</a:t>
                      </a:r>
                      <a:endParaRPr b="1" sz="2400" u="none" cap="none" strike="noStrike">
                        <a:solidFill>
                          <a:schemeClr val="lt1"/>
                        </a:solidFill>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400"/>
                        <a:buFont typeface="Arial"/>
                        <a:buNone/>
                      </a:pPr>
                      <a:r>
                        <a:rPr b="0" lang="en-US" sz="2400" u="none" cap="none" strike="noStrike">
                          <a:solidFill>
                            <a:schemeClr val="dk1"/>
                          </a:solidFill>
                          <a:latin typeface="Arial"/>
                          <a:ea typeface="Arial"/>
                          <a:cs typeface="Arial"/>
                          <a:sym typeface="Arial"/>
                        </a:rPr>
                        <a:t>48</a:t>
                      </a:r>
                      <a:endParaRPr b="0" baseline="30000" sz="2400" u="none" cap="none" strike="noStrike">
                        <a:solidFill>
                          <a:schemeClr val="dk1"/>
                        </a:solidFill>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400"/>
                        <a:buFont typeface="Calibri"/>
                        <a:buNone/>
                      </a:pPr>
                      <a:r>
                        <a:t/>
                      </a:r>
                      <a:endParaRPr b="0" baseline="30000" sz="2400" u="none" cap="none" strike="noStrike">
                        <a:solidFill>
                          <a:schemeClr val="dk1"/>
                        </a:solidFill>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chemeClr val="lt1"/>
                    </a:solidFill>
                  </a:tcPr>
                </a:tc>
              </a:tr>
              <a:tr h="438200">
                <a:tc>
                  <a:txBody>
                    <a:bodyPr/>
                    <a:lstStyle/>
                    <a:p>
                      <a:pPr indent="0" lvl="0" marL="0" marR="0" rtl="0" algn="l">
                        <a:lnSpc>
                          <a:spcPct val="100000"/>
                        </a:lnSpc>
                        <a:spcBef>
                          <a:spcPts val="0"/>
                        </a:spcBef>
                        <a:spcAft>
                          <a:spcPts val="0"/>
                        </a:spcAft>
                        <a:buClr>
                          <a:schemeClr val="dk1"/>
                        </a:buClr>
                        <a:buSzPts val="2400"/>
                        <a:buFont typeface="Arial"/>
                        <a:buNone/>
                      </a:pPr>
                      <a:r>
                        <a:rPr lang="en-US" sz="2400" u="none" cap="none" strike="noStrike">
                          <a:latin typeface="Arial"/>
                          <a:ea typeface="Arial"/>
                          <a:cs typeface="Arial"/>
                          <a:sym typeface="Arial"/>
                        </a:rPr>
                        <a:t>Notebooks</a:t>
                      </a:r>
                      <a:endParaRPr sz="2400" u="none" cap="none" strike="noStrike">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Arial"/>
                          <a:ea typeface="Arial"/>
                          <a:cs typeface="Arial"/>
                          <a:sym typeface="Arial"/>
                        </a:rPr>
                        <a:t>36</a:t>
                      </a:r>
                      <a:endParaRPr sz="2400" u="none" cap="none" strike="noStrike">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Calibri"/>
                        <a:buNone/>
                      </a:pPr>
                      <a:r>
                        <a:t/>
                      </a:r>
                      <a:endParaRPr sz="2400" u="none" cap="none" strike="noStrike">
                        <a:latin typeface="Arial"/>
                        <a:ea typeface="Arial"/>
                        <a:cs typeface="Arial"/>
                        <a:sym typeface="Arial"/>
                      </a:endParaRPr>
                    </a:p>
                  </a:txBody>
                  <a:tcPr marT="45725" marB="45725" marR="91450" marL="91450">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bl>
          </a:graphicData>
        </a:graphic>
      </p:graphicFrame>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27 / 51</a:t>
            </a:r>
          </a:p>
        </p:txBody>
      </p:sp>
      <p:grpSp>
        <p:nvGrpSpPr>
          <p:cNvPr id="676" name="TEACH-5-student-move" descr="TEACH 5 · Facilitate student interactions and academic talk"/>
          <p:cNvGrpSpPr/>
          <p:nvPr/>
        </p:nvGrpSpPr>
        <p:grpSpPr>
          <a:xfrm>
            <a:off x="502920" y="4053983"/>
            <a:ext cx="5501640" cy="594360"/>
            <a:chOff x="502920" y="4053983"/>
            <a:chExt cx="5501640" cy="594360"/>
          </a:xfrm>
        </p:grpSpPr>
        <p:sp>
          <p:nvSpPr>
            <p:cNvPr id="677" name="TEACH-move-card"/>
            <p:cNvSpPr/>
            <p:nvPr/>
          </p:nvSpPr>
          <p:spPr>
            <a:xfrm>
              <a:off x="502920" y="4053983"/>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678" name="TEACH-move-rule"/>
            <p:cNvSpPr/>
            <p:nvPr/>
          </p:nvSpPr>
          <p:spPr>
            <a:xfrm>
              <a:off x="548640" y="4166911"/>
              <a:ext cx="100584" cy="368504"/>
            </a:xfrm>
            <a:prstGeom prst="roundRect">
              <a:avLst>
                <a:gd name="adj" fmla="val 50000"/>
              </a:avLst>
            </a:prstGeom>
            <a:solidFill>
              <a:srgbClr val="01708C"/>
            </a:solidFill>
            <a:ln>
              <a:noFill/>
            </a:ln>
          </p:spPr>
          <p:txBody>
            <a:bodyPr/>
            <a:lstStyle/>
            <a:p>
              <a:endParaRPr/>
            </a:p>
          </p:txBody>
        </p:sp>
        <p:sp>
          <p:nvSpPr>
            <p:cNvPr id="679" name="TEACH-move-text"/>
            <p:cNvSpPr txBox="1"/>
            <p:nvPr/>
          </p:nvSpPr>
          <p:spPr>
            <a:xfrm>
              <a:off x="822960" y="4053983"/>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TEACH A PARTNER  ·  </a:t>
              </a:r>
              <a:r>
                <a:rPr lang="en-US" sz="1200" dirty="0">
                  <a:solidFill>
                    <a:srgbClr val="13303A"/>
                  </a:solidFill>
                  <a:latin typeface="Arial"/>
                </a:rPr>
                <a:t>Teach this to someone who missed it. If you can teach it, you know it.</a:t>
              </a:r>
              <a:endParaRPr lang="en-US" sz="1200"/>
            </a:p>
          </p:txBody>
        </p:sp>
      </p:gr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08" name="Google Shape;708;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09" name="Google Shape;709;p69"/>
          <p:cNvSpPr txBox="1"/>
          <p:nvPr/>
        </p:nvSpPr>
        <p:spPr>
          <a:xfrm>
            <a:off x="484565" y="4853117"/>
            <a:ext cx="10189818" cy="15168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compare the two lists of factors and look for the greatest number they have in common.</a:t>
            </a:r>
            <a:endParaRPr b="0" i="0" sz="1400" u="none" cap="none" strike="noStrike">
              <a:solidFill>
                <a:srgbClr val="000000"/>
              </a:solidFill>
              <a:latin typeface="Arial"/>
              <a:ea typeface="Arial"/>
              <a:cs typeface="Arial"/>
              <a:sym typeface="Arial"/>
            </a:endParaRPr>
          </a:p>
        </p:txBody>
      </p:sp>
      <p:sp>
        <p:nvSpPr>
          <p:cNvPr id="710" name="Google Shape;710;p69"/>
          <p:cNvSpPr txBox="1"/>
          <p:nvPr/>
        </p:nvSpPr>
        <p:spPr>
          <a:xfrm>
            <a:off x="484565" y="3630173"/>
            <a:ext cx="7120171" cy="102177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identify the greatest factor the item quantities share?</a:t>
            </a:r>
            <a:endParaRPr b="0" i="0" sz="1400" u="none" cap="none" strike="noStrike">
              <a:solidFill>
                <a:srgbClr val="000000"/>
              </a:solidFill>
              <a:latin typeface="Arial"/>
              <a:ea typeface="Arial"/>
              <a:cs typeface="Arial"/>
              <a:sym typeface="Arial"/>
            </a:endParaRPr>
          </a:p>
        </p:txBody>
      </p:sp>
      <p:sp>
        <p:nvSpPr>
          <p:cNvPr id="711" name="Google Shape;711;p69"/>
          <p:cNvSpPr txBox="1"/>
          <p:nvPr/>
        </p:nvSpPr>
        <p:spPr>
          <a:xfrm>
            <a:off x="486000" y="936000"/>
            <a:ext cx="7391175" cy="527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The common factors are 1, 2, 3, 4, 6, and 12.</a:t>
            </a:r>
            <a:endParaRPr b="1" i="0" sz="2800" u="none" cap="none" strike="noStrike">
              <a:solidFill>
                <a:srgbClr val="262626"/>
              </a:solidFill>
              <a:latin typeface="Arial"/>
              <a:ea typeface="Arial"/>
              <a:cs typeface="Arial"/>
              <a:sym typeface="Arial"/>
            </a:endParaRPr>
          </a:p>
        </p:txBody>
      </p:sp>
      <p:graphicFrame>
        <p:nvGraphicFramePr>
          <p:cNvPr id="712" name="Google Shape;712;p69"/>
          <p:cNvGraphicFramePr/>
          <p:nvPr/>
        </p:nvGraphicFramePr>
        <p:xfrm>
          <a:off x="817517" y="1664573"/>
          <a:ext cx="3000000" cy="3000000"/>
        </p:xfrm>
        <a:graphic>
          <a:graphicData uri="http://schemas.openxmlformats.org/drawingml/2006/table">
            <a:tbl>
              <a:tblPr bandRow="1" firstRow="1">
                <a:noFill/>
                <a:tableStyleId>{79F5BE10-BA3D-462B-B59C-4841F3A0418A}</a:tableStyleId>
              </a:tblPr>
              <a:tblGrid>
                <a:gridCol w="1725925"/>
                <a:gridCol w="1502100"/>
                <a:gridCol w="4132575"/>
              </a:tblGrid>
              <a:tr h="606175">
                <a:tc>
                  <a:txBody>
                    <a:bodyPr/>
                    <a:lstStyle/>
                    <a:p>
                      <a:pPr indent="0" lvl="0" marL="0" marR="0" rtl="0" algn="l">
                        <a:lnSpc>
                          <a:spcPct val="100000"/>
                        </a:lnSpc>
                        <a:spcBef>
                          <a:spcPts val="0"/>
                        </a:spcBef>
                        <a:spcAft>
                          <a:spcPts val="0"/>
                        </a:spcAft>
                        <a:buClr>
                          <a:schemeClr val="lt1"/>
                        </a:buClr>
                        <a:buSzPts val="2400"/>
                        <a:buFont typeface="Arial"/>
                        <a:buNone/>
                      </a:pPr>
                      <a:r>
                        <a:rPr b="1" lang="en-US" sz="2400" u="none" cap="none" strike="noStrike">
                          <a:solidFill>
                            <a:schemeClr val="lt1"/>
                          </a:solidFill>
                          <a:latin typeface="Arial"/>
                          <a:ea typeface="Arial"/>
                          <a:cs typeface="Arial"/>
                          <a:sym typeface="Arial"/>
                        </a:rPr>
                        <a:t>Item</a:t>
                      </a:r>
                      <a:endParaRPr b="1" sz="2400" u="none" cap="none" strike="noStrike">
                        <a:solidFill>
                          <a:srgbClr val="7030A0"/>
                        </a:solidFill>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chemeClr val="lt1"/>
                        </a:buClr>
                        <a:buSzPts val="2400"/>
                        <a:buFont typeface="Arial"/>
                        <a:buNone/>
                      </a:pPr>
                      <a:r>
                        <a:rPr b="1" lang="en-US" sz="2400" u="none" cap="none" strike="noStrike">
                          <a:solidFill>
                            <a:schemeClr val="lt1"/>
                          </a:solidFill>
                          <a:latin typeface="Arial"/>
                          <a:ea typeface="Arial"/>
                          <a:cs typeface="Arial"/>
                          <a:sym typeface="Arial"/>
                        </a:rPr>
                        <a:t>Quantity</a:t>
                      </a:r>
                      <a:endParaRPr sz="1400" u="none" cap="none" strike="noStrike"/>
                    </a:p>
                    <a:p>
                      <a:pPr indent="0" lvl="0" marL="0" marR="0" rtl="0" algn="l">
                        <a:lnSpc>
                          <a:spcPct val="100000"/>
                        </a:lnSpc>
                        <a:spcBef>
                          <a:spcPts val="0"/>
                        </a:spcBef>
                        <a:spcAft>
                          <a:spcPts val="0"/>
                        </a:spcAft>
                        <a:buClr>
                          <a:schemeClr val="dk1"/>
                        </a:buClr>
                        <a:buSzPts val="2400"/>
                        <a:buFont typeface="Calibri"/>
                        <a:buNone/>
                      </a:pPr>
                      <a:r>
                        <a:t/>
                      </a:r>
                      <a:endParaRPr b="0" baseline="30000" sz="2400" u="none" cap="none" strike="noStrike">
                        <a:solidFill>
                          <a:srgbClr val="7030A0"/>
                        </a:solidFill>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c>
                  <a:txBody>
                    <a:bodyPr/>
                    <a:lstStyle/>
                    <a:p>
                      <a:pPr indent="0" lvl="0" marL="0" marR="0" rtl="0" algn="l">
                        <a:lnSpc>
                          <a:spcPct val="100000"/>
                        </a:lnSpc>
                        <a:spcBef>
                          <a:spcPts val="0"/>
                        </a:spcBef>
                        <a:spcAft>
                          <a:spcPts val="0"/>
                        </a:spcAft>
                        <a:buClr>
                          <a:schemeClr val="lt1"/>
                        </a:buClr>
                        <a:buSzPts val="2400"/>
                        <a:buFont typeface="Arial"/>
                        <a:buNone/>
                      </a:pPr>
                      <a:r>
                        <a:rPr b="1" lang="en-US" sz="2400" u="none" cap="none" strike="noStrike">
                          <a:solidFill>
                            <a:schemeClr val="lt1"/>
                          </a:solidFill>
                          <a:latin typeface="Arial"/>
                          <a:ea typeface="Arial"/>
                          <a:cs typeface="Arial"/>
                          <a:sym typeface="Arial"/>
                        </a:rPr>
                        <a:t>Factor Pair</a:t>
                      </a:r>
                      <a:endParaRPr sz="1400" u="none" cap="none" strike="noStrike"/>
                    </a:p>
                    <a:p>
                      <a:pPr indent="0" lvl="0" marL="0" marR="0" rtl="0" algn="l">
                        <a:lnSpc>
                          <a:spcPct val="100000"/>
                        </a:lnSpc>
                        <a:spcBef>
                          <a:spcPts val="0"/>
                        </a:spcBef>
                        <a:spcAft>
                          <a:spcPts val="0"/>
                        </a:spcAft>
                        <a:buClr>
                          <a:schemeClr val="dk1"/>
                        </a:buClr>
                        <a:buSzPts val="2400"/>
                        <a:buFont typeface="Calibri"/>
                        <a:buNone/>
                      </a:pPr>
                      <a:r>
                        <a:t/>
                      </a:r>
                      <a:endParaRPr b="0" baseline="30000" sz="2400" u="none" cap="none" strike="noStrike">
                        <a:solidFill>
                          <a:srgbClr val="7030A0"/>
                        </a:solidFill>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rgbClr val="695B9A"/>
                    </a:solidFill>
                  </a:tcPr>
                </a:tc>
              </a:tr>
              <a:tr h="606175">
                <a:tc>
                  <a:txBody>
                    <a:bodyPr/>
                    <a:lstStyle/>
                    <a:p>
                      <a:pPr indent="0" lvl="0" marL="0" marR="0" rtl="0" algn="l">
                        <a:lnSpc>
                          <a:spcPct val="100000"/>
                        </a:lnSpc>
                        <a:spcBef>
                          <a:spcPts val="0"/>
                        </a:spcBef>
                        <a:spcAft>
                          <a:spcPts val="0"/>
                        </a:spcAft>
                        <a:buClr>
                          <a:schemeClr val="dk1"/>
                        </a:buClr>
                        <a:buSzPts val="2400"/>
                        <a:buFont typeface="Arial"/>
                        <a:buNone/>
                      </a:pPr>
                      <a:r>
                        <a:rPr lang="en-US" sz="2400" u="none" cap="none" strike="noStrike">
                          <a:latin typeface="Arial"/>
                          <a:ea typeface="Arial"/>
                          <a:cs typeface="Arial"/>
                          <a:sym typeface="Arial"/>
                        </a:rPr>
                        <a:t>Pencils</a:t>
                      </a:r>
                      <a:endParaRPr b="1" sz="2400" u="none" cap="none" strike="noStrike">
                        <a:solidFill>
                          <a:schemeClr val="lt1"/>
                        </a:solidFill>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400"/>
                        <a:buFont typeface="Arial"/>
                        <a:buNone/>
                      </a:pPr>
                      <a:r>
                        <a:rPr b="0" lang="en-US" sz="2400" u="none" cap="none" strike="noStrike">
                          <a:solidFill>
                            <a:schemeClr val="dk1"/>
                          </a:solidFill>
                          <a:latin typeface="Arial"/>
                          <a:ea typeface="Arial"/>
                          <a:cs typeface="Arial"/>
                          <a:sym typeface="Arial"/>
                        </a:rPr>
                        <a:t>48</a:t>
                      </a:r>
                      <a:endParaRPr b="0" baseline="30000" sz="2400" u="none" cap="none" strike="noStrike">
                        <a:solidFill>
                          <a:schemeClr val="dk1"/>
                        </a:solidFill>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chemeClr val="dk1"/>
                        </a:buClr>
                        <a:buSzPts val="2400"/>
                        <a:buFont typeface="Arial"/>
                        <a:buNone/>
                      </a:pPr>
                      <a:r>
                        <a:rPr b="1" lang="en-US" sz="2400" u="none" cap="none" strike="noStrike">
                          <a:latin typeface="Arial"/>
                          <a:ea typeface="Arial"/>
                          <a:cs typeface="Arial"/>
                          <a:sym typeface="Arial"/>
                        </a:rPr>
                        <a:t>1</a:t>
                      </a:r>
                      <a:r>
                        <a:rPr lang="en-US" sz="2400" u="none" cap="none" strike="noStrike">
                          <a:latin typeface="Arial"/>
                          <a:ea typeface="Arial"/>
                          <a:cs typeface="Arial"/>
                          <a:sym typeface="Arial"/>
                        </a:rPr>
                        <a:t>, </a:t>
                      </a:r>
                      <a:r>
                        <a:rPr b="1" lang="en-US" sz="2400" u="none" cap="none" strike="noStrike">
                          <a:latin typeface="Arial"/>
                          <a:ea typeface="Arial"/>
                          <a:cs typeface="Arial"/>
                          <a:sym typeface="Arial"/>
                        </a:rPr>
                        <a:t>2</a:t>
                      </a:r>
                      <a:r>
                        <a:rPr lang="en-US" sz="2400" u="none" cap="none" strike="noStrike">
                          <a:latin typeface="Arial"/>
                          <a:ea typeface="Arial"/>
                          <a:cs typeface="Arial"/>
                          <a:sym typeface="Arial"/>
                        </a:rPr>
                        <a:t>, </a:t>
                      </a:r>
                      <a:r>
                        <a:rPr b="1" lang="en-US" sz="2400" u="none" cap="none" strike="noStrike">
                          <a:latin typeface="Arial"/>
                          <a:ea typeface="Arial"/>
                          <a:cs typeface="Arial"/>
                          <a:sym typeface="Arial"/>
                        </a:rPr>
                        <a:t>3</a:t>
                      </a:r>
                      <a:r>
                        <a:rPr lang="en-US" sz="2400" u="none" cap="none" strike="noStrike">
                          <a:latin typeface="Arial"/>
                          <a:ea typeface="Arial"/>
                          <a:cs typeface="Arial"/>
                          <a:sym typeface="Arial"/>
                        </a:rPr>
                        <a:t>, </a:t>
                      </a:r>
                      <a:r>
                        <a:rPr b="1" lang="en-US" sz="2400" u="none" cap="none" strike="noStrike">
                          <a:latin typeface="Arial"/>
                          <a:ea typeface="Arial"/>
                          <a:cs typeface="Arial"/>
                          <a:sym typeface="Arial"/>
                        </a:rPr>
                        <a:t>4</a:t>
                      </a:r>
                      <a:r>
                        <a:rPr lang="en-US" sz="2400" u="none" cap="none" strike="noStrike">
                          <a:latin typeface="Arial"/>
                          <a:ea typeface="Arial"/>
                          <a:cs typeface="Arial"/>
                          <a:sym typeface="Arial"/>
                        </a:rPr>
                        <a:t>, </a:t>
                      </a:r>
                      <a:r>
                        <a:rPr b="1" lang="en-US" sz="2400" u="none" cap="none" strike="noStrike">
                          <a:latin typeface="Arial"/>
                          <a:ea typeface="Arial"/>
                          <a:cs typeface="Arial"/>
                          <a:sym typeface="Arial"/>
                        </a:rPr>
                        <a:t>6</a:t>
                      </a:r>
                      <a:r>
                        <a:rPr lang="en-US" sz="2400" u="none" cap="none" strike="noStrike">
                          <a:latin typeface="Arial"/>
                          <a:ea typeface="Arial"/>
                          <a:cs typeface="Arial"/>
                          <a:sym typeface="Arial"/>
                        </a:rPr>
                        <a:t>, 8, </a:t>
                      </a:r>
                      <a:r>
                        <a:rPr b="1" lang="en-US" sz="2400" u="none" cap="none" strike="noStrike">
                          <a:latin typeface="Arial"/>
                          <a:ea typeface="Arial"/>
                          <a:cs typeface="Arial"/>
                          <a:sym typeface="Arial"/>
                        </a:rPr>
                        <a:t>12</a:t>
                      </a:r>
                      <a:r>
                        <a:rPr lang="en-US" sz="2400" u="none" cap="none" strike="noStrike">
                          <a:latin typeface="Arial"/>
                          <a:ea typeface="Arial"/>
                          <a:cs typeface="Arial"/>
                          <a:sym typeface="Arial"/>
                        </a:rPr>
                        <a:t>, 16, 24, 48</a:t>
                      </a:r>
                      <a:endParaRPr b="0" baseline="30000" sz="2400" u="none" cap="none" strike="noStrike">
                        <a:solidFill>
                          <a:schemeClr val="dk1"/>
                        </a:solidFill>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chemeClr val="lt1"/>
                    </a:solidFill>
                  </a:tcPr>
                </a:tc>
              </a:tr>
              <a:tr h="438200">
                <a:tc>
                  <a:txBody>
                    <a:bodyPr/>
                    <a:lstStyle/>
                    <a:p>
                      <a:pPr indent="0" lvl="0" marL="0" marR="0" rtl="0" algn="l">
                        <a:lnSpc>
                          <a:spcPct val="100000"/>
                        </a:lnSpc>
                        <a:spcBef>
                          <a:spcPts val="0"/>
                        </a:spcBef>
                        <a:spcAft>
                          <a:spcPts val="0"/>
                        </a:spcAft>
                        <a:buClr>
                          <a:schemeClr val="dk1"/>
                        </a:buClr>
                        <a:buSzPts val="2400"/>
                        <a:buFont typeface="Arial"/>
                        <a:buNone/>
                      </a:pPr>
                      <a:r>
                        <a:rPr lang="en-US" sz="2400" u="none" cap="none" strike="noStrike">
                          <a:latin typeface="Arial"/>
                          <a:ea typeface="Arial"/>
                          <a:cs typeface="Arial"/>
                          <a:sym typeface="Arial"/>
                        </a:rPr>
                        <a:t>Notebooks</a:t>
                      </a:r>
                      <a:endParaRPr sz="2400" u="none" cap="none" strike="noStrike">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BFBFBF"/>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solidFill>
                      <a:schemeClr val="lt1"/>
                    </a:solidFill>
                  </a:tcPr>
                </a:tc>
                <a:tc>
                  <a:txBody>
                    <a:bodyPr/>
                    <a:lstStyle/>
                    <a:p>
                      <a:pPr indent="0" lvl="0" marL="0" marR="0" rtl="0" algn="l">
                        <a:lnSpc>
                          <a:spcPct val="100000"/>
                        </a:lnSpc>
                        <a:spcBef>
                          <a:spcPts val="0"/>
                        </a:spcBef>
                        <a:spcAft>
                          <a:spcPts val="0"/>
                        </a:spcAft>
                        <a:buClr>
                          <a:srgbClr val="000000"/>
                        </a:buClr>
                        <a:buSzPts val="2400"/>
                        <a:buFont typeface="Arial"/>
                        <a:buNone/>
                      </a:pPr>
                      <a:r>
                        <a:rPr lang="en-US" sz="2400" u="none" cap="none" strike="noStrike">
                          <a:latin typeface="Arial"/>
                          <a:ea typeface="Arial"/>
                          <a:cs typeface="Arial"/>
                          <a:sym typeface="Arial"/>
                        </a:rPr>
                        <a:t>36</a:t>
                      </a:r>
                      <a:endParaRPr sz="2400" u="none" cap="none" strike="noStrike">
                        <a:latin typeface="Arial"/>
                        <a:ea typeface="Arial"/>
                        <a:cs typeface="Arial"/>
                        <a:sym typeface="Arial"/>
                      </a:endParaRPr>
                    </a:p>
                  </a:txBody>
                  <a:tcPr marT="45725" marB="45725" marR="91450" marL="91450">
                    <a:lnL cap="flat" cmpd="sng" w="12700">
                      <a:solidFill>
                        <a:srgbClr val="BFBFBF"/>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chemeClr val="dk1"/>
                        </a:buClr>
                        <a:buSzPts val="2400"/>
                        <a:buFont typeface="Arial"/>
                        <a:buNone/>
                      </a:pPr>
                      <a:r>
                        <a:rPr b="1" lang="en-US" sz="2400" u="none" cap="none" strike="noStrike">
                          <a:latin typeface="Arial"/>
                          <a:ea typeface="Arial"/>
                          <a:cs typeface="Arial"/>
                          <a:sym typeface="Arial"/>
                        </a:rPr>
                        <a:t>1</a:t>
                      </a:r>
                      <a:r>
                        <a:rPr lang="en-US" sz="2400" u="none" cap="none" strike="noStrike">
                          <a:latin typeface="Arial"/>
                          <a:ea typeface="Arial"/>
                          <a:cs typeface="Arial"/>
                          <a:sym typeface="Arial"/>
                        </a:rPr>
                        <a:t>, </a:t>
                      </a:r>
                      <a:r>
                        <a:rPr b="1" lang="en-US" sz="2400" u="none" cap="none" strike="noStrike">
                          <a:latin typeface="Arial"/>
                          <a:ea typeface="Arial"/>
                          <a:cs typeface="Arial"/>
                          <a:sym typeface="Arial"/>
                        </a:rPr>
                        <a:t>2</a:t>
                      </a:r>
                      <a:r>
                        <a:rPr lang="en-US" sz="2400" u="none" cap="none" strike="noStrike">
                          <a:latin typeface="Arial"/>
                          <a:ea typeface="Arial"/>
                          <a:cs typeface="Arial"/>
                          <a:sym typeface="Arial"/>
                        </a:rPr>
                        <a:t>, </a:t>
                      </a:r>
                      <a:r>
                        <a:rPr b="1" lang="en-US" sz="2400" u="none" cap="none" strike="noStrike">
                          <a:latin typeface="Arial"/>
                          <a:ea typeface="Arial"/>
                          <a:cs typeface="Arial"/>
                          <a:sym typeface="Arial"/>
                        </a:rPr>
                        <a:t>3</a:t>
                      </a:r>
                      <a:r>
                        <a:rPr lang="en-US" sz="2400" u="none" cap="none" strike="noStrike">
                          <a:latin typeface="Arial"/>
                          <a:ea typeface="Arial"/>
                          <a:cs typeface="Arial"/>
                          <a:sym typeface="Arial"/>
                        </a:rPr>
                        <a:t>, </a:t>
                      </a:r>
                      <a:r>
                        <a:rPr b="1" lang="en-US" sz="2400" u="none" cap="none" strike="noStrike">
                          <a:latin typeface="Arial"/>
                          <a:ea typeface="Arial"/>
                          <a:cs typeface="Arial"/>
                          <a:sym typeface="Arial"/>
                        </a:rPr>
                        <a:t>4</a:t>
                      </a:r>
                      <a:r>
                        <a:rPr lang="en-US" sz="2400" u="none" cap="none" strike="noStrike">
                          <a:latin typeface="Arial"/>
                          <a:ea typeface="Arial"/>
                          <a:cs typeface="Arial"/>
                          <a:sym typeface="Arial"/>
                        </a:rPr>
                        <a:t>, </a:t>
                      </a:r>
                      <a:r>
                        <a:rPr b="1" lang="en-US" sz="2400" u="none" cap="none" strike="noStrike">
                          <a:latin typeface="Arial"/>
                          <a:ea typeface="Arial"/>
                          <a:cs typeface="Arial"/>
                          <a:sym typeface="Arial"/>
                        </a:rPr>
                        <a:t>6</a:t>
                      </a:r>
                      <a:r>
                        <a:rPr lang="en-US" sz="2400" u="none" cap="none" strike="noStrike">
                          <a:latin typeface="Arial"/>
                          <a:ea typeface="Arial"/>
                          <a:cs typeface="Arial"/>
                          <a:sym typeface="Arial"/>
                        </a:rPr>
                        <a:t>, 9, </a:t>
                      </a:r>
                      <a:r>
                        <a:rPr b="1" lang="en-US" sz="2400" u="none" cap="none" strike="noStrike">
                          <a:latin typeface="Arial"/>
                          <a:ea typeface="Arial"/>
                          <a:cs typeface="Arial"/>
                          <a:sym typeface="Arial"/>
                        </a:rPr>
                        <a:t>12</a:t>
                      </a:r>
                      <a:r>
                        <a:rPr lang="en-US" sz="2400" u="none" cap="none" strike="noStrike">
                          <a:latin typeface="Arial"/>
                          <a:ea typeface="Arial"/>
                          <a:cs typeface="Arial"/>
                          <a:sym typeface="Arial"/>
                        </a:rPr>
                        <a:t>, 18, 36</a:t>
                      </a:r>
                      <a:endParaRPr sz="1400" u="none" cap="none" strike="noStrike"/>
                    </a:p>
                  </a:txBody>
                  <a:tcPr marT="45725" marB="45725" marR="91450" marL="91450">
                    <a:lnL cap="flat" cmpd="sng" w="12700">
                      <a:solidFill>
                        <a:srgbClr val="A5A5A5"/>
                      </a:solidFill>
                      <a:prstDash val="solid"/>
                      <a:round/>
                      <a:headEnd len="sm" w="sm" type="none"/>
                      <a:tailEnd len="sm" w="sm" type="none"/>
                    </a:lnL>
                    <a:lnR cap="flat" cmpd="sng" w="12700">
                      <a:solidFill>
                        <a:srgbClr val="A5A5A5"/>
                      </a:solidFill>
                      <a:prstDash val="solid"/>
                      <a:round/>
                      <a:headEnd len="sm" w="sm" type="none"/>
                      <a:tailEnd len="sm" w="sm" type="none"/>
                    </a:lnR>
                    <a:lnT cap="flat" cmpd="sng" w="12700">
                      <a:solidFill>
                        <a:srgbClr val="BFBFBF"/>
                      </a:solidFill>
                      <a:prstDash val="solid"/>
                      <a:round/>
                      <a:headEnd len="sm" w="sm" type="none"/>
                      <a:tailEnd len="sm" w="sm" type="none"/>
                    </a:lnT>
                    <a:lnB cap="flat" cmpd="sng" w="12700">
                      <a:solidFill>
                        <a:srgbClr val="BFBFBF"/>
                      </a:solidFill>
                      <a:prstDash val="solid"/>
                      <a:round/>
                      <a:headEnd len="sm" w="sm" type="none"/>
                      <a:tailEnd len="sm" w="sm" type="none"/>
                    </a:lnB>
                  </a:tcPr>
                </a:tc>
              </a:tr>
            </a:tbl>
          </a:graphicData>
        </a:graphic>
      </p:graphicFrame>
      <p:sp>
        <p:nvSpPr>
          <p:cNvPr id="713" name="Google Shape;713;p69"/>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School Store</a:t>
            </a:r>
            <a:endParaRPr b="0" i="0" sz="1400" u="none" cap="none" strike="noStrike">
              <a:solidFill>
                <a:srgbClr val="000000"/>
              </a:solidFill>
              <a:latin typeface="Arial"/>
              <a:ea typeface="Arial"/>
              <a:cs typeface="Arial"/>
              <a:sym typeface="Arial"/>
            </a:endParaRPr>
          </a:p>
        </p:txBody>
      </p:sp>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51</a:t>
            </a:r>
          </a:p>
        </p:txBody>
      </p:sp>
      <p:grpSp>
        <p:nvGrpSpPr>
          <p:cNvPr id="714" name="TEACH-2-student-move" descr="TEACH 2 · Use strategies and tasks to engage students in rigorous work"/>
          <p:cNvGrpSpPr/>
          <p:nvPr/>
        </p:nvGrpSpPr>
        <p:grpSpPr>
          <a:xfrm>
            <a:off x="6187440" y="4134617"/>
            <a:ext cx="5501640" cy="594360"/>
            <a:chOff x="6187440" y="2953517"/>
            <a:chExt cx="5501640" cy="594360"/>
          </a:xfrm>
        </p:grpSpPr>
        <p:sp>
          <p:nvSpPr>
            <p:cNvPr id="715" name="TEACH-move-card"/>
            <p:cNvSpPr/>
            <p:nvPr/>
          </p:nvSpPr>
          <p:spPr>
            <a:xfrm>
              <a:off x="6187440" y="2953517"/>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716" name="TEACH-move-rule"/>
            <p:cNvSpPr/>
            <p:nvPr/>
          </p:nvSpPr>
          <p:spPr>
            <a:xfrm>
              <a:off x="6233160" y="3066445"/>
              <a:ext cx="100584" cy="368504"/>
            </a:xfrm>
            <a:prstGeom prst="roundRect">
              <a:avLst>
                <a:gd name="adj" fmla="val 50000"/>
              </a:avLst>
            </a:prstGeom>
            <a:solidFill>
              <a:srgbClr val="01708C"/>
            </a:solidFill>
            <a:ln>
              <a:noFill/>
            </a:ln>
          </p:spPr>
          <p:txBody>
            <a:bodyPr/>
            <a:lstStyle/>
            <a:p>
              <a:endParaRPr/>
            </a:p>
          </p:txBody>
        </p:sp>
        <p:sp>
          <p:nvSpPr>
            <p:cNvPr id="717" name="TEACH-move-text"/>
            <p:cNvSpPr txBox="1"/>
            <p:nvPr/>
          </p:nvSpPr>
          <p:spPr>
            <a:xfrm>
              <a:off x="6507480" y="2953517"/>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USE YOUR TOOLS  ·  </a:t>
              </a:r>
              <a:r>
                <a:rPr lang="en-US" sz="1200" dirty="0">
                  <a:solidFill>
                    <a:srgbClr val="13303A"/>
                  </a:solidFill>
                  <a:latin typeface="Arial"/>
                </a:rPr>
                <a:t>Reach for your notes, a model, or a manipulative before you reach for an answer.</a:t>
              </a:r>
              <a:endParaRPr lang="en-US" sz="1200"/>
            </a:p>
          </p:txBody>
        </p:sp>
      </p:gr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33" name="Google Shape;733;p7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734" name="Google Shape;734;p72"/>
          <p:cNvSpPr txBox="1"/>
          <p:nvPr/>
        </p:nvSpPr>
        <p:spPr>
          <a:xfrm>
            <a:off x="505580" y="5190128"/>
            <a:ext cx="9234450" cy="115278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find a factor pair that includes a prime number.</a:t>
            </a:r>
            <a:endParaRPr b="0" i="0" sz="1400" u="none" cap="none" strike="noStrike">
              <a:solidFill>
                <a:srgbClr val="000000"/>
              </a:solidFill>
              <a:latin typeface="Arial"/>
              <a:ea typeface="Arial"/>
              <a:cs typeface="Arial"/>
              <a:sym typeface="Arial"/>
            </a:endParaRPr>
          </a:p>
        </p:txBody>
      </p:sp>
      <p:sp>
        <p:nvSpPr>
          <p:cNvPr id="735" name="Google Shape;735;p72"/>
          <p:cNvSpPr txBox="1"/>
          <p:nvPr/>
        </p:nvSpPr>
        <p:spPr>
          <a:xfrm>
            <a:off x="486000" y="936000"/>
            <a:ext cx="6818246" cy="419145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Let’s look at another way to find the greatest common factor of 48 and 36.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A factor tree breaks a number down into its prime factors.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Recall that a prime number is a number that has exactly one factor pair.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might you find one prime factor of a given number?</a:t>
            </a:r>
            <a:endParaRPr b="0" i="0" sz="1400" u="none" cap="none" strike="noStrike">
              <a:solidFill>
                <a:srgbClr val="000000"/>
              </a:solidFill>
              <a:latin typeface="Arial"/>
              <a:ea typeface="Arial"/>
              <a:cs typeface="Arial"/>
              <a:sym typeface="Arial"/>
            </a:endParaRPr>
          </a:p>
        </p:txBody>
      </p:sp>
      <p:sp>
        <p:nvSpPr>
          <p:cNvPr id="736" name="Google Shape;736;p72"/>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030A0"/>
                </a:solidFill>
                <a:latin typeface="Arial"/>
                <a:ea typeface="Arial"/>
                <a:cs typeface="Arial"/>
                <a:sym typeface="Arial"/>
              </a:rPr>
              <a:t>School Store</a:t>
            </a:r>
            <a:endParaRPr b="0" i="0" sz="1400" u="none" cap="none" strike="noStrike">
              <a:solidFill>
                <a:srgbClr val="000000"/>
              </a:solidFill>
              <a:latin typeface="Arial"/>
              <a:ea typeface="Arial"/>
              <a:cs typeface="Arial"/>
              <a:sym typeface="Arial"/>
            </a:endParaRPr>
          </a:p>
        </p:txBody>
      </p:sp>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29 / 51</a:t>
            </a: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6-7 · Find Factors and Multiples</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200" u="none" cap="none" strike="noStrike">
                <a:solidFill>
                  <a:srgbClr val="14223A"/>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500" u="none" cap="none" strike="noStrike">
                <a:solidFill>
                  <a:srgbClr val="475569"/>
                </a:solidFill>
                <a:latin typeface="Arial"/>
                <a:ea typeface="Arial"/>
                <a:cs typeface="Arial"/>
                <a:sym typeface="Arial"/>
              </a:rPr>
              <a:t>Try alone. Explain one. Then revise.</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does GCF stand for?</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General Common Fraction</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Greatest Common Factor</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Graphing Center Form</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Grouped Common Function</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What is the GCF of 12 and 18?</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36</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What is the Least Common Multiple (LCM) of 4 and 6?</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12</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24</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Multiples of a number are found by:</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Dividing the number</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Multiplying by counting numbers</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Finding its square root</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Subtracting 1</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51</a:t>
            </a: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 — Session 2</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400" u="none" cap="none" strike="noStrike">
                <a:solidFill>
                  <a:srgbClr val="FFFFFF"/>
                </a:solidFill>
                <a:latin typeface="Arial"/>
                <a:ea typeface="Arial"/>
                <a:cs typeface="Arial"/>
                <a:sym typeface="Arial"/>
              </a:rPr>
              <a:t>Lesson 6-7 · Find Factors and Multiples</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3000" u="none" cap="none" strike="noStrike">
                <a:solidFill>
                  <a:srgbClr val="14223A"/>
                </a:solidFill>
                <a:latin typeface="Arial"/>
                <a:ea typeface="Arial"/>
                <a:cs typeface="Arial"/>
                <a:sym typeface="Arial"/>
              </a:rPr>
              <a:t>Session 2: Review Notes</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Greatest Common Factor (GCF)</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The largest whole number that divides evenly into both numbers without remainder.</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Least Common Multiple (LCM)</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The smallest positive </a:t>
            </a:r>
            <a:r>
              <a:rPr b="1" i="0" lang="en-US" sz="1450" u="none" cap="none" strike="noStrike">
                <a:solidFill>
                  <a:srgbClr val="475569"/>
                </a:solidFill>
                <a:latin typeface="Arial"/>
                <a:ea typeface="Arial"/>
                <a:cs typeface="Arial"/>
                <a:sym typeface="Arial"/>
              </a:rPr>
              <a:t xml:space="preserve">multiple</a:t>
            </a:r>
            <a:r>
              <a:rPr b="0" i="0" lang="en-US" sz="1450" u="none" cap="none" strike="noStrike">
                <a:solidFill>
                  <a:srgbClr val="475569"/>
                </a:solidFill>
                <a:latin typeface="Arial"/>
                <a:ea typeface="Arial"/>
                <a:cs typeface="Arial"/>
                <a:sym typeface="Arial"/>
              </a:rPr>
              <a:t xml:space="preserve"> shared by both numbers; used to find </a:t>
            </a:r>
            <a:r>
              <a:rPr b="1" i="0" lang="en-US" sz="1450" u="none" cap="none" strike="noStrike">
                <a:solidFill>
                  <a:srgbClr val="475569"/>
                </a:solidFill>
                <a:latin typeface="Arial"/>
                <a:ea typeface="Arial"/>
                <a:cs typeface="Arial"/>
                <a:sym typeface="Arial"/>
              </a:rPr>
              <a:t xml:space="preserve">common denominators</a:t>
            </a:r>
            <a:r>
              <a:rPr b="0" i="0" lang="en-US" sz="1450" u="none" cap="none" strike="noStrike">
                <a:solidFill>
                  <a:srgbClr val="475569"/>
                </a:solidFill>
                <a:latin typeface="Arial"/>
                <a:ea typeface="Arial"/>
                <a:cs typeface="Arial"/>
                <a:sym typeface="Arial"/>
              </a:rPr>
              <a:t xml:space="preserve">.</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Prime Factorization</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1" i="0" lang="en-US" sz="1450" u="none" cap="none" strike="noStrike">
                <a:solidFill>
                  <a:srgbClr val="475569"/>
                </a:solidFill>
                <a:latin typeface="Arial"/>
                <a:ea typeface="Arial"/>
                <a:cs typeface="Arial"/>
                <a:sym typeface="Arial"/>
              </a:rPr>
              <a:t xml:space="preserve">Factor</a:t>
            </a:r>
            <a:r>
              <a:rPr b="0" i="0" lang="en-US" sz="1450" u="none" cap="none" strike="noStrike">
                <a:solidFill>
                  <a:srgbClr val="475569"/>
                </a:solidFill>
                <a:latin typeface="Arial"/>
                <a:ea typeface="Arial"/>
                <a:cs typeface="Arial"/>
                <a:sym typeface="Arial"/>
              </a:rPr>
              <a:t xml:space="preserve"> trees reveal common </a:t>
            </a:r>
            <a:r>
              <a:rPr b="1" i="0" lang="en-US" sz="1450" u="none" cap="none" strike="noStrike">
                <a:solidFill>
                  <a:srgbClr val="475569"/>
                </a:solidFill>
                <a:latin typeface="Arial"/>
                <a:ea typeface="Arial"/>
                <a:cs typeface="Arial"/>
                <a:sym typeface="Arial"/>
              </a:rPr>
              <a:t xml:space="preserve">prime factors</a:t>
            </a:r>
            <a:r>
              <a:rPr b="0" i="0" lang="en-US" sz="1450" u="none" cap="none" strike="noStrike">
                <a:solidFill>
                  <a:srgbClr val="475569"/>
                </a:solidFill>
                <a:latin typeface="Arial"/>
                <a:ea typeface="Arial"/>
                <a:cs typeface="Arial"/>
                <a:sym typeface="Arial"/>
              </a:rPr>
              <a:t xml:space="preserve">: multiply shared primes to find GCF.</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32 / 51</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NAME THE MATH  ·  </a:t>
              </a:r>
              <a:r>
                <a:rPr lang="en-US" sz="1200" dirty="0">
                  <a:solidFill>
                    <a:srgbClr val="13303A"/>
                  </a:solidFill>
                  <a:latin typeface="Arial"/>
                </a:rPr>
                <a:t>Point to the part of this that is new today, and say what it changes.</a:t>
              </a:r>
              <a:endParaRPr lang="en-US" sz="1200"/>
            </a:p>
          </p:txBody>
        </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6" name="Shape 866"/>
        <p:cNvGrpSpPr/>
        <p:nvPr/>
      </p:nvGrpSpPr>
      <p:grpSpPr>
        <a:xfrm>
          <a:off x="0" y="0"/>
          <a:ext cx="0" cy="0"/>
          <a:chOff x="0" y="0"/>
          <a:chExt cx="0" cy="0"/>
        </a:xfrm>
      </p:grpSpPr>
      <p:sp>
        <p:nvSpPr>
          <p:cNvPr id="867" name="Google Shape;867;p86"/>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Find Factors and Multiples</a:t>
            </a:r>
            <a:endParaRPr b="0" i="0" sz="1400" u="none" cap="none" strike="noStrike">
              <a:solidFill>
                <a:srgbClr val="000000"/>
              </a:solidFill>
              <a:latin typeface="Arial"/>
              <a:ea typeface="Arial"/>
              <a:cs typeface="Arial"/>
              <a:sym typeface="Arial"/>
            </a:endParaRPr>
          </a:p>
        </p:txBody>
      </p:sp>
      <p:sp>
        <p:nvSpPr>
          <p:cNvPr id="868" name="Google Shape;868;p86"/>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869" name="Google Shape;869;p86"/>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870"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33 / 51</a:t>
            </a:r>
          </a:p>
        </p:txBody>
      </p:sp>
      <p:grpSp>
        <p:nvGrpSpPr>
          <p:cNvPr id="871" name="TEACH-3-student-move" descr="TEACH 3 · Use intentional questioning to deepen learning"/>
          <p:cNvGrpSpPr/>
          <p:nvPr/>
        </p:nvGrpSpPr>
        <p:grpSpPr>
          <a:xfrm>
            <a:off x="502920" y="3201929"/>
            <a:ext cx="11186160" cy="731520"/>
            <a:chOff x="502920" y="3201929"/>
            <a:chExt cx="11186160" cy="731520"/>
          </a:xfrm>
        </p:grpSpPr>
        <p:sp>
          <p:nvSpPr>
            <p:cNvPr id="872" name="TEACH-move-card"/>
            <p:cNvSpPr/>
            <p:nvPr/>
          </p:nvSpPr>
          <p:spPr>
            <a:xfrm>
              <a:off x="502920" y="3201929"/>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873" name="TEACH-move-rule"/>
            <p:cNvSpPr/>
            <p:nvPr/>
          </p:nvSpPr>
          <p:spPr>
            <a:xfrm>
              <a:off x="548640" y="3340918"/>
              <a:ext cx="100584" cy="453542"/>
            </a:xfrm>
            <a:prstGeom prst="roundRect">
              <a:avLst>
                <a:gd name="adj" fmla="val 50000"/>
              </a:avLst>
            </a:prstGeom>
            <a:solidFill>
              <a:srgbClr val="01708C"/>
            </a:solidFill>
            <a:ln>
              <a:noFill/>
            </a:ln>
          </p:spPr>
          <p:txBody>
            <a:bodyPr/>
            <a:lstStyle/>
            <a:p>
              <a:endParaRPr/>
            </a:p>
          </p:txBody>
        </p:sp>
        <p:sp>
          <p:nvSpPr>
            <p:cNvPr id="874" name="TEACH-move-text"/>
            <p:cNvSpPr txBox="1"/>
            <p:nvPr/>
          </p:nvSpPr>
          <p:spPr>
            <a:xfrm>
              <a:off x="822960" y="3201929"/>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ANOTHER PATHWAY  ·  </a:t>
              </a:r>
              <a:r>
                <a:rPr lang="en-US" sz="1800" dirty="0">
                  <a:solidFill>
                    <a:srgbClr val="13303A"/>
                  </a:solidFill>
                  <a:latin typeface="Arial"/>
                </a:rPr>
                <a:t>Did anyone get there a different way? Put both pathways side by side and compare.</a:t>
              </a:r>
              <a:endParaRPr lang="en-US" sz="1800"/>
            </a:p>
          </p:txBody>
        </p:sp>
      </p:gr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7" name="Shape 957"/>
        <p:cNvGrpSpPr/>
        <p:nvPr/>
      </p:nvGrpSpPr>
      <p:grpSpPr>
        <a:xfrm>
          <a:off x="0" y="0"/>
          <a:ext cx="0" cy="0"/>
          <a:chOff x="0" y="0"/>
          <a:chExt cx="0" cy="0"/>
        </a:xfrm>
      </p:grpSpPr>
      <p:cxnSp>
        <p:nvCxnSpPr>
          <p:cNvPr id="958" name="Google Shape;958;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59" name="Google Shape;959;p96"/>
          <p:cNvSpPr txBox="1"/>
          <p:nvPr/>
        </p:nvSpPr>
        <p:spPr>
          <a:xfrm>
            <a:off x="484565" y="5040000"/>
            <a:ext cx="10858105" cy="1166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chemeClr val="dk2"/>
              </a:buClr>
              <a:buSzPts val="2800"/>
              <a:buFont typeface="Arial"/>
              <a:buNone/>
              <a:defRPr/>
            </a:pPr>
            <a:r>
              <a:rPr/>
              <a:t/>
            </a:r>
            <a:endParaRPr b="0" i="0" sz="2800" u="none" cap="none" strike="noStrike">
              <a:solidFill>
                <a:srgbClr val="595959"/>
              </a:solidFill>
              <a:latin typeface="Arial"/>
              <a:ea typeface="Arial"/>
              <a:cs typeface="Arial"/>
              <a:sym typeface="Arial"/>
            </a:endParaRPr>
          </a:p>
        </p:txBody>
      </p:sp>
      <p:sp>
        <p:nvSpPr>
          <p:cNvPr id="960" name="Google Shape;960;p96"/>
          <p:cNvSpPr txBox="1"/>
          <p:nvPr/>
        </p:nvSpPr>
        <p:spPr>
          <a:xfrm>
            <a:off x="484565" y="936000"/>
            <a:ext cx="7005296" cy="400454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Painting class happens every 8 weeks, so we can find multiples of 8 to find when she will have painting class again.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Pottery class happens every 6 weeks, so we can find multiples of 6 to find when she will have pottery class again.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find when she will have both classes in the same week?</a:t>
            </a:r>
            <a:endParaRPr b="0" i="0" sz="1400" u="none" cap="none" strike="noStrike">
              <a:solidFill>
                <a:srgbClr val="000000"/>
              </a:solidFill>
              <a:latin typeface="Arial"/>
              <a:ea typeface="Arial"/>
              <a:cs typeface="Arial"/>
              <a:sym typeface="Arial"/>
            </a:endParaRPr>
          </a:p>
        </p:txBody>
      </p:sp>
      <p:sp>
        <p:nvSpPr>
          <p:cNvPr id="961" name="Google Shape;961;p96"/>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Community Center Classes</a:t>
            </a:r>
            <a:endParaRPr b="0" i="0" sz="1400" u="none" cap="none" strike="noStrike">
              <a:solidFill>
                <a:srgbClr val="000000"/>
              </a:solidFill>
              <a:latin typeface="Arial"/>
              <a:ea typeface="Arial"/>
              <a:cs typeface="Arial"/>
              <a:sym typeface="Arial"/>
            </a:endParaRPr>
          </a:p>
        </p:txBody>
      </p:sp>
      <p:sp>
        <p:nvSpPr>
          <p:cNvPr id="96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34 / 51</a:t>
            </a:r>
          </a:p>
        </p:txBody>
      </p:sp>
      <p:grpSp>
        <p:nvGrpSpPr>
          <p:cNvPr id="963" name="TEACH-2-student-move" descr="TEACH 2 · Use strategies and tasks to engage students in rigorous work"/>
          <p:cNvGrpSpPr/>
          <p:nvPr/>
        </p:nvGrpSpPr>
        <p:grpSpPr>
          <a:xfrm>
            <a:off x="502920" y="5948278"/>
            <a:ext cx="11186160" cy="320040"/>
            <a:chOff x="502920" y="5948278"/>
            <a:chExt cx="11186160" cy="320040"/>
          </a:xfrm>
        </p:grpSpPr>
        <p:sp>
          <p:nvSpPr>
            <p:cNvPr id="964" name="TEACH-move-card"/>
            <p:cNvSpPr/>
            <p:nvPr/>
          </p:nvSpPr>
          <p:spPr>
            <a:xfrm>
              <a:off x="502920" y="5948278"/>
              <a:ext cx="11186160" cy="320040"/>
            </a:xfrm>
            <a:prstGeom prst="roundRect">
              <a:avLst>
                <a:gd name="adj" fmla="val 16000"/>
              </a:avLst>
            </a:prstGeom>
            <a:solidFill>
              <a:srgbClr val="E4F0F5"/>
            </a:solidFill>
            <a:ln w="19050">
              <a:solidFill>
                <a:srgbClr val="8CB8C7"/>
              </a:solidFill>
            </a:ln>
          </p:spPr>
          <p:txBody>
            <a:bodyPr/>
            <a:lstStyle/>
            <a:p>
              <a:endParaRPr/>
            </a:p>
          </p:txBody>
        </p:sp>
        <p:sp>
          <p:nvSpPr>
            <p:cNvPr id="965" name="TEACH-move-rule"/>
            <p:cNvSpPr/>
            <p:nvPr/>
          </p:nvSpPr>
          <p:spPr>
            <a:xfrm>
              <a:off x="548640" y="6009086"/>
              <a:ext cx="100584" cy="198424"/>
            </a:xfrm>
            <a:prstGeom prst="roundRect">
              <a:avLst>
                <a:gd name="adj" fmla="val 50000"/>
              </a:avLst>
            </a:prstGeom>
            <a:solidFill>
              <a:srgbClr val="01708C"/>
            </a:solidFill>
            <a:ln>
              <a:noFill/>
            </a:ln>
          </p:spPr>
          <p:txBody>
            <a:bodyPr/>
            <a:lstStyle/>
            <a:p>
              <a:endParaRPr/>
            </a:p>
          </p:txBody>
        </p:sp>
        <p:sp>
          <p:nvSpPr>
            <p:cNvPr id="966" name="TEACH-move-text"/>
            <p:cNvSpPr txBox="1"/>
            <p:nvPr/>
          </p:nvSpPr>
          <p:spPr>
            <a:xfrm>
              <a:off x="822960" y="5948278"/>
              <a:ext cx="10728960" cy="32004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TWO MINUTES SOLO  ·  </a:t>
              </a:r>
              <a:r>
                <a:rPr lang="en-US" sz="1200" dirty="0">
                  <a:solidFill>
                    <a:srgbClr val="13303A"/>
                  </a:solidFill>
                  <a:latin typeface="Arial"/>
                </a:rPr>
                <a:t>Two minutes on your own, then compare. Bring one thing you tried, even if it did not work.</a:t>
              </a:r>
              <a:endParaRPr lang="en-US" sz="1200"/>
            </a:p>
          </p:txBody>
        </p:sp>
      </p:gr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cxnSp>
        <p:nvCxnSpPr>
          <p:cNvPr id="1003" name="Google Shape;1003;p10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04" name="Google Shape;1004;p101"/>
          <p:cNvSpPr txBox="1"/>
          <p:nvPr/>
        </p:nvSpPr>
        <p:spPr>
          <a:xfrm>
            <a:off x="484565" y="934140"/>
            <a:ext cx="6413385" cy="96523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What is the least multiple that the classes have in common?</a:t>
            </a:r>
            <a:endParaRPr b="1" i="0" sz="2800" u="none" cap="none" strike="noStrike">
              <a:solidFill>
                <a:srgbClr val="262626"/>
              </a:solidFill>
              <a:latin typeface="Arial"/>
              <a:ea typeface="Arial"/>
              <a:cs typeface="Arial"/>
              <a:sym typeface="Arial"/>
            </a:endParaRPr>
          </a:p>
        </p:txBody>
      </p:sp>
      <p:sp>
        <p:nvSpPr>
          <p:cNvPr id="1005" name="Google Shape;1005;p101"/>
          <p:cNvSpPr txBox="1"/>
          <p:nvPr/>
        </p:nvSpPr>
        <p:spPr>
          <a:xfrm>
            <a:off x="484565" y="5259476"/>
            <a:ext cx="4501503" cy="11749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24</a:t>
            </a:r>
            <a:endParaRPr b="0" i="0" sz="1400" u="none" cap="none" strike="noStrike">
              <a:solidFill>
                <a:srgbClr val="000000"/>
              </a:solidFill>
              <a:latin typeface="Arial"/>
              <a:ea typeface="Arial"/>
              <a:cs typeface="Arial"/>
              <a:sym typeface="Arial"/>
            </a:endParaRPr>
          </a:p>
        </p:txBody>
      </p:sp>
      <p:pic>
        <p:nvPicPr>
          <p:cNvPr id="1006" name="Google Shape;1006;p101"/>
          <p:cNvPicPr preferRelativeResize="0"/>
          <p:nvPr/>
        </p:nvPicPr>
        <p:blipFill rotWithShape="1">
          <a:blip r:embed="rId3">
            <a:alphaModFix/>
          </a:blip>
          <a:srcRect b="0" l="0" r="0" t="0"/>
          <a:stretch/>
        </p:blipFill>
        <p:spPr>
          <a:xfrm>
            <a:off x="309517" y="2812280"/>
            <a:ext cx="11353890" cy="1586633"/>
          </a:xfrm>
          <a:prstGeom prst="rect">
            <a:avLst/>
          </a:prstGeom>
          <a:noFill/>
          <a:ln>
            <a:noFill/>
          </a:ln>
        </p:spPr>
      </p:pic>
      <p:sp>
        <p:nvSpPr>
          <p:cNvPr id="1007" name="Google Shape;1007;p101"/>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Community Center Classes</a:t>
            </a:r>
            <a:endParaRPr b="0" i="0" sz="1400" u="none" cap="none" strike="noStrike">
              <a:solidFill>
                <a:srgbClr val="000000"/>
              </a:solidFill>
              <a:latin typeface="Arial"/>
              <a:ea typeface="Arial"/>
              <a:cs typeface="Arial"/>
              <a:sym typeface="Arial"/>
            </a:endParaRPr>
          </a:p>
        </p:txBody>
      </p:sp>
      <p:sp>
        <p:nvSpPr>
          <p:cNvPr id="100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35 / 51</a:t>
            </a:r>
          </a:p>
        </p:txBody>
      </p:sp>
      <p:sp>
        <p:nvSpPr>
          <p:cNvPr id="1009" name="EWL-COVER-1"/>
          <p:cNvSpPr/>
          <p:nvPr/>
        </p:nvSpPr>
        <p:spPr>
          <a:xfrm>
            <a:off x="429701" y="5204612"/>
            <a:ext cx="4611231" cy="1241908"/>
          </a:xfrm>
          <a:prstGeom prst="rect">
            <a:avLst/>
          </a:prstGeom>
          <a:solidFill>
            <a:srgbClr val="FFFFFF"/>
          </a:solidFill>
          <a:ln>
            <a:noFill/>
          </a:ln>
        </p:spPr>
        <p:txBody>
          <a:bodyPr/>
          <a:lstStyle/>
          <a:p/>
        </p:txBody>
      </p:sp>
      <p:sp xmlns:p="http://schemas.openxmlformats.org/presentationml/2006/main" xmlns:a="http://schemas.openxmlformats.org/drawingml/2006/main">
        <p:nvSpPr>
          <p:cNvPr id="1010" name="TEACH-embedded-student-prompt" descr="Student thinking and response directions"/>
          <p:cNvSpPr txBox="1"/>
          <p:nvPr/>
        </p:nvSpPr>
        <p:spPr>
          <a:xfrm>
            <a:off x="594360" y="46268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00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0" name="Shape 1020"/>
        <p:cNvGrpSpPr/>
        <p:nvPr/>
      </p:nvGrpSpPr>
      <p:grpSpPr>
        <a:xfrm>
          <a:off x="0" y="0"/>
          <a:ext cx="0" cy="0"/>
          <a:chOff x="0" y="0"/>
          <a:chExt cx="0" cy="0"/>
        </a:xfrm>
      </p:grpSpPr>
      <p:cxnSp>
        <p:nvCxnSpPr>
          <p:cNvPr id="1021" name="Google Shape;1021;p10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22" name="Google Shape;1022;p103"/>
          <p:cNvSpPr txBox="1"/>
          <p:nvPr/>
        </p:nvSpPr>
        <p:spPr>
          <a:xfrm>
            <a:off x="484565" y="5254556"/>
            <a:ext cx="10745089" cy="108459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Why is 48 not the least multiple that the classes have in common?</a:t>
            </a:r>
            <a:endParaRPr b="0" i="0" sz="1400" u="none" cap="none" strike="noStrike">
              <a:solidFill>
                <a:srgbClr val="000000"/>
              </a:solidFill>
              <a:latin typeface="Arial"/>
              <a:ea typeface="Arial"/>
              <a:cs typeface="Arial"/>
              <a:sym typeface="Arial"/>
            </a:endParaRPr>
          </a:p>
        </p:txBody>
      </p:sp>
      <p:pic>
        <p:nvPicPr>
          <p:cNvPr id="1023" name="Google Shape;1023;p103"/>
          <p:cNvPicPr preferRelativeResize="0"/>
          <p:nvPr/>
        </p:nvPicPr>
        <p:blipFill rotWithShape="1">
          <a:blip r:embed="rId3">
            <a:alphaModFix/>
          </a:blip>
          <a:srcRect b="0" l="0" r="0" t="0"/>
          <a:stretch/>
        </p:blipFill>
        <p:spPr>
          <a:xfrm>
            <a:off x="309517" y="2812280"/>
            <a:ext cx="11353890" cy="1586633"/>
          </a:xfrm>
          <a:prstGeom prst="rect">
            <a:avLst/>
          </a:prstGeom>
          <a:noFill/>
          <a:ln>
            <a:noFill/>
          </a:ln>
        </p:spPr>
      </p:pic>
      <p:sp>
        <p:nvSpPr>
          <p:cNvPr id="1024" name="Google Shape;1024;p103"/>
          <p:cNvSpPr txBox="1"/>
          <p:nvPr/>
        </p:nvSpPr>
        <p:spPr>
          <a:xfrm>
            <a:off x="484565" y="936000"/>
            <a:ext cx="6413385" cy="17252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least common multiple of 6 and 8 is 24. </a:t>
            </a:r>
            <a:endParaRPr b="1" i="0" sz="2800" u="none" cap="none" strike="noStrike">
              <a:solidFill>
                <a:srgbClr val="262626"/>
              </a:solidFill>
              <a:latin typeface="Arial"/>
              <a:ea typeface="Arial"/>
              <a:cs typeface="Arial"/>
              <a:sym typeface="Arial"/>
            </a:endParaRPr>
          </a:p>
        </p:txBody>
      </p:sp>
      <p:sp>
        <p:nvSpPr>
          <p:cNvPr id="1025" name="Google Shape;1025;p103"/>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Community Center Classes</a:t>
            </a:r>
            <a:endParaRPr b="0" i="0" sz="1400" u="none" cap="none" strike="noStrike">
              <a:solidFill>
                <a:srgbClr val="000000"/>
              </a:solidFill>
              <a:latin typeface="Arial"/>
              <a:ea typeface="Arial"/>
              <a:cs typeface="Arial"/>
              <a:sym typeface="Arial"/>
            </a:endParaRPr>
          </a:p>
        </p:txBody>
      </p:sp>
      <p:sp>
        <p:nvSpPr>
          <p:cNvPr id="102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36 / 51</a:t>
            </a:r>
          </a:p>
        </p:txBody>
      </p:sp>
      <p:sp xmlns:p="http://schemas.openxmlformats.org/presentationml/2006/main" xmlns:a="http://schemas.openxmlformats.org/drawingml/2006/main">
        <p:nvSpPr>
          <p:cNvPr id="1027" name="TEACH-embedded-student-prompt" descr="Student thinking and response directions"/>
          <p:cNvSpPr txBox="1"/>
          <p:nvPr/>
        </p:nvSpPr>
        <p:spPr>
          <a:xfrm>
            <a:off x="594360" y="46268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8" name="Shape 1038"/>
        <p:cNvGrpSpPr/>
        <p:nvPr/>
      </p:nvGrpSpPr>
      <p:grpSpPr>
        <a:xfrm>
          <a:off x="0" y="0"/>
          <a:ext cx="0" cy="0"/>
          <a:chOff x="0" y="0"/>
          <a:chExt cx="0" cy="0"/>
        </a:xfrm>
      </p:grpSpPr>
      <p:cxnSp>
        <p:nvCxnSpPr>
          <p:cNvPr id="1039" name="Google Shape;1039;p10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40" name="Google Shape;1040;p105"/>
          <p:cNvSpPr txBox="1"/>
          <p:nvPr/>
        </p:nvSpPr>
        <p:spPr>
          <a:xfrm>
            <a:off x="484565" y="4473719"/>
            <a:ext cx="10683444" cy="188394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lt1"/>
              </a:buClr>
              <a:buSzPts val="2800"/>
              <a:buFont typeface="Arial"/>
              <a:buNone/>
              <a:defRPr/>
            </a:pPr>
            <a:r>
              <a:rPr b="1" i="0" lang="en-US" sz="2800" u="none" cap="none" strike="noStrike">
                <a:solidFill>
                  <a:schemeClr val="lt1"/>
                </a:solidFill>
                <a:highlight>
                  <a:srgbClr val="1E2682"/>
                </a:highlight>
                <a:latin typeface="Arial"/>
                <a:ea typeface="Arial"/>
                <a:cs typeface="Arial"/>
                <a:sym typeface="Arial"/>
              </a:rPr>
              <a:t> Think About It</a:t>
            </a:r>
            <a:r>
              <a:rPr b="1" i="0" lang="en-US" sz="2800" u="none" cap="none" strike="noStrike">
                <a:solidFill>
                  <a:srgbClr val="1E2682"/>
                </a:solidFill>
                <a:highlight>
                  <a:srgbClr val="1E2682"/>
                </a:highlight>
                <a:latin typeface="Arial"/>
                <a:ea typeface="Arial"/>
                <a:cs typeface="Arial"/>
                <a:sym typeface="Arial"/>
              </a:rPr>
              <a:t>:</a:t>
            </a:r>
            <a:r>
              <a:rPr b="1" i="0" lang="en-US" sz="2800" u="none" cap="none" strike="noStrike">
                <a:solidFill>
                  <a:schemeClr val="lt1"/>
                </a:solidFill>
                <a:highlight>
                  <a:srgbClr val="1E2682"/>
                </a:highlight>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When finding the LCM of two numbers, you can stop listing multiples when you reach the product of the two numbers. Why do you think this is?</a:t>
            </a:r>
            <a:endParaRPr b="0" i="0" sz="1400" u="none" cap="none" strike="noStrike">
              <a:solidFill>
                <a:srgbClr val="000000"/>
              </a:solidFill>
              <a:latin typeface="Arial"/>
              <a:ea typeface="Arial"/>
              <a:cs typeface="Arial"/>
              <a:sym typeface="Arial"/>
            </a:endParaRPr>
          </a:p>
        </p:txBody>
      </p:sp>
      <p:pic>
        <p:nvPicPr>
          <p:cNvPr id="1041" name="Google Shape;1041;p105"/>
          <p:cNvPicPr preferRelativeResize="0"/>
          <p:nvPr/>
        </p:nvPicPr>
        <p:blipFill rotWithShape="1">
          <a:blip r:embed="rId3">
            <a:alphaModFix/>
          </a:blip>
          <a:srcRect b="0" l="0" r="0" t="0"/>
          <a:stretch/>
        </p:blipFill>
        <p:spPr>
          <a:xfrm>
            <a:off x="309517" y="2812280"/>
            <a:ext cx="11353890" cy="1586633"/>
          </a:xfrm>
          <a:prstGeom prst="rect">
            <a:avLst/>
          </a:prstGeom>
          <a:noFill/>
          <a:ln>
            <a:noFill/>
          </a:ln>
        </p:spPr>
      </p:pic>
      <p:sp>
        <p:nvSpPr>
          <p:cNvPr id="1042" name="Google Shape;1042;p105"/>
          <p:cNvSpPr txBox="1"/>
          <p:nvPr/>
        </p:nvSpPr>
        <p:spPr>
          <a:xfrm>
            <a:off x="484565" y="936000"/>
            <a:ext cx="7297360" cy="17252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The least common multiple of 6 and 8 is 24. The </a:t>
            </a:r>
            <a:r>
              <a:rPr b="1" i="0" lang="en-US" sz="2800" u="none" cap="none" strike="noStrike">
                <a:solidFill>
                  <a:srgbClr val="23282D"/>
                </a:solidFill>
                <a:highlight>
                  <a:srgbClr val="FFFF00"/>
                </a:highlight>
                <a:latin typeface="Arial"/>
                <a:ea typeface="Arial"/>
                <a:cs typeface="Arial"/>
                <a:sym typeface="Arial"/>
              </a:rPr>
              <a:t>least common multiple</a:t>
            </a:r>
            <a:r>
              <a:rPr b="0" i="0" lang="en-US" sz="2800" u="none" cap="none" strike="noStrike">
                <a:solidFill>
                  <a:srgbClr val="23282D"/>
                </a:solidFill>
                <a:latin typeface="Arial"/>
                <a:ea typeface="Arial"/>
                <a:cs typeface="Arial"/>
                <a:sym typeface="Arial"/>
              </a:rPr>
              <a:t> (LCM) is the multiple shared by two or more numbers with the least value.</a:t>
            </a:r>
            <a:endParaRPr b="1" i="0" sz="2800" u="none" cap="none" strike="noStrike">
              <a:solidFill>
                <a:srgbClr val="262626"/>
              </a:solidFill>
              <a:latin typeface="Arial"/>
              <a:ea typeface="Arial"/>
              <a:cs typeface="Arial"/>
              <a:sym typeface="Arial"/>
            </a:endParaRPr>
          </a:p>
        </p:txBody>
      </p:sp>
      <p:sp>
        <p:nvSpPr>
          <p:cNvPr id="1043" name="Google Shape;1043;p105"/>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defRPr/>
            </a:pPr>
            <a:r>
              <a:rPr b="1" i="0" lang="en-US" sz="2800" u="none" cap="none" strike="noStrike">
                <a:solidFill>
                  <a:srgbClr val="782DA0"/>
                </a:solidFill>
                <a:latin typeface="Arial"/>
                <a:ea typeface="Arial"/>
                <a:cs typeface="Arial"/>
                <a:sym typeface="Arial"/>
              </a:rPr>
              <a:t>Community Center Classes</a:t>
            </a:r>
            <a:endParaRPr b="0" i="0" sz="1400" u="none" cap="none" strike="noStrike">
              <a:solidFill>
                <a:srgbClr val="000000"/>
              </a:solidFill>
              <a:latin typeface="Arial"/>
              <a:ea typeface="Arial"/>
              <a:cs typeface="Arial"/>
              <a:sym typeface="Arial"/>
            </a:endParaRPr>
          </a:p>
        </p:txBody>
      </p:sp>
      <p:sp>
        <p:nvSpPr>
          <p:cNvPr id="10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37 / 51</a:t>
            </a: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cxnSp>
        <p:nvCxnSpPr>
          <p:cNvPr id="1058" name="Google Shape;1058;p10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1059" name="Google Shape;1059;p107"/>
          <p:cNvPicPr preferRelativeResize="0"/>
          <p:nvPr/>
        </p:nvPicPr>
        <p:blipFill rotWithShape="1">
          <a:blip r:embed="rId3">
            <a:alphaModFix/>
          </a:blip>
          <a:srcRect b="0" l="0" r="0" t="0"/>
          <a:stretch/>
        </p:blipFill>
        <p:spPr>
          <a:xfrm>
            <a:off x="484565" y="4893807"/>
            <a:ext cx="5054600" cy="838200"/>
          </a:xfrm>
          <a:prstGeom prst="rect">
            <a:avLst/>
          </a:prstGeom>
          <a:noFill/>
          <a:ln>
            <a:noFill/>
          </a:ln>
        </p:spPr>
      </p:pic>
      <p:sp>
        <p:nvSpPr>
          <p:cNvPr id="1060" name="Google Shape;1060;p107"/>
          <p:cNvSpPr txBox="1"/>
          <p:nvPr/>
        </p:nvSpPr>
        <p:spPr>
          <a:xfrm>
            <a:off x="3108609" y="5051125"/>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Generalizing</a:t>
            </a:r>
            <a:endParaRPr b="0" i="0" sz="1400" u="none" cap="none" strike="noStrike">
              <a:solidFill>
                <a:srgbClr val="000000"/>
              </a:solidFill>
              <a:latin typeface="Arial"/>
              <a:ea typeface="Arial"/>
              <a:cs typeface="Arial"/>
              <a:sym typeface="Arial"/>
            </a:endParaRPr>
          </a:p>
        </p:txBody>
      </p:sp>
      <p:sp>
        <p:nvSpPr>
          <p:cNvPr id="1061" name="Google Shape;1061;p107"/>
          <p:cNvSpPr/>
          <p:nvPr/>
        </p:nvSpPr>
        <p:spPr>
          <a:xfrm>
            <a:off x="697761" y="5709130"/>
            <a:ext cx="784239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How can this problem be solved more efficiently?</a:t>
            </a:r>
            <a:endParaRPr b="0" i="0" sz="1400" u="none" cap="none" strike="noStrike">
              <a:solidFill>
                <a:srgbClr val="000000"/>
              </a:solidFill>
              <a:latin typeface="Arial"/>
              <a:ea typeface="Arial"/>
              <a:cs typeface="Arial"/>
              <a:sym typeface="Arial"/>
            </a:endParaRPr>
          </a:p>
        </p:txBody>
      </p:sp>
      <p:pic>
        <p:nvPicPr>
          <p:cNvPr id="1062" name="Google Shape;1062;p107"/>
          <p:cNvPicPr preferRelativeResize="0"/>
          <p:nvPr/>
        </p:nvPicPr>
        <p:blipFill rotWithShape="1">
          <a:blip r:embed="rId4">
            <a:alphaModFix/>
          </a:blip>
          <a:srcRect b="0" l="0" r="0" t="0"/>
          <a:stretch/>
        </p:blipFill>
        <p:spPr>
          <a:xfrm>
            <a:off x="309517" y="2812280"/>
            <a:ext cx="11353890" cy="1586633"/>
          </a:xfrm>
          <a:prstGeom prst="rect">
            <a:avLst/>
          </a:prstGeom>
          <a:noFill/>
          <a:ln>
            <a:noFill/>
          </a:ln>
        </p:spPr>
      </p:pic>
      <p:sp>
        <p:nvSpPr>
          <p:cNvPr id="1063" name="Google Shape;1063;p107"/>
          <p:cNvSpPr txBox="1"/>
          <p:nvPr/>
        </p:nvSpPr>
        <p:spPr>
          <a:xfrm>
            <a:off x="484565" y="936000"/>
            <a:ext cx="7335460" cy="17252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least common multiple of 6 and 8 is 24. The </a:t>
            </a:r>
            <a:r>
              <a:rPr b="1" i="0" lang="en-US" sz="2800" u="none" cap="none" strike="noStrike">
                <a:solidFill>
                  <a:srgbClr val="23282D"/>
                </a:solidFill>
                <a:highlight>
                  <a:srgbClr val="FFFF00"/>
                </a:highlight>
                <a:latin typeface="Arial"/>
                <a:ea typeface="Arial"/>
                <a:cs typeface="Arial"/>
                <a:sym typeface="Arial"/>
              </a:rPr>
              <a:t>least common multiple</a:t>
            </a:r>
            <a:r>
              <a:rPr b="0" i="0" lang="en-US" sz="2800" u="none" cap="none" strike="noStrike">
                <a:solidFill>
                  <a:srgbClr val="23282D"/>
                </a:solidFill>
                <a:latin typeface="Arial"/>
                <a:ea typeface="Arial"/>
                <a:cs typeface="Arial"/>
                <a:sym typeface="Arial"/>
              </a:rPr>
              <a:t> (LCM) is the multiple shared by two or more numbers with the least value.</a:t>
            </a:r>
            <a:endParaRPr b="1" i="0" sz="2800" u="none" cap="none" strike="noStrike">
              <a:solidFill>
                <a:srgbClr val="262626"/>
              </a:solidFill>
              <a:latin typeface="Arial"/>
              <a:ea typeface="Arial"/>
              <a:cs typeface="Arial"/>
              <a:sym typeface="Arial"/>
            </a:endParaRPr>
          </a:p>
        </p:txBody>
      </p:sp>
      <p:sp>
        <p:nvSpPr>
          <p:cNvPr id="1064" name="Google Shape;1064;p107"/>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Community Center Classes</a:t>
            </a:r>
            <a:endParaRPr b="0" i="0" sz="1400" u="none" cap="none" strike="noStrike">
              <a:solidFill>
                <a:srgbClr val="000000"/>
              </a:solidFill>
              <a:latin typeface="Arial"/>
              <a:ea typeface="Arial"/>
              <a:cs typeface="Arial"/>
              <a:sym typeface="Arial"/>
            </a:endParaRPr>
          </a:p>
        </p:txBody>
      </p:sp>
      <p:sp>
        <p:nvSpPr>
          <p:cNvPr id="106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39 / 51</a:t>
            </a:r>
          </a:p>
        </p:txBody>
      </p:sp>
      <p:sp xmlns:p="http://schemas.openxmlformats.org/presentationml/2006/main" xmlns:a="http://schemas.openxmlformats.org/drawingml/2006/main">
        <p:nvSpPr>
          <p:cNvPr id="1066" name="TEACH-embedded-student-prompt" descr="Student thinking and response directions"/>
          <p:cNvSpPr txBox="1"/>
          <p:nvPr/>
        </p:nvSpPr>
        <p:spPr>
          <a:xfrm>
            <a:off x="6111240" y="477316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a:t>
            </a:r>
            <a:endParaRPr lang="en-US" sz="2000"/>
          </a:p>
          <a:p>
            <a:pPr>
              <a:lnSpc>
                <a:spcPts val="2400"/>
              </a:lnSpc>
              <a:buNone/>
            </a:pPr>
            <a:r>
              <a:rPr lang="en-US" sz="2000">
                <a:solidFill>
                  <a:srgbClr val="174D60"/>
                </a:solidFill>
                <a:latin typeface="Arial"/>
              </a:rPr>
              <a:t>work supports your answer?</a:t>
            </a:r>
            <a:endParaRPr lang="en-US" sz="20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8" name="Shape 1068"/>
        <p:cNvGrpSpPr/>
        <p:nvPr/>
      </p:nvGrpSpPr>
      <p:grpSpPr>
        <a:xfrm>
          <a:off x="0" y="0"/>
          <a:ext cx="0" cy="0"/>
          <a:chOff x="0" y="0"/>
          <a:chExt cx="0" cy="0"/>
        </a:xfrm>
      </p:grpSpPr>
      <p:cxnSp>
        <p:nvCxnSpPr>
          <p:cNvPr id="1069" name="Google Shape;1069;p10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70" name="Google Shape;1070;p108"/>
          <p:cNvSpPr txBox="1"/>
          <p:nvPr/>
        </p:nvSpPr>
        <p:spPr>
          <a:xfrm>
            <a:off x="484565" y="936100"/>
            <a:ext cx="5150097" cy="18329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Ayasha is at the community center every 8 weeks for her painting class and every 6 weeks for her pottery class. Her schedule for the week is shown.</a:t>
            </a:r>
            <a:endParaRPr b="0" i="0" sz="1400" u="none" cap="none" strike="noStrike">
              <a:solidFill>
                <a:srgbClr val="000000"/>
              </a:solidFill>
              <a:latin typeface="Arial"/>
              <a:ea typeface="Arial"/>
              <a:cs typeface="Arial"/>
              <a:sym typeface="Arial"/>
            </a:endParaRPr>
          </a:p>
        </p:txBody>
      </p:sp>
      <p:sp>
        <p:nvSpPr>
          <p:cNvPr id="1071" name="Google Shape;1071;p108"/>
          <p:cNvSpPr txBox="1"/>
          <p:nvPr/>
        </p:nvSpPr>
        <p:spPr>
          <a:xfrm>
            <a:off x="484565" y="4088922"/>
            <a:ext cx="6673617" cy="102497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When will she have both classes in the same week again?</a:t>
            </a:r>
            <a:endParaRPr b="0" i="0" sz="1400" u="none" cap="none" strike="noStrike">
              <a:solidFill>
                <a:srgbClr val="000000"/>
              </a:solidFill>
              <a:latin typeface="Arial"/>
              <a:ea typeface="Arial"/>
              <a:cs typeface="Arial"/>
              <a:sym typeface="Arial"/>
            </a:endParaRPr>
          </a:p>
        </p:txBody>
      </p:sp>
      <p:pic>
        <p:nvPicPr>
          <p:cNvPr id="1072" name="Google Shape;1072;p108"/>
          <p:cNvPicPr preferRelativeResize="0"/>
          <p:nvPr/>
        </p:nvPicPr>
        <p:blipFill rotWithShape="1">
          <a:blip r:embed="rId3">
            <a:alphaModFix/>
          </a:blip>
          <a:srcRect b="0" l="0" r="0" t="0"/>
          <a:stretch/>
        </p:blipFill>
        <p:spPr>
          <a:xfrm>
            <a:off x="5634662" y="1779079"/>
            <a:ext cx="5870114" cy="1980000"/>
          </a:xfrm>
          <a:prstGeom prst="rect">
            <a:avLst/>
          </a:prstGeom>
          <a:noFill/>
          <a:ln>
            <a:noFill/>
          </a:ln>
        </p:spPr>
      </p:pic>
      <p:sp>
        <p:nvSpPr>
          <p:cNvPr id="1073" name="Google Shape;1073;p108"/>
          <p:cNvSpPr txBox="1"/>
          <p:nvPr/>
        </p:nvSpPr>
        <p:spPr>
          <a:xfrm>
            <a:off x="484565" y="5184407"/>
            <a:ext cx="6789538" cy="954107"/>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Ayasha will have both classes in the same week again in 24 weeks.</a:t>
            </a:r>
            <a:endParaRPr b="0" i="0" sz="1400" u="none" cap="none" strike="noStrike">
              <a:solidFill>
                <a:srgbClr val="000000"/>
              </a:solidFill>
              <a:latin typeface="Arial"/>
              <a:ea typeface="Arial"/>
              <a:cs typeface="Arial"/>
              <a:sym typeface="Arial"/>
            </a:endParaRPr>
          </a:p>
        </p:txBody>
      </p:sp>
      <p:sp>
        <p:nvSpPr>
          <p:cNvPr id="1074" name="Google Shape;1074;p108"/>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82DA0"/>
                </a:solidFill>
                <a:latin typeface="Arial"/>
                <a:ea typeface="Arial"/>
                <a:cs typeface="Arial"/>
                <a:sym typeface="Arial"/>
              </a:rPr>
              <a:t>Community Center Classes</a:t>
            </a:r>
            <a:endParaRPr b="0" i="0" sz="1400" u="none" cap="none" strike="noStrike">
              <a:solidFill>
                <a:srgbClr val="000000"/>
              </a:solidFill>
              <a:latin typeface="Arial"/>
              <a:ea typeface="Arial"/>
              <a:cs typeface="Arial"/>
              <a:sym typeface="Arial"/>
            </a:endParaRPr>
          </a:p>
        </p:txBody>
      </p:sp>
      <p:sp>
        <p:nvSpPr>
          <p:cNvPr id="1075"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40 / 51</a:t>
            </a:r>
          </a:p>
        </p:txBody>
      </p:sp>
      <p:sp xmlns:p="http://schemas.openxmlformats.org/presentationml/2006/main" xmlns:a="http://schemas.openxmlformats.org/drawingml/2006/main">
        <p:nvSpPr>
          <p:cNvPr id="1076"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a:t>
            </a:r>
            <a:endParaRPr lang="en-US" sz="2000"/>
          </a:p>
          <a:p>
            <a:pPr>
              <a:lnSpc>
                <a:spcPts val="2400"/>
              </a:lnSpc>
              <a:buNone/>
            </a:pPr>
            <a:r>
              <a:rPr lang="en-US" sz="2000">
                <a:solidFill>
                  <a:srgbClr val="174D60"/>
                </a:solidFill>
                <a:latin typeface="Arial"/>
              </a:rPr>
              <a:t>of your work supports your</a:t>
            </a:r>
            <a:endParaRPr lang="en-US" sz="2000"/>
          </a:p>
          <a:p>
            <a:pPr>
              <a:lnSpc>
                <a:spcPts val="2400"/>
              </a:lnSpc>
              <a:buNone/>
            </a:pPr>
            <a:r>
              <a:rPr lang="en-US" sz="2000">
                <a:solidFill>
                  <a:srgbClr val="174D60"/>
                </a:solidFill>
                <a:latin typeface="Arial"/>
              </a:rPr>
              <a:t>answer?</a:t>
            </a:r>
            <a:endParaRPr lang="en-US" sz="20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8" name="Shape 1078"/>
        <p:cNvGrpSpPr/>
        <p:nvPr/>
      </p:nvGrpSpPr>
      <p:grpSpPr>
        <a:xfrm>
          <a:off x="0" y="0"/>
          <a:ext cx="0" cy="0"/>
          <a:chOff x="0" y="0"/>
          <a:chExt cx="0" cy="0"/>
        </a:xfrm>
      </p:grpSpPr>
      <p:sp>
        <p:nvSpPr>
          <p:cNvPr id="1079" name="Google Shape;1079;p109"/>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1080" name="Google Shape;1080;p109"/>
          <p:cNvSpPr txBox="1"/>
          <p:nvPr/>
        </p:nvSpPr>
        <p:spPr>
          <a:xfrm>
            <a:off x="486000" y="936000"/>
            <a:ext cx="7852142" cy="5172972"/>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Arial"/>
              <a:buAutoNum type="alphaLcPeriod"/>
              <a:defRPr/>
            </a:pPr>
            <a:r>
              <a:rPr b="0" i="0" lang="en-US" sz="2800" u="none" cap="none" strike="noStrike">
                <a:solidFill>
                  <a:srgbClr val="23282D"/>
                </a:solidFill>
                <a:latin typeface="Arial"/>
                <a:ea typeface="Arial"/>
                <a:cs typeface="Arial"/>
                <a:sym typeface="Arial"/>
              </a:rPr>
              <a:t>When would the least common multiple of two numbers be the product of the numbers? Give an example.</a:t>
            </a:r>
            <a:endParaRPr b="0" i="0" sz="1400" u="none" cap="none" strike="noStrike">
              <a:solidFill>
                <a:srgbClr val="000000"/>
              </a:solidFill>
              <a:latin typeface="Arial"/>
              <a:ea typeface="Arial"/>
              <a:cs typeface="Arial"/>
              <a:sym typeface="Arial"/>
            </a:endParaRPr>
          </a:p>
          <a:p>
            <a:pPr indent="-336550" lvl="0" marL="51435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336550" lvl="0" marL="51435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514350" lvl="0" marL="514350" marR="0" rtl="0" algn="l">
              <a:lnSpc>
                <a:spcPct val="100000"/>
              </a:lnSpc>
              <a:spcBef>
                <a:spcPts val="1800"/>
              </a:spcBef>
              <a:spcAft>
                <a:spcPts val="0"/>
              </a:spcAft>
              <a:buClr>
                <a:srgbClr val="262626"/>
              </a:buClr>
              <a:buSzPts val="2800"/>
              <a:buFont typeface="Arial"/>
              <a:buAutoNum type="alphaLcPeriod"/>
              <a:defRPr/>
            </a:pPr>
            <a:r>
              <a:rPr b="0" i="0" lang="en-US" sz="2800" u="none" cap="none" strike="noStrike">
                <a:solidFill>
                  <a:srgbClr val="23282D"/>
                </a:solidFill>
                <a:latin typeface="Arial"/>
                <a:ea typeface="Arial"/>
                <a:cs typeface="Arial"/>
                <a:sym typeface="Arial"/>
              </a:rPr>
              <a:t>Can the least common multiple of two numbers ever be one of the given numbers? If so, give an example.</a:t>
            </a:r>
            <a:endParaRPr b="0" i="0" sz="1400" u="none" cap="none" strike="noStrike">
              <a:solidFill>
                <a:srgbClr val="000000"/>
              </a:solidFill>
              <a:latin typeface="Arial"/>
              <a:ea typeface="Arial"/>
              <a:cs typeface="Arial"/>
              <a:sym typeface="Arial"/>
            </a:endParaRPr>
          </a:p>
          <a:p>
            <a:pPr indent="-336550" lvl="0" marL="51435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p:txBody>
      </p:sp>
      <p:sp>
        <p:nvSpPr>
          <p:cNvPr id="108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41 / 51</a:t>
            </a:r>
          </a:p>
        </p:txBody>
      </p:sp>
      <p:grpSp>
        <p:nvGrpSpPr>
          <p:cNvPr id="1082" name="TEACH-2-student-move" descr="TEACH 2 · Use strategies and tasks to engage students in rigorous work"/>
          <p:cNvGrpSpPr/>
          <p:nvPr/>
        </p:nvGrpSpPr>
        <p:grpSpPr>
          <a:xfrm>
            <a:off x="502920" y="5123342"/>
            <a:ext cx="11186160" cy="731520"/>
            <a:chOff x="502920" y="5123342"/>
            <a:chExt cx="11186160" cy="731520"/>
          </a:xfrm>
        </p:grpSpPr>
        <p:sp>
          <p:nvSpPr>
            <p:cNvPr id="1083" name="TEACH-move-card"/>
            <p:cNvSpPr/>
            <p:nvPr/>
          </p:nvSpPr>
          <p:spPr>
            <a:xfrm>
              <a:off x="502920" y="512334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1084" name="TEACH-move-rule"/>
            <p:cNvSpPr/>
            <p:nvPr/>
          </p:nvSpPr>
          <p:spPr>
            <a:xfrm>
              <a:off x="548640" y="5262331"/>
              <a:ext cx="100584" cy="453542"/>
            </a:xfrm>
            <a:prstGeom prst="roundRect">
              <a:avLst>
                <a:gd name="adj" fmla="val 50000"/>
              </a:avLst>
            </a:prstGeom>
            <a:solidFill>
              <a:srgbClr val="01708C"/>
            </a:solidFill>
            <a:ln>
              <a:noFill/>
            </a:ln>
          </p:spPr>
          <p:txBody>
            <a:bodyPr/>
            <a:lstStyle/>
            <a:p>
              <a:endParaRPr/>
            </a:p>
          </p:txBody>
        </p:sp>
        <p:sp>
          <p:nvSpPr>
            <p:cNvPr id="1085" name="TEACH-move-text"/>
            <p:cNvSpPr txBox="1"/>
            <p:nvPr/>
          </p:nvSpPr>
          <p:spPr>
            <a:xfrm>
              <a:off x="822960" y="512334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YOUR CHOICE  ·  </a:t>
              </a:r>
              <a:r>
                <a:rPr lang="en-US" sz="1800" dirty="0">
                  <a:solidFill>
                    <a:srgbClr val="13303A"/>
                  </a:solidFill>
                  <a:latin typeface="Arial"/>
                </a:rPr>
                <a:t>You choose how to show this — numbers, words, or a diagram. Make your reasoning visible.</a:t>
              </a:r>
              <a:endParaRPr lang="en-US" sz="1800"/>
            </a:p>
          </p:txBody>
        </p:sp>
      </p:gr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6.7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using the greatest common factor for a repeating-cycle problem.</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Organize factor lists or multiple lists for the given numbers and connect them to the context.</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34" name="Google Shape;934;p9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35" name="Google Shape;935;p93"/>
          <p:cNvSpPr txBox="1"/>
          <p:nvPr/>
        </p:nvSpPr>
        <p:spPr>
          <a:xfrm>
            <a:off x="484565" y="4838864"/>
            <a:ext cx="10858106" cy="15105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Painting class occurs every 8 weeks, so we can find multiples of 8. Pottery class happens every 6 weeks, so we can find multiples of 6.</a:t>
            </a:r>
            <a:endParaRPr b="0" i="0" sz="1400" u="none" cap="none" strike="noStrike">
              <a:solidFill>
                <a:srgbClr val="000000"/>
              </a:solidFill>
              <a:latin typeface="Arial"/>
              <a:ea typeface="Arial"/>
              <a:cs typeface="Arial"/>
              <a:sym typeface="Arial"/>
            </a:endParaRPr>
          </a:p>
        </p:txBody>
      </p:sp>
      <p:sp>
        <p:nvSpPr>
          <p:cNvPr id="936" name="Google Shape;936;p93"/>
          <p:cNvSpPr txBox="1"/>
          <p:nvPr/>
        </p:nvSpPr>
        <p:spPr>
          <a:xfrm>
            <a:off x="484565" y="936000"/>
            <a:ext cx="7179956" cy="252506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Ayasha has both classes this week. Painting class occurs every 8 weeks. Pottery class occurs every 6 weeks.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find when she will have painting class again? pottery class?</a:t>
            </a:r>
            <a:endParaRPr b="0" i="0" sz="1400" u="none" cap="none" strike="noStrike">
              <a:solidFill>
                <a:srgbClr val="000000"/>
              </a:solidFill>
              <a:latin typeface="Arial"/>
              <a:ea typeface="Arial"/>
              <a:cs typeface="Arial"/>
              <a:sym typeface="Arial"/>
            </a:endParaRPr>
          </a:p>
        </p:txBody>
      </p:sp>
      <p:sp>
        <p:nvSpPr>
          <p:cNvPr id="937" name="Google Shape;937;p93"/>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Community Center Classes</a:t>
            </a:r>
            <a:endParaRPr b="0" i="0" sz="1400" u="none" cap="none" strike="noStrike">
              <a:solidFill>
                <a:srgbClr val="000000"/>
              </a:solidFill>
              <a:latin typeface="Arial"/>
              <a:ea typeface="Arial"/>
              <a:cs typeface="Arial"/>
              <a:sym typeface="Arial"/>
            </a:endParaRPr>
          </a:p>
        </p:txBody>
      </p:sp>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43 / 51</a:t>
            </a:r>
          </a:p>
        </p:txBody>
      </p:sp>
      <p:sp xmlns:p="http://schemas.openxmlformats.org/presentationml/2006/main" xmlns:a="http://schemas.openxmlformats.org/drawingml/2006/main">
        <p:nvSpPr>
          <p:cNvPr id="938" name="TEACH-embedded-student-prompt" descr="Student thinking and response directions"/>
          <p:cNvSpPr txBox="1"/>
          <p:nvPr/>
        </p:nvSpPr>
        <p:spPr>
          <a:xfrm>
            <a:off x="594360" y="426110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1003" name="Google Shape;1003;p10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04" name="Google Shape;1004;p101"/>
          <p:cNvSpPr txBox="1"/>
          <p:nvPr/>
        </p:nvSpPr>
        <p:spPr>
          <a:xfrm>
            <a:off x="484565" y="934140"/>
            <a:ext cx="6413385" cy="96523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is the least multiple that the classes have in common?</a:t>
            </a:r>
            <a:endParaRPr b="1" i="0" sz="2800" u="none" cap="none" strike="noStrike">
              <a:solidFill>
                <a:srgbClr val="262626"/>
              </a:solidFill>
              <a:latin typeface="Arial"/>
              <a:ea typeface="Arial"/>
              <a:cs typeface="Arial"/>
              <a:sym typeface="Arial"/>
            </a:endParaRPr>
          </a:p>
        </p:txBody>
      </p:sp>
      <p:sp>
        <p:nvSpPr>
          <p:cNvPr id="1005" name="Google Shape;1005;p101"/>
          <p:cNvSpPr txBox="1"/>
          <p:nvPr/>
        </p:nvSpPr>
        <p:spPr>
          <a:xfrm>
            <a:off x="484565" y="5259476"/>
            <a:ext cx="4501503" cy="11749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24</a:t>
            </a:r>
            <a:endParaRPr b="0" i="0" sz="1400" u="none" cap="none" strike="noStrike">
              <a:solidFill>
                <a:srgbClr val="000000"/>
              </a:solidFill>
              <a:latin typeface="Arial"/>
              <a:ea typeface="Arial"/>
              <a:cs typeface="Arial"/>
              <a:sym typeface="Arial"/>
            </a:endParaRPr>
          </a:p>
        </p:txBody>
      </p:sp>
      <p:pic>
        <p:nvPicPr>
          <p:cNvPr id="1006" name="Google Shape;1006;p101"/>
          <p:cNvPicPr preferRelativeResize="0"/>
          <p:nvPr/>
        </p:nvPicPr>
        <p:blipFill rotWithShape="1">
          <a:blip r:embed="rId2">
            <a:alphaModFix/>
          </a:blip>
          <a:srcRect b="0" l="0" r="0" t="0"/>
          <a:stretch/>
        </p:blipFill>
        <p:spPr>
          <a:xfrm>
            <a:off x="309517" y="2812280"/>
            <a:ext cx="11353890" cy="1586633"/>
          </a:xfrm>
          <a:prstGeom prst="rect">
            <a:avLst/>
          </a:prstGeom>
          <a:noFill/>
          <a:ln>
            <a:noFill/>
          </a:ln>
        </p:spPr>
      </p:pic>
      <p:sp>
        <p:nvSpPr>
          <p:cNvPr id="1007" name="Google Shape;1007;p101"/>
          <p:cNvSpPr txBox="1"/>
          <p:nvPr/>
        </p:nvSpPr>
        <p:spPr>
          <a:xfrm>
            <a:off x="484565" y="316034"/>
            <a:ext cx="499259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030A0"/>
              </a:buClr>
              <a:buSzPts val="2800"/>
              <a:buFont typeface="Arial"/>
              <a:buNone/>
            </a:pPr>
            <a:r>
              <a:rPr b="1" i="0" lang="en-US" sz="2800" u="none" cap="none" strike="noStrike">
                <a:solidFill>
                  <a:srgbClr val="7030A0"/>
                </a:solidFill>
                <a:latin typeface="Arial"/>
                <a:ea typeface="Arial"/>
                <a:cs typeface="Arial"/>
                <a:sym typeface="Arial"/>
              </a:rPr>
              <a:t>Community Center Classes</a:t>
            </a:r>
            <a:endParaRPr b="0" i="0" sz="1400" u="none" cap="none" strike="noStrike">
              <a:solidFill>
                <a:srgbClr val="000000"/>
              </a:solidFill>
              <a:latin typeface="Arial"/>
              <a:ea typeface="Arial"/>
              <a:cs typeface="Arial"/>
              <a:sym typeface="Arial"/>
            </a:endParaRPr>
          </a:p>
        </p:txBody>
      </p:sp>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44 / 51</a:t>
            </a:r>
          </a:p>
        </p:txBody>
      </p:sp>
      <p:sp xmlns:p="http://schemas.openxmlformats.org/presentationml/2006/main" xmlns:a="http://schemas.openxmlformats.org/drawingml/2006/main">
        <p:nvSpPr>
          <p:cNvPr id="1008" name="TEACH-embedded-student-prompt" descr="Student thinking and response directions"/>
          <p:cNvSpPr txBox="1"/>
          <p:nvPr/>
        </p:nvSpPr>
        <p:spPr>
          <a:xfrm>
            <a:off x="594360" y="462686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Google Shape;1085;p110"/>
          <p:cNvSpPr txBox="1"/>
          <p:nvPr/>
        </p:nvSpPr>
        <p:spPr>
          <a:xfrm>
            <a:off x="484565" y="1303430"/>
            <a:ext cx="7209691" cy="396731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greatest common factor (GCF) is the factor shared by two or more numbers with the greatest 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Factors of 48:</a:t>
            </a:r>
            <a:r>
              <a:rPr b="0" i="0" lang="en-US" sz="2800" u="none" cap="none" strike="noStrike">
                <a:solidFill>
                  <a:srgbClr val="23282D"/>
                </a:solidFill>
                <a:latin typeface="Arial"/>
                <a:ea typeface="Arial"/>
                <a:cs typeface="Arial"/>
                <a:sym typeface="Arial"/>
              </a:rPr>
              <a:t> 1, 2, 3, 4, 6, 8, 12, 16, 24, 48</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Factors of 36:</a:t>
            </a:r>
            <a:r>
              <a:rPr b="0" i="0" lang="en-US" sz="2800" u="none" cap="none" strike="noStrike">
                <a:solidFill>
                  <a:srgbClr val="23282D"/>
                </a:solidFill>
                <a:latin typeface="Arial"/>
                <a:ea typeface="Arial"/>
                <a:cs typeface="Arial"/>
                <a:sym typeface="Arial"/>
              </a:rPr>
              <a:t> 1, 2, 3, 4, 6, 9, 12, 18, 36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GCF is 12.</a:t>
            </a:r>
            <a:endParaRPr b="0" i="0" sz="1400" u="none" cap="none" strike="noStrike">
              <a:solidFill>
                <a:srgbClr val="000000"/>
              </a:solidFill>
              <a:latin typeface="Arial"/>
              <a:ea typeface="Arial"/>
              <a:cs typeface="Arial"/>
              <a:sym typeface="Arial"/>
            </a:endParaRPr>
          </a:p>
        </p:txBody>
      </p:sp>
      <p:sp>
        <p:nvSpPr>
          <p:cNvPr id="1086" name="Google Shape;1086;p110"/>
          <p:cNvSpPr txBox="1"/>
          <p:nvPr/>
        </p:nvSpPr>
        <p:spPr>
          <a:xfrm>
            <a:off x="484565" y="316034"/>
            <a:ext cx="6276453" cy="86578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Summarize: </a:t>
            </a:r>
            <a:r>
              <a:rPr b="1" i="0" lang="en-US" sz="2800" u="none" cap="none" strike="noStrike">
                <a:solidFill>
                  <a:srgbClr val="782DA0"/>
                </a:solidFill>
                <a:latin typeface="Arial"/>
                <a:ea typeface="Arial"/>
                <a:cs typeface="Arial"/>
                <a:sym typeface="Arial"/>
              </a:rPr>
              <a:t>Find Factors and Multiples</a:t>
            </a:r>
            <a:endParaRPr b="0" i="0" sz="1400" u="none" cap="none" strike="noStrike">
              <a:solidFill>
                <a:srgbClr val="000000"/>
              </a:solidFill>
              <a:latin typeface="Arial"/>
              <a:ea typeface="Arial"/>
              <a:cs typeface="Arial"/>
              <a:sym typeface="Arial"/>
            </a:endParaRPr>
          </a:p>
        </p:txBody>
      </p:sp>
      <p:cxnSp>
        <p:nvCxnSpPr>
          <p:cNvPr id="1087" name="Google Shape;1087;p110"/>
          <p:cNvCxnSpPr/>
          <p:nvPr/>
        </p:nvCxnSpPr>
        <p:spPr>
          <a:xfrm flipH="1" rot="10800000">
            <a:off x="484565" y="5510609"/>
            <a:ext cx="7209691" cy="43961"/>
          </a:xfrm>
          <a:prstGeom prst="straightConnector1">
            <a:avLst/>
          </a:prstGeom>
          <a:noFill/>
          <a:ln cap="flat" cmpd="sng" w="9525">
            <a:solidFill>
              <a:schemeClr val="dk1"/>
            </a:solidFill>
            <a:prstDash val="solid"/>
            <a:miter lim="80"/>
            <a:headEnd len="sm" w="sm" type="none"/>
            <a:tailEnd len="sm" w="sm" type="none"/>
          </a:ln>
        </p:spPr>
      </p:cxnSp>
      <p:sp>
        <p:nvSpPr>
          <p:cNvPr id="108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45 / 51</a:t>
            </a:r>
          </a:p>
        </p:txBody>
      </p:sp>
      <p:sp>
        <p:nvSpPr>
          <p:cNvPr id="1089"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  SAY IT IN YOUR OWN WORDS</a:t>
            </a:r>
          </a:p>
        </p:txBody>
      </p:sp>
      <p:sp xmlns:p="http://schemas.openxmlformats.org/presentationml/2006/main" xmlns:a="http://schemas.openxmlformats.org/drawingml/2006/main">
        <p:nvSpPr>
          <p:cNvPr id="1090"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 reading. Use today’s example as evidence.</a:t>
            </a:r>
            <a:endParaRPr lang="en-US" sz="2000"/>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111"/>
          <p:cNvSpPr txBox="1"/>
          <p:nvPr/>
        </p:nvSpPr>
        <p:spPr>
          <a:xfrm>
            <a:off x="484565" y="1301761"/>
            <a:ext cx="6627437" cy="339963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least common multiple (LCM) is the multiple shared by two or more numbers with the least value.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Multiples of 15:</a:t>
            </a:r>
            <a:r>
              <a:rPr b="0" i="0" lang="en-US" sz="2800" u="none" cap="none" strike="noStrike">
                <a:solidFill>
                  <a:srgbClr val="23282D"/>
                </a:solidFill>
                <a:latin typeface="Arial"/>
                <a:ea typeface="Arial"/>
                <a:cs typeface="Arial"/>
                <a:sym typeface="Arial"/>
              </a:rPr>
              <a:t> 15, 30, 45…</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Multiples of 30:</a:t>
            </a:r>
            <a:r>
              <a:rPr b="0" i="0" lang="en-US" sz="2800" u="none" cap="none" strike="noStrike">
                <a:solidFill>
                  <a:srgbClr val="23282D"/>
                </a:solidFill>
                <a:latin typeface="Arial"/>
                <a:ea typeface="Arial"/>
                <a:cs typeface="Arial"/>
                <a:sym typeface="Arial"/>
              </a:rPr>
              <a:t> 30, 60, 90…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LCM is 30.</a:t>
            </a:r>
            <a:endParaRPr b="0" i="0" sz="1400" u="none" cap="none" strike="noStrike">
              <a:solidFill>
                <a:srgbClr val="000000"/>
              </a:solidFill>
              <a:latin typeface="Arial"/>
              <a:ea typeface="Arial"/>
              <a:cs typeface="Arial"/>
              <a:sym typeface="Arial"/>
            </a:endParaRPr>
          </a:p>
        </p:txBody>
      </p:sp>
      <p:sp>
        <p:nvSpPr>
          <p:cNvPr id="1093" name="Google Shape;1093;p111"/>
          <p:cNvSpPr txBox="1"/>
          <p:nvPr/>
        </p:nvSpPr>
        <p:spPr>
          <a:xfrm>
            <a:off x="484565" y="316034"/>
            <a:ext cx="6276453" cy="86578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Summarize: </a:t>
            </a:r>
            <a:r>
              <a:rPr b="1" i="0" lang="en-US" sz="2800" u="none" cap="none" strike="noStrike">
                <a:solidFill>
                  <a:srgbClr val="782DA0"/>
                </a:solidFill>
                <a:latin typeface="Arial"/>
                <a:ea typeface="Arial"/>
                <a:cs typeface="Arial"/>
                <a:sym typeface="Arial"/>
              </a:rPr>
              <a:t>Find Factors and Multiples</a:t>
            </a:r>
            <a:endParaRPr b="1" i="0" sz="1500" u="none" cap="none" strike="noStrike">
              <a:solidFill>
                <a:srgbClr val="782DA0"/>
              </a:solidFill>
              <a:latin typeface="Arial"/>
              <a:ea typeface="Arial"/>
              <a:cs typeface="Arial"/>
              <a:sym typeface="Arial"/>
            </a:endParaRPr>
          </a:p>
        </p:txBody>
      </p:sp>
      <p:sp>
        <p:nvSpPr>
          <p:cNvPr id="109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46 / 51</a:t>
            </a:r>
          </a:p>
        </p:txBody>
      </p:sp>
      <p:sp>
        <p:nvSpPr>
          <p:cNvPr id="1095"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  SAY IT IN YOUR OWN WORDS</a:t>
            </a:r>
          </a:p>
        </p:txBody>
      </p:sp>
      <p:sp xmlns:p="http://schemas.openxmlformats.org/presentationml/2006/main" xmlns:a="http://schemas.openxmlformats.org/drawingml/2006/main">
        <p:nvSpPr>
          <p:cNvPr id="1096"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 reading. Use today’s example as evidence.</a:t>
            </a:r>
            <a:endParaRPr lang="en-US" sz="20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7" name="Shape 1097"/>
        <p:cNvGrpSpPr/>
        <p:nvPr/>
      </p:nvGrpSpPr>
      <p:grpSpPr>
        <a:xfrm>
          <a:off x="0" y="0"/>
          <a:ext cx="0" cy="0"/>
          <a:chOff x="0" y="0"/>
          <a:chExt cx="0" cy="0"/>
        </a:xfrm>
      </p:grpSpPr>
      <p:cxnSp>
        <p:nvCxnSpPr>
          <p:cNvPr id="1098" name="Google Shape;1098;p11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099" name="Google Shape;1099;p112"/>
          <p:cNvSpPr txBox="1"/>
          <p:nvPr/>
        </p:nvSpPr>
        <p:spPr>
          <a:xfrm>
            <a:off x="484564" y="927528"/>
            <a:ext cx="7450068" cy="521447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Reginald is having hot dogs at his party and 24 people are coming. His mom wants to have the same number of buns and hot dogs. Hot dogs and buns come in the packs shown.</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Question:</a:t>
            </a:r>
            <a:r>
              <a:rPr b="0" i="0" lang="en-US" sz="2800" u="none" cap="none" strike="noStrike">
                <a:solidFill>
                  <a:srgbClr val="23282D"/>
                </a:solidFill>
                <a:latin typeface="Arial"/>
                <a:ea typeface="Arial"/>
                <a:cs typeface="Arial"/>
                <a:sym typeface="Arial"/>
              </a:rPr>
              <a:t> How many packs of each do you recommend that she buy? Explain your reasoning.</a:t>
            </a:r>
            <a:endParaRPr b="0" i="0" sz="1400" u="none" cap="none" strike="noStrike">
              <a:solidFill>
                <a:srgbClr val="000000"/>
              </a:solidFill>
              <a:latin typeface="Arial"/>
              <a:ea typeface="Arial"/>
              <a:cs typeface="Arial"/>
              <a:sym typeface="Arial"/>
            </a:endParaRPr>
          </a:p>
        </p:txBody>
      </p:sp>
      <p:sp>
        <p:nvSpPr>
          <p:cNvPr id="1100" name="Google Shape;1100;p112"/>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0" i="0" lang="en-US" sz="2800" u="none" cap="none" strike="noStrike">
                <a:solidFill>
                  <a:srgbClr val="782DA0"/>
                </a:solidFill>
                <a:latin typeface="Arial"/>
                <a:ea typeface="Arial"/>
                <a:cs typeface="Arial"/>
                <a:sym typeface="Arial"/>
              </a:rPr>
              <a:t>Apply: </a:t>
            </a:r>
            <a:r>
              <a:rPr b="1" i="0" lang="en-US" sz="2800" u="none" cap="none" strike="noStrike">
                <a:solidFill>
                  <a:srgbClr val="782DA0"/>
                </a:solidFill>
                <a:latin typeface="Arial"/>
                <a:ea typeface="Arial"/>
                <a:cs typeface="Arial"/>
                <a:sym typeface="Arial"/>
              </a:rPr>
              <a:t>Party Plans</a:t>
            </a:r>
            <a:endParaRPr b="0" i="0" sz="1400" u="none" cap="none" strike="noStrike">
              <a:solidFill>
                <a:srgbClr val="000000"/>
              </a:solidFill>
              <a:latin typeface="Arial"/>
              <a:ea typeface="Arial"/>
              <a:cs typeface="Arial"/>
              <a:sym typeface="Arial"/>
            </a:endParaRPr>
          </a:p>
        </p:txBody>
      </p:sp>
      <p:pic>
        <p:nvPicPr>
          <p:cNvPr id="1101" name="Google Shape;1101;p112"/>
          <p:cNvPicPr preferRelativeResize="0"/>
          <p:nvPr/>
        </p:nvPicPr>
        <p:blipFill rotWithShape="1">
          <a:blip r:embed="rId3">
            <a:alphaModFix/>
          </a:blip>
          <a:srcRect b="0" l="0" r="0" t="0"/>
          <a:stretch/>
        </p:blipFill>
        <p:spPr>
          <a:xfrm>
            <a:off x="1078743" y="2787446"/>
            <a:ext cx="6112914" cy="2042301"/>
          </a:xfrm>
          <a:prstGeom prst="rect">
            <a:avLst/>
          </a:prstGeom>
          <a:noFill/>
          <a:ln>
            <a:noFill/>
          </a:ln>
        </p:spPr>
      </p:pic>
      <p:sp>
        <p:nvSpPr>
          <p:cNvPr id="11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47 / 51</a:t>
            </a:r>
          </a:p>
        </p:txBody>
      </p:sp>
      <p:sp>
        <p:nvSpPr>
          <p:cNvPr id="110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defRPr/>
            </a:pPr>
            <a:r>
              <a:rPr lang="en-US" sz="1200" b="1">
                <a:solidFill>
                  <a:srgbClr val="1E2682"/>
                </a:solidFill>
                <a:latin typeface="Arial"/>
              </a:rPr>
              <a:t>APPLY</a:t>
            </a:r>
            <a:r>
              <a:rPr lang="en-US" sz="1200" b="1">
                <a:solidFill>
                  <a:srgbClr val="5D6872"/>
                </a:solidFill>
                <a:latin typeface="Arial"/>
              </a:rPr>
              <a:t>  ·  PLAN IT • SOLVE IT • PROVE IT</a:t>
            </a: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cxnSp>
        <p:nvCxnSpPr>
          <p:cNvPr id="1106" name="Google Shape;1106;p11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1107" name="Google Shape;1107;p113"/>
          <p:cNvSpPr txBox="1"/>
          <p:nvPr/>
        </p:nvSpPr>
        <p:spPr>
          <a:xfrm>
            <a:off x="484564" y="927528"/>
            <a:ext cx="8188919" cy="5305106"/>
          </a:xfrm>
          <a:prstGeom prst="rect">
            <a:avLst/>
          </a:prstGeom>
          <a:noFill/>
          <a:ln>
            <a:noFill/>
          </a:ln>
        </p:spPr>
        <p:txBody>
          <a:bodyPr anchorCtr="0" anchor="t" bIns="45700" lIns="91425" spcFirstLastPara="1" rIns="91425" wrap="square" tIns="45700">
            <a:noAutofit/>
          </a:bodyPr>
          <a:lstStyle/>
          <a:p>
            <a:pPr indent="-457200" lvl="0" marL="457200" marR="0" rtl="0" algn="l">
              <a:lnSpc>
                <a:spcPct val="100000"/>
              </a:lnSpc>
              <a:spcBef>
                <a:spcPts val="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find the greatest common factor of two whole numbers.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find the least common multiple of two whole numbers.</a:t>
            </a:r>
            <a:endParaRPr b="0" i="0" sz="1400" u="none" cap="none" strike="noStrike">
              <a:solidFill>
                <a:srgbClr val="000000"/>
              </a:solidFill>
              <a:latin typeface="Arial"/>
              <a:ea typeface="Arial"/>
              <a:cs typeface="Arial"/>
              <a:sym typeface="Arial"/>
            </a:endParaRPr>
          </a:p>
          <a:p>
            <a:pPr indent="-457200" lvl="0" marL="457200" marR="0" rtl="0" algn="l">
              <a:lnSpc>
                <a:spcPct val="100000"/>
              </a:lnSpc>
              <a:spcBef>
                <a:spcPts val="1800"/>
              </a:spcBef>
              <a:spcAft>
                <a:spcPts val="0"/>
              </a:spcAft>
              <a:buClr>
                <a:srgbClr val="262626"/>
              </a:buClr>
              <a:buSzPts val="2800"/>
              <a:buFont typeface="Arial"/>
              <a:buChar char="•"/>
              <a:defRPr/>
            </a:pPr>
            <a:r>
              <a:rPr b="0" i="0" lang="en-US" sz="2800" u="none" cap="none" strike="noStrike">
                <a:solidFill>
                  <a:srgbClr val="23282D"/>
                </a:solidFill>
                <a:latin typeface="Arial"/>
                <a:ea typeface="Arial"/>
                <a:cs typeface="Arial"/>
                <a:sym typeface="Arial"/>
              </a:rPr>
              <a:t>I can make sense of problems to find the greatest common factor or least common multiple of two whole numbers.</a:t>
            </a:r>
            <a:endParaRPr b="0" i="0" sz="1400" u="none" cap="none" strike="noStrike">
              <a:solidFill>
                <a:srgbClr val="000000"/>
              </a:solidFill>
              <a:latin typeface="Arial"/>
              <a:ea typeface="Arial"/>
              <a:cs typeface="Arial"/>
              <a:sym typeface="Arial"/>
            </a:endParaRPr>
          </a:p>
        </p:txBody>
      </p:sp>
      <p:sp>
        <p:nvSpPr>
          <p:cNvPr id="1108" name="Google Shape;1108;p113"/>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Learning Targets</a:t>
            </a:r>
            <a:endParaRPr b="0" i="0" sz="1400" u="none" cap="none" strike="noStrike">
              <a:solidFill>
                <a:srgbClr val="000000"/>
              </a:solidFill>
              <a:latin typeface="Arial"/>
              <a:ea typeface="Arial"/>
              <a:cs typeface="Arial"/>
              <a:sym typeface="Arial"/>
            </a:endParaRPr>
          </a:p>
        </p:txBody>
      </p:sp>
      <p:sp>
        <p:nvSpPr>
          <p:cNvPr id="110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49 / 51</a:t>
            </a:r>
          </a:p>
        </p:txBody>
      </p:sp>
      <p:grpSp>
        <p:nvGrpSpPr>
          <p:cNvPr id="1110" name="TEACH-1-student-move" descr="TEACH 1 · Facilitate clear, standards-based content learning"/>
          <p:cNvGrpSpPr/>
          <p:nvPr/>
        </p:nvGrpSpPr>
        <p:grpSpPr>
          <a:xfrm>
            <a:off x="502920" y="5472790"/>
            <a:ext cx="11186160" cy="402336"/>
            <a:chOff x="502920" y="5472790"/>
            <a:chExt cx="11186160" cy="402336"/>
          </a:xfrm>
        </p:grpSpPr>
        <p:sp>
          <p:nvSpPr>
            <p:cNvPr id="1111" name="TEACH-move-card"/>
            <p:cNvSpPr/>
            <p:nvPr/>
          </p:nvSpPr>
          <p:spPr>
            <a:xfrm>
              <a:off x="502920" y="5472790"/>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112" name="TEACH-move-rule"/>
            <p:cNvSpPr/>
            <p:nvPr/>
          </p:nvSpPr>
          <p:spPr>
            <a:xfrm>
              <a:off x="548640" y="5549234"/>
              <a:ext cx="100584" cy="249448"/>
            </a:xfrm>
            <a:prstGeom prst="roundRect">
              <a:avLst>
                <a:gd name="adj" fmla="val 50000"/>
              </a:avLst>
            </a:prstGeom>
            <a:solidFill>
              <a:srgbClr val="01708C"/>
            </a:solidFill>
            <a:ln>
              <a:noFill/>
            </a:ln>
          </p:spPr>
          <p:txBody>
            <a:bodyPr/>
            <a:lstStyle/>
            <a:p>
              <a:endParaRPr/>
            </a:p>
          </p:txBody>
        </p:sp>
        <p:sp>
          <p:nvSpPr>
            <p:cNvPr id="1113" name="TEACH-move-text"/>
            <p:cNvSpPr txBox="1"/>
            <p:nvPr/>
          </p:nvSpPr>
          <p:spPr>
            <a:xfrm>
              <a:off x="822960" y="5472790"/>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85" name="Google Shape;885;p8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6" name="Google Shape;886;p88"/>
          <p:cNvSpPr txBox="1"/>
          <p:nvPr/>
        </p:nvSpPr>
        <p:spPr>
          <a:xfrm>
            <a:off x="474055" y="936101"/>
            <a:ext cx="3904128" cy="6611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Which doesn’t belong?</a:t>
            </a:r>
            <a:endParaRPr b="0" i="0" sz="1400" u="none" cap="none" strike="noStrike">
              <a:solidFill>
                <a:srgbClr val="000000"/>
              </a:solidFill>
              <a:latin typeface="Arial"/>
              <a:ea typeface="Arial"/>
              <a:cs typeface="Arial"/>
              <a:sym typeface="Arial"/>
            </a:endParaRPr>
          </a:p>
        </p:txBody>
      </p:sp>
      <p:sp>
        <p:nvSpPr>
          <p:cNvPr id="887" name="Google Shape;887;p88"/>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88" name="Google Shape;888;p88"/>
          <p:cNvSpPr/>
          <p:nvPr/>
        </p:nvSpPr>
        <p:spPr>
          <a:xfrm>
            <a:off x="505580" y="1798168"/>
            <a:ext cx="8737453" cy="2772000"/>
          </a:xfrm>
          <a:prstGeom prst="snip1Rect">
            <a:avLst>
              <a:gd fmla="val 16667" name="adj"/>
            </a:avLst>
          </a:prstGeom>
          <a:solidFill>
            <a:schemeClr val="lt1"/>
          </a:solidFill>
          <a:ln cap="flat" cmpd="sng" w="12700">
            <a:solidFill>
              <a:srgbClr val="53813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1" lang="en-US" sz="1800" u="none" cap="none" strike="noStrike">
                <a:solidFill>
                  <a:srgbClr val="695B9A"/>
                </a:solidFill>
                <a:latin typeface="Calibri"/>
                <a:ea typeface="Calibri"/>
                <a:cs typeface="Calibri"/>
                <a:sym typeface="Calibri"/>
              </a:rPr>
              <a:t>    </a:t>
            </a:r>
            <a:endParaRPr b="0" i="1" sz="1800" u="none" cap="none" strike="noStrike">
              <a:solidFill>
                <a:srgbClr val="695B9A"/>
              </a:solidFill>
              <a:latin typeface="Calibri"/>
              <a:ea typeface="Calibri"/>
              <a:cs typeface="Calibri"/>
              <a:sym typeface="Calibri"/>
            </a:endParaRPr>
          </a:p>
        </p:txBody>
      </p:sp>
      <p:graphicFrame>
        <p:nvGraphicFramePr>
          <p:cNvPr id="889" name="Google Shape;889;p88"/>
          <p:cNvGraphicFramePr/>
          <p:nvPr/>
        </p:nvGraphicFramePr>
        <p:xfrm>
          <a:off x="810306" y="2412544"/>
          <a:ext cx="3000000" cy="3000000"/>
        </p:xfrm>
        <a:graphic>
          <a:graphicData uri="http://schemas.openxmlformats.org/drawingml/2006/table">
            <a:tbl>
              <a:tblPr bandRow="1" firstRow="1">
                <a:noFill/>
                <a:tableStyleId>{AE0DC550-A879-4776-BD40-DFBEF83A9C16}</a:tableStyleId>
              </a:tblPr>
              <a:tblGrid>
                <a:gridCol w="4064000"/>
                <a:gridCol w="4064000"/>
              </a:tblGrid>
              <a:tr h="370850">
                <a:tc>
                  <a:txBody>
                    <a:bodyPr/>
                    <a:lstStyle/>
                    <a:p>
                      <a:pPr indent="0" lvl="0" marL="0" marR="0" rtl="0" algn="ctr">
                        <a:lnSpc>
                          <a:spcPct val="100000"/>
                        </a:lnSpc>
                        <a:spcBef>
                          <a:spcPts val="0"/>
                        </a:spcBef>
                        <a:spcAft>
                          <a:spcPts val="0"/>
                        </a:spcAft>
                        <a:buClr>
                          <a:srgbClr val="000000"/>
                        </a:buClr>
                        <a:buSzPts val="2800"/>
                        <a:buFont typeface="Arial"/>
                        <a:buNone/>
                      </a:pPr>
                      <a:r>
                        <a:rPr b="0" i="1" lang="en-US" sz="2800" u="none" cap="none" strike="noStrike">
                          <a:solidFill>
                            <a:srgbClr val="782DA0"/>
                          </a:solidFill>
                        </a:rPr>
                        <a:t>5</a:t>
                      </a:r>
                      <a:endParaRPr sz="1400" u="none" cap="none" strike="noStrike"/>
                    </a:p>
                    <a:p>
                      <a:pPr indent="0" lvl="0" marL="0" marR="0" rtl="0" algn="ctr">
                        <a:lnSpc>
                          <a:spcPct val="100000"/>
                        </a:lnSpc>
                        <a:spcBef>
                          <a:spcPts val="0"/>
                        </a:spcBef>
                        <a:spcAft>
                          <a:spcPts val="0"/>
                        </a:spcAft>
                        <a:buClr>
                          <a:srgbClr val="000000"/>
                        </a:buClr>
                        <a:buSzPts val="2800"/>
                        <a:buFont typeface="Arial"/>
                        <a:buNone/>
                      </a:pPr>
                      <a:r>
                        <a:t/>
                      </a:r>
                      <a:endParaRPr b="0" i="1" sz="2800" u="none" cap="none" strike="noStrike">
                        <a:solidFill>
                          <a:srgbClr val="782DA0"/>
                        </a:solidFill>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b="0" i="1" lang="en-US" sz="2800" u="none" cap="none" strike="noStrike">
                          <a:solidFill>
                            <a:srgbClr val="782DA0"/>
                          </a:solidFill>
                        </a:rPr>
                        <a:t>15</a:t>
                      </a:r>
                      <a:endParaRPr sz="1400" u="none" cap="none" strike="noStrike"/>
                    </a:p>
                    <a:p>
                      <a:pPr indent="0" lvl="0" marL="0" marR="0" rtl="0" algn="ctr">
                        <a:lnSpc>
                          <a:spcPct val="100000"/>
                        </a:lnSpc>
                        <a:spcBef>
                          <a:spcPts val="0"/>
                        </a:spcBef>
                        <a:spcAft>
                          <a:spcPts val="0"/>
                        </a:spcAft>
                        <a:buClr>
                          <a:srgbClr val="000000"/>
                        </a:buClr>
                        <a:buSzPts val="2800"/>
                        <a:buFont typeface="Arial"/>
                        <a:buNone/>
                      </a:pPr>
                      <a:r>
                        <a:t/>
                      </a:r>
                      <a:endParaRPr b="0" i="1" sz="2800" u="none" cap="none" strike="noStrike">
                        <a:solidFill>
                          <a:srgbClr val="782DA0"/>
                        </a:solidFill>
                      </a:endParaRPr>
                    </a:p>
                  </a:txBody>
                  <a:tcPr marT="45725" marB="45725" marR="91450" marL="91450">
                    <a:solidFill>
                      <a:schemeClr val="lt1"/>
                    </a:solidFill>
                  </a:tcPr>
                </a:tc>
              </a:tr>
              <a:tr h="370850">
                <a:tc>
                  <a:txBody>
                    <a:bodyPr/>
                    <a:lstStyle/>
                    <a:p>
                      <a:pPr indent="0" lvl="0" marL="0" marR="0" rtl="0" algn="ctr">
                        <a:lnSpc>
                          <a:spcPct val="100000"/>
                        </a:lnSpc>
                        <a:spcBef>
                          <a:spcPts val="0"/>
                        </a:spcBef>
                        <a:spcAft>
                          <a:spcPts val="0"/>
                        </a:spcAft>
                        <a:buClr>
                          <a:srgbClr val="000000"/>
                        </a:buClr>
                        <a:buSzPts val="2800"/>
                        <a:buFont typeface="Arial"/>
                        <a:buNone/>
                      </a:pPr>
                      <a:r>
                        <a:rPr b="0" i="1" lang="en-US" sz="2800" u="none" cap="none" strike="noStrike">
                          <a:solidFill>
                            <a:srgbClr val="782DA0"/>
                          </a:solidFill>
                        </a:rPr>
                        <a:t>20</a:t>
                      </a:r>
                      <a:endParaRPr b="0" i="1" sz="2800" u="none" cap="none" strike="noStrike">
                        <a:solidFill>
                          <a:srgbClr val="782DA0"/>
                        </a:solidFill>
                      </a:endParaRPr>
                    </a:p>
                  </a:txBody>
                  <a:tcPr marT="45725" marB="45725" marR="91450" marL="91450">
                    <a:solidFill>
                      <a:schemeClr val="lt1"/>
                    </a:solidFill>
                  </a:tcPr>
                </a:tc>
                <a:tc>
                  <a:txBody>
                    <a:bodyPr/>
                    <a:lstStyle/>
                    <a:p>
                      <a:pPr indent="0" lvl="0" marL="0" marR="0" rtl="0" algn="ctr">
                        <a:lnSpc>
                          <a:spcPct val="100000"/>
                        </a:lnSpc>
                        <a:spcBef>
                          <a:spcPts val="0"/>
                        </a:spcBef>
                        <a:spcAft>
                          <a:spcPts val="0"/>
                        </a:spcAft>
                        <a:buClr>
                          <a:srgbClr val="000000"/>
                        </a:buClr>
                        <a:buSzPts val="2800"/>
                        <a:buFont typeface="Arial"/>
                        <a:buNone/>
                      </a:pPr>
                      <a:r>
                        <a:rPr b="0" i="1" lang="en-US" sz="2800" u="none" cap="none" strike="noStrike">
                          <a:solidFill>
                            <a:srgbClr val="782DA0"/>
                          </a:solidFill>
                        </a:rPr>
                        <a:t>47</a:t>
                      </a:r>
                      <a:endParaRPr b="0" i="1" sz="2800" u="none" cap="none" strike="noStrike">
                        <a:solidFill>
                          <a:srgbClr val="782DA0"/>
                        </a:solidFill>
                      </a:endParaRPr>
                    </a:p>
                  </a:txBody>
                  <a:tcPr marT="45725" marB="45725" marR="91450" marL="91450">
                    <a:solidFill>
                      <a:schemeClr val="lt1"/>
                    </a:solidFill>
                  </a:tcPr>
                </a:tc>
              </a:tr>
            </a:tbl>
          </a:graphicData>
        </a:graphic>
      </p:graphicFrame>
      <p:pic>
        <p:nvPicPr>
          <p:cNvPr id="890" name="Google Shape;890;p88"/>
          <p:cNvPicPr preferRelativeResize="0"/>
          <p:nvPr/>
        </p:nvPicPr>
        <p:blipFill rotWithShape="1">
          <a:blip r:embed="rId2">
            <a:alphaModFix/>
          </a:blip>
          <a:srcRect b="0" l="0" r="0" t="0"/>
          <a:stretch/>
        </p:blipFill>
        <p:spPr>
          <a:xfrm>
            <a:off x="474055" y="5027226"/>
            <a:ext cx="5054600" cy="838200"/>
          </a:xfrm>
          <a:prstGeom prst="rect">
            <a:avLst/>
          </a:prstGeom>
          <a:noFill/>
          <a:ln>
            <a:noFill/>
          </a:ln>
        </p:spPr>
      </p:pic>
      <p:sp>
        <p:nvSpPr>
          <p:cNvPr id="891" name="Google Shape;891;p88"/>
          <p:cNvSpPr txBox="1"/>
          <p:nvPr/>
        </p:nvSpPr>
        <p:spPr>
          <a:xfrm>
            <a:off x="3334072" y="5184544"/>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892" name="Google Shape;892;p88"/>
          <p:cNvSpPr/>
          <p:nvPr/>
        </p:nvSpPr>
        <p:spPr>
          <a:xfrm>
            <a:off x="687251" y="5842549"/>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defRPr/>
            </a:pPr>
            <a:r>
              <a:rPr b="0" i="0" lang="en-US" sz="2600" u="none" cap="none" strike="noStrike">
                <a:solidFill>
                  <a:srgbClr val="595959"/>
                </a:solidFill>
                <a:latin typeface="Arial"/>
                <a:ea typeface="Arial"/>
                <a:cs typeface="Arial"/>
                <a:sym typeface="Arial"/>
              </a:rPr>
              <a:t>What strategies are helping you work more efficiently?</a:t>
            </a:r>
            <a:endParaRPr b="0" i="0" sz="1400" u="none" cap="none" strike="noStrike">
              <a:solidFill>
                <a:srgbClr val="000000"/>
              </a:solidFill>
              <a:latin typeface="Arial"/>
              <a:ea typeface="Arial"/>
              <a:cs typeface="Arial"/>
              <a:sym typeface="Arial"/>
            </a:endParaRPr>
          </a:p>
        </p:txBody>
      </p:sp>
      <p:sp>
        <p:nvSpPr>
          <p:cNvPr id="32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50 / 51</a:t>
            </a:r>
          </a:p>
        </p:txBody>
      </p:sp>
      <p:grpSp>
        <p:nvGrpSpPr>
          <p:cNvPr id="893" name="TEACH-3-student-move" descr="TEACH 3 · Use intentional questioning to deepen learning"/>
          <p:cNvGrpSpPr/>
          <p:nvPr/>
        </p:nvGrpSpPr>
        <p:grpSpPr>
          <a:xfrm>
            <a:off x="502920" y="1973632"/>
            <a:ext cx="11186160" cy="402336"/>
            <a:chOff x="502920" y="1973632"/>
            <a:chExt cx="11186160" cy="402336"/>
          </a:xfrm>
        </p:grpSpPr>
        <p:sp>
          <p:nvSpPr>
            <p:cNvPr id="894" name="TEACH-move-card"/>
            <p:cNvSpPr/>
            <p:nvPr/>
          </p:nvSpPr>
          <p:spPr>
            <a:xfrm>
              <a:off x="502920" y="1973632"/>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895" name="TEACH-move-rule"/>
            <p:cNvSpPr/>
            <p:nvPr/>
          </p:nvSpPr>
          <p:spPr>
            <a:xfrm>
              <a:off x="548640" y="2050076"/>
              <a:ext cx="100584" cy="249448"/>
            </a:xfrm>
            <a:prstGeom prst="roundRect">
              <a:avLst>
                <a:gd name="adj" fmla="val 50000"/>
              </a:avLst>
            </a:prstGeom>
            <a:solidFill>
              <a:srgbClr val="01708C"/>
            </a:solidFill>
            <a:ln>
              <a:noFill/>
            </a:ln>
          </p:spPr>
          <p:txBody>
            <a:bodyPr/>
            <a:lstStyle/>
            <a:p>
              <a:endParaRPr/>
            </a:p>
          </p:txBody>
        </p:sp>
        <p:sp>
          <p:nvSpPr>
            <p:cNvPr id="896" name="TEACH-move-text"/>
            <p:cNvSpPr txBox="1"/>
            <p:nvPr/>
          </p:nvSpPr>
          <p:spPr>
            <a:xfrm>
              <a:off x="822960" y="1973632"/>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ASK THE CLASS  ·  </a:t>
              </a:r>
              <a:r>
                <a:rPr lang="en-US" sz="1200" dirty="0">
                  <a:solidFill>
                    <a:srgbClr val="13303A"/>
                  </a:solidFill>
                  <a:latin typeface="Arial"/>
                </a:rPr>
                <a:t>Write one question about this that you could ask the class.</a:t>
              </a:r>
              <a:endParaRPr lang="en-US" sz="1200"/>
            </a:p>
          </p:txBody>
        </p:sp>
      </p:gr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6.7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Distinguish common factors from common multiples.</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PROVE IT  ·  </a:t>
            </a:r>
            <a:r>
              <a:rPr lang="en-US" sz="2000" b="0" dirty="0">
                <a:solidFill>
                  <a:srgbClr val="13303A"/>
                </a:solidFill>
                <a:latin typeface="Arial"/>
              </a:rPr>
              <a:t>Find the evidence in the problem that makes your answer right — not just the answer.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19 / 51</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PICK YOUR STRATEGY  ·  </a:t>
            </a:r>
            <a:r>
              <a:rPr lang="en-US" sz="2000" b="0" dirty="0">
                <a:solidFill>
                  <a:srgbClr val="13303A"/>
                </a:solidFill>
                <a:latin typeface="Arial"/>
              </a:rPr>
              <a:t>Choose your path — picture, table, number line, or equation — and be ready to say why you chose it.</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24 / 51</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HOW DO YOU KNOW?  ·  </a:t>
            </a:r>
            <a:r>
              <a:rPr lang="en-US" sz="2000" b="0" dirty="0">
                <a:solidFill>
                  <a:srgbClr val="13303A"/>
                </a:solidFill>
                <a:latin typeface="Arial"/>
              </a:rPr>
              <a:t>Ask your partner “How do you know?” Answer by pointing to your own work.</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6-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31 / 51</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THE MATH WORDS  ·  </a:t>
            </a:r>
            <a:r>
              <a:rPr lang="en-US" sz="2000" b="0" dirty="0">
                <a:solidFill>
                  <a:srgbClr val="13303A"/>
                </a:solidFill>
                <a:latin typeface="Arial"/>
              </a:rPr>
              <a:t>Use today’s math words in your explanation — not “it” and “that thing.”</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38 / 51</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6-7</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4-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SPECIFIC FEEDBACK  ·  </a:t>
            </a:r>
            <a:r>
              <a:rPr lang="en-US" sz="2000" b="0" dirty="0">
                <a:solidFill>
                  <a:srgbClr val="13303A"/>
                </a:solidFill>
                <a:latin typeface="Arial"/>
              </a:rPr>
              <a:t>Trade work. Give one specific comment: “This part is clear because ______.”</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48 / 51</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6.7 — Find Factors and Multiples</dc:title>
  <dc:creator>Neft Teacher</dc:creator>
  <cp:lastModifiedBy>Neft Teacher</cp:lastModifiedBy>
  <dcterms:created xsi:type="dcterms:W3CDTF">2026-09-30T12:04:43Z</dcterms:created>
  <dcterms:modified xsi:type="dcterms:W3CDTF">2026-09-30T12:04:43Z</dcterms:modified>
</cp:coreProperties>
</file>