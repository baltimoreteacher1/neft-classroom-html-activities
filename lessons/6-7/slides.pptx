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key — 5x + 4x = 9x (like terms). 2y stays separate (no other y-term). The constant 3 stays. Correct answer: 9x + 2y + 3. You cannot combine x-terms and y-terms into xy.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514350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Shape 1"/>
          <p:cNvSpPr/>
          <p:nvPr/>
        </p:nvSpPr>
        <p:spPr>
          <a:xfrm>
            <a:off x="2651760" y="-640080"/>
            <a:ext cx="2011680" cy="2011680"/>
          </a:xfrm>
          <a:prstGeom prst="ellipse">
            <a:avLst/>
          </a:prstGeom>
          <a:solidFill>
            <a:srgbClr val="7A5C8E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365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1371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🎵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11480" y="1783080"/>
            <a:ext cx="3017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Simplify Algebraic Expressions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11480" y="4160520"/>
            <a:ext cx="1188720" cy="310896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91640" y="4160520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FE6E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Unit 6  ·  Lesson 6-7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411480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251960" y="548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Math Notebook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251960" y="1024128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Name: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1207008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51960" y="1280160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Date: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83480" y="1463040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51960" y="1536192"/>
            <a:ext cx="731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Period: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1719072"/>
            <a:ext cx="3566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23360" y="2011680"/>
            <a:ext cx="4800600" cy="1143000"/>
          </a:xfrm>
          <a:prstGeom prst="roundRect">
            <a:avLst>
              <a:gd name="adj" fmla="val 6400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206240" y="210312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CAN…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Yo puedo…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39572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simplify algebraic expressions by combining like terms.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023360" y="3291840"/>
            <a:ext cx="48006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206240" y="338328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 WILL EXPLAIN…  </a:t>
            </a:r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/ Objetivo de lenguaje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675888"/>
            <a:ext cx="443484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explain my steps using the words like terms, combine, simplify, and coefficient.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 Curious / Sé Curioso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3716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VISUAL PROMPT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Equipment Order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50876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music studio is placing supply orders for three rehearsal rooms. Room A needs 4 microphones and 3 stands. Room B needs 2 microphones and 5 stands. Room C needs 6 microphones and 1 stand. Instead of ordering separately, you can combine: (4 + 2 + 6) microphones and (3 + 5 + 1) stands = 12 microphones and 9 stands. That's simplifying by combining like items!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94360" y="3154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Jot your first idea: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94360" y="356616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94360" y="388620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94360" y="42062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709160" y="685800"/>
            <a:ext cx="41148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👁  I Notice…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1051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Why can you add the microphones together but not mix microphones with stands?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makes microphones and stands 'different types' of items?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How is this like combining like terms in algebra?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2743200"/>
            <a:ext cx="411480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09160" y="2743200"/>
            <a:ext cx="4114800" cy="274320"/>
          </a:xfrm>
          <a:prstGeom prst="rect">
            <a:avLst/>
          </a:prstGeom>
          <a:solidFill>
            <a:srgbClr val="F2C15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💭  I Wonder…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92040" y="3108960"/>
            <a:ext cx="374904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What if some rooms returned equipment — would you subtract?</a:t>
            </a:r>
            <a:endParaRPr lang="en-US" sz="1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•  Can you always simplify an expression, or are some already as simple as possible?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Vocabulary / Vocabulario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685800"/>
          <a:ext cx="841248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114800"/>
                <a:gridCol w="2194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Term / Término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Meaning / Significado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Outfit" pitchFamily="34" charset="0"/>
                          <a:ea typeface="Outfit" pitchFamily="34" charset="-122"/>
                          <a:cs typeface="Outfit" pitchFamily="34" charset="-120"/>
                        </a:rPr>
                        <a:t>Example / Ejemplo</a:t>
                      </a:r>
                      <a:endParaRPr lang="en-US" sz="1000" dirty="0">
                        <a:latin typeface="Outfit" charset="0"/>
                        <a:ea typeface="Outfit" charset="0"/>
                        <a:cs typeface="Outfi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Like Terms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Términos semejantes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Terms with the same letter, like 2x and 5x.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Términos con la misma letra, como 2x y 5x.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5x and 3x are like terms (both x); 5x and 5y are NOT (different variables); 2x and 2x² are NOT (different powers)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Combine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Combinar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To add or subtract terms with the same letter into one.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Sumar o restar términos con la misma letra en uno solo.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8m + 3m = 11m — add the coefficients (8 + 3 = 11) and keep the variable (m)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Simplify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Simplificar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To write an expression in its shortest form.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Escribir una expresión en su forma más corta.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2a + 5a + 3 simplifies to 7a + 3 — the two a-terms combine, the constant stays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Coefficient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Coeficiente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The number in front of a letter, like the 3 in 3x.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El número frente a una letra, como el 3 en 3x.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 9x, the coefficient is 9 — it tells you 'nine groups of x'; if x = 2, then 9x = 18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1E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7324D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Term</a:t>
                      </a:r>
                      <a:pPr indent="0" marL="0">
                        <a:buNone/>
                      </a:pP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Término</a:t>
                      </a:r>
                      <a:endParaRPr lang="en-US" sz="95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A single number, variable, or product of them, separated by + or − signs.</a:t>
                      </a:r>
                      <a:pPr indent="0" marL="0">
                        <a:buNone/>
                      </a:pP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50" i="1" dirty="0">
                          <a:solidFill>
                            <a:srgbClr val="8A96A3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Un solo número, variable o producto de ellos, separado por signos + o −.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24323F"/>
                          </a:solidFill>
                          <a:latin typeface="Hanken Grotesk" pitchFamily="34" charset="0"/>
                          <a:ea typeface="Hanken Grotesk" pitchFamily="34" charset="-122"/>
                          <a:cs typeface="Hanken Grotesk" pitchFamily="34" charset="-120"/>
                        </a:rPr>
                        <a:t>In 3x + 5 − 2x, the terms are 3x, 5, and 2x.</a:t>
                      </a:r>
                      <a:endParaRPr lang="en-US" sz="900" dirty="0">
                        <a:latin typeface="Hanken Grotesk" charset="0"/>
                        <a:ea typeface="Hanken Grotesk" charset="0"/>
                        <a:cs typeface="Hanken Grotesk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B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/>
          <p:nvPr/>
        </p:nvSpPr>
        <p:spPr>
          <a:xfrm>
            <a:off x="411480" y="3520440"/>
            <a:ext cx="8412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Like Terms — example vs. non-example: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1148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E7F6F4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52120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6A2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✓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3y and 8y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They share the same variable y.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663440" y="3813048"/>
            <a:ext cx="4114800" cy="457200"/>
          </a:xfrm>
          <a:prstGeom prst="roundRect">
            <a:avLst>
              <a:gd name="adj" fmla="val 10000"/>
            </a:avLst>
          </a:prstGeom>
          <a:solidFill>
            <a:srgbClr val="FDECEA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4773168" y="3813048"/>
            <a:ext cx="3895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✗ </a:t>
            </a:r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3y and 8x  </a:t>
            </a:r>
            <a:pPr indent="0" marL="0">
              <a:buNone/>
            </a:pPr>
            <a:r>
              <a:rPr lang="en-US" sz="8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They have different variables, so they are not like terms.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Guided Practice / Práctica Guiada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73736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👩‍🏫 WE DO TOGETHER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1887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How do we simplify by combining like terms?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1609344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60934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1554480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Let's simplify 5x + 3x. Are these like terms?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2084832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208483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24128" y="2029968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Yes, both have x, so we add the numbers in front: 5 + 3 = 8.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2560320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24128" y="2505456"/>
            <a:ext cx="48280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So 5x + 3x = 8x.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94360" y="388620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Your turn — show your work: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0080" y="4297680"/>
            <a:ext cx="51206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0" y="109728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Three rooms need microphones and stands. Why can you add all the microphones together (4 + 2 + 6) but not mix microphones with stands?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172200" y="2743200"/>
            <a:ext cx="2514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09360" y="28346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🔑 Key Idea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309360" y="3108960"/>
            <a:ext cx="22860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Only combine terms that have the same variable part; numbers without a variable combine with each other.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Sort It Out / Clasifícalo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5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229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Identify the like terms in each expression. Group the terms that can be combined.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Card Bank — cut or sort these cards: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59436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5x and 3x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6220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45364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7a and 2a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30040" y="1481328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21480" y="1481328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4n and 9n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436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85800" y="1975104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6m and 4p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36220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453640" y="1975104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3x and 3y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130040" y="1975104"/>
            <a:ext cx="1630680" cy="384048"/>
          </a:xfrm>
          <a:prstGeom prst="roundRect">
            <a:avLst>
              <a:gd name="adj" fmla="val 11905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21480" y="1975104"/>
            <a:ext cx="1447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8 and 2t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9436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7A5C8E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94360" y="2560320"/>
            <a:ext cx="2514600" cy="292608"/>
          </a:xfrm>
          <a:prstGeom prst="rect">
            <a:avLst/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Like Terms (can combine)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46120" y="2560320"/>
            <a:ext cx="2514600" cy="19659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7A5C8E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246120" y="2560320"/>
            <a:ext cx="2514600" cy="292608"/>
          </a:xfrm>
          <a:prstGeom prst="rect">
            <a:avLst/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Like Terms (cannot combine)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217920" y="1097280"/>
            <a:ext cx="2468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simplify 6x + 4 + 2x + 7, which are the like terms, and how do you combine them?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17920" y="274320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6217920" y="307238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6217920" y="340156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6217920" y="373075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6217920" y="40599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Error Analysis / Análisis de Errores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554480" cy="274320"/>
          </a:xfrm>
          <a:prstGeom prst="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⚠ FIND THE ERROR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86000" y="84124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Find the Simplification Error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classmate turned in the work below. One step has a mistake — find it, name it, fix it.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1627632"/>
            <a:ext cx="5166360" cy="1517904"/>
          </a:xfrm>
          <a:prstGeom prst="roundRect">
            <a:avLst>
              <a:gd name="adj" fmla="val 3012"/>
            </a:avLst>
          </a:prstGeom>
          <a:solidFill>
            <a:srgbClr val="F4F1E8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3232" y="169164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Student's work (contains an error):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77240" y="1938528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Expression: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5x + 3 + 2y + 4x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777240" y="2322576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Combine: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5x + 2y + 4x + 3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777240" y="2706624"/>
            <a:ext cx="4892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</a:t>
            </a:r>
            <a:pPr indent="0" marL="0">
              <a:buNone/>
            </a:pPr>
            <a:r>
              <a:rPr lang="en-US" sz="95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Simplify:  </a:t>
            </a:r>
            <a:pPr indent="0" marL="0">
              <a:buNone/>
            </a:pPr>
            <a:r>
              <a:rPr lang="en-US" sz="950" b="1" dirty="0">
                <a:solidFill>
                  <a:srgbClr val="2432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11xy + 3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94360" y="3282696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step has the error? Circle it above.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FCE6DE"/>
          </a:solidFill>
          <a:ln w="12700">
            <a:solidFill>
              <a:srgbClr val="E2A39B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C0392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🛠 Explain &amp; Fix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17920" y="1097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mistake was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 because </a:t>
            </a:r>
            <a:pPr indent="0" marL="0">
              <a:buNone/>
            </a:pPr>
            <a:r>
              <a:rPr lang="en-US" sz="10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___</a:t>
            </a:r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178308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207568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236829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6217920" y="2788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Fix it — rewrite the step correctly: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217920" y="324612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6217920" y="353872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6217920" y="383133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6217920" y="412394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Two-Column Notes / Notas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7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92608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Steps / Pasos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1243584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124358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78408" y="1188720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rooms need microphones and stands: (4 + 2 + 6) microphones and (3 + 5 + 1) stands.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4360" y="1719072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1719072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78408" y="1664208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Microphones are like items, so I add: 4 + 2 + 6 = 12 microphones.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2194560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194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78408" y="2139696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Stands are like items, so I add: 3 + 5 + 1 = 9 stands.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94360" y="2670048"/>
            <a:ext cx="274320" cy="274320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26700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78408" y="2615184"/>
            <a:ext cx="345643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algebra this is the same as 4m + 2m + 6m + 3s + 5s + 1s = 12m + 9s.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709160" y="685800"/>
            <a:ext cx="4114800" cy="292608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My Example / Mi Ejemplo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92040" y="1143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problem here, matching each step on the left: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892040" y="178308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4892040" y="211226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244144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277063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4892040" y="3099816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9" name="Shape 37"/>
          <p:cNvSpPr/>
          <p:nvPr/>
        </p:nvSpPr>
        <p:spPr>
          <a:xfrm>
            <a:off x="4892040" y="342900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0" name="Shape 38"/>
          <p:cNvSpPr/>
          <p:nvPr/>
        </p:nvSpPr>
        <p:spPr>
          <a:xfrm>
            <a:off x="4892040" y="375818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4892040" y="4087368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Choice Board / Tablero de Opciones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8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Choose ONE to show what you know: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4864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✏️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23444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Draw &amp; Label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Sketch a model for today's problem. Label it using Like Terms and Combine.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09160" y="105156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116128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5532120" y="118872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It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170992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In 2–3 sentences, explain "Only combine terms that have the same variable part; numbers without a variable combine with each other." in your own words.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4864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🧮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123444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Solve It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Work one practice problem and show every step clearly.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2834640"/>
            <a:ext cx="4114800" cy="1645920"/>
          </a:xfrm>
          <a:prstGeom prst="roundRect">
            <a:avLst>
              <a:gd name="adj" fmla="val 4444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46320" y="2944368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5532120" y="2971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Create a Problem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892040" y="3493008"/>
            <a:ext cx="3749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Write your own problem that uses Like Terms, then solve it and make an answer key.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Independent Practice / Práctica Independiente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9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841248"/>
            <a:ext cx="146304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✍️ ON YOUR OWN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94360" y="123444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1.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Simplify 7x + 3x.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" y="178308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594360" y="219456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2.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Simplify 9n + 4 + 2n.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77240" y="274320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3154680"/>
            <a:ext cx="5166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3. 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Which pair are like terms?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77240" y="3703320"/>
            <a:ext cx="498348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6035040" y="685800"/>
            <a:ext cx="2788920" cy="4023360"/>
          </a:xfrm>
          <a:prstGeom prst="roundRect">
            <a:avLst>
              <a:gd name="adj" fmla="val 2623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035040" y="685800"/>
            <a:ext cx="27889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💬 Talk It Over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109728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The festival order is (8m + 5) + (3m + 7) + (4m + 2), where m is microphones per stage. What does the simplified expression tell you?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2834640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217920" y="3163824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217920" y="3493008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217920" y="3822192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217920" y="4151376"/>
            <a:ext cx="24231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Think–Write–Respond / Piensa y Escribe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11480" y="60350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Use evidence from today's lesson to complete each frame.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96012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" y="1051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1 — </a:t>
            </a:r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Explain the Rule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134416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Today's key idea is "Only combine terms that have the same variable part; numbers without a variable combine with each other." — and it works because ___.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94360" y="189280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411480" y="224028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2331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2 — </a:t>
            </a:r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Because / But / So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262432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Because Like Terms means ___, but a tricky part is ___, so I have to ___.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94360" y="317296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411480" y="3520440"/>
            <a:ext cx="8412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94360" y="36118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Frame 3 — </a:t>
            </a:r>
            <a:pPr indent="0" marL="0">
              <a:buNone/>
            </a:pPr>
            <a:r>
              <a:rPr lang="en-US" sz="1100" b="1" dirty="0">
                <a:solidFill>
                  <a:srgbClr val="7A5C8E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Catch the Mistake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" y="3904488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 common mistake with Like Terms is ___. It happens because ___, and the fix is ___.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94360" y="4453128"/>
            <a:ext cx="804672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Exit Ticket / Boleto de Salida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11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85800"/>
            <a:ext cx="4160520" cy="4023360"/>
          </a:xfrm>
          <a:prstGeom prst="roundRect">
            <a:avLst>
              <a:gd name="adj" fmla="val 1818"/>
            </a:avLst>
          </a:prstGeom>
          <a:solidFill>
            <a:srgbClr val="DFF2EE"/>
          </a:solidFill>
          <a:ln w="12700">
            <a:solidFill>
              <a:srgbClr val="1FA6A2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685800"/>
            <a:ext cx="4160520" cy="274320"/>
          </a:xfrm>
          <a:prstGeom prst="rect">
            <a:avLst/>
          </a:prstGeom>
          <a:solidFill>
            <a:srgbClr val="1FA6A2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Reflection / Reflexión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10972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Today I learned that ___ because ___.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178308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594360" y="209397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94360" y="240487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3" name="Text 21"/>
          <p:cNvSpPr/>
          <p:nvPr/>
        </p:nvSpPr>
        <p:spPr>
          <a:xfrm>
            <a:off x="594360" y="283464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One thing I am still not sure about is ___.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" y="3520440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594360" y="3831336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594360" y="4142232"/>
            <a:ext cx="379476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4709160" y="685800"/>
            <a:ext cx="411480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09160" y="685800"/>
            <a:ext cx="4114800" cy="274320"/>
          </a:xfrm>
          <a:prstGeom prst="rect">
            <a:avLst/>
          </a:prstGeom>
          <a:solidFill>
            <a:srgbClr val="17324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Quick Exit Ticket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92040" y="109728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1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Simplify 6x + 3 + 2x + 5.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1783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A.  8x + 8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2093976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B.  8x² + 8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2404872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C.  62x + 35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029200" y="27157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D.  16x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892040" y="3163824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Tier 2 — </a:t>
            </a:r>
            <a:pPr indent="0" marL="0">
              <a:buNone/>
            </a:pPr>
            <a:r>
              <a:rPr lang="en-US" sz="1050" dirty="0">
                <a:solidFill>
                  <a:srgbClr val="17324D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Explain how you know your answer is correct. Use at least one vocabulary word.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892040" y="3803904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4892040" y="4096512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4892040" y="4389120"/>
            <a:ext cx="3749040" cy="0"/>
          </a:xfrm>
          <a:prstGeom prst="line">
            <a:avLst/>
          </a:prstGeom>
          <a:noFill/>
          <a:ln w="9525">
            <a:solidFill>
              <a:srgbClr val="C7CDD2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21945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FE6E2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NEFT TEACHER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1737360" y="0"/>
            <a:ext cx="51206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Goal Tracker / Seguimiento de Metas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60920" y="100584"/>
            <a:ext cx="914400" cy="274320"/>
          </a:xfrm>
          <a:prstGeom prst="rect">
            <a:avLst>
              <a:gd name="adj" fmla="val 50000"/>
            </a:avLst>
          </a:prstGeom>
          <a:solidFill>
            <a:srgbClr val="7A5C8E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6.EE.3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73152" y="68580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" y="116128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" y="163677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" y="211226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" y="2587752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" y="3063240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" y="3538728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" y="4014216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" y="4489704"/>
            <a:ext cx="109728" cy="109728"/>
          </a:xfrm>
          <a:prstGeom prst="ellipse">
            <a:avLst/>
          </a:prstGeom>
          <a:solidFill>
            <a:srgbClr val="CBD3D9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485089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Reveal Math Grade 6  ·  Unit 6  ·  Lesson 6-7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412480" y="485089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A96A3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11480" y="65836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7324D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658368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2C15B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Goal: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simplify algebraic expressions by combining like terms.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1148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CE6D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138428" y="1508760"/>
            <a:ext cx="512064" cy="512064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1" name="Text 19"/>
          <p:cNvSpPr/>
          <p:nvPr/>
        </p:nvSpPr>
        <p:spPr>
          <a:xfrm>
            <a:off x="113842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1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5720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Not Yet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2120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need more help. This does not make sense to me yet.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56032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FBEFD0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87268" y="1508760"/>
            <a:ext cx="512064" cy="512064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27" name="Text 25"/>
          <p:cNvSpPr/>
          <p:nvPr/>
        </p:nvSpPr>
        <p:spPr>
          <a:xfrm>
            <a:off x="328726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2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260604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Getting There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67004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understand the idea but I make mistakes when I work.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60604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0916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DFF2EE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36108" y="1508760"/>
            <a:ext cx="512064" cy="512064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33" name="Text 31"/>
          <p:cNvSpPr/>
          <p:nvPr/>
        </p:nvSpPr>
        <p:spPr>
          <a:xfrm>
            <a:off x="543610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75488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Got It!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81888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solve problems on my own and explain my thinking.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58000" y="1371600"/>
            <a:ext cx="1965960" cy="2377440"/>
          </a:xfrm>
          <a:prstGeom prst="roundRect">
            <a:avLst>
              <a:gd name="adj" fmla="val 3721"/>
            </a:avLst>
          </a:prstGeom>
          <a:solidFill>
            <a:srgbClr val="EAF2F1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584948" y="1508760"/>
            <a:ext cx="512064" cy="512064"/>
          </a:xfrm>
          <a:prstGeom prst="ellipse">
            <a:avLst/>
          </a:prstGeom>
          <a:solidFill>
            <a:srgbClr val="7A5C8E"/>
          </a:solidFill>
          <a:ln/>
        </p:spPr>
      </p:sp>
      <p:sp>
        <p:nvSpPr>
          <p:cNvPr id="39" name="Text 37"/>
          <p:cNvSpPr/>
          <p:nvPr/>
        </p:nvSpPr>
        <p:spPr>
          <a:xfrm>
            <a:off x="7584948" y="15087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4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6903720" y="214884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7324D"/>
                </a:solidFill>
                <a:latin typeface="Outfit" pitchFamily="34" charset="0"/>
                <a:ea typeface="Outfit" pitchFamily="34" charset="-122"/>
                <a:cs typeface="Outfit" pitchFamily="34" charset="-120"/>
              </a:rPr>
              <a:t>Can Teach It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967728" y="2514600"/>
            <a:ext cx="174650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I can clearly teach this strategy to a classmate.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903720" y="3520440"/>
            <a:ext cx="1874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A96A3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○ circle 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11480" y="397764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6DBDF"/>
            </a:solidFill>
            <a:prstDash val="solid"/>
          </a:ln>
          <a:effectLst>
            <a:outerShdw sx="100000" sy="100000" kx="0" ky="0" algn="bl" rotWithShape="0" blurRad="50800" dist="12700" dir="5400000">
              <a:srgbClr val="1C2E42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640080" y="3977640"/>
            <a:ext cx="7955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A5C8E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My next step:  </a:t>
            </a:r>
            <a:pPr indent="0" marL="0">
              <a:buNone/>
            </a:pPr>
            <a:r>
              <a:rPr lang="en-US" sz="1050" dirty="0">
                <a:solidFill>
                  <a:srgbClr val="24323F"/>
                </a:solidFill>
                <a:latin typeface="Hanken Grotesk" pitchFamily="34" charset="0"/>
                <a:ea typeface="Hanken Grotesk" pitchFamily="34" charset="-122"/>
                <a:cs typeface="Hanken Grotesk" pitchFamily="34" charset="-120"/>
              </a:rPr>
              <a:t>To move up one level, I will ___.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Neft Teacher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6-7: Simplify Algebraic Expressions</dc:title>
  <dc:subject>6.EE.3</dc:subject>
  <dc:creator>Neft Teacher</dc:creator>
  <cp:lastModifiedBy>Neft Teacher</cp:lastModifiedBy>
  <cp:revision>1</cp:revision>
  <dcterms:created xsi:type="dcterms:W3CDTF">2026-06-08T12:10:58Z</dcterms:created>
  <dcterms:modified xsi:type="dcterms:W3CDTF">2026-06-08T12:10:58Z</dcterms:modified>
</cp:coreProperties>
</file>