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31.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9" r:id="rId23"/>
    <p:sldId id="260" r:id="rId14"/>
    <p:sldId id="332" r:id="rId73"/>
    <p:sldId id="331" r:id="rId45"/>
    <p:sldId id="330" r:id="rId29"/>
    <p:sldId id="329" r:id="rId43"/>
    <p:sldId id="328" r:id="rId42"/>
    <p:sldId id="327" r:id="rId41"/>
    <p:sldId id="326" r:id="rId30"/>
    <p:sldId id="325" r:id="rId39"/>
    <p:sldId id="261" r:id="rId15"/>
    <p:sldId id="272" r:id="rId26"/>
    <p:sldId id="278" r:id="rId32"/>
    <p:sldId id="280" r:id="rId34"/>
    <p:sldId id="336" r:id="rId77"/>
    <p:sldId id="286" r:id="rId40"/>
    <p:sldId id="290" r:id="rId44"/>
    <p:sldId id="337" r:id="rId78"/>
    <p:sldId id="292" r:id="rId46"/>
    <p:sldId id="294" r:id="rId48"/>
    <p:sldId id="296" r:id="rId50"/>
    <p:sldId id="297" r:id="rId51"/>
    <p:sldId id="333" r:id="rId74"/>
    <p:sldId id="324" r:id="rId38"/>
    <p:sldId id="323" r:id="rId37"/>
    <p:sldId id="322" r:id="rId36"/>
    <p:sldId id="321" r:id="rId35"/>
    <p:sldId id="316" r:id="rId70"/>
    <p:sldId id="338" r:id="rId79"/>
    <p:sldId id="317" r:id="rId71"/>
    <p:sldId id="318" r:id="rId72"/>
    <p:sldId id="301" r:id="rId55"/>
    <p:sldId id="307" r:id="rId61"/>
    <p:sldId id="309" r:id="rId63"/>
    <p:sldId id="312" r:id="rId66"/>
    <p:sldId id="339" r:id="rId80"/>
    <p:sldId id="313" r:id="rId67"/>
    <p:sldId id="334" r:id="rId75"/>
    <p:sldId id="320" r:id="rId31"/>
    <p:sldId id="319" r:id="rId33"/>
    <p:sldId id="314" r:id="rId68"/>
    <p:sldId id="315" r:id="rId69"/>
    <p:sldId id="335" r:id="rId76"/>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ns3:sldGuideLst>
        <ns3:guide id="1" pos="1512">
          <ns3:clr>
            <a:srgbClr val="A4A3A4"/>
          </ns3:clr>
        </ns3:guide>
        <ns3:guide id="2" orient="horz" pos="3024">
          <ns3:clr>
            <a:srgbClr val="A4A3A4"/>
          </ns3:clr>
        </ns3:guide>
        <ns3:guide id="3" orient="horz" pos="384">
          <ns3:clr>
            <a:srgbClr val="A4A3A4"/>
          </ns3:clr>
        </ns3:guide>
        <ns3:guide id="4" orient="horz" pos="2520">
          <ns3:clr>
            <a:srgbClr val="A4A3A4"/>
          </ns3:clr>
        </ns3:guide>
        <ns3:guide id="5" orient="horz" pos="1080">
          <ns3:clr>
            <a:srgbClr val="A4A3A4"/>
          </ns3:clr>
        </ns3:guide>
        <ns3:guide id="6" orient="horz" pos="1680">
          <ns3:clr>
            <a:srgbClr val="A4A3A4"/>
          </ns3:clr>
        </ns3:guide>
        <ns3:guide id="7" orient="horz" pos="3432">
          <ns3:clr>
            <a:srgbClr val="A4A3A4"/>
          </ns3:clr>
        </ns3:guide>
        <ns3:guide id="8" orient="horz" pos="3120">
          <ns3:clr>
            <a:srgbClr val="A4A3A4"/>
          </ns3:clr>
        </ns3:guide>
        <ns3:guide id="9" pos="48">
          <ns3:clr>
            <a:srgbClr val="A4A3A4"/>
          </ns3:clr>
        </ns3:guide>
        <ns3:guide id="10" pos="384">
          <ns3:clr>
            <a:srgbClr val="A4A3A4"/>
          </ns3:clr>
        </ns3:guide>
        <ns3:guide id="11" pos="6480">
          <ns3:clr>
            <a:srgbClr val="A4A3A4"/>
          </ns3:clr>
        </ns3:guide>
        <ns3:guide id="12" pos="2597">
          <ns3:clr>
            <a:srgbClr val="A4A3A4"/>
          </ns3:clr>
        </ns3:guide>
        <ns3:guide id="13" pos="288">
          <ns3:clr>
            <a:srgbClr val="A4A3A4"/>
          </ns3:clr>
        </ns3:guide>
        <ns3:guide id="14" orient="horz" pos="2160">
          <ns3:clr>
            <a:srgbClr val="A4A3A4"/>
          </ns3:clr>
        </ns3:guide>
        <ns3:guide id="15" orient="horz" pos="216">
          <ns3:clr>
            <a:srgbClr val="A4A3A4"/>
          </ns3:clr>
        </ns3:guide>
        <ns3:guide id="16" orient="horz" pos="936">
          <ns3:clr>
            <a:srgbClr val="A4A3A4"/>
          </ns3:clr>
        </ns3:guide>
        <ns3:guide id="17" pos="4368">
          <ns3:clr>
            <a:srgbClr val="A4A3A4"/>
          </ns3:clr>
        </ns3:guide>
        <ns3:guide id="18" pos="7296">
          <ns3:clr>
            <a:srgbClr val="A4A3A4"/>
          </ns3:clr>
        </ns3:guide>
        <ns3:guide id="19" pos="3288">
          <ns3:clr>
            <a:srgbClr val="A4A3A4"/>
          </ns3:clr>
        </ns3:guide>
        <ns3:guide id="20" pos="5904">
          <ns3:clr>
            <a:srgbClr val="A4A3A4"/>
          </ns3:clr>
        </ns3:guide>
        <ns3:guide id="21" pos="5568">
          <ns3:clr>
            <a:srgbClr val="A4A3A4"/>
          </ns3:clr>
        </ns3:guide>
      </ns3: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023B44-101A-45B6-8940-EC967EDC7366}">
  <a:tblStyle styleId="{E0023B44-101A-45B6-8940-EC967EDC736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xml"/><Relationship Id="rId26" Type="http://schemas.openxmlformats.org/officeDocument/2006/relationships/slide" Target="slides/slide13.xml"/><Relationship Id="rId29" Type="http://schemas.openxmlformats.org/officeDocument/2006/relationships/slide" Target="slides/slide6.xml"/><Relationship Id="rId30" Type="http://schemas.openxmlformats.org/officeDocument/2006/relationships/slide" Target="slides/slide10.xml"/><Relationship Id="rId31" Type="http://schemas.openxmlformats.org/officeDocument/2006/relationships/slide" Target="slides/slide36.xml"/><Relationship Id="rId32" Type="http://schemas.openxmlformats.org/officeDocument/2006/relationships/slide" Target="slides/slide14.xml"/><Relationship Id="rId33" Type="http://schemas.openxmlformats.org/officeDocument/2006/relationships/slide" Target="slides/slide37.xml"/><Relationship Id="rId34" Type="http://schemas.openxmlformats.org/officeDocument/2006/relationships/slide" Target="slides/slide15.xml"/><Relationship Id="rId35" Type="http://schemas.openxmlformats.org/officeDocument/2006/relationships/slide" Target="slides/slide26.xml"/><Relationship Id="rId36" Type="http://schemas.openxmlformats.org/officeDocument/2006/relationships/slide" Target="slides/slide25.xml"/><Relationship Id="rId37" Type="http://schemas.openxmlformats.org/officeDocument/2006/relationships/slide" Target="slides/slide24.xml"/><Relationship Id="rId38" Type="http://schemas.openxmlformats.org/officeDocument/2006/relationships/slide" Target="slides/slide23.xml"/><Relationship Id="rId39" Type="http://schemas.openxmlformats.org/officeDocument/2006/relationships/slide" Target="slides/slide11.xml"/><Relationship Id="rId40" Type="http://schemas.openxmlformats.org/officeDocument/2006/relationships/slide" Target="slides/slide16.xml"/><Relationship Id="rId41" Type="http://schemas.openxmlformats.org/officeDocument/2006/relationships/slide" Target="slides/slide9.xml"/><Relationship Id="rId42" Type="http://schemas.openxmlformats.org/officeDocument/2006/relationships/slide" Target="slides/slide8.xml"/><Relationship Id="rId43" Type="http://schemas.openxmlformats.org/officeDocument/2006/relationships/slide" Target="slides/slide7.xml"/><Relationship Id="rId44" Type="http://schemas.openxmlformats.org/officeDocument/2006/relationships/slide" Target="slides/slide17.xml"/><Relationship Id="rId45" Type="http://schemas.openxmlformats.org/officeDocument/2006/relationships/slide" Target="slides/slide5.xml"/><Relationship Id="rId46" Type="http://schemas.openxmlformats.org/officeDocument/2006/relationships/slide" Target="slides/slide18.xml"/><Relationship Id="rId48" Type="http://schemas.openxmlformats.org/officeDocument/2006/relationships/slide" Target="slides/slide19.xml"/><Relationship Id="rId50" Type="http://schemas.openxmlformats.org/officeDocument/2006/relationships/slide" Target="slides/slide20.xml"/><Relationship Id="rId51" Type="http://schemas.openxmlformats.org/officeDocument/2006/relationships/slide" Target="slides/slide21.xml"/><Relationship Id="rId55" Type="http://schemas.openxmlformats.org/officeDocument/2006/relationships/slide" Target="slides/slide30.xml"/><Relationship Id="rId61" Type="http://schemas.openxmlformats.org/officeDocument/2006/relationships/slide" Target="slides/slide31.xml"/><Relationship Id="rId63" Type="http://schemas.openxmlformats.org/officeDocument/2006/relationships/slide" Target="slides/slide32.xml"/><Relationship Id="rId66" Type="http://schemas.openxmlformats.org/officeDocument/2006/relationships/slide" Target="slides/slide33.xml"/><Relationship Id="rId67" Type="http://schemas.openxmlformats.org/officeDocument/2006/relationships/slide" Target="slides/slide34.xml"/><Relationship Id="rId68" Type="http://schemas.openxmlformats.org/officeDocument/2006/relationships/slide" Target="slides/slide38.xml"/><Relationship Id="rId69" Type="http://schemas.openxmlformats.org/officeDocument/2006/relationships/slide" Target="slides/slide39.xml"/><Relationship Id="rId70" Type="http://schemas.openxmlformats.org/officeDocument/2006/relationships/slide" Target="slides/slide27.xml"/><Relationship Id="rId71" Type="http://schemas.openxmlformats.org/officeDocument/2006/relationships/slide" Target="slides/slide28.xml"/><Relationship Id="rId72" Type="http://schemas.openxmlformats.org/officeDocument/2006/relationships/slide" Target="slides/slide29.xml"/><Relationship Id="rId73" Type="http://schemas.openxmlformats.org/officeDocument/2006/relationships/slide" Target="slides/slide4.xml"/><Relationship Id="rId74" Type="http://schemas.openxmlformats.org/officeDocument/2006/relationships/slide" Target="slides/slide22.xml"/><Relationship Id="rId75" Type="http://schemas.openxmlformats.org/officeDocument/2006/relationships/slide" Target="slides/slide35.xml"/><Relationship Id="rId76" Type="http://schemas.openxmlformats.org/officeDocument/2006/relationships/slide" Target="slides/slide40.xml"/><Relationship Id="rId77" Type="http://schemas.openxmlformats.org/officeDocument/2006/relationships/slide" Target="slides/slide41.xml"/><Relationship Id="rId78" Type="http://schemas.openxmlformats.org/officeDocument/2006/relationships/slide" Target="slides/slide42.xml"/><Relationship Id="rId79" Type="http://schemas.openxmlformats.org/officeDocument/2006/relationships/slide" Target="slides/slide43.xml"/><Relationship Id="rId80"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1 | WARMUP</a:t>
            </a:r>
          </a:p>
          <a:p xmlns:a="http://schemas.openxmlformats.org/drawingml/2006/main">
            <a:pPr>
              <a:buNone/>
            </a:pPr>
            <a:r>
              <a:rPr lang="en-US" sz="1100"/>
              <a:t>Focus on the existing task: Warm-Up WARM-UP · THINK • TRY • CHECK Do these four 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0.35   2) 20   3) 60   4) 30% of 40</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identify part, whole and percent; use a matching model or equation; check reasonableness. Review recent work and today’s warm-up to choose flexible groups and access supports; do not infer needs from identity or perceived ability. Use the existing lesson tasks and stated standards.</a:t>
            </a:r>
          </a:p>
          <a:p>
            <a:pPr>
              <a:buNone/>
            </a:pPr>
            <a:r>
              <a:rPr lang="en-US" sz="1100"/>
              <a:t>Anticipate: using the part as the whole or confusing percent with a decimal multiplier. If observed, label the three quantities in the original problem before selecting an operation.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7" name="Google Shape;257;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3 | GOAL</a:t>
            </a:r>
          </a:p>
          <a:p xmlns:a="http://schemas.openxmlformats.org/drawingml/2006/main">
            <a:pPr>
              <a:buNone/>
            </a:pPr>
            <a:r>
              <a:rPr lang="en-US" sz="1100"/>
              <a:t>Focus on the existing task: Today’s Objectives Find and Compare with Percentages…</a:t>
            </a:r>
          </a:p>
          <a:p xmlns:a="http://schemas.openxmlformats.org/drawingml/2006/main">
            <a:pPr>
              <a:buNone/>
            </a:pPr>
            <a:r>
              <a:rPr lang="en-US" sz="1100"/>
              <a:t>CONNECT (T1/4): Ask students to restate the displayed goal or key idea and connect it to earlier work. Relevant lesson evidence: identify part, whole and percent; use a matching model or equation; check reasonableness.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Tell a partner the goal and why it matters.</a:t>
            </a:r>
          </a:p>
          <a:p>
            <a:r>
              <a:rPr lang="en-US"/>
              <a:t>Student move: Tell a partner the goal and why it matters.</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part, whole and percent; use a matching model or equation; check reasonableness. Ask: “Which part of your work would show this?” Revisit that evidence after the task; a confidence rating alone is not evidence of understanding.</a:t>
            </a:r>
          </a:p>
        </p:txBody>
      </p:sp>
      <p:sp>
        <p:nvSpPr>
          <p:cNvPr id="333" name="Google Shape;333;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12 | VOCAB</a:t>
            </a:r>
          </a:p>
          <a:p xmlns:a="http://schemas.openxmlformats.org/drawingml/2006/main">
            <a:pPr>
              <a:buNone/>
            </a:pPr>
            <a:r>
              <a:rPr lang="en-US" sz="1100"/>
              <a:t>Focus on the existing task: Vocabulary Today’s Math Words We learn every word — what…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Explain with today’s vocabulary; partner paraphrases.</a:t>
            </a:r>
          </a:p>
          <a:p>
            <a:r>
              <a:rPr lang="en-US"/>
              <a:t>Student move: Explain with today’s vocabulary; partner paraphrases.</a:t>
            </a:r>
          </a:p>
        </p:txBody>
      </p:sp>
      <p:sp>
        <p:nvSpPr>
          <p:cNvPr id="355" name="Google Shape;355;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2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Partner talk: connect today’s idea to prior learning.</a:t>
            </a:r>
          </a:p>
          <a:p>
            <a:r>
              <a:rPr lang="en-US"/>
              <a:t>Student move: Partner talk: connect today’s idea to prior learning.</a:t>
            </a:r>
          </a:p>
        </p:txBody>
      </p:sp>
      <p:sp>
        <p:nvSpPr>
          <p:cNvPr id="526" name="Google Shape;526;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13 | TASK</a:t>
            </a:r>
          </a:p>
          <a:p xmlns:a="http://schemas.openxmlformats.org/drawingml/2006/main">
            <a:pPr>
              <a:buNone/>
            </a:pPr>
            <a:r>
              <a:rPr lang="en-US" sz="1100"/>
              <a:t>Focus on the existing task: Three hundred middle school students voted for one of three snacks to add to the school cafeteria menu. The graph shows the percentage of students who voted for each snack. How many students voted for fruit?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a matching model or equation.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Ask a partner a question; choose a model together.</a:t>
            </a:r>
          </a:p>
          <a:p>
            <a:r>
              <a:rPr lang="en-US"/>
              <a:t>Student move: Ask a partner a question; choose a model together.</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quantity is the whole, and how does your equation or model represent the requested unknown?” Wait for evidence, invite another pathway, and have a student ask a follow-up question. Do not replace students’ reasoning with a sequence of leading steps.</a:t>
            </a:r>
          </a:p>
        </p:txBody>
      </p:sp>
      <p:sp>
        <p:nvSpPr>
          <p:cNvPr id="575" name="Google Shape;575;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14 | REVEAL</a:t>
            </a:r>
          </a:p>
          <a:p xmlns:a="http://schemas.openxmlformats.org/drawingml/2006/main">
            <a:pPr>
              <a:buNone/>
            </a:pPr>
            <a:r>
              <a:rPr lang="en-US" sz="1100"/>
              <a:t>Focus on the existing task: 45% of the 300 students voted for fruit. What is the whole in this situation?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students to name the whole, the percent, and the unknown part before computing: 45 percent of 300 students. Listen for correct identification of 300 as the whole. The frequent error is treating 45 as the count of students rather than a rate per 100.</a:t>
            </a:r>
          </a:p>
        </p:txBody>
      </p:sp>
      <p:sp>
        <p:nvSpPr>
          <p:cNvPr id="631" name="Google Shape;631;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15 | REVEAL</a:t>
            </a:r>
          </a:p>
          <a:p xmlns:a="http://schemas.openxmlformats.org/drawingml/2006/main">
            <a:pPr>
              <a:buNone/>
            </a:pPr>
            <a:r>
              <a:rPr lang="en-US" sz="1100"/>
              <a:t>Focus on the existing task: Reveal: We can use a double number line. School Snacks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how a double number line could organize this vote problem, and what belongs on each line. Listen for percents on one line and student counts on the other, aligned at 0 and at 100 percent above 300. Watch for students placing 45 percent without scaling the count line to match.</a:t>
            </a:r>
          </a:p>
        </p:txBody>
      </p:sp>
      <p:sp>
        <p:nvSpPr>
          <p:cNvPr id="647" name="Google Shape;647;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16 | REVEAL</a:t>
            </a:r>
          </a:p>
          <a:p xmlns:a="http://schemas.openxmlformats.org/drawingml/2006/main">
            <a:pPr>
              <a:buNone/>
            </a:pPr>
            <a:r>
              <a:rPr lang="en-US" sz="1100"/>
              <a:t>Focus on the existing task: School Snacks Partner press: ask ‘Why?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Partner press: ask ‘Why?’ and answer with evidence.</a:t>
            </a:r>
          </a:p>
          <a:p>
            <a:r>
              <a:rPr lang="en-US"/>
              <a:t>Student move: Partner press: ask ‘Why?’ and answer with evidence.</a:t>
            </a:r>
          </a:p>
        </p:txBody>
      </p:sp>
      <p:sp>
        <p:nvSpPr>
          <p:cNvPr id="701" name="Google Shape;701;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17 | REVEAL</a:t>
            </a:r>
          </a:p>
          <a:p xmlns:a="http://schemas.openxmlformats.org/drawingml/2006/main">
            <a:pPr>
              <a:buNone/>
            </a:pPr>
            <a:r>
              <a:rPr lang="en-US" sz="1100"/>
              <a:t>Focus on the existing task: 135 of the 300 students voted for fruit. What is another way you can represent the multiplication used to find the percent of a whole?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Now the part is known and the percent is the unknown. Ask what stays the same in the setup and what switches roles. Listen for students writing the relationship 135 out of 300 before converting to a percent. Ask why an equation is a reasonable tool once the relationship is written.</a:t>
            </a:r>
          </a:p>
        </p:txBody>
      </p:sp>
      <p:sp>
        <p:nvSpPr>
          <p:cNvPr id="740" name="Google Shape;740;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18 | REVEAL</a:t>
            </a:r>
          </a:p>
          <a:p xmlns:a="http://schemas.openxmlformats.org/drawingml/2006/main">
            <a:pPr>
              <a:buNone/>
            </a:pPr>
            <a:r>
              <a:rPr lang="en-US" sz="1100"/>
              <a:t>Focus on the existing task: Let’s use an equation to determine how many students voted for fruit. How can you multiply a percent by a whole number?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why the decimal form of the percent is useful inside an equation. Listen for students translating the percent to hundredths on purpose. Watch for equations that multiply by 45 instead of 0.45; have students test their equation with an easy percent like 50.</a:t>
            </a:r>
          </a:p>
        </p:txBody>
      </p:sp>
      <p:sp>
        <p:nvSpPr>
          <p:cNvPr id="758" name="Google Shape;758;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19 | TASK</a:t>
            </a:r>
          </a:p>
          <a:p xmlns:a="http://schemas.openxmlformats.org/drawingml/2006/main">
            <a:pPr>
              <a:buNone/>
            </a:pPr>
            <a:r>
              <a:rPr lang="en-US" sz="1100"/>
              <a:t>Focus on the existing task: Three hundred middle school students voted for one of three snacks to add to the school cafeteria menu. The graph shows the percentage of students who voted for each snack. How many students voted for fruit?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Summary moment: 135 students voted for fruit. Have students trace how each representation, the number line and the equation, produced the same answer. Listen for connections between the two methods rather than a preference vote. Ask which method they would pick for a messier percent and why.</a:t>
            </a:r>
          </a:p>
        </p:txBody>
      </p:sp>
      <p:sp>
        <p:nvSpPr>
          <p:cNvPr id="774" name="Google Shape;774;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20 | COLLABORATE</a:t>
            </a:r>
          </a:p>
          <a:p xmlns:a="http://schemas.openxmlformats.org/drawingml/2006/main">
            <a:pPr>
              <a:buNone/>
            </a:pPr>
            <a:r>
              <a:rPr lang="en-US" sz="1100"/>
              <a:t>Focus on the existing task: Let’s try a similar problem. How many of the 300 students voted for veggie snacks?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a matching model or equation.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Student-led talk: paraphrase, agree or disagree, add on.</a:t>
            </a:r>
          </a:p>
          <a:p>
            <a:r>
              <a:rPr lang="en-US"/>
              <a:t>Student move: Student-led talk: paraphrase, agree or disagree, add on.</a:t>
            </a: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using the part as the whole or confusing percent with a decimal multiplier. If it appears, label the three quantities in the original problem before selecting an operation; then ask the student to revise the same response and explain the change. If evidence is secure, have students compare a second valid pathway or state why their approach works. Choose the next step from the responses, not a preset pace.</a:t>
            </a:r>
          </a:p>
        </p:txBody>
      </p:sp>
      <p:sp>
        <p:nvSpPr>
          <p:cNvPr id="793" name="Google Shape;793;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21 | PRACTICE</a:t>
            </a:r>
          </a:p>
          <a:p xmlns:a="http://schemas.openxmlformats.org/drawingml/2006/main">
            <a:pPr>
              <a:buNone/>
            </a:pPr>
            <a:r>
              <a:rPr lang="en-US" sz="1100"/>
              <a:t>Focus on the existing task: What is a reasonable estimate for the number of students who voted for cheese sticks?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Compare strategies; persist, revise, and try again.</a:t>
            </a:r>
          </a:p>
          <a:p>
            <a:r>
              <a:rPr lang="en-US"/>
              <a:t>Student move: Compare strategies; persist, revise, and try again.</a:t>
            </a:r>
          </a:p>
        </p:txBody>
      </p:sp>
      <p:sp>
        <p:nvSpPr>
          <p:cNvPr id="803" name="Google Shape;803;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30 | TASK</a:t>
            </a:r>
          </a:p>
          <a:p xmlns:a="http://schemas.openxmlformats.org/drawingml/2006/main">
            <a:pPr>
              <a:buNone/>
            </a:pPr>
            <a:r>
              <a:rPr lang="en-US" sz="1100"/>
              <a:t>Focus on the existing task: On two recent science tests, Anwar earned the scores shown. On which test did Anwar earn a higher score?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Anwar’s two test scores and ask what makes comparing them tricky as given. Listen for students noticing the scores are not in the same form. Ask for a prediction of which score is better before any conversion.</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quantity is the whole, and how does your equation or model represent the requested unknown?” Wait for evidence, invite another pathway, and have a student ask a follow-up question. Do not replace students’ reasoning with a sequence of leading steps.</a:t>
            </a:r>
          </a:p>
        </p:txBody>
      </p:sp>
      <p:sp>
        <p:nvSpPr>
          <p:cNvPr id="841" name="Google Shape;841;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31 | COLLABORATE</a:t>
            </a:r>
          </a:p>
          <a:p xmlns:a="http://schemas.openxmlformats.org/drawingml/2006/main">
            <a:pPr>
              <a:buNone/>
            </a:pPr>
            <a:r>
              <a:rPr lang="en-US" sz="1100"/>
              <a:t>Focus on the existing task: How can you convert the test scores to percentages?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Student-led talk: assign roles and monitor group progress.</a:t>
            </a:r>
          </a:p>
          <a:p>
            <a:r>
              <a:rPr lang="en-US"/>
              <a:t>Student move: Student-led talk: assign roles and monitor group progress.</a:t>
            </a: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using the part as the whole or confusing percent with a decimal multiplier. If it appears, label the three quantities in the original problem before selecting an operation; then ask the student to revise the same response and explain the change. If evidence is secure, have students compare a second valid pathway or state why their approach works. Choose the next step from the responses, not a preset pace.</a:t>
            </a:r>
          </a:p>
        </p:txBody>
      </p:sp>
      <p:sp>
        <p:nvSpPr>
          <p:cNvPr id="906" name="Google Shape;906;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32 | REVEAL</a:t>
            </a:r>
          </a:p>
          <a:p xmlns:a="http://schemas.openxmlformats.org/drawingml/2006/main">
            <a:pPr>
              <a:buNone/>
            </a:pPr>
            <a:r>
              <a:rPr lang="en-US" sz="1100"/>
              <a:t>Focus on the existing task: How can you compare the test scores?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why denominators of 100 make the comparison fair. Listen for equivalent-fraction reasoning, both numerator and denominator scaled together. Watch for students scaling only the denominator; press with what happened to the top number.</a:t>
            </a:r>
          </a:p>
        </p:txBody>
      </p:sp>
      <p:sp>
        <p:nvSpPr>
          <p:cNvPr id="933" name="Google Shape;933;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33 | TASK</a:t>
            </a:r>
          </a:p>
          <a:p xmlns:a="http://schemas.openxmlformats.org/drawingml/2006/main">
            <a:pPr>
              <a:buNone/>
            </a:pPr>
            <a:r>
              <a:rPr lang="en-US" sz="1100"/>
              <a:t>Focus on the existing task: On two recent science tests, Anwar earned the scores shown. On which test did Anwar earn a higher score?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Wrap the comparison: 80 percent versus 76 percent. Ask students to state the conclusion in a full sentence about the tests, not just the numbers. Listen for the claim tied back to the original scores. Ask what the percent form made visible that the raw scores hid.</a:t>
            </a:r>
          </a:p>
        </p:txBody>
      </p:sp>
      <p:sp>
        <p:nvSpPr>
          <p:cNvPr id="971" name="Google Shape;971;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34 | PRACTICE</a:t>
            </a:r>
          </a:p>
          <a:p xmlns:a="http://schemas.openxmlformats.org/drawingml/2006/main">
            <a:pPr>
              <a:buNone/>
            </a:pPr>
            <a:r>
              <a:rPr lang="en-US" sz="1100"/>
              <a:t>Focus on the existing task: Anwar answered 47 out of 50 questions correctly on the unit 3 test. Is this score better than his scores on the previous two tests?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Compare pathways with a partner; name one revision.</a:t>
            </a:r>
          </a:p>
          <a:p>
            <a:r>
              <a:rPr lang="en-US"/>
              <a:t>Student move: Compare pathways with a partner; name one revision.</a:t>
            </a:r>
          </a:p>
        </p:txBody>
      </p:sp>
      <p:sp>
        <p:nvSpPr>
          <p:cNvPr id="980" name="Google Shape;980;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38 | SUMMARIZE</a:t>
            </a:r>
          </a:p>
          <a:p xmlns:a="http://schemas.openxmlformats.org/drawingml/2006/main">
            <a:pPr>
              <a:buNone/>
            </a:pPr>
            <a:r>
              <a:rPr lang="en-US" sz="1100"/>
              <a:t>Focus on the existing task: You can use equations and ratio reasoning to determine the percent of a number. Summarize: Determine the Percent of a Number Ratio Reasoning What percent of 20 is 16?</a:t>
            </a:r>
          </a:p>
          <a:p xmlns:a="http://schemas.openxmlformats.org/drawingml/2006/main">
            <a:pPr>
              <a:buNone/>
            </a:pPr>
            <a:r>
              <a:rPr lang="en-US" sz="1100"/>
              <a:t>CONNECT (T1/4): Ask students to restate the displayed goal or key idea and connect it to earlier work. Relevant lesson evidence: identify part, whole and percent; use a matching model or equation; check reasonableness.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89" name="Google Shape;989;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4.4, slide 39 | APPLY</a:t>
            </a:r>
          </a:p>
          <a:p xmlns:a="http://schemas.openxmlformats.org/drawingml/2006/main">
            <a:pPr>
              <a:buNone/>
            </a:pPr>
            <a:r>
              <a:rPr lang="en-US" sz="1100"/>
              <a:t>Focus on the existing task: How many more students attended that day?</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Defend your method; partner gives one specific next step.</a:t>
            </a:r>
          </a:p>
          <a:p>
            <a:r>
              <a:rPr lang="en-US"/>
              <a:t>Student move: Defend your method; partner gives one specific next step.</a:t>
            </a: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identify part, whole and percent; use a matching model or equation; check reasonableness. Respond with one specific next step tied to the work. Students revise and annotate what changed, then identify a criterion they can now demonstrate and one they still need to practice.</a:t>
            </a:r>
          </a:p>
          <a:p>
            <a:pPr>
              <a:buNone/>
            </a:pPr>
            <a:r>
              <a:rPr lang="en-US" sz="1100"/>
              <a:t>REFLECT &amp; ADJUST 1-2 | After the lesson (UIFR PDF pp. 15-16).</a:t>
            </a:r>
          </a:p>
          <a:p>
            <a:pPr>
              <a:buNone/>
            </a:pPr>
            <a:r>
              <a:rPr lang="en-US" sz="1100"/>
              <a:t>Sort the existing work by demonstrated reasoning, partial understanding, and the specific misconception: using the part as the whole or confusing percent with a decimal multiplier.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the three quantities in the original problem before selecting an operation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999" name="Google Shape;999;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4.4, slide 27 | WARMUP</a:t>
            </a:r>
          </a:p>
          <a:p xmlns:a="http://schemas.openxmlformats.org/drawingml/2006/main">
            <a:pPr>
              <a:buNone/>
            </a:pPr>
            <a:r>
              <a:rPr lang="en-US" sz="1100"/>
              <a:t>Focus on the existing task: Session 2 Warm-Up Session 2 Warm-Up Quick review from Session 1 · about 4 minutes 1 What is 45% of 300?</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part, whole and percent; use a matching model or equation; check reasonableness. Ask: “Which part of your work would show this?” Revisit that evidence after the task; a confidence rating alone is not evidence of understanding.</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4.4, slide 28 | NOTES</a:t>
            </a:r>
          </a:p>
          <a:p xmlns:a="http://schemas.openxmlformats.org/drawingml/2006/main">
            <a:pPr>
              <a:buNone/>
            </a:pPr>
            <a:r>
              <a:rPr lang="en-US" sz="1100"/>
              <a:t>Focus on the existing task: Review Notes Review Notes — Session 2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4.4, slide 29 | DIVIDER</a:t>
            </a:r>
          </a:p>
          <a:p xmlns:a="http://schemas.openxmlformats.org/drawingml/2006/main">
            <a:pPr>
              <a:buNone/>
            </a:pPr>
            <a:r>
              <a:rPr lang="en-US" sz="1100"/>
              <a:t>Focus on the existing task: Find and Compare with Percentages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Transition cue: state what materials are out and what success looks like this session.</a:t>
            </a:r>
          </a:p>
          <a:p>
            <a:r>
              <a:t>Keep the changeover under a minute.</a:t>
            </a:r>
          </a:p>
          <a:p>
            <a:r>
              <a:t>UIFR: TEACH 6.</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4 | PRIOR_INSERT</a:t>
            </a:r>
          </a:p>
          <a:p xmlns:a="http://schemas.openxmlformats.org/drawingml/2006/main">
            <a:pPr>
              <a:buNone/>
            </a:pPr>
            <a:r>
              <a:rPr lang="en-US" sz="1100"/>
              <a:t>Focus on the existing task: LESSON 4.4 / OUR LEARNING What will show your learning?</a:t>
            </a:r>
          </a:p>
          <a:p xmlns:a="http://schemas.openxmlformats.org/drawingml/2006/main">
            <a:pPr>
              <a:buNone/>
            </a:pPr>
            <a:r>
              <a:rPr lang="en-US" sz="1100"/>
              <a:t>CONNECT (T1/4): Ask students to restate the displayed goal or key idea and connect it to earlier work. Relevant lesson evidence: identify part, whole and percent; use a matching model or equation; check reasonableness.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5 | VOCAB</a:t>
            </a:r>
          </a:p>
          <a:p xmlns:a="http://schemas.openxmlformats.org/drawingml/2006/main">
            <a:pPr>
              <a:buNone/>
            </a:pPr>
            <a:r>
              <a:rPr lang="en-US" sz="1100"/>
              <a:t>Focus on the existing task: Vocabulary 1 of 6 Percent of a Number A part of a number…</a:t>
            </a:r>
          </a:p>
          <a:p xmlns:a="http://schemas.openxmlformats.org/drawingml/2006/main">
            <a:pPr>
              <a:buNone/>
            </a:pPr>
            <a:r>
              <a:rPr lang="en-US" sz="1100"/>
              <a:t>ASK (T1/3/5): Where does “Percent of a Number”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6 | VOCAB</a:t>
            </a:r>
          </a:p>
          <a:p xmlns:a="http://schemas.openxmlformats.org/drawingml/2006/main">
            <a:pPr>
              <a:buNone/>
            </a:pPr>
            <a:r>
              <a:rPr lang="en-US" sz="1100"/>
              <a:t>Focus on the existing task: Vocabulary 2 of 6 Percent A way to compare a number to…</a:t>
            </a:r>
          </a:p>
          <a:p xmlns:a="http://schemas.openxmlformats.org/drawingml/2006/main">
            <a:pPr>
              <a:buNone/>
            </a:pPr>
            <a:r>
              <a:rPr lang="en-US" sz="1100"/>
              <a:t>ASK (T1/3/5): Where does “Percent”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7 | VOCAB</a:t>
            </a:r>
          </a:p>
          <a:p xmlns:a="http://schemas.openxmlformats.org/drawingml/2006/main">
            <a:pPr>
              <a:buNone/>
            </a:pPr>
            <a:r>
              <a:rPr lang="en-US" sz="1100"/>
              <a:t>Focus on the existing task: Vocabulary 3 of 6 Base The whole amount you start with…</a:t>
            </a:r>
          </a:p>
          <a:p xmlns:a="http://schemas.openxmlformats.org/drawingml/2006/main">
            <a:pPr>
              <a:buNone/>
            </a:pPr>
            <a:r>
              <a:rPr lang="en-US" sz="1100"/>
              <a:t>ASK (T1/3/5): Where does “Base”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8 | VOCAB</a:t>
            </a:r>
          </a:p>
          <a:p xmlns:a="http://schemas.openxmlformats.org/drawingml/2006/main">
            <a:pPr>
              <a:buNone/>
            </a:pPr>
            <a:r>
              <a:rPr lang="en-US" sz="1100"/>
              <a:t>Focus on the existing task: Vocabulary 4 of 6 Part How much of the base (the whole)…</a:t>
            </a:r>
          </a:p>
          <a:p xmlns:a="http://schemas.openxmlformats.org/drawingml/2006/main">
            <a:pPr>
              <a:buNone/>
            </a:pPr>
            <a:r>
              <a:rPr lang="en-US" sz="1100"/>
              <a:t>ASK (T1/3/5): Where does “Part”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9 | VOCAB</a:t>
            </a:r>
          </a:p>
          <a:p xmlns:a="http://schemas.openxmlformats.org/drawingml/2006/main">
            <a:pPr>
              <a:buNone/>
            </a:pPr>
            <a:r>
              <a:rPr lang="en-US" sz="1100"/>
              <a:t>Focus on the existing task: Vocabulary 5 of 6 Equation A number sentence with an…</a:t>
            </a:r>
          </a:p>
          <a:p xmlns:a="http://schemas.openxmlformats.org/drawingml/2006/main">
            <a:pPr>
              <a:buNone/>
            </a:pPr>
            <a:r>
              <a:rPr lang="en-US" sz="1100"/>
              <a:t>ASK (T1/3/5): Where does “Equation”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10 | VOCAB</a:t>
            </a:r>
          </a:p>
          <a:p xmlns:a="http://schemas.openxmlformats.org/drawingml/2006/main">
            <a:pPr>
              <a:buNone/>
            </a:pPr>
            <a:r>
              <a:rPr lang="en-US" sz="1100"/>
              <a:t>Focus on the existing task: Vocabulary 6 of 6 Discount Money taken off the first…</a:t>
            </a:r>
          </a:p>
          <a:p xmlns:a="http://schemas.openxmlformats.org/drawingml/2006/main">
            <a:pPr>
              <a:buNone/>
            </a:pPr>
            <a:r>
              <a:rPr lang="en-US" sz="1100"/>
              <a:t>ASK (T1/3/5): Where does “Discount”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11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22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identify part, whole and percent; use a matching model or equation; check reasonableness.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23 | REVEAL</a:t>
            </a:r>
          </a:p>
          <a:p xmlns:a="http://schemas.openxmlformats.org/drawingml/2006/main">
            <a:pPr>
              <a:buNone/>
            </a:pPr>
            <a:r>
              <a:rPr lang="en-US" sz="1100"/>
              <a:t>Focus on the existing task: 45% of the 300 students voted for fruit. What is the whole in this situation?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24 | REVEAL</a:t>
            </a:r>
          </a:p>
          <a:p xmlns:a="http://schemas.openxmlformats.org/drawingml/2006/main">
            <a:pPr>
              <a:buNone/>
            </a:pPr>
            <a:r>
              <a:rPr lang="en-US" sz="1100"/>
              <a:t>Focus on the existing task: Let’s use a double number line to represent the relationship between the quantities. How can you determine equivalent ratios to label the double number line?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25 | REVEAL</a:t>
            </a:r>
          </a:p>
          <a:p xmlns:a="http://schemas.openxmlformats.org/drawingml/2006/main">
            <a:pPr>
              <a:buNone/>
            </a:pPr>
            <a:r>
              <a:rPr lang="en-US" sz="1100"/>
              <a:t>Focus on the existing task: Reveal: To find an equivalent ratio with a term of 50%, we multiply each term by the decimal equivalent of 50%, 0.50. Let’s multiply…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26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35 | PRIOR_INSERT</a:t>
            </a:r>
          </a:p>
          <a:p xmlns:a="http://schemas.openxmlformats.org/drawingml/2006/main">
            <a:pPr>
              <a:buNone/>
            </a:pPr>
            <a:r>
              <a:rPr lang="en-US" sz="1100"/>
              <a:t>Focus on the existing task: LESSON 4.4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identify part, whole and percent; use a matching model or equation; check reasonableness.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36 | REVEAL</a:t>
            </a:r>
          </a:p>
          <a:p xmlns:a="http://schemas.openxmlformats.org/drawingml/2006/main">
            <a:pPr>
              <a:buNone/>
            </a:pPr>
            <a:r>
              <a:rPr lang="en-US" sz="1100"/>
              <a:t>Focus on the existing task: On two recent science tests, Anwar earned the scores shown. On which test did Anwar earn a higher score?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37 | REVEAL</a:t>
            </a:r>
          </a:p>
          <a:p xmlns:a="http://schemas.openxmlformats.org/drawingml/2006/main">
            <a:pPr>
              <a:buNone/>
            </a:pPr>
            <a:r>
              <a:rPr lang="en-US" sz="1100"/>
              <a:t>Focus on the existing task: Which score is higher?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part, whole and percent. Ask which feature of their work supports the claim.</a:t>
            </a:r>
          </a:p>
          <a:p xmlns:a="http://schemas.openxmlformats.org/drawingml/2006/main">
            <a:pPr>
              <a:buNone/>
            </a:pPr>
            <a:r>
              <a:rPr lang="en-US" sz="1100"/>
              <a:t>RESPOND: If this task shows the lesson misconception—using the part as the whole or confusing percent with a decimal multiplier—label the three quantities in the original problem before selecting an operation.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4.4, slide 40 | PRIOR_INSERT</a:t>
            </a:r>
          </a:p>
          <a:p xmlns:a="http://schemas.openxmlformats.org/drawingml/2006/main">
            <a:pPr>
              <a:buNone/>
            </a:pPr>
            <a:r>
              <a:rPr lang="en-US" sz="1100"/>
              <a:t>Focus on the existing task: LESSON 4.4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identify part, whole and percent; use a matching model or equation; check reasonableness.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Percent of a Number</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Percent of a Number</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6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6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6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6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notesSlide" Target="../notesSlides/notesSlide7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9.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7.png"/><Relationship Id="rId3" Type="http://schemas.openxmlformats.org/officeDocument/2006/relationships/notesSlide" Target="../notesSlides/notesSlide7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7.png"/><Relationship Id="rId3" Type="http://schemas.openxmlformats.org/officeDocument/2006/relationships/notesSlide" Target="../notesSlides/notesSlide7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7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0.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7.png"/><Relationship Id="rId4" Type="http://schemas.openxmlformats.org/officeDocument/2006/relationships/image" Target="../media/image34.png"/><Relationship Id="rId5" Type="http://schemas.openxmlformats.org/officeDocument/2006/relationships/image" Target="../media/image19.png"/><Relationship Id="rId6"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0.png"/><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notesSlide" Target="../notesSlides/notesSlide7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9.png"/><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1"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4-4 · Find and Compare with Percentages   |   Warm-Up · about 4 minutes</a:t>
            </a:r>
          </a:p>
        </p:txBody>
      </p:sp>
      <p:sp>
        <p:nvSpPr>
          <p:cNvPr id="26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3"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4"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7"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Write 35% as a decimal: ______</a:t>
            </a:r>
          </a:p>
        </p:txBody>
      </p:sp>
      <p:sp>
        <p:nvSpPr>
          <p:cNvPr id="268"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1"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0.25 × 80 = ______</a:t>
            </a:r>
          </a:p>
        </p:txBody>
      </p:sp>
      <p:sp>
        <p:nvSpPr>
          <p:cNvPr id="272"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5"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3/4 of 80 = ______</a:t>
            </a:r>
          </a:p>
        </p:txBody>
      </p:sp>
      <p:sp>
        <p:nvSpPr>
          <p:cNvPr id="276"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9"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Which is more, 20% of 50 or 30% of 40? ______</a:t>
            </a:r>
          </a:p>
        </p:txBody>
      </p:sp>
      <p:sp>
        <p:nvSpPr>
          <p:cNvPr id="280"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44</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31" name="Google Shape;531;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4-4 · Find and Compare with Percentages</a:t>
            </a:r>
            <a:endParaRPr/>
          </a:p>
        </p:txBody>
      </p:sp>
      <p:sp>
        <p:nvSpPr>
          <p:cNvPr id="532" name="Google Shape;532;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4" name="Google Shape;534;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35" name="Google Shape;535;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37" name="Google Shape;537;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8" name="Google Shape;538;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Finding the Percent of a Number</a:t>
            </a:r>
            <a:endParaRPr/>
          </a:p>
        </p:txBody>
      </p:sp>
      <p:sp>
        <p:nvSpPr>
          <p:cNvPr id="539" name="Google Shape;539;p53"/>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200" u="none" cap="none" strike="noStrike">
                <a:solidFill>
                  <a:srgbClr val="C2410C"/>
                </a:solidFill>
                <a:latin typeface="Arial"/>
                <a:ea typeface="Arial"/>
                <a:cs typeface="Arial"/>
                <a:sym typeface="Arial"/>
              </a:rPr>
              <a:t>Part = Percent × Whole</a:t>
            </a:r>
            <a:endParaRPr/>
          </a:p>
        </p:txBody>
      </p:sp>
      <p:sp>
        <p:nvSpPr>
          <p:cNvPr id="541" name="Google Shape;541;p53"/>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43" name="Google Shape;543;p53"/>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Identify the </a:t>
            </a:r>
            <a:r>
              <a:rPr b="1" i="0" lang="en-US" sz="1600" u="none" cap="none" strike="noStrike">
                <a:solidFill>
                  <a:srgbClr val="14223A"/>
                </a:solidFill>
                <a:latin typeface="Arial"/>
                <a:ea typeface="Arial"/>
                <a:cs typeface="Arial"/>
                <a:sym typeface="Arial"/>
              </a:rPr>
              <a:t xml:space="preserve">percent</a:t>
            </a:r>
            <a:r>
              <a:rPr b="0" i="0" lang="en-US" sz="1600" u="none" cap="none" strike="noStrike">
                <a:solidFill>
                  <a:srgbClr val="14223A"/>
                </a:solidFill>
                <a:latin typeface="Arial"/>
                <a:ea typeface="Arial"/>
                <a:cs typeface="Arial"/>
                <a:sym typeface="Arial"/>
              </a:rPr>
              <a:t xml:space="preserve"> and the </a:t>
            </a:r>
            <a:r>
              <a:rPr b="1" i="0" lang="en-US" sz="1600" u="none" cap="none" strike="noStrike">
                <a:solidFill>
                  <a:srgbClr val="14223A"/>
                </a:solidFill>
                <a:latin typeface="Arial"/>
                <a:ea typeface="Arial"/>
                <a:cs typeface="Arial"/>
                <a:sym typeface="Arial"/>
              </a:rPr>
              <a:t xml:space="preserve">whole</a:t>
            </a:r>
            <a:r>
              <a:rPr b="0" i="0" lang="en-US" sz="1600" u="none" cap="none" strike="noStrike">
                <a:solidFill>
                  <a:srgbClr val="14223A"/>
                </a:solidFill>
                <a:latin typeface="Arial"/>
                <a:ea typeface="Arial"/>
                <a:cs typeface="Arial"/>
                <a:sym typeface="Arial"/>
              </a:rPr>
              <a:t xml:space="preserve"> (base amount)</a:t>
            </a:r>
            <a:endParaRPr/>
          </a:p>
        </p:txBody>
      </p:sp>
      <p:sp>
        <p:nvSpPr>
          <p:cNvPr id="544" name="Google Shape;544;p53"/>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53"/>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46" name="Google Shape;546;p53"/>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Convert the percent to a </a:t>
            </a:r>
            <a:r>
              <a:rPr b="1" i="0" lang="en-US" sz="1600" u="none" cap="none" strike="noStrike">
                <a:solidFill>
                  <a:srgbClr val="14223A"/>
                </a:solidFill>
                <a:latin typeface="Arial"/>
                <a:ea typeface="Arial"/>
                <a:cs typeface="Arial"/>
                <a:sym typeface="Arial"/>
              </a:rPr>
              <a:t xml:space="preserve">decimal</a:t>
            </a:r>
            <a:r>
              <a:rPr b="0" i="0" lang="en-US" sz="1600" u="none" cap="none" strike="noStrike">
                <a:solidFill>
                  <a:srgbClr val="14223A"/>
                </a:solidFill>
                <a:latin typeface="Arial"/>
                <a:ea typeface="Arial"/>
                <a:cs typeface="Arial"/>
                <a:sym typeface="Arial"/>
              </a:rPr>
              <a:t xml:space="preserve"> or simplified fraction</a:t>
            </a:r>
            <a:endParaRPr/>
          </a:p>
        </p:txBody>
      </p:sp>
      <p:sp>
        <p:nvSpPr>
          <p:cNvPr id="547" name="Google Shape;547;p53"/>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8" name="Google Shape;548;p53"/>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49" name="Google Shape;549;p53"/>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Multiply the decimal/fraction by the whole to calculate the </a:t>
            </a:r>
            <a:r>
              <a:rPr b="1" i="0" lang="en-US" sz="1600" u="none" cap="none" strike="noStrike">
                <a:solidFill>
                  <a:srgbClr val="14223A"/>
                </a:solidFill>
                <a:latin typeface="Arial"/>
                <a:ea typeface="Arial"/>
                <a:cs typeface="Arial"/>
                <a:sym typeface="Arial"/>
              </a:rPr>
              <a:t xml:space="preserve">part</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Objectives</a:t>
            </a:r>
            <a:endParaRPr/>
          </a:p>
        </p:txBody>
      </p:sp>
      <p:sp>
        <p:nvSpPr>
          <p:cNvPr id="338" name="Google Shape;338;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4-4 · Find and Compare with Percentages</a:t>
            </a:r>
            <a:endParaRPr/>
          </a:p>
        </p:txBody>
      </p:sp>
      <p:sp>
        <p:nvSpPr>
          <p:cNvPr id="339" name="Google Shape;339;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41" name="Google Shape;341;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800" u="none" cap="none" strike="noStrike">
                <a:solidFill>
                  <a:srgbClr val="14223A"/>
                </a:solidFill>
                <a:latin typeface="Arial"/>
                <a:ea typeface="Arial"/>
                <a:cs typeface="Arial"/>
                <a:sym typeface="Arial"/>
              </a:rPr>
              <a:t>Find and Compare with Percentages</a:t>
            </a:r>
            <a:endParaRPr/>
          </a:p>
        </p:txBody>
      </p:sp>
      <p:sp>
        <p:nvSpPr>
          <p:cNvPr id="342" name="Google Shape;342;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475569"/>
                </a:solidFill>
                <a:latin typeface="Arial"/>
                <a:ea typeface="Arial"/>
                <a:cs typeface="Arial"/>
                <a:sym typeface="Arial"/>
              </a:rPr>
              <a:t>Maryland Standard 6.AT.4</a:t>
            </a:r>
            <a:endParaRPr/>
          </a:p>
        </p:txBody>
      </p:sp>
      <p:sp>
        <p:nvSpPr>
          <p:cNvPr id="343" name="Google Shape;343;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F766E"/>
                </a:solidFill>
                <a:latin typeface="Arial"/>
                <a:ea typeface="Arial"/>
                <a:cs typeface="Arial"/>
                <a:sym typeface="Arial"/>
              </a:rPr>
              <a:t>CONTENT OBJECTIVE</a:t>
            </a:r>
            <a:endParaRPr/>
          </a:p>
        </p:txBody>
      </p:sp>
      <p:sp>
        <p:nvSpPr>
          <p:cNvPr id="346" name="Google Shape;346;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Restate the goal in your words</a:t>
            </a:r>
            <a:endParaRPr/>
          </a:p>
        </p:txBody>
      </p:sp>
      <p:sp>
        <p:nvSpPr>
          <p:cNvPr id="347" name="Google Shape;347;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i="0" lang="en-US" sz="2500" u="none" cap="none" strike="noStrike">
                <a:solidFill>
                  <a:srgbClr val="14223A"/>
                </a:solidFill>
                <a:latin typeface="Arial"/>
                <a:ea typeface="Arial"/>
                <a:cs typeface="Arial"/>
                <a:sym typeface="Arial"/>
              </a:rPr>
              <a:t>I can find the percent of a number using an equation or a model.</a:t>
            </a:r>
            <a:endParaRPr/>
          </a:p>
        </p:txBody>
      </p:sp>
      <p:sp>
        <p:nvSpPr>
          <p:cNvPr id="348" name="Google Shape;348;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C2410C"/>
                </a:solidFill>
                <a:latin typeface="Arial"/>
                <a:ea typeface="Arial"/>
                <a:cs typeface="Arial"/>
                <a:sym typeface="Arial"/>
              </a:rPr>
              <a:t>LANGUAGE OBJECTIVE</a:t>
            </a:r>
            <a:endParaRPr/>
          </a:p>
        </p:txBody>
      </p:sp>
      <p:sp>
        <p:nvSpPr>
          <p:cNvPr id="351" name="Google Shape;351;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Use these words to explain why</a:t>
            </a:r>
            <a:endParaRPr/>
          </a:p>
        </p:txBody>
      </p:sp>
      <p:sp>
        <p:nvSpPr>
          <p:cNvPr id="352" name="Google Shape;352;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i="0" lang="en-US" sz="2500" u="none" cap="none" strike="noStrike">
                <a:solidFill>
                  <a:srgbClr val="14223A"/>
                </a:solidFill>
                <a:latin typeface="Arial"/>
                <a:ea typeface="Arial"/>
                <a:cs typeface="Arial"/>
                <a:sym typeface="Arial"/>
              </a:rPr>
              <a:t>I can explain my steps using the words percent, base, part, and equation.</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 / 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4.4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Identify part, whole and percent.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a matching model or equation.</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Check reasonableness.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3" name="Google Shape;393;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96" name="Google Shape;396;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4-4 · Find and Compare with Percentages</a:t>
            </a:r>
            <a:endParaRPr/>
          </a:p>
        </p:txBody>
      </p:sp>
      <p:sp>
        <p:nvSpPr>
          <p:cNvPr id="397" name="Google Shape;397;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99" name="Google Shape;399;p46"/>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Percent of a Number</a:t>
            </a:r>
            <a:endParaRPr/>
          </a:p>
        </p:txBody>
      </p:sp>
      <p:sp>
        <p:nvSpPr>
          <p:cNvPr id="400" name="Google Shape;400;p46"/>
          <p:cNvSpPr/>
          <p:nvPr/>
        </p:nvSpPr>
        <p:spPr>
          <a:xfrm>
            <a:off x="658368" y="2718816"/>
            <a:ext cx="225856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A part of a number found by multiplying the number by the percent written as a decimal.</a:t>
            </a:r>
            <a:endParaRPr/>
          </a:p>
        </p:txBody>
      </p:sp>
      <p:sp>
        <p:nvSpPr>
          <p:cNvPr id="402" name="Google Shape;402;p46"/>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5" name="Google Shape;405;p46"/>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25% of 80 = 0.25 × 80 = 20</a:t>
            </a:r>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5 / 44</a:t>
            </a:r>
          </a:p>
        </p:txBody>
      </p:sp>
      <p:grpSp>
        <p:nvGrpSpPr>
          <p:cNvPr id="9003" name="TEACH-5-student-move" descr="TEACH 5 · Facilitate student interactions and academic talk"/>
          <p:cNvGrpSpPr/>
          <p:nvPr/>
        </p:nvGrpSpPr>
        <p:grpSpPr>
          <a:xfrm>
            <a:off x="502920" y="5751576"/>
            <a:ext cx="11186160" cy="548640"/>
            <a:chOff x="502920" y="5751576"/>
            <a:chExt cx="11186160" cy="548640"/>
          </a:xfrm>
        </p:grpSpPr>
        <p:sp>
          <p:nvSpPr>
            <p:cNvPr id="900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0" name="Google Shape;410;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413" name="Google Shape;413;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4-4 · Find and Compare with Percentages</a:t>
            </a:r>
            <a:endParaRPr/>
          </a:p>
        </p:txBody>
      </p:sp>
      <p:sp>
        <p:nvSpPr>
          <p:cNvPr id="414" name="Google Shape;414;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6" name="Google Shape;416;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Percent</a:t>
            </a:r>
            <a:endParaRPr/>
          </a:p>
        </p:txBody>
      </p:sp>
      <p:sp>
        <p:nvSpPr>
          <p:cNvPr id="417" name="Google Shape;417;p47"/>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way to compare a number to 100, shown with the % sign.</a:t>
            </a:r>
            <a:endParaRPr/>
          </a:p>
        </p:txBody>
      </p:sp>
      <p:sp>
        <p:nvSpPr>
          <p:cNvPr id="419" name="Google Shape;419;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2" name="Google Shape;422;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30% means 30 out of 100</a:t>
            </a:r>
            <a:endParaRPr/>
          </a:p>
        </p:txBody>
      </p:sp>
      <p:pic>
        <p:nvPicPr>
          <p:cNvPr descr="percent.png" id="423" name="Google Shape;423;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6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“Percent” to explain the example. Point to evidence.</a:t>
            </a:r>
            <a:endParaRPr lang="en-US" sz="20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8" name="Google Shape;428;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31" name="Google Shape;431;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4-4 · Find and Compare with Percentages</a:t>
            </a:r>
            <a:endParaRPr/>
          </a:p>
        </p:txBody>
      </p:sp>
      <p:sp>
        <p:nvSpPr>
          <p:cNvPr id="432" name="Google Shape;432;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4" name="Google Shape;434;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Base</a:t>
            </a:r>
            <a:endParaRPr/>
          </a:p>
        </p:txBody>
      </p:sp>
      <p:sp>
        <p:nvSpPr>
          <p:cNvPr id="435" name="Google Shape;435;p48"/>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whole amount you start with — the number right after the word “of.”</a:t>
            </a:r>
            <a:endParaRPr/>
          </a:p>
        </p:txBody>
      </p:sp>
      <p:sp>
        <p:nvSpPr>
          <p:cNvPr id="437" name="Google Shape;437;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0" name="Google Shape;440;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25% of 80 → the whole is 80.</a:t>
            </a:r>
            <a:endParaRPr/>
          </a:p>
        </p:txBody>
      </p:sp>
      <p:pic>
        <p:nvPicPr>
          <p:cNvPr descr="percent-base.png" id="441" name="Google Shape;441;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7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“Base” to explain the example. Point to 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6" name="Google Shape;446;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49" name="Google Shape;449;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4-4 · Find and Compare with Percentages</a:t>
            </a:r>
            <a:endParaRPr/>
          </a:p>
        </p:txBody>
      </p:sp>
      <p:sp>
        <p:nvSpPr>
          <p:cNvPr id="450" name="Google Shape;450;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2" name="Google Shape;452;p49"/>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Part</a:t>
            </a:r>
            <a:endParaRPr/>
          </a:p>
        </p:txBody>
      </p:sp>
      <p:sp>
        <p:nvSpPr>
          <p:cNvPr id="453" name="Google Shape;453;p49"/>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much of the base (the whole) you get. It is your answer.</a:t>
            </a:r>
            <a:endParaRPr/>
          </a:p>
        </p:txBody>
      </p:sp>
      <p:sp>
        <p:nvSpPr>
          <p:cNvPr id="455" name="Google Shape;455;p49"/>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8" name="Google Shape;458;p49"/>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25% of 80 = 20 → the part is 20 (20 out of the 80).</a:t>
            </a:r>
            <a:endParaRPr/>
          </a:p>
        </p:txBody>
      </p:sp>
      <p:pic>
        <p:nvPicPr>
          <p:cNvPr descr="percent-part.png" id="459" name="Google Shape;459;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8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“Part”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4" name="Google Shape;464;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67" name="Google Shape;467;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4-4 · Find and Compare with Percentages</a:t>
            </a:r>
            <a:endParaRPr/>
          </a:p>
        </p:txBody>
      </p:sp>
      <p:sp>
        <p:nvSpPr>
          <p:cNvPr id="468" name="Google Shape;468;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0" name="Google Shape;470;p50"/>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Equation</a:t>
            </a:r>
            <a:endParaRPr/>
          </a:p>
        </p:txBody>
      </p:sp>
      <p:sp>
        <p:nvSpPr>
          <p:cNvPr id="471" name="Google Shape;471;p50"/>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sentence with an equal sign. The percent one is: part = percent × base.</a:t>
            </a:r>
            <a:endParaRPr/>
          </a:p>
        </p:txBody>
      </p:sp>
      <p:sp>
        <p:nvSpPr>
          <p:cNvPr id="473" name="Google Shape;473;p50"/>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6" name="Google Shape;476;p50"/>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part = percent × base — like 20 = 0.25 × 80.</a:t>
            </a:r>
            <a:endParaRPr/>
          </a:p>
        </p:txBody>
      </p:sp>
      <p:pic>
        <p:nvPicPr>
          <p:cNvPr descr="equation-percent-formula.png" id="477" name="Google Shape;477;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9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“Equation”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2" name="Google Shape;482;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85" name="Google Shape;485;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4-4 · Find and Compare with Percentages</a:t>
            </a:r>
            <a:endParaRPr/>
          </a:p>
        </p:txBody>
      </p:sp>
      <p:sp>
        <p:nvSpPr>
          <p:cNvPr id="486" name="Google Shape;486;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8" name="Google Shape;488;p51"/>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Discount</a:t>
            </a:r>
            <a:endParaRPr/>
          </a:p>
        </p:txBody>
      </p:sp>
      <p:sp>
        <p:nvSpPr>
          <p:cNvPr id="489" name="Google Shape;489;p51"/>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Money taken off the first price to make it cheaper.</a:t>
            </a:r>
            <a:endParaRPr/>
          </a:p>
        </p:txBody>
      </p:sp>
      <p:sp>
        <p:nvSpPr>
          <p:cNvPr id="491" name="Google Shape;491;p51"/>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4" name="Google Shape;494;p51"/>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$40 shirt at 25% off: discount = $10</a:t>
            </a:r>
            <a:endParaRPr/>
          </a:p>
        </p:txBody>
      </p:sp>
      <p:pic>
        <p:nvPicPr>
          <p:cNvPr descr="discount.png" id="495" name="Google Shape;495;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10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“Discount”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65" name="Google Shape;565;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6" name="Google Shape;566;p55"/>
          <p:cNvSpPr txBox="1"/>
          <p:nvPr/>
        </p:nvSpPr>
        <p:spPr>
          <a:xfrm>
            <a:off x="474055" y="936101"/>
            <a:ext cx="3769471" cy="11795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wonder?</a:t>
            </a:r>
            <a:endParaRPr b="0" i="0" sz="2800" u="none" cap="none" strike="noStrike">
              <a:solidFill>
                <a:srgbClr val="262626"/>
              </a:solidFill>
              <a:latin typeface="Arial"/>
              <a:ea typeface="Arial"/>
              <a:cs typeface="Arial"/>
              <a:sym typeface="Arial"/>
            </a:endParaRPr>
          </a:p>
        </p:txBody>
      </p:sp>
      <p:sp>
        <p:nvSpPr>
          <p:cNvPr id="567" name="Google Shape;567;p55"/>
          <p:cNvSpPr txBox="1"/>
          <p:nvPr/>
        </p:nvSpPr>
        <p:spPr>
          <a:xfrm>
            <a:off x="484560" y="316034"/>
            <a:ext cx="3904129" cy="47965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68" name="Google Shape;568;p55"/>
          <p:cNvPicPr preferRelativeResize="0"/>
          <p:nvPr/>
        </p:nvPicPr>
        <p:blipFill rotWithShape="1">
          <a:blip r:embed="rId2">
            <a:alphaModFix/>
          </a:blip>
          <a:srcRect b="0" l="0" r="0" t="0"/>
          <a:stretch/>
        </p:blipFill>
        <p:spPr>
          <a:xfrm>
            <a:off x="7183719" y="1418196"/>
            <a:ext cx="3265961" cy="3653112"/>
          </a:xfrm>
          <a:prstGeom prst="rect">
            <a:avLst/>
          </a:prstGeom>
          <a:noFill/>
          <a:ln>
            <a:noFill/>
          </a:ln>
        </p:spPr>
      </p:pic>
      <p:graphicFrame>
        <p:nvGraphicFramePr>
          <p:cNvPr id="569" name="Google Shape;569;p55"/>
          <p:cNvGraphicFramePr/>
          <p:nvPr/>
        </p:nvGraphicFramePr>
        <p:xfrm>
          <a:off x="1007644" y="2256073"/>
          <a:ext cx="3000000" cy="3000000"/>
        </p:xfrm>
        <a:graphic>
          <a:graphicData uri="http://schemas.openxmlformats.org/drawingml/2006/table">
            <a:tbl>
              <a:tblPr bandRow="1" firstRow="1">
                <a:noFill/>
                <a:tableStyleId>{BB2A2A0F-54C0-4294-8F95-18B3921517DC}</a:tableStyleId>
              </a:tblPr>
              <a:tblGrid>
                <a:gridCol w="2636500"/>
                <a:gridCol w="2636500"/>
              </a:tblGrid>
              <a:tr h="346950">
                <a:tc gridSpan="2">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rgbClr val="000000"/>
                          </a:solidFill>
                          <a:latin typeface="Arial"/>
                          <a:ea typeface="Arial"/>
                          <a:cs typeface="Arial"/>
                          <a:sym typeface="Arial"/>
                        </a:rPr>
                        <a:t>Snack Preferences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AEABAB"/>
                      </a:solidFill>
                      <a:prstDash val="solid"/>
                      <a:round/>
                      <a:headEnd len="sm" w="sm" type="none"/>
                      <a:tailEnd len="sm" w="sm" type="none"/>
                    </a:lnB>
                    <a:solidFill>
                      <a:schemeClr val="lt1"/>
                    </a:solidFill>
                  </a:tcPr>
                </a:tc>
                <a:tc hMerge="1"/>
              </a:tr>
              <a:tr h="632675">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Snack</a:t>
                      </a:r>
                      <a:endParaRPr b="1" sz="2200" u="none" cap="none" strike="noStrike">
                        <a:solidFill>
                          <a:schemeClr val="lt1"/>
                        </a:solidFill>
                        <a:latin typeface="Arial"/>
                        <a:ea typeface="Arial"/>
                        <a:cs typeface="Arial"/>
                        <a:sym typeface="Arial"/>
                      </a:endParaRPr>
                    </a:p>
                  </a:txBody>
                  <a:tcPr marT="45725" marB="45725" marR="91450" marL="91450" anchor="ctr">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Number of Students</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rgbClr val="695B9A"/>
                    </a:solidFill>
                  </a:tcPr>
                </a:tc>
              </a:tr>
              <a:tr h="632675">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Cheese Sticks</a:t>
                      </a:r>
                      <a:endParaRPr sz="2200" u="none" cap="none" strike="noStrike">
                        <a:latin typeface="Arial"/>
                        <a:ea typeface="Arial"/>
                        <a:cs typeface="Arial"/>
                        <a:sym typeface="Arial"/>
                      </a:endParaRPr>
                    </a:p>
                  </a:txBody>
                  <a:tcPr marT="45725" marB="45725" marR="91450" marL="91450">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200"/>
                        <a:buFont typeface="Arial"/>
                        <a:buNone/>
                      </a:pPr>
                      <a:r>
                        <a:t/>
                      </a:r>
                      <a:endParaRPr sz="2200" u="none" cap="none" strike="noStrike">
                        <a:latin typeface="Arial"/>
                        <a:ea typeface="Arial"/>
                        <a:cs typeface="Arial"/>
                        <a:sym typeface="Arial"/>
                      </a:endParaRPr>
                    </a:p>
                  </a:txBody>
                  <a:tcPr marT="45725" marB="45725" marR="91450" marL="91450">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chemeClr val="lt1"/>
                    </a:solidFill>
                  </a:tcPr>
                </a:tc>
              </a:tr>
              <a:tr h="3469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Fruit</a:t>
                      </a:r>
                      <a:endParaRPr sz="2200" u="none" cap="none" strike="noStrike">
                        <a:latin typeface="Arial"/>
                        <a:ea typeface="Arial"/>
                        <a:cs typeface="Arial"/>
                        <a:sym typeface="Arial"/>
                      </a:endParaRPr>
                    </a:p>
                  </a:txBody>
                  <a:tcPr marT="45725" marB="45725" marR="91450" marL="91450">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200"/>
                        <a:buFont typeface="Arial"/>
                        <a:buNone/>
                      </a:pPr>
                      <a:r>
                        <a:t/>
                      </a:r>
                      <a:endParaRPr sz="2200" u="none" cap="none" strike="noStrike">
                        <a:latin typeface="Arial"/>
                        <a:ea typeface="Arial"/>
                        <a:cs typeface="Arial"/>
                        <a:sym typeface="Arial"/>
                      </a:endParaRPr>
                    </a:p>
                  </a:txBody>
                  <a:tcPr marT="45725" marB="45725" marR="91450" marL="91450">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chemeClr val="lt1"/>
                    </a:solidFill>
                  </a:tcPr>
                </a:tc>
              </a:tr>
              <a:tr h="41620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Veggie Sticks</a:t>
                      </a:r>
                      <a:endParaRPr sz="2200" u="none" cap="none" strike="noStrike">
                        <a:latin typeface="Arial"/>
                        <a:ea typeface="Arial"/>
                        <a:cs typeface="Arial"/>
                        <a:sym typeface="Arial"/>
                      </a:endParaRPr>
                    </a:p>
                  </a:txBody>
                  <a:tcPr marT="45725" marB="45725" marR="91450" marL="91450">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200"/>
                        <a:buFont typeface="Arial"/>
                        <a:buNone/>
                      </a:pPr>
                      <a:r>
                        <a:t/>
                      </a:r>
                      <a:endParaRPr sz="2200" u="none" cap="none" strike="noStrike">
                        <a:latin typeface="Arial"/>
                        <a:ea typeface="Arial"/>
                        <a:cs typeface="Arial"/>
                        <a:sym typeface="Arial"/>
                      </a:endParaRPr>
                    </a:p>
                  </a:txBody>
                  <a:tcPr marT="45725" marB="45725" marR="91450" marL="91450">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chemeClr val="lt1"/>
                    </a:solidFill>
                  </a:tcPr>
                </a:tc>
              </a:tr>
            </a:tbl>
          </a:graphicData>
        </a:graphic>
      </p:graphicFrame>
      <p:pic>
        <p:nvPicPr>
          <p:cNvPr id="570" name="Google Shape;570;p55"/>
          <p:cNvPicPr preferRelativeResize="0"/>
          <p:nvPr/>
        </p:nvPicPr>
        <p:blipFill rotWithShape="1">
          <a:blip r:embed="rId3">
            <a:alphaModFix/>
          </a:blip>
          <a:srcRect b="0" l="0" r="0" t="0"/>
          <a:stretch/>
        </p:blipFill>
        <p:spPr>
          <a:xfrm>
            <a:off x="474055" y="5071308"/>
            <a:ext cx="5054600" cy="838200"/>
          </a:xfrm>
          <a:prstGeom prst="rect">
            <a:avLst/>
          </a:prstGeom>
          <a:noFill/>
          <a:ln>
            <a:noFill/>
          </a:ln>
        </p:spPr>
      </p:pic>
      <p:sp>
        <p:nvSpPr>
          <p:cNvPr id="571" name="Google Shape;571;p55"/>
          <p:cNvSpPr txBox="1"/>
          <p:nvPr/>
        </p:nvSpPr>
        <p:spPr>
          <a:xfrm>
            <a:off x="3334072" y="522862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72" name="Google Shape;572;p55"/>
          <p:cNvSpPr/>
          <p:nvPr/>
        </p:nvSpPr>
        <p:spPr>
          <a:xfrm>
            <a:off x="687251" y="5886631"/>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are your strengths as a problem solver?</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11 / 44</a:t>
            </a:r>
          </a:p>
        </p:txBody>
      </p:sp>
      <p:grpSp>
        <p:nvGrpSpPr>
          <p:cNvPr id="9003" name="TEACH-3-student-move" descr="TEACH 3 · Use intentional questioning to deepen learning"/>
          <p:cNvGrpSpPr/>
          <p:nvPr/>
        </p:nvGrpSpPr>
        <p:grpSpPr>
          <a:xfrm>
            <a:off x="6187440" y="5209975"/>
            <a:ext cx="5501640" cy="594360"/>
            <a:chOff x="6187440" y="5209975"/>
            <a:chExt cx="5501640" cy="594360"/>
          </a:xfrm>
        </p:grpSpPr>
        <p:sp>
          <p:nvSpPr>
            <p:cNvPr id="9004" name="TEACH-move-card"/>
            <p:cNvSpPr/>
            <p:nvPr/>
          </p:nvSpPr>
          <p:spPr>
            <a:xfrm>
              <a:off x="6187440" y="5209975"/>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6233160" y="5322903"/>
              <a:ext cx="100584" cy="36850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6507480" y="5209975"/>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0" name="Google Shape;360;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4-4 · Find and Compare with Percentages</a:t>
            </a:r>
            <a:endParaRPr/>
          </a:p>
        </p:txBody>
      </p:sp>
      <p:sp>
        <p:nvSpPr>
          <p:cNvPr id="361" name="Google Shape;361;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3" name="Google Shape;363;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4" name="Google Shape;364;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5" name="Google Shape;365;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Percent of a Number</a:t>
            </a:r>
            <a:endParaRPr/>
          </a:p>
        </p:txBody>
      </p:sp>
      <p:sp>
        <p:nvSpPr>
          <p:cNvPr id="368" name="Google Shape;368;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part of a number found by multiplying the number by the percent written as a decimal</a:t>
            </a:r>
            <a:endParaRPr/>
          </a:p>
        </p:txBody>
      </p:sp>
      <p:sp>
        <p:nvSpPr>
          <p:cNvPr id="369" name="Google Shape;369;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Percent</a:t>
            </a:r>
            <a:endParaRPr/>
          </a:p>
        </p:txBody>
      </p:sp>
      <p:sp>
        <p:nvSpPr>
          <p:cNvPr id="372" name="Google Shape;372;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way to compare a number to 100, shown with the % sign</a:t>
            </a:r>
            <a:endParaRPr/>
          </a:p>
        </p:txBody>
      </p:sp>
      <p:sp>
        <p:nvSpPr>
          <p:cNvPr id="373" name="Google Shape;373;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Base</a:t>
            </a:r>
            <a:endParaRPr/>
          </a:p>
        </p:txBody>
      </p:sp>
      <p:sp>
        <p:nvSpPr>
          <p:cNvPr id="376" name="Google Shape;376;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whole amount you start with — the number right after the word “of.”</a:t>
            </a:r>
            <a:endParaRPr/>
          </a:p>
        </p:txBody>
      </p:sp>
      <p:sp>
        <p:nvSpPr>
          <p:cNvPr id="377" name="Google Shape;377;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Part</a:t>
            </a:r>
            <a:endParaRPr/>
          </a:p>
        </p:txBody>
      </p:sp>
      <p:sp>
        <p:nvSpPr>
          <p:cNvPr id="380" name="Google Shape;380;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much of the base (the whole) you get</a:t>
            </a:r>
            <a:endParaRPr/>
          </a:p>
        </p:txBody>
      </p:sp>
      <p:sp>
        <p:nvSpPr>
          <p:cNvPr id="381" name="Google Shape;381;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Equation</a:t>
            </a:r>
            <a:endParaRPr/>
          </a:p>
        </p:txBody>
      </p:sp>
      <p:sp>
        <p:nvSpPr>
          <p:cNvPr id="384" name="Google Shape;384;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number sentence with an equal sign</a:t>
            </a:r>
            <a:endParaRPr/>
          </a:p>
        </p:txBody>
      </p:sp>
      <p:sp>
        <p:nvSpPr>
          <p:cNvPr id="385" name="Google Shape;385;p45"/>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45"/>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Discount</a:t>
            </a:r>
            <a:endParaRPr/>
          </a:p>
        </p:txBody>
      </p:sp>
      <p:sp>
        <p:nvSpPr>
          <p:cNvPr id="388" name="Google Shape;388;p45"/>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Money taken off the first price to make it cheaper</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Explain with today’s vocabulary; partner paraphrases.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12 / 44</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6"/>
          <p:cNvSpPr txBox="1"/>
          <p:nvPr/>
        </p:nvSpPr>
        <p:spPr>
          <a:xfrm>
            <a:off x="484565" y="936099"/>
            <a:ext cx="7073900" cy="36270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Three hundred middle school students voted for one of three snacks to add to the school cafeteria menu. The graph shows the percentage of students who voted for each snack.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many students voted for fruit?</a:t>
            </a:r>
            <a:endParaRPr b="0" i="0" sz="1400" u="none" cap="none" strike="noStrike">
              <a:solidFill>
                <a:srgbClr val="000000"/>
              </a:solidFill>
              <a:latin typeface="Arial"/>
              <a:ea typeface="Arial"/>
              <a:cs typeface="Arial"/>
              <a:sym typeface="Arial"/>
            </a:endParaRPr>
          </a:p>
        </p:txBody>
      </p:sp>
      <p:sp>
        <p:nvSpPr>
          <p:cNvPr id="578" name="Google Shape;578;p5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School Snacks</a:t>
            </a:r>
            <a:endParaRPr b="0" i="0" sz="1400" u="none" cap="none" strike="noStrike">
              <a:solidFill>
                <a:srgbClr val="000000"/>
              </a:solidFill>
              <a:latin typeface="Arial"/>
              <a:ea typeface="Arial"/>
              <a:cs typeface="Arial"/>
              <a:sym typeface="Arial"/>
            </a:endParaRPr>
          </a:p>
        </p:txBody>
      </p:sp>
      <p:cxnSp>
        <p:nvCxnSpPr>
          <p:cNvPr id="579" name="Google Shape;579;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580" name="Google Shape;580;p56"/>
          <p:cNvPicPr preferRelativeResize="0"/>
          <p:nvPr/>
        </p:nvPicPr>
        <p:blipFill rotWithShape="1">
          <a:blip r:embed="rId3">
            <a:alphaModFix/>
          </a:blip>
          <a:srcRect b="0" l="0" r="0" t="0"/>
          <a:stretch/>
        </p:blipFill>
        <p:spPr>
          <a:xfrm>
            <a:off x="484565" y="5083701"/>
            <a:ext cx="7073900" cy="838200"/>
          </a:xfrm>
          <a:prstGeom prst="rect">
            <a:avLst/>
          </a:prstGeom>
          <a:noFill/>
          <a:ln>
            <a:noFill/>
          </a:ln>
        </p:spPr>
      </p:pic>
      <p:sp>
        <p:nvSpPr>
          <p:cNvPr id="581" name="Google Shape;581;p56"/>
          <p:cNvSpPr txBox="1"/>
          <p:nvPr/>
        </p:nvSpPr>
        <p:spPr>
          <a:xfrm>
            <a:off x="3156367" y="5241019"/>
            <a:ext cx="6783781"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Describing Quantities</a:t>
            </a:r>
            <a:endParaRPr b="0" i="0" sz="1400" u="none" cap="none" strike="noStrike">
              <a:solidFill>
                <a:srgbClr val="000000"/>
              </a:solidFill>
              <a:latin typeface="Arial"/>
              <a:ea typeface="Arial"/>
              <a:cs typeface="Arial"/>
              <a:sym typeface="Arial"/>
            </a:endParaRPr>
          </a:p>
        </p:txBody>
      </p:sp>
      <p:pic>
        <p:nvPicPr>
          <p:cNvPr id="582" name="Google Shape;582;p56"/>
          <p:cNvPicPr preferRelativeResize="0"/>
          <p:nvPr/>
        </p:nvPicPr>
        <p:blipFill rotWithShape="1">
          <a:blip r:embed="rId4">
            <a:alphaModFix/>
          </a:blip>
          <a:srcRect b="0" l="0" r="0" t="0"/>
          <a:stretch/>
        </p:blipFill>
        <p:spPr>
          <a:xfrm>
            <a:off x="8256155" y="1602444"/>
            <a:ext cx="3265961" cy="3653112"/>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13 / 44</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62"/>
          <p:cNvSpPr txBox="1"/>
          <p:nvPr/>
        </p:nvSpPr>
        <p:spPr>
          <a:xfrm>
            <a:off x="484565" y="936099"/>
            <a:ext cx="7736157" cy="24929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45% of the 300 students voted for fruit.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 xml:space="preserve">What is the whole in this situation?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percentage represents the whole?</a:t>
            </a:r>
            <a:endParaRPr b="0" i="0" sz="1400" u="none" cap="none" strike="noStrike">
              <a:solidFill>
                <a:srgbClr val="000000"/>
              </a:solidFill>
              <a:latin typeface="Arial"/>
              <a:ea typeface="Arial"/>
              <a:cs typeface="Arial"/>
              <a:sym typeface="Arial"/>
            </a:endParaRPr>
          </a:p>
        </p:txBody>
      </p:sp>
      <p:cxnSp>
        <p:nvCxnSpPr>
          <p:cNvPr id="634" name="Google Shape;634;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5" name="Google Shape;635;p62"/>
          <p:cNvSpPr txBox="1"/>
          <p:nvPr/>
        </p:nvSpPr>
        <p:spPr>
          <a:xfrm>
            <a:off x="484565" y="4839547"/>
            <a:ext cx="8547291"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number of students who voted, 300, is the whole. This is 100% of the students who voted.</a:t>
            </a:r>
            <a:endParaRPr b="1" i="0" sz="2800" u="none" cap="none" strike="noStrike">
              <a:solidFill>
                <a:srgbClr val="0070C0"/>
              </a:solidFill>
              <a:latin typeface="Arial"/>
              <a:ea typeface="Arial"/>
              <a:cs typeface="Arial"/>
              <a:sym typeface="Arial"/>
            </a:endParaRPr>
          </a:p>
        </p:txBody>
      </p:sp>
      <p:sp>
        <p:nvSpPr>
          <p:cNvPr id="636" name="Google Shape;636;p62"/>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School Snacks</a:t>
            </a:r>
            <a:endParaRPr b="0" i="0" sz="1400" u="none" cap="none" strike="noStrike">
              <a:solidFill>
                <a:srgbClr val="000000"/>
              </a:solidFill>
              <a:latin typeface="Arial"/>
              <a:ea typeface="Arial"/>
              <a:cs typeface="Arial"/>
              <a:sym typeface="Arial"/>
            </a:endParaRPr>
          </a:p>
        </p:txBody>
      </p:sp>
      <p:sp>
        <p:nvSpPr>
          <p:cNvPr id="6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14 / 44</a:t>
            </a:r>
          </a:p>
        </p:txBody>
      </p:sp>
      <p:sp>
        <p:nvSpPr>
          <p:cNvPr id="638" name="EWL-COVER-1"/>
          <p:cNvSpPr/>
          <p:nvPr/>
        </p:nvSpPr>
        <p:spPr>
          <a:xfrm>
            <a:off x="429701" y="4784683"/>
            <a:ext cx="8657019" cy="1659768"/>
          </a:xfrm>
          <a:prstGeom prst="rect">
            <a:avLst/>
          </a:prstGeom>
          <a:solidFill>
            <a:srgbClr val="FFFFFF"/>
          </a:solidFill>
          <a:ln>
            <a:noFill/>
          </a:ln>
        </p:spPr>
        <p:txBody>
          <a:bodyPr/>
          <a:lstStyle/>
          <a:p/>
        </p:txBody>
      </p:sp>
      <p:sp xmlns:p="http://schemas.openxmlformats.org/presentationml/2006/main" xmlns:a="http://schemas.openxmlformats.org/drawingml/2006/main">
        <p:nvSpPr>
          <p:cNvPr id="639"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4"/>
          <p:cNvSpPr txBox="1"/>
          <p:nvPr/>
        </p:nvSpPr>
        <p:spPr>
          <a:xfrm>
            <a:off x="484565" y="936099"/>
            <a:ext cx="7736157" cy="3868814"/>
          </a:xfrm>
          <a:prstGeom prst="rect">
            <a:avLst/>
          </a:prstGeom>
          <a:blipFill rotWithShape="1">
            <a:blip r:embed="rId3">
              <a:alphaModFix/>
            </a:blip>
            <a:stretch>
              <a:fillRect b="-1735" l="-1575" r="0" t="-173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cxnSp>
        <p:nvCxnSpPr>
          <p:cNvPr id="650" name="Google Shape;650;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1" name="Google Shape;651;p64"/>
          <p:cNvSpPr txBox="1"/>
          <p:nvPr/>
        </p:nvSpPr>
        <p:spPr>
          <a:xfrm>
            <a:off x="484565" y="5146880"/>
            <a:ext cx="750489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 double number line.</a:t>
            </a:r>
            <a:endParaRPr b="0" i="0" sz="1400" u="none" cap="none" strike="noStrike">
              <a:solidFill>
                <a:srgbClr val="000000"/>
              </a:solidFill>
              <a:latin typeface="Arial"/>
              <a:ea typeface="Arial"/>
              <a:cs typeface="Arial"/>
              <a:sym typeface="Arial"/>
            </a:endParaRPr>
          </a:p>
        </p:txBody>
      </p:sp>
      <p:sp>
        <p:nvSpPr>
          <p:cNvPr id="652" name="Google Shape;652;p64"/>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School Snacks</a:t>
            </a:r>
            <a:endParaRPr b="0" i="0" sz="1400" u="none" cap="none" strike="noStrike">
              <a:solidFill>
                <a:srgbClr val="000000"/>
              </a:solidFill>
              <a:latin typeface="Arial"/>
              <a:ea typeface="Arial"/>
              <a:cs typeface="Arial"/>
              <a:sym typeface="Arial"/>
            </a:endParaRPr>
          </a:p>
        </p:txBody>
      </p:sp>
      <p:sp>
        <p:nvSpPr>
          <p:cNvPr id="6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15 / 44</a:t>
            </a:r>
          </a:p>
        </p:txBody>
      </p:sp>
      <p:sp>
        <p:nvSpPr>
          <p:cNvPr id="654" name="EWL-COVER-1"/>
          <p:cNvSpPr/>
          <p:nvPr/>
        </p:nvSpPr>
        <p:spPr>
          <a:xfrm>
            <a:off x="429701" y="5092016"/>
            <a:ext cx="7614618" cy="1286010"/>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cxnSp>
        <p:nvCxnSpPr>
          <p:cNvPr id="703" name="Google Shape;703;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4" name="Google Shape;704;p70"/>
          <p:cNvSpPr txBox="1"/>
          <p:nvPr/>
        </p:nvSpPr>
        <p:spPr>
          <a:xfrm>
            <a:off x="484564" y="4951324"/>
            <a:ext cx="8547291" cy="14232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multiply each term in the original ratio by the given percentage, written as a decimal.</a:t>
            </a:r>
            <a:endParaRPr b="1" i="0" sz="2800" u="none" cap="none" strike="noStrike">
              <a:solidFill>
                <a:srgbClr val="0070C0"/>
              </a:solidFill>
              <a:latin typeface="Arial"/>
              <a:ea typeface="Arial"/>
              <a:cs typeface="Arial"/>
              <a:sym typeface="Arial"/>
            </a:endParaRPr>
          </a:p>
        </p:txBody>
      </p:sp>
      <p:sp>
        <p:nvSpPr>
          <p:cNvPr id="705" name="Google Shape;705;p70"/>
          <p:cNvSpPr txBox="1"/>
          <p:nvPr/>
        </p:nvSpPr>
        <p:spPr>
          <a:xfrm>
            <a:off x="484564" y="914400"/>
            <a:ext cx="7592635" cy="13313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pPr>
            <a:r>
              <a:rPr b="1" i="0" lang="en-US" sz="2600" u="none" cap="none" strike="noStrike">
                <a:solidFill>
                  <a:srgbClr val="23282D"/>
                </a:solidFill>
                <a:latin typeface="Arial"/>
                <a:ea typeface="Arial"/>
                <a:cs typeface="Arial"/>
                <a:sym typeface="Arial"/>
              </a:rPr>
              <a:t>In general, how do you think you can generate an equivalent ratio that represents a given percentage of students?</a:t>
            </a:r>
            <a:endParaRPr b="0" i="0" sz="1400" u="none" cap="none" strike="noStrike">
              <a:solidFill>
                <a:srgbClr val="000000"/>
              </a:solidFill>
              <a:latin typeface="Arial"/>
              <a:ea typeface="Arial"/>
              <a:cs typeface="Arial"/>
              <a:sym typeface="Arial"/>
            </a:endParaRPr>
          </a:p>
        </p:txBody>
      </p:sp>
      <p:pic>
        <p:nvPicPr>
          <p:cNvPr id="706" name="Google Shape;706;p70"/>
          <p:cNvPicPr preferRelativeResize="0"/>
          <p:nvPr/>
        </p:nvPicPr>
        <p:blipFill rotWithShape="1">
          <a:blip r:embed="rId3">
            <a:alphaModFix/>
          </a:blip>
          <a:srcRect b="0" l="0" r="0" t="0"/>
          <a:stretch/>
        </p:blipFill>
        <p:spPr>
          <a:xfrm>
            <a:off x="2685995" y="2049414"/>
            <a:ext cx="2596078" cy="2903821"/>
          </a:xfrm>
          <a:prstGeom prst="rect">
            <a:avLst/>
          </a:prstGeom>
          <a:noFill/>
          <a:ln>
            <a:noFill/>
          </a:ln>
        </p:spPr>
      </p:pic>
      <p:pic>
        <p:nvPicPr>
          <p:cNvPr id="707" name="Google Shape;707;p70"/>
          <p:cNvPicPr preferRelativeResize="0"/>
          <p:nvPr/>
        </p:nvPicPr>
        <p:blipFill rotWithShape="1">
          <a:blip r:embed="rId4">
            <a:alphaModFix/>
          </a:blip>
          <a:srcRect b="0" l="0" r="0" t="0"/>
          <a:stretch/>
        </p:blipFill>
        <p:spPr>
          <a:xfrm>
            <a:off x="5891727" y="2136695"/>
            <a:ext cx="5924398" cy="2821527"/>
          </a:xfrm>
          <a:prstGeom prst="rect">
            <a:avLst/>
          </a:prstGeom>
          <a:noFill/>
          <a:ln>
            <a:noFill/>
          </a:ln>
        </p:spPr>
      </p:pic>
      <p:sp>
        <p:nvSpPr>
          <p:cNvPr id="708" name="Google Shape;708;p70"/>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School Snacks</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17 / 44</a:t>
            </a:r>
          </a:p>
        </p:txBody>
      </p:sp>
      <p:sp>
        <p:nvSpPr>
          <p:cNvPr id="9003" name="EWL-COVER-1"/>
          <p:cNvSpPr/>
          <p:nvPr/>
        </p:nvSpPr>
        <p:spPr>
          <a:xfrm>
            <a:off x="429700" y="4896460"/>
            <a:ext cx="8657019" cy="1532958"/>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74"/>
          <p:cNvSpPr txBox="1"/>
          <p:nvPr/>
        </p:nvSpPr>
        <p:spPr>
          <a:xfrm>
            <a:off x="407446" y="936099"/>
            <a:ext cx="7173225" cy="2074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135 of the 300 students voted for fruit.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is another way you can represent the multiplication used to find the percent of a whole?</a:t>
            </a:r>
            <a:endParaRPr b="0" i="0" sz="1400" u="none" cap="none" strike="noStrike">
              <a:solidFill>
                <a:srgbClr val="000000"/>
              </a:solidFill>
              <a:latin typeface="Arial"/>
              <a:ea typeface="Arial"/>
              <a:cs typeface="Arial"/>
              <a:sym typeface="Arial"/>
            </a:endParaRPr>
          </a:p>
        </p:txBody>
      </p:sp>
      <p:cxnSp>
        <p:nvCxnSpPr>
          <p:cNvPr id="743" name="Google Shape;743;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4" name="Google Shape;744;p74"/>
          <p:cNvSpPr txBox="1"/>
          <p:nvPr/>
        </p:nvSpPr>
        <p:spPr>
          <a:xfrm>
            <a:off x="407446" y="5181385"/>
            <a:ext cx="750489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an equation.</a:t>
            </a:r>
            <a:endParaRPr b="0" i="0" sz="1400" u="none" cap="none" strike="noStrike">
              <a:solidFill>
                <a:srgbClr val="000000"/>
              </a:solidFill>
              <a:latin typeface="Arial"/>
              <a:ea typeface="Arial"/>
              <a:cs typeface="Arial"/>
              <a:sym typeface="Arial"/>
            </a:endParaRPr>
          </a:p>
        </p:txBody>
      </p:sp>
      <p:pic>
        <p:nvPicPr>
          <p:cNvPr id="745" name="Google Shape;745;p74"/>
          <p:cNvPicPr preferRelativeResize="0"/>
          <p:nvPr/>
        </p:nvPicPr>
        <p:blipFill rotWithShape="1">
          <a:blip r:embed="rId3">
            <a:alphaModFix/>
          </a:blip>
          <a:srcRect b="0" l="0" r="0" t="0"/>
          <a:stretch/>
        </p:blipFill>
        <p:spPr>
          <a:xfrm>
            <a:off x="4159891" y="2690207"/>
            <a:ext cx="7869322" cy="2210270"/>
          </a:xfrm>
          <a:prstGeom prst="rect">
            <a:avLst/>
          </a:prstGeom>
          <a:noFill/>
          <a:ln>
            <a:noFill/>
          </a:ln>
        </p:spPr>
      </p:pic>
      <p:sp>
        <p:nvSpPr>
          <p:cNvPr id="746" name="Google Shape;746;p74"/>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School Snacks</a:t>
            </a:r>
            <a:endParaRPr b="0" i="0" sz="1400" u="none" cap="none" strike="noStrike">
              <a:solidFill>
                <a:srgbClr val="000000"/>
              </a:solidFill>
              <a:latin typeface="Arial"/>
              <a:ea typeface="Arial"/>
              <a:cs typeface="Arial"/>
              <a:sym typeface="Arial"/>
            </a:endParaRPr>
          </a:p>
        </p:txBody>
      </p:sp>
      <p:sp>
        <p:nvSpPr>
          <p:cNvPr id="7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18 / 44</a:t>
            </a:r>
          </a:p>
        </p:txBody>
      </p:sp>
      <p:sp>
        <p:nvSpPr>
          <p:cNvPr id="748" name="EWL-COVER-1"/>
          <p:cNvSpPr/>
          <p:nvPr/>
        </p:nvSpPr>
        <p:spPr>
          <a:xfrm>
            <a:off x="352582" y="5126521"/>
            <a:ext cx="7614618" cy="1286010"/>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4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76"/>
          <p:cNvSpPr txBox="1"/>
          <p:nvPr/>
        </p:nvSpPr>
        <p:spPr>
          <a:xfrm>
            <a:off x="484564" y="936099"/>
            <a:ext cx="7869323" cy="391194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Let’s use an equation to determine how many students voted for fruit.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How can you multiply a percent by a whole number?</a:t>
            </a:r>
            <a:endParaRPr b="1" i="0" sz="2800" u="none" cap="none" strike="noStrike">
              <a:solidFill>
                <a:srgbClr val="262626"/>
              </a:solidFill>
              <a:latin typeface="Arial"/>
              <a:ea typeface="Arial"/>
              <a:cs typeface="Arial"/>
              <a:sym typeface="Arial"/>
            </a:endParaRPr>
          </a:p>
        </p:txBody>
      </p:sp>
      <p:cxnSp>
        <p:nvCxnSpPr>
          <p:cNvPr id="761" name="Google Shape;761;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62" name="Google Shape;762;p76"/>
          <p:cNvPicPr preferRelativeResize="0"/>
          <p:nvPr/>
        </p:nvPicPr>
        <p:blipFill rotWithShape="1">
          <a:blip r:embed="rId3">
            <a:alphaModFix/>
          </a:blip>
          <a:srcRect b="0" l="0" r="0" t="0"/>
          <a:stretch/>
        </p:blipFill>
        <p:spPr>
          <a:xfrm>
            <a:off x="593555" y="2271725"/>
            <a:ext cx="2193712" cy="1559691"/>
          </a:xfrm>
          <a:prstGeom prst="rect">
            <a:avLst/>
          </a:prstGeom>
          <a:noFill/>
          <a:ln>
            <a:noFill/>
          </a:ln>
        </p:spPr>
      </p:pic>
      <p:sp>
        <p:nvSpPr>
          <p:cNvPr id="763" name="Google Shape;763;p76"/>
          <p:cNvSpPr txBox="1"/>
          <p:nvPr/>
        </p:nvSpPr>
        <p:spPr>
          <a:xfrm>
            <a:off x="484565" y="5146880"/>
            <a:ext cx="8676688"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 can use the decimal form of the percent to multiply.</a:t>
            </a:r>
            <a:endParaRPr b="0" i="0" sz="1400" u="none" cap="none" strike="noStrike">
              <a:solidFill>
                <a:srgbClr val="000000"/>
              </a:solidFill>
              <a:latin typeface="Arial"/>
              <a:ea typeface="Arial"/>
              <a:cs typeface="Arial"/>
              <a:sym typeface="Arial"/>
            </a:endParaRPr>
          </a:p>
        </p:txBody>
      </p:sp>
      <p:sp>
        <p:nvSpPr>
          <p:cNvPr id="764" name="Google Shape;764;p7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School Snacks</a:t>
            </a:r>
            <a:endParaRPr b="0" i="0" sz="1400" u="none" cap="none" strike="noStrike">
              <a:solidFill>
                <a:srgbClr val="000000"/>
              </a:solidFill>
              <a:latin typeface="Arial"/>
              <a:ea typeface="Arial"/>
              <a:cs typeface="Arial"/>
              <a:sym typeface="Arial"/>
            </a:endParaRPr>
          </a:p>
        </p:txBody>
      </p:sp>
      <p:sp>
        <p:nvSpPr>
          <p:cNvPr id="76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20 / 44</a:t>
            </a:r>
          </a:p>
        </p:txBody>
      </p:sp>
      <p:sp>
        <p:nvSpPr>
          <p:cNvPr id="766" name="EWL-COVER-1"/>
          <p:cNvSpPr/>
          <p:nvPr/>
        </p:nvSpPr>
        <p:spPr>
          <a:xfrm>
            <a:off x="429701" y="5092016"/>
            <a:ext cx="8786416" cy="1286010"/>
          </a:xfrm>
          <a:prstGeom prst="rect">
            <a:avLst/>
          </a:prstGeom>
          <a:solidFill>
            <a:srgbClr val="FFFFFF"/>
          </a:solidFill>
          <a:ln>
            <a:noFill/>
          </a:ln>
        </p:spPr>
        <p:txBody>
          <a:bodyPr/>
          <a:lstStyle/>
          <a:p/>
        </p:txBody>
      </p:sp>
      <p:grpSp>
        <p:nvGrpSpPr>
          <p:cNvPr id="767" name="TEACH-2-student-move" descr="TEACH 2 · Use strategies and tasks to engage students in rigorous work"/>
          <p:cNvGrpSpPr/>
          <p:nvPr/>
        </p:nvGrpSpPr>
        <p:grpSpPr>
          <a:xfrm>
            <a:off x="502920" y="4707968"/>
            <a:ext cx="11186160" cy="402336"/>
            <a:chOff x="502920" y="4707968"/>
            <a:chExt cx="11186160" cy="402336"/>
          </a:xfrm>
        </p:grpSpPr>
        <p:sp>
          <p:nvSpPr>
            <p:cNvPr id="768" name="TEACH-move-card"/>
            <p:cNvSpPr/>
            <p:nvPr/>
          </p:nvSpPr>
          <p:spPr>
            <a:xfrm>
              <a:off x="502920" y="470796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69" name="TEACH-move-rule"/>
            <p:cNvSpPr/>
            <p:nvPr/>
          </p:nvSpPr>
          <p:spPr>
            <a:xfrm>
              <a:off x="548640" y="4784412"/>
              <a:ext cx="100584" cy="249448"/>
            </a:xfrm>
            <a:prstGeom prst="roundRect">
              <a:avLst>
                <a:gd name="adj" fmla="val 50000"/>
              </a:avLst>
            </a:prstGeom>
            <a:solidFill>
              <a:srgbClr val="01708C"/>
            </a:solidFill>
            <a:ln>
              <a:noFill/>
            </a:ln>
          </p:spPr>
          <p:txBody>
            <a:bodyPr/>
            <a:lstStyle/>
            <a:p>
              <a:endParaRPr/>
            </a:p>
          </p:txBody>
        </p:sp>
        <p:sp>
          <p:nvSpPr>
            <p:cNvPr id="770" name="TEACH-move-text"/>
            <p:cNvSpPr txBox="1"/>
            <p:nvPr/>
          </p:nvSpPr>
          <p:spPr>
            <a:xfrm>
              <a:off x="822960" y="470796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78"/>
          <p:cNvSpPr txBox="1"/>
          <p:nvPr/>
        </p:nvSpPr>
        <p:spPr>
          <a:xfrm>
            <a:off x="484565" y="936099"/>
            <a:ext cx="7736157" cy="37513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Three hundred middle school students voted for one of three snacks to add to the school cafeteria menu. The graph shows the percentage of students who voted for each snack.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many students voted for fruit?</a:t>
            </a:r>
            <a:endParaRPr b="0" i="0" sz="1400" u="none" cap="none" strike="noStrike">
              <a:solidFill>
                <a:srgbClr val="000000"/>
              </a:solidFill>
              <a:latin typeface="Arial"/>
              <a:ea typeface="Arial"/>
              <a:cs typeface="Arial"/>
              <a:sym typeface="Arial"/>
            </a:endParaRPr>
          </a:p>
        </p:txBody>
      </p:sp>
      <p:cxnSp>
        <p:nvCxnSpPr>
          <p:cNvPr id="777" name="Google Shape;777;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8" name="Google Shape;778;p78"/>
          <p:cNvSpPr txBox="1"/>
          <p:nvPr/>
        </p:nvSpPr>
        <p:spPr>
          <a:xfrm>
            <a:off x="564464" y="4878705"/>
            <a:ext cx="7443195" cy="800219"/>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135 students voted for fruit.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chemeClr val="dk1"/>
              </a:solidFill>
              <a:latin typeface="Arial"/>
              <a:ea typeface="Arial"/>
              <a:cs typeface="Arial"/>
              <a:sym typeface="Arial"/>
            </a:endParaRPr>
          </a:p>
        </p:txBody>
      </p:sp>
      <p:pic>
        <p:nvPicPr>
          <p:cNvPr id="779" name="Google Shape;779;p78"/>
          <p:cNvPicPr preferRelativeResize="0"/>
          <p:nvPr/>
        </p:nvPicPr>
        <p:blipFill rotWithShape="1">
          <a:blip r:embed="rId3">
            <a:alphaModFix/>
          </a:blip>
          <a:srcRect b="0" l="0" r="0" t="0"/>
          <a:stretch/>
        </p:blipFill>
        <p:spPr>
          <a:xfrm>
            <a:off x="8307167" y="1430589"/>
            <a:ext cx="3265961" cy="3653112"/>
          </a:xfrm>
          <a:prstGeom prst="rect">
            <a:avLst/>
          </a:prstGeom>
          <a:noFill/>
          <a:ln>
            <a:noFill/>
          </a:ln>
        </p:spPr>
      </p:pic>
      <p:sp>
        <p:nvSpPr>
          <p:cNvPr id="780" name="Google Shape;780;p78"/>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School Snacks</a:t>
            </a:r>
            <a:endParaRPr b="0" i="0" sz="1400" u="none" cap="none" strike="noStrike">
              <a:solidFill>
                <a:srgbClr val="000000"/>
              </a:solidFill>
              <a:latin typeface="Arial"/>
              <a:ea typeface="Arial"/>
              <a:cs typeface="Arial"/>
              <a:sym typeface="Arial"/>
            </a:endParaRPr>
          </a:p>
        </p:txBody>
      </p:sp>
      <p:sp>
        <p:nvSpPr>
          <p:cNvPr id="7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21 / 44</a:t>
            </a:r>
          </a:p>
        </p:txBody>
      </p:sp>
      <p:grpSp>
        <p:nvGrpSpPr>
          <p:cNvPr id="782" name="TEACH-6-student-move" descr="TEACH 6 · Organize and implement routines to support a learning-focused classroom"/>
          <p:cNvGrpSpPr/>
          <p:nvPr/>
        </p:nvGrpSpPr>
        <p:grpSpPr>
          <a:xfrm>
            <a:off x="502920" y="5715500"/>
            <a:ext cx="11186160" cy="457200"/>
            <a:chOff x="502920" y="5715500"/>
            <a:chExt cx="11186160" cy="457200"/>
          </a:xfrm>
        </p:grpSpPr>
        <p:sp>
          <p:nvSpPr>
            <p:cNvPr id="783" name="TEACH-move-card"/>
            <p:cNvSpPr/>
            <p:nvPr/>
          </p:nvSpPr>
          <p:spPr>
            <a:xfrm>
              <a:off x="502920" y="571550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784" name="TEACH-move-rule"/>
            <p:cNvSpPr/>
            <p:nvPr/>
          </p:nvSpPr>
          <p:spPr>
            <a:xfrm>
              <a:off x="548640" y="5802368"/>
              <a:ext cx="100584" cy="283464"/>
            </a:xfrm>
            <a:prstGeom prst="roundRect">
              <a:avLst>
                <a:gd name="adj" fmla="val 50000"/>
              </a:avLst>
            </a:prstGeom>
            <a:solidFill>
              <a:srgbClr val="01708C"/>
            </a:solidFill>
            <a:ln>
              <a:noFill/>
            </a:ln>
          </p:spPr>
          <p:txBody>
            <a:bodyPr/>
            <a:lstStyle/>
            <a:p>
              <a:endParaRPr/>
            </a:p>
          </p:txBody>
        </p:sp>
        <p:sp>
          <p:nvSpPr>
            <p:cNvPr id="785" name="TEACH-move-text"/>
            <p:cNvSpPr txBox="1"/>
            <p:nvPr/>
          </p:nvSpPr>
          <p:spPr>
            <a:xfrm>
              <a:off x="822960" y="571550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TRY IT BEFORE YOU’RE SURE  ·  </a:t>
              </a:r>
              <a:r>
                <a:rPr lang="en-US" sz="1400" dirty="0">
                  <a:solidFill>
                    <a:srgbClr val="13303A"/>
                  </a:solidFill>
                  <a:latin typeface="Arial"/>
                </a:rPr>
                <a:t>Start even if you are not sure. A revised answer counts as much as a first-try answer.</a:t>
              </a:r>
              <a:endParaRPr lang="en-US" sz="1400"/>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80"/>
          <p:cNvSpPr txBox="1"/>
          <p:nvPr/>
        </p:nvSpPr>
        <p:spPr>
          <a:xfrm>
            <a:off x="484565" y="936099"/>
            <a:ext cx="7736157" cy="23505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Let’s try a similar problem.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many of the 300 students voted for veggie snacks?</a:t>
            </a:r>
            <a:endParaRPr b="0" i="0" sz="1400" u="none" cap="none" strike="noStrike">
              <a:solidFill>
                <a:srgbClr val="000000"/>
              </a:solidFill>
              <a:latin typeface="Arial"/>
              <a:ea typeface="Arial"/>
              <a:cs typeface="Arial"/>
              <a:sym typeface="Arial"/>
            </a:endParaRPr>
          </a:p>
        </p:txBody>
      </p:sp>
      <p:cxnSp>
        <p:nvCxnSpPr>
          <p:cNvPr id="796" name="Google Shape;796;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7" name="Google Shape;797;p80"/>
          <p:cNvSpPr txBox="1"/>
          <p:nvPr/>
        </p:nvSpPr>
        <p:spPr>
          <a:xfrm>
            <a:off x="484565" y="316034"/>
            <a:ext cx="5382835" cy="52072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xml:space="preserve">    Collaborate and Connect</a:t>
            </a:r>
            <a:endParaRPr b="0" i="0" sz="1400" u="none" cap="none" strike="noStrike">
              <a:solidFill>
                <a:srgbClr val="000000"/>
              </a:solidFill>
              <a:latin typeface="Arial"/>
              <a:ea typeface="Arial"/>
              <a:cs typeface="Arial"/>
              <a:sym typeface="Arial"/>
            </a:endParaRPr>
          </a:p>
        </p:txBody>
      </p:sp>
      <p:pic>
        <p:nvPicPr>
          <p:cNvPr id="798" name="Google Shape;798;p80"/>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799" name="Google Shape;799;p80"/>
          <p:cNvSpPr txBox="1"/>
          <p:nvPr/>
        </p:nvSpPr>
        <p:spPr>
          <a:xfrm>
            <a:off x="484565" y="5325134"/>
            <a:ext cx="7504890" cy="10555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75 students</a:t>
            </a:r>
            <a:endParaRPr b="0" i="0" sz="1400" u="none" cap="none" strike="noStrike">
              <a:solidFill>
                <a:srgbClr val="000000"/>
              </a:solidFill>
              <a:latin typeface="Arial"/>
              <a:ea typeface="Arial"/>
              <a:cs typeface="Arial"/>
              <a:sym typeface="Arial"/>
            </a:endParaRPr>
          </a:p>
        </p:txBody>
      </p:sp>
      <p:pic>
        <p:nvPicPr>
          <p:cNvPr id="800" name="Google Shape;800;p80"/>
          <p:cNvPicPr preferRelativeResize="0"/>
          <p:nvPr/>
        </p:nvPicPr>
        <p:blipFill rotWithShape="1">
          <a:blip r:embed="rId4">
            <a:alphaModFix/>
          </a:blip>
          <a:srcRect b="0" l="0" r="0" t="0"/>
          <a:stretch/>
        </p:blipFill>
        <p:spPr>
          <a:xfrm>
            <a:off x="8307167" y="1430589"/>
            <a:ext cx="3265961" cy="3653112"/>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22 / 44</a:t>
            </a:r>
          </a:p>
        </p:txBody>
      </p:sp>
      <p:sp>
        <p:nvSpPr>
          <p:cNvPr id="9003" name="EWL-COVER-1"/>
          <p:cNvSpPr/>
          <p:nvPr/>
        </p:nvSpPr>
        <p:spPr>
          <a:xfrm>
            <a:off x="429701" y="5270270"/>
            <a:ext cx="7614618" cy="1165240"/>
          </a:xfrm>
          <a:prstGeom prst="rect">
            <a:avLst/>
          </a:prstGeom>
          <a:solidFill>
            <a:srgbClr val="FFFFFF"/>
          </a:solidFill>
          <a:ln>
            <a:noFill/>
          </a:ln>
        </p:spPr>
        <p:txBody>
          <a:bodyPr/>
          <a:lstStyle/>
          <a:p/>
        </p:txBody>
      </p:sp>
      <p:sp>
        <p:nvSpPr>
          <p:cNvPr id="900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9005" name="TEACH-embedded-student-prompt" descr="Student thinking and response directions"/>
          <p:cNvSpPr txBox="1"/>
          <p:nvPr/>
        </p:nvSpPr>
        <p:spPr>
          <a:xfrm>
            <a:off x="594360" y="43159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a:t>
            </a:r>
            <a:endParaRPr lang="en-US" sz="2000"/>
          </a:p>
          <a:p>
            <a:pPr>
              <a:lnSpc>
                <a:spcPts val="2400"/>
              </a:lnSpc>
              <a:buNone/>
            </a:pPr>
            <a:r>
              <a:rPr lang="en-US" sz="2000">
                <a:solidFill>
                  <a:srgbClr val="174D60"/>
                </a:solidFill>
                <a:latin typeface="Arial"/>
              </a:rPr>
              <a:t>both 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81"/>
          <p:cNvSpPr txBox="1"/>
          <p:nvPr/>
        </p:nvSpPr>
        <p:spPr>
          <a:xfrm>
            <a:off x="484565" y="927529"/>
            <a:ext cx="6858344" cy="1327399"/>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What is a reasonable estimate for the number of students who voted for cheese sticks?</a:t>
            </a:r>
            <a:endParaRPr b="0" i="0" sz="1400" u="none" cap="none" strike="noStrike">
              <a:solidFill>
                <a:srgbClr val="000000"/>
              </a:solidFill>
              <a:latin typeface="Arial"/>
              <a:ea typeface="Arial"/>
              <a:cs typeface="Arial"/>
              <a:sym typeface="Arial"/>
            </a:endParaRPr>
          </a:p>
        </p:txBody>
      </p:sp>
      <p:sp>
        <p:nvSpPr>
          <p:cNvPr id="806" name="Google Shape;806;p8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07" name="Google Shape;807;p81"/>
          <p:cNvSpPr txBox="1"/>
          <p:nvPr/>
        </p:nvSpPr>
        <p:spPr>
          <a:xfrm>
            <a:off x="484565" y="3875292"/>
            <a:ext cx="6858344" cy="1034436"/>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What does it mean to find the percent of a number?</a:t>
            </a:r>
            <a:endParaRPr b="0" i="0" sz="1400" u="none" cap="none" strike="noStrike">
              <a:solidFill>
                <a:srgbClr val="000000"/>
              </a:solidFill>
              <a:latin typeface="Arial"/>
              <a:ea typeface="Arial"/>
              <a:cs typeface="Arial"/>
              <a:sym typeface="Arial"/>
            </a:endParaRPr>
          </a:p>
        </p:txBody>
      </p:sp>
      <p:pic>
        <p:nvPicPr>
          <p:cNvPr id="808" name="Google Shape;808;p81"/>
          <p:cNvPicPr preferRelativeResize="0"/>
          <p:nvPr/>
        </p:nvPicPr>
        <p:blipFill rotWithShape="1">
          <a:blip r:embed="rId3">
            <a:alphaModFix/>
          </a:blip>
          <a:srcRect b="0" l="0" r="0" t="0"/>
          <a:stretch/>
        </p:blipFill>
        <p:spPr>
          <a:xfrm>
            <a:off x="8307167" y="1430589"/>
            <a:ext cx="3265961" cy="3653112"/>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Compare strategies; persist, revise, and try again.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23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4.4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Which quantity is the whole, and how does your equation or model represent the requested unknown?</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33" name="Google Shape;633;p62"/>
          <p:cNvSpPr txBox="1"/>
          <p:nvPr/>
        </p:nvSpPr>
        <p:spPr>
          <a:xfrm>
            <a:off x="484565" y="936099"/>
            <a:ext cx="7736157" cy="24929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45% of the 300 students voted for fruit.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is the whole in this situation?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percentage represents the whole?</a:t>
            </a:r>
            <a:endParaRPr b="0" i="0" sz="1400" u="none" cap="none" strike="noStrike">
              <a:solidFill>
                <a:srgbClr val="000000"/>
              </a:solidFill>
              <a:latin typeface="Arial"/>
              <a:ea typeface="Arial"/>
              <a:cs typeface="Arial"/>
              <a:sym typeface="Arial"/>
            </a:endParaRPr>
          </a:p>
        </p:txBody>
      </p:sp>
      <p:cxnSp>
        <p:nvCxnSpPr>
          <p:cNvPr id="634" name="Google Shape;634;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5" name="Google Shape;635;p62"/>
          <p:cNvSpPr txBox="1"/>
          <p:nvPr/>
        </p:nvSpPr>
        <p:spPr>
          <a:xfrm>
            <a:off x="484565" y="4839547"/>
            <a:ext cx="8547291"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number of students who voted, 300, is the whole. This is 100% of the students who voted.</a:t>
            </a:r>
            <a:endParaRPr b="1" i="0" sz="2800" u="none" cap="none" strike="noStrike">
              <a:solidFill>
                <a:srgbClr val="0070C0"/>
              </a:solidFill>
              <a:latin typeface="Arial"/>
              <a:ea typeface="Arial"/>
              <a:cs typeface="Arial"/>
              <a:sym typeface="Arial"/>
            </a:endParaRPr>
          </a:p>
        </p:txBody>
      </p:sp>
      <p:sp>
        <p:nvSpPr>
          <p:cNvPr id="636" name="Google Shape;636;p62"/>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School Snacks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25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2611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66" name="Google Shape;666;p66"/>
          <p:cNvSpPr txBox="1"/>
          <p:nvPr/>
        </p:nvSpPr>
        <p:spPr>
          <a:xfrm>
            <a:off x="484565" y="936100"/>
            <a:ext cx="7736157" cy="19882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use a double number line to represent the relationship between the quantities.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determine equivalent ratios to label the double number line?</a:t>
            </a:r>
            <a:endParaRPr b="0" i="0" sz="1400" u="none" cap="none" strike="noStrike">
              <a:solidFill>
                <a:srgbClr val="000000"/>
              </a:solidFill>
              <a:latin typeface="Arial"/>
              <a:ea typeface="Arial"/>
              <a:cs typeface="Arial"/>
              <a:sym typeface="Arial"/>
            </a:endParaRPr>
          </a:p>
        </p:txBody>
      </p:sp>
      <p:cxnSp>
        <p:nvCxnSpPr>
          <p:cNvPr id="667" name="Google Shape;667;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8" name="Google Shape;668;p66"/>
          <p:cNvSpPr txBox="1"/>
          <p:nvPr/>
        </p:nvSpPr>
        <p:spPr>
          <a:xfrm>
            <a:off x="484565" y="4839547"/>
            <a:ext cx="9754990"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multiply the number of students and percent of students by the same number to generate equivalent ratios.</a:t>
            </a:r>
            <a:endParaRPr b="1" i="0" sz="2800" u="none" cap="none" strike="noStrike">
              <a:solidFill>
                <a:srgbClr val="0070C0"/>
              </a:solidFill>
              <a:latin typeface="Arial"/>
              <a:ea typeface="Arial"/>
              <a:cs typeface="Arial"/>
              <a:sym typeface="Arial"/>
            </a:endParaRPr>
          </a:p>
        </p:txBody>
      </p:sp>
      <p:pic>
        <p:nvPicPr>
          <p:cNvPr id="669" name="Google Shape;669;p66"/>
          <p:cNvPicPr preferRelativeResize="0"/>
          <p:nvPr/>
        </p:nvPicPr>
        <p:blipFill rotWithShape="1">
          <a:blip r:embed="rId2">
            <a:alphaModFix/>
          </a:blip>
          <a:srcRect b="0" l="0" r="0" t="0"/>
          <a:stretch/>
        </p:blipFill>
        <p:spPr>
          <a:xfrm>
            <a:off x="1700144" y="3372364"/>
            <a:ext cx="5905500" cy="1019175"/>
          </a:xfrm>
          <a:prstGeom prst="rect">
            <a:avLst/>
          </a:prstGeom>
          <a:noFill/>
          <a:ln>
            <a:noFill/>
          </a:ln>
        </p:spPr>
      </p:pic>
      <p:sp>
        <p:nvSpPr>
          <p:cNvPr id="670" name="Google Shape;670;p6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School Snacks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26 / 44</a:t>
            </a:r>
          </a:p>
        </p:txBody>
      </p:sp>
      <p:grpSp>
        <p:nvGrpSpPr>
          <p:cNvPr id="9003" name="TEACH-5-student-move" descr="TEACH 5 · Facilitate student interactions and academic talk"/>
          <p:cNvGrpSpPr/>
          <p:nvPr/>
        </p:nvGrpSpPr>
        <p:grpSpPr>
          <a:xfrm>
            <a:off x="502920" y="4482931"/>
            <a:ext cx="11186160" cy="320040"/>
            <a:chOff x="502920" y="4482931"/>
            <a:chExt cx="11186160" cy="320040"/>
          </a:xfrm>
        </p:grpSpPr>
        <p:sp>
          <p:nvSpPr>
            <p:cNvPr id="9004" name="TEACH-move-card"/>
            <p:cNvSpPr/>
            <p:nvPr/>
          </p:nvSpPr>
          <p:spPr>
            <a:xfrm>
              <a:off x="502920" y="4482931"/>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4543739"/>
              <a:ext cx="100584" cy="19842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4482931"/>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84" name="Google Shape;684;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5" name="Google Shape;685;p68"/>
          <p:cNvSpPr txBox="1"/>
          <p:nvPr/>
        </p:nvSpPr>
        <p:spPr>
          <a:xfrm>
            <a:off x="484565" y="4863668"/>
            <a:ext cx="9435812"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To find an equivalent ratio with a term of 50%, we multiply each term by the decimal equivalent of 50%, 0.50.</a:t>
            </a:r>
            <a:endParaRPr b="1" i="0" sz="2800" u="none" cap="none" strike="noStrike">
              <a:solidFill>
                <a:srgbClr val="0070C0"/>
              </a:solidFill>
              <a:latin typeface="Arial"/>
              <a:ea typeface="Arial"/>
              <a:cs typeface="Arial"/>
              <a:sym typeface="Arial"/>
            </a:endParaRPr>
          </a:p>
        </p:txBody>
      </p:sp>
      <p:sp>
        <p:nvSpPr>
          <p:cNvPr id="686" name="Google Shape;686;p68"/>
          <p:cNvSpPr txBox="1"/>
          <p:nvPr/>
        </p:nvSpPr>
        <p:spPr>
          <a:xfrm>
            <a:off x="484564" y="936100"/>
            <a:ext cx="5211385" cy="37394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multiply the number of students and percent of students by the same number to generate equivalent ratios.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do you notice about the calculations and the percentages?</a:t>
            </a:r>
            <a:endParaRPr b="0" i="0" sz="1400" u="none" cap="none" strike="noStrike">
              <a:solidFill>
                <a:srgbClr val="000000"/>
              </a:solidFill>
              <a:latin typeface="Arial"/>
              <a:ea typeface="Arial"/>
              <a:cs typeface="Arial"/>
              <a:sym typeface="Arial"/>
            </a:endParaRPr>
          </a:p>
        </p:txBody>
      </p:sp>
      <p:pic>
        <p:nvPicPr>
          <p:cNvPr id="687" name="Google Shape;687;p68"/>
          <p:cNvPicPr preferRelativeResize="0"/>
          <p:nvPr/>
        </p:nvPicPr>
        <p:blipFill rotWithShape="1">
          <a:blip r:embed="rId2">
            <a:alphaModFix/>
          </a:blip>
          <a:srcRect b="0" l="0" r="0" t="0"/>
          <a:stretch/>
        </p:blipFill>
        <p:spPr>
          <a:xfrm>
            <a:off x="5891727" y="2136695"/>
            <a:ext cx="5924398" cy="2821527"/>
          </a:xfrm>
          <a:prstGeom prst="rect">
            <a:avLst/>
          </a:prstGeom>
          <a:noFill/>
          <a:ln>
            <a:noFill/>
          </a:ln>
        </p:spPr>
      </p:pic>
      <p:sp>
        <p:nvSpPr>
          <p:cNvPr id="688" name="Google Shape;688;p68"/>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School Snacks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27 / 44</a:t>
            </a:r>
          </a:p>
        </p:txBody>
      </p:sp>
      <p:grpSp>
        <p:nvGrpSpPr>
          <p:cNvPr id="9003" name="TEACH-3-student-move" descr="TEACH 3 · Use intentional questioning to deepen learning"/>
          <p:cNvGrpSpPr/>
          <p:nvPr/>
        </p:nvGrpSpPr>
        <p:grpSpPr>
          <a:xfrm>
            <a:off x="6187440" y="1460039"/>
            <a:ext cx="5501640" cy="594360"/>
            <a:chOff x="6187440" y="1460039"/>
            <a:chExt cx="5501640" cy="594360"/>
          </a:xfrm>
        </p:grpSpPr>
        <p:sp>
          <p:nvSpPr>
            <p:cNvPr id="9004" name="TEACH-move-card"/>
            <p:cNvSpPr/>
            <p:nvPr/>
          </p:nvSpPr>
          <p:spPr>
            <a:xfrm>
              <a:off x="6187440" y="146003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6233160" y="1572967"/>
              <a:ext cx="100584" cy="36850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6507480" y="146003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31" name="Google Shape;831;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2" name="Google Shape;832;p84"/>
          <p:cNvSpPr txBox="1"/>
          <p:nvPr/>
        </p:nvSpPr>
        <p:spPr>
          <a:xfrm>
            <a:off x="474054" y="936101"/>
            <a:ext cx="3904130" cy="11057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833" name="Google Shape;833;p84"/>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34" name="Google Shape;834;p84"/>
          <p:cNvSpPr/>
          <p:nvPr/>
        </p:nvSpPr>
        <p:spPr>
          <a:xfrm>
            <a:off x="583685" y="2355706"/>
            <a:ext cx="7086622" cy="2109762"/>
          </a:xfrm>
          <a:prstGeom prst="snip1Rect">
            <a:avLst>
              <a:gd fmla="val 16667" name="adj"/>
            </a:avLst>
          </a:prstGeom>
          <a:noFill/>
          <a:ln cap="flat" cmpd="sng" w="19050">
            <a:solidFill>
              <a:srgbClr val="53813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5" name="Google Shape;835;p84"/>
          <p:cNvSpPr txBox="1"/>
          <p:nvPr/>
        </p:nvSpPr>
        <p:spPr>
          <a:xfrm flipH="1">
            <a:off x="2145297" y="2923315"/>
            <a:ext cx="3963397" cy="898964"/>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836" name="Google Shape;836;p84"/>
          <p:cNvPicPr preferRelativeResize="0"/>
          <p:nvPr/>
        </p:nvPicPr>
        <p:blipFill rotWithShape="1">
          <a:blip r:embed="rId3">
            <a:alphaModFix/>
          </a:blip>
          <a:srcRect b="0" l="0" r="0" t="0"/>
          <a:stretch/>
        </p:blipFill>
        <p:spPr>
          <a:xfrm>
            <a:off x="474054" y="5033077"/>
            <a:ext cx="5054600" cy="838200"/>
          </a:xfrm>
          <a:prstGeom prst="rect">
            <a:avLst/>
          </a:prstGeom>
          <a:noFill/>
          <a:ln>
            <a:noFill/>
          </a:ln>
        </p:spPr>
      </p:pic>
      <p:sp>
        <p:nvSpPr>
          <p:cNvPr id="837" name="Google Shape;837;p84"/>
          <p:cNvSpPr txBox="1"/>
          <p:nvPr/>
        </p:nvSpPr>
        <p:spPr>
          <a:xfrm>
            <a:off x="3334071" y="5190395"/>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38" name="Google Shape;838;p84"/>
          <p:cNvSpPr/>
          <p:nvPr/>
        </p:nvSpPr>
        <p:spPr>
          <a:xfrm>
            <a:off x="687250" y="5848400"/>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using your strengths as a problem solver in math class?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28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4-4 · Find and Compare with Percentages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5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2D3A40"/>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45% of 300?</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45</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135</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150</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180</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equation finds p, the percent 18 is of 24?</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 = 24 ÷ 18</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18/24 = p/100</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 = 18 × 24</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 = 24 + 18</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To find 15% of 80, calculate:</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0.15 × 80</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 × 80</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80 ÷ 15</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0.015 × 80</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18 out of 24 simplified is 3/4, which equals: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34%</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75%</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80%</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60%</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44</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4-4 · Find and Compare with Percentages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5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Percent of a Number</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Multiply the </a:t>
            </a:r>
            <a:r>
              <a:rPr b="1" i="0" lang="en-US" sz="1450" u="none" cap="none" strike="noStrike">
                <a:solidFill>
                  <a:srgbClr val="475569"/>
                </a:solidFill>
                <a:latin typeface="Arial"/>
                <a:ea typeface="Arial"/>
                <a:cs typeface="Arial"/>
                <a:sym typeface="Arial"/>
              </a:rPr>
              <a:t xml:space="preserve">decimal</a:t>
            </a:r>
            <a:r>
              <a:rPr b="0" i="0" lang="en-US" sz="1450" u="none" cap="none" strike="noStrike">
                <a:solidFill>
                  <a:srgbClr val="475569"/>
                </a:solidFill>
                <a:latin typeface="Arial"/>
                <a:ea typeface="Arial"/>
                <a:cs typeface="Arial"/>
                <a:sym typeface="Arial"/>
              </a:rPr>
              <a:t xml:space="preserve"> form of the </a:t>
            </a:r>
            <a:r>
              <a:rPr b="1" i="0" lang="en-US" sz="1450" u="none" cap="none" strike="noStrike">
                <a:solidFill>
                  <a:srgbClr val="475569"/>
                </a:solidFill>
                <a:latin typeface="Arial"/>
                <a:ea typeface="Arial"/>
                <a:cs typeface="Arial"/>
                <a:sym typeface="Arial"/>
              </a:rPr>
              <a:t xml:space="preserve">percent</a:t>
            </a:r>
            <a:r>
              <a:rPr b="0" i="0" lang="en-US" sz="1450" u="none" cap="none" strike="noStrike">
                <a:solidFill>
                  <a:srgbClr val="475569"/>
                </a:solidFill>
                <a:latin typeface="Arial"/>
                <a:ea typeface="Arial"/>
                <a:cs typeface="Arial"/>
                <a:sym typeface="Arial"/>
              </a:rPr>
              <a:t xml:space="preserve"> by the whole: Part = Percent × Whole.</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Ratio Equation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Set up </a:t>
            </a:r>
            <a:r>
              <a:rPr b="1" i="0" lang="en-US" sz="1450" u="none" cap="none" strike="noStrike">
                <a:solidFill>
                  <a:srgbClr val="475569"/>
                </a:solidFill>
                <a:latin typeface="Arial"/>
                <a:ea typeface="Arial"/>
                <a:cs typeface="Arial"/>
                <a:sym typeface="Arial"/>
              </a:rPr>
              <a:t xml:space="preserve">proportions</a:t>
            </a:r>
            <a:r>
              <a:rPr b="0" i="0" lang="en-US" sz="1450" u="none" cap="none" strike="noStrike">
                <a:solidFill>
                  <a:srgbClr val="475569"/>
                </a:solidFill>
                <a:latin typeface="Arial"/>
                <a:ea typeface="Arial"/>
                <a:cs typeface="Arial"/>
                <a:sym typeface="Arial"/>
              </a:rPr>
              <a:t xml:space="preserve">: (</a:t>
            </a:r>
            <a:r>
              <a:rPr b="1" i="0" lang="en-US" sz="1450" u="none" cap="none" strike="noStrike">
                <a:solidFill>
                  <a:srgbClr val="475569"/>
                </a:solidFill>
                <a:latin typeface="Arial"/>
                <a:ea typeface="Arial"/>
                <a:cs typeface="Arial"/>
                <a:sym typeface="Arial"/>
              </a:rPr>
              <a:t xml:space="preserve">Part</a:t>
            </a:r>
            <a:r>
              <a:rPr b="0" i="0" lang="en-US" sz="1450" u="none" cap="none" strike="noStrike">
                <a:solidFill>
                  <a:srgbClr val="475569"/>
                </a:solidFill>
                <a:latin typeface="Arial"/>
                <a:ea typeface="Arial"/>
                <a:cs typeface="Arial"/>
                <a:sym typeface="Arial"/>
              </a:rPr>
              <a:t xml:space="preserve"> / Whole) = (Percent / 100) to find missing values.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Double Number Line</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Verify results visually by scaling </a:t>
            </a:r>
            <a:r>
              <a:rPr b="1" i="0" lang="en-US" sz="1450" u="none" cap="none" strike="noStrike">
                <a:solidFill>
                  <a:srgbClr val="475569"/>
                </a:solidFill>
                <a:latin typeface="Arial"/>
                <a:ea typeface="Arial"/>
                <a:cs typeface="Arial"/>
                <a:sym typeface="Arial"/>
              </a:rPr>
              <a:t xml:space="preserve">equivalent ratios</a:t>
            </a:r>
            <a:r>
              <a:rPr b="0" i="0" lang="en-US" sz="1450" u="none" cap="none" strike="noStrike">
                <a:solidFill>
                  <a:srgbClr val="475569"/>
                </a:solidFill>
                <a:latin typeface="Arial"/>
                <a:ea typeface="Arial"/>
                <a:cs typeface="Arial"/>
                <a:sym typeface="Arial"/>
              </a:rPr>
              <a:t xml:space="preserve"> along a dual number line.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44</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73"/>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Find and Compare with Percentages</a:t>
            </a:r>
            <a:endParaRPr b="0" i="0" sz="1400" u="none" cap="none" strike="noStrike">
              <a:solidFill>
                <a:srgbClr val="000000"/>
              </a:solidFill>
              <a:latin typeface="Arial"/>
              <a:ea typeface="Arial"/>
              <a:cs typeface="Arial"/>
              <a:sym typeface="Arial"/>
            </a:endParaRPr>
          </a:p>
        </p:txBody>
      </p:sp>
      <p:sp>
        <p:nvSpPr>
          <p:cNvPr id="744" name="Google Shape;744;p73"/>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45" name="Google Shape;745;p73"/>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32 / 44</a:t>
            </a:r>
          </a:p>
        </p:txBody>
      </p:sp>
      <p:grpSp>
        <p:nvGrpSpPr>
          <p:cNvPr id="747" name="TEACH-4-student-move" descr="TEACH 4 · Monitor progress and provide feedback"/>
          <p:cNvGrpSpPr/>
          <p:nvPr/>
        </p:nvGrpSpPr>
        <p:grpSpPr>
          <a:xfrm>
            <a:off x="502920" y="3201929"/>
            <a:ext cx="11186160" cy="731520"/>
            <a:chOff x="502920" y="3201929"/>
            <a:chExt cx="11186160" cy="731520"/>
          </a:xfrm>
        </p:grpSpPr>
        <p:sp>
          <p:nvSpPr>
            <p:cNvPr id="74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4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75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cxnSp>
        <p:nvCxnSpPr>
          <p:cNvPr id="843" name="Google Shape;843;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4" name="Google Shape;844;p85"/>
          <p:cNvSpPr txBox="1"/>
          <p:nvPr/>
        </p:nvSpPr>
        <p:spPr>
          <a:xfrm>
            <a:off x="484565" y="936101"/>
            <a:ext cx="7015362" cy="26869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On two recent science tests, Anwar earned the scores shown.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On which test did Anwar earn a higher score?</a:t>
            </a:r>
            <a:endParaRPr b="0" i="0" sz="1400" u="none" cap="none" strike="noStrike">
              <a:solidFill>
                <a:srgbClr val="000000"/>
              </a:solidFill>
              <a:latin typeface="Arial"/>
              <a:ea typeface="Arial"/>
              <a:cs typeface="Arial"/>
              <a:sym typeface="Arial"/>
            </a:endParaRPr>
          </a:p>
        </p:txBody>
      </p:sp>
      <p:sp>
        <p:nvSpPr>
          <p:cNvPr id="845" name="Google Shape;845;p85"/>
          <p:cNvSpPr txBox="1"/>
          <p:nvPr/>
        </p:nvSpPr>
        <p:spPr>
          <a:xfrm>
            <a:off x="484565" y="316034"/>
            <a:ext cx="4992599" cy="5121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Test Scores</a:t>
            </a:r>
            <a:endParaRPr b="0" i="0" sz="1400" u="none" cap="none" strike="noStrike">
              <a:solidFill>
                <a:srgbClr val="000000"/>
              </a:solidFill>
              <a:latin typeface="Arial"/>
              <a:ea typeface="Arial"/>
              <a:cs typeface="Arial"/>
              <a:sym typeface="Arial"/>
            </a:endParaRPr>
          </a:p>
        </p:txBody>
      </p:sp>
      <p:pic>
        <p:nvPicPr>
          <p:cNvPr id="846" name="Google Shape;846;p85"/>
          <p:cNvPicPr preferRelativeResize="0"/>
          <p:nvPr/>
        </p:nvPicPr>
        <p:blipFill rotWithShape="1">
          <a:blip r:embed="rId3">
            <a:alphaModFix/>
          </a:blip>
          <a:srcRect b="0" l="0" r="0" t="0"/>
          <a:stretch/>
        </p:blipFill>
        <p:spPr>
          <a:xfrm>
            <a:off x="484565" y="4577679"/>
            <a:ext cx="7073900" cy="838200"/>
          </a:xfrm>
          <a:prstGeom prst="rect">
            <a:avLst/>
          </a:prstGeom>
          <a:noFill/>
          <a:ln>
            <a:noFill/>
          </a:ln>
        </p:spPr>
      </p:pic>
      <p:sp>
        <p:nvSpPr>
          <p:cNvPr id="847" name="Google Shape;847;p85"/>
          <p:cNvSpPr txBox="1"/>
          <p:nvPr/>
        </p:nvSpPr>
        <p:spPr>
          <a:xfrm>
            <a:off x="3156368" y="4734997"/>
            <a:ext cx="480581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Making Connections</a:t>
            </a:r>
            <a:endParaRPr b="0" i="0" sz="1400" u="none" cap="none" strike="noStrike">
              <a:solidFill>
                <a:srgbClr val="000000"/>
              </a:solidFill>
              <a:latin typeface="Arial"/>
              <a:ea typeface="Arial"/>
              <a:cs typeface="Arial"/>
              <a:sym typeface="Arial"/>
            </a:endParaRPr>
          </a:p>
        </p:txBody>
      </p:sp>
      <p:pic>
        <p:nvPicPr>
          <p:cNvPr id="848" name="Google Shape;848;p85"/>
          <p:cNvPicPr preferRelativeResize="0"/>
          <p:nvPr/>
        </p:nvPicPr>
        <p:blipFill rotWithShape="1">
          <a:blip r:embed="rId4">
            <a:alphaModFix/>
          </a:blip>
          <a:srcRect b="0" l="0" r="0" t="0"/>
          <a:stretch/>
        </p:blipFill>
        <p:spPr>
          <a:xfrm>
            <a:off x="8391832" y="1241788"/>
            <a:ext cx="3009143" cy="5140986"/>
          </a:xfrm>
          <a:prstGeom prst="rect">
            <a:avLst/>
          </a:prstGeom>
          <a:noFill/>
          <a:ln>
            <a:noFill/>
          </a:ln>
        </p:spPr>
      </p:pic>
      <p:sp>
        <p:nvSpPr>
          <p:cNvPr id="8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33 / 44</a:t>
            </a:r>
          </a:p>
        </p:txBody>
      </p:sp>
      <p:grpSp>
        <p:nvGrpSpPr>
          <p:cNvPr id="850" name="TEACH-2-student-move" descr="TEACH 2 · Use strategies and tasks to engage students in rigorous work"/>
          <p:cNvGrpSpPr/>
          <p:nvPr/>
        </p:nvGrpSpPr>
        <p:grpSpPr>
          <a:xfrm>
            <a:off x="502920" y="5498175"/>
            <a:ext cx="5501640" cy="731520"/>
            <a:chOff x="502920" y="5498175"/>
            <a:chExt cx="5501640" cy="731520"/>
          </a:xfrm>
        </p:grpSpPr>
        <p:sp>
          <p:nvSpPr>
            <p:cNvPr id="851" name="TEACH-move-card"/>
            <p:cNvSpPr/>
            <p:nvPr/>
          </p:nvSpPr>
          <p:spPr>
            <a:xfrm>
              <a:off x="502920" y="5498175"/>
              <a:ext cx="5501640" cy="731520"/>
            </a:xfrm>
            <a:prstGeom prst="roundRect">
              <a:avLst>
                <a:gd name="adj" fmla="val 16000"/>
              </a:avLst>
            </a:prstGeom>
            <a:solidFill>
              <a:srgbClr val="E4F0F5"/>
            </a:solidFill>
            <a:ln w="19050">
              <a:solidFill>
                <a:srgbClr val="8CB8C7"/>
              </a:solidFill>
            </a:ln>
          </p:spPr>
          <p:txBody>
            <a:bodyPr/>
            <a:lstStyle/>
            <a:p>
              <a:endParaRPr/>
            </a:p>
          </p:txBody>
        </p:sp>
        <p:sp>
          <p:nvSpPr>
            <p:cNvPr id="852" name="TEACH-move-rule"/>
            <p:cNvSpPr/>
            <p:nvPr/>
          </p:nvSpPr>
          <p:spPr>
            <a:xfrm>
              <a:off x="548640" y="5637164"/>
              <a:ext cx="100584" cy="453542"/>
            </a:xfrm>
            <a:prstGeom prst="roundRect">
              <a:avLst>
                <a:gd name="adj" fmla="val 50000"/>
              </a:avLst>
            </a:prstGeom>
            <a:solidFill>
              <a:srgbClr val="01708C"/>
            </a:solidFill>
            <a:ln>
              <a:noFill/>
            </a:ln>
          </p:spPr>
          <p:txBody>
            <a:bodyPr/>
            <a:lstStyle/>
            <a:p>
              <a:endParaRPr/>
            </a:p>
          </p:txBody>
        </p:sp>
        <p:sp>
          <p:nvSpPr>
            <p:cNvPr id="853" name="TEACH-move-text"/>
            <p:cNvSpPr txBox="1"/>
            <p:nvPr/>
          </p:nvSpPr>
          <p:spPr>
            <a:xfrm>
              <a:off x="822960" y="5498175"/>
              <a:ext cx="5044440" cy="73152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STRUGGLE FIRST  ·  </a:t>
              </a:r>
              <a:r>
                <a:rPr lang="en-US" sz="1400" dirty="0">
                  <a:solidFill>
                    <a:srgbClr val="13303A"/>
                  </a:solidFill>
                  <a:latin typeface="Arial"/>
                </a:rPr>
                <a:t>Work on your own first. Stuck is allowed — try a second strategy before you ask.</a:t>
              </a:r>
              <a:endParaRPr lang="en-US" sz="14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cxnSp>
        <p:nvCxnSpPr>
          <p:cNvPr id="908" name="Google Shape;908;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9" name="Google Shape;909;p91"/>
          <p:cNvSpPr txBox="1"/>
          <p:nvPr/>
        </p:nvSpPr>
        <p:spPr>
          <a:xfrm>
            <a:off x="484564" y="3140321"/>
            <a:ext cx="8594285" cy="5121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pPr>
            <a:r>
              <a:rPr b="1" i="0" lang="en-US" sz="2600" u="none" cap="none" strike="noStrike">
                <a:solidFill>
                  <a:srgbClr val="23282D"/>
                </a:solidFill>
                <a:latin typeface="Arial"/>
                <a:ea typeface="Arial"/>
                <a:cs typeface="Arial"/>
                <a:sym typeface="Arial"/>
              </a:rPr>
              <a:t>How can you convert the test scores to percentages?</a:t>
            </a:r>
            <a:endParaRPr b="0" i="0" sz="1400" u="none" cap="none" strike="noStrike">
              <a:solidFill>
                <a:srgbClr val="000000"/>
              </a:solidFill>
              <a:latin typeface="Arial"/>
              <a:ea typeface="Arial"/>
              <a:cs typeface="Arial"/>
              <a:sym typeface="Arial"/>
            </a:endParaRPr>
          </a:p>
        </p:txBody>
      </p:sp>
      <p:sp>
        <p:nvSpPr>
          <p:cNvPr id="910" name="Google Shape;910;p91"/>
          <p:cNvSpPr txBox="1"/>
          <p:nvPr/>
        </p:nvSpPr>
        <p:spPr>
          <a:xfrm>
            <a:off x="484565" y="1088501"/>
            <a:ext cx="8196727" cy="4242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pPr>
            <a:r>
              <a:rPr b="0" i="0" lang="en-US" sz="2600" u="none" cap="none" strike="noStrike">
                <a:solidFill>
                  <a:srgbClr val="23282D"/>
                </a:solidFill>
                <a:latin typeface="Arial"/>
                <a:ea typeface="Arial"/>
                <a:cs typeface="Arial"/>
                <a:sym typeface="Arial"/>
              </a:rPr>
              <a:t>We can write each test score as a part-to-whole ratio.</a:t>
            </a:r>
            <a:endParaRPr b="0" i="0" sz="1400" u="none" cap="none" strike="noStrike">
              <a:solidFill>
                <a:srgbClr val="000000"/>
              </a:solidFill>
              <a:latin typeface="Arial"/>
              <a:ea typeface="Arial"/>
              <a:cs typeface="Arial"/>
              <a:sym typeface="Arial"/>
            </a:endParaRPr>
          </a:p>
        </p:txBody>
      </p:sp>
      <p:grpSp>
        <p:nvGrpSpPr>
          <p:cNvPr id="911" name="Google Shape;911;p91"/>
          <p:cNvGrpSpPr/>
          <p:nvPr/>
        </p:nvGrpSpPr>
        <p:grpSpPr>
          <a:xfrm>
            <a:off x="484565" y="1614080"/>
            <a:ext cx="4994438" cy="1362034"/>
            <a:chOff x="676888" y="2227876"/>
            <a:chExt cx="4994438" cy="1939065"/>
          </a:xfrm>
        </p:grpSpPr>
        <p:sp>
          <p:nvSpPr>
            <p:cNvPr id="912" name="Google Shape;912;p91"/>
            <p:cNvSpPr txBox="1"/>
            <p:nvPr/>
          </p:nvSpPr>
          <p:spPr>
            <a:xfrm>
              <a:off x="676888" y="2227876"/>
              <a:ext cx="1947917" cy="1939065"/>
            </a:xfrm>
            <a:prstGeom prst="rect">
              <a:avLst/>
            </a:prstGeom>
            <a:blipFill rotWithShape="1">
              <a:blip r:embed="rId3">
                <a:alphaModFix/>
              </a:blip>
              <a:stretch>
                <a:fillRect b="0" l="-5625" r="0" t="-283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13" name="Google Shape;913;p91"/>
            <p:cNvSpPr txBox="1"/>
            <p:nvPr/>
          </p:nvSpPr>
          <p:spPr>
            <a:xfrm>
              <a:off x="3723409" y="2227876"/>
              <a:ext cx="1947917" cy="1939065"/>
            </a:xfrm>
            <a:prstGeom prst="rect">
              <a:avLst/>
            </a:prstGeom>
            <a:blipFill rotWithShape="1">
              <a:blip r:embed="rId4">
                <a:alphaModFix/>
              </a:blip>
              <a:stretch>
                <a:fillRect b="0" l="-5625" r="0" t="-283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grpSp>
      <p:sp>
        <p:nvSpPr>
          <p:cNvPr id="914" name="Google Shape;914;p91"/>
          <p:cNvSpPr txBox="1"/>
          <p:nvPr/>
        </p:nvSpPr>
        <p:spPr>
          <a:xfrm>
            <a:off x="484565" y="316034"/>
            <a:ext cx="5382835" cy="5121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xml:space="preserve">    Collaborate and Connect</a:t>
            </a:r>
            <a:endParaRPr b="0" i="0" sz="1400" u="none" cap="none" strike="noStrike">
              <a:solidFill>
                <a:srgbClr val="000000"/>
              </a:solidFill>
              <a:latin typeface="Arial"/>
              <a:ea typeface="Arial"/>
              <a:cs typeface="Arial"/>
              <a:sym typeface="Arial"/>
            </a:endParaRPr>
          </a:p>
        </p:txBody>
      </p:sp>
      <p:pic>
        <p:nvPicPr>
          <p:cNvPr id="915" name="Google Shape;915;p91"/>
          <p:cNvPicPr preferRelativeResize="0"/>
          <p:nvPr/>
        </p:nvPicPr>
        <p:blipFill rotWithShape="1">
          <a:blip r:embed="rId5">
            <a:alphaModFix/>
          </a:blip>
          <a:srcRect b="0" l="0" r="0" t="0"/>
          <a:stretch/>
        </p:blipFill>
        <p:spPr>
          <a:xfrm>
            <a:off x="558276" y="386230"/>
            <a:ext cx="353635" cy="340537"/>
          </a:xfrm>
          <a:prstGeom prst="rect">
            <a:avLst/>
          </a:prstGeom>
          <a:noFill/>
          <a:ln>
            <a:noFill/>
          </a:ln>
        </p:spPr>
      </p:pic>
      <p:sp>
        <p:nvSpPr>
          <p:cNvPr id="916" name="Google Shape;916;p91"/>
          <p:cNvSpPr txBox="1"/>
          <p:nvPr/>
        </p:nvSpPr>
        <p:spPr>
          <a:xfrm>
            <a:off x="484564" y="3957627"/>
            <a:ext cx="6242810" cy="2429983"/>
          </a:xfrm>
          <a:prstGeom prst="rect">
            <a:avLst/>
          </a:prstGeom>
          <a:blipFill rotWithShape="1">
            <a:blip r:embed="rId6">
              <a:alphaModFix/>
            </a:blip>
            <a:stretch>
              <a:fillRect b="0" l="-1951" r="-585" t="-250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Student-led talk: assign roles and monitor group progress.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34 / 44</a:t>
            </a:r>
          </a:p>
        </p:txBody>
      </p:sp>
      <p:sp>
        <p:nvSpPr>
          <p:cNvPr id="90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9004" name="TEACH-embedded-student-prompt" descr="Student thinking and response directions"/>
          <p:cNvSpPr txBox="1"/>
          <p:nvPr/>
        </p:nvSpPr>
        <p:spPr>
          <a:xfrm>
            <a:off x="6111240" y="22128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a:t>
            </a:r>
            <a:endParaRPr lang="en-US" sz="2000"/>
          </a:p>
          <a:p>
            <a:pPr>
              <a:lnSpc>
                <a:spcPts val="2400"/>
              </a:lnSpc>
              <a:buNone/>
            </a:pPr>
            <a:r>
              <a:rPr lang="en-US" sz="2000">
                <a:solidFill>
                  <a:srgbClr val="174D60"/>
                </a:solidFill>
                <a:latin typeface="Arial"/>
              </a:rPr>
              <a:t>Switch roles; both revise.</a:t>
            </a:r>
            <a:endParaRPr lang="en-US"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cxnSp>
        <p:nvCxnSpPr>
          <p:cNvPr id="935" name="Google Shape;935;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6" name="Google Shape;936;p93"/>
          <p:cNvSpPr txBox="1"/>
          <p:nvPr/>
        </p:nvSpPr>
        <p:spPr>
          <a:xfrm>
            <a:off x="484565" y="4419069"/>
            <a:ext cx="7015362" cy="6347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compare the test scores?</a:t>
            </a:r>
            <a:endParaRPr b="0" i="0" sz="1400" u="none" cap="none" strike="noStrike">
              <a:solidFill>
                <a:srgbClr val="000000"/>
              </a:solidFill>
              <a:latin typeface="Arial"/>
              <a:ea typeface="Arial"/>
              <a:cs typeface="Arial"/>
              <a:sym typeface="Arial"/>
            </a:endParaRPr>
          </a:p>
        </p:txBody>
      </p:sp>
      <p:sp>
        <p:nvSpPr>
          <p:cNvPr id="937" name="Google Shape;937;p93"/>
          <p:cNvSpPr txBox="1"/>
          <p:nvPr/>
        </p:nvSpPr>
        <p:spPr>
          <a:xfrm>
            <a:off x="484565" y="1088500"/>
            <a:ext cx="7752433" cy="928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We can generate equivalent fractions with denominators of 100 to convert to percentages.</a:t>
            </a:r>
            <a:endParaRPr b="0" i="0" sz="1400" u="none" cap="none" strike="noStrike">
              <a:solidFill>
                <a:srgbClr val="000000"/>
              </a:solidFill>
              <a:latin typeface="Arial"/>
              <a:ea typeface="Arial"/>
              <a:cs typeface="Arial"/>
              <a:sym typeface="Arial"/>
            </a:endParaRPr>
          </a:p>
        </p:txBody>
      </p:sp>
      <p:grpSp>
        <p:nvGrpSpPr>
          <p:cNvPr id="938" name="Google Shape;938;p93"/>
          <p:cNvGrpSpPr/>
          <p:nvPr/>
        </p:nvGrpSpPr>
        <p:grpSpPr>
          <a:xfrm>
            <a:off x="605037" y="2070344"/>
            <a:ext cx="4989719" cy="1939065"/>
            <a:chOff x="630064" y="2227876"/>
            <a:chExt cx="3960400" cy="1939065"/>
          </a:xfrm>
        </p:grpSpPr>
        <p:sp>
          <p:nvSpPr>
            <p:cNvPr id="939" name="Google Shape;939;p93"/>
            <p:cNvSpPr txBox="1"/>
            <p:nvPr/>
          </p:nvSpPr>
          <p:spPr>
            <a:xfrm>
              <a:off x="630064" y="2227876"/>
              <a:ext cx="1947917" cy="19390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Unit 1 Test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800"/>
                <a:buFont typeface="Arial"/>
                <a:buNone/>
              </a:pPr>
              <a:r>
                <a:t/>
              </a:r>
              <a:endParaRPr b="0" i="0" sz="800" u="none" cap="none" strike="noStrike">
                <a:solidFill>
                  <a:srgbClr val="262626"/>
                </a:solidFill>
                <a:latin typeface="Arial"/>
                <a:ea typeface="Arial"/>
                <a:cs typeface="Arial"/>
                <a:sym typeface="Arial"/>
              </a:endParaRPr>
            </a:p>
          </p:txBody>
        </p:sp>
        <p:sp>
          <p:nvSpPr>
            <p:cNvPr id="940" name="Google Shape;940;p93"/>
            <p:cNvSpPr txBox="1"/>
            <p:nvPr/>
          </p:nvSpPr>
          <p:spPr>
            <a:xfrm>
              <a:off x="3044524" y="2227876"/>
              <a:ext cx="1545940" cy="19390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Unit 2 Test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800"/>
                <a:buFont typeface="Arial"/>
                <a:buNone/>
              </a:pPr>
              <a:r>
                <a:t/>
              </a:r>
              <a:endParaRPr b="0" i="0" sz="800" u="none" cap="none" strike="noStrike">
                <a:solidFill>
                  <a:srgbClr val="262626"/>
                </a:solidFill>
                <a:latin typeface="Arial"/>
                <a:ea typeface="Arial"/>
                <a:cs typeface="Arial"/>
                <a:sym typeface="Arial"/>
              </a:endParaRPr>
            </a:p>
          </p:txBody>
        </p:sp>
      </p:grpSp>
      <p:pic>
        <p:nvPicPr>
          <p:cNvPr id="941" name="Google Shape;941;p93"/>
          <p:cNvPicPr preferRelativeResize="0"/>
          <p:nvPr/>
        </p:nvPicPr>
        <p:blipFill rotWithShape="1">
          <a:blip r:embed="rId3">
            <a:alphaModFix/>
          </a:blip>
          <a:srcRect b="0" l="0" r="0" t="0"/>
          <a:stretch/>
        </p:blipFill>
        <p:spPr>
          <a:xfrm>
            <a:off x="1042862" y="2534788"/>
            <a:ext cx="1195544" cy="1884281"/>
          </a:xfrm>
          <a:prstGeom prst="rect">
            <a:avLst/>
          </a:prstGeom>
          <a:noFill/>
          <a:ln>
            <a:noFill/>
          </a:ln>
        </p:spPr>
      </p:pic>
      <p:pic>
        <p:nvPicPr>
          <p:cNvPr id="942" name="Google Shape;942;p93"/>
          <p:cNvPicPr preferRelativeResize="0"/>
          <p:nvPr/>
        </p:nvPicPr>
        <p:blipFill rotWithShape="1">
          <a:blip r:embed="rId4">
            <a:alphaModFix/>
          </a:blip>
          <a:srcRect b="0" l="0" r="0" t="0"/>
          <a:stretch/>
        </p:blipFill>
        <p:spPr>
          <a:xfrm>
            <a:off x="3992246" y="2521794"/>
            <a:ext cx="1195543" cy="1897275"/>
          </a:xfrm>
          <a:prstGeom prst="rect">
            <a:avLst/>
          </a:prstGeom>
          <a:noFill/>
          <a:ln>
            <a:noFill/>
          </a:ln>
        </p:spPr>
      </p:pic>
      <p:sp>
        <p:nvSpPr>
          <p:cNvPr id="943" name="Google Shape;943;p93"/>
          <p:cNvSpPr txBox="1"/>
          <p:nvPr/>
        </p:nvSpPr>
        <p:spPr>
          <a:xfrm>
            <a:off x="484564" y="5146880"/>
            <a:ext cx="11066205"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compare the numerators or write the scores as percentages.</a:t>
            </a:r>
            <a:endParaRPr b="0" i="0" sz="1400" u="none" cap="none" strike="noStrike">
              <a:solidFill>
                <a:srgbClr val="000000"/>
              </a:solidFill>
              <a:latin typeface="Arial"/>
              <a:ea typeface="Arial"/>
              <a:cs typeface="Arial"/>
              <a:sym typeface="Arial"/>
            </a:endParaRPr>
          </a:p>
        </p:txBody>
      </p:sp>
      <p:sp>
        <p:nvSpPr>
          <p:cNvPr id="944" name="Google Shape;944;p93"/>
          <p:cNvSpPr txBox="1"/>
          <p:nvPr/>
        </p:nvSpPr>
        <p:spPr>
          <a:xfrm>
            <a:off x="484565" y="316034"/>
            <a:ext cx="4992599" cy="5121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Test Scores</a:t>
            </a:r>
            <a:endParaRPr b="0" i="0" sz="1400" u="none" cap="none" strike="noStrike">
              <a:solidFill>
                <a:srgbClr val="000000"/>
              </a:solidFill>
              <a:latin typeface="Arial"/>
              <a:ea typeface="Arial"/>
              <a:cs typeface="Arial"/>
              <a:sym typeface="Arial"/>
            </a:endParaRPr>
          </a:p>
        </p:txBody>
      </p:sp>
      <p:sp>
        <p:nvSpPr>
          <p:cNvPr id="9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35 / 44</a:t>
            </a:r>
          </a:p>
        </p:txBody>
      </p:sp>
      <p:sp>
        <p:nvSpPr>
          <p:cNvPr id="946" name="EWL-COVER-1"/>
          <p:cNvSpPr/>
          <p:nvPr/>
        </p:nvSpPr>
        <p:spPr>
          <a:xfrm>
            <a:off x="429700" y="5092016"/>
            <a:ext cx="11175933" cy="1286010"/>
          </a:xfrm>
          <a:prstGeom prst="rect">
            <a:avLst/>
          </a:prstGeom>
          <a:solidFill>
            <a:srgbClr val="FFFFFF"/>
          </a:solidFill>
          <a:ln>
            <a:noFill/>
          </a:ln>
        </p:spPr>
        <p:txBody>
          <a:bodyPr/>
          <a:lstStyle/>
          <a:p/>
        </p:txBody>
      </p:sp>
      <p:sp xmlns:p="http://schemas.openxmlformats.org/presentationml/2006/main" xmlns:a="http://schemas.openxmlformats.org/drawingml/2006/main">
        <p:nvSpPr>
          <p:cNvPr id="947" name="TEACH-embedded-student-prompt" descr="Student thinking and response directions"/>
          <p:cNvSpPr txBox="1"/>
          <p:nvPr/>
        </p:nvSpPr>
        <p:spPr>
          <a:xfrm>
            <a:off x="6111240" y="34930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cxnSp>
        <p:nvCxnSpPr>
          <p:cNvPr id="973" name="Google Shape;973;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4" name="Google Shape;974;p96"/>
          <p:cNvSpPr txBox="1"/>
          <p:nvPr/>
        </p:nvSpPr>
        <p:spPr>
          <a:xfrm>
            <a:off x="484565" y="936101"/>
            <a:ext cx="7218562" cy="2518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On two recent science tests, Anwar earned the scores shown.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800"/>
              <a:buFont typeface="Arial"/>
              <a:buNone/>
              <a:defRPr/>
            </a:pPr>
            <a:r>
              <a:rPr/>
              <a:t/>
            </a:r>
            <a:endParaRPr b="0" i="0" sz="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On which test did Anwar earn a higher score?</a:t>
            </a:r>
            <a:endParaRPr b="0" i="0" sz="1400" u="none" cap="none" strike="noStrike">
              <a:solidFill>
                <a:srgbClr val="000000"/>
              </a:solidFill>
              <a:latin typeface="Arial"/>
              <a:ea typeface="Arial"/>
              <a:cs typeface="Arial"/>
              <a:sym typeface="Arial"/>
            </a:endParaRPr>
          </a:p>
        </p:txBody>
      </p:sp>
      <p:sp>
        <p:nvSpPr>
          <p:cNvPr id="975" name="Google Shape;975;p96"/>
          <p:cNvSpPr txBox="1"/>
          <p:nvPr/>
        </p:nvSpPr>
        <p:spPr>
          <a:xfrm>
            <a:off x="484565" y="3765747"/>
            <a:ext cx="6742145" cy="240065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 xml:space="preserve">Anwar scored an 80% on the unit 1 test </a:t>
            </a:r>
            <a:br>
              <a:rPr b="0" i="0" lang="en-US" sz="2800" u="none" cap="none" strike="noStrike">
                <a:solidFill>
                  <a:srgbClr val="23282D"/>
                </a:solidFill>
                <a:latin typeface="Arial"/>
                <a:ea typeface="Arial"/>
                <a:cs typeface="Arial"/>
                <a:sym typeface="Arial"/>
              </a:rPr>
            </a:br>
            <a:r>
              <a:rPr b="0" i="0" lang="en-US" sz="2800" u="none" cap="none" strike="noStrike">
                <a:solidFill>
                  <a:srgbClr val="23282D"/>
                </a:solidFill>
                <a:latin typeface="Arial"/>
                <a:ea typeface="Arial"/>
                <a:cs typeface="Arial"/>
                <a:sym typeface="Arial"/>
              </a:rPr>
              <a:t xml:space="preserve">and 76% on the unit 2 test.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 xml:space="preserve">Anwar earned a higher score on the </a:t>
            </a:r>
            <a:br>
              <a:rPr b="0" i="0" lang="en-US" sz="2800" u="none" cap="none" strike="noStrike">
                <a:solidFill>
                  <a:srgbClr val="23282D"/>
                </a:solidFill>
                <a:latin typeface="Arial"/>
                <a:ea typeface="Arial"/>
                <a:cs typeface="Arial"/>
                <a:sym typeface="Arial"/>
              </a:rPr>
            </a:br>
            <a:r>
              <a:rPr b="0" i="0" lang="en-US" sz="2800" u="none" cap="none" strike="noStrike">
                <a:solidFill>
                  <a:srgbClr val="23282D"/>
                </a:solidFill>
                <a:latin typeface="Arial"/>
                <a:ea typeface="Arial"/>
                <a:cs typeface="Arial"/>
                <a:sym typeface="Arial"/>
              </a:rPr>
              <a:t>unit 1 test.</a:t>
            </a:r>
            <a:endParaRPr b="0" i="0" sz="1400" u="none" cap="none" strike="noStrike">
              <a:solidFill>
                <a:srgbClr val="000000"/>
              </a:solidFill>
              <a:latin typeface="Arial"/>
              <a:ea typeface="Arial"/>
              <a:cs typeface="Arial"/>
              <a:sym typeface="Arial"/>
            </a:endParaRPr>
          </a:p>
        </p:txBody>
      </p:sp>
      <p:pic>
        <p:nvPicPr>
          <p:cNvPr id="976" name="Google Shape;976;p96"/>
          <p:cNvPicPr preferRelativeResize="0"/>
          <p:nvPr/>
        </p:nvPicPr>
        <p:blipFill rotWithShape="1">
          <a:blip r:embed="rId3">
            <a:alphaModFix/>
          </a:blip>
          <a:srcRect b="0" l="0" r="0" t="0"/>
          <a:stretch/>
        </p:blipFill>
        <p:spPr>
          <a:xfrm>
            <a:off x="8391832" y="1241788"/>
            <a:ext cx="3009143" cy="5140986"/>
          </a:xfrm>
          <a:prstGeom prst="rect">
            <a:avLst/>
          </a:prstGeom>
          <a:noFill/>
          <a:ln>
            <a:noFill/>
          </a:ln>
        </p:spPr>
      </p:pic>
      <p:sp>
        <p:nvSpPr>
          <p:cNvPr id="977" name="Google Shape;977;p96"/>
          <p:cNvSpPr txBox="1"/>
          <p:nvPr/>
        </p:nvSpPr>
        <p:spPr>
          <a:xfrm>
            <a:off x="484565" y="316034"/>
            <a:ext cx="4992599" cy="5121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Test Scores</a:t>
            </a:r>
            <a:endParaRPr b="0" i="0" sz="1400" u="none" cap="none" strike="noStrike">
              <a:solidFill>
                <a:srgbClr val="000000"/>
              </a:solidFill>
              <a:latin typeface="Arial"/>
              <a:ea typeface="Arial"/>
              <a:cs typeface="Arial"/>
              <a:sym typeface="Arial"/>
            </a:endParaRPr>
          </a:p>
        </p:txBody>
      </p:sp>
      <p:sp>
        <p:nvSpPr>
          <p:cNvPr id="9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36 / 44</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cxnSp>
        <p:nvCxnSpPr>
          <p:cNvPr id="982" name="Google Shape;982;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3" name="Google Shape;983;p97"/>
          <p:cNvSpPr txBox="1"/>
          <p:nvPr/>
        </p:nvSpPr>
        <p:spPr>
          <a:xfrm>
            <a:off x="484563" y="927528"/>
            <a:ext cx="7273089" cy="138435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Anwar answered 47 out of 50 questions correctly on the unit 3 test. Is this score better than his scores on the previous two tests? Explain.</a:t>
            </a:r>
            <a:endParaRPr b="0" i="0" sz="1400" u="none" cap="none" strike="noStrike">
              <a:solidFill>
                <a:srgbClr val="000000"/>
              </a:solidFill>
              <a:latin typeface="Arial"/>
              <a:ea typeface="Arial"/>
              <a:cs typeface="Arial"/>
              <a:sym typeface="Arial"/>
            </a:endParaRPr>
          </a:p>
        </p:txBody>
      </p:sp>
      <p:sp>
        <p:nvSpPr>
          <p:cNvPr id="984" name="Google Shape;984;p97"/>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85" name="Google Shape;985;p97"/>
          <p:cNvSpPr txBox="1"/>
          <p:nvPr/>
        </p:nvSpPr>
        <p:spPr>
          <a:xfrm>
            <a:off x="484562" y="3900481"/>
            <a:ext cx="7730290" cy="1021346"/>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How does finding the percent of a quantity help you compare two or more amounts?</a:t>
            </a:r>
            <a:endParaRPr b="0" i="0" sz="1400" u="none" cap="none" strike="noStrike">
              <a:solidFill>
                <a:srgbClr val="000000"/>
              </a:solidFill>
              <a:latin typeface="Arial"/>
              <a:ea typeface="Arial"/>
              <a:cs typeface="Arial"/>
              <a:sym typeface="Arial"/>
            </a:endParaRPr>
          </a:p>
        </p:txBody>
      </p:sp>
      <p:pic>
        <p:nvPicPr>
          <p:cNvPr id="986" name="Google Shape;986;p97"/>
          <p:cNvPicPr preferRelativeResize="0"/>
          <p:nvPr/>
        </p:nvPicPr>
        <p:blipFill rotWithShape="1">
          <a:blip r:embed="rId3">
            <a:alphaModFix/>
          </a:blip>
          <a:srcRect b="0" l="0" r="0" t="0"/>
          <a:stretch/>
        </p:blipFill>
        <p:spPr>
          <a:xfrm>
            <a:off x="8391832" y="1241788"/>
            <a:ext cx="3009143" cy="5140986"/>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38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a:t>
            </a:r>
            <a:endParaRPr lang="en-US" sz="2000"/>
          </a:p>
          <a:p>
            <a:pPr>
              <a:lnSpc>
                <a:spcPts val="2400"/>
              </a:lnSpc>
              <a:buNone/>
            </a:pPr>
            <a:r>
              <a:rPr lang="en-US" sz="2000">
                <a:solidFill>
                  <a:srgbClr val="174D60"/>
                </a:solidFill>
                <a:latin typeface="Arial"/>
              </a:rPr>
              <a:t>one choice and revise.</a:t>
            </a:r>
            <a:endParaRPr lang="en-US" sz="20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4.4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using the part as the whole or confusing percent with a decimal multiplier.</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the three quantities in the given problem before selecting an operation.</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3" name="Google Shape;873;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4" name="Google Shape;874;p88"/>
          <p:cNvSpPr txBox="1"/>
          <p:nvPr/>
        </p:nvSpPr>
        <p:spPr>
          <a:xfrm>
            <a:off x="484565" y="936100"/>
            <a:ext cx="7015362" cy="38312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On two recent science tests, Anwar earned the scores shown. On which test did Anwar earn a higher score?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represent the relationship between the number of points earned and the number of points possible?</a:t>
            </a:r>
            <a:endParaRPr b="0" i="0" sz="1400" u="none" cap="none" strike="noStrike">
              <a:solidFill>
                <a:srgbClr val="000000"/>
              </a:solidFill>
              <a:latin typeface="Arial"/>
              <a:ea typeface="Arial"/>
              <a:cs typeface="Arial"/>
              <a:sym typeface="Arial"/>
            </a:endParaRPr>
          </a:p>
        </p:txBody>
      </p:sp>
      <p:sp>
        <p:nvSpPr>
          <p:cNvPr id="875" name="Google Shape;875;p88"/>
          <p:cNvSpPr txBox="1"/>
          <p:nvPr/>
        </p:nvSpPr>
        <p:spPr>
          <a:xfrm>
            <a:off x="484565" y="4899904"/>
            <a:ext cx="624070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write each test score as a part-to-whole ratio.</a:t>
            </a:r>
            <a:endParaRPr b="0" i="0" sz="1400" u="none" cap="none" strike="noStrike">
              <a:solidFill>
                <a:srgbClr val="000000"/>
              </a:solidFill>
              <a:latin typeface="Arial"/>
              <a:ea typeface="Arial"/>
              <a:cs typeface="Arial"/>
              <a:sym typeface="Arial"/>
            </a:endParaRPr>
          </a:p>
        </p:txBody>
      </p:sp>
      <p:pic>
        <p:nvPicPr>
          <p:cNvPr id="876" name="Google Shape;876;p88"/>
          <p:cNvPicPr preferRelativeResize="0"/>
          <p:nvPr/>
        </p:nvPicPr>
        <p:blipFill rotWithShape="1">
          <a:blip r:embed="rId2">
            <a:alphaModFix/>
          </a:blip>
          <a:srcRect b="0" l="0" r="0" t="0"/>
          <a:stretch/>
        </p:blipFill>
        <p:spPr>
          <a:xfrm>
            <a:off x="8391832" y="1241788"/>
            <a:ext cx="3009143" cy="5140986"/>
          </a:xfrm>
          <a:prstGeom prst="rect">
            <a:avLst/>
          </a:prstGeom>
          <a:noFill/>
          <a:ln>
            <a:noFill/>
          </a:ln>
        </p:spPr>
      </p:pic>
      <p:sp>
        <p:nvSpPr>
          <p:cNvPr id="877" name="Google Shape;877;p88"/>
          <p:cNvSpPr txBox="1"/>
          <p:nvPr/>
        </p:nvSpPr>
        <p:spPr>
          <a:xfrm>
            <a:off x="484565" y="316034"/>
            <a:ext cx="4992599" cy="5121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Test Scores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40 / 44</a:t>
            </a:r>
          </a:p>
        </p:txBody>
      </p:sp>
      <p:grpSp>
        <p:nvGrpSpPr>
          <p:cNvPr id="9003" name="TEACH-3-student-move" descr="TEACH 3 · Use intentional questioning to deepen learning"/>
          <p:cNvGrpSpPr/>
          <p:nvPr/>
        </p:nvGrpSpPr>
        <p:grpSpPr>
          <a:xfrm>
            <a:off x="502920" y="4460992"/>
            <a:ext cx="5501640" cy="402336"/>
            <a:chOff x="502920" y="4460992"/>
            <a:chExt cx="5501640" cy="402336"/>
          </a:xfrm>
        </p:grpSpPr>
        <p:sp>
          <p:nvSpPr>
            <p:cNvPr id="9004" name="TEACH-move-card"/>
            <p:cNvSpPr/>
            <p:nvPr/>
          </p:nvSpPr>
          <p:spPr>
            <a:xfrm>
              <a:off x="502920" y="4460992"/>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4537436"/>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4460992"/>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61" name="Google Shape;961;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2" name="Google Shape;962;p95"/>
          <p:cNvSpPr txBox="1"/>
          <p:nvPr/>
        </p:nvSpPr>
        <p:spPr>
          <a:xfrm>
            <a:off x="484565" y="4356515"/>
            <a:ext cx="7015362" cy="6301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Which score is higher?</a:t>
            </a:r>
            <a:endParaRPr b="1" i="0" sz="2800" u="none" cap="none" strike="noStrike">
              <a:solidFill>
                <a:srgbClr val="262626"/>
              </a:solidFill>
              <a:latin typeface="Arial"/>
              <a:ea typeface="Arial"/>
              <a:cs typeface="Arial"/>
              <a:sym typeface="Arial"/>
            </a:endParaRPr>
          </a:p>
        </p:txBody>
      </p:sp>
      <p:sp>
        <p:nvSpPr>
          <p:cNvPr id="963" name="Google Shape;963;p95"/>
          <p:cNvSpPr txBox="1"/>
          <p:nvPr/>
        </p:nvSpPr>
        <p:spPr>
          <a:xfrm>
            <a:off x="484565" y="1088500"/>
            <a:ext cx="7752433" cy="6347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Let’s write the scores as percentages.</a:t>
            </a:r>
            <a:endParaRPr b="0" i="0" sz="1400" u="none" cap="none" strike="noStrike">
              <a:solidFill>
                <a:srgbClr val="000000"/>
              </a:solidFill>
              <a:latin typeface="Arial"/>
              <a:ea typeface="Arial"/>
              <a:cs typeface="Arial"/>
              <a:sym typeface="Arial"/>
            </a:endParaRPr>
          </a:p>
        </p:txBody>
      </p:sp>
      <p:sp>
        <p:nvSpPr>
          <p:cNvPr id="964" name="Google Shape;964;p95"/>
          <p:cNvSpPr txBox="1"/>
          <p:nvPr/>
        </p:nvSpPr>
        <p:spPr>
          <a:xfrm>
            <a:off x="484565" y="5146880"/>
            <a:ext cx="750489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Unit 1 Test</a:t>
            </a:r>
            <a:endParaRPr b="0" i="0" sz="2800" u="none" cap="none" strike="noStrike">
              <a:solidFill>
                <a:srgbClr val="595959"/>
              </a:solidFill>
              <a:latin typeface="Arial"/>
              <a:ea typeface="Arial"/>
              <a:cs typeface="Arial"/>
              <a:sym typeface="Arial"/>
            </a:endParaRPr>
          </a:p>
        </p:txBody>
      </p:sp>
      <p:grpSp>
        <p:nvGrpSpPr>
          <p:cNvPr id="965" name="Google Shape;965;p95"/>
          <p:cNvGrpSpPr/>
          <p:nvPr/>
        </p:nvGrpSpPr>
        <p:grpSpPr>
          <a:xfrm>
            <a:off x="595402" y="2070345"/>
            <a:ext cx="4994438" cy="1939065"/>
            <a:chOff x="676888" y="2227876"/>
            <a:chExt cx="4994438" cy="1939065"/>
          </a:xfrm>
        </p:grpSpPr>
        <p:sp>
          <p:nvSpPr>
            <p:cNvPr id="966" name="Google Shape;966;p95"/>
            <p:cNvSpPr txBox="1"/>
            <p:nvPr/>
          </p:nvSpPr>
          <p:spPr>
            <a:xfrm>
              <a:off x="676888" y="2227876"/>
              <a:ext cx="1947917" cy="1939065"/>
            </a:xfrm>
            <a:prstGeom prst="rect">
              <a:avLst/>
            </a:prstGeom>
            <a:blipFill rotWithShape="1">
              <a:blip r:embed="rId2">
                <a:alphaModFix/>
              </a:blip>
              <a:stretch>
                <a:fillRect b="0" l="-6583" r="-1881" t="-345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67" name="Google Shape;967;p95"/>
            <p:cNvSpPr txBox="1"/>
            <p:nvPr/>
          </p:nvSpPr>
          <p:spPr>
            <a:xfrm>
              <a:off x="3723409" y="2227876"/>
              <a:ext cx="1947917" cy="1939065"/>
            </a:xfrm>
            <a:prstGeom prst="rect">
              <a:avLst/>
            </a:prstGeom>
            <a:blipFill rotWithShape="1">
              <a:blip r:embed="rId3">
                <a:alphaModFix/>
              </a:blip>
              <a:stretch>
                <a:fillRect b="0" l="-6250" r="-1875" t="-345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grpSp>
      <p:sp>
        <p:nvSpPr>
          <p:cNvPr id="968" name="Google Shape;968;p95"/>
          <p:cNvSpPr txBox="1"/>
          <p:nvPr/>
        </p:nvSpPr>
        <p:spPr>
          <a:xfrm>
            <a:off x="484565" y="316034"/>
            <a:ext cx="4992599" cy="5121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Test Scores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41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34015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cxnSp>
        <p:nvCxnSpPr>
          <p:cNvPr id="991" name="Google Shape;991;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2" name="Google Shape;992;p98"/>
          <p:cNvSpPr txBox="1"/>
          <p:nvPr/>
        </p:nvSpPr>
        <p:spPr>
          <a:xfrm>
            <a:off x="484565" y="1215952"/>
            <a:ext cx="7634199" cy="9453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You can use equations and ratio reasoning to determine the percent of a number. </a:t>
            </a:r>
            <a:endParaRPr b="0" i="0" sz="1400" u="none" cap="none" strike="noStrike">
              <a:solidFill>
                <a:srgbClr val="000000"/>
              </a:solidFill>
              <a:latin typeface="Arial"/>
              <a:ea typeface="Arial"/>
              <a:cs typeface="Arial"/>
              <a:sym typeface="Arial"/>
            </a:endParaRPr>
          </a:p>
        </p:txBody>
      </p:sp>
      <p:sp>
        <p:nvSpPr>
          <p:cNvPr id="993" name="Google Shape;993;p98"/>
          <p:cNvSpPr txBox="1"/>
          <p:nvPr/>
        </p:nvSpPr>
        <p:spPr>
          <a:xfrm>
            <a:off x="484565" y="316034"/>
            <a:ext cx="6276453" cy="78275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Determine the Percent of a Number</a:t>
            </a:r>
            <a:endParaRPr b="0" i="0" sz="1400" u="none" cap="none" strike="noStrike">
              <a:solidFill>
                <a:srgbClr val="000000"/>
              </a:solidFill>
              <a:latin typeface="Arial"/>
              <a:ea typeface="Arial"/>
              <a:cs typeface="Arial"/>
              <a:sym typeface="Arial"/>
            </a:endParaRPr>
          </a:p>
        </p:txBody>
      </p:sp>
      <p:sp>
        <p:nvSpPr>
          <p:cNvPr id="994" name="Google Shape;994;p98"/>
          <p:cNvSpPr txBox="1"/>
          <p:nvPr/>
        </p:nvSpPr>
        <p:spPr>
          <a:xfrm>
            <a:off x="484565" y="2512291"/>
            <a:ext cx="3639470" cy="3676073"/>
          </a:xfrm>
          <a:prstGeom prst="rect">
            <a:avLst/>
          </a:prstGeom>
          <a:blipFill rotWithShape="1">
            <a:blip r:embed="rId3">
              <a:alphaModFix/>
            </a:blip>
            <a:stretch>
              <a:fillRect b="0" l="-3344" r="-1338" t="-165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5" name="Google Shape;995;p98"/>
          <p:cNvSpPr txBox="1"/>
          <p:nvPr/>
        </p:nvSpPr>
        <p:spPr>
          <a:xfrm>
            <a:off x="5061184" y="2380000"/>
            <a:ext cx="4443034" cy="36760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 xml:space="preserve">Ratio Reasoning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What percent of 20 is 16?</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5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50000"/>
              </a:lnSpc>
              <a:spcBef>
                <a:spcPts val="12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16 is 80% of 20.  </a:t>
            </a:r>
            <a:endParaRPr b="0" i="0" sz="1400" u="none" cap="none" strike="noStrike">
              <a:solidFill>
                <a:srgbClr val="000000"/>
              </a:solidFill>
              <a:latin typeface="Arial"/>
              <a:ea typeface="Arial"/>
              <a:cs typeface="Arial"/>
              <a:sym typeface="Arial"/>
            </a:endParaRPr>
          </a:p>
        </p:txBody>
      </p:sp>
      <p:pic>
        <p:nvPicPr>
          <p:cNvPr id="996" name="Google Shape;996;p98"/>
          <p:cNvPicPr preferRelativeResize="0"/>
          <p:nvPr/>
        </p:nvPicPr>
        <p:blipFill rotWithShape="1">
          <a:blip r:embed="rId4">
            <a:alphaModFix/>
          </a:blip>
          <a:srcRect b="0" l="0" r="0" t="0"/>
          <a:stretch/>
        </p:blipFill>
        <p:spPr>
          <a:xfrm>
            <a:off x="5200840" y="4068782"/>
            <a:ext cx="4560103" cy="1707116"/>
          </a:xfrm>
          <a:prstGeom prst="rect">
            <a:avLst/>
          </a:prstGeom>
          <a:noFill/>
          <a:ln>
            <a:noFill/>
          </a:ln>
        </p:spPr>
      </p:pic>
      <p:sp>
        <p:nvSpPr>
          <p:cNvPr id="99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42 / 44</a:t>
            </a:r>
          </a:p>
        </p:txBody>
      </p:sp>
      <p:sp>
        <p:nvSpPr>
          <p:cNvPr id="99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cxnSp>
        <p:nvCxnSpPr>
          <p:cNvPr id="1001" name="Google Shape;1001;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2" name="Google Shape;1002;p99"/>
          <p:cNvSpPr txBox="1"/>
          <p:nvPr/>
        </p:nvSpPr>
        <p:spPr>
          <a:xfrm>
            <a:off x="484565" y="927529"/>
            <a:ext cx="7022364" cy="54547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Students were asked which night of the book fair they planned to attend. The results of the survey are shown. Twenty percent of the students who planned to attend on Wednesday attended on Thursday instead. Twenty-five percent of the students who planned to attend on Thursday attended on Friday instead.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xml:space="preserve"> Which day, Thursday or Friday, had a greater actual attendance? How many more students attended that day?</a:t>
            </a:r>
            <a:endParaRPr b="0" i="0" sz="1400" u="none" cap="none" strike="noStrike">
              <a:solidFill>
                <a:srgbClr val="000000"/>
              </a:solidFill>
              <a:latin typeface="Arial"/>
              <a:ea typeface="Arial"/>
              <a:cs typeface="Arial"/>
              <a:sym typeface="Arial"/>
            </a:endParaRPr>
          </a:p>
        </p:txBody>
      </p:sp>
      <p:sp>
        <p:nvSpPr>
          <p:cNvPr id="1003" name="Google Shape;1003;p99"/>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Book Fair​</a:t>
            </a:r>
            <a:endParaRPr b="0" i="0" sz="1400" u="none" cap="none" strike="noStrike">
              <a:solidFill>
                <a:srgbClr val="000000"/>
              </a:solidFill>
              <a:latin typeface="Arial"/>
              <a:ea typeface="Arial"/>
              <a:cs typeface="Arial"/>
              <a:sym typeface="Arial"/>
            </a:endParaRPr>
          </a:p>
        </p:txBody>
      </p:sp>
      <p:pic>
        <p:nvPicPr>
          <p:cNvPr id="1004" name="Google Shape;1004;p99"/>
          <p:cNvPicPr preferRelativeResize="0"/>
          <p:nvPr/>
        </p:nvPicPr>
        <p:blipFill rotWithShape="1">
          <a:blip r:embed="rId3">
            <a:alphaModFix/>
          </a:blip>
          <a:srcRect b="0" l="0" r="0" t="0"/>
          <a:stretch/>
        </p:blipFill>
        <p:spPr>
          <a:xfrm>
            <a:off x="7374193" y="1294489"/>
            <a:ext cx="4470412" cy="4635982"/>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43 / 44</a:t>
            </a:r>
          </a:p>
        </p:txBody>
      </p:sp>
      <p:sp>
        <p:nvSpPr>
          <p:cNvPr id="90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4.4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Identify part, whole and percent.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16 / 44</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19 / 44</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30 / 44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37 / 44</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4.4 — Find and Compare with Percentages</dc:title>
  <dc:creator>Neft Teacher</dc:creator>
  <cp:lastModifiedBy>Neft Teacher</cp:lastModifiedBy>
  <dcterms:created xsi:type="dcterms:W3CDTF">2026-09-30T12:04:43Z</dcterms:created>
  <dcterms:modified xsi:type="dcterms:W3CDTF">2026-09-30T12:04:43Z</dcterms:modified>
</cp:coreProperties>
</file>