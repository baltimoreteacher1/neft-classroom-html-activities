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5" r:id="rId5"/>
    <p:sldMasterId id="2147483686" r:id="rId6"/>
    <p:sldMasterId id="2147483687" r:id="rId7"/>
    <p:sldMasterId id="2147483688" r:id="rId8"/>
  </p:sldMasterIdLst>
  <p:notesMasterIdLst>
    <p:notesMasterId r:id="rId9"/>
  </p:notesMasterIdLst>
  <p:sldIdLst>
    <p:sldId id="259" r:id="rId13"/>
    <p:sldId id="269" r:id="rId23"/>
    <p:sldId id="270" r:id="rId24"/>
    <p:sldId id="256" r:id="rId10"/>
    <p:sldId id="257" r:id="rId11"/>
    <p:sldId id="260" r:id="rId14"/>
    <p:sldId id="336" r:id="rId77"/>
    <p:sldId id="335" r:id="rId34"/>
    <p:sldId id="334" r:id="rId55"/>
    <p:sldId id="333" r:id="rId54"/>
    <p:sldId id="332" r:id="rId53"/>
    <p:sldId id="331" r:id="rId52"/>
    <p:sldId id="330" r:id="rId36"/>
    <p:sldId id="329" r:id="rId39"/>
    <p:sldId id="261" r:id="rId15"/>
    <p:sldId id="272" r:id="rId26"/>
    <p:sldId id="275" r:id="rId29"/>
    <p:sldId id="340" r:id="rId81"/>
    <p:sldId id="277" r:id="rId31"/>
    <p:sldId id="279" r:id="rId33"/>
    <p:sldId id="281" r:id="rId35"/>
    <p:sldId id="283" r:id="rId37"/>
    <p:sldId id="284" r:id="rId38"/>
    <p:sldId id="288" r:id="rId42"/>
    <p:sldId id="289" r:id="rId43"/>
    <p:sldId id="293" r:id="rId47"/>
    <p:sldId id="295" r:id="rId49"/>
    <p:sldId id="341" r:id="rId82"/>
    <p:sldId id="337" r:id="rId78"/>
    <p:sldId id="296" r:id="rId50"/>
    <p:sldId id="328" r:id="rId40"/>
    <p:sldId id="342" r:id="rId83"/>
    <p:sldId id="327" r:id="rId48"/>
    <p:sldId id="321" r:id="rId75"/>
    <p:sldId id="343" r:id="rId84"/>
    <p:sldId id="322" r:id="rId76"/>
    <p:sldId id="297" r:id="rId51"/>
    <p:sldId id="302" r:id="rId56"/>
    <p:sldId id="304" r:id="rId58"/>
    <p:sldId id="306" r:id="rId60"/>
    <p:sldId id="344" r:id="rId85"/>
    <p:sldId id="310" r:id="rId64"/>
    <p:sldId id="312" r:id="rId66"/>
    <p:sldId id="313" r:id="rId67"/>
    <p:sldId id="315" r:id="rId69"/>
    <p:sldId id="316" r:id="rId70"/>
    <p:sldId id="345" r:id="rId86"/>
    <p:sldId id="317" r:id="rId71"/>
    <p:sldId id="338" r:id="rId79"/>
    <p:sldId id="326" r:id="rId41"/>
    <p:sldId id="325" r:id="rId46"/>
    <p:sldId id="346" r:id="rId87"/>
    <p:sldId id="318" r:id="rId72"/>
    <p:sldId id="319" r:id="rId73"/>
    <p:sldId id="320" r:id="rId74"/>
    <p:sldId id="324" r:id="rId45"/>
    <p:sldId id="323" r:id="rId44"/>
    <p:sldId id="339" r:id="rId80"/>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E32E78A-8AD9-46CB-9B68-67F8A78ED04B}">
  <a:tblStyle styleId="{2E32E78A-8AD9-46CB-9B68-67F8A78ED04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5.xml"/><Relationship Id="rId23" Type="http://schemas.openxmlformats.org/officeDocument/2006/relationships/slide" Target="slides/slide2.xml"/><Relationship Id="rId24" Type="http://schemas.openxmlformats.org/officeDocument/2006/relationships/slide" Target="slides/slide3.xml"/><Relationship Id="rId26" Type="http://schemas.openxmlformats.org/officeDocument/2006/relationships/slide" Target="slides/slide16.xml"/><Relationship Id="rId29" Type="http://schemas.openxmlformats.org/officeDocument/2006/relationships/slide" Target="slides/slide17.xml"/><Relationship Id="rId31"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8.xml"/><Relationship Id="rId35" Type="http://schemas.openxmlformats.org/officeDocument/2006/relationships/slide" Target="slides/slide20.xml"/><Relationship Id="rId36" Type="http://schemas.openxmlformats.org/officeDocument/2006/relationships/slide" Target="slides/slide13.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14.xml"/><Relationship Id="rId40" Type="http://schemas.openxmlformats.org/officeDocument/2006/relationships/slide" Target="slides/slide29.xml"/><Relationship Id="rId41" Type="http://schemas.openxmlformats.org/officeDocument/2006/relationships/slide" Target="slides/slide44.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50.xml"/><Relationship Id="rId45" Type="http://schemas.openxmlformats.org/officeDocument/2006/relationships/slide" Target="slides/slide49.xml"/><Relationship Id="rId46" Type="http://schemas.openxmlformats.org/officeDocument/2006/relationships/slide" Target="slides/slide45.xml"/><Relationship Id="rId47" Type="http://schemas.openxmlformats.org/officeDocument/2006/relationships/slide" Target="slides/slide25.xml"/><Relationship Id="rId48" Type="http://schemas.openxmlformats.org/officeDocument/2006/relationships/slide" Target="slides/slide30.xml"/><Relationship Id="rId49" Type="http://schemas.openxmlformats.org/officeDocument/2006/relationships/slide" Target="slides/slide26.xml"/><Relationship Id="rId50" Type="http://schemas.openxmlformats.org/officeDocument/2006/relationships/slide" Target="slides/slide28.xml"/><Relationship Id="rId51" Type="http://schemas.openxmlformats.org/officeDocument/2006/relationships/slide" Target="slides/slide33.xml"/><Relationship Id="rId52" Type="http://schemas.openxmlformats.org/officeDocument/2006/relationships/slide" Target="slides/slide12.xml"/><Relationship Id="rId53" Type="http://schemas.openxmlformats.org/officeDocument/2006/relationships/slide" Target="slides/slide11.xml"/><Relationship Id="rId54" Type="http://schemas.openxmlformats.org/officeDocument/2006/relationships/slide" Target="slides/slide10.xml"/><Relationship Id="rId55" Type="http://schemas.openxmlformats.org/officeDocument/2006/relationships/slide" Target="slides/slide9.xml"/><Relationship Id="rId56" Type="http://schemas.openxmlformats.org/officeDocument/2006/relationships/slide" Target="slides/slide34.xml"/><Relationship Id="rId58" Type="http://schemas.openxmlformats.org/officeDocument/2006/relationships/slide" Target="slides/slide35.xml"/><Relationship Id="rId60" Type="http://schemas.openxmlformats.org/officeDocument/2006/relationships/slide" Target="slides/slide36.xml"/><Relationship Id="rId64" Type="http://schemas.openxmlformats.org/officeDocument/2006/relationships/slide" Target="slides/slide37.xml"/><Relationship Id="rId66" Type="http://schemas.openxmlformats.org/officeDocument/2006/relationships/slide" Target="slides/slide38.xml"/><Relationship Id="rId67" Type="http://schemas.openxmlformats.org/officeDocument/2006/relationships/slide" Target="slides/slide39.xml"/><Relationship Id="rId69" Type="http://schemas.openxmlformats.org/officeDocument/2006/relationships/slide" Target="slides/slide40.xml"/><Relationship Id="rId70" Type="http://schemas.openxmlformats.org/officeDocument/2006/relationships/slide" Target="slides/slide41.xml"/><Relationship Id="rId71" Type="http://schemas.openxmlformats.org/officeDocument/2006/relationships/slide" Target="slides/slide42.xml"/><Relationship Id="rId72" Type="http://schemas.openxmlformats.org/officeDocument/2006/relationships/slide" Target="slides/slide46.xml"/><Relationship Id="rId73" Type="http://schemas.openxmlformats.org/officeDocument/2006/relationships/slide" Target="slides/slide47.xml"/><Relationship Id="rId74" Type="http://schemas.openxmlformats.org/officeDocument/2006/relationships/slide" Target="slides/slide48.xml"/><Relationship Id="rId75" Type="http://schemas.openxmlformats.org/officeDocument/2006/relationships/slide" Target="slides/slide31.xml"/><Relationship Id="rId76" Type="http://schemas.openxmlformats.org/officeDocument/2006/relationships/slide" Target="slides/slide32.xml"/><Relationship Id="rId77" Type="http://schemas.openxmlformats.org/officeDocument/2006/relationships/slide" Target="slides/slide7.xml"/><Relationship Id="rId78" Type="http://schemas.openxmlformats.org/officeDocument/2006/relationships/slide" Target="slides/slide27.xml"/><Relationship Id="rId79" Type="http://schemas.openxmlformats.org/officeDocument/2006/relationships/slide" Target="slides/slide43.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4 | DIVIDER</a:t>
            </a:r>
          </a:p>
          <a:p xmlns:a="http://schemas.openxmlformats.org/drawingml/2006/main">
            <a:pPr>
              <a:buNone/>
            </a:pPr>
            <a:r>
              <a:rPr lang="en-US" sz="1100"/>
              <a:t>Focus on the existing task: Understand Inequalities and Their Solutions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7" name="Google Shape;237;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5 | TASK</a:t>
            </a:r>
          </a:p>
          <a:p xmlns:a="http://schemas.openxmlformats.org/drawingml/2006/main">
            <a:pPr>
              <a:buNone/>
            </a:pPr>
            <a:r>
              <a:rPr lang="en-US" sz="1100"/>
              <a:t>Focus on the existing task: This or That Would you rather have THIS or THAT hours of chores?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44" name="Google Shape;244;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1 | WARMUP</a:t>
            </a:r>
          </a:p>
          <a:p xmlns:a="http://schemas.openxmlformats.org/drawingml/2006/main">
            <a:pPr>
              <a:buNone/>
            </a:pPr>
            <a:r>
              <a:rPr lang="en-US" sz="1100"/>
              <a:t>Focus on the existing task: ______ QUESTION 2 x ≥ 3. Open circle or closed circle?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left   2) closed   3) no   4) 10</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choose an open or closed endpoint; shade the correct direction; test boundary and other values. Review recent work and today’s warm-up to choose flexible groups and access supports; do not infer needs from identity or perceived ability. Use the existing lesson tasks and stated standards.</a:t>
            </a:r>
          </a:p>
          <a:p>
            <a:pPr>
              <a:buNone/>
            </a:pPr>
            <a:r>
              <a:rPr lang="en-US" sz="1100"/>
              <a:t>Anticipate: including a strict boundary or shading toward nonsolutions. If observed, substitute the original boundary and a value on each side before graphing.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63" name="Google Shape;263;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6 | GOAL</a:t>
            </a:r>
          </a:p>
          <a:p xmlns:a="http://schemas.openxmlformats.org/drawingml/2006/main">
            <a:pPr>
              <a:buNone/>
            </a:pPr>
            <a:r>
              <a:rPr lang="en-US" sz="1100"/>
              <a:t>Focus on the existing task: Today’s Objectives Understand Inequalities and…</a:t>
            </a:r>
          </a:p>
          <a:p xmlns:a="http://schemas.openxmlformats.org/drawingml/2006/main">
            <a:pPr>
              <a:buNone/>
            </a:pPr>
            <a:r>
              <a:rPr lang="en-US" sz="1100"/>
              <a:t>CONNECT (T1/4): Ask students to restate the displayed goal or key idea and connect it to earlier work. Relevant lesson evidence: choose an open or closed endpoint; shade the correct direction; test boundary and other values.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choose an open or closed endpoint; shade the correct direction; test boundary and other values. Ask: “Which part of your work would show this?” Revisit that evidence after the task; a confidence rating alone is not evidence of understanding.</a:t>
            </a:r>
          </a:p>
        </p:txBody>
      </p:sp>
      <p:sp>
        <p:nvSpPr>
          <p:cNvPr id="339" name="Google Shape;339;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15 | VOCAB</a:t>
            </a:r>
          </a:p>
          <a:p xmlns:a="http://schemas.openxmlformats.org/drawingml/2006/main">
            <a:pPr>
              <a:buNone/>
            </a:pPr>
            <a:r>
              <a:rPr lang="en-US" sz="1100"/>
              <a:t>Focus on the existing task: Vocabulary Today’s Math Words We learn every…</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61" name="Google Shape;361;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2 | NOTES</a:t>
            </a:r>
          </a:p>
          <a:p xmlns:a="http://schemas.openxmlformats.org/drawingml/2006/main">
            <a:pPr>
              <a:buNone/>
            </a:pPr>
            <a:r>
              <a:rPr lang="en-US" sz="1100"/>
              <a:t>Focus on the existing task: Today’s Math Notes Section 1: Math Words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27" name="Google Shape;527;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3 | NOTES</a:t>
            </a:r>
          </a:p>
          <a:p xmlns:a="http://schemas.openxmlformats.org/drawingml/2006/main">
            <a:pPr>
              <a:buNone/>
            </a:pPr>
            <a:r>
              <a:rPr lang="en-US" sz="1100"/>
              <a:t>Focus on the existing task: Today’s Math Notes Section 2: Today’s Math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55" name="Google Shape;555;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16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89" name="Google Shape;589;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17 | REVEAL</a:t>
            </a:r>
          </a:p>
          <a:p xmlns:a="http://schemas.openxmlformats.org/drawingml/2006/main">
            <a:pPr>
              <a:buNone/>
            </a:pPr>
            <a:r>
              <a:rPr lang="en-US" sz="1100"/>
              <a:t>Focus on the existing task: What constraint exists on the elevations of landforms on Earth?</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All landforms have an elevation of 8,849 meters or less.</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test values verify the endpoint and shaded direction of your graph?” Wait for evidence, invite another pathway, and have a student ask a follow-up question. Do not replace students’ reasoning with a sequence of leading steps.</a:t>
            </a:r>
          </a:p>
        </p:txBody>
      </p:sp>
      <p:sp>
        <p:nvSpPr>
          <p:cNvPr id="618" name="Google Shape;618;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18 | REVEAL</a:t>
            </a:r>
          </a:p>
          <a:p xmlns:a="http://schemas.openxmlformats.org/drawingml/2006/main">
            <a:pPr>
              <a:buNone/>
            </a:pPr>
            <a:r>
              <a:rPr lang="en-US" sz="1100"/>
              <a:t>Focus on the existing task: Reveal: I can plot possible elevations of landforms to analyze what elevations satisfy the constraint. Elevation All landforms have an…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 can plot possible elevations of landforms to analyze what elevations satisfy the constraint.</a:t>
            </a:r>
          </a:p>
          <a:p>
            <a:pPr indent="0" lvl="0" marL="0" rtl="0" algn="l">
              <a:lnSpc>
                <a:spcPct val="100000"/>
              </a:lnSpc>
              <a:spcBef>
                <a:spcPts val="0"/>
              </a:spcBef>
              <a:spcAft>
                <a:spcPts val="0"/>
              </a:spcAft>
              <a:buSzPts val="1400"/>
              <a:buNone/>
            </a:pPr>
            <a:r>
              <a:t>UIFR: TEACH 3 · TEACH 4.</a:t>
            </a:r>
          </a:p>
        </p:txBody>
      </p:sp>
      <p:sp>
        <p:nvSpPr>
          <p:cNvPr id="636" name="Google Shape;636;p2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19 | COLLABORATE</a:t>
            </a:r>
          </a:p>
          <a:p xmlns:a="http://schemas.openxmlformats.org/drawingml/2006/main">
            <a:pPr>
              <a:buNone/>
            </a:pPr>
            <a:r>
              <a:rPr lang="en-US" sz="1100"/>
              <a:t>Focus on the existing task: Collaborate and Connect All landforms have an elevation of 8,849 meters or less. How can you use the number line to plot possible elevations of landforms?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including a strict boundary or shading toward nonsolutions. If it appears, substitute the original boundary and a value on each side before graphing; then ask the student to revise the same response and explain the change. If evidence is secure, have students compare a second valid pathway or state why their approach works. Choose the next step from the responses, not a preset pace.</a:t>
            </a:r>
          </a:p>
        </p:txBody>
      </p:sp>
      <p:sp>
        <p:nvSpPr>
          <p:cNvPr id="657" name="Google Shape;657;p24: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20 | REVEAL</a:t>
            </a:r>
          </a:p>
          <a:p xmlns:a="http://schemas.openxmlformats.org/drawingml/2006/main">
            <a:pPr>
              <a:buNone/>
            </a:pPr>
            <a:r>
              <a:rPr lang="en-US" sz="1100"/>
              <a:t>Focus on the existing task: Reveal: We can write an inequality to represent the elevations. Elevation All landforms have an elevation of 8,849 meters or less.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write an inequality to represent the elevations.</a:t>
            </a:r>
          </a:p>
          <a:p>
            <a:pPr indent="0" lvl="0" marL="0" rtl="0" algn="l">
              <a:lnSpc>
                <a:spcPct val="100000"/>
              </a:lnSpc>
              <a:spcBef>
                <a:spcPts val="0"/>
              </a:spcBef>
              <a:spcAft>
                <a:spcPts val="0"/>
              </a:spcAft>
              <a:buSzPts val="1400"/>
              <a:buNone/>
            </a:pPr>
            <a:r>
              <a:t>UIFR: TEACH 3 · TEACH 4.</a:t>
            </a:r>
          </a:p>
        </p:txBody>
      </p:sp>
      <p:sp>
        <p:nvSpPr>
          <p:cNvPr id="677" name="Google Shape;677;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21 | REVEAL</a:t>
            </a:r>
          </a:p>
          <a:p xmlns:a="http://schemas.openxmlformats.org/drawingml/2006/main">
            <a:pPr>
              <a:buNone/>
            </a:pPr>
            <a:r>
              <a:rPr lang="en-US" sz="1100"/>
              <a:t>Focus on the existing task: Reveal: Yes, because the inequality symbol represents less than or equal to, and the highest elevation is equal to 8,849. Elevation…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Yes, because the inequality symbol represents less than or equal to, and the highest elevation is equal to 8,849.</a:t>
            </a:r>
          </a:p>
          <a:p>
            <a:pPr indent="0" lvl="0" marL="0" rtl="0" algn="l">
              <a:lnSpc>
                <a:spcPct val="100000"/>
              </a:lnSpc>
              <a:spcBef>
                <a:spcPts val="0"/>
              </a:spcBef>
              <a:spcAft>
                <a:spcPts val="0"/>
              </a:spcAft>
              <a:buSzPts val="1400"/>
              <a:buNone/>
            </a:pPr>
            <a:r>
              <a:t>UIFR: TEACH 3 · TEACH 4.</a:t>
            </a:r>
          </a:p>
        </p:txBody>
      </p:sp>
      <p:sp>
        <p:nvSpPr>
          <p:cNvPr id="698" name="Google Shape;698;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22 | WORKED</a:t>
            </a:r>
          </a:p>
          <a:p xmlns:a="http://schemas.openxmlformats.org/drawingml/2006/main">
            <a:pPr>
              <a:buNone/>
            </a:pPr>
            <a:r>
              <a:rPr lang="en-US" sz="1100"/>
              <a:t>Focus on the existing task: Elevation Because the inequality symbol represents less than or equal to, the elevation of the peak of Mount Everest, 8,849 meters…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09" name="Google Shape;709;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23 | REVEAL</a:t>
            </a:r>
          </a:p>
          <a:p xmlns:a="http://schemas.openxmlformats.org/drawingml/2006/main">
            <a:pPr>
              <a:buNone/>
            </a:pPr>
            <a:r>
              <a:rPr lang="en-US" sz="1100"/>
              <a:t>Focus on the existing task: Elevation Reveal: We would need to plot a point at every value that is less than, or to the left of, 8,849. What points would you need to plot to represent every other possible elevation?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test boundary and other values.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would need to plot a point at every value that is less than, or to the left of, 8,849.</a:t>
            </a:r>
          </a:p>
          <a:p>
            <a:pPr indent="0" lvl="0" marL="0" rtl="0" algn="l">
              <a:lnSpc>
                <a:spcPct val="100000"/>
              </a:lnSpc>
              <a:spcBef>
                <a:spcPts val="0"/>
              </a:spcBef>
              <a:spcAft>
                <a:spcPts val="0"/>
              </a:spcAft>
              <a:buSzPts val="1400"/>
              <a:buNone/>
            </a:pPr>
            <a:r>
              <a:t>UIFR: TEACH 3 · TEACH 4.</a:t>
            </a:r>
          </a:p>
        </p:txBody>
      </p:sp>
      <p:sp>
        <p:nvSpPr>
          <p:cNvPr id="746" name="Google Shape;746;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24 | WORKED</a:t>
            </a:r>
          </a:p>
          <a:p xmlns:a="http://schemas.openxmlformats.org/drawingml/2006/main">
            <a:pPr>
              <a:buNone/>
            </a:pPr>
            <a:r>
              <a:rPr lang="en-US" sz="1100"/>
              <a:t>Focus on the existing task: Elevation Every value less than 8,849 is a solution of the inequality. Rather than plotting a point for every possible solution, we can…</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55" name="Google Shape;755;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25 | TASK</a:t>
            </a:r>
          </a:p>
          <a:p xmlns:a="http://schemas.openxmlformats.org/drawingml/2006/main">
            <a:pPr>
              <a:buNone/>
            </a:pPr>
            <a:r>
              <a:rPr lang="en-US" sz="1100"/>
              <a:t>Focus on the existing task: Elevation Justifying How can you use mathematics to justify your strategy?</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test boundary and other values.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93" name="Google Shape;793;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26 | PRACTICE</a:t>
            </a:r>
          </a:p>
          <a:p xmlns:a="http://schemas.openxmlformats.org/drawingml/2006/main">
            <a:pPr>
              <a:buNone/>
            </a:pPr>
            <a:r>
              <a:rPr lang="en-US" sz="1100"/>
              <a:t>Focus on the existing task: Let’s Explore More Is it possible for a landform to have an elevation of 8,850 meters?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16" name="Google Shape;816;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28 | PRACTICE</a:t>
            </a:r>
          </a:p>
          <a:p xmlns:a="http://schemas.openxmlformats.org/drawingml/2006/main">
            <a:pPr>
              <a:buNone/>
            </a:pPr>
            <a:r>
              <a:rPr lang="en-US" sz="1100"/>
              <a:t>Focus on the existing task: Let’s Explore More Workspace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26" name="Google Shape;826;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33 | DIVIDER</a:t>
            </a:r>
          </a:p>
          <a:p xmlns:a="http://schemas.openxmlformats.org/drawingml/2006/main">
            <a:pPr>
              <a:buNone/>
            </a:pPr>
            <a:r>
              <a:rPr lang="en-US" sz="1100"/>
              <a:t>Focus on the existing task: Understand Inequalities and Their Solutions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35" name="Google Shape;835;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34 | REVEAL</a:t>
            </a:r>
          </a:p>
          <a:p xmlns:a="http://schemas.openxmlformats.org/drawingml/2006/main">
            <a:pPr>
              <a:buNone/>
            </a:pPr>
            <a:r>
              <a:rPr lang="en-US" sz="1100"/>
              <a:t>Focus on the existing task: What constraint, or limitation, exists in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Wind gusts must be over 200 miles per hour to be classified as an EF-5 tornado. We can represent this with an inequality.</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test values verify the endpoint and shaded direction of your graph?” Wait for evidence, invite another pathway, and have a student ask a follow-up question. Do not replace students’ reasoning with a sequence of leading steps.</a:t>
            </a:r>
          </a:p>
        </p:txBody>
      </p:sp>
      <p:sp>
        <p:nvSpPr>
          <p:cNvPr id="886" name="Google Shape;886;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35 | REVEAL</a:t>
            </a:r>
          </a:p>
          <a:p xmlns:a="http://schemas.openxmlformats.org/drawingml/2006/main">
            <a:pPr>
              <a:buNone/>
            </a:pPr>
            <a:r>
              <a:rPr lang="en-US" sz="1100"/>
              <a:t>Focus on the existing task: Tornado Intensity Reveal: If the value satisfies the inequality, then it is a solution. How do you know whether a value is a solution of the inequality?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If the value satisfies the inequality, then it is a solution.</a:t>
            </a:r>
          </a:p>
          <a:p>
            <a:pPr indent="0" lvl="0" marL="0" rtl="0" algn="l">
              <a:lnSpc>
                <a:spcPct val="100000"/>
              </a:lnSpc>
              <a:spcBef>
                <a:spcPts val="0"/>
              </a:spcBef>
              <a:spcAft>
                <a:spcPts val="0"/>
              </a:spcAft>
              <a:buSzPts val="1400"/>
              <a:buNone/>
            </a:pPr>
            <a:r>
              <a:t>UIFR: TEACH 3 · TEACH 4.</a:t>
            </a:r>
          </a:p>
        </p:txBody>
      </p:sp>
      <p:sp>
        <p:nvSpPr>
          <p:cNvPr id="907" name="Google Shape;907;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36 | REVEAL</a:t>
            </a:r>
          </a:p>
          <a:p xmlns:a="http://schemas.openxmlformats.org/drawingml/2006/main">
            <a:pPr>
              <a:buNone/>
            </a:pPr>
            <a:r>
              <a:rPr lang="en-US" sz="1100"/>
              <a:t>Focus on the existing task: Tornado Intensity Reveal: Values less than or equal to 200 are not solutions of the inequality. Values greater than 200 are solutions. What can you say about values less than 200?</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test boundary and other values.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Values less than or equal to 200 are not solutions of the inequality. Values greater than 200 are solutions.</a:t>
            </a:r>
          </a:p>
          <a:p>
            <a:pPr indent="0" lvl="0" marL="0" rtl="0" algn="l">
              <a:lnSpc>
                <a:spcPct val="100000"/>
              </a:lnSpc>
              <a:spcBef>
                <a:spcPts val="0"/>
              </a:spcBef>
              <a:spcAft>
                <a:spcPts val="0"/>
              </a:spcAft>
              <a:buSzPts val="1400"/>
              <a:buNone/>
            </a:pPr>
            <a:r>
              <a:t>UIFR: TEACH 3 · TEACH 4.</a:t>
            </a:r>
          </a:p>
        </p:txBody>
      </p:sp>
      <p:sp>
        <p:nvSpPr>
          <p:cNvPr id="929" name="Google Shape;929;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3" name="Google Shape;973;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37 | REVEAL</a:t>
            </a:r>
          </a:p>
          <a:p xmlns:a="http://schemas.openxmlformats.org/drawingml/2006/main">
            <a:pPr>
              <a:buNone/>
            </a:pPr>
            <a:r>
              <a:rPr lang="en-US" sz="1100"/>
              <a:t>Focus on the existing task: Reveal: We can use a number line to represent the inequality. Tornado Intensity How can you visually represent the solutions of the inequality?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test boundary and other values.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a number line to represent the inequality.</a:t>
            </a:r>
          </a:p>
          <a:p>
            <a:pPr indent="0" lvl="0" marL="0" rtl="0" algn="l">
              <a:lnSpc>
                <a:spcPct val="100000"/>
              </a:lnSpc>
              <a:spcBef>
                <a:spcPts val="0"/>
              </a:spcBef>
              <a:spcAft>
                <a:spcPts val="0"/>
              </a:spcAft>
              <a:buSzPts val="1400"/>
              <a:buNone/>
            </a:pPr>
            <a:r>
              <a:t>UIFR: TEACH 3 · TEACH 4.</a:t>
            </a:r>
          </a:p>
        </p:txBody>
      </p:sp>
      <p:sp>
        <p:nvSpPr>
          <p:cNvPr id="974" name="Google Shape;974;p55: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7" name="Google Shape;997;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38 | COLLABORATE</a:t>
            </a:r>
          </a:p>
          <a:p xmlns:a="http://schemas.openxmlformats.org/drawingml/2006/main">
            <a:pPr>
              <a:buNone/>
            </a:pPr>
            <a:r>
              <a:rPr lang="en-US" sz="1100"/>
              <a:t>Focus on the existing task: Collaborate and Connect Think About It: Should 200 be represented with a closed dot?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including a strict boundary or shading toward nonsolutions. If it appears, substitute the original boundary and a value on each side before graphing; then ask the student to revise the same response and explain the change. If evidence is secure, have students compare a second valid pathway or state why their approach works. Choose the next step from the responses, not a preset pace.</a:t>
            </a:r>
          </a:p>
        </p:txBody>
      </p:sp>
      <p:sp>
        <p:nvSpPr>
          <p:cNvPr id="998" name="Google Shape;998;p57: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39 | WORKED</a:t>
            </a:r>
          </a:p>
          <a:p xmlns:a="http://schemas.openxmlformats.org/drawingml/2006/main">
            <a:pPr>
              <a:buNone/>
            </a:pPr>
            <a:r>
              <a:rPr lang="en-US" sz="1100"/>
              <a:t>Focus on the existing task: Tornado Intensity We can represent the inequality on a number line. Because 200 is the lower limit, but is not a solution, use an open…</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1011" name="Google Shape;1011;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6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40 | TASK</a:t>
            </a:r>
          </a:p>
          <a:p xmlns:a="http://schemas.openxmlformats.org/drawingml/2006/main">
            <a:pPr>
              <a:buNone/>
            </a:pPr>
            <a:r>
              <a:rPr lang="en-US" sz="1100"/>
              <a:t>Focus on the existing task: How can you be sure you have understood the argument presented?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How can you be sure you have understood the argument presented?</a:t>
            </a:r>
          </a:p>
          <a:p>
            <a:pPr indent="0" lvl="0" marL="0" rtl="0" algn="l">
              <a:lnSpc>
                <a:spcPct val="100000"/>
              </a:lnSpc>
              <a:spcBef>
                <a:spcPts val="0"/>
              </a:spcBef>
              <a:spcAft>
                <a:spcPts val="0"/>
              </a:spcAft>
              <a:buSzPts val="1400"/>
              <a:buNone/>
            </a:pPr>
            <a:r>
              <a:t>UIFR: TEACH 1 · TEACH 3.</a:t>
            </a:r>
          </a:p>
        </p:txBody>
      </p:sp>
      <p:sp>
        <p:nvSpPr>
          <p:cNvPr id="1034" name="Google Shape;1034;p6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41 | PRACTICE</a:t>
            </a:r>
          </a:p>
          <a:p xmlns:a="http://schemas.openxmlformats.org/drawingml/2006/main">
            <a:pPr>
              <a:buNone/>
            </a:pPr>
            <a:r>
              <a:rPr lang="en-US" sz="1100"/>
              <a:t>Focus on the existing task: Let’s Explore More Does the number line make sense given what you know about wind gusts of 150 miles per hour, 200 miles per hour, and 225 miles per hour?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48" name="Google Shape;1048;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42 | PRACTICE</a:t>
            </a:r>
          </a:p>
          <a:p xmlns:a="http://schemas.openxmlformats.org/drawingml/2006/main">
            <a:pPr>
              <a:buNone/>
            </a:pPr>
            <a:r>
              <a:rPr lang="en-US" sz="1100"/>
              <a:t>Focus on the existing task: Let’s Explore More Why do you think an open dot indicates the value is not a solution?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61" name="Google Shape;1061;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46 | SUMMARIZE</a:t>
            </a:r>
          </a:p>
          <a:p xmlns:a="http://schemas.openxmlformats.org/drawingml/2006/main">
            <a:pPr>
              <a:buNone/>
            </a:pPr>
            <a:r>
              <a:rPr lang="en-US" sz="1100"/>
              <a:t>Focus on the existing task: Summarize: Understand Inequalities and Their Solutions You can represent an inequality on a number line or with a mathematical statement…</a:t>
            </a:r>
          </a:p>
          <a:p xmlns:a="http://schemas.openxmlformats.org/drawingml/2006/main">
            <a:pPr>
              <a:buNone/>
            </a:pPr>
            <a:r>
              <a:rPr lang="en-US" sz="1100"/>
              <a:t>CONNECT (T1/4): Ask students to restate the displayed goal or key idea and connect it to earlier work. Relevant lesson evidence: choose an open or closed endpoint; shade the correct direction; test boundary and other values.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70" name="Google Shape;1070;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6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47 | APPLY</a:t>
            </a:r>
          </a:p>
          <a:p xmlns:a="http://schemas.openxmlformats.org/drawingml/2006/main">
            <a:pPr>
              <a:buNone/>
            </a:pPr>
            <a:r>
              <a:rPr lang="en-US" sz="1100"/>
              <a:t>Focus on the existing task: Apply: Earning Money Yuzuki wants to earn enough money to go on a class trip that costs $750. The image shows different ways she can earn…</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choose an open or closed endpoint; shade the correct direction; test boundary and other values. Respond with one specific next step tied to the work. Students revise and annotate what changed, then identify a criterion they can now demonstrate and one they still need to practice.</a:t>
            </a:r>
          </a:p>
        </p:txBody>
      </p:sp>
      <p:sp>
        <p:nvSpPr>
          <p:cNvPr id="1082" name="Google Shape;1082;p6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6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8.5, slide 48 | REFLECTION</a:t>
            </a:r>
          </a:p>
          <a:p xmlns:a="http://schemas.openxmlformats.org/drawingml/2006/main">
            <a:pPr>
              <a:buNone/>
            </a:pPr>
            <a:r>
              <a:rPr lang="en-US" sz="1100"/>
              <a:t>Focus on the existing task: Learning Targets I can represent an inequality with an inequality statement or on a number line. I can find solutions of inequalities…</a:t>
            </a:r>
          </a:p>
          <a:p xmlns:a="http://schemas.openxmlformats.org/drawingml/2006/main">
            <a:pPr>
              <a:buNone/>
            </a:pPr>
            <a:r>
              <a:rPr lang="en-US" sz="1100"/>
              <a:t>CONNECT (T1/4): Ask students to restate the displayed goal or key idea and connect it to earlier work. Relevant lesson evidence: choose an open or closed endpoint; shade the correct direction; test boundary and other values.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091" name="Google Shape;1091;p6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8.5, slide 31 | WARMUP</a:t>
            </a:r>
          </a:p>
          <a:p xmlns:a="http://schemas.openxmlformats.org/drawingml/2006/main">
            <a:pPr>
              <a:buNone/>
            </a:pPr>
            <a:r>
              <a:rPr lang="en-US" sz="1100"/>
              <a:t>Focus on the existing task: Session 2 Warm-Up Session 2 Warm-Up Check what…</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choose an open or closed endpoint; shade the correct direction; test boundary and other values. Ask: “Which part of your work would show this?” Revisit that evidence after the task; a confidence rating alone is not evidence of understanding.</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8.5, slide 32 | NOTES</a:t>
            </a:r>
          </a:p>
          <a:p xmlns:a="http://schemas.openxmlformats.org/drawingml/2006/main">
            <a:pPr>
              <a:buNone/>
            </a:pPr>
            <a:r>
              <a:rPr lang="en-US" sz="1100"/>
              <a:t>Focus on the existing task: Today’s Math Notes Review Notes — Session 2…</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50 | REFLECTION</a:t>
            </a:r>
          </a:p>
          <a:p xmlns:a="http://schemas.openxmlformats.org/drawingml/2006/main">
            <a:pPr>
              <a:buNone/>
            </a:pPr>
            <a:r>
              <a:rPr lang="en-US" sz="1100"/>
              <a:t>Focus on the existing task: Learning Targets I can represent an inequality with an inequality statement or on a number line. I can find solutions of inequalities…</a:t>
            </a:r>
          </a:p>
          <a:p xmlns:a="http://schemas.openxmlformats.org/drawingml/2006/main">
            <a:pPr>
              <a:buNone/>
            </a:pPr>
            <a:r>
              <a:rPr lang="en-US" sz="1100"/>
              <a:t>CONNECT (T1/4): Ask students to restate the displayed goal or key idea and connect it to earlier work. Relevant lesson evidence: choose an open or closed endpoint; shade the correct direction; test boundary and other values.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including a strict boundary or shading toward nonsolutions.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substitute the original boundary and a value on each side before graphing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7 | PRIOR_INSERT</a:t>
            </a:r>
          </a:p>
          <a:p xmlns:a="http://schemas.openxmlformats.org/drawingml/2006/main">
            <a:pPr>
              <a:buNone/>
            </a:pPr>
            <a:r>
              <a:rPr lang="en-US" sz="1100"/>
              <a:t>Focus on the existing task: LESSON 8.5 / OUR LEARNING What will show your learning?</a:t>
            </a:r>
          </a:p>
          <a:p xmlns:a="http://schemas.openxmlformats.org/drawingml/2006/main">
            <a:pPr>
              <a:buNone/>
            </a:pPr>
            <a:r>
              <a:rPr lang="en-US" sz="1100"/>
              <a:t>CONNECT (T1/4): Ask students to restate the displayed goal or key idea and connect it to earlier work. Relevant lesson evidence: choose an open or closed endpoint; shade the correct direction; test boundary and other values.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8 | VOCAB</a:t>
            </a:r>
          </a:p>
          <a:p xmlns:a="http://schemas.openxmlformats.org/drawingml/2006/main">
            <a:pPr>
              <a:buNone/>
            </a:pPr>
            <a:r>
              <a:rPr lang="en-US" sz="1100"/>
              <a:t>Focus on the existing task: Vocabulary 1 of 7 Graph Inequalities Show…</a:t>
            </a:r>
          </a:p>
          <a:p xmlns:a="http://schemas.openxmlformats.org/drawingml/2006/main">
            <a:pPr>
              <a:buNone/>
            </a:pPr>
            <a:r>
              <a:rPr lang="en-US" sz="1100"/>
              <a:t>ASK (T1/3/5): Where does “Graph Inequalities”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9 | VOCAB</a:t>
            </a:r>
          </a:p>
          <a:p xmlns:a="http://schemas.openxmlformats.org/drawingml/2006/main">
            <a:pPr>
              <a:buNone/>
            </a:pPr>
            <a:r>
              <a:rPr lang="en-US" sz="1100"/>
              <a:t>Focus on the existing task: Vocabulary 2 of 7 Number line A straight line…</a:t>
            </a:r>
          </a:p>
          <a:p xmlns:a="http://schemas.openxmlformats.org/drawingml/2006/main">
            <a:pPr>
              <a:buNone/>
            </a:pPr>
            <a:r>
              <a:rPr lang="en-US" sz="1100"/>
              <a:t>ASK (T1/3/5): Where does “Number line”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10 | VOCAB</a:t>
            </a:r>
          </a:p>
          <a:p xmlns:a="http://schemas.openxmlformats.org/drawingml/2006/main">
            <a:pPr>
              <a:buNone/>
            </a:pPr>
            <a:r>
              <a:rPr lang="en-US" sz="1100"/>
              <a:t>Focus on the existing task: Vocabulary 3 of 7 Open circle An empty circle…</a:t>
            </a:r>
          </a:p>
          <a:p xmlns:a="http://schemas.openxmlformats.org/drawingml/2006/main">
            <a:pPr>
              <a:buNone/>
            </a:pPr>
            <a:r>
              <a:rPr lang="en-US" sz="1100"/>
              <a:t>ASK (T1/3/5): Where does “Open circle”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11 | VOCAB</a:t>
            </a:r>
          </a:p>
          <a:p xmlns:a="http://schemas.openxmlformats.org/drawingml/2006/main">
            <a:pPr>
              <a:buNone/>
            </a:pPr>
            <a:r>
              <a:rPr lang="en-US" sz="1100"/>
              <a:t>Focus on the existing task: Vocabulary 4 of 7 Closed circle A filled-in…</a:t>
            </a:r>
          </a:p>
          <a:p xmlns:a="http://schemas.openxmlformats.org/drawingml/2006/main">
            <a:pPr>
              <a:buNone/>
            </a:pPr>
            <a:r>
              <a:rPr lang="en-US" sz="1100"/>
              <a:t>ASK (T1/3/5): Where does “Closed circle”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12 | VOCAB</a:t>
            </a:r>
          </a:p>
          <a:p xmlns:a="http://schemas.openxmlformats.org/drawingml/2006/main">
            <a:pPr>
              <a:buNone/>
            </a:pPr>
            <a:r>
              <a:rPr lang="en-US" sz="1100"/>
              <a:t>Focus on the existing task: Vocabulary 5 of 7 Solution set All the numbers…</a:t>
            </a:r>
          </a:p>
          <a:p xmlns:a="http://schemas.openxmlformats.org/drawingml/2006/main">
            <a:pPr>
              <a:buNone/>
            </a:pPr>
            <a:r>
              <a:rPr lang="en-US" sz="1100"/>
              <a:t>ASK (T1/3/5): Where does “Solution set”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13 | VOCAB</a:t>
            </a:r>
          </a:p>
          <a:p xmlns:a="http://schemas.openxmlformats.org/drawingml/2006/main">
            <a:pPr>
              <a:buNone/>
            </a:pPr>
            <a:r>
              <a:rPr lang="en-US" sz="1100"/>
              <a:t>Focus on the existing task: Vocabulary 6 of 7 Inequality A math sentence…</a:t>
            </a:r>
          </a:p>
          <a:p xmlns:a="http://schemas.openxmlformats.org/drawingml/2006/main">
            <a:pPr>
              <a:buNone/>
            </a:pPr>
            <a:r>
              <a:rPr lang="en-US" sz="1100"/>
              <a:t>ASK (T1/3/5): Where does “Inequality”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14 | VOCAB</a:t>
            </a:r>
          </a:p>
          <a:p xmlns:a="http://schemas.openxmlformats.org/drawingml/2006/main">
            <a:pPr>
              <a:buNone/>
            </a:pPr>
            <a:r>
              <a:rPr lang="en-US" sz="1100"/>
              <a:t>Focus on the existing task: Vocabulary 7 of 7 Boundary point The number on…</a:t>
            </a:r>
          </a:p>
          <a:p xmlns:a="http://schemas.openxmlformats.org/drawingml/2006/main">
            <a:pPr>
              <a:buNone/>
            </a:pPr>
            <a:r>
              <a:rPr lang="en-US" sz="1100"/>
              <a:t>ASK (T1/3/5): Where does “Boundary point”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27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choose an open or closed endpoint; shade the correct direction; test boundary and other values.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29 | REVEAL</a:t>
            </a:r>
          </a:p>
          <a:p xmlns:a="http://schemas.openxmlformats.org/drawingml/2006/main">
            <a:pPr>
              <a:buNone/>
            </a:pPr>
            <a:r>
              <a:rPr lang="en-US" sz="1100"/>
              <a:t>Focus on the existing task: What constraint exists on the elevations of landforms on Earth?</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30 | REVEAL</a:t>
            </a:r>
          </a:p>
          <a:p xmlns:a="http://schemas.openxmlformats.org/drawingml/2006/main">
            <a:pPr>
              <a:buNone/>
            </a:pPr>
            <a:r>
              <a:rPr lang="en-US" sz="1100"/>
              <a:t>Focus on the existing task: Elevation Reveal: The arrow points left, and a value being to the left of 8,849 on a number line indicates that the value is less…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test boundary and other values.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43 | PRIOR_INSERT</a:t>
            </a:r>
          </a:p>
          <a:p xmlns:a="http://schemas.openxmlformats.org/drawingml/2006/main">
            <a:pPr>
              <a:buNone/>
            </a:pPr>
            <a:r>
              <a:rPr lang="en-US" sz="1100"/>
              <a:t>Focus on the existing task: LESSON 8.5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choose an open or closed endpoint; shade the correct direction; test boundary and other values.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44 | REVEAL</a:t>
            </a:r>
          </a:p>
          <a:p xmlns:a="http://schemas.openxmlformats.org/drawingml/2006/main">
            <a:pPr>
              <a:buNone/>
            </a:pPr>
            <a:r>
              <a:rPr lang="en-US" sz="1100"/>
              <a:t>Focus on the existing task: Tornado Intensity Reveal: If the value satisfies the inequality, then it is a solution. How do you know whether a value is a solution of the inequality?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45 | REVEAL</a:t>
            </a:r>
          </a:p>
          <a:p xmlns:a="http://schemas.openxmlformats.org/drawingml/2006/main">
            <a:pPr>
              <a:buNone/>
            </a:pPr>
            <a:r>
              <a:rPr lang="en-US" sz="1100"/>
              <a:t>Focus on the existing task: Tornado Intensity Reveal: Values less than or equal to 200 are not solutions of the inequality. Values greater than 200 are solutions. What can you say about values less than 200?</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test boundary and other values.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49 | CURIOUS</a:t>
            </a:r>
          </a:p>
          <a:p xmlns:a="http://schemas.openxmlformats.org/drawingml/2006/main">
            <a:pPr>
              <a:buNone/>
            </a:pPr>
            <a:r>
              <a:rPr lang="en-US" sz="1100"/>
              <a:t>Focus on the existing task: Be Curious Be Curious What’s the question?</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choose an open or closed endpoint. Ask which feature of their work supports the claim.</a:t>
            </a:r>
          </a:p>
          <a:p xmlns:a="http://schemas.openxmlformats.org/drawingml/2006/main">
            <a:pPr>
              <a:buNone/>
            </a:pPr>
            <a:r>
              <a:rPr lang="en-US" sz="1100"/>
              <a:t>RESPOND: If this task shows the lesson misconception—including a strict boundary or shading toward nonsolutions—substitute the original boundary and a value on each side before graphing.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8.5, slide 51 | PRIOR_INSERT</a:t>
            </a:r>
          </a:p>
          <a:p xmlns:a="http://schemas.openxmlformats.org/drawingml/2006/main">
            <a:pPr>
              <a:buNone/>
            </a:pPr>
            <a:r>
              <a:rPr lang="en-US" sz="1100"/>
              <a:t>Focus on the existing task: LESSON 8.5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choose an open or closed endpoint; shade the correct direction; test boundary and other values.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22" name="Shape 22"/>
        <p:cNvGrpSpPr/>
        <p:nvPr/>
      </p:nvGrpSpPr>
      <p:grpSpPr>
        <a:xfrm>
          <a:off x="0" y="0"/>
          <a:ext cx="0" cy="0"/>
          <a:chOff x="0" y="0"/>
          <a:chExt cx="0" cy="0"/>
        </a:xfrm>
      </p:grpSpPr>
      <p:sp>
        <p:nvSpPr>
          <p:cNvPr id="23" name="Google Shape;23;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5" name="Google Shape;25;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
        <p:nvSpPr>
          <p:cNvPr id="28" name="Google Shape;2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31" name="Shape 31"/>
        <p:cNvGrpSpPr/>
        <p:nvPr/>
      </p:nvGrpSpPr>
      <p:grpSpPr>
        <a:xfrm>
          <a:off x="0" y="0"/>
          <a:ext cx="0" cy="0"/>
          <a:chOff x="0" y="0"/>
          <a:chExt cx="0" cy="0"/>
        </a:xfrm>
      </p:grpSpPr>
      <p:sp>
        <p:nvSpPr>
          <p:cNvPr id="32" name="Google Shape;32;p7"/>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3" name="Google Shape;33;p7"/>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34" name="Google Shape;34;p7"/>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5" name="Shape 3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8" name="Google Shape;38;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 name="Google Shape;39;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0" name="Google Shape;40;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1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4" name="Google Shape;44;p1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5" name="Google Shape;45;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6" name="Google Shape;46;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7" name="Google Shape;47;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 name="Google Shape;50;p1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 name="Google Shape;51;p1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1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8" name="Google Shape;58;p1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9" name="Google Shape;59;p1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60" name="Google Shape;60;p1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1" name="Google Shape;61;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1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7" name="Google Shape;67;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8" name="Google Shape;68;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1" name="Google Shape;71;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2" name="Google Shape;72;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3" name="Google Shape;73;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4" name="Google Shape;74;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5" name="Google Shape;75;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8" name="Google Shape;78;p15"/>
          <p:cNvSpPr/>
          <p:nvPr>
            <p:ph idx="2" type="pic"/>
          </p:nvPr>
        </p:nvSpPr>
        <p:spPr>
          <a:xfrm>
            <a:off x="5183188" y="987425"/>
            <a:ext cx="6172200" cy="4873625"/>
          </a:xfrm>
          <a:prstGeom prst="rect">
            <a:avLst/>
          </a:prstGeom>
          <a:noFill/>
          <a:ln>
            <a:noFill/>
          </a:ln>
        </p:spPr>
      </p:sp>
      <p:sp>
        <p:nvSpPr>
          <p:cNvPr id="79" name="Google Shape;79;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80" name="Google Shape;80;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1" name="Google Shape;81;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1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5" name="Google Shape;85;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6" name="Google Shape;86;p1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7" name="Google Shape;87;p1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1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1" name="Google Shape;91;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2" name="Google Shape;92;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3" name="Google Shape;93;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4" name="Google Shape;94;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1" name="Shape 101"/>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2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4" name="Google Shape;104;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 name="Google Shape;105;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7" name="Google Shape;107;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8" name="Shape 108"/>
        <p:cNvGrpSpPr/>
        <p:nvPr/>
      </p:nvGrpSpPr>
      <p:grpSpPr>
        <a:xfrm>
          <a:off x="0" y="0"/>
          <a:ext cx="0" cy="0"/>
          <a:chOff x="0" y="0"/>
          <a:chExt cx="0" cy="0"/>
        </a:xfrm>
      </p:grpSpPr>
      <p:sp>
        <p:nvSpPr>
          <p:cNvPr id="109" name="Google Shape;109;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0" name="Google Shape;110;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1" name="Google Shape;111;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3" name="Google Shape;113;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4" name="Shape 114"/>
        <p:cNvGrpSpPr/>
        <p:nvPr/>
      </p:nvGrpSpPr>
      <p:grpSpPr>
        <a:xfrm>
          <a:off x="0" y="0"/>
          <a:ext cx="0" cy="0"/>
          <a:chOff x="0" y="0"/>
          <a:chExt cx="0" cy="0"/>
        </a:xfrm>
      </p:grpSpPr>
      <p:sp>
        <p:nvSpPr>
          <p:cNvPr id="115" name="Google Shape;115;p2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6" name="Google Shape;116;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8" name="Google Shape;118;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0" name="Google Shape;120;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1" name="Shape 121"/>
        <p:cNvGrpSpPr/>
        <p:nvPr/>
      </p:nvGrpSpPr>
      <p:grpSpPr>
        <a:xfrm>
          <a:off x="0" y="0"/>
          <a:ext cx="0" cy="0"/>
          <a:chOff x="0" y="0"/>
          <a:chExt cx="0" cy="0"/>
        </a:xfrm>
      </p:grpSpPr>
      <p:sp>
        <p:nvSpPr>
          <p:cNvPr id="122" name="Google Shape;122;p2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3" name="Google Shape;123;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4" name="Google Shape;124;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5" name="Google Shape;125;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6" name="Google Shape;126;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 name="Google Shape;127;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9" name="Google Shape;129;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0" name="Shape 130"/>
        <p:cNvGrpSpPr/>
        <p:nvPr/>
      </p:nvGrpSpPr>
      <p:grpSpPr>
        <a:xfrm>
          <a:off x="0" y="0"/>
          <a:ext cx="0" cy="0"/>
          <a:chOff x="0" y="0"/>
          <a:chExt cx="0" cy="0"/>
        </a:xfrm>
      </p:grpSpPr>
      <p:sp>
        <p:nvSpPr>
          <p:cNvPr id="131" name="Google Shape;131;p2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2" name="Google Shape;132;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4" name="Google Shape;134;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5" name="Shape 135"/>
        <p:cNvGrpSpPr/>
        <p:nvPr/>
      </p:nvGrpSpPr>
      <p:grpSpPr>
        <a:xfrm>
          <a:off x="0" y="0"/>
          <a:ext cx="0" cy="0"/>
          <a:chOff x="0" y="0"/>
          <a:chExt cx="0" cy="0"/>
        </a:xfrm>
      </p:grpSpPr>
      <p:sp>
        <p:nvSpPr>
          <p:cNvPr id="136" name="Google Shape;136;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7" name="Google Shape;137;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8" name="Google Shape;138;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9" name="Shape 139"/>
        <p:cNvGrpSpPr/>
        <p:nvPr/>
      </p:nvGrpSpPr>
      <p:grpSpPr>
        <a:xfrm>
          <a:off x="0" y="0"/>
          <a:ext cx="0" cy="0"/>
          <a:chOff x="0" y="0"/>
          <a:chExt cx="0" cy="0"/>
        </a:xfrm>
      </p:grpSpPr>
      <p:sp>
        <p:nvSpPr>
          <p:cNvPr id="140" name="Google Shape;140;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1" name="Google Shape;141;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2" name="Google Shape;142;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3" name="Google Shape;143;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4" name="Google Shape;144;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5" name="Google Shape;145;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6" name="Shape 146"/>
        <p:cNvGrpSpPr/>
        <p:nvPr/>
      </p:nvGrpSpPr>
      <p:grpSpPr>
        <a:xfrm>
          <a:off x="0" y="0"/>
          <a:ext cx="0" cy="0"/>
          <a:chOff x="0" y="0"/>
          <a:chExt cx="0" cy="0"/>
        </a:xfrm>
      </p:grpSpPr>
      <p:sp>
        <p:nvSpPr>
          <p:cNvPr id="147" name="Google Shape;147;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8" name="Google Shape;148;p27"/>
          <p:cNvSpPr/>
          <p:nvPr>
            <p:ph idx="2" type="pic"/>
          </p:nvPr>
        </p:nvSpPr>
        <p:spPr>
          <a:xfrm>
            <a:off x="5183188" y="987425"/>
            <a:ext cx="6172200" cy="4873625"/>
          </a:xfrm>
          <a:prstGeom prst="rect">
            <a:avLst/>
          </a:prstGeom>
          <a:noFill/>
          <a:ln>
            <a:noFill/>
          </a:ln>
        </p:spPr>
      </p:sp>
      <p:sp>
        <p:nvSpPr>
          <p:cNvPr id="149" name="Google Shape;149;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50" name="Google Shape;150;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1" name="Google Shape;151;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3" name="Shape 153"/>
        <p:cNvGrpSpPr/>
        <p:nvPr/>
      </p:nvGrpSpPr>
      <p:grpSpPr>
        <a:xfrm>
          <a:off x="0" y="0"/>
          <a:ext cx="0" cy="0"/>
          <a:chOff x="0" y="0"/>
          <a:chExt cx="0" cy="0"/>
        </a:xfrm>
      </p:grpSpPr>
      <p:sp>
        <p:nvSpPr>
          <p:cNvPr id="154" name="Google Shape;154;p2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5" name="Google Shape;155;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 name="Google Shape;156;p2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7" name="Google Shape;157;p2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9" name="Shape 159"/>
        <p:cNvGrpSpPr/>
        <p:nvPr/>
      </p:nvGrpSpPr>
      <p:grpSpPr>
        <a:xfrm>
          <a:off x="0" y="0"/>
          <a:ext cx="0" cy="0"/>
          <a:chOff x="0" y="0"/>
          <a:chExt cx="0" cy="0"/>
        </a:xfrm>
      </p:grpSpPr>
      <p:sp>
        <p:nvSpPr>
          <p:cNvPr id="160" name="Google Shape;160;p2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1" name="Google Shape;161;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 name="Google Shape;162;p2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3" name="Google Shape;163;p2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4" name="Google Shape;164;p2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1" name="Shape 171"/>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2" name="Shape 172"/>
        <p:cNvGrpSpPr/>
        <p:nvPr/>
      </p:nvGrpSpPr>
      <p:grpSpPr>
        <a:xfrm>
          <a:off x="0" y="0"/>
          <a:ext cx="0" cy="0"/>
          <a:chOff x="0" y="0"/>
          <a:chExt cx="0" cy="0"/>
        </a:xfrm>
      </p:grpSpPr>
      <p:sp>
        <p:nvSpPr>
          <p:cNvPr id="173" name="Google Shape;173;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5" name="Google Shape;175;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8" name="Shape 178"/>
        <p:cNvGrpSpPr/>
        <p:nvPr/>
      </p:nvGrpSpPr>
      <p:grpSpPr>
        <a:xfrm>
          <a:off x="0" y="0"/>
          <a:ext cx="0" cy="0"/>
          <a:chOff x="0" y="0"/>
          <a:chExt cx="0" cy="0"/>
        </a:xfrm>
      </p:grpSpPr>
      <p:sp>
        <p:nvSpPr>
          <p:cNvPr id="179" name="Google Shape;179;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81" name="Google Shape;18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2" name="Google Shape;18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4" name="Shape 184"/>
        <p:cNvGrpSpPr/>
        <p:nvPr/>
      </p:nvGrpSpPr>
      <p:grpSpPr>
        <a:xfrm>
          <a:off x="0" y="0"/>
          <a:ext cx="0" cy="0"/>
          <a:chOff x="0" y="0"/>
          <a:chExt cx="0" cy="0"/>
        </a:xfrm>
      </p:grpSpPr>
      <p:sp>
        <p:nvSpPr>
          <p:cNvPr id="185" name="Google Shape;18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6" name="Google Shape;186;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7" name="Google Shape;187;p3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8" name="Google Shape;188;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9" name="Google Shape;189;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0" name="Google Shape;190;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1" name="Shape 191"/>
        <p:cNvGrpSpPr/>
        <p:nvPr/>
      </p:nvGrpSpPr>
      <p:grpSpPr>
        <a:xfrm>
          <a:off x="0" y="0"/>
          <a:ext cx="0" cy="0"/>
          <a:chOff x="0" y="0"/>
          <a:chExt cx="0" cy="0"/>
        </a:xfrm>
      </p:grpSpPr>
      <p:sp>
        <p:nvSpPr>
          <p:cNvPr id="192" name="Google Shape;192;p35"/>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3" name="Google Shape;193;p3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4" name="Google Shape;194;p3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5" name="Google Shape;195;p3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6" name="Google Shape;196;p3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7" name="Google Shape;197;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9" name="Google Shape;199;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0" name="Shape 200"/>
        <p:cNvGrpSpPr/>
        <p:nvPr/>
      </p:nvGrpSpPr>
      <p:grpSpPr>
        <a:xfrm>
          <a:off x="0" y="0"/>
          <a:ext cx="0" cy="0"/>
          <a:chOff x="0" y="0"/>
          <a:chExt cx="0" cy="0"/>
        </a:xfrm>
      </p:grpSpPr>
      <p:sp>
        <p:nvSpPr>
          <p:cNvPr id="201" name="Google Shape;201;p3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2" name="Google Shape;202;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3" name="Google Shape;203;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4" name="Google Shape;204;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5" name="Shape 205"/>
        <p:cNvGrpSpPr/>
        <p:nvPr/>
      </p:nvGrpSpPr>
      <p:grpSpPr>
        <a:xfrm>
          <a:off x="0" y="0"/>
          <a:ext cx="0" cy="0"/>
          <a:chOff x="0" y="0"/>
          <a:chExt cx="0" cy="0"/>
        </a:xfrm>
      </p:grpSpPr>
      <p:sp>
        <p:nvSpPr>
          <p:cNvPr id="206" name="Google Shape;206;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7" name="Google Shape;207;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9" name="Shape 209"/>
        <p:cNvGrpSpPr/>
        <p:nvPr/>
      </p:nvGrpSpPr>
      <p:grpSpPr>
        <a:xfrm>
          <a:off x="0" y="0"/>
          <a:ext cx="0" cy="0"/>
          <a:chOff x="0" y="0"/>
          <a:chExt cx="0" cy="0"/>
        </a:xfrm>
      </p:grpSpPr>
      <p:sp>
        <p:nvSpPr>
          <p:cNvPr id="210" name="Google Shape;210;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1" name="Google Shape;211;p3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12" name="Google Shape;212;p3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3" name="Google Shape;213;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4" name="Google Shape;214;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6" name="Shape 216"/>
        <p:cNvGrpSpPr/>
        <p:nvPr/>
      </p:nvGrpSpPr>
      <p:grpSpPr>
        <a:xfrm>
          <a:off x="0" y="0"/>
          <a:ext cx="0" cy="0"/>
          <a:chOff x="0" y="0"/>
          <a:chExt cx="0" cy="0"/>
        </a:xfrm>
      </p:grpSpPr>
      <p:sp>
        <p:nvSpPr>
          <p:cNvPr id="217" name="Google Shape;217;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8" name="Google Shape;218;p39"/>
          <p:cNvSpPr/>
          <p:nvPr>
            <p:ph idx="2" type="pic"/>
          </p:nvPr>
        </p:nvSpPr>
        <p:spPr>
          <a:xfrm>
            <a:off x="5183188" y="987425"/>
            <a:ext cx="6172200" cy="4873625"/>
          </a:xfrm>
          <a:prstGeom prst="rect">
            <a:avLst/>
          </a:prstGeom>
          <a:noFill/>
          <a:ln>
            <a:noFill/>
          </a:ln>
        </p:spPr>
      </p:sp>
      <p:sp>
        <p:nvSpPr>
          <p:cNvPr id="219" name="Google Shape;219;p3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20" name="Google Shape;220;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3" name="Shape 223"/>
        <p:cNvGrpSpPr/>
        <p:nvPr/>
      </p:nvGrpSpPr>
      <p:grpSpPr>
        <a:xfrm>
          <a:off x="0" y="0"/>
          <a:ext cx="0" cy="0"/>
          <a:chOff x="0" y="0"/>
          <a:chExt cx="0" cy="0"/>
        </a:xfrm>
      </p:grpSpPr>
      <p:sp>
        <p:nvSpPr>
          <p:cNvPr id="224" name="Google Shape;224;p4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4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4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4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4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9" name="Shape 229"/>
        <p:cNvGrpSpPr/>
        <p:nvPr/>
      </p:nvGrpSpPr>
      <p:grpSpPr>
        <a:xfrm>
          <a:off x="0" y="0"/>
          <a:ext cx="0" cy="0"/>
          <a:chOff x="0" y="0"/>
          <a:chExt cx="0" cy="0"/>
        </a:xfrm>
      </p:grpSpPr>
      <p:sp>
        <p:nvSpPr>
          <p:cNvPr id="230" name="Google Shape;230;p41"/>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1" name="Google Shape;231;p4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2" name="Google Shape;232;p4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3" name="Google Shape;233;p4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4" name="Google Shape;234;p4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slideLayout" Target="../slideLayouts/slideLayout36.xml"/><Relationship Id="rId12" Type="http://schemas.openxmlformats.org/officeDocument/2006/relationships/slideLayout" Target="../slideLayouts/slideLayout37.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cxnSp>
        <p:nvCxnSpPr>
          <p:cNvPr id="17" name="Google Shape;17;p3"/>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8" name="Google Shape;18;p3"/>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9" name="Google Shape;19;p3"/>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0" name="Google Shape;20;p3"/>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1" name="Google Shape;21;p3"/>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Understand Inequalities and Their Solutions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 name="Shape 95"/>
        <p:cNvGrpSpPr/>
        <p:nvPr/>
      </p:nvGrpSpPr>
      <p:grpSpPr>
        <a:xfrm>
          <a:off x="0" y="0"/>
          <a:ext cx="0" cy="0"/>
          <a:chOff x="0" y="0"/>
          <a:chExt cx="0" cy="0"/>
        </a:xfrm>
      </p:grpSpPr>
      <p:cxnSp>
        <p:nvCxnSpPr>
          <p:cNvPr id="96" name="Google Shape;96;p1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7" name="Google Shape;97;p1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8" name="Google Shape;98;p18"/>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Understand Inequalities and Their Solutions</a:t>
            </a:r>
            <a:endParaRPr b="0" i="0" sz="1400" u="none" cap="none" strike="noStrike">
              <a:solidFill>
                <a:srgbClr val="000000"/>
              </a:solidFill>
              <a:latin typeface="Arial"/>
              <a:ea typeface="Arial"/>
              <a:cs typeface="Arial"/>
              <a:sym typeface="Arial"/>
            </a:endParaRPr>
          </a:p>
        </p:txBody>
      </p:sp>
      <p:sp>
        <p:nvSpPr>
          <p:cNvPr id="99" name="Google Shape;99;p1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00" name="Google Shape;100;p1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cxnSp>
        <p:nvCxnSpPr>
          <p:cNvPr id="166" name="Google Shape;166;p30"/>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7" name="Google Shape;167;p30"/>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8" name="Google Shape;168;p30"/>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169" name="Google Shape;169;p30"/>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70" name="Google Shape;170;p30"/>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Estimate Solutions to Systems of Equations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7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7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3.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 Id="rId3" Type="http://schemas.openxmlformats.org/officeDocument/2006/relationships/notesSlide" Target="../notesSlides/notesSlide7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35.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4.png"/><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42.png"/><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3.png"/><Relationship Id="rId4" Type="http://schemas.openxmlformats.org/officeDocument/2006/relationships/image" Target="../media/image43.png"/><Relationship Id="rId5"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 Id="rId3" Type="http://schemas.openxmlformats.org/officeDocument/2006/relationships/notesSlide" Target="../notesSlides/notesSlide8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 Id="rId3" Type="http://schemas.openxmlformats.org/officeDocument/2006/relationships/image" Target="../media/image33.png"/><Relationship Id="rId4" Type="http://schemas.openxmlformats.org/officeDocument/2006/relationships/notesSlide" Target="../notesSlides/notesSlide8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3.xml"/><Relationship Id="rId3" Type="http://schemas.openxmlformats.org/officeDocument/2006/relationships/image" Target="../media/image47.png"/><Relationship Id="rId4" Type="http://schemas.openxmlformats.org/officeDocument/2006/relationships/image" Target="../media/image27.png"/><Relationship Id="rId5" Type="http://schemas.openxmlformats.org/officeDocument/2006/relationships/image" Target="../media/image48.png"/><Relationship Id="rId6" Type="http://schemas.openxmlformats.org/officeDocument/2006/relationships/image" Target="../media/image5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4.xml"/><Relationship Id="rId3"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8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7"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8-5 · Understand Inequalities and Their Solutions   |   Warm-Up · about 4 minutes</a:t>
            </a:r>
          </a:p>
        </p:txBody>
      </p:sp>
      <p:sp>
        <p:nvSpPr>
          <p:cNvPr id="268"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9"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70"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73"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x &lt; 6. Do you shade left or right? ______</a:t>
            </a:r>
          </a:p>
        </p:txBody>
      </p:sp>
      <p:sp>
        <p:nvSpPr>
          <p:cNvPr id="274"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7"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x ≥ 3. Open circle or closed circle? ______</a:t>
            </a:r>
          </a:p>
        </p:txBody>
      </p:sp>
      <p:sp>
        <p:nvSpPr>
          <p:cNvPr id="278"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81"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Is 2 a solution of x &gt; 2? ______</a:t>
            </a:r>
          </a:p>
        </p:txBody>
      </p:sp>
      <p:sp>
        <p:nvSpPr>
          <p:cNvPr id="282"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85"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x ≤ 10. What is the largest number</a:t>
            </a:r>
          </a:p>
          <a:p>
            <a:pPr algn="l"/>
            <a:r>
              <a:rPr sz="1800" b="1">
                <a:solidFill>
                  <a:srgbClr val="23282D"/>
                </a:solidFill>
                <a:latin typeface="Arial"/>
              </a:rPr>
              <a:t>that works? ______</a:t>
            </a:r>
          </a:p>
        </p:txBody>
      </p:sp>
      <p:sp>
        <p:nvSpPr>
          <p:cNvPr id="286"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7"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58</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5"/>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32" name="Google Shape;532;p5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533" name="Google Shape;533;p5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5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35" name="Google Shape;535;p55"/>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36" name="Google Shape;536;p55"/>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5"/>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38" name="Google Shape;538;p55"/>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9" name="Google Shape;539;p55"/>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5"/>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41" name="Google Shape;541;p55"/>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Graph Inequalities</a:t>
            </a:r>
            <a:endParaRPr/>
          </a:p>
        </p:txBody>
      </p:sp>
      <p:sp>
        <p:nvSpPr>
          <p:cNvPr id="542" name="Google Shape;542;p55"/>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Show every </a:t>
            </a:r>
            <a:r>
              <a:rPr b="1" i="0" lang="en-US" sz="1450" u="none" cap="none" strike="noStrike">
                <a:solidFill>
                  <a:srgbClr val="475569"/>
                </a:solidFill>
                <a:latin typeface="Arial"/>
                <a:ea typeface="Arial"/>
                <a:cs typeface="Arial"/>
                <a:sym typeface="Arial"/>
              </a:rPr>
              <a:t xml:space="preserve">solution</a:t>
            </a:r>
            <a:r>
              <a:rPr b="0" i="0" lang="en-US" sz="1450" u="none" cap="none" strike="noStrike">
                <a:solidFill>
                  <a:srgbClr val="475569"/>
                </a:solidFill>
                <a:latin typeface="Arial"/>
                <a:ea typeface="Arial"/>
                <a:cs typeface="Arial"/>
                <a:sym typeface="Arial"/>
              </a:rPr>
              <a:t xml:space="preserve"> to an </a:t>
            </a:r>
            <a:r>
              <a:rPr b="1" i="0" lang="en-US" sz="1450" u="none" cap="none" strike="noStrike">
                <a:solidFill>
                  <a:srgbClr val="475569"/>
                </a:solidFill>
                <a:latin typeface="Arial"/>
                <a:ea typeface="Arial"/>
                <a:cs typeface="Arial"/>
                <a:sym typeface="Arial"/>
              </a:rPr>
              <a:t xml:space="preserve">inequality</a:t>
            </a:r>
            <a:r>
              <a:rPr b="0" i="0" lang="en-US" sz="1450" u="none" cap="none" strike="noStrike">
                <a:solidFill>
                  <a:srgbClr val="475569"/>
                </a:solidFill>
                <a:latin typeface="Arial"/>
                <a:ea typeface="Arial"/>
                <a:cs typeface="Arial"/>
                <a:sym typeface="Arial"/>
              </a:rPr>
              <a:t xml:space="preserve"> on a number line</a:t>
            </a:r>
            <a:endParaRPr/>
          </a:p>
        </p:txBody>
      </p:sp>
      <p:sp>
        <p:nvSpPr>
          <p:cNvPr id="543" name="Google Shape;543;p55"/>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4" name="Google Shape;544;p55"/>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55"/>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46" name="Google Shape;546;p55"/>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Number line</a:t>
            </a:r>
            <a:endParaRPr/>
          </a:p>
        </p:txBody>
      </p:sp>
      <p:sp>
        <p:nvSpPr>
          <p:cNvPr id="547" name="Google Shape;547;p55"/>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straight line where numbers are placed in order</a:t>
            </a:r>
            <a:endParaRPr/>
          </a:p>
        </p:txBody>
      </p:sp>
      <p:sp>
        <p:nvSpPr>
          <p:cNvPr id="548" name="Google Shape;548;p55"/>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9" name="Google Shape;549;p55"/>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5"/>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51" name="Google Shape;551;p55"/>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Open circle</a:t>
            </a:r>
            <a:endParaRPr/>
          </a:p>
        </p:txBody>
      </p:sp>
      <p:sp>
        <p:nvSpPr>
          <p:cNvPr id="552" name="Google Shape;552;p55"/>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An empty circle showing a number is NOT included</a:t>
            </a:r>
            <a:endParaRPr/>
          </a:p>
        </p:txBody>
      </p:sp>
      <p:sp>
        <p:nvSpPr>
          <p:cNvPr id="5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58</a:t>
            </a:r>
          </a:p>
        </p:txBody>
      </p:sp>
      <p:grpSp>
        <p:nvGrpSpPr>
          <p:cNvPr id="554" name="TEACH-1-student-move" descr="TEACH 1 · Facilitate clear, standards-based content learning"/>
          <p:cNvGrpSpPr/>
          <p:nvPr/>
        </p:nvGrpSpPr>
        <p:grpSpPr>
          <a:xfrm>
            <a:off x="6187440" y="1682496"/>
            <a:ext cx="5501640" cy="594360"/>
            <a:chOff x="6187440" y="1682496"/>
            <a:chExt cx="5501640" cy="594360"/>
          </a:xfrm>
        </p:grpSpPr>
        <p:sp>
          <p:nvSpPr>
            <p:cNvPr id="555"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56"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57"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8" name="Google Shape;558;p56"/>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5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60" name="Google Shape;560;p5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561" name="Google Shape;561;p5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2" name="Google Shape;562;p5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63" name="Google Shape;563;p56"/>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64" name="Google Shape;564;p56"/>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5" name="Google Shape;565;p56"/>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66" name="Google Shape;566;p56"/>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7" name="Google Shape;567;p56"/>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Graphing Inequalities on the Number Line</a:t>
            </a:r>
            <a:endParaRPr/>
          </a:p>
        </p:txBody>
      </p:sp>
      <p:sp>
        <p:nvSpPr>
          <p:cNvPr id="568" name="Google Shape;568;p56"/>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9" name="Google Shape;569;p56"/>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70" name="Google Shape;570;p56"/>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Draw the </a:t>
            </a:r>
            <a:r>
              <a:rPr b="1" i="0" lang="en-US" sz="1600" u="none" cap="none" strike="noStrike">
                <a:solidFill>
                  <a:srgbClr val="14223A"/>
                </a:solidFill>
                <a:latin typeface="Arial"/>
                <a:ea typeface="Arial"/>
                <a:cs typeface="Arial"/>
                <a:sym typeface="Arial"/>
              </a:rPr>
              <a:t xml:space="preserve">boundary</a:t>
            </a:r>
            <a:r>
              <a:rPr b="0" i="0" lang="en-US" sz="1600" u="none" cap="none" strike="noStrike">
                <a:solidFill>
                  <a:srgbClr val="14223A"/>
                </a:solidFill>
                <a:latin typeface="Arial"/>
                <a:ea typeface="Arial"/>
                <a:cs typeface="Arial"/>
                <a:sym typeface="Arial"/>
              </a:rPr>
              <a:t xml:space="preserve"> circle at the given constant number</a:t>
            </a:r>
            <a:endParaRPr/>
          </a:p>
        </p:txBody>
      </p:sp>
      <p:sp>
        <p:nvSpPr>
          <p:cNvPr id="571" name="Google Shape;571;p56"/>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2" name="Google Shape;572;p56"/>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73" name="Google Shape;573;p56"/>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Open Circle</a:t>
            </a:r>
            <a:r>
              <a:rPr b="0" i="0" lang="en-US" sz="1600" u="none" cap="none" strike="noStrike">
                <a:solidFill>
                  <a:srgbClr val="14223A"/>
                </a:solidFill>
                <a:latin typeface="Arial"/>
                <a:ea typeface="Arial"/>
                <a:cs typeface="Arial"/>
                <a:sym typeface="Arial"/>
              </a:rPr>
              <a:t xml:space="preserve"> (○) for &lt; or &gt; (boundary value is not included in </a:t>
            </a:r>
            <a:r>
              <a:rPr b="1" i="0" lang="en-US" sz="1600" u="none" cap="none" strike="noStrike">
                <a:solidFill>
                  <a:srgbClr val="14223A"/>
                </a:solidFill>
                <a:latin typeface="Arial"/>
                <a:ea typeface="Arial"/>
                <a:cs typeface="Arial"/>
                <a:sym typeface="Arial"/>
              </a:rPr>
              <a:t xml:space="preserve">solution set</a:t>
            </a:r>
            <a:r>
              <a:rPr b="0" i="0" lang="en-US" sz="1600" u="none" cap="none" strike="noStrike">
                <a:solidFill>
                  <a:srgbClr val="14223A"/>
                </a:solidFill>
                <a:latin typeface="Arial"/>
                <a:ea typeface="Arial"/>
                <a:cs typeface="Arial"/>
                <a:sym typeface="Arial"/>
              </a:rPr>
              <a:t xml:space="preserve">)</a:t>
            </a:r>
            <a:endParaRPr/>
          </a:p>
        </p:txBody>
      </p:sp>
      <p:sp>
        <p:nvSpPr>
          <p:cNvPr id="574" name="Google Shape;574;p56"/>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5" name="Google Shape;575;p56"/>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76" name="Google Shape;576;p56"/>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Closed Circle</a:t>
            </a:r>
            <a:r>
              <a:rPr b="0" i="0" lang="en-US" sz="1600" u="none" cap="none" strike="noStrike">
                <a:solidFill>
                  <a:srgbClr val="14223A"/>
                </a:solidFill>
                <a:latin typeface="Arial"/>
                <a:ea typeface="Arial"/>
                <a:cs typeface="Arial"/>
                <a:sym typeface="Arial"/>
              </a:rPr>
              <a:t xml:space="preserve"> (●) for ≤ or ≥ (boundary value is included). </a:t>
            </a:r>
            <a:r>
              <a:rPr b="1" i="0" lang="en-US" sz="1600" u="none" cap="none" strike="noStrike">
                <a:solidFill>
                  <a:srgbClr val="14223A"/>
                </a:solidFill>
                <a:latin typeface="Arial"/>
                <a:ea typeface="Arial"/>
                <a:cs typeface="Arial"/>
                <a:sym typeface="Arial"/>
              </a:rPr>
              <a:t xml:space="preserve">Shade</a:t>
            </a:r>
            <a:r>
              <a:rPr b="0" i="0" lang="en-US" sz="1600" u="none" cap="none" strike="noStrike">
                <a:solidFill>
                  <a:srgbClr val="14223A"/>
                </a:solidFill>
                <a:latin typeface="Arial"/>
                <a:ea typeface="Arial"/>
                <a:cs typeface="Arial"/>
                <a:sym typeface="Arial"/>
              </a:rPr>
              <a:t xml:space="preserve"> right for &gt;, left for &lt;</a:t>
            </a:r>
            <a:endParaRPr/>
          </a:p>
        </p:txBody>
      </p:sp>
      <p:sp>
        <p:nvSpPr>
          <p:cNvPr id="5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58</a:t>
            </a:r>
          </a:p>
        </p:txBody>
      </p:sp>
      <p:grpSp>
        <p:nvGrpSpPr>
          <p:cNvPr id="578" name="TEACH-1-student-move" descr="TEACH 1 · Facilitate clear, standards-based content learning"/>
          <p:cNvGrpSpPr/>
          <p:nvPr/>
        </p:nvGrpSpPr>
        <p:grpSpPr>
          <a:xfrm>
            <a:off x="502920" y="5111496"/>
            <a:ext cx="11186160" cy="402336"/>
            <a:chOff x="502920" y="5111496"/>
            <a:chExt cx="11186160" cy="402336"/>
          </a:xfrm>
        </p:grpSpPr>
        <p:sp>
          <p:nvSpPr>
            <p:cNvPr id="579"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80"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581"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2"/>
          <p:cNvSpPr txBox="1"/>
          <p:nvPr/>
        </p:nvSpPr>
        <p:spPr>
          <a:xfrm>
            <a:off x="1402828" y="2453950"/>
            <a:ext cx="8935791"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Understand Inequalities and Their Solutions</a:t>
            </a:r>
            <a:endParaRPr b="1" i="0" sz="3600" u="none" cap="none" strike="noStrike">
              <a:solidFill>
                <a:schemeClr val="dk1"/>
              </a:solidFill>
              <a:latin typeface="Arial"/>
              <a:ea typeface="Arial"/>
              <a:cs typeface="Arial"/>
              <a:sym typeface="Arial"/>
            </a:endParaRPr>
          </a:p>
        </p:txBody>
      </p:sp>
      <p:sp>
        <p:nvSpPr>
          <p:cNvPr id="240" name="Google Shape;240;p42"/>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41" name="Google Shape;241;p42"/>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4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58</a:t>
            </a:r>
          </a:p>
        </p:txBody>
      </p:sp>
      <p:grpSp>
        <p:nvGrpSpPr>
          <p:cNvPr id="243" name="TEACH-6-student-move" descr="TEACH 6 · Organize and implement routines to support a learning-focused classroom"/>
          <p:cNvGrpSpPr/>
          <p:nvPr/>
        </p:nvGrpSpPr>
        <p:grpSpPr>
          <a:xfrm>
            <a:off x="502920" y="3867612"/>
            <a:ext cx="11186160" cy="731520"/>
            <a:chOff x="502920" y="3867612"/>
            <a:chExt cx="11186160" cy="731520"/>
          </a:xfrm>
        </p:grpSpPr>
        <p:sp>
          <p:nvSpPr>
            <p:cNvPr id="244"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45"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6"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cxnSp>
        <p:nvCxnSpPr>
          <p:cNvPr id="246" name="Google Shape;246;p4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7" name="Google Shape;247;p43"/>
          <p:cNvSpPr txBox="1"/>
          <p:nvPr/>
        </p:nvSpPr>
        <p:spPr>
          <a:xfrm>
            <a:off x="486000"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This or That</a:t>
            </a:r>
            <a:endParaRPr b="0" i="0" sz="1400" u="none" cap="none" strike="noStrike">
              <a:solidFill>
                <a:srgbClr val="000000"/>
              </a:solidFill>
              <a:latin typeface="Arial"/>
              <a:ea typeface="Arial"/>
              <a:cs typeface="Arial"/>
              <a:sym typeface="Arial"/>
            </a:endParaRPr>
          </a:p>
        </p:txBody>
      </p:sp>
      <p:sp>
        <p:nvSpPr>
          <p:cNvPr id="248" name="Google Shape;248;p43"/>
          <p:cNvSpPr txBox="1"/>
          <p:nvPr/>
        </p:nvSpPr>
        <p:spPr>
          <a:xfrm>
            <a:off x="486000" y="936000"/>
            <a:ext cx="7305450" cy="988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Would you rather have THIS or THAT hours of chores?</a:t>
            </a:r>
            <a:endParaRPr b="0" i="0" sz="1400" u="none" cap="none" strike="noStrike">
              <a:solidFill>
                <a:srgbClr val="000000"/>
              </a:solidFill>
              <a:latin typeface="Arial"/>
              <a:ea typeface="Arial"/>
              <a:cs typeface="Arial"/>
              <a:sym typeface="Arial"/>
            </a:endParaRPr>
          </a:p>
        </p:txBody>
      </p:sp>
      <p:graphicFrame>
        <p:nvGraphicFramePr>
          <p:cNvPr id="249" name="Google Shape;249;p43"/>
          <p:cNvGraphicFramePr/>
          <p:nvPr/>
        </p:nvGraphicFramePr>
        <p:xfrm>
          <a:off x="486000" y="2159951"/>
          <a:ext cx="3000000" cy="3000000"/>
        </p:xfrm>
        <a:graphic>
          <a:graphicData uri="http://schemas.openxmlformats.org/drawingml/2006/table">
            <a:tbl>
              <a:tblPr bandRow="1" firstRow="1">
                <a:noFill/>
                <a:tableStyleId>{2E32E78A-8AD9-46CB-9B68-67F8A78ED04B}</a:tableStyleId>
              </a:tblPr>
              <a:tblGrid>
                <a:gridCol w="3910425"/>
                <a:gridCol w="4064000"/>
              </a:tblGrid>
              <a:tr h="518150">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solidFill>
                            <a:schemeClr val="dk1"/>
                          </a:solidFill>
                          <a:latin typeface="Arial"/>
                          <a:ea typeface="Arial"/>
                          <a:cs typeface="Arial"/>
                          <a:sym typeface="Arial"/>
                        </a:rPr>
                        <a:t>THIS or THAT2</a:t>
                      </a:r>
                      <a:endParaRPr sz="2800" u="none" cap="none" strike="noStrike">
                        <a:solidFill>
                          <a:schemeClr val="dk1"/>
                        </a:solidFill>
                        <a:latin typeface="Arial"/>
                        <a:ea typeface="Arial"/>
                        <a:cs typeface="Arial"/>
                        <a:sym typeface="Arial"/>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latin typeface="Arial"/>
                        <a:ea typeface="Arial"/>
                        <a:cs typeface="Arial"/>
                        <a:sym typeface="Arial"/>
                      </a:endParaRPr>
                    </a:p>
                  </a:txBody>
                  <a:tcPr marT="45725" marB="45725" marR="91450" marL="91450">
                    <a:solidFill>
                      <a:schemeClr val="lt1"/>
                    </a:solidFill>
                  </a:tcPr>
                </a:tc>
              </a:tr>
              <a:tr h="518150">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THIS</a:t>
                      </a:r>
                      <a:endParaRPr b="1" sz="2800" u="none" cap="none" strike="noStrike">
                        <a:solidFill>
                          <a:schemeClr val="lt1"/>
                        </a:solidFill>
                        <a:latin typeface="Arial"/>
                        <a:ea typeface="Arial"/>
                        <a:cs typeface="Arial"/>
                        <a:sym typeface="Arial"/>
                      </a:endParaRPr>
                    </a:p>
                  </a:txBody>
                  <a:tcPr marT="45725" marB="45725" marR="91450" marL="91450">
                    <a:lnB cap="flat" cmpd="sng" w="12700">
                      <a:solidFill>
                        <a:schemeClr val="dk1"/>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THAT</a:t>
                      </a:r>
                      <a:endParaRPr b="1" sz="2800" u="none" cap="none" strike="noStrike">
                        <a:solidFill>
                          <a:schemeClr val="lt1"/>
                        </a:solidFill>
                        <a:latin typeface="Arial"/>
                        <a:ea typeface="Arial"/>
                        <a:cs typeface="Arial"/>
                        <a:sym typeface="Arial"/>
                      </a:endParaRPr>
                    </a:p>
                  </a:txBody>
                  <a:tcPr marT="45725" marB="45725" marR="91450" marL="91450">
                    <a:lnB cap="flat" cmpd="sng" w="12700">
                      <a:solidFill>
                        <a:schemeClr val="dk1"/>
                      </a:solidFill>
                      <a:prstDash val="solid"/>
                      <a:round/>
                      <a:headEnd len="sm" w="sm" type="none"/>
                      <a:tailEnd len="sm" w="sm" type="none"/>
                    </a:lnB>
                    <a:solidFill>
                      <a:srgbClr val="695B9A"/>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902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58</a:t>
            </a:r>
          </a:p>
        </p:txBody>
      </p:sp>
      <p:sp xmlns:p="http://schemas.openxmlformats.org/presentationml/2006/main" xmlns:a="http://schemas.openxmlformats.org/drawingml/2006/main">
        <p:nvSpPr>
          <p:cNvPr id="251"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6"/>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44" name="Google Shape;344;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345" name="Google Shape;345;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7" name="Google Shape;347;p46"/>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Understand Inequalities and Their Solutions</a:t>
            </a:r>
            <a:endParaRPr/>
          </a:p>
        </p:txBody>
      </p:sp>
      <p:sp>
        <p:nvSpPr>
          <p:cNvPr id="348" name="Google Shape;348;p46"/>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6.AT.9</a:t>
            </a:r>
            <a:endParaRPr/>
          </a:p>
        </p:txBody>
      </p:sp>
      <p:sp>
        <p:nvSpPr>
          <p:cNvPr id="349" name="Google Shape;349;p46"/>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46"/>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1" name="Google Shape;351;p46"/>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52" name="Google Shape;352;p46"/>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53" name="Google Shape;353;p46"/>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graph the solutions of an inequality on a number line.</a:t>
            </a:r>
            <a:endParaRPr/>
          </a:p>
        </p:txBody>
      </p:sp>
      <p:sp>
        <p:nvSpPr>
          <p:cNvPr id="354" name="Google Shape;354;p46"/>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46"/>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6"/>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7" name="Google Shape;357;p46"/>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8" name="Google Shape;358;p46"/>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graph using the words number line, open circle, closed circle, and solution set.</a:t>
            </a:r>
            <a:endParaRPr/>
          </a:p>
        </p:txBody>
      </p:sp>
      <p:sp>
        <p:nvSpPr>
          <p:cNvPr id="3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58</a:t>
            </a:r>
          </a:p>
        </p:txBody>
      </p:sp>
      <p:grpSp>
        <p:nvGrpSpPr>
          <p:cNvPr id="360" name="TEACH-1-student-move" descr="TEACH 1 · Facilitate clear, standards-based content learning"/>
          <p:cNvGrpSpPr/>
          <p:nvPr/>
        </p:nvGrpSpPr>
        <p:grpSpPr>
          <a:xfrm>
            <a:off x="502920" y="1993392"/>
            <a:ext cx="11186160" cy="402336"/>
            <a:chOff x="502920" y="1993392"/>
            <a:chExt cx="11186160" cy="402336"/>
          </a:xfrm>
        </p:grpSpPr>
        <p:sp>
          <p:nvSpPr>
            <p:cNvPr id="361"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62"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63"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8.5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Choose an open or closed endpoint.</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Shade the correct direction.</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Test boundary and other values.</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3" name="Google Shape;403;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7</a:t>
            </a:r>
            <a:endParaRPr/>
          </a:p>
        </p:txBody>
      </p:sp>
      <p:sp>
        <p:nvSpPr>
          <p:cNvPr id="406" name="Google Shape;406;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407" name="Google Shape;407;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09" name="Google Shape;409;p48"/>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Graph Inequalities</a:t>
            </a:r>
            <a:endParaRPr/>
          </a:p>
        </p:txBody>
      </p:sp>
      <p:sp>
        <p:nvSpPr>
          <p:cNvPr id="410" name="Google Shape;410;p48"/>
          <p:cNvSpPr/>
          <p:nvPr/>
        </p:nvSpPr>
        <p:spPr>
          <a:xfrm>
            <a:off x="658368" y="2561844"/>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8"/>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Show every solution to an inequality on a number line with a boundary point and an arrow.</a:t>
            </a:r>
            <a:endParaRPr/>
          </a:p>
        </p:txBody>
      </p:sp>
      <p:sp>
        <p:nvSpPr>
          <p:cNvPr id="412" name="Google Shape;412;p48"/>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48"/>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8"/>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15" name="Google Shape;415;p48"/>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x &gt; 3 uses an open circle at 3 and an arrow to the right.</a:t>
            </a:r>
            <a:endParaRPr/>
          </a:p>
        </p:txBody>
      </p:sp>
      <p:pic>
        <p:nvPicPr>
          <p:cNvPr descr="concept-graph-inequalities.png" id="416" name="Google Shape;416;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58</a:t>
            </a:r>
          </a:p>
        </p:txBody>
      </p:sp>
      <p:grpSp>
        <p:nvGrpSpPr>
          <p:cNvPr id="417" name="TEACH-5-student-move" descr="TEACH 5 · Facilitate student interactions and academic talk"/>
          <p:cNvGrpSpPr/>
          <p:nvPr/>
        </p:nvGrpSpPr>
        <p:grpSpPr>
          <a:xfrm>
            <a:off x="502920" y="5751576"/>
            <a:ext cx="11186160" cy="548640"/>
            <a:chOff x="502920" y="5751576"/>
            <a:chExt cx="11186160" cy="548640"/>
          </a:xfrm>
        </p:grpSpPr>
        <p:sp>
          <p:nvSpPr>
            <p:cNvPr id="418"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19"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20"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1" name="Google Shape;421;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424" name="Google Shape;424;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425" name="Google Shape;425;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7" name="Google Shape;427;p49"/>
          <p:cNvSpPr txBox="1"/>
          <p:nvPr/>
        </p:nvSpPr>
        <p:spPr>
          <a:xfrm>
            <a:off x="640080" y="162763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Number line</a:t>
            </a:r>
            <a:endParaRPr/>
          </a:p>
        </p:txBody>
      </p:sp>
      <p:sp>
        <p:nvSpPr>
          <p:cNvPr id="428" name="Google Shape;428;p49"/>
          <p:cNvSpPr/>
          <p:nvPr/>
        </p:nvSpPr>
        <p:spPr>
          <a:xfrm>
            <a:off x="658368" y="2462784"/>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9"/>
          <p:cNvSpPr txBox="1"/>
          <p:nvPr/>
        </p:nvSpPr>
        <p:spPr>
          <a:xfrm>
            <a:off x="640080" y="282397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straight line where numbers are placed in order; numbers get smaller to the left and larger to the right.</a:t>
            </a:r>
            <a:endParaRPr/>
          </a:p>
        </p:txBody>
      </p:sp>
      <p:sp>
        <p:nvSpPr>
          <p:cNvPr id="430" name="Google Shape;430;p49"/>
          <p:cNvSpPr/>
          <p:nvPr/>
        </p:nvSpPr>
        <p:spPr>
          <a:xfrm>
            <a:off x="640080" y="4300728"/>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9"/>
          <p:cNvSpPr/>
          <p:nvPr/>
        </p:nvSpPr>
        <p:spPr>
          <a:xfrm>
            <a:off x="640080" y="4300728"/>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9"/>
          <p:cNvSpPr txBox="1"/>
          <p:nvPr/>
        </p:nvSpPr>
        <p:spPr>
          <a:xfrm>
            <a:off x="932688" y="447446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3" name="Google Shape;433;p49"/>
          <p:cNvSpPr txBox="1"/>
          <p:nvPr/>
        </p:nvSpPr>
        <p:spPr>
          <a:xfrm>
            <a:off x="932688" y="4776215"/>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horizontal line with marks at 0, 1, 2, 3, … showing where values fall</a:t>
            </a:r>
            <a:endParaRPr/>
          </a:p>
        </p:txBody>
      </p:sp>
      <p:pic>
        <p:nvPicPr>
          <p:cNvPr descr="number-line.png" id="434" name="Google Shape;434;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58</a:t>
            </a:r>
          </a:p>
        </p:txBody>
      </p:sp>
      <p:sp xmlns:p="http://schemas.openxmlformats.org/presentationml/2006/main" xmlns:a="http://schemas.openxmlformats.org/drawingml/2006/main">
        <p:nvSpPr>
          <p:cNvPr id="43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“Number line”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9" name="Google Shape;439;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42" name="Google Shape;442;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443" name="Google Shape;443;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5" name="Google Shape;445;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Open circle</a:t>
            </a:r>
            <a:endParaRPr/>
          </a:p>
        </p:txBody>
      </p:sp>
      <p:sp>
        <p:nvSpPr>
          <p:cNvPr id="446" name="Google Shape;446;p50"/>
          <p:cNvSpPr/>
          <p:nvPr/>
        </p:nvSpPr>
        <p:spPr>
          <a:xfrm>
            <a:off x="658368" y="2638806"/>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An empty circle showing a number is NOT included.</a:t>
            </a:r>
            <a:endParaRPr/>
          </a:p>
        </p:txBody>
      </p:sp>
      <p:sp>
        <p:nvSpPr>
          <p:cNvPr id="448" name="Google Shape;448;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1" name="Google Shape;451;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x &gt; 5: open circle at 5 means 5 itself is NOT a solution, but 5.1, 6, 7, … are</a:t>
            </a:r>
            <a:endParaRPr/>
          </a:p>
        </p:txBody>
      </p:sp>
      <p:pic>
        <p:nvPicPr>
          <p:cNvPr descr="open-circle.png" id="452" name="Google Shape;452;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58</a:t>
            </a:r>
          </a:p>
        </p:txBody>
      </p:sp>
      <p:sp xmlns:p="http://schemas.openxmlformats.org/presentationml/2006/main" xmlns:a="http://schemas.openxmlformats.org/drawingml/2006/main">
        <p:nvSpPr>
          <p:cNvPr id="45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“Open circle”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7" name="Google Shape;457;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60" name="Google Shape;460;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461" name="Google Shape;461;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3" name="Google Shape;463;p51"/>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Closed circle</a:t>
            </a:r>
            <a:endParaRPr/>
          </a:p>
        </p:txBody>
      </p:sp>
      <p:sp>
        <p:nvSpPr>
          <p:cNvPr id="464" name="Google Shape;464;p51"/>
          <p:cNvSpPr/>
          <p:nvPr/>
        </p:nvSpPr>
        <p:spPr>
          <a:xfrm>
            <a:off x="658368" y="2814828"/>
            <a:ext cx="154533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1"/>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filled-in circle showing a number IS included.</a:t>
            </a:r>
            <a:endParaRPr/>
          </a:p>
        </p:txBody>
      </p:sp>
      <p:sp>
        <p:nvSpPr>
          <p:cNvPr id="466" name="Google Shape;466;p51"/>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51"/>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1"/>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9" name="Google Shape;469;p51"/>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x ≥ 5: closed circle at 5 means 5 IS a solution, and so are 6, 7, 8, …</a:t>
            </a:r>
            <a:endParaRPr/>
          </a:p>
        </p:txBody>
      </p:sp>
      <p:pic>
        <p:nvPicPr>
          <p:cNvPr descr="closed-circle.png" id="470" name="Google Shape;470;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58</a:t>
            </a:r>
          </a:p>
        </p:txBody>
      </p:sp>
      <p:sp xmlns:p="http://schemas.openxmlformats.org/presentationml/2006/main" xmlns:a="http://schemas.openxmlformats.org/drawingml/2006/main">
        <p:nvSpPr>
          <p:cNvPr id="471"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“Closed circle”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75" name="Google Shape;475;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78" name="Google Shape;478;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479" name="Google Shape;479;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0" name="Google Shape;480;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1" name="Google Shape;481;p52"/>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Solution set</a:t>
            </a:r>
            <a:endParaRPr/>
          </a:p>
        </p:txBody>
      </p:sp>
      <p:sp>
        <p:nvSpPr>
          <p:cNvPr id="482" name="Google Shape;482;p52"/>
          <p:cNvSpPr/>
          <p:nvPr/>
        </p:nvSpPr>
        <p:spPr>
          <a:xfrm>
            <a:off x="658368" y="2814828"/>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2"/>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All the numbers that make the inequality true.</a:t>
            </a:r>
            <a:endParaRPr/>
          </a:p>
        </p:txBody>
      </p:sp>
      <p:sp>
        <p:nvSpPr>
          <p:cNvPr id="484" name="Google Shape;484;p52"/>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52"/>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2"/>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87" name="Google Shape;487;p52"/>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For x &gt; 3, the solution set includes 3.1, 4, 5, 10, 100 — any number greater than 3</a:t>
            </a:r>
            <a:endParaRPr/>
          </a:p>
        </p:txBody>
      </p:sp>
      <p:pic>
        <p:nvPicPr>
          <p:cNvPr descr="solution-set.png" id="488" name="Google Shape;488;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58</a:t>
            </a:r>
          </a:p>
        </p:txBody>
      </p:sp>
      <p:sp xmlns:p="http://schemas.openxmlformats.org/presentationml/2006/main" xmlns:a="http://schemas.openxmlformats.org/drawingml/2006/main">
        <p:nvSpPr>
          <p:cNvPr id="48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“Solution set”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93" name="Google Shape;493;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96" name="Google Shape;496;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497" name="Google Shape;497;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9" name="Google Shape;499;p53"/>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Inequality</a:t>
            </a:r>
            <a:endParaRPr/>
          </a:p>
        </p:txBody>
      </p:sp>
      <p:sp>
        <p:nvSpPr>
          <p:cNvPr id="500" name="Google Shape;500;p53"/>
          <p:cNvSpPr/>
          <p:nvPr/>
        </p:nvSpPr>
        <p:spPr>
          <a:xfrm>
            <a:off x="658368" y="2638806"/>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3"/>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math sentence that compares two sides with &lt;, &gt;, ≤, or ≥.</a:t>
            </a:r>
            <a:endParaRPr/>
          </a:p>
        </p:txBody>
      </p:sp>
      <p:sp>
        <p:nvSpPr>
          <p:cNvPr id="502" name="Google Shape;502;p53"/>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53"/>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3"/>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05" name="Google Shape;505;p53"/>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x ≥ 3 is an inequality; it is graphed as a closed circle on 3 with an arrow to the right.</a:t>
            </a:r>
            <a:endParaRPr/>
          </a:p>
        </p:txBody>
      </p:sp>
      <p:pic>
        <p:nvPicPr>
          <p:cNvPr descr="inequality.png" id="506" name="Google Shape;506;p53"/>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58</a:t>
            </a:r>
          </a:p>
        </p:txBody>
      </p:sp>
      <p:sp xmlns:p="http://schemas.openxmlformats.org/presentationml/2006/main" xmlns:a="http://schemas.openxmlformats.org/drawingml/2006/main">
        <p:nvSpPr>
          <p:cNvPr id="50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“Inequality”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11" name="Google Shape;511;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4"/>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514" name="Google Shape;514;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515" name="Google Shape;515;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7" name="Google Shape;517;p54"/>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Boundary point</a:t>
            </a:r>
            <a:endParaRPr/>
          </a:p>
        </p:txBody>
      </p:sp>
      <p:sp>
        <p:nvSpPr>
          <p:cNvPr id="518" name="Google Shape;518;p54"/>
          <p:cNvSpPr/>
          <p:nvPr/>
        </p:nvSpPr>
        <p:spPr>
          <a:xfrm>
            <a:off x="658368" y="2638806"/>
            <a:ext cx="166420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54"/>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number on the number line where the solution set starts.</a:t>
            </a:r>
            <a:endParaRPr/>
          </a:p>
        </p:txBody>
      </p:sp>
      <p:sp>
        <p:nvSpPr>
          <p:cNvPr id="520" name="Google Shape;520;p54"/>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4"/>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4"/>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23" name="Google Shape;523;p54"/>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For x &gt; 5, the boundary point is 5, shown with an open circle.</a:t>
            </a:r>
            <a:endParaRPr/>
          </a:p>
        </p:txBody>
      </p:sp>
      <p:pic>
        <p:nvPicPr>
          <p:cNvPr descr="boundary-point.png" id="524" name="Google Shape;524;p54"/>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58</a:t>
            </a:r>
          </a:p>
        </p:txBody>
      </p:sp>
      <p:sp xmlns:p="http://schemas.openxmlformats.org/presentationml/2006/main" xmlns:a="http://schemas.openxmlformats.org/drawingml/2006/main">
        <p:nvSpPr>
          <p:cNvPr id="525"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“Boundary point”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66" name="Google Shape;366;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367" name="Google Shape;367;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9" name="Google Shape;369;p47"/>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70" name="Google Shape;370;p47"/>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71" name="Google Shape;371;p47"/>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7"/>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7"/>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Graph Inequalities</a:t>
            </a:r>
            <a:endParaRPr/>
          </a:p>
        </p:txBody>
      </p:sp>
      <p:sp>
        <p:nvSpPr>
          <p:cNvPr id="374" name="Google Shape;374;p47"/>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Show every solution to an inequality on a number line with a boundary point and an arrow</a:t>
            </a:r>
            <a:endParaRPr/>
          </a:p>
        </p:txBody>
      </p:sp>
      <p:sp>
        <p:nvSpPr>
          <p:cNvPr id="375" name="Google Shape;375;p47"/>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7"/>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7"/>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Number line</a:t>
            </a:r>
            <a:endParaRPr/>
          </a:p>
        </p:txBody>
      </p:sp>
      <p:sp>
        <p:nvSpPr>
          <p:cNvPr id="378" name="Google Shape;378;p47"/>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A straight line where numbers are placed in order; numbers get smaller to the left and larger to the right</a:t>
            </a:r>
            <a:endParaRPr/>
          </a:p>
        </p:txBody>
      </p:sp>
      <p:sp>
        <p:nvSpPr>
          <p:cNvPr id="379" name="Google Shape;379;p47"/>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7"/>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7"/>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Open circle</a:t>
            </a:r>
            <a:endParaRPr/>
          </a:p>
        </p:txBody>
      </p:sp>
      <p:sp>
        <p:nvSpPr>
          <p:cNvPr id="382" name="Google Shape;382;p47"/>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An empty circle showing a number is NOT included</a:t>
            </a:r>
            <a:endParaRPr/>
          </a:p>
        </p:txBody>
      </p:sp>
      <p:sp>
        <p:nvSpPr>
          <p:cNvPr id="383" name="Google Shape;383;p47"/>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7"/>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7"/>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Closed circle</a:t>
            </a:r>
            <a:endParaRPr/>
          </a:p>
        </p:txBody>
      </p:sp>
      <p:sp>
        <p:nvSpPr>
          <p:cNvPr id="386" name="Google Shape;386;p47"/>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filled-in circle showing a number IS included</a:t>
            </a:r>
            <a:endParaRPr/>
          </a:p>
        </p:txBody>
      </p:sp>
      <p:sp>
        <p:nvSpPr>
          <p:cNvPr id="387" name="Google Shape;387;p47"/>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7"/>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7"/>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Solution set</a:t>
            </a:r>
            <a:endParaRPr/>
          </a:p>
        </p:txBody>
      </p:sp>
      <p:sp>
        <p:nvSpPr>
          <p:cNvPr id="390" name="Google Shape;390;p47"/>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All the numbers that make the inequality true</a:t>
            </a:r>
            <a:endParaRPr/>
          </a:p>
        </p:txBody>
      </p:sp>
      <p:sp>
        <p:nvSpPr>
          <p:cNvPr id="391" name="Google Shape;391;p47"/>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7"/>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7"/>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Inequality</a:t>
            </a:r>
            <a:endParaRPr/>
          </a:p>
        </p:txBody>
      </p:sp>
      <p:sp>
        <p:nvSpPr>
          <p:cNvPr id="394" name="Google Shape;394;p47"/>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math sentence that compares two sides with &lt;, &gt;, ≤, or ≥</a:t>
            </a:r>
            <a:endParaRPr/>
          </a:p>
        </p:txBody>
      </p:sp>
      <p:sp>
        <p:nvSpPr>
          <p:cNvPr id="395" name="Google Shape;395;p47"/>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7"/>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7"/>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Boundary point</a:t>
            </a:r>
            <a:endParaRPr/>
          </a:p>
        </p:txBody>
      </p:sp>
      <p:sp>
        <p:nvSpPr>
          <p:cNvPr id="398" name="Google Shape;398;p47"/>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number on the number line where the solution set starts</a:t>
            </a:r>
            <a:endParaRPr/>
          </a:p>
        </p:txBody>
      </p:sp>
      <p:sp>
        <p:nvSpPr>
          <p:cNvPr id="39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58</a:t>
            </a:r>
          </a:p>
        </p:txBody>
      </p:sp>
      <p:sp xmlns:p="http://schemas.openxmlformats.org/presentationml/2006/main" xmlns:a="http://schemas.openxmlformats.org/drawingml/2006/main">
        <p:nvSpPr>
          <p:cNvPr id="400"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cxnSp>
        <p:nvCxnSpPr>
          <p:cNvPr id="591" name="Google Shape;591;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2" name="Google Shape;592;p58"/>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93" name="Google Shape;593;p58"/>
          <p:cNvSpPr txBox="1"/>
          <p:nvPr/>
        </p:nvSpPr>
        <p:spPr>
          <a:xfrm>
            <a:off x="484560" y="936100"/>
            <a:ext cx="4892658" cy="12784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id="594" name="Google Shape;594;p58"/>
          <p:cNvPicPr preferRelativeResize="0"/>
          <p:nvPr/>
        </p:nvPicPr>
        <p:blipFill rotWithShape="1">
          <a:blip r:embed="rId3">
            <a:alphaModFix/>
          </a:blip>
          <a:srcRect b="0" l="0" r="0" t="0"/>
          <a:stretch/>
        </p:blipFill>
        <p:spPr>
          <a:xfrm>
            <a:off x="484560" y="3567092"/>
            <a:ext cx="5054600" cy="838200"/>
          </a:xfrm>
          <a:prstGeom prst="rect">
            <a:avLst/>
          </a:prstGeom>
          <a:noFill/>
          <a:ln>
            <a:noFill/>
          </a:ln>
        </p:spPr>
      </p:pic>
      <p:sp>
        <p:nvSpPr>
          <p:cNvPr id="595" name="Google Shape;595;p58"/>
          <p:cNvSpPr txBox="1"/>
          <p:nvPr/>
        </p:nvSpPr>
        <p:spPr>
          <a:xfrm>
            <a:off x="3086401" y="3731011"/>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96" name="Google Shape;596;p58"/>
          <p:cNvSpPr txBox="1"/>
          <p:nvPr/>
        </p:nvSpPr>
        <p:spPr>
          <a:xfrm>
            <a:off x="484560" y="4405292"/>
            <a:ext cx="5357322"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understanding the context of a problem or situation help in solving a math or non-math problem?</a:t>
            </a:r>
            <a:endParaRPr b="0" i="0" sz="1400" u="none" cap="none" strike="noStrike">
              <a:solidFill>
                <a:srgbClr val="000000"/>
              </a:solidFill>
              <a:latin typeface="Arial"/>
              <a:ea typeface="Arial"/>
              <a:cs typeface="Arial"/>
              <a:sym typeface="Arial"/>
            </a:endParaRPr>
          </a:p>
        </p:txBody>
      </p:sp>
      <p:pic>
        <p:nvPicPr>
          <p:cNvPr id="597" name="Google Shape;597;p58"/>
          <p:cNvPicPr preferRelativeResize="0"/>
          <p:nvPr/>
        </p:nvPicPr>
        <p:blipFill rotWithShape="1">
          <a:blip r:embed="rId4">
            <a:alphaModFix/>
          </a:blip>
          <a:srcRect b="0" l="0" r="0" t="0"/>
          <a:stretch/>
        </p:blipFill>
        <p:spPr>
          <a:xfrm>
            <a:off x="6518174" y="1450132"/>
            <a:ext cx="5097853" cy="4680000"/>
          </a:xfrm>
          <a:prstGeom prst="rect">
            <a:avLst/>
          </a:prstGeom>
          <a:noFill/>
          <a:ln>
            <a:noFill/>
          </a:ln>
        </p:spPr>
      </p:pic>
      <p:sp>
        <p:nvSpPr>
          <p:cNvPr id="59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58</a:t>
            </a:r>
          </a:p>
        </p:txBody>
      </p:sp>
      <p:sp xmlns:p="http://schemas.openxmlformats.org/presentationml/2006/main" xmlns:a="http://schemas.openxmlformats.org/drawingml/2006/main">
        <p:nvSpPr>
          <p:cNvPr id="599" name="TEACH-embedded-student-prompt" descr="Student thinking and response directions"/>
          <p:cNvSpPr txBox="1"/>
          <p:nvPr/>
        </p:nvSpPr>
        <p:spPr>
          <a:xfrm>
            <a:off x="594360" y="2670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cxnSp>
        <p:nvCxnSpPr>
          <p:cNvPr id="620" name="Google Shape;620;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1" name="Google Shape;621;p61"/>
          <p:cNvSpPr txBox="1"/>
          <p:nvPr/>
        </p:nvSpPr>
        <p:spPr>
          <a:xfrm>
            <a:off x="486000" y="3433041"/>
            <a:ext cx="7802184"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constraint exists on the elevations of landforms on Earth?</a:t>
            </a:r>
            <a:endParaRPr b="1" i="0" sz="2800" u="none" cap="none" strike="noStrike">
              <a:solidFill>
                <a:srgbClr val="262626"/>
              </a:solidFill>
              <a:latin typeface="Arial"/>
              <a:ea typeface="Arial"/>
              <a:cs typeface="Arial"/>
              <a:sym typeface="Arial"/>
            </a:endParaRPr>
          </a:p>
        </p:txBody>
      </p:sp>
      <p:sp>
        <p:nvSpPr>
          <p:cNvPr id="622" name="Google Shape;622;p61"/>
          <p:cNvSpPr txBox="1"/>
          <p:nvPr/>
        </p:nvSpPr>
        <p:spPr>
          <a:xfrm>
            <a:off x="486000" y="4607049"/>
            <a:ext cx="10046801" cy="15422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All landforms have an elevation of 8,849 meters or less.</a:t>
            </a:r>
            <a:endParaRPr b="0" i="0" sz="1400" u="none" cap="none" strike="noStrike">
              <a:solidFill>
                <a:srgbClr val="000000"/>
              </a:solidFill>
              <a:latin typeface="Arial"/>
              <a:ea typeface="Arial"/>
              <a:cs typeface="Arial"/>
              <a:sym typeface="Arial"/>
            </a:endParaRPr>
          </a:p>
        </p:txBody>
      </p:sp>
      <p:sp>
        <p:nvSpPr>
          <p:cNvPr id="623" name="Google Shape;623;p61"/>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Elevation</a:t>
            </a:r>
            <a:endParaRPr b="1" i="0" sz="2800" u="none" cap="none" strike="noStrike">
              <a:solidFill>
                <a:srgbClr val="7030A0"/>
              </a:solidFill>
              <a:latin typeface="Arial"/>
              <a:ea typeface="Arial"/>
              <a:cs typeface="Arial"/>
              <a:sym typeface="Arial"/>
            </a:endParaRPr>
          </a:p>
        </p:txBody>
      </p:sp>
      <p:sp>
        <p:nvSpPr>
          <p:cNvPr id="624" name="Google Shape;624;p61"/>
          <p:cNvSpPr txBox="1"/>
          <p:nvPr/>
        </p:nvSpPr>
        <p:spPr>
          <a:xfrm>
            <a:off x="486000" y="936000"/>
            <a:ext cx="7524525" cy="22771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At an elevation of 8,849 meters above sea level, the peak of Mount Everest is the highest point of elevation on Earth. How can you represent the possible elevations of landforms on Earth?</a:t>
            </a:r>
            <a:endParaRPr b="0" i="0" sz="1400" u="none" cap="none" strike="noStrike">
              <a:solidFill>
                <a:srgbClr val="000000"/>
              </a:solidFill>
              <a:latin typeface="Arial"/>
              <a:ea typeface="Arial"/>
              <a:cs typeface="Arial"/>
              <a:sym typeface="Arial"/>
            </a:endParaRPr>
          </a:p>
        </p:txBody>
      </p:sp>
      <p:sp>
        <p:nvSpPr>
          <p:cNvPr id="62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58</a:t>
            </a:r>
          </a:p>
        </p:txBody>
      </p:sp>
      <p:sp>
        <p:nvSpPr>
          <p:cNvPr id="626" name="EWL-COVER-1"/>
          <p:cNvSpPr/>
          <p:nvPr/>
        </p:nvSpPr>
        <p:spPr>
          <a:xfrm>
            <a:off x="431136" y="4552185"/>
            <a:ext cx="10156529" cy="1651965"/>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cxnSp>
        <p:nvCxnSpPr>
          <p:cNvPr id="638" name="Google Shape;638;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9" name="Google Shape;639;p63"/>
          <p:cNvSpPr txBox="1"/>
          <p:nvPr/>
        </p:nvSpPr>
        <p:spPr>
          <a:xfrm>
            <a:off x="484564" y="4113371"/>
            <a:ext cx="8249861" cy="15422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I can plot possible elevations of landforms to analyze what elevations satisfy the constraint.</a:t>
            </a:r>
            <a:endParaRPr b="0" i="0" sz="1400" u="none" cap="none" strike="noStrike">
              <a:solidFill>
                <a:srgbClr val="000000"/>
              </a:solidFill>
              <a:latin typeface="Arial"/>
              <a:ea typeface="Arial"/>
              <a:cs typeface="Arial"/>
              <a:sym typeface="Arial"/>
            </a:endParaRPr>
          </a:p>
        </p:txBody>
      </p:sp>
      <p:sp>
        <p:nvSpPr>
          <p:cNvPr id="640" name="Google Shape;640;p63"/>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Elevation</a:t>
            </a:r>
            <a:endParaRPr b="1" i="0" sz="2800" u="none" cap="none" strike="noStrike">
              <a:solidFill>
                <a:srgbClr val="7030A0"/>
              </a:solidFill>
              <a:latin typeface="Arial"/>
              <a:ea typeface="Arial"/>
              <a:cs typeface="Arial"/>
              <a:sym typeface="Arial"/>
            </a:endParaRPr>
          </a:p>
        </p:txBody>
      </p:sp>
      <p:sp>
        <p:nvSpPr>
          <p:cNvPr id="641" name="Google Shape;641;p63"/>
          <p:cNvSpPr txBox="1"/>
          <p:nvPr/>
        </p:nvSpPr>
        <p:spPr>
          <a:xfrm>
            <a:off x="484564" y="936000"/>
            <a:ext cx="6668711" cy="108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All landforms have an elevation of 8,849 meters or less.</a:t>
            </a:r>
            <a:endParaRPr b="0" i="0" sz="1400" u="none" cap="none" strike="noStrike">
              <a:solidFill>
                <a:srgbClr val="000000"/>
              </a:solidFill>
              <a:latin typeface="Arial"/>
              <a:ea typeface="Arial"/>
              <a:cs typeface="Arial"/>
              <a:sym typeface="Arial"/>
            </a:endParaRPr>
          </a:p>
        </p:txBody>
      </p:sp>
      <p:sp>
        <p:nvSpPr>
          <p:cNvPr id="642" name="Google Shape;642;p63"/>
          <p:cNvSpPr txBox="1"/>
          <p:nvPr/>
        </p:nvSpPr>
        <p:spPr>
          <a:xfrm>
            <a:off x="484566" y="2162212"/>
            <a:ext cx="7840284"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use a number line to think about the structure of the problem?</a:t>
            </a:r>
            <a:endParaRPr b="1" i="0" sz="2800" u="none" cap="none" strike="noStrike">
              <a:solidFill>
                <a:srgbClr val="262626"/>
              </a:solidFill>
              <a:latin typeface="Arial"/>
              <a:ea typeface="Arial"/>
              <a:cs typeface="Arial"/>
              <a:sym typeface="Arial"/>
            </a:endParaRPr>
          </a:p>
        </p:txBody>
      </p:sp>
      <p:sp>
        <p:nvSpPr>
          <p:cNvPr id="6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58</a:t>
            </a:r>
          </a:p>
        </p:txBody>
      </p:sp>
      <p:sp>
        <p:nvSpPr>
          <p:cNvPr id="644" name="EWL-COVER-1"/>
          <p:cNvSpPr/>
          <p:nvPr/>
        </p:nvSpPr>
        <p:spPr>
          <a:xfrm>
            <a:off x="429700" y="4058507"/>
            <a:ext cx="8359589" cy="1651965"/>
          </a:xfrm>
          <a:prstGeom prst="rect">
            <a:avLst/>
          </a:prstGeom>
          <a:solidFill>
            <a:srgbClr val="FFFFFF"/>
          </a:solidFill>
          <a:ln>
            <a:noFill/>
          </a:ln>
        </p:spPr>
        <p:txBody>
          <a:bodyPr/>
          <a:lstStyle/>
          <a:p/>
        </p:txBody>
      </p:sp>
      <p:sp xmlns:p="http://schemas.openxmlformats.org/presentationml/2006/main" xmlns:a="http://schemas.openxmlformats.org/drawingml/2006/main">
        <p:nvSpPr>
          <p:cNvPr id="645" name="TEACH-embedded-student-prompt" descr="Student thinking and response directions"/>
          <p:cNvSpPr txBox="1"/>
          <p:nvPr/>
        </p:nvSpPr>
        <p:spPr>
          <a:xfrm>
            <a:off x="594360" y="3438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cxnSp>
        <p:nvCxnSpPr>
          <p:cNvPr id="659" name="Google Shape;659;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0" name="Google Shape;660;p65"/>
          <p:cNvSpPr txBox="1"/>
          <p:nvPr/>
        </p:nvSpPr>
        <p:spPr>
          <a:xfrm>
            <a:off x="853200" y="316800"/>
            <a:ext cx="4504685" cy="61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sp>
        <p:nvSpPr>
          <p:cNvPr id="661" name="Google Shape;661;p65"/>
          <p:cNvSpPr txBox="1"/>
          <p:nvPr/>
        </p:nvSpPr>
        <p:spPr>
          <a:xfrm>
            <a:off x="485999" y="936000"/>
            <a:ext cx="7457852" cy="86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All landforms have an elevation of 8,849 meters or less.</a:t>
            </a:r>
            <a:endParaRPr b="0" i="0" sz="2800" u="none" cap="none" strike="noStrike">
              <a:solidFill>
                <a:schemeClr val="dk1"/>
              </a:solidFill>
              <a:latin typeface="Arial"/>
              <a:ea typeface="Arial"/>
              <a:cs typeface="Arial"/>
              <a:sym typeface="Arial"/>
            </a:endParaRPr>
          </a:p>
        </p:txBody>
      </p:sp>
      <p:pic>
        <p:nvPicPr>
          <p:cNvPr id="662" name="Google Shape;662;p65"/>
          <p:cNvPicPr preferRelativeResize="0"/>
          <p:nvPr/>
        </p:nvPicPr>
        <p:blipFill rotWithShape="1">
          <a:blip r:embed="rId3">
            <a:alphaModFix/>
          </a:blip>
          <a:srcRect b="0" l="0" r="0" t="0"/>
          <a:stretch/>
        </p:blipFill>
        <p:spPr>
          <a:xfrm>
            <a:off x="499565" y="368708"/>
            <a:ext cx="353635" cy="340537"/>
          </a:xfrm>
          <a:prstGeom prst="rect">
            <a:avLst/>
          </a:prstGeom>
          <a:noFill/>
          <a:ln>
            <a:noFill/>
          </a:ln>
        </p:spPr>
      </p:pic>
      <p:sp>
        <p:nvSpPr>
          <p:cNvPr id="663" name="Google Shape;663;p65"/>
          <p:cNvSpPr txBox="1"/>
          <p:nvPr/>
        </p:nvSpPr>
        <p:spPr>
          <a:xfrm>
            <a:off x="485999" y="2111251"/>
            <a:ext cx="8221566"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use the number line to plot possible elevations of landforms?</a:t>
            </a:r>
            <a:endParaRPr b="0" i="0" sz="1400" u="none" cap="none" strike="noStrike">
              <a:solidFill>
                <a:srgbClr val="000000"/>
              </a:solidFill>
              <a:latin typeface="Arial"/>
              <a:ea typeface="Arial"/>
              <a:cs typeface="Arial"/>
              <a:sym typeface="Arial"/>
            </a:endParaRPr>
          </a:p>
        </p:txBody>
      </p:sp>
      <p:pic>
        <p:nvPicPr>
          <p:cNvPr id="664" name="Google Shape;664;p65"/>
          <p:cNvPicPr preferRelativeResize="0"/>
          <p:nvPr/>
        </p:nvPicPr>
        <p:blipFill rotWithShape="1">
          <a:blip r:embed="rId4">
            <a:alphaModFix/>
          </a:blip>
          <a:srcRect b="0" l="0" r="0" t="0"/>
          <a:stretch/>
        </p:blipFill>
        <p:spPr>
          <a:xfrm>
            <a:off x="872925" y="3708437"/>
            <a:ext cx="6684000" cy="540000"/>
          </a:xfrm>
          <a:prstGeom prst="rect">
            <a:avLst/>
          </a:prstGeom>
          <a:noFill/>
          <a:ln>
            <a:noFill/>
          </a:ln>
        </p:spPr>
      </p:pic>
      <p:sp>
        <p:nvSpPr>
          <p:cNvPr id="66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58</a:t>
            </a:r>
          </a:p>
        </p:txBody>
      </p:sp>
      <p:sp>
        <p:nvSpPr>
          <p:cNvPr id="66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 xmlns:p="http://schemas.openxmlformats.org/presentationml/2006/main" xmlns:a="http://schemas.openxmlformats.org/drawingml/2006/main">
        <p:nvSpPr>
          <p:cNvPr id="667"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 both revise.</a:t>
            </a:r>
            <a:endParaRPr lang="en-US"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cxnSp>
        <p:nvCxnSpPr>
          <p:cNvPr id="679" name="Google Shape;679;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0" name="Google Shape;680;p67"/>
          <p:cNvSpPr txBox="1"/>
          <p:nvPr/>
        </p:nvSpPr>
        <p:spPr>
          <a:xfrm>
            <a:off x="484565" y="5223375"/>
            <a:ext cx="10172925" cy="1107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write an inequality to represent the elevations.</a:t>
            </a:r>
            <a:endParaRPr b="0" i="0" sz="1400" u="none" cap="none" strike="noStrike">
              <a:solidFill>
                <a:srgbClr val="000000"/>
              </a:solidFill>
              <a:latin typeface="Arial"/>
              <a:ea typeface="Arial"/>
              <a:cs typeface="Arial"/>
              <a:sym typeface="Arial"/>
            </a:endParaRPr>
          </a:p>
        </p:txBody>
      </p:sp>
      <p:sp>
        <p:nvSpPr>
          <p:cNvPr id="681" name="Google Shape;681;p67"/>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Elevation</a:t>
            </a:r>
            <a:endParaRPr b="1" i="0" sz="2800" u="none" cap="none" strike="noStrike">
              <a:solidFill>
                <a:srgbClr val="7030A0"/>
              </a:solidFill>
              <a:latin typeface="Arial"/>
              <a:ea typeface="Arial"/>
              <a:cs typeface="Arial"/>
              <a:sym typeface="Arial"/>
            </a:endParaRPr>
          </a:p>
        </p:txBody>
      </p:sp>
      <p:sp>
        <p:nvSpPr>
          <p:cNvPr id="682" name="Google Shape;682;p67"/>
          <p:cNvSpPr txBox="1"/>
          <p:nvPr/>
        </p:nvSpPr>
        <p:spPr>
          <a:xfrm>
            <a:off x="484566" y="935999"/>
            <a:ext cx="4857750" cy="29597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All landforms have an elevation of 8,849 meters or less.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number line shows possible elevations of landforms.</a:t>
            </a:r>
            <a:endParaRPr b="0" i="0" sz="1400" u="none" cap="none" strike="noStrike">
              <a:solidFill>
                <a:srgbClr val="000000"/>
              </a:solidFill>
              <a:latin typeface="Arial"/>
              <a:ea typeface="Arial"/>
              <a:cs typeface="Arial"/>
              <a:sym typeface="Arial"/>
            </a:endParaRPr>
          </a:p>
        </p:txBody>
      </p:sp>
      <p:sp>
        <p:nvSpPr>
          <p:cNvPr id="683" name="Google Shape;683;p67"/>
          <p:cNvSpPr txBox="1"/>
          <p:nvPr/>
        </p:nvSpPr>
        <p:spPr>
          <a:xfrm>
            <a:off x="484565" y="4038636"/>
            <a:ext cx="10976966"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represent all possible elevations of landforms on Earth algebraically?</a:t>
            </a:r>
            <a:endParaRPr b="0" i="0" sz="1400" u="none" cap="none" strike="noStrike">
              <a:solidFill>
                <a:srgbClr val="000000"/>
              </a:solidFill>
              <a:latin typeface="Arial"/>
              <a:ea typeface="Arial"/>
              <a:cs typeface="Arial"/>
              <a:sym typeface="Arial"/>
            </a:endParaRPr>
          </a:p>
        </p:txBody>
      </p:sp>
      <p:pic>
        <p:nvPicPr>
          <p:cNvPr id="684" name="Google Shape;684;p67"/>
          <p:cNvPicPr preferRelativeResize="0"/>
          <p:nvPr/>
        </p:nvPicPr>
        <p:blipFill rotWithShape="1">
          <a:blip r:embed="rId3">
            <a:alphaModFix/>
          </a:blip>
          <a:srcRect b="0" l="0" r="0" t="0"/>
          <a:stretch/>
        </p:blipFill>
        <p:spPr>
          <a:xfrm>
            <a:off x="5342316" y="1498351"/>
            <a:ext cx="6562725" cy="1476375"/>
          </a:xfrm>
          <a:prstGeom prst="rect">
            <a:avLst/>
          </a:prstGeom>
          <a:noFill/>
          <a:ln>
            <a:noFill/>
          </a:ln>
        </p:spPr>
      </p:pic>
      <p:sp>
        <p:nvSpPr>
          <p:cNvPr id="68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58</a:t>
            </a:r>
          </a:p>
        </p:txBody>
      </p:sp>
      <p:sp>
        <p:nvSpPr>
          <p:cNvPr id="686" name="EWL-COVER-1"/>
          <p:cNvSpPr/>
          <p:nvPr/>
        </p:nvSpPr>
        <p:spPr>
          <a:xfrm>
            <a:off x="429701" y="5168511"/>
            <a:ext cx="10282653" cy="1217088"/>
          </a:xfrm>
          <a:prstGeom prst="rect">
            <a:avLst/>
          </a:prstGeom>
          <a:solidFill>
            <a:srgbClr val="FFFFFF"/>
          </a:solidFill>
          <a:ln>
            <a:noFill/>
          </a:ln>
        </p:spPr>
        <p:txBody>
          <a:bodyPr/>
          <a:lstStyle/>
          <a:p/>
        </p:txBody>
      </p:sp>
      <p:sp xmlns:p="http://schemas.openxmlformats.org/presentationml/2006/main" xmlns:a="http://schemas.openxmlformats.org/drawingml/2006/main">
        <p:nvSpPr>
          <p:cNvPr id="687"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8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cxnSp>
        <p:nvCxnSpPr>
          <p:cNvPr id="700" name="Google Shape;700;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1" name="Google Shape;701;p69"/>
          <p:cNvSpPr txBox="1"/>
          <p:nvPr/>
        </p:nvSpPr>
        <p:spPr>
          <a:xfrm>
            <a:off x="484565" y="4937793"/>
            <a:ext cx="10172925" cy="13856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Yes, because the inequality symbol represents less than or equal to, and the highest elevation is equal to 8,849.</a:t>
            </a:r>
            <a:endParaRPr b="0" i="0" sz="1400" u="none" cap="none" strike="noStrike">
              <a:solidFill>
                <a:srgbClr val="000000"/>
              </a:solidFill>
              <a:latin typeface="Arial"/>
              <a:ea typeface="Arial"/>
              <a:cs typeface="Arial"/>
              <a:sym typeface="Arial"/>
            </a:endParaRPr>
          </a:p>
        </p:txBody>
      </p:sp>
      <p:sp>
        <p:nvSpPr>
          <p:cNvPr id="702" name="Google Shape;702;p69"/>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Elevation</a:t>
            </a:r>
            <a:endParaRPr b="1" i="0" sz="2800" u="none" cap="none" strike="noStrike">
              <a:solidFill>
                <a:srgbClr val="7030A0"/>
              </a:solidFill>
              <a:latin typeface="Arial"/>
              <a:ea typeface="Arial"/>
              <a:cs typeface="Arial"/>
              <a:sym typeface="Arial"/>
            </a:endParaRPr>
          </a:p>
        </p:txBody>
      </p:sp>
      <p:sp>
        <p:nvSpPr>
          <p:cNvPr id="703" name="Google Shape;703;p69"/>
          <p:cNvSpPr txBox="1"/>
          <p:nvPr/>
        </p:nvSpPr>
        <p:spPr>
          <a:xfrm>
            <a:off x="484566" y="935999"/>
            <a:ext cx="4857750" cy="1940551"/>
          </a:xfrm>
          <a:prstGeom prst="rect">
            <a:avLst/>
          </a:prstGeom>
          <a:blipFill rotWithShape="1">
            <a:blip r:embed="rId3">
              <a:alphaModFix/>
            </a:blip>
            <a:stretch>
              <a:fillRect b="-1572" l="-2509" r="0" t="-345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04" name="Google Shape;704;p69"/>
          <p:cNvSpPr txBox="1"/>
          <p:nvPr/>
        </p:nvSpPr>
        <p:spPr>
          <a:xfrm>
            <a:off x="484565" y="3795113"/>
            <a:ext cx="1111688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Does the highest elevation on Earth, the peak of Mount Everest, satisfy the constraint represented by the inequality? Explain.</a:t>
            </a:r>
            <a:endParaRPr b="1" i="0" sz="2800" u="none" cap="none" strike="noStrike">
              <a:solidFill>
                <a:schemeClr val="dk1"/>
              </a:solidFill>
              <a:latin typeface="Arial"/>
              <a:ea typeface="Arial"/>
              <a:cs typeface="Arial"/>
              <a:sym typeface="Arial"/>
            </a:endParaRPr>
          </a:p>
        </p:txBody>
      </p:sp>
      <p:sp>
        <p:nvSpPr>
          <p:cNvPr id="705" name="Google Shape;705;p69"/>
          <p:cNvSpPr txBox="1"/>
          <p:nvPr/>
        </p:nvSpPr>
        <p:spPr>
          <a:xfrm>
            <a:off x="7896990" y="3164757"/>
            <a:ext cx="2382711"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06" name="Google Shape;706;p69"/>
          <p:cNvPicPr preferRelativeResize="0"/>
          <p:nvPr/>
        </p:nvPicPr>
        <p:blipFill rotWithShape="1">
          <a:blip r:embed="rId5">
            <a:alphaModFix/>
          </a:blip>
          <a:srcRect b="0" l="0" r="0" t="0"/>
          <a:stretch/>
        </p:blipFill>
        <p:spPr>
          <a:xfrm>
            <a:off x="5342316" y="1498351"/>
            <a:ext cx="6562725" cy="1476375"/>
          </a:xfrm>
          <a:prstGeom prst="rect">
            <a:avLst/>
          </a:prstGeom>
          <a:noFill/>
          <a:ln>
            <a:noFill/>
          </a:ln>
        </p:spPr>
      </p:pic>
      <p:sp>
        <p:nvSpPr>
          <p:cNvPr id="70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58</a:t>
            </a:r>
          </a:p>
        </p:txBody>
      </p:sp>
      <p:sp>
        <p:nvSpPr>
          <p:cNvPr id="708" name="EWL-COVER-1"/>
          <p:cNvSpPr/>
          <p:nvPr/>
        </p:nvSpPr>
        <p:spPr>
          <a:xfrm>
            <a:off x="429701" y="4882929"/>
            <a:ext cx="10282653" cy="1495337"/>
          </a:xfrm>
          <a:prstGeom prst="rect">
            <a:avLst/>
          </a:prstGeom>
          <a:solidFill>
            <a:srgbClr val="FFFFFF"/>
          </a:solidFill>
          <a:ln>
            <a:noFill/>
          </a:ln>
        </p:spPr>
        <p:txBody>
          <a:bodyPr/>
          <a:lstStyle/>
          <a:p/>
        </p:txBody>
      </p:sp>
      <p:grpSp>
        <p:nvGrpSpPr>
          <p:cNvPr id="709" name="TEACH-3-student-move" descr="TEACH 3 · Use intentional questioning to deepen learning"/>
          <p:cNvGrpSpPr/>
          <p:nvPr/>
        </p:nvGrpSpPr>
        <p:grpSpPr>
          <a:xfrm>
            <a:off x="6187440" y="821695"/>
            <a:ext cx="5501640" cy="594360"/>
            <a:chOff x="6187440" y="821695"/>
            <a:chExt cx="5501640" cy="594360"/>
          </a:xfrm>
        </p:grpSpPr>
        <p:sp>
          <p:nvSpPr>
            <p:cNvPr id="710" name="TEACH-move-card"/>
            <p:cNvSpPr/>
            <p:nvPr/>
          </p:nvSpPr>
          <p:spPr>
            <a:xfrm>
              <a:off x="6187440" y="821695"/>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11" name="TEACH-move-rule"/>
            <p:cNvSpPr/>
            <p:nvPr/>
          </p:nvSpPr>
          <p:spPr>
            <a:xfrm>
              <a:off x="6233160" y="934623"/>
              <a:ext cx="100584" cy="368504"/>
            </a:xfrm>
            <a:prstGeom prst="roundRect">
              <a:avLst>
                <a:gd name="adj" fmla="val 50000"/>
              </a:avLst>
            </a:prstGeom>
            <a:solidFill>
              <a:srgbClr val="01708C"/>
            </a:solidFill>
            <a:ln>
              <a:noFill/>
            </a:ln>
          </p:spPr>
          <p:txBody>
            <a:bodyPr/>
            <a:lstStyle/>
            <a:p>
              <a:endParaRPr/>
            </a:p>
          </p:txBody>
        </p:sp>
        <p:sp>
          <p:nvSpPr>
            <p:cNvPr id="712" name="TEACH-move-text"/>
            <p:cNvSpPr txBox="1"/>
            <p:nvPr/>
          </p:nvSpPr>
          <p:spPr>
            <a:xfrm>
              <a:off x="6507480" y="821695"/>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0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cxnSp>
        <p:nvCxnSpPr>
          <p:cNvPr id="711" name="Google Shape;711;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2" name="Google Shape;712;p70"/>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Elevation</a:t>
            </a:r>
            <a:endParaRPr b="1" i="0" sz="2800" u="none" cap="none" strike="noStrike">
              <a:solidFill>
                <a:srgbClr val="7030A0"/>
              </a:solidFill>
              <a:latin typeface="Arial"/>
              <a:ea typeface="Arial"/>
              <a:cs typeface="Arial"/>
              <a:sym typeface="Arial"/>
            </a:endParaRPr>
          </a:p>
        </p:txBody>
      </p:sp>
      <p:sp>
        <p:nvSpPr>
          <p:cNvPr id="713" name="Google Shape;713;p70"/>
          <p:cNvSpPr txBox="1"/>
          <p:nvPr/>
        </p:nvSpPr>
        <p:spPr>
          <a:xfrm>
            <a:off x="484565" y="936000"/>
            <a:ext cx="3296860"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4" name="Google Shape;714;p70"/>
          <p:cNvSpPr txBox="1"/>
          <p:nvPr/>
        </p:nvSpPr>
        <p:spPr>
          <a:xfrm>
            <a:off x="484565" y="1745836"/>
            <a:ext cx="10976966"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 xml:space="preserve">Because the inequality symbol represents less than </a:t>
            </a:r>
            <a:r>
              <a:rPr b="0" i="1" lang="en-US" sz="2800" u="none" cap="none" strike="noStrike">
                <a:solidFill>
                  <a:schemeClr val="dk1"/>
                </a:solidFill>
                <a:latin typeface="Arial"/>
                <a:ea typeface="Arial"/>
                <a:cs typeface="Arial"/>
                <a:sym typeface="Arial"/>
              </a:rPr>
              <a:t>or equal to</a:t>
            </a:r>
            <a:r>
              <a:rPr b="0" i="0" lang="en-US" sz="2800" u="none" cap="none" strike="noStrike">
                <a:solidFill>
                  <a:schemeClr val="dk1"/>
                </a:solidFill>
                <a:latin typeface="Arial"/>
                <a:ea typeface="Arial"/>
                <a:cs typeface="Arial"/>
                <a:sym typeface="Arial"/>
              </a:rPr>
              <a:t>, the elevation of the peak of Mount Everest, 8,849 meters, satisfies the constraint.</a:t>
            </a:r>
            <a:endParaRPr b="0" i="0" sz="1400" u="none" cap="none" strike="noStrike">
              <a:solidFill>
                <a:srgbClr val="000000"/>
              </a:solidFill>
              <a:latin typeface="Arial"/>
              <a:ea typeface="Arial"/>
              <a:cs typeface="Arial"/>
              <a:sym typeface="Arial"/>
            </a:endParaRPr>
          </a:p>
        </p:txBody>
      </p:sp>
      <p:sp>
        <p:nvSpPr>
          <p:cNvPr id="715" name="Google Shape;715;p70"/>
          <p:cNvSpPr txBox="1"/>
          <p:nvPr/>
        </p:nvSpPr>
        <p:spPr>
          <a:xfrm>
            <a:off x="484565" y="5180438"/>
            <a:ext cx="1083507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We can plot the highest, or maximum, elevation on the number line.</a:t>
            </a:r>
            <a:endParaRPr b="0" i="0" sz="1400" u="none" cap="none" strike="noStrike">
              <a:solidFill>
                <a:srgbClr val="000000"/>
              </a:solidFill>
              <a:latin typeface="Arial"/>
              <a:ea typeface="Arial"/>
              <a:cs typeface="Arial"/>
              <a:sym typeface="Arial"/>
            </a:endParaRPr>
          </a:p>
        </p:txBody>
      </p:sp>
      <p:pic>
        <p:nvPicPr>
          <p:cNvPr id="716" name="Google Shape;716;p70"/>
          <p:cNvPicPr preferRelativeResize="0"/>
          <p:nvPr/>
        </p:nvPicPr>
        <p:blipFill rotWithShape="1">
          <a:blip r:embed="rId4">
            <a:alphaModFix/>
          </a:blip>
          <a:srcRect b="0" l="0" r="0" t="0"/>
          <a:stretch/>
        </p:blipFill>
        <p:spPr>
          <a:xfrm>
            <a:off x="2370515" y="3417447"/>
            <a:ext cx="6562725" cy="1476375"/>
          </a:xfrm>
          <a:prstGeom prst="rect">
            <a:avLst/>
          </a:prstGeom>
          <a:noFill/>
          <a:ln>
            <a:noFill/>
          </a:ln>
        </p:spPr>
      </p:pic>
      <p:sp>
        <p:nvSpPr>
          <p:cNvPr id="71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58</a:t>
            </a:r>
          </a:p>
        </p:txBody>
      </p:sp>
      <p:grpSp>
        <p:nvGrpSpPr>
          <p:cNvPr id="718" name="TEACH-5-student-move" descr="TEACH 5 · Facilitate student interactions and academic talk"/>
          <p:cNvGrpSpPr/>
          <p:nvPr/>
        </p:nvGrpSpPr>
        <p:grpSpPr>
          <a:xfrm>
            <a:off x="502920" y="5740234"/>
            <a:ext cx="11186160" cy="457200"/>
            <a:chOff x="502920" y="5740234"/>
            <a:chExt cx="11186160" cy="457200"/>
          </a:xfrm>
        </p:grpSpPr>
        <p:sp>
          <p:nvSpPr>
            <p:cNvPr id="719" name="TEACH-move-card"/>
            <p:cNvSpPr/>
            <p:nvPr/>
          </p:nvSpPr>
          <p:spPr>
            <a:xfrm>
              <a:off x="502920" y="5740234"/>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720" name="TEACH-move-rule"/>
            <p:cNvSpPr/>
            <p:nvPr/>
          </p:nvSpPr>
          <p:spPr>
            <a:xfrm>
              <a:off x="548640" y="5827102"/>
              <a:ext cx="100584" cy="283464"/>
            </a:xfrm>
            <a:prstGeom prst="roundRect">
              <a:avLst>
                <a:gd name="adj" fmla="val 50000"/>
              </a:avLst>
            </a:prstGeom>
            <a:solidFill>
              <a:srgbClr val="01708C"/>
            </a:solidFill>
            <a:ln>
              <a:noFill/>
            </a:ln>
          </p:spPr>
          <p:txBody>
            <a:bodyPr/>
            <a:lstStyle/>
            <a:p>
              <a:endParaRPr/>
            </a:p>
          </p:txBody>
        </p:sp>
        <p:sp>
          <p:nvSpPr>
            <p:cNvPr id="721" name="TEACH-move-text"/>
            <p:cNvSpPr txBox="1"/>
            <p:nvPr/>
          </p:nvSpPr>
          <p:spPr>
            <a:xfrm>
              <a:off x="822960" y="5740234"/>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cxnSp>
        <p:nvCxnSpPr>
          <p:cNvPr id="748" name="Google Shape;748;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49" name="Google Shape;749;p74"/>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Elevation</a:t>
            </a:r>
            <a:endParaRPr b="1" i="0" sz="2800" u="none" cap="none" strike="noStrike">
              <a:solidFill>
                <a:srgbClr val="7030A0"/>
              </a:solidFill>
              <a:latin typeface="Arial"/>
              <a:ea typeface="Arial"/>
              <a:cs typeface="Arial"/>
              <a:sym typeface="Arial"/>
            </a:endParaRPr>
          </a:p>
        </p:txBody>
      </p:sp>
      <p:sp>
        <p:nvSpPr>
          <p:cNvPr id="750" name="Google Shape;750;p74"/>
          <p:cNvSpPr txBox="1"/>
          <p:nvPr/>
        </p:nvSpPr>
        <p:spPr>
          <a:xfrm>
            <a:off x="484565" y="4635756"/>
            <a:ext cx="1088346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would need to plot a point at every value that is less than, or to the left of, 8,849.</a:t>
            </a:r>
            <a:endParaRPr b="1" i="0" sz="2800" u="none" cap="none" strike="noStrike">
              <a:solidFill>
                <a:srgbClr val="595959"/>
              </a:solidFill>
              <a:latin typeface="Arial"/>
              <a:ea typeface="Arial"/>
              <a:cs typeface="Arial"/>
              <a:sym typeface="Arial"/>
            </a:endParaRPr>
          </a:p>
        </p:txBody>
      </p:sp>
      <p:sp>
        <p:nvSpPr>
          <p:cNvPr id="751" name="Google Shape;751;p74"/>
          <p:cNvSpPr txBox="1"/>
          <p:nvPr/>
        </p:nvSpPr>
        <p:spPr>
          <a:xfrm>
            <a:off x="484565" y="936000"/>
            <a:ext cx="737356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points would you need to plot to represent every other possible elevation?</a:t>
            </a:r>
            <a:endParaRPr b="1" i="0" sz="2800" u="none" cap="none" strike="noStrike">
              <a:solidFill>
                <a:schemeClr val="dk1"/>
              </a:solidFill>
              <a:latin typeface="Arial"/>
              <a:ea typeface="Arial"/>
              <a:cs typeface="Arial"/>
              <a:sym typeface="Arial"/>
            </a:endParaRPr>
          </a:p>
        </p:txBody>
      </p:sp>
      <p:pic>
        <p:nvPicPr>
          <p:cNvPr id="752" name="Google Shape;752;p74"/>
          <p:cNvPicPr preferRelativeResize="0"/>
          <p:nvPr/>
        </p:nvPicPr>
        <p:blipFill rotWithShape="1">
          <a:blip r:embed="rId3">
            <a:alphaModFix/>
          </a:blip>
          <a:srcRect b="0" l="0" r="0" t="0"/>
          <a:stretch/>
        </p:blipFill>
        <p:spPr>
          <a:xfrm>
            <a:off x="1295400" y="2303022"/>
            <a:ext cx="6562725" cy="1476375"/>
          </a:xfrm>
          <a:prstGeom prst="rect">
            <a:avLst/>
          </a:prstGeom>
          <a:noFill/>
          <a:ln>
            <a:noFill/>
          </a:ln>
        </p:spPr>
      </p:pic>
      <p:sp>
        <p:nvSpPr>
          <p:cNvPr id="7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58</a:t>
            </a:r>
          </a:p>
        </p:txBody>
      </p:sp>
      <p:sp>
        <p:nvSpPr>
          <p:cNvPr id="754" name="EWL-COVER-1"/>
          <p:cNvSpPr/>
          <p:nvPr/>
        </p:nvSpPr>
        <p:spPr>
          <a:xfrm>
            <a:off x="429701" y="4580892"/>
            <a:ext cx="10993193" cy="1494723"/>
          </a:xfrm>
          <a:prstGeom prst="rect">
            <a:avLst/>
          </a:prstGeom>
          <a:solidFill>
            <a:srgbClr val="FFFFFF"/>
          </a:solidFill>
          <a:ln>
            <a:noFill/>
          </a:ln>
        </p:spPr>
        <p:txBody>
          <a:bodyPr/>
          <a:lstStyle/>
          <a:p/>
        </p:txBody>
      </p:sp>
      <p:sp xmlns:p="http://schemas.openxmlformats.org/presentationml/2006/main" xmlns:a="http://schemas.openxmlformats.org/drawingml/2006/main">
        <p:nvSpPr>
          <p:cNvPr id="755" name="TEACH-embedded-student-prompt" descr="Student thinking and response directions"/>
          <p:cNvSpPr txBox="1"/>
          <p:nvPr/>
        </p:nvSpPr>
        <p:spPr>
          <a:xfrm>
            <a:off x="594360" y="39867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cxnSp>
        <p:nvCxnSpPr>
          <p:cNvPr id="757" name="Google Shape;757;p7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8" name="Google Shape;758;p75"/>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Elevation</a:t>
            </a:r>
            <a:endParaRPr b="1" i="0" sz="2800" u="none" cap="none" strike="noStrike">
              <a:solidFill>
                <a:srgbClr val="7030A0"/>
              </a:solidFill>
              <a:latin typeface="Arial"/>
              <a:ea typeface="Arial"/>
              <a:cs typeface="Arial"/>
              <a:sym typeface="Arial"/>
            </a:endParaRPr>
          </a:p>
        </p:txBody>
      </p:sp>
      <p:pic>
        <p:nvPicPr>
          <p:cNvPr id="759" name="Google Shape;759;p75"/>
          <p:cNvPicPr preferRelativeResize="0"/>
          <p:nvPr/>
        </p:nvPicPr>
        <p:blipFill rotWithShape="1">
          <a:blip r:embed="rId3">
            <a:alphaModFix/>
          </a:blip>
          <a:srcRect b="0" l="0" r="0" t="0"/>
          <a:stretch/>
        </p:blipFill>
        <p:spPr>
          <a:xfrm>
            <a:off x="1793801" y="4231435"/>
            <a:ext cx="6591300" cy="1409700"/>
          </a:xfrm>
          <a:prstGeom prst="rect">
            <a:avLst/>
          </a:prstGeom>
          <a:noFill/>
          <a:ln>
            <a:noFill/>
          </a:ln>
        </p:spPr>
      </p:pic>
      <p:sp>
        <p:nvSpPr>
          <p:cNvPr id="760" name="Google Shape;760;p75"/>
          <p:cNvSpPr txBox="1"/>
          <p:nvPr/>
        </p:nvSpPr>
        <p:spPr>
          <a:xfrm>
            <a:off x="486000" y="936000"/>
            <a:ext cx="6589986"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61" name="Google Shape;761;p75"/>
          <p:cNvSpPr txBox="1"/>
          <p:nvPr/>
        </p:nvSpPr>
        <p:spPr>
          <a:xfrm>
            <a:off x="486000" y="1579006"/>
            <a:ext cx="1118191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Every value less than 8,849 is a solution of the inequality.</a:t>
            </a:r>
            <a:endParaRPr b="0" i="0" sz="2800" u="none" cap="none" strike="noStrike">
              <a:solidFill>
                <a:schemeClr val="dk1"/>
              </a:solidFill>
              <a:latin typeface="Arial"/>
              <a:ea typeface="Arial"/>
              <a:cs typeface="Arial"/>
              <a:sym typeface="Arial"/>
            </a:endParaRPr>
          </a:p>
        </p:txBody>
      </p:sp>
      <p:sp>
        <p:nvSpPr>
          <p:cNvPr id="762" name="Google Shape;762;p75"/>
          <p:cNvSpPr txBox="1"/>
          <p:nvPr/>
        </p:nvSpPr>
        <p:spPr>
          <a:xfrm>
            <a:off x="486000" y="2274308"/>
            <a:ext cx="955335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Rather than plotting a point for every possible solution, we can use an arrow. Every value covered by the arrow is included in the solution.</a:t>
            </a:r>
            <a:endParaRPr b="0" i="0" sz="2800" u="none" cap="none" strike="noStrike">
              <a:solidFill>
                <a:schemeClr val="dk1"/>
              </a:solidFill>
              <a:latin typeface="Arial"/>
              <a:ea typeface="Arial"/>
              <a:cs typeface="Arial"/>
              <a:sym typeface="Arial"/>
            </a:endParaRPr>
          </a:p>
        </p:txBody>
      </p:sp>
      <p:sp>
        <p:nvSpPr>
          <p:cNvPr id="76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58</a:t>
            </a:r>
          </a:p>
        </p:txBody>
      </p:sp>
      <p:grpSp>
        <p:nvGrpSpPr>
          <p:cNvPr id="764" name="TEACH-4-student-move" descr="TEACH 4 · Monitor progress and provide feedback"/>
          <p:cNvGrpSpPr/>
          <p:nvPr/>
        </p:nvGrpSpPr>
        <p:grpSpPr>
          <a:xfrm>
            <a:off x="502920" y="5723431"/>
            <a:ext cx="11186160" cy="548640"/>
            <a:chOff x="502920" y="5723431"/>
            <a:chExt cx="11186160" cy="548640"/>
          </a:xfrm>
        </p:grpSpPr>
        <p:sp>
          <p:nvSpPr>
            <p:cNvPr id="765" name="TEACH-move-card"/>
            <p:cNvSpPr/>
            <p:nvPr/>
          </p:nvSpPr>
          <p:spPr>
            <a:xfrm>
              <a:off x="502920" y="5723431"/>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766" name="TEACH-move-rule"/>
            <p:cNvSpPr/>
            <p:nvPr/>
          </p:nvSpPr>
          <p:spPr>
            <a:xfrm>
              <a:off x="548640" y="5827673"/>
              <a:ext cx="100584" cy="340156"/>
            </a:xfrm>
            <a:prstGeom prst="roundRect">
              <a:avLst>
                <a:gd name="adj" fmla="val 50000"/>
              </a:avLst>
            </a:prstGeom>
            <a:solidFill>
              <a:srgbClr val="01708C"/>
            </a:solidFill>
            <a:ln>
              <a:noFill/>
            </a:ln>
          </p:spPr>
          <p:txBody>
            <a:bodyPr/>
            <a:lstStyle/>
            <a:p>
              <a:endParaRPr/>
            </a:p>
          </p:txBody>
        </p:sp>
        <p:sp>
          <p:nvSpPr>
            <p:cNvPr id="767" name="TEACH-move-text"/>
            <p:cNvSpPr txBox="1"/>
            <p:nvPr/>
          </p:nvSpPr>
          <p:spPr>
            <a:xfrm>
              <a:off x="822960" y="5723431"/>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SELF-CHECK  ·  </a:t>
              </a:r>
              <a:r>
                <a:rPr lang="en-US" sz="1400" dirty="0">
                  <a:solidFill>
                    <a:srgbClr val="13303A"/>
                  </a:solidFill>
                  <a:latin typeface="Arial"/>
                </a:rPr>
                <a:t>Mark it: ✓ got it  ·  ~ almost  ·  ? stuck. Then fix one thing before we move on.</a:t>
              </a:r>
              <a:endParaRPr lang="en-US" sz="1400"/>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cxnSp>
        <p:nvCxnSpPr>
          <p:cNvPr id="795" name="Google Shape;795;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6" name="Google Shape;796;p79"/>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Elevation</a:t>
            </a:r>
            <a:endParaRPr b="1" i="0" sz="2800" u="none" cap="none" strike="noStrike">
              <a:solidFill>
                <a:srgbClr val="7030A0"/>
              </a:solidFill>
              <a:latin typeface="Arial"/>
              <a:ea typeface="Arial"/>
              <a:cs typeface="Arial"/>
              <a:sym typeface="Arial"/>
            </a:endParaRPr>
          </a:p>
        </p:txBody>
      </p:sp>
      <p:pic>
        <p:nvPicPr>
          <p:cNvPr id="797" name="Google Shape;797;p79"/>
          <p:cNvPicPr preferRelativeResize="0"/>
          <p:nvPr/>
        </p:nvPicPr>
        <p:blipFill rotWithShape="1">
          <a:blip r:embed="rId3">
            <a:alphaModFix/>
          </a:blip>
          <a:srcRect b="0" l="0" r="0" t="0"/>
          <a:stretch/>
        </p:blipFill>
        <p:spPr>
          <a:xfrm>
            <a:off x="484565" y="4751664"/>
            <a:ext cx="5054600" cy="838200"/>
          </a:xfrm>
          <a:prstGeom prst="rect">
            <a:avLst/>
          </a:prstGeom>
          <a:noFill/>
          <a:ln>
            <a:noFill/>
          </a:ln>
        </p:spPr>
      </p:pic>
      <p:sp>
        <p:nvSpPr>
          <p:cNvPr id="798" name="Google Shape;798;p79"/>
          <p:cNvSpPr txBox="1"/>
          <p:nvPr/>
        </p:nvSpPr>
        <p:spPr>
          <a:xfrm>
            <a:off x="3216165" y="4909154"/>
            <a:ext cx="212834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Justifying</a:t>
            </a:r>
            <a:endParaRPr b="0" i="0" sz="1400" u="none" cap="none" strike="noStrike">
              <a:solidFill>
                <a:srgbClr val="000000"/>
              </a:solidFill>
              <a:latin typeface="Arial"/>
              <a:ea typeface="Arial"/>
              <a:cs typeface="Arial"/>
              <a:sym typeface="Arial"/>
            </a:endParaRPr>
          </a:p>
        </p:txBody>
      </p:sp>
      <p:sp>
        <p:nvSpPr>
          <p:cNvPr id="799" name="Google Shape;799;p79"/>
          <p:cNvSpPr txBox="1"/>
          <p:nvPr/>
        </p:nvSpPr>
        <p:spPr>
          <a:xfrm>
            <a:off x="484565" y="5567204"/>
            <a:ext cx="914816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595959"/>
                </a:solidFill>
                <a:latin typeface="Arial"/>
                <a:ea typeface="Arial"/>
                <a:cs typeface="Arial"/>
                <a:sym typeface="Arial"/>
              </a:rPr>
              <a:t>How can you use mathematics to justify your strategy?</a:t>
            </a:r>
            <a:endParaRPr b="0" i="0" sz="1400" u="none" cap="none" strike="noStrike">
              <a:solidFill>
                <a:srgbClr val="000000"/>
              </a:solidFill>
              <a:latin typeface="Arial"/>
              <a:ea typeface="Arial"/>
              <a:cs typeface="Arial"/>
              <a:sym typeface="Arial"/>
            </a:endParaRPr>
          </a:p>
        </p:txBody>
      </p:sp>
      <p:sp>
        <p:nvSpPr>
          <p:cNvPr id="800" name="Google Shape;800;p79"/>
          <p:cNvSpPr txBox="1"/>
          <p:nvPr/>
        </p:nvSpPr>
        <p:spPr>
          <a:xfrm>
            <a:off x="484565" y="936000"/>
            <a:ext cx="761168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points would you need to plot to represent every other possible elevation?</a:t>
            </a:r>
            <a:endParaRPr b="1" i="0" sz="2800" u="none" cap="none" strike="noStrike">
              <a:solidFill>
                <a:schemeClr val="dk1"/>
              </a:solidFill>
              <a:latin typeface="Arial"/>
              <a:ea typeface="Arial"/>
              <a:cs typeface="Arial"/>
              <a:sym typeface="Arial"/>
            </a:endParaRPr>
          </a:p>
        </p:txBody>
      </p:sp>
      <p:pic>
        <p:nvPicPr>
          <p:cNvPr id="801" name="Google Shape;801;p79"/>
          <p:cNvPicPr preferRelativeResize="0"/>
          <p:nvPr/>
        </p:nvPicPr>
        <p:blipFill rotWithShape="1">
          <a:blip r:embed="rId4">
            <a:alphaModFix/>
          </a:blip>
          <a:srcRect b="0" l="0" r="0" t="0"/>
          <a:stretch/>
        </p:blipFill>
        <p:spPr>
          <a:xfrm>
            <a:off x="1122740" y="2413630"/>
            <a:ext cx="6591300" cy="1409700"/>
          </a:xfrm>
          <a:prstGeom prst="rect">
            <a:avLst/>
          </a:prstGeom>
          <a:noFill/>
          <a:ln>
            <a:noFill/>
          </a:ln>
        </p:spPr>
      </p:pic>
      <p:sp>
        <p:nvSpPr>
          <p:cNvPr id="8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58</a:t>
            </a:r>
          </a:p>
        </p:txBody>
      </p:sp>
      <p:sp xmlns:p="http://schemas.openxmlformats.org/presentationml/2006/main" xmlns:a="http://schemas.openxmlformats.org/drawingml/2006/main">
        <p:nvSpPr>
          <p:cNvPr id="803"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cxnSp>
        <p:nvCxnSpPr>
          <p:cNvPr id="818" name="Google Shape;818;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19" name="Google Shape;819;p8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20" name="Google Shape;820;p81"/>
          <p:cNvSpPr txBox="1"/>
          <p:nvPr/>
        </p:nvSpPr>
        <p:spPr>
          <a:xfrm>
            <a:off x="484565" y="2438419"/>
            <a:ext cx="7764085" cy="136205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Is it possible for a landform to have an elevation of 8,850 meters? Explain your reasoning.</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chemeClr val="dk1"/>
              </a:solidFill>
              <a:latin typeface="Arial"/>
              <a:ea typeface="Arial"/>
              <a:cs typeface="Arial"/>
              <a:sym typeface="Arial"/>
            </a:endParaRPr>
          </a:p>
        </p:txBody>
      </p:sp>
      <p:sp>
        <p:nvSpPr>
          <p:cNvPr id="821" name="Google Shape;821;p81"/>
          <p:cNvSpPr/>
          <p:nvPr/>
        </p:nvSpPr>
        <p:spPr>
          <a:xfrm>
            <a:off x="484565" y="3917898"/>
            <a:ext cx="7764085" cy="2151825"/>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22" name="Google Shape;822;p81"/>
          <p:cNvSpPr txBox="1"/>
          <p:nvPr/>
        </p:nvSpPr>
        <p:spPr>
          <a:xfrm>
            <a:off x="7041781" y="5649286"/>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23" name="Google Shape;823;p81"/>
          <p:cNvSpPr txBox="1"/>
          <p:nvPr/>
        </p:nvSpPr>
        <p:spPr>
          <a:xfrm>
            <a:off x="486000" y="936000"/>
            <a:ext cx="7762650" cy="1384995"/>
          </a:xfrm>
          <a:prstGeom prst="rect">
            <a:avLst/>
          </a:prstGeom>
          <a:blipFill rotWithShape="1">
            <a:blip r:embed="rId3">
              <a:alphaModFix/>
            </a:blip>
            <a:stretch>
              <a:fillRect b="-11454" l="-1650" r="0" t="-484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58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8.5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Which test values verify the endpoint and shaded direction of your graph?</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cxnSp>
        <p:nvCxnSpPr>
          <p:cNvPr id="828" name="Google Shape;828;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9" name="Google Shape;829;p8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30" name="Google Shape;830;p82"/>
          <p:cNvSpPr/>
          <p:nvPr/>
        </p:nvSpPr>
        <p:spPr>
          <a:xfrm>
            <a:off x="484565" y="2512995"/>
            <a:ext cx="8170704" cy="2863046"/>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31" name="Google Shape;831;p82"/>
          <p:cNvSpPr txBox="1"/>
          <p:nvPr/>
        </p:nvSpPr>
        <p:spPr>
          <a:xfrm>
            <a:off x="7117324" y="4697234"/>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32" name="Google Shape;832;p82"/>
          <p:cNvSpPr txBox="1"/>
          <p:nvPr/>
        </p:nvSpPr>
        <p:spPr>
          <a:xfrm>
            <a:off x="484564" y="949082"/>
            <a:ext cx="8170703" cy="1384995"/>
          </a:xfrm>
          <a:prstGeom prst="rect">
            <a:avLst/>
          </a:prstGeom>
          <a:blipFill rotWithShape="1">
            <a:blip r:embed="rId3">
              <a:alphaModFix/>
            </a:blip>
            <a:stretch>
              <a:fillRect b="-11454" l="-1342" r="0" t="-484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58</a:t>
            </a:r>
          </a:p>
        </p:txBody>
      </p:sp>
      <p:sp xmlns:p="http://schemas.openxmlformats.org/presentationml/2006/main" xmlns:a="http://schemas.openxmlformats.org/drawingml/2006/main">
        <p:nvSpPr>
          <p:cNvPr id="834"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 one choice and revise.</a:t>
            </a:r>
            <a:endParaRPr lang="en-US" sz="200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20" name="Google Shape;620;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1" name="Google Shape;621;p61"/>
          <p:cNvSpPr txBox="1"/>
          <p:nvPr/>
        </p:nvSpPr>
        <p:spPr>
          <a:xfrm>
            <a:off x="486000" y="3433041"/>
            <a:ext cx="7802184"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constraint exists on the elevations of landforms on Earth?</a:t>
            </a:r>
            <a:endParaRPr b="1" i="0" sz="2800" u="none" cap="none" strike="noStrike">
              <a:solidFill>
                <a:srgbClr val="262626"/>
              </a:solidFill>
              <a:latin typeface="Arial"/>
              <a:ea typeface="Arial"/>
              <a:cs typeface="Arial"/>
              <a:sym typeface="Arial"/>
            </a:endParaRPr>
          </a:p>
        </p:txBody>
      </p:sp>
      <p:sp>
        <p:nvSpPr>
          <p:cNvPr id="622" name="Google Shape;622;p61"/>
          <p:cNvSpPr txBox="1"/>
          <p:nvPr/>
        </p:nvSpPr>
        <p:spPr>
          <a:xfrm>
            <a:off x="486000" y="4607049"/>
            <a:ext cx="10046801" cy="15422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All landforms have an elevation of 8,849 meters or less.</a:t>
            </a:r>
            <a:endParaRPr b="0" i="0" sz="1400" u="none" cap="none" strike="noStrike">
              <a:solidFill>
                <a:srgbClr val="000000"/>
              </a:solidFill>
              <a:latin typeface="Arial"/>
              <a:ea typeface="Arial"/>
              <a:cs typeface="Arial"/>
              <a:sym typeface="Arial"/>
            </a:endParaRPr>
          </a:p>
        </p:txBody>
      </p:sp>
      <p:sp>
        <p:nvSpPr>
          <p:cNvPr id="623" name="Google Shape;623;p61"/>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Elevation</a:t>
            </a:r>
            <a:endParaRPr b="1" i="0" sz="2800" u="none" cap="none" strike="noStrike">
              <a:solidFill>
                <a:srgbClr val="7030A0"/>
              </a:solidFill>
              <a:latin typeface="Arial"/>
              <a:ea typeface="Arial"/>
              <a:cs typeface="Arial"/>
              <a:sym typeface="Arial"/>
            </a:endParaRPr>
          </a:p>
        </p:txBody>
      </p:sp>
      <p:sp>
        <p:nvSpPr>
          <p:cNvPr id="624" name="Google Shape;624;p61"/>
          <p:cNvSpPr txBox="1"/>
          <p:nvPr/>
        </p:nvSpPr>
        <p:spPr>
          <a:xfrm>
            <a:off x="486000" y="936000"/>
            <a:ext cx="7524525" cy="22771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At an elevation of 8,849 meters above sea level, the peak of Mount Everest is the highest point of elevation on Earth. How can you represent the possible elevations of landforms on Earth?</a:t>
            </a:r>
            <a:endParaRPr b="0" i="0" sz="1400" u="none" cap="none" strike="noStrike">
              <a:solidFill>
                <a:srgbClr val="000000"/>
              </a:solidFill>
              <a:latin typeface="Arial"/>
              <a:ea typeface="Arial"/>
              <a:cs typeface="Arial"/>
              <a:sym typeface="Arial"/>
            </a:endParaRPr>
          </a:p>
        </p:txBody>
      </p:sp>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58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76" name="Google Shape;776;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7" name="Google Shape;777;p77"/>
          <p:cNvSpPr txBox="1"/>
          <p:nvPr/>
        </p:nvSpPr>
        <p:spPr>
          <a:xfrm>
            <a:off x="484565" y="316034"/>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Elevation</a:t>
            </a:r>
            <a:endParaRPr b="1" i="0" sz="2800" u="none" cap="none" strike="noStrike">
              <a:solidFill>
                <a:srgbClr val="7030A0"/>
              </a:solidFill>
              <a:latin typeface="Arial"/>
              <a:ea typeface="Arial"/>
              <a:cs typeface="Arial"/>
              <a:sym typeface="Arial"/>
            </a:endParaRPr>
          </a:p>
        </p:txBody>
      </p:sp>
      <p:sp>
        <p:nvSpPr>
          <p:cNvPr id="778" name="Google Shape;778;p77"/>
          <p:cNvSpPr txBox="1"/>
          <p:nvPr/>
        </p:nvSpPr>
        <p:spPr>
          <a:xfrm>
            <a:off x="484565" y="4635756"/>
            <a:ext cx="1088346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arrow points left, and a value being to the left of 8,849 on a number line indicates that the value is </a:t>
            </a:r>
            <a:r>
              <a:rPr b="0" i="1" lang="en-US" sz="2800" u="none" cap="none" strike="noStrike">
                <a:solidFill>
                  <a:srgbClr val="595959"/>
                </a:solidFill>
                <a:latin typeface="Arial"/>
                <a:ea typeface="Arial"/>
                <a:cs typeface="Arial"/>
                <a:sym typeface="Arial"/>
              </a:rPr>
              <a:t>less than </a:t>
            </a:r>
            <a:r>
              <a:rPr b="0" i="0" lang="en-US" sz="2800" u="none" cap="none" strike="noStrike">
                <a:solidFill>
                  <a:srgbClr val="595959"/>
                </a:solidFill>
                <a:latin typeface="Arial"/>
                <a:ea typeface="Arial"/>
                <a:cs typeface="Arial"/>
                <a:sym typeface="Arial"/>
              </a:rPr>
              <a:t>8,849.</a:t>
            </a:r>
            <a:endParaRPr b="1" i="0" sz="2800" u="none" cap="none" strike="noStrike">
              <a:solidFill>
                <a:srgbClr val="595959"/>
              </a:solidFill>
              <a:latin typeface="Arial"/>
              <a:ea typeface="Arial"/>
              <a:cs typeface="Arial"/>
              <a:sym typeface="Arial"/>
            </a:endParaRPr>
          </a:p>
        </p:txBody>
      </p:sp>
      <p:sp>
        <p:nvSpPr>
          <p:cNvPr id="779" name="Google Shape;779;p77"/>
          <p:cNvSpPr txBox="1"/>
          <p:nvPr/>
        </p:nvSpPr>
        <p:spPr>
          <a:xfrm>
            <a:off x="484565" y="936000"/>
            <a:ext cx="761168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points would you need to plot to represent every other possible elevation?</a:t>
            </a:r>
            <a:endParaRPr b="1" i="0" sz="2800" u="none" cap="none" strike="noStrike">
              <a:solidFill>
                <a:schemeClr val="dk1"/>
              </a:solidFill>
              <a:latin typeface="Arial"/>
              <a:ea typeface="Arial"/>
              <a:cs typeface="Arial"/>
              <a:sym typeface="Arial"/>
            </a:endParaRPr>
          </a:p>
        </p:txBody>
      </p:sp>
      <p:pic>
        <p:nvPicPr>
          <p:cNvPr id="780" name="Google Shape;780;p77"/>
          <p:cNvPicPr preferRelativeResize="0"/>
          <p:nvPr/>
        </p:nvPicPr>
        <p:blipFill rotWithShape="1">
          <a:blip r:embed="rId2">
            <a:alphaModFix/>
          </a:blip>
          <a:srcRect b="0" l="0" r="0" t="0"/>
          <a:stretch/>
        </p:blipFill>
        <p:spPr>
          <a:xfrm>
            <a:off x="1122740" y="2413630"/>
            <a:ext cx="6591300" cy="1409700"/>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58</a:t>
            </a:r>
          </a:p>
        </p:txBody>
      </p:sp>
      <p:sp xmlns:p="http://schemas.openxmlformats.org/presentationml/2006/main" xmlns:a="http://schemas.openxmlformats.org/drawingml/2006/main">
        <p:nvSpPr>
          <p:cNvPr id="781" name="TEACH-embedded-student-prompt" descr="Student thinking and response directions"/>
          <p:cNvSpPr txBox="1"/>
          <p:nvPr/>
        </p:nvSpPr>
        <p:spPr>
          <a:xfrm>
            <a:off x="594360" y="39867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On a number line, an OPEN circle is used for:</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 and ≥</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&lt; and &gt;</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Equal to</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Zero only</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On a number line, a CLOSED (solid) circle is used for:</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&lt; and &gt;</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 and ≥</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Fractions only</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No values</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To graph x &gt; 3, draw an open circle at 3 and shade:</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To the left</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To the right (greater values)</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at 3</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Both directions</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Is 4 a solution to x ≥ 4?</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No</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Yes (4 is equal to 4)</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if negative</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Cannot tell</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58</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8-5 · Understand Inequalities and Their Solutions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Graphing Boundaries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Open circle</a:t>
            </a:r>
            <a:r>
              <a:rPr b="0" i="0" lang="en-US" sz="1450" u="none" cap="none" strike="noStrike">
                <a:solidFill>
                  <a:srgbClr val="475569"/>
                </a:solidFill>
                <a:latin typeface="Arial"/>
                <a:ea typeface="Arial"/>
                <a:cs typeface="Arial"/>
                <a:sym typeface="Arial"/>
              </a:rPr>
              <a:t xml:space="preserve">: </a:t>
            </a:r>
            <a:r>
              <a:rPr b="1" i="0" lang="en-US" sz="1450" u="none" cap="none" strike="noStrike">
                <a:solidFill>
                  <a:srgbClr val="475569"/>
                </a:solidFill>
                <a:latin typeface="Arial"/>
                <a:ea typeface="Arial"/>
                <a:cs typeface="Arial"/>
                <a:sym typeface="Arial"/>
              </a:rPr>
              <a:t xml:space="preserve">boundary</a:t>
            </a:r>
            <a:r>
              <a:rPr b="0" i="0" lang="en-US" sz="1450" u="none" cap="none" strike="noStrike">
                <a:solidFill>
                  <a:srgbClr val="475569"/>
                </a:solidFill>
                <a:latin typeface="Arial"/>
                <a:ea typeface="Arial"/>
                <a:cs typeface="Arial"/>
                <a:sym typeface="Arial"/>
              </a:rPr>
              <a:t xml:space="preserve"> is NOT included (&lt; or &gt;). Closed circle: boundary IS included (≤ or ≥).</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Shading Direction</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Shade</a:t>
            </a:r>
            <a:r>
              <a:rPr b="0" i="0" lang="en-US" sz="1450" u="none" cap="none" strike="noStrike">
                <a:solidFill>
                  <a:srgbClr val="475569"/>
                </a:solidFill>
                <a:latin typeface="Arial"/>
                <a:ea typeface="Arial"/>
                <a:cs typeface="Arial"/>
                <a:sym typeface="Arial"/>
              </a:rPr>
              <a:t xml:space="preserve"> right for greater numbers (&gt; or ≥); shade left for lesser numbers (&lt; or ≤).</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Testing Solutions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Pick a test point in the shaded region and confirm it satisfies the </a:t>
            </a:r>
            <a:r>
              <a:rPr b="1" i="0" lang="en-US" sz="1450" u="none" cap="none" strike="noStrike">
                <a:solidFill>
                  <a:srgbClr val="475569"/>
                </a:solidFill>
                <a:latin typeface="Arial"/>
                <a:ea typeface="Arial"/>
                <a:cs typeface="Arial"/>
                <a:sym typeface="Arial"/>
              </a:rPr>
              <a:t xml:space="preserve">inequality</a:t>
            </a:r>
            <a:r>
              <a:rPr b="0" i="0" lang="en-US" sz="1450" u="none" cap="none" strike="noStrike">
                <a:solidFill>
                  <a:srgbClr val="475569"/>
                </a:solidFill>
                <a:latin typeface="Arial"/>
                <a:ea typeface="Arial"/>
                <a:cs typeface="Arial"/>
                <a:sym typeface="Arial"/>
              </a:rPr>
              <a:t xml:space="preserve">.</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58</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83"/>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Understand Inequalities and Their Solutions</a:t>
            </a:r>
            <a:endParaRPr b="1" i="0" sz="3600" u="none" cap="none" strike="noStrike">
              <a:solidFill>
                <a:schemeClr val="dk1"/>
              </a:solidFill>
              <a:latin typeface="Arial"/>
              <a:ea typeface="Arial"/>
              <a:cs typeface="Arial"/>
              <a:sym typeface="Arial"/>
            </a:endParaRPr>
          </a:p>
        </p:txBody>
      </p:sp>
      <p:sp>
        <p:nvSpPr>
          <p:cNvPr id="838" name="Google Shape;838;p83"/>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39" name="Google Shape;839;p83"/>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4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58</a:t>
            </a:r>
          </a:p>
        </p:txBody>
      </p:sp>
      <p:grpSp>
        <p:nvGrpSpPr>
          <p:cNvPr id="841" name="TEACH-2-student-move" descr="TEACH 2 · Use strategies and tasks to engage students in rigorous work"/>
          <p:cNvGrpSpPr/>
          <p:nvPr/>
        </p:nvGrpSpPr>
        <p:grpSpPr>
          <a:xfrm>
            <a:off x="502920" y="3867612"/>
            <a:ext cx="11186160" cy="731520"/>
            <a:chOff x="502920" y="3867612"/>
            <a:chExt cx="11186160" cy="731520"/>
          </a:xfrm>
        </p:grpSpPr>
        <p:sp>
          <p:nvSpPr>
            <p:cNvPr id="842"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43"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844"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cxnSp>
        <p:nvCxnSpPr>
          <p:cNvPr id="888" name="Google Shape;888;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9" name="Google Shape;889;p88"/>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Tornado Intensity</a:t>
            </a:r>
            <a:endParaRPr b="1" i="0" sz="2800" u="none" cap="none" strike="noStrike">
              <a:solidFill>
                <a:srgbClr val="7030A0"/>
              </a:solidFill>
              <a:latin typeface="Arial"/>
              <a:ea typeface="Arial"/>
              <a:cs typeface="Arial"/>
              <a:sym typeface="Arial"/>
            </a:endParaRPr>
          </a:p>
        </p:txBody>
      </p:sp>
      <p:sp>
        <p:nvSpPr>
          <p:cNvPr id="890" name="Google Shape;890;p88"/>
          <p:cNvSpPr txBox="1"/>
          <p:nvPr/>
        </p:nvSpPr>
        <p:spPr>
          <a:xfrm>
            <a:off x="483473" y="4982269"/>
            <a:ext cx="1088346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Wind gusts must be over 200 miles per hour to be classified as an EF-5 tornado. We can represent this with an inequality.</a:t>
            </a:r>
            <a:endParaRPr b="1" i="0" sz="2800" u="none" cap="none" strike="noStrike">
              <a:solidFill>
                <a:srgbClr val="595959"/>
              </a:solidFill>
              <a:latin typeface="Arial"/>
              <a:ea typeface="Arial"/>
              <a:cs typeface="Arial"/>
              <a:sym typeface="Arial"/>
            </a:endParaRPr>
          </a:p>
        </p:txBody>
      </p:sp>
      <p:sp>
        <p:nvSpPr>
          <p:cNvPr id="891" name="Google Shape;891;p88"/>
          <p:cNvSpPr txBox="1"/>
          <p:nvPr/>
        </p:nvSpPr>
        <p:spPr>
          <a:xfrm>
            <a:off x="485999" y="935999"/>
            <a:ext cx="7315897" cy="26612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Enhanced Fujita Scale, or EF scale, is used to assign a tornado intensity based on estimated wind gusts and related damage. The most severe category is an EF-5. How can you represent wind gusts that would result in an EF-5 rating?</a:t>
            </a:r>
            <a:endParaRPr b="1" i="0" sz="2800" u="none" cap="none" strike="noStrike">
              <a:solidFill>
                <a:schemeClr val="dk1"/>
              </a:solidFill>
              <a:latin typeface="Arial"/>
              <a:ea typeface="Arial"/>
              <a:cs typeface="Arial"/>
              <a:sym typeface="Arial"/>
            </a:endParaRPr>
          </a:p>
        </p:txBody>
      </p:sp>
      <p:sp>
        <p:nvSpPr>
          <p:cNvPr id="892" name="Google Shape;892;p88"/>
          <p:cNvSpPr txBox="1"/>
          <p:nvPr/>
        </p:nvSpPr>
        <p:spPr>
          <a:xfrm>
            <a:off x="483473" y="3597274"/>
            <a:ext cx="7178568"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constraint, or limitation, exists in the problem? How can you represent the constraint?</a:t>
            </a:r>
            <a:endParaRPr b="0" i="0" sz="1400" u="none" cap="none" strike="noStrike">
              <a:solidFill>
                <a:srgbClr val="000000"/>
              </a:solidFill>
              <a:latin typeface="Arial"/>
              <a:ea typeface="Arial"/>
              <a:cs typeface="Arial"/>
              <a:sym typeface="Arial"/>
            </a:endParaRPr>
          </a:p>
        </p:txBody>
      </p:sp>
      <p:pic>
        <p:nvPicPr>
          <p:cNvPr id="893" name="Google Shape;893;p88"/>
          <p:cNvPicPr preferRelativeResize="0"/>
          <p:nvPr/>
        </p:nvPicPr>
        <p:blipFill rotWithShape="1">
          <a:blip r:embed="rId3">
            <a:alphaModFix/>
          </a:blip>
          <a:srcRect b="0" l="0" r="0" t="0"/>
          <a:stretch/>
        </p:blipFill>
        <p:spPr>
          <a:xfrm>
            <a:off x="8222988" y="1645971"/>
            <a:ext cx="3467100" cy="2933700"/>
          </a:xfrm>
          <a:prstGeom prst="rect">
            <a:avLst/>
          </a:prstGeom>
          <a:noFill/>
          <a:ln>
            <a:noFill/>
          </a:ln>
        </p:spPr>
      </p:pic>
      <p:sp>
        <p:nvSpPr>
          <p:cNvPr id="89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58</a:t>
            </a:r>
          </a:p>
        </p:txBody>
      </p:sp>
      <p:sp>
        <p:nvSpPr>
          <p:cNvPr id="895" name="EWL-COVER-1"/>
          <p:cNvSpPr/>
          <p:nvPr/>
        </p:nvSpPr>
        <p:spPr>
          <a:xfrm>
            <a:off x="428609" y="4927405"/>
            <a:ext cx="10993193" cy="1494723"/>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cxnSp>
        <p:nvCxnSpPr>
          <p:cNvPr id="909" name="Google Shape;909;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0" name="Google Shape;910;p90"/>
          <p:cNvSpPr txBox="1"/>
          <p:nvPr/>
        </p:nvSpPr>
        <p:spPr>
          <a:xfrm>
            <a:off x="484565" y="316034"/>
            <a:ext cx="5029132" cy="662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Tornado Intensity</a:t>
            </a:r>
            <a:endParaRPr b="1" i="0" sz="2800" u="none" cap="none" strike="noStrike">
              <a:solidFill>
                <a:srgbClr val="7030A0"/>
              </a:solidFill>
              <a:latin typeface="Arial"/>
              <a:ea typeface="Arial"/>
              <a:cs typeface="Arial"/>
              <a:sym typeface="Arial"/>
            </a:endParaRPr>
          </a:p>
        </p:txBody>
      </p:sp>
      <p:sp>
        <p:nvSpPr>
          <p:cNvPr id="911" name="Google Shape;911;p90"/>
          <p:cNvSpPr txBox="1"/>
          <p:nvPr/>
        </p:nvSpPr>
        <p:spPr>
          <a:xfrm>
            <a:off x="486000" y="5262969"/>
            <a:ext cx="11085889" cy="10903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If the value satisfies the inequality, then it is a solution.</a:t>
            </a:r>
            <a:endParaRPr b="1" i="0" sz="2800" u="none" cap="none" strike="noStrike">
              <a:solidFill>
                <a:srgbClr val="595959"/>
              </a:solidFill>
              <a:latin typeface="Arial"/>
              <a:ea typeface="Arial"/>
              <a:cs typeface="Arial"/>
              <a:sym typeface="Arial"/>
            </a:endParaRPr>
          </a:p>
        </p:txBody>
      </p:sp>
      <p:sp>
        <p:nvSpPr>
          <p:cNvPr id="912" name="Google Shape;912;p90"/>
          <p:cNvSpPr txBox="1"/>
          <p:nvPr/>
        </p:nvSpPr>
        <p:spPr>
          <a:xfrm>
            <a:off x="486000" y="4172620"/>
            <a:ext cx="11085889" cy="10903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How do you know whether a value is a solution of the inequality?</a:t>
            </a:r>
            <a:endParaRPr b="0" i="0" sz="1400" u="none" cap="none" strike="noStrike">
              <a:solidFill>
                <a:srgbClr val="000000"/>
              </a:solidFill>
              <a:latin typeface="Arial"/>
              <a:ea typeface="Arial"/>
              <a:cs typeface="Arial"/>
              <a:sym typeface="Arial"/>
            </a:endParaRPr>
          </a:p>
        </p:txBody>
      </p:sp>
      <p:pic>
        <p:nvPicPr>
          <p:cNvPr id="913" name="Google Shape;913;p90"/>
          <p:cNvPicPr preferRelativeResize="0"/>
          <p:nvPr/>
        </p:nvPicPr>
        <p:blipFill rotWithShape="1">
          <a:blip r:embed="rId3">
            <a:alphaModFix/>
          </a:blip>
          <a:srcRect b="0" l="0" r="0" t="0"/>
          <a:stretch/>
        </p:blipFill>
        <p:spPr>
          <a:xfrm>
            <a:off x="2186149" y="3110024"/>
            <a:ext cx="5622887" cy="898004"/>
          </a:xfrm>
          <a:prstGeom prst="rect">
            <a:avLst/>
          </a:prstGeom>
          <a:noFill/>
          <a:ln>
            <a:noFill/>
          </a:ln>
        </p:spPr>
      </p:pic>
      <p:sp>
        <p:nvSpPr>
          <p:cNvPr id="914" name="Google Shape;914;p90"/>
          <p:cNvSpPr txBox="1"/>
          <p:nvPr/>
        </p:nvSpPr>
        <p:spPr>
          <a:xfrm>
            <a:off x="486000" y="947507"/>
            <a:ext cx="864476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To be classified as an EF-5 tornado, wind gusts must be greater than 200 miles per hour.</a:t>
            </a:r>
            <a:endParaRPr b="0" i="0" sz="2800" u="none" cap="none" strike="noStrike">
              <a:solidFill>
                <a:schemeClr val="dk1"/>
              </a:solidFill>
              <a:latin typeface="Arial"/>
              <a:ea typeface="Arial"/>
              <a:cs typeface="Arial"/>
              <a:sym typeface="Arial"/>
            </a:endParaRPr>
          </a:p>
        </p:txBody>
      </p:sp>
      <p:sp>
        <p:nvSpPr>
          <p:cNvPr id="915" name="Google Shape;915;p90"/>
          <p:cNvSpPr txBox="1"/>
          <p:nvPr/>
        </p:nvSpPr>
        <p:spPr>
          <a:xfrm>
            <a:off x="486000" y="2244209"/>
            <a:ext cx="973258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Let’s write an inequality to represent the constraint.</a:t>
            </a:r>
            <a:endParaRPr b="0" i="0" sz="2800" u="none" cap="none" strike="noStrike">
              <a:solidFill>
                <a:schemeClr val="dk1"/>
              </a:solidFill>
              <a:latin typeface="Arial"/>
              <a:ea typeface="Arial"/>
              <a:cs typeface="Arial"/>
              <a:sym typeface="Arial"/>
            </a:endParaRPr>
          </a:p>
        </p:txBody>
      </p:sp>
      <p:sp>
        <p:nvSpPr>
          <p:cNvPr id="9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58</a:t>
            </a:r>
          </a:p>
        </p:txBody>
      </p:sp>
      <p:sp>
        <p:nvSpPr>
          <p:cNvPr id="917" name="EWL-COVER-1"/>
          <p:cNvSpPr/>
          <p:nvPr/>
        </p:nvSpPr>
        <p:spPr>
          <a:xfrm>
            <a:off x="431136" y="5208105"/>
            <a:ext cx="11195617" cy="1200077"/>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cxnSp>
        <p:nvCxnSpPr>
          <p:cNvPr id="931" name="Google Shape;931;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2" name="Google Shape;932;p92"/>
          <p:cNvSpPr txBox="1"/>
          <p:nvPr/>
        </p:nvSpPr>
        <p:spPr>
          <a:xfrm>
            <a:off x="484565" y="316034"/>
            <a:ext cx="5029132" cy="662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Tornado Intensity</a:t>
            </a:r>
            <a:endParaRPr b="1" i="0" sz="2800" u="none" cap="none" strike="noStrike">
              <a:solidFill>
                <a:srgbClr val="7030A0"/>
              </a:solidFill>
              <a:latin typeface="Arial"/>
              <a:ea typeface="Arial"/>
              <a:cs typeface="Arial"/>
              <a:sym typeface="Arial"/>
            </a:endParaRPr>
          </a:p>
        </p:txBody>
      </p:sp>
      <p:sp>
        <p:nvSpPr>
          <p:cNvPr id="933" name="Google Shape;933;p92"/>
          <p:cNvSpPr txBox="1"/>
          <p:nvPr/>
        </p:nvSpPr>
        <p:spPr>
          <a:xfrm>
            <a:off x="486000" y="4860000"/>
            <a:ext cx="11085889" cy="14653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Values less than or equal to 200 are not solutions of the inequality. Values greater than 200 are solutions.</a:t>
            </a:r>
            <a:endParaRPr b="1" i="0" sz="2800" u="none" cap="none" strike="noStrike">
              <a:solidFill>
                <a:srgbClr val="595959"/>
              </a:solidFill>
              <a:latin typeface="Arial"/>
              <a:ea typeface="Arial"/>
              <a:cs typeface="Arial"/>
              <a:sym typeface="Arial"/>
            </a:endParaRPr>
          </a:p>
        </p:txBody>
      </p:sp>
      <p:sp>
        <p:nvSpPr>
          <p:cNvPr id="934" name="Google Shape;934;p92"/>
          <p:cNvSpPr txBox="1"/>
          <p:nvPr/>
        </p:nvSpPr>
        <p:spPr>
          <a:xfrm>
            <a:off x="486000" y="3227540"/>
            <a:ext cx="5901560" cy="14873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What can you say about values less than 200? equal to 200? greater than 200?</a:t>
            </a:r>
            <a:endParaRPr b="0" i="0" sz="1400" u="none" cap="none" strike="noStrike">
              <a:solidFill>
                <a:srgbClr val="000000"/>
              </a:solidFill>
              <a:latin typeface="Arial"/>
              <a:ea typeface="Arial"/>
              <a:cs typeface="Arial"/>
              <a:sym typeface="Arial"/>
            </a:endParaRPr>
          </a:p>
        </p:txBody>
      </p:sp>
      <p:pic>
        <p:nvPicPr>
          <p:cNvPr id="935" name="Google Shape;935;p92"/>
          <p:cNvPicPr preferRelativeResize="0"/>
          <p:nvPr/>
        </p:nvPicPr>
        <p:blipFill rotWithShape="1">
          <a:blip r:embed="rId3">
            <a:alphaModFix/>
          </a:blip>
          <a:srcRect b="0" l="0" r="0" t="0"/>
          <a:stretch/>
        </p:blipFill>
        <p:spPr>
          <a:xfrm>
            <a:off x="6602138" y="2007959"/>
            <a:ext cx="5086350" cy="1609725"/>
          </a:xfrm>
          <a:prstGeom prst="rect">
            <a:avLst/>
          </a:prstGeom>
          <a:noFill/>
          <a:ln>
            <a:noFill/>
          </a:ln>
        </p:spPr>
      </p:pic>
      <p:sp>
        <p:nvSpPr>
          <p:cNvPr id="936" name="Google Shape;936;p92"/>
          <p:cNvSpPr txBox="1"/>
          <p:nvPr/>
        </p:nvSpPr>
        <p:spPr>
          <a:xfrm>
            <a:off x="486000" y="947507"/>
            <a:ext cx="5901560" cy="954107"/>
          </a:xfrm>
          <a:prstGeom prst="rect">
            <a:avLst/>
          </a:prstGeom>
          <a:blipFill rotWithShape="1">
            <a:blip r:embed="rId4">
              <a:alphaModFix/>
            </a:blip>
            <a:stretch>
              <a:fillRect b="-16561" l="-2169" r="0"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37" name="Google Shape;937;p92"/>
          <p:cNvSpPr txBox="1"/>
          <p:nvPr/>
        </p:nvSpPr>
        <p:spPr>
          <a:xfrm>
            <a:off x="486000" y="2087523"/>
            <a:ext cx="590156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Let’s test some values using substitution.</a:t>
            </a:r>
            <a:endParaRPr b="0" i="0" sz="1400" u="none" cap="none" strike="noStrike">
              <a:solidFill>
                <a:srgbClr val="000000"/>
              </a:solidFill>
              <a:latin typeface="Arial"/>
              <a:ea typeface="Arial"/>
              <a:cs typeface="Arial"/>
              <a:sym typeface="Arial"/>
            </a:endParaRPr>
          </a:p>
        </p:txBody>
      </p:sp>
      <p:sp>
        <p:nvSpPr>
          <p:cNvPr id="93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58</a:t>
            </a:r>
          </a:p>
        </p:txBody>
      </p:sp>
      <p:sp>
        <p:nvSpPr>
          <p:cNvPr id="939" name="EWL-COVER-1"/>
          <p:cNvSpPr/>
          <p:nvPr/>
        </p:nvSpPr>
        <p:spPr>
          <a:xfrm>
            <a:off x="431136" y="4805136"/>
            <a:ext cx="11195617" cy="1575071"/>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cxnSp>
        <p:nvCxnSpPr>
          <p:cNvPr id="976" name="Google Shape;976;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7" name="Google Shape;977;p96"/>
          <p:cNvSpPr txBox="1"/>
          <p:nvPr/>
        </p:nvSpPr>
        <p:spPr>
          <a:xfrm>
            <a:off x="486000" y="4500000"/>
            <a:ext cx="8896125" cy="13501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 number line to represent the inequality.</a:t>
            </a:r>
            <a:endParaRPr b="1" i="0" sz="2800" u="none" cap="none" strike="noStrike">
              <a:solidFill>
                <a:srgbClr val="595959"/>
              </a:solidFill>
              <a:latin typeface="Arial"/>
              <a:ea typeface="Arial"/>
              <a:cs typeface="Arial"/>
              <a:sym typeface="Arial"/>
            </a:endParaRPr>
          </a:p>
        </p:txBody>
      </p:sp>
      <p:sp>
        <p:nvSpPr>
          <p:cNvPr id="978" name="Google Shape;978;p96"/>
          <p:cNvSpPr txBox="1"/>
          <p:nvPr/>
        </p:nvSpPr>
        <p:spPr>
          <a:xfrm>
            <a:off x="4860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Tornado Intensity</a:t>
            </a:r>
            <a:endParaRPr b="1" i="0" sz="2800" u="none" cap="none" strike="noStrike">
              <a:solidFill>
                <a:srgbClr val="7030A0"/>
              </a:solidFill>
              <a:latin typeface="Arial"/>
              <a:ea typeface="Arial"/>
              <a:cs typeface="Arial"/>
              <a:sym typeface="Arial"/>
            </a:endParaRPr>
          </a:p>
        </p:txBody>
      </p:sp>
      <p:sp>
        <p:nvSpPr>
          <p:cNvPr id="979" name="Google Shape;979;p96"/>
          <p:cNvSpPr/>
          <p:nvPr/>
        </p:nvSpPr>
        <p:spPr>
          <a:xfrm>
            <a:off x="486000" y="936000"/>
            <a:ext cx="1683859"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80" name="Google Shape;980;p96"/>
          <p:cNvSpPr txBox="1"/>
          <p:nvPr/>
        </p:nvSpPr>
        <p:spPr>
          <a:xfrm>
            <a:off x="486000" y="3307587"/>
            <a:ext cx="810620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 xml:space="preserve">How can you visually represent the solutions of the inequality?	</a:t>
            </a:r>
            <a:endParaRPr b="1" i="0" sz="2800" u="none" cap="none" strike="noStrike">
              <a:solidFill>
                <a:schemeClr val="dk1"/>
              </a:solidFill>
              <a:latin typeface="Arial"/>
              <a:ea typeface="Arial"/>
              <a:cs typeface="Arial"/>
              <a:sym typeface="Arial"/>
            </a:endParaRPr>
          </a:p>
        </p:txBody>
      </p:sp>
      <p:sp>
        <p:nvSpPr>
          <p:cNvPr id="981" name="Google Shape;981;p96"/>
          <p:cNvSpPr txBox="1"/>
          <p:nvPr/>
        </p:nvSpPr>
        <p:spPr>
          <a:xfrm>
            <a:off x="486000" y="1690906"/>
            <a:ext cx="8324625"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Values less than or equal to 200 are not solutions of the inequality. Values greater than 200 are solutions.</a:t>
            </a:r>
            <a:endParaRPr b="0" i="0" sz="1400" u="none" cap="none" strike="noStrike">
              <a:solidFill>
                <a:srgbClr val="000000"/>
              </a:solidFill>
              <a:latin typeface="Arial"/>
              <a:ea typeface="Arial"/>
              <a:cs typeface="Arial"/>
              <a:sym typeface="Arial"/>
            </a:endParaRPr>
          </a:p>
        </p:txBody>
      </p:sp>
      <p:sp>
        <p:nvSpPr>
          <p:cNvPr id="9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58</a:t>
            </a:r>
          </a:p>
        </p:txBody>
      </p:sp>
      <p:sp>
        <p:nvSpPr>
          <p:cNvPr id="983" name="EWL-COVER-1"/>
          <p:cNvSpPr/>
          <p:nvPr/>
        </p:nvSpPr>
        <p:spPr>
          <a:xfrm>
            <a:off x="431136" y="4445136"/>
            <a:ext cx="9005853" cy="1459837"/>
          </a:xfrm>
          <a:prstGeom prst="rect">
            <a:avLst/>
          </a:prstGeom>
          <a:solidFill>
            <a:srgbClr val="FFFFFF"/>
          </a:solidFill>
          <a:ln>
            <a:noFill/>
          </a:ln>
        </p:spPr>
        <p:txBody>
          <a:bodyPr/>
          <a:lstStyle/>
          <a:p/>
        </p:txBody>
      </p:sp>
      <p:grpSp>
        <p:nvGrpSpPr>
          <p:cNvPr id="984" name="TEACH-3-student-move" descr="TEACH 3 · Use intentional questioning to deepen learning"/>
          <p:cNvGrpSpPr/>
          <p:nvPr/>
        </p:nvGrpSpPr>
        <p:grpSpPr>
          <a:xfrm>
            <a:off x="502920" y="5886685"/>
            <a:ext cx="11186160" cy="402336"/>
            <a:chOff x="502920" y="5886685"/>
            <a:chExt cx="11186160" cy="402336"/>
          </a:xfrm>
        </p:grpSpPr>
        <p:sp>
          <p:nvSpPr>
            <p:cNvPr id="985" name="TEACH-move-card"/>
            <p:cNvSpPr/>
            <p:nvPr/>
          </p:nvSpPr>
          <p:spPr>
            <a:xfrm>
              <a:off x="502920" y="5886685"/>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86" name="TEACH-move-rule"/>
            <p:cNvSpPr/>
            <p:nvPr/>
          </p:nvSpPr>
          <p:spPr>
            <a:xfrm>
              <a:off x="548640" y="5963129"/>
              <a:ext cx="100584" cy="249448"/>
            </a:xfrm>
            <a:prstGeom prst="roundRect">
              <a:avLst>
                <a:gd name="adj" fmla="val 50000"/>
              </a:avLst>
            </a:prstGeom>
            <a:solidFill>
              <a:srgbClr val="01708C"/>
            </a:solidFill>
            <a:ln>
              <a:noFill/>
            </a:ln>
          </p:spPr>
          <p:txBody>
            <a:bodyPr/>
            <a:lstStyle/>
            <a:p>
              <a:endParaRPr/>
            </a:p>
          </p:txBody>
        </p:sp>
        <p:sp>
          <p:nvSpPr>
            <p:cNvPr id="987" name="TEACH-move-text"/>
            <p:cNvSpPr txBox="1"/>
            <p:nvPr/>
          </p:nvSpPr>
          <p:spPr>
            <a:xfrm>
              <a:off x="822960" y="5886685"/>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8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cxnSp>
        <p:nvCxnSpPr>
          <p:cNvPr id="1000" name="Google Shape;1000;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1" name="Google Shape;1001;p98"/>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1002" name="Google Shape;1002;p98"/>
          <p:cNvPicPr preferRelativeResize="0"/>
          <p:nvPr/>
        </p:nvPicPr>
        <p:blipFill rotWithShape="1">
          <a:blip r:embed="rId3">
            <a:alphaModFix/>
          </a:blip>
          <a:srcRect b="0" l="0" r="0" t="0"/>
          <a:stretch/>
        </p:blipFill>
        <p:spPr>
          <a:xfrm>
            <a:off x="499565" y="368708"/>
            <a:ext cx="353635" cy="340537"/>
          </a:xfrm>
          <a:prstGeom prst="rect">
            <a:avLst/>
          </a:prstGeom>
          <a:noFill/>
          <a:ln>
            <a:noFill/>
          </a:ln>
        </p:spPr>
      </p:pic>
      <p:sp>
        <p:nvSpPr>
          <p:cNvPr id="1003" name="Google Shape;1003;p98"/>
          <p:cNvSpPr txBox="1"/>
          <p:nvPr/>
        </p:nvSpPr>
        <p:spPr>
          <a:xfrm>
            <a:off x="499565" y="5064172"/>
            <a:ext cx="8234532" cy="11469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Should 200 be represented with a closed dot?</a:t>
            </a:r>
            <a:endParaRPr b="0" i="0" sz="1400" u="none" cap="none" strike="noStrike">
              <a:solidFill>
                <a:srgbClr val="000000"/>
              </a:solidFill>
              <a:latin typeface="Arial"/>
              <a:ea typeface="Arial"/>
              <a:cs typeface="Arial"/>
              <a:sym typeface="Arial"/>
            </a:endParaRPr>
          </a:p>
        </p:txBody>
      </p:sp>
      <p:sp>
        <p:nvSpPr>
          <p:cNvPr id="1004" name="Google Shape;1004;p98"/>
          <p:cNvSpPr txBox="1"/>
          <p:nvPr/>
        </p:nvSpPr>
        <p:spPr>
          <a:xfrm>
            <a:off x="486000" y="935999"/>
            <a:ext cx="7600727" cy="1416675"/>
          </a:xfrm>
          <a:prstGeom prst="rect">
            <a:avLst/>
          </a:prstGeom>
          <a:blipFill rotWithShape="1">
            <a:blip r:embed="rId4">
              <a:alphaModFix/>
            </a:blip>
            <a:stretch>
              <a:fillRect b="-9052" l="-1684" r="-561" t="-47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5" name="Google Shape;1005;p98"/>
          <p:cNvSpPr/>
          <p:nvPr/>
        </p:nvSpPr>
        <p:spPr>
          <a:xfrm>
            <a:off x="486000" y="2567235"/>
            <a:ext cx="1683859"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6" name="Google Shape;1006;p98"/>
          <p:cNvSpPr txBox="1"/>
          <p:nvPr/>
        </p:nvSpPr>
        <p:spPr>
          <a:xfrm>
            <a:off x="486000" y="3305016"/>
            <a:ext cx="810620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Represent the inequality on a number line.</a:t>
            </a:r>
            <a:endParaRPr b="0" i="0" sz="1400" u="none" cap="none" strike="noStrike">
              <a:solidFill>
                <a:srgbClr val="000000"/>
              </a:solidFill>
              <a:latin typeface="Arial"/>
              <a:ea typeface="Arial"/>
              <a:cs typeface="Arial"/>
              <a:sym typeface="Arial"/>
            </a:endParaRPr>
          </a:p>
        </p:txBody>
      </p:sp>
      <p:pic>
        <p:nvPicPr>
          <p:cNvPr id="1007" name="Google Shape;1007;p98"/>
          <p:cNvPicPr preferRelativeResize="0"/>
          <p:nvPr/>
        </p:nvPicPr>
        <p:blipFill rotWithShape="1">
          <a:blip r:embed="rId6">
            <a:alphaModFix/>
          </a:blip>
          <a:srcRect b="0" l="0" r="0" t="0"/>
          <a:stretch/>
        </p:blipFill>
        <p:spPr>
          <a:xfrm>
            <a:off x="499565" y="4013485"/>
            <a:ext cx="0" cy="0"/>
          </a:xfrm>
          <a:prstGeom prst="rect">
            <a:avLst/>
          </a:prstGeom>
          <a:noFill/>
          <a:ln>
            <a:noFill/>
          </a:ln>
        </p:spPr>
      </p:pic>
      <p:pic>
        <p:nvPicPr>
          <p:cNvPr id="1008" name="Google Shape;1008;p98"/>
          <p:cNvPicPr preferRelativeResize="0"/>
          <p:nvPr/>
        </p:nvPicPr>
        <p:blipFill rotWithShape="1">
          <a:blip r:embed="rId6">
            <a:alphaModFix/>
          </a:blip>
          <a:srcRect b="0" l="0" r="0" t="0"/>
          <a:stretch/>
        </p:blipFill>
        <p:spPr>
          <a:xfrm>
            <a:off x="762225" y="4136151"/>
            <a:ext cx="7209440" cy="565200"/>
          </a:xfrm>
          <a:prstGeom prst="rect">
            <a:avLst/>
          </a:prstGeom>
          <a:noFill/>
          <a:ln>
            <a:noFill/>
          </a:ln>
        </p:spPr>
      </p:pic>
      <p:sp>
        <p:nvSpPr>
          <p:cNvPr id="10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58</a:t>
            </a:r>
          </a:p>
        </p:txBody>
      </p:sp>
      <p:sp>
        <p:nvSpPr>
          <p:cNvPr id="101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1011" name="TEACH-5-student-move" descr="TEACH 5 · Facilitate student interactions and academic talk"/>
          <p:cNvGrpSpPr/>
          <p:nvPr/>
        </p:nvGrpSpPr>
        <p:grpSpPr>
          <a:xfrm>
            <a:off x="6187440" y="2628360"/>
            <a:ext cx="5501640" cy="594360"/>
            <a:chOff x="6187440" y="2628360"/>
            <a:chExt cx="5501640" cy="594360"/>
          </a:xfrm>
        </p:grpSpPr>
        <p:sp>
          <p:nvSpPr>
            <p:cNvPr id="1012" name="TEACH-move-card"/>
            <p:cNvSpPr/>
            <p:nvPr/>
          </p:nvSpPr>
          <p:spPr>
            <a:xfrm>
              <a:off x="6187440" y="2628360"/>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13" name="TEACH-move-rule"/>
            <p:cNvSpPr/>
            <p:nvPr/>
          </p:nvSpPr>
          <p:spPr>
            <a:xfrm>
              <a:off x="6233160" y="2741288"/>
              <a:ext cx="100584" cy="368504"/>
            </a:xfrm>
            <a:prstGeom prst="roundRect">
              <a:avLst>
                <a:gd name="adj" fmla="val 50000"/>
              </a:avLst>
            </a:prstGeom>
            <a:solidFill>
              <a:srgbClr val="01708C"/>
            </a:solidFill>
            <a:ln>
              <a:noFill/>
            </a:ln>
          </p:spPr>
          <p:txBody>
            <a:bodyPr/>
            <a:lstStyle/>
            <a:p>
              <a:endParaRPr/>
            </a:p>
          </p:txBody>
        </p:sp>
        <p:sp>
          <p:nvSpPr>
            <p:cNvPr id="1014" name="TEACH-move-text"/>
            <p:cNvSpPr txBox="1"/>
            <p:nvPr/>
          </p:nvSpPr>
          <p:spPr>
            <a:xfrm>
              <a:off x="6507480" y="2628360"/>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cxnSp>
        <p:nvCxnSpPr>
          <p:cNvPr id="1013" name="Google Shape;1013;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14" name="Google Shape;1014;p99"/>
          <p:cNvSpPr txBox="1"/>
          <p:nvPr/>
        </p:nvSpPr>
        <p:spPr>
          <a:xfrm>
            <a:off x="484565" y="316034"/>
            <a:ext cx="5029132" cy="662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Tornado Intensity</a:t>
            </a:r>
            <a:endParaRPr b="1" i="0" sz="2800" u="none" cap="none" strike="noStrike">
              <a:solidFill>
                <a:srgbClr val="7030A0"/>
              </a:solidFill>
              <a:latin typeface="Arial"/>
              <a:ea typeface="Arial"/>
              <a:cs typeface="Arial"/>
              <a:sym typeface="Arial"/>
            </a:endParaRPr>
          </a:p>
        </p:txBody>
      </p:sp>
      <p:sp>
        <p:nvSpPr>
          <p:cNvPr id="1015" name="Google Shape;1015;p99"/>
          <p:cNvSpPr txBox="1"/>
          <p:nvPr/>
        </p:nvSpPr>
        <p:spPr>
          <a:xfrm>
            <a:off x="486000" y="936000"/>
            <a:ext cx="8080676" cy="66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represent the inequality on a number line.</a:t>
            </a:r>
            <a:endParaRPr b="1" i="0" sz="2800" u="none" cap="none" strike="noStrike">
              <a:solidFill>
                <a:schemeClr val="dk1"/>
              </a:solidFill>
              <a:latin typeface="Arial"/>
              <a:ea typeface="Arial"/>
              <a:cs typeface="Arial"/>
              <a:sym typeface="Arial"/>
            </a:endParaRPr>
          </a:p>
        </p:txBody>
      </p:sp>
      <p:sp>
        <p:nvSpPr>
          <p:cNvPr id="1016" name="Google Shape;1016;p99"/>
          <p:cNvSpPr/>
          <p:nvPr/>
        </p:nvSpPr>
        <p:spPr>
          <a:xfrm>
            <a:off x="483865" y="2595008"/>
            <a:ext cx="1020515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 xml:space="preserve">Because 200 is the lower limit, but </a:t>
            </a:r>
            <a:r>
              <a:rPr b="0" i="1" lang="en-US" sz="2800" u="none" cap="none" strike="noStrike">
                <a:solidFill>
                  <a:schemeClr val="dk1"/>
                </a:solidFill>
                <a:latin typeface="Arial"/>
                <a:ea typeface="Arial"/>
                <a:cs typeface="Arial"/>
                <a:sym typeface="Arial"/>
              </a:rPr>
              <a:t xml:space="preserve">is not </a:t>
            </a:r>
            <a:r>
              <a:rPr b="0" i="0" lang="en-US" sz="2800" u="none" cap="none" strike="noStrike">
                <a:solidFill>
                  <a:schemeClr val="dk1"/>
                </a:solidFill>
                <a:latin typeface="Arial"/>
                <a:ea typeface="Arial"/>
                <a:cs typeface="Arial"/>
                <a:sym typeface="Arial"/>
              </a:rPr>
              <a:t>a solution, use an open dot at 200.</a:t>
            </a:r>
            <a:endParaRPr b="0" i="0" sz="2800" u="none" cap="none" strike="noStrike">
              <a:solidFill>
                <a:schemeClr val="dk1"/>
              </a:solidFill>
              <a:latin typeface="Arial"/>
              <a:ea typeface="Arial"/>
              <a:cs typeface="Arial"/>
              <a:sym typeface="Arial"/>
            </a:endParaRPr>
          </a:p>
        </p:txBody>
      </p:sp>
      <p:pic>
        <p:nvPicPr>
          <p:cNvPr id="1017" name="Google Shape;1017;p99"/>
          <p:cNvPicPr preferRelativeResize="0"/>
          <p:nvPr/>
        </p:nvPicPr>
        <p:blipFill rotWithShape="1">
          <a:blip r:embed="rId3">
            <a:alphaModFix/>
          </a:blip>
          <a:srcRect b="0" l="0" r="0" t="0"/>
          <a:stretch/>
        </p:blipFill>
        <p:spPr>
          <a:xfrm>
            <a:off x="483865" y="3785809"/>
            <a:ext cx="8972550" cy="1838325"/>
          </a:xfrm>
          <a:prstGeom prst="rect">
            <a:avLst/>
          </a:prstGeom>
          <a:noFill/>
          <a:ln>
            <a:noFill/>
          </a:ln>
        </p:spPr>
      </p:pic>
      <p:sp>
        <p:nvSpPr>
          <p:cNvPr id="1018" name="Google Shape;1018;p99"/>
          <p:cNvSpPr/>
          <p:nvPr/>
        </p:nvSpPr>
        <p:spPr>
          <a:xfrm>
            <a:off x="483865" y="1835094"/>
            <a:ext cx="1683859"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1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58</a:t>
            </a:r>
          </a:p>
        </p:txBody>
      </p:sp>
      <p:grpSp>
        <p:nvGrpSpPr>
          <p:cNvPr id="1020" name="TEACH-2-student-move" descr="TEACH 2 · Use strategies and tasks to engage students in rigorous work"/>
          <p:cNvGrpSpPr/>
          <p:nvPr/>
        </p:nvGrpSpPr>
        <p:grpSpPr>
          <a:xfrm>
            <a:off x="502920" y="5706430"/>
            <a:ext cx="11186160" cy="548640"/>
            <a:chOff x="502920" y="5706430"/>
            <a:chExt cx="11186160" cy="548640"/>
          </a:xfrm>
        </p:grpSpPr>
        <p:sp>
          <p:nvSpPr>
            <p:cNvPr id="1021" name="TEACH-move-card"/>
            <p:cNvSpPr/>
            <p:nvPr/>
          </p:nvSpPr>
          <p:spPr>
            <a:xfrm>
              <a:off x="502920" y="5706430"/>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1022" name="TEACH-move-rule"/>
            <p:cNvSpPr/>
            <p:nvPr/>
          </p:nvSpPr>
          <p:spPr>
            <a:xfrm>
              <a:off x="548640" y="5810672"/>
              <a:ext cx="100584" cy="340156"/>
            </a:xfrm>
            <a:prstGeom prst="roundRect">
              <a:avLst>
                <a:gd name="adj" fmla="val 50000"/>
              </a:avLst>
            </a:prstGeom>
            <a:solidFill>
              <a:srgbClr val="01708C"/>
            </a:solidFill>
            <a:ln>
              <a:noFill/>
            </a:ln>
          </p:spPr>
          <p:txBody>
            <a:bodyPr/>
            <a:lstStyle/>
            <a:p>
              <a:endParaRPr/>
            </a:p>
          </p:txBody>
        </p:sp>
        <p:sp>
          <p:nvSpPr>
            <p:cNvPr id="1023" name="TEACH-move-text"/>
            <p:cNvSpPr txBox="1"/>
            <p:nvPr/>
          </p:nvSpPr>
          <p:spPr>
            <a:xfrm>
              <a:off x="822960" y="5706430"/>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STRUGGLE FIRST  ·  </a:t>
              </a:r>
              <a:r>
                <a:rPr lang="en-US" sz="1400" dirty="0">
                  <a:solidFill>
                    <a:srgbClr val="13303A"/>
                  </a:solidFill>
                  <a:latin typeface="Arial"/>
                </a:rPr>
                <a:t>Work on your own first. Stuck is allowed — try a second strategy before you ask.</a:t>
              </a:r>
              <a:endParaRPr lang="en-US" sz="1400"/>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cxnSp>
        <p:nvCxnSpPr>
          <p:cNvPr id="1036" name="Google Shape;1036;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1037" name="Google Shape;1037;p101"/>
          <p:cNvPicPr preferRelativeResize="0"/>
          <p:nvPr/>
        </p:nvPicPr>
        <p:blipFill rotWithShape="1">
          <a:blip r:embed="rId3">
            <a:alphaModFix/>
          </a:blip>
          <a:srcRect b="0" l="0" r="0" t="0"/>
          <a:stretch/>
        </p:blipFill>
        <p:spPr>
          <a:xfrm>
            <a:off x="483866" y="5020697"/>
            <a:ext cx="5054600" cy="838200"/>
          </a:xfrm>
          <a:prstGeom prst="rect">
            <a:avLst/>
          </a:prstGeom>
          <a:noFill/>
          <a:ln>
            <a:noFill/>
          </a:ln>
        </p:spPr>
      </p:pic>
      <p:sp>
        <p:nvSpPr>
          <p:cNvPr id="1038" name="Google Shape;1038;p101"/>
          <p:cNvSpPr/>
          <p:nvPr/>
        </p:nvSpPr>
        <p:spPr>
          <a:xfrm>
            <a:off x="511656" y="6080760"/>
            <a:ext cx="1119647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595959"/>
                </a:solidFill>
                <a:latin typeface="Arial"/>
                <a:ea typeface="Arial"/>
                <a:cs typeface="Arial"/>
                <a:sym typeface="Arial"/>
              </a:rPr>
              <a:t>How can you be sure you have understood the argument presented?</a:t>
            </a:r>
            <a:endParaRPr b="0" i="0" sz="2800" u="none" cap="none" strike="noStrike">
              <a:solidFill>
                <a:srgbClr val="595959"/>
              </a:solidFill>
              <a:latin typeface="Arial"/>
              <a:ea typeface="Arial"/>
              <a:cs typeface="Arial"/>
              <a:sym typeface="Arial"/>
            </a:endParaRPr>
          </a:p>
        </p:txBody>
      </p:sp>
      <p:sp>
        <p:nvSpPr>
          <p:cNvPr id="1039" name="Google Shape;1039;p101"/>
          <p:cNvSpPr/>
          <p:nvPr/>
        </p:nvSpPr>
        <p:spPr>
          <a:xfrm>
            <a:off x="3218371" y="5178187"/>
            <a:ext cx="177805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defRPr/>
            </a:pPr>
            <a:r>
              <a:rPr b="0" i="0" lang="en-US" sz="1800" u="none" cap="none" strike="noStrike">
                <a:solidFill>
                  <a:schemeClr val="dk1"/>
                </a:solidFill>
                <a:latin typeface="Arial"/>
                <a:ea typeface="Calibri"/>
                <a:cs typeface="Calibri"/>
                <a:sym typeface="Calibri"/>
              </a:rPr>
              <a:t> </a:t>
            </a:r>
            <a:r>
              <a:rPr b="0" i="0" lang="en-US" sz="2800" u="none" cap="none" strike="noStrike">
                <a:solidFill>
                  <a:schemeClr val="dk1"/>
                </a:solidFill>
                <a:latin typeface="Arial"/>
                <a:ea typeface="Arial"/>
                <a:cs typeface="Arial"/>
                <a:sym typeface="Arial"/>
              </a:rPr>
              <a:t xml:space="preserve"> Listening</a:t>
            </a:r>
            <a:endParaRPr b="0" i="0" sz="1400" u="none" cap="none" strike="noStrike">
              <a:solidFill>
                <a:srgbClr val="000000"/>
              </a:solidFill>
              <a:latin typeface="Arial"/>
              <a:ea typeface="Arial"/>
              <a:cs typeface="Arial"/>
              <a:sym typeface="Arial"/>
            </a:endParaRPr>
          </a:p>
        </p:txBody>
      </p:sp>
      <p:sp>
        <p:nvSpPr>
          <p:cNvPr id="1040" name="Google Shape;1040;p101"/>
          <p:cNvSpPr txBox="1"/>
          <p:nvPr/>
        </p:nvSpPr>
        <p:spPr>
          <a:xfrm>
            <a:off x="484565" y="316034"/>
            <a:ext cx="5029132" cy="662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Tornado Intensity</a:t>
            </a:r>
            <a:endParaRPr b="1" i="0" sz="2800" u="none" cap="none" strike="noStrike">
              <a:solidFill>
                <a:srgbClr val="7030A0"/>
              </a:solidFill>
              <a:latin typeface="Arial"/>
              <a:ea typeface="Arial"/>
              <a:cs typeface="Arial"/>
              <a:sym typeface="Arial"/>
            </a:endParaRPr>
          </a:p>
        </p:txBody>
      </p:sp>
      <p:sp>
        <p:nvSpPr>
          <p:cNvPr id="1041" name="Google Shape;1041;p101"/>
          <p:cNvSpPr txBox="1"/>
          <p:nvPr/>
        </p:nvSpPr>
        <p:spPr>
          <a:xfrm>
            <a:off x="483866" y="1080000"/>
            <a:ext cx="9697081" cy="1425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Enhanced Fujita Scale, or EF scale, is used to assign a tornado intensity based on estimated wind gusts and related damage. The most severe category is an EF-5.</a:t>
            </a:r>
            <a:endParaRPr b="1" i="0" sz="2800" u="none" cap="none" strike="noStrike">
              <a:solidFill>
                <a:schemeClr val="dk1"/>
              </a:solidFill>
              <a:latin typeface="Arial"/>
              <a:ea typeface="Arial"/>
              <a:cs typeface="Arial"/>
              <a:sym typeface="Arial"/>
            </a:endParaRPr>
          </a:p>
        </p:txBody>
      </p:sp>
      <p:sp>
        <p:nvSpPr>
          <p:cNvPr id="1042" name="Google Shape;1042;p101"/>
          <p:cNvSpPr/>
          <p:nvPr/>
        </p:nvSpPr>
        <p:spPr>
          <a:xfrm>
            <a:off x="483866" y="2500626"/>
            <a:ext cx="799083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represent wind gusts that would result in an EF-5 rating?</a:t>
            </a:r>
            <a:endParaRPr b="0" i="0" sz="2800" u="none" cap="none" strike="noStrike">
              <a:solidFill>
                <a:schemeClr val="dk1"/>
              </a:solidFill>
              <a:latin typeface="Arial"/>
              <a:ea typeface="Arial"/>
              <a:cs typeface="Arial"/>
              <a:sym typeface="Arial"/>
            </a:endParaRPr>
          </a:p>
        </p:txBody>
      </p:sp>
      <p:sp>
        <p:nvSpPr>
          <p:cNvPr id="1043" name="Google Shape;1043;p101"/>
          <p:cNvSpPr/>
          <p:nvPr/>
        </p:nvSpPr>
        <p:spPr>
          <a:xfrm>
            <a:off x="511656" y="3554626"/>
            <a:ext cx="7340872" cy="1463048"/>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44" name="Google Shape;1044;p101"/>
          <p:cNvSpPr/>
          <p:nvPr/>
        </p:nvSpPr>
        <p:spPr>
          <a:xfrm>
            <a:off x="692998" y="3586513"/>
            <a:ext cx="7159530" cy="1384995"/>
          </a:xfrm>
          <a:prstGeom prst="rect">
            <a:avLst/>
          </a:prstGeom>
          <a:blipFill rotWithShape="1">
            <a:blip r:embed="rId4">
              <a:alphaModFix/>
            </a:blip>
            <a:stretch>
              <a:fillRect b="-10965" l="-1789" r="0" t="-438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045" name="Google Shape;1045;p101"/>
          <p:cNvPicPr preferRelativeResize="0"/>
          <p:nvPr/>
        </p:nvPicPr>
        <p:blipFill rotWithShape="1">
          <a:blip r:embed="rId5">
            <a:alphaModFix/>
          </a:blip>
          <a:srcRect b="0" l="0" r="0" t="0"/>
          <a:stretch/>
        </p:blipFill>
        <p:spPr>
          <a:xfrm>
            <a:off x="8564542" y="2523225"/>
            <a:ext cx="3403635" cy="2880000"/>
          </a:xfrm>
          <a:prstGeom prst="rect">
            <a:avLst/>
          </a:prstGeom>
          <a:noFill/>
          <a:ln>
            <a:noFill/>
          </a:ln>
        </p:spPr>
      </p:pic>
      <p:sp>
        <p:nvSpPr>
          <p:cNvPr id="10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58</a:t>
            </a:r>
          </a:p>
        </p:txBody>
      </p:sp>
      <p:grpSp>
        <p:nvGrpSpPr>
          <p:cNvPr id="1047" name="TEACH-3-student-move" descr="TEACH 3 · Use intentional questioning to deepen learning"/>
          <p:cNvGrpSpPr/>
          <p:nvPr/>
        </p:nvGrpSpPr>
        <p:grpSpPr>
          <a:xfrm>
            <a:off x="6187440" y="5641848"/>
            <a:ext cx="5501640" cy="402336"/>
            <a:chOff x="6187440" y="5641848"/>
            <a:chExt cx="5501640" cy="402336"/>
          </a:xfrm>
        </p:grpSpPr>
        <p:sp>
          <p:nvSpPr>
            <p:cNvPr id="1048" name="TEACH-move-card"/>
            <p:cNvSpPr/>
            <p:nvPr/>
          </p:nvSpPr>
          <p:spPr>
            <a:xfrm>
              <a:off x="6187440" y="5641848"/>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1049" name="TEACH-move-rule"/>
            <p:cNvSpPr/>
            <p:nvPr/>
          </p:nvSpPr>
          <p:spPr>
            <a:xfrm>
              <a:off x="6233160" y="5718292"/>
              <a:ext cx="100584" cy="249448"/>
            </a:xfrm>
            <a:prstGeom prst="roundRect">
              <a:avLst>
                <a:gd name="adj" fmla="val 50000"/>
              </a:avLst>
            </a:prstGeom>
            <a:solidFill>
              <a:srgbClr val="01708C"/>
            </a:solidFill>
            <a:ln>
              <a:noFill/>
            </a:ln>
          </p:spPr>
          <p:txBody>
            <a:bodyPr/>
            <a:lstStyle/>
            <a:p>
              <a:endParaRPr/>
            </a:p>
          </p:txBody>
        </p:sp>
        <p:sp>
          <p:nvSpPr>
            <p:cNvPr id="1050" name="TEACH-move-text"/>
            <p:cNvSpPr txBox="1"/>
            <p:nvPr/>
          </p:nvSpPr>
          <p:spPr>
            <a:xfrm>
              <a:off x="6507480" y="5641848"/>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cxnSp>
        <p:nvCxnSpPr>
          <p:cNvPr id="1050" name="Google Shape;1050;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1" name="Google Shape;1051;p10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52" name="Google Shape;1052;p102"/>
          <p:cNvSpPr txBox="1"/>
          <p:nvPr/>
        </p:nvSpPr>
        <p:spPr>
          <a:xfrm>
            <a:off x="484563" y="927527"/>
            <a:ext cx="8564844" cy="1747434"/>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Does the number line make sense given what you know about wind gusts of 150 miles per hour, 200 miles per hour, and 225 miles per hour? Explain.</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1" i="0" sz="2800" u="none" cap="none" strike="noStrike">
              <a:solidFill>
                <a:schemeClr val="dk1"/>
              </a:solidFill>
              <a:latin typeface="Arial"/>
              <a:ea typeface="Arial"/>
              <a:cs typeface="Arial"/>
              <a:sym typeface="Arial"/>
            </a:endParaRPr>
          </a:p>
        </p:txBody>
      </p:sp>
      <p:sp>
        <p:nvSpPr>
          <p:cNvPr id="1053" name="Google Shape;1053;p102"/>
          <p:cNvSpPr/>
          <p:nvPr/>
        </p:nvSpPr>
        <p:spPr>
          <a:xfrm>
            <a:off x="484563" y="4644054"/>
            <a:ext cx="9022044" cy="153602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54" name="Google Shape;1054;p102"/>
          <p:cNvSpPr txBox="1"/>
          <p:nvPr/>
        </p:nvSpPr>
        <p:spPr>
          <a:xfrm>
            <a:off x="7842538" y="5591919"/>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55" name="Google Shape;1055;p102"/>
          <p:cNvSpPr/>
          <p:nvPr/>
        </p:nvSpPr>
        <p:spPr>
          <a:xfrm>
            <a:off x="679690" y="2833109"/>
            <a:ext cx="1923091"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56" name="Google Shape;1056;p102"/>
          <p:cNvSpPr/>
          <p:nvPr/>
        </p:nvSpPr>
        <p:spPr>
          <a:xfrm>
            <a:off x="3870817" y="2913049"/>
            <a:ext cx="1924694"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57" name="Google Shape;1057;p102"/>
          <p:cNvSpPr/>
          <p:nvPr/>
        </p:nvSpPr>
        <p:spPr>
          <a:xfrm>
            <a:off x="7282150" y="2838653"/>
            <a:ext cx="1924694"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058" name="Google Shape;1058;p102"/>
          <p:cNvPicPr preferRelativeResize="0"/>
          <p:nvPr/>
        </p:nvPicPr>
        <p:blipFill rotWithShape="1">
          <a:blip r:embed="rId6">
            <a:alphaModFix/>
          </a:blip>
          <a:srcRect b="0" l="0" r="0" t="0"/>
          <a:stretch/>
        </p:blipFill>
        <p:spPr>
          <a:xfrm>
            <a:off x="484563" y="3784839"/>
            <a:ext cx="8265618" cy="648000"/>
          </a:xfrm>
          <a:prstGeom prst="rect">
            <a:avLst/>
          </a:prstGeom>
          <a:noFill/>
          <a:ln>
            <a:noFill/>
          </a:ln>
        </p:spPr>
      </p:pic>
      <p:sp>
        <p:nvSpPr>
          <p:cNvPr id="10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58</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cxnSp>
        <p:nvCxnSpPr>
          <p:cNvPr id="1063" name="Google Shape;1063;p10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64" name="Google Shape;1064;p10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65" name="Google Shape;1065;p103"/>
          <p:cNvSpPr txBox="1"/>
          <p:nvPr/>
        </p:nvSpPr>
        <p:spPr>
          <a:xfrm>
            <a:off x="484563" y="927527"/>
            <a:ext cx="8359892" cy="1137756"/>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Why do you think an open dot indicates the value is not a solution?</a:t>
            </a:r>
            <a:endParaRPr b="1" i="0" sz="2800" u="none" cap="none" strike="noStrike">
              <a:solidFill>
                <a:schemeClr val="dk1"/>
              </a:solidFill>
              <a:latin typeface="Arial"/>
              <a:ea typeface="Arial"/>
              <a:cs typeface="Arial"/>
              <a:sym typeface="Arial"/>
            </a:endParaRPr>
          </a:p>
          <a:p>
            <a:pPr indent="-336550" lvl="0" marL="514350" marR="0" rtl="0" algn="l">
              <a:lnSpc>
                <a:spcPct val="100000"/>
              </a:lnSpc>
              <a:spcBef>
                <a:spcPts val="1200"/>
              </a:spcBef>
              <a:spcAft>
                <a:spcPts val="0"/>
              </a:spcAft>
              <a:buClr>
                <a:schemeClr val="dk2"/>
              </a:buClr>
              <a:buSzPts val="2800"/>
              <a:buFont typeface="Calibri"/>
              <a:buNone/>
              <a:defRPr/>
            </a:pPr>
            <a:r>
              <a:rPr/>
              <a:t/>
            </a:r>
            <a:endParaRPr b="0" i="0" sz="2800" u="none" cap="none" strike="noStrike">
              <a:solidFill>
                <a:schemeClr val="dk1"/>
              </a:solidFill>
              <a:latin typeface="Arial"/>
              <a:ea typeface="Arial"/>
              <a:cs typeface="Arial"/>
              <a:sym typeface="Arial"/>
            </a:endParaRPr>
          </a:p>
        </p:txBody>
      </p:sp>
      <p:sp>
        <p:nvSpPr>
          <p:cNvPr id="1066" name="Google Shape;1066;p103"/>
          <p:cNvSpPr/>
          <p:nvPr/>
        </p:nvSpPr>
        <p:spPr>
          <a:xfrm>
            <a:off x="484563" y="2240402"/>
            <a:ext cx="8359892" cy="3450950"/>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67" name="Google Shape;1067;p103"/>
          <p:cNvSpPr txBox="1"/>
          <p:nvPr/>
        </p:nvSpPr>
        <p:spPr>
          <a:xfrm>
            <a:off x="7400747" y="4671351"/>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6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58</a:t>
            </a:r>
          </a:p>
        </p:txBody>
      </p:sp>
      <p:grpSp>
        <p:nvGrpSpPr>
          <p:cNvPr id="1069" name="TEACH-2-student-move" descr="TEACH 2 · Use strategies and tasks to engage students in rigorous work"/>
          <p:cNvGrpSpPr/>
          <p:nvPr/>
        </p:nvGrpSpPr>
        <p:grpSpPr>
          <a:xfrm>
            <a:off x="502920" y="5727928"/>
            <a:ext cx="11186160" cy="457200"/>
            <a:chOff x="502920" y="5727928"/>
            <a:chExt cx="11186160" cy="457200"/>
          </a:xfrm>
        </p:grpSpPr>
        <p:sp>
          <p:nvSpPr>
            <p:cNvPr id="1070" name="TEACH-move-card"/>
            <p:cNvSpPr/>
            <p:nvPr/>
          </p:nvSpPr>
          <p:spPr>
            <a:xfrm>
              <a:off x="502920" y="5727928"/>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1071" name="TEACH-move-rule"/>
            <p:cNvSpPr/>
            <p:nvPr/>
          </p:nvSpPr>
          <p:spPr>
            <a:xfrm>
              <a:off x="548640" y="5814796"/>
              <a:ext cx="100584" cy="283464"/>
            </a:xfrm>
            <a:prstGeom prst="roundRect">
              <a:avLst>
                <a:gd name="adj" fmla="val 50000"/>
              </a:avLst>
            </a:prstGeom>
            <a:solidFill>
              <a:srgbClr val="01708C"/>
            </a:solidFill>
            <a:ln>
              <a:noFill/>
            </a:ln>
          </p:spPr>
          <p:txBody>
            <a:bodyPr/>
            <a:lstStyle/>
            <a:p>
              <a:endParaRPr/>
            </a:p>
          </p:txBody>
        </p:sp>
        <p:sp>
          <p:nvSpPr>
            <p:cNvPr id="1072" name="TEACH-move-text"/>
            <p:cNvSpPr txBox="1"/>
            <p:nvPr/>
          </p:nvSpPr>
          <p:spPr>
            <a:xfrm>
              <a:off x="822960" y="5727928"/>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YOUR TOOLS  ·  </a:t>
              </a:r>
              <a:r>
                <a:rPr lang="en-US" sz="1400" dirty="0">
                  <a:solidFill>
                    <a:srgbClr val="13303A"/>
                  </a:solidFill>
                  <a:latin typeface="Arial"/>
                </a:rPr>
                <a:t>Reach for your notes, a model, or a manipulative before you reach for an answer.</a:t>
              </a:r>
              <a:endParaRPr lang="en-US" sz="1400"/>
            </a:p>
          </p:txBody>
        </p:sp>
      </p:gr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8.5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including a strict boundary or shading toward nonsolutions.</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Substitute the given boundary and a value on each side before graphing.</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09" name="Google Shape;909;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0" name="Google Shape;910;p90"/>
          <p:cNvSpPr txBox="1"/>
          <p:nvPr/>
        </p:nvSpPr>
        <p:spPr>
          <a:xfrm>
            <a:off x="484565" y="316034"/>
            <a:ext cx="5029132" cy="662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Tornado Intensity</a:t>
            </a:r>
            <a:endParaRPr b="1" i="0" sz="2800" u="none" cap="none" strike="noStrike">
              <a:solidFill>
                <a:srgbClr val="7030A0"/>
              </a:solidFill>
              <a:latin typeface="Arial"/>
              <a:ea typeface="Arial"/>
              <a:cs typeface="Arial"/>
              <a:sym typeface="Arial"/>
            </a:endParaRPr>
          </a:p>
        </p:txBody>
      </p:sp>
      <p:sp>
        <p:nvSpPr>
          <p:cNvPr id="911" name="Google Shape;911;p90"/>
          <p:cNvSpPr txBox="1"/>
          <p:nvPr/>
        </p:nvSpPr>
        <p:spPr>
          <a:xfrm>
            <a:off x="486000" y="5262969"/>
            <a:ext cx="11085889" cy="10903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If the value satisfies the inequality, then it is a solution.</a:t>
            </a:r>
            <a:endParaRPr b="1" i="0" sz="2800" u="none" cap="none" strike="noStrike">
              <a:solidFill>
                <a:srgbClr val="595959"/>
              </a:solidFill>
              <a:latin typeface="Arial"/>
              <a:ea typeface="Arial"/>
              <a:cs typeface="Arial"/>
              <a:sym typeface="Arial"/>
            </a:endParaRPr>
          </a:p>
        </p:txBody>
      </p:sp>
      <p:sp>
        <p:nvSpPr>
          <p:cNvPr id="912" name="Google Shape;912;p90"/>
          <p:cNvSpPr txBox="1"/>
          <p:nvPr/>
        </p:nvSpPr>
        <p:spPr>
          <a:xfrm>
            <a:off x="486000" y="4172620"/>
            <a:ext cx="11085889" cy="10903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How do you know whether a value is a solution of the inequality?</a:t>
            </a:r>
            <a:endParaRPr b="0" i="0" sz="1400" u="none" cap="none" strike="noStrike">
              <a:solidFill>
                <a:srgbClr val="000000"/>
              </a:solidFill>
              <a:latin typeface="Arial"/>
              <a:ea typeface="Arial"/>
              <a:cs typeface="Arial"/>
              <a:sym typeface="Arial"/>
            </a:endParaRPr>
          </a:p>
        </p:txBody>
      </p:sp>
      <p:pic>
        <p:nvPicPr>
          <p:cNvPr id="913" name="Google Shape;913;p90"/>
          <p:cNvPicPr preferRelativeResize="0"/>
          <p:nvPr/>
        </p:nvPicPr>
        <p:blipFill rotWithShape="1">
          <a:blip r:embed="rId2">
            <a:alphaModFix/>
          </a:blip>
          <a:srcRect b="0" l="0" r="0" t="0"/>
          <a:stretch/>
        </p:blipFill>
        <p:spPr>
          <a:xfrm>
            <a:off x="2186149" y="3110024"/>
            <a:ext cx="4508308" cy="720000"/>
          </a:xfrm>
          <a:prstGeom prst="rect">
            <a:avLst/>
          </a:prstGeom>
          <a:noFill/>
          <a:ln>
            <a:noFill/>
          </a:ln>
        </p:spPr>
      </p:pic>
      <p:sp>
        <p:nvSpPr>
          <p:cNvPr id="914" name="Google Shape;914;p90"/>
          <p:cNvSpPr txBox="1"/>
          <p:nvPr/>
        </p:nvSpPr>
        <p:spPr>
          <a:xfrm>
            <a:off x="486000" y="947507"/>
            <a:ext cx="864476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To be classified as an EF-5 tornado, wind gusts must be greater than 200 miles per hour.</a:t>
            </a:r>
            <a:endParaRPr b="0" i="0" sz="2800" u="none" cap="none" strike="noStrike">
              <a:solidFill>
                <a:schemeClr val="dk1"/>
              </a:solidFill>
              <a:latin typeface="Arial"/>
              <a:ea typeface="Arial"/>
              <a:cs typeface="Arial"/>
              <a:sym typeface="Arial"/>
            </a:endParaRPr>
          </a:p>
        </p:txBody>
      </p:sp>
      <p:sp>
        <p:nvSpPr>
          <p:cNvPr id="915" name="Google Shape;915;p90"/>
          <p:cNvSpPr txBox="1"/>
          <p:nvPr/>
        </p:nvSpPr>
        <p:spPr>
          <a:xfrm>
            <a:off x="486000" y="2244209"/>
            <a:ext cx="973258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Let’s write an inequality to represent the constraint.</a:t>
            </a:r>
            <a:endParaRPr b="0" i="0" sz="2800" u="none" cap="none" strike="noStrike">
              <a:solidFill>
                <a:schemeClr val="dk1"/>
              </a:solidFill>
              <a:latin typeface="Arial"/>
              <a:ea typeface="Arial"/>
              <a:cs typeface="Arial"/>
              <a:sym typeface="Arial"/>
            </a:endParaRPr>
          </a:p>
        </p:txBody>
      </p:sp>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58</a:t>
            </a:r>
          </a:p>
        </p:txBody>
      </p:sp>
      <p:sp xmlns:p="http://schemas.openxmlformats.org/presentationml/2006/main" xmlns:a="http://schemas.openxmlformats.org/drawingml/2006/main">
        <p:nvSpPr>
          <p:cNvPr id="916" name="TEACH-embedded-student-prompt" descr="Student thinking and response directions"/>
          <p:cNvSpPr txBox="1"/>
          <p:nvPr/>
        </p:nvSpPr>
        <p:spPr>
          <a:xfrm>
            <a:off x="7391400" y="2907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31" name="Google Shape;931;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2" name="Google Shape;932;p92"/>
          <p:cNvSpPr txBox="1"/>
          <p:nvPr/>
        </p:nvSpPr>
        <p:spPr>
          <a:xfrm>
            <a:off x="484565" y="316034"/>
            <a:ext cx="5029132" cy="662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Tornado Intensity</a:t>
            </a:r>
            <a:endParaRPr b="1" i="0" sz="2800" u="none" cap="none" strike="noStrike">
              <a:solidFill>
                <a:srgbClr val="7030A0"/>
              </a:solidFill>
              <a:latin typeface="Arial"/>
              <a:ea typeface="Arial"/>
              <a:cs typeface="Arial"/>
              <a:sym typeface="Arial"/>
            </a:endParaRPr>
          </a:p>
        </p:txBody>
      </p:sp>
      <p:sp>
        <p:nvSpPr>
          <p:cNvPr id="933" name="Google Shape;933;p92"/>
          <p:cNvSpPr txBox="1"/>
          <p:nvPr/>
        </p:nvSpPr>
        <p:spPr>
          <a:xfrm>
            <a:off x="486000" y="4860000"/>
            <a:ext cx="11085889" cy="14653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Values less than or equal to 200 are not solutions of the inequality. Values greater than 200 are solutions.</a:t>
            </a:r>
            <a:endParaRPr b="1" i="0" sz="2800" u="none" cap="none" strike="noStrike">
              <a:solidFill>
                <a:srgbClr val="595959"/>
              </a:solidFill>
              <a:latin typeface="Arial"/>
              <a:ea typeface="Arial"/>
              <a:cs typeface="Arial"/>
              <a:sym typeface="Arial"/>
            </a:endParaRPr>
          </a:p>
        </p:txBody>
      </p:sp>
      <p:sp>
        <p:nvSpPr>
          <p:cNvPr id="934" name="Google Shape;934;p92"/>
          <p:cNvSpPr txBox="1"/>
          <p:nvPr/>
        </p:nvSpPr>
        <p:spPr>
          <a:xfrm>
            <a:off x="486000" y="3227540"/>
            <a:ext cx="5901560" cy="14873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What can you say about values less than 200? equal to 200? greater than 200?</a:t>
            </a:r>
            <a:endParaRPr b="0" i="0" sz="1400" u="none" cap="none" strike="noStrike">
              <a:solidFill>
                <a:srgbClr val="000000"/>
              </a:solidFill>
              <a:latin typeface="Arial"/>
              <a:ea typeface="Arial"/>
              <a:cs typeface="Arial"/>
              <a:sym typeface="Arial"/>
            </a:endParaRPr>
          </a:p>
        </p:txBody>
      </p:sp>
      <p:pic>
        <p:nvPicPr>
          <p:cNvPr id="935" name="Google Shape;935;p92"/>
          <p:cNvPicPr preferRelativeResize="0"/>
          <p:nvPr/>
        </p:nvPicPr>
        <p:blipFill rotWithShape="1">
          <a:blip r:embed="rId2">
            <a:alphaModFix/>
          </a:blip>
          <a:srcRect b="0" l="0" r="0" t="0"/>
          <a:stretch/>
        </p:blipFill>
        <p:spPr>
          <a:xfrm>
            <a:off x="6602138" y="2007959"/>
            <a:ext cx="5086350" cy="1609725"/>
          </a:xfrm>
          <a:prstGeom prst="rect">
            <a:avLst/>
          </a:prstGeom>
          <a:noFill/>
          <a:ln>
            <a:noFill/>
          </a:ln>
        </p:spPr>
      </p:pic>
      <p:sp>
        <p:nvSpPr>
          <p:cNvPr id="936" name="Google Shape;936;p92"/>
          <p:cNvSpPr txBox="1"/>
          <p:nvPr/>
        </p:nvSpPr>
        <p:spPr>
          <a:xfrm>
            <a:off x="486000" y="947507"/>
            <a:ext cx="5901560" cy="954107"/>
          </a:xfrm>
          <a:prstGeom prst="rect">
            <a:avLst/>
          </a:prstGeom>
          <a:blipFill rotWithShape="1">
            <a:blip r:embed="rId3">
              <a:alphaModFix/>
            </a:blip>
            <a:stretch>
              <a:fillRect b="-16561" l="-2169" r="0"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37" name="Google Shape;937;p92"/>
          <p:cNvSpPr txBox="1"/>
          <p:nvPr/>
        </p:nvSpPr>
        <p:spPr>
          <a:xfrm>
            <a:off x="486000" y="2087523"/>
            <a:ext cx="590156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Let’s test some values using substitution.</a:t>
            </a:r>
            <a:endParaRPr b="0" i="0" sz="1400" u="none" cap="none" strike="noStrike">
              <a:solidFill>
                <a:srgbClr val="000000"/>
              </a:solidFill>
              <a:latin typeface="Arial"/>
              <a:ea typeface="Arial"/>
              <a:cs typeface="Arial"/>
              <a:sym typeface="Arial"/>
            </a:endParaRPr>
          </a:p>
        </p:txBody>
      </p:sp>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51 / 58</a:t>
            </a: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cxnSp>
        <p:nvCxnSpPr>
          <p:cNvPr id="1072" name="Google Shape;1072;p10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73" name="Google Shape;1073;p104"/>
          <p:cNvSpPr txBox="1"/>
          <p:nvPr/>
        </p:nvSpPr>
        <p:spPr>
          <a:xfrm>
            <a:off x="486001" y="316800"/>
            <a:ext cx="5609999" cy="97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Understand Inequalities and Their Solutions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2"/>
              </a:buClr>
              <a:buSzPts val="2800"/>
              <a:buFont typeface="Calibri"/>
              <a:buNone/>
            </a:pPr>
            <a:r>
              <a:t/>
            </a:r>
            <a:endParaRPr b="1" i="0" sz="2800" u="none" cap="none" strike="noStrike">
              <a:solidFill>
                <a:srgbClr val="782DA0"/>
              </a:solidFill>
              <a:latin typeface="Arial"/>
              <a:ea typeface="Arial"/>
              <a:cs typeface="Arial"/>
              <a:sym typeface="Arial"/>
            </a:endParaRPr>
          </a:p>
        </p:txBody>
      </p:sp>
      <p:sp>
        <p:nvSpPr>
          <p:cNvPr id="1074" name="Google Shape;1074;p104"/>
          <p:cNvSpPr txBox="1"/>
          <p:nvPr/>
        </p:nvSpPr>
        <p:spPr>
          <a:xfrm>
            <a:off x="6134668" y="3104865"/>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Calibri"/>
              <a:cs typeface="Calibri"/>
              <a:sym typeface="Calibri"/>
            </a:endParaRPr>
          </a:p>
        </p:txBody>
      </p:sp>
      <p:pic>
        <p:nvPicPr>
          <p:cNvPr id="1075" name="Google Shape;1075;p104"/>
          <p:cNvPicPr preferRelativeResize="0"/>
          <p:nvPr/>
        </p:nvPicPr>
        <p:blipFill rotWithShape="1">
          <a:blip r:embed="rId3">
            <a:alphaModFix/>
          </a:blip>
          <a:srcRect b="0" l="0" r="0" t="0"/>
          <a:stretch/>
        </p:blipFill>
        <p:spPr>
          <a:xfrm>
            <a:off x="486001" y="5640710"/>
            <a:ext cx="5467350" cy="428625"/>
          </a:xfrm>
          <a:prstGeom prst="rect">
            <a:avLst/>
          </a:prstGeom>
          <a:noFill/>
          <a:ln>
            <a:noFill/>
          </a:ln>
        </p:spPr>
      </p:pic>
      <p:sp>
        <p:nvSpPr>
          <p:cNvPr id="1076" name="Google Shape;1076;p104"/>
          <p:cNvSpPr txBox="1"/>
          <p:nvPr/>
        </p:nvSpPr>
        <p:spPr>
          <a:xfrm>
            <a:off x="486001" y="1508760"/>
            <a:ext cx="11054358"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You can represent an inequality on a number line or with a mathematical statement using inequality symbols. On a number line, a closed dot means the number is a solution, and an open dot means the number is not a solution.</a:t>
            </a:r>
            <a:endParaRPr b="0" i="0" sz="1400" u="none" cap="none" strike="noStrike">
              <a:solidFill>
                <a:srgbClr val="000000"/>
              </a:solidFill>
              <a:latin typeface="Arial"/>
              <a:ea typeface="Arial"/>
              <a:cs typeface="Arial"/>
              <a:sym typeface="Arial"/>
            </a:endParaRPr>
          </a:p>
        </p:txBody>
      </p:sp>
      <p:pic>
        <p:nvPicPr>
          <p:cNvPr id="1077" name="Google Shape;1077;p104"/>
          <p:cNvPicPr preferRelativeResize="0"/>
          <p:nvPr/>
        </p:nvPicPr>
        <p:blipFill rotWithShape="1">
          <a:blip r:embed="rId4">
            <a:alphaModFix/>
          </a:blip>
          <a:srcRect b="0" l="0" r="0" t="0"/>
          <a:stretch/>
        </p:blipFill>
        <p:spPr>
          <a:xfrm>
            <a:off x="506269" y="3945660"/>
            <a:ext cx="6419850" cy="561975"/>
          </a:xfrm>
          <a:prstGeom prst="rect">
            <a:avLst/>
          </a:prstGeom>
          <a:noFill/>
          <a:ln>
            <a:noFill/>
          </a:ln>
        </p:spPr>
      </p:pic>
      <p:sp>
        <p:nvSpPr>
          <p:cNvPr id="1078" name="Google Shape;1078;p104"/>
          <p:cNvSpPr/>
          <p:nvPr/>
        </p:nvSpPr>
        <p:spPr>
          <a:xfrm>
            <a:off x="506269" y="3163881"/>
            <a:ext cx="1832488"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79" name="Google Shape;1079;p104"/>
          <p:cNvSpPr/>
          <p:nvPr/>
        </p:nvSpPr>
        <p:spPr>
          <a:xfrm>
            <a:off x="486001" y="4986286"/>
            <a:ext cx="1683859"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53 / 58</a:t>
            </a:r>
          </a:p>
        </p:txBody>
      </p:sp>
      <p:sp>
        <p:nvSpPr>
          <p:cNvPr id="108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1082" name="TEACH-embedded-student-prompt" descr="Student thinking and response directions"/>
          <p:cNvSpPr txBox="1"/>
          <p:nvPr/>
        </p:nvSpPr>
        <p:spPr>
          <a:xfrm>
            <a:off x="4099560" y="468172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10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Apply: </a:t>
            </a:r>
            <a:r>
              <a:rPr b="1" i="0" lang="en-US" sz="2800" u="none" cap="none" strike="noStrike">
                <a:solidFill>
                  <a:srgbClr val="782DA0"/>
                </a:solidFill>
                <a:latin typeface="Arial"/>
                <a:ea typeface="Arial"/>
                <a:cs typeface="Arial"/>
                <a:sym typeface="Arial"/>
              </a:rPr>
              <a:t>Earning Money</a:t>
            </a:r>
            <a:endParaRPr b="0" i="0" sz="1400" u="none" cap="none" strike="noStrike">
              <a:solidFill>
                <a:srgbClr val="000000"/>
              </a:solidFill>
              <a:latin typeface="Arial"/>
              <a:ea typeface="Arial"/>
              <a:cs typeface="Arial"/>
              <a:sym typeface="Arial"/>
            </a:endParaRPr>
          </a:p>
        </p:txBody>
      </p:sp>
      <p:cxnSp>
        <p:nvCxnSpPr>
          <p:cNvPr id="1085" name="Google Shape;1085;p10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86" name="Google Shape;1086;p105"/>
          <p:cNvSpPr txBox="1"/>
          <p:nvPr/>
        </p:nvSpPr>
        <p:spPr>
          <a:xfrm>
            <a:off x="484564" y="935999"/>
            <a:ext cx="6972525" cy="194325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Yuzuki wants to earn enough money to go on a class trip that costs $750. The image shows different ways she can earn money.</a:t>
            </a:r>
            <a:endParaRPr b="0" i="0" sz="1400" u="none" cap="none" strike="noStrike">
              <a:solidFill>
                <a:srgbClr val="000000"/>
              </a:solidFill>
              <a:latin typeface="Arial"/>
              <a:ea typeface="Arial"/>
              <a:cs typeface="Arial"/>
              <a:sym typeface="Arial"/>
            </a:endParaRPr>
          </a:p>
        </p:txBody>
      </p:sp>
      <p:sp>
        <p:nvSpPr>
          <p:cNvPr id="1087" name="Google Shape;1087;p105"/>
          <p:cNvSpPr txBox="1"/>
          <p:nvPr/>
        </p:nvSpPr>
        <p:spPr>
          <a:xfrm>
            <a:off x="484565" y="3681166"/>
            <a:ext cx="6972524"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Question :</a:t>
            </a:r>
            <a:r>
              <a:rPr b="0" i="0" lang="en-US" sz="2800" u="none" cap="none" strike="noStrike">
                <a:solidFill>
                  <a:schemeClr val="dk1"/>
                </a:solidFill>
                <a:latin typeface="Arial"/>
                <a:ea typeface="Arial"/>
                <a:cs typeface="Arial"/>
                <a:sym typeface="Arial"/>
              </a:rPr>
              <a:t xml:space="preserve"> What are some ways that Yuzuki can earn at least $750?</a:t>
            </a:r>
            <a:endParaRPr b="0" i="0" sz="2800" u="none" cap="none" strike="noStrike">
              <a:solidFill>
                <a:schemeClr val="dk1"/>
              </a:solidFill>
              <a:latin typeface="Arial"/>
              <a:ea typeface="Arial"/>
              <a:cs typeface="Arial"/>
              <a:sym typeface="Arial"/>
            </a:endParaRPr>
          </a:p>
        </p:txBody>
      </p:sp>
      <p:pic>
        <p:nvPicPr>
          <p:cNvPr id="1088" name="Google Shape;1088;p105"/>
          <p:cNvPicPr preferRelativeResize="0"/>
          <p:nvPr/>
        </p:nvPicPr>
        <p:blipFill rotWithShape="1">
          <a:blip r:embed="rId3">
            <a:alphaModFix/>
          </a:blip>
          <a:srcRect b="0" l="0" r="0" t="0"/>
          <a:stretch/>
        </p:blipFill>
        <p:spPr>
          <a:xfrm>
            <a:off x="7695328" y="1521166"/>
            <a:ext cx="4212000" cy="4320000"/>
          </a:xfrm>
          <a:prstGeom prst="rect">
            <a:avLst/>
          </a:prstGeom>
          <a:noFill/>
          <a:ln>
            <a:noFill/>
          </a:ln>
        </p:spPr>
      </p:pic>
      <p:sp>
        <p:nvSpPr>
          <p:cNvPr id="108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54 / 58</a:t>
            </a:r>
          </a:p>
        </p:txBody>
      </p:sp>
      <p:sp>
        <p:nvSpPr>
          <p:cNvPr id="109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1091" name="TEACH-embedded-student-prompt" descr="Student thinking and response directions"/>
          <p:cNvSpPr txBox="1"/>
          <p:nvPr/>
        </p:nvSpPr>
        <p:spPr>
          <a:xfrm>
            <a:off x="59436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 independently,</a:t>
            </a:r>
            <a:endParaRPr lang="en-US" sz="2000"/>
          </a:p>
          <a:p>
            <a:pPr>
              <a:lnSpc>
                <a:spcPts val="2400"/>
              </a:lnSpc>
              <a:buNone/>
            </a:pPr>
            <a:r>
              <a:rPr lang="en-US" sz="2000">
                <a:solidFill>
                  <a:srgbClr val="174D60"/>
                </a:solidFill>
                <a:latin typeface="Arial"/>
              </a:rPr>
              <a:t>justify your answer, then check the goal.</a:t>
            </a:r>
            <a:endParaRPr lang="en-US" sz="20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106"/>
          <p:cNvSpPr txBox="1"/>
          <p:nvPr/>
        </p:nvSpPr>
        <p:spPr>
          <a:xfrm>
            <a:off x="484565" y="434021"/>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94" name="Google Shape;1094;p10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95" name="Google Shape;1095;p106"/>
          <p:cNvSpPr txBox="1"/>
          <p:nvPr/>
        </p:nvSpPr>
        <p:spPr>
          <a:xfrm>
            <a:off x="484565" y="1178250"/>
            <a:ext cx="8943214" cy="370906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represent an inequality with an inequality statement or on a number line.</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find solutions of inequalities using substitution.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xml:space="preserve">I can make use of structure to graph solutions of inequalities on a number line.	</a:t>
            </a:r>
            <a:endParaRPr b="0" i="0" sz="1400" u="none" cap="none" strike="noStrike">
              <a:solidFill>
                <a:srgbClr val="000000"/>
              </a:solidFill>
              <a:latin typeface="Arial"/>
              <a:ea typeface="Arial"/>
              <a:cs typeface="Arial"/>
              <a:sym typeface="Arial"/>
            </a:endParaRPr>
          </a:p>
        </p:txBody>
      </p:sp>
      <p:sp>
        <p:nvSpPr>
          <p:cNvPr id="109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55 / 58</a:t>
            </a:r>
          </a:p>
        </p:txBody>
      </p:sp>
      <p:sp xmlns:p="http://schemas.openxmlformats.org/presentationml/2006/main" xmlns:a="http://schemas.openxmlformats.org/drawingml/2006/main">
        <p:nvSpPr>
          <p:cNvPr id="109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56" name="Google Shape;856;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7" name="Google Shape;857;p85"/>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858" name="Google Shape;858;p85"/>
          <p:cNvPicPr preferRelativeResize="0"/>
          <p:nvPr/>
        </p:nvPicPr>
        <p:blipFill rotWithShape="1">
          <a:blip r:embed="rId2">
            <a:alphaModFix/>
          </a:blip>
          <a:srcRect b="0" l="0" r="0" t="0"/>
          <a:stretch/>
        </p:blipFill>
        <p:spPr>
          <a:xfrm>
            <a:off x="484560" y="4573381"/>
            <a:ext cx="5054600" cy="838200"/>
          </a:xfrm>
          <a:prstGeom prst="rect">
            <a:avLst/>
          </a:prstGeom>
          <a:noFill/>
          <a:ln>
            <a:noFill/>
          </a:ln>
        </p:spPr>
      </p:pic>
      <p:sp>
        <p:nvSpPr>
          <p:cNvPr id="859" name="Google Shape;859;p85"/>
          <p:cNvSpPr txBox="1"/>
          <p:nvPr/>
        </p:nvSpPr>
        <p:spPr>
          <a:xfrm>
            <a:off x="484560" y="315403"/>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60" name="Google Shape;860;p85"/>
          <p:cNvSpPr txBox="1"/>
          <p:nvPr/>
        </p:nvSpPr>
        <p:spPr>
          <a:xfrm>
            <a:off x="484560" y="918847"/>
            <a:ext cx="6063724"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What’s the question?</a:t>
            </a:r>
            <a:r>
              <a:rPr b="1" i="0" lang="en-US" sz="2800" u="none" cap="none" strike="noStrike">
                <a:solidFill>
                  <a:srgbClr val="262626"/>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861" name="Google Shape;861;p85"/>
          <p:cNvSpPr txBox="1"/>
          <p:nvPr/>
        </p:nvSpPr>
        <p:spPr>
          <a:xfrm>
            <a:off x="3189017" y="4724188"/>
            <a:ext cx="214709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62" name="Google Shape;862;p85"/>
          <p:cNvSpPr/>
          <p:nvPr/>
        </p:nvSpPr>
        <p:spPr>
          <a:xfrm>
            <a:off x="484560" y="5358123"/>
            <a:ext cx="1082426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595959"/>
                </a:solidFill>
                <a:latin typeface="Arial"/>
                <a:ea typeface="Arial"/>
                <a:cs typeface="Arial"/>
                <a:sym typeface="Arial"/>
              </a:rPr>
              <a:t>How is understanding the context of a problem or situation helping to solve a math or non-math problem?</a:t>
            </a:r>
            <a:endParaRPr b="0" i="0" sz="2800" u="none" cap="none" strike="noStrike">
              <a:solidFill>
                <a:srgbClr val="595959"/>
              </a:solidFill>
              <a:latin typeface="Arial"/>
              <a:ea typeface="Arial"/>
              <a:cs typeface="Arial"/>
              <a:sym typeface="Arial"/>
            </a:endParaRPr>
          </a:p>
        </p:txBody>
      </p:sp>
      <p:sp>
        <p:nvSpPr>
          <p:cNvPr id="863" name="Google Shape;863;p85"/>
          <p:cNvSpPr/>
          <p:nvPr/>
        </p:nvSpPr>
        <p:spPr>
          <a:xfrm>
            <a:off x="594920" y="1579336"/>
            <a:ext cx="6577406" cy="2852074"/>
          </a:xfrm>
          <a:prstGeom prst="snip1Rect">
            <a:avLst>
              <a:gd fmla="val 16667" name="adj"/>
            </a:avLst>
          </a:prstGeom>
          <a:noFill/>
          <a:ln cap="flat" cmpd="sng" w="19050">
            <a:solidFill>
              <a:srgbClr val="00B05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4" name="Google Shape;864;p85"/>
          <p:cNvSpPr txBox="1"/>
          <p:nvPr/>
        </p:nvSpPr>
        <p:spPr>
          <a:xfrm>
            <a:off x="1022340" y="2046491"/>
            <a:ext cx="5722565"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rgbClr val="7030A0"/>
                </a:solidFill>
                <a:latin typeface="Arial"/>
                <a:ea typeface="Arial"/>
                <a:cs typeface="Arial"/>
                <a:sym typeface="Arial"/>
              </a:rPr>
              <a:t>To make a profit, a production company wants their new movie to earn a certain amount of money from ticket sales.</a:t>
            </a:r>
            <a:endParaRPr b="0" i="0" sz="1400" u="none" cap="none" strike="noStrike">
              <a:solidFill>
                <a:srgbClr val="000000"/>
              </a:solidFill>
              <a:latin typeface="Arial"/>
              <a:ea typeface="Arial"/>
              <a:cs typeface="Arial"/>
              <a:sym typeface="Arial"/>
            </a:endParaRPr>
          </a:p>
        </p:txBody>
      </p:sp>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56 / 58</a:t>
            </a:r>
          </a:p>
        </p:txBody>
      </p:sp>
      <p:sp xmlns:p="http://schemas.openxmlformats.org/presentationml/2006/main" xmlns:a="http://schemas.openxmlformats.org/drawingml/2006/main">
        <p:nvSpPr>
          <p:cNvPr id="865" name="TEACH-embedded-student-prompt" descr="Student thinking and response directions"/>
          <p:cNvSpPr txBox="1"/>
          <p:nvPr/>
        </p:nvSpPr>
        <p:spPr>
          <a:xfrm>
            <a:off x="7391400" y="409651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93" name="Google Shape;1093;p106"/>
          <p:cNvSpPr txBox="1"/>
          <p:nvPr/>
        </p:nvSpPr>
        <p:spPr>
          <a:xfrm>
            <a:off x="484565" y="434021"/>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94" name="Google Shape;1094;p10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95" name="Google Shape;1095;p106"/>
          <p:cNvSpPr txBox="1"/>
          <p:nvPr/>
        </p:nvSpPr>
        <p:spPr>
          <a:xfrm>
            <a:off x="484565" y="1178250"/>
            <a:ext cx="8943214" cy="370906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represent an inequality with an inequality statement or on a number line.</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find solutions of inequalities using substitution.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make use of structure to graph solutions of inequalities on a number line.	</a:t>
            </a:r>
            <a:endParaRPr b="0" i="0" sz="1400" u="none" cap="none" strike="noStrike">
              <a:solidFill>
                <a:srgbClr val="000000"/>
              </a:solidFill>
              <a:latin typeface="Arial"/>
              <a:ea typeface="Arial"/>
              <a:cs typeface="Arial"/>
              <a:sym typeface="Arial"/>
            </a:endParaRPr>
          </a:p>
        </p:txBody>
      </p:sp>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57 / 58</a:t>
            </a:r>
          </a:p>
        </p:txBody>
      </p:sp>
      <p:sp xmlns:p="http://schemas.openxmlformats.org/presentationml/2006/main" xmlns:a="http://schemas.openxmlformats.org/drawingml/2006/main">
        <p:nvSpPr>
          <p:cNvPr id="109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8.5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Choose an open or closed endpoint.</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18 / 58</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28 / 58</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32 / 58</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35 / 58</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4-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2-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41 / 58</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47 / 58</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HOW DO YOU KNOW?  ·  </a:t>
            </a:r>
            <a:r>
              <a:rPr lang="en-US" sz="2000" b="0" dirty="0">
                <a:solidFill>
                  <a:srgbClr val="13303A"/>
                </a:solidFill>
                <a:latin typeface="Arial"/>
              </a:rPr>
              <a:t>Ask your partner “How do you know?” Answer by pointing to your own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52 / 58</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8.5 — Understand Inequalities and Their Solutions</dc:title>
  <dc:creator>Neft Teacher</dc:creator>
  <cp:lastModifiedBy>Neft Teacher</cp:lastModifiedBy>
  <dcterms:created xsi:type="dcterms:W3CDTF">2026-09-30T12:04:43Z</dcterms:created>
  <dcterms:modified xsi:type="dcterms:W3CDTF">2026-09-30T12:04:43Z</dcterms:modified>
</cp:coreProperties>
</file>