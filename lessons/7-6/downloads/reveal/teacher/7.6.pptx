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6.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9" r:id="rId22"/>
    <p:sldId id="270" r:id="rId23"/>
    <p:sldId id="256" r:id="rId9"/>
    <p:sldId id="257" r:id="rId10"/>
    <p:sldId id="260" r:id="rId13"/>
    <p:sldId id="333" r:id="rId76"/>
    <p:sldId id="332" r:id="rId52"/>
    <p:sldId id="331" r:id="rId51"/>
    <p:sldId id="330" r:id="rId36"/>
    <p:sldId id="329" r:id="rId37"/>
    <p:sldId id="328" r:id="rId39"/>
    <p:sldId id="327" r:id="rId47"/>
    <p:sldId id="326" r:id="rId40"/>
    <p:sldId id="261" r:id="rId14"/>
    <p:sldId id="272" r:id="rId25"/>
    <p:sldId id="277" r:id="rId30"/>
    <p:sldId id="279" r:id="rId32"/>
    <p:sldId id="281" r:id="rId34"/>
    <p:sldId id="337" r:id="rId80"/>
    <p:sldId id="282" r:id="rId35"/>
    <p:sldId id="285" r:id="rId38"/>
    <p:sldId id="289" r:id="rId42"/>
    <p:sldId id="291" r:id="rId44"/>
    <p:sldId id="293" r:id="rId46"/>
    <p:sldId id="338" r:id="rId81"/>
    <p:sldId id="295" r:id="rId48"/>
    <p:sldId id="296" r:id="rId49"/>
    <p:sldId id="339" r:id="rId82"/>
    <p:sldId id="334" r:id="rId77"/>
    <p:sldId id="325" r:id="rId45"/>
    <p:sldId id="321" r:id="rId74"/>
    <p:sldId id="340" r:id="rId83"/>
    <p:sldId id="322" r:id="rId75"/>
    <p:sldId id="297" r:id="rId50"/>
    <p:sldId id="301" r:id="rId54"/>
    <p:sldId id="303" r:id="rId56"/>
    <p:sldId id="305" r:id="rId58"/>
    <p:sldId id="307" r:id="rId60"/>
    <p:sldId id="341" r:id="rId84"/>
    <p:sldId id="308" r:id="rId61"/>
    <p:sldId id="309" r:id="rId62"/>
    <p:sldId id="311" r:id="rId64"/>
    <p:sldId id="313" r:id="rId66"/>
    <p:sldId id="342" r:id="rId85"/>
    <p:sldId id="315" r:id="rId68"/>
    <p:sldId id="317" r:id="rId70"/>
    <p:sldId id="335" r:id="rId78"/>
    <p:sldId id="318" r:id="rId71"/>
    <p:sldId id="319" r:id="rId72"/>
    <p:sldId id="343" r:id="rId86"/>
    <p:sldId id="320" r:id="rId73"/>
    <p:sldId id="324" r:id="rId41"/>
    <p:sldId id="323" r:id="rId43"/>
    <p:sldId id="336" r:id="rId7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5" Type="http://schemas.openxmlformats.org/officeDocument/2006/relationships/slide" Target="slides/slide16.xml"/><Relationship Id="rId30" Type="http://schemas.openxmlformats.org/officeDocument/2006/relationships/slide" Target="slides/slide17.xml"/><Relationship Id="rId32"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21.xml"/><Relationship Id="rId39" Type="http://schemas.openxmlformats.org/officeDocument/2006/relationships/slide" Target="slides/slide12.xml"/><Relationship Id="rId40" Type="http://schemas.openxmlformats.org/officeDocument/2006/relationships/slide" Target="slides/slide14.xml"/><Relationship Id="rId41" Type="http://schemas.openxmlformats.org/officeDocument/2006/relationships/slide" Target="slides/slide46.xml"/><Relationship Id="rId42" Type="http://schemas.openxmlformats.org/officeDocument/2006/relationships/slide" Target="slides/slide22.xml"/><Relationship Id="rId43" Type="http://schemas.openxmlformats.org/officeDocument/2006/relationships/slide" Target="slides/slide47.xml"/><Relationship Id="rId44" Type="http://schemas.openxmlformats.org/officeDocument/2006/relationships/slide" Target="slides/slide23.xml"/><Relationship Id="rId45" Type="http://schemas.openxmlformats.org/officeDocument/2006/relationships/slide" Target="slides/slide28.xml"/><Relationship Id="rId46" Type="http://schemas.openxmlformats.org/officeDocument/2006/relationships/slide" Target="slides/slide24.xml"/><Relationship Id="rId47" Type="http://schemas.openxmlformats.org/officeDocument/2006/relationships/slide" Target="slides/slide13.xml"/><Relationship Id="rId48" Type="http://schemas.openxmlformats.org/officeDocument/2006/relationships/slide" Target="slides/slide25.xml"/><Relationship Id="rId49" Type="http://schemas.openxmlformats.org/officeDocument/2006/relationships/slide" Target="slides/slide26.xml"/><Relationship Id="rId50" Type="http://schemas.openxmlformats.org/officeDocument/2006/relationships/slide" Target="slides/slide31.xml"/><Relationship Id="rId51" Type="http://schemas.openxmlformats.org/officeDocument/2006/relationships/slide" Target="slides/slide9.xml"/><Relationship Id="rId52" Type="http://schemas.openxmlformats.org/officeDocument/2006/relationships/slide" Target="slides/slide8.xml"/><Relationship Id="rId54" Type="http://schemas.openxmlformats.org/officeDocument/2006/relationships/slide" Target="slides/slide32.xml"/><Relationship Id="rId56" Type="http://schemas.openxmlformats.org/officeDocument/2006/relationships/slide" Target="slides/slide33.xml"/><Relationship Id="rId58"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4" Type="http://schemas.openxmlformats.org/officeDocument/2006/relationships/slide" Target="slides/slide38.xml"/><Relationship Id="rId66" Type="http://schemas.openxmlformats.org/officeDocument/2006/relationships/slide" Target="slides/slide39.xml"/><Relationship Id="rId68" Type="http://schemas.openxmlformats.org/officeDocument/2006/relationships/slide" Target="slides/slide40.xml"/><Relationship Id="rId70" Type="http://schemas.openxmlformats.org/officeDocument/2006/relationships/slide" Target="slides/slide41.xml"/><Relationship Id="rId71" Type="http://schemas.openxmlformats.org/officeDocument/2006/relationships/slide" Target="slides/slide43.xml"/><Relationship Id="rId72" Type="http://schemas.openxmlformats.org/officeDocument/2006/relationships/slide" Target="slides/slide44.xml"/><Relationship Id="rId73" Type="http://schemas.openxmlformats.org/officeDocument/2006/relationships/slide" Target="slides/slide45.xml"/><Relationship Id="rId74" Type="http://schemas.openxmlformats.org/officeDocument/2006/relationships/slide" Target="slides/slide29.xml"/><Relationship Id="rId75" Type="http://schemas.openxmlformats.org/officeDocument/2006/relationships/slide" Target="slides/slide30.xml"/><Relationship Id="rId76" Type="http://schemas.openxmlformats.org/officeDocument/2006/relationships/slide" Target="slides/slide7.xml"/><Relationship Id="rId77" Type="http://schemas.openxmlformats.org/officeDocument/2006/relationships/slide" Target="slides/slide27.xml"/><Relationship Id="rId78" Type="http://schemas.openxmlformats.org/officeDocument/2006/relationships/slide" Target="slides/slide42.xml"/><Relationship Id="rId79" Type="http://schemas.openxmlformats.org/officeDocument/2006/relationships/slide" Target="slides/slide48.xml"/><Relationship Id="rId80" Type="http://schemas.openxmlformats.org/officeDocument/2006/relationships/slide" Target="slides/slide49.xml"/><Relationship Id="rId81" Type="http://schemas.openxmlformats.org/officeDocument/2006/relationships/slide" Target="slides/slide50.xml"/><Relationship Id="rId82" Type="http://schemas.openxmlformats.org/officeDocument/2006/relationships/slide" Target="slides/slide51.xml"/><Relationship Id="rId83" Type="http://schemas.openxmlformats.org/officeDocument/2006/relationships/slide" Target="slides/slide52.xml"/><Relationship Id="rId84" Type="http://schemas.openxmlformats.org/officeDocument/2006/relationships/slide" Target="slides/slide53.xml"/><Relationship Id="rId85" Type="http://schemas.openxmlformats.org/officeDocument/2006/relationships/slide" Target="slides/slide54.xml"/><Relationship Id="rId86"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4 | DIVIDER</a:t>
            </a:r>
          </a:p>
          <a:p xmlns:a="http://schemas.openxmlformats.org/drawingml/2006/main">
            <a:pPr>
              <a:buNone/>
            </a:pPr>
            <a:r>
              <a:rPr lang="en-US" sz="1100"/>
              <a:t>Focus on the existing task: Determine Distance on the Coordinate Plane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5 | TASK</a:t>
            </a:r>
          </a:p>
          <a:p xmlns:a="http://schemas.openxmlformats.org/drawingml/2006/main">
            <a:pPr>
              <a:buNone/>
            </a:pPr>
            <a:r>
              <a:rPr lang="en-US" sz="1100"/>
              <a:t>Focus on the existing task: It’s About What percent is shaded?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239" name="Google Shape;239;p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−8   2) 8   3) (7, −2)   4) 8 units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a shared coordinate; find horizontal or vertical distance; justify nonnegative length. Review recent work and today’s warm-up to choose flexible groups and access supports; do not infer needs from identity or perceived ability. Use the existing lesson tasks and stated standards.</a:t>
            </a:r>
          </a:p>
          <a:p>
            <a:pPr>
              <a:buNone/>
            </a:pPr>
            <a:r>
              <a:rPr lang="en-US" sz="1100"/>
              <a:t>Anticipate: adding absolute values for every pair regardless of location. If observed, mark the shared coordinate and trace the axis-aligned segment through the original points.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7" name="Google Shape;257;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6 | GOAL</a:t>
            </a:r>
          </a:p>
          <a:p xmlns:a="http://schemas.openxmlformats.org/drawingml/2006/main">
            <a:pPr>
              <a:buNone/>
            </a:pPr>
            <a:r>
              <a:rPr lang="en-US" sz="1100"/>
              <a:t>Focus on the existing task: Today’s Objectives Determine Distance on the…</a:t>
            </a:r>
          </a:p>
          <a:p xmlns:a="http://schemas.openxmlformats.org/drawingml/2006/main">
            <a:pPr>
              <a:buNone/>
            </a:pPr>
            <a:r>
              <a:rPr lang="en-US" sz="1100"/>
              <a:t>CONNECT (T1/4): Ask students to restate the displayed goal or key idea and connect it to earlier work. Relevant lesson evidence: identify a shared coordinate; find horizontal or vertical distance; justify nonnegative length.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a shared coordinate; find horizontal or vertical distance; justify nonnegative length. Ask: “Which part of your work would show this?” Revisit that evidence after the task; a confidence rating alone is not evidence of understanding.</a:t>
            </a:r>
          </a:p>
        </p:txBody>
      </p:sp>
      <p:sp>
        <p:nvSpPr>
          <p:cNvPr id="317" name="Google Shape;317;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15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39" name="Google Shape;339;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03" name="Google Shape;503;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31" name="Google Shape;531;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16 | CURIOUS</a:t>
            </a:r>
          </a:p>
          <a:p xmlns:a="http://schemas.openxmlformats.org/drawingml/2006/main">
            <a:pPr>
              <a:buNone/>
            </a:pPr>
            <a:r>
              <a:rPr lang="en-US" sz="1100"/>
              <a:t>Focus on the existing task: Be Curious Mindset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68" name="Google Shape;568;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17 | REVEAL</a:t>
            </a:r>
          </a:p>
          <a:p xmlns:a="http://schemas.openxmlformats.org/drawingml/2006/main">
            <a:pPr>
              <a:buNone/>
            </a:pPr>
            <a:r>
              <a:rPr lang="en-US" sz="1100"/>
              <a:t>Focus on the existing task: How Far?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find the distance from the middle school to the high school.</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“Do the points lie on the same side of zero or opposite sides, and how does that affect the distance?” Wait for evidence, invite another pathway, and have a student ask a follow-up question. Do not replace students’ reasoning with a sequence of leading steps.</a:t>
            </a:r>
          </a:p>
        </p:txBody>
      </p:sp>
      <p:sp>
        <p:nvSpPr>
          <p:cNvPr id="619" name="Google Shape;619;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18 | TASK</a:t>
            </a:r>
          </a:p>
          <a:p xmlns:a="http://schemas.openxmlformats.org/drawingml/2006/main">
            <a:pPr>
              <a:buNone/>
            </a:pPr>
            <a:r>
              <a:rPr lang="en-US" sz="1100"/>
              <a:t>Focus on the existing task: How Far?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39" name="Google Shape;639;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19 | REVEAL</a:t>
            </a:r>
          </a:p>
          <a:p xmlns:a="http://schemas.openxmlformats.org/drawingml/2006/main">
            <a:pPr>
              <a:buNone/>
            </a:pPr>
            <a:r>
              <a:rPr lang="en-US" sz="1100"/>
              <a:t>Focus on the existing task: How Far?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way is to count the units on the coordinate plane.</a:t>
            </a:r>
          </a:p>
          <a:p>
            <a:pPr indent="0" lvl="0" marL="0" rtl="0" algn="l">
              <a:lnSpc>
                <a:spcPct val="100000"/>
              </a:lnSpc>
              <a:spcBef>
                <a:spcPts val="0"/>
              </a:spcBef>
              <a:spcAft>
                <a:spcPts val="0"/>
              </a:spcAft>
              <a:buSzPts val="1400"/>
              <a:buNone/>
            </a:pPr>
            <a:r>
              <a:t>UIFR: TEACH 3 · TEACH 4.</a:t>
            </a:r>
          </a:p>
        </p:txBody>
      </p:sp>
      <p:sp>
        <p:nvSpPr>
          <p:cNvPr id="662" name="Google Shape;662;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20 | TASK</a:t>
            </a:r>
          </a:p>
          <a:p xmlns:a="http://schemas.openxmlformats.org/drawingml/2006/main">
            <a:pPr>
              <a:buNone/>
            </a:pPr>
            <a:r>
              <a:rPr lang="en-US" sz="1100"/>
              <a:t>Focus on the existing task: How Far?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75" name="Google Shape;675;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21 | TASK</a:t>
            </a:r>
          </a:p>
          <a:p xmlns:a="http://schemas.openxmlformats.org/drawingml/2006/main">
            <a:pPr>
              <a:buNone/>
            </a:pPr>
            <a:r>
              <a:rPr lang="en-US" sz="1100"/>
              <a:t>Focus on the existing task: How Far?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03" name="Google Shape;703;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22 | COLLABORATE</a:t>
            </a:r>
          </a:p>
          <a:p xmlns:a="http://schemas.openxmlformats.org/drawingml/2006/main">
            <a:pPr>
              <a:buNone/>
            </a:pPr>
            <a:r>
              <a:rPr lang="en-US" sz="1100"/>
              <a:t>Focus on the existing task: Collaborate and Connect Let’s look at another way to find the distance. COLLABORATE · TALK IT THROUGH • AGREE ON 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adding absolute values for every pair regardless of location. If it appears, mark the shared coordinate and trace the axis-aligned segment through the original points; then ask the student to revise the same response and explain the change. If evidence is secure, have students compare a second valid pathway or state why their approach works. Choose the next step from the responses, not a preset pace.</a:t>
            </a:r>
          </a:p>
        </p:txBody>
      </p:sp>
      <p:sp>
        <p:nvSpPr>
          <p:cNvPr id="749" name="Google Shape;749;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23 | TASK</a:t>
            </a:r>
          </a:p>
          <a:p xmlns:a="http://schemas.openxmlformats.org/drawingml/2006/main">
            <a:pPr>
              <a:buNone/>
            </a:pPr>
            <a:r>
              <a:rPr lang="en-US" sz="1100"/>
              <a:t>Focus on the existing task: How Far?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775" name="Google Shape;775;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24 | REVEAL</a:t>
            </a:r>
          </a:p>
          <a:p xmlns:a="http://schemas.openxmlformats.org/drawingml/2006/main">
            <a:pPr>
              <a:buNone/>
            </a:pPr>
            <a:r>
              <a:rPr lang="en-US" sz="1100"/>
              <a:t>Focus on the existing task: How Far?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distance between the middle school to the high school is 4.5 kilometers.</a:t>
            </a:r>
          </a:p>
          <a:p>
            <a:pPr indent="0" lvl="0" marL="0" rtl="0" algn="l">
              <a:lnSpc>
                <a:spcPct val="100000"/>
              </a:lnSpc>
              <a:spcBef>
                <a:spcPts val="0"/>
              </a:spcBef>
              <a:spcAft>
                <a:spcPts val="0"/>
              </a:spcAft>
              <a:buSzPts val="1400"/>
              <a:buNone/>
            </a:pPr>
            <a:r>
              <a:t>UIFR: TEACH 3 · TEACH 4.</a:t>
            </a:r>
          </a:p>
        </p:txBody>
      </p:sp>
      <p:sp>
        <p:nvSpPr>
          <p:cNvPr id="797" name="Google Shape;797;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25 | TASK</a:t>
            </a:r>
          </a:p>
          <a:p xmlns:a="http://schemas.openxmlformats.org/drawingml/2006/main">
            <a:pPr>
              <a:buNone/>
            </a:pPr>
            <a:r>
              <a:rPr lang="en-US" sz="1100"/>
              <a:t>Focus on the existing task: How Far?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far will Tahira walk?</a:t>
            </a:r>
          </a:p>
          <a:p>
            <a:pPr indent="0" lvl="0" marL="0" rtl="0" algn="l">
              <a:lnSpc>
                <a:spcPct val="100000"/>
              </a:lnSpc>
              <a:spcBef>
                <a:spcPts val="0"/>
              </a:spcBef>
              <a:spcAft>
                <a:spcPts val="0"/>
              </a:spcAft>
              <a:buSzPts val="1400"/>
              <a:buNone/>
            </a:pPr>
            <a:r>
              <a:t>UIFR: TEACH 1 · TEACH 3.</a:t>
            </a:r>
          </a:p>
        </p:txBody>
      </p:sp>
      <p:sp>
        <p:nvSpPr>
          <p:cNvPr id="821" name="Google Shape;821;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26 | PRACTICE</a:t>
            </a:r>
          </a:p>
          <a:p xmlns:a="http://schemas.openxmlformats.org/drawingml/2006/main">
            <a:pPr>
              <a:buNone/>
            </a:pPr>
            <a:r>
              <a:rPr lang="en-US" sz="1100"/>
              <a:t>Focus on the existing task: Let’s Explore More Workspace Workspace Which coordinate would you use to determine the vertical distance between two points on the coordinate plane?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35" name="Google Shape;835;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31 | DIVIDER</a:t>
            </a:r>
          </a:p>
          <a:p xmlns:a="http://schemas.openxmlformats.org/drawingml/2006/main">
            <a:pPr>
              <a:buNone/>
            </a:pPr>
            <a:r>
              <a:rPr lang="en-US" sz="1100"/>
              <a:t>Focus on the existing task: Determine Distance on the Coordinate Plane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49" name="Google Shape;849;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32 | TASK</a:t>
            </a:r>
          </a:p>
          <a:p xmlns:a="http://schemas.openxmlformats.org/drawingml/2006/main">
            <a:pPr>
              <a:buNone/>
            </a:pPr>
            <a:r>
              <a:rPr lang="en-US" sz="1100"/>
              <a:t>Focus on the existing task: Who Walks Farther?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Who Walks Farther?</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“Do the points lie on the same side of zero or opposite sides, and how does that affect the distance?” Wait for evidence, invite another pathway, and have a student ask a follow-up question. Do not replace students’ reasoning with a sequence of leading steps.</a:t>
            </a:r>
          </a:p>
        </p:txBody>
      </p:sp>
      <p:sp>
        <p:nvSpPr>
          <p:cNvPr id="892" name="Google Shape;892;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33 | REVEAL</a:t>
            </a:r>
          </a:p>
          <a:p xmlns:a="http://schemas.openxmlformats.org/drawingml/2006/main">
            <a:pPr>
              <a:buNone/>
            </a:pPr>
            <a:r>
              <a:rPr lang="en-US" sz="1100"/>
              <a:t>Focus on the existing task: Who Walks Farther?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know the distance each person will walk.</a:t>
            </a:r>
          </a:p>
          <a:p>
            <a:pPr indent="0" lvl="0" marL="0" rtl="0" algn="l">
              <a:lnSpc>
                <a:spcPct val="100000"/>
              </a:lnSpc>
              <a:spcBef>
                <a:spcPts val="0"/>
              </a:spcBef>
              <a:spcAft>
                <a:spcPts val="0"/>
              </a:spcAft>
              <a:buSzPts val="1400"/>
              <a:buNone/>
            </a:pPr>
            <a:r>
              <a:t>UIFR: TEACH 3 · TEACH 4.</a:t>
            </a:r>
          </a:p>
        </p:txBody>
      </p:sp>
      <p:sp>
        <p:nvSpPr>
          <p:cNvPr id="914" name="Google Shape;914;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34 | TASK</a:t>
            </a:r>
          </a:p>
          <a:p xmlns:a="http://schemas.openxmlformats.org/drawingml/2006/main">
            <a:pPr>
              <a:buNone/>
            </a:pPr>
            <a:r>
              <a:rPr lang="en-US" sz="1100"/>
              <a:t>Focus on the existing task: Who Walks Farther?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37" name="Google Shape;937;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35 | TASK</a:t>
            </a:r>
          </a:p>
          <a:p xmlns:a="http://schemas.openxmlformats.org/drawingml/2006/main">
            <a:pPr>
              <a:buNone/>
            </a:pPr>
            <a:r>
              <a:rPr lang="en-US" sz="1100"/>
              <a:t>Focus on the existing task: Who Walks Farther?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62" name="Google Shape;962;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36 | TASK</a:t>
            </a:r>
          </a:p>
          <a:p xmlns:a="http://schemas.openxmlformats.org/drawingml/2006/main">
            <a:pPr>
              <a:buNone/>
            </a:pPr>
            <a:r>
              <a:rPr lang="en-US" sz="1100"/>
              <a:t>Focus on the existing task: Who Walks Farther?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74" name="Google Shape;974;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37 | TASK</a:t>
            </a:r>
          </a:p>
          <a:p xmlns:a="http://schemas.openxmlformats.org/drawingml/2006/main">
            <a:pPr>
              <a:buNone/>
            </a:pPr>
            <a:r>
              <a:rPr lang="en-US" sz="1100"/>
              <a:t>Focus on the existing task: Who Walks Farther?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85" name="Google Shape;985;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38 | COLLABORATE</a:t>
            </a:r>
          </a:p>
          <a:p xmlns:a="http://schemas.openxmlformats.org/drawingml/2006/main">
            <a:pPr>
              <a:buNone/>
            </a:pPr>
            <a:r>
              <a:rPr lang="en-US" sz="1100"/>
              <a:t>Focus on the existing task: Shanice will walk from the high school to the soccer fields. Each unit labeled on the grid represents one kilometer. Collaborate and Connect How far did Shanice walk?</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adding absolute values for every pair regardless of location. If it appears, mark the shared coordinate and trace the axis-aligned segment through the original points; then ask the student to revise the same response and explain the change. If evidence is secure, have students compare a second valid pathway or state why their approach works. Choose the next step from the responses, not a preset pace.</a:t>
            </a:r>
          </a:p>
        </p:txBody>
      </p:sp>
      <p:sp>
        <p:nvSpPr>
          <p:cNvPr id="1009" name="Google Shape;1009;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39 | TASK</a:t>
            </a:r>
          </a:p>
          <a:p xmlns:a="http://schemas.openxmlformats.org/drawingml/2006/main">
            <a:pPr>
              <a:buNone/>
            </a:pPr>
            <a:r>
              <a:rPr lang="en-US" sz="1100"/>
              <a:t>Focus on the existing task: Let’s find how far Shanice will walk. Who Walks Farther?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1033" name="Google Shape;1033;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40 | REVEAL</a:t>
            </a:r>
          </a:p>
          <a:p xmlns:a="http://schemas.openxmlformats.org/drawingml/2006/main">
            <a:pPr>
              <a:buNone/>
            </a:pPr>
            <a:r>
              <a:rPr lang="en-US" sz="1100"/>
              <a:t>Focus on the existing task: Miguel will walk 4.5 kilometers. Shanice will walk 4 kilometers. Who Walks Farther?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compare the distances they will walk.</a:t>
            </a:r>
          </a:p>
          <a:p>
            <a:pPr indent="0" lvl="0" marL="0" rtl="0" algn="l">
              <a:lnSpc>
                <a:spcPct val="100000"/>
              </a:lnSpc>
              <a:spcBef>
                <a:spcPts val="0"/>
              </a:spcBef>
              <a:spcAft>
                <a:spcPts val="0"/>
              </a:spcAft>
              <a:buSzPts val="1400"/>
              <a:buNone/>
            </a:pPr>
            <a:r>
              <a:t>UIFR: TEACH 3 · TEACH 4.</a:t>
            </a:r>
          </a:p>
        </p:txBody>
      </p:sp>
      <p:sp>
        <p:nvSpPr>
          <p:cNvPr id="1054" name="Google Shape;1054;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41 | PRACTICE</a:t>
            </a:r>
          </a:p>
          <a:p xmlns:a="http://schemas.openxmlformats.org/drawingml/2006/main">
            <a:pPr>
              <a:buNone/>
            </a:pPr>
            <a:r>
              <a:rPr lang="en-US" sz="1100"/>
              <a:t>Focus on the existing task: Let’s Explore More Why did you add to find Miguel’s distance from the high school to the town hall and subtract to find Shanice’s distance from the high school to the soccer fields?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76" name="Google Shape;1076;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43 | SUMMARIZE</a:t>
            </a:r>
          </a:p>
          <a:p xmlns:a="http://schemas.openxmlformats.org/drawingml/2006/main">
            <a:pPr>
              <a:buNone/>
            </a:pPr>
            <a:r>
              <a:rPr lang="en-US" sz="1100"/>
              <a:t>Focus on the existing task: Summarize: Find Distance on the Coordinate Plane You can use the coordinates and absolute value to find distances between points with the…</a:t>
            </a:r>
          </a:p>
          <a:p xmlns:a="http://schemas.openxmlformats.org/drawingml/2006/main">
            <a:pPr>
              <a:buNone/>
            </a:pPr>
            <a:r>
              <a:rPr lang="en-US" sz="1100"/>
              <a:t>CONNECT (T1/4): Ask students to restate the displayed goal or key idea and connect it to earlier work. Relevant lesson evidence: identify a shared coordinate; find horizontal or vertical distance; justify nonnegative length.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86" name="Google Shape;1086;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44 | APPLY</a:t>
            </a:r>
          </a:p>
          <a:p xmlns:a="http://schemas.openxmlformats.org/drawingml/2006/main">
            <a:pPr>
              <a:buNone/>
            </a:pPr>
            <a:r>
              <a:rPr lang="en-US" sz="1100"/>
              <a:t>Focus on the existing task: Apply: Deon’s Errands Question: What are the coordinates of the dry cleaner?</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a shared coordinate; find horizontal or vertical distance; justify nonnegative length. Respond with one specific next step tied to the work. Students revise and annotate what changed, then identify a criterion they can now demonstrate and one they still need to practice.</a:t>
            </a:r>
          </a:p>
        </p:txBody>
      </p:sp>
      <p:sp>
        <p:nvSpPr>
          <p:cNvPr id="1094" name="Google Shape;1094;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7.6, slide 45 | REFLECTION</a:t>
            </a:r>
          </a:p>
          <a:p xmlns:a="http://schemas.openxmlformats.org/drawingml/2006/main">
            <a:pPr>
              <a:buNone/>
            </a:pPr>
            <a:r>
              <a:rPr lang="en-US" sz="1100"/>
              <a:t>Focus on the existing task: Learning Targets</a:t>
            </a:r>
          </a:p>
          <a:p xmlns:a="http://schemas.openxmlformats.org/drawingml/2006/main">
            <a:pPr>
              <a:buNone/>
            </a:pPr>
            <a:r>
              <a:rPr lang="en-US" sz="1100"/>
              <a:t>CONNECT (T1/4): Ask students to restate the displayed goal or key idea and connect it to earlier work. Relevant lesson evidence: identify a shared coordinate; find horizontal or vertical distance; justify nonnegative length.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104" name="Google Shape;1104;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7.6, slide 29 | WARMUP</a:t>
            </a:r>
          </a:p>
          <a:p xmlns:a="http://schemas.openxmlformats.org/drawingml/2006/main">
            <a:pPr>
              <a:buNone/>
            </a:pPr>
            <a:r>
              <a:rPr lang="en-US" sz="1100"/>
              <a:t>Focus on the existing task: A 2 B 8 units C −8 units D 15 units 3 What is horizontal distance between (−4, 3) and (6, 3)?</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a shared coordinate; find horizontal or vertical distance; justify nonnegative length. Ask: “Which part of your work would show this?” Revisit that evidence after the task; a confidence rating alone is not evidence of understanding.</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7.6, slide 30 | NOTES</a:t>
            </a:r>
          </a:p>
          <a:p xmlns:a="http://schemas.openxmlformats.org/drawingml/2006/main">
            <a:pPr>
              <a:buNone/>
            </a:pPr>
            <a:r>
              <a:rPr lang="en-US" sz="1100"/>
              <a:t>Focus on the existing task: Today’s Math Notes Review Notes — Session 2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47 | REFLECTION</a:t>
            </a:r>
          </a:p>
          <a:p xmlns:a="http://schemas.openxmlformats.org/drawingml/2006/main">
            <a:pPr>
              <a:buNone/>
            </a:pPr>
            <a:r>
              <a:rPr lang="en-US" sz="1100"/>
              <a:t>Focus on the existing task: Learning Targets</a:t>
            </a:r>
          </a:p>
          <a:p xmlns:a="http://schemas.openxmlformats.org/drawingml/2006/main">
            <a:pPr>
              <a:buNone/>
            </a:pPr>
            <a:r>
              <a:rPr lang="en-US" sz="1100"/>
              <a:t>CONNECT (T1/4): Ask students to restate the displayed goal or key idea and connect it to earlier work. Relevant lesson evidence: identify a shared coordinate; find horizontal or vertical distance; justify nonnegative length.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adding absolute values for every pair regardless of location.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the shared coordinate and trace the axis-aligned segment through the original points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7 | PRIOR_INSERT</a:t>
            </a:r>
          </a:p>
          <a:p xmlns:a="http://schemas.openxmlformats.org/drawingml/2006/main">
            <a:pPr>
              <a:buNone/>
            </a:pPr>
            <a:r>
              <a:rPr lang="en-US" sz="1100"/>
              <a:t>Focus on the existing task: LESSON 7.6 / OUR LEARNING What will show your learning?</a:t>
            </a:r>
          </a:p>
          <a:p xmlns:a="http://schemas.openxmlformats.org/drawingml/2006/main">
            <a:pPr>
              <a:buNone/>
            </a:pPr>
            <a:r>
              <a:rPr lang="en-US" sz="1100"/>
              <a:t>CONNECT (T1/4): Ask students to restate the displayed goal or key idea and connect it to earlier work. Relevant lesson evidence: identify a shared coordinate; find horizontal or vertical distance; justify nonnegative length.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8 | VOCAB</a:t>
            </a:r>
          </a:p>
          <a:p xmlns:a="http://schemas.openxmlformats.org/drawingml/2006/main">
            <a:pPr>
              <a:buNone/>
            </a:pPr>
            <a:r>
              <a:rPr lang="en-US" sz="1100"/>
              <a:t>Focus on the existing task: Vocabulary 1 of 7 Distance on the Coordinate…</a:t>
            </a:r>
          </a:p>
          <a:p xmlns:a="http://schemas.openxmlformats.org/drawingml/2006/main">
            <a:pPr>
              <a:buNone/>
            </a:pPr>
            <a:r>
              <a:rPr lang="en-US" sz="1100"/>
              <a:t>ASK (T1/3/5): Where does “Distance on the Coordinate Plane”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9 | VOCAB</a:t>
            </a:r>
          </a:p>
          <a:p xmlns:a="http://schemas.openxmlformats.org/drawingml/2006/main">
            <a:pPr>
              <a:buNone/>
            </a:pPr>
            <a:r>
              <a:rPr lang="en-US" sz="1100"/>
              <a:t>Focus on the existing task: Vocabulary 2 of 7 Distance How far apart two…</a:t>
            </a:r>
          </a:p>
          <a:p xmlns:a="http://schemas.openxmlformats.org/drawingml/2006/main">
            <a:pPr>
              <a:buNone/>
            </a:pPr>
            <a:r>
              <a:rPr lang="en-US" sz="1100"/>
              <a:t>ASK (T1/3/5): Where does “Distance”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10 | VOCAB</a:t>
            </a:r>
          </a:p>
          <a:p xmlns:a="http://schemas.openxmlformats.org/drawingml/2006/main">
            <a:pPr>
              <a:buNone/>
            </a:pPr>
            <a:r>
              <a:rPr lang="en-US" sz="1100"/>
              <a:t>Focus on the existing task: Vocabulary 3 of 7 Absolute value How far a…</a:t>
            </a:r>
          </a:p>
          <a:p xmlns:a="http://schemas.openxmlformats.org/drawingml/2006/main">
            <a:pPr>
              <a:buNone/>
            </a:pPr>
            <a:r>
              <a:rPr lang="en-US" sz="1100"/>
              <a:t>ASK (T1/3/5): Where does “Absolute value”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11 | VOCAB</a:t>
            </a:r>
          </a:p>
          <a:p xmlns:a="http://schemas.openxmlformats.org/drawingml/2006/main">
            <a:pPr>
              <a:buNone/>
            </a:pPr>
            <a:r>
              <a:rPr lang="en-US" sz="1100"/>
              <a:t>Focus on the existing task: Vocabulary 4 of 7 Horizontal distance How far…</a:t>
            </a:r>
          </a:p>
          <a:p xmlns:a="http://schemas.openxmlformats.org/drawingml/2006/main">
            <a:pPr>
              <a:buNone/>
            </a:pPr>
            <a:r>
              <a:rPr lang="en-US" sz="1100"/>
              <a:t>ASK (T1/3/5): Where does “Horizontal distance”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12 | VOCAB</a:t>
            </a:r>
          </a:p>
          <a:p xmlns:a="http://schemas.openxmlformats.org/drawingml/2006/main">
            <a:pPr>
              <a:buNone/>
            </a:pPr>
            <a:r>
              <a:rPr lang="en-US" sz="1100"/>
              <a:t>Focus on the existing task: Vocabulary 5 of 7 Vertical distance How far…</a:t>
            </a:r>
          </a:p>
          <a:p xmlns:a="http://schemas.openxmlformats.org/drawingml/2006/main">
            <a:pPr>
              <a:buNone/>
            </a:pPr>
            <a:r>
              <a:rPr lang="en-US" sz="1100"/>
              <a:t>ASK (T1/3/5): Where does “Vertical distance”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13 | VOCAB</a:t>
            </a:r>
          </a:p>
          <a:p xmlns:a="http://schemas.openxmlformats.org/drawingml/2006/main">
            <a:pPr>
              <a:buNone/>
            </a:pPr>
            <a:r>
              <a:rPr lang="en-US" sz="1100"/>
              <a:t>Focus on the existing task: Vocabulary 6 of 7 Coordinate plane A grid with…</a:t>
            </a:r>
          </a:p>
          <a:p xmlns:a="http://schemas.openxmlformats.org/drawingml/2006/main">
            <a:pPr>
              <a:buNone/>
            </a:pPr>
            <a:r>
              <a:rPr lang="en-US" sz="1100"/>
              <a:t>ASK (T1/3/5): Where does “Coordinate plane”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14 | VOCAB</a:t>
            </a:r>
          </a:p>
          <a:p xmlns:a="http://schemas.openxmlformats.org/drawingml/2006/main">
            <a:pPr>
              <a:buNone/>
            </a:pPr>
            <a:r>
              <a:rPr lang="en-US" sz="1100"/>
              <a:t>Focus on the existing task: Vocabulary 7 of 7 Integer Whole numbers and…</a:t>
            </a:r>
          </a:p>
          <a:p xmlns:a="http://schemas.openxmlformats.org/drawingml/2006/main">
            <a:pPr>
              <a:buNone/>
            </a:pPr>
            <a:r>
              <a:rPr lang="en-US" sz="1100"/>
              <a:t>ASK (T1/3/5): Where does “Integer”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27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identify a shared coordinate; find horizontal or vertical distance; justify nonnegative length.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28 | REVEAL</a:t>
            </a:r>
          </a:p>
          <a:p xmlns:a="http://schemas.openxmlformats.org/drawingml/2006/main">
            <a:pPr>
              <a:buNone/>
            </a:pPr>
            <a:r>
              <a:rPr lang="en-US" sz="1100"/>
              <a:t>Focus on the existing task: How Far?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horizontal or vertical distance.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42 | PRIOR_INSERT</a:t>
            </a:r>
          </a:p>
          <a:p xmlns:a="http://schemas.openxmlformats.org/drawingml/2006/main">
            <a:pPr>
              <a:buNone/>
            </a:pPr>
            <a:r>
              <a:rPr lang="en-US" sz="1100"/>
              <a:t>Focus on the existing task: LESSON 7.6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identify a shared coordinate; find horizontal or vertical distance; justify nonnegative length.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46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a shared coordinate. Ask which feature of their work supports the claim.</a:t>
            </a:r>
          </a:p>
          <a:p xmlns:a="http://schemas.openxmlformats.org/drawingml/2006/main">
            <a:pPr>
              <a:buNone/>
            </a:pPr>
            <a:r>
              <a:rPr lang="en-US" sz="1100"/>
              <a:t>RESPOND: If this task shows the lesson misconception—adding absolute values for every pair regardless of location—mark the shared coordinate and trace the axis-aligned segment through the original points.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7.6, slide 48 | PRIOR_INSERT</a:t>
            </a:r>
          </a:p>
          <a:p xmlns:a="http://schemas.openxmlformats.org/drawingml/2006/main">
            <a:pPr>
              <a:buNone/>
            </a:pPr>
            <a:r>
              <a:rPr lang="en-US" sz="1100"/>
              <a:t>Focus on the existing task: LESSON 7.6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identify a shared coordinate; find horizontal or vertical distance; justify nonnegative length.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Distance on the Coordinate Plane</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Distance on the Coordinate Plane</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7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5.png"/><Relationship Id="rId6"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17.png"/><Relationship Id="rId4" Type="http://schemas.openxmlformats.org/officeDocument/2006/relationships/image" Target="../media/image35.png"/><Relationship Id="rId5" Type="http://schemas.openxmlformats.org/officeDocument/2006/relationships/image" Target="../media/image31.png"/><Relationship Id="rId6" Type="http://schemas.openxmlformats.org/officeDocument/2006/relationships/image" Target="../media/image28.png"/><Relationship Id="rId7" Type="http://schemas.openxmlformats.org/officeDocument/2006/relationships/image" Target="../media/image27.png"/><Relationship Id="rId8" Type="http://schemas.openxmlformats.org/officeDocument/2006/relationships/image" Target="../media/image29.png"/><Relationship Id="rId9" Type="http://schemas.openxmlformats.org/officeDocument/2006/relationships/image" Target="../media/image32.png"/><Relationship Id="rId10"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36.png"/><Relationship Id="rId6"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13.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40.png"/><Relationship Id="rId4" Type="http://schemas.openxmlformats.org/officeDocument/2006/relationships/image" Target="../media/image28.png"/><Relationship Id="rId5"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7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9.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1.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47.png"/><Relationship Id="rId7"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0.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0.png"/><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7.png"/><Relationship Id="rId4" Type="http://schemas.openxmlformats.org/officeDocument/2006/relationships/image" Target="../media/image59.png"/><Relationship Id="rId5" Type="http://schemas.openxmlformats.org/officeDocument/2006/relationships/image" Target="../media/image52.png"/><Relationship Id="rId6" Type="http://schemas.openxmlformats.org/officeDocument/2006/relationships/image" Target="../media/image55.png"/><Relationship Id="rId7"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7.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53.png"/><Relationship Id="rId4" Type="http://schemas.openxmlformats.org/officeDocument/2006/relationships/image" Target="../media/image56.png"/><Relationship Id="rId5" Type="http://schemas.openxmlformats.org/officeDocument/2006/relationships/image" Target="../media/image6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notesSlide" Target="../notesSlides/notesSlide8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8.png"/><Relationship Id="rId3" Type="http://schemas.openxmlformats.org/officeDocument/2006/relationships/notesSlide" Target="../notesSlides/notesSlide6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1"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7-6 · Determine Distance on the Coordinate Plane   |   Warm-Up · about 4 minutes</a:t>
            </a:r>
          </a:p>
        </p:txBody>
      </p:sp>
      <p:sp>
        <p:nvSpPr>
          <p:cNvPr id="26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3"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4"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7"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−5 − 3 = ______</a:t>
            </a:r>
          </a:p>
        </p:txBody>
      </p:sp>
      <p:sp>
        <p:nvSpPr>
          <p:cNvPr id="268"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1"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|−8| = ______</a:t>
            </a:r>
          </a:p>
        </p:txBody>
      </p:sp>
      <p:sp>
        <p:nvSpPr>
          <p:cNvPr id="272"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5"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7 units right of the origin and 2 units down is the point ______</a:t>
            </a:r>
          </a:p>
        </p:txBody>
      </p:sp>
      <p:sp>
        <p:nvSpPr>
          <p:cNvPr id="276"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9"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From −5 to 0 is 5 units. From 0 to 3 is 3 units. Total: ______ units.</a:t>
            </a:r>
          </a:p>
        </p:txBody>
      </p:sp>
      <p:sp>
        <p:nvSpPr>
          <p:cNvPr id="280"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55</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8" name="Google Shape;508;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509" name="Google Shape;509;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1" name="Google Shape;511;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12" name="Google Shape;512;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14" name="Google Shape;514;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7" name="Google Shape;517;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Distance on the Coordinate Plane</a:t>
            </a:r>
            <a:endParaRPr/>
          </a:p>
        </p:txBody>
      </p:sp>
      <p:sp>
        <p:nvSpPr>
          <p:cNvPr id="518" name="Google Shape;518;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positive space between points</a:t>
            </a:r>
            <a:endParaRPr/>
          </a:p>
        </p:txBody>
      </p:sp>
      <p:sp>
        <p:nvSpPr>
          <p:cNvPr id="519" name="Google Shape;519;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22" name="Google Shape;522;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Distance</a:t>
            </a:r>
            <a:endParaRPr/>
          </a:p>
        </p:txBody>
      </p:sp>
      <p:sp>
        <p:nvSpPr>
          <p:cNvPr id="523" name="Google Shape;523;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How far apart two points</a:t>
            </a:r>
            <a:endParaRPr/>
          </a:p>
        </p:txBody>
      </p:sp>
      <p:sp>
        <p:nvSpPr>
          <p:cNvPr id="524" name="Google Shape;524;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27" name="Google Shape;527;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Absolute value</a:t>
            </a:r>
            <a:endParaRPr/>
          </a:p>
        </p:txBody>
      </p:sp>
      <p:sp>
        <p:nvSpPr>
          <p:cNvPr id="528" name="Google Shape;528;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How far a number is from zero</a:t>
            </a:r>
            <a:endParaRPr/>
          </a:p>
        </p:txBody>
      </p:sp>
      <p:sp>
        <p:nvSpPr>
          <p:cNvPr id="5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55</a:t>
            </a:r>
          </a:p>
        </p:txBody>
      </p:sp>
      <p:grpSp>
        <p:nvGrpSpPr>
          <p:cNvPr id="530" name="TEACH-1-student-move" descr="TEACH 1 · Facilitate clear, standards-based content learning"/>
          <p:cNvGrpSpPr/>
          <p:nvPr/>
        </p:nvGrpSpPr>
        <p:grpSpPr>
          <a:xfrm>
            <a:off x="6187440" y="1682496"/>
            <a:ext cx="5501640" cy="594360"/>
            <a:chOff x="6187440" y="1682496"/>
            <a:chExt cx="5501640" cy="594360"/>
          </a:xfrm>
        </p:grpSpPr>
        <p:sp>
          <p:nvSpPr>
            <p:cNvPr id="531"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32"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33"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36" name="Google Shape;536;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537" name="Google Shape;537;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9" name="Google Shape;539;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40" name="Google Shape;540;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42" name="Google Shape;542;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Distance on the Coordinate Plane</a:t>
            </a:r>
            <a:endParaRPr/>
          </a:p>
        </p:txBody>
      </p:sp>
      <p:sp>
        <p:nvSpPr>
          <p:cNvPr id="544" name="Google Shape;544;p54"/>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4"/>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Distance = |x1 − x2| (horizontal) or |y1 − y2| (vertical)</a:t>
            </a:r>
            <a:endParaRPr/>
          </a:p>
        </p:txBody>
      </p:sp>
      <p:sp>
        <p:nvSpPr>
          <p:cNvPr id="546" name="Google Shape;546;p54"/>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54"/>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8" name="Google Shape;548;p54"/>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Same quadrant / Same sign: </a:t>
            </a:r>
            <a:r>
              <a:rPr b="0" i="0" lang="en-US" sz="1600" u="none" cap="none" strike="noStrike">
                <a:solidFill>
                  <a:srgbClr val="14223A"/>
                </a:solidFill>
                <a:latin typeface="Arial"/>
                <a:ea typeface="Arial"/>
                <a:cs typeface="Arial"/>
                <a:sym typeface="Arial"/>
              </a:rPr>
              <a:t xml:space="preserve">Subtract </a:t>
            </a:r>
            <a:r>
              <a:rPr b="1" i="0" lang="en-US" sz="1600" u="none" cap="none" strike="noStrike">
                <a:solidFill>
                  <a:srgbClr val="14223A"/>
                </a:solidFill>
                <a:latin typeface="Arial"/>
                <a:ea typeface="Arial"/>
                <a:cs typeface="Arial"/>
                <a:sym typeface="Arial"/>
              </a:rPr>
              <a:t xml:space="preserve">absolute values</a:t>
            </a:r>
            <a:r>
              <a:rPr b="0" i="0" lang="en-US" sz="1600" u="none" cap="none" strike="noStrike">
                <a:solidFill>
                  <a:srgbClr val="14223A"/>
                </a:solidFill>
                <a:latin typeface="Arial"/>
                <a:ea typeface="Arial"/>
                <a:cs typeface="Arial"/>
                <a:sym typeface="Arial"/>
              </a:rPr>
              <a:t xml:space="preserve"> of differing </a:t>
            </a:r>
            <a:r>
              <a:rPr b="1" i="0" lang="en-US" sz="1600" u="none" cap="none" strike="noStrike">
                <a:solidFill>
                  <a:srgbClr val="14223A"/>
                </a:solidFill>
                <a:latin typeface="Arial"/>
                <a:ea typeface="Arial"/>
                <a:cs typeface="Arial"/>
                <a:sym typeface="Arial"/>
              </a:rPr>
              <a:t xml:space="preserve">coordinates</a:t>
            </a:r>
            <a:endParaRPr/>
          </a:p>
        </p:txBody>
      </p:sp>
      <p:sp>
        <p:nvSpPr>
          <p:cNvPr id="549" name="Google Shape;549;p54"/>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51" name="Google Shape;551;p54"/>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Different quadrants / Opposite signs: </a:t>
            </a:r>
            <a:r>
              <a:rPr b="0" i="0" lang="en-US" sz="1600" u="none" cap="none" strike="noStrike">
                <a:solidFill>
                  <a:srgbClr val="14223A"/>
                </a:solidFill>
                <a:latin typeface="Arial"/>
                <a:ea typeface="Arial"/>
                <a:cs typeface="Arial"/>
                <a:sym typeface="Arial"/>
              </a:rPr>
              <a:t>Add absolute values of differing coordinates</a:t>
            </a:r>
            <a:endParaRPr/>
          </a:p>
        </p:txBody>
      </p:sp>
      <p:sp>
        <p:nvSpPr>
          <p:cNvPr id="552" name="Google Shape;552;p54"/>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4"/>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54" name="Google Shape;554;p54"/>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Distance</a:t>
            </a:r>
            <a:r>
              <a:rPr b="0" i="0" lang="en-US" sz="1600" u="none" cap="none" strike="noStrike">
                <a:solidFill>
                  <a:srgbClr val="14223A"/>
                </a:solidFill>
                <a:latin typeface="Arial"/>
                <a:ea typeface="Arial"/>
                <a:cs typeface="Arial"/>
                <a:sym typeface="Arial"/>
              </a:rPr>
              <a:t xml:space="preserve"> represents length, so it is always positive</a:t>
            </a:r>
            <a:endParaRPr/>
          </a:p>
        </p:txBody>
      </p:sp>
      <p:sp>
        <p:nvSpPr>
          <p:cNvPr id="5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55</a:t>
            </a:r>
          </a:p>
        </p:txBody>
      </p:sp>
      <p:sp xmlns:p="http://schemas.openxmlformats.org/presentationml/2006/main" xmlns:a="http://schemas.openxmlformats.org/drawingml/2006/main">
        <p:nvSpPr>
          <p:cNvPr id="556"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1"/>
            <a:ext cx="9144000" cy="13985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Determine Distance on the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Coordinate Plane</a:t>
            </a:r>
            <a:endParaRPr b="1" i="0" sz="3600" u="none" cap="none" strike="noStrike">
              <a:solidFill>
                <a:schemeClr val="dk1"/>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55</a:t>
            </a:r>
          </a:p>
        </p:txBody>
      </p:sp>
      <p:grpSp>
        <p:nvGrpSpPr>
          <p:cNvPr id="237" name="TEACH-2-student-move" descr="TEACH 2 · Use strategies and tasks to engage students in rigorous work"/>
          <p:cNvGrpSpPr/>
          <p:nvPr/>
        </p:nvGrpSpPr>
        <p:grpSpPr>
          <a:xfrm>
            <a:off x="502920" y="3867613"/>
            <a:ext cx="11186160" cy="731520"/>
            <a:chOff x="502920" y="3867613"/>
            <a:chExt cx="11186160" cy="731520"/>
          </a:xfrm>
        </p:grpSpPr>
        <p:sp>
          <p:nvSpPr>
            <p:cNvPr id="238" name="TEACH-move-card"/>
            <p:cNvSpPr/>
            <p:nvPr/>
          </p:nvSpPr>
          <p:spPr>
            <a:xfrm>
              <a:off x="502920" y="3867613"/>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2"/>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3"/>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2" name="Google Shape;242;p41"/>
          <p:cNvSpPr txBox="1"/>
          <p:nvPr/>
        </p:nvSpPr>
        <p:spPr>
          <a:xfrm>
            <a:off x="505579"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It’s About</a:t>
            </a:r>
            <a:endParaRPr b="0" i="0" sz="1400" u="none" cap="none" strike="noStrike">
              <a:solidFill>
                <a:srgbClr val="000000"/>
              </a:solidFill>
              <a:latin typeface="Arial"/>
              <a:ea typeface="Arial"/>
              <a:cs typeface="Arial"/>
              <a:sym typeface="Arial"/>
            </a:endParaRPr>
          </a:p>
        </p:txBody>
      </p:sp>
      <p:sp>
        <p:nvSpPr>
          <p:cNvPr id="243" name="Google Shape;243;p41"/>
          <p:cNvSpPr/>
          <p:nvPr/>
        </p:nvSpPr>
        <p:spPr>
          <a:xfrm>
            <a:off x="486000" y="936000"/>
            <a:ext cx="719684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What percent is shaded? How do you know?</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chapter49\narm24_c10706_esp_001a.png" id="244" name="Google Shape;244;p41"/>
          <p:cNvPicPr preferRelativeResize="0"/>
          <p:nvPr/>
        </p:nvPicPr>
        <p:blipFill rotWithShape="1">
          <a:blip r:embed="rId3">
            <a:alphaModFix/>
          </a:blip>
          <a:srcRect b="0" l="0" r="0" t="0"/>
          <a:stretch/>
        </p:blipFill>
        <p:spPr>
          <a:xfrm>
            <a:off x="971140" y="2632405"/>
            <a:ext cx="7174580" cy="2772000"/>
          </a:xfrm>
          <a:prstGeom prst="rect">
            <a:avLst/>
          </a:prstGeom>
          <a:noFill/>
          <a:ln>
            <a:noFill/>
          </a:ln>
        </p:spPr>
      </p:pic>
      <p:sp>
        <p:nvSpPr>
          <p:cNvPr id="2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55</a:t>
            </a:r>
          </a:p>
        </p:txBody>
      </p:sp>
      <p:sp xmlns:p="http://schemas.openxmlformats.org/presentationml/2006/main" xmlns:a="http://schemas.openxmlformats.org/drawingml/2006/main">
        <p:nvSpPr>
          <p:cNvPr id="24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22" name="Google Shape;322;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323" name="Google Shape;323;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25" name="Google Shape;325;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Determine Distance on the Coordinate Plane</a:t>
            </a:r>
            <a:endParaRPr/>
          </a:p>
        </p:txBody>
      </p:sp>
      <p:sp>
        <p:nvSpPr>
          <p:cNvPr id="326" name="Google Shape;326;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6.NOS.9</a:t>
            </a:r>
            <a:endParaRPr/>
          </a:p>
        </p:txBody>
      </p:sp>
      <p:sp>
        <p:nvSpPr>
          <p:cNvPr id="327" name="Google Shape;327;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30" name="Google Shape;330;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31" name="Google Shape;331;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distance between two points on the coordinate plane using absolute value.</a:t>
            </a:r>
            <a:endParaRPr/>
          </a:p>
        </p:txBody>
      </p:sp>
      <p:sp>
        <p:nvSpPr>
          <p:cNvPr id="332" name="Google Shape;332;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35" name="Google Shape;335;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36" name="Google Shape;336;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distance, absolute value, horizontal distance, and vertical distance.</a:t>
            </a:r>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55</a:t>
            </a:r>
          </a:p>
        </p:txBody>
      </p:sp>
      <p:grpSp>
        <p:nvGrpSpPr>
          <p:cNvPr id="338" name="TEACH-1-student-move" descr="TEACH 1 · Facilitate clear, standards-based content learning"/>
          <p:cNvGrpSpPr/>
          <p:nvPr/>
        </p:nvGrpSpPr>
        <p:grpSpPr>
          <a:xfrm>
            <a:off x="502920" y="1993392"/>
            <a:ext cx="11186160" cy="402336"/>
            <a:chOff x="502920" y="1993392"/>
            <a:chExt cx="11186160" cy="402336"/>
          </a:xfrm>
        </p:grpSpPr>
        <p:sp>
          <p:nvSpPr>
            <p:cNvPr id="339"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40"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41"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7.6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a shared coordinate.</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Find horizontal or vertical distance.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Justify nonnegative length.</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1" name="Google Shape;381;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84" name="Google Shape;384;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385" name="Google Shape;385;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87" name="Google Shape;387;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Distance on the Coordinate Plane</a:t>
            </a:r>
            <a:endParaRPr/>
          </a:p>
        </p:txBody>
      </p:sp>
      <p:sp>
        <p:nvSpPr>
          <p:cNvPr id="388" name="Google Shape;388;p46"/>
          <p:cNvSpPr/>
          <p:nvPr/>
        </p:nvSpPr>
        <p:spPr>
          <a:xfrm>
            <a:off x="658368" y="2718816"/>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The positive space between points, found from the absolute difference of coordinates on a horizontal or vertical line.</a:t>
            </a:r>
            <a:endParaRPr/>
          </a:p>
        </p:txBody>
      </p:sp>
      <p:sp>
        <p:nvSpPr>
          <p:cNvPr id="390" name="Google Shape;390;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393" name="Google Shape;393;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From (−2, 3) to (5, 3): |5 − (−2)| = 7 units.</a:t>
            </a:r>
            <a:endParaRPr/>
          </a:p>
        </p:txBody>
      </p:sp>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55</a:t>
            </a:r>
          </a:p>
        </p:txBody>
      </p:sp>
      <p:grpSp>
        <p:nvGrpSpPr>
          <p:cNvPr id="394" name="TEACH-5-student-move" descr="TEACH 5 · Facilitate student interactions and academic talk"/>
          <p:cNvGrpSpPr/>
          <p:nvPr/>
        </p:nvGrpSpPr>
        <p:grpSpPr>
          <a:xfrm>
            <a:off x="502920" y="5751576"/>
            <a:ext cx="11186160" cy="548640"/>
            <a:chOff x="502920" y="5751576"/>
            <a:chExt cx="11186160" cy="548640"/>
          </a:xfrm>
        </p:grpSpPr>
        <p:sp>
          <p:nvSpPr>
            <p:cNvPr id="395"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396"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397"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8" name="Google Shape;398;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01" name="Google Shape;401;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402" name="Google Shape;402;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4" name="Google Shape;404;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Distance</a:t>
            </a:r>
            <a:endParaRPr/>
          </a:p>
        </p:txBody>
      </p:sp>
      <p:sp>
        <p:nvSpPr>
          <p:cNvPr id="405" name="Google Shape;405;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far apart two points are. It is never negative.</a:t>
            </a:r>
            <a:endParaRPr/>
          </a:p>
        </p:txBody>
      </p:sp>
      <p:sp>
        <p:nvSpPr>
          <p:cNvPr id="407" name="Google Shape;407;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0" name="Google Shape;410;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distance from −3 to 4 on a number line is |-3| + |4| = 3 + 4 = 7 units</a:t>
            </a:r>
            <a:endParaRPr/>
          </a:p>
        </p:txBody>
      </p:sp>
      <p:pic>
        <p:nvPicPr>
          <p:cNvPr descr="distance.png" id="411" name="Google Shape;411;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55</a:t>
            </a:r>
          </a:p>
        </p:txBody>
      </p:sp>
      <p:sp xmlns:p="http://schemas.openxmlformats.org/presentationml/2006/main" xmlns:a="http://schemas.openxmlformats.org/drawingml/2006/main">
        <p:nvSpPr>
          <p:cNvPr id="41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“Distance”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6" name="Google Shape;416;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19" name="Google Shape;419;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420" name="Google Shape;420;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2" name="Google Shape;422;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Absolute value</a:t>
            </a:r>
            <a:endParaRPr/>
          </a:p>
        </p:txBody>
      </p:sp>
      <p:sp>
        <p:nvSpPr>
          <p:cNvPr id="423" name="Google Shape;423;p48"/>
          <p:cNvSpPr/>
          <p:nvPr/>
        </p:nvSpPr>
        <p:spPr>
          <a:xfrm>
            <a:off x="658368" y="2737866"/>
            <a:ext cx="166420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far a number is from zero. It is never negative.</a:t>
            </a:r>
            <a:endParaRPr/>
          </a:p>
        </p:txBody>
      </p:sp>
      <p:sp>
        <p:nvSpPr>
          <p:cNvPr id="425" name="Google Shape;425;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8" name="Google Shape;428;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 3 and |4| = 4; to find distance: |4 − (−3)| = 7</a:t>
            </a:r>
            <a:endParaRPr/>
          </a:p>
        </p:txBody>
      </p:sp>
      <p:pic>
        <p:nvPicPr>
          <p:cNvPr descr="absolute-value.png" id="429" name="Google Shape;429;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55</a:t>
            </a:r>
          </a:p>
        </p:txBody>
      </p:sp>
      <p:sp xmlns:p="http://schemas.openxmlformats.org/presentationml/2006/main" xmlns:a="http://schemas.openxmlformats.org/drawingml/2006/main">
        <p:nvSpPr>
          <p:cNvPr id="430"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“Absolute value”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4" name="Google Shape;434;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37" name="Google Shape;437;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438" name="Google Shape;438;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0" name="Google Shape;440;p4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Horizontal distance</a:t>
            </a:r>
            <a:endParaRPr/>
          </a:p>
        </p:txBody>
      </p:sp>
      <p:sp>
        <p:nvSpPr>
          <p:cNvPr id="441" name="Google Shape;441;p49"/>
          <p:cNvSpPr/>
          <p:nvPr/>
        </p:nvSpPr>
        <p:spPr>
          <a:xfrm>
            <a:off x="658368" y="2814828"/>
            <a:ext cx="225856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far apart two points are going left or right.</a:t>
            </a:r>
            <a:endParaRPr/>
          </a:p>
        </p:txBody>
      </p:sp>
      <p:sp>
        <p:nvSpPr>
          <p:cNvPr id="443" name="Google Shape;443;p4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6" name="Google Shape;446;p4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From (−2, 3) to (5, 3): count from −2 to 5 = 7 units across</a:t>
            </a:r>
            <a:endParaRPr/>
          </a:p>
        </p:txBody>
      </p:sp>
      <p:pic>
        <p:nvPicPr>
          <p:cNvPr descr="distance.png" id="447" name="Google Shape;447;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55</a:t>
            </a:r>
          </a:p>
        </p:txBody>
      </p:sp>
      <p:sp xmlns:p="http://schemas.openxmlformats.org/presentationml/2006/main" xmlns:a="http://schemas.openxmlformats.org/drawingml/2006/main">
        <p:nvSpPr>
          <p:cNvPr id="44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“Horizontal distance”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2" name="Google Shape;452;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55" name="Google Shape;455;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456" name="Google Shape;456;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8" name="Google Shape;458;p50"/>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Vertical distance</a:t>
            </a:r>
            <a:endParaRPr/>
          </a:p>
        </p:txBody>
      </p:sp>
      <p:sp>
        <p:nvSpPr>
          <p:cNvPr id="459" name="Google Shape;459;p50"/>
          <p:cNvSpPr/>
          <p:nvPr/>
        </p:nvSpPr>
        <p:spPr>
          <a:xfrm>
            <a:off x="658368" y="2913888"/>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50"/>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far apart two points are going up or down.</a:t>
            </a:r>
            <a:endParaRPr/>
          </a:p>
        </p:txBody>
      </p:sp>
      <p:sp>
        <p:nvSpPr>
          <p:cNvPr id="461" name="Google Shape;461;p50"/>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50"/>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50"/>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4" name="Google Shape;464;p50"/>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From (4, −1) to (4, 6): count from −1 to 6 = 7 units up</a:t>
            </a:r>
            <a:endParaRPr/>
          </a:p>
        </p:txBody>
      </p:sp>
      <p:pic>
        <p:nvPicPr>
          <p:cNvPr descr="distance.png" id="465" name="Google Shape;465;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55</a:t>
            </a:r>
          </a:p>
        </p:txBody>
      </p:sp>
      <p:sp xmlns:p="http://schemas.openxmlformats.org/presentationml/2006/main" xmlns:a="http://schemas.openxmlformats.org/drawingml/2006/main">
        <p:nvSpPr>
          <p:cNvPr id="466"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“Vertical distance”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0" name="Google Shape;470;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73" name="Google Shape;473;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474" name="Google Shape;474;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6" name="Google Shape;476;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Coordinate plane</a:t>
            </a:r>
            <a:endParaRPr/>
          </a:p>
        </p:txBody>
      </p:sp>
      <p:sp>
        <p:nvSpPr>
          <p:cNvPr id="477" name="Google Shape;477;p51"/>
          <p:cNvSpPr/>
          <p:nvPr/>
        </p:nvSpPr>
        <p:spPr>
          <a:xfrm>
            <a:off x="658368" y="2638806"/>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grid with a line going across and a line going up to plot points.</a:t>
            </a:r>
            <a:endParaRPr/>
          </a:p>
        </p:txBody>
      </p:sp>
      <p:sp>
        <p:nvSpPr>
          <p:cNvPr id="479" name="Google Shape;479;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2" name="Google Shape;482;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Two number lines crossing at (0, 0), creating four quadrants</a:t>
            </a:r>
            <a:endParaRPr/>
          </a:p>
        </p:txBody>
      </p:sp>
      <p:pic>
        <p:nvPicPr>
          <p:cNvPr descr="coordinate-plane.png" id="483" name="Google Shape;483;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55</a:t>
            </a:r>
          </a:p>
        </p:txBody>
      </p:sp>
      <p:sp xmlns:p="http://schemas.openxmlformats.org/presentationml/2006/main" xmlns:a="http://schemas.openxmlformats.org/drawingml/2006/main">
        <p:nvSpPr>
          <p:cNvPr id="484"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“Coordinate plane”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8" name="Google Shape;488;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491" name="Google Shape;491;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492" name="Google Shape;492;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4" name="Google Shape;494;p52"/>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Integer</a:t>
            </a:r>
            <a:endParaRPr/>
          </a:p>
        </p:txBody>
      </p:sp>
      <p:sp>
        <p:nvSpPr>
          <p:cNvPr id="495" name="Google Shape;495;p52"/>
          <p:cNvSpPr/>
          <p:nvPr/>
        </p:nvSpPr>
        <p:spPr>
          <a:xfrm>
            <a:off x="658368" y="2934843"/>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2"/>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Whole numbers and their opposites, like −2, −1, 0, 1, 2.</a:t>
            </a:r>
            <a:endParaRPr/>
          </a:p>
        </p:txBody>
      </p:sp>
      <p:sp>
        <p:nvSpPr>
          <p:cNvPr id="497" name="Google Shape;497;p52"/>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2"/>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2"/>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00" name="Google Shape;500;p52"/>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 −3, −2, −1, 0, 1, 2, 3, …</a:t>
            </a:r>
            <a:endParaRPr/>
          </a:p>
        </p:txBody>
      </p:sp>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55</a:t>
            </a:r>
          </a:p>
        </p:txBody>
      </p:sp>
      <p:sp xmlns:p="http://schemas.openxmlformats.org/presentationml/2006/main" xmlns:a="http://schemas.openxmlformats.org/drawingml/2006/main">
        <p:nvSpPr>
          <p:cNvPr id="50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“Integer” to explain the example. Point to 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44" name="Google Shape;344;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345" name="Google Shape;345;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47" name="Google Shape;347;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48" name="Google Shape;348;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49" name="Google Shape;349;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Distance on the Coordinate Plane</a:t>
            </a:r>
            <a:endParaRPr/>
          </a:p>
        </p:txBody>
      </p:sp>
      <p:sp>
        <p:nvSpPr>
          <p:cNvPr id="352" name="Google Shape;352;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The positive space between points, found from the absolute difference of coordinates on a horizontal or vertical line</a:t>
            </a:r>
            <a:endParaRPr/>
          </a:p>
        </p:txBody>
      </p:sp>
      <p:sp>
        <p:nvSpPr>
          <p:cNvPr id="353" name="Google Shape;353;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4" name="Google Shape;354;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Distance</a:t>
            </a:r>
            <a:endParaRPr/>
          </a:p>
        </p:txBody>
      </p:sp>
      <p:sp>
        <p:nvSpPr>
          <p:cNvPr id="356" name="Google Shape;356;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far apart two points are</a:t>
            </a:r>
            <a:endParaRPr/>
          </a:p>
        </p:txBody>
      </p:sp>
      <p:sp>
        <p:nvSpPr>
          <p:cNvPr id="357" name="Google Shape;357;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Absolute value</a:t>
            </a:r>
            <a:endParaRPr/>
          </a:p>
        </p:txBody>
      </p:sp>
      <p:sp>
        <p:nvSpPr>
          <p:cNvPr id="360" name="Google Shape;360;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far a number is from zero</a:t>
            </a:r>
            <a:endParaRPr/>
          </a:p>
        </p:txBody>
      </p:sp>
      <p:sp>
        <p:nvSpPr>
          <p:cNvPr id="361" name="Google Shape;361;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Horizontal distance</a:t>
            </a:r>
            <a:endParaRPr/>
          </a:p>
        </p:txBody>
      </p:sp>
      <p:sp>
        <p:nvSpPr>
          <p:cNvPr id="364" name="Google Shape;364;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far apart two points are going left or right</a:t>
            </a:r>
            <a:endParaRPr/>
          </a:p>
        </p:txBody>
      </p:sp>
      <p:sp>
        <p:nvSpPr>
          <p:cNvPr id="365" name="Google Shape;365;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Vertical distance</a:t>
            </a:r>
            <a:endParaRPr/>
          </a:p>
        </p:txBody>
      </p:sp>
      <p:sp>
        <p:nvSpPr>
          <p:cNvPr id="368" name="Google Shape;368;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far apart two points are going up or down</a:t>
            </a:r>
            <a:endParaRPr/>
          </a:p>
        </p:txBody>
      </p:sp>
      <p:sp>
        <p:nvSpPr>
          <p:cNvPr id="369" name="Google Shape;369;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Coordinate plane</a:t>
            </a:r>
            <a:endParaRPr/>
          </a:p>
        </p:txBody>
      </p:sp>
      <p:sp>
        <p:nvSpPr>
          <p:cNvPr id="372" name="Google Shape;372;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grid with a line going across and a line going up to plot points</a:t>
            </a:r>
            <a:endParaRPr/>
          </a:p>
        </p:txBody>
      </p:sp>
      <p:sp>
        <p:nvSpPr>
          <p:cNvPr id="373" name="Google Shape;373;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Integer</a:t>
            </a:r>
            <a:endParaRPr/>
          </a:p>
        </p:txBody>
      </p:sp>
      <p:sp>
        <p:nvSpPr>
          <p:cNvPr id="376" name="Google Shape;376;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Whole numbers and their opposites, like −2, −1, 0, 1, 2</a:t>
            </a:r>
            <a:endParaRPr/>
          </a:p>
        </p:txBody>
      </p:sp>
      <p:sp>
        <p:nvSpPr>
          <p:cNvPr id="3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55</a:t>
            </a:r>
          </a:p>
        </p:txBody>
      </p:sp>
      <p:sp xmlns:p="http://schemas.openxmlformats.org/presentationml/2006/main" xmlns:a="http://schemas.openxmlformats.org/drawingml/2006/main">
        <p:nvSpPr>
          <p:cNvPr id="378"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cxnSp>
        <p:nvCxnSpPr>
          <p:cNvPr id="570" name="Google Shape;570;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1" name="Google Shape;571;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72" name="Google Shape;572;p56"/>
          <p:cNvPicPr preferRelativeResize="0"/>
          <p:nvPr/>
        </p:nvPicPr>
        <p:blipFill rotWithShape="1">
          <a:blip r:embed="rId3">
            <a:alphaModFix/>
          </a:blip>
          <a:srcRect b="0" l="0" r="0" t="0"/>
          <a:stretch/>
        </p:blipFill>
        <p:spPr>
          <a:xfrm>
            <a:off x="387260" y="4584267"/>
            <a:ext cx="5054600" cy="838200"/>
          </a:xfrm>
          <a:prstGeom prst="rect">
            <a:avLst/>
          </a:prstGeom>
          <a:noFill/>
          <a:ln>
            <a:noFill/>
          </a:ln>
        </p:spPr>
      </p:pic>
      <p:sp>
        <p:nvSpPr>
          <p:cNvPr id="573" name="Google Shape;573;p56"/>
          <p:cNvSpPr txBox="1"/>
          <p:nvPr/>
        </p:nvSpPr>
        <p:spPr>
          <a:xfrm>
            <a:off x="3047450" y="468350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74" name="Google Shape;574;p56"/>
          <p:cNvSpPr txBox="1"/>
          <p:nvPr/>
        </p:nvSpPr>
        <p:spPr>
          <a:xfrm>
            <a:off x="484560" y="936000"/>
            <a:ext cx="4860000"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2800" u="none" cap="none" strike="noStrike">
              <a:solidFill>
                <a:schemeClr val="dk1"/>
              </a:solidFill>
              <a:latin typeface="Arial"/>
              <a:ea typeface="Arial"/>
              <a:cs typeface="Arial"/>
              <a:sym typeface="Arial"/>
            </a:endParaRPr>
          </a:p>
        </p:txBody>
      </p:sp>
      <p:sp>
        <p:nvSpPr>
          <p:cNvPr id="575" name="Google Shape;575;p56"/>
          <p:cNvSpPr/>
          <p:nvPr/>
        </p:nvSpPr>
        <p:spPr>
          <a:xfrm>
            <a:off x="460720" y="1702137"/>
            <a:ext cx="368402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76" name="Google Shape;576;p56"/>
          <p:cNvSpPr/>
          <p:nvPr/>
        </p:nvSpPr>
        <p:spPr>
          <a:xfrm>
            <a:off x="387260" y="5422467"/>
            <a:ext cx="10283524"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work productively with a classmate even when you might have different solutions to a math problem?</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assets\3dc4cfa1af6f456a9e5ebefddb230799\narm24_c10706_se_004a-dig-eps.png" id="577" name="Google Shape;577;p56"/>
          <p:cNvPicPr preferRelativeResize="0"/>
          <p:nvPr/>
        </p:nvPicPr>
        <p:blipFill rotWithShape="1">
          <a:blip r:embed="rId4">
            <a:alphaModFix/>
          </a:blip>
          <a:srcRect b="0" l="0" r="0" t="0"/>
          <a:stretch/>
        </p:blipFill>
        <p:spPr>
          <a:xfrm>
            <a:off x="6096000" y="1439367"/>
            <a:ext cx="4229216" cy="3564000"/>
          </a:xfrm>
          <a:prstGeom prst="rect">
            <a:avLst/>
          </a:prstGeom>
          <a:noFill/>
          <a:ln>
            <a:noFill/>
          </a:ln>
        </p:spPr>
      </p:pic>
      <p:sp>
        <p:nvSpPr>
          <p:cNvPr id="5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55</a:t>
            </a:r>
          </a:p>
        </p:txBody>
      </p:sp>
      <p:sp xmlns:p="http://schemas.openxmlformats.org/presentationml/2006/main" xmlns:a="http://schemas.openxmlformats.org/drawingml/2006/main">
        <p:nvSpPr>
          <p:cNvPr id="579" name="TEACH-embedded-student-prompt" descr="Student thinking and response directions"/>
          <p:cNvSpPr txBox="1"/>
          <p:nvPr/>
        </p:nvSpPr>
        <p:spPr>
          <a:xfrm>
            <a:off x="594360" y="33649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cxnSp>
        <p:nvCxnSpPr>
          <p:cNvPr id="621" name="Google Shape;621;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2" name="Google Shape;622;p61"/>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Far?</a:t>
            </a:r>
            <a:endParaRPr b="0" i="0" sz="1400" u="none" cap="none" strike="noStrike">
              <a:solidFill>
                <a:srgbClr val="000000"/>
              </a:solidFill>
              <a:latin typeface="Arial"/>
              <a:ea typeface="Arial"/>
              <a:cs typeface="Arial"/>
              <a:sym typeface="Arial"/>
            </a:endParaRPr>
          </a:p>
        </p:txBody>
      </p:sp>
      <p:sp>
        <p:nvSpPr>
          <p:cNvPr id="623" name="Google Shape;623;p61"/>
          <p:cNvSpPr txBox="1"/>
          <p:nvPr/>
        </p:nvSpPr>
        <p:spPr>
          <a:xfrm>
            <a:off x="486000" y="4638354"/>
            <a:ext cx="7037114" cy="15739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find the distance from the middle school to the high school.</a:t>
            </a:r>
            <a:endParaRPr b="0" i="0" sz="1400" u="none" cap="none" strike="noStrike">
              <a:solidFill>
                <a:srgbClr val="000000"/>
              </a:solidFill>
              <a:latin typeface="Arial"/>
              <a:ea typeface="Arial"/>
              <a:cs typeface="Arial"/>
              <a:sym typeface="Arial"/>
            </a:endParaRPr>
          </a:p>
        </p:txBody>
      </p:sp>
      <p:sp>
        <p:nvSpPr>
          <p:cNvPr id="624" name="Google Shape;624;p61"/>
          <p:cNvSpPr txBox="1"/>
          <p:nvPr/>
        </p:nvSpPr>
        <p:spPr>
          <a:xfrm>
            <a:off x="484564" y="936000"/>
            <a:ext cx="7037114" cy="23539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Tahira will walk from the middle school to the high school. The grid shows a map of the town, where each unit labeled on the grid represents one kilometer. How far will Tahira walk?</a:t>
            </a:r>
            <a:endParaRPr b="0" i="0" sz="1400" u="none" cap="none" strike="noStrike">
              <a:solidFill>
                <a:srgbClr val="000000"/>
              </a:solidFill>
              <a:latin typeface="Arial"/>
              <a:ea typeface="Arial"/>
              <a:cs typeface="Arial"/>
              <a:sym typeface="Arial"/>
            </a:endParaRPr>
          </a:p>
        </p:txBody>
      </p:sp>
      <p:sp>
        <p:nvSpPr>
          <p:cNvPr id="625" name="Google Shape;625;p61"/>
          <p:cNvSpPr txBox="1"/>
          <p:nvPr/>
        </p:nvSpPr>
        <p:spPr>
          <a:xfrm>
            <a:off x="494830" y="3385935"/>
            <a:ext cx="69088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information do you need to find?</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626" name="Google Shape;626;p61"/>
          <p:cNvPicPr preferRelativeResize="0"/>
          <p:nvPr/>
        </p:nvPicPr>
        <p:blipFill rotWithShape="1">
          <a:blip r:embed="rId3">
            <a:alphaModFix/>
          </a:blip>
          <a:srcRect b="0" l="0" r="0" t="0"/>
          <a:stretch/>
        </p:blipFill>
        <p:spPr>
          <a:xfrm>
            <a:off x="8087729" y="1500203"/>
            <a:ext cx="3848100" cy="3848100"/>
          </a:xfrm>
          <a:prstGeom prst="rect">
            <a:avLst/>
          </a:prstGeom>
          <a:noFill/>
          <a:ln>
            <a:noFill/>
          </a:ln>
        </p:spPr>
      </p:pic>
      <p:sp>
        <p:nvSpPr>
          <p:cNvPr id="6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55</a:t>
            </a:r>
          </a:p>
        </p:txBody>
      </p:sp>
      <p:sp>
        <p:nvSpPr>
          <p:cNvPr id="628" name="EWL-COVER-1"/>
          <p:cNvSpPr/>
          <p:nvPr/>
        </p:nvSpPr>
        <p:spPr>
          <a:xfrm>
            <a:off x="431136" y="4583490"/>
            <a:ext cx="7146842" cy="1683638"/>
          </a:xfrm>
          <a:prstGeom prst="rect">
            <a:avLst/>
          </a:prstGeom>
          <a:solidFill>
            <a:srgbClr val="FFFFFF"/>
          </a:solidFill>
          <a:ln>
            <a:noFill/>
          </a:ln>
        </p:spPr>
        <p:txBody>
          <a:bodyPr/>
          <a:lstStyle/>
          <a:p/>
        </p:txBody>
      </p:sp>
      <p:grpSp>
        <p:nvGrpSpPr>
          <p:cNvPr id="629" name="TEACH-6-student-move" descr="TEACH 6 · Organize and implement routines to support a learning-focused classroom"/>
          <p:cNvGrpSpPr/>
          <p:nvPr/>
        </p:nvGrpSpPr>
        <p:grpSpPr>
          <a:xfrm>
            <a:off x="502920" y="4199442"/>
            <a:ext cx="5501640" cy="402336"/>
            <a:chOff x="502920" y="4199442"/>
            <a:chExt cx="5501640" cy="402336"/>
          </a:xfrm>
        </p:grpSpPr>
        <p:sp>
          <p:nvSpPr>
            <p:cNvPr id="630" name="TEACH-move-card"/>
            <p:cNvSpPr/>
            <p:nvPr/>
          </p:nvSpPr>
          <p:spPr>
            <a:xfrm>
              <a:off x="502920" y="4199442"/>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31" name="TEACH-move-rule"/>
            <p:cNvSpPr/>
            <p:nvPr/>
          </p:nvSpPr>
          <p:spPr>
            <a:xfrm>
              <a:off x="548640" y="4275886"/>
              <a:ext cx="100584" cy="249448"/>
            </a:xfrm>
            <a:prstGeom prst="roundRect">
              <a:avLst>
                <a:gd name="adj" fmla="val 50000"/>
              </a:avLst>
            </a:prstGeom>
            <a:solidFill>
              <a:srgbClr val="01708C"/>
            </a:solidFill>
            <a:ln>
              <a:noFill/>
            </a:ln>
          </p:spPr>
          <p:txBody>
            <a:bodyPr/>
            <a:lstStyle/>
            <a:p>
              <a:endParaRPr/>
            </a:p>
          </p:txBody>
        </p:sp>
        <p:sp>
          <p:nvSpPr>
            <p:cNvPr id="632" name="TEACH-move-text"/>
            <p:cNvSpPr txBox="1"/>
            <p:nvPr/>
          </p:nvSpPr>
          <p:spPr>
            <a:xfrm>
              <a:off x="822960" y="4199442"/>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cxnSp>
        <p:nvCxnSpPr>
          <p:cNvPr id="641" name="Google Shape;641;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2" name="Google Shape;642;p63"/>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Far?</a:t>
            </a:r>
            <a:endParaRPr b="0" i="0" sz="1400" u="none" cap="none" strike="noStrike">
              <a:solidFill>
                <a:srgbClr val="000000"/>
              </a:solidFill>
              <a:latin typeface="Arial"/>
              <a:ea typeface="Arial"/>
              <a:cs typeface="Arial"/>
              <a:sym typeface="Arial"/>
            </a:endParaRPr>
          </a:p>
        </p:txBody>
      </p:sp>
      <p:sp>
        <p:nvSpPr>
          <p:cNvPr id="643" name="Google Shape;643;p63"/>
          <p:cNvSpPr txBox="1"/>
          <p:nvPr/>
        </p:nvSpPr>
        <p:spPr>
          <a:xfrm>
            <a:off x="484562" y="4032326"/>
            <a:ext cx="7568057" cy="2316399"/>
          </a:xfrm>
          <a:prstGeom prst="rect">
            <a:avLst/>
          </a:prstGeom>
          <a:blipFill rotWithShape="1">
            <a:blip r:embed="rId3">
              <a:alphaModFix/>
            </a:blip>
            <a:stretch>
              <a:fillRect b="0" l="-1610" r="-403" t="-263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4" name="Google Shape;644;p63"/>
          <p:cNvSpPr txBox="1"/>
          <p:nvPr/>
        </p:nvSpPr>
        <p:spPr>
          <a:xfrm>
            <a:off x="484563" y="936001"/>
            <a:ext cx="7346831" cy="9854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need to find the distance from the middle school to the high school.</a:t>
            </a:r>
            <a:endParaRPr b="0" i="0" sz="1400" u="none" cap="none" strike="noStrike">
              <a:solidFill>
                <a:srgbClr val="000000"/>
              </a:solidFill>
              <a:latin typeface="Arial"/>
              <a:ea typeface="Arial"/>
              <a:cs typeface="Arial"/>
              <a:sym typeface="Arial"/>
            </a:endParaRPr>
          </a:p>
        </p:txBody>
      </p:sp>
      <p:sp>
        <p:nvSpPr>
          <p:cNvPr id="645" name="Google Shape;645;p63"/>
          <p:cNvSpPr txBox="1"/>
          <p:nvPr/>
        </p:nvSpPr>
        <p:spPr>
          <a:xfrm>
            <a:off x="484562" y="2062042"/>
            <a:ext cx="7346832"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locations of the middle school and the high school? What does this tell you about the coordinates of the schools?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646" name="Google Shape;646;p63"/>
          <p:cNvPicPr preferRelativeResize="0"/>
          <p:nvPr/>
        </p:nvPicPr>
        <p:blipFill rotWithShape="1">
          <a:blip r:embed="rId4">
            <a:alphaModFix/>
          </a:blip>
          <a:srcRect b="0" l="0" r="0" t="0"/>
          <a:stretch/>
        </p:blipFill>
        <p:spPr>
          <a:xfrm>
            <a:off x="8087729" y="1500203"/>
            <a:ext cx="3848100" cy="3848100"/>
          </a:xfrm>
          <a:prstGeom prst="rect">
            <a:avLst/>
          </a:prstGeom>
          <a:noFill/>
          <a:ln>
            <a:noFill/>
          </a:ln>
        </p:spPr>
      </p:pic>
      <p:sp>
        <p:nvSpPr>
          <p:cNvPr id="6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55</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cxnSp>
        <p:nvCxnSpPr>
          <p:cNvPr id="664" name="Google Shape;664;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5" name="Google Shape;665;p65"/>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Far?</a:t>
            </a:r>
            <a:endParaRPr b="0" i="0" sz="1400" u="none" cap="none" strike="noStrike">
              <a:solidFill>
                <a:srgbClr val="000000"/>
              </a:solidFill>
              <a:latin typeface="Arial"/>
              <a:ea typeface="Arial"/>
              <a:cs typeface="Arial"/>
              <a:sym typeface="Arial"/>
            </a:endParaRPr>
          </a:p>
        </p:txBody>
      </p:sp>
      <p:sp>
        <p:nvSpPr>
          <p:cNvPr id="666" name="Google Shape;666;p65"/>
          <p:cNvSpPr txBox="1"/>
          <p:nvPr/>
        </p:nvSpPr>
        <p:spPr>
          <a:xfrm>
            <a:off x="484562" y="4940945"/>
            <a:ext cx="7327277" cy="1403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way is to count the units on the coordinate plane.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667" name="Google Shape;667;p65"/>
          <p:cNvPicPr preferRelativeResize="0"/>
          <p:nvPr/>
        </p:nvPicPr>
        <p:blipFill rotWithShape="1">
          <a:blip r:embed="rId3">
            <a:alphaModFix/>
          </a:blip>
          <a:srcRect b="0" l="0" r="0" t="0"/>
          <a:stretch/>
        </p:blipFill>
        <p:spPr>
          <a:xfrm>
            <a:off x="8338782" y="1434520"/>
            <a:ext cx="3600000" cy="3600000"/>
          </a:xfrm>
          <a:prstGeom prst="rect">
            <a:avLst/>
          </a:prstGeom>
          <a:noFill/>
          <a:ln>
            <a:noFill/>
          </a:ln>
        </p:spPr>
      </p:pic>
      <p:sp>
        <p:nvSpPr>
          <p:cNvPr id="668" name="Google Shape;668;p65"/>
          <p:cNvSpPr txBox="1"/>
          <p:nvPr/>
        </p:nvSpPr>
        <p:spPr>
          <a:xfrm>
            <a:off x="484563" y="936001"/>
            <a:ext cx="7730289" cy="9854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find the coordinates of the middle school and the high school.</a:t>
            </a:r>
            <a:endParaRPr b="0" i="0" sz="1400" u="none" cap="none" strike="noStrike">
              <a:solidFill>
                <a:srgbClr val="000000"/>
              </a:solidFill>
              <a:latin typeface="Arial"/>
              <a:ea typeface="Arial"/>
              <a:cs typeface="Arial"/>
              <a:sym typeface="Arial"/>
            </a:endParaRPr>
          </a:p>
        </p:txBody>
      </p:sp>
      <p:sp>
        <p:nvSpPr>
          <p:cNvPr id="669" name="Google Shape;669;p65"/>
          <p:cNvSpPr txBox="1"/>
          <p:nvPr/>
        </p:nvSpPr>
        <p:spPr>
          <a:xfrm>
            <a:off x="484562" y="1937688"/>
            <a:ext cx="4687939" cy="523220"/>
          </a:xfrm>
          <a:prstGeom prst="rect">
            <a:avLst/>
          </a:prstGeom>
          <a:blipFill rotWithShape="1">
            <a:blip r:embed="rId4">
              <a:alphaModFix/>
            </a:blip>
            <a:stretch>
              <a:fillRect b="-29069" l="-2597" r="0" t="-1511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0" name="Google Shape;670;p65"/>
          <p:cNvSpPr/>
          <p:nvPr/>
        </p:nvSpPr>
        <p:spPr>
          <a:xfrm>
            <a:off x="490881" y="2477109"/>
            <a:ext cx="3837680" cy="523220"/>
          </a:xfrm>
          <a:prstGeom prst="rect">
            <a:avLst/>
          </a:prstGeom>
          <a:blipFill rotWithShape="1">
            <a:blip r:embed="rId5">
              <a:alphaModFix/>
            </a:blip>
            <a:stretch>
              <a:fillRect b="-31395" l="-3339"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1" name="Google Shape;671;p65"/>
          <p:cNvSpPr/>
          <p:nvPr/>
        </p:nvSpPr>
        <p:spPr>
          <a:xfrm>
            <a:off x="486000" y="3016530"/>
            <a:ext cx="7325839" cy="954107"/>
          </a:xfrm>
          <a:prstGeom prst="rect">
            <a:avLst/>
          </a:prstGeom>
          <a:blipFill rotWithShape="1">
            <a:blip r:embed="rId6">
              <a:alphaModFix/>
            </a:blip>
            <a:stretch>
              <a:fillRect b="-17308" l="-1749" r="-1998" t="-70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2" name="Google Shape;672;p65"/>
          <p:cNvSpPr/>
          <p:nvPr/>
        </p:nvSpPr>
        <p:spPr>
          <a:xfrm>
            <a:off x="490881" y="3986838"/>
            <a:ext cx="756129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the coordinate plane to find the distance between the two schools?</a:t>
            </a:r>
            <a:endParaRPr b="0" i="0" sz="2800" u="none" cap="none" strike="noStrike">
              <a:solidFill>
                <a:schemeClr val="dk1"/>
              </a:solidFill>
              <a:latin typeface="Arial"/>
              <a:ea typeface="Arial"/>
              <a:cs typeface="Arial"/>
              <a:sym typeface="Arial"/>
            </a:endParaRPr>
          </a:p>
        </p:txBody>
      </p:sp>
      <p:sp>
        <p:nvSpPr>
          <p:cNvPr id="6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55</a:t>
            </a:r>
          </a:p>
        </p:txBody>
      </p:sp>
      <p:sp>
        <p:nvSpPr>
          <p:cNvPr id="674" name="EWL-COVER-1"/>
          <p:cNvSpPr/>
          <p:nvPr/>
        </p:nvSpPr>
        <p:spPr>
          <a:xfrm>
            <a:off x="429698" y="4886081"/>
            <a:ext cx="7437005" cy="151348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cxnSp>
        <p:nvCxnSpPr>
          <p:cNvPr id="677" name="Google Shape;677;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8" name="Google Shape;678;p66"/>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How Far?</a:t>
            </a:r>
            <a:endParaRPr b="0" i="0" sz="1400" u="none" cap="none" strike="noStrike">
              <a:solidFill>
                <a:srgbClr val="000000"/>
              </a:solidFill>
              <a:latin typeface="Arial"/>
              <a:ea typeface="Arial"/>
              <a:cs typeface="Arial"/>
              <a:sym typeface="Arial"/>
            </a:endParaRPr>
          </a:p>
        </p:txBody>
      </p:sp>
      <p:sp>
        <p:nvSpPr>
          <p:cNvPr id="679" name="Google Shape;679;p66"/>
          <p:cNvSpPr txBox="1"/>
          <p:nvPr/>
        </p:nvSpPr>
        <p:spPr>
          <a:xfrm>
            <a:off x="484562" y="936001"/>
            <a:ext cx="6008394" cy="9962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count the units between the points representing the schools.</a:t>
            </a:r>
            <a:endParaRPr b="0" i="0" sz="1400" u="none" cap="none" strike="noStrike">
              <a:solidFill>
                <a:srgbClr val="000000"/>
              </a:solidFill>
              <a:latin typeface="Arial"/>
              <a:ea typeface="Arial"/>
              <a:cs typeface="Arial"/>
              <a:sym typeface="Arial"/>
            </a:endParaRPr>
          </a:p>
        </p:txBody>
      </p:sp>
      <p:sp>
        <p:nvSpPr>
          <p:cNvPr id="680" name="Google Shape;680;p66"/>
          <p:cNvSpPr txBox="1"/>
          <p:nvPr/>
        </p:nvSpPr>
        <p:spPr>
          <a:xfrm>
            <a:off x="3482715" y="2024429"/>
            <a:ext cx="3937314" cy="523220"/>
          </a:xfrm>
          <a:prstGeom prst="rect">
            <a:avLst/>
          </a:prstGeom>
          <a:blipFill rotWithShape="1">
            <a:blip r:embed="rId3">
              <a:alphaModFix/>
            </a:blip>
            <a:stretch>
              <a:fillRect b="-29069" l="-3096" r="0" t="-1395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81" name="Google Shape;681;p66"/>
          <p:cNvSpPr/>
          <p:nvPr/>
        </p:nvSpPr>
        <p:spPr>
          <a:xfrm>
            <a:off x="3582349" y="2642303"/>
            <a:ext cx="3837680" cy="523220"/>
          </a:xfrm>
          <a:prstGeom prst="rect">
            <a:avLst/>
          </a:prstGeom>
          <a:blipFill rotWithShape="1">
            <a:blip r:embed="rId4">
              <a:alphaModFix/>
            </a:blip>
            <a:stretch>
              <a:fillRect b="-31395" l="-3339"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45180259d344211974b778f9a63848a\narm24_c10706_se_006a-dig-a-eps1.png" id="682" name="Google Shape;682;p66"/>
          <p:cNvPicPr preferRelativeResize="0"/>
          <p:nvPr/>
        </p:nvPicPr>
        <p:blipFill rotWithShape="1">
          <a:blip r:embed="rId5">
            <a:alphaModFix/>
          </a:blip>
          <a:srcRect b="0" l="0" r="0" t="0"/>
          <a:stretch/>
        </p:blipFill>
        <p:spPr>
          <a:xfrm>
            <a:off x="3900956" y="3398258"/>
            <a:ext cx="2844000" cy="2904510"/>
          </a:xfrm>
          <a:prstGeom prst="rect">
            <a:avLst/>
          </a:prstGeom>
          <a:noFill/>
          <a:ln>
            <a:noFill/>
          </a:ln>
        </p:spPr>
      </p:pic>
      <p:sp>
        <p:nvSpPr>
          <p:cNvPr id="6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55</a:t>
            </a:r>
          </a:p>
        </p:txBody>
      </p:sp>
      <p:sp xmlns:p="http://schemas.openxmlformats.org/presentationml/2006/main" xmlns:a="http://schemas.openxmlformats.org/drawingml/2006/main">
        <p:nvSpPr>
          <p:cNvPr id="684"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a:t>
            </a:r>
            <a:endParaRPr lang="en-US" sz="2000"/>
          </a:p>
          <a:p>
            <a:pPr>
              <a:lnSpc>
                <a:spcPts val="2400"/>
              </a:lnSpc>
              <a:buNone/>
            </a:pPr>
            <a:r>
              <a:rPr lang="en-US" sz="2000">
                <a:solidFill>
                  <a:srgbClr val="174D60"/>
                </a:solidFill>
                <a:latin typeface="Arial"/>
              </a:rPr>
              <a:t>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cxnSp>
        <p:nvCxnSpPr>
          <p:cNvPr id="705" name="Google Shape;705;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6" name="Google Shape;706;p69"/>
          <p:cNvSpPr txBox="1"/>
          <p:nvPr/>
        </p:nvSpPr>
        <p:spPr>
          <a:xfrm>
            <a:off x="486000" y="316800"/>
            <a:ext cx="5015483" cy="48841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 xml:space="preserve">How Far? </a:t>
            </a:r>
            <a:endParaRPr b="1" i="0" sz="1800" u="none" cap="none" strike="noStrike">
              <a:solidFill>
                <a:srgbClr val="7030A0"/>
              </a:solidFill>
              <a:latin typeface="Arial"/>
              <a:ea typeface="Arial"/>
              <a:cs typeface="Arial"/>
              <a:sym typeface="Arial"/>
            </a:endParaRPr>
          </a:p>
        </p:txBody>
      </p:sp>
      <p:sp>
        <p:nvSpPr>
          <p:cNvPr id="707" name="Google Shape;707;p69"/>
          <p:cNvSpPr txBox="1"/>
          <p:nvPr/>
        </p:nvSpPr>
        <p:spPr>
          <a:xfrm>
            <a:off x="486000" y="5305708"/>
            <a:ext cx="11102387" cy="1105013"/>
          </a:xfrm>
          <a:prstGeom prst="rect">
            <a:avLst/>
          </a:prstGeom>
          <a:blipFill rotWithShape="1">
            <a:blip r:embed="rId3">
              <a:alphaModFix/>
            </a:blip>
            <a:stretch>
              <a:fillRect b="-7144" l="-1153" r="0" t="-549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08" name="Google Shape;708;p69"/>
          <p:cNvSpPr/>
          <p:nvPr/>
        </p:nvSpPr>
        <p:spPr>
          <a:xfrm>
            <a:off x="486000" y="4652280"/>
            <a:ext cx="1140996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find the total distance between the two points?</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75cb98ed41da4dd4b47a2ff33e2b0677\narm24_c10706_se_006a-dig-c-eps.3png.png" id="709" name="Google Shape;709;p69"/>
          <p:cNvPicPr preferRelativeResize="0"/>
          <p:nvPr/>
        </p:nvPicPr>
        <p:blipFill rotWithShape="1">
          <a:blip r:embed="rId4">
            <a:alphaModFix/>
          </a:blip>
          <a:srcRect b="0" l="0" r="0" t="0"/>
          <a:stretch/>
        </p:blipFill>
        <p:spPr>
          <a:xfrm>
            <a:off x="4435586" y="2362770"/>
            <a:ext cx="2131793" cy="2160000"/>
          </a:xfrm>
          <a:prstGeom prst="rect">
            <a:avLst/>
          </a:prstGeom>
          <a:noFill/>
          <a:ln>
            <a:noFill/>
          </a:ln>
        </p:spPr>
      </p:pic>
      <p:sp>
        <p:nvSpPr>
          <p:cNvPr id="710" name="Google Shape;710;p69"/>
          <p:cNvSpPr/>
          <p:nvPr/>
        </p:nvSpPr>
        <p:spPr>
          <a:xfrm>
            <a:off x="486000" y="936000"/>
            <a:ext cx="9542904" cy="954107"/>
          </a:xfrm>
          <a:prstGeom prst="rect">
            <a:avLst/>
          </a:prstGeom>
          <a:blipFill rotWithShape="1">
            <a:blip r:embed="rId5">
              <a:alphaModFix/>
            </a:blip>
            <a:stretch>
              <a:fillRect b="-17308" l="-1342" r="0" t="-70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55</a:t>
            </a:r>
          </a:p>
        </p:txBody>
      </p:sp>
      <p:sp xmlns:p="http://schemas.openxmlformats.org/presentationml/2006/main" xmlns:a="http://schemas.openxmlformats.org/drawingml/2006/main">
        <p:nvSpPr>
          <p:cNvPr id="712" name="TEACH-embedded-student-prompt" descr="Student thinking and response directions"/>
          <p:cNvSpPr txBox="1"/>
          <p:nvPr/>
        </p:nvSpPr>
        <p:spPr>
          <a:xfrm>
            <a:off x="7391400" y="345643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a:t>
            </a:r>
            <a:endParaRPr lang="en-US" sz="2000"/>
          </a:p>
          <a:p>
            <a:pPr>
              <a:lnSpc>
                <a:spcPts val="2400"/>
              </a:lnSpc>
              <a:buNone/>
            </a:pPr>
            <a:r>
              <a:rPr lang="en-US" sz="2000">
                <a:solidFill>
                  <a:srgbClr val="174D60"/>
                </a:solidFill>
                <a:latin typeface="Arial"/>
              </a:rPr>
              <a:t>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cxnSp>
        <p:nvCxnSpPr>
          <p:cNvPr id="751" name="Google Shape;751;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2" name="Google Shape;752;p73"/>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53" name="Google Shape;753;p73"/>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754" name="Google Shape;754;p73"/>
          <p:cNvSpPr txBox="1"/>
          <p:nvPr/>
        </p:nvSpPr>
        <p:spPr>
          <a:xfrm>
            <a:off x="503656" y="4872251"/>
            <a:ext cx="9254493" cy="1487606"/>
          </a:xfrm>
          <a:prstGeom prst="rect">
            <a:avLst/>
          </a:prstGeom>
          <a:blipFill rotWithShape="1">
            <a:blip r:embed="rId4">
              <a:alphaModFix/>
            </a:blip>
            <a:stretch>
              <a:fillRect b="0" l="-1383" r="0" t="-409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55" name="Google Shape;755;p73"/>
          <p:cNvSpPr/>
          <p:nvPr/>
        </p:nvSpPr>
        <p:spPr>
          <a:xfrm>
            <a:off x="484563" y="5836637"/>
            <a:ext cx="4984891"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5cb98ed41da4dd4b47a2ff33e2b0677\narm24_c10706_se_006a-dig-c-eps.3png.png" id="756" name="Google Shape;756;p73"/>
          <p:cNvPicPr preferRelativeResize="0"/>
          <p:nvPr/>
        </p:nvPicPr>
        <p:blipFill rotWithShape="1">
          <a:blip r:embed="rId6">
            <a:alphaModFix/>
          </a:blip>
          <a:srcRect b="0" l="0" r="0" t="0"/>
          <a:stretch/>
        </p:blipFill>
        <p:spPr>
          <a:xfrm>
            <a:off x="8620748" y="1484599"/>
            <a:ext cx="3197699" cy="3240000"/>
          </a:xfrm>
          <a:prstGeom prst="rect">
            <a:avLst/>
          </a:prstGeom>
          <a:noFill/>
          <a:ln>
            <a:noFill/>
          </a:ln>
        </p:spPr>
      </p:pic>
      <p:sp>
        <p:nvSpPr>
          <p:cNvPr id="757" name="Google Shape;757;p73"/>
          <p:cNvSpPr txBox="1"/>
          <p:nvPr/>
        </p:nvSpPr>
        <p:spPr>
          <a:xfrm>
            <a:off x="486000" y="841946"/>
            <a:ext cx="7484293" cy="524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look at another way to find the distance.</a:t>
            </a:r>
            <a:endParaRPr b="0" i="0" sz="1400" u="none" cap="none" strike="noStrike">
              <a:solidFill>
                <a:srgbClr val="000000"/>
              </a:solidFill>
              <a:latin typeface="Arial"/>
              <a:ea typeface="Arial"/>
              <a:cs typeface="Arial"/>
              <a:sym typeface="Arial"/>
            </a:endParaRPr>
          </a:p>
        </p:txBody>
      </p:sp>
      <p:sp>
        <p:nvSpPr>
          <p:cNvPr id="758" name="Google Shape;758;p73"/>
          <p:cNvSpPr txBox="1"/>
          <p:nvPr/>
        </p:nvSpPr>
        <p:spPr>
          <a:xfrm>
            <a:off x="486000" y="1308711"/>
            <a:ext cx="7898861" cy="1384995"/>
          </a:xfrm>
          <a:prstGeom prst="rect">
            <a:avLst/>
          </a:prstGeom>
          <a:blipFill rotWithShape="1">
            <a:blip r:embed="rId7">
              <a:alphaModFix/>
            </a:blip>
            <a:stretch>
              <a:fillRect b="-11454" l="-1622" r="-2471" t="-48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59" name="Google Shape;759;p73"/>
          <p:cNvSpPr/>
          <p:nvPr/>
        </p:nvSpPr>
        <p:spPr>
          <a:xfrm>
            <a:off x="486000" y="2636260"/>
            <a:ext cx="1882247" cy="523220"/>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60" name="Google Shape;760;p73"/>
          <p:cNvSpPr/>
          <p:nvPr/>
        </p:nvSpPr>
        <p:spPr>
          <a:xfrm>
            <a:off x="486000" y="3102035"/>
            <a:ext cx="2078582" cy="523220"/>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61" name="Google Shape;761;p73"/>
          <p:cNvSpPr/>
          <p:nvPr/>
        </p:nvSpPr>
        <p:spPr>
          <a:xfrm>
            <a:off x="486000" y="3567810"/>
            <a:ext cx="7753583" cy="1384995"/>
          </a:xfrm>
          <a:prstGeom prst="rect">
            <a:avLst/>
          </a:prstGeom>
          <a:blipFill rotWithShape="1">
            <a:blip r:embed="rId10">
              <a:alphaModFix/>
            </a:blip>
            <a:stretch>
              <a:fillRect b="-11454" l="-1651" r="-393" t="-440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55</a:t>
            </a:r>
          </a:p>
        </p:txBody>
      </p:sp>
      <p:sp>
        <p:nvSpPr>
          <p:cNvPr id="76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cxnSp>
        <p:nvCxnSpPr>
          <p:cNvPr id="777" name="Google Shape;777;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8" name="Google Shape;778;p75"/>
          <p:cNvSpPr txBox="1"/>
          <p:nvPr/>
        </p:nvSpPr>
        <p:spPr>
          <a:xfrm>
            <a:off x="486000" y="316800"/>
            <a:ext cx="5015483" cy="48841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Far?</a:t>
            </a:r>
            <a:endParaRPr b="0" i="0" sz="1400" u="none" cap="none" strike="noStrike">
              <a:solidFill>
                <a:srgbClr val="000000"/>
              </a:solidFill>
              <a:latin typeface="Arial"/>
              <a:ea typeface="Arial"/>
              <a:cs typeface="Arial"/>
              <a:sym typeface="Arial"/>
            </a:endParaRPr>
          </a:p>
        </p:txBody>
      </p:sp>
      <p:sp>
        <p:nvSpPr>
          <p:cNvPr id="779" name="Google Shape;779;p75"/>
          <p:cNvSpPr txBox="1"/>
          <p:nvPr/>
        </p:nvSpPr>
        <p:spPr>
          <a:xfrm>
            <a:off x="499927" y="4992595"/>
            <a:ext cx="11077557" cy="14364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What operation would you use if the points were located in the same quadrant?</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12872702b2984a6f95a11b761db157ea\narm24_c10706_esp_004a.png" id="780" name="Google Shape;780;p75"/>
          <p:cNvPicPr preferRelativeResize="0"/>
          <p:nvPr/>
        </p:nvPicPr>
        <p:blipFill rotWithShape="1">
          <a:blip r:embed="rId3">
            <a:alphaModFix/>
          </a:blip>
          <a:srcRect b="0" l="0" r="0" t="0"/>
          <a:stretch/>
        </p:blipFill>
        <p:spPr>
          <a:xfrm>
            <a:off x="499927" y="3822224"/>
            <a:ext cx="3024000" cy="1080000"/>
          </a:xfrm>
          <a:prstGeom prst="rect">
            <a:avLst/>
          </a:prstGeom>
          <a:noFill/>
          <a:ln>
            <a:noFill/>
          </a:ln>
        </p:spPr>
      </p:pic>
      <p:sp>
        <p:nvSpPr>
          <p:cNvPr id="781" name="Google Shape;781;p75"/>
          <p:cNvSpPr/>
          <p:nvPr/>
        </p:nvSpPr>
        <p:spPr>
          <a:xfrm>
            <a:off x="504530" y="922194"/>
            <a:ext cx="6923791" cy="954107"/>
          </a:xfrm>
          <a:prstGeom prst="rect">
            <a:avLst/>
          </a:prstGeom>
          <a:blipFill rotWithShape="1">
            <a:blip r:embed="rId4">
              <a:alphaModFix/>
            </a:blip>
            <a:stretch>
              <a:fillRect b="0" l="-1849" r="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82" name="Google Shape;782;p75"/>
          <p:cNvSpPr/>
          <p:nvPr/>
        </p:nvSpPr>
        <p:spPr>
          <a:xfrm>
            <a:off x="490447" y="1876301"/>
            <a:ext cx="7165947" cy="1815882"/>
          </a:xfrm>
          <a:prstGeom prst="rect">
            <a:avLst/>
          </a:prstGeom>
          <a:blipFill rotWithShape="1">
            <a:blip r:embed="rId5">
              <a:alphaModFix/>
            </a:blip>
            <a:stretch>
              <a:fillRect b="0" l="-1701" r="0" t="-36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5cb98ed41da4dd4b47a2ff33e2b0677\narm24_c10706_se_006a-dig-c-eps.3png.png" id="783" name="Google Shape;783;p75"/>
          <p:cNvPicPr preferRelativeResize="0"/>
          <p:nvPr/>
        </p:nvPicPr>
        <p:blipFill rotWithShape="1">
          <a:blip r:embed="rId6">
            <a:alphaModFix/>
          </a:blip>
          <a:srcRect b="0" l="0" r="0" t="0"/>
          <a:stretch/>
        </p:blipFill>
        <p:spPr>
          <a:xfrm>
            <a:off x="8620748" y="1484599"/>
            <a:ext cx="3197699" cy="3240000"/>
          </a:xfrm>
          <a:prstGeom prst="rect">
            <a:avLst/>
          </a:prstGeom>
          <a:noFill/>
          <a:ln>
            <a:noFill/>
          </a:ln>
        </p:spPr>
      </p:pic>
      <p:sp>
        <p:nvSpPr>
          <p:cNvPr id="7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55</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cxnSp>
        <p:nvCxnSpPr>
          <p:cNvPr id="799" name="Google Shape;799;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0" name="Google Shape;800;p77"/>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Far?</a:t>
            </a:r>
            <a:endParaRPr b="0" i="0" sz="1400" u="none" cap="none" strike="noStrike">
              <a:solidFill>
                <a:srgbClr val="000000"/>
              </a:solidFill>
              <a:latin typeface="Arial"/>
              <a:ea typeface="Arial"/>
              <a:cs typeface="Arial"/>
              <a:sym typeface="Arial"/>
            </a:endParaRPr>
          </a:p>
        </p:txBody>
      </p:sp>
      <p:sp>
        <p:nvSpPr>
          <p:cNvPr id="801" name="Google Shape;801;p77"/>
          <p:cNvSpPr txBox="1"/>
          <p:nvPr/>
        </p:nvSpPr>
        <p:spPr>
          <a:xfrm>
            <a:off x="484563" y="936001"/>
            <a:ext cx="7676797" cy="1738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Tahira will walk from the middle school to the high school. The grid shows a map of the town, where each unit labeled on the grid represents one kilometer.</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802" name="Google Shape;802;p77"/>
          <p:cNvPicPr preferRelativeResize="0"/>
          <p:nvPr/>
        </p:nvPicPr>
        <p:blipFill rotWithShape="1">
          <a:blip r:embed="rId3">
            <a:alphaModFix/>
          </a:blip>
          <a:srcRect b="0" l="0" r="0" t="0"/>
          <a:stretch/>
        </p:blipFill>
        <p:spPr>
          <a:xfrm>
            <a:off x="8338782" y="1434520"/>
            <a:ext cx="3600000" cy="3600000"/>
          </a:xfrm>
          <a:prstGeom prst="rect">
            <a:avLst/>
          </a:prstGeom>
          <a:noFill/>
          <a:ln>
            <a:noFill/>
          </a:ln>
        </p:spPr>
      </p:pic>
      <p:sp>
        <p:nvSpPr>
          <p:cNvPr id="803" name="Google Shape;803;p77"/>
          <p:cNvSpPr txBox="1"/>
          <p:nvPr/>
        </p:nvSpPr>
        <p:spPr>
          <a:xfrm>
            <a:off x="547722" y="4894683"/>
            <a:ext cx="6792963" cy="144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distance between the middle school to the high school is 4.5 kilometers.</a:t>
            </a:r>
            <a:endParaRPr b="0" i="0" sz="1400" u="none" cap="none" strike="noStrike">
              <a:solidFill>
                <a:srgbClr val="000000"/>
              </a:solidFill>
              <a:latin typeface="Arial"/>
              <a:ea typeface="Arial"/>
              <a:cs typeface="Arial"/>
              <a:sym typeface="Arial"/>
            </a:endParaRPr>
          </a:p>
        </p:txBody>
      </p:sp>
      <p:sp>
        <p:nvSpPr>
          <p:cNvPr id="804" name="Google Shape;804;p77"/>
          <p:cNvSpPr/>
          <p:nvPr/>
        </p:nvSpPr>
        <p:spPr>
          <a:xfrm>
            <a:off x="466077" y="2779468"/>
            <a:ext cx="7545159" cy="954107"/>
          </a:xfrm>
          <a:prstGeom prst="rect">
            <a:avLst/>
          </a:prstGeom>
          <a:blipFill rotWithShape="1">
            <a:blip r:embed="rId4">
              <a:alphaModFix/>
            </a:blip>
            <a:stretch>
              <a:fillRect b="-17308" l="-1616" r="0" t="-70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05" name="Google Shape;805;p77"/>
          <p:cNvSpPr/>
          <p:nvPr/>
        </p:nvSpPr>
        <p:spPr>
          <a:xfrm>
            <a:off x="513670" y="3940576"/>
            <a:ext cx="7332472"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does 4.5 units mean in the context of the problem?</a:t>
            </a:r>
            <a:endParaRPr b="0" i="0" sz="2800" u="none" cap="none" strike="noStrike">
              <a:solidFill>
                <a:schemeClr val="dk1"/>
              </a:solidFill>
              <a:latin typeface="Arial"/>
              <a:ea typeface="Arial"/>
              <a:cs typeface="Arial"/>
              <a:sym typeface="Arial"/>
            </a:endParaRPr>
          </a:p>
        </p:txBody>
      </p:sp>
      <p:sp>
        <p:nvSpPr>
          <p:cNvPr id="8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55</a:t>
            </a:r>
          </a:p>
        </p:txBody>
      </p:sp>
      <p:sp>
        <p:nvSpPr>
          <p:cNvPr id="807" name="EWL-COVER-1"/>
          <p:cNvSpPr/>
          <p:nvPr/>
        </p:nvSpPr>
        <p:spPr>
          <a:xfrm>
            <a:off x="492858" y="4839819"/>
            <a:ext cx="6902691" cy="154982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cxnSp>
        <p:nvCxnSpPr>
          <p:cNvPr id="823" name="Google Shape;823;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4" name="Google Shape;824;p79"/>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Far?</a:t>
            </a:r>
            <a:endParaRPr b="0" i="0" sz="1400" u="none" cap="none" strike="noStrike">
              <a:solidFill>
                <a:srgbClr val="000000"/>
              </a:solidFill>
              <a:latin typeface="Arial"/>
              <a:ea typeface="Arial"/>
              <a:cs typeface="Arial"/>
              <a:sym typeface="Arial"/>
            </a:endParaRPr>
          </a:p>
        </p:txBody>
      </p:sp>
      <p:sp>
        <p:nvSpPr>
          <p:cNvPr id="825" name="Google Shape;825;p79"/>
          <p:cNvSpPr txBox="1"/>
          <p:nvPr/>
        </p:nvSpPr>
        <p:spPr>
          <a:xfrm>
            <a:off x="484563" y="936001"/>
            <a:ext cx="7676797" cy="1738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Tahira will walk from the middle school to the high school. The grid shows a map of the town, where each unit labeled on the grid represents one kilometer.</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826" name="Google Shape;826;p79"/>
          <p:cNvPicPr preferRelativeResize="0"/>
          <p:nvPr/>
        </p:nvPicPr>
        <p:blipFill rotWithShape="1">
          <a:blip r:embed="rId3">
            <a:alphaModFix/>
          </a:blip>
          <a:srcRect b="0" l="0" r="0" t="0"/>
          <a:stretch/>
        </p:blipFill>
        <p:spPr>
          <a:xfrm>
            <a:off x="8338782" y="1434520"/>
            <a:ext cx="3600000" cy="3600000"/>
          </a:xfrm>
          <a:prstGeom prst="rect">
            <a:avLst/>
          </a:prstGeom>
          <a:noFill/>
          <a:ln>
            <a:noFill/>
          </a:ln>
        </p:spPr>
      </p:pic>
      <p:sp>
        <p:nvSpPr>
          <p:cNvPr id="827" name="Google Shape;827;p79"/>
          <p:cNvSpPr/>
          <p:nvPr/>
        </p:nvSpPr>
        <p:spPr>
          <a:xfrm>
            <a:off x="484563" y="2711300"/>
            <a:ext cx="5753473"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far will Tahira walk?</a:t>
            </a:r>
            <a:endParaRPr b="0" i="0" sz="2800" u="none" cap="none" strike="noStrike">
              <a:solidFill>
                <a:schemeClr val="dk1"/>
              </a:solidFill>
              <a:latin typeface="Arial"/>
              <a:ea typeface="Arial"/>
              <a:cs typeface="Arial"/>
              <a:sym typeface="Arial"/>
            </a:endParaRPr>
          </a:p>
        </p:txBody>
      </p:sp>
      <p:pic>
        <p:nvPicPr>
          <p:cNvPr id="828" name="Google Shape;828;p79"/>
          <p:cNvPicPr preferRelativeResize="0"/>
          <p:nvPr/>
        </p:nvPicPr>
        <p:blipFill rotWithShape="1">
          <a:blip r:embed="rId4">
            <a:alphaModFix/>
          </a:blip>
          <a:srcRect b="0" l="0" r="0" t="0"/>
          <a:stretch/>
        </p:blipFill>
        <p:spPr>
          <a:xfrm>
            <a:off x="484563" y="5062801"/>
            <a:ext cx="7622599" cy="838200"/>
          </a:xfrm>
          <a:prstGeom prst="rect">
            <a:avLst/>
          </a:prstGeom>
          <a:noFill/>
          <a:ln>
            <a:noFill/>
          </a:ln>
        </p:spPr>
      </p:pic>
      <p:sp>
        <p:nvSpPr>
          <p:cNvPr id="829" name="Google Shape;829;p79"/>
          <p:cNvSpPr/>
          <p:nvPr/>
        </p:nvSpPr>
        <p:spPr>
          <a:xfrm>
            <a:off x="3210987" y="5241726"/>
            <a:ext cx="479293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Using Symbols Appropriately</a:t>
            </a:r>
            <a:endParaRPr b="0" i="0" sz="1400" u="none" cap="none" strike="noStrike">
              <a:solidFill>
                <a:srgbClr val="000000"/>
              </a:solidFill>
              <a:latin typeface="Arial"/>
              <a:ea typeface="Arial"/>
              <a:cs typeface="Arial"/>
              <a:sym typeface="Arial"/>
            </a:endParaRPr>
          </a:p>
        </p:txBody>
      </p:sp>
      <p:sp>
        <p:nvSpPr>
          <p:cNvPr id="830" name="Google Shape;830;p79"/>
          <p:cNvSpPr/>
          <p:nvPr/>
        </p:nvSpPr>
        <p:spPr>
          <a:xfrm>
            <a:off x="638180" y="5863114"/>
            <a:ext cx="7092006"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unit of measure is needed to be precise?</a:t>
            </a:r>
            <a:endParaRPr b="0" i="0" sz="2600" u="none" cap="none" strike="noStrike">
              <a:solidFill>
                <a:srgbClr val="595959"/>
              </a:solidFill>
              <a:latin typeface="Arial"/>
              <a:ea typeface="Arial"/>
              <a:cs typeface="Arial"/>
              <a:sym typeface="Arial"/>
            </a:endParaRPr>
          </a:p>
        </p:txBody>
      </p:sp>
      <p:sp>
        <p:nvSpPr>
          <p:cNvPr id="831" name="Google Shape;831;p79"/>
          <p:cNvSpPr/>
          <p:nvPr/>
        </p:nvSpPr>
        <p:spPr>
          <a:xfrm>
            <a:off x="715894" y="3611079"/>
            <a:ext cx="502278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Tahira will walk 4.5 kilometers.</a:t>
            </a:r>
            <a:endParaRPr b="0" i="0" sz="2800" u="none" cap="none" strike="noStrike">
              <a:solidFill>
                <a:schemeClr val="dk1"/>
              </a:solidFill>
              <a:latin typeface="Arial"/>
              <a:ea typeface="Arial"/>
              <a:cs typeface="Arial"/>
              <a:sym typeface="Arial"/>
            </a:endParaRPr>
          </a:p>
        </p:txBody>
      </p:sp>
      <p:sp>
        <p:nvSpPr>
          <p:cNvPr id="832" name="Google Shape;832;p79"/>
          <p:cNvSpPr/>
          <p:nvPr/>
        </p:nvSpPr>
        <p:spPr>
          <a:xfrm>
            <a:off x="585904" y="3395017"/>
            <a:ext cx="6702505" cy="955344"/>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55</a:t>
            </a:r>
          </a:p>
        </p:txBody>
      </p:sp>
      <p:grpSp>
        <p:nvGrpSpPr>
          <p:cNvPr id="834" name="TEACH-5-student-move" descr="TEACH 5 · Facilitate student interactions and academic talk"/>
          <p:cNvGrpSpPr/>
          <p:nvPr/>
        </p:nvGrpSpPr>
        <p:grpSpPr>
          <a:xfrm>
            <a:off x="502920" y="4623889"/>
            <a:ext cx="5501640" cy="402336"/>
            <a:chOff x="502920" y="4623889"/>
            <a:chExt cx="5501640" cy="402336"/>
          </a:xfrm>
        </p:grpSpPr>
        <p:sp>
          <p:nvSpPr>
            <p:cNvPr id="835" name="TEACH-move-card"/>
            <p:cNvSpPr/>
            <p:nvPr/>
          </p:nvSpPr>
          <p:spPr>
            <a:xfrm>
              <a:off x="502920" y="4623889"/>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836" name="TEACH-move-rule"/>
            <p:cNvSpPr/>
            <p:nvPr/>
          </p:nvSpPr>
          <p:spPr>
            <a:xfrm>
              <a:off x="548640" y="4700333"/>
              <a:ext cx="100584" cy="249448"/>
            </a:xfrm>
            <a:prstGeom prst="roundRect">
              <a:avLst>
                <a:gd name="adj" fmla="val 50000"/>
              </a:avLst>
            </a:prstGeom>
            <a:solidFill>
              <a:srgbClr val="01708C"/>
            </a:solidFill>
            <a:ln>
              <a:noFill/>
            </a:ln>
          </p:spPr>
          <p:txBody>
            <a:bodyPr/>
            <a:lstStyle/>
            <a:p>
              <a:endParaRPr/>
            </a:p>
          </p:txBody>
        </p:sp>
        <p:sp>
          <p:nvSpPr>
            <p:cNvPr id="837" name="TEACH-move-text"/>
            <p:cNvSpPr txBox="1"/>
            <p:nvPr/>
          </p:nvSpPr>
          <p:spPr>
            <a:xfrm>
              <a:off x="822960" y="4623889"/>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cxnSp>
        <p:nvCxnSpPr>
          <p:cNvPr id="837" name="Google Shape;837;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8" name="Google Shape;838;p80"/>
          <p:cNvSpPr txBox="1"/>
          <p:nvPr/>
        </p:nvSpPr>
        <p:spPr>
          <a:xfrm>
            <a:off x="484564"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39" name="Google Shape;839;p80"/>
          <p:cNvSpPr txBox="1"/>
          <p:nvPr/>
        </p:nvSpPr>
        <p:spPr>
          <a:xfrm>
            <a:off x="484565" y="936000"/>
            <a:ext cx="7603514" cy="1042925"/>
          </a:xfrm>
          <a:prstGeom prst="rect">
            <a:avLst/>
          </a:prstGeom>
          <a:blipFill rotWithShape="1">
            <a:blip r:embed="rId3">
              <a:alphaModFix/>
            </a:blip>
            <a:stretch>
              <a:fillRect b="-7018" l="-1443" r="0" t="-643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40" name="Google Shape;840;p80"/>
          <p:cNvSpPr/>
          <p:nvPr/>
        </p:nvSpPr>
        <p:spPr>
          <a:xfrm>
            <a:off x="470553" y="2179983"/>
            <a:ext cx="7272350" cy="118782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41" name="Google Shape;841;p80"/>
          <p:cNvSpPr txBox="1"/>
          <p:nvPr/>
        </p:nvSpPr>
        <p:spPr>
          <a:xfrm>
            <a:off x="6391544" y="3010117"/>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42" name="Google Shape;842;p80"/>
          <p:cNvSpPr/>
          <p:nvPr/>
        </p:nvSpPr>
        <p:spPr>
          <a:xfrm>
            <a:off x="484564" y="5040263"/>
            <a:ext cx="7258339" cy="1267517"/>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43" name="Google Shape;843;p80"/>
          <p:cNvSpPr txBox="1"/>
          <p:nvPr/>
        </p:nvSpPr>
        <p:spPr>
          <a:xfrm>
            <a:off x="6536034" y="5969226"/>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44" name="Google Shape;844;p80"/>
          <p:cNvSpPr/>
          <p:nvPr/>
        </p:nvSpPr>
        <p:spPr>
          <a:xfrm>
            <a:off x="537983" y="3558558"/>
            <a:ext cx="7550096" cy="138499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Which coordinate would you use to determine the vertical distance between two points on the coordinate plane?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5cb98ed41da4dd4b47a2ff33e2b0677\narm24_c10706_se_006a-dig-c-eps.3png.png" id="845" name="Google Shape;845;p80"/>
          <p:cNvPicPr preferRelativeResize="0"/>
          <p:nvPr/>
        </p:nvPicPr>
        <p:blipFill rotWithShape="1">
          <a:blip r:embed="rId4">
            <a:alphaModFix/>
          </a:blip>
          <a:srcRect b="0" l="0" r="0" t="0"/>
          <a:stretch/>
        </p:blipFill>
        <p:spPr>
          <a:xfrm>
            <a:off x="8660792" y="1703553"/>
            <a:ext cx="3197698" cy="3240000"/>
          </a:xfrm>
          <a:prstGeom prst="rect">
            <a:avLst/>
          </a:prstGeom>
          <a:noFill/>
          <a:ln>
            <a:noFill/>
          </a:ln>
        </p:spPr>
      </p:pic>
      <p:sp>
        <p:nvSpPr>
          <p:cNvPr id="846" name="Google Shape;846;p80"/>
          <p:cNvSpPr txBox="1"/>
          <p:nvPr/>
        </p:nvSpPr>
        <p:spPr>
          <a:xfrm>
            <a:off x="7906182" y="5446006"/>
            <a:ext cx="4285818"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7.6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Do the points lie on the same side of zero or opposite sides, and how does that affect the distance?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64" name="Google Shape;664;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5" name="Google Shape;665;p65"/>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How Far?</a:t>
            </a:r>
            <a:endParaRPr b="0" i="0" sz="1400" u="none" cap="none" strike="noStrike">
              <a:solidFill>
                <a:srgbClr val="000000"/>
              </a:solidFill>
              <a:latin typeface="Arial"/>
              <a:ea typeface="Arial"/>
              <a:cs typeface="Arial"/>
              <a:sym typeface="Arial"/>
            </a:endParaRPr>
          </a:p>
        </p:txBody>
      </p:sp>
      <p:sp>
        <p:nvSpPr>
          <p:cNvPr id="666" name="Google Shape;666;p65"/>
          <p:cNvSpPr txBox="1"/>
          <p:nvPr/>
        </p:nvSpPr>
        <p:spPr>
          <a:xfrm>
            <a:off x="484562" y="4940945"/>
            <a:ext cx="7327277" cy="1403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way is to count the units on the coordinate plane.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667" name="Google Shape;667;p65"/>
          <p:cNvPicPr preferRelativeResize="0"/>
          <p:nvPr/>
        </p:nvPicPr>
        <p:blipFill rotWithShape="1">
          <a:blip r:embed="rId2">
            <a:alphaModFix/>
          </a:blip>
          <a:srcRect b="0" l="0" r="0" t="0"/>
          <a:stretch/>
        </p:blipFill>
        <p:spPr>
          <a:xfrm>
            <a:off x="8338782" y="1434520"/>
            <a:ext cx="3600000" cy="3600000"/>
          </a:xfrm>
          <a:prstGeom prst="rect">
            <a:avLst/>
          </a:prstGeom>
          <a:noFill/>
          <a:ln>
            <a:noFill/>
          </a:ln>
        </p:spPr>
      </p:pic>
      <p:sp>
        <p:nvSpPr>
          <p:cNvPr id="668" name="Google Shape;668;p65"/>
          <p:cNvSpPr txBox="1"/>
          <p:nvPr/>
        </p:nvSpPr>
        <p:spPr>
          <a:xfrm>
            <a:off x="484563" y="936001"/>
            <a:ext cx="7730289" cy="9854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find the coordinates of the middle school and the high school.</a:t>
            </a:r>
            <a:endParaRPr b="0" i="0" sz="1400" u="none" cap="none" strike="noStrike">
              <a:solidFill>
                <a:srgbClr val="000000"/>
              </a:solidFill>
              <a:latin typeface="Arial"/>
              <a:ea typeface="Arial"/>
              <a:cs typeface="Arial"/>
              <a:sym typeface="Arial"/>
            </a:endParaRPr>
          </a:p>
        </p:txBody>
      </p:sp>
      <p:sp>
        <p:nvSpPr>
          <p:cNvPr id="669" name="Google Shape;669;p65"/>
          <p:cNvSpPr txBox="1"/>
          <p:nvPr/>
        </p:nvSpPr>
        <p:spPr>
          <a:xfrm>
            <a:off x="484562" y="1937688"/>
            <a:ext cx="4687939" cy="523220"/>
          </a:xfrm>
          <a:prstGeom prst="rect">
            <a:avLst/>
          </a:prstGeom>
          <a:blipFill rotWithShape="1">
            <a:blip r:embed="rId3">
              <a:alphaModFix/>
            </a:blip>
            <a:stretch>
              <a:fillRect b="-29069" l="-2597" r="0" t="-1511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0" name="Google Shape;670;p65"/>
          <p:cNvSpPr/>
          <p:nvPr/>
        </p:nvSpPr>
        <p:spPr>
          <a:xfrm>
            <a:off x="490881" y="2477109"/>
            <a:ext cx="3837680" cy="523220"/>
          </a:xfrm>
          <a:prstGeom prst="rect">
            <a:avLst/>
          </a:prstGeom>
          <a:blipFill rotWithShape="1">
            <a:blip r:embed="rId4">
              <a:alphaModFix/>
            </a:blip>
            <a:stretch>
              <a:fillRect b="-31395" l="-3339"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1" name="Google Shape;671;p65"/>
          <p:cNvSpPr/>
          <p:nvPr/>
        </p:nvSpPr>
        <p:spPr>
          <a:xfrm>
            <a:off x="486000" y="3016530"/>
            <a:ext cx="7325839" cy="954107"/>
          </a:xfrm>
          <a:prstGeom prst="rect">
            <a:avLst/>
          </a:prstGeom>
          <a:blipFill rotWithShape="1">
            <a:blip r:embed="rId5">
              <a:alphaModFix/>
            </a:blip>
            <a:stretch>
              <a:fillRect b="-17308" l="-1749" r="-1998" t="-70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2" name="Google Shape;672;p65"/>
          <p:cNvSpPr/>
          <p:nvPr/>
        </p:nvSpPr>
        <p:spPr>
          <a:xfrm>
            <a:off x="490881" y="3986838"/>
            <a:ext cx="756129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the coordinate plane to find the distance between the two schools?</a:t>
            </a:r>
            <a:endParaRPr b="0" i="0" sz="2800" u="none" cap="none" strike="noStrike">
              <a:solidFill>
                <a:schemeClr val="dk1"/>
              </a:solidFill>
              <a:latin typeface="Arial"/>
              <a:ea typeface="Arial"/>
              <a:cs typeface="Arial"/>
              <a:sym typeface="Arial"/>
            </a:endParaRPr>
          </a:p>
        </p:txBody>
      </p:sp>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55</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find distance between (2, 5) and (2, −3), look at:</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x-coordinates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y-coordinates (vertical distance)</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Sum of all coordinates</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names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distance between (2, 5) and (2, −3)?</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 units</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 units</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 units</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What is horizontal distance between (−4, 3) and (6, 3)?</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 units</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 units</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 units</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When points lie in different quadrants across an axis: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Subtract absolute values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Add their absolute values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Multiply coordinates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Distance is 0</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55</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7-6 · Determine Distance on the Coordinate Plane</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Same Quadrant Distance</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When </a:t>
            </a:r>
            <a:r>
              <a:rPr b="1" i="0" lang="en-US" sz="1450" u="none" cap="none" strike="noStrike">
                <a:solidFill>
                  <a:srgbClr val="475569"/>
                </a:solidFill>
                <a:latin typeface="Arial"/>
                <a:ea typeface="Arial"/>
                <a:cs typeface="Arial"/>
                <a:sym typeface="Arial"/>
              </a:rPr>
              <a:t xml:space="preserve">coordinates</a:t>
            </a:r>
            <a:r>
              <a:rPr b="0" i="0" lang="en-US" sz="1450" u="none" cap="none" strike="noStrike">
                <a:solidFill>
                  <a:srgbClr val="475569"/>
                </a:solidFill>
                <a:latin typeface="Arial"/>
                <a:ea typeface="Arial"/>
                <a:cs typeface="Arial"/>
                <a:sym typeface="Arial"/>
              </a:rPr>
              <a:t xml:space="preserve"> have the same sign, subtract </a:t>
            </a:r>
            <a:r>
              <a:rPr b="1" i="0" lang="en-US" sz="1450" u="none" cap="none" strike="noStrike">
                <a:solidFill>
                  <a:srgbClr val="475569"/>
                </a:solidFill>
                <a:latin typeface="Arial"/>
                <a:ea typeface="Arial"/>
                <a:cs typeface="Arial"/>
                <a:sym typeface="Arial"/>
              </a:rPr>
              <a:t xml:space="preserve">absolute values</a:t>
            </a:r>
            <a:r>
              <a:rPr b="0" i="0" lang="en-US" sz="1450" u="none" cap="none" strike="noStrike">
                <a:solidFill>
                  <a:srgbClr val="475569"/>
                </a:solidFill>
                <a:latin typeface="Arial"/>
                <a:ea typeface="Arial"/>
                <a:cs typeface="Arial"/>
                <a:sym typeface="Arial"/>
              </a:rPr>
              <a:t xml:space="preserve">: |coord1| − |coord2|.</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Different Quadrant Distance</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When points cross an </a:t>
            </a:r>
            <a:r>
              <a:rPr b="1" i="0" lang="en-US" sz="1450" u="none" cap="none" strike="noStrike">
                <a:solidFill>
                  <a:srgbClr val="475569"/>
                </a:solidFill>
                <a:latin typeface="Arial"/>
                <a:ea typeface="Arial"/>
                <a:cs typeface="Arial"/>
                <a:sym typeface="Arial"/>
              </a:rPr>
              <a:t xml:space="preserve">axis</a:t>
            </a:r>
            <a:r>
              <a:rPr b="0" i="0" lang="en-US" sz="1450" u="none" cap="none" strike="noStrike">
                <a:solidFill>
                  <a:srgbClr val="475569"/>
                </a:solidFill>
                <a:latin typeface="Arial"/>
                <a:ea typeface="Arial"/>
                <a:cs typeface="Arial"/>
                <a:sym typeface="Arial"/>
              </a:rPr>
              <a:t xml:space="preserve"> (different signs), add absolute values: |coord1| + |coord2|.</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Orientation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Same x-coordinates indicate </a:t>
            </a:r>
            <a:r>
              <a:rPr b="1" i="0" lang="en-US" sz="1450" u="none" cap="none" strike="noStrike">
                <a:solidFill>
                  <a:srgbClr val="475569"/>
                </a:solidFill>
                <a:latin typeface="Arial"/>
                <a:ea typeface="Arial"/>
                <a:cs typeface="Arial"/>
                <a:sym typeface="Arial"/>
              </a:rPr>
              <a:t xml:space="preserve">vertical</a:t>
            </a:r>
            <a:r>
              <a:rPr b="0" i="0" lang="en-US" sz="1450" u="none" cap="none" strike="noStrike">
                <a:solidFill>
                  <a:srgbClr val="475569"/>
                </a:solidFill>
                <a:latin typeface="Arial"/>
                <a:ea typeface="Arial"/>
                <a:cs typeface="Arial"/>
                <a:sym typeface="Arial"/>
              </a:rPr>
              <a:t xml:space="preserve"> lines; same y-coordinates indicate </a:t>
            </a:r>
            <a:r>
              <a:rPr b="1" i="0" lang="en-US" sz="1450" u="none" cap="none" strike="noStrike">
                <a:solidFill>
                  <a:srgbClr val="475569"/>
                </a:solidFill>
                <a:latin typeface="Arial"/>
                <a:ea typeface="Arial"/>
                <a:cs typeface="Arial"/>
                <a:sym typeface="Arial"/>
              </a:rPr>
              <a:t xml:space="preserve">horizontal</a:t>
            </a:r>
            <a:r>
              <a:rPr b="0" i="0" lang="en-US" sz="1450" u="none" cap="none" strike="noStrike">
                <a:solidFill>
                  <a:srgbClr val="475569"/>
                </a:solidFill>
                <a:latin typeface="Arial"/>
                <a:ea typeface="Arial"/>
                <a:cs typeface="Arial"/>
                <a:sym typeface="Arial"/>
              </a:rPr>
              <a:t xml:space="preserve"> lines.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55</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81"/>
          <p:cNvSpPr txBox="1"/>
          <p:nvPr/>
        </p:nvSpPr>
        <p:spPr>
          <a:xfrm>
            <a:off x="1402828" y="2340768"/>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Determine Distance on the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Coordinate Plane</a:t>
            </a:r>
            <a:endParaRPr b="1" i="0" sz="3600" u="none" cap="none" strike="noStrike">
              <a:solidFill>
                <a:schemeClr val="dk1"/>
              </a:solidFill>
              <a:latin typeface="Arial"/>
              <a:ea typeface="Arial"/>
              <a:cs typeface="Arial"/>
              <a:sym typeface="Arial"/>
            </a:endParaRPr>
          </a:p>
        </p:txBody>
      </p:sp>
      <p:sp>
        <p:nvSpPr>
          <p:cNvPr id="852" name="Google Shape;852;p8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53" name="Google Shape;853;p81"/>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55</a:t>
            </a:r>
          </a:p>
        </p:txBody>
      </p:sp>
      <p:grpSp>
        <p:nvGrpSpPr>
          <p:cNvPr id="855" name="TEACH-4-student-move" descr="TEACH 4 · Monitor progress and provide feedback"/>
          <p:cNvGrpSpPr/>
          <p:nvPr/>
        </p:nvGrpSpPr>
        <p:grpSpPr>
          <a:xfrm>
            <a:off x="502920" y="3754430"/>
            <a:ext cx="11186160" cy="731520"/>
            <a:chOff x="502920" y="3754430"/>
            <a:chExt cx="11186160" cy="731520"/>
          </a:xfrm>
        </p:grpSpPr>
        <p:sp>
          <p:nvSpPr>
            <p:cNvPr id="856" name="TEACH-move-card"/>
            <p:cNvSpPr/>
            <p:nvPr/>
          </p:nvSpPr>
          <p:spPr>
            <a:xfrm>
              <a:off x="502920" y="3754430"/>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57" name="TEACH-move-rule"/>
            <p:cNvSpPr/>
            <p:nvPr/>
          </p:nvSpPr>
          <p:spPr>
            <a:xfrm>
              <a:off x="548640" y="3893419"/>
              <a:ext cx="100584" cy="453542"/>
            </a:xfrm>
            <a:prstGeom prst="roundRect">
              <a:avLst>
                <a:gd name="adj" fmla="val 50000"/>
              </a:avLst>
            </a:prstGeom>
            <a:solidFill>
              <a:srgbClr val="01708C"/>
            </a:solidFill>
            <a:ln>
              <a:noFill/>
            </a:ln>
          </p:spPr>
          <p:txBody>
            <a:bodyPr/>
            <a:lstStyle/>
            <a:p>
              <a:endParaRPr/>
            </a:p>
          </p:txBody>
        </p:sp>
        <p:sp>
          <p:nvSpPr>
            <p:cNvPr id="858" name="TEACH-move-text"/>
            <p:cNvSpPr txBox="1"/>
            <p:nvPr/>
          </p:nvSpPr>
          <p:spPr>
            <a:xfrm>
              <a:off x="822960" y="3754430"/>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cxnSp>
        <p:nvCxnSpPr>
          <p:cNvPr id="894" name="Google Shape;894;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5" name="Google Shape;895;p85"/>
          <p:cNvSpPr txBox="1"/>
          <p:nvPr/>
        </p:nvSpPr>
        <p:spPr>
          <a:xfrm>
            <a:off x="484565" y="316034"/>
            <a:ext cx="5029132" cy="5164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Who Walks Farther?</a:t>
            </a:r>
            <a:endParaRPr b="0" i="0" sz="1400" u="none" cap="none" strike="noStrike">
              <a:solidFill>
                <a:srgbClr val="000000"/>
              </a:solidFill>
              <a:latin typeface="Arial"/>
              <a:ea typeface="Arial"/>
              <a:cs typeface="Arial"/>
              <a:sym typeface="Arial"/>
            </a:endParaRPr>
          </a:p>
        </p:txBody>
      </p:sp>
      <p:sp>
        <p:nvSpPr>
          <p:cNvPr id="896" name="Google Shape;896;p85"/>
          <p:cNvSpPr txBox="1"/>
          <p:nvPr/>
        </p:nvSpPr>
        <p:spPr>
          <a:xfrm>
            <a:off x="486000" y="935999"/>
            <a:ext cx="5969391" cy="26896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Miguel will walk from the high school to the town hall. Shanice will walk from the high school to the soccer fields. The grid shows a map of the town, where each unit labeled on the grid represents one kilometer.</a:t>
            </a:r>
            <a:endParaRPr b="0" i="0" sz="1400" u="none" cap="none" strike="noStrike">
              <a:solidFill>
                <a:srgbClr val="000000"/>
              </a:solidFill>
              <a:latin typeface="Arial"/>
              <a:ea typeface="Arial"/>
              <a:cs typeface="Arial"/>
              <a:sym typeface="Arial"/>
            </a:endParaRPr>
          </a:p>
        </p:txBody>
      </p:sp>
      <p:sp>
        <p:nvSpPr>
          <p:cNvPr id="897" name="Google Shape;897;p85"/>
          <p:cNvSpPr/>
          <p:nvPr/>
        </p:nvSpPr>
        <p:spPr>
          <a:xfrm>
            <a:off x="484565" y="3913075"/>
            <a:ext cx="397576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Who will walk farther?</a:t>
            </a:r>
            <a:endParaRPr b="0" i="0" sz="2800" u="none" cap="none" strike="noStrike">
              <a:solidFill>
                <a:schemeClr val="dk1"/>
              </a:solidFill>
              <a:latin typeface="Arial"/>
              <a:ea typeface="Arial"/>
              <a:cs typeface="Arial"/>
              <a:sym typeface="Arial"/>
            </a:endParaRPr>
          </a:p>
        </p:txBody>
      </p:sp>
      <p:pic>
        <p:nvPicPr>
          <p:cNvPr id="898" name="Google Shape;898;p85"/>
          <p:cNvPicPr preferRelativeResize="0"/>
          <p:nvPr/>
        </p:nvPicPr>
        <p:blipFill rotWithShape="1">
          <a:blip r:embed="rId3">
            <a:alphaModFix/>
          </a:blip>
          <a:srcRect b="0" l="0" r="0" t="0"/>
          <a:stretch/>
        </p:blipFill>
        <p:spPr>
          <a:xfrm>
            <a:off x="459097" y="4685600"/>
            <a:ext cx="5054600" cy="838200"/>
          </a:xfrm>
          <a:prstGeom prst="rect">
            <a:avLst/>
          </a:prstGeom>
          <a:noFill/>
          <a:ln>
            <a:noFill/>
          </a:ln>
        </p:spPr>
      </p:pic>
      <p:sp>
        <p:nvSpPr>
          <p:cNvPr id="899" name="Google Shape;899;p85"/>
          <p:cNvSpPr/>
          <p:nvPr/>
        </p:nvSpPr>
        <p:spPr>
          <a:xfrm>
            <a:off x="3175212" y="4843090"/>
            <a:ext cx="166423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Precision</a:t>
            </a:r>
            <a:endParaRPr b="0" i="0" sz="1400" u="none" cap="none" strike="noStrike">
              <a:solidFill>
                <a:srgbClr val="000000"/>
              </a:solidFill>
              <a:latin typeface="Arial"/>
              <a:ea typeface="Arial"/>
              <a:cs typeface="Arial"/>
              <a:sym typeface="Arial"/>
            </a:endParaRPr>
          </a:p>
        </p:txBody>
      </p:sp>
      <p:sp>
        <p:nvSpPr>
          <p:cNvPr id="900" name="Google Shape;900;p85"/>
          <p:cNvSpPr/>
          <p:nvPr/>
        </p:nvSpPr>
        <p:spPr>
          <a:xfrm>
            <a:off x="665864" y="5523800"/>
            <a:ext cx="758893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level of precision does this problem require?</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901" name="Google Shape;901;p85"/>
          <p:cNvPicPr preferRelativeResize="0"/>
          <p:nvPr/>
        </p:nvPicPr>
        <p:blipFill rotWithShape="1">
          <a:blip r:embed="rId4">
            <a:alphaModFix/>
          </a:blip>
          <a:srcRect b="0" l="0" r="0" t="0"/>
          <a:stretch/>
        </p:blipFill>
        <p:spPr>
          <a:xfrm>
            <a:off x="8116152" y="1423090"/>
            <a:ext cx="3420000" cy="3420000"/>
          </a:xfrm>
          <a:prstGeom prst="rect">
            <a:avLst/>
          </a:prstGeom>
          <a:noFill/>
          <a:ln>
            <a:noFill/>
          </a:ln>
        </p:spPr>
      </p:pic>
      <p:sp>
        <p:nvSpPr>
          <p:cNvPr id="9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55</a:t>
            </a:r>
          </a:p>
        </p:txBody>
      </p:sp>
      <p:grpSp>
        <p:nvGrpSpPr>
          <p:cNvPr id="903" name="TEACH-2-student-move" descr="TEACH 2 · Use strategies and tasks to engage students in rigorous work"/>
          <p:cNvGrpSpPr/>
          <p:nvPr/>
        </p:nvGrpSpPr>
        <p:grpSpPr>
          <a:xfrm>
            <a:off x="6187440" y="5084888"/>
            <a:ext cx="5501640" cy="402336"/>
            <a:chOff x="6187440" y="5084888"/>
            <a:chExt cx="5501640" cy="402336"/>
          </a:xfrm>
        </p:grpSpPr>
        <p:sp>
          <p:nvSpPr>
            <p:cNvPr id="904" name="TEACH-move-card"/>
            <p:cNvSpPr/>
            <p:nvPr/>
          </p:nvSpPr>
          <p:spPr>
            <a:xfrm>
              <a:off x="6187440" y="5084888"/>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05" name="TEACH-move-rule"/>
            <p:cNvSpPr/>
            <p:nvPr/>
          </p:nvSpPr>
          <p:spPr>
            <a:xfrm>
              <a:off x="6233160" y="5161332"/>
              <a:ext cx="100584" cy="249448"/>
            </a:xfrm>
            <a:prstGeom prst="roundRect">
              <a:avLst>
                <a:gd name="adj" fmla="val 50000"/>
              </a:avLst>
            </a:prstGeom>
            <a:solidFill>
              <a:srgbClr val="01708C"/>
            </a:solidFill>
            <a:ln>
              <a:noFill/>
            </a:ln>
          </p:spPr>
          <p:txBody>
            <a:bodyPr/>
            <a:lstStyle/>
            <a:p>
              <a:endParaRPr/>
            </a:p>
          </p:txBody>
        </p:sp>
        <p:sp>
          <p:nvSpPr>
            <p:cNvPr id="906" name="TEACH-move-text"/>
            <p:cNvSpPr txBox="1"/>
            <p:nvPr/>
          </p:nvSpPr>
          <p:spPr>
            <a:xfrm>
              <a:off x="6507480" y="5084888"/>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cxnSp>
        <p:nvCxnSpPr>
          <p:cNvPr id="916" name="Google Shape;916;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7" name="Google Shape;917;p87"/>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Who Walks Farther?</a:t>
            </a:r>
            <a:endParaRPr b="0" i="0" sz="1400" u="none" cap="none" strike="noStrike">
              <a:solidFill>
                <a:srgbClr val="000000"/>
              </a:solidFill>
              <a:latin typeface="Arial"/>
              <a:ea typeface="Arial"/>
              <a:cs typeface="Arial"/>
              <a:sym typeface="Arial"/>
            </a:endParaRPr>
          </a:p>
        </p:txBody>
      </p:sp>
      <p:sp>
        <p:nvSpPr>
          <p:cNvPr id="918" name="Google Shape;918;p87"/>
          <p:cNvSpPr txBox="1"/>
          <p:nvPr/>
        </p:nvSpPr>
        <p:spPr>
          <a:xfrm>
            <a:off x="485999" y="936000"/>
            <a:ext cx="7456998" cy="26896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Miguel will walk from the high school to the town hall. Shanice will walk from the high school to the soccer fields. The grid shows a map of the town, where each unit labeled on the grid represents one kilometer. Who will walk farther?</a:t>
            </a:r>
            <a:endParaRPr b="0" i="0" sz="1400" u="none" cap="none" strike="noStrike">
              <a:solidFill>
                <a:srgbClr val="000000"/>
              </a:solidFill>
              <a:latin typeface="Arial"/>
              <a:ea typeface="Arial"/>
              <a:cs typeface="Arial"/>
              <a:sym typeface="Arial"/>
            </a:endParaRPr>
          </a:p>
        </p:txBody>
      </p:sp>
      <p:sp>
        <p:nvSpPr>
          <p:cNvPr id="919" name="Google Shape;919;p87"/>
          <p:cNvSpPr/>
          <p:nvPr/>
        </p:nvSpPr>
        <p:spPr>
          <a:xfrm>
            <a:off x="460277" y="3979897"/>
            <a:ext cx="748271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need to know to determine who will walk farther?</a:t>
            </a:r>
            <a:endParaRPr b="0" i="0" sz="2800" u="none" cap="none" strike="noStrike">
              <a:solidFill>
                <a:schemeClr val="dk1"/>
              </a:solidFill>
              <a:latin typeface="Arial"/>
              <a:ea typeface="Arial"/>
              <a:cs typeface="Arial"/>
              <a:sym typeface="Arial"/>
            </a:endParaRPr>
          </a:p>
        </p:txBody>
      </p:sp>
      <p:sp>
        <p:nvSpPr>
          <p:cNvPr id="920" name="Google Shape;920;p87"/>
          <p:cNvSpPr txBox="1"/>
          <p:nvPr/>
        </p:nvSpPr>
        <p:spPr>
          <a:xfrm>
            <a:off x="456529" y="5149096"/>
            <a:ext cx="8888440" cy="11386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know the distance each person will walk.</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921" name="Google Shape;921;p87"/>
          <p:cNvPicPr preferRelativeResize="0"/>
          <p:nvPr/>
        </p:nvPicPr>
        <p:blipFill rotWithShape="1">
          <a:blip r:embed="rId3">
            <a:alphaModFix/>
          </a:blip>
          <a:srcRect b="0" l="0" r="0" t="0"/>
          <a:stretch/>
        </p:blipFill>
        <p:spPr>
          <a:xfrm>
            <a:off x="8116152" y="1423090"/>
            <a:ext cx="3420000" cy="3420000"/>
          </a:xfrm>
          <a:prstGeom prst="rect">
            <a:avLst/>
          </a:prstGeom>
          <a:noFill/>
          <a:ln>
            <a:noFill/>
          </a:ln>
        </p:spPr>
      </p:pic>
      <p:sp>
        <p:nvSpPr>
          <p:cNvPr id="92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55</a:t>
            </a:r>
          </a:p>
        </p:txBody>
      </p:sp>
      <p:sp>
        <p:nvSpPr>
          <p:cNvPr id="923" name="EWL-COVER-1"/>
          <p:cNvSpPr/>
          <p:nvPr/>
        </p:nvSpPr>
        <p:spPr>
          <a:xfrm>
            <a:off x="401665" y="5094232"/>
            <a:ext cx="8998168" cy="1248359"/>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cxnSp>
        <p:nvCxnSpPr>
          <p:cNvPr id="939" name="Google Shape;939;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0" name="Google Shape;940;p89"/>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Who Walks Farther?</a:t>
            </a:r>
            <a:endParaRPr b="0" i="0" sz="1400" u="none" cap="none" strike="noStrike">
              <a:solidFill>
                <a:srgbClr val="000000"/>
              </a:solidFill>
              <a:latin typeface="Arial"/>
              <a:ea typeface="Arial"/>
              <a:cs typeface="Arial"/>
              <a:sym typeface="Arial"/>
            </a:endParaRPr>
          </a:p>
        </p:txBody>
      </p:sp>
      <p:sp>
        <p:nvSpPr>
          <p:cNvPr id="941" name="Google Shape;941;p89"/>
          <p:cNvSpPr txBox="1"/>
          <p:nvPr/>
        </p:nvSpPr>
        <p:spPr>
          <a:xfrm>
            <a:off x="485999" y="935999"/>
            <a:ext cx="6870143" cy="5369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determine how far Miguel will walk.</a:t>
            </a:r>
            <a:endParaRPr b="0" i="0" sz="1400" u="none" cap="none" strike="noStrike">
              <a:solidFill>
                <a:srgbClr val="000000"/>
              </a:solidFill>
              <a:latin typeface="Arial"/>
              <a:ea typeface="Arial"/>
              <a:cs typeface="Arial"/>
              <a:sym typeface="Arial"/>
            </a:endParaRPr>
          </a:p>
        </p:txBody>
      </p:sp>
      <p:sp>
        <p:nvSpPr>
          <p:cNvPr id="942" name="Google Shape;942;p89"/>
          <p:cNvSpPr txBox="1"/>
          <p:nvPr/>
        </p:nvSpPr>
        <p:spPr>
          <a:xfrm>
            <a:off x="464013" y="1583632"/>
            <a:ext cx="664632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Miguel will walk from the high school to the town hall.</a:t>
            </a:r>
            <a:endParaRPr b="1" i="0" sz="2800" u="none" cap="none" strike="noStrike">
              <a:solidFill>
                <a:schemeClr val="dk1"/>
              </a:solidFill>
              <a:latin typeface="Arial"/>
              <a:ea typeface="Arial"/>
              <a:cs typeface="Arial"/>
              <a:sym typeface="Arial"/>
            </a:endParaRPr>
          </a:p>
        </p:txBody>
      </p:sp>
      <p:sp>
        <p:nvSpPr>
          <p:cNvPr id="943" name="Google Shape;943;p89"/>
          <p:cNvSpPr txBox="1"/>
          <p:nvPr/>
        </p:nvSpPr>
        <p:spPr>
          <a:xfrm>
            <a:off x="489522" y="4883678"/>
            <a:ext cx="7241430" cy="1435235"/>
          </a:xfrm>
          <a:prstGeom prst="rect">
            <a:avLst/>
          </a:prstGeom>
          <a:blipFill rotWithShape="1">
            <a:blip r:embed="rId3">
              <a:alphaModFix/>
            </a:blip>
            <a:stretch>
              <a:fillRect b="-12287" l="-1684" r="-1011" t="-423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44" name="Google Shape;944;p89"/>
          <p:cNvSpPr/>
          <p:nvPr/>
        </p:nvSpPr>
        <p:spPr>
          <a:xfrm>
            <a:off x="489511" y="2537739"/>
            <a:ext cx="3503395" cy="523220"/>
          </a:xfrm>
          <a:prstGeom prst="rect">
            <a:avLst/>
          </a:prstGeom>
          <a:blipFill rotWithShape="1">
            <a:blip r:embed="rId4">
              <a:alphaModFix/>
            </a:blip>
            <a:stretch>
              <a:fillRect b="-31395" l="-3478"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45" name="Google Shape;945;p89"/>
          <p:cNvSpPr/>
          <p:nvPr/>
        </p:nvSpPr>
        <p:spPr>
          <a:xfrm>
            <a:off x="531253" y="3232458"/>
            <a:ext cx="3663952" cy="523220"/>
          </a:xfrm>
          <a:prstGeom prst="rect">
            <a:avLst/>
          </a:prstGeom>
          <a:blipFill rotWithShape="1">
            <a:blip r:embed="rId5">
              <a:alphaModFix/>
            </a:blip>
            <a:stretch>
              <a:fillRect b="-31395" l="-3328" r="-5324"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46" name="Google Shape;946;p89"/>
          <p:cNvSpPr/>
          <p:nvPr/>
        </p:nvSpPr>
        <p:spPr>
          <a:xfrm>
            <a:off x="465810" y="3851212"/>
            <a:ext cx="769217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locations of the high school and the town hall?</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947" name="Google Shape;947;p89"/>
          <p:cNvPicPr preferRelativeResize="0"/>
          <p:nvPr/>
        </p:nvPicPr>
        <p:blipFill rotWithShape="1">
          <a:blip r:embed="rId6">
            <a:alphaModFix/>
          </a:blip>
          <a:srcRect b="0" l="0" r="0" t="0"/>
          <a:stretch/>
        </p:blipFill>
        <p:spPr>
          <a:xfrm>
            <a:off x="8116152" y="1423090"/>
            <a:ext cx="3420000" cy="3420000"/>
          </a:xfrm>
          <a:prstGeom prst="rect">
            <a:avLst/>
          </a:prstGeom>
          <a:noFill/>
          <a:ln>
            <a:noFill/>
          </a:ln>
        </p:spPr>
      </p:pic>
      <p:sp>
        <p:nvSpPr>
          <p:cNvPr id="9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55</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cxnSp>
        <p:nvCxnSpPr>
          <p:cNvPr id="964" name="Google Shape;964;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5" name="Google Shape;965;p91"/>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Who Walks Farther?</a:t>
            </a:r>
            <a:endParaRPr b="0" i="0" sz="1400" u="none" cap="none" strike="noStrike">
              <a:solidFill>
                <a:srgbClr val="000000"/>
              </a:solidFill>
              <a:latin typeface="Arial"/>
              <a:ea typeface="Arial"/>
              <a:cs typeface="Arial"/>
              <a:sym typeface="Arial"/>
            </a:endParaRPr>
          </a:p>
        </p:txBody>
      </p:sp>
      <p:sp>
        <p:nvSpPr>
          <p:cNvPr id="966" name="Google Shape;966;p91"/>
          <p:cNvSpPr txBox="1"/>
          <p:nvPr/>
        </p:nvSpPr>
        <p:spPr>
          <a:xfrm>
            <a:off x="489522" y="4883678"/>
            <a:ext cx="7241430" cy="1435235"/>
          </a:xfrm>
          <a:prstGeom prst="rect">
            <a:avLst/>
          </a:prstGeom>
          <a:blipFill rotWithShape="1">
            <a:blip r:embed="rId3">
              <a:alphaModFix/>
            </a:blip>
            <a:stretch>
              <a:fillRect b="0" l="-1684" r="0" t="-423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7" name="Google Shape;967;p91"/>
          <p:cNvSpPr/>
          <p:nvPr/>
        </p:nvSpPr>
        <p:spPr>
          <a:xfrm>
            <a:off x="489511" y="2537739"/>
            <a:ext cx="3503395" cy="523220"/>
          </a:xfrm>
          <a:prstGeom prst="rect">
            <a:avLst/>
          </a:prstGeom>
          <a:blipFill rotWithShape="1">
            <a:blip r:embed="rId4">
              <a:alphaModFix/>
            </a:blip>
            <a:stretch>
              <a:fillRect b="-31395" l="-3478"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8" name="Google Shape;968;p91"/>
          <p:cNvSpPr/>
          <p:nvPr/>
        </p:nvSpPr>
        <p:spPr>
          <a:xfrm>
            <a:off x="531253" y="3232458"/>
            <a:ext cx="3663952" cy="523220"/>
          </a:xfrm>
          <a:prstGeom prst="rect">
            <a:avLst/>
          </a:prstGeom>
          <a:blipFill rotWithShape="1">
            <a:blip r:embed="rId5">
              <a:alphaModFix/>
            </a:blip>
            <a:stretch>
              <a:fillRect b="-31395" l="-3328" r="-5324"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9" name="Google Shape;969;p91"/>
          <p:cNvSpPr/>
          <p:nvPr/>
        </p:nvSpPr>
        <p:spPr>
          <a:xfrm>
            <a:off x="465811" y="3851212"/>
            <a:ext cx="7265142"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the coordinates to find the distance between the two points? </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24274fd53d76418b88781c36f44c24e4\narm24_c10706_se_007a-dig-eps.png" id="970" name="Google Shape;970;p91"/>
          <p:cNvPicPr preferRelativeResize="0"/>
          <p:nvPr/>
        </p:nvPicPr>
        <p:blipFill rotWithShape="1">
          <a:blip r:embed="rId6">
            <a:alphaModFix/>
          </a:blip>
          <a:srcRect b="0" l="0" r="0" t="0"/>
          <a:stretch/>
        </p:blipFill>
        <p:spPr>
          <a:xfrm>
            <a:off x="8157983" y="1485900"/>
            <a:ext cx="3492000" cy="3492000"/>
          </a:xfrm>
          <a:prstGeom prst="rect">
            <a:avLst/>
          </a:prstGeom>
          <a:noFill/>
          <a:ln>
            <a:noFill/>
          </a:ln>
        </p:spPr>
      </p:pic>
      <p:sp>
        <p:nvSpPr>
          <p:cNvPr id="971" name="Google Shape;971;p91"/>
          <p:cNvSpPr txBox="1"/>
          <p:nvPr/>
        </p:nvSpPr>
        <p:spPr>
          <a:xfrm>
            <a:off x="485999" y="935999"/>
            <a:ext cx="6870143" cy="1354714"/>
          </a:xfrm>
          <a:prstGeom prst="rect">
            <a:avLst/>
          </a:prstGeom>
          <a:blipFill rotWithShape="1">
            <a:blip r:embed="rId7">
              <a:alphaModFix/>
            </a:blip>
            <a:stretch>
              <a:fillRect b="0" l="-1863" r="0" t="-49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55</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cxnSp>
        <p:nvCxnSpPr>
          <p:cNvPr id="976" name="Google Shape;976;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7" name="Google Shape;977;p92"/>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Who Walks Farther?</a:t>
            </a:r>
            <a:endParaRPr b="0" i="0" sz="1400" u="none" cap="none" strike="noStrike">
              <a:solidFill>
                <a:srgbClr val="000000"/>
              </a:solidFill>
              <a:latin typeface="Arial"/>
              <a:ea typeface="Arial"/>
              <a:cs typeface="Arial"/>
              <a:sym typeface="Arial"/>
            </a:endParaRPr>
          </a:p>
        </p:txBody>
      </p:sp>
      <p:sp>
        <p:nvSpPr>
          <p:cNvPr id="978" name="Google Shape;978;p92"/>
          <p:cNvSpPr txBox="1"/>
          <p:nvPr/>
        </p:nvSpPr>
        <p:spPr>
          <a:xfrm>
            <a:off x="486000" y="936000"/>
            <a:ext cx="5819266" cy="11111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 xml:space="preserve">Let’s add the absolute values of the </a:t>
            </a:r>
            <a:r>
              <a:rPr b="0" i="1" lang="en-US" sz="2800" u="none" cap="none" strike="noStrike">
                <a:solidFill>
                  <a:schemeClr val="dk1"/>
                </a:solidFill>
                <a:latin typeface="Arial"/>
                <a:ea typeface="Arial"/>
                <a:cs typeface="Arial"/>
                <a:sym typeface="Arial"/>
              </a:rPr>
              <a:t>y</a:t>
            </a:r>
            <a:r>
              <a:rPr b="0" i="0" lang="en-US" sz="2800" u="none" cap="none" strike="noStrike">
                <a:solidFill>
                  <a:schemeClr val="dk1"/>
                </a:solidFill>
                <a:latin typeface="Arial"/>
                <a:ea typeface="Arial"/>
                <a:cs typeface="Arial"/>
                <a:sym typeface="Arial"/>
              </a:rPr>
              <a:t>-coordinates.  </a:t>
            </a:r>
            <a:endParaRPr b="0" i="0" sz="1400" u="none" cap="none" strike="noStrike">
              <a:solidFill>
                <a:srgbClr val="000000"/>
              </a:solidFill>
              <a:latin typeface="Arial"/>
              <a:ea typeface="Arial"/>
              <a:cs typeface="Arial"/>
              <a:sym typeface="Arial"/>
            </a:endParaRPr>
          </a:p>
        </p:txBody>
      </p:sp>
      <p:sp>
        <p:nvSpPr>
          <p:cNvPr id="979" name="Google Shape;979;p92"/>
          <p:cNvSpPr txBox="1"/>
          <p:nvPr/>
        </p:nvSpPr>
        <p:spPr>
          <a:xfrm>
            <a:off x="519606" y="3538752"/>
            <a:ext cx="537672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Miguel will walk 4.5 kilometers.</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38067ef9acfd4fa2abb05893b7060016\narm24_c10706_esp_005a.png" id="980" name="Google Shape;980;p92"/>
          <p:cNvPicPr preferRelativeResize="0"/>
          <p:nvPr/>
        </p:nvPicPr>
        <p:blipFill rotWithShape="1">
          <a:blip r:embed="rId3">
            <a:alphaModFix/>
          </a:blip>
          <a:srcRect b="0" l="0" r="0" t="0"/>
          <a:stretch/>
        </p:blipFill>
        <p:spPr>
          <a:xfrm>
            <a:off x="519606" y="2292824"/>
            <a:ext cx="3024000" cy="1080000"/>
          </a:xfrm>
          <a:prstGeom prst="rect">
            <a:avLst/>
          </a:prstGeom>
          <a:noFill/>
          <a:ln>
            <a:noFill/>
          </a:ln>
        </p:spPr>
      </p:pic>
      <p:sp>
        <p:nvSpPr>
          <p:cNvPr id="981" name="Google Shape;981;p92"/>
          <p:cNvSpPr txBox="1"/>
          <p:nvPr/>
        </p:nvSpPr>
        <p:spPr>
          <a:xfrm>
            <a:off x="534117" y="4303930"/>
            <a:ext cx="7354289" cy="19467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24274fd53d76418b88781c36f44c24e4\narm24_c10706_se_007a-dig-eps.png" id="982" name="Google Shape;982;p92"/>
          <p:cNvPicPr preferRelativeResize="0"/>
          <p:nvPr/>
        </p:nvPicPr>
        <p:blipFill rotWithShape="1">
          <a:blip r:embed="rId4">
            <a:alphaModFix/>
          </a:blip>
          <a:srcRect b="0" l="0" r="0" t="0"/>
          <a:stretch/>
        </p:blipFill>
        <p:spPr>
          <a:xfrm>
            <a:off x="7888406" y="1516259"/>
            <a:ext cx="3492000" cy="3492000"/>
          </a:xfrm>
          <a:prstGeom prst="rect">
            <a:avLst/>
          </a:prstGeom>
          <a:noFill/>
          <a:ln>
            <a:noFill/>
          </a:ln>
        </p:spPr>
      </p:pic>
      <p:sp>
        <p:nvSpPr>
          <p:cNvPr id="9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55</a:t>
            </a:r>
          </a:p>
        </p:txBody>
      </p:sp>
      <p:grpSp>
        <p:nvGrpSpPr>
          <p:cNvPr id="984" name="TEACH-3-student-move" descr="TEACH 3 · Use intentional questioning to deepen learning"/>
          <p:cNvGrpSpPr/>
          <p:nvPr/>
        </p:nvGrpSpPr>
        <p:grpSpPr>
          <a:xfrm>
            <a:off x="502920" y="5472790"/>
            <a:ext cx="11186160" cy="402336"/>
            <a:chOff x="502920" y="5472790"/>
            <a:chExt cx="11186160" cy="402336"/>
          </a:xfrm>
        </p:grpSpPr>
        <p:sp>
          <p:nvSpPr>
            <p:cNvPr id="985"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86"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87"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cxnSp>
        <p:nvCxnSpPr>
          <p:cNvPr id="987" name="Google Shape;987;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8" name="Google Shape;988;p93"/>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Who Walks Farther?</a:t>
            </a:r>
            <a:endParaRPr b="0" i="0" sz="1400" u="none" cap="none" strike="noStrike">
              <a:solidFill>
                <a:srgbClr val="000000"/>
              </a:solidFill>
              <a:latin typeface="Arial"/>
              <a:ea typeface="Arial"/>
              <a:cs typeface="Arial"/>
              <a:sym typeface="Arial"/>
            </a:endParaRPr>
          </a:p>
        </p:txBody>
      </p:sp>
      <p:sp>
        <p:nvSpPr>
          <p:cNvPr id="989" name="Google Shape;989;p93"/>
          <p:cNvSpPr txBox="1"/>
          <p:nvPr/>
        </p:nvSpPr>
        <p:spPr>
          <a:xfrm>
            <a:off x="486000" y="936000"/>
            <a:ext cx="5819266" cy="11111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 xml:space="preserve">Let’s add the absolute values of the </a:t>
            </a:r>
            <a:r>
              <a:rPr b="0" i="1" lang="en-US" sz="2800" u="none" cap="none" strike="noStrike">
                <a:solidFill>
                  <a:schemeClr val="dk1"/>
                </a:solidFill>
                <a:latin typeface="Arial"/>
                <a:ea typeface="Arial"/>
                <a:cs typeface="Arial"/>
                <a:sym typeface="Arial"/>
              </a:rPr>
              <a:t>y</a:t>
            </a:r>
            <a:r>
              <a:rPr b="0" i="0" lang="en-US" sz="2800" u="none" cap="none" strike="noStrike">
                <a:solidFill>
                  <a:schemeClr val="dk1"/>
                </a:solidFill>
                <a:latin typeface="Arial"/>
                <a:ea typeface="Arial"/>
                <a:cs typeface="Arial"/>
                <a:sym typeface="Arial"/>
              </a:rPr>
              <a:t>-coordinates.  </a:t>
            </a:r>
            <a:endParaRPr b="0" i="0" sz="1400" u="none" cap="none" strike="noStrike">
              <a:solidFill>
                <a:srgbClr val="000000"/>
              </a:solidFill>
              <a:latin typeface="Arial"/>
              <a:ea typeface="Arial"/>
              <a:cs typeface="Arial"/>
              <a:sym typeface="Arial"/>
            </a:endParaRPr>
          </a:p>
        </p:txBody>
      </p:sp>
      <p:sp>
        <p:nvSpPr>
          <p:cNvPr id="990" name="Google Shape;990;p93"/>
          <p:cNvSpPr txBox="1"/>
          <p:nvPr/>
        </p:nvSpPr>
        <p:spPr>
          <a:xfrm>
            <a:off x="519606" y="3538752"/>
            <a:ext cx="537672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Miguel will walk 4.5 kilometers.</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38067ef9acfd4fa2abb05893b7060016\narm24_c10706_esp_005a.png" id="991" name="Google Shape;991;p93"/>
          <p:cNvPicPr preferRelativeResize="0"/>
          <p:nvPr/>
        </p:nvPicPr>
        <p:blipFill rotWithShape="1">
          <a:blip r:embed="rId3">
            <a:alphaModFix/>
          </a:blip>
          <a:srcRect b="0" l="0" r="0" t="0"/>
          <a:stretch/>
        </p:blipFill>
        <p:spPr>
          <a:xfrm>
            <a:off x="519606" y="2292824"/>
            <a:ext cx="3024000" cy="1080000"/>
          </a:xfrm>
          <a:prstGeom prst="rect">
            <a:avLst/>
          </a:prstGeom>
          <a:noFill/>
          <a:ln>
            <a:noFill/>
          </a:ln>
        </p:spPr>
      </p:pic>
      <p:sp>
        <p:nvSpPr>
          <p:cNvPr id="992" name="Google Shape;992;p93"/>
          <p:cNvSpPr txBox="1"/>
          <p:nvPr/>
        </p:nvSpPr>
        <p:spPr>
          <a:xfrm>
            <a:off x="534117" y="4303930"/>
            <a:ext cx="7354289" cy="19467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What generalization can you make about which coordinates to add or subtract when finding the distance between two points?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24274fd53d76418b88781c36f44c24e4\narm24_c10706_se_007a-dig-eps.png" id="993" name="Google Shape;993;p93"/>
          <p:cNvPicPr preferRelativeResize="0"/>
          <p:nvPr/>
        </p:nvPicPr>
        <p:blipFill rotWithShape="1">
          <a:blip r:embed="rId4">
            <a:alphaModFix/>
          </a:blip>
          <a:srcRect b="0" l="0" r="0" t="0"/>
          <a:stretch/>
        </p:blipFill>
        <p:spPr>
          <a:xfrm>
            <a:off x="7888406" y="1516259"/>
            <a:ext cx="3492000" cy="3492000"/>
          </a:xfrm>
          <a:prstGeom prst="rect">
            <a:avLst/>
          </a:prstGeom>
          <a:noFill/>
          <a:ln>
            <a:noFill/>
          </a:ln>
        </p:spPr>
      </p:pic>
      <p:sp>
        <p:nvSpPr>
          <p:cNvPr id="9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55</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cxnSp>
        <p:nvCxnSpPr>
          <p:cNvPr id="1011" name="Google Shape;1011;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2" name="Google Shape;1012;p95"/>
          <p:cNvSpPr txBox="1"/>
          <p:nvPr/>
        </p:nvSpPr>
        <p:spPr>
          <a:xfrm>
            <a:off x="484565" y="936100"/>
            <a:ext cx="6980760" cy="14932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Shanice will walk from the high school to the soccer fields. Each unit labeled on the grid represents one kilometer.</a:t>
            </a:r>
            <a:endParaRPr b="0" i="0" sz="1400" u="none" cap="none" strike="noStrike">
              <a:solidFill>
                <a:srgbClr val="000000"/>
              </a:solidFill>
              <a:latin typeface="Arial"/>
              <a:ea typeface="Arial"/>
              <a:cs typeface="Arial"/>
              <a:sym typeface="Arial"/>
            </a:endParaRPr>
          </a:p>
        </p:txBody>
      </p:sp>
      <p:sp>
        <p:nvSpPr>
          <p:cNvPr id="1013" name="Google Shape;1013;p95"/>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1014" name="Google Shape;1014;p95"/>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1015" name="Google Shape;1015;p95"/>
          <p:cNvSpPr/>
          <p:nvPr/>
        </p:nvSpPr>
        <p:spPr>
          <a:xfrm>
            <a:off x="486000" y="2523305"/>
            <a:ext cx="3503395" cy="523220"/>
          </a:xfrm>
          <a:prstGeom prst="rect">
            <a:avLst/>
          </a:prstGeom>
          <a:blipFill rotWithShape="1">
            <a:blip r:embed="rId4">
              <a:alphaModFix/>
            </a:blip>
            <a:stretch>
              <a:fillRect b="-31395" l="-3659" r="0" t="-127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16" name="Google Shape;1016;p95"/>
          <p:cNvSpPr/>
          <p:nvPr/>
        </p:nvSpPr>
        <p:spPr>
          <a:xfrm>
            <a:off x="483690" y="3182498"/>
            <a:ext cx="3742243" cy="523220"/>
          </a:xfrm>
          <a:prstGeom prst="rect">
            <a:avLst/>
          </a:prstGeom>
          <a:blipFill rotWithShape="1">
            <a:blip r:embed="rId5">
              <a:alphaModFix/>
            </a:blip>
            <a:stretch>
              <a:fillRect b="-31395" l="-3257"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17" name="Google Shape;1017;p95"/>
          <p:cNvSpPr/>
          <p:nvPr/>
        </p:nvSpPr>
        <p:spPr>
          <a:xfrm>
            <a:off x="486000" y="4009717"/>
            <a:ext cx="631058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far did Shanice walk? Explain your reasoning. </a:t>
            </a:r>
            <a:endParaRPr b="0" i="0" sz="2800" u="none" cap="none" strike="noStrike">
              <a:solidFill>
                <a:schemeClr val="dk1"/>
              </a:solidFill>
              <a:latin typeface="Arial"/>
              <a:ea typeface="Arial"/>
              <a:cs typeface="Arial"/>
              <a:sym typeface="Arial"/>
            </a:endParaRPr>
          </a:p>
        </p:txBody>
      </p:sp>
      <p:sp>
        <p:nvSpPr>
          <p:cNvPr id="1018" name="Google Shape;1018;p95"/>
          <p:cNvSpPr txBox="1"/>
          <p:nvPr/>
        </p:nvSpPr>
        <p:spPr>
          <a:xfrm>
            <a:off x="483689" y="5180148"/>
            <a:ext cx="9083391" cy="1111470"/>
          </a:xfrm>
          <a:prstGeom prst="rect">
            <a:avLst/>
          </a:prstGeom>
          <a:blipFill rotWithShape="1">
            <a:blip r:embed="rId6">
              <a:alphaModFix/>
            </a:blip>
            <a:stretch>
              <a:fillRect b="-7143" l="-1342" r="-1678" t="-604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1019" name="Google Shape;1019;p95"/>
          <p:cNvPicPr preferRelativeResize="0"/>
          <p:nvPr/>
        </p:nvPicPr>
        <p:blipFill rotWithShape="1">
          <a:blip r:embed="rId7">
            <a:alphaModFix/>
          </a:blip>
          <a:srcRect b="0" l="0" r="0" t="0"/>
          <a:stretch/>
        </p:blipFill>
        <p:spPr>
          <a:xfrm>
            <a:off x="8116152" y="1423090"/>
            <a:ext cx="3600000" cy="3600000"/>
          </a:xfrm>
          <a:prstGeom prst="rect">
            <a:avLst/>
          </a:prstGeom>
          <a:noFill/>
          <a:ln>
            <a:noFill/>
          </a:ln>
        </p:spPr>
      </p:pic>
      <p:sp>
        <p:nvSpPr>
          <p:cNvPr id="102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55</a:t>
            </a:r>
          </a:p>
        </p:txBody>
      </p:sp>
      <p:sp>
        <p:nvSpPr>
          <p:cNvPr id="102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cxnSp>
        <p:nvCxnSpPr>
          <p:cNvPr id="1035" name="Google Shape;1035;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6" name="Google Shape;1036;p97"/>
          <p:cNvSpPr txBox="1"/>
          <p:nvPr/>
        </p:nvSpPr>
        <p:spPr>
          <a:xfrm>
            <a:off x="486000" y="936001"/>
            <a:ext cx="6574676" cy="5516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find how far Shanice will walk.</a:t>
            </a:r>
            <a:endParaRPr b="1" i="0" sz="2800" u="none" cap="none" strike="noStrike">
              <a:solidFill>
                <a:schemeClr val="dk1"/>
              </a:solidFill>
              <a:latin typeface="Arial"/>
              <a:ea typeface="Arial"/>
              <a:cs typeface="Arial"/>
              <a:sym typeface="Arial"/>
            </a:endParaRPr>
          </a:p>
        </p:txBody>
      </p:sp>
      <p:sp>
        <p:nvSpPr>
          <p:cNvPr id="1037" name="Google Shape;1037;p97"/>
          <p:cNvSpPr/>
          <p:nvPr/>
        </p:nvSpPr>
        <p:spPr>
          <a:xfrm>
            <a:off x="438827" y="245401"/>
            <a:ext cx="364503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782DA0"/>
                </a:solidFill>
                <a:latin typeface="Arial"/>
                <a:ea typeface="Arial"/>
                <a:cs typeface="Arial"/>
                <a:sym typeface="Arial"/>
              </a:rPr>
              <a:t>Who Walks Farther?</a:t>
            </a:r>
            <a:endParaRPr b="0" i="0" sz="1400" u="none" cap="none" strike="noStrike">
              <a:solidFill>
                <a:srgbClr val="000000"/>
              </a:solidFill>
              <a:latin typeface="Arial"/>
              <a:ea typeface="Arial"/>
              <a:cs typeface="Arial"/>
              <a:sym typeface="Arial"/>
            </a:endParaRPr>
          </a:p>
        </p:txBody>
      </p:sp>
      <p:sp>
        <p:nvSpPr>
          <p:cNvPr id="1038" name="Google Shape;1038;p97"/>
          <p:cNvSpPr/>
          <p:nvPr/>
        </p:nvSpPr>
        <p:spPr>
          <a:xfrm>
            <a:off x="438826" y="1553570"/>
            <a:ext cx="673989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 xml:space="preserve">We can subtract the absolute values of the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-coordinates because the points are in the same quadrant.</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3220c0ec2fa4470580ef3b2f6abe6bb4\narm24_c10706_esp_006a.png" id="1039" name="Google Shape;1039;p97"/>
          <p:cNvPicPr preferRelativeResize="0"/>
          <p:nvPr/>
        </p:nvPicPr>
        <p:blipFill rotWithShape="1">
          <a:blip r:embed="rId3">
            <a:alphaModFix/>
          </a:blip>
          <a:srcRect b="0" l="0" r="0" t="0"/>
          <a:stretch/>
        </p:blipFill>
        <p:spPr>
          <a:xfrm>
            <a:off x="486000" y="3331887"/>
            <a:ext cx="3168000" cy="1080000"/>
          </a:xfrm>
          <a:prstGeom prst="rect">
            <a:avLst/>
          </a:prstGeom>
          <a:noFill/>
          <a:ln>
            <a:noFill/>
          </a:ln>
        </p:spPr>
      </p:pic>
      <p:sp>
        <p:nvSpPr>
          <p:cNvPr id="1040" name="Google Shape;1040;p97"/>
          <p:cNvSpPr txBox="1"/>
          <p:nvPr/>
        </p:nvSpPr>
        <p:spPr>
          <a:xfrm>
            <a:off x="440926" y="4664505"/>
            <a:ext cx="7133581" cy="15883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Why is it necessary to use the absolute value of coordinates when finding distance?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86f293b6ba74d81a73284d266511561\narm24_c10706_se_008a-dig.png" id="1041" name="Google Shape;1041;p97"/>
          <p:cNvPicPr preferRelativeResize="0"/>
          <p:nvPr/>
        </p:nvPicPr>
        <p:blipFill rotWithShape="1">
          <a:blip r:embed="rId4">
            <a:alphaModFix/>
          </a:blip>
          <a:srcRect b="0" l="0" r="0" t="0"/>
          <a:stretch/>
        </p:blipFill>
        <p:spPr>
          <a:xfrm>
            <a:off x="7874757" y="1553570"/>
            <a:ext cx="3600000" cy="3608802"/>
          </a:xfrm>
          <a:prstGeom prst="rect">
            <a:avLst/>
          </a:prstGeom>
          <a:noFill/>
          <a:ln>
            <a:noFill/>
          </a:ln>
        </p:spPr>
      </p:pic>
      <p:sp>
        <p:nvSpPr>
          <p:cNvPr id="10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55</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cxnSp>
        <p:nvCxnSpPr>
          <p:cNvPr id="1056" name="Google Shape;1056;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7" name="Google Shape;1057;p99"/>
          <p:cNvSpPr txBox="1"/>
          <p:nvPr/>
        </p:nvSpPr>
        <p:spPr>
          <a:xfrm>
            <a:off x="486000" y="936001"/>
            <a:ext cx="6574676" cy="10019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Miguel will walk 4.5 kilometers. Shanice will walk 4 kilometers.</a:t>
            </a:r>
            <a:endParaRPr b="1" i="0" sz="2800" u="none" cap="none" strike="noStrike">
              <a:solidFill>
                <a:schemeClr val="dk1"/>
              </a:solidFill>
              <a:latin typeface="Arial"/>
              <a:ea typeface="Arial"/>
              <a:cs typeface="Arial"/>
              <a:sym typeface="Arial"/>
            </a:endParaRPr>
          </a:p>
        </p:txBody>
      </p:sp>
      <p:sp>
        <p:nvSpPr>
          <p:cNvPr id="1058" name="Google Shape;1058;p99"/>
          <p:cNvSpPr/>
          <p:nvPr/>
        </p:nvSpPr>
        <p:spPr>
          <a:xfrm>
            <a:off x="438827" y="245401"/>
            <a:ext cx="364503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82DA0"/>
                </a:solidFill>
                <a:latin typeface="Arial"/>
                <a:ea typeface="Arial"/>
                <a:cs typeface="Arial"/>
                <a:sym typeface="Arial"/>
              </a:rPr>
              <a:t>Who Walks Farther?</a:t>
            </a:r>
            <a:endParaRPr b="0" i="0" sz="1400" u="none" cap="none" strike="noStrike">
              <a:solidFill>
                <a:srgbClr val="000000"/>
              </a:solidFill>
              <a:latin typeface="Arial"/>
              <a:ea typeface="Arial"/>
              <a:cs typeface="Arial"/>
              <a:sym typeface="Arial"/>
            </a:endParaRPr>
          </a:p>
        </p:txBody>
      </p:sp>
      <p:sp>
        <p:nvSpPr>
          <p:cNvPr id="1059" name="Google Shape;1059;p99"/>
          <p:cNvSpPr/>
          <p:nvPr/>
        </p:nvSpPr>
        <p:spPr>
          <a:xfrm>
            <a:off x="438827" y="2268983"/>
            <a:ext cx="657467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determine who will walk farther?</a:t>
            </a:r>
            <a:endParaRPr b="0" i="0" sz="2800" u="none" cap="none" strike="noStrike">
              <a:solidFill>
                <a:schemeClr val="dk1"/>
              </a:solidFill>
              <a:latin typeface="Arial"/>
              <a:ea typeface="Arial"/>
              <a:cs typeface="Arial"/>
              <a:sym typeface="Arial"/>
            </a:endParaRPr>
          </a:p>
        </p:txBody>
      </p:sp>
      <p:sp>
        <p:nvSpPr>
          <p:cNvPr id="1060" name="Google Shape;1060;p99"/>
          <p:cNvSpPr txBox="1"/>
          <p:nvPr/>
        </p:nvSpPr>
        <p:spPr>
          <a:xfrm>
            <a:off x="486000" y="4364283"/>
            <a:ext cx="7418365" cy="11114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compare the distances they will walk.</a:t>
            </a:r>
            <a:endParaRPr b="1" i="0" sz="2800" u="none" cap="none" strike="noStrike">
              <a:solidFill>
                <a:srgbClr val="595959"/>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1061" name="Google Shape;1061;p99"/>
          <p:cNvPicPr preferRelativeResize="0"/>
          <p:nvPr/>
        </p:nvPicPr>
        <p:blipFill rotWithShape="1">
          <a:blip r:embed="rId3">
            <a:alphaModFix/>
          </a:blip>
          <a:srcRect b="0" l="0" r="0" t="0"/>
          <a:stretch/>
        </p:blipFill>
        <p:spPr>
          <a:xfrm>
            <a:off x="8106000" y="1320018"/>
            <a:ext cx="3600000" cy="3600000"/>
          </a:xfrm>
          <a:prstGeom prst="rect">
            <a:avLst/>
          </a:prstGeom>
          <a:noFill/>
          <a:ln>
            <a:noFill/>
          </a:ln>
        </p:spPr>
      </p:pic>
      <p:sp>
        <p:nvSpPr>
          <p:cNvPr id="10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55</a:t>
            </a:r>
          </a:p>
        </p:txBody>
      </p:sp>
      <p:sp>
        <p:nvSpPr>
          <p:cNvPr id="1063" name="EWL-COVER-1"/>
          <p:cNvSpPr/>
          <p:nvPr/>
        </p:nvSpPr>
        <p:spPr>
          <a:xfrm>
            <a:off x="431136" y="4309419"/>
            <a:ext cx="7528093" cy="1221198"/>
          </a:xfrm>
          <a:prstGeom prst="rect">
            <a:avLst/>
          </a:prstGeom>
          <a:solidFill>
            <a:srgbClr val="FFFFFF"/>
          </a:solidFill>
          <a:ln>
            <a:noFill/>
          </a:ln>
        </p:spPr>
        <p:txBody>
          <a:bodyPr/>
          <a:lstStyle/>
          <a:p/>
        </p:txBody>
      </p:sp>
      <p:sp xmlns:p="http://schemas.openxmlformats.org/presentationml/2006/main" xmlns:a="http://schemas.openxmlformats.org/drawingml/2006/main">
        <p:nvSpPr>
          <p:cNvPr id="106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cxnSp>
        <p:nvCxnSpPr>
          <p:cNvPr id="1078" name="Google Shape;1078;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9" name="Google Shape;1079;p10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80" name="Google Shape;1080;p101"/>
          <p:cNvSpPr txBox="1"/>
          <p:nvPr/>
        </p:nvSpPr>
        <p:spPr>
          <a:xfrm>
            <a:off x="484566" y="936000"/>
            <a:ext cx="7330492" cy="18072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pPr>
            <a:r>
              <a:rPr b="0" i="0" lang="en-US" sz="2800" u="none" cap="none" strike="noStrike">
                <a:solidFill>
                  <a:schemeClr val="dk1"/>
                </a:solidFill>
                <a:latin typeface="Arial"/>
                <a:ea typeface="Arial"/>
                <a:cs typeface="Arial"/>
                <a:sym typeface="Arial"/>
              </a:rPr>
              <a:t>Why did you add to find Miguel’s distance from the high school to the town hall and subtract to find Shanice’s distance from the high school to the soccer fields?</a:t>
            </a:r>
            <a:endParaRPr b="0" i="0" sz="1400" u="none" cap="none" strike="noStrike">
              <a:solidFill>
                <a:srgbClr val="000000"/>
              </a:solidFill>
              <a:latin typeface="Arial"/>
              <a:ea typeface="Arial"/>
              <a:cs typeface="Arial"/>
              <a:sym typeface="Arial"/>
            </a:endParaRPr>
          </a:p>
        </p:txBody>
      </p:sp>
      <p:sp>
        <p:nvSpPr>
          <p:cNvPr id="1081" name="Google Shape;1081;p101"/>
          <p:cNvSpPr/>
          <p:nvPr/>
        </p:nvSpPr>
        <p:spPr>
          <a:xfrm>
            <a:off x="457664" y="2867350"/>
            <a:ext cx="7349352" cy="258164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82" name="Google Shape;1082;p101"/>
          <p:cNvSpPr txBox="1"/>
          <p:nvPr/>
        </p:nvSpPr>
        <p:spPr>
          <a:xfrm>
            <a:off x="6600147" y="504005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7ee59752a7054a12bc4615bcb663fb40\narm24_c10706_se_005a-a-dig-eps.png" id="1083" name="Google Shape;1083;p101"/>
          <p:cNvPicPr preferRelativeResize="0"/>
          <p:nvPr/>
        </p:nvPicPr>
        <p:blipFill rotWithShape="1">
          <a:blip r:embed="rId3">
            <a:alphaModFix/>
          </a:blip>
          <a:srcRect b="0" l="0" r="0" t="0"/>
          <a:stretch/>
        </p:blipFill>
        <p:spPr>
          <a:xfrm>
            <a:off x="8320869" y="1620054"/>
            <a:ext cx="3420000" cy="3420000"/>
          </a:xfrm>
          <a:prstGeom prst="rect">
            <a:avLst/>
          </a:prstGeom>
          <a:noFill/>
          <a:ln>
            <a:noFill/>
          </a:ln>
        </p:spPr>
      </p:pic>
      <p:sp>
        <p:nvSpPr>
          <p:cNvPr id="10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55</a:t>
            </a:r>
          </a:p>
        </p:txBody>
      </p:sp>
      <p:sp xmlns:p="http://schemas.openxmlformats.org/presentationml/2006/main" xmlns:a="http://schemas.openxmlformats.org/drawingml/2006/main">
        <p:nvSpPr>
          <p:cNvPr id="108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7.6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adding absolute values for every pair regardless of location.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the shared coordinate and trace the axis-aligned segment through the given points.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102"/>
          <p:cNvSpPr txBox="1"/>
          <p:nvPr/>
        </p:nvSpPr>
        <p:spPr>
          <a:xfrm>
            <a:off x="486000" y="316800"/>
            <a:ext cx="6269641" cy="85667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Find Distance on the Coordinate Plane</a:t>
            </a:r>
            <a:endParaRPr b="0" i="0" sz="1400" u="none" cap="none" strike="noStrike">
              <a:solidFill>
                <a:srgbClr val="000000"/>
              </a:solidFill>
              <a:latin typeface="Arial"/>
              <a:ea typeface="Arial"/>
              <a:cs typeface="Arial"/>
              <a:sym typeface="Arial"/>
            </a:endParaRPr>
          </a:p>
        </p:txBody>
      </p:sp>
      <p:cxnSp>
        <p:nvCxnSpPr>
          <p:cNvPr id="1089" name="Google Shape;1089;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90" name="Google Shape;1090;p102"/>
          <p:cNvSpPr txBox="1"/>
          <p:nvPr/>
        </p:nvSpPr>
        <p:spPr>
          <a:xfrm>
            <a:off x="486000" y="1296000"/>
            <a:ext cx="6829200" cy="48864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You can use the coordinates and absolute value to find distances between points with the same first coordinate or the same second coordinate.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When two points are in the same quadrant, subtract the absolute values of the coordinates to determine the distance.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When the points are in different quadrants, add the absolute values of the coordinates to determine the distance.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3c9a4df2c402497b82ce519389249913\narm24_c10706_se_009a-dig-a-eps.png" id="1091" name="Google Shape;1091;p102"/>
          <p:cNvPicPr preferRelativeResize="0"/>
          <p:nvPr/>
        </p:nvPicPr>
        <p:blipFill rotWithShape="1">
          <a:blip r:embed="rId3">
            <a:alphaModFix/>
          </a:blip>
          <a:srcRect b="0" l="0" r="0" t="0"/>
          <a:stretch/>
        </p:blipFill>
        <p:spPr>
          <a:xfrm>
            <a:off x="7446401" y="2134153"/>
            <a:ext cx="4519646" cy="2520000"/>
          </a:xfrm>
          <a:prstGeom prst="rect">
            <a:avLst/>
          </a:prstGeom>
          <a:noFill/>
          <a:ln>
            <a:noFill/>
          </a:ln>
        </p:spPr>
      </p:pic>
      <p:sp>
        <p:nvSpPr>
          <p:cNvPr id="10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55</a:t>
            </a:r>
          </a:p>
        </p:txBody>
      </p:sp>
      <p:sp>
        <p:nvSpPr>
          <p:cNvPr id="109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10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Deon’s Errands</a:t>
            </a:r>
            <a:endParaRPr b="1" i="0" sz="2800" u="none" cap="none" strike="noStrike">
              <a:solidFill>
                <a:srgbClr val="7030A0"/>
              </a:solidFill>
              <a:latin typeface="Arial"/>
              <a:ea typeface="Arial"/>
              <a:cs typeface="Arial"/>
              <a:sym typeface="Arial"/>
            </a:endParaRPr>
          </a:p>
        </p:txBody>
      </p:sp>
      <p:cxnSp>
        <p:nvCxnSpPr>
          <p:cNvPr id="1097" name="Google Shape;1097;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98" name="Google Shape;1098;p103"/>
          <p:cNvSpPr txBox="1"/>
          <p:nvPr/>
        </p:nvSpPr>
        <p:spPr>
          <a:xfrm>
            <a:off x="486000" y="935999"/>
            <a:ext cx="6062284" cy="3901472"/>
          </a:xfrm>
          <a:prstGeom prst="rect">
            <a:avLst/>
          </a:prstGeom>
          <a:blipFill rotWithShape="1">
            <a:blip r:embed="rId3">
              <a:alphaModFix/>
            </a:blip>
            <a:stretch>
              <a:fillRect b="-3281" l="-2112" r="-2414" t="-17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51cae5fd9ba41f0b48cf36b42e39f5f\narm24_c10706_se_010a-dig.png" id="1099" name="Google Shape;1099;p103"/>
          <p:cNvPicPr preferRelativeResize="0"/>
          <p:nvPr/>
        </p:nvPicPr>
        <p:blipFill rotWithShape="1">
          <a:blip r:embed="rId4">
            <a:alphaModFix/>
          </a:blip>
          <a:srcRect b="0" l="0" r="0" t="0"/>
          <a:stretch/>
        </p:blipFill>
        <p:spPr>
          <a:xfrm>
            <a:off x="9303985" y="1384912"/>
            <a:ext cx="2709619" cy="2736000"/>
          </a:xfrm>
          <a:prstGeom prst="rect">
            <a:avLst/>
          </a:prstGeom>
          <a:noFill/>
          <a:ln>
            <a:noFill/>
          </a:ln>
        </p:spPr>
      </p:pic>
      <p:pic>
        <p:nvPicPr>
          <p:cNvPr descr="C:\Users\HP\Desktop\Grade_6_Unit_7-20230217T053830Z-001\Grade_6_Unit_7\OPS\img\.assets\ba0282bd770d409cbbba8567ce7d9356\narm24_c10706_esp_003a.png" id="1100" name="Google Shape;1100;p103"/>
          <p:cNvPicPr preferRelativeResize="0"/>
          <p:nvPr/>
        </p:nvPicPr>
        <p:blipFill rotWithShape="1">
          <a:blip r:embed="rId5">
            <a:alphaModFix/>
          </a:blip>
          <a:srcRect b="0" l="0" r="0" t="0"/>
          <a:stretch/>
        </p:blipFill>
        <p:spPr>
          <a:xfrm>
            <a:off x="6548282" y="3847097"/>
            <a:ext cx="2582484" cy="2520000"/>
          </a:xfrm>
          <a:prstGeom prst="rect">
            <a:avLst/>
          </a:prstGeom>
          <a:noFill/>
          <a:ln>
            <a:noFill/>
          </a:ln>
        </p:spPr>
      </p:pic>
      <p:sp>
        <p:nvSpPr>
          <p:cNvPr id="1101" name="Google Shape;1101;p103"/>
          <p:cNvSpPr/>
          <p:nvPr/>
        </p:nvSpPr>
        <p:spPr>
          <a:xfrm>
            <a:off x="425184" y="5221082"/>
            <a:ext cx="561143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Question:</a:t>
            </a:r>
            <a:r>
              <a:rPr b="0" i="0" lang="en-US" sz="2800" u="none" cap="none" strike="noStrike">
                <a:solidFill>
                  <a:schemeClr val="dk1"/>
                </a:solidFill>
                <a:latin typeface="Arial"/>
                <a:ea typeface="Arial"/>
                <a:cs typeface="Arial"/>
                <a:sym typeface="Arial"/>
              </a:rPr>
              <a:t xml:space="preserve"> What are the coordinates of the dry cleaner?</a:t>
            </a:r>
            <a:endParaRPr b="0" i="0" sz="2800" u="none" cap="none" strike="noStrike">
              <a:solidFill>
                <a:schemeClr val="dk1"/>
              </a:solidFill>
              <a:latin typeface="Arial"/>
              <a:ea typeface="Arial"/>
              <a:cs typeface="Arial"/>
              <a:sym typeface="Arial"/>
            </a:endParaRPr>
          </a:p>
        </p:txBody>
      </p:sp>
      <p:sp>
        <p:nvSpPr>
          <p:cNvPr id="11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55</a:t>
            </a:r>
          </a:p>
        </p:txBody>
      </p:sp>
      <p:sp>
        <p:nvSpPr>
          <p:cNvPr id="11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04"/>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107" name="Google Shape;1107;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08" name="Google Shape;1108;p104"/>
          <p:cNvSpPr txBox="1"/>
          <p:nvPr/>
        </p:nvSpPr>
        <p:spPr>
          <a:xfrm>
            <a:off x="484565" y="936000"/>
            <a:ext cx="8246481" cy="3353196"/>
          </a:xfrm>
          <a:prstGeom prst="rect">
            <a:avLst/>
          </a:prstGeom>
          <a:blipFill rotWithShape="1">
            <a:blip r:embed="rId3">
              <a:alphaModFix/>
            </a:blip>
            <a:stretch>
              <a:fillRect b="-1455" l="-1330" r="-222" t="-20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52 / 55</a:t>
            </a:r>
          </a:p>
        </p:txBody>
      </p:sp>
      <p:sp xmlns:p="http://schemas.openxmlformats.org/presentationml/2006/main" xmlns:a="http://schemas.openxmlformats.org/drawingml/2006/main">
        <p:nvSpPr>
          <p:cNvPr id="111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0" name="Google Shape;870;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1" name="Google Shape;871;p83"/>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72" name="Google Shape;872;p83"/>
          <p:cNvSpPr txBox="1"/>
          <p:nvPr/>
        </p:nvSpPr>
        <p:spPr>
          <a:xfrm>
            <a:off x="484560" y="1022823"/>
            <a:ext cx="4264421"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p:txBody>
      </p:sp>
      <p:pic>
        <p:nvPicPr>
          <p:cNvPr id="873" name="Google Shape;873;p83"/>
          <p:cNvPicPr preferRelativeResize="0"/>
          <p:nvPr/>
        </p:nvPicPr>
        <p:blipFill rotWithShape="1">
          <a:blip r:embed="rId2">
            <a:alphaModFix/>
          </a:blip>
          <a:srcRect b="0" l="0" r="0" t="0"/>
          <a:stretch/>
        </p:blipFill>
        <p:spPr>
          <a:xfrm>
            <a:off x="484560" y="4439940"/>
            <a:ext cx="5054600" cy="838200"/>
          </a:xfrm>
          <a:prstGeom prst="rect">
            <a:avLst/>
          </a:prstGeom>
          <a:noFill/>
          <a:ln>
            <a:noFill/>
          </a:ln>
        </p:spPr>
      </p:pic>
      <p:sp>
        <p:nvSpPr>
          <p:cNvPr id="874" name="Google Shape;874;p83"/>
          <p:cNvSpPr txBox="1"/>
          <p:nvPr/>
        </p:nvSpPr>
        <p:spPr>
          <a:xfrm>
            <a:off x="3141271" y="4539182"/>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75" name="Google Shape;875;p83"/>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76" name="Google Shape;876;p83"/>
          <p:cNvSpPr txBox="1"/>
          <p:nvPr/>
        </p:nvSpPr>
        <p:spPr>
          <a:xfrm>
            <a:off x="484560" y="1878417"/>
            <a:ext cx="391569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chapter53\narm24_c10706_esp_002a.png" id="877" name="Google Shape;877;p83"/>
          <p:cNvPicPr preferRelativeResize="0"/>
          <p:nvPr/>
        </p:nvPicPr>
        <p:blipFill rotWithShape="1">
          <a:blip r:embed="rId3">
            <a:alphaModFix/>
          </a:blip>
          <a:srcRect b="0" l="0" r="0" t="0"/>
          <a:stretch/>
        </p:blipFill>
        <p:spPr>
          <a:xfrm>
            <a:off x="6573742" y="1547653"/>
            <a:ext cx="3420000" cy="3420000"/>
          </a:xfrm>
          <a:prstGeom prst="rect">
            <a:avLst/>
          </a:prstGeom>
          <a:noFill/>
          <a:ln>
            <a:noFill/>
          </a:ln>
        </p:spPr>
      </p:pic>
      <p:sp>
        <p:nvSpPr>
          <p:cNvPr id="878" name="Google Shape;878;p83"/>
          <p:cNvSpPr/>
          <p:nvPr/>
        </p:nvSpPr>
        <p:spPr>
          <a:xfrm>
            <a:off x="619145" y="5278140"/>
            <a:ext cx="1053600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working productively with a classmate even when you might have different solutions to a math problem?</a:t>
            </a:r>
            <a:endParaRPr b="0" i="0" sz="2600" u="none" cap="none" strike="noStrike">
              <a:solidFill>
                <a:srgbClr val="595959"/>
              </a:solidFill>
              <a:latin typeface="Arial"/>
              <a:ea typeface="Arial"/>
              <a:cs typeface="Arial"/>
              <a:sym typeface="Arial"/>
            </a:endParaRPr>
          </a:p>
        </p:txBody>
      </p:sp>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53 / 55</a:t>
            </a:r>
          </a:p>
        </p:txBody>
      </p:sp>
      <p:sp xmlns:p="http://schemas.openxmlformats.org/presentationml/2006/main" xmlns:a="http://schemas.openxmlformats.org/drawingml/2006/main">
        <p:nvSpPr>
          <p:cNvPr id="879" name="TEACH-embedded-student-prompt" descr="Student thinking and response directions"/>
          <p:cNvSpPr txBox="1"/>
          <p:nvPr/>
        </p:nvSpPr>
        <p:spPr>
          <a:xfrm>
            <a:off x="594360" y="34930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06" name="Google Shape;1106;p104"/>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107" name="Google Shape;1107;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08" name="Google Shape;1108;p104"/>
          <p:cNvSpPr txBox="1"/>
          <p:nvPr/>
        </p:nvSpPr>
        <p:spPr>
          <a:xfrm>
            <a:off x="484565" y="936000"/>
            <a:ext cx="8246481" cy="3353196"/>
          </a:xfrm>
          <a:prstGeom prst="rect">
            <a:avLst/>
          </a:prstGeom>
          <a:blipFill rotWithShape="1">
            <a:blip r:embed="rId2">
              <a:alphaModFix/>
            </a:blip>
            <a:stretch>
              <a:fillRect b="-1455" l="-1330" r="-222" t="-20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54 / 55</a:t>
            </a:r>
          </a:p>
        </p:txBody>
      </p:sp>
      <p:sp xmlns:p="http://schemas.openxmlformats.org/presentationml/2006/main" xmlns:a="http://schemas.openxmlformats.org/drawingml/2006/main">
        <p:nvSpPr>
          <p:cNvPr id="110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7.6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Identify a shared coordinate.</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55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5-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55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55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6-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33 / 55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3-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40 / 55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5-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TEACH A PARTNER  ·  </a:t>
            </a:r>
            <a:r>
              <a:rPr lang="en-US" sz="2000" b="0" dirty="0">
                <a:solidFill>
                  <a:srgbClr val="13303A"/>
                </a:solidFill>
                <a:latin typeface="Arial"/>
              </a:rPr>
              <a:t>Teach this to someone who missed it. If you can teach it, you know it.</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3-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JUSTIFY IT  ·  </a:t>
            </a:r>
            <a:r>
              <a:rPr lang="en-US" sz="2000" b="0" dirty="0">
                <a:solidFill>
                  <a:srgbClr val="13303A"/>
                </a:solidFill>
                <a:latin typeface="Arial"/>
              </a:rPr>
              <a:t>Say it like this: “I know ______ because ______.”</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45 / 55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THE MATH WORDS  ·  </a:t>
            </a:r>
            <a:r>
              <a:rPr lang="en-US" sz="2000" b="0" dirty="0">
                <a:solidFill>
                  <a:srgbClr val="13303A"/>
                </a:solidFill>
                <a:latin typeface="Arial"/>
              </a:rPr>
              <a:t>Use today’s math words in your explanation — not “it” and “that thing.”</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4-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SHOW THE EVIDENCE  ·  </a:t>
            </a:r>
            <a:r>
              <a:rPr lang="en-US" sz="2000" b="0" dirty="0">
                <a:solidFill>
                  <a:srgbClr val="13303A"/>
                </a:solidFill>
                <a:latin typeface="Arial"/>
              </a:rPr>
              <a:t>Circle the part of your work that proves you met today’s goal.</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51 / 55</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7.6 — Determine Distance on the Coordinate Plane</dc:title>
  <dc:creator>Neft Teacher</dc:creator>
  <cp:lastModifiedBy>Neft Teacher</cp:lastModifiedBy>
  <dcterms:created xsi:type="dcterms:W3CDTF">2026-09-30T12:04:43Z</dcterms:created>
  <dcterms:modified xsi:type="dcterms:W3CDTF">2026-09-30T12:04:43Z</dcterms:modified>
</cp:coreProperties>
</file>