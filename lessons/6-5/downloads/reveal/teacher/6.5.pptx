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1.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51.xml" ContentType="application/vnd.openxmlformats-officedocument.presentationml.notesSlide+xml"/>
  <Override PartName="/ppt/notesSlides/notesSlide55.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62.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3" r:id="rId5"/>
    <p:sldMasterId id="2147483684" r:id="rId6"/>
    <p:sldMasterId id="2147483685" r:id="rId7"/>
    <p:sldMasterId id="2147483686" r:id="rId8"/>
  </p:sldMasterIdLst>
  <p:notesMasterIdLst>
    <p:notesMasterId r:id="rId9"/>
  </p:notesMasterIdLst>
  <p:sldIdLst>
    <p:sldId id="259" r:id="rId13"/>
    <p:sldId id="270" r:id="rId24"/>
    <p:sldId id="271" r:id="rId25"/>
    <p:sldId id="256" r:id="rId10"/>
    <p:sldId id="257" r:id="rId11"/>
    <p:sldId id="260" r:id="rId14"/>
    <p:sldId id="348" r:id="rId91"/>
    <p:sldId id="347" r:id="rId49"/>
    <p:sldId id="346" r:id="rId38"/>
    <p:sldId id="345" r:id="rId47"/>
    <p:sldId id="344" r:id="rId46"/>
    <p:sldId id="343" r:id="rId45"/>
    <p:sldId id="342" r:id="rId44"/>
    <p:sldId id="341" r:id="rId43"/>
    <p:sldId id="340" r:id="rId42"/>
    <p:sldId id="261" r:id="rId15"/>
    <p:sldId id="273" r:id="rId27"/>
    <p:sldId id="275" r:id="rId29"/>
    <p:sldId id="276" r:id="rId30"/>
    <p:sldId id="279" r:id="rId33"/>
    <p:sldId id="294" r:id="rId48"/>
    <p:sldId id="296" r:id="rId50"/>
    <p:sldId id="300" r:id="rId54"/>
    <p:sldId id="301" r:id="rId55"/>
    <p:sldId id="352" r:id="rId95"/>
    <p:sldId id="302" r:id="rId56"/>
    <p:sldId id="349" r:id="rId92"/>
    <p:sldId id="339" r:id="rId41"/>
    <p:sldId id="335" r:id="rId89"/>
    <p:sldId id="353" r:id="rId96"/>
    <p:sldId id="336" r:id="rId90"/>
    <p:sldId id="303" r:id="rId57"/>
    <p:sldId id="306" r:id="rId60"/>
    <p:sldId id="310" r:id="rId64"/>
    <p:sldId id="354" r:id="rId97"/>
    <p:sldId id="312" r:id="rId66"/>
    <p:sldId id="317" r:id="rId71"/>
    <p:sldId id="329" r:id="rId83"/>
    <p:sldId id="330" r:id="rId84"/>
    <p:sldId id="355" r:id="rId98"/>
    <p:sldId id="350" r:id="rId93"/>
    <p:sldId id="338" r:id="rId40"/>
    <p:sldId id="331" r:id="rId85"/>
    <p:sldId id="332" r:id="rId86"/>
    <p:sldId id="333" r:id="rId87"/>
    <p:sldId id="334" r:id="rId88"/>
    <p:sldId id="337" r:id="rId39"/>
    <p:sldId id="351" r:id="rId94"/>
  </p:sldIdLst>
  <p:sldSz cy="6858000" cx="12192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25A05B0-E649-4D5A-9D03-C76B6E2C3272}">
  <a:tblStyle styleId="{F25A05B0-E649-4D5A-9D03-C76B6E2C3272}"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notesMaster" Target="notesMasters/notesMaster1.xml"/><Relationship Id="rId10" Type="http://schemas.openxmlformats.org/officeDocument/2006/relationships/slide" Target="slides/slide4.xml"/><Relationship Id="rId11" Type="http://schemas.openxmlformats.org/officeDocument/2006/relationships/slide" Target="slides/slide5.xml"/><Relationship Id="rId13" Type="http://schemas.openxmlformats.org/officeDocument/2006/relationships/slide" Target="slides/slide1.xml"/><Relationship Id="rId14" Type="http://schemas.openxmlformats.org/officeDocument/2006/relationships/slide" Target="slides/slide6.xml"/><Relationship Id="rId15" Type="http://schemas.openxmlformats.org/officeDocument/2006/relationships/slide" Target="slides/slide16.xml"/><Relationship Id="rId24" Type="http://schemas.openxmlformats.org/officeDocument/2006/relationships/slide" Target="slides/slide2.xml"/><Relationship Id="rId25" Type="http://schemas.openxmlformats.org/officeDocument/2006/relationships/slide" Target="slides/slide3.xml"/><Relationship Id="rId27"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3" Type="http://schemas.openxmlformats.org/officeDocument/2006/relationships/slide" Target="slides/slide20.xml"/><Relationship Id="rId38" Type="http://schemas.openxmlformats.org/officeDocument/2006/relationships/slide" Target="slides/slide9.xml"/><Relationship Id="rId39" Type="http://schemas.openxmlformats.org/officeDocument/2006/relationships/slide" Target="slides/slide43.xml"/><Relationship Id="rId40" Type="http://schemas.openxmlformats.org/officeDocument/2006/relationships/slide" Target="slides/slide38.xml"/><Relationship Id="rId41" Type="http://schemas.openxmlformats.org/officeDocument/2006/relationships/slide" Target="slides/slide27.xml"/><Relationship Id="rId42" Type="http://schemas.openxmlformats.org/officeDocument/2006/relationships/slide" Target="slides/slide15.xml"/><Relationship Id="rId43" Type="http://schemas.openxmlformats.org/officeDocument/2006/relationships/slide" Target="slides/slide14.xml"/><Relationship Id="rId44" Type="http://schemas.openxmlformats.org/officeDocument/2006/relationships/slide" Target="slides/slide13.xml"/><Relationship Id="rId45" Type="http://schemas.openxmlformats.org/officeDocument/2006/relationships/slide" Target="slides/slide12.xml"/><Relationship Id="rId46" Type="http://schemas.openxmlformats.org/officeDocument/2006/relationships/slide" Target="slides/slide11.xml"/><Relationship Id="rId47" Type="http://schemas.openxmlformats.org/officeDocument/2006/relationships/slide" Target="slides/slide10.xml"/><Relationship Id="rId48" Type="http://schemas.openxmlformats.org/officeDocument/2006/relationships/slide" Target="slides/slide21.xml"/><Relationship Id="rId49" Type="http://schemas.openxmlformats.org/officeDocument/2006/relationships/slide" Target="slides/slide8.xml"/><Relationship Id="rId50" Type="http://schemas.openxmlformats.org/officeDocument/2006/relationships/slide" Target="slides/slide22.xml"/><Relationship Id="rId54" Type="http://schemas.openxmlformats.org/officeDocument/2006/relationships/slide" Target="slides/slide23.xml"/><Relationship Id="rId55" Type="http://schemas.openxmlformats.org/officeDocument/2006/relationships/slide" Target="slides/slide24.xml"/><Relationship Id="rId56" Type="http://schemas.openxmlformats.org/officeDocument/2006/relationships/slide" Target="slides/slide25.xml"/><Relationship Id="rId57" Type="http://schemas.openxmlformats.org/officeDocument/2006/relationships/slide" Target="slides/slide30.xml"/><Relationship Id="rId60" Type="http://schemas.openxmlformats.org/officeDocument/2006/relationships/slide" Target="slides/slide31.xml"/><Relationship Id="rId64" Type="http://schemas.openxmlformats.org/officeDocument/2006/relationships/slide" Target="slides/slide32.xml"/><Relationship Id="rId66" Type="http://schemas.openxmlformats.org/officeDocument/2006/relationships/slide" Target="slides/slide33.xml"/><Relationship Id="rId71" Type="http://schemas.openxmlformats.org/officeDocument/2006/relationships/slide" Target="slides/slide34.xml"/><Relationship Id="rId83" Type="http://schemas.openxmlformats.org/officeDocument/2006/relationships/slide" Target="slides/slide35.xml"/><Relationship Id="rId84" Type="http://schemas.openxmlformats.org/officeDocument/2006/relationships/slide" Target="slides/slide36.xml"/><Relationship Id="rId85" Type="http://schemas.openxmlformats.org/officeDocument/2006/relationships/slide" Target="slides/slide39.xml"/><Relationship Id="rId86" Type="http://schemas.openxmlformats.org/officeDocument/2006/relationships/slide" Target="slides/slide40.xml"/><Relationship Id="rId87" Type="http://schemas.openxmlformats.org/officeDocument/2006/relationships/slide" Target="slides/slide41.xml"/><Relationship Id="rId88" Type="http://schemas.openxmlformats.org/officeDocument/2006/relationships/slide" Target="slides/slide42.xml"/><Relationship Id="rId89" Type="http://schemas.openxmlformats.org/officeDocument/2006/relationships/slide" Target="slides/slide28.xml"/><Relationship Id="rId90" Type="http://schemas.openxmlformats.org/officeDocument/2006/relationships/slide" Target="slides/slide29.xml"/><Relationship Id="rId91" Type="http://schemas.openxmlformats.org/officeDocument/2006/relationships/slide" Target="slides/slide7.xml"/><Relationship Id="rId92" Type="http://schemas.openxmlformats.org/officeDocument/2006/relationships/slide" Target="slides/slide26.xml"/><Relationship Id="rId93" Type="http://schemas.openxmlformats.org/officeDocument/2006/relationships/slide" Target="slides/slide37.xml"/><Relationship Id="rId94" Type="http://schemas.openxmlformats.org/officeDocument/2006/relationships/slide" Target="slides/slide44.xml"/><Relationship Id="rId95" Type="http://schemas.openxmlformats.org/officeDocument/2006/relationships/slide" Target="slides/slide45.xml"/><Relationship Id="rId96" Type="http://schemas.openxmlformats.org/officeDocument/2006/relationships/slide" Target="slides/slide46.xml"/><Relationship Id="rId97" Type="http://schemas.openxmlformats.org/officeDocument/2006/relationships/slide" Target="slides/slide47.xml"/><Relationship Id="rId98"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6.5, slide 4 | DIVIDER</a:t>
            </a:r>
          </a:p>
          <a:p xmlns:a="http://schemas.openxmlformats.org/drawingml/2006/main">
            <a:pPr>
              <a:buNone/>
            </a:pPr>
            <a:r>
              <a:rPr lang="en-US" sz="1100"/>
              <a:t>Focus on the existing task: Write and Evaluate Algebraic Expressions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1" name="Google Shape;231;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6.5, slide 5 | WORKED</a:t>
            </a:r>
          </a:p>
          <a:p xmlns:a="http://schemas.openxmlformats.org/drawingml/2006/main">
            <a:pPr>
              <a:buNone/>
            </a:pPr>
            <a:r>
              <a:rPr lang="en-US" sz="1100"/>
              <a:t>Focus on the existing task: Or You Could</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define the variable. Ask which feature of their work supports the claim.</a:t>
            </a:r>
          </a:p>
          <a:p xmlns:a="http://schemas.openxmlformats.org/drawingml/2006/main">
            <a:pPr>
              <a:buNone/>
            </a:pPr>
            <a:r>
              <a:rPr lang="en-US" sz="1100"/>
              <a:t>RESPOND: If this task shows the lesson misconception—reversing subtraction or omitting implied multiplication—label the quantity represented by each part of the original expression.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238" name="Google Shape;238;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6.5, slide 1 | WARMUP</a:t>
            </a:r>
          </a:p>
          <a:p xmlns:a="http://schemas.openxmlformats.org/drawingml/2006/main">
            <a:pPr>
              <a:buNone/>
            </a:pPr>
            <a:r>
              <a:rPr lang="en-US" sz="1100"/>
              <a:t>Focus on the existing task: Warm-Up WARM-UP · THINK • TRY • CHECK Do these…</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14   2) 23   3) n   4) n + 7</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define the variable; translate operations in order; substitute and evaluate accurately. Review recent work and today’s warm-up to choose flexible groups and access supports; do not infer needs from identity or perceived ability. Use the existing lesson tasks and stated standards.</a:t>
            </a:r>
          </a:p>
          <a:p>
            <a:pPr>
              <a:buNone/>
            </a:pPr>
            <a:r>
              <a:rPr lang="en-US" sz="1100"/>
              <a:t>Anticipate: reversing subtraction or omitting implied multiplication. If observed, label the quantity represented by each part of the original expression.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5" name="Google Shape;255;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6.5, slide 6 | GOAL</a:t>
            </a:r>
          </a:p>
          <a:p xmlns:a="http://schemas.openxmlformats.org/drawingml/2006/main">
            <a:pPr>
              <a:buNone/>
            </a:pPr>
            <a:r>
              <a:rPr lang="en-US" sz="1100"/>
              <a:t>Focus on the existing task: Today’s Objectives Write and Evaluate Algebraic…</a:t>
            </a:r>
          </a:p>
          <a:p xmlns:a="http://schemas.openxmlformats.org/drawingml/2006/main">
            <a:pPr>
              <a:buNone/>
            </a:pPr>
            <a:r>
              <a:rPr lang="en-US" sz="1100"/>
              <a:t>CONNECT (T1/4): Ask students to restate the displayed goal or key idea and connect it to earlier work. Relevant lesson evidence: define the variable; translate operations in order; substitute and evaluate accurately.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define the variable; translate operations in order; substitute and evaluate accurately. Ask: “Which part of your work would show this?” Revisit that evidence after the task; a confidence rating alone is not evidence of understanding.</a:t>
            </a:r>
          </a:p>
        </p:txBody>
      </p:sp>
      <p:sp>
        <p:nvSpPr>
          <p:cNvPr id="331" name="Google Shape;331;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6.5, slide 16 | VOCAB</a:t>
            </a:r>
          </a:p>
          <a:p xmlns:a="http://schemas.openxmlformats.org/drawingml/2006/main">
            <a:pPr>
              <a:buNone/>
            </a:pPr>
            <a:r>
              <a:rPr lang="en-US" sz="1100"/>
              <a:t>Focus on the existing task: Vocabulary Today’s Math Words We learn every word…</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53" name="Google Shape;353;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1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6.5, slide 2 | NOTES</a:t>
            </a:r>
          </a:p>
          <a:p xmlns:a="http://schemas.openxmlformats.org/drawingml/2006/main">
            <a:pPr>
              <a:buNone/>
            </a:pPr>
            <a:r>
              <a:rPr lang="en-US" sz="1100"/>
              <a:t>Focus on the existing task: Today’s Math Notes Section 1: Math Words Copy into…</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40" name="Google Shape;540;p1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1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6.5, slide 3 | NOTES</a:t>
            </a:r>
          </a:p>
          <a:p xmlns:a="http://schemas.openxmlformats.org/drawingml/2006/main">
            <a:pPr>
              <a:buNone/>
            </a:pPr>
            <a:r>
              <a:rPr lang="en-US" sz="1100"/>
              <a:t>Focus on the existing task: Today’s Math Notes Section 2: Today’s Math Copy…</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68" name="Google Shape;568;p1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1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6.5, slide 17 | CURIOUS</a:t>
            </a:r>
          </a:p>
          <a:p xmlns:a="http://schemas.openxmlformats.org/drawingml/2006/main">
            <a:pPr>
              <a:buNone/>
            </a:pPr>
            <a:r>
              <a:rPr lang="en-US" sz="1100"/>
              <a:t>Focus on the existing task: Be Curious How helpful is it for you to have a plan to solve a math or non-math problem?</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define the variable. Ask which feature of their work supports the claim.</a:t>
            </a:r>
          </a:p>
          <a:p xmlns:a="http://schemas.openxmlformats.org/drawingml/2006/main">
            <a:pPr>
              <a:buNone/>
            </a:pPr>
            <a:r>
              <a:rPr lang="en-US" sz="1100"/>
              <a:t>RESPOND: If this task shows the lesson misconception—reversing subtraction or omitting implied multiplication—label the quantity represented by each part of the original expression.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602" name="Google Shape;602;p1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2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6.5, slide 18 | REVEAL</a:t>
            </a:r>
          </a:p>
          <a:p xmlns:a="http://schemas.openxmlformats.org/drawingml/2006/main">
            <a:pPr>
              <a:buNone/>
            </a:pPr>
            <a:r>
              <a:rPr lang="en-US" sz="1100"/>
              <a:t>Focus on the existing task: What information do you need to find?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translate operations in order. Ask which feature of their work supports the claim.</a:t>
            </a:r>
          </a:p>
          <a:p xmlns:a="http://schemas.openxmlformats.org/drawingml/2006/main">
            <a:pPr>
              <a:buNone/>
            </a:pPr>
            <a:r>
              <a:rPr lang="en-US" sz="1100"/>
              <a:t>RESPOND: If this task shows the lesson misconception—reversing subtraction or omitting implied multiplication—label the quantity represented by each part of the original expression.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Students should have shared predictions before this reveal.</a:t>
            </a:r>
          </a:p>
          <a:p>
            <a:pPr indent="0" lvl="0" marL="0" rtl="0" algn="l">
              <a:lnSpc>
                <a:spcPct val="100000"/>
              </a:lnSpc>
              <a:spcBef>
                <a:spcPts val="0"/>
              </a:spcBef>
              <a:spcAft>
                <a:spcPts val="0"/>
              </a:spcAft>
              <a:buSzPts val="1400"/>
              <a:buNone/>
            </a:pPr>
            <a:r>
              <a:t>Have them compare their thinking to what is shown: “Is this the same as what we said? Where is it different?”</a:t>
            </a:r>
          </a:p>
          <a:p>
            <a:pPr indent="0" lvl="0" marL="0" rtl="0" algn="l">
              <a:lnSpc>
                <a:spcPct val="100000"/>
              </a:lnSpc>
              <a:spcBef>
                <a:spcPts val="0"/>
              </a:spcBef>
              <a:spcAft>
                <a:spcPts val="0"/>
              </a:spcAft>
              <a:buSzPts val="1400"/>
              <a:buNone/>
            </a:pPr>
            <a:r>
              <a:t>Press one student to explain the reveal in their own words.</a:t>
            </a:r>
          </a:p>
          <a:p>
            <a:pPr indent="0" lvl="0" marL="0" rtl="0" algn="l">
              <a:lnSpc>
                <a:spcPct val="100000"/>
              </a:lnSpc>
              <a:spcBef>
                <a:spcPts val="0"/>
              </a:spcBef>
              <a:spcAft>
                <a:spcPts val="0"/>
              </a:spcAft>
              <a:buSzPts val="1400"/>
              <a:buNone/>
            </a:pPr>
            <a:r>
              <a:t>UIFR: TEACH 3 · TEACH 4.</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“What does each term represent in the situation, and how does substitution preserve that meaning?” Wait for evidence, invite another pathway, and have a student ask a follow-up question. Do not replace students’ reasoning with a sequence of leading steps.</a:t>
            </a:r>
          </a:p>
        </p:txBody>
      </p:sp>
      <p:sp>
        <p:nvSpPr>
          <p:cNvPr id="621" name="Google Shape;621;p2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2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6.5, slide 19 | REVEAL</a:t>
            </a:r>
          </a:p>
          <a:p xmlns:a="http://schemas.openxmlformats.org/drawingml/2006/main">
            <a:pPr>
              <a:buNone/>
            </a:pPr>
            <a:r>
              <a:rPr lang="en-US" sz="1100"/>
              <a:t>Focus on the existing task: What information do you need to find?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translate operations in order. Ask which feature of their work supports the claim.</a:t>
            </a:r>
          </a:p>
          <a:p xmlns:a="http://schemas.openxmlformats.org/drawingml/2006/main">
            <a:pPr>
              <a:buNone/>
            </a:pPr>
            <a:r>
              <a:rPr lang="en-US" sz="1100"/>
              <a:t>RESPOND: If this task shows the lesson misconception—reversing subtraction or omitting implied multiplication—label the quantity represented by each part of the original expression.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need to find an expression that can be used to determine how much the field day items will cost.</a:t>
            </a:r>
          </a:p>
          <a:p>
            <a:pPr indent="0" lvl="0" marL="0" rtl="0" algn="l">
              <a:lnSpc>
                <a:spcPct val="100000"/>
              </a:lnSpc>
              <a:spcBef>
                <a:spcPts val="0"/>
              </a:spcBef>
              <a:spcAft>
                <a:spcPts val="0"/>
              </a:spcAft>
              <a:buSzPts val="1400"/>
              <a:buNone/>
            </a:pPr>
            <a:r>
              <a:t>UIFR: TEACH 3 · TEACH 4.</a:t>
            </a:r>
          </a:p>
        </p:txBody>
      </p:sp>
      <p:sp>
        <p:nvSpPr>
          <p:cNvPr id="630" name="Google Shape;630;p2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2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6.5, slide 20 | REVEAL</a:t>
            </a:r>
          </a:p>
          <a:p xmlns:a="http://schemas.openxmlformats.org/drawingml/2006/main">
            <a:pPr>
              <a:buNone/>
            </a:pPr>
            <a:r>
              <a:rPr lang="en-US" sz="1100"/>
              <a:t>Focus on the existing task: How can you represent the unknown number of students?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translate operations in order. Ask which feature of their work supports the claim.</a:t>
            </a:r>
          </a:p>
          <a:p xmlns:a="http://schemas.openxmlformats.org/drawingml/2006/main">
            <a:pPr>
              <a:buNone/>
            </a:pPr>
            <a:r>
              <a:rPr lang="en-US" sz="1100"/>
              <a:t>RESPOND: If this task shows the lesson misconception—reversing subtraction or omitting implied multiplication—label the quantity represented by each part of the original expression.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Students should have shared predictions before this reveal.</a:t>
            </a:r>
          </a:p>
          <a:p>
            <a:pPr indent="0" lvl="0" marL="0" rtl="0" algn="l">
              <a:lnSpc>
                <a:spcPct val="100000"/>
              </a:lnSpc>
              <a:spcBef>
                <a:spcPts val="0"/>
              </a:spcBef>
              <a:spcAft>
                <a:spcPts val="0"/>
              </a:spcAft>
              <a:buSzPts val="1400"/>
              <a:buNone/>
            </a:pPr>
            <a:r>
              <a:t>Have them compare their thinking to what is shown: “Is this the same as what we said? Where is it different?”</a:t>
            </a:r>
          </a:p>
          <a:p>
            <a:pPr indent="0" lvl="0" marL="0" rtl="0" algn="l">
              <a:lnSpc>
                <a:spcPct val="100000"/>
              </a:lnSpc>
              <a:spcBef>
                <a:spcPts val="0"/>
              </a:spcBef>
              <a:spcAft>
                <a:spcPts val="0"/>
              </a:spcAft>
              <a:buSzPts val="1400"/>
              <a:buNone/>
            </a:pPr>
            <a:r>
              <a:t>Press one student to explain the reveal in their own words.</a:t>
            </a:r>
          </a:p>
          <a:p>
            <a:pPr indent="0" lvl="0" marL="0" rtl="0" algn="l">
              <a:lnSpc>
                <a:spcPct val="100000"/>
              </a:lnSpc>
              <a:spcBef>
                <a:spcPts val="0"/>
              </a:spcBef>
              <a:spcAft>
                <a:spcPts val="0"/>
              </a:spcAft>
              <a:buSzPts val="1400"/>
              <a:buNone/>
            </a:pPr>
            <a:r>
              <a:t>UIFR: TEACH 3 · TEACH 4.</a:t>
            </a:r>
          </a:p>
        </p:txBody>
      </p:sp>
      <p:sp>
        <p:nvSpPr>
          <p:cNvPr id="659" name="Google Shape;659;p2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3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6.5, slide 21 | REVEAL</a:t>
            </a:r>
          </a:p>
          <a:p xmlns:a="http://schemas.openxmlformats.org/drawingml/2006/main">
            <a:pPr>
              <a:buNone/>
            </a:pPr>
            <a:r>
              <a:rPr lang="en-US" sz="1100"/>
              <a:t>Focus on the existing task: Each student will receive one item shown and the one-time shipping cost is $23.50. Why doesn’t the expression for the shipping cost contain a variable?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define the variable. Ask which feature of their work supports the claim.</a:t>
            </a:r>
          </a:p>
          <a:p xmlns:a="http://schemas.openxmlformats.org/drawingml/2006/main">
            <a:pPr>
              <a:buNone/>
            </a:pPr>
            <a:r>
              <a:rPr lang="en-US" sz="1100"/>
              <a:t>RESPOND: If this task shows the lesson misconception—reversing subtraction or omitting implied multiplication—label the quantity represented by each part of the original expression.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shipping cost is not related to the number of students. It is a one-time fee.</a:t>
            </a:r>
          </a:p>
          <a:p>
            <a:pPr indent="0" lvl="0" marL="0" rtl="0" algn="l">
              <a:lnSpc>
                <a:spcPct val="100000"/>
              </a:lnSpc>
              <a:spcBef>
                <a:spcPts val="0"/>
              </a:spcBef>
              <a:spcAft>
                <a:spcPts val="0"/>
              </a:spcAft>
              <a:buSzPts val="1400"/>
              <a:buNone/>
            </a:pPr>
            <a:r>
              <a:t>UIFR: TEACH 3 · TEACH 4.</a:t>
            </a:r>
          </a:p>
        </p:txBody>
      </p:sp>
      <p:sp>
        <p:nvSpPr>
          <p:cNvPr id="793" name="Google Shape;793;p3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p4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6.5, slide 22 | REVEAL</a:t>
            </a:r>
          </a:p>
          <a:p xmlns:a="http://schemas.openxmlformats.org/drawingml/2006/main">
            <a:pPr>
              <a:buNone/>
            </a:pPr>
            <a:r>
              <a:rPr lang="en-US" sz="1100"/>
              <a:t>Focus on the existing task: To determine the total cost, what operation can you use between each expression?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define the variable. Ask which feature of their work supports the claim.</a:t>
            </a:r>
          </a:p>
          <a:p xmlns:a="http://schemas.openxmlformats.org/drawingml/2006/main">
            <a:pPr>
              <a:buNone/>
            </a:pPr>
            <a:r>
              <a:rPr lang="en-US" sz="1100"/>
              <a:t>RESPOND: If this task shows the lesson misconception—reversing subtraction or omitting implied multiplication—label the quantity represented by each part of the original expression.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use addition.</a:t>
            </a:r>
          </a:p>
          <a:p>
            <a:pPr indent="0" lvl="0" marL="0" rtl="0" algn="l">
              <a:lnSpc>
                <a:spcPct val="100000"/>
              </a:lnSpc>
              <a:spcBef>
                <a:spcPts val="0"/>
              </a:spcBef>
              <a:spcAft>
                <a:spcPts val="0"/>
              </a:spcAft>
              <a:buSzPts val="1400"/>
              <a:buNone/>
            </a:pPr>
            <a:r>
              <a:t>UIFR: TEACH 3 · TEACH 4.</a:t>
            </a:r>
          </a:p>
        </p:txBody>
      </p:sp>
      <p:sp>
        <p:nvSpPr>
          <p:cNvPr id="811" name="Google Shape;811;p4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p4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6.5, slide 23 | TASK</a:t>
            </a:r>
          </a:p>
          <a:p xmlns:a="http://schemas.openxmlformats.org/drawingml/2006/main">
            <a:pPr>
              <a:buNone/>
            </a:pPr>
            <a:r>
              <a:rPr lang="en-US" sz="1100"/>
              <a:t>Focus on the existing task: Think About It: Do you think any of the terms can be combined and rewritten as a single term?</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define the variable. Ask which feature of their work supports the claim.</a:t>
            </a:r>
          </a:p>
          <a:p xmlns:a="http://schemas.openxmlformats.org/drawingml/2006/main">
            <a:pPr>
              <a:buNone/>
            </a:pPr>
            <a:r>
              <a:rPr lang="en-US" sz="1100"/>
              <a:t>RESPOND: If this task shows the lesson misconception—reversing subtraction or omitting implied multiplication—label the quantity represented by each part of the original expression.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846" name="Google Shape;846;p4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p4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6.5, slide 24 | TASK</a:t>
            </a:r>
          </a:p>
          <a:p xmlns:a="http://schemas.openxmlformats.org/drawingml/2006/main">
            <a:pPr>
              <a:buNone/>
            </a:pPr>
            <a:r>
              <a:rPr lang="en-US" sz="1100"/>
              <a:t>Focus on the existing task: Evelyn is helping to plan the sixth-grade field day. The committee will order the items shown for each student participating in field day.…</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translate operations in order. Ask which feature of their work supports the claim.</a:t>
            </a:r>
          </a:p>
          <a:p xmlns:a="http://schemas.openxmlformats.org/drawingml/2006/main">
            <a:pPr>
              <a:buNone/>
            </a:pPr>
            <a:r>
              <a:rPr lang="en-US" sz="1100"/>
              <a:t>RESPOND: If this task shows the lesson misconception—reversing subtraction or omitting implied multiplication—label the quantity represented by each part of the original expression.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the context aloud (or have a student read it).</a:t>
            </a:r>
          </a:p>
          <a:p>
            <a:pPr indent="0" lvl="0" marL="0" rtl="0" algn="l">
              <a:lnSpc>
                <a:spcPct val="100000"/>
              </a:lnSpc>
              <a:spcBef>
                <a:spcPts val="0"/>
              </a:spcBef>
              <a:spcAft>
                <a:spcPts val="0"/>
              </a:spcAft>
              <a:buSzPts val="1400"/>
              <a:buNone/>
            </a:pPr>
            <a:r>
              <a:t>Before any math, students restate the situation and what is being asked in their own words.</a:t>
            </a:r>
          </a:p>
          <a:p>
            <a:pPr indent="0" lvl="0" marL="0" rtl="0" algn="l">
              <a:lnSpc>
                <a:spcPct val="100000"/>
              </a:lnSpc>
              <a:spcBef>
                <a:spcPts val="0"/>
              </a:spcBef>
              <a:spcAft>
                <a:spcPts val="0"/>
              </a:spcAft>
              <a:buSzPts val="1400"/>
              <a:buNone/>
            </a:pPr>
            <a:r>
              <a:t>Ask: What expression can Evelyn use to determine how much the committee will need to purchase the items?</a:t>
            </a:r>
          </a:p>
          <a:p>
            <a:pPr indent="0" lvl="0" marL="0" rtl="0" algn="l">
              <a:lnSpc>
                <a:spcPct val="100000"/>
              </a:lnSpc>
              <a:spcBef>
                <a:spcPts val="0"/>
              </a:spcBef>
              <a:spcAft>
                <a:spcPts val="0"/>
              </a:spcAft>
              <a:buSzPts val="1400"/>
              <a:buNone/>
            </a:pPr>
            <a:r>
              <a:t>UIFR: TEACH 1 · TEACH 3.</a:t>
            </a:r>
          </a:p>
        </p:txBody>
      </p:sp>
      <p:sp>
        <p:nvSpPr>
          <p:cNvPr id="854" name="Google Shape;854;p4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p4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6.5, slide 25 | PRACTICE</a:t>
            </a:r>
          </a:p>
          <a:p xmlns:a="http://schemas.openxmlformats.org/drawingml/2006/main">
            <a:pPr>
              <a:buNone/>
            </a:pPr>
            <a:r>
              <a:rPr lang="en-US" sz="1100"/>
              <a:t>Focus on the existing task: Let’s Explore More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define the variable. Ask which feature of their work supports the claim.</a:t>
            </a:r>
          </a:p>
          <a:p xmlns:a="http://schemas.openxmlformats.org/drawingml/2006/main">
            <a:pPr>
              <a:buNone/>
            </a:pPr>
            <a:r>
              <a:rPr lang="en-US" sz="1100"/>
              <a:t>RESPOND: If this task shows the lesson misconception—reversing subtraction or omitting implied multiplication—label the quantity represented by each part of the original expression.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reversing subtraction or omitting implied multiplication. If it appears, label the quantity represented by each part of the original expression; then ask the student to revise the same response and explain the change. If evidence is secure, have students compare a second valid pathway or state why their approach works. Choose the next step from the responses, not a preset pace.</a:t>
            </a:r>
          </a:p>
        </p:txBody>
      </p:sp>
      <p:sp>
        <p:nvSpPr>
          <p:cNvPr id="863" name="Google Shape;863;p4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p4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6.5, slide 30 | DIVIDER</a:t>
            </a:r>
          </a:p>
          <a:p xmlns:a="http://schemas.openxmlformats.org/drawingml/2006/main">
            <a:pPr>
              <a:buNone/>
            </a:pPr>
            <a:r>
              <a:rPr lang="en-US" sz="1100"/>
              <a:t>Focus on the existing task: Write and Evaluate Algebraic Expressions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869" name="Google Shape;869;p4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p5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6.5, slide 31 | TASK</a:t>
            </a:r>
          </a:p>
          <a:p xmlns:a="http://schemas.openxmlformats.org/drawingml/2006/main">
            <a:pPr>
              <a:buNone/>
            </a:pPr>
            <a:r>
              <a:rPr lang="en-US" sz="1100"/>
              <a:t>Focus on the existing task: How many total cars are made when 125, 200, and 375 green cars are made?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define the variable. Ask which feature of their work supports the claim.</a:t>
            </a:r>
          </a:p>
          <a:p xmlns:a="http://schemas.openxmlformats.org/drawingml/2006/main">
            <a:pPr>
              <a:buNone/>
            </a:pPr>
            <a:r>
              <a:rPr lang="en-US" sz="1100"/>
              <a:t>RESPOND: If this task shows the lesson misconception—reversing subtraction or omitting implied multiplication—label the quantity represented by each part of the original expression.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the context aloud (or have a student read it).</a:t>
            </a:r>
          </a:p>
          <a:p>
            <a:pPr indent="0" lvl="0" marL="0" rtl="0" algn="l">
              <a:lnSpc>
                <a:spcPct val="100000"/>
              </a:lnSpc>
              <a:spcBef>
                <a:spcPts val="0"/>
              </a:spcBef>
              <a:spcAft>
                <a:spcPts val="0"/>
              </a:spcAft>
              <a:buSzPts val="1400"/>
              <a:buNone/>
            </a:pPr>
            <a:r>
              <a:t>Before any math, students restate the situation and what is being asked in their own words.</a:t>
            </a:r>
          </a:p>
          <a:p>
            <a:pPr indent="0" lvl="0" marL="0" rtl="0" algn="l">
              <a:lnSpc>
                <a:spcPct val="100000"/>
              </a:lnSpc>
              <a:spcBef>
                <a:spcPts val="0"/>
              </a:spcBef>
              <a:spcAft>
                <a:spcPts val="0"/>
              </a:spcAft>
              <a:buSzPts val="1400"/>
              <a:buNone/>
            </a:pPr>
            <a:r>
              <a:t>Ask: What expression can be used to determine the number of green, yellow, and blue cars made on a given day?</a:t>
            </a:r>
          </a:p>
          <a:p>
            <a:pPr indent="0" lvl="0" marL="0" rtl="0" algn="l">
              <a:lnSpc>
                <a:spcPct val="100000"/>
              </a:lnSpc>
              <a:spcBef>
                <a:spcPts val="0"/>
              </a:spcBef>
              <a:spcAft>
                <a:spcPts val="0"/>
              </a:spcAft>
              <a:buSzPts val="1400"/>
              <a:buNone/>
            </a:pPr>
            <a:r>
              <a:t>UIFR: TEACH 1 · TEACH 3.</a:t>
            </a:r>
          </a:p>
        </p:txBody>
      </p:sp>
      <p:sp>
        <p:nvSpPr>
          <p:cNvPr id="897" name="Google Shape;897;p5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p5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6.5, slide 32 | REVEAL</a:t>
            </a:r>
          </a:p>
          <a:p xmlns:a="http://schemas.openxmlformats.org/drawingml/2006/main">
            <a:pPr>
              <a:buNone/>
            </a:pPr>
            <a:r>
              <a:rPr lang="en-US" sz="1100"/>
              <a:t>Focus on the existing task: A toy car factory makes three different colors of a car. For every green car, three yellow cars and two blue cars are made. We can use a…</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define the variable. Ask which feature of their work supports the claim.</a:t>
            </a:r>
          </a:p>
          <a:p xmlns:a="http://schemas.openxmlformats.org/drawingml/2006/main">
            <a:pPr>
              <a:buNone/>
            </a:pPr>
            <a:r>
              <a:rPr lang="en-US" sz="1100"/>
              <a:t>RESPOND: If this task shows the lesson misconception—reversing subtraction or omitting implied multiplication—label the quantity represented by each part of the original expression.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There are three times as many yellow cars as green cars. There are twice as many blue cars as green cars.</a:t>
            </a:r>
          </a:p>
          <a:p>
            <a:pPr indent="0" lvl="0" marL="0" rtl="0" algn="l">
              <a:lnSpc>
                <a:spcPct val="100000"/>
              </a:lnSpc>
              <a:spcBef>
                <a:spcPts val="0"/>
              </a:spcBef>
              <a:spcAft>
                <a:spcPts val="0"/>
              </a:spcAft>
              <a:buSzPts val="1400"/>
              <a:buNone/>
            </a:pPr>
            <a:r>
              <a:t>UIFR: TEACH 3 · TEACH 4.</a:t>
            </a:r>
          </a:p>
        </p:txBody>
      </p:sp>
      <p:sp>
        <p:nvSpPr>
          <p:cNvPr id="932" name="Google Shape;932;p5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p5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6.5, slide 33 | COLLABORATE</a:t>
            </a:r>
          </a:p>
          <a:p xmlns:a="http://schemas.openxmlformats.org/drawingml/2006/main">
            <a:pPr>
              <a:buNone/>
            </a:pPr>
            <a:r>
              <a:rPr lang="en-US" sz="1100"/>
              <a:t>Focus on the existing task: Reveal: We can write an algebraic expression for each color and then add them together. Collaborate and Connect COLLABORATE ·</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define the variable. Ask which feature of their work supports the claim.</a:t>
            </a:r>
          </a:p>
          <a:p xmlns:a="http://schemas.openxmlformats.org/drawingml/2006/main">
            <a:pPr>
              <a:buNone/>
            </a:pPr>
            <a:r>
              <a:rPr lang="en-US" sz="1100"/>
              <a:t>RESPOND: If this task shows the lesson misconception—reversing subtraction or omitting implied multiplication—label the quantity represented by each part of the original expression.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p:txBody>
      </p:sp>
      <p:sp>
        <p:nvSpPr>
          <p:cNvPr id="951" name="Google Shape;951;p5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p6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6.5, slide 34 | REVEAL</a:t>
            </a:r>
          </a:p>
          <a:p xmlns:a="http://schemas.openxmlformats.org/drawingml/2006/main">
            <a:pPr>
              <a:buNone/>
            </a:pPr>
            <a:r>
              <a:rPr lang="en-US" sz="1100"/>
              <a:t>Focus on the existing task: How can you write an expression to represent the number of cars made in one day?</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define the variable. Ask which feature of their work supports the claim.</a:t>
            </a:r>
          </a:p>
          <a:p xmlns:a="http://schemas.openxmlformats.org/drawingml/2006/main">
            <a:pPr>
              <a:buNone/>
            </a:pPr>
            <a:r>
              <a:rPr lang="en-US" sz="1100"/>
              <a:t>RESPOND: If this task shows the lesson misconception—reversing subtraction or omitting implied multiplication—label the quantity represented by each part of the original expression.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add the individual expressions together.</a:t>
            </a:r>
          </a:p>
          <a:p>
            <a:pPr indent="0" lvl="0" marL="0" rtl="0" algn="l">
              <a:lnSpc>
                <a:spcPct val="100000"/>
              </a:lnSpc>
              <a:spcBef>
                <a:spcPts val="0"/>
              </a:spcBef>
              <a:spcAft>
                <a:spcPts val="0"/>
              </a:spcAft>
              <a:buSzPts val="1400"/>
              <a:buNone/>
            </a:pPr>
            <a:r>
              <a:t>UIFR: TEACH 3 · TEACH 4.</a:t>
            </a:r>
          </a:p>
        </p:txBody>
      </p:sp>
      <p:sp>
        <p:nvSpPr>
          <p:cNvPr id="997" name="Google Shape;997;p6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p7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6.5, slide 35 | TASK</a:t>
            </a:r>
          </a:p>
          <a:p xmlns:a="http://schemas.openxmlformats.org/drawingml/2006/main">
            <a:pPr>
              <a:buNone/>
            </a:pPr>
            <a:r>
              <a:rPr lang="en-US" sz="1100"/>
              <a:t>Focus on the existing task: What expression can be used to determine the number of green, yellow, and blue cars made on a given day?</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define the variable. Ask which feature of their work supports the claim.</a:t>
            </a:r>
          </a:p>
          <a:p xmlns:a="http://schemas.openxmlformats.org/drawingml/2006/main">
            <a:pPr>
              <a:buNone/>
            </a:pPr>
            <a:r>
              <a:rPr lang="en-US" sz="1100"/>
              <a:t>RESPOND: If this task shows the lesson misconception—reversing subtraction or omitting implied multiplication—label the quantity represented by each part of the original expression.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the context aloud (or have a student read it).</a:t>
            </a:r>
          </a:p>
          <a:p>
            <a:pPr indent="0" lvl="0" marL="0" rtl="0" algn="l">
              <a:lnSpc>
                <a:spcPct val="100000"/>
              </a:lnSpc>
              <a:spcBef>
                <a:spcPts val="0"/>
              </a:spcBef>
              <a:spcAft>
                <a:spcPts val="0"/>
              </a:spcAft>
              <a:buSzPts val="1400"/>
              <a:buNone/>
            </a:pPr>
            <a:r>
              <a:t>Before any math, students restate the situation and what is being asked in their own words.</a:t>
            </a:r>
          </a:p>
          <a:p>
            <a:pPr indent="0" lvl="0" marL="0" rtl="0" algn="l">
              <a:lnSpc>
                <a:spcPct val="100000"/>
              </a:lnSpc>
              <a:spcBef>
                <a:spcPts val="0"/>
              </a:spcBef>
              <a:spcAft>
                <a:spcPts val="0"/>
              </a:spcAft>
              <a:buSzPts val="1400"/>
              <a:buNone/>
            </a:pPr>
            <a:r>
              <a:t>Ask: How many total cars are made when 125, 200, and 375 green cars are made?</a:t>
            </a:r>
          </a:p>
          <a:p>
            <a:pPr indent="0" lvl="0" marL="0" rtl="0" algn="l">
              <a:lnSpc>
                <a:spcPct val="100000"/>
              </a:lnSpc>
              <a:spcBef>
                <a:spcPts val="0"/>
              </a:spcBef>
              <a:spcAft>
                <a:spcPts val="0"/>
              </a:spcAft>
              <a:buSzPts val="1400"/>
              <a:buNone/>
            </a:pPr>
            <a:r>
              <a:t>UIFR: TEACH 1 · TEACH 3.</a:t>
            </a:r>
          </a:p>
        </p:txBody>
      </p:sp>
      <p:sp>
        <p:nvSpPr>
          <p:cNvPr id="1109" name="Google Shape;1109;p7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p7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6.5, slide 36 | PRACTICE</a:t>
            </a:r>
          </a:p>
          <a:p xmlns:a="http://schemas.openxmlformats.org/drawingml/2006/main">
            <a:pPr>
              <a:buNone/>
            </a:pPr>
            <a:r>
              <a:rPr lang="en-US" sz="1100"/>
              <a:t>Focus on the existing task: Let’s Explore More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define the variable. Ask which feature of their work supports the claim.</a:t>
            </a:r>
          </a:p>
          <a:p xmlns:a="http://schemas.openxmlformats.org/drawingml/2006/main">
            <a:pPr>
              <a:buNone/>
            </a:pPr>
            <a:r>
              <a:rPr lang="en-US" sz="1100"/>
              <a:t>RESPOND: If this task shows the lesson misconception—reversing subtraction or omitting implied multiplication—label the quantity represented by each part of the original expression.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1121" name="Google Shape;1121;p7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p7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6.5, slide 39 | SUMMARIZE</a:t>
            </a:r>
          </a:p>
          <a:p xmlns:a="http://schemas.openxmlformats.org/drawingml/2006/main">
            <a:pPr>
              <a:buNone/>
            </a:pPr>
            <a:r>
              <a:rPr lang="en-US" sz="1100"/>
              <a:t>Focus on the existing task: Summarize: Write and Evaluate Algebraic Expressions SUMMARIZE · SAY IT IN YOUR OWN WORDS</a:t>
            </a:r>
          </a:p>
          <a:p xmlns:a="http://schemas.openxmlformats.org/drawingml/2006/main">
            <a:pPr>
              <a:buNone/>
            </a:pPr>
            <a:r>
              <a:rPr lang="en-US" sz="1100"/>
              <a:t>CONNECT (T1/4): Ask students to restate the displayed goal or key idea and connect it to earlier work. Relevant lesson evidence: define the variable; translate operations in order; substitute and evaluate accurately.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1129" name="Google Shape;1129;p7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p7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6.5, slide 40 | APPLY</a:t>
            </a:r>
          </a:p>
          <a:p xmlns:a="http://schemas.openxmlformats.org/drawingml/2006/main">
            <a:pPr>
              <a:buNone/>
            </a:pPr>
            <a:r>
              <a:rPr lang="en-US" sz="1100"/>
              <a:t>Focus on the existing task: In manufacturing, inspecting products for defects is essential. The Acceptable Quality Level (AQL) is the maximum number of defective…</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define the variable. Ask which feature of their work supports the claim.</a:t>
            </a:r>
          </a:p>
          <a:p xmlns:a="http://schemas.openxmlformats.org/drawingml/2006/main">
            <a:pPr>
              <a:buNone/>
            </a:pPr>
            <a:r>
              <a:rPr lang="en-US" sz="1100"/>
              <a:t>RESPOND: If this task shows the lesson misconception—reversing subtraction or omitting implied multiplication—label the quantity represented by each part of the original expression.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p:txBody>
      </p:sp>
      <p:sp>
        <p:nvSpPr>
          <p:cNvPr id="1136" name="Google Shape;1136;p7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p7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6.5, slide 41 | APPLY</a:t>
            </a:r>
          </a:p>
          <a:p xmlns:a="http://schemas.openxmlformats.org/drawingml/2006/main">
            <a:pPr>
              <a:buNone/>
            </a:pPr>
            <a:r>
              <a:rPr lang="en-US" sz="1100"/>
              <a:t>Focus on the existing task: Some industries set three different levels of defects: critical, major, and minor. The AQLs for an automotive supplier are shown. If any…</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define the variable. Ask which feature of their work supports the claim.</a:t>
            </a:r>
          </a:p>
          <a:p xmlns:a="http://schemas.openxmlformats.org/drawingml/2006/main">
            <a:pPr>
              <a:buNone/>
            </a:pPr>
            <a:r>
              <a:rPr lang="en-US" sz="1100"/>
              <a:t>RESPOND: If this task shows the lesson misconception—reversing subtraction or omitting implied multiplication—label the quantity represented by each part of the original expression.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define the variable; translate operations in order; substitute and evaluate accurately. Respond with one specific next step tied to the work. Students revise and annotate what changed, then identify a criterion they can now demonstrate and one they still need to practice.</a:t>
            </a:r>
          </a:p>
        </p:txBody>
      </p:sp>
      <p:sp>
        <p:nvSpPr>
          <p:cNvPr id="1144" name="Google Shape;1144;p7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p7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6.5, slide 42 | REFLECTION</a:t>
            </a:r>
          </a:p>
          <a:p xmlns:a="http://schemas.openxmlformats.org/drawingml/2006/main">
            <a:pPr>
              <a:buNone/>
            </a:pPr>
            <a:r>
              <a:rPr lang="en-US" sz="1100"/>
              <a:t>Focus on the existing task: I can reason abstractly and quantitatively to write an algebraic expression, using variables for any unknown quantities. I can use the…</a:t>
            </a:r>
          </a:p>
          <a:p xmlns:a="http://schemas.openxmlformats.org/drawingml/2006/main">
            <a:pPr>
              <a:buNone/>
            </a:pPr>
            <a:r>
              <a:rPr lang="en-US" sz="1100"/>
              <a:t>CONNECT (T1/4): Ask students to restate the displayed goal or key idea and connect it to earlier work. Relevant lesson evidence: define the variable; translate operations in order; substitute and evaluate accurately.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each target; students self-rate with fist-to-five or thumbs.</a:t>
            </a:r>
          </a:p>
          <a:p>
            <a:pPr indent="0" lvl="0" marL="0" rtl="0" algn="l">
              <a:lnSpc>
                <a:spcPct val="100000"/>
              </a:lnSpc>
              <a:spcBef>
                <a:spcPts val="0"/>
              </a:spcBef>
              <a:spcAft>
                <a:spcPts val="0"/>
              </a:spcAft>
              <a:buSzPts val="1400"/>
              <a:buNone/>
            </a:pPr>
            <a:r>
              <a:t>Tie back to the goal from the start of class: did we get there?</a:t>
            </a:r>
          </a:p>
          <a:p>
            <a:pPr indent="0" lvl="0" marL="0" rtl="0" algn="l">
              <a:lnSpc>
                <a:spcPct val="100000"/>
              </a:lnSpc>
              <a:spcBef>
                <a:spcPts val="0"/>
              </a:spcBef>
              <a:spcAft>
                <a:spcPts val="0"/>
              </a:spcAft>
              <a:buSzPts val="1400"/>
              <a:buNone/>
            </a:pPr>
            <a:r>
              <a:t>Note any target that rates low — revisit it tomorrow.</a:t>
            </a:r>
          </a:p>
          <a:p>
            <a:pPr indent="0" lvl="0" marL="0" rtl="0" algn="l">
              <a:lnSpc>
                <a:spcPct val="100000"/>
              </a:lnSpc>
              <a:spcBef>
                <a:spcPts val="0"/>
              </a:spcBef>
              <a:spcAft>
                <a:spcPts val="0"/>
              </a:spcAft>
              <a:buSzPts val="1400"/>
              <a:buNone/>
            </a:pPr>
            <a:r>
              <a:t>UIFR: TEACH 1 · TEACH 4.</a:t>
            </a:r>
          </a:p>
        </p:txBody>
      </p:sp>
      <p:sp>
        <p:nvSpPr>
          <p:cNvPr id="1153" name="Google Shape;1153;p7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6.5, slide 28 | WARMUP</a:t>
            </a:r>
          </a:p>
          <a:p xmlns:a="http://schemas.openxmlformats.org/drawingml/2006/main">
            <a:pPr>
              <a:buNone/>
            </a:pPr>
            <a:r>
              <a:rPr lang="en-US" sz="1100"/>
              <a:t>Focus on the existing task: Warm-Up Session 2 Warm-Up Check what you remember…</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6.5, slide 29 | NOTES</a:t>
            </a:r>
          </a:p>
          <a:p xmlns:a="http://schemas.openxmlformats.org/drawingml/2006/main">
            <a:pPr>
              <a:buNone/>
            </a:pPr>
            <a:r>
              <a:rPr lang="en-US" sz="1100"/>
              <a:t>Focus on the existing task: Review Notes — Session 2 Session 2: Review Notes…</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Choral-read each word, its meaning, and what it looks like.</a:t>
            </a:r>
          </a:p>
          <a:p>
            <a:r>
              <a:t>Students should use these words out loud today — listen for them in partner talk and revoice student ideas with the academic term.</a:t>
            </a:r>
          </a:p>
          <a:p>
            <a:r>
              <a:t>UIFR: TEACH 1 · TEACH 5.</a:t>
            </a:r>
          </a:p>
        </p:txBody>
      </p:sp>
    </p:spTree>
  </p:cSld>
  <p:clrMapOvr>
    <a:masterClrMapping/>
  </p:clrMapOvr>
</p:notes>
</file>

<file path=ppt/notesSlides/notesSlide8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6.5, slide 43 | CURIOUS</a:t>
            </a:r>
          </a:p>
          <a:p xmlns:a="http://schemas.openxmlformats.org/drawingml/2006/main">
            <a:pPr>
              <a:buNone/>
            </a:pPr>
            <a:r>
              <a:rPr lang="en-US" sz="1100"/>
              <a:t>Focus on the existing task: Be Curious How helpful has it been for you to have a plan to solve a math or non-math problem?</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define the variable. Ask which feature of their work supports the claim.</a:t>
            </a:r>
          </a:p>
          <a:p xmlns:a="http://schemas.openxmlformats.org/drawingml/2006/main">
            <a:pPr>
              <a:buNone/>
            </a:pPr>
            <a:r>
              <a:rPr lang="en-US" sz="1100"/>
              <a:t>RESPOND: If this task shows the lesson misconception—reversing subtraction or omitting implied multiplication—label the quantity represented by each part of the original expression.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reversing subtraction or omitting implied multiplication.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label the quantity represented by each part of the original expression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8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6.5, slide 7 | PRIOR_INSERT</a:t>
            </a:r>
          </a:p>
          <a:p xmlns:a="http://schemas.openxmlformats.org/drawingml/2006/main">
            <a:pPr>
              <a:buNone/>
            </a:pPr>
            <a:r>
              <a:rPr lang="en-US" sz="1100"/>
              <a:t>Focus on the existing task: LESSON 6.5 / OUR LEARNING What will show your learning?</a:t>
            </a:r>
          </a:p>
          <a:p xmlns:a="http://schemas.openxmlformats.org/drawingml/2006/main">
            <a:pPr>
              <a:buNone/>
            </a:pPr>
            <a:r>
              <a:rPr lang="en-US" sz="1100"/>
              <a:t>CONNECT (T1/4): Ask students to restate the displayed goal or key idea and connect it to earlier work. Relevant lesson evidence: define the variable; translate operations in order; substitute and evaluate accurately.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6.5, slide 8 | VOCAB</a:t>
            </a:r>
          </a:p>
          <a:p xmlns:a="http://schemas.openxmlformats.org/drawingml/2006/main">
            <a:pPr>
              <a:buNone/>
            </a:pPr>
            <a:r>
              <a:rPr lang="en-US" sz="1100"/>
              <a:t>Focus on the existing task: Vocabulary 1 of 8 Write Algebraic Expressions…</a:t>
            </a:r>
          </a:p>
          <a:p xmlns:a="http://schemas.openxmlformats.org/drawingml/2006/main">
            <a:pPr>
              <a:buNone/>
            </a:pPr>
            <a:r>
              <a:rPr lang="en-US" sz="1100"/>
              <a:t>ASK (T1/3/5): Where does “Write Algebraic Expressions”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6.5, slide 9 | VOCAB</a:t>
            </a:r>
          </a:p>
          <a:p xmlns:a="http://schemas.openxmlformats.org/drawingml/2006/main">
            <a:pPr>
              <a:buNone/>
            </a:pPr>
            <a:r>
              <a:rPr lang="en-US" sz="1100"/>
              <a:t>Focus on the existing task: Vocabulary 2 of 8 Variable A letter that stands…</a:t>
            </a:r>
          </a:p>
          <a:p xmlns:a="http://schemas.openxmlformats.org/drawingml/2006/main">
            <a:pPr>
              <a:buNone/>
            </a:pPr>
            <a:r>
              <a:rPr lang="en-US" sz="1100"/>
              <a:t>ASK (T1/3/5): Where does “Variable”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6.5, slide 10 | VOCAB</a:t>
            </a:r>
          </a:p>
          <a:p xmlns:a="http://schemas.openxmlformats.org/drawingml/2006/main">
            <a:pPr>
              <a:buNone/>
            </a:pPr>
            <a:r>
              <a:rPr lang="en-US" sz="1100"/>
              <a:t>Focus on the existing task: Vocabulary 3 of 8 Algebraic Expression A math…</a:t>
            </a:r>
          </a:p>
          <a:p xmlns:a="http://schemas.openxmlformats.org/drawingml/2006/main">
            <a:pPr>
              <a:buNone/>
            </a:pPr>
            <a:r>
              <a:rPr lang="en-US" sz="1100"/>
              <a:t>ASK (T1/3/5): Where does “Algebraic Expression”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6.5, slide 11 | VOCAB</a:t>
            </a:r>
          </a:p>
          <a:p xmlns:a="http://schemas.openxmlformats.org/drawingml/2006/main">
            <a:pPr>
              <a:buNone/>
            </a:pPr>
            <a:r>
              <a:rPr lang="en-US" sz="1100"/>
              <a:t>Focus on the existing task: Vocabulary 4 of 8 Coefficient The number in front…</a:t>
            </a:r>
          </a:p>
          <a:p xmlns:a="http://schemas.openxmlformats.org/drawingml/2006/main">
            <a:pPr>
              <a:buNone/>
            </a:pPr>
            <a:r>
              <a:rPr lang="en-US" sz="1100"/>
              <a:t>ASK (T1/3/5): Where does “Coefficient”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6.5, slide 12 | VOCAB</a:t>
            </a:r>
          </a:p>
          <a:p xmlns:a="http://schemas.openxmlformats.org/drawingml/2006/main">
            <a:pPr>
              <a:buNone/>
            </a:pPr>
            <a:r>
              <a:rPr lang="en-US" sz="1100"/>
              <a:t>Focus on the existing task: Vocabulary 5 of 8 Constant A fixed number in an…</a:t>
            </a:r>
          </a:p>
          <a:p xmlns:a="http://schemas.openxmlformats.org/drawingml/2006/main">
            <a:pPr>
              <a:buNone/>
            </a:pPr>
            <a:r>
              <a:rPr lang="en-US" sz="1100"/>
              <a:t>ASK (T1/3/5): Where does “Constant”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6.5, slide 13 | VOCAB</a:t>
            </a:r>
          </a:p>
          <a:p xmlns:a="http://schemas.openxmlformats.org/drawingml/2006/main">
            <a:pPr>
              <a:buNone/>
            </a:pPr>
            <a:r>
              <a:rPr lang="en-US" sz="1100"/>
              <a:t>Focus on the existing task: Vocabulary 6 of 8 Like terms Terms with the same…</a:t>
            </a:r>
          </a:p>
          <a:p xmlns:a="http://schemas.openxmlformats.org/drawingml/2006/main">
            <a:pPr>
              <a:buNone/>
            </a:pPr>
            <a:r>
              <a:rPr lang="en-US" sz="1100"/>
              <a:t>ASK (T1/3/5): Where does “Like terms”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9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6.5, slide 14 | VOCAB</a:t>
            </a:r>
          </a:p>
          <a:p xmlns:a="http://schemas.openxmlformats.org/drawingml/2006/main">
            <a:pPr>
              <a:buNone/>
            </a:pPr>
            <a:r>
              <a:rPr lang="en-US" sz="1100"/>
              <a:t>Focus on the existing task: Vocabulary 7 of 8 Substitute To replace a…</a:t>
            </a:r>
          </a:p>
          <a:p xmlns:a="http://schemas.openxmlformats.org/drawingml/2006/main">
            <a:pPr>
              <a:buNone/>
            </a:pPr>
            <a:r>
              <a:rPr lang="en-US" sz="1100"/>
              <a:t>ASK (T1/3/5): Where does “Substitute”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9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6.5, slide 15 | VOCAB</a:t>
            </a:r>
          </a:p>
          <a:p xmlns:a="http://schemas.openxmlformats.org/drawingml/2006/main">
            <a:pPr>
              <a:buNone/>
            </a:pPr>
            <a:r>
              <a:rPr lang="en-US" sz="1100"/>
              <a:t>Focus on the existing task: Vocabulary 8 of 8 Evaluate To find what an…</a:t>
            </a:r>
          </a:p>
          <a:p xmlns:a="http://schemas.openxmlformats.org/drawingml/2006/main">
            <a:pPr>
              <a:buNone/>
            </a:pPr>
            <a:r>
              <a:rPr lang="en-US" sz="1100"/>
              <a:t>ASK (T1/3/5): Where does “Evaluate”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9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6.5, slide 26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define the variable; translate operations in order; substitute and evaluate accurately.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9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6.5, slide 27 | REVEAL</a:t>
            </a:r>
          </a:p>
          <a:p xmlns:a="http://schemas.openxmlformats.org/drawingml/2006/main">
            <a:pPr>
              <a:buNone/>
            </a:pPr>
            <a:r>
              <a:rPr lang="en-US" sz="1100"/>
              <a:t>Focus on the existing task: To determine the total cost, what operation can you use between each expression?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define the variable. Ask which feature of their work supports the claim.</a:t>
            </a:r>
          </a:p>
          <a:p xmlns:a="http://schemas.openxmlformats.org/drawingml/2006/main">
            <a:pPr>
              <a:buNone/>
            </a:pPr>
            <a:r>
              <a:rPr lang="en-US" sz="1100"/>
              <a:t>RESPOND: If this task shows the lesson misconception—reversing subtraction or omitting implied multiplication—label the quantity represented by each part of the original expression.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9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6.5, slide 37 | PRIOR_INSERT</a:t>
            </a:r>
          </a:p>
          <a:p xmlns:a="http://schemas.openxmlformats.org/drawingml/2006/main">
            <a:pPr>
              <a:buNone/>
            </a:pPr>
            <a:r>
              <a:rPr lang="en-US" sz="1100"/>
              <a:t>Focus on the existing task: LESSON 6.5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define the variable; translate operations in order; substitute and evaluate accurately.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9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6.5, slide 38 | REVEAL</a:t>
            </a:r>
          </a:p>
          <a:p xmlns:a="http://schemas.openxmlformats.org/drawingml/2006/main">
            <a:pPr>
              <a:buNone/>
            </a:pPr>
            <a:r>
              <a:rPr lang="en-US" sz="1100"/>
              <a:t>Focus on the existing task: How can you write an expression to represent the number of cars made in one day?</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define the variable. Ask which feature of their work supports the claim.</a:t>
            </a:r>
          </a:p>
          <a:p xmlns:a="http://schemas.openxmlformats.org/drawingml/2006/main">
            <a:pPr>
              <a:buNone/>
            </a:pPr>
            <a:r>
              <a:rPr lang="en-US" sz="1100"/>
              <a:t>RESPOND: If this task shows the lesson misconception—reversing subtraction or omitting implied multiplication—label the quantity represented by each part of the original expression.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9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6.5, slide 44 | PRIOR_INSERT</a:t>
            </a:r>
          </a:p>
          <a:p xmlns:a="http://schemas.openxmlformats.org/drawingml/2006/main">
            <a:pPr>
              <a:buNone/>
            </a:pPr>
            <a:r>
              <a:rPr lang="en-US" sz="1100"/>
              <a:t>Focus on the existing task: LESSON 6.5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define the variable; translate operations in order; substitute and evaluate accurately.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4.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4" name="Google Shape;24;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
        <p:nvSpPr>
          <p:cNvPr id="25" name="Google Shape;25;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Write and Evaluate Algebraic Expressions</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Write and Evaluate Algebraic Expressions</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a:t>
            </a:r>
            <a:endParaRPr b="0" i="0" sz="900" u="none" cap="none" strike="noStrik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8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8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8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8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8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9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9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 Id="rId3"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 Id="rId3" Type="http://schemas.openxmlformats.org/officeDocument/2006/relationships/image" Target="../media/image32.png"/><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3.png"/><Relationship Id="rId3" Type="http://schemas.openxmlformats.org/officeDocument/2006/relationships/notesSlide" Target="../notesSlides/notesSlide9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40.png"/><Relationship Id="rId4" Type="http://schemas.openxmlformats.org/officeDocument/2006/relationships/image" Target="../media/image34.png"/><Relationship Id="rId5" Type="http://schemas.openxmlformats.org/officeDocument/2006/relationships/image" Target="../media/image1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34.png"/><Relationship Id="rId4" Type="http://schemas.openxmlformats.org/officeDocument/2006/relationships/image" Target="../media/image4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50.png"/><Relationship Id="rId4" Type="http://schemas.openxmlformats.org/officeDocument/2006/relationships/image" Target="../media/image42.png"/><Relationship Id="rId5" Type="http://schemas.openxmlformats.org/officeDocument/2006/relationships/image" Target="../media/image4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4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5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5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8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8"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59"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6-5 · Write and Evaluate Algebraic Expressions   |   Warm-Up · about 4 minutes</a:t>
            </a:r>
          </a:p>
        </p:txBody>
      </p:sp>
      <p:sp>
        <p:nvSpPr>
          <p:cNvPr id="260"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1"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2"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5"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Evaluate n + 8 when n = 6. ______</a:t>
            </a:r>
          </a:p>
        </p:txBody>
      </p:sp>
      <p:sp>
        <p:nvSpPr>
          <p:cNvPr id="266"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69"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Evaluate 4n + 3 when n = 5. ______</a:t>
            </a:r>
          </a:p>
        </p:txBody>
      </p:sp>
      <p:sp>
        <p:nvSpPr>
          <p:cNvPr id="270"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3"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4n means 4 × ______</a:t>
            </a:r>
          </a:p>
        </p:txBody>
      </p:sp>
      <p:sp>
        <p:nvSpPr>
          <p:cNvPr id="274"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7"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Write an expression for 7 more than a number n: ______</a:t>
            </a:r>
          </a:p>
        </p:txBody>
      </p:sp>
      <p:sp>
        <p:nvSpPr>
          <p:cNvPr id="278"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79"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48</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5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3" name="Google Shape;543;p54"/>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4" name="Google Shape;544;p5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45" name="Google Shape;545;p5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6-5 · Write and Evaluate Algebraic Expressions</a:t>
            </a:r>
            <a:endParaRPr/>
          </a:p>
        </p:txBody>
      </p:sp>
      <p:sp>
        <p:nvSpPr>
          <p:cNvPr id="546" name="Google Shape;546;p5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7" name="Google Shape;547;p5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48" name="Google Shape;548;p54"/>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549" name="Google Shape;549;p54"/>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0" name="Google Shape;550;p54"/>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51" name="Google Shape;551;p54"/>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2" name="Google Shape;552;p54"/>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3" name="Google Shape;553;p54"/>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54" name="Google Shape;554;p54"/>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Write Algebraic Expressions</a:t>
            </a:r>
            <a:endParaRPr/>
          </a:p>
        </p:txBody>
      </p:sp>
      <p:sp>
        <p:nvSpPr>
          <p:cNvPr id="555" name="Google Shape;555;p54"/>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Translate words or a situation into numbers, variables, and operation symbols</a:t>
            </a:r>
            <a:endParaRPr/>
          </a:p>
        </p:txBody>
      </p:sp>
      <p:sp>
        <p:nvSpPr>
          <p:cNvPr id="556" name="Google Shape;556;p54"/>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7" name="Google Shape;557;p54"/>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8" name="Google Shape;558;p54"/>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59" name="Google Shape;559;p54"/>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Variable</a:t>
            </a:r>
            <a:endParaRPr/>
          </a:p>
        </p:txBody>
      </p:sp>
      <p:sp>
        <p:nvSpPr>
          <p:cNvPr id="560" name="Google Shape;560;p54"/>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A letter that stands for a number</a:t>
            </a:r>
            <a:endParaRPr/>
          </a:p>
        </p:txBody>
      </p:sp>
      <p:sp>
        <p:nvSpPr>
          <p:cNvPr id="561" name="Google Shape;561;p54"/>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2" name="Google Shape;562;p54"/>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3" name="Google Shape;563;p54"/>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64" name="Google Shape;564;p54"/>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Algebraic Expression</a:t>
            </a:r>
            <a:endParaRPr/>
          </a:p>
        </p:txBody>
      </p:sp>
      <p:sp>
        <p:nvSpPr>
          <p:cNvPr id="565" name="Google Shape;565;p54"/>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A math phrase that has at least one letter</a:t>
            </a:r>
            <a:endParaRPr/>
          </a:p>
        </p:txBody>
      </p:sp>
      <p:sp>
        <p:nvSpPr>
          <p:cNvPr id="56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48</a:t>
            </a:r>
          </a:p>
        </p:txBody>
      </p:sp>
      <p:grpSp>
        <p:nvGrpSpPr>
          <p:cNvPr id="567" name="TEACH-1-student-move" descr="TEACH 1 · Facilitate clear, standards-based content learning"/>
          <p:cNvGrpSpPr/>
          <p:nvPr/>
        </p:nvGrpSpPr>
        <p:grpSpPr>
          <a:xfrm>
            <a:off x="6187440" y="1682496"/>
            <a:ext cx="5501640" cy="594360"/>
            <a:chOff x="6187440" y="1682496"/>
            <a:chExt cx="5501640" cy="594360"/>
          </a:xfrm>
        </p:grpSpPr>
        <p:sp>
          <p:nvSpPr>
            <p:cNvPr id="568"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69"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70"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5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1" name="Google Shape;571;p55"/>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2" name="Google Shape;572;p5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73" name="Google Shape;573;p5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6-5 · Write and Evaluate Algebraic Expressions</a:t>
            </a:r>
            <a:endParaRPr/>
          </a:p>
        </p:txBody>
      </p:sp>
      <p:sp>
        <p:nvSpPr>
          <p:cNvPr id="574" name="Google Shape;574;p5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5" name="Google Shape;575;p5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76" name="Google Shape;576;p55"/>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2: Today’s Math</a:t>
            </a:r>
            <a:endParaRPr/>
          </a:p>
        </p:txBody>
      </p:sp>
      <p:sp>
        <p:nvSpPr>
          <p:cNvPr id="577" name="Google Shape;577;p55"/>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8" name="Google Shape;578;p55"/>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79" name="Google Shape;579;p55"/>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0" name="Google Shape;580;p55"/>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2700" u="none" cap="none" strike="noStrike">
                <a:solidFill>
                  <a:srgbClr val="14223A"/>
                </a:solidFill>
                <a:latin typeface="Arial"/>
                <a:ea typeface="Arial"/>
                <a:cs typeface="Arial"/>
                <a:sym typeface="Arial"/>
              </a:rPr>
              <a:t>Writing &amp; Evaluating Algebraic Expressions</a:t>
            </a:r>
            <a:endParaRPr/>
          </a:p>
        </p:txBody>
      </p:sp>
      <p:sp>
        <p:nvSpPr>
          <p:cNvPr id="581" name="Google Shape;581;p55"/>
          <p:cNvSpPr/>
          <p:nvPr/>
        </p:nvSpPr>
        <p:spPr>
          <a:xfrm>
            <a:off x="640080" y="3182112"/>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2" name="Google Shape;582;p55"/>
          <p:cNvSpPr/>
          <p:nvPr/>
        </p:nvSpPr>
        <p:spPr>
          <a:xfrm>
            <a:off x="896112" y="34655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83" name="Google Shape;583;p55"/>
          <p:cNvSpPr txBox="1"/>
          <p:nvPr/>
        </p:nvSpPr>
        <p:spPr>
          <a:xfrm>
            <a:off x="1371600" y="3264408"/>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0" i="0" lang="en-US" sz="1600" u="none" cap="none" strike="noStrike">
                <a:solidFill>
                  <a:srgbClr val="14223A"/>
                </a:solidFill>
                <a:latin typeface="Arial"/>
                <a:ea typeface="Arial"/>
                <a:cs typeface="Arial"/>
                <a:sym typeface="Arial"/>
              </a:rPr>
              <a:t xml:space="preserve">Define the </a:t>
            </a:r>
            <a:r>
              <a:rPr b="1" i="0" lang="en-US" sz="1600" u="none" cap="none" strike="noStrike">
                <a:solidFill>
                  <a:srgbClr val="14223A"/>
                </a:solidFill>
                <a:latin typeface="Arial"/>
                <a:ea typeface="Arial"/>
                <a:cs typeface="Arial"/>
                <a:sym typeface="Arial"/>
              </a:rPr>
              <a:t xml:space="preserve">variable</a:t>
            </a:r>
            <a:r>
              <a:rPr b="0" i="0" lang="en-US" sz="1600" u="none" cap="none" strike="noStrike">
                <a:solidFill>
                  <a:srgbClr val="14223A"/>
                </a:solidFill>
                <a:latin typeface="Arial"/>
                <a:ea typeface="Arial"/>
                <a:cs typeface="Arial"/>
                <a:sym typeface="Arial"/>
              </a:rPr>
              <a:t xml:space="preserve"> to represent the unknown quantity</a:t>
            </a:r>
            <a:endParaRPr/>
          </a:p>
        </p:txBody>
      </p:sp>
      <p:sp>
        <p:nvSpPr>
          <p:cNvPr id="584" name="Google Shape;584;p55"/>
          <p:cNvSpPr/>
          <p:nvPr/>
        </p:nvSpPr>
        <p:spPr>
          <a:xfrm>
            <a:off x="640080" y="4224528"/>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5" name="Google Shape;585;p55"/>
          <p:cNvSpPr/>
          <p:nvPr/>
        </p:nvSpPr>
        <p:spPr>
          <a:xfrm>
            <a:off x="896112" y="450799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86" name="Google Shape;586;p55"/>
          <p:cNvSpPr txBox="1"/>
          <p:nvPr/>
        </p:nvSpPr>
        <p:spPr>
          <a:xfrm>
            <a:off x="1371600" y="4306824"/>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0" i="0" lang="en-US" sz="1600" u="none" cap="none" strike="noStrike">
                <a:solidFill>
                  <a:srgbClr val="14223A"/>
                </a:solidFill>
                <a:latin typeface="Arial"/>
                <a:ea typeface="Arial"/>
                <a:cs typeface="Arial"/>
                <a:sym typeface="Arial"/>
              </a:rPr>
              <a:t xml:space="preserve">Translate mathematical phrases into operations, </a:t>
            </a:r>
            <a:r>
              <a:rPr b="1" i="0" lang="en-US" sz="1600" u="none" cap="none" strike="noStrike">
                <a:solidFill>
                  <a:srgbClr val="14223A"/>
                </a:solidFill>
                <a:latin typeface="Arial"/>
                <a:ea typeface="Arial"/>
                <a:cs typeface="Arial"/>
                <a:sym typeface="Arial"/>
              </a:rPr>
              <a:t xml:space="preserve">coefficients</a:t>
            </a:r>
            <a:r>
              <a:rPr b="0" i="0" lang="en-US" sz="1600" u="none" cap="none" strike="noStrike">
                <a:solidFill>
                  <a:srgbClr val="14223A"/>
                </a:solidFill>
                <a:latin typeface="Arial"/>
                <a:ea typeface="Arial"/>
                <a:cs typeface="Arial"/>
                <a:sym typeface="Arial"/>
              </a:rPr>
              <a:t xml:space="preserve">, and </a:t>
            </a:r>
            <a:r>
              <a:rPr b="1" i="0" lang="en-US" sz="1600" u="none" cap="none" strike="noStrike">
                <a:solidFill>
                  <a:srgbClr val="14223A"/>
                </a:solidFill>
                <a:latin typeface="Arial"/>
                <a:ea typeface="Arial"/>
                <a:cs typeface="Arial"/>
                <a:sym typeface="Arial"/>
              </a:rPr>
              <a:t xml:space="preserve">constants</a:t>
            </a:r>
            <a:endParaRPr/>
          </a:p>
        </p:txBody>
      </p:sp>
      <p:sp>
        <p:nvSpPr>
          <p:cNvPr id="587" name="Google Shape;587;p55"/>
          <p:cNvSpPr/>
          <p:nvPr/>
        </p:nvSpPr>
        <p:spPr>
          <a:xfrm>
            <a:off x="640080" y="5266944"/>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8" name="Google Shape;588;p55"/>
          <p:cNvSpPr/>
          <p:nvPr/>
        </p:nvSpPr>
        <p:spPr>
          <a:xfrm>
            <a:off x="896112" y="555040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89" name="Google Shape;589;p55"/>
          <p:cNvSpPr txBox="1"/>
          <p:nvPr/>
        </p:nvSpPr>
        <p:spPr>
          <a:xfrm>
            <a:off x="1371600" y="5349240"/>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 xml:space="preserve">Evaluate</a:t>
            </a:r>
            <a:r>
              <a:rPr b="0" i="0" lang="en-US" sz="1600" u="none" cap="none" strike="noStrike">
                <a:solidFill>
                  <a:srgbClr val="14223A"/>
                </a:solidFill>
                <a:latin typeface="Arial"/>
                <a:ea typeface="Arial"/>
                <a:cs typeface="Arial"/>
                <a:sym typeface="Arial"/>
              </a:rPr>
              <a:t xml:space="preserve"> by </a:t>
            </a:r>
            <a:r>
              <a:rPr b="1" i="0" lang="en-US" sz="1600" u="none" cap="none" strike="noStrike">
                <a:solidFill>
                  <a:srgbClr val="14223A"/>
                </a:solidFill>
                <a:latin typeface="Arial"/>
                <a:ea typeface="Arial"/>
                <a:cs typeface="Arial"/>
                <a:sym typeface="Arial"/>
              </a:rPr>
              <a:t xml:space="preserve">substituting</a:t>
            </a:r>
            <a:r>
              <a:rPr b="0" i="0" lang="en-US" sz="1600" u="none" cap="none" strike="noStrike">
                <a:solidFill>
                  <a:srgbClr val="14223A"/>
                </a:solidFill>
                <a:latin typeface="Arial"/>
                <a:ea typeface="Arial"/>
                <a:cs typeface="Arial"/>
                <a:sym typeface="Arial"/>
              </a:rPr>
              <a:t xml:space="preserve"> given numerical values for the variable</a:t>
            </a:r>
            <a:endParaRPr/>
          </a:p>
        </p:txBody>
      </p:sp>
      <p:sp>
        <p:nvSpPr>
          <p:cNvPr id="59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48</a:t>
            </a:r>
          </a:p>
        </p:txBody>
      </p:sp>
      <p:grpSp>
        <p:nvGrpSpPr>
          <p:cNvPr id="591" name="TEACH-1-student-move" descr="TEACH 1 · Facilitate clear, standards-based content learning"/>
          <p:cNvGrpSpPr/>
          <p:nvPr/>
        </p:nvGrpSpPr>
        <p:grpSpPr>
          <a:xfrm>
            <a:off x="502920" y="5111496"/>
            <a:ext cx="11186160" cy="402336"/>
            <a:chOff x="502920" y="5111496"/>
            <a:chExt cx="11186160" cy="402336"/>
          </a:xfrm>
        </p:grpSpPr>
        <p:sp>
          <p:nvSpPr>
            <p:cNvPr id="592" name="TEACH-move-card"/>
            <p:cNvSpPr/>
            <p:nvPr/>
          </p:nvSpPr>
          <p:spPr>
            <a:xfrm>
              <a:off x="502920" y="5111496"/>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593" name="TEACH-move-rule"/>
            <p:cNvSpPr/>
            <p:nvPr/>
          </p:nvSpPr>
          <p:spPr>
            <a:xfrm>
              <a:off x="548640" y="5187940"/>
              <a:ext cx="100584" cy="249448"/>
            </a:xfrm>
            <a:prstGeom prst="roundRect">
              <a:avLst>
                <a:gd name="adj" fmla="val 50000"/>
              </a:avLst>
            </a:prstGeom>
            <a:solidFill>
              <a:srgbClr val="01708C"/>
            </a:solidFill>
            <a:ln>
              <a:noFill/>
            </a:ln>
          </p:spPr>
          <p:txBody>
            <a:bodyPr/>
            <a:lstStyle/>
            <a:p>
              <a:endParaRPr/>
            </a:p>
          </p:txBody>
        </p:sp>
        <p:sp>
          <p:nvSpPr>
            <p:cNvPr id="594" name="TEACH-move-text"/>
            <p:cNvSpPr txBox="1"/>
            <p:nvPr/>
          </p:nvSpPr>
          <p:spPr>
            <a:xfrm>
              <a:off x="822960" y="5111496"/>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Write and Evaluate Algebraic Expressions</a:t>
            </a:r>
            <a:endParaRPr b="0" i="0" sz="1400" u="none" cap="none" strike="noStrike">
              <a:solidFill>
                <a:srgbClr val="000000"/>
              </a:solidFill>
              <a:latin typeface="Arial"/>
              <a:ea typeface="Arial"/>
              <a:cs typeface="Arial"/>
              <a:sym typeface="Arial"/>
            </a:endParaRPr>
          </a:p>
        </p:txBody>
      </p:sp>
      <p:sp>
        <p:nvSpPr>
          <p:cNvPr id="234" name="Google Shape;234;p4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5" name="Google Shape;235;p40"/>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48</a:t>
            </a:r>
          </a:p>
        </p:txBody>
      </p:sp>
      <p:grpSp>
        <p:nvGrpSpPr>
          <p:cNvPr id="237" name="TEACH-6-student-move" descr="TEACH 6 · Organize and implement routines to support a learning-focused classroom"/>
          <p:cNvGrpSpPr/>
          <p:nvPr/>
        </p:nvGrpSpPr>
        <p:grpSpPr>
          <a:xfrm>
            <a:off x="502920" y="3867612"/>
            <a:ext cx="11186160" cy="731520"/>
            <a:chOff x="502920" y="3867612"/>
            <a:chExt cx="11186160" cy="731520"/>
          </a:xfrm>
        </p:grpSpPr>
        <p:sp>
          <p:nvSpPr>
            <p:cNvPr id="238"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39"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240"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TRY IT BEFORE YOU’RE SURE  ·  </a:t>
              </a:r>
              <a:r>
                <a:rPr lang="en-US" sz="1800" dirty="0">
                  <a:solidFill>
                    <a:srgbClr val="13303A"/>
                  </a:solidFill>
                  <a:latin typeface="Arial"/>
                </a:rPr>
                <a:t>Start even if you are not sure. A revised answer counts as much as a first-try answer.</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cxnSp>
        <p:nvCxnSpPr>
          <p:cNvPr id="240" name="Google Shape;240;p4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241" name="Google Shape;241;p41"/>
          <p:cNvSpPr txBox="1"/>
          <p:nvPr/>
        </p:nvSpPr>
        <p:spPr>
          <a:xfrm>
            <a:off x="505579" y="316034"/>
            <a:ext cx="4842276"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Or You Could</a:t>
            </a:r>
            <a:endParaRPr b="0" i="0" sz="1400" u="none" cap="none" strike="noStrike">
              <a:solidFill>
                <a:srgbClr val="000000"/>
              </a:solidFill>
              <a:latin typeface="Arial"/>
              <a:ea typeface="Arial"/>
              <a:cs typeface="Arial"/>
              <a:sym typeface="Arial"/>
            </a:endParaRPr>
          </a:p>
        </p:txBody>
      </p:sp>
      <p:sp>
        <p:nvSpPr>
          <p:cNvPr id="242" name="Google Shape;242;p41"/>
          <p:cNvSpPr txBox="1"/>
          <p:nvPr/>
        </p:nvSpPr>
        <p:spPr>
          <a:xfrm>
            <a:off x="507712" y="1349431"/>
            <a:ext cx="5793335" cy="2407922"/>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48</a:t>
            </a:r>
          </a:p>
        </p:txBody>
      </p:sp>
      <p:sp xmlns:p="http://schemas.openxmlformats.org/presentationml/2006/main" xmlns:a="http://schemas.openxmlformats.org/drawingml/2006/main">
        <p:nvSpPr>
          <p:cNvPr id="244"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4" name="Google Shape;334;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5" name="Google Shape;335;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36" name="Google Shape;336;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6-5 · Write and Evaluate Algebraic Expressions</a:t>
            </a:r>
            <a:endParaRPr/>
          </a:p>
        </p:txBody>
      </p:sp>
      <p:sp>
        <p:nvSpPr>
          <p:cNvPr id="337" name="Google Shape;337;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8" name="Google Shape;338;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39" name="Google Shape;339;p44"/>
          <p:cNvSpPr txBox="1"/>
          <p:nvPr/>
        </p:nvSpPr>
        <p:spPr>
          <a:xfrm>
            <a:off x="640080" y="969264"/>
            <a:ext cx="10911809" cy="631952"/>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800" u="none" cap="none" strike="noStrike">
                <a:solidFill>
                  <a:srgbClr val="14223A"/>
                </a:solidFill>
                <a:latin typeface="Arial"/>
                <a:ea typeface="Arial"/>
                <a:cs typeface="Arial"/>
                <a:sym typeface="Arial"/>
              </a:rPr>
              <a:t>Write and Evaluate Algebraic Expressions</a:t>
            </a:r>
            <a:endParaRPr/>
          </a:p>
        </p:txBody>
      </p:sp>
      <p:sp>
        <p:nvSpPr>
          <p:cNvPr id="340" name="Google Shape;340;p44"/>
          <p:cNvSpPr txBox="1"/>
          <p:nvPr/>
        </p:nvSpPr>
        <p:spPr>
          <a:xfrm>
            <a:off x="640080" y="1637792"/>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6.AT.6a</a:t>
            </a:r>
            <a:endParaRPr/>
          </a:p>
        </p:txBody>
      </p:sp>
      <p:sp>
        <p:nvSpPr>
          <p:cNvPr id="341" name="Google Shape;341;p44"/>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2" name="Google Shape;342;p44"/>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3" name="Google Shape;343;p44"/>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44" name="Google Shape;344;p44"/>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45" name="Google Shape;345;p44"/>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write an algebraic expression for a real situation and evaluate it for a given value of the variable.</a:t>
            </a:r>
            <a:endParaRPr/>
          </a:p>
        </p:txBody>
      </p:sp>
      <p:sp>
        <p:nvSpPr>
          <p:cNvPr id="346" name="Google Shape;346;p44"/>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7" name="Google Shape;347;p44"/>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8" name="Google Shape;348;p44"/>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49" name="Google Shape;349;p44"/>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50" name="Google Shape;350;p44"/>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my expression using the words variable, term, coefficient, constant, substitute, and evaluate.</a:t>
            </a:r>
            <a:endParaRPr/>
          </a:p>
        </p:txBody>
      </p:sp>
      <p:sp>
        <p:nvSpPr>
          <p:cNvPr id="35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48</a:t>
            </a:r>
          </a:p>
        </p:txBody>
      </p:sp>
      <p:grpSp>
        <p:nvGrpSpPr>
          <p:cNvPr id="352" name="TEACH-1-student-move" descr="TEACH 1 · Facilitate clear, standards-based content learning"/>
          <p:cNvGrpSpPr/>
          <p:nvPr/>
        </p:nvGrpSpPr>
        <p:grpSpPr>
          <a:xfrm>
            <a:off x="502920" y="1993392"/>
            <a:ext cx="11186160" cy="402336"/>
            <a:chOff x="502920" y="1993392"/>
            <a:chExt cx="11186160" cy="402336"/>
          </a:xfrm>
        </p:grpSpPr>
        <p:sp>
          <p:nvSpPr>
            <p:cNvPr id="353" name="TEACH-move-card"/>
            <p:cNvSpPr/>
            <p:nvPr/>
          </p:nvSpPr>
          <p:spPr>
            <a:xfrm>
              <a:off x="502920" y="199339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354" name="TEACH-move-rule"/>
            <p:cNvSpPr/>
            <p:nvPr/>
          </p:nvSpPr>
          <p:spPr>
            <a:xfrm>
              <a:off x="548640" y="2069836"/>
              <a:ext cx="100584" cy="249448"/>
            </a:xfrm>
            <a:prstGeom prst="roundRect">
              <a:avLst>
                <a:gd name="adj" fmla="val 50000"/>
              </a:avLst>
            </a:prstGeom>
            <a:solidFill>
              <a:srgbClr val="01708C"/>
            </a:solidFill>
            <a:ln>
              <a:noFill/>
            </a:ln>
          </p:spPr>
          <p:txBody>
            <a:bodyPr/>
            <a:lstStyle/>
            <a:p>
              <a:endParaRPr/>
            </a:p>
          </p:txBody>
        </p:sp>
        <p:sp>
          <p:nvSpPr>
            <p:cNvPr id="355" name="TEACH-move-text"/>
            <p:cNvSpPr txBox="1"/>
            <p:nvPr/>
          </p:nvSpPr>
          <p:spPr>
            <a:xfrm>
              <a:off x="822960" y="199339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6.5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Define the variable.</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Translate operations in order.</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904487"/>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3</a:t>
            </a:r>
          </a:p>
        </p:txBody>
      </p:sp>
      <p:sp>
        <p:nvSpPr>
          <p:cNvPr id="13" name="TextBox 12"/>
          <p:cNvSpPr txBox="1"/>
          <p:nvPr/>
        </p:nvSpPr>
        <p:spPr>
          <a:xfrm>
            <a:off x="1399032" y="3831336"/>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Substitute and evaluate accurately.</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9" name="Google Shape;399;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0" name="Google Shape;400;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1" name="Google Shape;401;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1 of 8</a:t>
            </a:r>
            <a:endParaRPr/>
          </a:p>
        </p:txBody>
      </p:sp>
      <p:sp>
        <p:nvSpPr>
          <p:cNvPr id="402" name="Google Shape;402;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6-5 · Write and Evaluate Algebraic Expressions</a:t>
            </a:r>
            <a:endParaRPr/>
          </a:p>
        </p:txBody>
      </p:sp>
      <p:sp>
        <p:nvSpPr>
          <p:cNvPr id="403" name="Google Shape;403;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4" name="Google Shape;404;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05" name="Google Shape;405;p46"/>
          <p:cNvSpPr txBox="1"/>
          <p:nvPr/>
        </p:nvSpPr>
        <p:spPr>
          <a:xfrm>
            <a:off x="640080" y="1761743"/>
            <a:ext cx="10911809" cy="90220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5200" u="none" cap="none" strike="noStrike">
                <a:solidFill>
                  <a:srgbClr val="14223A"/>
                </a:solidFill>
                <a:latin typeface="Arial"/>
                <a:ea typeface="Arial"/>
                <a:cs typeface="Arial"/>
                <a:sym typeface="Arial"/>
              </a:rPr>
              <a:t>Write Algebraic Expressions</a:t>
            </a:r>
            <a:endParaRPr/>
          </a:p>
        </p:txBody>
      </p:sp>
      <p:sp>
        <p:nvSpPr>
          <p:cNvPr id="406" name="Google Shape;406;p46"/>
          <p:cNvSpPr/>
          <p:nvPr/>
        </p:nvSpPr>
        <p:spPr>
          <a:xfrm>
            <a:off x="658368" y="2718816"/>
            <a:ext cx="29260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7" name="Google Shape;407;p46"/>
          <p:cNvSpPr txBox="1"/>
          <p:nvPr/>
        </p:nvSpPr>
        <p:spPr>
          <a:xfrm>
            <a:off x="640080" y="3080004"/>
            <a:ext cx="10911809" cy="86410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700" u="none" cap="none" strike="noStrike">
                <a:solidFill>
                  <a:srgbClr val="14223A"/>
                </a:solidFill>
                <a:latin typeface="Arial"/>
                <a:ea typeface="Arial"/>
                <a:cs typeface="Arial"/>
                <a:sym typeface="Arial"/>
              </a:rPr>
              <a:t>Translate words or a situation into numbers, variables, and operation symbols.</a:t>
            </a:r>
            <a:endParaRPr/>
          </a:p>
        </p:txBody>
      </p:sp>
      <p:sp>
        <p:nvSpPr>
          <p:cNvPr id="408" name="Google Shape;408;p46"/>
          <p:cNvSpPr/>
          <p:nvPr/>
        </p:nvSpPr>
        <p:spPr>
          <a:xfrm>
            <a:off x="640080" y="4364736"/>
            <a:ext cx="10911809"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9" name="Google Shape;409;p46"/>
          <p:cNvSpPr/>
          <p:nvPr/>
        </p:nvSpPr>
        <p:spPr>
          <a:xfrm>
            <a:off x="640080" y="436473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0" name="Google Shape;410;p46"/>
          <p:cNvSpPr txBox="1"/>
          <p:nvPr/>
        </p:nvSpPr>
        <p:spPr>
          <a:xfrm>
            <a:off x="932688" y="4538472"/>
            <a:ext cx="10344881"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11" name="Google Shape;411;p46"/>
          <p:cNvSpPr txBox="1"/>
          <p:nvPr/>
        </p:nvSpPr>
        <p:spPr>
          <a:xfrm>
            <a:off x="932688" y="4840224"/>
            <a:ext cx="10344881"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2100" u="none" cap="none" strike="noStrike">
                <a:solidFill>
                  <a:srgbClr val="14223A"/>
                </a:solidFill>
                <a:latin typeface="Arial"/>
                <a:ea typeface="Arial"/>
                <a:cs typeface="Arial"/>
                <a:sym typeface="Arial"/>
              </a:rPr>
              <a:t>Five more than n becomes n + 5.</a:t>
            </a:r>
            <a:endParaRPr/>
          </a:p>
        </p:txBody>
      </p:sp>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48</a:t>
            </a:r>
          </a:p>
        </p:txBody>
      </p:sp>
      <p:grpSp>
        <p:nvGrpSpPr>
          <p:cNvPr id="412" name="TEACH-5-student-move" descr="TEACH 5 · Facilitate student interactions and academic talk"/>
          <p:cNvGrpSpPr/>
          <p:nvPr/>
        </p:nvGrpSpPr>
        <p:grpSpPr>
          <a:xfrm>
            <a:off x="502920" y="5751576"/>
            <a:ext cx="11186160" cy="548640"/>
            <a:chOff x="502920" y="5751576"/>
            <a:chExt cx="11186160" cy="548640"/>
          </a:xfrm>
        </p:grpSpPr>
        <p:sp>
          <p:nvSpPr>
            <p:cNvPr id="413"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414"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415"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6" name="Google Shape;416;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7" name="Google Shape;417;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8" name="Google Shape;418;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8</a:t>
            </a:r>
            <a:endParaRPr/>
          </a:p>
        </p:txBody>
      </p:sp>
      <p:sp>
        <p:nvSpPr>
          <p:cNvPr id="419" name="Google Shape;419;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6-5 · Write and Evaluate Algebraic Expressions</a:t>
            </a:r>
            <a:endParaRPr/>
          </a:p>
        </p:txBody>
      </p:sp>
      <p:sp>
        <p:nvSpPr>
          <p:cNvPr id="420" name="Google Shape;420;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1" name="Google Shape;421;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22" name="Google Shape;422;p47"/>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Variable</a:t>
            </a:r>
            <a:endParaRPr/>
          </a:p>
        </p:txBody>
      </p:sp>
      <p:sp>
        <p:nvSpPr>
          <p:cNvPr id="423" name="Google Shape;423;p47"/>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4" name="Google Shape;424;p47"/>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letter that stands for a number that is unknown or can change.</a:t>
            </a:r>
            <a:endParaRPr/>
          </a:p>
        </p:txBody>
      </p:sp>
      <p:sp>
        <p:nvSpPr>
          <p:cNvPr id="425" name="Google Shape;425;p47"/>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6" name="Google Shape;426;p47"/>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7" name="Google Shape;427;p47"/>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8" name="Google Shape;428;p47"/>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In 5t + 20, t could be hours worked — if t = 3, the expression equals 35; if t = 8, it equals 60</a:t>
            </a:r>
            <a:endParaRPr/>
          </a:p>
        </p:txBody>
      </p:sp>
      <p:pic>
        <p:nvPicPr>
          <p:cNvPr descr="variable.png" id="429" name="Google Shape;429;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48</a:t>
            </a:r>
          </a:p>
        </p:txBody>
      </p:sp>
      <p:sp xmlns:p="http://schemas.openxmlformats.org/presentationml/2006/main" xmlns:a="http://schemas.openxmlformats.org/drawingml/2006/main">
        <p:nvSpPr>
          <p:cNvPr id="430"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“Variable”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34" name="Google Shape;434;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5" name="Google Shape;435;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6" name="Google Shape;436;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8</a:t>
            </a:r>
            <a:endParaRPr/>
          </a:p>
        </p:txBody>
      </p:sp>
      <p:sp>
        <p:nvSpPr>
          <p:cNvPr id="437" name="Google Shape;437;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6-5 · Write and Evaluate Algebraic Expressions</a:t>
            </a:r>
            <a:endParaRPr/>
          </a:p>
        </p:txBody>
      </p:sp>
      <p:sp>
        <p:nvSpPr>
          <p:cNvPr id="438" name="Google Shape;438;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9" name="Google Shape;439;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40" name="Google Shape;440;p48"/>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Algebraic Expression</a:t>
            </a:r>
            <a:endParaRPr/>
          </a:p>
        </p:txBody>
      </p:sp>
      <p:sp>
        <p:nvSpPr>
          <p:cNvPr id="441" name="Google Shape;441;p48"/>
          <p:cNvSpPr/>
          <p:nvPr/>
        </p:nvSpPr>
        <p:spPr>
          <a:xfrm>
            <a:off x="658368" y="2814828"/>
            <a:ext cx="237744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2" name="Google Shape;442;p48"/>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math phrase that has at least one letter.</a:t>
            </a:r>
            <a:endParaRPr/>
          </a:p>
        </p:txBody>
      </p:sp>
      <p:sp>
        <p:nvSpPr>
          <p:cNvPr id="443" name="Google Shape;443;p48"/>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4" name="Google Shape;444;p48"/>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5" name="Google Shape;445;p48"/>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46" name="Google Shape;446;p48"/>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3n + 7 means ‘triple a number, then add 7’ — it has a variable (n), a coefficient (3), and a constant (7)</a:t>
            </a:r>
            <a:endParaRPr/>
          </a:p>
        </p:txBody>
      </p:sp>
      <p:pic>
        <p:nvPicPr>
          <p:cNvPr descr="expression.png" id="447" name="Google Shape;447;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48</a:t>
            </a:r>
          </a:p>
        </p:txBody>
      </p:sp>
      <p:sp xmlns:p="http://schemas.openxmlformats.org/presentationml/2006/main" xmlns:a="http://schemas.openxmlformats.org/drawingml/2006/main">
        <p:nvSpPr>
          <p:cNvPr id="448"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“Algebraic Expression”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52" name="Google Shape;452;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3" name="Google Shape;453;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4" name="Google Shape;454;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8</a:t>
            </a:r>
            <a:endParaRPr/>
          </a:p>
        </p:txBody>
      </p:sp>
      <p:sp>
        <p:nvSpPr>
          <p:cNvPr id="455" name="Google Shape;455;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6-5 · Write and Evaluate Algebraic Expressions</a:t>
            </a:r>
            <a:endParaRPr/>
          </a:p>
        </p:txBody>
      </p:sp>
      <p:sp>
        <p:nvSpPr>
          <p:cNvPr id="456" name="Google Shape;456;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7" name="Google Shape;457;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58" name="Google Shape;458;p49"/>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Coefficient</a:t>
            </a:r>
            <a:endParaRPr/>
          </a:p>
        </p:txBody>
      </p:sp>
      <p:sp>
        <p:nvSpPr>
          <p:cNvPr id="459" name="Google Shape;459;p49"/>
          <p:cNvSpPr/>
          <p:nvPr/>
        </p:nvSpPr>
        <p:spPr>
          <a:xfrm>
            <a:off x="658368" y="2814828"/>
            <a:ext cx="130759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0" name="Google Shape;460;p49"/>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number in front of a letter, like the 3 in 3x.</a:t>
            </a:r>
            <a:endParaRPr/>
          </a:p>
        </p:txBody>
      </p:sp>
      <p:sp>
        <p:nvSpPr>
          <p:cNvPr id="461" name="Google Shape;461;p49"/>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2" name="Google Shape;462;p49"/>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3" name="Google Shape;463;p49"/>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64" name="Google Shape;464;p49"/>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In 8x, the coefficient 8 means ‘8 groups of x’ — if x = 3, then 8x = 8 × 3 = 24</a:t>
            </a:r>
            <a:endParaRPr/>
          </a:p>
        </p:txBody>
      </p:sp>
      <p:pic>
        <p:nvPicPr>
          <p:cNvPr descr="coefficient.png" id="465" name="Google Shape;465;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48</a:t>
            </a:r>
          </a:p>
        </p:txBody>
      </p:sp>
      <p:sp xmlns:p="http://schemas.openxmlformats.org/presentationml/2006/main" xmlns:a="http://schemas.openxmlformats.org/drawingml/2006/main">
        <p:nvSpPr>
          <p:cNvPr id="466"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“Coefficient” to explain the example. Point to 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70" name="Google Shape;470;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1" name="Google Shape;471;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2" name="Google Shape;472;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8</a:t>
            </a:r>
            <a:endParaRPr/>
          </a:p>
        </p:txBody>
      </p:sp>
      <p:sp>
        <p:nvSpPr>
          <p:cNvPr id="473" name="Google Shape;473;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6-5 · Write and Evaluate Algebraic Expressions</a:t>
            </a:r>
            <a:endParaRPr/>
          </a:p>
        </p:txBody>
      </p:sp>
      <p:sp>
        <p:nvSpPr>
          <p:cNvPr id="474" name="Google Shape;474;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5" name="Google Shape;475;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76" name="Google Shape;476;p50"/>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Constant</a:t>
            </a:r>
            <a:endParaRPr/>
          </a:p>
        </p:txBody>
      </p:sp>
      <p:sp>
        <p:nvSpPr>
          <p:cNvPr id="477" name="Google Shape;477;p50"/>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8" name="Google Shape;478;p50"/>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fixed number in an expression or equation that does not change.</a:t>
            </a:r>
            <a:endParaRPr/>
          </a:p>
        </p:txBody>
      </p:sp>
      <p:sp>
        <p:nvSpPr>
          <p:cNvPr id="479" name="Google Shape;479;p50"/>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0" name="Google Shape;480;p50"/>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1" name="Google Shape;481;p50"/>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82" name="Google Shape;482;p50"/>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In 3n + 7, the 7 never changes no matter what n is — like a flat fee that stays the same</a:t>
            </a:r>
            <a:endParaRPr/>
          </a:p>
        </p:txBody>
      </p:sp>
      <p:pic>
        <p:nvPicPr>
          <p:cNvPr descr="constant.png" id="483" name="Google Shape;483;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48</a:t>
            </a:r>
          </a:p>
        </p:txBody>
      </p:sp>
      <p:sp xmlns:p="http://schemas.openxmlformats.org/presentationml/2006/main" xmlns:a="http://schemas.openxmlformats.org/drawingml/2006/main">
        <p:nvSpPr>
          <p:cNvPr id="484"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“Constant” to explain the example. Point to evidence.</a:t>
            </a:r>
            <a:endParaRPr lang="en-US" sz="20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88" name="Google Shape;488;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9" name="Google Shape;489;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0" name="Google Shape;490;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8</a:t>
            </a:r>
            <a:endParaRPr/>
          </a:p>
        </p:txBody>
      </p:sp>
      <p:sp>
        <p:nvSpPr>
          <p:cNvPr id="491" name="Google Shape;491;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6-5 · Write and Evaluate Algebraic Expressions</a:t>
            </a:r>
            <a:endParaRPr/>
          </a:p>
        </p:txBody>
      </p:sp>
      <p:sp>
        <p:nvSpPr>
          <p:cNvPr id="492" name="Google Shape;492;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3" name="Google Shape;493;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94" name="Google Shape;494;p51"/>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Like terms</a:t>
            </a:r>
            <a:endParaRPr/>
          </a:p>
        </p:txBody>
      </p:sp>
      <p:sp>
        <p:nvSpPr>
          <p:cNvPr id="495" name="Google Shape;495;p51"/>
          <p:cNvSpPr/>
          <p:nvPr/>
        </p:nvSpPr>
        <p:spPr>
          <a:xfrm>
            <a:off x="658368" y="2638806"/>
            <a:ext cx="118872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6" name="Google Shape;496;p51"/>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Terms with the same letter raised to the same power, like 2x and 5x.</a:t>
            </a:r>
            <a:endParaRPr/>
          </a:p>
        </p:txBody>
      </p:sp>
      <p:sp>
        <p:nvSpPr>
          <p:cNvPr id="497" name="Google Shape;497;p51"/>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8" name="Google Shape;498;p51"/>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9" name="Google Shape;499;p51"/>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00" name="Google Shape;500;p51"/>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4x + 2x = 6x (like terms, same variable); but 4x + 2y cannot be combined (different variables)</a:t>
            </a:r>
            <a:endParaRPr/>
          </a:p>
        </p:txBody>
      </p:sp>
      <p:pic>
        <p:nvPicPr>
          <p:cNvPr descr="like-terms.png" id="501" name="Google Shape;501;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48</a:t>
            </a:r>
          </a:p>
        </p:txBody>
      </p:sp>
      <p:sp xmlns:p="http://schemas.openxmlformats.org/presentationml/2006/main" xmlns:a="http://schemas.openxmlformats.org/drawingml/2006/main">
        <p:nvSpPr>
          <p:cNvPr id="502"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“Like terms” to explain the example. Point to evidence.</a:t>
            </a:r>
            <a:endParaRPr lang="en-US" sz="20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06" name="Google Shape;506;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7" name="Google Shape;507;p52"/>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8" name="Google Shape;508;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7 of 8</a:t>
            </a:r>
            <a:endParaRPr/>
          </a:p>
        </p:txBody>
      </p:sp>
      <p:sp>
        <p:nvSpPr>
          <p:cNvPr id="509" name="Google Shape;509;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6-5 · Write and Evaluate Algebraic Expressions</a:t>
            </a:r>
            <a:endParaRPr/>
          </a:p>
        </p:txBody>
      </p:sp>
      <p:sp>
        <p:nvSpPr>
          <p:cNvPr id="510" name="Google Shape;510;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1" name="Google Shape;511;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12" name="Google Shape;512;p52"/>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Substitute</a:t>
            </a:r>
            <a:endParaRPr/>
          </a:p>
        </p:txBody>
      </p:sp>
      <p:sp>
        <p:nvSpPr>
          <p:cNvPr id="513" name="Google Shape;513;p52"/>
          <p:cNvSpPr/>
          <p:nvPr/>
        </p:nvSpPr>
        <p:spPr>
          <a:xfrm>
            <a:off x="658368" y="2737866"/>
            <a:ext cx="118872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4" name="Google Shape;514;p52"/>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To replace a variable with a given number before working out the value.</a:t>
            </a:r>
            <a:endParaRPr/>
          </a:p>
        </p:txBody>
      </p:sp>
      <p:sp>
        <p:nvSpPr>
          <p:cNvPr id="515" name="Google Shape;515;p52"/>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6" name="Google Shape;516;p52"/>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7" name="Google Shape;517;p52"/>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18" name="Google Shape;518;p52"/>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For s = 30: 4.25s + 23.50 → 4.25 × 30 + 23.50</a:t>
            </a:r>
            <a:endParaRPr/>
          </a:p>
        </p:txBody>
      </p:sp>
      <p:pic>
        <p:nvPicPr>
          <p:cNvPr descr="substitute.png" id="519" name="Google Shape;519;p52"/>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48</a:t>
            </a:r>
          </a:p>
        </p:txBody>
      </p:sp>
      <p:sp xmlns:p="http://schemas.openxmlformats.org/presentationml/2006/main" xmlns:a="http://schemas.openxmlformats.org/drawingml/2006/main">
        <p:nvSpPr>
          <p:cNvPr id="520"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“Substitute” to explain the example. Point to evidence.</a:t>
            </a:r>
            <a:endParaRPr lang="en-US" sz="200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24" name="Google Shape;524;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6" name="Google Shape;526;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8 of 8</a:t>
            </a:r>
            <a:endParaRPr/>
          </a:p>
        </p:txBody>
      </p:sp>
      <p:sp>
        <p:nvSpPr>
          <p:cNvPr id="527" name="Google Shape;527;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6-5 · Write and Evaluate Algebraic Expressions</a:t>
            </a:r>
            <a:endParaRPr/>
          </a:p>
        </p:txBody>
      </p:sp>
      <p:sp>
        <p:nvSpPr>
          <p:cNvPr id="528" name="Google Shape;528;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9" name="Google Shape;529;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30" name="Google Shape;530;p53"/>
          <p:cNvSpPr txBox="1"/>
          <p:nvPr/>
        </p:nvSpPr>
        <p:spPr>
          <a:xfrm>
            <a:off x="640080" y="172669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Evaluate</a:t>
            </a:r>
            <a:endParaRPr/>
          </a:p>
        </p:txBody>
      </p:sp>
      <p:sp>
        <p:nvSpPr>
          <p:cNvPr id="531" name="Google Shape;531;p53"/>
          <p:cNvSpPr/>
          <p:nvPr/>
        </p:nvSpPr>
        <p:spPr>
          <a:xfrm>
            <a:off x="658368" y="2561844"/>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2" name="Google Shape;532;p53"/>
          <p:cNvSpPr txBox="1"/>
          <p:nvPr/>
        </p:nvSpPr>
        <p:spPr>
          <a:xfrm>
            <a:off x="640080" y="292303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To find what an expression is worth once every variable has a number, following the order of operations.</a:t>
            </a:r>
            <a:endParaRPr/>
          </a:p>
        </p:txBody>
      </p:sp>
      <p:sp>
        <p:nvSpPr>
          <p:cNvPr id="533" name="Google Shape;533;p53"/>
          <p:cNvSpPr/>
          <p:nvPr/>
        </p:nvSpPr>
        <p:spPr>
          <a:xfrm>
            <a:off x="640080" y="4399788"/>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4" name="Google Shape;534;p53"/>
          <p:cNvSpPr/>
          <p:nvPr/>
        </p:nvSpPr>
        <p:spPr>
          <a:xfrm>
            <a:off x="640080" y="4399788"/>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txBox="1"/>
          <p:nvPr/>
        </p:nvSpPr>
        <p:spPr>
          <a:xfrm>
            <a:off x="932688" y="457352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36" name="Google Shape;536;p53"/>
          <p:cNvSpPr txBox="1"/>
          <p:nvPr/>
        </p:nvSpPr>
        <p:spPr>
          <a:xfrm>
            <a:off x="932688" y="4875276"/>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4.25 × 30 + 23.50 = 151</a:t>
            </a:r>
            <a:endParaRPr/>
          </a:p>
        </p:txBody>
      </p:sp>
      <p:pic>
        <p:nvPicPr>
          <p:cNvPr descr="expression.png" id="537" name="Google Shape;537;p53"/>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48</a:t>
            </a:r>
          </a:p>
        </p:txBody>
      </p:sp>
      <p:sp xmlns:p="http://schemas.openxmlformats.org/presentationml/2006/main" xmlns:a="http://schemas.openxmlformats.org/drawingml/2006/main">
        <p:nvSpPr>
          <p:cNvPr id="538"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“Evaluate” to explain the example. Point to evidence.</a:t>
            </a: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6" name="Google Shape;356;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7" name="Google Shape;357;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a:t>
            </a:r>
            <a:endParaRPr/>
          </a:p>
        </p:txBody>
      </p:sp>
      <p:sp>
        <p:nvSpPr>
          <p:cNvPr id="358" name="Google Shape;358;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6-5 · Write and Evaluate Algebraic Expressions</a:t>
            </a:r>
            <a:endParaRPr/>
          </a:p>
        </p:txBody>
      </p:sp>
      <p:sp>
        <p:nvSpPr>
          <p:cNvPr id="359" name="Google Shape;359;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0" name="Google Shape;360;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61" name="Google Shape;361;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400" u="none" cap="none" strike="noStrike">
                <a:solidFill>
                  <a:srgbClr val="14223A"/>
                </a:solidFill>
                <a:latin typeface="Arial"/>
                <a:ea typeface="Arial"/>
                <a:cs typeface="Arial"/>
                <a:sym typeface="Arial"/>
              </a:rPr>
              <a:t>Today’s Math Words</a:t>
            </a:r>
            <a:endParaRPr/>
          </a:p>
        </p:txBody>
      </p:sp>
      <p:sp>
        <p:nvSpPr>
          <p:cNvPr id="362" name="Google Shape;362;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63" name="Google Shape;363;p45"/>
          <p:cNvSpPr/>
          <p:nvPr/>
        </p:nvSpPr>
        <p:spPr>
          <a:xfrm>
            <a:off x="640080"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4" name="Google Shape;364;p45"/>
          <p:cNvSpPr/>
          <p:nvPr/>
        </p:nvSpPr>
        <p:spPr>
          <a:xfrm>
            <a:off x="640080"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45"/>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Write Algebraic Expressions</a:t>
            </a:r>
            <a:endParaRPr/>
          </a:p>
        </p:txBody>
      </p:sp>
      <p:sp>
        <p:nvSpPr>
          <p:cNvPr id="366" name="Google Shape;366;p45"/>
          <p:cNvSpPr txBox="1"/>
          <p:nvPr/>
        </p:nvSpPr>
        <p:spPr>
          <a:xfrm>
            <a:off x="950976"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100" u="none" cap="none" strike="noStrike">
                <a:solidFill>
                  <a:srgbClr val="475569"/>
                </a:solidFill>
                <a:latin typeface="Arial"/>
                <a:ea typeface="Arial"/>
                <a:cs typeface="Arial"/>
                <a:sym typeface="Arial"/>
              </a:rPr>
              <a:t>Translate words or a situation into numbers, variables, and operation symbols</a:t>
            </a:r>
            <a:endParaRPr/>
          </a:p>
        </p:txBody>
      </p:sp>
      <p:sp>
        <p:nvSpPr>
          <p:cNvPr id="367" name="Google Shape;367;p45"/>
          <p:cNvSpPr/>
          <p:nvPr/>
        </p:nvSpPr>
        <p:spPr>
          <a:xfrm>
            <a:off x="6260576"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8" name="Google Shape;368;p45"/>
          <p:cNvSpPr/>
          <p:nvPr/>
        </p:nvSpPr>
        <p:spPr>
          <a:xfrm>
            <a:off x="6260576"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9" name="Google Shape;369;p45"/>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Variable</a:t>
            </a:r>
            <a:endParaRPr/>
          </a:p>
        </p:txBody>
      </p:sp>
      <p:sp>
        <p:nvSpPr>
          <p:cNvPr id="370" name="Google Shape;370;p45"/>
          <p:cNvSpPr txBox="1"/>
          <p:nvPr/>
        </p:nvSpPr>
        <p:spPr>
          <a:xfrm>
            <a:off x="6571472"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A letter that stands for a number that is unknown or can change</a:t>
            </a:r>
            <a:endParaRPr/>
          </a:p>
        </p:txBody>
      </p:sp>
      <p:sp>
        <p:nvSpPr>
          <p:cNvPr id="371" name="Google Shape;371;p45"/>
          <p:cNvSpPr/>
          <p:nvPr/>
        </p:nvSpPr>
        <p:spPr>
          <a:xfrm>
            <a:off x="640080"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2" name="Google Shape;372;p45"/>
          <p:cNvSpPr/>
          <p:nvPr/>
        </p:nvSpPr>
        <p:spPr>
          <a:xfrm>
            <a:off x="640080"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45"/>
          <p:cNvSpPr txBox="1"/>
          <p:nvPr/>
        </p:nvSpPr>
        <p:spPr>
          <a:xfrm>
            <a:off x="950976"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Algebraic Expression</a:t>
            </a:r>
            <a:endParaRPr/>
          </a:p>
        </p:txBody>
      </p:sp>
      <p:sp>
        <p:nvSpPr>
          <p:cNvPr id="374" name="Google Shape;374;p45"/>
          <p:cNvSpPr txBox="1"/>
          <p:nvPr/>
        </p:nvSpPr>
        <p:spPr>
          <a:xfrm>
            <a:off x="950976"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A math phrase that has at least one letter</a:t>
            </a:r>
            <a:endParaRPr/>
          </a:p>
        </p:txBody>
      </p:sp>
      <p:sp>
        <p:nvSpPr>
          <p:cNvPr id="375" name="Google Shape;375;p45"/>
          <p:cNvSpPr/>
          <p:nvPr/>
        </p:nvSpPr>
        <p:spPr>
          <a:xfrm>
            <a:off x="6260576"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6" name="Google Shape;376;p45"/>
          <p:cNvSpPr/>
          <p:nvPr/>
        </p:nvSpPr>
        <p:spPr>
          <a:xfrm>
            <a:off x="6260576"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45"/>
          <p:cNvSpPr txBox="1"/>
          <p:nvPr/>
        </p:nvSpPr>
        <p:spPr>
          <a:xfrm>
            <a:off x="6571472"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Coefficient</a:t>
            </a:r>
            <a:endParaRPr/>
          </a:p>
        </p:txBody>
      </p:sp>
      <p:sp>
        <p:nvSpPr>
          <p:cNvPr id="378" name="Google Shape;378;p45"/>
          <p:cNvSpPr txBox="1"/>
          <p:nvPr/>
        </p:nvSpPr>
        <p:spPr>
          <a:xfrm>
            <a:off x="6571472"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The number in front of a letter, like the 3 in 3x</a:t>
            </a:r>
            <a:endParaRPr/>
          </a:p>
        </p:txBody>
      </p:sp>
      <p:sp>
        <p:nvSpPr>
          <p:cNvPr id="379" name="Google Shape;379;p45"/>
          <p:cNvSpPr/>
          <p:nvPr/>
        </p:nvSpPr>
        <p:spPr>
          <a:xfrm>
            <a:off x="640080"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0" name="Google Shape;380;p45"/>
          <p:cNvSpPr/>
          <p:nvPr/>
        </p:nvSpPr>
        <p:spPr>
          <a:xfrm>
            <a:off x="640080"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45"/>
          <p:cNvSpPr txBox="1"/>
          <p:nvPr/>
        </p:nvSpPr>
        <p:spPr>
          <a:xfrm>
            <a:off x="950976"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Constant</a:t>
            </a:r>
            <a:endParaRPr/>
          </a:p>
        </p:txBody>
      </p:sp>
      <p:sp>
        <p:nvSpPr>
          <p:cNvPr id="382" name="Google Shape;382;p45"/>
          <p:cNvSpPr txBox="1"/>
          <p:nvPr/>
        </p:nvSpPr>
        <p:spPr>
          <a:xfrm>
            <a:off x="950976"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A fixed number in an expression or equation that does not change</a:t>
            </a:r>
            <a:endParaRPr/>
          </a:p>
        </p:txBody>
      </p:sp>
      <p:sp>
        <p:nvSpPr>
          <p:cNvPr id="383" name="Google Shape;383;p45"/>
          <p:cNvSpPr/>
          <p:nvPr/>
        </p:nvSpPr>
        <p:spPr>
          <a:xfrm>
            <a:off x="6260576"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4" name="Google Shape;384;p45"/>
          <p:cNvSpPr/>
          <p:nvPr/>
        </p:nvSpPr>
        <p:spPr>
          <a:xfrm>
            <a:off x="6260576"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45"/>
          <p:cNvSpPr txBox="1"/>
          <p:nvPr/>
        </p:nvSpPr>
        <p:spPr>
          <a:xfrm>
            <a:off x="6571472"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Like terms</a:t>
            </a:r>
            <a:endParaRPr/>
          </a:p>
        </p:txBody>
      </p:sp>
      <p:sp>
        <p:nvSpPr>
          <p:cNvPr id="386" name="Google Shape;386;p45"/>
          <p:cNvSpPr txBox="1"/>
          <p:nvPr/>
        </p:nvSpPr>
        <p:spPr>
          <a:xfrm>
            <a:off x="6571472"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00" u="none" cap="none" strike="noStrike">
                <a:solidFill>
                  <a:srgbClr val="475569"/>
                </a:solidFill>
                <a:latin typeface="Arial"/>
                <a:ea typeface="Arial"/>
                <a:cs typeface="Arial"/>
                <a:sym typeface="Arial"/>
              </a:rPr>
              <a:t>Terms with the same letter raised to the same power, like 2x and 5x</a:t>
            </a:r>
            <a:endParaRPr/>
          </a:p>
        </p:txBody>
      </p:sp>
      <p:sp>
        <p:nvSpPr>
          <p:cNvPr id="387" name="Google Shape;387;p45"/>
          <p:cNvSpPr/>
          <p:nvPr/>
        </p:nvSpPr>
        <p:spPr>
          <a:xfrm>
            <a:off x="640080" y="532638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8" name="Google Shape;388;p45"/>
          <p:cNvSpPr/>
          <p:nvPr/>
        </p:nvSpPr>
        <p:spPr>
          <a:xfrm>
            <a:off x="640080" y="532638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9" name="Google Shape;389;p45"/>
          <p:cNvSpPr txBox="1"/>
          <p:nvPr/>
        </p:nvSpPr>
        <p:spPr>
          <a:xfrm>
            <a:off x="950976" y="546354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Substitute</a:t>
            </a:r>
            <a:endParaRPr/>
          </a:p>
        </p:txBody>
      </p:sp>
      <p:sp>
        <p:nvSpPr>
          <p:cNvPr id="390" name="Google Shape;390;p45"/>
          <p:cNvSpPr txBox="1"/>
          <p:nvPr/>
        </p:nvSpPr>
        <p:spPr>
          <a:xfrm>
            <a:off x="950976" y="580186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150" u="none" cap="none" strike="noStrike">
                <a:solidFill>
                  <a:srgbClr val="475569"/>
                </a:solidFill>
                <a:latin typeface="Arial"/>
                <a:ea typeface="Arial"/>
                <a:cs typeface="Arial"/>
                <a:sym typeface="Arial"/>
              </a:rPr>
              <a:t>To replace a variable with a given number before working out the value</a:t>
            </a:r>
            <a:endParaRPr/>
          </a:p>
        </p:txBody>
      </p:sp>
      <p:sp>
        <p:nvSpPr>
          <p:cNvPr id="391" name="Google Shape;391;p45"/>
          <p:cNvSpPr/>
          <p:nvPr/>
        </p:nvSpPr>
        <p:spPr>
          <a:xfrm>
            <a:off x="6260576" y="532638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2" name="Google Shape;392;p45"/>
          <p:cNvSpPr/>
          <p:nvPr/>
        </p:nvSpPr>
        <p:spPr>
          <a:xfrm>
            <a:off x="6260576" y="532638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3" name="Google Shape;393;p45"/>
          <p:cNvSpPr txBox="1"/>
          <p:nvPr/>
        </p:nvSpPr>
        <p:spPr>
          <a:xfrm>
            <a:off x="6571472" y="546354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Evaluate</a:t>
            </a:r>
            <a:endParaRPr/>
          </a:p>
        </p:txBody>
      </p:sp>
      <p:sp>
        <p:nvSpPr>
          <p:cNvPr id="394" name="Google Shape;394;p45"/>
          <p:cNvSpPr txBox="1"/>
          <p:nvPr/>
        </p:nvSpPr>
        <p:spPr>
          <a:xfrm>
            <a:off x="6571472" y="580186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100" u="none" cap="none" strike="noStrike">
                <a:solidFill>
                  <a:srgbClr val="475569"/>
                </a:solidFill>
                <a:latin typeface="Arial"/>
                <a:ea typeface="Arial"/>
                <a:cs typeface="Arial"/>
                <a:sym typeface="Arial"/>
              </a:rPr>
              <a:t>To find what an expression is worth once every variable has a number, following the order of operations</a:t>
            </a:r>
            <a:endParaRPr/>
          </a:p>
        </p:txBody>
      </p:sp>
      <p:sp>
        <p:nvSpPr>
          <p:cNvPr id="39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48</a:t>
            </a:r>
          </a:p>
        </p:txBody>
      </p:sp>
      <p:grpSp>
        <p:nvGrpSpPr>
          <p:cNvPr id="396" name="TEACH-5-student-move" descr="TEACH 5 · Facilitate student interactions and academic talk"/>
          <p:cNvGrpSpPr/>
          <p:nvPr/>
        </p:nvGrpSpPr>
        <p:grpSpPr>
          <a:xfrm>
            <a:off x="502920" y="649224"/>
            <a:ext cx="11186160" cy="320040"/>
            <a:chOff x="502920" y="649224"/>
            <a:chExt cx="11186160" cy="320040"/>
          </a:xfrm>
        </p:grpSpPr>
        <p:sp>
          <p:nvSpPr>
            <p:cNvPr id="397" name="TEACH-move-card"/>
            <p:cNvSpPr/>
            <p:nvPr/>
          </p:nvSpPr>
          <p:spPr>
            <a:xfrm>
              <a:off x="502920" y="649224"/>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398" name="TEACH-move-rule"/>
            <p:cNvSpPr/>
            <p:nvPr/>
          </p:nvSpPr>
          <p:spPr>
            <a:xfrm>
              <a:off x="548640" y="710032"/>
              <a:ext cx="100584" cy="198424"/>
            </a:xfrm>
            <a:prstGeom prst="roundRect">
              <a:avLst>
                <a:gd name="adj" fmla="val 50000"/>
              </a:avLst>
            </a:prstGeom>
            <a:solidFill>
              <a:srgbClr val="01708C"/>
            </a:solidFill>
            <a:ln>
              <a:noFill/>
            </a:ln>
          </p:spPr>
          <p:txBody>
            <a:bodyPr/>
            <a:lstStyle/>
            <a:p>
              <a:endParaRPr/>
            </a:p>
          </p:txBody>
        </p:sp>
        <p:sp>
          <p:nvSpPr>
            <p:cNvPr id="399" name="TEACH-move-text"/>
            <p:cNvSpPr txBox="1"/>
            <p:nvPr/>
          </p:nvSpPr>
          <p:spPr>
            <a:xfrm>
              <a:off x="822960" y="649224"/>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ADD ON  ·  </a:t>
              </a:r>
              <a:r>
                <a:rPr lang="en-US" sz="1200" dirty="0">
                  <a:solidFill>
                    <a:srgbClr val="13303A"/>
                  </a:solidFill>
                  <a:latin typeface="Arial"/>
                </a:rPr>
                <a:t>Add on: “I agree because ______.”  or  “I see it differently because ______.”</a:t>
              </a:r>
              <a:endParaRPr lang="en-US" sz="1200"/>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cxnSp>
        <p:nvCxnSpPr>
          <p:cNvPr id="604" name="Google Shape;604;p5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05" name="Google Shape;605;p57"/>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606" name="Google Shape;606;p57"/>
          <p:cNvSpPr/>
          <p:nvPr/>
        </p:nvSpPr>
        <p:spPr>
          <a:xfrm>
            <a:off x="649775" y="5468195"/>
            <a:ext cx="11046802"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helpful is it for you to have a plan to solve a math or non-math problem?</a:t>
            </a:r>
            <a:endParaRPr b="0" i="0" sz="1400" u="none" cap="none" strike="noStrike">
              <a:solidFill>
                <a:srgbClr val="000000"/>
              </a:solidFill>
              <a:latin typeface="Arial"/>
              <a:ea typeface="Arial"/>
              <a:cs typeface="Arial"/>
              <a:sym typeface="Arial"/>
            </a:endParaRPr>
          </a:p>
        </p:txBody>
      </p:sp>
      <p:sp>
        <p:nvSpPr>
          <p:cNvPr id="607" name="Google Shape;607;p57"/>
          <p:cNvSpPr txBox="1"/>
          <p:nvPr/>
        </p:nvSpPr>
        <p:spPr>
          <a:xfrm>
            <a:off x="474056" y="936100"/>
            <a:ext cx="4551764" cy="112552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What’s the question?</a:t>
            </a:r>
            <a:endParaRPr b="0" i="0" sz="1400" u="none" cap="none" strike="noStrike">
              <a:solidFill>
                <a:srgbClr val="000000"/>
              </a:solidFill>
              <a:latin typeface="Arial"/>
              <a:ea typeface="Arial"/>
              <a:cs typeface="Arial"/>
              <a:sym typeface="Arial"/>
            </a:endParaRPr>
          </a:p>
        </p:txBody>
      </p:sp>
      <p:sp>
        <p:nvSpPr>
          <p:cNvPr id="608" name="Google Shape;608;p57"/>
          <p:cNvSpPr/>
          <p:nvPr/>
        </p:nvSpPr>
        <p:spPr>
          <a:xfrm>
            <a:off x="578268" y="1775535"/>
            <a:ext cx="6969687" cy="2659219"/>
          </a:xfrm>
          <a:prstGeom prst="snip1Rect">
            <a:avLst>
              <a:gd fmla="val 16667" name="adj"/>
            </a:avLst>
          </a:prstGeom>
          <a:solidFill>
            <a:schemeClr val="lt1"/>
          </a:solidFill>
          <a:ln cap="flat" cmpd="sng" w="12700">
            <a:solidFill>
              <a:srgbClr val="00B05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1" lang="en-US" sz="2800" u="none" cap="none" strike="noStrike">
                <a:solidFill>
                  <a:srgbClr val="782DA0"/>
                </a:solidFill>
                <a:latin typeface="Arial"/>
                <a:ea typeface="Arial"/>
                <a:cs typeface="Arial"/>
                <a:sym typeface="Arial"/>
              </a:rPr>
              <a:t>In a soccer tournament, a team is awarded some number of points per win, another number of points per tie, and no points per loss.</a:t>
            </a:r>
            <a:endParaRPr b="0" i="1" sz="2800" u="none" cap="none" strike="noStrike">
              <a:solidFill>
                <a:srgbClr val="7030A0"/>
              </a:solidFill>
              <a:latin typeface="Arial"/>
              <a:ea typeface="Arial"/>
              <a:cs typeface="Arial"/>
              <a:sym typeface="Arial"/>
            </a:endParaRPr>
          </a:p>
        </p:txBody>
      </p:sp>
      <p:pic>
        <p:nvPicPr>
          <p:cNvPr id="609" name="Google Shape;609;p57"/>
          <p:cNvPicPr preferRelativeResize="0"/>
          <p:nvPr/>
        </p:nvPicPr>
        <p:blipFill rotWithShape="1">
          <a:blip r:embed="rId3">
            <a:alphaModFix/>
          </a:blip>
          <a:srcRect b="0" l="0" r="0" t="0"/>
          <a:stretch/>
        </p:blipFill>
        <p:spPr>
          <a:xfrm>
            <a:off x="481450" y="4658662"/>
            <a:ext cx="5054600" cy="838200"/>
          </a:xfrm>
          <a:prstGeom prst="rect">
            <a:avLst/>
          </a:prstGeom>
          <a:noFill/>
          <a:ln>
            <a:noFill/>
          </a:ln>
        </p:spPr>
      </p:pic>
      <p:sp>
        <p:nvSpPr>
          <p:cNvPr id="610" name="Google Shape;610;p57"/>
          <p:cNvSpPr txBox="1"/>
          <p:nvPr/>
        </p:nvSpPr>
        <p:spPr>
          <a:xfrm>
            <a:off x="3341467" y="4815980"/>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61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48</a:t>
            </a:r>
          </a:p>
        </p:txBody>
      </p:sp>
      <p:sp xmlns:p="http://schemas.openxmlformats.org/presentationml/2006/main" xmlns:a="http://schemas.openxmlformats.org/drawingml/2006/main">
        <p:nvSpPr>
          <p:cNvPr id="612" name="TEACH-embedded-student-prompt" descr="Student thinking and response directions"/>
          <p:cNvSpPr txBox="1"/>
          <p:nvPr/>
        </p:nvSpPr>
        <p:spPr>
          <a:xfrm>
            <a:off x="6111240" y="45902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cxnSp>
        <p:nvCxnSpPr>
          <p:cNvPr id="623" name="Google Shape;623;p5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24" name="Google Shape;624;p59"/>
          <p:cNvSpPr txBox="1"/>
          <p:nvPr/>
        </p:nvSpPr>
        <p:spPr>
          <a:xfrm>
            <a:off x="484565" y="316034"/>
            <a:ext cx="5641027" cy="6200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Class Field Day</a:t>
            </a:r>
            <a:endParaRPr b="0" i="0" sz="1400" u="none" cap="none" strike="noStrike">
              <a:solidFill>
                <a:srgbClr val="000000"/>
              </a:solidFill>
              <a:latin typeface="Arial"/>
              <a:ea typeface="Arial"/>
              <a:cs typeface="Arial"/>
              <a:sym typeface="Arial"/>
            </a:endParaRPr>
          </a:p>
        </p:txBody>
      </p:sp>
      <p:sp>
        <p:nvSpPr>
          <p:cNvPr id="625" name="Google Shape;625;p59"/>
          <p:cNvSpPr txBox="1"/>
          <p:nvPr/>
        </p:nvSpPr>
        <p:spPr>
          <a:xfrm>
            <a:off x="484564" y="781626"/>
            <a:ext cx="7855871" cy="39319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000" u="none" cap="none" strike="noStrike">
                <a:solidFill>
                  <a:srgbClr val="23282D"/>
                </a:solidFill>
                <a:latin typeface="Arial"/>
                <a:ea typeface="Arial"/>
                <a:cs typeface="Arial"/>
                <a:sym typeface="Arial"/>
              </a:rPr>
              <a:t>Evelyn is helping to plan the sixth-grade field day. The committee will order the items shown for each student participating in field day. They do not yet know how many students will be participating in field day. The shipping cost for all items is a one-time cost of $23.50. What expression can Evelyn use to determine how much the committee will need to purchase the items?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262626"/>
              </a:buClr>
              <a:buSzPts val="2800"/>
              <a:buFont typeface="Arial"/>
              <a:buNone/>
              <a:defRPr/>
            </a:pPr>
            <a:r>
              <a:rPr b="1" i="0" lang="en-US" sz="2000" u="none" cap="none" strike="noStrike">
                <a:solidFill>
                  <a:srgbClr val="23282D"/>
                </a:solidFill>
                <a:latin typeface="Arial"/>
                <a:ea typeface="Arial"/>
                <a:cs typeface="Arial"/>
                <a:sym typeface="Arial"/>
              </a:rPr>
              <a:t>What information do you need to find?</a:t>
            </a:r>
            <a:endParaRPr b="0" i="0" sz="2800" u="none" cap="none" strike="noStrike">
              <a:solidFill>
                <a:schemeClr val="dk2"/>
              </a:solidFill>
              <a:latin typeface="Arial"/>
              <a:ea typeface="Calibri"/>
              <a:cs typeface="Calibri"/>
              <a:sym typeface="Calibri"/>
            </a:endParaRPr>
          </a:p>
        </p:txBody>
      </p:sp>
      <p:sp>
        <p:nvSpPr>
          <p:cNvPr id="626" name="Google Shape;626;p59"/>
          <p:cNvSpPr txBox="1"/>
          <p:nvPr/>
        </p:nvSpPr>
        <p:spPr>
          <a:xfrm>
            <a:off x="531479" y="4984865"/>
            <a:ext cx="11364885" cy="138603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id="627" name="Google Shape;627;p59"/>
          <p:cNvPicPr preferRelativeResize="0"/>
          <p:nvPr/>
        </p:nvPicPr>
        <p:blipFill rotWithShape="1">
          <a:blip r:embed="rId3">
            <a:alphaModFix/>
          </a:blip>
          <a:srcRect b="0" l="0" r="0" t="0"/>
          <a:stretch/>
        </p:blipFill>
        <p:spPr>
          <a:xfrm>
            <a:off x="8340435" y="1974273"/>
            <a:ext cx="3655385" cy="2160000"/>
          </a:xfrm>
          <a:prstGeom prst="rect">
            <a:avLst/>
          </a:prstGeom>
          <a:noFill/>
          <a:ln>
            <a:noFill/>
          </a:ln>
        </p:spPr>
      </p:pic>
      <p:sp>
        <p:nvSpPr>
          <p:cNvPr id="6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48</a:t>
            </a:r>
          </a:p>
        </p:txBody>
      </p:sp>
      <p:grpSp>
        <p:nvGrpSpPr>
          <p:cNvPr id="629" name="TEACH-3-student-move" descr="TEACH 3 · Use intentional questioning to deepen learning"/>
          <p:cNvGrpSpPr/>
          <p:nvPr/>
        </p:nvGrpSpPr>
        <p:grpSpPr>
          <a:xfrm>
            <a:off x="502920" y="5584914"/>
            <a:ext cx="11186160" cy="640080"/>
            <a:chOff x="502920" y="5584914"/>
            <a:chExt cx="11186160" cy="640080"/>
          </a:xfrm>
        </p:grpSpPr>
        <p:sp>
          <p:nvSpPr>
            <p:cNvPr id="630" name="TEACH-move-card"/>
            <p:cNvSpPr/>
            <p:nvPr/>
          </p:nvSpPr>
          <p:spPr>
            <a:xfrm>
              <a:off x="502920" y="5584914"/>
              <a:ext cx="11186160" cy="640080"/>
            </a:xfrm>
            <a:prstGeom prst="roundRect">
              <a:avLst>
                <a:gd name="adj" fmla="val 16000"/>
              </a:avLst>
            </a:prstGeom>
            <a:solidFill>
              <a:srgbClr val="E4F0F5"/>
            </a:solidFill>
            <a:ln w="19050">
              <a:solidFill>
                <a:srgbClr val="8CB8C7"/>
              </a:solidFill>
            </a:ln>
          </p:spPr>
          <p:txBody>
            <a:bodyPr/>
            <a:lstStyle/>
            <a:p>
              <a:endParaRPr/>
            </a:p>
          </p:txBody>
        </p:sp>
        <p:sp>
          <p:nvSpPr>
            <p:cNvPr id="631" name="TEACH-move-rule"/>
            <p:cNvSpPr/>
            <p:nvPr/>
          </p:nvSpPr>
          <p:spPr>
            <a:xfrm>
              <a:off x="548640" y="5706529"/>
              <a:ext cx="100584" cy="396850"/>
            </a:xfrm>
            <a:prstGeom prst="roundRect">
              <a:avLst>
                <a:gd name="adj" fmla="val 50000"/>
              </a:avLst>
            </a:prstGeom>
            <a:solidFill>
              <a:srgbClr val="01708C"/>
            </a:solidFill>
            <a:ln>
              <a:noFill/>
            </a:ln>
          </p:spPr>
          <p:txBody>
            <a:bodyPr/>
            <a:lstStyle/>
            <a:p>
              <a:endParaRPr/>
            </a:p>
          </p:txBody>
        </p:sp>
        <p:sp>
          <p:nvSpPr>
            <p:cNvPr id="632" name="TEACH-move-text"/>
            <p:cNvSpPr txBox="1"/>
            <p:nvPr/>
          </p:nvSpPr>
          <p:spPr>
            <a:xfrm>
              <a:off x="822960" y="5584914"/>
              <a:ext cx="10728960" cy="640080"/>
            </a:xfrm>
            <a:prstGeom prst="rect">
              <a:avLst/>
            </a:prstGeom>
            <a:noFill/>
            <a:ln>
              <a:noFill/>
            </a:ln>
          </p:spPr>
          <p:txBody>
            <a:bodyPr wrap="square" lIns="0" tIns="0" rIns="0" bIns="0" anchor="ctr">
              <a:noAutofit/>
            </a:bodyPr>
            <a:lstStyle/>
            <a:p>
              <a:pPr algn="l">
                <a:buNone/>
              </a:pPr>
              <a:r>
                <a:rPr lang="en-US" sz="1600" b="1" dirty="0">
                  <a:solidFill>
                    <a:srgbClr val="01708C"/>
                  </a:solidFill>
                  <a:latin typeface="Arial"/>
                </a:rPr>
                <a:t>HOW DO YOU KNOW?  ·  </a:t>
              </a:r>
              <a:r>
                <a:rPr lang="en-US" sz="1600" dirty="0">
                  <a:solidFill>
                    <a:srgbClr val="13303A"/>
                  </a:solidFill>
                  <a:latin typeface="Arial"/>
                </a:rPr>
                <a:t>Ask your partner “How do you know?” Answer by pointing to your own work.</a:t>
              </a:r>
              <a:endParaRPr lang="en-US" sz="1600"/>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cxnSp>
        <p:nvCxnSpPr>
          <p:cNvPr id="632" name="Google Shape;632;p6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33" name="Google Shape;633;p60"/>
          <p:cNvSpPr txBox="1"/>
          <p:nvPr/>
        </p:nvSpPr>
        <p:spPr>
          <a:xfrm>
            <a:off x="484564" y="781626"/>
            <a:ext cx="7855871" cy="39319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000" u="none" cap="none" strike="noStrike">
                <a:solidFill>
                  <a:srgbClr val="23282D"/>
                </a:solidFill>
                <a:latin typeface="Arial"/>
                <a:ea typeface="Arial"/>
                <a:cs typeface="Arial"/>
                <a:sym typeface="Arial"/>
              </a:rPr>
              <a:t>Evelyn is helping to plan the sixth-grade field day. The committee will order the items shown for each student participating in field day. They do not yet know how many students will be participating in field day. The shipping cost for all items is a one-time cost of $23.50. What expression can Evelyn use to determine how much the committee will need to purchase the items?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262626"/>
              </a:buClr>
              <a:buSzPts val="2800"/>
              <a:buFont typeface="Arial"/>
              <a:buNone/>
              <a:defRPr/>
            </a:pPr>
            <a:r>
              <a:rPr b="1" i="0" lang="en-US" sz="2000" u="none" cap="none" strike="noStrike">
                <a:solidFill>
                  <a:srgbClr val="23282D"/>
                </a:solidFill>
                <a:latin typeface="Arial"/>
                <a:ea typeface="Arial"/>
                <a:cs typeface="Arial"/>
                <a:sym typeface="Arial"/>
              </a:rPr>
              <a:t>What information do you need to find?</a:t>
            </a:r>
            <a:endParaRPr b="0" i="0" sz="2800" u="none" cap="none" strike="noStrike">
              <a:solidFill>
                <a:schemeClr val="dk2"/>
              </a:solidFill>
              <a:latin typeface="Arial"/>
              <a:ea typeface="Calibri"/>
              <a:cs typeface="Calibri"/>
              <a:sym typeface="Calibri"/>
            </a:endParaRPr>
          </a:p>
        </p:txBody>
      </p:sp>
      <p:sp>
        <p:nvSpPr>
          <p:cNvPr id="634" name="Google Shape;634;p60"/>
          <p:cNvSpPr txBox="1"/>
          <p:nvPr/>
        </p:nvSpPr>
        <p:spPr>
          <a:xfrm>
            <a:off x="531479" y="4984865"/>
            <a:ext cx="11364885" cy="138603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need to find an expression that can be used to determine how much the field day items will cost.</a:t>
            </a:r>
            <a:endParaRPr b="0" i="0" sz="1400" u="none" cap="none" strike="noStrike">
              <a:solidFill>
                <a:srgbClr val="000000"/>
              </a:solidFill>
              <a:latin typeface="Arial"/>
              <a:ea typeface="Arial"/>
              <a:cs typeface="Arial"/>
              <a:sym typeface="Arial"/>
            </a:endParaRPr>
          </a:p>
        </p:txBody>
      </p:sp>
      <p:sp>
        <p:nvSpPr>
          <p:cNvPr id="635" name="Google Shape;635;p60"/>
          <p:cNvSpPr txBox="1"/>
          <p:nvPr/>
        </p:nvSpPr>
        <p:spPr>
          <a:xfrm>
            <a:off x="484565" y="316034"/>
            <a:ext cx="5641027" cy="6200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Class Field Day</a:t>
            </a:r>
            <a:endParaRPr b="0" i="0" sz="1400" u="none" cap="none" strike="noStrike">
              <a:solidFill>
                <a:srgbClr val="000000"/>
              </a:solidFill>
              <a:latin typeface="Arial"/>
              <a:ea typeface="Arial"/>
              <a:cs typeface="Arial"/>
              <a:sym typeface="Arial"/>
            </a:endParaRPr>
          </a:p>
        </p:txBody>
      </p:sp>
      <p:pic>
        <p:nvPicPr>
          <p:cNvPr id="636" name="Google Shape;636;p60"/>
          <p:cNvPicPr preferRelativeResize="0"/>
          <p:nvPr/>
        </p:nvPicPr>
        <p:blipFill rotWithShape="1">
          <a:blip r:embed="rId3">
            <a:alphaModFix/>
          </a:blip>
          <a:srcRect b="0" l="0" r="0" t="0"/>
          <a:stretch/>
        </p:blipFill>
        <p:spPr>
          <a:xfrm>
            <a:off x="8340435" y="1974273"/>
            <a:ext cx="3655385" cy="2160000"/>
          </a:xfrm>
          <a:prstGeom prst="rect">
            <a:avLst/>
          </a:prstGeom>
          <a:noFill/>
          <a:ln>
            <a:noFill/>
          </a:ln>
        </p:spPr>
      </p:pic>
      <p:sp>
        <p:nvSpPr>
          <p:cNvPr id="6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48</a:t>
            </a:r>
          </a:p>
        </p:txBody>
      </p:sp>
      <p:sp>
        <p:nvSpPr>
          <p:cNvPr id="638" name="EWL-COVER-1"/>
          <p:cNvSpPr/>
          <p:nvPr/>
        </p:nvSpPr>
        <p:spPr>
          <a:xfrm>
            <a:off x="476615" y="4930001"/>
            <a:ext cx="11474613" cy="1495761"/>
          </a:xfrm>
          <a:prstGeom prst="rect">
            <a:avLst/>
          </a:prstGeom>
          <a:solidFill>
            <a:srgbClr val="FFFFFF"/>
          </a:solidFill>
          <a:ln>
            <a:noFill/>
          </a:ln>
        </p:spPr>
        <p:txBody>
          <a:bodyPr/>
          <a:lstStyle/>
          <a:p/>
        </p:txBody>
      </p:sp>
      <p:grpSp>
        <p:nvGrpSpPr>
          <p:cNvPr id="639" name="TEACH-5-student-move" descr="TEACH 5 · Facilitate student interactions and academic talk"/>
          <p:cNvGrpSpPr/>
          <p:nvPr/>
        </p:nvGrpSpPr>
        <p:grpSpPr>
          <a:xfrm>
            <a:off x="502920" y="4545953"/>
            <a:ext cx="11186160" cy="402336"/>
            <a:chOff x="502920" y="4545953"/>
            <a:chExt cx="11186160" cy="402336"/>
          </a:xfrm>
        </p:grpSpPr>
        <p:sp>
          <p:nvSpPr>
            <p:cNvPr id="640" name="TEACH-move-card"/>
            <p:cNvSpPr/>
            <p:nvPr/>
          </p:nvSpPr>
          <p:spPr>
            <a:xfrm>
              <a:off x="502920" y="4545953"/>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641" name="TEACH-move-rule"/>
            <p:cNvSpPr/>
            <p:nvPr/>
          </p:nvSpPr>
          <p:spPr>
            <a:xfrm>
              <a:off x="548640" y="4622397"/>
              <a:ext cx="100584" cy="249448"/>
            </a:xfrm>
            <a:prstGeom prst="roundRect">
              <a:avLst>
                <a:gd name="adj" fmla="val 50000"/>
              </a:avLst>
            </a:prstGeom>
            <a:solidFill>
              <a:srgbClr val="01708C"/>
            </a:solidFill>
            <a:ln>
              <a:noFill/>
            </a:ln>
          </p:spPr>
          <p:txBody>
            <a:bodyPr/>
            <a:lstStyle/>
            <a:p>
              <a:endParaRPr/>
            </a:p>
          </p:txBody>
        </p:sp>
        <p:sp>
          <p:nvSpPr>
            <p:cNvPr id="642" name="TEACH-move-text"/>
            <p:cNvSpPr txBox="1"/>
            <p:nvPr/>
          </p:nvSpPr>
          <p:spPr>
            <a:xfrm>
              <a:off x="822960" y="4545953"/>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TAKE TURNS  ·  </a:t>
              </a:r>
              <a:r>
                <a:rPr lang="en-US" sz="1200" dirty="0">
                  <a:solidFill>
                    <a:srgbClr val="13303A"/>
                  </a:solidFill>
                  <a:latin typeface="Arial"/>
                </a:rPr>
                <a:t>One explains, one asks a question. Then switch, so both of you talk.</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xit" presetSubtype="0" fill="hold" nodeType="clickEffect">
                            <p:stCondLst>
                              <p:cond delay="0"/>
                            </p:stCondLst>
                            <p:childTnLst>
                              <p:set>
                                <p:cBhvr>
                                  <p:cTn id="5" dur="1" fill="hold"/>
                                  <p:tgtEl>
                                    <p:spTgt spid="638"/>
                                  </p:tgtEl>
                                  <p:attrNameLst>
                                    <p:attrName>style.visibility</p:attrName>
                                  </p:attrNameLst>
                                </p:cBhvr>
                                <p:to>
                                  <p:strVal val="hidden"/>
                                </p:to>
                              </p:set>
                            </p:childTnLst>
                          </p:cTn>
                        </p:par>
                      </p:childTnLst>
                    </p:cTn>
                  </p:par>
                </p:childTnLst>
              </p:cTn>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cxnSp>
        <p:nvCxnSpPr>
          <p:cNvPr id="661" name="Google Shape;661;p6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62" name="Google Shape;662;p63"/>
          <p:cNvSpPr txBox="1"/>
          <p:nvPr/>
        </p:nvSpPr>
        <p:spPr>
          <a:xfrm>
            <a:off x="486000" y="5192254"/>
            <a:ext cx="11364885" cy="106645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663" name="Google Shape;663;p63"/>
          <p:cNvSpPr txBox="1"/>
          <p:nvPr/>
        </p:nvSpPr>
        <p:spPr>
          <a:xfrm>
            <a:off x="486000" y="936099"/>
            <a:ext cx="8168473" cy="35361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Evelyn is helping to plan the sixth-grade field day. The committee will order the items shown for each student participating in field day. They do not yet know how many students will be participating in field day. The shipping cost for all items is a one-time cost of $23.50. What expression can Evelyn use to determine how much the committee will need to purchase the items?</a:t>
            </a:r>
            <a:endParaRPr b="1" i="0" sz="2800" u="none" cap="none" strike="noStrike">
              <a:solidFill>
                <a:srgbClr val="262626"/>
              </a:solidFill>
              <a:latin typeface="Arial"/>
              <a:ea typeface="Arial"/>
              <a:cs typeface="Arial"/>
              <a:sym typeface="Arial"/>
            </a:endParaRPr>
          </a:p>
        </p:txBody>
      </p:sp>
      <p:sp>
        <p:nvSpPr>
          <p:cNvPr id="664" name="Google Shape;664;p63"/>
          <p:cNvSpPr/>
          <p:nvPr/>
        </p:nvSpPr>
        <p:spPr>
          <a:xfrm>
            <a:off x="486000" y="4569092"/>
            <a:ext cx="10132902"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23282D"/>
                </a:solidFill>
                <a:latin typeface="Arial"/>
                <a:ea typeface="Arial"/>
                <a:cs typeface="Arial"/>
                <a:sym typeface="Arial"/>
              </a:rPr>
              <a:t>How can you represent the unknown number of students?</a:t>
            </a:r>
            <a:endParaRPr b="0" i="0" sz="1400" u="none" cap="none" strike="noStrike">
              <a:solidFill>
                <a:srgbClr val="000000"/>
              </a:solidFill>
              <a:latin typeface="Arial"/>
              <a:ea typeface="Arial"/>
              <a:cs typeface="Arial"/>
              <a:sym typeface="Arial"/>
            </a:endParaRPr>
          </a:p>
        </p:txBody>
      </p:sp>
      <p:sp>
        <p:nvSpPr>
          <p:cNvPr id="665" name="Google Shape;665;p63"/>
          <p:cNvSpPr txBox="1"/>
          <p:nvPr/>
        </p:nvSpPr>
        <p:spPr>
          <a:xfrm>
            <a:off x="486000" y="316034"/>
            <a:ext cx="5641027" cy="6200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Class Field Day</a:t>
            </a:r>
            <a:endParaRPr b="0" i="0" sz="1400" u="none" cap="none" strike="noStrike">
              <a:solidFill>
                <a:srgbClr val="000000"/>
              </a:solidFill>
              <a:latin typeface="Arial"/>
              <a:ea typeface="Arial"/>
              <a:cs typeface="Arial"/>
              <a:sym typeface="Arial"/>
            </a:endParaRPr>
          </a:p>
        </p:txBody>
      </p:sp>
      <p:pic>
        <p:nvPicPr>
          <p:cNvPr id="666" name="Google Shape;666;p63"/>
          <p:cNvPicPr preferRelativeResize="0"/>
          <p:nvPr/>
        </p:nvPicPr>
        <p:blipFill rotWithShape="1">
          <a:blip r:embed="rId3">
            <a:alphaModFix/>
          </a:blip>
          <a:srcRect b="0" l="0" r="0" t="0"/>
          <a:stretch/>
        </p:blipFill>
        <p:spPr>
          <a:xfrm>
            <a:off x="8340435" y="1974273"/>
            <a:ext cx="3655385" cy="2160000"/>
          </a:xfrm>
          <a:prstGeom prst="rect">
            <a:avLst/>
          </a:prstGeom>
          <a:noFill/>
          <a:ln>
            <a:noFill/>
          </a:ln>
        </p:spPr>
      </p:pic>
      <p:sp>
        <p:nvSpPr>
          <p:cNvPr id="66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48</a:t>
            </a:r>
          </a:p>
        </p:txBody>
      </p:sp>
      <p:grpSp>
        <p:nvGrpSpPr>
          <p:cNvPr id="668" name="TEACH-4-student-move" descr="TEACH 4 · Monitor progress and provide feedback"/>
          <p:cNvGrpSpPr/>
          <p:nvPr/>
        </p:nvGrpSpPr>
        <p:grpSpPr>
          <a:xfrm>
            <a:off x="502920" y="5746583"/>
            <a:ext cx="11186160" cy="457200"/>
            <a:chOff x="502920" y="5746583"/>
            <a:chExt cx="11186160" cy="457200"/>
          </a:xfrm>
        </p:grpSpPr>
        <p:sp>
          <p:nvSpPr>
            <p:cNvPr id="669" name="TEACH-move-card"/>
            <p:cNvSpPr/>
            <p:nvPr/>
          </p:nvSpPr>
          <p:spPr>
            <a:xfrm>
              <a:off x="502920" y="5746583"/>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670" name="TEACH-move-rule"/>
            <p:cNvSpPr/>
            <p:nvPr/>
          </p:nvSpPr>
          <p:spPr>
            <a:xfrm>
              <a:off x="548640" y="5833451"/>
              <a:ext cx="100584" cy="283464"/>
            </a:xfrm>
            <a:prstGeom prst="roundRect">
              <a:avLst>
                <a:gd name="adj" fmla="val 50000"/>
              </a:avLst>
            </a:prstGeom>
            <a:solidFill>
              <a:srgbClr val="01708C"/>
            </a:solidFill>
            <a:ln>
              <a:noFill/>
            </a:ln>
          </p:spPr>
          <p:txBody>
            <a:bodyPr/>
            <a:lstStyle/>
            <a:p>
              <a:endParaRPr/>
            </a:p>
          </p:txBody>
        </p:sp>
        <p:sp>
          <p:nvSpPr>
            <p:cNvPr id="671" name="TEACH-move-text"/>
            <p:cNvSpPr txBox="1"/>
            <p:nvPr/>
          </p:nvSpPr>
          <p:spPr>
            <a:xfrm>
              <a:off x="822960" y="5746583"/>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SELF-CHECK  ·  </a:t>
              </a:r>
              <a:r>
                <a:rPr lang="en-US" sz="1400" dirty="0">
                  <a:solidFill>
                    <a:srgbClr val="13303A"/>
                  </a:solidFill>
                  <a:latin typeface="Arial"/>
                </a:rPr>
                <a:t>Mark it: ✓ got it  ·  ~ almost  ·  ? stuck. Then fix one thing before we move on.</a:t>
              </a:r>
              <a:endParaRPr lang="en-US" sz="1400"/>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cxnSp>
        <p:nvCxnSpPr>
          <p:cNvPr id="795" name="Google Shape;795;p7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96" name="Google Shape;796;p78"/>
          <p:cNvSpPr txBox="1"/>
          <p:nvPr/>
        </p:nvSpPr>
        <p:spPr>
          <a:xfrm>
            <a:off x="484564" y="936098"/>
            <a:ext cx="8573711" cy="381139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Each student will receive one item shown and the one-time shipping cost is $23.50.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1800"/>
              <a:buFont typeface="Arial"/>
              <a:buNone/>
              <a:defRPr/>
            </a:pPr>
            <a:r>
              <a:rPr/>
              <a:t/>
            </a:r>
            <a:endParaRPr b="1" i="0" sz="1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Why doesn’t the expression for the shipping cost contain a variable?</a:t>
            </a:r>
            <a:endParaRPr b="0" i="0" sz="1400" u="none" cap="none" strike="noStrike">
              <a:solidFill>
                <a:srgbClr val="000000"/>
              </a:solidFill>
              <a:latin typeface="Arial"/>
              <a:ea typeface="Arial"/>
              <a:cs typeface="Arial"/>
              <a:sym typeface="Arial"/>
            </a:endParaRPr>
          </a:p>
        </p:txBody>
      </p:sp>
      <p:sp>
        <p:nvSpPr>
          <p:cNvPr id="797" name="Google Shape;797;p78"/>
          <p:cNvSpPr txBox="1"/>
          <p:nvPr/>
        </p:nvSpPr>
        <p:spPr>
          <a:xfrm>
            <a:off x="484564" y="4747491"/>
            <a:ext cx="9526921" cy="149040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shipping cost is not related to the number of students. It is a one-time fee.</a:t>
            </a:r>
            <a:endParaRPr b="0" i="0" sz="1400" u="none" cap="none" strike="noStrike">
              <a:solidFill>
                <a:srgbClr val="000000"/>
              </a:solidFill>
              <a:latin typeface="Arial"/>
              <a:ea typeface="Arial"/>
              <a:cs typeface="Arial"/>
              <a:sym typeface="Arial"/>
            </a:endParaRPr>
          </a:p>
        </p:txBody>
      </p:sp>
      <p:sp>
        <p:nvSpPr>
          <p:cNvPr id="798" name="Google Shape;798;p78"/>
          <p:cNvSpPr txBox="1"/>
          <p:nvPr/>
        </p:nvSpPr>
        <p:spPr>
          <a:xfrm>
            <a:off x="484565" y="316034"/>
            <a:ext cx="5641027" cy="6200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Class Field Day</a:t>
            </a:r>
            <a:endParaRPr b="0" i="0" sz="1400" u="none" cap="none" strike="noStrike">
              <a:solidFill>
                <a:srgbClr val="000000"/>
              </a:solidFill>
              <a:latin typeface="Arial"/>
              <a:ea typeface="Arial"/>
              <a:cs typeface="Arial"/>
              <a:sym typeface="Arial"/>
            </a:endParaRPr>
          </a:p>
        </p:txBody>
      </p:sp>
      <p:pic>
        <p:nvPicPr>
          <p:cNvPr id="799" name="Google Shape;799;p78"/>
          <p:cNvPicPr preferRelativeResize="0"/>
          <p:nvPr/>
        </p:nvPicPr>
        <p:blipFill rotWithShape="1">
          <a:blip r:embed="rId3">
            <a:alphaModFix/>
          </a:blip>
          <a:srcRect b="0" l="0" r="0" t="0"/>
          <a:stretch/>
        </p:blipFill>
        <p:spPr>
          <a:xfrm>
            <a:off x="1046854" y="2180402"/>
            <a:ext cx="7947076" cy="1494000"/>
          </a:xfrm>
          <a:prstGeom prst="rect">
            <a:avLst/>
          </a:prstGeom>
          <a:noFill/>
          <a:ln>
            <a:noFill/>
          </a:ln>
        </p:spPr>
      </p:pic>
      <p:sp>
        <p:nvSpPr>
          <p:cNvPr id="80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48</a:t>
            </a:r>
          </a:p>
        </p:txBody>
      </p:sp>
      <p:sp>
        <p:nvSpPr>
          <p:cNvPr id="801" name="EWL-COVER-1"/>
          <p:cNvSpPr/>
          <p:nvPr/>
        </p:nvSpPr>
        <p:spPr>
          <a:xfrm>
            <a:off x="429700" y="4692627"/>
            <a:ext cx="9636649" cy="1600133"/>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0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cxnSp>
        <p:nvCxnSpPr>
          <p:cNvPr id="813" name="Google Shape;813;p8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14" name="Google Shape;814;p80"/>
          <p:cNvSpPr txBox="1"/>
          <p:nvPr/>
        </p:nvSpPr>
        <p:spPr>
          <a:xfrm>
            <a:off x="531479" y="3893002"/>
            <a:ext cx="8243799" cy="102570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To determine the total cost, what operation can you use between each expression?</a:t>
            </a:r>
            <a:endParaRPr b="0" i="0" sz="1400" u="none" cap="none" strike="noStrike">
              <a:solidFill>
                <a:srgbClr val="000000"/>
              </a:solidFill>
              <a:latin typeface="Arial"/>
              <a:ea typeface="Arial"/>
              <a:cs typeface="Arial"/>
              <a:sym typeface="Arial"/>
            </a:endParaRPr>
          </a:p>
        </p:txBody>
      </p:sp>
      <p:sp>
        <p:nvSpPr>
          <p:cNvPr id="815" name="Google Shape;815;p80"/>
          <p:cNvSpPr txBox="1"/>
          <p:nvPr/>
        </p:nvSpPr>
        <p:spPr>
          <a:xfrm>
            <a:off x="531479" y="5183539"/>
            <a:ext cx="11364885" cy="10830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use addition.</a:t>
            </a:r>
            <a:endParaRPr b="0" i="0" sz="1400" u="none" cap="none" strike="noStrike">
              <a:solidFill>
                <a:srgbClr val="000000"/>
              </a:solidFill>
              <a:latin typeface="Arial"/>
              <a:ea typeface="Arial"/>
              <a:cs typeface="Arial"/>
              <a:sym typeface="Arial"/>
            </a:endParaRPr>
          </a:p>
        </p:txBody>
      </p:sp>
      <p:sp>
        <p:nvSpPr>
          <p:cNvPr id="816" name="Google Shape;816;p80"/>
          <p:cNvSpPr txBox="1"/>
          <p:nvPr/>
        </p:nvSpPr>
        <p:spPr>
          <a:xfrm>
            <a:off x="484565" y="316034"/>
            <a:ext cx="5641027" cy="6200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Class Field Day</a:t>
            </a:r>
            <a:endParaRPr b="0" i="0" sz="1400" u="none" cap="none" strike="noStrike">
              <a:solidFill>
                <a:srgbClr val="000000"/>
              </a:solidFill>
              <a:latin typeface="Arial"/>
              <a:ea typeface="Arial"/>
              <a:cs typeface="Arial"/>
              <a:sym typeface="Arial"/>
            </a:endParaRPr>
          </a:p>
        </p:txBody>
      </p:sp>
      <p:pic>
        <p:nvPicPr>
          <p:cNvPr id="817" name="Google Shape;817;p80"/>
          <p:cNvPicPr preferRelativeResize="0"/>
          <p:nvPr/>
        </p:nvPicPr>
        <p:blipFill rotWithShape="1">
          <a:blip r:embed="rId3">
            <a:alphaModFix/>
          </a:blip>
          <a:srcRect b="0" l="0" r="0" t="0"/>
          <a:stretch/>
        </p:blipFill>
        <p:spPr>
          <a:xfrm>
            <a:off x="828202" y="1815717"/>
            <a:ext cx="7947076" cy="1494000"/>
          </a:xfrm>
          <a:prstGeom prst="rect">
            <a:avLst/>
          </a:prstGeom>
          <a:noFill/>
          <a:ln>
            <a:noFill/>
          </a:ln>
        </p:spPr>
      </p:pic>
      <p:sp>
        <p:nvSpPr>
          <p:cNvPr id="81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48</a:t>
            </a:r>
          </a:p>
        </p:txBody>
      </p:sp>
      <p:sp>
        <p:nvSpPr>
          <p:cNvPr id="819" name="EWL-COVER-1"/>
          <p:cNvSpPr/>
          <p:nvPr/>
        </p:nvSpPr>
        <p:spPr>
          <a:xfrm>
            <a:off x="476615" y="5128675"/>
            <a:ext cx="11474613" cy="1192809"/>
          </a:xfrm>
          <a:prstGeom prst="rect">
            <a:avLst/>
          </a:prstGeom>
          <a:solidFill>
            <a:srgbClr val="FFFFFF"/>
          </a:solidFill>
          <a:ln>
            <a:noFill/>
          </a:ln>
        </p:spPr>
        <p:txBody>
          <a:bodyPr/>
          <a:lstStyle/>
          <a:p/>
        </p:txBody>
      </p:sp>
      <p:grpSp>
        <p:nvGrpSpPr>
          <p:cNvPr id="820" name="TEACH-3-student-move" descr="TEACH 3 · Use intentional questioning to deepen learning"/>
          <p:cNvGrpSpPr/>
          <p:nvPr/>
        </p:nvGrpSpPr>
        <p:grpSpPr>
          <a:xfrm>
            <a:off x="502920" y="3454090"/>
            <a:ext cx="11186160" cy="402336"/>
            <a:chOff x="502920" y="3454090"/>
            <a:chExt cx="11186160" cy="402336"/>
          </a:xfrm>
        </p:grpSpPr>
        <p:sp>
          <p:nvSpPr>
            <p:cNvPr id="821" name="TEACH-move-card"/>
            <p:cNvSpPr/>
            <p:nvPr/>
          </p:nvSpPr>
          <p:spPr>
            <a:xfrm>
              <a:off x="502920" y="34540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822" name="TEACH-move-rule"/>
            <p:cNvSpPr/>
            <p:nvPr/>
          </p:nvSpPr>
          <p:spPr>
            <a:xfrm>
              <a:off x="548640" y="3530534"/>
              <a:ext cx="100584" cy="249448"/>
            </a:xfrm>
            <a:prstGeom prst="roundRect">
              <a:avLst>
                <a:gd name="adj" fmla="val 50000"/>
              </a:avLst>
            </a:prstGeom>
            <a:solidFill>
              <a:srgbClr val="01708C"/>
            </a:solidFill>
            <a:ln>
              <a:noFill/>
            </a:ln>
          </p:spPr>
          <p:txBody>
            <a:bodyPr/>
            <a:lstStyle/>
            <a:p>
              <a:endParaRPr/>
            </a:p>
          </p:txBody>
        </p:sp>
        <p:sp>
          <p:nvSpPr>
            <p:cNvPr id="823" name="TEACH-move-text"/>
            <p:cNvSpPr txBox="1"/>
            <p:nvPr/>
          </p:nvSpPr>
          <p:spPr>
            <a:xfrm>
              <a:off x="822960" y="34540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cxnSp>
        <p:nvCxnSpPr>
          <p:cNvPr id="848" name="Google Shape;848;p8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49" name="Google Shape;849;p84"/>
          <p:cNvSpPr txBox="1"/>
          <p:nvPr/>
        </p:nvSpPr>
        <p:spPr>
          <a:xfrm>
            <a:off x="484565" y="4745777"/>
            <a:ext cx="10446671" cy="15151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highlight>
                  <a:srgbClr val="1E2682"/>
                </a:highlight>
                <a:latin typeface="Arial"/>
                <a:ea typeface="Arial"/>
                <a:cs typeface="Arial"/>
                <a:sym typeface="Arial"/>
              </a:rPr>
              <a:t>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Do you think any of the terms can be combined and rewritten as a single term?</a:t>
            </a:r>
            <a:endParaRPr b="0" i="1" sz="2800" u="none" cap="none" strike="noStrike">
              <a:solidFill>
                <a:srgbClr val="595959"/>
              </a:solidFill>
              <a:latin typeface="Arial"/>
              <a:ea typeface="Arial"/>
              <a:cs typeface="Arial"/>
              <a:sym typeface="Arial"/>
            </a:endParaRPr>
          </a:p>
        </p:txBody>
      </p:sp>
      <p:sp>
        <p:nvSpPr>
          <p:cNvPr id="850" name="Google Shape;850;p84"/>
          <p:cNvSpPr/>
          <p:nvPr/>
        </p:nvSpPr>
        <p:spPr>
          <a:xfrm>
            <a:off x="520423" y="1060043"/>
            <a:ext cx="8413512" cy="2893100"/>
          </a:xfrm>
          <a:prstGeom prst="rect">
            <a:avLst/>
          </a:prstGeom>
          <a:blipFill rotWithShape="1">
            <a:blip r:embed="rId3">
              <a:alphaModFix/>
            </a:blip>
            <a:stretch>
              <a:fillRect b="-2321" l="-1448"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51" name="Google Shape;851;p84"/>
          <p:cNvSpPr txBox="1"/>
          <p:nvPr/>
        </p:nvSpPr>
        <p:spPr>
          <a:xfrm>
            <a:off x="484565" y="316034"/>
            <a:ext cx="5641027" cy="6200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Class Field Day</a:t>
            </a:r>
            <a:endParaRPr b="0" i="0" sz="1400" u="none" cap="none" strike="noStrike">
              <a:solidFill>
                <a:srgbClr val="000000"/>
              </a:solidFill>
              <a:latin typeface="Arial"/>
              <a:ea typeface="Arial"/>
              <a:cs typeface="Arial"/>
              <a:sym typeface="Arial"/>
            </a:endParaRPr>
          </a:p>
        </p:txBody>
      </p:sp>
      <p:sp>
        <p:nvSpPr>
          <p:cNvPr id="85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48</a:t>
            </a:r>
          </a:p>
        </p:txBody>
      </p:sp>
      <p:sp xmlns:p="http://schemas.openxmlformats.org/presentationml/2006/main" xmlns:a="http://schemas.openxmlformats.org/drawingml/2006/main">
        <p:nvSpPr>
          <p:cNvPr id="853" name="TEACH-embedded-student-prompt" descr="Student thinking and response directions"/>
          <p:cNvSpPr txBox="1"/>
          <p:nvPr/>
        </p:nvSpPr>
        <p:spPr>
          <a:xfrm>
            <a:off x="594360" y="416966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cxnSp>
        <p:nvCxnSpPr>
          <p:cNvPr id="856" name="Google Shape;856;p8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57" name="Google Shape;857;p85"/>
          <p:cNvSpPr txBox="1"/>
          <p:nvPr/>
        </p:nvSpPr>
        <p:spPr>
          <a:xfrm>
            <a:off x="484565" y="936099"/>
            <a:ext cx="7883580" cy="41161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Evelyn is helping to plan the sixth-grade field day. The committee will order the items shown for each student participating in field day. They do not yet know how many students will be participating in field day. The shipping cost for all items is a one-time cost of $23.50.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What expression can Evelyn use to determine how much the committee will need to purchase the items?</a:t>
            </a:r>
            <a:endParaRPr b="0" i="0" sz="1400" u="none" cap="none" strike="noStrike">
              <a:solidFill>
                <a:srgbClr val="000000"/>
              </a:solidFill>
              <a:latin typeface="Arial"/>
              <a:ea typeface="Arial"/>
              <a:cs typeface="Arial"/>
              <a:sym typeface="Arial"/>
            </a:endParaRPr>
          </a:p>
        </p:txBody>
      </p:sp>
      <p:sp>
        <p:nvSpPr>
          <p:cNvPr id="858" name="Google Shape;858;p85"/>
          <p:cNvSpPr/>
          <p:nvPr/>
        </p:nvSpPr>
        <p:spPr>
          <a:xfrm>
            <a:off x="484565" y="5241346"/>
            <a:ext cx="8243798" cy="738664"/>
          </a:xfrm>
          <a:prstGeom prst="rect">
            <a:avLst/>
          </a:prstGeom>
          <a:blipFill rotWithShape="1">
            <a:blip r:embed="rId3">
              <a:alphaModFix/>
            </a:blip>
            <a:stretch>
              <a:fillRect b="0" l="0" r="0" t="0"/>
            </a:stretch>
          </a:blipFill>
          <a:ln cap="flat" cmpd="sng" w="9525">
            <a:solidFill>
              <a:srgbClr val="7030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59" name="Google Shape;859;p85"/>
          <p:cNvSpPr txBox="1"/>
          <p:nvPr/>
        </p:nvSpPr>
        <p:spPr>
          <a:xfrm>
            <a:off x="484565" y="316034"/>
            <a:ext cx="5641027" cy="6200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Class Field Day</a:t>
            </a:r>
            <a:endParaRPr b="0" i="0" sz="1400" u="none" cap="none" strike="noStrike">
              <a:solidFill>
                <a:srgbClr val="000000"/>
              </a:solidFill>
              <a:latin typeface="Arial"/>
              <a:ea typeface="Arial"/>
              <a:cs typeface="Arial"/>
              <a:sym typeface="Arial"/>
            </a:endParaRPr>
          </a:p>
        </p:txBody>
      </p:sp>
      <p:pic>
        <p:nvPicPr>
          <p:cNvPr id="860" name="Google Shape;860;p85"/>
          <p:cNvPicPr preferRelativeResize="0"/>
          <p:nvPr/>
        </p:nvPicPr>
        <p:blipFill rotWithShape="1">
          <a:blip r:embed="rId4">
            <a:alphaModFix/>
          </a:blip>
          <a:srcRect b="0" l="0" r="0" t="0"/>
          <a:stretch/>
        </p:blipFill>
        <p:spPr>
          <a:xfrm>
            <a:off x="8435110" y="1746705"/>
            <a:ext cx="3582277" cy="2116800"/>
          </a:xfrm>
          <a:prstGeom prst="rect">
            <a:avLst/>
          </a:prstGeom>
          <a:noFill/>
          <a:ln>
            <a:noFill/>
          </a:ln>
        </p:spPr>
      </p:pic>
      <p:sp>
        <p:nvSpPr>
          <p:cNvPr id="86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24 / 48</a:t>
            </a: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86"/>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866" name="Google Shape;866;p86"/>
          <p:cNvSpPr txBox="1"/>
          <p:nvPr/>
        </p:nvSpPr>
        <p:spPr>
          <a:xfrm>
            <a:off x="495445" y="1256109"/>
            <a:ext cx="9034318" cy="5172972"/>
          </a:xfrm>
          <a:prstGeom prst="rect">
            <a:avLst/>
          </a:prstGeom>
          <a:blipFill rotWithShape="1">
            <a:blip r:embed="rId3">
              <a:alphaModFix/>
            </a:blip>
            <a:stretch>
              <a:fillRect b="0" l="-1215" r="0" t="-117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6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26 / 48</a:t>
            </a:r>
          </a:p>
        </p:txBody>
      </p:sp>
      <p:grpSp>
        <p:nvGrpSpPr>
          <p:cNvPr id="868" name="TEACH-2-student-move" descr="TEACH 2 · Use strategies and tasks to engage students in rigorous work"/>
          <p:cNvGrpSpPr/>
          <p:nvPr/>
        </p:nvGrpSpPr>
        <p:grpSpPr>
          <a:xfrm>
            <a:off x="502920" y="899493"/>
            <a:ext cx="11186160" cy="320040"/>
            <a:chOff x="502920" y="899493"/>
            <a:chExt cx="11186160" cy="320040"/>
          </a:xfrm>
        </p:grpSpPr>
        <p:sp>
          <p:nvSpPr>
            <p:cNvPr id="869" name="TEACH-move-card"/>
            <p:cNvSpPr/>
            <p:nvPr/>
          </p:nvSpPr>
          <p:spPr>
            <a:xfrm>
              <a:off x="502920" y="899493"/>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870" name="TEACH-move-rule"/>
            <p:cNvSpPr/>
            <p:nvPr/>
          </p:nvSpPr>
          <p:spPr>
            <a:xfrm>
              <a:off x="548640" y="960301"/>
              <a:ext cx="100584" cy="198424"/>
            </a:xfrm>
            <a:prstGeom prst="roundRect">
              <a:avLst>
                <a:gd name="adj" fmla="val 50000"/>
              </a:avLst>
            </a:prstGeom>
            <a:solidFill>
              <a:srgbClr val="01708C"/>
            </a:solidFill>
            <a:ln>
              <a:noFill/>
            </a:ln>
          </p:spPr>
          <p:txBody>
            <a:bodyPr/>
            <a:lstStyle/>
            <a:p>
              <a:endParaRPr/>
            </a:p>
          </p:txBody>
        </p:sp>
        <p:sp>
          <p:nvSpPr>
            <p:cNvPr id="871" name="TEACH-move-text"/>
            <p:cNvSpPr txBox="1"/>
            <p:nvPr/>
          </p:nvSpPr>
          <p:spPr>
            <a:xfrm>
              <a:off x="822960" y="899493"/>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STRUGGLE FIRST  ·  </a:t>
              </a:r>
              <a:r>
                <a:rPr lang="en-US" sz="1200" dirty="0">
                  <a:solidFill>
                    <a:srgbClr val="13303A"/>
                  </a:solidFill>
                  <a:latin typeface="Arial"/>
                </a:rPr>
                <a:t>Work on your own first. Stuck is allowed — try a second strategy before you ask.</a:t>
              </a:r>
              <a:endParaRPr lang="en-US" sz="1200"/>
            </a:p>
          </p:txBody>
        </p:sp>
      </p:gr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6.5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What does each term represent in the situation, and how does substitution preserve that meaning?</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ANOTHER PATHWAY  ·  </a:t>
              </a:r>
              <a:r>
                <a:rPr lang="en-US" sz="1200" dirty="0">
                  <a:solidFill>
                    <a:srgbClr val="13303A"/>
                  </a:solidFill>
                  <a:latin typeface="Arial"/>
                </a:rPr>
                <a:t>Did anyone get there a different way? Put both pathways side by side and compare.</a:t>
              </a:r>
              <a:endParaRPr lang="en-US" sz="1200"/>
            </a:p>
          </p:txBody>
        </p:sp>
      </p:gr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13" name="Google Shape;813;p8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14" name="Google Shape;814;p80"/>
          <p:cNvSpPr txBox="1"/>
          <p:nvPr/>
        </p:nvSpPr>
        <p:spPr>
          <a:xfrm>
            <a:off x="531479" y="3893002"/>
            <a:ext cx="8243799" cy="102570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To determine the total cost, what operation can you use between each expression?</a:t>
            </a:r>
            <a:endParaRPr b="0" i="0" sz="1400" u="none" cap="none" strike="noStrike">
              <a:solidFill>
                <a:srgbClr val="000000"/>
              </a:solidFill>
              <a:latin typeface="Arial"/>
              <a:ea typeface="Arial"/>
              <a:cs typeface="Arial"/>
              <a:sym typeface="Arial"/>
            </a:endParaRPr>
          </a:p>
        </p:txBody>
      </p:sp>
      <p:sp>
        <p:nvSpPr>
          <p:cNvPr id="815" name="Google Shape;815;p80"/>
          <p:cNvSpPr txBox="1"/>
          <p:nvPr/>
        </p:nvSpPr>
        <p:spPr>
          <a:xfrm>
            <a:off x="531479" y="5183539"/>
            <a:ext cx="11364885" cy="10830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use addition.</a:t>
            </a:r>
            <a:endParaRPr b="0" i="0" sz="1400" u="none" cap="none" strike="noStrike">
              <a:solidFill>
                <a:srgbClr val="000000"/>
              </a:solidFill>
              <a:latin typeface="Arial"/>
              <a:ea typeface="Arial"/>
              <a:cs typeface="Arial"/>
              <a:sym typeface="Arial"/>
            </a:endParaRPr>
          </a:p>
        </p:txBody>
      </p:sp>
      <p:sp>
        <p:nvSpPr>
          <p:cNvPr id="816" name="Google Shape;816;p80"/>
          <p:cNvSpPr txBox="1"/>
          <p:nvPr/>
        </p:nvSpPr>
        <p:spPr>
          <a:xfrm>
            <a:off x="484565" y="316034"/>
            <a:ext cx="5641027" cy="6200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Class Field Day</a:t>
            </a:r>
            <a:endParaRPr b="0" i="0" sz="1400" u="none" cap="none" strike="noStrike">
              <a:solidFill>
                <a:srgbClr val="000000"/>
              </a:solidFill>
              <a:latin typeface="Arial"/>
              <a:ea typeface="Arial"/>
              <a:cs typeface="Arial"/>
              <a:sym typeface="Arial"/>
            </a:endParaRPr>
          </a:p>
        </p:txBody>
      </p:sp>
      <p:pic>
        <p:nvPicPr>
          <p:cNvPr id="817" name="Google Shape;817;p80"/>
          <p:cNvPicPr preferRelativeResize="0"/>
          <p:nvPr/>
        </p:nvPicPr>
        <p:blipFill rotWithShape="1">
          <a:blip r:embed="rId2">
            <a:alphaModFix/>
          </a:blip>
          <a:srcRect b="0" l="0" r="0" t="0"/>
          <a:stretch/>
        </p:blipFill>
        <p:spPr>
          <a:xfrm>
            <a:off x="828202" y="1815717"/>
            <a:ext cx="7947076" cy="1494000"/>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48</a:t>
            </a:r>
          </a:p>
        </p:txBody>
      </p:sp>
      <p:grpSp>
        <p:nvGrpSpPr>
          <p:cNvPr id="818" name="TEACH-2-student-move" descr="TEACH 2 · Use strategies and tasks to engage students in rigorous work"/>
          <p:cNvGrpSpPr/>
          <p:nvPr/>
        </p:nvGrpSpPr>
        <p:grpSpPr>
          <a:xfrm>
            <a:off x="502920" y="3454090"/>
            <a:ext cx="11186160" cy="402336"/>
            <a:chOff x="502920" y="3454090"/>
            <a:chExt cx="11186160" cy="402336"/>
          </a:xfrm>
        </p:grpSpPr>
        <p:sp>
          <p:nvSpPr>
            <p:cNvPr id="819" name="TEACH-move-card"/>
            <p:cNvSpPr/>
            <p:nvPr/>
          </p:nvSpPr>
          <p:spPr>
            <a:xfrm>
              <a:off x="502920" y="34540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820" name="TEACH-move-rule"/>
            <p:cNvSpPr/>
            <p:nvPr/>
          </p:nvSpPr>
          <p:spPr>
            <a:xfrm>
              <a:off x="548640" y="3530534"/>
              <a:ext cx="100584" cy="249448"/>
            </a:xfrm>
            <a:prstGeom prst="roundRect">
              <a:avLst>
                <a:gd name="adj" fmla="val 50000"/>
              </a:avLst>
            </a:prstGeom>
            <a:solidFill>
              <a:srgbClr val="01708C"/>
            </a:solidFill>
            <a:ln>
              <a:noFill/>
            </a:ln>
          </p:spPr>
          <p:txBody>
            <a:bodyPr/>
            <a:lstStyle/>
            <a:p>
              <a:endParaRPr/>
            </a:p>
          </p:txBody>
        </p:sp>
        <p:sp>
          <p:nvSpPr>
            <p:cNvPr id="821" name="TEACH-move-text"/>
            <p:cNvSpPr txBox="1"/>
            <p:nvPr/>
          </p:nvSpPr>
          <p:spPr>
            <a:xfrm>
              <a:off x="822960" y="34540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USE YOUR TOOLS  ·  </a:t>
              </a:r>
              <a:r>
                <a:rPr lang="en-US" sz="1200" dirty="0">
                  <a:solidFill>
                    <a:srgbClr val="13303A"/>
                  </a:solidFill>
                  <a:latin typeface="Arial"/>
                </a:rPr>
                <a:t>Reach for your notes, a model, or a manipulative before you reach for an answer.</a:t>
              </a:r>
              <a:endParaRPr lang="en-US" sz="1200"/>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6-5 · Write and Evaluate Algebraic Expressions</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200" u="none" cap="none" strike="noStrike">
                <a:solidFill>
                  <a:srgbClr val="14223A"/>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Try alone. Explain one. Then revise.</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A letter used to represent an unknown quantity is a:</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Constant</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Variable</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Coefficient</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Term</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In the expression 5x + 3, what is 5?</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Variable</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Coefficient</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Constant</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Sum</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Evaluate 3n − 4 when n = 6:</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10</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14</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18</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“7 less than a number x” is written as:</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7 − x</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x − 7</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7x</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x + 7</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29 / 48</a:t>
            </a: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Review Notes — Session 2</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6-5 · Write and Evaluate Algebraic Expressions</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Session 2: Review Notes</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Algebraic Vocabulary</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1" i="0" lang="en-US" sz="1450" u="none" cap="none" strike="noStrike">
                <a:solidFill>
                  <a:srgbClr val="475569"/>
                </a:solidFill>
                <a:latin typeface="Arial"/>
                <a:ea typeface="Arial"/>
                <a:cs typeface="Arial"/>
                <a:sym typeface="Arial"/>
              </a:rPr>
              <a:t xml:space="preserve">Variable</a:t>
            </a:r>
            <a:r>
              <a:rPr b="0" i="0" lang="en-US" sz="1450" u="none" cap="none" strike="noStrike">
                <a:solidFill>
                  <a:srgbClr val="475569"/>
                </a:solidFill>
                <a:latin typeface="Arial"/>
                <a:ea typeface="Arial"/>
                <a:cs typeface="Arial"/>
                <a:sym typeface="Arial"/>
              </a:rPr>
              <a:t xml:space="preserve"> (unknown letter), </a:t>
            </a:r>
            <a:r>
              <a:rPr b="1" i="0" lang="en-US" sz="1450" u="none" cap="none" strike="noStrike">
                <a:solidFill>
                  <a:srgbClr val="475569"/>
                </a:solidFill>
                <a:latin typeface="Arial"/>
                <a:ea typeface="Arial"/>
                <a:cs typeface="Arial"/>
                <a:sym typeface="Arial"/>
              </a:rPr>
              <a:t xml:space="preserve">Coefficient</a:t>
            </a:r>
            <a:r>
              <a:rPr b="0" i="0" lang="en-US" sz="1450" u="none" cap="none" strike="noStrike">
                <a:solidFill>
                  <a:srgbClr val="475569"/>
                </a:solidFill>
                <a:latin typeface="Arial"/>
                <a:ea typeface="Arial"/>
                <a:cs typeface="Arial"/>
                <a:sym typeface="Arial"/>
              </a:rPr>
              <a:t xml:space="preserve"> (factor multiplying variable), Constant (fixed number).</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Evaluating Expressions</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1" i="0" lang="en-US" sz="1450" u="none" cap="none" strike="noStrike">
                <a:solidFill>
                  <a:srgbClr val="475569"/>
                </a:solidFill>
                <a:latin typeface="Arial"/>
                <a:ea typeface="Arial"/>
                <a:cs typeface="Arial"/>
                <a:sym typeface="Arial"/>
              </a:rPr>
              <a:t xml:space="preserve">Substitute</a:t>
            </a:r>
            <a:r>
              <a:rPr b="0" i="0" lang="en-US" sz="1450" u="none" cap="none" strike="noStrike">
                <a:solidFill>
                  <a:srgbClr val="475569"/>
                </a:solidFill>
                <a:latin typeface="Arial"/>
                <a:ea typeface="Arial"/>
                <a:cs typeface="Arial"/>
                <a:sym typeface="Arial"/>
              </a:rPr>
              <a:t xml:space="preserve"> the given numerical value into the variable and follow the order of operations.</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Translating Phrases</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Watch for reverse phrases: ‘less than’ and ‘subtracted from’ reverse the order (e.g. x − 7).</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48</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NAME THE MATH  ·  </a:t>
              </a:r>
              <a:r>
                <a:rPr lang="en-US" sz="1200" dirty="0">
                  <a:solidFill>
                    <a:srgbClr val="13303A"/>
                  </a:solidFill>
                  <a:latin typeface="Arial"/>
                </a:rPr>
                <a:t>Point to the part of this that is new today, and say what it changes.</a:t>
              </a:r>
              <a:endParaRPr lang="en-US" sz="1200"/>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87"/>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Write and Evaluate Algebraic Expressions</a:t>
            </a:r>
            <a:endParaRPr b="0" i="0" sz="1400" u="none" cap="none" strike="noStrike">
              <a:solidFill>
                <a:srgbClr val="000000"/>
              </a:solidFill>
              <a:latin typeface="Arial"/>
              <a:ea typeface="Arial"/>
              <a:cs typeface="Arial"/>
              <a:sym typeface="Arial"/>
            </a:endParaRPr>
          </a:p>
        </p:txBody>
      </p:sp>
      <p:sp>
        <p:nvSpPr>
          <p:cNvPr id="872" name="Google Shape;872;p87"/>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873" name="Google Shape;873;p87"/>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87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48</a:t>
            </a:r>
          </a:p>
        </p:txBody>
      </p:sp>
      <p:grpSp>
        <p:nvGrpSpPr>
          <p:cNvPr id="875" name="TEACH-3-student-move" descr="TEACH 3 · Use intentional questioning to deepen learning"/>
          <p:cNvGrpSpPr/>
          <p:nvPr/>
        </p:nvGrpSpPr>
        <p:grpSpPr>
          <a:xfrm>
            <a:off x="502920" y="3867612"/>
            <a:ext cx="11186160" cy="731520"/>
            <a:chOff x="502920" y="3867612"/>
            <a:chExt cx="11186160" cy="731520"/>
          </a:xfrm>
        </p:grpSpPr>
        <p:sp>
          <p:nvSpPr>
            <p:cNvPr id="876"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877"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878"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ASK THE CLASS  ·  </a:t>
              </a:r>
              <a:r>
                <a:rPr lang="en-US" sz="1800" dirty="0">
                  <a:solidFill>
                    <a:srgbClr val="13303A"/>
                  </a:solidFill>
                  <a:latin typeface="Arial"/>
                </a:rPr>
                <a:t>Write one question about this that you could ask the class.</a:t>
              </a:r>
              <a:endParaRPr lang="en-US" sz="1800"/>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cxnSp>
        <p:nvCxnSpPr>
          <p:cNvPr id="899" name="Google Shape;899;p9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00" name="Google Shape;900;p90"/>
          <p:cNvSpPr txBox="1"/>
          <p:nvPr/>
        </p:nvSpPr>
        <p:spPr>
          <a:xfrm>
            <a:off x="484565" y="316034"/>
            <a:ext cx="5301093" cy="6200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Toy Cars</a:t>
            </a:r>
            <a:endParaRPr b="0" i="0" sz="1400" u="none" cap="none" strike="noStrike">
              <a:solidFill>
                <a:srgbClr val="000000"/>
              </a:solidFill>
              <a:latin typeface="Arial"/>
              <a:ea typeface="Arial"/>
              <a:cs typeface="Arial"/>
              <a:sym typeface="Arial"/>
            </a:endParaRPr>
          </a:p>
        </p:txBody>
      </p:sp>
      <p:sp>
        <p:nvSpPr>
          <p:cNvPr id="901" name="Google Shape;901;p90"/>
          <p:cNvSpPr txBox="1"/>
          <p:nvPr/>
        </p:nvSpPr>
        <p:spPr>
          <a:xfrm>
            <a:off x="484564" y="936100"/>
            <a:ext cx="7299786" cy="5489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A toy car factory makes three different colors of a car. For every green car, three yellow cars and two blue cars are made.</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What expression can be used to determine the number of green, yellow, and blue cars made on a given day?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How many total cars are made when 125, 200, and 375 green cars are made?</a:t>
            </a:r>
            <a:endParaRPr b="0" i="0" sz="1400" u="none" cap="none" strike="noStrike">
              <a:solidFill>
                <a:srgbClr val="000000"/>
              </a:solidFill>
              <a:latin typeface="Arial"/>
              <a:ea typeface="Arial"/>
              <a:cs typeface="Arial"/>
              <a:sym typeface="Arial"/>
            </a:endParaRPr>
          </a:p>
        </p:txBody>
      </p:sp>
      <p:pic>
        <p:nvPicPr>
          <p:cNvPr id="902" name="Google Shape;902;p90"/>
          <p:cNvPicPr preferRelativeResize="0"/>
          <p:nvPr/>
        </p:nvPicPr>
        <p:blipFill rotWithShape="1">
          <a:blip r:embed="rId3">
            <a:alphaModFix/>
          </a:blip>
          <a:srcRect b="0" l="0" r="0" t="0"/>
          <a:stretch/>
        </p:blipFill>
        <p:spPr>
          <a:xfrm>
            <a:off x="7784350" y="1906212"/>
            <a:ext cx="3905250" cy="1200150"/>
          </a:xfrm>
          <a:prstGeom prst="rect">
            <a:avLst/>
          </a:prstGeom>
          <a:noFill/>
          <a:ln>
            <a:noFill/>
          </a:ln>
        </p:spPr>
      </p:pic>
      <p:sp>
        <p:nvSpPr>
          <p:cNvPr id="90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48</a:t>
            </a:r>
          </a:p>
        </p:txBody>
      </p:sp>
      <p:grpSp>
        <p:nvGrpSpPr>
          <p:cNvPr id="904" name="TEACH-5-student-move" descr="TEACH 5 · Facilitate student interactions and academic talk"/>
          <p:cNvGrpSpPr/>
          <p:nvPr/>
        </p:nvGrpSpPr>
        <p:grpSpPr>
          <a:xfrm>
            <a:off x="502920" y="5678178"/>
            <a:ext cx="11186160" cy="548640"/>
            <a:chOff x="502920" y="5678178"/>
            <a:chExt cx="11186160" cy="548640"/>
          </a:xfrm>
        </p:grpSpPr>
        <p:sp>
          <p:nvSpPr>
            <p:cNvPr id="905" name="TEACH-move-card"/>
            <p:cNvSpPr/>
            <p:nvPr/>
          </p:nvSpPr>
          <p:spPr>
            <a:xfrm>
              <a:off x="502920" y="5678178"/>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906" name="TEACH-move-rule"/>
            <p:cNvSpPr/>
            <p:nvPr/>
          </p:nvSpPr>
          <p:spPr>
            <a:xfrm>
              <a:off x="548640" y="5782420"/>
              <a:ext cx="100584" cy="340156"/>
            </a:xfrm>
            <a:prstGeom prst="roundRect">
              <a:avLst>
                <a:gd name="adj" fmla="val 50000"/>
              </a:avLst>
            </a:prstGeom>
            <a:solidFill>
              <a:srgbClr val="01708C"/>
            </a:solidFill>
            <a:ln>
              <a:noFill/>
            </a:ln>
          </p:spPr>
          <p:txBody>
            <a:bodyPr/>
            <a:lstStyle/>
            <a:p>
              <a:endParaRPr/>
            </a:p>
          </p:txBody>
        </p:sp>
        <p:sp>
          <p:nvSpPr>
            <p:cNvPr id="907" name="TEACH-move-text"/>
            <p:cNvSpPr txBox="1"/>
            <p:nvPr/>
          </p:nvSpPr>
          <p:spPr>
            <a:xfrm>
              <a:off x="822960" y="5678178"/>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RESTATE FIRST  ·  </a:t>
              </a:r>
              <a:r>
                <a:rPr lang="en-US" sz="1400" dirty="0">
                  <a:solidFill>
                    <a:srgbClr val="13303A"/>
                  </a:solidFill>
                  <a:latin typeface="Arial"/>
                </a:rPr>
                <a:t>Restate your partner’s idea in your own words before you give yours.</a:t>
              </a:r>
              <a:endParaRPr lang="en-US" sz="1400"/>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cxnSp>
        <p:nvCxnSpPr>
          <p:cNvPr id="934" name="Google Shape;934;p9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35" name="Google Shape;935;p94"/>
          <p:cNvSpPr txBox="1"/>
          <p:nvPr/>
        </p:nvSpPr>
        <p:spPr>
          <a:xfrm>
            <a:off x="484564" y="936100"/>
            <a:ext cx="7299786" cy="399334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A toy car factory makes three different colors of a car. For every green car, three yellow cars and two blue cars are made.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We can use a variable, such as </a:t>
            </a:r>
            <a:r>
              <a:rPr b="0" i="1" lang="en-US" sz="2800" u="none" cap="none" strike="noStrike">
                <a:solidFill>
                  <a:srgbClr val="23282D"/>
                </a:solidFill>
                <a:latin typeface="Arial"/>
                <a:ea typeface="Arial"/>
                <a:cs typeface="Arial"/>
                <a:sym typeface="Arial"/>
              </a:rPr>
              <a:t>c</a:t>
            </a:r>
            <a:r>
              <a:rPr b="0" i="0" lang="en-US" sz="2800" u="none" cap="none" strike="noStrike">
                <a:solidFill>
                  <a:srgbClr val="23282D"/>
                </a:solidFill>
                <a:latin typeface="Arial"/>
                <a:ea typeface="Arial"/>
                <a:cs typeface="Arial"/>
                <a:sym typeface="Arial"/>
              </a:rPr>
              <a:t>, to represent the number of green cars made.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How do the number of yellow cars and the number of blue cars relate to the number of green cars?</a:t>
            </a:r>
            <a:endParaRPr b="0" i="0" sz="1400" u="none" cap="none" strike="noStrike">
              <a:solidFill>
                <a:srgbClr val="000000"/>
              </a:solidFill>
              <a:latin typeface="Arial"/>
              <a:ea typeface="Arial"/>
              <a:cs typeface="Arial"/>
              <a:sym typeface="Arial"/>
            </a:endParaRPr>
          </a:p>
        </p:txBody>
      </p:sp>
      <p:pic>
        <p:nvPicPr>
          <p:cNvPr id="936" name="Google Shape;936;p94"/>
          <p:cNvPicPr preferRelativeResize="0"/>
          <p:nvPr/>
        </p:nvPicPr>
        <p:blipFill rotWithShape="1">
          <a:blip r:embed="rId3">
            <a:alphaModFix/>
          </a:blip>
          <a:srcRect b="0" l="0" r="0" t="0"/>
          <a:stretch/>
        </p:blipFill>
        <p:spPr>
          <a:xfrm>
            <a:off x="7784350" y="1906212"/>
            <a:ext cx="3905250" cy="1200150"/>
          </a:xfrm>
          <a:prstGeom prst="rect">
            <a:avLst/>
          </a:prstGeom>
          <a:noFill/>
          <a:ln>
            <a:noFill/>
          </a:ln>
        </p:spPr>
      </p:pic>
      <p:sp>
        <p:nvSpPr>
          <p:cNvPr id="937" name="Google Shape;937;p94"/>
          <p:cNvSpPr txBox="1"/>
          <p:nvPr/>
        </p:nvSpPr>
        <p:spPr>
          <a:xfrm>
            <a:off x="486000" y="4851904"/>
            <a:ext cx="10915145" cy="14916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There are three times as many yellow cars as green cars. There are twice as many blue cars as green cars.</a:t>
            </a:r>
            <a:endParaRPr b="0" i="1" sz="2800" u="none" cap="none" strike="noStrike">
              <a:solidFill>
                <a:srgbClr val="595959"/>
              </a:solidFill>
              <a:latin typeface="Arial"/>
              <a:ea typeface="Arial"/>
              <a:cs typeface="Arial"/>
              <a:sym typeface="Arial"/>
            </a:endParaRPr>
          </a:p>
        </p:txBody>
      </p:sp>
      <p:sp>
        <p:nvSpPr>
          <p:cNvPr id="938" name="Google Shape;938;p94"/>
          <p:cNvSpPr txBox="1"/>
          <p:nvPr/>
        </p:nvSpPr>
        <p:spPr>
          <a:xfrm>
            <a:off x="484565" y="316034"/>
            <a:ext cx="5301093" cy="6200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Toy Cars</a:t>
            </a:r>
            <a:endParaRPr b="0" i="0" sz="1400" u="none" cap="none" strike="noStrike">
              <a:solidFill>
                <a:srgbClr val="000000"/>
              </a:solidFill>
              <a:latin typeface="Arial"/>
              <a:ea typeface="Arial"/>
              <a:cs typeface="Arial"/>
              <a:sym typeface="Arial"/>
            </a:endParaRPr>
          </a:p>
        </p:txBody>
      </p:sp>
      <p:sp>
        <p:nvSpPr>
          <p:cNvPr id="93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48</a:t>
            </a:r>
          </a:p>
        </p:txBody>
      </p:sp>
      <p:sp>
        <p:nvSpPr>
          <p:cNvPr id="940" name="EWL-COVER-1"/>
          <p:cNvSpPr/>
          <p:nvPr/>
        </p:nvSpPr>
        <p:spPr>
          <a:xfrm>
            <a:off x="431136" y="4797040"/>
            <a:ext cx="11024873" cy="1601359"/>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4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cxnSp>
        <p:nvCxnSpPr>
          <p:cNvPr id="953" name="Google Shape;953;p9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54" name="Google Shape;954;p96"/>
          <p:cNvSpPr txBox="1"/>
          <p:nvPr/>
        </p:nvSpPr>
        <p:spPr>
          <a:xfrm>
            <a:off x="484564" y="834504"/>
            <a:ext cx="6716336" cy="3993347"/>
          </a:xfrm>
          <a:prstGeom prst="rect">
            <a:avLst/>
          </a:prstGeom>
          <a:blipFill rotWithShape="1">
            <a:blip r:embed="rId3">
              <a:alphaModFix/>
            </a:blip>
            <a:stretch>
              <a:fillRect b="-3511" l="-1815" r="-2178" t="-167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955" name="Google Shape;955;p96"/>
          <p:cNvPicPr preferRelativeResize="0"/>
          <p:nvPr/>
        </p:nvPicPr>
        <p:blipFill rotWithShape="1">
          <a:blip r:embed="rId4">
            <a:alphaModFix/>
          </a:blip>
          <a:srcRect b="0" l="0" r="0" t="0"/>
          <a:stretch/>
        </p:blipFill>
        <p:spPr>
          <a:xfrm>
            <a:off x="7784350" y="1906212"/>
            <a:ext cx="3905250" cy="1200150"/>
          </a:xfrm>
          <a:prstGeom prst="rect">
            <a:avLst/>
          </a:prstGeom>
          <a:noFill/>
          <a:ln>
            <a:noFill/>
          </a:ln>
        </p:spPr>
      </p:pic>
      <p:sp>
        <p:nvSpPr>
          <p:cNvPr id="956" name="Google Shape;956;p96"/>
          <p:cNvSpPr txBox="1"/>
          <p:nvPr/>
        </p:nvSpPr>
        <p:spPr>
          <a:xfrm>
            <a:off x="486000" y="4851902"/>
            <a:ext cx="10915145" cy="15027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write an algebraic expression for each color and then add them together.</a:t>
            </a:r>
            <a:endParaRPr b="0" i="1" sz="2800" u="none" cap="none" strike="noStrike">
              <a:solidFill>
                <a:srgbClr val="595959"/>
              </a:solidFill>
              <a:latin typeface="Arial"/>
              <a:ea typeface="Arial"/>
              <a:cs typeface="Arial"/>
              <a:sym typeface="Arial"/>
            </a:endParaRPr>
          </a:p>
        </p:txBody>
      </p:sp>
      <p:sp>
        <p:nvSpPr>
          <p:cNvPr id="957" name="Google Shape;957;p96"/>
          <p:cNvSpPr txBox="1"/>
          <p:nvPr/>
        </p:nvSpPr>
        <p:spPr>
          <a:xfrm>
            <a:off x="868697" y="316800"/>
            <a:ext cx="5227303" cy="54065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pic>
        <p:nvPicPr>
          <p:cNvPr id="958" name="Google Shape;958;p96"/>
          <p:cNvPicPr preferRelativeResize="0"/>
          <p:nvPr/>
        </p:nvPicPr>
        <p:blipFill rotWithShape="1">
          <a:blip r:embed="rId5">
            <a:alphaModFix/>
          </a:blip>
          <a:srcRect b="0" l="0" r="0" t="0"/>
          <a:stretch/>
        </p:blipFill>
        <p:spPr>
          <a:xfrm>
            <a:off x="515062" y="316800"/>
            <a:ext cx="353635" cy="340537"/>
          </a:xfrm>
          <a:prstGeom prst="rect">
            <a:avLst/>
          </a:prstGeom>
          <a:noFill/>
          <a:ln>
            <a:noFill/>
          </a:ln>
        </p:spPr>
      </p:pic>
      <p:sp>
        <p:nvSpPr>
          <p:cNvPr id="95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36 / 48</a:t>
            </a:r>
          </a:p>
        </p:txBody>
      </p:sp>
      <p:sp>
        <p:nvSpPr>
          <p:cNvPr id="960" name="EWL-COVER-1"/>
          <p:cNvSpPr/>
          <p:nvPr/>
        </p:nvSpPr>
        <p:spPr>
          <a:xfrm>
            <a:off x="431136" y="4797038"/>
            <a:ext cx="11024873" cy="1612443"/>
          </a:xfrm>
          <a:prstGeom prst="rect">
            <a:avLst/>
          </a:prstGeom>
          <a:solidFill>
            <a:srgbClr val="FFFFFF"/>
          </a:solidFill>
          <a:ln>
            <a:noFill/>
          </a:ln>
        </p:spPr>
        <p:txBody>
          <a:bodyPr/>
          <a:lstStyle/>
          <a:p/>
        </p:txBody>
      </p:sp>
      <p:sp>
        <p:nvSpPr>
          <p:cNvPr id="961"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COLLABORATE</a:t>
            </a:r>
            <a:r>
              <a:rPr lang="en-US" sz="1200" b="1">
                <a:solidFill>
                  <a:srgbClr val="5D6872"/>
                </a:solidFill>
                <a:latin typeface="Arial"/>
              </a:rPr>
              <a:t>  ·  TALK IT THROUGH • AGREE ON A MODEL</a:t>
            </a:r>
          </a:p>
        </p:txBody>
      </p:sp>
      <p:sp xmlns:p="http://schemas.openxmlformats.org/presentationml/2006/main" xmlns:a="http://schemas.openxmlformats.org/drawingml/2006/main">
        <p:nvSpPr>
          <p:cNvPr id="962" name="TEACH-embedded-student-prompt" descr="Student thinking and response directions"/>
          <p:cNvSpPr txBox="1"/>
          <p:nvPr/>
        </p:nvSpPr>
        <p:spPr>
          <a:xfrm>
            <a:off x="7391400" y="354787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a:t>
            </a:r>
            <a:endParaRPr lang="en-US" sz="2000"/>
          </a:p>
          <a:p>
            <a:pPr>
              <a:lnSpc>
                <a:spcPts val="2400"/>
              </a:lnSpc>
              <a:buNone/>
            </a:pPr>
            <a:r>
              <a:rPr lang="en-US" sz="2000">
                <a:solidFill>
                  <a:srgbClr val="174D60"/>
                </a:solidFill>
                <a:latin typeface="Arial"/>
              </a:rPr>
              <a:t>evidence. Switch roles; both</a:t>
            </a:r>
            <a:endParaRPr lang="en-US" sz="2000"/>
          </a:p>
          <a:p>
            <a:pPr>
              <a:lnSpc>
                <a:spcPts val="2400"/>
              </a:lnSpc>
              <a:buNone/>
            </a:pPr>
            <a:r>
              <a:rPr lang="en-US" sz="2000">
                <a:solidFill>
                  <a:srgbClr val="174D60"/>
                </a:solidFill>
                <a:latin typeface="Arial"/>
              </a:rPr>
              <a:t>revise.</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6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cxnSp>
        <p:nvCxnSpPr>
          <p:cNvPr id="999" name="Google Shape;999;p10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00" name="Google Shape;1000;p101"/>
          <p:cNvSpPr txBox="1"/>
          <p:nvPr/>
        </p:nvSpPr>
        <p:spPr>
          <a:xfrm>
            <a:off x="484564" y="936100"/>
            <a:ext cx="6887786" cy="144991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How can you write an expression to represent the number of cars made in one day?</a:t>
            </a:r>
            <a:endParaRPr b="0" i="0" sz="1400" u="none" cap="none" strike="noStrike">
              <a:solidFill>
                <a:srgbClr val="000000"/>
              </a:solidFill>
              <a:latin typeface="Arial"/>
              <a:ea typeface="Arial"/>
              <a:cs typeface="Arial"/>
              <a:sym typeface="Arial"/>
            </a:endParaRPr>
          </a:p>
        </p:txBody>
      </p:sp>
      <p:sp>
        <p:nvSpPr>
          <p:cNvPr id="1001" name="Google Shape;1001;p101"/>
          <p:cNvSpPr txBox="1"/>
          <p:nvPr/>
        </p:nvSpPr>
        <p:spPr>
          <a:xfrm>
            <a:off x="543430" y="5266616"/>
            <a:ext cx="10915145" cy="106768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add the individual expressions together.</a:t>
            </a:r>
            <a:endParaRPr b="0" i="1" sz="2800" u="none" cap="none" strike="noStrike">
              <a:solidFill>
                <a:srgbClr val="595959"/>
              </a:solidFill>
              <a:latin typeface="Arial"/>
              <a:ea typeface="Arial"/>
              <a:cs typeface="Arial"/>
              <a:sym typeface="Arial"/>
            </a:endParaRPr>
          </a:p>
        </p:txBody>
      </p:sp>
      <p:graphicFrame>
        <p:nvGraphicFramePr>
          <p:cNvPr id="1002" name="Google Shape;1002;p101"/>
          <p:cNvGraphicFramePr/>
          <p:nvPr/>
        </p:nvGraphicFramePr>
        <p:xfrm>
          <a:off x="484564" y="2515104"/>
          <a:ext cx="3000000" cy="3000000"/>
        </p:xfrm>
        <a:graphic>
          <a:graphicData uri="http://schemas.openxmlformats.org/drawingml/2006/table">
            <a:tbl>
              <a:tblPr bandRow="1" firstRow="1">
                <a:noFill/>
                <a:tableStyleId>{F25A05B0-E649-4D5A-9D03-C76B6E2C3272}</a:tableStyleId>
              </a:tblPr>
              <a:tblGrid>
                <a:gridCol w="4987550"/>
                <a:gridCol w="5986450"/>
              </a:tblGrid>
              <a:tr h="9448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9448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There are three times as many yellow cars as green cars.</a:t>
                      </a:r>
                      <a:endParaRPr b="0" i="0" sz="28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9448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rPr b="0" lang="en-US" sz="2800" u="none" cap="none" strike="noStrike">
                          <a:solidFill>
                            <a:schemeClr val="dk1"/>
                          </a:solidFill>
                          <a:latin typeface="Arial"/>
                          <a:ea typeface="Arial"/>
                          <a:cs typeface="Arial"/>
                          <a:sym typeface="Arial"/>
                        </a:rPr>
                        <a:t>There are twice as many blue cars as green cars.</a:t>
                      </a:r>
                      <a:endParaRPr b="0" sz="28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bl>
          </a:graphicData>
        </a:graphic>
      </p:graphicFrame>
      <p:sp>
        <p:nvSpPr>
          <p:cNvPr id="1003" name="Google Shape;1003;p101"/>
          <p:cNvSpPr txBox="1"/>
          <p:nvPr/>
        </p:nvSpPr>
        <p:spPr>
          <a:xfrm>
            <a:off x="484565" y="316034"/>
            <a:ext cx="5301093" cy="6200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Toy Cars</a:t>
            </a:r>
            <a:endParaRPr b="0" i="0" sz="1400" u="none" cap="none" strike="noStrike">
              <a:solidFill>
                <a:srgbClr val="000000"/>
              </a:solidFill>
              <a:latin typeface="Arial"/>
              <a:ea typeface="Arial"/>
              <a:cs typeface="Arial"/>
              <a:sym typeface="Arial"/>
            </a:endParaRPr>
          </a:p>
        </p:txBody>
      </p:sp>
      <p:sp>
        <p:nvSpPr>
          <p:cNvPr id="100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37 / 48</a:t>
            </a:r>
          </a:p>
        </p:txBody>
      </p:sp>
      <p:sp>
        <p:nvSpPr>
          <p:cNvPr id="1005" name="EWL-COVER-1"/>
          <p:cNvSpPr/>
          <p:nvPr/>
        </p:nvSpPr>
        <p:spPr>
          <a:xfrm>
            <a:off x="488566" y="5211752"/>
            <a:ext cx="11024873" cy="1177411"/>
          </a:xfrm>
          <a:prstGeom prst="rect">
            <a:avLst/>
          </a:prstGeom>
          <a:solidFill>
            <a:srgbClr val="FFFFFF"/>
          </a:solidFill>
          <a:ln>
            <a:noFill/>
          </a:ln>
        </p:spPr>
        <p:txBody>
          <a:bodyPr/>
          <a:lstStyle/>
          <a:p/>
        </p:txBody>
      </p:sp>
      <p:grpSp>
        <p:nvGrpSpPr>
          <p:cNvPr id="1006" name="TEACH-4-student-move" descr="TEACH 4 · Monitor progress and provide feedback"/>
          <p:cNvGrpSpPr/>
          <p:nvPr/>
        </p:nvGrpSpPr>
        <p:grpSpPr>
          <a:xfrm>
            <a:off x="6187440" y="1930400"/>
            <a:ext cx="5501640" cy="594360"/>
            <a:chOff x="6187440" y="4589960"/>
            <a:chExt cx="5501640" cy="594360"/>
          </a:xfrm>
        </p:grpSpPr>
        <p:sp>
          <p:nvSpPr>
            <p:cNvPr id="1007" name="TEACH-move-card"/>
            <p:cNvSpPr/>
            <p:nvPr/>
          </p:nvSpPr>
          <p:spPr>
            <a:xfrm>
              <a:off x="6187440" y="4589960"/>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1008" name="TEACH-move-rule"/>
            <p:cNvSpPr/>
            <p:nvPr/>
          </p:nvSpPr>
          <p:spPr>
            <a:xfrm>
              <a:off x="6233160" y="4702888"/>
              <a:ext cx="100584" cy="368504"/>
            </a:xfrm>
            <a:prstGeom prst="roundRect">
              <a:avLst>
                <a:gd name="adj" fmla="val 50000"/>
              </a:avLst>
            </a:prstGeom>
            <a:solidFill>
              <a:srgbClr val="01708C"/>
            </a:solidFill>
            <a:ln>
              <a:noFill/>
            </a:ln>
          </p:spPr>
          <p:txBody>
            <a:bodyPr/>
            <a:lstStyle/>
            <a:p>
              <a:endParaRPr/>
            </a:p>
          </p:txBody>
        </p:sp>
        <p:sp>
          <p:nvSpPr>
            <p:cNvPr id="1009" name="TEACH-move-text"/>
            <p:cNvSpPr txBox="1"/>
            <p:nvPr/>
          </p:nvSpPr>
          <p:spPr>
            <a:xfrm>
              <a:off x="6507480" y="4589960"/>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00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cxnSp>
        <p:nvCxnSpPr>
          <p:cNvPr id="1111" name="Google Shape;1111;p11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112" name="Google Shape;1112;p113"/>
          <p:cNvSpPr txBox="1"/>
          <p:nvPr/>
        </p:nvSpPr>
        <p:spPr>
          <a:xfrm>
            <a:off x="484564" y="936101"/>
            <a:ext cx="7299786" cy="133327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A toy car factory makes three different colors of a car. For every green car, three yellow cars and two blue cars are made.</a:t>
            </a:r>
            <a:endParaRPr b="1" i="0" sz="2800" u="none" cap="none" strike="noStrike">
              <a:solidFill>
                <a:srgbClr val="262626"/>
              </a:solidFill>
              <a:latin typeface="Arial"/>
              <a:ea typeface="Arial"/>
              <a:cs typeface="Arial"/>
              <a:sym typeface="Arial"/>
            </a:endParaRPr>
          </a:p>
        </p:txBody>
      </p:sp>
      <p:pic>
        <p:nvPicPr>
          <p:cNvPr id="1113" name="Google Shape;1113;p113"/>
          <p:cNvPicPr preferRelativeResize="0"/>
          <p:nvPr/>
        </p:nvPicPr>
        <p:blipFill rotWithShape="1">
          <a:blip r:embed="rId3">
            <a:alphaModFix/>
          </a:blip>
          <a:srcRect b="0" l="0" r="0" t="0"/>
          <a:stretch/>
        </p:blipFill>
        <p:spPr>
          <a:xfrm>
            <a:off x="7784350" y="1703119"/>
            <a:ext cx="3905250" cy="1200150"/>
          </a:xfrm>
          <a:prstGeom prst="rect">
            <a:avLst/>
          </a:prstGeom>
          <a:noFill/>
          <a:ln>
            <a:noFill/>
          </a:ln>
        </p:spPr>
      </p:pic>
      <p:sp>
        <p:nvSpPr>
          <p:cNvPr id="1114" name="Google Shape;1114;p113"/>
          <p:cNvSpPr/>
          <p:nvPr/>
        </p:nvSpPr>
        <p:spPr>
          <a:xfrm>
            <a:off x="484563" y="5762073"/>
            <a:ext cx="4253693" cy="523220"/>
          </a:xfrm>
          <a:prstGeom prst="rect">
            <a:avLst/>
          </a:prstGeom>
          <a:noFill/>
          <a:ln cap="flat" cmpd="sng" w="9525">
            <a:solidFill>
              <a:srgbClr val="7030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23282D"/>
                </a:solidFill>
                <a:latin typeface="Arial"/>
                <a:ea typeface="Arial"/>
                <a:cs typeface="Arial"/>
                <a:sym typeface="Arial"/>
              </a:rPr>
              <a:t>750, 1,200, and 2,250</a:t>
            </a:r>
            <a:endParaRPr b="0" i="0" sz="1400" u="none" cap="none" strike="noStrike">
              <a:solidFill>
                <a:srgbClr val="000000"/>
              </a:solidFill>
              <a:latin typeface="Arial"/>
              <a:ea typeface="Arial"/>
              <a:cs typeface="Arial"/>
              <a:sym typeface="Arial"/>
            </a:endParaRPr>
          </a:p>
        </p:txBody>
      </p:sp>
      <p:sp>
        <p:nvSpPr>
          <p:cNvPr id="1115" name="Google Shape;1115;p113"/>
          <p:cNvSpPr/>
          <p:nvPr/>
        </p:nvSpPr>
        <p:spPr>
          <a:xfrm>
            <a:off x="484563" y="4650372"/>
            <a:ext cx="8734251"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23282D"/>
                </a:solidFill>
                <a:latin typeface="Arial"/>
                <a:ea typeface="Arial"/>
                <a:cs typeface="Arial"/>
                <a:sym typeface="Arial"/>
              </a:rPr>
              <a:t>How many total cars are made when 125, 200, and 375 green cars are made?</a:t>
            </a:r>
            <a:endParaRPr b="0" i="0" sz="1400" u="none" cap="none" strike="noStrike">
              <a:solidFill>
                <a:srgbClr val="000000"/>
              </a:solidFill>
              <a:latin typeface="Arial"/>
              <a:ea typeface="Arial"/>
              <a:cs typeface="Arial"/>
              <a:sym typeface="Arial"/>
            </a:endParaRPr>
          </a:p>
        </p:txBody>
      </p:sp>
      <p:sp>
        <p:nvSpPr>
          <p:cNvPr id="1116" name="Google Shape;1116;p113"/>
          <p:cNvSpPr/>
          <p:nvPr/>
        </p:nvSpPr>
        <p:spPr>
          <a:xfrm>
            <a:off x="484563" y="2426969"/>
            <a:ext cx="7173537"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23282D"/>
                </a:solidFill>
                <a:latin typeface="Arial"/>
                <a:ea typeface="Arial"/>
                <a:cs typeface="Arial"/>
                <a:sym typeface="Arial"/>
              </a:rPr>
              <a:t>What expression can be used to determine the number of green, yellow, and blue cars made on a given day?</a:t>
            </a:r>
            <a:endParaRPr b="0" i="0" sz="1400" u="none" cap="none" strike="noStrike">
              <a:solidFill>
                <a:srgbClr val="000000"/>
              </a:solidFill>
              <a:latin typeface="Arial"/>
              <a:ea typeface="Arial"/>
              <a:cs typeface="Arial"/>
              <a:sym typeface="Arial"/>
            </a:endParaRPr>
          </a:p>
        </p:txBody>
      </p:sp>
      <p:sp>
        <p:nvSpPr>
          <p:cNvPr id="1117" name="Google Shape;1117;p113"/>
          <p:cNvSpPr/>
          <p:nvPr/>
        </p:nvSpPr>
        <p:spPr>
          <a:xfrm>
            <a:off x="484563" y="3969558"/>
            <a:ext cx="2144337" cy="523220"/>
          </a:xfrm>
          <a:prstGeom prst="rect">
            <a:avLst/>
          </a:prstGeom>
          <a:blipFill rotWithShape="1">
            <a:blip r:embed="rId4">
              <a:alphaModFix/>
            </a:blip>
            <a:stretch>
              <a:fillRect b="0" l="0" r="0" t="0"/>
            </a:stretch>
          </a:blipFill>
          <a:ln cap="flat" cmpd="sng" w="9525">
            <a:solidFill>
              <a:srgbClr val="7030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118" name="Google Shape;1118;p113"/>
          <p:cNvSpPr txBox="1"/>
          <p:nvPr/>
        </p:nvSpPr>
        <p:spPr>
          <a:xfrm>
            <a:off x="484565" y="316034"/>
            <a:ext cx="5301093" cy="6200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Toy Cars</a:t>
            </a:r>
            <a:endParaRPr b="0" i="0" sz="1400" u="none" cap="none" strike="noStrike">
              <a:solidFill>
                <a:srgbClr val="000000"/>
              </a:solidFill>
              <a:latin typeface="Arial"/>
              <a:ea typeface="Arial"/>
              <a:cs typeface="Arial"/>
              <a:sym typeface="Arial"/>
            </a:endParaRPr>
          </a:p>
        </p:txBody>
      </p:sp>
      <p:sp>
        <p:nvSpPr>
          <p:cNvPr id="111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48</a:t>
            </a:r>
          </a:p>
        </p:txBody>
      </p:sp>
      <p:grpSp>
        <p:nvGrpSpPr>
          <p:cNvPr id="1120" name="TEACH-2-student-move" descr="TEACH 2 · Use strategies and tasks to engage students in rigorous work"/>
          <p:cNvGrpSpPr/>
          <p:nvPr/>
        </p:nvGrpSpPr>
        <p:grpSpPr>
          <a:xfrm>
            <a:off x="6187440" y="5686775"/>
            <a:ext cx="5501640" cy="594360"/>
            <a:chOff x="6187440" y="5686775"/>
            <a:chExt cx="5501640" cy="594360"/>
          </a:xfrm>
        </p:grpSpPr>
        <p:sp>
          <p:nvSpPr>
            <p:cNvPr id="1121" name="TEACH-move-card"/>
            <p:cNvSpPr/>
            <p:nvPr/>
          </p:nvSpPr>
          <p:spPr>
            <a:xfrm>
              <a:off x="6187440" y="5686775"/>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1122" name="TEACH-move-rule"/>
            <p:cNvSpPr/>
            <p:nvPr/>
          </p:nvSpPr>
          <p:spPr>
            <a:xfrm>
              <a:off x="6233160" y="5799703"/>
              <a:ext cx="100584" cy="368504"/>
            </a:xfrm>
            <a:prstGeom prst="roundRect">
              <a:avLst>
                <a:gd name="adj" fmla="val 50000"/>
              </a:avLst>
            </a:prstGeom>
            <a:solidFill>
              <a:srgbClr val="01708C"/>
            </a:solidFill>
            <a:ln>
              <a:noFill/>
            </a:ln>
          </p:spPr>
          <p:txBody>
            <a:bodyPr/>
            <a:lstStyle/>
            <a:p>
              <a:endParaRPr/>
            </a:p>
          </p:txBody>
        </p:sp>
        <p:sp>
          <p:nvSpPr>
            <p:cNvPr id="1123" name="TEACH-move-text"/>
            <p:cNvSpPr txBox="1"/>
            <p:nvPr/>
          </p:nvSpPr>
          <p:spPr>
            <a:xfrm>
              <a:off x="6507480" y="5686775"/>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TWO MINUTES SOLO  ·  </a:t>
              </a:r>
              <a:r>
                <a:rPr lang="en-US" sz="1200" dirty="0">
                  <a:solidFill>
                    <a:srgbClr val="13303A"/>
                  </a:solidFill>
                  <a:latin typeface="Arial"/>
                </a:rPr>
                <a:t>Two minutes on your own, then compare. Bring one thing you tried, even if it did not work.</a:t>
              </a:r>
              <a:endParaRPr lang="en-US" sz="1200"/>
            </a:p>
          </p:txBody>
        </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p114"/>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1124" name="Google Shape;1124;p114"/>
          <p:cNvSpPr txBox="1"/>
          <p:nvPr/>
        </p:nvSpPr>
        <p:spPr>
          <a:xfrm>
            <a:off x="495446" y="936000"/>
            <a:ext cx="8777142" cy="5158790"/>
          </a:xfrm>
          <a:prstGeom prst="rect">
            <a:avLst/>
          </a:prstGeom>
          <a:blipFill rotWithShape="1">
            <a:blip r:embed="rId3">
              <a:alphaModFix/>
            </a:blip>
            <a:stretch>
              <a:fillRect b="0" l="-1250" r="-972" t="-130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1125" name="Google Shape;1125;p114"/>
          <p:cNvPicPr preferRelativeResize="0"/>
          <p:nvPr/>
        </p:nvPicPr>
        <p:blipFill rotWithShape="1">
          <a:blip r:embed="rId4">
            <a:alphaModFix/>
          </a:blip>
          <a:srcRect b="0" l="0" r="0" t="0"/>
          <a:stretch/>
        </p:blipFill>
        <p:spPr>
          <a:xfrm>
            <a:off x="3230902" y="2745000"/>
            <a:ext cx="3998769" cy="1368000"/>
          </a:xfrm>
          <a:prstGeom prst="rect">
            <a:avLst/>
          </a:prstGeom>
          <a:noFill/>
          <a:ln>
            <a:noFill/>
          </a:ln>
        </p:spPr>
      </p:pic>
      <p:sp>
        <p:nvSpPr>
          <p:cNvPr id="1126" name="Google Shape;1126;p114"/>
          <p:cNvSpPr/>
          <p:nvPr/>
        </p:nvSpPr>
        <p:spPr>
          <a:xfrm>
            <a:off x="3368615" y="5611091"/>
            <a:ext cx="2065630"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12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48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6.5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reversing subtraction or omitting implied multiplication.</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Label the quantity represented by each part of the given expression.</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SPECIFIC FEEDBACK  ·  </a:t>
              </a:r>
              <a:r>
                <a:rPr lang="en-US" sz="1200" dirty="0">
                  <a:solidFill>
                    <a:srgbClr val="13303A"/>
                  </a:solidFill>
                  <a:latin typeface="Arial"/>
                </a:rPr>
                <a:t>Trade work. Give one specific comment: “This part is clear because ______.”</a:t>
              </a:r>
              <a:endParaRPr lang="en-US" sz="1200"/>
            </a:p>
          </p:txBody>
        </p:sp>
      </p:gr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999" name="Google Shape;999;p10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00" name="Google Shape;1000;p101"/>
          <p:cNvSpPr txBox="1"/>
          <p:nvPr/>
        </p:nvSpPr>
        <p:spPr>
          <a:xfrm>
            <a:off x="484564" y="936100"/>
            <a:ext cx="6887786" cy="144991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How can you write an expression to represent the number of cars made in one day?</a:t>
            </a:r>
            <a:endParaRPr b="0" i="0" sz="1400" u="none" cap="none" strike="noStrike">
              <a:solidFill>
                <a:srgbClr val="000000"/>
              </a:solidFill>
              <a:latin typeface="Arial"/>
              <a:ea typeface="Arial"/>
              <a:cs typeface="Arial"/>
              <a:sym typeface="Arial"/>
            </a:endParaRPr>
          </a:p>
        </p:txBody>
      </p:sp>
      <p:sp>
        <p:nvSpPr>
          <p:cNvPr id="1001" name="Google Shape;1001;p101"/>
          <p:cNvSpPr txBox="1"/>
          <p:nvPr/>
        </p:nvSpPr>
        <p:spPr>
          <a:xfrm>
            <a:off x="543430" y="5266616"/>
            <a:ext cx="10915145" cy="106768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add the individual expressions together.</a:t>
            </a:r>
            <a:endParaRPr b="0" i="1" sz="2800" u="none" cap="none" strike="noStrike">
              <a:solidFill>
                <a:srgbClr val="595959"/>
              </a:solidFill>
              <a:latin typeface="Arial"/>
              <a:ea typeface="Arial"/>
              <a:cs typeface="Arial"/>
              <a:sym typeface="Arial"/>
            </a:endParaRPr>
          </a:p>
        </p:txBody>
      </p:sp>
      <p:graphicFrame>
        <p:nvGraphicFramePr>
          <p:cNvPr id="1002" name="Google Shape;1002;p101"/>
          <p:cNvGraphicFramePr/>
          <p:nvPr/>
        </p:nvGraphicFramePr>
        <p:xfrm>
          <a:off x="484564" y="2515104"/>
          <a:ext cx="3000000" cy="3000000"/>
        </p:xfrm>
        <a:graphic>
          <a:graphicData uri="http://schemas.openxmlformats.org/drawingml/2006/table">
            <a:tbl>
              <a:tblPr bandRow="1" firstRow="1">
                <a:noFill/>
                <a:tableStyleId>{331BD9B3-D56C-460D-947C-D52C74717B57}</a:tableStyleId>
              </a:tblPr>
              <a:tblGrid>
                <a:gridCol w="4987550"/>
                <a:gridCol w="5986450"/>
              </a:tblGrid>
              <a:tr h="9448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9448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There are three times as many yellow cars as green cars.</a:t>
                      </a:r>
                      <a:endParaRPr b="0" i="0" sz="28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9448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rPr b="0" lang="en-US" sz="2800" u="none" cap="none" strike="noStrike">
                          <a:solidFill>
                            <a:schemeClr val="dk1"/>
                          </a:solidFill>
                          <a:latin typeface="Arial"/>
                          <a:ea typeface="Arial"/>
                          <a:cs typeface="Arial"/>
                          <a:sym typeface="Arial"/>
                        </a:rPr>
                        <a:t>There are twice as many blue cars as green cars.</a:t>
                      </a:r>
                      <a:endParaRPr b="0" sz="28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bl>
          </a:graphicData>
        </a:graphic>
      </p:graphicFrame>
      <p:sp>
        <p:nvSpPr>
          <p:cNvPr id="1003" name="Google Shape;1003;p101"/>
          <p:cNvSpPr txBox="1"/>
          <p:nvPr/>
        </p:nvSpPr>
        <p:spPr>
          <a:xfrm>
            <a:off x="484565" y="316034"/>
            <a:ext cx="5301093" cy="6200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Toy Cars</a:t>
            </a:r>
            <a:endParaRPr b="0" i="0" sz="1400" u="none" cap="none" strike="noStrike">
              <a:solidFill>
                <a:srgbClr val="000000"/>
              </a:solidFill>
              <a:latin typeface="Arial"/>
              <a:ea typeface="Arial"/>
              <a:cs typeface="Arial"/>
              <a:sym typeface="Arial"/>
            </a:endParaRPr>
          </a:p>
        </p:txBody>
      </p:sp>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42 / 48</a:t>
            </a:r>
          </a:p>
        </p:txBody>
      </p:sp>
      <p:grpSp>
        <p:nvGrpSpPr>
          <p:cNvPr id="1004" name="TEACH-3-student-move" descr="TEACH 3 · Use intentional questioning to deepen learning"/>
          <p:cNvGrpSpPr/>
          <p:nvPr/>
        </p:nvGrpSpPr>
        <p:grpSpPr>
          <a:xfrm>
            <a:off x="6187440" y="2913560"/>
            <a:ext cx="5501640" cy="594360"/>
            <a:chOff x="6187440" y="4589960"/>
            <a:chExt cx="5501640" cy="594360"/>
          </a:xfrm>
        </p:grpSpPr>
        <p:sp>
          <p:nvSpPr>
            <p:cNvPr id="1005" name="TEACH-move-card"/>
            <p:cNvSpPr/>
            <p:nvPr/>
          </p:nvSpPr>
          <p:spPr>
            <a:xfrm>
              <a:off x="6187440" y="4589960"/>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1006" name="TEACH-move-rule"/>
            <p:cNvSpPr/>
            <p:nvPr/>
          </p:nvSpPr>
          <p:spPr>
            <a:xfrm>
              <a:off x="6233160" y="4702888"/>
              <a:ext cx="100584" cy="368504"/>
            </a:xfrm>
            <a:prstGeom prst="roundRect">
              <a:avLst>
                <a:gd name="adj" fmla="val 50000"/>
              </a:avLst>
            </a:prstGeom>
            <a:solidFill>
              <a:srgbClr val="01708C"/>
            </a:solidFill>
            <a:ln>
              <a:noFill/>
            </a:ln>
          </p:spPr>
          <p:txBody>
            <a:bodyPr/>
            <a:lstStyle/>
            <a:p>
              <a:endParaRPr/>
            </a:p>
          </p:txBody>
        </p:sp>
        <p:sp>
          <p:nvSpPr>
            <p:cNvPr id="1007" name="TEACH-move-text"/>
            <p:cNvSpPr txBox="1"/>
            <p:nvPr/>
          </p:nvSpPr>
          <p:spPr>
            <a:xfrm>
              <a:off x="6507480" y="4589960"/>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PROVE IT  ·  </a:t>
              </a:r>
              <a:r>
                <a:rPr lang="en-US" sz="1200" dirty="0">
                  <a:solidFill>
                    <a:srgbClr val="13303A"/>
                  </a:solidFill>
                  <a:latin typeface="Arial"/>
                </a:rPr>
                <a:t>Find the evidence in the problem that makes your answer right — not just the answer.</a:t>
              </a:r>
              <a:endParaRPr lang="en-US" sz="1200"/>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cxnSp>
        <p:nvCxnSpPr>
          <p:cNvPr id="1131" name="Google Shape;1131;p11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132" name="Google Shape;1132;p115"/>
          <p:cNvSpPr txBox="1"/>
          <p:nvPr/>
        </p:nvSpPr>
        <p:spPr>
          <a:xfrm>
            <a:off x="484565" y="316033"/>
            <a:ext cx="5600351" cy="121350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Summarize:</a:t>
            </a:r>
            <a:r>
              <a:rPr b="1" i="0" lang="en-US" sz="2800" u="none" cap="none" strike="noStrike">
                <a:solidFill>
                  <a:srgbClr val="782DA0"/>
                </a:solidFill>
                <a:latin typeface="Arial"/>
                <a:ea typeface="Arial"/>
                <a:cs typeface="Arial"/>
                <a:sym typeface="Arial"/>
              </a:rPr>
              <a:t> Write and Evaluate Algebraic Expressions</a:t>
            </a:r>
            <a:endParaRPr b="1" i="0" sz="1500" u="none" cap="none" strike="noStrike">
              <a:solidFill>
                <a:srgbClr val="782DA0"/>
              </a:solidFill>
              <a:latin typeface="Arial"/>
              <a:ea typeface="Arial"/>
              <a:cs typeface="Arial"/>
              <a:sym typeface="Arial"/>
            </a:endParaRPr>
          </a:p>
        </p:txBody>
      </p:sp>
      <p:sp>
        <p:nvSpPr>
          <p:cNvPr id="1133" name="Google Shape;1133;p115"/>
          <p:cNvSpPr/>
          <p:nvPr/>
        </p:nvSpPr>
        <p:spPr>
          <a:xfrm>
            <a:off x="484565" y="1261688"/>
            <a:ext cx="10338607" cy="4708981"/>
          </a:xfrm>
          <a:prstGeom prst="rect">
            <a:avLst/>
          </a:prstGeom>
          <a:blipFill rotWithShape="1">
            <a:blip r:embed="rId3">
              <a:alphaModFix/>
            </a:blip>
            <a:stretch>
              <a:fillRect b="-2720" l="-1179" r="-1651" t="-142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13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43 / 48</a:t>
            </a:r>
          </a:p>
        </p:txBody>
      </p:sp>
      <p:sp>
        <p:nvSpPr>
          <p:cNvPr id="1135"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SUMMARIZE</a:t>
            </a:r>
            <a:r>
              <a:rPr lang="en-US" sz="1200" b="1">
                <a:solidFill>
                  <a:srgbClr val="5D6872"/>
                </a:solidFill>
                <a:latin typeface="Arial"/>
              </a:rPr>
              <a:t>  ·  SAY IT IN YOUR OWN WORDS</a:t>
            </a:r>
          </a:p>
        </p:txBody>
      </p:sp>
      <p:grpSp>
        <p:nvGrpSpPr>
          <p:cNvPr id="1136" name="TEACH-2-student-move" descr="TEACH 2 · Use strategies and tasks to engage students in rigorous work"/>
          <p:cNvGrpSpPr/>
          <p:nvPr/>
        </p:nvGrpSpPr>
        <p:grpSpPr>
          <a:xfrm>
            <a:off x="6187440" y="822776"/>
            <a:ext cx="5501640" cy="402336"/>
            <a:chOff x="6187440" y="822776"/>
            <a:chExt cx="5501640" cy="402336"/>
          </a:xfrm>
        </p:grpSpPr>
        <p:sp>
          <p:nvSpPr>
            <p:cNvPr id="1137" name="TEACH-move-card"/>
            <p:cNvSpPr/>
            <p:nvPr/>
          </p:nvSpPr>
          <p:spPr>
            <a:xfrm>
              <a:off x="6187440" y="822776"/>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1138" name="TEACH-move-rule"/>
            <p:cNvSpPr/>
            <p:nvPr/>
          </p:nvSpPr>
          <p:spPr>
            <a:xfrm>
              <a:off x="6233160" y="899220"/>
              <a:ext cx="100584" cy="249448"/>
            </a:xfrm>
            <a:prstGeom prst="roundRect">
              <a:avLst>
                <a:gd name="adj" fmla="val 50000"/>
              </a:avLst>
            </a:prstGeom>
            <a:solidFill>
              <a:srgbClr val="01708C"/>
            </a:solidFill>
            <a:ln>
              <a:noFill/>
            </a:ln>
          </p:spPr>
          <p:txBody>
            <a:bodyPr/>
            <a:lstStyle/>
            <a:p>
              <a:endParaRPr/>
            </a:p>
          </p:txBody>
        </p:sp>
        <p:sp>
          <p:nvSpPr>
            <p:cNvPr id="1139" name="TEACH-move-text"/>
            <p:cNvSpPr txBox="1"/>
            <p:nvPr/>
          </p:nvSpPr>
          <p:spPr>
            <a:xfrm>
              <a:off x="6507480" y="822776"/>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YOUR CHOICE  ·  </a:t>
              </a:r>
              <a:r>
                <a:rPr lang="en-US" sz="1200" dirty="0">
                  <a:solidFill>
                    <a:srgbClr val="13303A"/>
                  </a:solidFill>
                  <a:latin typeface="Arial"/>
                </a:rPr>
                <a:t>You choose how to show this — numbers, words, or a diagram. Make your reasoning visible.</a:t>
              </a:r>
              <a:endParaRPr lang="en-US" sz="1200"/>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cxnSp>
        <p:nvCxnSpPr>
          <p:cNvPr id="1138" name="Google Shape;1138;p11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139" name="Google Shape;1139;p116"/>
          <p:cNvSpPr txBox="1"/>
          <p:nvPr/>
        </p:nvSpPr>
        <p:spPr>
          <a:xfrm>
            <a:off x="484563" y="1280160"/>
            <a:ext cx="6719801" cy="420789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000" u="none" cap="none" strike="noStrike">
                <a:solidFill>
                  <a:srgbClr val="23282D"/>
                </a:solidFill>
                <a:latin typeface="Arial"/>
                <a:ea typeface="Arial"/>
                <a:cs typeface="Arial"/>
                <a:sym typeface="Arial"/>
              </a:rPr>
              <a:t>In manufacturing, inspecting products for defects is essential. The Acceptable Quality Level (AQL) is the maximum number of defective products that is considered acceptable in each batch, or lot. AQL is expressed as a percentage or ratio.</a:t>
            </a:r>
            <a:endParaRPr b="0" i="0" sz="1400" u="none" cap="none" strike="noStrike">
              <a:solidFill>
                <a:srgbClr val="000000"/>
              </a:solidFill>
              <a:latin typeface="Arial"/>
              <a:ea typeface="Arial"/>
              <a:cs typeface="Arial"/>
              <a:sym typeface="Arial"/>
            </a:endParaRPr>
          </a:p>
        </p:txBody>
      </p:sp>
      <p:sp>
        <p:nvSpPr>
          <p:cNvPr id="1140" name="Google Shape;1140;p116"/>
          <p:cNvSpPr txBox="1"/>
          <p:nvPr/>
        </p:nvSpPr>
        <p:spPr>
          <a:xfrm>
            <a:off x="484565" y="316034"/>
            <a:ext cx="5791544" cy="611494"/>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Apply:</a:t>
            </a:r>
            <a:r>
              <a:rPr b="1" i="0" lang="en-US" sz="2800" u="none" cap="none" strike="noStrike">
                <a:solidFill>
                  <a:srgbClr val="782DA0"/>
                </a:solidFill>
                <a:latin typeface="Arial"/>
                <a:ea typeface="Arial"/>
                <a:cs typeface="Arial"/>
                <a:sym typeface="Arial"/>
              </a:rPr>
              <a:t> Acceptable Quality Levels</a:t>
            </a:r>
            <a:endParaRPr b="1" i="0" sz="1500" u="none" cap="none" strike="noStrike">
              <a:solidFill>
                <a:srgbClr val="782DA0"/>
              </a:solidFill>
              <a:latin typeface="Arial"/>
              <a:ea typeface="Arial"/>
              <a:cs typeface="Arial"/>
              <a:sym typeface="Arial"/>
            </a:endParaRPr>
          </a:p>
        </p:txBody>
      </p:sp>
      <p:pic>
        <p:nvPicPr>
          <p:cNvPr id="1141" name="Google Shape;1141;p116"/>
          <p:cNvPicPr preferRelativeResize="0"/>
          <p:nvPr/>
        </p:nvPicPr>
        <p:blipFill rotWithShape="1">
          <a:blip r:embed="rId3">
            <a:alphaModFix/>
          </a:blip>
          <a:srcRect b="0" l="0" r="0" t="0"/>
          <a:stretch/>
        </p:blipFill>
        <p:spPr>
          <a:xfrm>
            <a:off x="7204364" y="1997981"/>
            <a:ext cx="4610100" cy="1828800"/>
          </a:xfrm>
          <a:prstGeom prst="rect">
            <a:avLst/>
          </a:prstGeom>
          <a:noFill/>
          <a:ln>
            <a:noFill/>
          </a:ln>
        </p:spPr>
      </p:pic>
      <p:sp>
        <p:nvSpPr>
          <p:cNvPr id="114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44 / 48</a:t>
            </a:r>
          </a:p>
        </p:txBody>
      </p:sp>
      <p:sp>
        <p:nvSpPr>
          <p:cNvPr id="1143"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APPLY</a:t>
            </a:r>
            <a:r>
              <a:rPr lang="en-US" sz="1200" b="1">
                <a:solidFill>
                  <a:srgbClr val="5D6872"/>
                </a:solidFill>
                <a:latin typeface="Arial"/>
              </a:rPr>
              <a:t>  ·  PLAN IT • SOLVE IT • PROVE IT</a:t>
            </a:r>
          </a:p>
        </p:txBody>
      </p:sp>
      <p:sp xmlns:p="http://schemas.openxmlformats.org/presentationml/2006/main" xmlns:a="http://schemas.openxmlformats.org/drawingml/2006/main">
        <p:nvSpPr>
          <p:cNvPr id="1144"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Choose a method. Solve independently, justify your answer, then check the goal.</a:t>
            </a:r>
            <a:endParaRPr lang="en-US" sz="20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cxnSp>
        <p:nvCxnSpPr>
          <p:cNvPr id="1146" name="Google Shape;1146;p11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147" name="Google Shape;1147;p117"/>
          <p:cNvSpPr txBox="1"/>
          <p:nvPr/>
        </p:nvSpPr>
        <p:spPr>
          <a:xfrm>
            <a:off x="484563" y="1280160"/>
            <a:ext cx="6719801" cy="461429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000" u="none" cap="none" strike="noStrike">
                <a:solidFill>
                  <a:srgbClr val="23282D"/>
                </a:solidFill>
                <a:latin typeface="Arial"/>
                <a:ea typeface="Arial"/>
                <a:cs typeface="Arial"/>
                <a:sym typeface="Arial"/>
              </a:rPr>
              <a:t>Some industries set three different levels of defects: critical, major, and minor. The AQLs for an automotive supplier are shown. If any of these defects exceed the acceptable percentage, the factory can pause further production to examine the source of the defects.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000" u="none" cap="none" strike="noStrike">
                <a:solidFill>
                  <a:srgbClr val="23282D"/>
                </a:solidFill>
                <a:latin typeface="Arial"/>
                <a:ea typeface="Arial"/>
                <a:cs typeface="Arial"/>
                <a:sym typeface="Arial"/>
              </a:rPr>
              <a:t>A lot of 1,500 sensors had 0 critical defects, 25 major defects, and 143 minor defects.</a:t>
            </a:r>
            <a:endParaRPr b="0" i="0" sz="1400" u="none" cap="none" strike="noStrike">
              <a:solidFill>
                <a:srgbClr val="000000"/>
              </a:solidFill>
              <a:latin typeface="Arial"/>
              <a:ea typeface="Arial"/>
              <a:cs typeface="Arial"/>
              <a:sym typeface="Arial"/>
            </a:endParaRPr>
          </a:p>
        </p:txBody>
      </p:sp>
      <p:sp>
        <p:nvSpPr>
          <p:cNvPr id="1148" name="Google Shape;1148;p117"/>
          <p:cNvSpPr txBox="1"/>
          <p:nvPr/>
        </p:nvSpPr>
        <p:spPr>
          <a:xfrm>
            <a:off x="484565" y="316034"/>
            <a:ext cx="5791544" cy="611494"/>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Apply:</a:t>
            </a:r>
            <a:r>
              <a:rPr b="1" i="0" lang="en-US" sz="2800" u="none" cap="none" strike="noStrike">
                <a:solidFill>
                  <a:srgbClr val="782DA0"/>
                </a:solidFill>
                <a:latin typeface="Arial"/>
                <a:ea typeface="Arial"/>
                <a:cs typeface="Arial"/>
                <a:sym typeface="Arial"/>
              </a:rPr>
              <a:t> Acceptable Quality Levels</a:t>
            </a:r>
            <a:endParaRPr b="1" i="0" sz="1500" u="none" cap="none" strike="noStrike">
              <a:solidFill>
                <a:srgbClr val="782DA0"/>
              </a:solidFill>
              <a:latin typeface="Arial"/>
              <a:ea typeface="Arial"/>
              <a:cs typeface="Arial"/>
              <a:sym typeface="Arial"/>
            </a:endParaRPr>
          </a:p>
        </p:txBody>
      </p:sp>
      <p:pic>
        <p:nvPicPr>
          <p:cNvPr id="1149" name="Google Shape;1149;p117"/>
          <p:cNvPicPr preferRelativeResize="0"/>
          <p:nvPr/>
        </p:nvPicPr>
        <p:blipFill rotWithShape="1">
          <a:blip r:embed="rId3">
            <a:alphaModFix/>
          </a:blip>
          <a:srcRect b="0" l="0" r="0" t="0"/>
          <a:stretch/>
        </p:blipFill>
        <p:spPr>
          <a:xfrm>
            <a:off x="7204364" y="1997981"/>
            <a:ext cx="4610100" cy="1828800"/>
          </a:xfrm>
          <a:prstGeom prst="rect">
            <a:avLst/>
          </a:prstGeom>
          <a:noFill/>
          <a:ln>
            <a:noFill/>
          </a:ln>
        </p:spPr>
      </p:pic>
      <p:sp>
        <p:nvSpPr>
          <p:cNvPr id="1150" name="Google Shape;1150;p117"/>
          <p:cNvSpPr txBox="1"/>
          <p:nvPr/>
        </p:nvSpPr>
        <p:spPr>
          <a:xfrm>
            <a:off x="484563" y="5394960"/>
            <a:ext cx="11070129" cy="63730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Question:</a:t>
            </a:r>
            <a:r>
              <a:rPr b="0" i="0" lang="en-US" sz="2800" u="none" cap="none" strike="noStrike">
                <a:solidFill>
                  <a:srgbClr val="23282D"/>
                </a:solidFill>
                <a:latin typeface="Arial"/>
                <a:ea typeface="Arial"/>
                <a:cs typeface="Arial"/>
                <a:sym typeface="Arial"/>
              </a:rPr>
              <a:t> As the supervisor inspecting the lot, what would you do?</a:t>
            </a:r>
            <a:endParaRPr b="0" i="0" sz="1400" u="none" cap="none" strike="noStrike">
              <a:solidFill>
                <a:srgbClr val="000000"/>
              </a:solidFill>
              <a:latin typeface="Arial"/>
              <a:ea typeface="Arial"/>
              <a:cs typeface="Arial"/>
              <a:sym typeface="Arial"/>
            </a:endParaRPr>
          </a:p>
        </p:txBody>
      </p:sp>
      <p:sp>
        <p:nvSpPr>
          <p:cNvPr id="115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45 / 48</a:t>
            </a:r>
          </a:p>
        </p:txBody>
      </p:sp>
      <p:sp>
        <p:nvSpPr>
          <p:cNvPr id="1152"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APPLY</a:t>
            </a:r>
            <a:r>
              <a:rPr lang="en-US" sz="1200" b="1">
                <a:solidFill>
                  <a:srgbClr val="5D6872"/>
                </a:solidFill>
                <a:latin typeface="Arial"/>
              </a:rPr>
              <a:t>  ·  PLAN IT • SOLVE IT • PROVE IT</a:t>
            </a:r>
          </a:p>
        </p:txBody>
      </p:sp>
      <p:sp xmlns:p="http://schemas.openxmlformats.org/presentationml/2006/main" xmlns:a="http://schemas.openxmlformats.org/drawingml/2006/main">
        <p:nvSpPr>
          <p:cNvPr id="1153" name="TEACH-embedded-student-prompt" descr="Student thinking and response directions"/>
          <p:cNvSpPr txBox="1"/>
          <p:nvPr/>
        </p:nvSpPr>
        <p:spPr>
          <a:xfrm>
            <a:off x="7391400" y="418795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Choose a method. Solve</a:t>
            </a:r>
            <a:endParaRPr lang="en-US" sz="2000"/>
          </a:p>
          <a:p>
            <a:pPr>
              <a:lnSpc>
                <a:spcPts val="2400"/>
              </a:lnSpc>
              <a:buNone/>
            </a:pPr>
            <a:r>
              <a:rPr lang="en-US" sz="2000">
                <a:solidFill>
                  <a:srgbClr val="174D60"/>
                </a:solidFill>
                <a:latin typeface="Arial"/>
              </a:rPr>
              <a:t>independently, justify your</a:t>
            </a:r>
            <a:endParaRPr lang="en-US" sz="2000"/>
          </a:p>
          <a:p>
            <a:pPr>
              <a:lnSpc>
                <a:spcPts val="2400"/>
              </a:lnSpc>
              <a:buNone/>
            </a:pPr>
            <a:r>
              <a:rPr lang="en-US" sz="2000">
                <a:solidFill>
                  <a:srgbClr val="174D60"/>
                </a:solidFill>
                <a:latin typeface="Arial"/>
              </a:rPr>
              <a:t>answer, then check the goal.</a:t>
            </a:r>
            <a:endParaRPr lang="en-US" sz="20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4" name="Shape 1154"/>
        <p:cNvGrpSpPr/>
        <p:nvPr/>
      </p:nvGrpSpPr>
      <p:grpSpPr>
        <a:xfrm>
          <a:off x="0" y="0"/>
          <a:ext cx="0" cy="0"/>
          <a:chOff x="0" y="0"/>
          <a:chExt cx="0" cy="0"/>
        </a:xfrm>
      </p:grpSpPr>
      <p:cxnSp>
        <p:nvCxnSpPr>
          <p:cNvPr id="1155" name="Google Shape;1155;p11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156" name="Google Shape;1156;p118"/>
          <p:cNvSpPr txBox="1"/>
          <p:nvPr/>
        </p:nvSpPr>
        <p:spPr>
          <a:xfrm>
            <a:off x="484564" y="927528"/>
            <a:ext cx="8188919" cy="530510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reason abstractly and quantitatively to write an algebraic expression, using variables for any unknown quantities.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use the order of operations to evaluate a multi-step algebraic expression for the given values.</a:t>
            </a:r>
            <a:endParaRPr b="0" i="0" sz="1400" u="none" cap="none" strike="noStrike">
              <a:solidFill>
                <a:srgbClr val="000000"/>
              </a:solidFill>
              <a:latin typeface="Arial"/>
              <a:ea typeface="Arial"/>
              <a:cs typeface="Arial"/>
              <a:sym typeface="Arial"/>
            </a:endParaRPr>
          </a:p>
        </p:txBody>
      </p:sp>
      <p:sp>
        <p:nvSpPr>
          <p:cNvPr id="1157" name="Google Shape;1157;p118"/>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sp>
        <p:nvSpPr>
          <p:cNvPr id="115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46 / 48</a:t>
            </a:r>
          </a:p>
        </p:txBody>
      </p:sp>
      <p:grpSp>
        <p:nvGrpSpPr>
          <p:cNvPr id="1159" name="TEACH-1-student-move" descr="TEACH 1 · Facilitate clear, standards-based content learning"/>
          <p:cNvGrpSpPr/>
          <p:nvPr/>
        </p:nvGrpSpPr>
        <p:grpSpPr>
          <a:xfrm>
            <a:off x="502920" y="5472790"/>
            <a:ext cx="11186160" cy="402336"/>
            <a:chOff x="502920" y="5472790"/>
            <a:chExt cx="11186160" cy="402336"/>
          </a:xfrm>
        </p:grpSpPr>
        <p:sp>
          <p:nvSpPr>
            <p:cNvPr id="1160"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161"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1162"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88" name="Google Shape;888;p8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89" name="Google Shape;889;p89"/>
          <p:cNvSpPr txBox="1"/>
          <p:nvPr/>
        </p:nvSpPr>
        <p:spPr>
          <a:xfrm>
            <a:off x="47405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defRPr/>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890" name="Google Shape;890;p89"/>
          <p:cNvSpPr/>
          <p:nvPr/>
        </p:nvSpPr>
        <p:spPr>
          <a:xfrm>
            <a:off x="649774" y="5468194"/>
            <a:ext cx="8994289"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How helpful has it been for you to have a plan to solve a math or non-math problem?</a:t>
            </a:r>
            <a:endParaRPr b="0" i="0" sz="1400" u="none" cap="none" strike="noStrike">
              <a:solidFill>
                <a:srgbClr val="000000"/>
              </a:solidFill>
              <a:latin typeface="Arial"/>
              <a:ea typeface="Arial"/>
              <a:cs typeface="Arial"/>
              <a:sym typeface="Arial"/>
            </a:endParaRPr>
          </a:p>
        </p:txBody>
      </p:sp>
      <p:sp>
        <p:nvSpPr>
          <p:cNvPr id="891" name="Google Shape;891;p89"/>
          <p:cNvSpPr txBox="1"/>
          <p:nvPr/>
        </p:nvSpPr>
        <p:spPr>
          <a:xfrm>
            <a:off x="474056" y="936101"/>
            <a:ext cx="4405516" cy="12168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pic>
        <p:nvPicPr>
          <p:cNvPr id="892" name="Google Shape;892;p89"/>
          <p:cNvPicPr preferRelativeResize="0"/>
          <p:nvPr/>
        </p:nvPicPr>
        <p:blipFill rotWithShape="1">
          <a:blip r:embed="rId2">
            <a:alphaModFix/>
          </a:blip>
          <a:srcRect b="0" l="0" r="0" t="0"/>
          <a:stretch/>
        </p:blipFill>
        <p:spPr>
          <a:xfrm>
            <a:off x="4879571" y="944871"/>
            <a:ext cx="3145098" cy="3708000"/>
          </a:xfrm>
          <a:prstGeom prst="rect">
            <a:avLst/>
          </a:prstGeom>
          <a:noFill/>
          <a:ln>
            <a:noFill/>
          </a:ln>
        </p:spPr>
      </p:pic>
      <p:pic>
        <p:nvPicPr>
          <p:cNvPr id="893" name="Google Shape;893;p89"/>
          <p:cNvPicPr preferRelativeResize="0"/>
          <p:nvPr/>
        </p:nvPicPr>
        <p:blipFill rotWithShape="1">
          <a:blip r:embed="rId3">
            <a:alphaModFix/>
          </a:blip>
          <a:srcRect b="0" l="0" r="0" t="0"/>
          <a:stretch/>
        </p:blipFill>
        <p:spPr>
          <a:xfrm>
            <a:off x="481450" y="4668494"/>
            <a:ext cx="5054600" cy="838200"/>
          </a:xfrm>
          <a:prstGeom prst="rect">
            <a:avLst/>
          </a:prstGeom>
          <a:noFill/>
          <a:ln>
            <a:noFill/>
          </a:ln>
        </p:spPr>
      </p:pic>
      <p:sp>
        <p:nvSpPr>
          <p:cNvPr id="894" name="Google Shape;894;p89"/>
          <p:cNvSpPr txBox="1"/>
          <p:nvPr/>
        </p:nvSpPr>
        <p:spPr>
          <a:xfrm>
            <a:off x="3341467" y="4825812"/>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47 / 48</a:t>
            </a:r>
          </a:p>
        </p:txBody>
      </p:sp>
      <p:grpSp>
        <p:nvGrpSpPr>
          <p:cNvPr id="895" name="TEACH-3-student-move" descr="TEACH 3 · Use intentional questioning to deepen learning"/>
          <p:cNvGrpSpPr/>
          <p:nvPr/>
        </p:nvGrpSpPr>
        <p:grpSpPr>
          <a:xfrm>
            <a:off x="6187440" y="4791538"/>
            <a:ext cx="5501640" cy="594360"/>
            <a:chOff x="6187440" y="4791538"/>
            <a:chExt cx="5501640" cy="594360"/>
          </a:xfrm>
        </p:grpSpPr>
        <p:sp>
          <p:nvSpPr>
            <p:cNvPr id="896" name="TEACH-move-card"/>
            <p:cNvSpPr/>
            <p:nvPr/>
          </p:nvSpPr>
          <p:spPr>
            <a:xfrm>
              <a:off x="6187440" y="4791538"/>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897" name="TEACH-move-rule"/>
            <p:cNvSpPr/>
            <p:nvPr/>
          </p:nvSpPr>
          <p:spPr>
            <a:xfrm>
              <a:off x="6233160" y="4904466"/>
              <a:ext cx="100584" cy="368504"/>
            </a:xfrm>
            <a:prstGeom prst="roundRect">
              <a:avLst>
                <a:gd name="adj" fmla="val 50000"/>
              </a:avLst>
            </a:prstGeom>
            <a:solidFill>
              <a:srgbClr val="01708C"/>
            </a:solidFill>
            <a:ln>
              <a:noFill/>
            </a:ln>
          </p:spPr>
          <p:txBody>
            <a:bodyPr/>
            <a:lstStyle/>
            <a:p>
              <a:endParaRPr/>
            </a:p>
          </p:txBody>
        </p:sp>
        <p:sp>
          <p:nvSpPr>
            <p:cNvPr id="898" name="TEACH-move-text"/>
            <p:cNvSpPr txBox="1"/>
            <p:nvPr/>
          </p:nvSpPr>
          <p:spPr>
            <a:xfrm>
              <a:off x="6507480" y="4791538"/>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6.5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Define the variable.</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6-5</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PICK YOUR STRATEGY  ·  </a:t>
            </a:r>
            <a:r>
              <a:rPr lang="en-US" sz="2000" b="0" dirty="0">
                <a:solidFill>
                  <a:srgbClr val="13303A"/>
                </a:solidFill>
                <a:latin typeface="Arial"/>
              </a:rPr>
              <a:t>Choose your path — picture, table, number line, or equation — and be ready to say why you chose it.</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25 / 48</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6-5</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30 / 48</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6-5</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JUSTIFY IT  ·  </a:t>
            </a:r>
            <a:r>
              <a:rPr lang="en-US" sz="2000" b="0" dirty="0">
                <a:solidFill>
                  <a:srgbClr val="13303A"/>
                </a:solidFill>
                <a:latin typeface="Arial"/>
              </a:rPr>
              <a:t>Say it like this: “I know ______ because ______.”</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35 / 48</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6-5</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STRUGGLE FIRST  ·  </a:t>
            </a:r>
            <a:r>
              <a:rPr lang="en-US" sz="2000" b="0" dirty="0">
                <a:solidFill>
                  <a:srgbClr val="13303A"/>
                </a:solidFill>
                <a:latin typeface="Arial"/>
              </a:rPr>
              <a:t>Work on your own first. Stuck is allowed — try a second strategy before you ask.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40 / 48</a:t>
            </a:r>
          </a:p>
        </p:txBody>
      </p:sp>
    </p:spTree>
  </p:cSld>
  <p:clrMapOvr>
    <a:masterClrMapping/>
  </p:clrMapOvr>
</p:sld>
</file>

<file path=ppt/theme/theme1.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6.5 — Write and Evaluate Algebraic Expressions</dc:title>
  <dc:creator>Neft Teacher</dc:creator>
  <cp:lastModifiedBy>Neft Teacher</cp:lastModifiedBy>
  <dcterms:created xsi:type="dcterms:W3CDTF">2026-09-30T12:04:43Z</dcterms:created>
  <dcterms:modified xsi:type="dcterms:W3CDTF">2026-09-30T12:04:43Z</dcterms:modified>
</cp:coreProperties>
</file>