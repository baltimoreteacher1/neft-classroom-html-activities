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5.xml" ContentType="application/vnd.openxmlformats-officedocument.presentationml.notesSlide+xml"/>
  <Override PartName="/ppt/notesSlides/notesSlide17.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1.xml" ContentType="application/vnd.openxmlformats-officedocument.presentationml.notesSlide+xml"/>
  <Override PartName="/ppt/notesSlides/notesSlide23.xml" ContentType="application/vnd.openxmlformats-officedocument.presentationml.notesSlide+xml"/>
  <Override PartName="/ppt/notesSlides/notesSlide25.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0.xml" ContentType="application/vnd.openxmlformats-officedocument.presentationml.notesSlide+xml"/>
  <Override PartName="/ppt/notesSlides/notesSlide32.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42.xml" ContentType="application/vnd.openxmlformats-officedocument.presentationml.notesSlide+xml"/>
  <Override PartName="/ppt/notesSlides/notesSlide44.xml" ContentType="application/vnd.openxmlformats-officedocument.presentationml.notesSlide+xml"/>
  <Override PartName="/ppt/notesSlides/notesSlide48.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Core1"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83" r:id="rId4"/>
    <p:sldMasterId id="2147483684" r:id="rId5"/>
    <p:sldMasterId id="2147483685" r:id="rId6"/>
    <p:sldMasterId id="2147483686" r:id="rId7"/>
  </p:sldMasterIdLst>
  <p:notesMasterIdLst>
    <p:notesMasterId r:id="rId8"/>
  </p:notesMasterIdLst>
  <p:sldIdLst>
    <p:sldId id="259" r:id="rId12"/>
    <p:sldId id="267" r:id="rId20"/>
    <p:sldId id="268" r:id="rId21"/>
    <p:sldId id="256" r:id="rId9"/>
    <p:sldId id="257" r:id="rId10"/>
    <p:sldId id="260" r:id="rId13"/>
    <p:sldId id="324" r:id="rId66"/>
    <p:sldId id="323" r:id="rId49"/>
    <p:sldId id="322" r:id="rId48"/>
    <p:sldId id="321" r:id="rId47"/>
    <p:sldId id="320" r:id="rId46"/>
    <p:sldId id="319" r:id="rId45"/>
    <p:sldId id="261" r:id="rId14"/>
    <p:sldId id="270" r:id="rId23"/>
    <p:sldId id="272" r:id="rId25"/>
    <p:sldId id="274" r:id="rId27"/>
    <p:sldId id="328" r:id="rId70"/>
    <p:sldId id="276" r:id="rId29"/>
    <p:sldId id="278" r:id="rId31"/>
    <p:sldId id="280" r:id="rId33"/>
    <p:sldId id="282" r:id="rId35"/>
    <p:sldId id="329" r:id="rId71"/>
    <p:sldId id="283" r:id="rId36"/>
    <p:sldId id="285" r:id="rId38"/>
    <p:sldId id="287" r:id="rId40"/>
    <p:sldId id="289" r:id="rId42"/>
    <p:sldId id="325" r:id="rId67"/>
    <p:sldId id="318" r:id="rId44"/>
    <p:sldId id="317" r:id="rId32"/>
    <p:sldId id="316" r:id="rId34"/>
    <p:sldId id="311" r:id="rId64"/>
    <p:sldId id="330" r:id="rId72"/>
    <p:sldId id="312" r:id="rId65"/>
    <p:sldId id="290" r:id="rId43"/>
    <p:sldId id="297" r:id="rId50"/>
    <p:sldId id="299" r:id="rId52"/>
    <p:sldId id="331" r:id="rId73"/>
    <p:sldId id="303" r:id="rId56"/>
    <p:sldId id="305" r:id="rId58"/>
    <p:sldId id="306" r:id="rId59"/>
    <p:sldId id="307" r:id="rId60"/>
    <p:sldId id="332" r:id="rId74"/>
    <p:sldId id="326" r:id="rId68"/>
    <p:sldId id="315" r:id="rId41"/>
    <p:sldId id="333" r:id="rId75"/>
    <p:sldId id="308" r:id="rId61"/>
    <p:sldId id="309" r:id="rId62"/>
    <p:sldId id="310" r:id="rId63"/>
    <p:sldId id="314" r:id="rId37"/>
    <p:sldId id="313" r:id="rId39"/>
    <p:sldId id="327" r:id="rId69"/>
  </p:sldIdLst>
  <p:sldSz cy="6858000" cx="12192000"/>
  <p:notesSz cx="7010400" cy="923607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pos="1512">
          <p15:clr>
            <a:srgbClr val="A4A3A4"/>
          </p15:clr>
        </p15:guide>
        <p15:guide id="2" orient="horz" pos="3024">
          <p15:clr>
            <a:srgbClr val="A4A3A4"/>
          </p15:clr>
        </p15:guide>
        <p15:guide id="3" orient="horz" pos="384">
          <p15:clr>
            <a:srgbClr val="A4A3A4"/>
          </p15:clr>
        </p15:guide>
        <p15:guide id="4" orient="horz" pos="2520">
          <p15:clr>
            <a:srgbClr val="A4A3A4"/>
          </p15:clr>
        </p15:guide>
        <p15:guide id="5" orient="horz" pos="1080">
          <p15:clr>
            <a:srgbClr val="A4A3A4"/>
          </p15:clr>
        </p15:guide>
        <p15:guide id="6" orient="horz" pos="1680">
          <p15:clr>
            <a:srgbClr val="A4A3A4"/>
          </p15:clr>
        </p15:guide>
        <p15:guide id="7" orient="horz" pos="3432">
          <p15:clr>
            <a:srgbClr val="A4A3A4"/>
          </p15:clr>
        </p15:guide>
        <p15:guide id="8" orient="horz" pos="3120">
          <p15:clr>
            <a:srgbClr val="A4A3A4"/>
          </p15:clr>
        </p15:guide>
        <p15:guide id="9" pos="48">
          <p15:clr>
            <a:srgbClr val="A4A3A4"/>
          </p15:clr>
        </p15:guide>
        <p15:guide id="10" pos="384">
          <p15:clr>
            <a:srgbClr val="A4A3A4"/>
          </p15:clr>
        </p15:guide>
        <p15:guide id="11" pos="6480">
          <p15:clr>
            <a:srgbClr val="A4A3A4"/>
          </p15:clr>
        </p15:guide>
        <p15:guide id="12" pos="2597">
          <p15:clr>
            <a:srgbClr val="A4A3A4"/>
          </p15:clr>
        </p15:guide>
        <p15:guide id="13" pos="288">
          <p15:clr>
            <a:srgbClr val="A4A3A4"/>
          </p15:clr>
        </p15:guide>
        <p15:guide id="14" orient="horz" pos="2160">
          <p15:clr>
            <a:srgbClr val="A4A3A4"/>
          </p15:clr>
        </p15:guide>
        <p15:guide id="15" orient="horz" pos="216">
          <p15:clr>
            <a:srgbClr val="A4A3A4"/>
          </p15:clr>
        </p15:guide>
        <p15:guide id="16" orient="horz" pos="936">
          <p15:clr>
            <a:srgbClr val="A4A3A4"/>
          </p15:clr>
        </p15:guide>
        <p15:guide id="17" pos="4368">
          <p15:clr>
            <a:srgbClr val="A4A3A4"/>
          </p15:clr>
        </p15:guide>
        <p15:guide id="18" pos="7296">
          <p15:clr>
            <a:srgbClr val="A4A3A4"/>
          </p15:clr>
        </p15:guide>
        <p15:guide id="19" pos="3288">
          <p15:clr>
            <a:srgbClr val="A4A3A4"/>
          </p15:clr>
        </p15:guide>
        <p15:guide id="20" pos="5904">
          <p15:clr>
            <a:srgbClr val="A4A3A4"/>
          </p15:clr>
        </p15:guide>
        <p15:guide id="21" pos="55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512"/>
        <p:guide pos="3024" orient="horz"/>
        <p:guide pos="384" orient="horz"/>
        <p:guide pos="2520" orient="horz"/>
        <p:guide pos="1080" orient="horz"/>
        <p:guide pos="1680" orient="horz"/>
        <p:guide pos="3432" orient="horz"/>
        <p:guide pos="3120" orient="horz"/>
        <p:guide pos="48"/>
        <p:guide pos="384"/>
        <p:guide pos="6480"/>
        <p:guide pos="2597"/>
        <p:guide pos="288"/>
        <p:guide pos="2160" orient="horz"/>
        <p:guide pos="216" orient="horz"/>
        <p:guide pos="936" orient="horz"/>
        <p:guide pos="4368"/>
        <p:guide pos="7296"/>
        <p:guide pos="3288"/>
        <p:guide pos="5904"/>
        <p:guide pos="5568"/>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notesMaster" Target="notesMasters/notesMaster1.xml"/><Relationship Id="rId9" Type="http://schemas.openxmlformats.org/officeDocument/2006/relationships/slide" Target="slides/slide4.xml"/><Relationship Id="rId10" Type="http://schemas.openxmlformats.org/officeDocument/2006/relationships/slide" Target="slides/slide5.xml"/><Relationship Id="rId12" Type="http://schemas.openxmlformats.org/officeDocument/2006/relationships/slide" Target="slides/slide1.xml"/><Relationship Id="rId13" Type="http://schemas.openxmlformats.org/officeDocument/2006/relationships/slide" Target="slides/slide6.xml"/><Relationship Id="rId14" Type="http://schemas.openxmlformats.org/officeDocument/2006/relationships/slide" Target="slides/slide13.xml"/><Relationship Id="rId20" Type="http://schemas.openxmlformats.org/officeDocument/2006/relationships/slide" Target="slides/slide2.xml"/><Relationship Id="rId21" Type="http://schemas.openxmlformats.org/officeDocument/2006/relationships/slide" Target="slides/slide3.xml"/><Relationship Id="rId23" Type="http://schemas.openxmlformats.org/officeDocument/2006/relationships/slide" Target="slides/slide14.xml"/><Relationship Id="rId25" Type="http://schemas.openxmlformats.org/officeDocument/2006/relationships/slide" Target="slides/slide15.xml"/><Relationship Id="rId27" Type="http://schemas.openxmlformats.org/officeDocument/2006/relationships/slide" Target="slides/slide16.xml"/><Relationship Id="rId29" Type="http://schemas.openxmlformats.org/officeDocument/2006/relationships/slide" Target="slides/slide17.xml"/><Relationship Id="rId31" Type="http://schemas.openxmlformats.org/officeDocument/2006/relationships/slide" Target="slides/slide18.xml"/><Relationship Id="rId32" Type="http://schemas.openxmlformats.org/officeDocument/2006/relationships/slide" Target="slides/slide27.xml"/><Relationship Id="rId33" Type="http://schemas.openxmlformats.org/officeDocument/2006/relationships/slide" Target="slides/slide19.xml"/><Relationship Id="rId34" Type="http://schemas.openxmlformats.org/officeDocument/2006/relationships/slide" Target="slides/slide28.xml"/><Relationship Id="rId35" Type="http://schemas.openxmlformats.org/officeDocument/2006/relationships/slide" Target="slides/slide20.xml"/><Relationship Id="rId36" Type="http://schemas.openxmlformats.org/officeDocument/2006/relationships/slide" Target="slides/slide21.xml"/><Relationship Id="rId37" Type="http://schemas.openxmlformats.org/officeDocument/2006/relationships/slide" Target="slides/slide43.xml"/><Relationship Id="rId38" Type="http://schemas.openxmlformats.org/officeDocument/2006/relationships/slide" Target="slides/slide22.xml"/><Relationship Id="rId39" Type="http://schemas.openxmlformats.org/officeDocument/2006/relationships/slide" Target="slides/slide44.xml"/><Relationship Id="rId40" Type="http://schemas.openxmlformats.org/officeDocument/2006/relationships/slide" Target="slides/slide23.xml"/><Relationship Id="rId41" Type="http://schemas.openxmlformats.org/officeDocument/2006/relationships/slide" Target="slides/slide39.xml"/><Relationship Id="rId42" Type="http://schemas.openxmlformats.org/officeDocument/2006/relationships/slide" Target="slides/slide24.xml"/><Relationship Id="rId43" Type="http://schemas.openxmlformats.org/officeDocument/2006/relationships/slide" Target="slides/slide31.xml"/><Relationship Id="rId44" Type="http://schemas.openxmlformats.org/officeDocument/2006/relationships/slide" Target="slides/slide26.xml"/><Relationship Id="rId45" Type="http://schemas.openxmlformats.org/officeDocument/2006/relationships/slide" Target="slides/slide12.xml"/><Relationship Id="rId46" Type="http://schemas.openxmlformats.org/officeDocument/2006/relationships/slide" Target="slides/slide11.xml"/><Relationship Id="rId47" Type="http://schemas.openxmlformats.org/officeDocument/2006/relationships/slide" Target="slides/slide10.xml"/><Relationship Id="rId48" Type="http://schemas.openxmlformats.org/officeDocument/2006/relationships/slide" Target="slides/slide9.xml"/><Relationship Id="rId49" Type="http://schemas.openxmlformats.org/officeDocument/2006/relationships/slide" Target="slides/slide8.xml"/><Relationship Id="rId50" Type="http://schemas.openxmlformats.org/officeDocument/2006/relationships/slide" Target="slides/slide32.xml"/><Relationship Id="rId52" Type="http://schemas.openxmlformats.org/officeDocument/2006/relationships/slide" Target="slides/slide33.xml"/><Relationship Id="rId56" Type="http://schemas.openxmlformats.org/officeDocument/2006/relationships/slide" Target="slides/slide34.xml"/><Relationship Id="rId58" Type="http://schemas.openxmlformats.org/officeDocument/2006/relationships/slide" Target="slides/slide35.xml"/><Relationship Id="rId59" Type="http://schemas.openxmlformats.org/officeDocument/2006/relationships/slide" Target="slides/slide36.xml"/><Relationship Id="rId60" Type="http://schemas.openxmlformats.org/officeDocument/2006/relationships/slide" Target="slides/slide37.xml"/><Relationship Id="rId61" Type="http://schemas.openxmlformats.org/officeDocument/2006/relationships/slide" Target="slides/slide40.xml"/><Relationship Id="rId62" Type="http://schemas.openxmlformats.org/officeDocument/2006/relationships/slide" Target="slides/slide41.xml"/><Relationship Id="rId63" Type="http://schemas.openxmlformats.org/officeDocument/2006/relationships/slide" Target="slides/slide42.xml"/><Relationship Id="rId64" Type="http://schemas.openxmlformats.org/officeDocument/2006/relationships/slide" Target="slides/slide29.xml"/><Relationship Id="rId65" Type="http://schemas.openxmlformats.org/officeDocument/2006/relationships/slide" Target="slides/slide30.xml"/><Relationship Id="rId66" Type="http://schemas.openxmlformats.org/officeDocument/2006/relationships/slide" Target="slides/slide7.xml"/><Relationship Id="rId67" Type="http://schemas.openxmlformats.org/officeDocument/2006/relationships/slide" Target="slides/slide25.xml"/><Relationship Id="rId68" Type="http://schemas.openxmlformats.org/officeDocument/2006/relationships/slide" Target="slides/slide38.xml"/><Relationship Id="rId69" Type="http://schemas.openxmlformats.org/officeDocument/2006/relationships/slide" Target="slides/slide45.xml"/><Relationship Id="rId70" Type="http://schemas.openxmlformats.org/officeDocument/2006/relationships/slide" Target="slides/slide46.xml"/><Relationship Id="rId71" Type="http://schemas.openxmlformats.org/officeDocument/2006/relationships/slide" Target="slides/slide47.xml"/><Relationship Id="rId72" Type="http://schemas.openxmlformats.org/officeDocument/2006/relationships/slide" Target="slides/slide48.xml"/><Relationship Id="rId73" Type="http://schemas.openxmlformats.org/officeDocument/2006/relationships/slide" Target="slides/slide49.xml"/><Relationship Id="rId74" Type="http://schemas.openxmlformats.org/officeDocument/2006/relationships/slide" Target="slides/slide50.xml"/><Relationship Id="rId75"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2"/>
            <a:ext cx="3037840" cy="463407"/>
          </a:xfrm>
          <a:prstGeom prst="rect">
            <a:avLst/>
          </a:prstGeom>
          <a:noFill/>
          <a:ln>
            <a:noFill/>
          </a:ln>
        </p:spPr>
        <p:txBody>
          <a:bodyPr anchorCtr="0" anchor="t"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970938" y="2"/>
            <a:ext cx="3037840" cy="463407"/>
          </a:xfrm>
          <a:prstGeom prst="rect">
            <a:avLst/>
          </a:prstGeom>
          <a:noFill/>
          <a:ln>
            <a:noFill/>
          </a:ln>
        </p:spPr>
        <p:txBody>
          <a:bodyPr anchorCtr="0" anchor="t" bIns="46125" lIns="92275" spcFirstLastPara="1" rIns="92275" wrap="square" tIns="46125">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772669"/>
            <a:ext cx="3037840" cy="463406"/>
          </a:xfrm>
          <a:prstGeom prst="rect">
            <a:avLst/>
          </a:prstGeom>
          <a:noFill/>
          <a:ln>
            <a:noFill/>
          </a:ln>
        </p:spPr>
        <p:txBody>
          <a:bodyPr anchorCtr="0" anchor="b"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970938" y="8772669"/>
            <a:ext cx="3037840" cy="463406"/>
          </a:xfrm>
          <a:prstGeom prst="rect">
            <a:avLst/>
          </a:prstGeom>
          <a:noFill/>
          <a:ln>
            <a:noFill/>
          </a:ln>
        </p:spPr>
        <p:txBody>
          <a:bodyPr anchorCtr="0" anchor="b" bIns="46125" lIns="92275" spcFirstLastPara="1" rIns="92275" wrap="square" tIns="4612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7.1, slide 4 | DIVIDER</a:t>
            </a:r>
          </a:p>
          <a:p xmlns:a="http://schemas.openxmlformats.org/drawingml/2006/main">
            <a:pPr>
              <a:buNone/>
            </a:pPr>
            <a:r>
              <a:rPr lang="en-US" sz="1100"/>
              <a:t>Focus on the existing task: Explore Integers and Their Opposites Session 1</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Transition cue: state what materials are out and what success looks like this session.</a:t>
            </a:r>
          </a:p>
          <a:p>
            <a:pPr indent="0" lvl="0" marL="0" rtl="0" algn="l">
              <a:lnSpc>
                <a:spcPct val="100000"/>
              </a:lnSpc>
              <a:spcBef>
                <a:spcPts val="0"/>
              </a:spcBef>
              <a:spcAft>
                <a:spcPts val="0"/>
              </a:spcAft>
              <a:buSzPts val="1400"/>
              <a:buNone/>
            </a:pPr>
            <a:r>
              <a:t>Keep the changeover under a minute.</a:t>
            </a:r>
          </a:p>
          <a:p>
            <a:pPr indent="0" lvl="0" marL="0" rtl="0" algn="l">
              <a:lnSpc>
                <a:spcPct val="100000"/>
              </a:lnSpc>
              <a:spcBef>
                <a:spcPts val="0"/>
              </a:spcBef>
              <a:spcAft>
                <a:spcPts val="0"/>
              </a:spcAft>
              <a:buSzPts val="1400"/>
              <a:buNone/>
            </a:pPr>
            <a:r>
              <a:t>UIFR: TEACH 6.</a:t>
            </a:r>
          </a:p>
        </p:txBody>
      </p:sp>
      <p:sp>
        <p:nvSpPr>
          <p:cNvPr id="231" name="Google Shape;231;p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7.1, slide 5 | WORKED</a:t>
            </a:r>
          </a:p>
          <a:p xmlns:a="http://schemas.openxmlformats.org/drawingml/2006/main">
            <a:pPr>
              <a:buNone/>
            </a:pPr>
            <a:r>
              <a:rPr lang="en-US" sz="1100"/>
              <a:t>Focus on the existing task: About, Between, or Exact It is about ___. It is between ___ and ____. It is exactly ___.</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interpret positive, negative and zero in context. Ask which feature of their work supports the claim.</a:t>
            </a:r>
          </a:p>
          <a:p xmlns:a="http://schemas.openxmlformats.org/drawingml/2006/main">
            <a:pPr>
              <a:buNone/>
            </a:pPr>
            <a:r>
              <a:rPr lang="en-US" sz="1100"/>
              <a:t>RESPOND: If this task shows the lesson misconception—treating zero as positive or confusing an opposite with an absolute value—label the reference point and directions on the existing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Number-sense routine — every voice in. Give quiet think time, then hear from at least three students.</a:t>
            </a:r>
          </a:p>
          <a:p>
            <a:pPr indent="0" lvl="0" marL="0" rtl="0" algn="l">
              <a:lnSpc>
                <a:spcPct val="100000"/>
              </a:lnSpc>
              <a:spcBef>
                <a:spcPts val="0"/>
              </a:spcBef>
              <a:spcAft>
                <a:spcPts val="0"/>
              </a:spcAft>
              <a:buSzPts val="1400"/>
              <a:buNone/>
            </a:pPr>
            <a:r>
              <a:t>Always follow with “How do you know?” — the reasoning is the point, not the answer.</a:t>
            </a:r>
          </a:p>
          <a:p>
            <a:pPr indent="0" lvl="0" marL="0" rtl="0" algn="l">
              <a:lnSpc>
                <a:spcPct val="100000"/>
              </a:lnSpc>
              <a:spcBef>
                <a:spcPts val="0"/>
              </a:spcBef>
              <a:spcAft>
                <a:spcPts val="0"/>
              </a:spcAft>
              <a:buSzPts val="1400"/>
              <a:buNone/>
            </a:pPr>
            <a:r>
              <a:t>There is more than one path; name and celebrate different strategies.</a:t>
            </a:r>
          </a:p>
          <a:p>
            <a:pPr indent="0" lvl="0" marL="0" rtl="0" algn="l">
              <a:lnSpc>
                <a:spcPct val="100000"/>
              </a:lnSpc>
              <a:spcBef>
                <a:spcPts val="0"/>
              </a:spcBef>
              <a:spcAft>
                <a:spcPts val="0"/>
              </a:spcAft>
              <a:buSzPts val="1400"/>
              <a:buNone/>
            </a:pPr>
            <a:r>
              <a:t>UIFR: TEACH 3 · TEACH 5 · TEACH 6.</a:t>
            </a:r>
          </a:p>
        </p:txBody>
      </p:sp>
      <p:sp>
        <p:nvSpPr>
          <p:cNvPr id="238" name="Google Shape;238;p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4: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7.1, slide 1 | WARMUP</a:t>
            </a:r>
          </a:p>
          <a:p xmlns:a="http://schemas.openxmlformats.org/drawingml/2006/main">
            <a:pPr>
              <a:buNone/>
            </a:pPr>
            <a:r>
              <a:rPr lang="en-US" sz="1100"/>
              <a:t>Focus on the existing task: Warm-Up WARM-UP · THINK • TRY • CHECK Do these four…</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Warm-Up answers (teacher only): 1) 8   2) −1, −2   3) 6   4) 8x</a:t>
            </a:r>
          </a:p>
          <a:p>
            <a:pPr>
              <a:buNone/>
            </a:pPr>
            <a:r>
              <a:rPr lang="en-US" sz="1100"/>
              <a:t/>
            </a:r>
          </a:p>
          <a:p>
            <a:pPr>
              <a:buNone/>
            </a:pPr>
            <a:r>
              <a:rPr lang="en-US" sz="1100"/>
              <a:t>UIFR FULL | Lesson-specific facilitation</a:t>
            </a:r>
          </a:p>
          <a:p>
            <a:pPr>
              <a:buNone/>
            </a:pPr>
            <a:r>
              <a:rPr lang="en-US" sz="1100"/>
              <a:t>PREPARE 1-2 | Before teaching (UIFR PDF pp. 6-7).</a:t>
            </a:r>
          </a:p>
          <a:p>
            <a:pPr>
              <a:buNone/>
            </a:pPr>
            <a:r>
              <a:rPr lang="en-US" sz="1100"/>
              <a:t>Plan to gather evidence that students can interpret positive, negative and zero in context; locate opposites equally far from zero. Review recent work and today’s warm-up to choose flexible groups and access supports; do not infer needs from identity or perceived ability. Use the existing lesson tasks and stated standards.</a:t>
            </a:r>
          </a:p>
          <a:p>
            <a:pPr>
              <a:buNone/>
            </a:pPr>
            <a:r>
              <a:rPr lang="en-US" sz="1100"/>
              <a:t>Anticipate: treating zero as positive or confusing an opposite with an absolute value. If observed, label the reference point and directions on the existing number line. Offer oral rehearsal, drawing, pointing, or home-language processing as needed; retain the original mathematical demand. Ask students which support helps and fade it as evidence improves.</a:t>
            </a:r>
          </a:p>
          <a:p>
            <a:pPr>
              <a:buNone/>
            </a:pPr>
            <a:r>
              <a:rPr lang="en-US" sz="1100"/>
              <a:t>TEACH 6-7 | Before the first transition, agree on materials, partner roles, and how to request help. Invite students to restate the routine. Normalize revising an idea, recognize a specific contribution, and check privately when frustration blocks participation. Source: UIFR PDF pp. 13-14.</a:t>
            </a:r>
          </a:p>
        </p:txBody>
      </p:sp>
      <p:sp>
        <p:nvSpPr>
          <p:cNvPr id="256" name="Google Shape;256;p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5: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7.1, slide 6 | GOAL</a:t>
            </a:r>
          </a:p>
          <a:p xmlns:a="http://schemas.openxmlformats.org/drawingml/2006/main">
            <a:pPr>
              <a:buNone/>
            </a:pPr>
            <a:r>
              <a:rPr lang="en-US" sz="1100"/>
              <a:t>Focus on the existing task: Today’s Objectives Explore Integers and Their…</a:t>
            </a:r>
          </a:p>
          <a:p xmlns:a="http://schemas.openxmlformats.org/drawingml/2006/main">
            <a:pPr>
              <a:buNone/>
            </a:pPr>
            <a:r>
              <a:rPr lang="en-US" sz="1100"/>
              <a:t>CONNECT (T1/4): Ask students to restate the displayed goal or key idea and connect it to earlier work. Relevant lesson evidence: interpret positive, negative and zero in context; locate opposites equally far from zero.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Read the objective together, then have one or two students restate today’s goal in their own words.</a:t>
            </a:r>
          </a:p>
          <a:p>
            <a:pPr indent="0" lvl="0" marL="0" rtl="0" algn="l">
              <a:spcBef>
                <a:spcPts val="0"/>
              </a:spcBef>
              <a:spcAft>
                <a:spcPts val="0"/>
              </a:spcAft>
              <a:buNone/>
            </a:pPr>
            <a:r>
              <a:t>Connect it to what the class learned last lesson.</a:t>
            </a:r>
          </a:p>
          <a:p>
            <a:pPr indent="0" lvl="0" marL="0" rtl="0" algn="l">
              <a:spcBef>
                <a:spcPts val="0"/>
              </a:spcBef>
              <a:spcAft>
                <a:spcPts val="0"/>
              </a:spcAft>
              <a:buNone/>
            </a:pPr>
            <a:r>
              <a:t>Return to this goal at the end of class to check it was met.</a:t>
            </a:r>
          </a:p>
          <a:p>
            <a:pPr indent="0" lvl="0" marL="0" rtl="0" algn="l">
              <a:spcBef>
                <a:spcPts val="0"/>
              </a:spcBef>
              <a:spcAft>
                <a:spcPts val="0"/>
              </a:spcAft>
              <a:buNone/>
            </a:pPr>
            <a:r>
              <a:t>UIFR: TEACH 1.</a:t>
            </a:r>
          </a:p>
          <a:p>
            <a:pPr>
              <a:buNone/>
            </a:pPr>
            <a:r>
              <a:rPr lang="en-US" sz="1100"/>
              <a:t/>
            </a:r>
          </a:p>
          <a:p>
            <a:pPr>
              <a:buNone/>
            </a:pPr>
            <a:r>
              <a:rPr lang="en-US" sz="1100"/>
              <a:t>UIFR FULL | Lesson-specific facilitation</a:t>
            </a:r>
          </a:p>
          <a:p>
            <a:pPr>
              <a:buNone/>
            </a:pPr>
            <a:r>
              <a:rPr lang="en-US" sz="1100"/>
              <a:t>TEACH 1 | Session 1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interpret positive, negative and zero in context; locate opposites equally far from zero. Ask: “Which part of your work would show this?” Revisit that evidence after the task; a confidence rating alone is not evidence of understanding.</a:t>
            </a:r>
          </a:p>
        </p:txBody>
      </p:sp>
      <p:sp>
        <p:nvSpPr>
          <p:cNvPr id="332" name="Google Shape;332;p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6: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7.1, slide 13 | VOCAB</a:t>
            </a:r>
          </a:p>
          <a:p xmlns:a="http://schemas.openxmlformats.org/drawingml/2006/main">
            <a:pPr>
              <a:buNone/>
            </a:pPr>
            <a:r>
              <a:rPr lang="en-US" sz="1100"/>
              <a:t>Focus on the existing task: Vocabulary Today’s Math Words We learn every word…</a:t>
            </a:r>
          </a:p>
          <a:p xmlns:a="http://schemas.openxmlformats.org/drawingml/2006/main">
            <a:pPr>
              <a:buNone/>
            </a:pPr>
            <a:r>
              <a:rPr lang="en-US" sz="1100"/>
              <a:t>ASK (T1/3/5): Where does “the displayed term”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Choral-read each word, its meaning, and what it looks like.</a:t>
            </a:r>
          </a:p>
          <a:p>
            <a:pPr indent="0" lvl="0" marL="0" rtl="0" algn="l">
              <a:spcBef>
                <a:spcPts val="0"/>
              </a:spcBef>
              <a:spcAft>
                <a:spcPts val="0"/>
              </a:spcAft>
              <a:buNone/>
            </a:pPr>
            <a:r>
              <a:t>Students should use these words out loud today — listen for them in partner talk and revoice student ideas with the academic term.</a:t>
            </a:r>
          </a:p>
          <a:p>
            <a:pPr indent="0" lvl="0" marL="0" rtl="0" algn="l">
              <a:spcBef>
                <a:spcPts val="0"/>
              </a:spcBef>
              <a:spcAft>
                <a:spcPts val="0"/>
              </a:spcAft>
              <a:buNone/>
            </a:pPr>
            <a:r>
              <a:t>UIFR: TEACH 1 · TEACH 5.</a:t>
            </a:r>
          </a:p>
        </p:txBody>
      </p:sp>
      <p:sp>
        <p:nvSpPr>
          <p:cNvPr id="354" name="Google Shape;354;p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p12: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7.1, slide 2 | NOTES</a:t>
            </a:r>
          </a:p>
          <a:p xmlns:a="http://schemas.openxmlformats.org/drawingml/2006/main">
            <a:pPr>
              <a:buNone/>
            </a:pPr>
            <a:r>
              <a:rPr lang="en-US" sz="1100"/>
              <a:t>Focus on the existing task: Today’s Math Notes Section 1: Math Words Copy into…</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Copy routine: read one line at a time; students copy, then explain that line to a partner.</a:t>
            </a:r>
          </a:p>
          <a:p>
            <a:pPr indent="0" lvl="0" marL="0" rtl="0" algn="l">
              <a:spcBef>
                <a:spcPts val="0"/>
              </a:spcBef>
              <a:spcAft>
                <a:spcPts val="0"/>
              </a:spcAft>
              <a:buNone/>
            </a:pPr>
            <a:r>
              <a:t>Keep it brisk — the understanding work happens in the examples, not the copying.</a:t>
            </a:r>
          </a:p>
          <a:p>
            <a:pPr indent="0" lvl="0" marL="0" rtl="0" algn="l">
              <a:spcBef>
                <a:spcPts val="0"/>
              </a:spcBef>
              <a:spcAft>
                <a:spcPts val="0"/>
              </a:spcAft>
              <a:buNone/>
            </a:pPr>
            <a:r>
              <a:t>UIFR: TEACH 1 · TEACH 6.</a:t>
            </a:r>
          </a:p>
        </p:txBody>
      </p:sp>
      <p:sp>
        <p:nvSpPr>
          <p:cNvPr id="474" name="Google Shape;474;p1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p13: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7.1, slide 3 | NOTES</a:t>
            </a:r>
          </a:p>
          <a:p xmlns:a="http://schemas.openxmlformats.org/drawingml/2006/main">
            <a:pPr>
              <a:buNone/>
            </a:pPr>
            <a:r>
              <a:rPr lang="en-US" sz="1100"/>
              <a:t>Focus on the existing task: Today’s Math Notes Section 2: Today’s Math Copy into…</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Copy routine: read one line at a time; students copy, then explain that line to a partner.</a:t>
            </a:r>
          </a:p>
          <a:p>
            <a:pPr indent="0" lvl="0" marL="0" rtl="0" algn="l">
              <a:spcBef>
                <a:spcPts val="0"/>
              </a:spcBef>
              <a:spcAft>
                <a:spcPts val="0"/>
              </a:spcAft>
              <a:buNone/>
            </a:pPr>
            <a:r>
              <a:t>Keep it brisk — the understanding work happens in the examples, not the copying.</a:t>
            </a:r>
          </a:p>
          <a:p>
            <a:pPr indent="0" lvl="0" marL="0" rtl="0" algn="l">
              <a:spcBef>
                <a:spcPts val="0"/>
              </a:spcBef>
              <a:spcAft>
                <a:spcPts val="0"/>
              </a:spcAft>
              <a:buNone/>
            </a:pPr>
            <a:r>
              <a:t>UIFR: TEACH 1 · TEACH 6.</a:t>
            </a:r>
          </a:p>
        </p:txBody>
      </p:sp>
      <p:sp>
        <p:nvSpPr>
          <p:cNvPr id="502" name="Google Shape;502;p1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15: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7.1, slide 14 | CURIOUS</a:t>
            </a:r>
          </a:p>
          <a:p xmlns:a="http://schemas.openxmlformats.org/drawingml/2006/main">
            <a:pPr>
              <a:buNone/>
            </a:pPr>
            <a:r>
              <a:rPr lang="en-US" sz="1100"/>
              <a:t>Focus on the existing task: Be Curious What do you notice?</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interpret positive, negative and zero in context. Ask which feature of their work supports the claim.</a:t>
            </a:r>
          </a:p>
          <a:p xmlns:a="http://schemas.openxmlformats.org/drawingml/2006/main">
            <a:pPr>
              <a:buNone/>
            </a:pPr>
            <a:r>
              <a:rPr lang="en-US" sz="1100"/>
              <a:t>RESPOND: If this task shows the lesson misconception—treating zero as positive or confusing an opposite with an absolute value—label the reference point and directions on the existing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Accept all noticings and wonderings — there are no wrong answers here.</a:t>
            </a:r>
          </a:p>
          <a:p>
            <a:pPr indent="0" lvl="0" marL="0" rtl="0" algn="l">
              <a:lnSpc>
                <a:spcPct val="100000"/>
              </a:lnSpc>
              <a:spcBef>
                <a:spcPts val="0"/>
              </a:spcBef>
              <a:spcAft>
                <a:spcPts val="0"/>
              </a:spcAft>
              <a:buSzPts val="1400"/>
              <a:buNone/>
            </a:pPr>
            <a:r>
              <a:t>Give 20–30 seconds of quiet think time before taking responses; mix cold and warm calls so it is not always the same voices.</a:t>
            </a:r>
          </a:p>
          <a:p>
            <a:pPr indent="0" lvl="0" marL="0" rtl="0" algn="l">
              <a:lnSpc>
                <a:spcPct val="100000"/>
              </a:lnSpc>
              <a:spcBef>
                <a:spcPts val="0"/>
              </a:spcBef>
              <a:spcAft>
                <a:spcPts val="0"/>
              </a:spcAft>
              <a:buSzPts val="1400"/>
              <a:buNone/>
            </a:pPr>
            <a:r>
              <a:t>Read the mindset question aloud and let two students respond.</a:t>
            </a:r>
          </a:p>
          <a:p>
            <a:pPr indent="0" lvl="0" marL="0" rtl="0" algn="l">
              <a:lnSpc>
                <a:spcPct val="100000"/>
              </a:lnSpc>
              <a:spcBef>
                <a:spcPts val="0"/>
              </a:spcBef>
              <a:spcAft>
                <a:spcPts val="0"/>
              </a:spcAft>
              <a:buSzPts val="1400"/>
              <a:buNone/>
            </a:pPr>
            <a:r>
              <a:t>UIFR: TEACH 3 · TEACH 7.</a:t>
            </a:r>
          </a:p>
        </p:txBody>
      </p:sp>
      <p:sp>
        <p:nvSpPr>
          <p:cNvPr id="537" name="Google Shape;537;p1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p1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7.1, slide 15 | TASK</a:t>
            </a:r>
          </a:p>
          <a:p xmlns:a="http://schemas.openxmlformats.org/drawingml/2006/main">
            <a:pPr>
              <a:buNone/>
            </a:pPr>
            <a:r>
              <a:rPr lang="en-US" sz="1100"/>
              <a:t>Focus on the existing task: The Lowest Elevation The lowest elevation in North America is Badwater Basin in Death Valley, which is 86 meters below sea level. How can you represent this elevation?</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interpret positive, negative and zero in context. Ask which feature of their work supports the claim.</a:t>
            </a:r>
          </a:p>
          <a:p xmlns:a="http://schemas.openxmlformats.org/drawingml/2006/main">
            <a:pPr>
              <a:buNone/>
            </a:pPr>
            <a:r>
              <a:rPr lang="en-US" sz="1100"/>
              <a:t>RESPOND: If this task shows the lesson misconception—treating zero as positive or confusing an opposite with an absolute value—label the reference point and directions on the existing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a:p>
            <a:pPr>
              <a:buNone/>
            </a:pPr>
            <a:r>
              <a:rPr lang="en-US" sz="1100"/>
              <a:t/>
            </a:r>
          </a:p>
          <a:p>
            <a:pPr>
              <a:buNone/>
            </a:pPr>
            <a:r>
              <a:rPr lang="en-US" sz="1100"/>
              <a:t>UIFR FULL | Lesson-specific facilitation</a:t>
            </a:r>
          </a:p>
          <a:p>
            <a:pPr>
              <a:buNone/>
            </a:pPr>
            <a:r>
              <a:rPr lang="en-US" sz="1100"/>
              <a:t>TEACH 2-3 | Session 1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“What does zero mean here, and how does the opposite describe a related quantity?” Wait for evidence, invite another pathway, and have a student ask a follow-up question. Do not replace students’ reasoning with a sequence of leading steps.</a:t>
            </a:r>
          </a:p>
        </p:txBody>
      </p:sp>
      <p:sp>
        <p:nvSpPr>
          <p:cNvPr id="560" name="Google Shape;560;p1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p1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7.1, slide 16 | REVEAL</a:t>
            </a:r>
          </a:p>
          <a:p xmlns:a="http://schemas.openxmlformats.org/drawingml/2006/main">
            <a:pPr>
              <a:buNone/>
            </a:pPr>
            <a:r>
              <a:rPr lang="en-US" sz="1100"/>
              <a:t>Focus on the existing task: Let’s make a diagram to represent the situation. When measuring elevation, sea level is defined as 0. Badwater Basin is 86 meters below sea level. Will Badwater Basin be above or below 0 on the diagram?</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interpret positive, negative and zero in context. Ask which feature of their work supports the claim.</a:t>
            </a:r>
          </a:p>
          <a:p xmlns:a="http://schemas.openxmlformats.org/drawingml/2006/main">
            <a:pPr>
              <a:buNone/>
            </a:pPr>
            <a:r>
              <a:rPr lang="en-US" sz="1100"/>
              <a:t>RESPOND: If this task shows the lesson misconception—treating zero as positive or confusing an opposite with an absolute value—label the reference point and directions on the existing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It will be below 0 because the elevation is 86 meters below sea level.</a:t>
            </a:r>
          </a:p>
          <a:p>
            <a:pPr indent="0" lvl="0" marL="0" rtl="0" algn="l">
              <a:lnSpc>
                <a:spcPct val="100000"/>
              </a:lnSpc>
              <a:spcBef>
                <a:spcPts val="0"/>
              </a:spcBef>
              <a:spcAft>
                <a:spcPts val="0"/>
              </a:spcAft>
              <a:buSzPts val="1400"/>
              <a:buNone/>
            </a:pPr>
            <a:r>
              <a:t>UIFR: TEACH 3 · TEACH 4.</a:t>
            </a:r>
          </a:p>
        </p:txBody>
      </p:sp>
      <p:sp>
        <p:nvSpPr>
          <p:cNvPr id="584" name="Google Shape;584;p1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p2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7.1, slide 17 | TASK</a:t>
            </a:r>
          </a:p>
          <a:p xmlns:a="http://schemas.openxmlformats.org/drawingml/2006/main">
            <a:pPr>
              <a:buNone/>
            </a:pPr>
            <a:r>
              <a:rPr lang="en-US" sz="1100"/>
              <a:t>Focus on the existing task: Badwater Basin is below sea level, that is, below 0. Think About It: Where have you heard the phrase “below zero” before?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interpret positive, negative and zero in context. Ask which feature of their work supports the claim.</a:t>
            </a:r>
          </a:p>
          <a:p xmlns:a="http://schemas.openxmlformats.org/drawingml/2006/main">
            <a:pPr>
              <a:buNone/>
            </a:pPr>
            <a:r>
              <a:rPr lang="en-US" sz="1100"/>
              <a:t>RESPOND: If this task shows the lesson misconception—treating zero as positive or confusing an opposite with an absolute value—label the reference point and directions on the existing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Ask the question, then hold the silence — students think or jot before anyone answers.</a:t>
            </a:r>
          </a:p>
          <a:p>
            <a:pPr indent="0" lvl="0" marL="0" rtl="0" algn="l">
              <a:lnSpc>
                <a:spcPct val="100000"/>
              </a:lnSpc>
              <a:spcBef>
                <a:spcPts val="0"/>
              </a:spcBef>
              <a:spcAft>
                <a:spcPts val="0"/>
              </a:spcAft>
              <a:buSzPts val="1400"/>
              <a:buNone/>
            </a:pPr>
            <a:r>
              <a:t>Take two or three responses and press with “Why?” or “How do you know?” before moving on.</a:t>
            </a:r>
          </a:p>
          <a:p>
            <a:pPr indent="0" lvl="0" marL="0" rtl="0" algn="l">
              <a:lnSpc>
                <a:spcPct val="100000"/>
              </a:lnSpc>
              <a:spcBef>
                <a:spcPts val="0"/>
              </a:spcBef>
              <a:spcAft>
                <a:spcPts val="0"/>
              </a:spcAft>
              <a:buSzPts val="1400"/>
              <a:buNone/>
            </a:pPr>
            <a:r>
              <a:t>UIFR: TEACH 3.</a:t>
            </a:r>
          </a:p>
        </p:txBody>
      </p:sp>
      <p:sp>
        <p:nvSpPr>
          <p:cNvPr id="605" name="Google Shape;605;p2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p23: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7.1, slide 18 | REVEAL</a:t>
            </a:r>
          </a:p>
          <a:p xmlns:a="http://schemas.openxmlformats.org/drawingml/2006/main">
            <a:pPr>
              <a:buNone/>
            </a:pPr>
            <a:r>
              <a:rPr lang="en-US" sz="1100"/>
              <a:t>Focus on the existing task: Badwater Basin is 86 meters below sea level, that is, below 0. Numbers less than zero are negative numbers and are written with a −…</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interpret positive, negative and zero in context. Ask which feature of their work supports the claim.</a:t>
            </a:r>
          </a:p>
          <a:p xmlns:a="http://schemas.openxmlformats.org/drawingml/2006/main">
            <a:pPr>
              <a:buNone/>
            </a:pPr>
            <a:r>
              <a:rPr lang="en-US" sz="1100"/>
              <a:t>RESPOND: If this task shows the lesson misconception—treating zero as positive or confusing an opposite with an absolute value—label the reference point and directions on the existing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−86</a:t>
            </a:r>
          </a:p>
          <a:p>
            <a:pPr indent="0" lvl="0" marL="0" rtl="0" algn="l">
              <a:lnSpc>
                <a:spcPct val="100000"/>
              </a:lnSpc>
              <a:spcBef>
                <a:spcPts val="0"/>
              </a:spcBef>
              <a:spcAft>
                <a:spcPts val="0"/>
              </a:spcAft>
              <a:buSzPts val="1400"/>
              <a:buNone/>
            </a:pPr>
            <a:r>
              <a:t>UIFR: TEACH 3 · TEACH 4.</a:t>
            </a:r>
          </a:p>
        </p:txBody>
      </p:sp>
      <p:sp>
        <p:nvSpPr>
          <p:cNvPr id="625" name="Google Shape;625;p2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25: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7.1, slide 19 | REVEAL</a:t>
            </a:r>
          </a:p>
          <a:p xmlns:a="http://schemas.openxmlformats.org/drawingml/2006/main">
            <a:pPr>
              <a:buNone/>
            </a:pPr>
            <a:r>
              <a:rPr lang="en-US" sz="1100"/>
              <a:t>Focus on the existing task: The elevation of Badwater Basin is −86 (negative 86) meters. What other tool can you use to represent numbers?</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interpret positive, negative and zero in context. Ask which feature of their work supports the claim.</a:t>
            </a:r>
          </a:p>
          <a:p xmlns:a="http://schemas.openxmlformats.org/drawingml/2006/main">
            <a:pPr>
              <a:buNone/>
            </a:pPr>
            <a:r>
              <a:rPr lang="en-US" sz="1100"/>
              <a:t>RESPOND: If this task shows the lesson misconception—treating zero as positive or confusing an opposite with an absolute value—label the reference point and directions on the existing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One tool is a number line.</a:t>
            </a:r>
          </a:p>
          <a:p>
            <a:pPr indent="0" lvl="0" marL="0" rtl="0" algn="l">
              <a:lnSpc>
                <a:spcPct val="100000"/>
              </a:lnSpc>
              <a:spcBef>
                <a:spcPts val="0"/>
              </a:spcBef>
              <a:spcAft>
                <a:spcPts val="0"/>
              </a:spcAft>
              <a:buSzPts val="1400"/>
              <a:buNone/>
            </a:pPr>
            <a:r>
              <a:t>UIFR: TEACH 3 · TEACH 4.</a:t>
            </a:r>
          </a:p>
        </p:txBody>
      </p:sp>
      <p:sp>
        <p:nvSpPr>
          <p:cNvPr id="646" name="Google Shape;646;p2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p2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7.1, slide 20 | REVEAL</a:t>
            </a:r>
          </a:p>
          <a:p xmlns:a="http://schemas.openxmlformats.org/drawingml/2006/main">
            <a:pPr>
              <a:buNone/>
            </a:pPr>
            <a:r>
              <a:rPr lang="en-US" sz="1100"/>
              <a:t>Focus on the existing task: You can extend a horizontal number line to the left of 0 to represent values less than 0. The numbers to the left of 0 are negative numbers.</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interpret positive, negative and zero in context. Ask which feature of their work supports the claim.</a:t>
            </a:r>
          </a:p>
          <a:p xmlns:a="http://schemas.openxmlformats.org/drawingml/2006/main">
            <a:pPr>
              <a:buNone/>
            </a:pPr>
            <a:r>
              <a:rPr lang="en-US" sz="1100"/>
              <a:t>RESPOND: If this task shows the lesson misconception—treating zero as positive or confusing an opposite with an absolute value—label the reference point and directions on the existing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The elevation can be represented by a point that is 86 units to the left of 0 because it is a negative number.</a:t>
            </a:r>
          </a:p>
          <a:p>
            <a:pPr indent="0" lvl="0" marL="0" rtl="0" algn="l">
              <a:lnSpc>
                <a:spcPct val="100000"/>
              </a:lnSpc>
              <a:spcBef>
                <a:spcPts val="0"/>
              </a:spcBef>
              <a:spcAft>
                <a:spcPts val="0"/>
              </a:spcAft>
              <a:buSzPts val="1400"/>
              <a:buNone/>
            </a:pPr>
            <a:r>
              <a:t>UIFR: TEACH 3 · TEACH 4.</a:t>
            </a:r>
          </a:p>
        </p:txBody>
      </p:sp>
      <p:sp>
        <p:nvSpPr>
          <p:cNvPr id="666" name="Google Shape;666;p2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p2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7.1, slide 21 | WORKED</a:t>
            </a:r>
          </a:p>
          <a:p xmlns:a="http://schemas.openxmlformats.org/drawingml/2006/main">
            <a:pPr>
              <a:buNone/>
            </a:pPr>
            <a:r>
              <a:rPr lang="en-US" sz="1100"/>
              <a:t>Focus on the existing task: Let’s represent the elevation of Badwater Basin, −86 (negative 86) meters, on the number line. The elevation is represented by a point…</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interpret positive, negative and zero in context. Ask which feature of their work supports the claim.</a:t>
            </a:r>
          </a:p>
          <a:p xmlns:a="http://schemas.openxmlformats.org/drawingml/2006/main">
            <a:pPr>
              <a:buNone/>
            </a:pPr>
            <a:r>
              <a:rPr lang="en-US" sz="1100"/>
              <a:t>RESPOND: If this task shows the lesson misconception—treating zero as positive or confusing an opposite with an absolute value—label the reference point and directions on the existing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676" name="Google Shape;676;p2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p3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7.1, slide 22 | REVEAL</a:t>
            </a:r>
          </a:p>
          <a:p xmlns:a="http://schemas.openxmlformats.org/drawingml/2006/main">
            <a:pPr>
              <a:buNone/>
            </a:pPr>
            <a:r>
              <a:rPr lang="en-US" sz="1100"/>
              <a:t>Focus on the existing task: −86 is the opposite of 86. What do you notice about the two opposite numbers?</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locate opposites equally far from zero. Ask which feature of their work supports the claim.</a:t>
            </a:r>
          </a:p>
          <a:p xmlns:a="http://schemas.openxmlformats.org/drawingml/2006/main">
            <a:pPr>
              <a:buNone/>
            </a:pPr>
            <a:r>
              <a:rPr lang="en-US" sz="1100"/>
              <a:t>RESPOND: If this task shows the lesson misconception—treating zero as positive or confusing an opposite with an absolute value—label the reference point and directions on the existing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They are both 86 units from 0, but on different sides of 0 on the number line.</a:t>
            </a:r>
          </a:p>
          <a:p>
            <a:pPr indent="0" lvl="0" marL="0" rtl="0" algn="l">
              <a:lnSpc>
                <a:spcPct val="100000"/>
              </a:lnSpc>
              <a:spcBef>
                <a:spcPts val="0"/>
              </a:spcBef>
              <a:spcAft>
                <a:spcPts val="0"/>
              </a:spcAft>
              <a:buSzPts val="1400"/>
              <a:buNone/>
            </a:pPr>
            <a:r>
              <a:t>UIFR: TEACH 3 · TEACH 4.</a:t>
            </a:r>
          </a:p>
        </p:txBody>
      </p:sp>
      <p:sp>
        <p:nvSpPr>
          <p:cNvPr id="695" name="Google Shape;695;p3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6" name="Shape 716"/>
        <p:cNvGrpSpPr/>
        <p:nvPr/>
      </p:nvGrpSpPr>
      <p:grpSpPr>
        <a:xfrm>
          <a:off x="0" y="0"/>
          <a:ext cx="0" cy="0"/>
          <a:chOff x="0" y="0"/>
          <a:chExt cx="0" cy="0"/>
        </a:xfrm>
      </p:grpSpPr>
      <p:sp>
        <p:nvSpPr>
          <p:cNvPr id="717" name="Google Shape;717;p3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8" name="Google Shape;718;p3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7.1, slide 23 | COLLABORATE</a:t>
            </a:r>
          </a:p>
          <a:p xmlns:a="http://schemas.openxmlformats.org/drawingml/2006/main">
            <a:pPr>
              <a:buNone/>
            </a:pPr>
            <a:r>
              <a:rPr lang="en-US" sz="1100"/>
              <a:t>Focus on the existing task: Collaborate and Connect Reveal: Some integers we can write are 2, 5, −9, −14, and 230. −86 is the opposite of 86. Counting numbers…</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locate opposites equally far from zero. Ask which feature of their work supports the claim.</a:t>
            </a:r>
          </a:p>
          <a:p xmlns:a="http://schemas.openxmlformats.org/drawingml/2006/main">
            <a:pPr>
              <a:buNone/>
            </a:pPr>
            <a:r>
              <a:rPr lang="en-US" sz="1100"/>
              <a:t>RESPOND: If this task shows the lesson misconception—treating zero as positive or confusing an opposite with an absolute value—label the reference point and directions on the existing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COLLABORATE  ·  TALK IT THROUGH • AGREE ON A MODEL</a:t>
            </a:r>
          </a:p>
          <a:p>
            <a:pPr>
              <a:buNone/>
            </a:pPr>
            <a:r>
              <a:rPr lang="en-US" sz="1100"/>
              <a:t/>
            </a:r>
          </a:p>
          <a:p>
            <a:pPr>
              <a:buNone/>
            </a:pPr>
            <a:r>
              <a:rPr lang="en-US" sz="1100"/>
              <a:t>UIFR FULL | Lesson-specific facilitation</a:t>
            </a:r>
          </a:p>
          <a:p>
            <a:pPr>
              <a:buNone/>
            </a:pPr>
            <a:r>
              <a:rPr lang="en-US" sz="1100"/>
              <a:t>TEACH 4-5 | Session 1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treating zero as positive or confusing an opposite with an absolute value. If it appears, label the reference point and directions on the existing number line; then ask the student to revise the same response and explain the change. If evidence is secure, have students compare a second valid pathway or state why their approach works. Choose the next step from the responses, not a preset pace.</a:t>
            </a:r>
          </a:p>
        </p:txBody>
      </p:sp>
      <p:sp>
        <p:nvSpPr>
          <p:cNvPr id="719" name="Google Shape;719;p32:notes"/>
          <p:cNvSpPr txBox="1"/>
          <p:nvPr>
            <p:ph idx="12" type="sldNum"/>
          </p:nvPr>
        </p:nvSpPr>
        <p:spPr>
          <a:xfrm>
            <a:off x="3970938" y="8772669"/>
            <a:ext cx="3037840" cy="463406"/>
          </a:xfrm>
          <a:prstGeom prst="rect">
            <a:avLst/>
          </a:prstGeom>
          <a:noFill/>
          <a:ln>
            <a:noFill/>
          </a:ln>
        </p:spPr>
        <p:txBody>
          <a:bodyPr anchorCtr="0" anchor="b" bIns="46125" lIns="92275" spcFirstLastPara="1" rIns="92275" wrap="square" tIns="4612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p34: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7.1, slide 24 | PRACTICE</a:t>
            </a:r>
          </a:p>
          <a:p xmlns:a="http://schemas.openxmlformats.org/drawingml/2006/main">
            <a:pPr>
              <a:buNone/>
            </a:pPr>
            <a:r>
              <a:rPr lang="en-US" sz="1100"/>
              <a:t>Focus on the existing task: Why does 0 represent sea level?</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interpret positive, negative and zero in context. Ask which feature of their work supports the claim.</a:t>
            </a:r>
          </a:p>
          <a:p xmlns:a="http://schemas.openxmlformats.org/drawingml/2006/main">
            <a:pPr>
              <a:buNone/>
            </a:pPr>
            <a:r>
              <a:rPr lang="en-US" sz="1100"/>
              <a:t>RESPOND: If this task shows the lesson misconception—treating zero as positive or confusing an opposite with an absolute value—label the reference point and directions on the existing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Extension for partners or table groups — students choose their approach and use the workspace to show thinking.</a:t>
            </a:r>
          </a:p>
          <a:p>
            <a:pPr indent="0" lvl="0" marL="0" rtl="0" algn="l">
              <a:lnSpc>
                <a:spcPct val="100000"/>
              </a:lnSpc>
              <a:spcBef>
                <a:spcPts val="0"/>
              </a:spcBef>
              <a:spcAft>
                <a:spcPts val="0"/>
              </a:spcAft>
              <a:buSzPts val="1400"/>
              <a:buNone/>
            </a:pPr>
            <a:r>
              <a:t>Push with “Convince me,” and have two groups with different approaches share.</a:t>
            </a:r>
          </a:p>
          <a:p>
            <a:pPr indent="0" lvl="0" marL="0" rtl="0" algn="l">
              <a:lnSpc>
                <a:spcPct val="100000"/>
              </a:lnSpc>
              <a:spcBef>
                <a:spcPts val="0"/>
              </a:spcBef>
              <a:spcAft>
                <a:spcPts val="0"/>
              </a:spcAft>
              <a:buSzPts val="1400"/>
              <a:buNone/>
            </a:pPr>
            <a:r>
              <a:t>This is where students stretch past the worked example.</a:t>
            </a:r>
          </a:p>
          <a:p>
            <a:pPr indent="0" lvl="0" marL="0" rtl="0" algn="l">
              <a:lnSpc>
                <a:spcPct val="100000"/>
              </a:lnSpc>
              <a:spcBef>
                <a:spcPts val="0"/>
              </a:spcBef>
              <a:spcAft>
                <a:spcPts val="0"/>
              </a:spcAft>
              <a:buSzPts val="1400"/>
              <a:buNone/>
            </a:pPr>
            <a:r>
              <a:t>UIFR: TEACH 2 · TEACH 5.</a:t>
            </a:r>
          </a:p>
        </p:txBody>
      </p:sp>
      <p:sp>
        <p:nvSpPr>
          <p:cNvPr id="742" name="Google Shape;742;p3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1" name="Shape 751"/>
        <p:cNvGrpSpPr/>
        <p:nvPr/>
      </p:nvGrpSpPr>
      <p:grpSpPr>
        <a:xfrm>
          <a:off x="0" y="0"/>
          <a:ext cx="0" cy="0"/>
          <a:chOff x="0" y="0"/>
          <a:chExt cx="0" cy="0"/>
        </a:xfrm>
      </p:grpSpPr>
      <p:sp>
        <p:nvSpPr>
          <p:cNvPr id="752" name="Google Shape;752;p35: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7.1, slide 31 | DIVIDER</a:t>
            </a:r>
          </a:p>
          <a:p xmlns:a="http://schemas.openxmlformats.org/drawingml/2006/main">
            <a:pPr>
              <a:buNone/>
            </a:pPr>
            <a:r>
              <a:rPr lang="en-US" sz="1100"/>
              <a:t>Focus on the existing task: Explore Integers and Their Opposites Session 2</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Transition cue: state what materials are out and what success looks like this session.</a:t>
            </a:r>
          </a:p>
          <a:p>
            <a:pPr indent="0" lvl="0" marL="0" rtl="0" algn="l">
              <a:lnSpc>
                <a:spcPct val="100000"/>
              </a:lnSpc>
              <a:spcBef>
                <a:spcPts val="0"/>
              </a:spcBef>
              <a:spcAft>
                <a:spcPts val="0"/>
              </a:spcAft>
              <a:buSzPts val="1400"/>
              <a:buNone/>
            </a:pPr>
            <a:r>
              <a:t>Keep the changeover under a minute.</a:t>
            </a:r>
          </a:p>
          <a:p>
            <a:pPr indent="0" lvl="0" marL="0" rtl="0" algn="l">
              <a:lnSpc>
                <a:spcPct val="100000"/>
              </a:lnSpc>
              <a:spcBef>
                <a:spcPts val="0"/>
              </a:spcBef>
              <a:spcAft>
                <a:spcPts val="0"/>
              </a:spcAft>
              <a:buSzPts val="1400"/>
              <a:buNone/>
            </a:pPr>
            <a:r>
              <a:t>UIFR: TEACH 6.</a:t>
            </a:r>
          </a:p>
        </p:txBody>
      </p:sp>
      <p:sp>
        <p:nvSpPr>
          <p:cNvPr id="753" name="Google Shape;753;p3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1" name="Shape 821"/>
        <p:cNvGrpSpPr/>
        <p:nvPr/>
      </p:nvGrpSpPr>
      <p:grpSpPr>
        <a:xfrm>
          <a:off x="0" y="0"/>
          <a:ext cx="0" cy="0"/>
          <a:chOff x="0" y="0"/>
          <a:chExt cx="0" cy="0"/>
        </a:xfrm>
      </p:grpSpPr>
      <p:sp>
        <p:nvSpPr>
          <p:cNvPr id="822" name="Google Shape;822;p4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7.1, slide 32 | TASK</a:t>
            </a:r>
          </a:p>
          <a:p xmlns:a="http://schemas.openxmlformats.org/drawingml/2006/main">
            <a:pPr>
              <a:buNone/>
            </a:pPr>
            <a:r>
              <a:rPr lang="en-US" sz="1100"/>
              <a:t>Focus on the existing task: Brian lives in Toronto, Canada and his cousin lives in Reykjavik, Iceland. One day in January, the temperature in Toronto was 9°C and the temperature in Reykjavik was −9°C. How do the two temperatures relate?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interpret positive, negative and zero in context. Ask which feature of their work supports the claim.</a:t>
            </a:r>
          </a:p>
          <a:p xmlns:a="http://schemas.openxmlformats.org/drawingml/2006/main">
            <a:pPr>
              <a:buNone/>
            </a:pPr>
            <a:r>
              <a:rPr lang="en-US" sz="1100"/>
              <a:t>RESPOND: If this task shows the lesson misconception—treating zero as positive or confusing an opposite with an absolute value—label the reference point and directions on the existing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Read the context aloud (or have a student read it).</a:t>
            </a:r>
          </a:p>
          <a:p>
            <a:pPr indent="0" lvl="0" marL="0" rtl="0" algn="l">
              <a:lnSpc>
                <a:spcPct val="100000"/>
              </a:lnSpc>
              <a:spcBef>
                <a:spcPts val="0"/>
              </a:spcBef>
              <a:spcAft>
                <a:spcPts val="0"/>
              </a:spcAft>
              <a:buSzPts val="1400"/>
              <a:buNone/>
            </a:pPr>
            <a:r>
              <a:t>Before any math, students restate the situation and what is being asked in their own words.</a:t>
            </a:r>
          </a:p>
          <a:p>
            <a:pPr indent="0" lvl="0" marL="0" rtl="0" algn="l">
              <a:lnSpc>
                <a:spcPct val="100000"/>
              </a:lnSpc>
              <a:spcBef>
                <a:spcPts val="0"/>
              </a:spcBef>
              <a:spcAft>
                <a:spcPts val="0"/>
              </a:spcAft>
              <a:buSzPts val="1400"/>
              <a:buNone/>
            </a:pPr>
            <a:r>
              <a:t>Ask: What tool can you use to represent the temperatures?</a:t>
            </a:r>
          </a:p>
          <a:p>
            <a:pPr indent="0" lvl="0" marL="0" rtl="0" algn="l">
              <a:lnSpc>
                <a:spcPct val="100000"/>
              </a:lnSpc>
              <a:spcBef>
                <a:spcPts val="0"/>
              </a:spcBef>
              <a:spcAft>
                <a:spcPts val="0"/>
              </a:spcAft>
              <a:buSzPts val="1400"/>
              <a:buNone/>
            </a:pPr>
            <a:r>
              <a:t>UIFR: TEACH 1 · TEACH 3.</a:t>
            </a:r>
          </a:p>
          <a:p>
            <a:pPr>
              <a:buNone/>
            </a:pPr>
            <a:r>
              <a:rPr lang="en-US" sz="1100"/>
              <a:t/>
            </a:r>
          </a:p>
          <a:p>
            <a:pPr>
              <a:buNone/>
            </a:pPr>
            <a:r>
              <a:rPr lang="en-US" sz="1100"/>
              <a:t>UIFR FULL | Lesson-specific facilitation</a:t>
            </a:r>
          </a:p>
          <a:p>
            <a:pPr>
              <a:buNone/>
            </a:pPr>
            <a:r>
              <a:rPr lang="en-US" sz="1100"/>
              <a:t>TEACH 2-3 | Session 2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“What does zero mean here, and how does the opposite describe a related quantity?” Wait for evidence, invite another pathway, and have a student ask a follow-up question. Do not replace students’ reasoning with a sequence of leading steps.</a:t>
            </a:r>
          </a:p>
        </p:txBody>
      </p:sp>
      <p:sp>
        <p:nvSpPr>
          <p:cNvPr id="823" name="Google Shape;823;p4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6" name="Shape 846"/>
        <p:cNvGrpSpPr/>
        <p:nvPr/>
      </p:nvGrpSpPr>
      <p:grpSpPr>
        <a:xfrm>
          <a:off x="0" y="0"/>
          <a:ext cx="0" cy="0"/>
          <a:chOff x="0" y="0"/>
          <a:chExt cx="0" cy="0"/>
        </a:xfrm>
      </p:grpSpPr>
      <p:sp>
        <p:nvSpPr>
          <p:cNvPr id="847" name="Google Shape;847;p44: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7.1, slide 33 | COLLABORATE</a:t>
            </a:r>
          </a:p>
          <a:p xmlns:a="http://schemas.openxmlformats.org/drawingml/2006/main">
            <a:pPr>
              <a:buNone/>
            </a:pPr>
            <a:r>
              <a:rPr lang="en-US" sz="1100"/>
              <a:t>Focus on the existing task: Reveal: We know that a negative sign (−) means the number is less than zero, so −9 will be to the left of zero on the number line. A…</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interpret positive, negative and zero in context. Ask which feature of their work supports the claim.</a:t>
            </a:r>
          </a:p>
          <a:p xmlns:a="http://schemas.openxmlformats.org/drawingml/2006/main">
            <a:pPr>
              <a:buNone/>
            </a:pPr>
            <a:r>
              <a:rPr lang="en-US" sz="1100"/>
              <a:t>RESPOND: If this task shows the lesson misconception—treating zero as positive or confusing an opposite with an absolute value—label the reference point and directions on the existing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COLLABORATE  ·  TALK IT THROUGH • AGREE ON A MODEL</a:t>
            </a:r>
          </a:p>
          <a:p>
            <a:pPr>
              <a:buNone/>
            </a:pPr>
            <a:r>
              <a:rPr lang="en-US" sz="1100"/>
              <a:t/>
            </a:r>
          </a:p>
          <a:p>
            <a:pPr>
              <a:buNone/>
            </a:pPr>
            <a:r>
              <a:rPr lang="en-US" sz="1100"/>
              <a:t>UIFR FULL | Lesson-specific facilitation</a:t>
            </a:r>
          </a:p>
          <a:p>
            <a:pPr>
              <a:buNone/>
            </a:pPr>
            <a:r>
              <a:rPr lang="en-US" sz="1100"/>
              <a:t>TEACH 4-5 | Session 2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treating zero as positive or confusing an opposite with an absolute value. If it appears, label the reference point and directions on the existing number line; then ask the student to revise the same response and explain the change. If evidence is secure, have students compare a second valid pathway or state why their approach works. Choose the next step from the responses, not a preset pace.</a:t>
            </a:r>
          </a:p>
        </p:txBody>
      </p:sp>
      <p:sp>
        <p:nvSpPr>
          <p:cNvPr id="848" name="Google Shape;848;p4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5" name="Shape 885"/>
        <p:cNvGrpSpPr/>
        <p:nvPr/>
      </p:nvGrpSpPr>
      <p:grpSpPr>
        <a:xfrm>
          <a:off x="0" y="0"/>
          <a:ext cx="0" cy="0"/>
          <a:chOff x="0" y="0"/>
          <a:chExt cx="0" cy="0"/>
        </a:xfrm>
      </p:grpSpPr>
      <p:sp>
        <p:nvSpPr>
          <p:cNvPr id="886" name="Google Shape;886;p4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7.1, slide 34 | REVEAL</a:t>
            </a:r>
          </a:p>
          <a:p xmlns:a="http://schemas.openxmlformats.org/drawingml/2006/main">
            <a:pPr>
              <a:buNone/>
            </a:pPr>
            <a:r>
              <a:rPr lang="en-US" sz="1100"/>
              <a:t>Focus on the existing task: Reveal: They are both 9 units away from zero. The opposite signs of the integers tell us that 9 and −9 are located on opposite sides of zero on the number line. How many units away from zero is 9?</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locate opposites equally far from zero. Ask which feature of their work supports the claim.</a:t>
            </a:r>
          </a:p>
          <a:p xmlns:a="http://schemas.openxmlformats.org/drawingml/2006/main">
            <a:pPr>
              <a:buNone/>
            </a:pPr>
            <a:r>
              <a:rPr lang="en-US" sz="1100"/>
              <a:t>RESPOND: If this task shows the lesson misconception—treating zero as positive or confusing an opposite with an absolute value—label the reference point and directions on the existing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They are both 9 units away from zero.</a:t>
            </a:r>
          </a:p>
          <a:p>
            <a:pPr indent="0" lvl="0" marL="0" rtl="0" algn="l">
              <a:lnSpc>
                <a:spcPct val="100000"/>
              </a:lnSpc>
              <a:spcBef>
                <a:spcPts val="0"/>
              </a:spcBef>
              <a:spcAft>
                <a:spcPts val="0"/>
              </a:spcAft>
              <a:buSzPts val="1400"/>
              <a:buNone/>
            </a:pPr>
            <a:r>
              <a:t>UIFR: TEACH 3 · TEACH 4.</a:t>
            </a:r>
          </a:p>
        </p:txBody>
      </p:sp>
      <p:sp>
        <p:nvSpPr>
          <p:cNvPr id="887" name="Google Shape;887;p4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5" name="Shape 905"/>
        <p:cNvGrpSpPr/>
        <p:nvPr/>
      </p:nvGrpSpPr>
      <p:grpSpPr>
        <a:xfrm>
          <a:off x="0" y="0"/>
          <a:ext cx="0" cy="0"/>
          <a:chOff x="0" y="0"/>
          <a:chExt cx="0" cy="0"/>
        </a:xfrm>
      </p:grpSpPr>
      <p:sp>
        <p:nvSpPr>
          <p:cNvPr id="906" name="Google Shape;906;p5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7.1, slide 35 | REVEAL</a:t>
            </a:r>
          </a:p>
          <a:p xmlns:a="http://schemas.openxmlformats.org/drawingml/2006/main">
            <a:pPr>
              <a:buNone/>
            </a:pPr>
            <a:r>
              <a:rPr lang="en-US" sz="1100"/>
              <a:t>Focus on the existing task: The temperature in Toronto, 9°C, is 9 units away from zero. Reveal: They are opposites because they are the same distance away from…</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locate opposites equally far from zero. Ask which feature of their work supports the claim.</a:t>
            </a:r>
          </a:p>
          <a:p xmlns:a="http://schemas.openxmlformats.org/drawingml/2006/main">
            <a:pPr>
              <a:buNone/>
            </a:pPr>
            <a:r>
              <a:rPr lang="en-US" sz="1100"/>
              <a:t>RESPOND: If this task shows the lesson misconception—treating zero as positive or confusing an opposite with an absolute value—label the reference point and directions on the existing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They are opposites because they are the same distance away from zero on the number line.</a:t>
            </a:r>
          </a:p>
          <a:p>
            <a:pPr indent="0" lvl="0" marL="0" rtl="0" algn="l">
              <a:lnSpc>
                <a:spcPct val="100000"/>
              </a:lnSpc>
              <a:spcBef>
                <a:spcPts val="0"/>
              </a:spcBef>
              <a:spcAft>
                <a:spcPts val="0"/>
              </a:spcAft>
              <a:buSzPts val="1400"/>
              <a:buNone/>
            </a:pPr>
            <a:r>
              <a:t>UIFR: TEACH 3 · TEACH 4.</a:t>
            </a:r>
          </a:p>
        </p:txBody>
      </p:sp>
      <p:sp>
        <p:nvSpPr>
          <p:cNvPr id="907" name="Google Shape;907;p5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6" name="Shape 916"/>
        <p:cNvGrpSpPr/>
        <p:nvPr/>
      </p:nvGrpSpPr>
      <p:grpSpPr>
        <a:xfrm>
          <a:off x="0" y="0"/>
          <a:ext cx="0" cy="0"/>
          <a:chOff x="0" y="0"/>
          <a:chExt cx="0" cy="0"/>
        </a:xfrm>
      </p:grpSpPr>
      <p:sp>
        <p:nvSpPr>
          <p:cNvPr id="917" name="Google Shape;917;p5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7.1, slide 36 | TASK</a:t>
            </a:r>
          </a:p>
          <a:p xmlns:a="http://schemas.openxmlformats.org/drawingml/2006/main">
            <a:pPr>
              <a:buNone/>
            </a:pPr>
            <a:r>
              <a:rPr lang="en-US" sz="1100"/>
              <a:t>Focus on the existing task: Brian lives in Toronto, Canada and his cousin lives in Reykjavik, Iceland. One day in January, the temperature in Toronto was 9°C and the…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locate opposites equally far from zero. Ask which feature of their work supports the claim.</a:t>
            </a:r>
          </a:p>
          <a:p xmlns:a="http://schemas.openxmlformats.org/drawingml/2006/main">
            <a:pPr>
              <a:buNone/>
            </a:pPr>
            <a:r>
              <a:rPr lang="en-US" sz="1100"/>
              <a:t>RESPOND: If this task shows the lesson misconception—treating zero as positive or confusing an opposite with an absolute value—label the reference point and directions on the existing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Read the context aloud (or have a student read it).</a:t>
            </a:r>
          </a:p>
          <a:p>
            <a:pPr indent="0" lvl="0" marL="0" rtl="0" algn="l">
              <a:lnSpc>
                <a:spcPct val="100000"/>
              </a:lnSpc>
              <a:spcBef>
                <a:spcPts val="0"/>
              </a:spcBef>
              <a:spcAft>
                <a:spcPts val="0"/>
              </a:spcAft>
              <a:buSzPts val="1400"/>
              <a:buNone/>
            </a:pPr>
            <a:r>
              <a:t>Before any math, students restate the situation and what is being asked in their own words.</a:t>
            </a:r>
          </a:p>
          <a:p>
            <a:pPr indent="0" lvl="0" marL="0" rtl="0" algn="l">
              <a:lnSpc>
                <a:spcPct val="100000"/>
              </a:lnSpc>
              <a:spcBef>
                <a:spcPts val="0"/>
              </a:spcBef>
              <a:spcAft>
                <a:spcPts val="0"/>
              </a:spcAft>
              <a:buSzPts val="1400"/>
              <a:buNone/>
            </a:pPr>
            <a:r>
              <a:t>Ask: How do the two temperatures relate?</a:t>
            </a:r>
          </a:p>
          <a:p>
            <a:pPr indent="0" lvl="0" marL="0" rtl="0" algn="l">
              <a:lnSpc>
                <a:spcPct val="100000"/>
              </a:lnSpc>
              <a:spcBef>
                <a:spcPts val="0"/>
              </a:spcBef>
              <a:spcAft>
                <a:spcPts val="0"/>
              </a:spcAft>
              <a:buSzPts val="1400"/>
              <a:buNone/>
            </a:pPr>
            <a:r>
              <a:t>UIFR: TEACH 1 · TEACH 3.</a:t>
            </a:r>
          </a:p>
        </p:txBody>
      </p:sp>
      <p:sp>
        <p:nvSpPr>
          <p:cNvPr id="918" name="Google Shape;918;p5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p5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7.1, slide 37 | PRACTICE</a:t>
            </a:r>
          </a:p>
          <a:p xmlns:a="http://schemas.openxmlformats.org/drawingml/2006/main">
            <a:pPr>
              <a:buNone/>
            </a:pPr>
            <a:r>
              <a:rPr lang="en-US" sz="1100"/>
              <a:t>Focus on the existing task: Let’s Explore More What is the opposite of 0?</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interpret positive, negative and zero in context. Ask which feature of their work supports the claim.</a:t>
            </a:r>
          </a:p>
          <a:p xmlns:a="http://schemas.openxmlformats.org/drawingml/2006/main">
            <a:pPr>
              <a:buNone/>
            </a:pPr>
            <a:r>
              <a:rPr lang="en-US" sz="1100"/>
              <a:t>RESPOND: If this task shows the lesson misconception—treating zero as positive or confusing an opposite with an absolute value—label the reference point and directions on the existing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Extension for partners or table groups — students choose their approach and use the workspace to show thinking.</a:t>
            </a:r>
          </a:p>
          <a:p>
            <a:pPr indent="0" lvl="0" marL="0" rtl="0" algn="l">
              <a:lnSpc>
                <a:spcPct val="100000"/>
              </a:lnSpc>
              <a:spcBef>
                <a:spcPts val="0"/>
              </a:spcBef>
              <a:spcAft>
                <a:spcPts val="0"/>
              </a:spcAft>
              <a:buSzPts val="1400"/>
              <a:buNone/>
            </a:pPr>
            <a:r>
              <a:t>Push with “Convince me,” and have two groups with different approaches share.</a:t>
            </a:r>
          </a:p>
          <a:p>
            <a:pPr indent="0" lvl="0" marL="0" rtl="0" algn="l">
              <a:lnSpc>
                <a:spcPct val="100000"/>
              </a:lnSpc>
              <a:spcBef>
                <a:spcPts val="0"/>
              </a:spcBef>
              <a:spcAft>
                <a:spcPts val="0"/>
              </a:spcAft>
              <a:buSzPts val="1400"/>
              <a:buNone/>
            </a:pPr>
            <a:r>
              <a:t>This is where students stretch past the worked example.</a:t>
            </a:r>
          </a:p>
          <a:p>
            <a:pPr indent="0" lvl="0" marL="0" rtl="0" algn="l">
              <a:lnSpc>
                <a:spcPct val="100000"/>
              </a:lnSpc>
              <a:spcBef>
                <a:spcPts val="0"/>
              </a:spcBef>
              <a:spcAft>
                <a:spcPts val="0"/>
              </a:spcAft>
              <a:buSzPts val="1400"/>
              <a:buNone/>
            </a:pPr>
            <a:r>
              <a:t>UIFR: TEACH 2 · TEACH 5.</a:t>
            </a:r>
          </a:p>
        </p:txBody>
      </p:sp>
      <p:sp>
        <p:nvSpPr>
          <p:cNvPr id="930" name="Google Shape;930;p5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0" name="Shape 940"/>
        <p:cNvGrpSpPr/>
        <p:nvPr/>
      </p:nvGrpSpPr>
      <p:grpSpPr>
        <a:xfrm>
          <a:off x="0" y="0"/>
          <a:ext cx="0" cy="0"/>
          <a:chOff x="0" y="0"/>
          <a:chExt cx="0" cy="0"/>
        </a:xfrm>
      </p:grpSpPr>
      <p:sp>
        <p:nvSpPr>
          <p:cNvPr id="941" name="Google Shape;941;p53: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7.1, slide 40 | SUMMARIZE</a:t>
            </a:r>
          </a:p>
          <a:p xmlns:a="http://schemas.openxmlformats.org/drawingml/2006/main">
            <a:pPr>
              <a:buNone/>
            </a:pPr>
            <a:r>
              <a:rPr lang="en-US" sz="1100"/>
              <a:t>Focus on the existing task: Summarize: Integers A negative integer is an integer less than zero and is written with a − sign. Integers include the counting numbers…</a:t>
            </a:r>
          </a:p>
          <a:p xmlns:a="http://schemas.openxmlformats.org/drawingml/2006/main">
            <a:pPr>
              <a:buNone/>
            </a:pPr>
            <a:r>
              <a:rPr lang="en-US" sz="1100"/>
              <a:t>CONNECT (T1/4): Ask students to restate the displayed goal or key idea and connect it to earlier work. Relevant lesson evidence: interpret positive, negative and zero in context; locate opposites equally far from zero.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SUMMARIZE  ·  SAY IT IN YOUR OWN WORDS</a:t>
            </a:r>
          </a:p>
        </p:txBody>
      </p:sp>
      <p:sp>
        <p:nvSpPr>
          <p:cNvPr id="942" name="Google Shape;942;p5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0" name="Shape 950"/>
        <p:cNvGrpSpPr/>
        <p:nvPr/>
      </p:nvGrpSpPr>
      <p:grpSpPr>
        <a:xfrm>
          <a:off x="0" y="0"/>
          <a:ext cx="0" cy="0"/>
          <a:chOff x="0" y="0"/>
          <a:chExt cx="0" cy="0"/>
        </a:xfrm>
      </p:grpSpPr>
      <p:sp>
        <p:nvSpPr>
          <p:cNvPr id="951" name="Google Shape;951;p54: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7.1, slide 41 | APPLY</a:t>
            </a:r>
          </a:p>
          <a:p xmlns:a="http://schemas.openxmlformats.org/drawingml/2006/main">
            <a:pPr>
              <a:buNone/>
            </a:pPr>
            <a:r>
              <a:rPr lang="en-US" sz="1100"/>
              <a:t>Focus on the existing task: How far are they from the line of scrimmage?</a:t>
            </a:r>
          </a:p>
          <a:p xmlns:a="http://schemas.openxmlformats.org/drawingml/2006/main">
            <a:pPr>
              <a:buNone/>
            </a:pPr>
            <a:r>
              <a:rPr lang="en-US" sz="1100"/>
              <a:t>LAUNCH (T2/3/5): Use the exact application task independently first. Ask students to justify their choice of method. Collect evidence before a partner discussion or correction.</a:t>
            </a:r>
          </a:p>
          <a:p xmlns:a="http://schemas.openxmlformats.org/drawingml/2006/main">
            <a:pPr>
              <a:buNone/>
            </a:pPr>
            <a:r>
              <a:rPr lang="en-US" sz="1100"/>
              <a:t>LOOK FOR (T4): Where this task addresses it, students can locate opposites equally far from zero. Ask which feature of their work supports the claim.</a:t>
            </a:r>
          </a:p>
          <a:p xmlns:a="http://schemas.openxmlformats.org/drawingml/2006/main">
            <a:pPr>
              <a:buNone/>
            </a:pPr>
            <a:r>
              <a:rPr lang="en-US" sz="1100"/>
              <a:t>RESPOND: If this task shows the lesson misconception—treating zero as positive or confusing an opposite with an absolute value—label the reference point and directions on the existing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APPLY  ·  PLAN IT • SOLVE IT • PROVE IT</a:t>
            </a:r>
          </a:p>
          <a:p>
            <a:pPr>
              <a:buNone/>
            </a:pPr>
            <a:r>
              <a:rPr lang="en-US" sz="1100"/>
              <a:t/>
            </a:r>
          </a:p>
          <a:p>
            <a:pPr>
              <a:buNone/>
            </a:pPr>
            <a:r>
              <a:rPr lang="en-US" sz="1100"/>
              <a:t>UIFR FULL | Lesson-specific facilitation</a:t>
            </a:r>
          </a:p>
          <a:p>
            <a:pPr>
              <a:buNone/>
            </a:pPr>
            <a:r>
              <a:rPr lang="en-US" sz="1100"/>
              <a:t>TEACH 4 | Independent evidence and revision (UIFR PDF p. 11).</a:t>
            </a:r>
          </a:p>
          <a:p>
            <a:pPr>
              <a:buNone/>
            </a:pPr>
            <a:r>
              <a:rPr lang="en-US" sz="1100"/>
              <a:t>Use the existing application/exit problem as the independent check. If this is a learning-target slide, have students point to and explain their work on the preceding task. Separate initial independent evidence from the revision after feedback.</a:t>
            </a:r>
          </a:p>
          <a:p>
            <a:pPr>
              <a:buNone/>
            </a:pPr>
            <a:r>
              <a:rPr lang="en-US" sz="1100"/>
              <a:t>Check the relevant criteria: interpret positive, negative and zero in context; locate opposites equally far from zero. Respond with one specific next step tied to the work. Students revise and annotate what changed, then identify a criterion they can now demonstrate and one they still need to practice.</a:t>
            </a:r>
          </a:p>
        </p:txBody>
      </p:sp>
      <p:sp>
        <p:nvSpPr>
          <p:cNvPr id="952" name="Google Shape;952;p5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9" name="Shape 959"/>
        <p:cNvGrpSpPr/>
        <p:nvPr/>
      </p:nvGrpSpPr>
      <p:grpSpPr>
        <a:xfrm>
          <a:off x="0" y="0"/>
          <a:ext cx="0" cy="0"/>
          <a:chOff x="0" y="0"/>
          <a:chExt cx="0" cy="0"/>
        </a:xfrm>
      </p:grpSpPr>
      <p:sp>
        <p:nvSpPr>
          <p:cNvPr id="960" name="Google Shape;960;p55: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7.1, slide 42 | REFLECTION</a:t>
            </a:r>
          </a:p>
          <a:p xmlns:a="http://schemas.openxmlformats.org/drawingml/2006/main">
            <a:pPr>
              <a:buNone/>
            </a:pPr>
            <a:r>
              <a:rPr lang="en-US" sz="1100"/>
              <a:t>Focus on the existing task: Learning Targets I can use integers to represent quantities in everyday life and explain the meaning of zero within each real-world context.</a:t>
            </a:r>
          </a:p>
          <a:p xmlns:a="http://schemas.openxmlformats.org/drawingml/2006/main">
            <a:pPr>
              <a:buNone/>
            </a:pPr>
            <a:r>
              <a:rPr lang="en-US" sz="1100"/>
              <a:t>CONNECT (T1/4): Ask students to restate the displayed goal or key idea and connect it to earlier work. Relevant lesson evidence: interpret positive, negative and zero in context; locate opposites equally far from zero.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Read each target; students self-rate with fist-to-five or thumbs.</a:t>
            </a:r>
          </a:p>
          <a:p>
            <a:pPr indent="0" lvl="0" marL="0" rtl="0" algn="l">
              <a:lnSpc>
                <a:spcPct val="100000"/>
              </a:lnSpc>
              <a:spcBef>
                <a:spcPts val="0"/>
              </a:spcBef>
              <a:spcAft>
                <a:spcPts val="0"/>
              </a:spcAft>
              <a:buSzPts val="1400"/>
              <a:buNone/>
            </a:pPr>
            <a:r>
              <a:t>Tie back to the goal from the start of class: did we get there?</a:t>
            </a:r>
          </a:p>
          <a:p>
            <a:pPr indent="0" lvl="0" marL="0" rtl="0" algn="l">
              <a:lnSpc>
                <a:spcPct val="100000"/>
              </a:lnSpc>
              <a:spcBef>
                <a:spcPts val="0"/>
              </a:spcBef>
              <a:spcAft>
                <a:spcPts val="0"/>
              </a:spcAft>
              <a:buSzPts val="1400"/>
              <a:buNone/>
            </a:pPr>
            <a:r>
              <a:t>Note any target that rates low — revisit it tomorrow.</a:t>
            </a:r>
          </a:p>
          <a:p>
            <a:pPr indent="0" lvl="0" marL="0" rtl="0" algn="l">
              <a:lnSpc>
                <a:spcPct val="100000"/>
              </a:lnSpc>
              <a:spcBef>
                <a:spcPts val="0"/>
              </a:spcBef>
              <a:spcAft>
                <a:spcPts val="0"/>
              </a:spcAft>
              <a:buSzPts val="1400"/>
              <a:buNone/>
            </a:pPr>
            <a:r>
              <a:t>UIFR: TEACH 1 · TEACH 4.</a:t>
            </a:r>
          </a:p>
        </p:txBody>
      </p:sp>
      <p:sp>
        <p:nvSpPr>
          <p:cNvPr id="961" name="Google Shape;961;p5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7.1, slide 29 | WARMUP</a:t>
            </a:r>
          </a:p>
          <a:p xmlns:a="http://schemas.openxmlformats.org/drawingml/2006/main">
            <a:pPr>
              <a:buNone/>
            </a:pPr>
            <a:r>
              <a:rPr lang="en-US" sz="1100"/>
              <a:t>Focus on the existing task: Session 2 Warm-Up Session 2 Warm-Up Check what you remember from Session 1 · about 4 minutes 1 What is the opposite of −8?</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Warm-up routine: students start silently on entry; keep it to about 4 minutes.</a:t>
            </a:r>
          </a:p>
          <a:p>
            <a:r>
              <a:t>Circulate and note who is stuck — use what you see to choose who you check on first today.</a:t>
            </a:r>
          </a:p>
          <a:p>
            <a:r>
              <a:t>Go over answers quickly; ask one student to explain a step, not just say the answer.</a:t>
            </a:r>
          </a:p>
          <a:p>
            <a:r>
              <a:t>UIFR: TEACH 4 · TEACH 6.</a:t>
            </a:r>
          </a:p>
          <a:p>
            <a:pPr>
              <a:buNone/>
            </a:pPr>
            <a:r>
              <a:rPr lang="en-US" sz="1100"/>
              <a:t/>
            </a:r>
          </a:p>
          <a:p>
            <a:pPr>
              <a:buNone/>
            </a:pPr>
            <a:r>
              <a:rPr lang="en-US" sz="1100"/>
              <a:t>UIFR FULL | Lesson-specific facilitation</a:t>
            </a:r>
          </a:p>
          <a:p>
            <a:pPr>
              <a:buNone/>
            </a:pPr>
            <a:r>
              <a:rPr lang="en-US" sz="1100"/>
              <a:t>TEACH 1 | Session 2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interpret positive, negative and zero in context; locate opposites equally far from zero. Ask: “Which part of your work would show this?” Revisit that evidence after the task; a confidence rating alone is not evidence of understanding.</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7.1, slide 30 | NOTES</a:t>
            </a:r>
          </a:p>
          <a:p xmlns:a="http://schemas.openxmlformats.org/drawingml/2006/main">
            <a:pPr>
              <a:buNone/>
            </a:pPr>
            <a:r>
              <a:rPr lang="en-US" sz="1100"/>
              <a:t>Focus on the existing task: Today’s Math Notes Review Notes — Session 2 Copy into…</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Copy routine: read one line at a time; students copy, then explain that line to a partner.</a:t>
            </a:r>
          </a:p>
          <a:p>
            <a:r>
              <a:t>Keep it brisk — the understanding work happens in the examples, not the copying.</a:t>
            </a:r>
          </a:p>
          <a:p>
            <a:r>
              <a:t>UIFR: TEACH 1 · TEACH 6.</a:t>
            </a:r>
          </a:p>
        </p:txBody>
      </p:sp>
    </p:spTree>
  </p:cSld>
  <p:clrMapOvr>
    <a:masterClrMapping/>
  </p:clrMapOvr>
</p:notes>
</file>

<file path=ppt/notesSlides/notesSlide58.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7.1, slide 44 | REFLECTION</a:t>
            </a:r>
          </a:p>
          <a:p xmlns:a="http://schemas.openxmlformats.org/drawingml/2006/main">
            <a:pPr>
              <a:buNone/>
            </a:pPr>
            <a:r>
              <a:rPr lang="en-US" sz="1100"/>
              <a:t>Focus on the existing task: Learning Targets I can use integers to represent quantities in everyday life and explain the meaning of zero within each real-world context.</a:t>
            </a:r>
          </a:p>
          <a:p xmlns:a="http://schemas.openxmlformats.org/drawingml/2006/main">
            <a:pPr>
              <a:buNone/>
            </a:pPr>
            <a:r>
              <a:rPr lang="en-US" sz="1100"/>
              <a:t>CONNECT (T1/4): Ask students to restate the displayed goal or key idea and connect it to earlier work. Relevant lesson evidence: interpret positive, negative and zero in context; locate opposites equally far from zero.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
            <a:pPr>
              <a:buNone/>
            </a:pPr>
            <a:r>
              <a:rPr lang="en-US" sz="1100"/>
              <a:t/>
            </a:r>
          </a:p>
          <a:p>
            <a:pPr>
              <a:buNone/>
            </a:pPr>
            <a:r>
              <a:rPr lang="en-US" sz="1100"/>
              <a:t>UIFR FULL | Lesson-specific facilitation</a:t>
            </a:r>
          </a:p>
          <a:p>
            <a:pPr>
              <a:buNone/>
            </a:pPr>
            <a:r>
              <a:rPr lang="en-US" sz="1100"/>
              <a:t>REFLECT &amp; ADJUST 1-2 | After the lesson (UIFR PDF pp. 15-16).</a:t>
            </a:r>
          </a:p>
          <a:p>
            <a:pPr>
              <a:buNone/>
            </a:pPr>
            <a:r>
              <a:rPr lang="en-US" sz="1100"/>
              <a:t>Sort the existing work by demonstrated reasoning, partial understanding, and the specific misconception: treating zero as positive or confusing an opposite with an absolute value. Compare the initial response with the revision. Record which teaching move plausibly helped, which did not, and whose participation or access needs a different approach; do not record sensitive student details in this shared deck.</a:t>
            </a:r>
          </a:p>
          <a:p>
            <a:pPr>
              <a:buNone/>
            </a:pPr>
            <a:r>
              <a:rPr lang="en-US" sz="1100"/>
              <a:t>Plan the next lesson from that evidence: if the misconception persists, label the reference point and directions on the existing number line using the current example before returning to the next grade-level task; if understanding is secure, use an existing extension or ask for a general explanation. Check the targeted idea again at the next warm-up.</a:t>
            </a:r>
          </a:p>
          <a:p>
            <a:pPr>
              <a:buNone/>
            </a:pPr>
            <a:r>
              <a:rPr lang="en-US" sz="1100"/>
              <a:t>Ask students what supported their thinking and what would help next time. Identify one change to try and one successful practice to retain. Seek colleague feedback on anonymized work when useful; these prompts support reflection and do not establish an evaluation rating. Source: Baltimore City Public Schools, Updated Instructional Framework Rubric, June 2020 (UIFR_Full.pdf).</a:t>
            </a:r>
          </a:p>
        </p:txBody>
      </p:sp>
    </p:spTree>
  </p:cSld>
  <p:clrMapOvr>
    <a:masterClrMapping/>
  </p:clrMapOvr>
</p:notes>
</file>

<file path=ppt/notesSlides/notesSlide59.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7.1, slide 7 | PRIOR_INSERT</a:t>
            </a:r>
          </a:p>
          <a:p xmlns:a="http://schemas.openxmlformats.org/drawingml/2006/main">
            <a:pPr>
              <a:buNone/>
            </a:pPr>
            <a:r>
              <a:rPr lang="en-US" sz="1100"/>
              <a:t>Focus on the existing task: LESSON 7.1 / OUR LEARNING What will show your learning?</a:t>
            </a:r>
          </a:p>
          <a:p xmlns:a="http://schemas.openxmlformats.org/drawingml/2006/main">
            <a:pPr>
              <a:buNone/>
            </a:pPr>
            <a:r>
              <a:rPr lang="en-US" sz="1100"/>
              <a:t>CONNECT (T1/4): Ask students to restate the displayed goal or key idea and connect it to earlier work. Relevant lesson evidence: interpret positive, negative and zero in context; locate opposites equally far from zero.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0.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7.1, slide 8 | VOCAB</a:t>
            </a:r>
          </a:p>
          <a:p xmlns:a="http://schemas.openxmlformats.org/drawingml/2006/main">
            <a:pPr>
              <a:buNone/>
            </a:pPr>
            <a:r>
              <a:rPr lang="en-US" sz="1100"/>
              <a:t>Focus on the existing task: Vocabulary 1 of 5 Integer The counting numbers, their…</a:t>
            </a:r>
          </a:p>
          <a:p xmlns:a="http://schemas.openxmlformats.org/drawingml/2006/main">
            <a:pPr>
              <a:buNone/>
            </a:pPr>
            <a:r>
              <a:rPr lang="en-US" sz="1100"/>
              <a:t>ASK (T1/3/5): Where does “Integer”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1.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7.1, slide 9 | VOCAB</a:t>
            </a:r>
          </a:p>
          <a:p xmlns:a="http://schemas.openxmlformats.org/drawingml/2006/main">
            <a:pPr>
              <a:buNone/>
            </a:pPr>
            <a:r>
              <a:rPr lang="en-US" sz="1100"/>
              <a:t>Focus on the existing task: Vocabulary 2 of 5 Opposite A number that is the same…</a:t>
            </a:r>
          </a:p>
          <a:p xmlns:a="http://schemas.openxmlformats.org/drawingml/2006/main">
            <a:pPr>
              <a:buNone/>
            </a:pPr>
            <a:r>
              <a:rPr lang="en-US" sz="1100"/>
              <a:t>ASK (T1/3/5): Where does “Opposite”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7.1, slide 10 | VOCAB</a:t>
            </a:r>
          </a:p>
          <a:p xmlns:a="http://schemas.openxmlformats.org/drawingml/2006/main">
            <a:pPr>
              <a:buNone/>
            </a:pPr>
            <a:r>
              <a:rPr lang="en-US" sz="1100"/>
              <a:t>Focus on the existing task: Vocabulary 3 of 5 Negative number A number less than…</a:t>
            </a:r>
          </a:p>
          <a:p xmlns:a="http://schemas.openxmlformats.org/drawingml/2006/main">
            <a:pPr>
              <a:buNone/>
            </a:pPr>
            <a:r>
              <a:rPr lang="en-US" sz="1100"/>
              <a:t>ASK (T1/3/5): Where does “Negative number”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3.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7.1, slide 11 | VOCAB</a:t>
            </a:r>
          </a:p>
          <a:p xmlns:a="http://schemas.openxmlformats.org/drawingml/2006/main">
            <a:pPr>
              <a:buNone/>
            </a:pPr>
            <a:r>
              <a:rPr lang="en-US" sz="1100"/>
              <a:t>Focus on the existing task: Vocabulary 4 of 5 Positive number A number greater…</a:t>
            </a:r>
          </a:p>
          <a:p xmlns:a="http://schemas.openxmlformats.org/drawingml/2006/main">
            <a:pPr>
              <a:buNone/>
            </a:pPr>
            <a:r>
              <a:rPr lang="en-US" sz="1100"/>
              <a:t>ASK (T1/3/5): Where does “Positive number”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4.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7.1, slide 12 | VOCAB</a:t>
            </a:r>
          </a:p>
          <a:p xmlns:a="http://schemas.openxmlformats.org/drawingml/2006/main">
            <a:pPr>
              <a:buNone/>
            </a:pPr>
            <a:r>
              <a:rPr lang="en-US" sz="1100"/>
              <a:t>Focus on the existing task: Vocabulary 5 of 5 Number line A straight line where…</a:t>
            </a:r>
          </a:p>
          <a:p xmlns:a="http://schemas.openxmlformats.org/drawingml/2006/main">
            <a:pPr>
              <a:buNone/>
            </a:pPr>
            <a:r>
              <a:rPr lang="en-US" sz="1100"/>
              <a:t>ASK (T1/3/5): Where does “Number line”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5.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7.1, slide 25 | PRIOR_INSERT</a:t>
            </a:r>
          </a:p>
          <a:p xmlns:a="http://schemas.openxmlformats.org/drawingml/2006/main">
            <a:pPr>
              <a:buNone/>
            </a:pPr>
            <a:r>
              <a:rPr lang="en-US" sz="1100"/>
              <a:t>Focus on the existing task: Point to evidence in your work. Then compare your approach with a partner’s. TAKE TURNS Explain “I know this because…” Ask “Where does your work show that?</a:t>
            </a:r>
          </a:p>
          <a:p xmlns:a="http://schemas.openxmlformats.org/drawingml/2006/main">
            <a:pPr>
              <a:buNone/>
            </a:pPr>
            <a:r>
              <a:rPr lang="en-US" sz="1100"/>
              <a:t>CONNECT (T1/4): Ask students to restate the displayed goal or key idea and connect it to earlier work. Relevant lesson evidence: interpret positive, negative and zero in context; locate opposites equally far from zero.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6.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7.1, slide 26 | REVEAL</a:t>
            </a:r>
          </a:p>
          <a:p xmlns:a="http://schemas.openxmlformats.org/drawingml/2006/main">
            <a:pPr>
              <a:buNone/>
            </a:pPr>
            <a:r>
              <a:rPr lang="en-US" sz="1100"/>
              <a:t>Focus on the existing task: The elevation of Badwater Basin is −86 (negative 86) meters. What other tool can you use to represent numbers?</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interpret positive, negative and zero in context. Ask which feature of their work supports the claim.</a:t>
            </a:r>
          </a:p>
          <a:p xmlns:a="http://schemas.openxmlformats.org/drawingml/2006/main">
            <a:pPr>
              <a:buNone/>
            </a:pPr>
            <a:r>
              <a:rPr lang="en-US" sz="1100"/>
              <a:t>RESPOND: If this task shows the lesson misconception—treating zero as positive or confusing an opposite with an absolute value—label the reference point and directions on the existing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7.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7.1, slide 27 | REVEAL</a:t>
            </a:r>
          </a:p>
          <a:p xmlns:a="http://schemas.openxmlformats.org/drawingml/2006/main">
            <a:pPr>
              <a:buNone/>
            </a:pPr>
            <a:r>
              <a:rPr lang="en-US" sz="1100"/>
              <a:t>Focus on the existing task: −86 is the opposite of 86. What do you notice about the two opposite numbers?</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locate opposites equally far from zero. Ask which feature of their work supports the claim.</a:t>
            </a:r>
          </a:p>
          <a:p xmlns:a="http://schemas.openxmlformats.org/drawingml/2006/main">
            <a:pPr>
              <a:buNone/>
            </a:pPr>
            <a:r>
              <a:rPr lang="en-US" sz="1100"/>
              <a:t>RESPOND: If this task shows the lesson misconception—treating zero as positive or confusing an opposite with an absolute value—label the reference point and directions on the existing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8.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7.1, slide 28 | COLLABORATE</a:t>
            </a:r>
          </a:p>
          <a:p xmlns:a="http://schemas.openxmlformats.org/drawingml/2006/main">
            <a:pPr>
              <a:buNone/>
            </a:pPr>
            <a:r>
              <a:rPr lang="en-US" sz="1100"/>
              <a:t>Focus on the existing task: Collaborate and Connect Reveal: Some integers we can write are 2, 5, −9, −14, and 230. −86 is the opposite of 86. Counting numbers…</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locate opposites equally far from zero. Ask which feature of their work supports the claim.</a:t>
            </a:r>
          </a:p>
          <a:p xmlns:a="http://schemas.openxmlformats.org/drawingml/2006/main">
            <a:pPr>
              <a:buNone/>
            </a:pPr>
            <a:r>
              <a:rPr lang="en-US" sz="1100"/>
              <a:t>RESPOND: If this task shows the lesson misconception—treating zero as positive or confusing an opposite with an absolute value—label the reference point and directions on the existing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9.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7.1, slide 38 | PRIOR_INSERT</a:t>
            </a:r>
          </a:p>
          <a:p xmlns:a="http://schemas.openxmlformats.org/drawingml/2006/main">
            <a:pPr>
              <a:buNone/>
            </a:pPr>
            <a:r>
              <a:rPr lang="en-US" sz="1100"/>
              <a:t>Focus on the existing task: LESSON 7.1 / CHECK YOUR WORK Pause. Check. Improve. Listen to understand. Ask for evidence. Make room for every voice. CHECK A mistake…</a:t>
            </a:r>
          </a:p>
          <a:p xmlns:a="http://schemas.openxmlformats.org/drawingml/2006/main">
            <a:pPr>
              <a:buNone/>
            </a:pPr>
            <a:r>
              <a:rPr lang="en-US" sz="1100"/>
              <a:t>CONNECT (T1/4): Ask students to restate the displayed goal or key idea and connect it to earlier work. Relevant lesson evidence: interpret positive, negative and zero in context; locate opposites equally far from zero.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0.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7.1, slide 39 | REVEAL</a:t>
            </a:r>
          </a:p>
          <a:p xmlns:a="http://schemas.openxmlformats.org/drawingml/2006/main">
            <a:pPr>
              <a:buNone/>
            </a:pPr>
            <a:r>
              <a:rPr lang="en-US" sz="1100"/>
              <a:t>Focus on the existing task: The temperature in Toronto, 9°C, is 9 units away from zero. Reveal: They are opposites because they are the same distance away from…</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locate opposites equally far from zero. Ask which feature of their work supports the claim.</a:t>
            </a:r>
          </a:p>
          <a:p xmlns:a="http://schemas.openxmlformats.org/drawingml/2006/main">
            <a:pPr>
              <a:buNone/>
            </a:pPr>
            <a:r>
              <a:rPr lang="en-US" sz="1100"/>
              <a:t>RESPOND: If this task shows the lesson misconception—treating zero as positive or confusing an opposite with an absolute value—label the reference point and directions on the existing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1.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7.1, slide 43 | CURIOUS</a:t>
            </a:r>
          </a:p>
          <a:p xmlns:a="http://schemas.openxmlformats.org/drawingml/2006/main">
            <a:pPr>
              <a:buNone/>
            </a:pPr>
            <a:r>
              <a:rPr lang="en-US" sz="1100"/>
              <a:t>Focus on the existing task: Be Curious Be Curious Mindset How have you given positive feedback to your classmates?</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interpret positive, negative and zero in context. Ask which feature of their work supports the claim.</a:t>
            </a:r>
          </a:p>
          <a:p xmlns:a="http://schemas.openxmlformats.org/drawingml/2006/main">
            <a:pPr>
              <a:buNone/>
            </a:pPr>
            <a:r>
              <a:rPr lang="en-US" sz="1100"/>
              <a:t>RESPOND: If this task shows the lesson misconception—treating zero as positive or confusing an opposite with an absolute value—label the reference point and directions on the existing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7.1, slide 45 | PRIOR_INSERT</a:t>
            </a:r>
          </a:p>
          <a:p xmlns:a="http://schemas.openxmlformats.org/drawingml/2006/main">
            <a:pPr>
              <a:buNone/>
            </a:pPr>
            <a:r>
              <a:rPr lang="en-US" sz="1100"/>
              <a:t>Focus on the existing task: LESSON 7.1 / REFLECT ON YOUR LEARNING Show your progress Listen to understand. Ask for evidence. Make room for every voice. 1 SHOW…</a:t>
            </a:r>
          </a:p>
          <a:p xmlns:a="http://schemas.openxmlformats.org/drawingml/2006/main">
            <a:pPr>
              <a:buNone/>
            </a:pPr>
            <a:r>
              <a:rPr lang="en-US" sz="1100"/>
              <a:t>CONNECT (T1/4): Ask students to restate the displayed goal or key idea and connect it to earlier work. Relevant lesson evidence: interpret positive, negative and zero in context; locate opposites equally far from zero.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hoto">
  <p:cSld name="2_Title Slide Photo">
    <p:spTree>
      <p:nvGrpSpPr>
        <p:cNvPr id="15" name="Shape 15"/>
        <p:cNvGrpSpPr/>
        <p:nvPr/>
      </p:nvGrpSpPr>
      <p:grpSpPr>
        <a:xfrm>
          <a:off x="0" y="0"/>
          <a:ext cx="0" cy="0"/>
          <a:chOff x="0" y="0"/>
          <a:chExt cx="0" cy="0"/>
        </a:xfrm>
      </p:grpSpPr>
    </p:spTree>
  </p:cSld>
  <p:clrMapOvr>
    <a:masterClrMapping/>
  </p:clrMapOvr>
  <p:extLst>
    <p:ext uri="{DCECCB84-F9BA-43D5-87BE-67443E8EF086}">
      <p15:sldGuideLst>
        <p15:guide id="1" orient="horz" pos="9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column">
  <p:cSld name="Content 1-column">
    <p:spTree>
      <p:nvGrpSpPr>
        <p:cNvPr id="16" name="Shape 16"/>
        <p:cNvGrpSpPr/>
        <p:nvPr/>
      </p:nvGrpSpPr>
      <p:grpSpPr>
        <a:xfrm>
          <a:off x="0" y="0"/>
          <a:ext cx="0" cy="0"/>
          <a:chOff x="0" y="0"/>
          <a:chExt cx="0" cy="0"/>
        </a:xfrm>
      </p:grpSpPr>
      <p:sp>
        <p:nvSpPr>
          <p:cNvPr id="17" name="Google Shape;17;p3"/>
          <p:cNvSpPr txBox="1"/>
          <p:nvPr>
            <p:ph idx="12" type="sldNum"/>
          </p:nvPr>
        </p:nvSpPr>
        <p:spPr>
          <a:xfrm>
            <a:off x="10436045" y="6528815"/>
            <a:ext cx="1278151" cy="2286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8" name="Google Shape;18;p3"/>
          <p:cNvSpPr txBox="1"/>
          <p:nvPr/>
        </p:nvSpPr>
        <p:spPr>
          <a:xfrm>
            <a:off x="490549" y="6528816"/>
            <a:ext cx="2072640" cy="228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19" name="Google Shape;19;p3"/>
          <p:cNvSpPr txBox="1"/>
          <p:nvPr>
            <p:ph idx="11" type="ftr"/>
          </p:nvPr>
        </p:nvSpPr>
        <p:spPr>
          <a:xfrm>
            <a:off x="1402828" y="6528816"/>
            <a:ext cx="7315200" cy="2286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orient="horz" pos="3772">
          <p15:clr>
            <a:srgbClr val="FBAE40"/>
          </p15:clr>
        </p15:guide>
        <p15:guide id="2" orient="horz" pos="804">
          <p15:clr>
            <a:srgbClr val="FBAE40"/>
          </p15:clr>
        </p15:guide>
        <p15:guide id="3" pos="384">
          <p15:clr>
            <a:srgbClr val="FBAE40"/>
          </p15:clr>
        </p15:guide>
        <p15:guide id="4" pos="3940">
          <p15:clr>
            <a:srgbClr val="FBAE40"/>
          </p15:clr>
        </p15:guide>
        <p15:guide id="5" pos="40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6" name="Shape 26"/>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 name="Shape 27"/>
        <p:cNvGrpSpPr/>
        <p:nvPr/>
      </p:nvGrpSpPr>
      <p:grpSpPr>
        <a:xfrm>
          <a:off x="0" y="0"/>
          <a:ext cx="0" cy="0"/>
          <a:chOff x="0" y="0"/>
          <a:chExt cx="0" cy="0"/>
        </a:xfrm>
      </p:grpSpPr>
      <p:sp>
        <p:nvSpPr>
          <p:cNvPr id="28" name="Google Shape;28;p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9" name="Google Shape;29;p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0" name="Google Shape;30;p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1" name="Shape 31"/>
        <p:cNvGrpSpPr/>
        <p:nvPr/>
      </p:nvGrpSpPr>
      <p:grpSpPr>
        <a:xfrm>
          <a:off x="0" y="0"/>
          <a:ext cx="0" cy="0"/>
          <a:chOff x="0" y="0"/>
          <a:chExt cx="0" cy="0"/>
        </a:xfrm>
      </p:grpSpPr>
      <p:sp>
        <p:nvSpPr>
          <p:cNvPr id="32" name="Google Shape;32;p7"/>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3" name="Google Shape;33;p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4" name="Google Shape;34;p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5" name="Google Shape;35;p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6" name="Google Shape;36;p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7" name="Shape 37"/>
        <p:cNvGrpSpPr/>
        <p:nvPr/>
      </p:nvGrpSpPr>
      <p:grpSpPr>
        <a:xfrm>
          <a:off x="0" y="0"/>
          <a:ext cx="0" cy="0"/>
          <a:chOff x="0" y="0"/>
          <a:chExt cx="0" cy="0"/>
        </a:xfrm>
      </p:grpSpPr>
      <p:sp>
        <p:nvSpPr>
          <p:cNvPr id="38" name="Google Shape;38;p8"/>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9" name="Google Shape;39;p8"/>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40" name="Google Shape;40;p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1" name="Google Shape;41;p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2" name="Google Shape;42;p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3" name="Shape 43"/>
        <p:cNvGrpSpPr/>
        <p:nvPr/>
      </p:nvGrpSpPr>
      <p:grpSpPr>
        <a:xfrm>
          <a:off x="0" y="0"/>
          <a:ext cx="0" cy="0"/>
          <a:chOff x="0" y="0"/>
          <a:chExt cx="0" cy="0"/>
        </a:xfrm>
      </p:grpSpPr>
      <p:sp>
        <p:nvSpPr>
          <p:cNvPr id="44" name="Google Shape;44;p9"/>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5" name="Google Shape;45;p9"/>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6" name="Google Shape;46;p9"/>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7" name="Google Shape;47;p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8" name="Google Shape;48;p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9" name="Google Shape;49;p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0" name="Shape 50"/>
        <p:cNvGrpSpPr/>
        <p:nvPr/>
      </p:nvGrpSpPr>
      <p:grpSpPr>
        <a:xfrm>
          <a:off x="0" y="0"/>
          <a:ext cx="0" cy="0"/>
          <a:chOff x="0" y="0"/>
          <a:chExt cx="0" cy="0"/>
        </a:xfrm>
      </p:grpSpPr>
      <p:sp>
        <p:nvSpPr>
          <p:cNvPr id="51" name="Google Shape;51;p10"/>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2" name="Google Shape;52;p10"/>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53" name="Google Shape;53;p10"/>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4" name="Google Shape;54;p10"/>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55" name="Google Shape;55;p10"/>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6" name="Google Shape;56;p1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7" name="Google Shape;57;p1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8" name="Google Shape;58;p1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9" name="Shape 59"/>
        <p:cNvGrpSpPr/>
        <p:nvPr/>
      </p:nvGrpSpPr>
      <p:grpSpPr>
        <a:xfrm>
          <a:off x="0" y="0"/>
          <a:ext cx="0" cy="0"/>
          <a:chOff x="0" y="0"/>
          <a:chExt cx="0" cy="0"/>
        </a:xfrm>
      </p:grpSpPr>
      <p:sp>
        <p:nvSpPr>
          <p:cNvPr id="60" name="Google Shape;60;p11"/>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1" name="Google Shape;61;p1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2" name="Google Shape;62;p1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3" name="Google Shape;63;p1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6" name="Google Shape;66;p1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67" name="Google Shape;67;p1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68" name="Google Shape;68;p1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9" name="Google Shape;69;p1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0" name="Google Shape;70;p1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1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3" name="Google Shape;73;p13"/>
          <p:cNvSpPr/>
          <p:nvPr>
            <p:ph idx="2" type="pic"/>
          </p:nvPr>
        </p:nvSpPr>
        <p:spPr>
          <a:xfrm>
            <a:off x="5183188" y="987425"/>
            <a:ext cx="6172200" cy="4873625"/>
          </a:xfrm>
          <a:prstGeom prst="rect">
            <a:avLst/>
          </a:prstGeom>
          <a:noFill/>
          <a:ln>
            <a:noFill/>
          </a:ln>
        </p:spPr>
      </p:sp>
      <p:sp>
        <p:nvSpPr>
          <p:cNvPr id="74" name="Google Shape;74;p1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75" name="Google Shape;75;p1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6" name="Google Shape;76;p1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7" name="Google Shape;77;p1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8" name="Shape 78"/>
        <p:cNvGrpSpPr/>
        <p:nvPr/>
      </p:nvGrpSpPr>
      <p:grpSpPr>
        <a:xfrm>
          <a:off x="0" y="0"/>
          <a:ext cx="0" cy="0"/>
          <a:chOff x="0" y="0"/>
          <a:chExt cx="0" cy="0"/>
        </a:xfrm>
      </p:grpSpPr>
      <p:sp>
        <p:nvSpPr>
          <p:cNvPr id="79" name="Google Shape;79;p1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0" name="Google Shape;80;p1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1" name="Google Shape;81;p1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2" name="Google Shape;82;p1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3" name="Google Shape;83;p1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4" name="Shape 84"/>
        <p:cNvGrpSpPr/>
        <p:nvPr/>
      </p:nvGrpSpPr>
      <p:grpSpPr>
        <a:xfrm>
          <a:off x="0" y="0"/>
          <a:ext cx="0" cy="0"/>
          <a:chOff x="0" y="0"/>
          <a:chExt cx="0" cy="0"/>
        </a:xfrm>
      </p:grpSpPr>
      <p:sp>
        <p:nvSpPr>
          <p:cNvPr id="85" name="Google Shape;85;p15"/>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6" name="Google Shape;86;p1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7" name="Google Shape;87;p1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8" name="Google Shape;88;p1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9" name="Google Shape;89;p1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6" name="Shape 96"/>
        <p:cNvGrpSpPr/>
        <p:nvPr/>
      </p:nvGrpSpPr>
      <p:grpSpPr>
        <a:xfrm>
          <a:off x="0" y="0"/>
          <a:ext cx="0" cy="0"/>
          <a:chOff x="0" y="0"/>
          <a:chExt cx="0" cy="0"/>
        </a:xfrm>
      </p:grpSpPr>
      <p:sp>
        <p:nvSpPr>
          <p:cNvPr id="97" name="Google Shape;97;p1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8" name="Google Shape;98;p1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9" name="Google Shape;99;p1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00" name="Shape 100"/>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1" name="Shape 101"/>
        <p:cNvGrpSpPr/>
        <p:nvPr/>
      </p:nvGrpSpPr>
      <p:grpSpPr>
        <a:xfrm>
          <a:off x="0" y="0"/>
          <a:ext cx="0" cy="0"/>
          <a:chOff x="0" y="0"/>
          <a:chExt cx="0" cy="0"/>
        </a:xfrm>
      </p:grpSpPr>
      <p:sp>
        <p:nvSpPr>
          <p:cNvPr id="102" name="Google Shape;102;p19"/>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3" name="Google Shape;103;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4" name="Google Shape;104;p1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5" name="Google Shape;105;p1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6" name="Google Shape;106;p1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7" name="Shape 107"/>
        <p:cNvGrpSpPr/>
        <p:nvPr/>
      </p:nvGrpSpPr>
      <p:grpSpPr>
        <a:xfrm>
          <a:off x="0" y="0"/>
          <a:ext cx="0" cy="0"/>
          <a:chOff x="0" y="0"/>
          <a:chExt cx="0" cy="0"/>
        </a:xfrm>
      </p:grpSpPr>
      <p:sp>
        <p:nvSpPr>
          <p:cNvPr id="108" name="Google Shape;108;p2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9" name="Google Shape;109;p2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10" name="Google Shape;110;p2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1" name="Google Shape;111;p2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2" name="Google Shape;112;p2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3" name="Shape 113"/>
        <p:cNvGrpSpPr/>
        <p:nvPr/>
      </p:nvGrpSpPr>
      <p:grpSpPr>
        <a:xfrm>
          <a:off x="0" y="0"/>
          <a:ext cx="0" cy="0"/>
          <a:chOff x="0" y="0"/>
          <a:chExt cx="0" cy="0"/>
        </a:xfrm>
      </p:grpSpPr>
      <p:sp>
        <p:nvSpPr>
          <p:cNvPr id="114" name="Google Shape;114;p21"/>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5" name="Google Shape;115;p2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6" name="Google Shape;116;p2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7" name="Google Shape;117;p2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8" name="Google Shape;118;p2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9" name="Google Shape;119;p2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0" name="Shape 120"/>
        <p:cNvGrpSpPr/>
        <p:nvPr/>
      </p:nvGrpSpPr>
      <p:grpSpPr>
        <a:xfrm>
          <a:off x="0" y="0"/>
          <a:ext cx="0" cy="0"/>
          <a:chOff x="0" y="0"/>
          <a:chExt cx="0" cy="0"/>
        </a:xfrm>
      </p:grpSpPr>
      <p:sp>
        <p:nvSpPr>
          <p:cNvPr id="121" name="Google Shape;121;p22"/>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2" name="Google Shape;122;p2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3" name="Google Shape;123;p2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4" name="Google Shape;124;p2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5" name="Google Shape;125;p2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6" name="Google Shape;126;p2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7" name="Google Shape;127;p2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8" name="Google Shape;128;p2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9" name="Shape 129"/>
        <p:cNvGrpSpPr/>
        <p:nvPr/>
      </p:nvGrpSpPr>
      <p:grpSpPr>
        <a:xfrm>
          <a:off x="0" y="0"/>
          <a:ext cx="0" cy="0"/>
          <a:chOff x="0" y="0"/>
          <a:chExt cx="0" cy="0"/>
        </a:xfrm>
      </p:grpSpPr>
      <p:sp>
        <p:nvSpPr>
          <p:cNvPr id="130" name="Google Shape;130;p23"/>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1" name="Google Shape;131;p2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2" name="Google Shape;132;p2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3" name="Google Shape;133;p2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4" name="Shape 134"/>
        <p:cNvGrpSpPr/>
        <p:nvPr/>
      </p:nvGrpSpPr>
      <p:grpSpPr>
        <a:xfrm>
          <a:off x="0" y="0"/>
          <a:ext cx="0" cy="0"/>
          <a:chOff x="0" y="0"/>
          <a:chExt cx="0" cy="0"/>
        </a:xfrm>
      </p:grpSpPr>
      <p:sp>
        <p:nvSpPr>
          <p:cNvPr id="135" name="Google Shape;135;p2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6" name="Google Shape;136;p2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37" name="Google Shape;137;p2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38" name="Google Shape;138;p2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9" name="Google Shape;139;p2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0" name="Google Shape;140;p2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1" name="Shape 141"/>
        <p:cNvGrpSpPr/>
        <p:nvPr/>
      </p:nvGrpSpPr>
      <p:grpSpPr>
        <a:xfrm>
          <a:off x="0" y="0"/>
          <a:ext cx="0" cy="0"/>
          <a:chOff x="0" y="0"/>
          <a:chExt cx="0" cy="0"/>
        </a:xfrm>
      </p:grpSpPr>
      <p:sp>
        <p:nvSpPr>
          <p:cNvPr id="142" name="Google Shape;142;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3" name="Google Shape;143;p25"/>
          <p:cNvSpPr/>
          <p:nvPr>
            <p:ph idx="2" type="pic"/>
          </p:nvPr>
        </p:nvSpPr>
        <p:spPr>
          <a:xfrm>
            <a:off x="5183188" y="987425"/>
            <a:ext cx="6172200" cy="4873625"/>
          </a:xfrm>
          <a:prstGeom prst="rect">
            <a:avLst/>
          </a:prstGeom>
          <a:noFill/>
          <a:ln>
            <a:noFill/>
          </a:ln>
        </p:spPr>
      </p:sp>
      <p:sp>
        <p:nvSpPr>
          <p:cNvPr id="144" name="Google Shape;144;p2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45" name="Google Shape;145;p2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6" name="Google Shape;146;p2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7" name="Google Shape;147;p2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8" name="Shape 148"/>
        <p:cNvGrpSpPr/>
        <p:nvPr/>
      </p:nvGrpSpPr>
      <p:grpSpPr>
        <a:xfrm>
          <a:off x="0" y="0"/>
          <a:ext cx="0" cy="0"/>
          <a:chOff x="0" y="0"/>
          <a:chExt cx="0" cy="0"/>
        </a:xfrm>
      </p:grpSpPr>
      <p:sp>
        <p:nvSpPr>
          <p:cNvPr id="149" name="Google Shape;149;p2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0" name="Google Shape;150;p2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1" name="Google Shape;151;p2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2" name="Google Shape;152;p2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3" name="Google Shape;153;p2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4" name="Shape 154"/>
        <p:cNvGrpSpPr/>
        <p:nvPr/>
      </p:nvGrpSpPr>
      <p:grpSpPr>
        <a:xfrm>
          <a:off x="0" y="0"/>
          <a:ext cx="0" cy="0"/>
          <a:chOff x="0" y="0"/>
          <a:chExt cx="0" cy="0"/>
        </a:xfrm>
      </p:grpSpPr>
      <p:sp>
        <p:nvSpPr>
          <p:cNvPr id="155" name="Google Shape;155;p27"/>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6" name="Google Shape;156;p2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7" name="Google Shape;157;p2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8" name="Google Shape;158;p2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9" name="Google Shape;159;p2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65" name="Shape 165"/>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6" name="Shape 166"/>
        <p:cNvGrpSpPr/>
        <p:nvPr/>
      </p:nvGrpSpPr>
      <p:grpSpPr>
        <a:xfrm>
          <a:off x="0" y="0"/>
          <a:ext cx="0" cy="0"/>
          <a:chOff x="0" y="0"/>
          <a:chExt cx="0" cy="0"/>
        </a:xfrm>
      </p:grpSpPr>
      <p:sp>
        <p:nvSpPr>
          <p:cNvPr id="167" name="Google Shape;167;p3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68" name="Google Shape;168;p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9" name="Google Shape;169;p3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0" name="Google Shape;170;p3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1" name="Google Shape;171;p3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2" name="Shape 172"/>
        <p:cNvGrpSpPr/>
        <p:nvPr/>
      </p:nvGrpSpPr>
      <p:grpSpPr>
        <a:xfrm>
          <a:off x="0" y="0"/>
          <a:ext cx="0" cy="0"/>
          <a:chOff x="0" y="0"/>
          <a:chExt cx="0" cy="0"/>
        </a:xfrm>
      </p:grpSpPr>
      <p:sp>
        <p:nvSpPr>
          <p:cNvPr id="173" name="Google Shape;173;p3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74" name="Google Shape;174;p3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75" name="Google Shape;175;p3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6" name="Google Shape;176;p3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7" name="Google Shape;177;p3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78" name="Shape 178"/>
        <p:cNvGrpSpPr/>
        <p:nvPr/>
      </p:nvGrpSpPr>
      <p:grpSpPr>
        <a:xfrm>
          <a:off x="0" y="0"/>
          <a:ext cx="0" cy="0"/>
          <a:chOff x="0" y="0"/>
          <a:chExt cx="0" cy="0"/>
        </a:xfrm>
      </p:grpSpPr>
      <p:sp>
        <p:nvSpPr>
          <p:cNvPr id="179" name="Google Shape;179;p32"/>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0" name="Google Shape;180;p3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1" name="Google Shape;181;p3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2" name="Google Shape;182;p3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3" name="Google Shape;183;p3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4" name="Google Shape;184;p3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85" name="Shape 185"/>
        <p:cNvGrpSpPr/>
        <p:nvPr/>
      </p:nvGrpSpPr>
      <p:grpSpPr>
        <a:xfrm>
          <a:off x="0" y="0"/>
          <a:ext cx="0" cy="0"/>
          <a:chOff x="0" y="0"/>
          <a:chExt cx="0" cy="0"/>
        </a:xfrm>
      </p:grpSpPr>
      <p:sp>
        <p:nvSpPr>
          <p:cNvPr id="186" name="Google Shape;186;p33"/>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7" name="Google Shape;187;p3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88" name="Google Shape;188;p3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9" name="Google Shape;189;p3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90" name="Google Shape;190;p3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1" name="Google Shape;191;p3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2" name="Google Shape;192;p3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3" name="Google Shape;193;p3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4" name="Shape 194"/>
        <p:cNvGrpSpPr/>
        <p:nvPr/>
      </p:nvGrpSpPr>
      <p:grpSpPr>
        <a:xfrm>
          <a:off x="0" y="0"/>
          <a:ext cx="0" cy="0"/>
          <a:chOff x="0" y="0"/>
          <a:chExt cx="0" cy="0"/>
        </a:xfrm>
      </p:grpSpPr>
      <p:sp>
        <p:nvSpPr>
          <p:cNvPr id="195" name="Google Shape;195;p3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96" name="Google Shape;196;p3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7" name="Google Shape;197;p3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8" name="Google Shape;198;p3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99" name="Shape 199"/>
        <p:cNvGrpSpPr/>
        <p:nvPr/>
      </p:nvGrpSpPr>
      <p:grpSpPr>
        <a:xfrm>
          <a:off x="0" y="0"/>
          <a:ext cx="0" cy="0"/>
          <a:chOff x="0" y="0"/>
          <a:chExt cx="0" cy="0"/>
        </a:xfrm>
      </p:grpSpPr>
      <p:sp>
        <p:nvSpPr>
          <p:cNvPr id="200" name="Google Shape;200;p3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1" name="Google Shape;201;p3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2" name="Google Shape;202;p3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03" name="Shape 203"/>
        <p:cNvGrpSpPr/>
        <p:nvPr/>
      </p:nvGrpSpPr>
      <p:grpSpPr>
        <a:xfrm>
          <a:off x="0" y="0"/>
          <a:ext cx="0" cy="0"/>
          <a:chOff x="0" y="0"/>
          <a:chExt cx="0" cy="0"/>
        </a:xfrm>
      </p:grpSpPr>
      <p:sp>
        <p:nvSpPr>
          <p:cNvPr id="204" name="Google Shape;204;p3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05" name="Google Shape;205;p3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06" name="Google Shape;206;p3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07" name="Google Shape;207;p3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8" name="Google Shape;208;p3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9" name="Google Shape;209;p3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10" name="Shape 210"/>
        <p:cNvGrpSpPr/>
        <p:nvPr/>
      </p:nvGrpSpPr>
      <p:grpSpPr>
        <a:xfrm>
          <a:off x="0" y="0"/>
          <a:ext cx="0" cy="0"/>
          <a:chOff x="0" y="0"/>
          <a:chExt cx="0" cy="0"/>
        </a:xfrm>
      </p:grpSpPr>
      <p:sp>
        <p:nvSpPr>
          <p:cNvPr id="211" name="Google Shape;211;p3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2" name="Google Shape;212;p37"/>
          <p:cNvSpPr/>
          <p:nvPr>
            <p:ph idx="2" type="pic"/>
          </p:nvPr>
        </p:nvSpPr>
        <p:spPr>
          <a:xfrm>
            <a:off x="5183188" y="987425"/>
            <a:ext cx="6172200" cy="4873625"/>
          </a:xfrm>
          <a:prstGeom prst="rect">
            <a:avLst/>
          </a:prstGeom>
          <a:noFill/>
          <a:ln>
            <a:noFill/>
          </a:ln>
        </p:spPr>
      </p:sp>
      <p:sp>
        <p:nvSpPr>
          <p:cNvPr id="213" name="Google Shape;213;p3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14" name="Google Shape;214;p3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5" name="Google Shape;215;p3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6" name="Google Shape;216;p3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17" name="Shape 217"/>
        <p:cNvGrpSpPr/>
        <p:nvPr/>
      </p:nvGrpSpPr>
      <p:grpSpPr>
        <a:xfrm>
          <a:off x="0" y="0"/>
          <a:ext cx="0" cy="0"/>
          <a:chOff x="0" y="0"/>
          <a:chExt cx="0" cy="0"/>
        </a:xfrm>
      </p:grpSpPr>
      <p:sp>
        <p:nvSpPr>
          <p:cNvPr id="218" name="Google Shape;218;p38"/>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9" name="Google Shape;219;p38"/>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0" name="Google Shape;220;p3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1" name="Google Shape;221;p3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2" name="Google Shape;222;p3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23" name="Shape 223"/>
        <p:cNvGrpSpPr/>
        <p:nvPr/>
      </p:nvGrpSpPr>
      <p:grpSpPr>
        <a:xfrm>
          <a:off x="0" y="0"/>
          <a:ext cx="0" cy="0"/>
          <a:chOff x="0" y="0"/>
          <a:chExt cx="0" cy="0"/>
        </a:xfrm>
      </p:grpSpPr>
      <p:sp>
        <p:nvSpPr>
          <p:cNvPr id="224" name="Google Shape;224;p39"/>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25" name="Google Shape;225;p3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6" name="Google Shape;226;p3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7" name="Google Shape;227;p3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8" name="Google Shape;228;p3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 Id="rId9" Type="http://schemas.openxmlformats.org/officeDocument/2006/relationships/slideLayout" Target="../slideLayouts/slideLayout10.xml"/><Relationship Id="rId10" Type="http://schemas.openxmlformats.org/officeDocument/2006/relationships/slideLayout" Target="../slideLayouts/slideLayout11.xml"/><Relationship Id="rId11" Type="http://schemas.openxmlformats.org/officeDocument/2006/relationships/slideLayout" Target="../slideLayouts/slideLayout12.xml"/><Relationship Id="rId12" Type="http://schemas.openxmlformats.org/officeDocument/2006/relationships/slideLayout" Target="../slideLayouts/slideLayout13.xml"/><Relationship Id="rId13" Type="http://schemas.openxmlformats.org/officeDocument/2006/relationships/theme" Target="../theme/theme4.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theme" Target="../theme/theme2.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1"/>
          <p:cNvPicPr preferRelativeResize="0"/>
          <p:nvPr/>
        </p:nvPicPr>
        <p:blipFill rotWithShape="1">
          <a:blip r:embed="rId1">
            <a:alphaModFix/>
          </a:blip>
          <a:srcRect b="0" l="0" r="0" t="0"/>
          <a:stretch/>
        </p:blipFill>
        <p:spPr>
          <a:xfrm>
            <a:off x="2141884" y="0"/>
            <a:ext cx="10030237" cy="1640714"/>
          </a:xfrm>
          <a:prstGeom prst="rect">
            <a:avLst/>
          </a:prstGeom>
          <a:noFill/>
          <a:ln>
            <a:noFill/>
          </a:ln>
        </p:spPr>
      </p:pic>
      <p:sp>
        <p:nvSpPr>
          <p:cNvPr id="11" name="Google Shape;11;p1"/>
          <p:cNvSpPr txBox="1"/>
          <p:nvPr/>
        </p:nvSpPr>
        <p:spPr>
          <a:xfrm>
            <a:off x="1402828" y="6528816"/>
            <a:ext cx="627096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Copyright © McGraw Hill</a:t>
            </a:r>
            <a:endParaRPr b="0" i="0" sz="1400" u="none" cap="none" strike="noStrike">
              <a:solidFill>
                <a:srgbClr val="000000"/>
              </a:solidFill>
              <a:latin typeface="Arial"/>
              <a:ea typeface="Arial"/>
              <a:cs typeface="Arial"/>
              <a:sym typeface="Arial"/>
            </a:endParaRPr>
          </a:p>
        </p:txBody>
      </p:sp>
      <p:pic>
        <p:nvPicPr>
          <p:cNvPr id="12" name="Google Shape;12;p1"/>
          <p:cNvPicPr preferRelativeResize="0"/>
          <p:nvPr/>
        </p:nvPicPr>
        <p:blipFill rotWithShape="1">
          <a:blip r:embed="rId2">
            <a:alphaModFix/>
          </a:blip>
          <a:srcRect b="0" l="0" r="0" t="0"/>
          <a:stretch/>
        </p:blipFill>
        <p:spPr>
          <a:xfrm>
            <a:off x="1492908" y="5619163"/>
            <a:ext cx="654674" cy="654674"/>
          </a:xfrm>
          <a:prstGeom prst="rect">
            <a:avLst/>
          </a:prstGeom>
          <a:noFill/>
          <a:ln>
            <a:noFill/>
          </a:ln>
        </p:spPr>
      </p:pic>
      <p:cxnSp>
        <p:nvCxnSpPr>
          <p:cNvPr id="13" name="Google Shape;13;p1"/>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14" name="Google Shape;14;p1"/>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3"/>
    <p:sldLayoutId id="2147483649"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59">
          <p15:clr>
            <a:srgbClr val="F26B43"/>
          </p15:clr>
        </p15:guide>
        <p15:guide id="2" orient="horz" pos="360">
          <p15:clr>
            <a:srgbClr val="F26B43"/>
          </p15:clr>
        </p15:guide>
        <p15:guide id="3" pos="3840">
          <p15:clr>
            <a:srgbClr val="F26B43"/>
          </p15:clr>
        </p15:guide>
        <p15:guide id="4" pos="384">
          <p15:clr>
            <a:srgbClr val="F26B43"/>
          </p15:clr>
        </p15:guide>
        <p15:guide id="5" pos="7296">
          <p15:clr>
            <a:srgbClr val="F26B43"/>
          </p15:clr>
        </p15:guide>
        <p15:guide id="6" orient="horz" pos="4211">
          <p15:clr>
            <a:srgbClr val="F26B43"/>
          </p15:clr>
        </p15:guide>
        <p15:guide id="7" pos="1120">
          <p15:clr>
            <a:srgbClr val="F26B43"/>
          </p15:clr>
        </p15:guide>
        <p15:guide id="8" pos="93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 name="Shape 20"/>
        <p:cNvGrpSpPr/>
        <p:nvPr/>
      </p:nvGrpSpPr>
      <p:grpSpPr>
        <a:xfrm>
          <a:off x="0" y="0"/>
          <a:ext cx="0" cy="0"/>
          <a:chOff x="0" y="0"/>
          <a:chExt cx="0" cy="0"/>
        </a:xfrm>
      </p:grpSpPr>
      <p:cxnSp>
        <p:nvCxnSpPr>
          <p:cNvPr id="21" name="Google Shape;21;p4"/>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22" name="Google Shape;22;p4"/>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23" name="Google Shape;23;p4"/>
          <p:cNvSpPr txBox="1"/>
          <p:nvPr/>
        </p:nvSpPr>
        <p:spPr>
          <a:xfrm>
            <a:off x="1385464"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Explore Integers and Their Opposites</a:t>
            </a:r>
            <a:endParaRPr b="0" i="0" sz="1400" u="none" cap="none" strike="noStrike">
              <a:solidFill>
                <a:srgbClr val="000000"/>
              </a:solidFill>
              <a:latin typeface="Arial"/>
              <a:ea typeface="Arial"/>
              <a:cs typeface="Arial"/>
              <a:sym typeface="Arial"/>
            </a:endParaRPr>
          </a:p>
        </p:txBody>
      </p:sp>
      <p:sp>
        <p:nvSpPr>
          <p:cNvPr id="24" name="Google Shape;24;p4"/>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25" name="Google Shape;25;p4"/>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0" name="Shape 90"/>
        <p:cNvGrpSpPr/>
        <p:nvPr/>
      </p:nvGrpSpPr>
      <p:grpSpPr>
        <a:xfrm>
          <a:off x="0" y="0"/>
          <a:ext cx="0" cy="0"/>
          <a:chOff x="0" y="0"/>
          <a:chExt cx="0" cy="0"/>
        </a:xfrm>
      </p:grpSpPr>
      <p:cxnSp>
        <p:nvCxnSpPr>
          <p:cNvPr id="91" name="Google Shape;91;p16"/>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92" name="Google Shape;92;p16"/>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93" name="Google Shape;93;p16"/>
          <p:cNvSpPr txBox="1"/>
          <p:nvPr/>
        </p:nvSpPr>
        <p:spPr>
          <a:xfrm>
            <a:off x="1385464"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Explore Integers and Their Opposites</a:t>
            </a:r>
            <a:endParaRPr b="0" i="0" sz="1400" u="none" cap="none" strike="noStrike">
              <a:solidFill>
                <a:srgbClr val="000000"/>
              </a:solidFill>
              <a:latin typeface="Arial"/>
              <a:ea typeface="Arial"/>
              <a:cs typeface="Arial"/>
              <a:sym typeface="Arial"/>
            </a:endParaRPr>
          </a:p>
        </p:txBody>
      </p:sp>
      <p:sp>
        <p:nvSpPr>
          <p:cNvPr id="94" name="Google Shape;94;p16"/>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95" name="Google Shape;95;p16"/>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0" name="Shape 160"/>
        <p:cNvGrpSpPr/>
        <p:nvPr/>
      </p:nvGrpSpPr>
      <p:grpSpPr>
        <a:xfrm>
          <a:off x="0" y="0"/>
          <a:ext cx="0" cy="0"/>
          <a:chOff x="0" y="0"/>
          <a:chExt cx="0" cy="0"/>
        </a:xfrm>
      </p:grpSpPr>
      <p:cxnSp>
        <p:nvCxnSpPr>
          <p:cNvPr id="161" name="Google Shape;161;p28"/>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162" name="Google Shape;162;p28"/>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 xml:space="preserve">McGraw Hill   </a:t>
            </a:r>
            <a:endParaRPr b="0" i="0" sz="900" u="none" cap="none" strike="noStrike">
              <a:solidFill>
                <a:schemeClr val="dk2"/>
              </a:solidFill>
              <a:latin typeface="Arial"/>
              <a:ea typeface="Arial"/>
              <a:cs typeface="Arial"/>
              <a:sym typeface="Arial"/>
            </a:endParaRPr>
          </a:p>
        </p:txBody>
      </p:sp>
      <p:sp>
        <p:nvSpPr>
          <p:cNvPr id="163" name="Google Shape;163;p28"/>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164" name="Google Shape;164;p28"/>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1.png"/><Relationship Id="rId4" Type="http://schemas.openxmlformats.org/officeDocument/2006/relationships/image" Target="../media/image9.png"/><Relationship Id="rId5"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png"/><Relationship Id="rId3" Type="http://schemas.openxmlformats.org/officeDocument/2006/relationships/notesSlide" Target="../notesSlides/notesSlide6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6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notesSlide" Target="../notesSlides/notesSlide6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 Id="rId3" Type="http://schemas.openxmlformats.org/officeDocument/2006/relationships/image" Target="../media/image6.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 Id="rId3"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 Id="rId3"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 Id="rId3"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 Id="rId3"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 Id="rId3"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 Id="rId3"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 Id="rId3" Type="http://schemas.openxmlformats.org/officeDocument/2006/relationships/image" Target="../media/image15.png"/><Relationship Id="rId4"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7.png"/><Relationship Id="rId3" Type="http://schemas.openxmlformats.org/officeDocument/2006/relationships/notesSlide" Target="../notesSlides/notesSlide6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8.png"/><Relationship Id="rId3" Type="http://schemas.openxmlformats.org/officeDocument/2006/relationships/notesSlide" Target="../notesSlides/notesSlide6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png"/><Relationship Id="rId3" Type="http://schemas.openxmlformats.org/officeDocument/2006/relationships/image" Target="../media/image18.png"/><Relationship Id="rId4" Type="http://schemas.openxmlformats.org/officeDocument/2006/relationships/notesSlide" Target="../notesSlides/notesSlide6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3.png"/><Relationship Id="rId4" Type="http://schemas.openxmlformats.org/officeDocument/2006/relationships/image" Target="../media/image2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24.png"/><Relationship Id="rId4" Type="http://schemas.openxmlformats.org/officeDocument/2006/relationships/image" Target="../media/image1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8.xml"/><Relationship Id="rId3" Type="http://schemas.openxmlformats.org/officeDocument/2006/relationships/image" Target="../media/image2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0.xml"/><Relationship Id="rId3" Type="http://schemas.openxmlformats.org/officeDocument/2006/relationships/image" Target="../media/image2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 Id="rId3" Type="http://schemas.openxmlformats.org/officeDocument/2006/relationships/image" Target="../media/image22.png"/><Relationship Id="rId4" Type="http://schemas.openxmlformats.org/officeDocument/2006/relationships/image" Target="../media/image2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4.png"/><Relationship Id="rId3" Type="http://schemas.openxmlformats.org/officeDocument/2006/relationships/notesSlide" Target="../notesSlides/notesSlide7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2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2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7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9" name="TextBox 1"/>
          <p:cNvSpPr txBox="1"/>
          <p:nvPr/>
        </p:nvSpPr>
        <p:spPr>
          <a:xfrm>
            <a:off x="502920" y="310896"/>
            <a:ext cx="7315200" cy="502920"/>
          </a:xfrm>
          <a:prstGeom prst="rect">
            <a:avLst/>
          </a:prstGeom>
          <a:noFill/>
        </p:spPr>
        <p:txBody>
          <a:bodyPr wrap="square" lIns="0" tIns="0" rIns="0" bIns="0" anchor="t">
            <a:spAutoFit/>
          </a:bodyPr>
          <a:lstStyle/>
          <a:p>
            <a:pPr algn="l"/>
            <a:r>
              <a:rPr sz="2750" b="1">
                <a:solidFill>
                  <a:srgbClr val="782DA0"/>
                </a:solidFill>
                <a:latin typeface="Arial"/>
              </a:rPr>
              <a:t>Warm-Up</a:t>
            </a:r>
          </a:p>
        </p:txBody>
      </p:sp>
      <p:sp>
        <p:nvSpPr>
          <p:cNvPr id="260" name="TextBox 2"/>
          <p:cNvSpPr txBox="1"/>
          <p:nvPr/>
        </p:nvSpPr>
        <p:spPr>
          <a:xfrm>
            <a:off x="521207" y="877824"/>
            <a:ext cx="7680960" cy="274320"/>
          </a:xfrm>
          <a:prstGeom prst="rect">
            <a:avLst/>
          </a:prstGeom>
          <a:noFill/>
        </p:spPr>
        <p:txBody>
          <a:bodyPr wrap="square" lIns="0" tIns="0" rIns="0" bIns="0" anchor="t">
            <a:spAutoFit/>
          </a:bodyPr>
          <a:lstStyle/>
          <a:p>
            <a:pPr algn="l"/>
            <a:r>
              <a:rPr sz="1400" b="0">
                <a:solidFill>
                  <a:srgbClr val="5D6872"/>
                </a:solidFill>
                <a:latin typeface="Arial"/>
              </a:rPr>
              <a:t>Lesson 7-1 · Explore Integers and Their Opposites   |   Warm-Up · about 4 minutes</a:t>
            </a:r>
          </a:p>
        </p:txBody>
      </p:sp>
      <p:sp>
        <p:nvSpPr>
          <p:cNvPr id="261"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WARM-UP</a:t>
            </a:r>
            <a:r>
              <a:rPr lang="en-US" sz="1150" b="1" dirty="0">
                <a:solidFill>
                  <a:srgbClr val="2D3A40"/>
                </a:solidFill>
                <a:latin typeface="Arial"/>
              </a:rPr>
              <a:t xml:space="preserve">  ·  THINK • TRY • CHECK</a:t>
            </a:r>
          </a:p>
        </p:txBody>
      </p:sp>
      <p:sp>
        <p:nvSpPr>
          <p:cNvPr id="262" name="TextBox 5"/>
          <p:cNvSpPr txBox="1"/>
          <p:nvPr/>
        </p:nvSpPr>
        <p:spPr>
          <a:xfrm>
            <a:off x="521207" y="1207008"/>
            <a:ext cx="10881360" cy="438912"/>
          </a:xfrm>
          <a:prstGeom prst="rect">
            <a:avLst/>
          </a:prstGeom>
          <a:noFill/>
        </p:spPr>
        <p:txBody>
          <a:bodyPr wrap="square" lIns="0" tIns="0" rIns="0" bIns="0" anchor="t">
            <a:spAutoFit/>
          </a:bodyPr>
          <a:lstStyle/>
          <a:p>
            <a:pPr algn="l"/>
            <a:r>
              <a:rPr sz="1600" b="0">
                <a:solidFill>
                  <a:srgbClr val="5D6872"/>
                </a:solidFill>
                <a:latin typeface="Arial"/>
              </a:rPr>
              <a:t>Try each on your own. Mark an unsure answer; explain and revise when we check.</a:t>
            </a:r>
          </a:p>
        </p:txBody>
      </p:sp>
      <p:sp>
        <p:nvSpPr>
          <p:cNvPr id="263" name="Rounded Rectangle 6"/>
          <p:cNvSpPr/>
          <p:nvPr/>
        </p:nvSpPr>
        <p:spPr>
          <a:xfrm>
            <a:off x="502920" y="1783080"/>
            <a:ext cx="5422392" cy="1572768"/>
          </a:xfrm>
          <a:prstGeom prst="roundRect">
            <a:avLst/>
          </a:prstGeom>
          <a:solidFill>
            <a:srgbClr val="ECF7F6"/>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4" name="Rectangle 7"/>
          <p:cNvSpPr/>
          <p:nvPr/>
        </p:nvSpPr>
        <p:spPr>
          <a:xfrm>
            <a:off x="502920" y="1783080"/>
            <a:ext cx="73152" cy="1572768"/>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5" name="TextBox 8"/>
          <p:cNvSpPr txBox="1"/>
          <p:nvPr/>
        </p:nvSpPr>
        <p:spPr>
          <a:xfrm>
            <a:off x="667512" y="1892807"/>
            <a:ext cx="5129783" cy="228600"/>
          </a:xfrm>
          <a:prstGeom prst="rect">
            <a:avLst/>
          </a:prstGeom>
          <a:noFill/>
        </p:spPr>
        <p:txBody>
          <a:bodyPr wrap="square" lIns="0" tIns="0" rIns="0" bIns="0" anchor="t">
            <a:spAutoFit/>
          </a:bodyPr>
          <a:lstStyle/>
          <a:p>
            <a:pPr algn="l"/>
            <a:r>
              <a:rPr sz="1400" b="1">
                <a:solidFill>
                  <a:srgbClr val="01708C"/>
                </a:solidFill>
                <a:latin typeface="Arial"/>
              </a:rPr>
              <a:t>QUESTION 1</a:t>
            </a:r>
          </a:p>
        </p:txBody>
      </p:sp>
      <p:sp>
        <p:nvSpPr>
          <p:cNvPr id="266" name="TextBox 9"/>
          <p:cNvSpPr txBox="1"/>
          <p:nvPr/>
        </p:nvSpPr>
        <p:spPr>
          <a:xfrm>
            <a:off x="667512" y="2212848"/>
            <a:ext cx="5111496" cy="1051560"/>
          </a:xfrm>
          <a:prstGeom prst="rect">
            <a:avLst/>
          </a:prstGeom>
          <a:noFill/>
        </p:spPr>
        <p:txBody>
          <a:bodyPr wrap="square" lIns="0" tIns="0" rIns="0" bIns="0" anchor="t">
            <a:spAutoFit/>
          </a:bodyPr>
          <a:lstStyle/>
          <a:p>
            <a:pPr algn="l"/>
            <a:r>
              <a:rPr sz="1800" b="1">
                <a:solidFill>
                  <a:srgbClr val="23282D"/>
                </a:solidFill>
                <a:latin typeface="Arial"/>
              </a:rPr>
              <a:t>Which is farther right on a number line: 8 or 3?  ______</a:t>
            </a:r>
          </a:p>
        </p:txBody>
      </p:sp>
      <p:sp>
        <p:nvSpPr>
          <p:cNvPr id="267" name="Rounded Rectangle 10"/>
          <p:cNvSpPr/>
          <p:nvPr/>
        </p:nvSpPr>
        <p:spPr>
          <a:xfrm>
            <a:off x="6181344" y="1783080"/>
            <a:ext cx="5413248" cy="1572768"/>
          </a:xfrm>
          <a:prstGeom prst="roundRect">
            <a:avLst/>
          </a:prstGeom>
          <a:solidFill>
            <a:srgbClr val="FDF0E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8" name="Rectangle 11"/>
          <p:cNvSpPr/>
          <p:nvPr/>
        </p:nvSpPr>
        <p:spPr>
          <a:xfrm>
            <a:off x="6181344" y="1783080"/>
            <a:ext cx="73152" cy="1572768"/>
          </a:xfrm>
          <a:prstGeom prst="rect">
            <a:avLst/>
          </a:prstGeom>
          <a:solidFill>
            <a:srgbClr val="C84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9" name="TextBox 12"/>
          <p:cNvSpPr txBox="1"/>
          <p:nvPr/>
        </p:nvSpPr>
        <p:spPr>
          <a:xfrm>
            <a:off x="6345936" y="1892807"/>
            <a:ext cx="5120640" cy="228600"/>
          </a:xfrm>
          <a:prstGeom prst="rect">
            <a:avLst/>
          </a:prstGeom>
          <a:noFill/>
        </p:spPr>
        <p:txBody>
          <a:bodyPr wrap="square" lIns="0" tIns="0" rIns="0" bIns="0" anchor="t">
            <a:spAutoFit/>
          </a:bodyPr>
          <a:lstStyle/>
          <a:p>
            <a:pPr algn="l"/>
            <a:r>
              <a:rPr sz="1400" b="1">
                <a:solidFill>
                  <a:srgbClr val="C8430E"/>
                </a:solidFill>
                <a:latin typeface="Arial"/>
              </a:rPr>
              <a:t>QUESTION 2</a:t>
            </a:r>
          </a:p>
        </p:txBody>
      </p:sp>
      <p:sp>
        <p:nvSpPr>
          <p:cNvPr id="270" name="TextBox 13"/>
          <p:cNvSpPr txBox="1"/>
          <p:nvPr/>
        </p:nvSpPr>
        <p:spPr>
          <a:xfrm>
            <a:off x="6345936" y="2212848"/>
            <a:ext cx="5102352" cy="1051560"/>
          </a:xfrm>
          <a:prstGeom prst="rect">
            <a:avLst/>
          </a:prstGeom>
          <a:noFill/>
        </p:spPr>
        <p:txBody>
          <a:bodyPr wrap="square" lIns="0" tIns="0" rIns="0" bIns="0" anchor="t">
            <a:spAutoFit/>
          </a:bodyPr>
          <a:lstStyle/>
          <a:p>
            <a:pPr algn="l"/>
            <a:r>
              <a:rPr sz="1800" b="1">
                <a:solidFill>
                  <a:srgbClr val="23282D"/>
                </a:solidFill>
                <a:latin typeface="Arial"/>
              </a:rPr>
              <a:t>Count back from 2:  2, 1, 0, ______, ______</a:t>
            </a:r>
          </a:p>
        </p:txBody>
      </p:sp>
      <p:sp>
        <p:nvSpPr>
          <p:cNvPr id="271" name="Rounded Rectangle 14"/>
          <p:cNvSpPr/>
          <p:nvPr/>
        </p:nvSpPr>
        <p:spPr>
          <a:xfrm>
            <a:off x="502920" y="3593592"/>
            <a:ext cx="5422392" cy="1664208"/>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2" name="Rectangle 15"/>
          <p:cNvSpPr/>
          <p:nvPr/>
        </p:nvSpPr>
        <p:spPr>
          <a:xfrm>
            <a:off x="502920" y="3593592"/>
            <a:ext cx="73152" cy="16642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3" name="TextBox 16"/>
          <p:cNvSpPr txBox="1"/>
          <p:nvPr/>
        </p:nvSpPr>
        <p:spPr>
          <a:xfrm>
            <a:off x="667512" y="3703320"/>
            <a:ext cx="5129783" cy="228600"/>
          </a:xfrm>
          <a:prstGeom prst="rect">
            <a:avLst/>
          </a:prstGeom>
          <a:noFill/>
        </p:spPr>
        <p:txBody>
          <a:bodyPr wrap="square" lIns="0" tIns="0" rIns="0" bIns="0" anchor="t">
            <a:spAutoFit/>
          </a:bodyPr>
          <a:lstStyle/>
          <a:p>
            <a:pPr algn="l"/>
            <a:r>
              <a:rPr sz="1400" b="1">
                <a:solidFill>
                  <a:srgbClr val="0070C0"/>
                </a:solidFill>
                <a:latin typeface="Arial"/>
              </a:rPr>
              <a:t>QUESTION 3</a:t>
            </a:r>
          </a:p>
        </p:txBody>
      </p:sp>
      <p:sp>
        <p:nvSpPr>
          <p:cNvPr id="274" name="TextBox 17"/>
          <p:cNvSpPr txBox="1"/>
          <p:nvPr/>
        </p:nvSpPr>
        <p:spPr>
          <a:xfrm>
            <a:off x="667512" y="4023360"/>
            <a:ext cx="5111496" cy="1143000"/>
          </a:xfrm>
          <a:prstGeom prst="rect">
            <a:avLst/>
          </a:prstGeom>
          <a:noFill/>
        </p:spPr>
        <p:txBody>
          <a:bodyPr wrap="square" lIns="0" tIns="0" rIns="0" bIns="0" anchor="t">
            <a:spAutoFit/>
          </a:bodyPr>
          <a:lstStyle/>
          <a:p>
            <a:pPr algn="l"/>
            <a:r>
              <a:rPr sz="1800" b="1">
                <a:solidFill>
                  <a:srgbClr val="23282D"/>
                </a:solidFill>
                <a:latin typeface="Arial"/>
              </a:rPr>
              <a:t>The opposite of −6 is ______</a:t>
            </a:r>
          </a:p>
        </p:txBody>
      </p:sp>
      <p:sp>
        <p:nvSpPr>
          <p:cNvPr id="275" name="Rounded Rectangle 18"/>
          <p:cNvSpPr/>
          <p:nvPr/>
        </p:nvSpPr>
        <p:spPr>
          <a:xfrm>
            <a:off x="6181344" y="3593592"/>
            <a:ext cx="5413248" cy="1664208"/>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6" name="Rectangle 19"/>
          <p:cNvSpPr/>
          <p:nvPr/>
        </p:nvSpPr>
        <p:spPr>
          <a:xfrm>
            <a:off x="6181344" y="3593592"/>
            <a:ext cx="73152" cy="1664208"/>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7" name="TextBox 20"/>
          <p:cNvSpPr txBox="1"/>
          <p:nvPr/>
        </p:nvSpPr>
        <p:spPr>
          <a:xfrm>
            <a:off x="6345936" y="3703320"/>
            <a:ext cx="5120640" cy="228600"/>
          </a:xfrm>
          <a:prstGeom prst="rect">
            <a:avLst/>
          </a:prstGeom>
          <a:noFill/>
        </p:spPr>
        <p:txBody>
          <a:bodyPr wrap="square" lIns="0" tIns="0" rIns="0" bIns="0" anchor="t">
            <a:spAutoFit/>
          </a:bodyPr>
          <a:lstStyle/>
          <a:p>
            <a:pPr algn="l"/>
            <a:r>
              <a:rPr sz="1400" b="1">
                <a:solidFill>
                  <a:srgbClr val="008A62"/>
                </a:solidFill>
                <a:latin typeface="Arial"/>
              </a:rPr>
              <a:t>QUESTION 4</a:t>
            </a:r>
          </a:p>
        </p:txBody>
      </p:sp>
      <p:sp>
        <p:nvSpPr>
          <p:cNvPr id="278" name="TextBox 21"/>
          <p:cNvSpPr txBox="1"/>
          <p:nvPr/>
        </p:nvSpPr>
        <p:spPr>
          <a:xfrm>
            <a:off x="6345936" y="4023360"/>
            <a:ext cx="5102352" cy="1143000"/>
          </a:xfrm>
          <a:prstGeom prst="rect">
            <a:avLst/>
          </a:prstGeom>
          <a:noFill/>
        </p:spPr>
        <p:txBody>
          <a:bodyPr wrap="square" lIns="0" tIns="0" rIns="0" bIns="0" anchor="t">
            <a:spAutoFit/>
          </a:bodyPr>
          <a:lstStyle/>
          <a:p>
            <a:pPr algn="l"/>
            <a:r>
              <a:rPr sz="1800" b="1">
                <a:solidFill>
                  <a:srgbClr val="23282D"/>
                </a:solidFill>
                <a:latin typeface="Arial"/>
              </a:rPr>
              <a:t>3x + 5x = ______</a:t>
            </a:r>
          </a:p>
        </p:txBody>
      </p:sp>
      <p:sp>
        <p:nvSpPr>
          <p:cNvPr id="279" name="Rounded Rectangle 22"/>
          <p:cNvSpPr/>
          <p:nvPr/>
        </p:nvSpPr>
        <p:spPr>
          <a:xfrm>
            <a:off x="502920" y="5532120"/>
            <a:ext cx="11091672" cy="502920"/>
          </a:xfrm>
          <a:prstGeom prst="roundRect">
            <a:avLst/>
          </a:prstGeom>
          <a:solidFill>
            <a:srgbClr val="FCFCFD"/>
          </a:solidFill>
          <a:ln w="1270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E2682"/>
                </a:solidFill>
                <a:latin typeface="Arial"/>
              </a:rPr>
              <a:t>TALK IT OVER:  “I got ______ because ______.”   •   Compare with a partner before we check as a class.</a:t>
            </a:r>
          </a:p>
        </p:txBody>
      </p:sp>
      <p:sp>
        <p:nvSpPr>
          <p:cNvPr id="280"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Turn and talk: compare strategies, then defend one.</a:t>
            </a:r>
          </a:p>
        </p:txBody>
      </p:sp>
      <p:sp>
        <p:nvSpPr>
          <p:cNvPr id="28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 / 51</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51"/>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7" name="Google Shape;477;p51"/>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8" name="Google Shape;478;p51"/>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Math Notes</a:t>
            </a:r>
            <a:endParaRPr/>
          </a:p>
        </p:txBody>
      </p:sp>
      <p:sp>
        <p:nvSpPr>
          <p:cNvPr id="479" name="Google Shape;479;p51"/>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400" u="none" cap="none" strike="noStrike">
                <a:solidFill>
                  <a:srgbClr val="FFFFFF"/>
                </a:solidFill>
                <a:latin typeface="Arial"/>
                <a:ea typeface="Arial"/>
                <a:cs typeface="Arial"/>
                <a:sym typeface="Arial"/>
              </a:rPr>
              <a:t>Lesson 7-1 · Explore Integers and Their Opposites</a:t>
            </a:r>
            <a:endParaRPr/>
          </a:p>
        </p:txBody>
      </p:sp>
      <p:sp>
        <p:nvSpPr>
          <p:cNvPr id="480" name="Google Shape;480;p51"/>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1" name="Google Shape;481;p51"/>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482" name="Google Shape;482;p51"/>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Section 1: Math Words</a:t>
            </a:r>
            <a:endParaRPr/>
          </a:p>
        </p:txBody>
      </p:sp>
      <p:sp>
        <p:nvSpPr>
          <p:cNvPr id="483" name="Google Shape;483;p51"/>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4" name="Google Shape;484;p51"/>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485" name="Google Shape;485;p51"/>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6" name="Google Shape;486;p51"/>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7" name="Google Shape;487;p51"/>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488" name="Google Shape;488;p51"/>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Integer</a:t>
            </a:r>
            <a:endParaRPr/>
          </a:p>
        </p:txBody>
      </p:sp>
      <p:sp>
        <p:nvSpPr>
          <p:cNvPr id="489" name="Google Shape;489;p51"/>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The counting numbers, their </a:t>
            </a:r>
            <a:r>
              <a:rPr b="1" i="0" lang="en-US" sz="1450" u="none" cap="none" strike="noStrike">
                <a:solidFill>
                  <a:srgbClr val="475569"/>
                </a:solidFill>
                <a:latin typeface="Arial"/>
                <a:ea typeface="Arial"/>
                <a:cs typeface="Arial"/>
                <a:sym typeface="Arial"/>
              </a:rPr>
              <a:t xml:space="preserve">opposites</a:t>
            </a:r>
            <a:r>
              <a:rPr b="0" i="0" lang="en-US" sz="1450" u="none" cap="none" strike="noStrike">
                <a:solidFill>
                  <a:srgbClr val="475569"/>
                </a:solidFill>
                <a:latin typeface="Arial"/>
                <a:ea typeface="Arial"/>
                <a:cs typeface="Arial"/>
                <a:sym typeface="Arial"/>
              </a:rPr>
              <a:t xml:space="preserve">, and 0</a:t>
            </a:r>
            <a:endParaRPr/>
          </a:p>
        </p:txBody>
      </p:sp>
      <p:sp>
        <p:nvSpPr>
          <p:cNvPr id="490" name="Google Shape;490;p51"/>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1" name="Google Shape;491;p51"/>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2" name="Google Shape;492;p51"/>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493" name="Google Shape;493;p51"/>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Opposite</a:t>
            </a:r>
            <a:endParaRPr/>
          </a:p>
        </p:txBody>
      </p:sp>
      <p:sp>
        <p:nvSpPr>
          <p:cNvPr id="494" name="Google Shape;494;p51"/>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A number</a:t>
            </a:r>
            <a:endParaRPr/>
          </a:p>
        </p:txBody>
      </p:sp>
      <p:sp>
        <p:nvSpPr>
          <p:cNvPr id="495" name="Google Shape;495;p51"/>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6" name="Google Shape;496;p51"/>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7" name="Google Shape;497;p51"/>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498" name="Google Shape;498;p51"/>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Negative number</a:t>
            </a:r>
            <a:endParaRPr/>
          </a:p>
        </p:txBody>
      </p:sp>
      <p:sp>
        <p:nvSpPr>
          <p:cNvPr id="499" name="Google Shape;499;p51"/>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A number less than 0, written with a − sign</a:t>
            </a:r>
            <a:endParaRPr/>
          </a:p>
        </p:txBody>
      </p:sp>
      <p:sp>
        <p:nvSpPr>
          <p:cNvPr id="50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 / 51</a:t>
            </a:r>
          </a:p>
        </p:txBody>
      </p:sp>
      <p:grpSp>
        <p:nvGrpSpPr>
          <p:cNvPr id="501" name="TEACH-1-student-move" descr="TEACH 1 · Facilitate clear, standards-based content learning"/>
          <p:cNvGrpSpPr/>
          <p:nvPr/>
        </p:nvGrpSpPr>
        <p:grpSpPr>
          <a:xfrm>
            <a:off x="6187440" y="1682496"/>
            <a:ext cx="5501640" cy="594360"/>
            <a:chOff x="6187440" y="1682496"/>
            <a:chExt cx="5501640" cy="594360"/>
          </a:xfrm>
        </p:grpSpPr>
        <p:sp>
          <p:nvSpPr>
            <p:cNvPr id="502"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03"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04"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SAY THE GOAL  ·  </a:t>
              </a:r>
              <a:r>
                <a:rPr lang="en-US" sz="1200" dirty="0">
                  <a:solidFill>
                    <a:srgbClr val="13303A"/>
                  </a:solidFill>
                  <a:latin typeface="Arial"/>
                </a:rPr>
                <a:t>Say today’s goal in your own words, then name one place this shows up outside math class.</a:t>
              </a:r>
              <a:endParaRPr lang="en-US" sz="1200"/>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52"/>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5" name="Google Shape;505;p52"/>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6" name="Google Shape;506;p52"/>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Math Notes</a:t>
            </a:r>
            <a:endParaRPr/>
          </a:p>
        </p:txBody>
      </p:sp>
      <p:sp>
        <p:nvSpPr>
          <p:cNvPr id="507" name="Google Shape;507;p52"/>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400" u="none" cap="none" strike="noStrike">
                <a:solidFill>
                  <a:srgbClr val="FFFFFF"/>
                </a:solidFill>
                <a:latin typeface="Arial"/>
                <a:ea typeface="Arial"/>
                <a:cs typeface="Arial"/>
                <a:sym typeface="Arial"/>
              </a:rPr>
              <a:t>Lesson 7-1 · Explore Integers and Their Opposites</a:t>
            </a:r>
            <a:endParaRPr/>
          </a:p>
        </p:txBody>
      </p:sp>
      <p:sp>
        <p:nvSpPr>
          <p:cNvPr id="508" name="Google Shape;508;p52"/>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9" name="Google Shape;509;p52"/>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10" name="Google Shape;510;p52"/>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Section 2: Today’s Math</a:t>
            </a:r>
            <a:endParaRPr/>
          </a:p>
        </p:txBody>
      </p:sp>
      <p:sp>
        <p:nvSpPr>
          <p:cNvPr id="511" name="Google Shape;511;p52"/>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2" name="Google Shape;512;p52"/>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13" name="Google Shape;513;p52"/>
          <p:cNvSpPr/>
          <p:nvPr/>
        </p:nvSpPr>
        <p:spPr>
          <a:xfrm>
            <a:off x="640080" y="2231136"/>
            <a:ext cx="10911809" cy="749808"/>
          </a:xfrm>
          <a:prstGeom prst="roundRect">
            <a:avLst>
              <a:gd fmla="val 70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4" name="Google Shape;514;p52"/>
          <p:cNvSpPr txBox="1"/>
          <p:nvPr/>
        </p:nvSpPr>
        <p:spPr>
          <a:xfrm>
            <a:off x="960120" y="2359152"/>
            <a:ext cx="10271729" cy="493775"/>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1" i="0" lang="en-US" sz="2700" u="none" cap="none" strike="noStrike">
                <a:solidFill>
                  <a:srgbClr val="14223A"/>
                </a:solidFill>
                <a:latin typeface="Arial"/>
                <a:ea typeface="Arial"/>
                <a:cs typeface="Arial"/>
                <a:sym typeface="Arial"/>
              </a:rPr>
              <a:t>Integers &amp; Opposites</a:t>
            </a:r>
            <a:endParaRPr/>
          </a:p>
        </p:txBody>
      </p:sp>
      <p:sp>
        <p:nvSpPr>
          <p:cNvPr id="515" name="Google Shape;515;p52"/>
          <p:cNvSpPr/>
          <p:nvPr/>
        </p:nvSpPr>
        <p:spPr>
          <a:xfrm>
            <a:off x="640080" y="3182112"/>
            <a:ext cx="10911809" cy="89611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6" name="Google Shape;516;p52"/>
          <p:cNvSpPr/>
          <p:nvPr/>
        </p:nvSpPr>
        <p:spPr>
          <a:xfrm>
            <a:off x="896112" y="3465576"/>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1</a:t>
            </a:r>
            <a:endParaRPr/>
          </a:p>
        </p:txBody>
      </p:sp>
      <p:sp>
        <p:nvSpPr>
          <p:cNvPr id="517" name="Google Shape;517;p52"/>
          <p:cNvSpPr txBox="1"/>
          <p:nvPr/>
        </p:nvSpPr>
        <p:spPr>
          <a:xfrm>
            <a:off x="1371600" y="3264408"/>
            <a:ext cx="10043129" cy="73152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1" i="0" lang="en-US" sz="1600" u="none" cap="none" strike="noStrike">
                <a:solidFill>
                  <a:srgbClr val="14223A"/>
                </a:solidFill>
                <a:latin typeface="Arial"/>
                <a:ea typeface="Arial"/>
                <a:cs typeface="Arial"/>
                <a:sym typeface="Arial"/>
              </a:rPr>
              <a:t xml:space="preserve">Integers: </a:t>
            </a:r>
            <a:r>
              <a:rPr b="1" i="0" lang="en-US" sz="1600" u="none" cap="none" strike="noStrike">
                <a:solidFill>
                  <a:srgbClr val="14223A"/>
                </a:solidFill>
                <a:latin typeface="Arial"/>
                <a:ea typeface="Arial"/>
                <a:cs typeface="Arial"/>
                <a:sym typeface="Arial"/>
              </a:rPr>
              <a:t xml:space="preserve">Positive</a:t>
            </a:r>
            <a:r>
              <a:rPr b="0" i="0" lang="en-US" sz="1600" u="none" cap="none" strike="noStrike">
                <a:solidFill>
                  <a:srgbClr val="14223A"/>
                </a:solidFill>
                <a:latin typeface="Arial"/>
                <a:ea typeface="Arial"/>
                <a:cs typeface="Arial"/>
                <a:sym typeface="Arial"/>
              </a:rPr>
              <a:t xml:space="preserve"> whole numbers, </a:t>
            </a:r>
            <a:r>
              <a:rPr b="1" i="0" lang="en-US" sz="1600" u="none" cap="none" strike="noStrike">
                <a:solidFill>
                  <a:srgbClr val="14223A"/>
                </a:solidFill>
                <a:latin typeface="Arial"/>
                <a:ea typeface="Arial"/>
                <a:cs typeface="Arial"/>
                <a:sym typeface="Arial"/>
              </a:rPr>
              <a:t xml:space="preserve">negative</a:t>
            </a:r>
            <a:r>
              <a:rPr b="0" i="0" lang="en-US" sz="1600" u="none" cap="none" strike="noStrike">
                <a:solidFill>
                  <a:srgbClr val="14223A"/>
                </a:solidFill>
                <a:latin typeface="Arial"/>
                <a:ea typeface="Arial"/>
                <a:cs typeface="Arial"/>
                <a:sym typeface="Arial"/>
              </a:rPr>
              <a:t xml:space="preserve"> whole numbers, and zero (…, −2, −1, 0, 1, 2, …)</a:t>
            </a:r>
            <a:endParaRPr/>
          </a:p>
        </p:txBody>
      </p:sp>
      <p:sp>
        <p:nvSpPr>
          <p:cNvPr id="518" name="Google Shape;518;p52"/>
          <p:cNvSpPr/>
          <p:nvPr/>
        </p:nvSpPr>
        <p:spPr>
          <a:xfrm>
            <a:off x="640080" y="4224528"/>
            <a:ext cx="10911809" cy="89611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9" name="Google Shape;519;p52"/>
          <p:cNvSpPr/>
          <p:nvPr/>
        </p:nvSpPr>
        <p:spPr>
          <a:xfrm>
            <a:off x="896112" y="4507992"/>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2</a:t>
            </a:r>
            <a:endParaRPr/>
          </a:p>
        </p:txBody>
      </p:sp>
      <p:sp>
        <p:nvSpPr>
          <p:cNvPr id="520" name="Google Shape;520;p52"/>
          <p:cNvSpPr txBox="1"/>
          <p:nvPr/>
        </p:nvSpPr>
        <p:spPr>
          <a:xfrm>
            <a:off x="1371600" y="4306824"/>
            <a:ext cx="10043129" cy="73152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1" i="0" lang="en-US" sz="1600" u="none" cap="none" strike="noStrike">
                <a:solidFill>
                  <a:srgbClr val="14223A"/>
                </a:solidFill>
                <a:latin typeface="Arial"/>
                <a:ea typeface="Arial"/>
                <a:cs typeface="Arial"/>
                <a:sym typeface="Arial"/>
              </a:rPr>
              <a:t xml:space="preserve">Opposites: </a:t>
            </a:r>
            <a:r>
              <a:rPr b="0" i="0" lang="en-US" sz="1600" u="none" cap="none" strike="noStrike">
                <a:solidFill>
                  <a:srgbClr val="14223A"/>
                </a:solidFill>
                <a:latin typeface="Arial"/>
                <a:ea typeface="Arial"/>
                <a:cs typeface="Arial"/>
                <a:sym typeface="Arial"/>
              </a:rPr>
              <a:t xml:space="preserve">Numbers that are the same distance from 0 in </a:t>
            </a:r>
            <a:r>
              <a:rPr b="1" i="0" lang="en-US" sz="1600" u="none" cap="none" strike="noStrike">
                <a:solidFill>
                  <a:srgbClr val="14223A"/>
                </a:solidFill>
                <a:latin typeface="Arial"/>
                <a:ea typeface="Arial"/>
                <a:cs typeface="Arial"/>
                <a:sym typeface="Arial"/>
              </a:rPr>
              <a:t xml:space="preserve">opposite</a:t>
            </a:r>
            <a:r>
              <a:rPr b="0" i="0" lang="en-US" sz="1600" u="none" cap="none" strike="noStrike">
                <a:solidFill>
                  <a:srgbClr val="14223A"/>
                </a:solidFill>
                <a:latin typeface="Arial"/>
                <a:ea typeface="Arial"/>
                <a:cs typeface="Arial"/>
                <a:sym typeface="Arial"/>
              </a:rPr>
              <a:t xml:space="preserve"> directions (e.g. −5 and 5)</a:t>
            </a:r>
            <a:endParaRPr/>
          </a:p>
        </p:txBody>
      </p:sp>
      <p:sp>
        <p:nvSpPr>
          <p:cNvPr id="521" name="Google Shape;521;p52"/>
          <p:cNvSpPr/>
          <p:nvPr/>
        </p:nvSpPr>
        <p:spPr>
          <a:xfrm>
            <a:off x="640080" y="5266944"/>
            <a:ext cx="10911809" cy="89611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2" name="Google Shape;522;p52"/>
          <p:cNvSpPr/>
          <p:nvPr/>
        </p:nvSpPr>
        <p:spPr>
          <a:xfrm>
            <a:off x="896112" y="5550408"/>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3</a:t>
            </a:r>
            <a:endParaRPr/>
          </a:p>
        </p:txBody>
      </p:sp>
      <p:sp>
        <p:nvSpPr>
          <p:cNvPr id="523" name="Google Shape;523;p52"/>
          <p:cNvSpPr txBox="1"/>
          <p:nvPr/>
        </p:nvSpPr>
        <p:spPr>
          <a:xfrm>
            <a:off x="1371600" y="5349240"/>
            <a:ext cx="10043129" cy="73152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0" i="0" lang="en-US" sz="1600" u="none" cap="none" strike="noStrike">
                <a:solidFill>
                  <a:srgbClr val="14223A"/>
                </a:solidFill>
                <a:latin typeface="Arial"/>
                <a:ea typeface="Arial"/>
                <a:cs typeface="Arial"/>
                <a:sym typeface="Arial"/>
              </a:rPr>
              <a:t>The opposite of the opposite of a number is the number itself: -(-a) = a</a:t>
            </a:r>
            <a:endParaRPr/>
          </a:p>
        </p:txBody>
      </p:sp>
      <p:sp>
        <p:nvSpPr>
          <p:cNvPr id="52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 / 51</a:t>
            </a:r>
          </a:p>
        </p:txBody>
      </p:sp>
      <p:grpSp>
        <p:nvGrpSpPr>
          <p:cNvPr id="525" name="TEACH-1-student-move" descr="TEACH 1 · Facilitate clear, standards-based content learning"/>
          <p:cNvGrpSpPr/>
          <p:nvPr/>
        </p:nvGrpSpPr>
        <p:grpSpPr>
          <a:xfrm>
            <a:off x="502920" y="5111496"/>
            <a:ext cx="11186160" cy="402336"/>
            <a:chOff x="502920" y="5111496"/>
            <a:chExt cx="11186160" cy="402336"/>
          </a:xfrm>
        </p:grpSpPr>
        <p:sp>
          <p:nvSpPr>
            <p:cNvPr id="526" name="TEACH-move-card"/>
            <p:cNvSpPr/>
            <p:nvPr/>
          </p:nvSpPr>
          <p:spPr>
            <a:xfrm>
              <a:off x="502920" y="5111496"/>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527" name="TEACH-move-rule"/>
            <p:cNvSpPr/>
            <p:nvPr/>
          </p:nvSpPr>
          <p:spPr>
            <a:xfrm>
              <a:off x="548640" y="5187940"/>
              <a:ext cx="100584" cy="249448"/>
            </a:xfrm>
            <a:prstGeom prst="roundRect">
              <a:avLst>
                <a:gd name="adj" fmla="val 50000"/>
              </a:avLst>
            </a:prstGeom>
            <a:solidFill>
              <a:srgbClr val="01708C"/>
            </a:solidFill>
            <a:ln>
              <a:noFill/>
            </a:ln>
          </p:spPr>
          <p:txBody>
            <a:bodyPr/>
            <a:lstStyle/>
            <a:p>
              <a:endParaRPr/>
            </a:p>
          </p:txBody>
        </p:sp>
        <p:sp>
          <p:nvSpPr>
            <p:cNvPr id="528" name="TEACH-move-text"/>
            <p:cNvSpPr txBox="1"/>
            <p:nvPr/>
          </p:nvSpPr>
          <p:spPr>
            <a:xfrm>
              <a:off x="822960" y="5111496"/>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CONNECT IT  ·  </a:t>
              </a:r>
              <a:r>
                <a:rPr lang="en-US" sz="1200" dirty="0">
                  <a:solidFill>
                    <a:srgbClr val="13303A"/>
                  </a:solidFill>
                  <a:latin typeface="Arial"/>
                </a:rPr>
                <a:t>What earlier lesson does this build on? Tell a partner in one sentence.</a:t>
              </a:r>
              <a:endParaRPr lang="en-US" sz="1200"/>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40"/>
          <p:cNvSpPr txBox="1"/>
          <p:nvPr/>
        </p:nvSpPr>
        <p:spPr>
          <a:xfrm>
            <a:off x="1402828" y="2453950"/>
            <a:ext cx="8935791" cy="21764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Explore Integers and Their Opposites</a:t>
            </a:r>
            <a:endParaRPr b="1" i="0" sz="3600" u="none" cap="none" strike="noStrike">
              <a:solidFill>
                <a:schemeClr val="dk1"/>
              </a:solidFill>
              <a:latin typeface="Arial"/>
              <a:ea typeface="Arial"/>
              <a:cs typeface="Arial"/>
              <a:sym typeface="Arial"/>
            </a:endParaRPr>
          </a:p>
        </p:txBody>
      </p:sp>
      <p:sp>
        <p:nvSpPr>
          <p:cNvPr id="234" name="Google Shape;234;p40"/>
          <p:cNvSpPr/>
          <p:nvPr/>
        </p:nvSpPr>
        <p:spPr>
          <a:xfrm>
            <a:off x="1402828" y="1037162"/>
            <a:ext cx="176362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782DA0"/>
                </a:solidFill>
                <a:latin typeface="Arial"/>
                <a:ea typeface="Arial"/>
                <a:cs typeface="Arial"/>
                <a:sym typeface="Arial"/>
              </a:rPr>
              <a:t>Session 1</a:t>
            </a:r>
            <a:endParaRPr b="1" i="0" sz="2800" u="none" cap="none" strike="noStrike">
              <a:solidFill>
                <a:srgbClr val="782DA0"/>
              </a:solidFill>
              <a:latin typeface="Arial"/>
              <a:ea typeface="Arial"/>
              <a:cs typeface="Arial"/>
              <a:sym typeface="Arial"/>
            </a:endParaRPr>
          </a:p>
        </p:txBody>
      </p:sp>
      <p:cxnSp>
        <p:nvCxnSpPr>
          <p:cNvPr id="235" name="Google Shape;235;p40"/>
          <p:cNvCxnSpPr/>
          <p:nvPr/>
        </p:nvCxnSpPr>
        <p:spPr>
          <a:xfrm>
            <a:off x="-1" y="1560382"/>
            <a:ext cx="3166453" cy="0"/>
          </a:xfrm>
          <a:prstGeom prst="straightConnector1">
            <a:avLst/>
          </a:prstGeom>
          <a:noFill/>
          <a:ln cap="flat" cmpd="sng" w="19050">
            <a:solidFill>
              <a:srgbClr val="782DA0"/>
            </a:solidFill>
            <a:prstDash val="solid"/>
            <a:miter lim="80"/>
            <a:headEnd len="sm" w="sm" type="none"/>
            <a:tailEnd len="sm" w="sm" type="none"/>
          </a:ln>
        </p:spPr>
      </p:cxnSp>
      <p:sp>
        <p:nvSpPr>
          <p:cNvPr id="23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 / 51</a:t>
            </a:r>
          </a:p>
        </p:txBody>
      </p:sp>
      <p:grpSp>
        <p:nvGrpSpPr>
          <p:cNvPr id="237" name="TEACH-2-student-move" descr="TEACH 2 · Use strategies and tasks to engage students in rigorous work"/>
          <p:cNvGrpSpPr/>
          <p:nvPr/>
        </p:nvGrpSpPr>
        <p:grpSpPr>
          <a:xfrm>
            <a:off x="502920" y="3201929"/>
            <a:ext cx="11186160" cy="731520"/>
            <a:chOff x="502920" y="3201929"/>
            <a:chExt cx="11186160" cy="731520"/>
          </a:xfrm>
        </p:grpSpPr>
        <p:sp>
          <p:nvSpPr>
            <p:cNvPr id="238" name="TEACH-move-card"/>
            <p:cNvSpPr/>
            <p:nvPr/>
          </p:nvSpPr>
          <p:spPr>
            <a:xfrm>
              <a:off x="502920" y="3201929"/>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239" name="TEACH-move-rule"/>
            <p:cNvSpPr/>
            <p:nvPr/>
          </p:nvSpPr>
          <p:spPr>
            <a:xfrm>
              <a:off x="548640" y="3340918"/>
              <a:ext cx="100584" cy="453542"/>
            </a:xfrm>
            <a:prstGeom prst="roundRect">
              <a:avLst>
                <a:gd name="adj" fmla="val 50000"/>
              </a:avLst>
            </a:prstGeom>
            <a:solidFill>
              <a:srgbClr val="01708C"/>
            </a:solidFill>
            <a:ln>
              <a:noFill/>
            </a:ln>
          </p:spPr>
          <p:txBody>
            <a:bodyPr/>
            <a:lstStyle/>
            <a:p>
              <a:endParaRPr/>
            </a:p>
          </p:txBody>
        </p:sp>
        <p:sp>
          <p:nvSpPr>
            <p:cNvPr id="240" name="TEACH-move-text"/>
            <p:cNvSpPr txBox="1"/>
            <p:nvPr/>
          </p:nvSpPr>
          <p:spPr>
            <a:xfrm>
              <a:off x="822960" y="3201929"/>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PICK YOUR STRATEGY  ·  </a:t>
              </a:r>
              <a:r>
                <a:rPr lang="en-US" sz="1800" dirty="0">
                  <a:solidFill>
                    <a:srgbClr val="13303A"/>
                  </a:solidFill>
                  <a:latin typeface="Arial"/>
                </a:rPr>
                <a:t>Choose your path — picture, table, number line, or equation — and be ready to say why you chose it.</a:t>
              </a:r>
              <a:endParaRPr lang="en-US" sz="1800"/>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cxnSp>
        <p:nvCxnSpPr>
          <p:cNvPr id="240" name="Google Shape;240;p4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241" name="Google Shape;241;p41"/>
          <p:cNvSpPr txBox="1"/>
          <p:nvPr/>
        </p:nvSpPr>
        <p:spPr>
          <a:xfrm>
            <a:off x="486000" y="316800"/>
            <a:ext cx="4671105"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About, Between, or Exact</a:t>
            </a:r>
            <a:endParaRPr b="0" i="0" sz="1400" u="none" cap="none" strike="noStrike">
              <a:solidFill>
                <a:srgbClr val="000000"/>
              </a:solidFill>
              <a:latin typeface="Arial"/>
              <a:ea typeface="Arial"/>
              <a:cs typeface="Arial"/>
              <a:sym typeface="Arial"/>
            </a:endParaRPr>
          </a:p>
        </p:txBody>
      </p:sp>
      <p:sp>
        <p:nvSpPr>
          <p:cNvPr id="242" name="Google Shape;242;p41"/>
          <p:cNvSpPr/>
          <p:nvPr/>
        </p:nvSpPr>
        <p:spPr>
          <a:xfrm>
            <a:off x="499310" y="936000"/>
            <a:ext cx="5996739" cy="270843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It is about ___.</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It is between ___ and ____.</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It is exactly ___.</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Arial"/>
              <a:ea typeface="Arial"/>
              <a:cs typeface="Arial"/>
              <a:sym typeface="Arial"/>
            </a:endParaRPr>
          </a:p>
        </p:txBody>
      </p:sp>
      <p:sp>
        <p:nvSpPr>
          <p:cNvPr id="243" name="Google Shape;243;p41"/>
          <p:cNvSpPr/>
          <p:nvPr/>
        </p:nvSpPr>
        <p:spPr>
          <a:xfrm>
            <a:off x="499310" y="3262593"/>
            <a:ext cx="1633524" cy="898964"/>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244" name="Google Shape;244;p41"/>
          <p:cNvSpPr/>
          <p:nvPr/>
        </p:nvSpPr>
        <p:spPr>
          <a:xfrm>
            <a:off x="3541042" y="3262593"/>
            <a:ext cx="1771895" cy="898964"/>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245" name="Google Shape;245;p41"/>
          <p:cNvSpPr/>
          <p:nvPr/>
        </p:nvSpPr>
        <p:spPr>
          <a:xfrm>
            <a:off x="6779300" y="3142012"/>
            <a:ext cx="1675715" cy="901785"/>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24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 / 51</a:t>
            </a:r>
          </a:p>
        </p:txBody>
      </p:sp>
      <p:sp xmlns:p="http://schemas.openxmlformats.org/presentationml/2006/main" xmlns:a="http://schemas.openxmlformats.org/drawingml/2006/main">
        <p:nvSpPr>
          <p:cNvPr id="247"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how the information shown supports your reasoning.</a:t>
            </a:r>
            <a:endParaRPr lang="en-US" sz="2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44"/>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5" name="Google Shape;335;p44"/>
          <p:cNvSpPr/>
          <p:nvPr/>
        </p:nvSpPr>
        <p:spPr>
          <a:xfrm>
            <a:off x="0" y="0"/>
            <a:ext cx="12191969" cy="713232"/>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6" name="Google Shape;336;p44"/>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Objectives</a:t>
            </a:r>
            <a:endParaRPr/>
          </a:p>
        </p:txBody>
      </p:sp>
      <p:sp>
        <p:nvSpPr>
          <p:cNvPr id="337" name="Google Shape;337;p44"/>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400" u="none" cap="none" strike="noStrike">
                <a:solidFill>
                  <a:srgbClr val="FFFFFF"/>
                </a:solidFill>
                <a:latin typeface="Arial"/>
                <a:ea typeface="Arial"/>
                <a:cs typeface="Arial"/>
                <a:sym typeface="Arial"/>
              </a:rPr>
              <a:t>Lesson 7-1 · Explore Integers and Their Opposites</a:t>
            </a:r>
            <a:endParaRPr/>
          </a:p>
        </p:txBody>
      </p:sp>
      <p:sp>
        <p:nvSpPr>
          <p:cNvPr id="338" name="Google Shape;338;p44"/>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9" name="Google Shape;339;p44"/>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340" name="Google Shape;340;p44"/>
          <p:cNvSpPr txBox="1"/>
          <p:nvPr/>
        </p:nvSpPr>
        <p:spPr>
          <a:xfrm>
            <a:off x="640080" y="969264"/>
            <a:ext cx="10911809" cy="631952"/>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defRPr/>
            </a:pPr>
            <a:r>
              <a:rPr b="1" i="0" lang="en-US" sz="3800" u="none" cap="none" strike="noStrike">
                <a:solidFill>
                  <a:srgbClr val="14223A"/>
                </a:solidFill>
                <a:latin typeface="Arial"/>
                <a:ea typeface="Arial"/>
                <a:cs typeface="Arial"/>
                <a:sym typeface="Arial"/>
              </a:rPr>
              <a:t>Explore Integers and Their Opposites</a:t>
            </a:r>
            <a:endParaRPr/>
          </a:p>
        </p:txBody>
      </p:sp>
      <p:sp>
        <p:nvSpPr>
          <p:cNvPr id="341" name="Google Shape;341;p44"/>
          <p:cNvSpPr txBox="1"/>
          <p:nvPr/>
        </p:nvSpPr>
        <p:spPr>
          <a:xfrm>
            <a:off x="640080" y="1637792"/>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475569"/>
                </a:solidFill>
                <a:latin typeface="Arial"/>
                <a:ea typeface="Arial"/>
                <a:cs typeface="Arial"/>
                <a:sym typeface="Arial"/>
              </a:rPr>
              <a:t>Maryland Standard 6.NOS.6</a:t>
            </a:r>
            <a:endParaRPr/>
          </a:p>
        </p:txBody>
      </p:sp>
      <p:sp>
        <p:nvSpPr>
          <p:cNvPr id="342" name="Google Shape;342;p44"/>
          <p:cNvSpPr/>
          <p:nvPr/>
        </p:nvSpPr>
        <p:spPr>
          <a:xfrm>
            <a:off x="640080" y="2432304"/>
            <a:ext cx="5349240" cy="3621024"/>
          </a:xfrm>
          <a:prstGeom prst="roundRect">
            <a:avLst>
              <a:gd fmla="val 4500" name="adj"/>
            </a:avLst>
          </a:prstGeom>
          <a:solidFill>
            <a:srgbClr val="E3F2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3" name="Google Shape;343;p44"/>
          <p:cNvSpPr/>
          <p:nvPr/>
        </p:nvSpPr>
        <p:spPr>
          <a:xfrm>
            <a:off x="640080" y="2432304"/>
            <a:ext cx="118872" cy="3621024"/>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4" name="Google Shape;344;p44"/>
          <p:cNvSpPr txBox="1"/>
          <p:nvPr/>
        </p:nvSpPr>
        <p:spPr>
          <a:xfrm>
            <a:off x="1097280" y="279806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0F766E"/>
                </a:solidFill>
                <a:latin typeface="Arial"/>
                <a:ea typeface="Arial"/>
                <a:cs typeface="Arial"/>
                <a:sym typeface="Arial"/>
              </a:rPr>
              <a:t>CONTENT OBJECTIVE</a:t>
            </a:r>
            <a:endParaRPr/>
          </a:p>
        </p:txBody>
      </p:sp>
      <p:sp>
        <p:nvSpPr>
          <p:cNvPr id="345" name="Google Shape;345;p44"/>
          <p:cNvSpPr txBox="1"/>
          <p:nvPr/>
        </p:nvSpPr>
        <p:spPr>
          <a:xfrm>
            <a:off x="1097280" y="312724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Restate the goal in your words</a:t>
            </a:r>
            <a:endParaRPr/>
          </a:p>
        </p:txBody>
      </p:sp>
      <p:sp>
        <p:nvSpPr>
          <p:cNvPr id="346" name="Google Shape;346;p44"/>
          <p:cNvSpPr txBox="1"/>
          <p:nvPr/>
        </p:nvSpPr>
        <p:spPr>
          <a:xfrm>
            <a:off x="1097280" y="3602736"/>
            <a:ext cx="4480559" cy="2048256"/>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defRPr/>
            </a:pPr>
            <a:r>
              <a:rPr b="1" i="0" lang="en-US" sz="2250" u="none" cap="none" strike="noStrike">
                <a:solidFill>
                  <a:srgbClr val="14223A"/>
                </a:solidFill>
                <a:latin typeface="Arial"/>
                <a:ea typeface="Arial"/>
                <a:cs typeface="Arial"/>
                <a:sym typeface="Arial"/>
              </a:rPr>
              <a:t>I can use integers to represent quantities in everyday life, explain what 0 means in each situation, and name the opposite of an integer on the number line.</a:t>
            </a:r>
            <a:endParaRPr/>
          </a:p>
        </p:txBody>
      </p:sp>
      <p:sp>
        <p:nvSpPr>
          <p:cNvPr id="347" name="Google Shape;347;p44"/>
          <p:cNvSpPr/>
          <p:nvPr/>
        </p:nvSpPr>
        <p:spPr>
          <a:xfrm>
            <a:off x="6382512" y="2432304"/>
            <a:ext cx="5349240" cy="3621024"/>
          </a:xfrm>
          <a:prstGeom prst="roundRect">
            <a:avLst>
              <a:gd fmla="val 45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8" name="Google Shape;348;p44"/>
          <p:cNvSpPr/>
          <p:nvPr/>
        </p:nvSpPr>
        <p:spPr>
          <a:xfrm>
            <a:off x="6382512" y="2432304"/>
            <a:ext cx="118872" cy="3621024"/>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9" name="Google Shape;349;p44"/>
          <p:cNvSpPr txBox="1"/>
          <p:nvPr/>
        </p:nvSpPr>
        <p:spPr>
          <a:xfrm>
            <a:off x="6839712" y="279806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C2410C"/>
                </a:solidFill>
                <a:latin typeface="Arial"/>
                <a:ea typeface="Arial"/>
                <a:cs typeface="Arial"/>
                <a:sym typeface="Arial"/>
              </a:rPr>
              <a:t>LANGUAGE OBJECTIVE</a:t>
            </a:r>
            <a:endParaRPr/>
          </a:p>
        </p:txBody>
      </p:sp>
      <p:sp>
        <p:nvSpPr>
          <p:cNvPr id="350" name="Google Shape;350;p44"/>
          <p:cNvSpPr txBox="1"/>
          <p:nvPr/>
        </p:nvSpPr>
        <p:spPr>
          <a:xfrm>
            <a:off x="6839712" y="312724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Use these words to explain why</a:t>
            </a:r>
            <a:endParaRPr/>
          </a:p>
        </p:txBody>
      </p:sp>
      <p:sp>
        <p:nvSpPr>
          <p:cNvPr id="351" name="Google Shape;351;p44"/>
          <p:cNvSpPr txBox="1"/>
          <p:nvPr/>
        </p:nvSpPr>
        <p:spPr>
          <a:xfrm>
            <a:off x="6839712" y="3602736"/>
            <a:ext cx="4480559" cy="2048256"/>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defRPr/>
            </a:pPr>
            <a:r>
              <a:rPr b="1" i="0" lang="en-US" sz="2500" u="none" cap="none" strike="noStrike">
                <a:solidFill>
                  <a:srgbClr val="14223A"/>
                </a:solidFill>
                <a:latin typeface="Arial"/>
                <a:ea typeface="Arial"/>
                <a:cs typeface="Arial"/>
                <a:sym typeface="Arial"/>
              </a:rPr>
              <a:t>I can explain my reasoning using the words integer, opposite, negative, positive, and number line.</a:t>
            </a:r>
            <a:endParaRPr/>
          </a:p>
        </p:txBody>
      </p:sp>
      <p:sp>
        <p:nvSpPr>
          <p:cNvPr id="35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6 / 51</a:t>
            </a:r>
          </a:p>
        </p:txBody>
      </p:sp>
      <p:grpSp>
        <p:nvGrpSpPr>
          <p:cNvPr id="353" name="TEACH-1-student-move" descr="TEACH 1 · Facilitate clear, standards-based content learning"/>
          <p:cNvGrpSpPr/>
          <p:nvPr/>
        </p:nvGrpSpPr>
        <p:grpSpPr>
          <a:xfrm>
            <a:off x="502920" y="1993392"/>
            <a:ext cx="11186160" cy="402336"/>
            <a:chOff x="502920" y="1993392"/>
            <a:chExt cx="11186160" cy="402336"/>
          </a:xfrm>
        </p:grpSpPr>
        <p:sp>
          <p:nvSpPr>
            <p:cNvPr id="354" name="TEACH-move-card"/>
            <p:cNvSpPr/>
            <p:nvPr/>
          </p:nvSpPr>
          <p:spPr>
            <a:xfrm>
              <a:off x="502920" y="1993392"/>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355" name="TEACH-move-rule"/>
            <p:cNvSpPr/>
            <p:nvPr/>
          </p:nvSpPr>
          <p:spPr>
            <a:xfrm>
              <a:off x="548640" y="2069836"/>
              <a:ext cx="100584" cy="249448"/>
            </a:xfrm>
            <a:prstGeom prst="roundRect">
              <a:avLst>
                <a:gd name="adj" fmla="val 50000"/>
              </a:avLst>
            </a:prstGeom>
            <a:solidFill>
              <a:srgbClr val="01708C"/>
            </a:solidFill>
            <a:ln>
              <a:noFill/>
            </a:ln>
          </p:spPr>
          <p:txBody>
            <a:bodyPr/>
            <a:lstStyle/>
            <a:p>
              <a:endParaRPr/>
            </a:p>
          </p:txBody>
        </p:sp>
        <p:sp>
          <p:nvSpPr>
            <p:cNvPr id="356" name="TEACH-move-text"/>
            <p:cNvSpPr txBox="1"/>
            <p:nvPr/>
          </p:nvSpPr>
          <p:spPr>
            <a:xfrm>
              <a:off x="822960" y="1993392"/>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SHOW YOUR THINKING  ·  </a:t>
              </a:r>
              <a:r>
                <a:rPr lang="en-US" sz="1200" dirty="0">
                  <a:solidFill>
                    <a:srgbClr val="13303A"/>
                  </a:solidFill>
                  <a:latin typeface="Arial"/>
                </a:rPr>
                <a:t>Show what you know — write it, draw it, or build it. A picture counts as an explanation.</a:t>
              </a:r>
              <a:endParaRPr lang="en-US" sz="1200"/>
            </a:p>
          </p:txBody>
        </p:sp>
      </p:gr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7.1  /  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What will show your learning?</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Oval 4"/>
          <p:cNvSpPr/>
          <p:nvPr/>
        </p:nvSpPr>
        <p:spPr>
          <a:xfrm>
            <a:off x="640080" y="1874519"/>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29384"/>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1</a:t>
            </a:r>
          </a:p>
        </p:txBody>
      </p:sp>
      <p:sp>
        <p:nvSpPr>
          <p:cNvPr id="7" name="TextBox 6"/>
          <p:cNvSpPr txBox="1"/>
          <p:nvPr/>
        </p:nvSpPr>
        <p:spPr>
          <a:xfrm>
            <a:off x="1399032" y="1856231"/>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Interpret positive, negative and zero in context.</a:t>
            </a:r>
          </a:p>
        </p:txBody>
      </p:sp>
      <p:sp>
        <p:nvSpPr>
          <p:cNvPr id="8" name="Oval 7"/>
          <p:cNvSpPr/>
          <p:nvPr/>
        </p:nvSpPr>
        <p:spPr>
          <a:xfrm>
            <a:off x="640080" y="2862072"/>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2916936"/>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2</a:t>
            </a:r>
          </a:p>
        </p:txBody>
      </p:sp>
      <p:sp>
        <p:nvSpPr>
          <p:cNvPr id="10" name="TextBox 9"/>
          <p:cNvSpPr txBox="1"/>
          <p:nvPr/>
        </p:nvSpPr>
        <p:spPr>
          <a:xfrm>
            <a:off x="1399032" y="2843784"/>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Locate opposites equally far from zero.</a:t>
            </a:r>
          </a:p>
        </p:txBody>
      </p:sp>
      <p:sp>
        <p:nvSpPr>
          <p:cNvPr id="11" name="Rounded Rectangle 10"/>
          <p:cNvSpPr/>
          <p:nvPr/>
        </p:nvSpPr>
        <p:spPr>
          <a:xfrm>
            <a:off x="594360" y="5120640"/>
            <a:ext cx="10972800" cy="822960"/>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5303520"/>
            <a:ext cx="10469880" cy="438912"/>
          </a:xfrm>
          <a:prstGeom prst="rect">
            <a:avLst/>
          </a:prstGeom>
          <a:noFill/>
        </p:spPr>
        <p:txBody>
          <a:bodyPr wrap="square" lIns="0" rIns="0" tIns="22860" bIns="0">
            <a:spAutoFit/>
          </a:bodyPr>
          <a:lstStyle/>
          <a:p>
            <a:pPr>
              <a:spcAft>
                <a:spcPts val="800"/>
              </a:spcAft>
              <a:defRPr sz="2200" b="0">
                <a:solidFill>
                  <a:srgbClr val="096B69"/>
                </a:solidFill>
                <a:latin typeface="Arial"/>
              </a:defRPr>
            </a:pPr>
            <a:r>
              <a:rPr/>
              <a:t>Tell a partner: Which skill connects to something you already know?</a:t>
            </a:r>
          </a:p>
        </p:txBody>
      </p:sp>
      <p:grpSp>
        <p:nvGrpSpPr>
          <p:cNvPr id="13" name="TEACH-1-student-move" descr="TEACH 1 · Facilitate clear, standards-based content learning"/>
          <p:cNvGrpSpPr/>
          <p:nvPr/>
        </p:nvGrpSpPr>
        <p:grpSpPr>
          <a:xfrm>
            <a:off x="502920" y="5824728"/>
            <a:ext cx="11186160" cy="402336"/>
            <a:chOff x="502920" y="5824728"/>
            <a:chExt cx="11186160" cy="402336"/>
          </a:xfrm>
        </p:grpSpPr>
        <p:sp>
          <p:nvSpPr>
            <p:cNvPr id="14"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5"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6"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WHY IT MATTERS  ·  </a:t>
              </a:r>
              <a:r>
                <a:rPr lang="en-US" sz="1200" dirty="0">
                  <a:solidFill>
                    <a:srgbClr val="13303A"/>
                  </a:solidFill>
                  <a:latin typeface="Arial"/>
                </a:rPr>
                <a:t>Finish this: “This is worth knowing because ______.”</a:t>
              </a:r>
              <a:endParaRPr lang="en-US" sz="1200"/>
            </a:p>
          </p:txBody>
        </p:sp>
      </p:gr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88" name="Google Shape;388;p46"/>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9" name="Google Shape;389;p46"/>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0" name="Google Shape;390;p46"/>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1 of 5</a:t>
            </a:r>
            <a:endParaRPr/>
          </a:p>
        </p:txBody>
      </p:sp>
      <p:sp>
        <p:nvSpPr>
          <p:cNvPr id="391" name="Google Shape;391;p46"/>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7-1 · Explore Integers and Their Opposites</a:t>
            </a:r>
            <a:endParaRPr/>
          </a:p>
        </p:txBody>
      </p:sp>
      <p:sp>
        <p:nvSpPr>
          <p:cNvPr id="392" name="Google Shape;392;p46"/>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3" name="Google Shape;393;p46"/>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394" name="Google Shape;394;p46"/>
          <p:cNvSpPr txBox="1"/>
          <p:nvPr/>
        </p:nvSpPr>
        <p:spPr>
          <a:xfrm>
            <a:off x="640080" y="1977771"/>
            <a:ext cx="10911809" cy="90220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5200" u="none" cap="none" strike="noStrike">
                <a:solidFill>
                  <a:srgbClr val="14223A"/>
                </a:solidFill>
                <a:latin typeface="Arial"/>
                <a:ea typeface="Arial"/>
                <a:cs typeface="Arial"/>
                <a:sym typeface="Arial"/>
              </a:rPr>
              <a:t>Integer</a:t>
            </a:r>
            <a:endParaRPr/>
          </a:p>
        </p:txBody>
      </p:sp>
      <p:sp>
        <p:nvSpPr>
          <p:cNvPr id="395" name="Google Shape;395;p46"/>
          <p:cNvSpPr/>
          <p:nvPr/>
        </p:nvSpPr>
        <p:spPr>
          <a:xfrm>
            <a:off x="658368" y="2934843"/>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6" name="Google Shape;396;p46"/>
          <p:cNvSpPr txBox="1"/>
          <p:nvPr/>
        </p:nvSpPr>
        <p:spPr>
          <a:xfrm>
            <a:off x="640080" y="3296031"/>
            <a:ext cx="10911809" cy="432054"/>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700" u="none" cap="none" strike="noStrike">
                <a:solidFill>
                  <a:srgbClr val="14223A"/>
                </a:solidFill>
                <a:latin typeface="Arial"/>
                <a:ea typeface="Arial"/>
                <a:cs typeface="Arial"/>
                <a:sym typeface="Arial"/>
              </a:rPr>
              <a:t>The counting numbers, their opposites, and 0.</a:t>
            </a:r>
            <a:endParaRPr/>
          </a:p>
        </p:txBody>
      </p:sp>
      <p:sp>
        <p:nvSpPr>
          <p:cNvPr id="397" name="Google Shape;397;p46"/>
          <p:cNvSpPr/>
          <p:nvPr/>
        </p:nvSpPr>
        <p:spPr>
          <a:xfrm>
            <a:off x="640080" y="4148709"/>
            <a:ext cx="10911809"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8" name="Google Shape;398;p46"/>
          <p:cNvSpPr/>
          <p:nvPr/>
        </p:nvSpPr>
        <p:spPr>
          <a:xfrm>
            <a:off x="640080" y="4148709"/>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9" name="Google Shape;399;p46"/>
          <p:cNvSpPr txBox="1"/>
          <p:nvPr/>
        </p:nvSpPr>
        <p:spPr>
          <a:xfrm>
            <a:off x="932688" y="4322445"/>
            <a:ext cx="10344881"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00" name="Google Shape;400;p46"/>
          <p:cNvSpPr txBox="1"/>
          <p:nvPr/>
        </p:nvSpPr>
        <p:spPr>
          <a:xfrm>
            <a:off x="932688" y="4624197"/>
            <a:ext cx="10344881"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100" u="none" cap="none" strike="noStrike">
                <a:solidFill>
                  <a:srgbClr val="14223A"/>
                </a:solidFill>
                <a:latin typeface="Arial"/>
                <a:ea typeface="Arial"/>
                <a:cs typeface="Arial"/>
                <a:sym typeface="Arial"/>
              </a:rPr>
              <a:t>…, −3, −2, −1, 0, 1, 2, 3, …</a:t>
            </a:r>
            <a:endParaRPr/>
          </a:p>
        </p:txBody>
      </p:sp>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8 / 51</a:t>
            </a:r>
          </a:p>
        </p:txBody>
      </p:sp>
      <p:sp xmlns:p="http://schemas.openxmlformats.org/presentationml/2006/main" xmlns:a="http://schemas.openxmlformats.org/drawingml/2006/main">
        <p:nvSpPr>
          <p:cNvPr id="401"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“Integer” to explain the example. Point to evidence.</a:t>
            </a:r>
            <a:endParaRPr lang="en-US" sz="200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05" name="Google Shape;405;p47"/>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6" name="Google Shape;406;p47"/>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7" name="Google Shape;407;p47"/>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2 of 5</a:t>
            </a:r>
            <a:endParaRPr/>
          </a:p>
        </p:txBody>
      </p:sp>
      <p:sp>
        <p:nvSpPr>
          <p:cNvPr id="408" name="Google Shape;408;p47"/>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7-1 · Explore Integers and Their Opposites</a:t>
            </a:r>
            <a:endParaRPr/>
          </a:p>
        </p:txBody>
      </p:sp>
      <p:sp>
        <p:nvSpPr>
          <p:cNvPr id="409" name="Google Shape;409;p47"/>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0" name="Google Shape;410;p47"/>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11" name="Google Shape;411;p47"/>
          <p:cNvSpPr txBox="1"/>
          <p:nvPr/>
        </p:nvSpPr>
        <p:spPr>
          <a:xfrm>
            <a:off x="640080" y="190271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Opposite</a:t>
            </a:r>
            <a:endParaRPr/>
          </a:p>
        </p:txBody>
      </p:sp>
      <p:sp>
        <p:nvSpPr>
          <p:cNvPr id="412" name="Google Shape;412;p47"/>
          <p:cNvSpPr/>
          <p:nvPr/>
        </p:nvSpPr>
        <p:spPr>
          <a:xfrm>
            <a:off x="658368" y="273786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3" name="Google Shape;413;p47"/>
          <p:cNvSpPr txBox="1"/>
          <p:nvPr/>
        </p:nvSpPr>
        <p:spPr>
          <a:xfrm>
            <a:off x="640080" y="309905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number that is the same distance from 0 as another number, but on the other side of 0.</a:t>
            </a:r>
            <a:endParaRPr/>
          </a:p>
        </p:txBody>
      </p:sp>
      <p:sp>
        <p:nvSpPr>
          <p:cNvPr id="414" name="Google Shape;414;p47"/>
          <p:cNvSpPr/>
          <p:nvPr/>
        </p:nvSpPr>
        <p:spPr>
          <a:xfrm>
            <a:off x="640080" y="4223766"/>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5" name="Google Shape;415;p47"/>
          <p:cNvSpPr/>
          <p:nvPr/>
        </p:nvSpPr>
        <p:spPr>
          <a:xfrm>
            <a:off x="640080" y="4223766"/>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6" name="Google Shape;416;p47"/>
          <p:cNvSpPr txBox="1"/>
          <p:nvPr/>
        </p:nvSpPr>
        <p:spPr>
          <a:xfrm>
            <a:off x="932688" y="439750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17" name="Google Shape;417;p47"/>
          <p:cNvSpPr txBox="1"/>
          <p:nvPr/>
        </p:nvSpPr>
        <p:spPr>
          <a:xfrm>
            <a:off x="932688" y="4699254"/>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86 and −86 are both 86 units from 0, on opposite sides</a:t>
            </a:r>
            <a:endParaRPr/>
          </a:p>
        </p:txBody>
      </p:sp>
      <p:pic>
        <p:nvPicPr>
          <p:cNvPr descr="opposite.png" id="418" name="Google Shape;418;p47"/>
          <p:cNvPicPr preferRelativeResize="0"/>
          <p:nvPr/>
        </p:nvPicPr>
        <p:blipFill rotWithShape="1">
          <a:blip r:embed="rId2">
            <a:alphaModFix/>
          </a:blip>
          <a:srcRect b="0" l="0" r="0" t="0"/>
          <a:stretch/>
        </p:blipFill>
        <p:spPr>
          <a:xfrm>
            <a:off x="6903720" y="1849581"/>
            <a:ext cx="4572000" cy="3433156"/>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9 / 51</a:t>
            </a:r>
          </a:p>
        </p:txBody>
      </p:sp>
      <p:sp xmlns:p="http://schemas.openxmlformats.org/presentationml/2006/main" xmlns:a="http://schemas.openxmlformats.org/drawingml/2006/main">
        <p:nvSpPr>
          <p:cNvPr id="419"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“Opposite” to explain the example. Point to evidence.</a:t>
            </a:r>
            <a:endParaRPr lang="en-US" sz="200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23" name="Google Shape;423;p48"/>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4" name="Google Shape;424;p48"/>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5" name="Google Shape;425;p48"/>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3 of 5</a:t>
            </a:r>
            <a:endParaRPr/>
          </a:p>
        </p:txBody>
      </p:sp>
      <p:sp>
        <p:nvSpPr>
          <p:cNvPr id="426" name="Google Shape;426;p48"/>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7-1 · Explore Integers and Their Opposites</a:t>
            </a:r>
            <a:endParaRPr/>
          </a:p>
        </p:txBody>
      </p:sp>
      <p:sp>
        <p:nvSpPr>
          <p:cNvPr id="427" name="Google Shape;427;p48"/>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8" name="Google Shape;428;p48"/>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29" name="Google Shape;429;p48"/>
          <p:cNvSpPr txBox="1"/>
          <p:nvPr/>
        </p:nvSpPr>
        <p:spPr>
          <a:xfrm>
            <a:off x="640080" y="190271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Negative number</a:t>
            </a:r>
            <a:endParaRPr/>
          </a:p>
        </p:txBody>
      </p:sp>
      <p:sp>
        <p:nvSpPr>
          <p:cNvPr id="430" name="Google Shape;430;p48"/>
          <p:cNvSpPr/>
          <p:nvPr/>
        </p:nvSpPr>
        <p:spPr>
          <a:xfrm>
            <a:off x="658368" y="2737866"/>
            <a:ext cx="17830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1" name="Google Shape;431;p48"/>
          <p:cNvSpPr txBox="1"/>
          <p:nvPr/>
        </p:nvSpPr>
        <p:spPr>
          <a:xfrm>
            <a:off x="640080" y="309905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number less than 0, written with a − sign. On a number line it sits to the left of 0.</a:t>
            </a:r>
            <a:endParaRPr/>
          </a:p>
        </p:txBody>
      </p:sp>
      <p:sp>
        <p:nvSpPr>
          <p:cNvPr id="432" name="Google Shape;432;p48"/>
          <p:cNvSpPr/>
          <p:nvPr/>
        </p:nvSpPr>
        <p:spPr>
          <a:xfrm>
            <a:off x="640080" y="4223766"/>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3" name="Google Shape;433;p48"/>
          <p:cNvSpPr/>
          <p:nvPr/>
        </p:nvSpPr>
        <p:spPr>
          <a:xfrm>
            <a:off x="640080" y="4223766"/>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4" name="Google Shape;434;p48"/>
          <p:cNvSpPr txBox="1"/>
          <p:nvPr/>
        </p:nvSpPr>
        <p:spPr>
          <a:xfrm>
            <a:off x="932688" y="439750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35" name="Google Shape;435;p48"/>
          <p:cNvSpPr txBox="1"/>
          <p:nvPr/>
        </p:nvSpPr>
        <p:spPr>
          <a:xfrm>
            <a:off x="932688" y="4699254"/>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−86 meters means 86 meters BELOW sea level</a:t>
            </a:r>
            <a:endParaRPr/>
          </a:p>
        </p:txBody>
      </p:sp>
      <p:pic>
        <p:nvPicPr>
          <p:cNvPr descr="negative.png" id="436" name="Google Shape;436;p48"/>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10 / 51</a:t>
            </a:r>
          </a:p>
        </p:txBody>
      </p:sp>
      <p:sp xmlns:p="http://schemas.openxmlformats.org/presentationml/2006/main" xmlns:a="http://schemas.openxmlformats.org/drawingml/2006/main">
        <p:nvSpPr>
          <p:cNvPr id="437" name="TEACH-embedded-student-prompt" descr="Student thinking and response directions"/>
          <p:cNvSpPr txBox="1"/>
          <p:nvPr/>
        </p:nvSpPr>
        <p:spPr>
          <a:xfrm>
            <a:off x="4099560" y="55046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“Negative number” to explain the example. Point to</a:t>
            </a:r>
            <a:endParaRPr lang="en-US" sz="2000"/>
          </a:p>
          <a:p>
            <a:pPr>
              <a:lnSpc>
                <a:spcPts val="2400"/>
              </a:lnSpc>
              <a:buNone/>
            </a:pPr>
            <a:r>
              <a:rPr lang="en-US" sz="2000">
                <a:solidFill>
                  <a:srgbClr val="174D60"/>
                </a:solidFill>
                <a:latin typeface="Arial"/>
              </a:rPr>
              <a:t>evidence.</a:t>
            </a:r>
            <a:endParaRPr lang="en-US" sz="200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41" name="Google Shape;441;p49"/>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2" name="Google Shape;442;p49"/>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3" name="Google Shape;443;p49"/>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4 of 5</a:t>
            </a:r>
            <a:endParaRPr/>
          </a:p>
        </p:txBody>
      </p:sp>
      <p:sp>
        <p:nvSpPr>
          <p:cNvPr id="444" name="Google Shape;444;p49"/>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7-1 · Explore Integers and Their Opposites</a:t>
            </a:r>
            <a:endParaRPr/>
          </a:p>
        </p:txBody>
      </p:sp>
      <p:sp>
        <p:nvSpPr>
          <p:cNvPr id="445" name="Google Shape;445;p49"/>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6" name="Google Shape;446;p49"/>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47" name="Google Shape;447;p49"/>
          <p:cNvSpPr txBox="1"/>
          <p:nvPr/>
        </p:nvSpPr>
        <p:spPr>
          <a:xfrm>
            <a:off x="640080" y="190271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Positive number</a:t>
            </a:r>
            <a:endParaRPr/>
          </a:p>
        </p:txBody>
      </p:sp>
      <p:sp>
        <p:nvSpPr>
          <p:cNvPr id="448" name="Google Shape;448;p49"/>
          <p:cNvSpPr/>
          <p:nvPr/>
        </p:nvSpPr>
        <p:spPr>
          <a:xfrm>
            <a:off x="658368" y="2737866"/>
            <a:ext cx="17830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9" name="Google Shape;449;p49"/>
          <p:cNvSpPr txBox="1"/>
          <p:nvPr/>
        </p:nvSpPr>
        <p:spPr>
          <a:xfrm>
            <a:off x="640080" y="309905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number greater than 0. On a number line it sits to the right of 0.</a:t>
            </a:r>
            <a:endParaRPr/>
          </a:p>
        </p:txBody>
      </p:sp>
      <p:sp>
        <p:nvSpPr>
          <p:cNvPr id="450" name="Google Shape;450;p49"/>
          <p:cNvSpPr/>
          <p:nvPr/>
        </p:nvSpPr>
        <p:spPr>
          <a:xfrm>
            <a:off x="640080" y="4223766"/>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1" name="Google Shape;451;p49"/>
          <p:cNvSpPr/>
          <p:nvPr/>
        </p:nvSpPr>
        <p:spPr>
          <a:xfrm>
            <a:off x="640080" y="4223766"/>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2" name="Google Shape;452;p49"/>
          <p:cNvSpPr txBox="1"/>
          <p:nvPr/>
        </p:nvSpPr>
        <p:spPr>
          <a:xfrm>
            <a:off x="932688" y="439750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53" name="Google Shape;453;p49"/>
          <p:cNvSpPr txBox="1"/>
          <p:nvPr/>
        </p:nvSpPr>
        <p:spPr>
          <a:xfrm>
            <a:off x="932688" y="4699254"/>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9°C is 9 degrees ABOVE zero</a:t>
            </a:r>
            <a:endParaRPr/>
          </a:p>
        </p:txBody>
      </p:sp>
      <p:pic>
        <p:nvPicPr>
          <p:cNvPr descr="positive.png" id="454" name="Google Shape;454;p49"/>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11 / 51</a:t>
            </a:r>
          </a:p>
        </p:txBody>
      </p:sp>
      <p:sp xmlns:p="http://schemas.openxmlformats.org/presentationml/2006/main" xmlns:a="http://schemas.openxmlformats.org/drawingml/2006/main">
        <p:nvSpPr>
          <p:cNvPr id="455" name="TEACH-embedded-student-prompt" descr="Student thinking and response directions"/>
          <p:cNvSpPr txBox="1"/>
          <p:nvPr/>
        </p:nvSpPr>
        <p:spPr>
          <a:xfrm>
            <a:off x="4099560" y="55046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“Positive number” to explain the example. Point to</a:t>
            </a:r>
            <a:endParaRPr lang="en-US" sz="2000"/>
          </a:p>
          <a:p>
            <a:pPr>
              <a:lnSpc>
                <a:spcPts val="2400"/>
              </a:lnSpc>
              <a:buNone/>
            </a:pPr>
            <a:r>
              <a:rPr lang="en-US" sz="2000">
                <a:solidFill>
                  <a:srgbClr val="174D60"/>
                </a:solidFill>
                <a:latin typeface="Arial"/>
              </a:rPr>
              <a:t>evidence.</a:t>
            </a:r>
            <a:endParaRPr lang="en-US" sz="200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59" name="Google Shape;459;p50"/>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0" name="Google Shape;460;p50"/>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1" name="Google Shape;461;p50"/>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5 of 5</a:t>
            </a:r>
            <a:endParaRPr/>
          </a:p>
        </p:txBody>
      </p:sp>
      <p:sp>
        <p:nvSpPr>
          <p:cNvPr id="462" name="Google Shape;462;p50"/>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7-1 · Explore Integers and Their Opposites</a:t>
            </a:r>
            <a:endParaRPr/>
          </a:p>
        </p:txBody>
      </p:sp>
      <p:sp>
        <p:nvSpPr>
          <p:cNvPr id="463" name="Google Shape;463;p50"/>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4" name="Google Shape;464;p50"/>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65" name="Google Shape;465;p50"/>
          <p:cNvSpPr txBox="1"/>
          <p:nvPr/>
        </p:nvSpPr>
        <p:spPr>
          <a:xfrm>
            <a:off x="640080" y="1761743"/>
            <a:ext cx="10911809" cy="90220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5200" u="none" cap="none" strike="noStrike">
                <a:solidFill>
                  <a:srgbClr val="14223A"/>
                </a:solidFill>
                <a:latin typeface="Arial"/>
                <a:ea typeface="Arial"/>
                <a:cs typeface="Arial"/>
                <a:sym typeface="Arial"/>
              </a:rPr>
              <a:t>Number line</a:t>
            </a:r>
            <a:endParaRPr/>
          </a:p>
        </p:txBody>
      </p:sp>
      <p:sp>
        <p:nvSpPr>
          <p:cNvPr id="466" name="Google Shape;466;p50"/>
          <p:cNvSpPr/>
          <p:nvPr/>
        </p:nvSpPr>
        <p:spPr>
          <a:xfrm>
            <a:off x="658368" y="2718816"/>
            <a:ext cx="1307592"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7" name="Google Shape;467;p50"/>
          <p:cNvSpPr txBox="1"/>
          <p:nvPr/>
        </p:nvSpPr>
        <p:spPr>
          <a:xfrm>
            <a:off x="640080" y="3080004"/>
            <a:ext cx="10911809" cy="86410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700" u="none" cap="none" strike="noStrike">
                <a:solidFill>
                  <a:srgbClr val="14223A"/>
                </a:solidFill>
                <a:latin typeface="Arial"/>
                <a:ea typeface="Arial"/>
                <a:cs typeface="Arial"/>
                <a:sym typeface="Arial"/>
              </a:rPr>
              <a:t>A straight line where numbers are placed in order. It extends to the left of 0 to show values less than 0.</a:t>
            </a:r>
            <a:endParaRPr/>
          </a:p>
        </p:txBody>
      </p:sp>
      <p:sp>
        <p:nvSpPr>
          <p:cNvPr id="468" name="Google Shape;468;p50"/>
          <p:cNvSpPr/>
          <p:nvPr/>
        </p:nvSpPr>
        <p:spPr>
          <a:xfrm>
            <a:off x="640080" y="4364736"/>
            <a:ext cx="10911809"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9" name="Google Shape;469;p50"/>
          <p:cNvSpPr/>
          <p:nvPr/>
        </p:nvSpPr>
        <p:spPr>
          <a:xfrm>
            <a:off x="640080" y="4364736"/>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0" name="Google Shape;470;p50"/>
          <p:cNvSpPr txBox="1"/>
          <p:nvPr/>
        </p:nvSpPr>
        <p:spPr>
          <a:xfrm>
            <a:off x="932688" y="4538472"/>
            <a:ext cx="10344881"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71" name="Google Shape;471;p50"/>
          <p:cNvSpPr txBox="1"/>
          <p:nvPr/>
        </p:nvSpPr>
        <p:spPr>
          <a:xfrm>
            <a:off x="932688" y="4840224"/>
            <a:ext cx="10344881"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100" u="none" cap="none" strike="noStrike">
                <a:solidFill>
                  <a:srgbClr val="14223A"/>
                </a:solidFill>
                <a:latin typeface="Arial"/>
                <a:ea typeface="Arial"/>
                <a:cs typeface="Arial"/>
                <a:sym typeface="Arial"/>
              </a:rPr>
              <a:t>−3, −2, −1, 0, 1, 2, 3 marked in order from left to right</a:t>
            </a:r>
            <a:endParaRPr/>
          </a:p>
        </p:txBody>
      </p:sp>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12 / 51</a:t>
            </a:r>
          </a:p>
        </p:txBody>
      </p:sp>
      <p:sp xmlns:p="http://schemas.openxmlformats.org/presentationml/2006/main" xmlns:a="http://schemas.openxmlformats.org/drawingml/2006/main">
        <p:nvSpPr>
          <p:cNvPr id="472"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“Number line” to explain the example. Point to evidence.</a:t>
            </a:r>
            <a:endParaRPr lang="en-US" sz="20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45"/>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7" name="Google Shape;357;p45"/>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8" name="Google Shape;358;p45"/>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a:t>
            </a:r>
            <a:endParaRPr/>
          </a:p>
        </p:txBody>
      </p:sp>
      <p:sp>
        <p:nvSpPr>
          <p:cNvPr id="359" name="Google Shape;359;p45"/>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400" u="none" cap="none" strike="noStrike">
                <a:solidFill>
                  <a:srgbClr val="FFFFFF"/>
                </a:solidFill>
                <a:latin typeface="Arial"/>
                <a:ea typeface="Arial"/>
                <a:cs typeface="Arial"/>
                <a:sym typeface="Arial"/>
              </a:rPr>
              <a:t>Lesson 7-1 · Explore Integers and Their Opposites</a:t>
            </a:r>
            <a:endParaRPr/>
          </a:p>
        </p:txBody>
      </p:sp>
      <p:sp>
        <p:nvSpPr>
          <p:cNvPr id="360" name="Google Shape;360;p45"/>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1" name="Google Shape;361;p45"/>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362" name="Google Shape;362;p45"/>
          <p:cNvSpPr txBox="1"/>
          <p:nvPr/>
        </p:nvSpPr>
        <p:spPr>
          <a:xfrm>
            <a:off x="640080" y="1005840"/>
            <a:ext cx="10911809" cy="5120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400" u="none" cap="none" strike="noStrike">
                <a:solidFill>
                  <a:srgbClr val="14223A"/>
                </a:solidFill>
                <a:latin typeface="Arial"/>
                <a:ea typeface="Arial"/>
                <a:cs typeface="Arial"/>
                <a:sym typeface="Arial"/>
              </a:rPr>
              <a:t>Today’s Math Words</a:t>
            </a:r>
            <a:endParaRPr/>
          </a:p>
        </p:txBody>
      </p:sp>
      <p:sp>
        <p:nvSpPr>
          <p:cNvPr id="363" name="Google Shape;363;p45"/>
          <p:cNvSpPr txBox="1"/>
          <p:nvPr/>
        </p:nvSpPr>
        <p:spPr>
          <a:xfrm>
            <a:off x="640080" y="1591056"/>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1" lang="en-US" sz="1400" u="none" cap="none" strike="noStrike">
                <a:solidFill>
                  <a:srgbClr val="475569"/>
                </a:solidFill>
                <a:latin typeface="Arial"/>
                <a:ea typeface="Arial"/>
                <a:cs typeface="Arial"/>
                <a:sym typeface="Arial"/>
              </a:rPr>
              <a:t>We learn every word — what it means and what it looks like — before we use it.</a:t>
            </a:r>
            <a:endParaRPr/>
          </a:p>
        </p:txBody>
      </p:sp>
      <p:sp>
        <p:nvSpPr>
          <p:cNvPr id="364" name="Google Shape;364;p45"/>
          <p:cNvSpPr/>
          <p:nvPr/>
        </p:nvSpPr>
        <p:spPr>
          <a:xfrm>
            <a:off x="640080" y="2103120"/>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5" name="Google Shape;365;p45"/>
          <p:cNvSpPr/>
          <p:nvPr/>
        </p:nvSpPr>
        <p:spPr>
          <a:xfrm>
            <a:off x="640080" y="2103120"/>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6" name="Google Shape;366;p45"/>
          <p:cNvSpPr txBox="1"/>
          <p:nvPr/>
        </p:nvSpPr>
        <p:spPr>
          <a:xfrm>
            <a:off x="950976"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Integer</a:t>
            </a:r>
            <a:endParaRPr/>
          </a:p>
        </p:txBody>
      </p:sp>
      <p:sp>
        <p:nvSpPr>
          <p:cNvPr id="367" name="Google Shape;367;p45"/>
          <p:cNvSpPr txBox="1"/>
          <p:nvPr/>
        </p:nvSpPr>
        <p:spPr>
          <a:xfrm>
            <a:off x="950976" y="2578608"/>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475569"/>
                </a:solidFill>
                <a:latin typeface="Arial"/>
                <a:ea typeface="Arial"/>
                <a:cs typeface="Arial"/>
                <a:sym typeface="Arial"/>
              </a:rPr>
              <a:t>The counting numbers, their opposites, and 0</a:t>
            </a:r>
            <a:endParaRPr/>
          </a:p>
        </p:txBody>
      </p:sp>
      <p:sp>
        <p:nvSpPr>
          <p:cNvPr id="368" name="Google Shape;368;p45"/>
          <p:cNvSpPr/>
          <p:nvPr/>
        </p:nvSpPr>
        <p:spPr>
          <a:xfrm>
            <a:off x="6260576" y="2103120"/>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9" name="Google Shape;369;p45"/>
          <p:cNvSpPr/>
          <p:nvPr/>
        </p:nvSpPr>
        <p:spPr>
          <a:xfrm>
            <a:off x="6260576" y="2103120"/>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0" name="Google Shape;370;p45"/>
          <p:cNvSpPr txBox="1"/>
          <p:nvPr/>
        </p:nvSpPr>
        <p:spPr>
          <a:xfrm>
            <a:off x="6571472"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Opposite</a:t>
            </a:r>
            <a:endParaRPr/>
          </a:p>
        </p:txBody>
      </p:sp>
      <p:sp>
        <p:nvSpPr>
          <p:cNvPr id="371" name="Google Shape;371;p45"/>
          <p:cNvSpPr txBox="1"/>
          <p:nvPr/>
        </p:nvSpPr>
        <p:spPr>
          <a:xfrm>
            <a:off x="6571472" y="2578608"/>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250" u="none" cap="none" strike="noStrike">
                <a:solidFill>
                  <a:srgbClr val="475569"/>
                </a:solidFill>
                <a:latin typeface="Arial"/>
                <a:ea typeface="Arial"/>
                <a:cs typeface="Arial"/>
                <a:sym typeface="Arial"/>
              </a:rPr>
              <a:t>A number that is the same distance from 0 as another number, but on the other side of 0</a:t>
            </a:r>
            <a:endParaRPr/>
          </a:p>
        </p:txBody>
      </p:sp>
      <p:sp>
        <p:nvSpPr>
          <p:cNvPr id="372" name="Google Shape;372;p45"/>
          <p:cNvSpPr/>
          <p:nvPr/>
        </p:nvSpPr>
        <p:spPr>
          <a:xfrm>
            <a:off x="640080" y="3401568"/>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3" name="Google Shape;373;p45"/>
          <p:cNvSpPr/>
          <p:nvPr/>
        </p:nvSpPr>
        <p:spPr>
          <a:xfrm>
            <a:off x="640080" y="3401568"/>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4" name="Google Shape;374;p45"/>
          <p:cNvSpPr txBox="1"/>
          <p:nvPr/>
        </p:nvSpPr>
        <p:spPr>
          <a:xfrm>
            <a:off x="950976" y="3538727"/>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Negative number</a:t>
            </a:r>
            <a:endParaRPr/>
          </a:p>
        </p:txBody>
      </p:sp>
      <p:sp>
        <p:nvSpPr>
          <p:cNvPr id="375" name="Google Shape;375;p45"/>
          <p:cNvSpPr txBox="1"/>
          <p:nvPr/>
        </p:nvSpPr>
        <p:spPr>
          <a:xfrm>
            <a:off x="950976" y="3877056"/>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475569"/>
                </a:solidFill>
                <a:latin typeface="Arial"/>
                <a:ea typeface="Arial"/>
                <a:cs typeface="Arial"/>
                <a:sym typeface="Arial"/>
              </a:rPr>
              <a:t>A number less than 0, written with a − sign</a:t>
            </a:r>
            <a:endParaRPr/>
          </a:p>
        </p:txBody>
      </p:sp>
      <p:sp>
        <p:nvSpPr>
          <p:cNvPr id="376" name="Google Shape;376;p45"/>
          <p:cNvSpPr/>
          <p:nvPr/>
        </p:nvSpPr>
        <p:spPr>
          <a:xfrm>
            <a:off x="6260576" y="3401568"/>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7" name="Google Shape;377;p45"/>
          <p:cNvSpPr/>
          <p:nvPr/>
        </p:nvSpPr>
        <p:spPr>
          <a:xfrm>
            <a:off x="6260576" y="3401568"/>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8" name="Google Shape;378;p45"/>
          <p:cNvSpPr txBox="1"/>
          <p:nvPr/>
        </p:nvSpPr>
        <p:spPr>
          <a:xfrm>
            <a:off x="6571472" y="3538727"/>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Positive number</a:t>
            </a:r>
            <a:endParaRPr/>
          </a:p>
        </p:txBody>
      </p:sp>
      <p:sp>
        <p:nvSpPr>
          <p:cNvPr id="379" name="Google Shape;379;p45"/>
          <p:cNvSpPr txBox="1"/>
          <p:nvPr/>
        </p:nvSpPr>
        <p:spPr>
          <a:xfrm>
            <a:off x="6571472" y="3877056"/>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475569"/>
                </a:solidFill>
                <a:latin typeface="Arial"/>
                <a:ea typeface="Arial"/>
                <a:cs typeface="Arial"/>
                <a:sym typeface="Arial"/>
              </a:rPr>
              <a:t>A number greater than 0</a:t>
            </a:r>
            <a:endParaRPr/>
          </a:p>
        </p:txBody>
      </p:sp>
      <p:sp>
        <p:nvSpPr>
          <p:cNvPr id="380" name="Google Shape;380;p45"/>
          <p:cNvSpPr/>
          <p:nvPr/>
        </p:nvSpPr>
        <p:spPr>
          <a:xfrm>
            <a:off x="640080" y="4700016"/>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1" name="Google Shape;381;p45"/>
          <p:cNvSpPr/>
          <p:nvPr/>
        </p:nvSpPr>
        <p:spPr>
          <a:xfrm>
            <a:off x="640080" y="4700016"/>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2" name="Google Shape;382;p45"/>
          <p:cNvSpPr txBox="1"/>
          <p:nvPr/>
        </p:nvSpPr>
        <p:spPr>
          <a:xfrm>
            <a:off x="950976" y="4837176"/>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Number line</a:t>
            </a:r>
            <a:endParaRPr/>
          </a:p>
        </p:txBody>
      </p:sp>
      <p:sp>
        <p:nvSpPr>
          <p:cNvPr id="383" name="Google Shape;383;p45"/>
          <p:cNvSpPr txBox="1"/>
          <p:nvPr/>
        </p:nvSpPr>
        <p:spPr>
          <a:xfrm>
            <a:off x="950976" y="5175504"/>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475569"/>
                </a:solidFill>
                <a:latin typeface="Arial"/>
                <a:ea typeface="Arial"/>
                <a:cs typeface="Arial"/>
                <a:sym typeface="Arial"/>
              </a:rPr>
              <a:t>A straight line where numbers are placed in order</a:t>
            </a:r>
            <a:endParaRPr/>
          </a:p>
        </p:txBody>
      </p:sp>
      <p:sp>
        <p:nvSpPr>
          <p:cNvPr id="38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13 / 51</a:t>
            </a:r>
          </a:p>
        </p:txBody>
      </p:sp>
      <p:sp xmlns:p="http://schemas.openxmlformats.org/presentationml/2006/main" xmlns:a="http://schemas.openxmlformats.org/drawingml/2006/main">
        <p:nvSpPr>
          <p:cNvPr id="385" name="TEACH-embedded-student-prompt" descr="Student thinking and response directions"/>
          <p:cNvSpPr txBox="1"/>
          <p:nvPr/>
        </p:nvSpPr>
        <p:spPr>
          <a:xfrm>
            <a:off x="6111240" y="550468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one math word using the example.</a:t>
            </a:r>
            <a:endParaRPr lang="en-US" sz="2000"/>
          </a:p>
          <a:p>
            <a:pPr>
              <a:lnSpc>
                <a:spcPts val="2400"/>
              </a:lnSpc>
              <a:buNone/>
            </a:pPr>
            <a:r>
              <a:rPr lang="en-US" sz="2000">
                <a:solidFill>
                  <a:srgbClr val="174D60"/>
                </a:solidFill>
                <a:latin typeface="Arial"/>
              </a:rPr>
              <a:t>Partner: point to evidence.</a:t>
            </a:r>
            <a:endParaRPr lang="en-US" sz="20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cxnSp>
        <p:nvCxnSpPr>
          <p:cNvPr id="539" name="Google Shape;539;p5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540" name="Google Shape;540;p54"/>
          <p:cNvSpPr txBox="1"/>
          <p:nvPr/>
        </p:nvSpPr>
        <p:spPr>
          <a:xfrm>
            <a:off x="484560"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sp>
        <p:nvSpPr>
          <p:cNvPr id="541" name="Google Shape;541;p54"/>
          <p:cNvSpPr txBox="1"/>
          <p:nvPr/>
        </p:nvSpPr>
        <p:spPr>
          <a:xfrm>
            <a:off x="484560" y="936100"/>
            <a:ext cx="4441401" cy="52483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What do you notice?</a:t>
            </a:r>
            <a:endParaRPr b="0" i="0" sz="1400" u="none" cap="none" strike="noStrike">
              <a:solidFill>
                <a:srgbClr val="000000"/>
              </a:solidFill>
              <a:latin typeface="Arial"/>
              <a:ea typeface="Arial"/>
              <a:cs typeface="Arial"/>
              <a:sym typeface="Arial"/>
            </a:endParaRPr>
          </a:p>
        </p:txBody>
      </p:sp>
      <p:pic>
        <p:nvPicPr>
          <p:cNvPr id="542" name="Google Shape;542;p54"/>
          <p:cNvPicPr preferRelativeResize="0"/>
          <p:nvPr/>
        </p:nvPicPr>
        <p:blipFill rotWithShape="1">
          <a:blip r:embed="rId3">
            <a:alphaModFix/>
          </a:blip>
          <a:srcRect b="0" l="0" r="0" t="0"/>
          <a:stretch/>
        </p:blipFill>
        <p:spPr>
          <a:xfrm>
            <a:off x="484560" y="4643417"/>
            <a:ext cx="5054600" cy="838200"/>
          </a:xfrm>
          <a:prstGeom prst="rect">
            <a:avLst/>
          </a:prstGeom>
          <a:noFill/>
          <a:ln>
            <a:noFill/>
          </a:ln>
        </p:spPr>
      </p:pic>
      <p:sp>
        <p:nvSpPr>
          <p:cNvPr id="543" name="Google Shape;543;p54"/>
          <p:cNvSpPr txBox="1"/>
          <p:nvPr/>
        </p:nvSpPr>
        <p:spPr>
          <a:xfrm>
            <a:off x="3086401" y="4807336"/>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544" name="Google Shape;544;p54"/>
          <p:cNvSpPr txBox="1"/>
          <p:nvPr/>
        </p:nvSpPr>
        <p:spPr>
          <a:xfrm>
            <a:off x="459051" y="1692279"/>
            <a:ext cx="4441401" cy="52483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What do you wonder?</a:t>
            </a:r>
            <a:endParaRPr b="0" i="0" sz="1400" u="none" cap="none" strike="noStrike">
              <a:solidFill>
                <a:srgbClr val="000000"/>
              </a:solidFill>
              <a:latin typeface="Arial"/>
              <a:ea typeface="Arial"/>
              <a:cs typeface="Arial"/>
              <a:sym typeface="Arial"/>
            </a:endParaRPr>
          </a:p>
        </p:txBody>
      </p:sp>
      <p:sp>
        <p:nvSpPr>
          <p:cNvPr id="545" name="Google Shape;545;p54"/>
          <p:cNvSpPr txBox="1"/>
          <p:nvPr/>
        </p:nvSpPr>
        <p:spPr>
          <a:xfrm>
            <a:off x="484560" y="5491582"/>
            <a:ext cx="8773740" cy="8925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How do you give positive feedback to your classmates today?</a:t>
            </a:r>
            <a:endParaRPr b="0" i="0" sz="2600" u="none" cap="none" strike="noStrike">
              <a:solidFill>
                <a:srgbClr val="595959"/>
              </a:solidFill>
              <a:latin typeface="Arial"/>
              <a:ea typeface="Arial"/>
              <a:cs typeface="Arial"/>
              <a:sym typeface="Arial"/>
            </a:endParaRPr>
          </a:p>
        </p:txBody>
      </p:sp>
      <p:pic>
        <p:nvPicPr>
          <p:cNvPr descr="C:\Users\HP\Desktop\Grade_6_Unit_7-20230217T053830Z-001\Grade_6_Unit_7\OPS\img\chapter11\narm24_c10701_se_009a-dig.png" id="546" name="Google Shape;546;p54"/>
          <p:cNvPicPr preferRelativeResize="0"/>
          <p:nvPr/>
        </p:nvPicPr>
        <p:blipFill rotWithShape="1">
          <a:blip r:embed="rId4">
            <a:alphaModFix/>
          </a:blip>
          <a:srcRect b="0" l="0" r="0" t="0"/>
          <a:stretch/>
        </p:blipFill>
        <p:spPr>
          <a:xfrm>
            <a:off x="4738110" y="990363"/>
            <a:ext cx="4231797" cy="3348000"/>
          </a:xfrm>
          <a:prstGeom prst="rect">
            <a:avLst/>
          </a:prstGeom>
          <a:noFill/>
          <a:ln>
            <a:noFill/>
          </a:ln>
        </p:spPr>
      </p:pic>
      <p:sp>
        <p:nvSpPr>
          <p:cNvPr id="54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14 / 51</a:t>
            </a:r>
          </a:p>
        </p:txBody>
      </p:sp>
      <p:sp xmlns:p="http://schemas.openxmlformats.org/presentationml/2006/main" xmlns:a="http://schemas.openxmlformats.org/drawingml/2006/main">
        <p:nvSpPr>
          <p:cNvPr id="548" name="TEACH-embedded-student-prompt" descr="Student thinking and response directions"/>
          <p:cNvSpPr txBox="1"/>
          <p:nvPr/>
        </p:nvSpPr>
        <p:spPr>
          <a:xfrm>
            <a:off x="6111240" y="459028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Share a notice and a question;</a:t>
            </a:r>
            <a:endParaRPr lang="en-US" sz="2000"/>
          </a:p>
          <a:p>
            <a:pPr>
              <a:lnSpc>
                <a:spcPts val="2400"/>
              </a:lnSpc>
              <a:buNone/>
            </a:pPr>
            <a:r>
              <a:rPr lang="en-US" sz="2000">
                <a:solidFill>
                  <a:srgbClr val="174D60"/>
                </a:solidFill>
                <a:latin typeface="Arial"/>
              </a:rPr>
              <a:t>build on a classmate’s idea.</a:t>
            </a:r>
            <a:endParaRPr lang="en-US" sz="20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cxnSp>
        <p:nvCxnSpPr>
          <p:cNvPr id="562" name="Google Shape;562;p5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563" name="Google Shape;563;p56"/>
          <p:cNvSpPr txBox="1"/>
          <p:nvPr/>
        </p:nvSpPr>
        <p:spPr>
          <a:xfrm>
            <a:off x="484565" y="316034"/>
            <a:ext cx="5015483"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The Lowest Elevation</a:t>
            </a:r>
            <a:endParaRPr b="0" i="0" sz="1400" u="none" cap="none" strike="noStrike">
              <a:solidFill>
                <a:srgbClr val="000000"/>
              </a:solidFill>
              <a:latin typeface="Arial"/>
              <a:ea typeface="Arial"/>
              <a:cs typeface="Arial"/>
              <a:sym typeface="Arial"/>
            </a:endParaRPr>
          </a:p>
        </p:txBody>
      </p:sp>
      <p:sp>
        <p:nvSpPr>
          <p:cNvPr id="564" name="Google Shape;564;p56"/>
          <p:cNvSpPr txBox="1"/>
          <p:nvPr/>
        </p:nvSpPr>
        <p:spPr>
          <a:xfrm>
            <a:off x="484565" y="936000"/>
            <a:ext cx="6712648" cy="232339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The lowest elevation in North America is Badwater Basin in Death Valley, which is 86 meters below sea level.</a:t>
            </a:r>
            <a:endParaRPr b="0" i="0" sz="1400" u="none" cap="none" strike="noStrike">
              <a:solidFill>
                <a:srgbClr val="000000"/>
              </a:solidFill>
              <a:latin typeface="Arial"/>
              <a:ea typeface="Arial"/>
              <a:cs typeface="Arial"/>
              <a:sym typeface="Arial"/>
            </a:endParaRPr>
          </a:p>
        </p:txBody>
      </p:sp>
      <p:sp>
        <p:nvSpPr>
          <p:cNvPr id="565" name="Google Shape;565;p56"/>
          <p:cNvSpPr txBox="1"/>
          <p:nvPr/>
        </p:nvSpPr>
        <p:spPr>
          <a:xfrm>
            <a:off x="484565" y="4135210"/>
            <a:ext cx="6712648"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How can you represent this elevation?</a:t>
            </a:r>
            <a:endParaRPr b="0" i="0" sz="1400" u="none" cap="none" strike="noStrike">
              <a:solidFill>
                <a:srgbClr val="000000"/>
              </a:solidFill>
              <a:latin typeface="Arial"/>
              <a:ea typeface="Arial"/>
              <a:cs typeface="Arial"/>
              <a:sym typeface="Arial"/>
            </a:endParaRPr>
          </a:p>
        </p:txBody>
      </p:sp>
      <p:pic>
        <p:nvPicPr>
          <p:cNvPr id="566" name="Google Shape;566;p56"/>
          <p:cNvPicPr preferRelativeResize="0"/>
          <p:nvPr/>
        </p:nvPicPr>
        <p:blipFill rotWithShape="1">
          <a:blip r:embed="rId3">
            <a:alphaModFix/>
          </a:blip>
          <a:srcRect b="0" l="0" r="0" t="0"/>
          <a:stretch/>
        </p:blipFill>
        <p:spPr>
          <a:xfrm>
            <a:off x="484565" y="4867236"/>
            <a:ext cx="7073900" cy="838200"/>
          </a:xfrm>
          <a:prstGeom prst="rect">
            <a:avLst/>
          </a:prstGeom>
          <a:noFill/>
          <a:ln>
            <a:noFill/>
          </a:ln>
        </p:spPr>
      </p:pic>
      <p:sp>
        <p:nvSpPr>
          <p:cNvPr id="567" name="Google Shape;567;p56"/>
          <p:cNvSpPr/>
          <p:nvPr/>
        </p:nvSpPr>
        <p:spPr>
          <a:xfrm>
            <a:off x="3140730" y="5024726"/>
            <a:ext cx="3825086"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Using Representations</a:t>
            </a:r>
            <a:endParaRPr b="0" i="0" sz="1400" u="none" cap="none" strike="noStrike">
              <a:solidFill>
                <a:srgbClr val="000000"/>
              </a:solidFill>
              <a:latin typeface="Arial"/>
              <a:ea typeface="Arial"/>
              <a:cs typeface="Arial"/>
              <a:sym typeface="Arial"/>
            </a:endParaRPr>
          </a:p>
        </p:txBody>
      </p:sp>
      <p:sp>
        <p:nvSpPr>
          <p:cNvPr id="568" name="Google Shape;568;p56"/>
          <p:cNvSpPr/>
          <p:nvPr/>
        </p:nvSpPr>
        <p:spPr>
          <a:xfrm>
            <a:off x="681119" y="5668020"/>
            <a:ext cx="7460697"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defRPr/>
            </a:pPr>
            <a:r>
              <a:rPr b="0" i="0" lang="en-US" sz="2600" u="none" cap="none" strike="noStrike">
                <a:solidFill>
                  <a:srgbClr val="595959"/>
                </a:solidFill>
                <a:latin typeface="Arial"/>
                <a:ea typeface="Arial"/>
                <a:cs typeface="Arial"/>
                <a:sym typeface="Arial"/>
              </a:rPr>
              <a:t>How can you use a picture to solve this problem?</a:t>
            </a:r>
            <a:endParaRPr b="0" i="0" sz="2600" u="none" cap="none" strike="noStrike">
              <a:solidFill>
                <a:srgbClr val="595959"/>
              </a:solidFill>
              <a:latin typeface="Arial"/>
              <a:ea typeface="Arial"/>
              <a:cs typeface="Arial"/>
              <a:sym typeface="Arial"/>
            </a:endParaRPr>
          </a:p>
        </p:txBody>
      </p:sp>
      <p:pic>
        <p:nvPicPr>
          <p:cNvPr descr="C:\Users\HP\Desktop\Grade_6_Unit_7-20230217T053830Z-001\Grade_6_Unit_7\OPS\img\chapter12\narm24_c10701_se_010a-dig.png" id="569" name="Google Shape;569;p56"/>
          <p:cNvPicPr preferRelativeResize="0"/>
          <p:nvPr/>
        </p:nvPicPr>
        <p:blipFill rotWithShape="1">
          <a:blip r:embed="rId4">
            <a:alphaModFix/>
          </a:blip>
          <a:srcRect b="0" l="0" r="0" t="0"/>
          <a:stretch/>
        </p:blipFill>
        <p:spPr>
          <a:xfrm>
            <a:off x="7558465" y="1377046"/>
            <a:ext cx="4271248" cy="3060000"/>
          </a:xfrm>
          <a:prstGeom prst="rect">
            <a:avLst/>
          </a:prstGeom>
          <a:noFill/>
          <a:ln>
            <a:noFill/>
          </a:ln>
        </p:spPr>
      </p:pic>
      <p:sp>
        <p:nvSpPr>
          <p:cNvPr id="57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15 / 51</a:t>
            </a:r>
          </a:p>
        </p:txBody>
      </p:sp>
      <p:grpSp>
        <p:nvGrpSpPr>
          <p:cNvPr id="571" name="TEACH-6-student-move" descr="TEACH 6 · Organize and implement routines to support a learning-focused classroom"/>
          <p:cNvGrpSpPr/>
          <p:nvPr/>
        </p:nvGrpSpPr>
        <p:grpSpPr>
          <a:xfrm>
            <a:off x="502920" y="3458554"/>
            <a:ext cx="5501640" cy="594360"/>
            <a:chOff x="502920" y="3458554"/>
            <a:chExt cx="5501640" cy="594360"/>
          </a:xfrm>
        </p:grpSpPr>
        <p:sp>
          <p:nvSpPr>
            <p:cNvPr id="572" name="TEACH-move-card"/>
            <p:cNvSpPr/>
            <p:nvPr/>
          </p:nvSpPr>
          <p:spPr>
            <a:xfrm>
              <a:off x="502920" y="3458554"/>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73" name="TEACH-move-rule"/>
            <p:cNvSpPr/>
            <p:nvPr/>
          </p:nvSpPr>
          <p:spPr>
            <a:xfrm>
              <a:off x="548640" y="3571482"/>
              <a:ext cx="100584" cy="368504"/>
            </a:xfrm>
            <a:prstGeom prst="roundRect">
              <a:avLst>
                <a:gd name="adj" fmla="val 50000"/>
              </a:avLst>
            </a:prstGeom>
            <a:solidFill>
              <a:srgbClr val="01708C"/>
            </a:solidFill>
            <a:ln>
              <a:noFill/>
            </a:ln>
          </p:spPr>
          <p:txBody>
            <a:bodyPr/>
            <a:lstStyle/>
            <a:p>
              <a:endParaRPr/>
            </a:p>
          </p:txBody>
        </p:sp>
        <p:sp>
          <p:nvSpPr>
            <p:cNvPr id="574" name="TEACH-move-text"/>
            <p:cNvSpPr txBox="1"/>
            <p:nvPr/>
          </p:nvSpPr>
          <p:spPr>
            <a:xfrm>
              <a:off x="822960" y="3458554"/>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TRY IT BEFORE YOU’RE SURE  ·  </a:t>
              </a:r>
              <a:r>
                <a:rPr lang="en-US" sz="1200" dirty="0">
                  <a:solidFill>
                    <a:srgbClr val="13303A"/>
                  </a:solidFill>
                  <a:latin typeface="Arial"/>
                </a:rPr>
                <a:t>Start even if you are not sure. A revised answer counts as much as a first-try answer.</a:t>
              </a:r>
              <a:endParaRPr lang="en-US" sz="1200"/>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cxnSp>
        <p:nvCxnSpPr>
          <p:cNvPr id="586" name="Google Shape;586;p5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587" name="Google Shape;587;p58"/>
          <p:cNvSpPr txBox="1"/>
          <p:nvPr/>
        </p:nvSpPr>
        <p:spPr>
          <a:xfrm>
            <a:off x="484564" y="936000"/>
            <a:ext cx="8275977" cy="63075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Let’s make a diagram to represent the situation.</a:t>
            </a:r>
            <a:endParaRPr b="0" i="0" sz="1400" u="none" cap="none" strike="noStrike">
              <a:solidFill>
                <a:srgbClr val="000000"/>
              </a:solidFill>
              <a:latin typeface="Arial"/>
              <a:ea typeface="Arial"/>
              <a:cs typeface="Arial"/>
              <a:sym typeface="Arial"/>
            </a:endParaRPr>
          </a:p>
        </p:txBody>
      </p:sp>
      <p:sp>
        <p:nvSpPr>
          <p:cNvPr id="588" name="Google Shape;588;p58"/>
          <p:cNvSpPr txBox="1"/>
          <p:nvPr/>
        </p:nvSpPr>
        <p:spPr>
          <a:xfrm>
            <a:off x="493935" y="1786565"/>
            <a:ext cx="6319820"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When measuring elevation, sea level is defined as 0.</a:t>
            </a:r>
            <a:endParaRPr b="1" i="0" sz="2800" u="none" cap="none" strike="noStrike">
              <a:solidFill>
                <a:schemeClr val="dk1"/>
              </a:solidFill>
              <a:latin typeface="Arial"/>
              <a:ea typeface="Arial"/>
              <a:cs typeface="Arial"/>
              <a:sym typeface="Arial"/>
            </a:endParaRPr>
          </a:p>
        </p:txBody>
      </p:sp>
      <p:sp>
        <p:nvSpPr>
          <p:cNvPr id="589" name="Google Shape;589;p58"/>
          <p:cNvSpPr/>
          <p:nvPr/>
        </p:nvSpPr>
        <p:spPr>
          <a:xfrm>
            <a:off x="459611" y="2863502"/>
            <a:ext cx="6914583"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Badwater Basin is 86 meters below sea level.</a:t>
            </a:r>
            <a:endParaRPr b="0" i="0" sz="2800" u="none" cap="none" strike="noStrike">
              <a:solidFill>
                <a:schemeClr val="dk1"/>
              </a:solidFill>
              <a:latin typeface="Arial"/>
              <a:ea typeface="Arial"/>
              <a:cs typeface="Arial"/>
              <a:sym typeface="Arial"/>
            </a:endParaRPr>
          </a:p>
        </p:txBody>
      </p:sp>
      <p:sp>
        <p:nvSpPr>
          <p:cNvPr id="590" name="Google Shape;590;p58"/>
          <p:cNvSpPr/>
          <p:nvPr/>
        </p:nvSpPr>
        <p:spPr>
          <a:xfrm>
            <a:off x="426554" y="3897499"/>
            <a:ext cx="6682169"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Will Badwater Basin be above or below 0 on the diagram? Explain.</a:t>
            </a:r>
            <a:endParaRPr b="0" i="0" sz="2800" u="none" cap="none" strike="noStrike">
              <a:solidFill>
                <a:schemeClr val="dk1"/>
              </a:solidFill>
              <a:latin typeface="Arial"/>
              <a:ea typeface="Arial"/>
              <a:cs typeface="Arial"/>
              <a:sym typeface="Arial"/>
            </a:endParaRPr>
          </a:p>
        </p:txBody>
      </p:sp>
      <p:sp>
        <p:nvSpPr>
          <p:cNvPr id="591" name="Google Shape;591;p58"/>
          <p:cNvSpPr txBox="1"/>
          <p:nvPr/>
        </p:nvSpPr>
        <p:spPr>
          <a:xfrm>
            <a:off x="426554" y="5055156"/>
            <a:ext cx="11132621" cy="108017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It will be below 0 because the elevation is 86 meters below sea level.</a:t>
            </a:r>
            <a:endParaRPr b="1" i="0" sz="2800" u="none" cap="none" strike="noStrike">
              <a:solidFill>
                <a:srgbClr val="595959"/>
              </a:solidFill>
              <a:highlight>
                <a:srgbClr val="E0E0E0"/>
              </a:highlight>
              <a:latin typeface="Arial"/>
              <a:ea typeface="Arial"/>
              <a:cs typeface="Arial"/>
              <a:sym typeface="Arial"/>
            </a:endParaRPr>
          </a:p>
        </p:txBody>
      </p:sp>
      <p:pic>
        <p:nvPicPr>
          <p:cNvPr descr="C:\Users\HP\Desktop\Grade_6_Unit_7-20230217T053830Z-001\Grade_6_Unit_7\OPS\img\chapter12\narm24_c10701_se_011a-dig-c.png" id="592" name="Google Shape;592;p58"/>
          <p:cNvPicPr preferRelativeResize="0"/>
          <p:nvPr/>
        </p:nvPicPr>
        <p:blipFill rotWithShape="1">
          <a:blip r:embed="rId3">
            <a:alphaModFix/>
          </a:blip>
          <a:srcRect b="0" l="0" r="0" t="0"/>
          <a:stretch/>
        </p:blipFill>
        <p:spPr>
          <a:xfrm>
            <a:off x="7250439" y="1746552"/>
            <a:ext cx="4481950" cy="2628000"/>
          </a:xfrm>
          <a:prstGeom prst="rect">
            <a:avLst/>
          </a:prstGeom>
          <a:noFill/>
          <a:ln>
            <a:noFill/>
          </a:ln>
        </p:spPr>
      </p:pic>
      <p:sp>
        <p:nvSpPr>
          <p:cNvPr id="593" name="Google Shape;593;p58"/>
          <p:cNvSpPr/>
          <p:nvPr/>
        </p:nvSpPr>
        <p:spPr>
          <a:xfrm>
            <a:off x="493935" y="317246"/>
            <a:ext cx="3860352"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rgbClr val="782DA0"/>
                </a:solidFill>
                <a:latin typeface="Arial"/>
                <a:ea typeface="Arial"/>
                <a:cs typeface="Arial"/>
                <a:sym typeface="Arial"/>
              </a:rPr>
              <a:t>The Lowest Elevation</a:t>
            </a:r>
            <a:endParaRPr b="0" i="0" sz="1400" u="none" cap="none" strike="noStrike">
              <a:solidFill>
                <a:srgbClr val="000000"/>
              </a:solidFill>
              <a:latin typeface="Arial"/>
              <a:ea typeface="Arial"/>
              <a:cs typeface="Arial"/>
              <a:sym typeface="Arial"/>
            </a:endParaRPr>
          </a:p>
        </p:txBody>
      </p:sp>
      <p:sp>
        <p:nvSpPr>
          <p:cNvPr id="59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16 / 51</a:t>
            </a:r>
          </a:p>
        </p:txBody>
      </p:sp>
      <p:sp>
        <p:nvSpPr>
          <p:cNvPr id="595" name="EWL-COVER-1"/>
          <p:cNvSpPr/>
          <p:nvPr/>
        </p:nvSpPr>
        <p:spPr>
          <a:xfrm>
            <a:off x="371690" y="5000292"/>
            <a:ext cx="11242349" cy="1189901"/>
          </a:xfrm>
          <a:prstGeom prst="rect">
            <a:avLst/>
          </a:prstGeom>
          <a:solidFill>
            <a:srgbClr val="FFFFFF"/>
          </a:solidFill>
          <a:ln>
            <a:noFill/>
          </a:ln>
        </p:spPr>
        <p:txBody>
          <a:bodyPr/>
          <a:lstStyl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59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cxnSp>
        <p:nvCxnSpPr>
          <p:cNvPr id="607" name="Google Shape;607;p6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08" name="Google Shape;608;p60"/>
          <p:cNvSpPr txBox="1"/>
          <p:nvPr/>
        </p:nvSpPr>
        <p:spPr>
          <a:xfrm>
            <a:off x="484565" y="936000"/>
            <a:ext cx="6148247" cy="138411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Badwater Basin is below sea level, that is, below 0.</a:t>
            </a:r>
            <a:endParaRPr b="0" i="0" sz="1400" u="none" cap="none" strike="noStrike">
              <a:solidFill>
                <a:srgbClr val="000000"/>
              </a:solidFill>
              <a:latin typeface="Arial"/>
              <a:ea typeface="Arial"/>
              <a:cs typeface="Arial"/>
              <a:sym typeface="Arial"/>
            </a:endParaRPr>
          </a:p>
        </p:txBody>
      </p:sp>
      <p:sp>
        <p:nvSpPr>
          <p:cNvPr id="609" name="Google Shape;609;p60"/>
          <p:cNvSpPr txBox="1"/>
          <p:nvPr/>
        </p:nvSpPr>
        <p:spPr>
          <a:xfrm>
            <a:off x="493935" y="4537882"/>
            <a:ext cx="5645487" cy="152370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i="0" lang="en-US" sz="2800" u="none" cap="none" strike="noStrike">
                <a:solidFill>
                  <a:schemeClr val="lt1"/>
                </a:solidFill>
                <a:highlight>
                  <a:srgbClr val="1E2682"/>
                </a:highlight>
                <a:latin typeface="Arial"/>
                <a:ea typeface="Arial"/>
                <a:cs typeface="Arial"/>
                <a:sym typeface="Arial"/>
              </a:rPr>
              <a:t xml:space="preserve"> Think About It</a:t>
            </a:r>
            <a:r>
              <a:rPr b="1" i="0" lang="en-US" sz="2800" u="none" cap="none" strike="noStrike">
                <a:solidFill>
                  <a:srgbClr val="1E2682"/>
                </a:solidFill>
                <a:highlight>
                  <a:srgbClr val="1E2682"/>
                </a:highlight>
                <a:latin typeface="Arial"/>
                <a:ea typeface="Arial"/>
                <a:cs typeface="Arial"/>
                <a:sym typeface="Arial"/>
              </a:rPr>
              <a:t>:</a:t>
            </a:r>
            <a:r>
              <a:rPr b="1" i="0" lang="en-US" sz="2800" u="none" cap="none" strike="noStrike">
                <a:solidFill>
                  <a:schemeClr val="lt1"/>
                </a:solidFill>
                <a:highlight>
                  <a:srgbClr val="1E2682"/>
                </a:highlight>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Where have you heard the phrase “below zero” before?</a:t>
            </a:r>
            <a:endParaRPr b="0" i="0" sz="1400" u="none" cap="none" strike="noStrike">
              <a:solidFill>
                <a:srgbClr val="000000"/>
              </a:solidFill>
              <a:latin typeface="Arial"/>
              <a:ea typeface="Arial"/>
              <a:cs typeface="Arial"/>
              <a:sym typeface="Arial"/>
            </a:endParaRPr>
          </a:p>
        </p:txBody>
      </p:sp>
      <p:pic>
        <p:nvPicPr>
          <p:cNvPr descr="C:\Users\HP\Desktop\Grade_6_Unit_7-20230217T053830Z-001\Grade_6_Unit_7\OPS\img\chapter12\narm24_c10701_se_011a-dig-a.png" id="610" name="Google Shape;610;p60"/>
          <p:cNvPicPr preferRelativeResize="0"/>
          <p:nvPr/>
        </p:nvPicPr>
        <p:blipFill rotWithShape="1">
          <a:blip r:embed="rId3">
            <a:alphaModFix/>
          </a:blip>
          <a:srcRect b="0" l="0" r="0" t="0"/>
          <a:stretch/>
        </p:blipFill>
        <p:spPr>
          <a:xfrm>
            <a:off x="7509563" y="1628059"/>
            <a:ext cx="4188502" cy="3852000"/>
          </a:xfrm>
          <a:prstGeom prst="rect">
            <a:avLst/>
          </a:prstGeom>
          <a:noFill/>
          <a:ln>
            <a:noFill/>
          </a:ln>
        </p:spPr>
      </p:pic>
      <p:sp>
        <p:nvSpPr>
          <p:cNvPr id="611" name="Google Shape;611;p60"/>
          <p:cNvSpPr/>
          <p:nvPr/>
        </p:nvSpPr>
        <p:spPr>
          <a:xfrm>
            <a:off x="493935" y="317246"/>
            <a:ext cx="3860352"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782DA0"/>
                </a:solidFill>
                <a:latin typeface="Arial"/>
                <a:ea typeface="Arial"/>
                <a:cs typeface="Arial"/>
                <a:sym typeface="Arial"/>
              </a:rPr>
              <a:t>The Lowest Elevation</a:t>
            </a:r>
            <a:endParaRPr b="0" i="0" sz="1400" u="none" cap="none" strike="noStrike">
              <a:solidFill>
                <a:srgbClr val="000000"/>
              </a:solidFill>
              <a:latin typeface="Arial"/>
              <a:ea typeface="Arial"/>
              <a:cs typeface="Arial"/>
              <a:sym typeface="Arial"/>
            </a:endParaRPr>
          </a:p>
        </p:txBody>
      </p:sp>
      <p:sp>
        <p:nvSpPr>
          <p:cNvPr id="61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18 / 51</a:t>
            </a:r>
          </a:p>
        </p:txBody>
      </p:sp>
      <p:sp xmlns:p="http://schemas.openxmlformats.org/presentationml/2006/main" xmlns:a="http://schemas.openxmlformats.org/drawingml/2006/main">
        <p:nvSpPr>
          <p:cNvPr id="613" name="TEACH-embedded-student-prompt" descr="Student thinking and response directions"/>
          <p:cNvSpPr txBox="1"/>
          <p:nvPr/>
        </p:nvSpPr>
        <p:spPr>
          <a:xfrm>
            <a:off x="594360" y="358444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a:t>
            </a:r>
            <a:endParaRPr lang="en-US" sz="2000"/>
          </a:p>
          <a:p>
            <a:pPr>
              <a:lnSpc>
                <a:spcPts val="2400"/>
              </a:lnSpc>
              <a:buNone/>
            </a:pPr>
            <a:r>
              <a:rPr lang="en-US" sz="2000">
                <a:solidFill>
                  <a:srgbClr val="174D60"/>
                </a:solidFill>
                <a:latin typeface="Arial"/>
              </a:rPr>
              <a:t>work supports your answer?</a:t>
            </a:r>
            <a:endParaRPr lang="en-US" sz="20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cxnSp>
        <p:nvCxnSpPr>
          <p:cNvPr id="627" name="Google Shape;627;p6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28" name="Google Shape;628;p62"/>
          <p:cNvSpPr txBox="1"/>
          <p:nvPr/>
        </p:nvSpPr>
        <p:spPr>
          <a:xfrm>
            <a:off x="484565" y="936000"/>
            <a:ext cx="6271078" cy="9337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Badwater Basin is 86 meters below sea level, that is, below 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chemeClr val="dk2"/>
              </a:buClr>
              <a:buSzPts val="2800"/>
              <a:buFont typeface="Arial"/>
              <a:buNone/>
              <a:defRPr/>
            </a:pPr>
            <a:r>
              <a:rPr/>
              <a:t/>
            </a:r>
            <a:endParaRPr b="0" i="0" sz="2800" u="none" cap="none" strike="noStrike">
              <a:solidFill>
                <a:schemeClr val="dk2"/>
              </a:solidFill>
              <a:latin typeface="Arial"/>
              <a:ea typeface="Calibri"/>
              <a:cs typeface="Calibri"/>
              <a:sym typeface="Calibri"/>
            </a:endParaRPr>
          </a:p>
        </p:txBody>
      </p:sp>
      <p:sp>
        <p:nvSpPr>
          <p:cNvPr id="629" name="Google Shape;629;p62"/>
          <p:cNvSpPr txBox="1"/>
          <p:nvPr/>
        </p:nvSpPr>
        <p:spPr>
          <a:xfrm>
            <a:off x="506596" y="2079887"/>
            <a:ext cx="5880556" cy="13849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Numbers less than zero are negative numbers and are written with a − (negative) sign.</a:t>
            </a:r>
            <a:endParaRPr b="1" i="0" sz="2800" u="none" cap="none" strike="noStrike">
              <a:solidFill>
                <a:schemeClr val="dk1"/>
              </a:solidFill>
              <a:latin typeface="Arial"/>
              <a:ea typeface="Arial"/>
              <a:cs typeface="Arial"/>
              <a:sym typeface="Arial"/>
            </a:endParaRPr>
          </a:p>
        </p:txBody>
      </p:sp>
      <p:sp>
        <p:nvSpPr>
          <p:cNvPr id="630" name="Google Shape;630;p62"/>
          <p:cNvSpPr/>
          <p:nvPr/>
        </p:nvSpPr>
        <p:spPr>
          <a:xfrm>
            <a:off x="506596" y="3688307"/>
            <a:ext cx="6426468" cy="138499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How might you write the number that represents the elevation of Badwater Basin?</a:t>
            </a:r>
            <a:endParaRPr b="0" i="0" sz="2800" u="none" cap="none" strike="noStrike">
              <a:solidFill>
                <a:schemeClr val="dk1"/>
              </a:solidFill>
              <a:latin typeface="Arial"/>
              <a:ea typeface="Arial"/>
              <a:cs typeface="Arial"/>
              <a:sym typeface="Arial"/>
            </a:endParaRPr>
          </a:p>
        </p:txBody>
      </p:sp>
      <p:sp>
        <p:nvSpPr>
          <p:cNvPr id="631" name="Google Shape;631;p62"/>
          <p:cNvSpPr txBox="1"/>
          <p:nvPr/>
        </p:nvSpPr>
        <p:spPr>
          <a:xfrm>
            <a:off x="513349" y="5365226"/>
            <a:ext cx="1670429" cy="95813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−86</a:t>
            </a:r>
            <a:endParaRPr b="0" i="0" sz="2800" u="none" cap="none" strike="noStrike">
              <a:solidFill>
                <a:srgbClr val="595959"/>
              </a:solidFill>
              <a:latin typeface="Arial"/>
              <a:ea typeface="Arial"/>
              <a:cs typeface="Arial"/>
              <a:sym typeface="Arial"/>
            </a:endParaRPr>
          </a:p>
        </p:txBody>
      </p:sp>
      <p:pic>
        <p:nvPicPr>
          <p:cNvPr descr="C:\Users\HP\Desktop\Grade_6_Unit_7-20230217T053830Z-001\Grade_6_Unit_7\OPS\img\chapter12\narm24_c10701_se_011a-dig-a.png" id="632" name="Google Shape;632;p62"/>
          <p:cNvPicPr preferRelativeResize="0"/>
          <p:nvPr/>
        </p:nvPicPr>
        <p:blipFill rotWithShape="1">
          <a:blip r:embed="rId3">
            <a:alphaModFix/>
          </a:blip>
          <a:srcRect b="0" l="0" r="0" t="0"/>
          <a:stretch/>
        </p:blipFill>
        <p:spPr>
          <a:xfrm>
            <a:off x="7479788" y="1477226"/>
            <a:ext cx="4227647" cy="3888000"/>
          </a:xfrm>
          <a:prstGeom prst="rect">
            <a:avLst/>
          </a:prstGeom>
          <a:noFill/>
          <a:ln>
            <a:noFill/>
          </a:ln>
        </p:spPr>
      </p:pic>
      <p:sp>
        <p:nvSpPr>
          <p:cNvPr id="633" name="Google Shape;633;p62"/>
          <p:cNvSpPr/>
          <p:nvPr/>
        </p:nvSpPr>
        <p:spPr>
          <a:xfrm>
            <a:off x="493935" y="317246"/>
            <a:ext cx="3860352"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rgbClr val="782DA0"/>
                </a:solidFill>
                <a:latin typeface="Arial"/>
                <a:ea typeface="Arial"/>
                <a:cs typeface="Arial"/>
                <a:sym typeface="Arial"/>
              </a:rPr>
              <a:t>The Lowest Elevation</a:t>
            </a:r>
            <a:endParaRPr b="0" i="0" sz="1400" u="none" cap="none" strike="noStrike">
              <a:solidFill>
                <a:srgbClr val="000000"/>
              </a:solidFill>
              <a:latin typeface="Arial"/>
              <a:ea typeface="Arial"/>
              <a:cs typeface="Arial"/>
              <a:sym typeface="Arial"/>
            </a:endParaRPr>
          </a:p>
        </p:txBody>
      </p:sp>
      <p:sp>
        <p:nvSpPr>
          <p:cNvPr id="63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19 / 51</a:t>
            </a:r>
          </a:p>
        </p:txBody>
      </p:sp>
      <p:sp>
        <p:nvSpPr>
          <p:cNvPr id="635" name="EWL-COVER-1"/>
          <p:cNvSpPr/>
          <p:nvPr/>
        </p:nvSpPr>
        <p:spPr>
          <a:xfrm>
            <a:off x="458485" y="5310362"/>
            <a:ext cx="1780157" cy="1067858"/>
          </a:xfrm>
          <a:prstGeom prst="rect">
            <a:avLst/>
          </a:prstGeom>
          <a:solidFill>
            <a:srgbClr val="FFFFFF"/>
          </a:solidFill>
          <a:ln>
            <a:noFill/>
          </a:ln>
        </p:spPr>
        <p:txBody>
          <a:bodyPr/>
          <a:lstStyle/>
          <a:p/>
        </p:txBody>
      </p:sp>
      <p:grpSp>
        <p:nvGrpSpPr>
          <p:cNvPr id="636" name="TEACH-3-student-move" descr="TEACH 3 · Use intentional questioning to deepen learning"/>
          <p:cNvGrpSpPr/>
          <p:nvPr/>
        </p:nvGrpSpPr>
        <p:grpSpPr>
          <a:xfrm>
            <a:off x="6187440" y="5447522"/>
            <a:ext cx="5501640" cy="731520"/>
            <a:chOff x="6187440" y="5447522"/>
            <a:chExt cx="5501640" cy="731520"/>
          </a:xfrm>
        </p:grpSpPr>
        <p:sp>
          <p:nvSpPr>
            <p:cNvPr id="637" name="TEACH-move-card"/>
            <p:cNvSpPr/>
            <p:nvPr/>
          </p:nvSpPr>
          <p:spPr>
            <a:xfrm>
              <a:off x="6187440" y="5447522"/>
              <a:ext cx="5501640" cy="731520"/>
            </a:xfrm>
            <a:prstGeom prst="roundRect">
              <a:avLst>
                <a:gd name="adj" fmla="val 16000"/>
              </a:avLst>
            </a:prstGeom>
            <a:solidFill>
              <a:srgbClr val="E4F0F5"/>
            </a:solidFill>
            <a:ln w="19050">
              <a:solidFill>
                <a:srgbClr val="8CB8C7"/>
              </a:solidFill>
            </a:ln>
          </p:spPr>
          <p:txBody>
            <a:bodyPr/>
            <a:lstStyle/>
            <a:p>
              <a:endParaRPr/>
            </a:p>
          </p:txBody>
        </p:sp>
        <p:sp>
          <p:nvSpPr>
            <p:cNvPr id="638" name="TEACH-move-rule"/>
            <p:cNvSpPr/>
            <p:nvPr/>
          </p:nvSpPr>
          <p:spPr>
            <a:xfrm>
              <a:off x="6233160" y="5586511"/>
              <a:ext cx="100584" cy="453542"/>
            </a:xfrm>
            <a:prstGeom prst="roundRect">
              <a:avLst>
                <a:gd name="adj" fmla="val 50000"/>
              </a:avLst>
            </a:prstGeom>
            <a:solidFill>
              <a:srgbClr val="01708C"/>
            </a:solidFill>
            <a:ln>
              <a:noFill/>
            </a:ln>
          </p:spPr>
          <p:txBody>
            <a:bodyPr/>
            <a:lstStyle/>
            <a:p>
              <a:endParaRPr/>
            </a:p>
          </p:txBody>
        </p:sp>
        <p:sp>
          <p:nvSpPr>
            <p:cNvPr id="639" name="TEACH-move-text"/>
            <p:cNvSpPr txBox="1"/>
            <p:nvPr/>
          </p:nvSpPr>
          <p:spPr>
            <a:xfrm>
              <a:off x="6507480" y="5447522"/>
              <a:ext cx="5044440" cy="73152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HOW DO YOU KNOW?  ·  </a:t>
              </a:r>
              <a:r>
                <a:rPr lang="en-US" sz="1400" dirty="0">
                  <a:solidFill>
                    <a:srgbClr val="13303A"/>
                  </a:solidFill>
                  <a:latin typeface="Arial"/>
                </a:rPr>
                <a:t>Ask your partner “How do you know?” Answer by pointing to your own work.</a:t>
              </a:r>
              <a:endParaRPr lang="en-US" sz="14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3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cxnSp>
        <p:nvCxnSpPr>
          <p:cNvPr id="648" name="Google Shape;648;p6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49" name="Google Shape;649;p64"/>
          <p:cNvSpPr txBox="1"/>
          <p:nvPr/>
        </p:nvSpPr>
        <p:spPr>
          <a:xfrm>
            <a:off x="484565" y="936000"/>
            <a:ext cx="7362898" cy="9337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The elevation of Badwater Basin is −86 (negative 86) meters.</a:t>
            </a:r>
            <a:endParaRPr b="0" i="0" sz="1400" u="none" cap="none" strike="noStrike">
              <a:solidFill>
                <a:srgbClr val="000000"/>
              </a:solidFill>
              <a:latin typeface="Arial"/>
              <a:ea typeface="Arial"/>
              <a:cs typeface="Arial"/>
              <a:sym typeface="Arial"/>
            </a:endParaRPr>
          </a:p>
        </p:txBody>
      </p:sp>
      <p:sp>
        <p:nvSpPr>
          <p:cNvPr id="650" name="Google Shape;650;p64"/>
          <p:cNvSpPr/>
          <p:nvPr/>
        </p:nvSpPr>
        <p:spPr>
          <a:xfrm>
            <a:off x="484565" y="3601054"/>
            <a:ext cx="7117238"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What other tool can you use to represent numbers?</a:t>
            </a:r>
            <a:endParaRPr b="0" i="0" sz="2800" u="none" cap="none" strike="noStrike">
              <a:solidFill>
                <a:schemeClr val="dk1"/>
              </a:solidFill>
              <a:latin typeface="Arial"/>
              <a:ea typeface="Arial"/>
              <a:cs typeface="Arial"/>
              <a:sym typeface="Arial"/>
            </a:endParaRPr>
          </a:p>
        </p:txBody>
      </p:sp>
      <p:sp>
        <p:nvSpPr>
          <p:cNvPr id="651" name="Google Shape;651;p64"/>
          <p:cNvSpPr txBox="1"/>
          <p:nvPr/>
        </p:nvSpPr>
        <p:spPr>
          <a:xfrm>
            <a:off x="622532" y="4953572"/>
            <a:ext cx="4440787" cy="95813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One tool is a number line.</a:t>
            </a:r>
            <a:endParaRPr b="0" i="0" sz="1400" u="none" cap="none" strike="noStrike">
              <a:solidFill>
                <a:srgbClr val="000000"/>
              </a:solidFill>
              <a:latin typeface="Arial"/>
              <a:ea typeface="Arial"/>
              <a:cs typeface="Arial"/>
              <a:sym typeface="Arial"/>
            </a:endParaRPr>
          </a:p>
        </p:txBody>
      </p:sp>
      <p:pic>
        <p:nvPicPr>
          <p:cNvPr descr="C:\Users\HP\Desktop\Grade_6_Unit_7-20230217T053830Z-001\Grade_6_Unit_7\OPS\img\chapter12\narm24_c10701_se_011a-dig-b.png" id="652" name="Google Shape;652;p64"/>
          <p:cNvPicPr preferRelativeResize="0"/>
          <p:nvPr/>
        </p:nvPicPr>
        <p:blipFill rotWithShape="1">
          <a:blip r:embed="rId3">
            <a:alphaModFix/>
          </a:blip>
          <a:srcRect b="0" l="0" r="0" t="0"/>
          <a:stretch/>
        </p:blipFill>
        <p:spPr>
          <a:xfrm>
            <a:off x="7744220" y="1539000"/>
            <a:ext cx="4110212" cy="3780000"/>
          </a:xfrm>
          <a:prstGeom prst="rect">
            <a:avLst/>
          </a:prstGeom>
          <a:noFill/>
          <a:ln>
            <a:noFill/>
          </a:ln>
        </p:spPr>
      </p:pic>
      <p:sp>
        <p:nvSpPr>
          <p:cNvPr id="653" name="Google Shape;653;p64"/>
          <p:cNvSpPr/>
          <p:nvPr/>
        </p:nvSpPr>
        <p:spPr>
          <a:xfrm>
            <a:off x="484565" y="317246"/>
            <a:ext cx="3860352"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782DA0"/>
                </a:solidFill>
                <a:latin typeface="Arial"/>
                <a:ea typeface="Arial"/>
                <a:cs typeface="Arial"/>
                <a:sym typeface="Arial"/>
              </a:rPr>
              <a:t>The Lowest Elevation</a:t>
            </a:r>
            <a:endParaRPr b="0" i="0" sz="1400" u="none" cap="none" strike="noStrike">
              <a:solidFill>
                <a:srgbClr val="000000"/>
              </a:solidFill>
              <a:latin typeface="Arial"/>
              <a:ea typeface="Arial"/>
              <a:cs typeface="Arial"/>
              <a:sym typeface="Arial"/>
            </a:endParaRPr>
          </a:p>
        </p:txBody>
      </p:sp>
      <p:sp>
        <p:nvSpPr>
          <p:cNvPr id="65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20 / 51</a:t>
            </a:r>
          </a:p>
        </p:txBody>
      </p:sp>
      <p:sp>
        <p:nvSpPr>
          <p:cNvPr id="655" name="EWL-COVER-1"/>
          <p:cNvSpPr/>
          <p:nvPr/>
        </p:nvSpPr>
        <p:spPr>
          <a:xfrm>
            <a:off x="567668" y="4898708"/>
            <a:ext cx="4550515" cy="1067858"/>
          </a:xfrm>
          <a:prstGeom prst="rect">
            <a:avLst/>
          </a:prstGeom>
          <a:solidFill>
            <a:srgbClr val="FFFFFF"/>
          </a:solidFill>
          <a:ln>
            <a:noFill/>
          </a:ln>
        </p:spPr>
        <p:txBody>
          <a:bodyPr/>
          <a:lstStyle/>
          <a:p/>
        </p:txBody>
      </p:sp>
      <p:sp xmlns:p="http://schemas.openxmlformats.org/presentationml/2006/main" xmlns:a="http://schemas.openxmlformats.org/drawingml/2006/main">
        <p:nvSpPr>
          <p:cNvPr id="656" name="TEACH-embedded-student-prompt" descr="Student thinking and response directions"/>
          <p:cNvSpPr txBox="1"/>
          <p:nvPr/>
        </p:nvSpPr>
        <p:spPr>
          <a:xfrm>
            <a:off x="594360" y="267004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a:t>
            </a:r>
            <a:endParaRPr lang="en-US" sz="2000"/>
          </a:p>
          <a:p>
            <a:pPr>
              <a:lnSpc>
                <a:spcPts val="2400"/>
              </a:lnSpc>
              <a:buNone/>
            </a:pPr>
            <a:r>
              <a:rPr lang="en-US" sz="2000">
                <a:solidFill>
                  <a:srgbClr val="174D60"/>
                </a:solidFill>
                <a:latin typeface="Arial"/>
              </a:rPr>
              <a:t>Compare, then explain 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5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cxnSp>
        <p:nvCxnSpPr>
          <p:cNvPr id="668" name="Google Shape;668;p6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69" name="Google Shape;669;p66"/>
          <p:cNvSpPr txBox="1"/>
          <p:nvPr/>
        </p:nvSpPr>
        <p:spPr>
          <a:xfrm>
            <a:off x="484565" y="936000"/>
            <a:ext cx="8741322" cy="14250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You can extend a horizontal number line to the left of 0 to represent values less than 0. The numbers to the left of 0 are negative numbers.</a:t>
            </a:r>
            <a:endParaRPr b="0" i="0" sz="1400" u="none" cap="none" strike="noStrike">
              <a:solidFill>
                <a:srgbClr val="000000"/>
              </a:solidFill>
              <a:latin typeface="Arial"/>
              <a:ea typeface="Arial"/>
              <a:cs typeface="Arial"/>
              <a:sym typeface="Arial"/>
            </a:endParaRPr>
          </a:p>
        </p:txBody>
      </p:sp>
      <p:sp>
        <p:nvSpPr>
          <p:cNvPr id="670" name="Google Shape;670;p66"/>
          <p:cNvSpPr/>
          <p:nvPr/>
        </p:nvSpPr>
        <p:spPr>
          <a:xfrm>
            <a:off x="622532" y="3464897"/>
            <a:ext cx="8603355" cy="138499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How can you represent the elevation of Badwater Basin, −86 (negative 86) meters, on the number line? Explain.</a:t>
            </a:r>
            <a:endParaRPr b="0" i="0" sz="2800" u="none" cap="none" strike="noStrike">
              <a:solidFill>
                <a:schemeClr val="dk1"/>
              </a:solidFill>
              <a:latin typeface="Arial"/>
              <a:ea typeface="Arial"/>
              <a:cs typeface="Arial"/>
              <a:sym typeface="Arial"/>
            </a:endParaRPr>
          </a:p>
        </p:txBody>
      </p:sp>
      <p:sp>
        <p:nvSpPr>
          <p:cNvPr id="671" name="Google Shape;671;p66"/>
          <p:cNvSpPr txBox="1"/>
          <p:nvPr/>
        </p:nvSpPr>
        <p:spPr>
          <a:xfrm>
            <a:off x="594769" y="4928225"/>
            <a:ext cx="9022914" cy="14250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The elevation can be represented by a point that is 86 units to the left of 0 because it is a negative number.</a:t>
            </a:r>
            <a:endParaRPr b="0" i="0" sz="1400" u="none" cap="none" strike="noStrike">
              <a:solidFill>
                <a:srgbClr val="000000"/>
              </a:solidFill>
              <a:latin typeface="Arial"/>
              <a:ea typeface="Arial"/>
              <a:cs typeface="Arial"/>
              <a:sym typeface="Arial"/>
            </a:endParaRPr>
          </a:p>
        </p:txBody>
      </p:sp>
      <p:pic>
        <p:nvPicPr>
          <p:cNvPr descr="C:\Users\HP\Desktop\Grade_6_Unit_7-20230217T053830Z-001\Grade_6_Unit_7\OPS\img\chapter12\narm24_c10701_se_012a-dig-a.png" id="672" name="Google Shape;672;p66"/>
          <p:cNvPicPr preferRelativeResize="0"/>
          <p:nvPr/>
        </p:nvPicPr>
        <p:blipFill rotWithShape="1">
          <a:blip r:embed="rId3">
            <a:alphaModFix/>
          </a:blip>
          <a:srcRect b="0" l="0" r="0" t="0"/>
          <a:stretch/>
        </p:blipFill>
        <p:spPr>
          <a:xfrm>
            <a:off x="899896" y="2389922"/>
            <a:ext cx="8048625" cy="1314450"/>
          </a:xfrm>
          <a:prstGeom prst="rect">
            <a:avLst/>
          </a:prstGeom>
          <a:noFill/>
          <a:ln>
            <a:noFill/>
          </a:ln>
        </p:spPr>
      </p:pic>
      <p:sp>
        <p:nvSpPr>
          <p:cNvPr id="673" name="Google Shape;673;p66"/>
          <p:cNvSpPr/>
          <p:nvPr/>
        </p:nvSpPr>
        <p:spPr>
          <a:xfrm>
            <a:off x="493935" y="317246"/>
            <a:ext cx="3860352"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rgbClr val="782DA0"/>
                </a:solidFill>
                <a:latin typeface="Arial"/>
                <a:ea typeface="Arial"/>
                <a:cs typeface="Arial"/>
                <a:sym typeface="Arial"/>
              </a:rPr>
              <a:t>The Lowest Elevation</a:t>
            </a:r>
            <a:endParaRPr b="0" i="0" sz="1400" u="none" cap="none" strike="noStrike">
              <a:solidFill>
                <a:srgbClr val="000000"/>
              </a:solidFill>
              <a:latin typeface="Arial"/>
              <a:ea typeface="Arial"/>
              <a:cs typeface="Arial"/>
              <a:sym typeface="Arial"/>
            </a:endParaRPr>
          </a:p>
        </p:txBody>
      </p:sp>
      <p:sp>
        <p:nvSpPr>
          <p:cNvPr id="67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21 / 51</a:t>
            </a:r>
          </a:p>
        </p:txBody>
      </p:sp>
      <p:sp>
        <p:nvSpPr>
          <p:cNvPr id="675" name="EWL-COVER-1"/>
          <p:cNvSpPr/>
          <p:nvPr/>
        </p:nvSpPr>
        <p:spPr>
          <a:xfrm>
            <a:off x="539905" y="4873361"/>
            <a:ext cx="9132642" cy="1534790"/>
          </a:xfrm>
          <a:prstGeom prst="rect">
            <a:avLst/>
          </a:prstGeom>
          <a:solidFill>
            <a:srgbClr val="FFFFFF"/>
          </a:solidFill>
          <a:ln>
            <a:noFill/>
          </a:ln>
        </p:spPr>
        <p:txBody>
          <a:bodyPr/>
          <a:lstStyl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7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cxnSp>
        <p:nvCxnSpPr>
          <p:cNvPr id="678" name="Google Shape;678;p6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79" name="Google Shape;679;p67"/>
          <p:cNvSpPr txBox="1"/>
          <p:nvPr/>
        </p:nvSpPr>
        <p:spPr>
          <a:xfrm>
            <a:off x="484564" y="936000"/>
            <a:ext cx="8275977" cy="97468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Let’s represent the elevation of Badwater Basin, −86 (negative 86) meters, on the number line.</a:t>
            </a:r>
            <a:endParaRPr b="0" i="0" sz="1400" u="none" cap="none" strike="noStrike">
              <a:solidFill>
                <a:srgbClr val="000000"/>
              </a:solidFill>
              <a:latin typeface="Arial"/>
              <a:ea typeface="Arial"/>
              <a:cs typeface="Arial"/>
              <a:sym typeface="Arial"/>
            </a:endParaRPr>
          </a:p>
        </p:txBody>
      </p:sp>
      <p:sp>
        <p:nvSpPr>
          <p:cNvPr id="680" name="Google Shape;680;p67"/>
          <p:cNvSpPr txBox="1"/>
          <p:nvPr/>
        </p:nvSpPr>
        <p:spPr>
          <a:xfrm>
            <a:off x="484564" y="4400006"/>
            <a:ext cx="8275976" cy="13849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The elevation is represented by a point that is 86 units to the left of 0 because it is a negative number.</a:t>
            </a:r>
            <a:endParaRPr b="1" i="0" sz="2800" u="none" cap="none" strike="noStrike">
              <a:solidFill>
                <a:schemeClr val="dk1"/>
              </a:solidFill>
              <a:latin typeface="Arial"/>
              <a:ea typeface="Arial"/>
              <a:cs typeface="Arial"/>
              <a:sym typeface="Arial"/>
            </a:endParaRPr>
          </a:p>
        </p:txBody>
      </p:sp>
      <p:pic>
        <p:nvPicPr>
          <p:cNvPr descr="C:\Users\HP\Desktop\Grade_6_Unit_7-20230217T053830Z-001\Grade_6_Unit_7\OPS\img\.assets\40a92adc25984ed88a4c17f3d78a2393\narm24_c10701_se_012a-dig-b-eps.png" id="681" name="Google Shape;681;p67"/>
          <p:cNvPicPr preferRelativeResize="0"/>
          <p:nvPr/>
        </p:nvPicPr>
        <p:blipFill rotWithShape="1">
          <a:blip r:embed="rId3">
            <a:alphaModFix/>
          </a:blip>
          <a:srcRect b="0" l="0" r="0" t="0"/>
          <a:stretch/>
        </p:blipFill>
        <p:spPr>
          <a:xfrm>
            <a:off x="1111965" y="2236184"/>
            <a:ext cx="7648575" cy="1838325"/>
          </a:xfrm>
          <a:prstGeom prst="rect">
            <a:avLst/>
          </a:prstGeom>
          <a:noFill/>
          <a:ln>
            <a:noFill/>
          </a:ln>
        </p:spPr>
      </p:pic>
      <p:sp>
        <p:nvSpPr>
          <p:cNvPr id="682" name="Google Shape;682;p67"/>
          <p:cNvSpPr/>
          <p:nvPr/>
        </p:nvSpPr>
        <p:spPr>
          <a:xfrm>
            <a:off x="493935" y="317246"/>
            <a:ext cx="3860352"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rgbClr val="782DA0"/>
                </a:solidFill>
                <a:latin typeface="Arial"/>
                <a:ea typeface="Arial"/>
                <a:cs typeface="Arial"/>
                <a:sym typeface="Arial"/>
              </a:rPr>
              <a:t>The Lowest Elevation</a:t>
            </a:r>
            <a:endParaRPr b="0" i="0" sz="1400" u="none" cap="none" strike="noStrike">
              <a:solidFill>
                <a:srgbClr val="000000"/>
              </a:solidFill>
              <a:latin typeface="Arial"/>
              <a:ea typeface="Arial"/>
              <a:cs typeface="Arial"/>
              <a:sym typeface="Arial"/>
            </a:endParaRPr>
          </a:p>
        </p:txBody>
      </p:sp>
      <p:sp>
        <p:nvSpPr>
          <p:cNvPr id="68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23 / 51</a:t>
            </a:r>
          </a:p>
        </p:txBody>
      </p:sp>
      <p:grpSp>
        <p:nvGrpSpPr>
          <p:cNvPr id="684" name="TEACH-5-student-move" descr="TEACH 5 · Facilitate student interactions and academic talk"/>
          <p:cNvGrpSpPr/>
          <p:nvPr/>
        </p:nvGrpSpPr>
        <p:grpSpPr>
          <a:xfrm>
            <a:off x="502920" y="5821577"/>
            <a:ext cx="11186160" cy="457200"/>
            <a:chOff x="502920" y="5821577"/>
            <a:chExt cx="11186160" cy="457200"/>
          </a:xfrm>
        </p:grpSpPr>
        <p:sp>
          <p:nvSpPr>
            <p:cNvPr id="685" name="TEACH-move-card"/>
            <p:cNvSpPr/>
            <p:nvPr/>
          </p:nvSpPr>
          <p:spPr>
            <a:xfrm>
              <a:off x="502920" y="5821577"/>
              <a:ext cx="11186160" cy="457200"/>
            </a:xfrm>
            <a:prstGeom prst="roundRect">
              <a:avLst>
                <a:gd name="adj" fmla="val 16000"/>
              </a:avLst>
            </a:prstGeom>
            <a:solidFill>
              <a:srgbClr val="E4F0F5"/>
            </a:solidFill>
            <a:ln w="19050">
              <a:solidFill>
                <a:srgbClr val="8CB8C7"/>
              </a:solidFill>
            </a:ln>
          </p:spPr>
          <p:txBody>
            <a:bodyPr/>
            <a:lstStyle/>
            <a:p>
              <a:endParaRPr/>
            </a:p>
          </p:txBody>
        </p:sp>
        <p:sp>
          <p:nvSpPr>
            <p:cNvPr id="686" name="TEACH-move-rule"/>
            <p:cNvSpPr/>
            <p:nvPr/>
          </p:nvSpPr>
          <p:spPr>
            <a:xfrm>
              <a:off x="548640" y="5908445"/>
              <a:ext cx="100584" cy="283464"/>
            </a:xfrm>
            <a:prstGeom prst="roundRect">
              <a:avLst>
                <a:gd name="adj" fmla="val 50000"/>
              </a:avLst>
            </a:prstGeom>
            <a:solidFill>
              <a:srgbClr val="01708C"/>
            </a:solidFill>
            <a:ln>
              <a:noFill/>
            </a:ln>
          </p:spPr>
          <p:txBody>
            <a:bodyPr/>
            <a:lstStyle/>
            <a:p>
              <a:endParaRPr/>
            </a:p>
          </p:txBody>
        </p:sp>
        <p:sp>
          <p:nvSpPr>
            <p:cNvPr id="687" name="TEACH-move-text"/>
            <p:cNvSpPr txBox="1"/>
            <p:nvPr/>
          </p:nvSpPr>
          <p:spPr>
            <a:xfrm>
              <a:off x="822960" y="5821577"/>
              <a:ext cx="10728960" cy="45720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USE THE MATH WORDS  ·  </a:t>
              </a:r>
              <a:r>
                <a:rPr lang="en-US" sz="1400" dirty="0">
                  <a:solidFill>
                    <a:srgbClr val="13303A"/>
                  </a:solidFill>
                  <a:latin typeface="Arial"/>
                </a:rPr>
                <a:t>Use today’s math words in your explanation — not “it” and “that thing.”</a:t>
              </a:r>
              <a:endParaRPr lang="en-US" sz="1400"/>
            </a:p>
          </p:txBody>
        </p:sp>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6" name="Shape 696"/>
        <p:cNvGrpSpPr/>
        <p:nvPr/>
      </p:nvGrpSpPr>
      <p:grpSpPr>
        <a:xfrm>
          <a:off x="0" y="0"/>
          <a:ext cx="0" cy="0"/>
          <a:chOff x="0" y="0"/>
          <a:chExt cx="0" cy="0"/>
        </a:xfrm>
      </p:grpSpPr>
      <p:cxnSp>
        <p:nvCxnSpPr>
          <p:cNvPr id="697" name="Google Shape;697;p6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98" name="Google Shape;698;p69"/>
          <p:cNvSpPr txBox="1"/>
          <p:nvPr/>
        </p:nvSpPr>
        <p:spPr>
          <a:xfrm>
            <a:off x="484565" y="936000"/>
            <a:ext cx="4333096" cy="63075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−86 is the opposite of 86.</a:t>
            </a:r>
            <a:endParaRPr b="0" i="0" sz="1400" u="none" cap="none" strike="noStrike">
              <a:solidFill>
                <a:srgbClr val="000000"/>
              </a:solidFill>
              <a:latin typeface="Arial"/>
              <a:ea typeface="Arial"/>
              <a:cs typeface="Arial"/>
              <a:sym typeface="Arial"/>
            </a:endParaRPr>
          </a:p>
        </p:txBody>
      </p:sp>
      <p:sp>
        <p:nvSpPr>
          <p:cNvPr id="699" name="Google Shape;699;p69"/>
          <p:cNvSpPr txBox="1"/>
          <p:nvPr/>
        </p:nvSpPr>
        <p:spPr>
          <a:xfrm>
            <a:off x="505104" y="3939352"/>
            <a:ext cx="9307635"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What do you notice about the two opposite numbers?</a:t>
            </a:r>
            <a:endParaRPr b="0" i="0" sz="1400" u="none" cap="none" strike="noStrike">
              <a:solidFill>
                <a:srgbClr val="000000"/>
              </a:solidFill>
              <a:latin typeface="Arial"/>
              <a:ea typeface="Arial"/>
              <a:cs typeface="Arial"/>
              <a:sym typeface="Arial"/>
            </a:endParaRPr>
          </a:p>
        </p:txBody>
      </p:sp>
      <p:sp>
        <p:nvSpPr>
          <p:cNvPr id="700" name="Google Shape;700;p69"/>
          <p:cNvSpPr txBox="1"/>
          <p:nvPr/>
        </p:nvSpPr>
        <p:spPr>
          <a:xfrm>
            <a:off x="484564" y="4702799"/>
            <a:ext cx="8260976" cy="158881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They are both 86 units from 0, but on different sides of 0 on the number line.</a:t>
            </a:r>
            <a:endParaRPr b="1" i="0" sz="2800" u="none" cap="none" strike="noStrike">
              <a:solidFill>
                <a:srgbClr val="595959"/>
              </a:solidFill>
              <a:latin typeface="Arial"/>
              <a:ea typeface="Arial"/>
              <a:cs typeface="Arial"/>
              <a:sym typeface="Arial"/>
            </a:endParaRPr>
          </a:p>
        </p:txBody>
      </p:sp>
      <p:sp>
        <p:nvSpPr>
          <p:cNvPr id="701" name="Google Shape;701;p69"/>
          <p:cNvSpPr/>
          <p:nvPr/>
        </p:nvSpPr>
        <p:spPr>
          <a:xfrm>
            <a:off x="493935" y="317246"/>
            <a:ext cx="3860352"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rgbClr val="782DA0"/>
                </a:solidFill>
                <a:latin typeface="Arial"/>
                <a:ea typeface="Arial"/>
                <a:cs typeface="Arial"/>
                <a:sym typeface="Arial"/>
              </a:rPr>
              <a:t>The Lowest Elevation</a:t>
            </a:r>
            <a:endParaRPr b="0" i="0" sz="1400" u="none" cap="none" strike="noStrike">
              <a:solidFill>
                <a:srgbClr val="000000"/>
              </a:solidFill>
              <a:latin typeface="Arial"/>
              <a:ea typeface="Arial"/>
              <a:cs typeface="Arial"/>
              <a:sym typeface="Arial"/>
            </a:endParaRPr>
          </a:p>
        </p:txBody>
      </p:sp>
      <p:pic>
        <p:nvPicPr>
          <p:cNvPr descr="C:\Users\HP\Desktop\Grade_6_Unit_7-20230217T053830Z-001\Grade_6_Unit_7\OPS\img\.assets\6e0649ae299e49af8db7507ba532f7ef\narm24_c10701_se_012a-dig-c-eps.png" id="702" name="Google Shape;702;p69"/>
          <p:cNvPicPr preferRelativeResize="0"/>
          <p:nvPr/>
        </p:nvPicPr>
        <p:blipFill rotWithShape="1">
          <a:blip r:embed="rId3">
            <a:alphaModFix/>
          </a:blip>
          <a:srcRect b="0" l="0" r="0" t="0"/>
          <a:stretch/>
        </p:blipFill>
        <p:spPr>
          <a:xfrm>
            <a:off x="993373" y="1806983"/>
            <a:ext cx="7648575" cy="1838325"/>
          </a:xfrm>
          <a:prstGeom prst="rect">
            <a:avLst/>
          </a:prstGeom>
          <a:noFill/>
          <a:ln>
            <a:noFill/>
          </a:ln>
        </p:spPr>
      </p:pic>
      <p:sp>
        <p:nvSpPr>
          <p:cNvPr id="70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24 / 51</a:t>
            </a:r>
          </a:p>
        </p:txBody>
      </p:sp>
      <p:sp>
        <p:nvSpPr>
          <p:cNvPr id="704" name="EWL-COVER-1"/>
          <p:cNvSpPr/>
          <p:nvPr/>
        </p:nvSpPr>
        <p:spPr>
          <a:xfrm>
            <a:off x="429700" y="4647935"/>
            <a:ext cx="8370704" cy="1698547"/>
          </a:xfrm>
          <a:prstGeom prst="rect">
            <a:avLst/>
          </a:prstGeom>
          <a:solidFill>
            <a:srgbClr val="FFFFFF"/>
          </a:solidFill>
          <a:ln>
            <a:noFill/>
          </a:ln>
        </p:spPr>
        <p:txBody>
          <a:bodyPr/>
          <a:lstStyle/>
          <a:p/>
        </p:txBody>
      </p:sp>
      <p:grpSp>
        <p:nvGrpSpPr>
          <p:cNvPr id="705" name="TEACH-3-student-move" descr="TEACH 3 · Use intentional questioning to deepen learning"/>
          <p:cNvGrpSpPr/>
          <p:nvPr/>
        </p:nvGrpSpPr>
        <p:grpSpPr>
          <a:xfrm>
            <a:off x="6187440" y="1130327"/>
            <a:ext cx="5501640" cy="594360"/>
            <a:chOff x="6187440" y="1130327"/>
            <a:chExt cx="5501640" cy="594360"/>
          </a:xfrm>
        </p:grpSpPr>
        <p:sp>
          <p:nvSpPr>
            <p:cNvPr id="706" name="TEACH-move-card"/>
            <p:cNvSpPr/>
            <p:nvPr/>
          </p:nvSpPr>
          <p:spPr>
            <a:xfrm>
              <a:off x="6187440" y="1130327"/>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707" name="TEACH-move-rule"/>
            <p:cNvSpPr/>
            <p:nvPr/>
          </p:nvSpPr>
          <p:spPr>
            <a:xfrm>
              <a:off x="6233160" y="1243255"/>
              <a:ext cx="100584" cy="368504"/>
            </a:xfrm>
            <a:prstGeom prst="roundRect">
              <a:avLst>
                <a:gd name="adj" fmla="val 50000"/>
              </a:avLst>
            </a:prstGeom>
            <a:solidFill>
              <a:srgbClr val="01708C"/>
            </a:solidFill>
            <a:ln>
              <a:noFill/>
            </a:ln>
          </p:spPr>
          <p:txBody>
            <a:bodyPr/>
            <a:lstStyle/>
            <a:p>
              <a:endParaRPr/>
            </a:p>
          </p:txBody>
        </p:sp>
        <p:sp>
          <p:nvSpPr>
            <p:cNvPr id="708" name="TEACH-move-text"/>
            <p:cNvSpPr txBox="1"/>
            <p:nvPr/>
          </p:nvSpPr>
          <p:spPr>
            <a:xfrm>
              <a:off x="6507480" y="1130327"/>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JUSTIFY IT  ·  </a:t>
              </a:r>
              <a:r>
                <a:rPr lang="en-US" sz="1200" dirty="0">
                  <a:solidFill>
                    <a:srgbClr val="13303A"/>
                  </a:solidFill>
                  <a:latin typeface="Arial"/>
                </a:rPr>
                <a:t>Say it like this: “I know ______ because ______.”</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0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0" name="Shape 720"/>
        <p:cNvGrpSpPr/>
        <p:nvPr/>
      </p:nvGrpSpPr>
      <p:grpSpPr>
        <a:xfrm>
          <a:off x="0" y="0"/>
          <a:ext cx="0" cy="0"/>
          <a:chOff x="0" y="0"/>
          <a:chExt cx="0" cy="0"/>
        </a:xfrm>
      </p:grpSpPr>
      <p:cxnSp>
        <p:nvCxnSpPr>
          <p:cNvPr id="721" name="Google Shape;721;p7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22" name="Google Shape;722;p71"/>
          <p:cNvSpPr txBox="1"/>
          <p:nvPr/>
        </p:nvSpPr>
        <p:spPr>
          <a:xfrm>
            <a:off x="853200" y="316800"/>
            <a:ext cx="4504685"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Collaborate and Connect</a:t>
            </a:r>
            <a:endParaRPr b="0" i="0" sz="1400" u="none" cap="none" strike="noStrike">
              <a:solidFill>
                <a:srgbClr val="000000"/>
              </a:solidFill>
              <a:latin typeface="Arial"/>
              <a:ea typeface="Arial"/>
              <a:cs typeface="Arial"/>
              <a:sym typeface="Arial"/>
            </a:endParaRPr>
          </a:p>
        </p:txBody>
      </p:sp>
      <p:pic>
        <p:nvPicPr>
          <p:cNvPr id="723" name="Google Shape;723;p71"/>
          <p:cNvPicPr preferRelativeResize="0"/>
          <p:nvPr/>
        </p:nvPicPr>
        <p:blipFill rotWithShape="1">
          <a:blip r:embed="rId3">
            <a:alphaModFix/>
          </a:blip>
          <a:srcRect b="0" l="0" r="0" t="0"/>
          <a:stretch/>
        </p:blipFill>
        <p:spPr>
          <a:xfrm>
            <a:off x="499565" y="368708"/>
            <a:ext cx="353635" cy="340537"/>
          </a:xfrm>
          <a:prstGeom prst="rect">
            <a:avLst/>
          </a:prstGeom>
          <a:noFill/>
          <a:ln>
            <a:noFill/>
          </a:ln>
        </p:spPr>
      </p:pic>
      <p:sp>
        <p:nvSpPr>
          <p:cNvPr id="724" name="Google Shape;724;p71"/>
          <p:cNvSpPr txBox="1"/>
          <p:nvPr/>
        </p:nvSpPr>
        <p:spPr>
          <a:xfrm>
            <a:off x="499565" y="5326070"/>
            <a:ext cx="8891313" cy="10646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Some integers we can write are 2, 5, −9, −14, and 230.</a:t>
            </a:r>
            <a:endParaRPr b="0" i="0" sz="1400" u="none" cap="none" strike="noStrike">
              <a:solidFill>
                <a:srgbClr val="000000"/>
              </a:solidFill>
              <a:latin typeface="Arial"/>
              <a:ea typeface="Arial"/>
              <a:cs typeface="Arial"/>
              <a:sym typeface="Arial"/>
            </a:endParaRPr>
          </a:p>
        </p:txBody>
      </p:sp>
      <p:sp>
        <p:nvSpPr>
          <p:cNvPr id="725" name="Google Shape;725;p71"/>
          <p:cNvSpPr txBox="1"/>
          <p:nvPr/>
        </p:nvSpPr>
        <p:spPr>
          <a:xfrm>
            <a:off x="485999" y="936000"/>
            <a:ext cx="4371845" cy="5925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−86 is the opposite of 86.</a:t>
            </a:r>
            <a:endParaRPr b="0" i="0" sz="1400" u="none" cap="none" strike="noStrike">
              <a:solidFill>
                <a:srgbClr val="000000"/>
              </a:solidFill>
              <a:latin typeface="Arial"/>
              <a:ea typeface="Arial"/>
              <a:cs typeface="Arial"/>
              <a:sym typeface="Arial"/>
            </a:endParaRPr>
          </a:p>
        </p:txBody>
      </p:sp>
      <p:sp>
        <p:nvSpPr>
          <p:cNvPr id="726" name="Google Shape;726;p71"/>
          <p:cNvSpPr txBox="1"/>
          <p:nvPr/>
        </p:nvSpPr>
        <p:spPr>
          <a:xfrm>
            <a:off x="499565" y="1553672"/>
            <a:ext cx="9192444" cy="13849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Counting numbers, their opposites, and 0 are </a:t>
            </a:r>
            <a:r>
              <a:rPr b="1" i="0" lang="en-US" sz="2800" u="none" cap="none" strike="noStrike">
                <a:solidFill>
                  <a:srgbClr val="23282D"/>
                </a:solidFill>
                <a:highlight>
                  <a:srgbClr val="FFFF00"/>
                </a:highlight>
                <a:latin typeface="Arial"/>
                <a:ea typeface="Arial"/>
                <a:cs typeface="Arial"/>
                <a:sym typeface="Arial"/>
              </a:rPr>
              <a:t xml:space="preserve">integers. Opposites </a:t>
            </a:r>
            <a:r>
              <a:rPr b="0" i="0" lang="en-US" sz="2800" u="none" cap="none" strike="noStrike">
                <a:solidFill>
                  <a:schemeClr val="dk1"/>
                </a:solidFill>
                <a:latin typeface="Arial"/>
                <a:ea typeface="Arial"/>
                <a:cs typeface="Arial"/>
                <a:sym typeface="Arial"/>
              </a:rPr>
              <a:t>are the same distance from 0 but on the opposite side of the number line. </a:t>
            </a:r>
            <a:endParaRPr b="1" i="0" sz="2800" u="none" cap="none" strike="noStrike">
              <a:solidFill>
                <a:schemeClr val="dk1"/>
              </a:solidFill>
              <a:latin typeface="Arial"/>
              <a:ea typeface="Arial"/>
              <a:cs typeface="Arial"/>
              <a:sym typeface="Arial"/>
            </a:endParaRPr>
          </a:p>
        </p:txBody>
      </p:sp>
      <p:sp>
        <p:nvSpPr>
          <p:cNvPr id="727" name="Google Shape;727;p71"/>
          <p:cNvSpPr/>
          <p:nvPr/>
        </p:nvSpPr>
        <p:spPr>
          <a:xfrm>
            <a:off x="485999" y="4802850"/>
            <a:ext cx="10752272"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What are 5 different numbers you can write that are integers?</a:t>
            </a:r>
            <a:endParaRPr b="0" i="0" sz="2800" u="none" cap="none" strike="noStrike">
              <a:solidFill>
                <a:schemeClr val="dk1"/>
              </a:solidFill>
              <a:latin typeface="Arial"/>
              <a:ea typeface="Arial"/>
              <a:cs typeface="Arial"/>
              <a:sym typeface="Arial"/>
            </a:endParaRPr>
          </a:p>
        </p:txBody>
      </p:sp>
      <p:pic>
        <p:nvPicPr>
          <p:cNvPr descr="C:\Users\HP\Desktop\Grade_6_Unit_7-20230217T053830Z-001\Grade_6_Unit_7\OPS\img\.assets\6e0649ae299e49af8db7507ba532f7ef\narm24_c10701_se_012a-dig-c-eps.png" id="728" name="Google Shape;728;p71"/>
          <p:cNvPicPr preferRelativeResize="0"/>
          <p:nvPr/>
        </p:nvPicPr>
        <p:blipFill rotWithShape="1">
          <a:blip r:embed="rId4">
            <a:alphaModFix/>
          </a:blip>
          <a:srcRect b="0" l="0" r="0" t="0"/>
          <a:stretch/>
        </p:blipFill>
        <p:spPr>
          <a:xfrm>
            <a:off x="1283929" y="2961054"/>
            <a:ext cx="7648575" cy="1838325"/>
          </a:xfrm>
          <a:prstGeom prst="rect">
            <a:avLst/>
          </a:prstGeom>
          <a:noFill/>
          <a:ln>
            <a:noFill/>
          </a:ln>
        </p:spPr>
      </p:pic>
      <p:sp>
        <p:nvSpPr>
          <p:cNvPr id="72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25 / 51</a:t>
            </a:r>
          </a:p>
        </p:txBody>
      </p:sp>
      <p:sp>
        <p:nvSpPr>
          <p:cNvPr id="730" name="EWL-COVER-1"/>
          <p:cNvSpPr/>
          <p:nvPr/>
        </p:nvSpPr>
        <p:spPr>
          <a:xfrm>
            <a:off x="444701" y="5271206"/>
            <a:ext cx="9001041" cy="1174353"/>
          </a:xfrm>
          <a:prstGeom prst="rect">
            <a:avLst/>
          </a:prstGeom>
          <a:solidFill>
            <a:srgbClr val="FFFFFF"/>
          </a:solidFill>
          <a:ln>
            <a:noFill/>
          </a:ln>
        </p:spPr>
        <p:txBody>
          <a:bodyPr/>
          <a:lstStyle/>
          <a:p/>
        </p:txBody>
      </p:sp>
      <p:sp>
        <p:nvSpPr>
          <p:cNvPr id="731"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COLLABORATE</a:t>
            </a:r>
            <a:r>
              <a:rPr lang="en-US" sz="1200" b="1">
                <a:solidFill>
                  <a:srgbClr val="5D6872"/>
                </a:solidFill>
                <a:latin typeface="Arial"/>
              </a:rPr>
              <a:t xml:space="preserve">  ·  TALK IT THROUGH • AGREE ON A MODEL</a:t>
            </a:r>
          </a:p>
        </p:txBody>
      </p:sp>
      <p:grpSp>
        <p:nvGrpSpPr>
          <p:cNvPr id="732" name="TEACH-5-student-move" descr="TEACH 5 · Facilitate student interactions and academic talk"/>
          <p:cNvGrpSpPr/>
          <p:nvPr/>
        </p:nvGrpSpPr>
        <p:grpSpPr>
          <a:xfrm>
            <a:off x="6187440" y="877016"/>
            <a:ext cx="5501640" cy="594360"/>
            <a:chOff x="6187440" y="877016"/>
            <a:chExt cx="5501640" cy="594360"/>
          </a:xfrm>
        </p:grpSpPr>
        <p:sp>
          <p:nvSpPr>
            <p:cNvPr id="733" name="TEACH-move-card"/>
            <p:cNvSpPr/>
            <p:nvPr/>
          </p:nvSpPr>
          <p:spPr>
            <a:xfrm>
              <a:off x="6187440" y="87701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734" name="TEACH-move-rule"/>
            <p:cNvSpPr/>
            <p:nvPr/>
          </p:nvSpPr>
          <p:spPr>
            <a:xfrm>
              <a:off x="6233160" y="989944"/>
              <a:ext cx="100584" cy="368504"/>
            </a:xfrm>
            <a:prstGeom prst="roundRect">
              <a:avLst>
                <a:gd name="adj" fmla="val 50000"/>
              </a:avLst>
            </a:prstGeom>
            <a:solidFill>
              <a:srgbClr val="01708C"/>
            </a:solidFill>
            <a:ln>
              <a:noFill/>
            </a:ln>
          </p:spPr>
          <p:txBody>
            <a:bodyPr/>
            <a:lstStyle/>
            <a:p>
              <a:endParaRPr/>
            </a:p>
          </p:txBody>
        </p:sp>
        <p:sp>
          <p:nvSpPr>
            <p:cNvPr id="735" name="TEACH-move-text"/>
            <p:cNvSpPr txBox="1"/>
            <p:nvPr/>
          </p:nvSpPr>
          <p:spPr>
            <a:xfrm>
              <a:off x="6507480" y="87701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ADD ON  ·  </a:t>
              </a:r>
              <a:r>
                <a:rPr lang="en-US" sz="1200" dirty="0">
                  <a:solidFill>
                    <a:srgbClr val="13303A"/>
                  </a:solidFill>
                  <a:latin typeface="Arial"/>
                </a:rPr>
                <a:t>Add on: “I agree because ______.”  or  “I see it differently because ______.”</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3" name="Shape 743"/>
        <p:cNvGrpSpPr/>
        <p:nvPr/>
      </p:nvGrpSpPr>
      <p:grpSpPr>
        <a:xfrm>
          <a:off x="0" y="0"/>
          <a:ext cx="0" cy="0"/>
          <a:chOff x="0" y="0"/>
          <a:chExt cx="0" cy="0"/>
        </a:xfrm>
      </p:grpSpPr>
      <p:cxnSp>
        <p:nvCxnSpPr>
          <p:cNvPr id="744" name="Google Shape;744;p7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45" name="Google Shape;745;p73"/>
          <p:cNvSpPr txBox="1"/>
          <p:nvPr/>
        </p:nvSpPr>
        <p:spPr>
          <a:xfrm>
            <a:off x="484564" y="936000"/>
            <a:ext cx="5669280" cy="474285"/>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chemeClr val="dk1"/>
              </a:buClr>
              <a:buSzPts val="2800"/>
              <a:buFont typeface="Calibri"/>
              <a:buAutoNum type="alphaLcPeriod"/>
              <a:defRPr/>
            </a:pPr>
            <a:r>
              <a:rPr b="0" i="0" lang="en-US" sz="2800" u="none" cap="none" strike="noStrike">
                <a:solidFill>
                  <a:schemeClr val="dk1"/>
                </a:solidFill>
                <a:latin typeface="Arial"/>
                <a:ea typeface="Arial"/>
                <a:cs typeface="Arial"/>
                <a:sym typeface="Arial"/>
              </a:rPr>
              <a:t>Why does 0 represent sea level?</a:t>
            </a:r>
            <a:endParaRPr b="0" i="0" sz="1400" u="none" cap="none" strike="noStrike">
              <a:solidFill>
                <a:srgbClr val="000000"/>
              </a:solidFill>
              <a:latin typeface="Arial"/>
              <a:ea typeface="Arial"/>
              <a:cs typeface="Arial"/>
              <a:sym typeface="Arial"/>
            </a:endParaRPr>
          </a:p>
          <a:p>
            <a:pPr indent="-336550" lvl="0" marL="514350" marR="0" rtl="0" algn="l">
              <a:lnSpc>
                <a:spcPct val="100000"/>
              </a:lnSpc>
              <a:spcBef>
                <a:spcPts val="1200"/>
              </a:spcBef>
              <a:spcAft>
                <a:spcPts val="0"/>
              </a:spcAft>
              <a:buClr>
                <a:schemeClr val="dk2"/>
              </a:buClr>
              <a:buSzPts val="2800"/>
              <a:buFont typeface="Calibri"/>
              <a:buNone/>
              <a:defRPr/>
            </a:pPr>
            <a:r>
              <a:rPr/>
              <a:t/>
            </a:r>
            <a:endParaRPr b="1" i="0" sz="2800" u="none" cap="none" strike="noStrike">
              <a:solidFill>
                <a:schemeClr val="dk1"/>
              </a:solidFill>
              <a:latin typeface="Arial"/>
              <a:ea typeface="Arial"/>
              <a:cs typeface="Arial"/>
              <a:sym typeface="Arial"/>
            </a:endParaRPr>
          </a:p>
          <a:p>
            <a:pPr indent="-336550" lvl="0" marL="514350" marR="0" rtl="0" algn="l">
              <a:lnSpc>
                <a:spcPct val="100000"/>
              </a:lnSpc>
              <a:spcBef>
                <a:spcPts val="1200"/>
              </a:spcBef>
              <a:spcAft>
                <a:spcPts val="0"/>
              </a:spcAft>
              <a:buClr>
                <a:schemeClr val="dk2"/>
              </a:buClr>
              <a:buSzPts val="2800"/>
              <a:buFont typeface="Calibri"/>
              <a:buNone/>
              <a:defRPr/>
            </a:pPr>
            <a:r>
              <a:rPr/>
              <a:t/>
            </a:r>
            <a:endParaRPr b="0" i="0" sz="2800" u="none" cap="none" strike="noStrike">
              <a:solidFill>
                <a:schemeClr val="dk1"/>
              </a:solidFill>
              <a:latin typeface="Arial"/>
              <a:ea typeface="Arial"/>
              <a:cs typeface="Arial"/>
              <a:sym typeface="Arial"/>
            </a:endParaRPr>
          </a:p>
          <a:p>
            <a:pPr indent="-336550" lvl="0" marL="514350" marR="0" rtl="0" algn="l">
              <a:lnSpc>
                <a:spcPct val="100000"/>
              </a:lnSpc>
              <a:spcBef>
                <a:spcPts val="1200"/>
              </a:spcBef>
              <a:spcAft>
                <a:spcPts val="0"/>
              </a:spcAft>
              <a:buClr>
                <a:schemeClr val="dk2"/>
              </a:buClr>
              <a:buSzPts val="2800"/>
              <a:buFont typeface="Calibri"/>
              <a:buNone/>
              <a:defRPr/>
            </a:pPr>
            <a:r>
              <a:rPr/>
              <a:t/>
            </a:r>
            <a:endParaRPr b="0" i="0" sz="2800" u="none" cap="none" strike="noStrike">
              <a:solidFill>
                <a:schemeClr val="dk1"/>
              </a:solidFill>
              <a:latin typeface="Arial"/>
              <a:ea typeface="Arial"/>
              <a:cs typeface="Arial"/>
              <a:sym typeface="Arial"/>
            </a:endParaRPr>
          </a:p>
          <a:p>
            <a:pPr indent="-514350" lvl="0" marL="514350" marR="0" rtl="0" algn="l">
              <a:lnSpc>
                <a:spcPct val="100000"/>
              </a:lnSpc>
              <a:spcBef>
                <a:spcPts val="1200"/>
              </a:spcBef>
              <a:spcAft>
                <a:spcPts val="0"/>
              </a:spcAft>
              <a:buClr>
                <a:schemeClr val="dk1"/>
              </a:buClr>
              <a:buSzPts val="2800"/>
              <a:buFont typeface="Calibri"/>
              <a:buAutoNum type="alphaLcPeriod"/>
              <a:defRPr/>
            </a:pPr>
            <a:r>
              <a:rPr b="0" i="0" lang="en-US" sz="2800" u="none" cap="none" strike="noStrike">
                <a:solidFill>
                  <a:schemeClr val="dk1"/>
                </a:solidFill>
                <a:latin typeface="Arial"/>
                <a:ea typeface="Arial"/>
                <a:cs typeface="Arial"/>
                <a:sym typeface="Arial"/>
              </a:rPr>
              <a:t>How do you think negative values and subtraction are related?</a:t>
            </a:r>
            <a:endParaRPr b="0" i="0" sz="1400" u="none" cap="none" strike="noStrike">
              <a:solidFill>
                <a:srgbClr val="000000"/>
              </a:solidFill>
              <a:latin typeface="Arial"/>
              <a:ea typeface="Arial"/>
              <a:cs typeface="Arial"/>
              <a:sym typeface="Arial"/>
            </a:endParaRPr>
          </a:p>
        </p:txBody>
      </p:sp>
      <p:sp>
        <p:nvSpPr>
          <p:cNvPr id="746" name="Google Shape;746;p73"/>
          <p:cNvSpPr/>
          <p:nvPr/>
        </p:nvSpPr>
        <p:spPr>
          <a:xfrm>
            <a:off x="484564" y="1536382"/>
            <a:ext cx="6944936" cy="1626378"/>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747" name="Google Shape;747;p73"/>
          <p:cNvSpPr txBox="1"/>
          <p:nvPr/>
        </p:nvSpPr>
        <p:spPr>
          <a:xfrm>
            <a:off x="6222631" y="5447150"/>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defRPr/>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748" name="Google Shape;748;p73"/>
          <p:cNvSpPr/>
          <p:nvPr/>
        </p:nvSpPr>
        <p:spPr>
          <a:xfrm>
            <a:off x="484564" y="4233270"/>
            <a:ext cx="6944936" cy="1678432"/>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749" name="Google Shape;749;p73"/>
          <p:cNvSpPr txBox="1"/>
          <p:nvPr/>
        </p:nvSpPr>
        <p:spPr>
          <a:xfrm>
            <a:off x="6222631" y="2737803"/>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defRPr/>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750" name="Google Shape;750;p73"/>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sp>
        <p:nvSpPr>
          <p:cNvPr id="75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26 / 51</a:t>
            </a:r>
          </a:p>
        </p:txBody>
      </p:sp>
      <p:grpSp>
        <p:nvGrpSpPr>
          <p:cNvPr id="752" name="TEACH-2-student-move" descr="TEACH 2 · Use strategies and tasks to engage students in rigorous work"/>
          <p:cNvGrpSpPr/>
          <p:nvPr/>
        </p:nvGrpSpPr>
        <p:grpSpPr>
          <a:xfrm>
            <a:off x="502920" y="3324458"/>
            <a:ext cx="11186160" cy="402336"/>
            <a:chOff x="502920" y="3794358"/>
            <a:chExt cx="11186160" cy="402336"/>
          </a:xfrm>
        </p:grpSpPr>
        <p:sp>
          <p:nvSpPr>
            <p:cNvPr id="753" name="TEACH-move-card"/>
            <p:cNvSpPr/>
            <p:nvPr/>
          </p:nvSpPr>
          <p:spPr>
            <a:xfrm>
              <a:off x="502920" y="379435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754" name="TEACH-move-rule"/>
            <p:cNvSpPr/>
            <p:nvPr/>
          </p:nvSpPr>
          <p:spPr>
            <a:xfrm>
              <a:off x="548640" y="3870802"/>
              <a:ext cx="100584" cy="249448"/>
            </a:xfrm>
            <a:prstGeom prst="roundRect">
              <a:avLst>
                <a:gd name="adj" fmla="val 50000"/>
              </a:avLst>
            </a:prstGeom>
            <a:solidFill>
              <a:srgbClr val="01708C"/>
            </a:solidFill>
            <a:ln>
              <a:noFill/>
            </a:ln>
          </p:spPr>
          <p:txBody>
            <a:bodyPr/>
            <a:lstStyle/>
            <a:p>
              <a:endParaRPr/>
            </a:p>
          </p:txBody>
        </p:sp>
        <p:sp>
          <p:nvSpPr>
            <p:cNvPr id="755" name="TEACH-move-text"/>
            <p:cNvSpPr txBox="1"/>
            <p:nvPr/>
          </p:nvSpPr>
          <p:spPr>
            <a:xfrm>
              <a:off x="822960" y="379435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STRUGGLE FIRST  ·  </a:t>
              </a:r>
              <a:r>
                <a:rPr lang="en-US" sz="1200" dirty="0">
                  <a:solidFill>
                    <a:srgbClr val="13303A"/>
                  </a:solidFill>
                  <a:latin typeface="Arial"/>
                </a:rPr>
                <a:t>Work on your own first. Stuck is allowed — try a second strategy before you ask.</a:t>
              </a:r>
              <a:endParaRPr lang="en-US" sz="1200"/>
            </a:p>
          </p:txBody>
        </p:sp>
      </p:gr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7.1  /  DISCUSS THE TASK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Explain and compare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TextBox 4"/>
          <p:cNvSpPr txBox="1"/>
          <p:nvPr/>
        </p:nvSpPr>
        <p:spPr>
          <a:xfrm>
            <a:off x="621792" y="1755648"/>
            <a:ext cx="6629400" cy="384048"/>
          </a:xfrm>
          <a:prstGeom prst="rect">
            <a:avLst/>
          </a:prstGeom>
          <a:noFill/>
        </p:spPr>
        <p:txBody>
          <a:bodyPr wrap="square" lIns="0" rIns="0" tIns="22860" bIns="0">
            <a:spAutoFit/>
          </a:bodyPr>
          <a:lstStyle/>
          <a:p>
            <a:pPr>
              <a:spcAft>
                <a:spcPts val="800"/>
              </a:spcAft>
              <a:defRPr sz="2000" b="1">
                <a:solidFill>
                  <a:srgbClr val="096B69"/>
                </a:solidFill>
                <a:latin typeface="Arial"/>
              </a:defRPr>
            </a:pPr>
            <a:r>
              <a:rPr/>
              <a:t>Use the task you just explored.</a:t>
            </a:r>
          </a:p>
        </p:txBody>
      </p:sp>
      <p:sp>
        <p:nvSpPr>
          <p:cNvPr id="6" name="TextBox 5"/>
          <p:cNvSpPr txBox="1"/>
          <p:nvPr/>
        </p:nvSpPr>
        <p:spPr>
          <a:xfrm>
            <a:off x="621792" y="2322576"/>
            <a:ext cx="6583680" cy="2057400"/>
          </a:xfrm>
          <a:prstGeom prst="rect">
            <a:avLst/>
          </a:prstGeom>
          <a:noFill/>
        </p:spPr>
        <p:txBody>
          <a:bodyPr wrap="square" lIns="0" rIns="0" tIns="22860" bIns="0">
            <a:spAutoFit/>
          </a:bodyPr>
          <a:lstStyle/>
          <a:p>
            <a:pPr>
              <a:spcAft>
                <a:spcPts val="800"/>
              </a:spcAft>
              <a:defRPr sz="2900" b="0">
                <a:solidFill>
                  <a:srgbClr val="24384B"/>
                </a:solidFill>
                <a:latin typeface="Arial"/>
              </a:defRPr>
            </a:pPr>
            <a:r>
              <a:rPr/>
              <a:t>What does zero mean here, and how does the opposite describe a related quantity?</a:t>
            </a:r>
          </a:p>
        </p:txBody>
      </p:sp>
      <p:sp>
        <p:nvSpPr>
          <p:cNvPr id="7" name="TextBox 6"/>
          <p:cNvSpPr txBox="1"/>
          <p:nvPr/>
        </p:nvSpPr>
        <p:spPr>
          <a:xfrm>
            <a:off x="621792" y="4590288"/>
            <a:ext cx="6629400" cy="960120"/>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Point to evidence in your work.</a:t>
            </a:r>
          </a:p>
          <a:p>
            <a:pPr>
              <a:spcAft>
                <a:spcPts val="800"/>
              </a:spcAft>
              <a:defRPr sz="2300" b="0">
                <a:solidFill>
                  <a:srgbClr val="24384B"/>
                </a:solidFill>
                <a:latin typeface="Arial"/>
              </a:defRPr>
            </a:pPr>
            <a:r>
              <a:rPr/>
              <a:t>Then compare your approach with a partner’s.</a:t>
            </a:r>
          </a:p>
        </p:txBody>
      </p:sp>
      <p:sp>
        <p:nvSpPr>
          <p:cNvPr id="8" name="Rounded Rectangle 7"/>
          <p:cNvSpPr/>
          <p:nvPr/>
        </p:nvSpPr>
        <p:spPr>
          <a:xfrm>
            <a:off x="7662672" y="1783080"/>
            <a:ext cx="3904487" cy="417880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82712" y="2066543"/>
            <a:ext cx="320040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TAKE TURNS</a:t>
            </a:r>
          </a:p>
        </p:txBody>
      </p:sp>
      <p:sp>
        <p:nvSpPr>
          <p:cNvPr id="10" name="TextBox 9"/>
          <p:cNvSpPr txBox="1"/>
          <p:nvPr/>
        </p:nvSpPr>
        <p:spPr>
          <a:xfrm>
            <a:off x="7982712" y="2715768"/>
            <a:ext cx="3200400" cy="2606040"/>
          </a:xfrm>
          <a:prstGeom prst="rect">
            <a:avLst/>
          </a:prstGeom>
          <a:noFill/>
        </p:spPr>
        <p:txBody>
          <a:bodyPr wrap="square" lIns="0" rIns="0" tIns="22860" bIns="0">
            <a:spAutoFit/>
          </a:bodyPr>
          <a:lstStyle/>
          <a:p>
            <a:pPr>
              <a:spcAft>
                <a:spcPts val="800"/>
              </a:spcAft>
              <a:defRPr sz="2200" b="0">
                <a:solidFill>
                  <a:srgbClr val="24384B"/>
                </a:solidFill>
                <a:latin typeface="Arial"/>
              </a:defRPr>
            </a:pPr>
            <a:r>
              <a:rPr/>
              <a:t>Explain</a:t>
            </a:r>
          </a:p>
          <a:p>
            <a:pPr>
              <a:spcAft>
                <a:spcPts val="800"/>
              </a:spcAft>
              <a:defRPr sz="2200" b="0">
                <a:solidFill>
                  <a:srgbClr val="24384B"/>
                </a:solidFill>
                <a:latin typeface="Arial"/>
              </a:defRPr>
            </a:pPr>
            <a:r>
              <a:rPr/>
              <a:t>“I know this because…”</a:t>
            </a:r>
          </a:p>
          <a:p>
            <a:pPr>
              <a:spcAft>
                <a:spcPts val="800"/>
              </a:spcAft>
              <a:defRPr sz="2200" b="0">
                <a:solidFill>
                  <a:srgbClr val="24384B"/>
                </a:solidFill>
                <a:latin typeface="Arial"/>
              </a:defRPr>
            </a:pPr>
          </a:p>
          <a:p>
            <a:pPr>
              <a:spcAft>
                <a:spcPts val="800"/>
              </a:spcAft>
              <a:defRPr sz="2200" b="0">
                <a:solidFill>
                  <a:srgbClr val="24384B"/>
                </a:solidFill>
                <a:latin typeface="Arial"/>
              </a:defRPr>
            </a:pPr>
            <a:r>
              <a:rPr/>
              <a:t>Ask</a:t>
            </a:r>
          </a:p>
          <a:p>
            <a:pPr>
              <a:spcAft>
                <a:spcPts val="800"/>
              </a:spcAft>
              <a:defRPr sz="2200" b="0">
                <a:solidFill>
                  <a:srgbClr val="24384B"/>
                </a:solidFill>
                <a:latin typeface="Arial"/>
              </a:defRPr>
            </a:pPr>
            <a:r>
              <a:rPr/>
              <a:t>“Where does your work show that?”</a:t>
            </a:r>
          </a:p>
        </p:txBody>
      </p:sp>
      <p:grpSp>
        <p:nvGrpSpPr>
          <p:cNvPr id="11" name="TEACH-3-student-move" descr="TEACH 3 · Use intentional questioning to deepen learning"/>
          <p:cNvGrpSpPr/>
          <p:nvPr/>
        </p:nvGrpSpPr>
        <p:grpSpPr>
          <a:xfrm>
            <a:off x="502920" y="5824728"/>
            <a:ext cx="11186160" cy="402336"/>
            <a:chOff x="502920" y="5824728"/>
            <a:chExt cx="11186160" cy="402336"/>
          </a:xfrm>
        </p:grpSpPr>
        <p:sp>
          <p:nvSpPr>
            <p:cNvPr id="12"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3"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4"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ANOTHER PATHWAY  ·  </a:t>
              </a:r>
              <a:r>
                <a:rPr lang="en-US" sz="1200" dirty="0">
                  <a:solidFill>
                    <a:srgbClr val="13303A"/>
                  </a:solidFill>
                  <a:latin typeface="Arial"/>
                </a:rPr>
                <a:t>Did anyone get there a different way? Put both pathways side by side and compare.</a:t>
              </a:r>
              <a:endParaRPr lang="en-US" sz="1200"/>
            </a:p>
          </p:txBody>
        </p:sp>
      </p:gr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648" name="Google Shape;648;p6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49" name="Google Shape;649;p64"/>
          <p:cNvSpPr txBox="1"/>
          <p:nvPr/>
        </p:nvSpPr>
        <p:spPr>
          <a:xfrm>
            <a:off x="484565" y="936000"/>
            <a:ext cx="7362898" cy="9337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The elevation of Badwater Basin is −86 (negative 86) meters.</a:t>
            </a:r>
            <a:endParaRPr b="0" i="0" sz="1400" u="none" cap="none" strike="noStrike">
              <a:solidFill>
                <a:srgbClr val="000000"/>
              </a:solidFill>
              <a:latin typeface="Arial"/>
              <a:ea typeface="Arial"/>
              <a:cs typeface="Arial"/>
              <a:sym typeface="Arial"/>
            </a:endParaRPr>
          </a:p>
        </p:txBody>
      </p:sp>
      <p:sp>
        <p:nvSpPr>
          <p:cNvPr id="650" name="Google Shape;650;p64"/>
          <p:cNvSpPr/>
          <p:nvPr/>
        </p:nvSpPr>
        <p:spPr>
          <a:xfrm>
            <a:off x="484565" y="3601054"/>
            <a:ext cx="7117238"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What other tool can you use to represent numbers?</a:t>
            </a:r>
            <a:endParaRPr b="0" i="0" sz="2800" u="none" cap="none" strike="noStrike">
              <a:solidFill>
                <a:schemeClr val="dk1"/>
              </a:solidFill>
              <a:latin typeface="Arial"/>
              <a:ea typeface="Arial"/>
              <a:cs typeface="Arial"/>
              <a:sym typeface="Arial"/>
            </a:endParaRPr>
          </a:p>
        </p:txBody>
      </p:sp>
      <p:sp>
        <p:nvSpPr>
          <p:cNvPr id="651" name="Google Shape;651;p64"/>
          <p:cNvSpPr txBox="1"/>
          <p:nvPr/>
        </p:nvSpPr>
        <p:spPr>
          <a:xfrm>
            <a:off x="622532" y="4953572"/>
            <a:ext cx="4440787" cy="95813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One tool is a number line.</a:t>
            </a:r>
            <a:endParaRPr b="0" i="0" sz="1400" u="none" cap="none" strike="noStrike">
              <a:solidFill>
                <a:srgbClr val="000000"/>
              </a:solidFill>
              <a:latin typeface="Arial"/>
              <a:ea typeface="Arial"/>
              <a:cs typeface="Arial"/>
              <a:sym typeface="Arial"/>
            </a:endParaRPr>
          </a:p>
        </p:txBody>
      </p:sp>
      <p:pic>
        <p:nvPicPr>
          <p:cNvPr descr="C:\Users\HP\Desktop\Grade_6_Unit_7-20230217T053830Z-001\Grade_6_Unit_7\OPS\img\chapter12\narm24_c10701_se_011a-dig-b.png" id="652" name="Google Shape;652;p64"/>
          <p:cNvPicPr preferRelativeResize="0"/>
          <p:nvPr/>
        </p:nvPicPr>
        <p:blipFill rotWithShape="1">
          <a:blip r:embed="rId2">
            <a:alphaModFix/>
          </a:blip>
          <a:srcRect b="0" l="0" r="0" t="0"/>
          <a:stretch/>
        </p:blipFill>
        <p:spPr>
          <a:xfrm>
            <a:off x="7744220" y="1539000"/>
            <a:ext cx="4110212" cy="3780000"/>
          </a:xfrm>
          <a:prstGeom prst="rect">
            <a:avLst/>
          </a:prstGeom>
          <a:noFill/>
          <a:ln>
            <a:noFill/>
          </a:ln>
        </p:spPr>
      </p:pic>
      <p:sp>
        <p:nvSpPr>
          <p:cNvPr id="653" name="Google Shape;653;p64"/>
          <p:cNvSpPr/>
          <p:nvPr/>
        </p:nvSpPr>
        <p:spPr>
          <a:xfrm>
            <a:off x="484565" y="317246"/>
            <a:ext cx="3860352"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7030A0"/>
                </a:solidFill>
                <a:latin typeface="Arial"/>
                <a:ea typeface="Arial"/>
                <a:cs typeface="Arial"/>
                <a:sym typeface="Arial"/>
              </a:rPr>
              <a:t>The Lowest Elevation</a:t>
            </a:r>
            <a:endParaRPr b="0" i="0" sz="1400" u="none" cap="none" strike="noStrike">
              <a:solidFill>
                <a:srgbClr val="000000"/>
              </a:solidFill>
              <a:latin typeface="Arial"/>
              <a:ea typeface="Arial"/>
              <a:cs typeface="Arial"/>
              <a:sym typeface="Arial"/>
            </a:endParaRPr>
          </a:p>
        </p:txBody>
      </p:sp>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28 / 51</a:t>
            </a:r>
          </a:p>
        </p:txBody>
      </p:sp>
      <p:sp xmlns:p="http://schemas.openxmlformats.org/presentationml/2006/main" xmlns:a="http://schemas.openxmlformats.org/drawingml/2006/main">
        <p:nvSpPr>
          <p:cNvPr id="654" name="TEACH-embedded-student-prompt" descr="Student thinking and response directions"/>
          <p:cNvSpPr txBox="1"/>
          <p:nvPr/>
        </p:nvSpPr>
        <p:spPr>
          <a:xfrm>
            <a:off x="594360" y="267004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a:t>
            </a:r>
            <a:endParaRPr lang="en-US" sz="2000"/>
          </a:p>
          <a:p>
            <a:pPr>
              <a:lnSpc>
                <a:spcPts val="2400"/>
              </a:lnSpc>
              <a:buNone/>
            </a:pPr>
            <a:r>
              <a:rPr lang="en-US" sz="2000">
                <a:solidFill>
                  <a:srgbClr val="174D60"/>
                </a:solidFill>
                <a:latin typeface="Arial"/>
              </a:rPr>
              <a:t>explanation. Explain any revision you make.</a:t>
            </a:r>
            <a:endParaRPr lang="en-US" sz="2000"/>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697" name="Google Shape;697;p6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98" name="Google Shape;698;p69"/>
          <p:cNvSpPr txBox="1"/>
          <p:nvPr/>
        </p:nvSpPr>
        <p:spPr>
          <a:xfrm>
            <a:off x="484565" y="936000"/>
            <a:ext cx="4333096" cy="63075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−86 is the opposite of 86.</a:t>
            </a:r>
            <a:endParaRPr b="0" i="0" sz="1400" u="none" cap="none" strike="noStrike">
              <a:solidFill>
                <a:srgbClr val="000000"/>
              </a:solidFill>
              <a:latin typeface="Arial"/>
              <a:ea typeface="Arial"/>
              <a:cs typeface="Arial"/>
              <a:sym typeface="Arial"/>
            </a:endParaRPr>
          </a:p>
        </p:txBody>
      </p:sp>
      <p:sp>
        <p:nvSpPr>
          <p:cNvPr id="699" name="Google Shape;699;p69"/>
          <p:cNvSpPr txBox="1"/>
          <p:nvPr/>
        </p:nvSpPr>
        <p:spPr>
          <a:xfrm>
            <a:off x="505104" y="3939352"/>
            <a:ext cx="9307635"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What do you notice about the two opposite numbers?</a:t>
            </a:r>
            <a:endParaRPr b="0" i="0" sz="1400" u="none" cap="none" strike="noStrike">
              <a:solidFill>
                <a:srgbClr val="000000"/>
              </a:solidFill>
              <a:latin typeface="Arial"/>
              <a:ea typeface="Arial"/>
              <a:cs typeface="Arial"/>
              <a:sym typeface="Arial"/>
            </a:endParaRPr>
          </a:p>
        </p:txBody>
      </p:sp>
      <p:sp>
        <p:nvSpPr>
          <p:cNvPr id="700" name="Google Shape;700;p69"/>
          <p:cNvSpPr txBox="1"/>
          <p:nvPr/>
        </p:nvSpPr>
        <p:spPr>
          <a:xfrm>
            <a:off x="484564" y="4702799"/>
            <a:ext cx="8260976" cy="158881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They are both 86 units from 0, but on different sides of 0 on the number line.</a:t>
            </a:r>
            <a:endParaRPr b="1" i="0" sz="2800" u="none" cap="none" strike="noStrike">
              <a:solidFill>
                <a:srgbClr val="595959"/>
              </a:solidFill>
              <a:latin typeface="Arial"/>
              <a:ea typeface="Arial"/>
              <a:cs typeface="Arial"/>
              <a:sym typeface="Arial"/>
            </a:endParaRPr>
          </a:p>
        </p:txBody>
      </p:sp>
      <p:sp>
        <p:nvSpPr>
          <p:cNvPr id="701" name="Google Shape;701;p69"/>
          <p:cNvSpPr/>
          <p:nvPr/>
        </p:nvSpPr>
        <p:spPr>
          <a:xfrm>
            <a:off x="493935" y="317246"/>
            <a:ext cx="3860352"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rgbClr val="7030A0"/>
                </a:solidFill>
                <a:latin typeface="Arial"/>
                <a:ea typeface="Arial"/>
                <a:cs typeface="Arial"/>
                <a:sym typeface="Arial"/>
              </a:rPr>
              <a:t>The Lowest Elevation</a:t>
            </a:r>
            <a:endParaRPr b="0" i="0" sz="1400" u="none" cap="none" strike="noStrike">
              <a:solidFill>
                <a:srgbClr val="000000"/>
              </a:solidFill>
              <a:latin typeface="Arial"/>
              <a:ea typeface="Arial"/>
              <a:cs typeface="Arial"/>
              <a:sym typeface="Arial"/>
            </a:endParaRPr>
          </a:p>
        </p:txBody>
      </p:sp>
      <p:pic>
        <p:nvPicPr>
          <p:cNvPr descr="C:\Users\HP\Desktop\Grade_6_Unit_7-20230217T053830Z-001\Grade_6_Unit_7\OPS\img\.assets\6e0649ae299e49af8db7507ba532f7ef\narm24_c10701_se_012a-dig-c-eps.png" id="702" name="Google Shape;702;p69"/>
          <p:cNvPicPr preferRelativeResize="0"/>
          <p:nvPr/>
        </p:nvPicPr>
        <p:blipFill rotWithShape="1">
          <a:blip r:embed="rId2">
            <a:alphaModFix/>
          </a:blip>
          <a:srcRect b="0" l="0" r="0" t="0"/>
          <a:stretch/>
        </p:blipFill>
        <p:spPr>
          <a:xfrm>
            <a:off x="993373" y="1806983"/>
            <a:ext cx="7648575" cy="1838325"/>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29 / 51</a:t>
            </a:r>
          </a:p>
        </p:txBody>
      </p:sp>
      <p:grpSp>
        <p:nvGrpSpPr>
          <p:cNvPr id="703" name="TEACH-3-student-move" descr="TEACH 3 · Use intentional questioning to deepen learning"/>
          <p:cNvGrpSpPr/>
          <p:nvPr/>
        </p:nvGrpSpPr>
        <p:grpSpPr>
          <a:xfrm>
            <a:off x="6187440" y="1130327"/>
            <a:ext cx="5501640" cy="594360"/>
            <a:chOff x="6187440" y="1130327"/>
            <a:chExt cx="5501640" cy="594360"/>
          </a:xfrm>
        </p:grpSpPr>
        <p:sp>
          <p:nvSpPr>
            <p:cNvPr id="704" name="TEACH-move-card"/>
            <p:cNvSpPr/>
            <p:nvPr/>
          </p:nvSpPr>
          <p:spPr>
            <a:xfrm>
              <a:off x="6187440" y="1130327"/>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705" name="TEACH-move-rule"/>
            <p:cNvSpPr/>
            <p:nvPr/>
          </p:nvSpPr>
          <p:spPr>
            <a:xfrm>
              <a:off x="6233160" y="1243255"/>
              <a:ext cx="100584" cy="368504"/>
            </a:xfrm>
            <a:prstGeom prst="roundRect">
              <a:avLst>
                <a:gd name="adj" fmla="val 50000"/>
              </a:avLst>
            </a:prstGeom>
            <a:solidFill>
              <a:srgbClr val="01708C"/>
            </a:solidFill>
            <a:ln>
              <a:noFill/>
            </a:ln>
          </p:spPr>
          <p:txBody>
            <a:bodyPr/>
            <a:lstStyle/>
            <a:p>
              <a:endParaRPr/>
            </a:p>
          </p:txBody>
        </p:sp>
        <p:sp>
          <p:nvSpPr>
            <p:cNvPr id="706" name="TEACH-move-text"/>
            <p:cNvSpPr txBox="1"/>
            <p:nvPr/>
          </p:nvSpPr>
          <p:spPr>
            <a:xfrm>
              <a:off x="6507480" y="1130327"/>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ASK THE CLASS  ·  </a:t>
              </a:r>
              <a:r>
                <a:rPr lang="en-US" sz="1200" dirty="0">
                  <a:solidFill>
                    <a:srgbClr val="13303A"/>
                  </a:solidFill>
                  <a:latin typeface="Arial"/>
                </a:rPr>
                <a:t>Write one question about this that you could ask the class.</a:t>
              </a:r>
              <a:endParaRPr lang="en-US" sz="1200"/>
            </a:p>
          </p:txBody>
        </p:sp>
      </p:gr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721" name="Google Shape;721;p7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22" name="Google Shape;722;p71"/>
          <p:cNvSpPr txBox="1"/>
          <p:nvPr/>
        </p:nvSpPr>
        <p:spPr>
          <a:xfrm>
            <a:off x="853200" y="316800"/>
            <a:ext cx="4504685"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030A0"/>
                </a:solidFill>
                <a:latin typeface="Arial"/>
                <a:ea typeface="Arial"/>
                <a:cs typeface="Arial"/>
                <a:sym typeface="Arial"/>
              </a:rPr>
              <a:t>Collaborate and Connect</a:t>
            </a:r>
            <a:endParaRPr b="0" i="0" sz="1400" u="none" cap="none" strike="noStrike">
              <a:solidFill>
                <a:srgbClr val="000000"/>
              </a:solidFill>
              <a:latin typeface="Arial"/>
              <a:ea typeface="Arial"/>
              <a:cs typeface="Arial"/>
              <a:sym typeface="Arial"/>
            </a:endParaRPr>
          </a:p>
        </p:txBody>
      </p:sp>
      <p:pic>
        <p:nvPicPr>
          <p:cNvPr id="723" name="Google Shape;723;p71"/>
          <p:cNvPicPr preferRelativeResize="0"/>
          <p:nvPr/>
        </p:nvPicPr>
        <p:blipFill rotWithShape="1">
          <a:blip r:embed="rId2">
            <a:alphaModFix/>
          </a:blip>
          <a:srcRect b="0" l="0" r="0" t="0"/>
          <a:stretch/>
        </p:blipFill>
        <p:spPr>
          <a:xfrm>
            <a:off x="499565" y="368708"/>
            <a:ext cx="353635" cy="340537"/>
          </a:xfrm>
          <a:prstGeom prst="rect">
            <a:avLst/>
          </a:prstGeom>
          <a:noFill/>
          <a:ln>
            <a:noFill/>
          </a:ln>
        </p:spPr>
      </p:pic>
      <p:sp>
        <p:nvSpPr>
          <p:cNvPr id="724" name="Google Shape;724;p71"/>
          <p:cNvSpPr txBox="1"/>
          <p:nvPr/>
        </p:nvSpPr>
        <p:spPr>
          <a:xfrm>
            <a:off x="499565" y="5326070"/>
            <a:ext cx="8891313" cy="10646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Some integers we can write are 2, 5, −9, −14, and 230.</a:t>
            </a:r>
            <a:endParaRPr b="0" i="0" sz="1400" u="none" cap="none" strike="noStrike">
              <a:solidFill>
                <a:srgbClr val="000000"/>
              </a:solidFill>
              <a:latin typeface="Arial"/>
              <a:ea typeface="Arial"/>
              <a:cs typeface="Arial"/>
              <a:sym typeface="Arial"/>
            </a:endParaRPr>
          </a:p>
        </p:txBody>
      </p:sp>
      <p:sp>
        <p:nvSpPr>
          <p:cNvPr id="725" name="Google Shape;725;p71"/>
          <p:cNvSpPr txBox="1"/>
          <p:nvPr/>
        </p:nvSpPr>
        <p:spPr>
          <a:xfrm>
            <a:off x="485999" y="936000"/>
            <a:ext cx="4371845" cy="5925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−86 is the opposite of 86.</a:t>
            </a:r>
            <a:endParaRPr b="0" i="0" sz="1400" u="none" cap="none" strike="noStrike">
              <a:solidFill>
                <a:srgbClr val="000000"/>
              </a:solidFill>
              <a:latin typeface="Arial"/>
              <a:ea typeface="Arial"/>
              <a:cs typeface="Arial"/>
              <a:sym typeface="Arial"/>
            </a:endParaRPr>
          </a:p>
        </p:txBody>
      </p:sp>
      <p:sp>
        <p:nvSpPr>
          <p:cNvPr id="726" name="Google Shape;726;p71"/>
          <p:cNvSpPr txBox="1"/>
          <p:nvPr/>
        </p:nvSpPr>
        <p:spPr>
          <a:xfrm>
            <a:off x="499565" y="1553672"/>
            <a:ext cx="9192444" cy="13849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Counting numbers, their opposites, and 0 are </a:t>
            </a:r>
            <a:r>
              <a:rPr b="1" i="0" lang="en-US" sz="2800" u="none" cap="none" strike="noStrike">
                <a:solidFill>
                  <a:srgbClr val="262626"/>
                </a:solidFill>
                <a:highlight>
                  <a:srgbClr val="FFFF00"/>
                </a:highlight>
                <a:latin typeface="Arial"/>
                <a:ea typeface="Arial"/>
                <a:cs typeface="Arial"/>
                <a:sym typeface="Arial"/>
              </a:rPr>
              <a:t>integers. Opposites </a:t>
            </a:r>
            <a:r>
              <a:rPr b="0" i="0" lang="en-US" sz="2800" u="none" cap="none" strike="noStrike">
                <a:solidFill>
                  <a:schemeClr val="dk1"/>
                </a:solidFill>
                <a:latin typeface="Arial"/>
                <a:ea typeface="Arial"/>
                <a:cs typeface="Arial"/>
                <a:sym typeface="Arial"/>
              </a:rPr>
              <a:t>are the same distance from 0 but on the opposite side of the number line. </a:t>
            </a:r>
            <a:endParaRPr b="1" i="0" sz="2800" u="none" cap="none" strike="noStrike">
              <a:solidFill>
                <a:schemeClr val="dk1"/>
              </a:solidFill>
              <a:latin typeface="Arial"/>
              <a:ea typeface="Arial"/>
              <a:cs typeface="Arial"/>
              <a:sym typeface="Arial"/>
            </a:endParaRPr>
          </a:p>
        </p:txBody>
      </p:sp>
      <p:sp>
        <p:nvSpPr>
          <p:cNvPr id="727" name="Google Shape;727;p71"/>
          <p:cNvSpPr/>
          <p:nvPr/>
        </p:nvSpPr>
        <p:spPr>
          <a:xfrm>
            <a:off x="485999" y="4802850"/>
            <a:ext cx="10752272"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What are 5 different numbers you can write that are integers?</a:t>
            </a:r>
            <a:endParaRPr b="0" i="0" sz="2800" u="none" cap="none" strike="noStrike">
              <a:solidFill>
                <a:schemeClr val="dk1"/>
              </a:solidFill>
              <a:latin typeface="Arial"/>
              <a:ea typeface="Arial"/>
              <a:cs typeface="Arial"/>
              <a:sym typeface="Arial"/>
            </a:endParaRPr>
          </a:p>
        </p:txBody>
      </p:sp>
      <p:pic>
        <p:nvPicPr>
          <p:cNvPr descr="C:\Users\HP\Desktop\Grade_6_Unit_7-20230217T053830Z-001\Grade_6_Unit_7\OPS\img\.assets\6e0649ae299e49af8db7507ba532f7ef\narm24_c10701_se_012a-dig-c-eps.png" id="728" name="Google Shape;728;p71"/>
          <p:cNvPicPr preferRelativeResize="0"/>
          <p:nvPr/>
        </p:nvPicPr>
        <p:blipFill rotWithShape="1">
          <a:blip r:embed="rId3">
            <a:alphaModFix/>
          </a:blip>
          <a:srcRect b="0" l="0" r="0" t="0"/>
          <a:stretch/>
        </p:blipFill>
        <p:spPr>
          <a:xfrm>
            <a:off x="1283929" y="2961054"/>
            <a:ext cx="7648575" cy="1838325"/>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30 / 51</a:t>
            </a:r>
          </a:p>
        </p:txBody>
      </p:sp>
      <p:grpSp>
        <p:nvGrpSpPr>
          <p:cNvPr id="729" name="TEACH-5-student-move" descr="TEACH 5 · Facilitate student interactions and academic talk"/>
          <p:cNvGrpSpPr/>
          <p:nvPr/>
        </p:nvGrpSpPr>
        <p:grpSpPr>
          <a:xfrm>
            <a:off x="6187440" y="877016"/>
            <a:ext cx="5501640" cy="594360"/>
            <a:chOff x="6187440" y="877016"/>
            <a:chExt cx="5501640" cy="594360"/>
          </a:xfrm>
        </p:grpSpPr>
        <p:sp>
          <p:nvSpPr>
            <p:cNvPr id="730" name="TEACH-move-card"/>
            <p:cNvSpPr/>
            <p:nvPr/>
          </p:nvSpPr>
          <p:spPr>
            <a:xfrm>
              <a:off x="6187440" y="87701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731" name="TEACH-move-rule"/>
            <p:cNvSpPr/>
            <p:nvPr/>
          </p:nvSpPr>
          <p:spPr>
            <a:xfrm>
              <a:off x="6233160" y="989944"/>
              <a:ext cx="100584" cy="368504"/>
            </a:xfrm>
            <a:prstGeom prst="roundRect">
              <a:avLst>
                <a:gd name="adj" fmla="val 50000"/>
              </a:avLst>
            </a:prstGeom>
            <a:solidFill>
              <a:srgbClr val="01708C"/>
            </a:solidFill>
            <a:ln>
              <a:noFill/>
            </a:ln>
          </p:spPr>
          <p:txBody>
            <a:bodyPr/>
            <a:lstStyle/>
            <a:p>
              <a:endParaRPr/>
            </a:p>
          </p:txBody>
        </p:sp>
        <p:sp>
          <p:nvSpPr>
            <p:cNvPr id="732" name="TEACH-move-text"/>
            <p:cNvSpPr txBox="1"/>
            <p:nvPr/>
          </p:nvSpPr>
          <p:spPr>
            <a:xfrm>
              <a:off x="6507480" y="87701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TAKE TURNS  ·  </a:t>
              </a:r>
              <a:r>
                <a:rPr lang="en-US" sz="1200" dirty="0">
                  <a:solidFill>
                    <a:srgbClr val="13303A"/>
                  </a:solidFill>
                  <a:latin typeface="Arial"/>
                </a:rPr>
                <a:t>One explains, one asks a question. Then switch, so both of you talk.</a:t>
              </a:r>
              <a:endParaRPr lang="en-US" sz="1200"/>
            </a:p>
          </p:txBody>
        </p:sp>
      </p:gr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2" name="Google Shape;262;p43"/>
          <p:cNvSpPr/>
          <p:nvPr/>
        </p:nvSpPr>
        <p:spPr>
          <a:xfrm>
            <a:off x="0" y="0"/>
            <a:ext cx="12191969" cy="713232"/>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3" name="Google Shape;263;p4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Session 2 Warm-Up</a:t>
            </a:r>
            <a:endParaRPr/>
          </a:p>
        </p:txBody>
      </p:sp>
      <p:sp>
        <p:nvSpPr>
          <p:cNvPr id="264" name="Google Shape;264;p4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400" u="none" cap="none" strike="noStrike">
                <a:solidFill>
                  <a:srgbClr val="FFFFFF"/>
                </a:solidFill>
                <a:latin typeface="Arial"/>
                <a:ea typeface="Arial"/>
                <a:cs typeface="Arial"/>
                <a:sym typeface="Arial"/>
              </a:rPr>
              <a:t>Lesson 7-1 · Explore Integers and Their Opposites</a:t>
            </a:r>
            <a:endParaRPr/>
          </a:p>
        </p:txBody>
      </p:sp>
      <p:sp>
        <p:nvSpPr>
          <p:cNvPr id="265" name="Google Shape;265;p4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6" name="Google Shape;266;p4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267" name="Google Shape;267;p43"/>
          <p:cNvSpPr txBox="1"/>
          <p:nvPr/>
        </p:nvSpPr>
        <p:spPr>
          <a:xfrm>
            <a:off x="640080" y="914400"/>
            <a:ext cx="10911809" cy="4754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2400" u="none" cap="none" strike="noStrike">
                <a:solidFill>
                  <a:srgbClr val="7030A0"/>
                </a:solidFill>
                <a:latin typeface="Arial"/>
                <a:ea typeface="Arial"/>
                <a:cs typeface="Arial"/>
                <a:sym typeface="Arial"/>
              </a:rPr>
              <a:t>Session 2 Warm-Up</a:t>
            </a:r>
            <a:endParaRPr/>
          </a:p>
        </p:txBody>
      </p:sp>
      <p:sp>
        <p:nvSpPr>
          <p:cNvPr id="268" name="Google Shape;268;p43"/>
          <p:cNvSpPr txBox="1"/>
          <p:nvPr/>
        </p:nvSpPr>
        <p:spPr>
          <a:xfrm>
            <a:off x="640080" y="1426464"/>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500" u="none" cap="none" strike="noStrike">
                <a:solidFill>
                  <a:srgbClr val="475569"/>
                </a:solidFill>
                <a:latin typeface="Arial"/>
                <a:ea typeface="Arial"/>
                <a:cs typeface="Arial"/>
                <a:sym typeface="Arial"/>
              </a:rPr>
              <a:t>Check what you remember from Session 1 · about 4 minutes</a:t>
            </a:r>
            <a:endParaRPr/>
          </a:p>
        </p:txBody>
      </p:sp>
      <p:sp>
        <p:nvSpPr>
          <p:cNvPr id="269" name="Google Shape;269;p43"/>
          <p:cNvSpPr/>
          <p:nvPr/>
        </p:nvSpPr>
        <p:spPr>
          <a:xfrm>
            <a:off x="640080"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0" name="Google Shape;270;p43"/>
          <p:cNvSpPr/>
          <p:nvPr/>
        </p:nvSpPr>
        <p:spPr>
          <a:xfrm>
            <a:off x="640080"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1" name="Google Shape;271;p43"/>
          <p:cNvSpPr/>
          <p:nvPr/>
        </p:nvSpPr>
        <p:spPr>
          <a:xfrm>
            <a:off x="914400"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272" name="Google Shape;272;p43"/>
          <p:cNvSpPr txBox="1"/>
          <p:nvPr/>
        </p:nvSpPr>
        <p:spPr>
          <a:xfrm>
            <a:off x="144475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What is the opposite of −8?</a:t>
            </a:r>
            <a:endParaRPr/>
          </a:p>
        </p:txBody>
      </p:sp>
      <p:sp>
        <p:nvSpPr>
          <p:cNvPr id="273" name="Google Shape;273;p43"/>
          <p:cNvSpPr/>
          <p:nvPr/>
        </p:nvSpPr>
        <p:spPr>
          <a:xfrm>
            <a:off x="144475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4" name="Google Shape;274;p43"/>
          <p:cNvSpPr txBox="1"/>
          <p:nvPr/>
        </p:nvSpPr>
        <p:spPr>
          <a:xfrm>
            <a:off x="157276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75" name="Google Shape;275;p43"/>
          <p:cNvSpPr txBox="1"/>
          <p:nvPr/>
        </p:nvSpPr>
        <p:spPr>
          <a:xfrm>
            <a:off x="184708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−8</a:t>
            </a:r>
            <a:endParaRPr/>
          </a:p>
        </p:txBody>
      </p:sp>
      <p:sp>
        <p:nvSpPr>
          <p:cNvPr id="276" name="Google Shape;276;p43"/>
          <p:cNvSpPr/>
          <p:nvPr/>
        </p:nvSpPr>
        <p:spPr>
          <a:xfrm>
            <a:off x="144475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7" name="Google Shape;277;p43"/>
          <p:cNvSpPr txBox="1"/>
          <p:nvPr/>
        </p:nvSpPr>
        <p:spPr>
          <a:xfrm>
            <a:off x="157276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78" name="Google Shape;278;p43"/>
          <p:cNvSpPr txBox="1"/>
          <p:nvPr/>
        </p:nvSpPr>
        <p:spPr>
          <a:xfrm>
            <a:off x="184708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8</a:t>
            </a:r>
            <a:endParaRPr/>
          </a:p>
        </p:txBody>
      </p:sp>
      <p:sp>
        <p:nvSpPr>
          <p:cNvPr id="279" name="Google Shape;279;p43"/>
          <p:cNvSpPr/>
          <p:nvPr/>
        </p:nvSpPr>
        <p:spPr>
          <a:xfrm>
            <a:off x="144475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0" name="Google Shape;280;p43"/>
          <p:cNvSpPr txBox="1"/>
          <p:nvPr/>
        </p:nvSpPr>
        <p:spPr>
          <a:xfrm>
            <a:off x="157276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81" name="Google Shape;281;p43"/>
          <p:cNvSpPr txBox="1"/>
          <p:nvPr/>
        </p:nvSpPr>
        <p:spPr>
          <a:xfrm>
            <a:off x="184708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0</a:t>
            </a:r>
            <a:endParaRPr/>
          </a:p>
        </p:txBody>
      </p:sp>
      <p:sp>
        <p:nvSpPr>
          <p:cNvPr id="282" name="Google Shape;282;p43"/>
          <p:cNvSpPr/>
          <p:nvPr/>
        </p:nvSpPr>
        <p:spPr>
          <a:xfrm>
            <a:off x="144475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3" name="Google Shape;283;p43"/>
          <p:cNvSpPr txBox="1"/>
          <p:nvPr/>
        </p:nvSpPr>
        <p:spPr>
          <a:xfrm>
            <a:off x="157276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284" name="Google Shape;284;p43"/>
          <p:cNvSpPr txBox="1"/>
          <p:nvPr/>
        </p:nvSpPr>
        <p:spPr>
          <a:xfrm>
            <a:off x="184708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100" u="none" cap="none" strike="noStrike">
                <a:solidFill>
                  <a:srgbClr val="14223A"/>
                </a:solidFill>
                <a:latin typeface="Arial"/>
                <a:ea typeface="Arial"/>
                <a:cs typeface="Arial"/>
                <a:sym typeface="Arial"/>
              </a:rPr>
              <a:t>27 / 41</a:t>
            </a:r>
            <a:endParaRPr/>
          </a:p>
        </p:txBody>
      </p:sp>
      <p:sp>
        <p:nvSpPr>
          <p:cNvPr id="285" name="Google Shape;285;p43"/>
          <p:cNvSpPr/>
          <p:nvPr/>
        </p:nvSpPr>
        <p:spPr>
          <a:xfrm>
            <a:off x="6260576"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6" name="Google Shape;286;p43"/>
          <p:cNvSpPr/>
          <p:nvPr/>
        </p:nvSpPr>
        <p:spPr>
          <a:xfrm>
            <a:off x="6260576"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7" name="Google Shape;287;p43"/>
          <p:cNvSpPr/>
          <p:nvPr/>
        </p:nvSpPr>
        <p:spPr>
          <a:xfrm>
            <a:off x="6534896"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288" name="Google Shape;288;p43"/>
          <p:cNvSpPr txBox="1"/>
          <p:nvPr/>
        </p:nvSpPr>
        <p:spPr>
          <a:xfrm>
            <a:off x="706831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On a horizontal number line, negative numbers sit:</a:t>
            </a:r>
            <a:endParaRPr/>
          </a:p>
        </p:txBody>
      </p:sp>
      <p:sp>
        <p:nvSpPr>
          <p:cNvPr id="289" name="Google Shape;289;p43"/>
          <p:cNvSpPr/>
          <p:nvPr/>
        </p:nvSpPr>
        <p:spPr>
          <a:xfrm>
            <a:off x="706831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0" name="Google Shape;290;p43"/>
          <p:cNvSpPr txBox="1"/>
          <p:nvPr/>
        </p:nvSpPr>
        <p:spPr>
          <a:xfrm>
            <a:off x="719632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91" name="Google Shape;291;p43"/>
          <p:cNvSpPr txBox="1"/>
          <p:nvPr/>
        </p:nvSpPr>
        <p:spPr>
          <a:xfrm>
            <a:off x="747064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To the right of 0</a:t>
            </a:r>
            <a:endParaRPr/>
          </a:p>
        </p:txBody>
      </p:sp>
      <p:sp>
        <p:nvSpPr>
          <p:cNvPr id="292" name="Google Shape;292;p43"/>
          <p:cNvSpPr/>
          <p:nvPr/>
        </p:nvSpPr>
        <p:spPr>
          <a:xfrm>
            <a:off x="706831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3" name="Google Shape;293;p43"/>
          <p:cNvSpPr txBox="1"/>
          <p:nvPr/>
        </p:nvSpPr>
        <p:spPr>
          <a:xfrm>
            <a:off x="719632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94" name="Google Shape;294;p43"/>
          <p:cNvSpPr txBox="1"/>
          <p:nvPr/>
        </p:nvSpPr>
        <p:spPr>
          <a:xfrm>
            <a:off x="747064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To the left of 0</a:t>
            </a:r>
            <a:endParaRPr/>
          </a:p>
        </p:txBody>
      </p:sp>
      <p:sp>
        <p:nvSpPr>
          <p:cNvPr id="295" name="Google Shape;295;p43"/>
          <p:cNvSpPr/>
          <p:nvPr/>
        </p:nvSpPr>
        <p:spPr>
          <a:xfrm>
            <a:off x="706831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6" name="Google Shape;296;p43"/>
          <p:cNvSpPr txBox="1"/>
          <p:nvPr/>
        </p:nvSpPr>
        <p:spPr>
          <a:xfrm>
            <a:off x="719632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97" name="Google Shape;297;p43"/>
          <p:cNvSpPr txBox="1"/>
          <p:nvPr/>
        </p:nvSpPr>
        <p:spPr>
          <a:xfrm>
            <a:off x="747064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Above 0</a:t>
            </a:r>
            <a:endParaRPr/>
          </a:p>
        </p:txBody>
      </p:sp>
      <p:sp>
        <p:nvSpPr>
          <p:cNvPr id="298" name="Google Shape;298;p43"/>
          <p:cNvSpPr/>
          <p:nvPr/>
        </p:nvSpPr>
        <p:spPr>
          <a:xfrm>
            <a:off x="706831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9" name="Google Shape;299;p43"/>
          <p:cNvSpPr txBox="1"/>
          <p:nvPr/>
        </p:nvSpPr>
        <p:spPr>
          <a:xfrm>
            <a:off x="719632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00" name="Google Shape;300;p43"/>
          <p:cNvSpPr txBox="1"/>
          <p:nvPr/>
        </p:nvSpPr>
        <p:spPr>
          <a:xfrm>
            <a:off x="747064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Only at 0</a:t>
            </a:r>
            <a:endParaRPr/>
          </a:p>
        </p:txBody>
      </p:sp>
      <p:sp>
        <p:nvSpPr>
          <p:cNvPr id="301" name="Google Shape;301;p43"/>
          <p:cNvSpPr/>
          <p:nvPr/>
        </p:nvSpPr>
        <p:spPr>
          <a:xfrm>
            <a:off x="640080"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2" name="Google Shape;302;p43"/>
          <p:cNvSpPr/>
          <p:nvPr/>
        </p:nvSpPr>
        <p:spPr>
          <a:xfrm>
            <a:off x="640080"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3" name="Google Shape;303;p43"/>
          <p:cNvSpPr/>
          <p:nvPr/>
        </p:nvSpPr>
        <p:spPr>
          <a:xfrm>
            <a:off x="914400"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304" name="Google Shape;304;p43"/>
          <p:cNvSpPr txBox="1"/>
          <p:nvPr/>
        </p:nvSpPr>
        <p:spPr>
          <a:xfrm>
            <a:off x="144475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A bank withdrawal of $50 is represented by:</a:t>
            </a:r>
            <a:endParaRPr/>
          </a:p>
        </p:txBody>
      </p:sp>
      <p:sp>
        <p:nvSpPr>
          <p:cNvPr id="305" name="Google Shape;305;p43"/>
          <p:cNvSpPr/>
          <p:nvPr/>
        </p:nvSpPr>
        <p:spPr>
          <a:xfrm>
            <a:off x="144475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6" name="Google Shape;306;p43"/>
          <p:cNvSpPr txBox="1"/>
          <p:nvPr/>
        </p:nvSpPr>
        <p:spPr>
          <a:xfrm>
            <a:off x="157276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07" name="Google Shape;307;p43"/>
          <p:cNvSpPr txBox="1"/>
          <p:nvPr/>
        </p:nvSpPr>
        <p:spPr>
          <a:xfrm>
            <a:off x="184708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+$50</a:t>
            </a:r>
            <a:endParaRPr/>
          </a:p>
        </p:txBody>
      </p:sp>
      <p:sp>
        <p:nvSpPr>
          <p:cNvPr id="308" name="Google Shape;308;p43"/>
          <p:cNvSpPr/>
          <p:nvPr/>
        </p:nvSpPr>
        <p:spPr>
          <a:xfrm>
            <a:off x="144475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9" name="Google Shape;309;p43"/>
          <p:cNvSpPr txBox="1"/>
          <p:nvPr/>
        </p:nvSpPr>
        <p:spPr>
          <a:xfrm>
            <a:off x="157276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10" name="Google Shape;310;p43"/>
          <p:cNvSpPr txBox="1"/>
          <p:nvPr/>
        </p:nvSpPr>
        <p:spPr>
          <a:xfrm>
            <a:off x="184708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−$50</a:t>
            </a:r>
            <a:endParaRPr/>
          </a:p>
        </p:txBody>
      </p:sp>
      <p:sp>
        <p:nvSpPr>
          <p:cNvPr id="311" name="Google Shape;311;p43"/>
          <p:cNvSpPr/>
          <p:nvPr/>
        </p:nvSpPr>
        <p:spPr>
          <a:xfrm>
            <a:off x="144475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2" name="Google Shape;312;p43"/>
          <p:cNvSpPr txBox="1"/>
          <p:nvPr/>
        </p:nvSpPr>
        <p:spPr>
          <a:xfrm>
            <a:off x="157276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13" name="Google Shape;313;p43"/>
          <p:cNvSpPr txBox="1"/>
          <p:nvPr/>
        </p:nvSpPr>
        <p:spPr>
          <a:xfrm>
            <a:off x="184708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$0</a:t>
            </a:r>
            <a:endParaRPr/>
          </a:p>
        </p:txBody>
      </p:sp>
      <p:sp>
        <p:nvSpPr>
          <p:cNvPr id="314" name="Google Shape;314;p43"/>
          <p:cNvSpPr/>
          <p:nvPr/>
        </p:nvSpPr>
        <p:spPr>
          <a:xfrm>
            <a:off x="144475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5" name="Google Shape;315;p43"/>
          <p:cNvSpPr txBox="1"/>
          <p:nvPr/>
        </p:nvSpPr>
        <p:spPr>
          <a:xfrm>
            <a:off x="157276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16" name="Google Shape;316;p43"/>
          <p:cNvSpPr txBox="1"/>
          <p:nvPr/>
        </p:nvSpPr>
        <p:spPr>
          <a:xfrm>
            <a:off x="184708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$500</a:t>
            </a:r>
            <a:endParaRPr/>
          </a:p>
        </p:txBody>
      </p:sp>
      <p:sp>
        <p:nvSpPr>
          <p:cNvPr id="317" name="Google Shape;317;p43"/>
          <p:cNvSpPr/>
          <p:nvPr/>
        </p:nvSpPr>
        <p:spPr>
          <a:xfrm>
            <a:off x="6260576"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8" name="Google Shape;318;p43"/>
          <p:cNvSpPr/>
          <p:nvPr/>
        </p:nvSpPr>
        <p:spPr>
          <a:xfrm>
            <a:off x="6260576"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9" name="Google Shape;319;p43"/>
          <p:cNvSpPr/>
          <p:nvPr/>
        </p:nvSpPr>
        <p:spPr>
          <a:xfrm>
            <a:off x="6534896"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4</a:t>
            </a:r>
            <a:endParaRPr/>
          </a:p>
        </p:txBody>
      </p:sp>
      <p:sp>
        <p:nvSpPr>
          <p:cNvPr id="320" name="Google Shape;320;p43"/>
          <p:cNvSpPr txBox="1"/>
          <p:nvPr/>
        </p:nvSpPr>
        <p:spPr>
          <a:xfrm>
            <a:off x="706831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The sum of a number and its opposite is always:</a:t>
            </a:r>
            <a:endParaRPr/>
          </a:p>
        </p:txBody>
      </p:sp>
      <p:sp>
        <p:nvSpPr>
          <p:cNvPr id="321" name="Google Shape;321;p43"/>
          <p:cNvSpPr/>
          <p:nvPr/>
        </p:nvSpPr>
        <p:spPr>
          <a:xfrm>
            <a:off x="706831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2" name="Google Shape;322;p43"/>
          <p:cNvSpPr txBox="1"/>
          <p:nvPr/>
        </p:nvSpPr>
        <p:spPr>
          <a:xfrm>
            <a:off x="719632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23" name="Google Shape;323;p43"/>
          <p:cNvSpPr txBox="1"/>
          <p:nvPr/>
        </p:nvSpPr>
        <p:spPr>
          <a:xfrm>
            <a:off x="747064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1</a:t>
            </a:r>
            <a:endParaRPr/>
          </a:p>
        </p:txBody>
      </p:sp>
      <p:sp>
        <p:nvSpPr>
          <p:cNvPr id="324" name="Google Shape;324;p43"/>
          <p:cNvSpPr/>
          <p:nvPr/>
        </p:nvSpPr>
        <p:spPr>
          <a:xfrm>
            <a:off x="706831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5" name="Google Shape;325;p43"/>
          <p:cNvSpPr txBox="1"/>
          <p:nvPr/>
        </p:nvSpPr>
        <p:spPr>
          <a:xfrm>
            <a:off x="719632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26" name="Google Shape;326;p43"/>
          <p:cNvSpPr txBox="1"/>
          <p:nvPr/>
        </p:nvSpPr>
        <p:spPr>
          <a:xfrm>
            <a:off x="747064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0</a:t>
            </a:r>
            <a:endParaRPr/>
          </a:p>
        </p:txBody>
      </p:sp>
      <p:sp>
        <p:nvSpPr>
          <p:cNvPr id="327" name="Google Shape;327;p43"/>
          <p:cNvSpPr/>
          <p:nvPr/>
        </p:nvSpPr>
        <p:spPr>
          <a:xfrm>
            <a:off x="706831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8" name="Google Shape;328;p43"/>
          <p:cNvSpPr txBox="1"/>
          <p:nvPr/>
        </p:nvSpPr>
        <p:spPr>
          <a:xfrm>
            <a:off x="719632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29" name="Google Shape;329;p43"/>
          <p:cNvSpPr txBox="1"/>
          <p:nvPr/>
        </p:nvSpPr>
        <p:spPr>
          <a:xfrm>
            <a:off x="747064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Negative</a:t>
            </a:r>
            <a:endParaRPr/>
          </a:p>
        </p:txBody>
      </p:sp>
      <p:sp>
        <p:nvSpPr>
          <p:cNvPr id="330" name="Google Shape;330;p43"/>
          <p:cNvSpPr/>
          <p:nvPr/>
        </p:nvSpPr>
        <p:spPr>
          <a:xfrm>
            <a:off x="706831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1" name="Google Shape;331;p43"/>
          <p:cNvSpPr txBox="1"/>
          <p:nvPr/>
        </p:nvSpPr>
        <p:spPr>
          <a:xfrm>
            <a:off x="719632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32" name="Google Shape;332;p43"/>
          <p:cNvSpPr txBox="1"/>
          <p:nvPr/>
        </p:nvSpPr>
        <p:spPr>
          <a:xfrm>
            <a:off x="747064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Double</a:t>
            </a:r>
            <a:endParaRPr/>
          </a:p>
        </p:txBody>
      </p:sp>
      <p:sp>
        <p:nvSpPr>
          <p:cNvPr id="3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31 / 51</a:t>
            </a: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5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1" name="Google Shape;521;p53"/>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2" name="Google Shape;522;p5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Math Notes</a:t>
            </a:r>
            <a:endParaRPr/>
          </a:p>
        </p:txBody>
      </p:sp>
      <p:sp>
        <p:nvSpPr>
          <p:cNvPr id="523" name="Google Shape;523;p5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400" u="none" cap="none" strike="noStrike">
                <a:solidFill>
                  <a:srgbClr val="FFFFFF"/>
                </a:solidFill>
                <a:latin typeface="Arial"/>
                <a:ea typeface="Arial"/>
                <a:cs typeface="Arial"/>
                <a:sym typeface="Arial"/>
              </a:rPr>
              <a:t>Lesson 7-1 · Explore Integers and Their Opposites</a:t>
            </a:r>
            <a:endParaRPr/>
          </a:p>
        </p:txBody>
      </p:sp>
      <p:sp>
        <p:nvSpPr>
          <p:cNvPr id="524" name="Google Shape;524;p5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5" name="Google Shape;525;p5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26" name="Google Shape;526;p53"/>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2400" u="none" cap="none" strike="noStrike">
                <a:solidFill>
                  <a:srgbClr val="7030A0"/>
                </a:solidFill>
                <a:latin typeface="Arial"/>
                <a:ea typeface="Arial"/>
                <a:cs typeface="Arial"/>
                <a:sym typeface="Arial"/>
              </a:rPr>
              <a:t>Review Notes — Session 2</a:t>
            </a:r>
            <a:endParaRPr/>
          </a:p>
        </p:txBody>
      </p:sp>
      <p:sp>
        <p:nvSpPr>
          <p:cNvPr id="527" name="Google Shape;527;p53"/>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8" name="Google Shape;528;p53"/>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29" name="Google Shape;529;p53"/>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0" name="Google Shape;530;p53"/>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1" name="Google Shape;531;p53"/>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532" name="Google Shape;532;p53"/>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Integers Definition</a:t>
            </a:r>
            <a:endParaRPr/>
          </a:p>
        </p:txBody>
      </p:sp>
      <p:sp>
        <p:nvSpPr>
          <p:cNvPr id="533" name="Google Shape;533;p53"/>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The set of whole numbers, their </a:t>
            </a:r>
            <a:r>
              <a:rPr b="1" i="0" lang="en-US" sz="1450" u="none" cap="none" strike="noStrike">
                <a:solidFill>
                  <a:srgbClr val="475569"/>
                </a:solidFill>
                <a:latin typeface="Arial"/>
                <a:ea typeface="Arial"/>
                <a:cs typeface="Arial"/>
                <a:sym typeface="Arial"/>
              </a:rPr>
              <a:t xml:space="preserve">opposites</a:t>
            </a:r>
            <a:r>
              <a:rPr b="0" i="0" lang="en-US" sz="1450" u="none" cap="none" strike="noStrike">
                <a:solidFill>
                  <a:srgbClr val="475569"/>
                </a:solidFill>
                <a:latin typeface="Arial"/>
                <a:ea typeface="Arial"/>
                <a:cs typeface="Arial"/>
                <a:sym typeface="Arial"/>
              </a:rPr>
              <a:t xml:space="preserve">, and </a:t>
            </a:r>
            <a:r>
              <a:rPr b="1" i="0" lang="en-US" sz="1450" u="none" cap="none" strike="noStrike">
                <a:solidFill>
                  <a:srgbClr val="475569"/>
                </a:solidFill>
                <a:latin typeface="Arial"/>
                <a:ea typeface="Arial"/>
                <a:cs typeface="Arial"/>
                <a:sym typeface="Arial"/>
              </a:rPr>
              <a:t xml:space="preserve">zero</a:t>
            </a:r>
            <a:r>
              <a:rPr b="0" i="0" lang="en-US" sz="1450" u="none" cap="none" strike="noStrike">
                <a:solidFill>
                  <a:srgbClr val="475569"/>
                </a:solidFill>
                <a:latin typeface="Arial"/>
                <a:ea typeface="Arial"/>
                <a:cs typeface="Arial"/>
                <a:sym typeface="Arial"/>
              </a:rPr>
              <a:t xml:space="preserve">: {…, −3, −2, −1, 0, 1, 2, 3, …}.</a:t>
            </a:r>
            <a:endParaRPr/>
          </a:p>
        </p:txBody>
      </p:sp>
      <p:sp>
        <p:nvSpPr>
          <p:cNvPr id="534" name="Google Shape;534;p53"/>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5" name="Google Shape;535;p53"/>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6" name="Google Shape;536;p53"/>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537" name="Google Shape;537;p53"/>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Opposites on Number Line</a:t>
            </a:r>
            <a:endParaRPr/>
          </a:p>
        </p:txBody>
      </p:sp>
      <p:sp>
        <p:nvSpPr>
          <p:cNvPr id="538" name="Google Shape;538;p53"/>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Two numbers that sit equal distances from zero in </a:t>
            </a:r>
            <a:r>
              <a:rPr b="1" i="0" lang="en-US" sz="1450" u="none" cap="none" strike="noStrike">
                <a:solidFill>
                  <a:srgbClr val="475569"/>
                </a:solidFill>
                <a:latin typeface="Arial"/>
                <a:ea typeface="Arial"/>
                <a:cs typeface="Arial"/>
                <a:sym typeface="Arial"/>
              </a:rPr>
              <a:t xml:space="preserve">opposite</a:t>
            </a:r>
            <a:r>
              <a:rPr b="0" i="0" lang="en-US" sz="1450" u="none" cap="none" strike="noStrike">
                <a:solidFill>
                  <a:srgbClr val="475569"/>
                </a:solidFill>
                <a:latin typeface="Arial"/>
                <a:ea typeface="Arial"/>
                <a:cs typeface="Arial"/>
                <a:sym typeface="Arial"/>
              </a:rPr>
              <a:t xml:space="preserve"> directions.</a:t>
            </a:r>
            <a:endParaRPr/>
          </a:p>
        </p:txBody>
      </p:sp>
      <p:sp>
        <p:nvSpPr>
          <p:cNvPr id="539" name="Google Shape;539;p53"/>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0" name="Google Shape;540;p53"/>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1" name="Google Shape;541;p53"/>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542" name="Google Shape;542;p53"/>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Real-World Contexts</a:t>
            </a:r>
            <a:endParaRPr/>
          </a:p>
        </p:txBody>
      </p:sp>
      <p:sp>
        <p:nvSpPr>
          <p:cNvPr id="543" name="Google Shape;543;p53"/>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1" i="0" lang="en-US" sz="1450" u="none" cap="none" strike="noStrike">
                <a:solidFill>
                  <a:srgbClr val="475569"/>
                </a:solidFill>
                <a:latin typeface="Arial"/>
                <a:ea typeface="Arial"/>
                <a:cs typeface="Arial"/>
                <a:sym typeface="Arial"/>
              </a:rPr>
              <a:t xml:space="preserve">Positive</a:t>
            </a:r>
            <a:r>
              <a:rPr b="0" i="0" lang="en-US" sz="1450" u="none" cap="none" strike="noStrike">
                <a:solidFill>
                  <a:srgbClr val="475569"/>
                </a:solidFill>
                <a:latin typeface="Arial"/>
                <a:ea typeface="Arial"/>
                <a:cs typeface="Arial"/>
                <a:sym typeface="Arial"/>
              </a:rPr>
              <a:t xml:space="preserve">: elevation, gains, deposits. </a:t>
            </a:r>
            <a:r>
              <a:rPr b="1" i="0" lang="en-US" sz="1450" u="none" cap="none" strike="noStrike">
                <a:solidFill>
                  <a:srgbClr val="475569"/>
                </a:solidFill>
                <a:latin typeface="Arial"/>
                <a:ea typeface="Arial"/>
                <a:cs typeface="Arial"/>
                <a:sym typeface="Arial"/>
              </a:rPr>
              <a:t xml:space="preserve">Negative</a:t>
            </a:r>
            <a:r>
              <a:rPr b="0" i="0" lang="en-US" sz="1450" u="none" cap="none" strike="noStrike">
                <a:solidFill>
                  <a:srgbClr val="475569"/>
                </a:solidFill>
                <a:latin typeface="Arial"/>
                <a:ea typeface="Arial"/>
                <a:cs typeface="Arial"/>
                <a:sym typeface="Arial"/>
              </a:rPr>
              <a:t xml:space="preserve">: below sea level, losses, withdrawals.</a:t>
            </a:r>
            <a:endParaRPr/>
          </a:p>
        </p:txBody>
      </p:sp>
      <p:sp>
        <p:nvSpPr>
          <p:cNvPr id="54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33 / 51</a:t>
            </a:r>
          </a:p>
        </p:txBody>
      </p:sp>
      <p:grpSp>
        <p:nvGrpSpPr>
          <p:cNvPr id="545" name="TEACH-1-student-move" descr="TEACH 1 · Facilitate clear, standards-based content learning"/>
          <p:cNvGrpSpPr/>
          <p:nvPr/>
        </p:nvGrpSpPr>
        <p:grpSpPr>
          <a:xfrm>
            <a:off x="6187440" y="1682496"/>
            <a:ext cx="5501640" cy="594360"/>
            <a:chOff x="6187440" y="1682496"/>
            <a:chExt cx="5501640" cy="594360"/>
          </a:xfrm>
        </p:grpSpPr>
        <p:sp>
          <p:nvSpPr>
            <p:cNvPr id="546"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47"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48"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NAME THE MATH  ·  </a:t>
              </a:r>
              <a:r>
                <a:rPr lang="en-US" sz="1200" dirty="0">
                  <a:solidFill>
                    <a:srgbClr val="13303A"/>
                  </a:solidFill>
                  <a:latin typeface="Arial"/>
                </a:rPr>
                <a:t>Point to the part of this that is new today, and say what it changes.</a:t>
              </a:r>
              <a:endParaRPr lang="en-US" sz="1200"/>
            </a:p>
          </p:txBody>
        </p:sp>
      </p:gr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4" name="Shape 754"/>
        <p:cNvGrpSpPr/>
        <p:nvPr/>
      </p:nvGrpSpPr>
      <p:grpSpPr>
        <a:xfrm>
          <a:off x="0" y="0"/>
          <a:ext cx="0" cy="0"/>
          <a:chOff x="0" y="0"/>
          <a:chExt cx="0" cy="0"/>
        </a:xfrm>
      </p:grpSpPr>
      <p:sp>
        <p:nvSpPr>
          <p:cNvPr id="755" name="Google Shape;755;p74"/>
          <p:cNvSpPr txBox="1"/>
          <p:nvPr/>
        </p:nvSpPr>
        <p:spPr>
          <a:xfrm>
            <a:off x="1402828" y="2453950"/>
            <a:ext cx="9144000" cy="21764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Explore Integers and Their Opposites</a:t>
            </a:r>
            <a:endParaRPr b="1" i="0" sz="3600" u="none" cap="none" strike="noStrike">
              <a:solidFill>
                <a:schemeClr val="dk1"/>
              </a:solidFill>
              <a:latin typeface="Arial"/>
              <a:ea typeface="Arial"/>
              <a:cs typeface="Arial"/>
              <a:sym typeface="Arial"/>
            </a:endParaRPr>
          </a:p>
        </p:txBody>
      </p:sp>
      <p:sp>
        <p:nvSpPr>
          <p:cNvPr id="756" name="Google Shape;756;p74"/>
          <p:cNvSpPr/>
          <p:nvPr/>
        </p:nvSpPr>
        <p:spPr>
          <a:xfrm>
            <a:off x="1402828" y="1037162"/>
            <a:ext cx="176362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01708C"/>
                </a:solidFill>
                <a:latin typeface="Arial"/>
                <a:ea typeface="Arial"/>
                <a:cs typeface="Arial"/>
                <a:sym typeface="Arial"/>
              </a:rPr>
              <a:t>Session 2</a:t>
            </a:r>
            <a:endParaRPr b="1" i="0" sz="2800" u="none" cap="none" strike="noStrike">
              <a:solidFill>
                <a:srgbClr val="01708C"/>
              </a:solidFill>
              <a:latin typeface="Arial"/>
              <a:ea typeface="Arial"/>
              <a:cs typeface="Arial"/>
              <a:sym typeface="Arial"/>
            </a:endParaRPr>
          </a:p>
        </p:txBody>
      </p:sp>
      <p:cxnSp>
        <p:nvCxnSpPr>
          <p:cNvPr id="757" name="Google Shape;757;p74"/>
          <p:cNvCxnSpPr/>
          <p:nvPr/>
        </p:nvCxnSpPr>
        <p:spPr>
          <a:xfrm>
            <a:off x="-1" y="1560382"/>
            <a:ext cx="3166453" cy="0"/>
          </a:xfrm>
          <a:prstGeom prst="straightConnector1">
            <a:avLst/>
          </a:prstGeom>
          <a:noFill/>
          <a:ln cap="flat" cmpd="sng" w="19050">
            <a:solidFill>
              <a:srgbClr val="01708C"/>
            </a:solidFill>
            <a:prstDash val="solid"/>
            <a:miter lim="80"/>
            <a:headEnd len="sm" w="sm" type="none"/>
            <a:tailEnd len="sm" w="sm" type="none"/>
          </a:ln>
        </p:spPr>
      </p:cxnSp>
      <p:sp>
        <p:nvSpPr>
          <p:cNvPr id="75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34 / 51</a:t>
            </a:r>
          </a:p>
        </p:txBody>
      </p:sp>
      <p:grpSp>
        <p:nvGrpSpPr>
          <p:cNvPr id="759" name="TEACH-2-student-move" descr="TEACH 2 · Use strategies and tasks to engage students in rigorous work"/>
          <p:cNvGrpSpPr/>
          <p:nvPr/>
        </p:nvGrpSpPr>
        <p:grpSpPr>
          <a:xfrm>
            <a:off x="502920" y="3201929"/>
            <a:ext cx="11186160" cy="731520"/>
            <a:chOff x="502920" y="3201929"/>
            <a:chExt cx="11186160" cy="731520"/>
          </a:xfrm>
        </p:grpSpPr>
        <p:sp>
          <p:nvSpPr>
            <p:cNvPr id="760" name="TEACH-move-card"/>
            <p:cNvSpPr/>
            <p:nvPr/>
          </p:nvSpPr>
          <p:spPr>
            <a:xfrm>
              <a:off x="502920" y="3201929"/>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761" name="TEACH-move-rule"/>
            <p:cNvSpPr/>
            <p:nvPr/>
          </p:nvSpPr>
          <p:spPr>
            <a:xfrm>
              <a:off x="548640" y="3340918"/>
              <a:ext cx="100584" cy="453542"/>
            </a:xfrm>
            <a:prstGeom prst="roundRect">
              <a:avLst>
                <a:gd name="adj" fmla="val 50000"/>
              </a:avLst>
            </a:prstGeom>
            <a:solidFill>
              <a:srgbClr val="01708C"/>
            </a:solidFill>
            <a:ln>
              <a:noFill/>
            </a:ln>
          </p:spPr>
          <p:txBody>
            <a:bodyPr/>
            <a:lstStyle/>
            <a:p>
              <a:endParaRPr/>
            </a:p>
          </p:txBody>
        </p:sp>
        <p:sp>
          <p:nvSpPr>
            <p:cNvPr id="762" name="TEACH-move-text"/>
            <p:cNvSpPr txBox="1"/>
            <p:nvPr/>
          </p:nvSpPr>
          <p:spPr>
            <a:xfrm>
              <a:off x="822960" y="3201929"/>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USE YOUR TOOLS  ·  </a:t>
              </a:r>
              <a:r>
                <a:rPr lang="en-US" sz="1800" dirty="0">
                  <a:solidFill>
                    <a:srgbClr val="13303A"/>
                  </a:solidFill>
                  <a:latin typeface="Arial"/>
                </a:rPr>
                <a:t>Reach for your notes, a model, or a manipulative before you reach for an answer.</a:t>
              </a:r>
              <a:endParaRPr lang="en-US" sz="1800"/>
            </a:p>
          </p:txBody>
        </p:sp>
      </p:gr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4" name="Shape 824"/>
        <p:cNvGrpSpPr/>
        <p:nvPr/>
      </p:nvGrpSpPr>
      <p:grpSpPr>
        <a:xfrm>
          <a:off x="0" y="0"/>
          <a:ext cx="0" cy="0"/>
          <a:chOff x="0" y="0"/>
          <a:chExt cx="0" cy="0"/>
        </a:xfrm>
      </p:grpSpPr>
      <p:cxnSp>
        <p:nvCxnSpPr>
          <p:cNvPr id="825" name="Google Shape;825;p8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26" name="Google Shape;826;p81"/>
          <p:cNvSpPr txBox="1"/>
          <p:nvPr/>
        </p:nvSpPr>
        <p:spPr>
          <a:xfrm>
            <a:off x="486001" y="936000"/>
            <a:ext cx="7212658" cy="262127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Brian lives in Toronto, Canada and his cousin lives in Reykjavik, Iceland. One day in January, the temperature in Toronto was 9°C and the temperature in Reykjavik was −9°C. How do the two temperatures relate?</a:t>
            </a:r>
            <a:endParaRPr b="1" i="0" sz="2800" u="none" cap="none" strike="noStrike">
              <a:solidFill>
                <a:schemeClr val="dk1"/>
              </a:solidFill>
              <a:latin typeface="Arial"/>
              <a:ea typeface="Arial"/>
              <a:cs typeface="Arial"/>
              <a:sym typeface="Arial"/>
            </a:endParaRPr>
          </a:p>
        </p:txBody>
      </p:sp>
      <p:sp>
        <p:nvSpPr>
          <p:cNvPr id="827" name="Google Shape;827;p81"/>
          <p:cNvSpPr/>
          <p:nvPr/>
        </p:nvSpPr>
        <p:spPr>
          <a:xfrm>
            <a:off x="486000" y="3410852"/>
            <a:ext cx="7212659"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What tool can you use to represent the temperatures?</a:t>
            </a:r>
            <a:endParaRPr b="0" i="0" sz="2800" u="none" cap="none" strike="noStrike">
              <a:solidFill>
                <a:schemeClr val="dk1"/>
              </a:solidFill>
              <a:latin typeface="Arial"/>
              <a:ea typeface="Arial"/>
              <a:cs typeface="Arial"/>
              <a:sym typeface="Arial"/>
            </a:endParaRPr>
          </a:p>
        </p:txBody>
      </p:sp>
      <p:pic>
        <p:nvPicPr>
          <p:cNvPr id="828" name="Google Shape;828;p81"/>
          <p:cNvPicPr preferRelativeResize="0"/>
          <p:nvPr/>
        </p:nvPicPr>
        <p:blipFill rotWithShape="1">
          <a:blip r:embed="rId3">
            <a:alphaModFix/>
          </a:blip>
          <a:srcRect b="0" l="0" r="0" t="0"/>
          <a:stretch/>
        </p:blipFill>
        <p:spPr>
          <a:xfrm>
            <a:off x="486000" y="4534289"/>
            <a:ext cx="5054600" cy="838200"/>
          </a:xfrm>
          <a:prstGeom prst="rect">
            <a:avLst/>
          </a:prstGeom>
          <a:noFill/>
          <a:ln>
            <a:noFill/>
          </a:ln>
        </p:spPr>
      </p:pic>
      <p:sp>
        <p:nvSpPr>
          <p:cNvPr id="829" name="Google Shape;829;p81"/>
          <p:cNvSpPr/>
          <p:nvPr/>
        </p:nvSpPr>
        <p:spPr>
          <a:xfrm>
            <a:off x="3122677" y="4691779"/>
            <a:ext cx="1564852"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Applying</a:t>
            </a:r>
            <a:endParaRPr b="0" i="0" sz="1400" u="none" cap="none" strike="noStrike">
              <a:solidFill>
                <a:srgbClr val="000000"/>
              </a:solidFill>
              <a:latin typeface="Arial"/>
              <a:ea typeface="Arial"/>
              <a:cs typeface="Arial"/>
              <a:sym typeface="Arial"/>
            </a:endParaRPr>
          </a:p>
        </p:txBody>
      </p:sp>
      <p:sp>
        <p:nvSpPr>
          <p:cNvPr id="830" name="Google Shape;830;p81"/>
          <p:cNvSpPr/>
          <p:nvPr/>
        </p:nvSpPr>
        <p:spPr>
          <a:xfrm>
            <a:off x="646270" y="5318399"/>
            <a:ext cx="7532585" cy="89255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defRPr/>
            </a:pPr>
            <a:r>
              <a:rPr b="0" i="0" lang="en-US" sz="2600" u="none" cap="none" strike="noStrike">
                <a:solidFill>
                  <a:srgbClr val="595959"/>
                </a:solidFill>
                <a:latin typeface="Arial"/>
                <a:ea typeface="Arial"/>
                <a:cs typeface="Arial"/>
                <a:sym typeface="Arial"/>
              </a:rPr>
              <a:t>How can you apply mathematics to model the context?</a:t>
            </a:r>
            <a:endParaRPr b="0" i="0" sz="2600" u="none" cap="none" strike="noStrike">
              <a:solidFill>
                <a:srgbClr val="595959"/>
              </a:solidFill>
              <a:latin typeface="Arial"/>
              <a:ea typeface="Arial"/>
              <a:cs typeface="Arial"/>
              <a:sym typeface="Arial"/>
            </a:endParaRPr>
          </a:p>
        </p:txBody>
      </p:sp>
      <p:sp>
        <p:nvSpPr>
          <p:cNvPr id="831" name="Google Shape;831;p81"/>
          <p:cNvSpPr txBox="1"/>
          <p:nvPr/>
        </p:nvSpPr>
        <p:spPr>
          <a:xfrm>
            <a:off x="484565" y="316034"/>
            <a:ext cx="5029132" cy="61996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Comparing Temperatures</a:t>
            </a:r>
            <a:endParaRPr b="0" i="0" sz="1400" u="none" cap="none" strike="noStrike">
              <a:solidFill>
                <a:srgbClr val="000000"/>
              </a:solidFill>
              <a:latin typeface="Arial"/>
              <a:ea typeface="Arial"/>
              <a:cs typeface="Arial"/>
              <a:sym typeface="Arial"/>
            </a:endParaRPr>
          </a:p>
        </p:txBody>
      </p:sp>
      <p:pic>
        <p:nvPicPr>
          <p:cNvPr descr="C:\Users\HP\Desktop\Grade_6_Unit_7-20230217T053830Z-001\Grade_6_Unit_7\OPS\img\.assets\6b83cf45f1784797b7a716fc1de45edb\narm24_c10701_se_013a-dig.png" id="832" name="Google Shape;832;p81"/>
          <p:cNvPicPr preferRelativeResize="0"/>
          <p:nvPr/>
        </p:nvPicPr>
        <p:blipFill rotWithShape="1">
          <a:blip r:embed="rId4">
            <a:alphaModFix/>
          </a:blip>
          <a:srcRect b="0" l="0" r="0" t="0"/>
          <a:stretch/>
        </p:blipFill>
        <p:spPr>
          <a:xfrm>
            <a:off x="8659051" y="1524000"/>
            <a:ext cx="2905125" cy="3810000"/>
          </a:xfrm>
          <a:prstGeom prst="rect">
            <a:avLst/>
          </a:prstGeom>
          <a:noFill/>
          <a:ln>
            <a:noFill/>
          </a:ln>
        </p:spPr>
      </p:pic>
      <p:sp>
        <p:nvSpPr>
          <p:cNvPr id="8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35 / 51</a:t>
            </a: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9" name="Shape 849"/>
        <p:cNvGrpSpPr/>
        <p:nvPr/>
      </p:nvGrpSpPr>
      <p:grpSpPr>
        <a:xfrm>
          <a:off x="0" y="0"/>
          <a:ext cx="0" cy="0"/>
          <a:chOff x="0" y="0"/>
          <a:chExt cx="0" cy="0"/>
        </a:xfrm>
      </p:grpSpPr>
      <p:cxnSp>
        <p:nvCxnSpPr>
          <p:cNvPr id="850" name="Google Shape;850;p8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51" name="Google Shape;851;p83"/>
          <p:cNvSpPr txBox="1"/>
          <p:nvPr/>
        </p:nvSpPr>
        <p:spPr>
          <a:xfrm>
            <a:off x="499565" y="2116862"/>
            <a:ext cx="9520123" cy="418868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 xml:space="preserve">We know that a negative sign (−) means the number is less than zero, so −9 will be to the left of zero on the number line. A positive integer is greater than zero, so 9 will be to the right of zero on the number line.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2800"/>
              <a:buFont typeface="Arial"/>
              <a:buNone/>
              <a:defRPr/>
            </a:pPr>
            <a:r>
              <a:rPr/>
              <a:t/>
            </a:r>
            <a:endParaRPr b="0" i="1" sz="2800" u="none" cap="none" strike="noStrike">
              <a:solidFill>
                <a:srgbClr val="595959"/>
              </a:solidFill>
              <a:latin typeface="Arial"/>
              <a:ea typeface="Arial"/>
              <a:cs typeface="Arial"/>
              <a:sym typeface="Arial"/>
            </a:endParaRPr>
          </a:p>
        </p:txBody>
      </p:sp>
      <p:pic>
        <p:nvPicPr>
          <p:cNvPr descr="C:\Users\HP\Desktop\Grade_6_Unit_7-20230217T053830Z-001\Grade_6_Unit_7\OPS\img\.assets\3d4933637c3a43f9aa7c5fb9fc9399ae\narm24_c10701_se_014a-dig-a.png" id="852" name="Google Shape;852;p83"/>
          <p:cNvPicPr preferRelativeResize="0"/>
          <p:nvPr/>
        </p:nvPicPr>
        <p:blipFill rotWithShape="1">
          <a:blip r:embed="rId3">
            <a:alphaModFix/>
          </a:blip>
          <a:srcRect b="0" l="0" r="0" t="0"/>
          <a:stretch/>
        </p:blipFill>
        <p:spPr>
          <a:xfrm>
            <a:off x="887651" y="4486337"/>
            <a:ext cx="8743950" cy="1733550"/>
          </a:xfrm>
          <a:prstGeom prst="rect">
            <a:avLst/>
          </a:prstGeom>
          <a:noFill/>
          <a:ln>
            <a:noFill/>
          </a:ln>
        </p:spPr>
      </p:pic>
      <p:sp>
        <p:nvSpPr>
          <p:cNvPr id="853" name="Google Shape;853;p83"/>
          <p:cNvSpPr/>
          <p:nvPr/>
        </p:nvSpPr>
        <p:spPr>
          <a:xfrm>
            <a:off x="484565" y="936000"/>
            <a:ext cx="8030786"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How can the signs of the numbers help you graph them?</a:t>
            </a:r>
            <a:endParaRPr b="0" i="0" sz="2800" u="none" cap="none" strike="noStrike">
              <a:solidFill>
                <a:schemeClr val="dk1"/>
              </a:solidFill>
              <a:latin typeface="Arial"/>
              <a:ea typeface="Arial"/>
              <a:cs typeface="Arial"/>
              <a:sym typeface="Arial"/>
            </a:endParaRPr>
          </a:p>
        </p:txBody>
      </p:sp>
      <p:sp>
        <p:nvSpPr>
          <p:cNvPr id="854" name="Google Shape;854;p83"/>
          <p:cNvSpPr txBox="1"/>
          <p:nvPr/>
        </p:nvSpPr>
        <p:spPr>
          <a:xfrm>
            <a:off x="853200" y="317787"/>
            <a:ext cx="5606594" cy="54997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Collaborate and Connect</a:t>
            </a:r>
            <a:endParaRPr b="1" i="0" sz="1500" u="none" cap="none" strike="noStrike">
              <a:solidFill>
                <a:srgbClr val="7030A0"/>
              </a:solidFill>
              <a:latin typeface="Arial"/>
              <a:ea typeface="Arial"/>
              <a:cs typeface="Arial"/>
              <a:sym typeface="Arial"/>
            </a:endParaRPr>
          </a:p>
        </p:txBody>
      </p:sp>
      <p:pic>
        <p:nvPicPr>
          <p:cNvPr id="855" name="Google Shape;855;p83"/>
          <p:cNvPicPr preferRelativeResize="0"/>
          <p:nvPr/>
        </p:nvPicPr>
        <p:blipFill rotWithShape="1">
          <a:blip r:embed="rId4">
            <a:alphaModFix/>
          </a:blip>
          <a:srcRect b="0" l="0" r="0" t="0"/>
          <a:stretch/>
        </p:blipFill>
        <p:spPr>
          <a:xfrm>
            <a:off x="499565" y="368708"/>
            <a:ext cx="353635" cy="340537"/>
          </a:xfrm>
          <a:prstGeom prst="rect">
            <a:avLst/>
          </a:prstGeom>
          <a:noFill/>
          <a:ln>
            <a:noFill/>
          </a:ln>
        </p:spPr>
      </p:pic>
      <p:sp>
        <p:nvSpPr>
          <p:cNvPr id="85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36 / 51</a:t>
            </a:r>
          </a:p>
        </p:txBody>
      </p:sp>
      <p:sp>
        <p:nvSpPr>
          <p:cNvPr id="857" name="EWL-COVER-1"/>
          <p:cNvSpPr/>
          <p:nvPr/>
        </p:nvSpPr>
        <p:spPr>
          <a:xfrm>
            <a:off x="444701" y="2061998"/>
            <a:ext cx="9629851" cy="4298416"/>
          </a:xfrm>
          <a:prstGeom prst="rect">
            <a:avLst/>
          </a:prstGeom>
          <a:solidFill>
            <a:srgbClr val="FFFFFF"/>
          </a:solidFill>
          <a:ln>
            <a:noFill/>
          </a:ln>
        </p:spPr>
        <p:txBody>
          <a:bodyPr/>
          <a:lstStyle/>
          <a:p/>
        </p:txBody>
      </p:sp>
      <p:sp>
        <p:nvSpPr>
          <p:cNvPr id="858"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COLLABORATE</a:t>
            </a:r>
            <a:r>
              <a:rPr lang="en-US" sz="1200" b="1">
                <a:solidFill>
                  <a:srgbClr val="5D6872"/>
                </a:solidFill>
                <a:latin typeface="Arial"/>
              </a:rPr>
              <a:t xml:space="preserve">  ·  TALK IT THROUGH • AGREE ON A MODEL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85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8" name="Shape 888"/>
        <p:cNvGrpSpPr/>
        <p:nvPr/>
      </p:nvGrpSpPr>
      <p:grpSpPr>
        <a:xfrm>
          <a:off x="0" y="0"/>
          <a:ext cx="0" cy="0"/>
          <a:chOff x="0" y="0"/>
          <a:chExt cx="0" cy="0"/>
        </a:xfrm>
      </p:grpSpPr>
      <p:cxnSp>
        <p:nvCxnSpPr>
          <p:cNvPr id="889" name="Google Shape;889;p8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90" name="Google Shape;890;p87"/>
          <p:cNvSpPr txBox="1"/>
          <p:nvPr/>
        </p:nvSpPr>
        <p:spPr>
          <a:xfrm>
            <a:off x="484565" y="5130012"/>
            <a:ext cx="6337880" cy="117047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They are both 9 units away from zero.</a:t>
            </a:r>
            <a:endParaRPr b="0" i="0" sz="1400" u="none" cap="none" strike="noStrike">
              <a:solidFill>
                <a:srgbClr val="000000"/>
              </a:solidFill>
              <a:latin typeface="Arial"/>
              <a:ea typeface="Arial"/>
              <a:cs typeface="Arial"/>
              <a:sym typeface="Arial"/>
            </a:endParaRPr>
          </a:p>
        </p:txBody>
      </p:sp>
      <p:sp>
        <p:nvSpPr>
          <p:cNvPr id="891" name="Google Shape;891;p87"/>
          <p:cNvSpPr txBox="1"/>
          <p:nvPr/>
        </p:nvSpPr>
        <p:spPr>
          <a:xfrm>
            <a:off x="486000" y="935999"/>
            <a:ext cx="8069240" cy="128602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The opposite signs of the integers tell us that 9 and −9 are located on opposite sides of zero on the number line.</a:t>
            </a:r>
            <a:endParaRPr b="1" i="0" sz="2800" u="none" cap="none" strike="noStrike">
              <a:solidFill>
                <a:schemeClr val="dk1"/>
              </a:solidFill>
              <a:latin typeface="Arial"/>
              <a:ea typeface="Arial"/>
              <a:cs typeface="Arial"/>
              <a:sym typeface="Arial"/>
            </a:endParaRPr>
          </a:p>
        </p:txBody>
      </p:sp>
      <p:pic>
        <p:nvPicPr>
          <p:cNvPr descr="C:\Users\HP\Desktop\Grade_6_Unit_7-20230217T053830Z-001\Grade_6_Unit_7\OPS\img\.assets\3d4933637c3a43f9aa7c5fb9fc9399ae\narm24_c10701_se_014a-dig-a.png" id="892" name="Google Shape;892;p87"/>
          <p:cNvPicPr preferRelativeResize="0"/>
          <p:nvPr/>
        </p:nvPicPr>
        <p:blipFill rotWithShape="1">
          <a:blip r:embed="rId3">
            <a:alphaModFix/>
          </a:blip>
          <a:srcRect b="0" l="0" r="0" t="0"/>
          <a:stretch/>
        </p:blipFill>
        <p:spPr>
          <a:xfrm>
            <a:off x="1018079" y="2424237"/>
            <a:ext cx="8743950" cy="1733550"/>
          </a:xfrm>
          <a:prstGeom prst="rect">
            <a:avLst/>
          </a:prstGeom>
          <a:noFill/>
          <a:ln>
            <a:noFill/>
          </a:ln>
        </p:spPr>
      </p:pic>
      <p:sp>
        <p:nvSpPr>
          <p:cNvPr id="893" name="Google Shape;893;p87"/>
          <p:cNvSpPr/>
          <p:nvPr/>
        </p:nvSpPr>
        <p:spPr>
          <a:xfrm>
            <a:off x="484565" y="4360003"/>
            <a:ext cx="7303602"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How many units away from zero is 9? −9?</a:t>
            </a:r>
            <a:endParaRPr b="0" i="0" sz="2800" u="none" cap="none" strike="noStrike">
              <a:solidFill>
                <a:schemeClr val="dk1"/>
              </a:solidFill>
              <a:latin typeface="Arial"/>
              <a:ea typeface="Arial"/>
              <a:cs typeface="Arial"/>
              <a:sym typeface="Arial"/>
            </a:endParaRPr>
          </a:p>
        </p:txBody>
      </p:sp>
      <p:sp>
        <p:nvSpPr>
          <p:cNvPr id="894" name="Google Shape;894;p87"/>
          <p:cNvSpPr txBox="1"/>
          <p:nvPr/>
        </p:nvSpPr>
        <p:spPr>
          <a:xfrm>
            <a:off x="484565" y="316033"/>
            <a:ext cx="5029132" cy="550741"/>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Comparing Temperatures</a:t>
            </a:r>
            <a:endParaRPr b="0" i="0" sz="1400" u="none" cap="none" strike="noStrike">
              <a:solidFill>
                <a:srgbClr val="000000"/>
              </a:solidFill>
              <a:latin typeface="Arial"/>
              <a:ea typeface="Arial"/>
              <a:cs typeface="Arial"/>
              <a:sym typeface="Arial"/>
            </a:endParaRPr>
          </a:p>
        </p:txBody>
      </p:sp>
      <p:sp>
        <p:nvSpPr>
          <p:cNvPr id="89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38 / 51</a:t>
            </a:r>
          </a:p>
        </p:txBody>
      </p:sp>
      <p:sp>
        <p:nvSpPr>
          <p:cNvPr id="896" name="EWL-COVER-1"/>
          <p:cNvSpPr/>
          <p:nvPr/>
        </p:nvSpPr>
        <p:spPr>
          <a:xfrm>
            <a:off x="429701" y="5075148"/>
            <a:ext cx="6447608" cy="1280202"/>
          </a:xfrm>
          <a:prstGeom prst="rect">
            <a:avLst/>
          </a:prstGeom>
          <a:solidFill>
            <a:srgbClr val="FFFFFF"/>
          </a:solidFill>
          <a:ln>
            <a:noFill/>
          </a:ln>
        </p:spPr>
        <p:txBody>
          <a:bodyPr/>
          <a:lstStyle/>
          <a:p/>
        </p:txBody>
      </p:sp>
      <p:sp xmlns:p="http://schemas.openxmlformats.org/presentationml/2006/main" xmlns:a="http://schemas.openxmlformats.org/drawingml/2006/main">
        <p:nvSpPr>
          <p:cNvPr id="897" name="TEACH-embedded-student-prompt" descr="Student thinking and response directions"/>
          <p:cNvSpPr txBox="1"/>
          <p:nvPr/>
        </p:nvSpPr>
        <p:spPr>
          <a:xfrm>
            <a:off x="7391400" y="510235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a:t>
            </a:r>
            <a:endParaRPr lang="en-US" sz="2000"/>
          </a:p>
          <a:p>
            <a:pPr>
              <a:lnSpc>
                <a:spcPts val="2400"/>
              </a:lnSpc>
              <a:buNone/>
            </a:pPr>
            <a:r>
              <a:rPr lang="en-US" sz="2000">
                <a:solidFill>
                  <a:srgbClr val="174D60"/>
                </a:solidFill>
                <a:latin typeface="Arial"/>
              </a:rPr>
              <a:t>reveal. Compare, then explain</a:t>
            </a:r>
            <a:endParaRPr lang="en-US" sz="2000"/>
          </a:p>
          <a:p>
            <a:pPr>
              <a:lnSpc>
                <a:spcPts val="2400"/>
              </a:lnSpc>
              <a:buNone/>
            </a:pPr>
            <a:r>
              <a:rPr lang="en-US" sz="2000">
                <a:solidFill>
                  <a:srgbClr val="174D60"/>
                </a:solidFill>
                <a:latin typeface="Arial"/>
              </a:rPr>
              <a:t>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89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8" name="Shape 908"/>
        <p:cNvGrpSpPr/>
        <p:nvPr/>
      </p:nvGrpSpPr>
      <p:grpSpPr>
        <a:xfrm>
          <a:off x="0" y="0"/>
          <a:ext cx="0" cy="0"/>
          <a:chOff x="0" y="0"/>
          <a:chExt cx="0" cy="0"/>
        </a:xfrm>
      </p:grpSpPr>
      <p:cxnSp>
        <p:nvCxnSpPr>
          <p:cNvPr id="909" name="Google Shape;909;p8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10" name="Google Shape;910;p89"/>
          <p:cNvSpPr txBox="1"/>
          <p:nvPr/>
        </p:nvSpPr>
        <p:spPr>
          <a:xfrm>
            <a:off x="486000" y="936000"/>
            <a:ext cx="8069240" cy="8576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The temperature in Toronto, 9°C, is 9 units away from zero.</a:t>
            </a:r>
            <a:endParaRPr b="1" i="0" sz="2800" u="none" cap="none" strike="noStrike">
              <a:solidFill>
                <a:schemeClr val="dk1"/>
              </a:solidFill>
              <a:latin typeface="Arial"/>
              <a:ea typeface="Arial"/>
              <a:cs typeface="Arial"/>
              <a:sym typeface="Arial"/>
            </a:endParaRPr>
          </a:p>
        </p:txBody>
      </p:sp>
      <p:sp>
        <p:nvSpPr>
          <p:cNvPr id="911" name="Google Shape;911;p89"/>
          <p:cNvSpPr txBox="1"/>
          <p:nvPr/>
        </p:nvSpPr>
        <p:spPr>
          <a:xfrm>
            <a:off x="486000" y="4924389"/>
            <a:ext cx="10621553" cy="144014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They are opposites because they are the same distance away from zero on the number line.</a:t>
            </a:r>
            <a:endParaRPr b="0" i="0" sz="1400" u="none" cap="none" strike="noStrike">
              <a:solidFill>
                <a:srgbClr val="000000"/>
              </a:solidFill>
              <a:latin typeface="Arial"/>
              <a:ea typeface="Arial"/>
              <a:cs typeface="Arial"/>
              <a:sym typeface="Arial"/>
            </a:endParaRPr>
          </a:p>
        </p:txBody>
      </p:sp>
      <p:sp>
        <p:nvSpPr>
          <p:cNvPr id="912" name="Google Shape;912;p89"/>
          <p:cNvSpPr/>
          <p:nvPr/>
        </p:nvSpPr>
        <p:spPr>
          <a:xfrm>
            <a:off x="484565" y="1904931"/>
            <a:ext cx="10152138"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The temperature in Reykjavik, −9°C, is 9 units away from zero.</a:t>
            </a:r>
            <a:endParaRPr b="0" i="0" sz="2800" u="none" cap="none" strike="noStrike">
              <a:solidFill>
                <a:schemeClr val="dk1"/>
              </a:solidFill>
              <a:latin typeface="Arial"/>
              <a:ea typeface="Arial"/>
              <a:cs typeface="Arial"/>
              <a:sym typeface="Arial"/>
            </a:endParaRPr>
          </a:p>
        </p:txBody>
      </p:sp>
      <p:pic>
        <p:nvPicPr>
          <p:cNvPr descr="C:\Users\HP\Desktop\Grade_6_Unit_7-20230217T053830Z-001\Grade_6_Unit_7\OPS\img\.assets\3d4933637c3a43f9aa7c5fb9fc9399ae\narm24_c10701_se_014a-dig-a.png" id="913" name="Google Shape;913;p89"/>
          <p:cNvPicPr preferRelativeResize="0"/>
          <p:nvPr/>
        </p:nvPicPr>
        <p:blipFill rotWithShape="1">
          <a:blip r:embed="rId3">
            <a:alphaModFix/>
          </a:blip>
          <a:srcRect b="0" l="0" r="0" t="0"/>
          <a:stretch/>
        </p:blipFill>
        <p:spPr>
          <a:xfrm>
            <a:off x="1188659" y="2446869"/>
            <a:ext cx="8743950" cy="1733550"/>
          </a:xfrm>
          <a:prstGeom prst="rect">
            <a:avLst/>
          </a:prstGeom>
          <a:noFill/>
          <a:ln>
            <a:noFill/>
          </a:ln>
        </p:spPr>
      </p:pic>
      <p:sp>
        <p:nvSpPr>
          <p:cNvPr id="914" name="Google Shape;914;p89"/>
          <p:cNvSpPr/>
          <p:nvPr/>
        </p:nvSpPr>
        <p:spPr>
          <a:xfrm>
            <a:off x="484565" y="4298319"/>
            <a:ext cx="10330072"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What is the relationship between the two integers? Explain.</a:t>
            </a:r>
            <a:endParaRPr b="0" i="0" sz="2800" u="none" cap="none" strike="noStrike">
              <a:solidFill>
                <a:schemeClr val="dk1"/>
              </a:solidFill>
              <a:latin typeface="Arial"/>
              <a:ea typeface="Arial"/>
              <a:cs typeface="Arial"/>
              <a:sym typeface="Arial"/>
            </a:endParaRPr>
          </a:p>
        </p:txBody>
      </p:sp>
      <p:sp>
        <p:nvSpPr>
          <p:cNvPr id="915" name="Google Shape;915;p89"/>
          <p:cNvSpPr txBox="1"/>
          <p:nvPr/>
        </p:nvSpPr>
        <p:spPr>
          <a:xfrm>
            <a:off x="484565" y="316034"/>
            <a:ext cx="5029132" cy="61996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Comparing Temperatures</a:t>
            </a:r>
            <a:endParaRPr b="0" i="0" sz="1400" u="none" cap="none" strike="noStrike">
              <a:solidFill>
                <a:srgbClr val="000000"/>
              </a:solidFill>
              <a:latin typeface="Arial"/>
              <a:ea typeface="Arial"/>
              <a:cs typeface="Arial"/>
              <a:sym typeface="Arial"/>
            </a:endParaRPr>
          </a:p>
        </p:txBody>
      </p:sp>
      <p:sp>
        <p:nvSpPr>
          <p:cNvPr id="91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39 / 51</a:t>
            </a:r>
          </a:p>
        </p:txBody>
      </p:sp>
      <p:sp>
        <p:nvSpPr>
          <p:cNvPr id="917" name="EWL-COVER-1"/>
          <p:cNvSpPr/>
          <p:nvPr/>
        </p:nvSpPr>
        <p:spPr>
          <a:xfrm>
            <a:off x="431136" y="4869525"/>
            <a:ext cx="10731281" cy="1549869"/>
          </a:xfrm>
          <a:prstGeom prst="rect">
            <a:avLst/>
          </a:prstGeom>
          <a:solidFill>
            <a:srgbClr val="FFFFFF"/>
          </a:solidFill>
          <a:ln>
            <a:noFill/>
          </a:ln>
        </p:spPr>
        <p:txBody>
          <a:bodyPr/>
          <a:lstStyl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91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9" name="Shape 919"/>
        <p:cNvGrpSpPr/>
        <p:nvPr/>
      </p:nvGrpSpPr>
      <p:grpSpPr>
        <a:xfrm>
          <a:off x="0" y="0"/>
          <a:ext cx="0" cy="0"/>
          <a:chOff x="0" y="0"/>
          <a:chExt cx="0" cy="0"/>
        </a:xfrm>
      </p:grpSpPr>
      <p:cxnSp>
        <p:nvCxnSpPr>
          <p:cNvPr id="920" name="Google Shape;920;p9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21" name="Google Shape;921;p90"/>
          <p:cNvSpPr txBox="1"/>
          <p:nvPr/>
        </p:nvSpPr>
        <p:spPr>
          <a:xfrm>
            <a:off x="484567" y="936000"/>
            <a:ext cx="7430708" cy="232916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Brian lives in Toronto, Canada and his cousin lives in Reykjavik, Iceland. One day in January, the temperature in Toronto was 9°C and the temperature in Reykjavik was −9°C.</a:t>
            </a:r>
            <a:endParaRPr b="1" i="0" sz="2800" u="none" cap="none" strike="noStrike">
              <a:solidFill>
                <a:schemeClr val="dk1"/>
              </a:solidFill>
              <a:latin typeface="Arial"/>
              <a:ea typeface="Arial"/>
              <a:cs typeface="Arial"/>
              <a:sym typeface="Arial"/>
            </a:endParaRPr>
          </a:p>
        </p:txBody>
      </p:sp>
      <p:sp>
        <p:nvSpPr>
          <p:cNvPr id="922" name="Google Shape;922;p90"/>
          <p:cNvSpPr/>
          <p:nvPr/>
        </p:nvSpPr>
        <p:spPr>
          <a:xfrm>
            <a:off x="484565" y="3505200"/>
            <a:ext cx="7430710" cy="2771775"/>
          </a:xfrm>
          <a:prstGeom prst="rect">
            <a:avLst/>
          </a:prstGeom>
          <a:noFill/>
          <a:ln cap="flat" cmpd="sng" w="12700">
            <a:solidFill>
              <a:srgbClr val="7030A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923" name="Google Shape;923;p90"/>
          <p:cNvSpPr/>
          <p:nvPr/>
        </p:nvSpPr>
        <p:spPr>
          <a:xfrm>
            <a:off x="662463" y="5176019"/>
            <a:ext cx="7074914"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The temperatures are equal distances from 0. They are opposites.</a:t>
            </a:r>
            <a:endParaRPr b="0" i="0" sz="2800" u="none" cap="none" strike="noStrike">
              <a:solidFill>
                <a:srgbClr val="262626"/>
              </a:solidFill>
              <a:latin typeface="Arial"/>
              <a:ea typeface="Arial"/>
              <a:cs typeface="Arial"/>
              <a:sym typeface="Arial"/>
            </a:endParaRPr>
          </a:p>
        </p:txBody>
      </p:sp>
      <p:sp>
        <p:nvSpPr>
          <p:cNvPr id="924" name="Google Shape;924;p90"/>
          <p:cNvSpPr/>
          <p:nvPr/>
        </p:nvSpPr>
        <p:spPr>
          <a:xfrm>
            <a:off x="484565" y="2846854"/>
            <a:ext cx="710300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How do the two temperatures relate?</a:t>
            </a:r>
            <a:endParaRPr b="0" i="0" sz="2800" u="none" cap="none" strike="noStrike">
              <a:solidFill>
                <a:schemeClr val="dk1"/>
              </a:solidFill>
              <a:latin typeface="Arial"/>
              <a:ea typeface="Arial"/>
              <a:cs typeface="Arial"/>
              <a:sym typeface="Arial"/>
            </a:endParaRPr>
          </a:p>
        </p:txBody>
      </p:sp>
      <p:sp>
        <p:nvSpPr>
          <p:cNvPr id="925" name="Google Shape;925;p90"/>
          <p:cNvSpPr txBox="1"/>
          <p:nvPr/>
        </p:nvSpPr>
        <p:spPr>
          <a:xfrm>
            <a:off x="484565" y="316034"/>
            <a:ext cx="5029132" cy="61996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Comparing Temperatures</a:t>
            </a:r>
            <a:endParaRPr b="0" i="0" sz="1400" u="none" cap="none" strike="noStrike">
              <a:solidFill>
                <a:srgbClr val="000000"/>
              </a:solidFill>
              <a:latin typeface="Arial"/>
              <a:ea typeface="Arial"/>
              <a:cs typeface="Arial"/>
              <a:sym typeface="Arial"/>
            </a:endParaRPr>
          </a:p>
        </p:txBody>
      </p:sp>
      <p:pic>
        <p:nvPicPr>
          <p:cNvPr descr="C:\Users\HP\Desktop\Grade_6_Unit_7-20230217T053830Z-001\Grade_6_Unit_7\OPS\img\.assets\6b83cf45f1784797b7a716fc1de45edb\narm24_c10701_se_013a-dig.png" id="926" name="Google Shape;926;p90"/>
          <p:cNvPicPr preferRelativeResize="0"/>
          <p:nvPr/>
        </p:nvPicPr>
        <p:blipFill rotWithShape="1">
          <a:blip r:embed="rId3">
            <a:alphaModFix/>
          </a:blip>
          <a:srcRect b="0" l="0" r="0" t="0"/>
          <a:stretch/>
        </p:blipFill>
        <p:spPr>
          <a:xfrm>
            <a:off x="8659051" y="1524000"/>
            <a:ext cx="2905125" cy="3810000"/>
          </a:xfrm>
          <a:prstGeom prst="rect">
            <a:avLst/>
          </a:prstGeom>
          <a:noFill/>
          <a:ln>
            <a:noFill/>
          </a:ln>
        </p:spPr>
      </p:pic>
      <p:pic>
        <p:nvPicPr>
          <p:cNvPr descr="C:\Users\HP\Desktop\Grade_6_Unit_7-20230217T053830Z-001\Grade_6_Unit_7\OPS\img\.assets\3d4933637c3a43f9aa7c5fb9fc9399ae\narm24_c10701_se_014a-dig-a.png" id="927" name="Google Shape;927;p90"/>
          <p:cNvPicPr preferRelativeResize="0"/>
          <p:nvPr/>
        </p:nvPicPr>
        <p:blipFill rotWithShape="1">
          <a:blip r:embed="rId4">
            <a:alphaModFix/>
          </a:blip>
          <a:srcRect b="0" l="0" r="0" t="0"/>
          <a:stretch/>
        </p:blipFill>
        <p:spPr>
          <a:xfrm>
            <a:off x="599920" y="3602360"/>
            <a:ext cx="7200000" cy="1427450"/>
          </a:xfrm>
          <a:prstGeom prst="rect">
            <a:avLst/>
          </a:prstGeom>
          <a:noFill/>
          <a:ln>
            <a:noFill/>
          </a:ln>
        </p:spPr>
      </p:pic>
      <p:sp>
        <p:nvSpPr>
          <p:cNvPr id="92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40 / 51</a:t>
            </a: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cxnSp>
        <p:nvCxnSpPr>
          <p:cNvPr id="932" name="Google Shape;932;p9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33" name="Google Shape;933;p91"/>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sp>
        <p:nvSpPr>
          <p:cNvPr id="934" name="Google Shape;934;p91"/>
          <p:cNvSpPr txBox="1"/>
          <p:nvPr/>
        </p:nvSpPr>
        <p:spPr>
          <a:xfrm>
            <a:off x="484563" y="936000"/>
            <a:ext cx="7863023" cy="491839"/>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chemeClr val="dk1"/>
              </a:buClr>
              <a:buSzPts val="2800"/>
              <a:buFont typeface="Calibri"/>
              <a:buAutoNum type="alphaLcPeriod"/>
              <a:defRPr/>
            </a:pPr>
            <a:r>
              <a:rPr b="0" i="0" lang="en-US" sz="2800" u="none" cap="none" strike="noStrike">
                <a:solidFill>
                  <a:schemeClr val="dk1"/>
                </a:solidFill>
                <a:latin typeface="Arial"/>
                <a:ea typeface="Arial"/>
                <a:cs typeface="Arial"/>
                <a:sym typeface="Arial"/>
              </a:rPr>
              <a:t xml:space="preserve">What is the opposite of 0? </a:t>
            </a:r>
            <a:endParaRPr b="0" i="0" sz="1400" u="none" cap="none" strike="noStrike">
              <a:solidFill>
                <a:srgbClr val="000000"/>
              </a:solidFill>
              <a:latin typeface="Arial"/>
              <a:ea typeface="Arial"/>
              <a:cs typeface="Arial"/>
              <a:sym typeface="Arial"/>
            </a:endParaRPr>
          </a:p>
          <a:p>
            <a:pPr indent="-336550" lvl="0" marL="514350" marR="0" rtl="0" algn="l">
              <a:lnSpc>
                <a:spcPct val="100000"/>
              </a:lnSpc>
              <a:spcBef>
                <a:spcPts val="1200"/>
              </a:spcBef>
              <a:spcAft>
                <a:spcPts val="0"/>
              </a:spcAft>
              <a:buClr>
                <a:schemeClr val="dk2"/>
              </a:buClr>
              <a:buSzPts val="2800"/>
              <a:buFont typeface="Calibri"/>
              <a:buNone/>
              <a:defRPr/>
            </a:pPr>
            <a:r>
              <a:rPr/>
              <a:t/>
            </a:r>
            <a:endParaRPr b="1" i="0" sz="2800" u="none" cap="none" strike="noStrike">
              <a:solidFill>
                <a:schemeClr val="dk1"/>
              </a:solidFill>
              <a:latin typeface="Arial"/>
              <a:ea typeface="Arial"/>
              <a:cs typeface="Arial"/>
              <a:sym typeface="Arial"/>
            </a:endParaRPr>
          </a:p>
          <a:p>
            <a:pPr indent="-336550" lvl="0" marL="514350" marR="0" rtl="0" algn="l">
              <a:lnSpc>
                <a:spcPct val="100000"/>
              </a:lnSpc>
              <a:spcBef>
                <a:spcPts val="1200"/>
              </a:spcBef>
              <a:spcAft>
                <a:spcPts val="0"/>
              </a:spcAft>
              <a:buClr>
                <a:schemeClr val="dk2"/>
              </a:buClr>
              <a:buSzPts val="2800"/>
              <a:buFont typeface="Calibri"/>
              <a:buNone/>
              <a:defRPr/>
            </a:pPr>
            <a:r>
              <a:rPr/>
              <a:t/>
            </a:r>
            <a:endParaRPr b="1" i="0" sz="2800" u="none" cap="none" strike="noStrike">
              <a:solidFill>
                <a:schemeClr val="dk1"/>
              </a:solidFill>
              <a:latin typeface="Arial"/>
              <a:ea typeface="Arial"/>
              <a:cs typeface="Arial"/>
              <a:sym typeface="Arial"/>
            </a:endParaRPr>
          </a:p>
          <a:p>
            <a:pPr indent="0" lvl="0" marL="0" marR="0" rtl="0" algn="l">
              <a:lnSpc>
                <a:spcPct val="100000"/>
              </a:lnSpc>
              <a:spcBef>
                <a:spcPts val="1200"/>
              </a:spcBef>
              <a:spcAft>
                <a:spcPts val="0"/>
              </a:spcAft>
              <a:buClr>
                <a:schemeClr val="dk2"/>
              </a:buClr>
              <a:buSzPts val="2800"/>
              <a:buFont typeface="Arial"/>
              <a:buNone/>
              <a:defRPr/>
            </a:pPr>
            <a:r>
              <a:rPr/>
              <a:t/>
            </a:r>
            <a:endParaRPr b="1" i="0" sz="2800" u="none" cap="none" strike="noStrike">
              <a:solidFill>
                <a:schemeClr val="dk1"/>
              </a:solidFill>
              <a:latin typeface="Arial"/>
              <a:ea typeface="Arial"/>
              <a:cs typeface="Arial"/>
              <a:sym typeface="Arial"/>
            </a:endParaRPr>
          </a:p>
        </p:txBody>
      </p:sp>
      <p:sp>
        <p:nvSpPr>
          <p:cNvPr id="935" name="Google Shape;935;p91"/>
          <p:cNvSpPr/>
          <p:nvPr/>
        </p:nvSpPr>
        <p:spPr>
          <a:xfrm>
            <a:off x="484563" y="1545813"/>
            <a:ext cx="9573837" cy="1181849"/>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936" name="Google Shape;936;p91"/>
          <p:cNvSpPr txBox="1"/>
          <p:nvPr/>
        </p:nvSpPr>
        <p:spPr>
          <a:xfrm>
            <a:off x="8770747" y="5645426"/>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defRPr/>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937" name="Google Shape;937;p91"/>
          <p:cNvSpPr/>
          <p:nvPr/>
        </p:nvSpPr>
        <p:spPr>
          <a:xfrm>
            <a:off x="499313" y="4796438"/>
            <a:ext cx="9559088" cy="1187542"/>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938" name="Google Shape;938;p91"/>
          <p:cNvSpPr/>
          <p:nvPr/>
        </p:nvSpPr>
        <p:spPr>
          <a:xfrm>
            <a:off x="486000" y="2854109"/>
            <a:ext cx="9698316" cy="1815882"/>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chemeClr val="dk1"/>
              </a:buClr>
              <a:buSzPts val="2800"/>
              <a:buFont typeface="Calibri"/>
              <a:buAutoNum type="alphaLcPeriod" startAt="2"/>
              <a:defRPr/>
            </a:pPr>
            <a:r>
              <a:rPr b="0" i="0" lang="en-US" sz="2800" u="none" cap="none" strike="noStrike">
                <a:solidFill>
                  <a:schemeClr val="dk1"/>
                </a:solidFill>
                <a:latin typeface="Arial"/>
                <a:ea typeface="Arial"/>
                <a:cs typeface="Arial"/>
                <a:sym typeface="Arial"/>
              </a:rPr>
              <a:t>At 6 a.m. in Reykjavik the temperature was −12°C. At 2 p.m. it was the opposite temperature than 6 a.m. At 11 p.m. it was the opposite temperature than it was at 2 p.m. What were the temperatures at 2 p.m. and 11 p.m.?</a:t>
            </a:r>
            <a:endParaRPr b="0" i="0" sz="1400" u="none" cap="none" strike="noStrike">
              <a:solidFill>
                <a:srgbClr val="000000"/>
              </a:solidFill>
              <a:latin typeface="Arial"/>
              <a:ea typeface="Arial"/>
              <a:cs typeface="Arial"/>
              <a:sym typeface="Arial"/>
            </a:endParaRPr>
          </a:p>
        </p:txBody>
      </p:sp>
      <p:sp>
        <p:nvSpPr>
          <p:cNvPr id="939" name="Google Shape;939;p91"/>
          <p:cNvSpPr txBox="1"/>
          <p:nvPr/>
        </p:nvSpPr>
        <p:spPr>
          <a:xfrm>
            <a:off x="8851531" y="2283055"/>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defRPr/>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94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41 / 51</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7.1  /  CHECK YOUR WORK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Pause. Check. Improve.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2011680"/>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CHECK</a:t>
            </a:r>
          </a:p>
        </p:txBody>
      </p:sp>
      <p:sp>
        <p:nvSpPr>
          <p:cNvPr id="7" name="TextBox 6"/>
          <p:cNvSpPr txBox="1"/>
          <p:nvPr/>
        </p:nvSpPr>
        <p:spPr>
          <a:xfrm>
            <a:off x="2340864" y="1975104"/>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A mistake to watch for: treating zero as positive or confusing an opposite with an absolute value.</a:t>
            </a:r>
          </a:p>
        </p:txBody>
      </p:sp>
      <p:sp>
        <p:nvSpPr>
          <p:cNvPr id="8" name="Rounded Rectangle 7"/>
          <p:cNvSpPr/>
          <p:nvPr/>
        </p:nvSpPr>
        <p:spPr>
          <a:xfrm>
            <a:off x="594360" y="3127248"/>
            <a:ext cx="10972800" cy="1069848"/>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3310128"/>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TRY</a:t>
            </a:r>
          </a:p>
        </p:txBody>
      </p:sp>
      <p:sp>
        <p:nvSpPr>
          <p:cNvPr id="10" name="TextBox 9"/>
          <p:cNvSpPr txBox="1"/>
          <p:nvPr/>
        </p:nvSpPr>
        <p:spPr>
          <a:xfrm>
            <a:off x="2340864" y="3273552"/>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Label the reference point and directions on the given number line.</a:t>
            </a:r>
          </a:p>
        </p:txBody>
      </p:sp>
      <p:sp>
        <p:nvSpPr>
          <p:cNvPr id="11" name="Rounded Rectangle 10"/>
          <p:cNvSpPr/>
          <p:nvPr/>
        </p:nvSpPr>
        <p:spPr>
          <a:xfrm>
            <a:off x="594360" y="4425696"/>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4608576"/>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REVISE</a:t>
            </a:r>
          </a:p>
        </p:txBody>
      </p:sp>
      <p:sp>
        <p:nvSpPr>
          <p:cNvPr id="13" name="TextBox 12"/>
          <p:cNvSpPr txBox="1"/>
          <p:nvPr/>
        </p:nvSpPr>
        <p:spPr>
          <a:xfrm>
            <a:off x="2340864" y="4572000"/>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Use that check on the task you just completed. Correct or strengthen one part, and explain why.</a:t>
            </a:r>
          </a:p>
        </p:txBody>
      </p:sp>
      <p:grpSp>
        <p:nvGrpSpPr>
          <p:cNvPr id="14" name="TEACH-4-student-move" descr="TEACH 4 · Monitor progress and provide feedback"/>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SELF-CHECK  ·  </a:t>
              </a:r>
              <a:r>
                <a:rPr lang="en-US" sz="1200" dirty="0">
                  <a:solidFill>
                    <a:srgbClr val="13303A"/>
                  </a:solidFill>
                  <a:latin typeface="Arial"/>
                </a:rPr>
                <a:t>Mark it: ✓ got it  ·  ~ almost  ·  ? stuck. Then fix one thing before we move on.</a:t>
              </a:r>
              <a:endParaRPr lang="en-US" sz="1200"/>
            </a:p>
          </p:txBody>
        </p:sp>
      </p:gr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909" name="Google Shape;909;p8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10" name="Google Shape;910;p89"/>
          <p:cNvSpPr txBox="1"/>
          <p:nvPr/>
        </p:nvSpPr>
        <p:spPr>
          <a:xfrm>
            <a:off x="486000" y="936000"/>
            <a:ext cx="8069240" cy="8576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The temperature in Toronto, 9°C, is 9 units away from zero.</a:t>
            </a:r>
            <a:endParaRPr b="1" i="0" sz="2800" u="none" cap="none" strike="noStrike">
              <a:solidFill>
                <a:schemeClr val="dk1"/>
              </a:solidFill>
              <a:latin typeface="Arial"/>
              <a:ea typeface="Arial"/>
              <a:cs typeface="Arial"/>
              <a:sym typeface="Arial"/>
            </a:endParaRPr>
          </a:p>
        </p:txBody>
      </p:sp>
      <p:sp>
        <p:nvSpPr>
          <p:cNvPr id="911" name="Google Shape;911;p89"/>
          <p:cNvSpPr txBox="1"/>
          <p:nvPr/>
        </p:nvSpPr>
        <p:spPr>
          <a:xfrm>
            <a:off x="486000" y="4924389"/>
            <a:ext cx="10621553" cy="144014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They are opposites because they are the same distance away from zero on the number line.</a:t>
            </a:r>
            <a:endParaRPr b="0" i="0" sz="1400" u="none" cap="none" strike="noStrike">
              <a:solidFill>
                <a:srgbClr val="000000"/>
              </a:solidFill>
              <a:latin typeface="Arial"/>
              <a:ea typeface="Arial"/>
              <a:cs typeface="Arial"/>
              <a:sym typeface="Arial"/>
            </a:endParaRPr>
          </a:p>
        </p:txBody>
      </p:sp>
      <p:sp>
        <p:nvSpPr>
          <p:cNvPr id="912" name="Google Shape;912;p89"/>
          <p:cNvSpPr/>
          <p:nvPr/>
        </p:nvSpPr>
        <p:spPr>
          <a:xfrm>
            <a:off x="484565" y="1904931"/>
            <a:ext cx="10152138"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The temperature in Reykjavik, −9°C, is 9 units away from zero.</a:t>
            </a:r>
            <a:endParaRPr b="0" i="0" sz="2800" u="none" cap="none" strike="noStrike">
              <a:solidFill>
                <a:schemeClr val="dk1"/>
              </a:solidFill>
              <a:latin typeface="Arial"/>
              <a:ea typeface="Arial"/>
              <a:cs typeface="Arial"/>
              <a:sym typeface="Arial"/>
            </a:endParaRPr>
          </a:p>
        </p:txBody>
      </p:sp>
      <p:pic>
        <p:nvPicPr>
          <p:cNvPr descr="C:\Users\HP\Desktop\Grade_6_Unit_7-20230217T053830Z-001\Grade_6_Unit_7\OPS\img\.assets\3d4933637c3a43f9aa7c5fb9fc9399ae\narm24_c10701_se_014a-dig-a.png" id="913" name="Google Shape;913;p89"/>
          <p:cNvPicPr preferRelativeResize="0"/>
          <p:nvPr/>
        </p:nvPicPr>
        <p:blipFill rotWithShape="1">
          <a:blip r:embed="rId2">
            <a:alphaModFix/>
          </a:blip>
          <a:srcRect b="0" l="0" r="0" t="0"/>
          <a:stretch/>
        </p:blipFill>
        <p:spPr>
          <a:xfrm>
            <a:off x="1188659" y="2446869"/>
            <a:ext cx="8743950" cy="1733550"/>
          </a:xfrm>
          <a:prstGeom prst="rect">
            <a:avLst/>
          </a:prstGeom>
          <a:noFill/>
          <a:ln>
            <a:noFill/>
          </a:ln>
        </p:spPr>
      </p:pic>
      <p:sp>
        <p:nvSpPr>
          <p:cNvPr id="914" name="Google Shape;914;p89"/>
          <p:cNvSpPr/>
          <p:nvPr/>
        </p:nvSpPr>
        <p:spPr>
          <a:xfrm>
            <a:off x="484565" y="4298319"/>
            <a:ext cx="10330072"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What is the relationship between the two integers? Explain.</a:t>
            </a:r>
            <a:endParaRPr b="0" i="0" sz="2800" u="none" cap="none" strike="noStrike">
              <a:solidFill>
                <a:schemeClr val="dk1"/>
              </a:solidFill>
              <a:latin typeface="Arial"/>
              <a:ea typeface="Arial"/>
              <a:cs typeface="Arial"/>
              <a:sym typeface="Arial"/>
            </a:endParaRPr>
          </a:p>
        </p:txBody>
      </p:sp>
      <p:sp>
        <p:nvSpPr>
          <p:cNvPr id="915" name="Google Shape;915;p89"/>
          <p:cNvSpPr txBox="1"/>
          <p:nvPr/>
        </p:nvSpPr>
        <p:spPr>
          <a:xfrm>
            <a:off x="484565" y="316034"/>
            <a:ext cx="5029132" cy="61996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030A0"/>
                </a:solidFill>
                <a:latin typeface="Arial"/>
                <a:ea typeface="Arial"/>
                <a:cs typeface="Arial"/>
                <a:sym typeface="Arial"/>
              </a:rPr>
              <a:t>Comparing Temperatures</a:t>
            </a:r>
            <a:endParaRPr b="0" i="0" sz="1400" u="none" cap="none" strike="noStrike">
              <a:solidFill>
                <a:srgbClr val="000000"/>
              </a:solidFill>
              <a:latin typeface="Arial"/>
              <a:ea typeface="Arial"/>
              <a:cs typeface="Arial"/>
              <a:sym typeface="Arial"/>
            </a:endParaRPr>
          </a:p>
        </p:txBody>
      </p:sp>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44 / 51</a:t>
            </a: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3" name="Shape 943"/>
        <p:cNvGrpSpPr/>
        <p:nvPr/>
      </p:nvGrpSpPr>
      <p:grpSpPr>
        <a:xfrm>
          <a:off x="0" y="0"/>
          <a:ext cx="0" cy="0"/>
          <a:chOff x="0" y="0"/>
          <a:chExt cx="0" cy="0"/>
        </a:xfrm>
      </p:grpSpPr>
      <p:cxnSp>
        <p:nvCxnSpPr>
          <p:cNvPr id="944" name="Google Shape;944;p9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45" name="Google Shape;945;p92"/>
          <p:cNvSpPr txBox="1"/>
          <p:nvPr/>
        </p:nvSpPr>
        <p:spPr>
          <a:xfrm>
            <a:off x="486001" y="316800"/>
            <a:ext cx="5609999" cy="50235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0" i="0" lang="en-US" sz="2800" u="none" cap="none" strike="noStrike">
                <a:solidFill>
                  <a:srgbClr val="782DA0"/>
                </a:solidFill>
                <a:latin typeface="Arial"/>
                <a:ea typeface="Arial"/>
                <a:cs typeface="Arial"/>
                <a:sym typeface="Arial"/>
              </a:rPr>
              <a:t xml:space="preserve">Summarize: </a:t>
            </a:r>
            <a:r>
              <a:rPr b="1" i="0" lang="en-US" sz="2800" u="none" cap="none" strike="noStrike">
                <a:solidFill>
                  <a:srgbClr val="782DA0"/>
                </a:solidFill>
                <a:latin typeface="Arial"/>
                <a:ea typeface="Arial"/>
                <a:cs typeface="Arial"/>
                <a:sym typeface="Arial"/>
              </a:rPr>
              <a:t>Integers</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chemeClr val="dk2"/>
              </a:buClr>
              <a:buSzPts val="2800"/>
              <a:buFont typeface="Calibri"/>
              <a:buNone/>
              <a:defRPr/>
            </a:pPr>
            <a:r>
              <a:rPr/>
              <a:t/>
            </a:r>
            <a:endParaRPr b="1" i="0" sz="2800" u="none" cap="none" strike="noStrike">
              <a:solidFill>
                <a:srgbClr val="782DA0"/>
              </a:solidFill>
              <a:latin typeface="Arial"/>
              <a:ea typeface="Arial"/>
              <a:cs typeface="Arial"/>
              <a:sym typeface="Arial"/>
            </a:endParaRPr>
          </a:p>
        </p:txBody>
      </p:sp>
      <p:sp>
        <p:nvSpPr>
          <p:cNvPr id="946" name="Google Shape;946;p92"/>
          <p:cNvSpPr txBox="1"/>
          <p:nvPr/>
        </p:nvSpPr>
        <p:spPr>
          <a:xfrm>
            <a:off x="486001" y="1234440"/>
            <a:ext cx="8944602" cy="193851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A negative integer is an integer less than zero and is written with a − sign. Integers include the counting numbers, 0 (zero), and the opposites, or negatives, of the counting numbers. ​</a:t>
            </a:r>
            <a:endParaRPr b="0" i="0" sz="1400" u="none" cap="none" strike="noStrike">
              <a:solidFill>
                <a:srgbClr val="000000"/>
              </a:solidFill>
              <a:latin typeface="Arial"/>
              <a:ea typeface="Arial"/>
              <a:cs typeface="Arial"/>
              <a:sym typeface="Arial"/>
            </a:endParaRPr>
          </a:p>
        </p:txBody>
      </p:sp>
      <p:sp>
        <p:nvSpPr>
          <p:cNvPr id="947" name="Google Shape;947;p92"/>
          <p:cNvSpPr/>
          <p:nvPr/>
        </p:nvSpPr>
        <p:spPr>
          <a:xfrm>
            <a:off x="486001" y="3108960"/>
            <a:ext cx="8494226"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The opposite of a number is the same distance from 0 on the opposite side of the number line.</a:t>
            </a:r>
            <a:endParaRPr b="0" i="0" sz="2800" u="none" cap="none" strike="noStrike">
              <a:solidFill>
                <a:schemeClr val="dk1"/>
              </a:solidFill>
              <a:latin typeface="Arial"/>
              <a:ea typeface="Arial"/>
              <a:cs typeface="Arial"/>
              <a:sym typeface="Arial"/>
            </a:endParaRPr>
          </a:p>
        </p:txBody>
      </p:sp>
      <p:sp>
        <p:nvSpPr>
          <p:cNvPr id="948" name="Google Shape;948;p92"/>
          <p:cNvSpPr/>
          <p:nvPr/>
        </p:nvSpPr>
        <p:spPr>
          <a:xfrm>
            <a:off x="2755649" y="3970367"/>
            <a:ext cx="3954929"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6 and −6 are opposites.</a:t>
            </a:r>
            <a:endParaRPr b="0" i="0" sz="2800" u="none" cap="none" strike="noStrike">
              <a:solidFill>
                <a:schemeClr val="dk1"/>
              </a:solidFill>
              <a:latin typeface="Arial"/>
              <a:ea typeface="Arial"/>
              <a:cs typeface="Arial"/>
              <a:sym typeface="Arial"/>
            </a:endParaRPr>
          </a:p>
        </p:txBody>
      </p:sp>
      <p:pic>
        <p:nvPicPr>
          <p:cNvPr descr="C:\Users\HP\Desktop\Grade_6_Unit_7-20230217T053830Z-001\Grade_6_Unit_7\OPS\img\.assets\41b6ebb10ec84643b6a512ddef3d5eff\narm24_c10701_se_015a-dig-eps.png" id="949" name="Google Shape;949;p92"/>
          <p:cNvPicPr preferRelativeResize="0"/>
          <p:nvPr/>
        </p:nvPicPr>
        <p:blipFill rotWithShape="1">
          <a:blip r:embed="rId3">
            <a:alphaModFix/>
          </a:blip>
          <a:srcRect b="0" l="0" r="0" t="0"/>
          <a:stretch/>
        </p:blipFill>
        <p:spPr>
          <a:xfrm>
            <a:off x="486001" y="4890845"/>
            <a:ext cx="10448925" cy="1057275"/>
          </a:xfrm>
          <a:prstGeom prst="rect">
            <a:avLst/>
          </a:prstGeom>
          <a:noFill/>
          <a:ln>
            <a:noFill/>
          </a:ln>
        </p:spPr>
      </p:pic>
      <p:sp>
        <p:nvSpPr>
          <p:cNvPr id="95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46 / 51</a:t>
            </a:r>
          </a:p>
        </p:txBody>
      </p:sp>
      <p:sp>
        <p:nvSpPr>
          <p:cNvPr id="951"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SUMMARIZE</a:t>
            </a:r>
            <a:r>
              <a:rPr lang="en-US" sz="1200" b="1">
                <a:solidFill>
                  <a:srgbClr val="5D6872"/>
                </a:solidFill>
                <a:latin typeface="Arial"/>
              </a:rPr>
              <a:t xml:space="preserve">  ·  SAY IT IN YOUR OWN WORDS</a:t>
            </a:r>
          </a:p>
        </p:txBody>
      </p:sp>
      <p:grpSp>
        <p:nvGrpSpPr>
          <p:cNvPr id="952" name="TEACH-4-student-move" descr="TEACH 4 · Monitor progress and provide feedback"/>
          <p:cNvGrpSpPr/>
          <p:nvPr/>
        </p:nvGrpSpPr>
        <p:grpSpPr>
          <a:xfrm>
            <a:off x="502920" y="5984696"/>
            <a:ext cx="11186160" cy="320040"/>
            <a:chOff x="502920" y="5984696"/>
            <a:chExt cx="11186160" cy="320040"/>
          </a:xfrm>
        </p:grpSpPr>
        <p:sp>
          <p:nvSpPr>
            <p:cNvPr id="953" name="TEACH-move-card"/>
            <p:cNvSpPr/>
            <p:nvPr/>
          </p:nvSpPr>
          <p:spPr>
            <a:xfrm>
              <a:off x="502920" y="5984696"/>
              <a:ext cx="11186160" cy="320040"/>
            </a:xfrm>
            <a:prstGeom prst="roundRect">
              <a:avLst>
                <a:gd name="adj" fmla="val 16000"/>
              </a:avLst>
            </a:prstGeom>
            <a:solidFill>
              <a:srgbClr val="E4F0F5"/>
            </a:solidFill>
            <a:ln w="19050">
              <a:solidFill>
                <a:srgbClr val="8CB8C7"/>
              </a:solidFill>
            </a:ln>
          </p:spPr>
          <p:txBody>
            <a:bodyPr/>
            <a:lstStyle/>
            <a:p>
              <a:endParaRPr/>
            </a:p>
          </p:txBody>
        </p:sp>
        <p:sp>
          <p:nvSpPr>
            <p:cNvPr id="954" name="TEACH-move-rule"/>
            <p:cNvSpPr/>
            <p:nvPr/>
          </p:nvSpPr>
          <p:spPr>
            <a:xfrm>
              <a:off x="548640" y="6045504"/>
              <a:ext cx="100584" cy="198424"/>
            </a:xfrm>
            <a:prstGeom prst="roundRect">
              <a:avLst>
                <a:gd name="adj" fmla="val 50000"/>
              </a:avLst>
            </a:prstGeom>
            <a:solidFill>
              <a:srgbClr val="01708C"/>
            </a:solidFill>
            <a:ln>
              <a:noFill/>
            </a:ln>
          </p:spPr>
          <p:txBody>
            <a:bodyPr/>
            <a:lstStyle/>
            <a:p>
              <a:endParaRPr/>
            </a:p>
          </p:txBody>
        </p:sp>
        <p:sp>
          <p:nvSpPr>
            <p:cNvPr id="955" name="TEACH-move-text"/>
            <p:cNvSpPr txBox="1"/>
            <p:nvPr/>
          </p:nvSpPr>
          <p:spPr>
            <a:xfrm>
              <a:off x="822960" y="5984696"/>
              <a:ext cx="10728960" cy="32004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REVISE NOW  ·  </a:t>
              </a:r>
              <a:r>
                <a:rPr lang="en-US" sz="1200" dirty="0">
                  <a:solidFill>
                    <a:srgbClr val="13303A"/>
                  </a:solidFill>
                  <a:latin typeface="Arial"/>
                </a:rPr>
                <a:t>Change one answer and write why you changed it. A revision is evidence of learning.</a:t>
              </a:r>
              <a:endParaRPr lang="en-US" sz="1200"/>
            </a:p>
          </p:txBody>
        </p:sp>
      </p:gr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3" name="Shape 953"/>
        <p:cNvGrpSpPr/>
        <p:nvPr/>
      </p:nvGrpSpPr>
      <p:grpSpPr>
        <a:xfrm>
          <a:off x="0" y="0"/>
          <a:ext cx="0" cy="0"/>
          <a:chOff x="0" y="0"/>
          <a:chExt cx="0" cy="0"/>
        </a:xfrm>
      </p:grpSpPr>
      <p:sp>
        <p:nvSpPr>
          <p:cNvPr id="954" name="Google Shape;954;p93"/>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0" i="0" lang="en-US" sz="2800" u="none" cap="none" strike="noStrike">
                <a:solidFill>
                  <a:srgbClr val="782DA0"/>
                </a:solidFill>
                <a:latin typeface="Arial"/>
                <a:ea typeface="Arial"/>
                <a:cs typeface="Arial"/>
                <a:sym typeface="Arial"/>
              </a:rPr>
              <a:t xml:space="preserve">Apply: </a:t>
            </a:r>
            <a:r>
              <a:rPr b="1" i="0" lang="en-US" sz="2800" u="none" cap="none" strike="noStrike">
                <a:solidFill>
                  <a:srgbClr val="782DA0"/>
                </a:solidFill>
                <a:latin typeface="Arial"/>
                <a:ea typeface="Arial"/>
                <a:cs typeface="Arial"/>
                <a:sym typeface="Arial"/>
              </a:rPr>
              <a:t>Football Plays</a:t>
            </a:r>
            <a:endParaRPr b="0" i="0" sz="1400" u="none" cap="none" strike="noStrike">
              <a:solidFill>
                <a:srgbClr val="000000"/>
              </a:solidFill>
              <a:latin typeface="Arial"/>
              <a:ea typeface="Arial"/>
              <a:cs typeface="Arial"/>
              <a:sym typeface="Arial"/>
            </a:endParaRPr>
          </a:p>
        </p:txBody>
      </p:sp>
      <p:cxnSp>
        <p:nvCxnSpPr>
          <p:cNvPr id="955" name="Google Shape;955;p9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56" name="Google Shape;956;p93"/>
          <p:cNvSpPr txBox="1"/>
          <p:nvPr/>
        </p:nvSpPr>
        <p:spPr>
          <a:xfrm>
            <a:off x="484566" y="935999"/>
            <a:ext cx="5830509" cy="36010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To make a first down, a football team must make at least a 10-yard gain from where they originally started, called the line of scrimmage. During a series of plays, a football team had a 10-yard loss, a 4-yard gain, a 3-yard loss, and a 21-yard gain.</a:t>
            </a:r>
            <a:endParaRPr b="0" i="0" sz="1400" u="none" cap="none" strike="noStrike">
              <a:solidFill>
                <a:srgbClr val="000000"/>
              </a:solidFill>
              <a:latin typeface="Arial"/>
              <a:ea typeface="Arial"/>
              <a:cs typeface="Arial"/>
              <a:sym typeface="Arial"/>
            </a:endParaRPr>
          </a:p>
        </p:txBody>
      </p:sp>
      <p:sp>
        <p:nvSpPr>
          <p:cNvPr id="957" name="Google Shape;957;p93"/>
          <p:cNvSpPr txBox="1"/>
          <p:nvPr/>
        </p:nvSpPr>
        <p:spPr>
          <a:xfrm>
            <a:off x="484565" y="4619565"/>
            <a:ext cx="5906710" cy="13849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Question :</a:t>
            </a:r>
            <a:r>
              <a:rPr b="0" i="0" lang="en-US" sz="2800" u="none" cap="none" strike="noStrike">
                <a:solidFill>
                  <a:schemeClr val="dk1"/>
                </a:solidFill>
                <a:latin typeface="Arial"/>
                <a:ea typeface="Arial"/>
                <a:cs typeface="Arial"/>
                <a:sym typeface="Arial"/>
              </a:rPr>
              <a:t xml:space="preserve"> Did the football team make a first down? How far are they from the line of scrimmage?</a:t>
            </a:r>
            <a:endParaRPr b="0" i="0" sz="2800" u="none" cap="none" strike="noStrike">
              <a:solidFill>
                <a:schemeClr val="dk1"/>
              </a:solidFill>
              <a:latin typeface="Arial"/>
              <a:ea typeface="Arial"/>
              <a:cs typeface="Arial"/>
              <a:sym typeface="Arial"/>
            </a:endParaRPr>
          </a:p>
        </p:txBody>
      </p:sp>
      <p:pic>
        <p:nvPicPr>
          <p:cNvPr id="958" name="Google Shape;958;p93"/>
          <p:cNvPicPr preferRelativeResize="0"/>
          <p:nvPr/>
        </p:nvPicPr>
        <p:blipFill rotWithShape="1">
          <a:blip r:embed="rId3">
            <a:alphaModFix/>
          </a:blip>
          <a:srcRect b="0" l="0" r="0" t="0"/>
          <a:stretch/>
        </p:blipFill>
        <p:spPr>
          <a:xfrm>
            <a:off x="6474542" y="1809000"/>
            <a:ext cx="5647021" cy="3240000"/>
          </a:xfrm>
          <a:prstGeom prst="rect">
            <a:avLst/>
          </a:prstGeom>
          <a:noFill/>
          <a:ln>
            <a:noFill/>
          </a:ln>
        </p:spPr>
      </p:pic>
      <p:sp>
        <p:nvSpPr>
          <p:cNvPr id="95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47 / 51</a:t>
            </a:r>
          </a:p>
        </p:txBody>
      </p:sp>
      <p:sp>
        <p:nvSpPr>
          <p:cNvPr id="960"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r>
              <a:rPr lang="en-US" sz="1200" b="1">
                <a:solidFill>
                  <a:srgbClr val="1E2682"/>
                </a:solidFill>
                <a:latin typeface="Arial"/>
              </a:rPr>
              <a:t>APPLY</a:t>
            </a:r>
            <a:r>
              <a:rPr lang="en-US" sz="1200" b="1">
                <a:solidFill>
                  <a:srgbClr val="5D6872"/>
                </a:solidFill>
                <a:latin typeface="Arial"/>
              </a:rPr>
              <a:t xml:space="preserve">  ·  PLAN IT • SOLVE IT • PROVE IT</a:t>
            </a:r>
          </a:p>
        </p:txBody>
      </p:sp>
      <p:sp xmlns:p="http://schemas.openxmlformats.org/presentationml/2006/main" xmlns:a="http://schemas.openxmlformats.org/drawingml/2006/main">
        <p:nvSpPr>
          <p:cNvPr id="961" name="TEACH-embedded-student-prompt" descr="Student thinking and response directions"/>
          <p:cNvSpPr txBox="1"/>
          <p:nvPr/>
        </p:nvSpPr>
        <p:spPr>
          <a:xfrm>
            <a:off x="7391400" y="519379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Choose a method. Solve</a:t>
            </a:r>
            <a:endParaRPr lang="en-US" sz="2000"/>
          </a:p>
          <a:p>
            <a:pPr>
              <a:lnSpc>
                <a:spcPts val="2400"/>
              </a:lnSpc>
              <a:buNone/>
            </a:pPr>
            <a:r>
              <a:rPr lang="en-US" sz="2000">
                <a:solidFill>
                  <a:srgbClr val="174D60"/>
                </a:solidFill>
                <a:latin typeface="Arial"/>
              </a:rPr>
              <a:t>independently, justify your</a:t>
            </a:r>
            <a:endParaRPr lang="en-US" sz="2000"/>
          </a:p>
          <a:p>
            <a:pPr>
              <a:lnSpc>
                <a:spcPts val="2400"/>
              </a:lnSpc>
              <a:buNone/>
            </a:pPr>
            <a:r>
              <a:rPr lang="en-US" sz="2000">
                <a:solidFill>
                  <a:srgbClr val="174D60"/>
                </a:solidFill>
                <a:latin typeface="Arial"/>
              </a:rPr>
              <a:t>answer, then check the goal.</a:t>
            </a:r>
            <a:endParaRPr lang="en-US" sz="20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2" name="Shape 962"/>
        <p:cNvGrpSpPr/>
        <p:nvPr/>
      </p:nvGrpSpPr>
      <p:grpSpPr>
        <a:xfrm>
          <a:off x="0" y="0"/>
          <a:ext cx="0" cy="0"/>
          <a:chOff x="0" y="0"/>
          <a:chExt cx="0" cy="0"/>
        </a:xfrm>
      </p:grpSpPr>
      <p:sp>
        <p:nvSpPr>
          <p:cNvPr id="963" name="Google Shape;963;p94"/>
          <p:cNvSpPr txBox="1"/>
          <p:nvPr/>
        </p:nvSpPr>
        <p:spPr>
          <a:xfrm>
            <a:off x="484565" y="316800"/>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Learning Targets</a:t>
            </a:r>
            <a:endParaRPr b="0" i="0" sz="1400" u="none" cap="none" strike="noStrike">
              <a:solidFill>
                <a:srgbClr val="000000"/>
              </a:solidFill>
              <a:latin typeface="Arial"/>
              <a:ea typeface="Arial"/>
              <a:cs typeface="Arial"/>
              <a:sym typeface="Arial"/>
            </a:endParaRPr>
          </a:p>
        </p:txBody>
      </p:sp>
      <p:cxnSp>
        <p:nvCxnSpPr>
          <p:cNvPr id="964" name="Google Shape;964;p9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65" name="Google Shape;965;p94"/>
          <p:cNvSpPr txBox="1"/>
          <p:nvPr/>
        </p:nvSpPr>
        <p:spPr>
          <a:xfrm>
            <a:off x="484565" y="936000"/>
            <a:ext cx="8246481" cy="2774317"/>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I can use integers to represent quantities in everyday life and explain the meaning of zero within each real-world context.</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20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I can reason abstractly and quantitatively to represent integers and their opposites on a number line.</a:t>
            </a:r>
            <a:endParaRPr b="0" i="0" sz="1400" u="none" cap="none" strike="noStrike">
              <a:solidFill>
                <a:srgbClr val="000000"/>
              </a:solidFill>
              <a:latin typeface="Arial"/>
              <a:ea typeface="Arial"/>
              <a:cs typeface="Arial"/>
              <a:sym typeface="Arial"/>
            </a:endParaRPr>
          </a:p>
        </p:txBody>
      </p:sp>
      <p:sp>
        <p:nvSpPr>
          <p:cNvPr id="96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48 / 51</a:t>
            </a:r>
          </a:p>
        </p:txBody>
      </p:sp>
      <p:sp xmlns:p="http://schemas.openxmlformats.org/presentationml/2006/main" xmlns:a="http://schemas.openxmlformats.org/drawingml/2006/main">
        <p:nvSpPr>
          <p:cNvPr id="967"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Point to evidence in your work. Name what improved and your next step.</a:t>
            </a:r>
            <a:endParaRPr lang="en-US" sz="2000"/>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773" name="Google Shape;773;p7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74" name="Google Shape;774;p76"/>
          <p:cNvSpPr txBox="1"/>
          <p:nvPr/>
        </p:nvSpPr>
        <p:spPr>
          <a:xfrm>
            <a:off x="484560"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pic>
        <p:nvPicPr>
          <p:cNvPr id="775" name="Google Shape;775;p76"/>
          <p:cNvPicPr preferRelativeResize="0"/>
          <p:nvPr/>
        </p:nvPicPr>
        <p:blipFill rotWithShape="1">
          <a:blip r:embed="rId2">
            <a:alphaModFix/>
          </a:blip>
          <a:srcRect b="0" l="0" r="0" t="0"/>
          <a:stretch/>
        </p:blipFill>
        <p:spPr>
          <a:xfrm>
            <a:off x="484560" y="4390730"/>
            <a:ext cx="5054600" cy="838200"/>
          </a:xfrm>
          <a:prstGeom prst="rect">
            <a:avLst/>
          </a:prstGeom>
          <a:noFill/>
          <a:ln>
            <a:noFill/>
          </a:ln>
        </p:spPr>
      </p:pic>
      <p:sp>
        <p:nvSpPr>
          <p:cNvPr id="776" name="Google Shape;776;p76"/>
          <p:cNvSpPr txBox="1"/>
          <p:nvPr/>
        </p:nvSpPr>
        <p:spPr>
          <a:xfrm>
            <a:off x="484560" y="315403"/>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sp>
        <p:nvSpPr>
          <p:cNvPr id="777" name="Google Shape;777;p76"/>
          <p:cNvSpPr txBox="1"/>
          <p:nvPr/>
        </p:nvSpPr>
        <p:spPr>
          <a:xfrm>
            <a:off x="3214279" y="4548220"/>
            <a:ext cx="2147094"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778" name="Google Shape;778;p76"/>
          <p:cNvSpPr/>
          <p:nvPr/>
        </p:nvSpPr>
        <p:spPr>
          <a:xfrm>
            <a:off x="625995" y="5208072"/>
            <a:ext cx="6297240" cy="89255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How have you given positive feedback to your classmates?</a:t>
            </a:r>
            <a:endParaRPr b="0" i="0" sz="2600" u="none" cap="none" strike="noStrike">
              <a:solidFill>
                <a:srgbClr val="595959"/>
              </a:solidFill>
              <a:latin typeface="Arial"/>
              <a:ea typeface="Arial"/>
              <a:cs typeface="Arial"/>
              <a:sym typeface="Arial"/>
            </a:endParaRPr>
          </a:p>
        </p:txBody>
      </p:sp>
      <p:pic>
        <p:nvPicPr>
          <p:cNvPr descr="C:\Users\HP\Desktop\Grade_6_Unit_7-20230217T053830Z-001\Grade_6_Unit_7\OPS\img\.assets\6b54669b64334ca0a57d64d8aea5bc01\narm24_c10701_esp_001a.png" id="779" name="Google Shape;779;p76"/>
          <p:cNvPicPr preferRelativeResize="0"/>
          <p:nvPr/>
        </p:nvPicPr>
        <p:blipFill rotWithShape="1">
          <a:blip r:embed="rId3">
            <a:alphaModFix/>
          </a:blip>
          <a:srcRect b="0" l="0" r="0" t="0"/>
          <a:stretch/>
        </p:blipFill>
        <p:spPr>
          <a:xfrm>
            <a:off x="6811228" y="1353917"/>
            <a:ext cx="4000500" cy="4819650"/>
          </a:xfrm>
          <a:prstGeom prst="rect">
            <a:avLst/>
          </a:prstGeom>
          <a:noFill/>
          <a:ln>
            <a:noFill/>
          </a:ln>
        </p:spPr>
      </p:pic>
      <p:sp>
        <p:nvSpPr>
          <p:cNvPr id="780" name="Google Shape;780;p76"/>
          <p:cNvSpPr txBox="1"/>
          <p:nvPr/>
        </p:nvSpPr>
        <p:spPr>
          <a:xfrm>
            <a:off x="484560" y="1022823"/>
            <a:ext cx="4101088" cy="132032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What do you notice?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What do you wonder?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1" i="0" sz="2800" u="none" cap="none" strike="noStrike">
              <a:solidFill>
                <a:schemeClr val="dk1"/>
              </a:solidFill>
              <a:latin typeface="Arial"/>
              <a:ea typeface="Arial"/>
              <a:cs typeface="Arial"/>
              <a:sym typeface="Arial"/>
            </a:endParaRPr>
          </a:p>
        </p:txBody>
      </p:sp>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49 / 51</a:t>
            </a:r>
          </a:p>
        </p:txBody>
      </p:sp>
      <p:sp xmlns:p="http://schemas.openxmlformats.org/presentationml/2006/main" xmlns:a="http://schemas.openxmlformats.org/drawingml/2006/main">
        <p:nvSpPr>
          <p:cNvPr id="781" name="TEACH-embedded-student-prompt" descr="Student thinking and response directions"/>
          <p:cNvSpPr txBox="1"/>
          <p:nvPr/>
        </p:nvSpPr>
        <p:spPr>
          <a:xfrm>
            <a:off x="594360" y="349300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Share a notice and a question;</a:t>
            </a:r>
            <a:endParaRPr lang="en-US" sz="2000"/>
          </a:p>
          <a:p>
            <a:pPr>
              <a:lnSpc>
                <a:spcPts val="2400"/>
              </a:lnSpc>
              <a:buNone/>
            </a:pPr>
            <a:r>
              <a:rPr lang="en-US" sz="2000">
                <a:solidFill>
                  <a:srgbClr val="174D60"/>
                </a:solidFill>
                <a:latin typeface="Arial"/>
              </a:rPr>
              <a:t>build on a classmate’s idea.</a:t>
            </a:r>
            <a:endParaRPr lang="en-US" sz="2000"/>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63" name="Google Shape;963;p94"/>
          <p:cNvSpPr txBox="1"/>
          <p:nvPr/>
        </p:nvSpPr>
        <p:spPr>
          <a:xfrm>
            <a:off x="484565" y="316800"/>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Learning Targets</a:t>
            </a:r>
            <a:endParaRPr b="0" i="0" sz="1400" u="none" cap="none" strike="noStrike">
              <a:solidFill>
                <a:srgbClr val="000000"/>
              </a:solidFill>
              <a:latin typeface="Arial"/>
              <a:ea typeface="Arial"/>
              <a:cs typeface="Arial"/>
              <a:sym typeface="Arial"/>
            </a:endParaRPr>
          </a:p>
        </p:txBody>
      </p:sp>
      <p:cxnSp>
        <p:nvCxnSpPr>
          <p:cNvPr id="964" name="Google Shape;964;p9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65" name="Google Shape;965;p94"/>
          <p:cNvSpPr txBox="1"/>
          <p:nvPr/>
        </p:nvSpPr>
        <p:spPr>
          <a:xfrm>
            <a:off x="484565" y="936000"/>
            <a:ext cx="8246481" cy="2774317"/>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I can use integers to represent quantities in everyday life and explain the meaning of zero within each real-world context.</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20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I can reason abstractly and quantitatively to represent integers and their opposites on a number line.</a:t>
            </a:r>
            <a:endParaRPr b="0" i="0" sz="1400" u="none" cap="none" strike="noStrike">
              <a:solidFill>
                <a:srgbClr val="000000"/>
              </a:solidFill>
              <a:latin typeface="Arial"/>
              <a:ea typeface="Arial"/>
              <a:cs typeface="Arial"/>
              <a:sym typeface="Arial"/>
            </a:endParaRPr>
          </a:p>
        </p:txBody>
      </p:sp>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50 / 51</a:t>
            </a:r>
          </a:p>
        </p:txBody>
      </p:sp>
      <p:sp xmlns:p="http://schemas.openxmlformats.org/presentationml/2006/main" xmlns:a="http://schemas.openxmlformats.org/drawingml/2006/main">
        <p:nvSpPr>
          <p:cNvPr id="966"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Point to evidence in your work. Name what improved and your next step.</a:t>
            </a:r>
            <a:endParaRPr lang="en-US" sz="2000"/>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7.1  /  REFLECT ON YOUR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Show your progress</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5330952" cy="3136392"/>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36208" y="1828800"/>
            <a:ext cx="5330952" cy="3136392"/>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2103120"/>
            <a:ext cx="4709160"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1  SHOW EVIDENCE</a:t>
            </a:r>
          </a:p>
        </p:txBody>
      </p:sp>
      <p:sp>
        <p:nvSpPr>
          <p:cNvPr id="8" name="TextBox 7"/>
          <p:cNvSpPr txBox="1"/>
          <p:nvPr/>
        </p:nvSpPr>
        <p:spPr>
          <a:xfrm>
            <a:off x="886968"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Choose one response. Point to the part that shows your reasoning.</a:t>
            </a:r>
          </a:p>
        </p:txBody>
      </p:sp>
      <p:sp>
        <p:nvSpPr>
          <p:cNvPr id="9" name="TextBox 8"/>
          <p:cNvSpPr txBox="1"/>
          <p:nvPr/>
        </p:nvSpPr>
        <p:spPr>
          <a:xfrm>
            <a:off x="886968"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“My work shows ___ because ___.”</a:t>
            </a:r>
          </a:p>
        </p:txBody>
      </p:sp>
      <p:sp>
        <p:nvSpPr>
          <p:cNvPr id="10" name="TextBox 9"/>
          <p:cNvSpPr txBox="1"/>
          <p:nvPr/>
        </p:nvSpPr>
        <p:spPr>
          <a:xfrm>
            <a:off x="6528816" y="2103120"/>
            <a:ext cx="4700016"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2  CHOOSE A NEXT STEP</a:t>
            </a:r>
          </a:p>
        </p:txBody>
      </p:sp>
      <p:sp>
        <p:nvSpPr>
          <p:cNvPr id="11" name="TextBox 10"/>
          <p:cNvSpPr txBox="1"/>
          <p:nvPr/>
        </p:nvSpPr>
        <p:spPr>
          <a:xfrm>
            <a:off x="6528816"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Name a change you made after feedback—or a question you still have.</a:t>
            </a:r>
          </a:p>
        </p:txBody>
      </p:sp>
      <p:sp>
        <p:nvSpPr>
          <p:cNvPr id="12" name="TextBox 11"/>
          <p:cNvSpPr txBox="1"/>
          <p:nvPr/>
        </p:nvSpPr>
        <p:spPr>
          <a:xfrm>
            <a:off x="6528816"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“Next time, I will ___ to help me ___.”</a:t>
            </a:r>
          </a:p>
        </p:txBody>
      </p:sp>
      <p:sp>
        <p:nvSpPr>
          <p:cNvPr id="13" name="TextBox 12"/>
          <p:cNvSpPr txBox="1"/>
          <p:nvPr/>
        </p:nvSpPr>
        <p:spPr>
          <a:xfrm>
            <a:off x="621792" y="5376672"/>
            <a:ext cx="10954512" cy="685800"/>
          </a:xfrm>
          <a:prstGeom prst="rect">
            <a:avLst/>
          </a:prstGeom>
          <a:noFill/>
        </p:spPr>
        <p:txBody>
          <a:bodyPr wrap="square" lIns="0" rIns="0" tIns="22860" bIns="0">
            <a:spAutoFit/>
          </a:bodyPr>
          <a:lstStyle/>
          <a:p>
            <a:pPr>
              <a:spcAft>
                <a:spcPts val="800"/>
              </a:spcAft>
              <a:defRPr sz="2200" b="1">
                <a:solidFill>
                  <a:srgbClr val="173451"/>
                </a:solidFill>
                <a:latin typeface="Arial"/>
              </a:defRPr>
            </a:pPr>
            <a:r>
              <a:rPr/>
              <a:t>Today’s focus: Interpret positive, negative and zero in context.</a:t>
            </a:r>
          </a:p>
        </p:txBody>
      </p:sp>
      <p:grpSp>
        <p:nvGrpSpPr>
          <p:cNvPr id="14" name="TEACH-7-student-move" descr="TEACH 7 · Cultivate a supportive learning community"/>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CREDIT A CLASSMATE  ·  </a:t>
              </a:r>
              <a:r>
                <a:rPr lang="en-US" sz="1200" dirty="0">
                  <a:solidFill>
                    <a:srgbClr val="13303A"/>
                  </a:solidFill>
                  <a:latin typeface="Arial"/>
                </a:rPr>
                <a:t>Name one classmate whose idea helped you today, and say what they said.</a:t>
              </a:r>
              <a:endParaRPr lang="en-US" sz="1200"/>
            </a:p>
          </p:txBody>
        </p:sp>
      </p:gr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7-1</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TWO MINUTES SOLO  ·  </a:t>
            </a:r>
            <a:r>
              <a:rPr lang="en-US" sz="2000" b="0" dirty="0">
                <a:solidFill>
                  <a:srgbClr val="13303A"/>
                </a:solidFill>
                <a:latin typeface="Arial"/>
              </a:rPr>
              <a:t>Two minutes on your own, then compare. Bring one thing you tried, even if it did not work.</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17 / 51</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7-1</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3-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PROVE IT  ·  </a:t>
            </a:r>
            <a:r>
              <a:rPr lang="en-US" sz="2000" b="0" dirty="0">
                <a:solidFill>
                  <a:srgbClr val="13303A"/>
                </a:solidFill>
                <a:latin typeface="Arial"/>
              </a:rPr>
              <a:t>Find the evidence in the problem that makes your answer right — not just the answer.</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22 / 51</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7-1</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6-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YOU KNOW THE ROUTINE  ·  </a:t>
            </a:r>
            <a:r>
              <a:rPr lang="en-US" sz="2000" b="0" dirty="0">
                <a:solidFill>
                  <a:srgbClr val="13303A"/>
                </a:solidFill>
                <a:latin typeface="Arial"/>
              </a:rPr>
              <a:t>Read  →  plan  →  solve  →  check. Do all four, in that order.</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32 / 51</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7-1</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moves</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48510"/>
            <a:ext cx="100584" cy="623620"/>
          </a:xfrm>
          <a:prstGeom prst="roundRect">
            <a:avLst>
              <a:gd name="adj" fmla="val 50000"/>
            </a:avLst>
          </a:prstGeom>
          <a:solidFill>
            <a:srgbClr val="01708C"/>
          </a:solidFill>
          <a:ln>
            <a:noFill/>
          </a:ln>
        </p:spPr>
        <p:txBody>
          <a:bodyPr/>
          <a:lstStyle/>
          <a:p>
            <a:endParaRPr/>
          </a:p>
        </p:txBody>
      </p:sp>
      <p:sp>
        <p:nvSpPr>
          <p:cNvPr id="9" name="TEACH-5-student-move"/>
          <p:cNvSpPr txBox="1"/>
          <p:nvPr/>
        </p:nvSpPr>
        <p:spPr>
          <a:xfrm>
            <a:off x="1005840" y="2057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RESTATE FIRST  ·  </a:t>
            </a:r>
            <a:r>
              <a:rPr lang="en-US" sz="2000" b="0" dirty="0">
                <a:solidFill>
                  <a:srgbClr val="13303A"/>
                </a:solidFill>
                <a:latin typeface="Arial"/>
              </a:rPr>
              <a:t>Restate your partner’s idea in your own words before you give yours.</a:t>
            </a:r>
          </a:p>
        </p:txBody>
      </p:sp>
      <p:sp>
        <p:nvSpPr>
          <p:cNvPr id="10" name="TEACH-move-card"/>
          <p:cNvSpPr/>
          <p:nvPr/>
        </p:nvSpPr>
        <p:spPr>
          <a:xfrm>
            <a:off x="685800" y="3200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11" name="TEACH-move-rule"/>
          <p:cNvSpPr/>
          <p:nvPr/>
        </p:nvSpPr>
        <p:spPr>
          <a:xfrm>
            <a:off x="731520" y="3391510"/>
            <a:ext cx="100584" cy="623620"/>
          </a:xfrm>
          <a:prstGeom prst="roundRect">
            <a:avLst>
              <a:gd name="adj" fmla="val 50000"/>
            </a:avLst>
          </a:prstGeom>
          <a:solidFill>
            <a:srgbClr val="01708C"/>
          </a:solidFill>
          <a:ln>
            <a:noFill/>
          </a:ln>
        </p:spPr>
        <p:txBody>
          <a:bodyPr/>
          <a:lstStyle/>
          <a:p>
            <a:endParaRPr/>
          </a:p>
        </p:txBody>
      </p:sp>
      <p:sp>
        <p:nvSpPr>
          <p:cNvPr id="12" name="TEACH-5-student-move"/>
          <p:cNvSpPr txBox="1"/>
          <p:nvPr/>
        </p:nvSpPr>
        <p:spPr>
          <a:xfrm>
            <a:off x="1005840" y="3200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TEACH A PARTNER  ·  </a:t>
            </a:r>
            <a:r>
              <a:rPr lang="en-US" sz="2000" b="0" dirty="0">
                <a:solidFill>
                  <a:srgbClr val="13303A"/>
                </a:solidFill>
                <a:latin typeface="Arial"/>
              </a:rPr>
              <a:t>Teach this to someone who missed it. If you can teach it, you know it.</a:t>
            </a:r>
          </a:p>
        </p:txBody>
      </p:sp>
      <p:sp>
        <p:nvSpPr>
          <p:cNvPr id="13"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37 / 51</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7-1</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moves</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48510"/>
            <a:ext cx="100584" cy="623620"/>
          </a:xfrm>
          <a:prstGeom prst="roundRect">
            <a:avLst>
              <a:gd name="adj" fmla="val 50000"/>
            </a:avLst>
          </a:prstGeom>
          <a:solidFill>
            <a:srgbClr val="01708C"/>
          </a:solidFill>
          <a:ln>
            <a:noFill/>
          </a:ln>
        </p:spPr>
        <p:txBody>
          <a:bodyPr/>
          <a:lstStyle/>
          <a:p>
            <a:endParaRPr/>
          </a:p>
        </p:txBody>
      </p:sp>
      <p:sp>
        <p:nvSpPr>
          <p:cNvPr id="9" name="TEACH-4-student-move"/>
          <p:cNvSpPr txBox="1"/>
          <p:nvPr/>
        </p:nvSpPr>
        <p:spPr>
          <a:xfrm>
            <a:off x="1005840" y="2057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SPECIFIC FEEDBACK  ·  </a:t>
            </a:r>
            <a:r>
              <a:rPr lang="en-US" sz="2000" b="0" dirty="0">
                <a:solidFill>
                  <a:srgbClr val="13303A"/>
                </a:solidFill>
                <a:latin typeface="Arial"/>
              </a:rPr>
              <a:t>Trade work. Give one specific comment: “This part is clear because ______.”</a:t>
            </a:r>
          </a:p>
        </p:txBody>
      </p:sp>
      <p:sp>
        <p:nvSpPr>
          <p:cNvPr id="10" name="TEACH-move-card"/>
          <p:cNvSpPr/>
          <p:nvPr/>
        </p:nvSpPr>
        <p:spPr>
          <a:xfrm>
            <a:off x="685800" y="3200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11" name="TEACH-move-rule"/>
          <p:cNvSpPr/>
          <p:nvPr/>
        </p:nvSpPr>
        <p:spPr>
          <a:xfrm>
            <a:off x="731520" y="3391510"/>
            <a:ext cx="100584" cy="623620"/>
          </a:xfrm>
          <a:prstGeom prst="roundRect">
            <a:avLst>
              <a:gd name="adj" fmla="val 50000"/>
            </a:avLst>
          </a:prstGeom>
          <a:solidFill>
            <a:srgbClr val="01708C"/>
          </a:solidFill>
          <a:ln>
            <a:noFill/>
          </a:ln>
        </p:spPr>
        <p:txBody>
          <a:bodyPr/>
          <a:lstStyle/>
          <a:p>
            <a:endParaRPr/>
          </a:p>
        </p:txBody>
      </p:sp>
      <p:sp>
        <p:nvSpPr>
          <p:cNvPr id="12" name="TEACH-2-student-move"/>
          <p:cNvSpPr txBox="1"/>
          <p:nvPr/>
        </p:nvSpPr>
        <p:spPr>
          <a:xfrm>
            <a:off x="1005840" y="3200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YOUR CHOICE  ·  </a:t>
            </a:r>
            <a:r>
              <a:rPr lang="en-US" sz="2000" b="0" dirty="0">
                <a:solidFill>
                  <a:srgbClr val="13303A"/>
                </a:solidFill>
                <a:latin typeface="Arial"/>
              </a:rPr>
              <a:t>You choose how to show this — numbers, words, or a diagram. Make your reasoning visible.</a:t>
            </a:r>
          </a:p>
        </p:txBody>
      </p:sp>
      <p:sp>
        <p:nvSpPr>
          <p:cNvPr id="13" name="TEACH-move-card"/>
          <p:cNvSpPr/>
          <p:nvPr/>
        </p:nvSpPr>
        <p:spPr>
          <a:xfrm>
            <a:off x="685800" y="4343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14" name="TEACH-move-rule"/>
          <p:cNvSpPr/>
          <p:nvPr/>
        </p:nvSpPr>
        <p:spPr>
          <a:xfrm>
            <a:off x="731520" y="4534510"/>
            <a:ext cx="100584" cy="623620"/>
          </a:xfrm>
          <a:prstGeom prst="roundRect">
            <a:avLst>
              <a:gd name="adj" fmla="val 50000"/>
            </a:avLst>
          </a:prstGeom>
          <a:solidFill>
            <a:srgbClr val="01708C"/>
          </a:solidFill>
          <a:ln>
            <a:noFill/>
          </a:ln>
        </p:spPr>
        <p:txBody>
          <a:bodyPr/>
          <a:lstStyle/>
          <a:p>
            <a:endParaRPr/>
          </a:p>
        </p:txBody>
      </p:sp>
      <p:sp>
        <p:nvSpPr>
          <p:cNvPr id="15" name="TEACH-2-student-move"/>
          <p:cNvSpPr txBox="1"/>
          <p:nvPr/>
        </p:nvSpPr>
        <p:spPr>
          <a:xfrm>
            <a:off x="1005840" y="4343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PICK YOUR STRATEGY  ·  </a:t>
            </a:r>
            <a:r>
              <a:rPr lang="en-US" sz="2000" b="0" dirty="0">
                <a:solidFill>
                  <a:srgbClr val="13303A"/>
                </a:solidFill>
                <a:latin typeface="Arial"/>
              </a:rPr>
              <a:t>Choose your path — picture, table, number line, or equation — and be ready to say why you chose it.</a:t>
            </a:r>
          </a:p>
        </p:txBody>
      </p:sp>
      <p:sp>
        <p:nvSpPr>
          <p:cNvPr id="16"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42 / 51</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7-1</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3-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HOW DO YOU KNOW?  ·  </a:t>
            </a:r>
            <a:r>
              <a:rPr lang="en-US" sz="2000" b="0" dirty="0">
                <a:solidFill>
                  <a:srgbClr val="13303A"/>
                </a:solidFill>
                <a:latin typeface="Arial"/>
              </a:rPr>
              <a:t>Ask your partner “How do you know?” Answer by pointing to your own work.</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45 / 51</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Title Slide">
  <a:themeElements>
    <a:clrScheme name="Marquee">
      <a:dk1>
        <a:srgbClr val="000000"/>
      </a:dk1>
      <a:lt1>
        <a:srgbClr val="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1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2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Reveal Math Grade 6 · Lesson 7.1 — Explore Integers and Their Opposites</dc:title>
  <dc:creator>Neft Teacher</dc:creator>
  <cp:lastModifiedBy>Neft Teacher</cp:lastModifiedBy>
  <dcterms:created xsi:type="dcterms:W3CDTF">2026-09-30T12:04:43Z</dcterms:created>
  <dcterms:modified xsi:type="dcterms:W3CDTF">2026-09-30T12:04:43Z</dcterms:modified>
</cp:coreProperties>
</file>