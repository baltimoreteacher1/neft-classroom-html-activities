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8" r:id="rId21"/>
    <p:sldId id="269" r:id="rId22"/>
    <p:sldId id="256" r:id="rId9"/>
    <p:sldId id="257" r:id="rId10"/>
    <p:sldId id="260" r:id="rId13"/>
    <p:sldId id="327" r:id="rId71"/>
    <p:sldId id="326" r:id="rId46"/>
    <p:sldId id="325" r:id="rId32"/>
    <p:sldId id="324" r:id="rId34"/>
    <p:sldId id="323" r:id="rId43"/>
    <p:sldId id="322" r:id="rId42"/>
    <p:sldId id="321" r:id="rId41"/>
    <p:sldId id="320" r:id="rId40"/>
    <p:sldId id="261" r:id="rId14"/>
    <p:sldId id="270" r:id="rId23"/>
    <p:sldId id="272" r:id="rId25"/>
    <p:sldId id="276" r:id="rId29"/>
    <p:sldId id="280" r:id="rId33"/>
    <p:sldId id="283" r:id="rId36"/>
    <p:sldId id="285" r:id="rId38"/>
    <p:sldId id="291" r:id="rId44"/>
    <p:sldId id="331" r:id="rId75"/>
    <p:sldId id="328" r:id="rId72"/>
    <p:sldId id="319" r:id="rId39"/>
    <p:sldId id="315" r:id="rId69"/>
    <p:sldId id="332" r:id="rId76"/>
    <p:sldId id="316" r:id="rId70"/>
    <p:sldId id="292" r:id="rId45"/>
    <p:sldId id="294" r:id="rId47"/>
    <p:sldId id="295" r:id="rId48"/>
    <p:sldId id="297" r:id="rId50"/>
    <p:sldId id="303" r:id="rId56"/>
    <p:sldId id="304" r:id="rId57"/>
    <p:sldId id="306" r:id="rId59"/>
    <p:sldId id="311" r:id="rId64"/>
    <p:sldId id="329" r:id="rId73"/>
    <p:sldId id="318" r:id="rId35"/>
    <p:sldId id="312" r:id="rId65"/>
    <p:sldId id="313" r:id="rId66"/>
    <p:sldId id="314" r:id="rId67"/>
    <p:sldId id="317" r:id="rId37"/>
    <p:sldId id="330" r:id="rId74"/>
  </p:sldIdLst>
  <p:sldSz cy="6858000" cx="12192000"/>
  <p:notesSz cx="7010400" cy="9236075"/>
  <p:embeddedFontLst>
    <p:embeddedFont>
      <p:font typeface="Cambria Math"/>
      <p:regular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16.xml"/><Relationship Id="rId25" Type="http://schemas.openxmlformats.org/officeDocument/2006/relationships/slide" Target="slides/slide17.xml"/><Relationship Id="rId29" Type="http://schemas.openxmlformats.org/officeDocument/2006/relationships/slide" Target="slides/slide18.xml"/><Relationship Id="rId32" Type="http://schemas.openxmlformats.org/officeDocument/2006/relationships/slide" Target="slides/slide9.xml"/><Relationship Id="rId33" Type="http://schemas.openxmlformats.org/officeDocument/2006/relationships/slide" Target="slides/slide19.xml"/><Relationship Id="rId34" Type="http://schemas.openxmlformats.org/officeDocument/2006/relationships/slide" Target="slides/slide10.xml"/><Relationship Id="rId35" Type="http://schemas.openxmlformats.org/officeDocument/2006/relationships/slide" Target="slides/slide36.xml"/><Relationship Id="rId36" Type="http://schemas.openxmlformats.org/officeDocument/2006/relationships/slide" Target="slides/slide20.xml"/><Relationship Id="rId37" Type="http://schemas.openxmlformats.org/officeDocument/2006/relationships/slide" Target="slides/slide40.xml"/><Relationship Id="rId38" Type="http://schemas.openxmlformats.org/officeDocument/2006/relationships/slide" Target="slides/slide21.xml"/><Relationship Id="rId39" Type="http://schemas.openxmlformats.org/officeDocument/2006/relationships/slide" Target="slides/slide24.xml"/><Relationship Id="rId40" Type="http://schemas.openxmlformats.org/officeDocument/2006/relationships/slide" Target="slides/slide14.xml"/><Relationship Id="rId41" Type="http://schemas.openxmlformats.org/officeDocument/2006/relationships/slide" Target="slides/slide13.xml"/><Relationship Id="rId42" Type="http://schemas.openxmlformats.org/officeDocument/2006/relationships/slide" Target="slides/slide12.xml"/><Relationship Id="rId43" Type="http://schemas.openxmlformats.org/officeDocument/2006/relationships/slide" Target="slides/slide11.xml"/><Relationship Id="rId44" Type="http://schemas.openxmlformats.org/officeDocument/2006/relationships/slide" Target="slides/slide22.xml"/><Relationship Id="rId45" Type="http://schemas.openxmlformats.org/officeDocument/2006/relationships/slide" Target="slides/slide27.xml"/><Relationship Id="rId46" Type="http://schemas.openxmlformats.org/officeDocument/2006/relationships/slide" Target="slides/slide8.xml"/><Relationship Id="rId47" Type="http://schemas.openxmlformats.org/officeDocument/2006/relationships/slide" Target="slides/slide28.xml"/><Relationship Id="rId48" Type="http://schemas.openxmlformats.org/officeDocument/2006/relationships/slide" Target="slides/slide29.xml"/><Relationship Id="rId50"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9" Type="http://schemas.openxmlformats.org/officeDocument/2006/relationships/slide" Target="slides/slide33.xml"/><Relationship Id="rId64" Type="http://schemas.openxmlformats.org/officeDocument/2006/relationships/slide" Target="slides/slide34.xml"/><Relationship Id="rId65"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8" Type="http://schemas.openxmlformats.org/officeDocument/2006/relationships/font" Target="fonts/CambriaMath-regular.fntdata"/><Relationship Id="rId69" Type="http://schemas.openxmlformats.org/officeDocument/2006/relationships/slide" Target="slides/slide25.xml"/><Relationship Id="rId70" Type="http://schemas.openxmlformats.org/officeDocument/2006/relationships/slide" Target="slides/slide26.xml"/><Relationship Id="rId71" Type="http://schemas.openxmlformats.org/officeDocument/2006/relationships/slide" Target="slides/slide7.xml"/><Relationship Id="rId72" Type="http://schemas.openxmlformats.org/officeDocument/2006/relationships/slide" Target="slides/slide23.xml"/><Relationship Id="rId73" Type="http://schemas.openxmlformats.org/officeDocument/2006/relationships/slide" Target="slides/slide35.xml"/><Relationship Id="rId74" Type="http://schemas.openxmlformats.org/officeDocument/2006/relationships/slide" Target="slides/slide41.xml"/><Relationship Id="rId75" Type="http://schemas.openxmlformats.org/officeDocument/2006/relationships/slide" Target="slides/slide42.xml"/><Relationship Id="rId76"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4 | DIVIDER</a:t>
            </a:r>
          </a:p>
          <a:p xmlns:a="http://schemas.openxmlformats.org/drawingml/2006/main">
            <a:pPr>
              <a:buNone/>
            </a:pPr>
            <a:r>
              <a:rPr lang="en-US" sz="1100"/>
              <a:t>Focus on the existing task: Divide Decimals Using an Algorithm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8   2) 21   3) 60   4) 2.4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create an equivalent division with a whole-number divisor; preserve place value; check the quotient. Review recent work and today’s warm-up to choose flexible groups and access supports; do not infer needs from identity or perceived ability. Use the existing lesson tasks and stated standards.</a:t>
            </a:r>
          </a:p>
          <a:p>
            <a:pPr>
              <a:buNone/>
            </a:pPr>
            <a:r>
              <a:rPr lang="en-US" sz="1100"/>
              <a:t>Anticipate: moving the decimal point in only the divisor. If observed, annotate the same power-of-ten scaling on both original numbers.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6 | GOAL</a:t>
            </a:r>
          </a:p>
          <a:p xmlns:a="http://schemas.openxmlformats.org/drawingml/2006/main">
            <a:pPr>
              <a:buNone/>
            </a:pPr>
            <a:r>
              <a:rPr lang="en-US" sz="1100"/>
              <a:t>Focus on the existing task: Today’s Objectives Divide Decimals Using an Algorithm…</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create an equivalent division with a whole-number divisor; preserve place value; check the quotient.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15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7" name="Google Shape;497;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0" name="Google Shape;520;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16 | CURIOUS</a:t>
            </a:r>
          </a:p>
          <a:p xmlns:a="http://schemas.openxmlformats.org/drawingml/2006/main">
            <a:pPr>
              <a:buNone/>
            </a:pPr>
            <a:r>
              <a:rPr lang="en-US" sz="1100"/>
              <a:t>Focus on the existing task: Be Curious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must both numbers be multiplied by the same power of ten? How can multiplication check the quotient?” Wait for evidence, invite another pathway, and have a student ask a follow-up question. Do not replace students’ reasoning with a sequence of leading steps.</a:t>
            </a:r>
          </a:p>
        </p:txBody>
      </p:sp>
      <p:sp>
        <p:nvSpPr>
          <p:cNvPr id="544" name="Google Shape;544;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17 | TASK</a:t>
            </a:r>
          </a:p>
          <a:p xmlns:a="http://schemas.openxmlformats.org/drawingml/2006/main">
            <a:pPr>
              <a:buNone/>
            </a:pPr>
            <a:r>
              <a:rPr lang="en-US" sz="1100"/>
              <a:t>Focus on the existing task: Textbook Purchases A school bought new math workbooks as shown in the order form. What is the cost of each workbook?</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567" name="Google Shape;567;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18 | REVEAL</a:t>
            </a:r>
          </a:p>
          <a:p xmlns:a="http://schemas.openxmlformats.org/drawingml/2006/main">
            <a:pPr>
              <a:buNone/>
            </a:pPr>
            <a:r>
              <a:rPr lang="en-US" sz="1100"/>
              <a:t>Focus on the existing task: Reveal: We can use an algorithm to divide. What is an efficient method for division that you can use?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an algorithm to divide.</a:t>
            </a:r>
          </a:p>
          <a:p>
            <a:pPr indent="0" lvl="0" marL="0" rtl="0" algn="l">
              <a:lnSpc>
                <a:spcPct val="100000"/>
              </a:lnSpc>
              <a:spcBef>
                <a:spcPts val="0"/>
              </a:spcBef>
              <a:spcAft>
                <a:spcPts val="0"/>
              </a:spcAft>
              <a:buSzPts val="1400"/>
              <a:buNone/>
            </a:pPr>
            <a:r>
              <a:t>UIFR: TEACH 3 · TEACH 4.</a:t>
            </a:r>
          </a:p>
        </p:txBody>
      </p:sp>
      <p:sp>
        <p:nvSpPr>
          <p:cNvPr id="598" name="Google Shape;598;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19 | COLLABORATE</a:t>
            </a:r>
          </a:p>
          <a:p xmlns:a="http://schemas.openxmlformats.org/drawingml/2006/main">
            <a:pPr>
              <a:buNone/>
            </a:pPr>
            <a:r>
              <a:rPr lang="en-US" sz="1100"/>
              <a:t>Focus on the existing task: 394.50 ÷ 75 = w With which place value should you begin when using the division algorithm?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moving the decimal point in only the divisor. If it appears, annotate the same power-of-ten scaling on both original numbers; then ask the student to revise the same response and explain the change. If evidence is secure, have students compare a second valid pathway or state why their approach works. Choose the next step from the responses, not a preset pace.</a:t>
            </a:r>
          </a:p>
        </p:txBody>
      </p:sp>
      <p:sp>
        <p:nvSpPr>
          <p:cNvPr id="632" name="Google Shape;632;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20 | REVEAL</a:t>
            </a:r>
          </a:p>
          <a:p xmlns:a="http://schemas.openxmlformats.org/drawingml/2006/main">
            <a:pPr>
              <a:buNone/>
            </a:pPr>
            <a:r>
              <a:rPr lang="en-US" sz="1100"/>
              <a:t>Focus on the existing task: Let’s start by dividing the ones. There are five 75s in 394. When using the algorithm for division, what should you do once you have subtracted the product, 375?</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preserve place value.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should bring down the digit in the next place value.</a:t>
            </a:r>
          </a:p>
          <a:p>
            <a:pPr indent="0" lvl="0" marL="0" rtl="0" algn="l">
              <a:lnSpc>
                <a:spcPct val="100000"/>
              </a:lnSpc>
              <a:spcBef>
                <a:spcPts val="0"/>
              </a:spcBef>
              <a:spcAft>
                <a:spcPts val="0"/>
              </a:spcAft>
              <a:buSzPts val="1400"/>
              <a:buNone/>
            </a:pPr>
            <a:r>
              <a:t>UIFR: TEACH 3 · TEACH 4.</a:t>
            </a:r>
          </a:p>
        </p:txBody>
      </p:sp>
      <p:sp>
        <p:nvSpPr>
          <p:cNvPr id="659" name="Google Shape;659;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21 | REVEAL</a:t>
            </a:r>
          </a:p>
          <a:p xmlns:a="http://schemas.openxmlformats.org/drawingml/2006/main">
            <a:pPr>
              <a:buNone/>
            </a:pPr>
            <a:r>
              <a:rPr lang="en-US" sz="1100"/>
              <a:t>Focus on the existing task: Let’s bring down the digit in the next place value. Regroup the ones as tenths to continue the division. There are two 75s in 195. How can you address the remainder?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preserve place value.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annex a zero to the hundredths place.</a:t>
            </a:r>
          </a:p>
          <a:p>
            <a:pPr indent="0" lvl="0" marL="0" rtl="0" algn="l">
              <a:lnSpc>
                <a:spcPct val="100000"/>
              </a:lnSpc>
              <a:spcBef>
                <a:spcPts val="0"/>
              </a:spcBef>
              <a:spcAft>
                <a:spcPts val="0"/>
              </a:spcAft>
              <a:buSzPts val="1400"/>
              <a:buNone/>
            </a:pPr>
            <a:r>
              <a:t>UIFR: TEACH 3 · TEACH 4.</a:t>
            </a:r>
          </a:p>
        </p:txBody>
      </p:sp>
      <p:sp>
        <p:nvSpPr>
          <p:cNvPr id="676" name="Google Shape;676;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22 | PRACTICE</a:t>
            </a:r>
          </a:p>
          <a:p xmlns:a="http://schemas.openxmlformats.org/drawingml/2006/main">
            <a:pPr>
              <a:buNone/>
            </a:pPr>
            <a:r>
              <a:rPr lang="en-US" sz="1100"/>
              <a:t>Focus on the existing task: Let’s Explore More When dividing a decimal using an algorithm, what can you do when there is a remainder?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check the quotient.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28" name="Google Shape;728;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27 | DIVIDER</a:t>
            </a:r>
          </a:p>
          <a:p xmlns:a="http://schemas.openxmlformats.org/drawingml/2006/main">
            <a:pPr>
              <a:buNone/>
            </a:pPr>
            <a:r>
              <a:rPr lang="en-US" sz="1100"/>
              <a:t>Focus on the existing task: Divide Decimals Using an Algorithm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39" name="Google Shape;739;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28 | CURIOUS</a:t>
            </a:r>
          </a:p>
          <a:p xmlns:a="http://schemas.openxmlformats.org/drawingml/2006/main">
            <a:pPr>
              <a:buNone/>
            </a:pPr>
            <a:r>
              <a:rPr lang="en-US" sz="1100"/>
              <a:t>Focus on the existing task: Be Curious What math do you see in this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57" name="Google Shape;757;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29 | WORKED</a:t>
            </a:r>
          </a:p>
          <a:p xmlns:a="http://schemas.openxmlformats.org/drawingml/2006/main">
            <a:pPr>
              <a:buNone/>
            </a:pPr>
            <a:r>
              <a:rPr lang="en-US" sz="1100"/>
              <a:t>Focus on the existing task: Building Bookshelves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9" name="Google Shape;769;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30 | REVEAL</a:t>
            </a:r>
          </a:p>
          <a:p xmlns:a="http://schemas.openxmlformats.org/drawingml/2006/main">
            <a:pPr>
              <a:buNone/>
            </a:pPr>
            <a:r>
              <a:rPr lang="en-US" sz="1100"/>
              <a:t>Focus on the existing task: How can you represent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division equation to represent the problem.</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must both numbers be multiplied by the same power of ten? How can multiplication check the quotient?” Wait for evidence, invite another pathway, and have a student ask a follow-up question. Do not replace students’ reasoning with a sequence of leading steps.</a:t>
            </a:r>
          </a:p>
        </p:txBody>
      </p:sp>
      <p:sp>
        <p:nvSpPr>
          <p:cNvPr id="786" name="Google Shape;786;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31 | REVEAL</a:t>
            </a:r>
          </a:p>
          <a:p xmlns:a="http://schemas.openxmlformats.org/drawingml/2006/main">
            <a:pPr>
              <a:buNone/>
            </a:pPr>
            <a:r>
              <a:rPr lang="en-US" sz="1100"/>
              <a:t>Focus on the existing task: Use an algorithm to find the quotient. n = 112.5 ÷ 25 What is the quotient?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the quotient.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38" name="Google Shape;838;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32 | REVEAL</a:t>
            </a:r>
          </a:p>
          <a:p xmlns:a="http://schemas.openxmlformats.org/drawingml/2006/main">
            <a:pPr>
              <a:buNone/>
            </a:pPr>
            <a:r>
              <a:rPr lang="en-US" sz="1100"/>
              <a:t>Focus on the existing task: What is the quotient?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check the quotient.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4.5</a:t>
            </a:r>
          </a:p>
          <a:p>
            <a:pPr indent="0" lvl="0" marL="0" rtl="0" algn="l">
              <a:lnSpc>
                <a:spcPct val="100000"/>
              </a:lnSpc>
              <a:spcBef>
                <a:spcPts val="0"/>
              </a:spcBef>
              <a:spcAft>
                <a:spcPts val="0"/>
              </a:spcAft>
              <a:buSzPts val="1400"/>
              <a:buNone/>
            </a:pPr>
            <a:r>
              <a:t>UIFR: TEACH 3 · TEACH 4.</a:t>
            </a:r>
          </a:p>
        </p:txBody>
      </p:sp>
      <p:sp>
        <p:nvSpPr>
          <p:cNvPr id="847" name="Google Shape;847;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33 | TASK</a:t>
            </a:r>
          </a:p>
          <a:p xmlns:a="http://schemas.openxmlformats.org/drawingml/2006/main">
            <a:pPr>
              <a:buNone/>
            </a:pPr>
            <a:r>
              <a:rPr lang="en-US" sz="1100"/>
              <a:t>Focus on the existing task: Recognizing Repetition What about the process is repeating?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65" name="Google Shape;865;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34 | PRACTICE</a:t>
            </a:r>
          </a:p>
          <a:p xmlns:a="http://schemas.openxmlformats.org/drawingml/2006/main">
            <a:pPr>
              <a:buNone/>
            </a:pPr>
            <a:r>
              <a:rPr lang="en-US" sz="1100"/>
              <a:t>Focus on the existing task: Let’s Explore More Workspace Workspace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moving the decimal point in only the divisor. If it appears, annotate the same power-of-ten scaling on both original numbers; then ask the student to revise the same response and explain the change. If evidence is secure, have students compare a second valid pathway or state why their approach works. Choose the next step from the responses, not a preset pace.</a:t>
            </a:r>
          </a:p>
        </p:txBody>
      </p:sp>
      <p:sp>
        <p:nvSpPr>
          <p:cNvPr id="915" name="Google Shape;915;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37 | SUMMARIZE</a:t>
            </a:r>
          </a:p>
          <a:p xmlns:a="http://schemas.openxmlformats.org/drawingml/2006/main">
            <a:pPr>
              <a:buNone/>
            </a:pPr>
            <a:r>
              <a:rPr lang="en-US" sz="1100"/>
              <a:t>Focus on the existing task: You can use an algorithm to divide multi-digit decimal numbers. When the dividend is a decimal and the divisor a whole number, place the…</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26" name="Google Shape;926;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38 | APPLY</a:t>
            </a:r>
          </a:p>
          <a:p xmlns:a="http://schemas.openxmlformats.org/drawingml/2006/main">
            <a:pPr>
              <a:buNone/>
            </a:pPr>
            <a:r>
              <a:rPr lang="en-US" sz="1100"/>
              <a:t>Focus on the existing task: Apply: Running a Marathon Evelyn is training to run a marathon on the path shown. Evelyn expects that she will need at least 4 hours to…</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create an equivalent division with a whole-number divisor; preserve place value; check the quotient. Respond with one specific next step tied to the work. Students revise and annotate what changed, then identify a criterion they can now demonstrate and one they still need to practice.</a:t>
            </a:r>
          </a:p>
        </p:txBody>
      </p:sp>
      <p:sp>
        <p:nvSpPr>
          <p:cNvPr id="936" name="Google Shape;936;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2.7, slide 39 | REFLECTION</a:t>
            </a:r>
          </a:p>
          <a:p xmlns:a="http://schemas.openxmlformats.org/drawingml/2006/main">
            <a:pPr>
              <a:buNone/>
            </a:pPr>
            <a:r>
              <a:rPr lang="en-US" sz="1100"/>
              <a:t>Focus on the existing task: Learning Targets I can divide a multi-digit decimal by a whole number using an algorithm. I can divide a multi-digit decimal by a decimal…</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44" name="Google Shape;944;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2.7, slide 25 | WARMUP</a:t>
            </a:r>
          </a:p>
          <a:p xmlns:a="http://schemas.openxmlformats.org/drawingml/2006/main">
            <a:pPr>
              <a:buNone/>
            </a:pPr>
            <a:r>
              <a:rPr lang="en-US" sz="1100"/>
              <a:t>Focus on the existing task: A 0.8 B 8 C 80 D 6 3 What is 7.2 ÷ 0.09?</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create an equivalent division with a whole-number divisor; preserve place value; check the quotient. Ask: “Which part of your work would show this?” Revisit that evidence after the task; a confidence rating alone is not evidence of understanding.</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2.7, slide 26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40 | REFLECTION</a:t>
            </a:r>
          </a:p>
          <a:p xmlns:a="http://schemas.openxmlformats.org/drawingml/2006/main">
            <a:pPr>
              <a:buNone/>
            </a:pPr>
            <a:r>
              <a:rPr lang="en-US" sz="1100"/>
              <a:t>Focus on the existing task: Learning Targets I can divide a multi-digit decimal by a whole number using an algorithm. I can divide a multi-digit decimal by a decimal…</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moving the decimal point in only the divisor.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annotate the same power-of-ten scaling on both original numbers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7 | PRIOR_INSERT</a:t>
            </a:r>
          </a:p>
          <a:p xmlns:a="http://schemas.openxmlformats.org/drawingml/2006/main">
            <a:pPr>
              <a:buNone/>
            </a:pPr>
            <a:r>
              <a:rPr lang="en-US" sz="1100"/>
              <a:t>Focus on the existing task: LESSON 2.7 / OUR LEARNING What will show your learning?</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8 | VOCAB</a:t>
            </a:r>
          </a:p>
          <a:p xmlns:a="http://schemas.openxmlformats.org/drawingml/2006/main">
            <a:pPr>
              <a:buNone/>
            </a:pPr>
            <a:r>
              <a:rPr lang="en-US" sz="1100"/>
              <a:t>Focus on the existing task: Vocabulary 1 of 6 Divide Decimals Find a quotient with…</a:t>
            </a:r>
          </a:p>
          <a:p xmlns:a="http://schemas.openxmlformats.org/drawingml/2006/main">
            <a:pPr>
              <a:buNone/>
            </a:pPr>
            <a:r>
              <a:rPr lang="en-US" sz="1100"/>
              <a:t>ASK (T1/3/5): Where does “Divide Decimals”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9 | VOCAB</a:t>
            </a:r>
          </a:p>
          <a:p xmlns:a="http://schemas.openxmlformats.org/drawingml/2006/main">
            <a:pPr>
              <a:buNone/>
            </a:pPr>
            <a:r>
              <a:rPr lang="en-US" sz="1100"/>
              <a:t>Focus on the existing task: Vocabulary 2 of 6 Dividend The total number being…</a:t>
            </a:r>
          </a:p>
          <a:p xmlns:a="http://schemas.openxmlformats.org/drawingml/2006/main">
            <a:pPr>
              <a:buNone/>
            </a:pPr>
            <a:r>
              <a:rPr lang="en-US" sz="1100"/>
              <a:t>ASK (T1/3/5): Where does “Dividend”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10 | VOCAB</a:t>
            </a:r>
          </a:p>
          <a:p xmlns:a="http://schemas.openxmlformats.org/drawingml/2006/main">
            <a:pPr>
              <a:buNone/>
            </a:pPr>
            <a:r>
              <a:rPr lang="en-US" sz="1100"/>
              <a:t>Focus on the existing task: Vocabulary 3 of 6 Divisor The number of equal groups…</a:t>
            </a:r>
          </a:p>
          <a:p xmlns:a="http://schemas.openxmlformats.org/drawingml/2006/main">
            <a:pPr>
              <a:buNone/>
            </a:pPr>
            <a:r>
              <a:rPr lang="en-US" sz="1100"/>
              <a:t>ASK (T1/3/5): Where does “Divisor”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11 | VOCAB</a:t>
            </a:r>
          </a:p>
          <a:p xmlns:a="http://schemas.openxmlformats.org/drawingml/2006/main">
            <a:pPr>
              <a:buNone/>
            </a:pPr>
            <a:r>
              <a:rPr lang="en-US" sz="1100"/>
              <a:t>Focus on the existing task: Vocabulary 4 of 6 Quotient The answer when you divide.…</a:t>
            </a:r>
          </a:p>
          <a:p xmlns:a="http://schemas.openxmlformats.org/drawingml/2006/main">
            <a:pPr>
              <a:buNone/>
            </a:pPr>
            <a:r>
              <a:rPr lang="en-US" sz="1100"/>
              <a:t>ASK (T1/3/5): Where does “Quotient”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12 | VOCAB</a:t>
            </a:r>
          </a:p>
          <a:p xmlns:a="http://schemas.openxmlformats.org/drawingml/2006/main">
            <a:pPr>
              <a:buNone/>
            </a:pPr>
            <a:r>
              <a:rPr lang="en-US" sz="1100"/>
              <a:t>Focus on the existing task: Vocabulary 5 of 6 Decimal Division Algorithm The steps…</a:t>
            </a:r>
          </a:p>
          <a:p xmlns:a="http://schemas.openxmlformats.org/drawingml/2006/main">
            <a:pPr>
              <a:buNone/>
            </a:pPr>
            <a:r>
              <a:rPr lang="en-US" sz="1100"/>
              <a:t>ASK (T1/3/5): Where does “Decimal Division Algorithm”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13 | VOCAB</a:t>
            </a:r>
          </a:p>
          <a:p xmlns:a="http://schemas.openxmlformats.org/drawingml/2006/main">
            <a:pPr>
              <a:buNone/>
            </a:pPr>
            <a:r>
              <a:rPr lang="en-US" sz="1100"/>
              <a:t>Focus on the existing task: Vocabulary 6 of 6 Equivalent division Multiplying both…</a:t>
            </a:r>
          </a:p>
          <a:p xmlns:a="http://schemas.openxmlformats.org/drawingml/2006/main">
            <a:pPr>
              <a:buNone/>
            </a:pPr>
            <a:r>
              <a:rPr lang="en-US" sz="1100"/>
              <a:t>ASK (T1/3/5): Where does “Equivalent division”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14 | CURIOUS</a:t>
            </a:r>
          </a:p>
          <a:p xmlns:a="http://schemas.openxmlformats.org/drawingml/2006/main">
            <a:pPr>
              <a:buNone/>
            </a:pPr>
            <a:r>
              <a:rPr lang="en-US" sz="1100"/>
              <a:t>Focus on the existing task: Be Curious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23 | PRIOR_INSERT</a:t>
            </a:r>
          </a:p>
          <a:p xmlns:a="http://schemas.openxmlformats.org/drawingml/2006/main">
            <a:pPr>
              <a:buNone/>
            </a:pPr>
            <a:r>
              <a:rPr lang="en-US" sz="1100"/>
              <a:t>Focus on the existing task: How can multiplication check the quotient?</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24 | REVEAL</a:t>
            </a:r>
          </a:p>
          <a:p xmlns:a="http://schemas.openxmlformats.org/drawingml/2006/main">
            <a:pPr>
              <a:buNone/>
            </a:pPr>
            <a:r>
              <a:rPr lang="en-US" sz="1100"/>
              <a:t>Focus on the existing task: A school bought new math workbooks as shown in the order form. What is the cost of each workbook?</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35 | PRIOR_INSERT</a:t>
            </a:r>
          </a:p>
          <a:p xmlns:a="http://schemas.openxmlformats.org/drawingml/2006/main">
            <a:pPr>
              <a:buNone/>
            </a:pPr>
            <a:r>
              <a:rPr lang="en-US" sz="1100"/>
              <a:t>Focus on the existing task: LESSON 2.7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36 | COLLABORATE</a:t>
            </a:r>
          </a:p>
          <a:p xmlns:a="http://schemas.openxmlformats.org/drawingml/2006/main">
            <a:pPr>
              <a:buNone/>
            </a:pPr>
            <a:r>
              <a:rPr lang="en-US" sz="1100"/>
              <a:t>Focus on the existing task: How can you make the divisor a whole number?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create an equivalent division with a whole-number divisor. Ask which feature of their work supports the claim.</a:t>
            </a:r>
          </a:p>
          <a:p xmlns:a="http://schemas.openxmlformats.org/drawingml/2006/main">
            <a:pPr>
              <a:buNone/>
            </a:pPr>
            <a:r>
              <a:rPr lang="en-US" sz="1100"/>
              <a:t>RESPOND: If this task shows the lesson misconception—moving the decimal point in only the divisor—annotate the same power-of-ten scaling on both original numbers.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2.7, slide 41 | PRIOR_INSERT</a:t>
            </a:r>
          </a:p>
          <a:p xmlns:a="http://schemas.openxmlformats.org/drawingml/2006/main">
            <a:pPr>
              <a:buNone/>
            </a:pPr>
            <a:r>
              <a:rPr lang="en-US" sz="1100"/>
              <a:t>Focus on the existing task: LESSON 2.7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create an equivalent division with a whole-number divisor; preserve place value; check the quotient.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Divide Decimals Using an Algorithm</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Divide Decimals Using an Algorithm</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notesSlide" Target="../notesSlides/notesSlide7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 Id="rId3" Type="http://schemas.openxmlformats.org/officeDocument/2006/relationships/notesSlide" Target="../notesSlides/notesSlide7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1.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2-7 · Divide Decimals Using an Algorithm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72 ÷ 9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84 ÷ 4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0.6 × 100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4.8 ÷ 2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43</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02" name="Google Shape;50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503" name="Google Shape;50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5" name="Google Shape;505;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1: Math Words</a:t>
            </a:r>
            <a:endParaRPr/>
          </a:p>
        </p:txBody>
      </p:sp>
      <p:sp>
        <p:nvSpPr>
          <p:cNvPr id="506" name="Google Shape;506;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08" name="Google Shape;508;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1" name="Google Shape;511;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Divide Decimals</a:t>
            </a:r>
            <a:endParaRPr/>
          </a:p>
        </p:txBody>
      </p:sp>
      <p:sp>
        <p:nvSpPr>
          <p:cNvPr id="512" name="Google Shape;512;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 xml:space="preserve">Find a </a:t>
            </a:r>
            <a:r>
              <a:rPr b="1" i="0" lang="en-US" sz="1450" u="none" cap="none" strike="noStrike">
                <a:solidFill>
                  <a:srgbClr val="475569"/>
                </a:solidFill>
                <a:latin typeface="Arial"/>
                <a:ea typeface="Arial"/>
                <a:cs typeface="Arial"/>
                <a:sym typeface="Arial"/>
              </a:rPr>
              <a:t xml:space="preserve">quotient</a:t>
            </a:r>
            <a:r>
              <a:rPr b="0" i="0" lang="en-US" sz="1450" u="none" cap="none" strike="noStrike">
                <a:solidFill>
                  <a:srgbClr val="475569"/>
                </a:solidFill>
                <a:latin typeface="Arial"/>
                <a:ea typeface="Arial"/>
                <a:cs typeface="Arial"/>
                <a:sym typeface="Arial"/>
              </a:rPr>
              <a:t xml:space="preserve"> with decimals by sliding both decimal points right</a:t>
            </a:r>
            <a:endParaRPr/>
          </a:p>
        </p:txBody>
      </p:sp>
      <p:sp>
        <p:nvSpPr>
          <p:cNvPr id="513" name="Google Shape;513;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6" name="Google Shape;516;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4223A"/>
                </a:solidFill>
                <a:latin typeface="Arial"/>
                <a:ea typeface="Arial"/>
                <a:cs typeface="Arial"/>
                <a:sym typeface="Arial"/>
              </a:rPr>
              <a:t>Decimal Division Algorithm</a:t>
            </a:r>
            <a:endParaRPr/>
          </a:p>
        </p:txBody>
      </p:sp>
      <p:sp>
        <p:nvSpPr>
          <p:cNvPr id="517" name="Google Shape;517;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US" sz="1450" u="none" cap="none" strike="noStrike">
                <a:solidFill>
                  <a:srgbClr val="475569"/>
                </a:solidFill>
                <a:latin typeface="Arial"/>
                <a:ea typeface="Arial"/>
                <a:cs typeface="Arial"/>
                <a:sym typeface="Arial"/>
              </a:rPr>
              <a:t>The steps for dividing decimals</a:t>
            </a:r>
            <a:endParaRPr/>
          </a:p>
        </p:txBody>
      </p:sp>
      <p:sp>
        <p:nvSpPr>
          <p:cNvPr id="5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43</a:t>
            </a:r>
          </a:p>
        </p:txBody>
      </p:sp>
      <p:sp xmlns:p="http://schemas.openxmlformats.org/presentationml/2006/main" xmlns:a="http://schemas.openxmlformats.org/drawingml/2006/main">
        <p:nvSpPr>
          <p:cNvPr id="519" name="TEACH-embedded-student-prompt" descr="Student thinking and response directions"/>
          <p:cNvSpPr txBox="1"/>
          <p:nvPr/>
        </p:nvSpPr>
        <p:spPr>
          <a:xfrm>
            <a:off x="594360" y="49926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 check and improve your explanation.</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5" name="Google Shape;525;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526" name="Google Shape;526;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8" name="Google Shape;528;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29" name="Google Shape;529;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1" name="Google Shape;531;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Decimal Division Algorithm</a:t>
            </a:r>
            <a:endParaRPr/>
          </a:p>
        </p:txBody>
      </p:sp>
      <p:sp>
        <p:nvSpPr>
          <p:cNvPr id="533" name="Google Shape;533;p53"/>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35" name="Google Shape;535;p53"/>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Make the divisor a whole number: </a:t>
            </a:r>
            <a:r>
              <a:rPr b="0" i="0" lang="en-US" sz="1600" u="none" cap="none" strike="noStrike">
                <a:solidFill>
                  <a:srgbClr val="14223A"/>
                </a:solidFill>
                <a:latin typeface="Arial"/>
                <a:ea typeface="Arial"/>
                <a:cs typeface="Arial"/>
                <a:sym typeface="Arial"/>
              </a:rPr>
              <a:t xml:space="preserve">slide its </a:t>
            </a:r>
            <a:r>
              <a:rPr b="1" i="0" lang="en-US" sz="1600" u="none" cap="none" strike="noStrike">
                <a:solidFill>
                  <a:srgbClr val="14223A"/>
                </a:solidFill>
                <a:latin typeface="Arial"/>
                <a:ea typeface="Arial"/>
                <a:cs typeface="Arial"/>
                <a:sym typeface="Arial"/>
              </a:rPr>
              <a:t xml:space="preserve">decimal point</a:t>
            </a:r>
            <a:r>
              <a:rPr b="0" i="0" lang="en-US" sz="1600" u="none" cap="none" strike="noStrike">
                <a:solidFill>
                  <a:srgbClr val="14223A"/>
                </a:solidFill>
                <a:latin typeface="Arial"/>
                <a:ea typeface="Arial"/>
                <a:cs typeface="Arial"/>
                <a:sym typeface="Arial"/>
              </a:rPr>
              <a:t xml:space="preserve"> to the right</a:t>
            </a:r>
            <a:endParaRPr/>
          </a:p>
        </p:txBody>
      </p:sp>
      <p:sp>
        <p:nvSpPr>
          <p:cNvPr id="536" name="Google Shape;536;p53"/>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Slide the </a:t>
            </a:r>
            <a:r>
              <a:rPr b="1" i="0" lang="en-US" sz="1600" u="none" cap="none" strike="noStrike">
                <a:solidFill>
                  <a:srgbClr val="14223A"/>
                </a:solidFill>
                <a:latin typeface="Arial"/>
                <a:ea typeface="Arial"/>
                <a:cs typeface="Arial"/>
                <a:sym typeface="Arial"/>
              </a:rPr>
              <a:t xml:space="preserve">dividend</a:t>
            </a:r>
            <a:r>
              <a:rPr b="0" i="0" lang="en-US" sz="1600" u="none" cap="none" strike="noStrike">
                <a:solidFill>
                  <a:srgbClr val="14223A"/>
                </a:solidFill>
                <a:latin typeface="Arial"/>
                <a:ea typeface="Arial"/>
                <a:cs typeface="Arial"/>
                <a:sym typeface="Arial"/>
              </a:rPr>
              <a:t xml:space="preserve">’s decimal point to the right the same number of places</a:t>
            </a:r>
            <a:endParaRPr/>
          </a:p>
        </p:txBody>
      </p:sp>
      <p:sp>
        <p:nvSpPr>
          <p:cNvPr id="539" name="Google Shape;539;p53"/>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1" name="Google Shape;541;p53"/>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Write the answer’s decimal point in the column directly above the dividend’s point, then divide as whole numbers using Divide → Multiply → Subtract → Bring Down</a:t>
            </a:r>
            <a:endParaRPr/>
          </a:p>
        </p:txBody>
      </p:sp>
      <p:sp>
        <p:nvSpPr>
          <p:cNvPr id="5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43</a:t>
            </a:r>
          </a:p>
        </p:txBody>
      </p:sp>
      <p:grpSp>
        <p:nvGrpSpPr>
          <p:cNvPr id="543" name="TEACH-1-student-move" descr="TEACH 1 · Facilitate clear, standards-based content learning"/>
          <p:cNvGrpSpPr/>
          <p:nvPr/>
        </p:nvGrpSpPr>
        <p:grpSpPr>
          <a:xfrm>
            <a:off x="502920" y="4980229"/>
            <a:ext cx="11186160" cy="402336"/>
            <a:chOff x="502920" y="4980229"/>
            <a:chExt cx="11186160" cy="402336"/>
          </a:xfrm>
        </p:grpSpPr>
        <p:sp>
          <p:nvSpPr>
            <p:cNvPr id="544" name="TEACH-move-card"/>
            <p:cNvSpPr/>
            <p:nvPr/>
          </p:nvSpPr>
          <p:spPr>
            <a:xfrm>
              <a:off x="502920" y="4980229"/>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45" name="TEACH-move-rule"/>
            <p:cNvSpPr/>
            <p:nvPr/>
          </p:nvSpPr>
          <p:spPr>
            <a:xfrm>
              <a:off x="548640" y="5056673"/>
              <a:ext cx="100584" cy="249448"/>
            </a:xfrm>
            <a:prstGeom prst="roundRect">
              <a:avLst>
                <a:gd name="adj" fmla="val 50000"/>
              </a:avLst>
            </a:prstGeom>
            <a:solidFill>
              <a:srgbClr val="01708C"/>
            </a:solidFill>
            <a:ln>
              <a:noFill/>
            </a:ln>
          </p:spPr>
          <p:txBody>
            <a:bodyPr/>
            <a:lstStyle/>
            <a:p>
              <a:endParaRPr/>
            </a:p>
          </p:txBody>
        </p:sp>
        <p:sp>
          <p:nvSpPr>
            <p:cNvPr id="546" name="TEACH-move-text"/>
            <p:cNvSpPr txBox="1"/>
            <p:nvPr/>
          </p:nvSpPr>
          <p:spPr>
            <a:xfrm>
              <a:off x="822960" y="4980229"/>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Divide Decimals Using an Algorithm</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43</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505578" y="1224282"/>
            <a:ext cx="732836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all the numbers in any order with any operation to equal the target number (in red).</a:t>
            </a:r>
            <a:endParaRPr b="0" i="0" sz="1400" u="none" cap="none" strike="noStrike">
              <a:solidFill>
                <a:srgbClr val="000000"/>
              </a:solidFill>
              <a:latin typeface="Arial"/>
              <a:ea typeface="Arial"/>
              <a:cs typeface="Arial"/>
              <a:sym typeface="Arial"/>
            </a:endParaRPr>
          </a:p>
        </p:txBody>
      </p:sp>
      <p:pic>
        <p:nvPicPr>
          <p:cNvPr id="243" name="Google Shape;243;p41"/>
          <p:cNvPicPr preferRelativeResize="0"/>
          <p:nvPr/>
        </p:nvPicPr>
        <p:blipFill rotWithShape="1">
          <a:blip r:embed="rId3">
            <a:alphaModFix/>
          </a:blip>
          <a:srcRect b="0" l="0" r="0" t="0"/>
          <a:stretch/>
        </p:blipFill>
        <p:spPr>
          <a:xfrm>
            <a:off x="1949331" y="2628900"/>
            <a:ext cx="6422231" cy="2480310"/>
          </a:xfrm>
          <a:prstGeom prst="rect">
            <a:avLst/>
          </a:prstGeom>
          <a:noFill/>
          <a:ln>
            <a:noFill/>
          </a:ln>
        </p:spPr>
      </p:pic>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43</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Divide Decimals Using an Algorithm</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6.NOS.3</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divide with decimals by making the divisor a whole number first.</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dividend, divisor, quotient, and equivalent division.</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43</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2.7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Create an equivalent division with a whole-number divisor.</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Preserve place value.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the quotient.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396" name="Google Shape;39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Divide Decimals</a:t>
            </a:r>
            <a:endParaRPr/>
          </a:p>
        </p:txBody>
      </p:sp>
      <p:sp>
        <p:nvSpPr>
          <p:cNvPr id="399" name="Google Shape;399;p46"/>
          <p:cNvSpPr/>
          <p:nvPr/>
        </p:nvSpPr>
        <p:spPr>
          <a:xfrm>
            <a:off x="658368" y="271881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Find a quotient with decimals by sliding both decimal points right until the divisor is a whole number.</a:t>
            </a:r>
            <a:endParaRPr/>
          </a:p>
        </p:txBody>
      </p:sp>
      <p:sp>
        <p:nvSpPr>
          <p:cNvPr id="401" name="Google Shape;401;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8.4 ÷ 2.1 = 84 ÷ 21 = 4</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43</a:t>
            </a:r>
          </a:p>
        </p:txBody>
      </p:sp>
      <p:grpSp>
        <p:nvGrpSpPr>
          <p:cNvPr id="405" name="TEACH-5-student-move" descr="TEACH 5 · Facilitate student interactions and academic talk"/>
          <p:cNvGrpSpPr/>
          <p:nvPr/>
        </p:nvGrpSpPr>
        <p:grpSpPr>
          <a:xfrm>
            <a:off x="502920" y="5751576"/>
            <a:ext cx="11186160" cy="548640"/>
            <a:chOff x="502920" y="5751576"/>
            <a:chExt cx="11186160" cy="548640"/>
          </a:xfrm>
        </p:grpSpPr>
        <p:sp>
          <p:nvSpPr>
            <p:cNvPr id="406"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07"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08"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Google Shape;40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2" name="Google Shape;41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413" name="Google Shape;41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5" name="Google Shape;415;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Dividend</a:t>
            </a:r>
            <a:endParaRPr/>
          </a:p>
        </p:txBody>
      </p:sp>
      <p:sp>
        <p:nvSpPr>
          <p:cNvPr id="416" name="Google Shape;416;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total number being divided into equal groups (the number inside the division bracket).</a:t>
            </a:r>
            <a:endParaRPr/>
          </a:p>
        </p:txBody>
      </p:sp>
      <p:sp>
        <p:nvSpPr>
          <p:cNvPr id="418" name="Google Shape;418;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1" name="Google Shape;421;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8.4 ÷ 2.1 = 4, the dividend is 8.4 — the total amount being divided</a:t>
            </a:r>
            <a:endParaRPr/>
          </a:p>
        </p:txBody>
      </p:sp>
      <p:pic>
        <p:nvPicPr>
          <p:cNvPr descr="dividend.png" id="422" name="Google Shape;42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43</a:t>
            </a:r>
          </a:p>
        </p:txBody>
      </p:sp>
      <p:sp xmlns:p="http://schemas.openxmlformats.org/presentationml/2006/main" xmlns:a="http://schemas.openxmlformats.org/drawingml/2006/main">
        <p:nvSpPr>
          <p:cNvPr id="42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“Dividend”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7" name="Google Shape;42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0" name="Google Shape;43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431" name="Google Shape;43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3" name="Google Shape;433;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Divisor</a:t>
            </a:r>
            <a:endParaRPr/>
          </a:p>
        </p:txBody>
      </p:sp>
      <p:sp>
        <p:nvSpPr>
          <p:cNvPr id="434" name="Google Shape;434;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of equal groups you are dividing into (the number outside the division bracket).</a:t>
            </a:r>
            <a:endParaRPr/>
          </a:p>
        </p:txBody>
      </p:sp>
      <p:sp>
        <p:nvSpPr>
          <p:cNvPr id="436" name="Google Shape;436;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9" name="Google Shape;439;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8.4 ÷ 2.1 = 4, the divisor is 2.1 — the number of equal groups</a:t>
            </a:r>
            <a:endParaRPr/>
          </a:p>
        </p:txBody>
      </p:sp>
      <p:pic>
        <p:nvPicPr>
          <p:cNvPr descr="divisor.png" id="440" name="Google Shape;44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43</a:t>
            </a:r>
          </a:p>
        </p:txBody>
      </p:sp>
      <p:sp xmlns:p="http://schemas.openxmlformats.org/presentationml/2006/main" xmlns:a="http://schemas.openxmlformats.org/drawingml/2006/main">
        <p:nvSpPr>
          <p:cNvPr id="44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“Divisor”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5" name="Google Shape;44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8" name="Google Shape;44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449" name="Google Shape;44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1" name="Google Shape;451;p49"/>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Quotient</a:t>
            </a:r>
            <a:endParaRPr/>
          </a:p>
        </p:txBody>
      </p:sp>
      <p:sp>
        <p:nvSpPr>
          <p:cNvPr id="452" name="Google Shape;452;p49"/>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answer when you divide.</a:t>
            </a:r>
            <a:endParaRPr/>
          </a:p>
        </p:txBody>
      </p:sp>
      <p:sp>
        <p:nvSpPr>
          <p:cNvPr id="454" name="Google Shape;454;p49"/>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7" name="Google Shape;457;p49"/>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8.4 ÷ 2.1 = 4, the quotient is 4 — there are 4 groups</a:t>
            </a:r>
            <a:endParaRPr/>
          </a:p>
        </p:txBody>
      </p:sp>
      <p:pic>
        <p:nvPicPr>
          <p:cNvPr descr="quotient.png" id="458" name="Google Shape;45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43</a:t>
            </a:r>
          </a:p>
        </p:txBody>
      </p:sp>
      <p:sp xmlns:p="http://schemas.openxmlformats.org/presentationml/2006/main" xmlns:a="http://schemas.openxmlformats.org/drawingml/2006/main">
        <p:nvSpPr>
          <p:cNvPr id="45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“Quotient”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3" name="Google Shape;46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5 of 6</a:t>
            </a:r>
            <a:endParaRPr/>
          </a:p>
        </p:txBody>
      </p:sp>
      <p:sp>
        <p:nvSpPr>
          <p:cNvPr id="466" name="Google Shape;46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467" name="Google Shape;46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69" name="Google Shape;469;p50"/>
          <p:cNvSpPr txBox="1"/>
          <p:nvPr/>
        </p:nvSpPr>
        <p:spPr>
          <a:xfrm>
            <a:off x="640080" y="111556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Decimal Division Algorithm</a:t>
            </a:r>
            <a:endParaRPr/>
          </a:p>
        </p:txBody>
      </p:sp>
      <p:sp>
        <p:nvSpPr>
          <p:cNvPr id="470" name="Google Shape;470;p50"/>
          <p:cNvSpPr/>
          <p:nvPr/>
        </p:nvSpPr>
        <p:spPr>
          <a:xfrm>
            <a:off x="658368" y="263347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640080" y="2994659"/>
            <a:ext cx="5897880" cy="1408176"/>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steps for dividing decimals: slide the divisor’s decimal point right until the divisor is a whole number, slide the dividend’s point right the same number of places, then divide.</a:t>
            </a:r>
            <a:endParaRPr/>
          </a:p>
        </p:txBody>
      </p:sp>
      <p:sp>
        <p:nvSpPr>
          <p:cNvPr id="472" name="Google Shape;472;p50"/>
          <p:cNvSpPr/>
          <p:nvPr/>
        </p:nvSpPr>
        <p:spPr>
          <a:xfrm>
            <a:off x="640080" y="4823459"/>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p:nvPr/>
        </p:nvSpPr>
        <p:spPr>
          <a:xfrm>
            <a:off x="640080" y="4823459"/>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932688" y="4997196"/>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75" name="Google Shape;475;p50"/>
          <p:cNvSpPr txBox="1"/>
          <p:nvPr/>
        </p:nvSpPr>
        <p:spPr>
          <a:xfrm>
            <a:off x="932688" y="5298948"/>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8.4 ÷ 2.1 → move the point in both → 84 ÷ 21 → divide, multiply, subtract, bring down → 4</a:t>
            </a:r>
            <a:endParaRPr/>
          </a:p>
        </p:txBody>
      </p:sp>
      <p:pic>
        <p:nvPicPr>
          <p:cNvPr descr="decimal-division-algorithm.png" id="476" name="Google Shape;47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43</a:t>
            </a:r>
          </a:p>
        </p:txBody>
      </p:sp>
      <p:grpSp>
        <p:nvGrpSpPr>
          <p:cNvPr id="477" name="TEACH-5-student-move" descr="TEACH 5 · Facilitate student interactions and academic talk"/>
          <p:cNvGrpSpPr/>
          <p:nvPr/>
        </p:nvGrpSpPr>
        <p:grpSpPr>
          <a:xfrm>
            <a:off x="502920" y="676656"/>
            <a:ext cx="11186160" cy="402336"/>
            <a:chOff x="502920" y="676656"/>
            <a:chExt cx="11186160" cy="402336"/>
          </a:xfrm>
        </p:grpSpPr>
        <p:sp>
          <p:nvSpPr>
            <p:cNvPr id="478" name="TEACH-move-card"/>
            <p:cNvSpPr/>
            <p:nvPr/>
          </p:nvSpPr>
          <p:spPr>
            <a:xfrm>
              <a:off x="502920" y="67665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479" name="TEACH-move-rule"/>
            <p:cNvSpPr/>
            <p:nvPr/>
          </p:nvSpPr>
          <p:spPr>
            <a:xfrm>
              <a:off x="548640" y="753100"/>
              <a:ext cx="100584" cy="249448"/>
            </a:xfrm>
            <a:prstGeom prst="roundRect">
              <a:avLst>
                <a:gd name="adj" fmla="val 50000"/>
              </a:avLst>
            </a:prstGeom>
            <a:solidFill>
              <a:srgbClr val="01708C"/>
            </a:solidFill>
            <a:ln>
              <a:noFill/>
            </a:ln>
          </p:spPr>
          <p:txBody>
            <a:bodyPr/>
            <a:lstStyle/>
            <a:p>
              <a:endParaRPr/>
            </a:p>
          </p:txBody>
        </p:sp>
        <p:sp>
          <p:nvSpPr>
            <p:cNvPr id="480" name="TEACH-move-text"/>
            <p:cNvSpPr txBox="1"/>
            <p:nvPr/>
          </p:nvSpPr>
          <p:spPr>
            <a:xfrm>
              <a:off x="822960" y="67665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1" name="Google Shape;48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4" name="Google Shape;48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2-7 · Divide Decimals Using an Algorithm</a:t>
            </a:r>
            <a:endParaRPr/>
          </a:p>
        </p:txBody>
      </p:sp>
      <p:sp>
        <p:nvSpPr>
          <p:cNvPr id="485" name="Google Shape;48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7" name="Google Shape;487;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 division</a:t>
            </a:r>
            <a:endParaRPr/>
          </a:p>
        </p:txBody>
      </p:sp>
      <p:sp>
        <p:nvSpPr>
          <p:cNvPr id="488" name="Google Shape;488;p51"/>
          <p:cNvSpPr/>
          <p:nvPr/>
        </p:nvSpPr>
        <p:spPr>
          <a:xfrm>
            <a:off x="658368" y="2737866"/>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Multiplying both numbers by 10 or 100 gives the same answer.</a:t>
            </a:r>
            <a:endParaRPr/>
          </a:p>
        </p:txBody>
      </p:sp>
      <p:sp>
        <p:nvSpPr>
          <p:cNvPr id="490" name="Google Shape;490;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3" name="Google Shape;493;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7.56 ÷ 0.12 = 756 ÷ 12 = 63 (both multiplied by 100)</a:t>
            </a:r>
            <a:endParaRPr/>
          </a:p>
        </p:txBody>
      </p:sp>
      <p:pic>
        <p:nvPicPr>
          <p:cNvPr descr="divide.png" id="494" name="Google Shape;494;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43</a:t>
            </a:r>
          </a:p>
        </p:txBody>
      </p:sp>
      <p:sp xmlns:p="http://schemas.openxmlformats.org/presentationml/2006/main" xmlns:a="http://schemas.openxmlformats.org/drawingml/2006/main">
        <p:nvSpPr>
          <p:cNvPr id="49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division”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57" name="Google Shape;557;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8" name="Google Shape;558;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59" name="Google Shape;559;p55"/>
          <p:cNvSpPr txBox="1"/>
          <p:nvPr/>
        </p:nvSpPr>
        <p:spPr>
          <a:xfrm>
            <a:off x="484560" y="936100"/>
            <a:ext cx="483464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pic>
        <p:nvPicPr>
          <p:cNvPr id="560" name="Google Shape;560;p55"/>
          <p:cNvPicPr preferRelativeResize="0"/>
          <p:nvPr/>
        </p:nvPicPr>
        <p:blipFill rotWithShape="1">
          <a:blip r:embed="rId2">
            <a:alphaModFix/>
          </a:blip>
          <a:srcRect b="0" l="0" r="0" t="0"/>
          <a:stretch/>
        </p:blipFill>
        <p:spPr>
          <a:xfrm>
            <a:off x="484560" y="5049297"/>
            <a:ext cx="5054600" cy="838200"/>
          </a:xfrm>
          <a:prstGeom prst="rect">
            <a:avLst/>
          </a:prstGeom>
          <a:noFill/>
          <a:ln>
            <a:noFill/>
          </a:ln>
        </p:spPr>
      </p:pic>
      <p:sp>
        <p:nvSpPr>
          <p:cNvPr id="561" name="Google Shape;561;p55"/>
          <p:cNvSpPr txBox="1"/>
          <p:nvPr/>
        </p:nvSpPr>
        <p:spPr>
          <a:xfrm>
            <a:off x="3344577" y="520661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2" name="Google Shape;562;p55"/>
          <p:cNvSpPr/>
          <p:nvPr/>
        </p:nvSpPr>
        <p:spPr>
          <a:xfrm>
            <a:off x="697756" y="5864620"/>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actions can you take to achieve your goal today?</a:t>
            </a:r>
            <a:endParaRPr b="0" i="0" sz="1400" u="none" cap="none" strike="noStrike">
              <a:solidFill>
                <a:srgbClr val="000000"/>
              </a:solidFill>
              <a:latin typeface="Arial"/>
              <a:ea typeface="Arial"/>
              <a:cs typeface="Arial"/>
              <a:sym typeface="Arial"/>
            </a:endParaRPr>
          </a:p>
        </p:txBody>
      </p:sp>
      <p:sp>
        <p:nvSpPr>
          <p:cNvPr id="563" name="Google Shape;563;p55"/>
          <p:cNvSpPr txBox="1"/>
          <p:nvPr/>
        </p:nvSpPr>
        <p:spPr>
          <a:xfrm>
            <a:off x="3130757" y="2089242"/>
            <a:ext cx="224481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62626"/>
                </a:solidFill>
                <a:latin typeface="Arial"/>
                <a:ea typeface="Arial"/>
                <a:cs typeface="Arial"/>
                <a:sym typeface="Arial"/>
              </a:rPr>
              <a:t>$18.75</a:t>
            </a:r>
            <a:endParaRPr b="0" i="0" sz="1400" u="none" cap="none" strike="noStrike">
              <a:solidFill>
                <a:srgbClr val="000000"/>
              </a:solidFill>
              <a:latin typeface="Arial"/>
              <a:ea typeface="Arial"/>
              <a:cs typeface="Arial"/>
              <a:sym typeface="Arial"/>
            </a:endParaRPr>
          </a:p>
        </p:txBody>
      </p:sp>
      <p:pic>
        <p:nvPicPr>
          <p:cNvPr descr="Graphical user interface&#10;&#10;Description automatically generated" id="564" name="Google Shape;564;p55"/>
          <p:cNvPicPr preferRelativeResize="0"/>
          <p:nvPr/>
        </p:nvPicPr>
        <p:blipFill rotWithShape="1">
          <a:blip r:embed="rId3">
            <a:alphaModFix/>
          </a:blip>
          <a:srcRect b="0" l="0" r="0" t="0"/>
          <a:stretch/>
        </p:blipFill>
        <p:spPr>
          <a:xfrm>
            <a:off x="5561583" y="1199534"/>
            <a:ext cx="4028969" cy="468796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43</a:t>
            </a:r>
          </a:p>
        </p:txBody>
      </p:sp>
      <p:sp xmlns:p="http://schemas.openxmlformats.org/presentationml/2006/main" xmlns:a="http://schemas.openxmlformats.org/drawingml/2006/main">
        <p:nvSpPr>
          <p:cNvPr id="565"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Divide Decimals</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Find a quotient with decimals by sliding both decimal points right until the divisor is a whole number</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Dividend</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total number being divided into equal groups (the number inside the division bracket)</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Divisor</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number of equal groups you are dividing into (the number outside the division bracket)</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Quotient</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answer when you divide</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Decimal Division Algorithm</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00" u="none" cap="none" strike="noStrike">
                <a:solidFill>
                  <a:srgbClr val="475569"/>
                </a:solidFill>
                <a:latin typeface="Arial"/>
                <a:ea typeface="Arial"/>
                <a:cs typeface="Arial"/>
                <a:sym typeface="Arial"/>
              </a:rPr>
              <a:t>The steps for dividing decimals: slide the divisor’s decimal point right until the divisor is a whole number, slide the dividend’s point right the same number of places, then divide</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Equivalent division</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Multiplying both numbers by 10 or 100 gives the same answer</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43</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cxnSp>
        <p:nvCxnSpPr>
          <p:cNvPr id="546" name="Google Shape;546;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7" name="Google Shape;547;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48" name="Google Shape;548;p54"/>
          <p:cNvSpPr txBox="1"/>
          <p:nvPr/>
        </p:nvSpPr>
        <p:spPr>
          <a:xfrm>
            <a:off x="484560" y="936100"/>
            <a:ext cx="483464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pic>
        <p:nvPicPr>
          <p:cNvPr descr="Graphical user interface&#10;&#10;Description automatically generated" id="549" name="Google Shape;549;p54"/>
          <p:cNvPicPr preferRelativeResize="0"/>
          <p:nvPr/>
        </p:nvPicPr>
        <p:blipFill rotWithShape="1">
          <a:blip r:embed="rId3">
            <a:alphaModFix/>
          </a:blip>
          <a:srcRect b="0" l="0" r="0" t="0"/>
          <a:stretch/>
        </p:blipFill>
        <p:spPr>
          <a:xfrm>
            <a:off x="5561583" y="1199534"/>
            <a:ext cx="4028969" cy="4687963"/>
          </a:xfrm>
          <a:prstGeom prst="rect">
            <a:avLst/>
          </a:prstGeom>
          <a:noFill/>
          <a:ln>
            <a:noFill/>
          </a:ln>
        </p:spPr>
      </p:pic>
      <p:pic>
        <p:nvPicPr>
          <p:cNvPr id="550" name="Google Shape;550;p54"/>
          <p:cNvPicPr preferRelativeResize="0"/>
          <p:nvPr/>
        </p:nvPicPr>
        <p:blipFill rotWithShape="1">
          <a:blip r:embed="rId4">
            <a:alphaModFix/>
          </a:blip>
          <a:srcRect b="0" l="0" r="0" t="0"/>
          <a:stretch/>
        </p:blipFill>
        <p:spPr>
          <a:xfrm>
            <a:off x="484560" y="5049297"/>
            <a:ext cx="5054600" cy="838200"/>
          </a:xfrm>
          <a:prstGeom prst="rect">
            <a:avLst/>
          </a:prstGeom>
          <a:noFill/>
          <a:ln>
            <a:noFill/>
          </a:ln>
        </p:spPr>
      </p:pic>
      <p:sp>
        <p:nvSpPr>
          <p:cNvPr id="551" name="Google Shape;551;p54"/>
          <p:cNvSpPr txBox="1"/>
          <p:nvPr/>
        </p:nvSpPr>
        <p:spPr>
          <a:xfrm>
            <a:off x="3344577" y="520661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52" name="Google Shape;552;p54"/>
          <p:cNvSpPr txBox="1"/>
          <p:nvPr/>
        </p:nvSpPr>
        <p:spPr>
          <a:xfrm>
            <a:off x="3130757" y="2089242"/>
            <a:ext cx="224481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$18.75</a:t>
            </a:r>
            <a:endParaRPr b="0" i="0" sz="1400" u="none" cap="none" strike="noStrike">
              <a:solidFill>
                <a:srgbClr val="000000"/>
              </a:solidFill>
              <a:latin typeface="Arial"/>
              <a:ea typeface="Arial"/>
              <a:cs typeface="Arial"/>
              <a:sym typeface="Arial"/>
            </a:endParaRPr>
          </a:p>
        </p:txBody>
      </p:sp>
      <p:sp>
        <p:nvSpPr>
          <p:cNvPr id="5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43</a:t>
            </a:r>
          </a:p>
        </p:txBody>
      </p:sp>
      <p:sp xmlns:p="http://schemas.openxmlformats.org/presentationml/2006/main" xmlns:a="http://schemas.openxmlformats.org/drawingml/2006/main">
        <p:nvSpPr>
          <p:cNvPr id="554"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cxnSp>
        <p:nvCxnSpPr>
          <p:cNvPr id="569" name="Google Shape;569;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0" name="Google Shape;570;p56"/>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Textbook Purchases</a:t>
            </a:r>
            <a:endParaRPr b="0" i="0" sz="1400" u="none" cap="none" strike="noStrike">
              <a:solidFill>
                <a:srgbClr val="000000"/>
              </a:solidFill>
              <a:latin typeface="Arial"/>
              <a:ea typeface="Arial"/>
              <a:cs typeface="Arial"/>
              <a:sym typeface="Arial"/>
            </a:endParaRPr>
          </a:p>
        </p:txBody>
      </p:sp>
      <p:sp>
        <p:nvSpPr>
          <p:cNvPr id="571" name="Google Shape;571;p56"/>
          <p:cNvSpPr txBox="1"/>
          <p:nvPr/>
        </p:nvSpPr>
        <p:spPr>
          <a:xfrm>
            <a:off x="484565" y="936100"/>
            <a:ext cx="6366435" cy="4351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school bought new math workbooks as shown in the order form.</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cost of each workbook?</a:t>
            </a:r>
            <a:endParaRPr b="0" i="0" sz="1400" u="none" cap="none" strike="noStrike">
              <a:solidFill>
                <a:srgbClr val="000000"/>
              </a:solidFill>
              <a:latin typeface="Arial"/>
              <a:ea typeface="Arial"/>
              <a:cs typeface="Arial"/>
              <a:sym typeface="Arial"/>
            </a:endParaRPr>
          </a:p>
        </p:txBody>
      </p:sp>
      <p:pic>
        <p:nvPicPr>
          <p:cNvPr id="572" name="Google Shape;572;p56"/>
          <p:cNvPicPr preferRelativeResize="0"/>
          <p:nvPr/>
        </p:nvPicPr>
        <p:blipFill rotWithShape="1">
          <a:blip r:embed="rId3">
            <a:alphaModFix/>
          </a:blip>
          <a:srcRect b="0" l="0" r="0" t="0"/>
          <a:stretch/>
        </p:blipFill>
        <p:spPr>
          <a:xfrm>
            <a:off x="7640877" y="1477578"/>
            <a:ext cx="3741773" cy="3902843"/>
          </a:xfrm>
          <a:prstGeom prst="rect">
            <a:avLst/>
          </a:prstGeom>
          <a:noFill/>
          <a:ln>
            <a:noFill/>
          </a:ln>
        </p:spPr>
      </p:pic>
      <p:sp>
        <p:nvSpPr>
          <p:cNvPr id="5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43</a:t>
            </a:r>
          </a:p>
        </p:txBody>
      </p:sp>
      <p:sp xmlns:p="http://schemas.openxmlformats.org/presentationml/2006/main" xmlns:a="http://schemas.openxmlformats.org/drawingml/2006/main">
        <p:nvSpPr>
          <p:cNvPr id="57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cxnSp>
        <p:nvCxnSpPr>
          <p:cNvPr id="600" name="Google Shape;600;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1" name="Google Shape;601;p60"/>
          <p:cNvSpPr txBox="1"/>
          <p:nvPr/>
        </p:nvSpPr>
        <p:spPr>
          <a:xfrm>
            <a:off x="484565" y="5167351"/>
            <a:ext cx="5960624" cy="12026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an algorithm to divide.</a:t>
            </a:r>
            <a:endParaRPr b="0" i="0" sz="1400" u="none" cap="none" strike="noStrike">
              <a:solidFill>
                <a:srgbClr val="000000"/>
              </a:solidFill>
              <a:latin typeface="Arial"/>
              <a:ea typeface="Arial"/>
              <a:cs typeface="Arial"/>
              <a:sym typeface="Arial"/>
            </a:endParaRPr>
          </a:p>
        </p:txBody>
      </p:sp>
      <p:sp>
        <p:nvSpPr>
          <p:cNvPr id="602" name="Google Shape;602;p60"/>
          <p:cNvSpPr txBox="1"/>
          <p:nvPr/>
        </p:nvSpPr>
        <p:spPr>
          <a:xfrm>
            <a:off x="484565" y="488023"/>
            <a:ext cx="6366435" cy="35831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an efficient method for division that you can 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Cambria Math"/>
                <a:ea typeface="Cambria Math"/>
                <a:cs typeface="Cambria Math"/>
                <a:sym typeface="Cambria Math"/>
              </a:rPr>
              <a:t>394.50 ÷ 75 = 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6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43</a:t>
            </a:r>
          </a:p>
        </p:txBody>
      </p:sp>
      <p:sp>
        <p:nvSpPr>
          <p:cNvPr id="604" name="EWL-COVER-1"/>
          <p:cNvSpPr/>
          <p:nvPr/>
        </p:nvSpPr>
        <p:spPr>
          <a:xfrm>
            <a:off x="429701" y="5112487"/>
            <a:ext cx="6070352" cy="1312354"/>
          </a:xfrm>
          <a:prstGeom prst="rect">
            <a:avLst/>
          </a:prstGeom>
          <a:solidFill>
            <a:srgbClr val="FFFFFF"/>
          </a:solidFill>
          <a:ln>
            <a:noFill/>
          </a:ln>
        </p:spPr>
        <p:txBody>
          <a:bodyPr/>
          <a:lstStyle/>
          <a:p/>
        </p:txBody>
      </p:sp>
      <p:sp xmlns:p="http://schemas.openxmlformats.org/presentationml/2006/main" xmlns:a="http://schemas.openxmlformats.org/drawingml/2006/main">
        <p:nvSpPr>
          <p:cNvPr id="605"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cxnSp>
        <p:nvCxnSpPr>
          <p:cNvPr id="634" name="Google Shape;634;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5" name="Google Shape;635;p64"/>
          <p:cNvSpPr txBox="1"/>
          <p:nvPr/>
        </p:nvSpPr>
        <p:spPr>
          <a:xfrm>
            <a:off x="484565" y="936100"/>
            <a:ext cx="6366435" cy="5146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Cambria Math"/>
                <a:ea typeface="Cambria Math"/>
                <a:cs typeface="Cambria Math"/>
                <a:sym typeface="Cambria Math"/>
              </a:rPr>
              <a:t>394.50 ÷ 75 = w</a:t>
            </a:r>
            <a:endParaRPr b="1" i="0" sz="2800" u="none" cap="none" strike="noStrike">
              <a:solidFill>
                <a:srgbClr val="262626"/>
              </a:solidFill>
              <a:latin typeface="Arial"/>
              <a:ea typeface="Arial"/>
              <a:cs typeface="Arial"/>
              <a:sym typeface="Arial"/>
            </a:endParaRPr>
          </a:p>
        </p:txBody>
      </p:sp>
      <p:sp>
        <p:nvSpPr>
          <p:cNvPr id="636" name="Google Shape;636;p64"/>
          <p:cNvSpPr/>
          <p:nvPr/>
        </p:nvSpPr>
        <p:spPr>
          <a:xfrm>
            <a:off x="484565" y="3695314"/>
            <a:ext cx="6737606"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With which place value should you begin when using the division algorithm?</a:t>
            </a:r>
            <a:endParaRPr b="0" i="0" sz="1400" u="none" cap="none" strike="noStrike">
              <a:solidFill>
                <a:srgbClr val="000000"/>
              </a:solidFill>
              <a:latin typeface="Arial"/>
              <a:ea typeface="Arial"/>
              <a:cs typeface="Arial"/>
              <a:sym typeface="Arial"/>
            </a:endParaRPr>
          </a:p>
        </p:txBody>
      </p:sp>
      <p:pic>
        <p:nvPicPr>
          <p:cNvPr id="637" name="Google Shape;637;p64"/>
          <p:cNvPicPr preferRelativeResize="0"/>
          <p:nvPr/>
        </p:nvPicPr>
        <p:blipFill rotWithShape="1">
          <a:blip r:embed="rId3">
            <a:alphaModFix/>
          </a:blip>
          <a:srcRect b="0" l="0" r="0" t="0"/>
          <a:stretch/>
        </p:blipFill>
        <p:spPr>
          <a:xfrm>
            <a:off x="7222171" y="1429692"/>
            <a:ext cx="1724025" cy="2724150"/>
          </a:xfrm>
          <a:prstGeom prst="rect">
            <a:avLst/>
          </a:prstGeom>
          <a:noFill/>
          <a:ln>
            <a:noFill/>
          </a:ln>
        </p:spPr>
      </p:pic>
      <p:sp>
        <p:nvSpPr>
          <p:cNvPr id="638" name="Google Shape;638;p64"/>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39" name="Google Shape;639;p64"/>
          <p:cNvPicPr preferRelativeResize="0"/>
          <p:nvPr/>
        </p:nvPicPr>
        <p:blipFill rotWithShape="1">
          <a:blip r:embed="rId4">
            <a:alphaModFix/>
          </a:blip>
          <a:srcRect b="0" l="0" r="0" t="0"/>
          <a:stretch/>
        </p:blipFill>
        <p:spPr>
          <a:xfrm>
            <a:off x="558276" y="386230"/>
            <a:ext cx="353635" cy="340537"/>
          </a:xfrm>
          <a:prstGeom prst="rect">
            <a:avLst/>
          </a:prstGeom>
          <a:noFill/>
          <a:ln>
            <a:noFill/>
          </a:ln>
        </p:spPr>
      </p:pic>
      <p:sp>
        <p:nvSpPr>
          <p:cNvPr id="640" name="Google Shape;640;p64"/>
          <p:cNvSpPr txBox="1"/>
          <p:nvPr/>
        </p:nvSpPr>
        <p:spPr>
          <a:xfrm>
            <a:off x="484565" y="5310781"/>
            <a:ext cx="5960624" cy="10382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 xml:space="preserve">the ones </a:t>
            </a:r>
            <a:endParaRPr b="0" i="0" sz="1400" u="none" cap="none" strike="noStrike">
              <a:solidFill>
                <a:srgbClr val="000000"/>
              </a:solidFill>
              <a:latin typeface="Arial"/>
              <a:ea typeface="Arial"/>
              <a:cs typeface="Arial"/>
              <a:sym typeface="Arial"/>
            </a:endParaRPr>
          </a:p>
        </p:txBody>
      </p:sp>
      <p:sp>
        <p:nvSpPr>
          <p:cNvPr id="6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43</a:t>
            </a:r>
          </a:p>
        </p:txBody>
      </p:sp>
      <p:sp>
        <p:nvSpPr>
          <p:cNvPr id="642" name="EWL-COVER-1"/>
          <p:cNvSpPr/>
          <p:nvPr/>
        </p:nvSpPr>
        <p:spPr>
          <a:xfrm>
            <a:off x="429701" y="5255917"/>
            <a:ext cx="6070352" cy="1147988"/>
          </a:xfrm>
          <a:prstGeom prst="rect">
            <a:avLst/>
          </a:prstGeom>
          <a:solidFill>
            <a:srgbClr val="FFFFFF"/>
          </a:solidFill>
          <a:ln>
            <a:noFill/>
          </a:ln>
        </p:spPr>
        <p:txBody>
          <a:bodyPr/>
          <a:lstStyle/>
          <a:p/>
        </p:txBody>
      </p:sp>
      <p:sp>
        <p:nvSpPr>
          <p:cNvPr id="64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644" name="TEACH-embedded-student-prompt" descr="Student thinking and response directions"/>
          <p:cNvSpPr txBox="1"/>
          <p:nvPr/>
        </p:nvSpPr>
        <p:spPr>
          <a:xfrm>
            <a:off x="594360" y="2761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cxnSp>
        <p:nvCxnSpPr>
          <p:cNvPr id="661" name="Google Shape;661;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2" name="Google Shape;662;p67"/>
          <p:cNvSpPr txBox="1"/>
          <p:nvPr/>
        </p:nvSpPr>
        <p:spPr>
          <a:xfrm>
            <a:off x="484565" y="496153"/>
            <a:ext cx="5924861" cy="12531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start by dividing the 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There are five 75s in 394.</a:t>
            </a:r>
            <a:endParaRPr b="1" i="0" sz="2800" u="none" cap="none" strike="noStrike">
              <a:solidFill>
                <a:srgbClr val="262626"/>
              </a:solidFill>
              <a:latin typeface="Arial"/>
              <a:ea typeface="Arial"/>
              <a:cs typeface="Arial"/>
              <a:sym typeface="Arial"/>
            </a:endParaRPr>
          </a:p>
        </p:txBody>
      </p:sp>
      <p:pic>
        <p:nvPicPr>
          <p:cNvPr id="663" name="Google Shape;663;p67"/>
          <p:cNvPicPr preferRelativeResize="0"/>
          <p:nvPr/>
        </p:nvPicPr>
        <p:blipFill rotWithShape="1">
          <a:blip r:embed="rId3">
            <a:alphaModFix/>
          </a:blip>
          <a:srcRect b="0" l="0" r="0" t="0"/>
          <a:stretch/>
        </p:blipFill>
        <p:spPr>
          <a:xfrm>
            <a:off x="7222171" y="1429692"/>
            <a:ext cx="2242941" cy="3544094"/>
          </a:xfrm>
          <a:prstGeom prst="rect">
            <a:avLst/>
          </a:prstGeom>
          <a:noFill/>
          <a:ln>
            <a:noFill/>
          </a:ln>
        </p:spPr>
      </p:pic>
      <p:sp>
        <p:nvSpPr>
          <p:cNvPr id="664" name="Google Shape;664;p67"/>
          <p:cNvSpPr/>
          <p:nvPr/>
        </p:nvSpPr>
        <p:spPr>
          <a:xfrm>
            <a:off x="484566" y="2791767"/>
            <a:ext cx="6235411"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When using the algorithm for division, what should you do once you have subtracted the product, 375?</a:t>
            </a:r>
            <a:endParaRPr b="0" i="0" sz="1400" u="none" cap="none" strike="noStrike">
              <a:solidFill>
                <a:srgbClr val="000000"/>
              </a:solidFill>
              <a:latin typeface="Arial"/>
              <a:ea typeface="Arial"/>
              <a:cs typeface="Arial"/>
              <a:sym typeface="Arial"/>
            </a:endParaRPr>
          </a:p>
        </p:txBody>
      </p:sp>
      <p:sp>
        <p:nvSpPr>
          <p:cNvPr id="665" name="Google Shape;665;p67"/>
          <p:cNvSpPr txBox="1"/>
          <p:nvPr/>
        </p:nvSpPr>
        <p:spPr>
          <a:xfrm>
            <a:off x="484565" y="5138378"/>
            <a:ext cx="9483636" cy="12135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should bring down the digit in the next place value.</a:t>
            </a:r>
            <a:endParaRPr b="0" i="0" sz="1400" u="none" cap="none" strike="noStrike">
              <a:solidFill>
                <a:srgbClr val="000000"/>
              </a:solidFill>
              <a:latin typeface="Arial"/>
              <a:ea typeface="Arial"/>
              <a:cs typeface="Arial"/>
              <a:sym typeface="Arial"/>
            </a:endParaRPr>
          </a:p>
        </p:txBody>
      </p:sp>
      <p:sp>
        <p:nvSpPr>
          <p:cNvPr id="6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43</a:t>
            </a:r>
          </a:p>
        </p:txBody>
      </p:sp>
      <p:sp>
        <p:nvSpPr>
          <p:cNvPr id="667" name="EWL-COVER-1"/>
          <p:cNvSpPr/>
          <p:nvPr/>
        </p:nvSpPr>
        <p:spPr>
          <a:xfrm>
            <a:off x="429701" y="5083514"/>
            <a:ext cx="9593364" cy="1323301"/>
          </a:xfrm>
          <a:prstGeom prst="rect">
            <a:avLst/>
          </a:prstGeom>
          <a:solidFill>
            <a:srgbClr val="FFFFFF"/>
          </a:solidFill>
          <a:ln>
            <a:noFill/>
          </a:ln>
        </p:spPr>
        <p:txBody>
          <a:bodyPr/>
          <a:lstStyle/>
          <a:p/>
        </p:txBody>
      </p:sp>
      <p:grpSp>
        <p:nvGrpSpPr>
          <p:cNvPr id="668" name="TEACH-3-student-move" descr="TEACH 3 · Use intentional questioning to deepen learning"/>
          <p:cNvGrpSpPr/>
          <p:nvPr/>
        </p:nvGrpSpPr>
        <p:grpSpPr>
          <a:xfrm>
            <a:off x="502920" y="2115111"/>
            <a:ext cx="5501640" cy="594360"/>
            <a:chOff x="502920" y="2115111"/>
            <a:chExt cx="5501640" cy="594360"/>
          </a:xfrm>
        </p:grpSpPr>
        <p:sp>
          <p:nvSpPr>
            <p:cNvPr id="669" name="TEACH-move-card"/>
            <p:cNvSpPr/>
            <p:nvPr/>
          </p:nvSpPr>
          <p:spPr>
            <a:xfrm>
              <a:off x="502920" y="211511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70" name="TEACH-move-rule"/>
            <p:cNvSpPr/>
            <p:nvPr/>
          </p:nvSpPr>
          <p:spPr>
            <a:xfrm>
              <a:off x="548640" y="2228039"/>
              <a:ext cx="100584" cy="368504"/>
            </a:xfrm>
            <a:prstGeom prst="roundRect">
              <a:avLst>
                <a:gd name="adj" fmla="val 50000"/>
              </a:avLst>
            </a:prstGeom>
            <a:solidFill>
              <a:srgbClr val="01708C"/>
            </a:solidFill>
            <a:ln>
              <a:noFill/>
            </a:ln>
          </p:spPr>
          <p:txBody>
            <a:bodyPr/>
            <a:lstStyle/>
            <a:p>
              <a:endParaRPr/>
            </a:p>
          </p:txBody>
        </p:sp>
        <p:sp>
          <p:nvSpPr>
            <p:cNvPr id="671" name="TEACH-move-text"/>
            <p:cNvSpPr txBox="1"/>
            <p:nvPr/>
          </p:nvSpPr>
          <p:spPr>
            <a:xfrm>
              <a:off x="822960" y="211511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cxnSp>
        <p:nvCxnSpPr>
          <p:cNvPr id="678" name="Google Shape;678;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9" name="Google Shape;679;p69"/>
          <p:cNvSpPr txBox="1"/>
          <p:nvPr/>
        </p:nvSpPr>
        <p:spPr>
          <a:xfrm>
            <a:off x="484565" y="400133"/>
            <a:ext cx="6707543" cy="40769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bring down the digit in the next place value. Regroup the ones as tenths to continue the division.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There are two 75s in 195.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address the remainder?</a:t>
            </a:r>
            <a:endParaRPr b="0" i="0" sz="1400" u="none" cap="none" strike="noStrike">
              <a:solidFill>
                <a:srgbClr val="000000"/>
              </a:solidFill>
              <a:latin typeface="Arial"/>
              <a:ea typeface="Arial"/>
              <a:cs typeface="Arial"/>
              <a:sym typeface="Arial"/>
            </a:endParaRPr>
          </a:p>
        </p:txBody>
      </p:sp>
      <p:pic>
        <p:nvPicPr>
          <p:cNvPr id="680" name="Google Shape;680;p69"/>
          <p:cNvPicPr preferRelativeResize="0"/>
          <p:nvPr/>
        </p:nvPicPr>
        <p:blipFill rotWithShape="1">
          <a:blip r:embed="rId3">
            <a:alphaModFix/>
          </a:blip>
          <a:srcRect b="0" l="0" r="0" t="0"/>
          <a:stretch/>
        </p:blipFill>
        <p:spPr>
          <a:xfrm>
            <a:off x="7192108" y="1304050"/>
            <a:ext cx="3257550" cy="2162175"/>
          </a:xfrm>
          <a:prstGeom prst="rect">
            <a:avLst/>
          </a:prstGeom>
          <a:noFill/>
          <a:ln>
            <a:noFill/>
          </a:ln>
        </p:spPr>
      </p:pic>
      <p:sp>
        <p:nvSpPr>
          <p:cNvPr id="681" name="Google Shape;681;p69"/>
          <p:cNvSpPr txBox="1"/>
          <p:nvPr/>
        </p:nvSpPr>
        <p:spPr>
          <a:xfrm>
            <a:off x="484565" y="5188712"/>
            <a:ext cx="7741922" cy="11541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annex a zero to the hundredths place.</a:t>
            </a:r>
            <a:endParaRPr b="0" i="0" sz="1400" u="none" cap="none" strike="noStrike">
              <a:solidFill>
                <a:srgbClr val="000000"/>
              </a:solidFill>
              <a:latin typeface="Arial"/>
              <a:ea typeface="Arial"/>
              <a:cs typeface="Arial"/>
              <a:sym typeface="Arial"/>
            </a:endParaRPr>
          </a:p>
        </p:txBody>
      </p:sp>
      <p:sp>
        <p:nvSpPr>
          <p:cNvPr id="6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43</a:t>
            </a:r>
          </a:p>
        </p:txBody>
      </p:sp>
      <p:sp>
        <p:nvSpPr>
          <p:cNvPr id="683" name="EWL-COVER-1"/>
          <p:cNvSpPr/>
          <p:nvPr/>
        </p:nvSpPr>
        <p:spPr>
          <a:xfrm>
            <a:off x="429701" y="5133848"/>
            <a:ext cx="7851650" cy="1263924"/>
          </a:xfrm>
          <a:prstGeom prst="rect">
            <a:avLst/>
          </a:prstGeom>
          <a:solidFill>
            <a:srgbClr val="FFFFFF"/>
          </a:solidFill>
          <a:ln>
            <a:noFill/>
          </a:ln>
        </p:spPr>
        <p:txBody>
          <a:bodyPr/>
          <a:lstStyle/>
          <a:p/>
        </p:txBody>
      </p:sp>
      <p:sp xmlns:p="http://schemas.openxmlformats.org/presentationml/2006/main" xmlns:a="http://schemas.openxmlformats.org/drawingml/2006/main">
        <p:nvSpPr>
          <p:cNvPr id="684" name="TEACH-embedded-student-prompt" descr="Student thinking and response directions"/>
          <p:cNvSpPr txBox="1"/>
          <p:nvPr/>
        </p:nvSpPr>
        <p:spPr>
          <a:xfrm>
            <a:off x="7391400" y="39136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7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31" name="Google Shape;731;p75"/>
          <p:cNvSpPr txBox="1"/>
          <p:nvPr/>
        </p:nvSpPr>
        <p:spPr>
          <a:xfrm>
            <a:off x="484565" y="927528"/>
            <a:ext cx="7230130" cy="134984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 xml:space="preserve">When dividing a decimal using an algorithm, what can you do when there is a remainder? </a:t>
            </a:r>
            <a:endParaRPr b="0" i="0" sz="1400" u="none" cap="none" strike="noStrike">
              <a:solidFill>
                <a:srgbClr val="000000"/>
              </a:solidFill>
              <a:latin typeface="Arial"/>
              <a:ea typeface="Arial"/>
              <a:cs typeface="Arial"/>
              <a:sym typeface="Arial"/>
            </a:endParaRPr>
          </a:p>
        </p:txBody>
      </p:sp>
      <p:sp>
        <p:nvSpPr>
          <p:cNvPr id="732" name="Google Shape;732;p75"/>
          <p:cNvSpPr txBox="1"/>
          <p:nvPr/>
        </p:nvSpPr>
        <p:spPr>
          <a:xfrm>
            <a:off x="6314663"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3" name="Google Shape;733;p75"/>
          <p:cNvSpPr/>
          <p:nvPr/>
        </p:nvSpPr>
        <p:spPr>
          <a:xfrm>
            <a:off x="567559" y="4931023"/>
            <a:ext cx="7031726" cy="134728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4" name="Google Shape;734;p75"/>
          <p:cNvSpPr txBox="1"/>
          <p:nvPr/>
        </p:nvSpPr>
        <p:spPr>
          <a:xfrm>
            <a:off x="6314663" y="3092642"/>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5" name="Google Shape;735;p75"/>
          <p:cNvSpPr/>
          <p:nvPr/>
        </p:nvSpPr>
        <p:spPr>
          <a:xfrm>
            <a:off x="567559" y="2278867"/>
            <a:ext cx="7031726" cy="134728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6" name="Google Shape;736;p75"/>
          <p:cNvSpPr txBox="1"/>
          <p:nvPr/>
        </p:nvSpPr>
        <p:spPr>
          <a:xfrm>
            <a:off x="524149" y="3827086"/>
            <a:ext cx="7230130" cy="90127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 xml:space="preserve">How can estimation help you verify your quotient? </a:t>
            </a:r>
            <a:endParaRPr b="0" i="0" sz="1400" u="none" cap="none" strike="noStrike">
              <a:solidFill>
                <a:srgbClr val="000000"/>
              </a:solidFill>
              <a:latin typeface="Arial"/>
              <a:ea typeface="Arial"/>
              <a:cs typeface="Arial"/>
              <a:sym typeface="Arial"/>
            </a:endParaRPr>
          </a:p>
        </p:txBody>
      </p:sp>
      <p:sp>
        <p:nvSpPr>
          <p:cNvPr id="7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2.7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must both numbers be multiplied by the same power of ten? How can multiplication check the quotient?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5" name="Google Shape;585;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6" name="Google Shape;586;p58"/>
          <p:cNvSpPr txBox="1"/>
          <p:nvPr/>
        </p:nvSpPr>
        <p:spPr>
          <a:xfrm>
            <a:off x="458686" y="514410"/>
            <a:ext cx="6366435" cy="37815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 school bought new math workbooks as shown in the order form. What is the cost of each workbook?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determine the cost of each workbook?</a:t>
            </a:r>
            <a:endParaRPr b="0" i="0" sz="1400" u="none" cap="none" strike="noStrike">
              <a:solidFill>
                <a:srgbClr val="000000"/>
              </a:solidFill>
              <a:latin typeface="Arial"/>
              <a:ea typeface="Arial"/>
              <a:cs typeface="Arial"/>
              <a:sym typeface="Arial"/>
            </a:endParaRPr>
          </a:p>
        </p:txBody>
      </p:sp>
      <p:sp>
        <p:nvSpPr>
          <p:cNvPr id="587" name="Google Shape;587;p58"/>
          <p:cNvSpPr txBox="1"/>
          <p:nvPr/>
        </p:nvSpPr>
        <p:spPr>
          <a:xfrm>
            <a:off x="458686" y="467564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divide the total cost by the number of books.</a:t>
            </a:r>
            <a:endParaRPr b="0" i="0" sz="1400" u="none" cap="none" strike="noStrike">
              <a:solidFill>
                <a:srgbClr val="000000"/>
              </a:solidFill>
              <a:latin typeface="Arial"/>
              <a:ea typeface="Arial"/>
              <a:cs typeface="Arial"/>
              <a:sym typeface="Arial"/>
            </a:endParaRPr>
          </a:p>
        </p:txBody>
      </p:sp>
      <p:pic>
        <p:nvPicPr>
          <p:cNvPr id="588" name="Google Shape;588;p58"/>
          <p:cNvPicPr preferRelativeResize="0"/>
          <p:nvPr/>
        </p:nvPicPr>
        <p:blipFill rotWithShape="1">
          <a:blip r:embed="rId2">
            <a:alphaModFix/>
          </a:blip>
          <a:srcRect b="0" l="0" r="0" t="0"/>
          <a:stretch/>
        </p:blipFill>
        <p:spPr>
          <a:xfrm>
            <a:off x="7640877" y="1477578"/>
            <a:ext cx="3741773" cy="3902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43</a:t>
            </a:r>
          </a:p>
        </p:txBody>
      </p:sp>
      <p:grpSp>
        <p:nvGrpSpPr>
          <p:cNvPr id="589" name="TEACH-6-student-move" descr="TEACH 6 · Organize and implement routines to support a learning-focused classroom"/>
          <p:cNvGrpSpPr/>
          <p:nvPr/>
        </p:nvGrpSpPr>
        <p:grpSpPr>
          <a:xfrm>
            <a:off x="502920" y="2792489"/>
            <a:ext cx="5501640" cy="594360"/>
            <a:chOff x="502920" y="3998989"/>
            <a:chExt cx="5501640" cy="594360"/>
          </a:xfrm>
        </p:grpSpPr>
        <p:sp>
          <p:nvSpPr>
            <p:cNvPr id="590" name="TEACH-move-card"/>
            <p:cNvSpPr/>
            <p:nvPr/>
          </p:nvSpPr>
          <p:spPr>
            <a:xfrm>
              <a:off x="502920" y="399898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1" name="TEACH-move-rule"/>
            <p:cNvSpPr/>
            <p:nvPr/>
          </p:nvSpPr>
          <p:spPr>
            <a:xfrm>
              <a:off x="548640" y="4111917"/>
              <a:ext cx="100584" cy="368504"/>
            </a:xfrm>
            <a:prstGeom prst="roundRect">
              <a:avLst>
                <a:gd name="adj" fmla="val 50000"/>
              </a:avLst>
            </a:prstGeom>
            <a:solidFill>
              <a:srgbClr val="01708C"/>
            </a:solidFill>
            <a:ln>
              <a:noFill/>
            </a:ln>
          </p:spPr>
          <p:txBody>
            <a:bodyPr/>
            <a:lstStyle/>
            <a:p>
              <a:endParaRPr/>
            </a:p>
          </p:txBody>
        </p:sp>
        <p:sp>
          <p:nvSpPr>
            <p:cNvPr id="592" name="TEACH-move-text"/>
            <p:cNvSpPr txBox="1"/>
            <p:nvPr/>
          </p:nvSpPr>
          <p:spPr>
            <a:xfrm>
              <a:off x="822960" y="399898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divide 4.8 ÷ 0.6, shift decimals to calculate: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48 ÷ 6</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4.8 ÷ 6</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480 ÷ 6</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48 ÷ 60</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48 ÷ 6?</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0.8</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80</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7.2 ÷ 0.09?</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0.8</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800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long division, decimal in quotient aligns: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the right edge</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Directly above dividend decimal</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Under the divisor</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index zero</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43</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2-7 · Divide Decimals Using an Algorithm</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Whole Number Divisor</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Multiply both </a:t>
            </a:r>
            <a:r>
              <a:rPr b="1" i="0" lang="en-US" sz="1450" u="none" cap="none" strike="noStrike">
                <a:solidFill>
                  <a:srgbClr val="475569"/>
                </a:solidFill>
                <a:latin typeface="Arial"/>
                <a:ea typeface="Arial"/>
                <a:cs typeface="Arial"/>
                <a:sym typeface="Arial"/>
              </a:rPr>
              <a:t xml:space="preserve">divisor</a:t>
            </a:r>
            <a:r>
              <a:rPr b="0" i="0" lang="en-US" sz="1450" u="none" cap="none" strike="noStrike">
                <a:solidFill>
                  <a:srgbClr val="475569"/>
                </a:solidFill>
                <a:latin typeface="Arial"/>
                <a:ea typeface="Arial"/>
                <a:cs typeface="Arial"/>
                <a:sym typeface="Arial"/>
              </a:rPr>
              <a:t xml:space="preserve"> and </a:t>
            </a:r>
            <a:r>
              <a:rPr b="1" i="0" lang="en-US" sz="1450" u="none" cap="none" strike="noStrike">
                <a:solidFill>
                  <a:srgbClr val="475569"/>
                </a:solidFill>
                <a:latin typeface="Arial"/>
                <a:ea typeface="Arial"/>
                <a:cs typeface="Arial"/>
                <a:sym typeface="Arial"/>
              </a:rPr>
              <a:t xml:space="preserve">dividend</a:t>
            </a:r>
            <a:r>
              <a:rPr b="0" i="0" lang="en-US" sz="1450" u="none" cap="none" strike="noStrike">
                <a:solidFill>
                  <a:srgbClr val="475569"/>
                </a:solidFill>
                <a:latin typeface="Arial"/>
                <a:ea typeface="Arial"/>
                <a:cs typeface="Arial"/>
                <a:sym typeface="Arial"/>
              </a:rPr>
              <a:t xml:space="preserve"> by powers of 10 until divisor is a whole integer.</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Decimal Alignment</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Place the </a:t>
            </a:r>
            <a:r>
              <a:rPr b="1" i="0" lang="en-US" sz="1450" u="none" cap="none" strike="noStrike">
                <a:solidFill>
                  <a:srgbClr val="475569"/>
                </a:solidFill>
                <a:latin typeface="Arial"/>
                <a:ea typeface="Arial"/>
                <a:cs typeface="Arial"/>
                <a:sym typeface="Arial"/>
              </a:rPr>
              <a:t xml:space="preserve">decimal point</a:t>
            </a:r>
            <a:r>
              <a:rPr b="0" i="0" lang="en-US" sz="1450" u="none" cap="none" strike="noStrike">
                <a:solidFill>
                  <a:srgbClr val="475569"/>
                </a:solidFill>
                <a:latin typeface="Arial"/>
                <a:ea typeface="Arial"/>
                <a:cs typeface="Arial"/>
                <a:sym typeface="Arial"/>
              </a:rPr>
              <a:t xml:space="preserve"> in the </a:t>
            </a:r>
            <a:r>
              <a:rPr b="1" i="0" lang="en-US" sz="1450" u="none" cap="none" strike="noStrike">
                <a:solidFill>
                  <a:srgbClr val="475569"/>
                </a:solidFill>
                <a:latin typeface="Arial"/>
                <a:ea typeface="Arial"/>
                <a:cs typeface="Arial"/>
                <a:sym typeface="Arial"/>
              </a:rPr>
              <a:t xml:space="preserve">quotient</a:t>
            </a:r>
            <a:r>
              <a:rPr b="0" i="0" lang="en-US" sz="1450" u="none" cap="none" strike="noStrike">
                <a:solidFill>
                  <a:srgbClr val="475569"/>
                </a:solidFill>
                <a:latin typeface="Arial"/>
                <a:ea typeface="Arial"/>
                <a:cs typeface="Arial"/>
                <a:sym typeface="Arial"/>
              </a:rPr>
              <a:t xml:space="preserve"> directly above the adjusted dividend point.</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Algorithm Precision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Divide place by place, bringing down zeros after the decimal point as needed.</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43</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76"/>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Divide Decimals Using an Algorithm</a:t>
            </a:r>
            <a:endParaRPr b="0" i="0" sz="1400" u="none" cap="none" strike="noStrike">
              <a:solidFill>
                <a:srgbClr val="000000"/>
              </a:solidFill>
              <a:latin typeface="Arial"/>
              <a:ea typeface="Arial"/>
              <a:cs typeface="Arial"/>
              <a:sym typeface="Arial"/>
            </a:endParaRPr>
          </a:p>
        </p:txBody>
      </p:sp>
      <p:sp>
        <p:nvSpPr>
          <p:cNvPr id="742" name="Google Shape;742;p76"/>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3" name="Google Shape;743;p76"/>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43</a:t>
            </a:r>
          </a:p>
        </p:txBody>
      </p:sp>
      <p:grpSp>
        <p:nvGrpSpPr>
          <p:cNvPr id="745" name="TEACH-4-student-move" descr="TEACH 4 · Monitor progress and provide feedback"/>
          <p:cNvGrpSpPr/>
          <p:nvPr/>
        </p:nvGrpSpPr>
        <p:grpSpPr>
          <a:xfrm>
            <a:off x="502920" y="3201929"/>
            <a:ext cx="11186160" cy="731520"/>
            <a:chOff x="502920" y="3201929"/>
            <a:chExt cx="11186160" cy="731520"/>
          </a:xfrm>
        </p:grpSpPr>
        <p:sp>
          <p:nvSpPr>
            <p:cNvPr id="746"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7"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48"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cxnSp>
        <p:nvCxnSpPr>
          <p:cNvPr id="759" name="Google Shape;759;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0" name="Google Shape;760;p78"/>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61" name="Google Shape;761;p78"/>
          <p:cNvSpPr txBox="1"/>
          <p:nvPr/>
        </p:nvSpPr>
        <p:spPr>
          <a:xfrm>
            <a:off x="484560" y="936100"/>
            <a:ext cx="7705762" cy="715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math do you see in this problem?</a:t>
            </a:r>
            <a:endParaRPr b="0" i="0" sz="1400" u="none" cap="none" strike="noStrike">
              <a:solidFill>
                <a:srgbClr val="000000"/>
              </a:solidFill>
              <a:latin typeface="Arial"/>
              <a:ea typeface="Arial"/>
              <a:cs typeface="Arial"/>
              <a:sym typeface="Arial"/>
            </a:endParaRPr>
          </a:p>
        </p:txBody>
      </p:sp>
      <p:sp>
        <p:nvSpPr>
          <p:cNvPr id="762" name="Google Shape;762;p78"/>
          <p:cNvSpPr/>
          <p:nvPr/>
        </p:nvSpPr>
        <p:spPr>
          <a:xfrm>
            <a:off x="1289441" y="2158571"/>
            <a:ext cx="6096000"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Arial"/>
                <a:ea typeface="Arial"/>
                <a:cs typeface="Arial"/>
                <a:sym typeface="Arial"/>
              </a:rPr>
              <a:t>Michael and his mother are building some bookshelves. They want each shelf to be a certain length.</a:t>
            </a:r>
            <a:endParaRPr b="0" i="0" sz="1400" u="none" cap="none" strike="noStrike">
              <a:solidFill>
                <a:srgbClr val="000000"/>
              </a:solidFill>
              <a:latin typeface="Arial"/>
              <a:ea typeface="Arial"/>
              <a:cs typeface="Arial"/>
              <a:sym typeface="Arial"/>
            </a:endParaRPr>
          </a:p>
        </p:txBody>
      </p:sp>
      <p:sp>
        <p:nvSpPr>
          <p:cNvPr id="763" name="Google Shape;763;p78"/>
          <p:cNvSpPr/>
          <p:nvPr/>
        </p:nvSpPr>
        <p:spPr>
          <a:xfrm>
            <a:off x="609600" y="1588655"/>
            <a:ext cx="8017164" cy="2715490"/>
          </a:xfrm>
          <a:prstGeom prst="snip1Rect">
            <a:avLst>
              <a:gd fmla="val 16667" name="adj"/>
            </a:avLst>
          </a:prstGeom>
          <a:noFill/>
          <a:ln cap="flat" cmpd="sng" w="1905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764" name="Google Shape;764;p78"/>
          <p:cNvPicPr preferRelativeResize="0"/>
          <p:nvPr/>
        </p:nvPicPr>
        <p:blipFill rotWithShape="1">
          <a:blip r:embed="rId3">
            <a:alphaModFix/>
          </a:blip>
          <a:srcRect b="0" l="0" r="0" t="0"/>
          <a:stretch/>
        </p:blipFill>
        <p:spPr>
          <a:xfrm>
            <a:off x="484560" y="4915646"/>
            <a:ext cx="5054600" cy="838200"/>
          </a:xfrm>
          <a:prstGeom prst="rect">
            <a:avLst/>
          </a:prstGeom>
          <a:noFill/>
          <a:ln>
            <a:noFill/>
          </a:ln>
        </p:spPr>
      </p:pic>
      <p:sp>
        <p:nvSpPr>
          <p:cNvPr id="765" name="Google Shape;765;p78"/>
          <p:cNvSpPr txBox="1"/>
          <p:nvPr/>
        </p:nvSpPr>
        <p:spPr>
          <a:xfrm>
            <a:off x="3344577" y="507296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66" name="Google Shape;766;p78"/>
          <p:cNvSpPr/>
          <p:nvPr/>
        </p:nvSpPr>
        <p:spPr>
          <a:xfrm>
            <a:off x="697756" y="573096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actions are you taking to achieve your goal today?</a:t>
            </a:r>
            <a:endParaRPr b="0" i="0" sz="1400" u="none" cap="none" strike="noStrike">
              <a:solidFill>
                <a:srgbClr val="000000"/>
              </a:solidFill>
              <a:latin typeface="Arial"/>
              <a:ea typeface="Arial"/>
              <a:cs typeface="Arial"/>
              <a:sym typeface="Arial"/>
            </a:endParaRPr>
          </a:p>
        </p:txBody>
      </p:sp>
      <p:sp>
        <p:nvSpPr>
          <p:cNvPr id="7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43</a:t>
            </a:r>
          </a:p>
        </p:txBody>
      </p:sp>
      <p:sp xmlns:p="http://schemas.openxmlformats.org/presentationml/2006/main" xmlns:a="http://schemas.openxmlformats.org/drawingml/2006/main">
        <p:nvSpPr>
          <p:cNvPr id="768" name="TEACH-embedded-student-prompt" descr="Student thinking and response directions"/>
          <p:cNvSpPr txBox="1"/>
          <p:nvPr/>
        </p:nvSpPr>
        <p:spPr>
          <a:xfrm>
            <a:off x="6111240" y="47731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cxnSp>
        <p:nvCxnSpPr>
          <p:cNvPr id="771" name="Google Shape;771;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2" name="Google Shape;772;p79"/>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Building Bookshelves</a:t>
            </a:r>
            <a:endParaRPr b="0" i="0" sz="1400" u="none" cap="none" strike="noStrike">
              <a:solidFill>
                <a:srgbClr val="000000"/>
              </a:solidFill>
              <a:latin typeface="Arial"/>
              <a:ea typeface="Arial"/>
              <a:cs typeface="Arial"/>
              <a:sym typeface="Arial"/>
            </a:endParaRPr>
          </a:p>
        </p:txBody>
      </p:sp>
      <p:sp>
        <p:nvSpPr>
          <p:cNvPr id="773" name="Google Shape;773;p79"/>
          <p:cNvSpPr txBox="1"/>
          <p:nvPr/>
        </p:nvSpPr>
        <p:spPr>
          <a:xfrm>
            <a:off x="484565" y="936100"/>
            <a:ext cx="6366435" cy="2009323"/>
          </a:xfrm>
          <a:prstGeom prst="rect">
            <a:avLst/>
          </a:prstGeom>
          <a:blipFill rotWithShape="1">
            <a:blip r:embed="rId3">
              <a:alphaModFix/>
            </a:blip>
            <a:stretch>
              <a:fillRect b="-60790" l="-1914" r="-2010" t="-334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74" name="Google Shape;774;p79"/>
          <p:cNvPicPr preferRelativeResize="0"/>
          <p:nvPr/>
        </p:nvPicPr>
        <p:blipFill rotWithShape="1">
          <a:blip r:embed="rId4">
            <a:alphaModFix/>
          </a:blip>
          <a:srcRect b="0" l="0" r="0" t="0"/>
          <a:stretch/>
        </p:blipFill>
        <p:spPr>
          <a:xfrm>
            <a:off x="7678721" y="2818301"/>
            <a:ext cx="3952447" cy="1277151"/>
          </a:xfrm>
          <a:prstGeom prst="rect">
            <a:avLst/>
          </a:prstGeom>
          <a:noFill/>
          <a:ln>
            <a:noFill/>
          </a:ln>
        </p:spPr>
      </p:pic>
      <p:sp>
        <p:nvSpPr>
          <p:cNvPr id="7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43</a:t>
            </a:r>
          </a:p>
        </p:txBody>
      </p:sp>
      <p:sp xmlns:p="http://schemas.openxmlformats.org/presentationml/2006/main" xmlns:a="http://schemas.openxmlformats.org/drawingml/2006/main">
        <p:nvSpPr>
          <p:cNvPr id="77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cxnSp>
        <p:nvCxnSpPr>
          <p:cNvPr id="788" name="Google Shape;788;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9" name="Google Shape;789;p81"/>
          <p:cNvSpPr txBox="1"/>
          <p:nvPr/>
        </p:nvSpPr>
        <p:spPr>
          <a:xfrm>
            <a:off x="484565" y="530659"/>
            <a:ext cx="6366435" cy="2422562"/>
          </a:xfrm>
          <a:prstGeom prst="rect">
            <a:avLst/>
          </a:prstGeom>
          <a:blipFill rotWithShape="1">
            <a:blip r:embed="rId3">
              <a:alphaModFix/>
            </a:blip>
            <a:stretch>
              <a:fillRect b="-6297" l="-1914" r="-2010" t="-25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90" name="Google Shape;790;p81"/>
          <p:cNvSpPr/>
          <p:nvPr/>
        </p:nvSpPr>
        <p:spPr>
          <a:xfrm>
            <a:off x="484565" y="4289378"/>
            <a:ext cx="661591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How can you represent the problem?</a:t>
            </a:r>
            <a:r>
              <a:rPr b="0" i="0" lang="en-US" sz="2800" u="none" cap="none" strike="noStrike">
                <a:solidFill>
                  <a:srgbClr val="23282D"/>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791" name="Google Shape;791;p81"/>
          <p:cNvSpPr txBox="1"/>
          <p:nvPr/>
        </p:nvSpPr>
        <p:spPr>
          <a:xfrm>
            <a:off x="484565" y="5277715"/>
            <a:ext cx="9503429" cy="10948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division equation to represent the problem.</a:t>
            </a:r>
            <a:endParaRPr b="0" i="0" sz="1400" u="none" cap="none" strike="noStrike">
              <a:solidFill>
                <a:srgbClr val="000000"/>
              </a:solidFill>
              <a:latin typeface="Arial"/>
              <a:ea typeface="Arial"/>
              <a:cs typeface="Arial"/>
              <a:sym typeface="Arial"/>
            </a:endParaRPr>
          </a:p>
        </p:txBody>
      </p:sp>
      <p:pic>
        <p:nvPicPr>
          <p:cNvPr descr="A picture containing text&#10;&#10;Description automatically generated" id="792" name="Google Shape;792;p81"/>
          <p:cNvPicPr preferRelativeResize="0"/>
          <p:nvPr/>
        </p:nvPicPr>
        <p:blipFill rotWithShape="1">
          <a:blip r:embed="rId4">
            <a:alphaModFix/>
          </a:blip>
          <a:srcRect b="0" l="0" r="0" t="0"/>
          <a:stretch/>
        </p:blipFill>
        <p:spPr>
          <a:xfrm>
            <a:off x="7678721" y="2818301"/>
            <a:ext cx="3952447" cy="1277151"/>
          </a:xfrm>
          <a:prstGeom prst="rect">
            <a:avLst/>
          </a:prstGeom>
          <a:noFill/>
          <a:ln>
            <a:noFill/>
          </a:ln>
        </p:spPr>
      </p:pic>
      <p:sp>
        <p:nvSpPr>
          <p:cNvPr id="7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43</a:t>
            </a:r>
          </a:p>
        </p:txBody>
      </p:sp>
      <p:sp>
        <p:nvSpPr>
          <p:cNvPr id="794" name="EWL-COVER-1"/>
          <p:cNvSpPr/>
          <p:nvPr/>
        </p:nvSpPr>
        <p:spPr>
          <a:xfrm>
            <a:off x="429701" y="5222851"/>
            <a:ext cx="9613157" cy="1204548"/>
          </a:xfrm>
          <a:prstGeom prst="rect">
            <a:avLst/>
          </a:prstGeom>
          <a:solidFill>
            <a:srgbClr val="FFFFFF"/>
          </a:solidFill>
          <a:ln>
            <a:noFill/>
          </a:ln>
        </p:spPr>
        <p:txBody>
          <a:bodyPr/>
          <a:lstStyle/>
          <a:p/>
        </p:txBody>
      </p:sp>
      <p:sp xmlns:p="http://schemas.openxmlformats.org/presentationml/2006/main" xmlns:a="http://schemas.openxmlformats.org/drawingml/2006/main">
        <p:nvSpPr>
          <p:cNvPr id="795" name="TEACH-embedded-student-prompt" descr="Student thinking and response directions"/>
          <p:cNvSpPr txBox="1"/>
          <p:nvPr/>
        </p:nvSpPr>
        <p:spPr>
          <a:xfrm>
            <a:off x="594360" y="34015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cxnSp>
        <p:nvCxnSpPr>
          <p:cNvPr id="840" name="Google Shape;840;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1" name="Google Shape;841;p87"/>
          <p:cNvSpPr txBox="1"/>
          <p:nvPr/>
        </p:nvSpPr>
        <p:spPr>
          <a:xfrm>
            <a:off x="484565" y="460135"/>
            <a:ext cx="6366435" cy="7080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an algorithm to find the quotient.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1" lang="en-US" sz="2800" u="none" cap="none" strike="noStrike">
                <a:solidFill>
                  <a:srgbClr val="23282D"/>
                </a:solidFill>
                <a:latin typeface="Cambria Math"/>
                <a:ea typeface="Cambria Math"/>
                <a:cs typeface="Cambria Math"/>
                <a:sym typeface="Cambria Math"/>
              </a:rPr>
              <a:t>n</a:t>
            </a:r>
            <a:r>
              <a:rPr b="0" i="0" lang="en-US" sz="2800" u="none" cap="none" strike="noStrike">
                <a:solidFill>
                  <a:srgbClr val="23282D"/>
                </a:solidFill>
                <a:latin typeface="Cambria Math"/>
                <a:ea typeface="Cambria Math"/>
                <a:cs typeface="Cambria Math"/>
                <a:sym typeface="Cambria Math"/>
              </a:rPr>
              <a:t xml:space="preserve"> = 112.5 ÷ 25</a:t>
            </a:r>
            <a:endParaRPr b="0" i="0" sz="1400" u="none" cap="none" strike="noStrike">
              <a:solidFill>
                <a:srgbClr val="000000"/>
              </a:solidFill>
              <a:latin typeface="Arial"/>
              <a:ea typeface="Arial"/>
              <a:cs typeface="Arial"/>
              <a:sym typeface="Arial"/>
            </a:endParaRPr>
          </a:p>
        </p:txBody>
      </p:sp>
      <p:pic>
        <p:nvPicPr>
          <p:cNvPr id="842" name="Google Shape;842;p87"/>
          <p:cNvPicPr preferRelativeResize="0"/>
          <p:nvPr/>
        </p:nvPicPr>
        <p:blipFill rotWithShape="1">
          <a:blip r:embed="rId3">
            <a:alphaModFix/>
          </a:blip>
          <a:srcRect b="0" l="0" r="0" t="0"/>
          <a:stretch/>
        </p:blipFill>
        <p:spPr>
          <a:xfrm>
            <a:off x="3772823" y="2146406"/>
            <a:ext cx="3615642" cy="938237"/>
          </a:xfrm>
          <a:prstGeom prst="rect">
            <a:avLst/>
          </a:prstGeom>
          <a:noFill/>
          <a:ln>
            <a:noFill/>
          </a:ln>
        </p:spPr>
      </p:pic>
      <p:sp>
        <p:nvSpPr>
          <p:cNvPr id="843" name="Google Shape;843;p87"/>
          <p:cNvSpPr/>
          <p:nvPr/>
        </p:nvSpPr>
        <p:spPr>
          <a:xfrm>
            <a:off x="484565" y="4620608"/>
            <a:ext cx="393889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is the quotient?</a:t>
            </a:r>
            <a:r>
              <a:rPr b="0" i="0" lang="en-US" sz="2800" u="none" cap="none" strike="noStrike">
                <a:solidFill>
                  <a:srgbClr val="23282D"/>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844" name="Google Shape;844;p87"/>
          <p:cNvSpPr txBox="1"/>
          <p:nvPr/>
        </p:nvSpPr>
        <p:spPr>
          <a:xfrm>
            <a:off x="484565" y="5289004"/>
            <a:ext cx="2707209" cy="11103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8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43</a:t>
            </a:r>
          </a:p>
        </p:txBody>
      </p:sp>
      <p:sp xmlns:p="http://schemas.openxmlformats.org/presentationml/2006/main" xmlns:a="http://schemas.openxmlformats.org/drawingml/2006/main">
        <p:nvSpPr>
          <p:cNvPr id="846"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cxnSp>
        <p:nvCxnSpPr>
          <p:cNvPr id="849" name="Google Shape;849;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0" name="Google Shape;850;p88"/>
          <p:cNvSpPr txBox="1"/>
          <p:nvPr/>
        </p:nvSpPr>
        <p:spPr>
          <a:xfrm>
            <a:off x="484565" y="460135"/>
            <a:ext cx="6366435" cy="708061"/>
          </a:xfrm>
          <a:prstGeom prst="rect">
            <a:avLst/>
          </a:prstGeom>
          <a:blipFill rotWithShape="1">
            <a:blip r:embed="rId3">
              <a:alphaModFix/>
            </a:blip>
            <a:stretch>
              <a:fillRect b="-107692" l="-1914" r="0" t="-854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51" name="Google Shape;851;p88"/>
          <p:cNvPicPr preferRelativeResize="0"/>
          <p:nvPr/>
        </p:nvPicPr>
        <p:blipFill rotWithShape="1">
          <a:blip r:embed="rId4">
            <a:alphaModFix/>
          </a:blip>
          <a:srcRect b="0" l="0" r="0" t="0"/>
          <a:stretch/>
        </p:blipFill>
        <p:spPr>
          <a:xfrm>
            <a:off x="3772823" y="1872395"/>
            <a:ext cx="1898661" cy="2583621"/>
          </a:xfrm>
          <a:prstGeom prst="rect">
            <a:avLst/>
          </a:prstGeom>
          <a:noFill/>
          <a:ln>
            <a:noFill/>
          </a:ln>
        </p:spPr>
      </p:pic>
      <p:sp>
        <p:nvSpPr>
          <p:cNvPr id="852" name="Google Shape;852;p88"/>
          <p:cNvSpPr/>
          <p:nvPr/>
        </p:nvSpPr>
        <p:spPr>
          <a:xfrm>
            <a:off x="484565" y="4620608"/>
            <a:ext cx="3938899"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is the quotient?</a:t>
            </a:r>
            <a:r>
              <a:rPr b="0" i="0" lang="en-US" sz="2800" u="none" cap="none" strike="noStrike">
                <a:solidFill>
                  <a:srgbClr val="23282D"/>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853" name="Google Shape;853;p88"/>
          <p:cNvSpPr txBox="1"/>
          <p:nvPr/>
        </p:nvSpPr>
        <p:spPr>
          <a:xfrm>
            <a:off x="484565" y="5289004"/>
            <a:ext cx="2707209" cy="11103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4.5</a:t>
            </a:r>
            <a:endParaRPr b="0" i="0" sz="1400" u="none" cap="none" strike="noStrike">
              <a:solidFill>
                <a:srgbClr val="000000"/>
              </a:solidFill>
              <a:latin typeface="Arial"/>
              <a:ea typeface="Arial"/>
              <a:cs typeface="Arial"/>
              <a:sym typeface="Arial"/>
            </a:endParaRPr>
          </a:p>
        </p:txBody>
      </p:sp>
      <p:sp>
        <p:nvSpPr>
          <p:cNvPr id="8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43</a:t>
            </a:r>
          </a:p>
        </p:txBody>
      </p:sp>
      <p:sp>
        <p:nvSpPr>
          <p:cNvPr id="855" name="EWL-COVER-1"/>
          <p:cNvSpPr/>
          <p:nvPr/>
        </p:nvSpPr>
        <p:spPr>
          <a:xfrm>
            <a:off x="429701" y="5234140"/>
            <a:ext cx="2816937" cy="1212380"/>
          </a:xfrm>
          <a:prstGeom prst="rect">
            <a:avLst/>
          </a:prstGeom>
          <a:solidFill>
            <a:srgbClr val="FFFFFF"/>
          </a:solidFill>
          <a:ln>
            <a:noFill/>
          </a:ln>
        </p:spPr>
        <p:txBody>
          <a:bodyPr/>
          <a:lstStyle/>
          <a:p/>
        </p:txBody>
      </p:sp>
      <p:sp xmlns:p="http://schemas.openxmlformats.org/presentationml/2006/main" xmlns:a="http://schemas.openxmlformats.org/drawingml/2006/main">
        <p:nvSpPr>
          <p:cNvPr id="85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cxnSp>
        <p:nvCxnSpPr>
          <p:cNvPr id="867" name="Google Shape;867;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68" name="Google Shape;868;p90"/>
          <p:cNvPicPr preferRelativeResize="0"/>
          <p:nvPr/>
        </p:nvPicPr>
        <p:blipFill rotWithShape="1">
          <a:blip r:embed="rId3">
            <a:alphaModFix/>
          </a:blip>
          <a:srcRect b="0" l="0" r="0" t="0"/>
          <a:stretch/>
        </p:blipFill>
        <p:spPr>
          <a:xfrm>
            <a:off x="484565" y="5024331"/>
            <a:ext cx="7073900" cy="841847"/>
          </a:xfrm>
          <a:prstGeom prst="rect">
            <a:avLst/>
          </a:prstGeom>
          <a:noFill/>
          <a:ln>
            <a:noFill/>
          </a:ln>
        </p:spPr>
      </p:pic>
      <p:sp>
        <p:nvSpPr>
          <p:cNvPr id="869" name="Google Shape;869;p90"/>
          <p:cNvSpPr txBox="1"/>
          <p:nvPr/>
        </p:nvSpPr>
        <p:spPr>
          <a:xfrm>
            <a:off x="3202087" y="5181650"/>
            <a:ext cx="6783781" cy="6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rPr b="0" i="0" lang="en-US" sz="2800" u="none" cap="none" strike="noStrike">
                <a:solidFill>
                  <a:schemeClr val="dk2"/>
                </a:solidFill>
                <a:latin typeface="Arial"/>
                <a:ea typeface="Arial"/>
                <a:cs typeface="Arial"/>
                <a:sym typeface="Arial"/>
              </a:rPr>
              <a:t>Recognizing Repetition</a:t>
            </a:r>
            <a:endParaRPr b="0" i="0" sz="1400" u="none" cap="none" strike="noStrike">
              <a:solidFill>
                <a:srgbClr val="000000"/>
              </a:solidFill>
              <a:latin typeface="Arial"/>
              <a:ea typeface="Arial"/>
              <a:cs typeface="Arial"/>
              <a:sym typeface="Arial"/>
            </a:endParaRPr>
          </a:p>
        </p:txBody>
      </p:sp>
      <p:sp>
        <p:nvSpPr>
          <p:cNvPr id="870" name="Google Shape;870;p90"/>
          <p:cNvSpPr/>
          <p:nvPr/>
        </p:nvSpPr>
        <p:spPr>
          <a:xfrm>
            <a:off x="674139" y="5839655"/>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about the process is repeating?</a:t>
            </a:r>
            <a:endParaRPr b="0" i="0" sz="1400" u="none" cap="none" strike="noStrike">
              <a:solidFill>
                <a:srgbClr val="000000"/>
              </a:solidFill>
              <a:latin typeface="Arial"/>
              <a:ea typeface="Arial"/>
              <a:cs typeface="Arial"/>
              <a:sym typeface="Arial"/>
            </a:endParaRPr>
          </a:p>
        </p:txBody>
      </p:sp>
      <p:pic>
        <p:nvPicPr>
          <p:cNvPr id="871" name="Google Shape;871;p90"/>
          <p:cNvPicPr preferRelativeResize="0"/>
          <p:nvPr/>
        </p:nvPicPr>
        <p:blipFill rotWithShape="1">
          <a:blip r:embed="rId4">
            <a:alphaModFix/>
          </a:blip>
          <a:srcRect b="0" l="0" r="0" t="0"/>
          <a:stretch/>
        </p:blipFill>
        <p:spPr>
          <a:xfrm>
            <a:off x="3772823" y="1872395"/>
            <a:ext cx="2195350" cy="2987344"/>
          </a:xfrm>
          <a:prstGeom prst="rect">
            <a:avLst/>
          </a:prstGeom>
          <a:noFill/>
          <a:ln>
            <a:noFill/>
          </a:ln>
        </p:spPr>
      </p:pic>
      <p:sp>
        <p:nvSpPr>
          <p:cNvPr id="872" name="Google Shape;872;p90"/>
          <p:cNvSpPr txBox="1"/>
          <p:nvPr/>
        </p:nvSpPr>
        <p:spPr>
          <a:xfrm>
            <a:off x="484565" y="460135"/>
            <a:ext cx="6366435" cy="708061"/>
          </a:xfrm>
          <a:prstGeom prst="rect">
            <a:avLst/>
          </a:prstGeom>
          <a:blipFill rotWithShape="1">
            <a:blip r:embed="rId5">
              <a:alphaModFix/>
            </a:blip>
            <a:stretch>
              <a:fillRect b="-107692" l="-1914" r="0" t="-854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43</a:t>
            </a:r>
          </a:p>
        </p:txBody>
      </p:sp>
      <p:sp xmlns:p="http://schemas.openxmlformats.org/presentationml/2006/main" xmlns:a="http://schemas.openxmlformats.org/drawingml/2006/main">
        <p:nvSpPr>
          <p:cNvPr id="874" name="TEACH-embedded-student-prompt" descr="Student thinking and response directions"/>
          <p:cNvSpPr txBox="1"/>
          <p:nvPr/>
        </p:nvSpPr>
        <p:spPr>
          <a:xfrm>
            <a:off x="6111240" y="41330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18" name="Google Shape;918;p95"/>
          <p:cNvSpPr txBox="1"/>
          <p:nvPr/>
        </p:nvSpPr>
        <p:spPr>
          <a:xfrm>
            <a:off x="484565" y="927528"/>
            <a:ext cx="8998566" cy="954534"/>
          </a:xfrm>
          <a:prstGeom prst="rect">
            <a:avLst/>
          </a:prstGeom>
          <a:blipFill rotWithShape="1">
            <a:blip r:embed="rId3">
              <a:alphaModFix/>
            </a:blip>
            <a:stretch>
              <a:fillRect b="-16561" l="-1219"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9" name="Google Shape;919;p95"/>
          <p:cNvSpPr txBox="1"/>
          <p:nvPr/>
        </p:nvSpPr>
        <p:spPr>
          <a:xfrm>
            <a:off x="5950678"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20" name="Google Shape;920;p95"/>
          <p:cNvSpPr/>
          <p:nvPr/>
        </p:nvSpPr>
        <p:spPr>
          <a:xfrm>
            <a:off x="567559" y="4653262"/>
            <a:ext cx="6589988" cy="166454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21" name="Google Shape;921;p95"/>
          <p:cNvSpPr txBox="1"/>
          <p:nvPr/>
        </p:nvSpPr>
        <p:spPr>
          <a:xfrm>
            <a:off x="6000158" y="264397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22" name="Google Shape;922;p95"/>
          <p:cNvSpPr/>
          <p:nvPr/>
        </p:nvSpPr>
        <p:spPr>
          <a:xfrm>
            <a:off x="617039" y="1941729"/>
            <a:ext cx="6589988" cy="115984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23" name="Google Shape;923;p95"/>
          <p:cNvSpPr txBox="1"/>
          <p:nvPr/>
        </p:nvSpPr>
        <p:spPr>
          <a:xfrm>
            <a:off x="484564" y="3203632"/>
            <a:ext cx="10964440" cy="1349661"/>
          </a:xfrm>
          <a:prstGeom prst="rect">
            <a:avLst/>
          </a:prstGeom>
          <a:blipFill rotWithShape="1">
            <a:blip r:embed="rId4">
              <a:alphaModFix/>
            </a:blip>
            <a:stretch>
              <a:fillRect b="-14481" l="-1001" r="-1334" t="-49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43</a:t>
            </a:r>
          </a:p>
        </p:txBody>
      </p:sp>
      <p:sp xmlns:p="http://schemas.openxmlformats.org/presentationml/2006/main" xmlns:a="http://schemas.openxmlformats.org/drawingml/2006/main">
        <p:nvSpPr>
          <p:cNvPr id="925"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2.7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moving the decimal point in only the divisor.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Annotate the same power-of-ten scaling on both given numbers.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3" name="Google Shape;82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85"/>
          <p:cNvSpPr txBox="1"/>
          <p:nvPr/>
        </p:nvSpPr>
        <p:spPr>
          <a:xfrm>
            <a:off x="484565" y="986740"/>
            <a:ext cx="8153408" cy="2134530"/>
          </a:xfrm>
          <a:prstGeom prst="rect">
            <a:avLst/>
          </a:prstGeom>
          <a:blipFill rotWithShape="1">
            <a:blip r:embed="rId2">
              <a:alphaModFix/>
            </a:blip>
            <a:stretch>
              <a:fillRect b="0" l="-1495" r="0" t="-314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5" name="Google Shape;825;p85"/>
          <p:cNvSpPr/>
          <p:nvPr/>
        </p:nvSpPr>
        <p:spPr>
          <a:xfrm>
            <a:off x="484565" y="3902137"/>
            <a:ext cx="996069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How can you make the divisor a whole number? Explain.</a:t>
            </a:r>
            <a:endParaRPr b="0" i="0" sz="1400" u="none" cap="none" strike="noStrike">
              <a:solidFill>
                <a:srgbClr val="000000"/>
              </a:solidFill>
              <a:latin typeface="Arial"/>
              <a:ea typeface="Arial"/>
              <a:cs typeface="Arial"/>
              <a:sym typeface="Arial"/>
            </a:endParaRPr>
          </a:p>
        </p:txBody>
      </p:sp>
      <p:sp>
        <p:nvSpPr>
          <p:cNvPr id="826" name="Google Shape;826;p85"/>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827" name="Google Shape;827;p85"/>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828" name="Google Shape;828;p85"/>
          <p:cNvSpPr txBox="1"/>
          <p:nvPr/>
        </p:nvSpPr>
        <p:spPr>
          <a:xfrm>
            <a:off x="558276" y="5218042"/>
            <a:ext cx="8444546" cy="11344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multiply both the dividend and divisor by 10.</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43</a:t>
            </a:r>
          </a:p>
        </p:txBody>
      </p:sp>
      <p:sp xmlns:p="http://schemas.openxmlformats.org/presentationml/2006/main" xmlns:a="http://schemas.openxmlformats.org/drawingml/2006/main">
        <p:nvSpPr>
          <p:cNvPr id="829"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cxnSp>
        <p:nvCxnSpPr>
          <p:cNvPr id="928" name="Google Shape;928;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9" name="Google Shape;929;p96"/>
          <p:cNvSpPr txBox="1"/>
          <p:nvPr/>
        </p:nvSpPr>
        <p:spPr>
          <a:xfrm>
            <a:off x="484563" y="1358350"/>
            <a:ext cx="6219257" cy="49545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You can use an algorithm to divide multi-digit decimal numbers.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When the dividend is a decimal and the divisor a whole number, place the decimal point in the quotient above the decimal point in the dividend.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When the divisor is a decimal, multiply both the divisor and the dividend by the same power of 10 so that the divisor is a whole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930" name="Google Shape;930;p96"/>
          <p:cNvSpPr txBox="1"/>
          <p:nvPr/>
        </p:nvSpPr>
        <p:spPr>
          <a:xfrm>
            <a:off x="484565" y="316033"/>
            <a:ext cx="6030535" cy="78814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Divide Decimals Using an Algorithm</a:t>
            </a:r>
            <a:endParaRPr b="0" i="0" sz="1400" u="none" cap="none" strike="noStrike">
              <a:solidFill>
                <a:srgbClr val="000000"/>
              </a:solidFill>
              <a:latin typeface="Arial"/>
              <a:ea typeface="Arial"/>
              <a:cs typeface="Arial"/>
              <a:sym typeface="Arial"/>
            </a:endParaRPr>
          </a:p>
        </p:txBody>
      </p:sp>
      <p:pic>
        <p:nvPicPr>
          <p:cNvPr id="931" name="Google Shape;931;p96"/>
          <p:cNvPicPr preferRelativeResize="0"/>
          <p:nvPr/>
        </p:nvPicPr>
        <p:blipFill rotWithShape="1">
          <a:blip r:embed="rId3">
            <a:alphaModFix/>
          </a:blip>
          <a:srcRect b="0" l="0" r="0" t="0"/>
          <a:stretch/>
        </p:blipFill>
        <p:spPr>
          <a:xfrm>
            <a:off x="6725382" y="1979001"/>
            <a:ext cx="1724025" cy="2724150"/>
          </a:xfrm>
          <a:prstGeom prst="rect">
            <a:avLst/>
          </a:prstGeom>
          <a:noFill/>
          <a:ln>
            <a:noFill/>
          </a:ln>
        </p:spPr>
      </p:pic>
      <p:pic>
        <p:nvPicPr>
          <p:cNvPr id="932" name="Google Shape;932;p96"/>
          <p:cNvPicPr preferRelativeResize="0"/>
          <p:nvPr/>
        </p:nvPicPr>
        <p:blipFill rotWithShape="1">
          <a:blip r:embed="rId4">
            <a:alphaModFix/>
          </a:blip>
          <a:srcRect b="0" l="0" r="0" t="0"/>
          <a:stretch/>
        </p:blipFill>
        <p:spPr>
          <a:xfrm>
            <a:off x="8427846" y="1979001"/>
            <a:ext cx="1724025" cy="2724150"/>
          </a:xfrm>
          <a:prstGeom prst="rect">
            <a:avLst/>
          </a:prstGeom>
          <a:noFill/>
          <a:ln>
            <a:noFill/>
          </a:ln>
        </p:spPr>
      </p:pic>
      <p:pic>
        <p:nvPicPr>
          <p:cNvPr id="933" name="Google Shape;933;p96"/>
          <p:cNvPicPr preferRelativeResize="0"/>
          <p:nvPr/>
        </p:nvPicPr>
        <p:blipFill rotWithShape="1">
          <a:blip r:embed="rId5">
            <a:alphaModFix/>
          </a:blip>
          <a:srcRect b="0" l="0" r="0" t="0"/>
          <a:stretch/>
        </p:blipFill>
        <p:spPr>
          <a:xfrm>
            <a:off x="10151871" y="1979001"/>
            <a:ext cx="1724025" cy="2724150"/>
          </a:xfrm>
          <a:prstGeom prst="rect">
            <a:avLst/>
          </a:prstGeom>
          <a:noFill/>
          <a:ln>
            <a:noFill/>
          </a:ln>
        </p:spPr>
      </p:pic>
      <p:sp>
        <p:nvSpPr>
          <p:cNvPr id="9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43</a:t>
            </a:r>
          </a:p>
        </p:txBody>
      </p:sp>
      <p:sp>
        <p:nvSpPr>
          <p:cNvPr id="93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36"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a:t>
            </a:r>
            <a:endParaRPr lang="en-US" sz="2000"/>
          </a:p>
          <a:p>
            <a:pPr>
              <a:lnSpc>
                <a:spcPts val="2400"/>
              </a:lnSpc>
              <a:buNone/>
            </a:pPr>
            <a:r>
              <a:rPr lang="en-US" sz="2000">
                <a:solidFill>
                  <a:srgbClr val="174D60"/>
                </a:solidFill>
                <a:latin typeface="Arial"/>
              </a:rPr>
              <a:t>reading. Use today’s example as</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97"/>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Running a Marathon</a:t>
            </a:r>
            <a:endParaRPr b="0" i="0" sz="1400" u="none" cap="none" strike="noStrike">
              <a:solidFill>
                <a:srgbClr val="000000"/>
              </a:solidFill>
              <a:latin typeface="Arial"/>
              <a:ea typeface="Arial"/>
              <a:cs typeface="Arial"/>
              <a:sym typeface="Arial"/>
            </a:endParaRPr>
          </a:p>
        </p:txBody>
      </p:sp>
      <p:cxnSp>
        <p:nvCxnSpPr>
          <p:cNvPr id="939" name="Google Shape;939;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0" name="Google Shape;940;p97"/>
          <p:cNvSpPr txBox="1"/>
          <p:nvPr/>
        </p:nvSpPr>
        <p:spPr>
          <a:xfrm>
            <a:off x="484566" y="927527"/>
            <a:ext cx="5763834" cy="54515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Evelyn is training to run a marathon on the path shown. Evelyn expects that she will need at least 4 hours to finish the race but hopes to finish in less than 5 hours.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How many miles should Evelyn try to run each hour to achieve her goal?</a:t>
            </a:r>
            <a:endParaRPr b="0" i="0" sz="1400" u="none" cap="none" strike="noStrike">
              <a:solidFill>
                <a:srgbClr val="000000"/>
              </a:solidFill>
              <a:latin typeface="Arial"/>
              <a:ea typeface="Arial"/>
              <a:cs typeface="Arial"/>
              <a:sym typeface="Arial"/>
            </a:endParaRPr>
          </a:p>
        </p:txBody>
      </p:sp>
      <p:pic>
        <p:nvPicPr>
          <p:cNvPr id="941" name="Google Shape;941;p97"/>
          <p:cNvPicPr preferRelativeResize="0"/>
          <p:nvPr/>
        </p:nvPicPr>
        <p:blipFill rotWithShape="1">
          <a:blip r:embed="rId3">
            <a:alphaModFix/>
          </a:blip>
          <a:srcRect b="0" l="0" r="0" t="0"/>
          <a:stretch/>
        </p:blipFill>
        <p:spPr>
          <a:xfrm>
            <a:off x="6248400" y="1381029"/>
            <a:ext cx="5767909" cy="2916000"/>
          </a:xfrm>
          <a:prstGeom prst="rect">
            <a:avLst/>
          </a:prstGeom>
          <a:noFill/>
          <a:ln>
            <a:noFill/>
          </a:ln>
        </p:spPr>
      </p:pic>
      <p:sp>
        <p:nvSpPr>
          <p:cNvPr id="9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43</a:t>
            </a:r>
          </a:p>
        </p:txBody>
      </p:sp>
      <p:sp>
        <p:nvSpPr>
          <p:cNvPr id="94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44"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47" name="Google Shape;947;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8" name="Google Shape;948;p9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divide a multi-digit decimal by a whole number using an algorithm.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divide a multi-digit decimal by a decimal using an algorithm.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place-value patterns to divide with decimals.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43</a:t>
            </a:r>
          </a:p>
        </p:txBody>
      </p:sp>
      <p:grpSp>
        <p:nvGrpSpPr>
          <p:cNvPr id="950" name="TEACH-1-student-move" descr="TEACH 1 · Facilitate clear, standards-based content learning"/>
          <p:cNvGrpSpPr/>
          <p:nvPr/>
        </p:nvGrpSpPr>
        <p:grpSpPr>
          <a:xfrm>
            <a:off x="502920" y="5472790"/>
            <a:ext cx="11186160" cy="402336"/>
            <a:chOff x="502920" y="5472790"/>
            <a:chExt cx="11186160" cy="402336"/>
          </a:xfrm>
        </p:grpSpPr>
        <p:sp>
          <p:nvSpPr>
            <p:cNvPr id="951"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52"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53"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46" name="Google Shape;946;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47" name="Google Shape;947;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8" name="Google Shape;948;p9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divide a multi-digit decimal by a whole number using an algorithm.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divide a multi-digit decimal by a decimal using an algorithm.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place-value patterns to divide with decimals.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43</a:t>
            </a:r>
          </a:p>
        </p:txBody>
      </p:sp>
      <p:grpSp>
        <p:nvGrpSpPr>
          <p:cNvPr id="949" name="TEACH-1-student-move" descr="TEACH 1 · Facilitate clear, standards-based content learning"/>
          <p:cNvGrpSpPr/>
          <p:nvPr/>
        </p:nvGrpSpPr>
        <p:grpSpPr>
          <a:xfrm>
            <a:off x="502920" y="5472790"/>
            <a:ext cx="11186160" cy="402336"/>
            <a:chOff x="502920" y="5472790"/>
            <a:chExt cx="11186160" cy="402336"/>
          </a:xfrm>
        </p:grpSpPr>
        <p:sp>
          <p:nvSpPr>
            <p:cNvPr id="95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5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5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2.7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Create an equivalent division with a whole-number divisor.</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43</a:t>
            </a: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2.7 — Divide Decimals Using an Algorithm</dc:title>
  <dc:creator>Neft Teacher</dc:creator>
  <cp:lastModifiedBy>Neft Teacher</cp:lastModifiedBy>
  <dcterms:created xsi:type="dcterms:W3CDTF">2026-09-30T12:04:43Z</dcterms:created>
  <dcterms:modified xsi:type="dcterms:W3CDTF">2026-09-30T12:04:43Z</dcterms:modified>
</cp:coreProperties>
</file>