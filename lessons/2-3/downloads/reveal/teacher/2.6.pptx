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3.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8" r:id="rId21"/>
    <p:sldId id="269" r:id="rId22"/>
    <p:sldId id="256" r:id="rId9"/>
    <p:sldId id="257" r:id="rId10"/>
    <p:sldId id="260" r:id="rId13"/>
    <p:sldId id="323" r:id="rId76"/>
    <p:sldId id="261" r:id="rId14"/>
    <p:sldId id="271" r:id="rId24"/>
    <p:sldId id="272" r:id="rId25"/>
    <p:sldId id="284" r:id="rId37"/>
    <p:sldId id="286" r:id="rId39"/>
    <p:sldId id="288" r:id="rId41"/>
    <p:sldId id="292" r:id="rId45"/>
    <p:sldId id="295" r:id="rId48"/>
    <p:sldId id="300" r:id="rId53"/>
    <p:sldId id="327" r:id="rId80"/>
    <p:sldId id="324" r:id="rId77"/>
    <p:sldId id="321" r:id="rId74"/>
    <p:sldId id="328" r:id="rId81"/>
    <p:sldId id="322" r:id="rId75"/>
    <p:sldId id="301" r:id="rId54"/>
    <p:sldId id="303" r:id="rId56"/>
    <p:sldId id="304" r:id="rId57"/>
    <p:sldId id="308" r:id="rId61"/>
    <p:sldId id="312" r:id="rId65"/>
    <p:sldId id="317" r:id="rId70"/>
    <p:sldId id="325" r:id="rId78"/>
    <p:sldId id="318" r:id="rId71"/>
    <p:sldId id="319" r:id="rId72"/>
    <p:sldId id="329" r:id="rId82"/>
    <p:sldId id="320" r:id="rId73"/>
    <p:sldId id="326" r:id="rId7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8.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9.xml"/><Relationship Id="rId25" Type="http://schemas.openxmlformats.org/officeDocument/2006/relationships/slide" Target="slides/slide10.xml"/><Relationship Id="rId37" Type="http://schemas.openxmlformats.org/officeDocument/2006/relationships/slide" Target="slides/slide11.xml"/><Relationship Id="rId39" Type="http://schemas.openxmlformats.org/officeDocument/2006/relationships/slide" Target="slides/slide12.xml"/><Relationship Id="rId41" Type="http://schemas.openxmlformats.org/officeDocument/2006/relationships/slide" Target="slides/slide13.xml"/><Relationship Id="rId45" Type="http://schemas.openxmlformats.org/officeDocument/2006/relationships/slide" Target="slides/slide14.xml"/><Relationship Id="rId48" Type="http://schemas.openxmlformats.org/officeDocument/2006/relationships/slide" Target="slides/slide15.xml"/><Relationship Id="rId53" Type="http://schemas.openxmlformats.org/officeDocument/2006/relationships/slide" Target="slides/slide16.xml"/><Relationship Id="rId54" Type="http://schemas.openxmlformats.org/officeDocument/2006/relationships/slide" Target="slides/slide20.xml"/><Relationship Id="rId56" Type="http://schemas.openxmlformats.org/officeDocument/2006/relationships/slide" Target="slides/slide21.xml"/><Relationship Id="rId57" Type="http://schemas.openxmlformats.org/officeDocument/2006/relationships/slide" Target="slides/slide22.xml"/><Relationship Id="rId61" Type="http://schemas.openxmlformats.org/officeDocument/2006/relationships/slide" Target="slides/slide23.xml"/><Relationship Id="rId65" Type="http://schemas.openxmlformats.org/officeDocument/2006/relationships/slide" Target="slides/slide24.xml"/><Relationship Id="rId70" Type="http://schemas.openxmlformats.org/officeDocument/2006/relationships/slide" Target="slides/slide25.xml"/><Relationship Id="rId71" Type="http://schemas.openxmlformats.org/officeDocument/2006/relationships/slide" Target="slides/slide27.xml"/><Relationship Id="rId72" Type="http://schemas.openxmlformats.org/officeDocument/2006/relationships/slide" Target="slides/slide28.xml"/><Relationship Id="rId73" Type="http://schemas.openxmlformats.org/officeDocument/2006/relationships/slide" Target="slides/slide29.xml"/><Relationship Id="rId74" Type="http://schemas.openxmlformats.org/officeDocument/2006/relationships/slide" Target="slides/slide18.xml"/><Relationship Id="rId75" Type="http://schemas.openxmlformats.org/officeDocument/2006/relationships/slide" Target="slides/slide19.xml"/><Relationship Id="rId76" Type="http://schemas.openxmlformats.org/officeDocument/2006/relationships/slide" Target="slides/slide7.xml"/><Relationship Id="rId77" Type="http://schemas.openxmlformats.org/officeDocument/2006/relationships/slide" Target="slides/slide17.xml"/><Relationship Id="rId78" Type="http://schemas.openxmlformats.org/officeDocument/2006/relationships/slide" Target="slides/slide26.xml"/><Relationship Id="rId79" Type="http://schemas.openxmlformats.org/officeDocument/2006/relationships/slide" Target="slides/slide30.xml"/><Relationship Id="rId80" Type="http://schemas.openxmlformats.org/officeDocument/2006/relationships/slide" Target="slides/slide31.xml"/><Relationship Id="rId81" Type="http://schemas.openxmlformats.org/officeDocument/2006/relationships/slide" Target="slides/slide32.xml"/><Relationship Id="rId82"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4 | DIVIDER</a:t>
            </a:r>
          </a:p>
          <a:p xmlns:a="http://schemas.openxmlformats.org/drawingml/2006/main">
            <a:pPr>
              <a:buNone/>
            </a:pPr>
            <a:r>
              <a:rPr lang="en-US" sz="1100"/>
              <a:t>Focus on the existing task: Describe Data Using the Median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5 | WORKED</a:t>
            </a:r>
          </a:p>
          <a:p xmlns:a="http://schemas.openxmlformats.org/drawingml/2006/main">
            <a:pPr>
              <a:buNone/>
            </a:pPr>
            <a:r>
              <a:rPr lang="en-US" sz="1100"/>
              <a:t>Focus on the existing task: Use all the numbers in any order with any operation to equal the target number (in red). Give Me Five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7   2) 6.5   3) &lt;   4) 90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order the data; determine the median; justify the typical value using the displayed context. Review recent work and today’s warm-up to choose flexible groups and access supports; do not infer needs from identity or perceived ability. Use the existing lesson tasks and stated standards.</a:t>
            </a:r>
          </a:p>
          <a:p>
            <a:pPr>
              <a:buNone/>
            </a:pPr>
            <a:r>
              <a:rPr lang="en-US" sz="1100"/>
              <a:t>Anticipate: selecting a middle value before ordering. If observed, pair the lowest and highest observations in the existing data set.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6 | GOAL</a:t>
            </a:r>
          </a:p>
          <a:p xmlns:a="http://schemas.openxmlformats.org/drawingml/2006/main">
            <a:pPr>
              <a:buNone/>
            </a:pPr>
            <a:r>
              <a:rPr lang="en-US" sz="1100"/>
              <a:t>Focus on the existing task: Today’s Objectives Describe the Data Using the Median…</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order the data; determine the median; justify the typical value using the displayed context.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8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8" name="Google Shape;498;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3 | NOTES</a:t>
            </a:r>
          </a:p>
          <a:p xmlns:a="http://schemas.openxmlformats.org/drawingml/2006/main">
            <a:pPr>
              <a:buNone/>
            </a:pPr>
            <a:r>
              <a:rPr lang="en-US" sz="1100"/>
              <a:t>Focus on the existing task: Today’s Math Notes Section 2: Today’s Math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6" name="Google Shape;526;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9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62" name="Google Shape;562;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10 | TASK</a:t>
            </a:r>
          </a:p>
          <a:p xmlns:a="http://schemas.openxmlformats.org/drawingml/2006/main">
            <a:pPr>
              <a:buNone/>
            </a:pPr>
            <a:r>
              <a:rPr lang="en-US" sz="1100"/>
              <a:t>Focus on the existing task: How can you summarize the data set?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the order of the values matter when identifying a typical value using the median?” Wait for evidence, invite another pathway, and have a student ask a follow-up question. Do not replace students’ reasoning with a sequence of leading steps.</a:t>
            </a:r>
          </a:p>
        </p:txBody>
      </p:sp>
      <p:sp>
        <p:nvSpPr>
          <p:cNvPr id="573" name="Google Shape;573;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11 | REVEAL</a:t>
            </a:r>
          </a:p>
          <a:p xmlns:a="http://schemas.openxmlformats.org/drawingml/2006/main">
            <a:pPr>
              <a:buNone/>
            </a:pPr>
            <a:r>
              <a:rPr lang="en-US" sz="1100"/>
              <a:t>Focus on the existing task: Reveal: You can count an equal number of data values on either side until you meet in the middle. There are 25 values in the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You can count an equal number of data values on either side until you meet in the middle.</a:t>
            </a:r>
          </a:p>
          <a:p>
            <a:pPr indent="0" lvl="0" marL="0" rtl="0" algn="l">
              <a:lnSpc>
                <a:spcPct val="100000"/>
              </a:lnSpc>
              <a:spcBef>
                <a:spcPts val="0"/>
              </a:spcBef>
              <a:spcAft>
                <a:spcPts val="0"/>
              </a:spcAft>
              <a:buSzPts val="1400"/>
              <a:buNone/>
            </a:pPr>
            <a:r>
              <a:t>UIFR: TEACH 3 · TEACH 4.</a:t>
            </a:r>
          </a:p>
        </p:txBody>
      </p:sp>
      <p:sp>
        <p:nvSpPr>
          <p:cNvPr id="678" name="Google Shape;678;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12 | WORKED</a:t>
            </a:r>
          </a:p>
          <a:p xmlns:a="http://schemas.openxmlformats.org/drawingml/2006/main">
            <a:pPr>
              <a:buNone/>
            </a:pPr>
            <a:r>
              <a:rPr lang="en-US" sz="1100"/>
              <a:t>Focus on the existing task: One measure of center is the median. The median is the middle value of a data set when the values are arranged from least to greatest.…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693" name="Google Shape;693;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13 | TASK</a:t>
            </a:r>
          </a:p>
          <a:p xmlns:a="http://schemas.openxmlformats.org/drawingml/2006/main">
            <a:pPr>
              <a:buNone/>
            </a:pPr>
            <a:r>
              <a:rPr lang="en-US" sz="1100"/>
              <a:t>Focus on the existing task: Let’s find the median another way. Think About It: What are some ways you have displayed data in the past?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08" name="Google Shape;708;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14 | REVEAL</a:t>
            </a:r>
          </a:p>
          <a:p xmlns:a="http://schemas.openxmlformats.org/drawingml/2006/main">
            <a:pPr>
              <a:buNone/>
            </a:pPr>
            <a:r>
              <a:rPr lang="en-US" sz="1100"/>
              <a:t>Focus on the existing task: Let’s find the median another way. How can you display the data to find the median?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could use a dot plot to display the data.</a:t>
            </a:r>
          </a:p>
          <a:p>
            <a:pPr indent="0" lvl="0" marL="0" rtl="0" algn="l">
              <a:lnSpc>
                <a:spcPct val="100000"/>
              </a:lnSpc>
              <a:spcBef>
                <a:spcPts val="0"/>
              </a:spcBef>
              <a:spcAft>
                <a:spcPts val="0"/>
              </a:spcAft>
              <a:buSzPts val="1400"/>
              <a:buNone/>
            </a:pPr>
            <a:r>
              <a:t>UIFR: TEACH 3 · TEACH 4.</a:t>
            </a:r>
          </a:p>
        </p:txBody>
      </p:sp>
      <p:sp>
        <p:nvSpPr>
          <p:cNvPr id="743" name="Google Shape;743;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15 | COLLABORATE</a:t>
            </a:r>
          </a:p>
          <a:p xmlns:a="http://schemas.openxmlformats.org/drawingml/2006/main">
            <a:pPr>
              <a:buNone/>
            </a:pPr>
            <a:r>
              <a:rPr lang="en-US" sz="1100"/>
              <a:t>Focus on the existing task: What does each dot represent on the dot plot?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selecting a middle value before ordering. If it appears, pair the lowest and highest observations in the existing data set; then ask the student to revise the same response and explain the change. If evidence is secure, have students compare a second valid pathway or state why their approach works. Choose the next step from the responses, not a preset pace.</a:t>
            </a:r>
          </a:p>
        </p:txBody>
      </p:sp>
      <p:sp>
        <p:nvSpPr>
          <p:cNvPr id="771" name="Google Shape;771;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16 | PRACTICE</a:t>
            </a:r>
          </a:p>
          <a:p xmlns:a="http://schemas.openxmlformats.org/drawingml/2006/main">
            <a:pPr>
              <a:buNone/>
            </a:pPr>
            <a:r>
              <a:rPr lang="en-US" sz="1100"/>
              <a:t>Focus on the existing task: Let’s Explore More Workspace Why do you think the median is called a “measure of center”?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12" name="Google Shape;812;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20 | DIVIDER</a:t>
            </a:r>
          </a:p>
          <a:p xmlns:a="http://schemas.openxmlformats.org/drawingml/2006/main">
            <a:pPr>
              <a:buNone/>
            </a:pPr>
            <a:r>
              <a:rPr lang="en-US" sz="1100"/>
              <a:t>Focus on the existing task: Describe Data Using the Median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24" name="Google Shape;824;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21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841" name="Google Shape;841;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22 | TASK</a:t>
            </a:r>
          </a:p>
          <a:p xmlns:a="http://schemas.openxmlformats.org/drawingml/2006/main">
            <a:pPr>
              <a:buNone/>
            </a:pPr>
            <a:r>
              <a:rPr lang="en-US" sz="1100"/>
              <a:t>Focus on the existing task: How do the additional data values affect the median?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the order of the values matter when identifying a typical value using the median?” Wait for evidence, invite another pathway, and have a student ask a follow-up question. Do not replace students’ reasoning with a sequence of leading steps.</a:t>
            </a:r>
          </a:p>
        </p:txBody>
      </p:sp>
      <p:sp>
        <p:nvSpPr>
          <p:cNvPr id="852" name="Google Shape;852;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23 | REVEAL</a:t>
            </a:r>
          </a:p>
          <a:p xmlns:a="http://schemas.openxmlformats.org/drawingml/2006/main">
            <a:pPr>
              <a:buNone/>
            </a:pPr>
            <a:r>
              <a:rPr lang="en-US" sz="1100"/>
              <a:t>Focus on the existing task: What do you notice about the new data values?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Two of the values are below 13, the previous median, and three are greater than 13. There are now 30 values.</a:t>
            </a:r>
          </a:p>
          <a:p>
            <a:pPr indent="0" lvl="0" marL="0" rtl="0" algn="l">
              <a:lnSpc>
                <a:spcPct val="100000"/>
              </a:lnSpc>
              <a:spcBef>
                <a:spcPts val="0"/>
              </a:spcBef>
              <a:spcAft>
                <a:spcPts val="0"/>
              </a:spcAft>
              <a:buSzPts val="1400"/>
              <a:buNone/>
            </a:pPr>
            <a:r>
              <a:t>UIFR: TEACH 3 · TEACH 4.</a:t>
            </a:r>
          </a:p>
        </p:txBody>
      </p:sp>
      <p:sp>
        <p:nvSpPr>
          <p:cNvPr id="888" name="Google Shape;888;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24 | COLLABORATE</a:t>
            </a:r>
          </a:p>
          <a:p xmlns:a="http://schemas.openxmlformats.org/drawingml/2006/main">
            <a:pPr>
              <a:buNone/>
            </a:pPr>
            <a:r>
              <a:rPr lang="en-US" sz="1100"/>
              <a:t>Focus on the existing task: Collaborate and Connect Reveal: We can add the two numbers and then divide the sum by 2. How can you find the value halfway between the two middle numbers?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justify the typical value using the displayed context.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selecting a middle value before ordering. If it appears, pair the lowest and highest observations in the existing data set; then ask the student to revise the same response and explain the change. If evidence is secure, have students compare a second valid pathway or state why their approach works. Choose the next step from the responses, not a preset pace.</a:t>
            </a:r>
          </a:p>
        </p:txBody>
      </p:sp>
      <p:sp>
        <p:nvSpPr>
          <p:cNvPr id="923" name="Google Shape;923;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25 | PRACTICE</a:t>
            </a:r>
          </a:p>
          <a:p xmlns:a="http://schemas.openxmlformats.org/drawingml/2006/main">
            <a:pPr>
              <a:buNone/>
            </a:pPr>
            <a:r>
              <a:rPr lang="en-US" sz="1100"/>
              <a:t>Focus on the existing task: Workspace How would the median change if all five additional data points were greater than 13?</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68" name="Google Shape;968;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27 | SUMMARIZE</a:t>
            </a:r>
          </a:p>
          <a:p xmlns:a="http://schemas.openxmlformats.org/drawingml/2006/main">
            <a:pPr>
              <a:buNone/>
            </a:pPr>
            <a:r>
              <a:rPr lang="en-US" sz="1100"/>
              <a:t>Focus on the existing task: A measure of center used to describe a numerical data set is the median, which is the middle value when the data are ordered from least to…</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81" name="Google Shape;981;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28 | APPLY</a:t>
            </a:r>
          </a:p>
          <a:p xmlns:a="http://schemas.openxmlformats.org/drawingml/2006/main">
            <a:pPr>
              <a:buNone/>
            </a:pPr>
            <a:r>
              <a:rPr lang="en-US" sz="1100"/>
              <a:t>Focus on the existing task: Terrance is helping his grandmother sell her house. He uses a real estate website to look at the recent sale prices of similarly-sized…</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order the data. Ask which feature of their work supports the claim.</a:t>
            </a:r>
          </a:p>
          <a:p xmlns:a="http://schemas.openxmlformats.org/drawingml/2006/main">
            <a:pPr>
              <a:buNone/>
            </a:pPr>
            <a:r>
              <a:rPr lang="en-US" sz="1100"/>
              <a:t>RESPOND: If this task shows the lesson misconception—selecting a middle value before ordering—pair the lowest and highest observations in the existing data set.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order the data; determine the median; justify the typical value using the displayed context. Respond with one specific next step tied to the work. Students revise and annotate what changed, then identify a criterion they can now demonstrate and one they still need to practice.</a:t>
            </a:r>
          </a:p>
        </p:txBody>
      </p:sp>
      <p:sp>
        <p:nvSpPr>
          <p:cNvPr id="989" name="Google Shape;989;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2.6, slide 29 | REFLECTION</a:t>
            </a:r>
          </a:p>
          <a:p xmlns:a="http://schemas.openxmlformats.org/drawingml/2006/main">
            <a:pPr>
              <a:buNone/>
            </a:pPr>
            <a:r>
              <a:rPr lang="en-US" sz="1100"/>
              <a:t>Focus on the existing task: I can use the median to describe a data set. I can use repeated reasoning to describe a data set using the median. Learning Targets</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selecting a middle value before ordering.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pair the lowest and highest observations in the existing data set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97" name="Google Shape;997;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2.6, slide 18 | WARMUP</a:t>
            </a:r>
          </a:p>
          <a:p xmlns:a="http://schemas.openxmlformats.org/drawingml/2006/main">
            <a:pPr>
              <a:buNone/>
            </a:pPr>
            <a:r>
              <a:rPr lang="en-US" sz="1100"/>
              <a:t>Focus on the existing task: Session 2 Warm-Up Session 2 Warm-Up Quick review from…</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order the data; determine the median; justify the typical value using the displayed context. Ask: “Which part of your work would show this?” Revisit that evidence after the task; a confidence rating alone is not evidence of understanding.</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2.6, slide 19 | NOTES</a:t>
            </a:r>
          </a:p>
          <a:p xmlns:a="http://schemas.openxmlformats.org/drawingml/2006/main">
            <a:pPr>
              <a:buNone/>
            </a:pPr>
            <a:r>
              <a:rPr lang="en-US" sz="1100"/>
              <a:t>Focus on the existing task: Review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2.6, slide 7 | PRIOR_INSERT</a:t>
            </a:r>
          </a:p>
          <a:p xmlns:a="http://schemas.openxmlformats.org/drawingml/2006/main">
            <a:pPr>
              <a:buNone/>
            </a:pPr>
            <a:r>
              <a:rPr lang="en-US" sz="1100"/>
              <a:t>Focus on the existing task: LESSON 2.6 / OUR LEARNING What will show your learning?</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2.6, slide 17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2.6, slide 26 | PRIOR_INSERT</a:t>
            </a:r>
          </a:p>
          <a:p xmlns:a="http://schemas.openxmlformats.org/drawingml/2006/main">
            <a:pPr>
              <a:buNone/>
            </a:pPr>
            <a:r>
              <a:rPr lang="en-US" sz="1100"/>
              <a:t>Focus on the existing task: LESSON 2.6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2.6, slide 30 | PRIOR_INSERT</a:t>
            </a:r>
          </a:p>
          <a:p xmlns:a="http://schemas.openxmlformats.org/drawingml/2006/main">
            <a:pPr>
              <a:buNone/>
            </a:pPr>
            <a:r>
              <a:rPr lang="en-US" sz="1100"/>
              <a:t>Focus on the existing task: LESSON 2.6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order the data; determine the median; justify the typical value using the displayed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3" name="Google Shape;23;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4" name="Google Shape;24;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5" name="Google Shape;25;p4"/>
          <p:cNvSpPr txBox="1"/>
          <p:nvPr/>
        </p:nvSpPr>
        <p:spPr>
          <a:xfrm>
            <a:off x="1327273"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27273"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4.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6.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7.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2-6 · Describe Data Using the Median (Session 2)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Median of 4, 6, 7, 8, 40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Take 40 out of 4, 6, 7, 8, 40. New median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Write &lt; or &gt;: 19 ______ 91</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Which value sits far from the rest: 21, 23, 24, 25, 90?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33</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3" name="Google Shape;503;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2-6 · Describe the Data Using the Median</a:t>
            </a:r>
            <a:endParaRPr/>
          </a:p>
        </p:txBody>
      </p:sp>
      <p:sp>
        <p:nvSpPr>
          <p:cNvPr id="504" name="Google Shape;504;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6" name="Google Shape;506;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07" name="Google Shape;507;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09" name="Google Shape;509;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2" name="Google Shape;512;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Describe the Data Using the Median</a:t>
            </a:r>
            <a:endParaRPr/>
          </a:p>
        </p:txBody>
      </p:sp>
      <p:sp>
        <p:nvSpPr>
          <p:cNvPr id="513" name="Google Shape;513;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Using the middle value of the ordered data to say what</a:t>
            </a:r>
            <a:endParaRPr/>
          </a:p>
        </p:txBody>
      </p:sp>
      <p:sp>
        <p:nvSpPr>
          <p:cNvPr id="514" name="Google Shape;514;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7" name="Google Shape;517;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Median</a:t>
            </a:r>
            <a:endParaRPr/>
          </a:p>
        </p:txBody>
      </p:sp>
      <p:sp>
        <p:nvSpPr>
          <p:cNvPr id="518" name="Google Shape;518;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middle number when you put them in order</a:t>
            </a:r>
            <a:endParaRPr/>
          </a:p>
        </p:txBody>
      </p:sp>
      <p:sp>
        <p:nvSpPr>
          <p:cNvPr id="519" name="Google Shape;519;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2" name="Google Shape;522;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Mode</a:t>
            </a:r>
            <a:endParaRPr/>
          </a:p>
        </p:txBody>
      </p:sp>
      <p:sp>
        <p:nvSpPr>
          <p:cNvPr id="523" name="Google Shape;523;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number that shows up most often</a:t>
            </a:r>
            <a:endParaRPr/>
          </a:p>
        </p:txBody>
      </p:sp>
      <p:sp>
        <p:nvSpPr>
          <p:cNvPr id="5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33</a:t>
            </a:r>
          </a:p>
        </p:txBody>
      </p:sp>
      <p:grpSp>
        <p:nvGrpSpPr>
          <p:cNvPr id="525" name="TEACH-1-student-move" descr="TEACH 1 · Facilitate clear, standards-based content learning"/>
          <p:cNvGrpSpPr/>
          <p:nvPr/>
        </p:nvGrpSpPr>
        <p:grpSpPr>
          <a:xfrm>
            <a:off x="6187440" y="1682496"/>
            <a:ext cx="5501640" cy="594360"/>
            <a:chOff x="6187440" y="1682496"/>
            <a:chExt cx="5501640" cy="594360"/>
          </a:xfrm>
        </p:grpSpPr>
        <p:sp>
          <p:nvSpPr>
            <p:cNvPr id="52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31" name="Google Shape;531;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2-6 · Describe the Data Using the Median</a:t>
            </a:r>
            <a:endParaRPr/>
          </a:p>
        </p:txBody>
      </p:sp>
      <p:sp>
        <p:nvSpPr>
          <p:cNvPr id="532" name="Google Shape;532;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4" name="Google Shape;534;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35" name="Google Shape;535;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37" name="Google Shape;537;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Measures of Center: Median</a:t>
            </a:r>
            <a:endParaRPr/>
          </a:p>
        </p:txBody>
      </p:sp>
      <p:sp>
        <p:nvSpPr>
          <p:cNvPr id="539" name="Google Shape;539;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Median = Middle value in an ordered set</a:t>
            </a:r>
            <a:endParaRPr/>
          </a:p>
        </p:txBody>
      </p:sp>
      <p:sp>
        <p:nvSpPr>
          <p:cNvPr id="541" name="Google Shape;541;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3" name="Google Shape;543;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Order all data values from </a:t>
            </a:r>
            <a:r>
              <a:rPr b="1" i="0" lang="en-US" sz="1600" u="none" cap="none" strike="noStrike">
                <a:solidFill>
                  <a:srgbClr val="14223A"/>
                </a:solidFill>
                <a:latin typeface="Arial"/>
                <a:ea typeface="Arial"/>
                <a:cs typeface="Arial"/>
                <a:sym typeface="Arial"/>
              </a:rPr>
              <a:t xml:space="preserve">least to greatest</a:t>
            </a:r>
            <a:endParaRPr/>
          </a:p>
        </p:txBody>
      </p:sp>
      <p:sp>
        <p:nvSpPr>
          <p:cNvPr id="544" name="Google Shape;544;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6" name="Google Shape;546;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Odd count: </a:t>
            </a:r>
            <a:r>
              <a:rPr b="0" i="0" lang="en-US" sz="1600" u="none" cap="none" strike="noStrike">
                <a:solidFill>
                  <a:srgbClr val="14223A"/>
                </a:solidFill>
                <a:latin typeface="Arial"/>
                <a:ea typeface="Arial"/>
                <a:cs typeface="Arial"/>
                <a:sym typeface="Arial"/>
              </a:rPr>
              <a:t xml:space="preserve">The </a:t>
            </a:r>
            <a:r>
              <a:rPr b="1" i="0" lang="en-US" sz="1600" u="none" cap="none" strike="noStrike">
                <a:solidFill>
                  <a:srgbClr val="14223A"/>
                </a:solidFill>
                <a:latin typeface="Arial"/>
                <a:ea typeface="Arial"/>
                <a:cs typeface="Arial"/>
                <a:sym typeface="Arial"/>
              </a:rPr>
              <a:t xml:space="preserve">median</a:t>
            </a:r>
            <a:r>
              <a:rPr b="0" i="0" lang="en-US" sz="1600" u="none" cap="none" strike="noStrike">
                <a:solidFill>
                  <a:srgbClr val="14223A"/>
                </a:solidFill>
                <a:latin typeface="Arial"/>
                <a:ea typeface="Arial"/>
                <a:cs typeface="Arial"/>
                <a:sym typeface="Arial"/>
              </a:rPr>
              <a:t xml:space="preserve"> is the exact center number</a:t>
            </a:r>
            <a:endParaRPr/>
          </a:p>
        </p:txBody>
      </p:sp>
      <p:sp>
        <p:nvSpPr>
          <p:cNvPr id="547" name="Google Shape;547;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9" name="Google Shape;549;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Even count: </a:t>
            </a:r>
            <a:r>
              <a:rPr b="0" i="0" lang="en-US" sz="1600" u="none" cap="none" strike="noStrike">
                <a:solidFill>
                  <a:srgbClr val="14223A"/>
                </a:solidFill>
                <a:latin typeface="Arial"/>
                <a:ea typeface="Arial"/>
                <a:cs typeface="Arial"/>
                <a:sym typeface="Arial"/>
              </a:rPr>
              <a:t xml:space="preserve">The median is the </a:t>
            </a:r>
            <a:r>
              <a:rPr b="1" i="0" lang="en-US" sz="1600" u="none" cap="none" strike="noStrike">
                <a:solidFill>
                  <a:srgbClr val="14223A"/>
                </a:solidFill>
                <a:latin typeface="Arial"/>
                <a:ea typeface="Arial"/>
                <a:cs typeface="Arial"/>
                <a:sym typeface="Arial"/>
              </a:rPr>
              <a:t xml:space="preserve">mean</a:t>
            </a:r>
            <a:r>
              <a:rPr b="0" i="0" lang="en-US" sz="1600" u="none" cap="none" strike="noStrike">
                <a:solidFill>
                  <a:srgbClr val="14223A"/>
                </a:solidFill>
                <a:latin typeface="Arial"/>
                <a:ea typeface="Arial"/>
                <a:cs typeface="Arial"/>
                <a:sym typeface="Arial"/>
              </a:rPr>
              <a:t xml:space="preserve"> of the two middle numbers</a:t>
            </a:r>
            <a:endParaRPr/>
          </a:p>
        </p:txBody>
      </p:sp>
      <p:sp>
        <p:nvSpPr>
          <p:cNvPr id="5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33</a:t>
            </a:r>
          </a:p>
        </p:txBody>
      </p:sp>
      <p:sp xmlns:p="http://schemas.openxmlformats.org/presentationml/2006/main" xmlns:a="http://schemas.openxmlformats.org/drawingml/2006/main">
        <p:nvSpPr>
          <p:cNvPr id="551"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33</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241" name="Google Shape;241;p41"/>
          <p:cNvPicPr preferRelativeResize="0"/>
          <p:nvPr/>
        </p:nvPicPr>
        <p:blipFill rotWithShape="1">
          <a:blip r:embed="rId3">
            <a:alphaModFix/>
          </a:blip>
          <a:srcRect b="0" l="0" r="0" t="0"/>
          <a:stretch/>
        </p:blipFill>
        <p:spPr>
          <a:xfrm>
            <a:off x="1691440" y="2388360"/>
            <a:ext cx="6422231" cy="2480310"/>
          </a:xfrm>
          <a:prstGeom prst="rect">
            <a:avLst/>
          </a:prstGeom>
          <a:noFill/>
          <a:ln>
            <a:noFill/>
          </a:ln>
        </p:spPr>
      </p:pic>
      <p:sp>
        <p:nvSpPr>
          <p:cNvPr id="242" name="Google Shape;242;p41"/>
          <p:cNvSpPr txBox="1"/>
          <p:nvPr/>
        </p:nvSpPr>
        <p:spPr>
          <a:xfrm>
            <a:off x="474054" y="936100"/>
            <a:ext cx="7711157"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all the numbers in any order with any operation to equal the target number (in red). ​</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33</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2-6 · Describe the Data Using the Median</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Describe the Data Using the Median</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6.DS.4</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median of a data set and use it to describe what is typical.</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the median using the words order, middle, typical, and half.</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33</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2.6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Order the data.</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Determine the median.</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Justify the typical value using the displayed context.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2-6 · Describe the Data Using the Median</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Describe the Data Using the Median</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Using the middle value of the ordered data to say what is typical for the whole set</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Median</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middle number when you put them in order</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Mode</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number that shows up most often</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Outlier</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number that is much bigger or smaller than the rest</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Data distribution</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How the data looks: where it sits and how spread out it is</a:t>
            </a:r>
            <a:endParaRPr/>
          </a:p>
        </p:txBody>
      </p:sp>
      <p:sp>
        <p:nvSpPr>
          <p:cNvPr id="384" name="Google Shape;384;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Variability</a:t>
            </a:r>
            <a:endParaRPr/>
          </a:p>
        </p:txBody>
      </p:sp>
      <p:sp>
        <p:nvSpPr>
          <p:cNvPr id="387" name="Google Shape;387;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spread out the numbers are</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33</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cxnSp>
        <p:nvCxnSpPr>
          <p:cNvPr id="564" name="Google Shape;564;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5" name="Google Shape;565;p55"/>
          <p:cNvSpPr txBox="1"/>
          <p:nvPr/>
        </p:nvSpPr>
        <p:spPr>
          <a:xfrm>
            <a:off x="474055" y="936100"/>
            <a:ext cx="3701130"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What do you notice?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66" name="Google Shape;566;p55"/>
          <p:cNvSpPr txBox="1"/>
          <p:nvPr/>
        </p:nvSpPr>
        <p:spPr>
          <a:xfrm>
            <a:off x="484560" y="316034"/>
            <a:ext cx="3904129" cy="5034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67" name="Google Shape;567;p55"/>
          <p:cNvPicPr preferRelativeResize="0"/>
          <p:nvPr/>
        </p:nvPicPr>
        <p:blipFill rotWithShape="1">
          <a:blip r:embed="rId3">
            <a:alphaModFix/>
          </a:blip>
          <a:srcRect b="0" l="0" r="0" t="0"/>
          <a:stretch/>
        </p:blipFill>
        <p:spPr>
          <a:xfrm>
            <a:off x="484560" y="5083700"/>
            <a:ext cx="5054600" cy="838200"/>
          </a:xfrm>
          <a:prstGeom prst="rect">
            <a:avLst/>
          </a:prstGeom>
          <a:noFill/>
          <a:ln>
            <a:noFill/>
          </a:ln>
        </p:spPr>
      </p:pic>
      <p:sp>
        <p:nvSpPr>
          <p:cNvPr id="568" name="Google Shape;568;p55"/>
          <p:cNvSpPr txBox="1"/>
          <p:nvPr/>
        </p:nvSpPr>
        <p:spPr>
          <a:xfrm>
            <a:off x="334457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9" name="Google Shape;569;p55"/>
          <p:cNvSpPr/>
          <p:nvPr/>
        </p:nvSpPr>
        <p:spPr>
          <a:xfrm>
            <a:off x="697756" y="58990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show that you understand someone else’s ideas?</a:t>
            </a:r>
            <a:endParaRPr b="0" i="0" sz="1400" u="none" cap="none" strike="noStrike">
              <a:solidFill>
                <a:srgbClr val="000000"/>
              </a:solidFill>
              <a:latin typeface="Arial"/>
              <a:ea typeface="Arial"/>
              <a:cs typeface="Arial"/>
              <a:sym typeface="Arial"/>
            </a:endParaRPr>
          </a:p>
        </p:txBody>
      </p:sp>
      <p:pic>
        <p:nvPicPr>
          <p:cNvPr id="570" name="Google Shape;570;p55"/>
          <p:cNvPicPr preferRelativeResize="0"/>
          <p:nvPr/>
        </p:nvPicPr>
        <p:blipFill rotWithShape="1">
          <a:blip r:embed="rId4">
            <a:alphaModFix/>
          </a:blip>
          <a:srcRect b="0" l="0" r="0" t="0"/>
          <a:stretch/>
        </p:blipFill>
        <p:spPr>
          <a:xfrm>
            <a:off x="4793942" y="1461383"/>
            <a:ext cx="4608676" cy="3336038"/>
          </a:xfrm>
          <a:prstGeom prst="rect">
            <a:avLst/>
          </a:prstGeom>
          <a:noFill/>
          <a:ln>
            <a:noFill/>
          </a:ln>
        </p:spPr>
      </p:pic>
      <p:sp>
        <p:nvSpPr>
          <p:cNvPr id="5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33</a:t>
            </a:r>
          </a:p>
        </p:txBody>
      </p:sp>
      <p:sp xmlns:p="http://schemas.openxmlformats.org/presentationml/2006/main" xmlns:a="http://schemas.openxmlformats.org/drawingml/2006/main">
        <p:nvSpPr>
          <p:cNvPr id="572"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cxnSp>
        <p:nvCxnSpPr>
          <p:cNvPr id="575" name="Google Shape;575;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6" name="Google Shape;576;p56"/>
          <p:cNvSpPr txBox="1"/>
          <p:nvPr/>
        </p:nvSpPr>
        <p:spPr>
          <a:xfrm>
            <a:off x="484564" y="2760630"/>
            <a:ext cx="6468327" cy="9284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summarize the data set?</a:t>
            </a:r>
            <a:endParaRPr b="0" i="0" sz="1400" u="none" cap="none" strike="noStrike">
              <a:solidFill>
                <a:srgbClr val="000000"/>
              </a:solidFill>
              <a:latin typeface="Arial"/>
              <a:ea typeface="Arial"/>
              <a:cs typeface="Arial"/>
              <a:sym typeface="Arial"/>
            </a:endParaRPr>
          </a:p>
        </p:txBody>
      </p:sp>
      <p:pic>
        <p:nvPicPr>
          <p:cNvPr id="577" name="Google Shape;577;p56"/>
          <p:cNvPicPr preferRelativeResize="0"/>
          <p:nvPr/>
        </p:nvPicPr>
        <p:blipFill rotWithShape="1">
          <a:blip r:embed="rId3">
            <a:alphaModFix/>
          </a:blip>
          <a:srcRect b="0" l="0" r="0" t="0"/>
          <a:stretch/>
        </p:blipFill>
        <p:spPr>
          <a:xfrm>
            <a:off x="7144327" y="1674956"/>
            <a:ext cx="4572000" cy="2990850"/>
          </a:xfrm>
          <a:prstGeom prst="rect">
            <a:avLst/>
          </a:prstGeom>
          <a:noFill/>
          <a:ln>
            <a:noFill/>
          </a:ln>
        </p:spPr>
      </p:pic>
      <p:sp>
        <p:nvSpPr>
          <p:cNvPr id="578" name="Google Shape;578;p56"/>
          <p:cNvSpPr txBox="1"/>
          <p:nvPr/>
        </p:nvSpPr>
        <p:spPr>
          <a:xfrm>
            <a:off x="484564" y="936100"/>
            <a:ext cx="6468327" cy="1742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Some students surveyed the teachers at their school on the number of years of teaching experience. They collected the data shown.</a:t>
            </a:r>
            <a:endParaRPr b="1" i="0" sz="2800" u="none" cap="none" strike="noStrike">
              <a:solidFill>
                <a:srgbClr val="262626"/>
              </a:solidFill>
              <a:latin typeface="Arial"/>
              <a:ea typeface="Arial"/>
              <a:cs typeface="Arial"/>
              <a:sym typeface="Arial"/>
            </a:endParaRPr>
          </a:p>
        </p:txBody>
      </p:sp>
      <p:sp>
        <p:nvSpPr>
          <p:cNvPr id="579" name="Google Shape;579;p56"/>
          <p:cNvSpPr txBox="1"/>
          <p:nvPr/>
        </p:nvSpPr>
        <p:spPr>
          <a:xfrm>
            <a:off x="484565" y="316034"/>
            <a:ext cx="5641027" cy="53798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Teaching Experience</a:t>
            </a:r>
            <a:endParaRPr b="0" i="0" sz="1400" u="none" cap="none" strike="noStrike">
              <a:solidFill>
                <a:srgbClr val="000000"/>
              </a:solidFill>
              <a:latin typeface="Arial"/>
              <a:ea typeface="Arial"/>
              <a:cs typeface="Arial"/>
              <a:sym typeface="Arial"/>
            </a:endParaRPr>
          </a:p>
        </p:txBody>
      </p:sp>
      <p:sp>
        <p:nvSpPr>
          <p:cNvPr id="5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33</a:t>
            </a:r>
          </a:p>
        </p:txBody>
      </p:sp>
      <p:sp>
        <p:nvSpPr>
          <p:cNvPr id="5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58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cxnSp>
        <p:nvCxnSpPr>
          <p:cNvPr id="680" name="Google Shape;680;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1" name="Google Shape;681;p68"/>
          <p:cNvSpPr txBox="1"/>
          <p:nvPr/>
        </p:nvSpPr>
        <p:spPr>
          <a:xfrm>
            <a:off x="484562" y="4266850"/>
            <a:ext cx="7769421" cy="2013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You can count an equal number of data values on either side until you meet in the middle.</a:t>
            </a:r>
            <a:endParaRPr b="0" i="0" sz="1400" u="none" cap="none" strike="noStrike">
              <a:solidFill>
                <a:srgbClr val="000000"/>
              </a:solidFill>
              <a:latin typeface="Arial"/>
              <a:ea typeface="Arial"/>
              <a:cs typeface="Arial"/>
              <a:sym typeface="Arial"/>
            </a:endParaRPr>
          </a:p>
        </p:txBody>
      </p:sp>
      <p:sp>
        <p:nvSpPr>
          <p:cNvPr id="682" name="Google Shape;682;p68"/>
          <p:cNvSpPr txBox="1"/>
          <p:nvPr/>
        </p:nvSpPr>
        <p:spPr>
          <a:xfrm>
            <a:off x="484563" y="418515"/>
            <a:ext cx="6765981" cy="5812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There are 25 values in the data set.</a:t>
            </a:r>
            <a:r>
              <a:rPr b="1"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83" name="Google Shape;683;p68"/>
          <p:cNvSpPr txBox="1"/>
          <p:nvPr/>
        </p:nvSpPr>
        <p:spPr>
          <a:xfrm>
            <a:off x="493190" y="1600695"/>
            <a:ext cx="11211130" cy="22159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a:pPr>
            <a:r>
              <a:rPr b="0" i="0" lang="en-US" sz="2400" u="none" cap="none" strike="noStrike">
                <a:solidFill>
                  <a:srgbClr val="23282D"/>
                </a:solidFill>
                <a:latin typeface="Arial"/>
                <a:ea typeface="Arial"/>
                <a:cs typeface="Arial"/>
                <a:sym typeface="Arial"/>
              </a:rPr>
              <a:t>1, 1, 3, 3, 4, 4, 5, 5, 5, 6, 11, 12, 13, 14, 14, 15, 15, 16, 16, 18, 20, 22, 22, 23, 32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 xml:space="preserve">What is one way you can find the middle value </a:t>
            </a: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of the data set?</a:t>
            </a:r>
            <a:endParaRPr b="0" i="0" sz="1400" u="none" cap="none" strike="noStrike">
              <a:solidFill>
                <a:srgbClr val="000000"/>
              </a:solidFill>
              <a:latin typeface="Arial"/>
              <a:ea typeface="Arial"/>
              <a:cs typeface="Arial"/>
              <a:sym typeface="Arial"/>
            </a:endParaRPr>
          </a:p>
        </p:txBody>
      </p:sp>
      <p:sp>
        <p:nvSpPr>
          <p:cNvPr id="6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33</a:t>
            </a:r>
          </a:p>
        </p:txBody>
      </p:sp>
      <p:sp>
        <p:nvSpPr>
          <p:cNvPr id="685" name="EWL-COVER-1"/>
          <p:cNvSpPr/>
          <p:nvPr/>
        </p:nvSpPr>
        <p:spPr>
          <a:xfrm>
            <a:off x="429698" y="4211986"/>
            <a:ext cx="7879149" cy="2122907"/>
          </a:xfrm>
          <a:prstGeom prst="rect">
            <a:avLst/>
          </a:prstGeom>
          <a:solidFill>
            <a:srgbClr val="FFFFFF"/>
          </a:solidFill>
          <a:ln>
            <a:noFill/>
          </a:ln>
        </p:spPr>
        <p:txBody>
          <a:bodyPr/>
          <a:lstStyle/>
          <a:p/>
        </p:txBody>
      </p:sp>
      <p:grpSp>
        <p:nvGrpSpPr>
          <p:cNvPr id="686" name="TEACH-3-student-move" descr="TEACH 3 · Use intentional questioning to deepen learning"/>
          <p:cNvGrpSpPr/>
          <p:nvPr/>
        </p:nvGrpSpPr>
        <p:grpSpPr>
          <a:xfrm>
            <a:off x="502920" y="1161783"/>
            <a:ext cx="11186160" cy="402336"/>
            <a:chOff x="502920" y="1161783"/>
            <a:chExt cx="11186160" cy="402336"/>
          </a:xfrm>
        </p:grpSpPr>
        <p:sp>
          <p:nvSpPr>
            <p:cNvPr id="687" name="TEACH-move-card"/>
            <p:cNvSpPr/>
            <p:nvPr/>
          </p:nvSpPr>
          <p:spPr>
            <a:xfrm>
              <a:off x="502920" y="116178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88" name="TEACH-move-rule"/>
            <p:cNvSpPr/>
            <p:nvPr/>
          </p:nvSpPr>
          <p:spPr>
            <a:xfrm>
              <a:off x="548640" y="1238227"/>
              <a:ext cx="100584" cy="249448"/>
            </a:xfrm>
            <a:prstGeom prst="roundRect">
              <a:avLst>
                <a:gd name="adj" fmla="val 50000"/>
              </a:avLst>
            </a:prstGeom>
            <a:solidFill>
              <a:srgbClr val="01708C"/>
            </a:solidFill>
            <a:ln>
              <a:noFill/>
            </a:ln>
          </p:spPr>
          <p:txBody>
            <a:bodyPr/>
            <a:lstStyle/>
            <a:p>
              <a:endParaRPr/>
            </a:p>
          </p:txBody>
        </p:sp>
        <p:sp>
          <p:nvSpPr>
            <p:cNvPr id="689" name="TEACH-move-text"/>
            <p:cNvSpPr txBox="1"/>
            <p:nvPr/>
          </p:nvSpPr>
          <p:spPr>
            <a:xfrm>
              <a:off x="822960" y="116178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cxnSp>
        <p:nvCxnSpPr>
          <p:cNvPr id="695" name="Google Shape;695;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96" name="Google Shape;696;p70"/>
          <p:cNvPicPr preferRelativeResize="0"/>
          <p:nvPr/>
        </p:nvPicPr>
        <p:blipFill rotWithShape="1">
          <a:blip r:embed="rId3">
            <a:alphaModFix/>
          </a:blip>
          <a:srcRect b="0" l="0" r="0" t="0"/>
          <a:stretch/>
        </p:blipFill>
        <p:spPr>
          <a:xfrm>
            <a:off x="711488" y="3230881"/>
            <a:ext cx="10332720" cy="1722120"/>
          </a:xfrm>
          <a:prstGeom prst="rect">
            <a:avLst/>
          </a:prstGeom>
          <a:noFill/>
          <a:ln>
            <a:noFill/>
          </a:ln>
        </p:spPr>
      </p:pic>
      <p:sp>
        <p:nvSpPr>
          <p:cNvPr id="697" name="Google Shape;697;p70"/>
          <p:cNvSpPr txBox="1"/>
          <p:nvPr/>
        </p:nvSpPr>
        <p:spPr>
          <a:xfrm>
            <a:off x="493191" y="418515"/>
            <a:ext cx="6537337" cy="29026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One </a:t>
            </a:r>
            <a:r>
              <a:rPr b="1" i="0" lang="en-US" sz="2800" u="none" cap="none" strike="noStrike">
                <a:solidFill>
                  <a:srgbClr val="23282D"/>
                </a:solidFill>
                <a:highlight>
                  <a:srgbClr val="FFFF00"/>
                </a:highlight>
                <a:latin typeface="Arial"/>
                <a:ea typeface="Arial"/>
                <a:cs typeface="Arial"/>
                <a:sym typeface="Arial"/>
              </a:rPr>
              <a:t>measure of center</a:t>
            </a:r>
            <a:r>
              <a:rPr b="0" i="0" lang="en-US" sz="2800" u="none" cap="none" strike="noStrike">
                <a:solidFill>
                  <a:srgbClr val="23282D"/>
                </a:solidFill>
                <a:latin typeface="Arial"/>
                <a:ea typeface="Arial"/>
                <a:cs typeface="Arial"/>
                <a:sym typeface="Arial"/>
              </a:rPr>
              <a:t xml:space="preserve"> is the median. The </a:t>
            </a:r>
            <a:r>
              <a:rPr b="1" i="0" lang="en-US" sz="2800" u="none" cap="none" strike="noStrike">
                <a:solidFill>
                  <a:srgbClr val="23282D"/>
                </a:solidFill>
                <a:highlight>
                  <a:srgbClr val="FFFF00"/>
                </a:highlight>
                <a:latin typeface="Arial"/>
                <a:ea typeface="Arial"/>
                <a:cs typeface="Arial"/>
                <a:sym typeface="Arial"/>
              </a:rPr>
              <a:t>median</a:t>
            </a:r>
            <a:r>
              <a:rPr b="0" i="0" lang="en-US" sz="2800" u="none" cap="none" strike="noStrike">
                <a:solidFill>
                  <a:srgbClr val="23282D"/>
                </a:solidFill>
                <a:latin typeface="Arial"/>
                <a:ea typeface="Arial"/>
                <a:cs typeface="Arial"/>
                <a:sym typeface="Arial"/>
              </a:rPr>
              <a:t xml:space="preserve"> is the middle value of a data set when the values are arranged from least to greatest. It summarizes all the values of the data set with a single number.​</a:t>
            </a:r>
            <a:endParaRPr b="0" i="0" sz="1400" u="none" cap="none" strike="noStrike">
              <a:solidFill>
                <a:srgbClr val="000000"/>
              </a:solidFill>
              <a:latin typeface="Arial"/>
              <a:ea typeface="Arial"/>
              <a:cs typeface="Arial"/>
              <a:sym typeface="Arial"/>
            </a:endParaRPr>
          </a:p>
        </p:txBody>
      </p:sp>
      <p:sp>
        <p:nvSpPr>
          <p:cNvPr id="6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33</a:t>
            </a:r>
          </a:p>
        </p:txBody>
      </p:sp>
      <p:sp>
        <p:nvSpPr>
          <p:cNvPr id="69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700"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cxnSp>
        <p:nvCxnSpPr>
          <p:cNvPr id="710" name="Google Shape;710;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11" name="Google Shape;711;p72"/>
          <p:cNvPicPr preferRelativeResize="0"/>
          <p:nvPr/>
        </p:nvPicPr>
        <p:blipFill rotWithShape="1">
          <a:blip r:embed="rId3">
            <a:alphaModFix/>
          </a:blip>
          <a:srcRect b="0" l="0" r="0" t="0"/>
          <a:stretch/>
        </p:blipFill>
        <p:spPr>
          <a:xfrm>
            <a:off x="7144327" y="1674956"/>
            <a:ext cx="4572000" cy="2990850"/>
          </a:xfrm>
          <a:prstGeom prst="rect">
            <a:avLst/>
          </a:prstGeom>
          <a:noFill/>
          <a:ln>
            <a:noFill/>
          </a:ln>
        </p:spPr>
      </p:pic>
      <p:sp>
        <p:nvSpPr>
          <p:cNvPr id="712" name="Google Shape;712;p72"/>
          <p:cNvSpPr txBox="1"/>
          <p:nvPr/>
        </p:nvSpPr>
        <p:spPr>
          <a:xfrm>
            <a:off x="505580" y="445034"/>
            <a:ext cx="6765981" cy="6705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find the median another way.</a:t>
            </a:r>
            <a:endParaRPr b="1" i="0" sz="2800" u="none" cap="none" strike="noStrike">
              <a:solidFill>
                <a:srgbClr val="262626"/>
              </a:solidFill>
              <a:latin typeface="Arial"/>
              <a:ea typeface="Arial"/>
              <a:cs typeface="Arial"/>
              <a:sym typeface="Arial"/>
            </a:endParaRPr>
          </a:p>
        </p:txBody>
      </p:sp>
      <p:sp>
        <p:nvSpPr>
          <p:cNvPr id="713" name="Google Shape;713;p72"/>
          <p:cNvSpPr txBox="1"/>
          <p:nvPr/>
        </p:nvSpPr>
        <p:spPr>
          <a:xfrm>
            <a:off x="506420" y="5195414"/>
            <a:ext cx="9427142" cy="1146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are some ways you have displayed data in the past?</a:t>
            </a:r>
            <a:endParaRPr b="0" i="0" sz="1400" u="none" cap="none" strike="noStrike">
              <a:solidFill>
                <a:srgbClr val="000000"/>
              </a:solidFill>
              <a:latin typeface="Arial"/>
              <a:ea typeface="Arial"/>
              <a:cs typeface="Arial"/>
              <a:sym typeface="Arial"/>
            </a:endParaRPr>
          </a:p>
        </p:txBody>
      </p:sp>
      <p:sp>
        <p:nvSpPr>
          <p:cNvPr id="7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33</a:t>
            </a:r>
          </a:p>
        </p:txBody>
      </p:sp>
      <p:sp xmlns:p="http://schemas.openxmlformats.org/presentationml/2006/main" xmlns:a="http://schemas.openxmlformats.org/drawingml/2006/main">
        <p:nvSpPr>
          <p:cNvPr id="715"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cxnSp>
        <p:nvCxnSpPr>
          <p:cNvPr id="745" name="Google Shape;745;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46" name="Google Shape;746;p76"/>
          <p:cNvPicPr preferRelativeResize="0"/>
          <p:nvPr/>
        </p:nvPicPr>
        <p:blipFill rotWithShape="1">
          <a:blip r:embed="rId3">
            <a:alphaModFix/>
          </a:blip>
          <a:srcRect b="0" l="0" r="0" t="0"/>
          <a:stretch/>
        </p:blipFill>
        <p:spPr>
          <a:xfrm>
            <a:off x="7144327" y="1674956"/>
            <a:ext cx="4572000" cy="2990850"/>
          </a:xfrm>
          <a:prstGeom prst="rect">
            <a:avLst/>
          </a:prstGeom>
          <a:noFill/>
          <a:ln>
            <a:noFill/>
          </a:ln>
        </p:spPr>
      </p:pic>
      <p:sp>
        <p:nvSpPr>
          <p:cNvPr id="747" name="Google Shape;747;p76"/>
          <p:cNvSpPr txBox="1"/>
          <p:nvPr/>
        </p:nvSpPr>
        <p:spPr>
          <a:xfrm>
            <a:off x="475673" y="392636"/>
            <a:ext cx="6765981" cy="22412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find the median another 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display the data to find the median?</a:t>
            </a:r>
            <a:endParaRPr b="0" i="0" sz="1400" u="none" cap="none" strike="noStrike">
              <a:solidFill>
                <a:srgbClr val="000000"/>
              </a:solidFill>
              <a:latin typeface="Arial"/>
              <a:ea typeface="Arial"/>
              <a:cs typeface="Arial"/>
              <a:sym typeface="Arial"/>
            </a:endParaRPr>
          </a:p>
        </p:txBody>
      </p:sp>
      <p:sp>
        <p:nvSpPr>
          <p:cNvPr id="748" name="Google Shape;748;p76"/>
          <p:cNvSpPr txBox="1"/>
          <p:nvPr/>
        </p:nvSpPr>
        <p:spPr>
          <a:xfrm>
            <a:off x="475673" y="4304709"/>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could use a dot plot to display the data.</a:t>
            </a:r>
            <a:endParaRPr b="0" i="0" sz="1400" u="none" cap="none" strike="noStrike">
              <a:solidFill>
                <a:srgbClr val="000000"/>
              </a:solidFill>
              <a:latin typeface="Arial"/>
              <a:ea typeface="Arial"/>
              <a:cs typeface="Arial"/>
              <a:sym typeface="Arial"/>
            </a:endParaRPr>
          </a:p>
        </p:txBody>
      </p:sp>
      <p:sp>
        <p:nvSpPr>
          <p:cNvPr id="7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33</a:t>
            </a:r>
          </a:p>
        </p:txBody>
      </p:sp>
      <p:sp>
        <p:nvSpPr>
          <p:cNvPr id="750" name="EWL-COVER-1"/>
          <p:cNvSpPr/>
          <p:nvPr/>
        </p:nvSpPr>
        <p:spPr>
          <a:xfrm>
            <a:off x="420809" y="4249845"/>
            <a:ext cx="6070352"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751" name="TEACH-embedded-student-prompt" descr="Student thinking and response directions"/>
          <p:cNvSpPr txBox="1"/>
          <p:nvPr/>
        </p:nvSpPr>
        <p:spPr>
          <a:xfrm>
            <a:off x="594360" y="33101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cxnSp>
        <p:nvCxnSpPr>
          <p:cNvPr id="773" name="Google Shape;773;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4" name="Google Shape;774;p79"/>
          <p:cNvSpPr txBox="1"/>
          <p:nvPr/>
        </p:nvSpPr>
        <p:spPr>
          <a:xfrm>
            <a:off x="484565" y="3717026"/>
            <a:ext cx="8197618" cy="5719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does each dot represent on the dot plot?</a:t>
            </a:r>
            <a:endParaRPr b="0" i="0" sz="1400" u="none" cap="none" strike="noStrike">
              <a:solidFill>
                <a:srgbClr val="000000"/>
              </a:solidFill>
              <a:latin typeface="Arial"/>
              <a:ea typeface="Arial"/>
              <a:cs typeface="Arial"/>
              <a:sym typeface="Arial"/>
            </a:endParaRPr>
          </a:p>
        </p:txBody>
      </p:sp>
      <p:pic>
        <p:nvPicPr>
          <p:cNvPr id="775" name="Google Shape;775;p79"/>
          <p:cNvPicPr preferRelativeResize="0"/>
          <p:nvPr/>
        </p:nvPicPr>
        <p:blipFill rotWithShape="1">
          <a:blip r:embed="rId3">
            <a:alphaModFix/>
          </a:blip>
          <a:srcRect b="0" l="0" r="0" t="0"/>
          <a:stretch/>
        </p:blipFill>
        <p:spPr>
          <a:xfrm>
            <a:off x="614744" y="1619819"/>
            <a:ext cx="7391400" cy="1390650"/>
          </a:xfrm>
          <a:prstGeom prst="rect">
            <a:avLst/>
          </a:prstGeom>
          <a:noFill/>
          <a:ln>
            <a:noFill/>
          </a:ln>
        </p:spPr>
      </p:pic>
      <p:sp>
        <p:nvSpPr>
          <p:cNvPr id="776" name="Google Shape;776;p79"/>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777" name="Google Shape;777;p79"/>
          <p:cNvPicPr preferRelativeResize="0"/>
          <p:nvPr/>
        </p:nvPicPr>
        <p:blipFill rotWithShape="1">
          <a:blip r:embed="rId4">
            <a:alphaModFix/>
          </a:blip>
          <a:srcRect b="0" l="0" r="0" t="0"/>
          <a:stretch/>
        </p:blipFill>
        <p:spPr>
          <a:xfrm>
            <a:off x="558276" y="386230"/>
            <a:ext cx="353635" cy="340537"/>
          </a:xfrm>
          <a:prstGeom prst="rect">
            <a:avLst/>
          </a:prstGeom>
          <a:noFill/>
          <a:ln>
            <a:noFill/>
          </a:ln>
        </p:spPr>
      </p:pic>
      <p:sp>
        <p:nvSpPr>
          <p:cNvPr id="778" name="Google Shape;778;p79"/>
          <p:cNvSpPr txBox="1"/>
          <p:nvPr/>
        </p:nvSpPr>
        <p:spPr>
          <a:xfrm>
            <a:off x="484564" y="4463161"/>
            <a:ext cx="6879403" cy="19203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Each dot represents the number of years of teaching experience of one teacher.</a:t>
            </a:r>
            <a:endParaRPr b="0" i="0" sz="1400" u="none" cap="none" strike="noStrike">
              <a:solidFill>
                <a:srgbClr val="000000"/>
              </a:solidFill>
              <a:latin typeface="Arial"/>
              <a:ea typeface="Arial"/>
              <a:cs typeface="Arial"/>
              <a:sym typeface="Arial"/>
            </a:endParaRPr>
          </a:p>
        </p:txBody>
      </p:sp>
      <p:sp>
        <p:nvSpPr>
          <p:cNvPr id="7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33</a:t>
            </a:r>
          </a:p>
        </p:txBody>
      </p:sp>
      <p:sp>
        <p:nvSpPr>
          <p:cNvPr id="780" name="EWL-COVER-1"/>
          <p:cNvSpPr/>
          <p:nvPr/>
        </p:nvSpPr>
        <p:spPr>
          <a:xfrm>
            <a:off x="429700" y="4408297"/>
            <a:ext cx="6989131" cy="2030114"/>
          </a:xfrm>
          <a:prstGeom prst="rect">
            <a:avLst/>
          </a:prstGeom>
          <a:solidFill>
            <a:srgbClr val="FFFFFF"/>
          </a:solidFill>
          <a:ln>
            <a:noFill/>
          </a:ln>
        </p:spPr>
        <p:txBody>
          <a:bodyPr/>
          <a:lstStyle/>
          <a:p/>
        </p:txBody>
      </p:sp>
      <p:sp>
        <p:nvSpPr>
          <p:cNvPr id="7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782" name="TEACH-5-student-move" descr="TEACH 5 · Facilitate student interactions and academic talk"/>
          <p:cNvGrpSpPr/>
          <p:nvPr/>
        </p:nvGrpSpPr>
        <p:grpSpPr>
          <a:xfrm>
            <a:off x="502920" y="3278114"/>
            <a:ext cx="11186160" cy="402336"/>
            <a:chOff x="502920" y="3278114"/>
            <a:chExt cx="11186160" cy="402336"/>
          </a:xfrm>
        </p:grpSpPr>
        <p:sp>
          <p:nvSpPr>
            <p:cNvPr id="783" name="TEACH-move-card"/>
            <p:cNvSpPr/>
            <p:nvPr/>
          </p:nvSpPr>
          <p:spPr>
            <a:xfrm>
              <a:off x="502920" y="327811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84" name="TEACH-move-rule"/>
            <p:cNvSpPr/>
            <p:nvPr/>
          </p:nvSpPr>
          <p:spPr>
            <a:xfrm>
              <a:off x="548640" y="3354558"/>
              <a:ext cx="100584" cy="249448"/>
            </a:xfrm>
            <a:prstGeom prst="roundRect">
              <a:avLst>
                <a:gd name="adj" fmla="val 50000"/>
              </a:avLst>
            </a:prstGeom>
            <a:solidFill>
              <a:srgbClr val="01708C"/>
            </a:solidFill>
            <a:ln>
              <a:noFill/>
            </a:ln>
          </p:spPr>
          <p:txBody>
            <a:bodyPr/>
            <a:lstStyle/>
            <a:p>
              <a:endParaRPr/>
            </a:p>
          </p:txBody>
        </p:sp>
        <p:sp>
          <p:nvSpPr>
            <p:cNvPr id="785" name="TEACH-move-text"/>
            <p:cNvSpPr txBox="1"/>
            <p:nvPr/>
          </p:nvSpPr>
          <p:spPr>
            <a:xfrm>
              <a:off x="822960" y="327811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8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15" name="Google Shape;815;p84"/>
          <p:cNvSpPr txBox="1"/>
          <p:nvPr/>
        </p:nvSpPr>
        <p:spPr>
          <a:xfrm>
            <a:off x="6099120" y="235771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16" name="Google Shape;816;p84"/>
          <p:cNvSpPr/>
          <p:nvPr/>
        </p:nvSpPr>
        <p:spPr>
          <a:xfrm>
            <a:off x="633006" y="1838696"/>
            <a:ext cx="6672983" cy="95192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17" name="Google Shape;817;p84"/>
          <p:cNvSpPr txBox="1"/>
          <p:nvPr/>
        </p:nvSpPr>
        <p:spPr>
          <a:xfrm>
            <a:off x="484564" y="927528"/>
            <a:ext cx="6672983" cy="117836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Why do you think the median is called a “measure of center”?​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818" name="Google Shape;818;p84"/>
          <p:cNvSpPr txBox="1"/>
          <p:nvPr/>
        </p:nvSpPr>
        <p:spPr>
          <a:xfrm>
            <a:off x="6178288" y="594010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19" name="Google Shape;819;p84"/>
          <p:cNvSpPr/>
          <p:nvPr/>
        </p:nvSpPr>
        <p:spPr>
          <a:xfrm>
            <a:off x="712174" y="5436544"/>
            <a:ext cx="6672983" cy="93646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descr="A picture containing text&#10;&#10;Description automatically generated" id="820" name="Google Shape;820;p84"/>
          <p:cNvPicPr preferRelativeResize="0"/>
          <p:nvPr/>
        </p:nvPicPr>
        <p:blipFill rotWithShape="1">
          <a:blip r:embed="rId3">
            <a:alphaModFix/>
          </a:blip>
          <a:srcRect b="0" l="0" r="0" t="0"/>
          <a:stretch/>
        </p:blipFill>
        <p:spPr>
          <a:xfrm>
            <a:off x="1223564" y="4246697"/>
            <a:ext cx="6984006" cy="936000"/>
          </a:xfrm>
          <a:prstGeom prst="rect">
            <a:avLst/>
          </a:prstGeom>
          <a:noFill/>
          <a:ln>
            <a:noFill/>
          </a:ln>
        </p:spPr>
      </p:pic>
      <p:sp>
        <p:nvSpPr>
          <p:cNvPr id="821" name="Google Shape;821;p84"/>
          <p:cNvSpPr txBox="1"/>
          <p:nvPr/>
        </p:nvSpPr>
        <p:spPr>
          <a:xfrm>
            <a:off x="484564" y="3124463"/>
            <a:ext cx="10423606" cy="94407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How might a value in the data set that is much larger or much smaller than the rest of the data affect the median?</a:t>
            </a:r>
            <a:endParaRPr b="0" i="0" sz="1400" u="none" cap="none" strike="noStrike">
              <a:solidFill>
                <a:srgbClr val="000000"/>
              </a:solidFill>
              <a:latin typeface="Arial"/>
              <a:ea typeface="Arial"/>
              <a:cs typeface="Arial"/>
              <a:sym typeface="Arial"/>
            </a:endParaRPr>
          </a:p>
        </p:txBody>
      </p:sp>
      <p:sp>
        <p:nvSpPr>
          <p:cNvPr id="8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2.6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Why does the order of the values matter when identifying a typical value using the median?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2-6 · Describe the Data Using the Median</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When a data set is skewed, the preferred center is: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Median</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Range</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Maximum</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If Group A median is 20 and Group B is 35:</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Group A center is higher</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Group B center is higher</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are identical</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Cannot be compared</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smaller IQR between two distributions indicates: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Greater spread</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Greater consistency / clustering</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Negative values</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More data points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an ordered set of 9 values, the median is value: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9</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33</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2-6 · Describe the Data Using the Median</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Comparing Distributions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Use medians to compare typical values and IQRs to compare consistency between sets.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Skewed Datasets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When values trail off in one direction, </a:t>
            </a:r>
            <a:r>
              <a:rPr b="1" i="0" lang="en-US" sz="1450" u="none" cap="none" strike="noStrike">
                <a:solidFill>
                  <a:srgbClr val="475569"/>
                </a:solidFill>
                <a:latin typeface="Arial"/>
                <a:ea typeface="Arial"/>
                <a:cs typeface="Arial"/>
                <a:sym typeface="Arial"/>
              </a:rPr>
              <a:t xml:space="preserve">median</a:t>
            </a:r>
            <a:r>
              <a:rPr b="0" i="0" lang="en-US" sz="1450" u="none" cap="none" strike="noStrike">
                <a:solidFill>
                  <a:srgbClr val="475569"/>
                </a:solidFill>
                <a:latin typeface="Arial"/>
                <a:ea typeface="Arial"/>
                <a:cs typeface="Arial"/>
                <a:sym typeface="Arial"/>
              </a:rPr>
              <a:t xml:space="preserve"> accurately captures center without skew.</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Data Interpretation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Smaller </a:t>
            </a:r>
            <a:r>
              <a:rPr b="1" i="0" lang="en-US" sz="1450" u="none" cap="none" strike="noStrike">
                <a:solidFill>
                  <a:srgbClr val="475569"/>
                </a:solidFill>
                <a:latin typeface="Arial"/>
                <a:ea typeface="Arial"/>
                <a:cs typeface="Arial"/>
                <a:sym typeface="Arial"/>
              </a:rPr>
              <a:t xml:space="preserve">spread</a:t>
            </a:r>
            <a:r>
              <a:rPr b="0" i="0" lang="en-US" sz="1450" u="none" cap="none" strike="noStrike">
                <a:solidFill>
                  <a:srgbClr val="475569"/>
                </a:solidFill>
                <a:latin typeface="Arial"/>
                <a:ea typeface="Arial"/>
                <a:cs typeface="Arial"/>
                <a:sym typeface="Arial"/>
              </a:rPr>
              <a:t xml:space="preserve"> indicates data values cluster tightly around the central median.</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33</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85"/>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
        <p:nvSpPr>
          <p:cNvPr id="827" name="Google Shape;827;p85"/>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28" name="Google Shape;828;p85"/>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33</a:t>
            </a:r>
          </a:p>
        </p:txBody>
      </p:sp>
      <p:grpSp>
        <p:nvGrpSpPr>
          <p:cNvPr id="830" name="TEACH-6-student-move" descr="TEACH 6 · Organize and implement routines to support a learning-focused classroom"/>
          <p:cNvGrpSpPr/>
          <p:nvPr/>
        </p:nvGrpSpPr>
        <p:grpSpPr>
          <a:xfrm>
            <a:off x="502920" y="3201929"/>
            <a:ext cx="11186160" cy="731520"/>
            <a:chOff x="502920" y="3201929"/>
            <a:chExt cx="11186160" cy="731520"/>
          </a:xfrm>
        </p:grpSpPr>
        <p:sp>
          <p:nvSpPr>
            <p:cNvPr id="831"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32"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833"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cxnSp>
        <p:nvCxnSpPr>
          <p:cNvPr id="843" name="Google Shape;843;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44" name="Google Shape;844;p87"/>
          <p:cNvPicPr preferRelativeResize="0"/>
          <p:nvPr/>
        </p:nvPicPr>
        <p:blipFill rotWithShape="1">
          <a:blip r:embed="rId3">
            <a:alphaModFix/>
          </a:blip>
          <a:srcRect b="0" l="0" r="0" t="0"/>
          <a:stretch/>
        </p:blipFill>
        <p:spPr>
          <a:xfrm>
            <a:off x="2836666" y="2109697"/>
            <a:ext cx="6532360" cy="2223320"/>
          </a:xfrm>
          <a:prstGeom prst="rect">
            <a:avLst/>
          </a:prstGeom>
          <a:noFill/>
          <a:ln>
            <a:noFill/>
          </a:ln>
        </p:spPr>
      </p:pic>
      <p:sp>
        <p:nvSpPr>
          <p:cNvPr id="845" name="Google Shape;845;p87"/>
          <p:cNvSpPr txBox="1"/>
          <p:nvPr/>
        </p:nvSpPr>
        <p:spPr>
          <a:xfrm>
            <a:off x="474054" y="936100"/>
            <a:ext cx="5216531" cy="13452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46" name="Google Shape;846;p87"/>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47" name="Google Shape;847;p87"/>
          <p:cNvPicPr preferRelativeResize="0"/>
          <p:nvPr/>
        </p:nvPicPr>
        <p:blipFill rotWithShape="1">
          <a:blip r:embed="rId4">
            <a:alphaModFix/>
          </a:blip>
          <a:srcRect b="0" l="0" r="0" t="0"/>
          <a:stretch/>
        </p:blipFill>
        <p:spPr>
          <a:xfrm>
            <a:off x="474054" y="5046460"/>
            <a:ext cx="5054600" cy="838200"/>
          </a:xfrm>
          <a:prstGeom prst="rect">
            <a:avLst/>
          </a:prstGeom>
          <a:noFill/>
          <a:ln>
            <a:noFill/>
          </a:ln>
        </p:spPr>
      </p:pic>
      <p:sp>
        <p:nvSpPr>
          <p:cNvPr id="848" name="Google Shape;848;p87"/>
          <p:cNvSpPr txBox="1"/>
          <p:nvPr/>
        </p:nvSpPr>
        <p:spPr>
          <a:xfrm>
            <a:off x="3334071" y="520377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49" name="Google Shape;849;p87"/>
          <p:cNvSpPr/>
          <p:nvPr/>
        </p:nvSpPr>
        <p:spPr>
          <a:xfrm>
            <a:off x="687250" y="586178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showing that you understand someone else’s ideas?</a:t>
            </a:r>
            <a:endParaRPr b="0" i="0" sz="1400" u="none" cap="none" strike="noStrike">
              <a:solidFill>
                <a:srgbClr val="000000"/>
              </a:solidFill>
              <a:latin typeface="Arial"/>
              <a:ea typeface="Arial"/>
              <a:cs typeface="Arial"/>
              <a:sym typeface="Arial"/>
            </a:endParaRPr>
          </a:p>
        </p:txBody>
      </p:sp>
      <p:sp>
        <p:nvSpPr>
          <p:cNvPr id="8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33</a:t>
            </a:r>
          </a:p>
        </p:txBody>
      </p:sp>
      <p:sp xmlns:p="http://schemas.openxmlformats.org/presentationml/2006/main" xmlns:a="http://schemas.openxmlformats.org/drawingml/2006/main">
        <p:nvSpPr>
          <p:cNvPr id="851"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cxnSp>
        <p:nvCxnSpPr>
          <p:cNvPr id="854" name="Google Shape;854;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5" name="Google Shape;855;p88"/>
          <p:cNvSpPr txBox="1"/>
          <p:nvPr/>
        </p:nvSpPr>
        <p:spPr>
          <a:xfrm>
            <a:off x="484564" y="2559862"/>
            <a:ext cx="6765981"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do the additional data values affect the median?</a:t>
            </a:r>
            <a:endParaRPr b="0" i="0" sz="1400" u="none" cap="none" strike="noStrike">
              <a:solidFill>
                <a:srgbClr val="000000"/>
              </a:solidFill>
              <a:latin typeface="Arial"/>
              <a:ea typeface="Arial"/>
              <a:cs typeface="Arial"/>
              <a:sym typeface="Arial"/>
            </a:endParaRPr>
          </a:p>
        </p:txBody>
      </p:sp>
      <p:pic>
        <p:nvPicPr>
          <p:cNvPr id="856" name="Google Shape;856;p88"/>
          <p:cNvPicPr preferRelativeResize="0"/>
          <p:nvPr/>
        </p:nvPicPr>
        <p:blipFill rotWithShape="1">
          <a:blip r:embed="rId3">
            <a:alphaModFix/>
          </a:blip>
          <a:srcRect b="0" l="0" r="0" t="0"/>
          <a:stretch/>
        </p:blipFill>
        <p:spPr>
          <a:xfrm>
            <a:off x="7144327" y="1739611"/>
            <a:ext cx="4572000" cy="2990850"/>
          </a:xfrm>
          <a:prstGeom prst="rect">
            <a:avLst/>
          </a:prstGeom>
          <a:noFill/>
          <a:ln>
            <a:noFill/>
          </a:ln>
        </p:spPr>
      </p:pic>
      <p:sp>
        <p:nvSpPr>
          <p:cNvPr id="857" name="Google Shape;857;p88"/>
          <p:cNvSpPr txBox="1"/>
          <p:nvPr/>
        </p:nvSpPr>
        <p:spPr>
          <a:xfrm>
            <a:off x="484564" y="936100"/>
            <a:ext cx="6765981" cy="1742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Five more teachers were added to the data set. Their years of teaching experience are 5, 7, 14, 22, and 26.</a:t>
            </a:r>
            <a:endParaRPr b="1" i="0" sz="2800" u="none" cap="none" strike="noStrike">
              <a:solidFill>
                <a:srgbClr val="262626"/>
              </a:solidFill>
              <a:latin typeface="Arial"/>
              <a:ea typeface="Arial"/>
              <a:cs typeface="Arial"/>
              <a:sym typeface="Arial"/>
            </a:endParaRPr>
          </a:p>
        </p:txBody>
      </p:sp>
      <p:sp>
        <p:nvSpPr>
          <p:cNvPr id="858" name="Google Shape;858;p8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More Teaching Experience</a:t>
            </a:r>
            <a:endParaRPr b="0" i="0" sz="1400" u="none" cap="none" strike="noStrike">
              <a:solidFill>
                <a:srgbClr val="000000"/>
              </a:solidFill>
              <a:latin typeface="Arial"/>
              <a:ea typeface="Arial"/>
              <a:cs typeface="Arial"/>
              <a:sym typeface="Arial"/>
            </a:endParaRPr>
          </a:p>
        </p:txBody>
      </p:sp>
      <p:sp>
        <p:nvSpPr>
          <p:cNvPr id="8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33</a:t>
            </a:r>
          </a:p>
        </p:txBody>
      </p:sp>
      <p:sp xmlns:p="http://schemas.openxmlformats.org/presentationml/2006/main" xmlns:a="http://schemas.openxmlformats.org/drawingml/2006/main">
        <p:nvSpPr>
          <p:cNvPr id="86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cxnSp>
        <p:nvCxnSpPr>
          <p:cNvPr id="890" name="Google Shape;890;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1" name="Google Shape;891;p92"/>
          <p:cNvSpPr txBox="1"/>
          <p:nvPr/>
        </p:nvSpPr>
        <p:spPr>
          <a:xfrm>
            <a:off x="344323" y="3272336"/>
            <a:ext cx="7347872"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new data values? How many data values are there?</a:t>
            </a:r>
            <a:endParaRPr b="0" i="0" sz="1400" u="none" cap="none" strike="noStrike">
              <a:solidFill>
                <a:srgbClr val="000000"/>
              </a:solidFill>
              <a:latin typeface="Arial"/>
              <a:ea typeface="Arial"/>
              <a:cs typeface="Arial"/>
              <a:sym typeface="Arial"/>
            </a:endParaRPr>
          </a:p>
        </p:txBody>
      </p:sp>
      <p:pic>
        <p:nvPicPr>
          <p:cNvPr id="892" name="Google Shape;892;p92"/>
          <p:cNvPicPr preferRelativeResize="0"/>
          <p:nvPr/>
        </p:nvPicPr>
        <p:blipFill rotWithShape="1">
          <a:blip r:embed="rId3">
            <a:alphaModFix/>
          </a:blip>
          <a:srcRect b="0" l="0" r="0" t="0"/>
          <a:stretch/>
        </p:blipFill>
        <p:spPr>
          <a:xfrm>
            <a:off x="605506" y="1802410"/>
            <a:ext cx="10896388" cy="396000"/>
          </a:xfrm>
          <a:prstGeom prst="rect">
            <a:avLst/>
          </a:prstGeom>
          <a:noFill/>
          <a:ln>
            <a:noFill/>
          </a:ln>
        </p:spPr>
      </p:pic>
      <p:sp>
        <p:nvSpPr>
          <p:cNvPr id="893" name="Google Shape;893;p92"/>
          <p:cNvSpPr txBox="1"/>
          <p:nvPr/>
        </p:nvSpPr>
        <p:spPr>
          <a:xfrm>
            <a:off x="344323" y="375383"/>
            <a:ext cx="7006127" cy="6525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look at the data set arranged in order.​</a:t>
            </a:r>
            <a:endParaRPr b="1" i="0" sz="2800" u="none" cap="none" strike="noStrike">
              <a:solidFill>
                <a:srgbClr val="262626"/>
              </a:solidFill>
              <a:latin typeface="Arial"/>
              <a:ea typeface="Arial"/>
              <a:cs typeface="Arial"/>
              <a:sym typeface="Arial"/>
            </a:endParaRPr>
          </a:p>
        </p:txBody>
      </p:sp>
      <p:sp>
        <p:nvSpPr>
          <p:cNvPr id="894" name="Google Shape;894;p92"/>
          <p:cNvSpPr txBox="1"/>
          <p:nvPr/>
        </p:nvSpPr>
        <p:spPr>
          <a:xfrm>
            <a:off x="344323" y="4659591"/>
            <a:ext cx="9256877"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of the values are below 13, the previous median, and three are greater than 13. There are now 30 values.</a:t>
            </a:r>
            <a:endParaRPr b="0" i="0" sz="1400" u="none" cap="none" strike="noStrike">
              <a:solidFill>
                <a:srgbClr val="000000"/>
              </a:solidFill>
              <a:latin typeface="Arial"/>
              <a:ea typeface="Arial"/>
              <a:cs typeface="Arial"/>
              <a:sym typeface="Arial"/>
            </a:endParaRPr>
          </a:p>
        </p:txBody>
      </p:sp>
      <p:sp>
        <p:nvSpPr>
          <p:cNvPr id="8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33</a:t>
            </a:r>
          </a:p>
        </p:txBody>
      </p:sp>
      <p:sp>
        <p:nvSpPr>
          <p:cNvPr id="896" name="EWL-COVER-1"/>
          <p:cNvSpPr/>
          <p:nvPr/>
        </p:nvSpPr>
        <p:spPr>
          <a:xfrm>
            <a:off x="289459" y="4604727"/>
            <a:ext cx="9366605"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897" name="TEACH-embedded-student-prompt" descr="Student thinking and response directions"/>
          <p:cNvSpPr txBox="1"/>
          <p:nvPr/>
        </p:nvSpPr>
        <p:spPr>
          <a:xfrm>
            <a:off x="594360" y="26151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cxnSp>
        <p:nvCxnSpPr>
          <p:cNvPr id="925" name="Google Shape;925;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6" name="Google Shape;926;p96"/>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927" name="Google Shape;927;p96"/>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928" name="Google Shape;928;p96"/>
          <p:cNvSpPr txBox="1"/>
          <p:nvPr/>
        </p:nvSpPr>
        <p:spPr>
          <a:xfrm>
            <a:off x="558276" y="455487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add the two numbers and then divide the sum by 2.</a:t>
            </a:r>
            <a:endParaRPr b="0" i="0" sz="1400" u="none" cap="none" strike="noStrike">
              <a:solidFill>
                <a:srgbClr val="000000"/>
              </a:solidFill>
              <a:latin typeface="Arial"/>
              <a:ea typeface="Arial"/>
              <a:cs typeface="Arial"/>
              <a:sym typeface="Arial"/>
            </a:endParaRPr>
          </a:p>
        </p:txBody>
      </p:sp>
      <p:sp>
        <p:nvSpPr>
          <p:cNvPr id="929" name="Google Shape;929;p96"/>
          <p:cNvSpPr txBox="1"/>
          <p:nvPr/>
        </p:nvSpPr>
        <p:spPr>
          <a:xfrm>
            <a:off x="605507" y="3522571"/>
            <a:ext cx="7845766" cy="9753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find the value halfway between the two middle numbers?</a:t>
            </a:r>
            <a:endParaRPr b="0" i="0" sz="1400" u="none" cap="none" strike="noStrike">
              <a:solidFill>
                <a:srgbClr val="000000"/>
              </a:solidFill>
              <a:latin typeface="Arial"/>
              <a:ea typeface="Arial"/>
              <a:cs typeface="Arial"/>
              <a:sym typeface="Arial"/>
            </a:endParaRPr>
          </a:p>
        </p:txBody>
      </p:sp>
      <p:pic>
        <p:nvPicPr>
          <p:cNvPr id="930" name="Google Shape;930;p96"/>
          <p:cNvPicPr preferRelativeResize="0"/>
          <p:nvPr/>
        </p:nvPicPr>
        <p:blipFill rotWithShape="1">
          <a:blip r:embed="rId4">
            <a:alphaModFix/>
          </a:blip>
          <a:srcRect b="0" l="0" r="0" t="0"/>
          <a:stretch/>
        </p:blipFill>
        <p:spPr>
          <a:xfrm>
            <a:off x="605507" y="1667821"/>
            <a:ext cx="10896388" cy="1797755"/>
          </a:xfrm>
          <a:prstGeom prst="rect">
            <a:avLst/>
          </a:prstGeom>
          <a:noFill/>
          <a:ln>
            <a:noFill/>
          </a:ln>
        </p:spPr>
      </p:pic>
      <p:sp>
        <p:nvSpPr>
          <p:cNvPr id="9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33</a:t>
            </a:r>
          </a:p>
        </p:txBody>
      </p:sp>
      <p:sp>
        <p:nvSpPr>
          <p:cNvPr id="932" name="EWL-COVER-1"/>
          <p:cNvSpPr/>
          <p:nvPr/>
        </p:nvSpPr>
        <p:spPr>
          <a:xfrm>
            <a:off x="503412" y="4500011"/>
            <a:ext cx="6070352" cy="1659768"/>
          </a:xfrm>
          <a:prstGeom prst="rect">
            <a:avLst/>
          </a:prstGeom>
          <a:solidFill>
            <a:srgbClr val="FFFFFF"/>
          </a:solidFill>
          <a:ln>
            <a:noFill/>
          </a:ln>
        </p:spPr>
        <p:txBody>
          <a:bodyPr/>
          <a:lstStyle/>
          <a:p/>
        </p:txBody>
      </p:sp>
      <p:sp>
        <p:nvSpPr>
          <p:cNvPr id="93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34"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cxnSp>
        <p:nvCxnSpPr>
          <p:cNvPr id="970" name="Google Shape;970;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1" name="Google Shape;971;p101"/>
          <p:cNvSpPr txBox="1"/>
          <p:nvPr/>
        </p:nvSpPr>
        <p:spPr>
          <a:xfrm>
            <a:off x="5950678"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72" name="Google Shape;972;p101"/>
          <p:cNvSpPr/>
          <p:nvPr/>
        </p:nvSpPr>
        <p:spPr>
          <a:xfrm>
            <a:off x="567559" y="5121100"/>
            <a:ext cx="6589988" cy="1035823"/>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973" name="Google Shape;973;p101"/>
          <p:cNvPicPr preferRelativeResize="0"/>
          <p:nvPr/>
        </p:nvPicPr>
        <p:blipFill rotWithShape="1">
          <a:blip r:embed="rId3">
            <a:alphaModFix/>
          </a:blip>
          <a:srcRect b="0" l="0" r="0" t="0"/>
          <a:stretch/>
        </p:blipFill>
        <p:spPr>
          <a:xfrm>
            <a:off x="7677302" y="2286000"/>
            <a:ext cx="3852229" cy="2520000"/>
          </a:xfrm>
          <a:prstGeom prst="rect">
            <a:avLst/>
          </a:prstGeom>
          <a:noFill/>
          <a:ln>
            <a:noFill/>
          </a:ln>
        </p:spPr>
      </p:pic>
      <p:sp>
        <p:nvSpPr>
          <p:cNvPr id="974" name="Google Shape;974;p101"/>
          <p:cNvSpPr txBox="1"/>
          <p:nvPr/>
        </p:nvSpPr>
        <p:spPr>
          <a:xfrm>
            <a:off x="484564" y="927528"/>
            <a:ext cx="8930588" cy="105169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How would the median change if all five additional data points were greater than 13? less than 13?</a:t>
            </a:r>
            <a:endParaRPr b="0" i="0" sz="1400" u="none" cap="none" strike="noStrike">
              <a:solidFill>
                <a:srgbClr val="000000"/>
              </a:solidFill>
              <a:latin typeface="Arial"/>
              <a:ea typeface="Arial"/>
              <a:cs typeface="Arial"/>
              <a:sym typeface="Arial"/>
            </a:endParaRPr>
          </a:p>
        </p:txBody>
      </p:sp>
      <p:sp>
        <p:nvSpPr>
          <p:cNvPr id="975" name="Google Shape;975;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76" name="Google Shape;976;p101"/>
          <p:cNvSpPr txBox="1"/>
          <p:nvPr/>
        </p:nvSpPr>
        <p:spPr>
          <a:xfrm>
            <a:off x="5950678" y="271659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77" name="Google Shape;977;p101"/>
          <p:cNvSpPr/>
          <p:nvPr/>
        </p:nvSpPr>
        <p:spPr>
          <a:xfrm>
            <a:off x="567559" y="1845490"/>
            <a:ext cx="6589988" cy="128322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78" name="Google Shape;978;p101"/>
          <p:cNvSpPr txBox="1"/>
          <p:nvPr/>
        </p:nvSpPr>
        <p:spPr>
          <a:xfrm>
            <a:off x="524148" y="3213527"/>
            <a:ext cx="6941472" cy="179719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How would the median change if the values of the three data points greater than 13–14, 22, and 26–were changed to 32, 35, and 41?</a:t>
            </a:r>
            <a:endParaRPr b="0" i="0" sz="1400" u="none" cap="none" strike="noStrike">
              <a:solidFill>
                <a:srgbClr val="000000"/>
              </a:solidFill>
              <a:latin typeface="Arial"/>
              <a:ea typeface="Arial"/>
              <a:cs typeface="Arial"/>
              <a:sym typeface="Arial"/>
            </a:endParaRPr>
          </a:p>
        </p:txBody>
      </p:sp>
      <p:sp>
        <p:nvSpPr>
          <p:cNvPr id="9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33</a:t>
            </a:r>
          </a:p>
        </p:txBody>
      </p:sp>
      <p:sp xmlns:p="http://schemas.openxmlformats.org/presentationml/2006/main" xmlns:a="http://schemas.openxmlformats.org/drawingml/2006/main">
        <p:nvSpPr>
          <p:cNvPr id="98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2.6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selecting a middle value before ordering.</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Pair the lowest and highest observations in the given data set.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cxnSp>
        <p:nvCxnSpPr>
          <p:cNvPr id="983" name="Google Shape;983;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84" name="Google Shape;984;p102"/>
          <p:cNvPicPr preferRelativeResize="0"/>
          <p:nvPr/>
        </p:nvPicPr>
        <p:blipFill rotWithShape="1">
          <a:blip r:embed="rId3">
            <a:alphaModFix/>
          </a:blip>
          <a:srcRect b="0" l="0" r="0" t="0"/>
          <a:stretch/>
        </p:blipFill>
        <p:spPr>
          <a:xfrm>
            <a:off x="1102006" y="3901441"/>
            <a:ext cx="7793765" cy="2495092"/>
          </a:xfrm>
          <a:prstGeom prst="rect">
            <a:avLst/>
          </a:prstGeom>
          <a:noFill/>
          <a:ln>
            <a:noFill/>
          </a:ln>
        </p:spPr>
      </p:pic>
      <p:sp>
        <p:nvSpPr>
          <p:cNvPr id="985" name="Google Shape;985;p102"/>
          <p:cNvSpPr txBox="1"/>
          <p:nvPr/>
        </p:nvSpPr>
        <p:spPr>
          <a:xfrm>
            <a:off x="521450" y="1409412"/>
            <a:ext cx="9416878" cy="2654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A measure of center used to describe a numerical data set is the median, which is the middle value when the data are ordered from least to greatest. When the number of values in a data set is odd, the median is the middle data value. When the number of values in a data set is even, the median is the sum of the two middle values divided by 2.</a:t>
            </a:r>
            <a:endParaRPr b="0" i="0" sz="1400" u="none" cap="none" strike="noStrike">
              <a:solidFill>
                <a:srgbClr val="000000"/>
              </a:solidFill>
              <a:latin typeface="Arial"/>
              <a:ea typeface="Arial"/>
              <a:cs typeface="Arial"/>
              <a:sym typeface="Arial"/>
            </a:endParaRPr>
          </a:p>
        </p:txBody>
      </p:sp>
      <p:sp>
        <p:nvSpPr>
          <p:cNvPr id="986" name="Google Shape;986;p102"/>
          <p:cNvSpPr txBox="1"/>
          <p:nvPr/>
        </p:nvSpPr>
        <p:spPr>
          <a:xfrm>
            <a:off x="484565" y="316034"/>
            <a:ext cx="6276453" cy="826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Describe Data Using the Median​</a:t>
            </a:r>
            <a:endParaRPr b="0" i="0" sz="1400" u="none" cap="none" strike="noStrike">
              <a:solidFill>
                <a:srgbClr val="000000"/>
              </a:solidFill>
              <a:latin typeface="Arial"/>
              <a:ea typeface="Arial"/>
              <a:cs typeface="Arial"/>
              <a:sym typeface="Arial"/>
            </a:endParaRPr>
          </a:p>
        </p:txBody>
      </p:sp>
      <p:sp>
        <p:nvSpPr>
          <p:cNvPr id="9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33</a:t>
            </a:r>
          </a:p>
        </p:txBody>
      </p:sp>
      <p:sp>
        <p:nvSpPr>
          <p:cNvPr id="98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cxnSp>
        <p:nvCxnSpPr>
          <p:cNvPr id="991" name="Google Shape;991;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92" name="Google Shape;992;p103"/>
          <p:cNvPicPr preferRelativeResize="0"/>
          <p:nvPr/>
        </p:nvPicPr>
        <p:blipFill rotWithShape="1">
          <a:blip r:embed="rId3">
            <a:alphaModFix/>
          </a:blip>
          <a:srcRect b="0" l="0" r="0" t="0"/>
          <a:stretch/>
        </p:blipFill>
        <p:spPr>
          <a:xfrm>
            <a:off x="7420967" y="2152936"/>
            <a:ext cx="3774660" cy="3041505"/>
          </a:xfrm>
          <a:prstGeom prst="rect">
            <a:avLst/>
          </a:prstGeom>
          <a:noFill/>
          <a:ln>
            <a:noFill/>
          </a:ln>
        </p:spPr>
      </p:pic>
      <p:sp>
        <p:nvSpPr>
          <p:cNvPr id="993" name="Google Shape;993;p103"/>
          <p:cNvSpPr txBox="1"/>
          <p:nvPr/>
        </p:nvSpPr>
        <p:spPr>
          <a:xfrm>
            <a:off x="484564" y="927528"/>
            <a:ext cx="6719800" cy="54923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Terrance is helping his grandmother sell her house. He uses a real estate website to look at the recent sale prices of similarly-sized houses in their area and collects the information in the table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 xml:space="preserve">Question: </a:t>
            </a:r>
            <a:r>
              <a:rPr b="0" i="0" lang="en-US" sz="2800" u="none" cap="none" strike="noStrike">
                <a:solidFill>
                  <a:srgbClr val="23282D"/>
                </a:solidFill>
                <a:latin typeface="Arial"/>
                <a:ea typeface="Arial"/>
                <a:cs typeface="Arial"/>
                <a:sym typeface="Arial"/>
              </a:rPr>
              <a:t>What do you think would be a fair, but competitive selling price for Terrance’s grandmother’s house?</a:t>
            </a:r>
            <a:endParaRPr b="0" i="0" sz="1400" u="none" cap="none" strike="noStrike">
              <a:solidFill>
                <a:srgbClr val="000000"/>
              </a:solidFill>
              <a:latin typeface="Arial"/>
              <a:ea typeface="Arial"/>
              <a:cs typeface="Arial"/>
              <a:sym typeface="Arial"/>
            </a:endParaRPr>
          </a:p>
        </p:txBody>
      </p:sp>
      <p:sp>
        <p:nvSpPr>
          <p:cNvPr id="994" name="Google Shape;994;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Real Estate</a:t>
            </a:r>
            <a:endParaRPr b="0" i="0" sz="1400" u="none" cap="none" strike="noStrike">
              <a:solidFill>
                <a:srgbClr val="000000"/>
              </a:solidFill>
              <a:latin typeface="Arial"/>
              <a:ea typeface="Arial"/>
              <a:cs typeface="Arial"/>
              <a:sym typeface="Arial"/>
            </a:endParaRPr>
          </a:p>
        </p:txBody>
      </p:sp>
      <p:sp>
        <p:nvSpPr>
          <p:cNvPr id="9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33</a:t>
            </a:r>
          </a:p>
        </p:txBody>
      </p:sp>
      <p:sp>
        <p:nvSpPr>
          <p:cNvPr id="99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cxnSp>
        <p:nvCxnSpPr>
          <p:cNvPr id="999" name="Google Shape;999;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0" name="Google Shape;1000;p104"/>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I can use the median to describe a data set.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repeated reasoning to describe a data set using the median.</a:t>
            </a:r>
            <a:endParaRPr b="0" i="0" sz="1400" u="none" cap="none" strike="noStrike">
              <a:solidFill>
                <a:srgbClr val="000000"/>
              </a:solidFill>
              <a:latin typeface="Arial"/>
              <a:ea typeface="Arial"/>
              <a:cs typeface="Arial"/>
              <a:sym typeface="Arial"/>
            </a:endParaRPr>
          </a:p>
        </p:txBody>
      </p:sp>
      <p:sp>
        <p:nvSpPr>
          <p:cNvPr id="1001" name="Google Shape;1001;p10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33</a:t>
            </a:r>
          </a:p>
        </p:txBody>
      </p:sp>
      <p:grpSp>
        <p:nvGrpSpPr>
          <p:cNvPr id="1003" name="TEACH-1-student-move" descr="TEACH 1 · Facilitate clear, standards-based content learning"/>
          <p:cNvGrpSpPr/>
          <p:nvPr/>
        </p:nvGrpSpPr>
        <p:grpSpPr>
          <a:xfrm>
            <a:off x="502920" y="5472790"/>
            <a:ext cx="11186160" cy="402336"/>
            <a:chOff x="502920" y="5472790"/>
            <a:chExt cx="11186160" cy="402336"/>
          </a:xfrm>
        </p:grpSpPr>
        <p:sp>
          <p:nvSpPr>
            <p:cNvPr id="1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2.6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Order the data.</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17 / 33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33</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2.6 — Describe the Data Using the Median</dc:title>
  <dc:creator>Neft Teacher</dc:creator>
  <cp:lastModifiedBy>Neft Teacher</cp:lastModifiedBy>
  <dcterms:created xsi:type="dcterms:W3CDTF">2026-09-30T12:04:43Z</dcterms:created>
  <dcterms:modified xsi:type="dcterms:W3CDTF">2026-09-30T12:04:43Z</dcterms:modified>
</cp:coreProperties>
</file>