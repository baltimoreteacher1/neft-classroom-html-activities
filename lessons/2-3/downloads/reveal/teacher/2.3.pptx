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3.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8" r:id="rId21"/>
    <p:sldId id="269" r:id="rId22"/>
    <p:sldId id="256" r:id="rId9"/>
    <p:sldId id="257" r:id="rId10"/>
    <p:sldId id="260" r:id="rId13"/>
    <p:sldId id="334" r:id="rId76"/>
    <p:sldId id="333" r:id="rId31"/>
    <p:sldId id="332" r:id="rId44"/>
    <p:sldId id="331" r:id="rId43"/>
    <p:sldId id="330" r:id="rId42"/>
    <p:sldId id="329" r:id="rId32"/>
    <p:sldId id="328" r:id="rId40"/>
    <p:sldId id="261" r:id="rId14"/>
    <p:sldId id="271" r:id="rId24"/>
    <p:sldId id="272" r:id="rId25"/>
    <p:sldId id="284" r:id="rId37"/>
    <p:sldId id="286" r:id="rId39"/>
    <p:sldId id="288" r:id="rId41"/>
    <p:sldId id="292" r:id="rId45"/>
    <p:sldId id="295" r:id="rId48"/>
    <p:sldId id="300" r:id="rId53"/>
    <p:sldId id="338" r:id="rId80"/>
    <p:sldId id="335" r:id="rId77"/>
    <p:sldId id="327" r:id="rId33"/>
    <p:sldId id="326" r:id="rId38"/>
    <p:sldId id="325" r:id="rId34"/>
    <p:sldId id="321" r:id="rId74"/>
    <p:sldId id="339" r:id="rId81"/>
    <p:sldId id="322" r:id="rId75"/>
    <p:sldId id="301" r:id="rId54"/>
    <p:sldId id="303" r:id="rId56"/>
    <p:sldId id="304" r:id="rId57"/>
    <p:sldId id="308" r:id="rId61"/>
    <p:sldId id="312" r:id="rId65"/>
    <p:sldId id="317" r:id="rId70"/>
    <p:sldId id="336" r:id="rId78"/>
    <p:sldId id="324" r:id="rId36"/>
    <p:sldId id="323" r:id="rId35"/>
    <p:sldId id="318" r:id="rId71"/>
    <p:sldId id="319" r:id="rId72"/>
    <p:sldId id="340" r:id="rId82"/>
    <p:sldId id="320" r:id="rId73"/>
    <p:sldId id="337" r:id="rId7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4.xml"/><Relationship Id="rId21" Type="http://schemas.openxmlformats.org/officeDocument/2006/relationships/slide" Target="slides/slide2.xml"/><Relationship Id="rId22" Type="http://schemas.openxmlformats.org/officeDocument/2006/relationships/slide" Target="slides/slide3.xml"/><Relationship Id="rId24" Type="http://schemas.openxmlformats.org/officeDocument/2006/relationships/slide" Target="slides/slide15.xml"/><Relationship Id="rId25" Type="http://schemas.openxmlformats.org/officeDocument/2006/relationships/slide" Target="slides/slide16.xml"/><Relationship Id="rId31" Type="http://schemas.openxmlformats.org/officeDocument/2006/relationships/slide" Target="slides/slide8.xml"/><Relationship Id="rId32" Type="http://schemas.openxmlformats.org/officeDocument/2006/relationships/slide" Target="slides/slide12.xml"/><Relationship Id="rId33" Type="http://schemas.openxmlformats.org/officeDocument/2006/relationships/slide" Target="slides/slide24.xml"/><Relationship Id="rId34" Type="http://schemas.openxmlformats.org/officeDocument/2006/relationships/slide" Target="slides/slide26.xml"/><Relationship Id="rId35" Type="http://schemas.openxmlformats.org/officeDocument/2006/relationships/slide" Target="slides/slide37.xml"/><Relationship Id="rId36" Type="http://schemas.openxmlformats.org/officeDocument/2006/relationships/slide" Target="slides/slide36.xml"/><Relationship Id="rId37" Type="http://schemas.openxmlformats.org/officeDocument/2006/relationships/slide" Target="slides/slide17.xml"/><Relationship Id="rId38" Type="http://schemas.openxmlformats.org/officeDocument/2006/relationships/slide" Target="slides/slide25.xml"/><Relationship Id="rId39" Type="http://schemas.openxmlformats.org/officeDocument/2006/relationships/slide" Target="slides/slide18.xml"/><Relationship Id="rId40" Type="http://schemas.openxmlformats.org/officeDocument/2006/relationships/slide" Target="slides/slide13.xml"/><Relationship Id="rId41" Type="http://schemas.openxmlformats.org/officeDocument/2006/relationships/slide" Target="slides/slide19.xml"/><Relationship Id="rId42" Type="http://schemas.openxmlformats.org/officeDocument/2006/relationships/slide" Target="slides/slide11.xml"/><Relationship Id="rId43" Type="http://schemas.openxmlformats.org/officeDocument/2006/relationships/slide" Target="slides/slide10.xml"/><Relationship Id="rId44" Type="http://schemas.openxmlformats.org/officeDocument/2006/relationships/slide" Target="slides/slide9.xml"/><Relationship Id="rId45" Type="http://schemas.openxmlformats.org/officeDocument/2006/relationships/slide" Target="slides/slide20.xml"/><Relationship Id="rId48" Type="http://schemas.openxmlformats.org/officeDocument/2006/relationships/slide" Target="slides/slide21.xml"/><Relationship Id="rId53" Type="http://schemas.openxmlformats.org/officeDocument/2006/relationships/slide" Target="slides/slide22.xml"/><Relationship Id="rId54"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61" Type="http://schemas.openxmlformats.org/officeDocument/2006/relationships/slide" Target="slides/slide32.xml"/><Relationship Id="rId65" Type="http://schemas.openxmlformats.org/officeDocument/2006/relationships/slide" Target="slides/slide33.xml"/><Relationship Id="rId70" Type="http://schemas.openxmlformats.org/officeDocument/2006/relationships/slide" Target="slides/slide34.xml"/><Relationship Id="rId71" Type="http://schemas.openxmlformats.org/officeDocument/2006/relationships/slide" Target="slides/slide38.xml"/><Relationship Id="rId72" Type="http://schemas.openxmlformats.org/officeDocument/2006/relationships/slide" Target="slides/slide39.xml"/><Relationship Id="rId73" Type="http://schemas.openxmlformats.org/officeDocument/2006/relationships/slide" Target="slides/slide40.xml"/><Relationship Id="rId74" Type="http://schemas.openxmlformats.org/officeDocument/2006/relationships/slide" Target="slides/slide27.xml"/><Relationship Id="rId75" Type="http://schemas.openxmlformats.org/officeDocument/2006/relationships/slide" Target="slides/slide28.xml"/><Relationship Id="rId76" Type="http://schemas.openxmlformats.org/officeDocument/2006/relationships/slide" Target="slides/slide7.xml"/><Relationship Id="rId77" Type="http://schemas.openxmlformats.org/officeDocument/2006/relationships/slide" Target="slides/slide23.xml"/><Relationship Id="rId78" Type="http://schemas.openxmlformats.org/officeDocument/2006/relationships/slide" Target="slides/slide35.xml"/><Relationship Id="rId79" Type="http://schemas.openxmlformats.org/officeDocument/2006/relationships/slide" Target="slides/slide41.xml"/><Relationship Id="rId80" Type="http://schemas.openxmlformats.org/officeDocument/2006/relationships/slide" Target="slides/slide42.xml"/><Relationship Id="rId81" Type="http://schemas.openxmlformats.org/officeDocument/2006/relationships/slide" Target="slides/slide43.xml"/><Relationship Id="rId82"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4 | DIVIDER</a:t>
            </a:r>
          </a:p>
          <a:p xmlns:a="http://schemas.openxmlformats.org/drawingml/2006/main">
            <a:pPr>
              <a:buNone/>
            </a:pPr>
            <a:r>
              <a:rPr lang="en-US" sz="1100"/>
              <a:t>Focus on the existing task: Describe Data Using the Median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5 | WORKED</a:t>
            </a:r>
          </a:p>
          <a:p xmlns:a="http://schemas.openxmlformats.org/drawingml/2006/main">
            <a:pPr>
              <a:buNone/>
            </a:pPr>
            <a:r>
              <a:rPr lang="en-US" sz="1100"/>
              <a:t>Focus on the existing task: Use all the numbers in any order with any operation to equal the target number (in red). Give Me Five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4, 6, 9, 11, 15   2) 4th   3) 14.5   4) 19</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order the values; locate the middle; explain the two-middle-value case. Review recent work and today’s warm-up to choose flexible groups and access supports; do not infer needs from identity or perceived ability. Use the existing lesson tasks and stated standards.</a:t>
            </a:r>
          </a:p>
          <a:p>
            <a:pPr>
              <a:buNone/>
            </a:pPr>
            <a:r>
              <a:rPr lang="en-US" sz="1100"/>
              <a:t>Anticipate: choosing the middle of the unsorted list. If observed, mark paired values from the ends of the ordered list.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6" name="Google Shape;256;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6 | GOAL</a:t>
            </a:r>
          </a:p>
          <a:p xmlns:a="http://schemas.openxmlformats.org/drawingml/2006/main">
            <a:pPr>
              <a:buNone/>
            </a:pPr>
            <a:r>
              <a:rPr lang="en-US" sz="1100"/>
              <a:t>Focus on the existing task: Today’s Objectives Describe the Data Using the Median…</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order the values; locate the middle; explain the two-middle-value case. Ask: “Which part of your work would show this?” Revisit that evidence after the task; a confidence rating alone is not evidence of understanding.</a:t>
            </a:r>
          </a:p>
        </p:txBody>
      </p:sp>
      <p:sp>
        <p:nvSpPr>
          <p:cNvPr id="332" name="Google Shape;332;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14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4" name="Google Shape;354;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98" name="Google Shape;498;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 | NOTES</a:t>
            </a:r>
          </a:p>
          <a:p xmlns:a="http://schemas.openxmlformats.org/drawingml/2006/main">
            <a:pPr>
              <a:buNone/>
            </a:pPr>
            <a:r>
              <a:rPr lang="en-US" sz="1100"/>
              <a:t>Focus on the existing task: Today’s Math Notes Section 2: Today’s Math Copy into…</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26" name="Google Shape;526;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15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62" name="Google Shape;562;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16 | TASK</a:t>
            </a:r>
          </a:p>
          <a:p xmlns:a="http://schemas.openxmlformats.org/drawingml/2006/main">
            <a:pPr>
              <a:buNone/>
            </a:pPr>
            <a:r>
              <a:rPr lang="en-US" sz="1100"/>
              <a:t>Focus on the existing task: How can you summarize the data set?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your ordering show that half of the observations lie on either side of the median?” Wait for evidence, invite another pathway, and have a student ask a follow-up question. Do not replace students’ reasoning with a sequence of leading steps.</a:t>
            </a:r>
          </a:p>
        </p:txBody>
      </p:sp>
      <p:sp>
        <p:nvSpPr>
          <p:cNvPr id="573" name="Google Shape;573;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17 | REVEAL</a:t>
            </a:r>
          </a:p>
          <a:p xmlns:a="http://schemas.openxmlformats.org/drawingml/2006/main">
            <a:pPr>
              <a:buNone/>
            </a:pPr>
            <a:r>
              <a:rPr lang="en-US" sz="1100"/>
              <a:t>Focus on the existing task: Reveal: You can count an equal number of data values on either side until you meet in the middle. There are 25 values in the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two-middle-value case.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You can count an equal number of data values on either side until you meet in the middle.</a:t>
            </a:r>
          </a:p>
          <a:p>
            <a:pPr indent="0" lvl="0" marL="0" rtl="0" algn="l">
              <a:lnSpc>
                <a:spcPct val="100000"/>
              </a:lnSpc>
              <a:spcBef>
                <a:spcPts val="0"/>
              </a:spcBef>
              <a:spcAft>
                <a:spcPts val="0"/>
              </a:spcAft>
              <a:buSzPts val="1400"/>
              <a:buNone/>
            </a:pPr>
            <a:r>
              <a:t>UIFR: TEACH 3 · TEACH 4.</a:t>
            </a:r>
          </a:p>
        </p:txBody>
      </p:sp>
      <p:sp>
        <p:nvSpPr>
          <p:cNvPr id="678" name="Google Shape;678;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3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18 | WORKED</a:t>
            </a:r>
          </a:p>
          <a:p xmlns:a="http://schemas.openxmlformats.org/drawingml/2006/main">
            <a:pPr>
              <a:buNone/>
            </a:pPr>
            <a:r>
              <a:rPr lang="en-US" sz="1100"/>
              <a:t>Focus on the existing task: One measure of center is the median. The median is the middle value of a data set when the values are arranged from least to greatest.…</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explain the two-middle-value case.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693" name="Google Shape;693;p3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19 | TASK</a:t>
            </a:r>
          </a:p>
          <a:p xmlns:a="http://schemas.openxmlformats.org/drawingml/2006/main">
            <a:pPr>
              <a:buNone/>
            </a:pPr>
            <a:r>
              <a:rPr lang="en-US" sz="1100"/>
              <a:t>Focus on the existing task: Let’s find the median another way. Think About It: What are some ways you have displayed data in the past?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08" name="Google Shape;708;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20 | REVEAL</a:t>
            </a:r>
          </a:p>
          <a:p xmlns:a="http://schemas.openxmlformats.org/drawingml/2006/main">
            <a:pPr>
              <a:buNone/>
            </a:pPr>
            <a:r>
              <a:rPr lang="en-US" sz="1100"/>
              <a:t>Focus on the existing task: Let’s find the median another way. How can you display the data to find the median?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could use a dot plot to display the data.</a:t>
            </a:r>
          </a:p>
          <a:p>
            <a:pPr indent="0" lvl="0" marL="0" rtl="0" algn="l">
              <a:lnSpc>
                <a:spcPct val="100000"/>
              </a:lnSpc>
              <a:spcBef>
                <a:spcPts val="0"/>
              </a:spcBef>
              <a:spcAft>
                <a:spcPts val="0"/>
              </a:spcAft>
              <a:buSzPts val="1400"/>
              <a:buNone/>
            </a:pPr>
            <a:r>
              <a:t>UIFR: TEACH 3 · TEACH 4.</a:t>
            </a:r>
          </a:p>
        </p:txBody>
      </p:sp>
      <p:sp>
        <p:nvSpPr>
          <p:cNvPr id="743" name="Google Shape;743;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21 | COLLABORATE</a:t>
            </a:r>
          </a:p>
          <a:p xmlns:a="http://schemas.openxmlformats.org/drawingml/2006/main">
            <a:pPr>
              <a:buNone/>
            </a:pPr>
            <a:r>
              <a:rPr lang="en-US" sz="1100"/>
              <a:t>Focus on the existing task: What does each dot represent on the dot plot?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choosing the middle of the unsorted list. If it appears, mark paired values from the ends of the ordered list; then ask the student to revise the same response and explain the change. If evidence is secure, have students compare a second valid pathway or state why their approach works. Choose the next step from the responses, not a preset pace.</a:t>
            </a:r>
          </a:p>
        </p:txBody>
      </p:sp>
      <p:sp>
        <p:nvSpPr>
          <p:cNvPr id="771" name="Google Shape;771;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22 | PRACTICE</a:t>
            </a:r>
          </a:p>
          <a:p xmlns:a="http://schemas.openxmlformats.org/drawingml/2006/main">
            <a:pPr>
              <a:buNone/>
            </a:pPr>
            <a:r>
              <a:rPr lang="en-US" sz="1100"/>
              <a:t>Focus on the existing task: Let’s Explore More Workspace Why do you think the median is called a “measure of center”?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the two-middle-value case.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12" name="Google Shape;812;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29 | DIVIDER</a:t>
            </a:r>
          </a:p>
          <a:p xmlns:a="http://schemas.openxmlformats.org/drawingml/2006/main">
            <a:pPr>
              <a:buNone/>
            </a:pPr>
            <a:r>
              <a:rPr lang="en-US" sz="1100"/>
              <a:t>Focus on the existing task: Describe Data Using the Median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24" name="Google Shape;824;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30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841" name="Google Shape;841;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31 | TASK</a:t>
            </a:r>
          </a:p>
          <a:p xmlns:a="http://schemas.openxmlformats.org/drawingml/2006/main">
            <a:pPr>
              <a:buNone/>
            </a:pPr>
            <a:r>
              <a:rPr lang="en-US" sz="1100"/>
              <a:t>Focus on the existing task: How do the additional data values affect the median?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your ordering show that half of the observations lie on either side of the median?” Wait for evidence, invite another pathway, and have a student ask a follow-up question. Do not replace students’ reasoning with a sequence of leading steps.</a:t>
            </a:r>
          </a:p>
        </p:txBody>
      </p:sp>
      <p:sp>
        <p:nvSpPr>
          <p:cNvPr id="852" name="Google Shape;852;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32 | REVEAL</a:t>
            </a:r>
          </a:p>
          <a:p xmlns:a="http://schemas.openxmlformats.org/drawingml/2006/main">
            <a:pPr>
              <a:buNone/>
            </a:pPr>
            <a:r>
              <a:rPr lang="en-US" sz="1100"/>
              <a:t>Focus on the existing task: What do you notice about the new data values?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Two of the values are below 13, the previous median, and three are greater than 13. There are now 30 values.</a:t>
            </a:r>
          </a:p>
          <a:p>
            <a:pPr indent="0" lvl="0" marL="0" rtl="0" algn="l">
              <a:lnSpc>
                <a:spcPct val="100000"/>
              </a:lnSpc>
              <a:spcBef>
                <a:spcPts val="0"/>
              </a:spcBef>
              <a:spcAft>
                <a:spcPts val="0"/>
              </a:spcAft>
              <a:buSzPts val="1400"/>
              <a:buNone/>
            </a:pPr>
            <a:r>
              <a:t>UIFR: TEACH 3 · TEACH 4.</a:t>
            </a:r>
          </a:p>
        </p:txBody>
      </p:sp>
      <p:sp>
        <p:nvSpPr>
          <p:cNvPr id="888" name="Google Shape;888;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33 | COLLABORATE</a:t>
            </a:r>
          </a:p>
          <a:p xmlns:a="http://schemas.openxmlformats.org/drawingml/2006/main">
            <a:pPr>
              <a:buNone/>
            </a:pPr>
            <a:r>
              <a:rPr lang="en-US" sz="1100"/>
              <a:t>Focus on the existing task: Collaborate and Connect Reveal: We can add the two numbers and then divide the sum by 2. How can you find the value halfway between the two middle numbers?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the two-middle-value case.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choosing the middle of the unsorted list. If it appears, mark paired values from the ends of the ordered list; then ask the student to revise the same response and explain the change. If evidence is secure, have students compare a second valid pathway or state why their approach works. Choose the next step from the responses, not a preset pace.</a:t>
            </a:r>
          </a:p>
        </p:txBody>
      </p:sp>
      <p:sp>
        <p:nvSpPr>
          <p:cNvPr id="923" name="Google Shape;923;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34 | PRACTICE</a:t>
            </a:r>
          </a:p>
          <a:p xmlns:a="http://schemas.openxmlformats.org/drawingml/2006/main">
            <a:pPr>
              <a:buNone/>
            </a:pPr>
            <a:r>
              <a:rPr lang="en-US" sz="1100"/>
              <a:t>Focus on the existing task: Workspace How would the median change if all five additional data points were greater than 13?</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68" name="Google Shape;968;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38 | SUMMARIZE</a:t>
            </a:r>
          </a:p>
          <a:p xmlns:a="http://schemas.openxmlformats.org/drawingml/2006/main">
            <a:pPr>
              <a:buNone/>
            </a:pPr>
            <a:r>
              <a:rPr lang="en-US" sz="1100"/>
              <a:t>Focus on the existing task: A measure of center used to describe a numerical data set is the median, which is the middle value when the data are ordered from least to…</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81" name="Google Shape;981;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39 | APPLY</a:t>
            </a:r>
          </a:p>
          <a:p xmlns:a="http://schemas.openxmlformats.org/drawingml/2006/main">
            <a:pPr>
              <a:buNone/>
            </a:pPr>
            <a:r>
              <a:rPr lang="en-US" sz="1100"/>
              <a:t>Focus on the existing task: Terrance is helping his grandmother sell her house. He uses a real estate website to look at the recent sale prices of similarly-sized…</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order the values; locate the middle; explain the two-middle-value case. Respond with one specific next step tied to the work. Students revise and annotate what changed, then identify a criterion they can now demonstrate and one they still need to practice.</a:t>
            </a:r>
          </a:p>
        </p:txBody>
      </p:sp>
      <p:sp>
        <p:nvSpPr>
          <p:cNvPr id="989" name="Google Shape;989;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2.3, slide 40 | REFLECTION</a:t>
            </a:r>
          </a:p>
          <a:p xmlns:a="http://schemas.openxmlformats.org/drawingml/2006/main">
            <a:pPr>
              <a:buNone/>
            </a:pPr>
            <a:r>
              <a:rPr lang="en-US" sz="1100"/>
              <a:t>Focus on the existing task: I can use the median to describe a data set. I can use repeated reasoning to describe a data set using the median. Learning Targets</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choosing the middle of the unsorted list.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paired values from the ends of the ordered list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97" name="Google Shape;997;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2.3, slide 27 | WARMUP</a:t>
            </a:r>
          </a:p>
          <a:p xmlns:a="http://schemas.openxmlformats.org/drawingml/2006/main">
            <a:pPr>
              <a:buNone/>
            </a:pPr>
            <a:r>
              <a:rPr lang="en-US" sz="1100"/>
              <a:t>Focus on the existing task: A Add all numbers B Order least to greatest C Divide by 2 D Find the highest number 2 What is the median of 3, 5, 8, 12, 14?</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order the values; locate the middle; explain the two-middle-value case. Ask: “Which part of your work would show this?” Revisit that evidence after the task; a confidence rating alone is not evidence of understanding.</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2.3, slide 28 | NOTES</a:t>
            </a:r>
          </a:p>
          <a:p xmlns:a="http://schemas.openxmlformats.org/drawingml/2006/main">
            <a:pPr>
              <a:buNone/>
            </a:pPr>
            <a:r>
              <a:rPr lang="en-US" sz="1100"/>
              <a:t>Focus on the existing task: Review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7 | PRIOR_INSERT</a:t>
            </a:r>
          </a:p>
          <a:p xmlns:a="http://schemas.openxmlformats.org/drawingml/2006/main">
            <a:pPr>
              <a:buNone/>
            </a:pPr>
            <a:r>
              <a:rPr lang="en-US" sz="1100"/>
              <a:t>Focus on the existing task: LESSON 2.3 / OUR LEARNING What will show your learning?</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8 | VOCAB</a:t>
            </a:r>
          </a:p>
          <a:p xmlns:a="http://schemas.openxmlformats.org/drawingml/2006/main">
            <a:pPr>
              <a:buNone/>
            </a:pPr>
            <a:r>
              <a:rPr lang="en-US" sz="1100"/>
              <a:t>Focus on the existing task: Vocabulary 1 of 6 Describe the Data Using the Median…</a:t>
            </a:r>
          </a:p>
          <a:p xmlns:a="http://schemas.openxmlformats.org/drawingml/2006/main">
            <a:pPr>
              <a:buNone/>
            </a:pPr>
            <a:r>
              <a:rPr lang="en-US" sz="1100"/>
              <a:t>ASK (T1/3/5): Where does “Describe the Data Using the Median”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9 | VOCAB</a:t>
            </a:r>
          </a:p>
          <a:p xmlns:a="http://schemas.openxmlformats.org/drawingml/2006/main">
            <a:pPr>
              <a:buNone/>
            </a:pPr>
            <a:r>
              <a:rPr lang="en-US" sz="1100"/>
              <a:t>Focus on the existing task: Vocabulary 2 of 6 Median The middle number when you put…</a:t>
            </a:r>
          </a:p>
          <a:p xmlns:a="http://schemas.openxmlformats.org/drawingml/2006/main">
            <a:pPr>
              <a:buNone/>
            </a:pPr>
            <a:r>
              <a:rPr lang="en-US" sz="1100"/>
              <a:t>ASK (T1/3/5): Where does “Median”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10 | VOCAB</a:t>
            </a:r>
          </a:p>
          <a:p xmlns:a="http://schemas.openxmlformats.org/drawingml/2006/main">
            <a:pPr>
              <a:buNone/>
            </a:pPr>
            <a:r>
              <a:rPr lang="en-US" sz="1100"/>
              <a:t>Focus on the existing task: Vocabulary 3 of 6 Mode The number that shows up most…</a:t>
            </a:r>
          </a:p>
          <a:p xmlns:a="http://schemas.openxmlformats.org/drawingml/2006/main">
            <a:pPr>
              <a:buNone/>
            </a:pPr>
            <a:r>
              <a:rPr lang="en-US" sz="1100"/>
              <a:t>ASK (T1/3/5): Where does “Mode”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11 | VOCAB</a:t>
            </a:r>
          </a:p>
          <a:p xmlns:a="http://schemas.openxmlformats.org/drawingml/2006/main">
            <a:pPr>
              <a:buNone/>
            </a:pPr>
            <a:r>
              <a:rPr lang="en-US" sz="1100"/>
              <a:t>Focus on the existing task: Vocabulary 4 of 6 Outlier A number that is much bigger…</a:t>
            </a:r>
          </a:p>
          <a:p xmlns:a="http://schemas.openxmlformats.org/drawingml/2006/main">
            <a:pPr>
              <a:buNone/>
            </a:pPr>
            <a:r>
              <a:rPr lang="en-US" sz="1100"/>
              <a:t>ASK (T1/3/5): Where does “Outlier”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12 | VOCAB</a:t>
            </a:r>
          </a:p>
          <a:p xmlns:a="http://schemas.openxmlformats.org/drawingml/2006/main">
            <a:pPr>
              <a:buNone/>
            </a:pPr>
            <a:r>
              <a:rPr lang="en-US" sz="1100"/>
              <a:t>Focus on the existing task: Vocabulary 5 of 6 Data distribution How the data looks…</a:t>
            </a:r>
          </a:p>
          <a:p xmlns:a="http://schemas.openxmlformats.org/drawingml/2006/main">
            <a:pPr>
              <a:buNone/>
            </a:pPr>
            <a:r>
              <a:rPr lang="en-US" sz="1100"/>
              <a:t>ASK (T1/3/5): Where does “Data distribution”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13 | VOCAB</a:t>
            </a:r>
          </a:p>
          <a:p xmlns:a="http://schemas.openxmlformats.org/drawingml/2006/main">
            <a:pPr>
              <a:buNone/>
            </a:pPr>
            <a:r>
              <a:rPr lang="en-US" sz="1100"/>
              <a:t>Focus on the existing task: Vocabulary 6 of 6 Variability How spread out the…</a:t>
            </a:r>
          </a:p>
          <a:p xmlns:a="http://schemas.openxmlformats.org/drawingml/2006/main">
            <a:pPr>
              <a:buNone/>
            </a:pPr>
            <a:r>
              <a:rPr lang="en-US" sz="1100"/>
              <a:t>ASK (T1/3/5): Where does “Variability”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23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24 | REVEAL</a:t>
            </a:r>
          </a:p>
          <a:p xmlns:a="http://schemas.openxmlformats.org/drawingml/2006/main">
            <a:pPr>
              <a:buNone/>
            </a:pPr>
            <a:r>
              <a:rPr lang="en-US" sz="1100"/>
              <a:t>Focus on the existing task: What do you notice about the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25 | REVEAL</a:t>
            </a:r>
          </a:p>
          <a:p xmlns:a="http://schemas.openxmlformats.org/drawingml/2006/main">
            <a:pPr>
              <a:buNone/>
            </a:pPr>
            <a:r>
              <a:rPr lang="en-US" sz="1100"/>
              <a:t>Focus on the existing task: How can you determine the typical number of years of teaching experience for the teachers at the school?</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locate the middle.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26 | REVEAL</a:t>
            </a:r>
          </a:p>
          <a:p xmlns:a="http://schemas.openxmlformats.org/drawingml/2006/main">
            <a:pPr>
              <a:buNone/>
            </a:pPr>
            <a:r>
              <a:rPr lang="en-US" sz="1100"/>
              <a:t>Focus on the existing task: The values in order from least to greatest are: Reveal: There are an equal number of values less than and greater than that value. 1…</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order the values.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35 | PRIOR_INSERT</a:t>
            </a:r>
          </a:p>
          <a:p xmlns:a="http://schemas.openxmlformats.org/drawingml/2006/main">
            <a:pPr>
              <a:buNone/>
            </a:pPr>
            <a:r>
              <a:rPr lang="en-US" sz="1100"/>
              <a:t>Focus on the existing task: LESSON 2.3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36 | REVEAL</a:t>
            </a:r>
          </a:p>
          <a:p xmlns:a="http://schemas.openxmlformats.org/drawingml/2006/main">
            <a:pPr>
              <a:buNone/>
            </a:pPr>
            <a:r>
              <a:rPr lang="en-US" sz="1100"/>
              <a:t>Focus on the existing task: How can you find the median of the new data set?</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explain the two-middle-value case.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37 | COLLABORATE</a:t>
            </a:r>
          </a:p>
          <a:p xmlns:a="http://schemas.openxmlformats.org/drawingml/2006/main">
            <a:pPr>
              <a:buNone/>
            </a:pPr>
            <a:r>
              <a:rPr lang="en-US" sz="1100"/>
              <a:t>Focus on the existing task: Collaborate and Connect Reveal: We can add the two numbers and then divide the sum by 2. How can you find the value halfway between the two middle numbers?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explain the two-middle-value case. Ask which feature of their work supports the claim.</a:t>
            </a:r>
          </a:p>
          <a:p xmlns:a="http://schemas.openxmlformats.org/drawingml/2006/main">
            <a:pPr>
              <a:buNone/>
            </a:pPr>
            <a:r>
              <a:rPr lang="en-US" sz="1100"/>
              <a:t>RESPOND: If this task shows the lesson misconception—choosing the middle of the unsorted list—mark paired values from the ends of the ordered list.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2.3, slide 41 | PRIOR_INSERT</a:t>
            </a:r>
          </a:p>
          <a:p xmlns:a="http://schemas.openxmlformats.org/drawingml/2006/main">
            <a:pPr>
              <a:buNone/>
            </a:pPr>
            <a:r>
              <a:rPr lang="en-US" sz="1100"/>
              <a:t>Focus on the existing task: LESSON 2.3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order the values; locate the middle; explain the two-middle-value case.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4.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3" name="Google Shape;23;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4" name="Google Shape;24;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5" name="Google Shape;25;p4"/>
          <p:cNvSpPr txBox="1"/>
          <p:nvPr/>
        </p:nvSpPr>
        <p:spPr>
          <a:xfrm>
            <a:off x="1327273"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27273"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7.png"/><Relationship Id="rId3" Type="http://schemas.openxmlformats.org/officeDocument/2006/relationships/notesSlide" Target="../notesSlides/notesSlide7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7.png"/><Relationship Id="rId3" Type="http://schemas.openxmlformats.org/officeDocument/2006/relationships/notesSlide" Target="../notesSlides/notesSlide7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9.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6.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 Id="rId3" Type="http://schemas.openxmlformats.org/officeDocument/2006/relationships/notesSlide" Target="../notesSlides/notesSlide8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26.png"/><Relationship Id="rId4" Type="http://schemas.openxmlformats.org/officeDocument/2006/relationships/notesSlide" Target="../notesSlides/notesSlide8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0"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2-3 · Describe the Data Using the Median   |   Warm-Up · about 4 minutes</a:t>
            </a:r>
          </a:p>
        </p:txBody>
      </p:sp>
      <p:sp>
        <p:nvSpPr>
          <p:cNvPr id="261"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2"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3"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6"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Order least to greatest: 9, 4, 15, 6, 11 = ______</a:t>
            </a:r>
          </a:p>
        </p:txBody>
      </p:sp>
      <p:sp>
        <p:nvSpPr>
          <p:cNvPr id="267"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0"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In an ordered list of 7, the middle is the ______ number.</a:t>
            </a:r>
          </a:p>
        </p:txBody>
      </p:sp>
      <p:sp>
        <p:nvSpPr>
          <p:cNvPr id="271"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4"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What number is halfway between 12 and 17? ______</a:t>
            </a:r>
          </a:p>
        </p:txBody>
      </p:sp>
      <p:sp>
        <p:nvSpPr>
          <p:cNvPr id="275"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8"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38 ÷ 2 = ______</a:t>
            </a:r>
          </a:p>
        </p:txBody>
      </p:sp>
      <p:sp>
        <p:nvSpPr>
          <p:cNvPr id="279"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0"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44</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03" name="Google Shape;503;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2-3 · Describe the Data Using the Median</a:t>
            </a:r>
            <a:endParaRPr/>
          </a:p>
        </p:txBody>
      </p:sp>
      <p:sp>
        <p:nvSpPr>
          <p:cNvPr id="504" name="Google Shape;504;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6" name="Google Shape;506;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07" name="Google Shape;507;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09" name="Google Shape;509;p52"/>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2"/>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12" name="Google Shape;512;p52"/>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Describe the Data Using the Median</a:t>
            </a:r>
            <a:endParaRPr/>
          </a:p>
        </p:txBody>
      </p:sp>
      <p:sp>
        <p:nvSpPr>
          <p:cNvPr id="513" name="Google Shape;513;p52"/>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Using the middle value of the ordered data to say what</a:t>
            </a:r>
            <a:endParaRPr/>
          </a:p>
        </p:txBody>
      </p:sp>
      <p:sp>
        <p:nvSpPr>
          <p:cNvPr id="514" name="Google Shape;514;p52"/>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17" name="Google Shape;517;p52"/>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Median</a:t>
            </a:r>
            <a:endParaRPr/>
          </a:p>
        </p:txBody>
      </p:sp>
      <p:sp>
        <p:nvSpPr>
          <p:cNvPr id="518" name="Google Shape;518;p52"/>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middle number when you put them in order</a:t>
            </a:r>
            <a:endParaRPr/>
          </a:p>
        </p:txBody>
      </p:sp>
      <p:sp>
        <p:nvSpPr>
          <p:cNvPr id="519" name="Google Shape;519;p52"/>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22" name="Google Shape;522;p52"/>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Mode</a:t>
            </a:r>
            <a:endParaRPr/>
          </a:p>
        </p:txBody>
      </p:sp>
      <p:sp>
        <p:nvSpPr>
          <p:cNvPr id="523" name="Google Shape;523;p52"/>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number that shows up most often</a:t>
            </a:r>
            <a:endParaRPr/>
          </a:p>
        </p:txBody>
      </p:sp>
      <p:sp>
        <p:nvSpPr>
          <p:cNvPr id="52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44</a:t>
            </a:r>
          </a:p>
        </p:txBody>
      </p:sp>
      <p:grpSp>
        <p:nvGrpSpPr>
          <p:cNvPr id="525" name="TEACH-1-student-move" descr="TEACH 1 · Facilitate clear, standards-based content learning"/>
          <p:cNvGrpSpPr/>
          <p:nvPr/>
        </p:nvGrpSpPr>
        <p:grpSpPr>
          <a:xfrm>
            <a:off x="6187440" y="1682496"/>
            <a:ext cx="5501640" cy="594360"/>
            <a:chOff x="6187440" y="1682496"/>
            <a:chExt cx="5501640" cy="594360"/>
          </a:xfrm>
        </p:grpSpPr>
        <p:sp>
          <p:nvSpPr>
            <p:cNvPr id="52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31" name="Google Shape;531;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2-3 · Describe the Data Using the Median</a:t>
            </a:r>
            <a:endParaRPr/>
          </a:p>
        </p:txBody>
      </p:sp>
      <p:sp>
        <p:nvSpPr>
          <p:cNvPr id="532" name="Google Shape;532;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34" name="Google Shape;534;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35" name="Google Shape;535;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37" name="Google Shape;537;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Measures of Center: Median</a:t>
            </a:r>
            <a:endParaRPr/>
          </a:p>
        </p:txBody>
      </p:sp>
      <p:sp>
        <p:nvSpPr>
          <p:cNvPr id="539" name="Google Shape;539;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Median = Middle value in an ordered set</a:t>
            </a:r>
            <a:endParaRPr/>
          </a:p>
        </p:txBody>
      </p:sp>
      <p:sp>
        <p:nvSpPr>
          <p:cNvPr id="541" name="Google Shape;541;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43" name="Google Shape;543;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Order all data values from </a:t>
            </a:r>
            <a:r>
              <a:rPr b="1" i="0" lang="en-US" sz="1600" u="none" cap="none" strike="noStrike">
                <a:solidFill>
                  <a:srgbClr val="14223A"/>
                </a:solidFill>
                <a:latin typeface="Arial"/>
                <a:ea typeface="Arial"/>
                <a:cs typeface="Arial"/>
                <a:sym typeface="Arial"/>
              </a:rPr>
              <a:t xml:space="preserve">least to greatest</a:t>
            </a:r>
            <a:endParaRPr/>
          </a:p>
        </p:txBody>
      </p:sp>
      <p:sp>
        <p:nvSpPr>
          <p:cNvPr id="544" name="Google Shape;544;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46" name="Google Shape;546;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Odd count: </a:t>
            </a:r>
            <a:r>
              <a:rPr b="0" i="0" lang="en-US" sz="1600" u="none" cap="none" strike="noStrike">
                <a:solidFill>
                  <a:srgbClr val="14223A"/>
                </a:solidFill>
                <a:latin typeface="Arial"/>
                <a:ea typeface="Arial"/>
                <a:cs typeface="Arial"/>
                <a:sym typeface="Arial"/>
              </a:rPr>
              <a:t xml:space="preserve">The </a:t>
            </a:r>
            <a:r>
              <a:rPr b="1" i="0" lang="en-US" sz="1600" u="none" cap="none" strike="noStrike">
                <a:solidFill>
                  <a:srgbClr val="14223A"/>
                </a:solidFill>
                <a:latin typeface="Arial"/>
                <a:ea typeface="Arial"/>
                <a:cs typeface="Arial"/>
                <a:sym typeface="Arial"/>
              </a:rPr>
              <a:t xml:space="preserve">median</a:t>
            </a:r>
            <a:r>
              <a:rPr b="0" i="0" lang="en-US" sz="1600" u="none" cap="none" strike="noStrike">
                <a:solidFill>
                  <a:srgbClr val="14223A"/>
                </a:solidFill>
                <a:latin typeface="Arial"/>
                <a:ea typeface="Arial"/>
                <a:cs typeface="Arial"/>
                <a:sym typeface="Arial"/>
              </a:rPr>
              <a:t xml:space="preserve"> is the exact center number</a:t>
            </a:r>
            <a:endParaRPr/>
          </a:p>
        </p:txBody>
      </p:sp>
      <p:sp>
        <p:nvSpPr>
          <p:cNvPr id="547" name="Google Shape;547;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49" name="Google Shape;549;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Even count: </a:t>
            </a:r>
            <a:r>
              <a:rPr b="0" i="0" lang="en-US" sz="1600" u="none" cap="none" strike="noStrike">
                <a:solidFill>
                  <a:srgbClr val="14223A"/>
                </a:solidFill>
                <a:latin typeface="Arial"/>
                <a:ea typeface="Arial"/>
                <a:cs typeface="Arial"/>
                <a:sym typeface="Arial"/>
              </a:rPr>
              <a:t xml:space="preserve">The median is the </a:t>
            </a:r>
            <a:r>
              <a:rPr b="1" i="0" lang="en-US" sz="1600" u="none" cap="none" strike="noStrike">
                <a:solidFill>
                  <a:srgbClr val="14223A"/>
                </a:solidFill>
                <a:latin typeface="Arial"/>
                <a:ea typeface="Arial"/>
                <a:cs typeface="Arial"/>
                <a:sym typeface="Arial"/>
              </a:rPr>
              <a:t xml:space="preserve">mean</a:t>
            </a:r>
            <a:r>
              <a:rPr b="0" i="0" lang="en-US" sz="1600" u="none" cap="none" strike="noStrike">
                <a:solidFill>
                  <a:srgbClr val="14223A"/>
                </a:solidFill>
                <a:latin typeface="Arial"/>
                <a:ea typeface="Arial"/>
                <a:cs typeface="Arial"/>
                <a:sym typeface="Arial"/>
              </a:rPr>
              <a:t xml:space="preserve"> of the two middle numbers</a:t>
            </a:r>
            <a:endParaRPr/>
          </a:p>
        </p:txBody>
      </p:sp>
      <p:sp>
        <p:nvSpPr>
          <p:cNvPr id="5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44</a:t>
            </a:r>
          </a:p>
        </p:txBody>
      </p:sp>
      <p:sp xmlns:p="http://schemas.openxmlformats.org/presentationml/2006/main" xmlns:a="http://schemas.openxmlformats.org/drawingml/2006/main">
        <p:nvSpPr>
          <p:cNvPr id="551"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44</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241" name="Google Shape;241;p41"/>
          <p:cNvPicPr preferRelativeResize="0"/>
          <p:nvPr/>
        </p:nvPicPr>
        <p:blipFill rotWithShape="1">
          <a:blip r:embed="rId3">
            <a:alphaModFix/>
          </a:blip>
          <a:srcRect b="0" l="0" r="0" t="0"/>
          <a:stretch/>
        </p:blipFill>
        <p:spPr>
          <a:xfrm>
            <a:off x="1691440" y="2388360"/>
            <a:ext cx="6422231" cy="2480310"/>
          </a:xfrm>
          <a:prstGeom prst="rect">
            <a:avLst/>
          </a:prstGeom>
          <a:noFill/>
          <a:ln>
            <a:noFill/>
          </a:ln>
        </p:spPr>
      </p:pic>
      <p:sp>
        <p:nvSpPr>
          <p:cNvPr id="242" name="Google Shape;242;p41"/>
          <p:cNvSpPr txBox="1"/>
          <p:nvPr/>
        </p:nvSpPr>
        <p:spPr>
          <a:xfrm>
            <a:off x="474054" y="936100"/>
            <a:ext cx="7711157"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Use all the numbers in any order with any operation to equal the target number (in red). ​</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505579" y="316034"/>
            <a:ext cx="4842276"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Give Me Five</a:t>
            </a:r>
            <a:endParaRPr b="0" i="0" sz="1400" u="none" cap="none" strike="noStrike">
              <a:solidFill>
                <a:srgbClr val="000000"/>
              </a:solidFill>
              <a:latin typeface="Arial"/>
              <a:ea typeface="Arial"/>
              <a:cs typeface="Arial"/>
              <a:sym typeface="Arial"/>
            </a:endParaRPr>
          </a:p>
        </p:txBody>
      </p:sp>
      <p:sp>
        <p:nvSpPr>
          <p:cNvPr id="2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44</a:t>
            </a:r>
          </a:p>
        </p:txBody>
      </p:sp>
      <p:sp xmlns:p="http://schemas.openxmlformats.org/presentationml/2006/main" xmlns:a="http://schemas.openxmlformats.org/drawingml/2006/main">
        <p:nvSpPr>
          <p:cNvPr id="245"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7" name="Google Shape;337;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2-3 · Describe the Data Using the Median</a:t>
            </a:r>
            <a:endParaRPr/>
          </a:p>
        </p:txBody>
      </p:sp>
      <p:sp>
        <p:nvSpPr>
          <p:cNvPr id="338" name="Google Shape;338;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0" name="Google Shape;340;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Describe the Data Using the Median</a:t>
            </a:r>
            <a:endParaRPr/>
          </a:p>
        </p:txBody>
      </p:sp>
      <p:sp>
        <p:nvSpPr>
          <p:cNvPr id="341" name="Google Shape;341;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6.DS.4</a:t>
            </a:r>
            <a:endParaRPr/>
          </a:p>
        </p:txBody>
      </p:sp>
      <p:sp>
        <p:nvSpPr>
          <p:cNvPr id="342" name="Google Shape;342;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5" name="Google Shape;345;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6" name="Google Shape;346;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median of a data set and use it to describe what is typical.</a:t>
            </a:r>
            <a:endParaRPr/>
          </a:p>
        </p:txBody>
      </p:sp>
      <p:sp>
        <p:nvSpPr>
          <p:cNvPr id="347" name="Google Shape;347;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8" name="Google Shape;348;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0" name="Google Shape;350;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1" name="Google Shape;351;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the median using the words order, middle, typical, and half.</a:t>
            </a:r>
            <a:endParaRPr/>
          </a:p>
        </p:txBody>
      </p:sp>
      <p:sp>
        <p:nvSpPr>
          <p:cNvPr id="3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44</a:t>
            </a:r>
          </a:p>
        </p:txBody>
      </p:sp>
      <p:grpSp>
        <p:nvGrpSpPr>
          <p:cNvPr id="353" name="TEACH-1-student-move" descr="TEACH 1 · Facilitate clear, standards-based content learning"/>
          <p:cNvGrpSpPr/>
          <p:nvPr/>
        </p:nvGrpSpPr>
        <p:grpSpPr>
          <a:xfrm>
            <a:off x="502920" y="1993392"/>
            <a:ext cx="11186160" cy="402336"/>
            <a:chOff x="502920" y="1993392"/>
            <a:chExt cx="11186160" cy="402336"/>
          </a:xfrm>
        </p:grpSpPr>
        <p:sp>
          <p:nvSpPr>
            <p:cNvPr id="354"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5"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6"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Order the values.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Locate the middle.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Explain the two-middle-value case.</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2" name="Google Shape;392;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95" name="Google Shape;395;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2-3 · Describe the Data Using the Median</a:t>
            </a:r>
            <a:endParaRPr/>
          </a:p>
        </p:txBody>
      </p:sp>
      <p:sp>
        <p:nvSpPr>
          <p:cNvPr id="396" name="Google Shape;396;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98" name="Google Shape;398;p46"/>
          <p:cNvSpPr txBox="1"/>
          <p:nvPr/>
        </p:nvSpPr>
        <p:spPr>
          <a:xfrm>
            <a:off x="640080" y="1561338"/>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Describe the Data Using the Median</a:t>
            </a:r>
            <a:endParaRPr/>
          </a:p>
        </p:txBody>
      </p:sp>
      <p:sp>
        <p:nvSpPr>
          <p:cNvPr id="399" name="Google Shape;399;p46"/>
          <p:cNvSpPr/>
          <p:nvPr/>
        </p:nvSpPr>
        <p:spPr>
          <a:xfrm>
            <a:off x="658368" y="307924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640080" y="3440429"/>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Using the middle value of the ordered data to say what is typical for the whole set.</a:t>
            </a:r>
            <a:endParaRPr/>
          </a:p>
        </p:txBody>
      </p:sp>
      <p:sp>
        <p:nvSpPr>
          <p:cNvPr id="401" name="Google Shape;401;p46"/>
          <p:cNvSpPr/>
          <p:nvPr/>
        </p:nvSpPr>
        <p:spPr>
          <a:xfrm>
            <a:off x="640080" y="4565142"/>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p:nvPr/>
        </p:nvSpPr>
        <p:spPr>
          <a:xfrm>
            <a:off x="640080" y="4565142"/>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932688" y="4738878"/>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4" name="Google Shape;404;p46"/>
          <p:cNvSpPr txBox="1"/>
          <p:nvPr/>
        </p:nvSpPr>
        <p:spPr>
          <a:xfrm>
            <a:off x="932688" y="5040629"/>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2, 4, 4, 6, 9 → median 4</a:t>
            </a:r>
            <a:endParaRPr/>
          </a:p>
        </p:txBody>
      </p:sp>
      <p:pic>
        <p:nvPicPr>
          <p:cNvPr descr="median.png" id="405" name="Google Shape;405;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44</a:t>
            </a:r>
          </a:p>
        </p:txBody>
      </p:sp>
      <p:grpSp>
        <p:nvGrpSpPr>
          <p:cNvPr id="406" name="TEACH-5-student-move" descr="TEACH 5 · Facilitate student interactions and academic talk"/>
          <p:cNvGrpSpPr/>
          <p:nvPr/>
        </p:nvGrpSpPr>
        <p:grpSpPr>
          <a:xfrm>
            <a:off x="502920" y="5751576"/>
            <a:ext cx="11186160" cy="548640"/>
            <a:chOff x="502920" y="5751576"/>
            <a:chExt cx="11186160" cy="548640"/>
          </a:xfrm>
        </p:grpSpPr>
        <p:sp>
          <p:nvSpPr>
            <p:cNvPr id="407"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08"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09"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0" name="Google Shape;410;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1" name="Google Shape;411;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3" name="Google Shape;413;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2-3 · Describe the Data Using the Median</a:t>
            </a:r>
            <a:endParaRPr/>
          </a:p>
        </p:txBody>
      </p:sp>
      <p:sp>
        <p:nvSpPr>
          <p:cNvPr id="414" name="Google Shape;414;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6" name="Google Shape;416;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Median</a:t>
            </a:r>
            <a:endParaRPr/>
          </a:p>
        </p:txBody>
      </p:sp>
      <p:sp>
        <p:nvSpPr>
          <p:cNvPr id="417" name="Google Shape;417;p47"/>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middle number when you put them in order.</a:t>
            </a:r>
            <a:endParaRPr/>
          </a:p>
        </p:txBody>
      </p:sp>
      <p:sp>
        <p:nvSpPr>
          <p:cNvPr id="419" name="Google Shape;419;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2" name="Google Shape;422;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1, 3, 5, 7, 9 → the middle (3rd) value is 5, so median = 5</a:t>
            </a:r>
            <a:endParaRPr/>
          </a:p>
        </p:txBody>
      </p:sp>
      <p:pic>
        <p:nvPicPr>
          <p:cNvPr descr="median.png" id="423" name="Google Shape;423;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44</a:t>
            </a:r>
          </a:p>
        </p:txBody>
      </p:sp>
      <p:sp xmlns:p="http://schemas.openxmlformats.org/presentationml/2006/main" xmlns:a="http://schemas.openxmlformats.org/drawingml/2006/main">
        <p:nvSpPr>
          <p:cNvPr id="42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“Median”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8" name="Google Shape;428;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31" name="Google Shape;431;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2-3 · Describe the Data Using the Median</a:t>
            </a:r>
            <a:endParaRPr/>
          </a:p>
        </p:txBody>
      </p:sp>
      <p:sp>
        <p:nvSpPr>
          <p:cNvPr id="432" name="Google Shape;432;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4" name="Google Shape;434;p48"/>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Mode</a:t>
            </a:r>
            <a:endParaRPr/>
          </a:p>
        </p:txBody>
      </p:sp>
      <p:sp>
        <p:nvSpPr>
          <p:cNvPr id="435" name="Google Shape;435;p48"/>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that shows up most often.</a:t>
            </a:r>
            <a:endParaRPr/>
          </a:p>
        </p:txBody>
      </p:sp>
      <p:sp>
        <p:nvSpPr>
          <p:cNvPr id="437" name="Google Shape;437;p48"/>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8"/>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0" name="Google Shape;440;p48"/>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2, 3, 3, 5, 7 → 3 appears twice (most often), so mode = 3</a:t>
            </a:r>
            <a:endParaRPr/>
          </a:p>
        </p:txBody>
      </p:sp>
      <p:pic>
        <p:nvPicPr>
          <p:cNvPr descr="mode.png" id="441" name="Google Shape;441;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44</a:t>
            </a:r>
          </a:p>
        </p:txBody>
      </p:sp>
      <p:sp xmlns:p="http://schemas.openxmlformats.org/presentationml/2006/main" xmlns:a="http://schemas.openxmlformats.org/drawingml/2006/main">
        <p:nvSpPr>
          <p:cNvPr id="44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“Mode”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6" name="Google Shape;446;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7" name="Google Shape;447;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9" name="Google Shape;449;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2-3 · Describe the Data Using the Median</a:t>
            </a:r>
            <a:endParaRPr/>
          </a:p>
        </p:txBody>
      </p:sp>
      <p:sp>
        <p:nvSpPr>
          <p:cNvPr id="450" name="Google Shape;450;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2" name="Google Shape;452;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Outlier</a:t>
            </a:r>
            <a:endParaRPr/>
          </a:p>
        </p:txBody>
      </p:sp>
      <p:sp>
        <p:nvSpPr>
          <p:cNvPr id="453" name="Google Shape;453;p49"/>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number that is much bigger or smaller than the rest.</a:t>
            </a:r>
            <a:endParaRPr/>
          </a:p>
        </p:txBody>
      </p:sp>
      <p:sp>
        <p:nvSpPr>
          <p:cNvPr id="455" name="Google Shape;455;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8" name="Google Shape;458;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Data: 10, 12, 11, 13, 50 → 50 is far from the others, so 50 is an outlier</a:t>
            </a:r>
            <a:endParaRPr/>
          </a:p>
        </p:txBody>
      </p:sp>
      <p:pic>
        <p:nvPicPr>
          <p:cNvPr descr="outlier.png" id="459" name="Google Shape;459;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44</a:t>
            </a:r>
          </a:p>
        </p:txBody>
      </p:sp>
      <p:sp xmlns:p="http://schemas.openxmlformats.org/presentationml/2006/main" xmlns:a="http://schemas.openxmlformats.org/drawingml/2006/main">
        <p:nvSpPr>
          <p:cNvPr id="46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“Outlier”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4" name="Google Shape;464;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5" name="Google Shape;465;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7" name="Google Shape;467;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2-3 · Describe the Data Using the Median</a:t>
            </a:r>
            <a:endParaRPr/>
          </a:p>
        </p:txBody>
      </p:sp>
      <p:sp>
        <p:nvSpPr>
          <p:cNvPr id="468" name="Google Shape;468;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0" name="Google Shape;470;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Data distribution</a:t>
            </a:r>
            <a:endParaRPr/>
          </a:p>
        </p:txBody>
      </p:sp>
      <p:sp>
        <p:nvSpPr>
          <p:cNvPr id="471" name="Google Shape;471;p50"/>
          <p:cNvSpPr/>
          <p:nvPr/>
        </p:nvSpPr>
        <p:spPr>
          <a:xfrm>
            <a:off x="658368" y="2638806"/>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the data looks: where it sits and how spread out it is.</a:t>
            </a:r>
            <a:endParaRPr/>
          </a:p>
        </p:txBody>
      </p:sp>
      <p:sp>
        <p:nvSpPr>
          <p:cNvPr id="473" name="Google Shape;473;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6" name="Google Shape;476;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If most values cluster in the center with fewer at the ends, the distribution is symmetric</a:t>
            </a:r>
            <a:endParaRPr/>
          </a:p>
        </p:txBody>
      </p:sp>
      <p:pic>
        <p:nvPicPr>
          <p:cNvPr descr="distribution.png" id="477" name="Google Shape;477;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44</a:t>
            </a:r>
          </a:p>
        </p:txBody>
      </p:sp>
      <p:sp xmlns:p="http://schemas.openxmlformats.org/presentationml/2006/main" xmlns:a="http://schemas.openxmlformats.org/drawingml/2006/main">
        <p:nvSpPr>
          <p:cNvPr id="47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“Data distribution”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2" name="Google Shape;482;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3" name="Google Shape;483;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5" name="Google Shape;485;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2-3 · Describe the Data Using the Median</a:t>
            </a:r>
            <a:endParaRPr/>
          </a:p>
        </p:txBody>
      </p:sp>
      <p:sp>
        <p:nvSpPr>
          <p:cNvPr id="486" name="Google Shape;486;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8" name="Google Shape;488;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Variability</a:t>
            </a:r>
            <a:endParaRPr/>
          </a:p>
        </p:txBody>
      </p:sp>
      <p:sp>
        <p:nvSpPr>
          <p:cNvPr id="489" name="Google Shape;489;p51"/>
          <p:cNvSpPr/>
          <p:nvPr/>
        </p:nvSpPr>
        <p:spPr>
          <a:xfrm>
            <a:off x="658368" y="281482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spread out the numbers are.</a:t>
            </a:r>
            <a:endParaRPr/>
          </a:p>
        </p:txBody>
      </p:sp>
      <p:sp>
        <p:nvSpPr>
          <p:cNvPr id="491" name="Google Shape;491;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4" name="Google Shape;494;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 9, 10, 11 has low variability (close together); 2, 10, 25, 40 has high variability (far apart)</a:t>
            </a:r>
            <a:endParaRPr/>
          </a:p>
        </p:txBody>
      </p:sp>
      <p:pic>
        <p:nvPicPr>
          <p:cNvPr descr="spread.png" id="495" name="Google Shape;495;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44</a:t>
            </a:r>
          </a:p>
        </p:txBody>
      </p:sp>
      <p:sp xmlns:p="http://schemas.openxmlformats.org/presentationml/2006/main" xmlns:a="http://schemas.openxmlformats.org/drawingml/2006/main">
        <p:nvSpPr>
          <p:cNvPr id="49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“Variability” to explain the example.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a:t>
            </a:r>
            <a:endParaRPr/>
          </a:p>
        </p:txBody>
      </p:sp>
      <p:sp>
        <p:nvSpPr>
          <p:cNvPr id="359" name="Google Shape;359;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2-3 · Describe the Data Using the Median</a:t>
            </a:r>
            <a:endParaRPr/>
          </a:p>
        </p:txBody>
      </p:sp>
      <p:sp>
        <p:nvSpPr>
          <p:cNvPr id="360" name="Google Shape;360;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62" name="Google Shape;362;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400" u="none" cap="none" strike="noStrike">
                <a:solidFill>
                  <a:srgbClr val="14223A"/>
                </a:solidFill>
                <a:latin typeface="Arial"/>
                <a:ea typeface="Arial"/>
                <a:cs typeface="Arial"/>
                <a:sym typeface="Arial"/>
              </a:rPr>
              <a:t>Today’s Math Words</a:t>
            </a:r>
            <a:endParaRPr/>
          </a:p>
        </p:txBody>
      </p:sp>
      <p:sp>
        <p:nvSpPr>
          <p:cNvPr id="363" name="Google Shape;363;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4" name="Google Shape;364;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5" name="Google Shape;365;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Describe the Data Using the Median</a:t>
            </a:r>
            <a:endParaRPr/>
          </a:p>
        </p:txBody>
      </p:sp>
      <p:sp>
        <p:nvSpPr>
          <p:cNvPr id="367" name="Google Shape;367;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Using the middle value of the ordered data to say what is typical for the whole set</a:t>
            </a:r>
            <a:endParaRPr/>
          </a:p>
        </p:txBody>
      </p:sp>
      <p:sp>
        <p:nvSpPr>
          <p:cNvPr id="368" name="Google Shape;368;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Median</a:t>
            </a:r>
            <a:endParaRPr/>
          </a:p>
        </p:txBody>
      </p:sp>
      <p:sp>
        <p:nvSpPr>
          <p:cNvPr id="371" name="Google Shape;371;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middle number when you put them in order</a:t>
            </a:r>
            <a:endParaRPr/>
          </a:p>
        </p:txBody>
      </p:sp>
      <p:sp>
        <p:nvSpPr>
          <p:cNvPr id="372" name="Google Shape;372;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Mode</a:t>
            </a:r>
            <a:endParaRPr/>
          </a:p>
        </p:txBody>
      </p:sp>
      <p:sp>
        <p:nvSpPr>
          <p:cNvPr id="375" name="Google Shape;375;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The number that shows up most often</a:t>
            </a:r>
            <a:endParaRPr/>
          </a:p>
        </p:txBody>
      </p:sp>
      <p:sp>
        <p:nvSpPr>
          <p:cNvPr id="376" name="Google Shape;376;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Outlier</a:t>
            </a:r>
            <a:endParaRPr/>
          </a:p>
        </p:txBody>
      </p:sp>
      <p:sp>
        <p:nvSpPr>
          <p:cNvPr id="379" name="Google Shape;379;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A number that is much bigger or smaller than the rest</a:t>
            </a:r>
            <a:endParaRPr/>
          </a:p>
        </p:txBody>
      </p:sp>
      <p:sp>
        <p:nvSpPr>
          <p:cNvPr id="380" name="Google Shape;380;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Data distribution</a:t>
            </a:r>
            <a:endParaRPr/>
          </a:p>
        </p:txBody>
      </p:sp>
      <p:sp>
        <p:nvSpPr>
          <p:cNvPr id="383" name="Google Shape;383;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250" u="none" cap="none" strike="noStrike">
                <a:solidFill>
                  <a:srgbClr val="475569"/>
                </a:solidFill>
                <a:latin typeface="Arial"/>
                <a:ea typeface="Arial"/>
                <a:cs typeface="Arial"/>
                <a:sym typeface="Arial"/>
              </a:rPr>
              <a:t>How the data looks: where it sits and how spread out it is</a:t>
            </a:r>
            <a:endParaRPr/>
          </a:p>
        </p:txBody>
      </p:sp>
      <p:sp>
        <p:nvSpPr>
          <p:cNvPr id="384" name="Google Shape;384;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defRPr/>
            </a:pPr>
            <a:r>
              <a:rPr b="1" i="0" lang="en-US" sz="1700" u="none" cap="none" strike="noStrike">
                <a:solidFill>
                  <a:srgbClr val="14223A"/>
                </a:solidFill>
                <a:latin typeface="Arial"/>
                <a:ea typeface="Arial"/>
                <a:cs typeface="Arial"/>
                <a:sym typeface="Arial"/>
              </a:rPr>
              <a:t>Variability</a:t>
            </a:r>
            <a:endParaRPr/>
          </a:p>
        </p:txBody>
      </p:sp>
      <p:sp>
        <p:nvSpPr>
          <p:cNvPr id="387" name="Google Shape;387;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defRPr/>
            </a:pPr>
            <a:r>
              <a:rPr b="0" i="0" lang="en-US" sz="1400" u="none" cap="none" strike="noStrike">
                <a:solidFill>
                  <a:srgbClr val="475569"/>
                </a:solidFill>
                <a:latin typeface="Arial"/>
                <a:ea typeface="Arial"/>
                <a:cs typeface="Arial"/>
                <a:sym typeface="Arial"/>
              </a:rPr>
              <a:t>How spread out the numbers are</a:t>
            </a:r>
            <a:endParaRPr/>
          </a:p>
        </p:txBody>
      </p:sp>
      <p:sp>
        <p:nvSpPr>
          <p:cNvPr id="3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44</a:t>
            </a:r>
          </a:p>
        </p:txBody>
      </p:sp>
      <p:grpSp>
        <p:nvGrpSpPr>
          <p:cNvPr id="389" name="TEACH-5-student-move" descr="TEACH 5 · Facilitate student interactions and academic talk"/>
          <p:cNvGrpSpPr/>
          <p:nvPr/>
        </p:nvGrpSpPr>
        <p:grpSpPr>
          <a:xfrm>
            <a:off x="502920" y="5852160"/>
            <a:ext cx="11186160" cy="457200"/>
            <a:chOff x="502920" y="5852160"/>
            <a:chExt cx="11186160" cy="457200"/>
          </a:xfrm>
        </p:grpSpPr>
        <p:sp>
          <p:nvSpPr>
            <p:cNvPr id="390"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1"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2"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cxnSp>
        <p:nvCxnSpPr>
          <p:cNvPr id="564" name="Google Shape;564;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5" name="Google Shape;565;p55"/>
          <p:cNvSpPr txBox="1"/>
          <p:nvPr/>
        </p:nvSpPr>
        <p:spPr>
          <a:xfrm>
            <a:off x="474055" y="936100"/>
            <a:ext cx="3701130"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What do you notice?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66" name="Google Shape;566;p55"/>
          <p:cNvSpPr txBox="1"/>
          <p:nvPr/>
        </p:nvSpPr>
        <p:spPr>
          <a:xfrm>
            <a:off x="484560" y="316034"/>
            <a:ext cx="3904129" cy="5034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67" name="Google Shape;567;p55"/>
          <p:cNvPicPr preferRelativeResize="0"/>
          <p:nvPr/>
        </p:nvPicPr>
        <p:blipFill rotWithShape="1">
          <a:blip r:embed="rId3">
            <a:alphaModFix/>
          </a:blip>
          <a:srcRect b="0" l="0" r="0" t="0"/>
          <a:stretch/>
        </p:blipFill>
        <p:spPr>
          <a:xfrm>
            <a:off x="484560" y="5083700"/>
            <a:ext cx="5054600" cy="838200"/>
          </a:xfrm>
          <a:prstGeom prst="rect">
            <a:avLst/>
          </a:prstGeom>
          <a:noFill/>
          <a:ln>
            <a:noFill/>
          </a:ln>
        </p:spPr>
      </p:pic>
      <p:sp>
        <p:nvSpPr>
          <p:cNvPr id="568" name="Google Shape;568;p55"/>
          <p:cNvSpPr txBox="1"/>
          <p:nvPr/>
        </p:nvSpPr>
        <p:spPr>
          <a:xfrm>
            <a:off x="334457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9" name="Google Shape;569;p55"/>
          <p:cNvSpPr/>
          <p:nvPr/>
        </p:nvSpPr>
        <p:spPr>
          <a:xfrm>
            <a:off x="697756" y="58990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show that you understand someone else’s ideas?</a:t>
            </a:r>
            <a:endParaRPr b="0" i="0" sz="1400" u="none" cap="none" strike="noStrike">
              <a:solidFill>
                <a:srgbClr val="000000"/>
              </a:solidFill>
              <a:latin typeface="Arial"/>
              <a:ea typeface="Arial"/>
              <a:cs typeface="Arial"/>
              <a:sym typeface="Arial"/>
            </a:endParaRPr>
          </a:p>
        </p:txBody>
      </p:sp>
      <p:pic>
        <p:nvPicPr>
          <p:cNvPr id="570" name="Google Shape;570;p55"/>
          <p:cNvPicPr preferRelativeResize="0"/>
          <p:nvPr/>
        </p:nvPicPr>
        <p:blipFill rotWithShape="1">
          <a:blip r:embed="rId4">
            <a:alphaModFix/>
          </a:blip>
          <a:srcRect b="0" l="0" r="0" t="0"/>
          <a:stretch/>
        </p:blipFill>
        <p:spPr>
          <a:xfrm>
            <a:off x="4793942" y="1461383"/>
            <a:ext cx="4608676" cy="3336038"/>
          </a:xfrm>
          <a:prstGeom prst="rect">
            <a:avLst/>
          </a:prstGeom>
          <a:noFill/>
          <a:ln>
            <a:noFill/>
          </a:ln>
        </p:spPr>
      </p:pic>
      <p:sp>
        <p:nvSpPr>
          <p:cNvPr id="5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44</a:t>
            </a:r>
          </a:p>
        </p:txBody>
      </p:sp>
      <p:sp xmlns:p="http://schemas.openxmlformats.org/presentationml/2006/main" xmlns:a="http://schemas.openxmlformats.org/drawingml/2006/main">
        <p:nvSpPr>
          <p:cNvPr id="572"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cxnSp>
        <p:nvCxnSpPr>
          <p:cNvPr id="575" name="Google Shape;575;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6" name="Google Shape;576;p56"/>
          <p:cNvSpPr txBox="1"/>
          <p:nvPr/>
        </p:nvSpPr>
        <p:spPr>
          <a:xfrm>
            <a:off x="484564" y="2760630"/>
            <a:ext cx="6468327" cy="9284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summarize the data set?</a:t>
            </a:r>
            <a:endParaRPr b="0" i="0" sz="1400" u="none" cap="none" strike="noStrike">
              <a:solidFill>
                <a:srgbClr val="000000"/>
              </a:solidFill>
              <a:latin typeface="Arial"/>
              <a:ea typeface="Arial"/>
              <a:cs typeface="Arial"/>
              <a:sym typeface="Arial"/>
            </a:endParaRPr>
          </a:p>
        </p:txBody>
      </p:sp>
      <p:pic>
        <p:nvPicPr>
          <p:cNvPr id="577" name="Google Shape;577;p56"/>
          <p:cNvPicPr preferRelativeResize="0"/>
          <p:nvPr/>
        </p:nvPicPr>
        <p:blipFill rotWithShape="1">
          <a:blip r:embed="rId3">
            <a:alphaModFix/>
          </a:blip>
          <a:srcRect b="0" l="0" r="0" t="0"/>
          <a:stretch/>
        </p:blipFill>
        <p:spPr>
          <a:xfrm>
            <a:off x="7144327" y="1674956"/>
            <a:ext cx="4572000" cy="2990850"/>
          </a:xfrm>
          <a:prstGeom prst="rect">
            <a:avLst/>
          </a:prstGeom>
          <a:noFill/>
          <a:ln>
            <a:noFill/>
          </a:ln>
        </p:spPr>
      </p:pic>
      <p:sp>
        <p:nvSpPr>
          <p:cNvPr id="578" name="Google Shape;578;p56"/>
          <p:cNvSpPr txBox="1"/>
          <p:nvPr/>
        </p:nvSpPr>
        <p:spPr>
          <a:xfrm>
            <a:off x="484564" y="936100"/>
            <a:ext cx="6468327" cy="1742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Some students surveyed the teachers at their school on the number of years of teaching experience. They collected the data shown.</a:t>
            </a:r>
            <a:endParaRPr b="1" i="0" sz="2800" u="none" cap="none" strike="noStrike">
              <a:solidFill>
                <a:srgbClr val="262626"/>
              </a:solidFill>
              <a:latin typeface="Arial"/>
              <a:ea typeface="Arial"/>
              <a:cs typeface="Arial"/>
              <a:sym typeface="Arial"/>
            </a:endParaRPr>
          </a:p>
        </p:txBody>
      </p:sp>
      <p:sp>
        <p:nvSpPr>
          <p:cNvPr id="579" name="Google Shape;579;p56"/>
          <p:cNvSpPr txBox="1"/>
          <p:nvPr/>
        </p:nvSpPr>
        <p:spPr>
          <a:xfrm>
            <a:off x="484565" y="316034"/>
            <a:ext cx="5641027" cy="53798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Teaching Experience</a:t>
            </a:r>
            <a:endParaRPr b="0" i="0" sz="1400" u="none" cap="none" strike="noStrike">
              <a:solidFill>
                <a:srgbClr val="000000"/>
              </a:solidFill>
              <a:latin typeface="Arial"/>
              <a:ea typeface="Arial"/>
              <a:cs typeface="Arial"/>
              <a:sym typeface="Arial"/>
            </a:endParaRPr>
          </a:p>
        </p:txBody>
      </p:sp>
      <p:sp>
        <p:nvSpPr>
          <p:cNvPr id="5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44</a:t>
            </a:r>
          </a:p>
        </p:txBody>
      </p:sp>
      <p:sp>
        <p:nvSpPr>
          <p:cNvPr id="5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58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cxnSp>
        <p:nvCxnSpPr>
          <p:cNvPr id="680" name="Google Shape;680;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1" name="Google Shape;681;p68"/>
          <p:cNvSpPr txBox="1"/>
          <p:nvPr/>
        </p:nvSpPr>
        <p:spPr>
          <a:xfrm>
            <a:off x="484562" y="4266850"/>
            <a:ext cx="7769421" cy="20131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You can count an equal number of data values on either side until you meet in the middle.</a:t>
            </a:r>
            <a:endParaRPr b="0" i="0" sz="1400" u="none" cap="none" strike="noStrike">
              <a:solidFill>
                <a:srgbClr val="000000"/>
              </a:solidFill>
              <a:latin typeface="Arial"/>
              <a:ea typeface="Arial"/>
              <a:cs typeface="Arial"/>
              <a:sym typeface="Arial"/>
            </a:endParaRPr>
          </a:p>
        </p:txBody>
      </p:sp>
      <p:sp>
        <p:nvSpPr>
          <p:cNvPr id="682" name="Google Shape;682;p68"/>
          <p:cNvSpPr txBox="1"/>
          <p:nvPr/>
        </p:nvSpPr>
        <p:spPr>
          <a:xfrm>
            <a:off x="484563" y="418515"/>
            <a:ext cx="6765981" cy="5812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There are 25 values in the data set.</a:t>
            </a:r>
            <a:r>
              <a:rPr b="1" i="0" lang="en-US" sz="2800" u="none" cap="none" strike="noStrike">
                <a:solidFill>
                  <a:srgbClr val="23282D"/>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83" name="Google Shape;683;p68"/>
          <p:cNvSpPr txBox="1"/>
          <p:nvPr/>
        </p:nvSpPr>
        <p:spPr>
          <a:xfrm>
            <a:off x="493190" y="1600695"/>
            <a:ext cx="11211130" cy="22159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defRPr/>
            </a:pPr>
            <a:r>
              <a:rPr b="0" i="0" lang="en-US" sz="2400" u="none" cap="none" strike="noStrike">
                <a:solidFill>
                  <a:srgbClr val="23282D"/>
                </a:solidFill>
                <a:latin typeface="Arial"/>
                <a:ea typeface="Arial"/>
                <a:cs typeface="Arial"/>
                <a:sym typeface="Arial"/>
              </a:rPr>
              <a:t>1, 1, 3, 3, 4, 4, 5, 5, 5, 6, 11, 12, 13, 14, 14, 15, 15, 16, 16, 18, 20, 22, 22, 23, 32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 xml:space="preserve">What is one way you can find the middle value </a:t>
            </a: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of the data set?</a:t>
            </a:r>
            <a:endParaRPr b="0" i="0" sz="1400" u="none" cap="none" strike="noStrike">
              <a:solidFill>
                <a:srgbClr val="000000"/>
              </a:solidFill>
              <a:latin typeface="Arial"/>
              <a:ea typeface="Arial"/>
              <a:cs typeface="Arial"/>
              <a:sym typeface="Arial"/>
            </a:endParaRPr>
          </a:p>
        </p:txBody>
      </p:sp>
      <p:sp>
        <p:nvSpPr>
          <p:cNvPr id="6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44</a:t>
            </a:r>
          </a:p>
        </p:txBody>
      </p:sp>
      <p:sp>
        <p:nvSpPr>
          <p:cNvPr id="685" name="EWL-COVER-1"/>
          <p:cNvSpPr/>
          <p:nvPr/>
        </p:nvSpPr>
        <p:spPr>
          <a:xfrm>
            <a:off x="429698" y="4211986"/>
            <a:ext cx="7879149" cy="2122907"/>
          </a:xfrm>
          <a:prstGeom prst="rect">
            <a:avLst/>
          </a:prstGeom>
          <a:solidFill>
            <a:srgbClr val="FFFFFF"/>
          </a:solidFill>
          <a:ln>
            <a:noFill/>
          </a:ln>
        </p:spPr>
        <p:txBody>
          <a:bodyPr/>
          <a:lstStyle/>
          <a:p/>
        </p:txBody>
      </p:sp>
      <p:grpSp>
        <p:nvGrpSpPr>
          <p:cNvPr id="686" name="TEACH-3-student-move" descr="TEACH 3 · Use intentional questioning to deepen learning"/>
          <p:cNvGrpSpPr/>
          <p:nvPr/>
        </p:nvGrpSpPr>
        <p:grpSpPr>
          <a:xfrm>
            <a:off x="502920" y="1161783"/>
            <a:ext cx="11186160" cy="402336"/>
            <a:chOff x="502920" y="1161783"/>
            <a:chExt cx="11186160" cy="402336"/>
          </a:xfrm>
        </p:grpSpPr>
        <p:sp>
          <p:nvSpPr>
            <p:cNvPr id="687" name="TEACH-move-card"/>
            <p:cNvSpPr/>
            <p:nvPr/>
          </p:nvSpPr>
          <p:spPr>
            <a:xfrm>
              <a:off x="502920" y="116178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688" name="TEACH-move-rule"/>
            <p:cNvSpPr/>
            <p:nvPr/>
          </p:nvSpPr>
          <p:spPr>
            <a:xfrm>
              <a:off x="548640" y="1238227"/>
              <a:ext cx="100584" cy="249448"/>
            </a:xfrm>
            <a:prstGeom prst="roundRect">
              <a:avLst>
                <a:gd name="adj" fmla="val 50000"/>
              </a:avLst>
            </a:prstGeom>
            <a:solidFill>
              <a:srgbClr val="01708C"/>
            </a:solidFill>
            <a:ln>
              <a:noFill/>
            </a:ln>
          </p:spPr>
          <p:txBody>
            <a:bodyPr/>
            <a:lstStyle/>
            <a:p>
              <a:endParaRPr/>
            </a:p>
          </p:txBody>
        </p:sp>
        <p:sp>
          <p:nvSpPr>
            <p:cNvPr id="689" name="TEACH-move-text"/>
            <p:cNvSpPr txBox="1"/>
            <p:nvPr/>
          </p:nvSpPr>
          <p:spPr>
            <a:xfrm>
              <a:off x="822960" y="116178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cxnSp>
        <p:nvCxnSpPr>
          <p:cNvPr id="695" name="Google Shape;695;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96" name="Google Shape;696;p70"/>
          <p:cNvPicPr preferRelativeResize="0"/>
          <p:nvPr/>
        </p:nvPicPr>
        <p:blipFill rotWithShape="1">
          <a:blip r:embed="rId3">
            <a:alphaModFix/>
          </a:blip>
          <a:srcRect b="0" l="0" r="0" t="0"/>
          <a:stretch/>
        </p:blipFill>
        <p:spPr>
          <a:xfrm>
            <a:off x="711488" y="3230881"/>
            <a:ext cx="10332720" cy="1722120"/>
          </a:xfrm>
          <a:prstGeom prst="rect">
            <a:avLst/>
          </a:prstGeom>
          <a:noFill/>
          <a:ln>
            <a:noFill/>
          </a:ln>
        </p:spPr>
      </p:pic>
      <p:sp>
        <p:nvSpPr>
          <p:cNvPr id="697" name="Google Shape;697;p70"/>
          <p:cNvSpPr txBox="1"/>
          <p:nvPr/>
        </p:nvSpPr>
        <p:spPr>
          <a:xfrm>
            <a:off x="493191" y="418515"/>
            <a:ext cx="6537337" cy="29026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One </a:t>
            </a:r>
            <a:r>
              <a:rPr b="1" i="0" lang="en-US" sz="2800" u="none" cap="none" strike="noStrike">
                <a:solidFill>
                  <a:srgbClr val="23282D"/>
                </a:solidFill>
                <a:highlight>
                  <a:srgbClr val="FFFF00"/>
                </a:highlight>
                <a:latin typeface="Arial"/>
                <a:ea typeface="Arial"/>
                <a:cs typeface="Arial"/>
                <a:sym typeface="Arial"/>
              </a:rPr>
              <a:t>measure of center</a:t>
            </a:r>
            <a:r>
              <a:rPr b="0" i="0" lang="en-US" sz="2800" u="none" cap="none" strike="noStrike">
                <a:solidFill>
                  <a:srgbClr val="23282D"/>
                </a:solidFill>
                <a:latin typeface="Arial"/>
                <a:ea typeface="Arial"/>
                <a:cs typeface="Arial"/>
                <a:sym typeface="Arial"/>
              </a:rPr>
              <a:t xml:space="preserve"> is the median. The </a:t>
            </a:r>
            <a:r>
              <a:rPr b="1" i="0" lang="en-US" sz="2800" u="none" cap="none" strike="noStrike">
                <a:solidFill>
                  <a:srgbClr val="23282D"/>
                </a:solidFill>
                <a:highlight>
                  <a:srgbClr val="FFFF00"/>
                </a:highlight>
                <a:latin typeface="Arial"/>
                <a:ea typeface="Arial"/>
                <a:cs typeface="Arial"/>
                <a:sym typeface="Arial"/>
              </a:rPr>
              <a:t>median</a:t>
            </a:r>
            <a:r>
              <a:rPr b="0" i="0" lang="en-US" sz="2800" u="none" cap="none" strike="noStrike">
                <a:solidFill>
                  <a:srgbClr val="23282D"/>
                </a:solidFill>
                <a:latin typeface="Arial"/>
                <a:ea typeface="Arial"/>
                <a:cs typeface="Arial"/>
                <a:sym typeface="Arial"/>
              </a:rPr>
              <a:t xml:space="preserve"> is the middle value of a data set when the values are arranged from least to greatest. It summarizes all the values of the data set with a single number.​</a:t>
            </a:r>
            <a:endParaRPr b="0" i="0" sz="1400" u="none" cap="none" strike="noStrike">
              <a:solidFill>
                <a:srgbClr val="000000"/>
              </a:solidFill>
              <a:latin typeface="Arial"/>
              <a:ea typeface="Arial"/>
              <a:cs typeface="Arial"/>
              <a:sym typeface="Arial"/>
            </a:endParaRPr>
          </a:p>
        </p:txBody>
      </p:sp>
      <p:sp>
        <p:nvSpPr>
          <p:cNvPr id="6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44</a:t>
            </a:r>
          </a:p>
        </p:txBody>
      </p:sp>
      <p:sp>
        <p:nvSpPr>
          <p:cNvPr id="69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700"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cxnSp>
        <p:nvCxnSpPr>
          <p:cNvPr id="710" name="Google Shape;710;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11" name="Google Shape;711;p72"/>
          <p:cNvPicPr preferRelativeResize="0"/>
          <p:nvPr/>
        </p:nvPicPr>
        <p:blipFill rotWithShape="1">
          <a:blip r:embed="rId3">
            <a:alphaModFix/>
          </a:blip>
          <a:srcRect b="0" l="0" r="0" t="0"/>
          <a:stretch/>
        </p:blipFill>
        <p:spPr>
          <a:xfrm>
            <a:off x="7144327" y="1674956"/>
            <a:ext cx="4572000" cy="2990850"/>
          </a:xfrm>
          <a:prstGeom prst="rect">
            <a:avLst/>
          </a:prstGeom>
          <a:noFill/>
          <a:ln>
            <a:noFill/>
          </a:ln>
        </p:spPr>
      </p:pic>
      <p:sp>
        <p:nvSpPr>
          <p:cNvPr id="712" name="Google Shape;712;p72"/>
          <p:cNvSpPr txBox="1"/>
          <p:nvPr/>
        </p:nvSpPr>
        <p:spPr>
          <a:xfrm>
            <a:off x="505580" y="445034"/>
            <a:ext cx="6765981" cy="6705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find the median another way.</a:t>
            </a:r>
            <a:endParaRPr b="1" i="0" sz="2800" u="none" cap="none" strike="noStrike">
              <a:solidFill>
                <a:srgbClr val="262626"/>
              </a:solidFill>
              <a:latin typeface="Arial"/>
              <a:ea typeface="Arial"/>
              <a:cs typeface="Arial"/>
              <a:sym typeface="Arial"/>
            </a:endParaRPr>
          </a:p>
        </p:txBody>
      </p:sp>
      <p:sp>
        <p:nvSpPr>
          <p:cNvPr id="713" name="Google Shape;713;p72"/>
          <p:cNvSpPr txBox="1"/>
          <p:nvPr/>
        </p:nvSpPr>
        <p:spPr>
          <a:xfrm>
            <a:off x="506420" y="5195414"/>
            <a:ext cx="9427142" cy="11468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What are some ways you have displayed data in the past?</a:t>
            </a:r>
            <a:endParaRPr b="0" i="0" sz="1400" u="none" cap="none" strike="noStrike">
              <a:solidFill>
                <a:srgbClr val="000000"/>
              </a:solidFill>
              <a:latin typeface="Arial"/>
              <a:ea typeface="Arial"/>
              <a:cs typeface="Arial"/>
              <a:sym typeface="Arial"/>
            </a:endParaRPr>
          </a:p>
        </p:txBody>
      </p:sp>
      <p:sp>
        <p:nvSpPr>
          <p:cNvPr id="71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44</a:t>
            </a:r>
          </a:p>
        </p:txBody>
      </p:sp>
      <p:sp xmlns:p="http://schemas.openxmlformats.org/presentationml/2006/main" xmlns:a="http://schemas.openxmlformats.org/drawingml/2006/main">
        <p:nvSpPr>
          <p:cNvPr id="715"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cxnSp>
        <p:nvCxnSpPr>
          <p:cNvPr id="745" name="Google Shape;745;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46" name="Google Shape;746;p76"/>
          <p:cNvPicPr preferRelativeResize="0"/>
          <p:nvPr/>
        </p:nvPicPr>
        <p:blipFill rotWithShape="1">
          <a:blip r:embed="rId3">
            <a:alphaModFix/>
          </a:blip>
          <a:srcRect b="0" l="0" r="0" t="0"/>
          <a:stretch/>
        </p:blipFill>
        <p:spPr>
          <a:xfrm>
            <a:off x="7144327" y="1674956"/>
            <a:ext cx="4572000" cy="2990850"/>
          </a:xfrm>
          <a:prstGeom prst="rect">
            <a:avLst/>
          </a:prstGeom>
          <a:noFill/>
          <a:ln>
            <a:noFill/>
          </a:ln>
        </p:spPr>
      </p:pic>
      <p:sp>
        <p:nvSpPr>
          <p:cNvPr id="747" name="Google Shape;747;p76"/>
          <p:cNvSpPr txBox="1"/>
          <p:nvPr/>
        </p:nvSpPr>
        <p:spPr>
          <a:xfrm>
            <a:off x="475673" y="392636"/>
            <a:ext cx="6765981" cy="22412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find the median another 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display the data to find the median?</a:t>
            </a:r>
            <a:endParaRPr b="0" i="0" sz="1400" u="none" cap="none" strike="noStrike">
              <a:solidFill>
                <a:srgbClr val="000000"/>
              </a:solidFill>
              <a:latin typeface="Arial"/>
              <a:ea typeface="Arial"/>
              <a:cs typeface="Arial"/>
              <a:sym typeface="Arial"/>
            </a:endParaRPr>
          </a:p>
        </p:txBody>
      </p:sp>
      <p:sp>
        <p:nvSpPr>
          <p:cNvPr id="748" name="Google Shape;748;p76"/>
          <p:cNvSpPr txBox="1"/>
          <p:nvPr/>
        </p:nvSpPr>
        <p:spPr>
          <a:xfrm>
            <a:off x="475673" y="4304709"/>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could use a dot plot to display the data.</a:t>
            </a:r>
            <a:endParaRPr b="0" i="0" sz="1400" u="none" cap="none" strike="noStrike">
              <a:solidFill>
                <a:srgbClr val="000000"/>
              </a:solidFill>
              <a:latin typeface="Arial"/>
              <a:ea typeface="Arial"/>
              <a:cs typeface="Arial"/>
              <a:sym typeface="Arial"/>
            </a:endParaRPr>
          </a:p>
        </p:txBody>
      </p:sp>
      <p:sp>
        <p:nvSpPr>
          <p:cNvPr id="7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44</a:t>
            </a:r>
          </a:p>
        </p:txBody>
      </p:sp>
      <p:sp>
        <p:nvSpPr>
          <p:cNvPr id="750" name="EWL-COVER-1"/>
          <p:cNvSpPr/>
          <p:nvPr/>
        </p:nvSpPr>
        <p:spPr>
          <a:xfrm>
            <a:off x="420809" y="4249845"/>
            <a:ext cx="6070352"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751" name="TEACH-embedded-student-prompt" descr="Student thinking and response directions"/>
          <p:cNvSpPr txBox="1"/>
          <p:nvPr/>
        </p:nvSpPr>
        <p:spPr>
          <a:xfrm>
            <a:off x="594360" y="33101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cxnSp>
        <p:nvCxnSpPr>
          <p:cNvPr id="773" name="Google Shape;773;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74" name="Google Shape;774;p79"/>
          <p:cNvSpPr txBox="1"/>
          <p:nvPr/>
        </p:nvSpPr>
        <p:spPr>
          <a:xfrm>
            <a:off x="484565" y="3717026"/>
            <a:ext cx="8197618" cy="5719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does each dot represent on the dot plot?</a:t>
            </a:r>
            <a:endParaRPr b="0" i="0" sz="1400" u="none" cap="none" strike="noStrike">
              <a:solidFill>
                <a:srgbClr val="000000"/>
              </a:solidFill>
              <a:latin typeface="Arial"/>
              <a:ea typeface="Arial"/>
              <a:cs typeface="Arial"/>
              <a:sym typeface="Arial"/>
            </a:endParaRPr>
          </a:p>
        </p:txBody>
      </p:sp>
      <p:pic>
        <p:nvPicPr>
          <p:cNvPr id="775" name="Google Shape;775;p79"/>
          <p:cNvPicPr preferRelativeResize="0"/>
          <p:nvPr/>
        </p:nvPicPr>
        <p:blipFill rotWithShape="1">
          <a:blip r:embed="rId3">
            <a:alphaModFix/>
          </a:blip>
          <a:srcRect b="0" l="0" r="0" t="0"/>
          <a:stretch/>
        </p:blipFill>
        <p:spPr>
          <a:xfrm>
            <a:off x="614744" y="1619819"/>
            <a:ext cx="7391400" cy="1390650"/>
          </a:xfrm>
          <a:prstGeom prst="rect">
            <a:avLst/>
          </a:prstGeom>
          <a:noFill/>
          <a:ln>
            <a:noFill/>
          </a:ln>
        </p:spPr>
      </p:pic>
      <p:sp>
        <p:nvSpPr>
          <p:cNvPr id="776" name="Google Shape;776;p79"/>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777" name="Google Shape;777;p79"/>
          <p:cNvPicPr preferRelativeResize="0"/>
          <p:nvPr/>
        </p:nvPicPr>
        <p:blipFill rotWithShape="1">
          <a:blip r:embed="rId4">
            <a:alphaModFix/>
          </a:blip>
          <a:srcRect b="0" l="0" r="0" t="0"/>
          <a:stretch/>
        </p:blipFill>
        <p:spPr>
          <a:xfrm>
            <a:off x="558276" y="386230"/>
            <a:ext cx="353635" cy="340537"/>
          </a:xfrm>
          <a:prstGeom prst="rect">
            <a:avLst/>
          </a:prstGeom>
          <a:noFill/>
          <a:ln>
            <a:noFill/>
          </a:ln>
        </p:spPr>
      </p:pic>
      <p:sp>
        <p:nvSpPr>
          <p:cNvPr id="778" name="Google Shape;778;p79"/>
          <p:cNvSpPr txBox="1"/>
          <p:nvPr/>
        </p:nvSpPr>
        <p:spPr>
          <a:xfrm>
            <a:off x="484564" y="4463161"/>
            <a:ext cx="6879403" cy="19203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Each dot represents the number of years of teaching experience of one teacher.</a:t>
            </a:r>
            <a:endParaRPr b="0" i="0" sz="1400" u="none" cap="none" strike="noStrike">
              <a:solidFill>
                <a:srgbClr val="000000"/>
              </a:solidFill>
              <a:latin typeface="Arial"/>
              <a:ea typeface="Arial"/>
              <a:cs typeface="Arial"/>
              <a:sym typeface="Arial"/>
            </a:endParaRPr>
          </a:p>
        </p:txBody>
      </p:sp>
      <p:sp>
        <p:nvSpPr>
          <p:cNvPr id="7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44</a:t>
            </a:r>
          </a:p>
        </p:txBody>
      </p:sp>
      <p:sp>
        <p:nvSpPr>
          <p:cNvPr id="780" name="EWL-COVER-1"/>
          <p:cNvSpPr/>
          <p:nvPr/>
        </p:nvSpPr>
        <p:spPr>
          <a:xfrm>
            <a:off x="429700" y="4408297"/>
            <a:ext cx="6989131" cy="2030114"/>
          </a:xfrm>
          <a:prstGeom prst="rect">
            <a:avLst/>
          </a:prstGeom>
          <a:solidFill>
            <a:srgbClr val="FFFFFF"/>
          </a:solidFill>
          <a:ln>
            <a:noFill/>
          </a:ln>
        </p:spPr>
        <p:txBody>
          <a:bodyPr/>
          <a:lstStyle/>
          <a:p/>
        </p:txBody>
      </p:sp>
      <p:sp>
        <p:nvSpPr>
          <p:cNvPr id="781"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782" name="TEACH-5-student-move" descr="TEACH 5 · Facilitate student interactions and academic talk"/>
          <p:cNvGrpSpPr/>
          <p:nvPr/>
        </p:nvGrpSpPr>
        <p:grpSpPr>
          <a:xfrm>
            <a:off x="502920" y="3278114"/>
            <a:ext cx="11186160" cy="402336"/>
            <a:chOff x="502920" y="3278114"/>
            <a:chExt cx="11186160" cy="402336"/>
          </a:xfrm>
        </p:grpSpPr>
        <p:sp>
          <p:nvSpPr>
            <p:cNvPr id="783" name="TEACH-move-card"/>
            <p:cNvSpPr/>
            <p:nvPr/>
          </p:nvSpPr>
          <p:spPr>
            <a:xfrm>
              <a:off x="502920" y="3278114"/>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84" name="TEACH-move-rule"/>
            <p:cNvSpPr/>
            <p:nvPr/>
          </p:nvSpPr>
          <p:spPr>
            <a:xfrm>
              <a:off x="548640" y="3354558"/>
              <a:ext cx="100584" cy="249448"/>
            </a:xfrm>
            <a:prstGeom prst="roundRect">
              <a:avLst>
                <a:gd name="adj" fmla="val 50000"/>
              </a:avLst>
            </a:prstGeom>
            <a:solidFill>
              <a:srgbClr val="01708C"/>
            </a:solidFill>
            <a:ln>
              <a:noFill/>
            </a:ln>
          </p:spPr>
          <p:txBody>
            <a:bodyPr/>
            <a:lstStyle/>
            <a:p>
              <a:endParaRPr/>
            </a:p>
          </p:txBody>
        </p:sp>
        <p:sp>
          <p:nvSpPr>
            <p:cNvPr id="785" name="TEACH-move-text"/>
            <p:cNvSpPr txBox="1"/>
            <p:nvPr/>
          </p:nvSpPr>
          <p:spPr>
            <a:xfrm>
              <a:off x="822960" y="3278114"/>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8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15" name="Google Shape;815;p84"/>
          <p:cNvSpPr txBox="1"/>
          <p:nvPr/>
        </p:nvSpPr>
        <p:spPr>
          <a:xfrm>
            <a:off x="6099120" y="235771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16" name="Google Shape;816;p84"/>
          <p:cNvSpPr/>
          <p:nvPr/>
        </p:nvSpPr>
        <p:spPr>
          <a:xfrm>
            <a:off x="633006" y="1838696"/>
            <a:ext cx="6672983" cy="951926"/>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17" name="Google Shape;817;p84"/>
          <p:cNvSpPr txBox="1"/>
          <p:nvPr/>
        </p:nvSpPr>
        <p:spPr>
          <a:xfrm>
            <a:off x="484564" y="927528"/>
            <a:ext cx="6672983" cy="117836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Why do you think the median is called a “measure of center”?​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818" name="Google Shape;818;p84"/>
          <p:cNvSpPr txBox="1"/>
          <p:nvPr/>
        </p:nvSpPr>
        <p:spPr>
          <a:xfrm>
            <a:off x="6178288" y="594010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19" name="Google Shape;819;p84"/>
          <p:cNvSpPr/>
          <p:nvPr/>
        </p:nvSpPr>
        <p:spPr>
          <a:xfrm>
            <a:off x="712174" y="5436544"/>
            <a:ext cx="6672983" cy="93646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descr="A picture containing text&#10;&#10;Description automatically generated" id="820" name="Google Shape;820;p84"/>
          <p:cNvPicPr preferRelativeResize="0"/>
          <p:nvPr/>
        </p:nvPicPr>
        <p:blipFill rotWithShape="1">
          <a:blip r:embed="rId3">
            <a:alphaModFix/>
          </a:blip>
          <a:srcRect b="0" l="0" r="0" t="0"/>
          <a:stretch/>
        </p:blipFill>
        <p:spPr>
          <a:xfrm>
            <a:off x="1223564" y="4246697"/>
            <a:ext cx="6984006" cy="936000"/>
          </a:xfrm>
          <a:prstGeom prst="rect">
            <a:avLst/>
          </a:prstGeom>
          <a:noFill/>
          <a:ln>
            <a:noFill/>
          </a:ln>
        </p:spPr>
      </p:pic>
      <p:sp>
        <p:nvSpPr>
          <p:cNvPr id="821" name="Google Shape;821;p84"/>
          <p:cNvSpPr txBox="1"/>
          <p:nvPr/>
        </p:nvSpPr>
        <p:spPr>
          <a:xfrm>
            <a:off x="484564" y="3124463"/>
            <a:ext cx="10423606" cy="94407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How might a value in the data set that is much larger or much smaller than the rest of the data affect the median?</a:t>
            </a:r>
            <a:endParaRPr b="0" i="0" sz="1400" u="none" cap="none" strike="noStrike">
              <a:solidFill>
                <a:srgbClr val="000000"/>
              </a:solidFill>
              <a:latin typeface="Arial"/>
              <a:ea typeface="Arial"/>
              <a:cs typeface="Arial"/>
              <a:sym typeface="Arial"/>
            </a:endParaRPr>
          </a:p>
        </p:txBody>
      </p:sp>
      <p:sp>
        <p:nvSpPr>
          <p:cNvPr id="82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44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the ordered list show why your value is the median?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93" name="Google Shape;593;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4" name="Google Shape;594;p58"/>
          <p:cNvSpPr txBox="1"/>
          <p:nvPr/>
        </p:nvSpPr>
        <p:spPr>
          <a:xfrm>
            <a:off x="484564" y="3786858"/>
            <a:ext cx="6765981" cy="8852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 you notice about the data set?</a:t>
            </a:r>
            <a:endParaRPr b="0" i="0" sz="1400" u="none" cap="none" strike="noStrike">
              <a:solidFill>
                <a:srgbClr val="000000"/>
              </a:solidFill>
              <a:latin typeface="Arial"/>
              <a:ea typeface="Arial"/>
              <a:cs typeface="Arial"/>
              <a:sym typeface="Arial"/>
            </a:endParaRPr>
          </a:p>
        </p:txBody>
      </p:sp>
      <p:pic>
        <p:nvPicPr>
          <p:cNvPr id="595" name="Google Shape;595;p58"/>
          <p:cNvPicPr preferRelativeResize="0"/>
          <p:nvPr/>
        </p:nvPicPr>
        <p:blipFill rotWithShape="1">
          <a:blip r:embed="rId2">
            <a:alphaModFix/>
          </a:blip>
          <a:srcRect b="0" l="0" r="0" t="0"/>
          <a:stretch/>
        </p:blipFill>
        <p:spPr>
          <a:xfrm>
            <a:off x="7144327" y="1674956"/>
            <a:ext cx="4572000" cy="2990850"/>
          </a:xfrm>
          <a:prstGeom prst="rect">
            <a:avLst/>
          </a:prstGeom>
          <a:noFill/>
          <a:ln>
            <a:noFill/>
          </a:ln>
        </p:spPr>
      </p:pic>
      <p:sp>
        <p:nvSpPr>
          <p:cNvPr id="596" name="Google Shape;596;p58"/>
          <p:cNvSpPr txBox="1"/>
          <p:nvPr/>
        </p:nvSpPr>
        <p:spPr>
          <a:xfrm>
            <a:off x="484565" y="552669"/>
            <a:ext cx="6477068" cy="22319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Some students surveyed the teachers at their school on the number of years of teaching experience. They collected the data shown. How can you summarize the values of the data set?</a:t>
            </a:r>
            <a:endParaRPr b="1" i="0" sz="2800" u="none" cap="none" strike="noStrike">
              <a:solidFill>
                <a:srgbClr val="262626"/>
              </a:solidFill>
              <a:latin typeface="Arial"/>
              <a:ea typeface="Arial"/>
              <a:cs typeface="Arial"/>
              <a:sym typeface="Arial"/>
            </a:endParaRPr>
          </a:p>
        </p:txBody>
      </p:sp>
      <p:sp>
        <p:nvSpPr>
          <p:cNvPr id="597" name="Google Shape;597;p58"/>
          <p:cNvSpPr txBox="1"/>
          <p:nvPr/>
        </p:nvSpPr>
        <p:spPr>
          <a:xfrm>
            <a:off x="484563" y="4755291"/>
            <a:ext cx="7296463"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number of years of teaching experience ranges from 1 year to 32 years.</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44</a:t>
            </a:r>
          </a:p>
        </p:txBody>
      </p:sp>
      <p:grpSp>
        <p:nvGrpSpPr>
          <p:cNvPr id="598" name="TEACH-3-student-move" descr="TEACH 3 · Use intentional questioning to deepen learning"/>
          <p:cNvGrpSpPr/>
          <p:nvPr/>
        </p:nvGrpSpPr>
        <p:grpSpPr>
          <a:xfrm>
            <a:off x="502920" y="3110202"/>
            <a:ext cx="5501640" cy="594360"/>
            <a:chOff x="502920" y="3110202"/>
            <a:chExt cx="5501640" cy="594360"/>
          </a:xfrm>
        </p:grpSpPr>
        <p:sp>
          <p:nvSpPr>
            <p:cNvPr id="599" name="TEACH-move-card"/>
            <p:cNvSpPr/>
            <p:nvPr/>
          </p:nvSpPr>
          <p:spPr>
            <a:xfrm>
              <a:off x="502920" y="311020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00" name="TEACH-move-rule"/>
            <p:cNvSpPr/>
            <p:nvPr/>
          </p:nvSpPr>
          <p:spPr>
            <a:xfrm>
              <a:off x="548640" y="3223130"/>
              <a:ext cx="100584" cy="368504"/>
            </a:xfrm>
            <a:prstGeom prst="roundRect">
              <a:avLst>
                <a:gd name="adj" fmla="val 50000"/>
              </a:avLst>
            </a:prstGeom>
            <a:solidFill>
              <a:srgbClr val="01708C"/>
            </a:solidFill>
            <a:ln>
              <a:noFill/>
            </a:ln>
          </p:spPr>
          <p:txBody>
            <a:bodyPr/>
            <a:lstStyle/>
            <a:p>
              <a:endParaRPr/>
            </a:p>
          </p:txBody>
        </p:sp>
        <p:sp>
          <p:nvSpPr>
            <p:cNvPr id="601" name="TEACH-move-text"/>
            <p:cNvSpPr txBox="1"/>
            <p:nvPr/>
          </p:nvSpPr>
          <p:spPr>
            <a:xfrm>
              <a:off x="822960" y="311020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11" name="Google Shape;611;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2" name="Google Shape;612;p60"/>
          <p:cNvSpPr txBox="1"/>
          <p:nvPr/>
        </p:nvSpPr>
        <p:spPr>
          <a:xfrm>
            <a:off x="484564" y="2102708"/>
            <a:ext cx="6765981" cy="18826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determine the typical number of years of teaching experience for the teachers at the school?</a:t>
            </a:r>
            <a:endParaRPr b="0" i="0" sz="1400" u="none" cap="none" strike="noStrike">
              <a:solidFill>
                <a:srgbClr val="000000"/>
              </a:solidFill>
              <a:latin typeface="Arial"/>
              <a:ea typeface="Arial"/>
              <a:cs typeface="Arial"/>
              <a:sym typeface="Arial"/>
            </a:endParaRPr>
          </a:p>
        </p:txBody>
      </p:sp>
      <p:pic>
        <p:nvPicPr>
          <p:cNvPr id="613" name="Google Shape;613;p60"/>
          <p:cNvPicPr preferRelativeResize="0"/>
          <p:nvPr/>
        </p:nvPicPr>
        <p:blipFill rotWithShape="1">
          <a:blip r:embed="rId2">
            <a:alphaModFix/>
          </a:blip>
          <a:srcRect b="0" l="0" r="0" t="0"/>
          <a:stretch/>
        </p:blipFill>
        <p:spPr>
          <a:xfrm>
            <a:off x="7144327" y="1674956"/>
            <a:ext cx="4572000" cy="2990850"/>
          </a:xfrm>
          <a:prstGeom prst="rect">
            <a:avLst/>
          </a:prstGeom>
          <a:noFill/>
          <a:ln>
            <a:noFill/>
          </a:ln>
        </p:spPr>
      </p:pic>
      <p:sp>
        <p:nvSpPr>
          <p:cNvPr id="614" name="Google Shape;614;p60"/>
          <p:cNvSpPr txBox="1"/>
          <p:nvPr/>
        </p:nvSpPr>
        <p:spPr>
          <a:xfrm>
            <a:off x="484564" y="552670"/>
            <a:ext cx="6765981" cy="10328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number of years ranges from 1 year to 32 years.</a:t>
            </a:r>
            <a:endParaRPr b="1" i="0" sz="2800" u="none" cap="none" strike="noStrike">
              <a:solidFill>
                <a:srgbClr val="262626"/>
              </a:solidFill>
              <a:latin typeface="Arial"/>
              <a:ea typeface="Arial"/>
              <a:cs typeface="Arial"/>
              <a:sym typeface="Arial"/>
            </a:endParaRPr>
          </a:p>
        </p:txBody>
      </p:sp>
      <p:sp>
        <p:nvSpPr>
          <p:cNvPr id="615" name="Google Shape;615;p60"/>
          <p:cNvSpPr txBox="1"/>
          <p:nvPr/>
        </p:nvSpPr>
        <p:spPr>
          <a:xfrm>
            <a:off x="484564" y="4755291"/>
            <a:ext cx="6528712"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find the middle number of the data set.</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44</a:t>
            </a:r>
          </a:p>
        </p:txBody>
      </p:sp>
      <p:sp xmlns:p="http://schemas.openxmlformats.org/presentationml/2006/main" xmlns:a="http://schemas.openxmlformats.org/drawingml/2006/main">
        <p:nvSpPr>
          <p:cNvPr id="616"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4" name="Google Shape;664;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5" name="Google Shape;665;p66"/>
          <p:cNvSpPr txBox="1"/>
          <p:nvPr/>
        </p:nvSpPr>
        <p:spPr>
          <a:xfrm>
            <a:off x="493191" y="444395"/>
            <a:ext cx="5919802" cy="3848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values in order from least to greatest 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666" name="Google Shape;666;p66"/>
          <p:cNvSpPr txBox="1"/>
          <p:nvPr/>
        </p:nvSpPr>
        <p:spPr>
          <a:xfrm>
            <a:off x="493190" y="4387622"/>
            <a:ext cx="6675706" cy="19527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There are an equal number of values less than and greater than that value.​</a:t>
            </a:r>
            <a:endParaRPr b="0" i="0" sz="1400" u="none" cap="none" strike="noStrike">
              <a:solidFill>
                <a:srgbClr val="000000"/>
              </a:solidFill>
              <a:latin typeface="Arial"/>
              <a:ea typeface="Arial"/>
              <a:cs typeface="Arial"/>
              <a:sym typeface="Arial"/>
            </a:endParaRPr>
          </a:p>
        </p:txBody>
      </p:sp>
      <p:sp>
        <p:nvSpPr>
          <p:cNvPr id="667" name="Google Shape;667;p66"/>
          <p:cNvSpPr txBox="1"/>
          <p:nvPr/>
        </p:nvSpPr>
        <p:spPr>
          <a:xfrm>
            <a:off x="493190" y="1600695"/>
            <a:ext cx="11211130" cy="178510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62626"/>
                </a:solidFill>
                <a:latin typeface="Arial"/>
                <a:ea typeface="Arial"/>
                <a:cs typeface="Arial"/>
                <a:sym typeface="Arial"/>
              </a:rPr>
              <a:t>1, 1, 3, 3, 4, 4, 5, 5, 5, 6, 11, 12, 13, 14, 14, 15, 15, 16, 16, 18, 20, 22, 22, 23, 32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What does it mean for a value to be in the middle?</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44</a:t>
            </a:r>
          </a:p>
        </p:txBody>
      </p:sp>
      <p:sp xmlns:p="http://schemas.openxmlformats.org/presentationml/2006/main" xmlns:a="http://schemas.openxmlformats.org/drawingml/2006/main">
        <p:nvSpPr>
          <p:cNvPr id="668"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2-3 · Describe the Data Using the Median</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first step when finding the median?</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 all numbers</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Order least to greatest</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Divide by 2</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Find the highest number</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median of 3, 5, 8, 12, 14?</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8.4</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median of 4, 6, 8, 12?</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8</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median divides an ordered dataset into:</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Three parts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Two equal halves (50/50)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Unequal sections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Odd numbers only</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44</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2-3 · Describe the Data Using the Median</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Locating the Median</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Always arrange values in order from </a:t>
            </a:r>
            <a:r>
              <a:rPr b="1" i="0" lang="en-US" sz="1450" u="none" cap="none" strike="noStrike">
                <a:solidFill>
                  <a:srgbClr val="475569"/>
                </a:solidFill>
                <a:latin typeface="Arial"/>
                <a:ea typeface="Arial"/>
                <a:cs typeface="Arial"/>
                <a:sym typeface="Arial"/>
              </a:rPr>
              <a:t xml:space="preserve">least to greatest</a:t>
            </a:r>
            <a:r>
              <a:rPr b="0" i="0" lang="en-US" sz="1450" u="none" cap="none" strike="noStrike">
                <a:solidFill>
                  <a:srgbClr val="475569"/>
                </a:solidFill>
                <a:latin typeface="Arial"/>
                <a:ea typeface="Arial"/>
                <a:cs typeface="Arial"/>
                <a:sym typeface="Arial"/>
              </a:rPr>
              <a:t xml:space="preserve"> before identifying the center.</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Even Number of Values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When there is an even number of points, take the </a:t>
            </a:r>
            <a:r>
              <a:rPr b="1" i="0" lang="en-US" sz="1450" u="none" cap="none" strike="noStrike">
                <a:solidFill>
                  <a:srgbClr val="475569"/>
                </a:solidFill>
                <a:latin typeface="Arial"/>
                <a:ea typeface="Arial"/>
                <a:cs typeface="Arial"/>
                <a:sym typeface="Arial"/>
              </a:rPr>
              <a:t xml:space="preserve">mean</a:t>
            </a:r>
            <a:r>
              <a:rPr b="0" i="0" lang="en-US" sz="1450" u="none" cap="none" strike="noStrike">
                <a:solidFill>
                  <a:srgbClr val="475569"/>
                </a:solidFill>
                <a:latin typeface="Arial"/>
                <a:ea typeface="Arial"/>
                <a:cs typeface="Arial"/>
                <a:sym typeface="Arial"/>
              </a:rPr>
              <a:t xml:space="preserve"> of the two central numbers.</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Measure of Center</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a:t>
            </a:r>
            <a:r>
              <a:rPr b="1" i="0" lang="en-US" sz="1450" u="none" cap="none" strike="noStrike">
                <a:solidFill>
                  <a:srgbClr val="475569"/>
                </a:solidFill>
                <a:latin typeface="Arial"/>
                <a:ea typeface="Arial"/>
                <a:cs typeface="Arial"/>
                <a:sym typeface="Arial"/>
              </a:rPr>
              <a:t xml:space="preserve">median</a:t>
            </a:r>
            <a:r>
              <a:rPr b="0" i="0" lang="en-US" sz="1450" u="none" cap="none" strike="noStrike">
                <a:solidFill>
                  <a:srgbClr val="475569"/>
                </a:solidFill>
                <a:latin typeface="Arial"/>
                <a:ea typeface="Arial"/>
                <a:cs typeface="Arial"/>
                <a:sym typeface="Arial"/>
              </a:rPr>
              <a:t xml:space="preserve"> is resistant to extreme outliers and divides data into top and bottom 50%.</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44</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85"/>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Describe Data Using the Median​</a:t>
            </a:r>
            <a:endParaRPr b="0" i="0" sz="1400" u="none" cap="none" strike="noStrike">
              <a:solidFill>
                <a:srgbClr val="000000"/>
              </a:solidFill>
              <a:latin typeface="Arial"/>
              <a:ea typeface="Arial"/>
              <a:cs typeface="Arial"/>
              <a:sym typeface="Arial"/>
            </a:endParaRPr>
          </a:p>
        </p:txBody>
      </p:sp>
      <p:sp>
        <p:nvSpPr>
          <p:cNvPr id="827" name="Google Shape;827;p85"/>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28" name="Google Shape;828;p85"/>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44</a:t>
            </a:r>
          </a:p>
        </p:txBody>
      </p:sp>
      <p:grpSp>
        <p:nvGrpSpPr>
          <p:cNvPr id="830" name="TEACH-6-student-move" descr="TEACH 6 · Organize and implement routines to support a learning-focused classroom"/>
          <p:cNvGrpSpPr/>
          <p:nvPr/>
        </p:nvGrpSpPr>
        <p:grpSpPr>
          <a:xfrm>
            <a:off x="502920" y="3201929"/>
            <a:ext cx="11186160" cy="731520"/>
            <a:chOff x="502920" y="3201929"/>
            <a:chExt cx="11186160" cy="731520"/>
          </a:xfrm>
        </p:grpSpPr>
        <p:sp>
          <p:nvSpPr>
            <p:cNvPr id="831"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32"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833"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cxnSp>
        <p:nvCxnSpPr>
          <p:cNvPr id="843" name="Google Shape;843;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44" name="Google Shape;844;p87"/>
          <p:cNvPicPr preferRelativeResize="0"/>
          <p:nvPr/>
        </p:nvPicPr>
        <p:blipFill rotWithShape="1">
          <a:blip r:embed="rId3">
            <a:alphaModFix/>
          </a:blip>
          <a:srcRect b="0" l="0" r="0" t="0"/>
          <a:stretch/>
        </p:blipFill>
        <p:spPr>
          <a:xfrm>
            <a:off x="2836666" y="2109697"/>
            <a:ext cx="6532360" cy="2223320"/>
          </a:xfrm>
          <a:prstGeom prst="rect">
            <a:avLst/>
          </a:prstGeom>
          <a:noFill/>
          <a:ln>
            <a:noFill/>
          </a:ln>
        </p:spPr>
      </p:pic>
      <p:sp>
        <p:nvSpPr>
          <p:cNvPr id="845" name="Google Shape;845;p87"/>
          <p:cNvSpPr txBox="1"/>
          <p:nvPr/>
        </p:nvSpPr>
        <p:spPr>
          <a:xfrm>
            <a:off x="474054" y="936100"/>
            <a:ext cx="5216531" cy="13452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46" name="Google Shape;846;p87"/>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47" name="Google Shape;847;p87"/>
          <p:cNvPicPr preferRelativeResize="0"/>
          <p:nvPr/>
        </p:nvPicPr>
        <p:blipFill rotWithShape="1">
          <a:blip r:embed="rId4">
            <a:alphaModFix/>
          </a:blip>
          <a:srcRect b="0" l="0" r="0" t="0"/>
          <a:stretch/>
        </p:blipFill>
        <p:spPr>
          <a:xfrm>
            <a:off x="474054" y="5046460"/>
            <a:ext cx="5054600" cy="838200"/>
          </a:xfrm>
          <a:prstGeom prst="rect">
            <a:avLst/>
          </a:prstGeom>
          <a:noFill/>
          <a:ln>
            <a:noFill/>
          </a:ln>
        </p:spPr>
      </p:pic>
      <p:sp>
        <p:nvSpPr>
          <p:cNvPr id="848" name="Google Shape;848;p87"/>
          <p:cNvSpPr txBox="1"/>
          <p:nvPr/>
        </p:nvSpPr>
        <p:spPr>
          <a:xfrm>
            <a:off x="3334071" y="520377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49" name="Google Shape;849;p87"/>
          <p:cNvSpPr/>
          <p:nvPr/>
        </p:nvSpPr>
        <p:spPr>
          <a:xfrm>
            <a:off x="687250" y="586178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showing that you understand someone else’s ideas?</a:t>
            </a:r>
            <a:endParaRPr b="0" i="0" sz="1400" u="none" cap="none" strike="noStrike">
              <a:solidFill>
                <a:srgbClr val="000000"/>
              </a:solidFill>
              <a:latin typeface="Arial"/>
              <a:ea typeface="Arial"/>
              <a:cs typeface="Arial"/>
              <a:sym typeface="Arial"/>
            </a:endParaRPr>
          </a:p>
        </p:txBody>
      </p:sp>
      <p:sp>
        <p:nvSpPr>
          <p:cNvPr id="8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44</a:t>
            </a:r>
          </a:p>
        </p:txBody>
      </p:sp>
      <p:sp xmlns:p="http://schemas.openxmlformats.org/presentationml/2006/main" xmlns:a="http://schemas.openxmlformats.org/drawingml/2006/main">
        <p:nvSpPr>
          <p:cNvPr id="851"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cxnSp>
        <p:nvCxnSpPr>
          <p:cNvPr id="854" name="Google Shape;854;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5" name="Google Shape;855;p88"/>
          <p:cNvSpPr txBox="1"/>
          <p:nvPr/>
        </p:nvSpPr>
        <p:spPr>
          <a:xfrm>
            <a:off x="484564" y="2559862"/>
            <a:ext cx="6765981"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do the additional data values affect the median?</a:t>
            </a:r>
            <a:endParaRPr b="0" i="0" sz="1400" u="none" cap="none" strike="noStrike">
              <a:solidFill>
                <a:srgbClr val="000000"/>
              </a:solidFill>
              <a:latin typeface="Arial"/>
              <a:ea typeface="Arial"/>
              <a:cs typeface="Arial"/>
              <a:sym typeface="Arial"/>
            </a:endParaRPr>
          </a:p>
        </p:txBody>
      </p:sp>
      <p:pic>
        <p:nvPicPr>
          <p:cNvPr id="856" name="Google Shape;856;p88"/>
          <p:cNvPicPr preferRelativeResize="0"/>
          <p:nvPr/>
        </p:nvPicPr>
        <p:blipFill rotWithShape="1">
          <a:blip r:embed="rId3">
            <a:alphaModFix/>
          </a:blip>
          <a:srcRect b="0" l="0" r="0" t="0"/>
          <a:stretch/>
        </p:blipFill>
        <p:spPr>
          <a:xfrm>
            <a:off x="7144327" y="1739611"/>
            <a:ext cx="4572000" cy="2990850"/>
          </a:xfrm>
          <a:prstGeom prst="rect">
            <a:avLst/>
          </a:prstGeom>
          <a:noFill/>
          <a:ln>
            <a:noFill/>
          </a:ln>
        </p:spPr>
      </p:pic>
      <p:sp>
        <p:nvSpPr>
          <p:cNvPr id="857" name="Google Shape;857;p88"/>
          <p:cNvSpPr txBox="1"/>
          <p:nvPr/>
        </p:nvSpPr>
        <p:spPr>
          <a:xfrm>
            <a:off x="484564" y="936100"/>
            <a:ext cx="6765981" cy="17424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Five more teachers were added to the data set. Their years of teaching experience are 5, 7, 14, 22, and 26.</a:t>
            </a:r>
            <a:endParaRPr b="1" i="0" sz="2800" u="none" cap="none" strike="noStrike">
              <a:solidFill>
                <a:srgbClr val="262626"/>
              </a:solidFill>
              <a:latin typeface="Arial"/>
              <a:ea typeface="Arial"/>
              <a:cs typeface="Arial"/>
              <a:sym typeface="Arial"/>
            </a:endParaRPr>
          </a:p>
        </p:txBody>
      </p:sp>
      <p:sp>
        <p:nvSpPr>
          <p:cNvPr id="858" name="Google Shape;858;p8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More Teaching Experience</a:t>
            </a:r>
            <a:endParaRPr b="0" i="0" sz="1400" u="none" cap="none" strike="noStrike">
              <a:solidFill>
                <a:srgbClr val="000000"/>
              </a:solidFill>
              <a:latin typeface="Arial"/>
              <a:ea typeface="Arial"/>
              <a:cs typeface="Arial"/>
              <a:sym typeface="Arial"/>
            </a:endParaRPr>
          </a:p>
        </p:txBody>
      </p:sp>
      <p:sp>
        <p:nvSpPr>
          <p:cNvPr id="85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44</a:t>
            </a:r>
          </a:p>
        </p:txBody>
      </p:sp>
      <p:sp xmlns:p="http://schemas.openxmlformats.org/presentationml/2006/main" xmlns:a="http://schemas.openxmlformats.org/drawingml/2006/main">
        <p:nvSpPr>
          <p:cNvPr id="86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cxnSp>
        <p:nvCxnSpPr>
          <p:cNvPr id="890" name="Google Shape;890;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91" name="Google Shape;891;p92"/>
          <p:cNvSpPr txBox="1"/>
          <p:nvPr/>
        </p:nvSpPr>
        <p:spPr>
          <a:xfrm>
            <a:off x="344323" y="3272336"/>
            <a:ext cx="7347872"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new data values? How many data values are there?</a:t>
            </a:r>
            <a:endParaRPr b="0" i="0" sz="1400" u="none" cap="none" strike="noStrike">
              <a:solidFill>
                <a:srgbClr val="000000"/>
              </a:solidFill>
              <a:latin typeface="Arial"/>
              <a:ea typeface="Arial"/>
              <a:cs typeface="Arial"/>
              <a:sym typeface="Arial"/>
            </a:endParaRPr>
          </a:p>
        </p:txBody>
      </p:sp>
      <p:pic>
        <p:nvPicPr>
          <p:cNvPr id="892" name="Google Shape;892;p92"/>
          <p:cNvPicPr preferRelativeResize="0"/>
          <p:nvPr/>
        </p:nvPicPr>
        <p:blipFill rotWithShape="1">
          <a:blip r:embed="rId3">
            <a:alphaModFix/>
          </a:blip>
          <a:srcRect b="0" l="0" r="0" t="0"/>
          <a:stretch/>
        </p:blipFill>
        <p:spPr>
          <a:xfrm>
            <a:off x="605506" y="1802410"/>
            <a:ext cx="10896388" cy="396000"/>
          </a:xfrm>
          <a:prstGeom prst="rect">
            <a:avLst/>
          </a:prstGeom>
          <a:noFill/>
          <a:ln>
            <a:noFill/>
          </a:ln>
        </p:spPr>
      </p:pic>
      <p:sp>
        <p:nvSpPr>
          <p:cNvPr id="893" name="Google Shape;893;p92"/>
          <p:cNvSpPr txBox="1"/>
          <p:nvPr/>
        </p:nvSpPr>
        <p:spPr>
          <a:xfrm>
            <a:off x="344323" y="375383"/>
            <a:ext cx="7006127" cy="6525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Let’s look at the data set arranged in order.​</a:t>
            </a:r>
            <a:endParaRPr b="1" i="0" sz="2800" u="none" cap="none" strike="noStrike">
              <a:solidFill>
                <a:srgbClr val="262626"/>
              </a:solidFill>
              <a:latin typeface="Arial"/>
              <a:ea typeface="Arial"/>
              <a:cs typeface="Arial"/>
              <a:sym typeface="Arial"/>
            </a:endParaRPr>
          </a:p>
        </p:txBody>
      </p:sp>
      <p:sp>
        <p:nvSpPr>
          <p:cNvPr id="894" name="Google Shape;894;p92"/>
          <p:cNvSpPr txBox="1"/>
          <p:nvPr/>
        </p:nvSpPr>
        <p:spPr>
          <a:xfrm>
            <a:off x="344323" y="4659591"/>
            <a:ext cx="9256877"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of the values are below 13, the previous median, and three are greater than 13. There are now 30 values.</a:t>
            </a:r>
            <a:endParaRPr b="0" i="0" sz="1400" u="none" cap="none" strike="noStrike">
              <a:solidFill>
                <a:srgbClr val="000000"/>
              </a:solidFill>
              <a:latin typeface="Arial"/>
              <a:ea typeface="Arial"/>
              <a:cs typeface="Arial"/>
              <a:sym typeface="Arial"/>
            </a:endParaRPr>
          </a:p>
        </p:txBody>
      </p:sp>
      <p:sp>
        <p:nvSpPr>
          <p:cNvPr id="8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44</a:t>
            </a:r>
          </a:p>
        </p:txBody>
      </p:sp>
      <p:sp>
        <p:nvSpPr>
          <p:cNvPr id="896" name="EWL-COVER-1"/>
          <p:cNvSpPr/>
          <p:nvPr/>
        </p:nvSpPr>
        <p:spPr>
          <a:xfrm>
            <a:off x="289459" y="4604727"/>
            <a:ext cx="9366605" cy="1659768"/>
          </a:xfrm>
          <a:prstGeom prst="rect">
            <a:avLst/>
          </a:prstGeom>
          <a:solidFill>
            <a:srgbClr val="FFFFFF"/>
          </a:solidFill>
          <a:ln>
            <a:noFill/>
          </a:ln>
        </p:spPr>
        <p:txBody>
          <a:bodyPr/>
          <a:lstStyle/>
          <a:p/>
        </p:txBody>
      </p:sp>
      <p:sp xmlns:p="http://schemas.openxmlformats.org/presentationml/2006/main" xmlns:a="http://schemas.openxmlformats.org/drawingml/2006/main">
        <p:nvSpPr>
          <p:cNvPr id="897" name="TEACH-embedded-student-prompt" descr="Student thinking and response directions"/>
          <p:cNvSpPr txBox="1"/>
          <p:nvPr/>
        </p:nvSpPr>
        <p:spPr>
          <a:xfrm>
            <a:off x="594360" y="26151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cxnSp>
        <p:nvCxnSpPr>
          <p:cNvPr id="925" name="Google Shape;925;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6" name="Google Shape;926;p96"/>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927" name="Google Shape;927;p96"/>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928" name="Google Shape;928;p96"/>
          <p:cNvSpPr txBox="1"/>
          <p:nvPr/>
        </p:nvSpPr>
        <p:spPr>
          <a:xfrm>
            <a:off x="558276" y="455487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add the two numbers and then divide the sum by 2.</a:t>
            </a:r>
            <a:endParaRPr b="0" i="0" sz="1400" u="none" cap="none" strike="noStrike">
              <a:solidFill>
                <a:srgbClr val="000000"/>
              </a:solidFill>
              <a:latin typeface="Arial"/>
              <a:ea typeface="Arial"/>
              <a:cs typeface="Arial"/>
              <a:sym typeface="Arial"/>
            </a:endParaRPr>
          </a:p>
        </p:txBody>
      </p:sp>
      <p:sp>
        <p:nvSpPr>
          <p:cNvPr id="929" name="Google Shape;929;p96"/>
          <p:cNvSpPr txBox="1"/>
          <p:nvPr/>
        </p:nvSpPr>
        <p:spPr>
          <a:xfrm>
            <a:off x="605507" y="3522571"/>
            <a:ext cx="7845766" cy="9753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find the value halfway between the two middle numbers?</a:t>
            </a:r>
            <a:endParaRPr b="0" i="0" sz="1400" u="none" cap="none" strike="noStrike">
              <a:solidFill>
                <a:srgbClr val="000000"/>
              </a:solidFill>
              <a:latin typeface="Arial"/>
              <a:ea typeface="Arial"/>
              <a:cs typeface="Arial"/>
              <a:sym typeface="Arial"/>
            </a:endParaRPr>
          </a:p>
        </p:txBody>
      </p:sp>
      <p:pic>
        <p:nvPicPr>
          <p:cNvPr id="930" name="Google Shape;930;p96"/>
          <p:cNvPicPr preferRelativeResize="0"/>
          <p:nvPr/>
        </p:nvPicPr>
        <p:blipFill rotWithShape="1">
          <a:blip r:embed="rId4">
            <a:alphaModFix/>
          </a:blip>
          <a:srcRect b="0" l="0" r="0" t="0"/>
          <a:stretch/>
        </p:blipFill>
        <p:spPr>
          <a:xfrm>
            <a:off x="605507" y="1667821"/>
            <a:ext cx="10896388" cy="1797755"/>
          </a:xfrm>
          <a:prstGeom prst="rect">
            <a:avLst/>
          </a:prstGeom>
          <a:noFill/>
          <a:ln>
            <a:noFill/>
          </a:ln>
        </p:spPr>
      </p:pic>
      <p:sp>
        <p:nvSpPr>
          <p:cNvPr id="9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44</a:t>
            </a:r>
          </a:p>
        </p:txBody>
      </p:sp>
      <p:sp>
        <p:nvSpPr>
          <p:cNvPr id="932" name="EWL-COVER-1"/>
          <p:cNvSpPr/>
          <p:nvPr/>
        </p:nvSpPr>
        <p:spPr>
          <a:xfrm>
            <a:off x="503412" y="4500011"/>
            <a:ext cx="6070352" cy="1659768"/>
          </a:xfrm>
          <a:prstGeom prst="rect">
            <a:avLst/>
          </a:prstGeom>
          <a:solidFill>
            <a:srgbClr val="FFFFFF"/>
          </a:solidFill>
          <a:ln>
            <a:noFill/>
          </a:ln>
        </p:spPr>
        <p:txBody>
          <a:bodyPr/>
          <a:lstStyle/>
          <a:p/>
        </p:txBody>
      </p:sp>
      <p:sp>
        <p:nvSpPr>
          <p:cNvPr id="93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34"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cxnSp>
        <p:nvCxnSpPr>
          <p:cNvPr id="970" name="Google Shape;970;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1" name="Google Shape;971;p101"/>
          <p:cNvSpPr txBox="1"/>
          <p:nvPr/>
        </p:nvSpPr>
        <p:spPr>
          <a:xfrm>
            <a:off x="5950678" y="574479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72" name="Google Shape;972;p101"/>
          <p:cNvSpPr/>
          <p:nvPr/>
        </p:nvSpPr>
        <p:spPr>
          <a:xfrm>
            <a:off x="567559" y="5121100"/>
            <a:ext cx="6589988" cy="1035823"/>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973" name="Google Shape;973;p101"/>
          <p:cNvPicPr preferRelativeResize="0"/>
          <p:nvPr/>
        </p:nvPicPr>
        <p:blipFill rotWithShape="1">
          <a:blip r:embed="rId3">
            <a:alphaModFix/>
          </a:blip>
          <a:srcRect b="0" l="0" r="0" t="0"/>
          <a:stretch/>
        </p:blipFill>
        <p:spPr>
          <a:xfrm>
            <a:off x="7677302" y="2286000"/>
            <a:ext cx="3852229" cy="2520000"/>
          </a:xfrm>
          <a:prstGeom prst="rect">
            <a:avLst/>
          </a:prstGeom>
          <a:noFill/>
          <a:ln>
            <a:noFill/>
          </a:ln>
        </p:spPr>
      </p:pic>
      <p:sp>
        <p:nvSpPr>
          <p:cNvPr id="974" name="Google Shape;974;p101"/>
          <p:cNvSpPr txBox="1"/>
          <p:nvPr/>
        </p:nvSpPr>
        <p:spPr>
          <a:xfrm>
            <a:off x="484564" y="927528"/>
            <a:ext cx="8930588" cy="105169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How would the median change if all five additional data points were greater than 13? less than 13?</a:t>
            </a:r>
            <a:endParaRPr b="0" i="0" sz="1400" u="none" cap="none" strike="noStrike">
              <a:solidFill>
                <a:srgbClr val="000000"/>
              </a:solidFill>
              <a:latin typeface="Arial"/>
              <a:ea typeface="Arial"/>
              <a:cs typeface="Arial"/>
              <a:sym typeface="Arial"/>
            </a:endParaRPr>
          </a:p>
        </p:txBody>
      </p:sp>
      <p:sp>
        <p:nvSpPr>
          <p:cNvPr id="975" name="Google Shape;975;p101"/>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76" name="Google Shape;976;p101"/>
          <p:cNvSpPr txBox="1"/>
          <p:nvPr/>
        </p:nvSpPr>
        <p:spPr>
          <a:xfrm>
            <a:off x="5950678" y="271659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977" name="Google Shape;977;p101"/>
          <p:cNvSpPr/>
          <p:nvPr/>
        </p:nvSpPr>
        <p:spPr>
          <a:xfrm>
            <a:off x="567559" y="1845490"/>
            <a:ext cx="6589988" cy="128322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78" name="Google Shape;978;p101"/>
          <p:cNvSpPr txBox="1"/>
          <p:nvPr/>
        </p:nvSpPr>
        <p:spPr>
          <a:xfrm>
            <a:off x="524148" y="3213527"/>
            <a:ext cx="6941472" cy="1797199"/>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How would the median change if the values of the three data points greater than 13–14, 22, and 26–were changed to 32, 35, and 41?</a:t>
            </a:r>
            <a:endParaRPr b="0" i="0" sz="1400" u="none" cap="none" strike="noStrike">
              <a:solidFill>
                <a:srgbClr val="000000"/>
              </a:solidFill>
              <a:latin typeface="Arial"/>
              <a:ea typeface="Arial"/>
              <a:cs typeface="Arial"/>
              <a:sym typeface="Arial"/>
            </a:endParaRPr>
          </a:p>
        </p:txBody>
      </p:sp>
      <p:sp>
        <p:nvSpPr>
          <p:cNvPr id="9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44</a:t>
            </a:r>
          </a:p>
        </p:txBody>
      </p:sp>
      <p:sp xmlns:p="http://schemas.openxmlformats.org/presentationml/2006/main" xmlns:a="http://schemas.openxmlformats.org/drawingml/2006/main">
        <p:nvSpPr>
          <p:cNvPr id="98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a:t>
            </a:r>
            <a:endParaRPr lang="en-US" sz="2000"/>
          </a:p>
          <a:p>
            <a:pPr>
              <a:lnSpc>
                <a:spcPts val="2400"/>
              </a:lnSpc>
              <a:buNone/>
            </a:pPr>
            <a:r>
              <a:rPr lang="en-US" sz="2000">
                <a:solidFill>
                  <a:srgbClr val="174D60"/>
                </a:solidFill>
                <a:latin typeface="Arial"/>
              </a:rPr>
              <a:t>work with a partner; explain one</a:t>
            </a:r>
            <a:endParaRPr lang="en-US" sz="2000"/>
          </a:p>
          <a:p>
            <a:pPr>
              <a:lnSpc>
                <a:spcPts val="2400"/>
              </a:lnSpc>
              <a:buNone/>
            </a:pPr>
            <a:r>
              <a:rPr lang="en-US" sz="2000">
                <a:solidFill>
                  <a:srgbClr val="174D60"/>
                </a:solidFill>
                <a:latin typeface="Arial"/>
              </a:rPr>
              <a:t>choice and revise.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choosing the middle of the unsorted list.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paired values from the ends of the ordered list.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2" name="Google Shape;872;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3" name="Google Shape;873;p90"/>
          <p:cNvSpPr txBox="1"/>
          <p:nvPr/>
        </p:nvSpPr>
        <p:spPr>
          <a:xfrm>
            <a:off x="484564" y="3289589"/>
            <a:ext cx="6765981" cy="922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find the median of the new data set?​</a:t>
            </a:r>
            <a:endParaRPr b="0" i="0" sz="1400" u="none" cap="none" strike="noStrike">
              <a:solidFill>
                <a:srgbClr val="000000"/>
              </a:solidFill>
              <a:latin typeface="Arial"/>
              <a:ea typeface="Arial"/>
              <a:cs typeface="Arial"/>
              <a:sym typeface="Arial"/>
            </a:endParaRPr>
          </a:p>
        </p:txBody>
      </p:sp>
      <p:pic>
        <p:nvPicPr>
          <p:cNvPr id="874" name="Google Shape;874;p90"/>
          <p:cNvPicPr preferRelativeResize="0"/>
          <p:nvPr/>
        </p:nvPicPr>
        <p:blipFill rotWithShape="1">
          <a:blip r:embed="rId2">
            <a:alphaModFix/>
          </a:blip>
          <a:srcRect b="0" l="0" r="0" t="0"/>
          <a:stretch/>
        </p:blipFill>
        <p:spPr>
          <a:xfrm>
            <a:off x="7144327" y="1739611"/>
            <a:ext cx="4572000" cy="2990850"/>
          </a:xfrm>
          <a:prstGeom prst="rect">
            <a:avLst/>
          </a:prstGeom>
          <a:noFill/>
          <a:ln>
            <a:noFill/>
          </a:ln>
        </p:spPr>
      </p:pic>
      <p:sp>
        <p:nvSpPr>
          <p:cNvPr id="875" name="Google Shape;875;p90"/>
          <p:cNvSpPr txBox="1"/>
          <p:nvPr/>
        </p:nvSpPr>
        <p:spPr>
          <a:xfrm>
            <a:off x="484564" y="405850"/>
            <a:ext cx="6765981" cy="21488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Five more teachers were added to the data set. Their years of teaching experience are 5, 7, 14, 22, and 26. How do the additional data values affect the median?​</a:t>
            </a:r>
            <a:endParaRPr b="1" i="0" sz="2800" u="none" cap="none" strike="noStrike">
              <a:solidFill>
                <a:srgbClr val="262626"/>
              </a:solidFill>
              <a:latin typeface="Arial"/>
              <a:ea typeface="Arial"/>
              <a:cs typeface="Arial"/>
              <a:sym typeface="Arial"/>
            </a:endParaRPr>
          </a:p>
        </p:txBody>
      </p:sp>
      <p:sp>
        <p:nvSpPr>
          <p:cNvPr id="876" name="Google Shape;876;p90"/>
          <p:cNvSpPr txBox="1"/>
          <p:nvPr/>
        </p:nvSpPr>
        <p:spPr>
          <a:xfrm>
            <a:off x="484563" y="4730461"/>
            <a:ext cx="6520085"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arrange the values from least to greatest and find the middle value.</a:t>
            </a:r>
            <a:endParaRPr b="0" i="0" sz="1400" u="none" cap="none" strike="noStrike">
              <a:solidFill>
                <a:srgbClr val="000000"/>
              </a:solidFill>
              <a:latin typeface="Arial"/>
              <a:ea typeface="Arial"/>
              <a:cs typeface="Arial"/>
              <a:sym typeface="Arial"/>
            </a:endParaRPr>
          </a:p>
        </p:txBody>
      </p:sp>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44</a:t>
            </a:r>
          </a:p>
        </p:txBody>
      </p:sp>
      <p:sp xmlns:p="http://schemas.openxmlformats.org/presentationml/2006/main" xmlns:a="http://schemas.openxmlformats.org/drawingml/2006/main">
        <p:nvSpPr>
          <p:cNvPr id="877"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25" name="Google Shape;925;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6" name="Google Shape;926;p96"/>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927" name="Google Shape;927;p96"/>
          <p:cNvPicPr preferRelativeResize="0"/>
          <p:nvPr/>
        </p:nvPicPr>
        <p:blipFill rotWithShape="1">
          <a:blip r:embed="rId2">
            <a:alphaModFix/>
          </a:blip>
          <a:srcRect b="0" l="0" r="0" t="0"/>
          <a:stretch/>
        </p:blipFill>
        <p:spPr>
          <a:xfrm>
            <a:off x="558276" y="386230"/>
            <a:ext cx="353635" cy="340537"/>
          </a:xfrm>
          <a:prstGeom prst="rect">
            <a:avLst/>
          </a:prstGeom>
          <a:noFill/>
          <a:ln>
            <a:noFill/>
          </a:ln>
        </p:spPr>
      </p:pic>
      <p:sp>
        <p:nvSpPr>
          <p:cNvPr id="928" name="Google Shape;928;p96"/>
          <p:cNvSpPr txBox="1"/>
          <p:nvPr/>
        </p:nvSpPr>
        <p:spPr>
          <a:xfrm>
            <a:off x="558276" y="455487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add the two numbers and then divide the sum by 2.</a:t>
            </a:r>
            <a:endParaRPr b="0" i="0" sz="1400" u="none" cap="none" strike="noStrike">
              <a:solidFill>
                <a:srgbClr val="000000"/>
              </a:solidFill>
              <a:latin typeface="Arial"/>
              <a:ea typeface="Arial"/>
              <a:cs typeface="Arial"/>
              <a:sym typeface="Arial"/>
            </a:endParaRPr>
          </a:p>
        </p:txBody>
      </p:sp>
      <p:sp>
        <p:nvSpPr>
          <p:cNvPr id="929" name="Google Shape;929;p96"/>
          <p:cNvSpPr txBox="1"/>
          <p:nvPr/>
        </p:nvSpPr>
        <p:spPr>
          <a:xfrm>
            <a:off x="605507" y="3522571"/>
            <a:ext cx="7845766" cy="9753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find the value halfway between the two middle numbers?</a:t>
            </a:r>
            <a:endParaRPr b="0" i="0" sz="1400" u="none" cap="none" strike="noStrike">
              <a:solidFill>
                <a:srgbClr val="000000"/>
              </a:solidFill>
              <a:latin typeface="Arial"/>
              <a:ea typeface="Arial"/>
              <a:cs typeface="Arial"/>
              <a:sym typeface="Arial"/>
            </a:endParaRPr>
          </a:p>
        </p:txBody>
      </p:sp>
      <p:pic>
        <p:nvPicPr>
          <p:cNvPr id="930" name="Google Shape;930;p96"/>
          <p:cNvPicPr preferRelativeResize="0"/>
          <p:nvPr/>
        </p:nvPicPr>
        <p:blipFill rotWithShape="1">
          <a:blip r:embed="rId3">
            <a:alphaModFix/>
          </a:blip>
          <a:srcRect b="0" l="0" r="0" t="0"/>
          <a:stretch/>
        </p:blipFill>
        <p:spPr>
          <a:xfrm>
            <a:off x="605507" y="1667821"/>
            <a:ext cx="10896388" cy="1797755"/>
          </a:xfrm>
          <a:prstGeom prst="rect">
            <a:avLst/>
          </a:prstGeom>
          <a:noFill/>
          <a:ln>
            <a:noFill/>
          </a:ln>
        </p:spPr>
      </p:pic>
      <p:sp>
        <p:nvSpPr>
          <p:cNvPr id="33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44</a:t>
            </a:r>
          </a:p>
        </p:txBody>
      </p:sp>
      <p:sp xmlns:p="http://schemas.openxmlformats.org/presentationml/2006/main" xmlns:a="http://schemas.openxmlformats.org/drawingml/2006/main">
        <p:nvSpPr>
          <p:cNvPr id="931"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cxnSp>
        <p:nvCxnSpPr>
          <p:cNvPr id="983" name="Google Shape;983;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84" name="Google Shape;984;p102"/>
          <p:cNvPicPr preferRelativeResize="0"/>
          <p:nvPr/>
        </p:nvPicPr>
        <p:blipFill rotWithShape="1">
          <a:blip r:embed="rId3">
            <a:alphaModFix/>
          </a:blip>
          <a:srcRect b="0" l="0" r="0" t="0"/>
          <a:stretch/>
        </p:blipFill>
        <p:spPr>
          <a:xfrm>
            <a:off x="1102006" y="3901441"/>
            <a:ext cx="7793765" cy="2495092"/>
          </a:xfrm>
          <a:prstGeom prst="rect">
            <a:avLst/>
          </a:prstGeom>
          <a:noFill/>
          <a:ln>
            <a:noFill/>
          </a:ln>
        </p:spPr>
      </p:pic>
      <p:sp>
        <p:nvSpPr>
          <p:cNvPr id="985" name="Google Shape;985;p102"/>
          <p:cNvSpPr txBox="1"/>
          <p:nvPr/>
        </p:nvSpPr>
        <p:spPr>
          <a:xfrm>
            <a:off x="521450" y="1409412"/>
            <a:ext cx="9416878" cy="2654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600"/>
              <a:buFont typeface="Arial"/>
              <a:buNone/>
              <a:defRPr/>
            </a:pPr>
            <a:r>
              <a:rPr b="0" i="0" lang="en-US" sz="2600" u="none" cap="none" strike="noStrike">
                <a:solidFill>
                  <a:srgbClr val="23282D"/>
                </a:solidFill>
                <a:latin typeface="Arial"/>
                <a:ea typeface="Arial"/>
                <a:cs typeface="Arial"/>
                <a:sym typeface="Arial"/>
              </a:rPr>
              <a:t>A measure of center used to describe a numerical data set is the median, which is the middle value when the data are ordered from least to greatest. When the number of values in a data set is odd, the median is the middle data value. When the number of values in a data set is even, the median is the sum of the two middle values divided by 2.</a:t>
            </a:r>
            <a:endParaRPr b="0" i="0" sz="1400" u="none" cap="none" strike="noStrike">
              <a:solidFill>
                <a:srgbClr val="000000"/>
              </a:solidFill>
              <a:latin typeface="Arial"/>
              <a:ea typeface="Arial"/>
              <a:cs typeface="Arial"/>
              <a:sym typeface="Arial"/>
            </a:endParaRPr>
          </a:p>
        </p:txBody>
      </p:sp>
      <p:sp>
        <p:nvSpPr>
          <p:cNvPr id="986" name="Google Shape;986;p102"/>
          <p:cNvSpPr txBox="1"/>
          <p:nvPr/>
        </p:nvSpPr>
        <p:spPr>
          <a:xfrm>
            <a:off x="484565" y="316034"/>
            <a:ext cx="6276453" cy="82696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Describe Data Using the Median​</a:t>
            </a:r>
            <a:endParaRPr b="0" i="0" sz="1400" u="none" cap="none" strike="noStrike">
              <a:solidFill>
                <a:srgbClr val="000000"/>
              </a:solidFill>
              <a:latin typeface="Arial"/>
              <a:ea typeface="Arial"/>
              <a:cs typeface="Arial"/>
              <a:sym typeface="Arial"/>
            </a:endParaRPr>
          </a:p>
        </p:txBody>
      </p:sp>
      <p:sp>
        <p:nvSpPr>
          <p:cNvPr id="9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44</a:t>
            </a:r>
          </a:p>
        </p:txBody>
      </p:sp>
      <p:sp>
        <p:nvSpPr>
          <p:cNvPr id="98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cxnSp>
        <p:nvCxnSpPr>
          <p:cNvPr id="991" name="Google Shape;991;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992" name="Google Shape;992;p103"/>
          <p:cNvPicPr preferRelativeResize="0"/>
          <p:nvPr/>
        </p:nvPicPr>
        <p:blipFill rotWithShape="1">
          <a:blip r:embed="rId3">
            <a:alphaModFix/>
          </a:blip>
          <a:srcRect b="0" l="0" r="0" t="0"/>
          <a:stretch/>
        </p:blipFill>
        <p:spPr>
          <a:xfrm>
            <a:off x="7420967" y="2152936"/>
            <a:ext cx="3774660" cy="3041505"/>
          </a:xfrm>
          <a:prstGeom prst="rect">
            <a:avLst/>
          </a:prstGeom>
          <a:noFill/>
          <a:ln>
            <a:noFill/>
          </a:ln>
        </p:spPr>
      </p:pic>
      <p:sp>
        <p:nvSpPr>
          <p:cNvPr id="993" name="Google Shape;993;p103"/>
          <p:cNvSpPr txBox="1"/>
          <p:nvPr/>
        </p:nvSpPr>
        <p:spPr>
          <a:xfrm>
            <a:off x="484564" y="927528"/>
            <a:ext cx="6719800" cy="54923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Terrance is helping his grandmother sell her house. He uses a real estate website to look at the recent sale prices of similarly-sized houses in their area and collects the information in the table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 xml:space="preserve">Question: </a:t>
            </a:r>
            <a:r>
              <a:rPr b="0" i="0" lang="en-US" sz="2800" u="none" cap="none" strike="noStrike">
                <a:solidFill>
                  <a:srgbClr val="23282D"/>
                </a:solidFill>
                <a:latin typeface="Arial"/>
                <a:ea typeface="Arial"/>
                <a:cs typeface="Arial"/>
                <a:sym typeface="Arial"/>
              </a:rPr>
              <a:t>What do you think would be a fair, but competitive selling price for Terrance’s grandmother’s house?</a:t>
            </a:r>
            <a:endParaRPr b="0" i="0" sz="1400" u="none" cap="none" strike="noStrike">
              <a:solidFill>
                <a:srgbClr val="000000"/>
              </a:solidFill>
              <a:latin typeface="Arial"/>
              <a:ea typeface="Arial"/>
              <a:cs typeface="Arial"/>
              <a:sym typeface="Arial"/>
            </a:endParaRPr>
          </a:p>
        </p:txBody>
      </p:sp>
      <p:sp>
        <p:nvSpPr>
          <p:cNvPr id="994" name="Google Shape;994;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Real Estate</a:t>
            </a:r>
            <a:endParaRPr b="0" i="0" sz="1400" u="none" cap="none" strike="noStrike">
              <a:solidFill>
                <a:srgbClr val="000000"/>
              </a:solidFill>
              <a:latin typeface="Arial"/>
              <a:ea typeface="Arial"/>
              <a:cs typeface="Arial"/>
              <a:sym typeface="Arial"/>
            </a:endParaRPr>
          </a:p>
        </p:txBody>
      </p:sp>
      <p:sp>
        <p:nvSpPr>
          <p:cNvPr id="99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44</a:t>
            </a:r>
          </a:p>
        </p:txBody>
      </p:sp>
      <p:sp>
        <p:nvSpPr>
          <p:cNvPr id="99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cxnSp>
        <p:nvCxnSpPr>
          <p:cNvPr id="999" name="Google Shape;999;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0" name="Google Shape;1000;p104"/>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I can use the median to describe a data set.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use repeated reasoning to describe a data set using the median.</a:t>
            </a:r>
            <a:endParaRPr b="0" i="0" sz="1400" u="none" cap="none" strike="noStrike">
              <a:solidFill>
                <a:srgbClr val="000000"/>
              </a:solidFill>
              <a:latin typeface="Arial"/>
              <a:ea typeface="Arial"/>
              <a:cs typeface="Arial"/>
              <a:sym typeface="Arial"/>
            </a:endParaRPr>
          </a:p>
        </p:txBody>
      </p:sp>
      <p:sp>
        <p:nvSpPr>
          <p:cNvPr id="1001" name="Google Shape;1001;p10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44</a:t>
            </a:r>
          </a:p>
        </p:txBody>
      </p:sp>
      <p:grpSp>
        <p:nvGrpSpPr>
          <p:cNvPr id="1003" name="TEACH-1-student-move" descr="TEACH 1 · Facilitate clear, standards-based content learning"/>
          <p:cNvGrpSpPr/>
          <p:nvPr/>
        </p:nvGrpSpPr>
        <p:grpSpPr>
          <a:xfrm>
            <a:off x="502920" y="5472790"/>
            <a:ext cx="11186160" cy="402336"/>
            <a:chOff x="502920" y="5472790"/>
            <a:chExt cx="11186160" cy="402336"/>
          </a:xfrm>
        </p:grpSpPr>
        <p:sp>
          <p:nvSpPr>
            <p:cNvPr id="1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2.3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Order the values.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23 / 44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44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2-3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44</a:t>
            </a:r>
          </a:p>
        </p:txBody>
      </p:sp>
    </p:spTree>
  </p:cSld>
  <p:clrMapOvr>
    <a:masterClrMapping/>
  </p:clrMapOvr>
</p:sld>
</file>

<file path=ppt/theme/theme1.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2.3 — Describe the Data Using the Median</dc:title>
  <dc:creator>Neft Teacher</dc:creator>
  <cp:lastModifiedBy>Neft Teacher</cp:lastModifiedBy>
  <dcterms:created xsi:type="dcterms:W3CDTF">2026-09-30T12:04:43Z</dcterms:created>
  <dcterms:modified xsi:type="dcterms:W3CDTF">2026-09-30T12:04:43Z</dcterms:modified>
</cp:coreProperties>
</file>