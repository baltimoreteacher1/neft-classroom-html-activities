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64.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9" r:id="rId23"/>
    <p:sldId id="270" r:id="rId24"/>
    <p:sldId id="256" r:id="rId10"/>
    <p:sldId id="257" r:id="rId11"/>
    <p:sldId id="260" r:id="rId14"/>
    <p:sldId id="340" r:id="rId81"/>
    <p:sldId id="339" r:id="rId50"/>
    <p:sldId id="338" r:id="rId49"/>
    <p:sldId id="337" r:id="rId48"/>
    <p:sldId id="336" r:id="rId47"/>
    <p:sldId id="335" r:id="rId33"/>
    <p:sldId id="334" r:id="rId45"/>
    <p:sldId id="333" r:id="rId44"/>
    <p:sldId id="261" r:id="rId15"/>
    <p:sldId id="272" r:id="rId26"/>
    <p:sldId id="273" r:id="rId27"/>
    <p:sldId id="277" r:id="rId31"/>
    <p:sldId id="278" r:id="rId32"/>
    <p:sldId id="280" r:id="rId34"/>
    <p:sldId id="284" r:id="rId38"/>
    <p:sldId id="344" r:id="rId85"/>
    <p:sldId id="288" r:id="rId42"/>
    <p:sldId id="292" r:id="rId46"/>
    <p:sldId id="298" r:id="rId52"/>
    <p:sldId id="341" r:id="rId82"/>
    <p:sldId id="332" r:id="rId43"/>
    <p:sldId id="331" r:id="rId35"/>
    <p:sldId id="330" r:id="rId41"/>
    <p:sldId id="324" r:id="rId79"/>
    <p:sldId id="345" r:id="rId86"/>
    <p:sldId id="325" r:id="rId80"/>
    <p:sldId id="299" r:id="rId53"/>
    <p:sldId id="301" r:id="rId55"/>
    <p:sldId id="302" r:id="rId56"/>
    <p:sldId id="346" r:id="rId87"/>
    <p:sldId id="329" r:id="rId40"/>
    <p:sldId id="328" r:id="rId39"/>
    <p:sldId id="327" r:id="rId36"/>
    <p:sldId id="310" r:id="rId64"/>
    <p:sldId id="319" r:id="rId73"/>
    <p:sldId id="342" r:id="rId83"/>
    <p:sldId id="321" r:id="rId75"/>
    <p:sldId id="322" r:id="rId76"/>
    <p:sldId id="347" r:id="rId88"/>
    <p:sldId id="323" r:id="rId77"/>
    <p:sldId id="326" r:id="rId37"/>
    <p:sldId id="343" r:id="rId84"/>
  </p:sldIdLst>
  <p:sldSz cy="6858000" cx="12192000"/>
  <p:notesSz cx="7010400" cy="9236075"/>
  <p:embeddedFontLst>
    <p:embeddedFont>
      <p:font typeface="Cambria Math"/>
      <p:regular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FDBBD7-B2DC-4E19-A09C-18F46899E3C5}">
  <a:tblStyle styleId="{6FFDBBD7-B2DC-4E19-A09C-18F46899E3C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5.xml"/><Relationship Id="rId23" Type="http://schemas.openxmlformats.org/officeDocument/2006/relationships/slide" Target="slides/slide2.xml"/><Relationship Id="rId24" Type="http://schemas.openxmlformats.org/officeDocument/2006/relationships/slide" Target="slides/slide3.xml"/><Relationship Id="rId26" Type="http://schemas.openxmlformats.org/officeDocument/2006/relationships/slide" Target="slides/slide16.xml"/><Relationship Id="rId27"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12.xml"/><Relationship Id="rId34" Type="http://schemas.openxmlformats.org/officeDocument/2006/relationships/slide" Target="slides/slide20.xml"/><Relationship Id="rId35" Type="http://schemas.openxmlformats.org/officeDocument/2006/relationships/slide" Target="slides/slide27.xml"/><Relationship Id="rId36" Type="http://schemas.openxmlformats.org/officeDocument/2006/relationships/slide" Target="slides/slide36.xml"/><Relationship Id="rId37" Type="http://schemas.openxmlformats.org/officeDocument/2006/relationships/slide" Target="slides/slide43.xml"/><Relationship Id="rId38" Type="http://schemas.openxmlformats.org/officeDocument/2006/relationships/slide" Target="slides/slide21.xml"/><Relationship Id="rId39" Type="http://schemas.openxmlformats.org/officeDocument/2006/relationships/slide" Target="slides/slide35.xml"/><Relationship Id="rId40" Type="http://schemas.openxmlformats.org/officeDocument/2006/relationships/slide" Target="slides/slide34.xml"/><Relationship Id="rId41" Type="http://schemas.openxmlformats.org/officeDocument/2006/relationships/slide" Target="slides/slide28.xml"/><Relationship Id="rId42" Type="http://schemas.openxmlformats.org/officeDocument/2006/relationships/slide" Target="slides/slide22.xml"/><Relationship Id="rId43" Type="http://schemas.openxmlformats.org/officeDocument/2006/relationships/slide" Target="slides/slide26.xml"/><Relationship Id="rId44" Type="http://schemas.openxmlformats.org/officeDocument/2006/relationships/slide" Target="slides/slide14.xml"/><Relationship Id="rId45" Type="http://schemas.openxmlformats.org/officeDocument/2006/relationships/slide" Target="slides/slide13.xml"/><Relationship Id="rId46" Type="http://schemas.openxmlformats.org/officeDocument/2006/relationships/slide" Target="slides/slide23.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9.xml"/><Relationship Id="rId50" Type="http://schemas.openxmlformats.org/officeDocument/2006/relationships/slide" Target="slides/slide8.xml"/><Relationship Id="rId52" Type="http://schemas.openxmlformats.org/officeDocument/2006/relationships/slide" Target="slides/slide24.xml"/><Relationship Id="rId53" Type="http://schemas.openxmlformats.org/officeDocument/2006/relationships/slide" Target="slides/slide31.xml"/><Relationship Id="rId55" Type="http://schemas.openxmlformats.org/officeDocument/2006/relationships/slide" Target="slides/slide32.xml"/><Relationship Id="rId56" Type="http://schemas.openxmlformats.org/officeDocument/2006/relationships/slide" Target="slides/slide33.xml"/><Relationship Id="rId64" Type="http://schemas.openxmlformats.org/officeDocument/2006/relationships/slide" Target="slides/slide37.xml"/><Relationship Id="rId73" Type="http://schemas.openxmlformats.org/officeDocument/2006/relationships/slide" Target="slides/slide38.xml"/><Relationship Id="rId75" Type="http://schemas.openxmlformats.org/officeDocument/2006/relationships/slide" Target="slides/slide40.xml"/><Relationship Id="rId76" Type="http://schemas.openxmlformats.org/officeDocument/2006/relationships/slide" Target="slides/slide41.xml"/><Relationship Id="rId77" Type="http://schemas.openxmlformats.org/officeDocument/2006/relationships/slide" Target="slides/slide42.xml"/><Relationship Id="rId78" Type="http://schemas.openxmlformats.org/officeDocument/2006/relationships/font" Target="fonts/CambriaMath-regular.fntdata"/><Relationship Id="rId79" Type="http://schemas.openxmlformats.org/officeDocument/2006/relationships/slide" Target="slides/slide29.xml"/><Relationship Id="rId80" Type="http://schemas.openxmlformats.org/officeDocument/2006/relationships/slide" Target="slides/slide30.xml"/><Relationship Id="rId81" Type="http://schemas.openxmlformats.org/officeDocument/2006/relationships/slide" Target="slides/slide7.xml"/><Relationship Id="rId82" Type="http://schemas.openxmlformats.org/officeDocument/2006/relationships/slide" Target="slides/slide25.xml"/><Relationship Id="rId83" Type="http://schemas.openxmlformats.org/officeDocument/2006/relationships/slide" Target="slides/slide39.xml"/><Relationship Id="rId84" Type="http://schemas.openxmlformats.org/officeDocument/2006/relationships/slide" Target="slides/slide44.xml"/><Relationship Id="rId85" Type="http://schemas.openxmlformats.org/officeDocument/2006/relationships/slide" Target="slides/slide45.xml"/><Relationship Id="rId86" Type="http://schemas.openxmlformats.org/officeDocument/2006/relationships/slide" Target="slides/slide46.xml"/><Relationship Id="rId87" Type="http://schemas.openxmlformats.org/officeDocument/2006/relationships/slide" Target="slides/slide47.xml"/><Relationship Id="rId88"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4 | DIVIDER</a:t>
            </a:r>
          </a:p>
          <a:p xmlns:a="http://schemas.openxmlformats.org/drawingml/2006/main">
            <a:pPr>
              <a:buNone/>
            </a:pPr>
            <a:r>
              <a:rPr lang="en-US" sz="1100"/>
              <a:t>Focus on the existing task: Choose Appropriate Measures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5 | WORKED</a:t>
            </a:r>
          </a:p>
          <a:p xmlns:a="http://schemas.openxmlformats.org/drawingml/2006/main">
            <a:pPr>
              <a:buNone/>
            </a:pPr>
            <a:r>
              <a:rPr lang="en-US" sz="1100"/>
              <a:t>Focus on the existing task: Give Me Five Use all the numbers in any order with any operation to equal the target number (in red).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1 | WARMUP</a:t>
            </a:r>
          </a:p>
          <a:p xmlns:a="http://schemas.openxmlformats.org/drawingml/2006/main">
            <a:pPr>
              <a:buNone/>
            </a:pPr>
            <a:r>
              <a:rPr lang="en-US" sz="1100"/>
              <a:t>Focus on the existing task: Warm-Up WARM-UP · THINK • TRY • CHECK Do these four on your…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4   2) 50   3) stretched to the right   4) mean</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use shape and outliers to justify a measure of center and variation. Review recent work and today’s warm-up to choose flexible groups and access supports; do not infer needs from identity or perceived ability. Use the existing lesson tasks and stated standards.</a:t>
            </a:r>
          </a:p>
          <a:p>
            <a:pPr>
              <a:buNone/>
            </a:pPr>
            <a:r>
              <a:rPr lang="en-US" sz="1100"/>
              <a:t>Anticipate: choosing mean automatically even when an outlier pulls it. If observed, annotate clusters, gaps and outliers on the original display before comparing measures.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6 | GOAL</a:t>
            </a:r>
          </a:p>
          <a:p xmlns:a="http://schemas.openxmlformats.org/drawingml/2006/main">
            <a:pPr>
              <a:buNone/>
            </a:pPr>
            <a:r>
              <a:rPr lang="en-US" sz="1100"/>
              <a:t>Focus on the existing task: Today’s Objectives Choose Appropriate Measures Maryland…</a:t>
            </a:r>
          </a:p>
          <a:p xmlns:a="http://schemas.openxmlformats.org/drawingml/2006/main">
            <a:pPr>
              <a:buNone/>
            </a:pPr>
            <a:r>
              <a:rPr lang="en-US" sz="1100"/>
              <a:t>CONNECT (T1/4): Ask students to restate the displayed goal or key idea and connect it to earlier work. Relevant lesson evidence: use shape and outliers to justify a measure of center and variation.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shape and outliers to justify a measure of center and variation.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15 | VOCAB</a:t>
            </a:r>
          </a:p>
          <a:p xmlns:a="http://schemas.openxmlformats.org/drawingml/2006/main">
            <a:pPr>
              <a:buNone/>
            </a:pPr>
            <a:r>
              <a:rPr lang="en-US" sz="1100"/>
              <a:t>Focus on the existing task: Vocabulary Today’s Math Words We learn every word — what it…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9" name="Google Shape;519;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3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7" name="Google Shape;547;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16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82" name="Google Shape;582;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17 | TASK</a:t>
            </a:r>
          </a:p>
          <a:p xmlns:a="http://schemas.openxmlformats.org/drawingml/2006/main">
            <a:pPr>
              <a:buNone/>
            </a:pPr>
            <a:r>
              <a:rPr lang="en-US" sz="1100"/>
              <a:t>Focus on the existing task: Teaching Experience The students want to describe the data they collected about the number of years of teaching experience of the teachers…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the distribution support your choice of center and spread? What would the other measure emphasize?” Wait for evidence, invite another pathway, and have a student ask a follow-up question. Do not replace students’ reasoning with a sequence of leading steps.</a:t>
            </a:r>
          </a:p>
        </p:txBody>
      </p:sp>
      <p:sp>
        <p:nvSpPr>
          <p:cNvPr id="594" name="Google Shape;594;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18 | REVEAL</a:t>
            </a:r>
          </a:p>
          <a:p xmlns:a="http://schemas.openxmlformats.org/drawingml/2006/main">
            <a:pPr>
              <a:buNone/>
            </a:pPr>
            <a:r>
              <a:rPr lang="en-US" sz="1100"/>
              <a:t>Focus on the existing task: Let’s use a dot plot to analyze the distribution. What do you notice about the distribution of the data?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There are two groups of data on the left, with space between them, and one value on the far right.</a:t>
            </a:r>
          </a:p>
          <a:p>
            <a:pPr indent="0" lvl="0" marL="0" rtl="0" algn="l">
              <a:lnSpc>
                <a:spcPct val="100000"/>
              </a:lnSpc>
              <a:spcBef>
                <a:spcPts val="0"/>
              </a:spcBef>
              <a:spcAft>
                <a:spcPts val="0"/>
              </a:spcAft>
              <a:buSzPts val="1400"/>
              <a:buNone/>
            </a:pPr>
            <a:r>
              <a:t>UIFR: TEACH 3 · TEACH 4.</a:t>
            </a:r>
          </a:p>
        </p:txBody>
      </p:sp>
      <p:sp>
        <p:nvSpPr>
          <p:cNvPr id="629" name="Google Shape;629;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19 | TASK</a:t>
            </a:r>
          </a:p>
          <a:p xmlns:a="http://schemas.openxmlformats.org/drawingml/2006/main">
            <a:pPr>
              <a:buNone/>
            </a:pPr>
            <a:r>
              <a:rPr lang="en-US" sz="1100"/>
              <a:t>Focus on the existing task: The two groups of data are called clusters. A cluster occurs when data values are grouped together. What do you notice about the data value of 32?</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38" name="Google Shape;638;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20 | REVEAL</a:t>
            </a:r>
          </a:p>
          <a:p xmlns:a="http://schemas.openxmlformats.org/drawingml/2006/main">
            <a:pPr>
              <a:buNone/>
            </a:pPr>
            <a:r>
              <a:rPr lang="en-US" sz="1100"/>
              <a:t>Focus on the existing task: There is a large gap between the 32 and the next closest data value. 32 is called an outlier. What do you notice about the shape of the distribution?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data is not symmetric. Almost all the values are grouped on the left.</a:t>
            </a:r>
          </a:p>
          <a:p>
            <a:pPr indent="0" lvl="0" marL="0" rtl="0" algn="l">
              <a:lnSpc>
                <a:spcPct val="100000"/>
              </a:lnSpc>
              <a:spcBef>
                <a:spcPts val="0"/>
              </a:spcBef>
              <a:spcAft>
                <a:spcPts val="0"/>
              </a:spcAft>
              <a:buSzPts val="1400"/>
              <a:buNone/>
            </a:pPr>
            <a:r>
              <a:t>UIFR: TEACH 3 · TEACH 4.</a:t>
            </a:r>
          </a:p>
        </p:txBody>
      </p:sp>
      <p:sp>
        <p:nvSpPr>
          <p:cNvPr id="656" name="Google Shape;656;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21 | WORKED</a:t>
            </a:r>
          </a:p>
          <a:p xmlns:a="http://schemas.openxmlformats.org/drawingml/2006/main">
            <a:pPr>
              <a:buNone/>
            </a:pPr>
            <a:r>
              <a:rPr lang="en-US" sz="1100"/>
              <a:t>Focus on the existing task: Let’s find the mean and median of the data. Data Set Teaching Experience (years) 2 4 7 3 4 32 3 2 8 3 3 7 9 10 4 4 2 2 3 11 9 7 3 8…</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89" name="Google Shape;689;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22 | REVEAL</a:t>
            </a:r>
          </a:p>
          <a:p xmlns:a="http://schemas.openxmlformats.org/drawingml/2006/main">
            <a:pPr>
              <a:buNone/>
            </a:pPr>
            <a:r>
              <a:rPr lang="en-US" sz="1100"/>
              <a:t>Focus on the existing task: What do you notice about the mean and median?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mean is greater than the median. The median is closer to the center of most of the data.</a:t>
            </a:r>
          </a:p>
          <a:p>
            <a:pPr indent="0" lvl="0" marL="0" rtl="0" algn="l">
              <a:lnSpc>
                <a:spcPct val="100000"/>
              </a:lnSpc>
              <a:spcBef>
                <a:spcPts val="0"/>
              </a:spcBef>
              <a:spcAft>
                <a:spcPts val="0"/>
              </a:spcAft>
              <a:buSzPts val="1400"/>
              <a:buNone/>
            </a:pPr>
            <a:r>
              <a:t>UIFR: TEACH 3 · TEACH 4.</a:t>
            </a:r>
          </a:p>
        </p:txBody>
      </p:sp>
      <p:sp>
        <p:nvSpPr>
          <p:cNvPr id="731" name="Google Shape;731;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23 | TASK</a:t>
            </a:r>
          </a:p>
          <a:p xmlns:a="http://schemas.openxmlformats.org/drawingml/2006/main">
            <a:pPr>
              <a:buNone/>
            </a:pPr>
            <a:r>
              <a:rPr lang="en-US" sz="1100"/>
              <a:t>Focus on the existing task: When a data set is skewed or has an outlier, the mean is also skewed. So, the median is a better measure of center. mean = 6.08 median = 4 Think About It: How is the mean affected by the outlier?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771" name="Google Shape;771;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24 | PRACTICE</a:t>
            </a:r>
          </a:p>
          <a:p xmlns:a="http://schemas.openxmlformats.org/drawingml/2006/main">
            <a:pPr>
              <a:buNone/>
            </a:pPr>
            <a:r>
              <a:rPr lang="en-US" sz="1100"/>
              <a:t>Focus on the existing task: Let’s Explore More What might be reasons that the teaching experience data set is skewed?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choosing mean automatically even when an outlier pulls it. If it appears, annotate clusters, gaps and outliers on the original display before comparing measures; then ask the student to revise the same response and explain the change. If evidence is secure, have students compare a second valid pathway or state why their approach works. Choose the next step from the responses, not a preset pace.</a:t>
            </a:r>
          </a:p>
        </p:txBody>
      </p:sp>
      <p:sp>
        <p:nvSpPr>
          <p:cNvPr id="824" name="Google Shape;824;p4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31 | DIVIDER</a:t>
            </a:r>
          </a:p>
          <a:p xmlns:a="http://schemas.openxmlformats.org/drawingml/2006/main">
            <a:pPr>
              <a:buNone/>
            </a:pPr>
            <a:r>
              <a:rPr lang="en-US" sz="1100"/>
              <a:t>Focus on the existing task: Choose Appropriate Measures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33" name="Google Shape;833;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32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851" name="Google Shape;851;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33 | TASK</a:t>
            </a:r>
          </a:p>
          <a:p xmlns:a="http://schemas.openxmlformats.org/drawingml/2006/main">
            <a:pPr>
              <a:buNone/>
            </a:pPr>
            <a:r>
              <a:rPr lang="en-US" sz="1100"/>
              <a:t>Focus on the existing task: Long Jumps Brielle participated in the long jump in ten track meets. Her jump lengths are shown. Which measure of center and measure of variation can be used to describe the data?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the distribution support your choice of center and spread? What would the other measure emphasize?” Wait for evidence, invite another pathway, and have a student ask a follow-up question. Do not replace students’ reasoning with a sequence of leading steps.</a:t>
            </a:r>
          </a:p>
        </p:txBody>
      </p:sp>
      <p:sp>
        <p:nvSpPr>
          <p:cNvPr id="863" name="Google Shape;863;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37 | REVEAL</a:t>
            </a:r>
          </a:p>
          <a:p xmlns:a="http://schemas.openxmlformats.org/drawingml/2006/main">
            <a:pPr>
              <a:buNone/>
            </a:pPr>
            <a:r>
              <a:rPr lang="en-US" sz="1100"/>
              <a:t>Focus on the existing task: When data are symmetric, the mean is an appropriate measure of center to summarize the data because there are no outliers to skew the mean. What measure of variation should we use with the mean?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33" name="Google Shape;933;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38 | PRACTICE</a:t>
            </a:r>
          </a:p>
          <a:p xmlns:a="http://schemas.openxmlformats.org/drawingml/2006/main">
            <a:pPr>
              <a:buNone/>
            </a:pPr>
            <a:r>
              <a:rPr lang="en-US" sz="1100"/>
              <a:t>Focus on the existing task: Let’s Explore More Suppose that Brielle had two more jumps: 1.7 meters and 0.5 meter. How would these two additional data points affect the median and mean?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choosing mean automatically even when an outlier pulls it. If it appears, annotate clusters, gaps and outliers on the original display before comparing measures; then ask the student to revise the same response and explain the change. If evidence is secure, have students compare a second valid pathway or state why their approach works. Choose the next step from the responses, not a preset pace.</a:t>
            </a:r>
          </a:p>
        </p:txBody>
      </p:sp>
      <p:sp>
        <p:nvSpPr>
          <p:cNvPr id="1020" name="Google Shape;1020;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6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40 | SUMMARIZE</a:t>
            </a:r>
          </a:p>
          <a:p xmlns:a="http://schemas.openxmlformats.org/drawingml/2006/main">
            <a:pPr>
              <a:buNone/>
            </a:pPr>
            <a:r>
              <a:rPr lang="en-US" sz="1100"/>
              <a:t>Focus on the existing task: The data set is symmetric. Mean and mean absolute deviation are appropriate measures. Summarize: Choose Appropriate Measures (continued)…</a:t>
            </a:r>
          </a:p>
          <a:p xmlns:a="http://schemas.openxmlformats.org/drawingml/2006/main">
            <a:pPr>
              <a:buNone/>
            </a:pPr>
            <a:r>
              <a:rPr lang="en-US" sz="1100"/>
              <a:t>CONNECT (T1/4): Ask students to restate the displayed goal or key idea and connect it to earlier work. Relevant lesson evidence: use shape and outliers to justify a measure of center and variation.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38" name="Google Shape;1038;p6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6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41 | APPLY</a:t>
            </a:r>
          </a:p>
          <a:p xmlns:a="http://schemas.openxmlformats.org/drawingml/2006/main">
            <a:pPr>
              <a:buNone/>
            </a:pPr>
            <a:r>
              <a:rPr lang="en-US" sz="1100"/>
              <a:t>Focus on the existing task: Apply: Presidential Terms A presidential term in the United States is four years. In 1947, Congress passed an amendment to limit the…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use shape and outliers to justify a measure of center and variation. Respond with one specific next step tied to the work. Students revise and annotate what changed, then identify a criterion they can now demonstrate and one they still need to practice.</a:t>
            </a:r>
          </a:p>
        </p:txBody>
      </p:sp>
      <p:sp>
        <p:nvSpPr>
          <p:cNvPr id="1046" name="Google Shape;1046;p6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6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2.10, slide 42 | REFLECTION</a:t>
            </a:r>
          </a:p>
          <a:p xmlns:a="http://schemas.openxmlformats.org/drawingml/2006/main">
            <a:pPr>
              <a:buNone/>
            </a:pPr>
            <a:r>
              <a:rPr lang="en-US" sz="1100"/>
              <a:t>Focus on the existing task: Learning Targets I can determine the most appropriate measure of center and measure of variation to describe the data in relation to its…</a:t>
            </a:r>
          </a:p>
          <a:p xmlns:a="http://schemas.openxmlformats.org/drawingml/2006/main">
            <a:pPr>
              <a:buNone/>
            </a:pPr>
            <a:r>
              <a:rPr lang="en-US" sz="1100"/>
              <a:t>CONNECT (T1/4): Ask students to restate the displayed goal or key idea and connect it to earlier work. Relevant lesson evidence: use shape and outliers to justify a measure of center and variation.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54" name="Google Shape;1054;p6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2.10, slide 29 | WARMUP</a:t>
            </a:r>
          </a:p>
          <a:p xmlns:a="http://schemas.openxmlformats.org/drawingml/2006/main">
            <a:pPr>
              <a:buNone/>
            </a:pPr>
            <a:r>
              <a:rPr lang="en-US" sz="1100"/>
              <a:t>Focus on the existing task: A MAD B IQR C Mean D Standard error 4 Why avoid the mean for data with extreme outliers?</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shape and outliers to justify a measure of center and variation. Ask: “Which part of your work would show this?” Revisit that evidence after the task; a confidence rating alone is not evidence of understanding.</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2.10, slide 30 | NOTES</a:t>
            </a:r>
          </a:p>
          <a:p xmlns:a="http://schemas.openxmlformats.org/drawingml/2006/main">
            <a:pPr>
              <a:buNone/>
            </a:pPr>
            <a:r>
              <a:rPr lang="en-US" sz="1100"/>
              <a:t>Focus on the existing task: Review Notes Review Notes — Session 2 Copy into your notebook…</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43 | REFLECTION</a:t>
            </a:r>
          </a:p>
          <a:p xmlns:a="http://schemas.openxmlformats.org/drawingml/2006/main">
            <a:pPr>
              <a:buNone/>
            </a:pPr>
            <a:r>
              <a:rPr lang="en-US" sz="1100"/>
              <a:t>Focus on the existing task: Learning Targets I can determine the most appropriate measure of center and measure of variation to describe the data in relation to its…</a:t>
            </a:r>
          </a:p>
          <a:p xmlns:a="http://schemas.openxmlformats.org/drawingml/2006/main">
            <a:pPr>
              <a:buNone/>
            </a:pPr>
            <a:r>
              <a:rPr lang="en-US" sz="1100"/>
              <a:t>CONNECT (T1/4): Ask students to restate the displayed goal or key idea and connect it to earlier work. Relevant lesson evidence: use shape and outliers to justify a measure of center and variation.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choosing mean automatically even when an outlier pulls it.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annotate clusters, gaps and outliers on the original display before comparing measures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7 | PRIOR_INSERT</a:t>
            </a:r>
          </a:p>
          <a:p xmlns:a="http://schemas.openxmlformats.org/drawingml/2006/main">
            <a:pPr>
              <a:buNone/>
            </a:pPr>
            <a:r>
              <a:rPr lang="en-US" sz="1100"/>
              <a:t>Focus on the existing task: LESSON 2.10 / OUR LEARNING What will show your learning?</a:t>
            </a:r>
          </a:p>
          <a:p xmlns:a="http://schemas.openxmlformats.org/drawingml/2006/main">
            <a:pPr>
              <a:buNone/>
            </a:pPr>
            <a:r>
              <a:rPr lang="en-US" sz="1100"/>
              <a:t>CONNECT (T1/4): Ask students to restate the displayed goal or key idea and connect it to earlier work. Relevant lesson evidence: use shape and outliers to justify a measure of center and variation.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8 | VOCAB</a:t>
            </a:r>
          </a:p>
          <a:p xmlns:a="http://schemas.openxmlformats.org/drawingml/2006/main">
            <a:pPr>
              <a:buNone/>
            </a:pPr>
            <a:r>
              <a:rPr lang="en-US" sz="1100"/>
              <a:t>Focus on the existing task: Vocabulary 1 of 7 Appropriate Measures of Center A mean…</a:t>
            </a:r>
          </a:p>
          <a:p xmlns:a="http://schemas.openxmlformats.org/drawingml/2006/main">
            <a:pPr>
              <a:buNone/>
            </a:pPr>
            <a:r>
              <a:rPr lang="en-US" sz="1100"/>
              <a:t>ASK (T1/3/5): Where does “Appropriate Measures of Center”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9 | VOCAB</a:t>
            </a:r>
          </a:p>
          <a:p xmlns:a="http://schemas.openxmlformats.org/drawingml/2006/main">
            <a:pPr>
              <a:buNone/>
            </a:pPr>
            <a:r>
              <a:rPr lang="en-US" sz="1100"/>
              <a:t>Focus on the existing task: Vocabulary 2 of 7 Mean The average. Add all the numbers, then…</a:t>
            </a:r>
          </a:p>
          <a:p xmlns:a="http://schemas.openxmlformats.org/drawingml/2006/main">
            <a:pPr>
              <a:buNone/>
            </a:pPr>
            <a:r>
              <a:rPr lang="en-US" sz="1100"/>
              <a:t>ASK (T1/3/5): Where does “Mean”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10 | VOCAB</a:t>
            </a:r>
          </a:p>
          <a:p xmlns:a="http://schemas.openxmlformats.org/drawingml/2006/main">
            <a:pPr>
              <a:buNone/>
            </a:pPr>
            <a:r>
              <a:rPr lang="en-US" sz="1100"/>
              <a:t>Focus on the existing task: Vocabulary 3 of 7 Median The middle number when you put them…</a:t>
            </a:r>
          </a:p>
          <a:p xmlns:a="http://schemas.openxmlformats.org/drawingml/2006/main">
            <a:pPr>
              <a:buNone/>
            </a:pPr>
            <a:r>
              <a:rPr lang="en-US" sz="1100"/>
              <a:t>ASK (T1/3/5): Where does “Median”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11 | VOCAB</a:t>
            </a:r>
          </a:p>
          <a:p xmlns:a="http://schemas.openxmlformats.org/drawingml/2006/main">
            <a:pPr>
              <a:buNone/>
            </a:pPr>
            <a:r>
              <a:rPr lang="en-US" sz="1100"/>
              <a:t>Focus on the existing task: Vocabulary 4 of 7 Outlier A number that is much bigger or…</a:t>
            </a:r>
          </a:p>
          <a:p xmlns:a="http://schemas.openxmlformats.org/drawingml/2006/main">
            <a:pPr>
              <a:buNone/>
            </a:pPr>
            <a:r>
              <a:rPr lang="en-US" sz="1100"/>
              <a:t>ASK (T1/3/5): Where does “Outlier”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12 | VOCAB</a:t>
            </a:r>
          </a:p>
          <a:p xmlns:a="http://schemas.openxmlformats.org/drawingml/2006/main">
            <a:pPr>
              <a:buNone/>
            </a:pPr>
            <a:r>
              <a:rPr lang="en-US" sz="1100"/>
              <a:t>Focus on the existing task: Vocabulary 5 of 7 Skewed When most data sits on one side with…</a:t>
            </a:r>
          </a:p>
          <a:p xmlns:a="http://schemas.openxmlformats.org/drawingml/2006/main">
            <a:pPr>
              <a:buNone/>
            </a:pPr>
            <a:r>
              <a:rPr lang="en-US" sz="1100"/>
              <a:t>ASK (T1/3/5): Where does “Skewed”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13 | VOCAB</a:t>
            </a:r>
          </a:p>
          <a:p xmlns:a="http://schemas.openxmlformats.org/drawingml/2006/main">
            <a:pPr>
              <a:buNone/>
            </a:pPr>
            <a:r>
              <a:rPr lang="en-US" sz="1100"/>
              <a:t>Focus on the existing task: Vocabulary 6 of 7 Data distribution How the data looks: where…</a:t>
            </a:r>
          </a:p>
          <a:p xmlns:a="http://schemas.openxmlformats.org/drawingml/2006/main">
            <a:pPr>
              <a:buNone/>
            </a:pPr>
            <a:r>
              <a:rPr lang="en-US" sz="1100"/>
              <a:t>ASK (T1/3/5): Where does “Data distribution”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14 | VOCAB</a:t>
            </a:r>
          </a:p>
          <a:p xmlns:a="http://schemas.openxmlformats.org/drawingml/2006/main">
            <a:pPr>
              <a:buNone/>
            </a:pPr>
            <a:r>
              <a:rPr lang="en-US" sz="1100"/>
              <a:t>Focus on the existing task: Vocabulary 7 of 7 Variability How spread out the numbers are.…</a:t>
            </a:r>
          </a:p>
          <a:p xmlns:a="http://schemas.openxmlformats.org/drawingml/2006/main">
            <a:pPr>
              <a:buNone/>
            </a:pPr>
            <a:r>
              <a:rPr lang="en-US" sz="1100"/>
              <a:t>ASK (T1/3/5): Where does “Variability”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25 | PRIOR_INSERT</a:t>
            </a:r>
          </a:p>
          <a:p xmlns:a="http://schemas.openxmlformats.org/drawingml/2006/main">
            <a:pPr>
              <a:buNone/>
            </a:pPr>
            <a:r>
              <a:rPr lang="en-US" sz="1100"/>
              <a:t>Focus on the existing task: What would the other measure emphasize?</a:t>
            </a:r>
          </a:p>
          <a:p xmlns:a="http://schemas.openxmlformats.org/drawingml/2006/main">
            <a:pPr>
              <a:buNone/>
            </a:pPr>
            <a:r>
              <a:rPr lang="en-US" sz="1100"/>
              <a:t>CONNECT (T1/4): Ask students to restate the displayed goal or key idea and connect it to earlier work. Relevant lesson evidence: use shape and outliers to justify a measure of center and variation.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26 | REVEAL</a:t>
            </a:r>
          </a:p>
          <a:p xmlns:a="http://schemas.openxmlformats.org/drawingml/2006/main">
            <a:pPr>
              <a:buNone/>
            </a:pPr>
            <a:r>
              <a:rPr lang="en-US" sz="1100"/>
              <a:t>Focus on the existing task: To determine which measures of center and variation are most appropriate to describe a data set, you must first examine the distribution…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27 | REVEAL</a:t>
            </a:r>
          </a:p>
          <a:p xmlns:a="http://schemas.openxmlformats.org/drawingml/2006/main">
            <a:pPr>
              <a:buNone/>
            </a:pPr>
            <a:r>
              <a:rPr lang="en-US" sz="1100"/>
              <a:t>Focus on the existing task: What do you notice about the mean and median?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28 | REVEAL</a:t>
            </a:r>
          </a:p>
          <a:p xmlns:a="http://schemas.openxmlformats.org/drawingml/2006/main">
            <a:pPr>
              <a:buNone/>
            </a:pPr>
            <a:r>
              <a:rPr lang="en-US" sz="1100"/>
              <a:t>Focus on the existing task: What are some measures of variation that can be used to describe data sets?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34 | REVEAL</a:t>
            </a:r>
          </a:p>
          <a:p xmlns:a="http://schemas.openxmlformats.org/drawingml/2006/main">
            <a:pPr>
              <a:buNone/>
            </a:pPr>
            <a:r>
              <a:rPr lang="en-US" sz="1100"/>
              <a:t>Focus on the existing task: What tool can you use to determine the distribution of data values?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35 | REVEAL</a:t>
            </a:r>
          </a:p>
          <a:p xmlns:a="http://schemas.openxmlformats.org/drawingml/2006/main">
            <a:pPr>
              <a:buNone/>
            </a:pPr>
            <a:r>
              <a:rPr lang="en-US" sz="1100"/>
              <a:t>Focus on the existing task: We can use a dot plot to display the data. What do you notice about the data and the shape of the distribution?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36 | REVEAL</a:t>
            </a:r>
          </a:p>
          <a:p xmlns:a="http://schemas.openxmlformats.org/drawingml/2006/main">
            <a:pPr>
              <a:buNone/>
            </a:pPr>
            <a:r>
              <a:rPr lang="en-US" sz="1100"/>
              <a:t>Focus on the existing task: The data are nearly symmetric. There are no gaps or outliers. Which measure of center could be used to summarize this data set?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shape and outliers to justify a measure of center and variation. Ask which feature of their work supports the claim.</a:t>
            </a:r>
          </a:p>
          <a:p xmlns:a="http://schemas.openxmlformats.org/drawingml/2006/main">
            <a:pPr>
              <a:buNone/>
            </a:pPr>
            <a:r>
              <a:rPr lang="en-US" sz="1100"/>
              <a:t>RESPOND: If this task shows the lesson misconception—choosing mean automatically even when an outlier pulls it—annotate clusters, gaps and outliers on the original display before comparing measures.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39 | PRIOR_INSERT</a:t>
            </a:r>
          </a:p>
          <a:p xmlns:a="http://schemas.openxmlformats.org/drawingml/2006/main">
            <a:pPr>
              <a:buNone/>
            </a:pPr>
            <a:r>
              <a:rPr lang="en-US" sz="1100"/>
              <a:t>Focus on the existing task: LESSON 2.10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use shape and outliers to justify a measure of center and variation.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2.10, slide 44 | PRIOR_INSERT</a:t>
            </a:r>
          </a:p>
          <a:p xmlns:a="http://schemas.openxmlformats.org/drawingml/2006/main">
            <a:pPr>
              <a:buNone/>
            </a:pPr>
            <a:r>
              <a:rPr lang="en-US" sz="1100"/>
              <a:t>Focus on the existing task: LESSON 2.10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use shape and outliers to justify a measure of center and variation.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Choose Appropriate Measures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Choose Appropriate Measures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1.png"/><Relationship Id="rId3" Type="http://schemas.openxmlformats.org/officeDocument/2006/relationships/notesSlide" Target="../notesSlides/notesSlide8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1.png"/><Relationship Id="rId3" Type="http://schemas.openxmlformats.org/officeDocument/2006/relationships/notesSlide" Target="../notesSlides/notesSlide8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27.png"/><Relationship Id="rId5"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8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8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notesSlide" Target="../notesSlides/notesSlide8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2-10 · Choose Appropriate Measures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Mean of 2, 3, 3, 4, 8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Which value sits far from the rest: 2, 3, 3, 4, 50?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Most dots on the left, a few far right. The shape is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In 2, 3, 3, 4, 50 the 50 pulls up the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48</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4" name="Google Shape;524;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2-10 · Choose Appropriate Measures</a:t>
            </a:r>
            <a:endParaRPr/>
          </a:p>
        </p:txBody>
      </p:sp>
      <p:sp>
        <p:nvSpPr>
          <p:cNvPr id="525" name="Google Shape;525;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7" name="Google Shape;527;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8" name="Google Shape;528;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0" name="Google Shape;530;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3" name="Google Shape;533;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Appropriate Measures of Center</a:t>
            </a:r>
            <a:endParaRPr/>
          </a:p>
        </p:txBody>
      </p:sp>
      <p:sp>
        <p:nvSpPr>
          <p:cNvPr id="534" name="Google Shape;534;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a:t>
            </a:r>
            <a:r>
              <a:rPr b="1" i="0" lang="en-US" sz="1450" u="none" cap="none" strike="noStrike">
                <a:solidFill>
                  <a:srgbClr val="475569"/>
                </a:solidFill>
                <a:latin typeface="Arial"/>
                <a:ea typeface="Arial"/>
                <a:cs typeface="Arial"/>
                <a:sym typeface="Arial"/>
              </a:rPr>
              <a:t xml:space="preserve">mean</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median</a:t>
            </a:r>
            <a:endParaRPr/>
          </a:p>
        </p:txBody>
      </p:sp>
      <p:sp>
        <p:nvSpPr>
          <p:cNvPr id="535" name="Google Shape;535;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8" name="Google Shape;538;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Mean</a:t>
            </a:r>
            <a:endParaRPr/>
          </a:p>
        </p:txBody>
      </p:sp>
      <p:sp>
        <p:nvSpPr>
          <p:cNvPr id="539" name="Google Shape;539;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average</a:t>
            </a:r>
            <a:endParaRPr/>
          </a:p>
        </p:txBody>
      </p:sp>
      <p:sp>
        <p:nvSpPr>
          <p:cNvPr id="540" name="Google Shape;540;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3" name="Google Shape;543;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Median</a:t>
            </a:r>
            <a:endParaRPr/>
          </a:p>
        </p:txBody>
      </p:sp>
      <p:sp>
        <p:nvSpPr>
          <p:cNvPr id="544" name="Google Shape;544;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middle number when you put them in order</a:t>
            </a:r>
            <a:endParaRPr/>
          </a:p>
        </p:txBody>
      </p:sp>
      <p:sp>
        <p:nvSpPr>
          <p:cNvPr id="5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48</a:t>
            </a:r>
          </a:p>
        </p:txBody>
      </p:sp>
      <p:grpSp>
        <p:nvGrpSpPr>
          <p:cNvPr id="546" name="TEACH-1-student-move" descr="TEACH 1 · Facilitate clear, standards-based content learning"/>
          <p:cNvGrpSpPr/>
          <p:nvPr/>
        </p:nvGrpSpPr>
        <p:grpSpPr>
          <a:xfrm>
            <a:off x="6187440" y="1682496"/>
            <a:ext cx="5501640" cy="594360"/>
            <a:chOff x="6187440" y="1682496"/>
            <a:chExt cx="5501640" cy="594360"/>
          </a:xfrm>
        </p:grpSpPr>
        <p:sp>
          <p:nvSpPr>
            <p:cNvPr id="547"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8"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9"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52" name="Google Shape;552;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2-10 · Choose Appropriate Measures</a:t>
            </a:r>
            <a:endParaRPr/>
          </a:p>
        </p:txBody>
      </p:sp>
      <p:sp>
        <p:nvSpPr>
          <p:cNvPr id="553" name="Google Shape;553;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4" name="Google Shape;554;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55" name="Google Shape;555;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56" name="Google Shape;556;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8" name="Google Shape;558;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Choosing Appropriate Measures of Center &amp; Spread</a:t>
            </a:r>
            <a:endParaRPr/>
          </a:p>
        </p:txBody>
      </p:sp>
      <p:sp>
        <p:nvSpPr>
          <p:cNvPr id="560" name="Google Shape;560;p54"/>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p54"/>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2" name="Google Shape;562;p54"/>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Symmetric Data (No Outliers): </a:t>
            </a:r>
            <a:r>
              <a:rPr b="0" i="0" lang="en-US" sz="1600" u="none" cap="none" strike="noStrike">
                <a:solidFill>
                  <a:srgbClr val="14223A"/>
                </a:solidFill>
                <a:latin typeface="Arial"/>
                <a:ea typeface="Arial"/>
                <a:cs typeface="Arial"/>
                <a:sym typeface="Arial"/>
              </a:rPr>
              <a:t xml:space="preserve">Use </a:t>
            </a:r>
            <a:r>
              <a:rPr b="1" i="0" lang="en-US" sz="1600" u="none" cap="none" strike="noStrike">
                <a:solidFill>
                  <a:srgbClr val="14223A"/>
                </a:solidFill>
                <a:latin typeface="Arial"/>
                <a:ea typeface="Arial"/>
                <a:cs typeface="Arial"/>
                <a:sym typeface="Arial"/>
              </a:rPr>
              <a:t xml:space="preserve">Mean</a:t>
            </a:r>
            <a:r>
              <a:rPr b="0" i="0" lang="en-US" sz="1600" u="none" cap="none" strike="noStrike">
                <a:solidFill>
                  <a:srgbClr val="14223A"/>
                </a:solidFill>
                <a:latin typeface="Arial"/>
                <a:ea typeface="Arial"/>
                <a:cs typeface="Arial"/>
                <a:sym typeface="Arial"/>
              </a:rPr>
              <a:t xml:space="preserve"> and </a:t>
            </a:r>
            <a:r>
              <a:rPr b="1" i="0" lang="en-US" sz="1600" u="none" cap="none" strike="noStrike">
                <a:solidFill>
                  <a:srgbClr val="14223A"/>
                </a:solidFill>
                <a:latin typeface="Arial"/>
                <a:ea typeface="Arial"/>
                <a:cs typeface="Arial"/>
                <a:sym typeface="Arial"/>
              </a:rPr>
              <a:t xml:space="preserve">MAD</a:t>
            </a:r>
            <a:endParaRPr/>
          </a:p>
        </p:txBody>
      </p:sp>
      <p:sp>
        <p:nvSpPr>
          <p:cNvPr id="563" name="Google Shape;563;p54"/>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4" name="Google Shape;564;p54"/>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5" name="Google Shape;565;p54"/>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Skewed Data (Has Outliers): </a:t>
            </a:r>
            <a:r>
              <a:rPr b="0" i="0" lang="en-US" sz="1600" u="none" cap="none" strike="noStrike">
                <a:solidFill>
                  <a:srgbClr val="14223A"/>
                </a:solidFill>
                <a:latin typeface="Arial"/>
                <a:ea typeface="Arial"/>
                <a:cs typeface="Arial"/>
                <a:sym typeface="Arial"/>
              </a:rPr>
              <a:t xml:space="preserve">Use </a:t>
            </a:r>
            <a:r>
              <a:rPr b="1" i="0" lang="en-US" sz="1600" u="none" cap="none" strike="noStrike">
                <a:solidFill>
                  <a:srgbClr val="14223A"/>
                </a:solidFill>
                <a:latin typeface="Arial"/>
                <a:ea typeface="Arial"/>
                <a:cs typeface="Arial"/>
                <a:sym typeface="Arial"/>
              </a:rPr>
              <a:t xml:space="preserve">Median</a:t>
            </a:r>
            <a:r>
              <a:rPr b="0" i="0" lang="en-US" sz="1600" u="none" cap="none" strike="noStrike">
                <a:solidFill>
                  <a:srgbClr val="14223A"/>
                </a:solidFill>
                <a:latin typeface="Arial"/>
                <a:ea typeface="Arial"/>
                <a:cs typeface="Arial"/>
                <a:sym typeface="Arial"/>
              </a:rPr>
              <a:t xml:space="preserve"> and </a:t>
            </a:r>
            <a:r>
              <a:rPr b="1" i="0" lang="en-US" sz="1600" u="none" cap="none" strike="noStrike">
                <a:solidFill>
                  <a:srgbClr val="14223A"/>
                </a:solidFill>
                <a:latin typeface="Arial"/>
                <a:ea typeface="Arial"/>
                <a:cs typeface="Arial"/>
                <a:sym typeface="Arial"/>
              </a:rPr>
              <a:t xml:space="preserve">IQR</a:t>
            </a:r>
            <a:r>
              <a:rPr b="0" i="0" lang="en-US" sz="1600" u="none" cap="none" strike="noStrike">
                <a:solidFill>
                  <a:srgbClr val="14223A"/>
                </a:solidFill>
                <a:latin typeface="Arial"/>
                <a:ea typeface="Arial"/>
                <a:cs typeface="Arial"/>
                <a:sym typeface="Arial"/>
              </a:rPr>
              <a:t xml:space="preserve"> (outliers distort the mean)</a:t>
            </a:r>
            <a:endParaRPr/>
          </a:p>
        </p:txBody>
      </p:sp>
      <p:sp>
        <p:nvSpPr>
          <p:cNvPr id="566" name="Google Shape;566;p54"/>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7" name="Google Shape;567;p54"/>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68" name="Google Shape;568;p54"/>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Compare distributions using both center (typical value) and </a:t>
            </a:r>
            <a:r>
              <a:rPr b="1" i="0" lang="en-US" sz="1600" u="none" cap="none" strike="noStrike">
                <a:solidFill>
                  <a:srgbClr val="14223A"/>
                </a:solidFill>
                <a:latin typeface="Arial"/>
                <a:ea typeface="Arial"/>
                <a:cs typeface="Arial"/>
                <a:sym typeface="Arial"/>
              </a:rPr>
              <a:t xml:space="preserve">spread</a:t>
            </a:r>
            <a:r>
              <a:rPr b="0" i="0" lang="en-US" sz="1600" u="none" cap="none" strike="noStrike">
                <a:solidFill>
                  <a:srgbClr val="14223A"/>
                </a:solidFill>
                <a:latin typeface="Arial"/>
                <a:ea typeface="Arial"/>
                <a:cs typeface="Arial"/>
                <a:sym typeface="Arial"/>
              </a:rPr>
              <a:t xml:space="preserve"> (</a:t>
            </a:r>
            <a:r>
              <a:rPr b="1" i="0" lang="en-US" sz="1600" u="none" cap="none" strike="noStrike">
                <a:solidFill>
                  <a:srgbClr val="14223A"/>
                </a:solidFill>
                <a:latin typeface="Arial"/>
                <a:ea typeface="Arial"/>
                <a:cs typeface="Arial"/>
                <a:sym typeface="Arial"/>
              </a:rPr>
              <a:t xml:space="preserve">variability</a:t>
            </a:r>
            <a:r>
              <a:rPr b="0" i="0" lang="en-US" sz="1600" u="none" cap="none" strike="noStrike">
                <a:solidFill>
                  <a:srgbClr val="14223A"/>
                </a:solidFill>
                <a:latin typeface="Arial"/>
                <a:ea typeface="Arial"/>
                <a:cs typeface="Arial"/>
                <a:sym typeface="Arial"/>
              </a:rPr>
              <a:t xml:space="preserve">)</a:t>
            </a:r>
            <a:endParaRPr/>
          </a:p>
        </p:txBody>
      </p:sp>
      <p:sp>
        <p:nvSpPr>
          <p:cNvPr id="56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48</a:t>
            </a:r>
          </a:p>
        </p:txBody>
      </p:sp>
      <p:grpSp>
        <p:nvGrpSpPr>
          <p:cNvPr id="570" name="TEACH-1-student-move" descr="TEACH 1 · Facilitate clear, standards-based content learning"/>
          <p:cNvGrpSpPr/>
          <p:nvPr/>
        </p:nvGrpSpPr>
        <p:grpSpPr>
          <a:xfrm>
            <a:off x="502920" y="5111496"/>
            <a:ext cx="11186160" cy="402336"/>
            <a:chOff x="502920" y="5111496"/>
            <a:chExt cx="11186160" cy="402336"/>
          </a:xfrm>
        </p:grpSpPr>
        <p:sp>
          <p:nvSpPr>
            <p:cNvPr id="571"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72"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73"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Choose Appropriate Measures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48</a:t>
            </a:r>
          </a:p>
        </p:txBody>
      </p:sp>
      <p:grpSp>
        <p:nvGrpSpPr>
          <p:cNvPr id="237" name="TEACH-2-student-move" descr="TEACH 2 · Use strategies and tasks to engage students in rigorous work"/>
          <p:cNvGrpSpPr/>
          <p:nvPr/>
        </p:nvGrpSpPr>
        <p:grpSpPr>
          <a:xfrm>
            <a:off x="502920" y="3201929"/>
            <a:ext cx="11186160" cy="731520"/>
            <a:chOff x="502920" y="3201929"/>
            <a:chExt cx="11186160" cy="731520"/>
          </a:xfrm>
        </p:grpSpPr>
        <p:sp>
          <p:nvSpPr>
            <p:cNvPr id="23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505578" y="1224282"/>
            <a:ext cx="732836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Use all the numbers in any order with any operation to equal the target number (in red).</a:t>
            </a:r>
            <a:endParaRPr b="0" i="0" sz="1400" u="none" cap="none" strike="noStrike">
              <a:solidFill>
                <a:srgbClr val="000000"/>
              </a:solidFill>
              <a:latin typeface="Arial"/>
              <a:ea typeface="Arial"/>
              <a:cs typeface="Arial"/>
              <a:sym typeface="Arial"/>
            </a:endParaRPr>
          </a:p>
        </p:txBody>
      </p:sp>
      <p:pic>
        <p:nvPicPr>
          <p:cNvPr id="243" name="Google Shape;243;p41"/>
          <p:cNvPicPr preferRelativeResize="0"/>
          <p:nvPr/>
        </p:nvPicPr>
        <p:blipFill rotWithShape="1">
          <a:blip r:embed="rId3">
            <a:alphaModFix/>
          </a:blip>
          <a:srcRect b="0" l="0" r="0" t="0"/>
          <a:stretch/>
        </p:blipFill>
        <p:spPr>
          <a:xfrm>
            <a:off x="2107588" y="2602524"/>
            <a:ext cx="6422231" cy="2480310"/>
          </a:xfrm>
          <a:prstGeom prst="rect">
            <a:avLst/>
          </a:prstGeom>
          <a:noFill/>
          <a:ln>
            <a:noFill/>
          </a:ln>
        </p:spPr>
      </p:pic>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48</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2-10 · Choose Appropriate Measures</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Choose Appropriate Measures</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6.DS.6d</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choose the best measure of center for a data set based on its shape.</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choice using the words mean, median, outlier, and skewed.</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48</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2.10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shape and outliers to justify a measure of center and variation.</a:t>
            </a:r>
          </a:p>
        </p:txBody>
      </p:sp>
      <p:sp>
        <p:nvSpPr>
          <p:cNvPr id="8" name="Rounded Rectangle 7"/>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0" name="TEACH-1-student-move" descr="TEACH 1 · Facilitate clear, standards-based content learning"/>
          <p:cNvGrpSpPr/>
          <p:nvPr/>
        </p:nvGrpSpPr>
        <p:grpSpPr>
          <a:xfrm>
            <a:off x="502920" y="5824728"/>
            <a:ext cx="11186160" cy="402336"/>
            <a:chOff x="502920" y="5824728"/>
            <a:chExt cx="11186160" cy="402336"/>
          </a:xfrm>
        </p:grpSpPr>
        <p:sp>
          <p:nvSpPr>
            <p:cNvPr id="11"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2"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3"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6" name="Google Shape;396;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7</a:t>
            </a:r>
            <a:endParaRPr/>
          </a:p>
        </p:txBody>
      </p:sp>
      <p:sp>
        <p:nvSpPr>
          <p:cNvPr id="399" name="Google Shape;399;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2-10 · Choose Appropriate Measures</a:t>
            </a:r>
            <a:endParaRPr/>
          </a:p>
        </p:txBody>
      </p:sp>
      <p:sp>
        <p:nvSpPr>
          <p:cNvPr id="400" name="Google Shape;400;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2" name="Google Shape;402;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Appropriate Measures of Center</a:t>
            </a:r>
            <a:endParaRPr/>
          </a:p>
        </p:txBody>
      </p:sp>
      <p:sp>
        <p:nvSpPr>
          <p:cNvPr id="403" name="Google Shape;403;p46"/>
          <p:cNvSpPr/>
          <p:nvPr/>
        </p:nvSpPr>
        <p:spPr>
          <a:xfrm>
            <a:off x="658368" y="2934843"/>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A mean, median, or mode chosen because it describes a data set fairly.</a:t>
            </a:r>
            <a:endParaRPr/>
          </a:p>
        </p:txBody>
      </p:sp>
      <p:sp>
        <p:nvSpPr>
          <p:cNvPr id="405" name="Google Shape;405;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8" name="Google Shape;408;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Use the median when an outlier would pull the mean too far.</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48</a:t>
            </a:r>
          </a:p>
        </p:txBody>
      </p:sp>
      <p:sp xmlns:p="http://schemas.openxmlformats.org/presentationml/2006/main" xmlns:a="http://schemas.openxmlformats.org/drawingml/2006/main">
        <p:nvSpPr>
          <p:cNvPr id="40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“Appropriate Measures of Center” to explain the</a:t>
            </a:r>
            <a:endParaRPr lang="en-US" sz="2000"/>
          </a:p>
          <a:p>
            <a:pPr>
              <a:lnSpc>
                <a:spcPts val="2400"/>
              </a:lnSpc>
              <a:buNone/>
            </a:pPr>
            <a:r>
              <a:rPr lang="en-US" sz="2000">
                <a:solidFill>
                  <a:srgbClr val="174D60"/>
                </a:solidFill>
                <a:latin typeface="Arial"/>
              </a:rPr>
              <a:t>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6" name="Google Shape;416;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2-10 · Choose Appropriate Measures</a:t>
            </a:r>
            <a:endParaRPr/>
          </a:p>
        </p:txBody>
      </p:sp>
      <p:sp>
        <p:nvSpPr>
          <p:cNvPr id="417" name="Google Shape;417;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Mean</a:t>
            </a:r>
            <a:endParaRPr/>
          </a:p>
        </p:txBody>
      </p:sp>
      <p:sp>
        <p:nvSpPr>
          <p:cNvPr id="420" name="Google Shape;420;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average. Add all the numbers, then divide by how many there are.</a:t>
            </a:r>
            <a:endParaRPr/>
          </a:p>
        </p:txBody>
      </p:sp>
      <p:sp>
        <p:nvSpPr>
          <p:cNvPr id="422" name="Google Shape;422;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Mean of 10, 20, 30 = (10+20+30) ÷ 3 = 20</a:t>
            </a:r>
            <a:endParaRPr/>
          </a:p>
        </p:txBody>
      </p:sp>
      <p:pic>
        <p:nvPicPr>
          <p:cNvPr descr="mean.png" id="426" name="Google Shape;426;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48</a:t>
            </a:r>
          </a:p>
        </p:txBody>
      </p:sp>
      <p:sp xmlns:p="http://schemas.openxmlformats.org/presentationml/2006/main" xmlns:a="http://schemas.openxmlformats.org/drawingml/2006/main">
        <p:nvSpPr>
          <p:cNvPr id="42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“Mean”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1" name="Google Shape;431;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4" name="Google Shape;434;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2-10 · Choose Appropriate Measures</a:t>
            </a:r>
            <a:endParaRPr/>
          </a:p>
        </p:txBody>
      </p:sp>
      <p:sp>
        <p:nvSpPr>
          <p:cNvPr id="435" name="Google Shape;435;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7" name="Google Shape;437;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Median</a:t>
            </a:r>
            <a:endParaRPr/>
          </a:p>
        </p:txBody>
      </p:sp>
      <p:sp>
        <p:nvSpPr>
          <p:cNvPr id="438" name="Google Shape;438;p48"/>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middle number when you put them in order.</a:t>
            </a:r>
            <a:endParaRPr/>
          </a:p>
        </p:txBody>
      </p:sp>
      <p:sp>
        <p:nvSpPr>
          <p:cNvPr id="440" name="Google Shape;440;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3" name="Google Shape;443;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Data: 5, 8, 12, 15, 20 → median is 12 (the 3rd of 5 values)</a:t>
            </a:r>
            <a:endParaRPr/>
          </a:p>
        </p:txBody>
      </p:sp>
      <p:pic>
        <p:nvPicPr>
          <p:cNvPr descr="median.png" id="444" name="Google Shape;444;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48</a:t>
            </a:r>
          </a:p>
        </p:txBody>
      </p:sp>
      <p:sp xmlns:p="http://schemas.openxmlformats.org/presentationml/2006/main" xmlns:a="http://schemas.openxmlformats.org/drawingml/2006/main">
        <p:nvSpPr>
          <p:cNvPr id="44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“Median”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9" name="Google Shape;449;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2" name="Google Shape;452;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2-10 · Choose Appropriate Measures</a:t>
            </a:r>
            <a:endParaRPr/>
          </a:p>
        </p:txBody>
      </p:sp>
      <p:sp>
        <p:nvSpPr>
          <p:cNvPr id="453" name="Google Shape;453;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5" name="Google Shape;455;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Outlier</a:t>
            </a:r>
            <a:endParaRPr/>
          </a:p>
        </p:txBody>
      </p:sp>
      <p:sp>
        <p:nvSpPr>
          <p:cNvPr id="456" name="Google Shape;456;p4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that is much bigger or smaller than the rest.</a:t>
            </a:r>
            <a:endParaRPr/>
          </a:p>
        </p:txBody>
      </p:sp>
      <p:sp>
        <p:nvSpPr>
          <p:cNvPr id="458" name="Google Shape;458;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1" name="Google Shape;461;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Data: 12, 14, 13, 15, 45 → 45 is far from the cluster, so it is an outlier</a:t>
            </a:r>
            <a:endParaRPr/>
          </a:p>
        </p:txBody>
      </p:sp>
      <p:pic>
        <p:nvPicPr>
          <p:cNvPr descr="outlier.png" id="462" name="Google Shape;462;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48</a:t>
            </a:r>
          </a:p>
        </p:txBody>
      </p:sp>
      <p:sp xmlns:p="http://schemas.openxmlformats.org/presentationml/2006/main" xmlns:a="http://schemas.openxmlformats.org/drawingml/2006/main">
        <p:nvSpPr>
          <p:cNvPr id="46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“Outlier”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7" name="Google Shape;467;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70" name="Google Shape;470;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2-10 · Choose Appropriate Measures</a:t>
            </a:r>
            <a:endParaRPr/>
          </a:p>
        </p:txBody>
      </p:sp>
      <p:sp>
        <p:nvSpPr>
          <p:cNvPr id="471" name="Google Shape;471;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3" name="Google Shape;473;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Skewed</a:t>
            </a:r>
            <a:endParaRPr/>
          </a:p>
        </p:txBody>
      </p:sp>
      <p:sp>
        <p:nvSpPr>
          <p:cNvPr id="474" name="Google Shape;474;p50"/>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When most data sits on one side with a tail on the other.</a:t>
            </a:r>
            <a:endParaRPr/>
          </a:p>
        </p:txBody>
      </p:sp>
      <p:sp>
        <p:nvSpPr>
          <p:cNvPr id="476" name="Google Shape;476;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9" name="Google Shape;479;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Scores: 5, 6, 7, 8, 8, 35 → most scores are low, but 35 creates a tail to the right (skewed right)</a:t>
            </a:r>
            <a:endParaRPr/>
          </a:p>
        </p:txBody>
      </p:sp>
      <p:pic>
        <p:nvPicPr>
          <p:cNvPr descr="skewed.png" id="480" name="Google Shape;480;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48</a:t>
            </a:r>
          </a:p>
        </p:txBody>
      </p:sp>
      <p:sp xmlns:p="http://schemas.openxmlformats.org/presentationml/2006/main" xmlns:a="http://schemas.openxmlformats.org/drawingml/2006/main">
        <p:nvSpPr>
          <p:cNvPr id="48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“Skewed”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5" name="Google Shape;485;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8" name="Google Shape;488;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2-10 · Choose Appropriate Measures</a:t>
            </a:r>
            <a:endParaRPr/>
          </a:p>
        </p:txBody>
      </p:sp>
      <p:sp>
        <p:nvSpPr>
          <p:cNvPr id="489" name="Google Shape;489;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1" name="Google Shape;491;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Data distribution</a:t>
            </a:r>
            <a:endParaRPr/>
          </a:p>
        </p:txBody>
      </p:sp>
      <p:sp>
        <p:nvSpPr>
          <p:cNvPr id="492" name="Google Shape;492;p51"/>
          <p:cNvSpPr/>
          <p:nvPr/>
        </p:nvSpPr>
        <p:spPr>
          <a:xfrm>
            <a:off x="658368" y="2638806"/>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the data looks: where it sits and how spread out it is.</a:t>
            </a:r>
            <a:endParaRPr/>
          </a:p>
        </p:txBody>
      </p:sp>
      <p:sp>
        <p:nvSpPr>
          <p:cNvPr id="494" name="Google Shape;494;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7" name="Google Shape;497;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Symmetric = even on both sides. Skewed = bunched on one side with a tail</a:t>
            </a:r>
            <a:endParaRPr/>
          </a:p>
        </p:txBody>
      </p:sp>
      <p:pic>
        <p:nvPicPr>
          <p:cNvPr descr="distribution.png" id="498" name="Google Shape;498;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48</a:t>
            </a:r>
          </a:p>
        </p:txBody>
      </p:sp>
      <p:sp xmlns:p="http://schemas.openxmlformats.org/presentationml/2006/main" xmlns:a="http://schemas.openxmlformats.org/drawingml/2006/main">
        <p:nvSpPr>
          <p:cNvPr id="49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“Data distribution”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3" name="Google Shape;503;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6" name="Google Shape;506;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2-10 · Choose Appropriate Measures</a:t>
            </a:r>
            <a:endParaRPr/>
          </a:p>
        </p:txBody>
      </p:sp>
      <p:sp>
        <p:nvSpPr>
          <p:cNvPr id="507" name="Google Shape;507;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9" name="Google Shape;509;p52"/>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Variability</a:t>
            </a:r>
            <a:endParaRPr/>
          </a:p>
        </p:txBody>
      </p:sp>
      <p:sp>
        <p:nvSpPr>
          <p:cNvPr id="510" name="Google Shape;510;p52"/>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spread out the numbers are.</a:t>
            </a:r>
            <a:endParaRPr/>
          </a:p>
        </p:txBody>
      </p:sp>
      <p:sp>
        <p:nvSpPr>
          <p:cNvPr id="512" name="Google Shape;512;p52"/>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5" name="Google Shape;515;p52"/>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88, 90, 89, 91 (low variability) vs. 50, 70, 95, 100 (high variability)</a:t>
            </a:r>
            <a:endParaRPr/>
          </a:p>
        </p:txBody>
      </p:sp>
      <p:pic>
        <p:nvPicPr>
          <p:cNvPr descr="spread.png" id="516" name="Google Shape;516;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48</a:t>
            </a:r>
          </a:p>
        </p:txBody>
      </p:sp>
      <p:sp xmlns:p="http://schemas.openxmlformats.org/presentationml/2006/main" xmlns:a="http://schemas.openxmlformats.org/drawingml/2006/main">
        <p:nvSpPr>
          <p:cNvPr id="51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“Variability” to explain the example. Point to 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2-10 · Choose Appropriate Measures</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Appropriate Measures of Center</a:t>
            </a:r>
            <a:endParaRPr/>
          </a:p>
        </p:txBody>
      </p:sp>
      <p:sp>
        <p:nvSpPr>
          <p:cNvPr id="367" name="Google Shape;367;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50" u="none" cap="none" strike="noStrike">
                <a:solidFill>
                  <a:srgbClr val="475569"/>
                </a:solidFill>
                <a:latin typeface="Arial"/>
                <a:ea typeface="Arial"/>
                <a:cs typeface="Arial"/>
                <a:sym typeface="Arial"/>
              </a:rPr>
              <a:t>A mean, median, or mode chosen because it describes a data set fairly</a:t>
            </a:r>
            <a:endParaRPr/>
          </a:p>
        </p:txBody>
      </p:sp>
      <p:sp>
        <p:nvSpPr>
          <p:cNvPr id="368" name="Google Shape;368;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Mean</a:t>
            </a:r>
            <a:endParaRPr/>
          </a:p>
        </p:txBody>
      </p:sp>
      <p:sp>
        <p:nvSpPr>
          <p:cNvPr id="371" name="Google Shape;371;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average</a:t>
            </a:r>
            <a:endParaRPr/>
          </a:p>
        </p:txBody>
      </p:sp>
      <p:sp>
        <p:nvSpPr>
          <p:cNvPr id="372" name="Google Shape;372;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Median</a:t>
            </a:r>
            <a:endParaRPr/>
          </a:p>
        </p:txBody>
      </p:sp>
      <p:sp>
        <p:nvSpPr>
          <p:cNvPr id="375" name="Google Shape;375;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middle number when you put them in order</a:t>
            </a:r>
            <a:endParaRPr/>
          </a:p>
        </p:txBody>
      </p:sp>
      <p:sp>
        <p:nvSpPr>
          <p:cNvPr id="376" name="Google Shape;376;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Outlier</a:t>
            </a:r>
            <a:endParaRPr/>
          </a:p>
        </p:txBody>
      </p:sp>
      <p:sp>
        <p:nvSpPr>
          <p:cNvPr id="379" name="Google Shape;379;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number that is much bigger or smaller than the rest</a:t>
            </a:r>
            <a:endParaRPr/>
          </a:p>
        </p:txBody>
      </p:sp>
      <p:sp>
        <p:nvSpPr>
          <p:cNvPr id="380" name="Google Shape;380;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Skewed</a:t>
            </a:r>
            <a:endParaRPr/>
          </a:p>
        </p:txBody>
      </p:sp>
      <p:sp>
        <p:nvSpPr>
          <p:cNvPr id="383" name="Google Shape;383;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When most data sits on one side with a tail on the other</a:t>
            </a:r>
            <a:endParaRPr/>
          </a:p>
        </p:txBody>
      </p:sp>
      <p:sp>
        <p:nvSpPr>
          <p:cNvPr id="384" name="Google Shape;384;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Data distribution</a:t>
            </a:r>
            <a:endParaRPr/>
          </a:p>
        </p:txBody>
      </p:sp>
      <p:sp>
        <p:nvSpPr>
          <p:cNvPr id="387" name="Google Shape;387;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How the data looks: where it sits and how spread out it is</a:t>
            </a:r>
            <a:endParaRPr/>
          </a:p>
        </p:txBody>
      </p:sp>
      <p:sp>
        <p:nvSpPr>
          <p:cNvPr id="388" name="Google Shape;388;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Variability</a:t>
            </a:r>
            <a:endParaRPr/>
          </a:p>
        </p:txBody>
      </p:sp>
      <p:sp>
        <p:nvSpPr>
          <p:cNvPr id="391" name="Google Shape;391;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spread out the numbers are</a:t>
            </a:r>
            <a:endParaRPr/>
          </a:p>
        </p:txBody>
      </p:sp>
      <p:sp>
        <p:nvSpPr>
          <p:cNvPr id="3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48</a:t>
            </a:r>
          </a:p>
        </p:txBody>
      </p:sp>
      <p:sp xmlns:p="http://schemas.openxmlformats.org/presentationml/2006/main" xmlns:a="http://schemas.openxmlformats.org/drawingml/2006/main">
        <p:nvSpPr>
          <p:cNvPr id="393"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cxnSp>
        <p:nvCxnSpPr>
          <p:cNvPr id="584" name="Google Shape;584;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5" name="Google Shape;585;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86" name="Google Shape;586;p56"/>
          <p:cNvSpPr txBox="1"/>
          <p:nvPr/>
        </p:nvSpPr>
        <p:spPr>
          <a:xfrm>
            <a:off x="484560" y="936100"/>
            <a:ext cx="4238376"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id="587" name="Google Shape;587;p56"/>
          <p:cNvPicPr preferRelativeResize="0"/>
          <p:nvPr/>
        </p:nvPicPr>
        <p:blipFill rotWithShape="1">
          <a:blip r:embed="rId3">
            <a:alphaModFix/>
          </a:blip>
          <a:srcRect b="0" l="0" r="0" t="0"/>
          <a:stretch/>
        </p:blipFill>
        <p:spPr>
          <a:xfrm>
            <a:off x="4290645" y="1213704"/>
            <a:ext cx="7145421" cy="2162175"/>
          </a:xfrm>
          <a:prstGeom prst="rect">
            <a:avLst/>
          </a:prstGeom>
          <a:noFill/>
          <a:ln>
            <a:noFill/>
          </a:ln>
        </p:spPr>
      </p:pic>
      <p:pic>
        <p:nvPicPr>
          <p:cNvPr id="588" name="Google Shape;588;p56"/>
          <p:cNvPicPr preferRelativeResize="0"/>
          <p:nvPr/>
        </p:nvPicPr>
        <p:blipFill rotWithShape="1">
          <a:blip r:embed="rId4">
            <a:alphaModFix/>
          </a:blip>
          <a:srcRect b="0" l="0" r="0" t="0"/>
          <a:stretch/>
        </p:blipFill>
        <p:spPr>
          <a:xfrm>
            <a:off x="4290645" y="3688246"/>
            <a:ext cx="7145421" cy="704850"/>
          </a:xfrm>
          <a:prstGeom prst="rect">
            <a:avLst/>
          </a:prstGeom>
          <a:noFill/>
          <a:ln>
            <a:noFill/>
          </a:ln>
        </p:spPr>
      </p:pic>
      <p:pic>
        <p:nvPicPr>
          <p:cNvPr id="589" name="Google Shape;589;p56"/>
          <p:cNvPicPr preferRelativeResize="0"/>
          <p:nvPr/>
        </p:nvPicPr>
        <p:blipFill rotWithShape="1">
          <a:blip r:embed="rId5">
            <a:alphaModFix/>
          </a:blip>
          <a:srcRect b="0" l="0" r="0" t="0"/>
          <a:stretch/>
        </p:blipFill>
        <p:spPr>
          <a:xfrm>
            <a:off x="481450" y="4642194"/>
            <a:ext cx="5054600" cy="838200"/>
          </a:xfrm>
          <a:prstGeom prst="rect">
            <a:avLst/>
          </a:prstGeom>
          <a:noFill/>
          <a:ln>
            <a:noFill/>
          </a:ln>
        </p:spPr>
      </p:pic>
      <p:sp>
        <p:nvSpPr>
          <p:cNvPr id="590" name="Google Shape;590;p56"/>
          <p:cNvSpPr txBox="1"/>
          <p:nvPr/>
        </p:nvSpPr>
        <p:spPr>
          <a:xfrm>
            <a:off x="3341467" y="4799512"/>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91" name="Google Shape;591;p56"/>
          <p:cNvSpPr/>
          <p:nvPr/>
        </p:nvSpPr>
        <p:spPr>
          <a:xfrm>
            <a:off x="694646" y="5457517"/>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classroom rules might help prevent problems from arising in math class?</a:t>
            </a:r>
            <a:endParaRPr b="0" i="0" sz="1400" u="none" cap="none" strike="noStrike">
              <a:solidFill>
                <a:srgbClr val="000000"/>
              </a:solidFill>
              <a:latin typeface="Arial"/>
              <a:ea typeface="Arial"/>
              <a:cs typeface="Arial"/>
              <a:sym typeface="Arial"/>
            </a:endParaRPr>
          </a:p>
        </p:txBody>
      </p:sp>
      <p:sp>
        <p:nvSpPr>
          <p:cNvPr id="5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48</a:t>
            </a:r>
          </a:p>
        </p:txBody>
      </p:sp>
      <p:grpSp>
        <p:nvGrpSpPr>
          <p:cNvPr id="593" name="TEACH-3-student-move" descr="TEACH 3 · Use intentional questioning to deepen learning"/>
          <p:cNvGrpSpPr/>
          <p:nvPr/>
        </p:nvGrpSpPr>
        <p:grpSpPr>
          <a:xfrm>
            <a:off x="6187440" y="4780861"/>
            <a:ext cx="5501640" cy="594360"/>
            <a:chOff x="6187440" y="4780861"/>
            <a:chExt cx="5501640" cy="594360"/>
          </a:xfrm>
        </p:grpSpPr>
        <p:sp>
          <p:nvSpPr>
            <p:cNvPr id="594" name="TEACH-move-card"/>
            <p:cNvSpPr/>
            <p:nvPr/>
          </p:nvSpPr>
          <p:spPr>
            <a:xfrm>
              <a:off x="6187440" y="4780861"/>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95" name="TEACH-move-rule"/>
            <p:cNvSpPr/>
            <p:nvPr/>
          </p:nvSpPr>
          <p:spPr>
            <a:xfrm>
              <a:off x="6233160" y="4893789"/>
              <a:ext cx="100584" cy="368504"/>
            </a:xfrm>
            <a:prstGeom prst="roundRect">
              <a:avLst>
                <a:gd name="adj" fmla="val 50000"/>
              </a:avLst>
            </a:prstGeom>
            <a:solidFill>
              <a:srgbClr val="01708C"/>
            </a:solidFill>
            <a:ln>
              <a:noFill/>
            </a:ln>
          </p:spPr>
          <p:txBody>
            <a:bodyPr/>
            <a:lstStyle/>
            <a:p>
              <a:endParaRPr/>
            </a:p>
          </p:txBody>
        </p:sp>
        <p:sp>
          <p:nvSpPr>
            <p:cNvPr id="596" name="TEACH-move-text"/>
            <p:cNvSpPr txBox="1"/>
            <p:nvPr/>
          </p:nvSpPr>
          <p:spPr>
            <a:xfrm>
              <a:off x="6507480" y="4780861"/>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cxnSp>
        <p:nvCxnSpPr>
          <p:cNvPr id="596" name="Google Shape;596;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7" name="Google Shape;597;p57"/>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Teaching Experience</a:t>
            </a:r>
            <a:endParaRPr b="0" i="0" sz="1400" u="none" cap="none" strike="noStrike">
              <a:solidFill>
                <a:srgbClr val="000000"/>
              </a:solidFill>
              <a:latin typeface="Arial"/>
              <a:ea typeface="Arial"/>
              <a:cs typeface="Arial"/>
              <a:sym typeface="Arial"/>
            </a:endParaRPr>
          </a:p>
        </p:txBody>
      </p:sp>
      <p:sp>
        <p:nvSpPr>
          <p:cNvPr id="598" name="Google Shape;598;p57"/>
          <p:cNvSpPr txBox="1"/>
          <p:nvPr/>
        </p:nvSpPr>
        <p:spPr>
          <a:xfrm>
            <a:off x="484565" y="936099"/>
            <a:ext cx="6366435" cy="182468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students want to describe the data they collected about the number of years of teaching experience of the teachers in their school.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Which measure of center and measure of variation should they use to summarize the data 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graphicFrame>
        <p:nvGraphicFramePr>
          <p:cNvPr id="599" name="Google Shape;599;p57"/>
          <p:cNvGraphicFramePr/>
          <p:nvPr/>
        </p:nvGraphicFramePr>
        <p:xfrm>
          <a:off x="7475255" y="1387880"/>
          <a:ext cx="3000000" cy="3000000"/>
        </p:xfrm>
        <a:graphic>
          <a:graphicData uri="http://schemas.openxmlformats.org/drawingml/2006/table">
            <a:tbl>
              <a:tblPr bandRow="1" firstRow="1">
                <a:noFill/>
                <a:tableStyleId>{6FFDBBD7-B2DC-4E19-A09C-18F46899E3C5}</a:tableStyleId>
              </a:tblPr>
              <a:tblGrid>
                <a:gridCol w="843075"/>
                <a:gridCol w="817675"/>
                <a:gridCol w="773725"/>
                <a:gridCol w="817675"/>
                <a:gridCol w="783450"/>
              </a:tblGrid>
              <a:tr h="370850">
                <a:tc gridSpan="5">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1"/>
                          </a:solidFill>
                          <a:latin typeface="Arial"/>
                          <a:ea typeface="Arial"/>
                          <a:cs typeface="Arial"/>
                          <a:sym typeface="Arial"/>
                        </a:rPr>
                        <a:t>Data Set</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r>
              <a:tr h="370850">
                <a:tc gridSpan="5">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Teaching Experience (years)</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hMerge="1"/>
                <a:tc hMerge="1"/>
                <a:tc hMerge="1"/>
                <a:tc hMerge="1"/>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10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11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bl>
          </a:graphicData>
        </a:graphic>
      </p:graphicFrame>
      <p:sp>
        <p:nvSpPr>
          <p:cNvPr id="6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48</a:t>
            </a:r>
          </a:p>
        </p:txBody>
      </p:sp>
      <p:sp>
        <p:nvSpPr>
          <p:cNvPr id="60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602"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cxnSp>
        <p:nvCxnSpPr>
          <p:cNvPr id="631" name="Google Shape;631;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2" name="Google Shape;632;p61"/>
          <p:cNvSpPr txBox="1"/>
          <p:nvPr/>
        </p:nvSpPr>
        <p:spPr>
          <a:xfrm>
            <a:off x="484565" y="459264"/>
            <a:ext cx="6366435" cy="9718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use a dot plot to analyze the distribution.</a:t>
            </a:r>
            <a:endParaRPr b="1" i="0" sz="2800" u="none" cap="none" strike="noStrike">
              <a:solidFill>
                <a:srgbClr val="262626"/>
              </a:solidFill>
              <a:latin typeface="Arial"/>
              <a:ea typeface="Arial"/>
              <a:cs typeface="Arial"/>
              <a:sym typeface="Arial"/>
            </a:endParaRPr>
          </a:p>
        </p:txBody>
      </p:sp>
      <p:sp>
        <p:nvSpPr>
          <p:cNvPr id="633" name="Google Shape;633;p61"/>
          <p:cNvSpPr/>
          <p:nvPr/>
        </p:nvSpPr>
        <p:spPr>
          <a:xfrm>
            <a:off x="484565" y="4270202"/>
            <a:ext cx="978485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What do you notice about the distribution of the data?</a:t>
            </a:r>
            <a:endParaRPr b="0" i="0" sz="1400" u="none" cap="none" strike="noStrike">
              <a:solidFill>
                <a:srgbClr val="000000"/>
              </a:solidFill>
              <a:latin typeface="Arial"/>
              <a:ea typeface="Arial"/>
              <a:cs typeface="Arial"/>
              <a:sym typeface="Arial"/>
            </a:endParaRPr>
          </a:p>
        </p:txBody>
      </p:sp>
      <p:pic>
        <p:nvPicPr>
          <p:cNvPr id="634" name="Google Shape;634;p61"/>
          <p:cNvPicPr preferRelativeResize="0"/>
          <p:nvPr/>
        </p:nvPicPr>
        <p:blipFill rotWithShape="1">
          <a:blip r:embed="rId3">
            <a:alphaModFix/>
          </a:blip>
          <a:srcRect b="0" l="0" r="0" t="0"/>
          <a:stretch/>
        </p:blipFill>
        <p:spPr>
          <a:xfrm>
            <a:off x="484564" y="2041518"/>
            <a:ext cx="8200219" cy="2173410"/>
          </a:xfrm>
          <a:prstGeom prst="rect">
            <a:avLst/>
          </a:prstGeom>
          <a:noFill/>
          <a:ln>
            <a:noFill/>
          </a:ln>
        </p:spPr>
      </p:pic>
      <p:sp>
        <p:nvSpPr>
          <p:cNvPr id="635" name="Google Shape;635;p61"/>
          <p:cNvSpPr txBox="1"/>
          <p:nvPr/>
        </p:nvSpPr>
        <p:spPr>
          <a:xfrm>
            <a:off x="484564" y="4848696"/>
            <a:ext cx="8745699"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are two groups of data on the left, with space between them, and one value on the far right.</a:t>
            </a:r>
            <a:endParaRPr b="0" i="0" sz="1400" u="none" cap="none" strike="noStrike">
              <a:solidFill>
                <a:srgbClr val="000000"/>
              </a:solidFill>
              <a:latin typeface="Arial"/>
              <a:ea typeface="Arial"/>
              <a:cs typeface="Arial"/>
              <a:sym typeface="Arial"/>
            </a:endParaRPr>
          </a:p>
        </p:txBody>
      </p:sp>
      <p:sp>
        <p:nvSpPr>
          <p:cNvPr id="6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48</a:t>
            </a:r>
          </a:p>
        </p:txBody>
      </p:sp>
      <p:sp>
        <p:nvSpPr>
          <p:cNvPr id="637" name="EWL-COVER-1"/>
          <p:cNvSpPr/>
          <p:nvPr/>
        </p:nvSpPr>
        <p:spPr>
          <a:xfrm>
            <a:off x="429700" y="4793832"/>
            <a:ext cx="8855427" cy="1652688"/>
          </a:xfrm>
          <a:prstGeom prst="rect">
            <a:avLst/>
          </a:prstGeom>
          <a:solidFill>
            <a:srgbClr val="FFFFFF"/>
          </a:solidFill>
          <a:ln>
            <a:noFill/>
          </a:ln>
        </p:spPr>
        <p:txBody>
          <a:bodyPr/>
          <a:lstStyle/>
          <a:p/>
        </p:txBody>
      </p:sp>
      <p:grpSp>
        <p:nvGrpSpPr>
          <p:cNvPr id="638" name="TEACH-3-student-move" descr="TEACH 3 · Use intentional questioning to deepen learning"/>
          <p:cNvGrpSpPr/>
          <p:nvPr/>
        </p:nvGrpSpPr>
        <p:grpSpPr>
          <a:xfrm>
            <a:off x="502920" y="1602606"/>
            <a:ext cx="11186160" cy="402336"/>
            <a:chOff x="502920" y="1602606"/>
            <a:chExt cx="11186160" cy="402336"/>
          </a:xfrm>
        </p:grpSpPr>
        <p:sp>
          <p:nvSpPr>
            <p:cNvPr id="639" name="TEACH-move-card"/>
            <p:cNvSpPr/>
            <p:nvPr/>
          </p:nvSpPr>
          <p:spPr>
            <a:xfrm>
              <a:off x="502920" y="160260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40" name="TEACH-move-rule"/>
            <p:cNvSpPr/>
            <p:nvPr/>
          </p:nvSpPr>
          <p:spPr>
            <a:xfrm>
              <a:off x="548640" y="1679050"/>
              <a:ext cx="100584" cy="249448"/>
            </a:xfrm>
            <a:prstGeom prst="roundRect">
              <a:avLst>
                <a:gd name="adj" fmla="val 50000"/>
              </a:avLst>
            </a:prstGeom>
            <a:solidFill>
              <a:srgbClr val="01708C"/>
            </a:solidFill>
            <a:ln>
              <a:noFill/>
            </a:ln>
          </p:spPr>
          <p:txBody>
            <a:bodyPr/>
            <a:lstStyle/>
            <a:p>
              <a:endParaRPr/>
            </a:p>
          </p:txBody>
        </p:sp>
        <p:sp>
          <p:nvSpPr>
            <p:cNvPr id="641" name="TEACH-move-text"/>
            <p:cNvSpPr txBox="1"/>
            <p:nvPr/>
          </p:nvSpPr>
          <p:spPr>
            <a:xfrm>
              <a:off x="822960" y="160260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cxnSp>
        <p:nvCxnSpPr>
          <p:cNvPr id="640" name="Google Shape;640;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1" name="Google Shape;641;p62"/>
          <p:cNvSpPr txBox="1"/>
          <p:nvPr/>
        </p:nvSpPr>
        <p:spPr>
          <a:xfrm>
            <a:off x="484566" y="448451"/>
            <a:ext cx="6454854" cy="14054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defRPr/>
            </a:pPr>
            <a:r>
              <a:rPr b="0" i="0" lang="en-US" sz="2600" u="none" cap="none" strike="noStrike">
                <a:solidFill>
                  <a:srgbClr val="23282D"/>
                </a:solidFill>
                <a:latin typeface="Arial"/>
                <a:ea typeface="Arial"/>
                <a:cs typeface="Arial"/>
                <a:sym typeface="Arial"/>
              </a:rPr>
              <a:t xml:space="preserve">The two groups of data are called </a:t>
            </a:r>
            <a:r>
              <a:rPr b="1" i="0" lang="en-US" sz="2600" u="none" cap="none" strike="noStrike">
                <a:solidFill>
                  <a:srgbClr val="23282D"/>
                </a:solidFill>
                <a:highlight>
                  <a:srgbClr val="FFFF00"/>
                </a:highlight>
                <a:latin typeface="Arial"/>
                <a:ea typeface="Arial"/>
                <a:cs typeface="Arial"/>
                <a:sym typeface="Arial"/>
              </a:rPr>
              <a:t>clusters</a:t>
            </a:r>
            <a:r>
              <a:rPr b="0" i="0" lang="en-US" sz="2600" u="none" cap="none" strike="noStrike">
                <a:solidFill>
                  <a:srgbClr val="23282D"/>
                </a:solidFill>
                <a:latin typeface="Arial"/>
                <a:ea typeface="Arial"/>
                <a:cs typeface="Arial"/>
                <a:sym typeface="Arial"/>
              </a:rPr>
              <a:t xml:space="preserve">. A cluster occurs when data values are grouped together. </a:t>
            </a:r>
            <a:endParaRPr b="0" i="0" sz="1400" u="none" cap="none" strike="noStrike">
              <a:solidFill>
                <a:srgbClr val="000000"/>
              </a:solidFill>
              <a:latin typeface="Arial"/>
              <a:ea typeface="Arial"/>
              <a:cs typeface="Arial"/>
              <a:sym typeface="Arial"/>
            </a:endParaRPr>
          </a:p>
        </p:txBody>
      </p:sp>
      <p:sp>
        <p:nvSpPr>
          <p:cNvPr id="642" name="Google Shape;642;p62"/>
          <p:cNvSpPr/>
          <p:nvPr/>
        </p:nvSpPr>
        <p:spPr>
          <a:xfrm>
            <a:off x="484565" y="6126480"/>
            <a:ext cx="978485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1" i="0" lang="en-US" sz="2600" u="none" cap="none" strike="noStrike">
                <a:solidFill>
                  <a:srgbClr val="23282D"/>
                </a:solidFill>
                <a:latin typeface="Arial"/>
                <a:ea typeface="Arial"/>
                <a:cs typeface="Arial"/>
                <a:sym typeface="Arial"/>
              </a:rPr>
              <a:t>What do you notice about the data value of 32?</a:t>
            </a:r>
            <a:endParaRPr b="0" i="0" sz="1400" u="none" cap="none" strike="noStrike">
              <a:solidFill>
                <a:srgbClr val="000000"/>
              </a:solidFill>
              <a:latin typeface="Arial"/>
              <a:ea typeface="Arial"/>
              <a:cs typeface="Arial"/>
              <a:sym typeface="Arial"/>
            </a:endParaRPr>
          </a:p>
        </p:txBody>
      </p:sp>
      <p:pic>
        <p:nvPicPr>
          <p:cNvPr id="643" name="Google Shape;643;p62"/>
          <p:cNvPicPr preferRelativeResize="0"/>
          <p:nvPr/>
        </p:nvPicPr>
        <p:blipFill rotWithShape="1">
          <a:blip r:embed="rId3">
            <a:alphaModFix/>
          </a:blip>
          <a:srcRect b="0" l="0" r="0" t="0"/>
          <a:stretch/>
        </p:blipFill>
        <p:spPr>
          <a:xfrm>
            <a:off x="484562" y="1660332"/>
            <a:ext cx="8200219" cy="3125011"/>
          </a:xfrm>
          <a:prstGeom prst="rect">
            <a:avLst/>
          </a:prstGeom>
          <a:noFill/>
          <a:ln>
            <a:noFill/>
          </a:ln>
        </p:spPr>
      </p:pic>
      <p:sp>
        <p:nvSpPr>
          <p:cNvPr id="644" name="Google Shape;644;p62"/>
          <p:cNvSpPr txBox="1"/>
          <p:nvPr/>
        </p:nvSpPr>
        <p:spPr>
          <a:xfrm>
            <a:off x="484562" y="4785343"/>
            <a:ext cx="6955898"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23282D"/>
                </a:solidFill>
                <a:latin typeface="Arial"/>
                <a:ea typeface="Arial"/>
                <a:cs typeface="Arial"/>
                <a:sym typeface="Arial"/>
              </a:rPr>
              <a:t xml:space="preserve">There are two </a:t>
            </a:r>
            <a:r>
              <a:rPr b="1" i="0" lang="en-US" sz="2600" u="none" cap="none" strike="noStrike">
                <a:solidFill>
                  <a:srgbClr val="23282D"/>
                </a:solidFill>
                <a:highlight>
                  <a:srgbClr val="FFFF00"/>
                </a:highlight>
                <a:latin typeface="Arial"/>
                <a:ea typeface="Arial"/>
                <a:cs typeface="Arial"/>
                <a:sym typeface="Arial"/>
              </a:rPr>
              <a:t>gaps</a:t>
            </a:r>
            <a:r>
              <a:rPr b="0" i="0" lang="en-US" sz="2600" u="none" cap="none" strike="noStrike">
                <a:solidFill>
                  <a:srgbClr val="23282D"/>
                </a:solidFill>
                <a:latin typeface="Arial"/>
                <a:ea typeface="Arial"/>
                <a:cs typeface="Arial"/>
                <a:sym typeface="Arial"/>
              </a:rPr>
              <a:t xml:space="preserve"> in the data. A gap occurs where there is space between data values. </a:t>
            </a:r>
            <a:endParaRPr b="1" i="0" sz="2600" u="none" cap="none" strike="noStrike">
              <a:solidFill>
                <a:srgbClr val="262626"/>
              </a:solidFill>
              <a:latin typeface="Arial"/>
              <a:ea typeface="Arial"/>
              <a:cs typeface="Arial"/>
              <a:sym typeface="Arial"/>
            </a:endParaRPr>
          </a:p>
        </p:txBody>
      </p:sp>
      <p:sp>
        <p:nvSpPr>
          <p:cNvPr id="6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48</a:t>
            </a:r>
          </a:p>
        </p:txBody>
      </p:sp>
      <p:grpSp>
        <p:nvGrpSpPr>
          <p:cNvPr id="646" name="TEACH-3-student-move" descr="TEACH 3 · Use intentional questioning to deepen learning"/>
          <p:cNvGrpSpPr/>
          <p:nvPr/>
        </p:nvGrpSpPr>
        <p:grpSpPr>
          <a:xfrm>
            <a:off x="502920" y="5769864"/>
            <a:ext cx="11186160" cy="320040"/>
            <a:chOff x="502920" y="5769864"/>
            <a:chExt cx="11186160" cy="320040"/>
          </a:xfrm>
        </p:grpSpPr>
        <p:sp>
          <p:nvSpPr>
            <p:cNvPr id="647" name="TEACH-move-card"/>
            <p:cNvSpPr/>
            <p:nvPr/>
          </p:nvSpPr>
          <p:spPr>
            <a:xfrm>
              <a:off x="502920" y="5769864"/>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648" name="TEACH-move-rule"/>
            <p:cNvSpPr/>
            <p:nvPr/>
          </p:nvSpPr>
          <p:spPr>
            <a:xfrm>
              <a:off x="548640" y="5830672"/>
              <a:ext cx="100584" cy="198424"/>
            </a:xfrm>
            <a:prstGeom prst="roundRect">
              <a:avLst>
                <a:gd name="adj" fmla="val 50000"/>
              </a:avLst>
            </a:prstGeom>
            <a:solidFill>
              <a:srgbClr val="01708C"/>
            </a:solidFill>
            <a:ln>
              <a:noFill/>
            </a:ln>
          </p:spPr>
          <p:txBody>
            <a:bodyPr/>
            <a:lstStyle/>
            <a:p>
              <a:endParaRPr/>
            </a:p>
          </p:txBody>
        </p:sp>
        <p:sp>
          <p:nvSpPr>
            <p:cNvPr id="649" name="TEACH-move-text"/>
            <p:cNvSpPr txBox="1"/>
            <p:nvPr/>
          </p:nvSpPr>
          <p:spPr>
            <a:xfrm>
              <a:off x="822960" y="5769864"/>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cxnSp>
        <p:nvCxnSpPr>
          <p:cNvPr id="658" name="Google Shape;658;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9" name="Google Shape;659;p64"/>
          <p:cNvSpPr txBox="1"/>
          <p:nvPr/>
        </p:nvSpPr>
        <p:spPr>
          <a:xfrm>
            <a:off x="484566" y="461646"/>
            <a:ext cx="5314985" cy="14395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There is a large gap between the 32 and the next closest data value. 32 is called an </a:t>
            </a:r>
            <a:r>
              <a:rPr b="1" i="0" lang="en-US" sz="2800" u="none" cap="none" strike="noStrike">
                <a:solidFill>
                  <a:srgbClr val="23282D"/>
                </a:solidFill>
                <a:highlight>
                  <a:srgbClr val="FFFF00"/>
                </a:highlight>
                <a:latin typeface="Arial"/>
                <a:ea typeface="Arial"/>
                <a:cs typeface="Arial"/>
                <a:sym typeface="Arial"/>
              </a:rPr>
              <a:t>outlier</a:t>
            </a:r>
            <a:r>
              <a:rPr b="0" i="0" lang="en-US" sz="2800" u="none" cap="none" strike="noStrike">
                <a:solidFill>
                  <a:srgbClr val="23282D"/>
                </a:solidFill>
                <a:latin typeface="Arial"/>
                <a:ea typeface="Arial"/>
                <a:cs typeface="Arial"/>
                <a:sym typeface="Arial"/>
              </a:rPr>
              <a:t>.</a:t>
            </a:r>
            <a:endParaRPr b="1" i="0" sz="2800" u="none" cap="none" strike="noStrike">
              <a:solidFill>
                <a:srgbClr val="262626"/>
              </a:solidFill>
              <a:latin typeface="Arial"/>
              <a:ea typeface="Arial"/>
              <a:cs typeface="Arial"/>
              <a:sym typeface="Arial"/>
            </a:endParaRPr>
          </a:p>
        </p:txBody>
      </p:sp>
      <p:sp>
        <p:nvSpPr>
          <p:cNvPr id="660" name="Google Shape;660;p64"/>
          <p:cNvSpPr/>
          <p:nvPr/>
        </p:nvSpPr>
        <p:spPr>
          <a:xfrm>
            <a:off x="484567" y="4550473"/>
            <a:ext cx="4544634"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What do you notice about the shape of the distribution?</a:t>
            </a:r>
            <a:endParaRPr b="0" i="0" sz="1400" u="none" cap="none" strike="noStrike">
              <a:solidFill>
                <a:srgbClr val="000000"/>
              </a:solidFill>
              <a:latin typeface="Arial"/>
              <a:ea typeface="Arial"/>
              <a:cs typeface="Arial"/>
              <a:sym typeface="Arial"/>
            </a:endParaRPr>
          </a:p>
        </p:txBody>
      </p:sp>
      <p:sp>
        <p:nvSpPr>
          <p:cNvPr id="661" name="Google Shape;661;p64"/>
          <p:cNvSpPr txBox="1"/>
          <p:nvPr/>
        </p:nvSpPr>
        <p:spPr>
          <a:xfrm>
            <a:off x="5661867" y="4697122"/>
            <a:ext cx="607635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data is not symmetric. Almost all the values are grouped on the left.</a:t>
            </a:r>
            <a:endParaRPr b="0" i="0" sz="1400" u="none" cap="none" strike="noStrike">
              <a:solidFill>
                <a:srgbClr val="000000"/>
              </a:solidFill>
              <a:latin typeface="Arial"/>
              <a:ea typeface="Arial"/>
              <a:cs typeface="Arial"/>
              <a:sym typeface="Arial"/>
            </a:endParaRPr>
          </a:p>
        </p:txBody>
      </p:sp>
      <p:pic>
        <p:nvPicPr>
          <p:cNvPr id="662" name="Google Shape;662;p64"/>
          <p:cNvPicPr preferRelativeResize="0"/>
          <p:nvPr/>
        </p:nvPicPr>
        <p:blipFill rotWithShape="1">
          <a:blip r:embed="rId3">
            <a:alphaModFix/>
          </a:blip>
          <a:srcRect b="0" l="0" r="0" t="0"/>
          <a:stretch/>
        </p:blipFill>
        <p:spPr>
          <a:xfrm>
            <a:off x="484562" y="2044529"/>
            <a:ext cx="8177904" cy="2167496"/>
          </a:xfrm>
          <a:prstGeom prst="rect">
            <a:avLst/>
          </a:prstGeom>
          <a:noFill/>
          <a:ln>
            <a:noFill/>
          </a:ln>
        </p:spPr>
      </p:pic>
      <p:sp>
        <p:nvSpPr>
          <p:cNvPr id="6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48</a:t>
            </a:r>
          </a:p>
        </p:txBody>
      </p:sp>
      <p:sp>
        <p:nvSpPr>
          <p:cNvPr id="664" name="EWL-COVER-1"/>
          <p:cNvSpPr/>
          <p:nvPr/>
        </p:nvSpPr>
        <p:spPr>
          <a:xfrm>
            <a:off x="5607003" y="4642258"/>
            <a:ext cx="6186082" cy="1659768"/>
          </a:xfrm>
          <a:prstGeom prst="rect">
            <a:avLst/>
          </a:prstGeom>
          <a:solidFill>
            <a:srgbClr val="FFFFFF"/>
          </a:solidFill>
          <a:ln>
            <a:noFill/>
          </a:ln>
        </p:spPr>
        <p:txBody>
          <a:bodyPr/>
          <a:lstStyle/>
          <a:p/>
        </p:txBody>
      </p:sp>
      <p:grpSp>
        <p:nvGrpSpPr>
          <p:cNvPr id="665" name="TEACH-3-student-move" descr="TEACH 3 · Use intentional questioning to deepen learning"/>
          <p:cNvGrpSpPr/>
          <p:nvPr/>
        </p:nvGrpSpPr>
        <p:grpSpPr>
          <a:xfrm>
            <a:off x="6187440" y="1367873"/>
            <a:ext cx="5501640" cy="594360"/>
            <a:chOff x="6187440" y="1367873"/>
            <a:chExt cx="5501640" cy="594360"/>
          </a:xfrm>
        </p:grpSpPr>
        <p:sp>
          <p:nvSpPr>
            <p:cNvPr id="666" name="TEACH-move-card"/>
            <p:cNvSpPr/>
            <p:nvPr/>
          </p:nvSpPr>
          <p:spPr>
            <a:xfrm>
              <a:off x="6187440" y="136787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67" name="TEACH-move-rule"/>
            <p:cNvSpPr/>
            <p:nvPr/>
          </p:nvSpPr>
          <p:spPr>
            <a:xfrm>
              <a:off x="6233160" y="1480801"/>
              <a:ext cx="100584" cy="368504"/>
            </a:xfrm>
            <a:prstGeom prst="roundRect">
              <a:avLst>
                <a:gd name="adj" fmla="val 50000"/>
              </a:avLst>
            </a:prstGeom>
            <a:solidFill>
              <a:srgbClr val="01708C"/>
            </a:solidFill>
            <a:ln>
              <a:noFill/>
            </a:ln>
          </p:spPr>
          <p:txBody>
            <a:bodyPr/>
            <a:lstStyle/>
            <a:p>
              <a:endParaRPr/>
            </a:p>
          </p:txBody>
        </p:sp>
        <p:sp>
          <p:nvSpPr>
            <p:cNvPr id="668" name="TEACH-move-text"/>
            <p:cNvSpPr txBox="1"/>
            <p:nvPr/>
          </p:nvSpPr>
          <p:spPr>
            <a:xfrm>
              <a:off x="6507480" y="136787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cxnSp>
        <p:nvCxnSpPr>
          <p:cNvPr id="691" name="Google Shape;691;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2" name="Google Shape;692;p68"/>
          <p:cNvSpPr txBox="1"/>
          <p:nvPr/>
        </p:nvSpPr>
        <p:spPr>
          <a:xfrm>
            <a:off x="406927" y="517266"/>
            <a:ext cx="6366435" cy="9718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find the mean and median of the data.</a:t>
            </a:r>
            <a:endParaRPr b="1" i="0" sz="2800" u="none" cap="none" strike="noStrike">
              <a:solidFill>
                <a:srgbClr val="262626"/>
              </a:solidFill>
              <a:latin typeface="Arial"/>
              <a:ea typeface="Arial"/>
              <a:cs typeface="Arial"/>
              <a:sym typeface="Arial"/>
            </a:endParaRPr>
          </a:p>
        </p:txBody>
      </p:sp>
      <p:sp>
        <p:nvSpPr>
          <p:cNvPr id="693" name="Google Shape;693;p68"/>
          <p:cNvSpPr txBox="1"/>
          <p:nvPr/>
        </p:nvSpPr>
        <p:spPr>
          <a:xfrm>
            <a:off x="484565" y="1907931"/>
            <a:ext cx="4808175" cy="819135"/>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4" name="Google Shape;694;p68"/>
          <p:cNvSpPr txBox="1"/>
          <p:nvPr/>
        </p:nvSpPr>
        <p:spPr>
          <a:xfrm>
            <a:off x="484564" y="3045069"/>
            <a:ext cx="1993303" cy="815416"/>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5" name="Google Shape;695;p68"/>
          <p:cNvSpPr txBox="1"/>
          <p:nvPr/>
        </p:nvSpPr>
        <p:spPr>
          <a:xfrm>
            <a:off x="484564" y="4117731"/>
            <a:ext cx="2067041" cy="430887"/>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696" name="Google Shape;696;p68"/>
          <p:cNvPicPr preferRelativeResize="0"/>
          <p:nvPr/>
        </p:nvPicPr>
        <p:blipFill rotWithShape="1">
          <a:blip r:embed="rId6">
            <a:alphaModFix/>
          </a:blip>
          <a:srcRect b="0" l="0" r="0" t="0"/>
          <a:stretch/>
        </p:blipFill>
        <p:spPr>
          <a:xfrm>
            <a:off x="484563" y="4805865"/>
            <a:ext cx="9560715" cy="1572016"/>
          </a:xfrm>
          <a:prstGeom prst="rect">
            <a:avLst/>
          </a:prstGeom>
          <a:noFill/>
          <a:ln>
            <a:noFill/>
          </a:ln>
        </p:spPr>
      </p:pic>
      <p:graphicFrame>
        <p:nvGraphicFramePr>
          <p:cNvPr id="697" name="Google Shape;697;p68"/>
          <p:cNvGraphicFramePr/>
          <p:nvPr/>
        </p:nvGraphicFramePr>
        <p:xfrm>
          <a:off x="7627655" y="1540280"/>
          <a:ext cx="3000000" cy="3000000"/>
        </p:xfrm>
        <a:graphic>
          <a:graphicData uri="http://schemas.openxmlformats.org/drawingml/2006/table">
            <a:tbl>
              <a:tblPr bandRow="1" firstRow="1">
                <a:noFill/>
                <a:tableStyleId>{6FFDBBD7-B2DC-4E19-A09C-18F46899E3C5}</a:tableStyleId>
              </a:tblPr>
              <a:tblGrid>
                <a:gridCol w="843075"/>
                <a:gridCol w="817675"/>
                <a:gridCol w="773725"/>
                <a:gridCol w="817675"/>
                <a:gridCol w="783450"/>
              </a:tblGrid>
              <a:tr h="370850">
                <a:tc gridSpan="5">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1"/>
                          </a:solidFill>
                          <a:latin typeface="Arial"/>
                          <a:ea typeface="Arial"/>
                          <a:cs typeface="Arial"/>
                          <a:sym typeface="Arial"/>
                        </a:rPr>
                        <a:t>Data Set</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r>
              <a:tr h="370850">
                <a:tc gridSpan="5">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Teaching Experience (years)</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hMerge="1"/>
                <a:tc hMerge="1"/>
                <a:tc hMerge="1"/>
                <a:tc hMerge="1"/>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10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11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bl>
          </a:graphicData>
        </a:graphic>
      </p:graphicFrame>
      <p:sp>
        <p:nvSpPr>
          <p:cNvPr id="6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48</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cxnSp>
        <p:nvCxnSpPr>
          <p:cNvPr id="733" name="Google Shape;733;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4" name="Google Shape;734;p72"/>
          <p:cNvSpPr/>
          <p:nvPr/>
        </p:nvSpPr>
        <p:spPr>
          <a:xfrm>
            <a:off x="484566" y="4710951"/>
            <a:ext cx="506222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What do you notice about the mean and median?</a:t>
            </a:r>
            <a:endParaRPr b="0" i="0" sz="1400" u="none" cap="none" strike="noStrike">
              <a:solidFill>
                <a:srgbClr val="000000"/>
              </a:solidFill>
              <a:latin typeface="Arial"/>
              <a:ea typeface="Arial"/>
              <a:cs typeface="Arial"/>
              <a:sym typeface="Arial"/>
            </a:endParaRPr>
          </a:p>
        </p:txBody>
      </p:sp>
      <p:sp>
        <p:nvSpPr>
          <p:cNvPr id="735" name="Google Shape;735;p72"/>
          <p:cNvSpPr txBox="1"/>
          <p:nvPr/>
        </p:nvSpPr>
        <p:spPr>
          <a:xfrm>
            <a:off x="5845353" y="4412983"/>
            <a:ext cx="5960624" cy="197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mean is greater than the median. The median is closer to the center of most of the data.</a:t>
            </a:r>
            <a:endParaRPr b="0" i="0" sz="1400" u="none" cap="none" strike="noStrike">
              <a:solidFill>
                <a:srgbClr val="000000"/>
              </a:solidFill>
              <a:latin typeface="Arial"/>
              <a:ea typeface="Arial"/>
              <a:cs typeface="Arial"/>
              <a:sym typeface="Arial"/>
            </a:endParaRPr>
          </a:p>
        </p:txBody>
      </p:sp>
      <p:pic>
        <p:nvPicPr>
          <p:cNvPr id="736" name="Google Shape;736;p72"/>
          <p:cNvPicPr preferRelativeResize="0"/>
          <p:nvPr/>
        </p:nvPicPr>
        <p:blipFill rotWithShape="1">
          <a:blip r:embed="rId3">
            <a:alphaModFix/>
          </a:blip>
          <a:srcRect b="0" l="0" r="0" t="0"/>
          <a:stretch/>
        </p:blipFill>
        <p:spPr>
          <a:xfrm>
            <a:off x="482408" y="1998876"/>
            <a:ext cx="8189072" cy="2181645"/>
          </a:xfrm>
          <a:prstGeom prst="rect">
            <a:avLst/>
          </a:prstGeom>
          <a:noFill/>
          <a:ln>
            <a:noFill/>
          </a:ln>
        </p:spPr>
      </p:pic>
      <p:sp>
        <p:nvSpPr>
          <p:cNvPr id="737" name="Google Shape;737;p72"/>
          <p:cNvSpPr/>
          <p:nvPr/>
        </p:nvSpPr>
        <p:spPr>
          <a:xfrm>
            <a:off x="5004685" y="902093"/>
            <a:ext cx="195438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Cambria Math"/>
                <a:ea typeface="Cambria Math"/>
                <a:cs typeface="Cambria Math"/>
                <a:sym typeface="Cambria Math"/>
              </a:rPr>
              <a:t>median = 4</a:t>
            </a:r>
            <a:endParaRPr b="0" i="0" sz="1400" u="none" cap="none" strike="noStrike">
              <a:solidFill>
                <a:srgbClr val="000000"/>
              </a:solidFill>
              <a:latin typeface="Arial"/>
              <a:ea typeface="Arial"/>
              <a:cs typeface="Arial"/>
              <a:sym typeface="Arial"/>
            </a:endParaRPr>
          </a:p>
        </p:txBody>
      </p:sp>
      <p:sp>
        <p:nvSpPr>
          <p:cNvPr id="738" name="Google Shape;738;p72"/>
          <p:cNvSpPr/>
          <p:nvPr/>
        </p:nvSpPr>
        <p:spPr>
          <a:xfrm>
            <a:off x="1449018" y="902093"/>
            <a:ext cx="212750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Cambria Math"/>
                <a:ea typeface="Cambria Math"/>
                <a:cs typeface="Cambria Math"/>
                <a:sym typeface="Cambria Math"/>
              </a:rPr>
              <a:t>mean = 6.08</a:t>
            </a:r>
            <a:endParaRPr b="0" i="0" sz="1400" u="none" cap="none" strike="noStrike">
              <a:solidFill>
                <a:srgbClr val="000000"/>
              </a:solidFill>
              <a:latin typeface="Arial"/>
              <a:ea typeface="Arial"/>
              <a:cs typeface="Arial"/>
              <a:sym typeface="Arial"/>
            </a:endParaRPr>
          </a:p>
        </p:txBody>
      </p:sp>
      <p:sp>
        <p:nvSpPr>
          <p:cNvPr id="7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48</a:t>
            </a:r>
          </a:p>
        </p:txBody>
      </p:sp>
      <p:sp>
        <p:nvSpPr>
          <p:cNvPr id="740" name="EWL-COVER-1"/>
          <p:cNvSpPr/>
          <p:nvPr/>
        </p:nvSpPr>
        <p:spPr>
          <a:xfrm>
            <a:off x="5790489" y="4358119"/>
            <a:ext cx="6070352" cy="2081403"/>
          </a:xfrm>
          <a:prstGeom prst="rect">
            <a:avLst/>
          </a:prstGeom>
          <a:solidFill>
            <a:srgbClr val="FFFFFF"/>
          </a:solidFill>
          <a:ln>
            <a:noFill/>
          </a:ln>
        </p:spPr>
        <p:txBody>
          <a:bodyPr/>
          <a:lstStyle/>
          <a:p/>
        </p:txBody>
      </p:sp>
      <p:grpSp>
        <p:nvGrpSpPr>
          <p:cNvPr id="741" name="TEACH-3-student-move" descr="TEACH 3 · Use intentional questioning to deepen learning"/>
          <p:cNvGrpSpPr/>
          <p:nvPr/>
        </p:nvGrpSpPr>
        <p:grpSpPr>
          <a:xfrm>
            <a:off x="502920" y="1559964"/>
            <a:ext cx="11186160" cy="402336"/>
            <a:chOff x="502920" y="1559964"/>
            <a:chExt cx="11186160" cy="402336"/>
          </a:xfrm>
        </p:grpSpPr>
        <p:sp>
          <p:nvSpPr>
            <p:cNvPr id="742" name="TEACH-move-card"/>
            <p:cNvSpPr/>
            <p:nvPr/>
          </p:nvSpPr>
          <p:spPr>
            <a:xfrm>
              <a:off x="502920" y="1559964"/>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43" name="TEACH-move-rule"/>
            <p:cNvSpPr/>
            <p:nvPr/>
          </p:nvSpPr>
          <p:spPr>
            <a:xfrm>
              <a:off x="548640" y="1636408"/>
              <a:ext cx="100584" cy="249448"/>
            </a:xfrm>
            <a:prstGeom prst="roundRect">
              <a:avLst>
                <a:gd name="adj" fmla="val 50000"/>
              </a:avLst>
            </a:prstGeom>
            <a:solidFill>
              <a:srgbClr val="01708C"/>
            </a:solidFill>
            <a:ln>
              <a:noFill/>
            </a:ln>
          </p:spPr>
          <p:txBody>
            <a:bodyPr/>
            <a:lstStyle/>
            <a:p>
              <a:endParaRPr/>
            </a:p>
          </p:txBody>
        </p:sp>
        <p:sp>
          <p:nvSpPr>
            <p:cNvPr id="744" name="TEACH-move-text"/>
            <p:cNvSpPr txBox="1"/>
            <p:nvPr/>
          </p:nvSpPr>
          <p:spPr>
            <a:xfrm>
              <a:off x="822960" y="1559964"/>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PROVE IT  ·  </a:t>
              </a:r>
              <a:r>
                <a:rPr lang="en-US" sz="1200" dirty="0">
                  <a:solidFill>
                    <a:srgbClr val="13303A"/>
                  </a:solidFill>
                  <a:latin typeface="Arial"/>
                </a:rPr>
                <a:t>Find the evidence in the problem that makes your answer right — not just the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pic>
        <p:nvPicPr>
          <p:cNvPr id="773" name="Google Shape;773;p76"/>
          <p:cNvPicPr preferRelativeResize="0"/>
          <p:nvPr/>
        </p:nvPicPr>
        <p:blipFill rotWithShape="1">
          <a:blip r:embed="rId3">
            <a:alphaModFix/>
          </a:blip>
          <a:srcRect b="0" l="0" r="0" t="0"/>
          <a:stretch/>
        </p:blipFill>
        <p:spPr>
          <a:xfrm>
            <a:off x="482408" y="1998876"/>
            <a:ext cx="8189072" cy="2181645"/>
          </a:xfrm>
          <a:prstGeom prst="rect">
            <a:avLst/>
          </a:prstGeom>
          <a:noFill/>
          <a:ln>
            <a:noFill/>
          </a:ln>
        </p:spPr>
      </p:pic>
      <p:cxnSp>
        <p:nvCxnSpPr>
          <p:cNvPr id="774" name="Google Shape;774;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5" name="Google Shape;775;p76"/>
          <p:cNvSpPr txBox="1"/>
          <p:nvPr/>
        </p:nvSpPr>
        <p:spPr>
          <a:xfrm>
            <a:off x="482408" y="245444"/>
            <a:ext cx="5873103" cy="17534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When a data set is skewed or has an outlier, the mean is also skewed. So, the median is a better measure of center.</a:t>
            </a:r>
            <a:endParaRPr b="1" i="0" sz="2800" u="none" cap="none" strike="noStrike">
              <a:solidFill>
                <a:srgbClr val="262626"/>
              </a:solidFill>
              <a:latin typeface="Arial"/>
              <a:ea typeface="Arial"/>
              <a:cs typeface="Arial"/>
              <a:sym typeface="Arial"/>
            </a:endParaRPr>
          </a:p>
        </p:txBody>
      </p:sp>
      <p:sp>
        <p:nvSpPr>
          <p:cNvPr id="776" name="Google Shape;776;p76"/>
          <p:cNvSpPr/>
          <p:nvPr/>
        </p:nvSpPr>
        <p:spPr>
          <a:xfrm>
            <a:off x="482408" y="4252057"/>
            <a:ext cx="212750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mbria Math"/>
                <a:ea typeface="Cambria Math"/>
                <a:cs typeface="Cambria Math"/>
                <a:sym typeface="Cambria Math"/>
              </a:rPr>
              <a:t>mean = 6.08</a:t>
            </a:r>
            <a:endParaRPr b="0" i="0" sz="1400" u="none" cap="none" strike="noStrike">
              <a:solidFill>
                <a:srgbClr val="000000"/>
              </a:solidFill>
              <a:latin typeface="Arial"/>
              <a:ea typeface="Arial"/>
              <a:cs typeface="Arial"/>
              <a:sym typeface="Arial"/>
            </a:endParaRPr>
          </a:p>
        </p:txBody>
      </p:sp>
      <p:sp>
        <p:nvSpPr>
          <p:cNvPr id="777" name="Google Shape;777;p76"/>
          <p:cNvSpPr/>
          <p:nvPr/>
        </p:nvSpPr>
        <p:spPr>
          <a:xfrm>
            <a:off x="3231323" y="4252057"/>
            <a:ext cx="195438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mbria Math"/>
                <a:ea typeface="Cambria Math"/>
                <a:cs typeface="Cambria Math"/>
                <a:sym typeface="Cambria Math"/>
              </a:rPr>
              <a:t>median = 4</a:t>
            </a:r>
            <a:endParaRPr b="0" i="0" sz="1400" u="none" cap="none" strike="noStrike">
              <a:solidFill>
                <a:srgbClr val="000000"/>
              </a:solidFill>
              <a:latin typeface="Arial"/>
              <a:ea typeface="Arial"/>
              <a:cs typeface="Arial"/>
              <a:sym typeface="Arial"/>
            </a:endParaRPr>
          </a:p>
        </p:txBody>
      </p:sp>
      <p:sp>
        <p:nvSpPr>
          <p:cNvPr id="778" name="Google Shape;778;p76"/>
          <p:cNvSpPr txBox="1"/>
          <p:nvPr/>
        </p:nvSpPr>
        <p:spPr>
          <a:xfrm>
            <a:off x="482408" y="5257800"/>
            <a:ext cx="6807740" cy="11674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is the mean affected by the outlier?</a:t>
            </a:r>
            <a:endParaRPr b="0" i="0" sz="1400" u="none" cap="none" strike="noStrike">
              <a:solidFill>
                <a:srgbClr val="000000"/>
              </a:solidFill>
              <a:latin typeface="Arial"/>
              <a:ea typeface="Arial"/>
              <a:cs typeface="Arial"/>
              <a:sym typeface="Arial"/>
            </a:endParaRPr>
          </a:p>
        </p:txBody>
      </p:sp>
      <p:sp>
        <p:nvSpPr>
          <p:cNvPr id="7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48</a:t>
            </a:r>
          </a:p>
        </p:txBody>
      </p:sp>
      <p:sp xmlns:p="http://schemas.openxmlformats.org/presentationml/2006/main" xmlns:a="http://schemas.openxmlformats.org/drawingml/2006/main">
        <p:nvSpPr>
          <p:cNvPr id="780" name="TEACH-embedded-student-prompt" descr="Student thinking and response directions"/>
          <p:cNvSpPr txBox="1"/>
          <p:nvPr/>
        </p:nvSpPr>
        <p:spPr>
          <a:xfrm>
            <a:off x="611124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8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27" name="Google Shape;827;p82"/>
          <p:cNvSpPr txBox="1"/>
          <p:nvPr/>
        </p:nvSpPr>
        <p:spPr>
          <a:xfrm>
            <a:off x="484565" y="927528"/>
            <a:ext cx="7230130" cy="1094704"/>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What might be reasons that the teaching experience data set is skewed?</a:t>
            </a:r>
            <a:endParaRPr b="0" i="0" sz="1400" u="none" cap="none" strike="noStrike">
              <a:solidFill>
                <a:srgbClr val="000000"/>
              </a:solidFill>
              <a:latin typeface="Arial"/>
              <a:ea typeface="Arial"/>
              <a:cs typeface="Arial"/>
              <a:sym typeface="Arial"/>
            </a:endParaRPr>
          </a:p>
        </p:txBody>
      </p:sp>
      <p:pic>
        <p:nvPicPr>
          <p:cNvPr id="828" name="Google Shape;828;p82"/>
          <p:cNvPicPr preferRelativeResize="0"/>
          <p:nvPr/>
        </p:nvPicPr>
        <p:blipFill rotWithShape="1">
          <a:blip r:embed="rId3">
            <a:alphaModFix/>
          </a:blip>
          <a:srcRect b="0" l="0" r="0" t="0"/>
          <a:stretch/>
        </p:blipFill>
        <p:spPr>
          <a:xfrm>
            <a:off x="484565" y="1981681"/>
            <a:ext cx="8200219" cy="2173410"/>
          </a:xfrm>
          <a:prstGeom prst="rect">
            <a:avLst/>
          </a:prstGeom>
          <a:noFill/>
          <a:ln>
            <a:noFill/>
          </a:ln>
        </p:spPr>
      </p:pic>
      <p:sp>
        <p:nvSpPr>
          <p:cNvPr id="829" name="Google Shape;829;p82"/>
          <p:cNvSpPr txBox="1"/>
          <p:nvPr/>
        </p:nvSpPr>
        <p:spPr>
          <a:xfrm>
            <a:off x="5699666" y="586020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30" name="Google Shape;830;p82"/>
          <p:cNvSpPr/>
          <p:nvPr/>
        </p:nvSpPr>
        <p:spPr>
          <a:xfrm>
            <a:off x="567559" y="4647523"/>
            <a:ext cx="6345841" cy="167028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48</a:t>
            </a:r>
          </a:p>
        </p:txBody>
      </p:sp>
      <p:sp xmlns:p="http://schemas.openxmlformats.org/presentationml/2006/main" xmlns:a="http://schemas.openxmlformats.org/drawingml/2006/main">
        <p:nvSpPr>
          <p:cNvPr id="832"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2.10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does the distribution support your choice of center and spread? What would the other measure emphasize?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13" name="Google Shape;613;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4" name="Google Shape;614;p59"/>
          <p:cNvSpPr txBox="1"/>
          <p:nvPr/>
        </p:nvSpPr>
        <p:spPr>
          <a:xfrm>
            <a:off x="484564" y="409888"/>
            <a:ext cx="6366435" cy="21763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To determine which measures of center and variation are most appropriate to describe a data set, you must first examine the distribution of the data.</a:t>
            </a:r>
            <a:endParaRPr b="1" i="0" sz="2800" u="none" cap="none" strike="noStrike">
              <a:solidFill>
                <a:srgbClr val="262626"/>
              </a:solidFill>
              <a:latin typeface="Arial"/>
              <a:ea typeface="Arial"/>
              <a:cs typeface="Arial"/>
              <a:sym typeface="Arial"/>
            </a:endParaRPr>
          </a:p>
        </p:txBody>
      </p:sp>
      <p:sp>
        <p:nvSpPr>
          <p:cNvPr id="615" name="Google Shape;615;p59"/>
          <p:cNvSpPr/>
          <p:nvPr/>
        </p:nvSpPr>
        <p:spPr>
          <a:xfrm>
            <a:off x="484563" y="3441877"/>
            <a:ext cx="636643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62626"/>
                </a:solidFill>
                <a:latin typeface="Arial"/>
                <a:ea typeface="Arial"/>
                <a:cs typeface="Arial"/>
                <a:sym typeface="Arial"/>
              </a:rPr>
              <a:t>What tool can you use to help you analyze the distribution of a data set?</a:t>
            </a:r>
            <a:endParaRPr b="0" i="0" sz="1400" u="none" cap="none" strike="noStrike">
              <a:solidFill>
                <a:srgbClr val="000000"/>
              </a:solidFill>
              <a:latin typeface="Arial"/>
              <a:ea typeface="Arial"/>
              <a:cs typeface="Arial"/>
              <a:sym typeface="Arial"/>
            </a:endParaRPr>
          </a:p>
        </p:txBody>
      </p:sp>
      <p:sp>
        <p:nvSpPr>
          <p:cNvPr id="616" name="Google Shape;616;p59"/>
          <p:cNvSpPr txBox="1"/>
          <p:nvPr/>
        </p:nvSpPr>
        <p:spPr>
          <a:xfrm>
            <a:off x="484563" y="5173588"/>
            <a:ext cx="5960624" cy="11150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 dot plot.</a:t>
            </a:r>
            <a:endParaRPr b="0" i="0" sz="1400" u="none" cap="none" strike="noStrike">
              <a:solidFill>
                <a:srgbClr val="000000"/>
              </a:solidFill>
              <a:latin typeface="Arial"/>
              <a:ea typeface="Arial"/>
              <a:cs typeface="Arial"/>
              <a:sym typeface="Arial"/>
            </a:endParaRPr>
          </a:p>
        </p:txBody>
      </p:sp>
      <p:graphicFrame>
        <p:nvGraphicFramePr>
          <p:cNvPr id="617" name="Google Shape;617;p59"/>
          <p:cNvGraphicFramePr/>
          <p:nvPr/>
        </p:nvGraphicFramePr>
        <p:xfrm>
          <a:off x="7475255" y="1387880"/>
          <a:ext cx="3000000" cy="3000000"/>
        </p:xfrm>
        <a:graphic>
          <a:graphicData uri="http://schemas.openxmlformats.org/drawingml/2006/table">
            <a:tbl>
              <a:tblPr bandRow="1" firstRow="1">
                <a:noFill/>
                <a:tableStyleId>{A9645E5B-61D4-4A06-8A57-200172C6AD11}</a:tableStyleId>
              </a:tblPr>
              <a:tblGrid>
                <a:gridCol w="843075"/>
                <a:gridCol w="817675"/>
                <a:gridCol w="773725"/>
                <a:gridCol w="817675"/>
                <a:gridCol w="783450"/>
              </a:tblGrid>
              <a:tr h="370850">
                <a:tc gridSpan="5">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1"/>
                          </a:solidFill>
                          <a:latin typeface="Arial"/>
                          <a:ea typeface="Arial"/>
                          <a:cs typeface="Arial"/>
                          <a:sym typeface="Arial"/>
                        </a:rPr>
                        <a:t>Data Set</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r>
              <a:tr h="370850">
                <a:tc gridSpan="5">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Teaching Experience (years)</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hMerge="1"/>
                <a:tc hMerge="1"/>
                <a:tc hMerge="1"/>
                <a:tc hMerge="1"/>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10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11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Arial"/>
                          <a:ea typeface="Arial"/>
                          <a:cs typeface="Arial"/>
                          <a:sym typeface="Arial"/>
                        </a:rPr>
                        <a:t>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bl>
          </a:graphicData>
        </a:graphic>
      </p:graphicFrame>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48</a:t>
            </a:r>
          </a:p>
        </p:txBody>
      </p:sp>
      <p:grpSp>
        <p:nvGrpSpPr>
          <p:cNvPr id="618" name="TEACH-6-student-move" descr="TEACH 6 · Organize and implement routines to support a learning-focused classroom"/>
          <p:cNvGrpSpPr/>
          <p:nvPr/>
        </p:nvGrpSpPr>
        <p:grpSpPr>
          <a:xfrm>
            <a:off x="502920" y="2765221"/>
            <a:ext cx="5501640" cy="594360"/>
            <a:chOff x="502920" y="2765221"/>
            <a:chExt cx="5501640" cy="594360"/>
          </a:xfrm>
        </p:grpSpPr>
        <p:sp>
          <p:nvSpPr>
            <p:cNvPr id="619" name="TEACH-move-card"/>
            <p:cNvSpPr/>
            <p:nvPr/>
          </p:nvSpPr>
          <p:spPr>
            <a:xfrm>
              <a:off x="502920" y="2765221"/>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20" name="TEACH-move-rule"/>
            <p:cNvSpPr/>
            <p:nvPr/>
          </p:nvSpPr>
          <p:spPr>
            <a:xfrm>
              <a:off x="548640" y="2878149"/>
              <a:ext cx="100584" cy="368504"/>
            </a:xfrm>
            <a:prstGeom prst="roundRect">
              <a:avLst>
                <a:gd name="adj" fmla="val 50000"/>
              </a:avLst>
            </a:prstGeom>
            <a:solidFill>
              <a:srgbClr val="01708C"/>
            </a:solidFill>
            <a:ln>
              <a:noFill/>
            </a:ln>
          </p:spPr>
          <p:txBody>
            <a:bodyPr/>
            <a:lstStyle/>
            <a:p>
              <a:endParaRPr/>
            </a:p>
          </p:txBody>
        </p:sp>
        <p:sp>
          <p:nvSpPr>
            <p:cNvPr id="621" name="TEACH-move-text"/>
            <p:cNvSpPr txBox="1"/>
            <p:nvPr/>
          </p:nvSpPr>
          <p:spPr>
            <a:xfrm>
              <a:off x="822960" y="2765221"/>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33" name="Google Shape;733;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4" name="Google Shape;734;p72"/>
          <p:cNvSpPr/>
          <p:nvPr/>
        </p:nvSpPr>
        <p:spPr>
          <a:xfrm>
            <a:off x="484566" y="4710951"/>
            <a:ext cx="506222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62626"/>
                </a:solidFill>
                <a:latin typeface="Arial"/>
                <a:ea typeface="Arial"/>
                <a:cs typeface="Arial"/>
                <a:sym typeface="Arial"/>
              </a:rPr>
              <a:t>What do you notice about the mean and median?</a:t>
            </a:r>
            <a:endParaRPr b="0" i="0" sz="1400" u="none" cap="none" strike="noStrike">
              <a:solidFill>
                <a:srgbClr val="000000"/>
              </a:solidFill>
              <a:latin typeface="Arial"/>
              <a:ea typeface="Arial"/>
              <a:cs typeface="Arial"/>
              <a:sym typeface="Arial"/>
            </a:endParaRPr>
          </a:p>
        </p:txBody>
      </p:sp>
      <p:sp>
        <p:nvSpPr>
          <p:cNvPr id="735" name="Google Shape;735;p72"/>
          <p:cNvSpPr txBox="1"/>
          <p:nvPr/>
        </p:nvSpPr>
        <p:spPr>
          <a:xfrm>
            <a:off x="5845353" y="4412983"/>
            <a:ext cx="5960624" cy="197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mean is greater than the median. The median is closer to the center of most of the data.</a:t>
            </a:r>
            <a:endParaRPr b="0" i="0" sz="1400" u="none" cap="none" strike="noStrike">
              <a:solidFill>
                <a:srgbClr val="000000"/>
              </a:solidFill>
              <a:latin typeface="Arial"/>
              <a:ea typeface="Arial"/>
              <a:cs typeface="Arial"/>
              <a:sym typeface="Arial"/>
            </a:endParaRPr>
          </a:p>
        </p:txBody>
      </p:sp>
      <p:pic>
        <p:nvPicPr>
          <p:cNvPr id="736" name="Google Shape;736;p72"/>
          <p:cNvPicPr preferRelativeResize="0"/>
          <p:nvPr/>
        </p:nvPicPr>
        <p:blipFill rotWithShape="1">
          <a:blip r:embed="rId2">
            <a:alphaModFix/>
          </a:blip>
          <a:srcRect b="0" l="0" r="0" t="0"/>
          <a:stretch/>
        </p:blipFill>
        <p:spPr>
          <a:xfrm>
            <a:off x="482408" y="1998876"/>
            <a:ext cx="8189072" cy="2181645"/>
          </a:xfrm>
          <a:prstGeom prst="rect">
            <a:avLst/>
          </a:prstGeom>
          <a:noFill/>
          <a:ln>
            <a:noFill/>
          </a:ln>
        </p:spPr>
      </p:pic>
      <p:sp>
        <p:nvSpPr>
          <p:cNvPr id="737" name="Google Shape;737;p72"/>
          <p:cNvSpPr/>
          <p:nvPr/>
        </p:nvSpPr>
        <p:spPr>
          <a:xfrm>
            <a:off x="5004685" y="902093"/>
            <a:ext cx="195438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Cambria Math"/>
                <a:ea typeface="Cambria Math"/>
                <a:cs typeface="Cambria Math"/>
                <a:sym typeface="Cambria Math"/>
              </a:rPr>
              <a:t>median = 4</a:t>
            </a:r>
            <a:endParaRPr b="0" i="0" sz="1400" u="none" cap="none" strike="noStrike">
              <a:solidFill>
                <a:srgbClr val="000000"/>
              </a:solidFill>
              <a:latin typeface="Arial"/>
              <a:ea typeface="Arial"/>
              <a:cs typeface="Arial"/>
              <a:sym typeface="Arial"/>
            </a:endParaRPr>
          </a:p>
        </p:txBody>
      </p:sp>
      <p:sp>
        <p:nvSpPr>
          <p:cNvPr id="738" name="Google Shape;738;p72"/>
          <p:cNvSpPr/>
          <p:nvPr/>
        </p:nvSpPr>
        <p:spPr>
          <a:xfrm>
            <a:off x="1449018" y="902093"/>
            <a:ext cx="212750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Cambria Math"/>
                <a:ea typeface="Cambria Math"/>
                <a:cs typeface="Cambria Math"/>
                <a:sym typeface="Cambria Math"/>
              </a:rPr>
              <a:t>mean = 6.08</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48</a:t>
            </a:r>
          </a:p>
        </p:txBody>
      </p:sp>
      <p:grpSp>
        <p:nvGrpSpPr>
          <p:cNvPr id="739" name="TEACH-3-student-move" descr="TEACH 3 · Use intentional questioning to deepen learning"/>
          <p:cNvGrpSpPr/>
          <p:nvPr/>
        </p:nvGrpSpPr>
        <p:grpSpPr>
          <a:xfrm>
            <a:off x="502920" y="1559964"/>
            <a:ext cx="11186160" cy="402336"/>
            <a:chOff x="502920" y="1559964"/>
            <a:chExt cx="11186160" cy="402336"/>
          </a:xfrm>
        </p:grpSpPr>
        <p:sp>
          <p:nvSpPr>
            <p:cNvPr id="740" name="TEACH-move-card"/>
            <p:cNvSpPr/>
            <p:nvPr/>
          </p:nvSpPr>
          <p:spPr>
            <a:xfrm>
              <a:off x="502920" y="1559964"/>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41" name="TEACH-move-rule"/>
            <p:cNvSpPr/>
            <p:nvPr/>
          </p:nvSpPr>
          <p:spPr>
            <a:xfrm>
              <a:off x="548640" y="1636408"/>
              <a:ext cx="100584" cy="249448"/>
            </a:xfrm>
            <a:prstGeom prst="roundRect">
              <a:avLst>
                <a:gd name="adj" fmla="val 50000"/>
              </a:avLst>
            </a:prstGeom>
            <a:solidFill>
              <a:srgbClr val="01708C"/>
            </a:solidFill>
            <a:ln>
              <a:noFill/>
            </a:ln>
          </p:spPr>
          <p:txBody>
            <a:bodyPr/>
            <a:lstStyle/>
            <a:p>
              <a:endParaRPr/>
            </a:p>
          </p:txBody>
        </p:sp>
        <p:sp>
          <p:nvSpPr>
            <p:cNvPr id="742" name="TEACH-move-text"/>
            <p:cNvSpPr txBox="1"/>
            <p:nvPr/>
          </p:nvSpPr>
          <p:spPr>
            <a:xfrm>
              <a:off x="822960" y="1559964"/>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92" name="Google Shape;792;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3" name="Google Shape;793;p78"/>
          <p:cNvSpPr/>
          <p:nvPr/>
        </p:nvSpPr>
        <p:spPr>
          <a:xfrm>
            <a:off x="626957" y="506481"/>
            <a:ext cx="6675207"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are some measures of variation that can be used to describe data sets?</a:t>
            </a:r>
            <a:endParaRPr b="0" i="0" sz="2800" u="none" cap="none" strike="noStrike">
              <a:solidFill>
                <a:schemeClr val="dk1"/>
              </a:solidFill>
              <a:latin typeface="Arial"/>
              <a:ea typeface="Arial"/>
              <a:cs typeface="Arial"/>
              <a:sym typeface="Arial"/>
            </a:endParaRPr>
          </a:p>
        </p:txBody>
      </p:sp>
      <p:sp>
        <p:nvSpPr>
          <p:cNvPr id="794" name="Google Shape;794;p78"/>
          <p:cNvSpPr txBox="1"/>
          <p:nvPr/>
        </p:nvSpPr>
        <p:spPr>
          <a:xfrm>
            <a:off x="626957" y="4785649"/>
            <a:ext cx="6212254" cy="207235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mean absolute deviation, range, and interquartile range</a:t>
            </a:r>
            <a:endParaRPr b="0" i="0" sz="1400" u="none" cap="none" strike="noStrike">
              <a:solidFill>
                <a:srgbClr val="000000"/>
              </a:solidFill>
              <a:latin typeface="Arial"/>
              <a:ea typeface="Arial"/>
              <a:cs typeface="Arial"/>
              <a:sym typeface="Arial"/>
            </a:endParaRPr>
          </a:p>
        </p:txBody>
      </p:sp>
      <p:pic>
        <p:nvPicPr>
          <p:cNvPr id="795" name="Google Shape;795;p78"/>
          <p:cNvPicPr preferRelativeResize="0"/>
          <p:nvPr/>
        </p:nvPicPr>
        <p:blipFill rotWithShape="1">
          <a:blip r:embed="rId2">
            <a:alphaModFix/>
          </a:blip>
          <a:srcRect b="0" l="0" r="0" t="0"/>
          <a:stretch/>
        </p:blipFill>
        <p:spPr>
          <a:xfrm>
            <a:off x="482408" y="1998876"/>
            <a:ext cx="8189072" cy="2181645"/>
          </a:xfrm>
          <a:prstGeom prst="rect">
            <a:avLst/>
          </a:prstGeom>
          <a:noFill/>
          <a:ln>
            <a:noFill/>
          </a:ln>
        </p:spPr>
      </p:pic>
      <p:sp>
        <p:nvSpPr>
          <p:cNvPr id="796" name="Google Shape;796;p78"/>
          <p:cNvSpPr txBox="1"/>
          <p:nvPr/>
        </p:nvSpPr>
        <p:spPr>
          <a:xfrm>
            <a:off x="7302164" y="4379844"/>
            <a:ext cx="4550529" cy="197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What does a measure of variation tell you about a data set?</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48</a:t>
            </a:r>
          </a:p>
        </p:txBody>
      </p:sp>
      <p:grpSp>
        <p:nvGrpSpPr>
          <p:cNvPr id="797" name="TEACH-5-student-move" descr="TEACH 5 · Facilitate student interactions and academic talk"/>
          <p:cNvGrpSpPr/>
          <p:nvPr/>
        </p:nvGrpSpPr>
        <p:grpSpPr>
          <a:xfrm>
            <a:off x="502920" y="4346737"/>
            <a:ext cx="5501640" cy="402336"/>
            <a:chOff x="502920" y="4346737"/>
            <a:chExt cx="5501640" cy="402336"/>
          </a:xfrm>
        </p:grpSpPr>
        <p:sp>
          <p:nvSpPr>
            <p:cNvPr id="798" name="TEACH-move-card"/>
            <p:cNvSpPr/>
            <p:nvPr/>
          </p:nvSpPr>
          <p:spPr>
            <a:xfrm>
              <a:off x="502920" y="4346737"/>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99" name="TEACH-move-rule"/>
            <p:cNvSpPr/>
            <p:nvPr/>
          </p:nvSpPr>
          <p:spPr>
            <a:xfrm>
              <a:off x="548640" y="4423181"/>
              <a:ext cx="100584" cy="249448"/>
            </a:xfrm>
            <a:prstGeom prst="roundRect">
              <a:avLst>
                <a:gd name="adj" fmla="val 50000"/>
              </a:avLst>
            </a:prstGeom>
            <a:solidFill>
              <a:srgbClr val="01708C"/>
            </a:solidFill>
            <a:ln>
              <a:noFill/>
            </a:ln>
          </p:spPr>
          <p:txBody>
            <a:bodyPr/>
            <a:lstStyle/>
            <a:p>
              <a:endParaRPr/>
            </a:p>
          </p:txBody>
        </p:sp>
        <p:sp>
          <p:nvSpPr>
            <p:cNvPr id="800" name="TEACH-move-text"/>
            <p:cNvSpPr txBox="1"/>
            <p:nvPr/>
          </p:nvSpPr>
          <p:spPr>
            <a:xfrm>
              <a:off x="822960" y="4346737"/>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2-10 · Choose Appropriate Measures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When a distribution is symmetric with no outliers, use: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Median and IQR</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Mean and MAD</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Mode and Range</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Min and Max</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When data is skewed or contains outliers, use:</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Mean and MAD</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Median and IQR</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Range only</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Sum only</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Which measure of variability pairs with the median?</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MAD</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IQR</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Mean</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Standard error</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Why avoid the mean for data with extreme outliers?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Harder to add</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Outliers distort the mean</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Always zero</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Cannot divide</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48</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2-10 · Choose Appropriate Measures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Symmetric Strategy</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Report the </a:t>
            </a:r>
            <a:r>
              <a:rPr b="1" i="0" lang="en-US" sz="1450" u="none" cap="none" strike="noStrike">
                <a:solidFill>
                  <a:srgbClr val="475569"/>
                </a:solidFill>
                <a:latin typeface="Arial"/>
                <a:ea typeface="Arial"/>
                <a:cs typeface="Arial"/>
                <a:sym typeface="Arial"/>
              </a:rPr>
              <a:t xml:space="preserve">Mean</a:t>
            </a:r>
            <a:r>
              <a:rPr b="0" i="0" lang="en-US" sz="1450" u="none" cap="none" strike="noStrike">
                <a:solidFill>
                  <a:srgbClr val="475569"/>
                </a:solidFill>
                <a:latin typeface="Arial"/>
                <a:ea typeface="Arial"/>
                <a:cs typeface="Arial"/>
                <a:sym typeface="Arial"/>
              </a:rPr>
              <a:t xml:space="preserve"> for center and the </a:t>
            </a:r>
            <a:r>
              <a:rPr b="1" i="0" lang="en-US" sz="1450" u="none" cap="none" strike="noStrike">
                <a:solidFill>
                  <a:srgbClr val="475569"/>
                </a:solidFill>
                <a:latin typeface="Arial"/>
                <a:ea typeface="Arial"/>
                <a:cs typeface="Arial"/>
                <a:sym typeface="Arial"/>
              </a:rPr>
              <a:t xml:space="preserve">MAD</a:t>
            </a:r>
            <a:r>
              <a:rPr b="0" i="0" lang="en-US" sz="1450" u="none" cap="none" strike="noStrike">
                <a:solidFill>
                  <a:srgbClr val="475569"/>
                </a:solidFill>
                <a:latin typeface="Arial"/>
                <a:ea typeface="Arial"/>
                <a:cs typeface="Arial"/>
                <a:sym typeface="Arial"/>
              </a:rPr>
              <a:t xml:space="preserve"> for variability when data shape is balanced.</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Skewed Strategy</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Report the </a:t>
            </a:r>
            <a:r>
              <a:rPr b="1" i="0" lang="en-US" sz="1450" u="none" cap="none" strike="noStrike">
                <a:solidFill>
                  <a:srgbClr val="475569"/>
                </a:solidFill>
                <a:latin typeface="Arial"/>
                <a:ea typeface="Arial"/>
                <a:cs typeface="Arial"/>
                <a:sym typeface="Arial"/>
              </a:rPr>
              <a:t xml:space="preserve">Median</a:t>
            </a:r>
            <a:r>
              <a:rPr b="0" i="0" lang="en-US" sz="1450" u="none" cap="none" strike="noStrike">
                <a:solidFill>
                  <a:srgbClr val="475569"/>
                </a:solidFill>
                <a:latin typeface="Arial"/>
                <a:ea typeface="Arial"/>
                <a:cs typeface="Arial"/>
                <a:sym typeface="Arial"/>
              </a:rPr>
              <a:t xml:space="preserve"> for center and the </a:t>
            </a:r>
            <a:r>
              <a:rPr b="1" i="0" lang="en-US" sz="1450" u="none" cap="none" strike="noStrike">
                <a:solidFill>
                  <a:srgbClr val="475569"/>
                </a:solidFill>
                <a:latin typeface="Arial"/>
                <a:ea typeface="Arial"/>
                <a:cs typeface="Arial"/>
                <a:sym typeface="Arial"/>
              </a:rPr>
              <a:t xml:space="preserve">IQR</a:t>
            </a:r>
            <a:r>
              <a:rPr b="0" i="0" lang="en-US" sz="1450" u="none" cap="none" strike="noStrike">
                <a:solidFill>
                  <a:srgbClr val="475569"/>
                </a:solidFill>
                <a:latin typeface="Arial"/>
                <a:ea typeface="Arial"/>
                <a:cs typeface="Arial"/>
                <a:sym typeface="Arial"/>
              </a:rPr>
              <a:t xml:space="preserve"> for variability when data has tails or outliers.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Choosing Measures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Match the measure of </a:t>
            </a:r>
            <a:r>
              <a:rPr b="1" i="0" lang="en-US" sz="1450" u="none" cap="none" strike="noStrike">
                <a:solidFill>
                  <a:srgbClr val="475569"/>
                </a:solidFill>
                <a:latin typeface="Arial"/>
                <a:ea typeface="Arial"/>
                <a:cs typeface="Arial"/>
                <a:sym typeface="Arial"/>
              </a:rPr>
              <a:t xml:space="preserve">spread</a:t>
            </a:r>
            <a:r>
              <a:rPr b="0" i="0" lang="en-US" sz="1450" u="none" cap="none" strike="noStrike">
                <a:solidFill>
                  <a:srgbClr val="475569"/>
                </a:solidFill>
                <a:latin typeface="Arial"/>
                <a:ea typeface="Arial"/>
                <a:cs typeface="Arial"/>
                <a:sym typeface="Arial"/>
              </a:rPr>
              <a:t xml:space="preserve"> to the </a:t>
            </a:r>
            <a:r>
              <a:rPr b="1" i="0" lang="en-US" sz="1450" u="none" cap="none" strike="noStrike">
                <a:solidFill>
                  <a:srgbClr val="475569"/>
                </a:solidFill>
                <a:latin typeface="Arial"/>
                <a:ea typeface="Arial"/>
                <a:cs typeface="Arial"/>
                <a:sym typeface="Arial"/>
              </a:rPr>
              <a:t xml:space="preserve">measure of center</a:t>
            </a:r>
            <a:r>
              <a:rPr b="0" i="0" lang="en-US" sz="1450" u="none" cap="none" strike="noStrike">
                <a:solidFill>
                  <a:srgbClr val="475569"/>
                </a:solidFill>
                <a:latin typeface="Arial"/>
                <a:ea typeface="Arial"/>
                <a:cs typeface="Arial"/>
                <a:sym typeface="Arial"/>
              </a:rPr>
              <a:t xml:space="preserve"> (Mean + MAD, Median + IQR).</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48</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83"/>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Choose Appropriate Measures</a:t>
            </a:r>
            <a:endParaRPr b="0" i="0" sz="1400" u="none" cap="none" strike="noStrike">
              <a:solidFill>
                <a:srgbClr val="000000"/>
              </a:solidFill>
              <a:latin typeface="Arial"/>
              <a:ea typeface="Arial"/>
              <a:cs typeface="Arial"/>
              <a:sym typeface="Arial"/>
            </a:endParaRPr>
          </a:p>
        </p:txBody>
      </p:sp>
      <p:sp>
        <p:nvSpPr>
          <p:cNvPr id="836" name="Google Shape;836;p83"/>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37" name="Google Shape;837;p83"/>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48</a:t>
            </a:r>
          </a:p>
        </p:txBody>
      </p:sp>
      <p:grpSp>
        <p:nvGrpSpPr>
          <p:cNvPr id="839" name="TEACH-4-student-move" descr="TEACH 4 · Monitor progress and provide feedback"/>
          <p:cNvGrpSpPr/>
          <p:nvPr/>
        </p:nvGrpSpPr>
        <p:grpSpPr>
          <a:xfrm>
            <a:off x="502920" y="3201929"/>
            <a:ext cx="11186160" cy="731520"/>
            <a:chOff x="502920" y="3201929"/>
            <a:chExt cx="11186160" cy="731520"/>
          </a:xfrm>
        </p:grpSpPr>
        <p:sp>
          <p:nvSpPr>
            <p:cNvPr id="840"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41"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842"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cxnSp>
        <p:nvCxnSpPr>
          <p:cNvPr id="853" name="Google Shape;853;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4" name="Google Shape;854;p85"/>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55" name="Google Shape;855;p85"/>
          <p:cNvSpPr txBox="1"/>
          <p:nvPr/>
        </p:nvSpPr>
        <p:spPr>
          <a:xfrm>
            <a:off x="484560" y="936100"/>
            <a:ext cx="4175363" cy="11564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How are they different? </a:t>
            </a:r>
            <a:endParaRPr b="0" i="0" sz="1400" u="none" cap="none" strike="noStrike">
              <a:solidFill>
                <a:srgbClr val="000000"/>
              </a:solidFill>
              <a:latin typeface="Arial"/>
              <a:ea typeface="Arial"/>
              <a:cs typeface="Arial"/>
              <a:sym typeface="Arial"/>
            </a:endParaRPr>
          </a:p>
        </p:txBody>
      </p:sp>
      <p:pic>
        <p:nvPicPr>
          <p:cNvPr id="856" name="Google Shape;856;p85"/>
          <p:cNvPicPr preferRelativeResize="0"/>
          <p:nvPr/>
        </p:nvPicPr>
        <p:blipFill rotWithShape="1">
          <a:blip r:embed="rId3">
            <a:alphaModFix/>
          </a:blip>
          <a:srcRect b="0" l="0" r="0" t="0"/>
          <a:stretch/>
        </p:blipFill>
        <p:spPr>
          <a:xfrm>
            <a:off x="507023" y="2860675"/>
            <a:ext cx="4152900" cy="1219200"/>
          </a:xfrm>
          <a:prstGeom prst="rect">
            <a:avLst/>
          </a:prstGeom>
          <a:noFill/>
          <a:ln>
            <a:noFill/>
          </a:ln>
        </p:spPr>
      </p:pic>
      <p:pic>
        <p:nvPicPr>
          <p:cNvPr id="857" name="Google Shape;857;p85"/>
          <p:cNvPicPr preferRelativeResize="0"/>
          <p:nvPr/>
        </p:nvPicPr>
        <p:blipFill rotWithShape="1">
          <a:blip r:embed="rId4">
            <a:alphaModFix/>
          </a:blip>
          <a:srcRect b="0" l="0" r="0" t="0"/>
          <a:stretch/>
        </p:blipFill>
        <p:spPr>
          <a:xfrm>
            <a:off x="5132875" y="2865810"/>
            <a:ext cx="4124325" cy="1219200"/>
          </a:xfrm>
          <a:prstGeom prst="rect">
            <a:avLst/>
          </a:prstGeom>
          <a:noFill/>
          <a:ln>
            <a:noFill/>
          </a:ln>
        </p:spPr>
      </p:pic>
      <p:pic>
        <p:nvPicPr>
          <p:cNvPr id="858" name="Google Shape;858;p85"/>
          <p:cNvPicPr preferRelativeResize="0"/>
          <p:nvPr/>
        </p:nvPicPr>
        <p:blipFill rotWithShape="1">
          <a:blip r:embed="rId5">
            <a:alphaModFix/>
          </a:blip>
          <a:srcRect b="0" l="0" r="0" t="0"/>
          <a:stretch/>
        </p:blipFill>
        <p:spPr>
          <a:xfrm>
            <a:off x="474055" y="4694198"/>
            <a:ext cx="5054600" cy="838200"/>
          </a:xfrm>
          <a:prstGeom prst="rect">
            <a:avLst/>
          </a:prstGeom>
          <a:noFill/>
          <a:ln>
            <a:noFill/>
          </a:ln>
        </p:spPr>
      </p:pic>
      <p:sp>
        <p:nvSpPr>
          <p:cNvPr id="859" name="Google Shape;859;p85"/>
          <p:cNvSpPr txBox="1"/>
          <p:nvPr/>
        </p:nvSpPr>
        <p:spPr>
          <a:xfrm>
            <a:off x="3334072" y="485151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60" name="Google Shape;860;p85"/>
          <p:cNvSpPr/>
          <p:nvPr/>
        </p:nvSpPr>
        <p:spPr>
          <a:xfrm>
            <a:off x="687251" y="5509521"/>
            <a:ext cx="8945264"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classroom rules are helping prevent problems arising in math class?</a:t>
            </a:r>
            <a:endParaRPr b="0" i="0" sz="1400" u="none" cap="none" strike="noStrike">
              <a:solidFill>
                <a:srgbClr val="000000"/>
              </a:solidFill>
              <a:latin typeface="Arial"/>
              <a:ea typeface="Arial"/>
              <a:cs typeface="Arial"/>
              <a:sym typeface="Arial"/>
            </a:endParaRPr>
          </a:p>
        </p:txBody>
      </p:sp>
      <p:sp>
        <p:nvSpPr>
          <p:cNvPr id="8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48</a:t>
            </a:r>
          </a:p>
        </p:txBody>
      </p:sp>
      <p:sp xmlns:p="http://schemas.openxmlformats.org/presentationml/2006/main" xmlns:a="http://schemas.openxmlformats.org/drawingml/2006/main">
        <p:nvSpPr>
          <p:cNvPr id="862" name="TEACH-embedded-student-prompt" descr="Student thinking and response directions"/>
          <p:cNvSpPr txBox="1"/>
          <p:nvPr/>
        </p:nvSpPr>
        <p:spPr>
          <a:xfrm>
            <a:off x="594360" y="2249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cxnSp>
        <p:nvCxnSpPr>
          <p:cNvPr id="865" name="Google Shape;865;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6" name="Google Shape;866;p86"/>
          <p:cNvSpPr txBox="1"/>
          <p:nvPr/>
        </p:nvSpPr>
        <p:spPr>
          <a:xfrm>
            <a:off x="484565" y="316034"/>
            <a:ext cx="476444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Long Jumps</a:t>
            </a:r>
            <a:endParaRPr b="0" i="0" sz="1400" u="none" cap="none" strike="noStrike">
              <a:solidFill>
                <a:srgbClr val="000000"/>
              </a:solidFill>
              <a:latin typeface="Arial"/>
              <a:ea typeface="Arial"/>
              <a:cs typeface="Arial"/>
              <a:sym typeface="Arial"/>
            </a:endParaRPr>
          </a:p>
        </p:txBody>
      </p:sp>
      <p:sp>
        <p:nvSpPr>
          <p:cNvPr id="867" name="Google Shape;867;p86"/>
          <p:cNvSpPr txBox="1"/>
          <p:nvPr/>
        </p:nvSpPr>
        <p:spPr>
          <a:xfrm>
            <a:off x="484565" y="936099"/>
            <a:ext cx="6366435" cy="14951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Brielle participated in the long jump in ten track meets. Her jump lengths are shown.</a:t>
            </a:r>
            <a:endParaRPr b="1" i="0" sz="2800" u="none" cap="none" strike="noStrike">
              <a:solidFill>
                <a:srgbClr val="262626"/>
              </a:solidFill>
              <a:latin typeface="Arial"/>
              <a:ea typeface="Arial"/>
              <a:cs typeface="Arial"/>
              <a:sym typeface="Arial"/>
            </a:endParaRPr>
          </a:p>
        </p:txBody>
      </p:sp>
      <p:sp>
        <p:nvSpPr>
          <p:cNvPr id="868" name="Google Shape;868;p86"/>
          <p:cNvSpPr/>
          <p:nvPr/>
        </p:nvSpPr>
        <p:spPr>
          <a:xfrm>
            <a:off x="484565" y="5142769"/>
            <a:ext cx="10171712"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Which measure of center and measure of variation can be used to describe the data?</a:t>
            </a:r>
            <a:endParaRPr b="0" i="0" sz="1400" u="none" cap="none" strike="noStrike">
              <a:solidFill>
                <a:srgbClr val="000000"/>
              </a:solidFill>
              <a:latin typeface="Arial"/>
              <a:ea typeface="Arial"/>
              <a:cs typeface="Arial"/>
              <a:sym typeface="Arial"/>
            </a:endParaRPr>
          </a:p>
        </p:txBody>
      </p:sp>
      <p:pic>
        <p:nvPicPr>
          <p:cNvPr id="869" name="Google Shape;869;p86"/>
          <p:cNvPicPr preferRelativeResize="0"/>
          <p:nvPr/>
        </p:nvPicPr>
        <p:blipFill rotWithShape="1">
          <a:blip r:embed="rId3">
            <a:alphaModFix/>
          </a:blip>
          <a:srcRect b="0" l="0" r="0" t="0"/>
          <a:stretch/>
        </p:blipFill>
        <p:spPr>
          <a:xfrm>
            <a:off x="975541" y="2187015"/>
            <a:ext cx="8041304" cy="2700000"/>
          </a:xfrm>
          <a:prstGeom prst="rect">
            <a:avLst/>
          </a:prstGeom>
          <a:noFill/>
          <a:ln>
            <a:noFill/>
          </a:ln>
        </p:spPr>
      </p:pic>
      <p:sp>
        <p:nvSpPr>
          <p:cNvPr id="8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82" name="Google Shape;882;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3" name="Google Shape;883;p88"/>
          <p:cNvSpPr/>
          <p:nvPr/>
        </p:nvSpPr>
        <p:spPr>
          <a:xfrm>
            <a:off x="410308" y="323190"/>
            <a:ext cx="5577133"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62626"/>
                </a:solidFill>
                <a:latin typeface="Arial"/>
                <a:ea typeface="Arial"/>
                <a:cs typeface="Arial"/>
                <a:sym typeface="Arial"/>
              </a:rPr>
              <a:t>What tool can you use to determine the distribution of data values?</a:t>
            </a:r>
            <a:endParaRPr b="0" i="0" sz="1400" u="none" cap="none" strike="noStrike">
              <a:solidFill>
                <a:srgbClr val="000000"/>
              </a:solidFill>
              <a:latin typeface="Arial"/>
              <a:ea typeface="Arial"/>
              <a:cs typeface="Arial"/>
              <a:sym typeface="Arial"/>
            </a:endParaRPr>
          </a:p>
        </p:txBody>
      </p:sp>
      <p:pic>
        <p:nvPicPr>
          <p:cNvPr id="884" name="Google Shape;884;p88"/>
          <p:cNvPicPr preferRelativeResize="0"/>
          <p:nvPr/>
        </p:nvPicPr>
        <p:blipFill rotWithShape="1">
          <a:blip r:embed="rId2">
            <a:alphaModFix/>
          </a:blip>
          <a:srcRect b="0" l="0" r="0" t="0"/>
          <a:stretch/>
        </p:blipFill>
        <p:spPr>
          <a:xfrm>
            <a:off x="975541" y="2187015"/>
            <a:ext cx="8041304" cy="2700000"/>
          </a:xfrm>
          <a:prstGeom prst="rect">
            <a:avLst/>
          </a:prstGeom>
          <a:noFill/>
          <a:ln>
            <a:noFill/>
          </a:ln>
        </p:spPr>
      </p:pic>
      <p:sp>
        <p:nvSpPr>
          <p:cNvPr id="885" name="Google Shape;885;p88"/>
          <p:cNvSpPr txBox="1"/>
          <p:nvPr/>
        </p:nvSpPr>
        <p:spPr>
          <a:xfrm>
            <a:off x="410307" y="5187640"/>
            <a:ext cx="7230569"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 dot plot to display the data.</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48</a:t>
            </a:r>
          </a:p>
        </p:txBody>
      </p:sp>
      <p:grpSp>
        <p:nvGrpSpPr>
          <p:cNvPr id="886" name="TEACH-2-student-move" descr="TEACH 2 · Use strategies and tasks to engage students in rigorous work"/>
          <p:cNvGrpSpPr/>
          <p:nvPr/>
        </p:nvGrpSpPr>
        <p:grpSpPr>
          <a:xfrm>
            <a:off x="502920" y="1748103"/>
            <a:ext cx="11186160" cy="402336"/>
            <a:chOff x="502920" y="1748103"/>
            <a:chExt cx="11186160" cy="402336"/>
          </a:xfrm>
        </p:grpSpPr>
        <p:sp>
          <p:nvSpPr>
            <p:cNvPr id="887" name="TEACH-move-card"/>
            <p:cNvSpPr/>
            <p:nvPr/>
          </p:nvSpPr>
          <p:spPr>
            <a:xfrm>
              <a:off x="502920" y="174810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88" name="TEACH-move-rule"/>
            <p:cNvSpPr/>
            <p:nvPr/>
          </p:nvSpPr>
          <p:spPr>
            <a:xfrm>
              <a:off x="548640" y="1824547"/>
              <a:ext cx="100584" cy="249448"/>
            </a:xfrm>
            <a:prstGeom prst="roundRect">
              <a:avLst>
                <a:gd name="adj" fmla="val 50000"/>
              </a:avLst>
            </a:prstGeom>
            <a:solidFill>
              <a:srgbClr val="01708C"/>
            </a:solidFill>
            <a:ln>
              <a:noFill/>
            </a:ln>
          </p:spPr>
          <p:txBody>
            <a:bodyPr/>
            <a:lstStyle/>
            <a:p>
              <a:endParaRPr/>
            </a:p>
          </p:txBody>
        </p:sp>
        <p:sp>
          <p:nvSpPr>
            <p:cNvPr id="889" name="TEACH-move-text"/>
            <p:cNvSpPr txBox="1"/>
            <p:nvPr/>
          </p:nvSpPr>
          <p:spPr>
            <a:xfrm>
              <a:off x="822960" y="174810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99" name="Google Shape;899;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0" name="Google Shape;900;p90"/>
          <p:cNvSpPr txBox="1"/>
          <p:nvPr/>
        </p:nvSpPr>
        <p:spPr>
          <a:xfrm>
            <a:off x="484565" y="408922"/>
            <a:ext cx="6287171" cy="9245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We can use a dot plot to display the data.</a:t>
            </a:r>
            <a:endParaRPr b="0" i="0" sz="1400" u="none" cap="none" strike="noStrike">
              <a:solidFill>
                <a:srgbClr val="000000"/>
              </a:solidFill>
              <a:latin typeface="Arial"/>
              <a:ea typeface="Arial"/>
              <a:cs typeface="Arial"/>
              <a:sym typeface="Arial"/>
            </a:endParaRPr>
          </a:p>
        </p:txBody>
      </p:sp>
      <p:sp>
        <p:nvSpPr>
          <p:cNvPr id="901" name="Google Shape;901;p90"/>
          <p:cNvSpPr/>
          <p:nvPr/>
        </p:nvSpPr>
        <p:spPr>
          <a:xfrm>
            <a:off x="484564" y="3150354"/>
            <a:ext cx="628717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62626"/>
                </a:solidFill>
                <a:latin typeface="Arial"/>
                <a:ea typeface="Arial"/>
                <a:cs typeface="Arial"/>
                <a:sym typeface="Arial"/>
              </a:rPr>
              <a:t>What do you notice about the data and the shape of the distribution?</a:t>
            </a:r>
            <a:endParaRPr b="0" i="0" sz="1400" u="none" cap="none" strike="noStrike">
              <a:solidFill>
                <a:srgbClr val="000000"/>
              </a:solidFill>
              <a:latin typeface="Arial"/>
              <a:ea typeface="Arial"/>
              <a:cs typeface="Arial"/>
              <a:sym typeface="Arial"/>
            </a:endParaRPr>
          </a:p>
        </p:txBody>
      </p:sp>
      <p:pic>
        <p:nvPicPr>
          <p:cNvPr id="902" name="Google Shape;902;p90"/>
          <p:cNvPicPr preferRelativeResize="0"/>
          <p:nvPr/>
        </p:nvPicPr>
        <p:blipFill rotWithShape="1">
          <a:blip r:embed="rId2">
            <a:alphaModFix/>
          </a:blip>
          <a:srcRect b="0" l="0" r="0" t="0"/>
          <a:stretch/>
        </p:blipFill>
        <p:spPr>
          <a:xfrm>
            <a:off x="7426127" y="1501931"/>
            <a:ext cx="4581525" cy="1828800"/>
          </a:xfrm>
          <a:prstGeom prst="rect">
            <a:avLst/>
          </a:prstGeom>
          <a:noFill/>
          <a:ln>
            <a:noFill/>
          </a:ln>
        </p:spPr>
      </p:pic>
      <p:sp>
        <p:nvSpPr>
          <p:cNvPr id="903" name="Google Shape;903;p90"/>
          <p:cNvSpPr txBox="1"/>
          <p:nvPr/>
        </p:nvSpPr>
        <p:spPr>
          <a:xfrm>
            <a:off x="484564" y="4392325"/>
            <a:ext cx="5960624" cy="20072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1.6 meters occurs the most. The data are nearly symmetric, with no gaps or outliers.</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48</a:t>
            </a:r>
          </a:p>
        </p:txBody>
      </p:sp>
      <p:sp xmlns:p="http://schemas.openxmlformats.org/presentationml/2006/main" xmlns:a="http://schemas.openxmlformats.org/drawingml/2006/main">
        <p:nvSpPr>
          <p:cNvPr id="904" name="TEACH-embedded-student-prompt" descr="Student thinking and response directions"/>
          <p:cNvSpPr txBox="1"/>
          <p:nvPr/>
        </p:nvSpPr>
        <p:spPr>
          <a:xfrm>
            <a:off x="594360" y="22128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17" name="Google Shape;917;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8" name="Google Shape;918;p92"/>
          <p:cNvSpPr txBox="1"/>
          <p:nvPr/>
        </p:nvSpPr>
        <p:spPr>
          <a:xfrm>
            <a:off x="484564" y="408922"/>
            <a:ext cx="6366435" cy="9245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The data are nearly symmetric. There are no gaps or outliers.</a:t>
            </a:r>
            <a:endParaRPr b="0" i="0" sz="1400" u="none" cap="none" strike="noStrike">
              <a:solidFill>
                <a:srgbClr val="000000"/>
              </a:solidFill>
              <a:latin typeface="Arial"/>
              <a:ea typeface="Arial"/>
              <a:cs typeface="Arial"/>
              <a:sym typeface="Arial"/>
            </a:endParaRPr>
          </a:p>
        </p:txBody>
      </p:sp>
      <p:sp>
        <p:nvSpPr>
          <p:cNvPr id="919" name="Google Shape;919;p92"/>
          <p:cNvSpPr/>
          <p:nvPr/>
        </p:nvSpPr>
        <p:spPr>
          <a:xfrm>
            <a:off x="484564" y="2812997"/>
            <a:ext cx="636643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62626"/>
                </a:solidFill>
                <a:latin typeface="Arial"/>
                <a:ea typeface="Arial"/>
                <a:cs typeface="Arial"/>
                <a:sym typeface="Arial"/>
              </a:rPr>
              <a:t>Which measure of center could be used to summarize this data set? Explain.</a:t>
            </a:r>
            <a:endParaRPr b="0" i="0" sz="1400" u="none" cap="none" strike="noStrike">
              <a:solidFill>
                <a:srgbClr val="000000"/>
              </a:solidFill>
              <a:latin typeface="Arial"/>
              <a:ea typeface="Arial"/>
              <a:cs typeface="Arial"/>
              <a:sym typeface="Arial"/>
            </a:endParaRPr>
          </a:p>
        </p:txBody>
      </p:sp>
      <p:pic>
        <p:nvPicPr>
          <p:cNvPr id="920" name="Google Shape;920;p92"/>
          <p:cNvPicPr preferRelativeResize="0"/>
          <p:nvPr/>
        </p:nvPicPr>
        <p:blipFill rotWithShape="1">
          <a:blip r:embed="rId2">
            <a:alphaModFix/>
          </a:blip>
          <a:srcRect b="0" l="0" r="0" t="0"/>
          <a:stretch/>
        </p:blipFill>
        <p:spPr>
          <a:xfrm>
            <a:off x="7426127" y="1541393"/>
            <a:ext cx="4581525" cy="1828800"/>
          </a:xfrm>
          <a:prstGeom prst="rect">
            <a:avLst/>
          </a:prstGeom>
          <a:noFill/>
          <a:ln>
            <a:noFill/>
          </a:ln>
        </p:spPr>
      </p:pic>
      <p:sp>
        <p:nvSpPr>
          <p:cNvPr id="921" name="Google Shape;921;p92"/>
          <p:cNvSpPr txBox="1"/>
          <p:nvPr/>
        </p:nvSpPr>
        <p:spPr>
          <a:xfrm>
            <a:off x="484564" y="4344640"/>
            <a:ext cx="5960624" cy="19267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could use the mean to summarize the data because there are no outliers to skew the measure.</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48</a:t>
            </a:r>
          </a:p>
        </p:txBody>
      </p:sp>
      <p:sp xmlns:p="http://schemas.openxmlformats.org/presentationml/2006/main" xmlns:a="http://schemas.openxmlformats.org/drawingml/2006/main">
        <p:nvSpPr>
          <p:cNvPr id="922" name="TEACH-embedded-student-prompt" descr="Student thinking and response directions"/>
          <p:cNvSpPr txBox="1"/>
          <p:nvPr/>
        </p:nvSpPr>
        <p:spPr>
          <a:xfrm>
            <a:off x="594360" y="18470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cxnSp>
        <p:nvCxnSpPr>
          <p:cNvPr id="935" name="Google Shape;935;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6" name="Google Shape;936;p94"/>
          <p:cNvSpPr txBox="1"/>
          <p:nvPr/>
        </p:nvSpPr>
        <p:spPr>
          <a:xfrm>
            <a:off x="484564" y="386497"/>
            <a:ext cx="6037006" cy="22704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When data are symmetric, the mean is an appropriate measure of center to summarize the data because there are no outliers to skew the mean.</a:t>
            </a:r>
            <a:endParaRPr b="0" i="0" sz="1400" u="none" cap="none" strike="noStrike">
              <a:solidFill>
                <a:srgbClr val="000000"/>
              </a:solidFill>
              <a:latin typeface="Arial"/>
              <a:ea typeface="Arial"/>
              <a:cs typeface="Arial"/>
              <a:sym typeface="Arial"/>
            </a:endParaRPr>
          </a:p>
        </p:txBody>
      </p:sp>
      <p:sp>
        <p:nvSpPr>
          <p:cNvPr id="937" name="Google Shape;937;p94"/>
          <p:cNvSpPr/>
          <p:nvPr/>
        </p:nvSpPr>
        <p:spPr>
          <a:xfrm>
            <a:off x="484564" y="3177947"/>
            <a:ext cx="603700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What measure of variation should we use with the mean? Explain.</a:t>
            </a:r>
            <a:endParaRPr b="0" i="0" sz="1400" u="none" cap="none" strike="noStrike">
              <a:solidFill>
                <a:srgbClr val="000000"/>
              </a:solidFill>
              <a:latin typeface="Arial"/>
              <a:ea typeface="Arial"/>
              <a:cs typeface="Arial"/>
              <a:sym typeface="Arial"/>
            </a:endParaRPr>
          </a:p>
        </p:txBody>
      </p:sp>
      <p:pic>
        <p:nvPicPr>
          <p:cNvPr id="938" name="Google Shape;938;p94"/>
          <p:cNvPicPr preferRelativeResize="0"/>
          <p:nvPr/>
        </p:nvPicPr>
        <p:blipFill rotWithShape="1">
          <a:blip r:embed="rId3">
            <a:alphaModFix/>
          </a:blip>
          <a:srcRect b="0" l="0" r="0" t="0"/>
          <a:stretch/>
        </p:blipFill>
        <p:spPr>
          <a:xfrm>
            <a:off x="7426127" y="1541393"/>
            <a:ext cx="4581525" cy="1828800"/>
          </a:xfrm>
          <a:prstGeom prst="rect">
            <a:avLst/>
          </a:prstGeom>
          <a:noFill/>
          <a:ln>
            <a:noFill/>
          </a:ln>
        </p:spPr>
      </p:pic>
      <p:sp>
        <p:nvSpPr>
          <p:cNvPr id="939" name="Google Shape;939;p94"/>
          <p:cNvSpPr txBox="1"/>
          <p:nvPr/>
        </p:nvSpPr>
        <p:spPr>
          <a:xfrm>
            <a:off x="484564" y="4437404"/>
            <a:ext cx="5960624" cy="19288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should use the mean absolute deviation to describe the variation because it is related to the mean.</a:t>
            </a:r>
            <a:endParaRPr b="0" i="0" sz="1400" u="none" cap="none" strike="noStrike">
              <a:solidFill>
                <a:srgbClr val="000000"/>
              </a:solidFill>
              <a:latin typeface="Arial"/>
              <a:ea typeface="Arial"/>
              <a:cs typeface="Arial"/>
              <a:sym typeface="Arial"/>
            </a:endParaRPr>
          </a:p>
        </p:txBody>
      </p:sp>
      <p:sp>
        <p:nvSpPr>
          <p:cNvPr id="9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48</a:t>
            </a:r>
          </a:p>
        </p:txBody>
      </p:sp>
      <p:sp>
        <p:nvSpPr>
          <p:cNvPr id="941" name="EWL-COVER-1"/>
          <p:cNvSpPr/>
          <p:nvPr/>
        </p:nvSpPr>
        <p:spPr>
          <a:xfrm>
            <a:off x="429700" y="4382540"/>
            <a:ext cx="6070352" cy="2038618"/>
          </a:xfrm>
          <a:prstGeom prst="rect">
            <a:avLst/>
          </a:prstGeom>
          <a:solidFill>
            <a:srgbClr val="FFFFFF"/>
          </a:solidFill>
          <a:ln>
            <a:noFill/>
          </a:ln>
        </p:spPr>
        <p:txBody>
          <a:bodyPr/>
          <a:lstStyle/>
          <a:p/>
        </p:txBody>
      </p:sp>
      <p:sp>
        <p:nvSpPr>
          <p:cNvPr id="94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94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0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23" name="Google Shape;1023;p103"/>
          <p:cNvSpPr txBox="1"/>
          <p:nvPr/>
        </p:nvSpPr>
        <p:spPr>
          <a:xfrm>
            <a:off x="484565" y="950230"/>
            <a:ext cx="5089517" cy="17189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Suppose that Brielle had two more jumps: 1.7 meters and 0.5 meter. How would these two additional data points affect the median and mean?</a:t>
            </a:r>
            <a:endParaRPr b="0" i="0" sz="1400" u="none" cap="none" strike="noStrike">
              <a:solidFill>
                <a:srgbClr val="000000"/>
              </a:solidFill>
              <a:latin typeface="Arial"/>
              <a:ea typeface="Arial"/>
              <a:cs typeface="Arial"/>
              <a:sym typeface="Arial"/>
            </a:endParaRPr>
          </a:p>
        </p:txBody>
      </p:sp>
      <p:sp>
        <p:nvSpPr>
          <p:cNvPr id="1024" name="Google Shape;1024;p103"/>
          <p:cNvSpPr txBox="1"/>
          <p:nvPr/>
        </p:nvSpPr>
        <p:spPr>
          <a:xfrm>
            <a:off x="5699666" y="586020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25" name="Google Shape;1025;p103"/>
          <p:cNvSpPr/>
          <p:nvPr/>
        </p:nvSpPr>
        <p:spPr>
          <a:xfrm>
            <a:off x="567559" y="3607496"/>
            <a:ext cx="6366435" cy="271031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id="1026" name="Google Shape;1026;p103"/>
          <p:cNvPicPr preferRelativeResize="0"/>
          <p:nvPr/>
        </p:nvPicPr>
        <p:blipFill rotWithShape="1">
          <a:blip r:embed="rId3">
            <a:alphaModFix/>
          </a:blip>
          <a:srcRect b="0" l="0" r="0" t="0"/>
          <a:stretch/>
        </p:blipFill>
        <p:spPr>
          <a:xfrm>
            <a:off x="5474039" y="1291365"/>
            <a:ext cx="6366435" cy="2137635"/>
          </a:xfrm>
          <a:prstGeom prst="rect">
            <a:avLst/>
          </a:prstGeom>
          <a:noFill/>
          <a:ln>
            <a:noFill/>
          </a:ln>
        </p:spPr>
      </p:pic>
      <p:sp>
        <p:nvSpPr>
          <p:cNvPr id="10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48</a:t>
            </a:r>
          </a:p>
        </p:txBody>
      </p:sp>
      <p:sp xmlns:p="http://schemas.openxmlformats.org/presentationml/2006/main" xmlns:a="http://schemas.openxmlformats.org/drawingml/2006/main">
        <p:nvSpPr>
          <p:cNvPr id="1028"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2.10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choosing mean automatically even when an outlier pulls it.</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Annotate clusters, gaps and outliers on the given display before comparing measures.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cxnSp>
        <p:nvCxnSpPr>
          <p:cNvPr id="1040" name="Google Shape;1040;p10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1" name="Google Shape;1041;p105"/>
          <p:cNvSpPr txBox="1"/>
          <p:nvPr/>
        </p:nvSpPr>
        <p:spPr>
          <a:xfrm>
            <a:off x="484565" y="3970831"/>
            <a:ext cx="8108290" cy="137272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data set is symmetric. Mean and mean absolute deviation are appropriate measures.</a:t>
            </a:r>
            <a:endParaRPr b="0" i="0" sz="1400" u="none" cap="none" strike="noStrike">
              <a:solidFill>
                <a:srgbClr val="000000"/>
              </a:solidFill>
              <a:latin typeface="Arial"/>
              <a:ea typeface="Arial"/>
              <a:cs typeface="Arial"/>
              <a:sym typeface="Arial"/>
            </a:endParaRPr>
          </a:p>
        </p:txBody>
      </p:sp>
      <p:sp>
        <p:nvSpPr>
          <p:cNvPr id="1042" name="Google Shape;1042;p105"/>
          <p:cNvSpPr txBox="1"/>
          <p:nvPr/>
        </p:nvSpPr>
        <p:spPr>
          <a:xfrm>
            <a:off x="484565" y="316033"/>
            <a:ext cx="6030535" cy="9520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Choose Appropriate Measures </a:t>
            </a:r>
            <a:r>
              <a:rPr b="1" i="0" lang="en-US" sz="1500" u="none" cap="none" strike="noStrike">
                <a:solidFill>
                  <a:srgbClr val="782DA0"/>
                </a:solidFill>
                <a:latin typeface="Arial"/>
                <a:ea typeface="Arial"/>
                <a:cs typeface="Arial"/>
                <a:sym typeface="Arial"/>
              </a:rPr>
              <a:t>(continued)</a:t>
            </a:r>
            <a:endParaRPr b="0" i="0" sz="1400" u="none" cap="none" strike="noStrike">
              <a:solidFill>
                <a:srgbClr val="000000"/>
              </a:solidFill>
              <a:latin typeface="Arial"/>
              <a:ea typeface="Arial"/>
              <a:cs typeface="Arial"/>
              <a:sym typeface="Arial"/>
            </a:endParaRPr>
          </a:p>
        </p:txBody>
      </p:sp>
      <p:pic>
        <p:nvPicPr>
          <p:cNvPr id="1043" name="Google Shape;1043;p105"/>
          <p:cNvPicPr preferRelativeResize="0"/>
          <p:nvPr/>
        </p:nvPicPr>
        <p:blipFill rotWithShape="1">
          <a:blip r:embed="rId3">
            <a:alphaModFix/>
          </a:blip>
          <a:srcRect b="0" l="0" r="0" t="0"/>
          <a:stretch/>
        </p:blipFill>
        <p:spPr>
          <a:xfrm>
            <a:off x="1850584" y="2138787"/>
            <a:ext cx="5140691" cy="1828800"/>
          </a:xfrm>
          <a:prstGeom prst="rect">
            <a:avLst/>
          </a:prstGeom>
          <a:noFill/>
          <a:ln>
            <a:noFill/>
          </a:ln>
        </p:spPr>
      </p:pic>
      <p:sp>
        <p:nvSpPr>
          <p:cNvPr id="10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48</a:t>
            </a:r>
          </a:p>
        </p:txBody>
      </p:sp>
      <p:sp>
        <p:nvSpPr>
          <p:cNvPr id="104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104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06"/>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Presidential Terms</a:t>
            </a:r>
            <a:endParaRPr b="0" i="0" sz="1400" u="none" cap="none" strike="noStrike">
              <a:solidFill>
                <a:srgbClr val="000000"/>
              </a:solidFill>
              <a:latin typeface="Arial"/>
              <a:ea typeface="Arial"/>
              <a:cs typeface="Arial"/>
              <a:sym typeface="Arial"/>
            </a:endParaRPr>
          </a:p>
        </p:txBody>
      </p:sp>
      <p:cxnSp>
        <p:nvCxnSpPr>
          <p:cNvPr id="1049" name="Google Shape;1049;p10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0" name="Google Shape;1050;p106"/>
          <p:cNvSpPr txBox="1"/>
          <p:nvPr/>
        </p:nvSpPr>
        <p:spPr>
          <a:xfrm>
            <a:off x="484564" y="927529"/>
            <a:ext cx="6868003" cy="53007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presidential term in the United States is four years. In 1947, Congress passed an amendment to limit the president to two terms. The number of terms served by each president of the United States from 1789 to 2021 is shown in the bar graph.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xml:space="preserve"> Given this information, what prediction can you make about the number of terms the next U.S. president will serve in office?</a:t>
            </a:r>
            <a:endParaRPr b="0" i="0" sz="1400" u="none" cap="none" strike="noStrike">
              <a:solidFill>
                <a:srgbClr val="000000"/>
              </a:solidFill>
              <a:latin typeface="Arial"/>
              <a:ea typeface="Arial"/>
              <a:cs typeface="Arial"/>
              <a:sym typeface="Arial"/>
            </a:endParaRPr>
          </a:p>
        </p:txBody>
      </p:sp>
      <p:pic>
        <p:nvPicPr>
          <p:cNvPr id="1051" name="Google Shape;1051;p106"/>
          <p:cNvPicPr preferRelativeResize="0"/>
          <p:nvPr/>
        </p:nvPicPr>
        <p:blipFill rotWithShape="1">
          <a:blip r:embed="rId3">
            <a:alphaModFix/>
          </a:blip>
          <a:srcRect b="0" l="0" r="0" t="0"/>
          <a:stretch/>
        </p:blipFill>
        <p:spPr>
          <a:xfrm>
            <a:off x="7352568" y="1497257"/>
            <a:ext cx="3905250" cy="3476625"/>
          </a:xfrm>
          <a:prstGeom prst="rect">
            <a:avLst/>
          </a:prstGeom>
          <a:noFill/>
          <a:ln>
            <a:noFill/>
          </a:ln>
        </p:spPr>
      </p:pic>
      <p:sp>
        <p:nvSpPr>
          <p:cNvPr id="10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48</a:t>
            </a:r>
          </a:p>
        </p:txBody>
      </p:sp>
      <p:sp>
        <p:nvSpPr>
          <p:cNvPr id="105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0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57" name="Google Shape;1057;p10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8" name="Google Shape;1058;p107"/>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determine the most appropriate measure of center and measure of variation to describe the data in relation to its context.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describe visual displays of data with reference to symmetry and measures of center and variation.</a:t>
            </a:r>
            <a:endParaRPr b="0" i="0" sz="1400" u="none" cap="none" strike="noStrike">
              <a:solidFill>
                <a:srgbClr val="000000"/>
              </a:solidFill>
              <a:latin typeface="Arial"/>
              <a:ea typeface="Arial"/>
              <a:cs typeface="Arial"/>
              <a:sym typeface="Arial"/>
            </a:endParaRPr>
          </a:p>
        </p:txBody>
      </p:sp>
      <p:sp>
        <p:nvSpPr>
          <p:cNvPr id="10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48</a:t>
            </a:r>
          </a:p>
        </p:txBody>
      </p:sp>
      <p:grpSp>
        <p:nvGrpSpPr>
          <p:cNvPr id="1060" name="TEACH-1-student-move" descr="TEACH 1 · Facilitate clear, standards-based content learning"/>
          <p:cNvGrpSpPr/>
          <p:nvPr/>
        </p:nvGrpSpPr>
        <p:grpSpPr>
          <a:xfrm>
            <a:off x="502920" y="5472790"/>
            <a:ext cx="11186160" cy="402336"/>
            <a:chOff x="502920" y="5472790"/>
            <a:chExt cx="11186160" cy="402336"/>
          </a:xfrm>
        </p:grpSpPr>
        <p:sp>
          <p:nvSpPr>
            <p:cNvPr id="1061"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62"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63"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6" name="Google Shape;1056;p10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57" name="Google Shape;1057;p10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8" name="Google Shape;1058;p107"/>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determine the most appropriate measure of center and measure of variation to describe the data in relation to its context.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describe visual displays of data with reference to symmetry and measures of center and variation.</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48</a:t>
            </a:r>
          </a:p>
        </p:txBody>
      </p:sp>
      <p:grpSp>
        <p:nvGrpSpPr>
          <p:cNvPr id="1059" name="TEACH-1-student-move" descr="TEACH 1 · Facilitate clear, standards-based content learning"/>
          <p:cNvGrpSpPr/>
          <p:nvPr/>
        </p:nvGrpSpPr>
        <p:grpSpPr>
          <a:xfrm>
            <a:off x="502920" y="5472790"/>
            <a:ext cx="11186160" cy="402336"/>
            <a:chOff x="502920" y="5472790"/>
            <a:chExt cx="11186160" cy="402336"/>
          </a:xfrm>
        </p:grpSpPr>
        <p:sp>
          <p:nvSpPr>
            <p:cNvPr id="1060"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61"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62"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2.10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Use shape and outliers to justify a measure of center and variation.</a:t>
            </a:r>
          </a:p>
        </p:txBody>
      </p:sp>
      <p:grpSp>
        <p:nvGrpSpPr>
          <p:cNvPr id="14" name="TEACH-7-student-move" descr="TEACH 7 · Cultivate a supportive learning community"/>
          <p:cNvGrpSpPr/>
          <p:nvPr/>
        </p:nvGrpSpPr>
        <p:grpSpPr>
          <a:xfrm>
            <a:off x="502920" y="4937760"/>
            <a:ext cx="11186160" cy="402336"/>
            <a:chOff x="502920" y="4937760"/>
            <a:chExt cx="11186160" cy="402336"/>
          </a:xfrm>
        </p:grpSpPr>
        <p:sp>
          <p:nvSpPr>
            <p:cNvPr id="15" name="TEACH-move-card"/>
            <p:cNvSpPr/>
            <p:nvPr/>
          </p:nvSpPr>
          <p:spPr>
            <a:xfrm>
              <a:off x="502920" y="493776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014204"/>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493776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2-10</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22 / 48</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2-10</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48</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2-10</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36 / 48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2-10</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45 / 48</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2.10 — Choose Appropriate Measures</dc:title>
  <dc:creator>Neft Teacher</dc:creator>
  <cp:lastModifiedBy>Neft Teacher</cp:lastModifiedBy>
  <dcterms:created xsi:type="dcterms:W3CDTF">2026-09-30T12:04:43Z</dcterms:created>
  <dcterms:modified xsi:type="dcterms:W3CDTF">2026-09-30T12:04:43Z</dcterms:modified>
</cp:coreProperties>
</file>