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7.xml" ContentType="application/vnd.openxmlformats-officedocument.presentationml.slide+xml"/>
  <Override PartName="/ppt/slides/slide3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60" r:id="rId14"/>
    <p:sldId id="329" r:id="rId72"/>
    <p:sldId id="328" r:id="rId41"/>
    <p:sldId id="327" r:id="rId40"/>
    <p:sldId id="326" r:id="rId27"/>
    <p:sldId id="325" r:id="rId38"/>
    <p:sldId id="324" r:id="rId37"/>
    <p:sldId id="323" r:id="rId28"/>
    <p:sldId id="322" r:id="rId35"/>
    <p:sldId id="261" r:id="rId15"/>
    <p:sldId id="272" r:id="rId26"/>
    <p:sldId id="276" r:id="rId30"/>
    <p:sldId id="333" r:id="rId76"/>
    <p:sldId id="278" r:id="rId32"/>
    <p:sldId id="282" r:id="rId36"/>
    <p:sldId id="285" r:id="rId39"/>
    <p:sldId id="288" r:id="rId42"/>
    <p:sldId id="330" r:id="rId73"/>
    <p:sldId id="321" r:id="rId34"/>
    <p:sldId id="316" r:id="rId70"/>
    <p:sldId id="334" r:id="rId77"/>
    <p:sldId id="317" r:id="rId71"/>
    <p:sldId id="289" r:id="rId43"/>
    <p:sldId id="292" r:id="rId46"/>
    <p:sldId id="301" r:id="rId55"/>
    <p:sldId id="303" r:id="rId57"/>
    <p:sldId id="307" r:id="rId61"/>
    <p:sldId id="312" r:id="rId66"/>
    <p:sldId id="313" r:id="rId67"/>
    <p:sldId id="331" r:id="rId74"/>
    <p:sldId id="320" r:id="rId33"/>
    <p:sldId id="319" r:id="rId29"/>
    <p:sldId id="318" r:id="rId31"/>
    <p:sldId id="314" r:id="rId68"/>
    <p:sldId id="315" r:id="rId69"/>
    <p:sldId id="332" r:id="rId75"/>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ns3:sldGuideLst>
        <ns3:guide id="1" pos="1512">
          <ns3:clr>
            <a:srgbClr val="A4A3A4"/>
          </ns3:clr>
        </ns3:guide>
        <ns3:guide id="2" orient="horz" pos="3024">
          <ns3:clr>
            <a:srgbClr val="A4A3A4"/>
          </ns3:clr>
        </ns3:guide>
        <ns3:guide id="3" orient="horz" pos="384">
          <ns3:clr>
            <a:srgbClr val="A4A3A4"/>
          </ns3:clr>
        </ns3:guide>
        <ns3:guide id="4" orient="horz" pos="2520">
          <ns3:clr>
            <a:srgbClr val="A4A3A4"/>
          </ns3:clr>
        </ns3:guide>
        <ns3:guide id="5" orient="horz" pos="1080">
          <ns3:clr>
            <a:srgbClr val="A4A3A4"/>
          </ns3:clr>
        </ns3:guide>
        <ns3:guide id="6" orient="horz" pos="1680">
          <ns3:clr>
            <a:srgbClr val="A4A3A4"/>
          </ns3:clr>
        </ns3:guide>
        <ns3:guide id="7" orient="horz" pos="3432">
          <ns3:clr>
            <a:srgbClr val="A4A3A4"/>
          </ns3:clr>
        </ns3:guide>
        <ns3:guide id="8" orient="horz" pos="3120">
          <ns3:clr>
            <a:srgbClr val="A4A3A4"/>
          </ns3:clr>
        </ns3:guide>
        <ns3:guide id="9" pos="48">
          <ns3:clr>
            <a:srgbClr val="A4A3A4"/>
          </ns3:clr>
        </ns3:guide>
        <ns3:guide id="10" pos="384">
          <ns3:clr>
            <a:srgbClr val="A4A3A4"/>
          </ns3:clr>
        </ns3:guide>
        <ns3:guide id="11" pos="6480">
          <ns3:clr>
            <a:srgbClr val="A4A3A4"/>
          </ns3:clr>
        </ns3:guide>
        <ns3:guide id="12" pos="2597">
          <ns3:clr>
            <a:srgbClr val="A4A3A4"/>
          </ns3:clr>
        </ns3:guide>
        <ns3:guide id="13" pos="288">
          <ns3:clr>
            <a:srgbClr val="A4A3A4"/>
          </ns3:clr>
        </ns3:guide>
        <ns3:guide id="14" orient="horz" pos="2160">
          <ns3:clr>
            <a:srgbClr val="A4A3A4"/>
          </ns3:clr>
        </ns3:guide>
        <ns3:guide id="15" orient="horz" pos="216">
          <ns3:clr>
            <a:srgbClr val="A4A3A4"/>
          </ns3:clr>
        </ns3:guide>
        <ns3:guide id="16" orient="horz" pos="936">
          <ns3:clr>
            <a:srgbClr val="A4A3A4"/>
          </ns3:clr>
        </ns3:guide>
        <ns3:guide id="17" pos="4368">
          <ns3:clr>
            <a:srgbClr val="A4A3A4"/>
          </ns3:clr>
        </ns3:guide>
        <ns3:guide id="18" pos="7296">
          <ns3:clr>
            <a:srgbClr val="A4A3A4"/>
          </ns3:clr>
        </ns3:guide>
        <ns3:guide id="19" pos="3288">
          <ns3:clr>
            <a:srgbClr val="A4A3A4"/>
          </ns3:clr>
        </ns3:guide>
        <ns3:guide id="20" pos="5904">
          <ns3:clr>
            <a:srgbClr val="A4A3A4"/>
          </ns3:clr>
        </ns3:guide>
        <ns3:guide id="21" pos="5568">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02E690-21E5-4B85-BC2B-9A1F2B1231A2}">
  <a:tblStyle styleId="{8302E690-21E5-4B85-BC2B-9A1F2B1231A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xml"/><Relationship Id="rId26" Type="http://schemas.openxmlformats.org/officeDocument/2006/relationships/slide" Target="slides/slide13.xml"/><Relationship Id="rId27" Type="http://schemas.openxmlformats.org/officeDocument/2006/relationships/slide" Target="slides/slide7.xml"/><Relationship Id="rId28" Type="http://schemas.openxmlformats.org/officeDocument/2006/relationships/slide" Target="slides/slide10.xml"/><Relationship Id="rId29" Type="http://schemas.openxmlformats.org/officeDocument/2006/relationships/slide" Target="slides/slide32.xml"/><Relationship Id="rId30" Type="http://schemas.openxmlformats.org/officeDocument/2006/relationships/slide" Target="slides/slide14.xml"/><Relationship Id="rId31" Type="http://schemas.openxmlformats.org/officeDocument/2006/relationships/slide" Target="slides/slide33.xml"/><Relationship Id="rId32" Type="http://schemas.openxmlformats.org/officeDocument/2006/relationships/slide" Target="slides/slide15.xml"/><Relationship Id="rId33" Type="http://schemas.openxmlformats.org/officeDocument/2006/relationships/slide" Target="slides/slide31.xml"/><Relationship Id="rId34" Type="http://schemas.openxmlformats.org/officeDocument/2006/relationships/slide" Target="slides/slide20.xml"/><Relationship Id="rId35" Type="http://schemas.openxmlformats.org/officeDocument/2006/relationships/slide" Target="slides/slide11.xml"/><Relationship Id="rId36" Type="http://schemas.openxmlformats.org/officeDocument/2006/relationships/slide" Target="slides/slide16.xml"/><Relationship Id="rId37" Type="http://schemas.openxmlformats.org/officeDocument/2006/relationships/slide" Target="slides/slide9.xml"/><Relationship Id="rId38" Type="http://schemas.openxmlformats.org/officeDocument/2006/relationships/slide" Target="slides/slide8.xml"/><Relationship Id="rId39" Type="http://schemas.openxmlformats.org/officeDocument/2006/relationships/slide" Target="slides/slide17.xml"/><Relationship Id="rId40" Type="http://schemas.openxmlformats.org/officeDocument/2006/relationships/slide" Target="slides/slide6.xml"/><Relationship Id="rId41" Type="http://schemas.openxmlformats.org/officeDocument/2006/relationships/slide" Target="slides/slide5.xml"/><Relationship Id="rId42" Type="http://schemas.openxmlformats.org/officeDocument/2006/relationships/slide" Target="slides/slide18.xml"/><Relationship Id="rId43" Type="http://schemas.openxmlformats.org/officeDocument/2006/relationships/slide" Target="slides/slide23.xml"/><Relationship Id="rId46" Type="http://schemas.openxmlformats.org/officeDocument/2006/relationships/slide" Target="slides/slide24.xml"/><Relationship Id="rId55" Type="http://schemas.openxmlformats.org/officeDocument/2006/relationships/slide" Target="slides/slide25.xml"/><Relationship Id="rId57" Type="http://schemas.openxmlformats.org/officeDocument/2006/relationships/slide" Target="slides/slide26.xml"/><Relationship Id="rId61" Type="http://schemas.openxmlformats.org/officeDocument/2006/relationships/slide" Target="slides/slide27.xml"/><Relationship Id="rId66" Type="http://schemas.openxmlformats.org/officeDocument/2006/relationships/slide" Target="slides/slide28.xml"/><Relationship Id="rId67" Type="http://schemas.openxmlformats.org/officeDocument/2006/relationships/slide" Target="slides/slide29.xml"/><Relationship Id="rId68" Type="http://schemas.openxmlformats.org/officeDocument/2006/relationships/slide" Target="slides/slide34.xml"/><Relationship Id="rId69" Type="http://schemas.openxmlformats.org/officeDocument/2006/relationships/slide" Target="slides/slide35.xml"/><Relationship Id="rId70" Type="http://schemas.openxmlformats.org/officeDocument/2006/relationships/slide" Target="slides/slide21.xml"/><Relationship Id="rId71" Type="http://schemas.openxmlformats.org/officeDocument/2006/relationships/slide" Target="slides/slide22.xml"/><Relationship Id="rId72" Type="http://schemas.openxmlformats.org/officeDocument/2006/relationships/slide" Target="slides/slide4.xml"/><Relationship Id="rId73" Type="http://schemas.openxmlformats.org/officeDocument/2006/relationships/slide" Target="slides/slide19.xml"/><Relationship Id="rId74" Type="http://schemas.openxmlformats.org/officeDocument/2006/relationships/slide" Target="slides/slide30.xml"/><Relationship Id="rId75" Type="http://schemas.openxmlformats.org/officeDocument/2006/relationships/slide" Target="slides/slide36.xml"/><Relationship Id="rId76" Type="http://schemas.openxmlformats.org/officeDocument/2006/relationships/slide" Target="slides/slide37.xml"/><Relationship Id="rId77"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62   2) 0.6   3) 75%   4) 0.5</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express the same value as fraction, decimal and percent; check against a benchmark. Review recent work and today’s warm-up to choose flexible groups and access supports; do not infer needs from identity or perceived ability. Use the existing lesson tasks and stated standards.</a:t>
            </a:r>
          </a:p>
          <a:p>
            <a:pPr>
              <a:buNone/>
            </a:pPr>
            <a:r>
              <a:rPr lang="en-US" sz="1100"/>
              <a:t>Anticipate: confusing a decimal with the same numeral followed by a percent sign. If observed, connect the original value to a hundred grid or a known benchmark.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3 | GOAL</a:t>
            </a:r>
          </a:p>
          <a:p xmlns:a="http://schemas.openxmlformats.org/drawingml/2006/main">
            <a:pPr>
              <a:buNone/>
            </a:pPr>
            <a:r>
              <a:rPr lang="en-US" sz="1100"/>
              <a:t>Focus on the existing task: Today’s Objectives Relate Fractions, Decimals…</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Tell a partner the goal and why it matters.</a:t>
            </a:r>
          </a:p>
          <a:p>
            <a:r>
              <a:rPr lang="en-US"/>
              <a:t>Student move: Tell a partner the goal and why it matters.</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express the same value as fraction, decimal and percent; check against a benchmark. Ask: “Which part of your work would show this?” Revisit that evidence after the task; a confidence rating alone is not evidence of understanding.</a:t>
            </a:r>
          </a:p>
        </p:txBody>
      </p:sp>
      <p:sp>
        <p:nvSpPr>
          <p:cNvPr id="333" name="Google Shape;333;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12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Explain with today’s vocabulary; partner paraphrases.</a:t>
            </a:r>
          </a:p>
          <a:p>
            <a:r>
              <a:rPr lang="en-US"/>
              <a:t>Student move: Explain with today’s vocabulary; partner paraphrases.</a:t>
            </a:r>
          </a:p>
        </p:txBody>
      </p:sp>
      <p:sp>
        <p:nvSpPr>
          <p:cNvPr id="355" name="Google Shape;35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Partner talk: connect today’s idea to prior learning.</a:t>
            </a:r>
          </a:p>
          <a:p>
            <a:r>
              <a:rPr lang="en-US"/>
              <a:t>Student move: Partner talk: connect today’s idea to prior learning.</a:t>
            </a:r>
          </a:p>
        </p:txBody>
      </p:sp>
      <p:sp>
        <p:nvSpPr>
          <p:cNvPr id="527" name="Google Shape;527;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13 | TASK</a:t>
            </a:r>
          </a:p>
          <a:p xmlns:a="http://schemas.openxmlformats.org/drawingml/2006/main">
            <a:pPr>
              <a:buNone/>
            </a:pPr>
            <a:r>
              <a:rPr lang="en-US" sz="1100"/>
              <a:t>Focus on the existing task: Some middle school students are organizing a canned food drive. Their goal is to collect 100 cans each week for the local food pantry. So…</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Ask a partner a question; choose a model together.</a:t>
            </a:r>
          </a:p>
          <a:p>
            <a:r>
              <a:rPr lang="en-US"/>
              <a:t>Student move: Ask a partner a question; choose a model together.</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all three forms represent the same amount of the same whole?” Wait for evidence, invite another pathway, and have a student ask a follow-up question. Do not replace students’ reasoning with a sequence of leading steps.</a:t>
            </a:r>
          </a:p>
        </p:txBody>
      </p:sp>
      <p:sp>
        <p:nvSpPr>
          <p:cNvPr id="582" name="Google Shape;582;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14 | REVEAL</a:t>
            </a:r>
          </a:p>
          <a:p xmlns:a="http://schemas.openxmlformats.org/drawingml/2006/main">
            <a:pPr>
              <a:buNone/>
            </a:pPr>
            <a:r>
              <a:rPr lang="en-US" sz="1100"/>
              <a:t>Focus on the existing task: How can you represent the part of the goal they have achieved?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students to describe the food-drive relationship in their own words before writing anything. Then ask: why is a fraction a reasonable first way to show it? Listen for who the whole is in the fraction; naming the wrong whole is the most common slip here.</a:t>
            </a:r>
          </a:p>
        </p:txBody>
      </p:sp>
      <p:sp>
        <p:nvSpPr>
          <p:cNvPr id="617" name="Google Shape;617;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15 | REVEAL</a:t>
            </a:r>
          </a:p>
          <a:p xmlns:a="http://schemas.openxmlformats.org/drawingml/2006/main">
            <a:pPr>
              <a:buNone/>
            </a:pPr>
            <a:r>
              <a:rPr lang="en-US" sz="1100"/>
              <a:t>Focus on the existing task: A fraction can represent the 75 out of 100 cans that the students have collected. How does a fraction use a number to represent part of a whole?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Partner press: ask ‘Why?’ and answer with evidence.</a:t>
            </a:r>
          </a:p>
          <a:p>
            <a:r>
              <a:rPr lang="en-US"/>
              <a:t>Student move: Partner press: ask ‘Why?’ and answer with evidence.</a:t>
            </a:r>
          </a:p>
        </p:txBody>
      </p:sp>
      <p:sp>
        <p:nvSpPr>
          <p:cNvPr id="635" name="Google Shape;635;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16 | REVEAL</a:t>
            </a:r>
          </a:p>
          <a:p xmlns:a="http://schemas.openxmlformats.org/drawingml/2006/main">
            <a:pPr>
              <a:buNone/>
            </a:pPr>
            <a:r>
              <a:rPr lang="en-US" sz="1100"/>
              <a:t>Focus on the existing task: Reveal: We can express the relationship as a percent. Food Drive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what changes and what stays the same when the fraction becomes a percent. Listen for equivalent out of 100 reasoning rather than a memorized shortcut. If students jump straight to a rule, press for why the rule works.</a:t>
            </a:r>
          </a:p>
        </p:txBody>
      </p:sp>
      <p:sp>
        <p:nvSpPr>
          <p:cNvPr id="671" name="Google Shape;671;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17 | TASK</a:t>
            </a:r>
          </a:p>
          <a:p xmlns:a="http://schemas.openxmlformats.org/drawingml/2006/main">
            <a:pPr>
              <a:buNone/>
            </a:pPr>
            <a:r>
              <a:rPr lang="en-US" sz="1100"/>
              <a:t>Focus on the existing task: Some middle school students are organizing a canned food drive. Their goal is to collect 100 cans each week for the local food pantry. So…</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strategies; persist, revise, and try again.</a:t>
            </a:r>
          </a:p>
          <a:p>
            <a:r>
              <a:rPr lang="en-US"/>
              <a:t>Student move: Compare strategies; persist, revise, and try again.</a:t>
            </a:r>
          </a:p>
        </p:txBody>
      </p:sp>
      <p:sp>
        <p:nvSpPr>
          <p:cNvPr id="698" name="Google Shape;698;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18 | PRACTICE</a:t>
            </a:r>
          </a:p>
          <a:p xmlns:a="http://schemas.openxmlformats.org/drawingml/2006/main">
            <a:pPr>
              <a:buNone/>
            </a:pPr>
            <a:r>
              <a:rPr lang="en-US" sz="1100"/>
              <a:t>Focus on the existing task: How could you represent 75% using decimal notation?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Give a quiet minute to write 75 percent as a decimal, then have partners compare. Listen for 75 hundredths as the bridge between the forms. Watch for the classic 0.75 versus 7.5 error and ask what place value the percent digits land in.</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 decimal with the same numeral followed by a percent sign. If it appears, connect the original value to a hundred grid or a known benchmark; then ask the student to revise the same response and explain the change. If evidence is secure, have students compare a second valid pathway or state why their approach works. Choose the next step from the responses, not a preset pace.</a:t>
            </a:r>
          </a:p>
        </p:txBody>
      </p:sp>
      <p:sp>
        <p:nvSpPr>
          <p:cNvPr id="730" name="Google Shape;730;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23 | DIVIDER</a:t>
            </a:r>
          </a:p>
          <a:p xmlns:a="http://schemas.openxmlformats.org/drawingml/2006/main">
            <a:pPr>
              <a:buNone/>
            </a:pPr>
            <a:r>
              <a:rPr lang="en-US" sz="1100"/>
              <a:t>Focus on the existing task: Relate Fractions, Decimals, and Percentages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Session divider. Frame the goal: today we move between fractions, decimals, and percents and use one form to compare numbers. Ask students to predict when a percent might be easier to use than a fraction.</a:t>
            </a:r>
          </a:p>
        </p:txBody>
      </p:sp>
      <p:sp>
        <p:nvSpPr>
          <p:cNvPr id="741" name="Google Shape;741;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24 | TASK</a:t>
            </a:r>
          </a:p>
          <a:p xmlns:a="http://schemas.openxmlformats.org/drawingml/2006/main">
            <a:pPr>
              <a:buNone/>
            </a:pPr>
            <a:r>
              <a:rPr lang="en-US" sz="1100"/>
              <a:t>Focus on the existing task: How can you order the following numbers from least to greatest?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Have students attempt an order before any converting, and keep the first guesses visible. Listen for which numbers students find hard to place and why. The point of the reveal is that mixed forms are hard to compare directly, so let that difficulty surface.</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all three forms represent the same amount of the same whole?” Wait for evidence, invite another pathway, and have a student ask a follow-up question. Do not replace students’ reasoning with a sequence of leading steps.</a:t>
            </a:r>
          </a:p>
        </p:txBody>
      </p:sp>
      <p:sp>
        <p:nvSpPr>
          <p:cNvPr id="771" name="Google Shape;771;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25 | REVEAL</a:t>
            </a:r>
          </a:p>
          <a:p xmlns:a="http://schemas.openxmlformats.org/drawingml/2006/main">
            <a:pPr>
              <a:buNone/>
            </a:pPr>
            <a:r>
              <a:rPr lang="en-US" sz="1100"/>
              <a:t>Focus on the existing task: How can you make it easier to compare and order the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putting every number in the same form makes comparing easier. Listen for students choosing a form on purpose and defending the choice. Some students convert only some of the numbers and compare across forms anyway; ask them to check that every number is in the chosen form.</a:t>
            </a:r>
          </a:p>
        </p:txBody>
      </p:sp>
      <p:sp>
        <p:nvSpPr>
          <p:cNvPr id="855" name="Google Shape;855;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26 | COLLABORATE</a:t>
            </a:r>
          </a:p>
          <a:p xmlns:a="http://schemas.openxmlformats.org/drawingml/2006/main">
            <a:pPr>
              <a:buNone/>
            </a:pPr>
            <a:r>
              <a:rPr lang="en-US" sz="1100"/>
              <a:t>Focus on the existing task: How can you express all the numbers as fractions with the same denominator?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paraphrase, agree or disagree, add on.</a:t>
            </a:r>
          </a:p>
          <a:p>
            <a:r>
              <a:rPr lang="en-US"/>
              <a:t>Student move: Student-led talk: paraphrase, agree or disagree, add on.</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 decimal with the same numeral followed by a percent sign. If it appears, connect the original value to a hundred grid or a known benchmark; then ask the student to revise the same response and explain the change. If evidence is secure, have students compare a second valid pathway or state why their approach works. Choose the next step from the responses, not a preset pace.</a:t>
            </a:r>
          </a:p>
        </p:txBody>
      </p:sp>
      <p:sp>
        <p:nvSpPr>
          <p:cNvPr id="874" name="Google Shape;874;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27 | REVEAL</a:t>
            </a:r>
          </a:p>
          <a:p xmlns:a="http://schemas.openxmlformats.org/drawingml/2006/main">
            <a:pPr>
              <a:buNone/>
            </a:pPr>
            <a:r>
              <a:rPr lang="en-US" sz="1100"/>
              <a:t>Focus on the existing task: How can you compare the numbers once they are all written as fractions with the same denominator?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Have partners compare the numbers now that they share a form, then rebuild the order from least to greatest. Listen for place-value talk when decimals are compared. Watch for students ranking by digit count instead of value, for example calling 0.125 greater than 0.4.</a:t>
            </a:r>
          </a:p>
        </p:txBody>
      </p:sp>
      <p:sp>
        <p:nvSpPr>
          <p:cNvPr id="921" name="Google Shape;921;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28 | TASK</a:t>
            </a:r>
          </a:p>
          <a:p xmlns:a="http://schemas.openxmlformats.org/drawingml/2006/main">
            <a:pPr>
              <a:buNone/>
            </a:pPr>
            <a:r>
              <a:rPr lang="en-US" sz="1100"/>
              <a:t>Focus on the existing task: How can you order these numbers from least to greatest?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Have students finish the ordering independently, then defend one placement to a partner. Listen for a clear reason tied to the shared form, not just answer-matching. Ask the class which conversion felt hardest and collect one strategy for it.</a:t>
            </a:r>
          </a:p>
        </p:txBody>
      </p:sp>
      <p:sp>
        <p:nvSpPr>
          <p:cNvPr id="978" name="Google Shape;978;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29 | PRACTICE</a:t>
            </a:r>
          </a:p>
          <a:p xmlns:a="http://schemas.openxmlformats.org/drawingml/2006/main">
            <a:pPr>
              <a:buNone/>
            </a:pPr>
            <a:r>
              <a:rPr lang="en-US" sz="1100"/>
              <a:t>Focus on the existing task: Let’s Explore More When writing a fraction as a percent, why do you find an equivalent ratio with a denominator of 100?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pathways with a partner; name one revision.</a:t>
            </a:r>
          </a:p>
          <a:p>
            <a:r>
              <a:rPr lang="en-US"/>
              <a:t>Student move: Compare pathways with a partner; name one revision.</a:t>
            </a:r>
          </a:p>
        </p:txBody>
      </p:sp>
      <p:sp>
        <p:nvSpPr>
          <p:cNvPr id="987" name="Google Shape;987;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34 | SUMMARIZE</a:t>
            </a:r>
          </a:p>
          <a:p xmlns:a="http://schemas.openxmlformats.org/drawingml/2006/main">
            <a:pPr>
              <a:buNone/>
            </a:pPr>
            <a:r>
              <a:rPr lang="en-US" sz="1100"/>
              <a:t>Focus on the existing task: You can express percentages in percent, fraction, or decimal forms. A percent expressed in fraction form always has a denominator of 100.…</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Share a connection to prior learning or lived experience.</a:t>
            </a:r>
          </a:p>
          <a:p>
            <a:r>
              <a:rPr lang="en-US"/>
              <a:t>Student move: Share a connection to prior learning or lived experience.</a:t>
            </a:r>
          </a:p>
          <a:p>
            <a:r>
              <a:rPr lang="en-US"/>
              <a:t>Routine: SUMMARIZE  ·  SAY IT IN YOUR OWN WORDS</a:t>
            </a:r>
          </a:p>
        </p:txBody>
      </p:sp>
      <p:sp>
        <p:nvSpPr>
          <p:cNvPr id="999" name="Google Shape;999;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4.2, slide 35 | APPLY</a:t>
            </a:r>
          </a:p>
          <a:p xmlns:a="http://schemas.openxmlformats.org/drawingml/2006/main">
            <a:pPr>
              <a:buNone/>
            </a:pPr>
            <a:r>
              <a:rPr lang="en-US" sz="1100"/>
              <a:t>Focus on the existing task: The table shows the average total sleep times for different animals. Apply: Sleepy Animals Question: How do the sleep times of the different animals compare?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Defend your method; partner gives one specific next step.</a:t>
            </a:r>
          </a:p>
          <a:p>
            <a:r>
              <a:rPr lang="en-US"/>
              <a:t>Student move: Defend your method; partner gives one specific next step.</a:t>
            </a: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express the same value as fraction, decimal and percent; check against a benchmark.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confusing a decimal with the same numeral followed by a percent sign.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connect the original value to a hundred grid or a known benchmark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1007" name="Google Shape;1007;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4.2, slide 21 | WARMUP</a:t>
            </a:r>
          </a:p>
          <a:p xmlns:a="http://schemas.openxmlformats.org/drawingml/2006/main">
            <a:pPr>
              <a:buNone/>
            </a:pPr>
            <a:r>
              <a:rPr lang="en-US" sz="1100"/>
              <a:t>Focus on the existing task: A 34% B 75% C 7.5% D 25% 2 What is 0.65 written as a percentage?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express the same value as fraction, decimal and percent; check against a benchmark. Ask: “Which part of your work would show this?” Revisit that evidence after the task; a confidence rating alone is not evidence of understanding.</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4.2, slide 22 | NOTES</a:t>
            </a:r>
          </a:p>
          <a:p xmlns:a="http://schemas.openxmlformats.org/drawingml/2006/main">
            <a:pPr>
              <a:buNone/>
            </a:pPr>
            <a:r>
              <a:rPr lang="en-US" sz="1100"/>
              <a:t>Focus on the existing task: Review Notes Review Notes — Session 2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4 | PRIOR_INSERT</a:t>
            </a:r>
          </a:p>
          <a:p xmlns:a="http://schemas.openxmlformats.org/drawingml/2006/main">
            <a:pPr>
              <a:buNone/>
            </a:pPr>
            <a:r>
              <a:rPr lang="en-US" sz="1100"/>
              <a:t>Focus on the existing task: LESSON 4.2 / OUR LEARNING What will show your learning?</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5 | VOCAB</a:t>
            </a:r>
          </a:p>
          <a:p xmlns:a="http://schemas.openxmlformats.org/drawingml/2006/main">
            <a:pPr>
              <a:buNone/>
            </a:pPr>
            <a:r>
              <a:rPr lang="en-US" sz="1100"/>
              <a:t>Focus on the existing task: Vocabulary 1 of 6 Fractions, Decimals, and…</a:t>
            </a:r>
          </a:p>
          <a:p xmlns:a="http://schemas.openxmlformats.org/drawingml/2006/main">
            <a:pPr>
              <a:buNone/>
            </a:pPr>
            <a:r>
              <a:rPr lang="en-US" sz="1100"/>
              <a:t>ASK (T1/3/5): Where does “Fractions, Decimals, and Percents”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6 | VOCAB</a:t>
            </a:r>
          </a:p>
          <a:p xmlns:a="http://schemas.openxmlformats.org/drawingml/2006/main">
            <a:pPr>
              <a:buNone/>
            </a:pPr>
            <a:r>
              <a:rPr lang="en-US" sz="1100"/>
              <a:t>Focus on the existing task: Vocabulary 2 of 6 Percent A way to compare a…</a:t>
            </a:r>
          </a:p>
          <a:p xmlns:a="http://schemas.openxmlformats.org/drawingml/2006/main">
            <a:pPr>
              <a:buNone/>
            </a:pPr>
            <a:r>
              <a:rPr lang="en-US" sz="1100"/>
              <a:t>ASK (T1/3/5): Where does “Percent”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7 | VOCAB</a:t>
            </a:r>
          </a:p>
          <a:p xmlns:a="http://schemas.openxmlformats.org/drawingml/2006/main">
            <a:pPr>
              <a:buNone/>
            </a:pPr>
            <a:r>
              <a:rPr lang="en-US" sz="1100"/>
              <a:t>Focus on the existing task: Vocabulary 3 of 6 Decimal A number with a dot…</a:t>
            </a:r>
          </a:p>
          <a:p xmlns:a="http://schemas.openxmlformats.org/drawingml/2006/main">
            <a:pPr>
              <a:buNone/>
            </a:pPr>
            <a:r>
              <a:rPr lang="en-US" sz="1100"/>
              <a:t>ASK (T1/3/5): Where does “Decimal”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8 | VOCAB</a:t>
            </a:r>
          </a:p>
          <a:p xmlns:a="http://schemas.openxmlformats.org/drawingml/2006/main">
            <a:pPr>
              <a:buNone/>
            </a:pPr>
            <a:r>
              <a:rPr lang="en-US" sz="1100"/>
              <a:t>Focus on the existing task: Vocabulary 4 of 6 Equivalent Having the same…</a:t>
            </a:r>
          </a:p>
          <a:p xmlns:a="http://schemas.openxmlformats.org/drawingml/2006/main">
            <a:pPr>
              <a:buNone/>
            </a:pPr>
            <a:r>
              <a:rPr lang="en-US" sz="1100"/>
              <a:t>ASK (T1/3/5): Where does “Equivalent”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9 | VOCAB</a:t>
            </a:r>
          </a:p>
          <a:p xmlns:a="http://schemas.openxmlformats.org/drawingml/2006/main">
            <a:pPr>
              <a:buNone/>
            </a:pPr>
            <a:r>
              <a:rPr lang="en-US" sz="1100"/>
              <a:t>Focus on the existing task: Vocabulary 5 of 6 Benchmark A familiar number…</a:t>
            </a:r>
          </a:p>
          <a:p xmlns:a="http://schemas.openxmlformats.org/drawingml/2006/main">
            <a:pPr>
              <a:buNone/>
            </a:pPr>
            <a:r>
              <a:rPr lang="en-US" sz="1100"/>
              <a:t>ASK (T1/3/5): Where does “Benchmark”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10 | VOCAB</a:t>
            </a:r>
          </a:p>
          <a:p xmlns:a="http://schemas.openxmlformats.org/drawingml/2006/main">
            <a:pPr>
              <a:buNone/>
            </a:pPr>
            <a:r>
              <a:rPr lang="en-US" sz="1100"/>
              <a:t>Focus on the existing task: Vocabulary 6 of 6 Discount Money taken off the…</a:t>
            </a:r>
          </a:p>
          <a:p xmlns:a="http://schemas.openxmlformats.org/drawingml/2006/main">
            <a:pPr>
              <a:buNone/>
            </a:pPr>
            <a:r>
              <a:rPr lang="en-US" sz="1100"/>
              <a:t>ASK (T1/3/5): Where does “Discount”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11 | CURIOUS</a:t>
            </a:r>
          </a:p>
          <a:p xmlns:a="http://schemas.openxmlformats.org/drawingml/2006/main">
            <a:pPr>
              <a:buNone/>
            </a:pPr>
            <a:r>
              <a:rPr lang="en-US" sz="1100"/>
              <a:t>Focus on the existing task: Which doesn’t belong?</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19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20 | CURIOUS</a:t>
            </a:r>
          </a:p>
          <a:p xmlns:a="http://schemas.openxmlformats.org/drawingml/2006/main">
            <a:pPr>
              <a:buNone/>
            </a:pPr>
            <a:r>
              <a:rPr lang="en-US" sz="1100"/>
              <a:t>Focus on the existing task: What math do you see in this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30 | PRIOR_INSERT</a:t>
            </a:r>
          </a:p>
          <a:p xmlns:a="http://schemas.openxmlformats.org/drawingml/2006/main">
            <a:pPr>
              <a:buNone/>
            </a:pPr>
            <a:r>
              <a:rPr lang="en-US" sz="1100"/>
              <a:t>Focus on the existing task: LESSON 4.2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31 | REVEAL</a:t>
            </a:r>
          </a:p>
          <a:p xmlns:a="http://schemas.openxmlformats.org/drawingml/2006/main">
            <a:pPr>
              <a:buNone/>
            </a:pPr>
            <a:r>
              <a:rPr lang="en-US" sz="1100"/>
              <a:t>Focus on the existing task: What do you notice about what each number represents?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32 | REVEAL</a:t>
            </a:r>
          </a:p>
          <a:p xmlns:a="http://schemas.openxmlformats.org/drawingml/2006/main">
            <a:pPr>
              <a:buNone/>
            </a:pPr>
            <a:r>
              <a:rPr lang="en-US" sz="1100"/>
              <a:t>Focus on the existing task: What do you notice about how these numbers are written?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33 | REVEAL</a:t>
            </a:r>
          </a:p>
          <a:p xmlns:a="http://schemas.openxmlformats.org/drawingml/2006/main">
            <a:pPr>
              <a:buNone/>
            </a:pPr>
            <a:r>
              <a:rPr lang="en-US" sz="1100"/>
              <a:t>Focus on the existing task: How can you make it easier to compare and order the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express the same value as fraction, decimal and percent. Ask which feature of their work supports the claim.</a:t>
            </a:r>
          </a:p>
          <a:p xmlns:a="http://schemas.openxmlformats.org/drawingml/2006/main">
            <a:pPr>
              <a:buNone/>
            </a:pPr>
            <a:r>
              <a:rPr lang="en-US" sz="1100"/>
              <a:t>RESPOND: If this task shows the lesson misconception—confusing a decimal with the same numeral followed by a percent sign—connect the original value to a hundred grid or a known benchmark.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4.2, slide 36 | PRIOR_INSERT</a:t>
            </a:r>
          </a:p>
          <a:p xmlns:a="http://schemas.openxmlformats.org/drawingml/2006/main">
            <a:pPr>
              <a:buNone/>
            </a:pPr>
            <a:r>
              <a:rPr lang="en-US" sz="1100"/>
              <a:t>Focus on the existing task: LESSON 4.2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express the same value as fraction, decimal and percent; check against a benchmark.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Relate Fractions, Decimals, and Percentages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Relate Fractions, Decimals, and Percentages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6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notesSlide" Target="../notesSlides/notesSlide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7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1.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7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7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7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4-2 · Relate Fractions, Decimals, and Percentages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0.62 × 100 =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Write 3/5 as a decimal: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Write 3/4 as a percent: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Which is greater, 0.48 or 0.5?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38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2" name="Google Shape;532;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533" name="Google Shape;533;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5" name="Google Shape;535;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36" name="Google Shape;536;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38" name="Google Shape;538;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Fraction, Decimal &amp; Percent Equivalence</a:t>
            </a:r>
            <a:endParaRPr/>
          </a:p>
        </p:txBody>
      </p:sp>
      <p:sp>
        <p:nvSpPr>
          <p:cNvPr id="540" name="Google Shape;540;p53"/>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2" name="Google Shape;542;p53"/>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Percent to Decimal: </a:t>
            </a:r>
            <a:r>
              <a:rPr b="0" i="0" lang="en-US" sz="1600" u="none" cap="none" strike="noStrike">
                <a:solidFill>
                  <a:srgbClr val="14223A"/>
                </a:solidFill>
                <a:latin typeface="Arial"/>
                <a:ea typeface="Arial"/>
                <a:cs typeface="Arial"/>
                <a:sym typeface="Arial"/>
              </a:rPr>
              <a:t>Divide by 100 (move decimal point 2 places left)</a:t>
            </a:r>
            <a:endParaRPr/>
          </a:p>
        </p:txBody>
      </p:sp>
      <p:sp>
        <p:nvSpPr>
          <p:cNvPr id="543" name="Google Shape;543;p53"/>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3"/>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5" name="Google Shape;545;p53"/>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Decimal to Percent: </a:t>
            </a:r>
            <a:r>
              <a:rPr b="0" i="0" lang="en-US" sz="1600" u="none" cap="none" strike="noStrike">
                <a:solidFill>
                  <a:srgbClr val="14223A"/>
                </a:solidFill>
                <a:latin typeface="Arial"/>
                <a:ea typeface="Arial"/>
                <a:cs typeface="Arial"/>
                <a:sym typeface="Arial"/>
              </a:rPr>
              <a:t>Multiply by 100 (move decimal point 2 places right)</a:t>
            </a:r>
            <a:endParaRPr/>
          </a:p>
        </p:txBody>
      </p:sp>
      <p:sp>
        <p:nvSpPr>
          <p:cNvPr id="546" name="Google Shape;546;p53"/>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3"/>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8" name="Google Shape;548;p53"/>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Fraction to Percent: </a:t>
            </a:r>
            <a:r>
              <a:rPr b="0" i="0" lang="en-US" sz="1600" u="none" cap="none" strike="noStrike">
                <a:solidFill>
                  <a:srgbClr val="14223A"/>
                </a:solidFill>
                <a:latin typeface="Arial"/>
                <a:ea typeface="Arial"/>
                <a:cs typeface="Arial"/>
                <a:sym typeface="Arial"/>
              </a:rPr>
              <a:t xml:space="preserve">Divide </a:t>
            </a:r>
            <a:r>
              <a:rPr b="1" i="0" lang="en-US" sz="1600" u="none" cap="none" strike="noStrike">
                <a:solidFill>
                  <a:srgbClr val="14223A"/>
                </a:solidFill>
                <a:latin typeface="Arial"/>
                <a:ea typeface="Arial"/>
                <a:cs typeface="Arial"/>
                <a:sym typeface="Arial"/>
              </a:rPr>
              <a:t xml:space="preserve">numerator</a:t>
            </a:r>
            <a:r>
              <a:rPr b="0" i="0" lang="en-US" sz="1600" u="none" cap="none" strike="noStrike">
                <a:solidFill>
                  <a:srgbClr val="14223A"/>
                </a:solidFill>
                <a:latin typeface="Arial"/>
                <a:ea typeface="Arial"/>
                <a:cs typeface="Arial"/>
                <a:sym typeface="Arial"/>
              </a:rPr>
              <a:t xml:space="preserve"> by </a:t>
            </a:r>
            <a:r>
              <a:rPr b="1" i="0" lang="en-US" sz="1600" u="none" cap="none" strike="noStrike">
                <a:solidFill>
                  <a:srgbClr val="14223A"/>
                </a:solidFill>
                <a:latin typeface="Arial"/>
                <a:ea typeface="Arial"/>
                <a:cs typeface="Arial"/>
                <a:sym typeface="Arial"/>
              </a:rPr>
              <a:t xml:space="preserve">denominator</a:t>
            </a:r>
            <a:r>
              <a:rPr b="0" i="0" lang="en-US" sz="1600" u="none" cap="none" strike="noStrike">
                <a:solidFill>
                  <a:srgbClr val="14223A"/>
                </a:solidFill>
                <a:latin typeface="Arial"/>
                <a:ea typeface="Arial"/>
                <a:cs typeface="Arial"/>
                <a:sym typeface="Arial"/>
              </a:rPr>
              <a:t xml:space="preserve">, then convert decimal to percent</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 / 38</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800" u="none" cap="none" strike="noStrike">
                <a:solidFill>
                  <a:srgbClr val="14223A"/>
                </a:solidFill>
                <a:latin typeface="Arial"/>
                <a:ea typeface="Arial"/>
                <a:cs typeface="Arial"/>
                <a:sym typeface="Arial"/>
              </a:rPr>
              <a:t>Relate Fractions, Decimals, and Percentages</a:t>
            </a:r>
            <a:endParaRPr/>
          </a:p>
        </p:txBody>
      </p:sp>
      <p:sp>
        <p:nvSpPr>
          <p:cNvPr id="342" name="Google Shape;342;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475569"/>
                </a:solidFill>
                <a:latin typeface="Arial"/>
                <a:ea typeface="Arial"/>
                <a:cs typeface="Arial"/>
                <a:sym typeface="Arial"/>
              </a:rPr>
              <a:t>Maryland Standard 6.AT.4</a:t>
            </a:r>
            <a:endParaRPr/>
          </a:p>
        </p:txBody>
      </p:sp>
      <p:sp>
        <p:nvSpPr>
          <p:cNvPr id="343" name="Google Shape;343;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write equivalent fractions, decimals, and percents for the same value.</a:t>
            </a:r>
            <a:endParaRPr/>
          </a:p>
        </p:txBody>
      </p:sp>
      <p:sp>
        <p:nvSpPr>
          <p:cNvPr id="348" name="Google Shape;348;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explain my conversions using the words percent, decimal, equivalent, and benchmark.</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Express the same value as fraction, decimal and percent.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against a benchmark.</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3" name="Google Shape;393;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6" name="Google Shape;396;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397" name="Google Shape;397;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9" name="Google Shape;399;p46"/>
          <p:cNvSpPr txBox="1"/>
          <p:nvPr/>
        </p:nvSpPr>
        <p:spPr>
          <a:xfrm>
            <a:off x="640080" y="156133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Fractions, Decimals, and Percents</a:t>
            </a:r>
            <a:endParaRPr/>
          </a:p>
        </p:txBody>
      </p:sp>
      <p:sp>
        <p:nvSpPr>
          <p:cNvPr id="400" name="Google Shape;400;p46"/>
          <p:cNvSpPr/>
          <p:nvPr/>
        </p:nvSpPr>
        <p:spPr>
          <a:xfrm>
            <a:off x="658368" y="307924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640080" y="344042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Three equivalent ways to name the same part of a whole.</a:t>
            </a:r>
            <a:endParaRPr/>
          </a:p>
        </p:txBody>
      </p:sp>
      <p:sp>
        <p:nvSpPr>
          <p:cNvPr id="402" name="Google Shape;402;p46"/>
          <p:cNvSpPr/>
          <p:nvPr/>
        </p:nvSpPr>
        <p:spPr>
          <a:xfrm>
            <a:off x="640080" y="456514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p:nvPr/>
        </p:nvSpPr>
        <p:spPr>
          <a:xfrm>
            <a:off x="640080" y="456514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932688" y="473887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5" name="Google Shape;405;p46"/>
          <p:cNvSpPr txBox="1"/>
          <p:nvPr/>
        </p:nvSpPr>
        <p:spPr>
          <a:xfrm>
            <a:off x="932688" y="5040629"/>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1/2 = 0.5 = 50%</a:t>
            </a:r>
            <a:endParaRPr/>
          </a:p>
        </p:txBody>
      </p:sp>
      <p:pic>
        <p:nvPicPr>
          <p:cNvPr descr="concept-fractions-decimals-and-percents.png" id="406" name="Google Shape;406;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5 / 38</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1" name="Google Shape;411;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4" name="Google Shape;414;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415" name="Google Shape;415;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7" name="Google Shape;417;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Percent</a:t>
            </a:r>
            <a:endParaRPr/>
          </a:p>
        </p:txBody>
      </p:sp>
      <p:sp>
        <p:nvSpPr>
          <p:cNvPr id="418" name="Google Shape;418;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way to compare a number to 100, shown with the % sign.</a:t>
            </a:r>
            <a:endParaRPr/>
          </a:p>
        </p:txBody>
      </p:sp>
      <p:sp>
        <p:nvSpPr>
          <p:cNvPr id="420" name="Google Shape;420;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3" name="Google Shape;423;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25% means 25 out of 100</a:t>
            </a:r>
            <a:endParaRPr/>
          </a:p>
        </p:txBody>
      </p:sp>
      <p:pic>
        <p:nvPicPr>
          <p:cNvPr descr="percent.png" id="424" name="Google Shape;424;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6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“Percent”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9" name="Google Shape;429;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2" name="Google Shape;432;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433" name="Google Shape;433;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5" name="Google Shape;435;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Decimal</a:t>
            </a:r>
            <a:endParaRPr/>
          </a:p>
        </p:txBody>
      </p:sp>
      <p:sp>
        <p:nvSpPr>
          <p:cNvPr id="436" name="Google Shape;436;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with a dot, like 0.5 or 1.3, that uses place value to show tenths and hundredths.</a:t>
            </a:r>
            <a:endParaRPr/>
          </a:p>
        </p:txBody>
      </p:sp>
      <p:sp>
        <p:nvSpPr>
          <p:cNvPr id="438" name="Google Shape;438;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1" name="Google Shape;441;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0.75 means seventy-five hundredths</a:t>
            </a:r>
            <a:endParaRPr/>
          </a:p>
        </p:txBody>
      </p:sp>
      <p:pic>
        <p:nvPicPr>
          <p:cNvPr descr="decimal.png" id="442" name="Google Shape;442;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7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“Decimal”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7" name="Google Shape;447;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50" name="Google Shape;450;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451" name="Google Shape;451;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3" name="Google Shape;453;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a:t>
            </a:r>
            <a:endParaRPr/>
          </a:p>
        </p:txBody>
      </p:sp>
      <p:sp>
        <p:nvSpPr>
          <p:cNvPr id="454" name="Google Shape;454;p49"/>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Having the same value, just written a different way.</a:t>
            </a:r>
            <a:endParaRPr/>
          </a:p>
        </p:txBody>
      </p:sp>
      <p:sp>
        <p:nvSpPr>
          <p:cNvPr id="456" name="Google Shape;456;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9" name="Google Shape;459;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 0.5 = 50%</a:t>
            </a:r>
            <a:endParaRPr/>
          </a:p>
        </p:txBody>
      </p:sp>
      <p:pic>
        <p:nvPicPr>
          <p:cNvPr descr="fraction.png" id="460" name="Google Shape;460;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8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5" name="Google Shape;465;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8" name="Google Shape;468;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469" name="Google Shape;469;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1" name="Google Shape;471;p50"/>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Benchmark</a:t>
            </a:r>
            <a:endParaRPr/>
          </a:p>
        </p:txBody>
      </p:sp>
      <p:sp>
        <p:nvSpPr>
          <p:cNvPr id="472" name="Google Shape;472;p50"/>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familiar number you use to guess, like 50% or 1/2.</a:t>
            </a:r>
            <a:endParaRPr/>
          </a:p>
        </p:txBody>
      </p:sp>
      <p:sp>
        <p:nvSpPr>
          <p:cNvPr id="474" name="Google Shape;474;p50"/>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7" name="Google Shape;477;p50"/>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Common benchmarks: 25%, 50%, 75%</a:t>
            </a:r>
            <a:endParaRPr/>
          </a:p>
        </p:txBody>
      </p:sp>
      <p:pic>
        <p:nvPicPr>
          <p:cNvPr descr="number.png" id="478" name="Google Shape;478;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9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“Benchmark”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3" name="Google Shape;483;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6" name="Google Shape;486;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487" name="Google Shape;487;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9" name="Google Shape;489;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Discount</a:t>
            </a:r>
            <a:endParaRPr/>
          </a:p>
        </p:txBody>
      </p:sp>
      <p:sp>
        <p:nvSpPr>
          <p:cNvPr id="490" name="Google Shape;490;p51"/>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Money taken off the first price to make it cheaper.</a:t>
            </a:r>
            <a:endParaRPr/>
          </a:p>
        </p:txBody>
      </p:sp>
      <p:sp>
        <p:nvSpPr>
          <p:cNvPr id="492" name="Google Shape;492;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5" name="Google Shape;495;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$40 shirt at 25% off: discount = $10</a:t>
            </a:r>
            <a:endParaRPr/>
          </a:p>
        </p:txBody>
      </p:sp>
      <p:pic>
        <p:nvPicPr>
          <p:cNvPr descr="discount.png" id="496" name="Google Shape;496;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10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“Discount”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69" name="Google Shape;569;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0" name="Google Shape;570;p55"/>
          <p:cNvSpPr txBox="1"/>
          <p:nvPr/>
        </p:nvSpPr>
        <p:spPr>
          <a:xfrm>
            <a:off x="486000" y="936100"/>
            <a:ext cx="3914634" cy="661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571" name="Google Shape;571;p55"/>
          <p:cNvSpPr txBox="1"/>
          <p:nvPr/>
        </p:nvSpPr>
        <p:spPr>
          <a:xfrm>
            <a:off x="484560" y="316034"/>
            <a:ext cx="3904129" cy="49183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a:off x="486000" y="1722258"/>
            <a:ext cx="5367564" cy="2967032"/>
          </a:xfrm>
          <a:custGeom>
            <a:rect b="b" l="l" r="r" t="t"/>
            <a:pathLst>
              <a:path extrusionOk="0" h="10000" w="10000">
                <a:moveTo>
                  <a:pt x="35" y="1007"/>
                </a:moveTo>
                <a:lnTo>
                  <a:pt x="1254" y="0"/>
                </a:lnTo>
                <a:lnTo>
                  <a:pt x="10000" y="0"/>
                </a:lnTo>
                <a:lnTo>
                  <a:pt x="10000" y="9903"/>
                </a:lnTo>
                <a:lnTo>
                  <a:pt x="0" y="10000"/>
                </a:lnTo>
                <a:cubicBezTo>
                  <a:pt x="36" y="7024"/>
                  <a:pt x="-1" y="3983"/>
                  <a:pt x="35" y="1007"/>
                </a:cubicBezTo>
                <a:close/>
              </a:path>
            </a:pathLst>
          </a:custGeom>
          <a:noFill/>
          <a:ln cap="flat" cmpd="sng" w="19050">
            <a:solidFill>
              <a:srgbClr val="009E4D"/>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3" name="Google Shape;573;p55"/>
          <p:cNvSpPr txBox="1"/>
          <p:nvPr/>
        </p:nvSpPr>
        <p:spPr>
          <a:xfrm>
            <a:off x="805465" y="2549808"/>
            <a:ext cx="1780674" cy="369332"/>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74" name="Google Shape;574;p55"/>
          <p:cNvSpPr txBox="1"/>
          <p:nvPr/>
        </p:nvSpPr>
        <p:spPr>
          <a:xfrm>
            <a:off x="3721920" y="2419522"/>
            <a:ext cx="1780674" cy="634789"/>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75" name="Google Shape;575;p55"/>
          <p:cNvSpPr txBox="1"/>
          <p:nvPr/>
        </p:nvSpPr>
        <p:spPr>
          <a:xfrm>
            <a:off x="805465" y="3762896"/>
            <a:ext cx="1780674"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76" name="Google Shape;576;p55"/>
          <p:cNvSpPr txBox="1"/>
          <p:nvPr/>
        </p:nvSpPr>
        <p:spPr>
          <a:xfrm>
            <a:off x="3726429" y="3820406"/>
            <a:ext cx="1780674" cy="369332"/>
          </a:xfrm>
          <a:prstGeom prst="rect">
            <a:avLst/>
          </a:prstGeom>
          <a:blipFill rotWithShape="1">
            <a:blip r:embed="rId5">
              <a:alphaModFix/>
            </a:blip>
            <a:stretch>
              <a:fillRect b="-13332"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577" name="Google Shape;577;p55"/>
          <p:cNvPicPr preferRelativeResize="0"/>
          <p:nvPr/>
        </p:nvPicPr>
        <p:blipFill rotWithShape="1">
          <a:blip r:embed="rId6">
            <a:alphaModFix/>
          </a:blip>
          <a:srcRect b="0" l="0" r="0" t="0"/>
          <a:stretch/>
        </p:blipFill>
        <p:spPr>
          <a:xfrm>
            <a:off x="484560" y="5019304"/>
            <a:ext cx="4716000" cy="782049"/>
          </a:xfrm>
          <a:prstGeom prst="rect">
            <a:avLst/>
          </a:prstGeom>
          <a:noFill/>
          <a:ln>
            <a:noFill/>
          </a:ln>
        </p:spPr>
      </p:pic>
      <p:sp>
        <p:nvSpPr>
          <p:cNvPr id="578" name="Google Shape;578;p55"/>
          <p:cNvSpPr txBox="1"/>
          <p:nvPr/>
        </p:nvSpPr>
        <p:spPr>
          <a:xfrm>
            <a:off x="3139596" y="5161637"/>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9" name="Google Shape;579;p55"/>
          <p:cNvSpPr/>
          <p:nvPr/>
        </p:nvSpPr>
        <p:spPr>
          <a:xfrm>
            <a:off x="627771" y="5801353"/>
            <a:ext cx="941281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helps you work productively with your classmates?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11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0" name="Google Shape;360;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361" name="Google Shape;361;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4" name="Google Shape;364;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5" name="Google Shape;365;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Fractions, Decimals, and Percents</a:t>
            </a:r>
            <a:endParaRPr/>
          </a:p>
        </p:txBody>
      </p:sp>
      <p:sp>
        <p:nvSpPr>
          <p:cNvPr id="368" name="Google Shape;368;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Three equivalent ways to name the same part of a whole</a:t>
            </a:r>
            <a:endParaRPr/>
          </a:p>
        </p:txBody>
      </p:sp>
      <p:sp>
        <p:nvSpPr>
          <p:cNvPr id="369" name="Google Shape;369;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Percent</a:t>
            </a:r>
            <a:endParaRPr/>
          </a:p>
        </p:txBody>
      </p:sp>
      <p:sp>
        <p:nvSpPr>
          <p:cNvPr id="372" name="Google Shape;372;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way to compare a number to 100, shown with the % sign</a:t>
            </a:r>
            <a:endParaRPr/>
          </a:p>
        </p:txBody>
      </p:sp>
      <p:sp>
        <p:nvSpPr>
          <p:cNvPr id="373" name="Google Shape;373;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Decimal</a:t>
            </a:r>
            <a:endParaRPr/>
          </a:p>
        </p:txBody>
      </p:sp>
      <p:sp>
        <p:nvSpPr>
          <p:cNvPr id="376" name="Google Shape;376;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number with a dot, like 0.5 or 1.3, that uses place value to show tenths and hundredths</a:t>
            </a:r>
            <a:endParaRPr/>
          </a:p>
        </p:txBody>
      </p:sp>
      <p:sp>
        <p:nvSpPr>
          <p:cNvPr id="377" name="Google Shape;377;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Equivalent</a:t>
            </a:r>
            <a:endParaRPr/>
          </a:p>
        </p:txBody>
      </p:sp>
      <p:sp>
        <p:nvSpPr>
          <p:cNvPr id="380" name="Google Shape;380;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Having the same value, just written a different way</a:t>
            </a:r>
            <a:endParaRPr/>
          </a:p>
        </p:txBody>
      </p:sp>
      <p:sp>
        <p:nvSpPr>
          <p:cNvPr id="381" name="Google Shape;381;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Benchmark</a:t>
            </a:r>
            <a:endParaRPr/>
          </a:p>
        </p:txBody>
      </p:sp>
      <p:sp>
        <p:nvSpPr>
          <p:cNvPr id="384" name="Google Shape;384;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familiar number you use to guess, like 50% or 1/2</a:t>
            </a:r>
            <a:endParaRPr/>
          </a:p>
        </p:txBody>
      </p:sp>
      <p:sp>
        <p:nvSpPr>
          <p:cNvPr id="385" name="Google Shape;385;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Discount</a:t>
            </a:r>
            <a:endParaRPr/>
          </a:p>
        </p:txBody>
      </p:sp>
      <p:sp>
        <p:nvSpPr>
          <p:cNvPr id="388" name="Google Shape;388;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Money taken off the first price to make it cheaper</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Explain with today’s vocabulary; partner paraphrases.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12 / 38</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6"/>
          <p:cNvSpPr txBox="1"/>
          <p:nvPr/>
        </p:nvSpPr>
        <p:spPr>
          <a:xfrm>
            <a:off x="484565" y="936099"/>
            <a:ext cx="7287835" cy="50028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Some middle school students are organizing a canned food drive. Their goal is to collect 100 cans each week for the local food pantry. So far this week, students have brought in 75 cans.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the students represent the part of the goal that they have achieved so far this week?</a:t>
            </a:r>
            <a:endParaRPr b="0" i="0" sz="1400" u="none" cap="none" strike="noStrike">
              <a:solidFill>
                <a:srgbClr val="000000"/>
              </a:solidFill>
              <a:latin typeface="Arial"/>
              <a:ea typeface="Arial"/>
              <a:cs typeface="Arial"/>
              <a:sym typeface="Arial"/>
            </a:endParaRPr>
          </a:p>
        </p:txBody>
      </p:sp>
      <p:sp>
        <p:nvSpPr>
          <p:cNvPr id="585" name="Google Shape;585;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Food Drive</a:t>
            </a:r>
            <a:endParaRPr b="0" i="0" sz="1400" u="none" cap="none" strike="noStrike">
              <a:solidFill>
                <a:srgbClr val="000000"/>
              </a:solidFill>
              <a:latin typeface="Arial"/>
              <a:ea typeface="Arial"/>
              <a:cs typeface="Arial"/>
              <a:sym typeface="Arial"/>
            </a:endParaRPr>
          </a:p>
        </p:txBody>
      </p:sp>
      <p:cxnSp>
        <p:nvCxnSpPr>
          <p:cNvPr id="586" name="Google Shape;586;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87" name="Google Shape;587;p56"/>
          <p:cNvPicPr preferRelativeResize="0"/>
          <p:nvPr/>
        </p:nvPicPr>
        <p:blipFill rotWithShape="1">
          <a:blip r:embed="rId3">
            <a:alphaModFix/>
          </a:blip>
          <a:srcRect b="0" l="0" r="0" t="0"/>
          <a:stretch/>
        </p:blipFill>
        <p:spPr>
          <a:xfrm>
            <a:off x="8580120" y="1322204"/>
            <a:ext cx="3203526" cy="4529898"/>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13 / 38</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0"/>
          <p:cNvSpPr txBox="1"/>
          <p:nvPr/>
        </p:nvSpPr>
        <p:spPr>
          <a:xfrm>
            <a:off x="484565" y="936099"/>
            <a:ext cx="7272595" cy="41928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Some middle school students are organizing a canned food drive. Their goal is to collect 100 cans each week for the local food pantry. So far this week, students have brought in 75 cans. How can the students represent the part of the goal that they have achieved so far this week?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represent the part of the goal they have achieved?</a:t>
            </a:r>
            <a:endParaRPr b="0" i="0" sz="1400" u="none" cap="none" strike="noStrike">
              <a:solidFill>
                <a:srgbClr val="000000"/>
              </a:solidFill>
              <a:latin typeface="Arial"/>
              <a:ea typeface="Arial"/>
              <a:cs typeface="Arial"/>
              <a:sym typeface="Arial"/>
            </a:endParaRPr>
          </a:p>
        </p:txBody>
      </p:sp>
      <p:cxnSp>
        <p:nvCxnSpPr>
          <p:cNvPr id="620" name="Google Shape;620;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1" name="Google Shape;621;p60"/>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way is to use a fraction.</a:t>
            </a:r>
            <a:endParaRPr b="0" i="0" sz="1400" u="none" cap="none" strike="noStrike">
              <a:solidFill>
                <a:srgbClr val="000000"/>
              </a:solidFill>
              <a:latin typeface="Arial"/>
              <a:ea typeface="Arial"/>
              <a:cs typeface="Arial"/>
              <a:sym typeface="Arial"/>
            </a:endParaRPr>
          </a:p>
        </p:txBody>
      </p:sp>
      <p:pic>
        <p:nvPicPr>
          <p:cNvPr id="622" name="Google Shape;622;p60"/>
          <p:cNvPicPr preferRelativeResize="0"/>
          <p:nvPr/>
        </p:nvPicPr>
        <p:blipFill rotWithShape="1">
          <a:blip r:embed="rId3">
            <a:alphaModFix/>
          </a:blip>
          <a:srcRect b="0" l="0" r="0" t="0"/>
          <a:stretch/>
        </p:blipFill>
        <p:spPr>
          <a:xfrm>
            <a:off x="8580120" y="1322204"/>
            <a:ext cx="3203526" cy="4529898"/>
          </a:xfrm>
          <a:prstGeom prst="rect">
            <a:avLst/>
          </a:prstGeom>
          <a:noFill/>
          <a:ln>
            <a:noFill/>
          </a:ln>
        </p:spPr>
      </p:pic>
      <p:sp>
        <p:nvSpPr>
          <p:cNvPr id="623" name="Google Shape;623;p60"/>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Food Drive</a:t>
            </a:r>
            <a:endParaRPr b="0" i="0" sz="1400" u="none" cap="none" strike="noStrike">
              <a:solidFill>
                <a:srgbClr val="000000"/>
              </a:solidFill>
              <a:latin typeface="Arial"/>
              <a:ea typeface="Arial"/>
              <a:cs typeface="Arial"/>
              <a:sym typeface="Arial"/>
            </a:endParaRPr>
          </a:p>
        </p:txBody>
      </p:sp>
      <p:sp>
        <p:nvSpPr>
          <p:cNvPr id="6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14 / 38</a:t>
            </a:r>
          </a:p>
        </p:txBody>
      </p:sp>
      <p:sp>
        <p:nvSpPr>
          <p:cNvPr id="625" name="EWL-COVER-1"/>
          <p:cNvSpPr/>
          <p:nvPr/>
        </p:nvSpPr>
        <p:spPr>
          <a:xfrm>
            <a:off x="429701" y="5092016"/>
            <a:ext cx="7614618"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2"/>
          <p:cNvSpPr txBox="1"/>
          <p:nvPr/>
        </p:nvSpPr>
        <p:spPr>
          <a:xfrm>
            <a:off x="484565" y="936099"/>
            <a:ext cx="7514126" cy="27658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fraction can represent the 75 out of 100 cans that the students have collected.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does a fraction use a number to represent part of a whole?</a:t>
            </a:r>
            <a:endParaRPr b="0" i="0" sz="1400" u="none" cap="none" strike="noStrike">
              <a:solidFill>
                <a:srgbClr val="000000"/>
              </a:solidFill>
              <a:latin typeface="Arial"/>
              <a:ea typeface="Arial"/>
              <a:cs typeface="Arial"/>
              <a:sym typeface="Arial"/>
            </a:endParaRPr>
          </a:p>
        </p:txBody>
      </p:sp>
      <p:cxnSp>
        <p:nvCxnSpPr>
          <p:cNvPr id="638" name="Google Shape;638;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9" name="Google Shape;639;p62"/>
          <p:cNvSpPr txBox="1"/>
          <p:nvPr/>
        </p:nvSpPr>
        <p:spPr>
          <a:xfrm>
            <a:off x="484565" y="4839547"/>
            <a:ext cx="9085563"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denominator of the fraction represents the whole and the numerator represents the part being discussed.</a:t>
            </a:r>
            <a:endParaRPr b="1" i="0" sz="2800" u="none" cap="none" strike="noStrike">
              <a:solidFill>
                <a:srgbClr val="0070C0"/>
              </a:solidFill>
              <a:latin typeface="Arial"/>
              <a:ea typeface="Arial"/>
              <a:cs typeface="Arial"/>
              <a:sym typeface="Arial"/>
            </a:endParaRPr>
          </a:p>
        </p:txBody>
      </p:sp>
      <p:pic>
        <p:nvPicPr>
          <p:cNvPr id="640" name="Google Shape;640;p62"/>
          <p:cNvPicPr preferRelativeResize="0"/>
          <p:nvPr/>
        </p:nvPicPr>
        <p:blipFill rotWithShape="1">
          <a:blip r:embed="rId3">
            <a:alphaModFix/>
          </a:blip>
          <a:srcRect b="0" l="0" r="0" t="0"/>
          <a:stretch/>
        </p:blipFill>
        <p:spPr>
          <a:xfrm>
            <a:off x="8580120" y="1322204"/>
            <a:ext cx="3203526" cy="4529898"/>
          </a:xfrm>
          <a:prstGeom prst="rect">
            <a:avLst/>
          </a:prstGeom>
          <a:noFill/>
          <a:ln>
            <a:noFill/>
          </a:ln>
        </p:spPr>
      </p:pic>
      <p:sp>
        <p:nvSpPr>
          <p:cNvPr id="641" name="Google Shape;641;p62"/>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Food Drive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16 / 38</a:t>
            </a:r>
          </a:p>
        </p:txBody>
      </p:sp>
      <p:sp>
        <p:nvSpPr>
          <p:cNvPr id="9003" name="EWL-COVER-1"/>
          <p:cNvSpPr/>
          <p:nvPr/>
        </p:nvSpPr>
        <p:spPr>
          <a:xfrm>
            <a:off x="429701" y="4784683"/>
            <a:ext cx="9195291"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9004"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6"/>
          <p:cNvSpPr txBox="1"/>
          <p:nvPr/>
        </p:nvSpPr>
        <p:spPr>
          <a:xfrm>
            <a:off x="484565" y="936100"/>
            <a:ext cx="7828162" cy="3334060"/>
          </a:xfrm>
          <a:prstGeom prst="rect">
            <a:avLst/>
          </a:prstGeom>
          <a:blipFill rotWithShape="1">
            <a:blip r:embed="rId3">
              <a:alphaModFix/>
            </a:blip>
            <a:stretch>
              <a:fillRect b="-6410" l="-1556" r="0" t="-201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674" name="Google Shape;674;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75" name="Google Shape;675;p66"/>
          <p:cNvPicPr preferRelativeResize="0"/>
          <p:nvPr/>
        </p:nvPicPr>
        <p:blipFill rotWithShape="1">
          <a:blip r:embed="rId4">
            <a:alphaModFix/>
          </a:blip>
          <a:srcRect b="0" l="0" r="0" t="0"/>
          <a:stretch/>
        </p:blipFill>
        <p:spPr>
          <a:xfrm>
            <a:off x="8580120" y="1322204"/>
            <a:ext cx="3203526" cy="4529898"/>
          </a:xfrm>
          <a:prstGeom prst="rect">
            <a:avLst/>
          </a:prstGeom>
          <a:noFill/>
          <a:ln>
            <a:noFill/>
          </a:ln>
        </p:spPr>
      </p:pic>
      <p:sp>
        <p:nvSpPr>
          <p:cNvPr id="676" name="Google Shape;676;p66"/>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express the relationship as a percent.</a:t>
            </a:r>
            <a:endParaRPr b="0" i="0" sz="1400" u="none" cap="none" strike="noStrike">
              <a:solidFill>
                <a:srgbClr val="000000"/>
              </a:solidFill>
              <a:latin typeface="Arial"/>
              <a:ea typeface="Arial"/>
              <a:cs typeface="Arial"/>
              <a:sym typeface="Arial"/>
            </a:endParaRPr>
          </a:p>
        </p:txBody>
      </p:sp>
      <p:sp>
        <p:nvSpPr>
          <p:cNvPr id="677" name="Google Shape;677;p6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Food Drive</a:t>
            </a:r>
            <a:endParaRPr b="0" i="0" sz="1400" u="none" cap="none" strike="noStrike">
              <a:solidFill>
                <a:srgbClr val="000000"/>
              </a:solidFill>
              <a:latin typeface="Arial"/>
              <a:ea typeface="Arial"/>
              <a:cs typeface="Arial"/>
              <a:sym typeface="Arial"/>
            </a:endParaRPr>
          </a:p>
        </p:txBody>
      </p:sp>
      <p:sp>
        <p:nvSpPr>
          <p:cNvPr id="6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17 / 38</a:t>
            </a:r>
          </a:p>
        </p:txBody>
      </p:sp>
      <p:sp>
        <p:nvSpPr>
          <p:cNvPr id="679" name="EWL-COVER-1"/>
          <p:cNvSpPr/>
          <p:nvPr/>
        </p:nvSpPr>
        <p:spPr>
          <a:xfrm>
            <a:off x="429701" y="5092016"/>
            <a:ext cx="7614618" cy="1286010"/>
          </a:xfrm>
          <a:prstGeom prst="rect">
            <a:avLst/>
          </a:prstGeom>
          <a:solidFill>
            <a:srgbClr val="FFFFFF"/>
          </a:solidFill>
          <a:ln>
            <a:noFill/>
          </a:ln>
        </p:spPr>
        <p:txBody>
          <a:bodyPr/>
          <a:lstStyle/>
          <a:p/>
        </p:txBody>
      </p:sp>
      <p:grpSp>
        <p:nvGrpSpPr>
          <p:cNvPr id="680" name="TEACH-2-student-move" descr="TEACH 2 · Use strategies and tasks to engage students in rigorous work"/>
          <p:cNvGrpSpPr/>
          <p:nvPr/>
        </p:nvGrpSpPr>
        <p:grpSpPr>
          <a:xfrm>
            <a:off x="502920" y="4470224"/>
            <a:ext cx="5501640" cy="594360"/>
            <a:chOff x="502920" y="4470224"/>
            <a:chExt cx="5501640" cy="594360"/>
          </a:xfrm>
        </p:grpSpPr>
        <p:sp>
          <p:nvSpPr>
            <p:cNvPr id="681" name="TEACH-move-card"/>
            <p:cNvSpPr/>
            <p:nvPr/>
          </p:nvSpPr>
          <p:spPr>
            <a:xfrm>
              <a:off x="502920" y="447022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82" name="TEACH-move-rule"/>
            <p:cNvSpPr/>
            <p:nvPr/>
          </p:nvSpPr>
          <p:spPr>
            <a:xfrm>
              <a:off x="548640" y="4583152"/>
              <a:ext cx="100584" cy="368504"/>
            </a:xfrm>
            <a:prstGeom prst="roundRect">
              <a:avLst>
                <a:gd name="adj" fmla="val 50000"/>
              </a:avLst>
            </a:prstGeom>
            <a:solidFill>
              <a:srgbClr val="01708C"/>
            </a:solidFill>
            <a:ln>
              <a:noFill/>
            </a:ln>
          </p:spPr>
          <p:txBody>
            <a:bodyPr/>
            <a:lstStyle/>
            <a:p>
              <a:endParaRPr/>
            </a:p>
          </p:txBody>
        </p:sp>
        <p:sp>
          <p:nvSpPr>
            <p:cNvPr id="683" name="TEACH-move-text"/>
            <p:cNvSpPr txBox="1"/>
            <p:nvPr/>
          </p:nvSpPr>
          <p:spPr>
            <a:xfrm>
              <a:off x="822960" y="447022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9"/>
          <p:cNvSpPr txBox="1"/>
          <p:nvPr/>
        </p:nvSpPr>
        <p:spPr>
          <a:xfrm>
            <a:off x="484565" y="799453"/>
            <a:ext cx="7927915" cy="32674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Some middle school students are organizing a canned food drive. Their goal is to collect 100 cans each week for the local food pantry. So far this week, students have brought in 75 cans.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the students represent the part of the goal that they have achieved so far this week?</a:t>
            </a:r>
            <a:endParaRPr b="0" i="0" sz="1400" u="none" cap="none" strike="noStrike">
              <a:solidFill>
                <a:srgbClr val="000000"/>
              </a:solidFill>
              <a:latin typeface="Arial"/>
              <a:ea typeface="Arial"/>
              <a:cs typeface="Arial"/>
              <a:sym typeface="Arial"/>
            </a:endParaRPr>
          </a:p>
        </p:txBody>
      </p:sp>
      <p:cxnSp>
        <p:nvCxnSpPr>
          <p:cNvPr id="701" name="Google Shape;701;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2" name="Google Shape;702;p69"/>
          <p:cNvSpPr txBox="1"/>
          <p:nvPr/>
        </p:nvSpPr>
        <p:spPr>
          <a:xfrm>
            <a:off x="484565" y="4234482"/>
            <a:ext cx="7927915" cy="2148152"/>
          </a:xfrm>
          <a:prstGeom prst="rect">
            <a:avLst/>
          </a:prstGeom>
          <a:blipFill rotWithShape="1">
            <a:blip r:embed="rId3">
              <a:alphaModFix/>
            </a:blip>
            <a:stretch>
              <a:fillRect b="0" l="-1458" r="-2686" t="0"/>
            </a:stretch>
          </a:blipFill>
          <a:ln cap="flat" cmpd="sng" w="9525">
            <a:solidFill>
              <a:srgbClr val="782D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03" name="Google Shape;703;p69"/>
          <p:cNvPicPr preferRelativeResize="0"/>
          <p:nvPr/>
        </p:nvPicPr>
        <p:blipFill rotWithShape="1">
          <a:blip r:embed="rId4">
            <a:alphaModFix/>
          </a:blip>
          <a:srcRect b="0" l="0" r="0" t="0"/>
          <a:stretch/>
        </p:blipFill>
        <p:spPr>
          <a:xfrm>
            <a:off x="8580120" y="1322204"/>
            <a:ext cx="3203526" cy="4529898"/>
          </a:xfrm>
          <a:prstGeom prst="rect">
            <a:avLst/>
          </a:prstGeom>
          <a:noFill/>
          <a:ln>
            <a:noFill/>
          </a:ln>
        </p:spPr>
      </p:pic>
      <p:sp>
        <p:nvSpPr>
          <p:cNvPr id="704" name="Google Shape;704;p69"/>
          <p:cNvSpPr txBox="1"/>
          <p:nvPr/>
        </p:nvSpPr>
        <p:spPr>
          <a:xfrm>
            <a:off x="484565" y="316034"/>
            <a:ext cx="5641027" cy="48182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Food Drive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strategies; persist, revise, and try again.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18 / 38</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2"/>
          <p:cNvSpPr txBox="1"/>
          <p:nvPr/>
        </p:nvSpPr>
        <p:spPr>
          <a:xfrm>
            <a:off x="484565" y="927529"/>
            <a:ext cx="6858344" cy="89928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How could you represent 75% using decimal notation?</a:t>
            </a:r>
            <a:endParaRPr b="0" i="0" sz="1400" u="none" cap="none" strike="noStrike">
              <a:solidFill>
                <a:srgbClr val="000000"/>
              </a:solidFill>
              <a:latin typeface="Arial"/>
              <a:ea typeface="Arial"/>
              <a:cs typeface="Arial"/>
              <a:sym typeface="Arial"/>
            </a:endParaRPr>
          </a:p>
        </p:txBody>
      </p:sp>
      <p:sp>
        <p:nvSpPr>
          <p:cNvPr id="733" name="Google Shape;733;p7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34" name="Google Shape;734;p72"/>
          <p:cNvSpPr txBox="1"/>
          <p:nvPr/>
        </p:nvSpPr>
        <p:spPr>
          <a:xfrm>
            <a:off x="484565" y="3717157"/>
            <a:ext cx="6858344" cy="1012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Which representation is more meaningful for you? Explain why.</a:t>
            </a:r>
            <a:endParaRPr b="0" i="0" sz="1400" u="none" cap="none" strike="noStrike">
              <a:solidFill>
                <a:srgbClr val="000000"/>
              </a:solidFill>
              <a:latin typeface="Arial"/>
              <a:ea typeface="Arial"/>
              <a:cs typeface="Arial"/>
              <a:sym typeface="Arial"/>
            </a:endParaRPr>
          </a:p>
        </p:txBody>
      </p:sp>
      <p:sp>
        <p:nvSpPr>
          <p:cNvPr id="735" name="Google Shape;735;p72"/>
          <p:cNvSpPr/>
          <p:nvPr/>
        </p:nvSpPr>
        <p:spPr>
          <a:xfrm>
            <a:off x="484565" y="4828777"/>
            <a:ext cx="6672983" cy="142766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6" name="Google Shape;736;p72"/>
          <p:cNvSpPr txBox="1"/>
          <p:nvPr/>
        </p:nvSpPr>
        <p:spPr>
          <a:xfrm>
            <a:off x="5950679" y="583142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7" name="Google Shape;737;p72"/>
          <p:cNvSpPr/>
          <p:nvPr/>
        </p:nvSpPr>
        <p:spPr>
          <a:xfrm>
            <a:off x="484565" y="2041553"/>
            <a:ext cx="6672983" cy="142766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8" name="Google Shape;738;p72"/>
          <p:cNvSpPr txBox="1"/>
          <p:nvPr/>
        </p:nvSpPr>
        <p:spPr>
          <a:xfrm>
            <a:off x="5950679" y="304420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19 / 38</a:t>
            </a:r>
          </a:p>
        </p:txBody>
      </p:sp>
      <p:sp xmlns:p="http://schemas.openxmlformats.org/presentationml/2006/main" xmlns:a="http://schemas.openxmlformats.org/drawingml/2006/main">
        <p:nvSpPr>
          <p:cNvPr id="740"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 all three forms represent the same amount of the same whole?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61" name="Google Shape;761;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2" name="Google Shape;762;p75"/>
          <p:cNvSpPr txBox="1"/>
          <p:nvPr/>
        </p:nvSpPr>
        <p:spPr>
          <a:xfrm>
            <a:off x="474054" y="936100"/>
            <a:ext cx="6684128" cy="523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math do you see in this problem?</a:t>
            </a:r>
            <a:endParaRPr b="0" i="0" sz="1400" u="none" cap="none" strike="noStrike">
              <a:solidFill>
                <a:srgbClr val="000000"/>
              </a:solidFill>
              <a:latin typeface="Arial"/>
              <a:ea typeface="Arial"/>
              <a:cs typeface="Arial"/>
              <a:sym typeface="Arial"/>
            </a:endParaRPr>
          </a:p>
        </p:txBody>
      </p:sp>
      <p:sp>
        <p:nvSpPr>
          <p:cNvPr id="763" name="Google Shape;763;p75"/>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64" name="Google Shape;764;p75"/>
          <p:cNvSpPr/>
          <p:nvPr/>
        </p:nvSpPr>
        <p:spPr>
          <a:xfrm>
            <a:off x="609600" y="1571005"/>
            <a:ext cx="7638473" cy="2945577"/>
          </a:xfrm>
          <a:prstGeom prst="snip1Rect">
            <a:avLst>
              <a:gd fmla="val 16667" name="adj"/>
            </a:avLst>
          </a:prstGeom>
          <a:noFill/>
          <a:ln cap="flat" cmpd="sng" w="1905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5" name="Google Shape;765;p75"/>
          <p:cNvSpPr txBox="1"/>
          <p:nvPr/>
        </p:nvSpPr>
        <p:spPr>
          <a:xfrm flipH="1">
            <a:off x="886796" y="1966763"/>
            <a:ext cx="6982776"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1" lang="en-US" sz="2800" u="none" cap="none" strike="noStrike">
                <a:solidFill>
                  <a:srgbClr val="782DA0"/>
                </a:solidFill>
                <a:latin typeface="Arial"/>
                <a:ea typeface="Arial"/>
                <a:cs typeface="Arial"/>
                <a:sym typeface="Arial"/>
              </a:rPr>
              <a:t>When blue whales feed, they can take in more than their body weight in food and water in one single gulp. What percent of their body weight do they take in when feeding?</a:t>
            </a:r>
            <a:endParaRPr b="0" i="1" sz="2800" u="none" cap="none" strike="noStrike">
              <a:solidFill>
                <a:srgbClr val="782DA0"/>
              </a:solidFill>
              <a:latin typeface="Arial"/>
              <a:ea typeface="Arial"/>
              <a:cs typeface="Arial"/>
              <a:sym typeface="Arial"/>
            </a:endParaRPr>
          </a:p>
        </p:txBody>
      </p:sp>
      <p:pic>
        <p:nvPicPr>
          <p:cNvPr id="766" name="Google Shape;766;p75"/>
          <p:cNvPicPr preferRelativeResize="0"/>
          <p:nvPr/>
        </p:nvPicPr>
        <p:blipFill rotWithShape="1">
          <a:blip r:embed="rId2">
            <a:alphaModFix/>
          </a:blip>
          <a:srcRect b="0" l="0" r="0" t="0"/>
          <a:stretch/>
        </p:blipFill>
        <p:spPr>
          <a:xfrm>
            <a:off x="474054" y="4663081"/>
            <a:ext cx="5054600" cy="838200"/>
          </a:xfrm>
          <a:prstGeom prst="rect">
            <a:avLst/>
          </a:prstGeom>
          <a:noFill/>
          <a:ln>
            <a:noFill/>
          </a:ln>
        </p:spPr>
      </p:pic>
      <p:sp>
        <p:nvSpPr>
          <p:cNvPr id="767" name="Google Shape;767;p75"/>
          <p:cNvSpPr txBox="1"/>
          <p:nvPr/>
        </p:nvSpPr>
        <p:spPr>
          <a:xfrm>
            <a:off x="3334071" y="482039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68" name="Google Shape;768;p75"/>
          <p:cNvSpPr/>
          <p:nvPr/>
        </p:nvSpPr>
        <p:spPr>
          <a:xfrm>
            <a:off x="687250" y="5478404"/>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some ways you are connecting with your classmates during math class?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21 / 38</a:t>
            </a:r>
          </a:p>
        </p:txBody>
      </p:sp>
      <p:grpSp>
        <p:nvGrpSpPr>
          <p:cNvPr id="9003" name="TEACH-3-student-move" descr="TEACH 3 · Use intentional questioning to deepen learning"/>
          <p:cNvGrpSpPr/>
          <p:nvPr/>
        </p:nvGrpSpPr>
        <p:grpSpPr>
          <a:xfrm>
            <a:off x="6187440" y="4801748"/>
            <a:ext cx="5501640" cy="594360"/>
            <a:chOff x="6187440" y="4801748"/>
            <a:chExt cx="5501640" cy="594360"/>
          </a:xfrm>
        </p:grpSpPr>
        <p:sp>
          <p:nvSpPr>
            <p:cNvPr id="9004" name="TEACH-move-card"/>
            <p:cNvSpPr/>
            <p:nvPr/>
          </p:nvSpPr>
          <p:spPr>
            <a:xfrm>
              <a:off x="6187440" y="4801748"/>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4914676"/>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4801748"/>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2D3A40"/>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3/4 written as a percentage?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34%</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75%</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7.5%</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0.65 written as a percentage?</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65%</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0.65%</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650%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20% written as a simplified fraction?</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 / 20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 / 5</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 10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 / 1</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convert a decimal to a percent, multiply by:</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1,000</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0.1</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38</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4-2 · Relate Fractions, Decimals, and Percentages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Fractions to Percents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Convert</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denominator</a:t>
            </a:r>
            <a:r>
              <a:rPr b="0" i="0" lang="en-US" sz="1450" u="none" cap="none" strike="noStrike">
                <a:solidFill>
                  <a:srgbClr val="475569"/>
                </a:solidFill>
                <a:latin typeface="Arial"/>
                <a:ea typeface="Arial"/>
                <a:cs typeface="Arial"/>
                <a:sym typeface="Arial"/>
              </a:rPr>
              <a:t xml:space="preserve"> to 100 or divide numerator by denominator and multiply by 100.</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Decimals to Percents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Shift the </a:t>
            </a:r>
            <a:r>
              <a:rPr b="1" i="0" lang="en-US" sz="1450" u="none" cap="none" strike="noStrike">
                <a:solidFill>
                  <a:srgbClr val="475569"/>
                </a:solidFill>
                <a:latin typeface="Arial"/>
                <a:ea typeface="Arial"/>
                <a:cs typeface="Arial"/>
                <a:sym typeface="Arial"/>
              </a:rPr>
              <a:t xml:space="preserve">decimal</a:t>
            </a:r>
            <a:r>
              <a:rPr b="0" i="0" lang="en-US" sz="1450" u="none" cap="none" strike="noStrike">
                <a:solidFill>
                  <a:srgbClr val="475569"/>
                </a:solidFill>
                <a:latin typeface="Arial"/>
                <a:ea typeface="Arial"/>
                <a:cs typeface="Arial"/>
                <a:sym typeface="Arial"/>
              </a:rPr>
              <a:t xml:space="preserve"> point two places right (multiply by 100) and append the % symbol.</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Percents to Fractions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Write the </a:t>
            </a:r>
            <a:r>
              <a:rPr b="1" i="0" lang="en-US" sz="1450" u="none" cap="none" strike="noStrike">
                <a:solidFill>
                  <a:srgbClr val="475569"/>
                </a:solidFill>
                <a:latin typeface="Arial"/>
                <a:ea typeface="Arial"/>
                <a:cs typeface="Arial"/>
                <a:sym typeface="Arial"/>
              </a:rPr>
              <a:t xml:space="preserve">percent</a:t>
            </a:r>
            <a:r>
              <a:rPr b="0" i="0" lang="en-US" sz="1450" u="none" cap="none" strike="noStrike">
                <a:solidFill>
                  <a:srgbClr val="475569"/>
                </a:solidFill>
                <a:latin typeface="Arial"/>
                <a:ea typeface="Arial"/>
                <a:cs typeface="Arial"/>
                <a:sym typeface="Arial"/>
              </a:rPr>
              <a:t xml:space="preserve"> over 100 and </a:t>
            </a:r>
            <a:r>
              <a:rPr b="1" i="0" lang="en-US" sz="1450" u="none" cap="none" strike="noStrike">
                <a:solidFill>
                  <a:srgbClr val="475569"/>
                </a:solidFill>
                <a:latin typeface="Arial"/>
                <a:ea typeface="Arial"/>
                <a:cs typeface="Arial"/>
                <a:sym typeface="Arial"/>
              </a:rPr>
              <a:t xml:space="preserve">simplify</a:t>
            </a:r>
            <a:r>
              <a:rPr b="0" i="0" lang="en-US" sz="1450" u="none" cap="none" strike="noStrike">
                <a:solidFill>
                  <a:srgbClr val="475569"/>
                </a:solidFill>
                <a:latin typeface="Arial"/>
                <a:ea typeface="Arial"/>
                <a:cs typeface="Arial"/>
                <a:sym typeface="Arial"/>
              </a:rPr>
              <a:t xml:space="preserve"> by dividing out common factors.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38</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Relate Fractions, Decimals, and Percentages</a:t>
            </a:r>
            <a:endParaRPr b="0" i="0" sz="1400" u="none" cap="none" strike="noStrike">
              <a:solidFill>
                <a:srgbClr val="000000"/>
              </a:solidFill>
              <a:latin typeface="Arial"/>
              <a:ea typeface="Arial"/>
              <a:cs typeface="Arial"/>
              <a:sym typeface="Arial"/>
            </a:endParaRPr>
          </a:p>
        </p:txBody>
      </p:sp>
      <p:sp>
        <p:nvSpPr>
          <p:cNvPr id="744" name="Google Shape;744;p7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5" name="Google Shape;745;p7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25 / 38</a:t>
            </a:r>
          </a:p>
        </p:txBody>
      </p:sp>
      <p:grpSp>
        <p:nvGrpSpPr>
          <p:cNvPr id="74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74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cxnSp>
        <p:nvCxnSpPr>
          <p:cNvPr id="773" name="Google Shape;773;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4" name="Google Shape;774;p76"/>
          <p:cNvSpPr txBox="1"/>
          <p:nvPr/>
        </p:nvSpPr>
        <p:spPr>
          <a:xfrm>
            <a:off x="484565" y="936100"/>
            <a:ext cx="7514126" cy="9758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order the following numbers from least to greatest?</a:t>
            </a:r>
            <a:endParaRPr b="0" i="0" sz="1400" u="none" cap="none" strike="noStrike">
              <a:solidFill>
                <a:srgbClr val="000000"/>
              </a:solidFill>
              <a:latin typeface="Arial"/>
              <a:ea typeface="Arial"/>
              <a:cs typeface="Arial"/>
              <a:sym typeface="Arial"/>
            </a:endParaRPr>
          </a:p>
        </p:txBody>
      </p:sp>
      <p:sp>
        <p:nvSpPr>
          <p:cNvPr id="775" name="Google Shape;775;p76"/>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pic>
        <p:nvPicPr>
          <p:cNvPr id="776" name="Google Shape;776;p76"/>
          <p:cNvPicPr preferRelativeResize="0"/>
          <p:nvPr/>
        </p:nvPicPr>
        <p:blipFill rotWithShape="1">
          <a:blip r:embed="rId3">
            <a:alphaModFix/>
          </a:blip>
          <a:srcRect b="0" l="0" r="0" t="0"/>
          <a:stretch/>
        </p:blipFill>
        <p:spPr>
          <a:xfrm>
            <a:off x="505580" y="2069245"/>
            <a:ext cx="9620282" cy="975827"/>
          </a:xfrm>
          <a:prstGeom prst="rect">
            <a:avLst/>
          </a:prstGeom>
          <a:noFill/>
          <a:ln>
            <a:noFill/>
          </a:ln>
        </p:spPr>
      </p:pic>
      <p:pic>
        <p:nvPicPr>
          <p:cNvPr id="777" name="Google Shape;777;p76"/>
          <p:cNvPicPr preferRelativeResize="0"/>
          <p:nvPr/>
        </p:nvPicPr>
        <p:blipFill rotWithShape="1">
          <a:blip r:embed="rId4">
            <a:alphaModFix/>
          </a:blip>
          <a:srcRect b="0" l="0" r="0" t="0"/>
          <a:stretch/>
        </p:blipFill>
        <p:spPr>
          <a:xfrm>
            <a:off x="505580" y="5083700"/>
            <a:ext cx="5054600" cy="838200"/>
          </a:xfrm>
          <a:prstGeom prst="rect">
            <a:avLst/>
          </a:prstGeom>
          <a:noFill/>
          <a:ln>
            <a:noFill/>
          </a:ln>
        </p:spPr>
      </p:pic>
      <p:sp>
        <p:nvSpPr>
          <p:cNvPr id="778" name="Google Shape;778;p76"/>
          <p:cNvSpPr txBox="1"/>
          <p:nvPr/>
        </p:nvSpPr>
        <p:spPr>
          <a:xfrm>
            <a:off x="336559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Planning</a:t>
            </a:r>
            <a:endParaRPr b="0" i="0" sz="1400" u="none" cap="none" strike="noStrike">
              <a:solidFill>
                <a:srgbClr val="000000"/>
              </a:solidFill>
              <a:latin typeface="Arial"/>
              <a:ea typeface="Arial"/>
              <a:cs typeface="Arial"/>
              <a:sym typeface="Arial"/>
            </a:endParaRPr>
          </a:p>
        </p:txBody>
      </p:sp>
      <p:sp>
        <p:nvSpPr>
          <p:cNvPr id="7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26 / 38</a:t>
            </a:r>
          </a:p>
        </p:txBody>
      </p:sp>
      <p:sp xmlns:p="http://schemas.openxmlformats.org/presentationml/2006/main" xmlns:a="http://schemas.openxmlformats.org/drawingml/2006/main">
        <p:nvSpPr>
          <p:cNvPr id="780"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cxnSp>
        <p:nvCxnSpPr>
          <p:cNvPr id="857" name="Google Shape;857;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8" name="Google Shape;858;p85"/>
          <p:cNvSpPr txBox="1"/>
          <p:nvPr/>
        </p:nvSpPr>
        <p:spPr>
          <a:xfrm>
            <a:off x="505580" y="903573"/>
            <a:ext cx="7973402" cy="9758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make it easier to compare and order the numbers?</a:t>
            </a:r>
            <a:endParaRPr b="0" i="0" sz="1400" u="none" cap="none" strike="noStrike">
              <a:solidFill>
                <a:srgbClr val="000000"/>
              </a:solidFill>
              <a:latin typeface="Arial"/>
              <a:ea typeface="Arial"/>
              <a:cs typeface="Arial"/>
              <a:sym typeface="Arial"/>
            </a:endParaRPr>
          </a:p>
        </p:txBody>
      </p:sp>
      <p:pic>
        <p:nvPicPr>
          <p:cNvPr id="859" name="Google Shape;859;p85"/>
          <p:cNvPicPr preferRelativeResize="0"/>
          <p:nvPr/>
        </p:nvPicPr>
        <p:blipFill rotWithShape="1">
          <a:blip r:embed="rId3">
            <a:alphaModFix/>
          </a:blip>
          <a:srcRect b="0" l="0" r="0" t="0"/>
          <a:stretch/>
        </p:blipFill>
        <p:spPr>
          <a:xfrm>
            <a:off x="505580" y="2069245"/>
            <a:ext cx="9620282" cy="975827"/>
          </a:xfrm>
          <a:prstGeom prst="rect">
            <a:avLst/>
          </a:prstGeom>
          <a:noFill/>
          <a:ln>
            <a:noFill/>
          </a:ln>
        </p:spPr>
      </p:pic>
      <p:sp>
        <p:nvSpPr>
          <p:cNvPr id="860" name="Google Shape;860;p85"/>
          <p:cNvSpPr txBox="1"/>
          <p:nvPr/>
        </p:nvSpPr>
        <p:spPr>
          <a:xfrm>
            <a:off x="484564" y="5146880"/>
            <a:ext cx="9316383"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express all the numbers using the same notation.</a:t>
            </a:r>
            <a:endParaRPr b="0" i="0" sz="1400" u="none" cap="none" strike="noStrike">
              <a:solidFill>
                <a:srgbClr val="000000"/>
              </a:solidFill>
              <a:latin typeface="Arial"/>
              <a:ea typeface="Arial"/>
              <a:cs typeface="Arial"/>
              <a:sym typeface="Arial"/>
            </a:endParaRPr>
          </a:p>
        </p:txBody>
      </p:sp>
      <p:sp>
        <p:nvSpPr>
          <p:cNvPr id="861" name="Google Shape;861;p85"/>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8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27 / 38</a:t>
            </a:r>
          </a:p>
        </p:txBody>
      </p:sp>
      <p:sp>
        <p:nvSpPr>
          <p:cNvPr id="863" name="EWL-COVER-1"/>
          <p:cNvSpPr/>
          <p:nvPr/>
        </p:nvSpPr>
        <p:spPr>
          <a:xfrm>
            <a:off x="429700" y="5092016"/>
            <a:ext cx="9426111" cy="1286010"/>
          </a:xfrm>
          <a:prstGeom prst="rect">
            <a:avLst/>
          </a:prstGeom>
          <a:solidFill>
            <a:srgbClr val="FFFFFF"/>
          </a:solidFill>
          <a:ln>
            <a:noFill/>
          </a:ln>
        </p:spPr>
        <p:txBody>
          <a:bodyPr/>
          <a:lstStyle/>
          <a:p/>
        </p:txBody>
      </p:sp>
      <p:sp xmlns:p="http://schemas.openxmlformats.org/presentationml/2006/main" xmlns:a="http://schemas.openxmlformats.org/drawingml/2006/main">
        <p:nvSpPr>
          <p:cNvPr id="864"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cxnSp>
        <p:nvCxnSpPr>
          <p:cNvPr id="876" name="Google Shape;876;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87"/>
          <p:cNvSpPr txBox="1"/>
          <p:nvPr/>
        </p:nvSpPr>
        <p:spPr>
          <a:xfrm>
            <a:off x="505580" y="776487"/>
            <a:ext cx="7652900" cy="1367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 xml:space="preserve">How can you express all the numbers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 xml:space="preserve">as fractions with the same denominator?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as decimals? as percentages?</a:t>
            </a:r>
            <a:endParaRPr b="0" i="0" sz="1400" u="none" cap="none" strike="noStrike">
              <a:solidFill>
                <a:srgbClr val="000000"/>
              </a:solidFill>
              <a:latin typeface="Arial"/>
              <a:ea typeface="Arial"/>
              <a:cs typeface="Arial"/>
              <a:sym typeface="Arial"/>
            </a:endParaRPr>
          </a:p>
        </p:txBody>
      </p:sp>
      <p:pic>
        <p:nvPicPr>
          <p:cNvPr id="878" name="Google Shape;878;p87"/>
          <p:cNvPicPr preferRelativeResize="0"/>
          <p:nvPr/>
        </p:nvPicPr>
        <p:blipFill rotWithShape="1">
          <a:blip r:embed="rId3">
            <a:alphaModFix/>
          </a:blip>
          <a:srcRect b="0" l="0" r="0" t="0"/>
          <a:stretch/>
        </p:blipFill>
        <p:spPr>
          <a:xfrm>
            <a:off x="505580" y="2183317"/>
            <a:ext cx="9620282" cy="975827"/>
          </a:xfrm>
          <a:prstGeom prst="rect">
            <a:avLst/>
          </a:prstGeom>
          <a:noFill/>
          <a:ln>
            <a:noFill/>
          </a:ln>
        </p:spPr>
      </p:pic>
      <p:sp>
        <p:nvSpPr>
          <p:cNvPr id="879" name="Google Shape;879;p87"/>
          <p:cNvSpPr txBox="1"/>
          <p:nvPr/>
        </p:nvSpPr>
        <p:spPr>
          <a:xfrm>
            <a:off x="484565" y="316034"/>
            <a:ext cx="5382835" cy="46045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sp>
        <p:nvSpPr>
          <p:cNvPr id="880" name="Google Shape;880;p87"/>
          <p:cNvSpPr/>
          <p:nvPr/>
        </p:nvSpPr>
        <p:spPr>
          <a:xfrm>
            <a:off x="558276" y="386231"/>
            <a:ext cx="353635" cy="303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1" name="Google Shape;881;p87"/>
          <p:cNvSpPr txBox="1"/>
          <p:nvPr/>
        </p:nvSpPr>
        <p:spPr>
          <a:xfrm>
            <a:off x="484565" y="3252961"/>
            <a:ext cx="7381051" cy="30814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882" name="Google Shape;882;p87"/>
          <p:cNvSpPr/>
          <p:nvPr/>
        </p:nvSpPr>
        <p:spPr>
          <a:xfrm>
            <a:off x="634008" y="4186769"/>
            <a:ext cx="6556905" cy="20928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Fractions: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5959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Decimals: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5959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Percentages:</a:t>
            </a:r>
            <a:endParaRPr b="0" i="0" sz="2600" u="none" cap="none" strike="noStrike">
              <a:solidFill>
                <a:srgbClr val="595959"/>
              </a:solidFill>
              <a:latin typeface="Arial"/>
              <a:ea typeface="Arial"/>
              <a:cs typeface="Arial"/>
              <a:sym typeface="Arial"/>
            </a:endParaRPr>
          </a:p>
        </p:txBody>
      </p:sp>
      <p:graphicFrame>
        <p:nvGraphicFramePr>
          <p:cNvPr id="883" name="Google Shape;883;p87"/>
          <p:cNvGraphicFramePr/>
          <p:nvPr/>
        </p:nvGraphicFramePr>
        <p:xfrm>
          <a:off x="2235200" y="3949708"/>
          <a:ext cx="3000000" cy="3000000"/>
        </p:xfrm>
        <a:graphic>
          <a:graphicData uri="http://schemas.openxmlformats.org/drawingml/2006/table">
            <a:tbl>
              <a:tblPr bandRow="1" firstRow="1">
                <a:noFill/>
                <a:tableStyleId>{8302E690-21E5-4B85-BC2B-9A1F2B1231A2}</a:tableStyleId>
              </a:tblPr>
              <a:tblGrid>
                <a:gridCol w="720000"/>
                <a:gridCol w="720000"/>
                <a:gridCol w="720000"/>
                <a:gridCol w="720000"/>
                <a:gridCol w="720000"/>
              </a:tblGrid>
              <a:tr h="8439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884" name="Google Shape;884;p87"/>
          <p:cNvGraphicFramePr/>
          <p:nvPr/>
        </p:nvGraphicFramePr>
        <p:xfrm>
          <a:off x="2235200" y="5020528"/>
          <a:ext cx="3000000" cy="3000000"/>
        </p:xfrm>
        <a:graphic>
          <a:graphicData uri="http://schemas.openxmlformats.org/drawingml/2006/table">
            <a:tbl>
              <a:tblPr bandRow="1" firstRow="1">
                <a:noFill/>
                <a:tableStyleId>{8302E690-21E5-4B85-BC2B-9A1F2B1231A2}</a:tableStyleId>
              </a:tblPr>
              <a:tblGrid>
                <a:gridCol w="828000"/>
                <a:gridCol w="828000"/>
                <a:gridCol w="828000"/>
                <a:gridCol w="828000"/>
                <a:gridCol w="828000"/>
              </a:tblGrid>
              <a:tr h="4876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885" name="Google Shape;885;p87"/>
          <p:cNvGraphicFramePr/>
          <p:nvPr/>
        </p:nvGraphicFramePr>
        <p:xfrm>
          <a:off x="2794001" y="5779275"/>
          <a:ext cx="3000000" cy="3000000"/>
        </p:xfrm>
        <a:graphic>
          <a:graphicData uri="http://schemas.openxmlformats.org/drawingml/2006/table">
            <a:tbl>
              <a:tblPr bandRow="1" firstRow="1">
                <a:noFill/>
                <a:tableStyleId>{8302E690-21E5-4B85-BC2B-9A1F2B1231A2}</a:tableStyleId>
              </a:tblPr>
              <a:tblGrid>
                <a:gridCol w="828000"/>
                <a:gridCol w="828000"/>
                <a:gridCol w="828000"/>
                <a:gridCol w="828000"/>
                <a:gridCol w="828000"/>
              </a:tblGrid>
              <a:tr h="4876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28 / 38</a:t>
            </a:r>
          </a:p>
        </p:txBody>
      </p:sp>
      <p:sp>
        <p:nvSpPr>
          <p:cNvPr id="9003" name="EWL-COVER-1"/>
          <p:cNvSpPr/>
          <p:nvPr/>
        </p:nvSpPr>
        <p:spPr>
          <a:xfrm>
            <a:off x="429701" y="3198097"/>
            <a:ext cx="7490779" cy="3191179"/>
          </a:xfrm>
          <a:prstGeom prst="rect">
            <a:avLst/>
          </a:prstGeom>
          <a:solidFill>
            <a:srgbClr val="FFFFFF"/>
          </a:solidFill>
          <a:ln>
            <a:noFill/>
          </a:ln>
        </p:spPr>
        <p:txBody>
          <a:bodyPr/>
          <a:lstStyle/>
          <a:p/>
        </p:txBody>
      </p:sp>
      <p:sp>
        <p:nvSpPr>
          <p:cNvPr id="900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cxnSp>
        <p:nvCxnSpPr>
          <p:cNvPr id="923" name="Google Shape;923;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4" name="Google Shape;924;p91"/>
          <p:cNvSpPr txBox="1"/>
          <p:nvPr/>
        </p:nvSpPr>
        <p:spPr>
          <a:xfrm>
            <a:off x="484565" y="977153"/>
            <a:ext cx="8278435" cy="18131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compare the numbers once they are all written as fractions with the same denominator? as decimals? as percentages?</a:t>
            </a:r>
            <a:endParaRPr b="0" i="0" sz="1400" u="none" cap="none" strike="noStrike">
              <a:solidFill>
                <a:srgbClr val="000000"/>
              </a:solidFill>
              <a:latin typeface="Arial"/>
              <a:ea typeface="Arial"/>
              <a:cs typeface="Arial"/>
              <a:sym typeface="Arial"/>
            </a:endParaRPr>
          </a:p>
        </p:txBody>
      </p:sp>
      <p:sp>
        <p:nvSpPr>
          <p:cNvPr id="925" name="Google Shape;925;p91"/>
          <p:cNvSpPr/>
          <p:nvPr/>
        </p:nvSpPr>
        <p:spPr>
          <a:xfrm>
            <a:off x="499805" y="2716626"/>
            <a:ext cx="6786247" cy="20928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Fractions: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defRPr/>
            </a:pPr>
            <a:r>
              <a:rPr/>
              <a:t/>
            </a:r>
            <a:endParaRPr b="0" i="0" sz="2600" u="none" cap="none" strike="noStrike">
              <a:solidFill>
                <a:srgbClr val="5959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Decimals: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defRPr/>
            </a:pPr>
            <a:r>
              <a:rPr/>
              <a:t/>
            </a:r>
            <a:endParaRPr b="0" i="0" sz="2600" u="none" cap="none" strike="noStrike">
              <a:solidFill>
                <a:srgbClr val="5959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Percentages:</a:t>
            </a:r>
            <a:endParaRPr b="0" i="0" sz="2600" u="none" cap="none" strike="noStrike">
              <a:solidFill>
                <a:srgbClr val="595959"/>
              </a:solidFill>
              <a:latin typeface="Arial"/>
              <a:ea typeface="Arial"/>
              <a:cs typeface="Arial"/>
              <a:sym typeface="Arial"/>
            </a:endParaRPr>
          </a:p>
        </p:txBody>
      </p:sp>
      <p:sp>
        <p:nvSpPr>
          <p:cNvPr id="926" name="Google Shape;926;p91"/>
          <p:cNvSpPr txBox="1"/>
          <p:nvPr/>
        </p:nvSpPr>
        <p:spPr>
          <a:xfrm>
            <a:off x="2100997" y="3500855"/>
            <a:ext cx="4106802" cy="523220"/>
          </a:xfrm>
          <a:prstGeom prst="rect">
            <a:avLst/>
          </a:prstGeom>
          <a:blipFill rotWithShape="1">
            <a:blip r:embed="rId3">
              <a:alphaModFix/>
            </a:blip>
            <a:stretch>
              <a:fillRect b="-23810" l="-92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7" name="Google Shape;927;p91"/>
          <p:cNvSpPr txBox="1"/>
          <p:nvPr/>
        </p:nvSpPr>
        <p:spPr>
          <a:xfrm>
            <a:off x="2100997" y="2506105"/>
            <a:ext cx="3139136" cy="852221"/>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8" name="Google Shape;928;p91"/>
          <p:cNvSpPr txBox="1"/>
          <p:nvPr/>
        </p:nvSpPr>
        <p:spPr>
          <a:xfrm>
            <a:off x="2666181" y="4263498"/>
            <a:ext cx="4385465"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9" name="Google Shape;929;p91"/>
          <p:cNvSpPr txBox="1"/>
          <p:nvPr/>
        </p:nvSpPr>
        <p:spPr>
          <a:xfrm>
            <a:off x="499805" y="4952036"/>
            <a:ext cx="11555752" cy="1624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930" name="Google Shape;930;p91"/>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9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29 / 38</a:t>
            </a:r>
          </a:p>
        </p:txBody>
      </p:sp>
      <p:sp>
        <p:nvSpPr>
          <p:cNvPr id="932" name="EWL-COVER-1"/>
          <p:cNvSpPr/>
          <p:nvPr/>
        </p:nvSpPr>
        <p:spPr>
          <a:xfrm>
            <a:off x="444941" y="4897172"/>
            <a:ext cx="11665480" cy="1549348"/>
          </a:xfrm>
          <a:prstGeom prst="rect">
            <a:avLst/>
          </a:prstGeom>
          <a:solidFill>
            <a:srgbClr val="FFFFFF"/>
          </a:solidFill>
          <a:ln>
            <a:noFill/>
          </a:ln>
        </p:spPr>
        <p:txBody>
          <a:bodyPr/>
          <a:lstStyle/>
          <a:p/>
        </p:txBody>
      </p:sp>
      <p:grpSp>
        <p:nvGrpSpPr>
          <p:cNvPr id="933" name="TEACH-5-student-move" descr="TEACH 5 · Facilitate student interactions and academic talk"/>
          <p:cNvGrpSpPr/>
          <p:nvPr/>
        </p:nvGrpSpPr>
        <p:grpSpPr>
          <a:xfrm>
            <a:off x="502920" y="5552085"/>
            <a:ext cx="11186160" cy="731520"/>
            <a:chOff x="502920" y="5552085"/>
            <a:chExt cx="11186160" cy="731520"/>
          </a:xfrm>
        </p:grpSpPr>
        <p:sp>
          <p:nvSpPr>
            <p:cNvPr id="934" name="TEACH-move-card"/>
            <p:cNvSpPr/>
            <p:nvPr/>
          </p:nvSpPr>
          <p:spPr>
            <a:xfrm>
              <a:off x="502920" y="555208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35" name="TEACH-move-rule"/>
            <p:cNvSpPr/>
            <p:nvPr/>
          </p:nvSpPr>
          <p:spPr>
            <a:xfrm>
              <a:off x="548640" y="5691074"/>
              <a:ext cx="100584" cy="453542"/>
            </a:xfrm>
            <a:prstGeom prst="roundRect">
              <a:avLst>
                <a:gd name="adj" fmla="val 50000"/>
              </a:avLst>
            </a:prstGeom>
            <a:solidFill>
              <a:srgbClr val="01708C"/>
            </a:solidFill>
            <a:ln>
              <a:noFill/>
            </a:ln>
          </p:spPr>
          <p:txBody>
            <a:bodyPr/>
            <a:lstStyle/>
            <a:p>
              <a:endParaRPr/>
            </a:p>
          </p:txBody>
        </p:sp>
        <p:sp>
          <p:nvSpPr>
            <p:cNvPr id="936" name="TEACH-move-text"/>
            <p:cNvSpPr txBox="1"/>
            <p:nvPr/>
          </p:nvSpPr>
          <p:spPr>
            <a:xfrm>
              <a:off x="822960" y="555208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ADD ON  ·  </a:t>
              </a:r>
              <a:r>
                <a:rPr lang="en-US" sz="1800" dirty="0">
                  <a:solidFill>
                    <a:srgbClr val="13303A"/>
                  </a:solidFill>
                  <a:latin typeface="Arial"/>
                </a:rPr>
                <a:t>Add on: “I agree because ______.”  or  “I see it differently because ______.”</a:t>
              </a:r>
              <a:endParaRPr lang="en-US" sz="1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cxnSp>
        <p:nvCxnSpPr>
          <p:cNvPr id="980" name="Google Shape;980;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1" name="Google Shape;981;p96"/>
          <p:cNvSpPr txBox="1"/>
          <p:nvPr/>
        </p:nvSpPr>
        <p:spPr>
          <a:xfrm>
            <a:off x="484565" y="977155"/>
            <a:ext cx="7973402" cy="940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order these numbers from least to greatest?</a:t>
            </a:r>
            <a:endParaRPr b="0" i="0" sz="1400" u="none" cap="none" strike="noStrike">
              <a:solidFill>
                <a:srgbClr val="000000"/>
              </a:solidFill>
              <a:latin typeface="Arial"/>
              <a:ea typeface="Arial"/>
              <a:cs typeface="Arial"/>
              <a:sym typeface="Arial"/>
            </a:endParaRPr>
          </a:p>
        </p:txBody>
      </p:sp>
      <p:sp>
        <p:nvSpPr>
          <p:cNvPr id="982" name="Google Shape;982;p96"/>
          <p:cNvSpPr txBox="1"/>
          <p:nvPr/>
        </p:nvSpPr>
        <p:spPr>
          <a:xfrm>
            <a:off x="586098" y="3571599"/>
            <a:ext cx="7963097" cy="1719958"/>
          </a:xfrm>
          <a:prstGeom prst="rect">
            <a:avLst/>
          </a:prstGeom>
          <a:blipFill rotWithShape="1">
            <a:blip r:embed="rId3">
              <a:alphaModFix/>
            </a:blip>
            <a:stretch>
              <a:fillRect b="0" l="-1453" r="0" t="0"/>
            </a:stretch>
          </a:blipFill>
          <a:ln cap="flat" cmpd="sng" w="9525">
            <a:solidFill>
              <a:srgbClr val="782D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83" name="Google Shape;983;p96"/>
          <p:cNvPicPr preferRelativeResize="0"/>
          <p:nvPr/>
        </p:nvPicPr>
        <p:blipFill rotWithShape="1">
          <a:blip r:embed="rId4">
            <a:alphaModFix/>
          </a:blip>
          <a:srcRect b="0" l="0" r="0" t="0"/>
          <a:stretch/>
        </p:blipFill>
        <p:spPr>
          <a:xfrm>
            <a:off x="505580" y="2069245"/>
            <a:ext cx="9620282" cy="975827"/>
          </a:xfrm>
          <a:prstGeom prst="rect">
            <a:avLst/>
          </a:prstGeom>
          <a:noFill/>
          <a:ln>
            <a:noFill/>
          </a:ln>
        </p:spPr>
      </p:pic>
      <p:sp>
        <p:nvSpPr>
          <p:cNvPr id="984" name="Google Shape;984;p96"/>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9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30 / 38</a:t>
            </a:r>
          </a:p>
        </p:txBody>
      </p:sp>
      <p:sp xmlns:p="http://schemas.openxmlformats.org/presentationml/2006/main" xmlns:a="http://schemas.openxmlformats.org/drawingml/2006/main">
        <p:nvSpPr>
          <p:cNvPr id="98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cxnSp>
        <p:nvCxnSpPr>
          <p:cNvPr id="989" name="Google Shape;989;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0" name="Google Shape;990;p97"/>
          <p:cNvSpPr txBox="1"/>
          <p:nvPr/>
        </p:nvSpPr>
        <p:spPr>
          <a:xfrm>
            <a:off x="484563" y="927527"/>
            <a:ext cx="8757091" cy="1504955"/>
          </a:xfrm>
          <a:prstGeom prst="rect">
            <a:avLst/>
          </a:prstGeom>
          <a:blipFill rotWithShape="1">
            <a:blip r:embed="rId3">
              <a:alphaModFix/>
            </a:blip>
            <a:stretch>
              <a:fillRect b="-14170" l="-1252"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1" name="Google Shape;991;p9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92" name="Google Shape;992;p97"/>
          <p:cNvSpPr txBox="1"/>
          <p:nvPr/>
        </p:nvSpPr>
        <p:spPr>
          <a:xfrm>
            <a:off x="484563" y="3949349"/>
            <a:ext cx="8757091" cy="977931"/>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When writing a fraction as a percent, why do you find an equivalent ratio with a denominator of 100?</a:t>
            </a:r>
            <a:endParaRPr b="0" i="0" sz="1400" u="none" cap="none" strike="noStrike">
              <a:solidFill>
                <a:srgbClr val="000000"/>
              </a:solidFill>
              <a:latin typeface="Arial"/>
              <a:ea typeface="Arial"/>
              <a:cs typeface="Arial"/>
              <a:sym typeface="Arial"/>
            </a:endParaRPr>
          </a:p>
        </p:txBody>
      </p:sp>
      <p:sp>
        <p:nvSpPr>
          <p:cNvPr id="993" name="Google Shape;993;p97"/>
          <p:cNvSpPr/>
          <p:nvPr/>
        </p:nvSpPr>
        <p:spPr>
          <a:xfrm>
            <a:off x="484563" y="5042783"/>
            <a:ext cx="8757090" cy="122964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94" name="Google Shape;994;p97"/>
          <p:cNvSpPr txBox="1"/>
          <p:nvPr/>
        </p:nvSpPr>
        <p:spPr>
          <a:xfrm>
            <a:off x="8034784" y="5933873"/>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95" name="Google Shape;995;p97"/>
          <p:cNvSpPr/>
          <p:nvPr/>
        </p:nvSpPr>
        <p:spPr>
          <a:xfrm>
            <a:off x="484563" y="2661954"/>
            <a:ext cx="8757090" cy="122964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96" name="Google Shape;996;p97"/>
          <p:cNvSpPr txBox="1"/>
          <p:nvPr/>
        </p:nvSpPr>
        <p:spPr>
          <a:xfrm>
            <a:off x="8034784" y="355304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31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confusing a decimal with the same numeral followed by a percent sign.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Connect the given value to a hundred grid or a known benchmark.</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3" name="Google Shape;803;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4" name="Google Shape;804;p79"/>
          <p:cNvSpPr txBox="1"/>
          <p:nvPr/>
        </p:nvSpPr>
        <p:spPr>
          <a:xfrm>
            <a:off x="505580" y="977154"/>
            <a:ext cx="7973402" cy="9758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what each number represents?</a:t>
            </a:r>
            <a:endParaRPr b="0" i="0" sz="1400" u="none" cap="none" strike="noStrike">
              <a:solidFill>
                <a:srgbClr val="000000"/>
              </a:solidFill>
              <a:latin typeface="Arial"/>
              <a:ea typeface="Arial"/>
              <a:cs typeface="Arial"/>
              <a:sym typeface="Arial"/>
            </a:endParaRPr>
          </a:p>
        </p:txBody>
      </p:sp>
      <p:pic>
        <p:nvPicPr>
          <p:cNvPr id="805" name="Google Shape;805;p79"/>
          <p:cNvPicPr preferRelativeResize="0"/>
          <p:nvPr/>
        </p:nvPicPr>
        <p:blipFill rotWithShape="1">
          <a:blip r:embed="rId2">
            <a:alphaModFix/>
          </a:blip>
          <a:srcRect b="0" l="0" r="0" t="0"/>
          <a:stretch/>
        </p:blipFill>
        <p:spPr>
          <a:xfrm>
            <a:off x="505580" y="2069245"/>
            <a:ext cx="9620282" cy="975827"/>
          </a:xfrm>
          <a:prstGeom prst="rect">
            <a:avLst/>
          </a:prstGeom>
          <a:noFill/>
          <a:ln>
            <a:noFill/>
          </a:ln>
        </p:spPr>
      </p:pic>
      <p:sp>
        <p:nvSpPr>
          <p:cNvPr id="806" name="Google Shape;806;p79"/>
          <p:cNvSpPr txBox="1"/>
          <p:nvPr/>
        </p:nvSpPr>
        <p:spPr>
          <a:xfrm>
            <a:off x="484564" y="5146880"/>
            <a:ext cx="8330961"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Each of these numbers represents part of a whole.</a:t>
            </a:r>
            <a:endParaRPr b="0" i="0" sz="1400" u="none" cap="none" strike="noStrike">
              <a:solidFill>
                <a:srgbClr val="000000"/>
              </a:solidFill>
              <a:latin typeface="Arial"/>
              <a:ea typeface="Arial"/>
              <a:cs typeface="Arial"/>
              <a:sym typeface="Arial"/>
            </a:endParaRPr>
          </a:p>
        </p:txBody>
      </p:sp>
      <p:sp>
        <p:nvSpPr>
          <p:cNvPr id="807" name="Google Shape;807;p79"/>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33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1" name="Google Shape;821;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2" name="Google Shape;822;p81"/>
          <p:cNvSpPr txBox="1"/>
          <p:nvPr/>
        </p:nvSpPr>
        <p:spPr>
          <a:xfrm>
            <a:off x="484565" y="954293"/>
            <a:ext cx="7973402" cy="9758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how these numbers are written?</a:t>
            </a:r>
            <a:endParaRPr b="0" i="0" sz="1400" u="none" cap="none" strike="noStrike">
              <a:solidFill>
                <a:srgbClr val="000000"/>
              </a:solidFill>
              <a:latin typeface="Arial"/>
              <a:ea typeface="Arial"/>
              <a:cs typeface="Arial"/>
              <a:sym typeface="Arial"/>
            </a:endParaRPr>
          </a:p>
        </p:txBody>
      </p:sp>
      <p:pic>
        <p:nvPicPr>
          <p:cNvPr id="823" name="Google Shape;823;p81"/>
          <p:cNvPicPr preferRelativeResize="0"/>
          <p:nvPr/>
        </p:nvPicPr>
        <p:blipFill rotWithShape="1">
          <a:blip r:embed="rId2">
            <a:alphaModFix/>
          </a:blip>
          <a:srcRect b="0" l="0" r="0" t="0"/>
          <a:stretch/>
        </p:blipFill>
        <p:spPr>
          <a:xfrm>
            <a:off x="505580" y="2069245"/>
            <a:ext cx="9620282" cy="975827"/>
          </a:xfrm>
          <a:prstGeom prst="rect">
            <a:avLst/>
          </a:prstGeom>
          <a:noFill/>
          <a:ln>
            <a:noFill/>
          </a:ln>
        </p:spPr>
      </p:pic>
      <p:sp>
        <p:nvSpPr>
          <p:cNvPr id="824" name="Google Shape;824;p81"/>
          <p:cNvSpPr txBox="1"/>
          <p:nvPr/>
        </p:nvSpPr>
        <p:spPr>
          <a:xfrm>
            <a:off x="505580" y="5194725"/>
            <a:ext cx="8712701"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Each part of a whole is written in a different notation.</a:t>
            </a:r>
            <a:endParaRPr b="0" i="0" sz="1400" u="none" cap="none" strike="noStrike">
              <a:solidFill>
                <a:srgbClr val="000000"/>
              </a:solidFill>
              <a:latin typeface="Arial"/>
              <a:ea typeface="Arial"/>
              <a:cs typeface="Arial"/>
              <a:sym typeface="Arial"/>
            </a:endParaRPr>
          </a:p>
        </p:txBody>
      </p:sp>
      <p:sp>
        <p:nvSpPr>
          <p:cNvPr id="825" name="Google Shape;825;p81"/>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34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7" name="Google Shape;857;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8" name="Google Shape;858;p85"/>
          <p:cNvSpPr txBox="1"/>
          <p:nvPr/>
        </p:nvSpPr>
        <p:spPr>
          <a:xfrm>
            <a:off x="505580" y="903573"/>
            <a:ext cx="7973402" cy="9758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make it easier to compare and order the numbers?</a:t>
            </a:r>
            <a:endParaRPr b="0" i="0" sz="1400" u="none" cap="none" strike="noStrike">
              <a:solidFill>
                <a:srgbClr val="000000"/>
              </a:solidFill>
              <a:latin typeface="Arial"/>
              <a:ea typeface="Arial"/>
              <a:cs typeface="Arial"/>
              <a:sym typeface="Arial"/>
            </a:endParaRPr>
          </a:p>
        </p:txBody>
      </p:sp>
      <p:pic>
        <p:nvPicPr>
          <p:cNvPr id="859" name="Google Shape;859;p85"/>
          <p:cNvPicPr preferRelativeResize="0"/>
          <p:nvPr/>
        </p:nvPicPr>
        <p:blipFill rotWithShape="1">
          <a:blip r:embed="rId2">
            <a:alphaModFix/>
          </a:blip>
          <a:srcRect b="0" l="0" r="0" t="0"/>
          <a:stretch/>
        </p:blipFill>
        <p:spPr>
          <a:xfrm>
            <a:off x="505580" y="2069245"/>
            <a:ext cx="9620282" cy="975827"/>
          </a:xfrm>
          <a:prstGeom prst="rect">
            <a:avLst/>
          </a:prstGeom>
          <a:noFill/>
          <a:ln>
            <a:noFill/>
          </a:ln>
        </p:spPr>
      </p:pic>
      <p:sp>
        <p:nvSpPr>
          <p:cNvPr id="860" name="Google Shape;860;p85"/>
          <p:cNvSpPr txBox="1"/>
          <p:nvPr/>
        </p:nvSpPr>
        <p:spPr>
          <a:xfrm>
            <a:off x="484564" y="5146880"/>
            <a:ext cx="9316383"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express all the numbers using the same notation.</a:t>
            </a:r>
            <a:endParaRPr b="0" i="0" sz="1400" u="none" cap="none" strike="noStrike">
              <a:solidFill>
                <a:srgbClr val="000000"/>
              </a:solidFill>
              <a:latin typeface="Arial"/>
              <a:ea typeface="Arial"/>
              <a:cs typeface="Arial"/>
              <a:sym typeface="Arial"/>
            </a:endParaRPr>
          </a:p>
        </p:txBody>
      </p:sp>
      <p:sp>
        <p:nvSpPr>
          <p:cNvPr id="861" name="Google Shape;861;p85"/>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Number Reorganization</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35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cxnSp>
        <p:nvCxnSpPr>
          <p:cNvPr id="1001" name="Google Shape;1001;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2" name="Google Shape;1002;p98"/>
          <p:cNvSpPr txBox="1"/>
          <p:nvPr/>
        </p:nvSpPr>
        <p:spPr>
          <a:xfrm>
            <a:off x="484565" y="1215953"/>
            <a:ext cx="8539362" cy="22106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You can express percentages in percent, fraction, or decimal forms.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percent expressed in fraction form always has a denominator of 100.</a:t>
            </a:r>
            <a:endParaRPr b="0" i="0" sz="1400" u="none" cap="none" strike="noStrike">
              <a:solidFill>
                <a:srgbClr val="000000"/>
              </a:solidFill>
              <a:latin typeface="Arial"/>
              <a:ea typeface="Arial"/>
              <a:cs typeface="Arial"/>
              <a:sym typeface="Arial"/>
            </a:endParaRPr>
          </a:p>
        </p:txBody>
      </p:sp>
      <p:sp>
        <p:nvSpPr>
          <p:cNvPr id="1003" name="Google Shape;1003;p98"/>
          <p:cNvSpPr txBox="1"/>
          <p:nvPr/>
        </p:nvSpPr>
        <p:spPr>
          <a:xfrm>
            <a:off x="484565" y="316034"/>
            <a:ext cx="6276453" cy="8999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Relate Fractions, Decimals, and Percentages</a:t>
            </a:r>
            <a:endParaRPr b="0" i="0" sz="1400" u="none" cap="none" strike="noStrike">
              <a:solidFill>
                <a:srgbClr val="000000"/>
              </a:solidFill>
              <a:latin typeface="Arial"/>
              <a:ea typeface="Arial"/>
              <a:cs typeface="Arial"/>
              <a:sym typeface="Arial"/>
            </a:endParaRPr>
          </a:p>
        </p:txBody>
      </p:sp>
      <p:graphicFrame>
        <p:nvGraphicFramePr>
          <p:cNvPr id="1004" name="Google Shape;1004;p98"/>
          <p:cNvGraphicFramePr/>
          <p:nvPr/>
        </p:nvGraphicFramePr>
        <p:xfrm>
          <a:off x="484565" y="3246120"/>
          <a:ext cx="3000000" cy="3000000"/>
        </p:xfrm>
        <a:graphic>
          <a:graphicData uri="http://schemas.openxmlformats.org/drawingml/2006/table">
            <a:tbl>
              <a:tblPr bandRow="1" firstRow="1">
                <a:noFill/>
                <a:tableStyleId>{8302E690-21E5-4B85-BC2B-9A1F2B1231A2}</a:tableStyleId>
              </a:tblPr>
              <a:tblGrid>
                <a:gridCol w="2846450"/>
                <a:gridCol w="2846450"/>
                <a:gridCol w="2846450"/>
              </a:tblGrid>
              <a:tr h="457200">
                <a:tc gridSpan="3">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solidFill>
                          <a:schemeClr val="dk1"/>
                        </a:solidFill>
                        <a:latin typeface="Arial"/>
                        <a:ea typeface="Arial"/>
                        <a:cs typeface="Arial"/>
                        <a:sym typeface="Arial"/>
                      </a:endParaRPr>
                    </a:p>
                  </a:txBody>
                  <a:tcPr marT="45725" marB="45725" marR="91450" marL="91450">
                    <a:lnB cap="flat" cmpd="sng" w="12700">
                      <a:solidFill>
                        <a:srgbClr val="AEABAB"/>
                      </a:solidFill>
                      <a:prstDash val="solid"/>
                      <a:round/>
                      <a:headEnd len="sm" w="sm" type="none"/>
                      <a:tailEnd len="sm" w="sm" type="none"/>
                    </a:lnB>
                    <a:solidFill>
                      <a:schemeClr val="lt1"/>
                    </a:solidFill>
                  </a:tcPr>
                </a:tc>
                <a:tc hMerge="1"/>
                <a:tc hMerge="1"/>
              </a:tr>
              <a:tr h="487675">
                <a:tc>
                  <a:txBody>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Percent</a:t>
                      </a:r>
                      <a:endParaRPr sz="2600" u="none" cap="none" strike="noStrike">
                        <a:solidFill>
                          <a:schemeClr val="lt1"/>
                        </a:solidFill>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Arial"/>
                          <a:ea typeface="Arial"/>
                          <a:cs typeface="Arial"/>
                          <a:sym typeface="Arial"/>
                        </a:rPr>
                        <a:t>Fraction</a:t>
                      </a:r>
                      <a:endParaRPr sz="2600" u="none" cap="none" strike="noStrike">
                        <a:solidFill>
                          <a:schemeClr val="lt1"/>
                        </a:solidFill>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Arial"/>
                          <a:ea typeface="Arial"/>
                          <a:cs typeface="Arial"/>
                          <a:sym typeface="Arial"/>
                        </a:rPr>
                        <a:t>Decimal</a:t>
                      </a:r>
                      <a:endParaRPr sz="2600" u="none" cap="none" strike="noStrike">
                        <a:solidFill>
                          <a:schemeClr val="lt1"/>
                        </a:solidFill>
                        <a:latin typeface="Arial"/>
                        <a:ea typeface="Arial"/>
                        <a:cs typeface="Arial"/>
                        <a:sym typeface="Arial"/>
                      </a:endParaRPr>
                    </a:p>
                  </a:txBody>
                  <a:tcPr marT="45725" marB="45725" marR="91450" marL="91450">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rgbClr val="695B9A"/>
                    </a:solidFill>
                  </a:tcPr>
                </a:tc>
              </a:tr>
              <a:tr h="835925">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37%</a:t>
                      </a:r>
                      <a:endParaRPr sz="2600" u="none" cap="none" strike="noStrike">
                        <a:latin typeface="Arial"/>
                        <a:ea typeface="Arial"/>
                        <a:cs typeface="Arial"/>
                        <a:sym typeface="Arial"/>
                      </a:endParaRPr>
                    </a:p>
                  </a:txBody>
                  <a:tcPr marT="45725" marB="45725" marR="91450" marL="91450" anchor="ctr">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0.37</a:t>
                      </a:r>
                      <a:endParaRPr sz="2600" u="none" cap="none" strike="noStrike">
                        <a:latin typeface="Arial"/>
                        <a:ea typeface="Arial"/>
                        <a:cs typeface="Arial"/>
                        <a:sym typeface="Arial"/>
                      </a:endParaRPr>
                    </a:p>
                  </a:txBody>
                  <a:tcPr marT="45725" marB="45725" marR="91450" marL="91450" anchor="ctr">
                    <a:lnL cap="flat" cmpd="sng" w="12700">
                      <a:solidFill>
                        <a:srgbClr val="AEABAB"/>
                      </a:solidFill>
                      <a:prstDash val="solid"/>
                      <a:round/>
                      <a:headEnd len="sm" w="sm" type="none"/>
                      <a:tailEnd len="sm" w="sm" type="none"/>
                    </a:lnL>
                    <a:lnR cap="flat" cmpd="sng" w="12700">
                      <a:solidFill>
                        <a:srgbClr val="AEABAB"/>
                      </a:solidFill>
                      <a:prstDash val="solid"/>
                      <a:round/>
                      <a:headEnd len="sm" w="sm" type="none"/>
                      <a:tailEnd len="sm" w="sm" type="none"/>
                    </a:lnR>
                    <a:lnT cap="flat" cmpd="sng" w="12700">
                      <a:solidFill>
                        <a:srgbClr val="AEABAB"/>
                      </a:solidFill>
                      <a:prstDash val="solid"/>
                      <a:round/>
                      <a:headEnd len="sm" w="sm" type="none"/>
                      <a:tailEnd len="sm" w="sm" type="none"/>
                    </a:lnT>
                    <a:lnB cap="flat" cmpd="sng" w="12700">
                      <a:solidFill>
                        <a:srgbClr val="AEABAB"/>
                      </a:solidFill>
                      <a:prstDash val="solid"/>
                      <a:round/>
                      <a:headEnd len="sm" w="sm" type="none"/>
                      <a:tailEnd len="sm" w="sm" type="none"/>
                    </a:lnB>
                    <a:solidFill>
                      <a:schemeClr val="lt1"/>
                    </a:solidFill>
                  </a:tcPr>
                </a:tc>
              </a:tr>
            </a:tbl>
          </a:graphicData>
        </a:graphic>
      </p:graphicFrame>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Share a connection to prior learning or lived experience.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36 / 38</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00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cxnSp>
        <p:nvCxnSpPr>
          <p:cNvPr id="1009" name="Google Shape;1009;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0" name="Google Shape;1010;p99"/>
          <p:cNvSpPr txBox="1"/>
          <p:nvPr/>
        </p:nvSpPr>
        <p:spPr>
          <a:xfrm>
            <a:off x="484564" y="866568"/>
            <a:ext cx="8286574" cy="54910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pPr>
            <a:r>
              <a:rPr b="0" i="0" lang="en-US" sz="2600" u="none" cap="none" strike="noStrike">
                <a:solidFill>
                  <a:srgbClr val="23282D"/>
                </a:solidFill>
                <a:latin typeface="Arial"/>
                <a:ea typeface="Arial"/>
                <a:cs typeface="Arial"/>
                <a:sym typeface="Arial"/>
              </a:rPr>
              <a:t>The table shows the average total sleep times for different animals.</a:t>
            </a:r>
            <a:br>
              <a:rPr b="0" i="0" lang="en-US" sz="2600" u="none" cap="none" strike="noStrike">
                <a:solidFill>
                  <a:srgbClr val="23282D"/>
                </a:solidFill>
                <a:latin typeface="Arial"/>
                <a:ea typeface="Arial"/>
                <a:cs typeface="Arial"/>
                <a:sym typeface="Arial"/>
              </a:rPr>
            </a:br>
            <a:endParaRPr b="0" i="0" sz="26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600"/>
              <a:buFont typeface="Arial"/>
              <a:buNone/>
            </a:pPr>
            <a:r>
              <a:t/>
            </a:r>
            <a:endParaRPr b="0" i="0" sz="26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600"/>
              <a:buFont typeface="Arial"/>
              <a:buNone/>
            </a:pPr>
            <a:r>
              <a:t/>
            </a:r>
            <a:endParaRPr b="0" i="0" sz="26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600"/>
              <a:buFont typeface="Arial"/>
              <a:buNone/>
            </a:pPr>
            <a:r>
              <a:t/>
            </a:r>
            <a:endParaRPr b="0" i="0" sz="26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600"/>
              <a:buFont typeface="Arial"/>
              <a:buNone/>
            </a:pPr>
            <a:r>
              <a:t/>
            </a:r>
            <a:endParaRPr b="0" i="0" sz="2600" u="none" cap="none" strike="noStrike">
              <a:solidFill>
                <a:srgbClr val="262626"/>
              </a:solidFill>
              <a:latin typeface="Arial"/>
              <a:ea typeface="Arial"/>
              <a:cs typeface="Arial"/>
              <a:sym typeface="Arial"/>
            </a:endParaRPr>
          </a:p>
        </p:txBody>
      </p:sp>
      <p:sp>
        <p:nvSpPr>
          <p:cNvPr id="1011" name="Google Shape;1011;p9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Sleepy Animals</a:t>
            </a:r>
            <a:endParaRPr b="0" i="0" sz="1400" u="none" cap="none" strike="noStrike">
              <a:solidFill>
                <a:srgbClr val="000000"/>
              </a:solidFill>
              <a:latin typeface="Arial"/>
              <a:ea typeface="Arial"/>
              <a:cs typeface="Arial"/>
              <a:sym typeface="Arial"/>
            </a:endParaRPr>
          </a:p>
        </p:txBody>
      </p:sp>
      <p:pic>
        <p:nvPicPr>
          <p:cNvPr id="1012" name="Google Shape;1012;p99"/>
          <p:cNvPicPr preferRelativeResize="0"/>
          <p:nvPr/>
        </p:nvPicPr>
        <p:blipFill rotWithShape="1">
          <a:blip r:embed="rId3">
            <a:alphaModFix/>
          </a:blip>
          <a:srcRect b="0" l="0" r="0" t="0"/>
          <a:stretch/>
        </p:blipFill>
        <p:spPr>
          <a:xfrm>
            <a:off x="484564" y="1782720"/>
            <a:ext cx="9756716" cy="3220561"/>
          </a:xfrm>
          <a:prstGeom prst="rect">
            <a:avLst/>
          </a:prstGeom>
          <a:noFill/>
          <a:ln>
            <a:noFill/>
          </a:ln>
        </p:spPr>
      </p:pic>
      <p:sp>
        <p:nvSpPr>
          <p:cNvPr id="1013" name="Google Shape;1013;p99"/>
          <p:cNvSpPr txBox="1"/>
          <p:nvPr/>
        </p:nvSpPr>
        <p:spPr>
          <a:xfrm>
            <a:off x="484564" y="5065531"/>
            <a:ext cx="1065276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400" u="none" cap="none" strike="noStrike">
                <a:solidFill>
                  <a:srgbClr val="23282D"/>
                </a:solidFill>
                <a:latin typeface="Arial"/>
                <a:ea typeface="Arial"/>
                <a:cs typeface="Arial"/>
                <a:sym typeface="Arial"/>
              </a:rPr>
              <a:t>Question:</a:t>
            </a:r>
            <a:r>
              <a:rPr b="0" i="0" lang="en-US" sz="2400" u="none" cap="none" strike="noStrike">
                <a:solidFill>
                  <a:srgbClr val="23282D"/>
                </a:solidFill>
                <a:latin typeface="Arial"/>
                <a:ea typeface="Arial"/>
                <a:cs typeface="Arial"/>
                <a:sym typeface="Arial"/>
              </a:rPr>
              <a:t xml:space="preserve"> How do the sleep times of the different animals compare? Order the animals from those that sleep the most to the least. Which animals’ sleep times surprised you? Explain why.</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37 / 38</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Express the same value as fraction, decimal and percent.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15 / 38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38</a:t>
            </a: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4.2 — Relate Fractions, Decimals, and Percentages</dc:title>
  <dc:creator>Neft Teacher</dc:creator>
  <cp:lastModifiedBy>Neft Teacher</cp:lastModifiedBy>
  <dcterms:created xsi:type="dcterms:W3CDTF">2026-09-30T12:04:43Z</dcterms:created>
  <dcterms:modified xsi:type="dcterms:W3CDTF">2026-09-30T12:04:43Z</dcterms:modified>
</cp:coreProperties>
</file>