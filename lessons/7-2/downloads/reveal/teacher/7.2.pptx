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9" r:id="rId22"/>
    <p:sldId id="270" r:id="rId23"/>
    <p:sldId id="256" r:id="rId9"/>
    <p:sldId id="257" r:id="rId10"/>
    <p:sldId id="260" r:id="rId13"/>
    <p:sldId id="330" r:id="rId73"/>
    <p:sldId id="326" r:id="rId69"/>
    <p:sldId id="325" r:id="rId31"/>
    <p:sldId id="324" r:id="rId33"/>
    <p:sldId id="323" r:id="rId34"/>
    <p:sldId id="322" r:id="rId45"/>
    <p:sldId id="321" r:id="rId44"/>
    <p:sldId id="320" r:id="rId43"/>
    <p:sldId id="319" r:id="rId35"/>
    <p:sldId id="261" r:id="rId14"/>
    <p:sldId id="272" r:id="rId25"/>
    <p:sldId id="275" r:id="rId28"/>
    <p:sldId id="279" r:id="rId32"/>
    <p:sldId id="283" r:id="rId36"/>
    <p:sldId id="285" r:id="rId38"/>
    <p:sldId id="287" r:id="rId40"/>
    <p:sldId id="289" r:id="rId42"/>
    <p:sldId id="293" r:id="rId46"/>
    <p:sldId id="331" r:id="rId74"/>
    <p:sldId id="294" r:id="rId47"/>
    <p:sldId id="295" r:id="rId48"/>
    <p:sldId id="327" r:id="rId70"/>
    <p:sldId id="318" r:id="rId41"/>
    <p:sldId id="314" r:id="rId67"/>
    <p:sldId id="332" r:id="rId75"/>
    <p:sldId id="315" r:id="rId68"/>
    <p:sldId id="296" r:id="rId49"/>
    <p:sldId id="300" r:id="rId53"/>
    <p:sldId id="302" r:id="rId55"/>
    <p:sldId id="303" r:id="rId56"/>
    <p:sldId id="305" r:id="rId58"/>
    <p:sldId id="307" r:id="rId60"/>
    <p:sldId id="309" r:id="rId62"/>
    <p:sldId id="310" r:id="rId63"/>
    <p:sldId id="328" r:id="rId71"/>
    <p:sldId id="311" r:id="rId64"/>
    <p:sldId id="312" r:id="rId65"/>
    <p:sldId id="313" r:id="rId66"/>
    <p:sldId id="317" r:id="rId37"/>
    <p:sldId id="316" r:id="rId39"/>
    <p:sldId id="329" r:id="rId72"/>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5" Type="http://schemas.openxmlformats.org/officeDocument/2006/relationships/slide" Target="slides/slide16.xml"/><Relationship Id="rId28" Type="http://schemas.openxmlformats.org/officeDocument/2006/relationships/slide" Target="slides/slide17.xml"/><Relationship Id="rId31" Type="http://schemas.openxmlformats.org/officeDocument/2006/relationships/slide" Target="slides/slide8.xml"/><Relationship Id="rId32" Type="http://schemas.openxmlformats.org/officeDocument/2006/relationships/slide" Target="slides/slide1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4.xml"/><Relationship Id="rId36" Type="http://schemas.openxmlformats.org/officeDocument/2006/relationships/slide" Target="slides/slide19.xml"/><Relationship Id="rId37" Type="http://schemas.openxmlformats.org/officeDocument/2006/relationships/slide" Target="slides/slide42.xml"/><Relationship Id="rId38" Type="http://schemas.openxmlformats.org/officeDocument/2006/relationships/slide" Target="slides/slide20.xml"/><Relationship Id="rId39" Type="http://schemas.openxmlformats.org/officeDocument/2006/relationships/slide" Target="slides/slide43.xml"/><Relationship Id="rId40" Type="http://schemas.openxmlformats.org/officeDocument/2006/relationships/slide" Target="slides/slide21.xml"/><Relationship Id="rId41" Type="http://schemas.openxmlformats.org/officeDocument/2006/relationships/slide" Target="slides/slide27.xml"/><Relationship Id="rId42" Type="http://schemas.openxmlformats.org/officeDocument/2006/relationships/slide" Target="slides/slide22.xml"/><Relationship Id="rId43" Type="http://schemas.openxmlformats.org/officeDocument/2006/relationships/slide" Target="slides/slide13.xml"/><Relationship Id="rId44" Type="http://schemas.openxmlformats.org/officeDocument/2006/relationships/slide" Target="slides/slide12.xml"/><Relationship Id="rId45" Type="http://schemas.openxmlformats.org/officeDocument/2006/relationships/slide" Target="slides/slide11.xml"/><Relationship Id="rId46" Type="http://schemas.openxmlformats.org/officeDocument/2006/relationships/slide" Target="slides/slide23.xml"/><Relationship Id="rId47" Type="http://schemas.openxmlformats.org/officeDocument/2006/relationships/slide" Target="slides/slide24.xml"/><Relationship Id="rId48" Type="http://schemas.openxmlformats.org/officeDocument/2006/relationships/slide" Target="slides/slide25.xml"/><Relationship Id="rId49" Type="http://schemas.openxmlformats.org/officeDocument/2006/relationships/slide" Target="slides/slide30.xml"/><Relationship Id="rId53" Type="http://schemas.openxmlformats.org/officeDocument/2006/relationships/slide" Target="slides/slide31.xml"/><Relationship Id="rId55" Type="http://schemas.openxmlformats.org/officeDocument/2006/relationships/slide" Target="slides/slide32.xml"/><Relationship Id="rId56" Type="http://schemas.openxmlformats.org/officeDocument/2006/relationships/slide" Target="slides/slide33.xml"/><Relationship Id="rId58" Type="http://schemas.openxmlformats.org/officeDocument/2006/relationships/slide" Target="slides/slide34.xml"/><Relationship Id="rId60" Type="http://schemas.openxmlformats.org/officeDocument/2006/relationships/slide" Target="slides/slide35.xml"/><Relationship Id="rId62" Type="http://schemas.openxmlformats.org/officeDocument/2006/relationships/slide" Target="slides/slide36.xml"/><Relationship Id="rId63" Type="http://schemas.openxmlformats.org/officeDocument/2006/relationships/slide" Target="slides/slide37.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28.xml"/><Relationship Id="rId68" Type="http://schemas.openxmlformats.org/officeDocument/2006/relationships/slide" Target="slides/slide29.xml"/><Relationship Id="rId69" Type="http://schemas.openxmlformats.org/officeDocument/2006/relationships/slide" Target="slides/slide7.xml"/><Relationship Id="rId70" Type="http://schemas.openxmlformats.org/officeDocument/2006/relationships/slide" Target="slides/slide26.xml"/><Relationship Id="rId71" Type="http://schemas.openxmlformats.org/officeDocument/2006/relationships/slide" Target="slides/slide38.xml"/><Relationship Id="rId72" Type="http://schemas.openxmlformats.org/officeDocument/2006/relationships/slide" Target="slides/slide44.xml"/><Relationship Id="rId73"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4 | DIVIDER</a:t>
            </a:r>
          </a:p>
          <a:p xmlns:a="http://schemas.openxmlformats.org/drawingml/2006/main">
            <a:pPr>
              <a:buNone/>
            </a:pPr>
            <a:r>
              <a:rPr lang="en-US" sz="1100"/>
              <a:t>Focus on the existing task: Represent Rational Numbers and Their Opposites on the Number Line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5 | WORKED</a:t>
            </a:r>
          </a:p>
          <a:p xmlns:a="http://schemas.openxmlformats.org/drawingml/2006/main">
            <a:pPr>
              <a:buNone/>
            </a:pPr>
            <a:r>
              <a:rPr lang="en-US" sz="1100"/>
              <a:t>Focus on the existing task: About, Between, or Exact It is about ___. It is between ___ and ____. It is exactly ___.</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1 | WARMUP</a:t>
            </a:r>
          </a:p>
          <a:p xmlns:a="http://schemas.openxmlformats.org/drawingml/2006/main">
            <a:pPr>
              <a:buNone/>
            </a:pPr>
            <a:r>
              <a:rPr lang="en-US" sz="1100"/>
              <a:t>Focus on the existing task: Warm-Up WARM-UP · THINK…</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3   2) 2 and 3   3) 5.5   4) 1/4</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use equal intervals to locate rational numbers and opposites; respect the negative side. Review recent work and today’s warm-up to choose flexible groups and access supports; do not infer needs from identity or perceived ability. Use the existing lesson tasks and stated standards.</a:t>
            </a:r>
          </a:p>
          <a:p>
            <a:pPr>
              <a:buNone/>
            </a:pPr>
            <a:r>
              <a:rPr lang="en-US" sz="1100"/>
              <a:t>Anticipate: counting negative fractional intervals in the wrong direction. If observed, mark zero and the unit interval before subdividing the original number line.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6 | GOAL</a:t>
            </a:r>
          </a:p>
          <a:p xmlns:a="http://schemas.openxmlformats.org/drawingml/2006/main">
            <a:pPr>
              <a:buNone/>
            </a:pPr>
            <a:r>
              <a:rPr lang="en-US" sz="1100"/>
              <a:t>Focus on the existing task: Today’s Objectives…</a:t>
            </a:r>
          </a:p>
          <a:p xmlns:a="http://schemas.openxmlformats.org/drawingml/2006/main">
            <a:pPr>
              <a:buNone/>
            </a:pPr>
            <a:r>
              <a:rPr lang="en-US" sz="1100"/>
              <a:t>CONNECT (T1/4): Ask students to restate the displayed goal or key idea and connect it to earlier work. Relevant lesson evidence: use equal intervals to locate rational numbers and opposites; respect the negative side.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equal intervals to locate rational numbers and opposites; respect the negative side.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15 | VOCAB</a:t>
            </a:r>
          </a:p>
          <a:p xmlns:a="http://schemas.openxmlformats.org/drawingml/2006/main">
            <a:pPr>
              <a:buNone/>
            </a:pPr>
            <a:r>
              <a:rPr lang="en-US" sz="1100"/>
              <a:t>Focus on the existing task: Vocabulary Today’s Math…</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2 | NOTES</a:t>
            </a:r>
          </a:p>
          <a:p xmlns:a="http://schemas.openxmlformats.org/drawingml/2006/main">
            <a:pPr>
              <a:buNone/>
            </a:pPr>
            <a:r>
              <a:rPr lang="en-US" sz="1100"/>
              <a:t>Focus on the existing task: Today’s Math Notes…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7" name="Google Shape;517;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3 | NOTES</a:t>
            </a:r>
          </a:p>
          <a:p xmlns:a="http://schemas.openxmlformats.org/drawingml/2006/main">
            <a:pPr>
              <a:buNone/>
            </a:pPr>
            <a:r>
              <a:rPr lang="en-US" sz="1100"/>
              <a:t>Focus on the existing task: Today’s Math Notes…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5" name="Google Shape;545;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16 | CURIOUS</a:t>
            </a:r>
          </a:p>
          <a:p xmlns:a="http://schemas.openxmlformats.org/drawingml/2006/main">
            <a:pPr>
              <a:buNone/>
            </a:pPr>
            <a:r>
              <a:rPr lang="en-US" sz="1100"/>
              <a:t>Focus on the existing task: Be Curious Mindset What helps you think logically when working on a math or non-math problem?</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79" name="Google Shape;579;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17 | REVEAL</a:t>
            </a:r>
          </a:p>
          <a:p xmlns:a="http://schemas.openxmlformats.org/drawingml/2006/main">
            <a:pPr>
              <a:buNone/>
            </a:pPr>
            <a:r>
              <a:rPr lang="en-US" sz="1100"/>
              <a:t>Focus on the existing task: Arihi planted a flower. The height and depth of the plant are shown. How do the height of the plant and the depth of the roots compare?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tool is a number line.</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the scale determine this location, and where is its opposite?” Wait for evidence, invite another pathway, and have a student ask a follow-up question. Do not replace students’ reasoning with a sequence of leading steps.</a:t>
            </a:r>
          </a:p>
        </p:txBody>
      </p:sp>
      <p:sp>
        <p:nvSpPr>
          <p:cNvPr id="609" name="Google Shape;609;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18 | REVEAL</a:t>
            </a:r>
          </a:p>
          <a:p xmlns:a="http://schemas.openxmlformats.org/drawingml/2006/main">
            <a:pPr>
              <a:buNone/>
            </a:pPr>
            <a:r>
              <a:rPr lang="en-US" sz="1100"/>
              <a:t>Focus on the existing task: Let’s use a vertical number line to represent the height of the plant and the depth of the roots. What do you notice about the location of positive and negative numbers on a vertical number line?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Positive numbers are above 0 and negative numbers are below 0.</a:t>
            </a:r>
          </a:p>
          <a:p>
            <a:pPr indent="0" lvl="0" marL="0" rtl="0" algn="l">
              <a:lnSpc>
                <a:spcPct val="100000"/>
              </a:lnSpc>
              <a:spcBef>
                <a:spcPts val="0"/>
              </a:spcBef>
              <a:spcAft>
                <a:spcPts val="0"/>
              </a:spcAft>
              <a:buSzPts val="1400"/>
              <a:buNone/>
            </a:pPr>
            <a:r>
              <a:t>UIFR: TEACH 3 · TEACH 4.</a:t>
            </a:r>
          </a:p>
        </p:txBody>
      </p:sp>
      <p:sp>
        <p:nvSpPr>
          <p:cNvPr id="649" name="Google Shape;649;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19 | TASK</a:t>
            </a:r>
          </a:p>
          <a:p xmlns:a="http://schemas.openxmlformats.org/drawingml/2006/main">
            <a:pPr>
              <a:buNone/>
            </a:pPr>
            <a:r>
              <a:rPr lang="en-US" sz="1100"/>
              <a:t>Focus on the existing task: On a vertical number line, positive numbers are above 0 and negative numbers are below 0. What number represents ground level?</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93" name="Google Shape;693;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20 | TASK</a:t>
            </a:r>
          </a:p>
          <a:p xmlns:a="http://schemas.openxmlformats.org/drawingml/2006/main">
            <a:pPr>
              <a:buNone/>
            </a:pPr>
            <a:r>
              <a:rPr lang="en-US" sz="1100"/>
              <a:t>Focus on the existing task: Ground level is represented by 0 because it is the starting point from where the flower and roots grow. How can you represent the height of the plant?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17" name="Google Shape;717;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21 | COLLABORATE</a:t>
            </a:r>
          </a:p>
          <a:p xmlns:a="http://schemas.openxmlformats.org/drawingml/2006/main">
            <a:pPr>
              <a:buNone/>
            </a:pPr>
            <a:r>
              <a:rPr lang="en-US" sz="1100"/>
              <a:t>Focus on the existing task: Collaborate and Connect How can you represent the depth of the roots?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counting negative fractional intervals in the wrong direction. If it appears, mark zero and the unit interval before subdividing the original number line; then ask the student to revise the same response and explain the change. If evidence is secure, have students compare a second valid pathway or state why their approach works. Choose the next step from the responses, not a preset pace.</a:t>
            </a:r>
          </a:p>
        </p:txBody>
      </p:sp>
      <p:sp>
        <p:nvSpPr>
          <p:cNvPr id="741" name="Google Shape;741;p32: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22 | TASK</a:t>
            </a:r>
          </a:p>
          <a:p xmlns:a="http://schemas.openxmlformats.org/drawingml/2006/main">
            <a:pPr>
              <a:buNone/>
            </a:pPr>
            <a:r>
              <a:rPr lang="en-US" sz="1100"/>
              <a:t>Focus on the existing task: A rational number is any number that can be written as a fraction, where the numerator and denominator are integers, and the denominator…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62" name="Google Shape;762;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23 | REVEAL</a:t>
            </a:r>
          </a:p>
          <a:p xmlns:a="http://schemas.openxmlformats.org/drawingml/2006/main">
            <a:pPr>
              <a:buNone/>
            </a:pPr>
            <a:r>
              <a:rPr lang="en-US" sz="1100"/>
              <a:t>Focus on the existing task: Reveal: The point representing the depth of the roots is the same distance away from zero as the point representing the height of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point representing the depth of the roots is the same distance away from zero as the point representing the height of the plant, so the numbers are opposites.</a:t>
            </a:r>
          </a:p>
          <a:p>
            <a:pPr indent="0" lvl="0" marL="0" rtl="0" algn="l">
              <a:lnSpc>
                <a:spcPct val="100000"/>
              </a:lnSpc>
              <a:spcBef>
                <a:spcPts val="0"/>
              </a:spcBef>
              <a:spcAft>
                <a:spcPts val="0"/>
              </a:spcAft>
              <a:buSzPts val="1400"/>
              <a:buNone/>
            </a:pPr>
            <a:r>
              <a:t>UIFR: TEACH 3 · TEACH 4.</a:t>
            </a:r>
          </a:p>
        </p:txBody>
      </p:sp>
      <p:sp>
        <p:nvSpPr>
          <p:cNvPr id="806" name="Google Shape;806;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24 | TASK</a:t>
            </a:r>
          </a:p>
          <a:p xmlns:a="http://schemas.openxmlformats.org/drawingml/2006/main">
            <a:pPr>
              <a:buNone/>
            </a:pPr>
            <a:r>
              <a:rPr lang="en-US" sz="1100"/>
              <a:t>Focus on the existing task: Arihi planted a flower. The height and depth of the plant are shown. How do the height of the plant and the depth of the roots compare?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18" name="Google Shape;818;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25 | PRACTICE</a:t>
            </a:r>
          </a:p>
          <a:p xmlns:a="http://schemas.openxmlformats.org/drawingml/2006/main">
            <a:pPr>
              <a:buNone/>
            </a:pPr>
            <a:r>
              <a:rPr lang="en-US" sz="1100"/>
              <a:t>Focus on the existing task: Let’s Explore More Give another example of when using a vertical number line is useful. Explain your reasoning. Why is −2.5 the opposite of 2.5?</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29" name="Google Shape;829;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30 | DIVIDER</a:t>
            </a:r>
          </a:p>
          <a:p xmlns:a="http://schemas.openxmlformats.org/drawingml/2006/main">
            <a:pPr>
              <a:buNone/>
            </a:pPr>
            <a:r>
              <a:rPr lang="en-US" sz="1100"/>
              <a:t>Focus on the existing task: Represent Rational Numbers and Their Opposites on the Number Line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40" name="Google Shape;840;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31 | TASK</a:t>
            </a:r>
          </a:p>
          <a:p xmlns:a="http://schemas.openxmlformats.org/drawingml/2006/main">
            <a:pPr>
              <a:buNone/>
            </a:pPr>
            <a:r>
              <a:rPr lang="en-US" sz="1100"/>
              <a:t>Focus on the existing task: Opposite Numbers What number is the opposite of the opposite of −4.34?</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the scale determine this location, and where is its opposite?” Wait for evidence, invite another pathway, and have a student ask a follow-up question. Do not replace students’ reasoning with a sequence of leading steps.</a:t>
            </a:r>
          </a:p>
        </p:txBody>
      </p:sp>
      <p:sp>
        <p:nvSpPr>
          <p:cNvPr id="878" name="Google Shape;878;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32 | REVEAL</a:t>
            </a:r>
          </a:p>
          <a:p xmlns:a="http://schemas.openxmlformats.org/drawingml/2006/main">
            <a:pPr>
              <a:buNone/>
            </a:pPr>
            <a:r>
              <a:rPr lang="en-US" sz="1100"/>
              <a:t>Focus on the existing task: Reveal: We can identify a number on the opposite side of the number line that is the same distance from 0. We can use a number line to…</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identify a number on the opposite side of the number line that is the same distance from 0.</a:t>
            </a:r>
          </a:p>
          <a:p>
            <a:pPr indent="0" lvl="0" marL="0" rtl="0" algn="l">
              <a:lnSpc>
                <a:spcPct val="100000"/>
              </a:lnSpc>
              <a:spcBef>
                <a:spcPts val="0"/>
              </a:spcBef>
              <a:spcAft>
                <a:spcPts val="0"/>
              </a:spcAft>
              <a:buSzPts val="1400"/>
              <a:buNone/>
            </a:pPr>
            <a:r>
              <a:t>UIFR: TEACH 3 · TEACH 4.</a:t>
            </a:r>
          </a:p>
        </p:txBody>
      </p:sp>
      <p:sp>
        <p:nvSpPr>
          <p:cNvPr id="897" name="Google Shape;897;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33 | TASK</a:t>
            </a:r>
          </a:p>
          <a:p xmlns:a="http://schemas.openxmlformats.org/drawingml/2006/main">
            <a:pPr>
              <a:buNone/>
            </a:pPr>
            <a:r>
              <a:rPr lang="en-US" sz="1100"/>
              <a:t>Focus on the existing task: Let’s use a number line to solve the problem. Opposite Numbers Determine the distance from 0 to −4.34.</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08" name="Google Shape;908;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34 | WORKED</a:t>
            </a:r>
          </a:p>
          <a:p xmlns:a="http://schemas.openxmlformats.org/drawingml/2006/main">
            <a:pPr>
              <a:buNone/>
            </a:pPr>
            <a:r>
              <a:rPr lang="en-US" sz="1100"/>
              <a:t>Focus on the existing task: Let’s use a number line to solve the problem. Opposite Numbers To find the opposite of the opposite of −4.34, we can determine the…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27" name="Google Shape;927;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35 | TASK</a:t>
            </a:r>
          </a:p>
          <a:p xmlns:a="http://schemas.openxmlformats.org/drawingml/2006/main">
            <a:pPr>
              <a:buNone/>
            </a:pPr>
            <a:r>
              <a:rPr lang="en-US" sz="1100"/>
              <a:t>Focus on the existing task: Clarifying What questions can you ask to clarify your own thinking?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47" name="Google Shape;947;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0" name="Google Shape;970;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36 | COLLABORATE</a:t>
            </a:r>
          </a:p>
          <a:p xmlns:a="http://schemas.openxmlformats.org/drawingml/2006/main">
            <a:pPr>
              <a:buNone/>
            </a:pPr>
            <a:r>
              <a:rPr lang="en-US" sz="1100"/>
              <a:t>Focus on the existing task: Collaborate and Connect Let’s try a similar problem. What number is the opposite of the opposite of 2.85?</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counting negative fractional intervals in the wrong direction. If it appears, mark zero and the unit interval before subdividing the original number line; then ask the student to revise the same response and explain the change. If evidence is secure, have students compare a second valid pathway or state why their approach works. Choose the next step from the responses, not a preset pace.</a:t>
            </a:r>
          </a:p>
        </p:txBody>
      </p:sp>
      <p:sp>
        <p:nvSpPr>
          <p:cNvPr id="971" name="Google Shape;971;p54: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37 | PRACTICE</a:t>
            </a:r>
          </a:p>
          <a:p xmlns:a="http://schemas.openxmlformats.org/drawingml/2006/main">
            <a:pPr>
              <a:buNone/>
            </a:pPr>
            <a:r>
              <a:rPr lang="en-US" sz="1100"/>
              <a:t>Focus on the existing task: Let’s Explore More What do you notice about the opposite of the opposite of −4.34?</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82" name="Google Shape;982;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39 | SUMMARIZE</a:t>
            </a:r>
          </a:p>
          <a:p xmlns:a="http://schemas.openxmlformats.org/drawingml/2006/main">
            <a:pPr>
              <a:buNone/>
            </a:pPr>
            <a:r>
              <a:rPr lang="en-US" sz="1100"/>
              <a:t>Focus on the existing task: Summarize: Represent Rational Numbers A rational number is any number that can be written as a fraction, where the numerator and…</a:t>
            </a:r>
          </a:p>
          <a:p xmlns:a="http://schemas.openxmlformats.org/drawingml/2006/main">
            <a:pPr>
              <a:buNone/>
            </a:pPr>
            <a:r>
              <a:rPr lang="en-US" sz="1100"/>
              <a:t>CONNECT (T1/4): Ask students to restate the displayed goal or key idea and connect it to earlier work. Relevant lesson evidence: use equal intervals to locate rational numbers and opposites; respect the negative side.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94" name="Google Shape;994;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40 | APPLY</a:t>
            </a:r>
          </a:p>
          <a:p xmlns:a="http://schemas.openxmlformats.org/drawingml/2006/main">
            <a:pPr>
              <a:buNone/>
            </a:pPr>
            <a:r>
              <a:rPr lang="en-US" sz="1100"/>
              <a:t>Focus on the existing task: Apply: Andrew’s Reasoning about Opposites Andrew made the following generalization about opposite numbers. Question: Do you agree with Andrew’s statement?</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use equal intervals to locate rational numbers and opposites; respect the negative side. Respond with one specific next step tied to the work. Students revise and annotate what changed, then identify a criterion they can now demonstrate and one they still need to practice.</a:t>
            </a:r>
          </a:p>
        </p:txBody>
      </p:sp>
      <p:sp>
        <p:nvSpPr>
          <p:cNvPr id="1002" name="Google Shape;1002;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7.2, slide 41 | REFLECTION</a:t>
            </a:r>
          </a:p>
          <a:p xmlns:a="http://schemas.openxmlformats.org/drawingml/2006/main">
            <a:pPr>
              <a:buNone/>
            </a:pPr>
            <a:r>
              <a:rPr lang="en-US" sz="1100"/>
              <a:t>Focus on the existing task: Learning Targets I can graph rational numbers and their opposites on vertical and horizontal number lines. I can look for and make use of…</a:t>
            </a:r>
          </a:p>
          <a:p xmlns:a="http://schemas.openxmlformats.org/drawingml/2006/main">
            <a:pPr>
              <a:buNone/>
            </a:pPr>
            <a:r>
              <a:rPr lang="en-US" sz="1100"/>
              <a:t>CONNECT (T1/4): Ask students to restate the displayed goal or key idea and connect it to earlier work. Relevant lesson evidence: use equal intervals to locate rational numbers and opposites; respect the negative side.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011" name="Google Shape;1011;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7.2, slide 28 | WARMUP</a:t>
            </a:r>
          </a:p>
          <a:p xmlns:a="http://schemas.openxmlformats.org/drawingml/2006/main">
            <a:pPr>
              <a:buNone/>
            </a:pPr>
            <a:r>
              <a:rPr lang="en-US" sz="1100"/>
              <a:t>Focus on the existing task: A −1.5 B −0.5 C 0.5 D 1.0 3 What is the opposite of 2.75?</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equal intervals to locate rational numbers and opposites; respect the negative side. Ask: “Which part of your work would show this?” Revisit that evidence after the task; a confidence rating alone is not evidence of understanding.</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7.2, slide 29 | NOTES</a:t>
            </a:r>
          </a:p>
          <a:p xmlns:a="http://schemas.openxmlformats.org/drawingml/2006/main">
            <a:pPr>
              <a:buNone/>
            </a:pPr>
            <a:r>
              <a:rPr lang="en-US" sz="1100"/>
              <a:t>Focus on the existing task: Today’s Math Notes Review…</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43 | REFLECTION</a:t>
            </a:r>
          </a:p>
          <a:p xmlns:a="http://schemas.openxmlformats.org/drawingml/2006/main">
            <a:pPr>
              <a:buNone/>
            </a:pPr>
            <a:r>
              <a:rPr lang="en-US" sz="1100"/>
              <a:t>Focus on the existing task: Learning Targets I can graph rational numbers and their opposites on vertical and horizontal number lines. I can look for and make use of…</a:t>
            </a:r>
          </a:p>
          <a:p xmlns:a="http://schemas.openxmlformats.org/drawingml/2006/main">
            <a:pPr>
              <a:buNone/>
            </a:pPr>
            <a:r>
              <a:rPr lang="en-US" sz="1100"/>
              <a:t>CONNECT (T1/4): Ask students to restate the displayed goal or key idea and connect it to earlier work. Relevant lesson evidence: use equal intervals to locate rational numbers and opposites; respect the negative side.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counting negative fractional intervals in the wrong direction.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mark zero and the unit interval before subdividing the original number line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7 | PRIOR_INSERT</a:t>
            </a:r>
          </a:p>
          <a:p xmlns:a="http://schemas.openxmlformats.org/drawingml/2006/main">
            <a:pPr>
              <a:buNone/>
            </a:pPr>
            <a:r>
              <a:rPr lang="en-US" sz="1100"/>
              <a:t>Focus on the existing task: LESSON 7.2 / OUR LEARNING What will show your learning?</a:t>
            </a:r>
          </a:p>
          <a:p xmlns:a="http://schemas.openxmlformats.org/drawingml/2006/main">
            <a:pPr>
              <a:buNone/>
            </a:pPr>
            <a:r>
              <a:rPr lang="en-US" sz="1100"/>
              <a:t>CONNECT (T1/4): Ask students to restate the displayed goal or key idea and connect it to earlier work. Relevant lesson evidence: use equal intervals to locate rational numbers and opposites; respect the negative side.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8 | VOCAB</a:t>
            </a:r>
          </a:p>
          <a:p xmlns:a="http://schemas.openxmlformats.org/drawingml/2006/main">
            <a:pPr>
              <a:buNone/>
            </a:pPr>
            <a:r>
              <a:rPr lang="en-US" sz="1100"/>
              <a:t>Focus on the existing task: Vocabulary 1 of 7…</a:t>
            </a:r>
          </a:p>
          <a:p xmlns:a="http://schemas.openxmlformats.org/drawingml/2006/main">
            <a:pPr>
              <a:buNone/>
            </a:pPr>
            <a:r>
              <a:rPr lang="en-US" sz="1100"/>
              <a:t>ASK (T1/3/5): Where does “Rational Numbers on the Number Line”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9 | VOCAB</a:t>
            </a:r>
          </a:p>
          <a:p xmlns:a="http://schemas.openxmlformats.org/drawingml/2006/main">
            <a:pPr>
              <a:buNone/>
            </a:pPr>
            <a:r>
              <a:rPr lang="en-US" sz="1100"/>
              <a:t>Focus on the existing task: Vocabulary 2 of 7…</a:t>
            </a:r>
          </a:p>
          <a:p xmlns:a="http://schemas.openxmlformats.org/drawingml/2006/main">
            <a:pPr>
              <a:buNone/>
            </a:pPr>
            <a:r>
              <a:rPr lang="en-US" sz="1100"/>
              <a:t>ASK (T1/3/5): Where does “Rational number”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10 | VOCAB</a:t>
            </a:r>
          </a:p>
          <a:p xmlns:a="http://schemas.openxmlformats.org/drawingml/2006/main">
            <a:pPr>
              <a:buNone/>
            </a:pPr>
            <a:r>
              <a:rPr lang="en-US" sz="1100"/>
              <a:t>Focus on the existing task: Vocabulary 3 of 7…</a:t>
            </a:r>
          </a:p>
          <a:p xmlns:a="http://schemas.openxmlformats.org/drawingml/2006/main">
            <a:pPr>
              <a:buNone/>
            </a:pPr>
            <a:r>
              <a:rPr lang="en-US" sz="1100"/>
              <a:t>ASK (T1/3/5): Where does “Fraction”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11 | VOCAB</a:t>
            </a:r>
          </a:p>
          <a:p xmlns:a="http://schemas.openxmlformats.org/drawingml/2006/main">
            <a:pPr>
              <a:buNone/>
            </a:pPr>
            <a:r>
              <a:rPr lang="en-US" sz="1100"/>
              <a:t>Focus on the existing task: Vocabulary 4 of 7…</a:t>
            </a:r>
          </a:p>
          <a:p xmlns:a="http://schemas.openxmlformats.org/drawingml/2006/main">
            <a:pPr>
              <a:buNone/>
            </a:pPr>
            <a:r>
              <a:rPr lang="en-US" sz="1100"/>
              <a:t>ASK (T1/3/5): Where does “Decimal”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12 | VOCAB</a:t>
            </a:r>
          </a:p>
          <a:p xmlns:a="http://schemas.openxmlformats.org/drawingml/2006/main">
            <a:pPr>
              <a:buNone/>
            </a:pPr>
            <a:r>
              <a:rPr lang="en-US" sz="1100"/>
              <a:t>Focus on the existing task: Vocabulary 5 of 7 Number…</a:t>
            </a:r>
          </a:p>
          <a:p xmlns:a="http://schemas.openxmlformats.org/drawingml/2006/main">
            <a:pPr>
              <a:buNone/>
            </a:pPr>
            <a:r>
              <a:rPr lang="en-US" sz="1100"/>
              <a:t>ASK (T1/3/5): Where does “Number line”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13 | VOCAB</a:t>
            </a:r>
          </a:p>
          <a:p xmlns:a="http://schemas.openxmlformats.org/drawingml/2006/main">
            <a:pPr>
              <a:buNone/>
            </a:pPr>
            <a:r>
              <a:rPr lang="en-US" sz="1100"/>
              <a:t>Focus on the existing task: Vocabulary 6 of 7…</a:t>
            </a:r>
          </a:p>
          <a:p xmlns:a="http://schemas.openxmlformats.org/drawingml/2006/main">
            <a:pPr>
              <a:buNone/>
            </a:pPr>
            <a:r>
              <a:rPr lang="en-US" sz="1100"/>
              <a:t>ASK (T1/3/5): Where does “Equivalent”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14 | VOCAB</a:t>
            </a:r>
          </a:p>
          <a:p xmlns:a="http://schemas.openxmlformats.org/drawingml/2006/main">
            <a:pPr>
              <a:buNone/>
            </a:pPr>
            <a:r>
              <a:rPr lang="en-US" sz="1100"/>
              <a:t>Focus on the existing task: Vocabulary 7 of 7…</a:t>
            </a:r>
          </a:p>
          <a:p xmlns:a="http://schemas.openxmlformats.org/drawingml/2006/main">
            <a:pPr>
              <a:buNone/>
            </a:pPr>
            <a:r>
              <a:rPr lang="en-US" sz="1100"/>
              <a:t>ASK (T1/3/5): Where does “Integer”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26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use equal intervals to locate rational numbers and opposites; respect the negative side.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27 | REVEAL</a:t>
            </a:r>
          </a:p>
          <a:p xmlns:a="http://schemas.openxmlformats.org/drawingml/2006/main">
            <a:pPr>
              <a:buNone/>
            </a:pPr>
            <a:r>
              <a:rPr lang="en-US" sz="1100"/>
              <a:t>Focus on the existing task: What do you notice about the height of the plant and the depth of the roots as represented on the number line?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38 | PRIOR_INSERT</a:t>
            </a:r>
          </a:p>
          <a:p xmlns:a="http://schemas.openxmlformats.org/drawingml/2006/main">
            <a:pPr>
              <a:buNone/>
            </a:pPr>
            <a:r>
              <a:rPr lang="en-US" sz="1100"/>
              <a:t>Focus on the existing task: LESSON 7.2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use equal intervals to locate rational numbers and opposites; respect the negative side.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42 | CURIOUS</a:t>
            </a:r>
          </a:p>
          <a:p xmlns:a="http://schemas.openxmlformats.org/drawingml/2006/main">
            <a:pPr>
              <a:buNone/>
            </a:pPr>
            <a:r>
              <a:rPr lang="en-US" sz="1100"/>
              <a:t>Focus on the existing task: Be Curious Be Curious What could the question be?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equal intervals to locate rational numbers and opposites. Ask which feature of their work supports the claim.</a:t>
            </a:r>
          </a:p>
          <a:p xmlns:a="http://schemas.openxmlformats.org/drawingml/2006/main">
            <a:pPr>
              <a:buNone/>
            </a:pPr>
            <a:r>
              <a:rPr lang="en-US" sz="1100"/>
              <a:t>RESPOND: If this task shows the lesson misconception—counting negative fractional intervals in the wrong direction—mark zero and the unit interval before subdividing the original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7.2, slide 44 | PRIOR_INSERT</a:t>
            </a:r>
          </a:p>
          <a:p xmlns:a="http://schemas.openxmlformats.org/drawingml/2006/main">
            <a:pPr>
              <a:buNone/>
            </a:pPr>
            <a:r>
              <a:rPr lang="en-US" sz="1100"/>
              <a:t>Focus on the existing task: LESSON 7.2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use equal intervals to locate rational numbers and opposites; respect the negative side.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Rational Numbers and Their Opposites on the Number Line</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Rational Numbers and Their Opposites on the Number Line</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6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9.png"/><Relationship Id="rId6"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4.png"/><Relationship Id="rId4" Type="http://schemas.openxmlformats.org/officeDocument/2006/relationships/image" Target="../media/image21.png"/><Relationship Id="rId5"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19.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9.png"/><Relationship Id="rId3" Type="http://schemas.openxmlformats.org/officeDocument/2006/relationships/image" Target="../media/image22.png"/><Relationship Id="rId4" Type="http://schemas.openxmlformats.org/officeDocument/2006/relationships/notesSlide" Target="../notesSlides/notesSlide7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15.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jpg"/><Relationship Id="rId4" Type="http://schemas.openxmlformats.org/officeDocument/2006/relationships/notesSlide" Target="../notesSlides/notesSlide7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10881360" cy="274320"/>
          </a:xfrm>
          <a:prstGeom prst="rect">
            <a:avLst/>
          </a:prstGeom>
          <a:noFill/>
        </p:spPr>
        <p:txBody>
          <a:bodyPr wrap="square" lIns="0" tIns="0" rIns="0" bIns="0" anchor="t">
            <a:spAutoFit/>
          </a:bodyPr>
          <a:lstStyle/>
          <a:p>
            <a:pPr algn="l"/>
            <a:r>
              <a:rPr sz="1400" b="0">
                <a:solidFill>
                  <a:srgbClr val="5D6872"/>
                </a:solidFill>
                <a:latin typeface="Arial"/>
              </a:rPr>
              <a:t>Lesson 7-2 · Represent Rational Numbers and Their Opposites on the Number Line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Is 3.4 closer to 3 or to 4?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2.7 is between ______ and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Write 11/2 as a decimal: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A number line from 0 to 1 is split into 4 equal parts. Each part is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47</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2" name="Google Shape;522;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523" name="Google Shape;523;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5" name="Google Shape;525;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26" name="Google Shape;526;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8" name="Google Shape;528;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1" name="Google Shape;531;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Rational Numbers on the Number Line</a:t>
            </a:r>
            <a:endParaRPr/>
          </a:p>
        </p:txBody>
      </p:sp>
      <p:sp>
        <p:nvSpPr>
          <p:cNvPr id="532" name="Google Shape;532;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Every </a:t>
            </a:r>
            <a:r>
              <a:rPr b="1" i="0" lang="en-US" sz="1450" u="none" cap="none" strike="noStrike">
                <a:solidFill>
                  <a:srgbClr val="475569"/>
                </a:solidFill>
                <a:latin typeface="Arial"/>
                <a:ea typeface="Arial"/>
                <a:cs typeface="Arial"/>
                <a:sym typeface="Arial"/>
              </a:rPr>
              <a:t xml:space="preserve">rational number</a:t>
            </a:r>
            <a:r>
              <a:rPr b="0" i="0" lang="en-US" sz="1450" u="none" cap="none" strike="noStrike">
                <a:solidFill>
                  <a:srgbClr val="475569"/>
                </a:solidFill>
                <a:latin typeface="Arial"/>
                <a:ea typeface="Arial"/>
                <a:cs typeface="Arial"/>
                <a:sym typeface="Arial"/>
              </a:rPr>
              <a:t xml:space="preserve"> has one exact spot on the </a:t>
            </a:r>
            <a:r>
              <a:rPr b="1" i="0" lang="en-US" sz="1450" u="none" cap="none" strike="noStrike">
                <a:solidFill>
                  <a:srgbClr val="475569"/>
                </a:solidFill>
                <a:latin typeface="Arial"/>
                <a:ea typeface="Arial"/>
                <a:cs typeface="Arial"/>
                <a:sym typeface="Arial"/>
              </a:rPr>
              <a:t xml:space="preserve">number line</a:t>
            </a:r>
            <a:endParaRPr/>
          </a:p>
        </p:txBody>
      </p:sp>
      <p:sp>
        <p:nvSpPr>
          <p:cNvPr id="533" name="Google Shape;533;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6" name="Google Shape;536;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Rational number</a:t>
            </a:r>
            <a:endParaRPr/>
          </a:p>
        </p:txBody>
      </p:sp>
      <p:sp>
        <p:nvSpPr>
          <p:cNvPr id="537" name="Google Shape;537;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number</a:t>
            </a:r>
            <a:endParaRPr/>
          </a:p>
        </p:txBody>
      </p:sp>
      <p:sp>
        <p:nvSpPr>
          <p:cNvPr id="538" name="Google Shape;538;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9" name="Google Shape;539;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1" name="Google Shape;541;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Fraction</a:t>
            </a:r>
            <a:endParaRPr/>
          </a:p>
        </p:txBody>
      </p:sp>
      <p:sp>
        <p:nvSpPr>
          <p:cNvPr id="542" name="Google Shape;542;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number that shows part of a whole, like 3/4</a:t>
            </a:r>
            <a:endParaRPr/>
          </a:p>
        </p:txBody>
      </p:sp>
      <p:sp>
        <p:nvSpPr>
          <p:cNvPr id="5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47</a:t>
            </a:r>
          </a:p>
        </p:txBody>
      </p:sp>
      <p:grpSp>
        <p:nvGrpSpPr>
          <p:cNvPr id="544" name="TEACH-1-student-move" descr="TEACH 1 · Facilitate clear, standards-based content learning"/>
          <p:cNvGrpSpPr/>
          <p:nvPr/>
        </p:nvGrpSpPr>
        <p:grpSpPr>
          <a:xfrm>
            <a:off x="6187440" y="1682496"/>
            <a:ext cx="5501640" cy="594360"/>
            <a:chOff x="6187440" y="1682496"/>
            <a:chExt cx="5501640" cy="594360"/>
          </a:xfrm>
        </p:grpSpPr>
        <p:sp>
          <p:nvSpPr>
            <p:cNvPr id="545"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6"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7"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8" name="Google Shape;548;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50" name="Google Shape;550;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551" name="Google Shape;551;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2" name="Google Shape;552;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53" name="Google Shape;553;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54" name="Google Shape;554;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5" name="Google Shape;555;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56" name="Google Shape;556;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Rational Numbers on the Number Line</a:t>
            </a:r>
            <a:endParaRPr/>
          </a:p>
        </p:txBody>
      </p:sp>
      <p:sp>
        <p:nvSpPr>
          <p:cNvPr id="558" name="Google Shape;558;p54"/>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4"/>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60" name="Google Shape;560;p54"/>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Find the two consecutive </a:t>
            </a:r>
            <a:r>
              <a:rPr b="1" i="0" lang="en-US" sz="1600" u="none" cap="none" strike="noStrike">
                <a:solidFill>
                  <a:srgbClr val="14223A"/>
                </a:solidFill>
                <a:latin typeface="Arial"/>
                <a:ea typeface="Arial"/>
                <a:cs typeface="Arial"/>
                <a:sym typeface="Arial"/>
              </a:rPr>
              <a:t xml:space="preserve">integers</a:t>
            </a:r>
            <a:r>
              <a:rPr b="0" i="0" lang="en-US" sz="1600" u="none" cap="none" strike="noStrike">
                <a:solidFill>
                  <a:srgbClr val="14223A"/>
                </a:solidFill>
                <a:latin typeface="Arial"/>
                <a:ea typeface="Arial"/>
                <a:cs typeface="Arial"/>
                <a:sym typeface="Arial"/>
              </a:rPr>
              <a:t xml:space="preserve"> the </a:t>
            </a:r>
            <a:r>
              <a:rPr b="1" i="0" lang="en-US" sz="1600" u="none" cap="none" strike="noStrike">
                <a:solidFill>
                  <a:srgbClr val="14223A"/>
                </a:solidFill>
                <a:latin typeface="Arial"/>
                <a:ea typeface="Arial"/>
                <a:cs typeface="Arial"/>
                <a:sym typeface="Arial"/>
              </a:rPr>
              <a:t xml:space="preserve">rational number</a:t>
            </a:r>
            <a:r>
              <a:rPr b="0" i="0" lang="en-US" sz="1600" u="none" cap="none" strike="noStrike">
                <a:solidFill>
                  <a:srgbClr val="14223A"/>
                </a:solidFill>
                <a:latin typeface="Arial"/>
                <a:ea typeface="Arial"/>
                <a:cs typeface="Arial"/>
                <a:sym typeface="Arial"/>
              </a:rPr>
              <a:t xml:space="preserve"> falls between</a:t>
            </a:r>
            <a:endParaRPr/>
          </a:p>
        </p:txBody>
      </p:sp>
      <p:sp>
        <p:nvSpPr>
          <p:cNvPr id="561" name="Google Shape;561;p54"/>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2" name="Google Shape;562;p54"/>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63" name="Google Shape;563;p54"/>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Divide the segment between integers into equal parts matching the </a:t>
            </a:r>
            <a:r>
              <a:rPr b="1" i="0" lang="en-US" sz="1600" u="none" cap="none" strike="noStrike">
                <a:solidFill>
                  <a:srgbClr val="14223A"/>
                </a:solidFill>
                <a:latin typeface="Arial"/>
                <a:ea typeface="Arial"/>
                <a:cs typeface="Arial"/>
                <a:sym typeface="Arial"/>
              </a:rPr>
              <a:t xml:space="preserve">denominator</a:t>
            </a:r>
            <a:endParaRPr/>
          </a:p>
        </p:txBody>
      </p:sp>
      <p:sp>
        <p:nvSpPr>
          <p:cNvPr id="564" name="Google Shape;564;p54"/>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54"/>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66" name="Google Shape;566;p54"/>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Negative</a:t>
            </a:r>
            <a:r>
              <a:rPr b="0" i="0" lang="en-US" sz="1600" u="none" cap="none" strike="noStrike">
                <a:solidFill>
                  <a:srgbClr val="14223A"/>
                </a:solidFill>
                <a:latin typeface="Arial"/>
                <a:ea typeface="Arial"/>
                <a:cs typeface="Arial"/>
                <a:sym typeface="Arial"/>
              </a:rPr>
              <a:t xml:space="preserve"> numbers move to the left of zero; </a:t>
            </a:r>
            <a:r>
              <a:rPr b="1" i="0" lang="en-US" sz="1600" u="none" cap="none" strike="noStrike">
                <a:solidFill>
                  <a:srgbClr val="14223A"/>
                </a:solidFill>
                <a:latin typeface="Arial"/>
                <a:ea typeface="Arial"/>
                <a:cs typeface="Arial"/>
                <a:sym typeface="Arial"/>
              </a:rPr>
              <a:t xml:space="preserve">positive</a:t>
            </a:r>
            <a:r>
              <a:rPr b="0" i="0" lang="en-US" sz="1600" u="none" cap="none" strike="noStrike">
                <a:solidFill>
                  <a:srgbClr val="14223A"/>
                </a:solidFill>
                <a:latin typeface="Arial"/>
                <a:ea typeface="Arial"/>
                <a:cs typeface="Arial"/>
                <a:sym typeface="Arial"/>
              </a:rPr>
              <a:t xml:space="preserve"> numbers move to the right</a:t>
            </a:r>
            <a:endParaRPr/>
          </a:p>
        </p:txBody>
      </p:sp>
      <p:sp>
        <p:nvSpPr>
          <p:cNvPr id="5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47</a:t>
            </a:r>
          </a:p>
        </p:txBody>
      </p:sp>
      <p:grpSp>
        <p:nvGrpSpPr>
          <p:cNvPr id="568" name="TEACH-1-student-move" descr="TEACH 1 · Facilitate clear, standards-based content learning"/>
          <p:cNvGrpSpPr/>
          <p:nvPr/>
        </p:nvGrpSpPr>
        <p:grpSpPr>
          <a:xfrm>
            <a:off x="502920" y="5111496"/>
            <a:ext cx="11186160" cy="402336"/>
            <a:chOff x="502920" y="5111496"/>
            <a:chExt cx="11186160" cy="402336"/>
          </a:xfrm>
        </p:grpSpPr>
        <p:sp>
          <p:nvSpPr>
            <p:cNvPr id="569"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70"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71"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8935791"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Represent Rational Numbers and Their Opposites on the Number Line</a:t>
            </a:r>
            <a:endParaRPr b="1" i="0" sz="3600" u="none" cap="none" strike="noStrike">
              <a:solidFill>
                <a:schemeClr val="dk1"/>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47</a:t>
            </a:r>
          </a:p>
        </p:txBody>
      </p:sp>
      <p:grpSp>
        <p:nvGrpSpPr>
          <p:cNvPr id="237" name="TEACH-2-student-move" descr="TEACH 2 · Use strategies and tasks to engage students in rigorous work"/>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486000" y="316800"/>
            <a:ext cx="467110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About, Between, or Exact</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499310" y="936000"/>
            <a:ext cx="5082339" cy="18466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about 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between ___ and 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exactly ___.</a:t>
            </a:r>
            <a:endParaRPr b="0" i="0" sz="2800" u="none" cap="none" strike="noStrike">
              <a:solidFill>
                <a:schemeClr val="dk1"/>
              </a:solidFill>
              <a:latin typeface="Arial"/>
              <a:ea typeface="Arial"/>
              <a:cs typeface="Arial"/>
              <a:sym typeface="Arial"/>
            </a:endParaRPr>
          </a:p>
        </p:txBody>
      </p:sp>
      <p:sp>
        <p:nvSpPr>
          <p:cNvPr id="243" name="Google Shape;243;p41"/>
          <p:cNvSpPr/>
          <p:nvPr/>
        </p:nvSpPr>
        <p:spPr>
          <a:xfrm>
            <a:off x="486000" y="3401859"/>
            <a:ext cx="1647439"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4" name="Google Shape;244;p41"/>
          <p:cNvSpPr/>
          <p:nvPr/>
        </p:nvSpPr>
        <p:spPr>
          <a:xfrm>
            <a:off x="3339261" y="3401859"/>
            <a:ext cx="1647439"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5" name="Google Shape;245;p41"/>
          <p:cNvSpPr/>
          <p:nvPr/>
        </p:nvSpPr>
        <p:spPr>
          <a:xfrm>
            <a:off x="6346025" y="3401859"/>
            <a:ext cx="1703543"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47</a:t>
            </a:r>
          </a:p>
        </p:txBody>
      </p:sp>
      <p:sp xmlns:p="http://schemas.openxmlformats.org/presentationml/2006/main" xmlns:a="http://schemas.openxmlformats.org/drawingml/2006/main">
        <p:nvSpPr>
          <p:cNvPr id="24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1016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250" u="none" cap="none" strike="noStrike">
                <a:solidFill>
                  <a:srgbClr val="14223A"/>
                </a:solidFill>
                <a:latin typeface="Arial"/>
                <a:ea typeface="Arial"/>
                <a:cs typeface="Arial"/>
                <a:sym typeface="Arial"/>
              </a:rPr>
              <a:t>Represent Rational Numbers and Their Opposites on the Number Line</a:t>
            </a:r>
            <a:endParaRPr/>
          </a:p>
        </p:txBody>
      </p:sp>
      <p:sp>
        <p:nvSpPr>
          <p:cNvPr id="341" name="Google Shape;341;p44"/>
          <p:cNvSpPr txBox="1"/>
          <p:nvPr/>
        </p:nvSpPr>
        <p:spPr>
          <a:xfrm>
            <a:off x="640080" y="2021840"/>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6.NOS.6</a:t>
            </a:r>
            <a:endParaRPr/>
          </a:p>
        </p:txBody>
      </p:sp>
      <p:sp>
        <p:nvSpPr>
          <p:cNvPr id="342" name="Google Shape;342;p44"/>
          <p:cNvSpPr/>
          <p:nvPr/>
        </p:nvSpPr>
        <p:spPr>
          <a:xfrm>
            <a:off x="640080" y="2442464"/>
            <a:ext cx="5349240" cy="3610863"/>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42464"/>
            <a:ext cx="118872" cy="3610863"/>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place rational numbers, including fractions and decimals, on a number line.</a:t>
            </a:r>
            <a:endParaRPr/>
          </a:p>
        </p:txBody>
      </p:sp>
      <p:sp>
        <p:nvSpPr>
          <p:cNvPr id="347" name="Google Shape;347;p44"/>
          <p:cNvSpPr/>
          <p:nvPr/>
        </p:nvSpPr>
        <p:spPr>
          <a:xfrm>
            <a:off x="6382512" y="2442464"/>
            <a:ext cx="5349240" cy="3610863"/>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42464"/>
            <a:ext cx="118872" cy="3610863"/>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reasoning using the words rational number, fraction, decimal, and number line.</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7.2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equal intervals to locate rational numbers and opposites.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Respect the negative side.</a:t>
            </a:r>
          </a:p>
        </p:txBody>
      </p:sp>
      <p:sp>
        <p:nvSpPr>
          <p:cNvPr id="11" name="Rounded Rectangle 10"/>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3" name="TEACH-1-student-move" descr="TEACH 1 · Facilitate clear, standards-based content learning"/>
          <p:cNvGrpSpPr/>
          <p:nvPr/>
        </p:nvGrpSpPr>
        <p:grpSpPr>
          <a:xfrm>
            <a:off x="502920" y="5824728"/>
            <a:ext cx="11186160" cy="402336"/>
            <a:chOff x="502920" y="5824728"/>
            <a:chExt cx="11186160" cy="402336"/>
          </a:xfrm>
        </p:grpSpPr>
        <p:sp>
          <p:nvSpPr>
            <p:cNvPr id="14"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5"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6"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6" name="Google Shape;396;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7</a:t>
            </a:r>
            <a:endParaRPr/>
          </a:p>
        </p:txBody>
      </p:sp>
      <p:sp>
        <p:nvSpPr>
          <p:cNvPr id="399" name="Google Shape;399;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400" name="Google Shape;400;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2" name="Google Shape;402;p46"/>
          <p:cNvSpPr txBox="1"/>
          <p:nvPr/>
        </p:nvSpPr>
        <p:spPr>
          <a:xfrm>
            <a:off x="640080" y="1799843"/>
            <a:ext cx="10911809" cy="8260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700" u="none" cap="none" strike="noStrike">
                <a:solidFill>
                  <a:srgbClr val="14223A"/>
                </a:solidFill>
                <a:latin typeface="Arial"/>
                <a:ea typeface="Arial"/>
                <a:cs typeface="Arial"/>
                <a:sym typeface="Arial"/>
              </a:rPr>
              <a:t>Rational Numbers on the Number Line</a:t>
            </a:r>
            <a:endParaRPr/>
          </a:p>
        </p:txBody>
      </p:sp>
      <p:sp>
        <p:nvSpPr>
          <p:cNvPr id="403" name="Google Shape;403;p46"/>
          <p:cNvSpPr/>
          <p:nvPr/>
        </p:nvSpPr>
        <p:spPr>
          <a:xfrm>
            <a:off x="658368" y="2680716"/>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640080" y="30419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Every rational number has one exact spot on the number line. Writing it as a fraction, a decimal, or an integer does not change where it sits.</a:t>
            </a:r>
            <a:endParaRPr/>
          </a:p>
        </p:txBody>
      </p:sp>
      <p:sp>
        <p:nvSpPr>
          <p:cNvPr id="405" name="Google Shape;405;p46"/>
          <p:cNvSpPr/>
          <p:nvPr/>
        </p:nvSpPr>
        <p:spPr>
          <a:xfrm>
            <a:off x="640080" y="43266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6"/>
          <p:cNvSpPr/>
          <p:nvPr/>
        </p:nvSpPr>
        <p:spPr>
          <a:xfrm>
            <a:off x="640080" y="43266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6"/>
          <p:cNvSpPr txBox="1"/>
          <p:nvPr/>
        </p:nvSpPr>
        <p:spPr>
          <a:xfrm>
            <a:off x="932688" y="45003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8" name="Google Shape;408;p46"/>
          <p:cNvSpPr txBox="1"/>
          <p:nvPr/>
        </p:nvSpPr>
        <p:spPr>
          <a:xfrm>
            <a:off x="932688" y="48021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−3/2 = −1.5 and 1/2 = 0.5 each sit at one exact point.</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47</a:t>
            </a:r>
          </a:p>
        </p:txBody>
      </p:sp>
      <p:sp xmlns:p="http://schemas.openxmlformats.org/presentationml/2006/main" xmlns:a="http://schemas.openxmlformats.org/drawingml/2006/main">
        <p:nvSpPr>
          <p:cNvPr id="409"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“Rational Numbers on the Number Line” to explain the</a:t>
            </a:r>
            <a:endParaRPr lang="en-US" sz="2000"/>
          </a:p>
          <a:p>
            <a:pPr>
              <a:lnSpc>
                <a:spcPts val="2400"/>
              </a:lnSpc>
              <a:buNone/>
            </a:pPr>
            <a:r>
              <a:rPr lang="en-US" sz="2000">
                <a:solidFill>
                  <a:srgbClr val="174D60"/>
                </a:solidFill>
                <a:latin typeface="Arial"/>
              </a:rPr>
              <a:t>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3" name="Google Shape;413;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2 of 7</a:t>
            </a:r>
            <a:endParaRPr/>
          </a:p>
        </p:txBody>
      </p:sp>
      <p:sp>
        <p:nvSpPr>
          <p:cNvPr id="416" name="Google Shape;416;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417" name="Google Shape;417;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19" name="Google Shape;419;p47"/>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Rational number</a:t>
            </a:r>
            <a:endParaRPr/>
          </a:p>
        </p:txBody>
      </p:sp>
      <p:sp>
        <p:nvSpPr>
          <p:cNvPr id="420" name="Google Shape;420;p47"/>
          <p:cNvSpPr/>
          <p:nvPr/>
        </p:nvSpPr>
        <p:spPr>
          <a:xfrm>
            <a:off x="658368" y="2718816"/>
            <a:ext cx="1783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A number that can be written as a fraction of two integers, with a bottom number that is not zero.</a:t>
            </a:r>
            <a:endParaRPr/>
          </a:p>
        </p:txBody>
      </p:sp>
      <p:sp>
        <p:nvSpPr>
          <p:cNvPr id="422" name="Google Shape;422;p47"/>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25" name="Google Shape;425;p47"/>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−1/2, 0 and 5/4 each sit at one exact point.</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47</a:t>
            </a:r>
          </a:p>
        </p:txBody>
      </p:sp>
      <p:grpSp>
        <p:nvGrpSpPr>
          <p:cNvPr id="426" name="TEACH-5-student-move" descr="TEACH 5 · Facilitate student interactions and academic talk"/>
          <p:cNvGrpSpPr/>
          <p:nvPr/>
        </p:nvGrpSpPr>
        <p:grpSpPr>
          <a:xfrm>
            <a:off x="502920" y="5751576"/>
            <a:ext cx="11186160" cy="548640"/>
            <a:chOff x="502920" y="5751576"/>
            <a:chExt cx="11186160" cy="548640"/>
          </a:xfrm>
        </p:grpSpPr>
        <p:sp>
          <p:nvSpPr>
            <p:cNvPr id="427"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28"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29"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0" name="Google Shape;430;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3" name="Google Shape;433;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434" name="Google Shape;434;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6" name="Google Shape;436;p48"/>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Fraction</a:t>
            </a:r>
            <a:endParaRPr/>
          </a:p>
        </p:txBody>
      </p:sp>
      <p:sp>
        <p:nvSpPr>
          <p:cNvPr id="437" name="Google Shape;437;p48"/>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that shows part of a whole, like 3/4.</a:t>
            </a:r>
            <a:endParaRPr/>
          </a:p>
        </p:txBody>
      </p:sp>
      <p:sp>
        <p:nvSpPr>
          <p:cNvPr id="439" name="Google Shape;439;p48"/>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8"/>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2" name="Google Shape;442;p48"/>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3/4 means 3 out of 4 equal parts — like 3 slices of a pizza cut into 4</a:t>
            </a:r>
            <a:endParaRPr/>
          </a:p>
        </p:txBody>
      </p:sp>
      <p:pic>
        <p:nvPicPr>
          <p:cNvPr descr="fraction.png" id="443" name="Google Shape;443;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47</a:t>
            </a:r>
          </a:p>
        </p:txBody>
      </p:sp>
      <p:sp xmlns:p="http://schemas.openxmlformats.org/presentationml/2006/main" xmlns:a="http://schemas.openxmlformats.org/drawingml/2006/main">
        <p:nvSpPr>
          <p:cNvPr id="44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“Fraction”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8" name="Google Shape;448;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51" name="Google Shape;451;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452" name="Google Shape;452;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4" name="Google Shape;454;p49"/>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Decimal</a:t>
            </a:r>
            <a:endParaRPr/>
          </a:p>
        </p:txBody>
      </p:sp>
      <p:sp>
        <p:nvSpPr>
          <p:cNvPr id="455" name="Google Shape;455;p49"/>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with a dot, like 0.5, that shows a part less than one.</a:t>
            </a:r>
            <a:endParaRPr/>
          </a:p>
        </p:txBody>
      </p:sp>
      <p:sp>
        <p:nvSpPr>
          <p:cNvPr id="457" name="Google Shape;457;p49"/>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9"/>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0" name="Google Shape;460;p49"/>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0.5 = 1/2 (halfway between 0 and 1 on the number line)</a:t>
            </a:r>
            <a:endParaRPr/>
          </a:p>
        </p:txBody>
      </p:sp>
      <p:pic>
        <p:nvPicPr>
          <p:cNvPr descr="decimal.png" id="461" name="Google Shape;461;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47</a:t>
            </a:r>
          </a:p>
        </p:txBody>
      </p:sp>
      <p:sp xmlns:p="http://schemas.openxmlformats.org/presentationml/2006/main" xmlns:a="http://schemas.openxmlformats.org/drawingml/2006/main">
        <p:nvSpPr>
          <p:cNvPr id="46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“Decimal”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6" name="Google Shape;466;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69" name="Google Shape;469;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470" name="Google Shape;470;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2" name="Google Shape;472;p50"/>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Number line</a:t>
            </a:r>
            <a:endParaRPr/>
          </a:p>
        </p:txBody>
      </p:sp>
      <p:sp>
        <p:nvSpPr>
          <p:cNvPr id="473" name="Google Shape;473;p50"/>
          <p:cNvSpPr/>
          <p:nvPr/>
        </p:nvSpPr>
        <p:spPr>
          <a:xfrm>
            <a:off x="658368" y="2561844"/>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straight line where numbers are placed in order; numbers get smaller to the left and larger to the right.</a:t>
            </a:r>
            <a:endParaRPr/>
          </a:p>
        </p:txBody>
      </p:sp>
      <p:sp>
        <p:nvSpPr>
          <p:cNvPr id="475" name="Google Shape;475;p50"/>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0"/>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8" name="Google Shape;478;p50"/>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line with marks at −2, −1.5, −1, −0.5, 0, 0.5, 1, 1.5, 2</a:t>
            </a:r>
            <a:endParaRPr/>
          </a:p>
        </p:txBody>
      </p:sp>
      <p:pic>
        <p:nvPicPr>
          <p:cNvPr descr="number-line.png" id="479" name="Google Shape;479;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47</a:t>
            </a:r>
          </a:p>
        </p:txBody>
      </p:sp>
      <p:sp xmlns:p="http://schemas.openxmlformats.org/presentationml/2006/main" xmlns:a="http://schemas.openxmlformats.org/drawingml/2006/main">
        <p:nvSpPr>
          <p:cNvPr id="48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“Number line”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4" name="Google Shape;484;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7" name="Google Shape;487;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488" name="Google Shape;488;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0" name="Google Shape;490;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Equivalent</a:t>
            </a:r>
            <a:endParaRPr/>
          </a:p>
        </p:txBody>
      </p:sp>
      <p:sp>
        <p:nvSpPr>
          <p:cNvPr id="491" name="Google Shape;491;p51"/>
          <p:cNvSpPr/>
          <p:nvPr/>
        </p:nvSpPr>
        <p:spPr>
          <a:xfrm>
            <a:off x="658368" y="263880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Having the same value, just written a different way.</a:t>
            </a:r>
            <a:endParaRPr/>
          </a:p>
        </p:txBody>
      </p:sp>
      <p:sp>
        <p:nvSpPr>
          <p:cNvPr id="493" name="Google Shape;493;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6" name="Google Shape;496;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1/2 = 0.5 = 2/4 — all name the same point on the number line</a:t>
            </a:r>
            <a:endParaRPr/>
          </a:p>
        </p:txBody>
      </p:sp>
      <p:pic>
        <p:nvPicPr>
          <p:cNvPr descr="fraction.png" id="497" name="Google Shape;497;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47</a:t>
            </a:r>
          </a:p>
        </p:txBody>
      </p:sp>
      <p:sp xmlns:p="http://schemas.openxmlformats.org/presentationml/2006/main" xmlns:a="http://schemas.openxmlformats.org/drawingml/2006/main">
        <p:nvSpPr>
          <p:cNvPr id="49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“Equivalent”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2" name="Google Shape;502;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5" name="Google Shape;505;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506" name="Google Shape;506;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8" name="Google Shape;508;p52"/>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Integer</a:t>
            </a:r>
            <a:endParaRPr/>
          </a:p>
        </p:txBody>
      </p:sp>
      <p:sp>
        <p:nvSpPr>
          <p:cNvPr id="509" name="Google Shape;509;p52"/>
          <p:cNvSpPr/>
          <p:nvPr/>
        </p:nvSpPr>
        <p:spPr>
          <a:xfrm>
            <a:off x="658368" y="2934843"/>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Whole numbers and their opposites, like −2, −1, 0, 1, 2.</a:t>
            </a:r>
            <a:endParaRPr/>
          </a:p>
        </p:txBody>
      </p:sp>
      <p:sp>
        <p:nvSpPr>
          <p:cNvPr id="511" name="Google Shape;511;p52"/>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4" name="Google Shape;514;p52"/>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 −3, −2, −1, 0, 1, 2, 3, …</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47</a:t>
            </a:r>
          </a:p>
        </p:txBody>
      </p:sp>
      <p:sp xmlns:p="http://schemas.openxmlformats.org/presentationml/2006/main" xmlns:a="http://schemas.openxmlformats.org/drawingml/2006/main">
        <p:nvSpPr>
          <p:cNvPr id="51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“Integer” to explain the example. Point to 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Rational Numbers on the Number Line</a:t>
            </a:r>
            <a:endParaRPr/>
          </a:p>
        </p:txBody>
      </p:sp>
      <p:sp>
        <p:nvSpPr>
          <p:cNvPr id="367" name="Google Shape;367;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Every rational number has one exact spot on the number line</a:t>
            </a:r>
            <a:endParaRPr/>
          </a:p>
        </p:txBody>
      </p:sp>
      <p:sp>
        <p:nvSpPr>
          <p:cNvPr id="368" name="Google Shape;368;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Rational number</a:t>
            </a:r>
            <a:endParaRPr/>
          </a:p>
        </p:txBody>
      </p:sp>
      <p:sp>
        <p:nvSpPr>
          <p:cNvPr id="371" name="Google Shape;371;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number that can be written as a fraction of two integers, with a bottom number that is not zero</a:t>
            </a:r>
            <a:endParaRPr/>
          </a:p>
        </p:txBody>
      </p:sp>
      <p:sp>
        <p:nvSpPr>
          <p:cNvPr id="372" name="Google Shape;372;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Fraction</a:t>
            </a:r>
            <a:endParaRPr/>
          </a:p>
        </p:txBody>
      </p:sp>
      <p:sp>
        <p:nvSpPr>
          <p:cNvPr id="375" name="Google Shape;375;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number that shows part of a whole, like 3/4</a:t>
            </a:r>
            <a:endParaRPr/>
          </a:p>
        </p:txBody>
      </p:sp>
      <p:sp>
        <p:nvSpPr>
          <p:cNvPr id="376" name="Google Shape;376;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Decimal</a:t>
            </a:r>
            <a:endParaRPr/>
          </a:p>
        </p:txBody>
      </p:sp>
      <p:sp>
        <p:nvSpPr>
          <p:cNvPr id="379" name="Google Shape;379;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number with a dot, like 0.5, that shows a part less than one</a:t>
            </a:r>
            <a:endParaRPr/>
          </a:p>
        </p:txBody>
      </p:sp>
      <p:sp>
        <p:nvSpPr>
          <p:cNvPr id="380" name="Google Shape;380;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Number line</a:t>
            </a:r>
            <a:endParaRPr/>
          </a:p>
        </p:txBody>
      </p:sp>
      <p:sp>
        <p:nvSpPr>
          <p:cNvPr id="383" name="Google Shape;383;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straight line where numbers are placed in order; numbers get smaller to the left and larger to the right</a:t>
            </a:r>
            <a:endParaRPr/>
          </a:p>
        </p:txBody>
      </p:sp>
      <p:sp>
        <p:nvSpPr>
          <p:cNvPr id="384" name="Google Shape;384;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Equivalent</a:t>
            </a:r>
            <a:endParaRPr/>
          </a:p>
        </p:txBody>
      </p:sp>
      <p:sp>
        <p:nvSpPr>
          <p:cNvPr id="387" name="Google Shape;387;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Having the same value, just written a different way</a:t>
            </a:r>
            <a:endParaRPr/>
          </a:p>
        </p:txBody>
      </p:sp>
      <p:sp>
        <p:nvSpPr>
          <p:cNvPr id="388" name="Google Shape;388;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Integer</a:t>
            </a:r>
            <a:endParaRPr/>
          </a:p>
        </p:txBody>
      </p:sp>
      <p:sp>
        <p:nvSpPr>
          <p:cNvPr id="391" name="Google Shape;391;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Whole numbers and their opposites, like −2, −1, 0, 1, 2</a:t>
            </a:r>
            <a:endParaRPr/>
          </a:p>
        </p:txBody>
      </p:sp>
      <p:sp>
        <p:nvSpPr>
          <p:cNvPr id="3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47</a:t>
            </a:r>
          </a:p>
        </p:txBody>
      </p:sp>
      <p:sp xmlns:p="http://schemas.openxmlformats.org/presentationml/2006/main" xmlns:a="http://schemas.openxmlformats.org/drawingml/2006/main">
        <p:nvSpPr>
          <p:cNvPr id="393"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cxnSp>
        <p:nvCxnSpPr>
          <p:cNvPr id="581" name="Google Shape;581;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2" name="Google Shape;582;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83" name="Google Shape;583;p56"/>
          <p:cNvPicPr preferRelativeResize="0"/>
          <p:nvPr/>
        </p:nvPicPr>
        <p:blipFill rotWithShape="1">
          <a:blip r:embed="rId3">
            <a:alphaModFix/>
          </a:blip>
          <a:srcRect b="0" l="0" r="0" t="0"/>
          <a:stretch/>
        </p:blipFill>
        <p:spPr>
          <a:xfrm>
            <a:off x="486000" y="4598272"/>
            <a:ext cx="5054600" cy="838200"/>
          </a:xfrm>
          <a:prstGeom prst="rect">
            <a:avLst/>
          </a:prstGeom>
          <a:noFill/>
          <a:ln>
            <a:noFill/>
          </a:ln>
        </p:spPr>
      </p:pic>
      <p:sp>
        <p:nvSpPr>
          <p:cNvPr id="584" name="Google Shape;584;p56"/>
          <p:cNvSpPr txBox="1"/>
          <p:nvPr/>
        </p:nvSpPr>
        <p:spPr>
          <a:xfrm>
            <a:off x="3161613" y="4753049"/>
            <a:ext cx="2194584" cy="50475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85" name="Google Shape;585;p56"/>
          <p:cNvSpPr txBox="1"/>
          <p:nvPr/>
        </p:nvSpPr>
        <p:spPr>
          <a:xfrm>
            <a:off x="644559" y="5412577"/>
            <a:ext cx="7977026"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helps you think logically when working on a math or non-math problem?</a:t>
            </a:r>
            <a:endParaRPr b="0" i="0" sz="2600" u="none" cap="none" strike="noStrike">
              <a:solidFill>
                <a:srgbClr val="595959"/>
              </a:solidFill>
              <a:latin typeface="Arial"/>
              <a:ea typeface="Arial"/>
              <a:cs typeface="Arial"/>
              <a:sym typeface="Arial"/>
            </a:endParaRPr>
          </a:p>
        </p:txBody>
      </p:sp>
      <p:pic>
        <p:nvPicPr>
          <p:cNvPr id="586" name="Google Shape;586;p56"/>
          <p:cNvPicPr preferRelativeResize="0"/>
          <p:nvPr/>
        </p:nvPicPr>
        <p:blipFill rotWithShape="1">
          <a:blip r:embed="rId4">
            <a:alphaModFix/>
          </a:blip>
          <a:srcRect b="0" l="0" r="0" t="0"/>
          <a:stretch/>
        </p:blipFill>
        <p:spPr>
          <a:xfrm>
            <a:off x="6356279" y="1326040"/>
            <a:ext cx="5376666" cy="3600000"/>
          </a:xfrm>
          <a:prstGeom prst="rect">
            <a:avLst/>
          </a:prstGeom>
          <a:noFill/>
          <a:ln>
            <a:noFill/>
          </a:ln>
        </p:spPr>
      </p:pic>
      <p:sp>
        <p:nvSpPr>
          <p:cNvPr id="587" name="Google Shape;587;p56"/>
          <p:cNvSpPr txBox="1"/>
          <p:nvPr/>
        </p:nvSpPr>
        <p:spPr>
          <a:xfrm>
            <a:off x="484560" y="936100"/>
            <a:ext cx="4441401" cy="1178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47</a:t>
            </a:r>
          </a:p>
        </p:txBody>
      </p:sp>
      <p:sp xmlns:p="http://schemas.openxmlformats.org/presentationml/2006/main" xmlns:a="http://schemas.openxmlformats.org/drawingml/2006/main">
        <p:nvSpPr>
          <p:cNvPr id="589" name="TEACH-embedded-student-prompt" descr="Student thinking and response directions"/>
          <p:cNvSpPr txBox="1"/>
          <p:nvPr/>
        </p:nvSpPr>
        <p:spPr>
          <a:xfrm>
            <a:off x="594360" y="36758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cxnSp>
        <p:nvCxnSpPr>
          <p:cNvPr id="611" name="Google Shape;611;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2" name="Google Shape;612;p59"/>
          <p:cNvSpPr txBox="1"/>
          <p:nvPr/>
        </p:nvSpPr>
        <p:spPr>
          <a:xfrm>
            <a:off x="484564" y="935999"/>
            <a:ext cx="6948623" cy="19709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Arihi planted a flower. The height and depth of the plant are shown. How do the height of the plant and the depth of the roots compare?</a:t>
            </a:r>
            <a:endParaRPr b="0" i="0" sz="1400" u="none" cap="none" strike="noStrike">
              <a:solidFill>
                <a:srgbClr val="000000"/>
              </a:solidFill>
              <a:latin typeface="Arial"/>
              <a:ea typeface="Arial"/>
              <a:cs typeface="Arial"/>
              <a:sym typeface="Arial"/>
            </a:endParaRPr>
          </a:p>
        </p:txBody>
      </p:sp>
      <p:sp>
        <p:nvSpPr>
          <p:cNvPr id="613" name="Google Shape;613;p59"/>
          <p:cNvSpPr txBox="1"/>
          <p:nvPr/>
        </p:nvSpPr>
        <p:spPr>
          <a:xfrm>
            <a:off x="484564" y="3111689"/>
            <a:ext cx="712560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tool can we use to represent the height of the plant and the depth of the roots?</a:t>
            </a:r>
            <a:endParaRPr b="0" i="0" sz="1400" u="none" cap="none" strike="noStrike">
              <a:solidFill>
                <a:srgbClr val="000000"/>
              </a:solidFill>
              <a:latin typeface="Arial"/>
              <a:ea typeface="Arial"/>
              <a:cs typeface="Arial"/>
              <a:sym typeface="Arial"/>
            </a:endParaRPr>
          </a:p>
        </p:txBody>
      </p:sp>
      <p:sp>
        <p:nvSpPr>
          <p:cNvPr id="614" name="Google Shape;614;p59"/>
          <p:cNvSpPr txBox="1"/>
          <p:nvPr/>
        </p:nvSpPr>
        <p:spPr>
          <a:xfrm>
            <a:off x="484564" y="5150777"/>
            <a:ext cx="4762932" cy="11247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One tool is a number line.</a:t>
            </a:r>
            <a:endParaRPr b="0" i="0" sz="1400" u="none" cap="none" strike="noStrike">
              <a:solidFill>
                <a:srgbClr val="000000"/>
              </a:solidFill>
              <a:latin typeface="Arial"/>
              <a:ea typeface="Arial"/>
              <a:cs typeface="Arial"/>
              <a:sym typeface="Arial"/>
            </a:endParaRPr>
          </a:p>
        </p:txBody>
      </p:sp>
      <p:sp>
        <p:nvSpPr>
          <p:cNvPr id="615" name="Google Shape;615;p59"/>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Arihi’s Plant</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b9ea533ea7e040629da8c53dad064466\narm24_c10702_se_003a-dig-eps.png" id="616" name="Google Shape;616;p59"/>
          <p:cNvPicPr preferRelativeResize="0"/>
          <p:nvPr/>
        </p:nvPicPr>
        <p:blipFill rotWithShape="1">
          <a:blip r:embed="rId3">
            <a:alphaModFix/>
          </a:blip>
          <a:srcRect b="0" l="0" r="0" t="0"/>
          <a:stretch/>
        </p:blipFill>
        <p:spPr>
          <a:xfrm>
            <a:off x="8156247" y="1504194"/>
            <a:ext cx="3474921" cy="4213058"/>
          </a:xfrm>
          <a:prstGeom prst="rect">
            <a:avLst/>
          </a:prstGeom>
          <a:noFill/>
          <a:ln>
            <a:noFill/>
          </a:ln>
        </p:spPr>
      </p:pic>
      <p:sp>
        <p:nvSpPr>
          <p:cNvPr id="6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47</a:t>
            </a:r>
          </a:p>
        </p:txBody>
      </p:sp>
      <p:sp>
        <p:nvSpPr>
          <p:cNvPr id="618" name="EWL-COVER-1"/>
          <p:cNvSpPr/>
          <p:nvPr/>
        </p:nvSpPr>
        <p:spPr>
          <a:xfrm>
            <a:off x="429700" y="5095913"/>
            <a:ext cx="4872660" cy="1234524"/>
          </a:xfrm>
          <a:prstGeom prst="rect">
            <a:avLst/>
          </a:prstGeom>
          <a:solidFill>
            <a:srgbClr val="FFFFFF"/>
          </a:solidFill>
          <a:ln>
            <a:noFill/>
          </a:ln>
        </p:spPr>
        <p:txBody>
          <a:bodyPr/>
          <a:lstStyle/>
          <a:p/>
        </p:txBody>
      </p:sp>
      <p:grpSp>
        <p:nvGrpSpPr>
          <p:cNvPr id="619" name="TEACH-6-student-move" descr="TEACH 6 · Organize and implement routines to support a learning-focused classroom"/>
          <p:cNvGrpSpPr/>
          <p:nvPr/>
        </p:nvGrpSpPr>
        <p:grpSpPr>
          <a:xfrm>
            <a:off x="6187440" y="5753828"/>
            <a:ext cx="5501640" cy="457200"/>
            <a:chOff x="6187440" y="5753828"/>
            <a:chExt cx="5501640" cy="457200"/>
          </a:xfrm>
        </p:grpSpPr>
        <p:sp>
          <p:nvSpPr>
            <p:cNvPr id="620" name="TEACH-move-card"/>
            <p:cNvSpPr/>
            <p:nvPr/>
          </p:nvSpPr>
          <p:spPr>
            <a:xfrm>
              <a:off x="6187440" y="5753828"/>
              <a:ext cx="5501640" cy="457200"/>
            </a:xfrm>
            <a:prstGeom prst="roundRect">
              <a:avLst>
                <a:gd name="adj" fmla="val 16000"/>
              </a:avLst>
            </a:prstGeom>
            <a:solidFill>
              <a:srgbClr val="E4F0F5"/>
            </a:solidFill>
            <a:ln w="19050">
              <a:solidFill>
                <a:srgbClr val="8CB8C7"/>
              </a:solidFill>
            </a:ln>
          </p:spPr>
          <p:txBody>
            <a:bodyPr/>
            <a:lstStyle/>
            <a:p>
              <a:endParaRPr/>
            </a:p>
          </p:txBody>
        </p:sp>
        <p:sp>
          <p:nvSpPr>
            <p:cNvPr id="621" name="TEACH-move-rule"/>
            <p:cNvSpPr/>
            <p:nvPr/>
          </p:nvSpPr>
          <p:spPr>
            <a:xfrm>
              <a:off x="6233160" y="5840696"/>
              <a:ext cx="100584" cy="283464"/>
            </a:xfrm>
            <a:prstGeom prst="roundRect">
              <a:avLst>
                <a:gd name="adj" fmla="val 50000"/>
              </a:avLst>
            </a:prstGeom>
            <a:solidFill>
              <a:srgbClr val="01708C"/>
            </a:solidFill>
            <a:ln>
              <a:noFill/>
            </a:ln>
          </p:spPr>
          <p:txBody>
            <a:bodyPr/>
            <a:lstStyle/>
            <a:p>
              <a:endParaRPr/>
            </a:p>
          </p:txBody>
        </p:sp>
        <p:sp>
          <p:nvSpPr>
            <p:cNvPr id="622" name="TEACH-move-text"/>
            <p:cNvSpPr txBox="1"/>
            <p:nvPr/>
          </p:nvSpPr>
          <p:spPr>
            <a:xfrm>
              <a:off x="6507480" y="5753828"/>
              <a:ext cx="5044440" cy="45720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cxnSp>
        <p:nvCxnSpPr>
          <p:cNvPr id="651" name="Google Shape;651;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2" name="Google Shape;652;p63"/>
          <p:cNvSpPr txBox="1"/>
          <p:nvPr/>
        </p:nvSpPr>
        <p:spPr>
          <a:xfrm>
            <a:off x="484565" y="936000"/>
            <a:ext cx="7096106" cy="14105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use a vertical number line to represent the height of the plant and the depth of the roots.</a:t>
            </a:r>
            <a:endParaRPr b="0" i="0" sz="1400" u="none" cap="none" strike="noStrike">
              <a:solidFill>
                <a:srgbClr val="000000"/>
              </a:solidFill>
              <a:latin typeface="Arial"/>
              <a:ea typeface="Arial"/>
              <a:cs typeface="Arial"/>
              <a:sym typeface="Arial"/>
            </a:endParaRPr>
          </a:p>
        </p:txBody>
      </p:sp>
      <p:sp>
        <p:nvSpPr>
          <p:cNvPr id="653" name="Google Shape;653;p63"/>
          <p:cNvSpPr txBox="1"/>
          <p:nvPr/>
        </p:nvSpPr>
        <p:spPr>
          <a:xfrm>
            <a:off x="484566" y="2524836"/>
            <a:ext cx="6816986"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location of positive and negative numbers on a vertical number line?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chapter21\.crops\narm24_c10702_se_004a-dig-a-eps_a1e928c43b0a4d89b560592eb056685f.png" id="654" name="Google Shape;654;p63"/>
          <p:cNvPicPr preferRelativeResize="0"/>
          <p:nvPr/>
        </p:nvPicPr>
        <p:blipFill rotWithShape="1">
          <a:blip r:embed="rId3">
            <a:alphaModFix/>
          </a:blip>
          <a:srcRect b="0" l="0" r="0" t="0"/>
          <a:stretch/>
        </p:blipFill>
        <p:spPr>
          <a:xfrm>
            <a:off x="9311612" y="1334385"/>
            <a:ext cx="1047750" cy="4495800"/>
          </a:xfrm>
          <a:prstGeom prst="rect">
            <a:avLst/>
          </a:prstGeom>
          <a:noFill/>
          <a:ln>
            <a:noFill/>
          </a:ln>
        </p:spPr>
      </p:pic>
      <p:sp>
        <p:nvSpPr>
          <p:cNvPr id="655" name="Google Shape;655;p63"/>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Arihi’s Plant</a:t>
            </a:r>
            <a:endParaRPr b="0" i="0" sz="1400" u="none" cap="none" strike="noStrike">
              <a:solidFill>
                <a:srgbClr val="000000"/>
              </a:solidFill>
              <a:latin typeface="Arial"/>
              <a:ea typeface="Arial"/>
              <a:cs typeface="Arial"/>
              <a:sym typeface="Arial"/>
            </a:endParaRPr>
          </a:p>
        </p:txBody>
      </p:sp>
      <p:sp>
        <p:nvSpPr>
          <p:cNvPr id="656" name="Google Shape;656;p63"/>
          <p:cNvSpPr txBox="1"/>
          <p:nvPr/>
        </p:nvSpPr>
        <p:spPr>
          <a:xfrm>
            <a:off x="484565" y="4759955"/>
            <a:ext cx="7294660" cy="14551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Positive numbers are above 0 and negative numbers are below 0.</a:t>
            </a:r>
            <a:endParaRPr b="0" i="0" sz="1400" u="none" cap="none" strike="noStrike">
              <a:solidFill>
                <a:srgbClr val="000000"/>
              </a:solidFill>
              <a:latin typeface="Arial"/>
              <a:ea typeface="Arial"/>
              <a:cs typeface="Arial"/>
              <a:sym typeface="Arial"/>
            </a:endParaRPr>
          </a:p>
        </p:txBody>
      </p:sp>
      <p:sp>
        <p:nvSpPr>
          <p:cNvPr id="65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47</a:t>
            </a:r>
          </a:p>
        </p:txBody>
      </p:sp>
      <p:sp>
        <p:nvSpPr>
          <p:cNvPr id="658" name="EWL-COVER-1"/>
          <p:cNvSpPr/>
          <p:nvPr/>
        </p:nvSpPr>
        <p:spPr>
          <a:xfrm>
            <a:off x="429701" y="4705091"/>
            <a:ext cx="7404388" cy="1564857"/>
          </a:xfrm>
          <a:prstGeom prst="rect">
            <a:avLst/>
          </a:prstGeom>
          <a:solidFill>
            <a:srgbClr val="FFFFFF"/>
          </a:solidFill>
          <a:ln>
            <a:noFill/>
          </a:ln>
        </p:spPr>
        <p:txBody>
          <a:bodyPr/>
          <a:lstStyle/>
          <a:p/>
        </p:txBody>
      </p:sp>
      <p:grpSp>
        <p:nvGrpSpPr>
          <p:cNvPr id="659" name="TEACH-3-student-move" descr="TEACH 3 · Use intentional questioning to deepen learning"/>
          <p:cNvGrpSpPr/>
          <p:nvPr/>
        </p:nvGrpSpPr>
        <p:grpSpPr>
          <a:xfrm>
            <a:off x="502920" y="4083299"/>
            <a:ext cx="5501640" cy="594360"/>
            <a:chOff x="502920" y="4083299"/>
            <a:chExt cx="5501640" cy="594360"/>
          </a:xfrm>
        </p:grpSpPr>
        <p:sp>
          <p:nvSpPr>
            <p:cNvPr id="660" name="TEACH-move-card"/>
            <p:cNvSpPr/>
            <p:nvPr/>
          </p:nvSpPr>
          <p:spPr>
            <a:xfrm>
              <a:off x="502920" y="408329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61" name="TEACH-move-rule"/>
            <p:cNvSpPr/>
            <p:nvPr/>
          </p:nvSpPr>
          <p:spPr>
            <a:xfrm>
              <a:off x="548640" y="4196227"/>
              <a:ext cx="100584" cy="368504"/>
            </a:xfrm>
            <a:prstGeom prst="roundRect">
              <a:avLst>
                <a:gd name="adj" fmla="val 50000"/>
              </a:avLst>
            </a:prstGeom>
            <a:solidFill>
              <a:srgbClr val="01708C"/>
            </a:solidFill>
            <a:ln>
              <a:noFill/>
            </a:ln>
          </p:spPr>
          <p:txBody>
            <a:bodyPr/>
            <a:lstStyle/>
            <a:p>
              <a:endParaRPr/>
            </a:p>
          </p:txBody>
        </p:sp>
        <p:sp>
          <p:nvSpPr>
            <p:cNvPr id="662" name="TEACH-move-text"/>
            <p:cNvSpPr txBox="1"/>
            <p:nvPr/>
          </p:nvSpPr>
          <p:spPr>
            <a:xfrm>
              <a:off x="822960" y="408329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cxnSp>
        <p:nvCxnSpPr>
          <p:cNvPr id="695" name="Google Shape;695;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6" name="Google Shape;696;p67"/>
          <p:cNvSpPr txBox="1"/>
          <p:nvPr/>
        </p:nvSpPr>
        <p:spPr>
          <a:xfrm>
            <a:off x="484564" y="935999"/>
            <a:ext cx="5912837"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On a vertical number line, positive numbers are above 0 and negative numbers are below 0.</a:t>
            </a:r>
            <a:endParaRPr b="0" i="0" sz="1400" u="none" cap="none" strike="noStrike">
              <a:solidFill>
                <a:srgbClr val="000000"/>
              </a:solidFill>
              <a:latin typeface="Arial"/>
              <a:ea typeface="Arial"/>
              <a:cs typeface="Arial"/>
              <a:sym typeface="Arial"/>
            </a:endParaRPr>
          </a:p>
        </p:txBody>
      </p:sp>
      <p:sp>
        <p:nvSpPr>
          <p:cNvPr id="697" name="Google Shape;697;p67"/>
          <p:cNvSpPr txBox="1"/>
          <p:nvPr/>
        </p:nvSpPr>
        <p:spPr>
          <a:xfrm>
            <a:off x="484564" y="2559938"/>
            <a:ext cx="576875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number represents ground level? Explain.</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chapter21\.crops\narm24_c10702_se_004a-dig-a-eps_a1e928c43b0a4d89b560592eb056685f.png" id="698" name="Google Shape;698;p67"/>
          <p:cNvPicPr preferRelativeResize="0"/>
          <p:nvPr/>
        </p:nvPicPr>
        <p:blipFill rotWithShape="1">
          <a:blip r:embed="rId3">
            <a:alphaModFix/>
          </a:blip>
          <a:srcRect b="0" l="0" r="0" t="0"/>
          <a:stretch/>
        </p:blipFill>
        <p:spPr>
          <a:xfrm>
            <a:off x="10181231" y="1266145"/>
            <a:ext cx="1047750" cy="4495800"/>
          </a:xfrm>
          <a:prstGeom prst="rect">
            <a:avLst/>
          </a:prstGeom>
          <a:noFill/>
          <a:ln>
            <a:noFill/>
          </a:ln>
        </p:spPr>
      </p:pic>
      <p:sp>
        <p:nvSpPr>
          <p:cNvPr id="699" name="Google Shape;699;p67"/>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Arihi’s Plant</a:t>
            </a:r>
            <a:endParaRPr b="0" i="0" sz="1400" u="none" cap="none" strike="noStrike">
              <a:solidFill>
                <a:srgbClr val="000000"/>
              </a:solidFill>
              <a:latin typeface="Arial"/>
              <a:ea typeface="Arial"/>
              <a:cs typeface="Arial"/>
              <a:sym typeface="Arial"/>
            </a:endParaRPr>
          </a:p>
        </p:txBody>
      </p:sp>
      <p:pic>
        <p:nvPicPr>
          <p:cNvPr id="700" name="Google Shape;700;p67"/>
          <p:cNvPicPr preferRelativeResize="0"/>
          <p:nvPr/>
        </p:nvPicPr>
        <p:blipFill rotWithShape="1">
          <a:blip r:embed="rId4">
            <a:alphaModFix/>
          </a:blip>
          <a:srcRect b="0" l="0" r="0" t="0"/>
          <a:stretch/>
        </p:blipFill>
        <p:spPr>
          <a:xfrm>
            <a:off x="484564" y="4601706"/>
            <a:ext cx="5054600" cy="838200"/>
          </a:xfrm>
          <a:prstGeom prst="rect">
            <a:avLst/>
          </a:prstGeom>
          <a:noFill/>
          <a:ln>
            <a:noFill/>
          </a:ln>
        </p:spPr>
      </p:pic>
      <p:sp>
        <p:nvSpPr>
          <p:cNvPr id="701" name="Google Shape;701;p67"/>
          <p:cNvSpPr/>
          <p:nvPr/>
        </p:nvSpPr>
        <p:spPr>
          <a:xfrm>
            <a:off x="3217414" y="4782096"/>
            <a:ext cx="203408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Critiquing</a:t>
            </a:r>
            <a:endParaRPr b="0" i="0" sz="1400" u="none" cap="none" strike="noStrike">
              <a:solidFill>
                <a:srgbClr val="000000"/>
              </a:solidFill>
              <a:latin typeface="Arial"/>
              <a:ea typeface="Arial"/>
              <a:cs typeface="Arial"/>
              <a:sym typeface="Arial"/>
            </a:endParaRPr>
          </a:p>
        </p:txBody>
      </p:sp>
      <p:sp>
        <p:nvSpPr>
          <p:cNvPr id="702" name="Google Shape;702;p67"/>
          <p:cNvSpPr/>
          <p:nvPr/>
        </p:nvSpPr>
        <p:spPr>
          <a:xfrm>
            <a:off x="664026" y="5376277"/>
            <a:ext cx="8954404"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connections do you see between your thinking and that of a classmate?</a:t>
            </a:r>
            <a:endParaRPr b="0" i="0" sz="2600" u="none" cap="none" strike="noStrike">
              <a:solidFill>
                <a:srgbClr val="595959"/>
              </a:solidFill>
              <a:latin typeface="Arial"/>
              <a:ea typeface="Arial"/>
              <a:cs typeface="Arial"/>
              <a:sym typeface="Arial"/>
            </a:endParaRPr>
          </a:p>
        </p:txBody>
      </p:sp>
      <p:pic>
        <p:nvPicPr>
          <p:cNvPr descr="C:\Users\HP\Desktop\Grade_6_Unit_7-20230217T053830Z-001\Grade_6_Unit_7\OPS\img\.assets\b9ea533ea7e040629da8c53dad064466\narm24_c10702_se_003a-dig-eps.png" id="703" name="Google Shape;703;p67"/>
          <p:cNvPicPr preferRelativeResize="0"/>
          <p:nvPr/>
        </p:nvPicPr>
        <p:blipFill rotWithShape="1">
          <a:blip r:embed="rId5">
            <a:alphaModFix/>
          </a:blip>
          <a:srcRect b="0" l="0" r="0" t="0"/>
          <a:stretch/>
        </p:blipFill>
        <p:spPr>
          <a:xfrm>
            <a:off x="7122496" y="1662112"/>
            <a:ext cx="2914650" cy="3533775"/>
          </a:xfrm>
          <a:prstGeom prst="rect">
            <a:avLst/>
          </a:prstGeom>
          <a:noFill/>
          <a:ln>
            <a:noFill/>
          </a:ln>
        </p:spPr>
      </p:pic>
      <p:sp>
        <p:nvSpPr>
          <p:cNvPr id="70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47</a:t>
            </a:r>
          </a:p>
        </p:txBody>
      </p:sp>
      <p:sp xmlns:p="http://schemas.openxmlformats.org/presentationml/2006/main" xmlns:a="http://schemas.openxmlformats.org/drawingml/2006/main">
        <p:nvSpPr>
          <p:cNvPr id="705" name="TEACH-embedded-student-prompt" descr="Student thinking and response directions"/>
          <p:cNvSpPr txBox="1"/>
          <p:nvPr/>
        </p:nvSpPr>
        <p:spPr>
          <a:xfrm>
            <a:off x="594360" y="36758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Use the scale and positions on the</a:t>
            </a:r>
            <a:endParaRPr lang="en-US" sz="2000"/>
          </a:p>
          <a:p>
            <a:pPr>
              <a:lnSpc>
                <a:spcPts val="2400"/>
              </a:lnSpc>
              <a:buNone/>
            </a:pPr>
            <a:r>
              <a:rPr lang="en-US" sz="2000">
                <a:solidFill>
                  <a:srgbClr val="174D60"/>
                </a:solidFill>
                <a:latin typeface="Arial"/>
              </a:rPr>
              <a:t>number line to justify your answer.</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cxnSp>
        <p:nvCxnSpPr>
          <p:cNvPr id="719" name="Google Shape;719;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0" name="Google Shape;720;p69"/>
          <p:cNvSpPr txBox="1"/>
          <p:nvPr/>
        </p:nvSpPr>
        <p:spPr>
          <a:xfrm>
            <a:off x="484565" y="935999"/>
            <a:ext cx="5288438" cy="18481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Ground level is represented by 0 because it is the starting point from where the flower and roots grow.</a:t>
            </a:r>
            <a:endParaRPr b="0" i="0" sz="1400" u="none" cap="none" strike="noStrike">
              <a:solidFill>
                <a:srgbClr val="000000"/>
              </a:solidFill>
              <a:latin typeface="Arial"/>
              <a:ea typeface="Arial"/>
              <a:cs typeface="Arial"/>
              <a:sym typeface="Arial"/>
            </a:endParaRPr>
          </a:p>
        </p:txBody>
      </p:sp>
      <p:sp>
        <p:nvSpPr>
          <p:cNvPr id="721" name="Google Shape;721;p69"/>
          <p:cNvSpPr txBox="1"/>
          <p:nvPr/>
        </p:nvSpPr>
        <p:spPr>
          <a:xfrm>
            <a:off x="464162" y="2905864"/>
            <a:ext cx="528843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represent the height of the plant?</a:t>
            </a:r>
            <a:endParaRPr b="0" i="0" sz="1400" u="none" cap="none" strike="noStrike">
              <a:solidFill>
                <a:srgbClr val="000000"/>
              </a:solidFill>
              <a:latin typeface="Arial"/>
              <a:ea typeface="Arial"/>
              <a:cs typeface="Arial"/>
              <a:sym typeface="Arial"/>
            </a:endParaRPr>
          </a:p>
        </p:txBody>
      </p:sp>
      <p:sp>
        <p:nvSpPr>
          <p:cNvPr id="722" name="Google Shape;722;p69"/>
          <p:cNvSpPr txBox="1"/>
          <p:nvPr/>
        </p:nvSpPr>
        <p:spPr>
          <a:xfrm>
            <a:off x="464162" y="5149804"/>
            <a:ext cx="10125180" cy="1219890"/>
          </a:xfrm>
          <a:prstGeom prst="rect">
            <a:avLst/>
          </a:prstGeom>
          <a:blipFill rotWithShape="1">
            <a:blip r:embed="rId3">
              <a:alphaModFix/>
            </a:blip>
            <a:stretch>
              <a:fillRect b="-4000" l="-1204" r="0" t="-55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b9ea533ea7e040629da8c53dad064466\narm24_c10702_se_003a-dig-eps.png" id="723" name="Google Shape;723;p69"/>
          <p:cNvPicPr preferRelativeResize="0"/>
          <p:nvPr/>
        </p:nvPicPr>
        <p:blipFill rotWithShape="1">
          <a:blip r:embed="rId4">
            <a:alphaModFix/>
          </a:blip>
          <a:srcRect b="0" l="0" r="0" t="0"/>
          <a:stretch/>
        </p:blipFill>
        <p:spPr>
          <a:xfrm>
            <a:off x="6376559" y="1415902"/>
            <a:ext cx="2914650" cy="3533775"/>
          </a:xfrm>
          <a:prstGeom prst="rect">
            <a:avLst/>
          </a:prstGeom>
          <a:noFill/>
          <a:ln>
            <a:noFill/>
          </a:ln>
        </p:spPr>
      </p:pic>
      <p:pic>
        <p:nvPicPr>
          <p:cNvPr descr="C:\Users\HP\Desktop\Grade_6_Unit_7-20230217T053830Z-001\Grade_6_Unit_7\OPS\img\chapter21\.crops\narm24_c10702_se_004a-dig-b-eps_957629ba277641c2b1339f30b01a0c78.png" id="724" name="Google Shape;724;p69"/>
          <p:cNvPicPr preferRelativeResize="0"/>
          <p:nvPr/>
        </p:nvPicPr>
        <p:blipFill rotWithShape="1">
          <a:blip r:embed="rId5">
            <a:alphaModFix/>
          </a:blip>
          <a:srcRect b="0" l="0" r="0" t="0"/>
          <a:stretch/>
        </p:blipFill>
        <p:spPr>
          <a:xfrm>
            <a:off x="9427292" y="1263949"/>
            <a:ext cx="2324100" cy="4495800"/>
          </a:xfrm>
          <a:prstGeom prst="rect">
            <a:avLst/>
          </a:prstGeom>
          <a:noFill/>
          <a:ln>
            <a:noFill/>
          </a:ln>
        </p:spPr>
      </p:pic>
      <p:sp>
        <p:nvSpPr>
          <p:cNvPr id="725" name="Google Shape;725;p69"/>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Arihi’s Plant</a:t>
            </a:r>
            <a:endParaRPr b="0" i="0" sz="1400" u="none" cap="none" strike="noStrike">
              <a:solidFill>
                <a:srgbClr val="000000"/>
              </a:solidFill>
              <a:latin typeface="Arial"/>
              <a:ea typeface="Arial"/>
              <a:cs typeface="Arial"/>
              <a:sym typeface="Arial"/>
            </a:endParaRPr>
          </a:p>
        </p:txBody>
      </p:sp>
      <p:sp>
        <p:nvSpPr>
          <p:cNvPr id="72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47</a:t>
            </a:r>
          </a:p>
        </p:txBody>
      </p:sp>
      <p:sp xmlns:p="http://schemas.openxmlformats.org/presentationml/2006/main" xmlns:a="http://schemas.openxmlformats.org/drawingml/2006/main">
        <p:nvSpPr>
          <p:cNvPr id="727" name="TEACH-embedded-student-prompt" descr="Student thinking and response directions"/>
          <p:cNvSpPr txBox="1"/>
          <p:nvPr/>
        </p:nvSpPr>
        <p:spPr>
          <a:xfrm>
            <a:off x="594360" y="42245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cxnSp>
        <p:nvCxnSpPr>
          <p:cNvPr id="743" name="Google Shape;743;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4" name="Google Shape;744;p71"/>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sp>
        <p:nvSpPr>
          <p:cNvPr id="745" name="Google Shape;745;p71"/>
          <p:cNvSpPr txBox="1"/>
          <p:nvPr/>
        </p:nvSpPr>
        <p:spPr>
          <a:xfrm>
            <a:off x="485999" y="936000"/>
            <a:ext cx="7086375" cy="1016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can you represent the depth of the roots?</a:t>
            </a:r>
            <a:endParaRPr b="0" i="0" sz="2800" u="none" cap="none" strike="noStrike">
              <a:solidFill>
                <a:schemeClr val="dk1"/>
              </a:solidFill>
              <a:latin typeface="Arial"/>
              <a:ea typeface="Arial"/>
              <a:cs typeface="Arial"/>
              <a:sym typeface="Arial"/>
            </a:endParaRPr>
          </a:p>
        </p:txBody>
      </p:sp>
      <p:pic>
        <p:nvPicPr>
          <p:cNvPr id="746" name="Google Shape;746;p71"/>
          <p:cNvPicPr preferRelativeResize="0"/>
          <p:nvPr/>
        </p:nvPicPr>
        <p:blipFill rotWithShape="1">
          <a:blip r:embed="rId3">
            <a:alphaModFix/>
          </a:blip>
          <a:srcRect b="0" l="0" r="0" t="0"/>
          <a:stretch/>
        </p:blipFill>
        <p:spPr>
          <a:xfrm>
            <a:off x="499565" y="368708"/>
            <a:ext cx="353635" cy="340537"/>
          </a:xfrm>
          <a:prstGeom prst="rect">
            <a:avLst/>
          </a:prstGeom>
          <a:noFill/>
          <a:ln>
            <a:noFill/>
          </a:ln>
        </p:spPr>
      </p:pic>
      <p:sp>
        <p:nvSpPr>
          <p:cNvPr id="747" name="Google Shape;747;p71"/>
          <p:cNvSpPr txBox="1"/>
          <p:nvPr/>
        </p:nvSpPr>
        <p:spPr>
          <a:xfrm>
            <a:off x="499566" y="2597800"/>
            <a:ext cx="5580566" cy="3555350"/>
          </a:xfrm>
          <a:prstGeom prst="rect">
            <a:avLst/>
          </a:prstGeom>
          <a:blipFill rotWithShape="1">
            <a:blip r:embed="rId4">
              <a:alphaModFix/>
            </a:blip>
            <a:stretch>
              <a:fillRect b="0" l="-2295" r="-219" t="-171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b9ea533ea7e040629da8c53dad064466\narm24_c10702_se_003a-dig-eps.png" id="748" name="Google Shape;748;p71"/>
          <p:cNvPicPr preferRelativeResize="0"/>
          <p:nvPr/>
        </p:nvPicPr>
        <p:blipFill rotWithShape="1">
          <a:blip r:embed="rId5">
            <a:alphaModFix/>
          </a:blip>
          <a:srcRect b="0" l="0" r="0" t="0"/>
          <a:stretch/>
        </p:blipFill>
        <p:spPr>
          <a:xfrm>
            <a:off x="6193328" y="2024837"/>
            <a:ext cx="3548949" cy="4302811"/>
          </a:xfrm>
          <a:prstGeom prst="rect">
            <a:avLst/>
          </a:prstGeom>
          <a:noFill/>
          <a:ln>
            <a:noFill/>
          </a:ln>
        </p:spPr>
      </p:pic>
      <p:pic>
        <p:nvPicPr>
          <p:cNvPr descr="C:\Users\HP\Desktop\Grade_6_Unit_7-20230217T053830Z-001\Grade_6_Unit_7\OPS\img\chapter21\.crops\narm24_c10702_se_004a-dig-a-eps_a1e928c43b0a4d89b560592eb056685f.png" id="749" name="Google Shape;749;p71"/>
          <p:cNvPicPr preferRelativeResize="0"/>
          <p:nvPr/>
        </p:nvPicPr>
        <p:blipFill rotWithShape="1">
          <a:blip r:embed="rId6">
            <a:alphaModFix/>
          </a:blip>
          <a:srcRect b="0" l="0" r="0" t="0"/>
          <a:stretch/>
        </p:blipFill>
        <p:spPr>
          <a:xfrm>
            <a:off x="10190109" y="1444312"/>
            <a:ext cx="1047750" cy="4495800"/>
          </a:xfrm>
          <a:prstGeom prst="rect">
            <a:avLst/>
          </a:prstGeom>
          <a:noFill/>
          <a:ln>
            <a:noFill/>
          </a:ln>
        </p:spPr>
      </p:pic>
      <p:sp>
        <p:nvSpPr>
          <p:cNvPr id="7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47</a:t>
            </a:r>
          </a:p>
        </p:txBody>
      </p:sp>
      <p:sp>
        <p:nvSpPr>
          <p:cNvPr id="75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752" name="TEACH-5-student-move" descr="TEACH 5 · Facilitate student interactions and academic talk"/>
          <p:cNvGrpSpPr/>
          <p:nvPr/>
        </p:nvGrpSpPr>
        <p:grpSpPr>
          <a:xfrm>
            <a:off x="502920" y="2158888"/>
            <a:ext cx="5501640" cy="402336"/>
            <a:chOff x="502920" y="2158888"/>
            <a:chExt cx="5501640" cy="402336"/>
          </a:xfrm>
        </p:grpSpPr>
        <p:sp>
          <p:nvSpPr>
            <p:cNvPr id="753" name="TEACH-move-card"/>
            <p:cNvSpPr/>
            <p:nvPr/>
          </p:nvSpPr>
          <p:spPr>
            <a:xfrm>
              <a:off x="502920" y="2158888"/>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754" name="TEACH-move-rule"/>
            <p:cNvSpPr/>
            <p:nvPr/>
          </p:nvSpPr>
          <p:spPr>
            <a:xfrm>
              <a:off x="548640" y="2235332"/>
              <a:ext cx="100584" cy="249448"/>
            </a:xfrm>
            <a:prstGeom prst="roundRect">
              <a:avLst>
                <a:gd name="adj" fmla="val 50000"/>
              </a:avLst>
            </a:prstGeom>
            <a:solidFill>
              <a:srgbClr val="01708C"/>
            </a:solidFill>
            <a:ln>
              <a:noFill/>
            </a:ln>
          </p:spPr>
          <p:txBody>
            <a:bodyPr/>
            <a:lstStyle/>
            <a:p>
              <a:endParaRPr/>
            </a:p>
          </p:txBody>
        </p:sp>
        <p:sp>
          <p:nvSpPr>
            <p:cNvPr id="755" name="TEACH-move-text"/>
            <p:cNvSpPr txBox="1"/>
            <p:nvPr/>
          </p:nvSpPr>
          <p:spPr>
            <a:xfrm>
              <a:off x="822960" y="2158888"/>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cxnSp>
        <p:nvCxnSpPr>
          <p:cNvPr id="764" name="Google Shape;764;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5" name="Google Shape;765;p73"/>
          <p:cNvSpPr txBox="1"/>
          <p:nvPr/>
        </p:nvSpPr>
        <p:spPr>
          <a:xfrm>
            <a:off x="485999" y="828000"/>
            <a:ext cx="8097561" cy="1298256"/>
          </a:xfrm>
          <a:prstGeom prst="rect">
            <a:avLst/>
          </a:prstGeom>
          <a:blipFill rotWithShape="1">
            <a:blip r:embed="rId3">
              <a:alphaModFix/>
            </a:blip>
            <a:stretch>
              <a:fillRect b="-5164" l="-158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66" name="Google Shape;766;p73"/>
          <p:cNvSpPr txBox="1"/>
          <p:nvPr/>
        </p:nvSpPr>
        <p:spPr>
          <a:xfrm>
            <a:off x="432465" y="4802090"/>
            <a:ext cx="8971899" cy="1598710"/>
          </a:xfrm>
          <a:prstGeom prst="rect">
            <a:avLst/>
          </a:prstGeom>
          <a:blipFill rotWithShape="1">
            <a:blip r:embed="rId4">
              <a:alphaModFix/>
            </a:blip>
            <a:stretch>
              <a:fillRect b="-12214" l="-1427" r="-476" t="-419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67" name="Google Shape;767;p73"/>
          <p:cNvSpPr/>
          <p:nvPr/>
        </p:nvSpPr>
        <p:spPr>
          <a:xfrm>
            <a:off x="486000" y="2099026"/>
            <a:ext cx="7867488" cy="27802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A </a:t>
            </a:r>
            <a:r>
              <a:rPr b="1" i="0" lang="en-US" sz="2800" u="none" cap="none" strike="noStrike">
                <a:solidFill>
                  <a:srgbClr val="23282D"/>
                </a:solidFill>
                <a:highlight>
                  <a:srgbClr val="FFFF00"/>
                </a:highlight>
                <a:latin typeface="Arial"/>
                <a:ea typeface="Arial"/>
                <a:cs typeface="Arial"/>
                <a:sym typeface="Arial"/>
              </a:rPr>
              <a:t xml:space="preserve">rational number </a:t>
            </a:r>
            <a:r>
              <a:rPr b="0" i="0" lang="en-US" sz="2800" u="none" cap="none" strike="noStrike">
                <a:solidFill>
                  <a:schemeClr val="dk1"/>
                </a:solidFill>
                <a:latin typeface="Arial"/>
                <a:ea typeface="Arial"/>
                <a:cs typeface="Arial"/>
                <a:sym typeface="Arial"/>
              </a:rPr>
              <a:t>is any number that can be written as a fraction, where the numerator and denominator are integers, and the denominator is not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Explain why the height of the plant and the depth of the roots are rational numbers.</a:t>
            </a:r>
            <a:endParaRPr b="0" i="0" sz="2800" u="none" cap="none" strike="noStrike">
              <a:solidFill>
                <a:schemeClr val="dk1"/>
              </a:solidFill>
              <a:latin typeface="Arial"/>
              <a:ea typeface="Arial"/>
              <a:cs typeface="Arial"/>
              <a:sym typeface="Arial"/>
            </a:endParaRPr>
          </a:p>
        </p:txBody>
      </p:sp>
      <p:sp>
        <p:nvSpPr>
          <p:cNvPr id="768" name="Google Shape;768;p73"/>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Arihi’s Plant</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2ac96b430c8447159acb5190ff763703\narm24_c10702_se_005a-dig-a-eps.png" id="769" name="Google Shape;769;p73"/>
          <p:cNvPicPr preferRelativeResize="0"/>
          <p:nvPr/>
        </p:nvPicPr>
        <p:blipFill rotWithShape="1">
          <a:blip r:embed="rId5">
            <a:alphaModFix/>
          </a:blip>
          <a:srcRect b="0" l="0" r="0" t="0"/>
          <a:stretch/>
        </p:blipFill>
        <p:spPr>
          <a:xfrm>
            <a:off x="8804938" y="1449000"/>
            <a:ext cx="2809516" cy="3960000"/>
          </a:xfrm>
          <a:prstGeom prst="rect">
            <a:avLst/>
          </a:prstGeom>
          <a:noFill/>
          <a:ln>
            <a:noFill/>
          </a:ln>
        </p:spPr>
      </p:pic>
      <p:sp>
        <p:nvSpPr>
          <p:cNvPr id="7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47</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cxnSp>
        <p:nvCxnSpPr>
          <p:cNvPr id="808" name="Google Shape;808;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9" name="Google Shape;809;p77"/>
          <p:cNvSpPr txBox="1"/>
          <p:nvPr/>
        </p:nvSpPr>
        <p:spPr>
          <a:xfrm>
            <a:off x="486000" y="936000"/>
            <a:ext cx="7497940" cy="1298256"/>
          </a:xfrm>
          <a:prstGeom prst="rect">
            <a:avLst/>
          </a:prstGeom>
          <a:blipFill rotWithShape="1">
            <a:blip r:embed="rId3">
              <a:alphaModFix/>
            </a:blip>
            <a:stretch>
              <a:fillRect b="-5164" l="-170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10" name="Google Shape;810;p77"/>
          <p:cNvSpPr txBox="1"/>
          <p:nvPr/>
        </p:nvSpPr>
        <p:spPr>
          <a:xfrm>
            <a:off x="486001" y="4004570"/>
            <a:ext cx="7497940" cy="23825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point representing the depth of the roots is the same distance away from zero as the point representing the height of the plant, so the numbers are opposites.</a:t>
            </a:r>
            <a:endParaRPr b="1" i="0" sz="2800" u="none" cap="none" strike="noStrike">
              <a:solidFill>
                <a:srgbClr val="595959"/>
              </a:solidFill>
              <a:latin typeface="Arial"/>
              <a:ea typeface="Arial"/>
              <a:cs typeface="Arial"/>
              <a:sym typeface="Arial"/>
            </a:endParaRPr>
          </a:p>
        </p:txBody>
      </p:sp>
      <p:sp>
        <p:nvSpPr>
          <p:cNvPr id="811" name="Google Shape;811;p77"/>
          <p:cNvSpPr/>
          <p:nvPr/>
        </p:nvSpPr>
        <p:spPr>
          <a:xfrm>
            <a:off x="485999" y="2411676"/>
            <a:ext cx="7052114"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height of the plant and the depth of the roots as represented on the number line?</a:t>
            </a:r>
            <a:endParaRPr b="0" i="0" sz="2800" u="none" cap="none" strike="noStrike">
              <a:solidFill>
                <a:schemeClr val="dk1"/>
              </a:solidFill>
              <a:latin typeface="Arial"/>
              <a:ea typeface="Arial"/>
              <a:cs typeface="Arial"/>
              <a:sym typeface="Arial"/>
            </a:endParaRPr>
          </a:p>
        </p:txBody>
      </p:sp>
      <p:sp>
        <p:nvSpPr>
          <p:cNvPr id="812" name="Google Shape;812;p77"/>
          <p:cNvSpPr txBox="1"/>
          <p:nvPr/>
        </p:nvSpPr>
        <p:spPr>
          <a:xfrm>
            <a:off x="486001" y="936000"/>
            <a:ext cx="7497940" cy="1298256"/>
          </a:xfrm>
          <a:prstGeom prst="rect">
            <a:avLst/>
          </a:prstGeom>
          <a:blipFill rotWithShape="1">
            <a:blip r:embed="rId3">
              <a:alphaModFix/>
            </a:blip>
            <a:stretch>
              <a:fillRect b="-5164" l="-170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14" name="Google Shape;814;p77"/>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Arihi’s Plant</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2ac96b430c8447159acb5190ff763703\narm24_c10702_se_005a-dig-a-eps.png" id="815" name="Google Shape;815;p77"/>
          <p:cNvPicPr preferRelativeResize="0"/>
          <p:nvPr/>
        </p:nvPicPr>
        <p:blipFill rotWithShape="1">
          <a:blip r:embed="rId4">
            <a:alphaModFix/>
          </a:blip>
          <a:srcRect b="0" l="0" r="0" t="0"/>
          <a:stretch/>
        </p:blipFill>
        <p:spPr>
          <a:xfrm>
            <a:off x="8804938" y="1449000"/>
            <a:ext cx="2809516" cy="3960000"/>
          </a:xfrm>
          <a:prstGeom prst="rect">
            <a:avLst/>
          </a:prstGeom>
          <a:noFill/>
          <a:ln>
            <a:noFill/>
          </a:ln>
        </p:spPr>
      </p:pic>
      <p:sp>
        <p:nvSpPr>
          <p:cNvPr id="8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47</a:t>
            </a:r>
          </a:p>
        </p:txBody>
      </p:sp>
      <p:sp>
        <p:nvSpPr>
          <p:cNvPr id="817" name="EWL-COVER-1"/>
          <p:cNvSpPr/>
          <p:nvPr/>
        </p:nvSpPr>
        <p:spPr>
          <a:xfrm>
            <a:off x="431137" y="3949706"/>
            <a:ext cx="7607668" cy="2492310"/>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cxnSp>
        <p:nvCxnSpPr>
          <p:cNvPr id="820" name="Google Shape;820;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1" name="Google Shape;821;p78"/>
          <p:cNvSpPr txBox="1"/>
          <p:nvPr/>
        </p:nvSpPr>
        <p:spPr>
          <a:xfrm>
            <a:off x="486000" y="936000"/>
            <a:ext cx="6608093" cy="10565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Arihi planted a flower. The height and depth of the plant are shown.</a:t>
            </a:r>
            <a:endParaRPr b="1" i="0" sz="2800" u="none" cap="none" strike="noStrike">
              <a:solidFill>
                <a:schemeClr val="dk1"/>
              </a:solidFill>
              <a:latin typeface="Arial"/>
              <a:ea typeface="Arial"/>
              <a:cs typeface="Arial"/>
              <a:sym typeface="Arial"/>
            </a:endParaRPr>
          </a:p>
        </p:txBody>
      </p:sp>
      <p:sp>
        <p:nvSpPr>
          <p:cNvPr id="822" name="Google Shape;822;p78"/>
          <p:cNvSpPr/>
          <p:nvPr/>
        </p:nvSpPr>
        <p:spPr>
          <a:xfrm>
            <a:off x="486000" y="2123196"/>
            <a:ext cx="609600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do the height of the plant and the depth of the roots compare?</a:t>
            </a:r>
            <a:endParaRPr b="0" i="0" sz="2800" u="none" cap="none" strike="noStrike">
              <a:solidFill>
                <a:schemeClr val="dk1"/>
              </a:solidFill>
              <a:latin typeface="Arial"/>
              <a:ea typeface="Arial"/>
              <a:cs typeface="Arial"/>
              <a:sym typeface="Arial"/>
            </a:endParaRPr>
          </a:p>
        </p:txBody>
      </p:sp>
      <p:sp>
        <p:nvSpPr>
          <p:cNvPr id="823" name="Google Shape;823;p78"/>
          <p:cNvSpPr/>
          <p:nvPr/>
        </p:nvSpPr>
        <p:spPr>
          <a:xfrm>
            <a:off x="623834" y="3524108"/>
            <a:ext cx="609600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depth of the roots is the opposite of the height of the plant.</a:t>
            </a:r>
            <a:endParaRPr b="0" i="0" sz="2800" u="none" cap="none" strike="noStrike">
              <a:solidFill>
                <a:schemeClr val="dk1"/>
              </a:solidFill>
              <a:latin typeface="Arial"/>
              <a:ea typeface="Arial"/>
              <a:cs typeface="Arial"/>
              <a:sym typeface="Arial"/>
            </a:endParaRPr>
          </a:p>
        </p:txBody>
      </p:sp>
      <p:sp>
        <p:nvSpPr>
          <p:cNvPr id="824" name="Google Shape;824;p78"/>
          <p:cNvSpPr/>
          <p:nvPr/>
        </p:nvSpPr>
        <p:spPr>
          <a:xfrm>
            <a:off x="486000" y="3431586"/>
            <a:ext cx="6608094" cy="1150001"/>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descr="C:\Users\HP\Desktop\Grade_6_Unit_7-20230217T053830Z-001\Grade_6_Unit_7\OPS\img\.assets\b9ea533ea7e040629da8c53dad064466\narm24_c10702_se_003a-dig-eps.png" id="825" name="Google Shape;825;p78"/>
          <p:cNvPicPr preferRelativeResize="0"/>
          <p:nvPr/>
        </p:nvPicPr>
        <p:blipFill rotWithShape="1">
          <a:blip r:embed="rId3">
            <a:alphaModFix/>
          </a:blip>
          <a:srcRect b="0" l="0" r="0" t="0"/>
          <a:stretch/>
        </p:blipFill>
        <p:spPr>
          <a:xfrm>
            <a:off x="8329984" y="1557000"/>
            <a:ext cx="2914650" cy="3533775"/>
          </a:xfrm>
          <a:prstGeom prst="rect">
            <a:avLst/>
          </a:prstGeom>
          <a:noFill/>
          <a:ln>
            <a:noFill/>
          </a:ln>
        </p:spPr>
      </p:pic>
      <p:sp>
        <p:nvSpPr>
          <p:cNvPr id="826" name="Google Shape;826;p78"/>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Arihi’s Plant</a:t>
            </a:r>
            <a:endParaRPr b="0" i="0" sz="1400" u="none" cap="none" strike="noStrike">
              <a:solidFill>
                <a:srgbClr val="000000"/>
              </a:solidFill>
              <a:latin typeface="Arial"/>
              <a:ea typeface="Arial"/>
              <a:cs typeface="Arial"/>
              <a:sym typeface="Arial"/>
            </a:endParaRPr>
          </a:p>
        </p:txBody>
      </p:sp>
      <p:sp>
        <p:nvSpPr>
          <p:cNvPr id="8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47</a:t>
            </a:r>
          </a:p>
        </p:txBody>
      </p:sp>
      <p:sp xmlns:p="http://schemas.openxmlformats.org/presentationml/2006/main" xmlns:a="http://schemas.openxmlformats.org/drawingml/2006/main">
        <p:nvSpPr>
          <p:cNvPr id="828"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cxnSp>
        <p:nvCxnSpPr>
          <p:cNvPr id="831" name="Google Shape;831;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2" name="Google Shape;832;p79"/>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33" name="Google Shape;833;p79"/>
          <p:cNvSpPr txBox="1"/>
          <p:nvPr/>
        </p:nvSpPr>
        <p:spPr>
          <a:xfrm>
            <a:off x="484563" y="927527"/>
            <a:ext cx="7554537" cy="34393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 xml:space="preserve">Give another example of when using a vertical number line is useful. Explain your reasoning. </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1" i="0" sz="2800" u="none" cap="none" strike="noStrike">
              <a:solidFill>
                <a:schemeClr val="dk1"/>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1" i="0" sz="2800" u="none" cap="none" strike="noStrike">
              <a:solidFill>
                <a:schemeClr val="dk1"/>
              </a:solidFill>
              <a:latin typeface="Arial"/>
              <a:ea typeface="Arial"/>
              <a:cs typeface="Arial"/>
              <a:sym typeface="Arial"/>
            </a:endParaRPr>
          </a:p>
          <a:p>
            <a:pPr indent="-463550" lvl="0" marL="514350" marR="0" rtl="0" algn="l">
              <a:lnSpc>
                <a:spcPct val="100000"/>
              </a:lnSpc>
              <a:spcBef>
                <a:spcPts val="1200"/>
              </a:spcBef>
              <a:spcAft>
                <a:spcPts val="0"/>
              </a:spcAft>
              <a:buClr>
                <a:schemeClr val="dk2"/>
              </a:buClr>
              <a:buSzPts val="800"/>
              <a:buFont typeface="Calibri"/>
              <a:buNone/>
              <a:defRPr/>
            </a:pPr>
            <a:r>
              <a:rPr/>
              <a:t/>
            </a:r>
            <a:endParaRPr b="1" i="0" sz="800" u="none" cap="none" strike="noStrike">
              <a:solidFill>
                <a:schemeClr val="dk1"/>
              </a:solidFill>
              <a:latin typeface="Arial"/>
              <a:ea typeface="Arial"/>
              <a:cs typeface="Arial"/>
              <a:sym typeface="Arial"/>
            </a:endParaRPr>
          </a:p>
          <a:p>
            <a:pPr indent="-514350" lvl="0" marL="514350" marR="0" rtl="0" algn="l">
              <a:lnSpc>
                <a:spcPct val="100000"/>
              </a:lnSpc>
              <a:spcBef>
                <a:spcPts val="120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Why is −2.5 the opposite of 2.5?</a:t>
            </a:r>
            <a:endParaRPr b="0" i="0" sz="1400" u="none" cap="none" strike="noStrike">
              <a:solidFill>
                <a:srgbClr val="000000"/>
              </a:solidFill>
              <a:latin typeface="Arial"/>
              <a:ea typeface="Arial"/>
              <a:cs typeface="Arial"/>
              <a:sym typeface="Arial"/>
            </a:endParaRPr>
          </a:p>
        </p:txBody>
      </p:sp>
      <p:sp>
        <p:nvSpPr>
          <p:cNvPr id="834" name="Google Shape;834;p79"/>
          <p:cNvSpPr/>
          <p:nvPr/>
        </p:nvSpPr>
        <p:spPr>
          <a:xfrm>
            <a:off x="484563" y="2267914"/>
            <a:ext cx="7397976" cy="148612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35" name="Google Shape;835;p79"/>
          <p:cNvSpPr txBox="1"/>
          <p:nvPr/>
        </p:nvSpPr>
        <p:spPr>
          <a:xfrm>
            <a:off x="6675670" y="559247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36" name="Google Shape;836;p79"/>
          <p:cNvSpPr/>
          <p:nvPr/>
        </p:nvSpPr>
        <p:spPr>
          <a:xfrm>
            <a:off x="475899" y="4366854"/>
            <a:ext cx="7406640" cy="156417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37" name="Google Shape;837;p79"/>
          <p:cNvSpPr txBox="1"/>
          <p:nvPr/>
        </p:nvSpPr>
        <p:spPr>
          <a:xfrm>
            <a:off x="6675670" y="341548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47</a:t>
            </a:r>
          </a:p>
        </p:txBody>
      </p:sp>
      <p:grpSp>
        <p:nvGrpSpPr>
          <p:cNvPr id="839" name="TEACH-2-student-move" descr="TEACH 2 · Use strategies and tasks to engage students in rigorous work"/>
          <p:cNvGrpSpPr/>
          <p:nvPr/>
        </p:nvGrpSpPr>
        <p:grpSpPr>
          <a:xfrm>
            <a:off x="502920" y="5967608"/>
            <a:ext cx="11186160" cy="320040"/>
            <a:chOff x="502920" y="5967608"/>
            <a:chExt cx="11186160" cy="320040"/>
          </a:xfrm>
        </p:grpSpPr>
        <p:sp>
          <p:nvSpPr>
            <p:cNvPr id="840" name="TEACH-move-card"/>
            <p:cNvSpPr/>
            <p:nvPr/>
          </p:nvSpPr>
          <p:spPr>
            <a:xfrm>
              <a:off x="502920" y="596760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841" name="TEACH-move-rule"/>
            <p:cNvSpPr/>
            <p:nvPr/>
          </p:nvSpPr>
          <p:spPr>
            <a:xfrm>
              <a:off x="548640" y="6028416"/>
              <a:ext cx="100584" cy="198424"/>
            </a:xfrm>
            <a:prstGeom prst="roundRect">
              <a:avLst>
                <a:gd name="adj" fmla="val 50000"/>
              </a:avLst>
            </a:prstGeom>
            <a:solidFill>
              <a:srgbClr val="01708C"/>
            </a:solidFill>
            <a:ln>
              <a:noFill/>
            </a:ln>
          </p:spPr>
          <p:txBody>
            <a:bodyPr/>
            <a:lstStyle/>
            <a:p>
              <a:endParaRPr/>
            </a:p>
          </p:txBody>
        </p:sp>
        <p:sp>
          <p:nvSpPr>
            <p:cNvPr id="842" name="TEACH-move-text"/>
            <p:cNvSpPr txBox="1"/>
            <p:nvPr/>
          </p:nvSpPr>
          <p:spPr>
            <a:xfrm>
              <a:off x="822960" y="596760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7.2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does the scale determine this location, and where is its opposite?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08" name="Google Shape;808;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9" name="Google Shape;809;p77"/>
          <p:cNvSpPr txBox="1"/>
          <p:nvPr/>
        </p:nvSpPr>
        <p:spPr>
          <a:xfrm>
            <a:off x="486000" y="936000"/>
            <a:ext cx="7497940" cy="1298256"/>
          </a:xfrm>
          <a:prstGeom prst="rect">
            <a:avLst/>
          </a:prstGeom>
          <a:blipFill rotWithShape="1">
            <a:blip r:embed="rId2">
              <a:alphaModFix/>
            </a:blip>
            <a:stretch>
              <a:fillRect b="-5164" l="-170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10" name="Google Shape;810;p77"/>
          <p:cNvSpPr txBox="1"/>
          <p:nvPr/>
        </p:nvSpPr>
        <p:spPr>
          <a:xfrm>
            <a:off x="486001" y="4004570"/>
            <a:ext cx="7497940" cy="23825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point representing the depth of the roots is the same distance away from zero as the point representing the height of the plant, so the numbers are opposites.</a:t>
            </a:r>
            <a:endParaRPr b="1" i="0" sz="2800" u="none" cap="none" strike="noStrike">
              <a:solidFill>
                <a:srgbClr val="595959"/>
              </a:solidFill>
              <a:latin typeface="Arial"/>
              <a:ea typeface="Arial"/>
              <a:cs typeface="Arial"/>
              <a:sym typeface="Arial"/>
            </a:endParaRPr>
          </a:p>
        </p:txBody>
      </p:sp>
      <p:sp>
        <p:nvSpPr>
          <p:cNvPr id="811" name="Google Shape;811;p77"/>
          <p:cNvSpPr/>
          <p:nvPr/>
        </p:nvSpPr>
        <p:spPr>
          <a:xfrm>
            <a:off x="485999" y="2411676"/>
            <a:ext cx="7052114"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height of the plant and the depth of the roots as represented on the number line?</a:t>
            </a:r>
            <a:endParaRPr b="0" i="0" sz="2800" u="none" cap="none" strike="noStrike">
              <a:solidFill>
                <a:schemeClr val="dk1"/>
              </a:solidFill>
              <a:latin typeface="Arial"/>
              <a:ea typeface="Arial"/>
              <a:cs typeface="Arial"/>
              <a:sym typeface="Arial"/>
            </a:endParaRPr>
          </a:p>
        </p:txBody>
      </p:sp>
      <p:sp>
        <p:nvSpPr>
          <p:cNvPr id="812" name="Google Shape;812;p77"/>
          <p:cNvSpPr txBox="1"/>
          <p:nvPr/>
        </p:nvSpPr>
        <p:spPr>
          <a:xfrm>
            <a:off x="486001" y="936000"/>
            <a:ext cx="7497940" cy="1298256"/>
          </a:xfrm>
          <a:prstGeom prst="rect">
            <a:avLst/>
          </a:prstGeom>
          <a:blipFill rotWithShape="1">
            <a:blip r:embed="rId2">
              <a:alphaModFix/>
            </a:blip>
            <a:stretch>
              <a:fillRect b="-5164" l="-170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13" name="Google Shape;813;p77"/>
          <p:cNvSpPr/>
          <p:nvPr/>
        </p:nvSpPr>
        <p:spPr>
          <a:xfrm>
            <a:off x="486000" y="2411676"/>
            <a:ext cx="7052114"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height of the plant and the depth of the roots as represented on the number line?</a:t>
            </a:r>
            <a:endParaRPr b="0" i="0" sz="2800" u="none" cap="none" strike="noStrike">
              <a:solidFill>
                <a:schemeClr val="dk1"/>
              </a:solidFill>
              <a:latin typeface="Arial"/>
              <a:ea typeface="Arial"/>
              <a:cs typeface="Arial"/>
              <a:sym typeface="Arial"/>
            </a:endParaRPr>
          </a:p>
        </p:txBody>
      </p:sp>
      <p:sp>
        <p:nvSpPr>
          <p:cNvPr id="814" name="Google Shape;814;p77"/>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Arihi’s Plant</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2ac96b430c8447159acb5190ff763703\narm24_c10702_se_005a-dig-a-eps.png" id="815" name="Google Shape;815;p77"/>
          <p:cNvPicPr preferRelativeResize="0"/>
          <p:nvPr/>
        </p:nvPicPr>
        <p:blipFill rotWithShape="1">
          <a:blip r:embed="rId3">
            <a:alphaModFix/>
          </a:blip>
          <a:srcRect b="0" l="0" r="0" t="0"/>
          <a:stretch/>
        </p:blipFill>
        <p:spPr>
          <a:xfrm>
            <a:off x="8804938" y="1449000"/>
            <a:ext cx="2809516" cy="3960000"/>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47</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A rational number is any number that can be written as:</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whole numbers</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fraction a/b where b ≠ 0</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An imaginary sign</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square root only</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number is between −1 and 0?</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−0.5</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0.5</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opposite of 2.75?</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2.75</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−2.75</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0.275</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7.25</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On a number line, numbers become greater as you move:</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Left</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Right</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Down</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Toward zero</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47</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7-2 · Represent Rational Numbers and Their Opposites on the Number Line</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Rational Numbers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Any number that can be expressed as a ratio of two </a:t>
            </a:r>
            <a:r>
              <a:rPr b="1" i="0" lang="en-US" sz="1450" u="none" cap="none" strike="noStrike">
                <a:solidFill>
                  <a:srgbClr val="475569"/>
                </a:solidFill>
                <a:latin typeface="Arial"/>
                <a:ea typeface="Arial"/>
                <a:cs typeface="Arial"/>
                <a:sym typeface="Arial"/>
              </a:rPr>
              <a:t xml:space="preserve">integers</a:t>
            </a:r>
            <a:r>
              <a:rPr b="0" i="0" lang="en-US" sz="1450" u="none" cap="none" strike="noStrike">
                <a:solidFill>
                  <a:srgbClr val="475569"/>
                </a:solidFill>
                <a:latin typeface="Arial"/>
                <a:ea typeface="Arial"/>
                <a:cs typeface="Arial"/>
                <a:sym typeface="Arial"/>
              </a:rPr>
              <a:t xml:space="preserve"> (fractions, terminating/repeating decimals).</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Ordering Negatives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Numbers farther to the right are always greater: −0.5 is greater than −1.5.</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Plotting Rational Points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Partition intervals into equal parts matching </a:t>
            </a:r>
            <a:r>
              <a:rPr b="1" i="0" lang="en-US" sz="1450" u="none" cap="none" strike="noStrike">
                <a:solidFill>
                  <a:srgbClr val="475569"/>
                </a:solidFill>
                <a:latin typeface="Arial"/>
                <a:ea typeface="Arial"/>
                <a:cs typeface="Arial"/>
                <a:sym typeface="Arial"/>
              </a:rPr>
              <a:t xml:space="preserve">fraction</a:t>
            </a:r>
            <a:r>
              <a:rPr b="0" i="0" lang="en-US" sz="1450" u="none" cap="none" strike="noStrike">
                <a:solidFill>
                  <a:srgbClr val="475569"/>
                </a:solidFill>
                <a:latin typeface="Arial"/>
                <a:ea typeface="Arial"/>
                <a:cs typeface="Arial"/>
                <a:sym typeface="Arial"/>
              </a:rPr>
              <a:t xml:space="preserve"> </a:t>
            </a:r>
            <a:r>
              <a:rPr b="1" i="0" lang="en-US" sz="1450" u="none" cap="none" strike="noStrike">
                <a:solidFill>
                  <a:srgbClr val="475569"/>
                </a:solidFill>
                <a:latin typeface="Arial"/>
                <a:ea typeface="Arial"/>
                <a:cs typeface="Arial"/>
                <a:sym typeface="Arial"/>
              </a:rPr>
              <a:t xml:space="preserve">denominators</a:t>
            </a:r>
            <a:r>
              <a:rPr b="0" i="0" lang="en-US" sz="1450" u="none" cap="none" strike="noStrike">
                <a:solidFill>
                  <a:srgbClr val="475569"/>
                </a:solidFill>
                <a:latin typeface="Arial"/>
                <a:ea typeface="Arial"/>
                <a:cs typeface="Arial"/>
                <a:sym typeface="Arial"/>
              </a:rPr>
              <a:t xml:space="preserve"> or decimal tenths.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47</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8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Represent Rational Numbers and Their Opposites on the Number Line</a:t>
            </a:r>
            <a:endParaRPr b="1" i="0" sz="3600" u="none" cap="none" strike="noStrike">
              <a:solidFill>
                <a:schemeClr val="dk1"/>
              </a:solidFill>
              <a:latin typeface="Arial"/>
              <a:ea typeface="Arial"/>
              <a:cs typeface="Arial"/>
              <a:sym typeface="Arial"/>
            </a:endParaRPr>
          </a:p>
        </p:txBody>
      </p:sp>
      <p:sp>
        <p:nvSpPr>
          <p:cNvPr id="843" name="Google Shape;843;p8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44" name="Google Shape;844;p80"/>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47</a:t>
            </a:r>
          </a:p>
        </p:txBody>
      </p:sp>
      <p:grpSp>
        <p:nvGrpSpPr>
          <p:cNvPr id="846" name="TEACH-5-student-move" descr="TEACH 5 · Facilitate student interactions and academic talk"/>
          <p:cNvGrpSpPr/>
          <p:nvPr/>
        </p:nvGrpSpPr>
        <p:grpSpPr>
          <a:xfrm>
            <a:off x="502920" y="3867612"/>
            <a:ext cx="11186160" cy="731520"/>
            <a:chOff x="502920" y="3867612"/>
            <a:chExt cx="11186160" cy="731520"/>
          </a:xfrm>
        </p:grpSpPr>
        <p:sp>
          <p:nvSpPr>
            <p:cNvPr id="847"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48"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849"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TAKE TURNS  ·  </a:t>
              </a:r>
              <a:r>
                <a:rPr lang="en-US" sz="1800" dirty="0">
                  <a:solidFill>
                    <a:srgbClr val="13303A"/>
                  </a:solidFill>
                  <a:latin typeface="Arial"/>
                </a:rPr>
                <a:t>One explains, one asks a question. Then switch, so both of you talk.</a:t>
              </a:r>
              <a:endParaRPr lang="en-US" sz="18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cxnSp>
        <p:nvCxnSpPr>
          <p:cNvPr id="880" name="Google Shape;880;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1" name="Google Shape;881;p84"/>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Opposite Numbers</a:t>
            </a:r>
            <a:endParaRPr b="0" i="0" sz="1400" u="none" cap="none" strike="noStrike">
              <a:solidFill>
                <a:srgbClr val="000000"/>
              </a:solidFill>
              <a:latin typeface="Arial"/>
              <a:ea typeface="Arial"/>
              <a:cs typeface="Arial"/>
              <a:sym typeface="Arial"/>
            </a:endParaRPr>
          </a:p>
        </p:txBody>
      </p:sp>
      <p:sp>
        <p:nvSpPr>
          <p:cNvPr id="882" name="Google Shape;882;p84"/>
          <p:cNvSpPr txBox="1"/>
          <p:nvPr/>
        </p:nvSpPr>
        <p:spPr>
          <a:xfrm>
            <a:off x="485999" y="935999"/>
            <a:ext cx="731589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number is the opposite of the opposite of −4.34?</a:t>
            </a:r>
            <a:endParaRPr b="0" i="0" sz="1400" u="none" cap="none" strike="noStrike">
              <a:solidFill>
                <a:srgbClr val="000000"/>
              </a:solidFill>
              <a:latin typeface="Arial"/>
              <a:ea typeface="Arial"/>
              <a:cs typeface="Arial"/>
              <a:sym typeface="Arial"/>
            </a:endParaRPr>
          </a:p>
        </p:txBody>
      </p:sp>
      <p:sp>
        <p:nvSpPr>
          <p:cNvPr id="883" name="Google Shape;883;p84"/>
          <p:cNvSpPr txBox="1"/>
          <p:nvPr/>
        </p:nvSpPr>
        <p:spPr>
          <a:xfrm>
            <a:off x="484565" y="4812784"/>
            <a:ext cx="6352963" cy="14105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 xml:space="preserve">What does </a:t>
            </a:r>
            <a:r>
              <a:rPr b="0" i="1" lang="en-US" sz="2800" u="none" cap="none" strike="noStrike">
                <a:solidFill>
                  <a:srgbClr val="595959"/>
                </a:solidFill>
                <a:latin typeface="Arial"/>
                <a:ea typeface="Arial"/>
                <a:cs typeface="Arial"/>
                <a:sym typeface="Arial"/>
              </a:rPr>
              <a:t>opposite</a:t>
            </a:r>
            <a:r>
              <a:rPr b="0" i="0" lang="en-US" sz="2800" u="none" cap="none" strike="noStrike">
                <a:solidFill>
                  <a:srgbClr val="595959"/>
                </a:solidFill>
                <a:latin typeface="Arial"/>
                <a:ea typeface="Arial"/>
                <a:cs typeface="Arial"/>
                <a:sym typeface="Arial"/>
              </a:rPr>
              <a:t xml:space="preserve"> mean?</a:t>
            </a:r>
            <a:endParaRPr b="0" i="0" sz="2800" u="none" cap="none" strike="noStrike">
              <a:solidFill>
                <a:srgbClr val="595959"/>
              </a:solidFill>
              <a:latin typeface="Arial"/>
              <a:ea typeface="Arial"/>
              <a:cs typeface="Arial"/>
              <a:sym typeface="Arial"/>
            </a:endParaRPr>
          </a:p>
        </p:txBody>
      </p:sp>
      <p:sp>
        <p:nvSpPr>
          <p:cNvPr id="8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47</a:t>
            </a:r>
          </a:p>
        </p:txBody>
      </p:sp>
      <p:sp xmlns:p="http://schemas.openxmlformats.org/presentationml/2006/main" xmlns:a="http://schemas.openxmlformats.org/drawingml/2006/main">
        <p:nvSpPr>
          <p:cNvPr id="885"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cxnSp>
        <p:nvCxnSpPr>
          <p:cNvPr id="899" name="Google Shape;899;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0" name="Google Shape;900;p86"/>
          <p:cNvSpPr txBox="1"/>
          <p:nvPr/>
        </p:nvSpPr>
        <p:spPr>
          <a:xfrm>
            <a:off x="480679" y="4626183"/>
            <a:ext cx="7980933" cy="15304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identify a number on the opposite side of the number line that is the same distance from 0.</a:t>
            </a:r>
            <a:endParaRPr b="1" i="0" sz="2800" u="none" cap="none" strike="noStrike">
              <a:solidFill>
                <a:srgbClr val="595959"/>
              </a:solidFill>
              <a:latin typeface="Arial"/>
              <a:ea typeface="Arial"/>
              <a:cs typeface="Arial"/>
              <a:sym typeface="Arial"/>
            </a:endParaRPr>
          </a:p>
        </p:txBody>
      </p:sp>
      <p:sp>
        <p:nvSpPr>
          <p:cNvPr id="901" name="Google Shape;901;p86"/>
          <p:cNvSpPr txBox="1"/>
          <p:nvPr/>
        </p:nvSpPr>
        <p:spPr>
          <a:xfrm>
            <a:off x="485999" y="936002"/>
            <a:ext cx="8562467" cy="6101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use a number line to represent the problem.</a:t>
            </a:r>
            <a:endParaRPr b="1" i="0" sz="2800" u="none" cap="none" strike="noStrike">
              <a:solidFill>
                <a:schemeClr val="dk1"/>
              </a:solidFill>
              <a:latin typeface="Arial"/>
              <a:ea typeface="Arial"/>
              <a:cs typeface="Arial"/>
              <a:sym typeface="Arial"/>
            </a:endParaRPr>
          </a:p>
        </p:txBody>
      </p:sp>
      <p:sp>
        <p:nvSpPr>
          <p:cNvPr id="902" name="Google Shape;902;p86"/>
          <p:cNvSpPr txBox="1"/>
          <p:nvPr/>
        </p:nvSpPr>
        <p:spPr>
          <a:xfrm>
            <a:off x="480679" y="1546174"/>
            <a:ext cx="513687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number line shows −4.34.</a:t>
            </a:r>
            <a:endParaRPr b="0" i="0" sz="2800" u="none" cap="none" strike="noStrike">
              <a:solidFill>
                <a:schemeClr val="dk1"/>
              </a:solidFill>
              <a:latin typeface="Arial"/>
              <a:ea typeface="Arial"/>
              <a:cs typeface="Arial"/>
              <a:sym typeface="Arial"/>
            </a:endParaRPr>
          </a:p>
        </p:txBody>
      </p:sp>
      <p:sp>
        <p:nvSpPr>
          <p:cNvPr id="903" name="Google Shape;903;p86"/>
          <p:cNvSpPr txBox="1"/>
          <p:nvPr/>
        </p:nvSpPr>
        <p:spPr>
          <a:xfrm>
            <a:off x="480679" y="3240011"/>
            <a:ext cx="8444246"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determine the opposite of a number?</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6f2c0cc412c434b89d95fff7e46a302\narm24_c10702_se_006a-dig-a-eps.png" id="904" name="Google Shape;904;p86"/>
          <p:cNvPicPr preferRelativeResize="0"/>
          <p:nvPr/>
        </p:nvPicPr>
        <p:blipFill rotWithShape="1">
          <a:blip r:embed="rId3">
            <a:alphaModFix/>
          </a:blip>
          <a:srcRect b="0" l="0" r="0" t="0"/>
          <a:stretch/>
        </p:blipFill>
        <p:spPr>
          <a:xfrm>
            <a:off x="480679" y="2322171"/>
            <a:ext cx="7572375" cy="485775"/>
          </a:xfrm>
          <a:prstGeom prst="rect">
            <a:avLst/>
          </a:prstGeom>
          <a:noFill/>
          <a:ln>
            <a:noFill/>
          </a:ln>
        </p:spPr>
      </p:pic>
      <p:sp>
        <p:nvSpPr>
          <p:cNvPr id="905" name="Google Shape;905;p86"/>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Opposite Numbers</a:t>
            </a:r>
            <a:endParaRPr b="0" i="0" sz="1400" u="none" cap="none" strike="noStrike">
              <a:solidFill>
                <a:srgbClr val="000000"/>
              </a:solidFill>
              <a:latin typeface="Arial"/>
              <a:ea typeface="Arial"/>
              <a:cs typeface="Arial"/>
              <a:sym typeface="Arial"/>
            </a:endParaRPr>
          </a:p>
        </p:txBody>
      </p:sp>
      <p:sp>
        <p:nvSpPr>
          <p:cNvPr id="9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47</a:t>
            </a:r>
          </a:p>
        </p:txBody>
      </p:sp>
      <p:sp>
        <p:nvSpPr>
          <p:cNvPr id="907" name="EWL-COVER-1"/>
          <p:cNvSpPr/>
          <p:nvPr/>
        </p:nvSpPr>
        <p:spPr>
          <a:xfrm>
            <a:off x="425815" y="4571319"/>
            <a:ext cx="8090661" cy="1640219"/>
          </a:xfrm>
          <a:prstGeom prst="rect">
            <a:avLst/>
          </a:prstGeom>
          <a:solidFill>
            <a:srgbClr val="FFFFFF"/>
          </a:solidFill>
          <a:ln>
            <a:noFill/>
          </a:ln>
        </p:spPr>
        <p:txBody>
          <a:bodyPr/>
          <a:lstStyle/>
          <a:p/>
        </p:txBody>
      </p:sp>
      <p:grpSp>
        <p:nvGrpSpPr>
          <p:cNvPr id="908" name="TEACH-4-student-move" descr="TEACH 4 · Monitor progress and provide feedback"/>
          <p:cNvGrpSpPr/>
          <p:nvPr/>
        </p:nvGrpSpPr>
        <p:grpSpPr>
          <a:xfrm>
            <a:off x="6187440" y="1645515"/>
            <a:ext cx="5501640" cy="594360"/>
            <a:chOff x="6187440" y="1645515"/>
            <a:chExt cx="5501640" cy="594360"/>
          </a:xfrm>
        </p:grpSpPr>
        <p:sp>
          <p:nvSpPr>
            <p:cNvPr id="909" name="TEACH-move-card"/>
            <p:cNvSpPr/>
            <p:nvPr/>
          </p:nvSpPr>
          <p:spPr>
            <a:xfrm>
              <a:off x="6187440" y="1645515"/>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10" name="TEACH-move-rule"/>
            <p:cNvSpPr/>
            <p:nvPr/>
          </p:nvSpPr>
          <p:spPr>
            <a:xfrm>
              <a:off x="6233160" y="1758443"/>
              <a:ext cx="100584" cy="368504"/>
            </a:xfrm>
            <a:prstGeom prst="roundRect">
              <a:avLst>
                <a:gd name="adj" fmla="val 50000"/>
              </a:avLst>
            </a:prstGeom>
            <a:solidFill>
              <a:srgbClr val="01708C"/>
            </a:solidFill>
            <a:ln>
              <a:noFill/>
            </a:ln>
          </p:spPr>
          <p:txBody>
            <a:bodyPr/>
            <a:lstStyle/>
            <a:p>
              <a:endParaRPr/>
            </a:p>
          </p:txBody>
        </p:sp>
        <p:sp>
          <p:nvSpPr>
            <p:cNvPr id="911" name="TEACH-move-text"/>
            <p:cNvSpPr txBox="1"/>
            <p:nvPr/>
          </p:nvSpPr>
          <p:spPr>
            <a:xfrm>
              <a:off x="6507480" y="1645515"/>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cxnSp>
        <p:nvCxnSpPr>
          <p:cNvPr id="910" name="Google Shape;910;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1" name="Google Shape;911;p87"/>
          <p:cNvSpPr txBox="1"/>
          <p:nvPr/>
        </p:nvSpPr>
        <p:spPr>
          <a:xfrm>
            <a:off x="486000" y="936001"/>
            <a:ext cx="7345044" cy="5925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use a number line to solve the problem.</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d3c0a1fcf0df4fd8a8e7a9d216eee3d9\narm24_c10702_se_006a-dig-eps-.png" id="912" name="Google Shape;912;p87"/>
          <p:cNvPicPr preferRelativeResize="0"/>
          <p:nvPr/>
        </p:nvPicPr>
        <p:blipFill rotWithShape="1">
          <a:blip r:embed="rId3">
            <a:alphaModFix/>
          </a:blip>
          <a:srcRect b="0" l="0" r="0" t="0"/>
          <a:stretch/>
        </p:blipFill>
        <p:spPr>
          <a:xfrm>
            <a:off x="484565" y="2458950"/>
            <a:ext cx="8743950" cy="1066800"/>
          </a:xfrm>
          <a:prstGeom prst="rect">
            <a:avLst/>
          </a:prstGeom>
          <a:noFill/>
          <a:ln>
            <a:noFill/>
          </a:ln>
        </p:spPr>
      </p:pic>
      <p:sp>
        <p:nvSpPr>
          <p:cNvPr id="913" name="Google Shape;913;p87"/>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Opposite Numbers</a:t>
            </a:r>
            <a:endParaRPr b="1" i="0" sz="1500" u="none" cap="none" strike="noStrike">
              <a:solidFill>
                <a:srgbClr val="7030A0"/>
              </a:solidFill>
              <a:latin typeface="Arial"/>
              <a:ea typeface="Arial"/>
              <a:cs typeface="Arial"/>
              <a:sym typeface="Arial"/>
            </a:endParaRPr>
          </a:p>
        </p:txBody>
      </p:sp>
      <p:sp>
        <p:nvSpPr>
          <p:cNvPr id="914" name="Google Shape;914;p87"/>
          <p:cNvSpPr txBox="1"/>
          <p:nvPr/>
        </p:nvSpPr>
        <p:spPr>
          <a:xfrm>
            <a:off x="486000" y="1595076"/>
            <a:ext cx="659252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Determine the distance from 0 to −4.34.</a:t>
            </a:r>
            <a:endParaRPr b="0" i="0" sz="1400" u="none" cap="none" strike="noStrike">
              <a:solidFill>
                <a:srgbClr val="000000"/>
              </a:solidFill>
              <a:latin typeface="Arial"/>
              <a:ea typeface="Arial"/>
              <a:cs typeface="Arial"/>
              <a:sym typeface="Arial"/>
            </a:endParaRPr>
          </a:p>
        </p:txBody>
      </p:sp>
      <p:sp>
        <p:nvSpPr>
          <p:cNvPr id="9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47</a:t>
            </a:r>
          </a:p>
        </p:txBody>
      </p:sp>
      <p:sp xmlns:p="http://schemas.openxmlformats.org/presentationml/2006/main" xmlns:a="http://schemas.openxmlformats.org/drawingml/2006/main">
        <p:nvSpPr>
          <p:cNvPr id="91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Use the scale and positions on the number line to justify your answer.</a:t>
            </a: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cxnSp>
        <p:nvCxnSpPr>
          <p:cNvPr id="929" name="Google Shape;929;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0" name="Google Shape;930;p89"/>
          <p:cNvSpPr txBox="1"/>
          <p:nvPr/>
        </p:nvSpPr>
        <p:spPr>
          <a:xfrm>
            <a:off x="486000" y="936001"/>
            <a:ext cx="7345044" cy="5925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use a number line to solve the problem.</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ede98f5562db425697e04d91f6ad3d81\narm24_c10702_se_008a-dig-eps.png" id="931" name="Google Shape;931;p89"/>
          <p:cNvPicPr preferRelativeResize="0"/>
          <p:nvPr/>
        </p:nvPicPr>
        <p:blipFill rotWithShape="1">
          <a:blip r:embed="rId3">
            <a:alphaModFix/>
          </a:blip>
          <a:srcRect b="0" l="0" r="0" t="0"/>
          <a:stretch/>
        </p:blipFill>
        <p:spPr>
          <a:xfrm>
            <a:off x="646490" y="4300314"/>
            <a:ext cx="8743950" cy="1066800"/>
          </a:xfrm>
          <a:prstGeom prst="rect">
            <a:avLst/>
          </a:prstGeom>
          <a:noFill/>
          <a:ln>
            <a:noFill/>
          </a:ln>
        </p:spPr>
      </p:pic>
      <p:sp>
        <p:nvSpPr>
          <p:cNvPr id="932" name="Google Shape;932;p89"/>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Opposite Numbers</a:t>
            </a:r>
            <a:endParaRPr b="0" i="0" sz="1400" u="none" cap="none" strike="noStrike">
              <a:solidFill>
                <a:srgbClr val="000000"/>
              </a:solidFill>
              <a:latin typeface="Arial"/>
              <a:ea typeface="Arial"/>
              <a:cs typeface="Arial"/>
              <a:sym typeface="Arial"/>
            </a:endParaRPr>
          </a:p>
        </p:txBody>
      </p:sp>
      <p:sp>
        <p:nvSpPr>
          <p:cNvPr id="933" name="Google Shape;933;p89"/>
          <p:cNvSpPr txBox="1"/>
          <p:nvPr/>
        </p:nvSpPr>
        <p:spPr>
          <a:xfrm>
            <a:off x="484565" y="1594800"/>
            <a:ext cx="8615190" cy="20467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To find the opposite of the opposite of −4.34, we can determine the opposite of 4.34.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opposite of 4.34 will be 4.34 units from 0, but on the other side of the number line.</a:t>
            </a:r>
            <a:endParaRPr b="0" i="0" sz="1400" u="none" cap="none" strike="noStrike">
              <a:solidFill>
                <a:srgbClr val="000000"/>
              </a:solidFill>
              <a:latin typeface="Arial"/>
              <a:ea typeface="Arial"/>
              <a:cs typeface="Arial"/>
              <a:sym typeface="Arial"/>
            </a:endParaRPr>
          </a:p>
        </p:txBody>
      </p:sp>
      <p:sp>
        <p:nvSpPr>
          <p:cNvPr id="93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47</a:t>
            </a:r>
          </a:p>
        </p:txBody>
      </p:sp>
      <p:sp xmlns:p="http://schemas.openxmlformats.org/presentationml/2006/main" xmlns:a="http://schemas.openxmlformats.org/drawingml/2006/main">
        <p:nvSpPr>
          <p:cNvPr id="93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the scale and positions on the number line to justify your answer.</a:t>
            </a:r>
            <a:endParaRPr lang="en-US"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cxnSp>
        <p:nvCxnSpPr>
          <p:cNvPr id="949" name="Google Shape;949;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50" name="Google Shape;950;p91"/>
          <p:cNvPicPr preferRelativeResize="0"/>
          <p:nvPr/>
        </p:nvPicPr>
        <p:blipFill rotWithShape="1">
          <a:blip r:embed="rId3">
            <a:alphaModFix/>
          </a:blip>
          <a:srcRect b="0" l="0" r="0" t="0"/>
          <a:stretch/>
        </p:blipFill>
        <p:spPr>
          <a:xfrm>
            <a:off x="484565" y="3965676"/>
            <a:ext cx="5054600" cy="838200"/>
          </a:xfrm>
          <a:prstGeom prst="rect">
            <a:avLst/>
          </a:prstGeom>
          <a:noFill/>
          <a:ln>
            <a:noFill/>
          </a:ln>
        </p:spPr>
      </p:pic>
      <p:sp>
        <p:nvSpPr>
          <p:cNvPr id="951" name="Google Shape;951;p91"/>
          <p:cNvSpPr/>
          <p:nvPr/>
        </p:nvSpPr>
        <p:spPr>
          <a:xfrm>
            <a:off x="3185650" y="4123166"/>
            <a:ext cx="1685077"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Clarifying</a:t>
            </a:r>
            <a:endParaRPr b="0" i="0" sz="1400" u="none" cap="none" strike="noStrike">
              <a:solidFill>
                <a:srgbClr val="000000"/>
              </a:solidFill>
              <a:latin typeface="Arial"/>
              <a:ea typeface="Arial"/>
              <a:cs typeface="Arial"/>
              <a:sym typeface="Arial"/>
            </a:endParaRPr>
          </a:p>
        </p:txBody>
      </p:sp>
      <p:sp>
        <p:nvSpPr>
          <p:cNvPr id="952" name="Google Shape;952;p91"/>
          <p:cNvSpPr/>
          <p:nvPr/>
        </p:nvSpPr>
        <p:spPr>
          <a:xfrm>
            <a:off x="621283" y="4803876"/>
            <a:ext cx="9394978"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questions can you ask to clarify your own thinking?</a:t>
            </a:r>
            <a:endParaRPr b="0" i="0" sz="2600" u="none" cap="none" strike="noStrike">
              <a:solidFill>
                <a:srgbClr val="595959"/>
              </a:solidFill>
              <a:latin typeface="Arial"/>
              <a:ea typeface="Arial"/>
              <a:cs typeface="Arial"/>
              <a:sym typeface="Arial"/>
            </a:endParaRPr>
          </a:p>
        </p:txBody>
      </p:sp>
      <p:sp>
        <p:nvSpPr>
          <p:cNvPr id="953" name="Google Shape;953;p91"/>
          <p:cNvSpPr txBox="1"/>
          <p:nvPr/>
        </p:nvSpPr>
        <p:spPr>
          <a:xfrm>
            <a:off x="486000" y="936000"/>
            <a:ext cx="7581675" cy="10977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number is the opposite of the opposite of −4.34?</a:t>
            </a:r>
            <a:endParaRPr b="0" i="0" sz="1400" u="none" cap="none" strike="noStrike">
              <a:solidFill>
                <a:srgbClr val="000000"/>
              </a:solidFill>
              <a:latin typeface="Arial"/>
              <a:ea typeface="Arial"/>
              <a:cs typeface="Arial"/>
              <a:sym typeface="Arial"/>
            </a:endParaRPr>
          </a:p>
        </p:txBody>
      </p:sp>
      <p:sp>
        <p:nvSpPr>
          <p:cNvPr id="954" name="Google Shape;954;p91"/>
          <p:cNvSpPr/>
          <p:nvPr/>
        </p:nvSpPr>
        <p:spPr>
          <a:xfrm>
            <a:off x="621283" y="2476573"/>
            <a:ext cx="760176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opposite of the opposite of −4.34 is −4.34.</a:t>
            </a:r>
            <a:endParaRPr b="0" i="0" sz="2800" u="none" cap="none" strike="noStrike">
              <a:solidFill>
                <a:schemeClr val="dk1"/>
              </a:solidFill>
              <a:latin typeface="Arial"/>
              <a:ea typeface="Arial"/>
              <a:cs typeface="Arial"/>
              <a:sym typeface="Arial"/>
            </a:endParaRPr>
          </a:p>
        </p:txBody>
      </p:sp>
      <p:sp>
        <p:nvSpPr>
          <p:cNvPr id="955" name="Google Shape;955;p91"/>
          <p:cNvSpPr/>
          <p:nvPr/>
        </p:nvSpPr>
        <p:spPr>
          <a:xfrm>
            <a:off x="484565" y="2292622"/>
            <a:ext cx="7821235" cy="860154"/>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56" name="Google Shape;956;p91"/>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Opposite Numbers</a:t>
            </a:r>
            <a:endParaRPr b="0" i="0" sz="1400" u="none" cap="none" strike="noStrike">
              <a:solidFill>
                <a:srgbClr val="000000"/>
              </a:solidFill>
              <a:latin typeface="Arial"/>
              <a:ea typeface="Arial"/>
              <a:cs typeface="Arial"/>
              <a:sym typeface="Arial"/>
            </a:endParaRPr>
          </a:p>
        </p:txBody>
      </p:sp>
      <p:sp>
        <p:nvSpPr>
          <p:cNvPr id="95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47</a:t>
            </a:r>
          </a:p>
        </p:txBody>
      </p:sp>
      <p:sp xmlns:p="http://schemas.openxmlformats.org/presentationml/2006/main" xmlns:a="http://schemas.openxmlformats.org/drawingml/2006/main">
        <p:nvSpPr>
          <p:cNvPr id="958"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cxnSp>
        <p:nvCxnSpPr>
          <p:cNvPr id="973" name="Google Shape;973;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4" name="Google Shape;974;p93"/>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sp>
        <p:nvSpPr>
          <p:cNvPr id="975" name="Google Shape;975;p93"/>
          <p:cNvSpPr txBox="1"/>
          <p:nvPr/>
        </p:nvSpPr>
        <p:spPr>
          <a:xfrm>
            <a:off x="485999" y="936000"/>
            <a:ext cx="4563673" cy="6647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try a similar problem.</a:t>
            </a:r>
            <a:endParaRPr b="1" i="0" sz="2800" u="none" cap="none" strike="noStrike">
              <a:solidFill>
                <a:schemeClr val="dk1"/>
              </a:solidFill>
              <a:latin typeface="Arial"/>
              <a:ea typeface="Arial"/>
              <a:cs typeface="Arial"/>
              <a:sym typeface="Arial"/>
            </a:endParaRPr>
          </a:p>
        </p:txBody>
      </p:sp>
      <p:pic>
        <p:nvPicPr>
          <p:cNvPr id="976" name="Google Shape;976;p93"/>
          <p:cNvPicPr preferRelativeResize="0"/>
          <p:nvPr/>
        </p:nvPicPr>
        <p:blipFill rotWithShape="1">
          <a:blip r:embed="rId3">
            <a:alphaModFix/>
          </a:blip>
          <a:srcRect b="0" l="0" r="0" t="0"/>
          <a:stretch/>
        </p:blipFill>
        <p:spPr>
          <a:xfrm>
            <a:off x="499565" y="368708"/>
            <a:ext cx="353635" cy="340537"/>
          </a:xfrm>
          <a:prstGeom prst="rect">
            <a:avLst/>
          </a:prstGeom>
          <a:noFill/>
          <a:ln>
            <a:noFill/>
          </a:ln>
        </p:spPr>
      </p:pic>
      <p:sp>
        <p:nvSpPr>
          <p:cNvPr id="977" name="Google Shape;977;p93"/>
          <p:cNvSpPr/>
          <p:nvPr/>
        </p:nvSpPr>
        <p:spPr>
          <a:xfrm>
            <a:off x="485998" y="1725891"/>
            <a:ext cx="7989261"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number is the opposite of the opposite of 2.85? Use a number line to show your reasoning.</a:t>
            </a:r>
            <a:endParaRPr b="0" i="0" sz="2800" u="none" cap="none" strike="noStrike">
              <a:solidFill>
                <a:schemeClr val="dk1"/>
              </a:solidFill>
              <a:latin typeface="Arial"/>
              <a:ea typeface="Arial"/>
              <a:cs typeface="Arial"/>
              <a:sym typeface="Arial"/>
            </a:endParaRPr>
          </a:p>
        </p:txBody>
      </p:sp>
      <p:sp>
        <p:nvSpPr>
          <p:cNvPr id="978" name="Google Shape;978;p93"/>
          <p:cNvSpPr txBox="1"/>
          <p:nvPr/>
        </p:nvSpPr>
        <p:spPr>
          <a:xfrm>
            <a:off x="486000" y="3469765"/>
            <a:ext cx="9395419" cy="27399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 xml:space="preserve"> 2.85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pic>
        <p:nvPicPr>
          <p:cNvPr descr="C:\Users\HP\Desktop\Grade_6_Unit_7-20230217T053830Z-001\Grade_6_Unit_7\OPS\img\.assets\68461267222b4c03bd00ab18123f2366\narm24_c10702_esp_003a.png" id="979" name="Google Shape;979;p93"/>
          <p:cNvPicPr preferRelativeResize="0"/>
          <p:nvPr/>
        </p:nvPicPr>
        <p:blipFill rotWithShape="1">
          <a:blip r:embed="rId4">
            <a:alphaModFix/>
          </a:blip>
          <a:srcRect b="0" l="0" r="0" t="0"/>
          <a:stretch/>
        </p:blipFill>
        <p:spPr>
          <a:xfrm>
            <a:off x="853200" y="4684513"/>
            <a:ext cx="5162550" cy="1162050"/>
          </a:xfrm>
          <a:prstGeom prst="rect">
            <a:avLst/>
          </a:prstGeom>
          <a:noFill/>
          <a:ln>
            <a:noFill/>
          </a:ln>
        </p:spPr>
      </p:pic>
      <p:sp>
        <p:nvSpPr>
          <p:cNvPr id="9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47</a:t>
            </a:r>
          </a:p>
        </p:txBody>
      </p:sp>
      <p:sp>
        <p:nvSpPr>
          <p:cNvPr id="981" name="EWL-COVER-1"/>
          <p:cNvSpPr/>
          <p:nvPr/>
        </p:nvSpPr>
        <p:spPr>
          <a:xfrm>
            <a:off x="431136" y="3414901"/>
            <a:ext cx="9505147" cy="2849694"/>
          </a:xfrm>
          <a:prstGeom prst="rect">
            <a:avLst/>
          </a:prstGeom>
          <a:solidFill>
            <a:srgbClr val="FFFFFF"/>
          </a:solidFill>
          <a:ln>
            <a:noFill/>
          </a:ln>
        </p:spPr>
        <p:txBody>
          <a:bodyPr/>
          <a:lstStyle/>
          <a:p/>
        </p:txBody>
      </p:sp>
      <p:sp>
        <p:nvSpPr>
          <p:cNvPr id="98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983" name="TEACH-5-student-move" descr="TEACH 5 · Facilitate student interactions and academic talk"/>
          <p:cNvGrpSpPr/>
          <p:nvPr/>
        </p:nvGrpSpPr>
        <p:grpSpPr>
          <a:xfrm>
            <a:off x="502920" y="5883139"/>
            <a:ext cx="11186160" cy="402336"/>
            <a:chOff x="502920" y="5883139"/>
            <a:chExt cx="11186160" cy="402336"/>
          </a:xfrm>
        </p:grpSpPr>
        <p:sp>
          <p:nvSpPr>
            <p:cNvPr id="984" name="TEACH-move-card"/>
            <p:cNvSpPr/>
            <p:nvPr/>
          </p:nvSpPr>
          <p:spPr>
            <a:xfrm>
              <a:off x="502920" y="5883139"/>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85" name="TEACH-move-rule"/>
            <p:cNvSpPr/>
            <p:nvPr/>
          </p:nvSpPr>
          <p:spPr>
            <a:xfrm>
              <a:off x="548640" y="5959583"/>
              <a:ext cx="100584" cy="249448"/>
            </a:xfrm>
            <a:prstGeom prst="roundRect">
              <a:avLst>
                <a:gd name="adj" fmla="val 50000"/>
              </a:avLst>
            </a:prstGeom>
            <a:solidFill>
              <a:srgbClr val="01708C"/>
            </a:solidFill>
            <a:ln>
              <a:noFill/>
            </a:ln>
          </p:spPr>
          <p:txBody>
            <a:bodyPr/>
            <a:lstStyle/>
            <a:p>
              <a:endParaRPr/>
            </a:p>
          </p:txBody>
        </p:sp>
        <p:sp>
          <p:nvSpPr>
            <p:cNvPr id="986" name="TEACH-move-text"/>
            <p:cNvSpPr txBox="1"/>
            <p:nvPr/>
          </p:nvSpPr>
          <p:spPr>
            <a:xfrm>
              <a:off x="822960" y="5883139"/>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RESTATE FIRST  ·  </a:t>
              </a:r>
              <a:r>
                <a:rPr lang="en-US" sz="1200" dirty="0">
                  <a:solidFill>
                    <a:srgbClr val="13303A"/>
                  </a:solidFill>
                  <a:latin typeface="Arial"/>
                </a:rPr>
                <a:t>Restate your partner’s idea in your own words before you give yours.</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8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cxnSp>
        <p:nvCxnSpPr>
          <p:cNvPr id="984" name="Google Shape;984;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5" name="Google Shape;985;p9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86" name="Google Shape;986;p94"/>
          <p:cNvSpPr txBox="1"/>
          <p:nvPr/>
        </p:nvSpPr>
        <p:spPr>
          <a:xfrm>
            <a:off x="484563" y="927528"/>
            <a:ext cx="7554537" cy="1274069"/>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 xml:space="preserve">What do you notice about the opposite of the opposite of −4.34? Explain your thinking.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1" i="0" sz="2800" u="none" cap="none" strike="noStrike">
              <a:solidFill>
                <a:schemeClr val="dk1"/>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1" i="0" sz="2800" u="none" cap="none" strike="noStrike">
              <a:solidFill>
                <a:schemeClr val="dk1"/>
              </a:solidFill>
              <a:latin typeface="Arial"/>
              <a:ea typeface="Arial"/>
              <a:cs typeface="Arial"/>
              <a:sym typeface="Arial"/>
            </a:endParaRPr>
          </a:p>
        </p:txBody>
      </p:sp>
      <p:sp>
        <p:nvSpPr>
          <p:cNvPr id="987" name="Google Shape;987;p94"/>
          <p:cNvSpPr/>
          <p:nvPr/>
        </p:nvSpPr>
        <p:spPr>
          <a:xfrm>
            <a:off x="484563" y="2393412"/>
            <a:ext cx="7554537" cy="1405720"/>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88" name="Google Shape;988;p94"/>
          <p:cNvSpPr txBox="1"/>
          <p:nvPr/>
        </p:nvSpPr>
        <p:spPr>
          <a:xfrm>
            <a:off x="6832230" y="5773840"/>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89" name="Google Shape;989;p94"/>
          <p:cNvSpPr/>
          <p:nvPr/>
        </p:nvSpPr>
        <p:spPr>
          <a:xfrm>
            <a:off x="484563" y="4562570"/>
            <a:ext cx="7554537" cy="1628680"/>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90" name="Google Shape;990;p94"/>
          <p:cNvSpPr txBox="1"/>
          <p:nvPr/>
        </p:nvSpPr>
        <p:spPr>
          <a:xfrm>
            <a:off x="6832231" y="3374611"/>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91" name="Google Shape;991;p94"/>
          <p:cNvSpPr/>
          <p:nvPr/>
        </p:nvSpPr>
        <p:spPr>
          <a:xfrm>
            <a:off x="484563" y="3965751"/>
            <a:ext cx="5564344" cy="523220"/>
          </a:xfrm>
          <a:prstGeom prst="rect">
            <a:avLst/>
          </a:prstGeom>
          <a:blipFill rotWithShape="1">
            <a:blip r:embed="rId3">
              <a:alphaModFix/>
            </a:blip>
            <a:stretch>
              <a:fillRect b="-32942" l="-1972" r="-1314" t="-129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47</a:t>
            </a:r>
          </a:p>
        </p:txBody>
      </p:sp>
      <p:grpSp>
        <p:nvGrpSpPr>
          <p:cNvPr id="993" name="TEACH-3-student-move" descr="TEACH 3 · Use intentional questioning to deepen learning"/>
          <p:cNvGrpSpPr/>
          <p:nvPr/>
        </p:nvGrpSpPr>
        <p:grpSpPr>
          <a:xfrm>
            <a:off x="6187440" y="3885914"/>
            <a:ext cx="5501640" cy="594360"/>
            <a:chOff x="6187440" y="3885914"/>
            <a:chExt cx="5501640" cy="594360"/>
          </a:xfrm>
        </p:grpSpPr>
        <p:sp>
          <p:nvSpPr>
            <p:cNvPr id="994" name="TEACH-move-card"/>
            <p:cNvSpPr/>
            <p:nvPr/>
          </p:nvSpPr>
          <p:spPr>
            <a:xfrm>
              <a:off x="6187440" y="388591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95" name="TEACH-move-rule"/>
            <p:cNvSpPr/>
            <p:nvPr/>
          </p:nvSpPr>
          <p:spPr>
            <a:xfrm>
              <a:off x="6233160" y="3998842"/>
              <a:ext cx="100584" cy="368504"/>
            </a:xfrm>
            <a:prstGeom prst="roundRect">
              <a:avLst>
                <a:gd name="adj" fmla="val 50000"/>
              </a:avLst>
            </a:prstGeom>
            <a:solidFill>
              <a:srgbClr val="01708C"/>
            </a:solidFill>
            <a:ln>
              <a:noFill/>
            </a:ln>
          </p:spPr>
          <p:txBody>
            <a:bodyPr/>
            <a:lstStyle/>
            <a:p>
              <a:endParaRPr/>
            </a:p>
          </p:txBody>
        </p:sp>
        <p:sp>
          <p:nvSpPr>
            <p:cNvPr id="996" name="TEACH-move-text"/>
            <p:cNvSpPr txBox="1"/>
            <p:nvPr/>
          </p:nvSpPr>
          <p:spPr>
            <a:xfrm>
              <a:off x="6507480" y="388591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7.2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counting negative fractional intervals in the wrong direction.</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Mark zero and the unit interval before subdividing the given number line.</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cxnSp>
        <p:nvCxnSpPr>
          <p:cNvPr id="996" name="Google Shape;996;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7" name="Google Shape;997;p95"/>
          <p:cNvSpPr txBox="1"/>
          <p:nvPr/>
        </p:nvSpPr>
        <p:spPr>
          <a:xfrm>
            <a:off x="486001" y="316800"/>
            <a:ext cx="5609999" cy="97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Represent Rational Numbers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2"/>
              </a:buClr>
              <a:buSzPts val="2800"/>
              <a:buFont typeface="Calibri"/>
              <a:buNone/>
              <a:defRPr/>
            </a:pPr>
            <a:r>
              <a:rPr/>
              <a:t/>
            </a:r>
            <a:endParaRPr b="1" i="0" sz="2800" u="none" cap="none" strike="noStrike">
              <a:solidFill>
                <a:srgbClr val="782DA0"/>
              </a:solidFill>
              <a:latin typeface="Arial"/>
              <a:ea typeface="Arial"/>
              <a:cs typeface="Arial"/>
              <a:sym typeface="Arial"/>
            </a:endParaRPr>
          </a:p>
        </p:txBody>
      </p:sp>
      <p:sp>
        <p:nvSpPr>
          <p:cNvPr id="998" name="Google Shape;998;p95"/>
          <p:cNvSpPr txBox="1"/>
          <p:nvPr/>
        </p:nvSpPr>
        <p:spPr>
          <a:xfrm>
            <a:off x="486001" y="1508760"/>
            <a:ext cx="8082811" cy="275738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 rational number is any number that can be written as a fraction, where the numerator and denominator are integers, and the denominator is not 0. It can also be written as a decimal. Rational numbers and their opposites can be represented on number lines.</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b19e0ce5d67f4f9385ebdfad8f3422ce\narm24_c10702_se_009a-dig-a-eps.png" id="999" name="Google Shape;999;p95"/>
          <p:cNvPicPr preferRelativeResize="0"/>
          <p:nvPr/>
        </p:nvPicPr>
        <p:blipFill rotWithShape="1">
          <a:blip r:embed="rId3">
            <a:alphaModFix/>
          </a:blip>
          <a:srcRect b="0" l="0" r="0" t="0"/>
          <a:stretch/>
        </p:blipFill>
        <p:spPr>
          <a:xfrm>
            <a:off x="1791837" y="4305300"/>
            <a:ext cx="7543800" cy="1752600"/>
          </a:xfrm>
          <a:prstGeom prst="rect">
            <a:avLst/>
          </a:prstGeom>
          <a:noFill/>
          <a:ln>
            <a:noFill/>
          </a:ln>
        </p:spPr>
      </p:pic>
      <p:sp>
        <p:nvSpPr>
          <p:cNvPr id="10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47</a:t>
            </a:r>
          </a:p>
        </p:txBody>
      </p:sp>
      <p:sp>
        <p:nvSpPr>
          <p:cNvPr id="100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grpSp>
        <p:nvGrpSpPr>
          <p:cNvPr id="1002" name="TEACH-2-student-move" descr="TEACH 2 · Use strategies and tasks to engage students in rigorous work"/>
          <p:cNvGrpSpPr/>
          <p:nvPr/>
        </p:nvGrpSpPr>
        <p:grpSpPr>
          <a:xfrm>
            <a:off x="6187440" y="832104"/>
            <a:ext cx="5501640" cy="594360"/>
            <a:chOff x="6187440" y="832104"/>
            <a:chExt cx="5501640" cy="594360"/>
          </a:xfrm>
        </p:grpSpPr>
        <p:sp>
          <p:nvSpPr>
            <p:cNvPr id="1003" name="TEACH-move-card"/>
            <p:cNvSpPr/>
            <p:nvPr/>
          </p:nvSpPr>
          <p:spPr>
            <a:xfrm>
              <a:off x="6187440" y="83210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04" name="TEACH-move-rule"/>
            <p:cNvSpPr/>
            <p:nvPr/>
          </p:nvSpPr>
          <p:spPr>
            <a:xfrm>
              <a:off x="6233160" y="945032"/>
              <a:ext cx="100584" cy="368504"/>
            </a:xfrm>
            <a:prstGeom prst="roundRect">
              <a:avLst>
                <a:gd name="adj" fmla="val 50000"/>
              </a:avLst>
            </a:prstGeom>
            <a:solidFill>
              <a:srgbClr val="01708C"/>
            </a:solidFill>
            <a:ln>
              <a:noFill/>
            </a:ln>
          </p:spPr>
          <p:txBody>
            <a:bodyPr/>
            <a:lstStyle/>
            <a:p>
              <a:endParaRPr/>
            </a:p>
          </p:txBody>
        </p:sp>
        <p:sp>
          <p:nvSpPr>
            <p:cNvPr id="1005" name="TEACH-move-text"/>
            <p:cNvSpPr txBox="1"/>
            <p:nvPr/>
          </p:nvSpPr>
          <p:spPr>
            <a:xfrm>
              <a:off x="6507480" y="83210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96"/>
          <p:cNvSpPr txBox="1"/>
          <p:nvPr/>
        </p:nvSpPr>
        <p:spPr>
          <a:xfrm>
            <a:off x="484565" y="316033"/>
            <a:ext cx="5492675" cy="77578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Andrew’s Reasoning about Opposites</a:t>
            </a:r>
            <a:endParaRPr b="0" i="0" sz="1400" u="none" cap="none" strike="noStrike">
              <a:solidFill>
                <a:srgbClr val="000000"/>
              </a:solidFill>
              <a:latin typeface="Arial"/>
              <a:ea typeface="Arial"/>
              <a:cs typeface="Arial"/>
              <a:sym typeface="Arial"/>
            </a:endParaRPr>
          </a:p>
        </p:txBody>
      </p:sp>
      <p:cxnSp>
        <p:nvCxnSpPr>
          <p:cNvPr id="1005" name="Google Shape;1005;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6" name="Google Shape;1006;p96"/>
          <p:cNvSpPr txBox="1"/>
          <p:nvPr/>
        </p:nvSpPr>
        <p:spPr>
          <a:xfrm>
            <a:off x="484563" y="1296000"/>
            <a:ext cx="9470597" cy="87777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Andrew made the following generalization about opposite numbers.</a:t>
            </a:r>
            <a:endParaRPr b="0" i="0" sz="1400" u="none" cap="none" strike="noStrike">
              <a:solidFill>
                <a:srgbClr val="000000"/>
              </a:solidFill>
              <a:latin typeface="Arial"/>
              <a:ea typeface="Arial"/>
              <a:cs typeface="Arial"/>
              <a:sym typeface="Arial"/>
            </a:endParaRPr>
          </a:p>
        </p:txBody>
      </p:sp>
      <p:sp>
        <p:nvSpPr>
          <p:cNvPr id="1007" name="Google Shape;1007;p96"/>
          <p:cNvSpPr txBox="1"/>
          <p:nvPr/>
        </p:nvSpPr>
        <p:spPr>
          <a:xfrm>
            <a:off x="464160" y="5374824"/>
            <a:ext cx="1050863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Question :</a:t>
            </a:r>
            <a:r>
              <a:rPr b="0" i="0" lang="en-US" sz="2800" u="none" cap="none" strike="noStrike">
                <a:solidFill>
                  <a:schemeClr val="dk1"/>
                </a:solidFill>
                <a:latin typeface="Arial"/>
                <a:ea typeface="Arial"/>
                <a:cs typeface="Arial"/>
                <a:sym typeface="Arial"/>
              </a:rPr>
              <a:t xml:space="preserve"> Do you agree with Andrew’s statement? Explain your reasoning.</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5c227bfbaf534be19a2b0b60982556f5\narm24_c10702_se_015a-dig.png" id="1008" name="Google Shape;1008;p96"/>
          <p:cNvPicPr preferRelativeResize="0"/>
          <p:nvPr/>
        </p:nvPicPr>
        <p:blipFill rotWithShape="1">
          <a:blip r:embed="rId3">
            <a:alphaModFix/>
          </a:blip>
          <a:srcRect b="0" l="0" r="0" t="0"/>
          <a:stretch/>
        </p:blipFill>
        <p:spPr>
          <a:xfrm>
            <a:off x="3326436" y="2225319"/>
            <a:ext cx="2762250" cy="2876550"/>
          </a:xfrm>
          <a:prstGeom prst="rect">
            <a:avLst/>
          </a:prstGeom>
          <a:noFill/>
          <a:ln>
            <a:noFill/>
          </a:ln>
        </p:spPr>
      </p:pic>
      <p:sp>
        <p:nvSpPr>
          <p:cNvPr id="10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47</a:t>
            </a:r>
          </a:p>
        </p:txBody>
      </p:sp>
      <p:sp>
        <p:nvSpPr>
          <p:cNvPr id="101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1011" name="TEACH-embedded-student-prompt" descr="Student thinking and response directions"/>
          <p:cNvSpPr txBox="1"/>
          <p:nvPr/>
        </p:nvSpPr>
        <p:spPr>
          <a:xfrm>
            <a:off x="7391400" y="409651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97"/>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14" name="Google Shape;1014;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15" name="Google Shape;1015;p97"/>
          <p:cNvSpPr txBox="1"/>
          <p:nvPr/>
        </p:nvSpPr>
        <p:spPr>
          <a:xfrm>
            <a:off x="484565" y="936000"/>
            <a:ext cx="8246481"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graph rational numbers and their opposites on vertical and horizontal number lines.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look for and make use of structure to locate the opposite of a number on a number line.</a:t>
            </a:r>
            <a:endParaRPr b="0" i="0" sz="1400" u="none" cap="none" strike="noStrike">
              <a:solidFill>
                <a:srgbClr val="000000"/>
              </a:solidFill>
              <a:latin typeface="Arial"/>
              <a:ea typeface="Arial"/>
              <a:cs typeface="Arial"/>
              <a:sym typeface="Arial"/>
            </a:endParaRPr>
          </a:p>
        </p:txBody>
      </p:sp>
      <p:sp>
        <p:nvSpPr>
          <p:cNvPr id="10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47</a:t>
            </a:r>
          </a:p>
        </p:txBody>
      </p:sp>
      <p:sp xmlns:p="http://schemas.openxmlformats.org/presentationml/2006/main" xmlns:a="http://schemas.openxmlformats.org/drawingml/2006/main">
        <p:nvSpPr>
          <p:cNvPr id="101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60" name="Google Shape;860;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1" name="Google Shape;861;p82"/>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862" name="Google Shape;862;p82"/>
          <p:cNvPicPr preferRelativeResize="0"/>
          <p:nvPr/>
        </p:nvPicPr>
        <p:blipFill rotWithShape="1">
          <a:blip r:embed="rId2">
            <a:alphaModFix/>
          </a:blip>
          <a:srcRect b="0" l="0" r="0" t="0"/>
          <a:stretch/>
        </p:blipFill>
        <p:spPr>
          <a:xfrm>
            <a:off x="427774" y="4505030"/>
            <a:ext cx="5054600" cy="838200"/>
          </a:xfrm>
          <a:prstGeom prst="rect">
            <a:avLst/>
          </a:prstGeom>
          <a:noFill/>
          <a:ln>
            <a:noFill/>
          </a:ln>
        </p:spPr>
      </p:pic>
      <p:sp>
        <p:nvSpPr>
          <p:cNvPr id="863" name="Google Shape;863;p82"/>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64" name="Google Shape;864;p82"/>
          <p:cNvSpPr txBox="1"/>
          <p:nvPr/>
        </p:nvSpPr>
        <p:spPr>
          <a:xfrm>
            <a:off x="484560" y="1022823"/>
            <a:ext cx="6063724"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could the question be?</a:t>
            </a:r>
            <a:endParaRPr b="1" i="0" sz="2800" u="none" cap="none" strike="noStrike">
              <a:solidFill>
                <a:schemeClr val="dk1"/>
              </a:solidFill>
              <a:latin typeface="Arial"/>
              <a:ea typeface="Arial"/>
              <a:cs typeface="Arial"/>
              <a:sym typeface="Arial"/>
            </a:endParaRPr>
          </a:p>
        </p:txBody>
      </p:sp>
      <p:sp>
        <p:nvSpPr>
          <p:cNvPr id="865" name="Google Shape;865;p82"/>
          <p:cNvSpPr txBox="1"/>
          <p:nvPr/>
        </p:nvSpPr>
        <p:spPr>
          <a:xfrm>
            <a:off x="3147578" y="4662520"/>
            <a:ext cx="214709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66" name="Google Shape;866;p82"/>
          <p:cNvSpPr txBox="1"/>
          <p:nvPr/>
        </p:nvSpPr>
        <p:spPr>
          <a:xfrm>
            <a:off x="555553" y="5276110"/>
            <a:ext cx="681699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helped you think logically when working on a math or non-math problem?</a:t>
            </a:r>
            <a:endParaRPr b="0" i="0" sz="2600" u="none" cap="none" strike="noStrike">
              <a:solidFill>
                <a:srgbClr val="595959"/>
              </a:solidFill>
              <a:latin typeface="Arial"/>
              <a:ea typeface="Arial"/>
              <a:cs typeface="Arial"/>
              <a:sym typeface="Arial"/>
            </a:endParaRPr>
          </a:p>
        </p:txBody>
      </p:sp>
      <p:pic>
        <p:nvPicPr>
          <p:cNvPr id="867" name="Google Shape;867;p82"/>
          <p:cNvPicPr preferRelativeResize="0"/>
          <p:nvPr/>
        </p:nvPicPr>
        <p:blipFill rotWithShape="1">
          <a:blip r:embed="rId3">
            <a:alphaModFix/>
          </a:blip>
          <a:srcRect b="0" l="0" r="0" t="0"/>
          <a:stretch/>
        </p:blipFill>
        <p:spPr>
          <a:xfrm>
            <a:off x="6192874" y="1547654"/>
            <a:ext cx="5399999" cy="3551766"/>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47</a:t>
            </a:r>
          </a:p>
        </p:txBody>
      </p:sp>
      <p:sp xmlns:p="http://schemas.openxmlformats.org/presentationml/2006/main" xmlns:a="http://schemas.openxmlformats.org/drawingml/2006/main">
        <p:nvSpPr>
          <p:cNvPr id="868" name="TEACH-embedded-student-prompt" descr="Student thinking and response directions"/>
          <p:cNvSpPr txBox="1"/>
          <p:nvPr/>
        </p:nvSpPr>
        <p:spPr>
          <a:xfrm>
            <a:off x="594360" y="35844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13" name="Google Shape;1013;p97"/>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14" name="Google Shape;1014;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15" name="Google Shape;1015;p97"/>
          <p:cNvSpPr txBox="1"/>
          <p:nvPr/>
        </p:nvSpPr>
        <p:spPr>
          <a:xfrm>
            <a:off x="484565" y="936000"/>
            <a:ext cx="8246481"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graph rational numbers and their opposites on vertical and horizontal number lines.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look for and make use of structure to locate the opposite of a number on a number line.</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47</a:t>
            </a:r>
          </a:p>
        </p:txBody>
      </p:sp>
      <p:sp xmlns:p="http://schemas.openxmlformats.org/presentationml/2006/main" xmlns:a="http://schemas.openxmlformats.org/drawingml/2006/main">
        <p:nvSpPr>
          <p:cNvPr id="101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7.2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Use equal intervals to locate rational numbers and opposites.</a:t>
            </a:r>
          </a:p>
        </p:txBody>
      </p:sp>
      <p:grpSp>
        <p:nvGrpSpPr>
          <p:cNvPr id="14" name="TEACH-7-student-move" descr="TEACH 7 · Cultivate a supportive learning community"/>
          <p:cNvGrpSpPr/>
          <p:nvPr/>
        </p:nvGrpSpPr>
        <p:grpSpPr>
          <a:xfrm>
            <a:off x="502920" y="4937760"/>
            <a:ext cx="11186160" cy="402336"/>
            <a:chOff x="502920" y="4937760"/>
            <a:chExt cx="11186160" cy="402336"/>
          </a:xfrm>
        </p:grpSpPr>
        <p:sp>
          <p:nvSpPr>
            <p:cNvPr id="15" name="TEACH-move-card"/>
            <p:cNvSpPr/>
            <p:nvPr/>
          </p:nvSpPr>
          <p:spPr>
            <a:xfrm>
              <a:off x="502920" y="493776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014204"/>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493776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1-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NAME THE MATH  ·  </a:t>
            </a:r>
            <a:r>
              <a:rPr lang="en-US" sz="2000" b="0" dirty="0">
                <a:solidFill>
                  <a:srgbClr val="13303A"/>
                </a:solidFill>
                <a:latin typeface="Arial"/>
              </a:rPr>
              <a:t>Point to the part of this that is new today, and say what it changes.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7 / 47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25 / 47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6-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31 / 47</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7.2 — Represent Rational Numbers and Their Opposites on the Number Line</dc:title>
  <dc:creator>Neft Teacher</dc:creator>
  <cp:lastModifiedBy>Neft Teacher</cp:lastModifiedBy>
  <dcterms:created xsi:type="dcterms:W3CDTF">2026-09-30T12:04:43Z</dcterms:created>
  <dcterms:modified xsi:type="dcterms:W3CDTF">2026-09-30T12:04:43Z</dcterms:modified>
</cp:coreProperties>
</file>