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 id="2147483684" r:id="rId2"/>
    <p:sldMasterId id="2147483685" r:id="rId3"/>
    <p:sldMasterId id="2147483686" r:id="rId4"/>
  </p:sldMasterIdLst>
  <p:notesMasterIdLst>
    <p:notesMasterId r:id="rId59"/>
  </p:notesMasterIdLst>
  <p:sldIdLst>
    <p:sldId id="259" r:id="rId5"/>
    <p:sldId id="269" r:id="rId6"/>
    <p:sldId id="270" r:id="rId7"/>
    <p:sldId id="256" r:id="rId8"/>
    <p:sldId id="257" r:id="rId9"/>
    <p:sldId id="260" r:id="rId10"/>
    <p:sldId id="330" r:id="rId11"/>
    <p:sldId id="326" r:id="rId12"/>
    <p:sldId id="325" r:id="rId13"/>
    <p:sldId id="324" r:id="rId14"/>
    <p:sldId id="323" r:id="rId15"/>
    <p:sldId id="322" r:id="rId16"/>
    <p:sldId id="321" r:id="rId17"/>
    <p:sldId id="320" r:id="rId18"/>
    <p:sldId id="319" r:id="rId19"/>
    <p:sldId id="261" r:id="rId20"/>
    <p:sldId id="272" r:id="rId21"/>
    <p:sldId id="275" r:id="rId22"/>
    <p:sldId id="276" r:id="rId23"/>
    <p:sldId id="331" r:id="rId24"/>
    <p:sldId id="278" r:id="rId25"/>
    <p:sldId id="280" r:id="rId26"/>
    <p:sldId id="284" r:id="rId27"/>
    <p:sldId id="287" r:id="rId28"/>
    <p:sldId id="289" r:id="rId29"/>
    <p:sldId id="332" r:id="rId30"/>
    <p:sldId id="327" r:id="rId31"/>
    <p:sldId id="313" r:id="rId32"/>
    <p:sldId id="333" r:id="rId33"/>
    <p:sldId id="314" r:id="rId34"/>
    <p:sldId id="290" r:id="rId35"/>
    <p:sldId id="294" r:id="rId36"/>
    <p:sldId id="295" r:id="rId37"/>
    <p:sldId id="297" r:id="rId38"/>
    <p:sldId id="299" r:id="rId39"/>
    <p:sldId id="301" r:id="rId40"/>
    <p:sldId id="334" r:id="rId41"/>
    <p:sldId id="303" r:id="rId42"/>
    <p:sldId id="305" r:id="rId43"/>
    <p:sldId id="306" r:id="rId44"/>
    <p:sldId id="307" r:id="rId45"/>
    <p:sldId id="308" r:id="rId46"/>
    <p:sldId id="335" r:id="rId47"/>
    <p:sldId id="328" r:id="rId48"/>
    <p:sldId id="318" r:id="rId49"/>
    <p:sldId id="317" r:id="rId50"/>
    <p:sldId id="309" r:id="rId51"/>
    <p:sldId id="310" r:id="rId52"/>
    <p:sldId id="311" r:id="rId53"/>
    <p:sldId id="336" r:id="rId54"/>
    <p:sldId id="312" r:id="rId55"/>
    <p:sldId id="316" r:id="rId56"/>
    <p:sldId id="315" r:id="rId57"/>
    <p:sldId id="329" r:id="rId58"/>
  </p:sldIdLst>
  <p:sldSz cx="12192000" cy="6858000"/>
  <p:notesSz cx="7010400" cy="9236075"/>
  <p:embeddedFontLst>
    <p:embeddedFont>
      <p:font typeface="Cambria Math" panose="02040503050406030204" pitchFamily="18" charset="0"/>
      <p:regular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040B1E-804E-453C-99A6-D6DA1C4BF1D3}">
  <a:tblStyle styleId="{90040B1E-804E-453C-99A6-D6DA1C4BF1D3}"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2100F830-D993-43D5-AE6B-42256369E761}" styleName="Table_1">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28"/>
  </p:normalViewPr>
  <p:slideViewPr>
    <p:cSldViewPr snapToGrid="0">
      <p:cViewPr varScale="1">
        <p:scale>
          <a:sx n="114" d="100"/>
          <a:sy n="114" d="100"/>
        </p:scale>
        <p:origin x="496" y="184"/>
      </p:cViewPr>
      <p:guideLst>
        <p:guide pos="1512"/>
        <p:guide orient="horz" pos="3024"/>
        <p:guide orient="horz" pos="384"/>
        <p:guide orient="horz" pos="2520"/>
        <p:guide orient="horz" pos="1080"/>
        <p:guide orient="horz" pos="1680"/>
        <p:guide orient="horz" pos="3432"/>
        <p:guide orient="horz" pos="3120"/>
        <p:guide pos="48"/>
        <p:guide pos="384"/>
        <p:guide pos="6480"/>
        <p:guide pos="2597"/>
        <p:guide pos="288"/>
        <p:guide orient="horz" pos="2160"/>
        <p:guide orient="horz" pos="216"/>
        <p:guide orient="horz" pos="936"/>
        <p:guide pos="4368"/>
        <p:guide pos="7296"/>
        <p:guide pos="3288"/>
        <p:guide pos="5904"/>
        <p:guide pos="55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font" Target="fonts/font1.fntdata"/><Relationship Id="rId4" Type="http://schemas.openxmlformats.org/officeDocument/2006/relationships/slideMaster" Target="slideMasters/slideMaster4.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2"/>
            <a:ext cx="3037840" cy="463407"/>
          </a:xfrm>
          <a:prstGeom prst="rect">
            <a:avLst/>
          </a:prstGeom>
          <a:noFill/>
          <a:ln>
            <a:noFill/>
          </a:ln>
        </p:spPr>
        <p:txBody>
          <a:bodyPr spcFirstLastPara="1" wrap="square" lIns="92275" tIns="46125" rIns="92275" bIns="46125"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8" y="2"/>
            <a:ext cx="3037840" cy="463407"/>
          </a:xfrm>
          <a:prstGeom prst="rect">
            <a:avLst/>
          </a:prstGeom>
          <a:noFill/>
          <a:ln>
            <a:noFill/>
          </a:ln>
        </p:spPr>
        <p:txBody>
          <a:bodyPr spcFirstLastPara="1" wrap="square" lIns="92275" tIns="46125" rIns="92275" bIns="4612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772669"/>
            <a:ext cx="3037840" cy="463406"/>
          </a:xfrm>
          <a:prstGeom prst="rect">
            <a:avLst/>
          </a:prstGeom>
          <a:noFill/>
          <a:ln>
            <a:noFill/>
          </a:ln>
        </p:spPr>
        <p:txBody>
          <a:bodyPr spcFirstLastPara="1" wrap="square" lIns="92275" tIns="46125" rIns="92275" bIns="46125"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8" y="8772669"/>
            <a:ext cx="3037840" cy="463406"/>
          </a:xfrm>
          <a:prstGeom prst="rect">
            <a:avLst/>
          </a:prstGeom>
          <a:noFill/>
          <a:ln>
            <a:noFill/>
          </a:ln>
        </p:spPr>
        <p:txBody>
          <a:bodyPr spcFirstLastPara="1" wrap="square" lIns="92275" tIns="46125" rIns="92275" bIns="46125"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4: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a:pPr>
              <a:buNone/>
            </a:pPr>
            <a:r>
              <a:rPr lang="en-US" sz="1100"/>
              <a:t>TEACH IN PRACTICE | Embedded facilitation | Lesson 8.2, slide 1 | WARMUP</a:t>
            </a:r>
          </a:p>
          <a:p>
            <a:pPr>
              <a:buNone/>
            </a:pPr>
            <a:r>
              <a:rPr lang="en-US" sz="1100"/>
              <a:t>Focus on the existing task: Warm-Up WARM-UP · THINK • TRY •…</a:t>
            </a:r>
          </a:p>
          <a:p>
            <a:pPr>
              <a:buNone/>
            </a:pPr>
            <a:r>
              <a:rPr lang="en-US" sz="1100"/>
              <a:t>GATHER EVIDENCE (T4/6): Keep the original items. Students try independently, mark an uncertain item, and explain one method before checking. Use the existing key when present.</a:t>
            </a:r>
          </a:p>
          <a:p>
            <a:pPr>
              <a:buNone/>
            </a:pPr>
            <a:r>
              <a:rPr lang="en-US" sz="1100"/>
              <a:t>RESPOND: Distinguish a calculation slip from a reasoning gap. Give one next step on the same item; have students revise in a second color. Use the responses to choose flexible support for today’s lesson.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spcBef>
                <a:spcPts val="0"/>
              </a:spcBef>
              <a:spcAft>
                <a:spcPts val="0"/>
              </a:spcAft>
              <a:buNone/>
            </a:pPr>
            <a:r>
              <a:t>Warm-Up answers (teacher only): 1) 5   2) 7.2   3) subtracting 8   4) 25</a:t>
            </a:r>
          </a:p>
          <a:p>
            <a:pPr>
              <a:buNone/>
            </a:pPr>
            <a:endParaRP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use an inverse operation on both sides; isolate the variable; check in the original equation. Review recent work and today’s warm-up to choose flexible groups and access supports; do not infer needs from identity or perceived ability. Use the existing lesson tasks and stated standards.</a:t>
            </a:r>
          </a:p>
          <a:p>
            <a:pPr>
              <a:buNone/>
            </a:pPr>
            <a:r>
              <a:rPr lang="en-US" sz="1100"/>
              <a:t>Anticipate: changing only one side or using the same operation instead of its inverse. If observed, show the same operation under both sides of the original equation.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6" name="Google Shape;256;p4: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14: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a:pPr>
              <a:buNone/>
            </a:pPr>
            <a:r>
              <a:rPr lang="en-US" sz="1100"/>
              <a:t>TEACH IN PRACTICE | Embedded facilitation | Lesson 8.2, slide 2 | NOTES</a:t>
            </a:r>
          </a:p>
          <a:p>
            <a:pPr>
              <a:buNone/>
            </a:pPr>
            <a:r>
              <a:rPr lang="en-US" sz="1100"/>
              <a:t>Focus on the existing task: Today’s Math Notes Section 1: Math…</a:t>
            </a:r>
          </a:p>
          <a:p>
            <a:pPr>
              <a:buNone/>
            </a:pPr>
            <a:r>
              <a:rPr lang="en-US" sz="1100"/>
              <a:t>ROUTINE (T1/2/4): Read or copy the original notes, cover one line, and explain it using the displayed example. Reopen and correct. Copying alone is not evidence of understanding.</a:t>
            </a:r>
          </a:p>
          <a:p>
            <a:pPr>
              <a:buNone/>
            </a:pPr>
            <a:r>
              <a:rPr lang="en-US" sz="1100"/>
              <a:t>LOOK FOR: A link between a symbol, quantity or feature and the explanation. If missing, point back to that feature and have the student try again; fade the prompt once they can explain.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spcBef>
                <a:spcPts val="0"/>
              </a:spcBef>
              <a:spcAft>
                <a:spcPts val="0"/>
              </a:spcAft>
              <a:buNone/>
            </a:pPr>
            <a:r>
              <a:t>Copy routine: read one line at a time; students copy, then explain that line to a partner.</a:t>
            </a:r>
          </a:p>
          <a:p>
            <a:pPr marL="0" lvl="0" indent="0" algn="l" rtl="0">
              <a:spcBef>
                <a:spcPts val="0"/>
              </a:spcBef>
              <a:spcAft>
                <a:spcPts val="0"/>
              </a:spcAft>
              <a:buNone/>
            </a:pPr>
            <a:r>
              <a:t>Keep it brisk — the understanding work happens in the examples, not the copying.</a:t>
            </a:r>
          </a:p>
          <a:p>
            <a:pPr marL="0" lvl="0" indent="0" algn="l" rtl="0">
              <a:spcBef>
                <a:spcPts val="0"/>
              </a:spcBef>
              <a:spcAft>
                <a:spcPts val="0"/>
              </a:spcAft>
              <a:buNone/>
            </a:pPr>
            <a:r>
              <a:t>UIFR: TEACH 1 · TEACH 6.</a:t>
            </a:r>
          </a:p>
        </p:txBody>
      </p:sp>
      <p:sp>
        <p:nvSpPr>
          <p:cNvPr id="503" name="Google Shape;503;p14: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15: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a:pPr>
              <a:buNone/>
            </a:pPr>
            <a:r>
              <a:rPr lang="en-US" sz="1100"/>
              <a:t>TEACH IN PRACTICE | Embedded facilitation | Lesson 8.2, slide 3 | NOTES</a:t>
            </a:r>
          </a:p>
          <a:p>
            <a:pPr>
              <a:buNone/>
            </a:pPr>
            <a:r>
              <a:rPr lang="en-US" sz="1100"/>
              <a:t>Focus on the existing task: Today’s Math Notes Section 2…</a:t>
            </a:r>
          </a:p>
          <a:p>
            <a:pPr>
              <a:buNone/>
            </a:pPr>
            <a:r>
              <a:rPr lang="en-US" sz="1100"/>
              <a:t>ROUTINE (T1/2/4): Read or copy the original notes, cover one line, and explain it using the displayed example. Reopen and correct. Copying alone is not evidence of understanding.</a:t>
            </a:r>
          </a:p>
          <a:p>
            <a:pPr>
              <a:buNone/>
            </a:pPr>
            <a:r>
              <a:rPr lang="en-US" sz="1100"/>
              <a:t>LOOK FOR: A link between a symbol, quantity or feature and the explanation. If missing, point back to that feature and have the student try again; fade the prompt once they can explain.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spcBef>
                <a:spcPts val="0"/>
              </a:spcBef>
              <a:spcAft>
                <a:spcPts val="0"/>
              </a:spcAft>
              <a:buNone/>
            </a:pPr>
            <a:r>
              <a:t>Copy routine: read one line at a time; students copy, then explain that line to a partner.</a:t>
            </a:r>
          </a:p>
          <a:p>
            <a:pPr marL="0" lvl="0" indent="0" algn="l" rtl="0">
              <a:spcBef>
                <a:spcPts val="0"/>
              </a:spcBef>
              <a:spcAft>
                <a:spcPts val="0"/>
              </a:spcAft>
              <a:buNone/>
            </a:pPr>
            <a:r>
              <a:t>Keep it brisk — the understanding work happens in the examples, not the copying.</a:t>
            </a:r>
          </a:p>
          <a:p>
            <a:pPr marL="0" lvl="0" indent="0" algn="l" rtl="0">
              <a:spcBef>
                <a:spcPts val="0"/>
              </a:spcBef>
              <a:spcAft>
                <a:spcPts val="0"/>
              </a:spcAft>
              <a:buNone/>
            </a:pPr>
            <a:r>
              <a:t>UIFR: TEACH 1 · TEACH 6.</a:t>
            </a:r>
          </a:p>
        </p:txBody>
      </p:sp>
      <p:sp>
        <p:nvSpPr>
          <p:cNvPr id="531" name="Google Shape;531;p15: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4 | DIVIDER</a:t>
            </a:r>
          </a:p>
          <a:p>
            <a:pPr>
              <a:buNone/>
            </a:pPr>
            <a:r>
              <a:rPr lang="en-US" sz="1100"/>
              <a:t>Focus on the existing task: Write and Solve Equations Using Addition or Subtraction Session 1</a:t>
            </a:r>
          </a:p>
          <a:p>
            <a:pPr>
              <a:buNone/>
            </a:pPr>
            <a:r>
              <a:rPr lang="en-US" sz="1100"/>
              <a:t>TRANSITION (T6/7): Students confirm materials, roles, how to request help, and the next response routine. Ask a student to restate it. Keep teacher-only slides hidden.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Transition cue: state what materials are out and what success looks like this session.</a:t>
            </a:r>
          </a:p>
          <a:p>
            <a:pPr marL="0" lvl="0" indent="0" algn="l" rtl="0">
              <a:lnSpc>
                <a:spcPct val="100000"/>
              </a:lnSpc>
              <a:spcBef>
                <a:spcPts val="0"/>
              </a:spcBef>
              <a:spcAft>
                <a:spcPts val="0"/>
              </a:spcAft>
              <a:buSzPts val="1400"/>
              <a:buNone/>
            </a:pPr>
            <a:r>
              <a:t>Keep the changeover under a minute.</a:t>
            </a:r>
          </a:p>
          <a:p>
            <a:pPr marL="0" lvl="0" indent="0" algn="l" rtl="0">
              <a:lnSpc>
                <a:spcPct val="100000"/>
              </a:lnSpc>
              <a:spcBef>
                <a:spcPts val="0"/>
              </a:spcBef>
              <a:spcAft>
                <a:spcPts val="0"/>
              </a:spcAft>
              <a:buSzPts val="1400"/>
              <a:buNone/>
            </a:pPr>
            <a:r>
              <a:t>UIFR: TEACH 6.</a:t>
            </a:r>
          </a:p>
        </p:txBody>
      </p:sp>
      <p:sp>
        <p:nvSpPr>
          <p:cNvPr id="231" name="Google Shape;231;p1: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2: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5 | TASK</a:t>
            </a:r>
          </a:p>
          <a:p>
            <a:pPr>
              <a:buNone/>
            </a:pPr>
            <a:r>
              <a:rPr lang="en-US" sz="1100"/>
              <a:t>Focus on the existing task: This or That?</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use an inverse operation on both sides.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Number-sense routine — every voice in. Give quiet think time, then hear from at least three students.</a:t>
            </a:r>
          </a:p>
          <a:p>
            <a:pPr marL="0" lvl="0" indent="0" algn="l" rtl="0">
              <a:lnSpc>
                <a:spcPct val="100000"/>
              </a:lnSpc>
              <a:spcBef>
                <a:spcPts val="0"/>
              </a:spcBef>
              <a:spcAft>
                <a:spcPts val="0"/>
              </a:spcAft>
              <a:buSzPts val="1400"/>
              <a:buNone/>
            </a:pPr>
            <a:r>
              <a:t>Always follow with “How do you know?” — the reasoning is the point, not the answer.</a:t>
            </a:r>
          </a:p>
          <a:p>
            <a:pPr marL="0" lvl="0" indent="0" algn="l" rtl="0">
              <a:lnSpc>
                <a:spcPct val="100000"/>
              </a:lnSpc>
              <a:spcBef>
                <a:spcPts val="0"/>
              </a:spcBef>
              <a:spcAft>
                <a:spcPts val="0"/>
              </a:spcAft>
              <a:buSzPts val="1400"/>
              <a:buNone/>
            </a:pPr>
            <a:r>
              <a:t>There is more than one path; name and celebrate different strategies.</a:t>
            </a:r>
          </a:p>
          <a:p>
            <a:pPr marL="0" lvl="0" indent="0" algn="l" rtl="0">
              <a:lnSpc>
                <a:spcPct val="100000"/>
              </a:lnSpc>
              <a:spcBef>
                <a:spcPts val="0"/>
              </a:spcBef>
              <a:spcAft>
                <a:spcPts val="0"/>
              </a:spcAft>
              <a:buSzPts val="1400"/>
              <a:buNone/>
            </a:pPr>
            <a:r>
              <a:t>UIFR: TEACH 3 · TEACH 5 · TEACH 6.</a:t>
            </a:r>
          </a:p>
        </p:txBody>
      </p:sp>
      <p:sp>
        <p:nvSpPr>
          <p:cNvPr id="239" name="Google Shape;239;p2:notes"/>
          <p:cNvSpPr txBox="1">
            <a:spLocks noGrp="1"/>
          </p:cNvSpPr>
          <p:nvPr>
            <p:ph type="sldNum" idx="12"/>
          </p:nvPr>
        </p:nvSpPr>
        <p:spPr>
          <a:xfrm>
            <a:off x="3970938" y="8772669"/>
            <a:ext cx="3037840" cy="463406"/>
          </a:xfrm>
          <a:prstGeom prst="rect">
            <a:avLst/>
          </a:prstGeom>
          <a:noFill/>
          <a:ln>
            <a:noFill/>
          </a:ln>
        </p:spPr>
        <p:txBody>
          <a:bodyPr spcFirstLastPara="1" wrap="square" lIns="92275" tIns="46125" rIns="92275" bIns="46125"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5: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a:pPr>
              <a:buNone/>
            </a:pPr>
            <a:r>
              <a:rPr lang="en-US" sz="1100"/>
              <a:t>TEACH IN PRACTICE | Embedded facilitation | Lesson 8.2, slide 6 | GOAL</a:t>
            </a:r>
          </a:p>
          <a:p>
            <a:pPr>
              <a:buNone/>
            </a:pPr>
            <a:r>
              <a:rPr lang="en-US" sz="1100"/>
              <a:t>Focus on the existing task: Today’s Objectives Write and Solve…</a:t>
            </a:r>
          </a:p>
          <a:p>
            <a:pPr>
              <a:buNone/>
            </a:pPr>
            <a:r>
              <a:rPr lang="en-US" sz="1100"/>
              <a:t>CONNECT (T1/4): Ask students to restate the displayed goal or key idea and connect it to earlier work. Relevant lesson evidence: use an inverse operation on both sides; isolate the variable; check in the original equation.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spcBef>
                <a:spcPts val="0"/>
              </a:spcBef>
              <a:spcAft>
                <a:spcPts val="0"/>
              </a:spcAft>
              <a:buNone/>
            </a:pPr>
            <a:r>
              <a:t>Read the objective together, then have one or two students restate today’s goal in their own words.</a:t>
            </a:r>
          </a:p>
          <a:p>
            <a:pPr marL="0" lvl="0" indent="0" algn="l" rtl="0">
              <a:spcBef>
                <a:spcPts val="0"/>
              </a:spcBef>
              <a:spcAft>
                <a:spcPts val="0"/>
              </a:spcAft>
              <a:buNone/>
            </a:pPr>
            <a:r>
              <a:t>Connect it to what the class learned last lesson.</a:t>
            </a:r>
          </a:p>
          <a:p>
            <a:pPr marL="0" lvl="0" indent="0" algn="l" rtl="0">
              <a:spcBef>
                <a:spcPts val="0"/>
              </a:spcBef>
              <a:spcAft>
                <a:spcPts val="0"/>
              </a:spcAft>
              <a:buNone/>
            </a:pPr>
            <a:r>
              <a:t>Return to this goal at the end of class to check it was met.</a:t>
            </a:r>
          </a:p>
          <a:p>
            <a:pPr marL="0" lvl="0" indent="0" algn="l" rtl="0">
              <a:spcBef>
                <a:spcPts val="0"/>
              </a:spcBef>
              <a:spcAft>
                <a:spcPts val="0"/>
              </a:spcAft>
              <a:buNone/>
            </a:pPr>
            <a:r>
              <a:t>UIFR: TEACH 1.</a:t>
            </a:r>
          </a:p>
          <a:p>
            <a:pPr>
              <a:buNone/>
            </a:pPr>
            <a:endParaRP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use an inverse operation on both sides; isolate the variable; check in the original equation. Ask: “Which part of your work would show this?” Revisit that evidence after the task; a confidence rating alone is not evidence of understanding.</a:t>
            </a:r>
          </a:p>
        </p:txBody>
      </p:sp>
      <p:sp>
        <p:nvSpPr>
          <p:cNvPr id="316" name="Google Shape;316;p5: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8.2, slide 7 | PRIOR_INSERT</a:t>
            </a:r>
          </a:p>
          <a:p>
            <a:pPr>
              <a:buNone/>
            </a:pPr>
            <a:r>
              <a:rPr lang="en-US" sz="1100"/>
              <a:t>Focus on the existing task: LESSON 8.2 / OUR LEARNING What will show your learning?</a:t>
            </a:r>
          </a:p>
          <a:p>
            <a:pPr>
              <a:buNone/>
            </a:pPr>
            <a:r>
              <a:rPr lang="en-US" sz="1100"/>
              <a:t>CONNECT (T1/4): Ask students to restate the displayed goal or key idea and connect it to earlier work. Relevant lesson evidence: use an inverse operation on both sides; isolate the variable; check in the original equation.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8.2, slide 8 | VOCAB</a:t>
            </a:r>
          </a:p>
          <a:p>
            <a:pPr>
              <a:buNone/>
            </a:pPr>
            <a:r>
              <a:rPr lang="en-US" sz="1100"/>
              <a:t>Focus on the existing task: Vocabulary 1 of 7 Solve One-Step…</a:t>
            </a:r>
          </a:p>
          <a:p>
            <a:pPr>
              <a:buNone/>
            </a:pPr>
            <a:r>
              <a:rPr lang="en-US" sz="1100"/>
              <a:t>ASK (T1/3/5): Where does “Solve One-Step Addition and Subtraction Equations” appear in the example? Explain the meaning without reading the definition. Partner: restate the idea and ask a clarifying question.</a:t>
            </a:r>
          </a:p>
          <a:p>
            <a:pPr>
              <a:buNone/>
            </a:pPr>
            <a:r>
              <a:rPr lang="en-US" sz="1100"/>
              <a:t>LOOK FOR: A correct connection between the word and a feature of the example. If the student only repeats the definition, invite pointing, sketching or oral rehearsal, then ask for another explanation of this same example.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8.2, slide 9 | VOCAB</a:t>
            </a:r>
          </a:p>
          <a:p>
            <a:pPr>
              <a:buNone/>
            </a:pPr>
            <a:r>
              <a:rPr lang="en-US" sz="1100"/>
              <a:t>Focus on the existing task: Vocabulary 2 of 7 Equation A math…</a:t>
            </a:r>
          </a:p>
          <a:p>
            <a:pPr>
              <a:buNone/>
            </a:pPr>
            <a:r>
              <a:rPr lang="en-US" sz="1100"/>
              <a:t>ASK (T1/3/5): Where does “Equation” appear in the example? Explain the meaning without reading the definition. Partner: restate the idea and ask a clarifying question.</a:t>
            </a:r>
          </a:p>
          <a:p>
            <a:pPr>
              <a:buNone/>
            </a:pPr>
            <a:r>
              <a:rPr lang="en-US" sz="1100"/>
              <a:t>LOOK FOR: A correct connection between the word and a feature of the example. If the student only repeats the definition, invite pointing, sketching or oral rehearsal, then ask for another explanation of this same example.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8.2, slide 10 | VOCAB</a:t>
            </a:r>
          </a:p>
          <a:p>
            <a:pPr>
              <a:buNone/>
            </a:pPr>
            <a:r>
              <a:rPr lang="en-US" sz="1100"/>
              <a:t>Focus on the existing task: Vocabulary 3 of 7 Inverse…</a:t>
            </a:r>
          </a:p>
          <a:p>
            <a:pPr>
              <a:buNone/>
            </a:pPr>
            <a:r>
              <a:rPr lang="en-US" sz="1100"/>
              <a:t>ASK (T1/3/5): Where does “Inverse operation” appear in the example? Explain the meaning without reading the definition. Partner: restate the idea and ask a clarifying question.</a:t>
            </a:r>
          </a:p>
          <a:p>
            <a:pPr>
              <a:buNone/>
            </a:pPr>
            <a:r>
              <a:rPr lang="en-US" sz="1100"/>
              <a:t>LOOK FOR: A correct connection between the word and a feature of the example. If the student only repeats the definition, invite pointing, sketching or oral rehearsal, then ask for another explanation of this same example.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8.2, slide 11 | VOCAB</a:t>
            </a:r>
          </a:p>
          <a:p>
            <a:pPr>
              <a:buNone/>
            </a:pPr>
            <a:r>
              <a:rPr lang="en-US" sz="1100"/>
              <a:t>Focus on the existing task: Vocabulary 4 of 7 Isolate To get…</a:t>
            </a:r>
          </a:p>
          <a:p>
            <a:pPr>
              <a:buNone/>
            </a:pPr>
            <a:r>
              <a:rPr lang="en-US" sz="1100"/>
              <a:t>ASK (T1/3/5): Where does “Isolate” appear in the example? Explain the meaning without reading the definition. Partner: restate the idea and ask a clarifying question.</a:t>
            </a:r>
          </a:p>
          <a:p>
            <a:pPr>
              <a:buNone/>
            </a:pPr>
            <a:r>
              <a:rPr lang="en-US" sz="1100"/>
              <a:t>LOOK FOR: A correct connection between the word and a feature of the example. If the student only repeats the definition, invite pointing, sketching or oral rehearsal, then ask for another explanation of this same example.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8.2, slide 12 | VOCAB</a:t>
            </a:r>
          </a:p>
          <a:p>
            <a:pPr>
              <a:buNone/>
            </a:pPr>
            <a:r>
              <a:rPr lang="en-US" sz="1100"/>
              <a:t>Focus on the existing task: Vocabulary 5 of 7 Solution A…</a:t>
            </a:r>
          </a:p>
          <a:p>
            <a:pPr>
              <a:buNone/>
            </a:pPr>
            <a:r>
              <a:rPr lang="en-US" sz="1100"/>
              <a:t>ASK (T1/3/5): Where does “Solution” appear in the example? Explain the meaning without reading the definition. Partner: restate the idea and ask a clarifying question.</a:t>
            </a:r>
          </a:p>
          <a:p>
            <a:pPr>
              <a:buNone/>
            </a:pPr>
            <a:r>
              <a:rPr lang="en-US" sz="1100"/>
              <a:t>LOOK FOR: A correct connection between the word and a feature of the example. If the student only repeats the definition, invite pointing, sketching or oral rehearsal, then ask for another explanation of this same example.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8.2, slide 13 | VOCAB</a:t>
            </a:r>
          </a:p>
          <a:p>
            <a:pPr>
              <a:buNone/>
            </a:pPr>
            <a:r>
              <a:rPr lang="en-US" sz="1100"/>
              <a:t>Focus on the existing task: Vocabulary 6 of 7 One-step…</a:t>
            </a:r>
          </a:p>
          <a:p>
            <a:pPr>
              <a:buNone/>
            </a:pPr>
            <a:r>
              <a:rPr lang="en-US" sz="1100"/>
              <a:t>ASK (T1/3/5): Where does “One-step equation” appear in the example? Explain the meaning without reading the definition. Partner: restate the idea and ask a clarifying question.</a:t>
            </a:r>
          </a:p>
          <a:p>
            <a:pPr>
              <a:buNone/>
            </a:pPr>
            <a:r>
              <a:rPr lang="en-US" sz="1100"/>
              <a:t>LOOK FOR: A correct connection between the word and a feature of the example. If the student only repeats the definition, invite pointing, sketching or oral rehearsal, then ask for another explanation of this same example.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8.2, slide 14 | VOCAB</a:t>
            </a:r>
          </a:p>
          <a:p>
            <a:pPr>
              <a:buNone/>
            </a:pPr>
            <a:r>
              <a:rPr lang="en-US" sz="1100"/>
              <a:t>Focus on the existing task: Vocabulary 7 of 7 Balance Keeping…</a:t>
            </a:r>
          </a:p>
          <a:p>
            <a:pPr>
              <a:buNone/>
            </a:pPr>
            <a:r>
              <a:rPr lang="en-US" sz="1100"/>
              <a:t>ASK (T1/3/5): Where does “Balance” appear in the example? Explain the meaning without reading the definition. Partner: restate the idea and ask a clarifying question.</a:t>
            </a:r>
          </a:p>
          <a:p>
            <a:pPr>
              <a:buNone/>
            </a:pPr>
            <a:r>
              <a:rPr lang="en-US" sz="1100"/>
              <a:t>LOOK FOR: A correct connection between the word and a feature of the example. If the student only repeats the definition, invite pointing, sketching or oral rehearsal, then ask for another explanation of this same example.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6: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a:pPr>
              <a:buNone/>
            </a:pPr>
            <a:r>
              <a:rPr lang="en-US" sz="1100"/>
              <a:t>TEACH IN PRACTICE | Embedded facilitation | Lesson 8.2, slide 15 | VOCAB</a:t>
            </a:r>
          </a:p>
          <a:p>
            <a:pPr>
              <a:buNone/>
            </a:pPr>
            <a:r>
              <a:rPr lang="en-US" sz="1100"/>
              <a:t>Focus on the existing task: Vocabulary Today’s Math Words We…</a:t>
            </a:r>
          </a:p>
          <a:p>
            <a:pPr>
              <a:buNone/>
            </a:pPr>
            <a:r>
              <a:rPr lang="en-US" sz="1100"/>
              <a:t>ASK (T1/3/5): Where does “the displayed term” appear in the example? Explain the meaning without reading the definition. Partner: restate the idea and ask a clarifying question.</a:t>
            </a:r>
          </a:p>
          <a:p>
            <a:pPr>
              <a:buNone/>
            </a:pPr>
            <a:r>
              <a:rPr lang="en-US" sz="1100"/>
              <a:t>LOOK FOR: A correct connection between the word and a feature of the example. If the student only repeats the definition, invite pointing, sketching or oral rehearsal, then ask for another explanation of this same example.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spcBef>
                <a:spcPts val="0"/>
              </a:spcBef>
              <a:spcAft>
                <a:spcPts val="0"/>
              </a:spcAft>
              <a:buNone/>
            </a:pPr>
            <a:r>
              <a:t>Choral-read each word, its meaning, and what it looks like.</a:t>
            </a:r>
          </a:p>
          <a:p>
            <a:pPr marL="0" lvl="0" indent="0" algn="l" rtl="0">
              <a:spcBef>
                <a:spcPts val="0"/>
              </a:spcBef>
              <a:spcAft>
                <a:spcPts val="0"/>
              </a:spcAft>
              <a:buNone/>
            </a:pPr>
            <a:r>
              <a:t>Students should use these words out loud today — listen for them in partner talk and revoice student ideas with the academic term.</a:t>
            </a:r>
          </a:p>
          <a:p>
            <a:pPr marL="0" lvl="0" indent="0" algn="l" rtl="0">
              <a:spcBef>
                <a:spcPts val="0"/>
              </a:spcBef>
              <a:spcAft>
                <a:spcPts val="0"/>
              </a:spcAft>
              <a:buNone/>
            </a:pPr>
            <a:r>
              <a:t>UIFR: TEACH 1 · TEACH 5.</a:t>
            </a:r>
          </a:p>
        </p:txBody>
      </p:sp>
      <p:sp>
        <p:nvSpPr>
          <p:cNvPr id="338" name="Google Shape;338;p6: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17: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16 | CURIOUS</a:t>
            </a:r>
          </a:p>
          <a:p>
            <a:pPr>
              <a:buNone/>
            </a:pPr>
            <a:r>
              <a:rPr lang="en-US" sz="1100"/>
              <a:t>Focus on the existing task: Be Curious What do you notice?</a:t>
            </a:r>
          </a:p>
          <a:p>
            <a:pPr>
              <a:buNone/>
            </a:pPr>
            <a:r>
              <a:rPr lang="en-US" sz="1100"/>
              <a:t>LAUNCH (T2/3/5): Allow quiet observation first. Separate a notice from an inference, invite students’ own questions, and follow the existing launch before teaching a procedure.</a:t>
            </a:r>
          </a:p>
          <a:p>
            <a:pPr>
              <a:buNone/>
            </a:pPr>
            <a:r>
              <a:rPr lang="en-US" sz="1100"/>
              <a:t>LOOK FOR (T4): Where this task addresses it, students can use an inverse operation on both sides.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Accept all noticings and wonderings — there are no wrong answers here.</a:t>
            </a:r>
          </a:p>
          <a:p>
            <a:pPr marL="0" lvl="0" indent="0" algn="l" rtl="0">
              <a:lnSpc>
                <a:spcPct val="100000"/>
              </a:lnSpc>
              <a:spcBef>
                <a:spcPts val="0"/>
              </a:spcBef>
              <a:spcAft>
                <a:spcPts val="0"/>
              </a:spcAft>
              <a:buSzPts val="1400"/>
              <a:buNone/>
            </a:pPr>
            <a:r>
              <a:t>Give 20–30 seconds of quiet think time before taking responses; mix cold and warm calls so it is not always the same voices.</a:t>
            </a:r>
          </a:p>
          <a:p>
            <a:pPr marL="0" lvl="0" indent="0" algn="l" rtl="0">
              <a:lnSpc>
                <a:spcPct val="100000"/>
              </a:lnSpc>
              <a:spcBef>
                <a:spcPts val="0"/>
              </a:spcBef>
              <a:spcAft>
                <a:spcPts val="0"/>
              </a:spcAft>
              <a:buSzPts val="1400"/>
              <a:buNone/>
            </a:pPr>
            <a:r>
              <a:t>Read the mindset question aloud and let two students respond.</a:t>
            </a:r>
          </a:p>
          <a:p>
            <a:pPr marL="0" lvl="0" indent="0" algn="l" rtl="0">
              <a:lnSpc>
                <a:spcPct val="100000"/>
              </a:lnSpc>
              <a:spcBef>
                <a:spcPts val="0"/>
              </a:spcBef>
              <a:spcAft>
                <a:spcPts val="0"/>
              </a:spcAft>
              <a:buSzPts val="1400"/>
              <a:buNone/>
            </a:pPr>
            <a:r>
              <a:t>UIFR: TEACH 3 · TEACH 7.</a:t>
            </a:r>
          </a:p>
        </p:txBody>
      </p:sp>
      <p:sp>
        <p:nvSpPr>
          <p:cNvPr id="569" name="Google Shape;569;p17: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20: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17 | REVEAL</a:t>
            </a:r>
          </a:p>
          <a:p>
            <a:pPr>
              <a:buNone/>
            </a:pPr>
            <a:r>
              <a:rPr lang="en-US" sz="1100"/>
              <a:t>Focus on the existing task: Eduardo’s Biking Adventures On Sunday, Eduardo biked the route shown. This was 6.6 more kilometers than he biked on Saturday. How many kilometers did Eduardo bike on Saturday?</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use an inverse operation on both sides.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Do not click yet: collect 2–3 student answers with reasons first.</a:t>
            </a:r>
          </a:p>
          <a:p>
            <a:pPr marL="0" lvl="0" indent="0" algn="l" rtl="0">
              <a:lnSpc>
                <a:spcPct val="100000"/>
              </a:lnSpc>
              <a:spcBef>
                <a:spcPts val="0"/>
              </a:spcBef>
              <a:spcAft>
                <a:spcPts val="0"/>
              </a:spcAft>
              <a:buSzPts val="1400"/>
              <a:buNone/>
            </a:pPr>
            <a:r>
              <a:t>Then click to remove the cover and have students compare their thinking to the reveal — “Is this what we said? Where is it different?”</a:t>
            </a:r>
          </a:p>
          <a:p>
            <a:pPr marL="0" lvl="0" indent="0" algn="l" rtl="0">
              <a:lnSpc>
                <a:spcPct val="100000"/>
              </a:lnSpc>
              <a:spcBef>
                <a:spcPts val="0"/>
              </a:spcBef>
              <a:spcAft>
                <a:spcPts val="0"/>
              </a:spcAft>
              <a:buSzPts val="1400"/>
              <a:buNone/>
            </a:pPr>
            <a:r>
              <a:t>Behind the cover: Eduardo biked some distance on Saturday. He biked 24.5 kilometers on Sunday. He biked 6.6 kilometers more on Sunday than he did on Saturday. The number of kilometers Eduardo biked on Saturday is unknown.</a:t>
            </a:r>
          </a:p>
          <a:p>
            <a:pPr marL="0" lvl="0" indent="0" algn="l" rtl="0">
              <a:lnSpc>
                <a:spcPct val="100000"/>
              </a:lnSpc>
              <a:spcBef>
                <a:spcPts val="0"/>
              </a:spcBef>
              <a:spcAft>
                <a:spcPts val="0"/>
              </a:spcAft>
              <a:buSzPts val="1400"/>
              <a:buNone/>
            </a:pPr>
            <a:r>
              <a:t>UIFR: TEACH 3 · TEACH 4.</a:t>
            </a:r>
          </a:p>
          <a:p>
            <a:pPr>
              <a:buNone/>
            </a:pPr>
            <a:endParaRP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“Why does this operation preserve equality, and how will you check the solution?” Wait for evidence, invite another pathway, and have a student ask a follow-up question. Do not replace students’ reasoning with a sequence of leading steps.</a:t>
            </a:r>
          </a:p>
        </p:txBody>
      </p:sp>
      <p:sp>
        <p:nvSpPr>
          <p:cNvPr id="599" name="Google Shape;599;p20: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p21: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18 | WORKED</a:t>
            </a:r>
          </a:p>
          <a:p>
            <a:pPr>
              <a:buNone/>
            </a:pPr>
            <a:r>
              <a:rPr lang="en-US" sz="1100"/>
              <a:t>Focus on the existing task: Eduardo’s Biking Adventures One approach to solving the problem is to make sense of quantities and their relationships. Eduardo biked 6.6…</a:t>
            </a:r>
          </a:p>
          <a:p>
            <a:pPr>
              <a:buNone/>
            </a:pPr>
            <a:r>
              <a:rPr lang="en-US" sz="1100"/>
              <a:t>LAUNCH (T2/3/5): Ask students to explain the displayed idea or example and point to evidence. When a calculation step is shown, ask why it is valid. Have a partner restate the explanation; copying is not the check.</a:t>
            </a:r>
          </a:p>
          <a:p>
            <a:pPr>
              <a:buNone/>
            </a:pPr>
            <a:r>
              <a:rPr lang="en-US" sz="1100"/>
              <a:t>LOOK FOR (T4): Where this task addresses it, students can use an inverse operation on both sides.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Model briefly, then hand the thinking back: ask “Why does this step work?” before showing the next one.</a:t>
            </a:r>
          </a:p>
          <a:p>
            <a:pPr marL="0" lvl="0" indent="0" algn="l" rtl="0">
              <a:lnSpc>
                <a:spcPct val="100000"/>
              </a:lnSpc>
              <a:spcBef>
                <a:spcPts val="0"/>
              </a:spcBef>
              <a:spcAft>
                <a:spcPts val="0"/>
              </a:spcAft>
              <a:buSzPts val="1400"/>
              <a:buNone/>
            </a:pPr>
            <a:r>
              <a:t>Quick check before moving on — thumbs or whiteboards from everyone, not volunteers.</a:t>
            </a:r>
          </a:p>
          <a:p>
            <a:pPr marL="0" lvl="0" indent="0" algn="l" rtl="0">
              <a:lnSpc>
                <a:spcPct val="100000"/>
              </a:lnSpc>
              <a:spcBef>
                <a:spcPts val="0"/>
              </a:spcBef>
              <a:spcAft>
                <a:spcPts val="0"/>
              </a:spcAft>
              <a:buSzPts val="1400"/>
              <a:buNone/>
            </a:pPr>
            <a:r>
              <a:t>UIFR: TEACH 2 · TEACH 3 · TEACH 4.</a:t>
            </a:r>
          </a:p>
        </p:txBody>
      </p:sp>
      <p:sp>
        <p:nvSpPr>
          <p:cNvPr id="609" name="Google Shape;609;p21: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23: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19 | REVEAL</a:t>
            </a:r>
          </a:p>
          <a:p>
            <a:pPr>
              <a:buNone/>
            </a:pPr>
            <a:r>
              <a:rPr lang="en-US" sz="1100"/>
              <a:t>Focus on the existing task: Eduardo’s Biking Adventures What are some tools, both visual and algebraic, you can use to show the relationship between the quantities?</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use an inverse operation on both sides.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Do not click yet: collect 2–3 student answers with reasons first.</a:t>
            </a:r>
          </a:p>
          <a:p>
            <a:pPr marL="0" lvl="0" indent="0" algn="l" rtl="0">
              <a:lnSpc>
                <a:spcPct val="100000"/>
              </a:lnSpc>
              <a:spcBef>
                <a:spcPts val="0"/>
              </a:spcBef>
              <a:spcAft>
                <a:spcPts val="0"/>
              </a:spcAft>
              <a:buSzPts val="1400"/>
              <a:buNone/>
            </a:pPr>
            <a:r>
              <a:t>Then click to remove the cover and have students compare their thinking to the reveal — “Is this what we said? Where is it different?”</a:t>
            </a:r>
          </a:p>
          <a:p>
            <a:pPr marL="0" lvl="0" indent="0" algn="l" rtl="0">
              <a:lnSpc>
                <a:spcPct val="100000"/>
              </a:lnSpc>
              <a:spcBef>
                <a:spcPts val="0"/>
              </a:spcBef>
              <a:spcAft>
                <a:spcPts val="0"/>
              </a:spcAft>
              <a:buSzPts val="1400"/>
              <a:buNone/>
            </a:pPr>
            <a:r>
              <a:t>Behind the cover: Some tools include a tape diagram and an equation.</a:t>
            </a:r>
          </a:p>
          <a:p>
            <a:pPr marL="0" lvl="0" indent="0" algn="l" rtl="0">
              <a:lnSpc>
                <a:spcPct val="100000"/>
              </a:lnSpc>
              <a:spcBef>
                <a:spcPts val="0"/>
              </a:spcBef>
              <a:spcAft>
                <a:spcPts val="0"/>
              </a:spcAft>
              <a:buSzPts val="1400"/>
              <a:buNone/>
            </a:pPr>
            <a:r>
              <a:t>UIFR: TEACH 3 · TEACH 4.</a:t>
            </a:r>
          </a:p>
        </p:txBody>
      </p:sp>
      <p:sp>
        <p:nvSpPr>
          <p:cNvPr id="624" name="Google Shape;624;p23: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25: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20 | COLLABORATE</a:t>
            </a:r>
          </a:p>
          <a:p>
            <a:pPr>
              <a:buNone/>
            </a:pPr>
            <a:r>
              <a:rPr lang="en-US" sz="1100"/>
              <a:t>Focus on the existing task: Collaborate and Connect We can use a tape diagram and an equation to show the relationship between the quantities. Eduardo biked 24.5…</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check in the original equation.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endParaRPr/>
          </a:p>
          <a:p>
            <a:r>
              <a:rPr lang="en-US"/>
              <a:t>Routine: COLLABORATE  ·  TALK IT THROUGH • AGREE ON A MODEL</a:t>
            </a:r>
          </a:p>
          <a:p>
            <a:pPr>
              <a:buNone/>
            </a:pPr>
            <a:endParaRPr lang="en-US"/>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changing only one side or using the same operation instead of its inverse. If it appears, show the same operation under both sides of the original equation; then ask the student to revise the same response and explain the change. If evidence is secure, have students compare a second valid pathway or state why their approach works. Choose the next step from the responses, not a preset pace.</a:t>
            </a:r>
          </a:p>
        </p:txBody>
      </p:sp>
      <p:sp>
        <p:nvSpPr>
          <p:cNvPr id="643" name="Google Shape;643;p25: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29: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21 | TASK</a:t>
            </a:r>
          </a:p>
          <a:p>
            <a:pPr>
              <a:buNone/>
            </a:pPr>
            <a:r>
              <a:rPr lang="en-US" sz="1100"/>
              <a:t>Focus on the existing task: Eduardo’s Biking Adventures We can use an addition equation to represent the relationship. How can you use a related operation to find the value of the unknown?</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use an inverse operation on both sides.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Model briefly, then hand the thinking back: ask “Why does this step work?” before showing the next one.</a:t>
            </a:r>
          </a:p>
          <a:p>
            <a:pPr marL="0" lvl="0" indent="0" algn="l" rtl="0">
              <a:lnSpc>
                <a:spcPct val="100000"/>
              </a:lnSpc>
              <a:spcBef>
                <a:spcPts val="0"/>
              </a:spcBef>
              <a:spcAft>
                <a:spcPts val="0"/>
              </a:spcAft>
              <a:buSzPts val="1400"/>
              <a:buNone/>
            </a:pPr>
            <a:r>
              <a:t>Quick check before moving on — thumbs or whiteboards from everyone, not volunteers.</a:t>
            </a:r>
          </a:p>
          <a:p>
            <a:pPr marL="0" lvl="0" indent="0" algn="l" rtl="0">
              <a:lnSpc>
                <a:spcPct val="100000"/>
              </a:lnSpc>
              <a:spcBef>
                <a:spcPts val="0"/>
              </a:spcBef>
              <a:spcAft>
                <a:spcPts val="0"/>
              </a:spcAft>
              <a:buSzPts val="1400"/>
              <a:buNone/>
            </a:pPr>
            <a:r>
              <a:t>UIFR: TEACH 2 · TEACH 3 · TEACH 4.</a:t>
            </a:r>
          </a:p>
        </p:txBody>
      </p:sp>
      <p:sp>
        <p:nvSpPr>
          <p:cNvPr id="684" name="Google Shape;684;p29: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32: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22 | TASK</a:t>
            </a:r>
          </a:p>
          <a:p>
            <a:pPr>
              <a:buNone/>
            </a:pPr>
            <a:r>
              <a:rPr lang="en-US" sz="1100"/>
              <a:t>Focus on the existing task: Eduardo’s Biking Adventures Persevering How could you check your answer?</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check in the original equation.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Model briefly, then hand the thinking back: ask “Why does this step work?” before showing the next one.</a:t>
            </a:r>
          </a:p>
          <a:p>
            <a:pPr marL="0" lvl="0" indent="0" algn="l" rtl="0">
              <a:lnSpc>
                <a:spcPct val="100000"/>
              </a:lnSpc>
              <a:spcBef>
                <a:spcPts val="0"/>
              </a:spcBef>
              <a:spcAft>
                <a:spcPts val="0"/>
              </a:spcAft>
              <a:buSzPts val="1400"/>
              <a:buNone/>
            </a:pPr>
            <a:r>
              <a:t>Quick check before moving on — thumbs or whiteboards from everyone, not volunteers.</a:t>
            </a:r>
          </a:p>
          <a:p>
            <a:pPr marL="0" lvl="0" indent="0" algn="l" rtl="0">
              <a:lnSpc>
                <a:spcPct val="100000"/>
              </a:lnSpc>
              <a:spcBef>
                <a:spcPts val="0"/>
              </a:spcBef>
              <a:spcAft>
                <a:spcPts val="0"/>
              </a:spcAft>
              <a:buSzPts val="1400"/>
              <a:buNone/>
            </a:pPr>
            <a:r>
              <a:t>UIFR: TEACH 2 · TEACH 3 · TEACH 4.</a:t>
            </a:r>
          </a:p>
        </p:txBody>
      </p:sp>
      <p:sp>
        <p:nvSpPr>
          <p:cNvPr id="711" name="Google Shape;711;p32: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p34: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23 | PRACTICE</a:t>
            </a:r>
          </a:p>
          <a:p>
            <a:pPr>
              <a:buNone/>
            </a:pPr>
            <a:r>
              <a:rPr lang="en-US" sz="1100"/>
              <a:t>Focus on the existing task: Let’s Explore More How would the equation, 4 1 2 p = 36, change if they used wooden planks that were 6 inches wide instead of 4 1 2 inches wide?</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use an inverse operation on both sides.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Extension for partners or table groups — students choose their approach and use the workspace to show thinking.</a:t>
            </a:r>
          </a:p>
          <a:p>
            <a:pPr marL="0" lvl="0" indent="0" algn="l" rtl="0">
              <a:lnSpc>
                <a:spcPct val="100000"/>
              </a:lnSpc>
              <a:spcBef>
                <a:spcPts val="0"/>
              </a:spcBef>
              <a:spcAft>
                <a:spcPts val="0"/>
              </a:spcAft>
              <a:buSzPts val="1400"/>
              <a:buNone/>
            </a:pPr>
            <a:r>
              <a:t>Push with “Convince me,” and have two groups with different approaches share.</a:t>
            </a:r>
          </a:p>
          <a:p>
            <a:pPr marL="0" lvl="0" indent="0" algn="l" rtl="0">
              <a:lnSpc>
                <a:spcPct val="100000"/>
              </a:lnSpc>
              <a:spcBef>
                <a:spcPts val="0"/>
              </a:spcBef>
              <a:spcAft>
                <a:spcPts val="0"/>
              </a:spcAft>
              <a:buSzPts val="1400"/>
              <a:buNone/>
            </a:pPr>
            <a:r>
              <a:t>This is where students stretch past the worked example.</a:t>
            </a:r>
          </a:p>
          <a:p>
            <a:pPr marL="0" lvl="0" indent="0" algn="l" rtl="0">
              <a:lnSpc>
                <a:spcPct val="100000"/>
              </a:lnSpc>
              <a:spcBef>
                <a:spcPts val="0"/>
              </a:spcBef>
              <a:spcAft>
                <a:spcPts val="0"/>
              </a:spcAft>
              <a:buSzPts val="1400"/>
              <a:buNone/>
            </a:pPr>
            <a:r>
              <a:t>UIFR: TEACH 2 · TEACH 5.</a:t>
            </a:r>
          </a:p>
        </p:txBody>
      </p:sp>
      <p:sp>
        <p:nvSpPr>
          <p:cNvPr id="733" name="Google Shape;733;p34: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8.2, slide 24 | PRIOR_INSERT</a:t>
            </a:r>
          </a:p>
          <a:p>
            <a:pPr>
              <a:buNone/>
            </a:pPr>
            <a:r>
              <a:rPr lang="en-US" sz="1100"/>
              <a:t>Focus on the existing task: Point to evidence in your work. Then compare your approach with a partner’s. TAKE TURNS Explain “I know this because…” Ask “Where does your work show that?</a:t>
            </a:r>
          </a:p>
          <a:p>
            <a:pPr>
              <a:buNone/>
            </a:pPr>
            <a:r>
              <a:rPr lang="en-US" sz="1100"/>
              <a:t>CONNECT (T1/4): Ask students to restate the displayed goal or key idea and connect it to earlier work. Relevant lesson evidence: use an inverse operation on both sides; isolate the variable; check in the original equation.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a:spLocks noGrp="1"/>
          </p:cNvSpPr>
          <p:nvPr>
            <p:ph type="body" idx="1"/>
          </p:nvPr>
        </p:nvSpPr>
        <p:spPr>
          <a:xfrm>
            <a:off x="701040" y="4444862"/>
            <a:ext cx="5608320" cy="3636705"/>
          </a:xfrm>
          <a:prstGeom prst="rect">
            <a:avLst/>
          </a:prstGeom>
          <a:noFill/>
          <a:ln>
            <a:noFill/>
          </a:ln>
        </p:spPr>
        <p:txBody>
          <a:bodyPr wrap="square" anchor="t">
            <a:noAutofit/>
          </a:bodyPr>
          <a:lstStyle/>
          <a:p>
            <a:pPr>
              <a:buNone/>
            </a:pPr>
            <a:r>
              <a:rPr lang="en-US" sz="1100"/>
              <a:t>TEACH IN PRACTICE | Embedded facilitation | Lesson 8.2, slide 25 | WARMUP</a:t>
            </a:r>
          </a:p>
          <a:p>
            <a:pPr>
              <a:buNone/>
            </a:pPr>
            <a:r>
              <a:rPr lang="en-US" sz="1100"/>
              <a:t>Focus on the existing task: A Multiplication B Subtraction C Division D Exponents 2 To solve x + 8 = 15, which operation isolates x?</a:t>
            </a:r>
          </a:p>
          <a:p>
            <a:pPr>
              <a:buNone/>
            </a:pPr>
            <a:r>
              <a:rPr lang="en-US" sz="1100"/>
              <a:t>GATHER EVIDENCE (T4/6): Keep the original items. Students try independently, mark an uncertain item, and explain one method before checking. Use the existing key when present.</a:t>
            </a:r>
          </a:p>
          <a:p>
            <a:pPr>
              <a:buNone/>
            </a:pPr>
            <a:r>
              <a:rPr lang="en-US" sz="1100"/>
              <a:t>RESPOND: Distinguish a calculation slip from a reasoning gap. Give one next step on the same item; have students revise in a second color. Use the responses to choose flexible support for today’s lesson.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endParaRP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use an inverse operation on both sides; isolate the variable; check in the original equation. Ask: “Which part of your work would show this?” Revisit that evidence after the task; a confidence rating alone is not evidence of understanding.</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a:spLocks noGrp="1"/>
          </p:cNvSpPr>
          <p:nvPr>
            <p:ph type="body" idx="1"/>
          </p:nvPr>
        </p:nvSpPr>
        <p:spPr>
          <a:xfrm>
            <a:off x="701040" y="4444862"/>
            <a:ext cx="5608320" cy="3636705"/>
          </a:xfrm>
          <a:prstGeom prst="rect">
            <a:avLst/>
          </a:prstGeom>
          <a:noFill/>
          <a:ln>
            <a:noFill/>
          </a:ln>
        </p:spPr>
        <p:txBody>
          <a:bodyPr wrap="square" anchor="t">
            <a:noAutofit/>
          </a:bodyPr>
          <a:lstStyle/>
          <a:p>
            <a:pPr>
              <a:buNone/>
            </a:pPr>
            <a:r>
              <a:rPr lang="en-US" sz="1100"/>
              <a:t>TEACH IN PRACTICE | Embedded facilitation | Lesson 8.2, slide 26 | NOTES</a:t>
            </a:r>
          </a:p>
          <a:p>
            <a:pPr>
              <a:buNone/>
            </a:pPr>
            <a:r>
              <a:rPr lang="en-US" sz="1100"/>
              <a:t>Focus on the existing task: Today’s Math Notes Review Notes…</a:t>
            </a:r>
          </a:p>
          <a:p>
            <a:pPr>
              <a:buNone/>
            </a:pPr>
            <a:r>
              <a:rPr lang="en-US" sz="1100"/>
              <a:t>ROUTINE (T1/2/4): Read or copy the original notes, cover one line, and explain it using the displayed example. Reopen and correct. Copying alone is not evidence of understanding.</a:t>
            </a:r>
          </a:p>
          <a:p>
            <a:pPr>
              <a:buNone/>
            </a:pPr>
            <a:r>
              <a:rPr lang="en-US" sz="1100"/>
              <a:t>LOOK FOR: A link between a symbol, quantity or feature and the explanation. If missing, point back to that feature and have the student try again; fade the prompt once they can explain.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p35: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27 | DIVIDER</a:t>
            </a:r>
          </a:p>
          <a:p>
            <a:pPr>
              <a:buNone/>
            </a:pPr>
            <a:r>
              <a:rPr lang="en-US" sz="1100"/>
              <a:t>Focus on the existing task: Write and Solve Equations Using Addition or Subtraction Session 2</a:t>
            </a:r>
          </a:p>
          <a:p>
            <a:pPr>
              <a:buNone/>
            </a:pPr>
            <a:r>
              <a:rPr lang="en-US" sz="1100"/>
              <a:t>TRANSITION (T6/7): Students confirm materials, roles, how to request help, and the next response routine. Ask a student to restate it. Keep teacher-only slides hidden.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Transition cue: state what materials are out and what success looks like this session.</a:t>
            </a:r>
          </a:p>
          <a:p>
            <a:pPr marL="0" lvl="0" indent="0" algn="l" rtl="0">
              <a:lnSpc>
                <a:spcPct val="100000"/>
              </a:lnSpc>
              <a:spcBef>
                <a:spcPts val="0"/>
              </a:spcBef>
              <a:spcAft>
                <a:spcPts val="0"/>
              </a:spcAft>
              <a:buSzPts val="1400"/>
              <a:buNone/>
            </a:pPr>
            <a:r>
              <a:t>Keep the changeover under a minute.</a:t>
            </a:r>
          </a:p>
          <a:p>
            <a:pPr marL="0" lvl="0" indent="0" algn="l" rtl="0">
              <a:lnSpc>
                <a:spcPct val="100000"/>
              </a:lnSpc>
              <a:spcBef>
                <a:spcPts val="0"/>
              </a:spcBef>
              <a:spcAft>
                <a:spcPts val="0"/>
              </a:spcAft>
              <a:buSzPts val="1400"/>
              <a:buNone/>
            </a:pPr>
            <a:r>
              <a:t>UIFR: TEACH 6.</a:t>
            </a:r>
          </a:p>
        </p:txBody>
      </p:sp>
      <p:sp>
        <p:nvSpPr>
          <p:cNvPr id="745" name="Google Shape;745;p35: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p39: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28 | TASK</a:t>
            </a:r>
          </a:p>
          <a:p>
            <a:pPr>
              <a:buNone/>
            </a:pPr>
            <a:r>
              <a:rPr lang="en-US" sz="1100"/>
              <a:t>Focus on the existing task: Tracking Sales Have you seen problems like this before?</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use an inverse operation on both sides.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Read the context aloud (or have a student read it).</a:t>
            </a:r>
          </a:p>
          <a:p>
            <a:pPr marL="0" lvl="0" indent="0" algn="l" rtl="0">
              <a:lnSpc>
                <a:spcPct val="100000"/>
              </a:lnSpc>
              <a:spcBef>
                <a:spcPts val="0"/>
              </a:spcBef>
              <a:spcAft>
                <a:spcPts val="0"/>
              </a:spcAft>
              <a:buSzPts val="1400"/>
              <a:buNone/>
            </a:pPr>
            <a:r>
              <a:t>Before any math, students restate the situation and what is being asked in their own words.</a:t>
            </a:r>
          </a:p>
          <a:p>
            <a:pPr marL="0" lvl="0" indent="0" algn="l" rtl="0">
              <a:lnSpc>
                <a:spcPct val="100000"/>
              </a:lnSpc>
              <a:spcBef>
                <a:spcPts val="0"/>
              </a:spcBef>
              <a:spcAft>
                <a:spcPts val="0"/>
              </a:spcAft>
              <a:buSzPts val="1400"/>
              <a:buNone/>
            </a:pPr>
            <a:r>
              <a:t>Ask: Have you seen problems like this before?</a:t>
            </a:r>
          </a:p>
          <a:p>
            <a:pPr marL="0" lvl="0" indent="0" algn="l" rtl="0">
              <a:lnSpc>
                <a:spcPct val="100000"/>
              </a:lnSpc>
              <a:spcBef>
                <a:spcPts val="0"/>
              </a:spcBef>
              <a:spcAft>
                <a:spcPts val="0"/>
              </a:spcAft>
              <a:buSzPts val="1400"/>
              <a:buNone/>
            </a:pPr>
            <a:r>
              <a:t>UIFR: TEACH 1 · TEACH 3.</a:t>
            </a:r>
          </a:p>
          <a:p>
            <a:pPr>
              <a:buNone/>
            </a:pPr>
            <a:endParaRP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“Why does this operation preserve equality, and how will you check the solution?” Wait for evidence, invite another pathway, and have a student ask a follow-up question. Do not replace students’ reasoning with a sequence of leading steps.</a:t>
            </a:r>
          </a:p>
        </p:txBody>
      </p:sp>
      <p:sp>
        <p:nvSpPr>
          <p:cNvPr id="788" name="Google Shape;788;p39: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p40: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29 | TASK</a:t>
            </a:r>
          </a:p>
          <a:p>
            <a:pPr>
              <a:buNone/>
            </a:pPr>
            <a:r>
              <a:rPr lang="en-US" sz="1100"/>
              <a:t>Focus on the existing task: What are the quantities in the problem?</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use an inverse operation on both sides.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Read the context aloud (or have a student read it).</a:t>
            </a:r>
          </a:p>
          <a:p>
            <a:pPr marL="0" lvl="0" indent="0" algn="l" rtl="0">
              <a:lnSpc>
                <a:spcPct val="100000"/>
              </a:lnSpc>
              <a:spcBef>
                <a:spcPts val="0"/>
              </a:spcBef>
              <a:spcAft>
                <a:spcPts val="0"/>
              </a:spcAft>
              <a:buSzPts val="1400"/>
              <a:buNone/>
            </a:pPr>
            <a:r>
              <a:t>Before any math, students restate the situation and what is being asked in their own words.</a:t>
            </a:r>
          </a:p>
          <a:p>
            <a:pPr marL="0" lvl="0" indent="0" algn="l" rtl="0">
              <a:lnSpc>
                <a:spcPct val="100000"/>
              </a:lnSpc>
              <a:spcBef>
                <a:spcPts val="0"/>
              </a:spcBef>
              <a:spcAft>
                <a:spcPts val="0"/>
              </a:spcAft>
              <a:buSzPts val="1400"/>
              <a:buNone/>
            </a:pPr>
            <a:r>
              <a:t>Ask: What are the quantities in the problem?</a:t>
            </a:r>
          </a:p>
          <a:p>
            <a:pPr marL="0" lvl="0" indent="0" algn="l" rtl="0">
              <a:lnSpc>
                <a:spcPct val="100000"/>
              </a:lnSpc>
              <a:spcBef>
                <a:spcPts val="0"/>
              </a:spcBef>
              <a:spcAft>
                <a:spcPts val="0"/>
              </a:spcAft>
              <a:buSzPts val="1400"/>
              <a:buNone/>
            </a:pPr>
            <a:r>
              <a:t>UIFR: TEACH 1 · TEACH 3.</a:t>
            </a:r>
          </a:p>
        </p:txBody>
      </p:sp>
      <p:sp>
        <p:nvSpPr>
          <p:cNvPr id="800" name="Google Shape;800;p40: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p42: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30 | REVEAL</a:t>
            </a:r>
          </a:p>
          <a:p>
            <a:pPr>
              <a:buNone/>
            </a:pPr>
            <a:r>
              <a:rPr lang="en-US" sz="1100"/>
              <a:t>Focus on the existing task: Tracking Sales What are the quantities in the problem?</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use an inverse operation on both sides.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Do not click yet: collect 2–3 student answers with reasons first.</a:t>
            </a:r>
          </a:p>
          <a:p>
            <a:pPr marL="0" lvl="0" indent="0" algn="l" rtl="0">
              <a:lnSpc>
                <a:spcPct val="100000"/>
              </a:lnSpc>
              <a:spcBef>
                <a:spcPts val="0"/>
              </a:spcBef>
              <a:spcAft>
                <a:spcPts val="0"/>
              </a:spcAft>
              <a:buSzPts val="1400"/>
              <a:buNone/>
            </a:pPr>
            <a:r>
              <a:t>Then click to remove the cover and have students compare their thinking to the reveal — “Is this what we said? Where is it different?”</a:t>
            </a:r>
          </a:p>
          <a:p>
            <a:pPr marL="0" lvl="0" indent="0" algn="l" rtl="0">
              <a:lnSpc>
                <a:spcPct val="100000"/>
              </a:lnSpc>
              <a:spcBef>
                <a:spcPts val="0"/>
              </a:spcBef>
              <a:spcAft>
                <a:spcPts val="0"/>
              </a:spcAft>
              <a:buSzPts val="1400"/>
              <a:buNone/>
            </a:pPr>
            <a:r>
              <a:t>Behind the cover: The quantities are: the total amount raised at the walk-a-thon the amount donated to the food pantry and the amount remaining after donating to the food pantry</a:t>
            </a:r>
          </a:p>
          <a:p>
            <a:pPr marL="0" lvl="0" indent="0" algn="l" rtl="0">
              <a:lnSpc>
                <a:spcPct val="100000"/>
              </a:lnSpc>
              <a:spcBef>
                <a:spcPts val="0"/>
              </a:spcBef>
              <a:spcAft>
                <a:spcPts val="0"/>
              </a:spcAft>
              <a:buSzPts val="1400"/>
              <a:buNone/>
            </a:pPr>
            <a:r>
              <a:t>UIFR: TEACH 3 · TEACH 4.</a:t>
            </a:r>
          </a:p>
        </p:txBody>
      </p:sp>
      <p:sp>
        <p:nvSpPr>
          <p:cNvPr id="818" name="Google Shape;818;p42: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p44: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31 | REVEAL</a:t>
            </a:r>
          </a:p>
          <a:p>
            <a:pPr>
              <a:buNone/>
            </a:pPr>
            <a:r>
              <a:rPr lang="en-US" sz="1100"/>
              <a:t>Focus on the existing task: Tracking Sales How can you represent the relationship algebraically?</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isolate the variable.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Do not click yet: collect 2–3 student answers with reasons first.</a:t>
            </a:r>
          </a:p>
          <a:p>
            <a:pPr marL="0" lvl="0" indent="0" algn="l" rtl="0">
              <a:lnSpc>
                <a:spcPct val="100000"/>
              </a:lnSpc>
              <a:spcBef>
                <a:spcPts val="0"/>
              </a:spcBef>
              <a:spcAft>
                <a:spcPts val="0"/>
              </a:spcAft>
              <a:buSzPts val="1400"/>
              <a:buNone/>
            </a:pPr>
            <a:r>
              <a:t>Then click to remove the cover and have students compare their thinking to the reveal — “Is this what we said? Where is it different?”</a:t>
            </a:r>
          </a:p>
          <a:p>
            <a:pPr marL="0" lvl="0" indent="0" algn="l" rtl="0">
              <a:lnSpc>
                <a:spcPct val="100000"/>
              </a:lnSpc>
              <a:spcBef>
                <a:spcPts val="0"/>
              </a:spcBef>
              <a:spcAft>
                <a:spcPts val="0"/>
              </a:spcAft>
              <a:buSzPts val="1400"/>
              <a:buNone/>
            </a:pPr>
            <a:r>
              <a:t>Behind the cover: We can use the known values and a variable to write an equation.</a:t>
            </a:r>
          </a:p>
          <a:p>
            <a:pPr marL="0" lvl="0" indent="0" algn="l" rtl="0">
              <a:lnSpc>
                <a:spcPct val="100000"/>
              </a:lnSpc>
              <a:spcBef>
                <a:spcPts val="0"/>
              </a:spcBef>
              <a:spcAft>
                <a:spcPts val="0"/>
              </a:spcAft>
              <a:buSzPts val="1400"/>
              <a:buNone/>
            </a:pPr>
            <a:r>
              <a:t>UIFR: TEACH 3 · TEACH 4.</a:t>
            </a:r>
          </a:p>
        </p:txBody>
      </p:sp>
      <p:sp>
        <p:nvSpPr>
          <p:cNvPr id="836" name="Google Shape;836;p44: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46: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32 | REVEAL</a:t>
            </a:r>
          </a:p>
          <a:p>
            <a:pPr>
              <a:buNone/>
            </a:pPr>
            <a:r>
              <a:rPr lang="en-US" sz="1100"/>
              <a:t>Focus on the existing task: Tracking Sales The students donated $168.50 to the local food pantry and now have the remaining money shown from the fundraiser. total…</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isolate the variable.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Do not click yet: collect 2–3 student answers with reasons first.</a:t>
            </a:r>
          </a:p>
          <a:p>
            <a:pPr marL="0" lvl="0" indent="0" algn="l" rtl="0">
              <a:lnSpc>
                <a:spcPct val="100000"/>
              </a:lnSpc>
              <a:spcBef>
                <a:spcPts val="0"/>
              </a:spcBef>
              <a:spcAft>
                <a:spcPts val="0"/>
              </a:spcAft>
              <a:buSzPts val="1400"/>
              <a:buNone/>
            </a:pPr>
            <a:r>
              <a:t>Then click to remove the cover and have students compare their thinking to the reveal — “Is this what we said? Where is it different?”</a:t>
            </a:r>
          </a:p>
          <a:p>
            <a:pPr marL="0" lvl="0" indent="0" algn="l" rtl="0">
              <a:lnSpc>
                <a:spcPct val="100000"/>
              </a:lnSpc>
              <a:spcBef>
                <a:spcPts val="0"/>
              </a:spcBef>
              <a:spcAft>
                <a:spcPts val="0"/>
              </a:spcAft>
              <a:buSzPts val="1400"/>
              <a:buNone/>
            </a:pPr>
            <a:r>
              <a:t>Behind the cover: We can use the known values and a variable to write an equation.</a:t>
            </a:r>
          </a:p>
          <a:p>
            <a:pPr marL="0" lvl="0" indent="0" algn="l" rtl="0">
              <a:lnSpc>
                <a:spcPct val="100000"/>
              </a:lnSpc>
              <a:spcBef>
                <a:spcPts val="0"/>
              </a:spcBef>
              <a:spcAft>
                <a:spcPts val="0"/>
              </a:spcAft>
              <a:buSzPts val="1400"/>
              <a:buNone/>
            </a:pPr>
            <a:r>
              <a:t>UIFR: TEACH 3 · TEACH 4.</a:t>
            </a:r>
          </a:p>
        </p:txBody>
      </p:sp>
      <p:sp>
        <p:nvSpPr>
          <p:cNvPr id="857" name="Google Shape;857;p46: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p48: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33 | COLLABORATE</a:t>
            </a:r>
          </a:p>
          <a:p>
            <a:pPr>
              <a:buNone/>
            </a:pPr>
            <a:r>
              <a:rPr lang="en-US" sz="1100"/>
              <a:t>Focus on the existing task: Collaborate and Connect Reveal: We can use the inverse operation of subtraction, which is addition. We can represent the problem using a subtraction equation. How can you find the unknown in the equation?</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use an inverse operation on both sides.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endParaRPr/>
          </a:p>
          <a:p>
            <a:r>
              <a:rPr lang="en-US"/>
              <a:t>Routine: COLLABORATE  ·  TALK IT THROUGH • AGREE ON A MODEL</a:t>
            </a:r>
          </a:p>
          <a:p>
            <a:pPr>
              <a:buNone/>
            </a:pPr>
            <a:endParaRPr lang="en-US"/>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changing only one side or using the same operation instead of its inverse. If it appears, show the same operation under both sides of the original equation; then ask the student to revise the same response and explain the change. If evidence is secure, have students compare a second valid pathway or state why their approach works. Choose the next step from the responses, not a preset pace.</a:t>
            </a:r>
          </a:p>
        </p:txBody>
      </p:sp>
      <p:sp>
        <p:nvSpPr>
          <p:cNvPr id="881" name="Google Shape;881;p48: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p50: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34 | WORKED</a:t>
            </a:r>
          </a:p>
          <a:p>
            <a:pPr>
              <a:buNone/>
            </a:pPr>
            <a:r>
              <a:rPr lang="en-US" sz="1100"/>
              <a:t>Focus on the existing task: Tracking Sales To solve a subtraction equation, you can use the inverse operation, addition. The Addition Property of Equality states…</a:t>
            </a:r>
          </a:p>
          <a:p>
            <a:pPr>
              <a:buNone/>
            </a:pPr>
            <a:r>
              <a:rPr lang="en-US" sz="1100"/>
              <a:t>LAUNCH (T2/3/5): Ask students to explain the displayed idea or example and point to evidence. When a calculation step is shown, ask why it is valid. Have a partner restate the explanation; copying is not the check.</a:t>
            </a:r>
          </a:p>
          <a:p>
            <a:pPr>
              <a:buNone/>
            </a:pPr>
            <a:r>
              <a:rPr lang="en-US" sz="1100"/>
              <a:t>LOOK FOR (T4): Where this task addresses it, students can use an inverse operation on both sides.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Model briefly, then hand the thinking back: ask “Why does this step work?” before showing the next one.</a:t>
            </a:r>
          </a:p>
          <a:p>
            <a:pPr marL="0" lvl="0" indent="0" algn="l" rtl="0">
              <a:lnSpc>
                <a:spcPct val="100000"/>
              </a:lnSpc>
              <a:spcBef>
                <a:spcPts val="0"/>
              </a:spcBef>
              <a:spcAft>
                <a:spcPts val="0"/>
              </a:spcAft>
              <a:buSzPts val="1400"/>
              <a:buNone/>
            </a:pPr>
            <a:r>
              <a:t>Quick check before moving on — thumbs or whiteboards from everyone, not volunteers.</a:t>
            </a:r>
          </a:p>
          <a:p>
            <a:pPr marL="0" lvl="0" indent="0" algn="l" rtl="0">
              <a:lnSpc>
                <a:spcPct val="100000"/>
              </a:lnSpc>
              <a:spcBef>
                <a:spcPts val="0"/>
              </a:spcBef>
              <a:spcAft>
                <a:spcPts val="0"/>
              </a:spcAft>
              <a:buSzPts val="1400"/>
              <a:buNone/>
            </a:pPr>
            <a:r>
              <a:t>UIFR: TEACH 2 · TEACH 3 · TEACH 4.</a:t>
            </a:r>
          </a:p>
        </p:txBody>
      </p:sp>
      <p:sp>
        <p:nvSpPr>
          <p:cNvPr id="903" name="Google Shape;903;p50: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p51: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35 | TASK</a:t>
            </a:r>
          </a:p>
          <a:p>
            <a:pPr>
              <a:buNone/>
            </a:pPr>
            <a:r>
              <a:rPr lang="en-US" sz="1100"/>
              <a:t>Focus on the existing task: School Broccoli The students at a local middle school collected money from a walk-a-thon fundraiser. They donated $168.50 to the local…</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use an inverse operation on both sides.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Read the context aloud (or have a student read it).</a:t>
            </a:r>
          </a:p>
          <a:p>
            <a:pPr marL="0" lvl="0" indent="0" algn="l" rtl="0">
              <a:lnSpc>
                <a:spcPct val="100000"/>
              </a:lnSpc>
              <a:spcBef>
                <a:spcPts val="0"/>
              </a:spcBef>
              <a:spcAft>
                <a:spcPts val="0"/>
              </a:spcAft>
              <a:buSzPts val="1400"/>
              <a:buNone/>
            </a:pPr>
            <a:r>
              <a:t>Before any math, students restate the situation and what is being asked in their own words.</a:t>
            </a:r>
          </a:p>
          <a:p>
            <a:pPr marL="0" lvl="0" indent="0" algn="l" rtl="0">
              <a:lnSpc>
                <a:spcPct val="100000"/>
              </a:lnSpc>
              <a:spcBef>
                <a:spcPts val="0"/>
              </a:spcBef>
              <a:spcAft>
                <a:spcPts val="0"/>
              </a:spcAft>
              <a:buSzPts val="1400"/>
              <a:buNone/>
            </a:pPr>
            <a:r>
              <a:t>Ask: How much money did the students raise at the walk-a-thon?</a:t>
            </a:r>
          </a:p>
          <a:p>
            <a:pPr marL="0" lvl="0" indent="0" algn="l" rtl="0">
              <a:lnSpc>
                <a:spcPct val="100000"/>
              </a:lnSpc>
              <a:spcBef>
                <a:spcPts val="0"/>
              </a:spcBef>
              <a:spcAft>
                <a:spcPts val="0"/>
              </a:spcAft>
              <a:buSzPts val="1400"/>
              <a:buNone/>
            </a:pPr>
            <a:r>
              <a:t>UIFR: TEACH 1 · TEACH 3.</a:t>
            </a:r>
          </a:p>
        </p:txBody>
      </p:sp>
      <p:sp>
        <p:nvSpPr>
          <p:cNvPr id="913" name="Google Shape;913;p51: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p52: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36 | PRACTICE</a:t>
            </a:r>
          </a:p>
          <a:p>
            <a:pPr>
              <a:buNone/>
            </a:pPr>
            <a:r>
              <a:rPr lang="en-US" sz="1100"/>
              <a:t>Focus on the existing task: Let’s Explore More The equation shown was used to the represent and solve the following problem: How much money did the students raise at the walk-a-thon?</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check in the original equation.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Extension for partners or table groups — students choose their approach and use the workspace to show thinking.</a:t>
            </a:r>
          </a:p>
          <a:p>
            <a:pPr marL="0" lvl="0" indent="0" algn="l" rtl="0">
              <a:lnSpc>
                <a:spcPct val="100000"/>
              </a:lnSpc>
              <a:spcBef>
                <a:spcPts val="0"/>
              </a:spcBef>
              <a:spcAft>
                <a:spcPts val="0"/>
              </a:spcAft>
              <a:buSzPts val="1400"/>
              <a:buNone/>
            </a:pPr>
            <a:r>
              <a:t>Push with “Convince me,” and have two groups with different approaches share.</a:t>
            </a:r>
          </a:p>
          <a:p>
            <a:pPr marL="0" lvl="0" indent="0" algn="l" rtl="0">
              <a:lnSpc>
                <a:spcPct val="100000"/>
              </a:lnSpc>
              <a:spcBef>
                <a:spcPts val="0"/>
              </a:spcBef>
              <a:spcAft>
                <a:spcPts val="0"/>
              </a:spcAft>
              <a:buSzPts val="1400"/>
              <a:buNone/>
            </a:pPr>
            <a:r>
              <a:t>This is where students stretch past the worked example.</a:t>
            </a:r>
          </a:p>
          <a:p>
            <a:pPr marL="0" lvl="0" indent="0" algn="l" rtl="0">
              <a:lnSpc>
                <a:spcPct val="100000"/>
              </a:lnSpc>
              <a:spcBef>
                <a:spcPts val="0"/>
              </a:spcBef>
              <a:spcAft>
                <a:spcPts val="0"/>
              </a:spcAft>
              <a:buSzPts val="1400"/>
              <a:buNone/>
            </a:pPr>
            <a:r>
              <a:t>UIFR: TEACH 2 · TEACH 5.</a:t>
            </a:r>
          </a:p>
        </p:txBody>
      </p:sp>
      <p:sp>
        <p:nvSpPr>
          <p:cNvPr id="924" name="Google Shape;924;p52: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p53: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37 | PRACTICE</a:t>
            </a:r>
          </a:p>
          <a:p>
            <a:pPr>
              <a:buNone/>
            </a:pPr>
            <a:r>
              <a:rPr lang="en-US" sz="1100"/>
              <a:t>Focus on the existing task: Let’s Explore More Workspace What other equation can represent the problem?</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check in the original equation.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Extension for partners or table groups — students choose their approach and use the workspace to show thinking.</a:t>
            </a:r>
          </a:p>
          <a:p>
            <a:pPr marL="0" lvl="0" indent="0" algn="l" rtl="0">
              <a:lnSpc>
                <a:spcPct val="100000"/>
              </a:lnSpc>
              <a:spcBef>
                <a:spcPts val="0"/>
              </a:spcBef>
              <a:spcAft>
                <a:spcPts val="0"/>
              </a:spcAft>
              <a:buSzPts val="1400"/>
              <a:buNone/>
            </a:pPr>
            <a:r>
              <a:t>Push with “Convince me,” and have two groups with different approaches share.</a:t>
            </a:r>
          </a:p>
          <a:p>
            <a:pPr marL="0" lvl="0" indent="0" algn="l" rtl="0">
              <a:lnSpc>
                <a:spcPct val="100000"/>
              </a:lnSpc>
              <a:spcBef>
                <a:spcPts val="0"/>
              </a:spcBef>
              <a:spcAft>
                <a:spcPts val="0"/>
              </a:spcAft>
              <a:buSzPts val="1400"/>
              <a:buNone/>
            </a:pPr>
            <a:r>
              <a:t>This is where students stretch past the worked example.</a:t>
            </a:r>
          </a:p>
          <a:p>
            <a:pPr marL="0" lvl="0" indent="0" algn="l" rtl="0">
              <a:lnSpc>
                <a:spcPct val="100000"/>
              </a:lnSpc>
              <a:spcBef>
                <a:spcPts val="0"/>
              </a:spcBef>
              <a:spcAft>
                <a:spcPts val="0"/>
              </a:spcAft>
              <a:buSzPts val="1400"/>
              <a:buNone/>
            </a:pPr>
            <a:r>
              <a:t>UIFR: TEACH 2 · TEACH 5.</a:t>
            </a:r>
          </a:p>
        </p:txBody>
      </p:sp>
      <p:sp>
        <p:nvSpPr>
          <p:cNvPr id="932" name="Google Shape;932;p53: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8.2, slide 38 | PRIOR_INSERT</a:t>
            </a:r>
          </a:p>
          <a:p>
            <a:pPr>
              <a:buNone/>
            </a:pPr>
            <a:r>
              <a:rPr lang="en-US" sz="1100"/>
              <a:t>Focus on the existing task: LESSON 8.2 / CHECK YOUR WORK Pause. Check. Improve. Listen to understand. Ask for evidence. Make room for every voice. CHECK A mistake…</a:t>
            </a:r>
          </a:p>
          <a:p>
            <a:pPr>
              <a:buNone/>
            </a:pPr>
            <a:r>
              <a:rPr lang="en-US" sz="1100"/>
              <a:t>CONNECT (T1/4): Ask students to restate the displayed goal or key idea and connect it to earlier work. Relevant lesson evidence: use an inverse operation on both sides; isolate the variable; check in the original equation.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8.2, slide 39 | REVEAL</a:t>
            </a:r>
          </a:p>
          <a:p>
            <a:pPr>
              <a:buNone/>
            </a:pPr>
            <a:r>
              <a:rPr lang="en-US" sz="1100"/>
              <a:t>Focus on the existing task: Tracking Sales How can you represent the relationship algebraically?</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isolate the variable.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8.2, slide 40 | COLLABORATE</a:t>
            </a:r>
          </a:p>
          <a:p>
            <a:pPr>
              <a:buNone/>
            </a:pPr>
            <a:r>
              <a:rPr lang="en-US" sz="1100"/>
              <a:t>Focus on the existing task: Collaborate and Connect Reveal: We can use the inverse operation of subtraction, which is addition. We can represent the problem using a subtraction equation. How can you find the unknown in the equation?</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use an inverse operation on both sides.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p54: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41 | SUMMARIZE</a:t>
            </a:r>
          </a:p>
          <a:p>
            <a:pPr>
              <a:buNone/>
            </a:pPr>
            <a:r>
              <a:rPr lang="en-US" sz="1100"/>
              <a:t>Focus on the existing task: Summarize: Write and Solve Equations Using Addition or Subtraction SUMMARIZE · SAY IT IN YOUR OWN WORDS</a:t>
            </a:r>
          </a:p>
          <a:p>
            <a:pPr>
              <a:buNone/>
            </a:pPr>
            <a:r>
              <a:rPr lang="en-US" sz="1100"/>
              <a:t>CONNECT (T1/4): Ask students to restate the displayed goal or key idea and connect it to earlier work. Relevant lesson evidence: use an inverse operation on both sides; isolate the variable; check in the original equation.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endParaRPr/>
          </a:p>
          <a:p>
            <a:r>
              <a:rPr lang="en-US"/>
              <a:t>Routine: SUMMARIZE  ·  SAY IT IN YOUR OWN WORDS</a:t>
            </a:r>
          </a:p>
        </p:txBody>
      </p:sp>
      <p:sp>
        <p:nvSpPr>
          <p:cNvPr id="944" name="Google Shape;944;p54: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p55: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42 | SUMMARIZE</a:t>
            </a:r>
          </a:p>
          <a:p>
            <a:pPr>
              <a:buNone/>
            </a:pPr>
            <a:r>
              <a:rPr lang="en-US" sz="1100"/>
              <a:t>Focus on the existing task: Summarize: Write and Solve Equations Using Addition or Subtraction SUMMARIZE · SAY IT IN YOUR OWN WORDS</a:t>
            </a:r>
          </a:p>
          <a:p>
            <a:pPr>
              <a:buNone/>
            </a:pPr>
            <a:r>
              <a:rPr lang="en-US" sz="1100"/>
              <a:t>CONNECT (T1/4): Ask students to restate the displayed goal or key idea and connect it to earlier work. Relevant lesson evidence: use an inverse operation on both sides; isolate the variable; check in the original equation.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endParaRPr/>
          </a:p>
          <a:p>
            <a:r>
              <a:rPr lang="en-US"/>
              <a:t>Routine: SUMMARIZE  ·  SAY IT IN YOUR OWN WORDS</a:t>
            </a:r>
          </a:p>
        </p:txBody>
      </p:sp>
      <p:sp>
        <p:nvSpPr>
          <p:cNvPr id="951" name="Google Shape;951;p55: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p56: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43 | APPLY</a:t>
            </a:r>
          </a:p>
          <a:p>
            <a:pPr>
              <a:buNone/>
            </a:pPr>
            <a:r>
              <a:rPr lang="en-US" sz="1100"/>
              <a:t>Focus on the existing task: Apply: Margaret’s New Pet Margaret is researching different dog breeds to adopt. The image and list below give information about the…</a:t>
            </a:r>
          </a:p>
          <a:p>
            <a:pPr>
              <a:buNone/>
            </a:pPr>
            <a:r>
              <a:rPr lang="en-US" sz="1100"/>
              <a:t>LAUNCH (T2/3/5): Use the exact application task independently first. Ask students to justify their choice of method. Collect evidence before a partner discussion or correction.</a:t>
            </a:r>
          </a:p>
          <a:p>
            <a:pPr>
              <a:buNone/>
            </a:pPr>
            <a:r>
              <a:rPr lang="en-US" sz="1100"/>
              <a:t>LOOK FOR (T4): Where this task addresses it, students can use an inverse operation on both sides.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endParaRPr/>
          </a:p>
          <a:p>
            <a:r>
              <a:rPr lang="en-US"/>
              <a:t>Routine: APPLY  ·  PLAN IT • SOLVE IT • PROVE IT</a:t>
            </a:r>
          </a:p>
          <a:p>
            <a:pPr>
              <a:buNone/>
            </a:pPr>
            <a:endParaRPr lang="en-US"/>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use an inverse operation on both sides; isolate the variable; check in the original equation. Respond with one specific next step tied to the work. Students revise and annotate what changed, then identify a criterion they can now demonstrate and one they still need to practice.</a:t>
            </a:r>
          </a:p>
        </p:txBody>
      </p:sp>
      <p:sp>
        <p:nvSpPr>
          <p:cNvPr id="958" name="Google Shape;958;p56: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p57: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8.2, slide 44 | REFLECTION</a:t>
            </a:r>
          </a:p>
          <a:p>
            <a:pPr>
              <a:buNone/>
            </a:pPr>
            <a:r>
              <a:rPr lang="en-US" sz="1100"/>
              <a:t>Focus on the existing task: Learning Targets I can write and solve one-step addition equations using models and the Subtraction Property of Equality. I can write and…</a:t>
            </a:r>
          </a:p>
          <a:p>
            <a:pPr>
              <a:buNone/>
            </a:pPr>
            <a:r>
              <a:rPr lang="en-US" sz="1100"/>
              <a:t>CONNECT (T1/4): Ask students to restate the displayed goal or key idea and connect it to earlier work. Relevant lesson evidence: use an inverse operation on both sides; isolate the variable; check in the original equation.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Read each target; students self-rate with fist-to-five or thumbs.</a:t>
            </a:r>
          </a:p>
          <a:p>
            <a:pPr marL="0" lvl="0" indent="0" algn="l" rtl="0">
              <a:lnSpc>
                <a:spcPct val="100000"/>
              </a:lnSpc>
              <a:spcBef>
                <a:spcPts val="0"/>
              </a:spcBef>
              <a:spcAft>
                <a:spcPts val="0"/>
              </a:spcAft>
              <a:buSzPts val="1400"/>
              <a:buNone/>
            </a:pPr>
            <a:r>
              <a:t>Tie back to the goal from the start of class: did we get there?</a:t>
            </a:r>
          </a:p>
          <a:p>
            <a:pPr marL="0" lvl="0" indent="0" algn="l" rtl="0">
              <a:lnSpc>
                <a:spcPct val="100000"/>
              </a:lnSpc>
              <a:spcBef>
                <a:spcPts val="0"/>
              </a:spcBef>
              <a:spcAft>
                <a:spcPts val="0"/>
              </a:spcAft>
              <a:buSzPts val="1400"/>
              <a:buNone/>
            </a:pPr>
            <a:r>
              <a:t>Note any target that rates low — revisit it tomorrow.</a:t>
            </a:r>
          </a:p>
          <a:p>
            <a:pPr marL="0" lvl="0" indent="0" algn="l" rtl="0">
              <a:lnSpc>
                <a:spcPct val="100000"/>
              </a:lnSpc>
              <a:spcBef>
                <a:spcPts val="0"/>
              </a:spcBef>
              <a:spcAft>
                <a:spcPts val="0"/>
              </a:spcAft>
              <a:buSzPts val="1400"/>
              <a:buNone/>
            </a:pPr>
            <a:r>
              <a:t>UIFR: TEACH 1 · TEACH 4.</a:t>
            </a:r>
          </a:p>
        </p:txBody>
      </p:sp>
      <p:sp>
        <p:nvSpPr>
          <p:cNvPr id="968" name="Google Shape;968;p57: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8.2, slide 45 | CURIOUS</a:t>
            </a:r>
          </a:p>
          <a:p>
            <a:pPr>
              <a:buNone/>
            </a:pPr>
            <a:r>
              <a:rPr lang="en-US" sz="1100"/>
              <a:t>Focus on the existing task: Be Curious Mindset Be Curious What is helping you stay motivated to learn math?</a:t>
            </a:r>
          </a:p>
          <a:p>
            <a:pPr>
              <a:buNone/>
            </a:pPr>
            <a:r>
              <a:rPr lang="en-US" sz="1100"/>
              <a:t>LAUNCH (T2/3/5): Allow quiet observation first. Separate a notice from an inference, invite students’ own questions, and follow the existing launch before teaching a procedure.</a:t>
            </a:r>
          </a:p>
          <a:p>
            <a:pPr>
              <a:buNone/>
            </a:pPr>
            <a:r>
              <a:rPr lang="en-US" sz="1100"/>
              <a:t>LOOK FOR (T4): Where this task addresses it, students can check in the original equation. Ask which feature of their work supports the claim.</a:t>
            </a:r>
          </a:p>
          <a:p>
            <a:pPr>
              <a:buNone/>
            </a:pPr>
            <a:r>
              <a:rPr lang="en-US" sz="1100"/>
              <a:t>RESPOND: If this task shows the lesson misconception—changing only one side or using the same operation instead of its inverse—show the same operation under both sides of the original equation.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8.2, slide 46 | REFLECTION</a:t>
            </a:r>
          </a:p>
          <a:p>
            <a:pPr>
              <a:buNone/>
            </a:pPr>
            <a:r>
              <a:rPr lang="en-US" sz="1100"/>
              <a:t>Focus on the existing task: Learning Targets I can write and solve one-step addition equations using models and the Subtraction Property of Equality. I can write and…</a:t>
            </a:r>
          </a:p>
          <a:p>
            <a:pPr>
              <a:buNone/>
            </a:pPr>
            <a:r>
              <a:rPr lang="en-US" sz="1100"/>
              <a:t>CONNECT (T1/4): Ask students to restate the displayed goal or key idea and connect it to earlier work. Relevant lesson evidence: use an inverse operation on both sides; isolate the variable; check in the original equation.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endParaRPr lang="en-US" sz="1100"/>
          </a:p>
          <a:p>
            <a:pPr>
              <a:buNone/>
            </a:pPr>
            <a:endParaRPr lang="en-US" sz="1100"/>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changing only one side or using the same operation instead of its inverse.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show the same operation under both sides of the original equation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8.2, slide 47 | PRIOR_INSERT</a:t>
            </a:r>
          </a:p>
          <a:p>
            <a:pPr>
              <a:buNone/>
            </a:pPr>
            <a:r>
              <a:rPr lang="en-US" sz="1100"/>
              <a:t>Focus on the existing task: LESSON 8.2 / REFLECT ON YOUR LEARNING Show your progress Listen to understand. Ask for evidence. Make room for every voice. 1 SHOW…</a:t>
            </a:r>
          </a:p>
          <a:p>
            <a:pPr>
              <a:buNone/>
            </a:pPr>
            <a:r>
              <a:rPr lang="en-US" sz="1100"/>
              <a:t>CONNECT (T1/4): Ask students to restate the displayed goal or key idea and connect it to earlier work. Relevant lesson evidence: use an inverse operation on both sides; isolate the variable; check in the original equation.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Title Slide Photo">
  <p:cSld name="2_Title Slide Photo">
    <p:spTree>
      <p:nvGrpSpPr>
        <p:cNvPr id="1" name="Shape 15"/>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1-column">
  <p:cSld name="Content 1-column">
    <p:spTree>
      <p:nvGrpSpPr>
        <p:cNvPr id="1" name="Shape 16"/>
        <p:cNvGrpSpPr/>
        <p:nvPr/>
      </p:nvGrpSpPr>
      <p:grpSpPr>
        <a:xfrm>
          <a:off x="0" y="0"/>
          <a:ext cx="0" cy="0"/>
          <a:chOff x="0" y="0"/>
          <a:chExt cx="0" cy="0"/>
        </a:xfrm>
      </p:grpSpPr>
      <p:sp>
        <p:nvSpPr>
          <p:cNvPr id="17" name="Google Shape;17;p3"/>
          <p:cNvSpPr txBox="1">
            <a:spLocks noGrp="1"/>
          </p:cNvSpPr>
          <p:nvPr>
            <p:ph type="sldNum" idx="12"/>
          </p:nvPr>
        </p:nvSpPr>
        <p:spPr>
          <a:xfrm>
            <a:off x="10436045" y="6528815"/>
            <a:ext cx="1278151" cy="2286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chemeClr val="dk2"/>
                </a:solidFill>
                <a:latin typeface="Arial"/>
                <a:ea typeface="Arial"/>
                <a:cs typeface="Arial"/>
                <a:sym typeface="Arial"/>
              </a:rPr>
              <a:t>McGraw Hill   |</a:t>
            </a:r>
            <a:endParaRPr sz="900" b="0" i="0" u="none" strike="noStrike" cap="none">
              <a:solidFill>
                <a:schemeClr val="dk2"/>
              </a:solidFill>
              <a:latin typeface="Arial"/>
              <a:ea typeface="Arial"/>
              <a:cs typeface="Arial"/>
              <a:sym typeface="Arial"/>
            </a:endParaRPr>
          </a:p>
        </p:txBody>
      </p:sp>
      <p:sp>
        <p:nvSpPr>
          <p:cNvPr id="19" name="Google Shape;19;p3"/>
          <p:cNvSpPr txBox="1">
            <a:spLocks noGrp="1"/>
          </p:cNvSpPr>
          <p:nvPr>
            <p:ph type="ftr" idx="11"/>
          </p:nvPr>
        </p:nvSpPr>
        <p:spPr>
          <a:xfrm>
            <a:off x="1402828" y="6528816"/>
            <a:ext cx="7315200" cy="2286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9" name="Google Shape;29;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 name="Google Shape;3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5" name="Google Shape;35;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6" name="Google Shape;3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7" name="Google Shape;3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1" name="Google Shape;41;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 name="Google Shape;42;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 name="Google Shape;43;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4" name="Google Shape;44;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5" name="Google Shape;45;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8" name="Google Shape;48;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9" name="Google Shape;49;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0" name="Google Shape;50;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1" name="Google Shape;51;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2" name="Google Shape;5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7" name="Google Shape;57;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8" name="Google Shape;5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6" name="Google Shape;66;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7" name="Google Shape;67;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8" name="Google Shape;6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9" name="Google Shape;6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sp>
        <p:nvSpPr>
          <p:cNvPr id="72" name="Google Shape;72;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3" name="Google Shape;73;p13"/>
          <p:cNvSpPr>
            <a:spLocks noGrp="1"/>
          </p:cNvSpPr>
          <p:nvPr>
            <p:ph type="pic" idx="2"/>
          </p:nvPr>
        </p:nvSpPr>
        <p:spPr>
          <a:xfrm>
            <a:off x="5183188" y="987425"/>
            <a:ext cx="6172200" cy="4873625"/>
          </a:xfrm>
          <a:prstGeom prst="rect">
            <a:avLst/>
          </a:prstGeom>
          <a:noFill/>
          <a:ln>
            <a:noFill/>
          </a:ln>
        </p:spPr>
      </p:sp>
      <p:sp>
        <p:nvSpPr>
          <p:cNvPr id="74" name="Google Shape;74;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75" name="Google Shape;7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0" name="Google Shape;80;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6" name="Google Shape;86;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8" name="Google Shape;9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9" name="Google Shape;9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3" name="Google Shape;103;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4" name="Google Shape;10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5" name="Google Shape;10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6" name="Google Shape;10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7"/>
        <p:cNvGrpSpPr/>
        <p:nvPr/>
      </p:nvGrpSpPr>
      <p:grpSpPr>
        <a:xfrm>
          <a:off x="0" y="0"/>
          <a:ext cx="0" cy="0"/>
          <a:chOff x="0" y="0"/>
          <a:chExt cx="0" cy="0"/>
        </a:xfrm>
      </p:grpSpPr>
      <p:sp>
        <p:nvSpPr>
          <p:cNvPr id="108" name="Google Shape;108;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9" name="Google Shape;109;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110" name="Google Shape;11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1" name="Google Shape;111;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2" name="Google Shape;11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3"/>
        <p:cNvGrpSpPr/>
        <p:nvPr/>
      </p:nvGrpSpPr>
      <p:grpSpPr>
        <a:xfrm>
          <a:off x="0" y="0"/>
          <a:ext cx="0" cy="0"/>
          <a:chOff x="0" y="0"/>
          <a:chExt cx="0" cy="0"/>
        </a:xfrm>
      </p:grpSpPr>
      <p:sp>
        <p:nvSpPr>
          <p:cNvPr id="114" name="Google Shape;114;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5" name="Google Shape;115;p2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6" name="Google Shape;116;p2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7" name="Google Shape;11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8" name="Google Shape;11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9" name="Google Shape;11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0"/>
        <p:cNvGrpSpPr/>
        <p:nvPr/>
      </p:nvGrpSpPr>
      <p:grpSpPr>
        <a:xfrm>
          <a:off x="0" y="0"/>
          <a:ext cx="0" cy="0"/>
          <a:chOff x="0" y="0"/>
          <a:chExt cx="0" cy="0"/>
        </a:xfrm>
      </p:grpSpPr>
      <p:sp>
        <p:nvSpPr>
          <p:cNvPr id="121" name="Google Shape;121;p2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2" name="Google Shape;122;p2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23" name="Google Shape;123;p2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4" name="Google Shape;124;p2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25" name="Google Shape;125;p2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6" name="Google Shape;12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7" name="Google Shape;12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8" name="Google Shape;12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9"/>
        <p:cNvGrpSpPr/>
        <p:nvPr/>
      </p:nvGrpSpPr>
      <p:grpSpPr>
        <a:xfrm>
          <a:off x="0" y="0"/>
          <a:ext cx="0" cy="0"/>
          <a:chOff x="0" y="0"/>
          <a:chExt cx="0" cy="0"/>
        </a:xfrm>
      </p:grpSpPr>
      <p:sp>
        <p:nvSpPr>
          <p:cNvPr id="130" name="Google Shape;13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1" name="Google Shape;13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2" name="Google Shape;13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3" name="Google Shape;13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6" name="Google Shape;136;p2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7" name="Google Shape;137;p2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138" name="Google Shape;13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9" name="Google Shape;13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0" name="Google Shape;14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1"/>
        <p:cNvGrpSpPr/>
        <p:nvPr/>
      </p:nvGrpSpPr>
      <p:grpSpPr>
        <a:xfrm>
          <a:off x="0" y="0"/>
          <a:ext cx="0" cy="0"/>
          <a:chOff x="0" y="0"/>
          <a:chExt cx="0" cy="0"/>
        </a:xfrm>
      </p:grpSpPr>
      <p:sp>
        <p:nvSpPr>
          <p:cNvPr id="142" name="Google Shape;142;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3" name="Google Shape;143;p25"/>
          <p:cNvSpPr>
            <a:spLocks noGrp="1"/>
          </p:cNvSpPr>
          <p:nvPr>
            <p:ph type="pic" idx="2"/>
          </p:nvPr>
        </p:nvSpPr>
        <p:spPr>
          <a:xfrm>
            <a:off x="5183188" y="987425"/>
            <a:ext cx="6172200" cy="4873625"/>
          </a:xfrm>
          <a:prstGeom prst="rect">
            <a:avLst/>
          </a:prstGeom>
          <a:noFill/>
          <a:ln>
            <a:noFill/>
          </a:ln>
        </p:spPr>
      </p:sp>
      <p:sp>
        <p:nvSpPr>
          <p:cNvPr id="144" name="Google Shape;144;p2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145" name="Google Shape;14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6" name="Google Shape;14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7" name="Google Shape;14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8"/>
        <p:cNvGrpSpPr/>
        <p:nvPr/>
      </p:nvGrpSpPr>
      <p:grpSpPr>
        <a:xfrm>
          <a:off x="0" y="0"/>
          <a:ext cx="0" cy="0"/>
          <a:chOff x="0" y="0"/>
          <a:chExt cx="0" cy="0"/>
        </a:xfrm>
      </p:grpSpPr>
      <p:sp>
        <p:nvSpPr>
          <p:cNvPr id="149" name="Google Shape;149;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0" name="Google Shape;150;p2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1" name="Google Shape;151;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2" name="Google Shape;152;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3" name="Google Shape;15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4"/>
        <p:cNvGrpSpPr/>
        <p:nvPr/>
      </p:nvGrpSpPr>
      <p:grpSpPr>
        <a:xfrm>
          <a:off x="0" y="0"/>
          <a:ext cx="0" cy="0"/>
          <a:chOff x="0" y="0"/>
          <a:chExt cx="0" cy="0"/>
        </a:xfrm>
      </p:grpSpPr>
      <p:sp>
        <p:nvSpPr>
          <p:cNvPr id="155" name="Google Shape;155;p2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6" name="Google Shape;156;p2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7" name="Google Shape;15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8" name="Google Shape;15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9" name="Google Shape;15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6"/>
        <p:cNvGrpSpPr/>
        <p:nvPr/>
      </p:nvGrpSpPr>
      <p:grpSpPr>
        <a:xfrm>
          <a:off x="0" y="0"/>
          <a:ext cx="0" cy="0"/>
          <a:chOff x="0" y="0"/>
          <a:chExt cx="0" cy="0"/>
        </a:xfrm>
      </p:grpSpPr>
      <p:sp>
        <p:nvSpPr>
          <p:cNvPr id="167" name="Google Shape;167;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8" name="Google Shape;168;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9" name="Google Shape;16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70" name="Google Shape;17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71" name="Google Shape;17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2"/>
        <p:cNvGrpSpPr/>
        <p:nvPr/>
      </p:nvGrpSpPr>
      <p:grpSpPr>
        <a:xfrm>
          <a:off x="0" y="0"/>
          <a:ext cx="0" cy="0"/>
          <a:chOff x="0" y="0"/>
          <a:chExt cx="0" cy="0"/>
        </a:xfrm>
      </p:grpSpPr>
      <p:sp>
        <p:nvSpPr>
          <p:cNvPr id="173" name="Google Shape;173;p3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4" name="Google Shape;174;p3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175" name="Google Shape;17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76" name="Google Shape;17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77" name="Google Shape;17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8"/>
        <p:cNvGrpSpPr/>
        <p:nvPr/>
      </p:nvGrpSpPr>
      <p:grpSpPr>
        <a:xfrm>
          <a:off x="0" y="0"/>
          <a:ext cx="0" cy="0"/>
          <a:chOff x="0" y="0"/>
          <a:chExt cx="0" cy="0"/>
        </a:xfrm>
      </p:grpSpPr>
      <p:sp>
        <p:nvSpPr>
          <p:cNvPr id="179" name="Google Shape;179;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0" name="Google Shape;180;p3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1" name="Google Shape;181;p3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2" name="Google Shape;18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83" name="Google Shape;18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84" name="Google Shape;18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85"/>
        <p:cNvGrpSpPr/>
        <p:nvPr/>
      </p:nvGrpSpPr>
      <p:grpSpPr>
        <a:xfrm>
          <a:off x="0" y="0"/>
          <a:ext cx="0" cy="0"/>
          <a:chOff x="0" y="0"/>
          <a:chExt cx="0" cy="0"/>
        </a:xfrm>
      </p:grpSpPr>
      <p:sp>
        <p:nvSpPr>
          <p:cNvPr id="186" name="Google Shape;186;p3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7" name="Google Shape;187;p3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88" name="Google Shape;188;p3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9" name="Google Shape;189;p3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90" name="Google Shape;190;p3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1" name="Google Shape;191;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2" name="Google Shape;192;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3" name="Google Shape;19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4"/>
        <p:cNvGrpSpPr/>
        <p:nvPr/>
      </p:nvGrpSpPr>
      <p:grpSpPr>
        <a:xfrm>
          <a:off x="0" y="0"/>
          <a:ext cx="0" cy="0"/>
          <a:chOff x="0" y="0"/>
          <a:chExt cx="0" cy="0"/>
        </a:xfrm>
      </p:grpSpPr>
      <p:sp>
        <p:nvSpPr>
          <p:cNvPr id="195" name="Google Shape;195;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96" name="Google Shape;196;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7" name="Google Shape;197;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8" name="Google Shape;198;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9"/>
        <p:cNvGrpSpPr/>
        <p:nvPr/>
      </p:nvGrpSpPr>
      <p:grpSpPr>
        <a:xfrm>
          <a:off x="0" y="0"/>
          <a:ext cx="0" cy="0"/>
          <a:chOff x="0" y="0"/>
          <a:chExt cx="0" cy="0"/>
        </a:xfrm>
      </p:grpSpPr>
      <p:sp>
        <p:nvSpPr>
          <p:cNvPr id="200" name="Google Shape;200;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1" name="Google Shape;201;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2" name="Google Shape;202;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3"/>
        <p:cNvGrpSpPr/>
        <p:nvPr/>
      </p:nvGrpSpPr>
      <p:grpSpPr>
        <a:xfrm>
          <a:off x="0" y="0"/>
          <a:ext cx="0" cy="0"/>
          <a:chOff x="0" y="0"/>
          <a:chExt cx="0" cy="0"/>
        </a:xfrm>
      </p:grpSpPr>
      <p:sp>
        <p:nvSpPr>
          <p:cNvPr id="204" name="Google Shape;204;p3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05" name="Google Shape;205;p3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06" name="Google Shape;206;p3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207" name="Google Shape;207;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8" name="Google Shape;208;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9" name="Google Shape;209;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10"/>
        <p:cNvGrpSpPr/>
        <p:nvPr/>
      </p:nvGrpSpPr>
      <p:grpSpPr>
        <a:xfrm>
          <a:off x="0" y="0"/>
          <a:ext cx="0" cy="0"/>
          <a:chOff x="0" y="0"/>
          <a:chExt cx="0" cy="0"/>
        </a:xfrm>
      </p:grpSpPr>
      <p:sp>
        <p:nvSpPr>
          <p:cNvPr id="211" name="Google Shape;211;p3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12" name="Google Shape;212;p37"/>
          <p:cNvSpPr>
            <a:spLocks noGrp="1"/>
          </p:cNvSpPr>
          <p:nvPr>
            <p:ph type="pic" idx="2"/>
          </p:nvPr>
        </p:nvSpPr>
        <p:spPr>
          <a:xfrm>
            <a:off x="5183188" y="987425"/>
            <a:ext cx="6172200" cy="4873625"/>
          </a:xfrm>
          <a:prstGeom prst="rect">
            <a:avLst/>
          </a:prstGeom>
          <a:noFill/>
          <a:ln>
            <a:noFill/>
          </a:ln>
        </p:spPr>
      </p:sp>
      <p:sp>
        <p:nvSpPr>
          <p:cNvPr id="213" name="Google Shape;213;p3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214" name="Google Shape;214;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15" name="Google Shape;215;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16" name="Google Shape;216;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17"/>
        <p:cNvGrpSpPr/>
        <p:nvPr/>
      </p:nvGrpSpPr>
      <p:grpSpPr>
        <a:xfrm>
          <a:off x="0" y="0"/>
          <a:ext cx="0" cy="0"/>
          <a:chOff x="0" y="0"/>
          <a:chExt cx="0" cy="0"/>
        </a:xfrm>
      </p:grpSpPr>
      <p:sp>
        <p:nvSpPr>
          <p:cNvPr id="218" name="Google Shape;218;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19" name="Google Shape;219;p3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0" name="Google Shape;220;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21" name="Google Shape;221;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22" name="Google Shape;222;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3"/>
        <p:cNvGrpSpPr/>
        <p:nvPr/>
      </p:nvGrpSpPr>
      <p:grpSpPr>
        <a:xfrm>
          <a:off x="0" y="0"/>
          <a:ext cx="0" cy="0"/>
          <a:chOff x="0" y="0"/>
          <a:chExt cx="0" cy="0"/>
        </a:xfrm>
      </p:grpSpPr>
      <p:sp>
        <p:nvSpPr>
          <p:cNvPr id="224" name="Google Shape;224;p3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25" name="Google Shape;225;p3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6" name="Google Shape;226;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27" name="Google Shape;227;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28" name="Google Shape;228;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1.pn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4.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4">
            <a:alphaModFix/>
          </a:blip>
          <a:srcRect/>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chemeClr val="dk2"/>
                </a:solidFill>
                <a:latin typeface="Arial"/>
                <a:ea typeface="Arial"/>
                <a:cs typeface="Arial"/>
                <a:sym typeface="Arial"/>
              </a:rPr>
              <a:t>Copyright © McGraw Hill</a:t>
            </a:r>
            <a:endParaRPr sz="1400" b="0" i="0" u="none" strike="noStrike" cap="none">
              <a:solidFill>
                <a:srgbClr val="000000"/>
              </a:solidFill>
              <a:latin typeface="Arial"/>
              <a:ea typeface="Arial"/>
              <a:cs typeface="Arial"/>
              <a:sym typeface="Arial"/>
            </a:endParaRPr>
          </a:p>
        </p:txBody>
      </p:sp>
      <p:pic>
        <p:nvPicPr>
          <p:cNvPr id="12" name="Google Shape;12;p1"/>
          <p:cNvPicPr preferRelativeResize="0"/>
          <p:nvPr/>
        </p:nvPicPr>
        <p:blipFill rotWithShape="1">
          <a:blip r:embed="rId5">
            <a:alphaModFix/>
          </a:blip>
          <a:srcRect/>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w="22225" cap="flat" cmpd="sng">
            <a:solidFill>
              <a:srgbClr val="BFBFBF"/>
            </a:solidFill>
            <a:prstDash val="solid"/>
            <a:miter lim="80"/>
            <a:headEnd type="none" w="sm" len="sm"/>
            <a:tailEnd type="none" w="sm" len="sm"/>
          </a:ln>
        </p:spPr>
      </p:cxnSp>
      <p:sp>
        <p:nvSpPr>
          <p:cNvPr id="14" name="Google Shape;14;p1"/>
          <p:cNvSpPr txBox="1"/>
          <p:nvPr/>
        </p:nvSpPr>
        <p:spPr>
          <a:xfrm>
            <a:off x="9064487" y="6399634"/>
            <a:ext cx="3107634" cy="478243"/>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Arial"/>
                <a:ea typeface="Arial"/>
                <a:cs typeface="Arial"/>
                <a:sym typeface="Arial"/>
              </a:rPr>
              <a:t>This material may be reproduced for licensed classroom use only and may not be further reproduced or distributed.</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w="22225" cap="flat" cmpd="sng">
            <a:solidFill>
              <a:srgbClr val="BFBFBF"/>
            </a:solidFill>
            <a:prstDash val="solid"/>
            <a:miter lim="80"/>
            <a:headEnd type="none" w="sm" len="sm"/>
            <a:tailEnd type="none" w="sm" len="sm"/>
          </a:ln>
        </p:spPr>
      </p:cxnSp>
      <p:sp>
        <p:nvSpPr>
          <p:cNvPr id="22" name="Google Shape;22;p4"/>
          <p:cNvSpPr txBox="1"/>
          <p:nvPr/>
        </p:nvSpPr>
        <p:spPr>
          <a:xfrm>
            <a:off x="490549" y="6528815"/>
            <a:ext cx="1036320" cy="32466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chemeClr val="dk2"/>
                </a:solidFill>
                <a:latin typeface="Arial"/>
                <a:ea typeface="Arial"/>
                <a:cs typeface="Arial"/>
                <a:sym typeface="Arial"/>
              </a:rPr>
              <a:t>McGraw Hill   |</a:t>
            </a:r>
            <a:endParaRPr sz="900" b="0" i="0" u="none" strike="noStrike" cap="non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chemeClr val="dk2"/>
                </a:solidFill>
                <a:latin typeface="Arial"/>
                <a:ea typeface="Arial"/>
                <a:cs typeface="Arial"/>
                <a:sym typeface="Arial"/>
              </a:rPr>
              <a:t>Write and Solve Equations Using Addition or Subtraction</a:t>
            </a:r>
            <a:endParaRPr sz="1400" b="0" i="0" u="none" strike="noStrike" cap="non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Arial"/>
                <a:ea typeface="Arial"/>
                <a:cs typeface="Arial"/>
                <a:sym typeface="Arial"/>
              </a:rPr>
              <a:t>This material may be reproduced for licensed classroom use only and may not be further reproduced or distributed.</a:t>
            </a:r>
            <a:endParaRPr sz="1400" b="0" i="0" u="none" strike="noStrike" cap="non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3">
            <a:alphaModFix/>
          </a:blip>
          <a:srcRect/>
          <a:stretch/>
        </p:blipFill>
        <p:spPr>
          <a:xfrm>
            <a:off x="4896996" y="0"/>
            <a:ext cx="7295004" cy="119329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w="22225" cap="flat" cmpd="sng">
            <a:solidFill>
              <a:srgbClr val="BFBFBF"/>
            </a:solidFill>
            <a:prstDash val="solid"/>
            <a:miter lim="80"/>
            <a:headEnd type="none" w="sm" len="sm"/>
            <a:tailEnd type="none" w="sm" len="sm"/>
          </a:ln>
        </p:spPr>
      </p:cxnSp>
      <p:sp>
        <p:nvSpPr>
          <p:cNvPr id="92" name="Google Shape;92;p16"/>
          <p:cNvSpPr txBox="1"/>
          <p:nvPr/>
        </p:nvSpPr>
        <p:spPr>
          <a:xfrm>
            <a:off x="490549" y="6528815"/>
            <a:ext cx="1036320" cy="32466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chemeClr val="dk2"/>
                </a:solidFill>
                <a:latin typeface="Arial"/>
                <a:ea typeface="Arial"/>
                <a:cs typeface="Arial"/>
                <a:sym typeface="Arial"/>
              </a:rPr>
              <a:t>McGraw Hill   |</a:t>
            </a:r>
            <a:endParaRPr sz="900" b="0" i="0" u="none" strike="noStrike" cap="non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chemeClr val="dk2"/>
                </a:solidFill>
                <a:latin typeface="Arial"/>
                <a:ea typeface="Arial"/>
                <a:cs typeface="Arial"/>
                <a:sym typeface="Arial"/>
              </a:rPr>
              <a:t>Write and Solve Equations Using Addition or Subtraction</a:t>
            </a:r>
            <a:endParaRPr sz="1400" b="0" i="0" u="none" strike="noStrike" cap="non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Arial"/>
                <a:ea typeface="Arial"/>
                <a:cs typeface="Arial"/>
                <a:sym typeface="Arial"/>
              </a:rPr>
              <a:t>This material may be reproduced for licensed classroom use only and may not be further reproduced or distributed.</a:t>
            </a:r>
            <a:endParaRPr sz="1400" b="0" i="0" u="none" strike="noStrike" cap="non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3">
            <a:alphaModFix/>
          </a:blip>
          <a:srcRect/>
          <a:stretch/>
        </p:blipFill>
        <p:spPr>
          <a:xfrm>
            <a:off x="4896996" y="0"/>
            <a:ext cx="7295004" cy="119329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w="22225" cap="flat" cmpd="sng">
            <a:solidFill>
              <a:srgbClr val="BFBFBF"/>
            </a:solidFill>
            <a:prstDash val="solid"/>
            <a:miter lim="80"/>
            <a:headEnd type="none" w="sm" len="sm"/>
            <a:tailEnd type="none" w="sm" len="sm"/>
          </a:ln>
        </p:spPr>
      </p:cxnSp>
      <p:sp>
        <p:nvSpPr>
          <p:cNvPr id="162" name="Google Shape;162;p28"/>
          <p:cNvSpPr txBox="1"/>
          <p:nvPr/>
        </p:nvSpPr>
        <p:spPr>
          <a:xfrm>
            <a:off x="490549" y="6528815"/>
            <a:ext cx="1036320" cy="32466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chemeClr val="dk2"/>
                </a:solidFill>
                <a:latin typeface="Arial"/>
                <a:ea typeface="Arial"/>
                <a:cs typeface="Arial"/>
                <a:sym typeface="Arial"/>
              </a:rPr>
              <a:t>McGraw Hill   </a:t>
            </a:r>
            <a:endParaRPr sz="900" b="0" i="0" u="none" strike="noStrike" cap="non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Arial"/>
                <a:ea typeface="Arial"/>
                <a:cs typeface="Arial"/>
                <a:sym typeface="Arial"/>
              </a:rPr>
              <a:t>This material may be reproduced for licensed classroom use only and may not be further reproduced or distributed.</a:t>
            </a:r>
            <a:endParaRPr sz="1400" b="0" i="0" u="none" strike="noStrike" cap="non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3">
            <a:alphaModFix/>
          </a:blip>
          <a:srcRect/>
          <a:stretch/>
        </p:blipFill>
        <p:spPr>
          <a:xfrm>
            <a:off x="4896996" y="0"/>
            <a:ext cx="7295004" cy="119329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43"/>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9"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0" name="TextBox 2"/>
          <p:cNvSpPr txBox="1"/>
          <p:nvPr/>
        </p:nvSpPr>
        <p:spPr>
          <a:xfrm>
            <a:off x="521207" y="877824"/>
            <a:ext cx="10881360" cy="274320"/>
          </a:xfrm>
          <a:prstGeom prst="rect">
            <a:avLst/>
          </a:prstGeom>
          <a:noFill/>
        </p:spPr>
        <p:txBody>
          <a:bodyPr wrap="square" lIns="0" tIns="0" rIns="0" bIns="0" anchor="t">
            <a:spAutoFit/>
          </a:bodyPr>
          <a:lstStyle/>
          <a:p>
            <a:pPr algn="l"/>
            <a:r>
              <a:rPr sz="1400" b="0">
                <a:solidFill>
                  <a:srgbClr val="5D6872"/>
                </a:solidFill>
                <a:latin typeface="Arial"/>
              </a:rPr>
              <a:t>Lesson 8-2 · Write and Solve Equations Using Addition or Subtraction   |   Warm-Up · about 4 minutes</a:t>
            </a:r>
          </a:p>
        </p:txBody>
      </p:sp>
      <p:sp>
        <p:nvSpPr>
          <p:cNvPr id="261"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WARM-UP  ·  THINK • TRY • CHECK</a:t>
            </a:r>
          </a:p>
        </p:txBody>
      </p:sp>
      <p:sp>
        <p:nvSpPr>
          <p:cNvPr id="262"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3"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6"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8 + ______ = 13</a:t>
            </a:r>
          </a:p>
        </p:txBody>
      </p:sp>
      <p:sp>
        <p:nvSpPr>
          <p:cNvPr id="267"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0"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4.5 + 2.7 = ______</a:t>
            </a:r>
          </a:p>
        </p:txBody>
      </p:sp>
      <p:sp>
        <p:nvSpPr>
          <p:cNvPr id="271"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4"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What undoes adding 8? ______</a:t>
            </a:r>
          </a:p>
        </p:txBody>
      </p:sp>
      <p:sp>
        <p:nvSpPr>
          <p:cNvPr id="275"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8"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If m = 36, then m − 11 = ______</a:t>
            </a:r>
          </a:p>
        </p:txBody>
      </p:sp>
      <p:sp>
        <p:nvSpPr>
          <p:cNvPr id="279"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0"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Turn and talk: compare strategies, then defend one.</a:t>
            </a:r>
          </a:p>
        </p:txBody>
      </p:sp>
      <p:sp>
        <p:nvSpPr>
          <p:cNvPr id="281"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 / 54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53"/>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6" name="Google Shape;506;p53"/>
          <p:cNvSpPr/>
          <p:nvPr/>
        </p:nvSpPr>
        <p:spPr>
          <a:xfrm>
            <a:off x="0" y="0"/>
            <a:ext cx="12191969" cy="713232"/>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7" name="Google Shape;507;p53"/>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2000" b="1" i="0" u="none" strike="noStrike" cap="none">
                <a:solidFill>
                  <a:srgbClr val="FFFFFF"/>
                </a:solidFill>
                <a:latin typeface="Arial"/>
                <a:ea typeface="Arial"/>
                <a:cs typeface="Arial"/>
                <a:sym typeface="Arial"/>
              </a:rPr>
              <a:t>Today’s Math Notes</a:t>
            </a:r>
            <a:endParaRPr/>
          </a:p>
        </p:txBody>
      </p:sp>
      <p:sp>
        <p:nvSpPr>
          <p:cNvPr id="508" name="Google Shape;508;p53"/>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defRPr/>
            </a:pPr>
            <a:r>
              <a:rPr lang="en-US" sz="1200" b="0" i="0" u="none" strike="noStrike" cap="none">
                <a:solidFill>
                  <a:srgbClr val="FFFFFF"/>
                </a:solidFill>
                <a:latin typeface="Arial"/>
                <a:ea typeface="Arial"/>
                <a:cs typeface="Arial"/>
                <a:sym typeface="Arial"/>
              </a:rPr>
              <a:t>Lesson 8-2 · Write and Solve Equations Using Addition or Subtraction</a:t>
            </a:r>
            <a:endParaRPr/>
          </a:p>
        </p:txBody>
      </p:sp>
      <p:sp>
        <p:nvSpPr>
          <p:cNvPr id="509" name="Google Shape;509;p53"/>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10" name="Google Shape;510;p53"/>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000" b="0" i="0" u="none" strike="noStrike" cap="none">
                <a:solidFill>
                  <a:srgbClr val="475569"/>
                </a:solidFill>
                <a:latin typeface="Arial"/>
                <a:ea typeface="Arial"/>
                <a:cs typeface="Arial"/>
                <a:sym typeface="Arial"/>
              </a:rPr>
              <a:t>eduwonderlab.com  ·  Neft Teacher</a:t>
            </a:r>
            <a:endParaRPr/>
          </a:p>
        </p:txBody>
      </p:sp>
      <p:sp>
        <p:nvSpPr>
          <p:cNvPr id="511" name="Google Shape;511;p53"/>
          <p:cNvSpPr txBox="1"/>
          <p:nvPr/>
        </p:nvSpPr>
        <p:spPr>
          <a:xfrm>
            <a:off x="640080" y="987552"/>
            <a:ext cx="10911809"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3000" b="1" i="0" u="none" strike="noStrike" cap="none">
                <a:solidFill>
                  <a:srgbClr val="14223A"/>
                </a:solidFill>
                <a:latin typeface="Arial"/>
                <a:ea typeface="Arial"/>
                <a:cs typeface="Arial"/>
                <a:sym typeface="Arial"/>
              </a:rPr>
              <a:t>Section 1: Math Words</a:t>
            </a:r>
            <a:endParaRPr/>
          </a:p>
        </p:txBody>
      </p:sp>
      <p:sp>
        <p:nvSpPr>
          <p:cNvPr id="512" name="Google Shape;512;p53"/>
          <p:cNvSpPr/>
          <p:nvPr/>
        </p:nvSpPr>
        <p:spPr>
          <a:xfrm>
            <a:off x="640080" y="1572768"/>
            <a:ext cx="3246120" cy="384048"/>
          </a:xfrm>
          <a:prstGeom prst="roundRect">
            <a:avLst>
              <a:gd name="adj" fmla="val 30000"/>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13" name="Google Shape;513;p53"/>
          <p:cNvSpPr txBox="1"/>
          <p:nvPr/>
        </p:nvSpPr>
        <p:spPr>
          <a:xfrm>
            <a:off x="868680" y="1636776"/>
            <a:ext cx="3017520"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400" b="1" i="0" u="none" strike="noStrike" cap="none">
                <a:solidFill>
                  <a:srgbClr val="FFFFFF"/>
                </a:solidFill>
                <a:latin typeface="Arial"/>
                <a:ea typeface="Arial"/>
                <a:cs typeface="Arial"/>
                <a:sym typeface="Arial"/>
              </a:rPr>
              <a:t>Copy. Explain. Check.</a:t>
            </a:r>
            <a:endParaRPr/>
          </a:p>
        </p:txBody>
      </p:sp>
      <p:sp>
        <p:nvSpPr>
          <p:cNvPr id="514" name="Google Shape;514;p53"/>
          <p:cNvSpPr/>
          <p:nvPr/>
        </p:nvSpPr>
        <p:spPr>
          <a:xfrm>
            <a:off x="640080" y="2212848"/>
            <a:ext cx="10911809" cy="1188720"/>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15" name="Google Shape;515;p53"/>
          <p:cNvSpPr/>
          <p:nvPr/>
        </p:nvSpPr>
        <p:spPr>
          <a:xfrm>
            <a:off x="640080" y="2212848"/>
            <a:ext cx="91440" cy="118872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16" name="Google Shape;516;p53"/>
          <p:cNvSpPr/>
          <p:nvPr/>
        </p:nvSpPr>
        <p:spPr>
          <a:xfrm>
            <a:off x="896112" y="2633472"/>
            <a:ext cx="347472" cy="347472"/>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1</a:t>
            </a:r>
            <a:endParaRPr/>
          </a:p>
        </p:txBody>
      </p:sp>
      <p:sp>
        <p:nvSpPr>
          <p:cNvPr id="517" name="Google Shape;517;p53"/>
          <p:cNvSpPr txBox="1"/>
          <p:nvPr/>
        </p:nvSpPr>
        <p:spPr>
          <a:xfrm>
            <a:off x="1389888" y="2359152"/>
            <a:ext cx="9860249"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800" b="1" i="0" u="none" strike="noStrike" cap="none">
                <a:solidFill>
                  <a:srgbClr val="14223A"/>
                </a:solidFill>
                <a:latin typeface="Arial"/>
                <a:ea typeface="Arial"/>
                <a:cs typeface="Arial"/>
                <a:sym typeface="Arial"/>
              </a:rPr>
              <a:t>Solve One-Step Addition and Subtraction Equations</a:t>
            </a:r>
            <a:endParaRPr/>
          </a:p>
        </p:txBody>
      </p:sp>
      <p:sp>
        <p:nvSpPr>
          <p:cNvPr id="518" name="Google Shape;518;p53"/>
          <p:cNvSpPr txBox="1"/>
          <p:nvPr/>
        </p:nvSpPr>
        <p:spPr>
          <a:xfrm>
            <a:off x="1389888" y="2706624"/>
            <a:ext cx="9860249" cy="585216"/>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defRPr/>
            </a:pPr>
            <a:r>
              <a:rPr lang="en-US" sz="1450" b="0" i="0" u="none" strike="noStrike" cap="none">
                <a:solidFill>
                  <a:srgbClr val="475569"/>
                </a:solidFill>
                <a:latin typeface="Arial"/>
                <a:ea typeface="Arial"/>
                <a:cs typeface="Arial"/>
                <a:sym typeface="Arial"/>
              </a:rPr>
              <a:t>Use one inverse addition or subtraction operation to </a:t>
            </a:r>
            <a:r>
              <a:rPr lang="en-US" sz="1450" b="1" i="0" u="none" strike="noStrike" cap="none">
                <a:solidFill>
                  <a:srgbClr val="475569"/>
                </a:solidFill>
                <a:latin typeface="Arial"/>
                <a:ea typeface="Arial"/>
                <a:cs typeface="Arial"/>
                <a:sym typeface="Arial"/>
              </a:rPr>
              <a:t>isolate</a:t>
            </a:r>
            <a:r>
              <a:rPr lang="en-US" sz="1450" b="0" i="0" u="none" strike="noStrike" cap="none">
                <a:solidFill>
                  <a:srgbClr val="475569"/>
                </a:solidFill>
                <a:latin typeface="Arial"/>
                <a:ea typeface="Arial"/>
                <a:cs typeface="Arial"/>
                <a:sym typeface="Arial"/>
              </a:rPr>
              <a:t> the </a:t>
            </a:r>
            <a:r>
              <a:rPr lang="en-US" sz="1450" b="1" i="0" u="none" strike="noStrike" cap="none">
                <a:solidFill>
                  <a:srgbClr val="475569"/>
                </a:solidFill>
                <a:latin typeface="Arial"/>
                <a:ea typeface="Arial"/>
                <a:cs typeface="Arial"/>
                <a:sym typeface="Arial"/>
              </a:rPr>
              <a:t>variable</a:t>
            </a:r>
            <a:endParaRPr/>
          </a:p>
        </p:txBody>
      </p:sp>
      <p:sp>
        <p:nvSpPr>
          <p:cNvPr id="519" name="Google Shape;519;p53"/>
          <p:cNvSpPr/>
          <p:nvPr/>
        </p:nvSpPr>
        <p:spPr>
          <a:xfrm>
            <a:off x="640080" y="3584448"/>
            <a:ext cx="10911809" cy="1188720"/>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0" name="Google Shape;520;p53"/>
          <p:cNvSpPr/>
          <p:nvPr/>
        </p:nvSpPr>
        <p:spPr>
          <a:xfrm>
            <a:off x="640080" y="3584448"/>
            <a:ext cx="91440" cy="118872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1" name="Google Shape;521;p53"/>
          <p:cNvSpPr/>
          <p:nvPr/>
        </p:nvSpPr>
        <p:spPr>
          <a:xfrm>
            <a:off x="896112" y="4005072"/>
            <a:ext cx="347472" cy="347472"/>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2</a:t>
            </a:r>
            <a:endParaRPr/>
          </a:p>
        </p:txBody>
      </p:sp>
      <p:sp>
        <p:nvSpPr>
          <p:cNvPr id="522" name="Google Shape;522;p53"/>
          <p:cNvSpPr txBox="1"/>
          <p:nvPr/>
        </p:nvSpPr>
        <p:spPr>
          <a:xfrm>
            <a:off x="1389888" y="3730752"/>
            <a:ext cx="9860249"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800" b="1" i="0" u="none" strike="noStrike" cap="none">
                <a:solidFill>
                  <a:srgbClr val="14223A"/>
                </a:solidFill>
                <a:latin typeface="Arial"/>
                <a:ea typeface="Arial"/>
                <a:cs typeface="Arial"/>
                <a:sym typeface="Arial"/>
              </a:rPr>
              <a:t>Equation</a:t>
            </a:r>
            <a:endParaRPr/>
          </a:p>
        </p:txBody>
      </p:sp>
      <p:sp>
        <p:nvSpPr>
          <p:cNvPr id="523" name="Google Shape;523;p53"/>
          <p:cNvSpPr txBox="1"/>
          <p:nvPr/>
        </p:nvSpPr>
        <p:spPr>
          <a:xfrm>
            <a:off x="1389888" y="4078224"/>
            <a:ext cx="9860249" cy="585216"/>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defRPr/>
            </a:pPr>
            <a:r>
              <a:rPr lang="en-US" sz="1450" b="0" i="0" u="none" strike="noStrike" cap="none">
                <a:solidFill>
                  <a:srgbClr val="475569"/>
                </a:solidFill>
                <a:latin typeface="Arial"/>
                <a:ea typeface="Arial"/>
                <a:cs typeface="Arial"/>
                <a:sym typeface="Arial"/>
              </a:rPr>
              <a:t>A math sentence with an equal sign showing both sides</a:t>
            </a:r>
            <a:endParaRPr/>
          </a:p>
        </p:txBody>
      </p:sp>
      <p:sp>
        <p:nvSpPr>
          <p:cNvPr id="524" name="Google Shape;524;p53"/>
          <p:cNvSpPr/>
          <p:nvPr/>
        </p:nvSpPr>
        <p:spPr>
          <a:xfrm>
            <a:off x="640080" y="4956048"/>
            <a:ext cx="10911809" cy="1188720"/>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5" name="Google Shape;525;p53"/>
          <p:cNvSpPr/>
          <p:nvPr/>
        </p:nvSpPr>
        <p:spPr>
          <a:xfrm>
            <a:off x="640080" y="4956048"/>
            <a:ext cx="91440" cy="118872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6" name="Google Shape;526;p53"/>
          <p:cNvSpPr/>
          <p:nvPr/>
        </p:nvSpPr>
        <p:spPr>
          <a:xfrm>
            <a:off x="896112" y="5376672"/>
            <a:ext cx="347472" cy="347472"/>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3</a:t>
            </a:r>
            <a:endParaRPr/>
          </a:p>
        </p:txBody>
      </p:sp>
      <p:sp>
        <p:nvSpPr>
          <p:cNvPr id="527" name="Google Shape;527;p53"/>
          <p:cNvSpPr txBox="1"/>
          <p:nvPr/>
        </p:nvSpPr>
        <p:spPr>
          <a:xfrm>
            <a:off x="1389888" y="5102352"/>
            <a:ext cx="9860249"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800" b="1" i="0" u="none" strike="noStrike" cap="none">
                <a:solidFill>
                  <a:srgbClr val="14223A"/>
                </a:solidFill>
                <a:latin typeface="Arial"/>
                <a:ea typeface="Arial"/>
                <a:cs typeface="Arial"/>
                <a:sym typeface="Arial"/>
              </a:rPr>
              <a:t>Inverse operation</a:t>
            </a:r>
            <a:endParaRPr/>
          </a:p>
        </p:txBody>
      </p:sp>
      <p:sp>
        <p:nvSpPr>
          <p:cNvPr id="528" name="Google Shape;528;p53"/>
          <p:cNvSpPr txBox="1"/>
          <p:nvPr/>
        </p:nvSpPr>
        <p:spPr>
          <a:xfrm>
            <a:off x="1389888" y="5449824"/>
            <a:ext cx="9860249" cy="585216"/>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defRPr/>
            </a:pPr>
            <a:r>
              <a:rPr lang="en-US" sz="1450" b="0" i="0" u="none" strike="noStrike" cap="none">
                <a:solidFill>
                  <a:srgbClr val="475569"/>
                </a:solidFill>
                <a:latin typeface="Arial"/>
                <a:ea typeface="Arial"/>
                <a:cs typeface="Arial"/>
                <a:sym typeface="Arial"/>
              </a:rPr>
              <a:t>Two math actions that undo each other, like × and ÷</a:t>
            </a:r>
            <a:endParaRPr/>
          </a:p>
        </p:txBody>
      </p:sp>
      <p:sp>
        <p:nvSpPr>
          <p:cNvPr id="529"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 / 54</a:t>
            </a:r>
          </a:p>
        </p:txBody>
      </p:sp>
      <p:grpSp>
        <p:nvGrpSpPr>
          <p:cNvPr id="530" name="TEACH-1-student-move" descr="TEACH 1 · Facilitate clear, standards-based content learning"/>
          <p:cNvGrpSpPr/>
          <p:nvPr/>
        </p:nvGrpSpPr>
        <p:grpSpPr>
          <a:xfrm>
            <a:off x="6187440" y="1682496"/>
            <a:ext cx="5501640" cy="594360"/>
            <a:chOff x="6187440" y="1682496"/>
            <a:chExt cx="5501640" cy="594360"/>
          </a:xfrm>
        </p:grpSpPr>
        <p:sp>
          <p:nvSpPr>
            <p:cNvPr id="531"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32"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33"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54"/>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4" name="Google Shape;534;p54"/>
          <p:cNvSpPr/>
          <p:nvPr/>
        </p:nvSpPr>
        <p:spPr>
          <a:xfrm>
            <a:off x="0" y="0"/>
            <a:ext cx="12191969" cy="713232"/>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5" name="Google Shape;535;p54"/>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2000" b="1" i="0" u="none" strike="noStrike" cap="none">
                <a:solidFill>
                  <a:srgbClr val="FFFFFF"/>
                </a:solidFill>
                <a:latin typeface="Arial"/>
                <a:ea typeface="Arial"/>
                <a:cs typeface="Arial"/>
                <a:sym typeface="Arial"/>
              </a:rPr>
              <a:t>Today’s Math Notes</a:t>
            </a:r>
            <a:endParaRPr/>
          </a:p>
        </p:txBody>
      </p:sp>
      <p:sp>
        <p:nvSpPr>
          <p:cNvPr id="536" name="Google Shape;536;p54"/>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defRPr/>
            </a:pPr>
            <a:r>
              <a:rPr lang="en-US" sz="1200" b="0" i="0" u="none" strike="noStrike" cap="none">
                <a:solidFill>
                  <a:srgbClr val="FFFFFF"/>
                </a:solidFill>
                <a:latin typeface="Arial"/>
                <a:ea typeface="Arial"/>
                <a:cs typeface="Arial"/>
                <a:sym typeface="Arial"/>
              </a:rPr>
              <a:t>Lesson 8-2 · Write and Solve Equations Using Addition or Subtraction</a:t>
            </a:r>
            <a:endParaRPr/>
          </a:p>
        </p:txBody>
      </p:sp>
      <p:sp>
        <p:nvSpPr>
          <p:cNvPr id="537" name="Google Shape;537;p54"/>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8" name="Google Shape;538;p54"/>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000" b="0" i="0" u="none" strike="noStrike" cap="none">
                <a:solidFill>
                  <a:srgbClr val="475569"/>
                </a:solidFill>
                <a:latin typeface="Arial"/>
                <a:ea typeface="Arial"/>
                <a:cs typeface="Arial"/>
                <a:sym typeface="Arial"/>
              </a:rPr>
              <a:t>eduwonderlab.com  ·  Neft Teacher</a:t>
            </a:r>
            <a:endParaRPr/>
          </a:p>
        </p:txBody>
      </p:sp>
      <p:sp>
        <p:nvSpPr>
          <p:cNvPr id="539" name="Google Shape;539;p54"/>
          <p:cNvSpPr txBox="1"/>
          <p:nvPr/>
        </p:nvSpPr>
        <p:spPr>
          <a:xfrm>
            <a:off x="640080" y="987552"/>
            <a:ext cx="10911809"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3000" b="1" i="0" u="none" strike="noStrike" cap="none">
                <a:solidFill>
                  <a:srgbClr val="14223A"/>
                </a:solidFill>
                <a:latin typeface="Arial"/>
                <a:ea typeface="Arial"/>
                <a:cs typeface="Arial"/>
                <a:sym typeface="Arial"/>
              </a:rPr>
              <a:t>Section 2: Today’s Math</a:t>
            </a:r>
            <a:endParaRPr/>
          </a:p>
        </p:txBody>
      </p:sp>
      <p:sp>
        <p:nvSpPr>
          <p:cNvPr id="540" name="Google Shape;540;p54"/>
          <p:cNvSpPr/>
          <p:nvPr/>
        </p:nvSpPr>
        <p:spPr>
          <a:xfrm>
            <a:off x="640080" y="1572768"/>
            <a:ext cx="3246120" cy="384048"/>
          </a:xfrm>
          <a:prstGeom prst="roundRect">
            <a:avLst>
              <a:gd name="adj" fmla="val 30000"/>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1" name="Google Shape;541;p54"/>
          <p:cNvSpPr txBox="1"/>
          <p:nvPr/>
        </p:nvSpPr>
        <p:spPr>
          <a:xfrm>
            <a:off x="868680" y="1636776"/>
            <a:ext cx="3017520"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400" b="1" i="0" u="none" strike="noStrike" cap="none">
                <a:solidFill>
                  <a:srgbClr val="FFFFFF"/>
                </a:solidFill>
                <a:latin typeface="Arial"/>
                <a:ea typeface="Arial"/>
                <a:cs typeface="Arial"/>
                <a:sym typeface="Arial"/>
              </a:rPr>
              <a:t>Copy. Explain. Check.</a:t>
            </a:r>
            <a:endParaRPr/>
          </a:p>
        </p:txBody>
      </p:sp>
      <p:sp>
        <p:nvSpPr>
          <p:cNvPr id="542" name="Google Shape;542;p54"/>
          <p:cNvSpPr/>
          <p:nvPr/>
        </p:nvSpPr>
        <p:spPr>
          <a:xfrm>
            <a:off x="640080" y="2231136"/>
            <a:ext cx="10911809" cy="749808"/>
          </a:xfrm>
          <a:prstGeom prst="roundRect">
            <a:avLst>
              <a:gd name="adj" fmla="val 7000"/>
            </a:avLst>
          </a:prstGeom>
          <a:solidFill>
            <a:srgbClr val="FDEE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3" name="Google Shape;543;p54"/>
          <p:cNvSpPr txBox="1"/>
          <p:nvPr/>
        </p:nvSpPr>
        <p:spPr>
          <a:xfrm>
            <a:off x="960120" y="2359152"/>
            <a:ext cx="10271729" cy="493775"/>
          </a:xfrm>
          <a:prstGeom prst="rect">
            <a:avLst/>
          </a:prstGeom>
          <a:noFill/>
          <a:ln>
            <a:noFill/>
          </a:ln>
        </p:spPr>
        <p:txBody>
          <a:bodyPr spcFirstLastPara="1" wrap="square" lIns="0" tIns="0" rIns="0" bIns="0" anchor="ctr" anchorCtr="0">
            <a:spAutoFit/>
          </a:bodyPr>
          <a:lstStyle/>
          <a:p>
            <a:pPr marL="0" marR="0" lvl="0" indent="0" algn="l" rtl="0">
              <a:lnSpc>
                <a:spcPct val="116000"/>
              </a:lnSpc>
              <a:spcBef>
                <a:spcPts val="0"/>
              </a:spcBef>
              <a:spcAft>
                <a:spcPts val="0"/>
              </a:spcAft>
              <a:buNone/>
              <a:defRPr/>
            </a:pPr>
            <a:r>
              <a:rPr lang="en-US" sz="2700" b="1" i="0" u="none" strike="noStrike" cap="none">
                <a:solidFill>
                  <a:srgbClr val="14223A"/>
                </a:solidFill>
                <a:latin typeface="Arial"/>
                <a:ea typeface="Arial"/>
                <a:cs typeface="Arial"/>
                <a:sym typeface="Arial"/>
              </a:rPr>
              <a:t>Solving Addition &amp; Subtraction Equations</a:t>
            </a:r>
            <a:endParaRPr/>
          </a:p>
        </p:txBody>
      </p:sp>
      <p:sp>
        <p:nvSpPr>
          <p:cNvPr id="544" name="Google Shape;544;p54"/>
          <p:cNvSpPr/>
          <p:nvPr/>
        </p:nvSpPr>
        <p:spPr>
          <a:xfrm>
            <a:off x="640080" y="3182112"/>
            <a:ext cx="3749039" cy="603504"/>
          </a:xfrm>
          <a:prstGeom prst="roundRect">
            <a:avLst>
              <a:gd name="adj" fmla="val 12000"/>
            </a:avLst>
          </a:prstGeom>
          <a:solidFill>
            <a:srgbClr val="FFFFFF"/>
          </a:solidFill>
          <a:ln w="15875" cap="flat" cmpd="sng">
            <a:solidFill>
              <a:srgbClr val="C2410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5" name="Google Shape;545;p54"/>
          <p:cNvSpPr txBox="1"/>
          <p:nvPr/>
        </p:nvSpPr>
        <p:spPr>
          <a:xfrm>
            <a:off x="768096" y="3264408"/>
            <a:ext cx="3493007" cy="43891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defRPr/>
            </a:pPr>
            <a:r>
              <a:rPr lang="en-US" sz="2200" b="1" i="0" u="none" strike="noStrike" cap="none">
                <a:solidFill>
                  <a:srgbClr val="C2410C"/>
                </a:solidFill>
                <a:latin typeface="Arial"/>
                <a:ea typeface="Arial"/>
                <a:cs typeface="Arial"/>
                <a:sym typeface="Arial"/>
              </a:rPr>
              <a:t>x + a = b → x = b − a</a:t>
            </a:r>
            <a:endParaRPr/>
          </a:p>
        </p:txBody>
      </p:sp>
      <p:sp>
        <p:nvSpPr>
          <p:cNvPr id="546" name="Google Shape;546;p54"/>
          <p:cNvSpPr/>
          <p:nvPr/>
        </p:nvSpPr>
        <p:spPr>
          <a:xfrm>
            <a:off x="4663440" y="3182112"/>
            <a:ext cx="3749039" cy="603504"/>
          </a:xfrm>
          <a:prstGeom prst="roundRect">
            <a:avLst>
              <a:gd name="adj" fmla="val 12000"/>
            </a:avLst>
          </a:prstGeom>
          <a:solidFill>
            <a:srgbClr val="FFFFFF"/>
          </a:solidFill>
          <a:ln w="15875" cap="flat" cmpd="sng">
            <a:solidFill>
              <a:srgbClr val="C2410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7" name="Google Shape;547;p54"/>
          <p:cNvSpPr txBox="1"/>
          <p:nvPr/>
        </p:nvSpPr>
        <p:spPr>
          <a:xfrm>
            <a:off x="4791455" y="3264408"/>
            <a:ext cx="3493007" cy="43891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defRPr/>
            </a:pPr>
            <a:r>
              <a:rPr lang="en-US" sz="2200" b="1" i="0" u="none" strike="noStrike" cap="none">
                <a:solidFill>
                  <a:srgbClr val="C2410C"/>
                </a:solidFill>
                <a:latin typeface="Arial"/>
                <a:ea typeface="Arial"/>
                <a:cs typeface="Arial"/>
                <a:sym typeface="Arial"/>
              </a:rPr>
              <a:t>x − a = b → x = b + a</a:t>
            </a:r>
            <a:endParaRPr/>
          </a:p>
        </p:txBody>
      </p:sp>
      <p:sp>
        <p:nvSpPr>
          <p:cNvPr id="548" name="Google Shape;548;p54"/>
          <p:cNvSpPr/>
          <p:nvPr/>
        </p:nvSpPr>
        <p:spPr>
          <a:xfrm>
            <a:off x="640080" y="4005072"/>
            <a:ext cx="10911809" cy="621792"/>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9" name="Google Shape;549;p54"/>
          <p:cNvSpPr/>
          <p:nvPr/>
        </p:nvSpPr>
        <p:spPr>
          <a:xfrm>
            <a:off x="896112" y="4151376"/>
            <a:ext cx="329184" cy="329184"/>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FFFFFF"/>
                </a:solidFill>
                <a:latin typeface="Arial"/>
                <a:ea typeface="Arial"/>
                <a:cs typeface="Arial"/>
                <a:sym typeface="Arial"/>
              </a:rPr>
              <a:t>1</a:t>
            </a:r>
            <a:endParaRPr/>
          </a:p>
        </p:txBody>
      </p:sp>
      <p:sp>
        <p:nvSpPr>
          <p:cNvPr id="550" name="Google Shape;550;p54"/>
          <p:cNvSpPr txBox="1"/>
          <p:nvPr/>
        </p:nvSpPr>
        <p:spPr>
          <a:xfrm>
            <a:off x="1371600" y="4087368"/>
            <a:ext cx="10043129" cy="457200"/>
          </a:xfrm>
          <a:prstGeom prst="rect">
            <a:avLst/>
          </a:prstGeom>
          <a:noFill/>
          <a:ln>
            <a:noFill/>
          </a:ln>
        </p:spPr>
        <p:txBody>
          <a:bodyPr spcFirstLastPara="1" wrap="square" lIns="0" tIns="0" rIns="0" bIns="0" anchor="ctr" anchorCtr="0">
            <a:spAutoFit/>
          </a:bodyPr>
          <a:lstStyle/>
          <a:p>
            <a:pPr marL="0" marR="0" lvl="0" indent="0" algn="l" rtl="0">
              <a:lnSpc>
                <a:spcPct val="116000"/>
              </a:lnSpc>
              <a:spcBef>
                <a:spcPts val="0"/>
              </a:spcBef>
              <a:spcAft>
                <a:spcPts val="0"/>
              </a:spcAft>
              <a:buNone/>
              <a:defRPr/>
            </a:pPr>
            <a:r>
              <a:rPr lang="en-US" sz="1600" b="0" i="0" u="none" strike="noStrike" cap="none">
                <a:solidFill>
                  <a:srgbClr val="14223A"/>
                </a:solidFill>
                <a:latin typeface="Arial"/>
                <a:ea typeface="Arial"/>
                <a:cs typeface="Arial"/>
                <a:sym typeface="Arial"/>
              </a:rPr>
              <a:t>Identify operation on </a:t>
            </a:r>
            <a:r>
              <a:rPr lang="en-US" sz="1600" b="1" i="0" u="none" strike="noStrike" cap="none">
                <a:solidFill>
                  <a:srgbClr val="14223A"/>
                </a:solidFill>
                <a:latin typeface="Arial"/>
                <a:ea typeface="Arial"/>
                <a:cs typeface="Arial"/>
                <a:sym typeface="Arial"/>
              </a:rPr>
              <a:t>variable</a:t>
            </a:r>
            <a:endParaRPr/>
          </a:p>
        </p:txBody>
      </p:sp>
      <p:sp>
        <p:nvSpPr>
          <p:cNvPr id="551" name="Google Shape;551;p54"/>
          <p:cNvSpPr/>
          <p:nvPr/>
        </p:nvSpPr>
        <p:spPr>
          <a:xfrm>
            <a:off x="640080" y="4773168"/>
            <a:ext cx="10911809" cy="621792"/>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52" name="Google Shape;552;p54"/>
          <p:cNvSpPr/>
          <p:nvPr/>
        </p:nvSpPr>
        <p:spPr>
          <a:xfrm>
            <a:off x="896112" y="4919472"/>
            <a:ext cx="329184" cy="329184"/>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FFFFFF"/>
                </a:solidFill>
                <a:latin typeface="Arial"/>
                <a:ea typeface="Arial"/>
                <a:cs typeface="Arial"/>
                <a:sym typeface="Arial"/>
              </a:rPr>
              <a:t>2</a:t>
            </a:r>
            <a:endParaRPr/>
          </a:p>
        </p:txBody>
      </p:sp>
      <p:sp>
        <p:nvSpPr>
          <p:cNvPr id="553" name="Google Shape;553;p54"/>
          <p:cNvSpPr txBox="1"/>
          <p:nvPr/>
        </p:nvSpPr>
        <p:spPr>
          <a:xfrm>
            <a:off x="1371600" y="4855464"/>
            <a:ext cx="10043129" cy="457200"/>
          </a:xfrm>
          <a:prstGeom prst="rect">
            <a:avLst/>
          </a:prstGeom>
          <a:noFill/>
          <a:ln>
            <a:noFill/>
          </a:ln>
        </p:spPr>
        <p:txBody>
          <a:bodyPr spcFirstLastPara="1" wrap="square" lIns="0" tIns="0" rIns="0" bIns="0" anchor="ctr" anchorCtr="0">
            <a:spAutoFit/>
          </a:bodyPr>
          <a:lstStyle/>
          <a:p>
            <a:pPr marL="0" marR="0" lvl="0" indent="0" algn="l" rtl="0">
              <a:lnSpc>
                <a:spcPct val="116000"/>
              </a:lnSpc>
              <a:spcBef>
                <a:spcPts val="0"/>
              </a:spcBef>
              <a:spcAft>
                <a:spcPts val="0"/>
              </a:spcAft>
              <a:buNone/>
              <a:defRPr/>
            </a:pPr>
            <a:r>
              <a:rPr lang="en-US" sz="1600" b="1" i="0" u="none" strike="noStrike" cap="none">
                <a:solidFill>
                  <a:srgbClr val="14223A"/>
                </a:solidFill>
                <a:latin typeface="Arial"/>
                <a:ea typeface="Arial"/>
                <a:cs typeface="Arial"/>
                <a:sym typeface="Arial"/>
              </a:rPr>
              <a:t>Use inverse operation: </a:t>
            </a:r>
            <a:r>
              <a:rPr lang="en-US" sz="1600" b="0" i="0" u="none" strike="noStrike" cap="none">
                <a:solidFill>
                  <a:srgbClr val="14223A"/>
                </a:solidFill>
                <a:latin typeface="Arial"/>
                <a:ea typeface="Arial"/>
                <a:cs typeface="Arial"/>
                <a:sym typeface="Arial"/>
              </a:rPr>
              <a:t>subtract to undo addition; add to undo subtraction</a:t>
            </a:r>
            <a:endParaRPr/>
          </a:p>
        </p:txBody>
      </p:sp>
      <p:sp>
        <p:nvSpPr>
          <p:cNvPr id="554" name="Google Shape;554;p54"/>
          <p:cNvSpPr/>
          <p:nvPr/>
        </p:nvSpPr>
        <p:spPr>
          <a:xfrm>
            <a:off x="640080" y="5541264"/>
            <a:ext cx="10911809" cy="621792"/>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55" name="Google Shape;555;p54"/>
          <p:cNvSpPr/>
          <p:nvPr/>
        </p:nvSpPr>
        <p:spPr>
          <a:xfrm>
            <a:off x="896112" y="5687568"/>
            <a:ext cx="329184" cy="329184"/>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FFFFFF"/>
                </a:solidFill>
                <a:latin typeface="Arial"/>
                <a:ea typeface="Arial"/>
                <a:cs typeface="Arial"/>
                <a:sym typeface="Arial"/>
              </a:rPr>
              <a:t>3</a:t>
            </a:r>
            <a:endParaRPr/>
          </a:p>
        </p:txBody>
      </p:sp>
      <p:sp>
        <p:nvSpPr>
          <p:cNvPr id="556" name="Google Shape;556;p54"/>
          <p:cNvSpPr txBox="1"/>
          <p:nvPr/>
        </p:nvSpPr>
        <p:spPr>
          <a:xfrm>
            <a:off x="1371600" y="5623560"/>
            <a:ext cx="10043129" cy="457200"/>
          </a:xfrm>
          <a:prstGeom prst="rect">
            <a:avLst/>
          </a:prstGeom>
          <a:noFill/>
          <a:ln>
            <a:noFill/>
          </a:ln>
        </p:spPr>
        <p:txBody>
          <a:bodyPr spcFirstLastPara="1" wrap="square" lIns="0" tIns="0" rIns="0" bIns="0" anchor="ctr" anchorCtr="0">
            <a:spAutoFit/>
          </a:bodyPr>
          <a:lstStyle/>
          <a:p>
            <a:pPr marL="0" marR="0" lvl="0" indent="0" algn="l" rtl="0">
              <a:lnSpc>
                <a:spcPct val="116000"/>
              </a:lnSpc>
              <a:spcBef>
                <a:spcPts val="0"/>
              </a:spcBef>
              <a:spcAft>
                <a:spcPts val="0"/>
              </a:spcAft>
              <a:buNone/>
              <a:defRPr/>
            </a:pPr>
            <a:r>
              <a:rPr lang="en-US" sz="1600" b="1" i="0" u="none" strike="noStrike" cap="none">
                <a:solidFill>
                  <a:srgbClr val="14223A"/>
                </a:solidFill>
                <a:latin typeface="Arial"/>
                <a:ea typeface="Arial"/>
                <a:cs typeface="Arial"/>
                <a:sym typeface="Arial"/>
              </a:rPr>
              <a:t>Property of Equality: </a:t>
            </a:r>
            <a:r>
              <a:rPr lang="en-US" sz="1600" b="0" i="0" u="none" strike="noStrike" cap="none">
                <a:solidFill>
                  <a:srgbClr val="14223A"/>
                </a:solidFill>
                <a:latin typeface="Arial"/>
                <a:ea typeface="Arial"/>
                <a:cs typeface="Arial"/>
                <a:sym typeface="Arial"/>
              </a:rPr>
              <a:t>do same operation to both sides</a:t>
            </a:r>
            <a:endParaRPr/>
          </a:p>
        </p:txBody>
      </p:sp>
      <p:sp>
        <p:nvSpPr>
          <p:cNvPr id="557"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 / 54</a:t>
            </a:r>
          </a:p>
        </p:txBody>
      </p:sp>
      <p:grpSp>
        <p:nvGrpSpPr>
          <p:cNvPr id="558" name="TEACH-1-student-move" descr="TEACH 1 · Facilitate clear, standards-based content learning"/>
          <p:cNvGrpSpPr/>
          <p:nvPr/>
        </p:nvGrpSpPr>
        <p:grpSpPr>
          <a:xfrm>
            <a:off x="6187440" y="1682496"/>
            <a:ext cx="5501640" cy="594360"/>
            <a:chOff x="6187440" y="1682496"/>
            <a:chExt cx="5501640" cy="594360"/>
          </a:xfrm>
        </p:grpSpPr>
        <p:sp>
          <p:nvSpPr>
            <p:cNvPr id="559"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60"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61"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40"/>
          <p:cNvSpPr txBox="1"/>
          <p:nvPr/>
        </p:nvSpPr>
        <p:spPr>
          <a:xfrm>
            <a:off x="1402828" y="2453951"/>
            <a:ext cx="9144000" cy="139852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600"/>
              <a:buFont typeface="Arial"/>
              <a:buNone/>
              <a:defRPr/>
            </a:pPr>
            <a:r>
              <a:rPr lang="en-US" sz="3600" b="1" i="0" u="none" strike="noStrike" cap="none">
                <a:solidFill>
                  <a:schemeClr val="dk1"/>
                </a:solidFill>
                <a:latin typeface="Arial"/>
                <a:ea typeface="Arial"/>
                <a:cs typeface="Arial"/>
                <a:sym typeface="Arial"/>
              </a:rPr>
              <a:t>Write and Solve Equations Using Addition or Subtraction</a:t>
            </a:r>
            <a:endParaRPr sz="3600" b="1" i="0" u="none" strike="noStrike" cap="none">
              <a:solidFill>
                <a:schemeClr val="dk1"/>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defRPr/>
            </a:pPr>
            <a:r>
              <a:rPr lang="en-US" sz="2800" b="0" i="0" u="none" strike="noStrike" cap="none">
                <a:solidFill>
                  <a:srgbClr val="782DA0"/>
                </a:solidFill>
                <a:latin typeface="Arial"/>
                <a:ea typeface="Arial"/>
                <a:cs typeface="Arial"/>
                <a:sym typeface="Arial"/>
              </a:rPr>
              <a:t>Session 1</a:t>
            </a:r>
            <a:endParaRPr sz="2800" b="1" i="0" u="none" strike="noStrike" cap="non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w="19050" cap="flat" cmpd="sng">
            <a:solidFill>
              <a:srgbClr val="782DA0"/>
            </a:solidFill>
            <a:prstDash val="solid"/>
            <a:miter lim="80"/>
            <a:headEnd type="none" w="sm" len="sm"/>
            <a:tailEnd type="none" w="sm" len="sm"/>
          </a:ln>
        </p:spPr>
      </p:cxnSp>
      <p:sp>
        <p:nvSpPr>
          <p:cNvPr id="236"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 / 54</a:t>
            </a:r>
          </a:p>
        </p:txBody>
      </p:sp>
      <p:grpSp>
        <p:nvGrpSpPr>
          <p:cNvPr id="237" name="TEACH-6-student-move" descr="TEACH 6 · Organize and implement routines to support a learning-focused classroom"/>
          <p:cNvGrpSpPr/>
          <p:nvPr/>
        </p:nvGrpSpPr>
        <p:grpSpPr>
          <a:xfrm>
            <a:off x="502920" y="3867613"/>
            <a:ext cx="11186160" cy="731520"/>
            <a:chOff x="502920" y="3867613"/>
            <a:chExt cx="11186160" cy="731520"/>
          </a:xfrm>
        </p:grpSpPr>
        <p:sp>
          <p:nvSpPr>
            <p:cNvPr id="238" name="TEACH-move-card"/>
            <p:cNvSpPr/>
            <p:nvPr/>
          </p:nvSpPr>
          <p:spPr>
            <a:xfrm>
              <a:off x="502920" y="3867613"/>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4006602"/>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867613"/>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TRY IT BEFORE YOU’RE SURE  ·  </a:t>
              </a:r>
              <a:r>
                <a:rPr lang="en-US" sz="1800" dirty="0">
                  <a:solidFill>
                    <a:srgbClr val="13303A"/>
                  </a:solidFill>
                  <a:latin typeface="Arial"/>
                </a:rPr>
                <a:t>Start even if you are not sure. A revised answer counts as much as a first-try answer.</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cxnSp>
        <p:nvCxnSpPr>
          <p:cNvPr id="241" name="Google Shape;241;p41"/>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242" name="Google Shape;242;p41"/>
          <p:cNvSpPr txBox="1"/>
          <p:nvPr/>
        </p:nvSpPr>
        <p:spPr>
          <a:xfrm>
            <a:off x="486000" y="316034"/>
            <a:ext cx="3643548" cy="4860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i="0" u="none" strike="noStrike" cap="none">
                <a:solidFill>
                  <a:srgbClr val="782DA0"/>
                </a:solidFill>
                <a:latin typeface="Arial"/>
                <a:ea typeface="Arial"/>
                <a:cs typeface="Arial"/>
                <a:sym typeface="Arial"/>
              </a:rPr>
              <a:t>This or That?</a:t>
            </a:r>
            <a:endParaRPr sz="1400" b="0" i="0" u="none" strike="noStrike" cap="none">
              <a:solidFill>
                <a:srgbClr val="000000"/>
              </a:solidFill>
              <a:latin typeface="Arial"/>
              <a:ea typeface="Arial"/>
              <a:cs typeface="Arial"/>
              <a:sym typeface="Arial"/>
            </a:endParaRPr>
          </a:p>
        </p:txBody>
      </p:sp>
      <p:sp>
        <p:nvSpPr>
          <p:cNvPr id="243" name="Google Shape;243;p41"/>
          <p:cNvSpPr/>
          <p:nvPr/>
        </p:nvSpPr>
        <p:spPr>
          <a:xfrm>
            <a:off x="486000" y="936000"/>
            <a:ext cx="7334025" cy="95410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Arial"/>
                <a:ea typeface="Arial"/>
                <a:cs typeface="Arial"/>
                <a:sym typeface="Arial"/>
              </a:rPr>
              <a:t>Would you rather have THIS or THAT of your favorite cookies?</a:t>
            </a:r>
            <a:endParaRPr sz="2800" b="0" i="0" u="none" strike="noStrike" cap="none">
              <a:solidFill>
                <a:schemeClr val="dk1"/>
              </a:solidFill>
              <a:latin typeface="Arial"/>
              <a:ea typeface="Arial"/>
              <a:cs typeface="Arial"/>
              <a:sym typeface="Arial"/>
            </a:endParaRPr>
          </a:p>
        </p:txBody>
      </p:sp>
      <p:graphicFrame>
        <p:nvGraphicFramePr>
          <p:cNvPr id="244" name="Google Shape;244;p41"/>
          <p:cNvGraphicFramePr/>
          <p:nvPr/>
        </p:nvGraphicFramePr>
        <p:xfrm>
          <a:off x="486000" y="2183290"/>
          <a:ext cx="3000000" cy="3000000"/>
        </p:xfrm>
        <a:graphic>
          <a:graphicData uri="http://schemas.openxmlformats.org/drawingml/2006/table">
            <a:tbl>
              <a:tblPr firstRow="1" bandRow="1">
                <a:noFill/>
                <a:tableStyleId>{90040B1E-804E-453C-99A6-D6DA1C4BF1D3}</a:tableStyleId>
              </a:tblPr>
              <a:tblGrid>
                <a:gridCol w="4351200">
                  <a:extLst>
                    <a:ext uri="{9D8B030D-6E8A-4147-A177-3AD203B41FA5}">
                      <a16:colId xmlns:a16="http://schemas.microsoft.com/office/drawing/2014/main" val="20000"/>
                    </a:ext>
                  </a:extLst>
                </a:gridCol>
                <a:gridCol w="4410875">
                  <a:extLst>
                    <a:ext uri="{9D8B030D-6E8A-4147-A177-3AD203B41FA5}">
                      <a16:colId xmlns:a16="http://schemas.microsoft.com/office/drawing/2014/main" val="20001"/>
                    </a:ext>
                  </a:extLst>
                </a:gridCol>
              </a:tblGrid>
              <a:tr h="518150">
                <a:tc gridSpan="2">
                  <a:txBody>
                    <a:bodyPr/>
                    <a:lstStyle/>
                    <a:p>
                      <a:pPr marL="0" marR="0" lvl="0" indent="0" algn="l" rtl="0">
                        <a:lnSpc>
                          <a:spcPct val="100000"/>
                        </a:lnSpc>
                        <a:spcBef>
                          <a:spcPts val="0"/>
                        </a:spcBef>
                        <a:spcAft>
                          <a:spcPts val="0"/>
                        </a:spcAft>
                        <a:buClr>
                          <a:srgbClr val="000000"/>
                        </a:buClr>
                        <a:buSzPts val="2800"/>
                        <a:buFont typeface="Arial"/>
                        <a:buNone/>
                      </a:pPr>
                      <a:r>
                        <a:rPr lang="en-US" sz="2800" u="none" strike="noStrike" cap="none">
                          <a:solidFill>
                            <a:schemeClr val="dk1"/>
                          </a:solidFill>
                          <a:latin typeface="Arial"/>
                          <a:ea typeface="Arial"/>
                          <a:cs typeface="Arial"/>
                          <a:sym typeface="Arial"/>
                        </a:rPr>
                        <a:t>THIS or THAT</a:t>
                      </a:r>
                      <a:endParaRPr sz="2800" u="none" strike="noStrike" cap="none">
                        <a:solidFill>
                          <a:schemeClr val="dk1"/>
                        </a:solidFill>
                        <a:latin typeface="Arial"/>
                        <a:ea typeface="Arial"/>
                        <a:cs typeface="Arial"/>
                        <a:sym typeface="Arial"/>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518150">
                <a:tc>
                  <a:txBody>
                    <a:bodyPr/>
                    <a:lstStyle/>
                    <a:p>
                      <a:pPr marL="0" marR="0" lvl="0" indent="0" algn="ctr" rtl="0">
                        <a:lnSpc>
                          <a:spcPct val="100000"/>
                        </a:lnSpc>
                        <a:spcBef>
                          <a:spcPts val="0"/>
                        </a:spcBef>
                        <a:spcAft>
                          <a:spcPts val="0"/>
                        </a:spcAft>
                        <a:buClr>
                          <a:srgbClr val="000000"/>
                        </a:buClr>
                        <a:buSzPts val="2800"/>
                        <a:buFont typeface="Arial"/>
                        <a:buNone/>
                      </a:pPr>
                      <a:r>
                        <a:rPr lang="en-US" sz="2800" b="1" u="none" strike="noStrike" cap="none">
                          <a:solidFill>
                            <a:schemeClr val="lt1"/>
                          </a:solidFill>
                          <a:latin typeface="Arial"/>
                          <a:ea typeface="Arial"/>
                          <a:cs typeface="Arial"/>
                          <a:sym typeface="Arial"/>
                        </a:rPr>
                        <a:t>THIS</a:t>
                      </a:r>
                      <a:endParaRPr sz="2800" b="1" u="none" strike="noStrike" cap="none">
                        <a:solidFill>
                          <a:schemeClr val="lt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solidFill>
                      <a:srgbClr val="625D9C"/>
                    </a:solidFill>
                  </a:tcPr>
                </a:tc>
                <a:tc>
                  <a:txBody>
                    <a:bodyPr/>
                    <a:lstStyle/>
                    <a:p>
                      <a:pPr marL="0" marR="0" lvl="0" indent="0" algn="ctr" rtl="0">
                        <a:lnSpc>
                          <a:spcPct val="100000"/>
                        </a:lnSpc>
                        <a:spcBef>
                          <a:spcPts val="0"/>
                        </a:spcBef>
                        <a:spcAft>
                          <a:spcPts val="0"/>
                        </a:spcAft>
                        <a:buClr>
                          <a:srgbClr val="000000"/>
                        </a:buClr>
                        <a:buSzPts val="2800"/>
                        <a:buFont typeface="Arial"/>
                        <a:buNone/>
                      </a:pPr>
                      <a:r>
                        <a:rPr lang="en-US" sz="2800" b="1" u="none" strike="noStrike" cap="none">
                          <a:solidFill>
                            <a:schemeClr val="lt1"/>
                          </a:solidFill>
                          <a:latin typeface="Arial"/>
                          <a:ea typeface="Arial"/>
                          <a:cs typeface="Arial"/>
                          <a:sym typeface="Arial"/>
                        </a:rPr>
                        <a:t>THAT</a:t>
                      </a:r>
                      <a:endParaRPr sz="2800" b="1" u="none" strike="noStrike" cap="none">
                        <a:solidFill>
                          <a:schemeClr val="lt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solidFill>
                      <a:srgbClr val="625D9C"/>
                    </a:solidFill>
                  </a:tcPr>
                </a:tc>
                <a:extLst>
                  <a:ext uri="{0D108BD9-81ED-4DB2-BD59-A6C34878D82A}">
                    <a16:rowId xmlns:a16="http://schemas.microsoft.com/office/drawing/2014/main" val="10001"/>
                  </a:ext>
                </a:extLst>
              </a:tr>
              <a:tr h="68757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72490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8480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45"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5 / 54</a:t>
            </a:r>
          </a:p>
        </p:txBody>
      </p:sp>
      <p:sp>
        <p:nvSpPr>
          <p:cNvPr id="246"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4"/>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9" name="Google Shape;319;p44"/>
          <p:cNvSpPr/>
          <p:nvPr/>
        </p:nvSpPr>
        <p:spPr>
          <a:xfrm>
            <a:off x="0" y="0"/>
            <a:ext cx="12191969" cy="713232"/>
          </a:xfrm>
          <a:prstGeom prst="rect">
            <a:avLst/>
          </a:prstGeom>
          <a:solidFill>
            <a:srgbClr val="0F7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0" name="Google Shape;320;p44"/>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2000" b="1" i="0" u="none" strike="noStrike" cap="none">
                <a:solidFill>
                  <a:srgbClr val="FFFFFF"/>
                </a:solidFill>
                <a:latin typeface="Arial"/>
                <a:ea typeface="Arial"/>
                <a:cs typeface="Arial"/>
                <a:sym typeface="Arial"/>
              </a:rPr>
              <a:t>Today’s Objectives</a:t>
            </a:r>
            <a:endParaRPr/>
          </a:p>
        </p:txBody>
      </p:sp>
      <p:sp>
        <p:nvSpPr>
          <p:cNvPr id="321" name="Google Shape;321;p44"/>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defRPr/>
            </a:pPr>
            <a:r>
              <a:rPr lang="en-US" sz="1200" b="0" i="0" u="none" strike="noStrike" cap="none">
                <a:solidFill>
                  <a:srgbClr val="FFFFFF"/>
                </a:solidFill>
                <a:latin typeface="Arial"/>
                <a:ea typeface="Arial"/>
                <a:cs typeface="Arial"/>
                <a:sym typeface="Arial"/>
              </a:rPr>
              <a:t>Lesson 8-2 · Write and Solve Equations Using Addition or Subtraction</a:t>
            </a:r>
            <a:endParaRPr/>
          </a:p>
        </p:txBody>
      </p:sp>
      <p:sp>
        <p:nvSpPr>
          <p:cNvPr id="322" name="Google Shape;322;p44"/>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3" name="Google Shape;323;p44"/>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000" b="0" i="0" u="none" strike="noStrike" cap="none">
                <a:solidFill>
                  <a:srgbClr val="475569"/>
                </a:solidFill>
                <a:latin typeface="Arial"/>
                <a:ea typeface="Arial"/>
                <a:cs typeface="Arial"/>
                <a:sym typeface="Arial"/>
              </a:rPr>
              <a:t>eduwonderlab.com  ·  Neft Teacher</a:t>
            </a:r>
            <a:endParaRPr/>
          </a:p>
        </p:txBody>
      </p:sp>
      <p:sp>
        <p:nvSpPr>
          <p:cNvPr id="324" name="Google Shape;324;p44"/>
          <p:cNvSpPr txBox="1"/>
          <p:nvPr/>
        </p:nvSpPr>
        <p:spPr>
          <a:xfrm>
            <a:off x="640080" y="969264"/>
            <a:ext cx="10911809" cy="1016000"/>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None/>
              <a:defRPr/>
            </a:pPr>
            <a:r>
              <a:rPr lang="en-US" sz="3250" b="1" i="0" u="none" strike="noStrike" cap="none">
                <a:solidFill>
                  <a:srgbClr val="14223A"/>
                </a:solidFill>
                <a:latin typeface="Arial"/>
                <a:ea typeface="Arial"/>
                <a:cs typeface="Arial"/>
                <a:sym typeface="Arial"/>
              </a:rPr>
              <a:t>Write and Solve Equations Using Addition or Subtraction</a:t>
            </a:r>
            <a:endParaRPr/>
          </a:p>
        </p:txBody>
      </p:sp>
      <p:sp>
        <p:nvSpPr>
          <p:cNvPr id="325" name="Google Shape;325;p44"/>
          <p:cNvSpPr txBox="1"/>
          <p:nvPr/>
        </p:nvSpPr>
        <p:spPr>
          <a:xfrm>
            <a:off x="640080" y="2021840"/>
            <a:ext cx="10911809"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400" b="1" i="0" u="none" strike="noStrike" cap="none">
                <a:solidFill>
                  <a:srgbClr val="475569"/>
                </a:solidFill>
                <a:latin typeface="Arial"/>
                <a:ea typeface="Arial"/>
                <a:cs typeface="Arial"/>
                <a:sym typeface="Arial"/>
              </a:rPr>
              <a:t>Maryland Standard 6.AT.8</a:t>
            </a:r>
            <a:endParaRPr/>
          </a:p>
        </p:txBody>
      </p:sp>
      <p:sp>
        <p:nvSpPr>
          <p:cNvPr id="326" name="Google Shape;326;p44"/>
          <p:cNvSpPr/>
          <p:nvPr/>
        </p:nvSpPr>
        <p:spPr>
          <a:xfrm>
            <a:off x="640080" y="2442464"/>
            <a:ext cx="5349240" cy="3610863"/>
          </a:xfrm>
          <a:prstGeom prst="roundRect">
            <a:avLst>
              <a:gd name="adj" fmla="val 4500"/>
            </a:avLst>
          </a:prstGeom>
          <a:solidFill>
            <a:srgbClr val="E3F2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7" name="Google Shape;327;p44"/>
          <p:cNvSpPr/>
          <p:nvPr/>
        </p:nvSpPr>
        <p:spPr>
          <a:xfrm>
            <a:off x="640080" y="2442464"/>
            <a:ext cx="118872" cy="3610863"/>
          </a:xfrm>
          <a:prstGeom prst="rect">
            <a:avLst/>
          </a:prstGeom>
          <a:solidFill>
            <a:srgbClr val="0F7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8" name="Google Shape;328;p44"/>
          <p:cNvSpPr txBox="1"/>
          <p:nvPr/>
        </p:nvSpPr>
        <p:spPr>
          <a:xfrm>
            <a:off x="1097280" y="2808224"/>
            <a:ext cx="4480559"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400" b="1" i="0" u="none" strike="noStrike" cap="none">
                <a:solidFill>
                  <a:srgbClr val="0F766E"/>
                </a:solidFill>
                <a:latin typeface="Arial"/>
                <a:ea typeface="Arial"/>
                <a:cs typeface="Arial"/>
                <a:sym typeface="Arial"/>
              </a:rPr>
              <a:t>CONTENT OBJECTIVE</a:t>
            </a:r>
            <a:endParaRPr/>
          </a:p>
        </p:txBody>
      </p:sp>
      <p:sp>
        <p:nvSpPr>
          <p:cNvPr id="329" name="Google Shape;329;p44"/>
          <p:cNvSpPr txBox="1"/>
          <p:nvPr/>
        </p:nvSpPr>
        <p:spPr>
          <a:xfrm>
            <a:off x="1097280" y="3137408"/>
            <a:ext cx="448055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400" b="0" i="1" u="none" strike="noStrike" cap="none">
                <a:solidFill>
                  <a:srgbClr val="475569"/>
                </a:solidFill>
                <a:latin typeface="Arial"/>
                <a:ea typeface="Arial"/>
                <a:cs typeface="Arial"/>
                <a:sym typeface="Arial"/>
              </a:rPr>
              <a:t>Restate the goal in your words</a:t>
            </a:r>
            <a:endParaRPr/>
          </a:p>
        </p:txBody>
      </p:sp>
      <p:sp>
        <p:nvSpPr>
          <p:cNvPr id="330" name="Google Shape;330;p44"/>
          <p:cNvSpPr txBox="1"/>
          <p:nvPr/>
        </p:nvSpPr>
        <p:spPr>
          <a:xfrm>
            <a:off x="1097280" y="3612896"/>
            <a:ext cx="4480559" cy="2038095"/>
          </a:xfrm>
          <a:prstGeom prst="rect">
            <a:avLst/>
          </a:prstGeom>
          <a:noFill/>
          <a:ln>
            <a:noFill/>
          </a:ln>
        </p:spPr>
        <p:txBody>
          <a:bodyPr spcFirstLastPara="1" wrap="square" lIns="0" tIns="0" rIns="0" bIns="0" anchor="t" anchorCtr="0">
            <a:spAutoFit/>
          </a:bodyPr>
          <a:lstStyle/>
          <a:p>
            <a:pPr marL="0" marR="0" lvl="0" indent="0" algn="l" rtl="0">
              <a:lnSpc>
                <a:spcPct val="124000"/>
              </a:lnSpc>
              <a:spcBef>
                <a:spcPts val="0"/>
              </a:spcBef>
              <a:spcAft>
                <a:spcPts val="0"/>
              </a:spcAft>
              <a:buNone/>
              <a:defRPr/>
            </a:pPr>
            <a:r>
              <a:rPr lang="en-US" sz="2500" b="1" i="0" u="none" strike="noStrike" cap="none">
                <a:solidFill>
                  <a:srgbClr val="14223A"/>
                </a:solidFill>
                <a:latin typeface="Arial"/>
                <a:ea typeface="Arial"/>
                <a:cs typeface="Arial"/>
                <a:sym typeface="Arial"/>
              </a:rPr>
              <a:t>I can solve one-step addition and subtraction equations using inverse operations.</a:t>
            </a:r>
            <a:endParaRPr/>
          </a:p>
        </p:txBody>
      </p:sp>
      <p:sp>
        <p:nvSpPr>
          <p:cNvPr id="331" name="Google Shape;331;p44"/>
          <p:cNvSpPr/>
          <p:nvPr/>
        </p:nvSpPr>
        <p:spPr>
          <a:xfrm>
            <a:off x="6382512" y="2442464"/>
            <a:ext cx="5349240" cy="3610863"/>
          </a:xfrm>
          <a:prstGeom prst="roundRect">
            <a:avLst>
              <a:gd name="adj" fmla="val 4500"/>
            </a:avLst>
          </a:prstGeom>
          <a:solidFill>
            <a:srgbClr val="FDEE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2" name="Google Shape;332;p44"/>
          <p:cNvSpPr/>
          <p:nvPr/>
        </p:nvSpPr>
        <p:spPr>
          <a:xfrm>
            <a:off x="6382512" y="2442464"/>
            <a:ext cx="118872" cy="3610863"/>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3" name="Google Shape;333;p44"/>
          <p:cNvSpPr txBox="1"/>
          <p:nvPr/>
        </p:nvSpPr>
        <p:spPr>
          <a:xfrm>
            <a:off x="6839712" y="2808224"/>
            <a:ext cx="4480559"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400" b="1" i="0" u="none" strike="noStrike" cap="none">
                <a:solidFill>
                  <a:srgbClr val="C2410C"/>
                </a:solidFill>
                <a:latin typeface="Arial"/>
                <a:ea typeface="Arial"/>
                <a:cs typeface="Arial"/>
                <a:sym typeface="Arial"/>
              </a:rPr>
              <a:t>LANGUAGE OBJECTIVE</a:t>
            </a:r>
            <a:endParaRPr/>
          </a:p>
        </p:txBody>
      </p:sp>
      <p:sp>
        <p:nvSpPr>
          <p:cNvPr id="334" name="Google Shape;334;p44"/>
          <p:cNvSpPr txBox="1"/>
          <p:nvPr/>
        </p:nvSpPr>
        <p:spPr>
          <a:xfrm>
            <a:off x="6839712" y="3137408"/>
            <a:ext cx="448055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400" b="0" i="1" u="none" strike="noStrike" cap="none">
                <a:solidFill>
                  <a:srgbClr val="475569"/>
                </a:solidFill>
                <a:latin typeface="Arial"/>
                <a:ea typeface="Arial"/>
                <a:cs typeface="Arial"/>
                <a:sym typeface="Arial"/>
              </a:rPr>
              <a:t>Use these words to explain why</a:t>
            </a:r>
            <a:endParaRPr/>
          </a:p>
        </p:txBody>
      </p:sp>
      <p:sp>
        <p:nvSpPr>
          <p:cNvPr id="335" name="Google Shape;335;p44"/>
          <p:cNvSpPr txBox="1"/>
          <p:nvPr/>
        </p:nvSpPr>
        <p:spPr>
          <a:xfrm>
            <a:off x="6839712" y="3612896"/>
            <a:ext cx="4480559" cy="2038095"/>
          </a:xfrm>
          <a:prstGeom prst="rect">
            <a:avLst/>
          </a:prstGeom>
          <a:noFill/>
          <a:ln>
            <a:noFill/>
          </a:ln>
        </p:spPr>
        <p:txBody>
          <a:bodyPr spcFirstLastPara="1" wrap="square" lIns="0" tIns="0" rIns="0" bIns="0" anchor="t" anchorCtr="0">
            <a:spAutoFit/>
          </a:bodyPr>
          <a:lstStyle/>
          <a:p>
            <a:pPr marL="0" marR="0" lvl="0" indent="0" algn="l" rtl="0">
              <a:lnSpc>
                <a:spcPct val="124000"/>
              </a:lnSpc>
              <a:spcBef>
                <a:spcPts val="0"/>
              </a:spcBef>
              <a:spcAft>
                <a:spcPts val="0"/>
              </a:spcAft>
              <a:buNone/>
              <a:defRPr/>
            </a:pPr>
            <a:r>
              <a:rPr lang="en-US" sz="2500" b="1" i="0" u="none" strike="noStrike" cap="none">
                <a:solidFill>
                  <a:srgbClr val="14223A"/>
                </a:solidFill>
                <a:latin typeface="Arial"/>
                <a:ea typeface="Arial"/>
                <a:cs typeface="Arial"/>
                <a:sym typeface="Arial"/>
              </a:rPr>
              <a:t>I can explain my steps using the words equation, inverse operation, isolate, and solution.</a:t>
            </a:r>
            <a:endParaRPr/>
          </a:p>
        </p:txBody>
      </p:sp>
      <p:sp>
        <p:nvSpPr>
          <p:cNvPr id="336"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6 / 54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1-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NAME THE MATH  ·  </a:t>
            </a:r>
            <a:r>
              <a:rPr lang="en-US" sz="2000" b="0" dirty="0">
                <a:solidFill>
                  <a:srgbClr val="13303A"/>
                </a:solidFill>
                <a:latin typeface="Arial"/>
              </a:rPr>
              <a:t>Point to the part of this that is new today, and say what it changes.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7 / 54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0972800" cy="301752"/>
          </a:xfrm>
          <a:prstGeom prst="rect">
            <a:avLst/>
          </a:prstGeom>
          <a:noFill/>
        </p:spPr>
        <p:txBody>
          <a:bodyPr wrap="square" lIns="0" tIns="22860" rIns="0" bIns="0">
            <a:spAutoFit/>
          </a:bodyPr>
          <a:lstStyle/>
          <a:p>
            <a:pPr>
              <a:spcAft>
                <a:spcPts val="800"/>
              </a:spcAft>
              <a:defRPr sz="1300" b="1">
                <a:solidFill>
                  <a:srgbClr val="096B69"/>
                </a:solidFill>
                <a:latin typeface="Arial"/>
              </a:defRPr>
            </a:pPr>
            <a:r>
              <a:t>LESSON 8.2  /  OUR LEARNING</a:t>
            </a:r>
          </a:p>
        </p:txBody>
      </p:sp>
      <p:sp>
        <p:nvSpPr>
          <p:cNvPr id="3" name="TextBox 2"/>
          <p:cNvSpPr txBox="1"/>
          <p:nvPr/>
        </p:nvSpPr>
        <p:spPr>
          <a:xfrm>
            <a:off x="594360" y="914400"/>
            <a:ext cx="10972800" cy="640080"/>
          </a:xfrm>
          <a:prstGeom prst="rect">
            <a:avLst/>
          </a:prstGeom>
          <a:noFill/>
        </p:spPr>
        <p:txBody>
          <a:bodyPr wrap="square" lIns="0" tIns="22860" rIns="0" bIns="0">
            <a:spAutoFit/>
          </a:bodyPr>
          <a:lstStyle/>
          <a:p>
            <a:pPr>
              <a:spcAft>
                <a:spcPts val="800"/>
              </a:spcAft>
              <a:defRPr sz="3600" b="1">
                <a:solidFill>
                  <a:srgbClr val="173451"/>
                </a:solidFill>
                <a:latin typeface="Arial"/>
              </a:defRPr>
            </a:pPr>
            <a:r>
              <a:t>What will show your learning?</a:t>
            </a:r>
          </a:p>
        </p:txBody>
      </p:sp>
      <p:sp>
        <p:nvSpPr>
          <p:cNvPr id="4" name="TextBox 3"/>
          <p:cNvSpPr txBox="1"/>
          <p:nvPr/>
        </p:nvSpPr>
        <p:spPr>
          <a:xfrm>
            <a:off x="594360" y="6263640"/>
            <a:ext cx="10789920" cy="274320"/>
          </a:xfrm>
          <a:prstGeom prst="rect">
            <a:avLst/>
          </a:prstGeom>
          <a:noFill/>
        </p:spPr>
        <p:txBody>
          <a:bodyPr wrap="square" lIns="0" tIns="22860" rIns="0" bIns="0">
            <a:spAutoFit/>
          </a:bodyPr>
          <a:lstStyle/>
          <a:p>
            <a:pPr>
              <a:spcAft>
                <a:spcPts val="800"/>
              </a:spcAft>
              <a:defRPr sz="1300" b="0">
                <a:solidFill>
                  <a:srgbClr val="506478"/>
                </a:solidFill>
                <a:latin typeface="Arial"/>
              </a:defRPr>
            </a:pPr>
            <a: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528" y="1929384"/>
            <a:ext cx="219456" cy="338328"/>
          </a:xfrm>
          <a:prstGeom prst="rect">
            <a:avLst/>
          </a:prstGeom>
          <a:noFill/>
        </p:spPr>
        <p:txBody>
          <a:bodyPr wrap="square" lIns="0" tIns="22860" rIns="0" bIns="0">
            <a:spAutoFit/>
          </a:bodyPr>
          <a:lstStyle/>
          <a:p>
            <a:pPr>
              <a:spcAft>
                <a:spcPts val="800"/>
              </a:spcAft>
              <a:defRPr sz="2000" b="1">
                <a:solidFill>
                  <a:srgbClr val="FFFFFF"/>
                </a:solidFill>
                <a:latin typeface="Arial"/>
              </a:defRPr>
            </a:pPr>
            <a:r>
              <a:t>1</a:t>
            </a:r>
          </a:p>
        </p:txBody>
      </p:sp>
      <p:sp>
        <p:nvSpPr>
          <p:cNvPr id="7" name="TextBox 6"/>
          <p:cNvSpPr txBox="1"/>
          <p:nvPr/>
        </p:nvSpPr>
        <p:spPr>
          <a:xfrm>
            <a:off x="1399032" y="1856231"/>
            <a:ext cx="10012680" cy="841248"/>
          </a:xfrm>
          <a:prstGeom prst="rect">
            <a:avLst/>
          </a:prstGeom>
          <a:noFill/>
        </p:spPr>
        <p:txBody>
          <a:bodyPr wrap="square" lIns="0" tIns="22860" rIns="0" bIns="0">
            <a:spAutoFit/>
          </a:bodyPr>
          <a:lstStyle/>
          <a:p>
            <a:pPr>
              <a:spcAft>
                <a:spcPts val="800"/>
              </a:spcAft>
              <a:defRPr sz="2500" b="0">
                <a:solidFill>
                  <a:srgbClr val="24384B"/>
                </a:solidFill>
                <a:latin typeface="Arial"/>
              </a:defRPr>
            </a:pPr>
            <a:r>
              <a:t>Use an inverse operation on both sides.</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2916936"/>
            <a:ext cx="219456" cy="338328"/>
          </a:xfrm>
          <a:prstGeom prst="rect">
            <a:avLst/>
          </a:prstGeom>
          <a:noFill/>
        </p:spPr>
        <p:txBody>
          <a:bodyPr wrap="square" lIns="0" tIns="22860" rIns="0" bIns="0">
            <a:spAutoFit/>
          </a:bodyPr>
          <a:lstStyle/>
          <a:p>
            <a:pPr>
              <a:spcAft>
                <a:spcPts val="800"/>
              </a:spcAft>
              <a:defRPr sz="2000" b="1">
                <a:solidFill>
                  <a:srgbClr val="FFFFFF"/>
                </a:solidFill>
                <a:latin typeface="Arial"/>
              </a:defRPr>
            </a:pPr>
            <a:r>
              <a:t>2</a:t>
            </a:r>
          </a:p>
        </p:txBody>
      </p:sp>
      <p:sp>
        <p:nvSpPr>
          <p:cNvPr id="10" name="TextBox 9"/>
          <p:cNvSpPr txBox="1"/>
          <p:nvPr/>
        </p:nvSpPr>
        <p:spPr>
          <a:xfrm>
            <a:off x="1399032" y="2843784"/>
            <a:ext cx="10012680" cy="841248"/>
          </a:xfrm>
          <a:prstGeom prst="rect">
            <a:avLst/>
          </a:prstGeom>
          <a:noFill/>
        </p:spPr>
        <p:txBody>
          <a:bodyPr wrap="square" lIns="0" tIns="22860" rIns="0" bIns="0">
            <a:spAutoFit/>
          </a:bodyPr>
          <a:lstStyle/>
          <a:p>
            <a:pPr>
              <a:spcAft>
                <a:spcPts val="800"/>
              </a:spcAft>
              <a:defRPr sz="2500" b="0">
                <a:solidFill>
                  <a:srgbClr val="24384B"/>
                </a:solidFill>
                <a:latin typeface="Arial"/>
              </a:defRPr>
            </a:pPr>
            <a:r>
              <a:t>Isolate the variable.</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8" y="3904487"/>
            <a:ext cx="219456" cy="338328"/>
          </a:xfrm>
          <a:prstGeom prst="rect">
            <a:avLst/>
          </a:prstGeom>
          <a:noFill/>
        </p:spPr>
        <p:txBody>
          <a:bodyPr wrap="square" lIns="0" tIns="22860" rIns="0" bIns="0">
            <a:spAutoFit/>
          </a:bodyPr>
          <a:lstStyle/>
          <a:p>
            <a:pPr>
              <a:spcAft>
                <a:spcPts val="800"/>
              </a:spcAft>
              <a:defRPr sz="2000" b="1">
                <a:solidFill>
                  <a:srgbClr val="FFFFFF"/>
                </a:solidFill>
                <a:latin typeface="Arial"/>
              </a:defRPr>
            </a:pPr>
            <a:r>
              <a:t>3</a:t>
            </a:r>
          </a:p>
        </p:txBody>
      </p:sp>
      <p:sp>
        <p:nvSpPr>
          <p:cNvPr id="13" name="TextBox 12"/>
          <p:cNvSpPr txBox="1"/>
          <p:nvPr/>
        </p:nvSpPr>
        <p:spPr>
          <a:xfrm>
            <a:off x="1399032" y="3831336"/>
            <a:ext cx="10012680" cy="841248"/>
          </a:xfrm>
          <a:prstGeom prst="rect">
            <a:avLst/>
          </a:prstGeom>
          <a:noFill/>
        </p:spPr>
        <p:txBody>
          <a:bodyPr wrap="square" lIns="0" tIns="22860" rIns="0" bIns="0">
            <a:spAutoFit/>
          </a:bodyPr>
          <a:lstStyle/>
          <a:p>
            <a:pPr>
              <a:spcAft>
                <a:spcPts val="800"/>
              </a:spcAft>
              <a:defRPr sz="2500" b="0">
                <a:solidFill>
                  <a:srgbClr val="24384B"/>
                </a:solidFill>
                <a:latin typeface="Arial"/>
              </a:defRPr>
            </a:pPr>
            <a:r>
              <a:t>Check in the original equation.</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 y="5303520"/>
            <a:ext cx="10469880" cy="438912"/>
          </a:xfrm>
          <a:prstGeom prst="rect">
            <a:avLst/>
          </a:prstGeom>
          <a:noFill/>
        </p:spPr>
        <p:txBody>
          <a:bodyPr wrap="square" lIns="0" tIns="22860" rIns="0" bIns="0">
            <a:spAutoFit/>
          </a:bodyPr>
          <a:lstStyle/>
          <a:p>
            <a:pPr>
              <a:spcAft>
                <a:spcPts val="800"/>
              </a:spcAft>
              <a:defRPr sz="2200" b="0">
                <a:solidFill>
                  <a:srgbClr val="096B69"/>
                </a:solidFill>
                <a:latin typeface="Arial"/>
              </a:defRPr>
            </a:pPr>
            <a: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Google Shape;380;p46"/>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81" name="Google Shape;381;p46"/>
          <p:cNvSpPr/>
          <p:nvPr/>
        </p:nvSpPr>
        <p:spPr>
          <a:xfrm>
            <a:off x="0" y="0"/>
            <a:ext cx="12191969" cy="713232"/>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82" name="Google Shape;382;p46"/>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2000" b="1" i="0" u="none" strike="noStrike" cap="none">
                <a:solidFill>
                  <a:srgbClr val="FFFFFF"/>
                </a:solidFill>
                <a:latin typeface="Arial"/>
                <a:ea typeface="Arial"/>
                <a:cs typeface="Arial"/>
                <a:sym typeface="Arial"/>
              </a:rPr>
              <a:t>Vocabulary  1 of 7</a:t>
            </a:r>
            <a:endParaRPr/>
          </a:p>
        </p:txBody>
      </p:sp>
      <p:sp>
        <p:nvSpPr>
          <p:cNvPr id="383" name="Google Shape;383;p46"/>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defRPr/>
            </a:pPr>
            <a:r>
              <a:rPr lang="en-US" sz="1200" b="0" i="0" u="none" strike="noStrike" cap="none">
                <a:solidFill>
                  <a:srgbClr val="FFFFFF"/>
                </a:solidFill>
                <a:latin typeface="Arial"/>
                <a:ea typeface="Arial"/>
                <a:cs typeface="Arial"/>
                <a:sym typeface="Arial"/>
              </a:rPr>
              <a:t>Lesson 8-2 · Write and Solve Equations Using Addition or Subtraction</a:t>
            </a:r>
            <a:endParaRPr/>
          </a:p>
        </p:txBody>
      </p:sp>
      <p:sp>
        <p:nvSpPr>
          <p:cNvPr id="384" name="Google Shape;384;p46"/>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85" name="Google Shape;385;p46"/>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000" b="0" i="0" u="none" strike="noStrike" cap="none">
                <a:solidFill>
                  <a:srgbClr val="475569"/>
                </a:solidFill>
                <a:latin typeface="Arial"/>
                <a:ea typeface="Arial"/>
                <a:cs typeface="Arial"/>
                <a:sym typeface="Arial"/>
              </a:rPr>
              <a:t>eduwonderlab.com  ·  Neft Teacher</a:t>
            </a:r>
            <a:endParaRPr/>
          </a:p>
        </p:txBody>
      </p:sp>
      <p:sp>
        <p:nvSpPr>
          <p:cNvPr id="386" name="Google Shape;386;p46"/>
          <p:cNvSpPr txBox="1"/>
          <p:nvPr/>
        </p:nvSpPr>
        <p:spPr>
          <a:xfrm>
            <a:off x="640080" y="1599437"/>
            <a:ext cx="5897880" cy="122224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defRPr/>
            </a:pPr>
            <a:r>
              <a:rPr lang="en-US" sz="3650" b="1" i="0" u="none" strike="noStrike" cap="none">
                <a:solidFill>
                  <a:srgbClr val="14223A"/>
                </a:solidFill>
                <a:latin typeface="Arial"/>
                <a:ea typeface="Arial"/>
                <a:cs typeface="Arial"/>
                <a:sym typeface="Arial"/>
              </a:rPr>
              <a:t>Solve One-Step Addition and Subtraction Equations</a:t>
            </a:r>
            <a:endParaRPr/>
          </a:p>
        </p:txBody>
      </p:sp>
      <p:sp>
        <p:nvSpPr>
          <p:cNvPr id="387" name="Google Shape;387;p46"/>
          <p:cNvSpPr/>
          <p:nvPr/>
        </p:nvSpPr>
        <p:spPr>
          <a:xfrm>
            <a:off x="658368" y="3041142"/>
            <a:ext cx="2926080" cy="68580"/>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88" name="Google Shape;388;p46"/>
          <p:cNvSpPr txBox="1"/>
          <p:nvPr/>
        </p:nvSpPr>
        <p:spPr>
          <a:xfrm>
            <a:off x="640080" y="3402330"/>
            <a:ext cx="5897880" cy="704088"/>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defRPr/>
            </a:pPr>
            <a:r>
              <a:rPr lang="en-US" sz="2200" b="0" i="0" u="none" strike="noStrike" cap="none">
                <a:solidFill>
                  <a:srgbClr val="14223A"/>
                </a:solidFill>
                <a:latin typeface="Arial"/>
                <a:ea typeface="Arial"/>
                <a:cs typeface="Arial"/>
                <a:sym typeface="Arial"/>
              </a:rPr>
              <a:t>Use one inverse addition or subtraction operation to isolate the variable.</a:t>
            </a:r>
            <a:endParaRPr/>
          </a:p>
        </p:txBody>
      </p:sp>
      <p:sp>
        <p:nvSpPr>
          <p:cNvPr id="389" name="Google Shape;389;p46"/>
          <p:cNvSpPr/>
          <p:nvPr/>
        </p:nvSpPr>
        <p:spPr>
          <a:xfrm>
            <a:off x="640080" y="4527041"/>
            <a:ext cx="5897880" cy="1051560"/>
          </a:xfrm>
          <a:prstGeom prst="roundRect">
            <a:avLst>
              <a:gd name="adj" fmla="val 7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90" name="Google Shape;390;p46"/>
          <p:cNvSpPr/>
          <p:nvPr/>
        </p:nvSpPr>
        <p:spPr>
          <a:xfrm>
            <a:off x="640080" y="4527041"/>
            <a:ext cx="91440" cy="105156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91" name="Google Shape;391;p46"/>
          <p:cNvSpPr txBox="1"/>
          <p:nvPr/>
        </p:nvSpPr>
        <p:spPr>
          <a:xfrm>
            <a:off x="932688" y="4700778"/>
            <a:ext cx="5330952" cy="2377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150" b="1" i="0" u="none" strike="noStrike" cap="none">
                <a:solidFill>
                  <a:srgbClr val="C2410C"/>
                </a:solidFill>
                <a:latin typeface="Arial"/>
                <a:ea typeface="Arial"/>
                <a:cs typeface="Arial"/>
                <a:sym typeface="Arial"/>
              </a:rPr>
              <a:t>EXAMPLE · EXPLAIN WHY IT FITS</a:t>
            </a:r>
            <a:endParaRPr/>
          </a:p>
        </p:txBody>
      </p:sp>
      <p:sp>
        <p:nvSpPr>
          <p:cNvPr id="392" name="Google Shape;392;p46"/>
          <p:cNvSpPr txBox="1"/>
          <p:nvPr/>
        </p:nvSpPr>
        <p:spPr>
          <a:xfrm>
            <a:off x="932688" y="5002530"/>
            <a:ext cx="5330952" cy="42976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defRPr/>
            </a:pPr>
            <a:r>
              <a:rPr lang="en-US" sz="1700" b="0" i="0" u="none" strike="noStrike" cap="none">
                <a:solidFill>
                  <a:srgbClr val="14223A"/>
                </a:solidFill>
                <a:latin typeface="Arial"/>
                <a:ea typeface="Arial"/>
                <a:cs typeface="Arial"/>
                <a:sym typeface="Arial"/>
              </a:rPr>
              <a:t>x + 7 = 12 → x = 5</a:t>
            </a:r>
            <a:endParaRPr/>
          </a:p>
        </p:txBody>
      </p:sp>
      <p:pic>
        <p:nvPicPr>
          <p:cNvPr id="393" name="Google Shape;393;p46" descr="concept-solve-one-step-addition-and-subtraction-equations.png"/>
          <p:cNvPicPr preferRelativeResize="0"/>
          <p:nvPr/>
        </p:nvPicPr>
        <p:blipFill rotWithShape="1">
          <a:blip r:embed="rId3">
            <a:alphaModFix/>
          </a:blip>
          <a:srcRect/>
          <a:stretch/>
        </p:blipFill>
        <p:spPr>
          <a:xfrm>
            <a:off x="6903720" y="1853738"/>
            <a:ext cx="4572000" cy="3424843"/>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9 / 54</a:t>
            </a:r>
          </a:p>
        </p:txBody>
      </p:sp>
      <p:grpSp>
        <p:nvGrpSpPr>
          <p:cNvPr id="394" name="TEACH-5-student-move" descr="TEACH 5 · Facilitate student interactions and academic talk"/>
          <p:cNvGrpSpPr/>
          <p:nvPr/>
        </p:nvGrpSpPr>
        <p:grpSpPr>
          <a:xfrm>
            <a:off x="502920" y="5751576"/>
            <a:ext cx="11186160" cy="548640"/>
            <a:chOff x="502920" y="5751576"/>
            <a:chExt cx="11186160" cy="548640"/>
          </a:xfrm>
        </p:grpSpPr>
        <p:sp>
          <p:nvSpPr>
            <p:cNvPr id="395"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396"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397"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 name="Google Shape;398;p47"/>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99" name="Google Shape;399;p47"/>
          <p:cNvSpPr/>
          <p:nvPr/>
        </p:nvSpPr>
        <p:spPr>
          <a:xfrm>
            <a:off x="0" y="0"/>
            <a:ext cx="12191969" cy="713232"/>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00" name="Google Shape;400;p47"/>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2000" b="1" i="0" u="none" strike="noStrike" cap="none">
                <a:solidFill>
                  <a:srgbClr val="FFFFFF"/>
                </a:solidFill>
                <a:latin typeface="Arial"/>
                <a:ea typeface="Arial"/>
                <a:cs typeface="Arial"/>
                <a:sym typeface="Arial"/>
              </a:rPr>
              <a:t>Vocabulary  2 of 7</a:t>
            </a:r>
            <a:endParaRPr/>
          </a:p>
        </p:txBody>
      </p:sp>
      <p:sp>
        <p:nvSpPr>
          <p:cNvPr id="401" name="Google Shape;401;p47"/>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200" b="0" i="0" u="none" strike="noStrike" cap="none">
                <a:solidFill>
                  <a:srgbClr val="FFFFFF"/>
                </a:solidFill>
                <a:latin typeface="Arial"/>
                <a:ea typeface="Arial"/>
                <a:cs typeface="Arial"/>
                <a:sym typeface="Arial"/>
              </a:rPr>
              <a:t>Lesson 8-2 · Write and Solve Equations Using Addition or Subtraction</a:t>
            </a:r>
            <a:endParaRPr/>
          </a:p>
        </p:txBody>
      </p:sp>
      <p:sp>
        <p:nvSpPr>
          <p:cNvPr id="402" name="Google Shape;402;p47"/>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03" name="Google Shape;403;p47"/>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0" i="0" u="none" strike="noStrike" cap="none">
                <a:solidFill>
                  <a:srgbClr val="475569"/>
                </a:solidFill>
                <a:latin typeface="Arial"/>
                <a:ea typeface="Arial"/>
                <a:cs typeface="Arial"/>
                <a:sym typeface="Arial"/>
              </a:rPr>
              <a:t>eduwonderlab.com  ·  Neft Teacher</a:t>
            </a:r>
            <a:endParaRPr/>
          </a:p>
        </p:txBody>
      </p:sp>
      <p:sp>
        <p:nvSpPr>
          <p:cNvPr id="404" name="Google Shape;404;p47"/>
          <p:cNvSpPr txBox="1"/>
          <p:nvPr/>
        </p:nvSpPr>
        <p:spPr>
          <a:xfrm>
            <a:off x="640080" y="1977771"/>
            <a:ext cx="10911809" cy="90220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200" b="1" i="0" u="none" strike="noStrike" cap="none">
                <a:solidFill>
                  <a:srgbClr val="14223A"/>
                </a:solidFill>
                <a:latin typeface="Arial"/>
                <a:ea typeface="Arial"/>
                <a:cs typeface="Arial"/>
                <a:sym typeface="Arial"/>
              </a:rPr>
              <a:t>Equation</a:t>
            </a:r>
            <a:endParaRPr/>
          </a:p>
        </p:txBody>
      </p:sp>
      <p:sp>
        <p:nvSpPr>
          <p:cNvPr id="405" name="Google Shape;405;p47"/>
          <p:cNvSpPr/>
          <p:nvPr/>
        </p:nvSpPr>
        <p:spPr>
          <a:xfrm>
            <a:off x="658368" y="2934843"/>
            <a:ext cx="1097280" cy="68580"/>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06" name="Google Shape;406;p47"/>
          <p:cNvSpPr txBox="1"/>
          <p:nvPr/>
        </p:nvSpPr>
        <p:spPr>
          <a:xfrm>
            <a:off x="640080" y="3296031"/>
            <a:ext cx="10911809" cy="432054"/>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2700" b="0" i="0" u="none" strike="noStrike" cap="none">
                <a:solidFill>
                  <a:srgbClr val="14223A"/>
                </a:solidFill>
                <a:latin typeface="Arial"/>
                <a:ea typeface="Arial"/>
                <a:cs typeface="Arial"/>
                <a:sym typeface="Arial"/>
              </a:rPr>
              <a:t>A math sentence with an equal sign showing both sides are the same.</a:t>
            </a:r>
            <a:endParaRPr/>
          </a:p>
        </p:txBody>
      </p:sp>
      <p:sp>
        <p:nvSpPr>
          <p:cNvPr id="407" name="Google Shape;407;p47"/>
          <p:cNvSpPr/>
          <p:nvPr/>
        </p:nvSpPr>
        <p:spPr>
          <a:xfrm>
            <a:off x="640080" y="4148709"/>
            <a:ext cx="10911809" cy="1051560"/>
          </a:xfrm>
          <a:prstGeom prst="roundRect">
            <a:avLst>
              <a:gd name="adj" fmla="val 7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08" name="Google Shape;408;p47"/>
          <p:cNvSpPr/>
          <p:nvPr/>
        </p:nvSpPr>
        <p:spPr>
          <a:xfrm>
            <a:off x="640080" y="4148709"/>
            <a:ext cx="91440" cy="105156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09" name="Google Shape;409;p47"/>
          <p:cNvSpPr txBox="1"/>
          <p:nvPr/>
        </p:nvSpPr>
        <p:spPr>
          <a:xfrm>
            <a:off x="932688" y="4322445"/>
            <a:ext cx="10344881" cy="2377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50" b="1" i="0" u="none" strike="noStrike" cap="none">
                <a:solidFill>
                  <a:srgbClr val="C2410C"/>
                </a:solidFill>
                <a:latin typeface="Arial"/>
                <a:ea typeface="Arial"/>
                <a:cs typeface="Arial"/>
                <a:sym typeface="Arial"/>
              </a:rPr>
              <a:t>EXAMPLE · EXPLAIN WHY IT FITS</a:t>
            </a:r>
            <a:endParaRPr/>
          </a:p>
        </p:txBody>
      </p:sp>
      <p:sp>
        <p:nvSpPr>
          <p:cNvPr id="410" name="Google Shape;410;p47"/>
          <p:cNvSpPr txBox="1"/>
          <p:nvPr/>
        </p:nvSpPr>
        <p:spPr>
          <a:xfrm>
            <a:off x="932688" y="4624197"/>
            <a:ext cx="10344881" cy="42976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0" i="0" u="none" strike="noStrike" cap="none">
                <a:solidFill>
                  <a:srgbClr val="14223A"/>
                </a:solidFill>
                <a:latin typeface="Arial"/>
                <a:ea typeface="Arial"/>
                <a:cs typeface="Arial"/>
                <a:sym typeface="Arial"/>
              </a:rPr>
              <a:t>x + 25 = 60 — both sides equal 60 when x = 35</a:t>
            </a:r>
            <a:endParaRPr/>
          </a:p>
        </p:txBody>
      </p:sp>
      <p:sp>
        <p:nvSpPr>
          <p:cNvPr id="314"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10 / 54</a:t>
            </a:r>
          </a:p>
        </p:txBody>
      </p:sp>
      <p:sp>
        <p:nvSpPr>
          <p:cNvPr id="411"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“Equation” to explain the example. Point to evidence.</a:t>
            </a:r>
            <a:endParaRPr lang="en-US"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Google Shape;415;p48"/>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6" name="Google Shape;416;p48"/>
          <p:cNvSpPr/>
          <p:nvPr/>
        </p:nvSpPr>
        <p:spPr>
          <a:xfrm>
            <a:off x="0" y="0"/>
            <a:ext cx="12191969" cy="713232"/>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7" name="Google Shape;417;p48"/>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2000" b="1" i="0" u="none" strike="noStrike" cap="none">
                <a:solidFill>
                  <a:srgbClr val="FFFFFF"/>
                </a:solidFill>
                <a:latin typeface="Arial"/>
                <a:ea typeface="Arial"/>
                <a:cs typeface="Arial"/>
                <a:sym typeface="Arial"/>
              </a:rPr>
              <a:t>Vocabulary  3 of 7</a:t>
            </a:r>
            <a:endParaRPr/>
          </a:p>
        </p:txBody>
      </p:sp>
      <p:sp>
        <p:nvSpPr>
          <p:cNvPr id="418" name="Google Shape;418;p48"/>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200" b="0" i="0" u="none" strike="noStrike" cap="none">
                <a:solidFill>
                  <a:srgbClr val="FFFFFF"/>
                </a:solidFill>
                <a:latin typeface="Arial"/>
                <a:ea typeface="Arial"/>
                <a:cs typeface="Arial"/>
                <a:sym typeface="Arial"/>
              </a:rPr>
              <a:t>Lesson 8-2 · Write and Solve Equations Using Addition or Subtraction</a:t>
            </a:r>
            <a:endParaRPr/>
          </a:p>
        </p:txBody>
      </p:sp>
      <p:sp>
        <p:nvSpPr>
          <p:cNvPr id="419" name="Google Shape;419;p48"/>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0" name="Google Shape;420;p48"/>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0" i="0" u="none" strike="noStrike" cap="none">
                <a:solidFill>
                  <a:srgbClr val="475569"/>
                </a:solidFill>
                <a:latin typeface="Arial"/>
                <a:ea typeface="Arial"/>
                <a:cs typeface="Arial"/>
                <a:sym typeface="Arial"/>
              </a:rPr>
              <a:t>eduwonderlab.com  ·  Neft Teacher</a:t>
            </a:r>
            <a:endParaRPr/>
          </a:p>
        </p:txBody>
      </p:sp>
      <p:sp>
        <p:nvSpPr>
          <p:cNvPr id="421" name="Google Shape;421;p48"/>
          <p:cNvSpPr txBox="1"/>
          <p:nvPr/>
        </p:nvSpPr>
        <p:spPr>
          <a:xfrm>
            <a:off x="640080" y="1803654"/>
            <a:ext cx="5897880" cy="78028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400" b="1" i="0" u="none" strike="noStrike" cap="none">
                <a:solidFill>
                  <a:srgbClr val="14223A"/>
                </a:solidFill>
                <a:latin typeface="Arial"/>
                <a:ea typeface="Arial"/>
                <a:cs typeface="Arial"/>
                <a:sym typeface="Arial"/>
              </a:rPr>
              <a:t>Inverse operation</a:t>
            </a:r>
            <a:endParaRPr/>
          </a:p>
        </p:txBody>
      </p:sp>
      <p:sp>
        <p:nvSpPr>
          <p:cNvPr id="422" name="Google Shape;422;p48"/>
          <p:cNvSpPr/>
          <p:nvPr/>
        </p:nvSpPr>
        <p:spPr>
          <a:xfrm>
            <a:off x="658368" y="2638806"/>
            <a:ext cx="2020824" cy="68580"/>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3" name="Google Shape;423;p48"/>
          <p:cNvSpPr txBox="1"/>
          <p:nvPr/>
        </p:nvSpPr>
        <p:spPr>
          <a:xfrm>
            <a:off x="640080" y="2999994"/>
            <a:ext cx="5897880" cy="704088"/>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2200" b="0" i="0" u="none" strike="noStrike" cap="none">
                <a:solidFill>
                  <a:srgbClr val="14223A"/>
                </a:solidFill>
                <a:latin typeface="Arial"/>
                <a:ea typeface="Arial"/>
                <a:cs typeface="Arial"/>
                <a:sym typeface="Arial"/>
              </a:rPr>
              <a:t>Two math actions that undo each other, like × and ÷.</a:t>
            </a:r>
            <a:endParaRPr/>
          </a:p>
        </p:txBody>
      </p:sp>
      <p:sp>
        <p:nvSpPr>
          <p:cNvPr id="424" name="Google Shape;424;p48"/>
          <p:cNvSpPr/>
          <p:nvPr/>
        </p:nvSpPr>
        <p:spPr>
          <a:xfrm>
            <a:off x="640080" y="4124706"/>
            <a:ext cx="5897880" cy="1249680"/>
          </a:xfrm>
          <a:prstGeom prst="roundRect">
            <a:avLst>
              <a:gd name="adj" fmla="val 7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5" name="Google Shape;425;p48"/>
          <p:cNvSpPr/>
          <p:nvPr/>
        </p:nvSpPr>
        <p:spPr>
          <a:xfrm>
            <a:off x="640080" y="4124706"/>
            <a:ext cx="91440" cy="124968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6" name="Google Shape;426;p48"/>
          <p:cNvSpPr txBox="1"/>
          <p:nvPr/>
        </p:nvSpPr>
        <p:spPr>
          <a:xfrm>
            <a:off x="932688" y="4298442"/>
            <a:ext cx="5330952" cy="2377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50" b="1" i="0" u="none" strike="noStrike" cap="none">
                <a:solidFill>
                  <a:srgbClr val="C2410C"/>
                </a:solidFill>
                <a:latin typeface="Arial"/>
                <a:ea typeface="Arial"/>
                <a:cs typeface="Arial"/>
                <a:sym typeface="Arial"/>
              </a:rPr>
              <a:t>EXAMPLE · EXPLAIN WHY IT FITS</a:t>
            </a:r>
            <a:endParaRPr/>
          </a:p>
        </p:txBody>
      </p:sp>
      <p:sp>
        <p:nvSpPr>
          <p:cNvPr id="427" name="Google Shape;427;p48"/>
          <p:cNvSpPr txBox="1"/>
          <p:nvPr/>
        </p:nvSpPr>
        <p:spPr>
          <a:xfrm>
            <a:off x="932688" y="4600194"/>
            <a:ext cx="5330952" cy="62788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700" b="0" i="0" u="none" strike="noStrike" cap="none">
                <a:solidFill>
                  <a:srgbClr val="14223A"/>
                </a:solidFill>
                <a:latin typeface="Arial"/>
                <a:ea typeface="Arial"/>
                <a:cs typeface="Arial"/>
                <a:sym typeface="Arial"/>
              </a:rPr>
              <a:t>Addition undoes subtraction: if x − 3 = 10, add 3 to get x = 13</a:t>
            </a:r>
            <a:endParaRPr/>
          </a:p>
        </p:txBody>
      </p:sp>
      <p:pic>
        <p:nvPicPr>
          <p:cNvPr id="428" name="Google Shape;428;p48" descr="equation.png"/>
          <p:cNvPicPr preferRelativeResize="0"/>
          <p:nvPr/>
        </p:nvPicPr>
        <p:blipFill rotWithShape="1">
          <a:blip r:embed="rId3">
            <a:alphaModFix/>
          </a:blip>
          <a:srcRect/>
          <a:stretch/>
        </p:blipFill>
        <p:spPr>
          <a:xfrm>
            <a:off x="6903720" y="1853738"/>
            <a:ext cx="4572000" cy="3424843"/>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11 / 54</a:t>
            </a:r>
          </a:p>
        </p:txBody>
      </p:sp>
      <p:sp>
        <p:nvSpPr>
          <p:cNvPr id="429"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“Inverse operation”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 name="Google Shape;433;p49"/>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34" name="Google Shape;434;p49"/>
          <p:cNvSpPr/>
          <p:nvPr/>
        </p:nvSpPr>
        <p:spPr>
          <a:xfrm>
            <a:off x="0" y="0"/>
            <a:ext cx="12191969" cy="713232"/>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35" name="Google Shape;435;p49"/>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2000" b="1" i="0" u="none" strike="noStrike" cap="none">
                <a:solidFill>
                  <a:srgbClr val="FFFFFF"/>
                </a:solidFill>
                <a:latin typeface="Arial"/>
                <a:ea typeface="Arial"/>
                <a:cs typeface="Arial"/>
                <a:sym typeface="Arial"/>
              </a:rPr>
              <a:t>Vocabulary  4 of 7</a:t>
            </a:r>
            <a:endParaRPr/>
          </a:p>
        </p:txBody>
      </p:sp>
      <p:sp>
        <p:nvSpPr>
          <p:cNvPr id="436" name="Google Shape;436;p49"/>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200" b="0" i="0" u="none" strike="noStrike" cap="none">
                <a:solidFill>
                  <a:srgbClr val="FFFFFF"/>
                </a:solidFill>
                <a:latin typeface="Arial"/>
                <a:ea typeface="Arial"/>
                <a:cs typeface="Arial"/>
                <a:sym typeface="Arial"/>
              </a:rPr>
              <a:t>Lesson 8-2 · Write and Solve Equations Using Addition or Subtraction</a:t>
            </a:r>
            <a:endParaRPr/>
          </a:p>
        </p:txBody>
      </p:sp>
      <p:sp>
        <p:nvSpPr>
          <p:cNvPr id="437" name="Google Shape;437;p49"/>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38" name="Google Shape;438;p49"/>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0" i="0" u="none" strike="noStrike" cap="none">
                <a:solidFill>
                  <a:srgbClr val="475569"/>
                </a:solidFill>
                <a:latin typeface="Arial"/>
                <a:ea typeface="Arial"/>
                <a:cs typeface="Arial"/>
                <a:sym typeface="Arial"/>
              </a:rPr>
              <a:t>eduwonderlab.com  ·  Neft Teacher</a:t>
            </a:r>
            <a:endParaRPr/>
          </a:p>
        </p:txBody>
      </p:sp>
      <p:sp>
        <p:nvSpPr>
          <p:cNvPr id="439" name="Google Shape;439;p49"/>
          <p:cNvSpPr txBox="1"/>
          <p:nvPr/>
        </p:nvSpPr>
        <p:spPr>
          <a:xfrm>
            <a:off x="640080" y="1979676"/>
            <a:ext cx="5897880" cy="78028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400" b="1" i="0" u="none" strike="noStrike" cap="none">
                <a:solidFill>
                  <a:srgbClr val="14223A"/>
                </a:solidFill>
                <a:latin typeface="Arial"/>
                <a:ea typeface="Arial"/>
                <a:cs typeface="Arial"/>
                <a:sym typeface="Arial"/>
              </a:rPr>
              <a:t>Isolate</a:t>
            </a:r>
            <a:endParaRPr/>
          </a:p>
        </p:txBody>
      </p:sp>
      <p:sp>
        <p:nvSpPr>
          <p:cNvPr id="440" name="Google Shape;440;p49"/>
          <p:cNvSpPr/>
          <p:nvPr/>
        </p:nvSpPr>
        <p:spPr>
          <a:xfrm>
            <a:off x="658368" y="2814828"/>
            <a:ext cx="1097280" cy="68580"/>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41" name="Google Shape;441;p49"/>
          <p:cNvSpPr txBox="1"/>
          <p:nvPr/>
        </p:nvSpPr>
        <p:spPr>
          <a:xfrm>
            <a:off x="640080" y="3176016"/>
            <a:ext cx="5897880" cy="365760"/>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2200" b="0" i="0" u="none" strike="noStrike" cap="none">
                <a:solidFill>
                  <a:srgbClr val="14223A"/>
                </a:solidFill>
                <a:latin typeface="Arial"/>
                <a:ea typeface="Arial"/>
                <a:cs typeface="Arial"/>
                <a:sym typeface="Arial"/>
              </a:rPr>
              <a:t>To get the letter by itself on one side.</a:t>
            </a:r>
            <a:endParaRPr/>
          </a:p>
        </p:txBody>
      </p:sp>
      <p:sp>
        <p:nvSpPr>
          <p:cNvPr id="442" name="Google Shape;442;p49"/>
          <p:cNvSpPr/>
          <p:nvPr/>
        </p:nvSpPr>
        <p:spPr>
          <a:xfrm>
            <a:off x="640080" y="3948684"/>
            <a:ext cx="5897880" cy="1249680"/>
          </a:xfrm>
          <a:prstGeom prst="roundRect">
            <a:avLst>
              <a:gd name="adj" fmla="val 7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43" name="Google Shape;443;p49"/>
          <p:cNvSpPr/>
          <p:nvPr/>
        </p:nvSpPr>
        <p:spPr>
          <a:xfrm>
            <a:off x="640080" y="3948684"/>
            <a:ext cx="91440" cy="124968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44" name="Google Shape;444;p49"/>
          <p:cNvSpPr txBox="1"/>
          <p:nvPr/>
        </p:nvSpPr>
        <p:spPr>
          <a:xfrm>
            <a:off x="932688" y="4122420"/>
            <a:ext cx="5330952" cy="2377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50" b="1" i="0" u="none" strike="noStrike" cap="none">
                <a:solidFill>
                  <a:srgbClr val="C2410C"/>
                </a:solidFill>
                <a:latin typeface="Arial"/>
                <a:ea typeface="Arial"/>
                <a:cs typeface="Arial"/>
                <a:sym typeface="Arial"/>
              </a:rPr>
              <a:t>EXAMPLE · EXPLAIN WHY IT FITS</a:t>
            </a:r>
            <a:endParaRPr/>
          </a:p>
        </p:txBody>
      </p:sp>
      <p:sp>
        <p:nvSpPr>
          <p:cNvPr id="445" name="Google Shape;445;p49"/>
          <p:cNvSpPr txBox="1"/>
          <p:nvPr/>
        </p:nvSpPr>
        <p:spPr>
          <a:xfrm>
            <a:off x="932688" y="4424172"/>
            <a:ext cx="5330952" cy="62788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700" b="0" i="0" u="none" strike="noStrike" cap="none">
                <a:solidFill>
                  <a:srgbClr val="14223A"/>
                </a:solidFill>
                <a:latin typeface="Arial"/>
                <a:ea typeface="Arial"/>
                <a:cs typeface="Arial"/>
                <a:sym typeface="Arial"/>
              </a:rPr>
              <a:t>x + 5 = 12 → subtract 5 from both sides → x = 7 (x is isolated)</a:t>
            </a:r>
            <a:endParaRPr/>
          </a:p>
        </p:txBody>
      </p:sp>
      <p:pic>
        <p:nvPicPr>
          <p:cNvPr id="446" name="Google Shape;446;p49" descr="equation.png"/>
          <p:cNvPicPr preferRelativeResize="0"/>
          <p:nvPr/>
        </p:nvPicPr>
        <p:blipFill rotWithShape="1">
          <a:blip r:embed="rId3">
            <a:alphaModFix/>
          </a:blip>
          <a:srcRect/>
          <a:stretch/>
        </p:blipFill>
        <p:spPr>
          <a:xfrm>
            <a:off x="6903720" y="1853738"/>
            <a:ext cx="4572000" cy="3424843"/>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12 / 54</a:t>
            </a:r>
          </a:p>
        </p:txBody>
      </p:sp>
      <p:sp>
        <p:nvSpPr>
          <p:cNvPr id="447"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“Isolate” to explain the example. Point to evidence.</a:t>
            </a:r>
            <a:endParaRPr lang="en-US"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Google Shape;451;p50"/>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52" name="Google Shape;452;p50"/>
          <p:cNvSpPr/>
          <p:nvPr/>
        </p:nvSpPr>
        <p:spPr>
          <a:xfrm>
            <a:off x="0" y="0"/>
            <a:ext cx="12191969" cy="713232"/>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53" name="Google Shape;453;p50"/>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2000" b="1" i="0" u="none" strike="noStrike" cap="none">
                <a:solidFill>
                  <a:srgbClr val="FFFFFF"/>
                </a:solidFill>
                <a:latin typeface="Arial"/>
                <a:ea typeface="Arial"/>
                <a:cs typeface="Arial"/>
                <a:sym typeface="Arial"/>
              </a:rPr>
              <a:t>Vocabulary  5 of 7</a:t>
            </a:r>
            <a:endParaRPr/>
          </a:p>
        </p:txBody>
      </p:sp>
      <p:sp>
        <p:nvSpPr>
          <p:cNvPr id="454" name="Google Shape;454;p50"/>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200" b="0" i="0" u="none" strike="noStrike" cap="none">
                <a:solidFill>
                  <a:srgbClr val="FFFFFF"/>
                </a:solidFill>
                <a:latin typeface="Arial"/>
                <a:ea typeface="Arial"/>
                <a:cs typeface="Arial"/>
                <a:sym typeface="Arial"/>
              </a:rPr>
              <a:t>Lesson 8-2 · Write and Solve Equations Using Addition or Subtraction</a:t>
            </a:r>
            <a:endParaRPr/>
          </a:p>
        </p:txBody>
      </p:sp>
      <p:sp>
        <p:nvSpPr>
          <p:cNvPr id="455" name="Google Shape;455;p50"/>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56" name="Google Shape;456;p50"/>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0" i="0" u="none" strike="noStrike" cap="none">
                <a:solidFill>
                  <a:srgbClr val="475569"/>
                </a:solidFill>
                <a:latin typeface="Arial"/>
                <a:ea typeface="Arial"/>
                <a:cs typeface="Arial"/>
                <a:sym typeface="Arial"/>
              </a:rPr>
              <a:t>eduwonderlab.com  ·  Neft Teacher</a:t>
            </a:r>
            <a:endParaRPr/>
          </a:p>
        </p:txBody>
      </p:sp>
      <p:sp>
        <p:nvSpPr>
          <p:cNvPr id="457" name="Google Shape;457;p50"/>
          <p:cNvSpPr txBox="1"/>
          <p:nvPr/>
        </p:nvSpPr>
        <p:spPr>
          <a:xfrm>
            <a:off x="640080" y="1902714"/>
            <a:ext cx="5897880" cy="78028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400" b="1" i="0" u="none" strike="noStrike" cap="none">
                <a:solidFill>
                  <a:srgbClr val="14223A"/>
                </a:solidFill>
                <a:latin typeface="Arial"/>
                <a:ea typeface="Arial"/>
                <a:cs typeface="Arial"/>
                <a:sym typeface="Arial"/>
              </a:rPr>
              <a:t>Solution</a:t>
            </a:r>
            <a:endParaRPr/>
          </a:p>
        </p:txBody>
      </p:sp>
      <p:sp>
        <p:nvSpPr>
          <p:cNvPr id="458" name="Google Shape;458;p50"/>
          <p:cNvSpPr/>
          <p:nvPr/>
        </p:nvSpPr>
        <p:spPr>
          <a:xfrm>
            <a:off x="658368" y="2737866"/>
            <a:ext cx="1097280" cy="68580"/>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59" name="Google Shape;459;p50"/>
          <p:cNvSpPr txBox="1"/>
          <p:nvPr/>
        </p:nvSpPr>
        <p:spPr>
          <a:xfrm>
            <a:off x="640080" y="3099054"/>
            <a:ext cx="5897880" cy="704088"/>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2200" b="0" i="0" u="none" strike="noStrike" cap="none">
                <a:solidFill>
                  <a:srgbClr val="14223A"/>
                </a:solidFill>
                <a:latin typeface="Arial"/>
                <a:ea typeface="Arial"/>
                <a:cs typeface="Arial"/>
                <a:sym typeface="Arial"/>
              </a:rPr>
              <a:t>A number that makes the equation or inequality true.</a:t>
            </a:r>
            <a:endParaRPr/>
          </a:p>
        </p:txBody>
      </p:sp>
      <p:sp>
        <p:nvSpPr>
          <p:cNvPr id="460" name="Google Shape;460;p50"/>
          <p:cNvSpPr/>
          <p:nvPr/>
        </p:nvSpPr>
        <p:spPr>
          <a:xfrm>
            <a:off x="640080" y="4223766"/>
            <a:ext cx="5897880" cy="1051560"/>
          </a:xfrm>
          <a:prstGeom prst="roundRect">
            <a:avLst>
              <a:gd name="adj" fmla="val 7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61" name="Google Shape;461;p50"/>
          <p:cNvSpPr/>
          <p:nvPr/>
        </p:nvSpPr>
        <p:spPr>
          <a:xfrm>
            <a:off x="640080" y="4223766"/>
            <a:ext cx="91440" cy="105156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62" name="Google Shape;462;p50"/>
          <p:cNvSpPr txBox="1"/>
          <p:nvPr/>
        </p:nvSpPr>
        <p:spPr>
          <a:xfrm>
            <a:off x="932688" y="4397502"/>
            <a:ext cx="5330952" cy="2377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50" b="1" i="0" u="none" strike="noStrike" cap="none">
                <a:solidFill>
                  <a:srgbClr val="C2410C"/>
                </a:solidFill>
                <a:latin typeface="Arial"/>
                <a:ea typeface="Arial"/>
                <a:cs typeface="Arial"/>
                <a:sym typeface="Arial"/>
              </a:rPr>
              <a:t>EXAMPLE · EXPLAIN WHY IT FITS</a:t>
            </a:r>
            <a:endParaRPr/>
          </a:p>
        </p:txBody>
      </p:sp>
      <p:sp>
        <p:nvSpPr>
          <p:cNvPr id="463" name="Google Shape;463;p50"/>
          <p:cNvSpPr txBox="1"/>
          <p:nvPr/>
        </p:nvSpPr>
        <p:spPr>
          <a:xfrm>
            <a:off x="932688" y="4699254"/>
            <a:ext cx="5330952" cy="42976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700" b="0" i="0" u="none" strike="noStrike" cap="none">
                <a:solidFill>
                  <a:srgbClr val="14223A"/>
                </a:solidFill>
                <a:latin typeface="Arial"/>
                <a:ea typeface="Arial"/>
                <a:cs typeface="Arial"/>
                <a:sym typeface="Arial"/>
              </a:rPr>
              <a:t>x = 7 is the solution to x + 5 = 12 because 7 + 5 = 12 ✓</a:t>
            </a:r>
            <a:endParaRPr/>
          </a:p>
        </p:txBody>
      </p:sp>
      <p:pic>
        <p:nvPicPr>
          <p:cNvPr id="464" name="Google Shape;464;p50" descr="equation.png"/>
          <p:cNvPicPr preferRelativeResize="0"/>
          <p:nvPr/>
        </p:nvPicPr>
        <p:blipFill rotWithShape="1">
          <a:blip r:embed="rId3">
            <a:alphaModFix/>
          </a:blip>
          <a:srcRect/>
          <a:stretch/>
        </p:blipFill>
        <p:spPr>
          <a:xfrm>
            <a:off x="6903720" y="1853738"/>
            <a:ext cx="4572000" cy="3424843"/>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13 / 54</a:t>
            </a:r>
          </a:p>
        </p:txBody>
      </p:sp>
      <p:sp>
        <p:nvSpPr>
          <p:cNvPr id="465"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“Solution” to explain the example. Point to evidence.</a:t>
            </a:r>
            <a:endParaRPr 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Google Shape;469;p51"/>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0" name="Google Shape;470;p51"/>
          <p:cNvSpPr/>
          <p:nvPr/>
        </p:nvSpPr>
        <p:spPr>
          <a:xfrm>
            <a:off x="0" y="0"/>
            <a:ext cx="12191969" cy="713232"/>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1" name="Google Shape;471;p51"/>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2000" b="1" i="0" u="none" strike="noStrike" cap="none">
                <a:solidFill>
                  <a:srgbClr val="FFFFFF"/>
                </a:solidFill>
                <a:latin typeface="Arial"/>
                <a:ea typeface="Arial"/>
                <a:cs typeface="Arial"/>
                <a:sym typeface="Arial"/>
              </a:rPr>
              <a:t>Vocabulary  6 of 7</a:t>
            </a:r>
            <a:endParaRPr/>
          </a:p>
        </p:txBody>
      </p:sp>
      <p:sp>
        <p:nvSpPr>
          <p:cNvPr id="472" name="Google Shape;472;p51"/>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200" b="0" i="0" u="none" strike="noStrike" cap="none">
                <a:solidFill>
                  <a:srgbClr val="FFFFFF"/>
                </a:solidFill>
                <a:latin typeface="Arial"/>
                <a:ea typeface="Arial"/>
                <a:cs typeface="Arial"/>
                <a:sym typeface="Arial"/>
              </a:rPr>
              <a:t>Lesson 8-2 · Write and Solve Equations Using Addition or Subtraction</a:t>
            </a:r>
            <a:endParaRPr/>
          </a:p>
        </p:txBody>
      </p:sp>
      <p:sp>
        <p:nvSpPr>
          <p:cNvPr id="473" name="Google Shape;473;p51"/>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4" name="Google Shape;474;p51"/>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0" i="0" u="none" strike="noStrike" cap="none">
                <a:solidFill>
                  <a:srgbClr val="475569"/>
                </a:solidFill>
                <a:latin typeface="Arial"/>
                <a:ea typeface="Arial"/>
                <a:cs typeface="Arial"/>
                <a:sym typeface="Arial"/>
              </a:rPr>
              <a:t>eduwonderlab.com  ·  Neft Teacher</a:t>
            </a:r>
            <a:endParaRPr/>
          </a:p>
        </p:txBody>
      </p:sp>
      <p:sp>
        <p:nvSpPr>
          <p:cNvPr id="475" name="Google Shape;475;p51"/>
          <p:cNvSpPr txBox="1"/>
          <p:nvPr/>
        </p:nvSpPr>
        <p:spPr>
          <a:xfrm>
            <a:off x="640080" y="1803654"/>
            <a:ext cx="5897880" cy="78028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400" b="1" i="0" u="none" strike="noStrike" cap="none">
                <a:solidFill>
                  <a:srgbClr val="14223A"/>
                </a:solidFill>
                <a:latin typeface="Arial"/>
                <a:ea typeface="Arial"/>
                <a:cs typeface="Arial"/>
                <a:sym typeface="Arial"/>
              </a:rPr>
              <a:t>One-step equation</a:t>
            </a:r>
            <a:endParaRPr/>
          </a:p>
        </p:txBody>
      </p:sp>
      <p:sp>
        <p:nvSpPr>
          <p:cNvPr id="476" name="Google Shape;476;p51"/>
          <p:cNvSpPr/>
          <p:nvPr/>
        </p:nvSpPr>
        <p:spPr>
          <a:xfrm>
            <a:off x="658368" y="2638806"/>
            <a:ext cx="2020824" cy="68580"/>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7" name="Google Shape;477;p51"/>
          <p:cNvSpPr txBox="1"/>
          <p:nvPr/>
        </p:nvSpPr>
        <p:spPr>
          <a:xfrm>
            <a:off x="640080" y="2999994"/>
            <a:ext cx="5897880" cy="704088"/>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2200" b="0" i="0" u="none" strike="noStrike" cap="none">
                <a:solidFill>
                  <a:srgbClr val="14223A"/>
                </a:solidFill>
                <a:latin typeface="Arial"/>
                <a:ea typeface="Arial"/>
                <a:cs typeface="Arial"/>
                <a:sym typeface="Arial"/>
              </a:rPr>
              <a:t>An equation you can solve in a single step using one inverse operation.</a:t>
            </a:r>
            <a:endParaRPr/>
          </a:p>
        </p:txBody>
      </p:sp>
      <p:sp>
        <p:nvSpPr>
          <p:cNvPr id="478" name="Google Shape;478;p51"/>
          <p:cNvSpPr/>
          <p:nvPr/>
        </p:nvSpPr>
        <p:spPr>
          <a:xfrm>
            <a:off x="640080" y="4124706"/>
            <a:ext cx="5897880" cy="1249680"/>
          </a:xfrm>
          <a:prstGeom prst="roundRect">
            <a:avLst>
              <a:gd name="adj" fmla="val 7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9" name="Google Shape;479;p51"/>
          <p:cNvSpPr/>
          <p:nvPr/>
        </p:nvSpPr>
        <p:spPr>
          <a:xfrm>
            <a:off x="640080" y="4124706"/>
            <a:ext cx="91440" cy="124968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80" name="Google Shape;480;p51"/>
          <p:cNvSpPr txBox="1"/>
          <p:nvPr/>
        </p:nvSpPr>
        <p:spPr>
          <a:xfrm>
            <a:off x="932688" y="4298442"/>
            <a:ext cx="5330952" cy="2377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50" b="1" i="0" u="none" strike="noStrike" cap="none">
                <a:solidFill>
                  <a:srgbClr val="C2410C"/>
                </a:solidFill>
                <a:latin typeface="Arial"/>
                <a:ea typeface="Arial"/>
                <a:cs typeface="Arial"/>
                <a:sym typeface="Arial"/>
              </a:rPr>
              <a:t>EXAMPLE · EXPLAIN WHY IT FITS</a:t>
            </a:r>
            <a:endParaRPr/>
          </a:p>
        </p:txBody>
      </p:sp>
      <p:sp>
        <p:nvSpPr>
          <p:cNvPr id="481" name="Google Shape;481;p51"/>
          <p:cNvSpPr txBox="1"/>
          <p:nvPr/>
        </p:nvSpPr>
        <p:spPr>
          <a:xfrm>
            <a:off x="932688" y="4600194"/>
            <a:ext cx="5330952" cy="62788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700" b="0" i="0" u="none" strike="noStrike" cap="none">
                <a:solidFill>
                  <a:srgbClr val="14223A"/>
                </a:solidFill>
                <a:latin typeface="Arial"/>
                <a:ea typeface="Arial"/>
                <a:cs typeface="Arial"/>
                <a:sym typeface="Arial"/>
              </a:rPr>
              <a:t>x + 4 = 9 is solved in one step: subtract 4 from both sides, so x = 5.</a:t>
            </a:r>
            <a:endParaRPr/>
          </a:p>
        </p:txBody>
      </p:sp>
      <p:pic>
        <p:nvPicPr>
          <p:cNvPr id="482" name="Google Shape;482;p51" descr="equation.png"/>
          <p:cNvPicPr preferRelativeResize="0"/>
          <p:nvPr/>
        </p:nvPicPr>
        <p:blipFill rotWithShape="1">
          <a:blip r:embed="rId3">
            <a:alphaModFix/>
          </a:blip>
          <a:srcRect/>
          <a:stretch/>
        </p:blipFill>
        <p:spPr>
          <a:xfrm>
            <a:off x="6903720" y="1853738"/>
            <a:ext cx="4572000" cy="3424843"/>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14 / 54</a:t>
            </a:r>
          </a:p>
        </p:txBody>
      </p:sp>
      <p:sp>
        <p:nvSpPr>
          <p:cNvPr id="483"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“One-step equation”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Google Shape;487;p52"/>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88" name="Google Shape;488;p52"/>
          <p:cNvSpPr/>
          <p:nvPr/>
        </p:nvSpPr>
        <p:spPr>
          <a:xfrm>
            <a:off x="0" y="0"/>
            <a:ext cx="12191969" cy="713232"/>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89" name="Google Shape;489;p52"/>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2000" b="1" i="0" u="none" strike="noStrike" cap="none">
                <a:solidFill>
                  <a:srgbClr val="FFFFFF"/>
                </a:solidFill>
                <a:latin typeface="Arial"/>
                <a:ea typeface="Arial"/>
                <a:cs typeface="Arial"/>
                <a:sym typeface="Arial"/>
              </a:rPr>
              <a:t>Vocabulary  7 of 7</a:t>
            </a:r>
            <a:endParaRPr/>
          </a:p>
        </p:txBody>
      </p:sp>
      <p:sp>
        <p:nvSpPr>
          <p:cNvPr id="490" name="Google Shape;490;p52"/>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200" b="0" i="0" u="none" strike="noStrike" cap="none">
                <a:solidFill>
                  <a:srgbClr val="FFFFFF"/>
                </a:solidFill>
                <a:latin typeface="Arial"/>
                <a:ea typeface="Arial"/>
                <a:cs typeface="Arial"/>
                <a:sym typeface="Arial"/>
              </a:rPr>
              <a:t>Lesson 8-2 · Write and Solve Equations Using Addition or Subtraction</a:t>
            </a:r>
            <a:endParaRPr/>
          </a:p>
        </p:txBody>
      </p:sp>
      <p:sp>
        <p:nvSpPr>
          <p:cNvPr id="491" name="Google Shape;491;p52"/>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2" name="Google Shape;492;p52"/>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0" i="0" u="none" strike="noStrike" cap="none">
                <a:solidFill>
                  <a:srgbClr val="475569"/>
                </a:solidFill>
                <a:latin typeface="Arial"/>
                <a:ea typeface="Arial"/>
                <a:cs typeface="Arial"/>
                <a:sym typeface="Arial"/>
              </a:rPr>
              <a:t>eduwonderlab.com  ·  Neft Teacher</a:t>
            </a:r>
            <a:endParaRPr/>
          </a:p>
        </p:txBody>
      </p:sp>
      <p:sp>
        <p:nvSpPr>
          <p:cNvPr id="493" name="Google Shape;493;p52"/>
          <p:cNvSpPr txBox="1"/>
          <p:nvPr/>
        </p:nvSpPr>
        <p:spPr>
          <a:xfrm>
            <a:off x="640080" y="1803654"/>
            <a:ext cx="5897880" cy="78028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400" b="1" i="0" u="none" strike="noStrike" cap="none">
                <a:solidFill>
                  <a:srgbClr val="14223A"/>
                </a:solidFill>
                <a:latin typeface="Arial"/>
                <a:ea typeface="Arial"/>
                <a:cs typeface="Arial"/>
                <a:sym typeface="Arial"/>
              </a:rPr>
              <a:t>Balance</a:t>
            </a:r>
            <a:endParaRPr/>
          </a:p>
        </p:txBody>
      </p:sp>
      <p:sp>
        <p:nvSpPr>
          <p:cNvPr id="494" name="Google Shape;494;p52"/>
          <p:cNvSpPr/>
          <p:nvPr/>
        </p:nvSpPr>
        <p:spPr>
          <a:xfrm>
            <a:off x="658368" y="2638806"/>
            <a:ext cx="1097280" cy="68580"/>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5" name="Google Shape;495;p52"/>
          <p:cNvSpPr txBox="1"/>
          <p:nvPr/>
        </p:nvSpPr>
        <p:spPr>
          <a:xfrm>
            <a:off x="640080" y="2999994"/>
            <a:ext cx="5897880" cy="704088"/>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2200" b="0" i="0" u="none" strike="noStrike" cap="none">
                <a:solidFill>
                  <a:srgbClr val="14223A"/>
                </a:solidFill>
                <a:latin typeface="Arial"/>
                <a:ea typeface="Arial"/>
                <a:cs typeface="Arial"/>
                <a:sym typeface="Arial"/>
              </a:rPr>
              <a:t>Keeping both sides of an equation equal by doing the same thing to each side.</a:t>
            </a:r>
            <a:endParaRPr/>
          </a:p>
        </p:txBody>
      </p:sp>
      <p:sp>
        <p:nvSpPr>
          <p:cNvPr id="496" name="Google Shape;496;p52"/>
          <p:cNvSpPr/>
          <p:nvPr/>
        </p:nvSpPr>
        <p:spPr>
          <a:xfrm>
            <a:off x="640080" y="4124706"/>
            <a:ext cx="5897880" cy="1249680"/>
          </a:xfrm>
          <a:prstGeom prst="roundRect">
            <a:avLst>
              <a:gd name="adj" fmla="val 7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7" name="Google Shape;497;p52"/>
          <p:cNvSpPr/>
          <p:nvPr/>
        </p:nvSpPr>
        <p:spPr>
          <a:xfrm>
            <a:off x="640080" y="4124706"/>
            <a:ext cx="91440" cy="124968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8" name="Google Shape;498;p52"/>
          <p:cNvSpPr txBox="1"/>
          <p:nvPr/>
        </p:nvSpPr>
        <p:spPr>
          <a:xfrm>
            <a:off x="932688" y="4298442"/>
            <a:ext cx="5330952" cy="2377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50" b="1" i="0" u="none" strike="noStrike" cap="none">
                <a:solidFill>
                  <a:srgbClr val="C2410C"/>
                </a:solidFill>
                <a:latin typeface="Arial"/>
                <a:ea typeface="Arial"/>
                <a:cs typeface="Arial"/>
                <a:sym typeface="Arial"/>
              </a:rPr>
              <a:t>EXAMPLE · EXPLAIN WHY IT FITS</a:t>
            </a:r>
            <a:endParaRPr/>
          </a:p>
        </p:txBody>
      </p:sp>
      <p:sp>
        <p:nvSpPr>
          <p:cNvPr id="499" name="Google Shape;499;p52"/>
          <p:cNvSpPr txBox="1"/>
          <p:nvPr/>
        </p:nvSpPr>
        <p:spPr>
          <a:xfrm>
            <a:off x="932688" y="4600194"/>
            <a:ext cx="5330952" cy="62788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700" b="0" i="0" u="none" strike="noStrike" cap="none">
                <a:solidFill>
                  <a:srgbClr val="14223A"/>
                </a:solidFill>
                <a:latin typeface="Arial"/>
                <a:ea typeface="Arial"/>
                <a:cs typeface="Arial"/>
                <a:sym typeface="Arial"/>
              </a:rPr>
              <a:t>If you subtract 4 from the left side, you must subtract 4 from the right to keep balance.</a:t>
            </a:r>
            <a:endParaRPr/>
          </a:p>
        </p:txBody>
      </p:sp>
      <p:pic>
        <p:nvPicPr>
          <p:cNvPr id="500" name="Google Shape;500;p52" descr="equation.png"/>
          <p:cNvPicPr preferRelativeResize="0"/>
          <p:nvPr/>
        </p:nvPicPr>
        <p:blipFill rotWithShape="1">
          <a:blip r:embed="rId3">
            <a:alphaModFix/>
          </a:blip>
          <a:srcRect/>
          <a:stretch/>
        </p:blipFill>
        <p:spPr>
          <a:xfrm>
            <a:off x="6903720" y="1853738"/>
            <a:ext cx="4572000" cy="3424843"/>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15 / 54</a:t>
            </a:r>
          </a:p>
        </p:txBody>
      </p:sp>
      <p:sp>
        <p:nvSpPr>
          <p:cNvPr id="501"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“Balance” to explain the example. Point to evidence.</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45"/>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1" name="Google Shape;341;p45"/>
          <p:cNvSpPr/>
          <p:nvPr/>
        </p:nvSpPr>
        <p:spPr>
          <a:xfrm>
            <a:off x="0" y="0"/>
            <a:ext cx="12191969" cy="713232"/>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2" name="Google Shape;342;p45"/>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2000" b="1" i="0" u="none" strike="noStrike" cap="none">
                <a:solidFill>
                  <a:srgbClr val="FFFFFF"/>
                </a:solidFill>
                <a:latin typeface="Arial"/>
                <a:ea typeface="Arial"/>
                <a:cs typeface="Arial"/>
                <a:sym typeface="Arial"/>
              </a:rPr>
              <a:t>Vocabulary</a:t>
            </a:r>
            <a:endParaRPr/>
          </a:p>
        </p:txBody>
      </p:sp>
      <p:sp>
        <p:nvSpPr>
          <p:cNvPr id="343" name="Google Shape;343;p45"/>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200" b="0" i="0" u="none" strike="noStrike" cap="none">
                <a:solidFill>
                  <a:srgbClr val="FFFFFF"/>
                </a:solidFill>
                <a:latin typeface="Arial"/>
                <a:ea typeface="Arial"/>
                <a:cs typeface="Arial"/>
                <a:sym typeface="Arial"/>
              </a:rPr>
              <a:t>Lesson 8-2 · Write and Solve Equations Using Addition or Subtraction</a:t>
            </a:r>
            <a:endParaRPr/>
          </a:p>
        </p:txBody>
      </p:sp>
      <p:sp>
        <p:nvSpPr>
          <p:cNvPr id="344" name="Google Shape;344;p45"/>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5" name="Google Shape;345;p45"/>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0" i="0" u="none" strike="noStrike" cap="none">
                <a:solidFill>
                  <a:srgbClr val="475569"/>
                </a:solidFill>
                <a:latin typeface="Arial"/>
                <a:ea typeface="Arial"/>
                <a:cs typeface="Arial"/>
                <a:sym typeface="Arial"/>
              </a:rPr>
              <a:t>eduwonderlab.com  ·  Neft Teacher</a:t>
            </a:r>
            <a:endParaRPr/>
          </a:p>
        </p:txBody>
      </p:sp>
      <p:sp>
        <p:nvSpPr>
          <p:cNvPr id="346" name="Google Shape;346;p45"/>
          <p:cNvSpPr txBox="1"/>
          <p:nvPr/>
        </p:nvSpPr>
        <p:spPr>
          <a:xfrm>
            <a:off x="640080" y="1005840"/>
            <a:ext cx="10911809" cy="51206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400" b="1" i="0" u="none" strike="noStrike" cap="none">
                <a:solidFill>
                  <a:srgbClr val="14223A"/>
                </a:solidFill>
                <a:latin typeface="Arial"/>
                <a:ea typeface="Arial"/>
                <a:cs typeface="Arial"/>
                <a:sym typeface="Arial"/>
              </a:rPr>
              <a:t>Today’s Math Words</a:t>
            </a:r>
            <a:endParaRPr/>
          </a:p>
        </p:txBody>
      </p:sp>
      <p:sp>
        <p:nvSpPr>
          <p:cNvPr id="347" name="Google Shape;347;p45"/>
          <p:cNvSpPr txBox="1"/>
          <p:nvPr/>
        </p:nvSpPr>
        <p:spPr>
          <a:xfrm>
            <a:off x="640080" y="1591056"/>
            <a:ext cx="10911809"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00" b="0" i="1" u="none" strike="noStrike" cap="none">
                <a:solidFill>
                  <a:srgbClr val="475569"/>
                </a:solidFill>
                <a:latin typeface="Arial"/>
                <a:ea typeface="Arial"/>
                <a:cs typeface="Arial"/>
                <a:sym typeface="Arial"/>
              </a:rPr>
              <a:t>We learn every word — what it means and what it looks like — before we use it.</a:t>
            </a:r>
            <a:endParaRPr/>
          </a:p>
        </p:txBody>
      </p:sp>
      <p:sp>
        <p:nvSpPr>
          <p:cNvPr id="348" name="Google Shape;348;p45"/>
          <p:cNvSpPr/>
          <p:nvPr/>
        </p:nvSpPr>
        <p:spPr>
          <a:xfrm>
            <a:off x="640080" y="2103120"/>
            <a:ext cx="5291312" cy="891540"/>
          </a:xfrm>
          <a:prstGeom prst="roundRect">
            <a:avLst>
              <a:gd name="adj" fmla="val 9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9" name="Google Shape;349;p45"/>
          <p:cNvSpPr/>
          <p:nvPr/>
        </p:nvSpPr>
        <p:spPr>
          <a:xfrm>
            <a:off x="640080" y="2103120"/>
            <a:ext cx="91440" cy="891540"/>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50" name="Google Shape;350;p45"/>
          <p:cNvSpPr txBox="1"/>
          <p:nvPr/>
        </p:nvSpPr>
        <p:spPr>
          <a:xfrm>
            <a:off x="950976" y="2240279"/>
            <a:ext cx="4724384" cy="310896"/>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450" b="1" i="0" u="none" strike="noStrike" cap="none">
                <a:solidFill>
                  <a:srgbClr val="14223A"/>
                </a:solidFill>
                <a:latin typeface="Arial"/>
                <a:ea typeface="Arial"/>
                <a:cs typeface="Arial"/>
                <a:sym typeface="Arial"/>
              </a:rPr>
              <a:t>Solve One-Step Addition and Subtraction Equations</a:t>
            </a:r>
            <a:endParaRPr/>
          </a:p>
        </p:txBody>
      </p:sp>
      <p:sp>
        <p:nvSpPr>
          <p:cNvPr id="351" name="Google Shape;351;p45"/>
          <p:cNvSpPr txBox="1"/>
          <p:nvPr/>
        </p:nvSpPr>
        <p:spPr>
          <a:xfrm>
            <a:off x="950976" y="2578608"/>
            <a:ext cx="4724384" cy="324612"/>
          </a:xfrm>
          <a:prstGeom prst="rect">
            <a:avLst/>
          </a:prstGeom>
          <a:noFill/>
          <a:ln>
            <a:noFill/>
          </a:ln>
        </p:spPr>
        <p:txBody>
          <a:bodyPr spcFirstLastPara="1" wrap="square" lIns="0" tIns="0" rIns="0" bIns="0" anchor="t" anchorCtr="0">
            <a:spAutoFit/>
          </a:bodyPr>
          <a:lstStyle/>
          <a:p>
            <a:pPr marL="0" marR="0" lvl="0" indent="0" algn="l" rtl="0">
              <a:lnSpc>
                <a:spcPct val="116000"/>
              </a:lnSpc>
              <a:spcBef>
                <a:spcPts val="0"/>
              </a:spcBef>
              <a:spcAft>
                <a:spcPts val="0"/>
              </a:spcAft>
              <a:buNone/>
            </a:pPr>
            <a:r>
              <a:rPr lang="en-US" sz="1150" b="0" i="0" u="none" strike="noStrike" cap="none">
                <a:solidFill>
                  <a:srgbClr val="475569"/>
                </a:solidFill>
                <a:latin typeface="Arial"/>
                <a:ea typeface="Arial"/>
                <a:cs typeface="Arial"/>
                <a:sym typeface="Arial"/>
              </a:rPr>
              <a:t>Use one inverse addition or subtraction operation to isolate the variable</a:t>
            </a:r>
            <a:endParaRPr/>
          </a:p>
        </p:txBody>
      </p:sp>
      <p:sp>
        <p:nvSpPr>
          <p:cNvPr id="352" name="Google Shape;352;p45"/>
          <p:cNvSpPr/>
          <p:nvPr/>
        </p:nvSpPr>
        <p:spPr>
          <a:xfrm>
            <a:off x="6260576" y="2103120"/>
            <a:ext cx="5291312" cy="891540"/>
          </a:xfrm>
          <a:prstGeom prst="roundRect">
            <a:avLst>
              <a:gd name="adj" fmla="val 9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53" name="Google Shape;353;p45"/>
          <p:cNvSpPr/>
          <p:nvPr/>
        </p:nvSpPr>
        <p:spPr>
          <a:xfrm>
            <a:off x="6260576" y="2103120"/>
            <a:ext cx="91440" cy="891540"/>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54" name="Google Shape;354;p45"/>
          <p:cNvSpPr txBox="1"/>
          <p:nvPr/>
        </p:nvSpPr>
        <p:spPr>
          <a:xfrm>
            <a:off x="6571472" y="2240279"/>
            <a:ext cx="4724384" cy="310896"/>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700" b="1" i="0" u="none" strike="noStrike" cap="none">
                <a:solidFill>
                  <a:srgbClr val="14223A"/>
                </a:solidFill>
                <a:latin typeface="Arial"/>
                <a:ea typeface="Arial"/>
                <a:cs typeface="Arial"/>
                <a:sym typeface="Arial"/>
              </a:rPr>
              <a:t>Equation</a:t>
            </a:r>
            <a:endParaRPr/>
          </a:p>
        </p:txBody>
      </p:sp>
      <p:sp>
        <p:nvSpPr>
          <p:cNvPr id="355" name="Google Shape;355;p45"/>
          <p:cNvSpPr txBox="1"/>
          <p:nvPr/>
        </p:nvSpPr>
        <p:spPr>
          <a:xfrm>
            <a:off x="6571472" y="2578608"/>
            <a:ext cx="4724384" cy="324612"/>
          </a:xfrm>
          <a:prstGeom prst="rect">
            <a:avLst/>
          </a:prstGeom>
          <a:noFill/>
          <a:ln>
            <a:noFill/>
          </a:ln>
        </p:spPr>
        <p:txBody>
          <a:bodyPr spcFirstLastPara="1" wrap="square" lIns="0" tIns="0" rIns="0" bIns="0" anchor="t" anchorCtr="0">
            <a:spAutoFit/>
          </a:bodyPr>
          <a:lstStyle/>
          <a:p>
            <a:pPr marL="0" marR="0" lvl="0" indent="0" algn="l" rtl="0">
              <a:lnSpc>
                <a:spcPct val="116000"/>
              </a:lnSpc>
              <a:spcBef>
                <a:spcPts val="0"/>
              </a:spcBef>
              <a:spcAft>
                <a:spcPts val="0"/>
              </a:spcAft>
              <a:buNone/>
            </a:pPr>
            <a:r>
              <a:rPr lang="en-US" sz="1200" b="0" i="0" u="none" strike="noStrike" cap="none">
                <a:solidFill>
                  <a:srgbClr val="475569"/>
                </a:solidFill>
                <a:latin typeface="Arial"/>
                <a:ea typeface="Arial"/>
                <a:cs typeface="Arial"/>
                <a:sym typeface="Arial"/>
              </a:rPr>
              <a:t>A math sentence with an equal sign showing both sides are the same</a:t>
            </a:r>
            <a:endParaRPr/>
          </a:p>
        </p:txBody>
      </p:sp>
      <p:sp>
        <p:nvSpPr>
          <p:cNvPr id="356" name="Google Shape;356;p45"/>
          <p:cNvSpPr/>
          <p:nvPr/>
        </p:nvSpPr>
        <p:spPr>
          <a:xfrm>
            <a:off x="640080" y="3177539"/>
            <a:ext cx="5291312" cy="891540"/>
          </a:xfrm>
          <a:prstGeom prst="roundRect">
            <a:avLst>
              <a:gd name="adj" fmla="val 9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57" name="Google Shape;357;p45"/>
          <p:cNvSpPr/>
          <p:nvPr/>
        </p:nvSpPr>
        <p:spPr>
          <a:xfrm>
            <a:off x="640080" y="3177539"/>
            <a:ext cx="91440" cy="891540"/>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58" name="Google Shape;358;p45"/>
          <p:cNvSpPr txBox="1"/>
          <p:nvPr/>
        </p:nvSpPr>
        <p:spPr>
          <a:xfrm>
            <a:off x="950976" y="3314699"/>
            <a:ext cx="4724384" cy="310896"/>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700" b="1" i="0" u="none" strike="noStrike" cap="none">
                <a:solidFill>
                  <a:srgbClr val="14223A"/>
                </a:solidFill>
                <a:latin typeface="Arial"/>
                <a:ea typeface="Arial"/>
                <a:cs typeface="Arial"/>
                <a:sym typeface="Arial"/>
              </a:rPr>
              <a:t>Inverse operation</a:t>
            </a:r>
            <a:endParaRPr/>
          </a:p>
        </p:txBody>
      </p:sp>
      <p:sp>
        <p:nvSpPr>
          <p:cNvPr id="359" name="Google Shape;359;p45"/>
          <p:cNvSpPr txBox="1"/>
          <p:nvPr/>
        </p:nvSpPr>
        <p:spPr>
          <a:xfrm>
            <a:off x="950976" y="3653027"/>
            <a:ext cx="4724384" cy="324612"/>
          </a:xfrm>
          <a:prstGeom prst="rect">
            <a:avLst/>
          </a:prstGeom>
          <a:noFill/>
          <a:ln>
            <a:noFill/>
          </a:ln>
        </p:spPr>
        <p:txBody>
          <a:bodyPr spcFirstLastPara="1" wrap="square" lIns="0" tIns="0" rIns="0" bIns="0" anchor="t" anchorCtr="0">
            <a:spAutoFit/>
          </a:bodyPr>
          <a:lstStyle/>
          <a:p>
            <a:pPr marL="0" marR="0" lvl="0" indent="0" algn="l" rtl="0">
              <a:lnSpc>
                <a:spcPct val="116000"/>
              </a:lnSpc>
              <a:spcBef>
                <a:spcPts val="0"/>
              </a:spcBef>
              <a:spcAft>
                <a:spcPts val="0"/>
              </a:spcAft>
              <a:buNone/>
            </a:pPr>
            <a:r>
              <a:rPr lang="en-US" sz="1400" b="0" i="0" u="none" strike="noStrike" cap="none">
                <a:solidFill>
                  <a:srgbClr val="475569"/>
                </a:solidFill>
                <a:latin typeface="Arial"/>
                <a:ea typeface="Arial"/>
                <a:cs typeface="Arial"/>
                <a:sym typeface="Arial"/>
              </a:rPr>
              <a:t>Two math actions that undo each other, like × and ÷</a:t>
            </a:r>
            <a:endParaRPr/>
          </a:p>
        </p:txBody>
      </p:sp>
      <p:sp>
        <p:nvSpPr>
          <p:cNvPr id="360" name="Google Shape;360;p45"/>
          <p:cNvSpPr/>
          <p:nvPr/>
        </p:nvSpPr>
        <p:spPr>
          <a:xfrm>
            <a:off x="6260576" y="3177539"/>
            <a:ext cx="5291312" cy="891540"/>
          </a:xfrm>
          <a:prstGeom prst="roundRect">
            <a:avLst>
              <a:gd name="adj" fmla="val 9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1" name="Google Shape;361;p45"/>
          <p:cNvSpPr/>
          <p:nvPr/>
        </p:nvSpPr>
        <p:spPr>
          <a:xfrm>
            <a:off x="6260576" y="3177539"/>
            <a:ext cx="91440" cy="891540"/>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2" name="Google Shape;362;p45"/>
          <p:cNvSpPr txBox="1"/>
          <p:nvPr/>
        </p:nvSpPr>
        <p:spPr>
          <a:xfrm>
            <a:off x="6571472" y="3314699"/>
            <a:ext cx="4724384" cy="310896"/>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700" b="1" i="0" u="none" strike="noStrike" cap="none">
                <a:solidFill>
                  <a:srgbClr val="14223A"/>
                </a:solidFill>
                <a:latin typeface="Arial"/>
                <a:ea typeface="Arial"/>
                <a:cs typeface="Arial"/>
                <a:sym typeface="Arial"/>
              </a:rPr>
              <a:t>Isolate</a:t>
            </a:r>
            <a:endParaRPr/>
          </a:p>
        </p:txBody>
      </p:sp>
      <p:sp>
        <p:nvSpPr>
          <p:cNvPr id="363" name="Google Shape;363;p45"/>
          <p:cNvSpPr txBox="1"/>
          <p:nvPr/>
        </p:nvSpPr>
        <p:spPr>
          <a:xfrm>
            <a:off x="6571472" y="3653027"/>
            <a:ext cx="4724384" cy="324612"/>
          </a:xfrm>
          <a:prstGeom prst="rect">
            <a:avLst/>
          </a:prstGeom>
          <a:noFill/>
          <a:ln>
            <a:noFill/>
          </a:ln>
        </p:spPr>
        <p:txBody>
          <a:bodyPr spcFirstLastPara="1" wrap="square" lIns="0" tIns="0" rIns="0" bIns="0" anchor="t" anchorCtr="0">
            <a:spAutoFit/>
          </a:bodyPr>
          <a:lstStyle/>
          <a:p>
            <a:pPr marL="0" marR="0" lvl="0" indent="0" algn="l" rtl="0">
              <a:lnSpc>
                <a:spcPct val="116000"/>
              </a:lnSpc>
              <a:spcBef>
                <a:spcPts val="0"/>
              </a:spcBef>
              <a:spcAft>
                <a:spcPts val="0"/>
              </a:spcAft>
              <a:buNone/>
            </a:pPr>
            <a:r>
              <a:rPr lang="en-US" sz="1400" b="0" i="0" u="none" strike="noStrike" cap="none">
                <a:solidFill>
                  <a:srgbClr val="475569"/>
                </a:solidFill>
                <a:latin typeface="Arial"/>
                <a:ea typeface="Arial"/>
                <a:cs typeface="Arial"/>
                <a:sym typeface="Arial"/>
              </a:rPr>
              <a:t>To get the letter by itself on one side</a:t>
            </a:r>
            <a:endParaRPr/>
          </a:p>
        </p:txBody>
      </p:sp>
      <p:sp>
        <p:nvSpPr>
          <p:cNvPr id="364" name="Google Shape;364;p45"/>
          <p:cNvSpPr/>
          <p:nvPr/>
        </p:nvSpPr>
        <p:spPr>
          <a:xfrm>
            <a:off x="640080" y="4251960"/>
            <a:ext cx="5291312" cy="891540"/>
          </a:xfrm>
          <a:prstGeom prst="roundRect">
            <a:avLst>
              <a:gd name="adj" fmla="val 9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5" name="Google Shape;365;p45"/>
          <p:cNvSpPr/>
          <p:nvPr/>
        </p:nvSpPr>
        <p:spPr>
          <a:xfrm>
            <a:off x="640080" y="4251960"/>
            <a:ext cx="91440" cy="891540"/>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6" name="Google Shape;366;p45"/>
          <p:cNvSpPr txBox="1"/>
          <p:nvPr/>
        </p:nvSpPr>
        <p:spPr>
          <a:xfrm>
            <a:off x="950976" y="4389120"/>
            <a:ext cx="4724384" cy="310896"/>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700" b="1" i="0" u="none" strike="noStrike" cap="none">
                <a:solidFill>
                  <a:srgbClr val="14223A"/>
                </a:solidFill>
                <a:latin typeface="Arial"/>
                <a:ea typeface="Arial"/>
                <a:cs typeface="Arial"/>
                <a:sym typeface="Arial"/>
              </a:rPr>
              <a:t>Solution</a:t>
            </a:r>
            <a:endParaRPr/>
          </a:p>
        </p:txBody>
      </p:sp>
      <p:sp>
        <p:nvSpPr>
          <p:cNvPr id="367" name="Google Shape;367;p45"/>
          <p:cNvSpPr txBox="1"/>
          <p:nvPr/>
        </p:nvSpPr>
        <p:spPr>
          <a:xfrm>
            <a:off x="950976" y="4727448"/>
            <a:ext cx="4724384" cy="324612"/>
          </a:xfrm>
          <a:prstGeom prst="rect">
            <a:avLst/>
          </a:prstGeom>
          <a:noFill/>
          <a:ln>
            <a:noFill/>
          </a:ln>
        </p:spPr>
        <p:txBody>
          <a:bodyPr spcFirstLastPara="1" wrap="square" lIns="0" tIns="0" rIns="0" bIns="0" anchor="t" anchorCtr="0">
            <a:spAutoFit/>
          </a:bodyPr>
          <a:lstStyle/>
          <a:p>
            <a:pPr marL="0" marR="0" lvl="0" indent="0" algn="l" rtl="0">
              <a:lnSpc>
                <a:spcPct val="116000"/>
              </a:lnSpc>
              <a:spcBef>
                <a:spcPts val="0"/>
              </a:spcBef>
              <a:spcAft>
                <a:spcPts val="0"/>
              </a:spcAft>
              <a:buNone/>
            </a:pPr>
            <a:r>
              <a:rPr lang="en-US" sz="1400" b="0" i="0" u="none" strike="noStrike" cap="none">
                <a:solidFill>
                  <a:srgbClr val="475569"/>
                </a:solidFill>
                <a:latin typeface="Arial"/>
                <a:ea typeface="Arial"/>
                <a:cs typeface="Arial"/>
                <a:sym typeface="Arial"/>
              </a:rPr>
              <a:t>A number that makes the equation or inequality true</a:t>
            </a:r>
            <a:endParaRPr/>
          </a:p>
        </p:txBody>
      </p:sp>
      <p:sp>
        <p:nvSpPr>
          <p:cNvPr id="368" name="Google Shape;368;p45"/>
          <p:cNvSpPr/>
          <p:nvPr/>
        </p:nvSpPr>
        <p:spPr>
          <a:xfrm>
            <a:off x="6260576" y="4251960"/>
            <a:ext cx="5291312" cy="891540"/>
          </a:xfrm>
          <a:prstGeom prst="roundRect">
            <a:avLst>
              <a:gd name="adj" fmla="val 9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9" name="Google Shape;369;p45"/>
          <p:cNvSpPr/>
          <p:nvPr/>
        </p:nvSpPr>
        <p:spPr>
          <a:xfrm>
            <a:off x="6260576" y="4251960"/>
            <a:ext cx="91440" cy="891540"/>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70" name="Google Shape;370;p45"/>
          <p:cNvSpPr txBox="1"/>
          <p:nvPr/>
        </p:nvSpPr>
        <p:spPr>
          <a:xfrm>
            <a:off x="6571472" y="4389120"/>
            <a:ext cx="4724384" cy="310896"/>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700" b="1" i="0" u="none" strike="noStrike" cap="none">
                <a:solidFill>
                  <a:srgbClr val="14223A"/>
                </a:solidFill>
                <a:latin typeface="Arial"/>
                <a:ea typeface="Arial"/>
                <a:cs typeface="Arial"/>
                <a:sym typeface="Arial"/>
              </a:rPr>
              <a:t>One-step equation</a:t>
            </a:r>
            <a:endParaRPr/>
          </a:p>
        </p:txBody>
      </p:sp>
      <p:sp>
        <p:nvSpPr>
          <p:cNvPr id="371" name="Google Shape;371;p45"/>
          <p:cNvSpPr txBox="1"/>
          <p:nvPr/>
        </p:nvSpPr>
        <p:spPr>
          <a:xfrm>
            <a:off x="6571472" y="4727448"/>
            <a:ext cx="4724384" cy="324612"/>
          </a:xfrm>
          <a:prstGeom prst="rect">
            <a:avLst/>
          </a:prstGeom>
          <a:noFill/>
          <a:ln>
            <a:noFill/>
          </a:ln>
        </p:spPr>
        <p:txBody>
          <a:bodyPr spcFirstLastPara="1" wrap="square" lIns="0" tIns="0" rIns="0" bIns="0" anchor="t" anchorCtr="0">
            <a:spAutoFit/>
          </a:bodyPr>
          <a:lstStyle/>
          <a:p>
            <a:pPr marL="0" marR="0" lvl="0" indent="0" algn="l" rtl="0">
              <a:lnSpc>
                <a:spcPct val="116000"/>
              </a:lnSpc>
              <a:spcBef>
                <a:spcPts val="0"/>
              </a:spcBef>
              <a:spcAft>
                <a:spcPts val="0"/>
              </a:spcAft>
              <a:buNone/>
            </a:pPr>
            <a:r>
              <a:rPr lang="en-US" sz="1150" b="0" i="0" u="none" strike="noStrike" cap="none">
                <a:solidFill>
                  <a:srgbClr val="475569"/>
                </a:solidFill>
                <a:latin typeface="Arial"/>
                <a:ea typeface="Arial"/>
                <a:cs typeface="Arial"/>
                <a:sym typeface="Arial"/>
              </a:rPr>
              <a:t>An equation you can solve in a single step using one inverse operation</a:t>
            </a:r>
            <a:endParaRPr/>
          </a:p>
        </p:txBody>
      </p:sp>
      <p:sp>
        <p:nvSpPr>
          <p:cNvPr id="372" name="Google Shape;372;p45"/>
          <p:cNvSpPr/>
          <p:nvPr/>
        </p:nvSpPr>
        <p:spPr>
          <a:xfrm>
            <a:off x="640080" y="5326380"/>
            <a:ext cx="5291312" cy="891540"/>
          </a:xfrm>
          <a:prstGeom prst="roundRect">
            <a:avLst>
              <a:gd name="adj" fmla="val 9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73" name="Google Shape;373;p45"/>
          <p:cNvSpPr/>
          <p:nvPr/>
        </p:nvSpPr>
        <p:spPr>
          <a:xfrm>
            <a:off x="640080" y="5326380"/>
            <a:ext cx="91440" cy="891540"/>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74" name="Google Shape;374;p45"/>
          <p:cNvSpPr txBox="1"/>
          <p:nvPr/>
        </p:nvSpPr>
        <p:spPr>
          <a:xfrm>
            <a:off x="950976" y="5463540"/>
            <a:ext cx="4724384" cy="310896"/>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700" b="1" i="0" u="none" strike="noStrike" cap="none">
                <a:solidFill>
                  <a:srgbClr val="14223A"/>
                </a:solidFill>
                <a:latin typeface="Arial"/>
                <a:ea typeface="Arial"/>
                <a:cs typeface="Arial"/>
                <a:sym typeface="Arial"/>
              </a:rPr>
              <a:t>Balance</a:t>
            </a:r>
            <a:endParaRPr/>
          </a:p>
        </p:txBody>
      </p:sp>
      <p:sp>
        <p:nvSpPr>
          <p:cNvPr id="375" name="Google Shape;375;p45"/>
          <p:cNvSpPr txBox="1"/>
          <p:nvPr/>
        </p:nvSpPr>
        <p:spPr>
          <a:xfrm>
            <a:off x="950976" y="5801868"/>
            <a:ext cx="4724384" cy="324612"/>
          </a:xfrm>
          <a:prstGeom prst="rect">
            <a:avLst/>
          </a:prstGeom>
          <a:noFill/>
          <a:ln>
            <a:noFill/>
          </a:ln>
        </p:spPr>
        <p:txBody>
          <a:bodyPr spcFirstLastPara="1" wrap="square" lIns="0" tIns="0" rIns="0" bIns="0" anchor="t" anchorCtr="0">
            <a:spAutoFit/>
          </a:bodyPr>
          <a:lstStyle/>
          <a:p>
            <a:pPr marL="0" marR="0" lvl="0" indent="0" algn="l" rtl="0">
              <a:lnSpc>
                <a:spcPct val="116000"/>
              </a:lnSpc>
              <a:spcBef>
                <a:spcPts val="0"/>
              </a:spcBef>
              <a:spcAft>
                <a:spcPts val="0"/>
              </a:spcAft>
              <a:buNone/>
            </a:pPr>
            <a:r>
              <a:rPr lang="en-US" sz="1100" b="0" i="0" u="none" strike="noStrike" cap="none">
                <a:solidFill>
                  <a:srgbClr val="475569"/>
                </a:solidFill>
                <a:latin typeface="Arial"/>
                <a:ea typeface="Arial"/>
                <a:cs typeface="Arial"/>
                <a:sym typeface="Arial"/>
              </a:rPr>
              <a:t>Keeping both sides of an equation equal by doing the same thing to each side</a:t>
            </a:r>
            <a:endParaRPr/>
          </a:p>
        </p:txBody>
      </p:sp>
      <p:sp>
        <p:nvSpPr>
          <p:cNvPr id="376"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16 / 54</a:t>
            </a:r>
          </a:p>
        </p:txBody>
      </p:sp>
      <p:sp>
        <p:nvSpPr>
          <p:cNvPr id="377"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cxnSp>
        <p:nvCxnSpPr>
          <p:cNvPr id="571" name="Google Shape;571;p56"/>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572" name="Google Shape;572;p56"/>
          <p:cNvSpPr txBox="1"/>
          <p:nvPr/>
        </p:nvSpPr>
        <p:spPr>
          <a:xfrm>
            <a:off x="484560" y="316034"/>
            <a:ext cx="3904129"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B050"/>
              </a:buClr>
              <a:buSzPts val="2800"/>
              <a:buFont typeface="Arial"/>
              <a:buNone/>
            </a:pPr>
            <a:r>
              <a:rPr lang="en-US" sz="2800" b="1" i="0" u="none" strike="noStrike" cap="none">
                <a:solidFill>
                  <a:srgbClr val="00B050"/>
                </a:solidFill>
                <a:latin typeface="Arial"/>
                <a:ea typeface="Arial"/>
                <a:cs typeface="Arial"/>
                <a:sym typeface="Arial"/>
              </a:rPr>
              <a:t>Be Curious</a:t>
            </a:r>
            <a:endParaRPr sz="1400" b="0" i="0" u="none" strike="noStrike" cap="none">
              <a:solidFill>
                <a:srgbClr val="000000"/>
              </a:solidFill>
              <a:latin typeface="Arial"/>
              <a:ea typeface="Arial"/>
              <a:cs typeface="Arial"/>
              <a:sym typeface="Arial"/>
            </a:endParaRPr>
          </a:p>
        </p:txBody>
      </p:sp>
      <p:sp>
        <p:nvSpPr>
          <p:cNvPr id="573" name="Google Shape;573;p56"/>
          <p:cNvSpPr txBox="1"/>
          <p:nvPr/>
        </p:nvSpPr>
        <p:spPr>
          <a:xfrm>
            <a:off x="484561" y="936000"/>
            <a:ext cx="3690994" cy="13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800" b="0" i="0" u="none" strike="noStrike" cap="none">
                <a:solidFill>
                  <a:schemeClr val="dk1"/>
                </a:solidFill>
                <a:latin typeface="Arial"/>
                <a:ea typeface="Arial"/>
                <a:cs typeface="Arial"/>
                <a:sym typeface="Arial"/>
              </a:rPr>
              <a:t>What do you notice?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chemeClr val="dk1"/>
              </a:buClr>
              <a:buSzPts val="2800"/>
              <a:buFont typeface="Arial"/>
              <a:buNone/>
            </a:pPr>
            <a:r>
              <a:rPr lang="en-US" sz="2800" b="0" i="0" u="none" strike="noStrike" cap="none">
                <a:solidFill>
                  <a:schemeClr val="dk1"/>
                </a:solidFill>
                <a:latin typeface="Arial"/>
                <a:ea typeface="Arial"/>
                <a:cs typeface="Arial"/>
                <a:sym typeface="Arial"/>
              </a:rPr>
              <a:t>What do you notice?</a:t>
            </a:r>
            <a:endParaRPr sz="2800" b="0" i="0" u="none" strike="noStrike" cap="none">
              <a:solidFill>
                <a:schemeClr val="dk1"/>
              </a:solidFill>
              <a:latin typeface="Arial"/>
              <a:ea typeface="Arial"/>
              <a:cs typeface="Arial"/>
              <a:sym typeface="Arial"/>
            </a:endParaRPr>
          </a:p>
        </p:txBody>
      </p:sp>
      <p:pic>
        <p:nvPicPr>
          <p:cNvPr id="574" name="Google Shape;574;p56" descr="C:\Users\HP\Desktop\Grade_6_Unit_8\OPS\img\.assets\cee0208a2b6a4bb1a434b889847dcde6\narm24_c10802_se_005a-dig-a.png"/>
          <p:cNvPicPr preferRelativeResize="0"/>
          <p:nvPr/>
        </p:nvPicPr>
        <p:blipFill rotWithShape="1">
          <a:blip r:embed="rId3">
            <a:alphaModFix/>
          </a:blip>
          <a:srcRect/>
          <a:stretch/>
        </p:blipFill>
        <p:spPr>
          <a:xfrm>
            <a:off x="5087196" y="1362028"/>
            <a:ext cx="6311597" cy="3722400"/>
          </a:xfrm>
          <a:prstGeom prst="rect">
            <a:avLst/>
          </a:prstGeom>
          <a:noFill/>
          <a:ln>
            <a:noFill/>
          </a:ln>
        </p:spPr>
      </p:pic>
      <p:sp>
        <p:nvSpPr>
          <p:cNvPr id="575" name="Google Shape;575;p56"/>
          <p:cNvSpPr/>
          <p:nvPr/>
        </p:nvSpPr>
        <p:spPr>
          <a:xfrm>
            <a:off x="486000" y="5774454"/>
            <a:ext cx="6960560" cy="49244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US" sz="2600" b="0" i="0" u="none" strike="noStrike" cap="none">
                <a:solidFill>
                  <a:srgbClr val="595959"/>
                </a:solidFill>
                <a:latin typeface="Arial"/>
                <a:ea typeface="Arial"/>
                <a:cs typeface="Arial"/>
                <a:sym typeface="Arial"/>
              </a:rPr>
              <a:t>What helps you stay motivated to learn math?</a:t>
            </a:r>
            <a:endParaRPr sz="2600" b="0" i="0" u="none" strike="noStrike" cap="none">
              <a:solidFill>
                <a:srgbClr val="595959"/>
              </a:solidFill>
              <a:latin typeface="Arial"/>
              <a:ea typeface="Arial"/>
              <a:cs typeface="Arial"/>
              <a:sym typeface="Arial"/>
            </a:endParaRPr>
          </a:p>
        </p:txBody>
      </p:sp>
      <p:pic>
        <p:nvPicPr>
          <p:cNvPr id="576" name="Google Shape;576;p56"/>
          <p:cNvPicPr preferRelativeResize="0"/>
          <p:nvPr/>
        </p:nvPicPr>
        <p:blipFill rotWithShape="1">
          <a:blip r:embed="rId4">
            <a:alphaModFix/>
          </a:blip>
          <a:srcRect/>
          <a:stretch/>
        </p:blipFill>
        <p:spPr>
          <a:xfrm>
            <a:off x="481450" y="4927110"/>
            <a:ext cx="5054600" cy="838200"/>
          </a:xfrm>
          <a:prstGeom prst="rect">
            <a:avLst/>
          </a:prstGeom>
          <a:noFill/>
          <a:ln>
            <a:noFill/>
          </a:ln>
        </p:spPr>
      </p:pic>
      <p:sp>
        <p:nvSpPr>
          <p:cNvPr id="577" name="Google Shape;577;p56"/>
          <p:cNvSpPr txBox="1"/>
          <p:nvPr/>
        </p:nvSpPr>
        <p:spPr>
          <a:xfrm>
            <a:off x="3341467" y="5084428"/>
            <a:ext cx="2194584" cy="63971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3282D"/>
                </a:solidFill>
                <a:latin typeface="Arial"/>
                <a:ea typeface="Arial"/>
                <a:cs typeface="Arial"/>
                <a:sym typeface="Arial"/>
              </a:rPr>
              <a:t>Mindset</a:t>
            </a:r>
            <a:endParaRPr sz="1400" b="0" i="0" u="none" strike="noStrike" cap="none">
              <a:solidFill>
                <a:srgbClr val="000000"/>
              </a:solidFill>
              <a:latin typeface="Arial"/>
              <a:ea typeface="Arial"/>
              <a:cs typeface="Arial"/>
              <a:sym typeface="Arial"/>
            </a:endParaRPr>
          </a:p>
        </p:txBody>
      </p:sp>
      <p:sp>
        <p:nvSpPr>
          <p:cNvPr id="578"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17 / 54</a:t>
            </a:r>
          </a:p>
        </p:txBody>
      </p:sp>
      <p:sp>
        <p:nvSpPr>
          <p:cNvPr id="579" name="TEACH-embedded-student-prompt" descr="Student thinking and response directions"/>
          <p:cNvSpPr txBox="1"/>
          <p:nvPr/>
        </p:nvSpPr>
        <p:spPr>
          <a:xfrm>
            <a:off x="594360" y="37307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a:t>
            </a:r>
            <a:endParaRPr lang="en-US" sz="2000"/>
          </a:p>
          <a:p>
            <a:pPr>
              <a:lnSpc>
                <a:spcPts val="2400"/>
              </a:lnSpc>
              <a:buNone/>
            </a:pPr>
            <a:r>
              <a:rPr lang="en-US" sz="2000">
                <a:solidFill>
                  <a:srgbClr val="174D60"/>
                </a:solidFill>
                <a:latin typeface="Arial"/>
              </a:rPr>
              <a:t>question; build on a classmate’s</a:t>
            </a:r>
            <a:endParaRPr lang="en-US" sz="2000"/>
          </a:p>
          <a:p>
            <a:pPr>
              <a:lnSpc>
                <a:spcPts val="2400"/>
              </a:lnSpc>
              <a:buNone/>
            </a:pPr>
            <a:r>
              <a:rPr lang="en-US" sz="2000">
                <a:solidFill>
                  <a:srgbClr val="174D60"/>
                </a:solidFill>
                <a:latin typeface="Arial"/>
              </a:rPr>
              <a:t>idea.</a:t>
            </a:r>
            <a:endParaRPr lang="en-US" sz="2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cxnSp>
        <p:nvCxnSpPr>
          <p:cNvPr id="601" name="Google Shape;601;p59"/>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602" name="Google Shape;602;p59"/>
          <p:cNvSpPr txBox="1"/>
          <p:nvPr/>
        </p:nvSpPr>
        <p:spPr>
          <a:xfrm>
            <a:off x="486000" y="316800"/>
            <a:ext cx="5408173"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defRPr/>
            </a:pPr>
            <a:r>
              <a:rPr lang="en-US" sz="2800" b="1" i="0" u="none" strike="noStrike" cap="none">
                <a:solidFill>
                  <a:srgbClr val="782DA0"/>
                </a:solidFill>
                <a:latin typeface="Arial"/>
                <a:ea typeface="Arial"/>
                <a:cs typeface="Arial"/>
                <a:sym typeface="Arial"/>
              </a:rPr>
              <a:t>Eduardo’s Biking Adventures</a:t>
            </a:r>
            <a:endParaRPr sz="1400" b="0" i="0" u="none" strike="noStrike" cap="none">
              <a:solidFill>
                <a:srgbClr val="000000"/>
              </a:solidFill>
              <a:latin typeface="Arial"/>
              <a:ea typeface="Arial"/>
              <a:cs typeface="Arial"/>
              <a:sym typeface="Arial"/>
            </a:endParaRPr>
          </a:p>
        </p:txBody>
      </p:sp>
      <p:sp>
        <p:nvSpPr>
          <p:cNvPr id="603" name="Google Shape;603;p59"/>
          <p:cNvSpPr txBox="1"/>
          <p:nvPr/>
        </p:nvSpPr>
        <p:spPr>
          <a:xfrm>
            <a:off x="484564" y="936000"/>
            <a:ext cx="6604033" cy="22453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defRPr/>
            </a:pPr>
            <a:r>
              <a:rPr lang="en-US" sz="2800" b="0" i="0" u="none" strike="noStrike" cap="none">
                <a:solidFill>
                  <a:schemeClr val="dk1"/>
                </a:solidFill>
                <a:latin typeface="Arial"/>
                <a:ea typeface="Arial"/>
                <a:cs typeface="Arial"/>
                <a:sym typeface="Arial"/>
              </a:rPr>
              <a:t>On Sunday, Eduardo biked the route shown. This was 6.6 more kilometers than he biked on Saturday. How many kilometers did Eduardo bike on Saturday?</a:t>
            </a:r>
            <a:endParaRPr sz="1400" b="0" i="0" u="none" strike="noStrike" cap="none">
              <a:solidFill>
                <a:srgbClr val="000000"/>
              </a:solidFill>
              <a:latin typeface="Arial"/>
              <a:ea typeface="Arial"/>
              <a:cs typeface="Arial"/>
              <a:sym typeface="Arial"/>
            </a:endParaRPr>
          </a:p>
        </p:txBody>
      </p:sp>
      <p:sp>
        <p:nvSpPr>
          <p:cNvPr id="604" name="Google Shape;604;p59"/>
          <p:cNvSpPr txBox="1"/>
          <p:nvPr/>
        </p:nvSpPr>
        <p:spPr>
          <a:xfrm>
            <a:off x="475194" y="3174366"/>
            <a:ext cx="6604033"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defRPr/>
            </a:pPr>
            <a:r>
              <a:rPr lang="en-US" sz="2800" b="1" i="0" u="none" strike="noStrike" cap="none">
                <a:solidFill>
                  <a:schemeClr val="dk1"/>
                </a:solidFill>
                <a:latin typeface="Arial"/>
                <a:ea typeface="Arial"/>
                <a:cs typeface="Arial"/>
                <a:sym typeface="Arial"/>
              </a:rPr>
              <a:t>What information do you know? What information is unknown?</a:t>
            </a:r>
            <a:endParaRPr sz="1400" b="0" i="0" u="none" strike="noStrike" cap="none">
              <a:solidFill>
                <a:srgbClr val="000000"/>
              </a:solidFill>
              <a:latin typeface="Arial"/>
              <a:ea typeface="Arial"/>
              <a:cs typeface="Arial"/>
              <a:sym typeface="Arial"/>
            </a:endParaRPr>
          </a:p>
        </p:txBody>
      </p:sp>
      <p:sp>
        <p:nvSpPr>
          <p:cNvPr id="605" name="Google Shape;605;p59"/>
          <p:cNvSpPr txBox="1"/>
          <p:nvPr/>
        </p:nvSpPr>
        <p:spPr>
          <a:xfrm>
            <a:off x="475194" y="4128473"/>
            <a:ext cx="11072793" cy="225997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defRPr/>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959"/>
              </a:buClr>
              <a:buSzPts val="2800"/>
              <a:buFont typeface="Arial"/>
              <a:buNone/>
              <a:defRPr/>
            </a:pPr>
            <a:r>
              <a:rPr lang="en-US" sz="2800" b="0" i="0" u="none" strike="noStrike" cap="none">
                <a:solidFill>
                  <a:srgbClr val="595959"/>
                </a:solidFill>
                <a:latin typeface="Arial"/>
                <a:ea typeface="Arial"/>
                <a:cs typeface="Arial"/>
                <a:sym typeface="Arial"/>
              </a:rPr>
              <a:t>Eduardo biked some distance on Saturday. He biked 24.5 kilometers on Sunday. He biked 6.6 kilometers more on Sunday than he did on Saturday. The number of kilometers Eduardo biked on Saturday is unknown.</a:t>
            </a:r>
            <a:endParaRPr sz="1400" b="0" i="0" u="none" strike="noStrike" cap="none">
              <a:solidFill>
                <a:srgbClr val="000000"/>
              </a:solidFill>
              <a:latin typeface="Arial"/>
              <a:ea typeface="Arial"/>
              <a:cs typeface="Arial"/>
              <a:sym typeface="Arial"/>
            </a:endParaRPr>
          </a:p>
        </p:txBody>
      </p:sp>
      <p:pic>
        <p:nvPicPr>
          <p:cNvPr id="606" name="Google Shape;606;p59" descr="C:\Users\HP\Desktop\Grade_6_Unit_8\OPS\img\.assets\ac4ce755f15943a8af253e1c4608d2ec\narm24_c10802_se_006a-dig.png"/>
          <p:cNvPicPr preferRelativeResize="0"/>
          <p:nvPr/>
        </p:nvPicPr>
        <p:blipFill rotWithShape="1">
          <a:blip r:embed="rId3">
            <a:alphaModFix/>
          </a:blip>
          <a:srcRect/>
          <a:stretch/>
        </p:blipFill>
        <p:spPr>
          <a:xfrm>
            <a:off x="7365898" y="1509940"/>
            <a:ext cx="4457700" cy="2162175"/>
          </a:xfrm>
          <a:prstGeom prst="rect">
            <a:avLst/>
          </a:prstGeom>
          <a:noFill/>
          <a:ln>
            <a:noFill/>
          </a:ln>
        </p:spPr>
      </p:pic>
      <p:sp>
        <p:nvSpPr>
          <p:cNvPr id="607"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18 / 54</a:t>
            </a:r>
          </a:p>
        </p:txBody>
      </p:sp>
      <p:sp>
        <p:nvSpPr>
          <p:cNvPr id="608" name="EWL-COVER-1"/>
          <p:cNvSpPr/>
          <p:nvPr/>
        </p:nvSpPr>
        <p:spPr>
          <a:xfrm>
            <a:off x="420330" y="4073609"/>
            <a:ext cx="11182521" cy="2369698"/>
          </a:xfrm>
          <a:prstGeom prst="rect">
            <a:avLst/>
          </a:prstGeom>
          <a:solidFill>
            <a:srgbClr val="FFFFFF"/>
          </a:solidFill>
          <a:ln>
            <a:noFill/>
          </a:ln>
        </p:spPr>
        <p:txBody>
          <a:body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0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cxnSp>
        <p:nvCxnSpPr>
          <p:cNvPr id="611" name="Google Shape;611;p60"/>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612" name="Google Shape;612;p60"/>
          <p:cNvSpPr txBox="1"/>
          <p:nvPr/>
        </p:nvSpPr>
        <p:spPr>
          <a:xfrm>
            <a:off x="486000" y="316800"/>
            <a:ext cx="5408173"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defRPr/>
            </a:pPr>
            <a:r>
              <a:rPr lang="en-US" sz="2800" b="1" i="0" u="none" strike="noStrike" cap="none">
                <a:solidFill>
                  <a:srgbClr val="782DA0"/>
                </a:solidFill>
                <a:latin typeface="Arial"/>
                <a:ea typeface="Arial"/>
                <a:cs typeface="Arial"/>
                <a:sym typeface="Arial"/>
              </a:rPr>
              <a:t>Eduardo’s Biking Adventures</a:t>
            </a:r>
            <a:endParaRPr sz="1400" b="0" i="0" u="none" strike="noStrike" cap="none">
              <a:solidFill>
                <a:srgbClr val="000000"/>
              </a:solidFill>
              <a:latin typeface="Arial"/>
              <a:ea typeface="Arial"/>
              <a:cs typeface="Arial"/>
              <a:sym typeface="Arial"/>
            </a:endParaRPr>
          </a:p>
        </p:txBody>
      </p:sp>
      <p:sp>
        <p:nvSpPr>
          <p:cNvPr id="613" name="Google Shape;613;p60"/>
          <p:cNvSpPr txBox="1"/>
          <p:nvPr/>
        </p:nvSpPr>
        <p:spPr>
          <a:xfrm>
            <a:off x="484564" y="935999"/>
            <a:ext cx="7935536" cy="526477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defRPr/>
            </a:pPr>
            <a:r>
              <a:rPr lang="en-US" sz="2800" b="0" i="0" u="none" strike="noStrike" cap="none">
                <a:solidFill>
                  <a:schemeClr val="dk1"/>
                </a:solidFill>
                <a:latin typeface="Arial"/>
                <a:ea typeface="Arial"/>
                <a:cs typeface="Arial"/>
                <a:sym typeface="Arial"/>
              </a:rPr>
              <a:t>One approach to solving the problem is to make sense of quantities and their relationships.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chemeClr val="dk2"/>
              </a:buClr>
              <a:buSzPts val="800"/>
              <a:buFont typeface="Arial"/>
              <a:buNone/>
              <a:defRPr/>
            </a:pPr>
            <a:endParaRPr sz="800" b="0" i="0" u="none" strike="noStrike" cap="none">
              <a:solidFill>
                <a:schemeClr val="dk1"/>
              </a:solidFill>
              <a:latin typeface="Arial"/>
              <a:ea typeface="Arial"/>
              <a:cs typeface="Arial"/>
              <a:sym typeface="Arial"/>
            </a:endParaRPr>
          </a:p>
          <a:p>
            <a:pPr marL="457200" marR="0" lvl="0" indent="-457200" algn="l" rtl="0">
              <a:lnSpc>
                <a:spcPct val="100000"/>
              </a:lnSpc>
              <a:spcBef>
                <a:spcPts val="1200"/>
              </a:spcBef>
              <a:spcAft>
                <a:spcPts val="0"/>
              </a:spcAft>
              <a:buClr>
                <a:schemeClr val="dk1"/>
              </a:buClr>
              <a:buSzPts val="2800"/>
              <a:buFont typeface="Arial"/>
              <a:buChar char="•"/>
              <a:defRPr/>
            </a:pPr>
            <a:r>
              <a:rPr lang="en-US" sz="2800" b="0" i="0" u="none" strike="noStrike" cap="none">
                <a:solidFill>
                  <a:schemeClr val="dk1"/>
                </a:solidFill>
                <a:latin typeface="Arial"/>
                <a:ea typeface="Arial"/>
                <a:cs typeface="Arial"/>
                <a:sym typeface="Arial"/>
              </a:rPr>
              <a:t>Eduardo biked 6.6 kilometers more on Sunday than he did on Saturday.</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1200"/>
              </a:spcBef>
              <a:spcAft>
                <a:spcPts val="0"/>
              </a:spcAft>
              <a:buClr>
                <a:schemeClr val="dk1"/>
              </a:buClr>
              <a:buSzPts val="2800"/>
              <a:buFont typeface="Arial"/>
              <a:buChar char="•"/>
              <a:defRPr/>
            </a:pPr>
            <a:r>
              <a:rPr lang="en-US" sz="2800" b="0" i="0" u="none" strike="noStrike" cap="none">
                <a:solidFill>
                  <a:schemeClr val="dk1"/>
                </a:solidFill>
                <a:latin typeface="Arial"/>
                <a:ea typeface="Arial"/>
                <a:cs typeface="Arial"/>
                <a:sym typeface="Arial"/>
              </a:rPr>
              <a:t>He biked 24.5 kilometers on Sunday.</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1200"/>
              </a:spcBef>
              <a:spcAft>
                <a:spcPts val="0"/>
              </a:spcAft>
              <a:buClr>
                <a:schemeClr val="dk1"/>
              </a:buClr>
              <a:buSzPts val="2800"/>
              <a:buFont typeface="Arial"/>
              <a:buChar char="•"/>
              <a:defRPr/>
            </a:pPr>
            <a:r>
              <a:rPr lang="en-US" sz="2800" b="0" i="0" u="none" strike="noStrike" cap="none">
                <a:solidFill>
                  <a:schemeClr val="dk1"/>
                </a:solidFill>
                <a:latin typeface="Arial"/>
                <a:ea typeface="Arial"/>
                <a:cs typeface="Arial"/>
                <a:sym typeface="Arial"/>
              </a:rPr>
              <a:t>The number of kilometers Eduardo biked on Saturday is unknown</a:t>
            </a:r>
            <a:endParaRPr sz="1400" b="0" i="0" u="none" strike="noStrike" cap="none">
              <a:solidFill>
                <a:srgbClr val="000000"/>
              </a:solidFill>
              <a:latin typeface="Arial"/>
              <a:ea typeface="Arial"/>
              <a:cs typeface="Arial"/>
              <a:sym typeface="Arial"/>
            </a:endParaRPr>
          </a:p>
          <a:p>
            <a:pPr marL="457200" marR="0" lvl="0" indent="-406400" algn="l" rtl="0">
              <a:lnSpc>
                <a:spcPct val="100000"/>
              </a:lnSpc>
              <a:spcBef>
                <a:spcPts val="1200"/>
              </a:spcBef>
              <a:spcAft>
                <a:spcPts val="0"/>
              </a:spcAft>
              <a:buClr>
                <a:schemeClr val="dk2"/>
              </a:buClr>
              <a:buSzPts val="800"/>
              <a:buFont typeface="Arial"/>
              <a:buNone/>
              <a:defRPr/>
            </a:pPr>
            <a:endParaRPr sz="800" b="0" i="0" u="none" strike="noStrike" cap="none">
              <a:solidFill>
                <a:schemeClr val="dk1"/>
              </a:solidFill>
              <a:latin typeface="Arial"/>
              <a:ea typeface="Arial"/>
              <a:cs typeface="Arial"/>
              <a:sym typeface="Arial"/>
            </a:endParaRPr>
          </a:p>
          <a:p>
            <a:pPr marL="0" marR="0" lvl="0" indent="0" algn="l" rtl="0">
              <a:lnSpc>
                <a:spcPct val="100000"/>
              </a:lnSpc>
              <a:spcBef>
                <a:spcPts val="1200"/>
              </a:spcBef>
              <a:spcAft>
                <a:spcPts val="0"/>
              </a:spcAft>
              <a:buClr>
                <a:schemeClr val="dk1"/>
              </a:buClr>
              <a:buSzPts val="2800"/>
              <a:buFont typeface="Arial"/>
              <a:buNone/>
              <a:defRPr/>
            </a:pPr>
            <a:r>
              <a:rPr lang="en-US" sz="2800" b="0" i="0" u="none" strike="noStrike" cap="none">
                <a:solidFill>
                  <a:schemeClr val="dk1"/>
                </a:solidFill>
                <a:latin typeface="Arial"/>
                <a:ea typeface="Arial"/>
                <a:cs typeface="Arial"/>
                <a:sym typeface="Arial"/>
              </a:rPr>
              <a:t>This situation is looking for a part given the whole.</a:t>
            </a:r>
            <a:endParaRPr sz="1400" b="0" i="0" u="none" strike="noStrike" cap="none">
              <a:solidFill>
                <a:srgbClr val="000000"/>
              </a:solidFill>
              <a:latin typeface="Arial"/>
              <a:ea typeface="Arial"/>
              <a:cs typeface="Arial"/>
              <a:sym typeface="Arial"/>
            </a:endParaRPr>
          </a:p>
        </p:txBody>
      </p:sp>
      <p:sp>
        <p:nvSpPr>
          <p:cNvPr id="614"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19 / 54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ASK THE CLASS  ·  </a:t>
            </a:r>
            <a:r>
              <a:rPr lang="en-US" sz="2000" b="0" dirty="0">
                <a:solidFill>
                  <a:srgbClr val="13303A"/>
                </a:solidFill>
                <a:latin typeface="Arial"/>
              </a:rPr>
              <a:t>Write one question about this that you could ask the class.</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20 / 54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cxnSp>
        <p:nvCxnSpPr>
          <p:cNvPr id="626" name="Google Shape;626;p62"/>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627" name="Google Shape;627;p62"/>
          <p:cNvSpPr txBox="1"/>
          <p:nvPr/>
        </p:nvSpPr>
        <p:spPr>
          <a:xfrm>
            <a:off x="486000" y="316800"/>
            <a:ext cx="5408173"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pPr>
            <a:r>
              <a:rPr lang="en-US" sz="2800" b="1" i="0" u="none" strike="noStrike" cap="none">
                <a:solidFill>
                  <a:srgbClr val="782DA0"/>
                </a:solidFill>
                <a:latin typeface="Arial"/>
                <a:ea typeface="Arial"/>
                <a:cs typeface="Arial"/>
                <a:sym typeface="Arial"/>
              </a:rPr>
              <a:t>Eduardo’s Biking Adventures</a:t>
            </a:r>
            <a:endParaRPr sz="1400" b="0" i="0" u="none" strike="noStrike" cap="none">
              <a:solidFill>
                <a:srgbClr val="000000"/>
              </a:solidFill>
              <a:latin typeface="Arial"/>
              <a:ea typeface="Arial"/>
              <a:cs typeface="Arial"/>
              <a:sym typeface="Arial"/>
            </a:endParaRPr>
          </a:p>
        </p:txBody>
      </p:sp>
      <p:sp>
        <p:nvSpPr>
          <p:cNvPr id="628" name="Google Shape;628;p62"/>
          <p:cNvSpPr/>
          <p:nvPr/>
        </p:nvSpPr>
        <p:spPr>
          <a:xfrm>
            <a:off x="486000" y="936000"/>
            <a:ext cx="7067325" cy="1384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Arial"/>
                <a:ea typeface="Arial"/>
                <a:cs typeface="Arial"/>
                <a:sym typeface="Arial"/>
              </a:rPr>
              <a:t>What are some tools, both visual and algebraic, you can use to show the relationship between the quantities?</a:t>
            </a:r>
            <a:endParaRPr sz="2800" b="0" i="0" u="none" strike="noStrike" cap="none">
              <a:solidFill>
                <a:schemeClr val="dk1"/>
              </a:solidFill>
              <a:latin typeface="Arial"/>
              <a:ea typeface="Arial"/>
              <a:cs typeface="Arial"/>
              <a:sym typeface="Arial"/>
            </a:endParaRPr>
          </a:p>
        </p:txBody>
      </p:sp>
      <p:sp>
        <p:nvSpPr>
          <p:cNvPr id="629" name="Google Shape;629;p62"/>
          <p:cNvSpPr txBox="1"/>
          <p:nvPr/>
        </p:nvSpPr>
        <p:spPr>
          <a:xfrm>
            <a:off x="486000" y="3870048"/>
            <a:ext cx="8858025" cy="111152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959"/>
              </a:buClr>
              <a:buSzPts val="2800"/>
              <a:buFont typeface="Arial"/>
              <a:buNone/>
            </a:pPr>
            <a:r>
              <a:rPr lang="en-US" sz="2800" b="0" i="0" u="none" strike="noStrike" cap="none">
                <a:solidFill>
                  <a:srgbClr val="595959"/>
                </a:solidFill>
                <a:latin typeface="Arial"/>
                <a:ea typeface="Arial"/>
                <a:cs typeface="Arial"/>
                <a:sym typeface="Arial"/>
              </a:rPr>
              <a:t>Some tools include a tape diagram and an equation.</a:t>
            </a:r>
            <a:endParaRPr sz="1400" b="0" i="0" u="none" strike="noStrike" cap="none">
              <a:solidFill>
                <a:srgbClr val="000000"/>
              </a:solidFill>
              <a:latin typeface="Arial"/>
              <a:ea typeface="Arial"/>
              <a:cs typeface="Arial"/>
              <a:sym typeface="Arial"/>
            </a:endParaRPr>
          </a:p>
        </p:txBody>
      </p:sp>
      <p:sp>
        <p:nvSpPr>
          <p:cNvPr id="630"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21 / 54</a:t>
            </a:r>
          </a:p>
        </p:txBody>
      </p:sp>
      <p:sp>
        <p:nvSpPr>
          <p:cNvPr id="631" name="EWL-COVER-1"/>
          <p:cNvSpPr/>
          <p:nvPr/>
        </p:nvSpPr>
        <p:spPr>
          <a:xfrm>
            <a:off x="431136" y="3815184"/>
            <a:ext cx="8967753" cy="1221256"/>
          </a:xfrm>
          <a:prstGeom prst="rect">
            <a:avLst/>
          </a:prstGeom>
          <a:solidFill>
            <a:srgbClr val="FFFFFF"/>
          </a:solidFill>
          <a:ln>
            <a:noFill/>
          </a:ln>
        </p:spPr>
        <p:txBody>
          <a:bodyPr/>
          <a:lstStyle/>
          <a:p>
            <a:endParaRPr/>
          </a:p>
        </p:txBody>
      </p:sp>
      <p:sp>
        <p:nvSpPr>
          <p:cNvPr id="632"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cxnSp>
        <p:nvCxnSpPr>
          <p:cNvPr id="645" name="Google Shape;645;p64"/>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646" name="Google Shape;646;p64"/>
          <p:cNvSpPr txBox="1"/>
          <p:nvPr/>
        </p:nvSpPr>
        <p:spPr>
          <a:xfrm>
            <a:off x="853200" y="316800"/>
            <a:ext cx="4779840"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pPr>
            <a:r>
              <a:rPr lang="en-US" sz="2800" b="1" i="0" u="none" strike="noStrike" cap="none">
                <a:solidFill>
                  <a:srgbClr val="782DA0"/>
                </a:solidFill>
                <a:latin typeface="Arial"/>
                <a:ea typeface="Arial"/>
                <a:cs typeface="Arial"/>
                <a:sym typeface="Arial"/>
              </a:rPr>
              <a:t>Collaborate and Connect</a:t>
            </a:r>
            <a:endParaRPr sz="1400" b="0" i="0" u="none" strike="noStrike" cap="none">
              <a:solidFill>
                <a:srgbClr val="000000"/>
              </a:solidFill>
              <a:latin typeface="Arial"/>
              <a:ea typeface="Arial"/>
              <a:cs typeface="Arial"/>
              <a:sym typeface="Arial"/>
            </a:endParaRPr>
          </a:p>
        </p:txBody>
      </p:sp>
      <p:pic>
        <p:nvPicPr>
          <p:cNvPr id="647" name="Google Shape;647;p64"/>
          <p:cNvPicPr preferRelativeResize="0"/>
          <p:nvPr/>
        </p:nvPicPr>
        <p:blipFill rotWithShape="1">
          <a:blip r:embed="rId3">
            <a:alphaModFix/>
          </a:blip>
          <a:srcRect/>
          <a:stretch/>
        </p:blipFill>
        <p:spPr>
          <a:xfrm>
            <a:off x="486000" y="383706"/>
            <a:ext cx="353635" cy="340537"/>
          </a:xfrm>
          <a:prstGeom prst="rect">
            <a:avLst/>
          </a:prstGeom>
          <a:noFill/>
          <a:ln>
            <a:noFill/>
          </a:ln>
        </p:spPr>
      </p:pic>
      <p:sp>
        <p:nvSpPr>
          <p:cNvPr id="648" name="Google Shape;648;p64"/>
          <p:cNvSpPr txBox="1"/>
          <p:nvPr/>
        </p:nvSpPr>
        <p:spPr>
          <a:xfrm>
            <a:off x="483690" y="5353226"/>
            <a:ext cx="3779392" cy="954107"/>
          </a:xfrm>
          <a:prstGeom prst="rect">
            <a:avLst/>
          </a:prstGeom>
          <a:blipFill rotWithShape="1">
            <a:blip r:embed="rId4">
              <a:alphaModFix/>
            </a:blip>
            <a:stretch>
              <a:fillRect l="-3226" t="-636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649" name="Google Shape;649;p64"/>
          <p:cNvSpPr txBox="1"/>
          <p:nvPr/>
        </p:nvSpPr>
        <p:spPr>
          <a:xfrm>
            <a:off x="484564" y="936100"/>
            <a:ext cx="7011611" cy="346301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800" b="0" i="0" u="none" strike="noStrike" cap="none">
                <a:solidFill>
                  <a:schemeClr val="dk1"/>
                </a:solidFill>
                <a:latin typeface="Arial"/>
                <a:ea typeface="Arial"/>
                <a:cs typeface="Arial"/>
                <a:sym typeface="Arial"/>
              </a:rPr>
              <a:t>We can use a tape diagram and an equation to show the relationship between the quantities.</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120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Eduardo biked 24.5 kilometers on Sunday.</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120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Eduardo biked 6.6 kilometers more on Sunday than he did on Saturday.</a:t>
            </a:r>
            <a:endParaRPr sz="1400" b="0" i="0" u="none" strike="noStrike" cap="none">
              <a:solidFill>
                <a:srgbClr val="000000"/>
              </a:solidFill>
              <a:latin typeface="Arial"/>
              <a:ea typeface="Arial"/>
              <a:cs typeface="Arial"/>
              <a:sym typeface="Arial"/>
            </a:endParaRPr>
          </a:p>
        </p:txBody>
      </p:sp>
      <p:sp>
        <p:nvSpPr>
          <p:cNvPr id="650" name="Google Shape;650;p64"/>
          <p:cNvSpPr/>
          <p:nvPr/>
        </p:nvSpPr>
        <p:spPr>
          <a:xfrm>
            <a:off x="416694" y="4380069"/>
            <a:ext cx="7241406" cy="95410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Arial"/>
                <a:ea typeface="Arial"/>
                <a:cs typeface="Arial"/>
                <a:sym typeface="Arial"/>
              </a:rPr>
              <a:t>What equation represents this relationship?</a:t>
            </a:r>
            <a:endParaRPr sz="2800" b="0" i="0" u="none" strike="noStrike" cap="none">
              <a:solidFill>
                <a:schemeClr val="dk1"/>
              </a:solidFill>
              <a:latin typeface="Arial"/>
              <a:ea typeface="Arial"/>
              <a:cs typeface="Arial"/>
              <a:sym typeface="Arial"/>
            </a:endParaRPr>
          </a:p>
        </p:txBody>
      </p:sp>
      <p:pic>
        <p:nvPicPr>
          <p:cNvPr id="651" name="Google Shape;651;p64" descr="C:\Users\HP\Desktop\Grade_6_Unit_8\OPS\img\.assets\b0ba9cb820a34dec95651011186d9c95\narm24_c10802_se_007a-dig-a.png"/>
          <p:cNvPicPr preferRelativeResize="0"/>
          <p:nvPr/>
        </p:nvPicPr>
        <p:blipFill rotWithShape="1">
          <a:blip r:embed="rId5">
            <a:alphaModFix/>
          </a:blip>
          <a:srcRect/>
          <a:stretch/>
        </p:blipFill>
        <p:spPr>
          <a:xfrm>
            <a:off x="7867636" y="1657583"/>
            <a:ext cx="3657600" cy="3124200"/>
          </a:xfrm>
          <a:prstGeom prst="rect">
            <a:avLst/>
          </a:prstGeom>
          <a:noFill/>
          <a:ln>
            <a:noFill/>
          </a:ln>
        </p:spPr>
      </p:pic>
      <p:sp>
        <p:nvSpPr>
          <p:cNvPr id="65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22 / 54</a:t>
            </a:r>
          </a:p>
        </p:txBody>
      </p:sp>
      <p:sp>
        <p:nvSpPr>
          <p:cNvPr id="653" name="EWL-Routine"/>
          <p:cNvSpPr>
            <a:spLocks noGrp="1"/>
          </p:cNvSpPr>
          <p:nvPr/>
        </p:nvSpPr>
        <p:spPr>
          <a:xfrm>
            <a:off x="502920" y="54864"/>
            <a:ext cx="6035040" cy="237744"/>
          </a:xfrm>
          <a:prstGeom prst="rect">
            <a:avLst/>
          </a:prstGeom>
          <a:noFill/>
        </p:spPr>
        <p:txBody>
          <a:bodyPr wrap="square" lIns="0" tIns="0" rIns="0" bIns="0" anchor="ctr">
            <a:noAutofit/>
          </a:bodyPr>
          <a:lstStyle/>
          <a:p>
            <a:pPr algn="l"/>
            <a:r>
              <a:rPr lang="en-US" sz="1200" b="1">
                <a:solidFill>
                  <a:srgbClr val="1E2682"/>
                </a:solidFill>
                <a:latin typeface="Arial"/>
              </a:rPr>
              <a:t>COLLABORATE</a:t>
            </a:r>
            <a:r>
              <a:rPr lang="en-US" sz="1200" b="1">
                <a:solidFill>
                  <a:srgbClr val="5D6872"/>
                </a:solidFill>
                <a:latin typeface="Arial"/>
              </a:rPr>
              <a:t>  ·  TALK IT THROUGH • AGREE ON A MODEL</a:t>
            </a:r>
          </a:p>
        </p:txBody>
      </p:sp>
      <p:sp>
        <p:nvSpPr>
          <p:cNvPr id="654"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a:t>
            </a:r>
            <a:endParaRPr lang="en-US" sz="2000"/>
          </a:p>
          <a:p>
            <a:pPr>
              <a:lnSpc>
                <a:spcPts val="2400"/>
              </a:lnSpc>
              <a:buNone/>
            </a:pPr>
            <a:r>
              <a:rPr lang="en-US" sz="2000">
                <a:solidFill>
                  <a:srgbClr val="174D60"/>
                </a:solidFill>
                <a:latin typeface="Arial"/>
              </a:rPr>
              <a:t>Switch roles; both revise.</a:t>
            </a:r>
            <a:endParaRPr lang="en-US"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cxnSp>
        <p:nvCxnSpPr>
          <p:cNvPr id="686" name="Google Shape;686;p68"/>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687" name="Google Shape;687;p68"/>
          <p:cNvSpPr txBox="1"/>
          <p:nvPr/>
        </p:nvSpPr>
        <p:spPr>
          <a:xfrm>
            <a:off x="486000" y="316800"/>
            <a:ext cx="5519384"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pPr>
            <a:r>
              <a:rPr lang="en-US" sz="2800" b="1" i="0" u="none" strike="noStrike" cap="none">
                <a:solidFill>
                  <a:srgbClr val="782DA0"/>
                </a:solidFill>
                <a:latin typeface="Arial"/>
                <a:ea typeface="Arial"/>
                <a:cs typeface="Arial"/>
                <a:sym typeface="Arial"/>
              </a:rPr>
              <a:t>Eduardo’s Biking Adventures</a:t>
            </a:r>
            <a:endParaRPr sz="1400" b="0" i="0" u="none" strike="noStrike" cap="none">
              <a:solidFill>
                <a:srgbClr val="000000"/>
              </a:solidFill>
              <a:latin typeface="Arial"/>
              <a:ea typeface="Arial"/>
              <a:cs typeface="Arial"/>
              <a:sym typeface="Arial"/>
            </a:endParaRPr>
          </a:p>
        </p:txBody>
      </p:sp>
      <p:sp>
        <p:nvSpPr>
          <p:cNvPr id="688" name="Google Shape;688;p68"/>
          <p:cNvSpPr txBox="1"/>
          <p:nvPr/>
        </p:nvSpPr>
        <p:spPr>
          <a:xfrm>
            <a:off x="485999" y="5208799"/>
            <a:ext cx="7794461" cy="1096937"/>
          </a:xfrm>
          <a:prstGeom prst="rect">
            <a:avLst/>
          </a:prstGeom>
          <a:blipFill rotWithShape="1">
            <a:blip r:embed="rId3">
              <a:alphaModFix/>
            </a:blip>
            <a:stretch>
              <a:fillRect l="-1643" t="-5555" b="-833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689" name="Google Shape;689;p68"/>
          <p:cNvSpPr txBox="1"/>
          <p:nvPr/>
        </p:nvSpPr>
        <p:spPr>
          <a:xfrm>
            <a:off x="486000" y="936000"/>
            <a:ext cx="7638825" cy="969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800" b="0" i="0" u="none" strike="noStrike" cap="none">
                <a:solidFill>
                  <a:schemeClr val="dk1"/>
                </a:solidFill>
                <a:latin typeface="Arial"/>
                <a:ea typeface="Arial"/>
                <a:cs typeface="Arial"/>
                <a:sym typeface="Arial"/>
              </a:rPr>
              <a:t>We can use an addition equation to represent the relationship.</a:t>
            </a:r>
            <a:endParaRPr sz="1400" b="0" i="0" u="none" strike="noStrike" cap="none">
              <a:solidFill>
                <a:srgbClr val="000000"/>
              </a:solidFill>
              <a:latin typeface="Arial"/>
              <a:ea typeface="Arial"/>
              <a:cs typeface="Arial"/>
              <a:sym typeface="Arial"/>
            </a:endParaRPr>
          </a:p>
        </p:txBody>
      </p:sp>
      <p:sp>
        <p:nvSpPr>
          <p:cNvPr id="690" name="Google Shape;690;p68"/>
          <p:cNvSpPr/>
          <p:nvPr/>
        </p:nvSpPr>
        <p:spPr>
          <a:xfrm>
            <a:off x="485999" y="3893255"/>
            <a:ext cx="7638825" cy="95410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Arial"/>
                <a:ea typeface="Arial"/>
                <a:cs typeface="Arial"/>
                <a:sym typeface="Arial"/>
              </a:rPr>
              <a:t>How can you use a related operation to find the value of the unknown?</a:t>
            </a:r>
            <a:endParaRPr sz="2800" b="0" i="0" u="none" strike="noStrike" cap="none">
              <a:solidFill>
                <a:schemeClr val="dk1"/>
              </a:solidFill>
              <a:latin typeface="Arial"/>
              <a:ea typeface="Arial"/>
              <a:cs typeface="Arial"/>
              <a:sym typeface="Arial"/>
            </a:endParaRPr>
          </a:p>
        </p:txBody>
      </p:sp>
      <p:pic>
        <p:nvPicPr>
          <p:cNvPr id="691" name="Google Shape;691;p68" descr="C:\Users\HP\Desktop\Grade_6_Unit_8\OPS\img\.assets\6f6869c8012945b384ebc4a92e8c47d6\narm24_c10802_esp_001a.png"/>
          <p:cNvPicPr preferRelativeResize="0"/>
          <p:nvPr/>
        </p:nvPicPr>
        <p:blipFill rotWithShape="1">
          <a:blip r:embed="rId4">
            <a:alphaModFix/>
          </a:blip>
          <a:srcRect/>
          <a:stretch/>
        </p:blipFill>
        <p:spPr>
          <a:xfrm>
            <a:off x="2385884" y="2150693"/>
            <a:ext cx="3619500" cy="1381125"/>
          </a:xfrm>
          <a:prstGeom prst="rect">
            <a:avLst/>
          </a:prstGeom>
          <a:noFill/>
          <a:ln>
            <a:noFill/>
          </a:ln>
        </p:spPr>
      </p:pic>
      <p:sp>
        <p:nvSpPr>
          <p:cNvPr id="69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23 / 54</a:t>
            </a:r>
          </a:p>
        </p:txBody>
      </p:sp>
      <p:sp>
        <p:nvSpPr>
          <p:cNvPr id="693" name="TEACH-embedded-student-prompt" descr="Student thinking and response directions"/>
          <p:cNvSpPr txBox="1"/>
          <p:nvPr/>
        </p:nvSpPr>
        <p:spPr>
          <a:xfrm>
            <a:off x="7391400" y="263347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Explain how your</a:t>
            </a:r>
            <a:endParaRPr lang="en-US" sz="2000"/>
          </a:p>
          <a:p>
            <a:pPr>
              <a:lnSpc>
                <a:spcPts val="2400"/>
              </a:lnSpc>
              <a:buNone/>
            </a:pPr>
            <a:r>
              <a:rPr lang="en-US" sz="2000">
                <a:solidFill>
                  <a:srgbClr val="174D60"/>
                </a:solidFill>
                <a:latin typeface="Arial"/>
              </a:rPr>
              <a:t>equation represents the situation.</a:t>
            </a:r>
            <a:endParaRPr lang="en-US" sz="2000"/>
          </a:p>
          <a:p>
            <a:pPr>
              <a:lnSpc>
                <a:spcPts val="2400"/>
              </a:lnSpc>
              <a:buNone/>
            </a:pPr>
            <a:r>
              <a:rPr lang="en-US" sz="2000">
                <a:solidFill>
                  <a:srgbClr val="174D60"/>
                </a:solidFill>
                <a:latin typeface="Arial"/>
              </a:rPr>
              <a:t>Check the result.</a:t>
            </a:r>
            <a:endParaRPr lang="en-US" sz="2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cxnSp>
        <p:nvCxnSpPr>
          <p:cNvPr id="713" name="Google Shape;713;p71"/>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714" name="Google Shape;714;p71"/>
          <p:cNvSpPr txBox="1"/>
          <p:nvPr/>
        </p:nvSpPr>
        <p:spPr>
          <a:xfrm>
            <a:off x="486000" y="316800"/>
            <a:ext cx="5692378" cy="6192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defRPr/>
            </a:pPr>
            <a:r>
              <a:rPr lang="en-US" sz="2800" b="1" i="0" u="none" strike="noStrike" cap="none">
                <a:solidFill>
                  <a:srgbClr val="782DA0"/>
                </a:solidFill>
                <a:latin typeface="Arial"/>
                <a:ea typeface="Arial"/>
                <a:cs typeface="Arial"/>
                <a:sym typeface="Arial"/>
              </a:rPr>
              <a:t>Eduardo’s Biking Adventures</a:t>
            </a:r>
            <a:endParaRPr sz="1400" b="0" i="0" u="none" strike="noStrike" cap="none">
              <a:solidFill>
                <a:srgbClr val="000000"/>
              </a:solidFill>
              <a:latin typeface="Arial"/>
              <a:ea typeface="Arial"/>
              <a:cs typeface="Arial"/>
              <a:sym typeface="Arial"/>
            </a:endParaRPr>
          </a:p>
        </p:txBody>
      </p:sp>
      <p:pic>
        <p:nvPicPr>
          <p:cNvPr id="715" name="Google Shape;715;p71"/>
          <p:cNvPicPr preferRelativeResize="0"/>
          <p:nvPr/>
        </p:nvPicPr>
        <p:blipFill rotWithShape="1">
          <a:blip r:embed="rId3">
            <a:alphaModFix/>
          </a:blip>
          <a:srcRect/>
          <a:stretch/>
        </p:blipFill>
        <p:spPr>
          <a:xfrm>
            <a:off x="408783" y="4508658"/>
            <a:ext cx="5054600" cy="838200"/>
          </a:xfrm>
          <a:prstGeom prst="rect">
            <a:avLst/>
          </a:prstGeom>
          <a:noFill/>
          <a:ln>
            <a:noFill/>
          </a:ln>
        </p:spPr>
      </p:pic>
      <p:sp>
        <p:nvSpPr>
          <p:cNvPr id="716" name="Google Shape;716;p71"/>
          <p:cNvSpPr/>
          <p:nvPr/>
        </p:nvSpPr>
        <p:spPr>
          <a:xfrm>
            <a:off x="3063371" y="4663448"/>
            <a:ext cx="2105063"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defRPr/>
            </a:pPr>
            <a:r>
              <a:rPr lang="en-US" sz="2800" b="0" i="0" u="none" strike="noStrike" cap="none">
                <a:solidFill>
                  <a:schemeClr val="dk1"/>
                </a:solidFill>
                <a:latin typeface="Arial"/>
                <a:ea typeface="Arial"/>
                <a:cs typeface="Arial"/>
                <a:sym typeface="Arial"/>
              </a:rPr>
              <a:t>Persevering</a:t>
            </a:r>
            <a:endParaRPr sz="1400" b="0" i="0" u="none" strike="noStrike" cap="none">
              <a:solidFill>
                <a:srgbClr val="000000"/>
              </a:solidFill>
              <a:latin typeface="Arial"/>
              <a:ea typeface="Arial"/>
              <a:cs typeface="Arial"/>
              <a:sym typeface="Arial"/>
            </a:endParaRPr>
          </a:p>
        </p:txBody>
      </p:sp>
      <p:sp>
        <p:nvSpPr>
          <p:cNvPr id="717" name="Google Shape;717;p71"/>
          <p:cNvSpPr/>
          <p:nvPr/>
        </p:nvSpPr>
        <p:spPr>
          <a:xfrm>
            <a:off x="486000" y="5341458"/>
            <a:ext cx="5436104" cy="49244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600"/>
              <a:buFont typeface="Arial"/>
              <a:buNone/>
              <a:defRPr/>
            </a:pPr>
            <a:r>
              <a:rPr lang="en-US" sz="2600" b="0" i="0" u="none" strike="noStrike" cap="none">
                <a:solidFill>
                  <a:srgbClr val="595959"/>
                </a:solidFill>
                <a:latin typeface="Arial"/>
                <a:ea typeface="Arial"/>
                <a:cs typeface="Arial"/>
                <a:sym typeface="Arial"/>
              </a:rPr>
              <a:t>How could you check your answer?</a:t>
            </a:r>
            <a:endParaRPr sz="2600" b="0" i="0" u="none" strike="noStrike" cap="none">
              <a:solidFill>
                <a:srgbClr val="595959"/>
              </a:solidFill>
              <a:latin typeface="Arial"/>
              <a:ea typeface="Arial"/>
              <a:cs typeface="Arial"/>
              <a:sym typeface="Arial"/>
            </a:endParaRPr>
          </a:p>
        </p:txBody>
      </p:sp>
      <p:sp>
        <p:nvSpPr>
          <p:cNvPr id="718" name="Google Shape;718;p71"/>
          <p:cNvSpPr txBox="1"/>
          <p:nvPr/>
        </p:nvSpPr>
        <p:spPr>
          <a:xfrm>
            <a:off x="486001" y="936000"/>
            <a:ext cx="7781700" cy="85671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defRPr/>
            </a:pPr>
            <a:r>
              <a:rPr lang="en-US" sz="2800" b="0" i="0" u="none" strike="noStrike" cap="none">
                <a:solidFill>
                  <a:schemeClr val="dk1"/>
                </a:solidFill>
                <a:latin typeface="Arial"/>
                <a:ea typeface="Arial"/>
                <a:cs typeface="Arial"/>
                <a:sym typeface="Arial"/>
              </a:rPr>
              <a:t>Let’s use the Subtraction Property of Equality to solve the equation.</a:t>
            </a:r>
            <a:endParaRPr sz="1400" b="0" i="0" u="none" strike="noStrike" cap="none">
              <a:solidFill>
                <a:srgbClr val="000000"/>
              </a:solidFill>
              <a:latin typeface="Arial"/>
              <a:ea typeface="Arial"/>
              <a:cs typeface="Arial"/>
              <a:sym typeface="Arial"/>
            </a:endParaRPr>
          </a:p>
        </p:txBody>
      </p:sp>
      <p:graphicFrame>
        <p:nvGraphicFramePr>
          <p:cNvPr id="719" name="Google Shape;719;p71"/>
          <p:cNvGraphicFramePr/>
          <p:nvPr/>
        </p:nvGraphicFramePr>
        <p:xfrm>
          <a:off x="486000" y="2105109"/>
          <a:ext cx="3000000" cy="3000000"/>
        </p:xfrm>
        <a:graphic>
          <a:graphicData uri="http://schemas.openxmlformats.org/drawingml/2006/table">
            <a:tbl>
              <a:tblPr firstRow="1" bandRow="1">
                <a:noFill/>
                <a:tableStyleId>{2100F830-D993-43D5-AE6B-42256369E761}</a:tableStyleId>
              </a:tblPr>
              <a:tblGrid>
                <a:gridCol w="4648050">
                  <a:extLst>
                    <a:ext uri="{9D8B030D-6E8A-4147-A177-3AD203B41FA5}">
                      <a16:colId xmlns:a16="http://schemas.microsoft.com/office/drawing/2014/main" val="20000"/>
                    </a:ext>
                  </a:extLst>
                </a:gridCol>
                <a:gridCol w="5274725">
                  <a:extLst>
                    <a:ext uri="{9D8B030D-6E8A-4147-A177-3AD203B41FA5}">
                      <a16:colId xmlns:a16="http://schemas.microsoft.com/office/drawing/2014/main" val="20001"/>
                    </a:ext>
                  </a:extLst>
                </a:gridCol>
              </a:tblGrid>
              <a:tr h="5181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2800"/>
                        <a:buFont typeface="Arial"/>
                        <a:buNone/>
                      </a:pPr>
                      <a:endParaRPr sz="28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5181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2800"/>
                        <a:buFont typeface="Arial"/>
                        <a:buNone/>
                      </a:pPr>
                      <a:r>
                        <a:rPr lang="en-US" sz="2800" u="none" strike="noStrike" cap="none">
                          <a:latin typeface="Arial"/>
                          <a:ea typeface="Arial"/>
                          <a:cs typeface="Arial"/>
                          <a:sym typeface="Arial"/>
                        </a:rPr>
                        <a:t>Subtraction Property of Equality</a:t>
                      </a:r>
                      <a:endParaRPr sz="1400" u="none" strike="noStrike" cap="none"/>
                    </a:p>
                  </a:txBody>
                  <a:tcPr marL="91450" marR="91450" marT="45725" marB="45725"/>
                </a:tc>
                <a:extLst>
                  <a:ext uri="{0D108BD9-81ED-4DB2-BD59-A6C34878D82A}">
                    <a16:rowId xmlns:a16="http://schemas.microsoft.com/office/drawing/2014/main" val="10001"/>
                  </a:ext>
                </a:extLst>
              </a:tr>
              <a:tr h="5181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2800"/>
                        <a:buFont typeface="Arial"/>
                        <a:buNone/>
                      </a:pPr>
                      <a:r>
                        <a:rPr lang="en-US" sz="2800" u="none" strike="noStrike" cap="none">
                          <a:latin typeface="Arial"/>
                          <a:ea typeface="Arial"/>
                          <a:cs typeface="Arial"/>
                          <a:sym typeface="Arial"/>
                        </a:rPr>
                        <a:t>Subtract.</a:t>
                      </a:r>
                      <a:endParaRPr sz="28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r h="5181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720"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24 / 54</a:t>
            </a:r>
          </a:p>
        </p:txBody>
      </p:sp>
      <p:grpSp>
        <p:nvGrpSpPr>
          <p:cNvPr id="721" name="TEACH-3-student-move" descr="TEACH 3 · Use intentional questioning to deepen learning"/>
          <p:cNvGrpSpPr/>
          <p:nvPr/>
        </p:nvGrpSpPr>
        <p:grpSpPr>
          <a:xfrm>
            <a:off x="502920" y="5870477"/>
            <a:ext cx="11186160" cy="402336"/>
            <a:chOff x="502920" y="5870477"/>
            <a:chExt cx="11186160" cy="402336"/>
          </a:xfrm>
        </p:grpSpPr>
        <p:sp>
          <p:nvSpPr>
            <p:cNvPr id="722" name="TEACH-move-card"/>
            <p:cNvSpPr/>
            <p:nvPr/>
          </p:nvSpPr>
          <p:spPr>
            <a:xfrm>
              <a:off x="502920" y="5870477"/>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723" name="TEACH-move-rule"/>
            <p:cNvSpPr/>
            <p:nvPr/>
          </p:nvSpPr>
          <p:spPr>
            <a:xfrm>
              <a:off x="548640" y="5946921"/>
              <a:ext cx="100584" cy="249448"/>
            </a:xfrm>
            <a:prstGeom prst="roundRect">
              <a:avLst>
                <a:gd name="adj" fmla="val 50000"/>
              </a:avLst>
            </a:prstGeom>
            <a:solidFill>
              <a:srgbClr val="01708C"/>
            </a:solidFill>
            <a:ln>
              <a:noFill/>
            </a:ln>
          </p:spPr>
          <p:txBody>
            <a:bodyPr/>
            <a:lstStyle/>
            <a:p>
              <a:endParaRPr/>
            </a:p>
          </p:txBody>
        </p:sp>
        <p:sp>
          <p:nvSpPr>
            <p:cNvPr id="724" name="TEACH-move-text"/>
            <p:cNvSpPr txBox="1"/>
            <p:nvPr/>
          </p:nvSpPr>
          <p:spPr>
            <a:xfrm>
              <a:off x="822960" y="5870477"/>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cxnSp>
        <p:nvCxnSpPr>
          <p:cNvPr id="735" name="Google Shape;735;p73"/>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736" name="Google Shape;736;p73"/>
          <p:cNvSpPr txBox="1"/>
          <p:nvPr/>
        </p:nvSpPr>
        <p:spPr>
          <a:xfrm>
            <a:off x="484564" y="316800"/>
            <a:ext cx="5492675" cy="53740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1" i="0" u="none" strike="noStrike" cap="none">
                <a:solidFill>
                  <a:srgbClr val="782DA0"/>
                </a:solidFill>
                <a:latin typeface="Arial"/>
                <a:ea typeface="Arial"/>
                <a:cs typeface="Arial"/>
                <a:sym typeface="Arial"/>
              </a:rPr>
              <a:t>Let’s Explore More</a:t>
            </a:r>
            <a:endParaRPr sz="1400" b="0" i="0" u="none" strike="noStrike" cap="none">
              <a:solidFill>
                <a:srgbClr val="000000"/>
              </a:solidFill>
              <a:latin typeface="Arial"/>
              <a:ea typeface="Arial"/>
              <a:cs typeface="Arial"/>
              <a:sym typeface="Arial"/>
            </a:endParaRPr>
          </a:p>
        </p:txBody>
      </p:sp>
      <p:sp>
        <p:nvSpPr>
          <p:cNvPr id="737" name="Google Shape;737;p73"/>
          <p:cNvSpPr txBox="1"/>
          <p:nvPr/>
        </p:nvSpPr>
        <p:spPr>
          <a:xfrm>
            <a:off x="486000" y="935999"/>
            <a:ext cx="7695975" cy="1378575"/>
          </a:xfrm>
          <a:prstGeom prst="rect">
            <a:avLst/>
          </a:prstGeom>
          <a:blipFill rotWithShape="1">
            <a:blip r:embed="rId3">
              <a:alphaModFix/>
            </a:blip>
            <a:stretch>
              <a:fillRect l="-1426" t="-4866" r="-951" b="-11946"/>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738" name="Google Shape;738;p73"/>
          <p:cNvSpPr/>
          <p:nvPr/>
        </p:nvSpPr>
        <p:spPr>
          <a:xfrm>
            <a:off x="484565" y="2424542"/>
            <a:ext cx="5669280" cy="1122729"/>
          </a:xfrm>
          <a:prstGeom prst="rect">
            <a:avLst/>
          </a:prstGeom>
          <a:noFill/>
          <a:ln w="12700" cap="flat" cmpd="sng">
            <a:solidFill>
              <a:srgbClr val="8296B0"/>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Calibri"/>
                <a:cs typeface="Calibri"/>
                <a:sym typeface="Calibri"/>
              </a:rPr>
              <a:t>How would the equation, 4 1 2 p = 36 , change if they used wooden planks that were 6 inches wide instead of 4 1 2 inches wide?</a:t>
            </a:r>
            <a:endParaRPr sz="1400" b="0" i="0" u="none" strike="noStrike" cap="none">
              <a:solidFill>
                <a:srgbClr val="000000"/>
              </a:solidFill>
              <a:latin typeface="Arial"/>
              <a:ea typeface="Arial"/>
              <a:cs typeface="Arial"/>
              <a:sym typeface="Arial"/>
            </a:endParaRPr>
          </a:p>
        </p:txBody>
      </p:sp>
      <p:sp>
        <p:nvSpPr>
          <p:cNvPr id="739" name="Google Shape;739;p73"/>
          <p:cNvSpPr txBox="1"/>
          <p:nvPr/>
        </p:nvSpPr>
        <p:spPr>
          <a:xfrm>
            <a:off x="7184656" y="3167935"/>
            <a:ext cx="1206869"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defRPr/>
            </a:pPr>
            <a:r>
              <a:rPr lang="en-US" sz="1600" b="0" i="0" u="none" strike="noStrike" cap="none">
                <a:solidFill>
                  <a:srgbClr val="BFBFBF"/>
                </a:solidFill>
                <a:latin typeface="Arial"/>
                <a:ea typeface="Arial"/>
                <a:cs typeface="Arial"/>
                <a:sym typeface="Arial"/>
              </a:rPr>
              <a:t>Workspace</a:t>
            </a:r>
            <a:endParaRPr sz="1400" b="0" i="0" u="none" strike="noStrike" cap="none">
              <a:solidFill>
                <a:srgbClr val="000000"/>
              </a:solidFill>
              <a:latin typeface="Arial"/>
              <a:ea typeface="Arial"/>
              <a:cs typeface="Arial"/>
              <a:sym typeface="Arial"/>
            </a:endParaRPr>
          </a:p>
        </p:txBody>
      </p:sp>
      <p:sp>
        <p:nvSpPr>
          <p:cNvPr id="740" name="Google Shape;740;p73"/>
          <p:cNvSpPr/>
          <p:nvPr/>
        </p:nvSpPr>
        <p:spPr>
          <a:xfrm>
            <a:off x="484564" y="4762420"/>
            <a:ext cx="7906961" cy="1221847"/>
          </a:xfrm>
          <a:prstGeom prst="rect">
            <a:avLst/>
          </a:prstGeom>
          <a:noFill/>
          <a:ln w="12700" cap="flat" cmpd="sng">
            <a:solidFill>
              <a:srgbClr val="8296B0"/>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Calibri"/>
              <a:cs typeface="Calibri"/>
              <a:sym typeface="Calibri"/>
            </a:endParaRPr>
          </a:p>
        </p:txBody>
      </p:sp>
      <p:sp>
        <p:nvSpPr>
          <p:cNvPr id="741" name="Google Shape;741;p73"/>
          <p:cNvSpPr txBox="1"/>
          <p:nvPr/>
        </p:nvSpPr>
        <p:spPr>
          <a:xfrm>
            <a:off x="7184655" y="5615781"/>
            <a:ext cx="1206869"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defRPr/>
            </a:pPr>
            <a:r>
              <a:rPr lang="en-US" sz="1600" b="0" i="0" u="none" strike="noStrike" cap="none">
                <a:solidFill>
                  <a:srgbClr val="BFBFBF"/>
                </a:solidFill>
                <a:latin typeface="Arial"/>
                <a:ea typeface="Arial"/>
                <a:cs typeface="Arial"/>
                <a:sym typeface="Arial"/>
              </a:rPr>
              <a:t>Workspace</a:t>
            </a:r>
            <a:endParaRPr sz="1400" b="0" i="0" u="none" strike="noStrike" cap="none">
              <a:solidFill>
                <a:srgbClr val="000000"/>
              </a:solidFill>
              <a:latin typeface="Arial"/>
              <a:ea typeface="Arial"/>
              <a:cs typeface="Arial"/>
              <a:sym typeface="Arial"/>
            </a:endParaRPr>
          </a:p>
        </p:txBody>
      </p:sp>
      <p:sp>
        <p:nvSpPr>
          <p:cNvPr id="742" name="Google Shape;742;p73"/>
          <p:cNvSpPr/>
          <p:nvPr/>
        </p:nvSpPr>
        <p:spPr>
          <a:xfrm>
            <a:off x="486000" y="3675288"/>
            <a:ext cx="7711242" cy="954107"/>
          </a:xfrm>
          <a:prstGeom prst="rect">
            <a:avLst/>
          </a:prstGeom>
          <a:noFill/>
          <a:ln>
            <a:noFill/>
          </a:ln>
        </p:spPr>
        <p:txBody>
          <a:bodyPr spcFirstLastPara="1" wrap="square" lIns="91425" tIns="45700" rIns="91425" bIns="45700" anchor="t" anchorCtr="0">
            <a:noAutofit/>
          </a:bodyPr>
          <a:lstStyle/>
          <a:p>
            <a:pPr marL="514350" marR="0" lvl="0" indent="-514350" algn="l" rtl="0">
              <a:lnSpc>
                <a:spcPct val="100000"/>
              </a:lnSpc>
              <a:spcBef>
                <a:spcPts val="0"/>
              </a:spcBef>
              <a:spcAft>
                <a:spcPts val="0"/>
              </a:spcAft>
              <a:buClr>
                <a:schemeClr val="dk1"/>
              </a:buClr>
              <a:buSzPts val="2800"/>
              <a:buFont typeface="Calibri"/>
              <a:buAutoNum type="alphaLcPeriod" startAt="2"/>
              <a:defRPr/>
            </a:pPr>
            <a:r>
              <a:rPr lang="en-US" sz="2800" b="0" i="0" u="none" strike="noStrike" cap="none">
                <a:solidFill>
                  <a:schemeClr val="dk1"/>
                </a:solidFill>
                <a:latin typeface="Arial"/>
                <a:ea typeface="Arial"/>
                <a:cs typeface="Arial"/>
                <a:sym typeface="Arial"/>
              </a:rPr>
              <a:t>Why do addition and subtraction have an inverse relationship?</a:t>
            </a:r>
            <a:endParaRPr sz="2800" b="0" i="0" u="none" strike="noStrike" cap="none">
              <a:solidFill>
                <a:schemeClr val="dk1"/>
              </a:solidFill>
              <a:latin typeface="Arial"/>
              <a:ea typeface="Arial"/>
              <a:cs typeface="Arial"/>
              <a:sym typeface="Arial"/>
            </a:endParaRPr>
          </a:p>
        </p:txBody>
      </p:sp>
      <p:sp>
        <p:nvSpPr>
          <p:cNvPr id="743"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25 / 54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26 / 54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0972800" cy="301752"/>
          </a:xfrm>
          <a:prstGeom prst="rect">
            <a:avLst/>
          </a:prstGeom>
          <a:noFill/>
        </p:spPr>
        <p:txBody>
          <a:bodyPr wrap="square" lIns="0" tIns="22860" rIns="0" bIns="0">
            <a:spAutoFit/>
          </a:bodyPr>
          <a:lstStyle/>
          <a:p>
            <a:pPr>
              <a:spcAft>
                <a:spcPts val="800"/>
              </a:spcAft>
              <a:defRPr sz="1300" b="1">
                <a:solidFill>
                  <a:srgbClr val="096B69"/>
                </a:solidFill>
                <a:latin typeface="Arial"/>
              </a:defRPr>
            </a:pPr>
            <a:r>
              <a:t>LESSON 8.2  /  DISCUSS THE TASK</a:t>
            </a:r>
          </a:p>
        </p:txBody>
      </p:sp>
      <p:sp>
        <p:nvSpPr>
          <p:cNvPr id="3" name="TextBox 2"/>
          <p:cNvSpPr txBox="1"/>
          <p:nvPr/>
        </p:nvSpPr>
        <p:spPr>
          <a:xfrm>
            <a:off x="594360" y="914400"/>
            <a:ext cx="10972800" cy="640080"/>
          </a:xfrm>
          <a:prstGeom prst="rect">
            <a:avLst/>
          </a:prstGeom>
          <a:noFill/>
        </p:spPr>
        <p:txBody>
          <a:bodyPr wrap="square" lIns="0" tIns="22860" rIns="0" bIns="0">
            <a:spAutoFit/>
          </a:bodyPr>
          <a:lstStyle/>
          <a:p>
            <a:pPr>
              <a:spcAft>
                <a:spcPts val="800"/>
              </a:spcAft>
              <a:defRPr sz="3600" b="1">
                <a:solidFill>
                  <a:srgbClr val="173451"/>
                </a:solidFill>
                <a:latin typeface="Arial"/>
              </a:defRPr>
            </a:pPr>
            <a:r>
              <a:t>Explain and compare</a:t>
            </a:r>
          </a:p>
        </p:txBody>
      </p:sp>
      <p:sp>
        <p:nvSpPr>
          <p:cNvPr id="4" name="TextBox 3"/>
          <p:cNvSpPr txBox="1"/>
          <p:nvPr/>
        </p:nvSpPr>
        <p:spPr>
          <a:xfrm>
            <a:off x="594360" y="6263640"/>
            <a:ext cx="10789920" cy="274320"/>
          </a:xfrm>
          <a:prstGeom prst="rect">
            <a:avLst/>
          </a:prstGeom>
          <a:noFill/>
        </p:spPr>
        <p:txBody>
          <a:bodyPr wrap="square" lIns="0" tIns="22860" rIns="0" bIns="0">
            <a:spAutoFit/>
          </a:bodyPr>
          <a:lstStyle/>
          <a:p>
            <a:pPr>
              <a:spcAft>
                <a:spcPts val="800"/>
              </a:spcAft>
              <a:defRPr sz="1300" b="0">
                <a:solidFill>
                  <a:srgbClr val="506478"/>
                </a:solidFill>
                <a:latin typeface="Arial"/>
              </a:defRPr>
            </a:pPr>
            <a: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tIns="22860" rIns="0" bIns="0">
            <a:spAutoFit/>
          </a:bodyPr>
          <a:lstStyle/>
          <a:p>
            <a:pPr>
              <a:spcAft>
                <a:spcPts val="800"/>
              </a:spcAft>
              <a:defRPr sz="2000" b="1">
                <a:solidFill>
                  <a:srgbClr val="096B69"/>
                </a:solidFill>
                <a:latin typeface="Arial"/>
              </a:defRPr>
            </a:pPr>
            <a:r>
              <a:t>Use the task you just explored.</a:t>
            </a:r>
          </a:p>
        </p:txBody>
      </p:sp>
      <p:sp>
        <p:nvSpPr>
          <p:cNvPr id="6" name="TextBox 5"/>
          <p:cNvSpPr txBox="1"/>
          <p:nvPr/>
        </p:nvSpPr>
        <p:spPr>
          <a:xfrm>
            <a:off x="621792" y="2322576"/>
            <a:ext cx="6583680" cy="2057400"/>
          </a:xfrm>
          <a:prstGeom prst="rect">
            <a:avLst/>
          </a:prstGeom>
          <a:noFill/>
        </p:spPr>
        <p:txBody>
          <a:bodyPr wrap="square" lIns="0" tIns="22860" rIns="0" bIns="0">
            <a:spAutoFit/>
          </a:bodyPr>
          <a:lstStyle/>
          <a:p>
            <a:pPr>
              <a:spcAft>
                <a:spcPts val="800"/>
              </a:spcAft>
              <a:defRPr sz="2900" b="0">
                <a:solidFill>
                  <a:srgbClr val="24384B"/>
                </a:solidFill>
                <a:latin typeface="Arial"/>
              </a:defRPr>
            </a:pPr>
            <a:r>
              <a:t>Why does this operation preserve equality, and how will you check the solution?</a:t>
            </a:r>
          </a:p>
        </p:txBody>
      </p:sp>
      <p:sp>
        <p:nvSpPr>
          <p:cNvPr id="7" name="TextBox 6"/>
          <p:cNvSpPr txBox="1"/>
          <p:nvPr/>
        </p:nvSpPr>
        <p:spPr>
          <a:xfrm>
            <a:off x="621792" y="4590288"/>
            <a:ext cx="6629400" cy="960120"/>
          </a:xfrm>
          <a:prstGeom prst="rect">
            <a:avLst/>
          </a:prstGeom>
          <a:noFill/>
        </p:spPr>
        <p:txBody>
          <a:bodyPr wrap="square" lIns="0" tIns="22860" rIns="0" bIns="0">
            <a:spAutoFit/>
          </a:bodyPr>
          <a:lstStyle/>
          <a:p>
            <a:pPr>
              <a:spcAft>
                <a:spcPts val="800"/>
              </a:spcAft>
              <a:defRPr sz="2300" b="0">
                <a:solidFill>
                  <a:srgbClr val="24384B"/>
                </a:solidFill>
                <a:latin typeface="Arial"/>
              </a:defRPr>
            </a:pPr>
            <a:r>
              <a:t>Point to evidence in your work.</a:t>
            </a:r>
          </a:p>
          <a:p>
            <a:pPr>
              <a:spcAft>
                <a:spcPts val="800"/>
              </a:spcAft>
              <a:defRPr sz="2300" b="0">
                <a:solidFill>
                  <a:srgbClr val="24384B"/>
                </a:solidFill>
                <a:latin typeface="Arial"/>
              </a:defRPr>
            </a:pPr>
            <a: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82712" y="2066543"/>
            <a:ext cx="3200400" cy="365760"/>
          </a:xfrm>
          <a:prstGeom prst="rect">
            <a:avLst/>
          </a:prstGeom>
          <a:noFill/>
        </p:spPr>
        <p:txBody>
          <a:bodyPr wrap="square" lIns="0" tIns="22860" rIns="0" bIns="0">
            <a:spAutoFit/>
          </a:bodyPr>
          <a:lstStyle/>
          <a:p>
            <a:pPr>
              <a:spcAft>
                <a:spcPts val="800"/>
              </a:spcAft>
              <a:defRPr sz="1700" b="1">
                <a:solidFill>
                  <a:srgbClr val="096B69"/>
                </a:solidFill>
                <a:latin typeface="Arial"/>
              </a:defRPr>
            </a:pPr>
            <a:r>
              <a:t>TAKE TURNS</a:t>
            </a:r>
          </a:p>
        </p:txBody>
      </p:sp>
      <p:sp>
        <p:nvSpPr>
          <p:cNvPr id="10" name="TextBox 9"/>
          <p:cNvSpPr txBox="1"/>
          <p:nvPr/>
        </p:nvSpPr>
        <p:spPr>
          <a:xfrm>
            <a:off x="7982712" y="2715768"/>
            <a:ext cx="3200400" cy="2606040"/>
          </a:xfrm>
          <a:prstGeom prst="rect">
            <a:avLst/>
          </a:prstGeom>
          <a:noFill/>
        </p:spPr>
        <p:txBody>
          <a:bodyPr wrap="square" lIns="0" tIns="22860" rIns="0" bIns="0">
            <a:spAutoFit/>
          </a:bodyPr>
          <a:lstStyle/>
          <a:p>
            <a:pPr>
              <a:spcAft>
                <a:spcPts val="800"/>
              </a:spcAft>
              <a:defRPr sz="2200" b="0">
                <a:solidFill>
                  <a:srgbClr val="24384B"/>
                </a:solidFill>
                <a:latin typeface="Arial"/>
              </a:defRPr>
            </a:pPr>
            <a:r>
              <a:t>Explain</a:t>
            </a:r>
          </a:p>
          <a:p>
            <a:pPr>
              <a:spcAft>
                <a:spcPts val="800"/>
              </a:spcAft>
              <a:defRPr sz="2200" b="0">
                <a:solidFill>
                  <a:srgbClr val="24384B"/>
                </a:solidFill>
                <a:latin typeface="Arial"/>
              </a:defRPr>
            </a:pPr>
            <a:r>
              <a:t>“I know this because…”</a:t>
            </a:r>
          </a:p>
          <a:p>
            <a:pPr>
              <a:spcAft>
                <a:spcPts val="800"/>
              </a:spcAft>
              <a:defRPr sz="2200" b="0">
                <a:solidFill>
                  <a:srgbClr val="24384B"/>
                </a:solidFill>
                <a:latin typeface="Arial"/>
              </a:defRPr>
            </a:pPr>
            <a:endParaRPr/>
          </a:p>
          <a:p>
            <a:pPr>
              <a:spcAft>
                <a:spcPts val="800"/>
              </a:spcAft>
              <a:defRPr sz="2200" b="0">
                <a:solidFill>
                  <a:srgbClr val="24384B"/>
                </a:solidFill>
                <a:latin typeface="Arial"/>
              </a:defRPr>
            </a:pPr>
            <a:r>
              <a:t>Ask</a:t>
            </a:r>
          </a:p>
          <a:p>
            <a:pPr>
              <a:spcAft>
                <a:spcPts val="800"/>
              </a:spcAft>
              <a:defRPr sz="2200" b="0">
                <a:solidFill>
                  <a:srgbClr val="24384B"/>
                </a:solidFill>
                <a:latin typeface="Arial"/>
              </a:defRPr>
            </a:pPr>
            <a: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2000" b="1" i="0" u="none" strike="noStrike" cap="non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defRPr/>
            </a:pPr>
            <a:r>
              <a:rPr lang="en-US" sz="1200" b="0" i="0" u="none" strike="noStrike" cap="none">
                <a:solidFill>
                  <a:srgbClr val="FFFFFF"/>
                </a:solidFill>
                <a:latin typeface="Arial"/>
                <a:ea typeface="Arial"/>
                <a:cs typeface="Arial"/>
                <a:sym typeface="Arial"/>
              </a:rPr>
              <a:t>Lesson 8-2 · Write and Solve Equations Using Addition or Subtraction</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000" b="0" i="0" u="none" strike="noStrike" cap="non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2400" b="1" i="0" u="none" strike="noStrike" cap="non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500" b="0" i="1" u="none" strike="noStrike" cap="none">
                <a:solidFill>
                  <a:srgbClr val="475569"/>
                </a:solidFill>
                <a:latin typeface="Arial"/>
                <a:ea typeface="Arial"/>
                <a:cs typeface="Arial"/>
                <a:sym typeface="Arial"/>
              </a:rPr>
              <a:t>Check what you remember from Session 1 · about 4 minutes</a:t>
            </a:r>
            <a:endParaRPr/>
          </a:p>
        </p:txBody>
      </p:sp>
      <p:sp>
        <p:nvSpPr>
          <p:cNvPr id="269" name="Google Shape;269;p43"/>
          <p:cNvSpPr/>
          <p:nvPr/>
        </p:nvSpPr>
        <p:spPr>
          <a:xfrm>
            <a:off x="640080" y="1828800"/>
            <a:ext cx="5291312" cy="2066544"/>
          </a:xfrm>
          <a:prstGeom prst="roundRect">
            <a:avLst>
              <a:gd name="adj" fmla="val 6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defRPr/>
            </a:pPr>
            <a:r>
              <a:rPr lang="en-US" sz="1400" b="1" i="0" u="none" strike="noStrike" cap="none">
                <a:solidFill>
                  <a:srgbClr val="14223A"/>
                </a:solidFill>
                <a:latin typeface="Arial"/>
                <a:ea typeface="Arial"/>
                <a:cs typeface="Arial"/>
                <a:sym typeface="Arial"/>
              </a:rPr>
              <a:t>What is the inverse operation of addition?</a:t>
            </a:r>
            <a:endParaRPr/>
          </a:p>
        </p:txBody>
      </p:sp>
      <p:sp>
        <p:nvSpPr>
          <p:cNvPr id="273" name="Google Shape;273;p43"/>
          <p:cNvSpPr/>
          <p:nvPr/>
        </p:nvSpPr>
        <p:spPr>
          <a:xfrm>
            <a:off x="1444752" y="253288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Multiplication</a:t>
            </a:r>
            <a:endParaRPr/>
          </a:p>
        </p:txBody>
      </p:sp>
      <p:sp>
        <p:nvSpPr>
          <p:cNvPr id="276" name="Google Shape;276;p43"/>
          <p:cNvSpPr/>
          <p:nvPr/>
        </p:nvSpPr>
        <p:spPr>
          <a:xfrm>
            <a:off x="1444752" y="285292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Subtraction</a:t>
            </a:r>
            <a:endParaRPr/>
          </a:p>
        </p:txBody>
      </p:sp>
      <p:sp>
        <p:nvSpPr>
          <p:cNvPr id="279" name="Google Shape;279;p43"/>
          <p:cNvSpPr/>
          <p:nvPr/>
        </p:nvSpPr>
        <p:spPr>
          <a:xfrm>
            <a:off x="1444752" y="317296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Division</a:t>
            </a:r>
            <a:endParaRPr/>
          </a:p>
        </p:txBody>
      </p:sp>
      <p:sp>
        <p:nvSpPr>
          <p:cNvPr id="282" name="Google Shape;282;p43"/>
          <p:cNvSpPr/>
          <p:nvPr/>
        </p:nvSpPr>
        <p:spPr>
          <a:xfrm>
            <a:off x="1444752" y="349300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Exponents</a:t>
            </a:r>
            <a:endParaRPr/>
          </a:p>
        </p:txBody>
      </p:sp>
      <p:sp>
        <p:nvSpPr>
          <p:cNvPr id="285" name="Google Shape;285;p43"/>
          <p:cNvSpPr/>
          <p:nvPr/>
        </p:nvSpPr>
        <p:spPr>
          <a:xfrm>
            <a:off x="6260576" y="1828800"/>
            <a:ext cx="5291312" cy="2066544"/>
          </a:xfrm>
          <a:prstGeom prst="roundRect">
            <a:avLst>
              <a:gd name="adj" fmla="val 6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defRPr/>
            </a:pPr>
            <a:r>
              <a:rPr lang="en-US" sz="1400" b="1" i="0" u="none" strike="noStrike" cap="none">
                <a:solidFill>
                  <a:srgbClr val="14223A"/>
                </a:solidFill>
                <a:latin typeface="Arial"/>
                <a:ea typeface="Arial"/>
                <a:cs typeface="Arial"/>
                <a:sym typeface="Arial"/>
              </a:rPr>
              <a:t>To solve x + 8 = 15, which operation isolates x?</a:t>
            </a:r>
            <a:endParaRPr/>
          </a:p>
        </p:txBody>
      </p:sp>
      <p:sp>
        <p:nvSpPr>
          <p:cNvPr id="289" name="Google Shape;289;p43"/>
          <p:cNvSpPr/>
          <p:nvPr/>
        </p:nvSpPr>
        <p:spPr>
          <a:xfrm>
            <a:off x="7068312" y="253288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Add 8 to both sides</a:t>
            </a:r>
            <a:endParaRPr/>
          </a:p>
        </p:txBody>
      </p:sp>
      <p:sp>
        <p:nvSpPr>
          <p:cNvPr id="292" name="Google Shape;292;p43"/>
          <p:cNvSpPr/>
          <p:nvPr/>
        </p:nvSpPr>
        <p:spPr>
          <a:xfrm>
            <a:off x="7068312" y="285292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Subtract 8 from both sides</a:t>
            </a:r>
            <a:endParaRPr/>
          </a:p>
        </p:txBody>
      </p:sp>
      <p:sp>
        <p:nvSpPr>
          <p:cNvPr id="295" name="Google Shape;295;p43"/>
          <p:cNvSpPr/>
          <p:nvPr/>
        </p:nvSpPr>
        <p:spPr>
          <a:xfrm>
            <a:off x="7068312" y="317296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Multiply by 8</a:t>
            </a:r>
            <a:endParaRPr/>
          </a:p>
        </p:txBody>
      </p:sp>
      <p:sp>
        <p:nvSpPr>
          <p:cNvPr id="298" name="Google Shape;298;p43"/>
          <p:cNvSpPr/>
          <p:nvPr/>
        </p:nvSpPr>
        <p:spPr>
          <a:xfrm>
            <a:off x="7068312" y="349300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Divide by 8</a:t>
            </a:r>
            <a:endParaRPr/>
          </a:p>
        </p:txBody>
      </p:sp>
      <p:sp>
        <p:nvSpPr>
          <p:cNvPr id="301" name="Google Shape;301;p43"/>
          <p:cNvSpPr/>
          <p:nvPr/>
        </p:nvSpPr>
        <p:spPr>
          <a:xfrm>
            <a:off x="640080" y="4133088"/>
            <a:ext cx="5291312" cy="2066544"/>
          </a:xfrm>
          <a:prstGeom prst="roundRect">
            <a:avLst>
              <a:gd name="adj" fmla="val 6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defRPr/>
            </a:pPr>
            <a:r>
              <a:rPr lang="en-US" sz="1400" b="1" i="0" u="none" strike="noStrike" cap="none">
                <a:solidFill>
                  <a:srgbClr val="14223A"/>
                </a:solidFill>
                <a:latin typeface="Arial"/>
                <a:ea typeface="Arial"/>
                <a:cs typeface="Arial"/>
                <a:sym typeface="Arial"/>
              </a:rPr>
              <a:t>Solve y − 6 = 14:</a:t>
            </a:r>
            <a:endParaRPr/>
          </a:p>
        </p:txBody>
      </p:sp>
      <p:sp>
        <p:nvSpPr>
          <p:cNvPr id="305" name="Google Shape;305;p43"/>
          <p:cNvSpPr/>
          <p:nvPr/>
        </p:nvSpPr>
        <p:spPr>
          <a:xfrm>
            <a:off x="1444752" y="483717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y = 8</a:t>
            </a:r>
            <a:endParaRPr/>
          </a:p>
        </p:txBody>
      </p:sp>
      <p:sp>
        <p:nvSpPr>
          <p:cNvPr id="308" name="Google Shape;308;p43"/>
          <p:cNvSpPr/>
          <p:nvPr/>
        </p:nvSpPr>
        <p:spPr>
          <a:xfrm>
            <a:off x="1444752" y="515721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y = 20</a:t>
            </a:r>
            <a:endParaRPr/>
          </a:p>
        </p:txBody>
      </p:sp>
      <p:sp>
        <p:nvSpPr>
          <p:cNvPr id="311" name="Google Shape;311;p43"/>
          <p:cNvSpPr/>
          <p:nvPr/>
        </p:nvSpPr>
        <p:spPr>
          <a:xfrm>
            <a:off x="1444752" y="547725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y = 24</a:t>
            </a:r>
            <a:endParaRPr/>
          </a:p>
        </p:txBody>
      </p:sp>
      <p:sp>
        <p:nvSpPr>
          <p:cNvPr id="314" name="Google Shape;314;p43"/>
          <p:cNvSpPr/>
          <p:nvPr/>
        </p:nvSpPr>
        <p:spPr>
          <a:xfrm>
            <a:off x="1444752" y="579729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y = 10</a:t>
            </a:r>
            <a:endParaRPr/>
          </a:p>
        </p:txBody>
      </p:sp>
      <p:sp>
        <p:nvSpPr>
          <p:cNvPr id="317" name="Google Shape;317;p43"/>
          <p:cNvSpPr/>
          <p:nvPr/>
        </p:nvSpPr>
        <p:spPr>
          <a:xfrm>
            <a:off x="6260576" y="4133088"/>
            <a:ext cx="5291312" cy="2066544"/>
          </a:xfrm>
          <a:prstGeom prst="roundRect">
            <a:avLst>
              <a:gd name="adj" fmla="val 6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defRPr/>
            </a:pPr>
            <a:r>
              <a:rPr lang="en-US" sz="1250" b="1" i="0" u="none" strike="noStrike" cap="none">
                <a:solidFill>
                  <a:srgbClr val="14223A"/>
                </a:solidFill>
                <a:latin typeface="Arial"/>
                <a:ea typeface="Arial"/>
                <a:cs typeface="Arial"/>
                <a:sym typeface="Arial"/>
              </a:rPr>
              <a:t>The golden rule of equations is: whatever you do to one side:</a:t>
            </a:r>
            <a:endParaRPr/>
          </a:p>
        </p:txBody>
      </p:sp>
      <p:sp>
        <p:nvSpPr>
          <p:cNvPr id="321" name="Google Shape;321;p43"/>
          <p:cNvSpPr/>
          <p:nvPr/>
        </p:nvSpPr>
        <p:spPr>
          <a:xfrm>
            <a:off x="7068312" y="483717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Do the opposite to the other</a:t>
            </a:r>
            <a:endParaRPr/>
          </a:p>
        </p:txBody>
      </p:sp>
      <p:sp>
        <p:nvSpPr>
          <p:cNvPr id="324" name="Google Shape;324;p43"/>
          <p:cNvSpPr/>
          <p:nvPr/>
        </p:nvSpPr>
        <p:spPr>
          <a:xfrm>
            <a:off x="7068312" y="515721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Do the exact same to the other side</a:t>
            </a:r>
            <a:endParaRPr/>
          </a:p>
        </p:txBody>
      </p:sp>
      <p:sp>
        <p:nvSpPr>
          <p:cNvPr id="327" name="Google Shape;327;p43"/>
          <p:cNvSpPr/>
          <p:nvPr/>
        </p:nvSpPr>
        <p:spPr>
          <a:xfrm>
            <a:off x="7068312" y="547725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Leave the other side alone</a:t>
            </a:r>
            <a:endParaRPr/>
          </a:p>
        </p:txBody>
      </p:sp>
      <p:sp>
        <p:nvSpPr>
          <p:cNvPr id="330" name="Google Shape;330;p43"/>
          <p:cNvSpPr/>
          <p:nvPr/>
        </p:nvSpPr>
        <p:spPr>
          <a:xfrm>
            <a:off x="7068312" y="579729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Multiply by zero</a:t>
            </a:r>
            <a:endParaRPr/>
          </a:p>
        </p:txBody>
      </p:sp>
      <p:sp>
        <p:nvSpPr>
          <p:cNvPr id="333"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28 / 54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29 / 54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2000" b="1" i="0" u="none" strike="noStrike" cap="none">
                <a:solidFill>
                  <a:srgbClr val="FFFFFF"/>
                </a:solidFill>
                <a:latin typeface="Arial"/>
                <a:ea typeface="Arial"/>
                <a:cs typeface="Arial"/>
                <a:sym typeface="Arial"/>
              </a:rPr>
              <a:t>Today’s Math Notes</a:t>
            </a:r>
            <a:endParaRPr/>
          </a:p>
        </p:txBody>
      </p:sp>
      <p:sp>
        <p:nvSpPr>
          <p:cNvPr id="523" name="Google Shape;523;p53"/>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defRPr/>
            </a:pPr>
            <a:r>
              <a:rPr lang="en-US" sz="1200" b="0" i="0" u="none" strike="noStrike" cap="none">
                <a:solidFill>
                  <a:srgbClr val="FFFFFF"/>
                </a:solidFill>
                <a:latin typeface="Arial"/>
                <a:ea typeface="Arial"/>
                <a:cs typeface="Arial"/>
                <a:sym typeface="Arial"/>
              </a:rPr>
              <a:t>Lesson 8-2 · Write and Solve Equations Using Addition or Subtraction</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000" b="0" i="0" u="none" strike="noStrike" cap="non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2400" b="1" i="0" u="none" strike="noStrike" cap="non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name="adj" fmla="val 30000"/>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400" b="1" i="0" u="none" strike="noStrike" cap="non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800" b="1" i="0" u="none" strike="noStrike" cap="none">
                <a:solidFill>
                  <a:srgbClr val="14223A"/>
                </a:solidFill>
                <a:latin typeface="Arial"/>
                <a:ea typeface="Arial"/>
                <a:cs typeface="Arial"/>
                <a:sym typeface="Arial"/>
              </a:rPr>
              <a:t>Inverse Operations</a:t>
            </a:r>
            <a:endParaRPr/>
          </a:p>
        </p:txBody>
      </p:sp>
      <p:sp>
        <p:nvSpPr>
          <p:cNvPr id="533" name="Google Shape;533;p53"/>
          <p:cNvSpPr txBox="1"/>
          <p:nvPr/>
        </p:nvSpPr>
        <p:spPr>
          <a:xfrm>
            <a:off x="1389888" y="2706624"/>
            <a:ext cx="9860249" cy="585216"/>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defRPr/>
            </a:pPr>
            <a:r>
              <a:rPr lang="en-US" sz="1450" b="0" i="0" u="none" strike="noStrike" cap="none">
                <a:solidFill>
                  <a:srgbClr val="475569"/>
                </a:solidFill>
                <a:latin typeface="Arial"/>
                <a:ea typeface="Arial"/>
                <a:cs typeface="Arial"/>
                <a:sym typeface="Arial"/>
              </a:rPr>
              <a:t>Addition and subtraction are </a:t>
            </a:r>
            <a:r>
              <a:rPr lang="en-US" sz="1450" b="1" i="0" u="none" strike="noStrike" cap="none">
                <a:solidFill>
                  <a:srgbClr val="475569"/>
                </a:solidFill>
                <a:latin typeface="Arial"/>
                <a:ea typeface="Arial"/>
                <a:cs typeface="Arial"/>
                <a:sym typeface="Arial"/>
              </a:rPr>
              <a:t>inverse operations</a:t>
            </a:r>
            <a:r>
              <a:rPr lang="en-US" sz="1450" b="0" i="0" u="none" strike="noStrike" cap="none">
                <a:solidFill>
                  <a:srgbClr val="475569"/>
                </a:solidFill>
                <a:latin typeface="Arial"/>
                <a:ea typeface="Arial"/>
                <a:cs typeface="Arial"/>
                <a:sym typeface="Arial"/>
              </a:rPr>
              <a:t> that undo each other.</a:t>
            </a:r>
            <a:endParaRPr/>
          </a:p>
        </p:txBody>
      </p:sp>
      <p:sp>
        <p:nvSpPr>
          <p:cNvPr id="534" name="Google Shape;534;p53"/>
          <p:cNvSpPr/>
          <p:nvPr/>
        </p:nvSpPr>
        <p:spPr>
          <a:xfrm>
            <a:off x="640080" y="3584448"/>
            <a:ext cx="10911809" cy="1188720"/>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800" b="1" i="0" u="none" strike="noStrike" cap="none">
                <a:solidFill>
                  <a:srgbClr val="14223A"/>
                </a:solidFill>
                <a:latin typeface="Arial"/>
                <a:ea typeface="Arial"/>
                <a:cs typeface="Arial"/>
                <a:sym typeface="Arial"/>
              </a:rPr>
              <a:t>Balance Principle</a:t>
            </a:r>
            <a:endParaRPr/>
          </a:p>
        </p:txBody>
      </p:sp>
      <p:sp>
        <p:nvSpPr>
          <p:cNvPr id="538" name="Google Shape;538;p53"/>
          <p:cNvSpPr txBox="1"/>
          <p:nvPr/>
        </p:nvSpPr>
        <p:spPr>
          <a:xfrm>
            <a:off x="1389888" y="4078224"/>
            <a:ext cx="9860249" cy="585216"/>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defRPr/>
            </a:pPr>
            <a:r>
              <a:rPr lang="en-US" sz="1450" b="0" i="0" u="none" strike="noStrike" cap="none">
                <a:solidFill>
                  <a:srgbClr val="475569"/>
                </a:solidFill>
                <a:latin typeface="Arial"/>
                <a:ea typeface="Arial"/>
                <a:cs typeface="Arial"/>
                <a:sym typeface="Arial"/>
              </a:rPr>
              <a:t>Maintain </a:t>
            </a:r>
            <a:r>
              <a:rPr lang="en-US" sz="1450" b="1" i="0" u="none" strike="noStrike" cap="none">
                <a:solidFill>
                  <a:srgbClr val="475569"/>
                </a:solidFill>
                <a:latin typeface="Arial"/>
                <a:ea typeface="Arial"/>
                <a:cs typeface="Arial"/>
                <a:sym typeface="Arial"/>
              </a:rPr>
              <a:t>equality</a:t>
            </a:r>
            <a:r>
              <a:rPr lang="en-US" sz="1450" b="0" i="0" u="none" strike="noStrike" cap="none">
                <a:solidFill>
                  <a:srgbClr val="475569"/>
                </a:solidFill>
                <a:latin typeface="Arial"/>
                <a:ea typeface="Arial"/>
                <a:cs typeface="Arial"/>
                <a:sym typeface="Arial"/>
              </a:rPr>
              <a:t> by performing the identical operation on both sides of the equals sign.</a:t>
            </a:r>
            <a:endParaRPr/>
          </a:p>
        </p:txBody>
      </p:sp>
      <p:sp>
        <p:nvSpPr>
          <p:cNvPr id="539" name="Google Shape;539;p53"/>
          <p:cNvSpPr/>
          <p:nvPr/>
        </p:nvSpPr>
        <p:spPr>
          <a:xfrm>
            <a:off x="640080" y="4956048"/>
            <a:ext cx="10911809" cy="1188720"/>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800" b="1" i="0" u="none" strike="noStrike" cap="none">
                <a:solidFill>
                  <a:srgbClr val="14223A"/>
                </a:solidFill>
                <a:latin typeface="Arial"/>
                <a:ea typeface="Arial"/>
                <a:cs typeface="Arial"/>
                <a:sym typeface="Arial"/>
              </a:rPr>
              <a:t>Isolating the Variable</a:t>
            </a:r>
            <a:endParaRPr/>
          </a:p>
        </p:txBody>
      </p:sp>
      <p:sp>
        <p:nvSpPr>
          <p:cNvPr id="543" name="Google Shape;543;p53"/>
          <p:cNvSpPr txBox="1"/>
          <p:nvPr/>
        </p:nvSpPr>
        <p:spPr>
          <a:xfrm>
            <a:off x="1389888" y="5449824"/>
            <a:ext cx="9860249" cy="585216"/>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defRPr/>
            </a:pPr>
            <a:r>
              <a:rPr lang="en-US" sz="1450" b="0" i="0" u="none" strike="noStrike" cap="none">
                <a:solidFill>
                  <a:srgbClr val="475569"/>
                </a:solidFill>
                <a:latin typeface="Arial"/>
                <a:ea typeface="Arial"/>
                <a:cs typeface="Arial"/>
                <a:sym typeface="Arial"/>
              </a:rPr>
              <a:t>Eliminate constants on the </a:t>
            </a:r>
            <a:r>
              <a:rPr lang="en-US" sz="1450" b="1" i="0" u="none" strike="noStrike" cap="none">
                <a:solidFill>
                  <a:srgbClr val="475569"/>
                </a:solidFill>
                <a:latin typeface="Arial"/>
                <a:ea typeface="Arial"/>
                <a:cs typeface="Arial"/>
                <a:sym typeface="Arial"/>
              </a:rPr>
              <a:t>variable</a:t>
            </a:r>
            <a:r>
              <a:rPr lang="en-US" sz="1450" b="0" i="0" u="none" strike="noStrike" cap="none">
                <a:solidFill>
                  <a:srgbClr val="475569"/>
                </a:solidFill>
                <a:latin typeface="Arial"/>
                <a:ea typeface="Arial"/>
                <a:cs typeface="Arial"/>
                <a:sym typeface="Arial"/>
              </a:rPr>
              <a:t>’s side to find the unknown quantity.</a:t>
            </a:r>
            <a:endParaRPr/>
          </a:p>
        </p:txBody>
      </p:sp>
      <p:sp>
        <p:nvSpPr>
          <p:cNvPr id="544"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30 / 54</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74"/>
          <p:cNvSpPr txBox="1"/>
          <p:nvPr/>
        </p:nvSpPr>
        <p:spPr>
          <a:xfrm>
            <a:off x="1402828" y="2453950"/>
            <a:ext cx="9144000" cy="217646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600"/>
              <a:buFont typeface="Arial"/>
              <a:buNone/>
              <a:defRPr/>
            </a:pPr>
            <a:r>
              <a:rPr lang="en-US" sz="3600" b="1" i="0" u="none" strike="noStrike" cap="none">
                <a:solidFill>
                  <a:schemeClr val="dk1"/>
                </a:solidFill>
                <a:latin typeface="Arial"/>
                <a:ea typeface="Arial"/>
                <a:cs typeface="Arial"/>
                <a:sym typeface="Arial"/>
              </a:rPr>
              <a:t>Write and Solve Equations Using Addition or Subtraction</a:t>
            </a:r>
            <a:endParaRPr sz="1400" b="0" i="0" u="none" strike="noStrike" cap="none">
              <a:solidFill>
                <a:srgbClr val="000000"/>
              </a:solidFill>
              <a:latin typeface="Arial"/>
              <a:ea typeface="Arial"/>
              <a:cs typeface="Arial"/>
              <a:sym typeface="Arial"/>
            </a:endParaRPr>
          </a:p>
        </p:txBody>
      </p:sp>
      <p:sp>
        <p:nvSpPr>
          <p:cNvPr id="748" name="Google Shape;748;p74"/>
          <p:cNvSpPr/>
          <p:nvPr/>
        </p:nvSpPr>
        <p:spPr>
          <a:xfrm>
            <a:off x="1402828" y="1037162"/>
            <a:ext cx="1763624"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defRPr/>
            </a:pPr>
            <a:r>
              <a:rPr lang="en-US" sz="2800" b="0" i="0" u="none" strike="noStrike" cap="none">
                <a:solidFill>
                  <a:srgbClr val="01708C"/>
                </a:solidFill>
                <a:latin typeface="Arial"/>
                <a:ea typeface="Arial"/>
                <a:cs typeface="Arial"/>
                <a:sym typeface="Arial"/>
              </a:rPr>
              <a:t>Session 2</a:t>
            </a:r>
            <a:endParaRPr sz="2800" b="1" i="0" u="none" strike="noStrike" cap="none">
              <a:solidFill>
                <a:srgbClr val="01708C"/>
              </a:solidFill>
              <a:latin typeface="Arial"/>
              <a:ea typeface="Arial"/>
              <a:cs typeface="Arial"/>
              <a:sym typeface="Arial"/>
            </a:endParaRPr>
          </a:p>
        </p:txBody>
      </p:sp>
      <p:cxnSp>
        <p:nvCxnSpPr>
          <p:cNvPr id="749" name="Google Shape;749;p74"/>
          <p:cNvCxnSpPr/>
          <p:nvPr/>
        </p:nvCxnSpPr>
        <p:spPr>
          <a:xfrm>
            <a:off x="-1" y="1560382"/>
            <a:ext cx="3166453" cy="0"/>
          </a:xfrm>
          <a:prstGeom prst="straightConnector1">
            <a:avLst/>
          </a:prstGeom>
          <a:noFill/>
          <a:ln w="19050" cap="flat" cmpd="sng">
            <a:solidFill>
              <a:srgbClr val="01708C"/>
            </a:solidFill>
            <a:prstDash val="solid"/>
            <a:miter lim="80"/>
            <a:headEnd type="none" w="sm" len="sm"/>
            <a:tailEnd type="none" w="sm" len="sm"/>
          </a:ln>
        </p:spPr>
      </p:cxnSp>
      <p:sp>
        <p:nvSpPr>
          <p:cNvPr id="750"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31 / 54</a:t>
            </a:r>
          </a:p>
        </p:txBody>
      </p:sp>
      <p:grpSp>
        <p:nvGrpSpPr>
          <p:cNvPr id="751" name="TEACH-5-student-move" descr="TEACH 5 · Facilitate student interactions and academic talk"/>
          <p:cNvGrpSpPr/>
          <p:nvPr/>
        </p:nvGrpSpPr>
        <p:grpSpPr>
          <a:xfrm>
            <a:off x="502920" y="3867612"/>
            <a:ext cx="11186160" cy="731520"/>
            <a:chOff x="502920" y="3867612"/>
            <a:chExt cx="11186160" cy="731520"/>
          </a:xfrm>
        </p:grpSpPr>
        <p:sp>
          <p:nvSpPr>
            <p:cNvPr id="752"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53"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754"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ADD ON  ·  </a:t>
              </a:r>
              <a:r>
                <a:rPr lang="en-US" sz="1800" dirty="0">
                  <a:solidFill>
                    <a:srgbClr val="13303A"/>
                  </a:solidFill>
                  <a:latin typeface="Arial"/>
                </a:rPr>
                <a:t>Add on: “I agree because ______.”  or  “I see it differently because ______.”</a:t>
              </a:r>
              <a:endParaRPr lang="en-US" sz="1800"/>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cxnSp>
        <p:nvCxnSpPr>
          <p:cNvPr id="790" name="Google Shape;790;p78"/>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791" name="Google Shape;791;p78"/>
          <p:cNvSpPr txBox="1"/>
          <p:nvPr/>
        </p:nvSpPr>
        <p:spPr>
          <a:xfrm>
            <a:off x="484565" y="316033"/>
            <a:ext cx="5029132" cy="47479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pPr>
            <a:r>
              <a:rPr lang="en-US" sz="2800" b="1" i="0" u="none" strike="noStrike" cap="none">
                <a:solidFill>
                  <a:srgbClr val="782DA0"/>
                </a:solidFill>
                <a:latin typeface="Arial"/>
                <a:ea typeface="Arial"/>
                <a:cs typeface="Arial"/>
                <a:sym typeface="Arial"/>
              </a:rPr>
              <a:t>Tracking Sales</a:t>
            </a:r>
            <a:endParaRPr sz="2800" b="1" i="0" u="none" strike="noStrike" cap="none">
              <a:solidFill>
                <a:srgbClr val="7030A0"/>
              </a:solidFill>
              <a:latin typeface="Arial"/>
              <a:ea typeface="Arial"/>
              <a:cs typeface="Arial"/>
              <a:sym typeface="Arial"/>
            </a:endParaRPr>
          </a:p>
        </p:txBody>
      </p:sp>
      <p:sp>
        <p:nvSpPr>
          <p:cNvPr id="792" name="Google Shape;792;p78"/>
          <p:cNvSpPr/>
          <p:nvPr/>
        </p:nvSpPr>
        <p:spPr>
          <a:xfrm>
            <a:off x="486000" y="5809369"/>
            <a:ext cx="6309741" cy="49244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US" sz="2600" b="0" i="0" u="none" strike="noStrike" cap="none">
                <a:solidFill>
                  <a:srgbClr val="595959"/>
                </a:solidFill>
                <a:latin typeface="Arial"/>
                <a:ea typeface="Arial"/>
                <a:cs typeface="Arial"/>
                <a:sym typeface="Arial"/>
              </a:rPr>
              <a:t>Have you seen problems like this before?</a:t>
            </a:r>
            <a:endParaRPr sz="2600" b="0" i="0" u="none" strike="noStrike" cap="none">
              <a:solidFill>
                <a:srgbClr val="595959"/>
              </a:solidFill>
              <a:latin typeface="Arial"/>
              <a:ea typeface="Arial"/>
              <a:cs typeface="Arial"/>
              <a:sym typeface="Arial"/>
            </a:endParaRPr>
          </a:p>
        </p:txBody>
      </p:sp>
      <p:pic>
        <p:nvPicPr>
          <p:cNvPr id="793" name="Google Shape;793;p78"/>
          <p:cNvPicPr preferRelativeResize="0"/>
          <p:nvPr/>
        </p:nvPicPr>
        <p:blipFill rotWithShape="1">
          <a:blip r:embed="rId3">
            <a:alphaModFix/>
          </a:blip>
          <a:srcRect/>
          <a:stretch/>
        </p:blipFill>
        <p:spPr>
          <a:xfrm>
            <a:off x="484565" y="4971169"/>
            <a:ext cx="5054600" cy="838200"/>
          </a:xfrm>
          <a:prstGeom prst="rect">
            <a:avLst/>
          </a:prstGeom>
          <a:noFill/>
          <a:ln>
            <a:noFill/>
          </a:ln>
        </p:spPr>
      </p:pic>
      <p:sp>
        <p:nvSpPr>
          <p:cNvPr id="794" name="Google Shape;794;p78"/>
          <p:cNvSpPr/>
          <p:nvPr/>
        </p:nvSpPr>
        <p:spPr>
          <a:xfrm>
            <a:off x="3075029" y="5166923"/>
            <a:ext cx="2464136"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Arial"/>
                <a:ea typeface="Arial"/>
                <a:cs typeface="Arial"/>
                <a:sym typeface="Arial"/>
              </a:rPr>
              <a:t>Making Sense</a:t>
            </a:r>
            <a:endParaRPr sz="1400" b="0" i="0" u="none" strike="noStrike" cap="none">
              <a:solidFill>
                <a:srgbClr val="000000"/>
              </a:solidFill>
              <a:latin typeface="Arial"/>
              <a:ea typeface="Arial"/>
              <a:cs typeface="Arial"/>
              <a:sym typeface="Arial"/>
            </a:endParaRPr>
          </a:p>
        </p:txBody>
      </p:sp>
      <p:sp>
        <p:nvSpPr>
          <p:cNvPr id="795" name="Google Shape;795;p78"/>
          <p:cNvSpPr txBox="1"/>
          <p:nvPr/>
        </p:nvSpPr>
        <p:spPr>
          <a:xfrm>
            <a:off x="486001" y="935999"/>
            <a:ext cx="6416244" cy="277366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800" b="0" i="0" u="none" strike="noStrike" cap="none">
                <a:solidFill>
                  <a:schemeClr val="dk1"/>
                </a:solidFill>
                <a:latin typeface="Arial"/>
                <a:ea typeface="Arial"/>
                <a:cs typeface="Arial"/>
                <a:sym typeface="Arial"/>
              </a:rPr>
              <a:t>The students at a local middle school collected money from a walk-a-thon fundraiser. They donated $168.50 to the local food pantry and now have the remaining money shown from the fundraiser.</a:t>
            </a:r>
            <a:endParaRPr sz="1400" b="0" i="0" u="none" strike="noStrike" cap="none">
              <a:solidFill>
                <a:srgbClr val="000000"/>
              </a:solidFill>
              <a:latin typeface="Arial"/>
              <a:ea typeface="Arial"/>
              <a:cs typeface="Arial"/>
              <a:sym typeface="Arial"/>
            </a:endParaRPr>
          </a:p>
        </p:txBody>
      </p:sp>
      <p:sp>
        <p:nvSpPr>
          <p:cNvPr id="796" name="Google Shape;796;p78"/>
          <p:cNvSpPr txBox="1"/>
          <p:nvPr/>
        </p:nvSpPr>
        <p:spPr>
          <a:xfrm>
            <a:off x="484566" y="3709663"/>
            <a:ext cx="6784230"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Arial"/>
                <a:ea typeface="Arial"/>
                <a:cs typeface="Arial"/>
                <a:sym typeface="Arial"/>
              </a:rPr>
              <a:t>How much money did the students raise at the walk-a-thon?</a:t>
            </a:r>
            <a:endParaRPr sz="2800" b="1" i="0" u="none" strike="noStrike" cap="none">
              <a:solidFill>
                <a:schemeClr val="dk1"/>
              </a:solidFill>
              <a:latin typeface="Arial"/>
              <a:ea typeface="Arial"/>
              <a:cs typeface="Arial"/>
              <a:sym typeface="Arial"/>
            </a:endParaRPr>
          </a:p>
        </p:txBody>
      </p:sp>
      <p:pic>
        <p:nvPicPr>
          <p:cNvPr id="797" name="Google Shape;797;p78"/>
          <p:cNvPicPr preferRelativeResize="0"/>
          <p:nvPr/>
        </p:nvPicPr>
        <p:blipFill rotWithShape="1">
          <a:blip r:embed="rId4">
            <a:alphaModFix/>
          </a:blip>
          <a:srcRect/>
          <a:stretch/>
        </p:blipFill>
        <p:spPr>
          <a:xfrm>
            <a:off x="7161783" y="1268563"/>
            <a:ext cx="4848713" cy="2520000"/>
          </a:xfrm>
          <a:prstGeom prst="rect">
            <a:avLst/>
          </a:prstGeom>
          <a:noFill/>
          <a:ln>
            <a:noFill/>
          </a:ln>
        </p:spPr>
      </p:pic>
      <p:sp>
        <p:nvSpPr>
          <p:cNvPr id="798"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32 / 54</a:t>
            </a:r>
          </a:p>
        </p:txBody>
      </p:sp>
      <p:sp>
        <p:nvSpPr>
          <p:cNvPr id="799" name="TEACH-embedded-student-prompt" descr="Student thinking and response directions"/>
          <p:cNvSpPr txBox="1"/>
          <p:nvPr/>
        </p:nvSpPr>
        <p:spPr>
          <a:xfrm>
            <a:off x="6111240" y="48646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cxnSp>
        <p:nvCxnSpPr>
          <p:cNvPr id="802" name="Google Shape;802;p79"/>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803" name="Google Shape;803;p79"/>
          <p:cNvSpPr txBox="1"/>
          <p:nvPr/>
        </p:nvSpPr>
        <p:spPr>
          <a:xfrm>
            <a:off x="484565" y="316033"/>
            <a:ext cx="5029132" cy="6199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pPr>
            <a:r>
              <a:rPr lang="en-US" sz="2800" b="1" i="0" u="none" strike="noStrike" cap="none">
                <a:solidFill>
                  <a:srgbClr val="782DA0"/>
                </a:solidFill>
                <a:latin typeface="Arial"/>
                <a:ea typeface="Arial"/>
                <a:cs typeface="Arial"/>
                <a:sym typeface="Arial"/>
              </a:rPr>
              <a:t>Tracking Sales</a:t>
            </a:r>
            <a:endParaRPr sz="2800" b="1" i="0" u="none" strike="noStrike" cap="none">
              <a:solidFill>
                <a:srgbClr val="7030A0"/>
              </a:solidFill>
              <a:latin typeface="Arial"/>
              <a:ea typeface="Arial"/>
              <a:cs typeface="Arial"/>
              <a:sym typeface="Arial"/>
            </a:endParaRPr>
          </a:p>
        </p:txBody>
      </p:sp>
      <p:sp>
        <p:nvSpPr>
          <p:cNvPr id="804" name="Google Shape;804;p79"/>
          <p:cNvSpPr txBox="1"/>
          <p:nvPr/>
        </p:nvSpPr>
        <p:spPr>
          <a:xfrm>
            <a:off x="484193" y="935999"/>
            <a:ext cx="6344214" cy="3112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800" b="0" i="0" u="none" strike="noStrike" cap="none">
                <a:solidFill>
                  <a:schemeClr val="dk1"/>
                </a:solidFill>
                <a:latin typeface="Arial"/>
                <a:ea typeface="Arial"/>
                <a:cs typeface="Arial"/>
                <a:sym typeface="Arial"/>
              </a:rPr>
              <a:t>The students at a local middle school collected money from a walk-a-thon fundraiser. They donated $168.50 to the local food pantry and now have the remaining money shown from the fundraiser. How much money did the students raise at the walk-a-thon?</a:t>
            </a:r>
            <a:endParaRPr sz="1400" b="0" i="0" u="none" strike="noStrike" cap="none">
              <a:solidFill>
                <a:srgbClr val="000000"/>
              </a:solidFill>
              <a:latin typeface="Arial"/>
              <a:ea typeface="Arial"/>
              <a:cs typeface="Arial"/>
              <a:sym typeface="Arial"/>
            </a:endParaRPr>
          </a:p>
        </p:txBody>
      </p:sp>
      <p:sp>
        <p:nvSpPr>
          <p:cNvPr id="805" name="Google Shape;805;p79"/>
          <p:cNvSpPr txBox="1"/>
          <p:nvPr/>
        </p:nvSpPr>
        <p:spPr>
          <a:xfrm>
            <a:off x="484193" y="4372931"/>
            <a:ext cx="7110609"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Arial"/>
                <a:ea typeface="Arial"/>
                <a:cs typeface="Arial"/>
                <a:sym typeface="Arial"/>
              </a:rPr>
              <a:t>What are the quantities in the problem?</a:t>
            </a:r>
            <a:endParaRPr sz="2800" b="1" i="0" u="none" strike="noStrike" cap="none">
              <a:solidFill>
                <a:schemeClr val="dk1"/>
              </a:solidFill>
              <a:latin typeface="Arial"/>
              <a:ea typeface="Arial"/>
              <a:cs typeface="Arial"/>
              <a:sym typeface="Arial"/>
            </a:endParaRPr>
          </a:p>
        </p:txBody>
      </p:sp>
      <p:pic>
        <p:nvPicPr>
          <p:cNvPr id="806" name="Google Shape;806;p79"/>
          <p:cNvPicPr preferRelativeResize="0"/>
          <p:nvPr/>
        </p:nvPicPr>
        <p:blipFill rotWithShape="1">
          <a:blip r:embed="rId3">
            <a:alphaModFix/>
          </a:blip>
          <a:srcRect/>
          <a:stretch/>
        </p:blipFill>
        <p:spPr>
          <a:xfrm>
            <a:off x="7161783" y="1268563"/>
            <a:ext cx="4848713" cy="2520000"/>
          </a:xfrm>
          <a:prstGeom prst="rect">
            <a:avLst/>
          </a:prstGeom>
          <a:noFill/>
          <a:ln>
            <a:noFill/>
          </a:ln>
        </p:spPr>
      </p:pic>
      <p:sp>
        <p:nvSpPr>
          <p:cNvPr id="807"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33 / 54</a:t>
            </a:r>
          </a:p>
        </p:txBody>
      </p:sp>
      <p:sp>
        <p:nvSpPr>
          <p:cNvPr id="808"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cxnSp>
        <p:nvCxnSpPr>
          <p:cNvPr id="820" name="Google Shape;820;p81"/>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821" name="Google Shape;821;p81"/>
          <p:cNvSpPr txBox="1"/>
          <p:nvPr/>
        </p:nvSpPr>
        <p:spPr>
          <a:xfrm>
            <a:off x="484565" y="316033"/>
            <a:ext cx="5029132" cy="6199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pPr>
            <a:r>
              <a:rPr lang="en-US" sz="2800" b="1" i="0" u="none" strike="noStrike" cap="none">
                <a:solidFill>
                  <a:srgbClr val="782DA0"/>
                </a:solidFill>
                <a:latin typeface="Arial"/>
                <a:ea typeface="Arial"/>
                <a:cs typeface="Arial"/>
                <a:sym typeface="Arial"/>
              </a:rPr>
              <a:t>Tracking Sales</a:t>
            </a:r>
            <a:endParaRPr sz="2800" b="1" i="0" u="none" strike="noStrike" cap="none">
              <a:solidFill>
                <a:srgbClr val="7030A0"/>
              </a:solidFill>
              <a:latin typeface="Arial"/>
              <a:ea typeface="Arial"/>
              <a:cs typeface="Arial"/>
              <a:sym typeface="Arial"/>
            </a:endParaRPr>
          </a:p>
        </p:txBody>
      </p:sp>
      <p:sp>
        <p:nvSpPr>
          <p:cNvPr id="822" name="Google Shape;822;p81"/>
          <p:cNvSpPr txBox="1"/>
          <p:nvPr/>
        </p:nvSpPr>
        <p:spPr>
          <a:xfrm>
            <a:off x="484566" y="936000"/>
            <a:ext cx="6182934"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Arial"/>
                <a:ea typeface="Arial"/>
                <a:cs typeface="Arial"/>
                <a:sym typeface="Arial"/>
              </a:rPr>
              <a:t>What are the quantities in the problem?</a:t>
            </a:r>
            <a:endParaRPr sz="2800" b="1" i="0" u="none" strike="noStrike" cap="none">
              <a:solidFill>
                <a:schemeClr val="dk1"/>
              </a:solidFill>
              <a:latin typeface="Arial"/>
              <a:ea typeface="Arial"/>
              <a:cs typeface="Arial"/>
              <a:sym typeface="Arial"/>
            </a:endParaRPr>
          </a:p>
        </p:txBody>
      </p:sp>
      <p:sp>
        <p:nvSpPr>
          <p:cNvPr id="823" name="Google Shape;823;p81"/>
          <p:cNvSpPr txBox="1"/>
          <p:nvPr/>
        </p:nvSpPr>
        <p:spPr>
          <a:xfrm>
            <a:off x="484565" y="3886199"/>
            <a:ext cx="10602679" cy="226358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595959"/>
              </a:buClr>
              <a:buSzPts val="2800"/>
              <a:buFont typeface="Arial"/>
              <a:buNone/>
            </a:pPr>
            <a:r>
              <a:rPr lang="en-US" sz="2800" b="0" i="0" u="none" strike="noStrike" cap="none">
                <a:solidFill>
                  <a:srgbClr val="595959"/>
                </a:solidFill>
                <a:latin typeface="Arial"/>
                <a:ea typeface="Arial"/>
                <a:cs typeface="Arial"/>
                <a:sym typeface="Arial"/>
              </a:rPr>
              <a:t>The quantities are: </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rgbClr val="595959"/>
              </a:buClr>
              <a:buSzPts val="2800"/>
              <a:buFont typeface="Arial"/>
              <a:buChar char="•"/>
            </a:pPr>
            <a:r>
              <a:rPr lang="en-US" sz="2800" b="0" i="0" u="none" strike="noStrike" cap="none">
                <a:solidFill>
                  <a:srgbClr val="595959"/>
                </a:solidFill>
                <a:latin typeface="Arial"/>
                <a:ea typeface="Arial"/>
                <a:cs typeface="Arial"/>
                <a:sym typeface="Arial"/>
              </a:rPr>
              <a:t>the total amount raised at the walk-a-thon</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rgbClr val="595959"/>
              </a:buClr>
              <a:buSzPts val="2800"/>
              <a:buFont typeface="Arial"/>
              <a:buChar char="•"/>
            </a:pPr>
            <a:r>
              <a:rPr lang="en-US" sz="2800" b="0" i="0" u="none" strike="noStrike" cap="none">
                <a:solidFill>
                  <a:srgbClr val="595959"/>
                </a:solidFill>
                <a:latin typeface="Arial"/>
                <a:ea typeface="Arial"/>
                <a:cs typeface="Arial"/>
                <a:sym typeface="Arial"/>
              </a:rPr>
              <a:t>the amount donated to the food pantry</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rgbClr val="595959"/>
              </a:buClr>
              <a:buSzPts val="2800"/>
              <a:buFont typeface="Arial"/>
              <a:buChar char="•"/>
            </a:pPr>
            <a:r>
              <a:rPr lang="en-US" sz="2800" b="0" i="0" u="none" strike="noStrike" cap="none">
                <a:solidFill>
                  <a:srgbClr val="595959"/>
                </a:solidFill>
                <a:latin typeface="Arial"/>
                <a:ea typeface="Arial"/>
                <a:cs typeface="Arial"/>
                <a:sym typeface="Arial"/>
              </a:rPr>
              <a:t>and the amount remaining after donating to the food pantry</a:t>
            </a:r>
            <a:endParaRPr sz="1400" b="0" i="0" u="none" strike="noStrike" cap="none">
              <a:solidFill>
                <a:srgbClr val="000000"/>
              </a:solidFill>
              <a:latin typeface="Arial"/>
              <a:ea typeface="Arial"/>
              <a:cs typeface="Arial"/>
              <a:sym typeface="Arial"/>
            </a:endParaRPr>
          </a:p>
        </p:txBody>
      </p:sp>
      <p:pic>
        <p:nvPicPr>
          <p:cNvPr id="824" name="Google Shape;824;p81"/>
          <p:cNvPicPr preferRelativeResize="0"/>
          <p:nvPr/>
        </p:nvPicPr>
        <p:blipFill rotWithShape="1">
          <a:blip r:embed="rId3">
            <a:alphaModFix/>
          </a:blip>
          <a:srcRect/>
          <a:stretch/>
        </p:blipFill>
        <p:spPr>
          <a:xfrm>
            <a:off x="7161783" y="1268563"/>
            <a:ext cx="4848713" cy="2520000"/>
          </a:xfrm>
          <a:prstGeom prst="rect">
            <a:avLst/>
          </a:prstGeom>
          <a:noFill/>
          <a:ln>
            <a:noFill/>
          </a:ln>
        </p:spPr>
      </p:pic>
      <p:sp>
        <p:nvSpPr>
          <p:cNvPr id="825"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34 / 54</a:t>
            </a:r>
          </a:p>
        </p:txBody>
      </p:sp>
      <p:sp>
        <p:nvSpPr>
          <p:cNvPr id="826" name="EWL-COVER-1"/>
          <p:cNvSpPr/>
          <p:nvPr/>
        </p:nvSpPr>
        <p:spPr>
          <a:xfrm>
            <a:off x="429701" y="3831335"/>
            <a:ext cx="10712407" cy="2373317"/>
          </a:xfrm>
          <a:prstGeom prst="rect">
            <a:avLst/>
          </a:prstGeom>
          <a:solidFill>
            <a:srgbClr val="FFFFFF"/>
          </a:solidFill>
          <a:ln>
            <a:noFill/>
          </a:ln>
        </p:spPr>
        <p:txBody>
          <a:bodyPr/>
          <a:lstStyle/>
          <a:p>
            <a:endParaRPr/>
          </a:p>
        </p:txBody>
      </p:sp>
      <p:sp>
        <p:nvSpPr>
          <p:cNvPr id="827" name="TEACH-embedded-student-prompt" descr="Student thinking and response directions"/>
          <p:cNvSpPr txBox="1"/>
          <p:nvPr/>
        </p:nvSpPr>
        <p:spPr>
          <a:xfrm>
            <a:off x="594360" y="29443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cxnSp>
        <p:nvCxnSpPr>
          <p:cNvPr id="838" name="Google Shape;838;p83"/>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839" name="Google Shape;839;p83"/>
          <p:cNvSpPr txBox="1"/>
          <p:nvPr/>
        </p:nvSpPr>
        <p:spPr>
          <a:xfrm>
            <a:off x="484565" y="316033"/>
            <a:ext cx="5029132" cy="6199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defRPr/>
            </a:pPr>
            <a:r>
              <a:rPr lang="en-US" sz="2800" b="1" i="0" u="none" strike="noStrike" cap="none">
                <a:solidFill>
                  <a:srgbClr val="782DA0"/>
                </a:solidFill>
                <a:latin typeface="Arial"/>
                <a:ea typeface="Arial"/>
                <a:cs typeface="Arial"/>
                <a:sym typeface="Arial"/>
              </a:rPr>
              <a:t>Tracking Sales</a:t>
            </a:r>
            <a:endParaRPr sz="2800" b="1" i="0" u="none" strike="noStrike" cap="none">
              <a:solidFill>
                <a:srgbClr val="7030A0"/>
              </a:solidFill>
              <a:latin typeface="Arial"/>
              <a:ea typeface="Arial"/>
              <a:cs typeface="Arial"/>
              <a:sym typeface="Arial"/>
            </a:endParaRPr>
          </a:p>
        </p:txBody>
      </p:sp>
      <p:sp>
        <p:nvSpPr>
          <p:cNvPr id="840" name="Google Shape;840;p83"/>
          <p:cNvSpPr/>
          <p:nvPr/>
        </p:nvSpPr>
        <p:spPr>
          <a:xfrm>
            <a:off x="486000" y="4077510"/>
            <a:ext cx="9696862"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defRPr/>
            </a:pPr>
            <a:r>
              <a:rPr lang="en-US" sz="2800" b="1" i="0" u="none" strike="noStrike" cap="none">
                <a:solidFill>
                  <a:schemeClr val="dk1"/>
                </a:solidFill>
                <a:latin typeface="Arial"/>
                <a:ea typeface="Arial"/>
                <a:cs typeface="Arial"/>
                <a:sym typeface="Arial"/>
              </a:rPr>
              <a:t>How can you represent the relationship algebraically?</a:t>
            </a:r>
            <a:endParaRPr sz="2800" b="0" i="0" u="none" strike="noStrike" cap="none">
              <a:solidFill>
                <a:schemeClr val="dk1"/>
              </a:solidFill>
              <a:latin typeface="Arial"/>
              <a:ea typeface="Arial"/>
              <a:cs typeface="Arial"/>
              <a:sym typeface="Arial"/>
            </a:endParaRPr>
          </a:p>
        </p:txBody>
      </p:sp>
      <p:sp>
        <p:nvSpPr>
          <p:cNvPr id="841" name="Google Shape;841;p83"/>
          <p:cNvSpPr txBox="1"/>
          <p:nvPr/>
        </p:nvSpPr>
        <p:spPr>
          <a:xfrm>
            <a:off x="484565" y="4947248"/>
            <a:ext cx="10938117" cy="100183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defRPr/>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959"/>
              </a:buClr>
              <a:buSzPts val="2800"/>
              <a:buFont typeface="Arial"/>
              <a:buNone/>
              <a:defRPr/>
            </a:pPr>
            <a:r>
              <a:rPr lang="en-US" sz="2800" b="0" i="0" u="none" strike="noStrike" cap="none">
                <a:solidFill>
                  <a:srgbClr val="595959"/>
                </a:solidFill>
                <a:latin typeface="Arial"/>
                <a:ea typeface="Arial"/>
                <a:cs typeface="Arial"/>
                <a:sym typeface="Arial"/>
              </a:rPr>
              <a:t>We can use the known values and a variable to write an equation.</a:t>
            </a:r>
            <a:endParaRPr sz="2800" b="1" i="0" u="none" strike="noStrike" cap="none">
              <a:solidFill>
                <a:srgbClr val="595959"/>
              </a:solidFill>
              <a:latin typeface="Arial"/>
              <a:ea typeface="Arial"/>
              <a:cs typeface="Arial"/>
              <a:sym typeface="Arial"/>
            </a:endParaRPr>
          </a:p>
        </p:txBody>
      </p:sp>
      <p:sp>
        <p:nvSpPr>
          <p:cNvPr id="842" name="Google Shape;842;p83"/>
          <p:cNvSpPr txBox="1"/>
          <p:nvPr/>
        </p:nvSpPr>
        <p:spPr>
          <a:xfrm>
            <a:off x="486000" y="936000"/>
            <a:ext cx="7997725" cy="295804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defRPr/>
            </a:pPr>
            <a:r>
              <a:rPr lang="en-US" sz="2800" b="0" i="0" u="none" strike="noStrike" cap="none">
                <a:solidFill>
                  <a:schemeClr val="dk1"/>
                </a:solidFill>
                <a:latin typeface="Arial"/>
                <a:ea typeface="Arial"/>
                <a:cs typeface="Arial"/>
                <a:sym typeface="Arial"/>
              </a:rPr>
              <a:t>The quantities are:</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1800"/>
              </a:spcBef>
              <a:spcAft>
                <a:spcPts val="0"/>
              </a:spcAft>
              <a:buClr>
                <a:schemeClr val="dk1"/>
              </a:buClr>
              <a:buSzPts val="2800"/>
              <a:buFont typeface="Arial"/>
              <a:buChar char="•"/>
              <a:defRPr/>
            </a:pPr>
            <a:r>
              <a:rPr lang="en-US" sz="2800" b="0" i="0" u="none" strike="noStrike" cap="none">
                <a:solidFill>
                  <a:schemeClr val="dk1"/>
                </a:solidFill>
                <a:latin typeface="Arial"/>
                <a:ea typeface="Arial"/>
                <a:cs typeface="Arial"/>
                <a:sym typeface="Arial"/>
              </a:rPr>
              <a:t>the total amount raised at the walk-a-thon</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1800"/>
              </a:spcBef>
              <a:spcAft>
                <a:spcPts val="0"/>
              </a:spcAft>
              <a:buClr>
                <a:schemeClr val="dk1"/>
              </a:buClr>
              <a:buSzPts val="2800"/>
              <a:buFont typeface="Arial"/>
              <a:buChar char="•"/>
              <a:defRPr/>
            </a:pPr>
            <a:r>
              <a:rPr lang="en-US" sz="2800" b="0" i="0" u="none" strike="noStrike" cap="none">
                <a:solidFill>
                  <a:schemeClr val="dk1"/>
                </a:solidFill>
                <a:latin typeface="Arial"/>
                <a:ea typeface="Arial"/>
                <a:cs typeface="Arial"/>
                <a:sym typeface="Arial"/>
              </a:rPr>
              <a:t>the amount donated to the food pantry</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1800"/>
              </a:spcBef>
              <a:spcAft>
                <a:spcPts val="0"/>
              </a:spcAft>
              <a:buClr>
                <a:schemeClr val="dk1"/>
              </a:buClr>
              <a:buSzPts val="2800"/>
              <a:buFont typeface="Arial"/>
              <a:buChar char="•"/>
              <a:defRPr/>
            </a:pPr>
            <a:r>
              <a:rPr lang="en-US" sz="2800" b="0" i="0" u="none" strike="noStrike" cap="none">
                <a:solidFill>
                  <a:schemeClr val="dk1"/>
                </a:solidFill>
                <a:latin typeface="Arial"/>
                <a:ea typeface="Arial"/>
                <a:cs typeface="Arial"/>
                <a:sym typeface="Arial"/>
              </a:rPr>
              <a:t>the amount remaining after donating to the food pantry</a:t>
            </a:r>
            <a:endParaRPr sz="1400" b="0" i="0" u="none" strike="noStrike" cap="none">
              <a:solidFill>
                <a:srgbClr val="000000"/>
              </a:solidFill>
              <a:latin typeface="Arial"/>
              <a:ea typeface="Arial"/>
              <a:cs typeface="Arial"/>
              <a:sym typeface="Arial"/>
            </a:endParaRPr>
          </a:p>
        </p:txBody>
      </p:sp>
      <p:sp>
        <p:nvSpPr>
          <p:cNvPr id="843"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35 / 54</a:t>
            </a:r>
          </a:p>
        </p:txBody>
      </p:sp>
      <p:sp>
        <p:nvSpPr>
          <p:cNvPr id="844" name="EWL-COVER-1"/>
          <p:cNvSpPr/>
          <p:nvPr/>
        </p:nvSpPr>
        <p:spPr>
          <a:xfrm>
            <a:off x="429701" y="4892384"/>
            <a:ext cx="11047845" cy="1111563"/>
          </a:xfrm>
          <a:prstGeom prst="rect">
            <a:avLst/>
          </a:prstGeom>
          <a:solidFill>
            <a:srgbClr val="FFFFFF"/>
          </a:solidFill>
          <a:ln>
            <a:noFill/>
          </a:ln>
        </p:spPr>
        <p:txBody>
          <a:bodyPr/>
          <a:lstStyle/>
          <a:p>
            <a:endParaRPr/>
          </a:p>
        </p:txBody>
      </p:sp>
      <p:grpSp>
        <p:nvGrpSpPr>
          <p:cNvPr id="845" name="TEACH-4-student-move" descr="TEACH 4 · Monitor progress and provide feedback"/>
          <p:cNvGrpSpPr/>
          <p:nvPr/>
        </p:nvGrpSpPr>
        <p:grpSpPr>
          <a:xfrm>
            <a:off x="502920" y="4591098"/>
            <a:ext cx="11186160" cy="402336"/>
            <a:chOff x="502920" y="3638598"/>
            <a:chExt cx="11186160" cy="402336"/>
          </a:xfrm>
        </p:grpSpPr>
        <p:sp>
          <p:nvSpPr>
            <p:cNvPr id="846" name="TEACH-move-card"/>
            <p:cNvSpPr/>
            <p:nvPr/>
          </p:nvSpPr>
          <p:spPr>
            <a:xfrm>
              <a:off x="502920" y="363859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847" name="TEACH-move-rule"/>
            <p:cNvSpPr/>
            <p:nvPr/>
          </p:nvSpPr>
          <p:spPr>
            <a:xfrm>
              <a:off x="548640" y="3715042"/>
              <a:ext cx="100584" cy="249448"/>
            </a:xfrm>
            <a:prstGeom prst="roundRect">
              <a:avLst>
                <a:gd name="adj" fmla="val 50000"/>
              </a:avLst>
            </a:prstGeom>
            <a:solidFill>
              <a:srgbClr val="01708C"/>
            </a:solidFill>
            <a:ln>
              <a:noFill/>
            </a:ln>
          </p:spPr>
          <p:txBody>
            <a:bodyPr/>
            <a:lstStyle/>
            <a:p>
              <a:endParaRPr/>
            </a:p>
          </p:txBody>
        </p:sp>
        <p:sp>
          <p:nvSpPr>
            <p:cNvPr id="848" name="TEACH-move-text"/>
            <p:cNvSpPr txBox="1"/>
            <p:nvPr/>
          </p:nvSpPr>
          <p:spPr>
            <a:xfrm>
              <a:off x="822960" y="363859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4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cxnSp>
        <p:nvCxnSpPr>
          <p:cNvPr id="859" name="Google Shape;859;p85"/>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860" name="Google Shape;860;p85"/>
          <p:cNvSpPr txBox="1"/>
          <p:nvPr/>
        </p:nvSpPr>
        <p:spPr>
          <a:xfrm>
            <a:off x="484565" y="316033"/>
            <a:ext cx="5029132" cy="6199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defRPr/>
            </a:pPr>
            <a:r>
              <a:rPr lang="en-US" sz="2800" b="1" i="0" u="none" strike="noStrike" cap="none">
                <a:solidFill>
                  <a:srgbClr val="782DA0"/>
                </a:solidFill>
                <a:latin typeface="Arial"/>
                <a:ea typeface="Arial"/>
                <a:cs typeface="Arial"/>
                <a:sym typeface="Arial"/>
              </a:rPr>
              <a:t>Tracking Sales</a:t>
            </a:r>
            <a:endParaRPr sz="2800" b="1" i="0" u="none" strike="noStrike" cap="none">
              <a:solidFill>
                <a:srgbClr val="7030A0"/>
              </a:solidFill>
              <a:latin typeface="Arial"/>
              <a:ea typeface="Arial"/>
              <a:cs typeface="Arial"/>
              <a:sym typeface="Arial"/>
            </a:endParaRPr>
          </a:p>
        </p:txBody>
      </p:sp>
      <p:sp>
        <p:nvSpPr>
          <p:cNvPr id="861" name="Google Shape;861;p85"/>
          <p:cNvSpPr txBox="1"/>
          <p:nvPr/>
        </p:nvSpPr>
        <p:spPr>
          <a:xfrm>
            <a:off x="486000" y="936000"/>
            <a:ext cx="6678462" cy="17617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defRPr/>
            </a:pPr>
            <a:r>
              <a:rPr lang="en-US" sz="2800" b="0" i="0" u="none" strike="noStrike" cap="none">
                <a:solidFill>
                  <a:schemeClr val="dk1"/>
                </a:solidFill>
                <a:latin typeface="Arial"/>
                <a:ea typeface="Arial"/>
                <a:cs typeface="Arial"/>
                <a:sym typeface="Arial"/>
              </a:rPr>
              <a:t>The students donated $168.50 to the local food pantry and now have the remaining money shown from the fundraiser.</a:t>
            </a:r>
            <a:endParaRPr sz="1400" b="0" i="0" u="none" strike="noStrike" cap="none">
              <a:solidFill>
                <a:srgbClr val="000000"/>
              </a:solidFill>
              <a:latin typeface="Arial"/>
              <a:ea typeface="Arial"/>
              <a:cs typeface="Arial"/>
              <a:sym typeface="Arial"/>
            </a:endParaRPr>
          </a:p>
        </p:txBody>
      </p:sp>
      <p:sp>
        <p:nvSpPr>
          <p:cNvPr id="862" name="Google Shape;862;p85"/>
          <p:cNvSpPr txBox="1"/>
          <p:nvPr/>
        </p:nvSpPr>
        <p:spPr>
          <a:xfrm>
            <a:off x="486000" y="4208856"/>
            <a:ext cx="8682742"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defRPr/>
            </a:pPr>
            <a:r>
              <a:rPr lang="en-US" sz="2800" b="0" i="0" u="none" strike="noStrike" cap="none">
                <a:solidFill>
                  <a:schemeClr val="dk1"/>
                </a:solidFill>
                <a:latin typeface="Arial"/>
                <a:ea typeface="Arial"/>
                <a:cs typeface="Arial"/>
                <a:sym typeface="Arial"/>
              </a:rPr>
              <a:t>total raised − amount donated = amount remaining</a:t>
            </a:r>
            <a:endParaRPr sz="2800" b="1" i="0" u="none" strike="noStrike" cap="none">
              <a:solidFill>
                <a:schemeClr val="dk1"/>
              </a:solidFill>
              <a:latin typeface="Arial"/>
              <a:ea typeface="Arial"/>
              <a:cs typeface="Arial"/>
              <a:sym typeface="Arial"/>
            </a:endParaRPr>
          </a:p>
        </p:txBody>
      </p:sp>
      <p:sp>
        <p:nvSpPr>
          <p:cNvPr id="863" name="Google Shape;863;p85"/>
          <p:cNvSpPr/>
          <p:nvPr/>
        </p:nvSpPr>
        <p:spPr>
          <a:xfrm>
            <a:off x="479525" y="2760801"/>
            <a:ext cx="6682257" cy="1384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defRPr/>
            </a:pPr>
            <a:r>
              <a:rPr lang="en-US" sz="2800" b="0" i="0" u="none" strike="noStrike" cap="none">
                <a:solidFill>
                  <a:schemeClr val="dk1"/>
                </a:solidFill>
                <a:latin typeface="Arial"/>
                <a:ea typeface="Arial"/>
                <a:cs typeface="Arial"/>
                <a:sym typeface="Arial"/>
              </a:rPr>
              <a:t>The difference between the total amount raised and the amount donated is equal to the amount remaining.</a:t>
            </a:r>
            <a:endParaRPr sz="2800" b="0" i="0" u="none" strike="noStrike" cap="none">
              <a:solidFill>
                <a:schemeClr val="dk1"/>
              </a:solidFill>
              <a:latin typeface="Arial"/>
              <a:ea typeface="Arial"/>
              <a:cs typeface="Arial"/>
              <a:sym typeface="Arial"/>
            </a:endParaRPr>
          </a:p>
        </p:txBody>
      </p:sp>
      <p:sp>
        <p:nvSpPr>
          <p:cNvPr id="864" name="Google Shape;864;p85"/>
          <p:cNvSpPr/>
          <p:nvPr/>
        </p:nvSpPr>
        <p:spPr>
          <a:xfrm>
            <a:off x="479525" y="4795136"/>
            <a:ext cx="9829597"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defRPr/>
            </a:pPr>
            <a:r>
              <a:rPr lang="en-US" sz="2800" b="1" i="0" u="none" strike="noStrike" cap="none">
                <a:solidFill>
                  <a:schemeClr val="dk1"/>
                </a:solidFill>
                <a:latin typeface="Arial"/>
                <a:ea typeface="Arial"/>
                <a:cs typeface="Arial"/>
                <a:sym typeface="Arial"/>
              </a:rPr>
              <a:t>How can you represent the relationship algebraically?</a:t>
            </a:r>
            <a:endParaRPr sz="2800" b="0" i="0" u="none" strike="noStrike" cap="none">
              <a:solidFill>
                <a:schemeClr val="dk1"/>
              </a:solidFill>
              <a:latin typeface="Arial"/>
              <a:ea typeface="Arial"/>
              <a:cs typeface="Arial"/>
              <a:sym typeface="Arial"/>
            </a:endParaRPr>
          </a:p>
        </p:txBody>
      </p:sp>
      <p:sp>
        <p:nvSpPr>
          <p:cNvPr id="865" name="Google Shape;865;p85"/>
          <p:cNvSpPr txBox="1"/>
          <p:nvPr/>
        </p:nvSpPr>
        <p:spPr>
          <a:xfrm>
            <a:off x="479525" y="5381417"/>
            <a:ext cx="10938117" cy="100183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defRPr/>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959"/>
              </a:buClr>
              <a:buSzPts val="2800"/>
              <a:buFont typeface="Arial"/>
              <a:buNone/>
              <a:defRPr/>
            </a:pPr>
            <a:r>
              <a:rPr lang="en-US" sz="2800" b="0" i="0" u="none" strike="noStrike" cap="none">
                <a:solidFill>
                  <a:srgbClr val="595959"/>
                </a:solidFill>
                <a:latin typeface="Arial"/>
                <a:ea typeface="Arial"/>
                <a:cs typeface="Arial"/>
                <a:sym typeface="Arial"/>
              </a:rPr>
              <a:t>We can use the known values and a variable to write an equation.</a:t>
            </a:r>
            <a:endParaRPr sz="2800" b="1" i="0" u="none" strike="noStrike" cap="none">
              <a:solidFill>
                <a:srgbClr val="595959"/>
              </a:solidFill>
              <a:latin typeface="Arial"/>
              <a:ea typeface="Arial"/>
              <a:cs typeface="Arial"/>
              <a:sym typeface="Arial"/>
            </a:endParaRPr>
          </a:p>
        </p:txBody>
      </p:sp>
      <p:pic>
        <p:nvPicPr>
          <p:cNvPr id="866" name="Google Shape;866;p85"/>
          <p:cNvPicPr preferRelativeResize="0"/>
          <p:nvPr/>
        </p:nvPicPr>
        <p:blipFill rotWithShape="1">
          <a:blip r:embed="rId3">
            <a:alphaModFix/>
          </a:blip>
          <a:srcRect/>
          <a:stretch/>
        </p:blipFill>
        <p:spPr>
          <a:xfrm>
            <a:off x="7161783" y="1268563"/>
            <a:ext cx="4848713" cy="2520000"/>
          </a:xfrm>
          <a:prstGeom prst="rect">
            <a:avLst/>
          </a:prstGeom>
          <a:noFill/>
          <a:ln>
            <a:noFill/>
          </a:ln>
        </p:spPr>
      </p:pic>
      <p:sp>
        <p:nvSpPr>
          <p:cNvPr id="867"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36 / 54</a:t>
            </a:r>
          </a:p>
        </p:txBody>
      </p:sp>
      <p:sp>
        <p:nvSpPr>
          <p:cNvPr id="868" name="EWL-COVER-1"/>
          <p:cNvSpPr/>
          <p:nvPr/>
        </p:nvSpPr>
        <p:spPr>
          <a:xfrm>
            <a:off x="424661" y="5326553"/>
            <a:ext cx="11047845" cy="1111563"/>
          </a:xfrm>
          <a:prstGeom prst="rect">
            <a:avLst/>
          </a:prstGeom>
          <a:solidFill>
            <a:srgbClr val="FFFFFF"/>
          </a:solidFill>
          <a:ln>
            <a:noFill/>
          </a:ln>
        </p:spPr>
        <p:txBody>
          <a:body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6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TAKE TURNS  ·  </a:t>
            </a:r>
            <a:r>
              <a:rPr lang="en-US" sz="2000" b="0" dirty="0">
                <a:solidFill>
                  <a:srgbClr val="13303A"/>
                </a:solidFill>
                <a:latin typeface="Arial"/>
              </a:rPr>
              <a:t>One explains, one asks a question. Then switch, so both of you talk.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37 / 54</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cxnSp>
        <p:nvCxnSpPr>
          <p:cNvPr id="883" name="Google Shape;883;p87"/>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884" name="Google Shape;884;p87"/>
          <p:cNvSpPr txBox="1"/>
          <p:nvPr/>
        </p:nvSpPr>
        <p:spPr>
          <a:xfrm>
            <a:off x="853200" y="316800"/>
            <a:ext cx="4779840"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pPr>
            <a:r>
              <a:rPr lang="en-US" sz="2800" b="1" i="0" u="none" strike="noStrike" cap="none">
                <a:solidFill>
                  <a:srgbClr val="782DA0"/>
                </a:solidFill>
                <a:latin typeface="Arial"/>
                <a:ea typeface="Arial"/>
                <a:cs typeface="Arial"/>
                <a:sym typeface="Arial"/>
              </a:rPr>
              <a:t>Collaborate and Connect</a:t>
            </a:r>
            <a:endParaRPr sz="1400" b="0" i="0" u="none" strike="noStrike" cap="none">
              <a:solidFill>
                <a:srgbClr val="000000"/>
              </a:solidFill>
              <a:latin typeface="Arial"/>
              <a:ea typeface="Arial"/>
              <a:cs typeface="Arial"/>
              <a:sym typeface="Arial"/>
            </a:endParaRPr>
          </a:p>
        </p:txBody>
      </p:sp>
      <p:pic>
        <p:nvPicPr>
          <p:cNvPr id="885" name="Google Shape;885;p87"/>
          <p:cNvPicPr preferRelativeResize="0"/>
          <p:nvPr/>
        </p:nvPicPr>
        <p:blipFill rotWithShape="1">
          <a:blip r:embed="rId3">
            <a:alphaModFix/>
          </a:blip>
          <a:srcRect/>
          <a:stretch/>
        </p:blipFill>
        <p:spPr>
          <a:xfrm>
            <a:off x="486000" y="383706"/>
            <a:ext cx="353635" cy="340537"/>
          </a:xfrm>
          <a:prstGeom prst="rect">
            <a:avLst/>
          </a:prstGeom>
          <a:noFill/>
          <a:ln>
            <a:noFill/>
          </a:ln>
        </p:spPr>
      </p:pic>
      <p:sp>
        <p:nvSpPr>
          <p:cNvPr id="886" name="Google Shape;886;p87"/>
          <p:cNvSpPr txBox="1"/>
          <p:nvPr/>
        </p:nvSpPr>
        <p:spPr>
          <a:xfrm>
            <a:off x="486000" y="5220000"/>
            <a:ext cx="11055940" cy="113529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959"/>
              </a:buClr>
              <a:buSzPts val="2800"/>
              <a:buFont typeface="Arial"/>
              <a:buNone/>
            </a:pPr>
            <a:r>
              <a:rPr lang="en-US" sz="2800" b="0" i="0" u="none" strike="noStrike" cap="none">
                <a:solidFill>
                  <a:srgbClr val="595959"/>
                </a:solidFill>
                <a:latin typeface="Arial"/>
                <a:ea typeface="Arial"/>
                <a:cs typeface="Arial"/>
                <a:sym typeface="Arial"/>
              </a:rPr>
              <a:t>We can use the inverse operation of subtraction, which is addition.</a:t>
            </a:r>
            <a:endParaRPr sz="2800" b="1" i="0" u="none" strike="noStrike" cap="none">
              <a:solidFill>
                <a:srgbClr val="595959"/>
              </a:solidFill>
              <a:latin typeface="Arial"/>
              <a:ea typeface="Arial"/>
              <a:cs typeface="Arial"/>
              <a:sym typeface="Arial"/>
            </a:endParaRPr>
          </a:p>
        </p:txBody>
      </p:sp>
      <p:sp>
        <p:nvSpPr>
          <p:cNvPr id="887" name="Google Shape;887;p87"/>
          <p:cNvSpPr txBox="1"/>
          <p:nvPr/>
        </p:nvSpPr>
        <p:spPr>
          <a:xfrm>
            <a:off x="486000" y="936000"/>
            <a:ext cx="8067450" cy="8723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800" b="0" i="0" u="none" strike="noStrike" cap="none">
                <a:solidFill>
                  <a:schemeClr val="dk1"/>
                </a:solidFill>
                <a:latin typeface="Arial"/>
                <a:ea typeface="Arial"/>
                <a:cs typeface="Arial"/>
                <a:sym typeface="Arial"/>
              </a:rPr>
              <a:t>We can represent the problem using a subtraction equation.</a:t>
            </a:r>
            <a:endParaRPr sz="1400" b="0" i="0" u="none" strike="noStrike" cap="none">
              <a:solidFill>
                <a:srgbClr val="000000"/>
              </a:solidFill>
              <a:latin typeface="Arial"/>
              <a:ea typeface="Arial"/>
              <a:cs typeface="Arial"/>
              <a:sym typeface="Arial"/>
            </a:endParaRPr>
          </a:p>
        </p:txBody>
      </p:sp>
      <p:sp>
        <p:nvSpPr>
          <p:cNvPr id="888" name="Google Shape;888;p87"/>
          <p:cNvSpPr/>
          <p:nvPr/>
        </p:nvSpPr>
        <p:spPr>
          <a:xfrm>
            <a:off x="486000" y="4597451"/>
            <a:ext cx="9359875"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Arial"/>
                <a:ea typeface="Arial"/>
                <a:cs typeface="Arial"/>
                <a:sym typeface="Arial"/>
              </a:rPr>
              <a:t>How can you find the unknown in the equation?</a:t>
            </a:r>
            <a:endParaRPr sz="2800" b="0" i="0" u="none" strike="noStrike" cap="none">
              <a:solidFill>
                <a:schemeClr val="dk1"/>
              </a:solidFill>
              <a:latin typeface="Arial"/>
              <a:ea typeface="Arial"/>
              <a:cs typeface="Arial"/>
              <a:sym typeface="Arial"/>
            </a:endParaRPr>
          </a:p>
        </p:txBody>
      </p:sp>
      <p:sp>
        <p:nvSpPr>
          <p:cNvPr id="889" name="Google Shape;889;p87"/>
          <p:cNvSpPr/>
          <p:nvPr/>
        </p:nvSpPr>
        <p:spPr>
          <a:xfrm>
            <a:off x="486000" y="1947702"/>
            <a:ext cx="9663280"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Arial"/>
                <a:ea typeface="Arial"/>
                <a:cs typeface="Arial"/>
                <a:sym typeface="Arial"/>
              </a:rPr>
              <a:t>This situation is looking for the whole given two parts.</a:t>
            </a:r>
            <a:endParaRPr sz="2800" b="0" i="0" u="none" strike="noStrike" cap="none">
              <a:solidFill>
                <a:schemeClr val="dk1"/>
              </a:solidFill>
              <a:latin typeface="Arial"/>
              <a:ea typeface="Arial"/>
              <a:cs typeface="Arial"/>
              <a:sym typeface="Arial"/>
            </a:endParaRPr>
          </a:p>
        </p:txBody>
      </p:sp>
      <p:pic>
        <p:nvPicPr>
          <p:cNvPr id="890" name="Google Shape;890;p87" descr="C:\Users\HP\Desktop\Grade_6_Unit_8\OPS\img\.assets\4497b92f5c57423589fc2dc7ccae8639\narm24_c10802_ebk_002a-eps.png"/>
          <p:cNvPicPr preferRelativeResize="0"/>
          <p:nvPr/>
        </p:nvPicPr>
        <p:blipFill rotWithShape="1">
          <a:blip r:embed="rId4">
            <a:alphaModFix/>
          </a:blip>
          <a:srcRect/>
          <a:stretch/>
        </p:blipFill>
        <p:spPr>
          <a:xfrm>
            <a:off x="2689546" y="2610262"/>
            <a:ext cx="3952875" cy="1847850"/>
          </a:xfrm>
          <a:prstGeom prst="rect">
            <a:avLst/>
          </a:prstGeom>
          <a:noFill/>
          <a:ln>
            <a:noFill/>
          </a:ln>
        </p:spPr>
      </p:pic>
      <p:sp>
        <p:nvSpPr>
          <p:cNvPr id="891"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38 / 54</a:t>
            </a:r>
          </a:p>
        </p:txBody>
      </p:sp>
      <p:sp>
        <p:nvSpPr>
          <p:cNvPr id="892" name="EWL-COVER-1"/>
          <p:cNvSpPr/>
          <p:nvPr/>
        </p:nvSpPr>
        <p:spPr>
          <a:xfrm>
            <a:off x="431136" y="5165136"/>
            <a:ext cx="11165668" cy="1245018"/>
          </a:xfrm>
          <a:prstGeom prst="rect">
            <a:avLst/>
          </a:prstGeom>
          <a:solidFill>
            <a:srgbClr val="FFFFFF"/>
          </a:solidFill>
          <a:ln>
            <a:noFill/>
          </a:ln>
        </p:spPr>
        <p:txBody>
          <a:bodyPr/>
          <a:lstStyle/>
          <a:p>
            <a:endParaRPr/>
          </a:p>
        </p:txBody>
      </p:sp>
      <p:sp>
        <p:nvSpPr>
          <p:cNvPr id="893" name="EWL-Routine"/>
          <p:cNvSpPr>
            <a:spLocks noGrp="1"/>
          </p:cNvSpPr>
          <p:nvPr/>
        </p:nvSpPr>
        <p:spPr>
          <a:xfrm>
            <a:off x="502920" y="54864"/>
            <a:ext cx="6035040" cy="237744"/>
          </a:xfrm>
          <a:prstGeom prst="rect">
            <a:avLst/>
          </a:prstGeom>
          <a:noFill/>
        </p:spPr>
        <p:txBody>
          <a:bodyPr wrap="square" lIns="0" tIns="0" rIns="0" bIns="0" anchor="ctr">
            <a:noAutofit/>
          </a:bodyPr>
          <a:lstStyle/>
          <a:p>
            <a:pPr algn="l"/>
            <a:r>
              <a:rPr lang="en-US" sz="1200" b="1">
                <a:solidFill>
                  <a:srgbClr val="1E2682"/>
                </a:solidFill>
                <a:latin typeface="Arial"/>
              </a:rPr>
              <a:t>COLLABORATE</a:t>
            </a:r>
            <a:r>
              <a:rPr lang="en-US" sz="1200" b="1">
                <a:solidFill>
                  <a:srgbClr val="5D6872"/>
                </a:solidFill>
                <a:latin typeface="Arial"/>
              </a:rPr>
              <a:t>  ·  TALK IT THROUGH • AGREE ON A MODEL</a:t>
            </a:r>
          </a:p>
        </p:txBody>
      </p:sp>
      <p:sp>
        <p:nvSpPr>
          <p:cNvPr id="894" name="TEACH-embedded-student-prompt" descr="Student thinking and response directions"/>
          <p:cNvSpPr txBox="1"/>
          <p:nvPr/>
        </p:nvSpPr>
        <p:spPr>
          <a:xfrm>
            <a:off x="7391400" y="33649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a:t>
            </a:r>
            <a:endParaRPr lang="en-US" sz="2000"/>
          </a:p>
          <a:p>
            <a:pPr>
              <a:lnSpc>
                <a:spcPts val="2400"/>
              </a:lnSpc>
              <a:buNone/>
            </a:pPr>
            <a:r>
              <a:rPr lang="en-US" sz="2000">
                <a:solidFill>
                  <a:srgbClr val="174D60"/>
                </a:solidFill>
                <a:latin typeface="Arial"/>
              </a:rPr>
              <a:t>evidence. Switch roles; both</a:t>
            </a:r>
            <a:endParaRPr lang="en-US" sz="2000"/>
          </a:p>
          <a:p>
            <a:pPr>
              <a:lnSpc>
                <a:spcPts val="2400"/>
              </a:lnSpc>
              <a:buNone/>
            </a:pPr>
            <a:r>
              <a:rPr lang="en-US" sz="2000">
                <a:solidFill>
                  <a:srgbClr val="174D60"/>
                </a:solidFill>
                <a:latin typeface="Arial"/>
              </a:rPr>
              <a:t>revise.</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9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cxnSp>
        <p:nvCxnSpPr>
          <p:cNvPr id="905" name="Google Shape;905;p89"/>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906" name="Google Shape;906;p89"/>
          <p:cNvSpPr txBox="1"/>
          <p:nvPr/>
        </p:nvSpPr>
        <p:spPr>
          <a:xfrm>
            <a:off x="484565" y="316033"/>
            <a:ext cx="5029132" cy="6199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defRPr/>
            </a:pPr>
            <a:r>
              <a:rPr lang="en-US" sz="2800" b="1" i="0" u="none" strike="noStrike" cap="none">
                <a:solidFill>
                  <a:srgbClr val="782DA0"/>
                </a:solidFill>
                <a:latin typeface="Arial"/>
                <a:ea typeface="Arial"/>
                <a:cs typeface="Arial"/>
                <a:sym typeface="Arial"/>
              </a:rPr>
              <a:t>Tracking Sales</a:t>
            </a:r>
            <a:endParaRPr sz="2800" b="1" i="0" u="none" strike="noStrike" cap="none">
              <a:solidFill>
                <a:srgbClr val="7030A0"/>
              </a:solidFill>
              <a:latin typeface="Arial"/>
              <a:ea typeface="Arial"/>
              <a:cs typeface="Arial"/>
              <a:sym typeface="Arial"/>
            </a:endParaRPr>
          </a:p>
        </p:txBody>
      </p:sp>
      <p:sp>
        <p:nvSpPr>
          <p:cNvPr id="907" name="Google Shape;907;p89"/>
          <p:cNvSpPr txBox="1"/>
          <p:nvPr/>
        </p:nvSpPr>
        <p:spPr>
          <a:xfrm>
            <a:off x="461189" y="5320802"/>
            <a:ext cx="6101536" cy="959380"/>
          </a:xfrm>
          <a:prstGeom prst="rect">
            <a:avLst/>
          </a:prstGeom>
          <a:blipFill rotWithShape="1">
            <a:blip r:embed="rId3">
              <a:alphaModFix/>
            </a:blip>
            <a:stretch>
              <a:fillRect l="-2098" t="-7007" b="-24205"/>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908" name="Google Shape;908;p89"/>
          <p:cNvSpPr txBox="1"/>
          <p:nvPr/>
        </p:nvSpPr>
        <p:spPr>
          <a:xfrm>
            <a:off x="486000" y="936000"/>
            <a:ext cx="8247724" cy="88795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defRPr/>
            </a:pPr>
            <a:r>
              <a:rPr lang="en-US" sz="2800" b="0" i="0" u="none" strike="noStrike" cap="none">
                <a:solidFill>
                  <a:schemeClr val="dk1"/>
                </a:solidFill>
                <a:latin typeface="Arial"/>
                <a:ea typeface="Arial"/>
                <a:cs typeface="Arial"/>
                <a:sym typeface="Arial"/>
              </a:rPr>
              <a:t>To solve a subtraction equation, you can use the inverse operation, addition.</a:t>
            </a:r>
            <a:endParaRPr sz="1400" b="0" i="0" u="none" strike="noStrike" cap="none">
              <a:solidFill>
                <a:srgbClr val="000000"/>
              </a:solidFill>
              <a:latin typeface="Arial"/>
              <a:ea typeface="Arial"/>
              <a:cs typeface="Arial"/>
              <a:sym typeface="Arial"/>
            </a:endParaRPr>
          </a:p>
        </p:txBody>
      </p:sp>
      <p:sp>
        <p:nvSpPr>
          <p:cNvPr id="909" name="Google Shape;909;p89"/>
          <p:cNvSpPr/>
          <p:nvPr/>
        </p:nvSpPr>
        <p:spPr>
          <a:xfrm>
            <a:off x="484565" y="1999939"/>
            <a:ext cx="10773494" cy="95410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defRPr/>
            </a:pPr>
            <a:r>
              <a:rPr lang="en-US" sz="2800" b="0" i="0" u="none" strike="noStrike" cap="none">
                <a:solidFill>
                  <a:schemeClr val="dk1"/>
                </a:solidFill>
                <a:latin typeface="Arial"/>
                <a:ea typeface="Arial"/>
                <a:cs typeface="Arial"/>
                <a:sym typeface="Arial"/>
              </a:rPr>
              <a:t>The </a:t>
            </a:r>
            <a:r>
              <a:rPr lang="en-US" sz="2800" b="1" i="0" u="none" strike="noStrike" cap="none">
                <a:solidFill>
                  <a:srgbClr val="23282D"/>
                </a:solidFill>
                <a:highlight>
                  <a:srgbClr val="FFFF00"/>
                </a:highlight>
                <a:latin typeface="Arial"/>
                <a:ea typeface="Arial"/>
                <a:cs typeface="Arial"/>
                <a:sym typeface="Arial"/>
              </a:rPr>
              <a:t>Addition Property of Equality </a:t>
            </a:r>
            <a:r>
              <a:rPr lang="en-US" sz="2800" b="0" i="0" u="none" strike="noStrike" cap="none">
                <a:solidFill>
                  <a:schemeClr val="dk1"/>
                </a:solidFill>
                <a:latin typeface="Arial"/>
                <a:ea typeface="Arial"/>
                <a:cs typeface="Arial"/>
                <a:sym typeface="Arial"/>
              </a:rPr>
              <a:t>states that you can add the same value to each side of the equation and maintain the equality. </a:t>
            </a:r>
            <a:endParaRPr sz="2800" b="0" i="0" u="none" strike="noStrike" cap="none">
              <a:solidFill>
                <a:schemeClr val="dk1"/>
              </a:solidFill>
              <a:latin typeface="Arial"/>
              <a:ea typeface="Arial"/>
              <a:cs typeface="Arial"/>
              <a:sym typeface="Arial"/>
            </a:endParaRPr>
          </a:p>
        </p:txBody>
      </p:sp>
      <p:graphicFrame>
        <p:nvGraphicFramePr>
          <p:cNvPr id="910" name="Google Shape;910;p89"/>
          <p:cNvGraphicFramePr/>
          <p:nvPr/>
        </p:nvGraphicFramePr>
        <p:xfrm>
          <a:off x="461189" y="3130033"/>
          <a:ext cx="3000000" cy="3000000"/>
        </p:xfrm>
        <a:graphic>
          <a:graphicData uri="http://schemas.openxmlformats.org/drawingml/2006/table">
            <a:tbl>
              <a:tblPr firstRow="1" bandRow="1">
                <a:noFill/>
                <a:tableStyleId>{2100F830-D993-43D5-AE6B-42256369E761}</a:tableStyleId>
              </a:tblPr>
              <a:tblGrid>
                <a:gridCol w="6644450">
                  <a:extLst>
                    <a:ext uri="{9D8B030D-6E8A-4147-A177-3AD203B41FA5}">
                      <a16:colId xmlns:a16="http://schemas.microsoft.com/office/drawing/2014/main" val="20000"/>
                    </a:ext>
                  </a:extLst>
                </a:gridCol>
                <a:gridCol w="4410075">
                  <a:extLst>
                    <a:ext uri="{9D8B030D-6E8A-4147-A177-3AD203B41FA5}">
                      <a16:colId xmlns:a16="http://schemas.microsoft.com/office/drawing/2014/main" val="20001"/>
                    </a:ext>
                  </a:extLst>
                </a:gridCol>
              </a:tblGrid>
              <a:tr h="51867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2600"/>
                        <a:buFont typeface="Arial"/>
                        <a:buNone/>
                      </a:pPr>
                      <a:endParaRPr sz="26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48767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2600"/>
                        <a:buFont typeface="Arial"/>
                        <a:buNone/>
                      </a:pPr>
                      <a:r>
                        <a:rPr lang="en-US" sz="2600" u="none" strike="noStrike" cap="none">
                          <a:latin typeface="Arial"/>
                          <a:ea typeface="Arial"/>
                          <a:cs typeface="Arial"/>
                          <a:sym typeface="Arial"/>
                        </a:rPr>
                        <a:t>Addition Property of Equality</a:t>
                      </a:r>
                      <a:endParaRPr sz="1400" u="none" strike="noStrike" cap="none"/>
                    </a:p>
                  </a:txBody>
                  <a:tcPr marL="91450" marR="91450" marT="45725" marB="45725"/>
                </a:tc>
                <a:extLst>
                  <a:ext uri="{0D108BD9-81ED-4DB2-BD59-A6C34878D82A}">
                    <a16:rowId xmlns:a16="http://schemas.microsoft.com/office/drawing/2014/main" val="10001"/>
                  </a:ext>
                </a:extLst>
              </a:tr>
              <a:tr h="48767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600"/>
                        <a:buFont typeface="Arial"/>
                        <a:buNone/>
                      </a:pPr>
                      <a:r>
                        <a:rPr lang="en-US" sz="2600" u="none" strike="noStrike" cap="none">
                          <a:latin typeface="Arial"/>
                          <a:ea typeface="Arial"/>
                          <a:cs typeface="Arial"/>
                          <a:sym typeface="Arial"/>
                        </a:rPr>
                        <a:t>Add.</a:t>
                      </a:r>
                      <a:endParaRPr sz="1400" u="none" strike="noStrike" cap="none"/>
                    </a:p>
                  </a:txBody>
                  <a:tcPr marL="91450" marR="91450" marT="45725" marB="45725"/>
                </a:tc>
                <a:extLst>
                  <a:ext uri="{0D108BD9-81ED-4DB2-BD59-A6C34878D82A}">
                    <a16:rowId xmlns:a16="http://schemas.microsoft.com/office/drawing/2014/main" val="10002"/>
                  </a:ext>
                </a:extLst>
              </a:tr>
              <a:tr h="48767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2600"/>
                        <a:buFont typeface="Arial"/>
                        <a:buNone/>
                      </a:pPr>
                      <a:r>
                        <a:rPr lang="en-US" sz="2600" u="none" strike="noStrike" cap="none">
                          <a:latin typeface="Arial"/>
                          <a:ea typeface="Arial"/>
                          <a:cs typeface="Arial"/>
                          <a:sym typeface="Arial"/>
                        </a:rPr>
                        <a:t>Simplify.</a:t>
                      </a:r>
                      <a:endParaRPr sz="2600" u="none" strike="noStrike" cap="none">
                        <a:latin typeface="Cambria Math"/>
                        <a:ea typeface="Cambria Math"/>
                        <a:cs typeface="Cambria Math"/>
                        <a:sym typeface="Cambria Math"/>
                      </a:endParaRPr>
                    </a:p>
                  </a:txBody>
                  <a:tcPr marL="91450" marR="91450" marT="45725" marB="45725"/>
                </a:tc>
                <a:extLst>
                  <a:ext uri="{0D108BD9-81ED-4DB2-BD59-A6C34878D82A}">
                    <a16:rowId xmlns:a16="http://schemas.microsoft.com/office/drawing/2014/main" val="10003"/>
                  </a:ext>
                </a:extLst>
              </a:tr>
            </a:tbl>
          </a:graphicData>
        </a:graphic>
      </p:graphicFrame>
      <p:sp>
        <p:nvSpPr>
          <p:cNvPr id="911"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39 / 54</a:t>
            </a:r>
          </a:p>
        </p:txBody>
      </p:sp>
      <p:grpSp>
        <p:nvGrpSpPr>
          <p:cNvPr id="912" name="TEACH-2-student-move" descr="TEACH 2 · Use strategies and tasks to engage students in rigorous work"/>
          <p:cNvGrpSpPr/>
          <p:nvPr/>
        </p:nvGrpSpPr>
        <p:grpSpPr>
          <a:xfrm>
            <a:off x="6187440" y="5101346"/>
            <a:ext cx="5501640" cy="594360"/>
            <a:chOff x="6187440" y="4644146"/>
            <a:chExt cx="5501640" cy="594360"/>
          </a:xfrm>
        </p:grpSpPr>
        <p:sp>
          <p:nvSpPr>
            <p:cNvPr id="913" name="TEACH-move-card"/>
            <p:cNvSpPr/>
            <p:nvPr/>
          </p:nvSpPr>
          <p:spPr>
            <a:xfrm>
              <a:off x="6187440" y="464414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14" name="TEACH-move-rule"/>
            <p:cNvSpPr/>
            <p:nvPr/>
          </p:nvSpPr>
          <p:spPr>
            <a:xfrm>
              <a:off x="6233160" y="4757074"/>
              <a:ext cx="100584" cy="368504"/>
            </a:xfrm>
            <a:prstGeom prst="roundRect">
              <a:avLst>
                <a:gd name="adj" fmla="val 50000"/>
              </a:avLst>
            </a:prstGeom>
            <a:solidFill>
              <a:srgbClr val="01708C"/>
            </a:solidFill>
            <a:ln>
              <a:noFill/>
            </a:ln>
          </p:spPr>
          <p:txBody>
            <a:bodyPr/>
            <a:lstStyle/>
            <a:p>
              <a:endParaRPr/>
            </a:p>
          </p:txBody>
        </p:sp>
        <p:sp>
          <p:nvSpPr>
            <p:cNvPr id="915" name="TEACH-move-text"/>
            <p:cNvSpPr txBox="1"/>
            <p:nvPr/>
          </p:nvSpPr>
          <p:spPr>
            <a:xfrm>
              <a:off x="6507480" y="464414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PICK YOUR STRATEGY  ·  </a:t>
              </a:r>
              <a:r>
                <a:rPr lang="en-US" sz="1200" dirty="0">
                  <a:solidFill>
                    <a:srgbClr val="13303A"/>
                  </a:solidFill>
                  <a:latin typeface="Arial"/>
                </a:rPr>
                <a:t>Choose your path — picture, table, number line, or equation — and be ready to say why you chose it.</a:t>
              </a:r>
              <a:endParaRPr lang="en-US" sz="1200"/>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cxnSp>
        <p:nvCxnSpPr>
          <p:cNvPr id="915" name="Google Shape;915;p90"/>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916" name="Google Shape;916;p90"/>
          <p:cNvSpPr txBox="1"/>
          <p:nvPr/>
        </p:nvSpPr>
        <p:spPr>
          <a:xfrm>
            <a:off x="484565" y="316033"/>
            <a:ext cx="5029132" cy="78943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pPr>
            <a:r>
              <a:rPr lang="en-US" sz="2800" b="1" i="0" u="none" strike="noStrike" cap="none">
                <a:solidFill>
                  <a:srgbClr val="782DA0"/>
                </a:solidFill>
                <a:latin typeface="Arial"/>
                <a:ea typeface="Arial"/>
                <a:cs typeface="Arial"/>
                <a:sym typeface="Arial"/>
              </a:rPr>
              <a:t>School Broccoli</a:t>
            </a:r>
            <a:endParaRPr sz="2800" b="1" i="0" u="none" strike="noStrike" cap="none">
              <a:solidFill>
                <a:srgbClr val="7030A0"/>
              </a:solidFill>
              <a:latin typeface="Arial"/>
              <a:ea typeface="Arial"/>
              <a:cs typeface="Arial"/>
              <a:sym typeface="Arial"/>
            </a:endParaRPr>
          </a:p>
        </p:txBody>
      </p:sp>
      <p:sp>
        <p:nvSpPr>
          <p:cNvPr id="917" name="Google Shape;917;p90"/>
          <p:cNvSpPr txBox="1"/>
          <p:nvPr/>
        </p:nvSpPr>
        <p:spPr>
          <a:xfrm>
            <a:off x="486000" y="936001"/>
            <a:ext cx="6416245" cy="276922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800" b="0" i="0" u="none" strike="noStrike" cap="none">
                <a:solidFill>
                  <a:schemeClr val="dk1"/>
                </a:solidFill>
                <a:latin typeface="Arial"/>
                <a:ea typeface="Arial"/>
                <a:cs typeface="Arial"/>
                <a:sym typeface="Arial"/>
              </a:rPr>
              <a:t>The students at a local middle school collected money from a walk-a-thon fundraiser. They donated $168.50 to the local food pantry and now have the remaining money shown from the fundraiser.</a:t>
            </a:r>
            <a:endParaRPr sz="1400" b="0" i="0" u="none" strike="noStrike" cap="none">
              <a:solidFill>
                <a:srgbClr val="000000"/>
              </a:solidFill>
              <a:latin typeface="Arial"/>
              <a:ea typeface="Arial"/>
              <a:cs typeface="Arial"/>
              <a:sym typeface="Arial"/>
            </a:endParaRPr>
          </a:p>
        </p:txBody>
      </p:sp>
      <p:sp>
        <p:nvSpPr>
          <p:cNvPr id="918" name="Google Shape;918;p90"/>
          <p:cNvSpPr txBox="1"/>
          <p:nvPr/>
        </p:nvSpPr>
        <p:spPr>
          <a:xfrm>
            <a:off x="483875" y="3896855"/>
            <a:ext cx="6677908"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Arial"/>
                <a:ea typeface="Arial"/>
                <a:cs typeface="Arial"/>
                <a:sym typeface="Arial"/>
              </a:rPr>
              <a:t>How much money did the students raise at the walk-a-thon?</a:t>
            </a:r>
            <a:endParaRPr sz="2800" b="0" i="0" u="none" strike="noStrike" cap="none">
              <a:solidFill>
                <a:schemeClr val="dk1"/>
              </a:solidFill>
              <a:latin typeface="Arial"/>
              <a:ea typeface="Arial"/>
              <a:cs typeface="Arial"/>
              <a:sym typeface="Arial"/>
            </a:endParaRPr>
          </a:p>
        </p:txBody>
      </p:sp>
      <p:sp>
        <p:nvSpPr>
          <p:cNvPr id="919" name="Google Shape;919;p90"/>
          <p:cNvSpPr/>
          <p:nvPr/>
        </p:nvSpPr>
        <p:spPr>
          <a:xfrm>
            <a:off x="681531" y="5132367"/>
            <a:ext cx="6282596" cy="95410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Arial"/>
                <a:ea typeface="Arial"/>
                <a:cs typeface="Arial"/>
                <a:sym typeface="Arial"/>
              </a:rPr>
              <a:t>The students raised $454.29 at the walk-a-thon.</a:t>
            </a:r>
            <a:endParaRPr sz="2800" b="0" i="0" u="none" strike="noStrike" cap="none">
              <a:solidFill>
                <a:schemeClr val="dk1"/>
              </a:solidFill>
              <a:latin typeface="Arial"/>
              <a:ea typeface="Arial"/>
              <a:cs typeface="Arial"/>
              <a:sym typeface="Arial"/>
            </a:endParaRPr>
          </a:p>
        </p:txBody>
      </p:sp>
      <p:sp>
        <p:nvSpPr>
          <p:cNvPr id="920" name="Google Shape;920;p90"/>
          <p:cNvSpPr/>
          <p:nvPr/>
        </p:nvSpPr>
        <p:spPr>
          <a:xfrm>
            <a:off x="483876" y="5042591"/>
            <a:ext cx="6677908" cy="1101033"/>
          </a:xfrm>
          <a:prstGeom prst="rect">
            <a:avLst/>
          </a:prstGeom>
          <a:noFill/>
          <a:ln w="12700" cap="flat" cmpd="sng">
            <a:solidFill>
              <a:srgbClr val="7030A0"/>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Calibri"/>
              <a:cs typeface="Calibri"/>
              <a:sym typeface="Calibri"/>
            </a:endParaRPr>
          </a:p>
        </p:txBody>
      </p:sp>
      <p:pic>
        <p:nvPicPr>
          <p:cNvPr id="921" name="Google Shape;921;p90"/>
          <p:cNvPicPr preferRelativeResize="0"/>
          <p:nvPr/>
        </p:nvPicPr>
        <p:blipFill rotWithShape="1">
          <a:blip r:embed="rId3">
            <a:alphaModFix/>
          </a:blip>
          <a:srcRect/>
          <a:stretch/>
        </p:blipFill>
        <p:spPr>
          <a:xfrm>
            <a:off x="7161783" y="1268563"/>
            <a:ext cx="4848713" cy="2520000"/>
          </a:xfrm>
          <a:prstGeom prst="rect">
            <a:avLst/>
          </a:prstGeom>
          <a:noFill/>
          <a:ln>
            <a:noFill/>
          </a:ln>
        </p:spPr>
      </p:pic>
      <p:sp>
        <p:nvSpPr>
          <p:cNvPr id="92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40 / 54</a:t>
            </a:r>
          </a:p>
        </p:txBody>
      </p:sp>
      <p:sp>
        <p:nvSpPr>
          <p:cNvPr id="923"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a:t>
            </a:r>
            <a:endParaRPr lang="en-US" sz="2000"/>
          </a:p>
          <a:p>
            <a:pPr>
              <a:lnSpc>
                <a:spcPts val="2400"/>
              </a:lnSpc>
              <a:buNone/>
            </a:pPr>
            <a:r>
              <a:rPr lang="en-US" sz="2000">
                <a:solidFill>
                  <a:srgbClr val="174D60"/>
                </a:solidFill>
                <a:latin typeface="Arial"/>
              </a:rPr>
              <a:t>of your work supports your</a:t>
            </a:r>
            <a:endParaRPr lang="en-US" sz="2000"/>
          </a:p>
          <a:p>
            <a:pPr>
              <a:lnSpc>
                <a:spcPts val="2400"/>
              </a:lnSpc>
              <a:buNone/>
            </a:pPr>
            <a:r>
              <a:rPr lang="en-US" sz="2000">
                <a:solidFill>
                  <a:srgbClr val="174D60"/>
                </a:solidFill>
                <a:latin typeface="Arial"/>
              </a:rPr>
              <a:t>answer?</a:t>
            </a:r>
            <a:endParaRPr lang="en-US" sz="20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cxnSp>
        <p:nvCxnSpPr>
          <p:cNvPr id="926" name="Google Shape;926;p91"/>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927" name="Google Shape;927;p91"/>
          <p:cNvSpPr txBox="1"/>
          <p:nvPr/>
        </p:nvSpPr>
        <p:spPr>
          <a:xfrm>
            <a:off x="484565" y="316034"/>
            <a:ext cx="5492675" cy="53740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1" i="0" u="none" strike="noStrike" cap="none">
                <a:solidFill>
                  <a:srgbClr val="782DA0"/>
                </a:solidFill>
                <a:latin typeface="Arial"/>
                <a:ea typeface="Arial"/>
                <a:cs typeface="Arial"/>
                <a:sym typeface="Arial"/>
              </a:rPr>
              <a:t>Let’s Explore More</a:t>
            </a:r>
            <a:endParaRPr sz="1400" b="0" i="0" u="none" strike="noStrike" cap="none">
              <a:solidFill>
                <a:srgbClr val="000000"/>
              </a:solidFill>
              <a:latin typeface="Arial"/>
              <a:ea typeface="Arial"/>
              <a:cs typeface="Arial"/>
              <a:sym typeface="Arial"/>
            </a:endParaRPr>
          </a:p>
        </p:txBody>
      </p:sp>
      <p:sp>
        <p:nvSpPr>
          <p:cNvPr id="928" name="Google Shape;928;p91"/>
          <p:cNvSpPr txBox="1"/>
          <p:nvPr/>
        </p:nvSpPr>
        <p:spPr>
          <a:xfrm>
            <a:off x="484565" y="936000"/>
            <a:ext cx="7383085" cy="18643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defRPr/>
            </a:pPr>
            <a:r>
              <a:rPr lang="en-US" sz="2800" b="0" i="0" u="none" strike="noStrike" cap="none">
                <a:solidFill>
                  <a:schemeClr val="dk1"/>
                </a:solidFill>
                <a:latin typeface="Arial"/>
                <a:ea typeface="Arial"/>
                <a:cs typeface="Arial"/>
                <a:sym typeface="Arial"/>
              </a:rPr>
              <a:t>The equation shown was used to the represent and solve the following problem: How much money did the students raise at the walk-a-thon?</a:t>
            </a:r>
            <a:endParaRPr sz="1400" b="0" i="0" u="none" strike="noStrike" cap="none">
              <a:solidFill>
                <a:srgbClr val="000000"/>
              </a:solidFill>
              <a:latin typeface="Arial"/>
              <a:ea typeface="Arial"/>
              <a:cs typeface="Arial"/>
              <a:sym typeface="Arial"/>
            </a:endParaRPr>
          </a:p>
        </p:txBody>
      </p:sp>
      <p:pic>
        <p:nvPicPr>
          <p:cNvPr id="929" name="Google Shape;929;p91" descr="C:\Users\HP\Desktop\Grade_6_Unit_8\OPS\img\.assets\4497b92f5c57423589fc2dc7ccae8639\narm24_c10802_ebk_002a-eps.png"/>
          <p:cNvPicPr preferRelativeResize="0"/>
          <p:nvPr/>
        </p:nvPicPr>
        <p:blipFill rotWithShape="1">
          <a:blip r:embed="rId3">
            <a:alphaModFix/>
          </a:blip>
          <a:srcRect/>
          <a:stretch/>
        </p:blipFill>
        <p:spPr>
          <a:xfrm>
            <a:off x="2152044" y="3327049"/>
            <a:ext cx="6126956" cy="2864168"/>
          </a:xfrm>
          <a:prstGeom prst="rect">
            <a:avLst/>
          </a:prstGeom>
          <a:noFill/>
          <a:ln>
            <a:noFill/>
          </a:ln>
        </p:spPr>
      </p:pic>
      <p:sp>
        <p:nvSpPr>
          <p:cNvPr id="930"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41 / 54</a:t>
            </a:r>
          </a:p>
        </p:txBody>
      </p:sp>
      <p:grpSp>
        <p:nvGrpSpPr>
          <p:cNvPr id="931" name="TEACH-2-student-move" descr="TEACH 2 · Use strategies and tasks to engage students in rigorous work"/>
          <p:cNvGrpSpPr/>
          <p:nvPr/>
        </p:nvGrpSpPr>
        <p:grpSpPr>
          <a:xfrm>
            <a:off x="502920" y="2888137"/>
            <a:ext cx="11186160" cy="402336"/>
            <a:chOff x="502920" y="2888137"/>
            <a:chExt cx="11186160" cy="402336"/>
          </a:xfrm>
        </p:grpSpPr>
        <p:sp>
          <p:nvSpPr>
            <p:cNvPr id="932" name="TEACH-move-card"/>
            <p:cNvSpPr/>
            <p:nvPr/>
          </p:nvSpPr>
          <p:spPr>
            <a:xfrm>
              <a:off x="502920" y="2888137"/>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33" name="TEACH-move-rule"/>
            <p:cNvSpPr/>
            <p:nvPr/>
          </p:nvSpPr>
          <p:spPr>
            <a:xfrm>
              <a:off x="548640" y="2964581"/>
              <a:ext cx="100584" cy="249448"/>
            </a:xfrm>
            <a:prstGeom prst="roundRect">
              <a:avLst>
                <a:gd name="adj" fmla="val 50000"/>
              </a:avLst>
            </a:prstGeom>
            <a:solidFill>
              <a:srgbClr val="01708C"/>
            </a:solidFill>
            <a:ln>
              <a:noFill/>
            </a:ln>
          </p:spPr>
          <p:txBody>
            <a:bodyPr/>
            <a:lstStyle/>
            <a:p>
              <a:endParaRPr/>
            </a:p>
          </p:txBody>
        </p:sp>
        <p:sp>
          <p:nvSpPr>
            <p:cNvPr id="934" name="TEACH-move-text"/>
            <p:cNvSpPr txBox="1"/>
            <p:nvPr/>
          </p:nvSpPr>
          <p:spPr>
            <a:xfrm>
              <a:off x="822960" y="2888137"/>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cxnSp>
        <p:nvCxnSpPr>
          <p:cNvPr id="934" name="Google Shape;934;p92"/>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935" name="Google Shape;935;p92"/>
          <p:cNvSpPr txBox="1"/>
          <p:nvPr/>
        </p:nvSpPr>
        <p:spPr>
          <a:xfrm>
            <a:off x="484565" y="316034"/>
            <a:ext cx="5492675" cy="53740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1" i="0" u="none" strike="noStrike" cap="none">
                <a:solidFill>
                  <a:srgbClr val="782DA0"/>
                </a:solidFill>
                <a:latin typeface="Arial"/>
                <a:ea typeface="Arial"/>
                <a:cs typeface="Arial"/>
                <a:sym typeface="Arial"/>
              </a:rPr>
              <a:t>Let’s Explore More</a:t>
            </a:r>
            <a:endParaRPr sz="1400" b="0" i="0" u="none" strike="noStrike" cap="none">
              <a:solidFill>
                <a:srgbClr val="000000"/>
              </a:solidFill>
              <a:latin typeface="Arial"/>
              <a:ea typeface="Arial"/>
              <a:cs typeface="Arial"/>
              <a:sym typeface="Arial"/>
            </a:endParaRPr>
          </a:p>
        </p:txBody>
      </p:sp>
      <p:sp>
        <p:nvSpPr>
          <p:cNvPr id="936" name="Google Shape;936;p92"/>
          <p:cNvSpPr txBox="1"/>
          <p:nvPr/>
        </p:nvSpPr>
        <p:spPr>
          <a:xfrm>
            <a:off x="6898905" y="3005293"/>
            <a:ext cx="1206869"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defRPr/>
            </a:pPr>
            <a:r>
              <a:rPr lang="en-US" sz="1600" b="0" i="0" u="none" strike="noStrike" cap="none">
                <a:solidFill>
                  <a:srgbClr val="BFBFBF"/>
                </a:solidFill>
                <a:latin typeface="Arial"/>
                <a:ea typeface="Arial"/>
                <a:cs typeface="Arial"/>
                <a:sym typeface="Arial"/>
              </a:rPr>
              <a:t>Workspace</a:t>
            </a:r>
            <a:endParaRPr sz="1400" b="0" i="0" u="none" strike="noStrike" cap="none">
              <a:solidFill>
                <a:srgbClr val="000000"/>
              </a:solidFill>
              <a:latin typeface="Arial"/>
              <a:ea typeface="Arial"/>
              <a:cs typeface="Arial"/>
              <a:sym typeface="Arial"/>
            </a:endParaRPr>
          </a:p>
        </p:txBody>
      </p:sp>
      <p:sp>
        <p:nvSpPr>
          <p:cNvPr id="937" name="Google Shape;937;p92"/>
          <p:cNvSpPr/>
          <p:nvPr/>
        </p:nvSpPr>
        <p:spPr>
          <a:xfrm>
            <a:off x="492035" y="1957175"/>
            <a:ext cx="7613740" cy="1454154"/>
          </a:xfrm>
          <a:prstGeom prst="rect">
            <a:avLst/>
          </a:prstGeom>
          <a:noFill/>
          <a:ln w="12700" cap="flat" cmpd="sng">
            <a:solidFill>
              <a:srgbClr val="8296B0"/>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Calibri"/>
              <a:cs typeface="Calibri"/>
              <a:sym typeface="Calibri"/>
            </a:endParaRPr>
          </a:p>
        </p:txBody>
      </p:sp>
      <p:sp>
        <p:nvSpPr>
          <p:cNvPr id="938" name="Google Shape;938;p92"/>
          <p:cNvSpPr/>
          <p:nvPr/>
        </p:nvSpPr>
        <p:spPr>
          <a:xfrm>
            <a:off x="486001" y="936000"/>
            <a:ext cx="7038750" cy="954107"/>
          </a:xfrm>
          <a:prstGeom prst="rect">
            <a:avLst/>
          </a:prstGeom>
          <a:noFill/>
          <a:ln>
            <a:noFill/>
          </a:ln>
        </p:spPr>
        <p:txBody>
          <a:bodyPr spcFirstLastPara="1" wrap="square" lIns="91425" tIns="45700" rIns="91425" bIns="45700" anchor="t" anchorCtr="0">
            <a:noAutofit/>
          </a:bodyPr>
          <a:lstStyle/>
          <a:p>
            <a:pPr marL="514350" marR="0" lvl="0" indent="-514350" algn="l" rtl="0">
              <a:lnSpc>
                <a:spcPct val="100000"/>
              </a:lnSpc>
              <a:spcBef>
                <a:spcPts val="0"/>
              </a:spcBef>
              <a:spcAft>
                <a:spcPts val="0"/>
              </a:spcAft>
              <a:buClr>
                <a:schemeClr val="dk1"/>
              </a:buClr>
              <a:buSzPts val="2800"/>
              <a:buFont typeface="Calibri"/>
              <a:buAutoNum type="alphaLcPeriod"/>
              <a:defRPr/>
            </a:pPr>
            <a:r>
              <a:rPr lang="en-US" sz="2800" b="0" i="0" u="none" strike="noStrike" cap="none">
                <a:solidFill>
                  <a:schemeClr val="dk1"/>
                </a:solidFill>
                <a:latin typeface="Arial"/>
                <a:ea typeface="Arial"/>
                <a:cs typeface="Arial"/>
                <a:sym typeface="Arial"/>
              </a:rPr>
              <a:t>What other equation can represent the problem?</a:t>
            </a:r>
            <a:endParaRPr sz="2800" b="0" i="0" u="none" strike="noStrike" cap="none">
              <a:solidFill>
                <a:schemeClr val="dk1"/>
              </a:solidFill>
              <a:latin typeface="Arial"/>
              <a:ea typeface="Arial"/>
              <a:cs typeface="Arial"/>
              <a:sym typeface="Arial"/>
            </a:endParaRPr>
          </a:p>
        </p:txBody>
      </p:sp>
      <p:sp>
        <p:nvSpPr>
          <p:cNvPr id="939" name="Google Shape;939;p92"/>
          <p:cNvSpPr/>
          <p:nvPr/>
        </p:nvSpPr>
        <p:spPr>
          <a:xfrm>
            <a:off x="484565" y="3524918"/>
            <a:ext cx="7621210" cy="1384995"/>
          </a:xfrm>
          <a:prstGeom prst="rect">
            <a:avLst/>
          </a:prstGeom>
          <a:noFill/>
          <a:ln>
            <a:noFill/>
          </a:ln>
        </p:spPr>
        <p:txBody>
          <a:bodyPr spcFirstLastPara="1" wrap="square" lIns="91425" tIns="45700" rIns="91425" bIns="45700" anchor="t" anchorCtr="0">
            <a:noAutofit/>
          </a:bodyPr>
          <a:lstStyle/>
          <a:p>
            <a:pPr marL="514350" marR="0" lvl="0" indent="-514350" algn="l" rtl="0">
              <a:lnSpc>
                <a:spcPct val="100000"/>
              </a:lnSpc>
              <a:spcBef>
                <a:spcPts val="0"/>
              </a:spcBef>
              <a:spcAft>
                <a:spcPts val="0"/>
              </a:spcAft>
              <a:buClr>
                <a:schemeClr val="dk1"/>
              </a:buClr>
              <a:buSzPts val="2800"/>
              <a:buFont typeface="Calibri"/>
              <a:buAutoNum type="alphaLcPeriod" startAt="2"/>
              <a:defRPr/>
            </a:pPr>
            <a:r>
              <a:rPr lang="en-US" sz="2800" b="0" i="0" u="none" strike="noStrike" cap="none">
                <a:solidFill>
                  <a:schemeClr val="dk1"/>
                </a:solidFill>
                <a:latin typeface="Arial"/>
                <a:ea typeface="Arial"/>
                <a:cs typeface="Arial"/>
                <a:sym typeface="Arial"/>
              </a:rPr>
              <a:t>What is similar and different in the processes of solving addition equations and subtraction equations?</a:t>
            </a:r>
            <a:endParaRPr sz="2800" b="0" i="0" u="none" strike="noStrike" cap="none">
              <a:solidFill>
                <a:schemeClr val="dk1"/>
              </a:solidFill>
              <a:latin typeface="Arial"/>
              <a:ea typeface="Arial"/>
              <a:cs typeface="Arial"/>
              <a:sym typeface="Arial"/>
            </a:endParaRPr>
          </a:p>
        </p:txBody>
      </p:sp>
      <p:sp>
        <p:nvSpPr>
          <p:cNvPr id="940" name="Google Shape;940;p92"/>
          <p:cNvSpPr/>
          <p:nvPr/>
        </p:nvSpPr>
        <p:spPr>
          <a:xfrm>
            <a:off x="492035" y="4933501"/>
            <a:ext cx="7613740" cy="1397018"/>
          </a:xfrm>
          <a:prstGeom prst="rect">
            <a:avLst/>
          </a:prstGeom>
          <a:noFill/>
          <a:ln w="12700" cap="flat" cmpd="sng">
            <a:solidFill>
              <a:srgbClr val="8296B0"/>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Calibri"/>
              <a:cs typeface="Calibri"/>
              <a:sym typeface="Calibri"/>
            </a:endParaRPr>
          </a:p>
        </p:txBody>
      </p:sp>
      <p:sp>
        <p:nvSpPr>
          <p:cNvPr id="941" name="Google Shape;941;p92"/>
          <p:cNvSpPr txBox="1"/>
          <p:nvPr/>
        </p:nvSpPr>
        <p:spPr>
          <a:xfrm>
            <a:off x="6898906" y="5913530"/>
            <a:ext cx="1206869"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defRPr/>
            </a:pPr>
            <a:r>
              <a:rPr lang="en-US" sz="1600" b="0" i="0" u="none" strike="noStrike" cap="none">
                <a:solidFill>
                  <a:srgbClr val="BFBFBF"/>
                </a:solidFill>
                <a:latin typeface="Arial"/>
                <a:ea typeface="Arial"/>
                <a:cs typeface="Arial"/>
                <a:sym typeface="Arial"/>
              </a:rPr>
              <a:t>Workspace</a:t>
            </a:r>
            <a:endParaRPr sz="1400" b="0" i="0" u="none" strike="noStrike" cap="none">
              <a:solidFill>
                <a:srgbClr val="000000"/>
              </a:solidFill>
              <a:latin typeface="Arial"/>
              <a:ea typeface="Arial"/>
              <a:cs typeface="Arial"/>
              <a:sym typeface="Arial"/>
            </a:endParaRPr>
          </a:p>
        </p:txBody>
      </p:sp>
      <p:sp>
        <p:nvSpPr>
          <p:cNvPr id="94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42 / 54</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43 / 54</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0972800" cy="301752"/>
          </a:xfrm>
          <a:prstGeom prst="rect">
            <a:avLst/>
          </a:prstGeom>
          <a:noFill/>
        </p:spPr>
        <p:txBody>
          <a:bodyPr wrap="square" lIns="0" tIns="22860" rIns="0" bIns="0">
            <a:spAutoFit/>
          </a:bodyPr>
          <a:lstStyle/>
          <a:p>
            <a:pPr>
              <a:spcAft>
                <a:spcPts val="800"/>
              </a:spcAft>
              <a:defRPr sz="1300" b="1">
                <a:solidFill>
                  <a:srgbClr val="096B69"/>
                </a:solidFill>
                <a:latin typeface="Arial"/>
              </a:defRPr>
            </a:pPr>
            <a:r>
              <a:t>LESSON 8.2  /  CHECK YOUR WORK</a:t>
            </a:r>
          </a:p>
        </p:txBody>
      </p:sp>
      <p:sp>
        <p:nvSpPr>
          <p:cNvPr id="3" name="TextBox 2"/>
          <p:cNvSpPr txBox="1"/>
          <p:nvPr/>
        </p:nvSpPr>
        <p:spPr>
          <a:xfrm>
            <a:off x="594360" y="914400"/>
            <a:ext cx="10972800" cy="640080"/>
          </a:xfrm>
          <a:prstGeom prst="rect">
            <a:avLst/>
          </a:prstGeom>
          <a:noFill/>
        </p:spPr>
        <p:txBody>
          <a:bodyPr wrap="square" lIns="0" tIns="22860" rIns="0" bIns="0">
            <a:spAutoFit/>
          </a:bodyPr>
          <a:lstStyle/>
          <a:p>
            <a:pPr>
              <a:spcAft>
                <a:spcPts val="800"/>
              </a:spcAft>
              <a:defRPr sz="3600" b="1">
                <a:solidFill>
                  <a:srgbClr val="173451"/>
                </a:solidFill>
                <a:latin typeface="Arial"/>
              </a:defRPr>
            </a:pPr>
            <a:r>
              <a:t>Pause. Check. Improve.</a:t>
            </a:r>
          </a:p>
        </p:txBody>
      </p:sp>
      <p:sp>
        <p:nvSpPr>
          <p:cNvPr id="4" name="TextBox 3"/>
          <p:cNvSpPr txBox="1"/>
          <p:nvPr/>
        </p:nvSpPr>
        <p:spPr>
          <a:xfrm>
            <a:off x="594360" y="6263640"/>
            <a:ext cx="10789920" cy="274320"/>
          </a:xfrm>
          <a:prstGeom prst="rect">
            <a:avLst/>
          </a:prstGeom>
          <a:noFill/>
        </p:spPr>
        <p:txBody>
          <a:bodyPr wrap="square" lIns="0" tIns="22860" rIns="0" bIns="0">
            <a:spAutoFit/>
          </a:bodyPr>
          <a:lstStyle/>
          <a:p>
            <a:pPr>
              <a:spcAft>
                <a:spcPts val="800"/>
              </a:spcAft>
              <a:defRPr sz="1300" b="0">
                <a:solidFill>
                  <a:srgbClr val="506478"/>
                </a:solidFill>
                <a:latin typeface="Arial"/>
              </a:defRPr>
            </a:pPr>
            <a: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2011680"/>
            <a:ext cx="1280160" cy="365760"/>
          </a:xfrm>
          <a:prstGeom prst="rect">
            <a:avLst/>
          </a:prstGeom>
          <a:noFill/>
        </p:spPr>
        <p:txBody>
          <a:bodyPr wrap="square" lIns="0" tIns="22860" rIns="0" bIns="0">
            <a:spAutoFit/>
          </a:bodyPr>
          <a:lstStyle/>
          <a:p>
            <a:pPr>
              <a:spcAft>
                <a:spcPts val="800"/>
              </a:spcAft>
              <a:defRPr sz="1700" b="1">
                <a:solidFill>
                  <a:srgbClr val="096B69"/>
                </a:solidFill>
                <a:latin typeface="Arial"/>
              </a:defRPr>
            </a:pPr>
            <a:r>
              <a:t>CHECK</a:t>
            </a:r>
          </a:p>
        </p:txBody>
      </p:sp>
      <p:sp>
        <p:nvSpPr>
          <p:cNvPr id="7" name="TextBox 6"/>
          <p:cNvSpPr txBox="1"/>
          <p:nvPr/>
        </p:nvSpPr>
        <p:spPr>
          <a:xfrm>
            <a:off x="2340864" y="1975104"/>
            <a:ext cx="8933688" cy="832104"/>
          </a:xfrm>
          <a:prstGeom prst="rect">
            <a:avLst/>
          </a:prstGeom>
          <a:noFill/>
        </p:spPr>
        <p:txBody>
          <a:bodyPr wrap="square" lIns="0" tIns="22860" rIns="0" bIns="0">
            <a:spAutoFit/>
          </a:bodyPr>
          <a:lstStyle/>
          <a:p>
            <a:pPr>
              <a:spcAft>
                <a:spcPts val="800"/>
              </a:spcAft>
              <a:defRPr sz="2300" b="0">
                <a:solidFill>
                  <a:srgbClr val="24384B"/>
                </a:solidFill>
                <a:latin typeface="Arial"/>
              </a:defRPr>
            </a:pPr>
            <a:r>
              <a:t>A mistake to watch for: changing only one side or using the same operation instead of its inverse.</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 y="3310128"/>
            <a:ext cx="1280160" cy="365760"/>
          </a:xfrm>
          <a:prstGeom prst="rect">
            <a:avLst/>
          </a:prstGeom>
          <a:noFill/>
        </p:spPr>
        <p:txBody>
          <a:bodyPr wrap="square" lIns="0" tIns="22860" rIns="0" bIns="0">
            <a:spAutoFit/>
          </a:bodyPr>
          <a:lstStyle/>
          <a:p>
            <a:pPr>
              <a:spcAft>
                <a:spcPts val="800"/>
              </a:spcAft>
              <a:defRPr sz="1700" b="1">
                <a:solidFill>
                  <a:srgbClr val="096B69"/>
                </a:solidFill>
                <a:latin typeface="Arial"/>
              </a:defRPr>
            </a:pPr>
            <a:r>
              <a:t>TRY</a:t>
            </a:r>
          </a:p>
        </p:txBody>
      </p:sp>
      <p:sp>
        <p:nvSpPr>
          <p:cNvPr id="10" name="TextBox 9"/>
          <p:cNvSpPr txBox="1"/>
          <p:nvPr/>
        </p:nvSpPr>
        <p:spPr>
          <a:xfrm>
            <a:off x="2340864" y="3273552"/>
            <a:ext cx="8933688" cy="832104"/>
          </a:xfrm>
          <a:prstGeom prst="rect">
            <a:avLst/>
          </a:prstGeom>
          <a:noFill/>
        </p:spPr>
        <p:txBody>
          <a:bodyPr wrap="square" lIns="0" tIns="22860" rIns="0" bIns="0">
            <a:spAutoFit/>
          </a:bodyPr>
          <a:lstStyle/>
          <a:p>
            <a:pPr>
              <a:spcAft>
                <a:spcPts val="800"/>
              </a:spcAft>
              <a:defRPr sz="2300" b="0">
                <a:solidFill>
                  <a:srgbClr val="24384B"/>
                </a:solidFill>
                <a:latin typeface="Arial"/>
              </a:defRPr>
            </a:pPr>
            <a:r>
              <a:t>Show the same operation under both sides of the given equation.</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4608576"/>
            <a:ext cx="1280160" cy="365760"/>
          </a:xfrm>
          <a:prstGeom prst="rect">
            <a:avLst/>
          </a:prstGeom>
          <a:noFill/>
        </p:spPr>
        <p:txBody>
          <a:bodyPr wrap="square" lIns="0" tIns="22860" rIns="0" bIns="0">
            <a:spAutoFit/>
          </a:bodyPr>
          <a:lstStyle/>
          <a:p>
            <a:pPr>
              <a:spcAft>
                <a:spcPts val="800"/>
              </a:spcAft>
              <a:defRPr sz="1700" b="1">
                <a:solidFill>
                  <a:srgbClr val="096B69"/>
                </a:solidFill>
                <a:latin typeface="Arial"/>
              </a:defRPr>
            </a:pPr>
            <a:r>
              <a:t>REVISE</a:t>
            </a:r>
          </a:p>
        </p:txBody>
      </p:sp>
      <p:sp>
        <p:nvSpPr>
          <p:cNvPr id="13" name="TextBox 12"/>
          <p:cNvSpPr txBox="1"/>
          <p:nvPr/>
        </p:nvSpPr>
        <p:spPr>
          <a:xfrm>
            <a:off x="2340864" y="4572000"/>
            <a:ext cx="8933688" cy="832104"/>
          </a:xfrm>
          <a:prstGeom prst="rect">
            <a:avLst/>
          </a:prstGeom>
          <a:noFill/>
        </p:spPr>
        <p:txBody>
          <a:bodyPr wrap="square" lIns="0" tIns="22860" rIns="0" bIns="0">
            <a:spAutoFit/>
          </a:bodyPr>
          <a:lstStyle/>
          <a:p>
            <a:pPr>
              <a:spcAft>
                <a:spcPts val="800"/>
              </a:spcAft>
              <a:defRPr sz="2300" b="0">
                <a:solidFill>
                  <a:srgbClr val="24384B"/>
                </a:solidFill>
                <a:latin typeface="Arial"/>
              </a:defRPr>
            </a:pPr>
            <a: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38" name="Google Shape;838;p83"/>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839" name="Google Shape;839;p83"/>
          <p:cNvSpPr txBox="1"/>
          <p:nvPr/>
        </p:nvSpPr>
        <p:spPr>
          <a:xfrm>
            <a:off x="484565" y="316033"/>
            <a:ext cx="5029132" cy="6199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defRPr/>
            </a:pPr>
            <a:r>
              <a:rPr lang="en-US" sz="2800" b="1" i="0" u="none" strike="noStrike" cap="none">
                <a:solidFill>
                  <a:srgbClr val="7030A0"/>
                </a:solidFill>
                <a:latin typeface="Arial"/>
                <a:ea typeface="Arial"/>
                <a:cs typeface="Arial"/>
                <a:sym typeface="Arial"/>
              </a:rPr>
              <a:t>Tracking Sales</a:t>
            </a:r>
            <a:endParaRPr sz="2800" b="1" i="0" u="none" strike="noStrike" cap="none">
              <a:solidFill>
                <a:srgbClr val="7030A0"/>
              </a:solidFill>
              <a:latin typeface="Arial"/>
              <a:ea typeface="Arial"/>
              <a:cs typeface="Arial"/>
              <a:sym typeface="Arial"/>
            </a:endParaRPr>
          </a:p>
        </p:txBody>
      </p:sp>
      <p:sp>
        <p:nvSpPr>
          <p:cNvPr id="840" name="Google Shape;840;p83"/>
          <p:cNvSpPr/>
          <p:nvPr/>
        </p:nvSpPr>
        <p:spPr>
          <a:xfrm>
            <a:off x="486000" y="4077510"/>
            <a:ext cx="9696862"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defRPr/>
            </a:pPr>
            <a:r>
              <a:rPr lang="en-US" sz="2800" b="1" i="0" u="none" strike="noStrike" cap="none">
                <a:solidFill>
                  <a:schemeClr val="dk1"/>
                </a:solidFill>
                <a:latin typeface="Arial"/>
                <a:ea typeface="Arial"/>
                <a:cs typeface="Arial"/>
                <a:sym typeface="Arial"/>
              </a:rPr>
              <a:t>How can you represent the relationship algebraically?</a:t>
            </a:r>
            <a:endParaRPr sz="2800" b="0" i="0" u="none" strike="noStrike" cap="none">
              <a:solidFill>
                <a:schemeClr val="dk1"/>
              </a:solidFill>
              <a:latin typeface="Arial"/>
              <a:ea typeface="Arial"/>
              <a:cs typeface="Arial"/>
              <a:sym typeface="Arial"/>
            </a:endParaRPr>
          </a:p>
        </p:txBody>
      </p:sp>
      <p:sp>
        <p:nvSpPr>
          <p:cNvPr id="841" name="Google Shape;841;p83"/>
          <p:cNvSpPr txBox="1"/>
          <p:nvPr/>
        </p:nvSpPr>
        <p:spPr>
          <a:xfrm>
            <a:off x="484565" y="4947248"/>
            <a:ext cx="10938117" cy="100183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defRPr/>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959"/>
              </a:buClr>
              <a:buSzPts val="2800"/>
              <a:buFont typeface="Arial"/>
              <a:buNone/>
              <a:defRPr/>
            </a:pPr>
            <a:r>
              <a:rPr lang="en-US" sz="2800" b="0" i="0" u="none" strike="noStrike" cap="none">
                <a:solidFill>
                  <a:srgbClr val="595959"/>
                </a:solidFill>
                <a:latin typeface="Arial"/>
                <a:ea typeface="Arial"/>
                <a:cs typeface="Arial"/>
                <a:sym typeface="Arial"/>
              </a:rPr>
              <a:t>We can use the known values and a variable to write an equation.</a:t>
            </a:r>
            <a:endParaRPr sz="2800" b="1" i="0" u="none" strike="noStrike" cap="none">
              <a:solidFill>
                <a:srgbClr val="595959"/>
              </a:solidFill>
              <a:latin typeface="Arial"/>
              <a:ea typeface="Arial"/>
              <a:cs typeface="Arial"/>
              <a:sym typeface="Arial"/>
            </a:endParaRPr>
          </a:p>
        </p:txBody>
      </p:sp>
      <p:sp>
        <p:nvSpPr>
          <p:cNvPr id="842" name="Google Shape;842;p83"/>
          <p:cNvSpPr txBox="1"/>
          <p:nvPr/>
        </p:nvSpPr>
        <p:spPr>
          <a:xfrm>
            <a:off x="486000" y="936000"/>
            <a:ext cx="7997725" cy="295804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defRPr/>
            </a:pPr>
            <a:r>
              <a:rPr lang="en-US" sz="2800" b="0" i="0" u="none" strike="noStrike" cap="none">
                <a:solidFill>
                  <a:schemeClr val="dk1"/>
                </a:solidFill>
                <a:latin typeface="Arial"/>
                <a:ea typeface="Arial"/>
                <a:cs typeface="Arial"/>
                <a:sym typeface="Arial"/>
              </a:rPr>
              <a:t>The quantities are:</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1800"/>
              </a:spcBef>
              <a:spcAft>
                <a:spcPts val="0"/>
              </a:spcAft>
              <a:buClr>
                <a:schemeClr val="dk1"/>
              </a:buClr>
              <a:buSzPts val="2800"/>
              <a:buFont typeface="Arial"/>
              <a:buChar char="•"/>
              <a:defRPr/>
            </a:pPr>
            <a:r>
              <a:rPr lang="en-US" sz="2800" b="0" i="0" u="none" strike="noStrike" cap="none">
                <a:solidFill>
                  <a:schemeClr val="dk1"/>
                </a:solidFill>
                <a:latin typeface="Arial"/>
                <a:ea typeface="Arial"/>
                <a:cs typeface="Arial"/>
                <a:sym typeface="Arial"/>
              </a:rPr>
              <a:t>the total amount raised at the walk-a-thon</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1800"/>
              </a:spcBef>
              <a:spcAft>
                <a:spcPts val="0"/>
              </a:spcAft>
              <a:buClr>
                <a:schemeClr val="dk1"/>
              </a:buClr>
              <a:buSzPts val="2800"/>
              <a:buFont typeface="Arial"/>
              <a:buChar char="•"/>
              <a:defRPr/>
            </a:pPr>
            <a:r>
              <a:rPr lang="en-US" sz="2800" b="0" i="0" u="none" strike="noStrike" cap="none">
                <a:solidFill>
                  <a:schemeClr val="dk1"/>
                </a:solidFill>
                <a:latin typeface="Arial"/>
                <a:ea typeface="Arial"/>
                <a:cs typeface="Arial"/>
                <a:sym typeface="Arial"/>
              </a:rPr>
              <a:t>the amount donated to the food pantry</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1800"/>
              </a:spcBef>
              <a:spcAft>
                <a:spcPts val="0"/>
              </a:spcAft>
              <a:buClr>
                <a:schemeClr val="dk1"/>
              </a:buClr>
              <a:buSzPts val="2800"/>
              <a:buFont typeface="Arial"/>
              <a:buChar char="•"/>
              <a:defRPr/>
            </a:pPr>
            <a:r>
              <a:rPr lang="en-US" sz="2800" b="0" i="0" u="none" strike="noStrike" cap="none">
                <a:solidFill>
                  <a:schemeClr val="dk1"/>
                </a:solidFill>
                <a:latin typeface="Arial"/>
                <a:ea typeface="Arial"/>
                <a:cs typeface="Arial"/>
                <a:sym typeface="Arial"/>
              </a:rPr>
              <a:t>the amount remaining after donating to the food pantry</a:t>
            </a:r>
            <a:endParaRPr sz="1400" b="0" i="0" u="none" strike="noStrike" cap="none">
              <a:solidFill>
                <a:srgbClr val="000000"/>
              </a:solidFill>
              <a:latin typeface="Arial"/>
              <a:ea typeface="Arial"/>
              <a:cs typeface="Arial"/>
              <a:sym typeface="Arial"/>
            </a:endParaRPr>
          </a:p>
        </p:txBody>
      </p:sp>
      <p:sp>
        <p:nvSpPr>
          <p:cNvPr id="314"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45 / 54</a:t>
            </a:r>
          </a:p>
        </p:txBody>
      </p:sp>
      <p:grpSp>
        <p:nvGrpSpPr>
          <p:cNvPr id="843" name="TEACH-3-student-move" descr="TEACH 3 · Use intentional questioning to deepen learning"/>
          <p:cNvGrpSpPr/>
          <p:nvPr/>
        </p:nvGrpSpPr>
        <p:grpSpPr>
          <a:xfrm>
            <a:off x="502920" y="4591098"/>
            <a:ext cx="11186160" cy="402336"/>
            <a:chOff x="502920" y="3638598"/>
            <a:chExt cx="11186160" cy="402336"/>
          </a:xfrm>
        </p:grpSpPr>
        <p:sp>
          <p:nvSpPr>
            <p:cNvPr id="844" name="TEACH-move-card"/>
            <p:cNvSpPr/>
            <p:nvPr/>
          </p:nvSpPr>
          <p:spPr>
            <a:xfrm>
              <a:off x="502920" y="363859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845" name="TEACH-move-rule"/>
            <p:cNvSpPr/>
            <p:nvPr/>
          </p:nvSpPr>
          <p:spPr>
            <a:xfrm>
              <a:off x="548640" y="3715042"/>
              <a:ext cx="100584" cy="249448"/>
            </a:xfrm>
            <a:prstGeom prst="roundRect">
              <a:avLst>
                <a:gd name="adj" fmla="val 50000"/>
              </a:avLst>
            </a:prstGeom>
            <a:solidFill>
              <a:srgbClr val="01708C"/>
            </a:solidFill>
            <a:ln>
              <a:noFill/>
            </a:ln>
          </p:spPr>
          <p:txBody>
            <a:bodyPr/>
            <a:lstStyle/>
            <a:p>
              <a:endParaRPr/>
            </a:p>
          </p:txBody>
        </p:sp>
        <p:sp>
          <p:nvSpPr>
            <p:cNvPr id="846" name="TEACH-move-text"/>
            <p:cNvSpPr txBox="1"/>
            <p:nvPr/>
          </p:nvSpPr>
          <p:spPr>
            <a:xfrm>
              <a:off x="822960" y="363859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83" name="Google Shape;883;p87"/>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884" name="Google Shape;884;p87"/>
          <p:cNvSpPr txBox="1"/>
          <p:nvPr/>
        </p:nvSpPr>
        <p:spPr>
          <a:xfrm>
            <a:off x="853200" y="316800"/>
            <a:ext cx="4779840"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pPr>
            <a:r>
              <a:rPr lang="en-US" sz="2800" b="1" i="0" u="none" strike="noStrike" cap="none">
                <a:solidFill>
                  <a:srgbClr val="7030A0"/>
                </a:solidFill>
                <a:latin typeface="Arial"/>
                <a:ea typeface="Arial"/>
                <a:cs typeface="Arial"/>
                <a:sym typeface="Arial"/>
              </a:rPr>
              <a:t>Collaborate and Connect</a:t>
            </a:r>
            <a:endParaRPr sz="1400" b="0" i="0" u="none" strike="noStrike" cap="none">
              <a:solidFill>
                <a:srgbClr val="000000"/>
              </a:solidFill>
              <a:latin typeface="Arial"/>
              <a:ea typeface="Arial"/>
              <a:cs typeface="Arial"/>
              <a:sym typeface="Arial"/>
            </a:endParaRPr>
          </a:p>
        </p:txBody>
      </p:sp>
      <p:pic>
        <p:nvPicPr>
          <p:cNvPr id="885" name="Google Shape;885;p87"/>
          <p:cNvPicPr preferRelativeResize="0"/>
          <p:nvPr/>
        </p:nvPicPr>
        <p:blipFill rotWithShape="1">
          <a:blip r:embed="rId3">
            <a:alphaModFix/>
          </a:blip>
          <a:srcRect/>
          <a:stretch/>
        </p:blipFill>
        <p:spPr>
          <a:xfrm>
            <a:off x="486000" y="383706"/>
            <a:ext cx="353635" cy="340537"/>
          </a:xfrm>
          <a:prstGeom prst="rect">
            <a:avLst/>
          </a:prstGeom>
          <a:noFill/>
          <a:ln>
            <a:noFill/>
          </a:ln>
        </p:spPr>
      </p:pic>
      <p:sp>
        <p:nvSpPr>
          <p:cNvPr id="886" name="Google Shape;886;p87"/>
          <p:cNvSpPr txBox="1"/>
          <p:nvPr/>
        </p:nvSpPr>
        <p:spPr>
          <a:xfrm>
            <a:off x="486000" y="5220000"/>
            <a:ext cx="11055940" cy="113529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959"/>
              </a:buClr>
              <a:buSzPts val="2800"/>
              <a:buFont typeface="Arial"/>
              <a:buNone/>
            </a:pPr>
            <a:r>
              <a:rPr lang="en-US" sz="2800" b="0" i="0" u="none" strike="noStrike" cap="none">
                <a:solidFill>
                  <a:srgbClr val="595959"/>
                </a:solidFill>
                <a:latin typeface="Arial"/>
                <a:ea typeface="Arial"/>
                <a:cs typeface="Arial"/>
                <a:sym typeface="Arial"/>
              </a:rPr>
              <a:t>We can use the inverse operation of subtraction, which is addition.</a:t>
            </a:r>
            <a:endParaRPr sz="2800" b="1" i="0" u="none" strike="noStrike" cap="none">
              <a:solidFill>
                <a:srgbClr val="595959"/>
              </a:solidFill>
              <a:latin typeface="Arial"/>
              <a:ea typeface="Arial"/>
              <a:cs typeface="Arial"/>
              <a:sym typeface="Arial"/>
            </a:endParaRPr>
          </a:p>
        </p:txBody>
      </p:sp>
      <p:sp>
        <p:nvSpPr>
          <p:cNvPr id="887" name="Google Shape;887;p87"/>
          <p:cNvSpPr txBox="1"/>
          <p:nvPr/>
        </p:nvSpPr>
        <p:spPr>
          <a:xfrm>
            <a:off x="486000" y="936000"/>
            <a:ext cx="8067450" cy="8723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800" b="0" i="0" u="none" strike="noStrike" cap="none">
                <a:solidFill>
                  <a:schemeClr val="dk1"/>
                </a:solidFill>
                <a:latin typeface="Arial"/>
                <a:ea typeface="Arial"/>
                <a:cs typeface="Arial"/>
                <a:sym typeface="Arial"/>
              </a:rPr>
              <a:t>We can represent the problem using a subtraction equation.</a:t>
            </a:r>
            <a:endParaRPr sz="1400" b="0" i="0" u="none" strike="noStrike" cap="none">
              <a:solidFill>
                <a:srgbClr val="000000"/>
              </a:solidFill>
              <a:latin typeface="Arial"/>
              <a:ea typeface="Arial"/>
              <a:cs typeface="Arial"/>
              <a:sym typeface="Arial"/>
            </a:endParaRPr>
          </a:p>
        </p:txBody>
      </p:sp>
      <p:sp>
        <p:nvSpPr>
          <p:cNvPr id="888" name="Google Shape;888;p87"/>
          <p:cNvSpPr/>
          <p:nvPr/>
        </p:nvSpPr>
        <p:spPr>
          <a:xfrm>
            <a:off x="486000" y="4597451"/>
            <a:ext cx="9359875"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Arial"/>
                <a:ea typeface="Arial"/>
                <a:cs typeface="Arial"/>
                <a:sym typeface="Arial"/>
              </a:rPr>
              <a:t>How can you find the unknown in the equation?</a:t>
            </a:r>
            <a:endParaRPr sz="2800" b="0" i="0" u="none" strike="noStrike" cap="none">
              <a:solidFill>
                <a:schemeClr val="dk1"/>
              </a:solidFill>
              <a:latin typeface="Arial"/>
              <a:ea typeface="Arial"/>
              <a:cs typeface="Arial"/>
              <a:sym typeface="Arial"/>
            </a:endParaRPr>
          </a:p>
        </p:txBody>
      </p:sp>
      <p:sp>
        <p:nvSpPr>
          <p:cNvPr id="889" name="Google Shape;889;p87"/>
          <p:cNvSpPr/>
          <p:nvPr/>
        </p:nvSpPr>
        <p:spPr>
          <a:xfrm>
            <a:off x="486000" y="1947702"/>
            <a:ext cx="9663280"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Arial"/>
                <a:ea typeface="Arial"/>
                <a:cs typeface="Arial"/>
                <a:sym typeface="Arial"/>
              </a:rPr>
              <a:t>This situation is looking for the whole given two parts.</a:t>
            </a:r>
            <a:endParaRPr sz="2800" b="0" i="0" u="none" strike="noStrike" cap="none">
              <a:solidFill>
                <a:schemeClr val="dk1"/>
              </a:solidFill>
              <a:latin typeface="Arial"/>
              <a:ea typeface="Arial"/>
              <a:cs typeface="Arial"/>
              <a:sym typeface="Arial"/>
            </a:endParaRPr>
          </a:p>
        </p:txBody>
      </p:sp>
      <p:pic>
        <p:nvPicPr>
          <p:cNvPr id="890" name="Google Shape;890;p87" descr="C:\Users\HP\Desktop\Grade_6_Unit_8\OPS\img\.assets\4497b92f5c57423589fc2dc7ccae8639\narm24_c10802_ebk_002a-eps.png"/>
          <p:cNvPicPr preferRelativeResize="0"/>
          <p:nvPr/>
        </p:nvPicPr>
        <p:blipFill rotWithShape="1">
          <a:blip r:embed="rId4">
            <a:alphaModFix/>
          </a:blip>
          <a:srcRect/>
          <a:stretch/>
        </p:blipFill>
        <p:spPr>
          <a:xfrm>
            <a:off x="2689546" y="2610262"/>
            <a:ext cx="3952875" cy="1847850"/>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46 / 54</a:t>
            </a:r>
          </a:p>
        </p:txBody>
      </p:sp>
      <p:sp>
        <p:nvSpPr>
          <p:cNvPr id="891" name="TEACH-embedded-student-prompt" descr="Student thinking and response directions"/>
          <p:cNvSpPr txBox="1"/>
          <p:nvPr/>
        </p:nvSpPr>
        <p:spPr>
          <a:xfrm>
            <a:off x="7391400" y="33649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a:t>
            </a:r>
            <a:endParaRPr lang="en-US" sz="2000"/>
          </a:p>
          <a:p>
            <a:pPr>
              <a:lnSpc>
                <a:spcPts val="2400"/>
              </a:lnSpc>
              <a:buNone/>
            </a:pPr>
            <a:r>
              <a:rPr lang="en-US" sz="2000">
                <a:solidFill>
                  <a:srgbClr val="174D60"/>
                </a:solidFill>
                <a:latin typeface="Arial"/>
              </a:rPr>
              <a:t>evidence. Switch roles; both</a:t>
            </a:r>
            <a:endParaRPr lang="en-US" sz="2000"/>
          </a:p>
          <a:p>
            <a:pPr>
              <a:lnSpc>
                <a:spcPts val="2400"/>
              </a:lnSpc>
              <a:buNone/>
            </a:pPr>
            <a:r>
              <a:rPr lang="en-US" sz="2000">
                <a:solidFill>
                  <a:srgbClr val="174D60"/>
                </a:solidFill>
                <a:latin typeface="Arial"/>
              </a:rPr>
              <a:t>revise.</a:t>
            </a:r>
            <a:endParaRPr lang="en-US" sz="20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p93"/>
          <p:cNvSpPr txBox="1"/>
          <p:nvPr/>
        </p:nvSpPr>
        <p:spPr>
          <a:xfrm>
            <a:off x="486000" y="316800"/>
            <a:ext cx="6314850" cy="123577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0" i="0" u="none" strike="noStrike" cap="none">
                <a:solidFill>
                  <a:srgbClr val="782DA0"/>
                </a:solidFill>
                <a:latin typeface="Arial"/>
                <a:ea typeface="Arial"/>
                <a:cs typeface="Arial"/>
                <a:sym typeface="Arial"/>
              </a:rPr>
              <a:t>Summarize: </a:t>
            </a:r>
            <a:r>
              <a:rPr lang="en-US" sz="2800" b="1" i="0" u="none" strike="noStrike" cap="none">
                <a:solidFill>
                  <a:srgbClr val="782DA0"/>
                </a:solidFill>
                <a:latin typeface="Arial"/>
                <a:ea typeface="Arial"/>
                <a:cs typeface="Arial"/>
                <a:sym typeface="Arial"/>
              </a:rPr>
              <a:t>Write and Solve Equations Using Addition or Subtraction</a:t>
            </a:r>
            <a:endParaRPr sz="1400" b="0" i="0" u="none" strike="noStrike" cap="none">
              <a:solidFill>
                <a:srgbClr val="000000"/>
              </a:solidFill>
              <a:latin typeface="Arial"/>
              <a:ea typeface="Arial"/>
              <a:cs typeface="Arial"/>
              <a:sym typeface="Arial"/>
            </a:endParaRPr>
          </a:p>
        </p:txBody>
      </p:sp>
      <p:cxnSp>
        <p:nvCxnSpPr>
          <p:cNvPr id="947" name="Google Shape;947;p93"/>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948" name="Google Shape;948;p93"/>
          <p:cNvSpPr txBox="1"/>
          <p:nvPr/>
        </p:nvSpPr>
        <p:spPr>
          <a:xfrm>
            <a:off x="486000" y="1656000"/>
            <a:ext cx="8515125" cy="3935175"/>
          </a:xfrm>
          <a:prstGeom prst="rect">
            <a:avLst/>
          </a:prstGeom>
          <a:blipFill rotWithShape="1">
            <a:blip r:embed="rId3">
              <a:alphaModFix/>
            </a:blip>
            <a:stretch>
              <a:fillRect l="-1503" t="-1705"/>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949"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47 / 54</a:t>
            </a:r>
          </a:p>
        </p:txBody>
      </p:sp>
      <p:sp>
        <p:nvSpPr>
          <p:cNvPr id="950" name="EWL-Routine"/>
          <p:cNvSpPr>
            <a:spLocks noGrp="1"/>
          </p:cNvSpPr>
          <p:nvPr/>
        </p:nvSpPr>
        <p:spPr>
          <a:xfrm>
            <a:off x="502920" y="54864"/>
            <a:ext cx="6035040" cy="237744"/>
          </a:xfrm>
          <a:prstGeom prst="rect">
            <a:avLst/>
          </a:prstGeom>
          <a:noFill/>
        </p:spPr>
        <p:txBody>
          <a:bodyPr wrap="square" lIns="0" tIns="0" rIns="0" bIns="0" anchor="ctr">
            <a:noAutofit/>
          </a:bodyPr>
          <a:lstStyle/>
          <a:p>
            <a:pPr algn="l"/>
            <a:r>
              <a:rPr lang="en-US" sz="1200" b="1">
                <a:solidFill>
                  <a:srgbClr val="1E2682"/>
                </a:solidFill>
                <a:latin typeface="Arial"/>
              </a:rPr>
              <a:t>SUMMARIZE</a:t>
            </a:r>
            <a:r>
              <a:rPr lang="en-US" sz="1200" b="1">
                <a:solidFill>
                  <a:srgbClr val="5D6872"/>
                </a:solidFill>
                <a:latin typeface="Arial"/>
              </a:rPr>
              <a:t>  ·  SAY IT IN YOUR OWN WORDS</a:t>
            </a:r>
          </a:p>
        </p:txBody>
      </p:sp>
      <p:sp>
        <p:nvSpPr>
          <p:cNvPr id="951"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 reading. Use today’s example as evidence.</a:t>
            </a:r>
            <a:endParaRPr lang="en-US" sz="20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p94"/>
          <p:cNvSpPr txBox="1"/>
          <p:nvPr/>
        </p:nvSpPr>
        <p:spPr>
          <a:xfrm>
            <a:off x="486000" y="316800"/>
            <a:ext cx="6314850" cy="123577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0" i="0" u="none" strike="noStrike" cap="none">
                <a:solidFill>
                  <a:srgbClr val="782DA0"/>
                </a:solidFill>
                <a:latin typeface="Arial"/>
                <a:ea typeface="Arial"/>
                <a:cs typeface="Arial"/>
                <a:sym typeface="Arial"/>
              </a:rPr>
              <a:t>Summarize: </a:t>
            </a:r>
            <a:r>
              <a:rPr lang="en-US" sz="2800" b="1" i="0" u="none" strike="noStrike" cap="none">
                <a:solidFill>
                  <a:srgbClr val="782DA0"/>
                </a:solidFill>
                <a:latin typeface="Arial"/>
                <a:ea typeface="Arial"/>
                <a:cs typeface="Arial"/>
                <a:sym typeface="Arial"/>
              </a:rPr>
              <a:t>Write and Solve Equations Using Addition or Subtraction</a:t>
            </a:r>
            <a:endParaRPr sz="1400" b="0" i="0" u="none" strike="noStrike" cap="none">
              <a:solidFill>
                <a:srgbClr val="000000"/>
              </a:solidFill>
              <a:latin typeface="Arial"/>
              <a:ea typeface="Arial"/>
              <a:cs typeface="Arial"/>
              <a:sym typeface="Arial"/>
            </a:endParaRPr>
          </a:p>
        </p:txBody>
      </p:sp>
      <p:cxnSp>
        <p:nvCxnSpPr>
          <p:cNvPr id="954" name="Google Shape;954;p94"/>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955" name="Google Shape;955;p94"/>
          <p:cNvSpPr txBox="1"/>
          <p:nvPr/>
        </p:nvSpPr>
        <p:spPr>
          <a:xfrm>
            <a:off x="486000" y="1656000"/>
            <a:ext cx="8515125" cy="3935175"/>
          </a:xfrm>
          <a:prstGeom prst="rect">
            <a:avLst/>
          </a:prstGeom>
          <a:blipFill rotWithShape="1">
            <a:blip r:embed="rId3">
              <a:alphaModFix/>
            </a:blip>
            <a:stretch>
              <a:fillRect l="-1503" t="-1705"/>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956"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48 / 54</a:t>
            </a:r>
          </a:p>
        </p:txBody>
      </p:sp>
      <p:sp>
        <p:nvSpPr>
          <p:cNvPr id="957" name="EWL-Routine"/>
          <p:cNvSpPr>
            <a:spLocks noGrp="1"/>
          </p:cNvSpPr>
          <p:nvPr/>
        </p:nvSpPr>
        <p:spPr>
          <a:xfrm>
            <a:off x="502920" y="54864"/>
            <a:ext cx="6035040" cy="237744"/>
          </a:xfrm>
          <a:prstGeom prst="rect">
            <a:avLst/>
          </a:prstGeom>
          <a:noFill/>
        </p:spPr>
        <p:txBody>
          <a:bodyPr wrap="square" lIns="0" tIns="0" rIns="0" bIns="0" anchor="ctr">
            <a:noAutofit/>
          </a:bodyPr>
          <a:lstStyle/>
          <a:p>
            <a:pPr algn="l"/>
            <a:r>
              <a:rPr lang="en-US" sz="1200" b="1">
                <a:solidFill>
                  <a:srgbClr val="1E2682"/>
                </a:solidFill>
                <a:latin typeface="Arial"/>
              </a:rPr>
              <a:t>SUMMARIZE</a:t>
            </a:r>
            <a:r>
              <a:rPr lang="en-US" sz="1200" b="1">
                <a:solidFill>
                  <a:srgbClr val="5D6872"/>
                </a:solidFill>
                <a:latin typeface="Arial"/>
              </a:rPr>
              <a:t>  ·  SAY IT IN YOUR OWN WORDS</a:t>
            </a:r>
          </a:p>
        </p:txBody>
      </p:sp>
      <p:sp>
        <p:nvSpPr>
          <p:cNvPr id="958"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 reading. Use today’s example as evidence.</a:t>
            </a:r>
            <a:endParaRPr lang="en-US" sz="20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p95"/>
          <p:cNvSpPr txBox="1"/>
          <p:nvPr/>
        </p:nvSpPr>
        <p:spPr>
          <a:xfrm>
            <a:off x="484565" y="316034"/>
            <a:ext cx="5492675" cy="53740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0" i="0" u="none" strike="noStrike" cap="none">
                <a:solidFill>
                  <a:srgbClr val="782DA0"/>
                </a:solidFill>
                <a:latin typeface="Arial"/>
                <a:ea typeface="Arial"/>
                <a:cs typeface="Arial"/>
                <a:sym typeface="Arial"/>
              </a:rPr>
              <a:t>Apply: </a:t>
            </a:r>
            <a:r>
              <a:rPr lang="en-US" sz="2800" b="1" i="0" u="none" strike="noStrike" cap="none">
                <a:solidFill>
                  <a:srgbClr val="782DA0"/>
                </a:solidFill>
                <a:latin typeface="Arial"/>
                <a:ea typeface="Arial"/>
                <a:cs typeface="Arial"/>
                <a:sym typeface="Arial"/>
              </a:rPr>
              <a:t>Margaret’s New Pet</a:t>
            </a:r>
            <a:endParaRPr sz="2800" b="1" i="0" u="none" strike="noStrike" cap="none">
              <a:solidFill>
                <a:srgbClr val="7030A0"/>
              </a:solidFill>
              <a:latin typeface="Arial"/>
              <a:ea typeface="Arial"/>
              <a:cs typeface="Arial"/>
              <a:sym typeface="Arial"/>
            </a:endParaRPr>
          </a:p>
        </p:txBody>
      </p:sp>
      <p:cxnSp>
        <p:nvCxnSpPr>
          <p:cNvPr id="961" name="Google Shape;961;p95"/>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962" name="Google Shape;962;p95"/>
          <p:cNvSpPr txBox="1"/>
          <p:nvPr/>
        </p:nvSpPr>
        <p:spPr>
          <a:xfrm>
            <a:off x="486000" y="936000"/>
            <a:ext cx="7619775" cy="187275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defRPr/>
            </a:pPr>
            <a:r>
              <a:rPr lang="en-US" sz="2800" b="0" i="0" u="none" strike="noStrike" cap="none">
                <a:solidFill>
                  <a:schemeClr val="dk1"/>
                </a:solidFill>
                <a:latin typeface="Arial"/>
                <a:ea typeface="Arial"/>
                <a:cs typeface="Arial"/>
                <a:sym typeface="Arial"/>
              </a:rPr>
              <a:t>Margaret is researching different dog breeds to adopt. The image and list below give information about the weights of the different dog breeds she is considering.</a:t>
            </a:r>
            <a:endParaRPr sz="1400" b="0" i="0" u="none" strike="noStrike" cap="none">
              <a:solidFill>
                <a:srgbClr val="000000"/>
              </a:solidFill>
              <a:latin typeface="Arial"/>
              <a:ea typeface="Arial"/>
              <a:cs typeface="Arial"/>
              <a:sym typeface="Arial"/>
            </a:endParaRPr>
          </a:p>
        </p:txBody>
      </p:sp>
      <p:sp>
        <p:nvSpPr>
          <p:cNvPr id="963" name="Google Shape;963;p95"/>
          <p:cNvSpPr txBox="1"/>
          <p:nvPr/>
        </p:nvSpPr>
        <p:spPr>
          <a:xfrm>
            <a:off x="484566" y="5015196"/>
            <a:ext cx="8592760"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defRPr/>
            </a:pPr>
            <a:r>
              <a:rPr lang="en-US" sz="2800" b="1" i="0" u="none" strike="noStrike" cap="none">
                <a:solidFill>
                  <a:schemeClr val="dk1"/>
                </a:solidFill>
                <a:latin typeface="Arial"/>
                <a:ea typeface="Arial"/>
                <a:cs typeface="Arial"/>
                <a:sym typeface="Arial"/>
              </a:rPr>
              <a:t>Question:</a:t>
            </a:r>
            <a:r>
              <a:rPr lang="en-US" sz="2800" b="0" i="0" u="none" strike="noStrike" cap="none">
                <a:solidFill>
                  <a:schemeClr val="dk1"/>
                </a:solidFill>
                <a:latin typeface="Arial"/>
                <a:ea typeface="Arial"/>
                <a:cs typeface="Arial"/>
                <a:sym typeface="Arial"/>
              </a:rPr>
              <a:t> If Margaret’s apartment building only allows dogs up to 30 pounds, which breed(s) would you recommend she adopt?</a:t>
            </a:r>
            <a:endParaRPr sz="2800" b="0" i="0" u="none" strike="noStrike" cap="none">
              <a:solidFill>
                <a:schemeClr val="dk1"/>
              </a:solidFill>
              <a:latin typeface="Arial"/>
              <a:ea typeface="Arial"/>
              <a:cs typeface="Arial"/>
              <a:sym typeface="Arial"/>
            </a:endParaRPr>
          </a:p>
        </p:txBody>
      </p:sp>
      <p:sp>
        <p:nvSpPr>
          <p:cNvPr id="964" name="Google Shape;964;p95"/>
          <p:cNvSpPr/>
          <p:nvPr/>
        </p:nvSpPr>
        <p:spPr>
          <a:xfrm>
            <a:off x="387962" y="2788593"/>
            <a:ext cx="8689363" cy="2246769"/>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chemeClr val="dk1"/>
              </a:buClr>
              <a:buSzPts val="2800"/>
              <a:buFont typeface="Arial"/>
              <a:buChar char="•"/>
              <a:defRPr/>
            </a:pPr>
            <a:r>
              <a:rPr lang="en-US" sz="2800" b="0" i="0" u="none" strike="noStrike" cap="none">
                <a:solidFill>
                  <a:schemeClr val="dk1"/>
                </a:solidFill>
                <a:latin typeface="Arial"/>
                <a:ea typeface="Arial"/>
                <a:cs typeface="Arial"/>
                <a:sym typeface="Arial"/>
              </a:rPr>
              <a:t>Pugs weigh 32 pounds less than bulldogs.</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2800"/>
              <a:buFont typeface="Arial"/>
              <a:buChar char="•"/>
              <a:defRPr/>
            </a:pPr>
            <a:r>
              <a:rPr lang="en-US" sz="2800" b="0" i="0" u="none" strike="noStrike" cap="none">
                <a:solidFill>
                  <a:schemeClr val="dk1"/>
                </a:solidFill>
                <a:latin typeface="Arial"/>
                <a:ea typeface="Arial"/>
                <a:cs typeface="Arial"/>
                <a:sym typeface="Arial"/>
              </a:rPr>
              <a:t>Irish Setters weigh 20 pounds more than bulldogs.</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2800"/>
              <a:buFont typeface="Arial"/>
              <a:buChar char="•"/>
              <a:defRPr/>
            </a:pPr>
            <a:r>
              <a:rPr lang="en-US" sz="2800" b="0" i="0" u="none" strike="noStrike" cap="none">
                <a:solidFill>
                  <a:schemeClr val="dk1"/>
                </a:solidFill>
                <a:latin typeface="Arial"/>
                <a:ea typeface="Arial"/>
                <a:cs typeface="Arial"/>
                <a:sym typeface="Arial"/>
              </a:rPr>
              <a:t>Irish Terriers weigh 43 pounds less than Irish Setters.</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2800"/>
              <a:buFont typeface="Arial"/>
              <a:buChar char="•"/>
              <a:defRPr/>
            </a:pPr>
            <a:r>
              <a:rPr lang="en-US" sz="2800" b="0" i="0" u="none" strike="noStrike" cap="none">
                <a:solidFill>
                  <a:schemeClr val="dk1"/>
                </a:solidFill>
                <a:latin typeface="Arial"/>
                <a:ea typeface="Arial"/>
                <a:cs typeface="Arial"/>
                <a:sym typeface="Arial"/>
              </a:rPr>
              <a:t>Shiba Inu weigh 5 pounds more than pugs.</a:t>
            </a:r>
            <a:endParaRPr sz="1400" b="0" i="0" u="none" strike="noStrike" cap="none">
              <a:solidFill>
                <a:srgbClr val="000000"/>
              </a:solidFill>
              <a:latin typeface="Arial"/>
              <a:ea typeface="Arial"/>
              <a:cs typeface="Arial"/>
              <a:sym typeface="Arial"/>
            </a:endParaRPr>
          </a:p>
        </p:txBody>
      </p:sp>
      <p:pic>
        <p:nvPicPr>
          <p:cNvPr id="965" name="Google Shape;965;p95"/>
          <p:cNvPicPr preferRelativeResize="0"/>
          <p:nvPr/>
        </p:nvPicPr>
        <p:blipFill rotWithShape="1">
          <a:blip r:embed="rId3">
            <a:alphaModFix/>
          </a:blip>
          <a:srcRect/>
          <a:stretch/>
        </p:blipFill>
        <p:spPr>
          <a:xfrm>
            <a:off x="9134458" y="1378422"/>
            <a:ext cx="2621313" cy="4540920"/>
          </a:xfrm>
          <a:prstGeom prst="rect">
            <a:avLst/>
          </a:prstGeom>
          <a:noFill/>
          <a:ln>
            <a:noFill/>
          </a:ln>
        </p:spPr>
      </p:pic>
      <p:sp>
        <p:nvSpPr>
          <p:cNvPr id="966"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49 / 54</a:t>
            </a:r>
          </a:p>
        </p:txBody>
      </p:sp>
      <p:sp>
        <p:nvSpPr>
          <p:cNvPr id="967" name="EWL-Routine"/>
          <p:cNvSpPr>
            <a:spLocks noGrp="1"/>
          </p:cNvSpPr>
          <p:nvPr/>
        </p:nvSpPr>
        <p:spPr>
          <a:xfrm>
            <a:off x="502920" y="54864"/>
            <a:ext cx="6035040" cy="237744"/>
          </a:xfrm>
          <a:prstGeom prst="rect">
            <a:avLst/>
          </a:prstGeom>
          <a:noFill/>
        </p:spPr>
        <p:txBody>
          <a:bodyPr wrap="square" lIns="0" tIns="0" rIns="0" bIns="0" anchor="ctr">
            <a:noAutofit/>
          </a:bodyPr>
          <a:lstStyle/>
          <a:p>
            <a:pPr algn="l">
              <a:defRPr/>
            </a:pPr>
            <a:r>
              <a:rPr lang="en-US" sz="1200" b="1">
                <a:solidFill>
                  <a:srgbClr val="1E2682"/>
                </a:solidFill>
                <a:latin typeface="Arial"/>
              </a:rPr>
              <a:t>APPLY</a:t>
            </a:r>
            <a:r>
              <a:rPr lang="en-US" sz="1200" b="1">
                <a:solidFill>
                  <a:srgbClr val="5D6872"/>
                </a:solidFill>
                <a:latin typeface="Arial"/>
              </a:rPr>
              <a:t>  ·  PLAN IT • SOLVE IT • PROVE IT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4-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SPECIFIC FEEDBACK  ·  </a:t>
            </a:r>
            <a:r>
              <a:rPr lang="en-US" sz="2000" b="0" dirty="0">
                <a:solidFill>
                  <a:srgbClr val="13303A"/>
                </a:solidFill>
                <a:latin typeface="Arial"/>
              </a:rPr>
              <a:t>Trade work. Give one specific comment: “This part is clear because ______.”</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50 / 54</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p96"/>
          <p:cNvSpPr txBox="1"/>
          <p:nvPr/>
        </p:nvSpPr>
        <p:spPr>
          <a:xfrm>
            <a:off x="484565" y="316800"/>
            <a:ext cx="5492675" cy="53740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i="0" u="none" strike="noStrike" cap="none">
                <a:solidFill>
                  <a:srgbClr val="782DA0"/>
                </a:solidFill>
                <a:latin typeface="Arial"/>
                <a:ea typeface="Arial"/>
                <a:cs typeface="Arial"/>
                <a:sym typeface="Arial"/>
              </a:rPr>
              <a:t>Learning Targets</a:t>
            </a:r>
            <a:endParaRPr sz="1400" b="0" i="0" u="none" strike="noStrike" cap="none">
              <a:solidFill>
                <a:srgbClr val="000000"/>
              </a:solidFill>
              <a:latin typeface="Arial"/>
              <a:ea typeface="Arial"/>
              <a:cs typeface="Arial"/>
              <a:sym typeface="Arial"/>
            </a:endParaRPr>
          </a:p>
        </p:txBody>
      </p:sp>
      <p:cxnSp>
        <p:nvCxnSpPr>
          <p:cNvPr id="971" name="Google Shape;971;p96"/>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972" name="Google Shape;972;p96"/>
          <p:cNvSpPr txBox="1"/>
          <p:nvPr/>
        </p:nvSpPr>
        <p:spPr>
          <a:xfrm>
            <a:off x="484565" y="936000"/>
            <a:ext cx="8154610" cy="4196939"/>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I can write and solve one-step addition equations using models and the Subtraction Property of Equality.</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120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I can write and solve one-step subtraction equations using models and the Addition Property of Equality.</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120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I can make sense of quantities to write and solve one-step equations.</a:t>
            </a:r>
            <a:endParaRPr sz="1400" b="0" i="0" u="none" strike="noStrike" cap="none">
              <a:solidFill>
                <a:srgbClr val="000000"/>
              </a:solidFill>
              <a:latin typeface="Arial"/>
              <a:ea typeface="Arial"/>
              <a:cs typeface="Arial"/>
              <a:sym typeface="Arial"/>
            </a:endParaRPr>
          </a:p>
        </p:txBody>
      </p:sp>
      <p:sp>
        <p:nvSpPr>
          <p:cNvPr id="973"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51 / 54</a:t>
            </a:r>
          </a:p>
        </p:txBody>
      </p:sp>
      <p:sp>
        <p:nvSpPr>
          <p:cNvPr id="974"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66" name="Google Shape;766;p76"/>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767" name="Google Shape;767;p76"/>
          <p:cNvSpPr txBox="1"/>
          <p:nvPr/>
        </p:nvSpPr>
        <p:spPr>
          <a:xfrm>
            <a:off x="484560" y="316034"/>
            <a:ext cx="3904129"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B050"/>
              </a:buClr>
              <a:buSzPts val="2800"/>
              <a:buFont typeface="Arial"/>
              <a:buNone/>
            </a:pPr>
            <a:r>
              <a:rPr lang="en-US" sz="2800" b="1" i="0" u="none" strike="noStrike" cap="none">
                <a:solidFill>
                  <a:srgbClr val="00B050"/>
                </a:solidFill>
                <a:latin typeface="Arial"/>
                <a:ea typeface="Arial"/>
                <a:cs typeface="Arial"/>
                <a:sym typeface="Arial"/>
              </a:rPr>
              <a:t>Be Curious</a:t>
            </a:r>
            <a:endParaRPr sz="1400" b="0" i="0" u="none" strike="noStrike" cap="none">
              <a:solidFill>
                <a:srgbClr val="000000"/>
              </a:solidFill>
              <a:latin typeface="Arial"/>
              <a:ea typeface="Arial"/>
              <a:cs typeface="Arial"/>
              <a:sym typeface="Arial"/>
            </a:endParaRPr>
          </a:p>
        </p:txBody>
      </p:sp>
      <p:pic>
        <p:nvPicPr>
          <p:cNvPr id="768" name="Google Shape;768;p76"/>
          <p:cNvPicPr preferRelativeResize="0"/>
          <p:nvPr/>
        </p:nvPicPr>
        <p:blipFill rotWithShape="1">
          <a:blip r:embed="rId3">
            <a:alphaModFix/>
          </a:blip>
          <a:srcRect/>
          <a:stretch/>
        </p:blipFill>
        <p:spPr>
          <a:xfrm>
            <a:off x="484560" y="4922983"/>
            <a:ext cx="5054600" cy="838200"/>
          </a:xfrm>
          <a:prstGeom prst="rect">
            <a:avLst/>
          </a:prstGeom>
          <a:noFill/>
          <a:ln>
            <a:noFill/>
          </a:ln>
        </p:spPr>
      </p:pic>
      <p:sp>
        <p:nvSpPr>
          <p:cNvPr id="769" name="Google Shape;769;p76"/>
          <p:cNvSpPr txBox="1"/>
          <p:nvPr/>
        </p:nvSpPr>
        <p:spPr>
          <a:xfrm>
            <a:off x="3080149" y="5077253"/>
            <a:ext cx="2194584" cy="63971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62626"/>
                </a:solidFill>
                <a:latin typeface="Arial"/>
                <a:ea typeface="Arial"/>
                <a:cs typeface="Arial"/>
                <a:sym typeface="Arial"/>
              </a:rPr>
              <a:t>Mindset</a:t>
            </a:r>
            <a:endParaRPr sz="1400" b="0" i="0" u="none" strike="noStrike" cap="none">
              <a:solidFill>
                <a:srgbClr val="000000"/>
              </a:solidFill>
              <a:latin typeface="Arial"/>
              <a:ea typeface="Arial"/>
              <a:cs typeface="Arial"/>
              <a:sym typeface="Arial"/>
            </a:endParaRPr>
          </a:p>
        </p:txBody>
      </p:sp>
      <p:sp>
        <p:nvSpPr>
          <p:cNvPr id="770" name="Google Shape;770;p76"/>
          <p:cNvSpPr txBox="1"/>
          <p:nvPr/>
        </p:nvSpPr>
        <p:spPr>
          <a:xfrm>
            <a:off x="484560" y="315403"/>
            <a:ext cx="3904129"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B050"/>
              </a:buClr>
              <a:buSzPts val="2800"/>
              <a:buFont typeface="Arial"/>
              <a:buNone/>
            </a:pPr>
            <a:r>
              <a:rPr lang="en-US" sz="2800" b="1" i="0" u="none" strike="noStrike" cap="none">
                <a:solidFill>
                  <a:srgbClr val="00B050"/>
                </a:solidFill>
                <a:latin typeface="Arial"/>
                <a:ea typeface="Arial"/>
                <a:cs typeface="Arial"/>
                <a:sym typeface="Arial"/>
              </a:rPr>
              <a:t>Be Curious</a:t>
            </a:r>
            <a:endParaRPr sz="1400" b="0" i="0" u="none" strike="noStrike" cap="none">
              <a:solidFill>
                <a:srgbClr val="000000"/>
              </a:solidFill>
              <a:latin typeface="Arial"/>
              <a:ea typeface="Arial"/>
              <a:cs typeface="Arial"/>
              <a:sym typeface="Arial"/>
            </a:endParaRPr>
          </a:p>
        </p:txBody>
      </p:sp>
      <p:sp>
        <p:nvSpPr>
          <p:cNvPr id="771" name="Google Shape;771;p76"/>
          <p:cNvSpPr/>
          <p:nvPr/>
        </p:nvSpPr>
        <p:spPr>
          <a:xfrm>
            <a:off x="486000" y="5759741"/>
            <a:ext cx="8399948" cy="49244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US" sz="2600" b="0" i="0" u="none" strike="noStrike" cap="none">
                <a:solidFill>
                  <a:srgbClr val="595959"/>
                </a:solidFill>
                <a:latin typeface="Arial"/>
                <a:ea typeface="Arial"/>
                <a:cs typeface="Arial"/>
                <a:sym typeface="Arial"/>
              </a:rPr>
              <a:t>What is helping you stay motivated to learn math?</a:t>
            </a:r>
            <a:endParaRPr sz="2600" b="0" i="0" u="none" strike="noStrike" cap="none">
              <a:solidFill>
                <a:srgbClr val="595959"/>
              </a:solidFill>
              <a:latin typeface="Arial"/>
              <a:ea typeface="Arial"/>
              <a:cs typeface="Arial"/>
              <a:sym typeface="Arial"/>
            </a:endParaRPr>
          </a:p>
        </p:txBody>
      </p:sp>
      <p:sp>
        <p:nvSpPr>
          <p:cNvPr id="772" name="Google Shape;772;p76"/>
          <p:cNvSpPr txBox="1"/>
          <p:nvPr/>
        </p:nvSpPr>
        <p:spPr>
          <a:xfrm>
            <a:off x="484560" y="936000"/>
            <a:ext cx="7399051" cy="52483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800" b="0" i="0" u="none" strike="noStrike" cap="none">
                <a:solidFill>
                  <a:schemeClr val="dk1"/>
                </a:solidFill>
                <a:latin typeface="Arial"/>
                <a:ea typeface="Arial"/>
                <a:cs typeface="Arial"/>
                <a:sym typeface="Arial"/>
              </a:rPr>
              <a:t>What math do you see in this problem?</a:t>
            </a:r>
            <a:endParaRPr sz="1400" b="0" i="0" u="none" strike="noStrike" cap="none">
              <a:solidFill>
                <a:srgbClr val="000000"/>
              </a:solidFill>
              <a:latin typeface="Arial"/>
              <a:ea typeface="Arial"/>
              <a:cs typeface="Arial"/>
              <a:sym typeface="Arial"/>
            </a:endParaRPr>
          </a:p>
        </p:txBody>
      </p:sp>
      <p:sp>
        <p:nvSpPr>
          <p:cNvPr id="773" name="Google Shape;773;p76"/>
          <p:cNvSpPr/>
          <p:nvPr/>
        </p:nvSpPr>
        <p:spPr>
          <a:xfrm>
            <a:off x="484560" y="1762125"/>
            <a:ext cx="6935415" cy="2352675"/>
          </a:xfrm>
          <a:prstGeom prst="snip1Rect">
            <a:avLst>
              <a:gd name="adj" fmla="val 16667"/>
            </a:avLst>
          </a:prstGeom>
          <a:noFill/>
          <a:ln w="19050" cap="flat" cmpd="sng">
            <a:solidFill>
              <a:srgbClr val="00B050"/>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74" name="Google Shape;774;p76"/>
          <p:cNvSpPr/>
          <p:nvPr/>
        </p:nvSpPr>
        <p:spPr>
          <a:xfrm>
            <a:off x="827208" y="2059380"/>
            <a:ext cx="6123203" cy="181588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0" i="1" u="none" strike="noStrike" cap="none">
                <a:solidFill>
                  <a:srgbClr val="7030A0"/>
                </a:solidFill>
                <a:latin typeface="Arial"/>
                <a:ea typeface="Arial"/>
                <a:cs typeface="Arial"/>
                <a:sym typeface="Arial"/>
              </a:rPr>
              <a:t>Brielle is considering buying a bike that is on sale for some amount off the original price. What was the original price of the bike?</a:t>
            </a:r>
            <a:endParaRPr sz="2800" b="0" i="1" u="none" strike="noStrike" cap="none">
              <a:solidFill>
                <a:srgbClr val="7030A0"/>
              </a:solidFill>
              <a:latin typeface="Arial"/>
              <a:ea typeface="Arial"/>
              <a:cs typeface="Arial"/>
              <a:sym typeface="Arial"/>
            </a:endParaRPr>
          </a:p>
        </p:txBody>
      </p:sp>
      <p:sp>
        <p:nvSpPr>
          <p:cNvPr id="314"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52 / 54</a:t>
            </a:r>
          </a:p>
        </p:txBody>
      </p:sp>
      <p:sp>
        <p:nvSpPr>
          <p:cNvPr id="775" name="TEACH-embedded-student-prompt" descr="Student thinking and response directions"/>
          <p:cNvSpPr txBox="1"/>
          <p:nvPr/>
        </p:nvSpPr>
        <p:spPr>
          <a:xfrm>
            <a:off x="594360" y="43525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 build on a classmate’s idea.</a:t>
            </a:r>
            <a:endParaRPr lang="en-US" sz="20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0" name="Google Shape;970;p96"/>
          <p:cNvSpPr txBox="1"/>
          <p:nvPr/>
        </p:nvSpPr>
        <p:spPr>
          <a:xfrm>
            <a:off x="484565" y="316800"/>
            <a:ext cx="5492675" cy="53740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i="0" u="none" strike="noStrike" cap="none">
                <a:solidFill>
                  <a:srgbClr val="782DA0"/>
                </a:solidFill>
                <a:latin typeface="Arial"/>
                <a:ea typeface="Arial"/>
                <a:cs typeface="Arial"/>
                <a:sym typeface="Arial"/>
              </a:rPr>
              <a:t>Learning Targets</a:t>
            </a:r>
            <a:endParaRPr sz="1400" b="0" i="0" u="none" strike="noStrike" cap="none">
              <a:solidFill>
                <a:srgbClr val="000000"/>
              </a:solidFill>
              <a:latin typeface="Arial"/>
              <a:ea typeface="Arial"/>
              <a:cs typeface="Arial"/>
              <a:sym typeface="Arial"/>
            </a:endParaRPr>
          </a:p>
        </p:txBody>
      </p:sp>
      <p:cxnSp>
        <p:nvCxnSpPr>
          <p:cNvPr id="971" name="Google Shape;971;p96"/>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972" name="Google Shape;972;p96"/>
          <p:cNvSpPr txBox="1"/>
          <p:nvPr/>
        </p:nvSpPr>
        <p:spPr>
          <a:xfrm>
            <a:off x="484565" y="936000"/>
            <a:ext cx="8154610" cy="4196939"/>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I can write and solve one-step addition equations using models and the Subtraction Property of Equality.</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120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I can write and solve one-step subtraction equations using models and the Addition Property of Equality.</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120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I can make sense of quantities to write and solve one-step equations.</a:t>
            </a:r>
            <a:endParaRPr sz="1400" b="0" i="0" u="none" strike="noStrike" cap="none">
              <a:solidFill>
                <a:srgbClr val="000000"/>
              </a:solidFill>
              <a:latin typeface="Arial"/>
              <a:ea typeface="Arial"/>
              <a:cs typeface="Arial"/>
              <a:sym typeface="Arial"/>
            </a:endParaRPr>
          </a:p>
        </p:txBody>
      </p:sp>
      <p:sp>
        <p:nvSpPr>
          <p:cNvPr id="314"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53 / 54</a:t>
            </a:r>
          </a:p>
        </p:txBody>
      </p:sp>
      <p:sp>
        <p:nvSpPr>
          <p:cNvPr id="973"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0972800" cy="301752"/>
          </a:xfrm>
          <a:prstGeom prst="rect">
            <a:avLst/>
          </a:prstGeom>
          <a:noFill/>
        </p:spPr>
        <p:txBody>
          <a:bodyPr wrap="square" lIns="0" tIns="22860" rIns="0" bIns="0">
            <a:spAutoFit/>
          </a:bodyPr>
          <a:lstStyle/>
          <a:p>
            <a:pPr>
              <a:spcAft>
                <a:spcPts val="800"/>
              </a:spcAft>
              <a:defRPr sz="1300" b="1">
                <a:solidFill>
                  <a:srgbClr val="096B69"/>
                </a:solidFill>
                <a:latin typeface="Arial"/>
              </a:defRPr>
            </a:pPr>
            <a:r>
              <a:t>LESSON 8.2  /  REFLECT ON YOUR LEARNING</a:t>
            </a:r>
          </a:p>
        </p:txBody>
      </p:sp>
      <p:sp>
        <p:nvSpPr>
          <p:cNvPr id="3" name="TextBox 2"/>
          <p:cNvSpPr txBox="1"/>
          <p:nvPr/>
        </p:nvSpPr>
        <p:spPr>
          <a:xfrm>
            <a:off x="594360" y="914400"/>
            <a:ext cx="10972800" cy="640080"/>
          </a:xfrm>
          <a:prstGeom prst="rect">
            <a:avLst/>
          </a:prstGeom>
          <a:noFill/>
        </p:spPr>
        <p:txBody>
          <a:bodyPr wrap="square" lIns="0" tIns="22860" rIns="0" bIns="0">
            <a:spAutoFit/>
          </a:bodyPr>
          <a:lstStyle/>
          <a:p>
            <a:pPr>
              <a:spcAft>
                <a:spcPts val="800"/>
              </a:spcAft>
              <a:defRPr sz="3600" b="1">
                <a:solidFill>
                  <a:srgbClr val="173451"/>
                </a:solidFill>
                <a:latin typeface="Arial"/>
              </a:defRPr>
            </a:pPr>
            <a:r>
              <a:t>Show your progress</a:t>
            </a:r>
          </a:p>
        </p:txBody>
      </p:sp>
      <p:sp>
        <p:nvSpPr>
          <p:cNvPr id="4" name="TextBox 3"/>
          <p:cNvSpPr txBox="1"/>
          <p:nvPr/>
        </p:nvSpPr>
        <p:spPr>
          <a:xfrm>
            <a:off x="594360" y="6263640"/>
            <a:ext cx="10789920" cy="274320"/>
          </a:xfrm>
          <a:prstGeom prst="rect">
            <a:avLst/>
          </a:prstGeom>
          <a:noFill/>
        </p:spPr>
        <p:txBody>
          <a:bodyPr wrap="square" lIns="0" tIns="22860" rIns="0" bIns="0">
            <a:spAutoFit/>
          </a:bodyPr>
          <a:lstStyle/>
          <a:p>
            <a:pPr>
              <a:spcAft>
                <a:spcPts val="800"/>
              </a:spcAft>
              <a:defRPr sz="1300" b="0">
                <a:solidFill>
                  <a:srgbClr val="506478"/>
                </a:solidFill>
                <a:latin typeface="Arial"/>
              </a:defRPr>
            </a:pPr>
            <a: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2103120"/>
            <a:ext cx="4709160" cy="365760"/>
          </a:xfrm>
          <a:prstGeom prst="rect">
            <a:avLst/>
          </a:prstGeom>
          <a:noFill/>
        </p:spPr>
        <p:txBody>
          <a:bodyPr wrap="square" lIns="0" tIns="22860" rIns="0" bIns="0">
            <a:spAutoFit/>
          </a:bodyPr>
          <a:lstStyle/>
          <a:p>
            <a:pPr>
              <a:spcAft>
                <a:spcPts val="800"/>
              </a:spcAft>
              <a:defRPr sz="1800" b="1">
                <a:solidFill>
                  <a:srgbClr val="096B69"/>
                </a:solidFill>
                <a:latin typeface="Arial"/>
              </a:defRPr>
            </a:pPr>
            <a:r>
              <a:t>1  SHOW EVIDENCE</a:t>
            </a:r>
          </a:p>
        </p:txBody>
      </p:sp>
      <p:sp>
        <p:nvSpPr>
          <p:cNvPr id="8" name="TextBox 7"/>
          <p:cNvSpPr txBox="1"/>
          <p:nvPr/>
        </p:nvSpPr>
        <p:spPr>
          <a:xfrm>
            <a:off x="886968" y="2743200"/>
            <a:ext cx="4617720" cy="1353312"/>
          </a:xfrm>
          <a:prstGeom prst="rect">
            <a:avLst/>
          </a:prstGeom>
          <a:noFill/>
        </p:spPr>
        <p:txBody>
          <a:bodyPr wrap="square" lIns="0" tIns="22860" rIns="0" bIns="0">
            <a:spAutoFit/>
          </a:bodyPr>
          <a:lstStyle/>
          <a:p>
            <a:pPr>
              <a:spcAft>
                <a:spcPts val="800"/>
              </a:spcAft>
              <a:defRPr sz="2600" b="0">
                <a:solidFill>
                  <a:srgbClr val="24384B"/>
                </a:solidFill>
                <a:latin typeface="Arial"/>
              </a:defRPr>
            </a:pPr>
            <a: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tIns="22860" rIns="0" bIns="0">
            <a:spAutoFit/>
          </a:bodyPr>
          <a:lstStyle/>
          <a:p>
            <a:pPr>
              <a:spcAft>
                <a:spcPts val="800"/>
              </a:spcAft>
              <a:defRPr sz="1900" b="0">
                <a:solidFill>
                  <a:srgbClr val="506478"/>
                </a:solidFill>
                <a:latin typeface="Arial"/>
              </a:defRPr>
            </a:pPr>
            <a:r>
              <a:t>“My work shows ___ because ___.”</a:t>
            </a:r>
          </a:p>
        </p:txBody>
      </p:sp>
      <p:sp>
        <p:nvSpPr>
          <p:cNvPr id="10" name="TextBox 9"/>
          <p:cNvSpPr txBox="1"/>
          <p:nvPr/>
        </p:nvSpPr>
        <p:spPr>
          <a:xfrm>
            <a:off x="6528816" y="2103120"/>
            <a:ext cx="4700016" cy="365760"/>
          </a:xfrm>
          <a:prstGeom prst="rect">
            <a:avLst/>
          </a:prstGeom>
          <a:noFill/>
        </p:spPr>
        <p:txBody>
          <a:bodyPr wrap="square" lIns="0" tIns="22860" rIns="0" bIns="0">
            <a:spAutoFit/>
          </a:bodyPr>
          <a:lstStyle/>
          <a:p>
            <a:pPr>
              <a:spcAft>
                <a:spcPts val="800"/>
              </a:spcAft>
              <a:defRPr sz="1800" b="1">
                <a:solidFill>
                  <a:srgbClr val="096B69"/>
                </a:solidFill>
                <a:latin typeface="Arial"/>
              </a:defRPr>
            </a:pPr>
            <a:r>
              <a:t>2  CHOOSE A NEXT STEP</a:t>
            </a:r>
          </a:p>
        </p:txBody>
      </p:sp>
      <p:sp>
        <p:nvSpPr>
          <p:cNvPr id="11" name="TextBox 10"/>
          <p:cNvSpPr txBox="1"/>
          <p:nvPr/>
        </p:nvSpPr>
        <p:spPr>
          <a:xfrm>
            <a:off x="6528816" y="2743200"/>
            <a:ext cx="4617720" cy="1353312"/>
          </a:xfrm>
          <a:prstGeom prst="rect">
            <a:avLst/>
          </a:prstGeom>
          <a:noFill/>
        </p:spPr>
        <p:txBody>
          <a:bodyPr wrap="square" lIns="0" tIns="22860" rIns="0" bIns="0">
            <a:spAutoFit/>
          </a:bodyPr>
          <a:lstStyle/>
          <a:p>
            <a:pPr>
              <a:spcAft>
                <a:spcPts val="800"/>
              </a:spcAft>
              <a:defRPr sz="2600" b="0">
                <a:solidFill>
                  <a:srgbClr val="24384B"/>
                </a:solidFill>
                <a:latin typeface="Arial"/>
              </a:defRPr>
            </a:pPr>
            <a: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tIns="22860" rIns="0" bIns="0">
            <a:spAutoFit/>
          </a:bodyPr>
          <a:lstStyle/>
          <a:p>
            <a:pPr>
              <a:spcAft>
                <a:spcPts val="800"/>
              </a:spcAft>
              <a:defRPr sz="1900" b="0">
                <a:solidFill>
                  <a:srgbClr val="506478"/>
                </a:solidFill>
                <a:latin typeface="Arial"/>
              </a:defRPr>
            </a:pPr>
            <a:r>
              <a:t>“Next time, I will ___ to help me ___.”</a:t>
            </a:r>
          </a:p>
        </p:txBody>
      </p:sp>
      <p:sp>
        <p:nvSpPr>
          <p:cNvPr id="13" name="TextBox 12"/>
          <p:cNvSpPr txBox="1"/>
          <p:nvPr/>
        </p:nvSpPr>
        <p:spPr>
          <a:xfrm>
            <a:off x="621792" y="5376672"/>
            <a:ext cx="10954512" cy="685800"/>
          </a:xfrm>
          <a:prstGeom prst="rect">
            <a:avLst/>
          </a:prstGeom>
          <a:noFill/>
        </p:spPr>
        <p:txBody>
          <a:bodyPr wrap="square" lIns="0" tIns="22860" rIns="0" bIns="0">
            <a:spAutoFit/>
          </a:bodyPr>
          <a:lstStyle/>
          <a:p>
            <a:pPr>
              <a:spcAft>
                <a:spcPts val="800"/>
              </a:spcAft>
              <a:defRPr sz="2200" b="1">
                <a:solidFill>
                  <a:srgbClr val="173451"/>
                </a:solidFill>
                <a:latin typeface="Arial"/>
              </a:defRPr>
            </a:pPr>
            <a:r>
              <a:t>Today’s focus: Use an inverse operation on both sides.</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theme/theme1.xml><?xml version="1.0" encoding="utf-8"?>
<a:theme xmlns:a="http://schemas.openxmlformats.org/drawingml/2006/main"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17309</Words>
  <Application>Microsoft Macintosh PowerPoint</Application>
  <PresentationFormat>Widescreen</PresentationFormat>
  <Paragraphs>1080</Paragraphs>
  <Slides>54</Slides>
  <Notes>47</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54</vt:i4>
      </vt:variant>
    </vt:vector>
  </HeadingPairs>
  <TitlesOfParts>
    <vt:vector size="61" baseType="lpstr">
      <vt:lpstr>Arial</vt:lpstr>
      <vt:lpstr>Calibri</vt:lpstr>
      <vt:lpstr>Cambria Math</vt:lpstr>
      <vt:lpstr>Title Slide</vt:lpstr>
      <vt:lpstr>1_Custom Design</vt:lpstr>
      <vt:lpstr>Custom Design</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Neft, Joel D.</cp:lastModifiedBy>
  <cp:revision>1</cp:revision>
  <dcterms:modified xsi:type="dcterms:W3CDTF">2026-09-29T15:38:43Z</dcterms:modified>
  <dc:title>Reveal Math Grade 6 · Lesson 8.2 — Write and Solve Equations Using Addition or Subtraction</dc:title>
</cp:coreProperties>
</file>