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 To find cost per pound, divide price by pounds: $8.75 ÷ 5 = $1.75 per lb, $5.10 ÷ 3 = $1.70 per lb. Deal 2 ($1.70/lb) is still the better buy — but the correct unit rates are dollars per pound, not pounds per dollar.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3749040" cy="5143500"/>
          </a:xfrm>
          <a:prstGeom prst="rect">
            <a:avLst/>
          </a:prstGeom>
          <a:solidFill>
            <a:srgbClr val="17324D"/>
          </a:solidFill>
          <a:ln/>
        </p:spPr>
      </p:sp>
      <p:sp>
        <p:nvSpPr>
          <p:cNvPr id="3" name="Shape 1"/>
          <p:cNvSpPr/>
          <p:nvPr/>
        </p:nvSpPr>
        <p:spPr>
          <a:xfrm>
            <a:off x="2651760" y="-640080"/>
            <a:ext cx="2011680" cy="2011680"/>
          </a:xfrm>
          <a:prstGeom prst="ellipse">
            <a:avLst/>
          </a:prstGeom>
          <a:solidFill>
            <a:srgbClr val="B0883B">
              <a:alpha val="35000"/>
            </a:srgbClr>
          </a:solidFill>
          <a:ln/>
        </p:spPr>
      </p:sp>
      <p:sp>
        <p:nvSpPr>
          <p:cNvPr id="4" name="Text 2"/>
          <p:cNvSpPr/>
          <p:nvPr/>
        </p:nvSpPr>
        <p:spPr>
          <a:xfrm>
            <a:off x="411480" y="365760"/>
            <a:ext cx="3017520" cy="274320"/>
          </a:xfrm>
          <a:prstGeom prst="rect">
            <a:avLst/>
          </a:prstGeom>
          <a:noFill/>
          <a:ln/>
        </p:spPr>
        <p:txBody>
          <a:bodyPr wrap="square" rtlCol="0" anchor="ctr"/>
          <a:lstStyle/>
          <a:p>
            <a:pPr indent="0" marL="0">
              <a:buNone/>
            </a:pPr>
            <a:r>
              <a:rPr lang="en-US" sz="1100" b="1" spc="200" kern="0" dirty="0">
                <a:solidFill>
                  <a:srgbClr val="BFE6E2"/>
                </a:solidFill>
                <a:latin typeface="Outfit" pitchFamily="34" charset="0"/>
                <a:ea typeface="Outfit" pitchFamily="34" charset="-122"/>
                <a:cs typeface="Outfit" pitchFamily="34" charset="-120"/>
              </a:rPr>
              <a:t>NEFT TEACHER</a:t>
            </a:r>
            <a:endParaRPr lang="en-US" sz="1100" dirty="0"/>
          </a:p>
        </p:txBody>
      </p:sp>
      <p:sp>
        <p:nvSpPr>
          <p:cNvPr id="5" name="Text 3"/>
          <p:cNvSpPr/>
          <p:nvPr/>
        </p:nvSpPr>
        <p:spPr>
          <a:xfrm>
            <a:off x="411480" y="777240"/>
            <a:ext cx="1371600" cy="822960"/>
          </a:xfrm>
          <a:prstGeom prst="rect">
            <a:avLst/>
          </a:prstGeom>
          <a:noFill/>
          <a:ln/>
        </p:spPr>
        <p:txBody>
          <a:bodyPr wrap="square" rtlCol="0" anchor="ctr"/>
          <a:lstStyle/>
          <a:p>
            <a:pPr indent="0" marL="0">
              <a:buNone/>
            </a:pPr>
            <a:r>
              <a:rPr lang="en-US" sz="4400" dirty="0">
                <a:solidFill>
                  <a:srgbClr val="000000"/>
                </a:solidFill>
              </a:rPr>
              <a:t>🕹️</a:t>
            </a:r>
            <a:endParaRPr lang="en-US" sz="4400" dirty="0"/>
          </a:p>
        </p:txBody>
      </p:sp>
      <p:sp>
        <p:nvSpPr>
          <p:cNvPr id="6" name="Text 4"/>
          <p:cNvSpPr/>
          <p:nvPr/>
        </p:nvSpPr>
        <p:spPr>
          <a:xfrm>
            <a:off x="411480" y="1783080"/>
            <a:ext cx="3017520" cy="1554480"/>
          </a:xfrm>
          <a:prstGeom prst="rect">
            <a:avLst/>
          </a:prstGeom>
          <a:noFill/>
          <a:ln/>
        </p:spPr>
        <p:txBody>
          <a:bodyPr wrap="square" rtlCol="0" anchor="t"/>
          <a:lstStyle/>
          <a:p>
            <a:pPr indent="0" marL="0">
              <a:lnSpc>
                <a:spcPct val="95000"/>
              </a:lnSpc>
              <a:buNone/>
            </a:pPr>
            <a:r>
              <a:rPr lang="en-US" sz="3000" b="1" dirty="0">
                <a:solidFill>
                  <a:srgbClr val="FFFFFF"/>
                </a:solidFill>
                <a:latin typeface="Outfit" pitchFamily="34" charset="0"/>
                <a:ea typeface="Outfit" pitchFamily="34" charset="-122"/>
                <a:cs typeface="Outfit" pitchFamily="34" charset="-120"/>
              </a:rPr>
              <a:t>Solve Problems with Unit Rates</a:t>
            </a:r>
            <a:endParaRPr lang="en-US" sz="3000" dirty="0"/>
          </a:p>
        </p:txBody>
      </p:sp>
      <p:sp>
        <p:nvSpPr>
          <p:cNvPr id="7" name="Text 5"/>
          <p:cNvSpPr/>
          <p:nvPr/>
        </p:nvSpPr>
        <p:spPr>
          <a:xfrm>
            <a:off x="411480" y="4160520"/>
            <a:ext cx="1188720" cy="310896"/>
          </a:xfrm>
          <a:prstGeom prst="rect">
            <a:avLst>
              <a:gd name="adj" fmla="val 50000"/>
            </a:avLst>
          </a:prstGeom>
          <a:solidFill>
            <a:srgbClr val="B0883B"/>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6.RP.3b</a:t>
            </a:r>
            <a:endParaRPr lang="en-US" sz="1000" dirty="0"/>
          </a:p>
        </p:txBody>
      </p:sp>
      <p:sp>
        <p:nvSpPr>
          <p:cNvPr id="8" name="Text 6"/>
          <p:cNvSpPr/>
          <p:nvPr/>
        </p:nvSpPr>
        <p:spPr>
          <a:xfrm>
            <a:off x="1691640" y="4160520"/>
            <a:ext cx="1920240" cy="310896"/>
          </a:xfrm>
          <a:prstGeom prst="rect">
            <a:avLst/>
          </a:prstGeom>
          <a:noFill/>
          <a:ln/>
        </p:spPr>
        <p:txBody>
          <a:bodyPr wrap="square" rtlCol="0" anchor="ctr"/>
          <a:lstStyle/>
          <a:p>
            <a:pPr indent="0" marL="0">
              <a:buNone/>
            </a:pPr>
            <a:r>
              <a:rPr lang="en-US" sz="1000" dirty="0">
                <a:solidFill>
                  <a:srgbClr val="BFE6E2"/>
                </a:solidFill>
                <a:latin typeface="Hanken Grotesk" pitchFamily="34" charset="0"/>
                <a:ea typeface="Hanken Grotesk" pitchFamily="34" charset="-122"/>
                <a:cs typeface="Hanken Grotesk" pitchFamily="34" charset="-120"/>
              </a:rPr>
              <a:t>Unit 4  ·  Lesson 4-7</a:t>
            </a:r>
            <a:endParaRPr lang="en-US" sz="1000" dirty="0"/>
          </a:p>
        </p:txBody>
      </p:sp>
      <p:sp>
        <p:nvSpPr>
          <p:cNvPr id="9" name="Shape 7"/>
          <p:cNvSpPr/>
          <p:nvPr/>
        </p:nvSpPr>
        <p:spPr>
          <a:xfrm>
            <a:off x="4023360" y="411480"/>
            <a:ext cx="4800600" cy="1417320"/>
          </a:xfrm>
          <a:prstGeom prst="roundRect">
            <a:avLst>
              <a:gd name="adj" fmla="val 5161"/>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10" name="Text 8"/>
          <p:cNvSpPr/>
          <p:nvPr/>
        </p:nvSpPr>
        <p:spPr>
          <a:xfrm>
            <a:off x="4251960" y="548640"/>
            <a:ext cx="4389120" cy="365760"/>
          </a:xfrm>
          <a:prstGeom prst="rect">
            <a:avLst/>
          </a:prstGeom>
          <a:noFill/>
          <a:ln/>
        </p:spPr>
        <p:txBody>
          <a:bodyPr wrap="square" rtlCol="0" anchor="ctr"/>
          <a:lstStyle/>
          <a:p>
            <a:pPr indent="0" marL="0">
              <a:buNone/>
            </a:pPr>
            <a:r>
              <a:rPr lang="en-US" sz="1600" b="1" dirty="0">
                <a:solidFill>
                  <a:srgbClr val="17324D"/>
                </a:solidFill>
                <a:latin typeface="Outfit" pitchFamily="34" charset="0"/>
                <a:ea typeface="Outfit" pitchFamily="34" charset="-122"/>
                <a:cs typeface="Outfit" pitchFamily="34" charset="-120"/>
              </a:rPr>
              <a:t>My Math Notebook</a:t>
            </a:r>
            <a:endParaRPr lang="en-US" sz="1600" dirty="0"/>
          </a:p>
        </p:txBody>
      </p:sp>
      <p:sp>
        <p:nvSpPr>
          <p:cNvPr id="11" name="Text 9"/>
          <p:cNvSpPr/>
          <p:nvPr/>
        </p:nvSpPr>
        <p:spPr>
          <a:xfrm>
            <a:off x="4251960" y="1024128"/>
            <a:ext cx="731520" cy="219456"/>
          </a:xfrm>
          <a:prstGeom prst="rect">
            <a:avLst/>
          </a:prstGeom>
          <a:noFill/>
          <a:ln/>
        </p:spPr>
        <p:txBody>
          <a:bodyPr wrap="square" rtlCol="0" anchor="ctr"/>
          <a:lstStyle/>
          <a:p>
            <a:pPr indent="0" marL="0">
              <a:buNone/>
            </a:pPr>
            <a:r>
              <a:rPr lang="en-US" sz="1000" b="1" dirty="0">
                <a:solidFill>
                  <a:srgbClr val="24323F"/>
                </a:solidFill>
                <a:latin typeface="Hanken Grotesk" pitchFamily="34" charset="0"/>
                <a:ea typeface="Hanken Grotesk" pitchFamily="34" charset="-122"/>
                <a:cs typeface="Hanken Grotesk" pitchFamily="34" charset="-120"/>
              </a:rPr>
              <a:t>Name:</a:t>
            </a:r>
            <a:endParaRPr lang="en-US" sz="1000" dirty="0"/>
          </a:p>
        </p:txBody>
      </p:sp>
      <p:sp>
        <p:nvSpPr>
          <p:cNvPr id="12" name="Shape 10"/>
          <p:cNvSpPr/>
          <p:nvPr/>
        </p:nvSpPr>
        <p:spPr>
          <a:xfrm>
            <a:off x="4983480" y="1207008"/>
            <a:ext cx="3566160" cy="0"/>
          </a:xfrm>
          <a:prstGeom prst="line">
            <a:avLst/>
          </a:prstGeom>
          <a:noFill/>
          <a:ln w="9525">
            <a:solidFill>
              <a:srgbClr val="C7CDD2"/>
            </a:solidFill>
            <a:prstDash val="solid"/>
          </a:ln>
        </p:spPr>
      </p:sp>
      <p:sp>
        <p:nvSpPr>
          <p:cNvPr id="13" name="Text 11"/>
          <p:cNvSpPr/>
          <p:nvPr/>
        </p:nvSpPr>
        <p:spPr>
          <a:xfrm>
            <a:off x="4251960" y="1280160"/>
            <a:ext cx="731520" cy="219456"/>
          </a:xfrm>
          <a:prstGeom prst="rect">
            <a:avLst/>
          </a:prstGeom>
          <a:noFill/>
          <a:ln/>
        </p:spPr>
        <p:txBody>
          <a:bodyPr wrap="square" rtlCol="0" anchor="ctr"/>
          <a:lstStyle/>
          <a:p>
            <a:pPr indent="0" marL="0">
              <a:buNone/>
            </a:pPr>
            <a:r>
              <a:rPr lang="en-US" sz="1000" b="1" dirty="0">
                <a:solidFill>
                  <a:srgbClr val="24323F"/>
                </a:solidFill>
                <a:latin typeface="Hanken Grotesk" pitchFamily="34" charset="0"/>
                <a:ea typeface="Hanken Grotesk" pitchFamily="34" charset="-122"/>
                <a:cs typeface="Hanken Grotesk" pitchFamily="34" charset="-120"/>
              </a:rPr>
              <a:t>Date:</a:t>
            </a:r>
            <a:endParaRPr lang="en-US" sz="1000" dirty="0"/>
          </a:p>
        </p:txBody>
      </p:sp>
      <p:sp>
        <p:nvSpPr>
          <p:cNvPr id="14" name="Shape 12"/>
          <p:cNvSpPr/>
          <p:nvPr/>
        </p:nvSpPr>
        <p:spPr>
          <a:xfrm>
            <a:off x="4983480" y="1463040"/>
            <a:ext cx="3566160" cy="0"/>
          </a:xfrm>
          <a:prstGeom prst="line">
            <a:avLst/>
          </a:prstGeom>
          <a:noFill/>
          <a:ln w="9525">
            <a:solidFill>
              <a:srgbClr val="C7CDD2"/>
            </a:solidFill>
            <a:prstDash val="solid"/>
          </a:ln>
        </p:spPr>
      </p:sp>
      <p:sp>
        <p:nvSpPr>
          <p:cNvPr id="15" name="Text 13"/>
          <p:cNvSpPr/>
          <p:nvPr/>
        </p:nvSpPr>
        <p:spPr>
          <a:xfrm>
            <a:off x="4251960" y="1536192"/>
            <a:ext cx="731520" cy="219456"/>
          </a:xfrm>
          <a:prstGeom prst="rect">
            <a:avLst/>
          </a:prstGeom>
          <a:noFill/>
          <a:ln/>
        </p:spPr>
        <p:txBody>
          <a:bodyPr wrap="square" rtlCol="0" anchor="ctr"/>
          <a:lstStyle/>
          <a:p>
            <a:pPr indent="0" marL="0">
              <a:buNone/>
            </a:pPr>
            <a:r>
              <a:rPr lang="en-US" sz="1000" b="1" dirty="0">
                <a:solidFill>
                  <a:srgbClr val="24323F"/>
                </a:solidFill>
                <a:latin typeface="Hanken Grotesk" pitchFamily="34" charset="0"/>
                <a:ea typeface="Hanken Grotesk" pitchFamily="34" charset="-122"/>
                <a:cs typeface="Hanken Grotesk" pitchFamily="34" charset="-120"/>
              </a:rPr>
              <a:t>Period:</a:t>
            </a:r>
            <a:endParaRPr lang="en-US" sz="1000" dirty="0"/>
          </a:p>
        </p:txBody>
      </p:sp>
      <p:sp>
        <p:nvSpPr>
          <p:cNvPr id="16" name="Shape 14"/>
          <p:cNvSpPr/>
          <p:nvPr/>
        </p:nvSpPr>
        <p:spPr>
          <a:xfrm>
            <a:off x="4983480" y="1719072"/>
            <a:ext cx="3566160" cy="0"/>
          </a:xfrm>
          <a:prstGeom prst="line">
            <a:avLst/>
          </a:prstGeom>
          <a:noFill/>
          <a:ln w="9525">
            <a:solidFill>
              <a:srgbClr val="C7CDD2"/>
            </a:solidFill>
            <a:prstDash val="solid"/>
          </a:ln>
        </p:spPr>
      </p:sp>
      <p:sp>
        <p:nvSpPr>
          <p:cNvPr id="17" name="Shape 15"/>
          <p:cNvSpPr/>
          <p:nvPr/>
        </p:nvSpPr>
        <p:spPr>
          <a:xfrm>
            <a:off x="4023360" y="2011680"/>
            <a:ext cx="4800600" cy="1143000"/>
          </a:xfrm>
          <a:prstGeom prst="roundRect">
            <a:avLst>
              <a:gd name="adj" fmla="val 6400"/>
            </a:avLst>
          </a:prstGeom>
          <a:solidFill>
            <a:srgbClr val="DFF2EE"/>
          </a:solidFill>
          <a:ln w="12700">
            <a:solidFill>
              <a:srgbClr val="1FA6A2"/>
            </a:solidFill>
            <a:prstDash val="solid"/>
          </a:ln>
          <a:effectLst>
            <a:outerShdw sx="100000" sy="100000" kx="0" ky="0" algn="bl" rotWithShape="0" blurRad="50800" dist="12700" dir="5400000">
              <a:srgbClr val="1C2E42">
                <a:alpha val="10000"/>
              </a:srgbClr>
            </a:outerShdw>
          </a:effectLst>
        </p:spPr>
      </p:sp>
      <p:sp>
        <p:nvSpPr>
          <p:cNvPr id="18" name="Text 16"/>
          <p:cNvSpPr/>
          <p:nvPr/>
        </p:nvSpPr>
        <p:spPr>
          <a:xfrm>
            <a:off x="4206240" y="2103120"/>
            <a:ext cx="4434840" cy="274320"/>
          </a:xfrm>
          <a:prstGeom prst="rect">
            <a:avLst/>
          </a:prstGeom>
          <a:noFill/>
          <a:ln/>
        </p:spPr>
        <p:txBody>
          <a:bodyPr wrap="square" rtlCol="0" anchor="ctr"/>
          <a:lstStyle/>
          <a:p>
            <a:pPr indent="0" marL="0">
              <a:buNone/>
            </a:pPr>
            <a:r>
              <a:rPr lang="en-US" sz="1100" b="1" dirty="0">
                <a:solidFill>
                  <a:srgbClr val="B0883B"/>
                </a:solidFill>
                <a:latin typeface="Outfit" pitchFamily="34" charset="0"/>
                <a:ea typeface="Outfit" pitchFamily="34" charset="-122"/>
                <a:cs typeface="Outfit" pitchFamily="34" charset="-120"/>
              </a:rPr>
              <a:t>I CAN…  </a:t>
            </a:r>
            <a:pPr indent="0" marL="0">
              <a:buNone/>
            </a:pPr>
            <a:r>
              <a:rPr lang="en-US" sz="900" i="1" dirty="0">
                <a:solidFill>
                  <a:srgbClr val="8A96A3"/>
                </a:solidFill>
                <a:latin typeface="Outfit" pitchFamily="34" charset="0"/>
                <a:ea typeface="Outfit" pitchFamily="34" charset="-122"/>
                <a:cs typeface="Outfit" pitchFamily="34" charset="-120"/>
              </a:rPr>
              <a:t>/ Yo puedo…</a:t>
            </a:r>
            <a:endParaRPr lang="en-US" sz="1100" dirty="0"/>
          </a:p>
        </p:txBody>
      </p:sp>
      <p:sp>
        <p:nvSpPr>
          <p:cNvPr id="19" name="Text 17"/>
          <p:cNvSpPr/>
          <p:nvPr/>
        </p:nvSpPr>
        <p:spPr>
          <a:xfrm>
            <a:off x="4206240" y="2395728"/>
            <a:ext cx="4434840" cy="713232"/>
          </a:xfrm>
          <a:prstGeom prst="rect">
            <a:avLst/>
          </a:prstGeom>
          <a:noFill/>
          <a:ln/>
        </p:spPr>
        <p:txBody>
          <a:bodyPr wrap="square" rtlCol="0" anchor="t"/>
          <a:lstStyle/>
          <a:p>
            <a:pPr indent="0" marL="0">
              <a:buNone/>
            </a:pPr>
            <a:r>
              <a:rPr lang="en-US" sz="1100" dirty="0">
                <a:solidFill>
                  <a:srgbClr val="17324D"/>
                </a:solidFill>
                <a:latin typeface="Hanken Grotesk" pitchFamily="34" charset="0"/>
                <a:ea typeface="Hanken Grotesk" pitchFamily="34" charset="-122"/>
                <a:cs typeface="Hanken Grotesk" pitchFamily="34" charset="-120"/>
              </a:rPr>
              <a:t>I can solve real-world problems by using unit rates to compare options.</a:t>
            </a:r>
            <a:endParaRPr lang="en-US" sz="1100" dirty="0"/>
          </a:p>
        </p:txBody>
      </p:sp>
      <p:sp>
        <p:nvSpPr>
          <p:cNvPr id="20" name="Shape 18"/>
          <p:cNvSpPr/>
          <p:nvPr/>
        </p:nvSpPr>
        <p:spPr>
          <a:xfrm>
            <a:off x="4023360" y="3291840"/>
            <a:ext cx="4800600" cy="1280160"/>
          </a:xfrm>
          <a:prstGeom prst="roundRect">
            <a:avLst>
              <a:gd name="adj" fmla="val 5714"/>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1" name="Text 19"/>
          <p:cNvSpPr/>
          <p:nvPr/>
        </p:nvSpPr>
        <p:spPr>
          <a:xfrm>
            <a:off x="4206240" y="3383280"/>
            <a:ext cx="4434840" cy="274320"/>
          </a:xfrm>
          <a:prstGeom prst="rect">
            <a:avLst/>
          </a:prstGeom>
          <a:noFill/>
          <a:ln/>
        </p:spPr>
        <p:txBody>
          <a:bodyPr wrap="square" rtlCol="0" anchor="ctr"/>
          <a:lstStyle/>
          <a:p>
            <a:pPr indent="0" marL="0">
              <a:buNone/>
            </a:pPr>
            <a:r>
              <a:rPr lang="en-US" sz="1100" b="1" dirty="0">
                <a:solidFill>
                  <a:srgbClr val="B0883B"/>
                </a:solidFill>
                <a:latin typeface="Outfit" pitchFamily="34" charset="0"/>
                <a:ea typeface="Outfit" pitchFamily="34" charset="-122"/>
                <a:cs typeface="Outfit" pitchFamily="34" charset="-120"/>
              </a:rPr>
              <a:t>I WILL EXPLAIN…  </a:t>
            </a:r>
            <a:pPr indent="0" marL="0">
              <a:buNone/>
            </a:pPr>
            <a:r>
              <a:rPr lang="en-US" sz="900" i="1" dirty="0">
                <a:solidFill>
                  <a:srgbClr val="8A96A3"/>
                </a:solidFill>
                <a:latin typeface="Outfit" pitchFamily="34" charset="0"/>
                <a:ea typeface="Outfit" pitchFamily="34" charset="-122"/>
                <a:cs typeface="Outfit" pitchFamily="34" charset="-120"/>
              </a:rPr>
              <a:t>/ Objetivo de lenguaje</a:t>
            </a:r>
            <a:endParaRPr lang="en-US" sz="1100" dirty="0"/>
          </a:p>
        </p:txBody>
      </p:sp>
      <p:sp>
        <p:nvSpPr>
          <p:cNvPr id="22" name="Text 20"/>
          <p:cNvSpPr/>
          <p:nvPr/>
        </p:nvSpPr>
        <p:spPr>
          <a:xfrm>
            <a:off x="4206240" y="3675888"/>
            <a:ext cx="4434840" cy="841248"/>
          </a:xfrm>
          <a:prstGeom prst="rect">
            <a:avLst/>
          </a:prstGeom>
          <a:noFill/>
          <a:ln/>
        </p:spPr>
        <p:txBody>
          <a:bodyPr wrap="square" rtlCol="0" anchor="t"/>
          <a:lstStyle/>
          <a:p>
            <a:pPr indent="0" marL="0">
              <a:buNone/>
            </a:pPr>
            <a:r>
              <a:rPr lang="en-US" sz="1050" dirty="0">
                <a:solidFill>
                  <a:srgbClr val="24323F"/>
                </a:solidFill>
                <a:latin typeface="Hanken Grotesk" pitchFamily="34" charset="0"/>
                <a:ea typeface="Hanken Grotesk" pitchFamily="34" charset="-122"/>
                <a:cs typeface="Hanken Grotesk" pitchFamily="34" charset="-120"/>
              </a:rPr>
              <a:t>I can explain my comparison using the words unit rate, better buy, per unit, and rate.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Be Curious / Sé Curioso</a:t>
            </a:r>
            <a:endParaRPr lang="en-US" sz="1500" dirty="0"/>
          </a:p>
        </p:txBody>
      </p:sp>
      <p:sp>
        <p:nvSpPr>
          <p:cNvPr id="5" name="Text 3"/>
          <p:cNvSpPr/>
          <p:nvPr/>
        </p:nvSpPr>
        <p:spPr>
          <a:xfrm>
            <a:off x="7360920" y="100584"/>
            <a:ext cx="914400" cy="274320"/>
          </a:xfrm>
          <a:prstGeom prst="rect">
            <a:avLst>
              <a:gd name="adj" fmla="val 50000"/>
            </a:avLst>
          </a:prstGeom>
          <a:solidFill>
            <a:srgbClr val="B0883B"/>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6.RP.3b</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4  ·  Lesson 4-7</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2</a:t>
            </a:r>
            <a:endParaRPr lang="en-US" sz="800" dirty="0"/>
          </a:p>
        </p:txBody>
      </p:sp>
      <p:sp>
        <p:nvSpPr>
          <p:cNvPr id="17" name="Shape 15"/>
          <p:cNvSpPr/>
          <p:nvPr/>
        </p:nvSpPr>
        <p:spPr>
          <a:xfrm>
            <a:off x="411480" y="685800"/>
            <a:ext cx="4160520" cy="4023360"/>
          </a:xfrm>
          <a:prstGeom prst="roundRect">
            <a:avLst>
              <a:gd name="adj" fmla="val 1818"/>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18" name="Text 16"/>
          <p:cNvSpPr/>
          <p:nvPr/>
        </p:nvSpPr>
        <p:spPr>
          <a:xfrm>
            <a:off x="594360" y="841248"/>
            <a:ext cx="1371600" cy="274320"/>
          </a:xfrm>
          <a:prstGeom prst="rect">
            <a:avLst>
              <a:gd name="adj" fmla="val 50000"/>
            </a:avLst>
          </a:prstGeom>
          <a:solidFill>
            <a:srgbClr val="B0883B"/>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VISUAL PROMPT</a:t>
            </a:r>
            <a:endParaRPr lang="en-US" sz="900" dirty="0"/>
          </a:p>
        </p:txBody>
      </p:sp>
      <p:sp>
        <p:nvSpPr>
          <p:cNvPr id="19" name="Text 17"/>
          <p:cNvSpPr/>
          <p:nvPr/>
        </p:nvSpPr>
        <p:spPr>
          <a:xfrm>
            <a:off x="594360" y="1207008"/>
            <a:ext cx="3794760" cy="274320"/>
          </a:xfrm>
          <a:prstGeom prst="rect">
            <a:avLst/>
          </a:prstGeom>
          <a:noFill/>
          <a:ln/>
        </p:spPr>
        <p:txBody>
          <a:bodyPr wrap="square" rtlCol="0" anchor="ctr"/>
          <a:lstStyle/>
          <a:p>
            <a:pPr indent="0" marL="0">
              <a:buNone/>
            </a:pPr>
            <a:r>
              <a:rPr lang="en-US" sz="1100" b="1" dirty="0">
                <a:solidFill>
                  <a:srgbClr val="17324D"/>
                </a:solidFill>
                <a:latin typeface="Outfit" pitchFamily="34" charset="0"/>
                <a:ea typeface="Outfit" pitchFamily="34" charset="-122"/>
                <a:cs typeface="Outfit" pitchFamily="34" charset="-120"/>
              </a:rPr>
              <a:t>Arcade Builder Challenge</a:t>
            </a:r>
            <a:endParaRPr lang="en-US" sz="1100" dirty="0"/>
          </a:p>
        </p:txBody>
      </p:sp>
      <p:sp>
        <p:nvSpPr>
          <p:cNvPr id="20" name="Text 18"/>
          <p:cNvSpPr/>
          <p:nvPr/>
        </p:nvSpPr>
        <p:spPr>
          <a:xfrm>
            <a:off x="594360" y="1508760"/>
            <a:ext cx="3794760" cy="1554480"/>
          </a:xfrm>
          <a:prstGeom prst="rect">
            <a:avLst/>
          </a:prstGeom>
          <a:noFill/>
          <a:ln/>
        </p:spPr>
        <p:txBody>
          <a:bodyPr wrap="square" rtlCol="0" anchor="t"/>
          <a:lstStyle/>
          <a:p>
            <a:pPr indent="0" marL="0">
              <a:buNone/>
            </a:pPr>
            <a:r>
              <a:rPr lang="en-US" sz="1150" dirty="0">
                <a:solidFill>
                  <a:srgbClr val="24323F"/>
                </a:solidFill>
                <a:latin typeface="Hanken Grotesk" pitchFamily="34" charset="0"/>
                <a:ea typeface="Hanken Grotesk" pitchFamily="34" charset="-122"/>
                <a:cs typeface="Hanken Grotesk" pitchFamily="34" charset="-120"/>
              </a:rPr>
              <a:t>You're the new supply manager for the arcade! You need to order tokens, prizes, and snacks from different suppliers. Each supplier offers a different package deal. Your job is to find the unit rate for each deal and figure out which supplier gives you the best value for every item you need to order.</a:t>
            </a:r>
            <a:endParaRPr lang="en-US" sz="1150" dirty="0"/>
          </a:p>
        </p:txBody>
      </p:sp>
      <p:sp>
        <p:nvSpPr>
          <p:cNvPr id="21" name="Text 19"/>
          <p:cNvSpPr/>
          <p:nvPr/>
        </p:nvSpPr>
        <p:spPr>
          <a:xfrm>
            <a:off x="594360" y="3154680"/>
            <a:ext cx="3657600" cy="228600"/>
          </a:xfrm>
          <a:prstGeom prst="rect">
            <a:avLst/>
          </a:prstGeom>
          <a:noFill/>
          <a:ln/>
        </p:spPr>
        <p:txBody>
          <a:bodyPr wrap="square" rtlCol="0" anchor="ctr"/>
          <a:lstStyle/>
          <a:p>
            <a:pPr indent="0" marL="0">
              <a:buNone/>
            </a:pPr>
            <a:r>
              <a:rPr lang="en-US" sz="900" i="1" dirty="0">
                <a:solidFill>
                  <a:srgbClr val="8A96A3"/>
                </a:solidFill>
                <a:latin typeface="Hanken Grotesk" pitchFamily="34" charset="0"/>
                <a:ea typeface="Hanken Grotesk" pitchFamily="34" charset="-122"/>
                <a:cs typeface="Hanken Grotesk" pitchFamily="34" charset="-120"/>
              </a:rPr>
              <a:t>Jot your first idea:</a:t>
            </a:r>
            <a:endParaRPr lang="en-US" sz="900" dirty="0"/>
          </a:p>
        </p:txBody>
      </p:sp>
      <p:sp>
        <p:nvSpPr>
          <p:cNvPr id="22" name="Shape 20"/>
          <p:cNvSpPr/>
          <p:nvPr/>
        </p:nvSpPr>
        <p:spPr>
          <a:xfrm>
            <a:off x="594360" y="3566160"/>
            <a:ext cx="3794760" cy="0"/>
          </a:xfrm>
          <a:prstGeom prst="line">
            <a:avLst/>
          </a:prstGeom>
          <a:noFill/>
          <a:ln w="9525">
            <a:solidFill>
              <a:srgbClr val="C7CDD2"/>
            </a:solidFill>
            <a:prstDash val="dash"/>
          </a:ln>
        </p:spPr>
      </p:sp>
      <p:sp>
        <p:nvSpPr>
          <p:cNvPr id="23" name="Shape 21"/>
          <p:cNvSpPr/>
          <p:nvPr/>
        </p:nvSpPr>
        <p:spPr>
          <a:xfrm>
            <a:off x="594360" y="3886200"/>
            <a:ext cx="3794760" cy="0"/>
          </a:xfrm>
          <a:prstGeom prst="line">
            <a:avLst/>
          </a:prstGeom>
          <a:noFill/>
          <a:ln w="9525">
            <a:solidFill>
              <a:srgbClr val="C7CDD2"/>
            </a:solidFill>
            <a:prstDash val="dash"/>
          </a:ln>
        </p:spPr>
      </p:sp>
      <p:sp>
        <p:nvSpPr>
          <p:cNvPr id="24" name="Shape 22"/>
          <p:cNvSpPr/>
          <p:nvPr/>
        </p:nvSpPr>
        <p:spPr>
          <a:xfrm>
            <a:off x="594360" y="4206240"/>
            <a:ext cx="3794760" cy="0"/>
          </a:xfrm>
          <a:prstGeom prst="line">
            <a:avLst/>
          </a:prstGeom>
          <a:noFill/>
          <a:ln w="9525">
            <a:solidFill>
              <a:srgbClr val="C7CDD2"/>
            </a:solidFill>
            <a:prstDash val="dash"/>
          </a:ln>
        </p:spPr>
      </p:sp>
      <p:sp>
        <p:nvSpPr>
          <p:cNvPr id="25" name="Shape 23"/>
          <p:cNvSpPr/>
          <p:nvPr/>
        </p:nvSpPr>
        <p:spPr>
          <a:xfrm>
            <a:off x="4709160" y="685800"/>
            <a:ext cx="4114800" cy="1920240"/>
          </a:xfrm>
          <a:prstGeom prst="roundRect">
            <a:avLst>
              <a:gd name="adj" fmla="val 3810"/>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6" name="Text 24"/>
          <p:cNvSpPr/>
          <p:nvPr/>
        </p:nvSpPr>
        <p:spPr>
          <a:xfrm>
            <a:off x="4709160" y="685800"/>
            <a:ext cx="4114800" cy="274320"/>
          </a:xfrm>
          <a:prstGeom prst="rect">
            <a:avLst/>
          </a:prstGeom>
          <a:solidFill>
            <a:srgbClr val="1FA6A2"/>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  I Notice…</a:t>
            </a:r>
            <a:endParaRPr lang="en-US" sz="1000" dirty="0"/>
          </a:p>
        </p:txBody>
      </p:sp>
      <p:sp>
        <p:nvSpPr>
          <p:cNvPr id="27" name="Text 25"/>
          <p:cNvSpPr/>
          <p:nvPr/>
        </p:nvSpPr>
        <p:spPr>
          <a:xfrm>
            <a:off x="4892040" y="1051560"/>
            <a:ext cx="3749040" cy="1463040"/>
          </a:xfrm>
          <a:prstGeom prst="rect">
            <a:avLst/>
          </a:prstGeom>
          <a:noFill/>
          <a:ln/>
        </p:spPr>
        <p:txBody>
          <a:bodyPr wrap="square" rtlCol="0" anchor="t"/>
          <a:lstStyle/>
          <a:p>
            <a:pPr indent="0" marL="0">
              <a:lnSpc>
                <a:spcPct val="110000"/>
              </a:lnSpc>
              <a:buNone/>
            </a:pPr>
            <a:r>
              <a:rPr lang="en-US" sz="1000" dirty="0">
                <a:solidFill>
                  <a:srgbClr val="24323F"/>
                </a:solidFill>
                <a:latin typeface="Hanken Grotesk" pitchFamily="34" charset="0"/>
                <a:ea typeface="Hanken Grotesk" pitchFamily="34" charset="-122"/>
                <a:cs typeface="Hanken Grotesk" pitchFamily="34" charset="-120"/>
              </a:rPr>
              <a:t>•  How can you compare deals when the quantities are different?</a:t>
            </a:r>
            <a:endParaRPr lang="en-US" sz="1000" dirty="0"/>
          </a:p>
          <a:p>
            <a:pPr indent="0" marL="0">
              <a:lnSpc>
                <a:spcPct val="110000"/>
              </a:lnSpc>
              <a:buNone/>
            </a:pPr>
            <a:r>
              <a:rPr lang="en-US" sz="1000" dirty="0">
                <a:solidFill>
                  <a:srgbClr val="24323F"/>
                </a:solidFill>
                <a:latin typeface="Hanken Grotesk" pitchFamily="34" charset="0"/>
                <a:ea typeface="Hanken Grotesk" pitchFamily="34" charset="-122"/>
                <a:cs typeface="Hanken Grotesk" pitchFamily="34" charset="-120"/>
              </a:rPr>
              <a:t>•  What operation helps you find the cost for just one item?</a:t>
            </a:r>
            <a:endParaRPr lang="en-US" sz="1000" dirty="0"/>
          </a:p>
        </p:txBody>
      </p:sp>
      <p:sp>
        <p:nvSpPr>
          <p:cNvPr id="28" name="Shape 26"/>
          <p:cNvSpPr/>
          <p:nvPr/>
        </p:nvSpPr>
        <p:spPr>
          <a:xfrm>
            <a:off x="4709160" y="2743200"/>
            <a:ext cx="4114800" cy="1965960"/>
          </a:xfrm>
          <a:prstGeom prst="roundRect">
            <a:avLst>
              <a:gd name="adj" fmla="val 3721"/>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9" name="Text 27"/>
          <p:cNvSpPr/>
          <p:nvPr/>
        </p:nvSpPr>
        <p:spPr>
          <a:xfrm>
            <a:off x="4709160" y="2743200"/>
            <a:ext cx="4114800" cy="274320"/>
          </a:xfrm>
          <a:prstGeom prst="rect">
            <a:avLst/>
          </a:prstGeom>
          <a:solidFill>
            <a:srgbClr val="F2C15B"/>
          </a:solidFill>
          <a:ln/>
        </p:spPr>
        <p:txBody>
          <a:bodyPr wrap="square" rtlCol="0" anchor="ctr"/>
          <a:lstStyle/>
          <a:p>
            <a:pPr algn="ctr" indent="0" marL="0">
              <a:buNone/>
            </a:pPr>
            <a:r>
              <a:rPr lang="en-US" sz="1000" b="1" dirty="0">
                <a:solidFill>
                  <a:srgbClr val="17324D"/>
                </a:solidFill>
                <a:latin typeface="Outfit" pitchFamily="34" charset="0"/>
                <a:ea typeface="Outfit" pitchFamily="34" charset="-122"/>
                <a:cs typeface="Outfit" pitchFamily="34" charset="-120"/>
              </a:rPr>
              <a:t>💭  I Wonder…</a:t>
            </a:r>
            <a:endParaRPr lang="en-US" sz="1000" dirty="0"/>
          </a:p>
        </p:txBody>
      </p:sp>
      <p:sp>
        <p:nvSpPr>
          <p:cNvPr id="30" name="Text 28"/>
          <p:cNvSpPr/>
          <p:nvPr/>
        </p:nvSpPr>
        <p:spPr>
          <a:xfrm>
            <a:off x="4892040" y="3108960"/>
            <a:ext cx="3749040" cy="1508760"/>
          </a:xfrm>
          <a:prstGeom prst="rect">
            <a:avLst/>
          </a:prstGeom>
          <a:noFill/>
          <a:ln/>
        </p:spPr>
        <p:txBody>
          <a:bodyPr wrap="square" rtlCol="0" anchor="t"/>
          <a:lstStyle/>
          <a:p>
            <a:pPr indent="0" marL="0">
              <a:lnSpc>
                <a:spcPct val="110000"/>
              </a:lnSpc>
              <a:buNone/>
            </a:pPr>
            <a:r>
              <a:rPr lang="en-US" sz="1000" dirty="0">
                <a:solidFill>
                  <a:srgbClr val="24323F"/>
                </a:solidFill>
                <a:latin typeface="Hanken Grotesk" pitchFamily="34" charset="0"/>
                <a:ea typeface="Hanken Grotesk" pitchFamily="34" charset="-122"/>
                <a:cs typeface="Hanken Grotesk" pitchFamily="34" charset="-120"/>
              </a:rPr>
              <a:t>•  Does the biggest package always give the best unit rate?</a:t>
            </a:r>
            <a:endParaRPr lang="en-US" sz="1000" dirty="0"/>
          </a:p>
          <a:p>
            <a:pPr indent="0" marL="0">
              <a:lnSpc>
                <a:spcPct val="110000"/>
              </a:lnSpc>
              <a:buNone/>
            </a:pPr>
            <a:r>
              <a:rPr lang="en-US" sz="1000" dirty="0">
                <a:solidFill>
                  <a:srgbClr val="24323F"/>
                </a:solidFill>
                <a:latin typeface="Hanken Grotesk" pitchFamily="34" charset="0"/>
                <a:ea typeface="Hanken Grotesk" pitchFamily="34" charset="-122"/>
                <a:cs typeface="Hanken Grotesk" pitchFamily="34" charset="-120"/>
              </a:rPr>
              <a:t>•  How can unit rates help you make smart spending decisions?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Vocabulary / Vocabulario</a:t>
            </a:r>
            <a:endParaRPr lang="en-US" sz="1500" dirty="0"/>
          </a:p>
        </p:txBody>
      </p:sp>
      <p:sp>
        <p:nvSpPr>
          <p:cNvPr id="5" name="Text 3"/>
          <p:cNvSpPr/>
          <p:nvPr/>
        </p:nvSpPr>
        <p:spPr>
          <a:xfrm>
            <a:off x="7360920" y="100584"/>
            <a:ext cx="914400" cy="274320"/>
          </a:xfrm>
          <a:prstGeom prst="rect">
            <a:avLst>
              <a:gd name="adj" fmla="val 50000"/>
            </a:avLst>
          </a:prstGeom>
          <a:solidFill>
            <a:srgbClr val="B0883B"/>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6.RP.3b</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4  ·  Lesson 4-7</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3</a:t>
            </a:r>
            <a:endParaRPr lang="en-US" sz="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1480" y="685800"/>
          <a:ext cx="8412480" cy="914400"/>
        </p:xfrm>
        <a:graphic>
          <a:graphicData uri="http://schemas.openxmlformats.org/drawingml/2006/table">
            <a:tbl>
              <a:tblPr/>
              <a:tblGrid>
                <a:gridCol w="2103120"/>
                <a:gridCol w="4114800"/>
                <a:gridCol w="2194560"/>
              </a:tblGrid>
              <a:tr h="457200">
                <a:tc>
                  <a:txBody>
                    <a:bodyPr/>
                    <a:lstStyle/>
                    <a:p>
                      <a:pPr indent="0" marL="0">
                        <a:buNone/>
                      </a:pPr>
                      <a:r>
                        <a:rPr lang="en-US" sz="1000" b="1" dirty="0">
                          <a:solidFill>
                            <a:srgbClr val="FFFFFF"/>
                          </a:solidFill>
                          <a:latin typeface="Outfit" pitchFamily="34" charset="0"/>
                          <a:ea typeface="Outfit" pitchFamily="34" charset="-122"/>
                          <a:cs typeface="Outfit" pitchFamily="34" charset="-120"/>
                        </a:rPr>
                        <a:t>Term / Término</a:t>
                      </a:r>
                      <a:endParaRPr lang="en-US" sz="1000" dirty="0">
                        <a:latin typeface="Outfit" charset="0"/>
                        <a:ea typeface="Outfit" charset="0"/>
                        <a:cs typeface="Outfit"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17324D"/>
                    </a:solidFill>
                  </a:tcPr>
                </a:tc>
                <a:tc>
                  <a:txBody>
                    <a:bodyPr/>
                    <a:lstStyle/>
                    <a:p>
                      <a:pPr indent="0" marL="0">
                        <a:buNone/>
                      </a:pPr>
                      <a:r>
                        <a:rPr lang="en-US" sz="1000" b="1" dirty="0">
                          <a:solidFill>
                            <a:srgbClr val="FFFFFF"/>
                          </a:solidFill>
                          <a:latin typeface="Outfit" pitchFamily="34" charset="0"/>
                          <a:ea typeface="Outfit" pitchFamily="34" charset="-122"/>
                          <a:cs typeface="Outfit" pitchFamily="34" charset="-120"/>
                        </a:rPr>
                        <a:t>Meaning / Significado</a:t>
                      </a:r>
                      <a:endParaRPr lang="en-US" sz="1000" dirty="0">
                        <a:latin typeface="Outfit" charset="0"/>
                        <a:ea typeface="Outfit" charset="0"/>
                        <a:cs typeface="Outfit"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17324D"/>
                    </a:solidFill>
                  </a:tcPr>
                </a:tc>
                <a:tc>
                  <a:txBody>
                    <a:bodyPr/>
                    <a:lstStyle/>
                    <a:p>
                      <a:pPr indent="0" marL="0">
                        <a:buNone/>
                      </a:pPr>
                      <a:r>
                        <a:rPr lang="en-US" sz="1000" b="1" dirty="0">
                          <a:solidFill>
                            <a:srgbClr val="FFFFFF"/>
                          </a:solidFill>
                          <a:latin typeface="Outfit" pitchFamily="34" charset="0"/>
                          <a:ea typeface="Outfit" pitchFamily="34" charset="-122"/>
                          <a:cs typeface="Outfit" pitchFamily="34" charset="-120"/>
                        </a:rPr>
                        <a:t>Example / Ejemplo</a:t>
                      </a:r>
                      <a:endParaRPr lang="en-US" sz="1000" dirty="0">
                        <a:latin typeface="Outfit" charset="0"/>
                        <a:ea typeface="Outfit" charset="0"/>
                        <a:cs typeface="Outfit"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17324D"/>
                    </a:solidFill>
                  </a:tcPr>
                </a:tc>
              </a:tr>
              <a:tr h="457200">
                <a:tc>
                  <a:txBody>
                    <a:bodyPr/>
                    <a:lstStyle/>
                    <a:p>
                      <a:pPr indent="0" marL="0">
                        <a:buNone/>
                      </a:pPr>
                      <a:r>
                        <a:rPr lang="en-US" sz="950" b="1" dirty="0">
                          <a:solidFill>
                            <a:srgbClr val="17324D"/>
                          </a:solidFill>
                          <a:latin typeface="Hanken Grotesk" pitchFamily="34" charset="0"/>
                          <a:ea typeface="Hanken Grotesk" pitchFamily="34" charset="-122"/>
                          <a:cs typeface="Hanken Grotesk" pitchFamily="34" charset="-120"/>
                        </a:rPr>
                        <a:t>Unit Rate</a:t>
                      </a:r>
                      <a:pPr indent="0" marL="0">
                        <a:buNone/>
                      </a:pPr>
                      <a:endParaRPr lang="en-US" sz="950" dirty="0">
                        <a:latin typeface="Hanken Grotesk" charset="0"/>
                        <a:ea typeface="Hanken Grotesk" charset="0"/>
                        <a:cs typeface="Hanken Grotesk" charset="0"/>
                      </a:endParaRPr>
                    </a:p>
                    <a:p>
                      <a:pPr indent="0" marL="0">
                        <a:buNone/>
                      </a:pPr>
                      <a:r>
                        <a:rPr lang="en-US" sz="850" i="1" dirty="0">
                          <a:solidFill>
                            <a:srgbClr val="8A96A3"/>
                          </a:solidFill>
                          <a:latin typeface="Hanken Grotesk" pitchFamily="34" charset="0"/>
                          <a:ea typeface="Hanken Grotesk" pitchFamily="34" charset="-122"/>
                          <a:cs typeface="Hanken Grotesk" pitchFamily="34" charset="-120"/>
                        </a:rPr>
                        <a:t>Tasa unitaria</a:t>
                      </a:r>
                      <a:endParaRPr lang="en-US" sz="95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FFFFF"/>
                    </a:solidFill>
                  </a:tcPr>
                </a:tc>
                <a:tc>
                  <a:txBody>
                    <a:bodyPr/>
                    <a:lstStyle/>
                    <a:p>
                      <a:pPr indent="0" marL="0">
                        <a:buNone/>
                      </a:pPr>
                      <a:r>
                        <a:rPr lang="en-US" sz="900" dirty="0">
                          <a:solidFill>
                            <a:srgbClr val="24323F"/>
                          </a:solidFill>
                          <a:latin typeface="Hanken Grotesk" pitchFamily="34" charset="0"/>
                          <a:ea typeface="Hanken Grotesk" pitchFamily="34" charset="-122"/>
                          <a:cs typeface="Hanken Grotesk" pitchFamily="34" charset="-120"/>
                        </a:rPr>
                        <a:t>A rate for just 1 of something, like cost for 1 item.</a:t>
                      </a:r>
                      <a:pPr indent="0" marL="0">
                        <a:buNone/>
                      </a:pPr>
                      <a:endParaRPr lang="en-US" sz="900" dirty="0">
                        <a:latin typeface="Hanken Grotesk" charset="0"/>
                        <a:ea typeface="Hanken Grotesk" charset="0"/>
                        <a:cs typeface="Hanken Grotesk" charset="0"/>
                      </a:endParaRPr>
                    </a:p>
                    <a:p>
                      <a:pPr indent="0" marL="0">
                        <a:buNone/>
                      </a:pPr>
                      <a:r>
                        <a:rPr lang="en-US" sz="850" i="1" dirty="0">
                          <a:solidFill>
                            <a:srgbClr val="8A96A3"/>
                          </a:solidFill>
                          <a:latin typeface="Hanken Grotesk" pitchFamily="34" charset="0"/>
                          <a:ea typeface="Hanken Grotesk" pitchFamily="34" charset="-122"/>
                          <a:cs typeface="Hanken Grotesk" pitchFamily="34" charset="-120"/>
                        </a:rPr>
                        <a:t>Una tasa para solo 1 de algo, como el precio de 1 artículo.</a:t>
                      </a:r>
                      <a:endParaRPr lang="en-US" sz="90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FFFFF"/>
                    </a:solidFill>
                  </a:tcPr>
                </a:tc>
                <a:tc>
                  <a:txBody>
                    <a:bodyPr/>
                    <a:lstStyle/>
                    <a:p>
                      <a:pPr indent="0" marL="0">
                        <a:buNone/>
                      </a:pPr>
                      <a:r>
                        <a:rPr lang="en-US" sz="900" i="1" dirty="0">
                          <a:solidFill>
                            <a:srgbClr val="24323F"/>
                          </a:solidFill>
                          <a:latin typeface="Hanken Grotesk" pitchFamily="34" charset="0"/>
                          <a:ea typeface="Hanken Grotesk" pitchFamily="34" charset="-122"/>
                          <a:cs typeface="Hanken Grotesk" pitchFamily="34" charset="-120"/>
                        </a:rPr>
                        <a:t>$2.50 per pound means $2.50 for every 1 pound</a:t>
                      </a:r>
                      <a:endParaRPr lang="en-US" sz="90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17324D"/>
                          </a:solidFill>
                          <a:latin typeface="Hanken Grotesk" pitchFamily="34" charset="0"/>
                          <a:ea typeface="Hanken Grotesk" pitchFamily="34" charset="-122"/>
                          <a:cs typeface="Hanken Grotesk" pitchFamily="34" charset="-120"/>
                        </a:rPr>
                        <a:t>Better Buy</a:t>
                      </a:r>
                      <a:pPr indent="0" marL="0">
                        <a:buNone/>
                      </a:pPr>
                      <a:endParaRPr lang="en-US" sz="950" dirty="0">
                        <a:latin typeface="Hanken Grotesk" charset="0"/>
                        <a:ea typeface="Hanken Grotesk" charset="0"/>
                        <a:cs typeface="Hanken Grotesk" charset="0"/>
                      </a:endParaRPr>
                    </a:p>
                    <a:p>
                      <a:pPr indent="0" marL="0">
                        <a:buNone/>
                      </a:pPr>
                      <a:r>
                        <a:rPr lang="en-US" sz="850" i="1" dirty="0">
                          <a:solidFill>
                            <a:srgbClr val="8A96A3"/>
                          </a:solidFill>
                          <a:latin typeface="Hanken Grotesk" pitchFamily="34" charset="0"/>
                          <a:ea typeface="Hanken Grotesk" pitchFamily="34" charset="-122"/>
                          <a:cs typeface="Hanken Grotesk" pitchFamily="34" charset="-120"/>
                        </a:rPr>
                        <a:t>Mejor compra</a:t>
                      </a:r>
                      <a:endParaRPr lang="en-US" sz="95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4F1E8"/>
                    </a:solidFill>
                  </a:tcPr>
                </a:tc>
                <a:tc>
                  <a:txBody>
                    <a:bodyPr/>
                    <a:lstStyle/>
                    <a:p>
                      <a:pPr indent="0" marL="0">
                        <a:buNone/>
                      </a:pPr>
                      <a:r>
                        <a:rPr lang="en-US" sz="900" dirty="0">
                          <a:solidFill>
                            <a:srgbClr val="24323F"/>
                          </a:solidFill>
                          <a:latin typeface="Hanken Grotesk" pitchFamily="34" charset="0"/>
                          <a:ea typeface="Hanken Grotesk" pitchFamily="34" charset="-122"/>
                          <a:cs typeface="Hanken Grotesk" pitchFamily="34" charset="-120"/>
                        </a:rPr>
                        <a:t>The choice that costs less for each item.</a:t>
                      </a:r>
                      <a:pPr indent="0" marL="0">
                        <a:buNone/>
                      </a:pPr>
                      <a:endParaRPr lang="en-US" sz="900" dirty="0">
                        <a:latin typeface="Hanken Grotesk" charset="0"/>
                        <a:ea typeface="Hanken Grotesk" charset="0"/>
                        <a:cs typeface="Hanken Grotesk" charset="0"/>
                      </a:endParaRPr>
                    </a:p>
                    <a:p>
                      <a:pPr indent="0" marL="0">
                        <a:buNone/>
                      </a:pPr>
                      <a:r>
                        <a:rPr lang="en-US" sz="850" i="1" dirty="0">
                          <a:solidFill>
                            <a:srgbClr val="8A96A3"/>
                          </a:solidFill>
                          <a:latin typeface="Hanken Grotesk" pitchFamily="34" charset="0"/>
                          <a:ea typeface="Hanken Grotesk" pitchFamily="34" charset="-122"/>
                          <a:cs typeface="Hanken Grotesk" pitchFamily="34" charset="-120"/>
                        </a:rPr>
                        <a:t>La opción que cuesta menos por cada artículo.</a:t>
                      </a:r>
                      <a:endParaRPr lang="en-US" sz="90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4F1E8"/>
                    </a:solidFill>
                  </a:tcPr>
                </a:tc>
                <a:tc>
                  <a:txBody>
                    <a:bodyPr/>
                    <a:lstStyle/>
                    <a:p>
                      <a:pPr indent="0" marL="0">
                        <a:buNone/>
                      </a:pPr>
                      <a:r>
                        <a:rPr lang="en-US" sz="900" i="1" dirty="0">
                          <a:solidFill>
                            <a:srgbClr val="24323F"/>
                          </a:solidFill>
                          <a:latin typeface="Hanken Grotesk" pitchFamily="34" charset="0"/>
                          <a:ea typeface="Hanken Grotesk" pitchFamily="34" charset="-122"/>
                          <a:cs typeface="Hanken Grotesk" pitchFamily="34" charset="-120"/>
                        </a:rPr>
                        <a:t>$0.10 each vs $0.15 each — the $0.10 option is the better buy</a:t>
                      </a:r>
                      <a:endParaRPr lang="en-US" sz="90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4F1E8"/>
                    </a:solidFill>
                  </a:tcPr>
                </a:tc>
              </a:tr>
              <a:tr h="457200">
                <a:tc>
                  <a:txBody>
                    <a:bodyPr/>
                    <a:lstStyle/>
                    <a:p>
                      <a:pPr indent="0" marL="0">
                        <a:buNone/>
                      </a:pPr>
                      <a:r>
                        <a:rPr lang="en-US" sz="950" b="1" dirty="0">
                          <a:solidFill>
                            <a:srgbClr val="17324D"/>
                          </a:solidFill>
                          <a:latin typeface="Hanken Grotesk" pitchFamily="34" charset="0"/>
                          <a:ea typeface="Hanken Grotesk" pitchFamily="34" charset="-122"/>
                          <a:cs typeface="Hanken Grotesk" pitchFamily="34" charset="-120"/>
                        </a:rPr>
                        <a:t>Comparison</a:t>
                      </a:r>
                      <a:pPr indent="0" marL="0">
                        <a:buNone/>
                      </a:pPr>
                      <a:endParaRPr lang="en-US" sz="950" dirty="0">
                        <a:latin typeface="Hanken Grotesk" charset="0"/>
                        <a:ea typeface="Hanken Grotesk" charset="0"/>
                        <a:cs typeface="Hanken Grotesk" charset="0"/>
                      </a:endParaRPr>
                    </a:p>
                    <a:p>
                      <a:pPr indent="0" marL="0">
                        <a:buNone/>
                      </a:pPr>
                      <a:r>
                        <a:rPr lang="en-US" sz="850" i="1" dirty="0">
                          <a:solidFill>
                            <a:srgbClr val="8A96A3"/>
                          </a:solidFill>
                          <a:latin typeface="Hanken Grotesk" pitchFamily="34" charset="0"/>
                          <a:ea typeface="Hanken Grotesk" pitchFamily="34" charset="-122"/>
                          <a:cs typeface="Hanken Grotesk" pitchFamily="34" charset="-120"/>
                        </a:rPr>
                        <a:t>Comparación</a:t>
                      </a:r>
                      <a:endParaRPr lang="en-US" sz="95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FFFFF"/>
                    </a:solidFill>
                  </a:tcPr>
                </a:tc>
                <a:tc>
                  <a:txBody>
                    <a:bodyPr/>
                    <a:lstStyle/>
                    <a:p>
                      <a:pPr indent="0" marL="0">
                        <a:buNone/>
                      </a:pPr>
                      <a:r>
                        <a:rPr lang="en-US" sz="900" dirty="0">
                          <a:solidFill>
                            <a:srgbClr val="24323F"/>
                          </a:solidFill>
                          <a:latin typeface="Hanken Grotesk" pitchFamily="34" charset="0"/>
                          <a:ea typeface="Hanken Grotesk" pitchFamily="34" charset="-122"/>
                          <a:cs typeface="Hanken Grotesk" pitchFamily="34" charset="-120"/>
                        </a:rPr>
                        <a:t>Looking at numbers to see which is bigger or smaller.</a:t>
                      </a:r>
                      <a:pPr indent="0" marL="0">
                        <a:buNone/>
                      </a:pPr>
                      <a:endParaRPr lang="en-US" sz="900" dirty="0">
                        <a:latin typeface="Hanken Grotesk" charset="0"/>
                        <a:ea typeface="Hanken Grotesk" charset="0"/>
                        <a:cs typeface="Hanken Grotesk" charset="0"/>
                      </a:endParaRPr>
                    </a:p>
                    <a:p>
                      <a:pPr indent="0" marL="0">
                        <a:buNone/>
                      </a:pPr>
                      <a:r>
                        <a:rPr lang="en-US" sz="850" i="1" dirty="0">
                          <a:solidFill>
                            <a:srgbClr val="8A96A3"/>
                          </a:solidFill>
                          <a:latin typeface="Hanken Grotesk" pitchFamily="34" charset="0"/>
                          <a:ea typeface="Hanken Grotesk" pitchFamily="34" charset="-122"/>
                          <a:cs typeface="Hanken Grotesk" pitchFamily="34" charset="-120"/>
                        </a:rPr>
                        <a:t>Mirar números para ver cuál es mayor o menor.</a:t>
                      </a:r>
                      <a:endParaRPr lang="en-US" sz="90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FFFFF"/>
                    </a:solidFill>
                  </a:tcPr>
                </a:tc>
                <a:tc>
                  <a:txBody>
                    <a:bodyPr/>
                    <a:lstStyle/>
                    <a:p>
                      <a:pPr indent="0" marL="0">
                        <a:buNone/>
                      </a:pPr>
                      <a:r>
                        <a:rPr lang="en-US" sz="900" i="1" dirty="0">
                          <a:solidFill>
                            <a:srgbClr val="24323F"/>
                          </a:solidFill>
                          <a:latin typeface="Hanken Grotesk" pitchFamily="34" charset="0"/>
                          <a:ea typeface="Hanken Grotesk" pitchFamily="34" charset="-122"/>
                          <a:cs typeface="Hanken Grotesk" pitchFamily="34" charset="-120"/>
                        </a:rPr>
                        <a:t>$3 per game &lt; $4 per game</a:t>
                      </a:r>
                      <a:endParaRPr lang="en-US" sz="90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17324D"/>
                          </a:solidFill>
                          <a:latin typeface="Hanken Grotesk" pitchFamily="34" charset="0"/>
                          <a:ea typeface="Hanken Grotesk" pitchFamily="34" charset="-122"/>
                          <a:cs typeface="Hanken Grotesk" pitchFamily="34" charset="-120"/>
                        </a:rPr>
                        <a:t>Per Unit</a:t>
                      </a:r>
                      <a:pPr indent="0" marL="0">
                        <a:buNone/>
                      </a:pPr>
                      <a:endParaRPr lang="en-US" sz="950" dirty="0">
                        <a:latin typeface="Hanken Grotesk" charset="0"/>
                        <a:ea typeface="Hanken Grotesk" charset="0"/>
                        <a:cs typeface="Hanken Grotesk" charset="0"/>
                      </a:endParaRPr>
                    </a:p>
                    <a:p>
                      <a:pPr indent="0" marL="0">
                        <a:buNone/>
                      </a:pPr>
                      <a:r>
                        <a:rPr lang="en-US" sz="850" i="1" dirty="0">
                          <a:solidFill>
                            <a:srgbClr val="8A96A3"/>
                          </a:solidFill>
                          <a:latin typeface="Hanken Grotesk" pitchFamily="34" charset="0"/>
                          <a:ea typeface="Hanken Grotesk" pitchFamily="34" charset="-122"/>
                          <a:cs typeface="Hanken Grotesk" pitchFamily="34" charset="-120"/>
                        </a:rPr>
                        <a:t>Por unidad</a:t>
                      </a:r>
                      <a:endParaRPr lang="en-US" sz="95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4F1E8"/>
                    </a:solidFill>
                  </a:tcPr>
                </a:tc>
                <a:tc>
                  <a:txBody>
                    <a:bodyPr/>
                    <a:lstStyle/>
                    <a:p>
                      <a:pPr indent="0" marL="0">
                        <a:buNone/>
                      </a:pPr>
                      <a:r>
                        <a:rPr lang="en-US" sz="900" dirty="0">
                          <a:solidFill>
                            <a:srgbClr val="24323F"/>
                          </a:solidFill>
                          <a:latin typeface="Hanken Grotesk" pitchFamily="34" charset="0"/>
                          <a:ea typeface="Hanken Grotesk" pitchFamily="34" charset="-122"/>
                          <a:cs typeface="Hanken Grotesk" pitchFamily="34" charset="-120"/>
                        </a:rPr>
                        <a:t>For each single item.</a:t>
                      </a:r>
                      <a:pPr indent="0" marL="0">
                        <a:buNone/>
                      </a:pPr>
                      <a:endParaRPr lang="en-US" sz="900" dirty="0">
                        <a:latin typeface="Hanken Grotesk" charset="0"/>
                        <a:ea typeface="Hanken Grotesk" charset="0"/>
                        <a:cs typeface="Hanken Grotesk" charset="0"/>
                      </a:endParaRPr>
                    </a:p>
                    <a:p>
                      <a:pPr indent="0" marL="0">
                        <a:buNone/>
                      </a:pPr>
                      <a:r>
                        <a:rPr lang="en-US" sz="850" i="1" dirty="0">
                          <a:solidFill>
                            <a:srgbClr val="8A96A3"/>
                          </a:solidFill>
                          <a:latin typeface="Hanken Grotesk" pitchFamily="34" charset="0"/>
                          <a:ea typeface="Hanken Grotesk" pitchFamily="34" charset="-122"/>
                          <a:cs typeface="Hanken Grotesk" pitchFamily="34" charset="-120"/>
                        </a:rPr>
                        <a:t>Por cada artículo.</a:t>
                      </a:r>
                      <a:endParaRPr lang="en-US" sz="90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4F1E8"/>
                    </a:solidFill>
                  </a:tcPr>
                </a:tc>
                <a:tc>
                  <a:txBody>
                    <a:bodyPr/>
                    <a:lstStyle/>
                    <a:p>
                      <a:pPr indent="0" marL="0">
                        <a:buNone/>
                      </a:pPr>
                      <a:r>
                        <a:rPr lang="en-US" sz="900" i="1" dirty="0">
                          <a:solidFill>
                            <a:srgbClr val="24323F"/>
                          </a:solidFill>
                          <a:latin typeface="Hanken Grotesk" pitchFamily="34" charset="0"/>
                          <a:ea typeface="Hanken Grotesk" pitchFamily="34" charset="-122"/>
                          <a:cs typeface="Hanken Grotesk" pitchFamily="34" charset="-120"/>
                        </a:rPr>
                        <a:t>$0.50 per token means each token costs $0.50</a:t>
                      </a:r>
                      <a:endParaRPr lang="en-US" sz="90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4F1E8"/>
                    </a:solidFill>
                  </a:tcPr>
                </a:tc>
              </a:tr>
              <a:tr h="457200">
                <a:tc>
                  <a:txBody>
                    <a:bodyPr/>
                    <a:lstStyle/>
                    <a:p>
                      <a:pPr indent="0" marL="0">
                        <a:buNone/>
                      </a:pPr>
                      <a:r>
                        <a:rPr lang="en-US" sz="950" b="1" dirty="0">
                          <a:solidFill>
                            <a:srgbClr val="17324D"/>
                          </a:solidFill>
                          <a:latin typeface="Hanken Grotesk" pitchFamily="34" charset="0"/>
                          <a:ea typeface="Hanken Grotesk" pitchFamily="34" charset="-122"/>
                          <a:cs typeface="Hanken Grotesk" pitchFamily="34" charset="-120"/>
                        </a:rPr>
                        <a:t>Rate</a:t>
                      </a:r>
                      <a:pPr indent="0" marL="0">
                        <a:buNone/>
                      </a:pPr>
                      <a:endParaRPr lang="en-US" sz="950" dirty="0">
                        <a:latin typeface="Hanken Grotesk" charset="0"/>
                        <a:ea typeface="Hanken Grotesk" charset="0"/>
                        <a:cs typeface="Hanken Grotesk" charset="0"/>
                      </a:endParaRPr>
                    </a:p>
                    <a:p>
                      <a:pPr indent="0" marL="0">
                        <a:buNone/>
                      </a:pPr>
                      <a:r>
                        <a:rPr lang="en-US" sz="850" i="1" dirty="0">
                          <a:solidFill>
                            <a:srgbClr val="8A96A3"/>
                          </a:solidFill>
                          <a:latin typeface="Hanken Grotesk" pitchFamily="34" charset="0"/>
                          <a:ea typeface="Hanken Grotesk" pitchFamily="34" charset="-122"/>
                          <a:cs typeface="Hanken Grotesk" pitchFamily="34" charset="-120"/>
                        </a:rPr>
                        <a:t>Tasa</a:t>
                      </a:r>
                      <a:endParaRPr lang="en-US" sz="95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FFFFF"/>
                    </a:solidFill>
                  </a:tcPr>
                </a:tc>
                <a:tc>
                  <a:txBody>
                    <a:bodyPr/>
                    <a:lstStyle/>
                    <a:p>
                      <a:pPr indent="0" marL="0">
                        <a:buNone/>
                      </a:pPr>
                      <a:r>
                        <a:rPr lang="en-US" sz="900" dirty="0">
                          <a:solidFill>
                            <a:srgbClr val="24323F"/>
                          </a:solidFill>
                          <a:latin typeface="Hanken Grotesk" pitchFamily="34" charset="0"/>
                          <a:ea typeface="Hanken Grotesk" pitchFamily="34" charset="-122"/>
                          <a:cs typeface="Hanken Grotesk" pitchFamily="34" charset="-120"/>
                        </a:rPr>
                        <a:t>A ratio comparing two amounts with different units, like miles per hour.</a:t>
                      </a:r>
                      <a:pPr indent="0" marL="0">
                        <a:buNone/>
                      </a:pPr>
                      <a:endParaRPr lang="en-US" sz="900" dirty="0">
                        <a:latin typeface="Hanken Grotesk" charset="0"/>
                        <a:ea typeface="Hanken Grotesk" charset="0"/>
                        <a:cs typeface="Hanken Grotesk" charset="0"/>
                      </a:endParaRPr>
                    </a:p>
                    <a:p>
                      <a:pPr indent="0" marL="0">
                        <a:buNone/>
                      </a:pPr>
                      <a:r>
                        <a:rPr lang="en-US" sz="850" i="1" dirty="0">
                          <a:solidFill>
                            <a:srgbClr val="8A96A3"/>
                          </a:solidFill>
                          <a:latin typeface="Hanken Grotesk" pitchFamily="34" charset="0"/>
                          <a:ea typeface="Hanken Grotesk" pitchFamily="34" charset="-122"/>
                          <a:cs typeface="Hanken Grotesk" pitchFamily="34" charset="-120"/>
                        </a:rPr>
                        <a:t>Una razón que compara dos cantidades con unidades distintas, como millas por hora.</a:t>
                      </a:r>
                      <a:endParaRPr lang="en-US" sz="90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FFFFF"/>
                    </a:solidFill>
                  </a:tcPr>
                </a:tc>
                <a:tc>
                  <a:txBody>
                    <a:bodyPr/>
                    <a:lstStyle/>
                    <a:p>
                      <a:pPr indent="0" marL="0">
                        <a:buNone/>
                      </a:pPr>
                      <a:r>
                        <a:rPr lang="en-US" sz="900" i="1" dirty="0">
                          <a:solidFill>
                            <a:srgbClr val="24323F"/>
                          </a:solidFill>
                          <a:latin typeface="Hanken Grotesk" pitchFamily="34" charset="0"/>
                          <a:ea typeface="Hanken Grotesk" pitchFamily="34" charset="-122"/>
                          <a:cs typeface="Hanken Grotesk" pitchFamily="34" charset="-120"/>
                        </a:rPr>
                        <a:t>120 miles in 3 hours is a rate (miles and hours are different units)</a:t>
                      </a:r>
                      <a:endParaRPr lang="en-US" sz="90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Guided Practice / Práctica Guiada</a:t>
            </a:r>
            <a:endParaRPr lang="en-US" sz="1500" dirty="0"/>
          </a:p>
        </p:txBody>
      </p:sp>
      <p:sp>
        <p:nvSpPr>
          <p:cNvPr id="5" name="Text 3"/>
          <p:cNvSpPr/>
          <p:nvPr/>
        </p:nvSpPr>
        <p:spPr>
          <a:xfrm>
            <a:off x="7360920" y="100584"/>
            <a:ext cx="914400" cy="274320"/>
          </a:xfrm>
          <a:prstGeom prst="rect">
            <a:avLst>
              <a:gd name="adj" fmla="val 50000"/>
            </a:avLst>
          </a:prstGeom>
          <a:solidFill>
            <a:srgbClr val="B0883B"/>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6.RP.3b</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4  ·  Lesson 4-7</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4</a:t>
            </a:r>
            <a:endParaRPr lang="en-US" sz="800" dirty="0"/>
          </a:p>
        </p:txBody>
      </p:sp>
      <p:sp>
        <p:nvSpPr>
          <p:cNvPr id="17" name="Shape 15"/>
          <p:cNvSpPr/>
          <p:nvPr/>
        </p:nvSpPr>
        <p:spPr>
          <a:xfrm>
            <a:off x="411480" y="685800"/>
            <a:ext cx="5486400" cy="4023360"/>
          </a:xfrm>
          <a:prstGeom prst="roundRect">
            <a:avLst>
              <a:gd name="adj" fmla="val 1818"/>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18" name="Text 16"/>
          <p:cNvSpPr/>
          <p:nvPr/>
        </p:nvSpPr>
        <p:spPr>
          <a:xfrm>
            <a:off x="594360" y="841248"/>
            <a:ext cx="1737360" cy="274320"/>
          </a:xfrm>
          <a:prstGeom prst="rect">
            <a:avLst>
              <a:gd name="adj" fmla="val 50000"/>
            </a:avLst>
          </a:prstGeom>
          <a:solidFill>
            <a:srgbClr val="B0883B"/>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 WE DO TOGETHER</a:t>
            </a:r>
            <a:endParaRPr lang="en-US" sz="900" dirty="0"/>
          </a:p>
        </p:txBody>
      </p:sp>
      <p:sp>
        <p:nvSpPr>
          <p:cNvPr id="19" name="Text 17"/>
          <p:cNvSpPr/>
          <p:nvPr/>
        </p:nvSpPr>
        <p:spPr>
          <a:xfrm>
            <a:off x="594360" y="1188720"/>
            <a:ext cx="5120640" cy="274320"/>
          </a:xfrm>
          <a:prstGeom prst="rect">
            <a:avLst/>
          </a:prstGeom>
          <a:noFill/>
          <a:ln/>
        </p:spPr>
        <p:txBody>
          <a:bodyPr wrap="square" rtlCol="0" anchor="ctr"/>
          <a:lstStyle/>
          <a:p>
            <a:pPr indent="0" marL="0">
              <a:buNone/>
            </a:pPr>
            <a:r>
              <a:rPr lang="en-US" sz="1200" b="1" dirty="0">
                <a:solidFill>
                  <a:srgbClr val="17324D"/>
                </a:solidFill>
                <a:latin typeface="Outfit" pitchFamily="34" charset="0"/>
                <a:ea typeface="Outfit" pitchFamily="34" charset="-122"/>
                <a:cs typeface="Outfit" pitchFamily="34" charset="-120"/>
              </a:rPr>
              <a:t>How do I use unit rates to find the better buy?</a:t>
            </a:r>
            <a:endParaRPr lang="en-US" sz="1200" dirty="0"/>
          </a:p>
        </p:txBody>
      </p:sp>
      <p:sp>
        <p:nvSpPr>
          <p:cNvPr id="20" name="Shape 18"/>
          <p:cNvSpPr/>
          <p:nvPr/>
        </p:nvSpPr>
        <p:spPr>
          <a:xfrm>
            <a:off x="640080" y="1609344"/>
            <a:ext cx="274320" cy="274320"/>
          </a:xfrm>
          <a:prstGeom prst="ellipse">
            <a:avLst/>
          </a:prstGeom>
          <a:solidFill>
            <a:srgbClr val="B0883B"/>
          </a:solidFill>
          <a:ln/>
        </p:spPr>
      </p:sp>
      <p:sp>
        <p:nvSpPr>
          <p:cNvPr id="21" name="Text 19"/>
          <p:cNvSpPr/>
          <p:nvPr/>
        </p:nvSpPr>
        <p:spPr>
          <a:xfrm>
            <a:off x="640080" y="1609344"/>
            <a:ext cx="274320" cy="274320"/>
          </a:xfrm>
          <a:prstGeom prst="rect">
            <a:avLst/>
          </a:prstGeom>
          <a:noFill/>
          <a:ln/>
        </p:spPr>
        <p:txBody>
          <a:bodyPr wrap="square" rtlCol="0" anchor="ctr"/>
          <a:lstStyle/>
          <a:p>
            <a:pPr algn="ctr" indent="0" marL="0">
              <a:buNone/>
            </a:pPr>
            <a:r>
              <a:rPr lang="en-US" sz="1100" b="1" dirty="0">
                <a:solidFill>
                  <a:srgbClr val="FFFFFF"/>
                </a:solidFill>
                <a:latin typeface="Outfit" pitchFamily="34" charset="0"/>
                <a:ea typeface="Outfit" pitchFamily="34" charset="-122"/>
                <a:cs typeface="Outfit" pitchFamily="34" charset="-120"/>
              </a:rPr>
              <a:t>1</a:t>
            </a:r>
            <a:endParaRPr lang="en-US" sz="1100" dirty="0"/>
          </a:p>
        </p:txBody>
      </p:sp>
      <p:sp>
        <p:nvSpPr>
          <p:cNvPr id="22" name="Text 20"/>
          <p:cNvSpPr/>
          <p:nvPr/>
        </p:nvSpPr>
        <p:spPr>
          <a:xfrm>
            <a:off x="1024128" y="1554480"/>
            <a:ext cx="4828032" cy="420624"/>
          </a:xfrm>
          <a:prstGeom prst="rect">
            <a:avLst/>
          </a:prstGeom>
          <a:noFill/>
          <a:ln/>
        </p:spPr>
        <p:txBody>
          <a:bodyPr wrap="square" rtlCol="0" anchor="ctr"/>
          <a:lstStyle/>
          <a:p>
            <a:pPr indent="0" marL="0">
              <a:buNone/>
            </a:pPr>
            <a:r>
              <a:rPr lang="en-US" sz="1050" dirty="0">
                <a:solidFill>
                  <a:srgbClr val="24323F"/>
                </a:solidFill>
                <a:latin typeface="Hanken Grotesk" pitchFamily="34" charset="0"/>
                <a:ea typeface="Hanken Grotesk" pitchFamily="34" charset="-122"/>
                <a:cs typeface="Hanken Grotesk" pitchFamily="34" charset="-120"/>
              </a:rPr>
              <a:t>Arcade Depot sells 350 tokens for $38.50. What do we divide?</a:t>
            </a:r>
            <a:endParaRPr lang="en-US" sz="1050" dirty="0"/>
          </a:p>
        </p:txBody>
      </p:sp>
      <p:sp>
        <p:nvSpPr>
          <p:cNvPr id="23" name="Shape 21"/>
          <p:cNvSpPr/>
          <p:nvPr/>
        </p:nvSpPr>
        <p:spPr>
          <a:xfrm>
            <a:off x="640080" y="2084832"/>
            <a:ext cx="274320" cy="274320"/>
          </a:xfrm>
          <a:prstGeom prst="ellipse">
            <a:avLst/>
          </a:prstGeom>
          <a:solidFill>
            <a:srgbClr val="B0883B"/>
          </a:solidFill>
          <a:ln/>
        </p:spPr>
      </p:sp>
      <p:sp>
        <p:nvSpPr>
          <p:cNvPr id="24" name="Text 22"/>
          <p:cNvSpPr/>
          <p:nvPr/>
        </p:nvSpPr>
        <p:spPr>
          <a:xfrm>
            <a:off x="640080" y="2084832"/>
            <a:ext cx="274320" cy="274320"/>
          </a:xfrm>
          <a:prstGeom prst="rect">
            <a:avLst/>
          </a:prstGeom>
          <a:noFill/>
          <a:ln/>
        </p:spPr>
        <p:txBody>
          <a:bodyPr wrap="square" rtlCol="0" anchor="ctr"/>
          <a:lstStyle/>
          <a:p>
            <a:pPr algn="ctr" indent="0" marL="0">
              <a:buNone/>
            </a:pPr>
            <a:r>
              <a:rPr lang="en-US" sz="1100" b="1" dirty="0">
                <a:solidFill>
                  <a:srgbClr val="FFFFFF"/>
                </a:solidFill>
                <a:latin typeface="Outfit" pitchFamily="34" charset="0"/>
                <a:ea typeface="Outfit" pitchFamily="34" charset="-122"/>
                <a:cs typeface="Outfit" pitchFamily="34" charset="-120"/>
              </a:rPr>
              <a:t>2</a:t>
            </a:r>
            <a:endParaRPr lang="en-US" sz="1100" dirty="0"/>
          </a:p>
        </p:txBody>
      </p:sp>
      <p:sp>
        <p:nvSpPr>
          <p:cNvPr id="25" name="Text 23"/>
          <p:cNvSpPr/>
          <p:nvPr/>
        </p:nvSpPr>
        <p:spPr>
          <a:xfrm>
            <a:off x="1024128" y="2029968"/>
            <a:ext cx="4828032" cy="420624"/>
          </a:xfrm>
          <a:prstGeom prst="rect">
            <a:avLst/>
          </a:prstGeom>
          <a:noFill/>
          <a:ln/>
        </p:spPr>
        <p:txBody>
          <a:bodyPr wrap="square" rtlCol="0" anchor="ctr"/>
          <a:lstStyle/>
          <a:p>
            <a:pPr indent="0" marL="0">
              <a:buNone/>
            </a:pPr>
            <a:r>
              <a:rPr lang="en-US" sz="1050" dirty="0">
                <a:solidFill>
                  <a:srgbClr val="24323F"/>
                </a:solidFill>
                <a:latin typeface="Hanken Grotesk" pitchFamily="34" charset="0"/>
                <a:ea typeface="Hanken Grotesk" pitchFamily="34" charset="-122"/>
                <a:cs typeface="Hanken Grotesk" pitchFamily="34" charset="-120"/>
              </a:rPr>
              <a:t>We divide price by tokens: $38.50 ÷ 350 = ?</a:t>
            </a:r>
            <a:endParaRPr lang="en-US" sz="1050" dirty="0"/>
          </a:p>
        </p:txBody>
      </p:sp>
      <p:sp>
        <p:nvSpPr>
          <p:cNvPr id="26" name="Shape 24"/>
          <p:cNvSpPr/>
          <p:nvPr/>
        </p:nvSpPr>
        <p:spPr>
          <a:xfrm>
            <a:off x="640080" y="2560320"/>
            <a:ext cx="274320" cy="274320"/>
          </a:xfrm>
          <a:prstGeom prst="ellipse">
            <a:avLst/>
          </a:prstGeom>
          <a:solidFill>
            <a:srgbClr val="B0883B"/>
          </a:solidFill>
          <a:ln/>
        </p:spPr>
      </p:sp>
      <p:sp>
        <p:nvSpPr>
          <p:cNvPr id="27" name="Text 25"/>
          <p:cNvSpPr/>
          <p:nvPr/>
        </p:nvSpPr>
        <p:spPr>
          <a:xfrm>
            <a:off x="640080" y="2560320"/>
            <a:ext cx="274320" cy="274320"/>
          </a:xfrm>
          <a:prstGeom prst="rect">
            <a:avLst/>
          </a:prstGeom>
          <a:noFill/>
          <a:ln/>
        </p:spPr>
        <p:txBody>
          <a:bodyPr wrap="square" rtlCol="0" anchor="ctr"/>
          <a:lstStyle/>
          <a:p>
            <a:pPr algn="ctr" indent="0" marL="0">
              <a:buNone/>
            </a:pPr>
            <a:r>
              <a:rPr lang="en-US" sz="1100" b="1" dirty="0">
                <a:solidFill>
                  <a:srgbClr val="FFFFFF"/>
                </a:solidFill>
                <a:latin typeface="Outfit" pitchFamily="34" charset="0"/>
                <a:ea typeface="Outfit" pitchFamily="34" charset="-122"/>
                <a:cs typeface="Outfit" pitchFamily="34" charset="-120"/>
              </a:rPr>
              <a:t>3</a:t>
            </a:r>
            <a:endParaRPr lang="en-US" sz="1100" dirty="0"/>
          </a:p>
        </p:txBody>
      </p:sp>
      <p:sp>
        <p:nvSpPr>
          <p:cNvPr id="28" name="Text 26"/>
          <p:cNvSpPr/>
          <p:nvPr/>
        </p:nvSpPr>
        <p:spPr>
          <a:xfrm>
            <a:off x="1024128" y="2505456"/>
            <a:ext cx="4828032" cy="420624"/>
          </a:xfrm>
          <a:prstGeom prst="rect">
            <a:avLst/>
          </a:prstGeom>
          <a:noFill/>
          <a:ln/>
        </p:spPr>
        <p:txBody>
          <a:bodyPr wrap="square" rtlCol="0" anchor="ctr"/>
          <a:lstStyle/>
          <a:p>
            <a:pPr indent="0" marL="0">
              <a:buNone/>
            </a:pPr>
            <a:r>
              <a:rPr lang="en-US" sz="1050" dirty="0">
                <a:solidFill>
                  <a:srgbClr val="24323F"/>
                </a:solidFill>
                <a:latin typeface="Hanken Grotesk" pitchFamily="34" charset="0"/>
                <a:ea typeface="Hanken Grotesk" pitchFamily="34" charset="-122"/>
                <a:cs typeface="Hanken Grotesk" pitchFamily="34" charset="-120"/>
              </a:rPr>
              <a:t>What is the cost per token, and is it lower than $0.12? ($0.11 — yes, the better buy.)</a:t>
            </a:r>
            <a:endParaRPr lang="en-US" sz="1050" dirty="0"/>
          </a:p>
        </p:txBody>
      </p:sp>
      <p:sp>
        <p:nvSpPr>
          <p:cNvPr id="29" name="Text 27"/>
          <p:cNvSpPr/>
          <p:nvPr/>
        </p:nvSpPr>
        <p:spPr>
          <a:xfrm>
            <a:off x="594360" y="3886200"/>
            <a:ext cx="5120640" cy="228600"/>
          </a:xfrm>
          <a:prstGeom prst="rect">
            <a:avLst/>
          </a:prstGeom>
          <a:noFill/>
          <a:ln/>
        </p:spPr>
        <p:txBody>
          <a:bodyPr wrap="square" rtlCol="0" anchor="ctr"/>
          <a:lstStyle/>
          <a:p>
            <a:pPr indent="0" marL="0">
              <a:buNone/>
            </a:pPr>
            <a:r>
              <a:rPr lang="en-US" sz="900" i="1" dirty="0">
                <a:solidFill>
                  <a:srgbClr val="8A96A3"/>
                </a:solidFill>
                <a:latin typeface="Hanken Grotesk" pitchFamily="34" charset="0"/>
                <a:ea typeface="Hanken Grotesk" pitchFamily="34" charset="-122"/>
                <a:cs typeface="Hanken Grotesk" pitchFamily="34" charset="-120"/>
              </a:rPr>
              <a:t>Your turn — show your work:</a:t>
            </a:r>
            <a:endParaRPr lang="en-US" sz="900" dirty="0"/>
          </a:p>
        </p:txBody>
      </p:sp>
      <p:sp>
        <p:nvSpPr>
          <p:cNvPr id="30" name="Shape 28"/>
          <p:cNvSpPr/>
          <p:nvPr/>
        </p:nvSpPr>
        <p:spPr>
          <a:xfrm>
            <a:off x="640080" y="4297680"/>
            <a:ext cx="5120640" cy="0"/>
          </a:xfrm>
          <a:prstGeom prst="line">
            <a:avLst/>
          </a:prstGeom>
          <a:noFill/>
          <a:ln w="9525">
            <a:solidFill>
              <a:srgbClr val="C7CDD2"/>
            </a:solidFill>
            <a:prstDash val="dash"/>
          </a:ln>
        </p:spPr>
      </p:sp>
      <p:sp>
        <p:nvSpPr>
          <p:cNvPr id="31" name="Shape 29"/>
          <p:cNvSpPr/>
          <p:nvPr/>
        </p:nvSpPr>
        <p:spPr>
          <a:xfrm>
            <a:off x="6035040" y="685800"/>
            <a:ext cx="2788920" cy="4023360"/>
          </a:xfrm>
          <a:prstGeom prst="roundRect">
            <a:avLst>
              <a:gd name="adj" fmla="val 2623"/>
            </a:avLst>
          </a:prstGeom>
          <a:solidFill>
            <a:srgbClr val="DFF2EE"/>
          </a:solidFill>
          <a:ln w="12700">
            <a:solidFill>
              <a:srgbClr val="1FA6A2"/>
            </a:solidFill>
            <a:prstDash val="solid"/>
          </a:ln>
          <a:effectLst>
            <a:outerShdw sx="100000" sy="100000" kx="0" ky="0" algn="bl" rotWithShape="0" blurRad="50800" dist="12700" dir="5400000">
              <a:srgbClr val="1C2E42">
                <a:alpha val="10000"/>
              </a:srgbClr>
            </a:outerShdw>
          </a:effectLst>
        </p:spPr>
      </p:sp>
      <p:sp>
        <p:nvSpPr>
          <p:cNvPr id="32" name="Text 30"/>
          <p:cNvSpPr/>
          <p:nvPr/>
        </p:nvSpPr>
        <p:spPr>
          <a:xfrm>
            <a:off x="6035040" y="685800"/>
            <a:ext cx="2788920" cy="274320"/>
          </a:xfrm>
          <a:prstGeom prst="rect">
            <a:avLst/>
          </a:prstGeom>
          <a:solidFill>
            <a:srgbClr val="1FA6A2"/>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 Talk It Over</a:t>
            </a:r>
            <a:endParaRPr lang="en-US" sz="1000" dirty="0"/>
          </a:p>
        </p:txBody>
      </p:sp>
      <p:sp>
        <p:nvSpPr>
          <p:cNvPr id="33" name="Text 31"/>
          <p:cNvSpPr/>
          <p:nvPr/>
        </p:nvSpPr>
        <p:spPr>
          <a:xfrm>
            <a:off x="6217920" y="1097280"/>
            <a:ext cx="2468880" cy="1463040"/>
          </a:xfrm>
          <a:prstGeom prst="rect">
            <a:avLst/>
          </a:prstGeom>
          <a:noFill/>
          <a:ln/>
        </p:spPr>
        <p:txBody>
          <a:bodyPr wrap="square" rtlCol="0" anchor="t"/>
          <a:lstStyle/>
          <a:p>
            <a:pPr indent="0" marL="0">
              <a:buNone/>
            </a:pPr>
            <a:r>
              <a:rPr lang="en-US" sz="1000" dirty="0">
                <a:solidFill>
                  <a:srgbClr val="17324D"/>
                </a:solidFill>
                <a:latin typeface="Hanken Grotesk" pitchFamily="34" charset="0"/>
                <a:ea typeface="Hanken Grotesk" pitchFamily="34" charset="-122"/>
                <a:cs typeface="Hanken Grotesk" pitchFamily="34" charset="-120"/>
              </a:rPr>
              <a:t>As supply manager you compare token deals like 500 for $60 and 350 for $38.50. You can't compare totals directly, so what does finding the cost 'per unit' let you do?</a:t>
            </a:r>
            <a:endParaRPr lang="en-US" sz="1000" dirty="0"/>
          </a:p>
        </p:txBody>
      </p:sp>
      <p:sp>
        <p:nvSpPr>
          <p:cNvPr id="34" name="Shape 32"/>
          <p:cNvSpPr/>
          <p:nvPr/>
        </p:nvSpPr>
        <p:spPr>
          <a:xfrm>
            <a:off x="6172200" y="2743200"/>
            <a:ext cx="2514600" cy="1828800"/>
          </a:xfrm>
          <a:prstGeom prst="roundRect">
            <a:avLst>
              <a:gd name="adj" fmla="val 4000"/>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35" name="Text 33"/>
          <p:cNvSpPr/>
          <p:nvPr/>
        </p:nvSpPr>
        <p:spPr>
          <a:xfrm>
            <a:off x="6309360" y="2834640"/>
            <a:ext cx="2286000" cy="228600"/>
          </a:xfrm>
          <a:prstGeom prst="rect">
            <a:avLst/>
          </a:prstGeom>
          <a:noFill/>
          <a:ln/>
        </p:spPr>
        <p:txBody>
          <a:bodyPr wrap="square" rtlCol="0" anchor="ctr"/>
          <a:lstStyle/>
          <a:p>
            <a:pPr indent="0" marL="0">
              <a:buNone/>
            </a:pPr>
            <a:r>
              <a:rPr lang="en-US" sz="950" b="1" dirty="0">
                <a:solidFill>
                  <a:srgbClr val="B0883B"/>
                </a:solidFill>
                <a:latin typeface="Outfit" pitchFamily="34" charset="0"/>
                <a:ea typeface="Outfit" pitchFamily="34" charset="-122"/>
                <a:cs typeface="Outfit" pitchFamily="34" charset="-120"/>
              </a:rPr>
              <a:t>🔑 Key Idea</a:t>
            </a:r>
            <a:endParaRPr lang="en-US" sz="950" dirty="0"/>
          </a:p>
        </p:txBody>
      </p:sp>
      <p:sp>
        <p:nvSpPr>
          <p:cNvPr id="36" name="Text 34"/>
          <p:cNvSpPr/>
          <p:nvPr/>
        </p:nvSpPr>
        <p:spPr>
          <a:xfrm>
            <a:off x="6309360" y="3108960"/>
            <a:ext cx="2286000" cy="1371600"/>
          </a:xfrm>
          <a:prstGeom prst="rect">
            <a:avLst/>
          </a:prstGeom>
          <a:noFill/>
          <a:ln/>
        </p:spPr>
        <p:txBody>
          <a:bodyPr wrap="square" rtlCol="0" anchor="t"/>
          <a:lstStyle/>
          <a:p>
            <a:pPr indent="0" marL="0">
              <a:buNone/>
            </a:pPr>
            <a:r>
              <a:rPr lang="en-US" sz="950" dirty="0">
                <a:solidFill>
                  <a:srgbClr val="24323F"/>
                </a:solidFill>
                <a:latin typeface="Hanken Grotesk" pitchFamily="34" charset="0"/>
                <a:ea typeface="Hanken Grotesk" pitchFamily="34" charset="-122"/>
                <a:cs typeface="Hanken Grotesk" pitchFamily="34" charset="-120"/>
              </a:rPr>
              <a:t>Divide the price by the number of items to get the cost per unit. The lower cost per unit is the better buy.</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Sort It Out / Clasifícalo</a:t>
            </a:r>
            <a:endParaRPr lang="en-US" sz="1500" dirty="0"/>
          </a:p>
        </p:txBody>
      </p:sp>
      <p:sp>
        <p:nvSpPr>
          <p:cNvPr id="5" name="Text 3"/>
          <p:cNvSpPr/>
          <p:nvPr/>
        </p:nvSpPr>
        <p:spPr>
          <a:xfrm>
            <a:off x="7360920" y="100584"/>
            <a:ext cx="914400" cy="274320"/>
          </a:xfrm>
          <a:prstGeom prst="rect">
            <a:avLst>
              <a:gd name="adj" fmla="val 50000"/>
            </a:avLst>
          </a:prstGeom>
          <a:solidFill>
            <a:srgbClr val="B0883B"/>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6.RP.3b</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4  ·  Lesson 4-7</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5</a:t>
            </a:r>
            <a:endParaRPr lang="en-US" sz="800" dirty="0"/>
          </a:p>
        </p:txBody>
      </p:sp>
      <p:sp>
        <p:nvSpPr>
          <p:cNvPr id="17" name="Shape 15"/>
          <p:cNvSpPr/>
          <p:nvPr/>
        </p:nvSpPr>
        <p:spPr>
          <a:xfrm>
            <a:off x="411480" y="685800"/>
            <a:ext cx="5486400" cy="4023360"/>
          </a:xfrm>
          <a:prstGeom prst="roundRect">
            <a:avLst>
              <a:gd name="adj" fmla="val 1818"/>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18" name="Text 16"/>
          <p:cNvSpPr/>
          <p:nvPr/>
        </p:nvSpPr>
        <p:spPr>
          <a:xfrm>
            <a:off x="594360" y="822960"/>
            <a:ext cx="5120640" cy="365760"/>
          </a:xfrm>
          <a:prstGeom prst="rect">
            <a:avLst/>
          </a:prstGeom>
          <a:noFill/>
          <a:ln/>
        </p:spPr>
        <p:txBody>
          <a:bodyPr wrap="square" rtlCol="0" anchor="ctr"/>
          <a:lstStyle/>
          <a:p>
            <a:pPr indent="0" marL="0">
              <a:buNone/>
            </a:pPr>
            <a:r>
              <a:rPr lang="en-US" sz="1050" b="1" dirty="0">
                <a:solidFill>
                  <a:srgbClr val="17324D"/>
                </a:solidFill>
                <a:latin typeface="Outfit" pitchFamily="34" charset="0"/>
                <a:ea typeface="Outfit" pitchFamily="34" charset="-122"/>
                <a:cs typeface="Outfit" pitchFamily="34" charset="-120"/>
              </a:rPr>
              <a:t>Calculate the unit rate for each supplier's deal. Then determine which is the better buy for each item.</a:t>
            </a:r>
            <a:endParaRPr lang="en-US" sz="1050" dirty="0"/>
          </a:p>
        </p:txBody>
      </p:sp>
      <p:sp>
        <p:nvSpPr>
          <p:cNvPr id="19" name="Text 17"/>
          <p:cNvSpPr/>
          <p:nvPr/>
        </p:nvSpPr>
        <p:spPr>
          <a:xfrm>
            <a:off x="594360" y="1234440"/>
            <a:ext cx="5120640" cy="219456"/>
          </a:xfrm>
          <a:prstGeom prst="rect">
            <a:avLst/>
          </a:prstGeom>
          <a:noFill/>
          <a:ln/>
        </p:spPr>
        <p:txBody>
          <a:bodyPr wrap="square" rtlCol="0" anchor="ctr"/>
          <a:lstStyle/>
          <a:p>
            <a:pPr indent="0" marL="0">
              <a:buNone/>
            </a:pPr>
            <a:r>
              <a:rPr lang="en-US" sz="850" i="1" dirty="0">
                <a:solidFill>
                  <a:srgbClr val="8A96A3"/>
                </a:solidFill>
                <a:latin typeface="Hanken Grotesk" pitchFamily="34" charset="0"/>
                <a:ea typeface="Hanken Grotesk" pitchFamily="34" charset="-122"/>
                <a:cs typeface="Hanken Grotesk" pitchFamily="34" charset="-120"/>
              </a:rPr>
              <a:t>Card Bank — cut or sort these cards:</a:t>
            </a:r>
            <a:endParaRPr lang="en-US" sz="850" dirty="0"/>
          </a:p>
        </p:txBody>
      </p:sp>
      <p:sp>
        <p:nvSpPr>
          <p:cNvPr id="20" name="Shape 18"/>
          <p:cNvSpPr/>
          <p:nvPr/>
        </p:nvSpPr>
        <p:spPr>
          <a:xfrm>
            <a:off x="594360" y="1481328"/>
            <a:ext cx="1630680" cy="384048"/>
          </a:xfrm>
          <a:prstGeom prst="roundRect">
            <a:avLst>
              <a:gd name="adj" fmla="val 11905"/>
            </a:avLst>
          </a:prstGeom>
          <a:solidFill>
            <a:srgbClr val="FBEFD0"/>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1" name="Text 19"/>
          <p:cNvSpPr/>
          <p:nvPr/>
        </p:nvSpPr>
        <p:spPr>
          <a:xfrm>
            <a:off x="685800" y="1481328"/>
            <a:ext cx="1447800" cy="384048"/>
          </a:xfrm>
          <a:prstGeom prst="rect">
            <a:avLst/>
          </a:prstGeom>
          <a:noFill/>
          <a:ln/>
        </p:spPr>
        <p:txBody>
          <a:bodyPr wrap="square" rtlCol="0" anchor="ctr"/>
          <a:lstStyle/>
          <a:p>
            <a:pPr algn="ctr" indent="0" marL="0">
              <a:buNone/>
            </a:pPr>
            <a:r>
              <a:rPr lang="en-US" sz="900" dirty="0">
                <a:solidFill>
                  <a:srgbClr val="17324D"/>
                </a:solidFill>
                <a:latin typeface="Hanken Grotesk" pitchFamily="34" charset="0"/>
                <a:ea typeface="Hanken Grotesk" pitchFamily="34" charset="-122"/>
                <a:cs typeface="Hanken Grotesk" pitchFamily="34" charset="-120"/>
              </a:rPr>
              <a:t>Card 1</a:t>
            </a:r>
            <a:endParaRPr lang="en-US" sz="900" dirty="0"/>
          </a:p>
        </p:txBody>
      </p:sp>
      <p:sp>
        <p:nvSpPr>
          <p:cNvPr id="22" name="Shape 20"/>
          <p:cNvSpPr/>
          <p:nvPr/>
        </p:nvSpPr>
        <p:spPr>
          <a:xfrm>
            <a:off x="2362200" y="1481328"/>
            <a:ext cx="1630680" cy="384048"/>
          </a:xfrm>
          <a:prstGeom prst="roundRect">
            <a:avLst>
              <a:gd name="adj" fmla="val 11905"/>
            </a:avLst>
          </a:prstGeom>
          <a:solidFill>
            <a:srgbClr val="FBEFD0"/>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3" name="Text 21"/>
          <p:cNvSpPr/>
          <p:nvPr/>
        </p:nvSpPr>
        <p:spPr>
          <a:xfrm>
            <a:off x="2453640" y="1481328"/>
            <a:ext cx="1447800" cy="384048"/>
          </a:xfrm>
          <a:prstGeom prst="rect">
            <a:avLst/>
          </a:prstGeom>
          <a:noFill/>
          <a:ln/>
        </p:spPr>
        <p:txBody>
          <a:bodyPr wrap="square" rtlCol="0" anchor="ctr"/>
          <a:lstStyle/>
          <a:p>
            <a:pPr algn="ctr" indent="0" marL="0">
              <a:buNone/>
            </a:pPr>
            <a:r>
              <a:rPr lang="en-US" sz="900" dirty="0">
                <a:solidFill>
                  <a:srgbClr val="17324D"/>
                </a:solidFill>
                <a:latin typeface="Hanken Grotesk" pitchFamily="34" charset="0"/>
                <a:ea typeface="Hanken Grotesk" pitchFamily="34" charset="-122"/>
                <a:cs typeface="Hanken Grotesk" pitchFamily="34" charset="-120"/>
              </a:rPr>
              <a:t>Card 2</a:t>
            </a:r>
            <a:endParaRPr lang="en-US" sz="900" dirty="0"/>
          </a:p>
        </p:txBody>
      </p:sp>
      <p:sp>
        <p:nvSpPr>
          <p:cNvPr id="24" name="Shape 22"/>
          <p:cNvSpPr/>
          <p:nvPr/>
        </p:nvSpPr>
        <p:spPr>
          <a:xfrm>
            <a:off x="4130040" y="1481328"/>
            <a:ext cx="1630680" cy="384048"/>
          </a:xfrm>
          <a:prstGeom prst="roundRect">
            <a:avLst>
              <a:gd name="adj" fmla="val 11905"/>
            </a:avLst>
          </a:prstGeom>
          <a:solidFill>
            <a:srgbClr val="FBEFD0"/>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5" name="Text 23"/>
          <p:cNvSpPr/>
          <p:nvPr/>
        </p:nvSpPr>
        <p:spPr>
          <a:xfrm>
            <a:off x="4221480" y="1481328"/>
            <a:ext cx="1447800" cy="384048"/>
          </a:xfrm>
          <a:prstGeom prst="rect">
            <a:avLst/>
          </a:prstGeom>
          <a:noFill/>
          <a:ln/>
        </p:spPr>
        <p:txBody>
          <a:bodyPr wrap="square" rtlCol="0" anchor="ctr"/>
          <a:lstStyle/>
          <a:p>
            <a:pPr algn="ctr" indent="0" marL="0">
              <a:buNone/>
            </a:pPr>
            <a:r>
              <a:rPr lang="en-US" sz="900" dirty="0">
                <a:solidFill>
                  <a:srgbClr val="17324D"/>
                </a:solidFill>
                <a:latin typeface="Hanken Grotesk" pitchFamily="34" charset="0"/>
                <a:ea typeface="Hanken Grotesk" pitchFamily="34" charset="-122"/>
                <a:cs typeface="Hanken Grotesk" pitchFamily="34" charset="-120"/>
              </a:rPr>
              <a:t>Card 3</a:t>
            </a:r>
            <a:endParaRPr lang="en-US" sz="900" dirty="0"/>
          </a:p>
        </p:txBody>
      </p:sp>
      <p:sp>
        <p:nvSpPr>
          <p:cNvPr id="26" name="Shape 24"/>
          <p:cNvSpPr/>
          <p:nvPr/>
        </p:nvSpPr>
        <p:spPr>
          <a:xfrm>
            <a:off x="594360" y="1975104"/>
            <a:ext cx="1630680" cy="384048"/>
          </a:xfrm>
          <a:prstGeom prst="roundRect">
            <a:avLst>
              <a:gd name="adj" fmla="val 11905"/>
            </a:avLst>
          </a:prstGeom>
          <a:solidFill>
            <a:srgbClr val="FBEFD0"/>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7" name="Text 25"/>
          <p:cNvSpPr/>
          <p:nvPr/>
        </p:nvSpPr>
        <p:spPr>
          <a:xfrm>
            <a:off x="685800" y="1975104"/>
            <a:ext cx="1447800" cy="384048"/>
          </a:xfrm>
          <a:prstGeom prst="rect">
            <a:avLst/>
          </a:prstGeom>
          <a:noFill/>
          <a:ln/>
        </p:spPr>
        <p:txBody>
          <a:bodyPr wrap="square" rtlCol="0" anchor="ctr"/>
          <a:lstStyle/>
          <a:p>
            <a:pPr algn="ctr" indent="0" marL="0">
              <a:buNone/>
            </a:pPr>
            <a:r>
              <a:rPr lang="en-US" sz="900" dirty="0">
                <a:solidFill>
                  <a:srgbClr val="17324D"/>
                </a:solidFill>
                <a:latin typeface="Hanken Grotesk" pitchFamily="34" charset="0"/>
                <a:ea typeface="Hanken Grotesk" pitchFamily="34" charset="-122"/>
                <a:cs typeface="Hanken Grotesk" pitchFamily="34" charset="-120"/>
              </a:rPr>
              <a:t>Card 4</a:t>
            </a:r>
            <a:endParaRPr lang="en-US" sz="900" dirty="0"/>
          </a:p>
        </p:txBody>
      </p:sp>
      <p:sp>
        <p:nvSpPr>
          <p:cNvPr id="28" name="Shape 26"/>
          <p:cNvSpPr/>
          <p:nvPr/>
        </p:nvSpPr>
        <p:spPr>
          <a:xfrm>
            <a:off x="594360" y="2560320"/>
            <a:ext cx="2514600" cy="1965960"/>
          </a:xfrm>
          <a:prstGeom prst="roundRect">
            <a:avLst>
              <a:gd name="adj" fmla="val 2326"/>
            </a:avLst>
          </a:prstGeom>
          <a:solidFill>
            <a:srgbClr val="FFFFFF"/>
          </a:solidFill>
          <a:ln w="12700">
            <a:solidFill>
              <a:srgbClr val="B0883B"/>
            </a:solidFill>
            <a:prstDash val="solid"/>
          </a:ln>
          <a:effectLst>
            <a:outerShdw sx="100000" sy="100000" kx="0" ky="0" algn="bl" rotWithShape="0" blurRad="50800" dist="12700" dir="5400000">
              <a:srgbClr val="1C2E42">
                <a:alpha val="10000"/>
              </a:srgbClr>
            </a:outerShdw>
          </a:effectLst>
        </p:spPr>
      </p:sp>
      <p:sp>
        <p:nvSpPr>
          <p:cNvPr id="29" name="Text 27"/>
          <p:cNvSpPr/>
          <p:nvPr/>
        </p:nvSpPr>
        <p:spPr>
          <a:xfrm>
            <a:off x="594360" y="2560320"/>
            <a:ext cx="2514600" cy="292608"/>
          </a:xfrm>
          <a:prstGeom prst="rect">
            <a:avLst/>
          </a:prstGeom>
          <a:solidFill>
            <a:srgbClr val="B0883B"/>
          </a:solidFill>
          <a:ln/>
        </p:spPr>
        <p:txBody>
          <a:bodyPr wrap="square" rtlCol="0" anchor="ctr"/>
          <a:lstStyle/>
          <a:p>
            <a:pPr algn="ctr" indent="0" marL="0">
              <a:buNone/>
            </a:pPr>
            <a:r>
              <a:rPr lang="en-US" sz="950" b="1" dirty="0">
                <a:solidFill>
                  <a:srgbClr val="FFFFFF"/>
                </a:solidFill>
                <a:latin typeface="Outfit" pitchFamily="34" charset="0"/>
                <a:ea typeface="Outfit" pitchFamily="34" charset="-122"/>
                <a:cs typeface="Outfit" pitchFamily="34" charset="-120"/>
              </a:rPr>
              <a:t>Group A</a:t>
            </a:r>
            <a:endParaRPr lang="en-US" sz="950" dirty="0"/>
          </a:p>
        </p:txBody>
      </p:sp>
      <p:sp>
        <p:nvSpPr>
          <p:cNvPr id="30" name="Shape 28"/>
          <p:cNvSpPr/>
          <p:nvPr/>
        </p:nvSpPr>
        <p:spPr>
          <a:xfrm>
            <a:off x="3246120" y="2560320"/>
            <a:ext cx="2514600" cy="1965960"/>
          </a:xfrm>
          <a:prstGeom prst="roundRect">
            <a:avLst>
              <a:gd name="adj" fmla="val 2326"/>
            </a:avLst>
          </a:prstGeom>
          <a:solidFill>
            <a:srgbClr val="FFFFFF"/>
          </a:solidFill>
          <a:ln w="12700">
            <a:solidFill>
              <a:srgbClr val="B0883B"/>
            </a:solidFill>
            <a:prstDash val="solid"/>
          </a:ln>
          <a:effectLst>
            <a:outerShdw sx="100000" sy="100000" kx="0" ky="0" algn="bl" rotWithShape="0" blurRad="50800" dist="12700" dir="5400000">
              <a:srgbClr val="1C2E42">
                <a:alpha val="10000"/>
              </a:srgbClr>
            </a:outerShdw>
          </a:effectLst>
        </p:spPr>
      </p:sp>
      <p:sp>
        <p:nvSpPr>
          <p:cNvPr id="31" name="Text 29"/>
          <p:cNvSpPr/>
          <p:nvPr/>
        </p:nvSpPr>
        <p:spPr>
          <a:xfrm>
            <a:off x="3246120" y="2560320"/>
            <a:ext cx="2514600" cy="292608"/>
          </a:xfrm>
          <a:prstGeom prst="rect">
            <a:avLst/>
          </a:prstGeom>
          <a:solidFill>
            <a:srgbClr val="B0883B"/>
          </a:solidFill>
          <a:ln/>
        </p:spPr>
        <p:txBody>
          <a:bodyPr wrap="square" rtlCol="0" anchor="ctr"/>
          <a:lstStyle/>
          <a:p>
            <a:pPr algn="ctr" indent="0" marL="0">
              <a:buNone/>
            </a:pPr>
            <a:r>
              <a:rPr lang="en-US" sz="950" b="1" dirty="0">
                <a:solidFill>
                  <a:srgbClr val="FFFFFF"/>
                </a:solidFill>
                <a:latin typeface="Outfit" pitchFamily="34" charset="0"/>
                <a:ea typeface="Outfit" pitchFamily="34" charset="-122"/>
                <a:cs typeface="Outfit" pitchFamily="34" charset="-120"/>
              </a:rPr>
              <a:t>Group B</a:t>
            </a:r>
            <a:endParaRPr lang="en-US" sz="950" dirty="0"/>
          </a:p>
        </p:txBody>
      </p:sp>
      <p:sp>
        <p:nvSpPr>
          <p:cNvPr id="32" name="Shape 30"/>
          <p:cNvSpPr/>
          <p:nvPr/>
        </p:nvSpPr>
        <p:spPr>
          <a:xfrm>
            <a:off x="6035040" y="685800"/>
            <a:ext cx="2788920" cy="4023360"/>
          </a:xfrm>
          <a:prstGeom prst="roundRect">
            <a:avLst>
              <a:gd name="adj" fmla="val 2623"/>
            </a:avLst>
          </a:prstGeom>
          <a:solidFill>
            <a:srgbClr val="DFF2EE"/>
          </a:solidFill>
          <a:ln w="12700">
            <a:solidFill>
              <a:srgbClr val="1FA6A2"/>
            </a:solidFill>
            <a:prstDash val="solid"/>
          </a:ln>
          <a:effectLst>
            <a:outerShdw sx="100000" sy="100000" kx="0" ky="0" algn="bl" rotWithShape="0" blurRad="50800" dist="12700" dir="5400000">
              <a:srgbClr val="1C2E42">
                <a:alpha val="10000"/>
              </a:srgbClr>
            </a:outerShdw>
          </a:effectLst>
        </p:spPr>
      </p:sp>
      <p:sp>
        <p:nvSpPr>
          <p:cNvPr id="33" name="Text 31"/>
          <p:cNvSpPr/>
          <p:nvPr/>
        </p:nvSpPr>
        <p:spPr>
          <a:xfrm>
            <a:off x="6035040" y="685800"/>
            <a:ext cx="2788920" cy="274320"/>
          </a:xfrm>
          <a:prstGeom prst="rect">
            <a:avLst/>
          </a:prstGeom>
          <a:solidFill>
            <a:srgbClr val="1FA6A2"/>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 Talk It Over</a:t>
            </a:r>
            <a:endParaRPr lang="en-US" sz="1000" dirty="0"/>
          </a:p>
        </p:txBody>
      </p:sp>
      <p:sp>
        <p:nvSpPr>
          <p:cNvPr id="34" name="Text 32"/>
          <p:cNvSpPr/>
          <p:nvPr/>
        </p:nvSpPr>
        <p:spPr>
          <a:xfrm>
            <a:off x="6217920" y="1097280"/>
            <a:ext cx="2468880" cy="1371600"/>
          </a:xfrm>
          <a:prstGeom prst="rect">
            <a:avLst/>
          </a:prstGeom>
          <a:noFill/>
          <a:ln/>
        </p:spPr>
        <p:txBody>
          <a:bodyPr wrap="square" rtlCol="0" anchor="t"/>
          <a:lstStyle/>
          <a:p>
            <a:pPr indent="0" marL="0">
              <a:buNone/>
            </a:pPr>
            <a:r>
              <a:rPr lang="en-US" sz="1000" dirty="0">
                <a:solidFill>
                  <a:srgbClr val="17324D"/>
                </a:solidFill>
                <a:latin typeface="Hanken Grotesk" pitchFamily="34" charset="0"/>
                <a:ea typeface="Hanken Grotesk" pitchFamily="34" charset="-122"/>
                <a:cs typeface="Hanken Grotesk" pitchFamily="34" charset="-120"/>
              </a:rPr>
              <a:t>How did the unit rate help you decide the better buy between the two token suppliers in your table?</a:t>
            </a:r>
            <a:endParaRPr lang="en-US" sz="1000" dirty="0"/>
          </a:p>
        </p:txBody>
      </p:sp>
      <p:sp>
        <p:nvSpPr>
          <p:cNvPr id="35" name="Shape 33"/>
          <p:cNvSpPr/>
          <p:nvPr/>
        </p:nvSpPr>
        <p:spPr>
          <a:xfrm>
            <a:off x="6217920" y="2743200"/>
            <a:ext cx="2423160" cy="0"/>
          </a:xfrm>
          <a:prstGeom prst="line">
            <a:avLst/>
          </a:prstGeom>
          <a:noFill/>
          <a:ln w="9525">
            <a:solidFill>
              <a:srgbClr val="C7CDD2"/>
            </a:solidFill>
            <a:prstDash val="dash"/>
          </a:ln>
        </p:spPr>
      </p:sp>
      <p:sp>
        <p:nvSpPr>
          <p:cNvPr id="36" name="Shape 34"/>
          <p:cNvSpPr/>
          <p:nvPr/>
        </p:nvSpPr>
        <p:spPr>
          <a:xfrm>
            <a:off x="6217920" y="3072384"/>
            <a:ext cx="2423160" cy="0"/>
          </a:xfrm>
          <a:prstGeom prst="line">
            <a:avLst/>
          </a:prstGeom>
          <a:noFill/>
          <a:ln w="9525">
            <a:solidFill>
              <a:srgbClr val="C7CDD2"/>
            </a:solidFill>
            <a:prstDash val="dash"/>
          </a:ln>
        </p:spPr>
      </p:sp>
      <p:sp>
        <p:nvSpPr>
          <p:cNvPr id="37" name="Shape 35"/>
          <p:cNvSpPr/>
          <p:nvPr/>
        </p:nvSpPr>
        <p:spPr>
          <a:xfrm>
            <a:off x="6217920" y="3401568"/>
            <a:ext cx="2423160" cy="0"/>
          </a:xfrm>
          <a:prstGeom prst="line">
            <a:avLst/>
          </a:prstGeom>
          <a:noFill/>
          <a:ln w="9525">
            <a:solidFill>
              <a:srgbClr val="C7CDD2"/>
            </a:solidFill>
            <a:prstDash val="dash"/>
          </a:ln>
        </p:spPr>
      </p:sp>
      <p:sp>
        <p:nvSpPr>
          <p:cNvPr id="38" name="Shape 36"/>
          <p:cNvSpPr/>
          <p:nvPr/>
        </p:nvSpPr>
        <p:spPr>
          <a:xfrm>
            <a:off x="6217920" y="3730752"/>
            <a:ext cx="2423160" cy="0"/>
          </a:xfrm>
          <a:prstGeom prst="line">
            <a:avLst/>
          </a:prstGeom>
          <a:noFill/>
          <a:ln w="9525">
            <a:solidFill>
              <a:srgbClr val="C7CDD2"/>
            </a:solidFill>
            <a:prstDash val="dash"/>
          </a:ln>
        </p:spPr>
      </p:sp>
      <p:sp>
        <p:nvSpPr>
          <p:cNvPr id="39" name="Shape 37"/>
          <p:cNvSpPr/>
          <p:nvPr/>
        </p:nvSpPr>
        <p:spPr>
          <a:xfrm>
            <a:off x="6217920" y="4059936"/>
            <a:ext cx="2423160" cy="0"/>
          </a:xfrm>
          <a:prstGeom prst="line">
            <a:avLst/>
          </a:prstGeom>
          <a:noFill/>
          <a:ln w="9525">
            <a:solidFill>
              <a:srgbClr val="C7CDD2"/>
            </a:solidFill>
            <a:prstDash val="dash"/>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Error Analysis / Análisis de Errores</a:t>
            </a:r>
            <a:endParaRPr lang="en-US" sz="1500" dirty="0"/>
          </a:p>
        </p:txBody>
      </p:sp>
      <p:sp>
        <p:nvSpPr>
          <p:cNvPr id="5" name="Text 3"/>
          <p:cNvSpPr/>
          <p:nvPr/>
        </p:nvSpPr>
        <p:spPr>
          <a:xfrm>
            <a:off x="7360920" y="100584"/>
            <a:ext cx="914400" cy="274320"/>
          </a:xfrm>
          <a:prstGeom prst="rect">
            <a:avLst>
              <a:gd name="adj" fmla="val 50000"/>
            </a:avLst>
          </a:prstGeom>
          <a:solidFill>
            <a:srgbClr val="B0883B"/>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6.RP.3b</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4  ·  Lesson 4-7</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6</a:t>
            </a:r>
            <a:endParaRPr lang="en-US" sz="800" dirty="0"/>
          </a:p>
        </p:txBody>
      </p:sp>
      <p:sp>
        <p:nvSpPr>
          <p:cNvPr id="17" name="Shape 15"/>
          <p:cNvSpPr/>
          <p:nvPr/>
        </p:nvSpPr>
        <p:spPr>
          <a:xfrm>
            <a:off x="411480" y="685800"/>
            <a:ext cx="5486400" cy="4023360"/>
          </a:xfrm>
          <a:prstGeom prst="roundRect">
            <a:avLst>
              <a:gd name="adj" fmla="val 1818"/>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18" name="Text 16"/>
          <p:cNvSpPr/>
          <p:nvPr/>
        </p:nvSpPr>
        <p:spPr>
          <a:xfrm>
            <a:off x="594360" y="841248"/>
            <a:ext cx="1554480" cy="274320"/>
          </a:xfrm>
          <a:prstGeom prst="rect">
            <a:avLst>
              <a:gd name="adj" fmla="val 50000"/>
            </a:avLst>
          </a:prstGeom>
          <a:solidFill>
            <a:srgbClr val="C0392B"/>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 FIND THE ERROR</a:t>
            </a:r>
            <a:endParaRPr lang="en-US" sz="900" dirty="0"/>
          </a:p>
        </p:txBody>
      </p:sp>
      <p:sp>
        <p:nvSpPr>
          <p:cNvPr id="19" name="Text 17"/>
          <p:cNvSpPr/>
          <p:nvPr/>
        </p:nvSpPr>
        <p:spPr>
          <a:xfrm>
            <a:off x="2286000" y="841248"/>
            <a:ext cx="3383280" cy="274320"/>
          </a:xfrm>
          <a:prstGeom prst="rect">
            <a:avLst/>
          </a:prstGeom>
          <a:noFill/>
          <a:ln/>
        </p:spPr>
        <p:txBody>
          <a:bodyPr wrap="square" rtlCol="0" anchor="ctr"/>
          <a:lstStyle/>
          <a:p>
            <a:pPr indent="0" marL="0">
              <a:buNone/>
            </a:pPr>
            <a:r>
              <a:rPr lang="en-US" sz="1100" b="1" dirty="0">
                <a:solidFill>
                  <a:srgbClr val="17324D"/>
                </a:solidFill>
                <a:latin typeface="Outfit" pitchFamily="34" charset="0"/>
                <a:ea typeface="Outfit" pitchFamily="34" charset="-122"/>
                <a:cs typeface="Outfit" pitchFamily="34" charset="-120"/>
              </a:rPr>
              <a:t>Find the Unit Rate Error</a:t>
            </a:r>
            <a:endParaRPr lang="en-US" sz="1100" dirty="0"/>
          </a:p>
        </p:txBody>
      </p:sp>
      <p:sp>
        <p:nvSpPr>
          <p:cNvPr id="20" name="Text 18"/>
          <p:cNvSpPr/>
          <p:nvPr/>
        </p:nvSpPr>
        <p:spPr>
          <a:xfrm>
            <a:off x="594360" y="1188720"/>
            <a:ext cx="5120640" cy="365760"/>
          </a:xfrm>
          <a:prstGeom prst="rect">
            <a:avLst/>
          </a:prstGeom>
          <a:noFill/>
          <a:ln/>
        </p:spPr>
        <p:txBody>
          <a:bodyPr wrap="square" rtlCol="0" anchor="ctr"/>
          <a:lstStyle/>
          <a:p>
            <a:pPr indent="0" marL="0">
              <a:buNone/>
            </a:pPr>
            <a:r>
              <a:rPr lang="en-US" sz="950" dirty="0">
                <a:solidFill>
                  <a:srgbClr val="24323F"/>
                </a:solidFill>
                <a:latin typeface="Hanken Grotesk" pitchFamily="34" charset="0"/>
                <a:ea typeface="Hanken Grotesk" pitchFamily="34" charset="-122"/>
                <a:cs typeface="Hanken Grotesk" pitchFamily="34" charset="-120"/>
              </a:rPr>
              <a:t>A classmate turned in the work below. One step has a mistake — find it, name it, fix it.</a:t>
            </a:r>
            <a:endParaRPr lang="en-US" sz="950" dirty="0"/>
          </a:p>
        </p:txBody>
      </p:sp>
      <p:sp>
        <p:nvSpPr>
          <p:cNvPr id="21" name="Shape 19"/>
          <p:cNvSpPr/>
          <p:nvPr/>
        </p:nvSpPr>
        <p:spPr>
          <a:xfrm>
            <a:off x="594360" y="1627632"/>
            <a:ext cx="5166360" cy="1901952"/>
          </a:xfrm>
          <a:prstGeom prst="roundRect">
            <a:avLst>
              <a:gd name="adj" fmla="val 2404"/>
            </a:avLst>
          </a:prstGeom>
          <a:solidFill>
            <a:srgbClr val="F4F1E8"/>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2" name="Text 20"/>
          <p:cNvSpPr/>
          <p:nvPr/>
        </p:nvSpPr>
        <p:spPr>
          <a:xfrm>
            <a:off x="713232" y="1691640"/>
            <a:ext cx="4937760" cy="219456"/>
          </a:xfrm>
          <a:prstGeom prst="rect">
            <a:avLst/>
          </a:prstGeom>
          <a:noFill/>
          <a:ln/>
        </p:spPr>
        <p:txBody>
          <a:bodyPr wrap="square" rtlCol="0" anchor="ctr"/>
          <a:lstStyle/>
          <a:p>
            <a:pPr indent="0" marL="0">
              <a:buNone/>
            </a:pPr>
            <a:r>
              <a:rPr lang="en-US" sz="800" i="1" dirty="0">
                <a:solidFill>
                  <a:srgbClr val="8A96A3"/>
                </a:solidFill>
                <a:latin typeface="Hanken Grotesk" pitchFamily="34" charset="0"/>
                <a:ea typeface="Hanken Grotesk" pitchFamily="34" charset="-122"/>
                <a:cs typeface="Hanken Grotesk" pitchFamily="34" charset="-120"/>
              </a:rPr>
              <a:t>Student's work (contains an error):</a:t>
            </a:r>
            <a:endParaRPr lang="en-US" sz="800" dirty="0"/>
          </a:p>
        </p:txBody>
      </p:sp>
      <p:sp>
        <p:nvSpPr>
          <p:cNvPr id="23" name="Text 21"/>
          <p:cNvSpPr/>
          <p:nvPr/>
        </p:nvSpPr>
        <p:spPr>
          <a:xfrm>
            <a:off x="777240" y="1938528"/>
            <a:ext cx="4892040" cy="347472"/>
          </a:xfrm>
          <a:prstGeom prst="rect">
            <a:avLst/>
          </a:prstGeom>
          <a:noFill/>
          <a:ln/>
        </p:spPr>
        <p:txBody>
          <a:bodyPr wrap="square" rtlCol="0" anchor="ctr"/>
          <a:lstStyle/>
          <a:p>
            <a:pPr indent="0" marL="0">
              <a:buNone/>
            </a:pPr>
            <a:r>
              <a:rPr lang="en-US" sz="950" b="1" dirty="0">
                <a:solidFill>
                  <a:srgbClr val="17324D"/>
                </a:solidFill>
                <a:latin typeface="Hanken Grotesk" pitchFamily="34" charset="0"/>
                <a:ea typeface="Hanken Grotesk" pitchFamily="34" charset="-122"/>
                <a:cs typeface="Hanken Grotesk" pitchFamily="34" charset="-120"/>
              </a:rPr>
              <a:t>1. </a:t>
            </a:r>
            <a:pPr indent="0" marL="0">
              <a:buNone/>
            </a:pPr>
            <a:r>
              <a:rPr lang="en-US" sz="950" b="1" dirty="0">
                <a:solidFill>
                  <a:srgbClr val="17324D"/>
                </a:solidFill>
                <a:latin typeface="Hanken Grotesk" pitchFamily="34" charset="0"/>
                <a:ea typeface="Hanken Grotesk" pitchFamily="34" charset="-122"/>
                <a:cs typeface="Hanken Grotesk" pitchFamily="34" charset="-120"/>
              </a:rPr>
              <a:t>Which is the better buy: 5 lb for $8.75 or 3 lb for $5.10?:  </a:t>
            </a:r>
            <a:pPr indent="0" marL="0">
              <a:buNone/>
            </a:pPr>
            <a:r>
              <a:rPr lang="en-US" sz="950" b="1" dirty="0">
                <a:solidFill>
                  <a:srgbClr val="24323F"/>
                </a:solidFill>
                <a:latin typeface="Courier New" pitchFamily="34" charset="0"/>
                <a:ea typeface="Courier New" pitchFamily="34" charset="-122"/>
                <a:cs typeface="Courier New" pitchFamily="34" charset="-120"/>
              </a:rPr>
              <a:t>Compare two deals</a:t>
            </a:r>
            <a:endParaRPr lang="en-US" sz="950" dirty="0"/>
          </a:p>
        </p:txBody>
      </p:sp>
      <p:sp>
        <p:nvSpPr>
          <p:cNvPr id="24" name="Text 22"/>
          <p:cNvSpPr/>
          <p:nvPr/>
        </p:nvSpPr>
        <p:spPr>
          <a:xfrm>
            <a:off x="777240" y="2322576"/>
            <a:ext cx="4892040" cy="347472"/>
          </a:xfrm>
          <a:prstGeom prst="rect">
            <a:avLst/>
          </a:prstGeom>
          <a:noFill/>
          <a:ln/>
        </p:spPr>
        <p:txBody>
          <a:bodyPr wrap="square" rtlCol="0" anchor="ctr"/>
          <a:lstStyle/>
          <a:p>
            <a:pPr indent="0" marL="0">
              <a:buNone/>
            </a:pPr>
            <a:r>
              <a:rPr lang="en-US" sz="950" b="1" dirty="0">
                <a:solidFill>
                  <a:srgbClr val="17324D"/>
                </a:solidFill>
                <a:latin typeface="Hanken Grotesk" pitchFamily="34" charset="0"/>
                <a:ea typeface="Hanken Grotesk" pitchFamily="34" charset="-122"/>
                <a:cs typeface="Hanken Grotesk" pitchFamily="34" charset="-120"/>
              </a:rPr>
              <a:t>2. </a:t>
            </a:r>
            <a:pPr indent="0" marL="0">
              <a:buNone/>
            </a:pPr>
            <a:r>
              <a:rPr lang="en-US" sz="950" b="1" dirty="0">
                <a:solidFill>
                  <a:srgbClr val="17324D"/>
                </a:solidFill>
                <a:latin typeface="Hanken Grotesk" pitchFamily="34" charset="0"/>
                <a:ea typeface="Hanken Grotesk" pitchFamily="34" charset="-122"/>
                <a:cs typeface="Hanken Grotesk" pitchFamily="34" charset="-120"/>
              </a:rPr>
              <a:t>Find unit rate for Deal 1:  </a:t>
            </a:r>
            <a:pPr indent="0" marL="0">
              <a:buNone/>
            </a:pPr>
            <a:r>
              <a:rPr lang="en-US" sz="950" b="1" dirty="0">
                <a:solidFill>
                  <a:srgbClr val="24323F"/>
                </a:solidFill>
                <a:latin typeface="Courier New" pitchFamily="34" charset="0"/>
                <a:ea typeface="Courier New" pitchFamily="34" charset="-122"/>
                <a:cs typeface="Courier New" pitchFamily="34" charset="-120"/>
              </a:rPr>
              <a:t>5 ÷ $8.75 = 0.57 lb per dollar</a:t>
            </a:r>
            <a:endParaRPr lang="en-US" sz="950" dirty="0"/>
          </a:p>
        </p:txBody>
      </p:sp>
      <p:sp>
        <p:nvSpPr>
          <p:cNvPr id="25" name="Text 23"/>
          <p:cNvSpPr/>
          <p:nvPr/>
        </p:nvSpPr>
        <p:spPr>
          <a:xfrm>
            <a:off x="777240" y="2706624"/>
            <a:ext cx="4892040" cy="347472"/>
          </a:xfrm>
          <a:prstGeom prst="rect">
            <a:avLst/>
          </a:prstGeom>
          <a:noFill/>
          <a:ln/>
        </p:spPr>
        <p:txBody>
          <a:bodyPr wrap="square" rtlCol="0" anchor="ctr"/>
          <a:lstStyle/>
          <a:p>
            <a:pPr indent="0" marL="0">
              <a:buNone/>
            </a:pPr>
            <a:r>
              <a:rPr lang="en-US" sz="950" b="1" dirty="0">
                <a:solidFill>
                  <a:srgbClr val="17324D"/>
                </a:solidFill>
                <a:latin typeface="Hanken Grotesk" pitchFamily="34" charset="0"/>
                <a:ea typeface="Hanken Grotesk" pitchFamily="34" charset="-122"/>
                <a:cs typeface="Hanken Grotesk" pitchFamily="34" charset="-120"/>
              </a:rPr>
              <a:t>3. </a:t>
            </a:r>
            <a:pPr indent="0" marL="0">
              <a:buNone/>
            </a:pPr>
            <a:r>
              <a:rPr lang="en-US" sz="950" b="1" dirty="0">
                <a:solidFill>
                  <a:srgbClr val="17324D"/>
                </a:solidFill>
                <a:latin typeface="Hanken Grotesk" pitchFamily="34" charset="0"/>
                <a:ea typeface="Hanken Grotesk" pitchFamily="34" charset="-122"/>
                <a:cs typeface="Hanken Grotesk" pitchFamily="34" charset="-120"/>
              </a:rPr>
              <a:t>Find unit rate for Deal 2:  </a:t>
            </a:r>
            <a:pPr indent="0" marL="0">
              <a:buNone/>
            </a:pPr>
            <a:r>
              <a:rPr lang="en-US" sz="950" b="1" dirty="0">
                <a:solidFill>
                  <a:srgbClr val="24323F"/>
                </a:solidFill>
                <a:latin typeface="Courier New" pitchFamily="34" charset="0"/>
                <a:ea typeface="Courier New" pitchFamily="34" charset="-122"/>
                <a:cs typeface="Courier New" pitchFamily="34" charset="-120"/>
              </a:rPr>
              <a:t>3 ÷ $5.10 = 0.59 lb per dollar</a:t>
            </a:r>
            <a:endParaRPr lang="en-US" sz="950" dirty="0"/>
          </a:p>
        </p:txBody>
      </p:sp>
      <p:sp>
        <p:nvSpPr>
          <p:cNvPr id="26" name="Text 24"/>
          <p:cNvSpPr/>
          <p:nvPr/>
        </p:nvSpPr>
        <p:spPr>
          <a:xfrm>
            <a:off x="777240" y="3090672"/>
            <a:ext cx="4892040" cy="347472"/>
          </a:xfrm>
          <a:prstGeom prst="rect">
            <a:avLst/>
          </a:prstGeom>
          <a:noFill/>
          <a:ln/>
        </p:spPr>
        <p:txBody>
          <a:bodyPr wrap="square" rtlCol="0" anchor="ctr"/>
          <a:lstStyle/>
          <a:p>
            <a:pPr indent="0" marL="0">
              <a:buNone/>
            </a:pPr>
            <a:r>
              <a:rPr lang="en-US" sz="950" b="1" dirty="0">
                <a:solidFill>
                  <a:srgbClr val="17324D"/>
                </a:solidFill>
                <a:latin typeface="Hanken Grotesk" pitchFamily="34" charset="0"/>
                <a:ea typeface="Hanken Grotesk" pitchFamily="34" charset="-122"/>
                <a:cs typeface="Hanken Grotesk" pitchFamily="34" charset="-120"/>
              </a:rPr>
              <a:t>4. </a:t>
            </a:r>
            <a:pPr indent="0" marL="0">
              <a:buNone/>
            </a:pPr>
            <a:r>
              <a:rPr lang="en-US" sz="950" b="1" dirty="0">
                <a:solidFill>
                  <a:srgbClr val="17324D"/>
                </a:solidFill>
                <a:latin typeface="Hanken Grotesk" pitchFamily="34" charset="0"/>
                <a:ea typeface="Hanken Grotesk" pitchFamily="34" charset="-122"/>
                <a:cs typeface="Hanken Grotesk" pitchFamily="34" charset="-120"/>
              </a:rPr>
              <a:t>Compare:  </a:t>
            </a:r>
            <a:pPr indent="0" marL="0">
              <a:buNone/>
            </a:pPr>
            <a:r>
              <a:rPr lang="en-US" sz="950" b="1" dirty="0">
                <a:solidFill>
                  <a:srgbClr val="24323F"/>
                </a:solidFill>
                <a:latin typeface="Courier New" pitchFamily="34" charset="0"/>
                <a:ea typeface="Courier New" pitchFamily="34" charset="-122"/>
                <a:cs typeface="Courier New" pitchFamily="34" charset="-120"/>
              </a:rPr>
              <a:t>0.59 &gt; 0.57, so Deal 2 is the better buy</a:t>
            </a:r>
            <a:endParaRPr lang="en-US" sz="950" dirty="0"/>
          </a:p>
        </p:txBody>
      </p:sp>
      <p:sp>
        <p:nvSpPr>
          <p:cNvPr id="27" name="Text 25"/>
          <p:cNvSpPr/>
          <p:nvPr/>
        </p:nvSpPr>
        <p:spPr>
          <a:xfrm>
            <a:off x="594360" y="3666744"/>
            <a:ext cx="5120640" cy="228600"/>
          </a:xfrm>
          <a:prstGeom prst="rect">
            <a:avLst/>
          </a:prstGeom>
          <a:noFill/>
          <a:ln/>
        </p:spPr>
        <p:txBody>
          <a:bodyPr wrap="square" rtlCol="0" anchor="ctr"/>
          <a:lstStyle/>
          <a:p>
            <a:pPr indent="0" marL="0">
              <a:buNone/>
            </a:pPr>
            <a:r>
              <a:rPr lang="en-US" sz="900" b="1" dirty="0">
                <a:solidFill>
                  <a:srgbClr val="17324D"/>
                </a:solidFill>
                <a:latin typeface="Hanken Grotesk" pitchFamily="34" charset="0"/>
                <a:ea typeface="Hanken Grotesk" pitchFamily="34" charset="-122"/>
                <a:cs typeface="Hanken Grotesk" pitchFamily="34" charset="-120"/>
              </a:rPr>
              <a:t>Which step has the error? Circle it above.</a:t>
            </a:r>
            <a:endParaRPr lang="en-US" sz="900" dirty="0"/>
          </a:p>
        </p:txBody>
      </p:sp>
      <p:sp>
        <p:nvSpPr>
          <p:cNvPr id="28" name="Shape 26"/>
          <p:cNvSpPr/>
          <p:nvPr/>
        </p:nvSpPr>
        <p:spPr>
          <a:xfrm>
            <a:off x="6035040" y="685800"/>
            <a:ext cx="2788920" cy="4023360"/>
          </a:xfrm>
          <a:prstGeom prst="roundRect">
            <a:avLst>
              <a:gd name="adj" fmla="val 2623"/>
            </a:avLst>
          </a:prstGeom>
          <a:solidFill>
            <a:srgbClr val="FCE6DE"/>
          </a:solidFill>
          <a:ln w="12700">
            <a:solidFill>
              <a:srgbClr val="E2A39B"/>
            </a:solidFill>
            <a:prstDash val="solid"/>
          </a:ln>
          <a:effectLst>
            <a:outerShdw sx="100000" sy="100000" kx="0" ky="0" algn="bl" rotWithShape="0" blurRad="50800" dist="12700" dir="5400000">
              <a:srgbClr val="1C2E42">
                <a:alpha val="10000"/>
              </a:srgbClr>
            </a:outerShdw>
          </a:effectLst>
        </p:spPr>
      </p:sp>
      <p:sp>
        <p:nvSpPr>
          <p:cNvPr id="29" name="Text 27"/>
          <p:cNvSpPr/>
          <p:nvPr/>
        </p:nvSpPr>
        <p:spPr>
          <a:xfrm>
            <a:off x="6035040" y="685800"/>
            <a:ext cx="2788920" cy="274320"/>
          </a:xfrm>
          <a:prstGeom prst="rect">
            <a:avLst/>
          </a:prstGeom>
          <a:solidFill>
            <a:srgbClr val="C0392B"/>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 Explain &amp; Fix</a:t>
            </a:r>
            <a:endParaRPr lang="en-US" sz="1000" dirty="0"/>
          </a:p>
        </p:txBody>
      </p:sp>
      <p:sp>
        <p:nvSpPr>
          <p:cNvPr id="30" name="Text 28"/>
          <p:cNvSpPr/>
          <p:nvPr/>
        </p:nvSpPr>
        <p:spPr>
          <a:xfrm>
            <a:off x="6217920" y="1097280"/>
            <a:ext cx="2468880" cy="502920"/>
          </a:xfrm>
          <a:prstGeom prst="rect">
            <a:avLst/>
          </a:prstGeom>
          <a:noFill/>
          <a:ln/>
        </p:spPr>
        <p:txBody>
          <a:bodyPr wrap="square" rtlCol="0" anchor="t"/>
          <a:lstStyle/>
          <a:p>
            <a:pPr indent="0" marL="0">
              <a:buNone/>
            </a:pPr>
            <a:r>
              <a:rPr lang="en-US" sz="1000" dirty="0">
                <a:solidFill>
                  <a:srgbClr val="17324D"/>
                </a:solidFill>
                <a:latin typeface="Hanken Grotesk" pitchFamily="34" charset="0"/>
                <a:ea typeface="Hanken Grotesk" pitchFamily="34" charset="-122"/>
                <a:cs typeface="Hanken Grotesk" pitchFamily="34" charset="-120"/>
              </a:rPr>
              <a:t>The mistake was </a:t>
            </a:r>
            <a:pPr indent="0" marL="0">
              <a:buNone/>
            </a:pPr>
            <a:r>
              <a:rPr lang="en-US" sz="1000" b="1" dirty="0">
                <a:solidFill>
                  <a:srgbClr val="17324D"/>
                </a:solidFill>
                <a:latin typeface="Hanken Grotesk" pitchFamily="34" charset="0"/>
                <a:ea typeface="Hanken Grotesk" pitchFamily="34" charset="-122"/>
                <a:cs typeface="Hanken Grotesk" pitchFamily="34" charset="-120"/>
              </a:rPr>
              <a:t>___</a:t>
            </a:r>
            <a:pPr indent="0" marL="0">
              <a:buNone/>
            </a:pPr>
            <a:r>
              <a:rPr lang="en-US" sz="1000" dirty="0">
                <a:solidFill>
                  <a:srgbClr val="17324D"/>
                </a:solidFill>
                <a:latin typeface="Hanken Grotesk" pitchFamily="34" charset="0"/>
                <a:ea typeface="Hanken Grotesk" pitchFamily="34" charset="-122"/>
                <a:cs typeface="Hanken Grotesk" pitchFamily="34" charset="-120"/>
              </a:rPr>
              <a:t> because </a:t>
            </a:r>
            <a:pPr indent="0" marL="0">
              <a:buNone/>
            </a:pPr>
            <a:r>
              <a:rPr lang="en-US" sz="1000" b="1" dirty="0">
                <a:solidFill>
                  <a:srgbClr val="17324D"/>
                </a:solidFill>
                <a:latin typeface="Hanken Grotesk" pitchFamily="34" charset="0"/>
                <a:ea typeface="Hanken Grotesk" pitchFamily="34" charset="-122"/>
                <a:cs typeface="Hanken Grotesk" pitchFamily="34" charset="-120"/>
              </a:rPr>
              <a:t>___</a:t>
            </a:r>
            <a:pPr indent="0" marL="0">
              <a:buNone/>
            </a:pPr>
            <a:r>
              <a:rPr lang="en-US" sz="1000" dirty="0">
                <a:solidFill>
                  <a:srgbClr val="17324D"/>
                </a:solidFill>
                <a:latin typeface="Hanken Grotesk" pitchFamily="34" charset="0"/>
                <a:ea typeface="Hanken Grotesk" pitchFamily="34" charset="-122"/>
                <a:cs typeface="Hanken Grotesk" pitchFamily="34" charset="-120"/>
              </a:rPr>
              <a:t>.</a:t>
            </a:r>
            <a:endParaRPr lang="en-US" sz="1000" dirty="0"/>
          </a:p>
        </p:txBody>
      </p:sp>
      <p:sp>
        <p:nvSpPr>
          <p:cNvPr id="31" name="Shape 29"/>
          <p:cNvSpPr/>
          <p:nvPr/>
        </p:nvSpPr>
        <p:spPr>
          <a:xfrm>
            <a:off x="6217920" y="1783080"/>
            <a:ext cx="2423160" cy="0"/>
          </a:xfrm>
          <a:prstGeom prst="line">
            <a:avLst/>
          </a:prstGeom>
          <a:noFill/>
          <a:ln w="9525">
            <a:solidFill>
              <a:srgbClr val="C7CDD2"/>
            </a:solidFill>
            <a:prstDash val="dash"/>
          </a:ln>
        </p:spPr>
      </p:sp>
      <p:sp>
        <p:nvSpPr>
          <p:cNvPr id="32" name="Shape 30"/>
          <p:cNvSpPr/>
          <p:nvPr/>
        </p:nvSpPr>
        <p:spPr>
          <a:xfrm>
            <a:off x="6217920" y="2075688"/>
            <a:ext cx="2423160" cy="0"/>
          </a:xfrm>
          <a:prstGeom prst="line">
            <a:avLst/>
          </a:prstGeom>
          <a:noFill/>
          <a:ln w="9525">
            <a:solidFill>
              <a:srgbClr val="C7CDD2"/>
            </a:solidFill>
            <a:prstDash val="dash"/>
          </a:ln>
        </p:spPr>
      </p:sp>
      <p:sp>
        <p:nvSpPr>
          <p:cNvPr id="33" name="Shape 31"/>
          <p:cNvSpPr/>
          <p:nvPr/>
        </p:nvSpPr>
        <p:spPr>
          <a:xfrm>
            <a:off x="6217920" y="2368296"/>
            <a:ext cx="2423160" cy="0"/>
          </a:xfrm>
          <a:prstGeom prst="line">
            <a:avLst/>
          </a:prstGeom>
          <a:noFill/>
          <a:ln w="9525">
            <a:solidFill>
              <a:srgbClr val="C7CDD2"/>
            </a:solidFill>
            <a:prstDash val="dash"/>
          </a:ln>
        </p:spPr>
      </p:sp>
      <p:sp>
        <p:nvSpPr>
          <p:cNvPr id="34" name="Text 32"/>
          <p:cNvSpPr/>
          <p:nvPr/>
        </p:nvSpPr>
        <p:spPr>
          <a:xfrm>
            <a:off x="6217920" y="2788920"/>
            <a:ext cx="2468880" cy="274320"/>
          </a:xfrm>
          <a:prstGeom prst="rect">
            <a:avLst/>
          </a:prstGeom>
          <a:noFill/>
          <a:ln/>
        </p:spPr>
        <p:txBody>
          <a:bodyPr wrap="square" rtlCol="0" anchor="ctr"/>
          <a:lstStyle/>
          <a:p>
            <a:pPr indent="0" marL="0">
              <a:buNone/>
            </a:pPr>
            <a:r>
              <a:rPr lang="en-US" sz="900" b="1" dirty="0">
                <a:solidFill>
                  <a:srgbClr val="17324D"/>
                </a:solidFill>
                <a:latin typeface="Hanken Grotesk" pitchFamily="34" charset="0"/>
                <a:ea typeface="Hanken Grotesk" pitchFamily="34" charset="-122"/>
                <a:cs typeface="Hanken Grotesk" pitchFamily="34" charset="-120"/>
              </a:rPr>
              <a:t>Fix it — rewrite the step correctly:</a:t>
            </a:r>
            <a:endParaRPr lang="en-US" sz="900" dirty="0"/>
          </a:p>
        </p:txBody>
      </p:sp>
      <p:sp>
        <p:nvSpPr>
          <p:cNvPr id="35" name="Shape 33"/>
          <p:cNvSpPr/>
          <p:nvPr/>
        </p:nvSpPr>
        <p:spPr>
          <a:xfrm>
            <a:off x="6217920" y="3246120"/>
            <a:ext cx="2423160" cy="0"/>
          </a:xfrm>
          <a:prstGeom prst="line">
            <a:avLst/>
          </a:prstGeom>
          <a:noFill/>
          <a:ln w="9525">
            <a:solidFill>
              <a:srgbClr val="C7CDD2"/>
            </a:solidFill>
            <a:prstDash val="dash"/>
          </a:ln>
        </p:spPr>
      </p:sp>
      <p:sp>
        <p:nvSpPr>
          <p:cNvPr id="36" name="Shape 34"/>
          <p:cNvSpPr/>
          <p:nvPr/>
        </p:nvSpPr>
        <p:spPr>
          <a:xfrm>
            <a:off x="6217920" y="3538728"/>
            <a:ext cx="2423160" cy="0"/>
          </a:xfrm>
          <a:prstGeom prst="line">
            <a:avLst/>
          </a:prstGeom>
          <a:noFill/>
          <a:ln w="9525">
            <a:solidFill>
              <a:srgbClr val="C7CDD2"/>
            </a:solidFill>
            <a:prstDash val="dash"/>
          </a:ln>
        </p:spPr>
      </p:sp>
      <p:sp>
        <p:nvSpPr>
          <p:cNvPr id="37" name="Shape 35"/>
          <p:cNvSpPr/>
          <p:nvPr/>
        </p:nvSpPr>
        <p:spPr>
          <a:xfrm>
            <a:off x="6217920" y="3831336"/>
            <a:ext cx="2423160" cy="0"/>
          </a:xfrm>
          <a:prstGeom prst="line">
            <a:avLst/>
          </a:prstGeom>
          <a:noFill/>
          <a:ln w="9525">
            <a:solidFill>
              <a:srgbClr val="C7CDD2"/>
            </a:solidFill>
            <a:prstDash val="dash"/>
          </a:ln>
        </p:spPr>
      </p:sp>
      <p:sp>
        <p:nvSpPr>
          <p:cNvPr id="38" name="Shape 36"/>
          <p:cNvSpPr/>
          <p:nvPr/>
        </p:nvSpPr>
        <p:spPr>
          <a:xfrm>
            <a:off x="6217920" y="4123944"/>
            <a:ext cx="2423160" cy="0"/>
          </a:xfrm>
          <a:prstGeom prst="line">
            <a:avLst/>
          </a:prstGeom>
          <a:noFill/>
          <a:ln w="9525">
            <a:solidFill>
              <a:srgbClr val="C7CDD2"/>
            </a:solidFill>
            <a:prstDash val="dash"/>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Two-Column Notes / Notas</a:t>
            </a:r>
            <a:endParaRPr lang="en-US" sz="1500" dirty="0"/>
          </a:p>
        </p:txBody>
      </p:sp>
      <p:sp>
        <p:nvSpPr>
          <p:cNvPr id="5" name="Text 3"/>
          <p:cNvSpPr/>
          <p:nvPr/>
        </p:nvSpPr>
        <p:spPr>
          <a:xfrm>
            <a:off x="7360920" y="100584"/>
            <a:ext cx="914400" cy="274320"/>
          </a:xfrm>
          <a:prstGeom prst="rect">
            <a:avLst>
              <a:gd name="adj" fmla="val 50000"/>
            </a:avLst>
          </a:prstGeom>
          <a:solidFill>
            <a:srgbClr val="B0883B"/>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6.RP.3b</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4  ·  Lesson 4-7</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7</a:t>
            </a:r>
            <a:endParaRPr lang="en-US" sz="800" dirty="0"/>
          </a:p>
        </p:txBody>
      </p:sp>
      <p:sp>
        <p:nvSpPr>
          <p:cNvPr id="17" name="Shape 15"/>
          <p:cNvSpPr/>
          <p:nvPr/>
        </p:nvSpPr>
        <p:spPr>
          <a:xfrm>
            <a:off x="411480" y="685800"/>
            <a:ext cx="4160520" cy="4023360"/>
          </a:xfrm>
          <a:prstGeom prst="roundRect">
            <a:avLst>
              <a:gd name="adj" fmla="val 1818"/>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18" name="Text 16"/>
          <p:cNvSpPr/>
          <p:nvPr/>
        </p:nvSpPr>
        <p:spPr>
          <a:xfrm>
            <a:off x="411480" y="685800"/>
            <a:ext cx="4160520" cy="292608"/>
          </a:xfrm>
          <a:prstGeom prst="rect">
            <a:avLst/>
          </a:prstGeom>
          <a:solidFill>
            <a:srgbClr val="17324D"/>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Steps / Pasos</a:t>
            </a:r>
            <a:endParaRPr lang="en-US" sz="1000" dirty="0"/>
          </a:p>
        </p:txBody>
      </p:sp>
      <p:sp>
        <p:nvSpPr>
          <p:cNvPr id="19" name="Shape 17"/>
          <p:cNvSpPr/>
          <p:nvPr/>
        </p:nvSpPr>
        <p:spPr>
          <a:xfrm>
            <a:off x="594360" y="1243584"/>
            <a:ext cx="274320" cy="274320"/>
          </a:xfrm>
          <a:prstGeom prst="ellipse">
            <a:avLst/>
          </a:prstGeom>
          <a:solidFill>
            <a:srgbClr val="B0883B"/>
          </a:solidFill>
          <a:ln/>
        </p:spPr>
      </p:sp>
      <p:sp>
        <p:nvSpPr>
          <p:cNvPr id="20" name="Text 18"/>
          <p:cNvSpPr/>
          <p:nvPr/>
        </p:nvSpPr>
        <p:spPr>
          <a:xfrm>
            <a:off x="594360" y="1243584"/>
            <a:ext cx="274320" cy="274320"/>
          </a:xfrm>
          <a:prstGeom prst="rect">
            <a:avLst/>
          </a:prstGeom>
          <a:noFill/>
          <a:ln/>
        </p:spPr>
        <p:txBody>
          <a:bodyPr wrap="square" rtlCol="0" anchor="ctr"/>
          <a:lstStyle/>
          <a:p>
            <a:pPr algn="ctr" indent="0" marL="0">
              <a:buNone/>
            </a:pPr>
            <a:r>
              <a:rPr lang="en-US" sz="1100" b="1" dirty="0">
                <a:solidFill>
                  <a:srgbClr val="FFFFFF"/>
                </a:solidFill>
                <a:latin typeface="Outfit" pitchFamily="34" charset="0"/>
                <a:ea typeface="Outfit" pitchFamily="34" charset="-122"/>
                <a:cs typeface="Outfit" pitchFamily="34" charset="-120"/>
              </a:rPr>
              <a:t>1</a:t>
            </a:r>
            <a:endParaRPr lang="en-US" sz="1100" dirty="0"/>
          </a:p>
        </p:txBody>
      </p:sp>
      <p:sp>
        <p:nvSpPr>
          <p:cNvPr id="21" name="Text 19"/>
          <p:cNvSpPr/>
          <p:nvPr/>
        </p:nvSpPr>
        <p:spPr>
          <a:xfrm>
            <a:off x="978408" y="1188720"/>
            <a:ext cx="3456432" cy="420624"/>
          </a:xfrm>
          <a:prstGeom prst="rect">
            <a:avLst/>
          </a:prstGeom>
          <a:noFill/>
          <a:ln/>
        </p:spPr>
        <p:txBody>
          <a:bodyPr wrap="square" rtlCol="0" anchor="ctr"/>
          <a:lstStyle/>
          <a:p>
            <a:pPr indent="0" marL="0">
              <a:buNone/>
            </a:pPr>
            <a:r>
              <a:rPr lang="en-US" sz="1050" dirty="0">
                <a:solidFill>
                  <a:srgbClr val="24323F"/>
                </a:solidFill>
                <a:latin typeface="Hanken Grotesk" pitchFamily="34" charset="0"/>
                <a:ea typeface="Hanken Grotesk" pitchFamily="34" charset="-122"/>
                <a:cs typeface="Hanken Grotesk" pitchFamily="34" charset="-120"/>
              </a:rPr>
              <a:t>Fun Supply Co. sells 500 tokens for $60. I want the cost for 1 token.</a:t>
            </a:r>
            <a:endParaRPr lang="en-US" sz="1050" dirty="0"/>
          </a:p>
        </p:txBody>
      </p:sp>
      <p:sp>
        <p:nvSpPr>
          <p:cNvPr id="22" name="Shape 20"/>
          <p:cNvSpPr/>
          <p:nvPr/>
        </p:nvSpPr>
        <p:spPr>
          <a:xfrm>
            <a:off x="594360" y="1719072"/>
            <a:ext cx="274320" cy="274320"/>
          </a:xfrm>
          <a:prstGeom prst="ellipse">
            <a:avLst/>
          </a:prstGeom>
          <a:solidFill>
            <a:srgbClr val="B0883B"/>
          </a:solidFill>
          <a:ln/>
        </p:spPr>
      </p:sp>
      <p:sp>
        <p:nvSpPr>
          <p:cNvPr id="23" name="Text 21"/>
          <p:cNvSpPr/>
          <p:nvPr/>
        </p:nvSpPr>
        <p:spPr>
          <a:xfrm>
            <a:off x="594360" y="1719072"/>
            <a:ext cx="274320" cy="274320"/>
          </a:xfrm>
          <a:prstGeom prst="rect">
            <a:avLst/>
          </a:prstGeom>
          <a:noFill/>
          <a:ln/>
        </p:spPr>
        <p:txBody>
          <a:bodyPr wrap="square" rtlCol="0" anchor="ctr"/>
          <a:lstStyle/>
          <a:p>
            <a:pPr algn="ctr" indent="0" marL="0">
              <a:buNone/>
            </a:pPr>
            <a:r>
              <a:rPr lang="en-US" sz="1100" b="1" dirty="0">
                <a:solidFill>
                  <a:srgbClr val="FFFFFF"/>
                </a:solidFill>
                <a:latin typeface="Outfit" pitchFamily="34" charset="0"/>
                <a:ea typeface="Outfit" pitchFamily="34" charset="-122"/>
                <a:cs typeface="Outfit" pitchFamily="34" charset="-120"/>
              </a:rPr>
              <a:t>2</a:t>
            </a:r>
            <a:endParaRPr lang="en-US" sz="1100" dirty="0"/>
          </a:p>
        </p:txBody>
      </p:sp>
      <p:sp>
        <p:nvSpPr>
          <p:cNvPr id="24" name="Text 22"/>
          <p:cNvSpPr/>
          <p:nvPr/>
        </p:nvSpPr>
        <p:spPr>
          <a:xfrm>
            <a:off x="978408" y="1664208"/>
            <a:ext cx="3456432" cy="420624"/>
          </a:xfrm>
          <a:prstGeom prst="rect">
            <a:avLst/>
          </a:prstGeom>
          <a:noFill/>
          <a:ln/>
        </p:spPr>
        <p:txBody>
          <a:bodyPr wrap="square" rtlCol="0" anchor="ctr"/>
          <a:lstStyle/>
          <a:p>
            <a:pPr indent="0" marL="0">
              <a:buNone/>
            </a:pPr>
            <a:r>
              <a:rPr lang="en-US" sz="1050" dirty="0">
                <a:solidFill>
                  <a:srgbClr val="24323F"/>
                </a:solidFill>
                <a:latin typeface="Hanken Grotesk" pitchFamily="34" charset="0"/>
                <a:ea typeface="Hanken Grotesk" pitchFamily="34" charset="-122"/>
                <a:cs typeface="Hanken Grotesk" pitchFamily="34" charset="-120"/>
              </a:rPr>
              <a:t>I divide the price by the tokens: $60 ÷ 500 = $0.12.</a:t>
            </a:r>
            <a:endParaRPr lang="en-US" sz="1050" dirty="0"/>
          </a:p>
        </p:txBody>
      </p:sp>
      <p:sp>
        <p:nvSpPr>
          <p:cNvPr id="25" name="Shape 23"/>
          <p:cNvSpPr/>
          <p:nvPr/>
        </p:nvSpPr>
        <p:spPr>
          <a:xfrm>
            <a:off x="594360" y="2194560"/>
            <a:ext cx="274320" cy="274320"/>
          </a:xfrm>
          <a:prstGeom prst="ellipse">
            <a:avLst/>
          </a:prstGeom>
          <a:solidFill>
            <a:srgbClr val="B0883B"/>
          </a:solidFill>
          <a:ln/>
        </p:spPr>
      </p:sp>
      <p:sp>
        <p:nvSpPr>
          <p:cNvPr id="26" name="Text 24"/>
          <p:cNvSpPr/>
          <p:nvPr/>
        </p:nvSpPr>
        <p:spPr>
          <a:xfrm>
            <a:off x="594360" y="2194560"/>
            <a:ext cx="274320" cy="274320"/>
          </a:xfrm>
          <a:prstGeom prst="rect">
            <a:avLst/>
          </a:prstGeom>
          <a:noFill/>
          <a:ln/>
        </p:spPr>
        <p:txBody>
          <a:bodyPr wrap="square" rtlCol="0" anchor="ctr"/>
          <a:lstStyle/>
          <a:p>
            <a:pPr algn="ctr" indent="0" marL="0">
              <a:buNone/>
            </a:pPr>
            <a:r>
              <a:rPr lang="en-US" sz="1100" b="1" dirty="0">
                <a:solidFill>
                  <a:srgbClr val="FFFFFF"/>
                </a:solidFill>
                <a:latin typeface="Outfit" pitchFamily="34" charset="0"/>
                <a:ea typeface="Outfit" pitchFamily="34" charset="-122"/>
                <a:cs typeface="Outfit" pitchFamily="34" charset="-120"/>
              </a:rPr>
              <a:t>3</a:t>
            </a:r>
            <a:endParaRPr lang="en-US" sz="1100" dirty="0"/>
          </a:p>
        </p:txBody>
      </p:sp>
      <p:sp>
        <p:nvSpPr>
          <p:cNvPr id="27" name="Text 25"/>
          <p:cNvSpPr/>
          <p:nvPr/>
        </p:nvSpPr>
        <p:spPr>
          <a:xfrm>
            <a:off x="978408" y="2139696"/>
            <a:ext cx="3456432" cy="420624"/>
          </a:xfrm>
          <a:prstGeom prst="rect">
            <a:avLst/>
          </a:prstGeom>
          <a:noFill/>
          <a:ln/>
        </p:spPr>
        <p:txBody>
          <a:bodyPr wrap="square" rtlCol="0" anchor="ctr"/>
          <a:lstStyle/>
          <a:p>
            <a:pPr indent="0" marL="0">
              <a:buNone/>
            </a:pPr>
            <a:r>
              <a:rPr lang="en-US" sz="1050" dirty="0">
                <a:solidFill>
                  <a:srgbClr val="24323F"/>
                </a:solidFill>
                <a:latin typeface="Hanken Grotesk" pitchFamily="34" charset="0"/>
                <a:ea typeface="Hanken Grotesk" pitchFamily="34" charset="-122"/>
                <a:cs typeface="Hanken Grotesk" pitchFamily="34" charset="-120"/>
              </a:rPr>
              <a:t>So this deal is $0.12 per token. That is the unit rate.</a:t>
            </a:r>
            <a:endParaRPr lang="en-US" sz="1050" dirty="0"/>
          </a:p>
        </p:txBody>
      </p:sp>
      <p:sp>
        <p:nvSpPr>
          <p:cNvPr id="28" name="Shape 26"/>
          <p:cNvSpPr/>
          <p:nvPr/>
        </p:nvSpPr>
        <p:spPr>
          <a:xfrm>
            <a:off x="594360" y="2670048"/>
            <a:ext cx="274320" cy="274320"/>
          </a:xfrm>
          <a:prstGeom prst="ellipse">
            <a:avLst/>
          </a:prstGeom>
          <a:solidFill>
            <a:srgbClr val="B0883B"/>
          </a:solidFill>
          <a:ln/>
        </p:spPr>
      </p:sp>
      <p:sp>
        <p:nvSpPr>
          <p:cNvPr id="29" name="Text 27"/>
          <p:cNvSpPr/>
          <p:nvPr/>
        </p:nvSpPr>
        <p:spPr>
          <a:xfrm>
            <a:off x="594360" y="2670048"/>
            <a:ext cx="274320" cy="274320"/>
          </a:xfrm>
          <a:prstGeom prst="rect">
            <a:avLst/>
          </a:prstGeom>
          <a:noFill/>
          <a:ln/>
        </p:spPr>
        <p:txBody>
          <a:bodyPr wrap="square" rtlCol="0" anchor="ctr"/>
          <a:lstStyle/>
          <a:p>
            <a:pPr algn="ctr" indent="0" marL="0">
              <a:buNone/>
            </a:pPr>
            <a:r>
              <a:rPr lang="en-US" sz="1100" b="1" dirty="0">
                <a:solidFill>
                  <a:srgbClr val="FFFFFF"/>
                </a:solidFill>
                <a:latin typeface="Outfit" pitchFamily="34" charset="0"/>
                <a:ea typeface="Outfit" pitchFamily="34" charset="-122"/>
                <a:cs typeface="Outfit" pitchFamily="34" charset="-120"/>
              </a:rPr>
              <a:t>4</a:t>
            </a:r>
            <a:endParaRPr lang="en-US" sz="1100" dirty="0"/>
          </a:p>
        </p:txBody>
      </p:sp>
      <p:sp>
        <p:nvSpPr>
          <p:cNvPr id="30" name="Text 28"/>
          <p:cNvSpPr/>
          <p:nvPr/>
        </p:nvSpPr>
        <p:spPr>
          <a:xfrm>
            <a:off x="978408" y="2615184"/>
            <a:ext cx="3456432" cy="420624"/>
          </a:xfrm>
          <a:prstGeom prst="rect">
            <a:avLst/>
          </a:prstGeom>
          <a:noFill/>
          <a:ln/>
        </p:spPr>
        <p:txBody>
          <a:bodyPr wrap="square" rtlCol="0" anchor="ctr"/>
          <a:lstStyle/>
          <a:p>
            <a:pPr indent="0" marL="0">
              <a:buNone/>
            </a:pPr>
            <a:r>
              <a:rPr lang="en-US" sz="1050" dirty="0">
                <a:solidFill>
                  <a:srgbClr val="24323F"/>
                </a:solidFill>
                <a:latin typeface="Hanken Grotesk" pitchFamily="34" charset="0"/>
                <a:ea typeface="Hanken Grotesk" pitchFamily="34" charset="-122"/>
                <a:cs typeface="Hanken Grotesk" pitchFamily="34" charset="-120"/>
              </a:rPr>
              <a:t>Now I can compare it fairly to a deal with a different number of tokens.</a:t>
            </a:r>
            <a:endParaRPr lang="en-US" sz="1050" dirty="0"/>
          </a:p>
        </p:txBody>
      </p:sp>
      <p:sp>
        <p:nvSpPr>
          <p:cNvPr id="31" name="Shape 29"/>
          <p:cNvSpPr/>
          <p:nvPr/>
        </p:nvSpPr>
        <p:spPr>
          <a:xfrm>
            <a:off x="4709160" y="685800"/>
            <a:ext cx="4114800" cy="4023360"/>
          </a:xfrm>
          <a:prstGeom prst="roundRect">
            <a:avLst>
              <a:gd name="adj" fmla="val 1818"/>
            </a:avLst>
          </a:prstGeom>
          <a:solidFill>
            <a:srgbClr val="DFF2EE"/>
          </a:solidFill>
          <a:ln w="12700">
            <a:solidFill>
              <a:srgbClr val="1FA6A2"/>
            </a:solidFill>
            <a:prstDash val="solid"/>
          </a:ln>
          <a:effectLst>
            <a:outerShdw sx="100000" sy="100000" kx="0" ky="0" algn="bl" rotWithShape="0" blurRad="50800" dist="12700" dir="5400000">
              <a:srgbClr val="1C2E42">
                <a:alpha val="10000"/>
              </a:srgbClr>
            </a:outerShdw>
          </a:effectLst>
        </p:spPr>
      </p:sp>
      <p:sp>
        <p:nvSpPr>
          <p:cNvPr id="32" name="Text 30"/>
          <p:cNvSpPr/>
          <p:nvPr/>
        </p:nvSpPr>
        <p:spPr>
          <a:xfrm>
            <a:off x="4709160" y="685800"/>
            <a:ext cx="4114800" cy="292608"/>
          </a:xfrm>
          <a:prstGeom prst="rect">
            <a:avLst/>
          </a:prstGeom>
          <a:solidFill>
            <a:srgbClr val="1FA6A2"/>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My Example / Mi Ejemplo</a:t>
            </a:r>
            <a:endParaRPr lang="en-US" sz="1000" dirty="0"/>
          </a:p>
        </p:txBody>
      </p:sp>
      <p:sp>
        <p:nvSpPr>
          <p:cNvPr id="33" name="Text 31"/>
          <p:cNvSpPr/>
          <p:nvPr/>
        </p:nvSpPr>
        <p:spPr>
          <a:xfrm>
            <a:off x="4892040" y="1143000"/>
            <a:ext cx="3749040" cy="365760"/>
          </a:xfrm>
          <a:prstGeom prst="rect">
            <a:avLst/>
          </a:prstGeom>
          <a:noFill/>
          <a:ln/>
        </p:spPr>
        <p:txBody>
          <a:bodyPr wrap="square" rtlCol="0" anchor="ctr"/>
          <a:lstStyle/>
          <a:p>
            <a:pPr indent="0" marL="0">
              <a:buNone/>
            </a:pPr>
            <a:r>
              <a:rPr lang="en-US" sz="950" i="1" dirty="0">
                <a:solidFill>
                  <a:srgbClr val="8A96A3"/>
                </a:solidFill>
                <a:latin typeface="Hanken Grotesk" pitchFamily="34" charset="0"/>
                <a:ea typeface="Hanken Grotesk" pitchFamily="34" charset="-122"/>
                <a:cs typeface="Hanken Grotesk" pitchFamily="34" charset="-120"/>
              </a:rPr>
              <a:t>Work one problem here, matching each step on the left:</a:t>
            </a:r>
            <a:endParaRPr lang="en-US" sz="950" dirty="0"/>
          </a:p>
        </p:txBody>
      </p:sp>
      <p:sp>
        <p:nvSpPr>
          <p:cNvPr id="34" name="Shape 32"/>
          <p:cNvSpPr/>
          <p:nvPr/>
        </p:nvSpPr>
        <p:spPr>
          <a:xfrm>
            <a:off x="4892040" y="1783080"/>
            <a:ext cx="3749040" cy="0"/>
          </a:xfrm>
          <a:prstGeom prst="line">
            <a:avLst/>
          </a:prstGeom>
          <a:noFill/>
          <a:ln w="9525">
            <a:solidFill>
              <a:srgbClr val="C7CDD2"/>
            </a:solidFill>
            <a:prstDash val="dash"/>
          </a:ln>
        </p:spPr>
      </p:sp>
      <p:sp>
        <p:nvSpPr>
          <p:cNvPr id="35" name="Shape 33"/>
          <p:cNvSpPr/>
          <p:nvPr/>
        </p:nvSpPr>
        <p:spPr>
          <a:xfrm>
            <a:off x="4892040" y="2112264"/>
            <a:ext cx="3749040" cy="0"/>
          </a:xfrm>
          <a:prstGeom prst="line">
            <a:avLst/>
          </a:prstGeom>
          <a:noFill/>
          <a:ln w="9525">
            <a:solidFill>
              <a:srgbClr val="C7CDD2"/>
            </a:solidFill>
            <a:prstDash val="dash"/>
          </a:ln>
        </p:spPr>
      </p:sp>
      <p:sp>
        <p:nvSpPr>
          <p:cNvPr id="36" name="Shape 34"/>
          <p:cNvSpPr/>
          <p:nvPr/>
        </p:nvSpPr>
        <p:spPr>
          <a:xfrm>
            <a:off x="4892040" y="2441448"/>
            <a:ext cx="3749040" cy="0"/>
          </a:xfrm>
          <a:prstGeom prst="line">
            <a:avLst/>
          </a:prstGeom>
          <a:noFill/>
          <a:ln w="9525">
            <a:solidFill>
              <a:srgbClr val="C7CDD2"/>
            </a:solidFill>
            <a:prstDash val="dash"/>
          </a:ln>
        </p:spPr>
      </p:sp>
      <p:sp>
        <p:nvSpPr>
          <p:cNvPr id="37" name="Shape 35"/>
          <p:cNvSpPr/>
          <p:nvPr/>
        </p:nvSpPr>
        <p:spPr>
          <a:xfrm>
            <a:off x="4892040" y="2770632"/>
            <a:ext cx="3749040" cy="0"/>
          </a:xfrm>
          <a:prstGeom prst="line">
            <a:avLst/>
          </a:prstGeom>
          <a:noFill/>
          <a:ln w="9525">
            <a:solidFill>
              <a:srgbClr val="C7CDD2"/>
            </a:solidFill>
            <a:prstDash val="dash"/>
          </a:ln>
        </p:spPr>
      </p:sp>
      <p:sp>
        <p:nvSpPr>
          <p:cNvPr id="38" name="Shape 36"/>
          <p:cNvSpPr/>
          <p:nvPr/>
        </p:nvSpPr>
        <p:spPr>
          <a:xfrm>
            <a:off x="4892040" y="3099816"/>
            <a:ext cx="3749040" cy="0"/>
          </a:xfrm>
          <a:prstGeom prst="line">
            <a:avLst/>
          </a:prstGeom>
          <a:noFill/>
          <a:ln w="9525">
            <a:solidFill>
              <a:srgbClr val="C7CDD2"/>
            </a:solidFill>
            <a:prstDash val="dash"/>
          </a:ln>
        </p:spPr>
      </p:sp>
      <p:sp>
        <p:nvSpPr>
          <p:cNvPr id="39" name="Shape 37"/>
          <p:cNvSpPr/>
          <p:nvPr/>
        </p:nvSpPr>
        <p:spPr>
          <a:xfrm>
            <a:off x="4892040" y="3429000"/>
            <a:ext cx="3749040" cy="0"/>
          </a:xfrm>
          <a:prstGeom prst="line">
            <a:avLst/>
          </a:prstGeom>
          <a:noFill/>
          <a:ln w="9525">
            <a:solidFill>
              <a:srgbClr val="C7CDD2"/>
            </a:solidFill>
            <a:prstDash val="dash"/>
          </a:ln>
        </p:spPr>
      </p:sp>
      <p:sp>
        <p:nvSpPr>
          <p:cNvPr id="40" name="Shape 38"/>
          <p:cNvSpPr/>
          <p:nvPr/>
        </p:nvSpPr>
        <p:spPr>
          <a:xfrm>
            <a:off x="4892040" y="3758184"/>
            <a:ext cx="3749040" cy="0"/>
          </a:xfrm>
          <a:prstGeom prst="line">
            <a:avLst/>
          </a:prstGeom>
          <a:noFill/>
          <a:ln w="9525">
            <a:solidFill>
              <a:srgbClr val="C7CDD2"/>
            </a:solidFill>
            <a:prstDash val="dash"/>
          </a:ln>
        </p:spPr>
      </p:sp>
      <p:sp>
        <p:nvSpPr>
          <p:cNvPr id="41" name="Shape 39"/>
          <p:cNvSpPr/>
          <p:nvPr/>
        </p:nvSpPr>
        <p:spPr>
          <a:xfrm>
            <a:off x="4892040" y="4087368"/>
            <a:ext cx="3749040" cy="0"/>
          </a:xfrm>
          <a:prstGeom prst="line">
            <a:avLst/>
          </a:prstGeom>
          <a:noFill/>
          <a:ln w="9525">
            <a:solidFill>
              <a:srgbClr val="C7CDD2"/>
            </a:solidFill>
            <a:prstDash val="dash"/>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Choice Board / Tablero de Opciones</a:t>
            </a:r>
            <a:endParaRPr lang="en-US" sz="1500" dirty="0"/>
          </a:p>
        </p:txBody>
      </p:sp>
      <p:sp>
        <p:nvSpPr>
          <p:cNvPr id="5" name="Text 3"/>
          <p:cNvSpPr/>
          <p:nvPr/>
        </p:nvSpPr>
        <p:spPr>
          <a:xfrm>
            <a:off x="7360920" y="100584"/>
            <a:ext cx="914400" cy="274320"/>
          </a:xfrm>
          <a:prstGeom prst="rect">
            <a:avLst>
              <a:gd name="adj" fmla="val 50000"/>
            </a:avLst>
          </a:prstGeom>
          <a:solidFill>
            <a:srgbClr val="B0883B"/>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6.RP.3b</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4  ·  Lesson 4-7</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8</a:t>
            </a:r>
            <a:endParaRPr lang="en-US" sz="800" dirty="0"/>
          </a:p>
        </p:txBody>
      </p:sp>
      <p:sp>
        <p:nvSpPr>
          <p:cNvPr id="17" name="Text 15"/>
          <p:cNvSpPr/>
          <p:nvPr/>
        </p:nvSpPr>
        <p:spPr>
          <a:xfrm>
            <a:off x="411480" y="640080"/>
            <a:ext cx="8412480" cy="274320"/>
          </a:xfrm>
          <a:prstGeom prst="rect">
            <a:avLst/>
          </a:prstGeom>
          <a:noFill/>
          <a:ln/>
        </p:spPr>
        <p:txBody>
          <a:bodyPr wrap="square" rtlCol="0" anchor="ctr"/>
          <a:lstStyle/>
          <a:p>
            <a:pPr indent="0" marL="0">
              <a:buNone/>
            </a:pPr>
            <a:r>
              <a:rPr lang="en-US" sz="1200" b="1" dirty="0">
                <a:solidFill>
                  <a:srgbClr val="17324D"/>
                </a:solidFill>
                <a:latin typeface="Outfit" pitchFamily="34" charset="0"/>
                <a:ea typeface="Outfit" pitchFamily="34" charset="-122"/>
                <a:cs typeface="Outfit" pitchFamily="34" charset="-120"/>
              </a:rPr>
              <a:t>Choose ONE to show what you know:</a:t>
            </a:r>
            <a:endParaRPr lang="en-US" sz="1200" dirty="0"/>
          </a:p>
        </p:txBody>
      </p:sp>
      <p:sp>
        <p:nvSpPr>
          <p:cNvPr id="18" name="Shape 16"/>
          <p:cNvSpPr/>
          <p:nvPr/>
        </p:nvSpPr>
        <p:spPr>
          <a:xfrm>
            <a:off x="411480" y="1051560"/>
            <a:ext cx="4114800" cy="1645920"/>
          </a:xfrm>
          <a:prstGeom prst="roundRect">
            <a:avLst>
              <a:gd name="adj" fmla="val 4444"/>
            </a:avLst>
          </a:prstGeom>
          <a:solidFill>
            <a:srgbClr val="DFF2EE"/>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19" name="Text 17"/>
          <p:cNvSpPr/>
          <p:nvPr/>
        </p:nvSpPr>
        <p:spPr>
          <a:xfrm>
            <a:off x="548640" y="1161288"/>
            <a:ext cx="640080" cy="548640"/>
          </a:xfrm>
          <a:prstGeom prst="rect">
            <a:avLst/>
          </a:prstGeom>
          <a:noFill/>
          <a:ln/>
        </p:spPr>
        <p:txBody>
          <a:bodyPr wrap="square" rtlCol="0" anchor="ctr"/>
          <a:lstStyle/>
          <a:p>
            <a:pPr indent="0" marL="0">
              <a:buNone/>
            </a:pPr>
            <a:r>
              <a:rPr lang="en-US" sz="2600" dirty="0">
                <a:solidFill>
                  <a:srgbClr val="000000"/>
                </a:solidFill>
              </a:rPr>
              <a:t>✏️</a:t>
            </a:r>
            <a:endParaRPr lang="en-US" sz="2600" dirty="0"/>
          </a:p>
        </p:txBody>
      </p:sp>
      <p:sp>
        <p:nvSpPr>
          <p:cNvPr id="20" name="Text 18"/>
          <p:cNvSpPr/>
          <p:nvPr/>
        </p:nvSpPr>
        <p:spPr>
          <a:xfrm>
            <a:off x="1234440" y="1188720"/>
            <a:ext cx="3108960" cy="365760"/>
          </a:xfrm>
          <a:prstGeom prst="rect">
            <a:avLst/>
          </a:prstGeom>
          <a:noFill/>
          <a:ln/>
        </p:spPr>
        <p:txBody>
          <a:bodyPr wrap="square" rtlCol="0" anchor="ctr"/>
          <a:lstStyle/>
          <a:p>
            <a:pPr indent="0" marL="0">
              <a:buNone/>
            </a:pPr>
            <a:r>
              <a:rPr lang="en-US" sz="1300" b="1" dirty="0">
                <a:solidFill>
                  <a:srgbClr val="17324D"/>
                </a:solidFill>
                <a:latin typeface="Outfit" pitchFamily="34" charset="0"/>
                <a:ea typeface="Outfit" pitchFamily="34" charset="-122"/>
                <a:cs typeface="Outfit" pitchFamily="34" charset="-120"/>
              </a:rPr>
              <a:t>Draw &amp; Label</a:t>
            </a:r>
            <a:endParaRPr lang="en-US" sz="1300" dirty="0"/>
          </a:p>
        </p:txBody>
      </p:sp>
      <p:sp>
        <p:nvSpPr>
          <p:cNvPr id="21" name="Text 19"/>
          <p:cNvSpPr/>
          <p:nvPr/>
        </p:nvSpPr>
        <p:spPr>
          <a:xfrm>
            <a:off x="594360" y="1709928"/>
            <a:ext cx="3749040" cy="868680"/>
          </a:xfrm>
          <a:prstGeom prst="rect">
            <a:avLst/>
          </a:prstGeom>
          <a:noFill/>
          <a:ln/>
        </p:spPr>
        <p:txBody>
          <a:bodyPr wrap="square" rtlCol="0" anchor="t"/>
          <a:lstStyle/>
          <a:p>
            <a:pPr indent="0" marL="0">
              <a:buNone/>
            </a:pPr>
            <a:r>
              <a:rPr lang="en-US" sz="1000" dirty="0">
                <a:solidFill>
                  <a:srgbClr val="24323F"/>
                </a:solidFill>
                <a:latin typeface="Hanken Grotesk" pitchFamily="34" charset="0"/>
                <a:ea typeface="Hanken Grotesk" pitchFamily="34" charset="-122"/>
                <a:cs typeface="Hanken Grotesk" pitchFamily="34" charset="-120"/>
              </a:rPr>
              <a:t>Sketch a model for today's problem. Label it using Unit Rate and Better Buy.</a:t>
            </a:r>
            <a:endParaRPr lang="en-US" sz="1000" dirty="0"/>
          </a:p>
        </p:txBody>
      </p:sp>
      <p:sp>
        <p:nvSpPr>
          <p:cNvPr id="22" name="Shape 20"/>
          <p:cNvSpPr/>
          <p:nvPr/>
        </p:nvSpPr>
        <p:spPr>
          <a:xfrm>
            <a:off x="4709160" y="1051560"/>
            <a:ext cx="4114800" cy="1645920"/>
          </a:xfrm>
          <a:prstGeom prst="roundRect">
            <a:avLst>
              <a:gd name="adj" fmla="val 4444"/>
            </a:avLst>
          </a:prstGeom>
          <a:solidFill>
            <a:srgbClr val="FBEFD0"/>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3" name="Text 21"/>
          <p:cNvSpPr/>
          <p:nvPr/>
        </p:nvSpPr>
        <p:spPr>
          <a:xfrm>
            <a:off x="4846320" y="1161288"/>
            <a:ext cx="640080" cy="548640"/>
          </a:xfrm>
          <a:prstGeom prst="rect">
            <a:avLst/>
          </a:prstGeom>
          <a:noFill/>
          <a:ln/>
        </p:spPr>
        <p:txBody>
          <a:bodyPr wrap="square" rtlCol="0" anchor="ctr"/>
          <a:lstStyle/>
          <a:p>
            <a:pPr indent="0" marL="0">
              <a:buNone/>
            </a:pPr>
            <a:r>
              <a:rPr lang="en-US" sz="2600" dirty="0">
                <a:solidFill>
                  <a:srgbClr val="000000"/>
                </a:solidFill>
              </a:rPr>
              <a:t>💬</a:t>
            </a:r>
            <a:endParaRPr lang="en-US" sz="2600" dirty="0"/>
          </a:p>
        </p:txBody>
      </p:sp>
      <p:sp>
        <p:nvSpPr>
          <p:cNvPr id="24" name="Text 22"/>
          <p:cNvSpPr/>
          <p:nvPr/>
        </p:nvSpPr>
        <p:spPr>
          <a:xfrm>
            <a:off x="5532120" y="1188720"/>
            <a:ext cx="3108960" cy="365760"/>
          </a:xfrm>
          <a:prstGeom prst="rect">
            <a:avLst/>
          </a:prstGeom>
          <a:noFill/>
          <a:ln/>
        </p:spPr>
        <p:txBody>
          <a:bodyPr wrap="square" rtlCol="0" anchor="ctr"/>
          <a:lstStyle/>
          <a:p>
            <a:pPr indent="0" marL="0">
              <a:buNone/>
            </a:pPr>
            <a:r>
              <a:rPr lang="en-US" sz="1300" b="1" dirty="0">
                <a:solidFill>
                  <a:srgbClr val="17324D"/>
                </a:solidFill>
                <a:latin typeface="Outfit" pitchFamily="34" charset="0"/>
                <a:ea typeface="Outfit" pitchFamily="34" charset="-122"/>
                <a:cs typeface="Outfit" pitchFamily="34" charset="-120"/>
              </a:rPr>
              <a:t>Explain It</a:t>
            </a:r>
            <a:endParaRPr lang="en-US" sz="1300" dirty="0"/>
          </a:p>
        </p:txBody>
      </p:sp>
      <p:sp>
        <p:nvSpPr>
          <p:cNvPr id="25" name="Text 23"/>
          <p:cNvSpPr/>
          <p:nvPr/>
        </p:nvSpPr>
        <p:spPr>
          <a:xfrm>
            <a:off x="4892040" y="1709928"/>
            <a:ext cx="3749040" cy="868680"/>
          </a:xfrm>
          <a:prstGeom prst="rect">
            <a:avLst/>
          </a:prstGeom>
          <a:noFill/>
          <a:ln/>
        </p:spPr>
        <p:txBody>
          <a:bodyPr wrap="square" rtlCol="0" anchor="t"/>
          <a:lstStyle/>
          <a:p>
            <a:pPr indent="0" marL="0">
              <a:buNone/>
            </a:pPr>
            <a:r>
              <a:rPr lang="en-US" sz="1000" dirty="0">
                <a:solidFill>
                  <a:srgbClr val="24323F"/>
                </a:solidFill>
                <a:latin typeface="Hanken Grotesk" pitchFamily="34" charset="0"/>
                <a:ea typeface="Hanken Grotesk" pitchFamily="34" charset="-122"/>
                <a:cs typeface="Hanken Grotesk" pitchFamily="34" charset="-120"/>
              </a:rPr>
              <a:t>In 2–3 sentences, explain "Divide the price by the number of items to get the cost per unit. The lower cost per unit is the better buy." in your own words.</a:t>
            </a:r>
            <a:endParaRPr lang="en-US" sz="1000" dirty="0"/>
          </a:p>
        </p:txBody>
      </p:sp>
      <p:sp>
        <p:nvSpPr>
          <p:cNvPr id="26" name="Shape 24"/>
          <p:cNvSpPr/>
          <p:nvPr/>
        </p:nvSpPr>
        <p:spPr>
          <a:xfrm>
            <a:off x="411480" y="2834640"/>
            <a:ext cx="4114800" cy="1645920"/>
          </a:xfrm>
          <a:prstGeom prst="roundRect">
            <a:avLst>
              <a:gd name="adj" fmla="val 4444"/>
            </a:avLst>
          </a:prstGeom>
          <a:solidFill>
            <a:srgbClr val="FCE6DE"/>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7" name="Text 25"/>
          <p:cNvSpPr/>
          <p:nvPr/>
        </p:nvSpPr>
        <p:spPr>
          <a:xfrm>
            <a:off x="548640" y="2944368"/>
            <a:ext cx="640080" cy="548640"/>
          </a:xfrm>
          <a:prstGeom prst="rect">
            <a:avLst/>
          </a:prstGeom>
          <a:noFill/>
          <a:ln/>
        </p:spPr>
        <p:txBody>
          <a:bodyPr wrap="square" rtlCol="0" anchor="ctr"/>
          <a:lstStyle/>
          <a:p>
            <a:pPr indent="0" marL="0">
              <a:buNone/>
            </a:pPr>
            <a:r>
              <a:rPr lang="en-US" sz="2600" dirty="0">
                <a:solidFill>
                  <a:srgbClr val="000000"/>
                </a:solidFill>
              </a:rPr>
              <a:t>🧮</a:t>
            </a:r>
            <a:endParaRPr lang="en-US" sz="2600" dirty="0"/>
          </a:p>
        </p:txBody>
      </p:sp>
      <p:sp>
        <p:nvSpPr>
          <p:cNvPr id="28" name="Text 26"/>
          <p:cNvSpPr/>
          <p:nvPr/>
        </p:nvSpPr>
        <p:spPr>
          <a:xfrm>
            <a:off x="1234440" y="2971800"/>
            <a:ext cx="3108960" cy="365760"/>
          </a:xfrm>
          <a:prstGeom prst="rect">
            <a:avLst/>
          </a:prstGeom>
          <a:noFill/>
          <a:ln/>
        </p:spPr>
        <p:txBody>
          <a:bodyPr wrap="square" rtlCol="0" anchor="ctr"/>
          <a:lstStyle/>
          <a:p>
            <a:pPr indent="0" marL="0">
              <a:buNone/>
            </a:pPr>
            <a:r>
              <a:rPr lang="en-US" sz="1300" b="1" dirty="0">
                <a:solidFill>
                  <a:srgbClr val="17324D"/>
                </a:solidFill>
                <a:latin typeface="Outfit" pitchFamily="34" charset="0"/>
                <a:ea typeface="Outfit" pitchFamily="34" charset="-122"/>
                <a:cs typeface="Outfit" pitchFamily="34" charset="-120"/>
              </a:rPr>
              <a:t>Solve It</a:t>
            </a:r>
            <a:endParaRPr lang="en-US" sz="1300" dirty="0"/>
          </a:p>
        </p:txBody>
      </p:sp>
      <p:sp>
        <p:nvSpPr>
          <p:cNvPr id="29" name="Text 27"/>
          <p:cNvSpPr/>
          <p:nvPr/>
        </p:nvSpPr>
        <p:spPr>
          <a:xfrm>
            <a:off x="594360" y="3493008"/>
            <a:ext cx="3749040" cy="868680"/>
          </a:xfrm>
          <a:prstGeom prst="rect">
            <a:avLst/>
          </a:prstGeom>
          <a:noFill/>
          <a:ln/>
        </p:spPr>
        <p:txBody>
          <a:bodyPr wrap="square" rtlCol="0" anchor="t"/>
          <a:lstStyle/>
          <a:p>
            <a:pPr indent="0" marL="0">
              <a:buNone/>
            </a:pPr>
            <a:r>
              <a:rPr lang="en-US" sz="1000" dirty="0">
                <a:solidFill>
                  <a:srgbClr val="24323F"/>
                </a:solidFill>
                <a:latin typeface="Hanken Grotesk" pitchFamily="34" charset="0"/>
                <a:ea typeface="Hanken Grotesk" pitchFamily="34" charset="-122"/>
                <a:cs typeface="Hanken Grotesk" pitchFamily="34" charset="-120"/>
              </a:rPr>
              <a:t>Work one practice problem and show every step clearly.</a:t>
            </a:r>
            <a:endParaRPr lang="en-US" sz="1000" dirty="0"/>
          </a:p>
        </p:txBody>
      </p:sp>
      <p:sp>
        <p:nvSpPr>
          <p:cNvPr id="30" name="Shape 28"/>
          <p:cNvSpPr/>
          <p:nvPr/>
        </p:nvSpPr>
        <p:spPr>
          <a:xfrm>
            <a:off x="4709160" y="2834640"/>
            <a:ext cx="4114800" cy="1645920"/>
          </a:xfrm>
          <a:prstGeom prst="roundRect">
            <a:avLst>
              <a:gd name="adj" fmla="val 4444"/>
            </a:avLst>
          </a:prstGeom>
          <a:solidFill>
            <a:srgbClr val="EAF2F1"/>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31" name="Text 29"/>
          <p:cNvSpPr/>
          <p:nvPr/>
        </p:nvSpPr>
        <p:spPr>
          <a:xfrm>
            <a:off x="4846320" y="2944368"/>
            <a:ext cx="640080" cy="548640"/>
          </a:xfrm>
          <a:prstGeom prst="rect">
            <a:avLst/>
          </a:prstGeom>
          <a:noFill/>
          <a:ln/>
        </p:spPr>
        <p:txBody>
          <a:bodyPr wrap="square" rtlCol="0" anchor="ctr"/>
          <a:lstStyle/>
          <a:p>
            <a:pPr indent="0" marL="0">
              <a:buNone/>
            </a:pPr>
            <a:r>
              <a:rPr lang="en-US" sz="2600" dirty="0">
                <a:solidFill>
                  <a:srgbClr val="000000"/>
                </a:solidFill>
              </a:rPr>
              <a:t>🎯</a:t>
            </a:r>
            <a:endParaRPr lang="en-US" sz="2600" dirty="0"/>
          </a:p>
        </p:txBody>
      </p:sp>
      <p:sp>
        <p:nvSpPr>
          <p:cNvPr id="32" name="Text 30"/>
          <p:cNvSpPr/>
          <p:nvPr/>
        </p:nvSpPr>
        <p:spPr>
          <a:xfrm>
            <a:off x="5532120" y="2971800"/>
            <a:ext cx="3108960" cy="365760"/>
          </a:xfrm>
          <a:prstGeom prst="rect">
            <a:avLst/>
          </a:prstGeom>
          <a:noFill/>
          <a:ln/>
        </p:spPr>
        <p:txBody>
          <a:bodyPr wrap="square" rtlCol="0" anchor="ctr"/>
          <a:lstStyle/>
          <a:p>
            <a:pPr indent="0" marL="0">
              <a:buNone/>
            </a:pPr>
            <a:r>
              <a:rPr lang="en-US" sz="1300" b="1" dirty="0">
                <a:solidFill>
                  <a:srgbClr val="17324D"/>
                </a:solidFill>
                <a:latin typeface="Outfit" pitchFamily="34" charset="0"/>
                <a:ea typeface="Outfit" pitchFamily="34" charset="-122"/>
                <a:cs typeface="Outfit" pitchFamily="34" charset="-120"/>
              </a:rPr>
              <a:t>Create a Problem</a:t>
            </a:r>
            <a:endParaRPr lang="en-US" sz="1300" dirty="0"/>
          </a:p>
        </p:txBody>
      </p:sp>
      <p:sp>
        <p:nvSpPr>
          <p:cNvPr id="33" name="Text 31"/>
          <p:cNvSpPr/>
          <p:nvPr/>
        </p:nvSpPr>
        <p:spPr>
          <a:xfrm>
            <a:off x="4892040" y="3493008"/>
            <a:ext cx="3749040" cy="868680"/>
          </a:xfrm>
          <a:prstGeom prst="rect">
            <a:avLst/>
          </a:prstGeom>
          <a:noFill/>
          <a:ln/>
        </p:spPr>
        <p:txBody>
          <a:bodyPr wrap="square" rtlCol="0" anchor="t"/>
          <a:lstStyle/>
          <a:p>
            <a:pPr indent="0" marL="0">
              <a:buNone/>
            </a:pPr>
            <a:r>
              <a:rPr lang="en-US" sz="1000" dirty="0">
                <a:solidFill>
                  <a:srgbClr val="24323F"/>
                </a:solidFill>
                <a:latin typeface="Hanken Grotesk" pitchFamily="34" charset="0"/>
                <a:ea typeface="Hanken Grotesk" pitchFamily="34" charset="-122"/>
                <a:cs typeface="Hanken Grotesk" pitchFamily="34" charset="-120"/>
              </a:rPr>
              <a:t>Write your own problem that uses Unit Rate, then solve it and make an answer key.</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Independent Practice / Práctica Independiente</a:t>
            </a:r>
            <a:endParaRPr lang="en-US" sz="1500" dirty="0"/>
          </a:p>
        </p:txBody>
      </p:sp>
      <p:sp>
        <p:nvSpPr>
          <p:cNvPr id="5" name="Text 3"/>
          <p:cNvSpPr/>
          <p:nvPr/>
        </p:nvSpPr>
        <p:spPr>
          <a:xfrm>
            <a:off x="7360920" y="100584"/>
            <a:ext cx="914400" cy="274320"/>
          </a:xfrm>
          <a:prstGeom prst="rect">
            <a:avLst>
              <a:gd name="adj" fmla="val 50000"/>
            </a:avLst>
          </a:prstGeom>
          <a:solidFill>
            <a:srgbClr val="B0883B"/>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6.RP.3b</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4  ·  Lesson 4-7</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9</a:t>
            </a:r>
            <a:endParaRPr lang="en-US" sz="800" dirty="0"/>
          </a:p>
        </p:txBody>
      </p:sp>
      <p:sp>
        <p:nvSpPr>
          <p:cNvPr id="17" name="Shape 15"/>
          <p:cNvSpPr/>
          <p:nvPr/>
        </p:nvSpPr>
        <p:spPr>
          <a:xfrm>
            <a:off x="411480" y="685800"/>
            <a:ext cx="5486400" cy="4023360"/>
          </a:xfrm>
          <a:prstGeom prst="roundRect">
            <a:avLst>
              <a:gd name="adj" fmla="val 1818"/>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18" name="Text 16"/>
          <p:cNvSpPr/>
          <p:nvPr/>
        </p:nvSpPr>
        <p:spPr>
          <a:xfrm>
            <a:off x="594360" y="841248"/>
            <a:ext cx="1463040" cy="274320"/>
          </a:xfrm>
          <a:prstGeom prst="rect">
            <a:avLst>
              <a:gd name="adj" fmla="val 50000"/>
            </a:avLst>
          </a:prstGeom>
          <a:solidFill>
            <a:srgbClr val="B0883B"/>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 ON YOUR OWN</a:t>
            </a:r>
            <a:endParaRPr lang="en-US" sz="900" dirty="0"/>
          </a:p>
        </p:txBody>
      </p:sp>
      <p:sp>
        <p:nvSpPr>
          <p:cNvPr id="19" name="Text 17"/>
          <p:cNvSpPr/>
          <p:nvPr/>
        </p:nvSpPr>
        <p:spPr>
          <a:xfrm>
            <a:off x="594360" y="1234440"/>
            <a:ext cx="5166360" cy="457200"/>
          </a:xfrm>
          <a:prstGeom prst="rect">
            <a:avLst/>
          </a:prstGeom>
          <a:noFill/>
          <a:ln/>
        </p:spPr>
        <p:txBody>
          <a:bodyPr wrap="square" rtlCol="0" anchor="t"/>
          <a:lstStyle/>
          <a:p>
            <a:pPr indent="0" marL="0">
              <a:buNone/>
            </a:pPr>
            <a:r>
              <a:rPr lang="en-US" sz="1050" b="1" dirty="0">
                <a:solidFill>
                  <a:srgbClr val="B0883B"/>
                </a:solidFill>
                <a:latin typeface="Hanken Grotesk" pitchFamily="34" charset="0"/>
                <a:ea typeface="Hanken Grotesk" pitchFamily="34" charset="-122"/>
                <a:cs typeface="Hanken Grotesk" pitchFamily="34" charset="-120"/>
              </a:rPr>
              <a:t>1.  </a:t>
            </a:r>
            <a:pPr indent="0" marL="0">
              <a:buNone/>
            </a:pPr>
            <a:r>
              <a:rPr lang="en-US" sz="1050" dirty="0">
                <a:solidFill>
                  <a:srgbClr val="17324D"/>
                </a:solidFill>
                <a:latin typeface="Hanken Grotesk" pitchFamily="34" charset="0"/>
                <a:ea typeface="Hanken Grotesk" pitchFamily="34" charset="-122"/>
                <a:cs typeface="Hanken Grotesk" pitchFamily="34" charset="-120"/>
              </a:rPr>
              <a:t>A machine dispenses 24 tokens in 3 minutes. At this rate, how many tokens does it dispense in 10 minutes?</a:t>
            </a:r>
            <a:endParaRPr lang="en-US" sz="1050" dirty="0"/>
          </a:p>
        </p:txBody>
      </p:sp>
      <p:sp>
        <p:nvSpPr>
          <p:cNvPr id="20" name="Shape 18"/>
          <p:cNvSpPr/>
          <p:nvPr/>
        </p:nvSpPr>
        <p:spPr>
          <a:xfrm>
            <a:off x="777240" y="1783080"/>
            <a:ext cx="4983480" cy="0"/>
          </a:xfrm>
          <a:prstGeom prst="line">
            <a:avLst/>
          </a:prstGeom>
          <a:noFill/>
          <a:ln w="9525">
            <a:solidFill>
              <a:srgbClr val="C7CDD2"/>
            </a:solidFill>
            <a:prstDash val="dash"/>
          </a:ln>
        </p:spPr>
      </p:sp>
      <p:sp>
        <p:nvSpPr>
          <p:cNvPr id="21" name="Text 19"/>
          <p:cNvSpPr/>
          <p:nvPr/>
        </p:nvSpPr>
        <p:spPr>
          <a:xfrm>
            <a:off x="594360" y="2194560"/>
            <a:ext cx="5166360" cy="457200"/>
          </a:xfrm>
          <a:prstGeom prst="rect">
            <a:avLst/>
          </a:prstGeom>
          <a:noFill/>
          <a:ln/>
        </p:spPr>
        <p:txBody>
          <a:bodyPr wrap="square" rtlCol="0" anchor="t"/>
          <a:lstStyle/>
          <a:p>
            <a:pPr indent="0" marL="0">
              <a:buNone/>
            </a:pPr>
            <a:r>
              <a:rPr lang="en-US" sz="1050" b="1" dirty="0">
                <a:solidFill>
                  <a:srgbClr val="B0883B"/>
                </a:solidFill>
                <a:latin typeface="Hanken Grotesk" pitchFamily="34" charset="0"/>
                <a:ea typeface="Hanken Grotesk" pitchFamily="34" charset="-122"/>
                <a:cs typeface="Hanken Grotesk" pitchFamily="34" charset="-120"/>
              </a:rPr>
              <a:t>2.  </a:t>
            </a:r>
            <a:pPr indent="0" marL="0">
              <a:buNone/>
            </a:pPr>
            <a:r>
              <a:rPr lang="en-US" sz="1050" dirty="0">
                <a:solidFill>
                  <a:srgbClr val="17324D"/>
                </a:solidFill>
                <a:latin typeface="Hanken Grotesk" pitchFamily="34" charset="0"/>
                <a:ea typeface="Hanken Grotesk" pitchFamily="34" charset="-122"/>
                <a:cs typeface="Hanken Grotesk" pitchFamily="34" charset="-120"/>
              </a:rPr>
              <a:t>A factory produces 360 widgets in 8 hours. At the same rate, how many widgets are produced in a 12-hour shift?</a:t>
            </a:r>
            <a:endParaRPr lang="en-US" sz="1050" dirty="0"/>
          </a:p>
        </p:txBody>
      </p:sp>
      <p:sp>
        <p:nvSpPr>
          <p:cNvPr id="22" name="Shape 20"/>
          <p:cNvSpPr/>
          <p:nvPr/>
        </p:nvSpPr>
        <p:spPr>
          <a:xfrm>
            <a:off x="777240" y="2743200"/>
            <a:ext cx="4983480" cy="0"/>
          </a:xfrm>
          <a:prstGeom prst="line">
            <a:avLst/>
          </a:prstGeom>
          <a:noFill/>
          <a:ln w="9525">
            <a:solidFill>
              <a:srgbClr val="C7CDD2"/>
            </a:solidFill>
            <a:prstDash val="dash"/>
          </a:ln>
        </p:spPr>
      </p:sp>
      <p:sp>
        <p:nvSpPr>
          <p:cNvPr id="23" name="Text 21"/>
          <p:cNvSpPr/>
          <p:nvPr/>
        </p:nvSpPr>
        <p:spPr>
          <a:xfrm>
            <a:off x="594360" y="3154680"/>
            <a:ext cx="5166360" cy="457200"/>
          </a:xfrm>
          <a:prstGeom prst="rect">
            <a:avLst/>
          </a:prstGeom>
          <a:noFill/>
          <a:ln/>
        </p:spPr>
        <p:txBody>
          <a:bodyPr wrap="square" rtlCol="0" anchor="t"/>
          <a:lstStyle/>
          <a:p>
            <a:pPr indent="0" marL="0">
              <a:buNone/>
            </a:pPr>
            <a:r>
              <a:rPr lang="en-US" sz="1050" b="1" dirty="0">
                <a:solidFill>
                  <a:srgbClr val="B0883B"/>
                </a:solidFill>
                <a:latin typeface="Hanken Grotesk" pitchFamily="34" charset="0"/>
                <a:ea typeface="Hanken Grotesk" pitchFamily="34" charset="-122"/>
                <a:cs typeface="Hanken Grotesk" pitchFamily="34" charset="-120"/>
              </a:rPr>
              <a:t>3.  </a:t>
            </a:r>
            <a:pPr indent="0" marL="0">
              <a:buNone/>
            </a:pPr>
            <a:r>
              <a:rPr lang="en-US" sz="1050" dirty="0">
                <a:solidFill>
                  <a:srgbClr val="17324D"/>
                </a:solidFill>
                <a:latin typeface="Hanken Grotesk" pitchFamily="34" charset="0"/>
                <a:ea typeface="Hanken Grotesk" pitchFamily="34" charset="-122"/>
                <a:cs typeface="Hanken Grotesk" pitchFamily="34" charset="-120"/>
              </a:rPr>
              <a:t>Which is the better buy: 6 bouncy balls for $4.50 or 10 bouncy balls for $8.00?</a:t>
            </a:r>
            <a:endParaRPr lang="en-US" sz="1050" dirty="0"/>
          </a:p>
        </p:txBody>
      </p:sp>
      <p:sp>
        <p:nvSpPr>
          <p:cNvPr id="24" name="Shape 22"/>
          <p:cNvSpPr/>
          <p:nvPr/>
        </p:nvSpPr>
        <p:spPr>
          <a:xfrm>
            <a:off x="777240" y="3703320"/>
            <a:ext cx="4983480" cy="0"/>
          </a:xfrm>
          <a:prstGeom prst="line">
            <a:avLst/>
          </a:prstGeom>
          <a:noFill/>
          <a:ln w="9525">
            <a:solidFill>
              <a:srgbClr val="C7CDD2"/>
            </a:solidFill>
            <a:prstDash val="dash"/>
          </a:ln>
        </p:spPr>
      </p:sp>
      <p:sp>
        <p:nvSpPr>
          <p:cNvPr id="25" name="Shape 23"/>
          <p:cNvSpPr/>
          <p:nvPr/>
        </p:nvSpPr>
        <p:spPr>
          <a:xfrm>
            <a:off x="6035040" y="685800"/>
            <a:ext cx="2788920" cy="4023360"/>
          </a:xfrm>
          <a:prstGeom prst="roundRect">
            <a:avLst>
              <a:gd name="adj" fmla="val 2623"/>
            </a:avLst>
          </a:prstGeom>
          <a:solidFill>
            <a:srgbClr val="DFF2EE"/>
          </a:solidFill>
          <a:ln w="12700">
            <a:solidFill>
              <a:srgbClr val="1FA6A2"/>
            </a:solidFill>
            <a:prstDash val="solid"/>
          </a:ln>
          <a:effectLst>
            <a:outerShdw sx="100000" sy="100000" kx="0" ky="0" algn="bl" rotWithShape="0" blurRad="50800" dist="12700" dir="5400000">
              <a:srgbClr val="1C2E42">
                <a:alpha val="10000"/>
              </a:srgbClr>
            </a:outerShdw>
          </a:effectLst>
        </p:spPr>
      </p:sp>
      <p:sp>
        <p:nvSpPr>
          <p:cNvPr id="26" name="Text 24"/>
          <p:cNvSpPr/>
          <p:nvPr/>
        </p:nvSpPr>
        <p:spPr>
          <a:xfrm>
            <a:off x="6035040" y="685800"/>
            <a:ext cx="2788920" cy="274320"/>
          </a:xfrm>
          <a:prstGeom prst="rect">
            <a:avLst/>
          </a:prstGeom>
          <a:solidFill>
            <a:srgbClr val="1FA6A2"/>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 Talk It Over</a:t>
            </a:r>
            <a:endParaRPr lang="en-US" sz="1000" dirty="0"/>
          </a:p>
        </p:txBody>
      </p:sp>
      <p:sp>
        <p:nvSpPr>
          <p:cNvPr id="27" name="Text 25"/>
          <p:cNvSpPr/>
          <p:nvPr/>
        </p:nvSpPr>
        <p:spPr>
          <a:xfrm>
            <a:off x="6217920" y="1097280"/>
            <a:ext cx="2468880" cy="1554480"/>
          </a:xfrm>
          <a:prstGeom prst="rect">
            <a:avLst/>
          </a:prstGeom>
          <a:noFill/>
          <a:ln/>
        </p:spPr>
        <p:txBody>
          <a:bodyPr wrap="square" rtlCol="0" anchor="t"/>
          <a:lstStyle/>
          <a:p>
            <a:pPr indent="0" marL="0">
              <a:buNone/>
            </a:pPr>
            <a:r>
              <a:rPr lang="en-US" sz="1000" dirty="0">
                <a:solidFill>
                  <a:srgbClr val="17324D"/>
                </a:solidFill>
                <a:latin typeface="Hanken Grotesk" pitchFamily="34" charset="0"/>
                <a:ea typeface="Hanken Grotesk" pitchFamily="34" charset="-122"/>
                <a:cs typeface="Hanken Grotesk" pitchFamily="34" charset="-120"/>
              </a:rPr>
              <a:t>Printer A makes 150 tickets in 5 minutes and Printer B makes 200 in 8 minutes. The manager needs 600 tickets fast. How do unit rates decide the faster printer and the time needed?</a:t>
            </a:r>
            <a:endParaRPr lang="en-US" sz="1000" dirty="0"/>
          </a:p>
        </p:txBody>
      </p:sp>
      <p:sp>
        <p:nvSpPr>
          <p:cNvPr id="28" name="Shape 26"/>
          <p:cNvSpPr/>
          <p:nvPr/>
        </p:nvSpPr>
        <p:spPr>
          <a:xfrm>
            <a:off x="6217920" y="2834640"/>
            <a:ext cx="2423160" cy="0"/>
          </a:xfrm>
          <a:prstGeom prst="line">
            <a:avLst/>
          </a:prstGeom>
          <a:noFill/>
          <a:ln w="9525">
            <a:solidFill>
              <a:srgbClr val="C7CDD2"/>
            </a:solidFill>
            <a:prstDash val="dash"/>
          </a:ln>
        </p:spPr>
      </p:sp>
      <p:sp>
        <p:nvSpPr>
          <p:cNvPr id="29" name="Shape 27"/>
          <p:cNvSpPr/>
          <p:nvPr/>
        </p:nvSpPr>
        <p:spPr>
          <a:xfrm>
            <a:off x="6217920" y="3163824"/>
            <a:ext cx="2423160" cy="0"/>
          </a:xfrm>
          <a:prstGeom prst="line">
            <a:avLst/>
          </a:prstGeom>
          <a:noFill/>
          <a:ln w="9525">
            <a:solidFill>
              <a:srgbClr val="C7CDD2"/>
            </a:solidFill>
            <a:prstDash val="dash"/>
          </a:ln>
        </p:spPr>
      </p:sp>
      <p:sp>
        <p:nvSpPr>
          <p:cNvPr id="30" name="Shape 28"/>
          <p:cNvSpPr/>
          <p:nvPr/>
        </p:nvSpPr>
        <p:spPr>
          <a:xfrm>
            <a:off x="6217920" y="3493008"/>
            <a:ext cx="2423160" cy="0"/>
          </a:xfrm>
          <a:prstGeom prst="line">
            <a:avLst/>
          </a:prstGeom>
          <a:noFill/>
          <a:ln w="9525">
            <a:solidFill>
              <a:srgbClr val="C7CDD2"/>
            </a:solidFill>
            <a:prstDash val="dash"/>
          </a:ln>
        </p:spPr>
      </p:sp>
      <p:sp>
        <p:nvSpPr>
          <p:cNvPr id="31" name="Shape 29"/>
          <p:cNvSpPr/>
          <p:nvPr/>
        </p:nvSpPr>
        <p:spPr>
          <a:xfrm>
            <a:off x="6217920" y="3822192"/>
            <a:ext cx="2423160" cy="0"/>
          </a:xfrm>
          <a:prstGeom prst="line">
            <a:avLst/>
          </a:prstGeom>
          <a:noFill/>
          <a:ln w="9525">
            <a:solidFill>
              <a:srgbClr val="C7CDD2"/>
            </a:solidFill>
            <a:prstDash val="dash"/>
          </a:ln>
        </p:spPr>
      </p:sp>
      <p:sp>
        <p:nvSpPr>
          <p:cNvPr id="32" name="Shape 30"/>
          <p:cNvSpPr/>
          <p:nvPr/>
        </p:nvSpPr>
        <p:spPr>
          <a:xfrm>
            <a:off x="6217920" y="4151376"/>
            <a:ext cx="2423160" cy="0"/>
          </a:xfrm>
          <a:prstGeom prst="line">
            <a:avLst/>
          </a:prstGeom>
          <a:noFill/>
          <a:ln w="9525">
            <a:solidFill>
              <a:srgbClr val="C7CDD2"/>
            </a:solidFill>
            <a:prstDash val="dash"/>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Think–Write–Respond / Piensa y Escribe</a:t>
            </a:r>
            <a:endParaRPr lang="en-US" sz="1500" dirty="0"/>
          </a:p>
        </p:txBody>
      </p:sp>
      <p:sp>
        <p:nvSpPr>
          <p:cNvPr id="5" name="Text 3"/>
          <p:cNvSpPr/>
          <p:nvPr/>
        </p:nvSpPr>
        <p:spPr>
          <a:xfrm>
            <a:off x="7360920" y="100584"/>
            <a:ext cx="914400" cy="274320"/>
          </a:xfrm>
          <a:prstGeom prst="rect">
            <a:avLst>
              <a:gd name="adj" fmla="val 50000"/>
            </a:avLst>
          </a:prstGeom>
          <a:solidFill>
            <a:srgbClr val="B0883B"/>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6.RP.3b</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4  ·  Lesson 4-7</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10</a:t>
            </a:r>
            <a:endParaRPr lang="en-US" sz="800" dirty="0"/>
          </a:p>
        </p:txBody>
      </p:sp>
      <p:sp>
        <p:nvSpPr>
          <p:cNvPr id="17" name="Text 15"/>
          <p:cNvSpPr/>
          <p:nvPr/>
        </p:nvSpPr>
        <p:spPr>
          <a:xfrm>
            <a:off x="411480" y="603504"/>
            <a:ext cx="8412480" cy="274320"/>
          </a:xfrm>
          <a:prstGeom prst="rect">
            <a:avLst/>
          </a:prstGeom>
          <a:noFill/>
          <a:ln/>
        </p:spPr>
        <p:txBody>
          <a:bodyPr wrap="square" rtlCol="0" anchor="ctr"/>
          <a:lstStyle/>
          <a:p>
            <a:pPr indent="0" marL="0">
              <a:buNone/>
            </a:pPr>
            <a:r>
              <a:rPr lang="en-US" sz="1000" i="1" dirty="0">
                <a:solidFill>
                  <a:srgbClr val="8A96A3"/>
                </a:solidFill>
                <a:latin typeface="Hanken Grotesk" pitchFamily="34" charset="0"/>
                <a:ea typeface="Hanken Grotesk" pitchFamily="34" charset="-122"/>
                <a:cs typeface="Hanken Grotesk" pitchFamily="34" charset="-120"/>
              </a:rPr>
              <a:t>Use evidence from today's lesson to complete each frame.</a:t>
            </a:r>
            <a:endParaRPr lang="en-US" sz="1000" dirty="0"/>
          </a:p>
        </p:txBody>
      </p:sp>
      <p:sp>
        <p:nvSpPr>
          <p:cNvPr id="18" name="Shape 16"/>
          <p:cNvSpPr/>
          <p:nvPr/>
        </p:nvSpPr>
        <p:spPr>
          <a:xfrm>
            <a:off x="411480" y="960120"/>
            <a:ext cx="8412480" cy="1143000"/>
          </a:xfrm>
          <a:prstGeom prst="roundRect">
            <a:avLst>
              <a:gd name="adj" fmla="val 6400"/>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19" name="Text 17"/>
          <p:cNvSpPr/>
          <p:nvPr/>
        </p:nvSpPr>
        <p:spPr>
          <a:xfrm>
            <a:off x="594360" y="1051560"/>
            <a:ext cx="8046720" cy="274320"/>
          </a:xfrm>
          <a:prstGeom prst="rect">
            <a:avLst/>
          </a:prstGeom>
          <a:noFill/>
          <a:ln/>
        </p:spPr>
        <p:txBody>
          <a:bodyPr wrap="square" rtlCol="0" anchor="ctr"/>
          <a:lstStyle/>
          <a:p>
            <a:pPr indent="0" marL="0">
              <a:buNone/>
            </a:pPr>
            <a:r>
              <a:rPr lang="en-US" sz="1100" dirty="0">
                <a:solidFill>
                  <a:srgbClr val="8A96A3"/>
                </a:solidFill>
                <a:latin typeface="Outfit" pitchFamily="34" charset="0"/>
                <a:ea typeface="Outfit" pitchFamily="34" charset="-122"/>
                <a:cs typeface="Outfit" pitchFamily="34" charset="-120"/>
              </a:rPr>
              <a:t>Frame 1 — </a:t>
            </a:r>
            <a:pPr indent="0" marL="0">
              <a:buNone/>
            </a:pPr>
            <a:r>
              <a:rPr lang="en-US" sz="1100" b="1" dirty="0">
                <a:solidFill>
                  <a:srgbClr val="B0883B"/>
                </a:solidFill>
                <a:latin typeface="Outfit" pitchFamily="34" charset="0"/>
                <a:ea typeface="Outfit" pitchFamily="34" charset="-122"/>
                <a:cs typeface="Outfit" pitchFamily="34" charset="-120"/>
              </a:rPr>
              <a:t>Explain the Rule</a:t>
            </a:r>
            <a:endParaRPr lang="en-US" sz="1100" dirty="0"/>
          </a:p>
        </p:txBody>
      </p:sp>
      <p:sp>
        <p:nvSpPr>
          <p:cNvPr id="20" name="Text 18"/>
          <p:cNvSpPr/>
          <p:nvPr/>
        </p:nvSpPr>
        <p:spPr>
          <a:xfrm>
            <a:off x="594360" y="1344168"/>
            <a:ext cx="8046720" cy="365760"/>
          </a:xfrm>
          <a:prstGeom prst="rect">
            <a:avLst/>
          </a:prstGeom>
          <a:noFill/>
          <a:ln/>
        </p:spPr>
        <p:txBody>
          <a:bodyPr wrap="square" rtlCol="0" anchor="t"/>
          <a:lstStyle/>
          <a:p>
            <a:pPr indent="0" marL="0">
              <a:buNone/>
            </a:pPr>
            <a:r>
              <a:rPr lang="en-US" sz="1050" dirty="0">
                <a:solidFill>
                  <a:srgbClr val="17324D"/>
                </a:solidFill>
                <a:latin typeface="Hanken Grotesk" pitchFamily="34" charset="0"/>
                <a:ea typeface="Hanken Grotesk" pitchFamily="34" charset="-122"/>
                <a:cs typeface="Hanken Grotesk" pitchFamily="34" charset="-120"/>
              </a:rPr>
              <a:t>Today's key idea is "Divide the price by the number of items to get the cost per unit. The lower cost per unit is the better buy." — and it works because ___.</a:t>
            </a:r>
            <a:endParaRPr lang="en-US" sz="1050" dirty="0"/>
          </a:p>
        </p:txBody>
      </p:sp>
      <p:sp>
        <p:nvSpPr>
          <p:cNvPr id="21" name="Shape 19"/>
          <p:cNvSpPr/>
          <p:nvPr/>
        </p:nvSpPr>
        <p:spPr>
          <a:xfrm>
            <a:off x="594360" y="1892808"/>
            <a:ext cx="8046720" cy="0"/>
          </a:xfrm>
          <a:prstGeom prst="line">
            <a:avLst/>
          </a:prstGeom>
          <a:noFill/>
          <a:ln w="9525">
            <a:solidFill>
              <a:srgbClr val="C7CDD2"/>
            </a:solidFill>
            <a:prstDash val="dash"/>
          </a:ln>
        </p:spPr>
      </p:sp>
      <p:sp>
        <p:nvSpPr>
          <p:cNvPr id="22" name="Shape 20"/>
          <p:cNvSpPr/>
          <p:nvPr/>
        </p:nvSpPr>
        <p:spPr>
          <a:xfrm>
            <a:off x="411480" y="2240280"/>
            <a:ext cx="8412480" cy="1143000"/>
          </a:xfrm>
          <a:prstGeom prst="roundRect">
            <a:avLst>
              <a:gd name="adj" fmla="val 6400"/>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3" name="Text 21"/>
          <p:cNvSpPr/>
          <p:nvPr/>
        </p:nvSpPr>
        <p:spPr>
          <a:xfrm>
            <a:off x="594360" y="2331720"/>
            <a:ext cx="8046720" cy="274320"/>
          </a:xfrm>
          <a:prstGeom prst="rect">
            <a:avLst/>
          </a:prstGeom>
          <a:noFill/>
          <a:ln/>
        </p:spPr>
        <p:txBody>
          <a:bodyPr wrap="square" rtlCol="0" anchor="ctr"/>
          <a:lstStyle/>
          <a:p>
            <a:pPr indent="0" marL="0">
              <a:buNone/>
            </a:pPr>
            <a:r>
              <a:rPr lang="en-US" sz="1100" dirty="0">
                <a:solidFill>
                  <a:srgbClr val="8A96A3"/>
                </a:solidFill>
                <a:latin typeface="Outfit" pitchFamily="34" charset="0"/>
                <a:ea typeface="Outfit" pitchFamily="34" charset="-122"/>
                <a:cs typeface="Outfit" pitchFamily="34" charset="-120"/>
              </a:rPr>
              <a:t>Frame 2 — </a:t>
            </a:r>
            <a:pPr indent="0" marL="0">
              <a:buNone/>
            </a:pPr>
            <a:r>
              <a:rPr lang="en-US" sz="1100" b="1" dirty="0">
                <a:solidFill>
                  <a:srgbClr val="B0883B"/>
                </a:solidFill>
                <a:latin typeface="Outfit" pitchFamily="34" charset="0"/>
                <a:ea typeface="Outfit" pitchFamily="34" charset="-122"/>
                <a:cs typeface="Outfit" pitchFamily="34" charset="-120"/>
              </a:rPr>
              <a:t>Because / But / So</a:t>
            </a:r>
            <a:endParaRPr lang="en-US" sz="1100" dirty="0"/>
          </a:p>
        </p:txBody>
      </p:sp>
      <p:sp>
        <p:nvSpPr>
          <p:cNvPr id="24" name="Text 22"/>
          <p:cNvSpPr/>
          <p:nvPr/>
        </p:nvSpPr>
        <p:spPr>
          <a:xfrm>
            <a:off x="594360" y="2624328"/>
            <a:ext cx="8046720" cy="365760"/>
          </a:xfrm>
          <a:prstGeom prst="rect">
            <a:avLst/>
          </a:prstGeom>
          <a:noFill/>
          <a:ln/>
        </p:spPr>
        <p:txBody>
          <a:bodyPr wrap="square" rtlCol="0" anchor="t"/>
          <a:lstStyle/>
          <a:p>
            <a:pPr indent="0" marL="0">
              <a:buNone/>
            </a:pPr>
            <a:r>
              <a:rPr lang="en-US" sz="1050" dirty="0">
                <a:solidFill>
                  <a:srgbClr val="17324D"/>
                </a:solidFill>
                <a:latin typeface="Hanken Grotesk" pitchFamily="34" charset="0"/>
                <a:ea typeface="Hanken Grotesk" pitchFamily="34" charset="-122"/>
                <a:cs typeface="Hanken Grotesk" pitchFamily="34" charset="-120"/>
              </a:rPr>
              <a:t>Because Unit Rate means ___, but a tricky part is ___, so I have to ___.</a:t>
            </a:r>
            <a:endParaRPr lang="en-US" sz="1050" dirty="0"/>
          </a:p>
        </p:txBody>
      </p:sp>
      <p:sp>
        <p:nvSpPr>
          <p:cNvPr id="25" name="Shape 23"/>
          <p:cNvSpPr/>
          <p:nvPr/>
        </p:nvSpPr>
        <p:spPr>
          <a:xfrm>
            <a:off x="594360" y="3172968"/>
            <a:ext cx="8046720" cy="0"/>
          </a:xfrm>
          <a:prstGeom prst="line">
            <a:avLst/>
          </a:prstGeom>
          <a:noFill/>
          <a:ln w="9525">
            <a:solidFill>
              <a:srgbClr val="C7CDD2"/>
            </a:solidFill>
            <a:prstDash val="dash"/>
          </a:ln>
        </p:spPr>
      </p:sp>
      <p:sp>
        <p:nvSpPr>
          <p:cNvPr id="26" name="Shape 24"/>
          <p:cNvSpPr/>
          <p:nvPr/>
        </p:nvSpPr>
        <p:spPr>
          <a:xfrm>
            <a:off x="411480" y="3520440"/>
            <a:ext cx="8412480" cy="1143000"/>
          </a:xfrm>
          <a:prstGeom prst="roundRect">
            <a:avLst>
              <a:gd name="adj" fmla="val 6400"/>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7" name="Text 25"/>
          <p:cNvSpPr/>
          <p:nvPr/>
        </p:nvSpPr>
        <p:spPr>
          <a:xfrm>
            <a:off x="594360" y="3611880"/>
            <a:ext cx="8046720" cy="274320"/>
          </a:xfrm>
          <a:prstGeom prst="rect">
            <a:avLst/>
          </a:prstGeom>
          <a:noFill/>
          <a:ln/>
        </p:spPr>
        <p:txBody>
          <a:bodyPr wrap="square" rtlCol="0" anchor="ctr"/>
          <a:lstStyle/>
          <a:p>
            <a:pPr indent="0" marL="0">
              <a:buNone/>
            </a:pPr>
            <a:r>
              <a:rPr lang="en-US" sz="1100" dirty="0">
                <a:solidFill>
                  <a:srgbClr val="8A96A3"/>
                </a:solidFill>
                <a:latin typeface="Outfit" pitchFamily="34" charset="0"/>
                <a:ea typeface="Outfit" pitchFamily="34" charset="-122"/>
                <a:cs typeface="Outfit" pitchFamily="34" charset="-120"/>
              </a:rPr>
              <a:t>Frame 3 — </a:t>
            </a:r>
            <a:pPr indent="0" marL="0">
              <a:buNone/>
            </a:pPr>
            <a:r>
              <a:rPr lang="en-US" sz="1100" b="1" dirty="0">
                <a:solidFill>
                  <a:srgbClr val="B0883B"/>
                </a:solidFill>
                <a:latin typeface="Outfit" pitchFamily="34" charset="0"/>
                <a:ea typeface="Outfit" pitchFamily="34" charset="-122"/>
                <a:cs typeface="Outfit" pitchFamily="34" charset="-120"/>
              </a:rPr>
              <a:t>Catch the Mistake</a:t>
            </a:r>
            <a:endParaRPr lang="en-US" sz="1100" dirty="0"/>
          </a:p>
        </p:txBody>
      </p:sp>
      <p:sp>
        <p:nvSpPr>
          <p:cNvPr id="28" name="Text 26"/>
          <p:cNvSpPr/>
          <p:nvPr/>
        </p:nvSpPr>
        <p:spPr>
          <a:xfrm>
            <a:off x="594360" y="3904488"/>
            <a:ext cx="8046720" cy="365760"/>
          </a:xfrm>
          <a:prstGeom prst="rect">
            <a:avLst/>
          </a:prstGeom>
          <a:noFill/>
          <a:ln/>
        </p:spPr>
        <p:txBody>
          <a:bodyPr wrap="square" rtlCol="0" anchor="t"/>
          <a:lstStyle/>
          <a:p>
            <a:pPr indent="0" marL="0">
              <a:buNone/>
            </a:pPr>
            <a:r>
              <a:rPr lang="en-US" sz="1050" dirty="0">
                <a:solidFill>
                  <a:srgbClr val="17324D"/>
                </a:solidFill>
                <a:latin typeface="Hanken Grotesk" pitchFamily="34" charset="0"/>
                <a:ea typeface="Hanken Grotesk" pitchFamily="34" charset="-122"/>
                <a:cs typeface="Hanken Grotesk" pitchFamily="34" charset="-120"/>
              </a:rPr>
              <a:t>A common mistake with Unit Rate is ___. It happens because ___, and the fix is ___.</a:t>
            </a:r>
            <a:endParaRPr lang="en-US" sz="1050" dirty="0"/>
          </a:p>
        </p:txBody>
      </p:sp>
      <p:sp>
        <p:nvSpPr>
          <p:cNvPr id="29" name="Shape 27"/>
          <p:cNvSpPr/>
          <p:nvPr/>
        </p:nvSpPr>
        <p:spPr>
          <a:xfrm>
            <a:off x="594360" y="4453128"/>
            <a:ext cx="8046720" cy="0"/>
          </a:xfrm>
          <a:prstGeom prst="line">
            <a:avLst/>
          </a:prstGeom>
          <a:noFill/>
          <a:ln w="9525">
            <a:solidFill>
              <a:srgbClr val="C7CDD2"/>
            </a:solidFill>
            <a:prstDash val="dash"/>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Exit Ticket / Boleto de Salida</a:t>
            </a:r>
            <a:endParaRPr lang="en-US" sz="1500" dirty="0"/>
          </a:p>
        </p:txBody>
      </p:sp>
      <p:sp>
        <p:nvSpPr>
          <p:cNvPr id="5" name="Text 3"/>
          <p:cNvSpPr/>
          <p:nvPr/>
        </p:nvSpPr>
        <p:spPr>
          <a:xfrm>
            <a:off x="7360920" y="100584"/>
            <a:ext cx="914400" cy="274320"/>
          </a:xfrm>
          <a:prstGeom prst="rect">
            <a:avLst>
              <a:gd name="adj" fmla="val 50000"/>
            </a:avLst>
          </a:prstGeom>
          <a:solidFill>
            <a:srgbClr val="B0883B"/>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6.RP.3b</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4  ·  Lesson 4-7</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11</a:t>
            </a:r>
            <a:endParaRPr lang="en-US" sz="800" dirty="0"/>
          </a:p>
        </p:txBody>
      </p:sp>
      <p:sp>
        <p:nvSpPr>
          <p:cNvPr id="17" name="Shape 15"/>
          <p:cNvSpPr/>
          <p:nvPr/>
        </p:nvSpPr>
        <p:spPr>
          <a:xfrm>
            <a:off x="411480" y="685800"/>
            <a:ext cx="4160520" cy="4023360"/>
          </a:xfrm>
          <a:prstGeom prst="roundRect">
            <a:avLst>
              <a:gd name="adj" fmla="val 1818"/>
            </a:avLst>
          </a:prstGeom>
          <a:solidFill>
            <a:srgbClr val="DFF2EE"/>
          </a:solidFill>
          <a:ln w="12700">
            <a:solidFill>
              <a:srgbClr val="1FA6A2"/>
            </a:solidFill>
            <a:prstDash val="solid"/>
          </a:ln>
          <a:effectLst>
            <a:outerShdw sx="100000" sy="100000" kx="0" ky="0" algn="bl" rotWithShape="0" blurRad="50800" dist="12700" dir="5400000">
              <a:srgbClr val="1C2E42">
                <a:alpha val="10000"/>
              </a:srgbClr>
            </a:outerShdw>
          </a:effectLst>
        </p:spPr>
      </p:sp>
      <p:sp>
        <p:nvSpPr>
          <p:cNvPr id="18" name="Text 16"/>
          <p:cNvSpPr/>
          <p:nvPr/>
        </p:nvSpPr>
        <p:spPr>
          <a:xfrm>
            <a:off x="411480" y="685800"/>
            <a:ext cx="4160520" cy="274320"/>
          </a:xfrm>
          <a:prstGeom prst="rect">
            <a:avLst/>
          </a:prstGeom>
          <a:solidFill>
            <a:srgbClr val="1FA6A2"/>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Reflection / Reflexión</a:t>
            </a:r>
            <a:endParaRPr lang="en-US" sz="1000" dirty="0"/>
          </a:p>
        </p:txBody>
      </p:sp>
      <p:sp>
        <p:nvSpPr>
          <p:cNvPr id="19" name="Text 17"/>
          <p:cNvSpPr/>
          <p:nvPr/>
        </p:nvSpPr>
        <p:spPr>
          <a:xfrm>
            <a:off x="594360" y="1097280"/>
            <a:ext cx="3794760" cy="365760"/>
          </a:xfrm>
          <a:prstGeom prst="rect">
            <a:avLst/>
          </a:prstGeom>
          <a:noFill/>
          <a:ln/>
        </p:spPr>
        <p:txBody>
          <a:bodyPr wrap="square" rtlCol="0" anchor="ctr"/>
          <a:lstStyle/>
          <a:p>
            <a:pPr indent="0" marL="0">
              <a:buNone/>
            </a:pPr>
            <a:r>
              <a:rPr lang="en-US" sz="1100" dirty="0">
                <a:solidFill>
                  <a:srgbClr val="17324D"/>
                </a:solidFill>
                <a:latin typeface="Hanken Grotesk" pitchFamily="34" charset="0"/>
                <a:ea typeface="Hanken Grotesk" pitchFamily="34" charset="-122"/>
                <a:cs typeface="Hanken Grotesk" pitchFamily="34" charset="-120"/>
              </a:rPr>
              <a:t>Today I learned that ___ because ___.</a:t>
            </a:r>
            <a:endParaRPr lang="en-US" sz="1100" dirty="0"/>
          </a:p>
        </p:txBody>
      </p:sp>
      <p:sp>
        <p:nvSpPr>
          <p:cNvPr id="20" name="Shape 18"/>
          <p:cNvSpPr/>
          <p:nvPr/>
        </p:nvSpPr>
        <p:spPr>
          <a:xfrm>
            <a:off x="594360" y="1783080"/>
            <a:ext cx="3794760" cy="0"/>
          </a:xfrm>
          <a:prstGeom prst="line">
            <a:avLst/>
          </a:prstGeom>
          <a:noFill/>
          <a:ln w="9525">
            <a:solidFill>
              <a:srgbClr val="C7CDD2"/>
            </a:solidFill>
            <a:prstDash val="dash"/>
          </a:ln>
        </p:spPr>
      </p:sp>
      <p:sp>
        <p:nvSpPr>
          <p:cNvPr id="21" name="Shape 19"/>
          <p:cNvSpPr/>
          <p:nvPr/>
        </p:nvSpPr>
        <p:spPr>
          <a:xfrm>
            <a:off x="594360" y="2093976"/>
            <a:ext cx="3794760" cy="0"/>
          </a:xfrm>
          <a:prstGeom prst="line">
            <a:avLst/>
          </a:prstGeom>
          <a:noFill/>
          <a:ln w="9525">
            <a:solidFill>
              <a:srgbClr val="C7CDD2"/>
            </a:solidFill>
            <a:prstDash val="dash"/>
          </a:ln>
        </p:spPr>
      </p:sp>
      <p:sp>
        <p:nvSpPr>
          <p:cNvPr id="22" name="Shape 20"/>
          <p:cNvSpPr/>
          <p:nvPr/>
        </p:nvSpPr>
        <p:spPr>
          <a:xfrm>
            <a:off x="594360" y="2404872"/>
            <a:ext cx="3794760" cy="0"/>
          </a:xfrm>
          <a:prstGeom prst="line">
            <a:avLst/>
          </a:prstGeom>
          <a:noFill/>
          <a:ln w="9525">
            <a:solidFill>
              <a:srgbClr val="C7CDD2"/>
            </a:solidFill>
            <a:prstDash val="dash"/>
          </a:ln>
        </p:spPr>
      </p:sp>
      <p:sp>
        <p:nvSpPr>
          <p:cNvPr id="23" name="Text 21"/>
          <p:cNvSpPr/>
          <p:nvPr/>
        </p:nvSpPr>
        <p:spPr>
          <a:xfrm>
            <a:off x="594360" y="2834640"/>
            <a:ext cx="3794760" cy="365760"/>
          </a:xfrm>
          <a:prstGeom prst="rect">
            <a:avLst/>
          </a:prstGeom>
          <a:noFill/>
          <a:ln/>
        </p:spPr>
        <p:txBody>
          <a:bodyPr wrap="square" rtlCol="0" anchor="ctr"/>
          <a:lstStyle/>
          <a:p>
            <a:pPr indent="0" marL="0">
              <a:buNone/>
            </a:pPr>
            <a:r>
              <a:rPr lang="en-US" sz="1100" dirty="0">
                <a:solidFill>
                  <a:srgbClr val="17324D"/>
                </a:solidFill>
                <a:latin typeface="Hanken Grotesk" pitchFamily="34" charset="0"/>
                <a:ea typeface="Hanken Grotesk" pitchFamily="34" charset="-122"/>
                <a:cs typeface="Hanken Grotesk" pitchFamily="34" charset="-120"/>
              </a:rPr>
              <a:t>One thing I am still not sure about is ___.</a:t>
            </a:r>
            <a:endParaRPr lang="en-US" sz="1100" dirty="0"/>
          </a:p>
        </p:txBody>
      </p:sp>
      <p:sp>
        <p:nvSpPr>
          <p:cNvPr id="24" name="Shape 22"/>
          <p:cNvSpPr/>
          <p:nvPr/>
        </p:nvSpPr>
        <p:spPr>
          <a:xfrm>
            <a:off x="594360" y="3520440"/>
            <a:ext cx="3794760" cy="0"/>
          </a:xfrm>
          <a:prstGeom prst="line">
            <a:avLst/>
          </a:prstGeom>
          <a:noFill/>
          <a:ln w="9525">
            <a:solidFill>
              <a:srgbClr val="C7CDD2"/>
            </a:solidFill>
            <a:prstDash val="dash"/>
          </a:ln>
        </p:spPr>
      </p:sp>
      <p:sp>
        <p:nvSpPr>
          <p:cNvPr id="25" name="Shape 23"/>
          <p:cNvSpPr/>
          <p:nvPr/>
        </p:nvSpPr>
        <p:spPr>
          <a:xfrm>
            <a:off x="594360" y="3831336"/>
            <a:ext cx="3794760" cy="0"/>
          </a:xfrm>
          <a:prstGeom prst="line">
            <a:avLst/>
          </a:prstGeom>
          <a:noFill/>
          <a:ln w="9525">
            <a:solidFill>
              <a:srgbClr val="C7CDD2"/>
            </a:solidFill>
            <a:prstDash val="dash"/>
          </a:ln>
        </p:spPr>
      </p:sp>
      <p:sp>
        <p:nvSpPr>
          <p:cNvPr id="26" name="Shape 24"/>
          <p:cNvSpPr/>
          <p:nvPr/>
        </p:nvSpPr>
        <p:spPr>
          <a:xfrm>
            <a:off x="594360" y="4142232"/>
            <a:ext cx="3794760" cy="0"/>
          </a:xfrm>
          <a:prstGeom prst="line">
            <a:avLst/>
          </a:prstGeom>
          <a:noFill/>
          <a:ln w="9525">
            <a:solidFill>
              <a:srgbClr val="C7CDD2"/>
            </a:solidFill>
            <a:prstDash val="dash"/>
          </a:ln>
        </p:spPr>
      </p:sp>
      <p:sp>
        <p:nvSpPr>
          <p:cNvPr id="27" name="Shape 25"/>
          <p:cNvSpPr/>
          <p:nvPr/>
        </p:nvSpPr>
        <p:spPr>
          <a:xfrm>
            <a:off x="4709160" y="685800"/>
            <a:ext cx="4114800" cy="4023360"/>
          </a:xfrm>
          <a:prstGeom prst="roundRect">
            <a:avLst>
              <a:gd name="adj" fmla="val 1818"/>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8" name="Text 26"/>
          <p:cNvSpPr/>
          <p:nvPr/>
        </p:nvSpPr>
        <p:spPr>
          <a:xfrm>
            <a:off x="4709160" y="685800"/>
            <a:ext cx="4114800" cy="274320"/>
          </a:xfrm>
          <a:prstGeom prst="rect">
            <a:avLst/>
          </a:prstGeom>
          <a:solidFill>
            <a:srgbClr val="17324D"/>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Quick Exit Ticket</a:t>
            </a:r>
            <a:endParaRPr lang="en-US" sz="1000" dirty="0"/>
          </a:p>
        </p:txBody>
      </p:sp>
      <p:sp>
        <p:nvSpPr>
          <p:cNvPr id="29" name="Text 27"/>
          <p:cNvSpPr/>
          <p:nvPr/>
        </p:nvSpPr>
        <p:spPr>
          <a:xfrm>
            <a:off x="4892040" y="1097280"/>
            <a:ext cx="3749040" cy="640080"/>
          </a:xfrm>
          <a:prstGeom prst="rect">
            <a:avLst/>
          </a:prstGeom>
          <a:noFill/>
          <a:ln/>
        </p:spPr>
        <p:txBody>
          <a:bodyPr wrap="square" rtlCol="0" anchor="t"/>
          <a:lstStyle/>
          <a:p>
            <a:pPr indent="0" marL="0">
              <a:buNone/>
            </a:pPr>
            <a:r>
              <a:rPr lang="en-US" sz="1050" b="1" dirty="0">
                <a:solidFill>
                  <a:srgbClr val="B0883B"/>
                </a:solidFill>
                <a:latin typeface="Hanken Grotesk" pitchFamily="34" charset="0"/>
                <a:ea typeface="Hanken Grotesk" pitchFamily="34" charset="-122"/>
                <a:cs typeface="Hanken Grotesk" pitchFamily="34" charset="-120"/>
              </a:rPr>
              <a:t>Tier 1 — </a:t>
            </a:r>
            <a:pPr indent="0" marL="0">
              <a:buNone/>
            </a:pPr>
            <a:r>
              <a:rPr lang="en-US" sz="1050" dirty="0">
                <a:solidFill>
                  <a:srgbClr val="17324D"/>
                </a:solidFill>
                <a:latin typeface="Hanken Grotesk" pitchFamily="34" charset="0"/>
                <a:ea typeface="Hanken Grotesk" pitchFamily="34" charset="-122"/>
                <a:cs typeface="Hanken Grotesk" pitchFamily="34" charset="-120"/>
              </a:rPr>
              <a:t>A car travels 195 miles on 6 gallons of gas. What is the unit rate in miles per gallon?</a:t>
            </a:r>
            <a:endParaRPr lang="en-US" sz="1050" dirty="0"/>
          </a:p>
        </p:txBody>
      </p:sp>
      <p:sp>
        <p:nvSpPr>
          <p:cNvPr id="30" name="Text 28"/>
          <p:cNvSpPr/>
          <p:nvPr/>
        </p:nvSpPr>
        <p:spPr>
          <a:xfrm>
            <a:off x="5029200" y="1783080"/>
            <a:ext cx="3566160" cy="274320"/>
          </a:xfrm>
          <a:prstGeom prst="rect">
            <a:avLst/>
          </a:prstGeom>
          <a:noFill/>
          <a:ln/>
        </p:spPr>
        <p:txBody>
          <a:bodyPr wrap="square" rtlCol="0" anchor="ctr"/>
          <a:lstStyle/>
          <a:p>
            <a:pPr indent="0" marL="0">
              <a:buNone/>
            </a:pPr>
            <a:r>
              <a:rPr lang="en-US" sz="1000" dirty="0">
                <a:solidFill>
                  <a:srgbClr val="24323F"/>
                </a:solidFill>
                <a:latin typeface="Hanken Grotesk" pitchFamily="34" charset="0"/>
                <a:ea typeface="Hanken Grotesk" pitchFamily="34" charset="-122"/>
                <a:cs typeface="Hanken Grotesk" pitchFamily="34" charset="-120"/>
              </a:rPr>
              <a:t>A.  32.5 miles per gallon</a:t>
            </a:r>
            <a:endParaRPr lang="en-US" sz="1000" dirty="0"/>
          </a:p>
        </p:txBody>
      </p:sp>
      <p:sp>
        <p:nvSpPr>
          <p:cNvPr id="31" name="Text 29"/>
          <p:cNvSpPr/>
          <p:nvPr/>
        </p:nvSpPr>
        <p:spPr>
          <a:xfrm>
            <a:off x="5029200" y="2093976"/>
            <a:ext cx="3566160" cy="274320"/>
          </a:xfrm>
          <a:prstGeom prst="rect">
            <a:avLst/>
          </a:prstGeom>
          <a:noFill/>
          <a:ln/>
        </p:spPr>
        <p:txBody>
          <a:bodyPr wrap="square" rtlCol="0" anchor="ctr"/>
          <a:lstStyle/>
          <a:p>
            <a:pPr indent="0" marL="0">
              <a:buNone/>
            </a:pPr>
            <a:r>
              <a:rPr lang="en-US" sz="1000" dirty="0">
                <a:solidFill>
                  <a:srgbClr val="24323F"/>
                </a:solidFill>
                <a:latin typeface="Hanken Grotesk" pitchFamily="34" charset="0"/>
                <a:ea typeface="Hanken Grotesk" pitchFamily="34" charset="-122"/>
                <a:cs typeface="Hanken Grotesk" pitchFamily="34" charset="-120"/>
              </a:rPr>
              <a:t>B.  33 miles per gallon</a:t>
            </a:r>
            <a:endParaRPr lang="en-US" sz="1000" dirty="0"/>
          </a:p>
        </p:txBody>
      </p:sp>
      <p:sp>
        <p:nvSpPr>
          <p:cNvPr id="32" name="Text 30"/>
          <p:cNvSpPr/>
          <p:nvPr/>
        </p:nvSpPr>
        <p:spPr>
          <a:xfrm>
            <a:off x="5029200" y="2404872"/>
            <a:ext cx="3566160" cy="274320"/>
          </a:xfrm>
          <a:prstGeom prst="rect">
            <a:avLst/>
          </a:prstGeom>
          <a:noFill/>
          <a:ln/>
        </p:spPr>
        <p:txBody>
          <a:bodyPr wrap="square" rtlCol="0" anchor="ctr"/>
          <a:lstStyle/>
          <a:p>
            <a:pPr indent="0" marL="0">
              <a:buNone/>
            </a:pPr>
            <a:r>
              <a:rPr lang="en-US" sz="1000" dirty="0">
                <a:solidFill>
                  <a:srgbClr val="24323F"/>
                </a:solidFill>
                <a:latin typeface="Hanken Grotesk" pitchFamily="34" charset="0"/>
                <a:ea typeface="Hanken Grotesk" pitchFamily="34" charset="-122"/>
                <a:cs typeface="Hanken Grotesk" pitchFamily="34" charset="-120"/>
              </a:rPr>
              <a:t>C.  30 miles per gallon</a:t>
            </a:r>
            <a:endParaRPr lang="en-US" sz="1000" dirty="0"/>
          </a:p>
        </p:txBody>
      </p:sp>
      <p:sp>
        <p:nvSpPr>
          <p:cNvPr id="33" name="Text 31"/>
          <p:cNvSpPr/>
          <p:nvPr/>
        </p:nvSpPr>
        <p:spPr>
          <a:xfrm>
            <a:off x="5029200" y="2715768"/>
            <a:ext cx="3566160" cy="274320"/>
          </a:xfrm>
          <a:prstGeom prst="rect">
            <a:avLst/>
          </a:prstGeom>
          <a:noFill/>
          <a:ln/>
        </p:spPr>
        <p:txBody>
          <a:bodyPr wrap="square" rtlCol="0" anchor="ctr"/>
          <a:lstStyle/>
          <a:p>
            <a:pPr indent="0" marL="0">
              <a:buNone/>
            </a:pPr>
            <a:r>
              <a:rPr lang="en-US" sz="1000" dirty="0">
                <a:solidFill>
                  <a:srgbClr val="24323F"/>
                </a:solidFill>
                <a:latin typeface="Hanken Grotesk" pitchFamily="34" charset="0"/>
                <a:ea typeface="Hanken Grotesk" pitchFamily="34" charset="-122"/>
                <a:cs typeface="Hanken Grotesk" pitchFamily="34" charset="-120"/>
              </a:rPr>
              <a:t>D.  1,170 miles per gallon</a:t>
            </a:r>
            <a:endParaRPr lang="en-US" sz="1000" dirty="0"/>
          </a:p>
        </p:txBody>
      </p:sp>
      <p:sp>
        <p:nvSpPr>
          <p:cNvPr id="34" name="Text 32"/>
          <p:cNvSpPr/>
          <p:nvPr/>
        </p:nvSpPr>
        <p:spPr>
          <a:xfrm>
            <a:off x="4892040" y="3163824"/>
            <a:ext cx="3749040" cy="502920"/>
          </a:xfrm>
          <a:prstGeom prst="rect">
            <a:avLst/>
          </a:prstGeom>
          <a:noFill/>
          <a:ln/>
        </p:spPr>
        <p:txBody>
          <a:bodyPr wrap="square" rtlCol="0" anchor="t"/>
          <a:lstStyle/>
          <a:p>
            <a:pPr indent="0" marL="0">
              <a:buNone/>
            </a:pPr>
            <a:r>
              <a:rPr lang="en-US" sz="1050" b="1" dirty="0">
                <a:solidFill>
                  <a:srgbClr val="B0883B"/>
                </a:solidFill>
                <a:latin typeface="Hanken Grotesk" pitchFamily="34" charset="0"/>
                <a:ea typeface="Hanken Grotesk" pitchFamily="34" charset="-122"/>
                <a:cs typeface="Hanken Grotesk" pitchFamily="34" charset="-120"/>
              </a:rPr>
              <a:t>Tier 2 — </a:t>
            </a:r>
            <a:pPr indent="0" marL="0">
              <a:buNone/>
            </a:pPr>
            <a:r>
              <a:rPr lang="en-US" sz="1050" dirty="0">
                <a:solidFill>
                  <a:srgbClr val="17324D"/>
                </a:solidFill>
                <a:latin typeface="Hanken Grotesk" pitchFamily="34" charset="0"/>
                <a:ea typeface="Hanken Grotesk" pitchFamily="34" charset="-122"/>
                <a:cs typeface="Hanken Grotesk" pitchFamily="34" charset="-120"/>
              </a:rPr>
              <a:t>Explain how you know your answer is correct. Use at least one vocabulary word.</a:t>
            </a:r>
            <a:endParaRPr lang="en-US" sz="1050" dirty="0"/>
          </a:p>
        </p:txBody>
      </p:sp>
      <p:sp>
        <p:nvSpPr>
          <p:cNvPr id="35" name="Shape 33"/>
          <p:cNvSpPr/>
          <p:nvPr/>
        </p:nvSpPr>
        <p:spPr>
          <a:xfrm>
            <a:off x="4892040" y="3803904"/>
            <a:ext cx="3749040" cy="0"/>
          </a:xfrm>
          <a:prstGeom prst="line">
            <a:avLst/>
          </a:prstGeom>
          <a:noFill/>
          <a:ln w="9525">
            <a:solidFill>
              <a:srgbClr val="C7CDD2"/>
            </a:solidFill>
            <a:prstDash val="dash"/>
          </a:ln>
        </p:spPr>
      </p:sp>
      <p:sp>
        <p:nvSpPr>
          <p:cNvPr id="36" name="Shape 34"/>
          <p:cNvSpPr/>
          <p:nvPr/>
        </p:nvSpPr>
        <p:spPr>
          <a:xfrm>
            <a:off x="4892040" y="4096512"/>
            <a:ext cx="3749040" cy="0"/>
          </a:xfrm>
          <a:prstGeom prst="line">
            <a:avLst/>
          </a:prstGeom>
          <a:noFill/>
          <a:ln w="9525">
            <a:solidFill>
              <a:srgbClr val="C7CDD2"/>
            </a:solidFill>
            <a:prstDash val="dash"/>
          </a:ln>
        </p:spPr>
      </p:sp>
      <p:sp>
        <p:nvSpPr>
          <p:cNvPr id="37" name="Shape 35"/>
          <p:cNvSpPr/>
          <p:nvPr/>
        </p:nvSpPr>
        <p:spPr>
          <a:xfrm>
            <a:off x="4892040" y="4389120"/>
            <a:ext cx="3749040" cy="0"/>
          </a:xfrm>
          <a:prstGeom prst="line">
            <a:avLst/>
          </a:prstGeom>
          <a:noFill/>
          <a:ln w="9525">
            <a:solidFill>
              <a:srgbClr val="C7CDD2"/>
            </a:solidFill>
            <a:prstDash val="dash"/>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Goal Tracker / Seguimiento de Metas</a:t>
            </a:r>
            <a:endParaRPr lang="en-US" sz="1500" dirty="0"/>
          </a:p>
        </p:txBody>
      </p:sp>
      <p:sp>
        <p:nvSpPr>
          <p:cNvPr id="5" name="Text 3"/>
          <p:cNvSpPr/>
          <p:nvPr/>
        </p:nvSpPr>
        <p:spPr>
          <a:xfrm>
            <a:off x="7360920" y="100584"/>
            <a:ext cx="914400" cy="274320"/>
          </a:xfrm>
          <a:prstGeom prst="rect">
            <a:avLst>
              <a:gd name="adj" fmla="val 50000"/>
            </a:avLst>
          </a:prstGeom>
          <a:solidFill>
            <a:srgbClr val="B0883B"/>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6.RP.3b</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4  ·  Lesson 4-7</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12</a:t>
            </a:r>
            <a:endParaRPr lang="en-US" sz="800" dirty="0"/>
          </a:p>
        </p:txBody>
      </p:sp>
      <p:sp>
        <p:nvSpPr>
          <p:cNvPr id="17" name="Shape 15"/>
          <p:cNvSpPr/>
          <p:nvPr/>
        </p:nvSpPr>
        <p:spPr>
          <a:xfrm>
            <a:off x="411480" y="658368"/>
            <a:ext cx="8412480" cy="502920"/>
          </a:xfrm>
          <a:prstGeom prst="roundRect">
            <a:avLst>
              <a:gd name="adj" fmla="val 14545"/>
            </a:avLst>
          </a:prstGeom>
          <a:solidFill>
            <a:srgbClr val="17324D"/>
          </a:solidFill>
          <a:ln/>
        </p:spPr>
      </p:sp>
      <p:sp>
        <p:nvSpPr>
          <p:cNvPr id="18" name="Text 16"/>
          <p:cNvSpPr/>
          <p:nvPr/>
        </p:nvSpPr>
        <p:spPr>
          <a:xfrm>
            <a:off x="640080" y="658368"/>
            <a:ext cx="7955280" cy="502920"/>
          </a:xfrm>
          <a:prstGeom prst="rect">
            <a:avLst/>
          </a:prstGeom>
          <a:noFill/>
          <a:ln/>
        </p:spPr>
        <p:txBody>
          <a:bodyPr wrap="square" rtlCol="0" anchor="ctr"/>
          <a:lstStyle/>
          <a:p>
            <a:pPr indent="0" marL="0">
              <a:buNone/>
            </a:pPr>
            <a:r>
              <a:rPr lang="en-US" sz="1100" b="1" dirty="0">
                <a:solidFill>
                  <a:srgbClr val="F2C15B"/>
                </a:solidFill>
                <a:latin typeface="Hanken Grotesk" pitchFamily="34" charset="0"/>
                <a:ea typeface="Hanken Grotesk" pitchFamily="34" charset="-122"/>
                <a:cs typeface="Hanken Grotesk" pitchFamily="34" charset="-120"/>
              </a:rPr>
              <a:t>My Goal:  </a:t>
            </a:r>
            <a:pPr indent="0" marL="0">
              <a:buNone/>
            </a:pPr>
            <a:r>
              <a:rPr lang="en-US" sz="1100" dirty="0">
                <a:solidFill>
                  <a:srgbClr val="FFFFFF"/>
                </a:solidFill>
                <a:latin typeface="Hanken Grotesk" pitchFamily="34" charset="0"/>
                <a:ea typeface="Hanken Grotesk" pitchFamily="34" charset="-122"/>
                <a:cs typeface="Hanken Grotesk" pitchFamily="34" charset="-120"/>
              </a:rPr>
              <a:t>I can solve real-world problems by using unit rates to compare options.</a:t>
            </a:r>
            <a:endParaRPr lang="en-US" sz="1100" dirty="0"/>
          </a:p>
        </p:txBody>
      </p:sp>
      <p:sp>
        <p:nvSpPr>
          <p:cNvPr id="19" name="Shape 17"/>
          <p:cNvSpPr/>
          <p:nvPr/>
        </p:nvSpPr>
        <p:spPr>
          <a:xfrm>
            <a:off x="411480" y="1371600"/>
            <a:ext cx="1965960" cy="2377440"/>
          </a:xfrm>
          <a:prstGeom prst="roundRect">
            <a:avLst>
              <a:gd name="adj" fmla="val 3721"/>
            </a:avLst>
          </a:prstGeom>
          <a:solidFill>
            <a:srgbClr val="FCE6DE"/>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0" name="Shape 18"/>
          <p:cNvSpPr/>
          <p:nvPr/>
        </p:nvSpPr>
        <p:spPr>
          <a:xfrm>
            <a:off x="1138428" y="1508760"/>
            <a:ext cx="512064" cy="512064"/>
          </a:xfrm>
          <a:prstGeom prst="ellipse">
            <a:avLst/>
          </a:prstGeom>
          <a:solidFill>
            <a:srgbClr val="B0883B"/>
          </a:solidFill>
          <a:ln/>
        </p:spPr>
      </p:sp>
      <p:sp>
        <p:nvSpPr>
          <p:cNvPr id="21" name="Text 19"/>
          <p:cNvSpPr/>
          <p:nvPr/>
        </p:nvSpPr>
        <p:spPr>
          <a:xfrm>
            <a:off x="1138428" y="1508760"/>
            <a:ext cx="512064" cy="512064"/>
          </a:xfrm>
          <a:prstGeom prst="rect">
            <a:avLst/>
          </a:prstGeom>
          <a:noFill/>
          <a:ln/>
        </p:spPr>
        <p:txBody>
          <a:bodyPr wrap="square" rtlCol="0" anchor="ctr"/>
          <a:lstStyle/>
          <a:p>
            <a:pPr algn="ctr" indent="0" marL="0">
              <a:buNone/>
            </a:pPr>
            <a:r>
              <a:rPr lang="en-US" sz="2000" b="1" dirty="0">
                <a:solidFill>
                  <a:srgbClr val="FFFFFF"/>
                </a:solidFill>
                <a:latin typeface="Outfit" pitchFamily="34" charset="0"/>
                <a:ea typeface="Outfit" pitchFamily="34" charset="-122"/>
                <a:cs typeface="Outfit" pitchFamily="34" charset="-120"/>
              </a:rPr>
              <a:t>1</a:t>
            </a:r>
            <a:endParaRPr lang="en-US" sz="2000" dirty="0"/>
          </a:p>
        </p:txBody>
      </p:sp>
      <p:sp>
        <p:nvSpPr>
          <p:cNvPr id="22" name="Text 20"/>
          <p:cNvSpPr/>
          <p:nvPr/>
        </p:nvSpPr>
        <p:spPr>
          <a:xfrm>
            <a:off x="457200" y="2148840"/>
            <a:ext cx="1874520" cy="320040"/>
          </a:xfrm>
          <a:prstGeom prst="rect">
            <a:avLst/>
          </a:prstGeom>
          <a:noFill/>
          <a:ln/>
        </p:spPr>
        <p:txBody>
          <a:bodyPr wrap="square" rtlCol="0" anchor="ctr"/>
          <a:lstStyle/>
          <a:p>
            <a:pPr algn="ctr" indent="0" marL="0">
              <a:buNone/>
            </a:pPr>
            <a:r>
              <a:rPr lang="en-US" sz="1150" b="1" dirty="0">
                <a:solidFill>
                  <a:srgbClr val="17324D"/>
                </a:solidFill>
                <a:latin typeface="Outfit" pitchFamily="34" charset="0"/>
                <a:ea typeface="Outfit" pitchFamily="34" charset="-122"/>
                <a:cs typeface="Outfit" pitchFamily="34" charset="-120"/>
              </a:rPr>
              <a:t>Not Yet</a:t>
            </a:r>
            <a:endParaRPr lang="en-US" sz="1150" dirty="0"/>
          </a:p>
        </p:txBody>
      </p:sp>
      <p:sp>
        <p:nvSpPr>
          <p:cNvPr id="23" name="Text 21"/>
          <p:cNvSpPr/>
          <p:nvPr/>
        </p:nvSpPr>
        <p:spPr>
          <a:xfrm>
            <a:off x="521208" y="2514600"/>
            <a:ext cx="1746504" cy="1051560"/>
          </a:xfrm>
          <a:prstGeom prst="rect">
            <a:avLst/>
          </a:prstGeom>
          <a:noFill/>
          <a:ln/>
        </p:spPr>
        <p:txBody>
          <a:bodyPr wrap="square" rtlCol="0" anchor="t"/>
          <a:lstStyle/>
          <a:p>
            <a:pPr algn="ctr" indent="0" marL="0">
              <a:buNone/>
            </a:pPr>
            <a:r>
              <a:rPr lang="en-US" sz="900" dirty="0">
                <a:solidFill>
                  <a:srgbClr val="24323F"/>
                </a:solidFill>
                <a:latin typeface="Hanken Grotesk" pitchFamily="34" charset="0"/>
                <a:ea typeface="Hanken Grotesk" pitchFamily="34" charset="-122"/>
                <a:cs typeface="Hanken Grotesk" pitchFamily="34" charset="-120"/>
              </a:rPr>
              <a:t>I need more help. This does not make sense to me yet.</a:t>
            </a:r>
            <a:endParaRPr lang="en-US" sz="900" dirty="0"/>
          </a:p>
        </p:txBody>
      </p:sp>
      <p:sp>
        <p:nvSpPr>
          <p:cNvPr id="24" name="Text 22"/>
          <p:cNvSpPr/>
          <p:nvPr/>
        </p:nvSpPr>
        <p:spPr>
          <a:xfrm>
            <a:off x="457200" y="3520440"/>
            <a:ext cx="1874520" cy="182880"/>
          </a:xfrm>
          <a:prstGeom prst="rect">
            <a:avLst/>
          </a:prstGeom>
          <a:noFill/>
          <a:ln/>
        </p:spPr>
        <p:txBody>
          <a:bodyPr wrap="square" rtlCol="0" anchor="ctr"/>
          <a:lstStyle/>
          <a:p>
            <a:pPr algn="ctr" indent="0" marL="0">
              <a:buNone/>
            </a:pPr>
            <a:r>
              <a:rPr lang="en-US" sz="800" i="1" dirty="0">
                <a:solidFill>
                  <a:srgbClr val="8A96A3"/>
                </a:solidFill>
                <a:latin typeface="Hanken Grotesk" pitchFamily="34" charset="0"/>
                <a:ea typeface="Hanken Grotesk" pitchFamily="34" charset="-122"/>
                <a:cs typeface="Hanken Grotesk" pitchFamily="34" charset="-120"/>
              </a:rPr>
              <a:t>○ circle me</a:t>
            </a:r>
            <a:endParaRPr lang="en-US" sz="800" dirty="0"/>
          </a:p>
        </p:txBody>
      </p:sp>
      <p:sp>
        <p:nvSpPr>
          <p:cNvPr id="25" name="Shape 23"/>
          <p:cNvSpPr/>
          <p:nvPr/>
        </p:nvSpPr>
        <p:spPr>
          <a:xfrm>
            <a:off x="2560320" y="1371600"/>
            <a:ext cx="1965960" cy="2377440"/>
          </a:xfrm>
          <a:prstGeom prst="roundRect">
            <a:avLst>
              <a:gd name="adj" fmla="val 3721"/>
            </a:avLst>
          </a:prstGeom>
          <a:solidFill>
            <a:srgbClr val="FBEFD0"/>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6" name="Shape 24"/>
          <p:cNvSpPr/>
          <p:nvPr/>
        </p:nvSpPr>
        <p:spPr>
          <a:xfrm>
            <a:off x="3287268" y="1508760"/>
            <a:ext cx="512064" cy="512064"/>
          </a:xfrm>
          <a:prstGeom prst="ellipse">
            <a:avLst/>
          </a:prstGeom>
          <a:solidFill>
            <a:srgbClr val="B0883B"/>
          </a:solidFill>
          <a:ln/>
        </p:spPr>
      </p:sp>
      <p:sp>
        <p:nvSpPr>
          <p:cNvPr id="27" name="Text 25"/>
          <p:cNvSpPr/>
          <p:nvPr/>
        </p:nvSpPr>
        <p:spPr>
          <a:xfrm>
            <a:off x="3287268" y="1508760"/>
            <a:ext cx="512064" cy="512064"/>
          </a:xfrm>
          <a:prstGeom prst="rect">
            <a:avLst/>
          </a:prstGeom>
          <a:noFill/>
          <a:ln/>
        </p:spPr>
        <p:txBody>
          <a:bodyPr wrap="square" rtlCol="0" anchor="ctr"/>
          <a:lstStyle/>
          <a:p>
            <a:pPr algn="ctr" indent="0" marL="0">
              <a:buNone/>
            </a:pPr>
            <a:r>
              <a:rPr lang="en-US" sz="2000" b="1" dirty="0">
                <a:solidFill>
                  <a:srgbClr val="FFFFFF"/>
                </a:solidFill>
                <a:latin typeface="Outfit" pitchFamily="34" charset="0"/>
                <a:ea typeface="Outfit" pitchFamily="34" charset="-122"/>
                <a:cs typeface="Outfit" pitchFamily="34" charset="-120"/>
              </a:rPr>
              <a:t>2</a:t>
            </a:r>
            <a:endParaRPr lang="en-US" sz="2000" dirty="0"/>
          </a:p>
        </p:txBody>
      </p:sp>
      <p:sp>
        <p:nvSpPr>
          <p:cNvPr id="28" name="Text 26"/>
          <p:cNvSpPr/>
          <p:nvPr/>
        </p:nvSpPr>
        <p:spPr>
          <a:xfrm>
            <a:off x="2606040" y="2148840"/>
            <a:ext cx="1874520" cy="320040"/>
          </a:xfrm>
          <a:prstGeom prst="rect">
            <a:avLst/>
          </a:prstGeom>
          <a:noFill/>
          <a:ln/>
        </p:spPr>
        <p:txBody>
          <a:bodyPr wrap="square" rtlCol="0" anchor="ctr"/>
          <a:lstStyle/>
          <a:p>
            <a:pPr algn="ctr" indent="0" marL="0">
              <a:buNone/>
            </a:pPr>
            <a:r>
              <a:rPr lang="en-US" sz="1150" b="1" dirty="0">
                <a:solidFill>
                  <a:srgbClr val="17324D"/>
                </a:solidFill>
                <a:latin typeface="Outfit" pitchFamily="34" charset="0"/>
                <a:ea typeface="Outfit" pitchFamily="34" charset="-122"/>
                <a:cs typeface="Outfit" pitchFamily="34" charset="-120"/>
              </a:rPr>
              <a:t>Getting There</a:t>
            </a:r>
            <a:endParaRPr lang="en-US" sz="1150" dirty="0"/>
          </a:p>
        </p:txBody>
      </p:sp>
      <p:sp>
        <p:nvSpPr>
          <p:cNvPr id="29" name="Text 27"/>
          <p:cNvSpPr/>
          <p:nvPr/>
        </p:nvSpPr>
        <p:spPr>
          <a:xfrm>
            <a:off x="2670048" y="2514600"/>
            <a:ext cx="1746504" cy="1051560"/>
          </a:xfrm>
          <a:prstGeom prst="rect">
            <a:avLst/>
          </a:prstGeom>
          <a:noFill/>
          <a:ln/>
        </p:spPr>
        <p:txBody>
          <a:bodyPr wrap="square" rtlCol="0" anchor="t"/>
          <a:lstStyle/>
          <a:p>
            <a:pPr algn="ctr" indent="0" marL="0">
              <a:buNone/>
            </a:pPr>
            <a:r>
              <a:rPr lang="en-US" sz="900" dirty="0">
                <a:solidFill>
                  <a:srgbClr val="24323F"/>
                </a:solidFill>
                <a:latin typeface="Hanken Grotesk" pitchFamily="34" charset="0"/>
                <a:ea typeface="Hanken Grotesk" pitchFamily="34" charset="-122"/>
                <a:cs typeface="Hanken Grotesk" pitchFamily="34" charset="-120"/>
              </a:rPr>
              <a:t>I understand the idea but I make mistakes when I work.</a:t>
            </a:r>
            <a:endParaRPr lang="en-US" sz="900" dirty="0"/>
          </a:p>
        </p:txBody>
      </p:sp>
      <p:sp>
        <p:nvSpPr>
          <p:cNvPr id="30" name="Text 28"/>
          <p:cNvSpPr/>
          <p:nvPr/>
        </p:nvSpPr>
        <p:spPr>
          <a:xfrm>
            <a:off x="2606040" y="3520440"/>
            <a:ext cx="1874520" cy="182880"/>
          </a:xfrm>
          <a:prstGeom prst="rect">
            <a:avLst/>
          </a:prstGeom>
          <a:noFill/>
          <a:ln/>
        </p:spPr>
        <p:txBody>
          <a:bodyPr wrap="square" rtlCol="0" anchor="ctr"/>
          <a:lstStyle/>
          <a:p>
            <a:pPr algn="ctr" indent="0" marL="0">
              <a:buNone/>
            </a:pPr>
            <a:r>
              <a:rPr lang="en-US" sz="800" i="1" dirty="0">
                <a:solidFill>
                  <a:srgbClr val="8A96A3"/>
                </a:solidFill>
                <a:latin typeface="Hanken Grotesk" pitchFamily="34" charset="0"/>
                <a:ea typeface="Hanken Grotesk" pitchFamily="34" charset="-122"/>
                <a:cs typeface="Hanken Grotesk" pitchFamily="34" charset="-120"/>
              </a:rPr>
              <a:t>○ circle me</a:t>
            </a:r>
            <a:endParaRPr lang="en-US" sz="800" dirty="0"/>
          </a:p>
        </p:txBody>
      </p:sp>
      <p:sp>
        <p:nvSpPr>
          <p:cNvPr id="31" name="Shape 29"/>
          <p:cNvSpPr/>
          <p:nvPr/>
        </p:nvSpPr>
        <p:spPr>
          <a:xfrm>
            <a:off x="4709160" y="1371600"/>
            <a:ext cx="1965960" cy="2377440"/>
          </a:xfrm>
          <a:prstGeom prst="roundRect">
            <a:avLst>
              <a:gd name="adj" fmla="val 3721"/>
            </a:avLst>
          </a:prstGeom>
          <a:solidFill>
            <a:srgbClr val="DFF2EE"/>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32" name="Shape 30"/>
          <p:cNvSpPr/>
          <p:nvPr/>
        </p:nvSpPr>
        <p:spPr>
          <a:xfrm>
            <a:off x="5436108" y="1508760"/>
            <a:ext cx="512064" cy="512064"/>
          </a:xfrm>
          <a:prstGeom prst="ellipse">
            <a:avLst/>
          </a:prstGeom>
          <a:solidFill>
            <a:srgbClr val="B0883B"/>
          </a:solidFill>
          <a:ln/>
        </p:spPr>
      </p:sp>
      <p:sp>
        <p:nvSpPr>
          <p:cNvPr id="33" name="Text 31"/>
          <p:cNvSpPr/>
          <p:nvPr/>
        </p:nvSpPr>
        <p:spPr>
          <a:xfrm>
            <a:off x="5436108" y="1508760"/>
            <a:ext cx="512064" cy="512064"/>
          </a:xfrm>
          <a:prstGeom prst="rect">
            <a:avLst/>
          </a:prstGeom>
          <a:noFill/>
          <a:ln/>
        </p:spPr>
        <p:txBody>
          <a:bodyPr wrap="square" rtlCol="0" anchor="ctr"/>
          <a:lstStyle/>
          <a:p>
            <a:pPr algn="ctr" indent="0" marL="0">
              <a:buNone/>
            </a:pPr>
            <a:r>
              <a:rPr lang="en-US" sz="2000" b="1" dirty="0">
                <a:solidFill>
                  <a:srgbClr val="FFFFFF"/>
                </a:solidFill>
                <a:latin typeface="Outfit" pitchFamily="34" charset="0"/>
                <a:ea typeface="Outfit" pitchFamily="34" charset="-122"/>
                <a:cs typeface="Outfit" pitchFamily="34" charset="-120"/>
              </a:rPr>
              <a:t>3</a:t>
            </a:r>
            <a:endParaRPr lang="en-US" sz="2000" dirty="0"/>
          </a:p>
        </p:txBody>
      </p:sp>
      <p:sp>
        <p:nvSpPr>
          <p:cNvPr id="34" name="Text 32"/>
          <p:cNvSpPr/>
          <p:nvPr/>
        </p:nvSpPr>
        <p:spPr>
          <a:xfrm>
            <a:off x="4754880" y="2148840"/>
            <a:ext cx="1874520" cy="320040"/>
          </a:xfrm>
          <a:prstGeom prst="rect">
            <a:avLst/>
          </a:prstGeom>
          <a:noFill/>
          <a:ln/>
        </p:spPr>
        <p:txBody>
          <a:bodyPr wrap="square" rtlCol="0" anchor="ctr"/>
          <a:lstStyle/>
          <a:p>
            <a:pPr algn="ctr" indent="0" marL="0">
              <a:buNone/>
            </a:pPr>
            <a:r>
              <a:rPr lang="en-US" sz="1150" b="1" dirty="0">
                <a:solidFill>
                  <a:srgbClr val="17324D"/>
                </a:solidFill>
                <a:latin typeface="Outfit" pitchFamily="34" charset="0"/>
                <a:ea typeface="Outfit" pitchFamily="34" charset="-122"/>
                <a:cs typeface="Outfit" pitchFamily="34" charset="-120"/>
              </a:rPr>
              <a:t>Got It!</a:t>
            </a:r>
            <a:endParaRPr lang="en-US" sz="1150" dirty="0"/>
          </a:p>
        </p:txBody>
      </p:sp>
      <p:sp>
        <p:nvSpPr>
          <p:cNvPr id="35" name="Text 33"/>
          <p:cNvSpPr/>
          <p:nvPr/>
        </p:nvSpPr>
        <p:spPr>
          <a:xfrm>
            <a:off x="4818888" y="2514600"/>
            <a:ext cx="1746504" cy="1051560"/>
          </a:xfrm>
          <a:prstGeom prst="rect">
            <a:avLst/>
          </a:prstGeom>
          <a:noFill/>
          <a:ln/>
        </p:spPr>
        <p:txBody>
          <a:bodyPr wrap="square" rtlCol="0" anchor="t"/>
          <a:lstStyle/>
          <a:p>
            <a:pPr algn="ctr" indent="0" marL="0">
              <a:buNone/>
            </a:pPr>
            <a:r>
              <a:rPr lang="en-US" sz="900" dirty="0">
                <a:solidFill>
                  <a:srgbClr val="24323F"/>
                </a:solidFill>
                <a:latin typeface="Hanken Grotesk" pitchFamily="34" charset="0"/>
                <a:ea typeface="Hanken Grotesk" pitchFamily="34" charset="-122"/>
                <a:cs typeface="Hanken Grotesk" pitchFamily="34" charset="-120"/>
              </a:rPr>
              <a:t>I can solve problems on my own and explain my thinking.</a:t>
            </a:r>
            <a:endParaRPr lang="en-US" sz="900" dirty="0"/>
          </a:p>
        </p:txBody>
      </p:sp>
      <p:sp>
        <p:nvSpPr>
          <p:cNvPr id="36" name="Text 34"/>
          <p:cNvSpPr/>
          <p:nvPr/>
        </p:nvSpPr>
        <p:spPr>
          <a:xfrm>
            <a:off x="4754880" y="3520440"/>
            <a:ext cx="1874520" cy="182880"/>
          </a:xfrm>
          <a:prstGeom prst="rect">
            <a:avLst/>
          </a:prstGeom>
          <a:noFill/>
          <a:ln/>
        </p:spPr>
        <p:txBody>
          <a:bodyPr wrap="square" rtlCol="0" anchor="ctr"/>
          <a:lstStyle/>
          <a:p>
            <a:pPr algn="ctr" indent="0" marL="0">
              <a:buNone/>
            </a:pPr>
            <a:r>
              <a:rPr lang="en-US" sz="800" i="1" dirty="0">
                <a:solidFill>
                  <a:srgbClr val="8A96A3"/>
                </a:solidFill>
                <a:latin typeface="Hanken Grotesk" pitchFamily="34" charset="0"/>
                <a:ea typeface="Hanken Grotesk" pitchFamily="34" charset="-122"/>
                <a:cs typeface="Hanken Grotesk" pitchFamily="34" charset="-120"/>
              </a:rPr>
              <a:t>○ circle me</a:t>
            </a:r>
            <a:endParaRPr lang="en-US" sz="800" dirty="0"/>
          </a:p>
        </p:txBody>
      </p:sp>
      <p:sp>
        <p:nvSpPr>
          <p:cNvPr id="37" name="Shape 35"/>
          <p:cNvSpPr/>
          <p:nvPr/>
        </p:nvSpPr>
        <p:spPr>
          <a:xfrm>
            <a:off x="6858000" y="1371600"/>
            <a:ext cx="1965960" cy="2377440"/>
          </a:xfrm>
          <a:prstGeom prst="roundRect">
            <a:avLst>
              <a:gd name="adj" fmla="val 3721"/>
            </a:avLst>
          </a:prstGeom>
          <a:solidFill>
            <a:srgbClr val="EAF2F1"/>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38" name="Shape 36"/>
          <p:cNvSpPr/>
          <p:nvPr/>
        </p:nvSpPr>
        <p:spPr>
          <a:xfrm>
            <a:off x="7584948" y="1508760"/>
            <a:ext cx="512064" cy="512064"/>
          </a:xfrm>
          <a:prstGeom prst="ellipse">
            <a:avLst/>
          </a:prstGeom>
          <a:solidFill>
            <a:srgbClr val="B0883B"/>
          </a:solidFill>
          <a:ln/>
        </p:spPr>
      </p:sp>
      <p:sp>
        <p:nvSpPr>
          <p:cNvPr id="39" name="Text 37"/>
          <p:cNvSpPr/>
          <p:nvPr/>
        </p:nvSpPr>
        <p:spPr>
          <a:xfrm>
            <a:off x="7584948" y="1508760"/>
            <a:ext cx="512064" cy="512064"/>
          </a:xfrm>
          <a:prstGeom prst="rect">
            <a:avLst/>
          </a:prstGeom>
          <a:noFill/>
          <a:ln/>
        </p:spPr>
        <p:txBody>
          <a:bodyPr wrap="square" rtlCol="0" anchor="ctr"/>
          <a:lstStyle/>
          <a:p>
            <a:pPr algn="ctr" indent="0" marL="0">
              <a:buNone/>
            </a:pPr>
            <a:r>
              <a:rPr lang="en-US" sz="2000" b="1" dirty="0">
                <a:solidFill>
                  <a:srgbClr val="FFFFFF"/>
                </a:solidFill>
                <a:latin typeface="Outfit" pitchFamily="34" charset="0"/>
                <a:ea typeface="Outfit" pitchFamily="34" charset="-122"/>
                <a:cs typeface="Outfit" pitchFamily="34" charset="-120"/>
              </a:rPr>
              <a:t>4</a:t>
            </a:r>
            <a:endParaRPr lang="en-US" sz="2000" dirty="0"/>
          </a:p>
        </p:txBody>
      </p:sp>
      <p:sp>
        <p:nvSpPr>
          <p:cNvPr id="40" name="Text 38"/>
          <p:cNvSpPr/>
          <p:nvPr/>
        </p:nvSpPr>
        <p:spPr>
          <a:xfrm>
            <a:off x="6903720" y="2148840"/>
            <a:ext cx="1874520" cy="320040"/>
          </a:xfrm>
          <a:prstGeom prst="rect">
            <a:avLst/>
          </a:prstGeom>
          <a:noFill/>
          <a:ln/>
        </p:spPr>
        <p:txBody>
          <a:bodyPr wrap="square" rtlCol="0" anchor="ctr"/>
          <a:lstStyle/>
          <a:p>
            <a:pPr algn="ctr" indent="0" marL="0">
              <a:buNone/>
            </a:pPr>
            <a:r>
              <a:rPr lang="en-US" sz="1150" b="1" dirty="0">
                <a:solidFill>
                  <a:srgbClr val="17324D"/>
                </a:solidFill>
                <a:latin typeface="Outfit" pitchFamily="34" charset="0"/>
                <a:ea typeface="Outfit" pitchFamily="34" charset="-122"/>
                <a:cs typeface="Outfit" pitchFamily="34" charset="-120"/>
              </a:rPr>
              <a:t>Can Teach It</a:t>
            </a:r>
            <a:endParaRPr lang="en-US" sz="1150" dirty="0"/>
          </a:p>
        </p:txBody>
      </p:sp>
      <p:sp>
        <p:nvSpPr>
          <p:cNvPr id="41" name="Text 39"/>
          <p:cNvSpPr/>
          <p:nvPr/>
        </p:nvSpPr>
        <p:spPr>
          <a:xfrm>
            <a:off x="6967728" y="2514600"/>
            <a:ext cx="1746504" cy="1051560"/>
          </a:xfrm>
          <a:prstGeom prst="rect">
            <a:avLst/>
          </a:prstGeom>
          <a:noFill/>
          <a:ln/>
        </p:spPr>
        <p:txBody>
          <a:bodyPr wrap="square" rtlCol="0" anchor="t"/>
          <a:lstStyle/>
          <a:p>
            <a:pPr algn="ctr" indent="0" marL="0">
              <a:buNone/>
            </a:pPr>
            <a:r>
              <a:rPr lang="en-US" sz="900" dirty="0">
                <a:solidFill>
                  <a:srgbClr val="24323F"/>
                </a:solidFill>
                <a:latin typeface="Hanken Grotesk" pitchFamily="34" charset="0"/>
                <a:ea typeface="Hanken Grotesk" pitchFamily="34" charset="-122"/>
                <a:cs typeface="Hanken Grotesk" pitchFamily="34" charset="-120"/>
              </a:rPr>
              <a:t>I can clearly teach this strategy to a classmate.</a:t>
            </a:r>
            <a:endParaRPr lang="en-US" sz="900" dirty="0"/>
          </a:p>
        </p:txBody>
      </p:sp>
      <p:sp>
        <p:nvSpPr>
          <p:cNvPr id="42" name="Text 40"/>
          <p:cNvSpPr/>
          <p:nvPr/>
        </p:nvSpPr>
        <p:spPr>
          <a:xfrm>
            <a:off x="6903720" y="3520440"/>
            <a:ext cx="1874520" cy="182880"/>
          </a:xfrm>
          <a:prstGeom prst="rect">
            <a:avLst/>
          </a:prstGeom>
          <a:noFill/>
          <a:ln/>
        </p:spPr>
        <p:txBody>
          <a:bodyPr wrap="square" rtlCol="0" anchor="ctr"/>
          <a:lstStyle/>
          <a:p>
            <a:pPr algn="ctr" indent="0" marL="0">
              <a:buNone/>
            </a:pPr>
            <a:r>
              <a:rPr lang="en-US" sz="800" i="1" dirty="0">
                <a:solidFill>
                  <a:srgbClr val="8A96A3"/>
                </a:solidFill>
                <a:latin typeface="Hanken Grotesk" pitchFamily="34" charset="0"/>
                <a:ea typeface="Hanken Grotesk" pitchFamily="34" charset="-122"/>
                <a:cs typeface="Hanken Grotesk" pitchFamily="34" charset="-120"/>
              </a:rPr>
              <a:t>○ circle me</a:t>
            </a:r>
            <a:endParaRPr lang="en-US" sz="800" dirty="0"/>
          </a:p>
        </p:txBody>
      </p:sp>
      <p:sp>
        <p:nvSpPr>
          <p:cNvPr id="43" name="Shape 41"/>
          <p:cNvSpPr/>
          <p:nvPr/>
        </p:nvSpPr>
        <p:spPr>
          <a:xfrm>
            <a:off x="411480" y="3977640"/>
            <a:ext cx="8412480" cy="685800"/>
          </a:xfrm>
          <a:prstGeom prst="roundRect">
            <a:avLst>
              <a:gd name="adj" fmla="val 10667"/>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44" name="Text 42"/>
          <p:cNvSpPr/>
          <p:nvPr/>
        </p:nvSpPr>
        <p:spPr>
          <a:xfrm>
            <a:off x="640080" y="3977640"/>
            <a:ext cx="7955280" cy="685800"/>
          </a:xfrm>
          <a:prstGeom prst="rect">
            <a:avLst/>
          </a:prstGeom>
          <a:noFill/>
          <a:ln/>
        </p:spPr>
        <p:txBody>
          <a:bodyPr wrap="square" rtlCol="0" anchor="ctr"/>
          <a:lstStyle/>
          <a:p>
            <a:pPr indent="0" marL="0">
              <a:buNone/>
            </a:pPr>
            <a:r>
              <a:rPr lang="en-US" sz="1050" b="1" dirty="0">
                <a:solidFill>
                  <a:srgbClr val="B0883B"/>
                </a:solidFill>
                <a:latin typeface="Hanken Grotesk" pitchFamily="34" charset="0"/>
                <a:ea typeface="Hanken Grotesk" pitchFamily="34" charset="-122"/>
                <a:cs typeface="Hanken Grotesk" pitchFamily="34" charset="-120"/>
              </a:rPr>
              <a:t>My next step:  </a:t>
            </a:r>
            <a:pPr indent="0" marL="0">
              <a:buNone/>
            </a:pPr>
            <a:r>
              <a:rPr lang="en-US" sz="1050" dirty="0">
                <a:solidFill>
                  <a:srgbClr val="24323F"/>
                </a:solidFill>
                <a:latin typeface="Hanken Grotesk" pitchFamily="34" charset="0"/>
                <a:ea typeface="Hanken Grotesk" pitchFamily="34" charset="-122"/>
                <a:cs typeface="Hanken Grotesk" pitchFamily="34" charset="-120"/>
              </a:rPr>
              <a:t>To move up one level, I will ___.</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Neft Teacher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4-7: Solve Problems with Unit Rates</dc:title>
  <dc:subject>6.RP.3b</dc:subject>
  <dc:creator>Neft Teacher</dc:creator>
  <cp:lastModifiedBy>Neft Teacher</cp:lastModifiedBy>
  <cp:revision>1</cp:revision>
  <dcterms:created xsi:type="dcterms:W3CDTF">2026-06-08T12:10:58Z</dcterms:created>
  <dcterms:modified xsi:type="dcterms:W3CDTF">2026-06-08T12:10:58Z</dcterms:modified>
</cp:coreProperties>
</file>