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9" r:id="rId22"/>
    <p:sldId id="270" r:id="rId23"/>
    <p:sldId id="256" r:id="rId9"/>
    <p:sldId id="257" r:id="rId10"/>
    <p:sldId id="260" r:id="rId13"/>
    <p:sldId id="324" r:id="rId67"/>
    <p:sldId id="320" r:id="rId63"/>
    <p:sldId id="319" r:id="rId29"/>
    <p:sldId id="318" r:id="rId44"/>
    <p:sldId id="317" r:id="rId43"/>
    <p:sldId id="316" r:id="rId30"/>
    <p:sldId id="315" r:id="rId41"/>
    <p:sldId id="314" r:id="rId31"/>
    <p:sldId id="313" r:id="rId32"/>
    <p:sldId id="312" r:id="rId34"/>
    <p:sldId id="261" r:id="rId14"/>
    <p:sldId id="274" r:id="rId27"/>
    <p:sldId id="275" r:id="rId28"/>
    <p:sldId id="280" r:id="rId33"/>
    <p:sldId id="283" r:id="rId36"/>
    <p:sldId id="285" r:id="rId38"/>
    <p:sldId id="286" r:id="rId39"/>
    <p:sldId id="321" r:id="rId64"/>
    <p:sldId id="311" r:id="rId37"/>
    <p:sldId id="308" r:id="rId61"/>
    <p:sldId id="325" r:id="rId68"/>
    <p:sldId id="309" r:id="rId62"/>
    <p:sldId id="287" r:id="rId40"/>
    <p:sldId id="289" r:id="rId42"/>
    <p:sldId id="292" r:id="rId45"/>
    <p:sldId id="293" r:id="rId46"/>
    <p:sldId id="295" r:id="rId48"/>
    <p:sldId id="326" r:id="rId69"/>
    <p:sldId id="300" r:id="rId53"/>
    <p:sldId id="301" r:id="rId54"/>
    <p:sldId id="303" r:id="rId56"/>
    <p:sldId id="304" r:id="rId57"/>
    <p:sldId id="322" r:id="rId65"/>
    <p:sldId id="310" r:id="rId35"/>
    <p:sldId id="305" r:id="rId58"/>
    <p:sldId id="306" r:id="rId59"/>
    <p:sldId id="307" r:id="rId60"/>
    <p:sldId id="323" r:id="rId66"/>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6.xml"/><Relationship Id="rId22" Type="http://schemas.openxmlformats.org/officeDocument/2006/relationships/slide" Target="slides/slide2.xml"/><Relationship Id="rId23" Type="http://schemas.openxmlformats.org/officeDocument/2006/relationships/slide" Target="slides/slide3.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8.xml"/><Relationship Id="rId30" Type="http://schemas.openxmlformats.org/officeDocument/2006/relationships/slide" Target="slides/slide11.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9.xml"/><Relationship Id="rId34" Type="http://schemas.openxmlformats.org/officeDocument/2006/relationships/slide" Target="slides/slide15.xml"/><Relationship Id="rId35" Type="http://schemas.openxmlformats.org/officeDocument/2006/relationships/slide" Target="slides/slide37.xml"/><Relationship Id="rId36" Type="http://schemas.openxmlformats.org/officeDocument/2006/relationships/slide" Target="slides/slide20.xml"/><Relationship Id="rId37" Type="http://schemas.openxmlformats.org/officeDocument/2006/relationships/slide" Target="slides/slide24.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7.xml"/><Relationship Id="rId41" Type="http://schemas.openxmlformats.org/officeDocument/2006/relationships/slide" Target="slides/slide12.xml"/><Relationship Id="rId42" Type="http://schemas.openxmlformats.org/officeDocument/2006/relationships/slide" Target="slides/slide28.xml"/><Relationship Id="rId43" Type="http://schemas.openxmlformats.org/officeDocument/2006/relationships/slide" Target="slides/slide10.xml"/><Relationship Id="rId44" Type="http://schemas.openxmlformats.org/officeDocument/2006/relationships/slide" Target="slides/slide9.xml"/><Relationship Id="rId45" Type="http://schemas.openxmlformats.org/officeDocument/2006/relationships/slide" Target="slides/slide29.xml"/><Relationship Id="rId46" Type="http://schemas.openxmlformats.org/officeDocument/2006/relationships/slide" Target="slides/slide30.xml"/><Relationship Id="rId48" Type="http://schemas.openxmlformats.org/officeDocument/2006/relationships/slide" Target="slides/slide31.xml"/><Relationship Id="rId53" Type="http://schemas.openxmlformats.org/officeDocument/2006/relationships/slide" Target="slides/slide32.xml"/><Relationship Id="rId54"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8.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25.xml"/><Relationship Id="rId62" Type="http://schemas.openxmlformats.org/officeDocument/2006/relationships/slide" Target="slides/slide26.xml"/><Relationship Id="rId63" Type="http://schemas.openxmlformats.org/officeDocument/2006/relationships/slide" Target="slides/slide7.xml"/><Relationship Id="rId64" Type="http://schemas.openxmlformats.org/officeDocument/2006/relationships/slide" Target="slides/slide23.xml"/><Relationship Id="rId65" Type="http://schemas.openxmlformats.org/officeDocument/2006/relationships/slide" Target="slides/slide36.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4 | DIVIDER</a:t>
            </a:r>
          </a:p>
          <a:p xmlns:a="http://schemas.openxmlformats.org/drawingml/2006/main">
            <a:pPr>
              <a:buNone/>
            </a:pPr>
            <a:r>
              <a:rPr lang="en-US" sz="1100"/>
              <a:t>Focus on the existing task: Write and Evaluate Numerical Expressions with Exponents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5 | WORKED</a:t>
            </a:r>
          </a:p>
          <a:p xmlns:a="http://schemas.openxmlformats.org/drawingml/2006/main">
            <a:pPr>
              <a:buNone/>
            </a:pPr>
            <a:r>
              <a:rPr lang="en-US" sz="1100"/>
              <a:t>Focus on the existing task: Or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1 | WARMUP</a:t>
            </a:r>
          </a:p>
          <a:p xmlns:a="http://schemas.openxmlformats.org/drawingml/2006/main">
            <a:pPr>
              <a:buNone/>
            </a:pPr>
            <a:r>
              <a:rPr lang="en-US" sz="1100"/>
              <a:t>Focus on the existing task: Warm-Up WARM-UP · THINK • TRY •…</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9   2) 23   3) 4   4) 4 × 7</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translate the situation; respect grouping and exponents; justify operation order. Review recent work and today’s warm-up to choose flexible groups and access supports; do not infer needs from identity or perceived ability. Use the existing lesson tasks and stated standards.</a:t>
            </a:r>
          </a:p>
          <a:p>
            <a:pPr>
              <a:buNone/>
            </a:pPr>
            <a:r>
              <a:rPr lang="en-US" sz="1100"/>
              <a:t>Anticipate: applying operations strictly left to right regardless of grouping. If observed, annotate grouping and powers in the original expression before evaluating one stage at a time.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6 | GOAL</a:t>
            </a:r>
          </a:p>
          <a:p xmlns:a="http://schemas.openxmlformats.org/drawingml/2006/main">
            <a:pPr>
              <a:buNone/>
            </a:pPr>
            <a:r>
              <a:rPr lang="en-US" sz="1100"/>
              <a:t>Focus on the existing task: Today’s Objectives Write and…</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translate the situation; respect grouping and exponents; justify operation order. Ask: “Which part of your work would show this?” Revisit that evidence after the task; a confidence rating alone is not evidence of understanding.</a:t>
            </a:r>
          </a:p>
        </p:txBody>
      </p:sp>
      <p:sp>
        <p:nvSpPr>
          <p:cNvPr id="331" name="Google Shape;331;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16 | VOCAB</a:t>
            </a:r>
          </a:p>
          <a:p xmlns:a="http://schemas.openxmlformats.org/drawingml/2006/main">
            <a:pPr>
              <a:buNone/>
            </a:pPr>
            <a:r>
              <a:rPr lang="en-US" sz="1100"/>
              <a:t>Focus on the existing task: Vocabulary Today’s Math Words We…</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3" name="Google Shape;353;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 | NOTES</a:t>
            </a:r>
          </a:p>
          <a:p xmlns:a="http://schemas.openxmlformats.org/drawingml/2006/main">
            <a:pPr>
              <a:buNone/>
            </a:pPr>
            <a:r>
              <a:rPr lang="en-US" sz="1100"/>
              <a:t>Focus on the existing task: Today’s Math Notes Section 1: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9" name="Google Shape;51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 | NOTES</a:t>
            </a:r>
          </a:p>
          <a:p xmlns:a="http://schemas.openxmlformats.org/drawingml/2006/main">
            <a:pPr>
              <a:buNone/>
            </a:pPr>
            <a:r>
              <a:rPr lang="en-US" sz="1100"/>
              <a:t>Focus on the existing task: Today’s Math Notes Section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17 | REVEAL</a:t>
            </a:r>
          </a:p>
          <a:p xmlns:a="http://schemas.openxmlformats.org/drawingml/2006/main">
            <a:pPr>
              <a:buNone/>
            </a:pPr>
            <a:r>
              <a:rPr lang="en-US" sz="1100"/>
              <a:t>Focus on the existing task: Sofia is buying tickets for two members, four non-members, and eight students. What expression could Sofia use to find the cost of the tickets?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structure tells you what to evaluate first, and how would parentheses change the meaning?” Wait for evidence, invite another pathway, and have a student ask a follow-up question. Do not replace students’ reasoning with a sequence of leading steps.</a:t>
            </a:r>
          </a:p>
        </p:txBody>
      </p:sp>
      <p:sp>
        <p:nvSpPr>
          <p:cNvPr id="600" name="Google Shape;600;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18 | REVEAL</a:t>
            </a:r>
          </a:p>
          <a:p xmlns:a="http://schemas.openxmlformats.org/drawingml/2006/main">
            <a:pPr>
              <a:buNone/>
            </a:pPr>
            <a:r>
              <a:rPr lang="en-US" sz="1100"/>
              <a:t>Focus on the existing task: How can you represent the cost for each of the ticket types?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a numerical expression for each of the ticket types.</a:t>
            </a:r>
          </a:p>
          <a:p>
            <a:pPr indent="0" lvl="0" marL="0" rtl="0" algn="l">
              <a:lnSpc>
                <a:spcPct val="100000"/>
              </a:lnSpc>
              <a:spcBef>
                <a:spcPts val="0"/>
              </a:spcBef>
              <a:spcAft>
                <a:spcPts val="0"/>
              </a:spcAft>
              <a:buSzPts val="1400"/>
              <a:buNone/>
            </a:pPr>
            <a:r>
              <a:t>UIFR: TEACH 3 · TEACH 4.</a:t>
            </a:r>
          </a:p>
        </p:txBody>
      </p:sp>
      <p:sp>
        <p:nvSpPr>
          <p:cNvPr id="609" name="Google Shape;609;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19 | COLLABORATE</a:t>
            </a:r>
          </a:p>
          <a:p xmlns:a="http://schemas.openxmlformats.org/drawingml/2006/main">
            <a:pPr>
              <a:buNone/>
            </a:pPr>
            <a:r>
              <a:rPr lang="en-US" sz="1100"/>
              <a:t>Focus on the existing task: Collaborate and Connect Reveal: We can add the expressions for the costs of the three different ticket types. How can you represent the total cost of the tickets?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applying operations strictly left to right regardless of grouping. If it appears, annotate grouping and powers in the original expression before evaluating one stage at a time; then ask the student to revise the same response and explain the change. If evidence is secure, have students compare a second valid pathway or state why their approach works. Choose the next step from the responses, not a preset pace.</a:t>
            </a:r>
          </a:p>
        </p:txBody>
      </p:sp>
      <p:sp>
        <p:nvSpPr>
          <p:cNvPr id="652" name="Google Shape;652;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20 | REVEAL</a:t>
            </a:r>
          </a:p>
          <a:p xmlns:a="http://schemas.openxmlformats.org/drawingml/2006/main">
            <a:pPr>
              <a:buNone/>
            </a:pPr>
            <a:r>
              <a:rPr lang="en-US" sz="1100"/>
              <a:t>Focus on the existing task: Reveal: We can write it as a power. Theater Ticket Prices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it as a power.</a:t>
            </a:r>
          </a:p>
          <a:p>
            <a:pPr indent="0" lvl="0" marL="0" rtl="0" algn="l">
              <a:lnSpc>
                <a:spcPct val="100000"/>
              </a:lnSpc>
              <a:spcBef>
                <a:spcPts val="0"/>
              </a:spcBef>
              <a:spcAft>
                <a:spcPts val="0"/>
              </a:spcAft>
              <a:buSzPts val="1400"/>
              <a:buNone/>
            </a:pPr>
            <a:r>
              <a:t>UIFR: TEACH 3 · TEACH 4.</a:t>
            </a:r>
          </a:p>
        </p:txBody>
      </p:sp>
      <p:sp>
        <p:nvSpPr>
          <p:cNvPr id="682" name="Google Shape;682;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21 | TASK</a:t>
            </a:r>
          </a:p>
          <a:p xmlns:a="http://schemas.openxmlformats.org/drawingml/2006/main">
            <a:pPr>
              <a:buNone/>
            </a:pPr>
            <a:r>
              <a:rPr lang="en-US" sz="1100"/>
              <a:t>Focus on the existing task: Sofia is buying tickets for two members, four non-members, and eight students. What expression could Sofia use to find the cost of the tickets?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98" name="Google Shape;698;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22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09" name="Google Shape;709;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27 | DIVIDER</a:t>
            </a:r>
          </a:p>
          <a:p xmlns:a="http://schemas.openxmlformats.org/drawingml/2006/main">
            <a:pPr>
              <a:buNone/>
            </a:pPr>
            <a:r>
              <a:rPr lang="en-US" sz="1100"/>
              <a:t>Focus on the existing task: Write and Evaluate Numerical Expressions with Exponents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15" name="Google Shape;715;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28 | CURIOUS</a:t>
            </a:r>
          </a:p>
          <a:p xmlns:a="http://schemas.openxmlformats.org/drawingml/2006/main">
            <a:pPr>
              <a:buNone/>
            </a:pPr>
            <a:r>
              <a:rPr lang="en-US" sz="1100"/>
              <a:t>Focus on the existing task: Be Curious Mindset Why has it been important to explain your thinking clearly and concisely?</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735" name="Google Shape;735;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29 | COLLABORATE</a:t>
            </a:r>
          </a:p>
          <a:p xmlns:a="http://schemas.openxmlformats.org/drawingml/2006/main">
            <a:pPr>
              <a:buNone/>
            </a:pPr>
            <a:r>
              <a:rPr lang="en-US" sz="1100"/>
              <a:t>Focus on the existing task: Let’s evaluate the expression and compare it to Miguel’s and Margaret’s work. How can you determine which operation to perform first when evaluating an expression?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justify operation order.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767" name="Google Shape;767;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30 | COLLABORATE</a:t>
            </a:r>
          </a:p>
          <a:p xmlns:a="http://schemas.openxmlformats.org/drawingml/2006/main">
            <a:pPr>
              <a:buNone/>
            </a:pPr>
            <a:r>
              <a:rPr lang="en-US" sz="1100"/>
              <a:t>Focus on the existing task: Collaborate and Connect Reveal: We can use the order of operations. Let’s evaluate the expression and compare it to Miguel’s and…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justify operation order.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777" name="Google Shape;777;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31 | REVEAL</a:t>
            </a:r>
          </a:p>
          <a:p xmlns:a="http://schemas.openxmlformats.org/drawingml/2006/main">
            <a:pPr>
              <a:buNone/>
            </a:pPr>
            <a:r>
              <a:rPr lang="en-US" sz="1100"/>
              <a:t>Focus on the existing task: Reveal: There are parentheses, a power, multiplication, addition, and subtraction. Which Way To Go?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justify operation order.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parentheses, a power, multiplication, addition, and subtraction.</a:t>
            </a:r>
          </a:p>
          <a:p>
            <a:pPr indent="0" lvl="0" marL="0" rtl="0" algn="l">
              <a:lnSpc>
                <a:spcPct val="100000"/>
              </a:lnSpc>
              <a:spcBef>
                <a:spcPts val="0"/>
              </a:spcBef>
              <a:spcAft>
                <a:spcPts val="0"/>
              </a:spcAft>
              <a:buSzPts val="1400"/>
              <a:buNone/>
            </a:pPr>
            <a:r>
              <a:t>UIFR: TEACH 3 · TEACH 4.</a:t>
            </a:r>
          </a:p>
        </p:txBody>
      </p:sp>
      <p:sp>
        <p:nvSpPr>
          <p:cNvPr id="796" name="Google Shape;796;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32 | REVEAL</a:t>
            </a:r>
          </a:p>
          <a:p xmlns:a="http://schemas.openxmlformats.org/drawingml/2006/main">
            <a:pPr>
              <a:buNone/>
            </a:pPr>
            <a:r>
              <a:rPr lang="en-US" sz="1100"/>
              <a:t>Focus on the existing task: Which Way To Go?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justify operation order.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840" name="Google Shape;840;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33 | REVEAL</a:t>
            </a:r>
          </a:p>
          <a:p xmlns:a="http://schemas.openxmlformats.org/drawingml/2006/main">
            <a:pPr>
              <a:buNone/>
            </a:pPr>
            <a:r>
              <a:rPr lang="en-US" sz="1100"/>
              <a:t>Focus on the existing task: Which Way To Go?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justify operation order.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51" name="Google Shape;851;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34 | TASK</a:t>
            </a:r>
          </a:p>
          <a:p xmlns:a="http://schemas.openxmlformats.org/drawingml/2006/main">
            <a:pPr>
              <a:buNone/>
            </a:pPr>
            <a:r>
              <a:rPr lang="en-US" sz="1100"/>
              <a:t>Focus on the existing task: How is this problem like something you have done before?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73" name="Google Shape;873;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35 | PRACTICE</a:t>
            </a:r>
          </a:p>
          <a:p xmlns:a="http://schemas.openxmlformats.org/drawingml/2006/main">
            <a:pPr>
              <a:buNone/>
            </a:pPr>
            <a:r>
              <a:rPr lang="en-US" sz="1100"/>
              <a:t>Focus on the existing task: Let’s Explore More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85" name="Google Shape;885;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38 | SUMMARIZE</a:t>
            </a:r>
          </a:p>
          <a:p xmlns:a="http://schemas.openxmlformats.org/drawingml/2006/main">
            <a:pPr>
              <a:buNone/>
            </a:pPr>
            <a:r>
              <a:rPr lang="en-US" sz="1100"/>
              <a:t>Focus on the existing task: Summarize: Write and Evaluate Numerical Expressions with Exponents The order of operations are rules that tell which operation to perform…</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891" name="Google Shape;891;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39 | APPLY</a:t>
            </a:r>
          </a:p>
          <a:p xmlns:a="http://schemas.openxmlformats.org/drawingml/2006/main">
            <a:pPr>
              <a:buNone/>
            </a:pPr>
            <a:r>
              <a:rPr lang="en-US" sz="1100"/>
              <a:t>Focus on the existing task: Apply: Missing Parentheses?</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translate the situation; respect grouping and exponents; justify operation order. Respond with one specific next step tied to the work. Students revise and annotate what changed, then identify a criterion they can now demonstrate and one they still need to practice.</a:t>
            </a:r>
          </a:p>
        </p:txBody>
      </p:sp>
      <p:sp>
        <p:nvSpPr>
          <p:cNvPr id="899" name="Google Shape;899;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6.4, slide 40 | REFLECTION</a:t>
            </a:r>
          </a:p>
          <a:p xmlns:a="http://schemas.openxmlformats.org/drawingml/2006/main">
            <a:pPr>
              <a:buNone/>
            </a:pPr>
            <a:r>
              <a:rPr lang="en-US" sz="1100"/>
              <a:t>Focus on the existing task: I can evaluate numerical expressions using the correct order of operations. I can make sense of problems to write numerical expressions.…</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applying operations strictly left to right regardless of grouping.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annotate grouping and powers in the original expression before evaluating one stage at a time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07" name="Google Shape;907;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6.4, slide 25 | WARMUP</a:t>
            </a:r>
          </a:p>
          <a:p xmlns:a="http://schemas.openxmlformats.org/drawingml/2006/main">
            <a:pPr>
              <a:buNone/>
            </a:pPr>
            <a:r>
              <a:rPr lang="en-US" sz="1100"/>
              <a:t>Focus on the existing task: A Addition B Parentheses / Grouping C Multiplication D Exponents 2 What is the value of 2 + 3 × 4?</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6.4, slide 26 | NOTES</a:t>
            </a:r>
          </a:p>
          <a:p xmlns:a="http://schemas.openxmlformats.org/drawingml/2006/main">
            <a:pPr>
              <a:buNone/>
            </a:pPr>
            <a:r>
              <a:rPr lang="en-US" sz="1100"/>
              <a:t>Focus on the existing task: Review Notes — Session 2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7 | PRIOR_INSERT</a:t>
            </a:r>
          </a:p>
          <a:p xmlns:a="http://schemas.openxmlformats.org/drawingml/2006/main">
            <a:pPr>
              <a:buNone/>
            </a:pPr>
            <a:r>
              <a:rPr lang="en-US" sz="1100"/>
              <a:t>Focus on the existing task: LESSON 6.4 / OUR LEARNING What will show your learning?</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8 | VOCAB</a:t>
            </a:r>
          </a:p>
          <a:p xmlns:a="http://schemas.openxmlformats.org/drawingml/2006/main">
            <a:pPr>
              <a:buNone/>
            </a:pPr>
            <a:r>
              <a:rPr lang="en-US" sz="1100"/>
              <a:t>Focus on the existing task: Vocabulary 1 of 7 Write and…</a:t>
            </a:r>
          </a:p>
          <a:p xmlns:a="http://schemas.openxmlformats.org/drawingml/2006/main">
            <a:pPr>
              <a:buNone/>
            </a:pPr>
            <a:r>
              <a:rPr lang="en-US" sz="1100"/>
              <a:t>ASK (T1/3/5): Where does “Write and Evaluate Numerical Expressions with Exponents”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9 | VOCAB</a:t>
            </a:r>
          </a:p>
          <a:p xmlns:a="http://schemas.openxmlformats.org/drawingml/2006/main">
            <a:pPr>
              <a:buNone/>
            </a:pPr>
            <a:r>
              <a:rPr lang="en-US" sz="1100"/>
              <a:t>Focus on the existing task: Vocabulary 2 of 7 Numerical…</a:t>
            </a:r>
          </a:p>
          <a:p xmlns:a="http://schemas.openxmlformats.org/drawingml/2006/main">
            <a:pPr>
              <a:buNone/>
            </a:pPr>
            <a:r>
              <a:rPr lang="en-US" sz="1100"/>
              <a:t>ASK (T1/3/5): Where does “Numerical expression”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10 | VOCAB</a:t>
            </a:r>
          </a:p>
          <a:p xmlns:a="http://schemas.openxmlformats.org/drawingml/2006/main">
            <a:pPr>
              <a:buNone/>
            </a:pPr>
            <a:r>
              <a:rPr lang="en-US" sz="1100"/>
              <a:t>Focus on the existing task: Vocabulary 3 of 7 Evaluate To find…</a:t>
            </a:r>
          </a:p>
          <a:p xmlns:a="http://schemas.openxmlformats.org/drawingml/2006/main">
            <a:pPr>
              <a:buNone/>
            </a:pPr>
            <a:r>
              <a:rPr lang="en-US" sz="1100"/>
              <a:t>ASK (T1/3/5): Where does “Evaluate”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11 | VOCAB</a:t>
            </a:r>
          </a:p>
          <a:p xmlns:a="http://schemas.openxmlformats.org/drawingml/2006/main">
            <a:pPr>
              <a:buNone/>
            </a:pPr>
            <a:r>
              <a:rPr lang="en-US" sz="1100"/>
              <a:t>Focus on the existing task: Vocabulary 4 of 7 Order of…</a:t>
            </a:r>
          </a:p>
          <a:p xmlns:a="http://schemas.openxmlformats.org/drawingml/2006/main">
            <a:pPr>
              <a:buNone/>
            </a:pPr>
            <a:r>
              <a:rPr lang="en-US" sz="1100"/>
              <a:t>ASK (T1/3/5): Where does “Order of operations”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12 | VOCAB</a:t>
            </a:r>
          </a:p>
          <a:p xmlns:a="http://schemas.openxmlformats.org/drawingml/2006/main">
            <a:pPr>
              <a:buNone/>
            </a:pPr>
            <a:r>
              <a:rPr lang="en-US" sz="1100"/>
              <a:t>Focus on the existing task: Vocabulary 5 of 7 Power A short…</a:t>
            </a:r>
          </a:p>
          <a:p xmlns:a="http://schemas.openxmlformats.org/drawingml/2006/main">
            <a:pPr>
              <a:buNone/>
            </a:pPr>
            <a:r>
              <a:rPr lang="en-US" sz="1100"/>
              <a:t>ASK (T1/3/5): Where does “Power”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13 | VOCAB</a:t>
            </a:r>
          </a:p>
          <a:p xmlns:a="http://schemas.openxmlformats.org/drawingml/2006/main">
            <a:pPr>
              <a:buNone/>
            </a:pPr>
            <a:r>
              <a:rPr lang="en-US" sz="1100"/>
              <a:t>Focus on the existing task: Vocabulary 6 of 7 Base In a power…</a:t>
            </a:r>
          </a:p>
          <a:p xmlns:a="http://schemas.openxmlformats.org/drawingml/2006/main">
            <a:pPr>
              <a:buNone/>
            </a:pPr>
            <a:r>
              <a:rPr lang="en-US" sz="1100"/>
              <a:t>ASK (T1/3/5): Where does “Base”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14 | VOCAB</a:t>
            </a:r>
          </a:p>
          <a:p xmlns:a="http://schemas.openxmlformats.org/drawingml/2006/main">
            <a:pPr>
              <a:buNone/>
            </a:pPr>
            <a:r>
              <a:rPr lang="en-US" sz="1100"/>
              <a:t>Focus on the existing task: Vocabulary 7 of 7 Exponent In a…</a:t>
            </a:r>
          </a:p>
          <a:p xmlns:a="http://schemas.openxmlformats.org/drawingml/2006/main">
            <a:pPr>
              <a:buNone/>
            </a:pPr>
            <a:r>
              <a:rPr lang="en-US" sz="1100"/>
              <a:t>ASK (T1/3/5): Where does “Exponent”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15 | CURIOUS</a:t>
            </a:r>
          </a:p>
          <a:p xmlns:a="http://schemas.openxmlformats.org/drawingml/2006/main">
            <a:pPr>
              <a:buNone/>
            </a:pPr>
            <a:r>
              <a:rPr lang="en-US" sz="1100"/>
              <a:t>Focus on the existing task: Be Curious Mindset Why is it important to explain your thinking clearly and concisely?</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23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24 | COLLABORATE</a:t>
            </a:r>
          </a:p>
          <a:p xmlns:a="http://schemas.openxmlformats.org/drawingml/2006/main">
            <a:pPr>
              <a:buNone/>
            </a:pPr>
            <a:r>
              <a:rPr lang="en-US" sz="1100"/>
              <a:t>Focus on the existing task: Collaborate and Connect Reveal: We can add the expressions for the costs of the three different ticket types. How can you represent the total cost of the tickets?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the situation.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36 | PRIOR_INSERT</a:t>
            </a:r>
          </a:p>
          <a:p xmlns:a="http://schemas.openxmlformats.org/drawingml/2006/main">
            <a:pPr>
              <a:buNone/>
            </a:pPr>
            <a:r>
              <a:rPr lang="en-US" sz="1100"/>
              <a:t>Focus on the existing task: LESSON 6.4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37 | COLLABORATE</a:t>
            </a:r>
          </a:p>
          <a:p xmlns:a="http://schemas.openxmlformats.org/drawingml/2006/main">
            <a:pPr>
              <a:buNone/>
            </a:pPr>
            <a:r>
              <a:rPr lang="en-US" sz="1100"/>
              <a:t>Focus on the existing task: Collaborate and Connect Reveal: We can use the order of operations. Let’s evaluate the expression and compare it to Miguel’s and…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justify operation order. Ask which feature of their work supports the claim.</a:t>
            </a:r>
          </a:p>
          <a:p xmlns:a="http://schemas.openxmlformats.org/drawingml/2006/main">
            <a:pPr>
              <a:buNone/>
            </a:pPr>
            <a:r>
              <a:rPr lang="en-US" sz="1100"/>
              <a:t>RESPOND: If this task shows the lesson misconception—applying operations strictly left to right regardless of grouping—annotate grouping and powers in the original expression before evaluating one stage at a time.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6.4, slide 41 | PRIOR_INSERT</a:t>
            </a:r>
          </a:p>
          <a:p xmlns:a="http://schemas.openxmlformats.org/drawingml/2006/main">
            <a:pPr>
              <a:buNone/>
            </a:pPr>
            <a:r>
              <a:rPr lang="en-US" sz="1100"/>
              <a:t>Focus on the existing task: LESSON 6.4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translate the situation; respect grouping and exponents; justify operation order.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Evaluate Numerical Expressions with Exponents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Evaluate Numerical Expressions with Exponents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5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notesSlide" Target="../notesSlides/notesSlide6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4.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20.png"/><Relationship Id="rId4" Type="http://schemas.openxmlformats.org/officeDocument/2006/relationships/notesSlide" Target="../notesSlides/notesSlide6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6-4 · Write and Evaluate Numerical Expressions with Exponents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3² =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3 + 2² × 5 =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24/(4 + 2) =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Write “the product of 4 and 7” in symbols: ______</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44</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4" name="Google Shape;52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525" name="Google Shape;52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7" name="Google Shape;52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8" name="Google Shape;52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0" name="Google Shape;530;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3" name="Google Shape;533;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Write and Evaluate Numerical Expressions with Exponents</a:t>
            </a:r>
            <a:endParaRPr/>
          </a:p>
        </p:txBody>
      </p:sp>
      <p:sp>
        <p:nvSpPr>
          <p:cNvPr id="534" name="Google Shape;534;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Turning a situation into a number sentence without an equal sign</a:t>
            </a:r>
            <a:endParaRPr/>
          </a:p>
        </p:txBody>
      </p:sp>
      <p:sp>
        <p:nvSpPr>
          <p:cNvPr id="535" name="Google Shape;535;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Numerical expression</a:t>
            </a:r>
            <a:endParaRPr/>
          </a:p>
        </p:txBody>
      </p:sp>
      <p:sp>
        <p:nvSpPr>
          <p:cNvPr id="539" name="Google Shape;539;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math phrase built from numbers and operations</a:t>
            </a:r>
            <a:endParaRPr/>
          </a:p>
        </p:txBody>
      </p:sp>
      <p:sp>
        <p:nvSpPr>
          <p:cNvPr id="540" name="Google Shape;540;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3" name="Google Shape;543;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Evaluate</a:t>
            </a:r>
            <a:endParaRPr/>
          </a:p>
        </p:txBody>
      </p:sp>
      <p:sp>
        <p:nvSpPr>
          <p:cNvPr id="544" name="Google Shape;544;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To find the single value an expression is worth by carrying</a:t>
            </a:r>
            <a:endParaRPr/>
          </a:p>
        </p:txBody>
      </p:sp>
      <p:sp>
        <p:nvSpPr>
          <p:cNvPr id="5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44</a:t>
            </a:r>
          </a:p>
        </p:txBody>
      </p:sp>
      <p:grpSp>
        <p:nvGrpSpPr>
          <p:cNvPr id="546" name="TEACH-1-student-move" descr="TEACH 1 · Facilitate clear, standards-based content learning"/>
          <p:cNvGrpSpPr/>
          <p:nvPr/>
        </p:nvGrpSpPr>
        <p:grpSpPr>
          <a:xfrm>
            <a:off x="6187440" y="1682496"/>
            <a:ext cx="5501640" cy="594360"/>
            <a:chOff x="6187440" y="1682496"/>
            <a:chExt cx="5501640" cy="594360"/>
          </a:xfrm>
        </p:grpSpPr>
        <p:sp>
          <p:nvSpPr>
            <p:cNvPr id="54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2" name="Google Shape;552;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553" name="Google Shape;553;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5" name="Google Shape;555;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56" name="Google Shape;556;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8" name="Google Shape;558;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Order of Operations (PEMDAS)</a:t>
            </a:r>
            <a:endParaRPr/>
          </a:p>
        </p:txBody>
      </p:sp>
      <p:sp>
        <p:nvSpPr>
          <p:cNvPr id="560" name="Google Shape;560;p54"/>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54"/>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2" name="Google Shape;562;p54"/>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Grouping Symbols: </a:t>
            </a:r>
            <a:r>
              <a:rPr b="1" i="0" lang="en-US" sz="1600" u="none" cap="none" strike="noStrike">
                <a:solidFill>
                  <a:srgbClr val="14223A"/>
                </a:solidFill>
                <a:latin typeface="Arial"/>
                <a:ea typeface="Arial"/>
                <a:cs typeface="Arial"/>
                <a:sym typeface="Arial"/>
              </a:rPr>
              <a:t xml:space="preserve">Parentheses</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brackets</a:t>
            </a:r>
            <a:r>
              <a:rPr b="0" i="0" lang="en-US" sz="1600" u="none" cap="none" strike="noStrike">
                <a:solidFill>
                  <a:srgbClr val="14223A"/>
                </a:solidFill>
                <a:latin typeface="Arial"/>
                <a:ea typeface="Arial"/>
                <a:cs typeface="Arial"/>
                <a:sym typeface="Arial"/>
              </a:rPr>
              <a:t xml:space="preserve">, fraction bars inner to outer</a:t>
            </a:r>
            <a:endParaRPr/>
          </a:p>
        </p:txBody>
      </p:sp>
      <p:sp>
        <p:nvSpPr>
          <p:cNvPr id="563" name="Google Shape;563;p54"/>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54"/>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5" name="Google Shape;565;p54"/>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Exponents: </a:t>
            </a:r>
            <a:r>
              <a:rPr b="1" i="0" lang="en-US" sz="1600" u="none" cap="none" strike="noStrike">
                <a:solidFill>
                  <a:srgbClr val="14223A"/>
                </a:solidFill>
                <a:latin typeface="Arial"/>
                <a:ea typeface="Arial"/>
                <a:cs typeface="Arial"/>
                <a:sym typeface="Arial"/>
              </a:rPr>
              <a:t xml:space="preserve">Evaluate</a:t>
            </a:r>
            <a:r>
              <a:rPr b="0" i="0" lang="en-US" sz="1600" u="none" cap="none" strike="noStrike">
                <a:solidFill>
                  <a:srgbClr val="14223A"/>
                </a:solidFill>
                <a:latin typeface="Arial"/>
                <a:ea typeface="Arial"/>
                <a:cs typeface="Arial"/>
                <a:sym typeface="Arial"/>
              </a:rPr>
              <a:t xml:space="preserve"> all powers</a:t>
            </a:r>
            <a:endParaRPr/>
          </a:p>
        </p:txBody>
      </p:sp>
      <p:sp>
        <p:nvSpPr>
          <p:cNvPr id="566" name="Google Shape;566;p54"/>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p54"/>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68" name="Google Shape;568;p54"/>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Multiply &amp; Divide left to right; Add &amp; Subtract left to right</a:t>
            </a:r>
            <a:endParaRPr/>
          </a:p>
        </p:txBody>
      </p:sp>
      <p:sp>
        <p:nvSpPr>
          <p:cNvPr id="56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44</a:t>
            </a:r>
          </a:p>
        </p:txBody>
      </p:sp>
      <p:grpSp>
        <p:nvGrpSpPr>
          <p:cNvPr id="570" name="TEACH-1-student-move" descr="TEACH 1 · Facilitate clear, standards-based content learning"/>
          <p:cNvGrpSpPr/>
          <p:nvPr/>
        </p:nvGrpSpPr>
        <p:grpSpPr>
          <a:xfrm>
            <a:off x="502920" y="5111496"/>
            <a:ext cx="11186160" cy="402336"/>
            <a:chOff x="502920" y="5111496"/>
            <a:chExt cx="11186160" cy="402336"/>
          </a:xfrm>
        </p:grpSpPr>
        <p:sp>
          <p:nvSpPr>
            <p:cNvPr id="571"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72"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73"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Evaluate Numerical Expressions with Exponents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44</a:t>
            </a:r>
          </a:p>
        </p:txBody>
      </p:sp>
      <p:grpSp>
        <p:nvGrpSpPr>
          <p:cNvPr id="23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Or You Could</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507712" y="1349431"/>
            <a:ext cx="6275473" cy="165977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44</a:t>
            </a:r>
          </a:p>
        </p:txBody>
      </p:sp>
      <p:sp xmlns:p="http://schemas.openxmlformats.org/presentationml/2006/main" xmlns:a="http://schemas.openxmlformats.org/drawingml/2006/main">
        <p:nvSpPr>
          <p:cNvPr id="2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Write and Evaluate Numerical Expressions with Exponents</a:t>
            </a:r>
            <a:endParaRPr/>
          </a:p>
        </p:txBody>
      </p:sp>
      <p:sp>
        <p:nvSpPr>
          <p:cNvPr id="340" name="Google Shape;340;p44"/>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6.AT.6c</a:t>
            </a:r>
            <a:endParaRPr/>
          </a:p>
        </p:txBody>
      </p:sp>
      <p:sp>
        <p:nvSpPr>
          <p:cNvPr id="341" name="Google Shape;341;p44"/>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450" u="none" cap="none" strike="noStrike">
                <a:solidFill>
                  <a:srgbClr val="14223A"/>
                </a:solidFill>
                <a:latin typeface="Arial"/>
                <a:ea typeface="Arial"/>
                <a:cs typeface="Arial"/>
                <a:sym typeface="Arial"/>
              </a:rPr>
              <a:t>I can write numerical expressions from a real situation and evaluate them using the order of operations, including powers.</a:t>
            </a:r>
            <a:endParaRPr/>
          </a:p>
        </p:txBody>
      </p:sp>
      <p:sp>
        <p:nvSpPr>
          <p:cNvPr id="346" name="Google Shape;346;p44"/>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steps using the words expression, evaluate, order of operations, base, and exponent.</a:t>
            </a:r>
            <a:endParaRPr/>
          </a:p>
        </p:txBody>
      </p:sp>
      <p:sp>
        <p:nvSpPr>
          <p:cNvPr id="3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Translate the situation.</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Respect grouping and exponents.</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Justify operation order.</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5" name="Google Shape;395;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8" name="Google Shape;398;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399" name="Google Shape;399;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1" name="Google Shape;401;p46"/>
          <p:cNvSpPr txBox="1"/>
          <p:nvPr/>
        </p:nvSpPr>
        <p:spPr>
          <a:xfrm>
            <a:off x="640080" y="1476756"/>
            <a:ext cx="5897880" cy="111556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300" u="none" cap="none" strike="noStrike">
                <a:solidFill>
                  <a:srgbClr val="14223A"/>
                </a:solidFill>
                <a:latin typeface="Arial"/>
                <a:ea typeface="Arial"/>
                <a:cs typeface="Arial"/>
                <a:sym typeface="Arial"/>
              </a:rPr>
              <a:t>Write and Evaluate Numerical Expressions with Exponents</a:t>
            </a:r>
            <a:endParaRPr/>
          </a:p>
        </p:txBody>
      </p:sp>
      <p:sp>
        <p:nvSpPr>
          <p:cNvPr id="402" name="Google Shape;402;p46"/>
          <p:cNvSpPr/>
          <p:nvPr/>
        </p:nvSpPr>
        <p:spPr>
          <a:xfrm>
            <a:off x="658368" y="2811780"/>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640080" y="3172968"/>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Turning a situation into a number sentence without an equal sign, then finding its value in the correct order.</a:t>
            </a:r>
            <a:endParaRPr/>
          </a:p>
        </p:txBody>
      </p:sp>
      <p:sp>
        <p:nvSpPr>
          <p:cNvPr id="404" name="Google Shape;404;p46"/>
          <p:cNvSpPr/>
          <p:nvPr/>
        </p:nvSpPr>
        <p:spPr>
          <a:xfrm>
            <a:off x="640080" y="464972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p:nvPr/>
        </p:nvSpPr>
        <p:spPr>
          <a:xfrm>
            <a:off x="640080" y="464972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txBox="1"/>
          <p:nvPr/>
        </p:nvSpPr>
        <p:spPr>
          <a:xfrm>
            <a:off x="932688" y="482346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7" name="Google Shape;407;p46"/>
          <p:cNvSpPr txBox="1"/>
          <p:nvPr/>
        </p:nvSpPr>
        <p:spPr>
          <a:xfrm>
            <a:off x="932688" y="512521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2 × 15 + 4 × 20 + 8 × 2³ = 174</a:t>
            </a:r>
            <a:endParaRPr/>
          </a:p>
        </p:txBody>
      </p:sp>
      <p:pic>
        <p:nvPicPr>
          <p:cNvPr descr="expression.png" id="408" name="Google Shape;408;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44</a:t>
            </a:r>
          </a:p>
        </p:txBody>
      </p:sp>
      <p:grpSp>
        <p:nvGrpSpPr>
          <p:cNvPr id="409" name="TEACH-5-student-move" descr="TEACH 5 · Facilitate student interactions and academic talk"/>
          <p:cNvGrpSpPr/>
          <p:nvPr/>
        </p:nvGrpSpPr>
        <p:grpSpPr>
          <a:xfrm>
            <a:off x="502920" y="5737860"/>
            <a:ext cx="11186160" cy="457200"/>
            <a:chOff x="502920" y="5737860"/>
            <a:chExt cx="11186160" cy="457200"/>
          </a:xfrm>
        </p:grpSpPr>
        <p:sp>
          <p:nvSpPr>
            <p:cNvPr id="410" name="TEACH-move-card"/>
            <p:cNvSpPr/>
            <p:nvPr/>
          </p:nvSpPr>
          <p:spPr>
            <a:xfrm>
              <a:off x="502920" y="57378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411" name="TEACH-move-rule"/>
            <p:cNvSpPr/>
            <p:nvPr/>
          </p:nvSpPr>
          <p:spPr>
            <a:xfrm>
              <a:off x="548640" y="5824728"/>
              <a:ext cx="100584" cy="283464"/>
            </a:xfrm>
            <a:prstGeom prst="roundRect">
              <a:avLst>
                <a:gd name="adj" fmla="val 50000"/>
              </a:avLst>
            </a:prstGeom>
            <a:solidFill>
              <a:srgbClr val="01708C"/>
            </a:solidFill>
            <a:ln>
              <a:noFill/>
            </a:ln>
          </p:spPr>
          <p:txBody>
            <a:bodyPr/>
            <a:lstStyle/>
            <a:p>
              <a:endParaRPr/>
            </a:p>
          </p:txBody>
        </p:sp>
        <p:sp>
          <p:nvSpPr>
            <p:cNvPr id="412" name="TEACH-move-text"/>
            <p:cNvSpPr txBox="1"/>
            <p:nvPr/>
          </p:nvSpPr>
          <p:spPr>
            <a:xfrm>
              <a:off x="822960" y="57378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Numerical expression</a:t>
            </a:r>
            <a:endParaRPr/>
          </a:p>
        </p:txBody>
      </p:sp>
      <p:sp>
        <p:nvSpPr>
          <p:cNvPr id="420" name="Google Shape;420;p47"/>
          <p:cNvSpPr/>
          <p:nvPr/>
        </p:nvSpPr>
        <p:spPr>
          <a:xfrm>
            <a:off x="658368" y="273786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phrase built from numbers and operations, with no equal sign and no variable.</a:t>
            </a:r>
            <a:endParaRPr/>
          </a:p>
        </p:txBody>
      </p:sp>
      <p:sp>
        <p:nvSpPr>
          <p:cNvPr id="422" name="Google Shape;422;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 × 20 is an expression; 4 × 20 = 80 is an equation</a:t>
            </a:r>
            <a:endParaRPr/>
          </a:p>
        </p:txBody>
      </p:sp>
      <p:pic>
        <p:nvPicPr>
          <p:cNvPr descr="expression.png" id="426" name="Google Shape;42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44</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“Numerical expression”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4" name="Google Shape;43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435" name="Google Shape;43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Evaluate</a:t>
            </a:r>
            <a:endParaRPr/>
          </a:p>
        </p:txBody>
      </p:sp>
      <p:sp>
        <p:nvSpPr>
          <p:cNvPr id="438" name="Google Shape;438;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find the single value an expression is worth by carrying out its operations in order.</a:t>
            </a:r>
            <a:endParaRPr/>
          </a:p>
        </p:txBody>
      </p:sp>
      <p:sp>
        <p:nvSpPr>
          <p:cNvPr id="440" name="Google Shape;440;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Evaluate 3 + 2 × 4 → 3 + 8 = 11</a:t>
            </a:r>
            <a:endParaRPr/>
          </a:p>
        </p:txBody>
      </p:sp>
      <p:pic>
        <p:nvPicPr>
          <p:cNvPr descr="expression.png" id="444" name="Google Shape;444;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44</a:t>
            </a: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“Evaluate”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4 of 7</a:t>
            </a:r>
            <a:endParaRPr/>
          </a:p>
        </p:txBody>
      </p:sp>
      <p:sp>
        <p:nvSpPr>
          <p:cNvPr id="452" name="Google Shape;452;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453" name="Google Shape;453;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49"/>
          <p:cNvSpPr txBox="1"/>
          <p:nvPr/>
        </p:nvSpPr>
        <p:spPr>
          <a:xfrm>
            <a:off x="640080" y="1550669"/>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Order of operations</a:t>
            </a:r>
            <a:endParaRPr/>
          </a:p>
        </p:txBody>
      </p:sp>
      <p:sp>
        <p:nvSpPr>
          <p:cNvPr id="456" name="Google Shape;456;p49"/>
          <p:cNvSpPr/>
          <p:nvPr/>
        </p:nvSpPr>
        <p:spPr>
          <a:xfrm>
            <a:off x="658368" y="2385822"/>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640080" y="2747010"/>
            <a:ext cx="5897880" cy="1408176"/>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agreed order for evaluating: grouping symbols, then exponents, then multiply and divide left to right, then add and subtract left to right.</a:t>
            </a:r>
            <a:endParaRPr/>
          </a:p>
        </p:txBody>
      </p:sp>
      <p:sp>
        <p:nvSpPr>
          <p:cNvPr id="458" name="Google Shape;458;p49"/>
          <p:cNvSpPr/>
          <p:nvPr/>
        </p:nvSpPr>
        <p:spPr>
          <a:xfrm>
            <a:off x="640080" y="4575810"/>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p:nvPr/>
        </p:nvSpPr>
        <p:spPr>
          <a:xfrm>
            <a:off x="640080" y="4575810"/>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932688" y="4749546"/>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49"/>
          <p:cNvSpPr txBox="1"/>
          <p:nvPr/>
        </p:nvSpPr>
        <p:spPr>
          <a:xfrm>
            <a:off x="932688" y="5051297"/>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3 + 4 × 2² → 3 + 4 × 4 → 3 + 16 = 19</a:t>
            </a:r>
            <a:endParaRPr/>
          </a:p>
        </p:txBody>
      </p:sp>
      <p:pic>
        <p:nvPicPr>
          <p:cNvPr descr="operation.png" id="462" name="Google Shape;462;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44</a:t>
            </a:r>
          </a:p>
        </p:txBody>
      </p:sp>
      <p:grpSp>
        <p:nvGrpSpPr>
          <p:cNvPr id="463" name="TEACH-5-student-move" descr="TEACH 5 · Facilitate student interactions and academic talk"/>
          <p:cNvGrpSpPr/>
          <p:nvPr/>
        </p:nvGrpSpPr>
        <p:grpSpPr>
          <a:xfrm>
            <a:off x="502920" y="5751576"/>
            <a:ext cx="11186160" cy="548640"/>
            <a:chOff x="502920" y="5751576"/>
            <a:chExt cx="11186160" cy="548640"/>
          </a:xfrm>
        </p:grpSpPr>
        <p:sp>
          <p:nvSpPr>
            <p:cNvPr id="46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6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6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0" name="Google Shape;470;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471" name="Google Shape;471;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0"/>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Power</a:t>
            </a:r>
            <a:endParaRPr/>
          </a:p>
        </p:txBody>
      </p:sp>
      <p:sp>
        <p:nvSpPr>
          <p:cNvPr id="474" name="Google Shape;474;p50"/>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short way to write repeated multiplication of the same factor, such as 2³ for 2 × 2 × 2.</a:t>
            </a:r>
            <a:endParaRPr/>
          </a:p>
        </p:txBody>
      </p:sp>
      <p:sp>
        <p:nvSpPr>
          <p:cNvPr id="476" name="Google Shape;476;p50"/>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0"/>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2³ = 2 × 2 × 2 = 8</a:t>
            </a:r>
            <a:endParaRPr/>
          </a:p>
        </p:txBody>
      </p:sp>
      <p:pic>
        <p:nvPicPr>
          <p:cNvPr descr="exponent.png" id="480" name="Google Shape;480;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44</a:t>
            </a: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“Power”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5" name="Google Shape;485;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8" name="Google Shape;488;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489" name="Google Shape;489;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a:t>
            </a:r>
            <a:endParaRPr/>
          </a:p>
        </p:txBody>
      </p:sp>
      <p:sp>
        <p:nvSpPr>
          <p:cNvPr id="492" name="Google Shape;492;p51"/>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In a power, the number being multiplied by itself. In 2³ the base is 2.</a:t>
            </a:r>
            <a:endParaRPr/>
          </a:p>
        </p:txBody>
      </p:sp>
      <p:sp>
        <p:nvSpPr>
          <p:cNvPr id="494" name="Google Shape;494;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7" name="Google Shape;497;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2³ — the 2 is the base</a:t>
            </a:r>
            <a:endParaRPr/>
          </a:p>
        </p:txBody>
      </p:sp>
      <p:pic>
        <p:nvPicPr>
          <p:cNvPr descr="exponent-base.png" id="498" name="Google Shape;498;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44</a:t>
            </a:r>
          </a:p>
        </p:txBody>
      </p:sp>
      <p:sp xmlns:p="http://schemas.openxmlformats.org/presentationml/2006/main" xmlns:a="http://schemas.openxmlformats.org/drawingml/2006/main">
        <p:nvSpPr>
          <p:cNvPr id="49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3" name="Google Shape;503;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6" name="Google Shape;506;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507" name="Google Shape;507;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9" name="Google Shape;509;p52"/>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Exponent</a:t>
            </a:r>
            <a:endParaRPr/>
          </a:p>
        </p:txBody>
      </p:sp>
      <p:sp>
        <p:nvSpPr>
          <p:cNvPr id="510" name="Google Shape;510;p52"/>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In a power, the small raised number that says how many times the base is used as a factor.</a:t>
            </a:r>
            <a:endParaRPr/>
          </a:p>
        </p:txBody>
      </p:sp>
      <p:sp>
        <p:nvSpPr>
          <p:cNvPr id="512" name="Google Shape;512;p52"/>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5" name="Google Shape;515;p52"/>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2³ — the 3 is the exponent</a:t>
            </a:r>
            <a:endParaRPr/>
          </a:p>
        </p:txBody>
      </p:sp>
      <p:pic>
        <p:nvPicPr>
          <p:cNvPr descr="exponent.png" id="516" name="Google Shape;516;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44</a:t>
            </a:r>
          </a:p>
        </p:txBody>
      </p:sp>
      <p:sp xmlns:p="http://schemas.openxmlformats.org/presentationml/2006/main" xmlns:a="http://schemas.openxmlformats.org/drawingml/2006/main">
        <p:nvSpPr>
          <p:cNvPr id="51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“Exponent” to explain 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83" name="Google Shape;583;p56"/>
          <p:cNvPicPr preferRelativeResize="0"/>
          <p:nvPr/>
        </p:nvPicPr>
        <p:blipFill rotWithShape="1">
          <a:blip r:embed="rId2">
            <a:alphaModFix/>
          </a:blip>
          <a:srcRect b="0" l="0" r="0" t="0"/>
          <a:stretch/>
        </p:blipFill>
        <p:spPr>
          <a:xfrm>
            <a:off x="474056" y="4560403"/>
            <a:ext cx="5054600" cy="838200"/>
          </a:xfrm>
          <a:prstGeom prst="rect">
            <a:avLst/>
          </a:prstGeom>
          <a:noFill/>
          <a:ln>
            <a:noFill/>
          </a:ln>
        </p:spPr>
      </p:pic>
      <p:cxnSp>
        <p:nvCxnSpPr>
          <p:cNvPr id="584" name="Google Shape;584;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5" name="Google Shape;585;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86" name="Google Shape;586;p56"/>
          <p:cNvSpPr txBox="1"/>
          <p:nvPr/>
        </p:nvSpPr>
        <p:spPr>
          <a:xfrm>
            <a:off x="3170328" y="4718576"/>
            <a:ext cx="1701849"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87" name="Google Shape;587;p56"/>
          <p:cNvSpPr/>
          <p:nvPr/>
        </p:nvSpPr>
        <p:spPr>
          <a:xfrm>
            <a:off x="642381" y="5376581"/>
            <a:ext cx="5520294"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Why is it important to explain your thinking clearly and concisely?</a:t>
            </a:r>
            <a:endParaRPr b="0" i="0" sz="1400" u="none" cap="none" strike="noStrike">
              <a:solidFill>
                <a:srgbClr val="000000"/>
              </a:solidFill>
              <a:latin typeface="Arial"/>
              <a:ea typeface="Arial"/>
              <a:cs typeface="Arial"/>
              <a:sym typeface="Arial"/>
            </a:endParaRPr>
          </a:p>
        </p:txBody>
      </p:sp>
      <p:sp>
        <p:nvSpPr>
          <p:cNvPr id="588" name="Google Shape;588;p56"/>
          <p:cNvSpPr txBox="1"/>
          <p:nvPr/>
        </p:nvSpPr>
        <p:spPr>
          <a:xfrm>
            <a:off x="474056" y="936100"/>
            <a:ext cx="4551764" cy="11255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589" name="Google Shape;589;p56"/>
          <p:cNvPicPr preferRelativeResize="0"/>
          <p:nvPr/>
        </p:nvPicPr>
        <p:blipFill rotWithShape="1">
          <a:blip r:embed="rId3">
            <a:alphaModFix/>
          </a:blip>
          <a:srcRect b="0" l="0" r="0" t="0"/>
          <a:stretch/>
        </p:blipFill>
        <p:spPr>
          <a:xfrm>
            <a:off x="6623733" y="1306732"/>
            <a:ext cx="5287363" cy="5040000"/>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44</a:t>
            </a:r>
          </a:p>
        </p:txBody>
      </p:sp>
      <p:sp xmlns:p="http://schemas.openxmlformats.org/presentationml/2006/main" xmlns:a="http://schemas.openxmlformats.org/drawingml/2006/main">
        <p:nvSpPr>
          <p:cNvPr id="590" name="TEACH-embedded-student-prompt" descr="Student thinking and response directions"/>
          <p:cNvSpPr txBox="1"/>
          <p:nvPr/>
        </p:nvSpPr>
        <p:spPr>
          <a:xfrm>
            <a:off x="594360" y="3675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00" u="none" cap="none" strike="noStrike">
                <a:solidFill>
                  <a:srgbClr val="14223A"/>
                </a:solidFill>
                <a:latin typeface="Arial"/>
                <a:ea typeface="Arial"/>
                <a:cs typeface="Arial"/>
                <a:sym typeface="Arial"/>
              </a:rPr>
              <a:t>Write and Evaluate Numerical Expressions with Exponents</a:t>
            </a:r>
            <a:endParaRPr/>
          </a:p>
        </p:txBody>
      </p:sp>
      <p:sp>
        <p:nvSpPr>
          <p:cNvPr id="366" name="Google Shape;366;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Turning a situation into a number sentence without an equal sign, then finding its value in the correct order</a:t>
            </a:r>
            <a:endParaRPr/>
          </a:p>
        </p:txBody>
      </p:sp>
      <p:sp>
        <p:nvSpPr>
          <p:cNvPr id="367" name="Google Shape;367;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Numerical expression</a:t>
            </a:r>
            <a:endParaRPr/>
          </a:p>
        </p:txBody>
      </p:sp>
      <p:sp>
        <p:nvSpPr>
          <p:cNvPr id="370" name="Google Shape;370;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math phrase built from numbers and operations, with no equal sign and no variable</a:t>
            </a:r>
            <a:endParaRPr/>
          </a:p>
        </p:txBody>
      </p:sp>
      <p:sp>
        <p:nvSpPr>
          <p:cNvPr id="371" name="Google Shape;371;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Evaluate</a:t>
            </a:r>
            <a:endParaRPr/>
          </a:p>
        </p:txBody>
      </p:sp>
      <p:sp>
        <p:nvSpPr>
          <p:cNvPr id="374" name="Google Shape;374;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To find the single value an expression is worth by carrying out its operations in order</a:t>
            </a:r>
            <a:endParaRPr/>
          </a:p>
        </p:txBody>
      </p:sp>
      <p:sp>
        <p:nvSpPr>
          <p:cNvPr id="375" name="Google Shape;375;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Order of operations</a:t>
            </a:r>
            <a:endParaRPr/>
          </a:p>
        </p:txBody>
      </p:sp>
      <p:sp>
        <p:nvSpPr>
          <p:cNvPr id="378" name="Google Shape;378;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The agreed order for evaluating: grouping symbols, then exponents, then multiply and divide left to right, then add and subtract left to right</a:t>
            </a:r>
            <a:endParaRPr/>
          </a:p>
        </p:txBody>
      </p:sp>
      <p:sp>
        <p:nvSpPr>
          <p:cNvPr id="379" name="Google Shape;379;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Power</a:t>
            </a:r>
            <a:endParaRPr/>
          </a:p>
        </p:txBody>
      </p:sp>
      <p:sp>
        <p:nvSpPr>
          <p:cNvPr id="382" name="Google Shape;382;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short way to write repeated multiplication of the same factor, such as 2³ for 2 × 2 × 2</a:t>
            </a:r>
            <a:endParaRPr/>
          </a:p>
        </p:txBody>
      </p:sp>
      <p:sp>
        <p:nvSpPr>
          <p:cNvPr id="383" name="Google Shape;383;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Base</a:t>
            </a:r>
            <a:endParaRPr/>
          </a:p>
        </p:txBody>
      </p:sp>
      <p:sp>
        <p:nvSpPr>
          <p:cNvPr id="386" name="Google Shape;386;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In a power, the number being multiplied by itself</a:t>
            </a:r>
            <a:endParaRPr/>
          </a:p>
        </p:txBody>
      </p:sp>
      <p:sp>
        <p:nvSpPr>
          <p:cNvPr id="387" name="Google Shape;387;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Exponent</a:t>
            </a:r>
            <a:endParaRPr/>
          </a:p>
        </p:txBody>
      </p:sp>
      <p:sp>
        <p:nvSpPr>
          <p:cNvPr id="390" name="Google Shape;390;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In a power, the small raised number that says how many times the base is used as a factor</a:t>
            </a:r>
            <a:endParaRPr/>
          </a:p>
        </p:txBody>
      </p:sp>
      <p:sp>
        <p:nvSpPr>
          <p:cNvPr id="3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44</a:t>
            </a:r>
          </a:p>
        </p:txBody>
      </p:sp>
      <p:sp xmlns:p="http://schemas.openxmlformats.org/presentationml/2006/main" xmlns:a="http://schemas.openxmlformats.org/drawingml/2006/main">
        <p:nvSpPr>
          <p:cNvPr id="392"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cxnSp>
        <p:nvCxnSpPr>
          <p:cNvPr id="602" name="Google Shape;602;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3" name="Google Shape;603;p58"/>
          <p:cNvSpPr txBox="1"/>
          <p:nvPr/>
        </p:nvSpPr>
        <p:spPr>
          <a:xfrm>
            <a:off x="484565" y="936099"/>
            <a:ext cx="6795124" cy="3627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Sofia is buying tickets for two members, four non-members, and eight students. What expression could Sofia use to find the cost of the tickets?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represent the cost for each of the ticket types?</a:t>
            </a:r>
            <a:endParaRPr b="0" i="0" sz="1400" u="none" cap="none" strike="noStrike">
              <a:solidFill>
                <a:srgbClr val="000000"/>
              </a:solidFill>
              <a:latin typeface="Arial"/>
              <a:ea typeface="Arial"/>
              <a:cs typeface="Arial"/>
              <a:sym typeface="Arial"/>
            </a:endParaRPr>
          </a:p>
        </p:txBody>
      </p:sp>
      <p:pic>
        <p:nvPicPr>
          <p:cNvPr id="604" name="Google Shape;604;p58"/>
          <p:cNvPicPr preferRelativeResize="0"/>
          <p:nvPr/>
        </p:nvPicPr>
        <p:blipFill rotWithShape="1">
          <a:blip r:embed="rId3">
            <a:alphaModFix/>
          </a:blip>
          <a:srcRect b="0" l="0" r="0" t="0"/>
          <a:stretch/>
        </p:blipFill>
        <p:spPr>
          <a:xfrm>
            <a:off x="8065572" y="1574569"/>
            <a:ext cx="3641863" cy="2700000"/>
          </a:xfrm>
          <a:prstGeom prst="rect">
            <a:avLst/>
          </a:prstGeom>
          <a:noFill/>
          <a:ln>
            <a:noFill/>
          </a:ln>
        </p:spPr>
      </p:pic>
      <p:sp>
        <p:nvSpPr>
          <p:cNvPr id="605" name="Google Shape;605;p58"/>
          <p:cNvSpPr txBox="1"/>
          <p:nvPr/>
        </p:nvSpPr>
        <p:spPr>
          <a:xfrm>
            <a:off x="531479" y="4828136"/>
            <a:ext cx="9610047" cy="1484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06" name="Google Shape;606;p58"/>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Theater Ticket Prices​</a:t>
            </a:r>
            <a:endParaRPr b="0" i="0" sz="1400" u="none" cap="none" strike="noStrike">
              <a:solidFill>
                <a:srgbClr val="000000"/>
              </a:solidFill>
              <a:latin typeface="Arial"/>
              <a:ea typeface="Arial"/>
              <a:cs typeface="Arial"/>
              <a:sym typeface="Arial"/>
            </a:endParaRPr>
          </a:p>
        </p:txBody>
      </p:sp>
      <p:sp>
        <p:nvSpPr>
          <p:cNvPr id="6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44</a:t>
            </a:r>
          </a:p>
        </p:txBody>
      </p:sp>
      <p:grpSp>
        <p:nvGrpSpPr>
          <p:cNvPr id="608" name="TEACH-3-student-move" descr="TEACH 3 · Use intentional questioning to deepen learning"/>
          <p:cNvGrpSpPr/>
          <p:nvPr/>
        </p:nvGrpSpPr>
        <p:grpSpPr>
          <a:xfrm>
            <a:off x="502920" y="5472790"/>
            <a:ext cx="11186160" cy="402336"/>
            <a:chOff x="502920" y="5472790"/>
            <a:chExt cx="11186160" cy="402336"/>
          </a:xfrm>
        </p:grpSpPr>
        <p:sp>
          <p:nvSpPr>
            <p:cNvPr id="609"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10"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611"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cxnSp>
        <p:nvCxnSpPr>
          <p:cNvPr id="611" name="Google Shape;611;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2" name="Google Shape;612;p59"/>
          <p:cNvSpPr txBox="1"/>
          <p:nvPr/>
        </p:nvSpPr>
        <p:spPr>
          <a:xfrm>
            <a:off x="531479" y="4828136"/>
            <a:ext cx="9610047" cy="1484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a numerical expression for each of the ticket types.</a:t>
            </a:r>
            <a:endParaRPr b="0" i="0" sz="1400" u="none" cap="none" strike="noStrike">
              <a:solidFill>
                <a:srgbClr val="000000"/>
              </a:solidFill>
              <a:latin typeface="Arial"/>
              <a:ea typeface="Arial"/>
              <a:cs typeface="Arial"/>
              <a:sym typeface="Arial"/>
            </a:endParaRPr>
          </a:p>
        </p:txBody>
      </p:sp>
      <p:sp>
        <p:nvSpPr>
          <p:cNvPr id="613" name="Google Shape;613;p59"/>
          <p:cNvSpPr txBox="1"/>
          <p:nvPr/>
        </p:nvSpPr>
        <p:spPr>
          <a:xfrm>
            <a:off x="484565" y="936099"/>
            <a:ext cx="6795124" cy="3627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Sofia is buying tickets for two members, four non-members, and eight students. What expression could Sofia use to find the cost of the tickets?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represent the cost for each of the ticket types?</a:t>
            </a:r>
            <a:endParaRPr b="0" i="0" sz="1400" u="none" cap="none" strike="noStrike">
              <a:solidFill>
                <a:srgbClr val="000000"/>
              </a:solidFill>
              <a:latin typeface="Arial"/>
              <a:ea typeface="Arial"/>
              <a:cs typeface="Arial"/>
              <a:sym typeface="Arial"/>
            </a:endParaRPr>
          </a:p>
        </p:txBody>
      </p:sp>
      <p:pic>
        <p:nvPicPr>
          <p:cNvPr id="614" name="Google Shape;614;p59"/>
          <p:cNvPicPr preferRelativeResize="0"/>
          <p:nvPr/>
        </p:nvPicPr>
        <p:blipFill rotWithShape="1">
          <a:blip r:embed="rId3">
            <a:alphaModFix/>
          </a:blip>
          <a:srcRect b="0" l="0" r="0" t="0"/>
          <a:stretch/>
        </p:blipFill>
        <p:spPr>
          <a:xfrm>
            <a:off x="8065572" y="1574569"/>
            <a:ext cx="3641863" cy="2700000"/>
          </a:xfrm>
          <a:prstGeom prst="rect">
            <a:avLst/>
          </a:prstGeom>
          <a:noFill/>
          <a:ln>
            <a:noFill/>
          </a:ln>
        </p:spPr>
      </p:pic>
      <p:sp>
        <p:nvSpPr>
          <p:cNvPr id="615" name="Google Shape;615;p5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Theater Ticket Prices​</a:t>
            </a:r>
            <a:endParaRPr b="0" i="0" sz="1400" u="none" cap="none" strike="noStrike">
              <a:solidFill>
                <a:srgbClr val="000000"/>
              </a:solidFill>
              <a:latin typeface="Arial"/>
              <a:ea typeface="Arial"/>
              <a:cs typeface="Arial"/>
              <a:sym typeface="Arial"/>
            </a:endParaRPr>
          </a:p>
        </p:txBody>
      </p:sp>
      <p:sp>
        <p:nvSpPr>
          <p:cNvPr id="6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44</a:t>
            </a:r>
          </a:p>
        </p:txBody>
      </p:sp>
      <p:sp>
        <p:nvSpPr>
          <p:cNvPr id="617" name="EWL-COVER-1"/>
          <p:cNvSpPr/>
          <p:nvPr/>
        </p:nvSpPr>
        <p:spPr>
          <a:xfrm>
            <a:off x="476615" y="4773272"/>
            <a:ext cx="9719775" cy="1594590"/>
          </a:xfrm>
          <a:prstGeom prst="rect">
            <a:avLst/>
          </a:prstGeom>
          <a:solidFill>
            <a:srgbClr val="FFFFFF"/>
          </a:solidFill>
          <a:ln>
            <a:noFill/>
          </a:ln>
        </p:spPr>
        <p:txBody>
          <a:bodyPr/>
          <a:lstStyle/>
          <a:p/>
        </p:txBody>
      </p:sp>
      <p:grpSp>
        <p:nvGrpSpPr>
          <p:cNvPr id="618" name="TEACH-5-student-move" descr="TEACH 5 · Facilitate student interactions and academic talk"/>
          <p:cNvGrpSpPr/>
          <p:nvPr/>
        </p:nvGrpSpPr>
        <p:grpSpPr>
          <a:xfrm>
            <a:off x="502920" y="4471520"/>
            <a:ext cx="11186160" cy="320040"/>
            <a:chOff x="502920" y="4471520"/>
            <a:chExt cx="11186160" cy="320040"/>
          </a:xfrm>
        </p:grpSpPr>
        <p:sp>
          <p:nvSpPr>
            <p:cNvPr id="619" name="TEACH-move-card"/>
            <p:cNvSpPr/>
            <p:nvPr/>
          </p:nvSpPr>
          <p:spPr>
            <a:xfrm>
              <a:off x="502920" y="4471520"/>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620" name="TEACH-move-rule"/>
            <p:cNvSpPr/>
            <p:nvPr/>
          </p:nvSpPr>
          <p:spPr>
            <a:xfrm>
              <a:off x="548640" y="4532328"/>
              <a:ext cx="100584" cy="198424"/>
            </a:xfrm>
            <a:prstGeom prst="roundRect">
              <a:avLst>
                <a:gd name="adj" fmla="val 50000"/>
              </a:avLst>
            </a:prstGeom>
            <a:solidFill>
              <a:srgbClr val="01708C"/>
            </a:solidFill>
            <a:ln>
              <a:noFill/>
            </a:ln>
          </p:spPr>
          <p:txBody>
            <a:bodyPr/>
            <a:lstStyle/>
            <a:p>
              <a:endParaRPr/>
            </a:p>
          </p:txBody>
        </p:sp>
        <p:sp>
          <p:nvSpPr>
            <p:cNvPr id="621" name="TEACH-move-text"/>
            <p:cNvSpPr txBox="1"/>
            <p:nvPr/>
          </p:nvSpPr>
          <p:spPr>
            <a:xfrm>
              <a:off x="822960" y="4471520"/>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617"/>
                                  </p:tgtEl>
                                  <p:attrNameLst>
                                    <p:attrName>style.visibility</p:attrName>
                                  </p:attrNameLst>
                                </p:cBhvr>
                                <p:to>
                                  <p:strVal val="hidden"/>
                                </p:to>
                              </p:set>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cxnSp>
        <p:nvCxnSpPr>
          <p:cNvPr id="654" name="Google Shape;654;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5" name="Google Shape;655;p64"/>
          <p:cNvSpPr txBox="1"/>
          <p:nvPr/>
        </p:nvSpPr>
        <p:spPr>
          <a:xfrm>
            <a:off x="953847" y="522385"/>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030A0"/>
              </a:solidFill>
              <a:latin typeface="Arial"/>
              <a:ea typeface="Arial"/>
              <a:cs typeface="Arial"/>
              <a:sym typeface="Arial"/>
            </a:endParaRPr>
          </a:p>
        </p:txBody>
      </p:sp>
      <p:pic>
        <p:nvPicPr>
          <p:cNvPr id="656" name="Google Shape;656;p64"/>
          <p:cNvPicPr preferRelativeResize="0"/>
          <p:nvPr/>
        </p:nvPicPr>
        <p:blipFill rotWithShape="1">
          <a:blip r:embed="rId3">
            <a:alphaModFix/>
          </a:blip>
          <a:srcRect b="0" l="0" r="0" t="0"/>
          <a:stretch/>
        </p:blipFill>
        <p:spPr>
          <a:xfrm>
            <a:off x="543714" y="588718"/>
            <a:ext cx="353635" cy="340537"/>
          </a:xfrm>
          <a:prstGeom prst="rect">
            <a:avLst/>
          </a:prstGeom>
          <a:noFill/>
          <a:ln>
            <a:noFill/>
          </a:ln>
        </p:spPr>
      </p:pic>
      <p:sp>
        <p:nvSpPr>
          <p:cNvPr id="657" name="Google Shape;657;p64"/>
          <p:cNvSpPr txBox="1"/>
          <p:nvPr/>
        </p:nvSpPr>
        <p:spPr>
          <a:xfrm>
            <a:off x="531479" y="4816339"/>
            <a:ext cx="10915145" cy="15248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add the expressions for the costs of the three different ticket types.</a:t>
            </a:r>
            <a:endParaRPr b="0" baseline="30000" i="1" sz="2800" u="none" cap="none" strike="noStrike">
              <a:solidFill>
                <a:srgbClr val="595959"/>
              </a:solidFill>
              <a:latin typeface="Arial"/>
              <a:ea typeface="Arial"/>
              <a:cs typeface="Arial"/>
              <a:sym typeface="Arial"/>
            </a:endParaRPr>
          </a:p>
        </p:txBody>
      </p:sp>
      <p:sp>
        <p:nvSpPr>
          <p:cNvPr id="658" name="Google Shape;658;p64"/>
          <p:cNvSpPr txBox="1"/>
          <p:nvPr/>
        </p:nvSpPr>
        <p:spPr>
          <a:xfrm>
            <a:off x="484564" y="1183505"/>
            <a:ext cx="6795124" cy="31474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represent the total cost of the tickets?</a:t>
            </a:r>
            <a:endParaRPr b="0" i="0" sz="1400" u="none" cap="none" strike="noStrike">
              <a:solidFill>
                <a:srgbClr val="000000"/>
              </a:solidFill>
              <a:latin typeface="Arial"/>
              <a:ea typeface="Arial"/>
              <a:cs typeface="Arial"/>
              <a:sym typeface="Arial"/>
            </a:endParaRPr>
          </a:p>
        </p:txBody>
      </p:sp>
      <p:pic>
        <p:nvPicPr>
          <p:cNvPr id="659" name="Google Shape;659;p64"/>
          <p:cNvPicPr preferRelativeResize="0"/>
          <p:nvPr/>
        </p:nvPicPr>
        <p:blipFill rotWithShape="1">
          <a:blip r:embed="rId4">
            <a:alphaModFix/>
          </a:blip>
          <a:srcRect b="0" l="0" r="0" t="0"/>
          <a:stretch/>
        </p:blipFill>
        <p:spPr>
          <a:xfrm>
            <a:off x="1134000" y="1440000"/>
            <a:ext cx="5750017" cy="1494000"/>
          </a:xfrm>
          <a:prstGeom prst="rect">
            <a:avLst/>
          </a:prstGeom>
          <a:noFill/>
          <a:ln>
            <a:noFill/>
          </a:ln>
        </p:spPr>
      </p:pic>
      <p:sp>
        <p:nvSpPr>
          <p:cNvPr id="6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44</a:t>
            </a:r>
          </a:p>
        </p:txBody>
      </p:sp>
      <p:sp>
        <p:nvSpPr>
          <p:cNvPr id="661" name="EWL-COVER-1"/>
          <p:cNvSpPr/>
          <p:nvPr/>
        </p:nvSpPr>
        <p:spPr>
          <a:xfrm>
            <a:off x="476615" y="4761475"/>
            <a:ext cx="11024873" cy="1634614"/>
          </a:xfrm>
          <a:prstGeom prst="rect">
            <a:avLst/>
          </a:prstGeom>
          <a:solidFill>
            <a:srgbClr val="FFFFFF"/>
          </a:solidFill>
          <a:ln>
            <a:noFill/>
          </a:ln>
        </p:spPr>
        <p:txBody>
          <a:bodyPr/>
          <a:lstStyle/>
          <a:p/>
        </p:txBody>
      </p:sp>
      <p:sp>
        <p:nvSpPr>
          <p:cNvPr id="66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663" name="TEACH-embedded-student-prompt" descr="Student thinking and response directions"/>
          <p:cNvSpPr txBox="1"/>
          <p:nvPr/>
        </p:nvSpPr>
        <p:spPr>
          <a:xfrm>
            <a:off x="739140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cxnSp>
        <p:nvCxnSpPr>
          <p:cNvPr id="684" name="Google Shape;684;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5" name="Google Shape;685;p67"/>
          <p:cNvSpPr txBox="1"/>
          <p:nvPr/>
        </p:nvSpPr>
        <p:spPr>
          <a:xfrm>
            <a:off x="484563" y="5119861"/>
            <a:ext cx="7016477" cy="11840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write it as a power.</a:t>
            </a:r>
            <a:endParaRPr b="0" baseline="30000" i="1" sz="2800" u="none" cap="none" strike="noStrike">
              <a:solidFill>
                <a:srgbClr val="595959"/>
              </a:solidFill>
              <a:latin typeface="Arial"/>
              <a:ea typeface="Arial"/>
              <a:cs typeface="Arial"/>
              <a:sym typeface="Arial"/>
            </a:endParaRPr>
          </a:p>
        </p:txBody>
      </p:sp>
      <p:sp>
        <p:nvSpPr>
          <p:cNvPr id="686" name="Google Shape;686;p67"/>
          <p:cNvSpPr txBox="1"/>
          <p:nvPr/>
        </p:nvSpPr>
        <p:spPr>
          <a:xfrm>
            <a:off x="484563" y="1183505"/>
            <a:ext cx="8193924" cy="2548910"/>
          </a:xfrm>
          <a:prstGeom prst="rect">
            <a:avLst/>
          </a:prstGeom>
          <a:blipFill rotWithShape="1">
            <a:blip r:embed="rId3">
              <a:alphaModFix/>
            </a:blip>
            <a:stretch>
              <a:fillRect b="-46651" l="-148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87" name="Google Shape;687;p67"/>
          <p:cNvPicPr preferRelativeResize="0"/>
          <p:nvPr/>
        </p:nvPicPr>
        <p:blipFill rotWithShape="1">
          <a:blip r:embed="rId4">
            <a:alphaModFix/>
          </a:blip>
          <a:srcRect b="0" l="0" r="0" t="0"/>
          <a:stretch/>
        </p:blipFill>
        <p:spPr>
          <a:xfrm>
            <a:off x="1134000" y="1440000"/>
            <a:ext cx="5750017" cy="1494000"/>
          </a:xfrm>
          <a:prstGeom prst="rect">
            <a:avLst/>
          </a:prstGeom>
          <a:noFill/>
          <a:ln>
            <a:noFill/>
          </a:ln>
        </p:spPr>
      </p:pic>
      <p:sp>
        <p:nvSpPr>
          <p:cNvPr id="688" name="Google Shape;688;p67"/>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Theater Ticket Prices​</a:t>
            </a:r>
            <a:endParaRPr b="0" i="0" sz="1400" u="none" cap="none" strike="noStrike">
              <a:solidFill>
                <a:srgbClr val="000000"/>
              </a:solidFill>
              <a:latin typeface="Arial"/>
              <a:ea typeface="Arial"/>
              <a:cs typeface="Arial"/>
              <a:sym typeface="Arial"/>
            </a:endParaRPr>
          </a:p>
        </p:txBody>
      </p:sp>
      <p:sp>
        <p:nvSpPr>
          <p:cNvPr id="6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44</a:t>
            </a:r>
          </a:p>
        </p:txBody>
      </p:sp>
      <p:sp>
        <p:nvSpPr>
          <p:cNvPr id="690" name="EWL-COVER-1"/>
          <p:cNvSpPr/>
          <p:nvPr/>
        </p:nvSpPr>
        <p:spPr>
          <a:xfrm>
            <a:off x="429699" y="5064997"/>
            <a:ext cx="7126205" cy="1293793"/>
          </a:xfrm>
          <a:prstGeom prst="rect">
            <a:avLst/>
          </a:prstGeom>
          <a:solidFill>
            <a:srgbClr val="FFFFFF"/>
          </a:solidFill>
          <a:ln>
            <a:noFill/>
          </a:ln>
        </p:spPr>
        <p:txBody>
          <a:bodyPr/>
          <a:lstStyle/>
          <a:p/>
        </p:txBody>
      </p:sp>
      <p:sp xmlns:p="http://schemas.openxmlformats.org/presentationml/2006/main" xmlns:a="http://schemas.openxmlformats.org/drawingml/2006/main">
        <p:nvSpPr>
          <p:cNvPr id="691"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cxnSp>
        <p:nvCxnSpPr>
          <p:cNvPr id="700" name="Google Shape;700;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1" name="Google Shape;701;p69"/>
          <p:cNvSpPr txBox="1"/>
          <p:nvPr/>
        </p:nvSpPr>
        <p:spPr>
          <a:xfrm>
            <a:off x="484565" y="936099"/>
            <a:ext cx="6795124" cy="33384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Sofia is buying tickets for two members, four non-members, and eight students.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expression could Sofia use to find the cost of the tickets?</a:t>
            </a:r>
            <a:endParaRPr b="0" i="0" sz="1400" u="none" cap="none" strike="noStrike">
              <a:solidFill>
                <a:srgbClr val="000000"/>
              </a:solidFill>
              <a:latin typeface="Arial"/>
              <a:ea typeface="Arial"/>
              <a:cs typeface="Arial"/>
              <a:sym typeface="Arial"/>
            </a:endParaRPr>
          </a:p>
        </p:txBody>
      </p:sp>
      <p:grpSp>
        <p:nvGrpSpPr>
          <p:cNvPr id="702" name="Google Shape;702;p69"/>
          <p:cNvGrpSpPr/>
          <p:nvPr/>
        </p:nvGrpSpPr>
        <p:grpSpPr>
          <a:xfrm>
            <a:off x="484565" y="3649360"/>
            <a:ext cx="6116260" cy="861774"/>
            <a:chOff x="484565" y="4463747"/>
            <a:chExt cx="5068695" cy="861774"/>
          </a:xfrm>
        </p:grpSpPr>
        <p:sp>
          <p:nvSpPr>
            <p:cNvPr id="703" name="Google Shape;703;p69"/>
            <p:cNvSpPr txBox="1"/>
            <p:nvPr/>
          </p:nvSpPr>
          <p:spPr>
            <a:xfrm>
              <a:off x="484565" y="4624385"/>
              <a:ext cx="4897046" cy="43088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04" name="Google Shape;704;p69"/>
            <p:cNvSpPr txBox="1"/>
            <p:nvPr/>
          </p:nvSpPr>
          <p:spPr>
            <a:xfrm>
              <a:off x="484565" y="4463747"/>
              <a:ext cx="5068695" cy="861774"/>
            </a:xfrm>
            <a:prstGeom prst="rect">
              <a:avLst/>
            </a:prstGeom>
            <a:noFill/>
            <a:ln cap="flat" cmpd="sng" w="9525">
              <a:solidFill>
                <a:srgbClr val="7030A0"/>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t/>
              </a:r>
              <a:endParaRPr b="0" baseline="30000" i="0" sz="2800" u="none" cap="none" strike="noStrike">
                <a:solidFill>
                  <a:schemeClr val="dk1"/>
                </a:solidFill>
                <a:latin typeface="Arial"/>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baseline="30000" i="0" lang="en-US" sz="2800" u="none" cap="none" strike="noStrike">
                  <a:solidFill>
                    <a:schemeClr val="dk1"/>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baseline="30000" i="0" sz="2800" u="none" cap="none" strike="noStrike">
                <a:solidFill>
                  <a:schemeClr val="dk1"/>
                </a:solidFill>
                <a:latin typeface="Arial"/>
                <a:ea typeface="Calibri"/>
                <a:cs typeface="Calibri"/>
                <a:sym typeface="Calibri"/>
              </a:endParaRPr>
            </a:p>
          </p:txBody>
        </p:sp>
      </p:grpSp>
      <p:pic>
        <p:nvPicPr>
          <p:cNvPr id="705" name="Google Shape;705;p69"/>
          <p:cNvPicPr preferRelativeResize="0"/>
          <p:nvPr/>
        </p:nvPicPr>
        <p:blipFill rotWithShape="1">
          <a:blip r:embed="rId4">
            <a:alphaModFix/>
          </a:blip>
          <a:srcRect b="0" l="0" r="0" t="0"/>
          <a:stretch/>
        </p:blipFill>
        <p:spPr>
          <a:xfrm>
            <a:off x="8065572" y="1574569"/>
            <a:ext cx="3641863" cy="2700000"/>
          </a:xfrm>
          <a:prstGeom prst="rect">
            <a:avLst/>
          </a:prstGeom>
          <a:noFill/>
          <a:ln>
            <a:noFill/>
          </a:ln>
        </p:spPr>
      </p:pic>
      <p:sp>
        <p:nvSpPr>
          <p:cNvPr id="706" name="Google Shape;706;p6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Theater Ticket Prices​</a:t>
            </a:r>
            <a:endParaRPr b="0" i="0" sz="1400" u="none" cap="none" strike="noStrike">
              <a:solidFill>
                <a:srgbClr val="000000"/>
              </a:solidFill>
              <a:latin typeface="Arial"/>
              <a:ea typeface="Arial"/>
              <a:cs typeface="Arial"/>
              <a:sym typeface="Arial"/>
            </a:endParaRPr>
          </a:p>
        </p:txBody>
      </p:sp>
      <p:sp>
        <p:nvSpPr>
          <p:cNvPr id="7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44</a:t>
            </a:r>
          </a:p>
        </p:txBody>
      </p:sp>
      <p:sp xmlns:p="http://schemas.openxmlformats.org/presentationml/2006/main" xmlns:a="http://schemas.openxmlformats.org/drawingml/2006/main">
        <p:nvSpPr>
          <p:cNvPr id="708"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12" name="Google Shape;712;p70"/>
          <p:cNvSpPr txBox="1"/>
          <p:nvPr/>
        </p:nvSpPr>
        <p:spPr>
          <a:xfrm>
            <a:off x="495445" y="1256109"/>
            <a:ext cx="8334230" cy="5172972"/>
          </a:xfrm>
          <a:prstGeom prst="rect">
            <a:avLst/>
          </a:prstGeom>
          <a:blipFill rotWithShape="1">
            <a:blip r:embed="rId3">
              <a:alphaModFix/>
            </a:blip>
            <a:stretch>
              <a:fillRect b="0" l="-1317" r="0" t="-117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44</a:t>
            </a:r>
          </a:p>
        </p:txBody>
      </p:sp>
      <p:grpSp>
        <p:nvGrpSpPr>
          <p:cNvPr id="714" name="TEACH-2-student-move" descr="TEACH 2 · Use strategies and tasks to engage students in rigorous work"/>
          <p:cNvGrpSpPr/>
          <p:nvPr/>
        </p:nvGrpSpPr>
        <p:grpSpPr>
          <a:xfrm>
            <a:off x="502920" y="899493"/>
            <a:ext cx="11186160" cy="320040"/>
            <a:chOff x="502920" y="899493"/>
            <a:chExt cx="11186160" cy="320040"/>
          </a:xfrm>
        </p:grpSpPr>
        <p:sp>
          <p:nvSpPr>
            <p:cNvPr id="715" name="TEACH-move-card"/>
            <p:cNvSpPr/>
            <p:nvPr/>
          </p:nvSpPr>
          <p:spPr>
            <a:xfrm>
              <a:off x="502920" y="89949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716" name="TEACH-move-rule"/>
            <p:cNvSpPr/>
            <p:nvPr/>
          </p:nvSpPr>
          <p:spPr>
            <a:xfrm>
              <a:off x="548640" y="960301"/>
              <a:ext cx="100584" cy="198424"/>
            </a:xfrm>
            <a:prstGeom prst="roundRect">
              <a:avLst>
                <a:gd name="adj" fmla="val 50000"/>
              </a:avLst>
            </a:prstGeom>
            <a:solidFill>
              <a:srgbClr val="01708C"/>
            </a:solidFill>
            <a:ln>
              <a:noFill/>
            </a:ln>
          </p:spPr>
          <p:txBody>
            <a:bodyPr/>
            <a:lstStyle/>
            <a:p>
              <a:endParaRPr/>
            </a:p>
          </p:txBody>
        </p:sp>
        <p:sp>
          <p:nvSpPr>
            <p:cNvPr id="717" name="TEACH-move-text"/>
            <p:cNvSpPr txBox="1"/>
            <p:nvPr/>
          </p:nvSpPr>
          <p:spPr>
            <a:xfrm>
              <a:off x="822960" y="89949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structure tells you what to evaluate first, and how would parentheses change the meaning?</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54" name="Google Shape;654;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5" name="Google Shape;655;p64"/>
          <p:cNvSpPr txBox="1"/>
          <p:nvPr/>
        </p:nvSpPr>
        <p:spPr>
          <a:xfrm>
            <a:off x="953847" y="522385"/>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Collaborate and Connect</a:t>
            </a:r>
            <a:endParaRPr b="1" i="0" sz="1500" u="none" cap="none" strike="noStrike">
              <a:solidFill>
                <a:srgbClr val="7030A0"/>
              </a:solidFill>
              <a:latin typeface="Arial"/>
              <a:ea typeface="Arial"/>
              <a:cs typeface="Arial"/>
              <a:sym typeface="Arial"/>
            </a:endParaRPr>
          </a:p>
        </p:txBody>
      </p:sp>
      <p:pic>
        <p:nvPicPr>
          <p:cNvPr id="656" name="Google Shape;656;p64"/>
          <p:cNvPicPr preferRelativeResize="0"/>
          <p:nvPr/>
        </p:nvPicPr>
        <p:blipFill rotWithShape="1">
          <a:blip r:embed="rId2">
            <a:alphaModFix/>
          </a:blip>
          <a:srcRect b="0" l="0" r="0" t="0"/>
          <a:stretch/>
        </p:blipFill>
        <p:spPr>
          <a:xfrm>
            <a:off x="543714" y="588718"/>
            <a:ext cx="353635" cy="340537"/>
          </a:xfrm>
          <a:prstGeom prst="rect">
            <a:avLst/>
          </a:prstGeom>
          <a:noFill/>
          <a:ln>
            <a:noFill/>
          </a:ln>
        </p:spPr>
      </p:pic>
      <p:sp>
        <p:nvSpPr>
          <p:cNvPr id="657" name="Google Shape;657;p64"/>
          <p:cNvSpPr txBox="1"/>
          <p:nvPr/>
        </p:nvSpPr>
        <p:spPr>
          <a:xfrm>
            <a:off x="531479" y="4816339"/>
            <a:ext cx="10915145" cy="15248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add the expressions for the costs of the three different ticket types.</a:t>
            </a:r>
            <a:endParaRPr b="0" baseline="30000" i="1" sz="2800" u="none" cap="none" strike="noStrike">
              <a:solidFill>
                <a:srgbClr val="595959"/>
              </a:solidFill>
              <a:latin typeface="Arial"/>
              <a:ea typeface="Arial"/>
              <a:cs typeface="Arial"/>
              <a:sym typeface="Arial"/>
            </a:endParaRPr>
          </a:p>
        </p:txBody>
      </p:sp>
      <p:sp>
        <p:nvSpPr>
          <p:cNvPr id="658" name="Google Shape;658;p64"/>
          <p:cNvSpPr txBox="1"/>
          <p:nvPr/>
        </p:nvSpPr>
        <p:spPr>
          <a:xfrm>
            <a:off x="484564" y="1183505"/>
            <a:ext cx="6795124" cy="31474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represent the total cost of the tickets?</a:t>
            </a:r>
            <a:endParaRPr b="0" i="0" sz="1400" u="none" cap="none" strike="noStrike">
              <a:solidFill>
                <a:srgbClr val="000000"/>
              </a:solidFill>
              <a:latin typeface="Arial"/>
              <a:ea typeface="Arial"/>
              <a:cs typeface="Arial"/>
              <a:sym typeface="Arial"/>
            </a:endParaRPr>
          </a:p>
        </p:txBody>
      </p:sp>
      <p:pic>
        <p:nvPicPr>
          <p:cNvPr id="659" name="Google Shape;659;p64"/>
          <p:cNvPicPr preferRelativeResize="0"/>
          <p:nvPr/>
        </p:nvPicPr>
        <p:blipFill rotWithShape="1">
          <a:blip r:embed="rId3">
            <a:alphaModFix/>
          </a:blip>
          <a:srcRect b="0" l="0" r="0" t="0"/>
          <a:stretch/>
        </p:blipFill>
        <p:spPr>
          <a:xfrm>
            <a:off x="1134000" y="1440000"/>
            <a:ext cx="5750017" cy="1494000"/>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44</a:t>
            </a:r>
          </a:p>
        </p:txBody>
      </p:sp>
      <p:sp xmlns:p="http://schemas.openxmlformats.org/presentationml/2006/main" xmlns:a="http://schemas.openxmlformats.org/drawingml/2006/main">
        <p:nvSpPr>
          <p:cNvPr id="660" name="TEACH-embedded-student-prompt" descr="Student thinking and response directions"/>
          <p:cNvSpPr txBox="1"/>
          <p:nvPr/>
        </p:nvSpPr>
        <p:spPr>
          <a:xfrm>
            <a:off x="739140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Which operation is performed first in order of operations?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Addition</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Parentheses / Grouping</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Multiplication</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Exponents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value of 2 + 3 × 4?</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18</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value of (2 + 3)²?</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13</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25</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Multiplication and division are evaluated:</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Multiplication first always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Left to right as they appear</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Division first always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At the very end</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44</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6-4 · Write and Evaluate Numerical Expressions with Exponents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Order of Operations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1. </a:t>
            </a:r>
            <a:r>
              <a:rPr b="1" i="0" lang="en-US" sz="1450" u="none" cap="none" strike="noStrike">
                <a:solidFill>
                  <a:srgbClr val="475569"/>
                </a:solidFill>
                <a:latin typeface="Arial"/>
                <a:ea typeface="Arial"/>
                <a:cs typeface="Arial"/>
                <a:sym typeface="Arial"/>
              </a:rPr>
              <a:t xml:space="preserve">Grouping symbols</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parentheses</a:t>
            </a:r>
            <a:r>
              <a:rPr b="0" i="0" lang="en-US" sz="1450" u="none" cap="none" strike="noStrike">
                <a:solidFill>
                  <a:srgbClr val="475569"/>
                </a:solidFill>
                <a:latin typeface="Arial"/>
                <a:ea typeface="Arial"/>
                <a:cs typeface="Arial"/>
                <a:sym typeface="Arial"/>
              </a:rPr>
              <a:t xml:space="preserve">, brackets). 2. Exponents. 3. Multiply/Divide left-to-right. 4. Add/Subtract left-to-right.</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Left-to-Right Precedence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Multiplication does NOT come before division; </a:t>
            </a:r>
            <a:r>
              <a:rPr b="1" i="0" lang="en-US" sz="1450" u="none" cap="none" strike="noStrike">
                <a:solidFill>
                  <a:srgbClr val="475569"/>
                </a:solidFill>
                <a:latin typeface="Arial"/>
                <a:ea typeface="Arial"/>
                <a:cs typeface="Arial"/>
                <a:sym typeface="Arial"/>
              </a:rPr>
              <a:t xml:space="preserve">evaluate</a:t>
            </a:r>
            <a:r>
              <a:rPr b="0" i="0" lang="en-US" sz="1450" u="none" cap="none" strike="noStrike">
                <a:solidFill>
                  <a:srgbClr val="475569"/>
                </a:solidFill>
                <a:latin typeface="Arial"/>
                <a:ea typeface="Arial"/>
                <a:cs typeface="Arial"/>
                <a:sym typeface="Arial"/>
              </a:rPr>
              <a:t xml:space="preserve"> whichever appears first from left to right.</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Nested Operations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Evaluate innermost parentheses completely before applying </a:t>
            </a:r>
            <a:r>
              <a:rPr b="1" i="0" lang="en-US" sz="1450" u="none" cap="none" strike="noStrike">
                <a:solidFill>
                  <a:srgbClr val="475569"/>
                </a:solidFill>
                <a:latin typeface="Arial"/>
                <a:ea typeface="Arial"/>
                <a:cs typeface="Arial"/>
                <a:sym typeface="Arial"/>
              </a:rPr>
              <a:t xml:space="preserve">exponents</a:t>
            </a:r>
            <a:r>
              <a:rPr b="0" i="0" lang="en-US" sz="1450" u="none" cap="none" strike="noStrike">
                <a:solidFill>
                  <a:srgbClr val="475569"/>
                </a:solidFill>
                <a:latin typeface="Arial"/>
                <a:ea typeface="Arial"/>
                <a:cs typeface="Arial"/>
                <a:sym typeface="Arial"/>
              </a:rPr>
              <a:t xml:space="preserve"> or outside operations.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44</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71"/>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Evaluate Numerical Expressions with Exponents</a:t>
            </a:r>
            <a:endParaRPr b="0" i="0" sz="1400" u="none" cap="none" strike="noStrike">
              <a:solidFill>
                <a:srgbClr val="000000"/>
              </a:solidFill>
              <a:latin typeface="Arial"/>
              <a:ea typeface="Arial"/>
              <a:cs typeface="Arial"/>
              <a:sym typeface="Arial"/>
            </a:endParaRPr>
          </a:p>
        </p:txBody>
      </p:sp>
      <p:sp>
        <p:nvSpPr>
          <p:cNvPr id="718" name="Google Shape;718;p7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19" name="Google Shape;719;p7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44</a:t>
            </a:r>
          </a:p>
        </p:txBody>
      </p:sp>
      <p:grpSp>
        <p:nvGrpSpPr>
          <p:cNvPr id="721" name="TEACH-4-student-move" descr="TEACH 4 · Monitor progress and provide feedback"/>
          <p:cNvGrpSpPr/>
          <p:nvPr/>
        </p:nvGrpSpPr>
        <p:grpSpPr>
          <a:xfrm>
            <a:off x="502920" y="3867612"/>
            <a:ext cx="11186160" cy="731520"/>
            <a:chOff x="502920" y="3867612"/>
            <a:chExt cx="11186160" cy="731520"/>
          </a:xfrm>
        </p:grpSpPr>
        <p:sp>
          <p:nvSpPr>
            <p:cNvPr id="722"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23"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24"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73"/>
          <p:cNvPicPr preferRelativeResize="0"/>
          <p:nvPr/>
        </p:nvPicPr>
        <p:blipFill rotWithShape="1">
          <a:blip r:embed="rId3">
            <a:alphaModFix/>
          </a:blip>
          <a:srcRect b="0" l="0" r="0" t="0"/>
          <a:stretch/>
        </p:blipFill>
        <p:spPr>
          <a:xfrm>
            <a:off x="481450" y="4984262"/>
            <a:ext cx="5054600" cy="838200"/>
          </a:xfrm>
          <a:prstGeom prst="rect">
            <a:avLst/>
          </a:prstGeom>
          <a:noFill/>
          <a:ln>
            <a:noFill/>
          </a:ln>
        </p:spPr>
      </p:pic>
      <p:cxnSp>
        <p:nvCxnSpPr>
          <p:cNvPr id="738" name="Google Shape;738;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9" name="Google Shape;739;p73"/>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40" name="Google Shape;740;p73"/>
          <p:cNvSpPr txBox="1"/>
          <p:nvPr/>
        </p:nvSpPr>
        <p:spPr>
          <a:xfrm>
            <a:off x="3177721" y="5138801"/>
            <a:ext cx="1701849"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41" name="Google Shape;741;p73"/>
          <p:cNvSpPr/>
          <p:nvPr/>
        </p:nvSpPr>
        <p:spPr>
          <a:xfrm>
            <a:off x="649773" y="5796806"/>
            <a:ext cx="1130392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Why has it been important to explain your thinking clearly and concisely?</a:t>
            </a:r>
            <a:endParaRPr b="0" i="0" sz="1400" u="none" cap="none" strike="noStrike">
              <a:solidFill>
                <a:srgbClr val="000000"/>
              </a:solidFill>
              <a:latin typeface="Arial"/>
              <a:ea typeface="Arial"/>
              <a:cs typeface="Arial"/>
              <a:sym typeface="Arial"/>
            </a:endParaRPr>
          </a:p>
        </p:txBody>
      </p:sp>
      <p:sp>
        <p:nvSpPr>
          <p:cNvPr id="742" name="Google Shape;742;p73"/>
          <p:cNvSpPr txBox="1"/>
          <p:nvPr/>
        </p:nvSpPr>
        <p:spPr>
          <a:xfrm>
            <a:off x="474055" y="936101"/>
            <a:ext cx="6245065" cy="24139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grpSp>
        <p:nvGrpSpPr>
          <p:cNvPr id="743" name="Google Shape;743;p73"/>
          <p:cNvGrpSpPr/>
          <p:nvPr/>
        </p:nvGrpSpPr>
        <p:grpSpPr>
          <a:xfrm>
            <a:off x="6187412" y="1608069"/>
            <a:ext cx="5114925" cy="3641862"/>
            <a:chOff x="5143501" y="1339621"/>
            <a:chExt cx="5114925" cy="3641862"/>
          </a:xfrm>
        </p:grpSpPr>
        <p:pic>
          <p:nvPicPr>
            <p:cNvPr id="744" name="Google Shape;744;p73"/>
            <p:cNvPicPr preferRelativeResize="0"/>
            <p:nvPr/>
          </p:nvPicPr>
          <p:blipFill rotWithShape="1">
            <a:blip r:embed="rId4">
              <a:alphaModFix/>
            </a:blip>
            <a:srcRect b="0" l="0" r="0" t="0"/>
            <a:stretch/>
          </p:blipFill>
          <p:spPr>
            <a:xfrm>
              <a:off x="5316993" y="2283895"/>
              <a:ext cx="4749732" cy="2592000"/>
            </a:xfrm>
            <a:prstGeom prst="rect">
              <a:avLst/>
            </a:prstGeom>
            <a:noFill/>
            <a:ln>
              <a:noFill/>
            </a:ln>
          </p:spPr>
        </p:pic>
        <p:sp>
          <p:nvSpPr>
            <p:cNvPr id="745" name="Google Shape;745;p73"/>
            <p:cNvSpPr txBox="1"/>
            <p:nvPr/>
          </p:nvSpPr>
          <p:spPr>
            <a:xfrm>
              <a:off x="5316994" y="1339621"/>
              <a:ext cx="474973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Seven friends are splitting the bill after a pizza party.</a:t>
              </a:r>
              <a:endParaRPr b="0" i="0" sz="1400" u="none" cap="none" strike="noStrike">
                <a:solidFill>
                  <a:srgbClr val="000000"/>
                </a:solidFill>
                <a:latin typeface="Arial"/>
                <a:ea typeface="Arial"/>
                <a:cs typeface="Arial"/>
                <a:sym typeface="Arial"/>
              </a:endParaRPr>
            </a:p>
          </p:txBody>
        </p:sp>
        <p:sp>
          <p:nvSpPr>
            <p:cNvPr id="746" name="Google Shape;746;p73"/>
            <p:cNvSpPr/>
            <p:nvPr/>
          </p:nvSpPr>
          <p:spPr>
            <a:xfrm>
              <a:off x="5143501" y="1339621"/>
              <a:ext cx="5114925" cy="3641862"/>
            </a:xfrm>
            <a:prstGeom prst="rect">
              <a:avLst/>
            </a:prstGeom>
            <a:noFill/>
            <a:ln cap="flat" cmpd="sng" w="12700">
              <a:solidFill>
                <a:srgbClr val="B3C6E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grpSp>
      <p:sp>
        <p:nvSpPr>
          <p:cNvPr id="7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44</a:t>
            </a:r>
          </a:p>
        </p:txBody>
      </p:sp>
      <p:sp xmlns:p="http://schemas.openxmlformats.org/presentationml/2006/main" xmlns:a="http://schemas.openxmlformats.org/drawingml/2006/main">
        <p:nvSpPr>
          <p:cNvPr id="748" name="TEACH-embedded-student-prompt" descr="Student thinking and response directions"/>
          <p:cNvSpPr txBox="1"/>
          <p:nvPr/>
        </p:nvSpPr>
        <p:spPr>
          <a:xfrm>
            <a:off x="594360" y="37307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cxnSp>
        <p:nvCxnSpPr>
          <p:cNvPr id="769" name="Google Shape;769;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0" name="Google Shape;770;p76"/>
          <p:cNvSpPr txBox="1"/>
          <p:nvPr/>
        </p:nvSpPr>
        <p:spPr>
          <a:xfrm>
            <a:off x="531479" y="1040193"/>
            <a:ext cx="7083759" cy="3656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evaluate the expression and compare it to Miguel’s and Margaret’s 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determine which operation to perform first when evaluating an expression?</a:t>
            </a:r>
            <a:endParaRPr b="0" i="0" sz="1400" u="none" cap="none" strike="noStrike">
              <a:solidFill>
                <a:srgbClr val="000000"/>
              </a:solidFill>
              <a:latin typeface="Arial"/>
              <a:ea typeface="Arial"/>
              <a:cs typeface="Arial"/>
              <a:sym typeface="Arial"/>
            </a:endParaRPr>
          </a:p>
        </p:txBody>
      </p:sp>
      <p:sp>
        <p:nvSpPr>
          <p:cNvPr id="771" name="Google Shape;771;p76"/>
          <p:cNvSpPr txBox="1"/>
          <p:nvPr/>
        </p:nvSpPr>
        <p:spPr>
          <a:xfrm>
            <a:off x="868697" y="419976"/>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72" name="Google Shape;772;p76"/>
          <p:cNvPicPr preferRelativeResize="0"/>
          <p:nvPr/>
        </p:nvPicPr>
        <p:blipFill rotWithShape="1">
          <a:blip r:embed="rId3">
            <a:alphaModFix/>
          </a:blip>
          <a:srcRect b="0" l="0" r="0" t="0"/>
          <a:stretch/>
        </p:blipFill>
        <p:spPr>
          <a:xfrm>
            <a:off x="515062" y="499534"/>
            <a:ext cx="353635" cy="340537"/>
          </a:xfrm>
          <a:prstGeom prst="rect">
            <a:avLst/>
          </a:prstGeom>
          <a:noFill/>
          <a:ln>
            <a:noFill/>
          </a:ln>
        </p:spPr>
      </p:pic>
      <p:sp>
        <p:nvSpPr>
          <p:cNvPr id="773" name="Google Shape;773;p76"/>
          <p:cNvSpPr txBox="1"/>
          <p:nvPr/>
        </p:nvSpPr>
        <p:spPr>
          <a:xfrm>
            <a:off x="531479" y="5382995"/>
            <a:ext cx="10915145" cy="1051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74" name="Google Shape;774;p76"/>
          <p:cNvSpPr txBox="1"/>
          <p:nvPr/>
        </p:nvSpPr>
        <p:spPr>
          <a:xfrm>
            <a:off x="7401096" y="1293177"/>
            <a:ext cx="4674523" cy="88946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44</a:t>
            </a:r>
          </a:p>
        </p:txBody>
      </p:sp>
      <p:sp>
        <p:nvSpPr>
          <p:cNvPr id="77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777" name="TEACH-embedded-student-prompt" descr="Student thinking and response directions"/>
          <p:cNvSpPr txBox="1"/>
          <p:nvPr/>
        </p:nvSpPr>
        <p:spPr>
          <a:xfrm>
            <a:off x="594360" y="48097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cxnSp>
        <p:nvCxnSpPr>
          <p:cNvPr id="779" name="Google Shape;77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0" name="Google Shape;780;p77"/>
          <p:cNvSpPr txBox="1"/>
          <p:nvPr/>
        </p:nvSpPr>
        <p:spPr>
          <a:xfrm>
            <a:off x="868697" y="419976"/>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81" name="Google Shape;781;p77"/>
          <p:cNvPicPr preferRelativeResize="0"/>
          <p:nvPr/>
        </p:nvPicPr>
        <p:blipFill rotWithShape="1">
          <a:blip r:embed="rId3">
            <a:alphaModFix/>
          </a:blip>
          <a:srcRect b="0" l="0" r="0" t="0"/>
          <a:stretch/>
        </p:blipFill>
        <p:spPr>
          <a:xfrm>
            <a:off x="515062" y="499534"/>
            <a:ext cx="353635" cy="340537"/>
          </a:xfrm>
          <a:prstGeom prst="rect">
            <a:avLst/>
          </a:prstGeom>
          <a:noFill/>
          <a:ln>
            <a:noFill/>
          </a:ln>
        </p:spPr>
      </p:pic>
      <p:sp>
        <p:nvSpPr>
          <p:cNvPr id="782" name="Google Shape;782;p77"/>
          <p:cNvSpPr txBox="1"/>
          <p:nvPr/>
        </p:nvSpPr>
        <p:spPr>
          <a:xfrm>
            <a:off x="531479" y="5382995"/>
            <a:ext cx="10915145" cy="1051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the order of operations.</a:t>
            </a:r>
            <a:endParaRPr b="0" i="1" sz="2800" u="none" cap="none" strike="noStrike">
              <a:solidFill>
                <a:srgbClr val="595959"/>
              </a:solidFill>
              <a:latin typeface="Arial"/>
              <a:ea typeface="Arial"/>
              <a:cs typeface="Arial"/>
              <a:sym typeface="Arial"/>
            </a:endParaRPr>
          </a:p>
        </p:txBody>
      </p:sp>
      <p:sp>
        <p:nvSpPr>
          <p:cNvPr id="783" name="Google Shape;783;p77"/>
          <p:cNvSpPr txBox="1"/>
          <p:nvPr/>
        </p:nvSpPr>
        <p:spPr>
          <a:xfrm>
            <a:off x="531480" y="1040193"/>
            <a:ext cx="7112334" cy="3656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evaluate the expression and compare it to Miguel’s and Margaret’s 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determine which operation to perform first when evaluating an expression?</a:t>
            </a:r>
            <a:endParaRPr b="0" i="0" sz="1400" u="none" cap="none" strike="noStrike">
              <a:solidFill>
                <a:srgbClr val="000000"/>
              </a:solidFill>
              <a:latin typeface="Arial"/>
              <a:ea typeface="Arial"/>
              <a:cs typeface="Arial"/>
              <a:sym typeface="Arial"/>
            </a:endParaRPr>
          </a:p>
        </p:txBody>
      </p:sp>
      <p:sp>
        <p:nvSpPr>
          <p:cNvPr id="784" name="Google Shape;784;p77"/>
          <p:cNvSpPr txBox="1"/>
          <p:nvPr/>
        </p:nvSpPr>
        <p:spPr>
          <a:xfrm>
            <a:off x="7401096" y="1293177"/>
            <a:ext cx="4674523" cy="88946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44</a:t>
            </a:r>
          </a:p>
        </p:txBody>
      </p:sp>
      <p:sp>
        <p:nvSpPr>
          <p:cNvPr id="78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sp>
        <p:nvSpPr>
          <p:cNvPr id="787" name="EWL-COVER-1"/>
          <p:cNvSpPr/>
          <p:nvPr/>
        </p:nvSpPr>
        <p:spPr>
          <a:xfrm>
            <a:off x="476615" y="5328131"/>
            <a:ext cx="11024873" cy="1118389"/>
          </a:xfrm>
          <a:prstGeom prst="rect">
            <a:avLst/>
          </a:prstGeom>
          <a:solidFill>
            <a:srgbClr val="FFFFFF"/>
          </a:solidFill>
          <a:ln>
            <a:noFill/>
          </a:ln>
        </p:spPr>
        <p:txBody>
          <a:bodyPr/>
          <a:lstStyle/>
          <a:p/>
        </p:txBody>
      </p:sp>
      <p:grpSp>
        <p:nvGrpSpPr>
          <p:cNvPr id="788" name="TEACH-5-student-move" descr="TEACH 5 · Facilitate student interactions and academic talk"/>
          <p:cNvGrpSpPr/>
          <p:nvPr/>
        </p:nvGrpSpPr>
        <p:grpSpPr>
          <a:xfrm>
            <a:off x="502920" y="4944083"/>
            <a:ext cx="11186160" cy="402336"/>
            <a:chOff x="502920" y="4944083"/>
            <a:chExt cx="11186160" cy="402336"/>
          </a:xfrm>
        </p:grpSpPr>
        <p:sp>
          <p:nvSpPr>
            <p:cNvPr id="789" name="TEACH-move-card"/>
            <p:cNvSpPr/>
            <p:nvPr/>
          </p:nvSpPr>
          <p:spPr>
            <a:xfrm>
              <a:off x="502920" y="494408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90" name="TEACH-move-rule"/>
            <p:cNvSpPr/>
            <p:nvPr/>
          </p:nvSpPr>
          <p:spPr>
            <a:xfrm>
              <a:off x="548640" y="5020527"/>
              <a:ext cx="100584" cy="249448"/>
            </a:xfrm>
            <a:prstGeom prst="roundRect">
              <a:avLst>
                <a:gd name="adj" fmla="val 50000"/>
              </a:avLst>
            </a:prstGeom>
            <a:solidFill>
              <a:srgbClr val="01708C"/>
            </a:solidFill>
            <a:ln>
              <a:noFill/>
            </a:ln>
          </p:spPr>
          <p:txBody>
            <a:bodyPr/>
            <a:lstStyle/>
            <a:p>
              <a:endParaRPr/>
            </a:p>
          </p:txBody>
        </p:sp>
        <p:sp>
          <p:nvSpPr>
            <p:cNvPr id="791" name="TEACH-move-text"/>
            <p:cNvSpPr txBox="1"/>
            <p:nvPr/>
          </p:nvSpPr>
          <p:spPr>
            <a:xfrm>
              <a:off x="822960" y="494408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RESTATE FIRST  ·  </a:t>
              </a:r>
              <a:r>
                <a:rPr lang="en-US" sz="1200" dirty="0">
                  <a:solidFill>
                    <a:srgbClr val="13303A"/>
                  </a:solidFill>
                  <a:latin typeface="Arial"/>
                </a:rPr>
                <a:t>Restate your partner’s idea in your own words before you give yours.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787"/>
                                  </p:tgtEl>
                                  <p:attrNameLst>
                                    <p:attrName>style.visibility</p:attrName>
                                  </p:attrNameLst>
                                </p:cBhvr>
                                <p:to>
                                  <p:strVal val="hidden"/>
                                </p:to>
                              </p:set>
                            </p:childTnLst>
                          </p:cTn>
                        </p:par>
                      </p:childTnLst>
                    </p:cTn>
                  </p:par>
                </p:childTnLst>
              </p:cTn>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cxnSp>
        <p:nvCxnSpPr>
          <p:cNvPr id="798" name="Google Shape;798;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9" name="Google Shape;799;p79"/>
          <p:cNvSpPr txBox="1"/>
          <p:nvPr/>
        </p:nvSpPr>
        <p:spPr>
          <a:xfrm>
            <a:off x="486000" y="936000"/>
            <a:ext cx="7298070" cy="41840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When evaluating an expression, there is an order to the operations.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Carry out operations in parentheses or brackets.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Evaluate powers.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Multiply or divide from left to right.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Add or subtract from left to right.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Which of the operations listed do you see in the expression?</a:t>
            </a:r>
            <a:endParaRPr b="0" i="0" sz="1400" u="none" cap="none" strike="noStrike">
              <a:solidFill>
                <a:srgbClr val="000000"/>
              </a:solidFill>
              <a:latin typeface="Arial"/>
              <a:ea typeface="Arial"/>
              <a:cs typeface="Arial"/>
              <a:sym typeface="Arial"/>
            </a:endParaRPr>
          </a:p>
        </p:txBody>
      </p:sp>
      <p:sp>
        <p:nvSpPr>
          <p:cNvPr id="800" name="Google Shape;800;p79"/>
          <p:cNvSpPr txBox="1"/>
          <p:nvPr/>
        </p:nvSpPr>
        <p:spPr>
          <a:xfrm>
            <a:off x="7401096" y="1293177"/>
            <a:ext cx="4674523" cy="88946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01" name="Google Shape;801;p79"/>
          <p:cNvSpPr txBox="1"/>
          <p:nvPr/>
        </p:nvSpPr>
        <p:spPr>
          <a:xfrm>
            <a:off x="486000" y="5219700"/>
            <a:ext cx="11677490" cy="1133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parentheses, a power, multiplication, addition, and subtraction.</a:t>
            </a:r>
            <a:endParaRPr b="0" i="1" sz="2800" u="none" cap="none" strike="noStrike">
              <a:solidFill>
                <a:srgbClr val="595959"/>
              </a:solidFill>
              <a:latin typeface="Arial"/>
              <a:ea typeface="Arial"/>
              <a:cs typeface="Arial"/>
              <a:sym typeface="Arial"/>
            </a:endParaRPr>
          </a:p>
        </p:txBody>
      </p:sp>
      <p:sp>
        <p:nvSpPr>
          <p:cNvPr id="802" name="Google Shape;802;p79"/>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Which Way To Go?</a:t>
            </a:r>
            <a:endParaRPr b="0" i="0" sz="1400" u="none" cap="none" strike="noStrike">
              <a:solidFill>
                <a:srgbClr val="000000"/>
              </a:solidFill>
              <a:latin typeface="Arial"/>
              <a:ea typeface="Arial"/>
              <a:cs typeface="Arial"/>
              <a:sym typeface="Arial"/>
            </a:endParaRPr>
          </a:p>
        </p:txBody>
      </p:sp>
      <p:sp>
        <p:nvSpPr>
          <p:cNvPr id="8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44</a:t>
            </a:r>
          </a:p>
        </p:txBody>
      </p:sp>
      <p:sp>
        <p:nvSpPr>
          <p:cNvPr id="804" name="EWL-COVER-1"/>
          <p:cNvSpPr/>
          <p:nvPr/>
        </p:nvSpPr>
        <p:spPr>
          <a:xfrm>
            <a:off x="431136" y="5164836"/>
            <a:ext cx="11757816" cy="1243202"/>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cxnSp>
        <p:nvCxnSpPr>
          <p:cNvPr id="842" name="Google Shape;842;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3" name="Google Shape;843;p84"/>
          <p:cNvSpPr txBox="1"/>
          <p:nvPr/>
        </p:nvSpPr>
        <p:spPr>
          <a:xfrm>
            <a:off x="7406639" y="1296781"/>
            <a:ext cx="4674523" cy="396517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844" name="Google Shape;844;p84"/>
          <p:cNvCxnSpPr/>
          <p:nvPr/>
        </p:nvCxnSpPr>
        <p:spPr>
          <a:xfrm flipH="1">
            <a:off x="9434945" y="3843246"/>
            <a:ext cx="188335" cy="271550"/>
          </a:xfrm>
          <a:prstGeom prst="straightConnector1">
            <a:avLst/>
          </a:prstGeom>
          <a:noFill/>
          <a:ln cap="flat" cmpd="sng" w="38100">
            <a:solidFill>
              <a:srgbClr val="01708C"/>
            </a:solidFill>
            <a:prstDash val="solid"/>
            <a:miter lim="80"/>
            <a:headEnd len="sm" w="sm" type="none"/>
            <a:tailEnd len="med" w="med" type="triangle"/>
          </a:ln>
        </p:spPr>
      </p:cxnSp>
      <p:cxnSp>
        <p:nvCxnSpPr>
          <p:cNvPr id="845" name="Google Shape;845;p84"/>
          <p:cNvCxnSpPr/>
          <p:nvPr/>
        </p:nvCxnSpPr>
        <p:spPr>
          <a:xfrm flipH="1">
            <a:off x="9649733" y="4521994"/>
            <a:ext cx="188335" cy="271550"/>
          </a:xfrm>
          <a:prstGeom prst="straightConnector1">
            <a:avLst/>
          </a:prstGeom>
          <a:noFill/>
          <a:ln cap="flat" cmpd="sng" w="38100">
            <a:solidFill>
              <a:srgbClr val="01708C"/>
            </a:solidFill>
            <a:prstDash val="solid"/>
            <a:miter lim="80"/>
            <a:headEnd len="sm" w="sm" type="none"/>
            <a:tailEnd len="med" w="med" type="triangle"/>
          </a:ln>
        </p:spPr>
      </p:cxnSp>
      <p:sp>
        <p:nvSpPr>
          <p:cNvPr id="846" name="Google Shape;846;p84"/>
          <p:cNvSpPr txBox="1"/>
          <p:nvPr/>
        </p:nvSpPr>
        <p:spPr>
          <a:xfrm>
            <a:off x="493776" y="5742432"/>
            <a:ext cx="2157984"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847" name="Google Shape;847;p84"/>
          <p:cNvSpPr txBox="1"/>
          <p:nvPr/>
        </p:nvSpPr>
        <p:spPr>
          <a:xfrm>
            <a:off x="495524" y="914400"/>
            <a:ext cx="7619775" cy="470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the order of operations to evaluate the expression.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Order of Operations:​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Carry out operations in parentheses or brackets.​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Evaluate powers.</a:t>
            </a:r>
            <a:r>
              <a:rPr b="1"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Multiply or divide from left to right.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1" i="0" lang="en-US" sz="2800" u="none" cap="none" strike="noStrike">
                <a:solidFill>
                  <a:srgbClr val="23282D"/>
                </a:solidFill>
                <a:latin typeface="Arial"/>
                <a:ea typeface="Arial"/>
                <a:cs typeface="Arial"/>
                <a:sym typeface="Arial"/>
              </a:rPr>
              <a:t>Add or subtract from left to right.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is the value of the expression?</a:t>
            </a:r>
            <a:endParaRPr b="0" i="0" sz="1400" u="none" cap="none" strike="noStrike">
              <a:solidFill>
                <a:srgbClr val="000000"/>
              </a:solidFill>
              <a:latin typeface="Arial"/>
              <a:ea typeface="Arial"/>
              <a:cs typeface="Arial"/>
              <a:sym typeface="Arial"/>
            </a:endParaRPr>
          </a:p>
        </p:txBody>
      </p:sp>
      <p:sp>
        <p:nvSpPr>
          <p:cNvPr id="848" name="Google Shape;848;p84"/>
          <p:cNvSpPr txBox="1"/>
          <p:nvPr/>
        </p:nvSpPr>
        <p:spPr>
          <a:xfrm>
            <a:off x="484565" y="239835"/>
            <a:ext cx="5301093" cy="41349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Which Way To Go?</a:t>
            </a:r>
            <a:endParaRPr b="0" i="0" sz="1400" u="none" cap="none" strike="noStrike">
              <a:solidFill>
                <a:srgbClr val="000000"/>
              </a:solidFill>
              <a:latin typeface="Arial"/>
              <a:ea typeface="Arial"/>
              <a:cs typeface="Arial"/>
              <a:sym typeface="Arial"/>
            </a:endParaRPr>
          </a:p>
        </p:txBody>
      </p:sp>
      <p:sp>
        <p:nvSpPr>
          <p:cNvPr id="8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44</a:t>
            </a:r>
          </a:p>
        </p:txBody>
      </p:sp>
      <p:grpSp>
        <p:nvGrpSpPr>
          <p:cNvPr id="850" name="TEACH-2-student-move" descr="TEACH 2 · Use strategies and tasks to engage students in rigorous work"/>
          <p:cNvGrpSpPr/>
          <p:nvPr/>
        </p:nvGrpSpPr>
        <p:grpSpPr>
          <a:xfrm>
            <a:off x="6187440" y="5699496"/>
            <a:ext cx="5501640" cy="594360"/>
            <a:chOff x="6187440" y="5699496"/>
            <a:chExt cx="5501640" cy="594360"/>
          </a:xfrm>
        </p:grpSpPr>
        <p:sp>
          <p:nvSpPr>
            <p:cNvPr id="851" name="TEACH-move-card"/>
            <p:cNvSpPr/>
            <p:nvPr/>
          </p:nvSpPr>
          <p:spPr>
            <a:xfrm>
              <a:off x="6187440" y="5699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52" name="TEACH-move-rule"/>
            <p:cNvSpPr/>
            <p:nvPr/>
          </p:nvSpPr>
          <p:spPr>
            <a:xfrm>
              <a:off x="6233160" y="5812424"/>
              <a:ext cx="100584" cy="368504"/>
            </a:xfrm>
            <a:prstGeom prst="roundRect">
              <a:avLst>
                <a:gd name="adj" fmla="val 50000"/>
              </a:avLst>
            </a:prstGeom>
            <a:solidFill>
              <a:srgbClr val="01708C"/>
            </a:solidFill>
            <a:ln>
              <a:noFill/>
            </a:ln>
          </p:spPr>
          <p:txBody>
            <a:bodyPr/>
            <a:lstStyle/>
            <a:p>
              <a:endParaRPr/>
            </a:p>
          </p:txBody>
        </p:sp>
        <p:sp>
          <p:nvSpPr>
            <p:cNvPr id="853" name="TEACH-move-text"/>
            <p:cNvSpPr txBox="1"/>
            <p:nvPr/>
          </p:nvSpPr>
          <p:spPr>
            <a:xfrm>
              <a:off x="6507480" y="5699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cxnSp>
        <p:nvCxnSpPr>
          <p:cNvPr id="853" name="Google Shape;853;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4" name="Google Shape;854;p85"/>
          <p:cNvSpPr txBox="1"/>
          <p:nvPr/>
        </p:nvSpPr>
        <p:spPr>
          <a:xfrm>
            <a:off x="7406639" y="1296781"/>
            <a:ext cx="4674523" cy="396517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855" name="Google Shape;855;p85"/>
          <p:cNvCxnSpPr/>
          <p:nvPr/>
        </p:nvCxnSpPr>
        <p:spPr>
          <a:xfrm flipH="1">
            <a:off x="9434945" y="3843246"/>
            <a:ext cx="188335" cy="271550"/>
          </a:xfrm>
          <a:prstGeom prst="straightConnector1">
            <a:avLst/>
          </a:prstGeom>
          <a:noFill/>
          <a:ln cap="flat" cmpd="sng" w="38100">
            <a:solidFill>
              <a:srgbClr val="01708C"/>
            </a:solidFill>
            <a:prstDash val="solid"/>
            <a:miter lim="80"/>
            <a:headEnd len="sm" w="sm" type="none"/>
            <a:tailEnd len="med" w="med" type="triangle"/>
          </a:ln>
        </p:spPr>
      </p:cxnSp>
      <p:cxnSp>
        <p:nvCxnSpPr>
          <p:cNvPr id="856" name="Google Shape;856;p85"/>
          <p:cNvCxnSpPr/>
          <p:nvPr/>
        </p:nvCxnSpPr>
        <p:spPr>
          <a:xfrm flipH="1">
            <a:off x="9649733" y="4521994"/>
            <a:ext cx="188335" cy="271550"/>
          </a:xfrm>
          <a:prstGeom prst="straightConnector1">
            <a:avLst/>
          </a:prstGeom>
          <a:noFill/>
          <a:ln cap="flat" cmpd="sng" w="38100">
            <a:solidFill>
              <a:srgbClr val="01708C"/>
            </a:solidFill>
            <a:prstDash val="solid"/>
            <a:miter lim="80"/>
            <a:headEnd len="sm" w="sm" type="none"/>
            <a:tailEnd len="med" w="med" type="triangle"/>
          </a:ln>
        </p:spPr>
      </p:cxnSp>
      <p:sp>
        <p:nvSpPr>
          <p:cNvPr id="857" name="Google Shape;857;p85"/>
          <p:cNvSpPr txBox="1"/>
          <p:nvPr/>
        </p:nvSpPr>
        <p:spPr>
          <a:xfrm>
            <a:off x="493776" y="5742432"/>
            <a:ext cx="2157984"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Reveal: 12</a:t>
            </a:r>
            <a:r>
              <a:rPr b="1" i="0" lang="en-US" sz="2800" u="none" cap="none" strike="noStrike">
                <a:solidFill>
                  <a:srgbClr val="E0E0E0"/>
                </a:solidFill>
                <a:highlight>
                  <a:srgbClr val="E0E0E0"/>
                </a:highlight>
                <a:latin typeface="Arial"/>
                <a:ea typeface="Arial"/>
                <a:cs typeface="Arial"/>
                <a:sym typeface="Arial"/>
              </a:rPr>
              <a:t/>
            </a:r>
            <a:r>
              <a:rPr b="1" i="0" lang="en-US" sz="2800" u="none" cap="none" strike="noStrike">
                <a:solidFill>
                  <a:srgbClr val="0070C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
            </a:r>
            <a:endParaRPr b="0" i="1" sz="2800" u="none" cap="none" strike="noStrike">
              <a:solidFill>
                <a:srgbClr val="595959"/>
              </a:solidFill>
              <a:latin typeface="Arial"/>
              <a:ea typeface="Arial"/>
              <a:cs typeface="Arial"/>
              <a:sym typeface="Arial"/>
            </a:endParaRPr>
          </a:p>
        </p:txBody>
      </p:sp>
      <p:sp>
        <p:nvSpPr>
          <p:cNvPr id="858" name="Google Shape;858;p85"/>
          <p:cNvSpPr txBox="1"/>
          <p:nvPr/>
        </p:nvSpPr>
        <p:spPr>
          <a:xfrm>
            <a:off x="495524" y="914400"/>
            <a:ext cx="7619775" cy="470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the order of operations to evaluate the expression.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Order of Operations:​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Carry out operations in parentheses or brackets.​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Evaluate powers.</a:t>
            </a:r>
            <a:r>
              <a:rPr b="1"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Multiply or divide from left to right.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262626"/>
              </a:buClr>
              <a:buSzPts val="2800"/>
              <a:buFont typeface="Arial"/>
              <a:buChar char="•"/>
              <a:defRPr/>
            </a:pPr>
            <a:r>
              <a:rPr b="1" i="0" lang="en-US" sz="2800" u="none" cap="none" strike="noStrike">
                <a:solidFill>
                  <a:srgbClr val="23282D"/>
                </a:solidFill>
                <a:latin typeface="Arial"/>
                <a:ea typeface="Arial"/>
                <a:cs typeface="Arial"/>
                <a:sym typeface="Arial"/>
              </a:rPr>
              <a:t>Add or subtract from left to right.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is the value of the expression?</a:t>
            </a:r>
            <a:endParaRPr b="0" i="0" sz="1400" u="none" cap="none" strike="noStrike">
              <a:solidFill>
                <a:srgbClr val="000000"/>
              </a:solidFill>
              <a:latin typeface="Arial"/>
              <a:ea typeface="Arial"/>
              <a:cs typeface="Arial"/>
              <a:sym typeface="Arial"/>
            </a:endParaRPr>
          </a:p>
        </p:txBody>
      </p:sp>
      <p:sp>
        <p:nvSpPr>
          <p:cNvPr id="859" name="Google Shape;859;p85"/>
          <p:cNvSpPr txBox="1"/>
          <p:nvPr/>
        </p:nvSpPr>
        <p:spPr>
          <a:xfrm>
            <a:off x="484565" y="239835"/>
            <a:ext cx="5301093" cy="41349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Which Way To Go?</a:t>
            </a:r>
            <a:endParaRPr b="0" i="0" sz="1400" u="none" cap="none" strike="noStrike">
              <a:solidFill>
                <a:srgbClr val="000000"/>
              </a:solidFill>
              <a:latin typeface="Arial"/>
              <a:ea typeface="Arial"/>
              <a:cs typeface="Arial"/>
              <a:sym typeface="Arial"/>
            </a:endParaRPr>
          </a:p>
        </p:txBody>
      </p:sp>
      <p:sp>
        <p:nvSpPr>
          <p:cNvPr id="8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44</a:t>
            </a:r>
          </a:p>
        </p:txBody>
      </p:sp>
      <p:grpSp>
        <p:nvGrpSpPr>
          <p:cNvPr id="861" name="TEACH-3-student-move" descr="TEACH 3 · Use intentional questioning to deepen learning"/>
          <p:cNvGrpSpPr/>
          <p:nvPr/>
        </p:nvGrpSpPr>
        <p:grpSpPr>
          <a:xfrm>
            <a:off x="6187440" y="5699496"/>
            <a:ext cx="5501640" cy="594360"/>
            <a:chOff x="6187440" y="5699496"/>
            <a:chExt cx="5501640" cy="594360"/>
          </a:xfrm>
        </p:grpSpPr>
        <p:sp>
          <p:nvSpPr>
            <p:cNvPr id="862" name="TEACH-move-card"/>
            <p:cNvSpPr/>
            <p:nvPr/>
          </p:nvSpPr>
          <p:spPr>
            <a:xfrm>
              <a:off x="6187440" y="5699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63" name="TEACH-move-rule"/>
            <p:cNvSpPr/>
            <p:nvPr/>
          </p:nvSpPr>
          <p:spPr>
            <a:xfrm>
              <a:off x="6233160" y="5812424"/>
              <a:ext cx="100584" cy="368504"/>
            </a:xfrm>
            <a:prstGeom prst="roundRect">
              <a:avLst>
                <a:gd name="adj" fmla="val 50000"/>
              </a:avLst>
            </a:prstGeom>
            <a:solidFill>
              <a:srgbClr val="01708C"/>
            </a:solidFill>
            <a:ln>
              <a:noFill/>
            </a:ln>
          </p:spPr>
          <p:txBody>
            <a:bodyPr/>
            <a:lstStyle/>
            <a:p>
              <a:endParaRPr/>
            </a:p>
          </p:txBody>
        </p:sp>
        <p:sp>
          <p:nvSpPr>
            <p:cNvPr id="864" name="TEACH-move-text"/>
            <p:cNvSpPr txBox="1"/>
            <p:nvPr/>
          </p:nvSpPr>
          <p:spPr>
            <a:xfrm>
              <a:off x="6507480" y="5699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cxnSp>
        <p:nvCxnSpPr>
          <p:cNvPr id="875" name="Google Shape;875;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76" name="Google Shape;876;p87"/>
          <p:cNvPicPr preferRelativeResize="0"/>
          <p:nvPr/>
        </p:nvPicPr>
        <p:blipFill rotWithShape="1">
          <a:blip r:embed="rId3">
            <a:alphaModFix/>
          </a:blip>
          <a:srcRect b="0" l="0" r="0" t="0"/>
          <a:stretch/>
        </p:blipFill>
        <p:spPr>
          <a:xfrm>
            <a:off x="474056" y="5029193"/>
            <a:ext cx="7073900" cy="838200"/>
          </a:xfrm>
          <a:prstGeom prst="rect">
            <a:avLst/>
          </a:prstGeom>
          <a:noFill/>
          <a:ln>
            <a:noFill/>
          </a:ln>
        </p:spPr>
      </p:pic>
      <p:sp>
        <p:nvSpPr>
          <p:cNvPr id="877" name="Google Shape;877;p87"/>
          <p:cNvSpPr/>
          <p:nvPr/>
        </p:nvSpPr>
        <p:spPr>
          <a:xfrm>
            <a:off x="649774" y="5844516"/>
            <a:ext cx="1130392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is this problem like something you have done before?​</a:t>
            </a:r>
            <a:endParaRPr b="0" i="0" sz="1400" u="none" cap="none" strike="noStrike">
              <a:solidFill>
                <a:srgbClr val="000000"/>
              </a:solidFill>
              <a:latin typeface="Arial"/>
              <a:ea typeface="Arial"/>
              <a:cs typeface="Arial"/>
              <a:sym typeface="Arial"/>
            </a:endParaRPr>
          </a:p>
        </p:txBody>
      </p:sp>
      <p:sp>
        <p:nvSpPr>
          <p:cNvPr id="878" name="Google Shape;878;p87"/>
          <p:cNvSpPr txBox="1"/>
          <p:nvPr/>
        </p:nvSpPr>
        <p:spPr>
          <a:xfrm>
            <a:off x="3177722" y="5186511"/>
            <a:ext cx="387147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Making Connections</a:t>
            </a:r>
            <a:endParaRPr b="0" i="0" sz="1400" u="none" cap="none" strike="noStrike">
              <a:solidFill>
                <a:srgbClr val="000000"/>
              </a:solidFill>
              <a:latin typeface="Arial"/>
              <a:ea typeface="Arial"/>
              <a:cs typeface="Arial"/>
              <a:sym typeface="Arial"/>
            </a:endParaRPr>
          </a:p>
        </p:txBody>
      </p:sp>
      <p:sp>
        <p:nvSpPr>
          <p:cNvPr id="879" name="Google Shape;879;p87"/>
          <p:cNvSpPr txBox="1"/>
          <p:nvPr/>
        </p:nvSpPr>
        <p:spPr>
          <a:xfrm>
            <a:off x="474056" y="3568954"/>
            <a:ext cx="7237960" cy="1380379"/>
          </a:xfrm>
          <a:prstGeom prst="rect">
            <a:avLst/>
          </a:prstGeom>
          <a:noFill/>
          <a:ln cap="flat" cmpd="sng" w="9525">
            <a:solidFill>
              <a:srgbClr val="7030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value of the expression is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Margaret evaluated the expression correctly.</a:t>
            </a:r>
            <a:endParaRPr b="1" i="0" sz="2800" u="none" cap="none" strike="noStrike">
              <a:solidFill>
                <a:srgbClr val="262626"/>
              </a:solidFill>
              <a:latin typeface="Arial"/>
              <a:ea typeface="Arial"/>
              <a:cs typeface="Arial"/>
              <a:sym typeface="Arial"/>
            </a:endParaRPr>
          </a:p>
        </p:txBody>
      </p:sp>
      <p:sp>
        <p:nvSpPr>
          <p:cNvPr id="880" name="Google Shape;880;p87"/>
          <p:cNvSpPr txBox="1"/>
          <p:nvPr/>
        </p:nvSpPr>
        <p:spPr>
          <a:xfrm>
            <a:off x="484564" y="936101"/>
            <a:ext cx="5285510" cy="25053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Miguel and Margaret each evaluated the same expression, but got two different solutions.</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Who evaluated the expression correctly?</a:t>
            </a:r>
            <a:endParaRPr b="0" i="0" sz="1400" u="none" cap="none" strike="noStrike">
              <a:solidFill>
                <a:srgbClr val="000000"/>
              </a:solidFill>
              <a:latin typeface="Arial"/>
              <a:ea typeface="Arial"/>
              <a:cs typeface="Arial"/>
              <a:sym typeface="Arial"/>
            </a:endParaRPr>
          </a:p>
        </p:txBody>
      </p:sp>
      <p:pic>
        <p:nvPicPr>
          <p:cNvPr id="881" name="Google Shape;881;p87"/>
          <p:cNvPicPr preferRelativeResize="0"/>
          <p:nvPr/>
        </p:nvPicPr>
        <p:blipFill rotWithShape="1">
          <a:blip r:embed="rId4">
            <a:alphaModFix/>
          </a:blip>
          <a:srcRect b="0" l="0" r="0" t="0"/>
          <a:stretch/>
        </p:blipFill>
        <p:spPr>
          <a:xfrm>
            <a:off x="5770074" y="1561384"/>
            <a:ext cx="6286500" cy="1752600"/>
          </a:xfrm>
          <a:prstGeom prst="rect">
            <a:avLst/>
          </a:prstGeom>
          <a:noFill/>
          <a:ln>
            <a:noFill/>
          </a:ln>
        </p:spPr>
      </p:pic>
      <p:sp>
        <p:nvSpPr>
          <p:cNvPr id="882" name="Google Shape;882;p87"/>
          <p:cNvSpPr txBox="1"/>
          <p:nvPr/>
        </p:nvSpPr>
        <p:spPr>
          <a:xfrm>
            <a:off x="484565" y="316034"/>
            <a:ext cx="5301093" cy="6200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Which Way To Go?</a:t>
            </a:r>
            <a:endParaRPr b="0" i="0" sz="1400" u="none" cap="none" strike="noStrike">
              <a:solidFill>
                <a:srgbClr val="000000"/>
              </a:solidFill>
              <a:latin typeface="Arial"/>
              <a:ea typeface="Arial"/>
              <a:cs typeface="Arial"/>
              <a:sym typeface="Arial"/>
            </a:endParaRPr>
          </a:p>
        </p:txBody>
      </p:sp>
      <p:sp>
        <p:nvSpPr>
          <p:cNvPr id="8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44</a:t>
            </a:r>
          </a:p>
        </p:txBody>
      </p:sp>
      <p:grpSp>
        <p:nvGrpSpPr>
          <p:cNvPr id="884" name="TEACH-2-student-move" descr="TEACH 2 · Use strategies and tasks to engage students in rigorous work"/>
          <p:cNvGrpSpPr/>
          <p:nvPr/>
        </p:nvGrpSpPr>
        <p:grpSpPr>
          <a:xfrm>
            <a:off x="6187440" y="884728"/>
            <a:ext cx="5501640" cy="594360"/>
            <a:chOff x="6187440" y="884728"/>
            <a:chExt cx="5501640" cy="594360"/>
          </a:xfrm>
        </p:grpSpPr>
        <p:sp>
          <p:nvSpPr>
            <p:cNvPr id="885" name="TEACH-move-card"/>
            <p:cNvSpPr/>
            <p:nvPr/>
          </p:nvSpPr>
          <p:spPr>
            <a:xfrm>
              <a:off x="6187440" y="884728"/>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86" name="TEACH-move-rule"/>
            <p:cNvSpPr/>
            <p:nvPr/>
          </p:nvSpPr>
          <p:spPr>
            <a:xfrm>
              <a:off x="6233160" y="997656"/>
              <a:ext cx="100584" cy="368504"/>
            </a:xfrm>
            <a:prstGeom prst="roundRect">
              <a:avLst>
                <a:gd name="adj" fmla="val 50000"/>
              </a:avLst>
            </a:prstGeom>
            <a:solidFill>
              <a:srgbClr val="01708C"/>
            </a:solidFill>
            <a:ln>
              <a:noFill/>
            </a:ln>
          </p:spPr>
          <p:txBody>
            <a:bodyPr/>
            <a:lstStyle/>
            <a:p>
              <a:endParaRPr/>
            </a:p>
          </p:txBody>
        </p:sp>
        <p:sp>
          <p:nvSpPr>
            <p:cNvPr id="887" name="TEACH-move-text"/>
            <p:cNvSpPr txBox="1"/>
            <p:nvPr/>
          </p:nvSpPr>
          <p:spPr>
            <a:xfrm>
              <a:off x="6507480" y="884728"/>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8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88" name="Google Shape;888;p88"/>
          <p:cNvSpPr txBox="1"/>
          <p:nvPr/>
        </p:nvSpPr>
        <p:spPr>
          <a:xfrm>
            <a:off x="495445" y="1256109"/>
            <a:ext cx="9477230" cy="5172972"/>
          </a:xfrm>
          <a:prstGeom prst="rect">
            <a:avLst/>
          </a:prstGeom>
          <a:blipFill rotWithShape="1">
            <a:blip r:embed="rId3">
              <a:alphaModFix/>
            </a:blip>
            <a:stretch>
              <a:fillRect b="0" l="-1158" r="-965" t="-117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44</a:t>
            </a:r>
          </a:p>
        </p:txBody>
      </p:sp>
      <p:grpSp>
        <p:nvGrpSpPr>
          <p:cNvPr id="890" name="TEACH-2-student-move" descr="TEACH 2 · Use strategies and tasks to engage students in rigorous work"/>
          <p:cNvGrpSpPr/>
          <p:nvPr/>
        </p:nvGrpSpPr>
        <p:grpSpPr>
          <a:xfrm>
            <a:off x="502920" y="899493"/>
            <a:ext cx="11186160" cy="320040"/>
            <a:chOff x="502920" y="899493"/>
            <a:chExt cx="11186160" cy="320040"/>
          </a:xfrm>
        </p:grpSpPr>
        <p:sp>
          <p:nvSpPr>
            <p:cNvPr id="891" name="TEACH-move-card"/>
            <p:cNvSpPr/>
            <p:nvPr/>
          </p:nvSpPr>
          <p:spPr>
            <a:xfrm>
              <a:off x="502920" y="89949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892" name="TEACH-move-rule"/>
            <p:cNvSpPr/>
            <p:nvPr/>
          </p:nvSpPr>
          <p:spPr>
            <a:xfrm>
              <a:off x="548640" y="960301"/>
              <a:ext cx="100584" cy="198424"/>
            </a:xfrm>
            <a:prstGeom prst="roundRect">
              <a:avLst>
                <a:gd name="adj" fmla="val 50000"/>
              </a:avLst>
            </a:prstGeom>
            <a:solidFill>
              <a:srgbClr val="01708C"/>
            </a:solidFill>
            <a:ln>
              <a:noFill/>
            </a:ln>
          </p:spPr>
          <p:txBody>
            <a:bodyPr/>
            <a:lstStyle/>
            <a:p>
              <a:endParaRPr/>
            </a:p>
          </p:txBody>
        </p:sp>
        <p:sp>
          <p:nvSpPr>
            <p:cNvPr id="893" name="TEACH-move-text"/>
            <p:cNvSpPr txBox="1"/>
            <p:nvPr/>
          </p:nvSpPr>
          <p:spPr>
            <a:xfrm>
              <a:off x="822960" y="89949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applying operations strictly left to right regardless of grouping.</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Annotate grouping and powers in the given expression before evaluating one stage at a time.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79" name="Google Shape;77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0" name="Google Shape;780;p77"/>
          <p:cNvSpPr txBox="1"/>
          <p:nvPr/>
        </p:nvSpPr>
        <p:spPr>
          <a:xfrm>
            <a:off x="868697" y="419976"/>
            <a:ext cx="5227303" cy="54065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81" name="Google Shape;781;p77"/>
          <p:cNvPicPr preferRelativeResize="0"/>
          <p:nvPr/>
        </p:nvPicPr>
        <p:blipFill rotWithShape="1">
          <a:blip r:embed="rId2">
            <a:alphaModFix/>
          </a:blip>
          <a:srcRect b="0" l="0" r="0" t="0"/>
          <a:stretch/>
        </p:blipFill>
        <p:spPr>
          <a:xfrm>
            <a:off x="515062" y="499534"/>
            <a:ext cx="353635" cy="340537"/>
          </a:xfrm>
          <a:prstGeom prst="rect">
            <a:avLst/>
          </a:prstGeom>
          <a:noFill/>
          <a:ln>
            <a:noFill/>
          </a:ln>
        </p:spPr>
      </p:pic>
      <p:sp>
        <p:nvSpPr>
          <p:cNvPr id="782" name="Google Shape;782;p77"/>
          <p:cNvSpPr txBox="1"/>
          <p:nvPr/>
        </p:nvSpPr>
        <p:spPr>
          <a:xfrm>
            <a:off x="531479" y="5382995"/>
            <a:ext cx="10915145" cy="1051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order of operations.</a:t>
            </a:r>
            <a:endParaRPr b="0" i="1" sz="2800" u="none" cap="none" strike="noStrike">
              <a:solidFill>
                <a:srgbClr val="595959"/>
              </a:solidFill>
              <a:latin typeface="Arial"/>
              <a:ea typeface="Arial"/>
              <a:cs typeface="Arial"/>
              <a:sym typeface="Arial"/>
            </a:endParaRPr>
          </a:p>
        </p:txBody>
      </p:sp>
      <p:sp>
        <p:nvSpPr>
          <p:cNvPr id="783" name="Google Shape;783;p77"/>
          <p:cNvSpPr txBox="1"/>
          <p:nvPr/>
        </p:nvSpPr>
        <p:spPr>
          <a:xfrm>
            <a:off x="531480" y="1040193"/>
            <a:ext cx="7112334" cy="3656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Let’s evaluate the expression and compare it to Miguel’s and Margaret’s 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determine which operation to perform first when evaluating an expression?</a:t>
            </a:r>
            <a:endParaRPr b="0" i="0" sz="1400" u="none" cap="none" strike="noStrike">
              <a:solidFill>
                <a:srgbClr val="000000"/>
              </a:solidFill>
              <a:latin typeface="Arial"/>
              <a:ea typeface="Arial"/>
              <a:cs typeface="Arial"/>
              <a:sym typeface="Arial"/>
            </a:endParaRPr>
          </a:p>
        </p:txBody>
      </p:sp>
      <p:sp>
        <p:nvSpPr>
          <p:cNvPr id="784" name="Google Shape;784;p77"/>
          <p:cNvSpPr txBox="1"/>
          <p:nvPr/>
        </p:nvSpPr>
        <p:spPr>
          <a:xfrm>
            <a:off x="7401096" y="1293177"/>
            <a:ext cx="4674523" cy="88946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44</a:t>
            </a:r>
          </a:p>
        </p:txBody>
      </p:sp>
      <p:sp xmlns:p="http://schemas.openxmlformats.org/presentationml/2006/main" xmlns:a="http://schemas.openxmlformats.org/drawingml/2006/main">
        <p:nvSpPr>
          <p:cNvPr id="785" name="TEACH-embedded-student-prompt" descr="Student thinking and response directions"/>
          <p:cNvSpPr txBox="1"/>
          <p:nvPr/>
        </p:nvSpPr>
        <p:spPr>
          <a:xfrm>
            <a:off x="594360" y="48097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cxnSp>
        <p:nvCxnSpPr>
          <p:cNvPr id="893" name="Google Shape;893;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4" name="Google Shape;894;p89"/>
          <p:cNvSpPr txBox="1"/>
          <p:nvPr/>
        </p:nvSpPr>
        <p:spPr>
          <a:xfrm>
            <a:off x="484565" y="316033"/>
            <a:ext cx="5600351" cy="121350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Write and Evaluate Numerical Expressions with Exponents</a:t>
            </a:r>
            <a:endParaRPr b="1" i="0" sz="1500" u="none" cap="none" strike="noStrike">
              <a:solidFill>
                <a:srgbClr val="782DA0"/>
              </a:solidFill>
              <a:latin typeface="Arial"/>
              <a:ea typeface="Arial"/>
              <a:cs typeface="Arial"/>
              <a:sym typeface="Arial"/>
            </a:endParaRPr>
          </a:p>
        </p:txBody>
      </p:sp>
      <p:sp>
        <p:nvSpPr>
          <p:cNvPr id="895" name="Google Shape;895;p89"/>
          <p:cNvSpPr/>
          <p:nvPr/>
        </p:nvSpPr>
        <p:spPr>
          <a:xfrm>
            <a:off x="484565" y="1753985"/>
            <a:ext cx="10245348"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order of operations are rules that tell which operation to perform first when more than one operation is found in an expression. This guarantees that the same value of a numerical expression is found each time the expression is evaluated.</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a:t/>
            </a:r>
            <a:endParaRPr b="1" i="0" sz="2800" u="none" cap="none" strike="noStrike">
              <a:solidFill>
                <a:schemeClr val="dk1"/>
              </a:solidFill>
              <a:latin typeface="Arial"/>
              <a:ea typeface="Arial"/>
              <a:cs typeface="Arial"/>
              <a:sym typeface="Arial"/>
            </a:endParaRPr>
          </a:p>
        </p:txBody>
      </p:sp>
      <p:sp>
        <p:nvSpPr>
          <p:cNvPr id="896" name="Google Shape;896;p89"/>
          <p:cNvSpPr/>
          <p:nvPr/>
        </p:nvSpPr>
        <p:spPr>
          <a:xfrm>
            <a:off x="484565" y="4050000"/>
            <a:ext cx="8335238" cy="205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Arial"/>
              <a:buNone/>
              <a:defRPr/>
            </a:pPr>
            <a:r>
              <a:rPr b="1" i="0" lang="en-US" sz="2600" u="none" cap="none" strike="noStrike">
                <a:solidFill>
                  <a:schemeClr val="dk1"/>
                </a:solidFill>
                <a:latin typeface="Arial"/>
                <a:ea typeface="Arial"/>
                <a:cs typeface="Arial"/>
                <a:sym typeface="Arial"/>
              </a:rPr>
              <a:t>Order of Operations</a:t>
            </a:r>
            <a:endParaRPr b="0" i="0" sz="2600" u="none" cap="none" strike="noStrike">
              <a:solidFill>
                <a:srgbClr val="000000"/>
              </a:solidFill>
              <a:latin typeface="Arial"/>
              <a:ea typeface="Arial"/>
              <a:cs typeface="Arial"/>
              <a:sym typeface="Arial"/>
            </a:endParaRPr>
          </a:p>
          <a:p>
            <a:pPr indent="-514350" lvl="0" marL="514350" marR="0" rtl="0" algn="l">
              <a:lnSpc>
                <a:spcPct val="90000"/>
              </a:lnSpc>
              <a:spcBef>
                <a:spcPts val="0"/>
              </a:spcBef>
              <a:spcAft>
                <a:spcPts val="0"/>
              </a:spcAft>
              <a:buClr>
                <a:schemeClr val="dk1"/>
              </a:buClr>
              <a:buSzPts val="2800"/>
              <a:buFont typeface="Calibri"/>
              <a:buAutoNum type="arabicPeriod"/>
              <a:defRPr/>
            </a:pPr>
            <a:r>
              <a:rPr b="0" i="0" lang="en-US" sz="2200" u="none" cap="none" strike="noStrike">
                <a:solidFill>
                  <a:schemeClr val="dk1"/>
                </a:solidFill>
                <a:latin typeface="Arial"/>
                <a:ea typeface="Arial"/>
                <a:cs typeface="Arial"/>
                <a:sym typeface="Arial"/>
              </a:rPr>
              <a:t>Carry out operations in parentheses or brackets.</a:t>
            </a:r>
            <a:endParaRPr b="0" i="0" sz="2200" u="none" cap="none" strike="noStrike">
              <a:solidFill>
                <a:srgbClr val="000000"/>
              </a:solidFill>
              <a:latin typeface="Arial"/>
              <a:ea typeface="Arial"/>
              <a:cs typeface="Arial"/>
              <a:sym typeface="Arial"/>
            </a:endParaRPr>
          </a:p>
          <a:p>
            <a:pPr indent="-514350" lvl="0" marL="514350" marR="0" rtl="0" algn="l">
              <a:lnSpc>
                <a:spcPct val="90000"/>
              </a:lnSpc>
              <a:spcBef>
                <a:spcPts val="0"/>
              </a:spcBef>
              <a:spcAft>
                <a:spcPts val="0"/>
              </a:spcAft>
              <a:buClr>
                <a:schemeClr val="dk1"/>
              </a:buClr>
              <a:buSzPts val="2800"/>
              <a:buFont typeface="Calibri"/>
              <a:buAutoNum type="arabicPeriod"/>
              <a:defRPr/>
            </a:pPr>
            <a:r>
              <a:rPr b="0" i="0" lang="en-US" sz="2200" u="none" cap="none" strike="noStrike">
                <a:solidFill>
                  <a:schemeClr val="dk1"/>
                </a:solidFill>
                <a:latin typeface="Arial"/>
                <a:ea typeface="Arial"/>
                <a:cs typeface="Arial"/>
                <a:sym typeface="Arial"/>
              </a:rPr>
              <a:t>Evaluate powers.</a:t>
            </a:r>
            <a:endParaRPr b="0" i="0" sz="2200" u="none" cap="none" strike="noStrike">
              <a:solidFill>
                <a:srgbClr val="000000"/>
              </a:solidFill>
              <a:latin typeface="Arial"/>
              <a:ea typeface="Arial"/>
              <a:cs typeface="Arial"/>
              <a:sym typeface="Arial"/>
            </a:endParaRPr>
          </a:p>
          <a:p>
            <a:pPr indent="-514350" lvl="0" marL="514350" marR="0" rtl="0" algn="l">
              <a:lnSpc>
                <a:spcPct val="90000"/>
              </a:lnSpc>
              <a:spcBef>
                <a:spcPts val="0"/>
              </a:spcBef>
              <a:spcAft>
                <a:spcPts val="0"/>
              </a:spcAft>
              <a:buClr>
                <a:schemeClr val="dk1"/>
              </a:buClr>
              <a:buSzPts val="2800"/>
              <a:buFont typeface="Calibri"/>
              <a:buAutoNum type="arabicPeriod"/>
              <a:defRPr/>
            </a:pPr>
            <a:r>
              <a:rPr b="0" i="0" lang="en-US" sz="2200" u="none" cap="none" strike="noStrike">
                <a:solidFill>
                  <a:schemeClr val="dk1"/>
                </a:solidFill>
                <a:latin typeface="Arial"/>
                <a:ea typeface="Arial"/>
                <a:cs typeface="Arial"/>
                <a:sym typeface="Arial"/>
              </a:rPr>
              <a:t>Multiply or divide from left to right.</a:t>
            </a:r>
            <a:endParaRPr b="0" i="0" sz="2200" u="none" cap="none" strike="noStrike">
              <a:solidFill>
                <a:srgbClr val="000000"/>
              </a:solidFill>
              <a:latin typeface="Arial"/>
              <a:ea typeface="Arial"/>
              <a:cs typeface="Arial"/>
              <a:sym typeface="Arial"/>
            </a:endParaRPr>
          </a:p>
          <a:p>
            <a:pPr indent="-514350" lvl="0" marL="514350" marR="0" rtl="0" algn="l">
              <a:lnSpc>
                <a:spcPct val="90000"/>
              </a:lnSpc>
              <a:spcBef>
                <a:spcPts val="0"/>
              </a:spcBef>
              <a:spcAft>
                <a:spcPts val="0"/>
              </a:spcAft>
              <a:buClr>
                <a:schemeClr val="dk1"/>
              </a:buClr>
              <a:buSzPts val="2800"/>
              <a:buFont typeface="Calibri"/>
              <a:buAutoNum type="arabicPeriod"/>
              <a:defRPr/>
            </a:pPr>
            <a:r>
              <a:rPr b="0" i="0" lang="en-US" sz="2200" u="none" cap="none" strike="noStrike">
                <a:solidFill>
                  <a:schemeClr val="dk1"/>
                </a:solidFill>
                <a:latin typeface="Arial"/>
                <a:ea typeface="Arial"/>
                <a:cs typeface="Arial"/>
                <a:sym typeface="Arial"/>
              </a:rPr>
              <a:t>Add or subtract from left to right.</a:t>
            </a:r>
            <a:endParaRPr b="1" i="0" sz="2200" u="none" cap="none" strike="noStrike">
              <a:solidFill>
                <a:schemeClr val="dk1"/>
              </a:solidFill>
              <a:latin typeface="Arial"/>
              <a:ea typeface="Arial"/>
              <a:cs typeface="Arial"/>
              <a:sym typeface="Arial"/>
            </a:endParaRPr>
          </a:p>
        </p:txBody>
      </p:sp>
      <p:sp>
        <p:nvSpPr>
          <p:cNvPr id="8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44</a:t>
            </a:r>
          </a:p>
        </p:txBody>
      </p:sp>
      <p:sp>
        <p:nvSpPr>
          <p:cNvPr id="89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899" name="TEACH-3-student-move" descr="TEACH 3 · Use intentional questioning to deepen learning"/>
          <p:cNvGrpSpPr/>
          <p:nvPr/>
        </p:nvGrpSpPr>
        <p:grpSpPr>
          <a:xfrm>
            <a:off x="6187440" y="1077329"/>
            <a:ext cx="5501640" cy="594360"/>
            <a:chOff x="6187440" y="1077329"/>
            <a:chExt cx="5501640" cy="594360"/>
          </a:xfrm>
        </p:grpSpPr>
        <p:sp>
          <p:nvSpPr>
            <p:cNvPr id="900" name="TEACH-move-card"/>
            <p:cNvSpPr/>
            <p:nvPr/>
          </p:nvSpPr>
          <p:spPr>
            <a:xfrm>
              <a:off x="6187440" y="107732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1" name="TEACH-move-rule"/>
            <p:cNvSpPr/>
            <p:nvPr/>
          </p:nvSpPr>
          <p:spPr>
            <a:xfrm>
              <a:off x="6233160" y="1190257"/>
              <a:ext cx="100584" cy="368504"/>
            </a:xfrm>
            <a:prstGeom prst="roundRect">
              <a:avLst>
                <a:gd name="adj" fmla="val 50000"/>
              </a:avLst>
            </a:prstGeom>
            <a:solidFill>
              <a:srgbClr val="01708C"/>
            </a:solidFill>
            <a:ln>
              <a:noFill/>
            </a:ln>
          </p:spPr>
          <p:txBody>
            <a:bodyPr/>
            <a:lstStyle/>
            <a:p>
              <a:endParaRPr/>
            </a:p>
          </p:txBody>
        </p:sp>
        <p:sp>
          <p:nvSpPr>
            <p:cNvPr id="902" name="TEACH-move-text"/>
            <p:cNvSpPr txBox="1"/>
            <p:nvPr/>
          </p:nvSpPr>
          <p:spPr>
            <a:xfrm>
              <a:off x="6507480" y="107732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cxnSp>
        <p:nvCxnSpPr>
          <p:cNvPr id="901" name="Google Shape;901;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2" name="Google Shape;902;p90"/>
          <p:cNvSpPr txBox="1"/>
          <p:nvPr/>
        </p:nvSpPr>
        <p:spPr>
          <a:xfrm>
            <a:off x="484564" y="927528"/>
            <a:ext cx="7262898" cy="55148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Akela has been given a challenge by his math teacher to see how many different values the expression shown can have depending on where one set of parentheses is placed.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 </a:t>
            </a:r>
            <a:r>
              <a:rPr b="0" i="0" lang="en-US" sz="2800" u="none" cap="none" strike="noStrike">
                <a:solidFill>
                  <a:srgbClr val="23282D"/>
                </a:solidFill>
                <a:latin typeface="Arial"/>
                <a:ea typeface="Arial"/>
                <a:cs typeface="Arial"/>
                <a:sym typeface="Arial"/>
              </a:rPr>
              <a:t>How many different values can you come up with?</a:t>
            </a:r>
            <a:endParaRPr b="0" i="0" sz="1400" u="none" cap="none" strike="noStrike">
              <a:solidFill>
                <a:srgbClr val="000000"/>
              </a:solidFill>
              <a:latin typeface="Arial"/>
              <a:ea typeface="Arial"/>
              <a:cs typeface="Arial"/>
              <a:sym typeface="Arial"/>
            </a:endParaRPr>
          </a:p>
        </p:txBody>
      </p:sp>
      <p:sp>
        <p:nvSpPr>
          <p:cNvPr id="903" name="Google Shape;903;p9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Missing Parentheses?</a:t>
            </a:r>
            <a:endParaRPr b="0" i="0" sz="1400" u="none" cap="none" strike="noStrike">
              <a:solidFill>
                <a:srgbClr val="000000"/>
              </a:solidFill>
              <a:latin typeface="Arial"/>
              <a:ea typeface="Arial"/>
              <a:cs typeface="Arial"/>
              <a:sym typeface="Arial"/>
            </a:endParaRPr>
          </a:p>
        </p:txBody>
      </p:sp>
      <p:pic>
        <p:nvPicPr>
          <p:cNvPr id="904" name="Google Shape;904;p90"/>
          <p:cNvPicPr preferRelativeResize="0"/>
          <p:nvPr/>
        </p:nvPicPr>
        <p:blipFill rotWithShape="1">
          <a:blip r:embed="rId3">
            <a:alphaModFix/>
          </a:blip>
          <a:srcRect b="0" l="0" r="0" t="0"/>
          <a:stretch/>
        </p:blipFill>
        <p:spPr>
          <a:xfrm>
            <a:off x="8406419" y="1921365"/>
            <a:ext cx="3143250" cy="2333625"/>
          </a:xfrm>
          <a:prstGeom prst="rect">
            <a:avLst/>
          </a:prstGeom>
          <a:noFill/>
          <a:ln>
            <a:noFill/>
          </a:ln>
        </p:spPr>
      </p:pic>
      <p:sp>
        <p:nvSpPr>
          <p:cNvPr id="90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44</a:t>
            </a:r>
          </a:p>
        </p:txBody>
      </p:sp>
      <p:sp>
        <p:nvSpPr>
          <p:cNvPr id="90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grpSp>
        <p:nvGrpSpPr>
          <p:cNvPr id="907" name="TEACH-5-student-move" descr="TEACH 5 · Facilitate student interactions and academic talk"/>
          <p:cNvGrpSpPr/>
          <p:nvPr/>
        </p:nvGrpSpPr>
        <p:grpSpPr>
          <a:xfrm>
            <a:off x="502920" y="5472790"/>
            <a:ext cx="11186160" cy="402336"/>
            <a:chOff x="502920" y="5472790"/>
            <a:chExt cx="11186160" cy="402336"/>
          </a:xfrm>
        </p:grpSpPr>
        <p:sp>
          <p:nvSpPr>
            <p:cNvPr id="908"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9"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10"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TEACH A PARTNER  ·  </a:t>
              </a:r>
              <a:r>
                <a:rPr lang="en-US" sz="1200" dirty="0">
                  <a:solidFill>
                    <a:srgbClr val="13303A"/>
                  </a:solidFill>
                  <a:latin typeface="Arial"/>
                </a:rPr>
                <a:t>Teach this to someone who missed it. If you can teach it, you know it.</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cxnSp>
        <p:nvCxnSpPr>
          <p:cNvPr id="909" name="Google Shape;909;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0" name="Google Shape;910;p91"/>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evaluate numerical expressions using the correct order of operations.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make sense of problems to write numerical expressions.</a:t>
            </a:r>
            <a:endParaRPr b="0" i="0" sz="1400" u="none" cap="none" strike="noStrike">
              <a:solidFill>
                <a:srgbClr val="000000"/>
              </a:solidFill>
              <a:latin typeface="Arial"/>
              <a:ea typeface="Arial"/>
              <a:cs typeface="Arial"/>
              <a:sym typeface="Arial"/>
            </a:endParaRPr>
          </a:p>
        </p:txBody>
      </p:sp>
      <p:sp>
        <p:nvSpPr>
          <p:cNvPr id="911" name="Google Shape;911;p9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9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44</a:t>
            </a:r>
          </a:p>
        </p:txBody>
      </p:sp>
      <p:grpSp>
        <p:nvGrpSpPr>
          <p:cNvPr id="913" name="TEACH-1-student-move" descr="TEACH 1 · Facilitate clear, standards-based content learning"/>
          <p:cNvGrpSpPr/>
          <p:nvPr/>
        </p:nvGrpSpPr>
        <p:grpSpPr>
          <a:xfrm>
            <a:off x="502920" y="5472790"/>
            <a:ext cx="11186160" cy="402336"/>
            <a:chOff x="502920" y="5472790"/>
            <a:chExt cx="11186160" cy="402336"/>
          </a:xfrm>
        </p:grpSpPr>
        <p:sp>
          <p:nvSpPr>
            <p:cNvPr id="91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1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1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Translate the situation.</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SAY THE GOAL  ·  </a:t>
            </a:r>
            <a:r>
              <a:rPr lang="en-US" sz="2000" b="0" dirty="0">
                <a:solidFill>
                  <a:srgbClr val="13303A"/>
                </a:solidFill>
                <a:latin typeface="Arial"/>
              </a:rPr>
              <a:t>Say today’s goal in your own words, then name one place this shows up outside math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44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34 / 44</a:t>
            </a: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6.4 — Write and Evaluate Numerical Expressions with Exponents</dc:title>
  <dc:creator>Neft Teacher</dc:creator>
  <cp:lastModifiedBy>Neft Teacher</cp:lastModifiedBy>
  <dcterms:created xsi:type="dcterms:W3CDTF">2026-09-30T12:04:43Z</dcterms:created>
  <dcterms:modified xsi:type="dcterms:W3CDTF">2026-09-30T12:04:43Z</dcterms:modified>
</cp:coreProperties>
</file>