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4.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4" r:id="rId5"/>
    <p:sldMasterId id="2147483685" r:id="rId6"/>
    <p:sldMasterId id="2147483686" r:id="rId7"/>
    <p:sldMasterId id="2147483687" r:id="rId8"/>
  </p:sldMasterIdLst>
  <p:notesMasterIdLst>
    <p:notesMasterId r:id="rId9"/>
  </p:notesMasterIdLst>
  <p:sldIdLst>
    <p:sldId id="259" r:id="rId13"/>
    <p:sldId id="267" r:id="rId21"/>
    <p:sldId id="268" r:id="rId22"/>
    <p:sldId id="256" r:id="rId10"/>
    <p:sldId id="257" r:id="rId11"/>
    <p:sldId id="260" r:id="rId14"/>
    <p:sldId id="326" r:id="rId68"/>
    <p:sldId id="325" r:id="rId47"/>
    <p:sldId id="324" r:id="rId28"/>
    <p:sldId id="323" r:id="rId45"/>
    <p:sldId id="322" r:id="rId44"/>
    <p:sldId id="321" r:id="rId29"/>
    <p:sldId id="261" r:id="rId15"/>
    <p:sldId id="270" r:id="rId24"/>
    <p:sldId id="271" r:id="rId25"/>
    <p:sldId id="273" r:id="rId27"/>
    <p:sldId id="330" r:id="rId72"/>
    <p:sldId id="277" r:id="rId31"/>
    <p:sldId id="279" r:id="rId33"/>
    <p:sldId id="282" r:id="rId36"/>
    <p:sldId id="285" r:id="rId39"/>
    <p:sldId id="331" r:id="rId73"/>
    <p:sldId id="327" r:id="rId69"/>
    <p:sldId id="320" r:id="rId42"/>
    <p:sldId id="332" r:id="rId74"/>
    <p:sldId id="319" r:id="rId41"/>
    <p:sldId id="318" r:id="rId30"/>
    <p:sldId id="317" r:id="rId32"/>
    <p:sldId id="311" r:id="rId66"/>
    <p:sldId id="333" r:id="rId75"/>
    <p:sldId id="312" r:id="rId67"/>
    <p:sldId id="286" r:id="rId40"/>
    <p:sldId id="289" r:id="rId43"/>
    <p:sldId id="292" r:id="rId46"/>
    <p:sldId id="334" r:id="rId76"/>
    <p:sldId id="299" r:id="rId53"/>
    <p:sldId id="300" r:id="rId54"/>
    <p:sldId id="304" r:id="rId58"/>
    <p:sldId id="308" r:id="rId62"/>
    <p:sldId id="335" r:id="rId77"/>
    <p:sldId id="328" r:id="rId70"/>
    <p:sldId id="316" r:id="rId38"/>
    <p:sldId id="336" r:id="rId78"/>
    <p:sldId id="315" r:id="rId37"/>
    <p:sldId id="314" r:id="rId34"/>
    <p:sldId id="309" r:id="rId63"/>
    <p:sldId id="310" r:id="rId64"/>
    <p:sldId id="337" r:id="rId79"/>
    <p:sldId id="313" r:id="rId35"/>
    <p:sldId id="329" r:id="rId71"/>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984606-63AE-4798-AA1E-52DDC3946693}">
  <a:tblStyle styleId="{03984606-63AE-4798-AA1E-52DDC394669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3.xml"/><Relationship Id="rId21" Type="http://schemas.openxmlformats.org/officeDocument/2006/relationships/slide" Target="slides/slide2.xml"/><Relationship Id="rId22" Type="http://schemas.openxmlformats.org/officeDocument/2006/relationships/slide" Target="slides/slide3.xml"/><Relationship Id="rId24" Type="http://schemas.openxmlformats.org/officeDocument/2006/relationships/slide" Target="slides/slide14.xml"/><Relationship Id="rId25"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9.xml"/><Relationship Id="rId29" Type="http://schemas.openxmlformats.org/officeDocument/2006/relationships/slide" Target="slides/slide12.xml"/><Relationship Id="rId30" Type="http://schemas.openxmlformats.org/officeDocument/2006/relationships/slide" Target="slides/slide24.xml"/><Relationship Id="rId31" Type="http://schemas.openxmlformats.org/officeDocument/2006/relationships/slide" Target="slides/slide17.xml"/><Relationship Id="rId32" Type="http://schemas.openxmlformats.org/officeDocument/2006/relationships/slide" Target="slides/slide25.xml"/><Relationship Id="rId33" Type="http://schemas.openxmlformats.org/officeDocument/2006/relationships/slide" Target="slides/slide18.xml"/><Relationship Id="rId34" Type="http://schemas.openxmlformats.org/officeDocument/2006/relationships/slide" Target="slides/slide38.xml"/><Relationship Id="rId35" Type="http://schemas.openxmlformats.org/officeDocument/2006/relationships/slide" Target="slides/slide41.xml"/><Relationship Id="rId36" Type="http://schemas.openxmlformats.org/officeDocument/2006/relationships/slide" Target="slides/slide19.xml"/><Relationship Id="rId37" Type="http://schemas.openxmlformats.org/officeDocument/2006/relationships/slide" Target="slides/slide37.xml"/><Relationship Id="rId38" Type="http://schemas.openxmlformats.org/officeDocument/2006/relationships/slide" Target="slides/slide36.xml"/><Relationship Id="rId39" Type="http://schemas.openxmlformats.org/officeDocument/2006/relationships/slide" Target="slides/slide20.xml"/><Relationship Id="rId40" Type="http://schemas.openxmlformats.org/officeDocument/2006/relationships/slide" Target="slides/slide28.xml"/><Relationship Id="rId41" Type="http://schemas.openxmlformats.org/officeDocument/2006/relationships/slide" Target="slides/slide23.xml"/><Relationship Id="rId42" Type="http://schemas.openxmlformats.org/officeDocument/2006/relationships/slide" Target="slides/slide22.xml"/><Relationship Id="rId43" Type="http://schemas.openxmlformats.org/officeDocument/2006/relationships/slide" Target="slides/slide29.xml"/><Relationship Id="rId44" Type="http://schemas.openxmlformats.org/officeDocument/2006/relationships/slide" Target="slides/slide11.xml"/><Relationship Id="rId45" Type="http://schemas.openxmlformats.org/officeDocument/2006/relationships/slide" Target="slides/slide10.xml"/><Relationship Id="rId46" Type="http://schemas.openxmlformats.org/officeDocument/2006/relationships/slide" Target="slides/slide30.xml"/><Relationship Id="rId47" Type="http://schemas.openxmlformats.org/officeDocument/2006/relationships/slide" Target="slides/slide8.xml"/><Relationship Id="rId53" Type="http://schemas.openxmlformats.org/officeDocument/2006/relationships/slide" Target="slides/slide31.xml"/><Relationship Id="rId54" Type="http://schemas.openxmlformats.org/officeDocument/2006/relationships/slide" Target="slides/slide32.xml"/><Relationship Id="rId58" Type="http://schemas.openxmlformats.org/officeDocument/2006/relationships/slide" Target="slides/slide33.xml"/><Relationship Id="rId62" Type="http://schemas.openxmlformats.org/officeDocument/2006/relationships/slide" Target="slides/slide34.xml"/><Relationship Id="rId63" Type="http://schemas.openxmlformats.org/officeDocument/2006/relationships/slide" Target="slides/slide39.xml"/><Relationship Id="rId64" Type="http://schemas.openxmlformats.org/officeDocument/2006/relationships/slide" Target="slides/slide40.xml"/><Relationship Id="rId66" Type="http://schemas.openxmlformats.org/officeDocument/2006/relationships/slide" Target="slides/slide26.xml"/><Relationship Id="rId67" Type="http://schemas.openxmlformats.org/officeDocument/2006/relationships/slide" Target="slides/slide27.xml"/><Relationship Id="rId68" Type="http://schemas.openxmlformats.org/officeDocument/2006/relationships/slide" Target="slides/slide7.xml"/><Relationship Id="rId69" Type="http://schemas.openxmlformats.org/officeDocument/2006/relationships/slide" Target="slides/slide21.xml"/><Relationship Id="rId70" Type="http://schemas.openxmlformats.org/officeDocument/2006/relationships/slide" Target="slides/slide35.xml"/><Relationship Id="rId71" Type="http://schemas.openxmlformats.org/officeDocument/2006/relationships/slide" Target="slides/slide42.xml"/><Relationship Id="rId72" Type="http://schemas.openxmlformats.org/officeDocument/2006/relationships/slide" Target="slides/slide43.xml"/><Relationship Id="rId73" Type="http://schemas.openxmlformats.org/officeDocument/2006/relationships/slide" Target="slides/slide44.xml"/><Relationship Id="rId74" Type="http://schemas.openxmlformats.org/officeDocument/2006/relationships/slide" Target="slides/slide45.xml"/><Relationship Id="rId75" Type="http://schemas.openxmlformats.org/officeDocument/2006/relationships/slide" Target="slides/slide46.xml"/><Relationship Id="rId76" Type="http://schemas.openxmlformats.org/officeDocument/2006/relationships/slide" Target="slides/slide47.xml"/><Relationship Id="rId77"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4 | DIVIDER</a:t>
            </a:r>
          </a:p>
          <a:p xmlns:a="http://schemas.openxmlformats.org/drawingml/2006/main">
            <a:pPr>
              <a:buNone/>
            </a:pPr>
            <a:r>
              <a:rPr lang="en-US" sz="1100"/>
              <a:t>Focus on the existing task: Explore Relationships Between Two Variables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5" name="Google Shape;235;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5 | WORKED</a:t>
            </a:r>
          </a:p>
          <a:p xmlns:a="http://schemas.openxmlformats.org/drawingml/2006/main">
            <a:pPr>
              <a:buNone/>
            </a:pPr>
            <a:r>
              <a:rPr lang="en-US" sz="1100"/>
              <a:t>Focus on the existing task: More or Less Than… More or Less Than 50</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42" name="Google Shape;242;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1 | WARMUP</a:t>
            </a:r>
          </a:p>
          <a:p xmlns:a="http://schemas.openxmlformats.org/drawingml/2006/main">
            <a:pPr>
              <a:buNone/>
            </a:pPr>
            <a:r>
              <a:rPr lang="en-US" sz="1100"/>
              <a:t>Focus on the existing task: Warm-Up WARM-UP · THINK • TRY • CHECK Do these…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15   2) 8, 9, 10   3) $14   4) hours worked</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identify related quantities; justify which depends on the other; interpret values in context. Review recent work and today’s warm-up to choose flexible groups and access supports; do not infer needs from identity or perceived ability. Use the existing lesson tasks and stated standards.</a:t>
            </a:r>
          </a:p>
          <a:p>
            <a:pPr>
              <a:buNone/>
            </a:pPr>
            <a:r>
              <a:rPr lang="en-US" sz="1100"/>
              <a:t>Anticipate: assigning independence from the variable letter rather than the situation. If observed, label each original quantity and explain the dependency in a sentence.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63" name="Google Shape;263;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6 | GOAL</a:t>
            </a:r>
          </a:p>
          <a:p xmlns:a="http://schemas.openxmlformats.org/drawingml/2006/main">
            <a:pPr>
              <a:buNone/>
            </a:pPr>
            <a:r>
              <a:rPr lang="en-US" sz="1100"/>
              <a:t>Focus on the existing task: Today’s Objectives Explore Relationships…</a:t>
            </a:r>
          </a:p>
          <a:p xmlns:a="http://schemas.openxmlformats.org/drawingml/2006/main">
            <a:pPr>
              <a:buNone/>
            </a:pPr>
            <a:r>
              <a:rPr lang="en-US" sz="1100"/>
              <a:t>CONNECT (T1/4): Ask students to restate the displayed goal or key idea and connect it to earlier work. Relevant lesson evidence: identify related quantities; justify which depends on the other; interpret values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related quantities; justify which depends on the other; interpret values in context. Ask: “Which part of your work would show this?” Revisit that evidence after the task; a confidence rating alone is not evidence of understanding.</a:t>
            </a:r>
          </a:p>
        </p:txBody>
      </p:sp>
      <p:sp>
        <p:nvSpPr>
          <p:cNvPr id="339" name="Google Shape;339;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13 | VOCAB</a:t>
            </a:r>
          </a:p>
          <a:p xmlns:a="http://schemas.openxmlformats.org/drawingml/2006/main">
            <a:pPr>
              <a:buNone/>
            </a:pPr>
            <a:r>
              <a:rPr lang="en-US" sz="1100"/>
              <a:t>Focus on the existing task: Vocabulary Today’s Math Words We learn every…</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61" name="Google Shape;361;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2: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2 | NOTES</a:t>
            </a:r>
          </a:p>
          <a:p xmlns:a="http://schemas.openxmlformats.org/drawingml/2006/main">
            <a:pPr>
              <a:buNone/>
            </a:pPr>
            <a:r>
              <a:rPr lang="en-US" sz="1100"/>
              <a:t>Focus on the existing task: Today’s Math Notes Section 1: Math Words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83" name="Google Shape;483;p1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3 | NOTES</a:t>
            </a:r>
          </a:p>
          <a:p xmlns:a="http://schemas.openxmlformats.org/drawingml/2006/main">
            <a:pPr>
              <a:buNone/>
            </a:pPr>
            <a:r>
              <a:rPr lang="en-US" sz="1100"/>
              <a:t>Focus on the existing task: Today’s Math Notes Section 2: Today’s Math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11" name="Google Shape;511;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1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14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46" name="Google Shape;546;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1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15 | TASK</a:t>
            </a:r>
          </a:p>
          <a:p xmlns:a="http://schemas.openxmlformats.org/drawingml/2006/main">
            <a:pPr>
              <a:buNone/>
            </a:pPr>
            <a:r>
              <a:rPr lang="en-US" sz="1100"/>
              <a:t>Focus on the existing task: Growing Plants Akela planted three trays of bean seeds for a science experiment. She records the daily amount of sunlight each tray of…</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can Akela say about the relationship between sunlight and plant growth?</a:t>
            </a:r>
          </a:p>
          <a:p>
            <a:pPr indent="0" lvl="0" marL="0" rtl="0" algn="l">
              <a:lnSpc>
                <a:spcPct val="100000"/>
              </a:lnSpc>
              <a:spcBef>
                <a:spcPts val="0"/>
              </a:spcBef>
              <a:spcAft>
                <a:spcPts val="0"/>
              </a:spcAft>
              <a:buSzPts val="1400"/>
              <a:buNone/>
            </a:pPr>
            <a:r>
              <a:t>UIFR: TEACH 1 · TEACH 3.</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quantity is chosen or varied, and how does the other respond in this situation?” Wait for evidence, invite another pathway, and have a student ask a follow-up question. Do not replace students’ reasoning with a sequence of leading steps.</a:t>
            </a:r>
          </a:p>
        </p:txBody>
      </p:sp>
      <p:sp>
        <p:nvSpPr>
          <p:cNvPr id="558" name="Google Shape;558;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1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16 | REVEAL</a:t>
            </a:r>
          </a:p>
          <a:p xmlns:a="http://schemas.openxmlformats.org/drawingml/2006/main">
            <a:pPr>
              <a:buNone/>
            </a:pPr>
            <a:r>
              <a:rPr lang="en-US" sz="1100"/>
              <a:t>Focus on the existing task: Growing Plants What quantities are represented in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quantities are the amount of sunlight the seeds were exposed to each day and the height of the bean plants after 3 weeks.</a:t>
            </a:r>
          </a:p>
          <a:p>
            <a:pPr indent="0" lvl="0" marL="0" rtl="0" algn="l">
              <a:lnSpc>
                <a:spcPct val="100000"/>
              </a:lnSpc>
              <a:spcBef>
                <a:spcPts val="0"/>
              </a:spcBef>
              <a:spcAft>
                <a:spcPts val="0"/>
              </a:spcAft>
              <a:buSzPts val="1400"/>
              <a:buNone/>
            </a:pPr>
            <a:r>
              <a:t>UIFR: TEACH 3 · TEACH 4.</a:t>
            </a:r>
          </a:p>
        </p:txBody>
      </p:sp>
      <p:sp>
        <p:nvSpPr>
          <p:cNvPr id="577" name="Google Shape;577;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17 | REVEAL</a:t>
            </a:r>
          </a:p>
          <a:p xmlns:a="http://schemas.openxmlformats.org/drawingml/2006/main">
            <a:pPr>
              <a:buNone/>
            </a:pPr>
            <a:r>
              <a:rPr lang="en-US" sz="1100"/>
              <a:t>Focus on the existing task: the tallest average plant height?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shortest average plant height is the tray that received the least amount of sunlight, while the tallest average plant height is the tray that received the most sunlight.</a:t>
            </a:r>
          </a:p>
          <a:p>
            <a:pPr indent="0" lvl="0" marL="0" rtl="0" algn="l">
              <a:lnSpc>
                <a:spcPct val="100000"/>
              </a:lnSpc>
              <a:spcBef>
                <a:spcPts val="0"/>
              </a:spcBef>
              <a:spcAft>
                <a:spcPts val="0"/>
              </a:spcAft>
              <a:buSzPts val="1400"/>
              <a:buNone/>
            </a:pPr>
            <a:r>
              <a:t>UIFR: TEACH 3 · TEACH 4.</a:t>
            </a:r>
          </a:p>
        </p:txBody>
      </p:sp>
      <p:sp>
        <p:nvSpPr>
          <p:cNvPr id="621" name="Google Shape;621;p2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18 | WORKED</a:t>
            </a:r>
          </a:p>
          <a:p xmlns:a="http://schemas.openxmlformats.org/drawingml/2006/main">
            <a:pPr>
              <a:buNone/>
            </a:pPr>
            <a:r>
              <a:rPr lang="en-US" sz="1100"/>
              <a:t>Focus on the existing task: Growing Plants An independent variable does not depend upon the other quantity. A dependent variable changes in response to the input…</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justify which depends on the other.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640" name="Google Shape;640;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2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19 | COLLABORATE</a:t>
            </a:r>
          </a:p>
          <a:p xmlns:a="http://schemas.openxmlformats.org/drawingml/2006/main">
            <a:pPr>
              <a:buNone/>
            </a:pPr>
            <a:r>
              <a:rPr lang="en-US" sz="1100"/>
              <a:t>Focus on the existing task: Collaborate and Connect Reveal: The height of the plant is the dependent variable. The amount of sunlight is the independent variable.…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justify which depends on the other.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assigning independence from the variable letter rather than the situation. If it appears, label each original quantity and explain the dependency in a sentence; then ask the student to revise the same response and explain the change. If evidence is secure, have students compare a second valid pathway or state why their approach works. Choose the next step from the responses, not a preset pace.</a:t>
            </a:r>
          </a:p>
        </p:txBody>
      </p:sp>
      <p:sp>
        <p:nvSpPr>
          <p:cNvPr id="674" name="Google Shape;674;p27: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20 | PRACTICE</a:t>
            </a:r>
          </a:p>
          <a:p xmlns:a="http://schemas.openxmlformats.org/drawingml/2006/main">
            <a:pPr>
              <a:buNone/>
            </a:pPr>
            <a:r>
              <a:rPr lang="en-US" sz="1100"/>
              <a:t>Focus on the existing task: Let’s Explore More Why do you think the variables that represent the quantities are called independent and dependent variables?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06" name="Google Shape;706;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3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28 | DIVIDER</a:t>
            </a:r>
          </a:p>
          <a:p xmlns:a="http://schemas.openxmlformats.org/drawingml/2006/main">
            <a:pPr>
              <a:buNone/>
            </a:pPr>
            <a:r>
              <a:rPr lang="en-US" sz="1100"/>
              <a:t>Focus on the existing task: Explore Relationships Between Two Variables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18" name="Google Shape;718;p3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29 | TASK</a:t>
            </a:r>
          </a:p>
          <a:p xmlns:a="http://schemas.openxmlformats.org/drawingml/2006/main">
            <a:pPr>
              <a:buNone/>
            </a:pPr>
            <a:r>
              <a:rPr lang="en-US" sz="1100"/>
              <a:t>Focus on the existing task: Tracking Calories Claire has a new fitness tracker to track the number of Calories she burns each time she jogs. The data for a 30-minute…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How does the number of Calories burned relate to the amount of time Claire spends jogging?</a:t>
            </a:r>
          </a:p>
          <a:p>
            <a:pPr indent="0" lvl="0" marL="0" rtl="0" algn="l">
              <a:lnSpc>
                <a:spcPct val="100000"/>
              </a:lnSpc>
              <a:spcBef>
                <a:spcPts val="0"/>
              </a:spcBef>
              <a:spcAft>
                <a:spcPts val="0"/>
              </a:spcAft>
              <a:buSzPts val="1400"/>
              <a:buNone/>
            </a:pPr>
            <a:r>
              <a:t>UIFR: TEACH 1 · TEACH 3.</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quantity is chosen or varied, and how does the other respond in this situation?” Wait for evidence, invite another pathway, and have a student ask a follow-up question. Do not replace students’ reasoning with a sequence of leading steps.</a:t>
            </a:r>
          </a:p>
        </p:txBody>
      </p:sp>
      <p:sp>
        <p:nvSpPr>
          <p:cNvPr id="750" name="Google Shape;750;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30 | REVEAL</a:t>
            </a:r>
          </a:p>
          <a:p xmlns:a="http://schemas.openxmlformats.org/drawingml/2006/main">
            <a:pPr>
              <a:buNone/>
            </a:pPr>
            <a:r>
              <a:rPr lang="en-US" sz="1100"/>
              <a:t>Focus on the existing task: Tracking Calories What information do you know?</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Claire burned 123 Calories during a 30-minute jog and 246 Calories during a 60-minute jog.</a:t>
            </a:r>
          </a:p>
          <a:p>
            <a:pPr indent="0" lvl="0" marL="0" rtl="0" algn="l">
              <a:lnSpc>
                <a:spcPct val="100000"/>
              </a:lnSpc>
              <a:spcBef>
                <a:spcPts val="0"/>
              </a:spcBef>
              <a:spcAft>
                <a:spcPts val="0"/>
              </a:spcAft>
              <a:buSzPts val="1400"/>
              <a:buNone/>
            </a:pPr>
            <a:r>
              <a:t>UIFR: TEACH 3 · TEACH 4.</a:t>
            </a:r>
          </a:p>
        </p:txBody>
      </p:sp>
      <p:sp>
        <p:nvSpPr>
          <p:cNvPr id="783" name="Google Shape;783;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31 | REVEAL</a:t>
            </a:r>
          </a:p>
          <a:p xmlns:a="http://schemas.openxmlformats.org/drawingml/2006/main">
            <a:pPr>
              <a:buNone/>
            </a:pPr>
            <a:r>
              <a:rPr lang="en-US" sz="1100"/>
              <a:t>Focus on the existing task: Which quantity is the independent variable?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justify which depends on the other.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time spent jogging is the independent variable because it is subject to choice. The number of Calories burned is the dependent variable because it changes in response to the time spent jogging.</a:t>
            </a:r>
          </a:p>
          <a:p>
            <a:pPr indent="0" lvl="0" marL="0" rtl="0" algn="l">
              <a:lnSpc>
                <a:spcPct val="100000"/>
              </a:lnSpc>
              <a:spcBef>
                <a:spcPts val="0"/>
              </a:spcBef>
              <a:spcAft>
                <a:spcPts val="0"/>
              </a:spcAft>
              <a:buSzPts val="1400"/>
              <a:buNone/>
            </a:pPr>
            <a:r>
              <a:t>UIFR: TEACH 3 · TEACH 4.</a:t>
            </a:r>
          </a:p>
        </p:txBody>
      </p:sp>
      <p:sp>
        <p:nvSpPr>
          <p:cNvPr id="854" name="Google Shape;854;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32 | WORKED</a:t>
            </a:r>
          </a:p>
          <a:p xmlns:a="http://schemas.openxmlformats.org/drawingml/2006/main">
            <a:pPr>
              <a:buNone/>
            </a:pPr>
            <a:r>
              <a:rPr lang="en-US" sz="1100"/>
              <a:t>Focus on the existing task: Let’s use a table of values to represent the relationship between the amount of time spent jogging and Calories burned. Tracking Calories…</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interpret values in context.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63" name="Google Shape;863;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33 | REVEAL</a:t>
            </a:r>
          </a:p>
          <a:p xmlns:a="http://schemas.openxmlformats.org/drawingml/2006/main">
            <a:pPr>
              <a:buNone/>
            </a:pPr>
            <a:r>
              <a:rPr lang="en-US" sz="1100"/>
              <a:t>Focus on the existing task: Reveal: The table shows how the dependent variable, Calories burned, changes in response to the independent variable, time spent jogging.</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table shows how the dependent variable, Calories burned, changes in response to the independent variable, time spent jogging.</a:t>
            </a:r>
          </a:p>
          <a:p>
            <a:pPr indent="0" lvl="0" marL="0" rtl="0" algn="l">
              <a:lnSpc>
                <a:spcPct val="100000"/>
              </a:lnSpc>
              <a:spcBef>
                <a:spcPts val="0"/>
              </a:spcBef>
              <a:spcAft>
                <a:spcPts val="0"/>
              </a:spcAft>
              <a:buSzPts val="1400"/>
              <a:buNone/>
            </a:pPr>
            <a:r>
              <a:t>UIFR: TEACH 3 · TEACH 4.</a:t>
            </a:r>
          </a:p>
        </p:txBody>
      </p:sp>
      <p:sp>
        <p:nvSpPr>
          <p:cNvPr id="899" name="Google Shape;899;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34 | PRACTICE</a:t>
            </a:r>
          </a:p>
          <a:p xmlns:a="http://schemas.openxmlformats.org/drawingml/2006/main">
            <a:pPr>
              <a:buNone/>
            </a:pPr>
            <a:r>
              <a:rPr lang="en-US" sz="1100"/>
              <a:t>Focus on the existing task: Let’s Explore More a. How do you think the number of Calories burned would change if Claire switched from jogging to walking?</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assigning independence from the variable letter rather than the situation. If it appears, label each original quantity and explain the dependency in a sentence; then ask the student to revise the same response and explain the change. If evidence is secure, have students compare a second valid pathway or state why their approach works. Choose the next step from the responses, not a preset pace.</a:t>
            </a:r>
          </a:p>
        </p:txBody>
      </p:sp>
      <p:sp>
        <p:nvSpPr>
          <p:cNvPr id="943" name="Google Shape;943;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39 | SUMMARIZE</a:t>
            </a:r>
          </a:p>
          <a:p xmlns:a="http://schemas.openxmlformats.org/drawingml/2006/main">
            <a:pPr>
              <a:buNone/>
            </a:pPr>
            <a:r>
              <a:rPr lang="en-US" sz="1100"/>
              <a:t>Focus on the existing task: Summarize: Explore Relationships Between Two Quantities When two quantities are related, one quantity is represented by an independent…</a:t>
            </a:r>
          </a:p>
          <a:p xmlns:a="http://schemas.openxmlformats.org/drawingml/2006/main">
            <a:pPr>
              <a:buNone/>
            </a:pPr>
            <a:r>
              <a:rPr lang="en-US" sz="1100"/>
              <a:t>CONNECT (T1/4): Ask students to restate the displayed goal or key idea and connect it to earlier work. Relevant lesson evidence: identify related quantities; justify which depends on the other; interpret values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55" name="Google Shape;955;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9.1, slide 40 | APPLY</a:t>
            </a:r>
          </a:p>
          <a:p xmlns:a="http://schemas.openxmlformats.org/drawingml/2006/main">
            <a:pPr>
              <a:buNone/>
            </a:pPr>
            <a:r>
              <a:rPr lang="en-US" sz="1100"/>
              <a:t>Focus on the existing task: Apply: Selling Pizzas At a local pizza shop, a customer can order up to three different toppings on a large pizza. The pizza shop has a…</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identify related quantities; justify which depends on the other; interpret values in context. Respond with one specific next step tied to the work. Students revise and annotate what changed, then identify a criterion they can now demonstrate and one they still need to practice.</a:t>
            </a:r>
          </a:p>
        </p:txBody>
      </p:sp>
      <p:sp>
        <p:nvSpPr>
          <p:cNvPr id="962" name="Google Shape;962;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9.1, slide 26 | WARMUP</a:t>
            </a:r>
          </a:p>
          <a:p xmlns:a="http://schemas.openxmlformats.org/drawingml/2006/main">
            <a:pPr>
              <a:buNone/>
            </a:pPr>
            <a:r>
              <a:rPr lang="en-US" sz="1100"/>
              <a:t>Focus on the existing task: Session 2 Warm-Up Session 2 Warm-Up Check what…</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related quantities; justify which depends on the other; interpret values in context. Ask: “Which part of your work would show this?” Revisit that evidence after the task; a confidence rating alone is not evidence of understanding.</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9.1, slide 27 | NOTES</a:t>
            </a:r>
          </a:p>
          <a:p xmlns:a="http://schemas.openxmlformats.org/drawingml/2006/main">
            <a:pPr>
              <a:buNone/>
            </a:pPr>
            <a:r>
              <a:rPr lang="en-US" sz="1100"/>
              <a:t>Focus on the existing task: Today’s Math Notes Review Notes — Session 2…</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41 | REFLECTION</a:t>
            </a:r>
          </a:p>
          <a:p xmlns:a="http://schemas.openxmlformats.org/drawingml/2006/main">
            <a:pPr>
              <a:buNone/>
            </a:pPr>
            <a:r>
              <a:rPr lang="en-US" sz="1100"/>
              <a:t>Focus on the existing task: Learning Targets I can recognize when two quantities relate to each other, i.e., as one quantity changes independently, the other quantity…</a:t>
            </a:r>
          </a:p>
          <a:p xmlns:a="http://schemas.openxmlformats.org/drawingml/2006/main">
            <a:pPr>
              <a:buNone/>
            </a:pPr>
            <a:r>
              <a:rPr lang="en-US" sz="1100"/>
              <a:t>CONNECT (T1/4): Ask students to restate the displayed goal or key idea and connect it to earlier work. Relevant lesson evidence: identify related quantities; justify which depends on the other; interpret values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assigning independence from the variable letter rather than the situation.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each original quantity and explain the dependency in a sentence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7 | PRIOR_INSERT</a:t>
            </a:r>
          </a:p>
          <a:p xmlns:a="http://schemas.openxmlformats.org/drawingml/2006/main">
            <a:pPr>
              <a:buNone/>
            </a:pPr>
            <a:r>
              <a:rPr lang="en-US" sz="1100"/>
              <a:t>Focus on the existing task: LESSON 9.1 / OUR LEARNING What will show your learning?</a:t>
            </a:r>
          </a:p>
          <a:p xmlns:a="http://schemas.openxmlformats.org/drawingml/2006/main">
            <a:pPr>
              <a:buNone/>
            </a:pPr>
            <a:r>
              <a:rPr lang="en-US" sz="1100"/>
              <a:t>CONNECT (T1/4): Ask students to restate the displayed goal or key idea and connect it to earlier work. Relevant lesson evidence: identify related quantities; justify which depends on the other; interpret values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8 | VOCAB</a:t>
            </a:r>
          </a:p>
          <a:p xmlns:a="http://schemas.openxmlformats.org/drawingml/2006/main">
            <a:pPr>
              <a:buNone/>
            </a:pPr>
            <a:r>
              <a:rPr lang="en-US" sz="1100"/>
              <a:t>Focus on the existing task: Vocabulary 1 of 5 independent variable The…</a:t>
            </a:r>
          </a:p>
          <a:p xmlns:a="http://schemas.openxmlformats.org/drawingml/2006/main">
            <a:pPr>
              <a:buNone/>
            </a:pPr>
            <a:r>
              <a:rPr lang="en-US" sz="1100"/>
              <a:t>ASK (T1/3/5): Where does “independent variable”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9 | VOCAB</a:t>
            </a:r>
          </a:p>
          <a:p xmlns:a="http://schemas.openxmlformats.org/drawingml/2006/main">
            <a:pPr>
              <a:buNone/>
            </a:pPr>
            <a:r>
              <a:rPr lang="en-US" sz="1100"/>
              <a:t>Focus on the existing task: Vocabulary 2 of 5 dependent variable The…</a:t>
            </a:r>
          </a:p>
          <a:p xmlns:a="http://schemas.openxmlformats.org/drawingml/2006/main">
            <a:pPr>
              <a:buNone/>
            </a:pPr>
            <a:r>
              <a:rPr lang="en-US" sz="1100"/>
              <a:t>ASK (T1/3/5): Where does “dependent variable”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10 | VOCAB</a:t>
            </a:r>
          </a:p>
          <a:p xmlns:a="http://schemas.openxmlformats.org/drawingml/2006/main">
            <a:pPr>
              <a:buNone/>
            </a:pPr>
            <a:r>
              <a:rPr lang="en-US" sz="1100"/>
              <a:t>Focus on the existing task: Vocabulary 3 of 5 depends on One quantity…</a:t>
            </a:r>
          </a:p>
          <a:p xmlns:a="http://schemas.openxmlformats.org/drawingml/2006/main">
            <a:pPr>
              <a:buNone/>
            </a:pPr>
            <a:r>
              <a:rPr lang="en-US" sz="1100"/>
              <a:t>ASK (T1/3/5): Where does “depends 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11 | VOCAB</a:t>
            </a:r>
          </a:p>
          <a:p xmlns:a="http://schemas.openxmlformats.org/drawingml/2006/main">
            <a:pPr>
              <a:buNone/>
            </a:pPr>
            <a:r>
              <a:rPr lang="en-US" sz="1100"/>
              <a:t>Focus on the existing task: Vocabulary 4 of 5 quantity Something that can…</a:t>
            </a:r>
          </a:p>
          <a:p xmlns:a="http://schemas.openxmlformats.org/drawingml/2006/main">
            <a:pPr>
              <a:buNone/>
            </a:pPr>
            <a:r>
              <a:rPr lang="en-US" sz="1100"/>
              <a:t>ASK (T1/3/5): Where does “quantity”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12 | VOCAB</a:t>
            </a:r>
          </a:p>
          <a:p xmlns:a="http://schemas.openxmlformats.org/drawingml/2006/main">
            <a:pPr>
              <a:buNone/>
            </a:pPr>
            <a:r>
              <a:rPr lang="en-US" sz="1100"/>
              <a:t>Focus on the existing task: Vocabulary 5 of 5 relationship How two…</a:t>
            </a:r>
          </a:p>
          <a:p xmlns:a="http://schemas.openxmlformats.org/drawingml/2006/main">
            <a:pPr>
              <a:buNone/>
            </a:pPr>
            <a:r>
              <a:rPr lang="en-US" sz="1100"/>
              <a:t>ASK (T1/3/5): Where does “relationship”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21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identify related quantities; justify which depends on the other; interpret values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22 | REVEAL</a:t>
            </a:r>
          </a:p>
          <a:p xmlns:a="http://schemas.openxmlformats.org/drawingml/2006/main">
            <a:pPr>
              <a:buNone/>
            </a:pPr>
            <a:r>
              <a:rPr lang="en-US" sz="1100"/>
              <a:t>Focus on the existing task: Growing Plants What quantities are represented in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23 | REVEAL</a:t>
            </a:r>
          </a:p>
          <a:p xmlns:a="http://schemas.openxmlformats.org/drawingml/2006/main">
            <a:pPr>
              <a:buNone/>
            </a:pPr>
            <a:r>
              <a:rPr lang="en-US" sz="1100"/>
              <a:t>Focus on the existing task: the tallest average plant height?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24 | COLLABORATE</a:t>
            </a:r>
          </a:p>
          <a:p xmlns:a="http://schemas.openxmlformats.org/drawingml/2006/main">
            <a:pPr>
              <a:buNone/>
            </a:pPr>
            <a:r>
              <a:rPr lang="en-US" sz="1100"/>
              <a:t>Focus on the existing task: Collaborate and Connect Reveal: The height of the plant is the dependent variable. The amount of sunlight is the independent variable.…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justify which depends on the other.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25 | CURIOUS</a:t>
            </a:r>
          </a:p>
          <a:p xmlns:a="http://schemas.openxmlformats.org/drawingml/2006/main">
            <a:pPr>
              <a:buNone/>
            </a:pPr>
            <a:r>
              <a:rPr lang="en-US" sz="1100"/>
              <a:t>Focus on the existing task: Be Curious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35 | PRIOR_INSERT</a:t>
            </a:r>
          </a:p>
          <a:p xmlns:a="http://schemas.openxmlformats.org/drawingml/2006/main">
            <a:pPr>
              <a:buNone/>
            </a:pPr>
            <a:r>
              <a:rPr lang="en-US" sz="1100"/>
              <a:t>Focus on the existing task: LESSON 9.1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identify related quantities; justify which depends on the other; interpret values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36 | REVEAL</a:t>
            </a:r>
          </a:p>
          <a:p xmlns:a="http://schemas.openxmlformats.org/drawingml/2006/main">
            <a:pPr>
              <a:buNone/>
            </a:pPr>
            <a:r>
              <a:rPr lang="en-US" sz="1100"/>
              <a:t>Focus on the existing task: Tracking Calories What information do you know?</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37 | REVEAL</a:t>
            </a:r>
          </a:p>
          <a:p xmlns:a="http://schemas.openxmlformats.org/drawingml/2006/main">
            <a:pPr>
              <a:buNone/>
            </a:pPr>
            <a:r>
              <a:rPr lang="en-US" sz="1100"/>
              <a:t>Focus on the existing task: Tracking Calories Claire burned 123 Calories during a 30-minute jog and 246 Calories during a 60-minute jog. What quantities are represented in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related quantities.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38 | REVEAL</a:t>
            </a:r>
          </a:p>
          <a:p xmlns:a="http://schemas.openxmlformats.org/drawingml/2006/main">
            <a:pPr>
              <a:buNone/>
            </a:pPr>
            <a:r>
              <a:rPr lang="en-US" sz="1100"/>
              <a:t>Focus on the existing task: Which quantity is the independent variable?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justify which depends on the other. Ask which feature of their work supports the claim.</a:t>
            </a:r>
          </a:p>
          <a:p xmlns:a="http://schemas.openxmlformats.org/drawingml/2006/main">
            <a:pPr>
              <a:buNone/>
            </a:pPr>
            <a:r>
              <a:rPr lang="en-US" sz="1100"/>
              <a:t>RESPOND: If this task shows the lesson misconception—assigning independence from the variable letter rather than the situation—label each original quantity and explain the dependency in a sentence.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9.1, slide 42 | PRIOR_INSERT</a:t>
            </a:r>
          </a:p>
          <a:p xmlns:a="http://schemas.openxmlformats.org/drawingml/2006/main">
            <a:pPr>
              <a:buNone/>
            </a:pPr>
            <a:r>
              <a:rPr lang="en-US" sz="1100"/>
              <a:t>Focus on the existing task: LESSON 9.1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identify related quantities; justify which depends on the other; interpret values in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5" name="Google Shape;35;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0"/>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5" name="Google Shape;55;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00" name="Shape 100"/>
        <p:cNvGrpSpPr/>
        <p:nvPr/>
      </p:nvGrpSpPr>
      <p:grpSpPr>
        <a:xfrm>
          <a:off x="0" y="0"/>
          <a:ext cx="0" cy="0"/>
          <a:chOff x="0" y="0"/>
          <a:chExt cx="0" cy="0"/>
        </a:xfrm>
      </p:grpSpPr>
      <p:sp>
        <p:nvSpPr>
          <p:cNvPr id="101" name="Google Shape;101;p1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2" name="Google Shape;102;p1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3" name="Google Shape;103;p1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4" name="Shape 104"/>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5" name="Shape 105"/>
        <p:cNvGrpSpPr/>
        <p:nvPr/>
      </p:nvGrpSpPr>
      <p:grpSpPr>
        <a:xfrm>
          <a:off x="0" y="0"/>
          <a:ext cx="0" cy="0"/>
          <a:chOff x="0" y="0"/>
          <a:chExt cx="0" cy="0"/>
        </a:xfrm>
      </p:grpSpPr>
      <p:sp>
        <p:nvSpPr>
          <p:cNvPr id="106" name="Google Shape;106;p2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7" name="Google Shape;107;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8" name="Google Shape;108;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9" name="Google Shape;109;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0" name="Google Shape;110;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1" name="Shape 111"/>
        <p:cNvGrpSpPr/>
        <p:nvPr/>
      </p:nvGrpSpPr>
      <p:grpSpPr>
        <a:xfrm>
          <a:off x="0" y="0"/>
          <a:ext cx="0" cy="0"/>
          <a:chOff x="0" y="0"/>
          <a:chExt cx="0" cy="0"/>
        </a:xfrm>
      </p:grpSpPr>
      <p:sp>
        <p:nvSpPr>
          <p:cNvPr id="112" name="Google Shape;112;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3" name="Google Shape;113;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4" name="Google Shape;114;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5" name="Google Shape;115;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7" name="Shape 117"/>
        <p:cNvGrpSpPr/>
        <p:nvPr/>
      </p:nvGrpSpPr>
      <p:grpSpPr>
        <a:xfrm>
          <a:off x="0" y="0"/>
          <a:ext cx="0" cy="0"/>
          <a:chOff x="0" y="0"/>
          <a:chExt cx="0" cy="0"/>
        </a:xfrm>
      </p:grpSpPr>
      <p:sp>
        <p:nvSpPr>
          <p:cNvPr id="118" name="Google Shape;118;p2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9" name="Google Shape;119;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 name="Google Shape;120;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1" name="Google Shape;121;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2" name="Google Shape;122;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3" name="Google Shape;123;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4" name="Shape 124"/>
        <p:cNvGrpSpPr/>
        <p:nvPr/>
      </p:nvGrpSpPr>
      <p:grpSpPr>
        <a:xfrm>
          <a:off x="0" y="0"/>
          <a:ext cx="0" cy="0"/>
          <a:chOff x="0" y="0"/>
          <a:chExt cx="0" cy="0"/>
        </a:xfrm>
      </p:grpSpPr>
      <p:sp>
        <p:nvSpPr>
          <p:cNvPr id="125" name="Google Shape;125;p2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6" name="Google Shape;126;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7" name="Google Shape;127;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8" name="Google Shape;128;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9" name="Google Shape;129;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0" name="Google Shape;130;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1" name="Google Shape;131;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p2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5" name="Google Shape;135;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6" name="Google Shape;136;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7" name="Google Shape;137;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8" name="Shape 138"/>
        <p:cNvGrpSpPr/>
        <p:nvPr/>
      </p:nvGrpSpPr>
      <p:grpSpPr>
        <a:xfrm>
          <a:off x="0" y="0"/>
          <a:ext cx="0" cy="0"/>
          <a:chOff x="0" y="0"/>
          <a:chExt cx="0" cy="0"/>
        </a:xfrm>
      </p:grpSpPr>
      <p:sp>
        <p:nvSpPr>
          <p:cNvPr id="139" name="Google Shape;13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0" name="Google Shape;14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1" name="Google Shape;14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2" name="Google Shape;142;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3" name="Google Shape;143;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4" name="Google Shape;144;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5" name="Shape 145"/>
        <p:cNvGrpSpPr/>
        <p:nvPr/>
      </p:nvGrpSpPr>
      <p:grpSpPr>
        <a:xfrm>
          <a:off x="0" y="0"/>
          <a:ext cx="0" cy="0"/>
          <a:chOff x="0" y="0"/>
          <a:chExt cx="0" cy="0"/>
        </a:xfrm>
      </p:grpSpPr>
      <p:sp>
        <p:nvSpPr>
          <p:cNvPr id="146" name="Google Shape;14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7" name="Google Shape;147;p26"/>
          <p:cNvSpPr/>
          <p:nvPr>
            <p:ph idx="2" type="pic"/>
          </p:nvPr>
        </p:nvSpPr>
        <p:spPr>
          <a:xfrm>
            <a:off x="5183188" y="987425"/>
            <a:ext cx="6172200" cy="4873625"/>
          </a:xfrm>
          <a:prstGeom prst="rect">
            <a:avLst/>
          </a:prstGeom>
          <a:noFill/>
          <a:ln>
            <a:noFill/>
          </a:ln>
        </p:spPr>
      </p:sp>
      <p:sp>
        <p:nvSpPr>
          <p:cNvPr id="148" name="Google Shape;14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9" name="Google Shape;149;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0" name="Google Shape;150;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2" name="Shape 152"/>
        <p:cNvGrpSpPr/>
        <p:nvPr/>
      </p:nvGrpSpPr>
      <p:grpSpPr>
        <a:xfrm>
          <a:off x="0" y="0"/>
          <a:ext cx="0" cy="0"/>
          <a:chOff x="0" y="0"/>
          <a:chExt cx="0" cy="0"/>
        </a:xfrm>
      </p:grpSpPr>
      <p:sp>
        <p:nvSpPr>
          <p:cNvPr id="153" name="Google Shape;153;p2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4" name="Google Shape;15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5" name="Google Shape;155;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6" name="Google Shape;156;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8" name="Shape 158"/>
        <p:cNvGrpSpPr/>
        <p:nvPr/>
      </p:nvGrpSpPr>
      <p:grpSpPr>
        <a:xfrm>
          <a:off x="0" y="0"/>
          <a:ext cx="0" cy="0"/>
          <a:chOff x="0" y="0"/>
          <a:chExt cx="0" cy="0"/>
        </a:xfrm>
      </p:grpSpPr>
      <p:sp>
        <p:nvSpPr>
          <p:cNvPr id="159" name="Google Shape;159;p28"/>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0" name="Google Shape;16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1" name="Google Shape;161;p2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2" name="Google Shape;162;p2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3" name="Google Shape;163;p2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9" name="Shape 169"/>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0" name="Shape 170"/>
        <p:cNvGrpSpPr/>
        <p:nvPr/>
      </p:nvGrpSpPr>
      <p:grpSpPr>
        <a:xfrm>
          <a:off x="0" y="0"/>
          <a:ext cx="0" cy="0"/>
          <a:chOff x="0" y="0"/>
          <a:chExt cx="0" cy="0"/>
        </a:xfrm>
      </p:grpSpPr>
      <p:sp>
        <p:nvSpPr>
          <p:cNvPr id="171" name="Google Shape;171;p3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2" name="Google Shape;172;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3" name="Google Shape;173;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4" name="Google Shape;174;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5" name="Google Shape;175;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6" name="Shape 176"/>
        <p:cNvGrpSpPr/>
        <p:nvPr/>
      </p:nvGrpSpPr>
      <p:grpSpPr>
        <a:xfrm>
          <a:off x="0" y="0"/>
          <a:ext cx="0" cy="0"/>
          <a:chOff x="0" y="0"/>
          <a:chExt cx="0" cy="0"/>
        </a:xfrm>
      </p:grpSpPr>
      <p:sp>
        <p:nvSpPr>
          <p:cNvPr id="177" name="Google Shape;177;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8" name="Google Shape;178;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9" name="Google Shape;179;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0" name="Google Shape;180;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2" name="Shape 182"/>
        <p:cNvGrpSpPr/>
        <p:nvPr/>
      </p:nvGrpSpPr>
      <p:grpSpPr>
        <a:xfrm>
          <a:off x="0" y="0"/>
          <a:ext cx="0" cy="0"/>
          <a:chOff x="0" y="0"/>
          <a:chExt cx="0" cy="0"/>
        </a:xfrm>
      </p:grpSpPr>
      <p:sp>
        <p:nvSpPr>
          <p:cNvPr id="183" name="Google Shape;183;p3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4" name="Google Shape;184;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5" name="Google Shape;185;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6" name="Google Shape;186;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7" name="Google Shape;187;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8" name="Google Shape;188;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9" name="Shape 189"/>
        <p:cNvGrpSpPr/>
        <p:nvPr/>
      </p:nvGrpSpPr>
      <p:grpSpPr>
        <a:xfrm>
          <a:off x="0" y="0"/>
          <a:ext cx="0" cy="0"/>
          <a:chOff x="0" y="0"/>
          <a:chExt cx="0" cy="0"/>
        </a:xfrm>
      </p:grpSpPr>
      <p:sp>
        <p:nvSpPr>
          <p:cNvPr id="190" name="Google Shape;190;p34"/>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1" name="Google Shape;191;p3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2" name="Google Shape;192;p3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3" name="Google Shape;193;p3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4" name="Google Shape;194;p3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5" name="Google Shape;195;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6" name="Google Shape;196;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8" name="Shape 198"/>
        <p:cNvGrpSpPr/>
        <p:nvPr/>
      </p:nvGrpSpPr>
      <p:grpSpPr>
        <a:xfrm>
          <a:off x="0" y="0"/>
          <a:ext cx="0" cy="0"/>
          <a:chOff x="0" y="0"/>
          <a:chExt cx="0" cy="0"/>
        </a:xfrm>
      </p:grpSpPr>
      <p:sp>
        <p:nvSpPr>
          <p:cNvPr id="199" name="Google Shape;199;p35"/>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3" name="Shape 203"/>
        <p:cNvGrpSpPr/>
        <p:nvPr/>
      </p:nvGrpSpPr>
      <p:grpSpPr>
        <a:xfrm>
          <a:off x="0" y="0"/>
          <a:ext cx="0" cy="0"/>
          <a:chOff x="0" y="0"/>
          <a:chExt cx="0" cy="0"/>
        </a:xfrm>
      </p:grpSpPr>
      <p:sp>
        <p:nvSpPr>
          <p:cNvPr id="204" name="Google Shape;204;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5" name="Google Shape;205;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6" name="Google Shape;206;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7" name="Shape 207"/>
        <p:cNvGrpSpPr/>
        <p:nvPr/>
      </p:nvGrpSpPr>
      <p:grpSpPr>
        <a:xfrm>
          <a:off x="0" y="0"/>
          <a:ext cx="0" cy="0"/>
          <a:chOff x="0" y="0"/>
          <a:chExt cx="0" cy="0"/>
        </a:xfrm>
      </p:grpSpPr>
      <p:sp>
        <p:nvSpPr>
          <p:cNvPr id="208" name="Google Shape;208;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9" name="Google Shape;209;p3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10" name="Google Shape;210;p3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1" name="Google Shape;211;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2" name="Google Shape;212;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3" name="Google Shape;213;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4" name="Shape 214"/>
        <p:cNvGrpSpPr/>
        <p:nvPr/>
      </p:nvGrpSpPr>
      <p:grpSpPr>
        <a:xfrm>
          <a:off x="0" y="0"/>
          <a:ext cx="0" cy="0"/>
          <a:chOff x="0" y="0"/>
          <a:chExt cx="0" cy="0"/>
        </a:xfrm>
      </p:grpSpPr>
      <p:sp>
        <p:nvSpPr>
          <p:cNvPr id="215" name="Google Shape;215;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6" name="Google Shape;216;p38"/>
          <p:cNvSpPr/>
          <p:nvPr>
            <p:ph idx="2" type="pic"/>
          </p:nvPr>
        </p:nvSpPr>
        <p:spPr>
          <a:xfrm>
            <a:off x="5183188" y="987425"/>
            <a:ext cx="6172200" cy="4873625"/>
          </a:xfrm>
          <a:prstGeom prst="rect">
            <a:avLst/>
          </a:prstGeom>
          <a:noFill/>
          <a:ln>
            <a:noFill/>
          </a:ln>
        </p:spPr>
      </p:sp>
      <p:sp>
        <p:nvSpPr>
          <p:cNvPr id="217" name="Google Shape;217;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8" name="Google Shape;218;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9" name="Google Shape;219;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1" name="Shape 221"/>
        <p:cNvGrpSpPr/>
        <p:nvPr/>
      </p:nvGrpSpPr>
      <p:grpSpPr>
        <a:xfrm>
          <a:off x="0" y="0"/>
          <a:ext cx="0" cy="0"/>
          <a:chOff x="0" y="0"/>
          <a:chExt cx="0" cy="0"/>
        </a:xfrm>
      </p:grpSpPr>
      <p:sp>
        <p:nvSpPr>
          <p:cNvPr id="222" name="Google Shape;222;p3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3" name="Google Shape;223;p3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4" name="Google Shape;224;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5" name="Google Shape;225;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7" name="Shape 227"/>
        <p:cNvGrpSpPr/>
        <p:nvPr/>
      </p:nvGrpSpPr>
      <p:grpSpPr>
        <a:xfrm>
          <a:off x="0" y="0"/>
          <a:ext cx="0" cy="0"/>
          <a:chOff x="0" y="0"/>
          <a:chExt cx="0" cy="0"/>
        </a:xfrm>
      </p:grpSpPr>
      <p:sp>
        <p:nvSpPr>
          <p:cNvPr id="228" name="Google Shape;228;p40"/>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9" name="Google Shape;229;p4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0" name="Google Shape;230;p4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1" name="Google Shape;231;p4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2" name="Google Shape;232;p4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4" name="Google Shape;24;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5" name="Google Shape;25;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Explore Relationships Between Two Variables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4" name="Google Shape;94;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95" name="Google Shape;95;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Explore Relationships Between Two Variables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cxnSp>
        <p:nvCxnSpPr>
          <p:cNvPr id="165" name="Google Shape;165;p29"/>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6" name="Google Shape;166;p29"/>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 xml:space="preserve">McGraw Hill   </a:t>
            </a:r>
            <a:endParaRPr b="0" i="0" sz="900" u="none" cap="none" strike="noStrike">
              <a:solidFill>
                <a:schemeClr val="dk2"/>
              </a:solidFill>
              <a:latin typeface="Arial"/>
              <a:ea typeface="Arial"/>
              <a:cs typeface="Arial"/>
              <a:sym typeface="Arial"/>
            </a:endParaRPr>
          </a:p>
        </p:txBody>
      </p:sp>
      <p:sp>
        <p:nvSpPr>
          <p:cNvPr id="167" name="Google Shape;167;p29"/>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8" name="Google Shape;168;p29"/>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6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5.png"/><Relationship Id="rId3" Type="http://schemas.openxmlformats.org/officeDocument/2006/relationships/notesSlide" Target="../notesSlides/notesSlide6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5.png"/><Relationship Id="rId3" Type="http://schemas.openxmlformats.org/officeDocument/2006/relationships/notesSlide" Target="../notesSlides/notesSlide6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7.png"/><Relationship Id="rId3" Type="http://schemas.openxmlformats.org/officeDocument/2006/relationships/image" Target="../media/image15.png"/><Relationship Id="rId4" Type="http://schemas.openxmlformats.org/officeDocument/2006/relationships/notesSlide" Target="../notesSlides/notesSlide6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image" Target="../media/image18.png"/><Relationship Id="rId4" Type="http://schemas.openxmlformats.org/officeDocument/2006/relationships/notesSlide" Target="../notesSlides/notesSlide6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3.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9.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notesSlide" Target="../notesSlides/notesSlide7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notesSlide" Target="../notesSlides/notesSlide7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notesSlide" Target="../notesSlides/notesSlide7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7"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9-1 · Explore Relationships Between Two Variables   |   Warm-Up · about 4 minutes</a:t>
            </a:r>
          </a:p>
        </p:txBody>
      </p:sp>
      <p:sp>
        <p:nvSpPr>
          <p:cNvPr id="268"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9"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70"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73"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y = 3x. When x = 5, y = ______</a:t>
            </a:r>
          </a:p>
        </p:txBody>
      </p:sp>
      <p:sp>
        <p:nvSpPr>
          <p:cNvPr id="274"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7"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y = x + 7. Find y for x = 1, 2, 3: ______, ______, ______</a:t>
            </a:r>
          </a:p>
        </p:txBody>
      </p:sp>
      <p:sp>
        <p:nvSpPr>
          <p:cNvPr id="278"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81"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Pencils cost $2 each. 7 pencils cost $______</a:t>
            </a:r>
          </a:p>
        </p:txBody>
      </p:sp>
      <p:sp>
        <p:nvSpPr>
          <p:cNvPr id="282"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85"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Hours worked, pay earned. Which one do you choose? ______</a:t>
            </a:r>
          </a:p>
        </p:txBody>
      </p:sp>
      <p:sp>
        <p:nvSpPr>
          <p:cNvPr id="286"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7"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50</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88" name="Google Shape;488;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9-1 · Explore Relationships Between Two Variables</a:t>
            </a:r>
            <a:endParaRPr/>
          </a:p>
        </p:txBody>
      </p:sp>
      <p:sp>
        <p:nvSpPr>
          <p:cNvPr id="489" name="Google Shape;489;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91" name="Google Shape;491;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492" name="Google Shape;492;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94" name="Google Shape;494;p52"/>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2"/>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2"/>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497" name="Google Shape;497;p52"/>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independent variable</a:t>
            </a:r>
            <a:endParaRPr/>
          </a:p>
        </p:txBody>
      </p:sp>
      <p:sp>
        <p:nvSpPr>
          <p:cNvPr id="498" name="Google Shape;498;p52"/>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a:t>
            </a:r>
            <a:r>
              <a:rPr b="1" i="0" lang="en-US" sz="1450" u="none" cap="none" strike="noStrike">
                <a:solidFill>
                  <a:srgbClr val="475569"/>
                </a:solidFill>
                <a:latin typeface="Arial"/>
                <a:ea typeface="Arial"/>
                <a:cs typeface="Arial"/>
                <a:sym typeface="Arial"/>
              </a:rPr>
              <a:t xml:space="preserve">quantity</a:t>
            </a:r>
            <a:r>
              <a:rPr b="0" i="0" lang="en-US" sz="1450" u="none" cap="none" strike="noStrike">
                <a:solidFill>
                  <a:srgbClr val="475569"/>
                </a:solidFill>
                <a:latin typeface="Arial"/>
                <a:ea typeface="Arial"/>
                <a:cs typeface="Arial"/>
                <a:sym typeface="Arial"/>
              </a:rPr>
              <a:t xml:space="preserve"> that is subject to choice</a:t>
            </a:r>
            <a:endParaRPr/>
          </a:p>
        </p:txBody>
      </p:sp>
      <p:sp>
        <p:nvSpPr>
          <p:cNvPr id="499" name="Google Shape;499;p52"/>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0" name="Google Shape;500;p52"/>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2"/>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02" name="Google Shape;502;p52"/>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dependent variable</a:t>
            </a:r>
            <a:endParaRPr/>
          </a:p>
        </p:txBody>
      </p:sp>
      <p:sp>
        <p:nvSpPr>
          <p:cNvPr id="503" name="Google Shape;503;p52"/>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quantity that changes in response to the </a:t>
            </a:r>
            <a:r>
              <a:rPr b="1" i="0" lang="en-US" sz="1450" u="none" cap="none" strike="noStrike">
                <a:solidFill>
                  <a:srgbClr val="475569"/>
                </a:solidFill>
                <a:latin typeface="Arial"/>
                <a:ea typeface="Arial"/>
                <a:cs typeface="Arial"/>
                <a:sym typeface="Arial"/>
              </a:rPr>
              <a:t xml:space="preserve">independent variable</a:t>
            </a:r>
            <a:endParaRPr/>
          </a:p>
        </p:txBody>
      </p:sp>
      <p:sp>
        <p:nvSpPr>
          <p:cNvPr id="504" name="Google Shape;504;p52"/>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6" name="Google Shape;506;p52"/>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07" name="Google Shape;507;p52"/>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depends on</a:t>
            </a:r>
            <a:endParaRPr/>
          </a:p>
        </p:txBody>
      </p:sp>
      <p:sp>
        <p:nvSpPr>
          <p:cNvPr id="508" name="Google Shape;508;p52"/>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One quantity depends on another when changing the first causes</a:t>
            </a:r>
            <a:endParaRPr/>
          </a:p>
        </p:txBody>
      </p:sp>
      <p:sp>
        <p:nvSpPr>
          <p:cNvPr id="5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50</a:t>
            </a:r>
          </a:p>
        </p:txBody>
      </p:sp>
      <p:grpSp>
        <p:nvGrpSpPr>
          <p:cNvPr id="510" name="TEACH-6-student-move" descr="TEACH 6 · Organize and implement routines to support a learning-focused classroom"/>
          <p:cNvGrpSpPr/>
          <p:nvPr/>
        </p:nvGrpSpPr>
        <p:grpSpPr>
          <a:xfrm>
            <a:off x="6187440" y="1682496"/>
            <a:ext cx="5501640" cy="594360"/>
            <a:chOff x="6187440" y="1682496"/>
            <a:chExt cx="5501640" cy="594360"/>
          </a:xfrm>
        </p:grpSpPr>
        <p:sp>
          <p:nvSpPr>
            <p:cNvPr id="511"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12"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13"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16" name="Google Shape;516;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9-1 · Explore Relationships Between Two Variables</a:t>
            </a:r>
            <a:endParaRPr/>
          </a:p>
        </p:txBody>
      </p:sp>
      <p:sp>
        <p:nvSpPr>
          <p:cNvPr id="517" name="Google Shape;517;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8" name="Google Shape;518;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19" name="Google Shape;519;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20" name="Google Shape;520;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2" name="Google Shape;522;p53"/>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3"/>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Independent &amp; Dependent Variables</a:t>
            </a:r>
            <a:endParaRPr/>
          </a:p>
        </p:txBody>
      </p:sp>
      <p:sp>
        <p:nvSpPr>
          <p:cNvPr id="524" name="Google Shape;524;p53"/>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26" name="Google Shape;526;p53"/>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Independent Variable (x): </a:t>
            </a:r>
            <a:r>
              <a:rPr b="0" i="0" lang="en-US" sz="1600" u="none" cap="none" strike="noStrike">
                <a:solidFill>
                  <a:srgbClr val="14223A"/>
                </a:solidFill>
                <a:latin typeface="Arial"/>
                <a:ea typeface="Arial"/>
                <a:cs typeface="Arial"/>
                <a:sym typeface="Arial"/>
              </a:rPr>
              <a:t xml:space="preserve">The </a:t>
            </a:r>
            <a:r>
              <a:rPr b="1" i="0" lang="en-US" sz="1600" u="none" cap="none" strike="noStrike">
                <a:solidFill>
                  <a:srgbClr val="14223A"/>
                </a:solidFill>
                <a:latin typeface="Arial"/>
                <a:ea typeface="Arial"/>
                <a:cs typeface="Arial"/>
                <a:sym typeface="Arial"/>
              </a:rPr>
              <a:t xml:space="preserve">input</a:t>
            </a:r>
            <a:r>
              <a:rPr b="0" i="0" lang="en-US" sz="1600" u="none" cap="none" strike="noStrike">
                <a:solidFill>
                  <a:srgbClr val="14223A"/>
                </a:solidFill>
                <a:latin typeface="Arial"/>
                <a:ea typeface="Arial"/>
                <a:cs typeface="Arial"/>
                <a:sym typeface="Arial"/>
              </a:rPr>
              <a:t xml:space="preserve"> / cause that is chosen or changes freely</a:t>
            </a:r>
            <a:endParaRPr/>
          </a:p>
        </p:txBody>
      </p:sp>
      <p:sp>
        <p:nvSpPr>
          <p:cNvPr id="527" name="Google Shape;527;p53"/>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29" name="Google Shape;529;p53"/>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Dependent Variable (y): </a:t>
            </a:r>
            <a:r>
              <a:rPr b="0" i="0" lang="en-US" sz="1600" u="none" cap="none" strike="noStrike">
                <a:solidFill>
                  <a:srgbClr val="14223A"/>
                </a:solidFill>
                <a:latin typeface="Arial"/>
                <a:ea typeface="Arial"/>
                <a:cs typeface="Arial"/>
                <a:sym typeface="Arial"/>
              </a:rPr>
              <a:t xml:space="preserve">The </a:t>
            </a:r>
            <a:r>
              <a:rPr b="1" i="0" lang="en-US" sz="1600" u="none" cap="none" strike="noStrike">
                <a:solidFill>
                  <a:srgbClr val="14223A"/>
                </a:solidFill>
                <a:latin typeface="Arial"/>
                <a:ea typeface="Arial"/>
                <a:cs typeface="Arial"/>
                <a:sym typeface="Arial"/>
              </a:rPr>
              <a:t xml:space="preserve">output</a:t>
            </a:r>
            <a:r>
              <a:rPr b="0" i="0" lang="en-US" sz="1600" u="none" cap="none" strike="noStrike">
                <a:solidFill>
                  <a:srgbClr val="14223A"/>
                </a:solidFill>
                <a:latin typeface="Arial"/>
                <a:ea typeface="Arial"/>
                <a:cs typeface="Arial"/>
                <a:sym typeface="Arial"/>
              </a:rPr>
              <a:t xml:space="preserve"> / effect that depends on the </a:t>
            </a:r>
            <a:r>
              <a:rPr b="1" i="0" lang="en-US" sz="1600" u="none" cap="none" strike="noStrike">
                <a:solidFill>
                  <a:srgbClr val="14223A"/>
                </a:solidFill>
                <a:latin typeface="Arial"/>
                <a:ea typeface="Arial"/>
                <a:cs typeface="Arial"/>
                <a:sym typeface="Arial"/>
              </a:rPr>
              <a:t xml:space="preserve">independent variable</a:t>
            </a:r>
            <a:endParaRPr/>
          </a:p>
        </p:txBody>
      </p:sp>
      <p:sp>
        <p:nvSpPr>
          <p:cNvPr id="530" name="Google Shape;530;p53"/>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32" name="Google Shape;532;p53"/>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Sentence check: </a:t>
            </a:r>
            <a:r>
              <a:rPr b="0" i="0" lang="en-US" sz="1600" u="none" cap="none" strike="noStrike">
                <a:solidFill>
                  <a:srgbClr val="14223A"/>
                </a:solidFill>
                <a:latin typeface="Arial"/>
                <a:ea typeface="Arial"/>
                <a:cs typeface="Arial"/>
                <a:sym typeface="Arial"/>
              </a:rPr>
              <a:t xml:space="preserve">‘The (</a:t>
            </a:r>
            <a:r>
              <a:rPr b="1" i="0" lang="en-US" sz="1600" u="none" cap="none" strike="noStrike">
                <a:solidFill>
                  <a:srgbClr val="14223A"/>
                </a:solidFill>
                <a:latin typeface="Arial"/>
                <a:ea typeface="Arial"/>
                <a:cs typeface="Arial"/>
                <a:sym typeface="Arial"/>
              </a:rPr>
              <a:t xml:space="preserve">dependent</a:t>
            </a:r>
            <a:r>
              <a:rPr b="0" i="0" lang="en-US" sz="1600" u="none" cap="none" strike="noStrike">
                <a:solidFill>
                  <a:srgbClr val="14223A"/>
                </a:solidFill>
                <a:latin typeface="Arial"/>
                <a:ea typeface="Arial"/>
                <a:cs typeface="Arial"/>
                <a:sym typeface="Arial"/>
              </a:rPr>
              <a:t xml:space="preserve">) depends on the (</a:t>
            </a:r>
            <a:r>
              <a:rPr b="1" i="0" lang="en-US" sz="1600" u="none" cap="none" strike="noStrike">
                <a:solidFill>
                  <a:srgbClr val="14223A"/>
                </a:solidFill>
                <a:latin typeface="Arial"/>
                <a:ea typeface="Arial"/>
                <a:cs typeface="Arial"/>
                <a:sym typeface="Arial"/>
              </a:rPr>
              <a:t xml:space="preserve">independent</a:t>
            </a:r>
            <a:r>
              <a:rPr b="0" i="0" lang="en-US" sz="1600" u="none" cap="none" strike="noStrike">
                <a:solidFill>
                  <a:srgbClr val="14223A"/>
                </a:solidFill>
                <a:latin typeface="Arial"/>
                <a:ea typeface="Arial"/>
                <a:cs typeface="Arial"/>
                <a:sym typeface="Arial"/>
              </a:rPr>
              <a:t xml:space="preserve">)’</a:t>
            </a:r>
            <a:endParaRPr/>
          </a:p>
        </p:txBody>
      </p:sp>
      <p:sp>
        <p:nvSpPr>
          <p:cNvPr id="5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50</a:t>
            </a:r>
          </a:p>
        </p:txBody>
      </p:sp>
      <p:grpSp>
        <p:nvGrpSpPr>
          <p:cNvPr id="534" name="TEACH-1-student-move" descr="TEACH 1 · Facilitate clear, standards-based content learning"/>
          <p:cNvGrpSpPr/>
          <p:nvPr/>
        </p:nvGrpSpPr>
        <p:grpSpPr>
          <a:xfrm>
            <a:off x="502920" y="5111496"/>
            <a:ext cx="11186160" cy="402336"/>
            <a:chOff x="502920" y="5111496"/>
            <a:chExt cx="11186160" cy="402336"/>
          </a:xfrm>
        </p:grpSpPr>
        <p:sp>
          <p:nvSpPr>
            <p:cNvPr id="535" name="TEACH-move-card"/>
            <p:cNvSpPr/>
            <p:nvPr/>
          </p:nvSpPr>
          <p:spPr>
            <a:xfrm>
              <a:off x="502920" y="51114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36" name="TEACH-move-rule"/>
            <p:cNvSpPr/>
            <p:nvPr/>
          </p:nvSpPr>
          <p:spPr>
            <a:xfrm>
              <a:off x="548640" y="5187940"/>
              <a:ext cx="100584" cy="249448"/>
            </a:xfrm>
            <a:prstGeom prst="roundRect">
              <a:avLst>
                <a:gd name="adj" fmla="val 50000"/>
              </a:avLst>
            </a:prstGeom>
            <a:solidFill>
              <a:srgbClr val="01708C"/>
            </a:solidFill>
            <a:ln>
              <a:noFill/>
            </a:ln>
          </p:spPr>
          <p:txBody>
            <a:bodyPr/>
            <a:lstStyle/>
            <a:p>
              <a:endParaRPr/>
            </a:p>
          </p:txBody>
        </p:sp>
        <p:sp>
          <p:nvSpPr>
            <p:cNvPr id="537" name="TEACH-move-text"/>
            <p:cNvSpPr txBox="1"/>
            <p:nvPr/>
          </p:nvSpPr>
          <p:spPr>
            <a:xfrm>
              <a:off x="822960" y="51114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1"/>
          <p:cNvSpPr txBox="1"/>
          <p:nvPr/>
        </p:nvSpPr>
        <p:spPr>
          <a:xfrm>
            <a:off x="1402828" y="2453950"/>
            <a:ext cx="8935791"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 xml:space="preserve">Explore Relationships Between </a:t>
            </a:r>
            <a:br>
              <a:rPr b="1" i="0" lang="en-US" sz="3600" u="none" cap="none" strike="noStrike">
                <a:solidFill>
                  <a:schemeClr val="dk1"/>
                </a:solidFill>
                <a:latin typeface="Arial"/>
                <a:ea typeface="Arial"/>
                <a:cs typeface="Arial"/>
                <a:sym typeface="Arial"/>
              </a:rPr>
            </a:br>
            <a:r>
              <a:rPr b="1" i="0" lang="en-US" sz="3600" u="none" cap="none" strike="noStrike">
                <a:solidFill>
                  <a:schemeClr val="dk1"/>
                </a:solidFill>
                <a:latin typeface="Arial"/>
                <a:ea typeface="Arial"/>
                <a:cs typeface="Arial"/>
                <a:sym typeface="Arial"/>
              </a:rPr>
              <a:t>Two Variables</a:t>
            </a:r>
            <a:endParaRPr b="1" i="0" sz="3600" u="none" cap="none" strike="noStrike">
              <a:solidFill>
                <a:schemeClr val="dk1"/>
              </a:solidFill>
              <a:latin typeface="Arial"/>
              <a:ea typeface="Arial"/>
              <a:cs typeface="Arial"/>
              <a:sym typeface="Arial"/>
            </a:endParaRPr>
          </a:p>
        </p:txBody>
      </p:sp>
      <p:sp>
        <p:nvSpPr>
          <p:cNvPr id="238" name="Google Shape;238;p41"/>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9" name="Google Shape;239;p41"/>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4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50</a:t>
            </a:r>
          </a:p>
        </p:txBody>
      </p:sp>
      <p:grpSp>
        <p:nvGrpSpPr>
          <p:cNvPr id="241" name="TEACH-2-student-move" descr="TEACH 2 · Use strategies and tasks to engage students in rigorous work"/>
          <p:cNvGrpSpPr/>
          <p:nvPr/>
        </p:nvGrpSpPr>
        <p:grpSpPr>
          <a:xfrm>
            <a:off x="502920" y="3867612"/>
            <a:ext cx="11186160" cy="731520"/>
            <a:chOff x="502920" y="3867612"/>
            <a:chExt cx="11186160" cy="731520"/>
          </a:xfrm>
        </p:grpSpPr>
        <p:sp>
          <p:nvSpPr>
            <p:cNvPr id="242"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43"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4"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cxnSp>
        <p:nvCxnSpPr>
          <p:cNvPr id="244" name="Google Shape;244;p4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5" name="Google Shape;245;p42"/>
          <p:cNvSpPr txBox="1"/>
          <p:nvPr/>
        </p:nvSpPr>
        <p:spPr>
          <a:xfrm>
            <a:off x="486000" y="316800"/>
            <a:ext cx="467110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More or Less Than…</a:t>
            </a:r>
            <a:endParaRPr b="0" i="0" sz="1400" u="none" cap="none" strike="noStrike">
              <a:solidFill>
                <a:srgbClr val="000000"/>
              </a:solidFill>
              <a:latin typeface="Arial"/>
              <a:ea typeface="Arial"/>
              <a:cs typeface="Arial"/>
              <a:sym typeface="Arial"/>
            </a:endParaRPr>
          </a:p>
        </p:txBody>
      </p:sp>
      <p:sp>
        <p:nvSpPr>
          <p:cNvPr id="246" name="Google Shape;246;p42"/>
          <p:cNvSpPr txBox="1"/>
          <p:nvPr/>
        </p:nvSpPr>
        <p:spPr>
          <a:xfrm>
            <a:off x="560438" y="2475826"/>
            <a:ext cx="1875999"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7" name="Google Shape;247;p42"/>
          <p:cNvSpPr txBox="1"/>
          <p:nvPr/>
        </p:nvSpPr>
        <p:spPr>
          <a:xfrm>
            <a:off x="3661745" y="2475826"/>
            <a:ext cx="1875999"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8" name="Google Shape;248;p42"/>
          <p:cNvSpPr txBox="1"/>
          <p:nvPr/>
        </p:nvSpPr>
        <p:spPr>
          <a:xfrm>
            <a:off x="6654258" y="2475826"/>
            <a:ext cx="1998422"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9" name="Google Shape;249;p42"/>
          <p:cNvSpPr/>
          <p:nvPr/>
        </p:nvSpPr>
        <p:spPr>
          <a:xfrm>
            <a:off x="486000" y="936000"/>
            <a:ext cx="3698385"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More or Less Than 50</a:t>
            </a:r>
            <a:endParaRPr b="0" i="0" sz="2800" u="none" cap="none" strike="noStrike">
              <a:solidFill>
                <a:schemeClr val="dk1"/>
              </a:solidFill>
              <a:latin typeface="Arial"/>
              <a:ea typeface="Arial"/>
              <a:cs typeface="Arial"/>
              <a:sym typeface="Arial"/>
            </a:endParaRPr>
          </a:p>
        </p:txBody>
      </p:sp>
      <p:sp>
        <p:nvSpPr>
          <p:cNvPr id="2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50</a:t>
            </a:r>
          </a:p>
        </p:txBody>
      </p:sp>
      <p:sp xmlns:p="http://schemas.openxmlformats.org/presentationml/2006/main" xmlns:a="http://schemas.openxmlformats.org/drawingml/2006/main">
        <p:nvSpPr>
          <p:cNvPr id="251"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5"/>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44" name="Google Shape;344;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9-1 · Explore Relationships Between Two Variables</a:t>
            </a:r>
            <a:endParaRPr/>
          </a:p>
        </p:txBody>
      </p:sp>
      <p:sp>
        <p:nvSpPr>
          <p:cNvPr id="345" name="Google Shape;345;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7" name="Google Shape;347;p45"/>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Explore Relationships Between Two Variables</a:t>
            </a:r>
            <a:endParaRPr/>
          </a:p>
        </p:txBody>
      </p:sp>
      <p:sp>
        <p:nvSpPr>
          <p:cNvPr id="348" name="Google Shape;348;p45"/>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6.AT.11</a:t>
            </a:r>
            <a:endParaRPr/>
          </a:p>
        </p:txBody>
      </p:sp>
      <p:sp>
        <p:nvSpPr>
          <p:cNvPr id="349" name="Google Shape;349;p45"/>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45"/>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1" name="Google Shape;351;p45"/>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52" name="Google Shape;352;p45"/>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53" name="Google Shape;353;p45"/>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300" u="none" cap="none" strike="noStrike">
                <a:solidFill>
                  <a:srgbClr val="14223A"/>
                </a:solidFill>
                <a:latin typeface="Arial"/>
                <a:ea typeface="Arial"/>
                <a:cs typeface="Arial"/>
                <a:sym typeface="Arial"/>
              </a:rPr>
              <a:t>I can recognize when two quantities change together, and identify which one is the independent variable and which is the dependent variable.</a:t>
            </a:r>
            <a:endParaRPr/>
          </a:p>
        </p:txBody>
      </p:sp>
      <p:sp>
        <p:nvSpPr>
          <p:cNvPr id="354" name="Google Shape;354;p45"/>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5" name="Google Shape;355;p45"/>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45"/>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7" name="Google Shape;357;p45"/>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8" name="Google Shape;358;p45"/>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which quantity depends on the other using the words independent variable, dependent variable, and depends on.</a:t>
            </a:r>
            <a:endParaRPr/>
          </a:p>
        </p:txBody>
      </p:sp>
      <p:sp>
        <p:nvSpPr>
          <p:cNvPr id="3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50</a:t>
            </a:r>
          </a:p>
        </p:txBody>
      </p:sp>
      <p:grpSp>
        <p:nvGrpSpPr>
          <p:cNvPr id="360" name="TEACH-1-student-move" descr="TEACH 1 · Facilitate clear, standards-based content learning"/>
          <p:cNvGrpSpPr/>
          <p:nvPr/>
        </p:nvGrpSpPr>
        <p:grpSpPr>
          <a:xfrm>
            <a:off x="502920" y="1993392"/>
            <a:ext cx="11186160" cy="402336"/>
            <a:chOff x="502920" y="1993392"/>
            <a:chExt cx="11186160" cy="402336"/>
          </a:xfrm>
        </p:grpSpPr>
        <p:sp>
          <p:nvSpPr>
            <p:cNvPr id="361"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62"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63"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9.1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Identify related quantities.</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Justify which depends on the other.</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Interpret values in context.</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5" name="Google Shape;395;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5</a:t>
            </a:r>
            <a:endParaRPr/>
          </a:p>
        </p:txBody>
      </p:sp>
      <p:sp>
        <p:nvSpPr>
          <p:cNvPr id="398" name="Google Shape;398;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9-1 · Explore Relationships Between Two Variables</a:t>
            </a:r>
            <a:endParaRPr/>
          </a:p>
        </p:txBody>
      </p:sp>
      <p:sp>
        <p:nvSpPr>
          <p:cNvPr id="399" name="Google Shape;399;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1" name="Google Shape;401;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independent variable</a:t>
            </a:r>
            <a:endParaRPr/>
          </a:p>
        </p:txBody>
      </p:sp>
      <p:sp>
        <p:nvSpPr>
          <p:cNvPr id="402" name="Google Shape;402;p47"/>
          <p:cNvSpPr/>
          <p:nvPr/>
        </p:nvSpPr>
        <p:spPr>
          <a:xfrm>
            <a:off x="658368" y="2638806"/>
            <a:ext cx="237744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quantity that is subject to choice. It does not depend on the other quantity.</a:t>
            </a:r>
            <a:endParaRPr/>
          </a:p>
        </p:txBody>
      </p:sp>
      <p:sp>
        <p:nvSpPr>
          <p:cNvPr id="404" name="Google Shape;404;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7" name="Google Shape;407;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Miguel picks the number of MONTHS — nothing else decides it for him.</a:t>
            </a:r>
            <a:endParaRPr/>
          </a:p>
        </p:txBody>
      </p:sp>
      <p:pic>
        <p:nvPicPr>
          <p:cNvPr descr="variable.png" id="408" name="Google Shape;408;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50</a:t>
            </a:r>
          </a:p>
        </p:txBody>
      </p:sp>
      <p:sp xmlns:p="http://schemas.openxmlformats.org/presentationml/2006/main" xmlns:a="http://schemas.openxmlformats.org/drawingml/2006/main">
        <p:nvSpPr>
          <p:cNvPr id="409"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“independent variable”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3" name="Google Shape;413;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5</a:t>
            </a:r>
            <a:endParaRPr/>
          </a:p>
        </p:txBody>
      </p:sp>
      <p:sp>
        <p:nvSpPr>
          <p:cNvPr id="416" name="Google Shape;416;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9-1 · Explore Relationships Between Two Variables</a:t>
            </a:r>
            <a:endParaRPr/>
          </a:p>
        </p:txBody>
      </p:sp>
      <p:sp>
        <p:nvSpPr>
          <p:cNvPr id="417" name="Google Shape;417;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9" name="Google Shape;419;p4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dependent variable</a:t>
            </a:r>
            <a:endParaRPr/>
          </a:p>
        </p:txBody>
      </p:sp>
      <p:sp>
        <p:nvSpPr>
          <p:cNvPr id="420" name="Google Shape;420;p48"/>
          <p:cNvSpPr/>
          <p:nvPr/>
        </p:nvSpPr>
        <p:spPr>
          <a:xfrm>
            <a:off x="658368" y="2638806"/>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quantity that changes in response to the independent variable.</a:t>
            </a:r>
            <a:endParaRPr/>
          </a:p>
        </p:txBody>
      </p:sp>
      <p:sp>
        <p:nvSpPr>
          <p:cNvPr id="422" name="Google Shape;422;p4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5" name="Google Shape;425;p4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Total cost = $24.95 × months — the cost RESPONDS to the months.</a:t>
            </a:r>
            <a:endParaRPr/>
          </a:p>
        </p:txBody>
      </p:sp>
      <p:pic>
        <p:nvPicPr>
          <p:cNvPr descr="variable.png" id="426" name="Google Shape;426;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50</a:t>
            </a:r>
          </a:p>
        </p:txBody>
      </p:sp>
      <p:sp xmlns:p="http://schemas.openxmlformats.org/presentationml/2006/main" xmlns:a="http://schemas.openxmlformats.org/drawingml/2006/main">
        <p:nvSpPr>
          <p:cNvPr id="427"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“dependent variable”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1" name="Google Shape;431;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5</a:t>
            </a:r>
            <a:endParaRPr/>
          </a:p>
        </p:txBody>
      </p:sp>
      <p:sp>
        <p:nvSpPr>
          <p:cNvPr id="434" name="Google Shape;434;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9-1 · Explore Relationships Between Two Variables</a:t>
            </a:r>
            <a:endParaRPr/>
          </a:p>
        </p:txBody>
      </p:sp>
      <p:sp>
        <p:nvSpPr>
          <p:cNvPr id="435" name="Google Shape;435;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7" name="Google Shape;437;p49"/>
          <p:cNvSpPr txBox="1"/>
          <p:nvPr/>
        </p:nvSpPr>
        <p:spPr>
          <a:xfrm>
            <a:off x="640080" y="162763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depends on</a:t>
            </a:r>
            <a:endParaRPr/>
          </a:p>
        </p:txBody>
      </p:sp>
      <p:sp>
        <p:nvSpPr>
          <p:cNvPr id="438" name="Google Shape;438;p49"/>
          <p:cNvSpPr/>
          <p:nvPr/>
        </p:nvSpPr>
        <p:spPr>
          <a:xfrm>
            <a:off x="658368" y="2462784"/>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9"/>
          <p:cNvSpPr txBox="1"/>
          <p:nvPr/>
        </p:nvSpPr>
        <p:spPr>
          <a:xfrm>
            <a:off x="640080" y="282397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One quantity depends on another when changing the first causes the second to change.</a:t>
            </a:r>
            <a:endParaRPr/>
          </a:p>
        </p:txBody>
      </p:sp>
      <p:sp>
        <p:nvSpPr>
          <p:cNvPr id="440" name="Google Shape;440;p49"/>
          <p:cNvSpPr/>
          <p:nvPr/>
        </p:nvSpPr>
        <p:spPr>
          <a:xfrm>
            <a:off x="640080" y="4300728"/>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9"/>
          <p:cNvSpPr/>
          <p:nvPr/>
        </p:nvSpPr>
        <p:spPr>
          <a:xfrm>
            <a:off x="640080" y="4300728"/>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9"/>
          <p:cNvSpPr txBox="1"/>
          <p:nvPr/>
        </p:nvSpPr>
        <p:spPr>
          <a:xfrm>
            <a:off x="932688" y="447446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3" name="Google Shape;443;p49"/>
          <p:cNvSpPr txBox="1"/>
          <p:nvPr/>
        </p:nvSpPr>
        <p:spPr>
          <a:xfrm>
            <a:off x="932688" y="4776215"/>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“Total cost depends on the number of months.” Responder first, chooser last.</a:t>
            </a:r>
            <a:endParaRPr/>
          </a:p>
        </p:txBody>
      </p:sp>
      <p:pic>
        <p:nvPicPr>
          <p:cNvPr descr="variable.png" id="444" name="Google Shape;444;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50</a:t>
            </a:r>
          </a:p>
        </p:txBody>
      </p:sp>
      <p:sp xmlns:p="http://schemas.openxmlformats.org/presentationml/2006/main" xmlns:a="http://schemas.openxmlformats.org/drawingml/2006/main">
        <p:nvSpPr>
          <p:cNvPr id="44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“depends on”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9" name="Google Shape;449;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5</a:t>
            </a:r>
            <a:endParaRPr/>
          </a:p>
        </p:txBody>
      </p:sp>
      <p:sp>
        <p:nvSpPr>
          <p:cNvPr id="452" name="Google Shape;452;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9-1 · Explore Relationships Between Two Variables</a:t>
            </a:r>
            <a:endParaRPr/>
          </a:p>
        </p:txBody>
      </p:sp>
      <p:sp>
        <p:nvSpPr>
          <p:cNvPr id="453" name="Google Shape;453;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5" name="Google Shape;455;p50"/>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quantity</a:t>
            </a:r>
            <a:endParaRPr/>
          </a:p>
        </p:txBody>
      </p:sp>
      <p:sp>
        <p:nvSpPr>
          <p:cNvPr id="456" name="Google Shape;456;p50"/>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50"/>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Something that can be counted or measured.</a:t>
            </a:r>
            <a:endParaRPr/>
          </a:p>
        </p:txBody>
      </p:sp>
      <p:sp>
        <p:nvSpPr>
          <p:cNvPr id="458" name="Google Shape;458;p50"/>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50"/>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50"/>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1" name="Google Shape;461;p50"/>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24.95 dollars per month, 12 months — each is a number with a meaning.</a:t>
            </a:r>
            <a:endParaRPr/>
          </a:p>
        </p:txBody>
      </p:sp>
      <p:pic>
        <p:nvPicPr>
          <p:cNvPr descr="quantity.png" id="462" name="Google Shape;462;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50</a:t>
            </a:r>
          </a:p>
        </p:txBody>
      </p:sp>
      <p:sp xmlns:p="http://schemas.openxmlformats.org/presentationml/2006/main" xmlns:a="http://schemas.openxmlformats.org/drawingml/2006/main">
        <p:nvSpPr>
          <p:cNvPr id="46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“quantity”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7" name="Google Shape;467;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5</a:t>
            </a:r>
            <a:endParaRPr/>
          </a:p>
        </p:txBody>
      </p:sp>
      <p:sp>
        <p:nvSpPr>
          <p:cNvPr id="470" name="Google Shape;470;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9-1 · Explore Relationships Between Two Variables</a:t>
            </a:r>
            <a:endParaRPr/>
          </a:p>
        </p:txBody>
      </p:sp>
      <p:sp>
        <p:nvSpPr>
          <p:cNvPr id="471" name="Google Shape;471;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3" name="Google Shape;473;p51"/>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relationship</a:t>
            </a:r>
            <a:endParaRPr/>
          </a:p>
        </p:txBody>
      </p:sp>
      <p:sp>
        <p:nvSpPr>
          <p:cNvPr id="474" name="Google Shape;474;p51"/>
          <p:cNvSpPr/>
          <p:nvPr/>
        </p:nvSpPr>
        <p:spPr>
          <a:xfrm>
            <a:off x="658368" y="2814828"/>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1"/>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two quantities change together.</a:t>
            </a:r>
            <a:endParaRPr/>
          </a:p>
        </p:txBody>
      </p:sp>
      <p:sp>
        <p:nvSpPr>
          <p:cNvPr id="476" name="Google Shape;476;p51"/>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1"/>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1"/>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9" name="Google Shape;479;p51"/>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1 month → $24.95, 2 months → $49.90: the two quantities move together.</a:t>
            </a:r>
            <a:endParaRPr/>
          </a:p>
        </p:txBody>
      </p:sp>
      <p:pic>
        <p:nvPicPr>
          <p:cNvPr descr="relationship.png" id="480" name="Google Shape;480;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50</a:t>
            </a:r>
          </a:p>
        </p:txBody>
      </p:sp>
      <p:sp xmlns:p="http://schemas.openxmlformats.org/presentationml/2006/main" xmlns:a="http://schemas.openxmlformats.org/drawingml/2006/main">
        <p:nvSpPr>
          <p:cNvPr id="48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“relationship” to explain the example. Point to evidence.</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66" name="Google Shape;366;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9-1 · Explore Relationships Between Two Variables</a:t>
            </a:r>
            <a:endParaRPr/>
          </a:p>
        </p:txBody>
      </p:sp>
      <p:sp>
        <p:nvSpPr>
          <p:cNvPr id="367" name="Google Shape;367;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9" name="Google Shape;369;p46"/>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70" name="Google Shape;370;p46"/>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71" name="Google Shape;371;p46"/>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6"/>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6"/>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independent variable</a:t>
            </a:r>
            <a:endParaRPr/>
          </a:p>
        </p:txBody>
      </p:sp>
      <p:sp>
        <p:nvSpPr>
          <p:cNvPr id="374" name="Google Shape;374;p46"/>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quantity that is subject to choice</a:t>
            </a:r>
            <a:endParaRPr/>
          </a:p>
        </p:txBody>
      </p:sp>
      <p:sp>
        <p:nvSpPr>
          <p:cNvPr id="375" name="Google Shape;375;p46"/>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6"/>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6"/>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dependent variable</a:t>
            </a:r>
            <a:endParaRPr/>
          </a:p>
        </p:txBody>
      </p:sp>
      <p:sp>
        <p:nvSpPr>
          <p:cNvPr id="378" name="Google Shape;378;p46"/>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quantity that changes in response to the independent variable</a:t>
            </a:r>
            <a:endParaRPr/>
          </a:p>
        </p:txBody>
      </p:sp>
      <p:sp>
        <p:nvSpPr>
          <p:cNvPr id="379" name="Google Shape;379;p46"/>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6"/>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6"/>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depends on</a:t>
            </a:r>
            <a:endParaRPr/>
          </a:p>
        </p:txBody>
      </p:sp>
      <p:sp>
        <p:nvSpPr>
          <p:cNvPr id="382" name="Google Shape;382;p46"/>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One quantity depends on another when changing the first causes the second to change</a:t>
            </a:r>
            <a:endParaRPr/>
          </a:p>
        </p:txBody>
      </p:sp>
      <p:sp>
        <p:nvSpPr>
          <p:cNvPr id="383" name="Google Shape;383;p46"/>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6"/>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6"/>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quantity</a:t>
            </a:r>
            <a:endParaRPr/>
          </a:p>
        </p:txBody>
      </p:sp>
      <p:sp>
        <p:nvSpPr>
          <p:cNvPr id="386" name="Google Shape;386;p46"/>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Something that can be counted or measured</a:t>
            </a:r>
            <a:endParaRPr/>
          </a:p>
        </p:txBody>
      </p:sp>
      <p:sp>
        <p:nvSpPr>
          <p:cNvPr id="387" name="Google Shape;387;p46"/>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6"/>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6"/>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relationship</a:t>
            </a:r>
            <a:endParaRPr/>
          </a:p>
        </p:txBody>
      </p:sp>
      <p:sp>
        <p:nvSpPr>
          <p:cNvPr id="390" name="Google Shape;390;p46"/>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How two quantities change together</a:t>
            </a:r>
            <a:endParaRPr/>
          </a:p>
        </p:txBody>
      </p:sp>
      <p:sp>
        <p:nvSpPr>
          <p:cNvPr id="39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50</a:t>
            </a:r>
          </a:p>
        </p:txBody>
      </p:sp>
      <p:sp xmlns:p="http://schemas.openxmlformats.org/presentationml/2006/main" xmlns:a="http://schemas.openxmlformats.org/drawingml/2006/main">
        <p:nvSpPr>
          <p:cNvPr id="392"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cxnSp>
        <p:nvCxnSpPr>
          <p:cNvPr id="548" name="Google Shape;548;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49" name="Google Shape;549;p55"/>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50" name="Google Shape;550;p55"/>
          <p:cNvSpPr txBox="1"/>
          <p:nvPr/>
        </p:nvSpPr>
        <p:spPr>
          <a:xfrm>
            <a:off x="484560" y="936100"/>
            <a:ext cx="4441401"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p:txBody>
      </p:sp>
      <p:pic>
        <p:nvPicPr>
          <p:cNvPr id="551" name="Google Shape;551;p55"/>
          <p:cNvPicPr preferRelativeResize="0"/>
          <p:nvPr/>
        </p:nvPicPr>
        <p:blipFill rotWithShape="1">
          <a:blip r:embed="rId3">
            <a:alphaModFix/>
          </a:blip>
          <a:srcRect b="0" l="0" r="0" t="0"/>
          <a:stretch/>
        </p:blipFill>
        <p:spPr>
          <a:xfrm>
            <a:off x="486000" y="4402032"/>
            <a:ext cx="5054600" cy="838200"/>
          </a:xfrm>
          <a:prstGeom prst="rect">
            <a:avLst/>
          </a:prstGeom>
          <a:noFill/>
          <a:ln>
            <a:noFill/>
          </a:ln>
        </p:spPr>
      </p:pic>
      <p:sp>
        <p:nvSpPr>
          <p:cNvPr id="552" name="Google Shape;552;p55"/>
          <p:cNvSpPr txBox="1"/>
          <p:nvPr/>
        </p:nvSpPr>
        <p:spPr>
          <a:xfrm>
            <a:off x="3174308" y="4559642"/>
            <a:ext cx="2194584" cy="5229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53" name="Google Shape;553;p55"/>
          <p:cNvSpPr txBox="1"/>
          <p:nvPr/>
        </p:nvSpPr>
        <p:spPr>
          <a:xfrm>
            <a:off x="459052" y="1497342"/>
            <a:ext cx="3929638"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descr="A picture containing indoor&#10;&#10;Description automatically generated" id="554" name="Google Shape;554;p55"/>
          <p:cNvPicPr preferRelativeResize="0"/>
          <p:nvPr/>
        </p:nvPicPr>
        <p:blipFill rotWithShape="1">
          <a:blip r:embed="rId4">
            <a:alphaModFix/>
          </a:blip>
          <a:srcRect b="0" l="0" r="0" t="0"/>
          <a:stretch/>
        </p:blipFill>
        <p:spPr>
          <a:xfrm>
            <a:off x="6324794" y="1346646"/>
            <a:ext cx="5317000" cy="4680000"/>
          </a:xfrm>
          <a:prstGeom prst="rect">
            <a:avLst/>
          </a:prstGeom>
          <a:noFill/>
          <a:ln>
            <a:noFill/>
          </a:ln>
        </p:spPr>
      </p:pic>
      <p:sp>
        <p:nvSpPr>
          <p:cNvPr id="555" name="Google Shape;555;p55"/>
          <p:cNvSpPr txBox="1"/>
          <p:nvPr/>
        </p:nvSpPr>
        <p:spPr>
          <a:xfrm>
            <a:off x="486000" y="5229733"/>
            <a:ext cx="5631759"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Why is flexible thinking useful when engaging with math?</a:t>
            </a:r>
            <a:endParaRPr b="0" i="0" sz="2600" u="none" cap="none" strike="noStrike">
              <a:solidFill>
                <a:srgbClr val="595959"/>
              </a:solidFill>
              <a:latin typeface="Arial"/>
              <a:ea typeface="Arial"/>
              <a:cs typeface="Arial"/>
              <a:sym typeface="Arial"/>
            </a:endParaRPr>
          </a:p>
        </p:txBody>
      </p:sp>
      <p:sp>
        <p:nvSpPr>
          <p:cNvPr id="55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50</a:t>
            </a:r>
          </a:p>
        </p:txBody>
      </p:sp>
      <p:sp xmlns:p="http://schemas.openxmlformats.org/presentationml/2006/main" xmlns:a="http://schemas.openxmlformats.org/drawingml/2006/main">
        <p:nvSpPr>
          <p:cNvPr id="557" name="TEACH-embedded-student-prompt" descr="Student thinking and response directions"/>
          <p:cNvSpPr txBox="1"/>
          <p:nvPr/>
        </p:nvSpPr>
        <p:spPr>
          <a:xfrm>
            <a:off x="594360" y="34930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cxnSp>
        <p:nvCxnSpPr>
          <p:cNvPr id="560" name="Google Shape;560;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1" name="Google Shape;561;p56"/>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Growing Plants</a:t>
            </a:r>
            <a:endParaRPr b="1" i="0" sz="2800" u="none" cap="none" strike="noStrike">
              <a:solidFill>
                <a:srgbClr val="7030A0"/>
              </a:solidFill>
              <a:latin typeface="Arial"/>
              <a:ea typeface="Arial"/>
              <a:cs typeface="Arial"/>
              <a:sym typeface="Arial"/>
            </a:endParaRPr>
          </a:p>
        </p:txBody>
      </p:sp>
      <p:sp>
        <p:nvSpPr>
          <p:cNvPr id="562" name="Google Shape;562;p56"/>
          <p:cNvSpPr txBox="1"/>
          <p:nvPr/>
        </p:nvSpPr>
        <p:spPr>
          <a:xfrm>
            <a:off x="484564" y="936000"/>
            <a:ext cx="6877769" cy="22615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Akela planted three trays of bean seeds for a science experiment. She records the daily amount of sunlight each tray of seeds receives and average plant height for each tray after 3 weeks of growth.</a:t>
            </a:r>
            <a:endParaRPr b="0" i="0" sz="1400" u="none" cap="none" strike="noStrike">
              <a:solidFill>
                <a:srgbClr val="000000"/>
              </a:solidFill>
              <a:latin typeface="Arial"/>
              <a:ea typeface="Arial"/>
              <a:cs typeface="Arial"/>
              <a:sym typeface="Arial"/>
            </a:endParaRPr>
          </a:p>
        </p:txBody>
      </p:sp>
      <p:sp>
        <p:nvSpPr>
          <p:cNvPr id="563" name="Google Shape;563;p56"/>
          <p:cNvSpPr txBox="1"/>
          <p:nvPr/>
        </p:nvSpPr>
        <p:spPr>
          <a:xfrm>
            <a:off x="484565" y="3518084"/>
            <a:ext cx="6712648"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can Akela say about the relationship between sunlight and plant growth?</a:t>
            </a:r>
            <a:endParaRPr b="0" i="0" sz="1400" u="none" cap="none" strike="noStrike">
              <a:solidFill>
                <a:srgbClr val="000000"/>
              </a:solidFill>
              <a:latin typeface="Arial"/>
              <a:ea typeface="Arial"/>
              <a:cs typeface="Arial"/>
              <a:sym typeface="Arial"/>
            </a:endParaRPr>
          </a:p>
        </p:txBody>
      </p:sp>
      <p:pic>
        <p:nvPicPr>
          <p:cNvPr descr="A picture containing table&#10;&#10;Description automatically generated" id="564" name="Google Shape;564;p56"/>
          <p:cNvPicPr preferRelativeResize="0"/>
          <p:nvPr/>
        </p:nvPicPr>
        <p:blipFill rotWithShape="1">
          <a:blip r:embed="rId3">
            <a:alphaModFix/>
          </a:blip>
          <a:srcRect b="0" l="0" r="0" t="0"/>
          <a:stretch/>
        </p:blipFill>
        <p:spPr>
          <a:xfrm>
            <a:off x="7583935" y="1504567"/>
            <a:ext cx="4297263" cy="3078000"/>
          </a:xfrm>
          <a:prstGeom prst="rect">
            <a:avLst/>
          </a:prstGeom>
          <a:noFill/>
          <a:ln>
            <a:noFill/>
          </a:ln>
        </p:spPr>
      </p:pic>
      <p:sp>
        <p:nvSpPr>
          <p:cNvPr id="56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50</a:t>
            </a:r>
          </a:p>
        </p:txBody>
      </p:sp>
      <p:sp xmlns:p="http://schemas.openxmlformats.org/presentationml/2006/main" xmlns:a="http://schemas.openxmlformats.org/drawingml/2006/main">
        <p:nvSpPr>
          <p:cNvPr id="566"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cxnSp>
        <p:nvCxnSpPr>
          <p:cNvPr id="579" name="Google Shape;579;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0" name="Google Shape;580;p58"/>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Growing Plants</a:t>
            </a:r>
            <a:endParaRPr b="1" i="0" sz="2800" u="none" cap="none" strike="noStrike">
              <a:solidFill>
                <a:srgbClr val="7030A0"/>
              </a:solidFill>
              <a:latin typeface="Arial"/>
              <a:ea typeface="Arial"/>
              <a:cs typeface="Arial"/>
              <a:sym typeface="Arial"/>
            </a:endParaRPr>
          </a:p>
        </p:txBody>
      </p:sp>
      <p:sp>
        <p:nvSpPr>
          <p:cNvPr id="581" name="Google Shape;581;p58"/>
          <p:cNvSpPr txBox="1"/>
          <p:nvPr/>
        </p:nvSpPr>
        <p:spPr>
          <a:xfrm>
            <a:off x="484563" y="4038014"/>
            <a:ext cx="676464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quantities are represented in the problem?</a:t>
            </a:r>
            <a:endParaRPr b="0" i="0" sz="1400" u="none" cap="none" strike="noStrike">
              <a:solidFill>
                <a:srgbClr val="000000"/>
              </a:solidFill>
              <a:latin typeface="Arial"/>
              <a:ea typeface="Arial"/>
              <a:cs typeface="Arial"/>
              <a:sym typeface="Arial"/>
            </a:endParaRPr>
          </a:p>
        </p:txBody>
      </p:sp>
      <p:sp>
        <p:nvSpPr>
          <p:cNvPr id="582" name="Google Shape;582;p58"/>
          <p:cNvSpPr txBox="1"/>
          <p:nvPr/>
        </p:nvSpPr>
        <p:spPr>
          <a:xfrm>
            <a:off x="484563" y="4974336"/>
            <a:ext cx="11069076"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quantities are the amount of sunlight the seeds were exposed to each day and the height of the bean plants after 3 weeks.</a:t>
            </a:r>
            <a:endParaRPr b="0" i="0" sz="1400" u="none" cap="none" strike="noStrike">
              <a:solidFill>
                <a:srgbClr val="000000"/>
              </a:solidFill>
              <a:latin typeface="Arial"/>
              <a:ea typeface="Arial"/>
              <a:cs typeface="Arial"/>
              <a:sym typeface="Arial"/>
            </a:endParaRPr>
          </a:p>
        </p:txBody>
      </p:sp>
      <p:pic>
        <p:nvPicPr>
          <p:cNvPr descr="A picture containing table&#10;&#10;Description automatically generated" id="583" name="Google Shape;583;p58"/>
          <p:cNvPicPr preferRelativeResize="0"/>
          <p:nvPr/>
        </p:nvPicPr>
        <p:blipFill rotWithShape="1">
          <a:blip r:embed="rId3">
            <a:alphaModFix/>
          </a:blip>
          <a:srcRect b="0" l="0" r="0" t="0"/>
          <a:stretch/>
        </p:blipFill>
        <p:spPr>
          <a:xfrm>
            <a:off x="7583935" y="1504567"/>
            <a:ext cx="4297263" cy="3078000"/>
          </a:xfrm>
          <a:prstGeom prst="rect">
            <a:avLst/>
          </a:prstGeom>
          <a:noFill/>
          <a:ln>
            <a:noFill/>
          </a:ln>
        </p:spPr>
      </p:pic>
      <p:sp>
        <p:nvSpPr>
          <p:cNvPr id="584" name="Google Shape;584;p58"/>
          <p:cNvSpPr txBox="1"/>
          <p:nvPr/>
        </p:nvSpPr>
        <p:spPr>
          <a:xfrm>
            <a:off x="484565" y="936000"/>
            <a:ext cx="6906050" cy="31020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Akela planted three trays of bean seeds for a science experiment. She records the daily amount of sunlight each tray of seeds receives and average plant height for each tray after 3 weeks of growth. What can Akela say about the relationship between sunlight and plant growth?</a:t>
            </a:r>
            <a:endParaRPr b="0" i="0" sz="1400" u="none" cap="none" strike="noStrike">
              <a:solidFill>
                <a:srgbClr val="000000"/>
              </a:solidFill>
              <a:latin typeface="Arial"/>
              <a:ea typeface="Arial"/>
              <a:cs typeface="Arial"/>
              <a:sym typeface="Arial"/>
            </a:endParaRPr>
          </a:p>
        </p:txBody>
      </p:sp>
      <p:sp>
        <p:nvSpPr>
          <p:cNvPr id="58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50</a:t>
            </a:r>
          </a:p>
        </p:txBody>
      </p:sp>
      <p:sp>
        <p:nvSpPr>
          <p:cNvPr id="586" name="EWL-COVER-1"/>
          <p:cNvSpPr/>
          <p:nvPr/>
        </p:nvSpPr>
        <p:spPr>
          <a:xfrm>
            <a:off x="429699" y="4919472"/>
            <a:ext cx="11178804" cy="1494723"/>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8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cxnSp>
        <p:nvCxnSpPr>
          <p:cNvPr id="623" name="Google Shape;623;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4" name="Google Shape;624;p62"/>
          <p:cNvSpPr txBox="1"/>
          <p:nvPr/>
        </p:nvSpPr>
        <p:spPr>
          <a:xfrm>
            <a:off x="484565" y="316034"/>
            <a:ext cx="5015483" cy="46489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Growing Plants</a:t>
            </a:r>
            <a:endParaRPr b="1" i="0" sz="2800" u="none" cap="none" strike="noStrike">
              <a:solidFill>
                <a:srgbClr val="7030A0"/>
              </a:solidFill>
              <a:latin typeface="Arial"/>
              <a:ea typeface="Arial"/>
              <a:cs typeface="Arial"/>
              <a:sym typeface="Arial"/>
            </a:endParaRPr>
          </a:p>
        </p:txBody>
      </p:sp>
      <p:sp>
        <p:nvSpPr>
          <p:cNvPr id="625" name="Google Shape;625;p62"/>
          <p:cNvSpPr txBox="1"/>
          <p:nvPr/>
        </p:nvSpPr>
        <p:spPr>
          <a:xfrm>
            <a:off x="484563" y="3136412"/>
            <a:ext cx="6811783" cy="28197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shortest average plant height is the tray that received the least amount of sunlight, while the tallest average plant height is the tray that received the most sunlight.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1" i="0" sz="2800" u="none" cap="none" strike="noStrike">
              <a:solidFill>
                <a:srgbClr val="0070C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1" i="0" sz="2800" u="none" cap="none" strike="noStrike">
              <a:solidFill>
                <a:srgbClr val="0070C0"/>
              </a:solidFill>
              <a:latin typeface="Arial"/>
              <a:ea typeface="Arial"/>
              <a:cs typeface="Arial"/>
              <a:sym typeface="Arial"/>
            </a:endParaRPr>
          </a:p>
        </p:txBody>
      </p:sp>
      <p:sp>
        <p:nvSpPr>
          <p:cNvPr id="626" name="Google Shape;626;p62"/>
          <p:cNvSpPr txBox="1"/>
          <p:nvPr/>
        </p:nvSpPr>
        <p:spPr>
          <a:xfrm>
            <a:off x="484563" y="936000"/>
            <a:ext cx="6943758"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shortest average plant height? the tallest average plant height?</a:t>
            </a:r>
            <a:endParaRPr b="0" i="0" sz="1400" u="none" cap="none" strike="noStrike">
              <a:solidFill>
                <a:srgbClr val="000000"/>
              </a:solidFill>
              <a:latin typeface="Arial"/>
              <a:ea typeface="Arial"/>
              <a:cs typeface="Arial"/>
              <a:sym typeface="Arial"/>
            </a:endParaRPr>
          </a:p>
        </p:txBody>
      </p:sp>
      <p:pic>
        <p:nvPicPr>
          <p:cNvPr descr="A picture containing table&#10;&#10;Description automatically generated" id="627" name="Google Shape;627;p62"/>
          <p:cNvPicPr preferRelativeResize="0"/>
          <p:nvPr/>
        </p:nvPicPr>
        <p:blipFill rotWithShape="1">
          <a:blip r:embed="rId3">
            <a:alphaModFix/>
          </a:blip>
          <a:srcRect b="0" l="0" r="0" t="0"/>
          <a:stretch/>
        </p:blipFill>
        <p:spPr>
          <a:xfrm>
            <a:off x="7583935" y="1504567"/>
            <a:ext cx="4297263" cy="3078000"/>
          </a:xfrm>
          <a:prstGeom prst="rect">
            <a:avLst/>
          </a:prstGeom>
          <a:noFill/>
          <a:ln>
            <a:noFill/>
          </a:ln>
        </p:spPr>
      </p:pic>
      <p:sp>
        <p:nvSpPr>
          <p:cNvPr id="6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50</a:t>
            </a:r>
          </a:p>
        </p:txBody>
      </p:sp>
      <p:sp>
        <p:nvSpPr>
          <p:cNvPr id="629" name="EWL-COVER-1"/>
          <p:cNvSpPr/>
          <p:nvPr/>
        </p:nvSpPr>
        <p:spPr>
          <a:xfrm>
            <a:off x="429699" y="3081548"/>
            <a:ext cx="6921511" cy="3282676"/>
          </a:xfrm>
          <a:prstGeom prst="rect">
            <a:avLst/>
          </a:prstGeom>
          <a:solidFill>
            <a:srgbClr val="FFFFFF"/>
          </a:solidFill>
          <a:ln>
            <a:noFill/>
          </a:ln>
        </p:spPr>
        <p:txBody>
          <a:bodyPr/>
          <a:lstStyle/>
          <a:p/>
        </p:txBody>
      </p:sp>
      <p:grpSp>
        <p:nvGrpSpPr>
          <p:cNvPr id="630" name="TEACH-3-student-move" descr="TEACH 3 · Use intentional questioning to deepen learning"/>
          <p:cNvGrpSpPr/>
          <p:nvPr/>
        </p:nvGrpSpPr>
        <p:grpSpPr>
          <a:xfrm>
            <a:off x="502920" y="2459756"/>
            <a:ext cx="5501640" cy="594360"/>
            <a:chOff x="502920" y="2459756"/>
            <a:chExt cx="5501640" cy="594360"/>
          </a:xfrm>
        </p:grpSpPr>
        <p:sp>
          <p:nvSpPr>
            <p:cNvPr id="631" name="TEACH-move-card"/>
            <p:cNvSpPr/>
            <p:nvPr/>
          </p:nvSpPr>
          <p:spPr>
            <a:xfrm>
              <a:off x="502920" y="245975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32" name="TEACH-move-rule"/>
            <p:cNvSpPr/>
            <p:nvPr/>
          </p:nvSpPr>
          <p:spPr>
            <a:xfrm>
              <a:off x="548640" y="2572684"/>
              <a:ext cx="100584" cy="368504"/>
            </a:xfrm>
            <a:prstGeom prst="roundRect">
              <a:avLst>
                <a:gd name="adj" fmla="val 50000"/>
              </a:avLst>
            </a:prstGeom>
            <a:solidFill>
              <a:srgbClr val="01708C"/>
            </a:solidFill>
            <a:ln>
              <a:noFill/>
            </a:ln>
          </p:spPr>
          <p:txBody>
            <a:bodyPr/>
            <a:lstStyle/>
            <a:p>
              <a:endParaRPr/>
            </a:p>
          </p:txBody>
        </p:sp>
        <p:sp>
          <p:nvSpPr>
            <p:cNvPr id="633" name="TEACH-move-text"/>
            <p:cNvSpPr txBox="1"/>
            <p:nvPr/>
          </p:nvSpPr>
          <p:spPr>
            <a:xfrm>
              <a:off x="822960" y="245975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cxnSp>
        <p:nvCxnSpPr>
          <p:cNvPr id="642" name="Google Shape;642;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3" name="Google Shape;643;p64"/>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Growing Plants</a:t>
            </a:r>
            <a:endParaRPr b="1" i="0" sz="2800" u="none" cap="none" strike="noStrike">
              <a:solidFill>
                <a:srgbClr val="7030A0"/>
              </a:solidFill>
              <a:latin typeface="Arial"/>
              <a:ea typeface="Arial"/>
              <a:cs typeface="Arial"/>
              <a:sym typeface="Arial"/>
            </a:endParaRPr>
          </a:p>
        </p:txBody>
      </p:sp>
      <p:sp>
        <p:nvSpPr>
          <p:cNvPr id="644" name="Google Shape;644;p64"/>
          <p:cNvSpPr txBox="1"/>
          <p:nvPr/>
        </p:nvSpPr>
        <p:spPr>
          <a:xfrm>
            <a:off x="484565" y="936000"/>
            <a:ext cx="6425282" cy="102927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xml:space="preserve">An </a:t>
            </a:r>
            <a:r>
              <a:rPr b="1" i="0" lang="en-US" sz="2800" u="none" cap="none" strike="noStrike">
                <a:solidFill>
                  <a:schemeClr val="dk1"/>
                </a:solidFill>
                <a:highlight>
                  <a:srgbClr val="FFFF00"/>
                </a:highlight>
                <a:latin typeface="Arial"/>
                <a:ea typeface="Arial"/>
                <a:cs typeface="Arial"/>
                <a:sym typeface="Arial"/>
              </a:rPr>
              <a:t xml:space="preserve">independent variable </a:t>
            </a:r>
            <a:r>
              <a:rPr b="0" i="0" lang="en-US" sz="2800" u="none" cap="none" strike="noStrike">
                <a:solidFill>
                  <a:schemeClr val="dk1"/>
                </a:solidFill>
                <a:latin typeface="Arial"/>
                <a:ea typeface="Arial"/>
                <a:cs typeface="Arial"/>
                <a:sym typeface="Arial"/>
              </a:rPr>
              <a:t>does not depend upon the other quantity.</a:t>
            </a:r>
            <a:endParaRPr b="0" i="0" sz="1400" u="none" cap="none" strike="noStrike">
              <a:solidFill>
                <a:srgbClr val="000000"/>
              </a:solidFill>
              <a:latin typeface="Arial"/>
              <a:ea typeface="Arial"/>
              <a:cs typeface="Arial"/>
              <a:sym typeface="Arial"/>
            </a:endParaRPr>
          </a:p>
        </p:txBody>
      </p:sp>
      <p:sp>
        <p:nvSpPr>
          <p:cNvPr id="645" name="Google Shape;645;p64"/>
          <p:cNvSpPr/>
          <p:nvPr/>
        </p:nvSpPr>
        <p:spPr>
          <a:xfrm>
            <a:off x="484564" y="2155907"/>
            <a:ext cx="6528977"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 xml:space="preserve">A </a:t>
            </a:r>
            <a:r>
              <a:rPr b="1" i="0" lang="en-US" sz="2800" u="none" cap="none" strike="noStrike">
                <a:solidFill>
                  <a:schemeClr val="dk1"/>
                </a:solidFill>
                <a:highlight>
                  <a:srgbClr val="FFFF00"/>
                </a:highlight>
                <a:latin typeface="Arial"/>
                <a:ea typeface="Arial"/>
                <a:cs typeface="Arial"/>
                <a:sym typeface="Arial"/>
              </a:rPr>
              <a:t>dependent variable</a:t>
            </a:r>
            <a:r>
              <a:rPr b="0" i="0" lang="en-US" sz="2800" u="none" cap="none" strike="noStrike">
                <a:solidFill>
                  <a:schemeClr val="dk1"/>
                </a:solidFill>
                <a:latin typeface="Arial"/>
                <a:ea typeface="Arial"/>
                <a:cs typeface="Arial"/>
                <a:sym typeface="Arial"/>
              </a:rPr>
              <a:t xml:space="preserve"> changes in response to the input for the independent variable.</a:t>
            </a:r>
            <a:endParaRPr b="0" i="0" sz="1400" u="none" cap="none" strike="noStrike">
              <a:solidFill>
                <a:srgbClr val="000000"/>
              </a:solidFill>
              <a:latin typeface="Arial"/>
              <a:ea typeface="Arial"/>
              <a:cs typeface="Arial"/>
              <a:sym typeface="Arial"/>
            </a:endParaRPr>
          </a:p>
        </p:txBody>
      </p:sp>
      <p:pic>
        <p:nvPicPr>
          <p:cNvPr descr="A picture containing table&#10;&#10;Description automatically generated" id="646" name="Google Shape;646;p64"/>
          <p:cNvPicPr preferRelativeResize="0"/>
          <p:nvPr/>
        </p:nvPicPr>
        <p:blipFill rotWithShape="1">
          <a:blip r:embed="rId3">
            <a:alphaModFix/>
          </a:blip>
          <a:srcRect b="0" l="0" r="0" t="0"/>
          <a:stretch/>
        </p:blipFill>
        <p:spPr>
          <a:xfrm>
            <a:off x="7583935" y="1504567"/>
            <a:ext cx="4297263" cy="3078000"/>
          </a:xfrm>
          <a:prstGeom prst="rect">
            <a:avLst/>
          </a:prstGeom>
          <a:noFill/>
          <a:ln>
            <a:noFill/>
          </a:ln>
        </p:spPr>
      </p:pic>
      <p:sp>
        <p:nvSpPr>
          <p:cNvPr id="647" name="Google Shape;647;p64"/>
          <p:cNvSpPr txBox="1"/>
          <p:nvPr/>
        </p:nvSpPr>
        <p:spPr>
          <a:xfrm>
            <a:off x="484564" y="4725908"/>
            <a:ext cx="8216375" cy="14126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1" i="0" sz="2800" u="none" cap="none" strike="noStrike">
              <a:solidFill>
                <a:schemeClr val="lt1"/>
              </a:solidFill>
              <a:highlight>
                <a:srgbClr val="1E2682"/>
              </a:highlight>
              <a:latin typeface="Arial"/>
              <a:ea typeface="Arial"/>
              <a:cs typeface="Arial"/>
              <a:sym typeface="Arial"/>
            </a:endParaRPr>
          </a:p>
        </p:txBody>
      </p:sp>
      <p:sp>
        <p:nvSpPr>
          <p:cNvPr id="64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50</a:t>
            </a:r>
          </a:p>
        </p:txBody>
      </p:sp>
      <p:sp xmlns:p="http://schemas.openxmlformats.org/presentationml/2006/main" xmlns:a="http://schemas.openxmlformats.org/drawingml/2006/main">
        <p:nvSpPr>
          <p:cNvPr id="649" name="TEACH-embedded-student-prompt" descr="Student thinking and response directions"/>
          <p:cNvSpPr txBox="1"/>
          <p:nvPr/>
        </p:nvSpPr>
        <p:spPr>
          <a:xfrm>
            <a:off x="594360" y="37673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a:t>
            </a:r>
            <a:endParaRPr lang="en-US" sz="2000"/>
          </a:p>
          <a:p>
            <a:pPr>
              <a:lnSpc>
                <a:spcPts val="2400"/>
              </a:lnSpc>
              <a:buNone/>
            </a:pPr>
            <a:r>
              <a:rPr lang="en-US" sz="2000">
                <a:solidFill>
                  <a:srgbClr val="174D60"/>
                </a:solidFill>
                <a:latin typeface="Arial"/>
              </a:rPr>
              <a:t>your reasoning.</a:t>
            </a:r>
            <a:endParaRPr lang="en-US"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cxnSp>
        <p:nvCxnSpPr>
          <p:cNvPr id="676" name="Google Shape;676;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7" name="Google Shape;677;p67"/>
          <p:cNvSpPr txBox="1"/>
          <p:nvPr/>
        </p:nvSpPr>
        <p:spPr>
          <a:xfrm>
            <a:off x="8532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678" name="Google Shape;678;p67"/>
          <p:cNvPicPr preferRelativeResize="0"/>
          <p:nvPr/>
        </p:nvPicPr>
        <p:blipFill rotWithShape="1">
          <a:blip r:embed="rId3">
            <a:alphaModFix/>
          </a:blip>
          <a:srcRect b="0" l="0" r="0" t="0"/>
          <a:stretch/>
        </p:blipFill>
        <p:spPr>
          <a:xfrm>
            <a:off x="499565" y="368708"/>
            <a:ext cx="353635" cy="340537"/>
          </a:xfrm>
          <a:prstGeom prst="rect">
            <a:avLst/>
          </a:prstGeom>
          <a:noFill/>
          <a:ln>
            <a:noFill/>
          </a:ln>
        </p:spPr>
      </p:pic>
      <p:sp>
        <p:nvSpPr>
          <p:cNvPr id="679" name="Google Shape;679;p67"/>
          <p:cNvSpPr txBox="1"/>
          <p:nvPr/>
        </p:nvSpPr>
        <p:spPr>
          <a:xfrm>
            <a:off x="485998" y="4543268"/>
            <a:ext cx="8628505" cy="18164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height of the plant is the dependent variable.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amount of sunlight is the independent variable.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1" i="0" sz="2800" u="none" cap="none" strike="noStrike">
              <a:solidFill>
                <a:srgbClr val="0070C0"/>
              </a:solidFill>
              <a:latin typeface="Arial"/>
              <a:ea typeface="Arial"/>
              <a:cs typeface="Arial"/>
              <a:sym typeface="Arial"/>
            </a:endParaRPr>
          </a:p>
        </p:txBody>
      </p:sp>
      <p:sp>
        <p:nvSpPr>
          <p:cNvPr id="680" name="Google Shape;680;p67"/>
          <p:cNvSpPr txBox="1"/>
          <p:nvPr/>
        </p:nvSpPr>
        <p:spPr>
          <a:xfrm>
            <a:off x="499565" y="4802809"/>
            <a:ext cx="8332882" cy="19694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pic>
        <p:nvPicPr>
          <p:cNvPr descr="A picture containing table&#10;&#10;Description automatically generated" id="681" name="Google Shape;681;p67"/>
          <p:cNvPicPr preferRelativeResize="0"/>
          <p:nvPr/>
        </p:nvPicPr>
        <p:blipFill rotWithShape="1">
          <a:blip r:embed="rId4">
            <a:alphaModFix/>
          </a:blip>
          <a:srcRect b="0" l="0" r="0" t="0"/>
          <a:stretch/>
        </p:blipFill>
        <p:spPr>
          <a:xfrm>
            <a:off x="7583935" y="1504567"/>
            <a:ext cx="4297263" cy="3078000"/>
          </a:xfrm>
          <a:prstGeom prst="rect">
            <a:avLst/>
          </a:prstGeom>
          <a:noFill/>
          <a:ln>
            <a:noFill/>
          </a:ln>
        </p:spPr>
      </p:pic>
      <p:sp>
        <p:nvSpPr>
          <p:cNvPr id="682" name="Google Shape;682;p67"/>
          <p:cNvSpPr txBox="1"/>
          <p:nvPr/>
        </p:nvSpPr>
        <p:spPr>
          <a:xfrm>
            <a:off x="485998" y="936000"/>
            <a:ext cx="6788560" cy="11821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 xml:space="preserve">The average height of the plants </a:t>
            </a:r>
            <a:r>
              <a:rPr b="0" i="1" lang="en-US" sz="2800" u="none" cap="none" strike="noStrike">
                <a:solidFill>
                  <a:schemeClr val="dk1"/>
                </a:solidFill>
                <a:latin typeface="Arial"/>
                <a:ea typeface="Arial"/>
                <a:cs typeface="Arial"/>
                <a:sym typeface="Arial"/>
              </a:rPr>
              <a:t>depends</a:t>
            </a:r>
            <a:r>
              <a:rPr b="0" i="0" lang="en-US" sz="2800" u="none" cap="none" strike="noStrike">
                <a:solidFill>
                  <a:schemeClr val="dk1"/>
                </a:solidFill>
                <a:latin typeface="Arial"/>
                <a:ea typeface="Arial"/>
                <a:cs typeface="Arial"/>
                <a:sym typeface="Arial"/>
              </a:rPr>
              <a:t xml:space="preserve"> on the amount of sunlight they receive.</a:t>
            </a:r>
            <a:endParaRPr b="0" i="0" sz="2800" u="none" cap="none" strike="noStrike">
              <a:solidFill>
                <a:schemeClr val="dk1"/>
              </a:solidFill>
              <a:latin typeface="Arial"/>
              <a:ea typeface="Arial"/>
              <a:cs typeface="Arial"/>
              <a:sym typeface="Arial"/>
            </a:endParaRPr>
          </a:p>
        </p:txBody>
      </p:sp>
      <p:sp>
        <p:nvSpPr>
          <p:cNvPr id="683" name="Google Shape;683;p67"/>
          <p:cNvSpPr txBox="1"/>
          <p:nvPr/>
        </p:nvSpPr>
        <p:spPr>
          <a:xfrm>
            <a:off x="485998" y="2234615"/>
            <a:ext cx="6870829" cy="13436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Which quantity is the independent variable, and which is the dependent variable?</a:t>
            </a:r>
            <a:endParaRPr b="0" i="0" sz="1400" u="none" cap="none" strike="noStrike">
              <a:solidFill>
                <a:srgbClr val="000000"/>
              </a:solidFill>
              <a:latin typeface="Arial"/>
              <a:ea typeface="Arial"/>
              <a:cs typeface="Arial"/>
              <a:sym typeface="Arial"/>
            </a:endParaRPr>
          </a:p>
        </p:txBody>
      </p:sp>
      <p:sp>
        <p:nvSpPr>
          <p:cNvPr id="6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50</a:t>
            </a:r>
          </a:p>
        </p:txBody>
      </p:sp>
      <p:sp>
        <p:nvSpPr>
          <p:cNvPr id="685" name="EWL-COVER-1"/>
          <p:cNvSpPr/>
          <p:nvPr/>
        </p:nvSpPr>
        <p:spPr>
          <a:xfrm>
            <a:off x="431134" y="4488404"/>
            <a:ext cx="8738233" cy="1926219"/>
          </a:xfrm>
          <a:prstGeom prst="rect">
            <a:avLst/>
          </a:prstGeom>
          <a:solidFill>
            <a:srgbClr val="FFFFFF"/>
          </a:solidFill>
          <a:ln>
            <a:noFill/>
          </a:ln>
        </p:spPr>
        <p:txBody>
          <a:bodyPr/>
          <a:lstStyle/>
          <a:p/>
        </p:txBody>
      </p:sp>
      <p:sp>
        <p:nvSpPr>
          <p:cNvPr id="68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687" name="TEACH-5-student-move" descr="TEACH 5 · Facilitate student interactions and academic talk"/>
          <p:cNvGrpSpPr/>
          <p:nvPr/>
        </p:nvGrpSpPr>
        <p:grpSpPr>
          <a:xfrm>
            <a:off x="502920" y="3866612"/>
            <a:ext cx="5501640" cy="594360"/>
            <a:chOff x="502920" y="3866612"/>
            <a:chExt cx="5501640" cy="594360"/>
          </a:xfrm>
        </p:grpSpPr>
        <p:sp>
          <p:nvSpPr>
            <p:cNvPr id="688" name="TEACH-move-card"/>
            <p:cNvSpPr/>
            <p:nvPr/>
          </p:nvSpPr>
          <p:spPr>
            <a:xfrm>
              <a:off x="502920" y="3866612"/>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89" name="TEACH-move-rule"/>
            <p:cNvSpPr/>
            <p:nvPr/>
          </p:nvSpPr>
          <p:spPr>
            <a:xfrm>
              <a:off x="548640" y="3979540"/>
              <a:ext cx="100584" cy="368504"/>
            </a:xfrm>
            <a:prstGeom prst="roundRect">
              <a:avLst>
                <a:gd name="adj" fmla="val 50000"/>
              </a:avLst>
            </a:prstGeom>
            <a:solidFill>
              <a:srgbClr val="01708C"/>
            </a:solidFill>
            <a:ln>
              <a:noFill/>
            </a:ln>
          </p:spPr>
          <p:txBody>
            <a:bodyPr/>
            <a:lstStyle/>
            <a:p>
              <a:endParaRPr/>
            </a:p>
          </p:txBody>
        </p:sp>
        <p:sp>
          <p:nvSpPr>
            <p:cNvPr id="690" name="TEACH-move-text"/>
            <p:cNvSpPr txBox="1"/>
            <p:nvPr/>
          </p:nvSpPr>
          <p:spPr>
            <a:xfrm>
              <a:off x="822960" y="3866612"/>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cxnSp>
        <p:nvCxnSpPr>
          <p:cNvPr id="708" name="Google Shape;708;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9" name="Google Shape;709;p7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1" i="0" sz="1800" u="none" cap="none" strike="noStrike">
              <a:solidFill>
                <a:srgbClr val="782DA0"/>
              </a:solidFill>
              <a:latin typeface="Arial"/>
              <a:ea typeface="Arial"/>
              <a:cs typeface="Arial"/>
              <a:sym typeface="Arial"/>
            </a:endParaRPr>
          </a:p>
        </p:txBody>
      </p:sp>
      <p:sp>
        <p:nvSpPr>
          <p:cNvPr id="710" name="Google Shape;710;p70"/>
          <p:cNvSpPr txBox="1"/>
          <p:nvPr/>
        </p:nvSpPr>
        <p:spPr>
          <a:xfrm>
            <a:off x="484564" y="936000"/>
            <a:ext cx="7254842" cy="1443469"/>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 xml:space="preserve">Why do you think the variables that represent the quantities are called </a:t>
            </a:r>
            <a:r>
              <a:rPr b="0" i="1" lang="en-US" sz="2800" u="none" cap="none" strike="noStrike">
                <a:solidFill>
                  <a:schemeClr val="dk1"/>
                </a:solidFill>
                <a:latin typeface="Arial"/>
                <a:ea typeface="Arial"/>
                <a:cs typeface="Arial"/>
                <a:sym typeface="Arial"/>
              </a:rPr>
              <a:t xml:space="preserve">independent </a:t>
            </a:r>
            <a:r>
              <a:rPr b="0" i="0" lang="en-US" sz="2800" u="none" cap="none" strike="noStrike">
                <a:solidFill>
                  <a:schemeClr val="dk1"/>
                </a:solidFill>
                <a:latin typeface="Arial"/>
                <a:ea typeface="Arial"/>
                <a:cs typeface="Arial"/>
                <a:sym typeface="Arial"/>
              </a:rPr>
              <a:t xml:space="preserve">and </a:t>
            </a:r>
            <a:r>
              <a:rPr b="0" i="1" lang="en-US" sz="2800" u="none" cap="none" strike="noStrike">
                <a:solidFill>
                  <a:schemeClr val="dk1"/>
                </a:solidFill>
                <a:latin typeface="Arial"/>
                <a:ea typeface="Arial"/>
                <a:cs typeface="Arial"/>
                <a:sym typeface="Arial"/>
              </a:rPr>
              <a:t xml:space="preserve">dependent </a:t>
            </a:r>
            <a:r>
              <a:rPr b="0" i="0" lang="en-US" sz="2800" u="none" cap="none" strike="noStrike">
                <a:solidFill>
                  <a:schemeClr val="dk1"/>
                </a:solidFill>
                <a:latin typeface="Arial"/>
                <a:ea typeface="Arial"/>
                <a:cs typeface="Arial"/>
                <a:sym typeface="Arial"/>
              </a:rPr>
              <a:t>variables?</a:t>
            </a:r>
            <a:endParaRPr b="0" i="0" sz="1400" u="none" cap="none" strike="noStrike">
              <a:solidFill>
                <a:srgbClr val="000000"/>
              </a:solidFill>
              <a:latin typeface="Arial"/>
              <a:ea typeface="Arial"/>
              <a:cs typeface="Arial"/>
              <a:sym typeface="Arial"/>
            </a:endParaRPr>
          </a:p>
        </p:txBody>
      </p:sp>
      <p:sp>
        <p:nvSpPr>
          <p:cNvPr id="711" name="Google Shape;711;p70"/>
          <p:cNvSpPr/>
          <p:nvPr/>
        </p:nvSpPr>
        <p:spPr>
          <a:xfrm>
            <a:off x="484563" y="2380333"/>
            <a:ext cx="7254843" cy="1202323"/>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12" name="Google Shape;712;p70"/>
          <p:cNvSpPr txBox="1"/>
          <p:nvPr/>
        </p:nvSpPr>
        <p:spPr>
          <a:xfrm>
            <a:off x="6532537" y="5709599"/>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13" name="Google Shape;713;p70"/>
          <p:cNvSpPr/>
          <p:nvPr/>
        </p:nvSpPr>
        <p:spPr>
          <a:xfrm>
            <a:off x="484563" y="4902871"/>
            <a:ext cx="7254843" cy="1211270"/>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14" name="Google Shape;714;p70"/>
          <p:cNvSpPr txBox="1"/>
          <p:nvPr/>
        </p:nvSpPr>
        <p:spPr>
          <a:xfrm>
            <a:off x="6457491" y="3221043"/>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15" name="Google Shape;715;p70"/>
          <p:cNvSpPr/>
          <p:nvPr/>
        </p:nvSpPr>
        <p:spPr>
          <a:xfrm>
            <a:off x="484563" y="3787570"/>
            <a:ext cx="7254843" cy="954107"/>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defRPr/>
            </a:pPr>
            <a:r>
              <a:rPr b="0" i="0" lang="en-US" sz="2800" u="none" cap="none" strike="noStrike">
                <a:solidFill>
                  <a:schemeClr val="dk1"/>
                </a:solidFill>
                <a:latin typeface="Arial"/>
                <a:ea typeface="Arial"/>
                <a:cs typeface="Arial"/>
                <a:sym typeface="Arial"/>
              </a:rPr>
              <a:t>Why is the amount of sunlight the independent variable?</a:t>
            </a:r>
            <a:endParaRPr b="0" i="0" sz="2800" u="none" cap="none" strike="noStrike">
              <a:solidFill>
                <a:schemeClr val="dk1"/>
              </a:solidFill>
              <a:latin typeface="Arial"/>
              <a:ea typeface="Arial"/>
              <a:cs typeface="Arial"/>
              <a:sym typeface="Arial"/>
            </a:endParaRPr>
          </a:p>
        </p:txBody>
      </p:sp>
      <p:sp>
        <p:nvSpPr>
          <p:cNvPr id="7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9.1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Which quantity is chosen or varied, and how does the other respond in this situation?</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79" name="Google Shape;579;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0" name="Google Shape;580;p58"/>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Growing Plants</a:t>
            </a:r>
            <a:endParaRPr b="1" i="0" sz="2800" u="none" cap="none" strike="noStrike">
              <a:solidFill>
                <a:srgbClr val="7030A0"/>
              </a:solidFill>
              <a:latin typeface="Arial"/>
              <a:ea typeface="Arial"/>
              <a:cs typeface="Arial"/>
              <a:sym typeface="Arial"/>
            </a:endParaRPr>
          </a:p>
        </p:txBody>
      </p:sp>
      <p:sp>
        <p:nvSpPr>
          <p:cNvPr id="581" name="Google Shape;581;p58"/>
          <p:cNvSpPr txBox="1"/>
          <p:nvPr/>
        </p:nvSpPr>
        <p:spPr>
          <a:xfrm>
            <a:off x="484563" y="4038014"/>
            <a:ext cx="676464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quantities are represented in the problem?</a:t>
            </a:r>
            <a:endParaRPr b="0" i="0" sz="1400" u="none" cap="none" strike="noStrike">
              <a:solidFill>
                <a:srgbClr val="000000"/>
              </a:solidFill>
              <a:latin typeface="Arial"/>
              <a:ea typeface="Arial"/>
              <a:cs typeface="Arial"/>
              <a:sym typeface="Arial"/>
            </a:endParaRPr>
          </a:p>
        </p:txBody>
      </p:sp>
      <p:sp>
        <p:nvSpPr>
          <p:cNvPr id="582" name="Google Shape;582;p58"/>
          <p:cNvSpPr txBox="1"/>
          <p:nvPr/>
        </p:nvSpPr>
        <p:spPr>
          <a:xfrm>
            <a:off x="484563" y="4992121"/>
            <a:ext cx="11069076"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quantities are the amount of sunlight the seeds were exposed to each day and the height of the bean plants after 3 weeks.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1" i="0" sz="2800" u="none" cap="none" strike="noStrike">
              <a:solidFill>
                <a:srgbClr val="0070C0"/>
              </a:solidFill>
              <a:latin typeface="Arial"/>
              <a:ea typeface="Arial"/>
              <a:cs typeface="Arial"/>
              <a:sym typeface="Arial"/>
            </a:endParaRPr>
          </a:p>
        </p:txBody>
      </p:sp>
      <p:pic>
        <p:nvPicPr>
          <p:cNvPr descr="A picture containing table&#10;&#10;Description automatically generated" id="583" name="Google Shape;583;p58"/>
          <p:cNvPicPr preferRelativeResize="0"/>
          <p:nvPr/>
        </p:nvPicPr>
        <p:blipFill rotWithShape="1">
          <a:blip r:embed="rId2">
            <a:alphaModFix/>
          </a:blip>
          <a:srcRect b="0" l="0" r="0" t="0"/>
          <a:stretch/>
        </p:blipFill>
        <p:spPr>
          <a:xfrm>
            <a:off x="7583935" y="1504567"/>
            <a:ext cx="4297263" cy="3078000"/>
          </a:xfrm>
          <a:prstGeom prst="rect">
            <a:avLst/>
          </a:prstGeom>
          <a:noFill/>
          <a:ln>
            <a:noFill/>
          </a:ln>
        </p:spPr>
      </p:pic>
      <p:sp>
        <p:nvSpPr>
          <p:cNvPr id="584" name="Google Shape;584;p58"/>
          <p:cNvSpPr txBox="1"/>
          <p:nvPr/>
        </p:nvSpPr>
        <p:spPr>
          <a:xfrm>
            <a:off x="484565" y="936000"/>
            <a:ext cx="6906050" cy="31020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Akela planted three trays of bean seeds for a science experiment. She records the daily amount of sunlight each tray of seeds receives and average plant height for each tray after 3 weeks of growth. What can Akela say about the relationship between sunlight and plant growth?</a:t>
            </a:r>
            <a:endParaRPr b="0" i="0" sz="1400" u="none" cap="none" strike="noStrike">
              <a:solidFill>
                <a:srgbClr val="000000"/>
              </a:solidFill>
              <a:latin typeface="Arial"/>
              <a:ea typeface="Arial"/>
              <a:cs typeface="Arial"/>
              <a:sym typeface="Arial"/>
            </a:endParaRPr>
          </a:p>
        </p:txBody>
      </p:sp>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23" name="Google Shape;623;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4" name="Google Shape;624;p62"/>
          <p:cNvSpPr txBox="1"/>
          <p:nvPr/>
        </p:nvSpPr>
        <p:spPr>
          <a:xfrm>
            <a:off x="484565" y="316034"/>
            <a:ext cx="5015483" cy="46489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Growing Plants</a:t>
            </a:r>
            <a:endParaRPr b="1" i="0" sz="2800" u="none" cap="none" strike="noStrike">
              <a:solidFill>
                <a:srgbClr val="7030A0"/>
              </a:solidFill>
              <a:latin typeface="Arial"/>
              <a:ea typeface="Arial"/>
              <a:cs typeface="Arial"/>
              <a:sym typeface="Arial"/>
            </a:endParaRPr>
          </a:p>
        </p:txBody>
      </p:sp>
      <p:sp>
        <p:nvSpPr>
          <p:cNvPr id="625" name="Google Shape;625;p62"/>
          <p:cNvSpPr txBox="1"/>
          <p:nvPr/>
        </p:nvSpPr>
        <p:spPr>
          <a:xfrm>
            <a:off x="484563" y="3430213"/>
            <a:ext cx="6811783" cy="28197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shortest average plant height is the tray that received the least amount of sunlight, while the tallest average plant height is the tray that received the most sunlight.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1" i="0" sz="2800" u="none" cap="none" strike="noStrike">
              <a:solidFill>
                <a:srgbClr val="0070C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1" i="0" sz="2800" u="none" cap="none" strike="noStrike">
              <a:solidFill>
                <a:srgbClr val="0070C0"/>
              </a:solidFill>
              <a:latin typeface="Arial"/>
              <a:ea typeface="Arial"/>
              <a:cs typeface="Arial"/>
              <a:sym typeface="Arial"/>
            </a:endParaRPr>
          </a:p>
        </p:txBody>
      </p:sp>
      <p:sp>
        <p:nvSpPr>
          <p:cNvPr id="626" name="Google Shape;626;p62"/>
          <p:cNvSpPr txBox="1"/>
          <p:nvPr/>
        </p:nvSpPr>
        <p:spPr>
          <a:xfrm>
            <a:off x="484563" y="936000"/>
            <a:ext cx="6943758"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do you notice about the shortest average plant height? the tallest average plant height?</a:t>
            </a:r>
            <a:endParaRPr b="0" i="0" sz="1400" u="none" cap="none" strike="noStrike">
              <a:solidFill>
                <a:srgbClr val="000000"/>
              </a:solidFill>
              <a:latin typeface="Arial"/>
              <a:ea typeface="Arial"/>
              <a:cs typeface="Arial"/>
              <a:sym typeface="Arial"/>
            </a:endParaRPr>
          </a:p>
        </p:txBody>
      </p:sp>
      <p:pic>
        <p:nvPicPr>
          <p:cNvPr descr="A picture containing table&#10;&#10;Description automatically generated" id="627" name="Google Shape;627;p62"/>
          <p:cNvPicPr preferRelativeResize="0"/>
          <p:nvPr/>
        </p:nvPicPr>
        <p:blipFill rotWithShape="1">
          <a:blip r:embed="rId2">
            <a:alphaModFix/>
          </a:blip>
          <a:srcRect b="0" l="0" r="0" t="0"/>
          <a:stretch/>
        </p:blipFill>
        <p:spPr>
          <a:xfrm>
            <a:off x="7583935" y="1504567"/>
            <a:ext cx="4297263" cy="3078000"/>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50</a:t>
            </a:r>
          </a:p>
        </p:txBody>
      </p:sp>
      <p:sp xmlns:p="http://schemas.openxmlformats.org/presentationml/2006/main" xmlns:a="http://schemas.openxmlformats.org/drawingml/2006/main">
        <p:nvSpPr>
          <p:cNvPr id="628" name="TEACH-embedded-student-prompt" descr="Student thinking and response directions"/>
          <p:cNvSpPr txBox="1"/>
          <p:nvPr/>
        </p:nvSpPr>
        <p:spPr>
          <a:xfrm>
            <a:off x="594360" y="24871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76" name="Google Shape;676;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7" name="Google Shape;677;p67"/>
          <p:cNvSpPr txBox="1"/>
          <p:nvPr/>
        </p:nvSpPr>
        <p:spPr>
          <a:xfrm>
            <a:off x="8532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678" name="Google Shape;678;p67"/>
          <p:cNvPicPr preferRelativeResize="0"/>
          <p:nvPr/>
        </p:nvPicPr>
        <p:blipFill rotWithShape="1">
          <a:blip r:embed="rId2">
            <a:alphaModFix/>
          </a:blip>
          <a:srcRect b="0" l="0" r="0" t="0"/>
          <a:stretch/>
        </p:blipFill>
        <p:spPr>
          <a:xfrm>
            <a:off x="499565" y="368708"/>
            <a:ext cx="353635" cy="340537"/>
          </a:xfrm>
          <a:prstGeom prst="rect">
            <a:avLst/>
          </a:prstGeom>
          <a:noFill/>
          <a:ln>
            <a:noFill/>
          </a:ln>
        </p:spPr>
      </p:pic>
      <p:sp>
        <p:nvSpPr>
          <p:cNvPr id="679" name="Google Shape;679;p67"/>
          <p:cNvSpPr txBox="1"/>
          <p:nvPr/>
        </p:nvSpPr>
        <p:spPr>
          <a:xfrm>
            <a:off x="485998" y="4543268"/>
            <a:ext cx="8628505" cy="18164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height of the plant is the dependent variable.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amount of sunlight is the independent variable.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1" i="0" sz="2800" u="none" cap="none" strike="noStrike">
              <a:solidFill>
                <a:srgbClr val="0070C0"/>
              </a:solidFill>
              <a:latin typeface="Arial"/>
              <a:ea typeface="Arial"/>
              <a:cs typeface="Arial"/>
              <a:sym typeface="Arial"/>
            </a:endParaRPr>
          </a:p>
        </p:txBody>
      </p:sp>
      <p:sp>
        <p:nvSpPr>
          <p:cNvPr id="680" name="Google Shape;680;p67"/>
          <p:cNvSpPr txBox="1"/>
          <p:nvPr/>
        </p:nvSpPr>
        <p:spPr>
          <a:xfrm>
            <a:off x="499565" y="4802809"/>
            <a:ext cx="8332882" cy="19694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pic>
        <p:nvPicPr>
          <p:cNvPr descr="A picture containing table&#10;&#10;Description automatically generated" id="681" name="Google Shape;681;p67"/>
          <p:cNvPicPr preferRelativeResize="0"/>
          <p:nvPr/>
        </p:nvPicPr>
        <p:blipFill rotWithShape="1">
          <a:blip r:embed="rId3">
            <a:alphaModFix/>
          </a:blip>
          <a:srcRect b="0" l="0" r="0" t="0"/>
          <a:stretch/>
        </p:blipFill>
        <p:spPr>
          <a:xfrm>
            <a:off x="7583935" y="1504567"/>
            <a:ext cx="4297263" cy="3078000"/>
          </a:xfrm>
          <a:prstGeom prst="rect">
            <a:avLst/>
          </a:prstGeom>
          <a:noFill/>
          <a:ln>
            <a:noFill/>
          </a:ln>
        </p:spPr>
      </p:pic>
      <p:sp>
        <p:nvSpPr>
          <p:cNvPr id="682" name="Google Shape;682;p67"/>
          <p:cNvSpPr txBox="1"/>
          <p:nvPr/>
        </p:nvSpPr>
        <p:spPr>
          <a:xfrm>
            <a:off x="485998" y="936000"/>
            <a:ext cx="6788560" cy="11821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average height of the plants </a:t>
            </a:r>
            <a:r>
              <a:rPr b="0" i="1" lang="en-US" sz="2800" u="none" cap="none" strike="noStrike">
                <a:solidFill>
                  <a:schemeClr val="dk1"/>
                </a:solidFill>
                <a:latin typeface="Arial"/>
                <a:ea typeface="Arial"/>
                <a:cs typeface="Arial"/>
                <a:sym typeface="Arial"/>
              </a:rPr>
              <a:t>depends</a:t>
            </a:r>
            <a:r>
              <a:rPr b="0" i="0" lang="en-US" sz="2800" u="none" cap="none" strike="noStrike">
                <a:solidFill>
                  <a:schemeClr val="dk1"/>
                </a:solidFill>
                <a:latin typeface="Arial"/>
                <a:ea typeface="Arial"/>
                <a:cs typeface="Arial"/>
                <a:sym typeface="Arial"/>
              </a:rPr>
              <a:t> on the amount of sunlight they receive.</a:t>
            </a:r>
            <a:endParaRPr b="0" i="0" sz="2800" u="none" cap="none" strike="noStrike">
              <a:solidFill>
                <a:schemeClr val="dk1"/>
              </a:solidFill>
              <a:latin typeface="Arial"/>
              <a:ea typeface="Arial"/>
              <a:cs typeface="Arial"/>
              <a:sym typeface="Arial"/>
            </a:endParaRPr>
          </a:p>
        </p:txBody>
      </p:sp>
      <p:sp>
        <p:nvSpPr>
          <p:cNvPr id="683" name="Google Shape;683;p67"/>
          <p:cNvSpPr txBox="1"/>
          <p:nvPr/>
        </p:nvSpPr>
        <p:spPr>
          <a:xfrm>
            <a:off x="485998" y="2234615"/>
            <a:ext cx="6870829" cy="13436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Which quantity is the independent variable, and which is the dependent variable?</a:t>
            </a:r>
            <a:endParaRPr b="0" i="0" sz="1400" u="none" cap="none" strike="noStrike">
              <a:solidFill>
                <a:srgbClr val="000000"/>
              </a:solidFill>
              <a:latin typeface="Arial"/>
              <a:ea typeface="Arial"/>
              <a:cs typeface="Arial"/>
              <a:sym typeface="Arial"/>
            </a:endParaRPr>
          </a:p>
        </p:txBody>
      </p:sp>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50</a:t>
            </a:r>
          </a:p>
        </p:txBody>
      </p:sp>
      <p:grpSp>
        <p:nvGrpSpPr>
          <p:cNvPr id="684" name="TEACH-5-student-move" descr="TEACH 5 · Facilitate student interactions and academic talk"/>
          <p:cNvGrpSpPr/>
          <p:nvPr/>
        </p:nvGrpSpPr>
        <p:grpSpPr>
          <a:xfrm>
            <a:off x="502920" y="3866612"/>
            <a:ext cx="5501640" cy="594360"/>
            <a:chOff x="502920" y="3866612"/>
            <a:chExt cx="5501640" cy="594360"/>
          </a:xfrm>
        </p:grpSpPr>
        <p:sp>
          <p:nvSpPr>
            <p:cNvPr id="685" name="TEACH-move-card"/>
            <p:cNvSpPr/>
            <p:nvPr/>
          </p:nvSpPr>
          <p:spPr>
            <a:xfrm>
              <a:off x="502920" y="3866612"/>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86" name="TEACH-move-rule"/>
            <p:cNvSpPr/>
            <p:nvPr/>
          </p:nvSpPr>
          <p:spPr>
            <a:xfrm>
              <a:off x="548640" y="3979540"/>
              <a:ext cx="100584" cy="368504"/>
            </a:xfrm>
            <a:prstGeom prst="roundRect">
              <a:avLst>
                <a:gd name="adj" fmla="val 50000"/>
              </a:avLst>
            </a:prstGeom>
            <a:solidFill>
              <a:srgbClr val="01708C"/>
            </a:solidFill>
            <a:ln>
              <a:noFill/>
            </a:ln>
          </p:spPr>
          <p:txBody>
            <a:bodyPr/>
            <a:lstStyle/>
            <a:p>
              <a:endParaRPr/>
            </a:p>
          </p:txBody>
        </p:sp>
        <p:sp>
          <p:nvSpPr>
            <p:cNvPr id="687" name="TEACH-move-text"/>
            <p:cNvSpPr txBox="1"/>
            <p:nvPr/>
          </p:nvSpPr>
          <p:spPr>
            <a:xfrm>
              <a:off x="822960" y="3866612"/>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39" name="Google Shape;739;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40" name="Google Shape;740;p73"/>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741" name="Google Shape;741;p73"/>
          <p:cNvPicPr preferRelativeResize="0"/>
          <p:nvPr/>
        </p:nvPicPr>
        <p:blipFill rotWithShape="1">
          <a:blip r:embed="rId2">
            <a:alphaModFix/>
          </a:blip>
          <a:srcRect b="0" l="0" r="0" t="0"/>
          <a:stretch/>
        </p:blipFill>
        <p:spPr>
          <a:xfrm>
            <a:off x="484560" y="4813995"/>
            <a:ext cx="5054600" cy="838200"/>
          </a:xfrm>
          <a:prstGeom prst="rect">
            <a:avLst/>
          </a:prstGeom>
          <a:noFill/>
          <a:ln>
            <a:noFill/>
          </a:ln>
        </p:spPr>
      </p:pic>
      <p:sp>
        <p:nvSpPr>
          <p:cNvPr id="742" name="Google Shape;742;p73"/>
          <p:cNvSpPr txBox="1"/>
          <p:nvPr/>
        </p:nvSpPr>
        <p:spPr>
          <a:xfrm>
            <a:off x="484560" y="315403"/>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43" name="Google Shape;743;p73"/>
          <p:cNvSpPr txBox="1"/>
          <p:nvPr/>
        </p:nvSpPr>
        <p:spPr>
          <a:xfrm>
            <a:off x="484560" y="1022823"/>
            <a:ext cx="6063724"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notice?</a:t>
            </a:r>
            <a:endParaRPr b="1" i="0" sz="2800" u="none" cap="none" strike="noStrike">
              <a:solidFill>
                <a:schemeClr val="dk1"/>
              </a:solidFill>
              <a:latin typeface="Arial"/>
              <a:ea typeface="Arial"/>
              <a:cs typeface="Arial"/>
              <a:sym typeface="Arial"/>
            </a:endParaRPr>
          </a:p>
        </p:txBody>
      </p:sp>
      <p:sp>
        <p:nvSpPr>
          <p:cNvPr id="744" name="Google Shape;744;p73"/>
          <p:cNvSpPr txBox="1"/>
          <p:nvPr/>
        </p:nvSpPr>
        <p:spPr>
          <a:xfrm>
            <a:off x="3204364" y="4971485"/>
            <a:ext cx="214709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45" name="Google Shape;745;p73"/>
          <p:cNvSpPr/>
          <p:nvPr/>
        </p:nvSpPr>
        <p:spPr>
          <a:xfrm>
            <a:off x="484560" y="1705144"/>
            <a:ext cx="368402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746" name="Google Shape;746;p73"/>
          <p:cNvSpPr/>
          <p:nvPr/>
        </p:nvSpPr>
        <p:spPr>
          <a:xfrm>
            <a:off x="486000" y="5652195"/>
            <a:ext cx="8278228"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is flexible thinking helping you engage with math?</a:t>
            </a:r>
            <a:endParaRPr b="0" i="0" sz="1400" u="none" cap="none" strike="noStrike">
              <a:solidFill>
                <a:srgbClr val="000000"/>
              </a:solidFill>
              <a:latin typeface="Arial"/>
              <a:ea typeface="Arial"/>
              <a:cs typeface="Arial"/>
              <a:sym typeface="Arial"/>
            </a:endParaRPr>
          </a:p>
        </p:txBody>
      </p:sp>
      <p:pic>
        <p:nvPicPr>
          <p:cNvPr descr="Graphical user interface, application&#10;&#10;Description automatically generated" id="747" name="Google Shape;747;p73"/>
          <p:cNvPicPr preferRelativeResize="0"/>
          <p:nvPr/>
        </p:nvPicPr>
        <p:blipFill rotWithShape="1">
          <a:blip r:embed="rId3">
            <a:alphaModFix/>
          </a:blip>
          <a:srcRect b="0" l="0" r="0" t="0"/>
          <a:stretch/>
        </p:blipFill>
        <p:spPr>
          <a:xfrm>
            <a:off x="6711836" y="1353922"/>
            <a:ext cx="5226532" cy="3542234"/>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50</a:t>
            </a:r>
          </a:p>
        </p:txBody>
      </p:sp>
      <p:sp xmlns:p="http://schemas.openxmlformats.org/presentationml/2006/main" xmlns:a="http://schemas.openxmlformats.org/drawingml/2006/main">
        <p:nvSpPr>
          <p:cNvPr id="748" name="TEACH-embedded-student-prompt" descr="Student thinking and response directions"/>
          <p:cNvSpPr txBox="1"/>
          <p:nvPr/>
        </p:nvSpPr>
        <p:spPr>
          <a:xfrm>
            <a:off x="594360" y="38587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9-1 · Explore Relationships Between Two Variables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The variable whose value determines the other variable is the:</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Dependent variable</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Independent variable</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Constant</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Coefficient</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In hours worked (h) and pay earned (p), which is dependent?</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Hours worked (h)</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Pay earned (p)</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Both are independent</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Neither</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On a graph, the independent variable is plotted on the:</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Vertical y-axis</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Horizontal x-axis</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Diagonal line</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Quadrant III</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The dependent variable is plotted on the:</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Horizontal x-axis</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Vertical y-axis</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Origin only</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Z-axis</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50</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9-1 · Explore Relationships Between Two Variables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Independent Variable (x)</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a:t>
            </a:r>
            <a:r>
              <a:rPr b="1" i="0" lang="en-US" sz="1450" u="none" cap="none" strike="noStrike">
                <a:solidFill>
                  <a:srgbClr val="475569"/>
                </a:solidFill>
                <a:latin typeface="Arial"/>
                <a:ea typeface="Arial"/>
                <a:cs typeface="Arial"/>
                <a:sym typeface="Arial"/>
              </a:rPr>
              <a:t xml:space="preserve">input</a:t>
            </a:r>
            <a:r>
              <a:rPr b="0" i="0" lang="en-US" sz="1450" u="none" cap="none" strike="noStrike">
                <a:solidFill>
                  <a:srgbClr val="475569"/>
                </a:solidFill>
                <a:latin typeface="Arial"/>
                <a:ea typeface="Arial"/>
                <a:cs typeface="Arial"/>
                <a:sym typeface="Arial"/>
              </a:rPr>
              <a:t xml:space="preserve"> value that causes change; plotted along the horizontal axis.</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Dependent Variable (y)</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a:t>
            </a:r>
            <a:r>
              <a:rPr b="1" i="0" lang="en-US" sz="1450" u="none" cap="none" strike="noStrike">
                <a:solidFill>
                  <a:srgbClr val="475569"/>
                </a:solidFill>
                <a:latin typeface="Arial"/>
                <a:ea typeface="Arial"/>
                <a:cs typeface="Arial"/>
                <a:sym typeface="Arial"/>
              </a:rPr>
              <a:t xml:space="preserve">output</a:t>
            </a:r>
            <a:r>
              <a:rPr b="0" i="0" lang="en-US" sz="1450" u="none" cap="none" strike="noStrike">
                <a:solidFill>
                  <a:srgbClr val="475569"/>
                </a:solidFill>
                <a:latin typeface="Arial"/>
                <a:ea typeface="Arial"/>
                <a:cs typeface="Arial"/>
                <a:sym typeface="Arial"/>
              </a:rPr>
              <a:t xml:space="preserve"> value that depends on or responds to x; plotted along the vertical axis.</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Function Thinking</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Sentence test: ‘[</a:t>
            </a:r>
            <a:r>
              <a:rPr b="1" i="0" lang="en-US" sz="1450" u="none" cap="none" strike="noStrike">
                <a:solidFill>
                  <a:srgbClr val="475569"/>
                </a:solidFill>
                <a:latin typeface="Arial"/>
                <a:ea typeface="Arial"/>
                <a:cs typeface="Arial"/>
                <a:sym typeface="Arial"/>
              </a:rPr>
              <a:t xml:space="preserve">Dependent variable</a:t>
            </a:r>
            <a:r>
              <a:rPr b="0" i="0" lang="en-US" sz="1450" u="none" cap="none" strike="noStrike">
                <a:solidFill>
                  <a:srgbClr val="475569"/>
                </a:solidFill>
                <a:latin typeface="Arial"/>
                <a:ea typeface="Arial"/>
                <a:cs typeface="Arial"/>
                <a:sym typeface="Arial"/>
              </a:rPr>
              <a:t xml:space="preserve">] depends on [</a:t>
            </a:r>
            <a:r>
              <a:rPr b="1" i="0" lang="en-US" sz="1450" u="none" cap="none" strike="noStrike">
                <a:solidFill>
                  <a:srgbClr val="475569"/>
                </a:solidFill>
                <a:latin typeface="Arial"/>
                <a:ea typeface="Arial"/>
                <a:cs typeface="Arial"/>
                <a:sym typeface="Arial"/>
              </a:rPr>
              <a:t xml:space="preserve">Independent variable</a:t>
            </a:r>
            <a:r>
              <a:rPr b="0" i="0" lang="en-US" sz="1450" u="none" cap="none" strike="noStrike">
                <a:solidFill>
                  <a:srgbClr val="475569"/>
                </a:solidFill>
                <a:latin typeface="Arial"/>
                <a:ea typeface="Arial"/>
                <a:cs typeface="Arial"/>
                <a:sym typeface="Arial"/>
              </a:rPr>
              <a:t xml:space="preserve">]’.</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50</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71"/>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 xml:space="preserve">Explore Relationships Between </a:t>
            </a:r>
            <a:br>
              <a:rPr b="1" i="0" lang="en-US" sz="3600" u="none" cap="none" strike="noStrike">
                <a:solidFill>
                  <a:schemeClr val="dk1"/>
                </a:solidFill>
                <a:latin typeface="Arial"/>
                <a:ea typeface="Arial"/>
                <a:cs typeface="Arial"/>
                <a:sym typeface="Arial"/>
              </a:rPr>
            </a:br>
            <a:r>
              <a:rPr b="1" i="0" lang="en-US" sz="3600" u="none" cap="none" strike="noStrike">
                <a:solidFill>
                  <a:schemeClr val="dk1"/>
                </a:solidFill>
                <a:latin typeface="Arial"/>
                <a:ea typeface="Arial"/>
                <a:cs typeface="Arial"/>
                <a:sym typeface="Arial"/>
              </a:rPr>
              <a:t>Two Variables</a:t>
            </a:r>
            <a:endParaRPr b="1" i="0" sz="3600" u="none" cap="none" strike="noStrike">
              <a:solidFill>
                <a:schemeClr val="dk1"/>
              </a:solidFill>
              <a:latin typeface="Arial"/>
              <a:ea typeface="Arial"/>
              <a:cs typeface="Arial"/>
              <a:sym typeface="Arial"/>
            </a:endParaRPr>
          </a:p>
        </p:txBody>
      </p:sp>
      <p:sp>
        <p:nvSpPr>
          <p:cNvPr id="721" name="Google Shape;721;p71"/>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22" name="Google Shape;722;p71"/>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2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50</a:t>
            </a:r>
          </a:p>
        </p:txBody>
      </p:sp>
      <p:grpSp>
        <p:nvGrpSpPr>
          <p:cNvPr id="724" name="TEACH-2-student-move" descr="TEACH 2 · Use strategies and tasks to engage students in rigorous work"/>
          <p:cNvGrpSpPr/>
          <p:nvPr/>
        </p:nvGrpSpPr>
        <p:grpSpPr>
          <a:xfrm>
            <a:off x="502920" y="3867612"/>
            <a:ext cx="11186160" cy="731520"/>
            <a:chOff x="502920" y="3867612"/>
            <a:chExt cx="11186160" cy="731520"/>
          </a:xfrm>
        </p:grpSpPr>
        <p:sp>
          <p:nvSpPr>
            <p:cNvPr id="725"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26"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727"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STRUGGLE FIRST  ·  </a:t>
              </a:r>
              <a:r>
                <a:rPr lang="en-US" sz="1800" dirty="0">
                  <a:solidFill>
                    <a:srgbClr val="13303A"/>
                  </a:solidFill>
                  <a:latin typeface="Arial"/>
                </a:rPr>
                <a:t>Work on your own first. Stuck is allowed — try a second strategy before you ask.</a:t>
              </a:r>
              <a:endParaRPr lang="en-US" sz="18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cxnSp>
        <p:nvCxnSpPr>
          <p:cNvPr id="752" name="Google Shape;752;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3" name="Google Shape;753;p74"/>
          <p:cNvSpPr txBox="1"/>
          <p:nvPr/>
        </p:nvSpPr>
        <p:spPr>
          <a:xfrm>
            <a:off x="484565" y="316034"/>
            <a:ext cx="5029132" cy="64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Tracking Calories</a:t>
            </a:r>
            <a:endParaRPr b="1" i="0" sz="2800" u="none" cap="none" strike="noStrike">
              <a:solidFill>
                <a:srgbClr val="7030A0"/>
              </a:solidFill>
              <a:latin typeface="Arial"/>
              <a:ea typeface="Arial"/>
              <a:cs typeface="Arial"/>
              <a:sym typeface="Arial"/>
            </a:endParaRPr>
          </a:p>
        </p:txBody>
      </p:sp>
      <p:sp>
        <p:nvSpPr>
          <p:cNvPr id="754" name="Google Shape;754;p74"/>
          <p:cNvSpPr txBox="1"/>
          <p:nvPr/>
        </p:nvSpPr>
        <p:spPr>
          <a:xfrm>
            <a:off x="486000" y="936000"/>
            <a:ext cx="5959046" cy="23937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Claire has a new fitness tracker to track the number of Calories she burns each time she jogs. The data for a 30-minute jog and a 60-minute jog are shown.</a:t>
            </a:r>
            <a:endParaRPr b="0" i="0" sz="1400" u="none" cap="none" strike="noStrike">
              <a:solidFill>
                <a:srgbClr val="000000"/>
              </a:solidFill>
              <a:latin typeface="Arial"/>
              <a:ea typeface="Arial"/>
              <a:cs typeface="Arial"/>
              <a:sym typeface="Arial"/>
            </a:endParaRPr>
          </a:p>
        </p:txBody>
      </p:sp>
      <p:sp>
        <p:nvSpPr>
          <p:cNvPr id="755" name="Google Shape;755;p74"/>
          <p:cNvSpPr txBox="1"/>
          <p:nvPr/>
        </p:nvSpPr>
        <p:spPr>
          <a:xfrm>
            <a:off x="484565" y="3429000"/>
            <a:ext cx="5842493"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does the number of Calories burned relate to the amount of time Claire spends jogging?</a:t>
            </a:r>
            <a:endParaRPr b="0" i="0" sz="2800" u="none" cap="none" strike="noStrike">
              <a:solidFill>
                <a:schemeClr val="dk1"/>
              </a:solidFill>
              <a:latin typeface="Arial"/>
              <a:ea typeface="Arial"/>
              <a:cs typeface="Arial"/>
              <a:sym typeface="Arial"/>
            </a:endParaRPr>
          </a:p>
        </p:txBody>
      </p:sp>
      <p:pic>
        <p:nvPicPr>
          <p:cNvPr id="756" name="Google Shape;756;p74"/>
          <p:cNvPicPr preferRelativeResize="0"/>
          <p:nvPr/>
        </p:nvPicPr>
        <p:blipFill rotWithShape="1">
          <a:blip r:embed="rId3">
            <a:alphaModFix/>
          </a:blip>
          <a:srcRect b="0" l="0" r="0" t="0"/>
          <a:stretch/>
        </p:blipFill>
        <p:spPr>
          <a:xfrm>
            <a:off x="459052" y="4883663"/>
            <a:ext cx="5054600" cy="838200"/>
          </a:xfrm>
          <a:prstGeom prst="rect">
            <a:avLst/>
          </a:prstGeom>
          <a:noFill/>
          <a:ln>
            <a:noFill/>
          </a:ln>
        </p:spPr>
      </p:pic>
      <p:sp>
        <p:nvSpPr>
          <p:cNvPr id="757" name="Google Shape;757;p74"/>
          <p:cNvSpPr txBox="1"/>
          <p:nvPr/>
        </p:nvSpPr>
        <p:spPr>
          <a:xfrm>
            <a:off x="3199901" y="5024705"/>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Reasoning</a:t>
            </a:r>
            <a:endParaRPr b="0" i="0" sz="1400" u="none" cap="none" strike="noStrike">
              <a:solidFill>
                <a:srgbClr val="000000"/>
              </a:solidFill>
              <a:latin typeface="Arial"/>
              <a:ea typeface="Arial"/>
              <a:cs typeface="Arial"/>
              <a:sym typeface="Arial"/>
            </a:endParaRPr>
          </a:p>
        </p:txBody>
      </p:sp>
      <p:pic>
        <p:nvPicPr>
          <p:cNvPr descr="Graphical user interface, application&#10;&#10;Description automatically generated" id="758" name="Google Shape;758;p74"/>
          <p:cNvPicPr preferRelativeResize="0"/>
          <p:nvPr/>
        </p:nvPicPr>
        <p:blipFill rotWithShape="1">
          <a:blip r:embed="rId4">
            <a:alphaModFix/>
          </a:blip>
          <a:srcRect b="0" l="0" r="0" t="0"/>
          <a:stretch/>
        </p:blipFill>
        <p:spPr>
          <a:xfrm>
            <a:off x="6711836" y="1353922"/>
            <a:ext cx="5226532" cy="3542234"/>
          </a:xfrm>
          <a:prstGeom prst="rect">
            <a:avLst/>
          </a:prstGeom>
          <a:noFill/>
          <a:ln>
            <a:noFill/>
          </a:ln>
        </p:spPr>
      </p:pic>
      <p:sp>
        <p:nvSpPr>
          <p:cNvPr id="7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50</a:t>
            </a:r>
          </a:p>
        </p:txBody>
      </p:sp>
      <p:sp xmlns:p="http://schemas.openxmlformats.org/presentationml/2006/main" xmlns:a="http://schemas.openxmlformats.org/drawingml/2006/main">
        <p:nvSpPr>
          <p:cNvPr id="760"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cxnSp>
        <p:nvCxnSpPr>
          <p:cNvPr id="785" name="Google Shape;785;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6" name="Google Shape;786;p77"/>
          <p:cNvSpPr txBox="1"/>
          <p:nvPr/>
        </p:nvSpPr>
        <p:spPr>
          <a:xfrm>
            <a:off x="484565" y="316034"/>
            <a:ext cx="5029132" cy="662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Tracking Calories</a:t>
            </a:r>
            <a:endParaRPr b="1" i="0" sz="2800" u="none" cap="none" strike="noStrike">
              <a:solidFill>
                <a:srgbClr val="7030A0"/>
              </a:solidFill>
              <a:latin typeface="Arial"/>
              <a:ea typeface="Arial"/>
              <a:cs typeface="Arial"/>
              <a:sym typeface="Arial"/>
            </a:endParaRPr>
          </a:p>
        </p:txBody>
      </p:sp>
      <p:sp>
        <p:nvSpPr>
          <p:cNvPr id="787" name="Google Shape;787;p77"/>
          <p:cNvSpPr txBox="1"/>
          <p:nvPr/>
        </p:nvSpPr>
        <p:spPr>
          <a:xfrm>
            <a:off x="484565" y="4455822"/>
            <a:ext cx="59457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information do you know?</a:t>
            </a:r>
            <a:endParaRPr b="0" i="0" sz="2800" u="none" cap="none" strike="noStrike">
              <a:solidFill>
                <a:schemeClr val="dk1"/>
              </a:solidFill>
              <a:latin typeface="Arial"/>
              <a:ea typeface="Arial"/>
              <a:cs typeface="Arial"/>
              <a:sym typeface="Arial"/>
            </a:endParaRPr>
          </a:p>
        </p:txBody>
      </p:sp>
      <p:sp>
        <p:nvSpPr>
          <p:cNvPr id="788" name="Google Shape;788;p77"/>
          <p:cNvSpPr txBox="1"/>
          <p:nvPr/>
        </p:nvSpPr>
        <p:spPr>
          <a:xfrm>
            <a:off x="484565" y="4937760"/>
            <a:ext cx="10926703" cy="14217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Claire burned 123 Calories during a 30-minute jog and 246 Calories during a 60-minute jog.</a:t>
            </a:r>
            <a:endParaRPr b="0" i="0" sz="1400" u="none" cap="none" strike="noStrike">
              <a:solidFill>
                <a:srgbClr val="000000"/>
              </a:solidFill>
              <a:latin typeface="Arial"/>
              <a:ea typeface="Arial"/>
              <a:cs typeface="Arial"/>
              <a:sym typeface="Arial"/>
            </a:endParaRPr>
          </a:p>
        </p:txBody>
      </p:sp>
      <p:sp>
        <p:nvSpPr>
          <p:cNvPr id="789" name="Google Shape;789;p77"/>
          <p:cNvSpPr txBox="1"/>
          <p:nvPr/>
        </p:nvSpPr>
        <p:spPr>
          <a:xfrm>
            <a:off x="486000" y="936000"/>
            <a:ext cx="6056202" cy="354223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Claire has a new fitness tracker to track the number of Calories she burns each time she jogs. The data for a 30-minute jog and a 60-minute jog are shown. How does the number of Calories burned relate to the amount of time Claire spends jogging?</a:t>
            </a:r>
            <a:endParaRPr b="0" i="0" sz="1400" u="none" cap="none" strike="noStrike">
              <a:solidFill>
                <a:srgbClr val="000000"/>
              </a:solidFill>
              <a:latin typeface="Arial"/>
              <a:ea typeface="Arial"/>
              <a:cs typeface="Arial"/>
              <a:sym typeface="Arial"/>
            </a:endParaRPr>
          </a:p>
        </p:txBody>
      </p:sp>
      <p:pic>
        <p:nvPicPr>
          <p:cNvPr descr="Graphical user interface, application&#10;&#10;Description automatically generated" id="790" name="Google Shape;790;p77"/>
          <p:cNvPicPr preferRelativeResize="0"/>
          <p:nvPr/>
        </p:nvPicPr>
        <p:blipFill rotWithShape="1">
          <a:blip r:embed="rId3">
            <a:alphaModFix/>
          </a:blip>
          <a:srcRect b="0" l="0" r="0" t="0"/>
          <a:stretch/>
        </p:blipFill>
        <p:spPr>
          <a:xfrm>
            <a:off x="6711836" y="1353922"/>
            <a:ext cx="5226532" cy="3542234"/>
          </a:xfrm>
          <a:prstGeom prst="rect">
            <a:avLst/>
          </a:prstGeom>
          <a:noFill/>
          <a:ln>
            <a:noFill/>
          </a:ln>
        </p:spPr>
      </p:pic>
      <p:sp>
        <p:nvSpPr>
          <p:cNvPr id="79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50</a:t>
            </a:r>
          </a:p>
        </p:txBody>
      </p:sp>
      <p:sp>
        <p:nvSpPr>
          <p:cNvPr id="792" name="EWL-COVER-1"/>
          <p:cNvSpPr/>
          <p:nvPr/>
        </p:nvSpPr>
        <p:spPr>
          <a:xfrm>
            <a:off x="429701" y="4882896"/>
            <a:ext cx="11036431" cy="153148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cxnSp>
        <p:nvCxnSpPr>
          <p:cNvPr id="856" name="Google Shape;856;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7" name="Google Shape;857;p84"/>
          <p:cNvSpPr txBox="1"/>
          <p:nvPr/>
        </p:nvSpPr>
        <p:spPr>
          <a:xfrm>
            <a:off x="486000" y="936000"/>
            <a:ext cx="6193789" cy="13820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Which quantity is the independent variable? the dependent variable? How do you know?</a:t>
            </a:r>
            <a:endParaRPr b="0" i="0" sz="2800" u="none" cap="none" strike="noStrike">
              <a:solidFill>
                <a:schemeClr val="dk1"/>
              </a:solidFill>
              <a:latin typeface="Arial"/>
              <a:ea typeface="Arial"/>
              <a:cs typeface="Arial"/>
              <a:sym typeface="Arial"/>
            </a:endParaRPr>
          </a:p>
        </p:txBody>
      </p:sp>
      <p:sp>
        <p:nvSpPr>
          <p:cNvPr id="858" name="Google Shape;858;p84"/>
          <p:cNvSpPr txBox="1"/>
          <p:nvPr/>
        </p:nvSpPr>
        <p:spPr>
          <a:xfrm>
            <a:off x="486000" y="2984012"/>
            <a:ext cx="6112763" cy="318149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time spent jogging is the independent variable because it is subject to choice. The number of Calories burned is the dependent variable because it changes in response to the time spent jogging.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1" i="0" sz="2800" u="none" cap="none" strike="noStrike">
              <a:solidFill>
                <a:srgbClr val="0070C0"/>
              </a:solidFill>
              <a:latin typeface="Arial"/>
              <a:ea typeface="Arial"/>
              <a:cs typeface="Arial"/>
              <a:sym typeface="Arial"/>
            </a:endParaRPr>
          </a:p>
        </p:txBody>
      </p:sp>
      <p:sp>
        <p:nvSpPr>
          <p:cNvPr id="859" name="Google Shape;859;p84"/>
          <p:cNvSpPr txBox="1"/>
          <p:nvPr/>
        </p:nvSpPr>
        <p:spPr>
          <a:xfrm>
            <a:off x="486000" y="316800"/>
            <a:ext cx="3904129" cy="51111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Tracking Calories</a:t>
            </a:r>
            <a:endParaRPr b="1" i="0" sz="2800" u="none" cap="none" strike="noStrike">
              <a:solidFill>
                <a:srgbClr val="7030A0"/>
              </a:solidFill>
              <a:latin typeface="Arial"/>
              <a:ea typeface="Arial"/>
              <a:cs typeface="Arial"/>
              <a:sym typeface="Arial"/>
            </a:endParaRPr>
          </a:p>
        </p:txBody>
      </p:sp>
      <p:pic>
        <p:nvPicPr>
          <p:cNvPr descr="Graphical user interface, application&#10;&#10;Description automatically generated" id="860" name="Google Shape;860;p84"/>
          <p:cNvPicPr preferRelativeResize="0"/>
          <p:nvPr/>
        </p:nvPicPr>
        <p:blipFill rotWithShape="1">
          <a:blip r:embed="rId3">
            <a:alphaModFix/>
          </a:blip>
          <a:srcRect b="0" l="0" r="0" t="0"/>
          <a:stretch/>
        </p:blipFill>
        <p:spPr>
          <a:xfrm>
            <a:off x="6711836" y="1353922"/>
            <a:ext cx="5226532" cy="3542234"/>
          </a:xfrm>
          <a:prstGeom prst="rect">
            <a:avLst/>
          </a:prstGeom>
          <a:noFill/>
          <a:ln>
            <a:noFill/>
          </a:ln>
        </p:spPr>
      </p:pic>
      <p:sp>
        <p:nvSpPr>
          <p:cNvPr id="86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50</a:t>
            </a:r>
          </a:p>
        </p:txBody>
      </p:sp>
      <p:sp>
        <p:nvSpPr>
          <p:cNvPr id="862" name="EWL-COVER-1"/>
          <p:cNvSpPr/>
          <p:nvPr/>
        </p:nvSpPr>
        <p:spPr>
          <a:xfrm>
            <a:off x="431136" y="2929148"/>
            <a:ext cx="6222491" cy="3435076"/>
          </a:xfrm>
          <a:prstGeom prst="rect">
            <a:avLst/>
          </a:prstGeom>
          <a:solidFill>
            <a:srgbClr val="FFFFFF"/>
          </a:solidFill>
          <a:ln>
            <a:noFill/>
          </a:ln>
        </p:spPr>
        <p:txBody>
          <a:bodyPr/>
          <a:lstStyle/>
          <a:p/>
        </p:txBody>
      </p:sp>
      <p:sp xmlns:p="http://schemas.openxmlformats.org/presentationml/2006/main" xmlns:a="http://schemas.openxmlformats.org/drawingml/2006/main">
        <p:nvSpPr>
          <p:cNvPr id="863"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cxnSp>
        <p:nvCxnSpPr>
          <p:cNvPr id="865" name="Google Shape;865;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6" name="Google Shape;866;p85"/>
          <p:cNvSpPr txBox="1"/>
          <p:nvPr/>
        </p:nvSpPr>
        <p:spPr>
          <a:xfrm>
            <a:off x="486000" y="936000"/>
            <a:ext cx="6037348" cy="176949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use a table of values to represent the relationship between the amount of time spent jogging and Calories burned.</a:t>
            </a:r>
            <a:endParaRPr b="0" i="0" sz="1400" u="none" cap="none" strike="noStrike">
              <a:solidFill>
                <a:srgbClr val="000000"/>
              </a:solidFill>
              <a:latin typeface="Arial"/>
              <a:ea typeface="Arial"/>
              <a:cs typeface="Arial"/>
              <a:sym typeface="Arial"/>
            </a:endParaRPr>
          </a:p>
        </p:txBody>
      </p:sp>
      <p:sp>
        <p:nvSpPr>
          <p:cNvPr id="867" name="Google Shape;867;p85"/>
          <p:cNvSpPr txBox="1"/>
          <p:nvPr/>
        </p:nvSpPr>
        <p:spPr>
          <a:xfrm>
            <a:off x="486000" y="316800"/>
            <a:ext cx="3904129" cy="51111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Tracking Calories</a:t>
            </a:r>
            <a:endParaRPr b="1" i="0" sz="2800" u="none" cap="none" strike="noStrike">
              <a:solidFill>
                <a:srgbClr val="7030A0"/>
              </a:solidFill>
              <a:latin typeface="Arial"/>
              <a:ea typeface="Arial"/>
              <a:cs typeface="Arial"/>
              <a:sym typeface="Arial"/>
            </a:endParaRPr>
          </a:p>
        </p:txBody>
      </p:sp>
      <p:graphicFrame>
        <p:nvGraphicFramePr>
          <p:cNvPr id="868" name="Google Shape;868;p85"/>
          <p:cNvGraphicFramePr/>
          <p:nvPr/>
        </p:nvGraphicFramePr>
        <p:xfrm>
          <a:off x="486000" y="3009849"/>
          <a:ext cx="3000000" cy="3000000"/>
        </p:xfrm>
        <a:graphic>
          <a:graphicData uri="http://schemas.openxmlformats.org/drawingml/2006/table">
            <a:tbl>
              <a:tblPr bandRow="1" firstRow="1">
                <a:noFill/>
                <a:tableStyleId>{03984606-63AE-4798-AA1E-52DDC3946693}</a:tableStyleId>
              </a:tblPr>
              <a:tblGrid>
                <a:gridCol w="3425650"/>
                <a:gridCol w="2442025"/>
              </a:tblGrid>
              <a:tr h="518150">
                <a:tc gridSpan="2">
                  <a:txBody>
                    <a:bodyPr/>
                    <a:lstStyle/>
                    <a:p>
                      <a:pPr indent="0" lvl="0" marL="0" marR="0" rtl="0" algn="l">
                        <a:lnSpc>
                          <a:spcPct val="100000"/>
                        </a:lnSpc>
                        <a:spcBef>
                          <a:spcPts val="0"/>
                        </a:spcBef>
                        <a:spcAft>
                          <a:spcPts val="0"/>
                        </a:spcAft>
                        <a:buClr>
                          <a:schemeClr val="dk1"/>
                        </a:buClr>
                        <a:buSzPts val="2800"/>
                        <a:buFont typeface="Arial"/>
                        <a:buNone/>
                      </a:pPr>
                      <a:r>
                        <a:rPr b="1" lang="en-US" sz="2800" u="none" cap="none" strike="noStrike">
                          <a:solidFill>
                            <a:schemeClr val="dk1"/>
                          </a:solidFill>
                          <a:latin typeface="Arial"/>
                          <a:ea typeface="Arial"/>
                          <a:cs typeface="Arial"/>
                          <a:sym typeface="Arial"/>
                        </a:rPr>
                        <a:t>Tracking Calories</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944875">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Time Spent Jagging (min)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 xml:space="preserve">Calories </a:t>
                      </a:r>
                      <a:endParaRPr sz="1400" u="none" cap="none" strike="noStrike"/>
                    </a:p>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Burned</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descr="Graphical user interface, application&#10;&#10;Description automatically generated" id="869" name="Google Shape;869;p85"/>
          <p:cNvPicPr preferRelativeResize="0"/>
          <p:nvPr/>
        </p:nvPicPr>
        <p:blipFill rotWithShape="1">
          <a:blip r:embed="rId3">
            <a:alphaModFix/>
          </a:blip>
          <a:srcRect b="0" l="0" r="0" t="0"/>
          <a:stretch/>
        </p:blipFill>
        <p:spPr>
          <a:xfrm>
            <a:off x="6711836" y="1353922"/>
            <a:ext cx="5226532" cy="3542234"/>
          </a:xfrm>
          <a:prstGeom prst="rect">
            <a:avLst/>
          </a:prstGeom>
          <a:noFill/>
          <a:ln>
            <a:noFill/>
          </a:ln>
        </p:spPr>
      </p:pic>
      <p:sp>
        <p:nvSpPr>
          <p:cNvPr id="8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50</a:t>
            </a:r>
          </a:p>
        </p:txBody>
      </p:sp>
      <p:sp xmlns:p="http://schemas.openxmlformats.org/presentationml/2006/main" xmlns:a="http://schemas.openxmlformats.org/drawingml/2006/main">
        <p:nvSpPr>
          <p:cNvPr id="871"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what a row or column represents. Use it as evidence</a:t>
            </a:r>
            <a:endParaRPr lang="en-US" sz="2000"/>
          </a:p>
          <a:p>
            <a:pPr>
              <a:lnSpc>
                <a:spcPts val="2400"/>
              </a:lnSpc>
              <a:buNone/>
            </a:pPr>
            <a:r>
              <a:rPr lang="en-US" sz="2000">
                <a:solidFill>
                  <a:srgbClr val="174D60"/>
                </a:solidFill>
                <a:latin typeface="Arial"/>
              </a:rPr>
              <a:t>for your answer.</a:t>
            </a:r>
            <a:endParaRPr lang="en-US"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cxnSp>
        <p:nvCxnSpPr>
          <p:cNvPr id="901" name="Google Shape;901;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2" name="Google Shape;902;p89"/>
          <p:cNvSpPr txBox="1"/>
          <p:nvPr/>
        </p:nvSpPr>
        <p:spPr>
          <a:xfrm>
            <a:off x="485999" y="3615664"/>
            <a:ext cx="6148227" cy="25609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table shows how the dependent variable, Calories burned, changes in response to the independent variable, time spent jogging.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1" i="0" sz="2800" u="none" cap="none" strike="noStrike">
              <a:solidFill>
                <a:srgbClr val="0070C0"/>
              </a:solidFill>
              <a:latin typeface="Arial"/>
              <a:ea typeface="Arial"/>
              <a:cs typeface="Arial"/>
              <a:sym typeface="Arial"/>
            </a:endParaRPr>
          </a:p>
        </p:txBody>
      </p:sp>
      <p:sp>
        <p:nvSpPr>
          <p:cNvPr id="903" name="Google Shape;903;p89"/>
          <p:cNvSpPr txBox="1"/>
          <p:nvPr/>
        </p:nvSpPr>
        <p:spPr>
          <a:xfrm>
            <a:off x="486000" y="936000"/>
            <a:ext cx="6148227" cy="13850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How does the table illustrate the relationship between the quantities?</a:t>
            </a:r>
            <a:endParaRPr b="0" i="0" sz="2800" u="none" cap="none" strike="noStrike">
              <a:solidFill>
                <a:schemeClr val="dk1"/>
              </a:solidFill>
              <a:latin typeface="Arial"/>
              <a:ea typeface="Arial"/>
              <a:cs typeface="Arial"/>
              <a:sym typeface="Arial"/>
            </a:endParaRPr>
          </a:p>
        </p:txBody>
      </p:sp>
      <p:sp>
        <p:nvSpPr>
          <p:cNvPr id="904" name="Google Shape;904;p89"/>
          <p:cNvSpPr txBox="1"/>
          <p:nvPr/>
        </p:nvSpPr>
        <p:spPr>
          <a:xfrm>
            <a:off x="486000" y="316800"/>
            <a:ext cx="3904129" cy="51111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Tracking Calories</a:t>
            </a:r>
            <a:endParaRPr b="1" i="0" sz="2800" u="none" cap="none" strike="noStrike">
              <a:solidFill>
                <a:srgbClr val="7030A0"/>
              </a:solidFill>
              <a:latin typeface="Arial"/>
              <a:ea typeface="Arial"/>
              <a:cs typeface="Arial"/>
              <a:sym typeface="Arial"/>
            </a:endParaRPr>
          </a:p>
        </p:txBody>
      </p:sp>
      <p:pic>
        <p:nvPicPr>
          <p:cNvPr descr="Graphical user interface, application&#10;&#10;Description automatically generated" id="905" name="Google Shape;905;p89"/>
          <p:cNvPicPr preferRelativeResize="0"/>
          <p:nvPr/>
        </p:nvPicPr>
        <p:blipFill rotWithShape="1">
          <a:blip r:embed="rId3">
            <a:alphaModFix/>
          </a:blip>
          <a:srcRect b="0" l="0" r="0" t="0"/>
          <a:stretch/>
        </p:blipFill>
        <p:spPr>
          <a:xfrm>
            <a:off x="6711836" y="1353922"/>
            <a:ext cx="5226532" cy="3542234"/>
          </a:xfrm>
          <a:prstGeom prst="rect">
            <a:avLst/>
          </a:prstGeom>
          <a:noFill/>
          <a:ln>
            <a:noFill/>
          </a:ln>
        </p:spPr>
      </p:pic>
      <p:sp>
        <p:nvSpPr>
          <p:cNvPr id="90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50</a:t>
            </a:r>
          </a:p>
        </p:txBody>
      </p:sp>
      <p:sp>
        <p:nvSpPr>
          <p:cNvPr id="907" name="EWL-COVER-1"/>
          <p:cNvSpPr/>
          <p:nvPr/>
        </p:nvSpPr>
        <p:spPr>
          <a:xfrm>
            <a:off x="431135" y="3560800"/>
            <a:ext cx="6257955" cy="2670712"/>
          </a:xfrm>
          <a:prstGeom prst="rect">
            <a:avLst/>
          </a:prstGeom>
          <a:solidFill>
            <a:srgbClr val="FFFFFF"/>
          </a:solidFill>
          <a:ln>
            <a:noFill/>
          </a:ln>
        </p:spPr>
        <p:txBody>
          <a:bodyPr/>
          <a:lstStyle/>
          <a:p/>
        </p:txBody>
      </p:sp>
      <p:sp xmlns:p="http://schemas.openxmlformats.org/presentationml/2006/main" xmlns:a="http://schemas.openxmlformats.org/drawingml/2006/main">
        <p:nvSpPr>
          <p:cNvPr id="908" name="TEACH-embedded-student-prompt" descr="Student thinking and response directions"/>
          <p:cNvSpPr txBox="1"/>
          <p:nvPr/>
        </p:nvSpPr>
        <p:spPr>
          <a:xfrm>
            <a:off x="594360" y="2670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cxnSp>
        <p:nvCxnSpPr>
          <p:cNvPr id="945" name="Google Shape;945;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6" name="Google Shape;946;p93"/>
          <p:cNvSpPr txBox="1"/>
          <p:nvPr/>
        </p:nvSpPr>
        <p:spPr>
          <a:xfrm>
            <a:off x="486000"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47" name="Google Shape;947;p93"/>
          <p:cNvSpPr txBox="1"/>
          <p:nvPr/>
        </p:nvSpPr>
        <p:spPr>
          <a:xfrm>
            <a:off x="486000" y="936000"/>
            <a:ext cx="7837868" cy="13430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a</a:t>
            </a:r>
            <a:r>
              <a:rPr b="0" i="0" lang="en-US" sz="2800" u="none" cap="none" strike="noStrike">
                <a:solidFill>
                  <a:schemeClr val="dk1"/>
                </a:solidFill>
                <a:latin typeface="Arial"/>
                <a:ea typeface="Arial"/>
                <a:cs typeface="Arial"/>
                <a:sym typeface="Arial"/>
              </a:rPr>
              <a:t>. How do you think the number of Calories burned would change if Claire switched from jogging to walking?</a:t>
            </a:r>
            <a:endParaRPr b="0" i="0" sz="1400" u="none" cap="none" strike="noStrike">
              <a:solidFill>
                <a:srgbClr val="000000"/>
              </a:solidFill>
              <a:latin typeface="Arial"/>
              <a:ea typeface="Arial"/>
              <a:cs typeface="Arial"/>
              <a:sym typeface="Arial"/>
            </a:endParaRPr>
          </a:p>
        </p:txBody>
      </p:sp>
      <p:sp>
        <p:nvSpPr>
          <p:cNvPr id="948" name="Google Shape;948;p93"/>
          <p:cNvSpPr/>
          <p:nvPr/>
        </p:nvSpPr>
        <p:spPr>
          <a:xfrm>
            <a:off x="484564" y="2372140"/>
            <a:ext cx="7731536" cy="1361707"/>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49" name="Google Shape;949;p93"/>
          <p:cNvSpPr txBox="1"/>
          <p:nvPr/>
        </p:nvSpPr>
        <p:spPr>
          <a:xfrm>
            <a:off x="7009230" y="5999919"/>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50" name="Google Shape;950;p93"/>
          <p:cNvSpPr/>
          <p:nvPr/>
        </p:nvSpPr>
        <p:spPr>
          <a:xfrm>
            <a:off x="484564" y="5204414"/>
            <a:ext cx="7731536" cy="1138851"/>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51" name="Google Shape;951;p93"/>
          <p:cNvSpPr txBox="1"/>
          <p:nvPr/>
        </p:nvSpPr>
        <p:spPr>
          <a:xfrm>
            <a:off x="7009231" y="3349451"/>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52" name="Google Shape;952;p93"/>
          <p:cNvSpPr txBox="1"/>
          <p:nvPr/>
        </p:nvSpPr>
        <p:spPr>
          <a:xfrm>
            <a:off x="486000" y="3749599"/>
            <a:ext cx="7745037" cy="14548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 xml:space="preserve">b. </a:t>
            </a:r>
            <a:r>
              <a:rPr b="0" i="0" lang="en-US" sz="2800" u="none" cap="none" strike="noStrike">
                <a:solidFill>
                  <a:schemeClr val="dk1"/>
                </a:solidFill>
                <a:latin typeface="Arial"/>
                <a:ea typeface="Arial"/>
                <a:cs typeface="Arial"/>
                <a:sym typeface="Arial"/>
              </a:rPr>
              <a:t>If Claire jogs for 3 miles and records the time it takes, what is the independent variable and what is the dependent variable? Explain.</a:t>
            </a:r>
            <a:endParaRPr b="0" i="0" sz="1400" u="none" cap="none" strike="noStrike">
              <a:solidFill>
                <a:srgbClr val="000000"/>
              </a:solidFill>
              <a:latin typeface="Arial"/>
              <a:ea typeface="Arial"/>
              <a:cs typeface="Arial"/>
              <a:sym typeface="Arial"/>
            </a:endParaRPr>
          </a:p>
        </p:txBody>
      </p:sp>
      <p:sp>
        <p:nvSpPr>
          <p:cNvPr id="95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9.1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assigning independence from the variable letter rather than the situation.</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Label each given quantity and explain the dependency in a sentence.</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85" name="Google Shape;785;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6" name="Google Shape;786;p77"/>
          <p:cNvSpPr txBox="1"/>
          <p:nvPr/>
        </p:nvSpPr>
        <p:spPr>
          <a:xfrm>
            <a:off x="484565" y="316034"/>
            <a:ext cx="5029132" cy="662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Tracking Calories</a:t>
            </a:r>
            <a:endParaRPr b="1" i="0" sz="2800" u="none" cap="none" strike="noStrike">
              <a:solidFill>
                <a:srgbClr val="7030A0"/>
              </a:solidFill>
              <a:latin typeface="Arial"/>
              <a:ea typeface="Arial"/>
              <a:cs typeface="Arial"/>
              <a:sym typeface="Arial"/>
            </a:endParaRPr>
          </a:p>
        </p:txBody>
      </p:sp>
      <p:sp>
        <p:nvSpPr>
          <p:cNvPr id="787" name="Google Shape;787;p77"/>
          <p:cNvSpPr txBox="1"/>
          <p:nvPr/>
        </p:nvSpPr>
        <p:spPr>
          <a:xfrm>
            <a:off x="484565" y="4455822"/>
            <a:ext cx="59457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information do you know?</a:t>
            </a:r>
            <a:endParaRPr b="0" i="0" sz="2800" u="none" cap="none" strike="noStrike">
              <a:solidFill>
                <a:schemeClr val="dk1"/>
              </a:solidFill>
              <a:latin typeface="Arial"/>
              <a:ea typeface="Arial"/>
              <a:cs typeface="Arial"/>
              <a:sym typeface="Arial"/>
            </a:endParaRPr>
          </a:p>
        </p:txBody>
      </p:sp>
      <p:sp>
        <p:nvSpPr>
          <p:cNvPr id="788" name="Google Shape;788;p77"/>
          <p:cNvSpPr txBox="1"/>
          <p:nvPr/>
        </p:nvSpPr>
        <p:spPr>
          <a:xfrm>
            <a:off x="484565" y="4979042"/>
            <a:ext cx="10926703" cy="14217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Claire burned 123 Calories during a 30-minute jog and 246 Calories during a 60-minute jog.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1" i="0" sz="2800" u="none" cap="none" strike="noStrike">
              <a:solidFill>
                <a:srgbClr val="0070C0"/>
              </a:solidFill>
              <a:latin typeface="Arial"/>
              <a:ea typeface="Arial"/>
              <a:cs typeface="Arial"/>
              <a:sym typeface="Arial"/>
            </a:endParaRPr>
          </a:p>
        </p:txBody>
      </p:sp>
      <p:sp>
        <p:nvSpPr>
          <p:cNvPr id="789" name="Google Shape;789;p77"/>
          <p:cNvSpPr txBox="1"/>
          <p:nvPr/>
        </p:nvSpPr>
        <p:spPr>
          <a:xfrm>
            <a:off x="486000" y="936000"/>
            <a:ext cx="6056202" cy="354223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Claire has a new fitness tracker to track the number of Calories she burns each time she jogs. The data for a 30-minute jog and a 60-minute jog are shown. How does the number of Calories burned relate to the amount of time Claire spends jogging?</a:t>
            </a:r>
            <a:endParaRPr b="0" i="0" sz="1400" u="none" cap="none" strike="noStrike">
              <a:solidFill>
                <a:srgbClr val="000000"/>
              </a:solidFill>
              <a:latin typeface="Arial"/>
              <a:ea typeface="Arial"/>
              <a:cs typeface="Arial"/>
              <a:sym typeface="Arial"/>
            </a:endParaRPr>
          </a:p>
        </p:txBody>
      </p:sp>
      <p:pic>
        <p:nvPicPr>
          <p:cNvPr descr="Graphical user interface, application&#10;&#10;Description automatically generated" id="790" name="Google Shape;790;p77"/>
          <p:cNvPicPr preferRelativeResize="0"/>
          <p:nvPr/>
        </p:nvPicPr>
        <p:blipFill rotWithShape="1">
          <a:blip r:embed="rId2">
            <a:alphaModFix/>
          </a:blip>
          <a:srcRect b="0" l="0" r="0" t="0"/>
          <a:stretch/>
        </p:blipFill>
        <p:spPr>
          <a:xfrm>
            <a:off x="6711836" y="1353922"/>
            <a:ext cx="5226532" cy="3542234"/>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05" name="Google Shape;805;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6" name="Google Shape;806;p79"/>
          <p:cNvSpPr txBox="1"/>
          <p:nvPr/>
        </p:nvSpPr>
        <p:spPr>
          <a:xfrm>
            <a:off x="484565" y="316034"/>
            <a:ext cx="5029132" cy="662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Tracking Calories</a:t>
            </a:r>
            <a:endParaRPr b="1" i="0" sz="2800" u="none" cap="none" strike="noStrike">
              <a:solidFill>
                <a:srgbClr val="7030A0"/>
              </a:solidFill>
              <a:latin typeface="Arial"/>
              <a:ea typeface="Arial"/>
              <a:cs typeface="Arial"/>
              <a:sym typeface="Arial"/>
            </a:endParaRPr>
          </a:p>
        </p:txBody>
      </p:sp>
      <p:sp>
        <p:nvSpPr>
          <p:cNvPr id="807" name="Google Shape;807;p79"/>
          <p:cNvSpPr txBox="1"/>
          <p:nvPr/>
        </p:nvSpPr>
        <p:spPr>
          <a:xfrm>
            <a:off x="485999" y="936000"/>
            <a:ext cx="5610001" cy="16302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Claire burned 123 Calories during a 30-minute jog and 246 Calories during a 60-minute jog.</a:t>
            </a:r>
            <a:endParaRPr b="0" i="0" sz="1400" u="none" cap="none" strike="noStrike">
              <a:solidFill>
                <a:srgbClr val="000000"/>
              </a:solidFill>
              <a:latin typeface="Arial"/>
              <a:ea typeface="Arial"/>
              <a:cs typeface="Arial"/>
              <a:sym typeface="Arial"/>
            </a:endParaRPr>
          </a:p>
        </p:txBody>
      </p:sp>
      <p:sp>
        <p:nvSpPr>
          <p:cNvPr id="808" name="Google Shape;808;p79"/>
          <p:cNvSpPr txBox="1"/>
          <p:nvPr/>
        </p:nvSpPr>
        <p:spPr>
          <a:xfrm>
            <a:off x="484565" y="2774427"/>
            <a:ext cx="561000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quantities are represented in the problem?</a:t>
            </a:r>
            <a:endParaRPr b="0" i="0" sz="2800" u="none" cap="none" strike="noStrike">
              <a:solidFill>
                <a:schemeClr val="dk1"/>
              </a:solidFill>
              <a:latin typeface="Arial"/>
              <a:ea typeface="Arial"/>
              <a:cs typeface="Arial"/>
              <a:sym typeface="Arial"/>
            </a:endParaRPr>
          </a:p>
        </p:txBody>
      </p:sp>
      <p:sp>
        <p:nvSpPr>
          <p:cNvPr id="809" name="Google Shape;809;p79"/>
          <p:cNvSpPr txBox="1"/>
          <p:nvPr/>
        </p:nvSpPr>
        <p:spPr>
          <a:xfrm>
            <a:off x="459052" y="4956534"/>
            <a:ext cx="11044690" cy="15087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quantities are the number of minutes Claire spent jogging and the number of Calories she burned.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1" i="0" sz="2800" u="none" cap="none" strike="noStrike">
              <a:solidFill>
                <a:srgbClr val="0070C0"/>
              </a:solidFill>
              <a:latin typeface="Arial"/>
              <a:ea typeface="Arial"/>
              <a:cs typeface="Arial"/>
              <a:sym typeface="Arial"/>
            </a:endParaRPr>
          </a:p>
        </p:txBody>
      </p:sp>
      <p:pic>
        <p:nvPicPr>
          <p:cNvPr descr="Graphical user interface, application&#10;&#10;Description automatically generated" id="810" name="Google Shape;810;p79"/>
          <p:cNvPicPr preferRelativeResize="0"/>
          <p:nvPr/>
        </p:nvPicPr>
        <p:blipFill rotWithShape="1">
          <a:blip r:embed="rId2">
            <a:alphaModFix/>
          </a:blip>
          <a:srcRect b="0" l="0" r="0" t="0"/>
          <a:stretch/>
        </p:blipFill>
        <p:spPr>
          <a:xfrm>
            <a:off x="6711836" y="1353922"/>
            <a:ext cx="5226532" cy="3542234"/>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50</a:t>
            </a:r>
          </a:p>
        </p:txBody>
      </p:sp>
      <p:sp xmlns:p="http://schemas.openxmlformats.org/presentationml/2006/main" xmlns:a="http://schemas.openxmlformats.org/drawingml/2006/main">
        <p:nvSpPr>
          <p:cNvPr id="811" name="TEACH-embedded-student-prompt" descr="Student thinking and response directions"/>
          <p:cNvSpPr txBox="1"/>
          <p:nvPr/>
        </p:nvSpPr>
        <p:spPr>
          <a:xfrm>
            <a:off x="594360" y="40416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56" name="Google Shape;856;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7" name="Google Shape;857;p84"/>
          <p:cNvSpPr txBox="1"/>
          <p:nvPr/>
        </p:nvSpPr>
        <p:spPr>
          <a:xfrm>
            <a:off x="486000" y="936000"/>
            <a:ext cx="6193789" cy="13820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Which quantity is the independent variable? the dependent variable? How do you know?</a:t>
            </a:r>
            <a:endParaRPr b="0" i="0" sz="2800" u="none" cap="none" strike="noStrike">
              <a:solidFill>
                <a:schemeClr val="dk1"/>
              </a:solidFill>
              <a:latin typeface="Arial"/>
              <a:ea typeface="Arial"/>
              <a:cs typeface="Arial"/>
              <a:sym typeface="Arial"/>
            </a:endParaRPr>
          </a:p>
        </p:txBody>
      </p:sp>
      <p:sp>
        <p:nvSpPr>
          <p:cNvPr id="858" name="Google Shape;858;p84"/>
          <p:cNvSpPr txBox="1"/>
          <p:nvPr/>
        </p:nvSpPr>
        <p:spPr>
          <a:xfrm>
            <a:off x="486000" y="3125039"/>
            <a:ext cx="6112763" cy="318149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time spent jogging is the independent variable because it is subject to choice. The number of Calories burned is the dependent variable because it changes in response to the time spent jogging.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1" i="0" sz="2800" u="none" cap="none" strike="noStrike">
              <a:solidFill>
                <a:srgbClr val="0070C0"/>
              </a:solidFill>
              <a:latin typeface="Arial"/>
              <a:ea typeface="Arial"/>
              <a:cs typeface="Arial"/>
              <a:sym typeface="Arial"/>
            </a:endParaRPr>
          </a:p>
        </p:txBody>
      </p:sp>
      <p:sp>
        <p:nvSpPr>
          <p:cNvPr id="859" name="Google Shape;859;p84"/>
          <p:cNvSpPr txBox="1"/>
          <p:nvPr/>
        </p:nvSpPr>
        <p:spPr>
          <a:xfrm>
            <a:off x="486000" y="316800"/>
            <a:ext cx="3904129" cy="51111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Tracking Calories</a:t>
            </a:r>
            <a:endParaRPr b="1" i="0" sz="2800" u="none" cap="none" strike="noStrike">
              <a:solidFill>
                <a:srgbClr val="7030A0"/>
              </a:solidFill>
              <a:latin typeface="Arial"/>
              <a:ea typeface="Arial"/>
              <a:cs typeface="Arial"/>
              <a:sym typeface="Arial"/>
            </a:endParaRPr>
          </a:p>
        </p:txBody>
      </p:sp>
      <p:pic>
        <p:nvPicPr>
          <p:cNvPr descr="Graphical user interface, application&#10;&#10;Description automatically generated" id="860" name="Google Shape;860;p84"/>
          <p:cNvPicPr preferRelativeResize="0"/>
          <p:nvPr/>
        </p:nvPicPr>
        <p:blipFill rotWithShape="1">
          <a:blip r:embed="rId2">
            <a:alphaModFix/>
          </a:blip>
          <a:srcRect b="0" l="0" r="0" t="0"/>
          <a:stretch/>
        </p:blipFill>
        <p:spPr>
          <a:xfrm>
            <a:off x="6711836" y="1353922"/>
            <a:ext cx="5226532" cy="3542234"/>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50</a:t>
            </a:r>
          </a:p>
        </p:txBody>
      </p:sp>
      <p:sp xmlns:p="http://schemas.openxmlformats.org/presentationml/2006/main" xmlns:a="http://schemas.openxmlformats.org/drawingml/2006/main">
        <p:nvSpPr>
          <p:cNvPr id="861"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cxnSp>
        <p:nvCxnSpPr>
          <p:cNvPr id="957" name="Google Shape;957;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8" name="Google Shape;958;p94"/>
          <p:cNvSpPr txBox="1"/>
          <p:nvPr/>
        </p:nvSpPr>
        <p:spPr>
          <a:xfrm>
            <a:off x="486001" y="316800"/>
            <a:ext cx="6003289" cy="97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Explore Relationships Between Two Quantities</a:t>
            </a:r>
            <a:endParaRPr b="0" i="0" sz="1400" u="none" cap="none" strike="noStrike">
              <a:solidFill>
                <a:srgbClr val="000000"/>
              </a:solidFill>
              <a:latin typeface="Arial"/>
              <a:ea typeface="Arial"/>
              <a:cs typeface="Arial"/>
              <a:sym typeface="Arial"/>
            </a:endParaRPr>
          </a:p>
        </p:txBody>
      </p:sp>
      <p:sp>
        <p:nvSpPr>
          <p:cNvPr id="959" name="Google Shape;959;p94"/>
          <p:cNvSpPr txBox="1"/>
          <p:nvPr/>
        </p:nvSpPr>
        <p:spPr>
          <a:xfrm>
            <a:off x="486002" y="1737360"/>
            <a:ext cx="7913280" cy="33796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When two quantities are related, one quantity is represented by an independent variable and the other by a dependent variable. The independent variable does not depend upon the other quantity. It is subject to choice. The dependent variable changes in response to changes of the independent variable.</a:t>
            </a:r>
            <a:endParaRPr b="0" i="0" sz="1400" u="none" cap="none" strike="noStrike">
              <a:solidFill>
                <a:srgbClr val="000000"/>
              </a:solidFill>
              <a:latin typeface="Arial"/>
              <a:ea typeface="Arial"/>
              <a:cs typeface="Arial"/>
              <a:sym typeface="Arial"/>
            </a:endParaRPr>
          </a:p>
        </p:txBody>
      </p:sp>
      <p:sp>
        <p:nvSpPr>
          <p:cNvPr id="9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50</a:t>
            </a:r>
          </a:p>
        </p:txBody>
      </p:sp>
      <p:sp>
        <p:nvSpPr>
          <p:cNvPr id="96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962"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9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Selling Pizzas</a:t>
            </a:r>
            <a:endParaRPr b="1" i="0" sz="2800" u="none" cap="none" strike="noStrike">
              <a:solidFill>
                <a:srgbClr val="782DA0"/>
              </a:solidFill>
              <a:latin typeface="Arial"/>
              <a:ea typeface="Arial"/>
              <a:cs typeface="Arial"/>
              <a:sym typeface="Arial"/>
            </a:endParaRPr>
          </a:p>
        </p:txBody>
      </p:sp>
      <p:cxnSp>
        <p:nvCxnSpPr>
          <p:cNvPr id="965" name="Google Shape;965;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6" name="Google Shape;966;p95"/>
          <p:cNvSpPr txBox="1"/>
          <p:nvPr/>
        </p:nvSpPr>
        <p:spPr>
          <a:xfrm>
            <a:off x="484565" y="1106121"/>
            <a:ext cx="7011388" cy="17948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t/>
            </a:r>
            <a:endParaRPr b="0" i="0" sz="2800" u="none" cap="none" strike="noStrike">
              <a:solidFill>
                <a:schemeClr val="dk1"/>
              </a:solidFill>
              <a:latin typeface="Arial"/>
              <a:ea typeface="Arial"/>
              <a:cs typeface="Arial"/>
              <a:sym typeface="Arial"/>
            </a:endParaRPr>
          </a:p>
        </p:txBody>
      </p:sp>
      <p:pic>
        <p:nvPicPr>
          <p:cNvPr descr="Chart&#10;&#10;Description automatically generated" id="967" name="Google Shape;967;p95"/>
          <p:cNvPicPr preferRelativeResize="0"/>
          <p:nvPr/>
        </p:nvPicPr>
        <p:blipFill rotWithShape="1">
          <a:blip r:embed="rId3">
            <a:alphaModFix/>
          </a:blip>
          <a:srcRect b="0" l="0" r="0" t="0"/>
          <a:stretch/>
        </p:blipFill>
        <p:spPr>
          <a:xfrm>
            <a:off x="7624664" y="1695106"/>
            <a:ext cx="4262356" cy="2810906"/>
          </a:xfrm>
          <a:prstGeom prst="rect">
            <a:avLst/>
          </a:prstGeom>
          <a:noFill/>
          <a:ln>
            <a:noFill/>
          </a:ln>
        </p:spPr>
      </p:pic>
      <p:sp>
        <p:nvSpPr>
          <p:cNvPr id="968" name="Google Shape;968;p95"/>
          <p:cNvSpPr txBox="1"/>
          <p:nvPr/>
        </p:nvSpPr>
        <p:spPr>
          <a:xfrm>
            <a:off x="484565" y="936000"/>
            <a:ext cx="7311402" cy="3570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At a local pizza shop, a customer can order up to three different toppings on a large pizza. The pizza shop has a total of 6 employees. The shop spends $1.15 on cheese and $1.95 on sauce for each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Question:</a:t>
            </a:r>
            <a:r>
              <a:rPr b="0" i="0" lang="en-US" sz="2800" u="none" cap="none" strike="noStrike">
                <a:solidFill>
                  <a:schemeClr val="dk1"/>
                </a:solidFill>
                <a:latin typeface="Arial"/>
                <a:ea typeface="Arial"/>
                <a:cs typeface="Arial"/>
                <a:sym typeface="Arial"/>
              </a:rPr>
              <a:t xml:space="preserve"> How can you describe the relationship between the number of large pizzas sold and each of the following: </a:t>
            </a:r>
            <a:endParaRPr b="0" i="0" sz="1400" u="none" cap="none" strike="noStrike">
              <a:solidFill>
                <a:srgbClr val="000000"/>
              </a:solidFill>
              <a:latin typeface="Arial"/>
              <a:ea typeface="Arial"/>
              <a:cs typeface="Arial"/>
              <a:sym typeface="Arial"/>
            </a:endParaRPr>
          </a:p>
        </p:txBody>
      </p:sp>
      <p:sp>
        <p:nvSpPr>
          <p:cNvPr id="969" name="Google Shape;969;p95"/>
          <p:cNvSpPr txBox="1"/>
          <p:nvPr/>
        </p:nvSpPr>
        <p:spPr>
          <a:xfrm>
            <a:off x="484564" y="4574916"/>
            <a:ext cx="9809505" cy="1854164"/>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the hours the shop is open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0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the number of employees who work in the shop</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0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the cost of cheese each week</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0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the cost of sauce each week</a:t>
            </a:r>
            <a:endParaRPr b="0" i="0" sz="1400" u="none" cap="none" strike="noStrike">
              <a:solidFill>
                <a:srgbClr val="000000"/>
              </a:solidFill>
              <a:latin typeface="Arial"/>
              <a:ea typeface="Arial"/>
              <a:cs typeface="Arial"/>
              <a:sym typeface="Arial"/>
            </a:endParaRPr>
          </a:p>
        </p:txBody>
      </p:sp>
      <p:sp>
        <p:nvSpPr>
          <p:cNvPr id="9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50</a:t>
            </a:r>
          </a:p>
        </p:txBody>
      </p:sp>
      <p:sp>
        <p:nvSpPr>
          <p:cNvPr id="97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xml:space="preserve">  ·  PLAN IT • SOLVE IT • PROVE 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74" name="Google Shape;974;p96"/>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75" name="Google Shape;975;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6" name="Google Shape;976;p96"/>
          <p:cNvSpPr txBox="1"/>
          <p:nvPr/>
        </p:nvSpPr>
        <p:spPr>
          <a:xfrm>
            <a:off x="484565" y="935999"/>
            <a:ext cx="8254082" cy="4371291"/>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recognize when two quantities relate to each other, i.e., as one quantity changes independently, the other quantity changes in a related way.</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make sense of quantities to identify the independent variable and dependent variable and determine the value of the dependent variable given the relationship between two quantities.</a:t>
            </a:r>
            <a:endParaRPr b="0" i="0" sz="1400" u="none" cap="none" strike="noStrike">
              <a:solidFill>
                <a:srgbClr val="000000"/>
              </a:solidFill>
              <a:latin typeface="Arial"/>
              <a:ea typeface="Arial"/>
              <a:cs typeface="Arial"/>
              <a:sym typeface="Arial"/>
            </a:endParaRPr>
          </a:p>
        </p:txBody>
      </p:sp>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50</a:t>
            </a:r>
          </a:p>
        </p:txBody>
      </p:sp>
      <p:sp xmlns:p="http://schemas.openxmlformats.org/presentationml/2006/main" xmlns:a="http://schemas.openxmlformats.org/drawingml/2006/main">
        <p:nvSpPr>
          <p:cNvPr id="97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9.1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Identify related quantities.</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17 / 50</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22 / 50</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25 / 50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30 / 50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35 / 50</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40 / 50</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REVISE NOW  ·  </a:t>
            </a:r>
            <a:r>
              <a:rPr lang="en-US" sz="2000" b="0" dirty="0">
                <a:solidFill>
                  <a:srgbClr val="13303A"/>
                </a:solidFill>
                <a:latin typeface="Arial"/>
              </a:rPr>
              <a:t>Change one answer and write why you changed it. A revision is evidence of learning.</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43 / 50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48 / 50</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9.1 — Explore Relationships Between Two Variables</dc:title>
  <dc:creator>Neft Teacher</dc:creator>
  <cp:lastModifiedBy>Neft Teacher</cp:lastModifiedBy>
  <dcterms:created xsi:type="dcterms:W3CDTF">2026-09-30T12:04:43Z</dcterms:created>
  <dcterms:modified xsi:type="dcterms:W3CDTF">2026-09-30T12:04:43Z</dcterms:modified>
</cp:coreProperties>
</file>