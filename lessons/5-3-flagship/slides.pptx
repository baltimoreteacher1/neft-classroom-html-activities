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key — Dana forgot the ½. The area is half of base × height: A = ½ × 10 × 7 = ½ × 70 = 35 square feet.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749040" cy="5143500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Shape 1"/>
          <p:cNvSpPr/>
          <p:nvPr/>
        </p:nvSpPr>
        <p:spPr>
          <a:xfrm>
            <a:off x="2651760" y="-640080"/>
            <a:ext cx="2011680" cy="2011680"/>
          </a:xfrm>
          <a:prstGeom prst="ellipse">
            <a:avLst/>
          </a:prstGeom>
          <a:solidFill>
            <a:srgbClr val="4F7A52">
              <a:alpha val="35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411480" y="365760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11480" y="777240"/>
            <a:ext cx="1371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dirty="0">
                <a:solidFill>
                  <a:srgbClr val="000000"/>
                </a:solidFill>
              </a:rPr>
              <a:t>📐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11480" y="1783080"/>
            <a:ext cx="301752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Area of Triangles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411480" y="4160520"/>
            <a:ext cx="1188720" cy="310896"/>
          </a:xfrm>
          <a:prstGeom prst="rect">
            <a:avLst>
              <a:gd name="adj" fmla="val 50000"/>
            </a:avLst>
          </a:prstGeom>
          <a:solidFill>
            <a:srgbClr val="4F7A5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6.G.1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691640" y="4160520"/>
            <a:ext cx="19202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FE6E2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Unit 5  ·  Lesson 5-3-flagship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023360" y="411480"/>
            <a:ext cx="480060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251960" y="548640"/>
            <a:ext cx="4389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My Math Notebook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251960" y="1024128"/>
            <a:ext cx="7315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Name: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983480" y="1207008"/>
            <a:ext cx="3566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251960" y="1280160"/>
            <a:ext cx="7315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Date: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983480" y="1463040"/>
            <a:ext cx="3566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251960" y="1536192"/>
            <a:ext cx="7315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Period: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983480" y="1719072"/>
            <a:ext cx="3566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023360" y="2011680"/>
            <a:ext cx="4800600" cy="1143000"/>
          </a:xfrm>
          <a:prstGeom prst="roundRect">
            <a:avLst>
              <a:gd name="adj" fmla="val 6400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206240" y="2103120"/>
            <a:ext cx="4434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F7A5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 CAN…  </a:t>
            </a:r>
            <a:pPr indent="0" marL="0">
              <a:buNone/>
            </a:pPr>
            <a:r>
              <a:rPr lang="en-US" sz="900" i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/ Yo puedo…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206240" y="2395728"/>
            <a:ext cx="443484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find the area of a triangle using the formula A = ½ × base × height.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023360" y="3291840"/>
            <a:ext cx="4800600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206240" y="3383280"/>
            <a:ext cx="4434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F7A5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 WILL EXPLAIN…  </a:t>
            </a:r>
            <a:pPr indent="0" marL="0">
              <a:buNone/>
            </a:pPr>
            <a:r>
              <a:rPr lang="en-US" sz="900" i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/ Objetivo de lenguaje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206240" y="3675888"/>
            <a:ext cx="4434840" cy="8412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explain my steps using the words base, height, area, and perpendicular.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Be Curious / Sé Curioso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4F7A5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6.G.1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5  ·  Lesson 5-3-flagship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416052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41248"/>
            <a:ext cx="1371600" cy="274320"/>
          </a:xfrm>
          <a:prstGeom prst="rect">
            <a:avLst>
              <a:gd name="adj" fmla="val 50000"/>
            </a:avLst>
          </a:prstGeom>
          <a:solidFill>
            <a:srgbClr val="4F7A5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VISUAL PROMPT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594360" y="1207008"/>
            <a:ext cx="3794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Blueprint Review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94360" y="1508760"/>
            <a:ext cx="37947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Your architecture firm is designing a park with triangular garden beds. The client wants to know exactly how much soil to order, which means calculating the area of each triangular section. The first garden has a base of 12 feet and a height of 8 feet.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594360" y="315468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Jot your first idea: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594360" y="356616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3" name="Shape 21"/>
          <p:cNvSpPr/>
          <p:nvPr/>
        </p:nvSpPr>
        <p:spPr>
          <a:xfrm>
            <a:off x="594360" y="388620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4" name="Shape 22"/>
          <p:cNvSpPr/>
          <p:nvPr/>
        </p:nvSpPr>
        <p:spPr>
          <a:xfrm>
            <a:off x="594360" y="420624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4709160" y="685800"/>
            <a:ext cx="4114800" cy="19202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4709160" y="685800"/>
            <a:ext cx="411480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👁  I Notice…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4892040" y="1051560"/>
            <a:ext cx="374904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What shape are the garden beds?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What measurements do we need to find the area?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How is the area of a triangle related to the area of a rectangle?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709160" y="2743200"/>
            <a:ext cx="4114800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4709160" y="2743200"/>
            <a:ext cx="4114800" cy="274320"/>
          </a:xfrm>
          <a:prstGeom prst="rect">
            <a:avLst/>
          </a:prstGeom>
          <a:solidFill>
            <a:srgbClr val="F2C15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💭  I Wonder…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4892040" y="3108960"/>
            <a:ext cx="3749040" cy="1508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Why do we divide by 2 when finding the area of a triangle?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Does it matter which side we call the base?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Vocabulary / Vocabulario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4F7A5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6.G.1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5  ·  Lesson 5-3-flagship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3</a:t>
            </a:r>
            <a:endParaRPr lang="en-US" sz="8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685800"/>
          <a:ext cx="841248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4114800"/>
                <a:gridCol w="21945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Outfit" pitchFamily="34" charset="0"/>
                          <a:ea typeface="Outfit" pitchFamily="34" charset="-122"/>
                          <a:cs typeface="Outfit" pitchFamily="34" charset="-120"/>
                        </a:rPr>
                        <a:t>Term / Término</a:t>
                      </a:r>
                      <a:endParaRPr lang="en-US" sz="1000" dirty="0">
                        <a:latin typeface="Outfit" charset="0"/>
                        <a:ea typeface="Outfit" charset="0"/>
                        <a:cs typeface="Outfi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Outfit" pitchFamily="34" charset="0"/>
                          <a:ea typeface="Outfit" pitchFamily="34" charset="-122"/>
                          <a:cs typeface="Outfit" pitchFamily="34" charset="-120"/>
                        </a:rPr>
                        <a:t>Meaning / Significado</a:t>
                      </a:r>
                      <a:endParaRPr lang="en-US" sz="1000" dirty="0">
                        <a:latin typeface="Outfit" charset="0"/>
                        <a:ea typeface="Outfit" charset="0"/>
                        <a:cs typeface="Outfi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Outfit" pitchFamily="34" charset="0"/>
                          <a:ea typeface="Outfit" pitchFamily="34" charset="-122"/>
                          <a:cs typeface="Outfit" pitchFamily="34" charset="-120"/>
                        </a:rPr>
                        <a:t>Example / Ejemplo</a:t>
                      </a:r>
                      <a:endParaRPr lang="en-US" sz="1000" dirty="0">
                        <a:latin typeface="Outfit" charset="0"/>
                        <a:ea typeface="Outfit" charset="0"/>
                        <a:cs typeface="Outfi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Base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Base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A side of the triangle you use to find the area.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Un lado del triángulo que usas para hallar el área.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If the bottom of a triangle is 10 cm, then b = 10 cm in the formula A = ½ × b × h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Height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Altura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The straight-up distance from the base to the top corner.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La distancia recta desde la base hasta la esquina de arriba.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A dashed vertical line from the top point straight down to the base at a 90° angle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Area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Área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How much space is inside a flat shape.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Cuánto espacio hay dentro de una figura plana.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A triangle with b = 8 and h = 6 has area = ½ × 8 × 6 = 24 sq units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Perpendicular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Perpendicular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Two lines that meet to make a square corner (90 degrees).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Dos líneas que se unen formando una esquina recta (90 grados).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The corner of a book or a door frame meets at exactly 90°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Composite figure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Figura compuesta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A shape made by putting two or more simple shapes together.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Una figura formada al juntar dos o más figuras simples.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A house shape = a rectangle (walls) + a triangle (roof)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8" name="Text 15"/>
          <p:cNvSpPr/>
          <p:nvPr/>
        </p:nvSpPr>
        <p:spPr>
          <a:xfrm>
            <a:off x="411480" y="3520440"/>
            <a:ext cx="8412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Perpendicular — example vs. non-example:</a:t>
            </a: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411480" y="3813048"/>
            <a:ext cx="4114800" cy="457200"/>
          </a:xfrm>
          <a:prstGeom prst="roundRect">
            <a:avLst>
              <a:gd name="adj" fmla="val 10000"/>
            </a:avLst>
          </a:prstGeom>
          <a:solidFill>
            <a:srgbClr val="E7F6F4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0" name="Text 17"/>
          <p:cNvSpPr/>
          <p:nvPr/>
        </p:nvSpPr>
        <p:spPr>
          <a:xfrm>
            <a:off x="521208" y="3813048"/>
            <a:ext cx="38953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A6A2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✓ </a:t>
            </a:r>
            <a:pPr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Two lines meeting at a 90° angle  </a:t>
            </a:r>
            <a:pPr indent="0" marL="0">
              <a:buNone/>
            </a:pPr>
            <a:r>
              <a:rPr lang="en-US" sz="8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Perpendicular lines form a right angle.</a:t>
            </a:r>
            <a:endParaRPr lang="en-US" sz="900" dirty="0"/>
          </a:p>
        </p:txBody>
      </p:sp>
      <p:sp>
        <p:nvSpPr>
          <p:cNvPr id="21" name="Shape 18"/>
          <p:cNvSpPr/>
          <p:nvPr/>
        </p:nvSpPr>
        <p:spPr>
          <a:xfrm>
            <a:off x="4663440" y="3813048"/>
            <a:ext cx="4114800" cy="457200"/>
          </a:xfrm>
          <a:prstGeom prst="roundRect">
            <a:avLst>
              <a:gd name="adj" fmla="val 10000"/>
            </a:avLst>
          </a:prstGeom>
          <a:solidFill>
            <a:srgbClr val="FDECEA"/>
          </a:solidFill>
          <a:ln w="12700">
            <a:solidFill>
              <a:srgbClr val="E2A39B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2" name="Text 19"/>
          <p:cNvSpPr/>
          <p:nvPr/>
        </p:nvSpPr>
        <p:spPr>
          <a:xfrm>
            <a:off x="4773168" y="3813048"/>
            <a:ext cx="38953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0392B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✗ </a:t>
            </a:r>
            <a:pPr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Two lines that never meet  </a:t>
            </a:r>
            <a:pPr indent="0" marL="0">
              <a:buNone/>
            </a:pPr>
            <a:r>
              <a:rPr lang="en-US" sz="8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Those are parallel lines, not perpendicular.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Guided Practice / Práctica Guiada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4F7A5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6.G.1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5  ·  Lesson 5-3-flagship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4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54864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41248"/>
            <a:ext cx="1737360" cy="274320"/>
          </a:xfrm>
          <a:prstGeom prst="rect">
            <a:avLst>
              <a:gd name="adj" fmla="val 50000"/>
            </a:avLst>
          </a:prstGeom>
          <a:solidFill>
            <a:srgbClr val="4F7A5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👩‍🏫 WE DO TOGETHER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594360" y="11887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How do we find the area of a triangle?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40080" y="1609344"/>
            <a:ext cx="274320" cy="274320"/>
          </a:xfrm>
          <a:prstGeom prst="ellipse">
            <a:avLst/>
          </a:prstGeom>
          <a:solidFill>
            <a:srgbClr val="4F7A52"/>
          </a:solidFill>
          <a:ln/>
        </p:spPr>
      </p:sp>
      <p:sp>
        <p:nvSpPr>
          <p:cNvPr id="21" name="Text 19"/>
          <p:cNvSpPr/>
          <p:nvPr/>
        </p:nvSpPr>
        <p:spPr>
          <a:xfrm>
            <a:off x="640080" y="1609344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024128" y="1554480"/>
            <a:ext cx="48280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Now a smaller triangle: base = 10 cm, height = 6 cm.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40080" y="2084832"/>
            <a:ext cx="274320" cy="274320"/>
          </a:xfrm>
          <a:prstGeom prst="ellipse">
            <a:avLst/>
          </a:prstGeom>
          <a:solidFill>
            <a:srgbClr val="4F7A52"/>
          </a:solidFill>
          <a:ln/>
        </p:spPr>
      </p:sp>
      <p:sp>
        <p:nvSpPr>
          <p:cNvPr id="24" name="Text 22"/>
          <p:cNvSpPr/>
          <p:nvPr/>
        </p:nvSpPr>
        <p:spPr>
          <a:xfrm>
            <a:off x="640080" y="2084832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1024128" y="2029968"/>
            <a:ext cx="48280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First, what is 10 × 6? Yes, 60.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640080" y="2560320"/>
            <a:ext cx="274320" cy="274320"/>
          </a:xfrm>
          <a:prstGeom prst="ellipse">
            <a:avLst/>
          </a:prstGeom>
          <a:solidFill>
            <a:srgbClr val="4F7A52"/>
          </a:solidFill>
          <a:ln/>
        </p:spPr>
      </p:sp>
      <p:sp>
        <p:nvSpPr>
          <p:cNvPr id="27" name="Text 25"/>
          <p:cNvSpPr/>
          <p:nvPr/>
        </p:nvSpPr>
        <p:spPr>
          <a:xfrm>
            <a:off x="640080" y="256032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3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1024128" y="2505456"/>
            <a:ext cx="48280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Now take half: what is ½ × 60? Yes, 30.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640080" y="3035808"/>
            <a:ext cx="274320" cy="274320"/>
          </a:xfrm>
          <a:prstGeom prst="ellipse">
            <a:avLst/>
          </a:prstGeom>
          <a:solidFill>
            <a:srgbClr val="4F7A52"/>
          </a:solidFill>
          <a:ln/>
        </p:spPr>
      </p:sp>
      <p:sp>
        <p:nvSpPr>
          <p:cNvPr id="30" name="Text 28"/>
          <p:cNvSpPr/>
          <p:nvPr/>
        </p:nvSpPr>
        <p:spPr>
          <a:xfrm>
            <a:off x="640080" y="3035808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4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1024128" y="2980944"/>
            <a:ext cx="48280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So the area is 30 square centimeters.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594360" y="3886200"/>
            <a:ext cx="5120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Your turn — show your work: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640080" y="4297680"/>
            <a:ext cx="51206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4" name="Shape 32"/>
          <p:cNvSpPr/>
          <p:nvPr/>
        </p:nvSpPr>
        <p:spPr>
          <a:xfrm>
            <a:off x="6035040" y="685800"/>
            <a:ext cx="2788920" cy="4023360"/>
          </a:xfrm>
          <a:prstGeom prst="roundRect">
            <a:avLst>
              <a:gd name="adj" fmla="val 2623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5" name="Text 33"/>
          <p:cNvSpPr/>
          <p:nvPr/>
        </p:nvSpPr>
        <p:spPr>
          <a:xfrm>
            <a:off x="6035040" y="685800"/>
            <a:ext cx="278892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💬 Talk It Over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6217920" y="1097280"/>
            <a:ext cx="246888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At the build site you survey a triangular garden bed with a base of 12 feet and a height of 8 feet. Which measurement is the height, and how is it different from the slanted side?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6172200" y="2743200"/>
            <a:ext cx="251460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8" name="Text 36"/>
          <p:cNvSpPr/>
          <p:nvPr/>
        </p:nvSpPr>
        <p:spPr>
          <a:xfrm>
            <a:off x="6309360" y="2834640"/>
            <a:ext cx="2286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4F7A5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🔑 Key Idea</a:t>
            </a:r>
            <a:endParaRPr lang="en-US" sz="950" dirty="0"/>
          </a:p>
        </p:txBody>
      </p:sp>
      <p:sp>
        <p:nvSpPr>
          <p:cNvPr id="39" name="Text 37"/>
          <p:cNvSpPr/>
          <p:nvPr/>
        </p:nvSpPr>
        <p:spPr>
          <a:xfrm>
            <a:off x="6309360" y="3108960"/>
            <a:ext cx="22860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Area of a triangle = ½ × base × height. A triangle is exactly half of a rectangle with the same base and height.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Sort It Out / Clasifícalo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4F7A5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6.G.1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5  ·  Lesson 5-3-flagship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5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54864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2296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Plot the vertices of a triangle with base 12 and height 8.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594360" y="1234440"/>
            <a:ext cx="51206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Card Bank — cut or sort these cards: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594360" y="1481328"/>
            <a:ext cx="1630680" cy="384048"/>
          </a:xfrm>
          <a:prstGeom prst="roundRect">
            <a:avLst>
              <a:gd name="adj" fmla="val 11905"/>
            </a:avLst>
          </a:prstGeom>
          <a:solidFill>
            <a:srgbClr val="FBEFD0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685800" y="1481328"/>
            <a:ext cx="1447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Card 1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2362200" y="1481328"/>
            <a:ext cx="1630680" cy="384048"/>
          </a:xfrm>
          <a:prstGeom prst="roundRect">
            <a:avLst>
              <a:gd name="adj" fmla="val 11905"/>
            </a:avLst>
          </a:prstGeom>
          <a:solidFill>
            <a:srgbClr val="FBEFD0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2453640" y="1481328"/>
            <a:ext cx="1447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Card 2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4130040" y="1481328"/>
            <a:ext cx="1630680" cy="384048"/>
          </a:xfrm>
          <a:prstGeom prst="roundRect">
            <a:avLst>
              <a:gd name="adj" fmla="val 11905"/>
            </a:avLst>
          </a:prstGeom>
          <a:solidFill>
            <a:srgbClr val="FBEFD0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4221480" y="1481328"/>
            <a:ext cx="1447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Card 3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594360" y="1975104"/>
            <a:ext cx="1630680" cy="384048"/>
          </a:xfrm>
          <a:prstGeom prst="roundRect">
            <a:avLst>
              <a:gd name="adj" fmla="val 11905"/>
            </a:avLst>
          </a:prstGeom>
          <a:solidFill>
            <a:srgbClr val="FBEFD0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685800" y="1975104"/>
            <a:ext cx="1447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Card 4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594360" y="2560320"/>
            <a:ext cx="2514600" cy="1965960"/>
          </a:xfrm>
          <a:prstGeom prst="roundRect">
            <a:avLst>
              <a:gd name="adj" fmla="val 2326"/>
            </a:avLst>
          </a:prstGeom>
          <a:solidFill>
            <a:srgbClr val="FFFFFF"/>
          </a:solidFill>
          <a:ln w="12700">
            <a:solidFill>
              <a:srgbClr val="4F7A5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594360" y="2560320"/>
            <a:ext cx="2514600" cy="292608"/>
          </a:xfrm>
          <a:prstGeom prst="rect">
            <a:avLst/>
          </a:prstGeom>
          <a:solidFill>
            <a:srgbClr val="4F7A5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Group A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3246120" y="2560320"/>
            <a:ext cx="2514600" cy="1965960"/>
          </a:xfrm>
          <a:prstGeom prst="roundRect">
            <a:avLst>
              <a:gd name="adj" fmla="val 2326"/>
            </a:avLst>
          </a:prstGeom>
          <a:solidFill>
            <a:srgbClr val="FFFFFF"/>
          </a:solidFill>
          <a:ln w="12700">
            <a:solidFill>
              <a:srgbClr val="4F7A5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3246120" y="2560320"/>
            <a:ext cx="2514600" cy="292608"/>
          </a:xfrm>
          <a:prstGeom prst="rect">
            <a:avLst/>
          </a:prstGeom>
          <a:solidFill>
            <a:srgbClr val="4F7A5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Group B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6035040" y="685800"/>
            <a:ext cx="2788920" cy="4023360"/>
          </a:xfrm>
          <a:prstGeom prst="roundRect">
            <a:avLst>
              <a:gd name="adj" fmla="val 2623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3" name="Text 31"/>
          <p:cNvSpPr/>
          <p:nvPr/>
        </p:nvSpPr>
        <p:spPr>
          <a:xfrm>
            <a:off x="6035040" y="685800"/>
            <a:ext cx="278892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💬 Talk It Over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217920" y="1097280"/>
            <a:ext cx="246888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Your triangular panel (base 12, height 8) fits inside a 12 by 8 rectangle. Why do we divide by 2 to find the triangle's area before cutting the glass?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6217920" y="2743200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6217920" y="3072384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7" name="Shape 35"/>
          <p:cNvSpPr/>
          <p:nvPr/>
        </p:nvSpPr>
        <p:spPr>
          <a:xfrm>
            <a:off x="6217920" y="3401568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8" name="Shape 36"/>
          <p:cNvSpPr/>
          <p:nvPr/>
        </p:nvSpPr>
        <p:spPr>
          <a:xfrm>
            <a:off x="6217920" y="3730752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9" name="Shape 37"/>
          <p:cNvSpPr/>
          <p:nvPr/>
        </p:nvSpPr>
        <p:spPr>
          <a:xfrm>
            <a:off x="6217920" y="4059936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Error Analysis / Análisis de Errores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4F7A5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6.G.1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5  ·  Lesson 5-3-flagship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54864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41248"/>
            <a:ext cx="1554480" cy="274320"/>
          </a:xfrm>
          <a:prstGeom prst="rect">
            <a:avLst>
              <a:gd name="adj" fmla="val 50000"/>
            </a:avLst>
          </a:prstGeom>
          <a:solidFill>
            <a:srgbClr val="C0392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⚠ FIND THE ERROR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2286000" y="841248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Find Dana's Mistake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94360" y="118872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 classmate turned in the work below. One step has a mistake — find it, name it, fix it.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594360" y="1627632"/>
            <a:ext cx="5166360" cy="2286000"/>
          </a:xfrm>
          <a:prstGeom prst="roundRect">
            <a:avLst>
              <a:gd name="adj" fmla="val 2000"/>
            </a:avLst>
          </a:prstGeom>
          <a:solidFill>
            <a:srgbClr val="F4F1E8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713232" y="1691640"/>
            <a:ext cx="49377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Student's work (contains an error):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777240" y="1938528"/>
            <a:ext cx="4892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1. </a:t>
            </a:r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Problem:  </a:t>
            </a:r>
            <a:pPr indent="0" marL="0">
              <a:buNone/>
            </a:pPr>
            <a:r>
              <a:rPr lang="en-US" sz="950" b="1" dirty="0">
                <a:solidFill>
                  <a:srgbClr val="2432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Find the area of a triangle with base 10 ft and height 7 ft.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777240" y="2322576"/>
            <a:ext cx="4892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2. </a:t>
            </a:r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Write the formula:  </a:t>
            </a:r>
            <a:pPr indent="0" marL="0">
              <a:buNone/>
            </a:pPr>
            <a:r>
              <a:rPr lang="en-US" sz="950" b="1" dirty="0">
                <a:solidFill>
                  <a:srgbClr val="2432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= ½ × b × h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777240" y="2706624"/>
            <a:ext cx="4892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3. </a:t>
            </a:r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Substitute:  </a:t>
            </a:r>
            <a:pPr indent="0" marL="0">
              <a:buNone/>
            </a:pPr>
            <a:r>
              <a:rPr lang="en-US" sz="950" b="1" dirty="0">
                <a:solidFill>
                  <a:srgbClr val="2432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= ½ × 10 × 7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777240" y="3090672"/>
            <a:ext cx="4892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4. </a:t>
            </a:r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Multiply:  </a:t>
            </a:r>
            <a:pPr indent="0" marL="0">
              <a:buNone/>
            </a:pPr>
            <a:r>
              <a:rPr lang="en-US" sz="950" b="1" dirty="0">
                <a:solidFill>
                  <a:srgbClr val="2432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= 10 × 7 = 70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777240" y="3474720"/>
            <a:ext cx="4892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5. </a:t>
            </a:r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Final answer:  </a:t>
            </a:r>
            <a:pPr indent="0" marL="0">
              <a:buNone/>
            </a:pPr>
            <a:r>
              <a:rPr lang="en-US" sz="950" b="1" dirty="0">
                <a:solidFill>
                  <a:srgbClr val="2432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= 70 sq ft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594360" y="4050792"/>
            <a:ext cx="5120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Which step has the error? Circle it above.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6035040" y="685800"/>
            <a:ext cx="2788920" cy="4023360"/>
          </a:xfrm>
          <a:prstGeom prst="roundRect">
            <a:avLst>
              <a:gd name="adj" fmla="val 2623"/>
            </a:avLst>
          </a:prstGeom>
          <a:solidFill>
            <a:srgbClr val="FCE6DE"/>
          </a:solidFill>
          <a:ln w="12700">
            <a:solidFill>
              <a:srgbClr val="E2A39B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6035040" y="685800"/>
            <a:ext cx="2788920" cy="274320"/>
          </a:xfrm>
          <a:prstGeom prst="rect">
            <a:avLst/>
          </a:prstGeom>
          <a:solidFill>
            <a:srgbClr val="C0392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🛠 Explain &amp; Fix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6217920" y="1097280"/>
            <a:ext cx="246888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The mistake was </a:t>
            </a:r>
            <a:pPr indent="0" marL="0">
              <a:buNone/>
            </a:pPr>
            <a:r>
              <a:rPr lang="en-US" sz="10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___</a:t>
            </a:r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 because </a:t>
            </a:r>
            <a:pPr indent="0" marL="0">
              <a:buNone/>
            </a:pPr>
            <a:r>
              <a:rPr lang="en-US" sz="10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___</a:t>
            </a:r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.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6217920" y="1783080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3" name="Shape 31"/>
          <p:cNvSpPr/>
          <p:nvPr/>
        </p:nvSpPr>
        <p:spPr>
          <a:xfrm>
            <a:off x="6217920" y="2075688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4" name="Shape 32"/>
          <p:cNvSpPr/>
          <p:nvPr/>
        </p:nvSpPr>
        <p:spPr>
          <a:xfrm>
            <a:off x="6217920" y="2368296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5" name="Text 33"/>
          <p:cNvSpPr/>
          <p:nvPr/>
        </p:nvSpPr>
        <p:spPr>
          <a:xfrm>
            <a:off x="6217920" y="2788920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Fix it — rewrite the step correctly: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6217920" y="3246120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7" name="Shape 35"/>
          <p:cNvSpPr/>
          <p:nvPr/>
        </p:nvSpPr>
        <p:spPr>
          <a:xfrm>
            <a:off x="6217920" y="3538728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8" name="Shape 36"/>
          <p:cNvSpPr/>
          <p:nvPr/>
        </p:nvSpPr>
        <p:spPr>
          <a:xfrm>
            <a:off x="6217920" y="3831336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9" name="Shape 37"/>
          <p:cNvSpPr/>
          <p:nvPr/>
        </p:nvSpPr>
        <p:spPr>
          <a:xfrm>
            <a:off x="6217920" y="4123944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Two-Column Notes / Notas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4F7A5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6.G.1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5  ·  Lesson 5-3-flagship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7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416052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11480" y="685800"/>
            <a:ext cx="4160520" cy="292608"/>
          </a:xfrm>
          <a:prstGeom prst="rect">
            <a:avLst/>
          </a:prstGeom>
          <a:solidFill>
            <a:srgbClr val="17324D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Steps / Pasos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" y="1243584"/>
            <a:ext cx="274320" cy="274320"/>
          </a:xfrm>
          <a:prstGeom prst="ellipse">
            <a:avLst/>
          </a:prstGeom>
          <a:solidFill>
            <a:srgbClr val="4F7A52"/>
          </a:solidFill>
          <a:ln/>
        </p:spPr>
      </p:sp>
      <p:sp>
        <p:nvSpPr>
          <p:cNvPr id="20" name="Text 18"/>
          <p:cNvSpPr/>
          <p:nvPr/>
        </p:nvSpPr>
        <p:spPr>
          <a:xfrm>
            <a:off x="594360" y="1243584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978408" y="1188720"/>
            <a:ext cx="34564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My triangular garden has a base of 12 feet and a height of 8 feet.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594360" y="1719072"/>
            <a:ext cx="274320" cy="274320"/>
          </a:xfrm>
          <a:prstGeom prst="ellipse">
            <a:avLst/>
          </a:prstGeom>
          <a:solidFill>
            <a:srgbClr val="4F7A52"/>
          </a:solidFill>
          <a:ln/>
        </p:spPr>
      </p:sp>
      <p:sp>
        <p:nvSpPr>
          <p:cNvPr id="23" name="Text 21"/>
          <p:cNvSpPr/>
          <p:nvPr/>
        </p:nvSpPr>
        <p:spPr>
          <a:xfrm>
            <a:off x="594360" y="1719072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978408" y="1664208"/>
            <a:ext cx="34564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write the formula: A = ½ × base × height.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94360" y="2194560"/>
            <a:ext cx="274320" cy="274320"/>
          </a:xfrm>
          <a:prstGeom prst="ellipse">
            <a:avLst/>
          </a:prstGeom>
          <a:solidFill>
            <a:srgbClr val="4F7A52"/>
          </a:solidFill>
          <a:ln/>
        </p:spPr>
      </p:sp>
      <p:sp>
        <p:nvSpPr>
          <p:cNvPr id="26" name="Text 24"/>
          <p:cNvSpPr/>
          <p:nvPr/>
        </p:nvSpPr>
        <p:spPr>
          <a:xfrm>
            <a:off x="594360" y="219456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3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978408" y="2139696"/>
            <a:ext cx="34564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put in the numbers: A = ½ × 12 × 8.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594360" y="2670048"/>
            <a:ext cx="274320" cy="274320"/>
          </a:xfrm>
          <a:prstGeom prst="ellipse">
            <a:avLst/>
          </a:prstGeom>
          <a:solidFill>
            <a:srgbClr val="4F7A52"/>
          </a:solidFill>
          <a:ln/>
        </p:spPr>
      </p:sp>
      <p:sp>
        <p:nvSpPr>
          <p:cNvPr id="29" name="Text 27"/>
          <p:cNvSpPr/>
          <p:nvPr/>
        </p:nvSpPr>
        <p:spPr>
          <a:xfrm>
            <a:off x="594360" y="2670048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4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978408" y="2615184"/>
            <a:ext cx="34564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multiply base × height first: 12 × 8 = 96.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594360" y="3145536"/>
            <a:ext cx="274320" cy="274320"/>
          </a:xfrm>
          <a:prstGeom prst="ellipse">
            <a:avLst/>
          </a:prstGeom>
          <a:solidFill>
            <a:srgbClr val="4F7A52"/>
          </a:solidFill>
          <a:ln/>
        </p:spPr>
      </p:sp>
      <p:sp>
        <p:nvSpPr>
          <p:cNvPr id="32" name="Text 30"/>
          <p:cNvSpPr/>
          <p:nvPr/>
        </p:nvSpPr>
        <p:spPr>
          <a:xfrm>
            <a:off x="594360" y="3145536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5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978408" y="3090672"/>
            <a:ext cx="34564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take half: ½ × 96 = 48. So the area is 48 square feet.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4709160" y="685800"/>
            <a:ext cx="4114800" cy="4023360"/>
          </a:xfrm>
          <a:prstGeom prst="roundRect">
            <a:avLst>
              <a:gd name="adj" fmla="val 1818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5" name="Text 33"/>
          <p:cNvSpPr/>
          <p:nvPr/>
        </p:nvSpPr>
        <p:spPr>
          <a:xfrm>
            <a:off x="4709160" y="685800"/>
            <a:ext cx="4114800" cy="292608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My Example / Mi Ejemplo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4892040" y="1143000"/>
            <a:ext cx="3749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Work one problem here, matching each step on the left: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4892040" y="1783080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8" name="Shape 36"/>
          <p:cNvSpPr/>
          <p:nvPr/>
        </p:nvSpPr>
        <p:spPr>
          <a:xfrm>
            <a:off x="4892040" y="2112264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9" name="Shape 37"/>
          <p:cNvSpPr/>
          <p:nvPr/>
        </p:nvSpPr>
        <p:spPr>
          <a:xfrm>
            <a:off x="4892040" y="2441448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40" name="Shape 38"/>
          <p:cNvSpPr/>
          <p:nvPr/>
        </p:nvSpPr>
        <p:spPr>
          <a:xfrm>
            <a:off x="4892040" y="2770632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41" name="Shape 39"/>
          <p:cNvSpPr/>
          <p:nvPr/>
        </p:nvSpPr>
        <p:spPr>
          <a:xfrm>
            <a:off x="4892040" y="3099816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42" name="Shape 40"/>
          <p:cNvSpPr/>
          <p:nvPr/>
        </p:nvSpPr>
        <p:spPr>
          <a:xfrm>
            <a:off x="4892040" y="3429000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43" name="Shape 41"/>
          <p:cNvSpPr/>
          <p:nvPr/>
        </p:nvSpPr>
        <p:spPr>
          <a:xfrm>
            <a:off x="4892040" y="3758184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44" name="Shape 42"/>
          <p:cNvSpPr/>
          <p:nvPr/>
        </p:nvSpPr>
        <p:spPr>
          <a:xfrm>
            <a:off x="4892040" y="4087368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Choice Board / Tablero de Opciones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4F7A5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6.G.1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5  ·  Lesson 5-3-flagship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8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411480" y="640080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Choose ONE to show what you know: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11480" y="1051560"/>
            <a:ext cx="4114800" cy="1645920"/>
          </a:xfrm>
          <a:prstGeom prst="roundRect">
            <a:avLst>
              <a:gd name="adj" fmla="val 4444"/>
            </a:avLst>
          </a:prstGeom>
          <a:solidFill>
            <a:srgbClr val="DFF2EE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548640" y="1161288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✏️</a:t>
            </a:r>
            <a:endParaRPr lang="en-US" sz="2600" dirty="0"/>
          </a:p>
        </p:txBody>
      </p:sp>
      <p:sp>
        <p:nvSpPr>
          <p:cNvPr id="20" name="Text 18"/>
          <p:cNvSpPr/>
          <p:nvPr/>
        </p:nvSpPr>
        <p:spPr>
          <a:xfrm>
            <a:off x="1234440" y="118872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Draw &amp; Label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94360" y="1709928"/>
            <a:ext cx="3749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Sketch a model for today's problem. Label it using Base and Height.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709160" y="1051560"/>
            <a:ext cx="4114800" cy="1645920"/>
          </a:xfrm>
          <a:prstGeom prst="roundRect">
            <a:avLst>
              <a:gd name="adj" fmla="val 4444"/>
            </a:avLst>
          </a:prstGeom>
          <a:solidFill>
            <a:srgbClr val="FBEFD0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4846320" y="1161288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💬</a:t>
            </a:r>
            <a:endParaRPr lang="en-US" sz="2600" dirty="0"/>
          </a:p>
        </p:txBody>
      </p:sp>
      <p:sp>
        <p:nvSpPr>
          <p:cNvPr id="24" name="Text 22"/>
          <p:cNvSpPr/>
          <p:nvPr/>
        </p:nvSpPr>
        <p:spPr>
          <a:xfrm>
            <a:off x="5532120" y="118872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Explain It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4892040" y="1709928"/>
            <a:ext cx="3749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In 2–3 sentences, explain "Area of a triangle = ½ × base × height. A triangle is exactly half of a rectangle with the same base and height." in your own words.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11480" y="2834640"/>
            <a:ext cx="4114800" cy="1645920"/>
          </a:xfrm>
          <a:prstGeom prst="roundRect">
            <a:avLst>
              <a:gd name="adj" fmla="val 4444"/>
            </a:avLst>
          </a:prstGeom>
          <a:solidFill>
            <a:srgbClr val="FCE6DE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548640" y="2944368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🧮</a:t>
            </a:r>
            <a:endParaRPr lang="en-US" sz="2600" dirty="0"/>
          </a:p>
        </p:txBody>
      </p:sp>
      <p:sp>
        <p:nvSpPr>
          <p:cNvPr id="28" name="Text 26"/>
          <p:cNvSpPr/>
          <p:nvPr/>
        </p:nvSpPr>
        <p:spPr>
          <a:xfrm>
            <a:off x="1234440" y="297180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Solve It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594360" y="3493008"/>
            <a:ext cx="3749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Work one practice problem and show every step clearly.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709160" y="2834640"/>
            <a:ext cx="4114800" cy="1645920"/>
          </a:xfrm>
          <a:prstGeom prst="roundRect">
            <a:avLst>
              <a:gd name="adj" fmla="val 4444"/>
            </a:avLst>
          </a:prstGeom>
          <a:solidFill>
            <a:srgbClr val="EAF2F1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4846320" y="2944368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🎯</a:t>
            </a:r>
            <a:endParaRPr lang="en-US" sz="2600" dirty="0"/>
          </a:p>
        </p:txBody>
      </p:sp>
      <p:sp>
        <p:nvSpPr>
          <p:cNvPr id="32" name="Text 30"/>
          <p:cNvSpPr/>
          <p:nvPr/>
        </p:nvSpPr>
        <p:spPr>
          <a:xfrm>
            <a:off x="5532120" y="297180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Create a Problem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4892040" y="3493008"/>
            <a:ext cx="3749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Write your own problem that uses Base, then solve it and make an answer key.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Independent Practice / Práctica Independiente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4F7A5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6.G.1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5  ·  Lesson 5-3-flagship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9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54864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41248"/>
            <a:ext cx="1463040" cy="274320"/>
          </a:xfrm>
          <a:prstGeom prst="rect">
            <a:avLst>
              <a:gd name="adj" fmla="val 50000"/>
            </a:avLst>
          </a:prstGeom>
          <a:solidFill>
            <a:srgbClr val="4F7A5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✍️ ON YOUR OWN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594360" y="1234440"/>
            <a:ext cx="51663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4F7A52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1. 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 triangular sail has an area of 30 sq m and a height of 12 m. What is its base?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777240" y="1783080"/>
            <a:ext cx="498348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594360" y="2194560"/>
            <a:ext cx="51663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4F7A52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2. 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What is the area of a triangle with base 10 cm and height 6 cm?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777240" y="2743200"/>
            <a:ext cx="498348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3" name="Text 21"/>
          <p:cNvSpPr/>
          <p:nvPr/>
        </p:nvSpPr>
        <p:spPr>
          <a:xfrm>
            <a:off x="594360" y="3154680"/>
            <a:ext cx="51663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4F7A52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3. 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 triangle has an area of 24 sq ft and a base of 8 ft. What is the height?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777240" y="3703320"/>
            <a:ext cx="498348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6035040" y="685800"/>
            <a:ext cx="2788920" cy="4023360"/>
          </a:xfrm>
          <a:prstGeom prst="roundRect">
            <a:avLst>
              <a:gd name="adj" fmla="val 2623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035040" y="685800"/>
            <a:ext cx="278892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💬 Talk It Over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6217920" y="1097280"/>
            <a:ext cx="246888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At the client review, the homeowner paints a triangular A-frame wall with base 20 ft and height 14 ft; one can covers 50 sq ft. Talk through how many cans the budget needs.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217920" y="2834640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9" name="Shape 27"/>
          <p:cNvSpPr/>
          <p:nvPr/>
        </p:nvSpPr>
        <p:spPr>
          <a:xfrm>
            <a:off x="6217920" y="3163824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0" name="Shape 28"/>
          <p:cNvSpPr/>
          <p:nvPr/>
        </p:nvSpPr>
        <p:spPr>
          <a:xfrm>
            <a:off x="6217920" y="3493008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1" name="Shape 29"/>
          <p:cNvSpPr/>
          <p:nvPr/>
        </p:nvSpPr>
        <p:spPr>
          <a:xfrm>
            <a:off x="6217920" y="3822192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2" name="Shape 30"/>
          <p:cNvSpPr/>
          <p:nvPr/>
        </p:nvSpPr>
        <p:spPr>
          <a:xfrm>
            <a:off x="6217920" y="4151376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Think–Write–Respond / Piensa y Escribe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4F7A5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6.G.1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5  ·  Lesson 5-3-flagship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10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411480" y="603504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Use evidence from today's lesson to complete each frame.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11480" y="960120"/>
            <a:ext cx="84124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594360" y="105156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Frame 1 — </a:t>
            </a:r>
            <a:pPr indent="0" marL="0">
              <a:buNone/>
            </a:pPr>
            <a:r>
              <a:rPr lang="en-US" sz="1100" b="1" dirty="0">
                <a:solidFill>
                  <a:srgbClr val="4F7A5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Explain the Rule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94360" y="1344168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Today's key idea is "Area of a triangle = ½ × base × height. A triangle is exactly half of a rectangle with the same base and height." — and it works because ___.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594360" y="1892808"/>
            <a:ext cx="804672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>
            <a:off x="411480" y="2240280"/>
            <a:ext cx="84124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94360" y="233172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Frame 2 — </a:t>
            </a:r>
            <a:pPr indent="0" marL="0">
              <a:buNone/>
            </a:pPr>
            <a:r>
              <a:rPr lang="en-US" sz="1100" b="1" dirty="0">
                <a:solidFill>
                  <a:srgbClr val="4F7A5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Because / But / So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594360" y="2624328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Because Base means ___, but a tricky part is ___, so I have to ___.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94360" y="3172968"/>
            <a:ext cx="804672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6" name="Shape 24"/>
          <p:cNvSpPr/>
          <p:nvPr/>
        </p:nvSpPr>
        <p:spPr>
          <a:xfrm>
            <a:off x="411480" y="3520440"/>
            <a:ext cx="84124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594360" y="361188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Frame 3 — </a:t>
            </a:r>
            <a:pPr indent="0" marL="0">
              <a:buNone/>
            </a:pPr>
            <a:r>
              <a:rPr lang="en-US" sz="1100" b="1" dirty="0">
                <a:solidFill>
                  <a:srgbClr val="4F7A5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Catch the Mistake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594360" y="3904488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 common mistake with Base is ___. It happens because ___, and the fix is ___.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594360" y="4453128"/>
            <a:ext cx="804672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Exit Ticket / Boleto de Salida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4F7A5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6.G.1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5  ·  Lesson 5-3-flagship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11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4160520" cy="4023360"/>
          </a:xfrm>
          <a:prstGeom prst="roundRect">
            <a:avLst>
              <a:gd name="adj" fmla="val 1818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11480" y="685800"/>
            <a:ext cx="416052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Reflection / Reflexión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594360" y="1097280"/>
            <a:ext cx="3794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Today I learned that ___ because ___.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94360" y="178308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594360" y="2093976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>
            <a:off x="594360" y="2404872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3" name="Text 21"/>
          <p:cNvSpPr/>
          <p:nvPr/>
        </p:nvSpPr>
        <p:spPr>
          <a:xfrm>
            <a:off x="594360" y="2834640"/>
            <a:ext cx="3794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One thing I am still not sure about is ___.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94360" y="352044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594360" y="3831336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6" name="Shape 24"/>
          <p:cNvSpPr/>
          <p:nvPr/>
        </p:nvSpPr>
        <p:spPr>
          <a:xfrm>
            <a:off x="594360" y="4142232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7" name="Shape 25"/>
          <p:cNvSpPr/>
          <p:nvPr/>
        </p:nvSpPr>
        <p:spPr>
          <a:xfrm>
            <a:off x="4709160" y="685800"/>
            <a:ext cx="41148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4709160" y="685800"/>
            <a:ext cx="4114800" cy="274320"/>
          </a:xfrm>
          <a:prstGeom prst="rect">
            <a:avLst/>
          </a:prstGeom>
          <a:solidFill>
            <a:srgbClr val="17324D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Quick Exit Ticket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4892040" y="1097280"/>
            <a:ext cx="37490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4F7A52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Tier 1 —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 triangle has a base of 11 inches and a height of 8 inches. What is its area?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5029200" y="1783080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A.  44 sq in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5029200" y="2093976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B.  88 sq in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029200" y="2404872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C.  19 sq in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5029200" y="2715768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D.  44 in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4892040" y="3163824"/>
            <a:ext cx="37490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4F7A52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Tier 2 —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Explain how you know your answer is correct. Use at least one vocabulary word.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4892040" y="3803904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4892040" y="4096512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7" name="Shape 35"/>
          <p:cNvSpPr/>
          <p:nvPr/>
        </p:nvSpPr>
        <p:spPr>
          <a:xfrm>
            <a:off x="4892040" y="4389120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Goal Tracker / Seguimiento de Metas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4F7A5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6.G.1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5  ·  Lesson 5-3-flagship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12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58368"/>
            <a:ext cx="8412480" cy="502920"/>
          </a:xfrm>
          <a:prstGeom prst="roundRect">
            <a:avLst>
              <a:gd name="adj" fmla="val 14545"/>
            </a:avLst>
          </a:prstGeom>
          <a:solidFill>
            <a:srgbClr val="17324D"/>
          </a:solidFill>
          <a:ln/>
        </p:spPr>
      </p:sp>
      <p:sp>
        <p:nvSpPr>
          <p:cNvPr id="18" name="Text 16"/>
          <p:cNvSpPr/>
          <p:nvPr/>
        </p:nvSpPr>
        <p:spPr>
          <a:xfrm>
            <a:off x="640080" y="658368"/>
            <a:ext cx="7955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2C15B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My Goal:  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find the area of a triangle using the formula A = ½ × base × height.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11480" y="1371600"/>
            <a:ext cx="1965960" cy="2377440"/>
          </a:xfrm>
          <a:prstGeom prst="roundRect">
            <a:avLst>
              <a:gd name="adj" fmla="val 3721"/>
            </a:avLst>
          </a:prstGeom>
          <a:solidFill>
            <a:srgbClr val="FCE6DE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1138428" y="1508760"/>
            <a:ext cx="512064" cy="512064"/>
          </a:xfrm>
          <a:prstGeom prst="ellipse">
            <a:avLst/>
          </a:prstGeom>
          <a:solidFill>
            <a:srgbClr val="4F7A52"/>
          </a:solidFill>
          <a:ln/>
        </p:spPr>
      </p:sp>
      <p:sp>
        <p:nvSpPr>
          <p:cNvPr id="21" name="Text 19"/>
          <p:cNvSpPr/>
          <p:nvPr/>
        </p:nvSpPr>
        <p:spPr>
          <a:xfrm>
            <a:off x="1138428" y="150876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457200" y="214884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Not Yet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521208" y="2514600"/>
            <a:ext cx="1746504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need more help. This does not make sense to me yet.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457200" y="3520440"/>
            <a:ext cx="1874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○ circle me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2560320" y="1371600"/>
            <a:ext cx="1965960" cy="2377440"/>
          </a:xfrm>
          <a:prstGeom prst="roundRect">
            <a:avLst>
              <a:gd name="adj" fmla="val 3721"/>
            </a:avLst>
          </a:prstGeom>
          <a:solidFill>
            <a:srgbClr val="FBEFD0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3287268" y="1508760"/>
            <a:ext cx="512064" cy="512064"/>
          </a:xfrm>
          <a:prstGeom prst="ellipse">
            <a:avLst/>
          </a:prstGeom>
          <a:solidFill>
            <a:srgbClr val="4F7A52"/>
          </a:solidFill>
          <a:ln/>
        </p:spPr>
      </p:sp>
      <p:sp>
        <p:nvSpPr>
          <p:cNvPr id="27" name="Text 25"/>
          <p:cNvSpPr/>
          <p:nvPr/>
        </p:nvSpPr>
        <p:spPr>
          <a:xfrm>
            <a:off x="3287268" y="150876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</a:t>
            </a:r>
            <a:endParaRPr lang="en-US" sz="2000" dirty="0"/>
          </a:p>
        </p:txBody>
      </p:sp>
      <p:sp>
        <p:nvSpPr>
          <p:cNvPr id="28" name="Text 26"/>
          <p:cNvSpPr/>
          <p:nvPr/>
        </p:nvSpPr>
        <p:spPr>
          <a:xfrm>
            <a:off x="2606040" y="214884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Getting There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2670048" y="2514600"/>
            <a:ext cx="1746504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understand the idea but I make mistakes when I work.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2606040" y="3520440"/>
            <a:ext cx="1874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○ circle me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4709160" y="1371600"/>
            <a:ext cx="1965960" cy="2377440"/>
          </a:xfrm>
          <a:prstGeom prst="roundRect">
            <a:avLst>
              <a:gd name="adj" fmla="val 3721"/>
            </a:avLst>
          </a:prstGeom>
          <a:solidFill>
            <a:srgbClr val="DFF2EE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5436108" y="1508760"/>
            <a:ext cx="512064" cy="512064"/>
          </a:xfrm>
          <a:prstGeom prst="ellipse">
            <a:avLst/>
          </a:prstGeom>
          <a:solidFill>
            <a:srgbClr val="4F7A52"/>
          </a:solidFill>
          <a:ln/>
        </p:spPr>
      </p:sp>
      <p:sp>
        <p:nvSpPr>
          <p:cNvPr id="33" name="Text 31"/>
          <p:cNvSpPr/>
          <p:nvPr/>
        </p:nvSpPr>
        <p:spPr>
          <a:xfrm>
            <a:off x="5436108" y="150876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3</a:t>
            </a:r>
            <a:endParaRPr lang="en-US" sz="2000" dirty="0"/>
          </a:p>
        </p:txBody>
      </p:sp>
      <p:sp>
        <p:nvSpPr>
          <p:cNvPr id="34" name="Text 32"/>
          <p:cNvSpPr/>
          <p:nvPr/>
        </p:nvSpPr>
        <p:spPr>
          <a:xfrm>
            <a:off x="4754880" y="214884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Got It!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4818888" y="2514600"/>
            <a:ext cx="1746504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solve problems on my own and explain my thinking.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4754880" y="3520440"/>
            <a:ext cx="1874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○ circle me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6858000" y="1371600"/>
            <a:ext cx="1965960" cy="2377440"/>
          </a:xfrm>
          <a:prstGeom prst="roundRect">
            <a:avLst>
              <a:gd name="adj" fmla="val 3721"/>
            </a:avLst>
          </a:prstGeom>
          <a:solidFill>
            <a:srgbClr val="EAF2F1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7584948" y="1508760"/>
            <a:ext cx="512064" cy="512064"/>
          </a:xfrm>
          <a:prstGeom prst="ellipse">
            <a:avLst/>
          </a:prstGeom>
          <a:solidFill>
            <a:srgbClr val="4F7A52"/>
          </a:solidFill>
          <a:ln/>
        </p:spPr>
      </p:sp>
      <p:sp>
        <p:nvSpPr>
          <p:cNvPr id="39" name="Text 37"/>
          <p:cNvSpPr/>
          <p:nvPr/>
        </p:nvSpPr>
        <p:spPr>
          <a:xfrm>
            <a:off x="7584948" y="150876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4</a:t>
            </a:r>
            <a:endParaRPr lang="en-US" sz="2000" dirty="0"/>
          </a:p>
        </p:txBody>
      </p:sp>
      <p:sp>
        <p:nvSpPr>
          <p:cNvPr id="40" name="Text 38"/>
          <p:cNvSpPr/>
          <p:nvPr/>
        </p:nvSpPr>
        <p:spPr>
          <a:xfrm>
            <a:off x="6903720" y="214884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Can Teach It</a:t>
            </a:r>
            <a:endParaRPr lang="en-US" sz="1150" dirty="0"/>
          </a:p>
        </p:txBody>
      </p:sp>
      <p:sp>
        <p:nvSpPr>
          <p:cNvPr id="41" name="Text 39"/>
          <p:cNvSpPr/>
          <p:nvPr/>
        </p:nvSpPr>
        <p:spPr>
          <a:xfrm>
            <a:off x="6967728" y="2514600"/>
            <a:ext cx="1746504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clearly teach this strategy to a classmate.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6903720" y="3520440"/>
            <a:ext cx="1874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○ circle me</a:t>
            </a:r>
            <a:endParaRPr lang="en-US" sz="800" dirty="0"/>
          </a:p>
        </p:txBody>
      </p:sp>
      <p:sp>
        <p:nvSpPr>
          <p:cNvPr id="43" name="Shape 41"/>
          <p:cNvSpPr/>
          <p:nvPr/>
        </p:nvSpPr>
        <p:spPr>
          <a:xfrm>
            <a:off x="411480" y="3977640"/>
            <a:ext cx="8412480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44" name="Text 42"/>
          <p:cNvSpPr/>
          <p:nvPr/>
        </p:nvSpPr>
        <p:spPr>
          <a:xfrm>
            <a:off x="640080" y="3977640"/>
            <a:ext cx="79552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4F7A52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My next step:  </a:t>
            </a:r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To move up one level, I will ___.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Neft Teacher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Lesson 5-3-flagship: Area of Triangles</dc:title>
  <dc:subject>6.G.1</dc:subject>
  <dc:creator>Neft Teacher</dc:creator>
  <cp:lastModifiedBy>Neft Teacher</cp:lastModifiedBy>
  <cp:revision>1</cp:revision>
  <dcterms:created xsi:type="dcterms:W3CDTF">2026-06-08T12:10:58Z</dcterms:created>
  <dcterms:modified xsi:type="dcterms:W3CDTF">2026-06-08T12:10:58Z</dcterms:modified>
</cp:coreProperties>
</file>