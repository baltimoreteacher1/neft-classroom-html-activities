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3.xml" ContentType="application/vnd.openxmlformats-officedocument.presentationml.notesSlide+xml"/>
  <Override PartName="/ppt/notesSlides/notesSlide55.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4"/>
    <p:sldMasterId id="2147483684" r:id="rId5"/>
    <p:sldMasterId id="2147483685" r:id="rId6"/>
    <p:sldMasterId id="2147483686" r:id="rId7"/>
  </p:sldMasterIdLst>
  <p:notesMasterIdLst>
    <p:notesMasterId r:id="rId8"/>
  </p:notesMasterIdLst>
  <p:sldIdLst>
    <p:sldId id="259" r:id="rId12"/>
    <p:sldId id="270" r:id="rId23"/>
    <p:sldId id="271" r:id="rId24"/>
    <p:sldId id="256" r:id="rId9"/>
    <p:sldId id="257" r:id="rId10"/>
    <p:sldId id="260" r:id="rId13"/>
    <p:sldId id="332" r:id="rId73"/>
    <p:sldId id="331" r:id="rId32"/>
    <p:sldId id="330" r:id="rId52"/>
    <p:sldId id="329" r:id="rId51"/>
    <p:sldId id="328" r:id="rId50"/>
    <p:sldId id="327" r:id="rId35"/>
    <p:sldId id="326" r:id="rId48"/>
    <p:sldId id="325" r:id="rId38"/>
    <p:sldId id="324" r:id="rId46"/>
    <p:sldId id="261" r:id="rId14"/>
    <p:sldId id="273" r:id="rId26"/>
    <p:sldId id="276" r:id="rId29"/>
    <p:sldId id="336" r:id="rId77"/>
    <p:sldId id="280" r:id="rId33"/>
    <p:sldId id="281" r:id="rId34"/>
    <p:sldId id="283" r:id="rId36"/>
    <p:sldId id="284" r:id="rId37"/>
    <p:sldId id="287" r:id="rId40"/>
    <p:sldId id="288" r:id="rId41"/>
    <p:sldId id="337" r:id="rId78"/>
    <p:sldId id="333" r:id="rId74"/>
    <p:sldId id="323" r:id="rId45"/>
    <p:sldId id="322" r:id="rId44"/>
    <p:sldId id="318" r:id="rId71"/>
    <p:sldId id="338" r:id="rId79"/>
    <p:sldId id="319" r:id="rId72"/>
    <p:sldId id="289" r:id="rId42"/>
    <p:sldId id="294" r:id="rId47"/>
    <p:sldId id="339" r:id="rId80"/>
    <p:sldId id="296" r:id="rId49"/>
    <p:sldId id="300" r:id="rId53"/>
    <p:sldId id="301" r:id="rId54"/>
    <p:sldId id="303" r:id="rId56"/>
    <p:sldId id="304" r:id="rId57"/>
    <p:sldId id="306" r:id="rId59"/>
    <p:sldId id="340" r:id="rId81"/>
    <p:sldId id="308" r:id="rId61"/>
    <p:sldId id="310" r:id="rId63"/>
    <p:sldId id="312" r:id="rId65"/>
    <p:sldId id="313" r:id="rId66"/>
    <p:sldId id="314" r:id="rId67"/>
    <p:sldId id="341" r:id="rId82"/>
    <p:sldId id="334" r:id="rId75"/>
    <p:sldId id="315" r:id="rId68"/>
    <p:sldId id="316" r:id="rId69"/>
    <p:sldId id="317" r:id="rId70"/>
    <p:sldId id="321" r:id="rId43"/>
    <p:sldId id="320" r:id="rId39"/>
    <p:sldId id="335" r:id="rId76"/>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9" Type="http://schemas.openxmlformats.org/officeDocument/2006/relationships/slide" Target="slides/slide4.xml"/><Relationship Id="rId10" Type="http://schemas.openxmlformats.org/officeDocument/2006/relationships/slide" Target="slides/slide5.xml"/><Relationship Id="rId12" Type="http://schemas.openxmlformats.org/officeDocument/2006/relationships/slide" Target="slides/slide1.xml"/><Relationship Id="rId13" Type="http://schemas.openxmlformats.org/officeDocument/2006/relationships/slide" Target="slides/slide6.xml"/><Relationship Id="rId14" Type="http://schemas.openxmlformats.org/officeDocument/2006/relationships/slide" Target="slides/slide16.xml"/><Relationship Id="rId23" Type="http://schemas.openxmlformats.org/officeDocument/2006/relationships/slide" Target="slides/slide2.xml"/><Relationship Id="rId24" Type="http://schemas.openxmlformats.org/officeDocument/2006/relationships/slide" Target="slides/slide3.xml"/><Relationship Id="rId26" Type="http://schemas.openxmlformats.org/officeDocument/2006/relationships/slide" Target="slides/slide17.xml"/><Relationship Id="rId29" Type="http://schemas.openxmlformats.org/officeDocument/2006/relationships/slide" Target="slides/slide18.xml"/><Relationship Id="rId32" Type="http://schemas.openxmlformats.org/officeDocument/2006/relationships/slide" Target="slides/slide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12.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14.xml"/><Relationship Id="rId39" Type="http://schemas.openxmlformats.org/officeDocument/2006/relationships/slide" Target="slides/slide48.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30.xml"/><Relationship Id="rId43" Type="http://schemas.openxmlformats.org/officeDocument/2006/relationships/slide" Target="slides/slide47.xml"/><Relationship Id="rId44" Type="http://schemas.openxmlformats.org/officeDocument/2006/relationships/slide" Target="slides/slide27.xml"/><Relationship Id="rId45" Type="http://schemas.openxmlformats.org/officeDocument/2006/relationships/slide" Target="slides/slide26.xml"/><Relationship Id="rId46" Type="http://schemas.openxmlformats.org/officeDocument/2006/relationships/slide" Target="slides/slide15.xml"/><Relationship Id="rId47" Type="http://schemas.openxmlformats.org/officeDocument/2006/relationships/slide" Target="slides/slide31.xml"/><Relationship Id="rId48" Type="http://schemas.openxmlformats.org/officeDocument/2006/relationships/slide" Target="slides/slide13.xml"/><Relationship Id="rId49" Type="http://schemas.openxmlformats.org/officeDocument/2006/relationships/slide" Target="slides/slide32.xml"/><Relationship Id="rId50" Type="http://schemas.openxmlformats.org/officeDocument/2006/relationships/slide" Target="slides/slide11.xml"/><Relationship Id="rId51" Type="http://schemas.openxmlformats.org/officeDocument/2006/relationships/slide" Target="slides/slide10.xml"/><Relationship Id="rId52" Type="http://schemas.openxmlformats.org/officeDocument/2006/relationships/slide" Target="slides/slide9.xml"/><Relationship Id="rId53" Type="http://schemas.openxmlformats.org/officeDocument/2006/relationships/slide" Target="slides/slide33.xml"/><Relationship Id="rId54" Type="http://schemas.openxmlformats.org/officeDocument/2006/relationships/slide" Target="slides/slide34.xml"/><Relationship Id="rId56" Type="http://schemas.openxmlformats.org/officeDocument/2006/relationships/slide" Target="slides/slide35.xml"/><Relationship Id="rId57" Type="http://schemas.openxmlformats.org/officeDocument/2006/relationships/slide" Target="slides/slide36.xml"/><Relationship Id="rId59" Type="http://schemas.openxmlformats.org/officeDocument/2006/relationships/slide" Target="slides/slide37.xml"/><Relationship Id="rId61" Type="http://schemas.openxmlformats.org/officeDocument/2006/relationships/slide" Target="slides/slide38.xml"/><Relationship Id="rId63"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4.xml"/><Relationship Id="rId69" Type="http://schemas.openxmlformats.org/officeDocument/2006/relationships/slide" Target="slides/slide45.xml"/><Relationship Id="rId70" Type="http://schemas.openxmlformats.org/officeDocument/2006/relationships/slide" Target="slides/slide46.xml"/><Relationship Id="rId71" Type="http://schemas.openxmlformats.org/officeDocument/2006/relationships/slide" Target="slides/slide28.xml"/><Relationship Id="rId72" Type="http://schemas.openxmlformats.org/officeDocument/2006/relationships/slide" Target="slides/slide29.xml"/><Relationship Id="rId73" Type="http://schemas.openxmlformats.org/officeDocument/2006/relationships/slide" Target="slides/slide7.xml"/><Relationship Id="rId74" Type="http://schemas.openxmlformats.org/officeDocument/2006/relationships/slide" Target="slides/slide25.xml"/><Relationship Id="rId75" Type="http://schemas.openxmlformats.org/officeDocument/2006/relationships/slide" Target="slides/slide43.xml"/><Relationship Id="rId76" Type="http://schemas.openxmlformats.org/officeDocument/2006/relationships/slide" Target="slides/slide49.xml"/><Relationship Id="rId77" Type="http://schemas.openxmlformats.org/officeDocument/2006/relationships/slide" Target="slides/slide50.xml"/><Relationship Id="rId78" Type="http://schemas.openxmlformats.org/officeDocument/2006/relationships/slide" Target="slides/slide51.xml"/><Relationship Id="rId79" Type="http://schemas.openxmlformats.org/officeDocument/2006/relationships/slide" Target="slides/slide52.xml"/><Relationship Id="rId80" Type="http://schemas.openxmlformats.org/officeDocument/2006/relationships/slide" Target="slides/slide53.xml"/><Relationship Id="rId81" Type="http://schemas.openxmlformats.org/officeDocument/2006/relationships/slide" Target="slides/slide54.xml"/><Relationship Id="rId8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4 | DIVIDER</a:t>
            </a:r>
          </a:p>
          <a:p xmlns:a="http://schemas.openxmlformats.org/drawingml/2006/main">
            <a:pPr>
              <a:buNone/>
            </a:pPr>
            <a:r>
              <a:rPr lang="en-US" sz="1100"/>
              <a:t>Focus on the existing task: Compare and Order Integers and Rational Numbers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5 | WORKED</a:t>
            </a:r>
          </a:p>
          <a:p xmlns:a="http://schemas.openxmlformats.org/drawingml/2006/main">
            <a:pPr>
              <a:buNone/>
            </a:pPr>
            <a:r>
              <a:rPr lang="en-US" sz="1100"/>
              <a:t>Focus on the existing task: About, Between, or Exact It is about ___. It is between ___ and ____. It is exactly ___.</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1 | WARMUP</a:t>
            </a:r>
          </a:p>
          <a:p xmlns:a="http://schemas.openxmlformats.org/drawingml/2006/main">
            <a:pPr>
              <a:buNone/>
            </a:pPr>
            <a:r>
              <a:rPr lang="en-US" sz="1100"/>
              <a:t>Focus on the existing task: Warm-Up WARM-UP · THINK • TRY • CHECK Do…</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&gt;   2) −6   3) &gt;   4) &lt;</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compare rational numbers by position; use inequality signs correctly; distinguish value from magnitude. Review recent work and today’s warm-up to choose flexible groups and access supports; do not infer needs from identity or perceived ability. Use the existing lesson tasks and stated standards.</a:t>
            </a:r>
          </a:p>
          <a:p>
            <a:pPr>
              <a:buNone/>
            </a:pPr>
            <a:r>
              <a:rPr lang="en-US" sz="1100"/>
              <a:t>Anticipate: assuming a negative number with larger absolute value is greater. If observed, plot the original values on one consistently scaled number line.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6" name="Google Shape;256;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6 | GOAL</a:t>
            </a:r>
          </a:p>
          <a:p xmlns:a="http://schemas.openxmlformats.org/drawingml/2006/main">
            <a:pPr>
              <a:buNone/>
            </a:pPr>
            <a:r>
              <a:rPr lang="en-US" sz="1100"/>
              <a:t>Focus on the existing task: Today’s Objectives Compare and Order…</a:t>
            </a:r>
          </a:p>
          <a:p xmlns:a="http://schemas.openxmlformats.org/drawingml/2006/main">
            <a:pPr>
              <a:buNone/>
            </a:pPr>
            <a:r>
              <a:rPr lang="en-US" sz="1100"/>
              <a:t>CONNECT (T1/4): Ask students to restate the displayed goal or key idea and connect it to earlier work. Relevant lesson evidence: compare rational numbers by position; use inequality signs correctly; distinguish value from magnitude.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compare rational numbers by position; use inequality signs correctly; distinguish value from magnitude. Ask: “Which part of your work would show this?” Revisit that evidence after the task; a confidence rating alone is not evidence of understanding.</a:t>
            </a:r>
          </a:p>
        </p:txBody>
      </p:sp>
      <p:sp>
        <p:nvSpPr>
          <p:cNvPr id="316" name="Google Shape;316;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16 | VOCAB</a:t>
            </a:r>
          </a:p>
          <a:p xmlns:a="http://schemas.openxmlformats.org/drawingml/2006/main">
            <a:pPr>
              <a:buNone/>
            </a:pPr>
            <a:r>
              <a:rPr lang="en-US" sz="1100"/>
              <a:t>Focus on the existing task: Vocabulary Today’s Math Words We learn…</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38" name="Google Shape;338;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2 | NOTES</a:t>
            </a:r>
          </a:p>
          <a:p xmlns:a="http://schemas.openxmlformats.org/drawingml/2006/main">
            <a:pPr>
              <a:buNone/>
            </a:pPr>
            <a:r>
              <a:rPr lang="en-US" sz="1100"/>
              <a:t>Focus on the existing task: Today’s Math Notes Section 1: Math Words…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24" name="Google Shape;524;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1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3 | NOTES</a:t>
            </a:r>
          </a:p>
          <a:p xmlns:a="http://schemas.openxmlformats.org/drawingml/2006/main">
            <a:pPr>
              <a:buNone/>
            </a:pPr>
            <a:r>
              <a:rPr lang="en-US" sz="1100"/>
              <a:t>Focus on the existing task: Today’s Math Notes Section 2: Today’s Math…</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52" name="Google Shape;552;p1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1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17 | CURIOUS</a:t>
            </a:r>
          </a:p>
          <a:p xmlns:a="http://schemas.openxmlformats.org/drawingml/2006/main">
            <a:pPr>
              <a:buNone/>
            </a:pPr>
            <a:r>
              <a:rPr lang="en-US" sz="1100"/>
              <a:t>Focus on the existing task: Be Curious How are they the same?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90" name="Google Shape;590;p1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2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18 | REVEAL</a:t>
            </a:r>
          </a:p>
          <a:p xmlns:a="http://schemas.openxmlformats.org/drawingml/2006/main">
            <a:pPr>
              <a:buNone/>
            </a:pPr>
            <a:r>
              <a:rPr lang="en-US" sz="1100"/>
              <a:t>Focus on the existing task: How can you compare the data for Game 1?</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plot each score on a number line.</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“Which number lies farther right, and how is that different from being farther from zero?” Wait for evidence, invite another pathway, and have a student ask a follow-up question. Do not replace students’ reasoning with a sequence of leading steps.</a:t>
            </a:r>
          </a:p>
        </p:txBody>
      </p:sp>
      <p:sp>
        <p:nvSpPr>
          <p:cNvPr id="620" name="Google Shape;620;p2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2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19 | REVEAL</a:t>
            </a:r>
          </a:p>
          <a:p xmlns:a="http://schemas.openxmlformats.org/drawingml/2006/main">
            <a:pPr>
              <a:buNone/>
            </a:pPr>
            <a:r>
              <a:rPr lang="en-US" sz="1100"/>
              <a:t>Focus on the existing task: Game 1 How can you use the number line to determine the greater value?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compare the location of the values on the number line. The number on the right has a greater value.</a:t>
            </a:r>
          </a:p>
          <a:p>
            <a:pPr indent="0" lvl="0" marL="0" rtl="0" algn="l">
              <a:lnSpc>
                <a:spcPct val="100000"/>
              </a:lnSpc>
              <a:spcBef>
                <a:spcPts val="0"/>
              </a:spcBef>
              <a:spcAft>
                <a:spcPts val="0"/>
              </a:spcAft>
              <a:buSzPts val="1400"/>
              <a:buNone/>
            </a:pPr>
            <a:r>
              <a:t>UIFR: TEACH 3 · TEACH 4.</a:t>
            </a:r>
          </a:p>
        </p:txBody>
      </p:sp>
      <p:sp>
        <p:nvSpPr>
          <p:cNvPr id="663" name="Google Shape;663;p2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2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20 | WORKED</a:t>
            </a:r>
          </a:p>
          <a:p xmlns:a="http://schemas.openxmlformats.org/drawingml/2006/main">
            <a:pPr>
              <a:buNone/>
            </a:pPr>
            <a:r>
              <a:rPr lang="en-US" sz="1100"/>
              <a:t>Focus on the existing task: Game 1 2 is to the right of −1 on the number line. Lucy’s score was greater. Trivia Game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74" name="Google Shape;674;p2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2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9" name="Google Shape;699;p2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21 | COLLABORATE</a:t>
            </a:r>
          </a:p>
          <a:p xmlns:a="http://schemas.openxmlformats.org/drawingml/2006/main">
            <a:pPr>
              <a:buNone/>
            </a:pPr>
            <a:r>
              <a:rPr lang="en-US" sz="1100"/>
              <a:t>Focus on the existing task: Collaborate and Connect Reveal: Lucy had the greater score in Game 2. Game 2 Use a number line to compare the values. Who had the greater score in Game 2?</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assuming a negative number with larger absolute value is greater. If it appears, plot the original values on one consistently scaled number line; then ask the student to revise the same response and explain the change. If evidence is secure, have students compare a second valid pathway or state why their approach works. Choose the next step from the responses, not a preset pace.</a:t>
            </a:r>
          </a:p>
        </p:txBody>
      </p:sp>
      <p:sp>
        <p:nvSpPr>
          <p:cNvPr id="700" name="Google Shape;700;p28: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2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22 | WORKED</a:t>
            </a:r>
          </a:p>
          <a:p xmlns:a="http://schemas.openxmlformats.org/drawingml/2006/main">
            <a:pPr>
              <a:buNone/>
            </a:pPr>
            <a:r>
              <a:rPr lang="en-US" sz="1100"/>
              <a:t>Focus on the existing task: Game 2 −0.5 is to the right of −0.75 on the number line. Lucy’s score was greater. Trivia Game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14" name="Google Shape;714;p2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3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23 | TASK</a:t>
            </a:r>
          </a:p>
          <a:p xmlns:a="http://schemas.openxmlformats.org/drawingml/2006/main">
            <a:pPr>
              <a:buNone/>
            </a:pPr>
            <a:r>
              <a:rPr lang="en-US" sz="1100"/>
              <a:t>Focus on the existing task: How can you represent the relationships between quantities?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46" name="Google Shape;746;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3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24 | PRACTICE</a:t>
            </a:r>
          </a:p>
          <a:p xmlns:a="http://schemas.openxmlformats.org/drawingml/2006/main">
            <a:pPr>
              <a:buNone/>
            </a:pPr>
            <a:r>
              <a:rPr lang="en-US" sz="1100"/>
              <a:t>Focus on the existing task: Let’s Explore More What is another way to write inequalities to compare the scores of each game?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759" name="Google Shape;759;p3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3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30 | DIVIDER</a:t>
            </a:r>
          </a:p>
          <a:p xmlns:a="http://schemas.openxmlformats.org/drawingml/2006/main">
            <a:pPr>
              <a:buNone/>
            </a:pPr>
            <a:r>
              <a:rPr lang="en-US" sz="1100"/>
              <a:t>Focus on the existing task: Compare and Order Integers and Rational Numbers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772" name="Google Shape;772;p3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3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31 | REVEAL</a:t>
            </a:r>
          </a:p>
          <a:p xmlns:a="http://schemas.openxmlformats.org/drawingml/2006/main">
            <a:pPr>
              <a:buNone/>
            </a:pPr>
            <a:r>
              <a:rPr lang="en-US" sz="1100"/>
              <a:t>Focus on the existing task: The diagram shows the depths of three Great Lakes. What statements can you make about the relationship among the three lakes?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depths are all represented by negative values because they are all below the surface.</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“Which number lies farther right, and how is that different from being farther from zero?” Wait for evidence, invite another pathway, and have a student ask a follow-up question. Do not replace students’ reasoning with a sequence of leading steps.</a:t>
            </a:r>
          </a:p>
        </p:txBody>
      </p:sp>
      <p:sp>
        <p:nvSpPr>
          <p:cNvPr id="821" name="Google Shape;821;p3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4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32 | REVEAL</a:t>
            </a:r>
          </a:p>
          <a:p xmlns:a="http://schemas.openxmlformats.org/drawingml/2006/main">
            <a:pPr>
              <a:buNone/>
            </a:pPr>
            <a:r>
              <a:rPr lang="en-US" sz="1100"/>
              <a:t>Focus on the existing task: The diagram shows the depths of three Great Lakes. What statements can you make about the relationship among the three lakes?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One tool is a number line.</a:t>
            </a:r>
          </a:p>
          <a:p>
            <a:pPr indent="0" lvl="0" marL="0" rtl="0" algn="l">
              <a:lnSpc>
                <a:spcPct val="100000"/>
              </a:lnSpc>
              <a:spcBef>
                <a:spcPts val="0"/>
              </a:spcBef>
              <a:spcAft>
                <a:spcPts val="0"/>
              </a:spcAft>
              <a:buSzPts val="1400"/>
              <a:buNone/>
            </a:pPr>
            <a:r>
              <a:t>UIFR: TEACH 3 · TEACH 4.</a:t>
            </a:r>
          </a:p>
        </p:txBody>
      </p:sp>
      <p:sp>
        <p:nvSpPr>
          <p:cNvPr id="841" name="Google Shape;841;p4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4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33 | TASK</a:t>
            </a:r>
          </a:p>
          <a:p xmlns:a="http://schemas.openxmlformats.org/drawingml/2006/main">
            <a:pPr>
              <a:buNone/>
            </a:pPr>
            <a:r>
              <a:rPr lang="en-US" sz="1100"/>
              <a:t>Focus on the existing task: We can compare the numbers on a number line. What happens to the values as you move farther down on a vertical number line?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881" name="Google Shape;881;p4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34 | WORKED</a:t>
            </a:r>
          </a:p>
          <a:p xmlns:a="http://schemas.openxmlformats.org/drawingml/2006/main">
            <a:pPr>
              <a:buNone/>
            </a:pPr>
            <a:r>
              <a:rPr lang="en-US" sz="1100"/>
              <a:t>Focus on the existing task: The values get lesser and lesser as you move farther down on a vertical number line. −1,333 is the farthest down on the number line. It is…</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91" name="Google Shape;891;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4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35 | TASK</a:t>
            </a:r>
          </a:p>
          <a:p xmlns:a="http://schemas.openxmlformats.org/drawingml/2006/main">
            <a:pPr>
              <a:buNone/>
            </a:pPr>
            <a:r>
              <a:rPr lang="en-US" sz="1100"/>
              <a:t>Focus on the existing task: How can you write mathematical statements to compare the values?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11" name="Google Shape;911;p4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36 | WORKED</a:t>
            </a:r>
          </a:p>
          <a:p xmlns:a="http://schemas.openxmlformats.org/drawingml/2006/main">
            <a:pPr>
              <a:buNone/>
            </a:pPr>
            <a:r>
              <a:rPr lang="en-US" sz="1100"/>
              <a:t>Focus on the existing task: Let’s write mathematical statements to compare the numbers. −1,333 is the least of the three numbers. −210 is the greatest of the three…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20" name="Google Shape;920;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5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37 | REVEAL</a:t>
            </a:r>
          </a:p>
          <a:p xmlns:a="http://schemas.openxmlformats.org/drawingml/2006/main">
            <a:pPr>
              <a:buNone/>
            </a:pPr>
            <a:r>
              <a:rPr lang="en-US" sz="1100"/>
              <a:t>Focus on the existing task: Let’s look at another way to compare the numbers. As the negative numbers decrease in value, what do you notice about their distances from 0?</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As the negative numbers decrease in value, they get farther and farther away from 0. This means that as the value of the negative numbers decreases, the absolute value increases.</a:t>
            </a:r>
          </a:p>
          <a:p>
            <a:pPr indent="0" lvl="0" marL="0" rtl="0" algn="l">
              <a:lnSpc>
                <a:spcPct val="100000"/>
              </a:lnSpc>
              <a:spcBef>
                <a:spcPts val="0"/>
              </a:spcBef>
              <a:spcAft>
                <a:spcPts val="0"/>
              </a:spcAft>
              <a:buSzPts val="1400"/>
              <a:buNone/>
            </a:pPr>
            <a:r>
              <a:t>UIFR: TEACH 3 · TEACH 4.</a:t>
            </a:r>
          </a:p>
        </p:txBody>
      </p:sp>
      <p:sp>
        <p:nvSpPr>
          <p:cNvPr id="942" name="Google Shape;942;p5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4" name="Google Shape;964;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38 | COLLABORATE</a:t>
            </a:r>
          </a:p>
          <a:p xmlns:a="http://schemas.openxmlformats.org/drawingml/2006/main">
            <a:pPr>
              <a:buNone/>
            </a:pPr>
            <a:r>
              <a:rPr lang="en-US" sz="1100"/>
              <a:t>Focus on the existing task: Collaborate and Connect As the value of the negative numbers decreases, the absolute value of the negative numbers increases. How do the absolute values of the numbers compare?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assuming a negative number with larger absolute value is greater. If it appears, plot the original values on one consistently scaled number line; then ask the student to revise the same response and explain the change. If evidence is secure, have students compare a second valid pathway or state why their approach works. Choose the next step from the responses, not a preset pace.</a:t>
            </a:r>
          </a:p>
        </p:txBody>
      </p:sp>
      <p:sp>
        <p:nvSpPr>
          <p:cNvPr id="965" name="Google Shape;965;p53: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39 | TASK</a:t>
            </a:r>
          </a:p>
          <a:p xmlns:a="http://schemas.openxmlformats.org/drawingml/2006/main">
            <a:pPr>
              <a:buNone/>
            </a:pPr>
            <a:r>
              <a:rPr lang="en-US" sz="1100"/>
              <a:t>Focus on the existing task: We can compare the absolute values of the numbers. −1,333 is the greatest distance from 0. It has the greatest absolute value of the…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91" name="Google Shape;991;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40 | REVEAL</a:t>
            </a:r>
          </a:p>
          <a:p xmlns:a="http://schemas.openxmlformats.org/drawingml/2006/main">
            <a:pPr>
              <a:buNone/>
            </a:pPr>
            <a:r>
              <a:rPr lang="en-US" sz="1100"/>
              <a:t>Focus on the existing task: We can compare the numbers or their absolute values. How can you use the comparisons to make statements about the relationship among the depths of the three lakes?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state the order of the lakes from deepest to shallowest.</a:t>
            </a:r>
          </a:p>
          <a:p>
            <a:pPr indent="0" lvl="0" marL="0" rtl="0" algn="l">
              <a:lnSpc>
                <a:spcPct val="100000"/>
              </a:lnSpc>
              <a:spcBef>
                <a:spcPts val="0"/>
              </a:spcBef>
              <a:spcAft>
                <a:spcPts val="0"/>
              </a:spcAft>
              <a:buSzPts val="1400"/>
              <a:buNone/>
            </a:pPr>
            <a:r>
              <a:t>UIFR: TEACH 3 · TEACH 4.</a:t>
            </a:r>
          </a:p>
        </p:txBody>
      </p:sp>
      <p:sp>
        <p:nvSpPr>
          <p:cNvPr id="1019" name="Google Shape;1019;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5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41 | TASK</a:t>
            </a:r>
          </a:p>
          <a:p xmlns:a="http://schemas.openxmlformats.org/drawingml/2006/main">
            <a:pPr>
              <a:buNone/>
            </a:pPr>
            <a:r>
              <a:rPr lang="en-US" sz="1100"/>
              <a:t>Focus on the existing task: The diagram shows the depths of three Great Lakes. What statements can you make about the relationship among the three lakes?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1031" name="Google Shape;1031;p5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p5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42 | PRACTICE</a:t>
            </a:r>
          </a:p>
          <a:p xmlns:a="http://schemas.openxmlformats.org/drawingml/2006/main">
            <a:pPr>
              <a:buNone/>
            </a:pPr>
            <a:r>
              <a:rPr lang="en-US" sz="1100"/>
              <a:t>Focus on the existing task: Let’s Explore More Some words, like depth, imply a negative value. What other words imply the sign of the number?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1042" name="Google Shape;1042;p5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6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44 | SUMMARIZE</a:t>
            </a:r>
          </a:p>
          <a:p xmlns:a="http://schemas.openxmlformats.org/drawingml/2006/main">
            <a:pPr>
              <a:buNone/>
            </a:pPr>
            <a:r>
              <a:rPr lang="en-US" sz="1100"/>
              <a:t>Focus on the existing task: Summarize: Compare and Order Integers and Rational Numbers You can use number lines to compare and order integers and rational numbers.…</a:t>
            </a:r>
          </a:p>
          <a:p xmlns:a="http://schemas.openxmlformats.org/drawingml/2006/main">
            <a:pPr>
              <a:buNone/>
            </a:pPr>
            <a:r>
              <a:rPr lang="en-US" sz="1100"/>
              <a:t>CONNECT (T1/4): Ask students to restate the displayed goal or key idea and connect it to earlier work. Relevant lesson evidence: compare rational numbers by position; use inequality signs correctly; distinguish value from magnitude.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054" name="Google Shape;1054;p6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p6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45 | APPLY</a:t>
            </a:r>
          </a:p>
          <a:p xmlns:a="http://schemas.openxmlformats.org/drawingml/2006/main">
            <a:pPr>
              <a:buNone/>
            </a:pPr>
            <a:r>
              <a:rPr lang="en-US" sz="1100"/>
              <a:t>Focus on the existing task: Apply: A Game of Golf Golf Scores are measured as over or under par. Par is the number of golf strokes considered necessary to get the…</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compare rational numbers by position; use inequality signs correctly; distinguish value from magnitude. Respond with one specific next step tied to the work. Students revise and annotate what changed, then identify a criterion they can now demonstrate and one they still need to practice.</a:t>
            </a:r>
          </a:p>
        </p:txBody>
      </p:sp>
      <p:sp>
        <p:nvSpPr>
          <p:cNvPr id="1064" name="Google Shape;1064;p6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p6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7.4, slide 46 | REFLECTION</a:t>
            </a:r>
          </a:p>
          <a:p xmlns:a="http://schemas.openxmlformats.org/drawingml/2006/main">
            <a:pPr>
              <a:buNone/>
            </a:pPr>
            <a:r>
              <a:rPr lang="en-US" sz="1100"/>
              <a:t>Focus on the existing task: Learning Targets I can use number lines to interpret statements of inequality of two rational numbers. I can attend to precision to write…</a:t>
            </a:r>
          </a:p>
          <a:p xmlns:a="http://schemas.openxmlformats.org/drawingml/2006/main">
            <a:pPr>
              <a:buNone/>
            </a:pPr>
            <a:r>
              <a:rPr lang="en-US" sz="1100"/>
              <a:t>CONNECT (T1/4): Ask students to restate the displayed goal or key idea and connect it to earlier work. Relevant lesson evidence: compare rational numbers by position; use inequality signs correctly; distinguish value from magnitude.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1073" name="Google Shape;1073;p6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7.4, slide 28 | WARMUP</a:t>
            </a:r>
          </a:p>
          <a:p xmlns:a="http://schemas.openxmlformats.org/drawingml/2006/main">
            <a:pPr>
              <a:buNone/>
            </a:pPr>
            <a:r>
              <a:rPr lang="en-US" sz="1100"/>
              <a:t>Focus on the existing task: A −7 &gt; −3 B −7 &lt; −3 C −3 &lt; −7 D −7 = 7 2 Order from least to greatest: −5, 2, −1, 0: A 2, 0, −1, −5 B −5, −1, 0, 2 C 0, −1, 2, −5 D −1, −5, 0, 2 3 Which temperature is coldest?</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compare rational numbers by position; use inequality signs correctly; distinguish value from magnitude. Ask: “Which part of your work would show this?” Revisit that evidence after the task; a confidence rating alone is not evidence of understanding.</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7.4, slide 29 | NOTES</a:t>
            </a:r>
          </a:p>
          <a:p xmlns:a="http://schemas.openxmlformats.org/drawingml/2006/main">
            <a:pPr>
              <a:buNone/>
            </a:pPr>
            <a:r>
              <a:rPr lang="en-US" sz="1100"/>
              <a:t>Focus on the existing task: Today’s Math Notes Review Notes — Session 2…</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7.4, slide 48 | REFLECTION</a:t>
            </a:r>
          </a:p>
          <a:p xmlns:a="http://schemas.openxmlformats.org/drawingml/2006/main">
            <a:pPr>
              <a:buNone/>
            </a:pPr>
            <a:r>
              <a:rPr lang="en-US" sz="1100"/>
              <a:t>Focus on the existing task: Learning Targets I can use number lines to interpret statements of inequality of two rational numbers. I can attend to precision to write…</a:t>
            </a:r>
          </a:p>
          <a:p xmlns:a="http://schemas.openxmlformats.org/drawingml/2006/main">
            <a:pPr>
              <a:buNone/>
            </a:pPr>
            <a:r>
              <a:rPr lang="en-US" sz="1100"/>
              <a:t>CONNECT (T1/4): Ask students to restate the displayed goal or key idea and connect it to earlier work. Relevant lesson evidence: compare rational numbers by position; use inequality signs correctly; distinguish value from magnitude.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assuming a negative number with larger absolute value is greater.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plot the original values on one consistently scaled number line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7.4, slide 7 | PRIOR_INSERT</a:t>
            </a:r>
          </a:p>
          <a:p xmlns:a="http://schemas.openxmlformats.org/drawingml/2006/main">
            <a:pPr>
              <a:buNone/>
            </a:pPr>
            <a:r>
              <a:rPr lang="en-US" sz="1100"/>
              <a:t>Focus on the existing task: LESSON 7.4 / OUR LEARNING What will show your learning?</a:t>
            </a:r>
          </a:p>
          <a:p xmlns:a="http://schemas.openxmlformats.org/drawingml/2006/main">
            <a:pPr>
              <a:buNone/>
            </a:pPr>
            <a:r>
              <a:rPr lang="en-US" sz="1100"/>
              <a:t>CONNECT (T1/4): Ask students to restate the displayed goal or key idea and connect it to earlier work. Relevant lesson evidence: compare rational numbers by position; use inequality signs correctly; distinguish value from magnitude.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7.4, slide 8 | VOCAB</a:t>
            </a:r>
          </a:p>
          <a:p xmlns:a="http://schemas.openxmlformats.org/drawingml/2006/main">
            <a:pPr>
              <a:buNone/>
            </a:pPr>
            <a:r>
              <a:rPr lang="en-US" sz="1100"/>
              <a:t>Focus on the existing task: Vocabulary 1 of 8 Compare and Order…</a:t>
            </a:r>
          </a:p>
          <a:p xmlns:a="http://schemas.openxmlformats.org/drawingml/2006/main">
            <a:pPr>
              <a:buNone/>
            </a:pPr>
            <a:r>
              <a:rPr lang="en-US" sz="1100"/>
              <a:t>ASK (T1/3/5): Where does “Compare and Order Integers”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7.4, slide 9 | VOCAB</a:t>
            </a:r>
          </a:p>
          <a:p xmlns:a="http://schemas.openxmlformats.org/drawingml/2006/main">
            <a:pPr>
              <a:buNone/>
            </a:pPr>
            <a:r>
              <a:rPr lang="en-US" sz="1100"/>
              <a:t>Focus on the existing task: Vocabulary 2 of 8 Number line A straight…</a:t>
            </a:r>
          </a:p>
          <a:p xmlns:a="http://schemas.openxmlformats.org/drawingml/2006/main">
            <a:pPr>
              <a:buNone/>
            </a:pPr>
            <a:r>
              <a:rPr lang="en-US" sz="1100"/>
              <a:t>ASK (T1/3/5): Where does “Number line”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7.4, slide 10 | VOCAB</a:t>
            </a:r>
          </a:p>
          <a:p xmlns:a="http://schemas.openxmlformats.org/drawingml/2006/main">
            <a:pPr>
              <a:buNone/>
            </a:pPr>
            <a:r>
              <a:rPr lang="en-US" sz="1100"/>
              <a:t>Focus on the existing task: Vocabulary 3 of 8 Compare To see if a…</a:t>
            </a:r>
          </a:p>
          <a:p xmlns:a="http://schemas.openxmlformats.org/drawingml/2006/main">
            <a:pPr>
              <a:buNone/>
            </a:pPr>
            <a:r>
              <a:rPr lang="en-US" sz="1100"/>
              <a:t>ASK (T1/3/5): Where does “Compare”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7.4, slide 11 | VOCAB</a:t>
            </a:r>
          </a:p>
          <a:p xmlns:a="http://schemas.openxmlformats.org/drawingml/2006/main">
            <a:pPr>
              <a:buNone/>
            </a:pPr>
            <a:r>
              <a:rPr lang="en-US" sz="1100"/>
              <a:t>Focus on the existing task: Vocabulary 4 of 8 Order To arrange numbers…</a:t>
            </a:r>
          </a:p>
          <a:p xmlns:a="http://schemas.openxmlformats.org/drawingml/2006/main">
            <a:pPr>
              <a:buNone/>
            </a:pPr>
            <a:r>
              <a:rPr lang="en-US" sz="1100"/>
              <a:t>ASK (T1/3/5): Where does “Order”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7.4, slide 12 | VOCAB</a:t>
            </a:r>
          </a:p>
          <a:p xmlns:a="http://schemas.openxmlformats.org/drawingml/2006/main">
            <a:pPr>
              <a:buNone/>
            </a:pPr>
            <a:r>
              <a:rPr lang="en-US" sz="1100"/>
              <a:t>Focus on the existing task: Vocabulary 5 of 8 Greater than The &gt; sign…</a:t>
            </a:r>
          </a:p>
          <a:p xmlns:a="http://schemas.openxmlformats.org/drawingml/2006/main">
            <a:pPr>
              <a:buNone/>
            </a:pPr>
            <a:r>
              <a:rPr lang="en-US" sz="1100"/>
              <a:t>ASK (T1/3/5): Where does “Greater than”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7.4, slide 13 | VOCAB</a:t>
            </a:r>
          </a:p>
          <a:p xmlns:a="http://schemas.openxmlformats.org/drawingml/2006/main">
            <a:pPr>
              <a:buNone/>
            </a:pPr>
            <a:r>
              <a:rPr lang="en-US" sz="1100"/>
              <a:t>Focus on the existing task: Vocabulary 6 of 8 Less than The &lt; sign…</a:t>
            </a:r>
          </a:p>
          <a:p xmlns:a="http://schemas.openxmlformats.org/drawingml/2006/main">
            <a:pPr>
              <a:buNone/>
            </a:pPr>
            <a:r>
              <a:rPr lang="en-US" sz="1100"/>
              <a:t>ASK (T1/3/5): Where does “Less than”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7.4, slide 14 | VOCAB</a:t>
            </a:r>
          </a:p>
          <a:p xmlns:a="http://schemas.openxmlformats.org/drawingml/2006/main">
            <a:pPr>
              <a:buNone/>
            </a:pPr>
            <a:r>
              <a:rPr lang="en-US" sz="1100"/>
              <a:t>Focus on the existing task: Vocabulary 7 of 8 Negative integer A whole…</a:t>
            </a:r>
          </a:p>
          <a:p xmlns:a="http://schemas.openxmlformats.org/drawingml/2006/main">
            <a:pPr>
              <a:buNone/>
            </a:pPr>
            <a:r>
              <a:rPr lang="en-US" sz="1100"/>
              <a:t>ASK (T1/3/5): Where does “Negative integer”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7.4, slide 15 | VOCAB</a:t>
            </a:r>
          </a:p>
          <a:p xmlns:a="http://schemas.openxmlformats.org/drawingml/2006/main">
            <a:pPr>
              <a:buNone/>
            </a:pPr>
            <a:r>
              <a:rPr lang="en-US" sz="1100"/>
              <a:t>Focus on the existing task: Vocabulary 8 of 8 Integer Whole numbers…</a:t>
            </a:r>
          </a:p>
          <a:p xmlns:a="http://schemas.openxmlformats.org/drawingml/2006/main">
            <a:pPr>
              <a:buNone/>
            </a:pPr>
            <a:r>
              <a:rPr lang="en-US" sz="1100"/>
              <a:t>ASK (T1/3/5): Where does “Integer”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7.4, slide 25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compare rational numbers by position; use inequality signs correctly; distinguish value from magnitude.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7.4, slide 26 | REVEAL</a:t>
            </a:r>
          </a:p>
          <a:p xmlns:a="http://schemas.openxmlformats.org/drawingml/2006/main">
            <a:pPr>
              <a:buNone/>
            </a:pPr>
            <a:r>
              <a:rPr lang="en-US" sz="1100"/>
              <a:t>Focus on the existing task: Game 1 How can you use the number line to determine the greater value?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7.4, slide 27 | COLLABORATE</a:t>
            </a:r>
          </a:p>
          <a:p xmlns:a="http://schemas.openxmlformats.org/drawingml/2006/main">
            <a:pPr>
              <a:buNone/>
            </a:pPr>
            <a:r>
              <a:rPr lang="en-US" sz="1100"/>
              <a:t>Focus on the existing task: Collaborate and Connect Reveal: Lucy had the greater score in Game 2. Game 2 Use a number line to compare the values. Who had the greater score in Game 2?</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7.4, slide 43 | PRIOR_INSERT</a:t>
            </a:r>
          </a:p>
          <a:p xmlns:a="http://schemas.openxmlformats.org/drawingml/2006/main">
            <a:pPr>
              <a:buNone/>
            </a:pPr>
            <a:r>
              <a:rPr lang="en-US" sz="1100"/>
              <a:t>Focus on the existing task: LESSON 7.4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compare rational numbers by position; use inequality signs correctly; distinguish value from magnitude.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7.4, slide 47 | CURIOUS</a:t>
            </a:r>
          </a:p>
          <a:p xmlns:a="http://schemas.openxmlformats.org/drawingml/2006/main">
            <a:pPr>
              <a:buNone/>
            </a:pPr>
            <a:r>
              <a:rPr lang="en-US" sz="1100"/>
              <a:t>Focus on the existing task: Be Curious Be Curious What could the question be?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compare rational numbers by position. Ask which feature of their work supports the claim.</a:t>
            </a:r>
          </a:p>
          <a:p xmlns:a="http://schemas.openxmlformats.org/drawingml/2006/main">
            <a:pPr>
              <a:buNone/>
            </a:pPr>
            <a:r>
              <a:rPr lang="en-US" sz="1100"/>
              <a:t>RESPOND: If this task shows the lesson misconception—assuming a negative number with larger absolute value is greater—plot the original values on one consistently scaled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7.4, slide 49 | PRIOR_INSERT</a:t>
            </a:r>
          </a:p>
          <a:p xmlns:a="http://schemas.openxmlformats.org/drawingml/2006/main">
            <a:pPr>
              <a:buNone/>
            </a:pPr>
            <a:r>
              <a:rPr lang="en-US" sz="1100"/>
              <a:t>Focus on the existing task: LESSON 7.4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compare rational numbers by position; use inequality signs correctly; distinguish value from magnitude.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9" name="Google Shape;2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3" name="Google Shape;33;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Google Shape;34;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5" name="Google Shape;35;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6" name="Google Shape;36;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9" name="Google Shape;39;p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40" name="Google Shape;40;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1" name="Google Shape;41;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 name="Google Shape;45;p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6" name="Google Shape;46;p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 name="Google Shape;47;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8" name="Google Shape;48;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9" name="Google Shape;49;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10"/>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1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3" name="Google Shape;53;p1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4" name="Google Shape;54;p1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5" name="Google Shape;55;p1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6" name="Google Shape;56;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7" name="Google Shape;57;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1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5.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Compare and Order Integers and Rational Numbers</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Compare and Order Integers and Rational Numbers</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 xml:space="preserve">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6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6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7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7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7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7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21.png"/><Relationship Id="rId5" Type="http://schemas.openxmlformats.org/officeDocument/2006/relationships/image" Target="../media/image19.png"/><Relationship Id="rId6"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20.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17.png"/><Relationship Id="rId4" Type="http://schemas.openxmlformats.org/officeDocument/2006/relationships/image" Target="../media/image22.png"/><Relationship Id="rId5"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notesSlide" Target="../notesSlides/notesSlide7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 Id="rId3" Type="http://schemas.openxmlformats.org/officeDocument/2006/relationships/image" Target="../media/image21.png"/><Relationship Id="rId4" Type="http://schemas.openxmlformats.org/officeDocument/2006/relationships/image" Target="../media/image19.png"/><Relationship Id="rId5" Type="http://schemas.openxmlformats.org/officeDocument/2006/relationships/image" Target="../media/image17.png"/><Relationship Id="rId6" Type="http://schemas.openxmlformats.org/officeDocument/2006/relationships/notesSlide" Target="../notesSlides/notesSlide7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8.png"/><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9.png"/><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16.png"/><Relationship Id="rId4" Type="http://schemas.openxmlformats.org/officeDocument/2006/relationships/image" Target="../media/image30.png"/><Relationship Id="rId5"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9.png"/><Relationship Id="rId4" Type="http://schemas.openxmlformats.org/officeDocument/2006/relationships/image" Target="../media/image34.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png"/><Relationship Id="rId8"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41.png"/><Relationship Id="rId4" Type="http://schemas.openxmlformats.org/officeDocument/2006/relationships/image" Target="../media/image35.png"/><Relationship Id="rId5"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40.png"/><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4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0"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7-4 · Compare and Order Integers and Rational Numbers   |   Warm-Up · about 4 minutes</a:t>
            </a:r>
          </a:p>
        </p:txBody>
      </p:sp>
      <p:sp>
        <p:nvSpPr>
          <p:cNvPr id="26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2"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3"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6"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Write &lt; or &gt;:   8 ______ 3</a:t>
            </a:r>
          </a:p>
        </p:txBody>
      </p:sp>
      <p:sp>
        <p:nvSpPr>
          <p:cNvPr id="267"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0"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Which is farther left on a number line: −6 or −2? ______</a:t>
            </a:r>
          </a:p>
        </p:txBody>
      </p:sp>
      <p:sp>
        <p:nvSpPr>
          <p:cNvPr id="271"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4"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Write &lt; or &gt;:   0.5 ______ 1/4</a:t>
            </a:r>
          </a:p>
        </p:txBody>
      </p:sp>
      <p:sp>
        <p:nvSpPr>
          <p:cNvPr id="275"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8"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Write &lt; or &gt;:   −6 ______ −2</a:t>
            </a:r>
          </a:p>
        </p:txBody>
      </p:sp>
      <p:sp>
        <p:nvSpPr>
          <p:cNvPr id="279"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0"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55</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7" name="Google Shape;527;p54"/>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9" name="Google Shape;529;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7-4 · Compare and Order Integers and Rational Numbers</a:t>
            </a:r>
            <a:endParaRPr/>
          </a:p>
        </p:txBody>
      </p:sp>
      <p:sp>
        <p:nvSpPr>
          <p:cNvPr id="530" name="Google Shape;530;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32" name="Google Shape;532;p54"/>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33" name="Google Shape;533;p54"/>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4" name="Google Shape;534;p54"/>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35" name="Google Shape;535;p54"/>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4"/>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7" name="Google Shape;537;p54"/>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8" name="Google Shape;538;p54"/>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Compare and Order Integers</a:t>
            </a:r>
            <a:endParaRPr/>
          </a:p>
        </p:txBody>
      </p:sp>
      <p:sp>
        <p:nvSpPr>
          <p:cNvPr id="539" name="Google Shape;539;p54"/>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Use a </a:t>
            </a:r>
            <a:r>
              <a:rPr b="1" i="0" lang="en-US" sz="1450" u="none" cap="none" strike="noStrike">
                <a:solidFill>
                  <a:srgbClr val="475569"/>
                </a:solidFill>
                <a:latin typeface="Arial"/>
                <a:ea typeface="Arial"/>
                <a:cs typeface="Arial"/>
                <a:sym typeface="Arial"/>
              </a:rPr>
              <a:t xml:space="preserve">number line</a:t>
            </a:r>
            <a:r>
              <a:rPr b="0" i="0" lang="en-US" sz="1450" u="none" cap="none" strike="noStrike">
                <a:solidFill>
                  <a:srgbClr val="475569"/>
                </a:solidFill>
                <a:latin typeface="Arial"/>
                <a:ea typeface="Arial"/>
                <a:cs typeface="Arial"/>
                <a:sym typeface="Arial"/>
              </a:rPr>
              <a:t xml:space="preserve"> to decide</a:t>
            </a:r>
            <a:endParaRPr/>
          </a:p>
        </p:txBody>
      </p:sp>
      <p:sp>
        <p:nvSpPr>
          <p:cNvPr id="540" name="Google Shape;540;p54"/>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4"/>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2" name="Google Shape;542;p54"/>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43" name="Google Shape;543;p54"/>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Number line</a:t>
            </a:r>
            <a:endParaRPr/>
          </a:p>
        </p:txBody>
      </p:sp>
      <p:sp>
        <p:nvSpPr>
          <p:cNvPr id="544" name="Google Shape;544;p54"/>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 straight line where numbers are placed in </a:t>
            </a:r>
            <a:r>
              <a:rPr b="1" i="0" lang="en-US" sz="1450" u="none" cap="none" strike="noStrike">
                <a:solidFill>
                  <a:srgbClr val="475569"/>
                </a:solidFill>
                <a:latin typeface="Arial"/>
                <a:ea typeface="Arial"/>
                <a:cs typeface="Arial"/>
                <a:sym typeface="Arial"/>
              </a:rPr>
              <a:t xml:space="preserve">order</a:t>
            </a:r>
            <a:endParaRPr/>
          </a:p>
        </p:txBody>
      </p:sp>
      <p:sp>
        <p:nvSpPr>
          <p:cNvPr id="545" name="Google Shape;545;p54"/>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6" name="Google Shape;546;p54"/>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7" name="Google Shape;547;p54"/>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8" name="Google Shape;548;p54"/>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Compare</a:t>
            </a:r>
            <a:endParaRPr/>
          </a:p>
        </p:txBody>
      </p:sp>
      <p:sp>
        <p:nvSpPr>
          <p:cNvPr id="549" name="Google Shape;549;p54"/>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To see if a number is bigger</a:t>
            </a:r>
            <a:endParaRPr/>
          </a:p>
        </p:txBody>
      </p:sp>
      <p:sp>
        <p:nvSpPr>
          <p:cNvPr id="5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55</a:t>
            </a:r>
          </a:p>
        </p:txBody>
      </p:sp>
      <p:grpSp>
        <p:nvGrpSpPr>
          <p:cNvPr id="551" name="TEACH-1-student-move" descr="TEACH 1 · Facilitate clear, standards-based content learning"/>
          <p:cNvGrpSpPr/>
          <p:nvPr/>
        </p:nvGrpSpPr>
        <p:grpSpPr>
          <a:xfrm>
            <a:off x="6187440" y="1682496"/>
            <a:ext cx="5501640" cy="594360"/>
            <a:chOff x="6187440" y="1682496"/>
            <a:chExt cx="5501640" cy="594360"/>
          </a:xfrm>
        </p:grpSpPr>
        <p:sp>
          <p:nvSpPr>
            <p:cNvPr id="552"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53"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54"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5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5" name="Google Shape;555;p55"/>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6" name="Google Shape;556;p5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57" name="Google Shape;557;p5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7-4 · Compare and Order Integers and Rational Numbers</a:t>
            </a:r>
            <a:endParaRPr/>
          </a:p>
        </p:txBody>
      </p:sp>
      <p:sp>
        <p:nvSpPr>
          <p:cNvPr id="558" name="Google Shape;558;p5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9" name="Google Shape;559;p5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60" name="Google Shape;560;p55"/>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61" name="Google Shape;561;p55"/>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2" name="Google Shape;562;p55"/>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63" name="Google Shape;563;p55"/>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4" name="Google Shape;564;p55"/>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Comparing &amp; Ordering Rational Numbers</a:t>
            </a:r>
            <a:endParaRPr/>
          </a:p>
        </p:txBody>
      </p:sp>
      <p:sp>
        <p:nvSpPr>
          <p:cNvPr id="565" name="Google Shape;565;p55"/>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6" name="Google Shape;566;p55"/>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defRPr/>
            </a:pPr>
            <a:r>
              <a:rPr b="1" i="0" lang="en-US" sz="2200" u="none" cap="none" strike="noStrike">
                <a:solidFill>
                  <a:srgbClr val="C2410C"/>
                </a:solidFill>
                <a:latin typeface="Arial"/>
                <a:ea typeface="Arial"/>
                <a:cs typeface="Arial"/>
                <a:sym typeface="Arial"/>
              </a:rPr>
              <a:t>Left is Less (&lt;)</a:t>
            </a:r>
            <a:endParaRPr/>
          </a:p>
        </p:txBody>
      </p:sp>
      <p:sp>
        <p:nvSpPr>
          <p:cNvPr id="567" name="Google Shape;567;p55"/>
          <p:cNvSpPr/>
          <p:nvPr/>
        </p:nvSpPr>
        <p:spPr>
          <a:xfrm>
            <a:off x="466344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8" name="Google Shape;568;p55"/>
          <p:cNvSpPr txBox="1"/>
          <p:nvPr/>
        </p:nvSpPr>
        <p:spPr>
          <a:xfrm>
            <a:off x="4791455"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defRPr/>
            </a:pPr>
            <a:r>
              <a:rPr b="1" i="0" lang="en-US" sz="2200" u="none" cap="none" strike="noStrike">
                <a:solidFill>
                  <a:srgbClr val="C2410C"/>
                </a:solidFill>
                <a:latin typeface="Arial"/>
                <a:ea typeface="Arial"/>
                <a:cs typeface="Arial"/>
                <a:sym typeface="Arial"/>
              </a:rPr>
              <a:t>Right is Greater (&gt;)</a:t>
            </a:r>
            <a:endParaRPr/>
          </a:p>
        </p:txBody>
      </p:sp>
      <p:sp>
        <p:nvSpPr>
          <p:cNvPr id="569" name="Google Shape;569;p55"/>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0" name="Google Shape;570;p55"/>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71" name="Google Shape;571;p55"/>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Plot or visualize numbers on a horizontal </a:t>
            </a:r>
            <a:r>
              <a:rPr b="1" i="0" lang="en-US" sz="1600" u="none" cap="none" strike="noStrike">
                <a:solidFill>
                  <a:srgbClr val="14223A"/>
                </a:solidFill>
                <a:latin typeface="Arial"/>
                <a:ea typeface="Arial"/>
                <a:cs typeface="Arial"/>
                <a:sym typeface="Arial"/>
              </a:rPr>
              <a:t xml:space="preserve">number line</a:t>
            </a:r>
            <a:endParaRPr/>
          </a:p>
        </p:txBody>
      </p:sp>
      <p:sp>
        <p:nvSpPr>
          <p:cNvPr id="572" name="Google Shape;572;p55"/>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3" name="Google Shape;573;p55"/>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74" name="Google Shape;574;p55"/>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Numbers further to the left are always </a:t>
            </a:r>
            <a:r>
              <a:rPr b="1" i="0" lang="en-US" sz="1600" u="none" cap="none" strike="noStrike">
                <a:solidFill>
                  <a:srgbClr val="14223A"/>
                </a:solidFill>
                <a:latin typeface="Arial"/>
                <a:ea typeface="Arial"/>
                <a:cs typeface="Arial"/>
                <a:sym typeface="Arial"/>
              </a:rPr>
              <a:t xml:space="preserve">less than</a:t>
            </a:r>
            <a:r>
              <a:rPr b="0" i="0" lang="en-US" sz="1600" u="none" cap="none" strike="noStrike">
                <a:solidFill>
                  <a:srgbClr val="14223A"/>
                </a:solidFill>
                <a:latin typeface="Arial"/>
                <a:ea typeface="Arial"/>
                <a:cs typeface="Arial"/>
                <a:sym typeface="Arial"/>
              </a:rPr>
              <a:t xml:space="preserve"> numbers to the right</a:t>
            </a:r>
            <a:endParaRPr/>
          </a:p>
        </p:txBody>
      </p:sp>
      <p:sp>
        <p:nvSpPr>
          <p:cNvPr id="575" name="Google Shape;575;p55"/>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6" name="Google Shape;576;p55"/>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77" name="Google Shape;577;p55"/>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For negatives: </a:t>
            </a:r>
            <a:r>
              <a:rPr b="0" i="0" lang="en-US" sz="1600" u="none" cap="none" strike="noStrike">
                <a:solidFill>
                  <a:srgbClr val="14223A"/>
                </a:solidFill>
                <a:latin typeface="Arial"/>
                <a:ea typeface="Arial"/>
                <a:cs typeface="Arial"/>
                <a:sym typeface="Arial"/>
              </a:rPr>
              <a:t xml:space="preserve">A </a:t>
            </a:r>
            <a:r>
              <a:rPr b="1" i="0" lang="en-US" sz="1600" u="none" cap="none" strike="noStrike">
                <a:solidFill>
                  <a:srgbClr val="14223A"/>
                </a:solidFill>
                <a:latin typeface="Arial"/>
                <a:ea typeface="Arial"/>
                <a:cs typeface="Arial"/>
                <a:sym typeface="Arial"/>
              </a:rPr>
              <a:t xml:space="preserve">negative</a:t>
            </a:r>
            <a:r>
              <a:rPr b="0" i="0" lang="en-US" sz="1600" u="none" cap="none" strike="noStrike">
                <a:solidFill>
                  <a:srgbClr val="14223A"/>
                </a:solidFill>
                <a:latin typeface="Arial"/>
                <a:ea typeface="Arial"/>
                <a:cs typeface="Arial"/>
                <a:sym typeface="Arial"/>
              </a:rPr>
              <a:t xml:space="preserve"> number with a larger </a:t>
            </a:r>
            <a:r>
              <a:rPr b="1" i="0" lang="en-US" sz="1600" u="none" cap="none" strike="noStrike">
                <a:solidFill>
                  <a:srgbClr val="14223A"/>
                </a:solidFill>
                <a:latin typeface="Arial"/>
                <a:ea typeface="Arial"/>
                <a:cs typeface="Arial"/>
                <a:sym typeface="Arial"/>
              </a:rPr>
              <a:t xml:space="preserve">absolute value</a:t>
            </a:r>
            <a:r>
              <a:rPr b="0" i="0" lang="en-US" sz="1600" u="none" cap="none" strike="noStrike">
                <a:solidFill>
                  <a:srgbClr val="14223A"/>
                </a:solidFill>
                <a:latin typeface="Arial"/>
                <a:ea typeface="Arial"/>
                <a:cs typeface="Arial"/>
                <a:sym typeface="Arial"/>
              </a:rPr>
              <a:t xml:space="preserve"> is smaller (−10 &lt; −2)</a:t>
            </a:r>
            <a:endParaRPr/>
          </a:p>
        </p:txBody>
      </p:sp>
      <p:sp>
        <p:nvSpPr>
          <p:cNvPr id="57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55</a:t>
            </a:r>
          </a:p>
        </p:txBody>
      </p:sp>
      <p:grpSp>
        <p:nvGrpSpPr>
          <p:cNvPr id="579" name="TEACH-1-student-move" descr="TEACH 1 · Facilitate clear, standards-based content learning"/>
          <p:cNvGrpSpPr/>
          <p:nvPr/>
        </p:nvGrpSpPr>
        <p:grpSpPr>
          <a:xfrm>
            <a:off x="6187440" y="1682496"/>
            <a:ext cx="5501640" cy="594360"/>
            <a:chOff x="6187440" y="1682496"/>
            <a:chExt cx="5501640" cy="594360"/>
          </a:xfrm>
        </p:grpSpPr>
        <p:sp>
          <p:nvSpPr>
            <p:cNvPr id="580"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81"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82"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8935791"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Compare and Order Integers and Rational Numbers</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55</a:t>
            </a:r>
          </a:p>
        </p:txBody>
      </p:sp>
      <p:grpSp>
        <p:nvGrpSpPr>
          <p:cNvPr id="237" name="TEACH-2-student-move" descr="TEACH 2 · Use strategies and tasks to engage students in rigorous work"/>
          <p:cNvGrpSpPr/>
          <p:nvPr/>
        </p:nvGrpSpPr>
        <p:grpSpPr>
          <a:xfrm>
            <a:off x="502920" y="3867612"/>
            <a:ext cx="11186160" cy="731520"/>
            <a:chOff x="502920" y="3867612"/>
            <a:chExt cx="11186160" cy="731520"/>
          </a:xfrm>
        </p:grpSpPr>
        <p:sp>
          <p:nvSpPr>
            <p:cNvPr id="238"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1" name="Google Shape;241;p41"/>
          <p:cNvSpPr txBox="1"/>
          <p:nvPr/>
        </p:nvSpPr>
        <p:spPr>
          <a:xfrm>
            <a:off x="486000" y="316800"/>
            <a:ext cx="467110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About, Between, or Exact</a:t>
            </a:r>
            <a:endParaRPr b="0" i="0" sz="1400" u="none" cap="none" strike="noStrike">
              <a:solidFill>
                <a:srgbClr val="000000"/>
              </a:solidFill>
              <a:latin typeface="Arial"/>
              <a:ea typeface="Arial"/>
              <a:cs typeface="Arial"/>
              <a:sym typeface="Arial"/>
            </a:endParaRPr>
          </a:p>
        </p:txBody>
      </p:sp>
      <p:sp>
        <p:nvSpPr>
          <p:cNvPr id="242" name="Google Shape;242;p41"/>
          <p:cNvSpPr/>
          <p:nvPr/>
        </p:nvSpPr>
        <p:spPr>
          <a:xfrm>
            <a:off x="486000" y="936000"/>
            <a:ext cx="4604146" cy="184665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It is about 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It is between ___ and ____.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It is exactly ___.</a:t>
            </a:r>
            <a:endParaRPr b="0" i="0" sz="1400" u="none" cap="none" strike="noStrike">
              <a:solidFill>
                <a:srgbClr val="000000"/>
              </a:solidFill>
              <a:latin typeface="Arial"/>
              <a:ea typeface="Arial"/>
              <a:cs typeface="Arial"/>
              <a:sym typeface="Arial"/>
            </a:endParaRPr>
          </a:p>
        </p:txBody>
      </p:sp>
      <p:sp>
        <p:nvSpPr>
          <p:cNvPr id="243" name="Google Shape;243;p41"/>
          <p:cNvSpPr/>
          <p:nvPr/>
        </p:nvSpPr>
        <p:spPr>
          <a:xfrm>
            <a:off x="486000" y="3401859"/>
            <a:ext cx="1829347"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4" name="Google Shape;244;p41"/>
          <p:cNvSpPr/>
          <p:nvPr/>
        </p:nvSpPr>
        <p:spPr>
          <a:xfrm>
            <a:off x="3350696" y="3401859"/>
            <a:ext cx="2028119"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5" name="Google Shape;245;p41"/>
          <p:cNvSpPr/>
          <p:nvPr/>
        </p:nvSpPr>
        <p:spPr>
          <a:xfrm>
            <a:off x="6439013" y="3401859"/>
            <a:ext cx="1755609"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55</a:t>
            </a:r>
          </a:p>
        </p:txBody>
      </p:sp>
      <p:sp xmlns:p="http://schemas.openxmlformats.org/presentationml/2006/main" xmlns:a="http://schemas.openxmlformats.org/drawingml/2006/main">
        <p:nvSpPr>
          <p:cNvPr id="24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0" name="Google Shape;320;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21" name="Google Shape;321;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7-4 · Compare and Order Integers and Rational Numbers</a:t>
            </a:r>
            <a:endParaRPr/>
          </a:p>
        </p:txBody>
      </p:sp>
      <p:sp>
        <p:nvSpPr>
          <p:cNvPr id="322" name="Google Shape;322;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3" name="Google Shape;323;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24" name="Google Shape;324;p44"/>
          <p:cNvSpPr txBox="1"/>
          <p:nvPr/>
        </p:nvSpPr>
        <p:spPr>
          <a:xfrm>
            <a:off x="640080" y="969264"/>
            <a:ext cx="10911809" cy="5892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500" u="none" cap="none" strike="noStrike">
                <a:solidFill>
                  <a:srgbClr val="14223A"/>
                </a:solidFill>
                <a:latin typeface="Arial"/>
                <a:ea typeface="Arial"/>
                <a:cs typeface="Arial"/>
                <a:sym typeface="Arial"/>
              </a:rPr>
              <a:t>Compare and Order Integers and Rational Numbers</a:t>
            </a:r>
            <a:endParaRPr/>
          </a:p>
        </p:txBody>
      </p:sp>
      <p:sp>
        <p:nvSpPr>
          <p:cNvPr id="325" name="Google Shape;325;p44"/>
          <p:cNvSpPr txBox="1"/>
          <p:nvPr/>
        </p:nvSpPr>
        <p:spPr>
          <a:xfrm>
            <a:off x="640080" y="1595120"/>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6.NOS.8</a:t>
            </a:r>
            <a:endParaRPr/>
          </a:p>
        </p:txBody>
      </p:sp>
      <p:sp>
        <p:nvSpPr>
          <p:cNvPr id="326" name="Google Shape;326;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7" name="Google Shape;327;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29" name="Google Shape;329;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30" name="Google Shape;330;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compare and order integers using a number line.</a:t>
            </a:r>
            <a:endParaRPr/>
          </a:p>
        </p:txBody>
      </p:sp>
      <p:sp>
        <p:nvSpPr>
          <p:cNvPr id="331" name="Google Shape;331;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2" name="Google Shape;332;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3" name="Google Shape;333;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34" name="Google Shape;334;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35" name="Google Shape;335;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reasoning using the words compare, order, greater than, and less than.</a:t>
            </a:r>
            <a:endParaRPr/>
          </a:p>
        </p:txBody>
      </p:sp>
      <p:sp>
        <p:nvSpPr>
          <p:cNvPr id="3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55</a:t>
            </a:r>
          </a:p>
        </p:txBody>
      </p:sp>
      <p:grpSp>
        <p:nvGrpSpPr>
          <p:cNvPr id="337" name="TEACH-1-student-move" descr="TEACH 1 · Facilitate clear, standards-based content learning"/>
          <p:cNvGrpSpPr/>
          <p:nvPr/>
        </p:nvGrpSpPr>
        <p:grpSpPr>
          <a:xfrm>
            <a:off x="502920" y="1993392"/>
            <a:ext cx="11186160" cy="402336"/>
            <a:chOff x="502920" y="1993392"/>
            <a:chExt cx="11186160" cy="402336"/>
          </a:xfrm>
        </p:grpSpPr>
        <p:sp>
          <p:nvSpPr>
            <p:cNvPr id="338"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39"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40"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7.4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Compare rational numbers by position.</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Use inequality signs correctly.</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Distinguish value from magnitude.</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84" name="Google Shape;384;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8</a:t>
            </a:r>
            <a:endParaRPr/>
          </a:p>
        </p:txBody>
      </p:sp>
      <p:sp>
        <p:nvSpPr>
          <p:cNvPr id="387" name="Google Shape;387;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7-4 · Compare and Order Integers and Rational Numbers</a:t>
            </a:r>
            <a:endParaRPr/>
          </a:p>
        </p:txBody>
      </p:sp>
      <p:sp>
        <p:nvSpPr>
          <p:cNvPr id="388" name="Google Shape;388;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90" name="Google Shape;390;p46"/>
          <p:cNvSpPr txBox="1"/>
          <p:nvPr/>
        </p:nvSpPr>
        <p:spPr>
          <a:xfrm>
            <a:off x="640080" y="1561338"/>
            <a:ext cx="5897880" cy="129844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3900" u="none" cap="none" strike="noStrike">
                <a:solidFill>
                  <a:srgbClr val="14223A"/>
                </a:solidFill>
                <a:latin typeface="Arial"/>
                <a:ea typeface="Arial"/>
                <a:cs typeface="Arial"/>
                <a:sym typeface="Arial"/>
              </a:rPr>
              <a:t>Compare and Order Integers</a:t>
            </a:r>
            <a:endParaRPr/>
          </a:p>
        </p:txBody>
      </p:sp>
      <p:sp>
        <p:nvSpPr>
          <p:cNvPr id="391" name="Google Shape;391;p46"/>
          <p:cNvSpPr/>
          <p:nvPr/>
        </p:nvSpPr>
        <p:spPr>
          <a:xfrm>
            <a:off x="658368" y="3079241"/>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p46"/>
          <p:cNvSpPr txBox="1"/>
          <p:nvPr/>
        </p:nvSpPr>
        <p:spPr>
          <a:xfrm>
            <a:off x="640080" y="3440429"/>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Use a number line to decide which integers are greater or less and place them in order.</a:t>
            </a:r>
            <a:endParaRPr/>
          </a:p>
        </p:txBody>
      </p:sp>
      <p:sp>
        <p:nvSpPr>
          <p:cNvPr id="393" name="Google Shape;393;p46"/>
          <p:cNvSpPr/>
          <p:nvPr/>
        </p:nvSpPr>
        <p:spPr>
          <a:xfrm>
            <a:off x="640080" y="4565142"/>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4" name="Google Shape;394;p46"/>
          <p:cNvSpPr/>
          <p:nvPr/>
        </p:nvSpPr>
        <p:spPr>
          <a:xfrm>
            <a:off x="640080" y="4565142"/>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5" name="Google Shape;395;p46"/>
          <p:cNvSpPr txBox="1"/>
          <p:nvPr/>
        </p:nvSpPr>
        <p:spPr>
          <a:xfrm>
            <a:off x="932688" y="4738878"/>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396" name="Google Shape;396;p46"/>
          <p:cNvSpPr txBox="1"/>
          <p:nvPr/>
        </p:nvSpPr>
        <p:spPr>
          <a:xfrm>
            <a:off x="932688" y="5040629"/>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−5 &lt; −2 &lt; 0 &lt; 3</a:t>
            </a:r>
            <a:endParaRPr/>
          </a:p>
        </p:txBody>
      </p:sp>
      <p:pic>
        <p:nvPicPr>
          <p:cNvPr descr="concept-compare-and-order-integers.png" id="397" name="Google Shape;397;p4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55</a:t>
            </a:r>
          </a:p>
        </p:txBody>
      </p:sp>
      <p:grpSp>
        <p:nvGrpSpPr>
          <p:cNvPr id="398" name="TEACH-5-student-move" descr="TEACH 5 · Facilitate student interactions and academic talk"/>
          <p:cNvGrpSpPr/>
          <p:nvPr/>
        </p:nvGrpSpPr>
        <p:grpSpPr>
          <a:xfrm>
            <a:off x="502920" y="5751576"/>
            <a:ext cx="11186160" cy="548640"/>
            <a:chOff x="502920" y="5751576"/>
            <a:chExt cx="11186160" cy="548640"/>
          </a:xfrm>
        </p:grpSpPr>
        <p:sp>
          <p:nvSpPr>
            <p:cNvPr id="399"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400"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401"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2" name="Google Shape;402;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8</a:t>
            </a:r>
            <a:endParaRPr/>
          </a:p>
        </p:txBody>
      </p:sp>
      <p:sp>
        <p:nvSpPr>
          <p:cNvPr id="405" name="Google Shape;405;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7-4 · Compare and Order Integers and Rational Numbers</a:t>
            </a:r>
            <a:endParaRPr/>
          </a:p>
        </p:txBody>
      </p:sp>
      <p:sp>
        <p:nvSpPr>
          <p:cNvPr id="406" name="Google Shape;406;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08" name="Google Shape;408;p47"/>
          <p:cNvSpPr txBox="1"/>
          <p:nvPr/>
        </p:nvSpPr>
        <p:spPr>
          <a:xfrm>
            <a:off x="640080" y="1761743"/>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200" u="none" cap="none" strike="noStrike">
                <a:solidFill>
                  <a:srgbClr val="14223A"/>
                </a:solidFill>
                <a:latin typeface="Arial"/>
                <a:ea typeface="Arial"/>
                <a:cs typeface="Arial"/>
                <a:sym typeface="Arial"/>
              </a:rPr>
              <a:t>Number line</a:t>
            </a:r>
            <a:endParaRPr/>
          </a:p>
        </p:txBody>
      </p:sp>
      <p:sp>
        <p:nvSpPr>
          <p:cNvPr id="409" name="Google Shape;409;p47"/>
          <p:cNvSpPr/>
          <p:nvPr/>
        </p:nvSpPr>
        <p:spPr>
          <a:xfrm>
            <a:off x="658368" y="2718816"/>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0" name="Google Shape;410;p47"/>
          <p:cNvSpPr txBox="1"/>
          <p:nvPr/>
        </p:nvSpPr>
        <p:spPr>
          <a:xfrm>
            <a:off x="640080" y="3080004"/>
            <a:ext cx="10911809" cy="86410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700" u="none" cap="none" strike="noStrike">
                <a:solidFill>
                  <a:srgbClr val="14223A"/>
                </a:solidFill>
                <a:latin typeface="Arial"/>
                <a:ea typeface="Arial"/>
                <a:cs typeface="Arial"/>
                <a:sym typeface="Arial"/>
              </a:rPr>
              <a:t>A straight line where numbers are placed in order; numbers get smaller to the left and larger to the right.</a:t>
            </a:r>
            <a:endParaRPr/>
          </a:p>
        </p:txBody>
      </p:sp>
      <p:sp>
        <p:nvSpPr>
          <p:cNvPr id="411" name="Google Shape;411;p47"/>
          <p:cNvSpPr/>
          <p:nvPr/>
        </p:nvSpPr>
        <p:spPr>
          <a:xfrm>
            <a:off x="640080" y="4364736"/>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47"/>
          <p:cNvSpPr/>
          <p:nvPr/>
        </p:nvSpPr>
        <p:spPr>
          <a:xfrm>
            <a:off x="640080" y="436473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47"/>
          <p:cNvSpPr txBox="1"/>
          <p:nvPr/>
        </p:nvSpPr>
        <p:spPr>
          <a:xfrm>
            <a:off x="932688" y="4538472"/>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14" name="Google Shape;414;p47"/>
          <p:cNvSpPr txBox="1"/>
          <p:nvPr/>
        </p:nvSpPr>
        <p:spPr>
          <a:xfrm>
            <a:off x="932688" y="4840224"/>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14223A"/>
                </a:solidFill>
                <a:latin typeface="Arial"/>
                <a:ea typeface="Arial"/>
                <a:cs typeface="Arial"/>
                <a:sym typeface="Arial"/>
              </a:rPr>
              <a:t>←  −3  −2  −1   0   1   2   3  →</a:t>
            </a:r>
            <a:endParaRPr/>
          </a:p>
        </p:txBody>
      </p:sp>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55</a:t>
            </a:r>
          </a:p>
        </p:txBody>
      </p:sp>
      <p:sp xmlns:p="http://schemas.openxmlformats.org/presentationml/2006/main" xmlns:a="http://schemas.openxmlformats.org/drawingml/2006/main">
        <p:nvSpPr>
          <p:cNvPr id="415"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“Number line”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9" name="Google Shape;419;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8</a:t>
            </a:r>
            <a:endParaRPr/>
          </a:p>
        </p:txBody>
      </p:sp>
      <p:sp>
        <p:nvSpPr>
          <p:cNvPr id="422" name="Google Shape;422;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7-4 · Compare and Order Integers and Rational Numbers</a:t>
            </a:r>
            <a:endParaRPr/>
          </a:p>
        </p:txBody>
      </p:sp>
      <p:sp>
        <p:nvSpPr>
          <p:cNvPr id="423" name="Google Shape;423;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25" name="Google Shape;425;p48"/>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Compare</a:t>
            </a:r>
            <a:endParaRPr/>
          </a:p>
        </p:txBody>
      </p:sp>
      <p:sp>
        <p:nvSpPr>
          <p:cNvPr id="426" name="Google Shape;426;p48"/>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7" name="Google Shape;427;p48"/>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To see if a number is bigger, smaller, or equal to another.</a:t>
            </a:r>
            <a:endParaRPr/>
          </a:p>
        </p:txBody>
      </p:sp>
      <p:sp>
        <p:nvSpPr>
          <p:cNvPr id="428" name="Google Shape;428;p48"/>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48"/>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48"/>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31" name="Google Shape;431;p48"/>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 &lt; 2 because −3 is farther left on the number line than 2</a:t>
            </a:r>
            <a:endParaRPr/>
          </a:p>
        </p:txBody>
      </p:sp>
      <p:pic>
        <p:nvPicPr>
          <p:cNvPr descr="inequality.png" id="432" name="Google Shape;432;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55</a:t>
            </a:r>
          </a:p>
        </p:txBody>
      </p:sp>
      <p:sp xmlns:p="http://schemas.openxmlformats.org/presentationml/2006/main" xmlns:a="http://schemas.openxmlformats.org/drawingml/2006/main">
        <p:nvSpPr>
          <p:cNvPr id="43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“Compare”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7" name="Google Shape;437;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8</a:t>
            </a:r>
            <a:endParaRPr/>
          </a:p>
        </p:txBody>
      </p:sp>
      <p:sp>
        <p:nvSpPr>
          <p:cNvPr id="440" name="Google Shape;440;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7-4 · Compare and Order Integers and Rational Numbers</a:t>
            </a:r>
            <a:endParaRPr/>
          </a:p>
        </p:txBody>
      </p:sp>
      <p:sp>
        <p:nvSpPr>
          <p:cNvPr id="441" name="Google Shape;441;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43" name="Google Shape;443;p49"/>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Order</a:t>
            </a:r>
            <a:endParaRPr/>
          </a:p>
        </p:txBody>
      </p:sp>
      <p:sp>
        <p:nvSpPr>
          <p:cNvPr id="444" name="Google Shape;444;p49"/>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p49"/>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To arrange numbers by size, from least to greatest or greatest to least.</a:t>
            </a:r>
            <a:endParaRPr/>
          </a:p>
        </p:txBody>
      </p:sp>
      <p:sp>
        <p:nvSpPr>
          <p:cNvPr id="446" name="Google Shape;446;p49"/>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p49"/>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8" name="Google Shape;448;p49"/>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9" name="Google Shape;449;p49"/>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Least to greatest: −5, −2, 0, 3, 7 (left to right on the number line)</a:t>
            </a:r>
            <a:endParaRPr/>
          </a:p>
        </p:txBody>
      </p:sp>
      <p:pic>
        <p:nvPicPr>
          <p:cNvPr descr="number-line.png" id="450" name="Google Shape;450;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55</a:t>
            </a:r>
          </a:p>
        </p:txBody>
      </p:sp>
      <p:sp xmlns:p="http://schemas.openxmlformats.org/presentationml/2006/main" xmlns:a="http://schemas.openxmlformats.org/drawingml/2006/main">
        <p:nvSpPr>
          <p:cNvPr id="45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“Order”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5" name="Google Shape;455;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8</a:t>
            </a:r>
            <a:endParaRPr/>
          </a:p>
        </p:txBody>
      </p:sp>
      <p:sp>
        <p:nvSpPr>
          <p:cNvPr id="458" name="Google Shape;458;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7-4 · Compare and Order Integers and Rational Numbers</a:t>
            </a:r>
            <a:endParaRPr/>
          </a:p>
        </p:txBody>
      </p:sp>
      <p:sp>
        <p:nvSpPr>
          <p:cNvPr id="459" name="Google Shape;459;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61" name="Google Shape;461;p50"/>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Greater than</a:t>
            </a:r>
            <a:endParaRPr/>
          </a:p>
        </p:txBody>
      </p:sp>
      <p:sp>
        <p:nvSpPr>
          <p:cNvPr id="462" name="Google Shape;462;p50"/>
          <p:cNvSpPr/>
          <p:nvPr/>
        </p:nvSpPr>
        <p:spPr>
          <a:xfrm>
            <a:off x="658368" y="2913888"/>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3" name="Google Shape;463;p50"/>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&gt; sign, showing one number is bigger.</a:t>
            </a:r>
            <a:endParaRPr/>
          </a:p>
        </p:txBody>
      </p:sp>
      <p:sp>
        <p:nvSpPr>
          <p:cNvPr id="464" name="Google Shape;464;p50"/>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50"/>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p50"/>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7" name="Google Shape;467;p50"/>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4 &gt; −1 because 4 is to the right of −1 on the number line</a:t>
            </a:r>
            <a:endParaRPr/>
          </a:p>
        </p:txBody>
      </p:sp>
      <p:pic>
        <p:nvPicPr>
          <p:cNvPr descr="greater-than.png" id="468" name="Google Shape;468;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55</a:t>
            </a:r>
          </a:p>
        </p:txBody>
      </p:sp>
      <p:sp xmlns:p="http://schemas.openxmlformats.org/presentationml/2006/main" xmlns:a="http://schemas.openxmlformats.org/drawingml/2006/main">
        <p:nvSpPr>
          <p:cNvPr id="469"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“Greater than” to explain the example. Point to 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73" name="Google Shape;473;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8</a:t>
            </a:r>
            <a:endParaRPr/>
          </a:p>
        </p:txBody>
      </p:sp>
      <p:sp>
        <p:nvSpPr>
          <p:cNvPr id="476" name="Google Shape;476;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7-4 · Compare and Order Integers and Rational Numbers</a:t>
            </a:r>
            <a:endParaRPr/>
          </a:p>
        </p:txBody>
      </p:sp>
      <p:sp>
        <p:nvSpPr>
          <p:cNvPr id="477" name="Google Shape;477;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9" name="Google Shape;479;p51"/>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Less than</a:t>
            </a:r>
            <a:endParaRPr/>
          </a:p>
        </p:txBody>
      </p:sp>
      <p:sp>
        <p:nvSpPr>
          <p:cNvPr id="480" name="Google Shape;480;p51"/>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1" name="Google Shape;481;p51"/>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&lt; sign, showing one number is smaller.</a:t>
            </a:r>
            <a:endParaRPr/>
          </a:p>
        </p:txBody>
      </p:sp>
      <p:sp>
        <p:nvSpPr>
          <p:cNvPr id="482" name="Google Shape;482;p51"/>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51"/>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51"/>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85" name="Google Shape;485;p51"/>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−6 &lt; −2 because −6 is farther left — it is farther from zero</a:t>
            </a:r>
            <a:endParaRPr/>
          </a:p>
        </p:txBody>
      </p:sp>
      <p:pic>
        <p:nvPicPr>
          <p:cNvPr descr="less-than.png" id="486" name="Google Shape;486;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55</a:t>
            </a:r>
          </a:p>
        </p:txBody>
      </p:sp>
      <p:sp xmlns:p="http://schemas.openxmlformats.org/presentationml/2006/main" xmlns:a="http://schemas.openxmlformats.org/drawingml/2006/main">
        <p:nvSpPr>
          <p:cNvPr id="487"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“Less than” to explain the example. Point to 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91" name="Google Shape;491;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8</a:t>
            </a:r>
            <a:endParaRPr/>
          </a:p>
        </p:txBody>
      </p:sp>
      <p:sp>
        <p:nvSpPr>
          <p:cNvPr id="494" name="Google Shape;494;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7-4 · Compare and Order Integers and Rational Numbers</a:t>
            </a:r>
            <a:endParaRPr/>
          </a:p>
        </p:txBody>
      </p:sp>
      <p:sp>
        <p:nvSpPr>
          <p:cNvPr id="495" name="Google Shape;495;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7" name="Google Shape;497;p52"/>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Negative integer</a:t>
            </a:r>
            <a:endParaRPr/>
          </a:p>
        </p:txBody>
      </p:sp>
      <p:sp>
        <p:nvSpPr>
          <p:cNvPr id="498" name="Google Shape;498;p52"/>
          <p:cNvSpPr/>
          <p:nvPr/>
        </p:nvSpPr>
        <p:spPr>
          <a:xfrm>
            <a:off x="658368" y="2913888"/>
            <a:ext cx="190195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9" name="Google Shape;499;p52"/>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whole number smaller than zero, like −5.</a:t>
            </a:r>
            <a:endParaRPr/>
          </a:p>
        </p:txBody>
      </p:sp>
      <p:sp>
        <p:nvSpPr>
          <p:cNvPr id="500" name="Google Shape;500;p52"/>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52"/>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2" name="Google Shape;502;p52"/>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03" name="Google Shape;503;p52"/>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−4 is 4 units to the LEFT of zero on the number line</a:t>
            </a:r>
            <a:endParaRPr/>
          </a:p>
        </p:txBody>
      </p:sp>
      <p:pic>
        <p:nvPicPr>
          <p:cNvPr descr="negative.png" id="504" name="Google Shape;504;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55</a:t>
            </a:r>
          </a:p>
        </p:txBody>
      </p:sp>
      <p:sp xmlns:p="http://schemas.openxmlformats.org/presentationml/2006/main" xmlns:a="http://schemas.openxmlformats.org/drawingml/2006/main">
        <p:nvSpPr>
          <p:cNvPr id="505"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“Negative integer”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9" name="Google Shape;509;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3"/>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8 of 8</a:t>
            </a:r>
            <a:endParaRPr/>
          </a:p>
        </p:txBody>
      </p:sp>
      <p:sp>
        <p:nvSpPr>
          <p:cNvPr id="512" name="Google Shape;512;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7-4 · Compare and Order Integers and Rational Numbers</a:t>
            </a:r>
            <a:endParaRPr/>
          </a:p>
        </p:txBody>
      </p:sp>
      <p:sp>
        <p:nvSpPr>
          <p:cNvPr id="513" name="Google Shape;513;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15" name="Google Shape;515;p53"/>
          <p:cNvSpPr txBox="1"/>
          <p:nvPr/>
        </p:nvSpPr>
        <p:spPr>
          <a:xfrm>
            <a:off x="640080" y="1977771"/>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200" u="none" cap="none" strike="noStrike">
                <a:solidFill>
                  <a:srgbClr val="14223A"/>
                </a:solidFill>
                <a:latin typeface="Arial"/>
                <a:ea typeface="Arial"/>
                <a:cs typeface="Arial"/>
                <a:sym typeface="Arial"/>
              </a:rPr>
              <a:t>Integer</a:t>
            </a:r>
            <a:endParaRPr/>
          </a:p>
        </p:txBody>
      </p:sp>
      <p:sp>
        <p:nvSpPr>
          <p:cNvPr id="516" name="Google Shape;516;p53"/>
          <p:cNvSpPr/>
          <p:nvPr/>
        </p:nvSpPr>
        <p:spPr>
          <a:xfrm>
            <a:off x="658368" y="2934843"/>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7" name="Google Shape;517;p53"/>
          <p:cNvSpPr txBox="1"/>
          <p:nvPr/>
        </p:nvSpPr>
        <p:spPr>
          <a:xfrm>
            <a:off x="640080" y="3296031"/>
            <a:ext cx="10911809" cy="432054"/>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700" u="none" cap="none" strike="noStrike">
                <a:solidFill>
                  <a:srgbClr val="14223A"/>
                </a:solidFill>
                <a:latin typeface="Arial"/>
                <a:ea typeface="Arial"/>
                <a:cs typeface="Arial"/>
                <a:sym typeface="Arial"/>
              </a:rPr>
              <a:t>Whole numbers and their opposites, like −2, −1, 0, 1, 2.</a:t>
            </a:r>
            <a:endParaRPr/>
          </a:p>
        </p:txBody>
      </p:sp>
      <p:sp>
        <p:nvSpPr>
          <p:cNvPr id="518" name="Google Shape;518;p53"/>
          <p:cNvSpPr/>
          <p:nvPr/>
        </p:nvSpPr>
        <p:spPr>
          <a:xfrm>
            <a:off x="640080" y="4148709"/>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9" name="Google Shape;519;p53"/>
          <p:cNvSpPr/>
          <p:nvPr/>
        </p:nvSpPr>
        <p:spPr>
          <a:xfrm>
            <a:off x="640080" y="4148709"/>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0" name="Google Shape;520;p53"/>
          <p:cNvSpPr txBox="1"/>
          <p:nvPr/>
        </p:nvSpPr>
        <p:spPr>
          <a:xfrm>
            <a:off x="932688" y="4322445"/>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21" name="Google Shape;521;p53"/>
          <p:cNvSpPr txBox="1"/>
          <p:nvPr/>
        </p:nvSpPr>
        <p:spPr>
          <a:xfrm>
            <a:off x="932688" y="4624197"/>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14223A"/>
                </a:solidFill>
                <a:latin typeface="Arial"/>
                <a:ea typeface="Arial"/>
                <a:cs typeface="Arial"/>
                <a:sym typeface="Arial"/>
              </a:rPr>
              <a:t>…, −3, −2, −1, 0, 1, 2, 3, …</a:t>
            </a:r>
            <a:endParaRPr/>
          </a:p>
        </p:txBody>
      </p:sp>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55</a:t>
            </a:r>
          </a:p>
        </p:txBody>
      </p:sp>
      <p:sp xmlns:p="http://schemas.openxmlformats.org/presentationml/2006/main" xmlns:a="http://schemas.openxmlformats.org/drawingml/2006/main">
        <p:nvSpPr>
          <p:cNvPr id="522"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“Integer” to explain the example. Point to evidence.</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1" name="Google Shape;341;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a:t>
            </a:r>
            <a:endParaRPr/>
          </a:p>
        </p:txBody>
      </p:sp>
      <p:sp>
        <p:nvSpPr>
          <p:cNvPr id="343" name="Google Shape;343;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7-4 · Compare and Order Integers and Rational Numbers</a:t>
            </a:r>
            <a:endParaRPr/>
          </a:p>
        </p:txBody>
      </p:sp>
      <p:sp>
        <p:nvSpPr>
          <p:cNvPr id="344" name="Google Shape;344;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5" name="Google Shape;345;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6" name="Google Shape;346;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400" u="none" cap="none" strike="noStrike">
                <a:solidFill>
                  <a:srgbClr val="14223A"/>
                </a:solidFill>
                <a:latin typeface="Arial"/>
                <a:ea typeface="Arial"/>
                <a:cs typeface="Arial"/>
                <a:sym typeface="Arial"/>
              </a:rPr>
              <a:t>Today’s Math Words</a:t>
            </a:r>
            <a:endParaRPr/>
          </a:p>
        </p:txBody>
      </p:sp>
      <p:sp>
        <p:nvSpPr>
          <p:cNvPr id="347" name="Google Shape;347;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48" name="Google Shape;348;p45"/>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5"/>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Compare and Order Integers</a:t>
            </a:r>
            <a:endParaRPr/>
          </a:p>
        </p:txBody>
      </p:sp>
      <p:sp>
        <p:nvSpPr>
          <p:cNvPr id="351" name="Google Shape;351;p45"/>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100" u="none" cap="none" strike="noStrike">
                <a:solidFill>
                  <a:srgbClr val="475569"/>
                </a:solidFill>
                <a:latin typeface="Arial"/>
                <a:ea typeface="Arial"/>
                <a:cs typeface="Arial"/>
                <a:sym typeface="Arial"/>
              </a:rPr>
              <a:t>Use a number line to decide which integers are greater or less and place them in order</a:t>
            </a:r>
            <a:endParaRPr/>
          </a:p>
        </p:txBody>
      </p:sp>
      <p:sp>
        <p:nvSpPr>
          <p:cNvPr id="352" name="Google Shape;352;p45"/>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3" name="Google Shape;353;p45"/>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4" name="Google Shape;354;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Number line</a:t>
            </a:r>
            <a:endParaRPr/>
          </a:p>
        </p:txBody>
      </p:sp>
      <p:sp>
        <p:nvSpPr>
          <p:cNvPr id="355" name="Google Shape;355;p45"/>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100" u="none" cap="none" strike="noStrike">
                <a:solidFill>
                  <a:srgbClr val="475569"/>
                </a:solidFill>
                <a:latin typeface="Arial"/>
                <a:ea typeface="Arial"/>
                <a:cs typeface="Arial"/>
                <a:sym typeface="Arial"/>
              </a:rPr>
              <a:t>A straight line where numbers are placed in order; numbers get smaller to the left and larger to the right</a:t>
            </a:r>
            <a:endParaRPr/>
          </a:p>
        </p:txBody>
      </p:sp>
      <p:sp>
        <p:nvSpPr>
          <p:cNvPr id="356" name="Google Shape;356;p45"/>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Compare</a:t>
            </a:r>
            <a:endParaRPr/>
          </a:p>
        </p:txBody>
      </p:sp>
      <p:sp>
        <p:nvSpPr>
          <p:cNvPr id="359" name="Google Shape;359;p45"/>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To see if a number is bigger, smaller, or equal to another</a:t>
            </a:r>
            <a:endParaRPr/>
          </a:p>
        </p:txBody>
      </p:sp>
      <p:sp>
        <p:nvSpPr>
          <p:cNvPr id="360" name="Google Shape;360;p45"/>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2" name="Google Shape;362;p45"/>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Order</a:t>
            </a:r>
            <a:endParaRPr/>
          </a:p>
        </p:txBody>
      </p:sp>
      <p:sp>
        <p:nvSpPr>
          <p:cNvPr id="363" name="Google Shape;363;p45"/>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00" u="none" cap="none" strike="noStrike">
                <a:solidFill>
                  <a:srgbClr val="475569"/>
                </a:solidFill>
                <a:latin typeface="Arial"/>
                <a:ea typeface="Arial"/>
                <a:cs typeface="Arial"/>
                <a:sym typeface="Arial"/>
              </a:rPr>
              <a:t>To arrange numbers by size, from least to greatest or greatest to least</a:t>
            </a:r>
            <a:endParaRPr/>
          </a:p>
        </p:txBody>
      </p:sp>
      <p:sp>
        <p:nvSpPr>
          <p:cNvPr id="364" name="Google Shape;364;p45"/>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Greater than</a:t>
            </a:r>
            <a:endParaRPr/>
          </a:p>
        </p:txBody>
      </p:sp>
      <p:sp>
        <p:nvSpPr>
          <p:cNvPr id="367" name="Google Shape;367;p45"/>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The &gt; sign, showing one number is bigger</a:t>
            </a:r>
            <a:endParaRPr/>
          </a:p>
        </p:txBody>
      </p:sp>
      <p:sp>
        <p:nvSpPr>
          <p:cNvPr id="368" name="Google Shape;368;p45"/>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Less than</a:t>
            </a:r>
            <a:endParaRPr/>
          </a:p>
        </p:txBody>
      </p:sp>
      <p:sp>
        <p:nvSpPr>
          <p:cNvPr id="371" name="Google Shape;371;p45"/>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The &lt; sign, showing one number is smaller</a:t>
            </a:r>
            <a:endParaRPr/>
          </a:p>
        </p:txBody>
      </p:sp>
      <p:sp>
        <p:nvSpPr>
          <p:cNvPr id="372" name="Google Shape;372;p45"/>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Negative integer</a:t>
            </a:r>
            <a:endParaRPr/>
          </a:p>
        </p:txBody>
      </p:sp>
      <p:sp>
        <p:nvSpPr>
          <p:cNvPr id="375" name="Google Shape;375;p45"/>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A whole number smaller than zero, like −5</a:t>
            </a:r>
            <a:endParaRPr/>
          </a:p>
        </p:txBody>
      </p:sp>
      <p:sp>
        <p:nvSpPr>
          <p:cNvPr id="376" name="Google Shape;376;p45"/>
          <p:cNvSpPr/>
          <p:nvPr/>
        </p:nvSpPr>
        <p:spPr>
          <a:xfrm>
            <a:off x="6260576"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p:nvPr/>
        </p:nvSpPr>
        <p:spPr>
          <a:xfrm>
            <a:off x="6260576"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5"/>
          <p:cNvSpPr txBox="1"/>
          <p:nvPr/>
        </p:nvSpPr>
        <p:spPr>
          <a:xfrm>
            <a:off x="6571472"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Integer</a:t>
            </a:r>
            <a:endParaRPr/>
          </a:p>
        </p:txBody>
      </p:sp>
      <p:sp>
        <p:nvSpPr>
          <p:cNvPr id="379" name="Google Shape;379;p45"/>
          <p:cNvSpPr txBox="1"/>
          <p:nvPr/>
        </p:nvSpPr>
        <p:spPr>
          <a:xfrm>
            <a:off x="6571472"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Whole numbers and their opposites, like −2, −1, 0, 1, 2</a:t>
            </a:r>
            <a:endParaRPr/>
          </a:p>
        </p:txBody>
      </p:sp>
      <p:sp>
        <p:nvSpPr>
          <p:cNvPr id="3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55</a:t>
            </a:r>
          </a:p>
        </p:txBody>
      </p:sp>
      <p:grpSp>
        <p:nvGrpSpPr>
          <p:cNvPr id="381" name="TEACH-5-student-move" descr="TEACH 5 · Facilitate student interactions and academic talk"/>
          <p:cNvGrpSpPr/>
          <p:nvPr/>
        </p:nvGrpSpPr>
        <p:grpSpPr>
          <a:xfrm>
            <a:off x="502920" y="649224"/>
            <a:ext cx="11186160" cy="320040"/>
            <a:chOff x="502920" y="649224"/>
            <a:chExt cx="11186160" cy="320040"/>
          </a:xfrm>
        </p:grpSpPr>
        <p:sp>
          <p:nvSpPr>
            <p:cNvPr id="382" name="TEACH-move-card"/>
            <p:cNvSpPr/>
            <p:nvPr/>
          </p:nvSpPr>
          <p:spPr>
            <a:xfrm>
              <a:off x="502920" y="649224"/>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383" name="TEACH-move-rule"/>
            <p:cNvSpPr/>
            <p:nvPr/>
          </p:nvSpPr>
          <p:spPr>
            <a:xfrm>
              <a:off x="548640" y="710032"/>
              <a:ext cx="100584" cy="198424"/>
            </a:xfrm>
            <a:prstGeom prst="roundRect">
              <a:avLst>
                <a:gd name="adj" fmla="val 50000"/>
              </a:avLst>
            </a:prstGeom>
            <a:solidFill>
              <a:srgbClr val="01708C"/>
            </a:solidFill>
            <a:ln>
              <a:noFill/>
            </a:ln>
          </p:spPr>
          <p:txBody>
            <a:bodyPr/>
            <a:lstStyle/>
            <a:p>
              <a:endParaRPr/>
            </a:p>
          </p:txBody>
        </p:sp>
        <p:sp>
          <p:nvSpPr>
            <p:cNvPr id="384" name="TEACH-move-text"/>
            <p:cNvSpPr txBox="1"/>
            <p:nvPr/>
          </p:nvSpPr>
          <p:spPr>
            <a:xfrm>
              <a:off x="822960" y="649224"/>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cxnSp>
        <p:nvCxnSpPr>
          <p:cNvPr id="592" name="Google Shape;592;p5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93" name="Google Shape;593;p57"/>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94" name="Google Shape;594;p57"/>
          <p:cNvSpPr txBox="1"/>
          <p:nvPr/>
        </p:nvSpPr>
        <p:spPr>
          <a:xfrm>
            <a:off x="484560" y="936100"/>
            <a:ext cx="4441401" cy="125091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How are they the same?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How are they different?</a:t>
            </a:r>
            <a:endParaRPr b="0" i="0" sz="2800" u="none" cap="none" strike="noStrike">
              <a:solidFill>
                <a:schemeClr val="dk1"/>
              </a:solidFill>
              <a:latin typeface="Arial"/>
              <a:ea typeface="Arial"/>
              <a:cs typeface="Arial"/>
              <a:sym typeface="Arial"/>
            </a:endParaRPr>
          </a:p>
        </p:txBody>
      </p:sp>
      <p:pic>
        <p:nvPicPr>
          <p:cNvPr id="595" name="Google Shape;595;p57"/>
          <p:cNvPicPr preferRelativeResize="0"/>
          <p:nvPr/>
        </p:nvPicPr>
        <p:blipFill rotWithShape="1">
          <a:blip r:embed="rId3">
            <a:alphaModFix/>
          </a:blip>
          <a:srcRect b="0" l="0" r="0" t="0"/>
          <a:stretch/>
        </p:blipFill>
        <p:spPr>
          <a:xfrm>
            <a:off x="459051" y="4860233"/>
            <a:ext cx="5054600" cy="838200"/>
          </a:xfrm>
          <a:prstGeom prst="rect">
            <a:avLst/>
          </a:prstGeom>
          <a:noFill/>
          <a:ln>
            <a:noFill/>
          </a:ln>
        </p:spPr>
      </p:pic>
      <p:sp>
        <p:nvSpPr>
          <p:cNvPr id="596" name="Google Shape;596;p57"/>
          <p:cNvSpPr txBox="1"/>
          <p:nvPr/>
        </p:nvSpPr>
        <p:spPr>
          <a:xfrm>
            <a:off x="3060892" y="5024152"/>
            <a:ext cx="2194584" cy="5152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97" name="Google Shape;597;p57"/>
          <p:cNvSpPr/>
          <p:nvPr/>
        </p:nvSpPr>
        <p:spPr>
          <a:xfrm>
            <a:off x="612875" y="5698433"/>
            <a:ext cx="6404317"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motivates you to engage with math?</a:t>
            </a:r>
            <a:endParaRPr b="0" i="0" sz="2600" u="none" cap="none" strike="noStrike">
              <a:solidFill>
                <a:srgbClr val="595959"/>
              </a:solidFill>
              <a:latin typeface="Arial"/>
              <a:ea typeface="Arial"/>
              <a:cs typeface="Arial"/>
              <a:sym typeface="Arial"/>
            </a:endParaRPr>
          </a:p>
        </p:txBody>
      </p:sp>
      <p:pic>
        <p:nvPicPr>
          <p:cNvPr descr="C:\Users\HP\Desktop\Grade_6_Unit_7-20230217T053830Z-001\Grade_6_Unit_7\OPS\img\.assets\5c7b8d8693e94080b773e0422fe30735\narm24_c10704_se_004a-dig-eps.png" id="598" name="Google Shape;598;p57"/>
          <p:cNvPicPr preferRelativeResize="0"/>
          <p:nvPr/>
        </p:nvPicPr>
        <p:blipFill rotWithShape="1">
          <a:blip r:embed="rId4">
            <a:alphaModFix/>
          </a:blip>
          <a:srcRect b="0" l="0" r="0" t="0"/>
          <a:stretch/>
        </p:blipFill>
        <p:spPr>
          <a:xfrm>
            <a:off x="6077014" y="1328196"/>
            <a:ext cx="5040000" cy="4066793"/>
          </a:xfrm>
          <a:prstGeom prst="rect">
            <a:avLst/>
          </a:prstGeom>
          <a:noFill/>
          <a:ln>
            <a:noFill/>
          </a:ln>
        </p:spPr>
      </p:pic>
      <p:sp>
        <p:nvSpPr>
          <p:cNvPr id="59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55</a:t>
            </a:r>
          </a:p>
        </p:txBody>
      </p:sp>
      <p:sp xmlns:p="http://schemas.openxmlformats.org/presentationml/2006/main" xmlns:a="http://schemas.openxmlformats.org/drawingml/2006/main">
        <p:nvSpPr>
          <p:cNvPr id="600" name="TEACH-embedded-student-prompt" descr="Student thinking and response directions"/>
          <p:cNvSpPr txBox="1"/>
          <p:nvPr/>
        </p:nvSpPr>
        <p:spPr>
          <a:xfrm>
            <a:off x="594360" y="363931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cxnSp>
        <p:nvCxnSpPr>
          <p:cNvPr id="622" name="Google Shape;622;p6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23" name="Google Shape;623;p60"/>
          <p:cNvSpPr txBox="1"/>
          <p:nvPr/>
        </p:nvSpPr>
        <p:spPr>
          <a:xfrm>
            <a:off x="484565" y="935999"/>
            <a:ext cx="7635853" cy="306360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Lucy and Yuzuki are playing a trivia game with these rules: If a player answers a question correctly, they receive 1 point. If they answer incorrectly, they lose 0.25 point. The player with the greatest score wins the game. The final scores for two games are shown in the table. Who is the winner of each game?</a:t>
            </a:r>
            <a:endParaRPr b="0" i="0" sz="1400" u="none" cap="none" strike="noStrike">
              <a:solidFill>
                <a:srgbClr val="000000"/>
              </a:solidFill>
              <a:latin typeface="Arial"/>
              <a:ea typeface="Arial"/>
              <a:cs typeface="Arial"/>
              <a:sym typeface="Arial"/>
            </a:endParaRPr>
          </a:p>
        </p:txBody>
      </p:sp>
      <p:sp>
        <p:nvSpPr>
          <p:cNvPr id="624" name="Google Shape;624;p60"/>
          <p:cNvSpPr/>
          <p:nvPr/>
        </p:nvSpPr>
        <p:spPr>
          <a:xfrm>
            <a:off x="507517" y="4183181"/>
            <a:ext cx="761290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compare the data for Game 1?</a:t>
            </a:r>
            <a:endParaRPr b="0" i="0" sz="2800" u="none" cap="none" strike="noStrike">
              <a:solidFill>
                <a:schemeClr val="dk1"/>
              </a:solidFill>
              <a:latin typeface="Arial"/>
              <a:ea typeface="Arial"/>
              <a:cs typeface="Arial"/>
              <a:sym typeface="Arial"/>
            </a:endParaRPr>
          </a:p>
        </p:txBody>
      </p:sp>
      <p:sp>
        <p:nvSpPr>
          <p:cNvPr id="625" name="Google Shape;625;p60"/>
          <p:cNvSpPr txBox="1"/>
          <p:nvPr/>
        </p:nvSpPr>
        <p:spPr>
          <a:xfrm>
            <a:off x="507516" y="5057666"/>
            <a:ext cx="7230765" cy="120887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 xml:space="preserve">: </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plot each score on a number line.</a:t>
            </a:r>
            <a:endParaRPr b="1" i="0" sz="2800" u="none" cap="none" strike="noStrike">
              <a:solidFill>
                <a:srgbClr val="595959"/>
              </a:solidFill>
              <a:latin typeface="Arial"/>
              <a:ea typeface="Arial"/>
              <a:cs typeface="Arial"/>
              <a:sym typeface="Arial"/>
            </a:endParaRPr>
          </a:p>
        </p:txBody>
      </p:sp>
      <p:sp>
        <p:nvSpPr>
          <p:cNvPr id="626" name="Google Shape;626;p60"/>
          <p:cNvSpPr txBox="1"/>
          <p:nvPr/>
        </p:nvSpPr>
        <p:spPr>
          <a:xfrm>
            <a:off x="484565" y="316034"/>
            <a:ext cx="5015483"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Trivia Game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91173f6a534341b4a8049e95367f4af9\narm24_c10704_se_013a-dig-eps.png" id="627" name="Google Shape;627;p60"/>
          <p:cNvPicPr preferRelativeResize="0"/>
          <p:nvPr/>
        </p:nvPicPr>
        <p:blipFill rotWithShape="1">
          <a:blip r:embed="rId3">
            <a:alphaModFix/>
          </a:blip>
          <a:srcRect b="0" l="0" r="0" t="0"/>
          <a:stretch/>
        </p:blipFill>
        <p:spPr>
          <a:xfrm>
            <a:off x="8436733" y="1728788"/>
            <a:ext cx="3562350" cy="3400425"/>
          </a:xfrm>
          <a:prstGeom prst="rect">
            <a:avLst/>
          </a:prstGeom>
          <a:noFill/>
          <a:ln>
            <a:noFill/>
          </a:ln>
        </p:spPr>
      </p:pic>
      <p:sp>
        <p:nvSpPr>
          <p:cNvPr id="6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55</a:t>
            </a:r>
          </a:p>
        </p:txBody>
      </p:sp>
      <p:sp>
        <p:nvSpPr>
          <p:cNvPr id="629" name="EWL-COVER-1"/>
          <p:cNvSpPr/>
          <p:nvPr/>
        </p:nvSpPr>
        <p:spPr>
          <a:xfrm>
            <a:off x="452652" y="5002802"/>
            <a:ext cx="7340493" cy="1318606"/>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cxnSp>
        <p:nvCxnSpPr>
          <p:cNvPr id="665" name="Google Shape;665;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6" name="Google Shape;666;p64"/>
          <p:cNvSpPr txBox="1"/>
          <p:nvPr/>
        </p:nvSpPr>
        <p:spPr>
          <a:xfrm>
            <a:off x="484565" y="936000"/>
            <a:ext cx="1644486" cy="55160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Game 1</a:t>
            </a:r>
            <a:endParaRPr b="0" i="0" sz="2800" u="none" cap="none" strike="noStrike">
              <a:solidFill>
                <a:schemeClr val="dk1"/>
              </a:solidFill>
              <a:latin typeface="Arial"/>
              <a:ea typeface="Arial"/>
              <a:cs typeface="Arial"/>
              <a:sym typeface="Arial"/>
            </a:endParaRPr>
          </a:p>
        </p:txBody>
      </p:sp>
      <p:sp>
        <p:nvSpPr>
          <p:cNvPr id="667" name="Google Shape;667;p64"/>
          <p:cNvSpPr/>
          <p:nvPr/>
        </p:nvSpPr>
        <p:spPr>
          <a:xfrm>
            <a:off x="462092" y="3703331"/>
            <a:ext cx="875704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use the number line to determine the greater value?</a:t>
            </a:r>
            <a:endParaRPr b="0" i="0" sz="2800" u="none" cap="none" strike="noStrike">
              <a:solidFill>
                <a:schemeClr val="dk1"/>
              </a:solidFill>
              <a:latin typeface="Arial"/>
              <a:ea typeface="Arial"/>
              <a:cs typeface="Arial"/>
              <a:sym typeface="Arial"/>
            </a:endParaRPr>
          </a:p>
        </p:txBody>
      </p:sp>
      <p:sp>
        <p:nvSpPr>
          <p:cNvPr id="668" name="Google Shape;668;p64"/>
          <p:cNvSpPr txBox="1"/>
          <p:nvPr/>
        </p:nvSpPr>
        <p:spPr>
          <a:xfrm>
            <a:off x="453267" y="4766619"/>
            <a:ext cx="10155868" cy="15659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compare the location of the values on the number line. The number on the right has a greater value.</a:t>
            </a:r>
            <a:endParaRPr b="0" i="0" sz="1400" u="none" cap="none" strike="noStrike">
              <a:solidFill>
                <a:srgbClr val="000000"/>
              </a:solidFill>
              <a:latin typeface="Arial"/>
              <a:ea typeface="Arial"/>
              <a:cs typeface="Arial"/>
              <a:sym typeface="Arial"/>
            </a:endParaRPr>
          </a:p>
        </p:txBody>
      </p:sp>
      <p:sp>
        <p:nvSpPr>
          <p:cNvPr id="669" name="Google Shape;669;p64"/>
          <p:cNvSpPr/>
          <p:nvPr/>
        </p:nvSpPr>
        <p:spPr>
          <a:xfrm>
            <a:off x="455199" y="1487606"/>
            <a:ext cx="684354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Use a number line to compare the values.</a:t>
            </a:r>
            <a:endParaRPr b="0" i="0" sz="1400" u="none" cap="none" strike="noStrike">
              <a:solidFill>
                <a:srgbClr val="000000"/>
              </a:solidFill>
              <a:latin typeface="Arial"/>
              <a:ea typeface="Arial"/>
              <a:cs typeface="Arial"/>
              <a:sym typeface="Arial"/>
            </a:endParaRPr>
          </a:p>
        </p:txBody>
      </p:sp>
      <p:sp>
        <p:nvSpPr>
          <p:cNvPr id="670" name="Google Shape;670;p64"/>
          <p:cNvSpPr txBox="1"/>
          <p:nvPr/>
        </p:nvSpPr>
        <p:spPr>
          <a:xfrm>
            <a:off x="484565" y="316034"/>
            <a:ext cx="5015483"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Trivia Game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83f5612f80c84b919ecc26bf86bab034\narm24_c10704_se_005a-dig-eps.png" id="671" name="Google Shape;671;p64"/>
          <p:cNvPicPr preferRelativeResize="0"/>
          <p:nvPr/>
        </p:nvPicPr>
        <p:blipFill rotWithShape="1">
          <a:blip r:embed="rId3">
            <a:alphaModFix/>
          </a:blip>
          <a:srcRect b="0" l="0" r="0" t="0"/>
          <a:stretch/>
        </p:blipFill>
        <p:spPr>
          <a:xfrm>
            <a:off x="2129051" y="2501125"/>
            <a:ext cx="4006956" cy="1037614"/>
          </a:xfrm>
          <a:prstGeom prst="rect">
            <a:avLst/>
          </a:prstGeom>
          <a:noFill/>
          <a:ln>
            <a:noFill/>
          </a:ln>
        </p:spPr>
      </p:pic>
      <p:sp>
        <p:nvSpPr>
          <p:cNvPr id="67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55</a:t>
            </a:r>
          </a:p>
        </p:txBody>
      </p:sp>
      <p:sp>
        <p:nvSpPr>
          <p:cNvPr id="673" name="EWL-COVER-1"/>
          <p:cNvSpPr/>
          <p:nvPr/>
        </p:nvSpPr>
        <p:spPr>
          <a:xfrm>
            <a:off x="398403" y="4711755"/>
            <a:ext cx="10265596" cy="1675669"/>
          </a:xfrm>
          <a:prstGeom prst="rect">
            <a:avLst/>
          </a:prstGeom>
          <a:solidFill>
            <a:srgbClr val="FFFFFF"/>
          </a:solidFill>
          <a:ln>
            <a:noFill/>
          </a:ln>
        </p:spPr>
        <p:txBody>
          <a:bodyPr/>
          <a:lstStyle/>
          <a:p/>
        </p:txBody>
      </p:sp>
      <p:sp xmlns:p="http://schemas.openxmlformats.org/presentationml/2006/main" xmlns:a="http://schemas.openxmlformats.org/drawingml/2006/main">
        <p:nvSpPr>
          <p:cNvPr id="674" name="TEACH-embedded-student-prompt" descr="Student thinking and response directions"/>
          <p:cNvSpPr txBox="1"/>
          <p:nvPr/>
        </p:nvSpPr>
        <p:spPr>
          <a:xfrm>
            <a:off x="7391400" y="24505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7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cxnSp>
        <p:nvCxnSpPr>
          <p:cNvPr id="676" name="Google Shape;676;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77" name="Google Shape;677;p65"/>
          <p:cNvSpPr txBox="1"/>
          <p:nvPr/>
        </p:nvSpPr>
        <p:spPr>
          <a:xfrm>
            <a:off x="484566" y="935999"/>
            <a:ext cx="1603542" cy="5516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Game 1</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83f5612f80c84b919ecc26bf86bab034\narm24_c10704_se_005a-dig-eps.png" id="678" name="Google Shape;678;p65"/>
          <p:cNvPicPr preferRelativeResize="0"/>
          <p:nvPr/>
        </p:nvPicPr>
        <p:blipFill rotWithShape="1">
          <a:blip r:embed="rId3">
            <a:alphaModFix/>
          </a:blip>
          <a:srcRect b="0" l="0" r="0" t="0"/>
          <a:stretch/>
        </p:blipFill>
        <p:spPr>
          <a:xfrm>
            <a:off x="2370699" y="1770650"/>
            <a:ext cx="5034881" cy="1303798"/>
          </a:xfrm>
          <a:prstGeom prst="rect">
            <a:avLst/>
          </a:prstGeom>
          <a:noFill/>
          <a:ln>
            <a:noFill/>
          </a:ln>
        </p:spPr>
      </p:pic>
      <p:sp>
        <p:nvSpPr>
          <p:cNvPr id="679" name="Google Shape;679;p65"/>
          <p:cNvSpPr/>
          <p:nvPr/>
        </p:nvSpPr>
        <p:spPr>
          <a:xfrm>
            <a:off x="484565" y="3239040"/>
            <a:ext cx="663194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2 is to the right of −1 on the number line.</a:t>
            </a:r>
            <a:endParaRPr b="0" i="0" sz="2800" u="none" cap="none" strike="noStrike">
              <a:solidFill>
                <a:schemeClr val="dk1"/>
              </a:solidFill>
              <a:latin typeface="Arial"/>
              <a:ea typeface="Arial"/>
              <a:cs typeface="Arial"/>
              <a:sym typeface="Arial"/>
            </a:endParaRPr>
          </a:p>
        </p:txBody>
      </p:sp>
      <p:sp>
        <p:nvSpPr>
          <p:cNvPr id="680" name="Google Shape;680;p65"/>
          <p:cNvSpPr/>
          <p:nvPr/>
        </p:nvSpPr>
        <p:spPr>
          <a:xfrm>
            <a:off x="484565" y="4681602"/>
            <a:ext cx="4236416"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Lucy’s score was greater.</a:t>
            </a:r>
            <a:endParaRPr b="0" i="0" sz="1400" u="none" cap="none" strike="noStrike">
              <a:solidFill>
                <a:srgbClr val="000000"/>
              </a:solidFill>
              <a:latin typeface="Arial"/>
              <a:ea typeface="Arial"/>
              <a:cs typeface="Arial"/>
              <a:sym typeface="Arial"/>
            </a:endParaRPr>
          </a:p>
        </p:txBody>
      </p:sp>
      <p:sp>
        <p:nvSpPr>
          <p:cNvPr id="681" name="Google Shape;681;p65"/>
          <p:cNvSpPr txBox="1"/>
          <p:nvPr/>
        </p:nvSpPr>
        <p:spPr>
          <a:xfrm>
            <a:off x="484565" y="3989667"/>
            <a:ext cx="1400512"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82" name="Google Shape;682;p65"/>
          <p:cNvSpPr txBox="1"/>
          <p:nvPr/>
        </p:nvSpPr>
        <p:spPr>
          <a:xfrm>
            <a:off x="484565" y="316034"/>
            <a:ext cx="5015483"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Trivia Game</a:t>
            </a:r>
            <a:endParaRPr b="0" i="0" sz="1400" u="none" cap="none" strike="noStrike">
              <a:solidFill>
                <a:srgbClr val="000000"/>
              </a:solidFill>
              <a:latin typeface="Arial"/>
              <a:ea typeface="Arial"/>
              <a:cs typeface="Arial"/>
              <a:sym typeface="Arial"/>
            </a:endParaRPr>
          </a:p>
        </p:txBody>
      </p:sp>
      <p:sp>
        <p:nvSpPr>
          <p:cNvPr id="68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55</a:t>
            </a:r>
          </a:p>
        </p:txBody>
      </p:sp>
      <p:sp xmlns:p="http://schemas.openxmlformats.org/presentationml/2006/main" xmlns:a="http://schemas.openxmlformats.org/drawingml/2006/main">
        <p:nvSpPr>
          <p:cNvPr id="684"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the scale and positions on the number line to justify your answer.</a:t>
            </a:r>
            <a:endParaRPr lang="en-US" sz="2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cxnSp>
        <p:nvCxnSpPr>
          <p:cNvPr id="702" name="Google Shape;702;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3" name="Google Shape;703;p67"/>
          <p:cNvSpPr txBox="1"/>
          <p:nvPr/>
        </p:nvSpPr>
        <p:spPr>
          <a:xfrm>
            <a:off x="853200" y="316800"/>
            <a:ext cx="450468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704" name="Google Shape;704;p67"/>
          <p:cNvPicPr preferRelativeResize="0"/>
          <p:nvPr/>
        </p:nvPicPr>
        <p:blipFill rotWithShape="1">
          <a:blip r:embed="rId3">
            <a:alphaModFix/>
          </a:blip>
          <a:srcRect b="0" l="0" r="0" t="0"/>
          <a:stretch/>
        </p:blipFill>
        <p:spPr>
          <a:xfrm>
            <a:off x="499565" y="368708"/>
            <a:ext cx="353635" cy="340537"/>
          </a:xfrm>
          <a:prstGeom prst="rect">
            <a:avLst/>
          </a:prstGeom>
          <a:noFill/>
          <a:ln>
            <a:noFill/>
          </a:ln>
        </p:spPr>
      </p:pic>
      <p:sp>
        <p:nvSpPr>
          <p:cNvPr id="705" name="Google Shape;705;p67"/>
          <p:cNvSpPr txBox="1"/>
          <p:nvPr/>
        </p:nvSpPr>
        <p:spPr>
          <a:xfrm>
            <a:off x="486000" y="4355888"/>
            <a:ext cx="7457080" cy="19720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Lucy had the greater score in Game 2.</a:t>
            </a:r>
            <a:endParaRPr b="1" i="0" sz="2800" u="none" cap="none" strike="noStrike">
              <a:solidFill>
                <a:srgbClr val="595959"/>
              </a:solidFill>
              <a:latin typeface="Arial"/>
              <a:ea typeface="Arial"/>
              <a:cs typeface="Arial"/>
              <a:sym typeface="Arial"/>
            </a:endParaRPr>
          </a:p>
        </p:txBody>
      </p:sp>
      <p:pic>
        <p:nvPicPr>
          <p:cNvPr descr="C:\Users\HP\Desktop\Grade_6_Unit_7-20230217T053830Z-001\Grade_6_Unit_7\OPS\img\.assets\760a5fdfe1564016a3b462789b444e2d\narm24_c10704_se_006a-dig.png" id="706" name="Google Shape;706;p67"/>
          <p:cNvPicPr preferRelativeResize="0"/>
          <p:nvPr/>
        </p:nvPicPr>
        <p:blipFill rotWithShape="1">
          <a:blip r:embed="rId4">
            <a:alphaModFix/>
          </a:blip>
          <a:srcRect b="0" l="0" r="0" t="0"/>
          <a:stretch/>
        </p:blipFill>
        <p:spPr>
          <a:xfrm>
            <a:off x="1929095" y="5559277"/>
            <a:ext cx="3038475" cy="704850"/>
          </a:xfrm>
          <a:prstGeom prst="rect">
            <a:avLst/>
          </a:prstGeom>
          <a:noFill/>
          <a:ln>
            <a:noFill/>
          </a:ln>
        </p:spPr>
      </p:pic>
      <p:sp>
        <p:nvSpPr>
          <p:cNvPr id="707" name="Google Shape;707;p67"/>
          <p:cNvSpPr txBox="1"/>
          <p:nvPr/>
        </p:nvSpPr>
        <p:spPr>
          <a:xfrm>
            <a:off x="485999" y="936001"/>
            <a:ext cx="1738586" cy="48150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Game 2</a:t>
            </a:r>
            <a:r>
              <a:rPr b="0" i="0" lang="en-US" sz="2800" u="none" cap="none" strike="noStrike">
                <a:solidFill>
                  <a:schemeClr val="dk1"/>
                </a:solidFill>
                <a:latin typeface="Arial"/>
                <a:ea typeface="Arial"/>
                <a:cs typeface="Arial"/>
                <a:sym typeface="Arial"/>
              </a:rPr>
              <a:t> </a:t>
            </a:r>
            <a:endParaRPr b="0" i="0" sz="2800" u="none" cap="none" strike="noStrike">
              <a:solidFill>
                <a:schemeClr val="dk1"/>
              </a:solidFill>
              <a:latin typeface="Arial"/>
              <a:ea typeface="Arial"/>
              <a:cs typeface="Arial"/>
              <a:sym typeface="Arial"/>
            </a:endParaRPr>
          </a:p>
        </p:txBody>
      </p:sp>
      <p:sp>
        <p:nvSpPr>
          <p:cNvPr id="708" name="Google Shape;708;p67"/>
          <p:cNvSpPr/>
          <p:nvPr/>
        </p:nvSpPr>
        <p:spPr>
          <a:xfrm>
            <a:off x="485999" y="1474112"/>
            <a:ext cx="770265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Use a number line to compare the values.</a:t>
            </a:r>
            <a:endParaRPr b="0" i="0" sz="2800" u="none" cap="none" strike="noStrike">
              <a:solidFill>
                <a:schemeClr val="dk1"/>
              </a:solidFill>
              <a:latin typeface="Arial"/>
              <a:ea typeface="Arial"/>
              <a:cs typeface="Arial"/>
              <a:sym typeface="Arial"/>
            </a:endParaRPr>
          </a:p>
        </p:txBody>
      </p:sp>
      <p:sp>
        <p:nvSpPr>
          <p:cNvPr id="709" name="Google Shape;709;p67"/>
          <p:cNvSpPr/>
          <p:nvPr/>
        </p:nvSpPr>
        <p:spPr>
          <a:xfrm>
            <a:off x="499565" y="3052798"/>
            <a:ext cx="7568578"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Who had the greater score in Game 2? Use a number line to justify your answer.</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chapter35\616f7e3e605a4ee38d48f2bee08a9435.png" id="710" name="Google Shape;710;p67"/>
          <p:cNvPicPr preferRelativeResize="0"/>
          <p:nvPr/>
        </p:nvPicPr>
        <p:blipFill rotWithShape="1">
          <a:blip r:embed="rId5">
            <a:alphaModFix/>
          </a:blip>
          <a:srcRect b="0" l="0" r="0" t="0"/>
          <a:stretch/>
        </p:blipFill>
        <p:spPr>
          <a:xfrm>
            <a:off x="1692185" y="2336202"/>
            <a:ext cx="3952875" cy="657225"/>
          </a:xfrm>
          <a:prstGeom prst="rect">
            <a:avLst/>
          </a:prstGeom>
          <a:noFill/>
          <a:ln>
            <a:noFill/>
          </a:ln>
        </p:spPr>
      </p:pic>
      <p:pic>
        <p:nvPicPr>
          <p:cNvPr descr="C:\Users\HP\Desktop\Grade_6_Unit_7-20230217T053830Z-001\Grade_6_Unit_7\OPS\img\.assets\91173f6a534341b4a8049e95367f4af9\narm24_c10704_se_013a-dig-eps.png" id="711" name="Google Shape;711;p67"/>
          <p:cNvPicPr preferRelativeResize="0"/>
          <p:nvPr/>
        </p:nvPicPr>
        <p:blipFill rotWithShape="1">
          <a:blip r:embed="rId6">
            <a:alphaModFix/>
          </a:blip>
          <a:srcRect b="0" l="0" r="0" t="0"/>
          <a:stretch/>
        </p:blipFill>
        <p:spPr>
          <a:xfrm>
            <a:off x="8436733" y="1728788"/>
            <a:ext cx="3562350" cy="3400425"/>
          </a:xfrm>
          <a:prstGeom prst="rect">
            <a:avLst/>
          </a:prstGeom>
          <a:noFill/>
          <a:ln>
            <a:noFill/>
          </a:ln>
        </p:spPr>
      </p:pic>
      <p:sp>
        <p:nvSpPr>
          <p:cNvPr id="71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55</a:t>
            </a:r>
          </a:p>
        </p:txBody>
      </p:sp>
      <p:sp>
        <p:nvSpPr>
          <p:cNvPr id="713" name="EWL-COVER-1"/>
          <p:cNvSpPr/>
          <p:nvPr/>
        </p:nvSpPr>
        <p:spPr>
          <a:xfrm>
            <a:off x="431136" y="4301024"/>
            <a:ext cx="7566808" cy="2081743"/>
          </a:xfrm>
          <a:prstGeom prst="rect">
            <a:avLst/>
          </a:prstGeom>
          <a:solidFill>
            <a:srgbClr val="FFFFFF"/>
          </a:solidFill>
          <a:ln>
            <a:noFill/>
          </a:ln>
        </p:spPr>
        <p:txBody>
          <a:bodyPr/>
          <a:lstStyle/>
          <a:p/>
        </p:txBody>
      </p:sp>
      <p:sp>
        <p:nvSpPr>
          <p:cNvPr id="714"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grpSp>
        <p:nvGrpSpPr>
          <p:cNvPr id="715" name="TEACH-5-student-move" descr="TEACH 5 · Facilitate student interactions and academic talk"/>
          <p:cNvGrpSpPr/>
          <p:nvPr/>
        </p:nvGrpSpPr>
        <p:grpSpPr>
          <a:xfrm>
            <a:off x="6187440" y="5473691"/>
            <a:ext cx="5501640" cy="731520"/>
            <a:chOff x="6187440" y="5473691"/>
            <a:chExt cx="5501640" cy="731520"/>
          </a:xfrm>
        </p:grpSpPr>
        <p:sp>
          <p:nvSpPr>
            <p:cNvPr id="716" name="TEACH-move-card"/>
            <p:cNvSpPr/>
            <p:nvPr/>
          </p:nvSpPr>
          <p:spPr>
            <a:xfrm>
              <a:off x="6187440" y="5473691"/>
              <a:ext cx="5501640" cy="731520"/>
            </a:xfrm>
            <a:prstGeom prst="roundRect">
              <a:avLst>
                <a:gd name="adj" fmla="val 16000"/>
              </a:avLst>
            </a:prstGeom>
            <a:solidFill>
              <a:srgbClr val="E4F0F5"/>
            </a:solidFill>
            <a:ln w="19050">
              <a:solidFill>
                <a:srgbClr val="8CB8C7"/>
              </a:solidFill>
            </a:ln>
          </p:spPr>
          <p:txBody>
            <a:bodyPr/>
            <a:lstStyle/>
            <a:p>
              <a:endParaRPr/>
            </a:p>
          </p:txBody>
        </p:sp>
        <p:sp>
          <p:nvSpPr>
            <p:cNvPr id="717" name="TEACH-move-rule"/>
            <p:cNvSpPr/>
            <p:nvPr/>
          </p:nvSpPr>
          <p:spPr>
            <a:xfrm>
              <a:off x="6233160" y="5612680"/>
              <a:ext cx="100584" cy="453542"/>
            </a:xfrm>
            <a:prstGeom prst="roundRect">
              <a:avLst>
                <a:gd name="adj" fmla="val 50000"/>
              </a:avLst>
            </a:prstGeom>
            <a:solidFill>
              <a:srgbClr val="01708C"/>
            </a:solidFill>
            <a:ln>
              <a:noFill/>
            </a:ln>
          </p:spPr>
          <p:txBody>
            <a:bodyPr/>
            <a:lstStyle/>
            <a:p>
              <a:endParaRPr/>
            </a:p>
          </p:txBody>
        </p:sp>
        <p:sp>
          <p:nvSpPr>
            <p:cNvPr id="718" name="TEACH-move-text"/>
            <p:cNvSpPr txBox="1"/>
            <p:nvPr/>
          </p:nvSpPr>
          <p:spPr>
            <a:xfrm>
              <a:off x="6507480" y="5473691"/>
              <a:ext cx="5044440" cy="73152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TAKE TURNS  ·  </a:t>
              </a:r>
              <a:r>
                <a:rPr lang="en-US" sz="1400" dirty="0">
                  <a:solidFill>
                    <a:srgbClr val="13303A"/>
                  </a:solidFill>
                  <a:latin typeface="Arial"/>
                </a:rPr>
                <a:t>One explains, one asks a question. Then switch, so both of you talk.</a:t>
              </a:r>
              <a:endParaRPr lang="en-US" sz="14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cxnSp>
        <p:nvCxnSpPr>
          <p:cNvPr id="716" name="Google Shape;716;p6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17" name="Google Shape;717;p68"/>
          <p:cNvSpPr txBox="1"/>
          <p:nvPr/>
        </p:nvSpPr>
        <p:spPr>
          <a:xfrm>
            <a:off x="484565" y="936000"/>
            <a:ext cx="1685429" cy="5106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Game 2</a:t>
            </a:r>
            <a:endParaRPr b="0" i="0" sz="2800" u="none" cap="none" strike="noStrike">
              <a:solidFill>
                <a:schemeClr val="dk1"/>
              </a:solidFill>
              <a:latin typeface="Arial"/>
              <a:ea typeface="Arial"/>
              <a:cs typeface="Arial"/>
              <a:sym typeface="Arial"/>
            </a:endParaRPr>
          </a:p>
        </p:txBody>
      </p:sp>
      <p:sp>
        <p:nvSpPr>
          <p:cNvPr id="718" name="Google Shape;718;p68"/>
          <p:cNvSpPr/>
          <p:nvPr/>
        </p:nvSpPr>
        <p:spPr>
          <a:xfrm>
            <a:off x="486000" y="2918402"/>
            <a:ext cx="7890095"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−0.5 is to the right of −0.75 on the number line.</a:t>
            </a:r>
            <a:endParaRPr b="0" i="0" sz="2800" u="none" cap="none" strike="noStrike">
              <a:solidFill>
                <a:schemeClr val="dk1"/>
              </a:solidFill>
              <a:latin typeface="Arial"/>
              <a:ea typeface="Arial"/>
              <a:cs typeface="Arial"/>
              <a:sym typeface="Arial"/>
            </a:endParaRPr>
          </a:p>
        </p:txBody>
      </p:sp>
      <p:sp>
        <p:nvSpPr>
          <p:cNvPr id="719" name="Google Shape;719;p68"/>
          <p:cNvSpPr/>
          <p:nvPr/>
        </p:nvSpPr>
        <p:spPr>
          <a:xfrm>
            <a:off x="486000" y="4600423"/>
            <a:ext cx="6141356"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Lucy’s score was greater.</a:t>
            </a:r>
            <a:endParaRPr b="0" i="0" sz="2800" u="none" cap="none" strike="noStrike">
              <a:solidFill>
                <a:schemeClr val="dk1"/>
              </a:solidFill>
              <a:latin typeface="Arial"/>
              <a:ea typeface="Arial"/>
              <a:cs typeface="Arial"/>
              <a:sym typeface="Arial"/>
            </a:endParaRPr>
          </a:p>
        </p:txBody>
      </p:sp>
      <p:sp>
        <p:nvSpPr>
          <p:cNvPr id="720" name="Google Shape;720;p68"/>
          <p:cNvSpPr/>
          <p:nvPr/>
        </p:nvSpPr>
        <p:spPr>
          <a:xfrm>
            <a:off x="3081338" y="3665538"/>
            <a:ext cx="12192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sp>
        <p:nvSpPr>
          <p:cNvPr id="721" name="Google Shape;721;p68"/>
          <p:cNvSpPr txBox="1"/>
          <p:nvPr/>
        </p:nvSpPr>
        <p:spPr>
          <a:xfrm>
            <a:off x="486000" y="3759413"/>
            <a:ext cx="2412007"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22" name="Google Shape;722;p68"/>
          <p:cNvSpPr txBox="1"/>
          <p:nvPr/>
        </p:nvSpPr>
        <p:spPr>
          <a:xfrm>
            <a:off x="484565" y="316034"/>
            <a:ext cx="5015483"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Trivia Game</a:t>
            </a:r>
            <a:endParaRPr b="0" i="0" sz="1400" u="none" cap="none" strike="noStrike">
              <a:solidFill>
                <a:srgbClr val="000000"/>
              </a:solidFill>
              <a:latin typeface="Arial"/>
              <a:ea typeface="Arial"/>
              <a:cs typeface="Arial"/>
              <a:sym typeface="Arial"/>
            </a:endParaRPr>
          </a:p>
        </p:txBody>
      </p:sp>
      <p:pic>
        <p:nvPicPr>
          <p:cNvPr id="723" name="Google Shape;723;p68"/>
          <p:cNvPicPr preferRelativeResize="0"/>
          <p:nvPr/>
        </p:nvPicPr>
        <p:blipFill rotWithShape="1">
          <a:blip r:embed="rId4">
            <a:alphaModFix/>
          </a:blip>
          <a:srcRect b="0" l="0" r="0" t="0"/>
          <a:stretch/>
        </p:blipFill>
        <p:spPr>
          <a:xfrm>
            <a:off x="2500704" y="1699513"/>
            <a:ext cx="4610962" cy="1054297"/>
          </a:xfrm>
          <a:prstGeom prst="rect">
            <a:avLst/>
          </a:prstGeom>
          <a:noFill/>
          <a:ln>
            <a:noFill/>
          </a:ln>
        </p:spPr>
      </p:pic>
      <p:sp>
        <p:nvSpPr>
          <p:cNvPr id="7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55</a:t>
            </a:r>
          </a:p>
        </p:txBody>
      </p:sp>
      <p:sp xmlns:p="http://schemas.openxmlformats.org/presentationml/2006/main" xmlns:a="http://schemas.openxmlformats.org/drawingml/2006/main">
        <p:nvSpPr>
          <p:cNvPr id="725"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the scale and positions on the number line to justify your answer.</a:t>
            </a:r>
            <a:endParaRPr lang="en-US" sz="2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cxnSp>
        <p:nvCxnSpPr>
          <p:cNvPr id="748" name="Google Shape;748;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49" name="Google Shape;749;p71"/>
          <p:cNvSpPr/>
          <p:nvPr/>
        </p:nvSpPr>
        <p:spPr>
          <a:xfrm>
            <a:off x="667791" y="5548313"/>
            <a:ext cx="9274732"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can you represent the relationships between quantities?</a:t>
            </a:r>
            <a:endParaRPr b="0" i="0" sz="2600" u="none" cap="none" strike="noStrike">
              <a:solidFill>
                <a:srgbClr val="595959"/>
              </a:solidFill>
              <a:latin typeface="Arial"/>
              <a:ea typeface="Arial"/>
              <a:cs typeface="Arial"/>
              <a:sym typeface="Arial"/>
            </a:endParaRPr>
          </a:p>
        </p:txBody>
      </p:sp>
      <p:sp>
        <p:nvSpPr>
          <p:cNvPr id="750" name="Google Shape;750;p71"/>
          <p:cNvSpPr txBox="1"/>
          <p:nvPr/>
        </p:nvSpPr>
        <p:spPr>
          <a:xfrm>
            <a:off x="484565" y="316033"/>
            <a:ext cx="5015483" cy="50344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Trivia Game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91173f6a534341b4a8049e95367f4af9\narm24_c10704_se_013a-dig-eps.png" id="751" name="Google Shape;751;p71"/>
          <p:cNvPicPr preferRelativeResize="0"/>
          <p:nvPr/>
        </p:nvPicPr>
        <p:blipFill rotWithShape="1">
          <a:blip r:embed="rId3">
            <a:alphaModFix/>
          </a:blip>
          <a:srcRect b="0" l="0" r="0" t="0"/>
          <a:stretch/>
        </p:blipFill>
        <p:spPr>
          <a:xfrm>
            <a:off x="8436733" y="1728788"/>
            <a:ext cx="3562350" cy="3400425"/>
          </a:xfrm>
          <a:prstGeom prst="rect">
            <a:avLst/>
          </a:prstGeom>
          <a:noFill/>
          <a:ln>
            <a:noFill/>
          </a:ln>
        </p:spPr>
      </p:pic>
      <p:sp>
        <p:nvSpPr>
          <p:cNvPr id="752" name="Google Shape;752;p71"/>
          <p:cNvSpPr/>
          <p:nvPr/>
        </p:nvSpPr>
        <p:spPr>
          <a:xfrm>
            <a:off x="484565" y="1624731"/>
            <a:ext cx="6745794" cy="2826210"/>
          </a:xfrm>
          <a:prstGeom prst="rect">
            <a:avLst/>
          </a:prstGeom>
          <a:noFill/>
          <a:ln cap="flat" cmpd="sng" w="12700">
            <a:solidFill>
              <a:srgbClr val="7030A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53" name="Google Shape;753;p71"/>
          <p:cNvSpPr/>
          <p:nvPr/>
        </p:nvSpPr>
        <p:spPr>
          <a:xfrm>
            <a:off x="667791" y="1751970"/>
            <a:ext cx="3808222" cy="2508379"/>
          </a:xfrm>
          <a:prstGeom prst="rect">
            <a:avLst/>
          </a:prstGeom>
          <a:blipFill rotWithShape="1">
            <a:blip r:embed="rId4">
              <a:alphaModFix/>
            </a:blip>
            <a:stretch>
              <a:fillRect b="-5583" l="-3365" r="0" t="-242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54" name="Google Shape;754;p71"/>
          <p:cNvSpPr txBox="1"/>
          <p:nvPr/>
        </p:nvSpPr>
        <p:spPr>
          <a:xfrm>
            <a:off x="484565" y="936001"/>
            <a:ext cx="6990891" cy="4968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Who is the winner of each game?</a:t>
            </a:r>
            <a:endParaRPr b="1" i="0" sz="2800" u="none" cap="none" strike="noStrike">
              <a:solidFill>
                <a:schemeClr val="dk1"/>
              </a:solidFill>
              <a:latin typeface="Arial"/>
              <a:ea typeface="Arial"/>
              <a:cs typeface="Arial"/>
              <a:sym typeface="Arial"/>
            </a:endParaRPr>
          </a:p>
        </p:txBody>
      </p:sp>
      <p:pic>
        <p:nvPicPr>
          <p:cNvPr id="755" name="Google Shape;755;p71"/>
          <p:cNvPicPr preferRelativeResize="0"/>
          <p:nvPr/>
        </p:nvPicPr>
        <p:blipFill rotWithShape="1">
          <a:blip r:embed="rId5">
            <a:alphaModFix/>
          </a:blip>
          <a:srcRect b="0" l="0" r="0" t="0"/>
          <a:stretch/>
        </p:blipFill>
        <p:spPr>
          <a:xfrm>
            <a:off x="445448" y="4710113"/>
            <a:ext cx="5054600" cy="838200"/>
          </a:xfrm>
          <a:prstGeom prst="rect">
            <a:avLst/>
          </a:prstGeom>
          <a:noFill/>
          <a:ln>
            <a:noFill/>
          </a:ln>
        </p:spPr>
      </p:pic>
      <p:sp>
        <p:nvSpPr>
          <p:cNvPr id="756" name="Google Shape;756;p71"/>
          <p:cNvSpPr/>
          <p:nvPr/>
        </p:nvSpPr>
        <p:spPr>
          <a:xfrm>
            <a:off x="3053205" y="4901969"/>
            <a:ext cx="232627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Representing</a:t>
            </a:r>
            <a:endParaRPr b="0" i="0" sz="1400" u="none" cap="none" strike="noStrike">
              <a:solidFill>
                <a:srgbClr val="000000"/>
              </a:solidFill>
              <a:latin typeface="Arial"/>
              <a:ea typeface="Arial"/>
              <a:cs typeface="Arial"/>
              <a:sym typeface="Arial"/>
            </a:endParaRPr>
          </a:p>
        </p:txBody>
      </p:sp>
      <p:sp>
        <p:nvSpPr>
          <p:cNvPr id="75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55</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cxnSp>
        <p:nvCxnSpPr>
          <p:cNvPr id="761" name="Google Shape;761;p7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62" name="Google Shape;762;p72"/>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763" name="Google Shape;763;p72"/>
          <p:cNvSpPr txBox="1"/>
          <p:nvPr/>
        </p:nvSpPr>
        <p:spPr>
          <a:xfrm>
            <a:off x="484565" y="927528"/>
            <a:ext cx="7540320" cy="1024102"/>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What is another way to write inequalities to compare the scores of each game?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0" i="0" sz="2800" u="none" cap="none" strike="noStrike">
              <a:solidFill>
                <a:schemeClr val="dk1"/>
              </a:solidFill>
              <a:latin typeface="Arial"/>
              <a:ea typeface="Arial"/>
              <a:cs typeface="Arial"/>
              <a:sym typeface="Arial"/>
            </a:endParaRPr>
          </a:p>
        </p:txBody>
      </p:sp>
      <p:sp>
        <p:nvSpPr>
          <p:cNvPr id="764" name="Google Shape;764;p72"/>
          <p:cNvSpPr/>
          <p:nvPr/>
        </p:nvSpPr>
        <p:spPr>
          <a:xfrm>
            <a:off x="484566" y="2129051"/>
            <a:ext cx="7540320" cy="1214650"/>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65" name="Google Shape;765;p72"/>
          <p:cNvSpPr txBox="1"/>
          <p:nvPr/>
        </p:nvSpPr>
        <p:spPr>
          <a:xfrm>
            <a:off x="6818016" y="3005147"/>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66" name="Google Shape;766;p72"/>
          <p:cNvSpPr/>
          <p:nvPr/>
        </p:nvSpPr>
        <p:spPr>
          <a:xfrm>
            <a:off x="484566" y="3543178"/>
            <a:ext cx="7540319" cy="138499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startAt="2"/>
              <a:defRPr/>
            </a:pPr>
            <a:r>
              <a:rPr b="0" i="0" lang="en-US" sz="2800" u="none" cap="none" strike="noStrike">
                <a:solidFill>
                  <a:schemeClr val="dk1"/>
                </a:solidFill>
                <a:latin typeface="Arial"/>
                <a:ea typeface="Arial"/>
                <a:cs typeface="Arial"/>
                <a:sym typeface="Arial"/>
              </a:rPr>
              <a:t>When comparing a positive number to a negative number, which number is always greater?</a:t>
            </a:r>
            <a:endParaRPr b="0" i="0" sz="2800" u="none" cap="none" strike="noStrike">
              <a:solidFill>
                <a:schemeClr val="dk1"/>
              </a:solidFill>
              <a:latin typeface="Arial"/>
              <a:ea typeface="Arial"/>
              <a:cs typeface="Arial"/>
              <a:sym typeface="Arial"/>
            </a:endParaRPr>
          </a:p>
        </p:txBody>
      </p:sp>
      <p:sp>
        <p:nvSpPr>
          <p:cNvPr id="767" name="Google Shape;767;p72"/>
          <p:cNvSpPr/>
          <p:nvPr/>
        </p:nvSpPr>
        <p:spPr>
          <a:xfrm>
            <a:off x="484567" y="5038299"/>
            <a:ext cx="7540320" cy="1214650"/>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68" name="Google Shape;768;p72"/>
          <p:cNvSpPr txBox="1"/>
          <p:nvPr/>
        </p:nvSpPr>
        <p:spPr>
          <a:xfrm>
            <a:off x="6818018" y="5911702"/>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91173f6a534341b4a8049e95367f4af9\narm24_c10704_se_013a-dig-eps.png" id="769" name="Google Shape;769;p72"/>
          <p:cNvPicPr preferRelativeResize="0"/>
          <p:nvPr/>
        </p:nvPicPr>
        <p:blipFill rotWithShape="1">
          <a:blip r:embed="rId3">
            <a:alphaModFix/>
          </a:blip>
          <a:srcRect b="0" l="0" r="0" t="0"/>
          <a:stretch/>
        </p:blipFill>
        <p:spPr>
          <a:xfrm>
            <a:off x="8436733" y="1728788"/>
            <a:ext cx="3562350" cy="3400425"/>
          </a:xfrm>
          <a:prstGeom prst="rect">
            <a:avLst/>
          </a:prstGeom>
          <a:noFill/>
          <a:ln>
            <a:noFill/>
          </a:ln>
        </p:spPr>
      </p:pic>
      <p:sp>
        <p:nvSpPr>
          <p:cNvPr id="77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55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7.4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Which number lies farther right, and how is that different from being farther from zero?</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65" name="Google Shape;665;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6" name="Google Shape;666;p64"/>
          <p:cNvSpPr txBox="1"/>
          <p:nvPr/>
        </p:nvSpPr>
        <p:spPr>
          <a:xfrm>
            <a:off x="484565" y="936000"/>
            <a:ext cx="1644486" cy="55160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Game 1</a:t>
            </a:r>
            <a:endParaRPr b="0" i="0" sz="2800" u="none" cap="none" strike="noStrike">
              <a:solidFill>
                <a:schemeClr val="dk1"/>
              </a:solidFill>
              <a:latin typeface="Arial"/>
              <a:ea typeface="Arial"/>
              <a:cs typeface="Arial"/>
              <a:sym typeface="Arial"/>
            </a:endParaRPr>
          </a:p>
        </p:txBody>
      </p:sp>
      <p:sp>
        <p:nvSpPr>
          <p:cNvPr id="667" name="Google Shape;667;p64"/>
          <p:cNvSpPr/>
          <p:nvPr/>
        </p:nvSpPr>
        <p:spPr>
          <a:xfrm>
            <a:off x="462092" y="3703331"/>
            <a:ext cx="875704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use the number line to determine the greater value?</a:t>
            </a:r>
            <a:endParaRPr b="0" i="0" sz="2800" u="none" cap="none" strike="noStrike">
              <a:solidFill>
                <a:schemeClr val="dk1"/>
              </a:solidFill>
              <a:latin typeface="Arial"/>
              <a:ea typeface="Arial"/>
              <a:cs typeface="Arial"/>
              <a:sym typeface="Arial"/>
            </a:endParaRPr>
          </a:p>
        </p:txBody>
      </p:sp>
      <p:sp>
        <p:nvSpPr>
          <p:cNvPr id="668" name="Google Shape;668;p64"/>
          <p:cNvSpPr txBox="1"/>
          <p:nvPr/>
        </p:nvSpPr>
        <p:spPr>
          <a:xfrm>
            <a:off x="453267" y="4766619"/>
            <a:ext cx="10155868" cy="15659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compare the location of the values on the number line. The number on the right has a greater value.</a:t>
            </a:r>
            <a:endParaRPr b="0" i="0" sz="1400" u="none" cap="none" strike="noStrike">
              <a:solidFill>
                <a:srgbClr val="000000"/>
              </a:solidFill>
              <a:latin typeface="Arial"/>
              <a:ea typeface="Arial"/>
              <a:cs typeface="Arial"/>
              <a:sym typeface="Arial"/>
            </a:endParaRPr>
          </a:p>
        </p:txBody>
      </p:sp>
      <p:sp>
        <p:nvSpPr>
          <p:cNvPr id="669" name="Google Shape;669;p64"/>
          <p:cNvSpPr/>
          <p:nvPr/>
        </p:nvSpPr>
        <p:spPr>
          <a:xfrm>
            <a:off x="455199" y="1487606"/>
            <a:ext cx="684354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Use a number line to compare the values.</a:t>
            </a:r>
            <a:endParaRPr b="0" i="0" sz="1400" u="none" cap="none" strike="noStrike">
              <a:solidFill>
                <a:srgbClr val="000000"/>
              </a:solidFill>
              <a:latin typeface="Arial"/>
              <a:ea typeface="Arial"/>
              <a:cs typeface="Arial"/>
              <a:sym typeface="Arial"/>
            </a:endParaRPr>
          </a:p>
        </p:txBody>
      </p:sp>
      <p:sp>
        <p:nvSpPr>
          <p:cNvPr id="670" name="Google Shape;670;p64"/>
          <p:cNvSpPr txBox="1"/>
          <p:nvPr/>
        </p:nvSpPr>
        <p:spPr>
          <a:xfrm>
            <a:off x="484565" y="316034"/>
            <a:ext cx="5015483"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Trivia Game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83f5612f80c84b919ecc26bf86bab034\narm24_c10704_se_005a-dig-eps.png" id="671" name="Google Shape;671;p64"/>
          <p:cNvPicPr preferRelativeResize="0"/>
          <p:nvPr/>
        </p:nvPicPr>
        <p:blipFill rotWithShape="1">
          <a:blip r:embed="rId2">
            <a:alphaModFix/>
          </a:blip>
          <a:srcRect b="0" l="0" r="0" t="0"/>
          <a:stretch/>
        </p:blipFill>
        <p:spPr>
          <a:xfrm>
            <a:off x="2129051" y="2501125"/>
            <a:ext cx="3457575" cy="895350"/>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55</a:t>
            </a:r>
          </a:p>
        </p:txBody>
      </p:sp>
      <p:sp xmlns:p="http://schemas.openxmlformats.org/presentationml/2006/main" xmlns:a="http://schemas.openxmlformats.org/drawingml/2006/main">
        <p:nvSpPr>
          <p:cNvPr id="672" name="TEACH-embedded-student-prompt" descr="Student thinking and response directions"/>
          <p:cNvSpPr txBox="1"/>
          <p:nvPr/>
        </p:nvSpPr>
        <p:spPr>
          <a:xfrm>
            <a:off x="6111240" y="27614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02" name="Google Shape;702;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3" name="Google Shape;703;p67"/>
          <p:cNvSpPr txBox="1"/>
          <p:nvPr/>
        </p:nvSpPr>
        <p:spPr>
          <a:xfrm>
            <a:off x="853200" y="316800"/>
            <a:ext cx="450468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704" name="Google Shape;704;p67"/>
          <p:cNvPicPr preferRelativeResize="0"/>
          <p:nvPr/>
        </p:nvPicPr>
        <p:blipFill rotWithShape="1">
          <a:blip r:embed="rId2">
            <a:alphaModFix/>
          </a:blip>
          <a:srcRect b="0" l="0" r="0" t="0"/>
          <a:stretch/>
        </p:blipFill>
        <p:spPr>
          <a:xfrm>
            <a:off x="499565" y="368708"/>
            <a:ext cx="353635" cy="340537"/>
          </a:xfrm>
          <a:prstGeom prst="rect">
            <a:avLst/>
          </a:prstGeom>
          <a:noFill/>
          <a:ln>
            <a:noFill/>
          </a:ln>
        </p:spPr>
      </p:pic>
      <p:sp>
        <p:nvSpPr>
          <p:cNvPr id="705" name="Google Shape;705;p67"/>
          <p:cNvSpPr txBox="1"/>
          <p:nvPr/>
        </p:nvSpPr>
        <p:spPr>
          <a:xfrm>
            <a:off x="486000" y="4355888"/>
            <a:ext cx="7457080" cy="19720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Lucy had the greater score in Game 2.</a:t>
            </a:r>
            <a:endParaRPr b="1" i="0" sz="2800" u="none" cap="none" strike="noStrike">
              <a:solidFill>
                <a:srgbClr val="595959"/>
              </a:solidFill>
              <a:latin typeface="Arial"/>
              <a:ea typeface="Arial"/>
              <a:cs typeface="Arial"/>
              <a:sym typeface="Arial"/>
            </a:endParaRPr>
          </a:p>
        </p:txBody>
      </p:sp>
      <p:pic>
        <p:nvPicPr>
          <p:cNvPr descr="C:\Users\HP\Desktop\Grade_6_Unit_7-20230217T053830Z-001\Grade_6_Unit_7\OPS\img\.assets\760a5fdfe1564016a3b462789b444e2d\narm24_c10704_se_006a-dig.png" id="706" name="Google Shape;706;p67"/>
          <p:cNvPicPr preferRelativeResize="0"/>
          <p:nvPr/>
        </p:nvPicPr>
        <p:blipFill rotWithShape="1">
          <a:blip r:embed="rId3">
            <a:alphaModFix/>
          </a:blip>
          <a:srcRect b="0" l="0" r="0" t="0"/>
          <a:stretch/>
        </p:blipFill>
        <p:spPr>
          <a:xfrm>
            <a:off x="1929095" y="5559277"/>
            <a:ext cx="3038475" cy="704850"/>
          </a:xfrm>
          <a:prstGeom prst="rect">
            <a:avLst/>
          </a:prstGeom>
          <a:noFill/>
          <a:ln>
            <a:noFill/>
          </a:ln>
        </p:spPr>
      </p:pic>
      <p:sp>
        <p:nvSpPr>
          <p:cNvPr id="707" name="Google Shape;707;p67"/>
          <p:cNvSpPr txBox="1"/>
          <p:nvPr/>
        </p:nvSpPr>
        <p:spPr>
          <a:xfrm>
            <a:off x="485999" y="936001"/>
            <a:ext cx="1738586" cy="48150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Game 2</a:t>
            </a:r>
            <a:r>
              <a:rPr b="0" i="0" lang="en-US" sz="2800" u="none" cap="none" strike="noStrike">
                <a:solidFill>
                  <a:schemeClr val="dk1"/>
                </a:solidFill>
                <a:latin typeface="Arial"/>
                <a:ea typeface="Arial"/>
                <a:cs typeface="Arial"/>
                <a:sym typeface="Arial"/>
              </a:rPr>
              <a:t> </a:t>
            </a:r>
            <a:endParaRPr b="0" i="0" sz="2800" u="none" cap="none" strike="noStrike">
              <a:solidFill>
                <a:schemeClr val="dk1"/>
              </a:solidFill>
              <a:latin typeface="Arial"/>
              <a:ea typeface="Arial"/>
              <a:cs typeface="Arial"/>
              <a:sym typeface="Arial"/>
            </a:endParaRPr>
          </a:p>
        </p:txBody>
      </p:sp>
      <p:sp>
        <p:nvSpPr>
          <p:cNvPr id="708" name="Google Shape;708;p67"/>
          <p:cNvSpPr/>
          <p:nvPr/>
        </p:nvSpPr>
        <p:spPr>
          <a:xfrm>
            <a:off x="485999" y="1474112"/>
            <a:ext cx="770265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Use a number line to compare the values.</a:t>
            </a:r>
            <a:endParaRPr b="0" i="0" sz="2800" u="none" cap="none" strike="noStrike">
              <a:solidFill>
                <a:schemeClr val="dk1"/>
              </a:solidFill>
              <a:latin typeface="Arial"/>
              <a:ea typeface="Arial"/>
              <a:cs typeface="Arial"/>
              <a:sym typeface="Arial"/>
            </a:endParaRPr>
          </a:p>
        </p:txBody>
      </p:sp>
      <p:sp>
        <p:nvSpPr>
          <p:cNvPr id="709" name="Google Shape;709;p67"/>
          <p:cNvSpPr/>
          <p:nvPr/>
        </p:nvSpPr>
        <p:spPr>
          <a:xfrm>
            <a:off x="499565" y="3052798"/>
            <a:ext cx="7568578"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Who had the greater score in Game 2? Use a number line to justify your answer.</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chapter35\616f7e3e605a4ee38d48f2bee08a9435.png" id="710" name="Google Shape;710;p67"/>
          <p:cNvPicPr preferRelativeResize="0"/>
          <p:nvPr/>
        </p:nvPicPr>
        <p:blipFill rotWithShape="1">
          <a:blip r:embed="rId4">
            <a:alphaModFix/>
          </a:blip>
          <a:srcRect b="0" l="0" r="0" t="0"/>
          <a:stretch/>
        </p:blipFill>
        <p:spPr>
          <a:xfrm>
            <a:off x="1692185" y="2336202"/>
            <a:ext cx="3952875" cy="657225"/>
          </a:xfrm>
          <a:prstGeom prst="rect">
            <a:avLst/>
          </a:prstGeom>
          <a:noFill/>
          <a:ln>
            <a:noFill/>
          </a:ln>
        </p:spPr>
      </p:pic>
      <p:pic>
        <p:nvPicPr>
          <p:cNvPr descr="C:\Users\HP\Desktop\Grade_6_Unit_7-20230217T053830Z-001\Grade_6_Unit_7\OPS\img\.assets\91173f6a534341b4a8049e95367f4af9\narm24_c10704_se_013a-dig-eps.png" id="711" name="Google Shape;711;p67"/>
          <p:cNvPicPr preferRelativeResize="0"/>
          <p:nvPr/>
        </p:nvPicPr>
        <p:blipFill rotWithShape="1">
          <a:blip r:embed="rId5">
            <a:alphaModFix/>
          </a:blip>
          <a:srcRect b="0" l="0" r="0" t="0"/>
          <a:stretch/>
        </p:blipFill>
        <p:spPr>
          <a:xfrm>
            <a:off x="8436733" y="1728788"/>
            <a:ext cx="3562350" cy="3400425"/>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55</a:t>
            </a:r>
          </a:p>
        </p:txBody>
      </p:sp>
      <p:grpSp>
        <p:nvGrpSpPr>
          <p:cNvPr id="712" name="TEACH-5-student-move" descr="TEACH 5 · Facilitate student interactions and academic talk"/>
          <p:cNvGrpSpPr/>
          <p:nvPr/>
        </p:nvGrpSpPr>
        <p:grpSpPr>
          <a:xfrm>
            <a:off x="6187440" y="5473691"/>
            <a:ext cx="5501640" cy="731520"/>
            <a:chOff x="6187440" y="5473691"/>
            <a:chExt cx="5501640" cy="731520"/>
          </a:xfrm>
        </p:grpSpPr>
        <p:sp>
          <p:nvSpPr>
            <p:cNvPr id="713" name="TEACH-move-card"/>
            <p:cNvSpPr/>
            <p:nvPr/>
          </p:nvSpPr>
          <p:spPr>
            <a:xfrm>
              <a:off x="6187440" y="5473691"/>
              <a:ext cx="5501640" cy="731520"/>
            </a:xfrm>
            <a:prstGeom prst="roundRect">
              <a:avLst>
                <a:gd name="adj" fmla="val 16000"/>
              </a:avLst>
            </a:prstGeom>
            <a:solidFill>
              <a:srgbClr val="E4F0F5"/>
            </a:solidFill>
            <a:ln w="19050">
              <a:solidFill>
                <a:srgbClr val="8CB8C7"/>
              </a:solidFill>
            </a:ln>
          </p:spPr>
          <p:txBody>
            <a:bodyPr/>
            <a:lstStyle/>
            <a:p>
              <a:endParaRPr/>
            </a:p>
          </p:txBody>
        </p:sp>
        <p:sp>
          <p:nvSpPr>
            <p:cNvPr id="714" name="TEACH-move-rule"/>
            <p:cNvSpPr/>
            <p:nvPr/>
          </p:nvSpPr>
          <p:spPr>
            <a:xfrm>
              <a:off x="6233160" y="5612680"/>
              <a:ext cx="100584" cy="453542"/>
            </a:xfrm>
            <a:prstGeom prst="roundRect">
              <a:avLst>
                <a:gd name="adj" fmla="val 50000"/>
              </a:avLst>
            </a:prstGeom>
            <a:solidFill>
              <a:srgbClr val="01708C"/>
            </a:solidFill>
            <a:ln>
              <a:noFill/>
            </a:ln>
          </p:spPr>
          <p:txBody>
            <a:bodyPr/>
            <a:lstStyle/>
            <a:p>
              <a:endParaRPr/>
            </a:p>
          </p:txBody>
        </p:sp>
        <p:sp>
          <p:nvSpPr>
            <p:cNvPr id="715" name="TEACH-move-text"/>
            <p:cNvSpPr txBox="1"/>
            <p:nvPr/>
          </p:nvSpPr>
          <p:spPr>
            <a:xfrm>
              <a:off x="6507480" y="5473691"/>
              <a:ext cx="5044440" cy="73152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RESTATE FIRST  ·  </a:t>
              </a:r>
              <a:r>
                <a:rPr lang="en-US" sz="1400" dirty="0">
                  <a:solidFill>
                    <a:srgbClr val="13303A"/>
                  </a:solidFill>
                  <a:latin typeface="Arial"/>
                </a:rPr>
                <a:t>Restate your partner’s idea in your own words before you give yours.</a:t>
              </a:r>
              <a:endParaRPr lang="en-US" sz="14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7-4 · Compare and Order Integers and Rational Numbers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Check what you remember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Which inequality statement is true?</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−7 &gt; −3</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−7 &lt; −3</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 &lt; −7</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−7 = 7</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Order from least to greatest: −5, 2, −1, 0:</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 0, −1, −5</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 −1, 0, 2</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0, −1, 2, −5</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 −5, 0, 2</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Which temperature is coldest?</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−2°F</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−12°F</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0°F</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5°F</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On a horizontal number line, if a &lt; b, then a lies:</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To the right of b</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To the left of b</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Directly on b</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At zero</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55</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7-4 · Compare and Order Integers and Rational Numbers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Comparing Negative Numbers</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 value with greater </a:t>
            </a:r>
            <a:r>
              <a:rPr b="1" i="0" lang="en-US" sz="1450" u="none" cap="none" strike="noStrike">
                <a:solidFill>
                  <a:srgbClr val="475569"/>
                </a:solidFill>
                <a:latin typeface="Arial"/>
                <a:ea typeface="Arial"/>
                <a:cs typeface="Arial"/>
                <a:sym typeface="Arial"/>
              </a:rPr>
              <a:t xml:space="preserve">magnitude</a:t>
            </a:r>
            <a:r>
              <a:rPr b="0" i="0" lang="en-US" sz="1450" u="none" cap="none" strike="noStrike">
                <a:solidFill>
                  <a:srgbClr val="475569"/>
                </a:solidFill>
                <a:latin typeface="Arial"/>
                <a:ea typeface="Arial"/>
                <a:cs typeface="Arial"/>
                <a:sym typeface="Arial"/>
              </a:rPr>
              <a:t xml:space="preserve"> is farther left on a </a:t>
            </a:r>
            <a:r>
              <a:rPr b="1" i="0" lang="en-US" sz="1450" u="none" cap="none" strike="noStrike">
                <a:solidFill>
                  <a:srgbClr val="475569"/>
                </a:solidFill>
                <a:latin typeface="Arial"/>
                <a:ea typeface="Arial"/>
                <a:cs typeface="Arial"/>
                <a:sym typeface="Arial"/>
              </a:rPr>
              <a:t xml:space="preserve">number line</a:t>
            </a:r>
            <a:r>
              <a:rPr b="0" i="0" lang="en-US" sz="1450" u="none" cap="none" strike="noStrike">
                <a:solidFill>
                  <a:srgbClr val="475569"/>
                </a:solidFill>
                <a:latin typeface="Arial"/>
                <a:ea typeface="Arial"/>
                <a:cs typeface="Arial"/>
                <a:sym typeface="Arial"/>
              </a:rPr>
              <a:t xml:space="preserve">, meaning it is smaller (−10 &lt; −2).</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Inequality Notation</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&lt; means ‘is </a:t>
            </a:r>
            <a:r>
              <a:rPr b="1" i="0" lang="en-US" sz="1450" u="none" cap="none" strike="noStrike">
                <a:solidFill>
                  <a:srgbClr val="475569"/>
                </a:solidFill>
                <a:latin typeface="Arial"/>
                <a:ea typeface="Arial"/>
                <a:cs typeface="Arial"/>
                <a:sym typeface="Arial"/>
              </a:rPr>
              <a:t xml:space="preserve">less than</a:t>
            </a:r>
            <a:r>
              <a:rPr b="0" i="0" lang="en-US" sz="1450" u="none" cap="none" strike="noStrike">
                <a:solidFill>
                  <a:srgbClr val="475569"/>
                </a:solidFill>
                <a:latin typeface="Arial"/>
                <a:ea typeface="Arial"/>
                <a:cs typeface="Arial"/>
                <a:sym typeface="Arial"/>
              </a:rPr>
              <a:t xml:space="preserve">’, &gt; means ‘is </a:t>
            </a:r>
            <a:r>
              <a:rPr b="1" i="0" lang="en-US" sz="1450" u="none" cap="none" strike="noStrike">
                <a:solidFill>
                  <a:srgbClr val="475569"/>
                </a:solidFill>
                <a:latin typeface="Arial"/>
                <a:ea typeface="Arial"/>
                <a:cs typeface="Arial"/>
                <a:sym typeface="Arial"/>
              </a:rPr>
              <a:t xml:space="preserve">greater than</a:t>
            </a:r>
            <a:r>
              <a:rPr b="0" i="0" lang="en-US" sz="1450" u="none" cap="none" strike="noStrike">
                <a:solidFill>
                  <a:srgbClr val="475569"/>
                </a:solidFill>
                <a:latin typeface="Arial"/>
                <a:ea typeface="Arial"/>
                <a:cs typeface="Arial"/>
                <a:sym typeface="Arial"/>
              </a:rPr>
              <a:t xml:space="preserve">’. Point open mouth toward greater value.</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Ordering Strategy</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Separate into negatives and positives; place negatives in reverse </a:t>
            </a:r>
            <a:r>
              <a:rPr b="1" i="0" lang="en-US" sz="1450" u="none" cap="none" strike="noStrike">
                <a:solidFill>
                  <a:srgbClr val="475569"/>
                </a:solidFill>
                <a:latin typeface="Arial"/>
                <a:ea typeface="Arial"/>
                <a:cs typeface="Arial"/>
                <a:sym typeface="Arial"/>
              </a:rPr>
              <a:t xml:space="preserve">order</a:t>
            </a:r>
            <a:r>
              <a:rPr b="0" i="0" lang="en-US" sz="1450" u="none" cap="none" strike="noStrike">
                <a:solidFill>
                  <a:srgbClr val="475569"/>
                </a:solidFill>
                <a:latin typeface="Arial"/>
                <a:ea typeface="Arial"/>
                <a:cs typeface="Arial"/>
                <a:sym typeface="Arial"/>
              </a:rPr>
              <a:t xml:space="preserve"> of </a:t>
            </a:r>
            <a:r>
              <a:rPr b="1" i="0" lang="en-US" sz="1450" u="none" cap="none" strike="noStrike">
                <a:solidFill>
                  <a:srgbClr val="475569"/>
                </a:solidFill>
                <a:latin typeface="Arial"/>
                <a:ea typeface="Arial"/>
                <a:cs typeface="Arial"/>
                <a:sym typeface="Arial"/>
              </a:rPr>
              <a:t xml:space="preserve">absolute value</a:t>
            </a:r>
            <a:r>
              <a:rPr b="0" i="0" lang="en-US" sz="1450" u="none" cap="none" strike="noStrike">
                <a:solidFill>
                  <a:srgbClr val="475569"/>
                </a:solidFill>
                <a:latin typeface="Arial"/>
                <a:ea typeface="Arial"/>
                <a:cs typeface="Arial"/>
                <a:sym typeface="Arial"/>
              </a:rPr>
              <a:t xml:space="preserve">.</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55</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73"/>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Compare and Order Integers and Rational Numbers</a:t>
            </a:r>
            <a:endParaRPr b="0" i="0" sz="1400" u="none" cap="none" strike="noStrike">
              <a:solidFill>
                <a:srgbClr val="000000"/>
              </a:solidFill>
              <a:latin typeface="Arial"/>
              <a:ea typeface="Arial"/>
              <a:cs typeface="Arial"/>
              <a:sym typeface="Arial"/>
            </a:endParaRPr>
          </a:p>
        </p:txBody>
      </p:sp>
      <p:sp>
        <p:nvSpPr>
          <p:cNvPr id="775" name="Google Shape;775;p73"/>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76" name="Google Shape;776;p73"/>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7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55</a:t>
            </a:r>
          </a:p>
        </p:txBody>
      </p:sp>
      <p:grpSp>
        <p:nvGrpSpPr>
          <p:cNvPr id="778" name="TEACH-3-student-move" descr="TEACH 3 · Use intentional questioning to deepen learning"/>
          <p:cNvGrpSpPr/>
          <p:nvPr/>
        </p:nvGrpSpPr>
        <p:grpSpPr>
          <a:xfrm>
            <a:off x="502920" y="3867612"/>
            <a:ext cx="11186160" cy="731520"/>
            <a:chOff x="502920" y="3867612"/>
            <a:chExt cx="11186160" cy="731520"/>
          </a:xfrm>
        </p:grpSpPr>
        <p:sp>
          <p:nvSpPr>
            <p:cNvPr id="779"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80"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781"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JUSTIFY IT  ·  </a:t>
              </a:r>
              <a:r>
                <a:rPr lang="en-US" sz="1800" dirty="0">
                  <a:solidFill>
                    <a:srgbClr val="13303A"/>
                  </a:solidFill>
                  <a:latin typeface="Arial"/>
                </a:rPr>
                <a:t>Say it like this: “I know ______ because ______.”</a:t>
              </a:r>
              <a:endParaRPr lang="en-US" sz="1800"/>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cxnSp>
        <p:nvCxnSpPr>
          <p:cNvPr id="823" name="Google Shape;823;p7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4" name="Google Shape;824;p78"/>
          <p:cNvSpPr txBox="1"/>
          <p:nvPr/>
        </p:nvSpPr>
        <p:spPr>
          <a:xfrm>
            <a:off x="486000" y="936000"/>
            <a:ext cx="6897439" cy="180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diagram shows the depths of three Great Lakes. What statements can you make about the relationship among the three lakes?</a:t>
            </a:r>
            <a:endParaRPr b="1" i="0" sz="2800" u="none" cap="none" strike="noStrike">
              <a:solidFill>
                <a:schemeClr val="dk1"/>
              </a:solidFill>
              <a:latin typeface="Arial"/>
              <a:ea typeface="Arial"/>
              <a:cs typeface="Arial"/>
              <a:sym typeface="Arial"/>
            </a:endParaRPr>
          </a:p>
        </p:txBody>
      </p:sp>
      <p:sp>
        <p:nvSpPr>
          <p:cNvPr id="825" name="Google Shape;825;p78"/>
          <p:cNvSpPr/>
          <p:nvPr/>
        </p:nvSpPr>
        <p:spPr>
          <a:xfrm>
            <a:off x="467030" y="2934939"/>
            <a:ext cx="6315907"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depths?</a:t>
            </a:r>
            <a:endParaRPr b="0" i="0" sz="2800" u="none" cap="none" strike="noStrike">
              <a:solidFill>
                <a:schemeClr val="dk1"/>
              </a:solidFill>
              <a:latin typeface="Arial"/>
              <a:ea typeface="Arial"/>
              <a:cs typeface="Arial"/>
              <a:sym typeface="Arial"/>
            </a:endParaRPr>
          </a:p>
        </p:txBody>
      </p:sp>
      <p:sp>
        <p:nvSpPr>
          <p:cNvPr id="826" name="Google Shape;826;p78"/>
          <p:cNvSpPr txBox="1"/>
          <p:nvPr/>
        </p:nvSpPr>
        <p:spPr>
          <a:xfrm>
            <a:off x="467030" y="4326533"/>
            <a:ext cx="7187535" cy="18951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depths are all represented by negative values because they are all below the surface.</a:t>
            </a:r>
            <a:endParaRPr b="1" i="0" sz="2800" u="none" cap="none" strike="noStrike">
              <a:solidFill>
                <a:srgbClr val="595959"/>
              </a:solidFill>
              <a:latin typeface="Arial"/>
              <a:ea typeface="Arial"/>
              <a:cs typeface="Arial"/>
              <a:sym typeface="Arial"/>
            </a:endParaRPr>
          </a:p>
        </p:txBody>
      </p:sp>
      <p:sp>
        <p:nvSpPr>
          <p:cNvPr id="827" name="Google Shape;827;p78"/>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Lake Depths</a:t>
            </a:r>
            <a:endParaRPr b="1" i="0" sz="2800" u="none" cap="none" strike="noStrike">
              <a:solidFill>
                <a:srgbClr val="782DA0"/>
              </a:solidFill>
              <a:latin typeface="Arial"/>
              <a:ea typeface="Arial"/>
              <a:cs typeface="Arial"/>
              <a:sym typeface="Arial"/>
            </a:endParaRPr>
          </a:p>
        </p:txBody>
      </p:sp>
      <p:pic>
        <p:nvPicPr>
          <p:cNvPr descr="C:\Users\HP\Desktop\Grade_6_Unit_7-20230217T053830Z-001\Grade_6_Unit_7\OPS\img\.assets\f1e2490ce45244059b4c611e5714f304\narm24_c10704_se_007a-dig-eps.png" id="828" name="Google Shape;828;p78"/>
          <p:cNvPicPr preferRelativeResize="0"/>
          <p:nvPr/>
        </p:nvPicPr>
        <p:blipFill rotWithShape="1">
          <a:blip r:embed="rId3">
            <a:alphaModFix/>
          </a:blip>
          <a:srcRect b="0" l="0" r="0" t="0"/>
          <a:stretch/>
        </p:blipFill>
        <p:spPr>
          <a:xfrm>
            <a:off x="7769971" y="1701696"/>
            <a:ext cx="3861197" cy="3268854"/>
          </a:xfrm>
          <a:prstGeom prst="rect">
            <a:avLst/>
          </a:prstGeom>
          <a:noFill/>
          <a:ln>
            <a:noFill/>
          </a:ln>
        </p:spPr>
      </p:pic>
      <p:sp>
        <p:nvSpPr>
          <p:cNvPr id="8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55</a:t>
            </a:r>
          </a:p>
        </p:txBody>
      </p:sp>
      <p:sp>
        <p:nvSpPr>
          <p:cNvPr id="830" name="EWL-COVER-1"/>
          <p:cNvSpPr/>
          <p:nvPr/>
        </p:nvSpPr>
        <p:spPr>
          <a:xfrm>
            <a:off x="412166" y="4271669"/>
            <a:ext cx="7297263" cy="2004886"/>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cxnSp>
        <p:nvCxnSpPr>
          <p:cNvPr id="843" name="Google Shape;843;p8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44" name="Google Shape;844;p80"/>
          <p:cNvSpPr txBox="1"/>
          <p:nvPr/>
        </p:nvSpPr>
        <p:spPr>
          <a:xfrm>
            <a:off x="486000" y="936000"/>
            <a:ext cx="6897439" cy="180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diagram shows the depths of three Great Lakes. What statements can you make about the relationship among the three lakes?</a:t>
            </a:r>
            <a:endParaRPr b="1" i="0" sz="2800" u="none" cap="none" strike="noStrike">
              <a:solidFill>
                <a:schemeClr val="dk1"/>
              </a:solidFill>
              <a:latin typeface="Arial"/>
              <a:ea typeface="Arial"/>
              <a:cs typeface="Arial"/>
              <a:sym typeface="Arial"/>
            </a:endParaRPr>
          </a:p>
        </p:txBody>
      </p:sp>
      <p:sp>
        <p:nvSpPr>
          <p:cNvPr id="845" name="Google Shape;845;p80"/>
          <p:cNvSpPr/>
          <p:nvPr/>
        </p:nvSpPr>
        <p:spPr>
          <a:xfrm>
            <a:off x="448062" y="3400057"/>
            <a:ext cx="6315907"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tool can you use to compare the values?</a:t>
            </a:r>
            <a:endParaRPr b="0" i="0" sz="2800" u="none" cap="none" strike="noStrike">
              <a:solidFill>
                <a:schemeClr val="dk1"/>
              </a:solidFill>
              <a:latin typeface="Arial"/>
              <a:ea typeface="Arial"/>
              <a:cs typeface="Arial"/>
              <a:sym typeface="Arial"/>
            </a:endParaRPr>
          </a:p>
        </p:txBody>
      </p:sp>
      <p:sp>
        <p:nvSpPr>
          <p:cNvPr id="846" name="Google Shape;846;p80"/>
          <p:cNvSpPr txBox="1"/>
          <p:nvPr/>
        </p:nvSpPr>
        <p:spPr>
          <a:xfrm>
            <a:off x="448063" y="5030027"/>
            <a:ext cx="6315907" cy="113110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One tool is a number line.</a:t>
            </a:r>
            <a:endParaRPr b="1" i="0" sz="2800" u="none" cap="none" strike="noStrike">
              <a:solidFill>
                <a:srgbClr val="595959"/>
              </a:solidFill>
              <a:latin typeface="Arial"/>
              <a:ea typeface="Arial"/>
              <a:cs typeface="Arial"/>
              <a:sym typeface="Arial"/>
            </a:endParaRPr>
          </a:p>
        </p:txBody>
      </p:sp>
      <p:sp>
        <p:nvSpPr>
          <p:cNvPr id="847" name="Google Shape;847;p80"/>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Lake Depths</a:t>
            </a:r>
            <a:endParaRPr b="1" i="0" sz="2800" u="none" cap="none" strike="noStrike">
              <a:solidFill>
                <a:srgbClr val="782DA0"/>
              </a:solidFill>
              <a:latin typeface="Arial"/>
              <a:ea typeface="Arial"/>
              <a:cs typeface="Arial"/>
              <a:sym typeface="Arial"/>
            </a:endParaRPr>
          </a:p>
        </p:txBody>
      </p:sp>
      <p:pic>
        <p:nvPicPr>
          <p:cNvPr descr="C:\Users\HP\Desktop\Grade_6_Unit_7-20230217T053830Z-001\Grade_6_Unit_7\OPS\img\.assets\f1e2490ce45244059b4c611e5714f304\narm24_c10704_se_007a-dig-eps.png" id="848" name="Google Shape;848;p80"/>
          <p:cNvPicPr preferRelativeResize="0"/>
          <p:nvPr/>
        </p:nvPicPr>
        <p:blipFill rotWithShape="1">
          <a:blip r:embed="rId3">
            <a:alphaModFix/>
          </a:blip>
          <a:srcRect b="0" l="0" r="0" t="0"/>
          <a:stretch/>
        </p:blipFill>
        <p:spPr>
          <a:xfrm>
            <a:off x="7769971" y="1701696"/>
            <a:ext cx="3861197" cy="3268854"/>
          </a:xfrm>
          <a:prstGeom prst="rect">
            <a:avLst/>
          </a:prstGeom>
          <a:noFill/>
          <a:ln>
            <a:noFill/>
          </a:ln>
        </p:spPr>
      </p:pic>
      <p:sp>
        <p:nvSpPr>
          <p:cNvPr id="84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55</a:t>
            </a:r>
          </a:p>
        </p:txBody>
      </p:sp>
      <p:sp>
        <p:nvSpPr>
          <p:cNvPr id="850" name="EWL-COVER-1"/>
          <p:cNvSpPr/>
          <p:nvPr/>
        </p:nvSpPr>
        <p:spPr>
          <a:xfrm>
            <a:off x="393199" y="4975163"/>
            <a:ext cx="6425635" cy="1240837"/>
          </a:xfrm>
          <a:prstGeom prst="rect">
            <a:avLst/>
          </a:prstGeom>
          <a:solidFill>
            <a:srgbClr val="FFFFFF"/>
          </a:solidFill>
          <a:ln>
            <a:noFill/>
          </a:ln>
        </p:spPr>
        <p:txBody>
          <a:bodyPr/>
          <a:lstStyle/>
          <a:p/>
        </p:txBody>
      </p:sp>
      <p:sp xmlns:p="http://schemas.openxmlformats.org/presentationml/2006/main" xmlns:a="http://schemas.openxmlformats.org/drawingml/2006/main">
        <p:nvSpPr>
          <p:cNvPr id="851"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cxnSp>
        <p:nvCxnSpPr>
          <p:cNvPr id="883" name="Google Shape;883;p8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4" name="Google Shape;884;p84"/>
          <p:cNvSpPr txBox="1"/>
          <p:nvPr/>
        </p:nvSpPr>
        <p:spPr>
          <a:xfrm>
            <a:off x="486001" y="936001"/>
            <a:ext cx="7861586" cy="8043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We can compare the numbers on a number line.</a:t>
            </a:r>
            <a:endParaRPr b="1" i="0" sz="2800" u="none" cap="none" strike="noStrike">
              <a:solidFill>
                <a:schemeClr val="dk1"/>
              </a:solidFill>
              <a:latin typeface="Arial"/>
              <a:ea typeface="Arial"/>
              <a:cs typeface="Arial"/>
              <a:sym typeface="Arial"/>
            </a:endParaRPr>
          </a:p>
        </p:txBody>
      </p:sp>
      <p:sp>
        <p:nvSpPr>
          <p:cNvPr id="885" name="Google Shape;885;p84"/>
          <p:cNvSpPr/>
          <p:nvPr/>
        </p:nvSpPr>
        <p:spPr>
          <a:xfrm>
            <a:off x="484564" y="2044005"/>
            <a:ext cx="786158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happens to the values as you move farther down on a vertical number line?</a:t>
            </a:r>
            <a:endParaRPr b="0" i="0" sz="2800" u="none" cap="none" strike="noStrike">
              <a:solidFill>
                <a:schemeClr val="dk1"/>
              </a:solidFill>
              <a:latin typeface="Arial"/>
              <a:ea typeface="Arial"/>
              <a:cs typeface="Arial"/>
              <a:sym typeface="Arial"/>
            </a:endParaRPr>
          </a:p>
        </p:txBody>
      </p:sp>
      <p:sp>
        <p:nvSpPr>
          <p:cNvPr id="886" name="Google Shape;886;p84"/>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Lake Depths</a:t>
            </a:r>
            <a:endParaRPr b="1" i="0" sz="2800" u="none" cap="none" strike="noStrike">
              <a:solidFill>
                <a:srgbClr val="782DA0"/>
              </a:solidFill>
              <a:latin typeface="Arial"/>
              <a:ea typeface="Arial"/>
              <a:cs typeface="Arial"/>
              <a:sym typeface="Arial"/>
            </a:endParaRPr>
          </a:p>
        </p:txBody>
      </p:sp>
      <p:sp>
        <p:nvSpPr>
          <p:cNvPr id="887" name="Google Shape;887;p84"/>
          <p:cNvSpPr txBox="1"/>
          <p:nvPr/>
        </p:nvSpPr>
        <p:spPr>
          <a:xfrm>
            <a:off x="461711" y="4640813"/>
            <a:ext cx="7884438" cy="16098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How would the values appear on a horizontal number line?</a:t>
            </a:r>
            <a:endParaRPr b="0" i="0" sz="1400" u="none" cap="none" strike="noStrike">
              <a:solidFill>
                <a:srgbClr val="000000"/>
              </a:solidFill>
              <a:latin typeface="Arial"/>
              <a:ea typeface="Arial"/>
              <a:cs typeface="Arial"/>
              <a:sym typeface="Arial"/>
            </a:endParaRPr>
          </a:p>
        </p:txBody>
      </p:sp>
      <p:pic>
        <p:nvPicPr>
          <p:cNvPr id="888" name="Google Shape;888;p84"/>
          <p:cNvPicPr preferRelativeResize="0"/>
          <p:nvPr/>
        </p:nvPicPr>
        <p:blipFill rotWithShape="1">
          <a:blip r:embed="rId3">
            <a:alphaModFix/>
          </a:blip>
          <a:srcRect b="0" l="0" r="0" t="0"/>
          <a:stretch/>
        </p:blipFill>
        <p:spPr>
          <a:xfrm>
            <a:off x="9060437" y="1740311"/>
            <a:ext cx="2409897" cy="4450177"/>
          </a:xfrm>
          <a:prstGeom prst="rect">
            <a:avLst/>
          </a:prstGeom>
          <a:noFill/>
          <a:ln>
            <a:noFill/>
          </a:ln>
        </p:spPr>
      </p:pic>
      <p:sp>
        <p:nvSpPr>
          <p:cNvPr id="88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55</a:t>
            </a:r>
          </a:p>
        </p:txBody>
      </p:sp>
      <p:sp xmlns:p="http://schemas.openxmlformats.org/presentationml/2006/main" xmlns:a="http://schemas.openxmlformats.org/drawingml/2006/main">
        <p:nvSpPr>
          <p:cNvPr id="890" name="TEACH-embedded-student-prompt" descr="Student thinking and response directions"/>
          <p:cNvSpPr txBox="1"/>
          <p:nvPr/>
        </p:nvSpPr>
        <p:spPr>
          <a:xfrm>
            <a:off x="594360" y="36758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Use the scale and positions on the number line to</a:t>
            </a:r>
            <a:endParaRPr lang="en-US" sz="2000"/>
          </a:p>
          <a:p>
            <a:pPr>
              <a:lnSpc>
                <a:spcPts val="2400"/>
              </a:lnSpc>
              <a:buNone/>
            </a:pPr>
            <a:r>
              <a:rPr lang="en-US" sz="2000">
                <a:solidFill>
                  <a:srgbClr val="174D60"/>
                </a:solidFill>
                <a:latin typeface="Arial"/>
              </a:rPr>
              <a:t>justify your answer.</a:t>
            </a:r>
            <a:endParaRPr lang="en-US" sz="2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cxnSp>
        <p:nvCxnSpPr>
          <p:cNvPr id="893" name="Google Shape;893;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94" name="Google Shape;894;p85"/>
          <p:cNvSpPr txBox="1"/>
          <p:nvPr/>
        </p:nvSpPr>
        <p:spPr>
          <a:xfrm>
            <a:off x="486001" y="936000"/>
            <a:ext cx="8357748" cy="9337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values get lesser and lesser as you move farther down on a vertical number line.</a:t>
            </a:r>
            <a:endParaRPr b="1" i="0" sz="2800" u="none" cap="none" strike="noStrike">
              <a:solidFill>
                <a:schemeClr val="dk1"/>
              </a:solidFill>
              <a:latin typeface="Arial"/>
              <a:ea typeface="Arial"/>
              <a:cs typeface="Arial"/>
              <a:sym typeface="Arial"/>
            </a:endParaRPr>
          </a:p>
        </p:txBody>
      </p:sp>
      <p:sp>
        <p:nvSpPr>
          <p:cNvPr id="895" name="Google Shape;895;p85"/>
          <p:cNvSpPr/>
          <p:nvPr/>
        </p:nvSpPr>
        <p:spPr>
          <a:xfrm>
            <a:off x="486000" y="2098373"/>
            <a:ext cx="8357749"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−1,333 is the farthest down on the number line.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It is the least of the three numbers.</a:t>
            </a:r>
            <a:endParaRPr b="0" i="0" sz="1400" u="none" cap="none" strike="noStrike">
              <a:solidFill>
                <a:srgbClr val="000000"/>
              </a:solidFill>
              <a:latin typeface="Arial"/>
              <a:ea typeface="Arial"/>
              <a:cs typeface="Arial"/>
              <a:sym typeface="Arial"/>
            </a:endParaRPr>
          </a:p>
        </p:txBody>
      </p:sp>
      <p:sp>
        <p:nvSpPr>
          <p:cNvPr id="896" name="Google Shape;896;p85"/>
          <p:cNvSpPr/>
          <p:nvPr/>
        </p:nvSpPr>
        <p:spPr>
          <a:xfrm>
            <a:off x="485999" y="3325435"/>
            <a:ext cx="818666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−210 is the farthest up on the number line.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It is the greatest of the three numbers.</a:t>
            </a:r>
            <a:endParaRPr b="0" i="0" sz="1400" u="none" cap="none" strike="noStrike">
              <a:solidFill>
                <a:srgbClr val="000000"/>
              </a:solidFill>
              <a:latin typeface="Arial"/>
              <a:ea typeface="Arial"/>
              <a:cs typeface="Arial"/>
              <a:sym typeface="Arial"/>
            </a:endParaRPr>
          </a:p>
        </p:txBody>
      </p:sp>
      <p:sp>
        <p:nvSpPr>
          <p:cNvPr id="897" name="Google Shape;897;p85"/>
          <p:cNvSpPr/>
          <p:nvPr/>
        </p:nvSpPr>
        <p:spPr>
          <a:xfrm>
            <a:off x="486000" y="4633668"/>
            <a:ext cx="8048398"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−802 is in between the other two number.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It is less than −210, but greater than −1,333.</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90babc8c36e744638693e4a6dfdad760\narm24_c10704_se_008a-dig-eps.png" id="898" name="Google Shape;898;p85"/>
          <p:cNvPicPr preferRelativeResize="0"/>
          <p:nvPr/>
        </p:nvPicPr>
        <p:blipFill rotWithShape="1">
          <a:blip r:embed="rId3">
            <a:alphaModFix/>
          </a:blip>
          <a:srcRect b="0" l="0" r="0" t="0"/>
          <a:stretch/>
        </p:blipFill>
        <p:spPr>
          <a:xfrm>
            <a:off x="9061200" y="1738800"/>
            <a:ext cx="2390168" cy="4451688"/>
          </a:xfrm>
          <a:prstGeom prst="rect">
            <a:avLst/>
          </a:prstGeom>
          <a:noFill/>
          <a:ln>
            <a:noFill/>
          </a:ln>
        </p:spPr>
      </p:pic>
      <p:sp>
        <p:nvSpPr>
          <p:cNvPr id="899" name="Google Shape;899;p85"/>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Lake Depths</a:t>
            </a:r>
            <a:endParaRPr b="1" i="0" sz="2800" u="none" cap="none" strike="noStrike">
              <a:solidFill>
                <a:srgbClr val="782DA0"/>
              </a:solidFill>
              <a:latin typeface="Arial"/>
              <a:ea typeface="Arial"/>
              <a:cs typeface="Arial"/>
              <a:sym typeface="Arial"/>
            </a:endParaRPr>
          </a:p>
        </p:txBody>
      </p:sp>
      <p:sp>
        <p:nvSpPr>
          <p:cNvPr id="90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55</a:t>
            </a:r>
          </a:p>
        </p:txBody>
      </p:sp>
      <p:grpSp>
        <p:nvGrpSpPr>
          <p:cNvPr id="901" name="TEACH-6-student-move" descr="TEACH 6 · Organize and implement routines to support a learning-focused classroom"/>
          <p:cNvGrpSpPr/>
          <p:nvPr/>
        </p:nvGrpSpPr>
        <p:grpSpPr>
          <a:xfrm>
            <a:off x="502920" y="5670071"/>
            <a:ext cx="5501640" cy="594360"/>
            <a:chOff x="502920" y="5670071"/>
            <a:chExt cx="5501640" cy="594360"/>
          </a:xfrm>
        </p:grpSpPr>
        <p:sp>
          <p:nvSpPr>
            <p:cNvPr id="902" name="TEACH-move-card"/>
            <p:cNvSpPr/>
            <p:nvPr/>
          </p:nvSpPr>
          <p:spPr>
            <a:xfrm>
              <a:off x="502920" y="5670071"/>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03" name="TEACH-move-rule"/>
            <p:cNvSpPr/>
            <p:nvPr/>
          </p:nvSpPr>
          <p:spPr>
            <a:xfrm>
              <a:off x="548640" y="5782999"/>
              <a:ext cx="100584" cy="368504"/>
            </a:xfrm>
            <a:prstGeom prst="roundRect">
              <a:avLst>
                <a:gd name="adj" fmla="val 50000"/>
              </a:avLst>
            </a:prstGeom>
            <a:solidFill>
              <a:srgbClr val="01708C"/>
            </a:solidFill>
            <a:ln>
              <a:noFill/>
            </a:ln>
          </p:spPr>
          <p:txBody>
            <a:bodyPr/>
            <a:lstStyle/>
            <a:p>
              <a:endParaRPr/>
            </a:p>
          </p:txBody>
        </p:sp>
        <p:sp>
          <p:nvSpPr>
            <p:cNvPr id="904" name="TEACH-move-text"/>
            <p:cNvSpPr txBox="1"/>
            <p:nvPr/>
          </p:nvSpPr>
          <p:spPr>
            <a:xfrm>
              <a:off x="822960" y="5670071"/>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cxnSp>
        <p:nvCxnSpPr>
          <p:cNvPr id="913" name="Google Shape;913;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4" name="Google Shape;914;p87"/>
          <p:cNvSpPr txBox="1"/>
          <p:nvPr/>
        </p:nvSpPr>
        <p:spPr>
          <a:xfrm>
            <a:off x="486002" y="936000"/>
            <a:ext cx="7357099" cy="9337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How can you write mathematical statements to compare the values?</a:t>
            </a:r>
            <a:endParaRPr b="0" i="0" sz="2800" u="none" cap="none" strike="noStrike">
              <a:solidFill>
                <a:schemeClr val="dk1"/>
              </a:solidFill>
              <a:latin typeface="Arial"/>
              <a:ea typeface="Arial"/>
              <a:cs typeface="Arial"/>
              <a:sym typeface="Arial"/>
            </a:endParaRPr>
          </a:p>
        </p:txBody>
      </p:sp>
      <p:sp>
        <p:nvSpPr>
          <p:cNvPr id="915" name="Google Shape;915;p87"/>
          <p:cNvSpPr txBox="1"/>
          <p:nvPr/>
        </p:nvSpPr>
        <p:spPr>
          <a:xfrm>
            <a:off x="458704" y="4763101"/>
            <a:ext cx="8025420" cy="1505724"/>
          </a:xfrm>
          <a:prstGeom prst="rect">
            <a:avLst/>
          </a:prstGeom>
          <a:blipFill rotWithShape="1">
            <a:blip r:embed="rId3">
              <a:alphaModFix/>
            </a:blip>
            <a:stretch>
              <a:fillRect b="-7287" l="-1519" r="0" t="-404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16" name="Google Shape;916;p87"/>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Lake Depths</a:t>
            </a:r>
            <a:endParaRPr b="1" i="0" sz="2800" u="none" cap="none" strike="noStrike">
              <a:solidFill>
                <a:srgbClr val="782DA0"/>
              </a:solidFill>
              <a:latin typeface="Arial"/>
              <a:ea typeface="Arial"/>
              <a:cs typeface="Arial"/>
              <a:sym typeface="Arial"/>
            </a:endParaRPr>
          </a:p>
        </p:txBody>
      </p:sp>
      <p:pic>
        <p:nvPicPr>
          <p:cNvPr descr="C:\Users\HP\Desktop\Grade_6_Unit_7-20230217T053830Z-001\Grade_6_Unit_7\OPS\img\.assets\90babc8c36e744638693e4a6dfdad760\narm24_c10704_se_008a-dig-eps.png" id="917" name="Google Shape;917;p87"/>
          <p:cNvPicPr preferRelativeResize="0"/>
          <p:nvPr/>
        </p:nvPicPr>
        <p:blipFill rotWithShape="1">
          <a:blip r:embed="rId4">
            <a:alphaModFix/>
          </a:blip>
          <a:srcRect b="0" l="0" r="0" t="0"/>
          <a:stretch/>
        </p:blipFill>
        <p:spPr>
          <a:xfrm>
            <a:off x="9061200" y="1738800"/>
            <a:ext cx="2390168" cy="4451688"/>
          </a:xfrm>
          <a:prstGeom prst="rect">
            <a:avLst/>
          </a:prstGeom>
          <a:noFill/>
          <a:ln>
            <a:noFill/>
          </a:ln>
        </p:spPr>
      </p:pic>
      <p:sp>
        <p:nvSpPr>
          <p:cNvPr id="91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55</a:t>
            </a:r>
          </a:p>
        </p:txBody>
      </p:sp>
      <p:sp xmlns:p="http://schemas.openxmlformats.org/presentationml/2006/main" xmlns:a="http://schemas.openxmlformats.org/drawingml/2006/main">
        <p:nvSpPr>
          <p:cNvPr id="919" name="TEACH-embedded-student-prompt" descr="Student thinking and response directions"/>
          <p:cNvSpPr txBox="1"/>
          <p:nvPr/>
        </p:nvSpPr>
        <p:spPr>
          <a:xfrm>
            <a:off x="594360" y="385876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cxnSp>
        <p:nvCxnSpPr>
          <p:cNvPr id="922" name="Google Shape;922;p8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3" name="Google Shape;923;p88"/>
          <p:cNvSpPr txBox="1"/>
          <p:nvPr/>
        </p:nvSpPr>
        <p:spPr>
          <a:xfrm>
            <a:off x="486000" y="936000"/>
            <a:ext cx="6897439" cy="101563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Let’s write mathematical statements to compare the numbers.</a:t>
            </a:r>
            <a:endParaRPr b="1" i="0" sz="2800" u="none" cap="none" strike="noStrike">
              <a:solidFill>
                <a:schemeClr val="dk1"/>
              </a:solidFill>
              <a:latin typeface="Arial"/>
              <a:ea typeface="Arial"/>
              <a:cs typeface="Arial"/>
              <a:sym typeface="Arial"/>
            </a:endParaRPr>
          </a:p>
        </p:txBody>
      </p:sp>
      <p:sp>
        <p:nvSpPr>
          <p:cNvPr id="924" name="Google Shape;924;p88"/>
          <p:cNvSpPr/>
          <p:nvPr/>
        </p:nvSpPr>
        <p:spPr>
          <a:xfrm>
            <a:off x="491639" y="2055240"/>
            <a:ext cx="660453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−1,333 is the least of the three numbers.</a:t>
            </a:r>
            <a:endParaRPr b="0" i="0" sz="2800" u="none" cap="none" strike="noStrike">
              <a:solidFill>
                <a:schemeClr val="dk1"/>
              </a:solidFill>
              <a:latin typeface="Arial"/>
              <a:ea typeface="Arial"/>
              <a:cs typeface="Arial"/>
              <a:sym typeface="Arial"/>
            </a:endParaRPr>
          </a:p>
        </p:txBody>
      </p:sp>
      <p:sp>
        <p:nvSpPr>
          <p:cNvPr id="925" name="Google Shape;925;p88"/>
          <p:cNvSpPr/>
          <p:nvPr/>
        </p:nvSpPr>
        <p:spPr>
          <a:xfrm>
            <a:off x="511045" y="2916707"/>
            <a:ext cx="687239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−210 is the greatest of the three numbers.</a:t>
            </a:r>
            <a:endParaRPr b="0" i="0" sz="2800" u="none" cap="none" strike="noStrike">
              <a:solidFill>
                <a:schemeClr val="dk1"/>
              </a:solidFill>
              <a:latin typeface="Arial"/>
              <a:ea typeface="Arial"/>
              <a:cs typeface="Arial"/>
              <a:sym typeface="Arial"/>
            </a:endParaRPr>
          </a:p>
        </p:txBody>
      </p:sp>
      <p:sp>
        <p:nvSpPr>
          <p:cNvPr id="926" name="Google Shape;926;p88"/>
          <p:cNvSpPr/>
          <p:nvPr/>
        </p:nvSpPr>
        <p:spPr>
          <a:xfrm>
            <a:off x="511045" y="3870938"/>
            <a:ext cx="785343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−802 is less than −210, but greater than −1,333.</a:t>
            </a:r>
            <a:endParaRPr b="0" i="0" sz="1400" u="none" cap="none" strike="noStrike">
              <a:solidFill>
                <a:srgbClr val="000000"/>
              </a:solidFill>
              <a:latin typeface="Arial"/>
              <a:ea typeface="Arial"/>
              <a:cs typeface="Arial"/>
              <a:sym typeface="Arial"/>
            </a:endParaRPr>
          </a:p>
        </p:txBody>
      </p:sp>
      <p:sp>
        <p:nvSpPr>
          <p:cNvPr id="927" name="Google Shape;927;p88"/>
          <p:cNvSpPr/>
          <p:nvPr/>
        </p:nvSpPr>
        <p:spPr>
          <a:xfrm>
            <a:off x="484565" y="4808268"/>
            <a:ext cx="6215051" cy="523220"/>
          </a:xfrm>
          <a:prstGeom prst="rect">
            <a:avLst/>
          </a:prstGeom>
          <a:blipFill rotWithShape="1">
            <a:blip r:embed="rId3">
              <a:alphaModFix/>
            </a:blip>
            <a:stretch>
              <a:fillRect b="-32559" l="0" r="0" t="-1162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28" name="Google Shape;928;p88"/>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Lake Depths</a:t>
            </a:r>
            <a:endParaRPr b="1" i="0" sz="2800" u="none" cap="none" strike="noStrike">
              <a:solidFill>
                <a:srgbClr val="782DA0"/>
              </a:solidFill>
              <a:latin typeface="Arial"/>
              <a:ea typeface="Arial"/>
              <a:cs typeface="Arial"/>
              <a:sym typeface="Arial"/>
            </a:endParaRPr>
          </a:p>
        </p:txBody>
      </p:sp>
      <p:pic>
        <p:nvPicPr>
          <p:cNvPr descr="C:\Users\HP\Desktop\Grade_6_Unit_7-20230217T053830Z-001\Grade_6_Unit_7\OPS\img\.assets\90babc8c36e744638693e4a6dfdad760\narm24_c10704_se_008a-dig-eps.png" id="929" name="Google Shape;929;p88"/>
          <p:cNvPicPr preferRelativeResize="0"/>
          <p:nvPr/>
        </p:nvPicPr>
        <p:blipFill rotWithShape="1">
          <a:blip r:embed="rId4">
            <a:alphaModFix/>
          </a:blip>
          <a:srcRect b="0" l="0" r="0" t="0"/>
          <a:stretch/>
        </p:blipFill>
        <p:spPr>
          <a:xfrm>
            <a:off x="9061200" y="1738800"/>
            <a:ext cx="2390168" cy="4451688"/>
          </a:xfrm>
          <a:prstGeom prst="rect">
            <a:avLst/>
          </a:prstGeom>
          <a:noFill/>
          <a:ln>
            <a:noFill/>
          </a:ln>
        </p:spPr>
      </p:pic>
      <p:sp>
        <p:nvSpPr>
          <p:cNvPr id="9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55</a:t>
            </a:r>
          </a:p>
        </p:txBody>
      </p:sp>
      <p:sp xmlns:p="http://schemas.openxmlformats.org/presentationml/2006/main" xmlns:a="http://schemas.openxmlformats.org/drawingml/2006/main">
        <p:nvSpPr>
          <p:cNvPr id="931" name="TEACH-embedded-student-prompt" descr="Student thinking and response directions"/>
          <p:cNvSpPr txBox="1"/>
          <p:nvPr/>
        </p:nvSpPr>
        <p:spPr>
          <a:xfrm>
            <a:off x="5943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cxnSp>
        <p:nvCxnSpPr>
          <p:cNvPr id="944" name="Google Shape;944;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45" name="Google Shape;945;p90"/>
          <p:cNvSpPr txBox="1"/>
          <p:nvPr/>
        </p:nvSpPr>
        <p:spPr>
          <a:xfrm>
            <a:off x="467029" y="936000"/>
            <a:ext cx="7061212" cy="10019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look at another way to compare the numbers.</a:t>
            </a:r>
            <a:endParaRPr b="1" i="0" sz="2800" u="none" cap="none" strike="noStrike">
              <a:solidFill>
                <a:schemeClr val="dk1"/>
              </a:solidFill>
              <a:latin typeface="Arial"/>
              <a:ea typeface="Arial"/>
              <a:cs typeface="Arial"/>
              <a:sym typeface="Arial"/>
            </a:endParaRPr>
          </a:p>
        </p:txBody>
      </p:sp>
      <p:sp>
        <p:nvSpPr>
          <p:cNvPr id="946" name="Google Shape;946;p90"/>
          <p:cNvSpPr/>
          <p:nvPr/>
        </p:nvSpPr>
        <p:spPr>
          <a:xfrm>
            <a:off x="459392" y="1937982"/>
            <a:ext cx="8197911"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As the negative numbers decrease in value, what do you notice about their distances from 0? How does this relate to absolute value?</a:t>
            </a:r>
            <a:endParaRPr b="0" i="0" sz="2800" u="none" cap="none" strike="noStrike">
              <a:solidFill>
                <a:schemeClr val="dk1"/>
              </a:solidFill>
              <a:latin typeface="Arial"/>
              <a:ea typeface="Arial"/>
              <a:cs typeface="Arial"/>
              <a:sym typeface="Arial"/>
            </a:endParaRPr>
          </a:p>
        </p:txBody>
      </p:sp>
      <p:sp>
        <p:nvSpPr>
          <p:cNvPr id="947" name="Google Shape;947;p90"/>
          <p:cNvSpPr txBox="1"/>
          <p:nvPr/>
        </p:nvSpPr>
        <p:spPr>
          <a:xfrm>
            <a:off x="459391" y="3542994"/>
            <a:ext cx="8197911" cy="2499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As the negative numbers decrease in value, they get farther and farther away from 0. This means that as the value of the negative numbers decreases, the absolute value increases.</a:t>
            </a:r>
            <a:endParaRPr b="1" i="0" sz="2800" u="none" cap="none" strike="noStrike">
              <a:solidFill>
                <a:srgbClr val="595959"/>
              </a:solidFill>
              <a:latin typeface="Arial"/>
              <a:ea typeface="Arial"/>
              <a:cs typeface="Arial"/>
              <a:sym typeface="Arial"/>
            </a:endParaRPr>
          </a:p>
        </p:txBody>
      </p:sp>
      <p:sp>
        <p:nvSpPr>
          <p:cNvPr id="948" name="Google Shape;948;p90"/>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Lake Depths</a:t>
            </a:r>
            <a:endParaRPr b="1" i="0" sz="2800" u="none" cap="none" strike="noStrike">
              <a:solidFill>
                <a:srgbClr val="782DA0"/>
              </a:solidFill>
              <a:latin typeface="Arial"/>
              <a:ea typeface="Arial"/>
              <a:cs typeface="Arial"/>
              <a:sym typeface="Arial"/>
            </a:endParaRPr>
          </a:p>
        </p:txBody>
      </p:sp>
      <p:pic>
        <p:nvPicPr>
          <p:cNvPr descr="C:\Users\HP\Desktop\Grade_6_Unit_7-20230217T053830Z-001\Grade_6_Unit_7\OPS\img\.assets\90babc8c36e744638693e4a6dfdad760\narm24_c10704_se_008a-dig-eps.png" id="949" name="Google Shape;949;p90"/>
          <p:cNvPicPr preferRelativeResize="0"/>
          <p:nvPr/>
        </p:nvPicPr>
        <p:blipFill rotWithShape="1">
          <a:blip r:embed="rId3">
            <a:alphaModFix/>
          </a:blip>
          <a:srcRect b="0" l="0" r="0" t="0"/>
          <a:stretch/>
        </p:blipFill>
        <p:spPr>
          <a:xfrm>
            <a:off x="9061200" y="1738800"/>
            <a:ext cx="2390168" cy="4451688"/>
          </a:xfrm>
          <a:prstGeom prst="rect">
            <a:avLst/>
          </a:prstGeom>
          <a:noFill/>
          <a:ln>
            <a:noFill/>
          </a:ln>
        </p:spPr>
      </p:pic>
      <p:sp>
        <p:nvSpPr>
          <p:cNvPr id="9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55</a:t>
            </a:r>
          </a:p>
        </p:txBody>
      </p:sp>
      <p:sp>
        <p:nvSpPr>
          <p:cNvPr id="951" name="EWL-COVER-1"/>
          <p:cNvSpPr/>
          <p:nvPr/>
        </p:nvSpPr>
        <p:spPr>
          <a:xfrm>
            <a:off x="404527" y="3488130"/>
            <a:ext cx="8307639" cy="2609315"/>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5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cxnSp>
        <p:nvCxnSpPr>
          <p:cNvPr id="967" name="Google Shape;967;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68" name="Google Shape;968;p92"/>
          <p:cNvSpPr txBox="1"/>
          <p:nvPr/>
        </p:nvSpPr>
        <p:spPr>
          <a:xfrm>
            <a:off x="853200" y="316800"/>
            <a:ext cx="450468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969" name="Google Shape;969;p92"/>
          <p:cNvPicPr preferRelativeResize="0"/>
          <p:nvPr/>
        </p:nvPicPr>
        <p:blipFill rotWithShape="1">
          <a:blip r:embed="rId3">
            <a:alphaModFix/>
          </a:blip>
          <a:srcRect b="0" l="0" r="0" t="0"/>
          <a:stretch/>
        </p:blipFill>
        <p:spPr>
          <a:xfrm>
            <a:off x="499565" y="368708"/>
            <a:ext cx="353635" cy="340537"/>
          </a:xfrm>
          <a:prstGeom prst="rect">
            <a:avLst/>
          </a:prstGeom>
          <a:noFill/>
          <a:ln>
            <a:noFill/>
          </a:ln>
        </p:spPr>
      </p:pic>
      <p:sp>
        <p:nvSpPr>
          <p:cNvPr id="970" name="Google Shape;970;p92"/>
          <p:cNvSpPr txBox="1"/>
          <p:nvPr/>
        </p:nvSpPr>
        <p:spPr>
          <a:xfrm>
            <a:off x="499564" y="4672093"/>
            <a:ext cx="7811843" cy="1167993"/>
          </a:xfrm>
          <a:prstGeom prst="rect">
            <a:avLst/>
          </a:prstGeom>
          <a:blipFill rotWithShape="1">
            <a:blip r:embed="rId4">
              <a:alphaModFix/>
            </a:blip>
            <a:stretch>
              <a:fillRect b="-1562" l="-1639" r="0" t="-520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1" name="Google Shape;971;p92"/>
          <p:cNvSpPr txBox="1"/>
          <p:nvPr/>
        </p:nvSpPr>
        <p:spPr>
          <a:xfrm>
            <a:off x="485999" y="936000"/>
            <a:ext cx="7687040" cy="15751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As the value of the negative numbers decreases, the absolute value of the negative numbers increases.</a:t>
            </a:r>
            <a:endParaRPr b="0" i="0" sz="2800" u="none" cap="none" strike="noStrike">
              <a:solidFill>
                <a:schemeClr val="dk1"/>
              </a:solidFill>
              <a:latin typeface="Arial"/>
              <a:ea typeface="Arial"/>
              <a:cs typeface="Arial"/>
              <a:sym typeface="Arial"/>
            </a:endParaRPr>
          </a:p>
        </p:txBody>
      </p:sp>
      <p:sp>
        <p:nvSpPr>
          <p:cNvPr id="972" name="Google Shape;972;p92"/>
          <p:cNvSpPr/>
          <p:nvPr/>
        </p:nvSpPr>
        <p:spPr>
          <a:xfrm>
            <a:off x="499564" y="2785952"/>
            <a:ext cx="796570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do the absolute values of the numbers compare?</a:t>
            </a:r>
            <a:endParaRPr b="0" i="0" sz="2800" u="none" cap="none" strike="noStrike">
              <a:solidFill>
                <a:schemeClr val="dk1"/>
              </a:solidFill>
              <a:latin typeface="Arial"/>
              <a:ea typeface="Arial"/>
              <a:cs typeface="Arial"/>
              <a:sym typeface="Arial"/>
            </a:endParaRPr>
          </a:p>
        </p:txBody>
      </p:sp>
      <p:pic>
        <p:nvPicPr>
          <p:cNvPr id="973" name="Google Shape;973;p92"/>
          <p:cNvPicPr preferRelativeResize="0"/>
          <p:nvPr/>
        </p:nvPicPr>
        <p:blipFill rotWithShape="1">
          <a:blip r:embed="rId5">
            <a:alphaModFix/>
          </a:blip>
          <a:srcRect b="0" l="0" r="0" t="0"/>
          <a:stretch/>
        </p:blipFill>
        <p:spPr>
          <a:xfrm>
            <a:off x="9061200" y="1738799"/>
            <a:ext cx="2964000" cy="3600000"/>
          </a:xfrm>
          <a:prstGeom prst="rect">
            <a:avLst/>
          </a:prstGeom>
          <a:noFill/>
          <a:ln>
            <a:noFill/>
          </a:ln>
        </p:spPr>
      </p:pic>
      <p:sp>
        <p:nvSpPr>
          <p:cNvPr id="97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55</a:t>
            </a:r>
          </a:p>
        </p:txBody>
      </p:sp>
      <p:sp>
        <p:nvSpPr>
          <p:cNvPr id="975"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grpSp>
        <p:nvGrpSpPr>
          <p:cNvPr id="976" name="TEACH-5-student-move" descr="TEACH 5 · Facilitate student interactions and academic talk"/>
          <p:cNvGrpSpPr/>
          <p:nvPr/>
        </p:nvGrpSpPr>
        <p:grpSpPr>
          <a:xfrm>
            <a:off x="502920" y="5876662"/>
            <a:ext cx="11186160" cy="402336"/>
            <a:chOff x="502920" y="5876662"/>
            <a:chExt cx="11186160" cy="402336"/>
          </a:xfrm>
        </p:grpSpPr>
        <p:sp>
          <p:nvSpPr>
            <p:cNvPr id="977" name="TEACH-move-card"/>
            <p:cNvSpPr/>
            <p:nvPr/>
          </p:nvSpPr>
          <p:spPr>
            <a:xfrm>
              <a:off x="502920" y="587666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78" name="TEACH-move-rule"/>
            <p:cNvSpPr/>
            <p:nvPr/>
          </p:nvSpPr>
          <p:spPr>
            <a:xfrm>
              <a:off x="548640" y="5953106"/>
              <a:ext cx="100584" cy="249448"/>
            </a:xfrm>
            <a:prstGeom prst="roundRect">
              <a:avLst>
                <a:gd name="adj" fmla="val 50000"/>
              </a:avLst>
            </a:prstGeom>
            <a:solidFill>
              <a:srgbClr val="01708C"/>
            </a:solidFill>
            <a:ln>
              <a:noFill/>
            </a:ln>
          </p:spPr>
          <p:txBody>
            <a:bodyPr/>
            <a:lstStyle/>
            <a:p>
              <a:endParaRPr/>
            </a:p>
          </p:txBody>
        </p:sp>
        <p:sp>
          <p:nvSpPr>
            <p:cNvPr id="979" name="TEACH-move-text"/>
            <p:cNvSpPr txBox="1"/>
            <p:nvPr/>
          </p:nvSpPr>
          <p:spPr>
            <a:xfrm>
              <a:off x="822960" y="587666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TEACH A PARTNER  ·  </a:t>
              </a:r>
              <a:r>
                <a:rPr lang="en-US" sz="1200" dirty="0">
                  <a:solidFill>
                    <a:srgbClr val="13303A"/>
                  </a:solidFill>
                  <a:latin typeface="Arial"/>
                </a:rPr>
                <a:t>Teach this to someone who missed it. If you can teach it, you know it.</a:t>
              </a:r>
              <a:endParaRPr lang="en-US" sz="1200"/>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cxnSp>
        <p:nvCxnSpPr>
          <p:cNvPr id="993" name="Google Shape;993;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94" name="Google Shape;994;p94"/>
          <p:cNvSpPr txBox="1"/>
          <p:nvPr/>
        </p:nvSpPr>
        <p:spPr>
          <a:xfrm>
            <a:off x="486000" y="936000"/>
            <a:ext cx="8663323" cy="6198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We can compare the absolute values of the numbers.</a:t>
            </a:r>
            <a:endParaRPr b="1" i="0" sz="2800" u="none" cap="none" strike="noStrike">
              <a:solidFill>
                <a:schemeClr val="dk1"/>
              </a:solidFill>
              <a:latin typeface="Arial"/>
              <a:ea typeface="Arial"/>
              <a:cs typeface="Arial"/>
              <a:sym typeface="Arial"/>
            </a:endParaRPr>
          </a:p>
        </p:txBody>
      </p:sp>
      <p:sp>
        <p:nvSpPr>
          <p:cNvPr id="995" name="Google Shape;995;p94"/>
          <p:cNvSpPr txBox="1"/>
          <p:nvPr/>
        </p:nvSpPr>
        <p:spPr>
          <a:xfrm>
            <a:off x="467028" y="1569968"/>
            <a:ext cx="2966261"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96" name="Google Shape;996;p94"/>
          <p:cNvSpPr txBox="1"/>
          <p:nvPr/>
        </p:nvSpPr>
        <p:spPr>
          <a:xfrm>
            <a:off x="467028" y="2107311"/>
            <a:ext cx="2421240"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97" name="Google Shape;997;p94"/>
          <p:cNvSpPr txBox="1"/>
          <p:nvPr/>
        </p:nvSpPr>
        <p:spPr>
          <a:xfrm>
            <a:off x="489689" y="2644654"/>
            <a:ext cx="2421240"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98" name="Google Shape;998;p94"/>
          <p:cNvSpPr/>
          <p:nvPr/>
        </p:nvSpPr>
        <p:spPr>
          <a:xfrm>
            <a:off x="476856" y="3181997"/>
            <a:ext cx="8874026"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−1,333 is the greatest distance from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It has the greatest absolute value of the three numbers.</a:t>
            </a:r>
            <a:endParaRPr b="0" i="0" sz="1400" u="none" cap="none" strike="noStrike">
              <a:solidFill>
                <a:srgbClr val="000000"/>
              </a:solidFill>
              <a:latin typeface="Arial"/>
              <a:ea typeface="Arial"/>
              <a:cs typeface="Arial"/>
              <a:sym typeface="Arial"/>
            </a:endParaRPr>
          </a:p>
        </p:txBody>
      </p:sp>
      <p:sp>
        <p:nvSpPr>
          <p:cNvPr id="999" name="Google Shape;999;p94"/>
          <p:cNvSpPr/>
          <p:nvPr/>
        </p:nvSpPr>
        <p:spPr>
          <a:xfrm>
            <a:off x="467028" y="4581115"/>
            <a:ext cx="7513660" cy="523220"/>
          </a:xfrm>
          <a:prstGeom prst="rect">
            <a:avLst/>
          </a:prstGeom>
          <a:blipFill rotWithShape="1">
            <a:blip r:embed="rId6">
              <a:alphaModFix/>
            </a:blip>
            <a:stretch>
              <a:fillRect b="-31395" l="0" r="0" t="-116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1000" name="Google Shape;1000;p94"/>
          <p:cNvPicPr preferRelativeResize="0"/>
          <p:nvPr/>
        </p:nvPicPr>
        <p:blipFill rotWithShape="1">
          <a:blip r:embed="rId7">
            <a:alphaModFix/>
          </a:blip>
          <a:srcRect b="0" l="0" r="0" t="0"/>
          <a:stretch/>
        </p:blipFill>
        <p:spPr>
          <a:xfrm>
            <a:off x="476856" y="5139966"/>
            <a:ext cx="5054600" cy="838200"/>
          </a:xfrm>
          <a:prstGeom prst="rect">
            <a:avLst/>
          </a:prstGeom>
          <a:noFill/>
          <a:ln>
            <a:noFill/>
          </a:ln>
        </p:spPr>
      </p:pic>
      <p:sp>
        <p:nvSpPr>
          <p:cNvPr id="1001" name="Google Shape;1001;p94"/>
          <p:cNvSpPr/>
          <p:nvPr/>
        </p:nvSpPr>
        <p:spPr>
          <a:xfrm>
            <a:off x="3004156" y="5315564"/>
            <a:ext cx="2577935"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Using Symbols</a:t>
            </a:r>
            <a:endParaRPr b="0" i="0" sz="1400" u="none" cap="none" strike="noStrike">
              <a:solidFill>
                <a:srgbClr val="000000"/>
              </a:solidFill>
              <a:latin typeface="Arial"/>
              <a:ea typeface="Arial"/>
              <a:cs typeface="Arial"/>
              <a:sym typeface="Arial"/>
            </a:endParaRPr>
          </a:p>
        </p:txBody>
      </p:sp>
      <p:sp>
        <p:nvSpPr>
          <p:cNvPr id="1002" name="Google Shape;1002;p94"/>
          <p:cNvSpPr/>
          <p:nvPr/>
        </p:nvSpPr>
        <p:spPr>
          <a:xfrm>
            <a:off x="646137" y="5851654"/>
            <a:ext cx="7723589"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do the absolute value symbols tell you to do?</a:t>
            </a:r>
            <a:endParaRPr b="0" i="0" sz="2600" u="none" cap="none" strike="noStrike">
              <a:solidFill>
                <a:srgbClr val="595959"/>
              </a:solidFill>
              <a:latin typeface="Arial"/>
              <a:ea typeface="Arial"/>
              <a:cs typeface="Arial"/>
              <a:sym typeface="Arial"/>
            </a:endParaRPr>
          </a:p>
        </p:txBody>
      </p:sp>
      <p:sp>
        <p:nvSpPr>
          <p:cNvPr id="1003" name="Google Shape;1003;p94"/>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Lake Depths</a:t>
            </a:r>
            <a:endParaRPr b="1" i="0" sz="2800" u="none" cap="none" strike="noStrike">
              <a:solidFill>
                <a:srgbClr val="782DA0"/>
              </a:solidFill>
              <a:latin typeface="Arial"/>
              <a:ea typeface="Arial"/>
              <a:cs typeface="Arial"/>
              <a:sym typeface="Arial"/>
            </a:endParaRPr>
          </a:p>
        </p:txBody>
      </p:sp>
      <p:pic>
        <p:nvPicPr>
          <p:cNvPr id="1004" name="Google Shape;1004;p94"/>
          <p:cNvPicPr preferRelativeResize="0"/>
          <p:nvPr/>
        </p:nvPicPr>
        <p:blipFill rotWithShape="1">
          <a:blip r:embed="rId8">
            <a:alphaModFix/>
          </a:blip>
          <a:srcRect b="0" l="0" r="0" t="0"/>
          <a:stretch/>
        </p:blipFill>
        <p:spPr>
          <a:xfrm>
            <a:off x="9061200" y="1738799"/>
            <a:ext cx="2964000" cy="3600000"/>
          </a:xfrm>
          <a:prstGeom prst="rect">
            <a:avLst/>
          </a:prstGeom>
          <a:noFill/>
          <a:ln>
            <a:noFill/>
          </a:ln>
        </p:spPr>
      </p:pic>
      <p:sp>
        <p:nvSpPr>
          <p:cNvPr id="100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55</a:t>
            </a:r>
          </a:p>
        </p:txBody>
      </p:sp>
      <p:grpSp>
        <p:nvGrpSpPr>
          <p:cNvPr id="1006" name="TEACH-4-student-move" descr="TEACH 4 · Monitor progress and provide feedback"/>
          <p:cNvGrpSpPr/>
          <p:nvPr/>
        </p:nvGrpSpPr>
        <p:grpSpPr>
          <a:xfrm>
            <a:off x="6187440" y="5412742"/>
            <a:ext cx="5501640" cy="402336"/>
            <a:chOff x="6187440" y="5412742"/>
            <a:chExt cx="5501640" cy="402336"/>
          </a:xfrm>
        </p:grpSpPr>
        <p:sp>
          <p:nvSpPr>
            <p:cNvPr id="1007" name="TEACH-move-card"/>
            <p:cNvSpPr/>
            <p:nvPr/>
          </p:nvSpPr>
          <p:spPr>
            <a:xfrm>
              <a:off x="6187440" y="5412742"/>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1008" name="TEACH-move-rule"/>
            <p:cNvSpPr/>
            <p:nvPr/>
          </p:nvSpPr>
          <p:spPr>
            <a:xfrm>
              <a:off x="6233160" y="5489186"/>
              <a:ext cx="100584" cy="249448"/>
            </a:xfrm>
            <a:prstGeom prst="roundRect">
              <a:avLst>
                <a:gd name="adj" fmla="val 50000"/>
              </a:avLst>
            </a:prstGeom>
            <a:solidFill>
              <a:srgbClr val="01708C"/>
            </a:solidFill>
            <a:ln>
              <a:noFill/>
            </a:ln>
          </p:spPr>
          <p:txBody>
            <a:bodyPr/>
            <a:lstStyle/>
            <a:p>
              <a:endParaRPr/>
            </a:p>
          </p:txBody>
        </p:sp>
        <p:sp>
          <p:nvSpPr>
            <p:cNvPr id="1009" name="TEACH-move-text"/>
            <p:cNvSpPr txBox="1"/>
            <p:nvPr/>
          </p:nvSpPr>
          <p:spPr>
            <a:xfrm>
              <a:off x="6507480" y="5412742"/>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cxnSp>
        <p:nvCxnSpPr>
          <p:cNvPr id="1021" name="Google Shape;1021;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22" name="Google Shape;1022;p96"/>
          <p:cNvSpPr txBox="1"/>
          <p:nvPr/>
        </p:nvSpPr>
        <p:spPr>
          <a:xfrm>
            <a:off x="486000" y="936000"/>
            <a:ext cx="6961175" cy="95207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We can compare the numbers or their absolute values.</a:t>
            </a:r>
            <a:endParaRPr b="1" i="0" sz="2800" u="none" cap="none" strike="noStrike">
              <a:solidFill>
                <a:schemeClr val="dk1"/>
              </a:solidFill>
              <a:latin typeface="Arial"/>
              <a:ea typeface="Arial"/>
              <a:cs typeface="Arial"/>
              <a:sym typeface="Arial"/>
            </a:endParaRPr>
          </a:p>
        </p:txBody>
      </p:sp>
      <p:sp>
        <p:nvSpPr>
          <p:cNvPr id="1023" name="Google Shape;1023;p96"/>
          <p:cNvSpPr txBox="1"/>
          <p:nvPr/>
        </p:nvSpPr>
        <p:spPr>
          <a:xfrm>
            <a:off x="486000" y="2031159"/>
            <a:ext cx="5892126"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24" name="Google Shape;1024;p96"/>
          <p:cNvSpPr/>
          <p:nvPr/>
        </p:nvSpPr>
        <p:spPr>
          <a:xfrm>
            <a:off x="486000" y="3336118"/>
            <a:ext cx="6823596" cy="18158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use the comparisons to make statements about the relationship among the depths of the three lakes?</a:t>
            </a:r>
            <a:endParaRPr b="0" i="0" sz="1400" u="none" cap="none" strike="noStrike">
              <a:solidFill>
                <a:srgbClr val="000000"/>
              </a:solidFill>
              <a:latin typeface="Arial"/>
              <a:ea typeface="Arial"/>
              <a:cs typeface="Arial"/>
              <a:sym typeface="Arial"/>
            </a:endParaRPr>
          </a:p>
        </p:txBody>
      </p:sp>
      <p:sp>
        <p:nvSpPr>
          <p:cNvPr id="1025" name="Google Shape;1025;p96"/>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Lake Depths</a:t>
            </a:r>
            <a:endParaRPr b="1" i="0" sz="2800" u="none" cap="none" strike="noStrike">
              <a:solidFill>
                <a:srgbClr val="782DA0"/>
              </a:solidFill>
              <a:latin typeface="Arial"/>
              <a:ea typeface="Arial"/>
              <a:cs typeface="Arial"/>
              <a:sym typeface="Arial"/>
            </a:endParaRPr>
          </a:p>
        </p:txBody>
      </p:sp>
      <p:sp>
        <p:nvSpPr>
          <p:cNvPr id="1026" name="Google Shape;1026;p96"/>
          <p:cNvSpPr txBox="1"/>
          <p:nvPr/>
        </p:nvSpPr>
        <p:spPr>
          <a:xfrm>
            <a:off x="486000" y="2669815"/>
            <a:ext cx="6572633"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27" name="Google Shape;1027;p96"/>
          <p:cNvSpPr txBox="1"/>
          <p:nvPr/>
        </p:nvSpPr>
        <p:spPr>
          <a:xfrm>
            <a:off x="486000" y="5295083"/>
            <a:ext cx="10815488" cy="10253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state the order of the lakes from deepest to shallowest.</a:t>
            </a:r>
            <a:endParaRPr b="1" i="0" sz="2800" u="none" cap="none" strike="noStrike">
              <a:solidFill>
                <a:srgbClr val="595959"/>
              </a:solidFill>
              <a:latin typeface="Arial"/>
              <a:ea typeface="Arial"/>
              <a:cs typeface="Arial"/>
              <a:sym typeface="Arial"/>
            </a:endParaRPr>
          </a:p>
        </p:txBody>
      </p:sp>
      <p:pic>
        <p:nvPicPr>
          <p:cNvPr descr="C:\Users\HP\Desktop\Grade_6_Unit_7-20230217T053830Z-001\Grade_6_Unit_7\OPS\img\.assets\f1e2490ce45244059b4c611e5714f304\narm24_c10704_se_007a-dig-eps.png" id="1028" name="Google Shape;1028;p96"/>
          <p:cNvPicPr preferRelativeResize="0"/>
          <p:nvPr/>
        </p:nvPicPr>
        <p:blipFill rotWithShape="1">
          <a:blip r:embed="rId5">
            <a:alphaModFix/>
          </a:blip>
          <a:srcRect b="0" l="0" r="0" t="0"/>
          <a:stretch/>
        </p:blipFill>
        <p:spPr>
          <a:xfrm>
            <a:off x="7769971" y="1701696"/>
            <a:ext cx="3861197" cy="3268854"/>
          </a:xfrm>
          <a:prstGeom prst="rect">
            <a:avLst/>
          </a:prstGeom>
          <a:noFill/>
          <a:ln>
            <a:noFill/>
          </a:ln>
        </p:spPr>
      </p:pic>
      <p:sp>
        <p:nvSpPr>
          <p:cNvPr id="10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55</a:t>
            </a:r>
          </a:p>
        </p:txBody>
      </p:sp>
      <p:sp>
        <p:nvSpPr>
          <p:cNvPr id="1030" name="EWL-COVER-1"/>
          <p:cNvSpPr/>
          <p:nvPr/>
        </p:nvSpPr>
        <p:spPr>
          <a:xfrm>
            <a:off x="431136" y="5240219"/>
            <a:ext cx="10925216" cy="1135064"/>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cxnSp>
        <p:nvCxnSpPr>
          <p:cNvPr id="1033" name="Google Shape;1033;p9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34" name="Google Shape;1034;p97"/>
          <p:cNvSpPr txBox="1"/>
          <p:nvPr/>
        </p:nvSpPr>
        <p:spPr>
          <a:xfrm>
            <a:off x="486000" y="936000"/>
            <a:ext cx="6819773" cy="9200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diagram shows the depths of three Great Lakes.</a:t>
            </a:r>
            <a:endParaRPr b="1" i="0" sz="2800" u="none" cap="none" strike="noStrike">
              <a:solidFill>
                <a:schemeClr val="dk1"/>
              </a:solidFill>
              <a:latin typeface="Arial"/>
              <a:ea typeface="Arial"/>
              <a:cs typeface="Arial"/>
              <a:sym typeface="Arial"/>
            </a:endParaRPr>
          </a:p>
        </p:txBody>
      </p:sp>
      <p:sp>
        <p:nvSpPr>
          <p:cNvPr id="1035" name="Google Shape;1035;p97"/>
          <p:cNvSpPr/>
          <p:nvPr/>
        </p:nvSpPr>
        <p:spPr>
          <a:xfrm>
            <a:off x="467031" y="2266817"/>
            <a:ext cx="6838742"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statements can you make about the relationship among the three lakes?</a:t>
            </a:r>
            <a:endParaRPr b="0" i="0" sz="2800" u="none" cap="none" strike="noStrike">
              <a:solidFill>
                <a:schemeClr val="dk1"/>
              </a:solidFill>
              <a:latin typeface="Arial"/>
              <a:ea typeface="Arial"/>
              <a:cs typeface="Arial"/>
              <a:sym typeface="Arial"/>
            </a:endParaRPr>
          </a:p>
        </p:txBody>
      </p:sp>
      <p:sp>
        <p:nvSpPr>
          <p:cNvPr id="1036" name="Google Shape;1036;p97"/>
          <p:cNvSpPr/>
          <p:nvPr/>
        </p:nvSpPr>
        <p:spPr>
          <a:xfrm>
            <a:off x="621377" y="4062533"/>
            <a:ext cx="6401592" cy="18158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Of the three lakes, Lake Superior is the deepest, Lake Ontario is the second deepest, and Lake Erie is the shallowest.</a:t>
            </a:r>
            <a:endParaRPr b="0" i="0" sz="2800" u="none" cap="none" strike="noStrike">
              <a:solidFill>
                <a:schemeClr val="dk1"/>
              </a:solidFill>
              <a:latin typeface="Arial"/>
              <a:ea typeface="Arial"/>
              <a:cs typeface="Arial"/>
              <a:sym typeface="Arial"/>
            </a:endParaRPr>
          </a:p>
        </p:txBody>
      </p:sp>
      <p:sp>
        <p:nvSpPr>
          <p:cNvPr id="1037" name="Google Shape;1037;p97"/>
          <p:cNvSpPr/>
          <p:nvPr/>
        </p:nvSpPr>
        <p:spPr>
          <a:xfrm>
            <a:off x="467032" y="3959047"/>
            <a:ext cx="6838742" cy="2047163"/>
          </a:xfrm>
          <a:prstGeom prst="rect">
            <a:avLst/>
          </a:prstGeom>
          <a:noFill/>
          <a:ln cap="flat" cmpd="sng" w="12700">
            <a:solidFill>
              <a:srgbClr val="7030A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038" name="Google Shape;1038;p97"/>
          <p:cNvSpPr txBox="1"/>
          <p:nvPr/>
        </p:nvSpPr>
        <p:spPr>
          <a:xfrm>
            <a:off x="484565" y="316034"/>
            <a:ext cx="5029132" cy="619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Lake Depths</a:t>
            </a:r>
            <a:endParaRPr b="1" i="0" sz="2800" u="none" cap="none" strike="noStrike">
              <a:solidFill>
                <a:srgbClr val="782DA0"/>
              </a:solidFill>
              <a:latin typeface="Arial"/>
              <a:ea typeface="Arial"/>
              <a:cs typeface="Arial"/>
              <a:sym typeface="Arial"/>
            </a:endParaRPr>
          </a:p>
        </p:txBody>
      </p:sp>
      <p:pic>
        <p:nvPicPr>
          <p:cNvPr descr="C:\Users\HP\Desktop\Grade_6_Unit_7-20230217T053830Z-001\Grade_6_Unit_7\OPS\img\.assets\f1e2490ce45244059b4c611e5714f304\narm24_c10704_se_007a-dig-eps.png" id="1039" name="Google Shape;1039;p97"/>
          <p:cNvPicPr preferRelativeResize="0"/>
          <p:nvPr/>
        </p:nvPicPr>
        <p:blipFill rotWithShape="1">
          <a:blip r:embed="rId3">
            <a:alphaModFix/>
          </a:blip>
          <a:srcRect b="0" l="0" r="0" t="0"/>
          <a:stretch/>
        </p:blipFill>
        <p:spPr>
          <a:xfrm>
            <a:off x="7769971" y="1701696"/>
            <a:ext cx="3861197" cy="3268854"/>
          </a:xfrm>
          <a:prstGeom prst="rect">
            <a:avLst/>
          </a:prstGeom>
          <a:noFill/>
          <a:ln>
            <a:noFill/>
          </a:ln>
        </p:spPr>
      </p:pic>
      <p:sp>
        <p:nvSpPr>
          <p:cNvPr id="104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55</a:t>
            </a: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cxnSp>
        <p:nvCxnSpPr>
          <p:cNvPr id="1044" name="Google Shape;1044;p9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45" name="Google Shape;1045;p9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1046" name="Google Shape;1046;p98"/>
          <p:cNvSpPr txBox="1"/>
          <p:nvPr/>
        </p:nvSpPr>
        <p:spPr>
          <a:xfrm>
            <a:off x="484563" y="935999"/>
            <a:ext cx="7688476" cy="1298153"/>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Some words, like depth, imply a negative value. What other words imply the sign of the number?</a:t>
            </a:r>
            <a:endParaRPr b="1" i="0" sz="28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1" i="0" sz="2800" u="none" cap="none" strike="noStrike">
              <a:solidFill>
                <a:schemeClr val="dk1"/>
              </a:solidFill>
              <a:latin typeface="Arial"/>
              <a:ea typeface="Arial"/>
              <a:cs typeface="Arial"/>
              <a:sym typeface="Arial"/>
            </a:endParaRPr>
          </a:p>
        </p:txBody>
      </p:sp>
      <p:sp>
        <p:nvSpPr>
          <p:cNvPr id="1047" name="Google Shape;1047;p98"/>
          <p:cNvSpPr/>
          <p:nvPr/>
        </p:nvSpPr>
        <p:spPr>
          <a:xfrm>
            <a:off x="486001" y="2366716"/>
            <a:ext cx="7555064" cy="1181849"/>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048" name="Google Shape;1048;p98"/>
          <p:cNvSpPr txBox="1"/>
          <p:nvPr/>
        </p:nvSpPr>
        <p:spPr>
          <a:xfrm>
            <a:off x="6745639" y="5746486"/>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049" name="Google Shape;1049;p98"/>
          <p:cNvSpPr/>
          <p:nvPr/>
        </p:nvSpPr>
        <p:spPr>
          <a:xfrm>
            <a:off x="550552" y="4897498"/>
            <a:ext cx="7490514" cy="1187542"/>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050" name="Google Shape;1050;p98"/>
          <p:cNvSpPr/>
          <p:nvPr/>
        </p:nvSpPr>
        <p:spPr>
          <a:xfrm>
            <a:off x="294580" y="3782157"/>
            <a:ext cx="7746485" cy="954107"/>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startAt="2"/>
              <a:defRPr/>
            </a:pPr>
            <a:r>
              <a:rPr b="0" i="0" lang="en-US" sz="2800" u="none" cap="none" strike="noStrike">
                <a:solidFill>
                  <a:schemeClr val="dk1"/>
                </a:solidFill>
                <a:latin typeface="Arial"/>
                <a:ea typeface="Arial"/>
                <a:cs typeface="Arial"/>
                <a:sym typeface="Arial"/>
              </a:rPr>
              <a:t>How does a number line help to organize a set of rational numbers?</a:t>
            </a:r>
            <a:endParaRPr b="0" i="0" sz="1400" u="none" cap="none" strike="noStrike">
              <a:solidFill>
                <a:srgbClr val="000000"/>
              </a:solidFill>
              <a:latin typeface="Arial"/>
              <a:ea typeface="Arial"/>
              <a:cs typeface="Arial"/>
              <a:sym typeface="Arial"/>
            </a:endParaRPr>
          </a:p>
        </p:txBody>
      </p:sp>
      <p:sp>
        <p:nvSpPr>
          <p:cNvPr id="1051" name="Google Shape;1051;p98"/>
          <p:cNvSpPr txBox="1"/>
          <p:nvPr/>
        </p:nvSpPr>
        <p:spPr>
          <a:xfrm>
            <a:off x="6745638" y="3142331"/>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0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47 / 55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7.4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assuming a negative number with larger absolute value is greater.</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Plot the given values on one consistently scaled number line.</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cxnSp>
        <p:nvCxnSpPr>
          <p:cNvPr id="1056" name="Google Shape;1056;p9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57" name="Google Shape;1057;p99"/>
          <p:cNvSpPr txBox="1"/>
          <p:nvPr/>
        </p:nvSpPr>
        <p:spPr>
          <a:xfrm>
            <a:off x="486001" y="316800"/>
            <a:ext cx="5609999" cy="979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 xml:space="preserve">Summarize: </a:t>
            </a:r>
            <a:r>
              <a:rPr b="1" i="0" lang="en-US" sz="2800" u="none" cap="none" strike="noStrike">
                <a:solidFill>
                  <a:srgbClr val="782DA0"/>
                </a:solidFill>
                <a:latin typeface="Arial"/>
                <a:ea typeface="Arial"/>
                <a:cs typeface="Arial"/>
                <a:sym typeface="Arial"/>
              </a:rPr>
              <a:t>Compare and Order Integers and Rational Numbers</a:t>
            </a:r>
            <a:endParaRPr b="0" i="0" sz="1400" u="none" cap="none" strike="noStrike">
              <a:solidFill>
                <a:srgbClr val="000000"/>
              </a:solidFill>
              <a:latin typeface="Arial"/>
              <a:ea typeface="Arial"/>
              <a:cs typeface="Arial"/>
              <a:sym typeface="Arial"/>
            </a:endParaRPr>
          </a:p>
        </p:txBody>
      </p:sp>
      <p:sp>
        <p:nvSpPr>
          <p:cNvPr id="1058" name="Google Shape;1058;p99"/>
          <p:cNvSpPr txBox="1"/>
          <p:nvPr/>
        </p:nvSpPr>
        <p:spPr>
          <a:xfrm>
            <a:off x="486001" y="1737360"/>
            <a:ext cx="10677868" cy="141990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You can use number lines to compare and order integers and rational numbers. Numbers farther to the left on the number line are always less than numbers that are farther to the right.</a:t>
            </a:r>
            <a:endParaRPr b="0" i="0" sz="1400" u="none" cap="none" strike="noStrike">
              <a:solidFill>
                <a:srgbClr val="000000"/>
              </a:solidFill>
              <a:latin typeface="Arial"/>
              <a:ea typeface="Arial"/>
              <a:cs typeface="Arial"/>
              <a:sym typeface="Arial"/>
            </a:endParaRPr>
          </a:p>
        </p:txBody>
      </p:sp>
      <p:sp>
        <p:nvSpPr>
          <p:cNvPr id="1059" name="Google Shape;1059;p99"/>
          <p:cNvSpPr/>
          <p:nvPr/>
        </p:nvSpPr>
        <p:spPr>
          <a:xfrm>
            <a:off x="467035" y="3873763"/>
            <a:ext cx="10696834"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When you compare the absolute value of numbers, you are comparing the distance of the number from 0. The farther from 0, the greater the absolute value of the number.</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fd1ea74aee834b18abd431c68c22e1ff\narm24_c10704_se_010a-dig-eps.png" id="1060" name="Google Shape;1060;p99"/>
          <p:cNvPicPr preferRelativeResize="0"/>
          <p:nvPr/>
        </p:nvPicPr>
        <p:blipFill rotWithShape="1">
          <a:blip r:embed="rId3">
            <a:alphaModFix/>
          </a:blip>
          <a:srcRect b="0" l="0" r="0" t="0"/>
          <a:stretch/>
        </p:blipFill>
        <p:spPr>
          <a:xfrm>
            <a:off x="2805496" y="2778388"/>
            <a:ext cx="4924425" cy="1095375"/>
          </a:xfrm>
          <a:prstGeom prst="rect">
            <a:avLst/>
          </a:prstGeom>
          <a:noFill/>
          <a:ln>
            <a:noFill/>
          </a:ln>
        </p:spPr>
      </p:pic>
      <p:pic>
        <p:nvPicPr>
          <p:cNvPr descr="C:\Users\HP\Desktop\Grade_6_Unit_7-20230217T053830Z-001\Grade_6_Unit_7\OPS\img\.assets\044ccb98ed1f4945af8782ae37eeb185\narm24_c10704_se_011a-dig-eps.png" id="1061" name="Google Shape;1061;p99"/>
          <p:cNvPicPr preferRelativeResize="0"/>
          <p:nvPr/>
        </p:nvPicPr>
        <p:blipFill rotWithShape="1">
          <a:blip r:embed="rId4">
            <a:alphaModFix/>
          </a:blip>
          <a:srcRect b="0" l="0" r="0" t="0"/>
          <a:stretch/>
        </p:blipFill>
        <p:spPr>
          <a:xfrm>
            <a:off x="2805496" y="5293668"/>
            <a:ext cx="4924425" cy="942975"/>
          </a:xfrm>
          <a:prstGeom prst="rect">
            <a:avLst/>
          </a:prstGeom>
          <a:noFill/>
          <a:ln>
            <a:noFill/>
          </a:ln>
        </p:spPr>
      </p:pic>
      <p:sp>
        <p:nvSpPr>
          <p:cNvPr id="10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50 / 55</a:t>
            </a:r>
          </a:p>
        </p:txBody>
      </p:sp>
      <p:sp>
        <p:nvSpPr>
          <p:cNvPr id="106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grpSp>
        <p:nvGrpSpPr>
          <p:cNvPr id="1064" name="TEACH-2-student-move" descr="TEACH 2 · Use strategies and tasks to engage students in rigorous work"/>
          <p:cNvGrpSpPr/>
          <p:nvPr/>
        </p:nvGrpSpPr>
        <p:grpSpPr>
          <a:xfrm>
            <a:off x="6187440" y="1060704"/>
            <a:ext cx="5501640" cy="594360"/>
            <a:chOff x="6187440" y="1060704"/>
            <a:chExt cx="5501640" cy="594360"/>
          </a:xfrm>
        </p:grpSpPr>
        <p:sp>
          <p:nvSpPr>
            <p:cNvPr id="1065" name="TEACH-move-card"/>
            <p:cNvSpPr/>
            <p:nvPr/>
          </p:nvSpPr>
          <p:spPr>
            <a:xfrm>
              <a:off x="6187440" y="1060704"/>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1066" name="TEACH-move-rule"/>
            <p:cNvSpPr/>
            <p:nvPr/>
          </p:nvSpPr>
          <p:spPr>
            <a:xfrm>
              <a:off x="6233160" y="1173632"/>
              <a:ext cx="100584" cy="368504"/>
            </a:xfrm>
            <a:prstGeom prst="roundRect">
              <a:avLst>
                <a:gd name="adj" fmla="val 50000"/>
              </a:avLst>
            </a:prstGeom>
            <a:solidFill>
              <a:srgbClr val="01708C"/>
            </a:solidFill>
            <a:ln>
              <a:noFill/>
            </a:ln>
          </p:spPr>
          <p:txBody>
            <a:bodyPr/>
            <a:lstStyle/>
            <a:p>
              <a:endParaRPr/>
            </a:p>
          </p:txBody>
        </p:sp>
        <p:sp>
          <p:nvSpPr>
            <p:cNvPr id="1067" name="TEACH-move-text"/>
            <p:cNvSpPr txBox="1"/>
            <p:nvPr/>
          </p:nvSpPr>
          <p:spPr>
            <a:xfrm>
              <a:off x="6507480" y="1060704"/>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100"/>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 xml:space="preserve">Apply: </a:t>
            </a:r>
            <a:r>
              <a:rPr b="1" i="0" lang="en-US" sz="2800" u="none" cap="none" strike="noStrike">
                <a:solidFill>
                  <a:srgbClr val="782DA0"/>
                </a:solidFill>
                <a:latin typeface="Arial"/>
                <a:ea typeface="Arial"/>
                <a:cs typeface="Arial"/>
                <a:sym typeface="Arial"/>
              </a:rPr>
              <a:t>A Game of Golf</a:t>
            </a:r>
            <a:endParaRPr b="1" i="0" sz="2800" u="none" cap="none" strike="noStrike">
              <a:solidFill>
                <a:srgbClr val="782DA0"/>
              </a:solidFill>
              <a:latin typeface="Arial"/>
              <a:ea typeface="Arial"/>
              <a:cs typeface="Arial"/>
              <a:sym typeface="Arial"/>
            </a:endParaRPr>
          </a:p>
        </p:txBody>
      </p:sp>
      <p:cxnSp>
        <p:nvCxnSpPr>
          <p:cNvPr id="1067" name="Google Shape;1067;p10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68" name="Google Shape;1068;p100"/>
          <p:cNvSpPr txBox="1"/>
          <p:nvPr/>
        </p:nvSpPr>
        <p:spPr>
          <a:xfrm>
            <a:off x="484566" y="935999"/>
            <a:ext cx="7144534" cy="300820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Golf Scores are measured as over or under par. Par is the number of golf strokes considered necessary to get the golf ball in the hole. The winner is the player with the least score. The table shows the golf scores of six players after seven holes. They are playing a total of 9 holes.</a:t>
            </a:r>
            <a:endParaRPr b="0" i="0" sz="1400" u="none" cap="none" strike="noStrike">
              <a:solidFill>
                <a:srgbClr val="000000"/>
              </a:solidFill>
              <a:latin typeface="Arial"/>
              <a:ea typeface="Arial"/>
              <a:cs typeface="Arial"/>
              <a:sym typeface="Arial"/>
            </a:endParaRPr>
          </a:p>
        </p:txBody>
      </p:sp>
      <p:sp>
        <p:nvSpPr>
          <p:cNvPr id="1069" name="Google Shape;1069;p100"/>
          <p:cNvSpPr txBox="1"/>
          <p:nvPr/>
        </p:nvSpPr>
        <p:spPr>
          <a:xfrm>
            <a:off x="484565" y="4240725"/>
            <a:ext cx="6284945"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Question :</a:t>
            </a:r>
            <a:r>
              <a:rPr b="0" i="0" lang="en-US" sz="2800" u="none" cap="none" strike="noStrike">
                <a:solidFill>
                  <a:schemeClr val="dk1"/>
                </a:solidFill>
                <a:latin typeface="Arial"/>
                <a:ea typeface="Arial"/>
                <a:cs typeface="Arial"/>
                <a:sym typeface="Arial"/>
              </a:rPr>
              <a:t xml:space="preserve"> Do you think it is possible for Sofia to win the 9-hole round?</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a9717b114ff34513a16abe48e863a340\narm24_c10704_se_012a-dig-eps.png" id="1070" name="Google Shape;1070;p100"/>
          <p:cNvPicPr preferRelativeResize="0"/>
          <p:nvPr/>
        </p:nvPicPr>
        <p:blipFill rotWithShape="1">
          <a:blip r:embed="rId3">
            <a:alphaModFix/>
          </a:blip>
          <a:srcRect b="0" l="0" r="0" t="0"/>
          <a:stretch/>
        </p:blipFill>
        <p:spPr>
          <a:xfrm>
            <a:off x="8108271" y="1851557"/>
            <a:ext cx="3543300" cy="3343275"/>
          </a:xfrm>
          <a:prstGeom prst="rect">
            <a:avLst/>
          </a:prstGeom>
          <a:noFill/>
          <a:ln>
            <a:noFill/>
          </a:ln>
        </p:spPr>
      </p:pic>
      <p:sp>
        <p:nvSpPr>
          <p:cNvPr id="107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51 / 55</a:t>
            </a:r>
          </a:p>
        </p:txBody>
      </p:sp>
      <p:sp>
        <p:nvSpPr>
          <p:cNvPr id="1072"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xml:space="preserve">  ·  PLAN IT • SOLVE IT • PROVE IT</a:t>
            </a:r>
          </a:p>
        </p:txBody>
      </p:sp>
      <p:sp xmlns:p="http://schemas.openxmlformats.org/presentationml/2006/main" xmlns:a="http://schemas.openxmlformats.org/drawingml/2006/main">
        <p:nvSpPr>
          <p:cNvPr id="1073"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 independently, justify your answer, then check the goal.</a:t>
            </a:r>
            <a:endParaRPr lang="en-US" sz="20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101"/>
          <p:cNvSpPr txBox="1"/>
          <p:nvPr/>
        </p:nvSpPr>
        <p:spPr>
          <a:xfrm>
            <a:off x="484565"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76" name="Google Shape;1076;p10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77" name="Google Shape;1077;p101"/>
          <p:cNvSpPr txBox="1"/>
          <p:nvPr/>
        </p:nvSpPr>
        <p:spPr>
          <a:xfrm>
            <a:off x="484565" y="936000"/>
            <a:ext cx="8246481" cy="277431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use number lines to interpret statements of inequality of two rational numbers.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attend to precision to write, interpret, and explain statements of order for rational numbers and distinguish between comparisons of absolute value from statements about order.</a:t>
            </a:r>
            <a:endParaRPr b="0" i="0" sz="1400" u="none" cap="none" strike="noStrike">
              <a:solidFill>
                <a:srgbClr val="000000"/>
              </a:solidFill>
              <a:latin typeface="Arial"/>
              <a:ea typeface="Arial"/>
              <a:cs typeface="Arial"/>
              <a:sym typeface="Arial"/>
            </a:endParaRPr>
          </a:p>
        </p:txBody>
      </p:sp>
      <p:sp>
        <p:nvSpPr>
          <p:cNvPr id="107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52 / 55</a:t>
            </a:r>
          </a:p>
        </p:txBody>
      </p:sp>
      <p:sp xmlns:p="http://schemas.openxmlformats.org/presentationml/2006/main" xmlns:a="http://schemas.openxmlformats.org/drawingml/2006/main">
        <p:nvSpPr>
          <p:cNvPr id="1079"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92" name="Google Shape;792;p7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93" name="Google Shape;793;p75"/>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794" name="Google Shape;794;p75"/>
          <p:cNvPicPr preferRelativeResize="0"/>
          <p:nvPr/>
        </p:nvPicPr>
        <p:blipFill rotWithShape="1">
          <a:blip r:embed="rId2">
            <a:alphaModFix/>
          </a:blip>
          <a:srcRect b="0" l="0" r="0" t="0"/>
          <a:stretch/>
        </p:blipFill>
        <p:spPr>
          <a:xfrm>
            <a:off x="484560" y="4766640"/>
            <a:ext cx="5054600" cy="838200"/>
          </a:xfrm>
          <a:prstGeom prst="rect">
            <a:avLst/>
          </a:prstGeom>
          <a:noFill/>
          <a:ln>
            <a:noFill/>
          </a:ln>
        </p:spPr>
      </p:pic>
      <p:sp>
        <p:nvSpPr>
          <p:cNvPr id="795" name="Google Shape;795;p75"/>
          <p:cNvSpPr txBox="1"/>
          <p:nvPr/>
        </p:nvSpPr>
        <p:spPr>
          <a:xfrm>
            <a:off x="484560" y="315403"/>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796" name="Google Shape;796;p75"/>
          <p:cNvSpPr txBox="1"/>
          <p:nvPr/>
        </p:nvSpPr>
        <p:spPr>
          <a:xfrm>
            <a:off x="484560" y="1022823"/>
            <a:ext cx="5111022"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could the question be?</a:t>
            </a:r>
            <a:endParaRPr b="1" i="0" sz="2800" u="none" cap="none" strike="noStrike">
              <a:solidFill>
                <a:schemeClr val="dk1"/>
              </a:solidFill>
              <a:latin typeface="Arial"/>
              <a:ea typeface="Arial"/>
              <a:cs typeface="Arial"/>
              <a:sym typeface="Arial"/>
            </a:endParaRPr>
          </a:p>
        </p:txBody>
      </p:sp>
      <p:sp>
        <p:nvSpPr>
          <p:cNvPr id="797" name="Google Shape;797;p75"/>
          <p:cNvSpPr txBox="1"/>
          <p:nvPr/>
        </p:nvSpPr>
        <p:spPr>
          <a:xfrm>
            <a:off x="3128875" y="4924130"/>
            <a:ext cx="214709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798" name="Google Shape;798;p75"/>
          <p:cNvSpPr/>
          <p:nvPr/>
        </p:nvSpPr>
        <p:spPr>
          <a:xfrm>
            <a:off x="651827" y="5534599"/>
            <a:ext cx="6830716"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is motivating you to engage with math?</a:t>
            </a:r>
            <a:endParaRPr b="0" i="0" sz="2600" u="none" cap="none" strike="noStrike">
              <a:solidFill>
                <a:srgbClr val="595959"/>
              </a:solidFill>
              <a:latin typeface="Arial"/>
              <a:ea typeface="Arial"/>
              <a:cs typeface="Arial"/>
              <a:sym typeface="Arial"/>
            </a:endParaRPr>
          </a:p>
        </p:txBody>
      </p:sp>
      <p:pic>
        <p:nvPicPr>
          <p:cNvPr descr="C:\Users\HP\Desktop\Grade_6_Unit_7-20230217T053830Z-001\Grade_6_Unit_7\OPS\img\chapter36\.crops\narm24_c10704_esp_002a-eps_80bcdb8ddaa14c4d82036854d5f850a7.png" id="799" name="Google Shape;799;p75"/>
          <p:cNvPicPr preferRelativeResize="0"/>
          <p:nvPr/>
        </p:nvPicPr>
        <p:blipFill rotWithShape="1">
          <a:blip r:embed="rId3">
            <a:alphaModFix/>
          </a:blip>
          <a:srcRect b="0" l="0" r="0" t="0"/>
          <a:stretch/>
        </p:blipFill>
        <p:spPr>
          <a:xfrm>
            <a:off x="561415" y="1723634"/>
            <a:ext cx="1000125" cy="2867025"/>
          </a:xfrm>
          <a:prstGeom prst="rect">
            <a:avLst/>
          </a:prstGeom>
          <a:noFill/>
          <a:ln>
            <a:noFill/>
          </a:ln>
        </p:spPr>
      </p:pic>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53 / 55</a:t>
            </a:r>
          </a:p>
        </p:txBody>
      </p:sp>
      <p:sp xmlns:p="http://schemas.openxmlformats.org/presentationml/2006/main" xmlns:a="http://schemas.openxmlformats.org/drawingml/2006/main">
        <p:nvSpPr>
          <p:cNvPr id="800" name="TEACH-embedded-student-prompt" descr="Student thinking and response directions"/>
          <p:cNvSpPr txBox="1"/>
          <p:nvPr/>
        </p:nvSpPr>
        <p:spPr>
          <a:xfrm>
            <a:off x="4099560" y="385876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 build on a</a:t>
            </a:r>
            <a:endParaRPr lang="en-US" sz="2000"/>
          </a:p>
          <a:p>
            <a:pPr>
              <a:lnSpc>
                <a:spcPts val="2400"/>
              </a:lnSpc>
              <a:buNone/>
            </a:pPr>
            <a:r>
              <a:rPr lang="en-US" sz="2000">
                <a:solidFill>
                  <a:srgbClr val="174D60"/>
                </a:solidFill>
                <a:latin typeface="Arial"/>
              </a:rPr>
              <a:t>classmate’s idea.</a:t>
            </a:r>
            <a:endParaRPr lang="en-US" sz="200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75" name="Google Shape;1075;p101"/>
          <p:cNvSpPr txBox="1"/>
          <p:nvPr/>
        </p:nvSpPr>
        <p:spPr>
          <a:xfrm>
            <a:off x="484565"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76" name="Google Shape;1076;p10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77" name="Google Shape;1077;p101"/>
          <p:cNvSpPr txBox="1"/>
          <p:nvPr/>
        </p:nvSpPr>
        <p:spPr>
          <a:xfrm>
            <a:off x="484565" y="936000"/>
            <a:ext cx="8246481" cy="2774317"/>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use number lines to interpret statements of inequality of two rational numbers.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attend to precision to write, interpret, and explain statements of order for rational numbers and distinguish between comparisons of absolute value from statements about order.</a:t>
            </a:r>
            <a:endParaRPr b="0" i="0" sz="1400" u="none" cap="none" strike="noStrike">
              <a:solidFill>
                <a:srgbClr val="000000"/>
              </a:solidFill>
              <a:latin typeface="Arial"/>
              <a:ea typeface="Arial"/>
              <a:cs typeface="Arial"/>
              <a:sym typeface="Arial"/>
            </a:endParaRPr>
          </a:p>
        </p:txBody>
      </p:sp>
      <p:sp>
        <p:nvSpPr>
          <p:cNvPr id="3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54 / 55</a:t>
            </a:r>
          </a:p>
        </p:txBody>
      </p:sp>
      <p:sp xmlns:p="http://schemas.openxmlformats.org/presentationml/2006/main" xmlns:a="http://schemas.openxmlformats.org/drawingml/2006/main">
        <p:nvSpPr>
          <p:cNvPr id="1078"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7.4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Compare rational numbers by position.</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19 / 55</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ANOTHER PATHWAY  ·  </a:t>
            </a:r>
            <a:r>
              <a:rPr lang="en-US" sz="2000" b="0" dirty="0">
                <a:solidFill>
                  <a:srgbClr val="13303A"/>
                </a:solidFill>
                <a:latin typeface="Arial"/>
              </a:rPr>
              <a:t>Did anyone get there a different way? Put both pathways side by side and compare.</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2-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26 / 55</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31 / 55</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ASK THE CLASS  ·  </a:t>
            </a:r>
            <a:r>
              <a:rPr lang="en-US" sz="2000" b="0" dirty="0">
                <a:solidFill>
                  <a:srgbClr val="13303A"/>
                </a:solidFill>
                <a:latin typeface="Arial"/>
              </a:rPr>
              <a:t>Write one question about this that you could ask the class.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35 / 55</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PROVE IT  ·  </a:t>
            </a:r>
            <a:r>
              <a:rPr lang="en-US" sz="2000" b="0" dirty="0">
                <a:solidFill>
                  <a:srgbClr val="13303A"/>
                </a:solidFill>
                <a:latin typeface="Arial"/>
              </a:rPr>
              <a:t>Find the evidence in the problem that makes your answer right — not just the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42 / 55</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THE MATH WORDS  ·  </a:t>
            </a:r>
            <a:r>
              <a:rPr lang="en-US" sz="2000" b="0" dirty="0">
                <a:solidFill>
                  <a:srgbClr val="13303A"/>
                </a:solidFill>
                <a:latin typeface="Arial"/>
              </a:rPr>
              <a:t>Use today’s math words in your explanation — not “it” and “that thing.”</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4-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SPECIFIC FEEDBACK  ·  </a:t>
            </a:r>
            <a:r>
              <a:rPr lang="en-US" sz="2000" b="0" dirty="0">
                <a:solidFill>
                  <a:srgbClr val="13303A"/>
                </a:solidFill>
                <a:latin typeface="Arial"/>
              </a:rPr>
              <a:t>Trade work. Give one specific comment: “This part is clear because ______.”</a:t>
            </a:r>
          </a:p>
        </p:txBody>
      </p:sp>
      <p:sp>
        <p:nvSpPr>
          <p:cNvPr id="13" name="TEACH-move-card"/>
          <p:cNvSpPr/>
          <p:nvPr/>
        </p:nvSpPr>
        <p:spPr>
          <a:xfrm>
            <a:off x="685800" y="4343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4" name="TEACH-move-rule"/>
          <p:cNvSpPr/>
          <p:nvPr/>
        </p:nvSpPr>
        <p:spPr>
          <a:xfrm>
            <a:off x="731520" y="4534510"/>
            <a:ext cx="100584" cy="623620"/>
          </a:xfrm>
          <a:prstGeom prst="roundRect">
            <a:avLst>
              <a:gd name="adj" fmla="val 50000"/>
            </a:avLst>
          </a:prstGeom>
          <a:solidFill>
            <a:srgbClr val="01708C"/>
          </a:solidFill>
          <a:ln>
            <a:noFill/>
          </a:ln>
        </p:spPr>
        <p:txBody>
          <a:bodyPr/>
          <a:lstStyle/>
          <a:p>
            <a:endParaRPr/>
          </a:p>
        </p:txBody>
      </p:sp>
      <p:sp>
        <p:nvSpPr>
          <p:cNvPr id="15" name="TEACH-2-student-move"/>
          <p:cNvSpPr txBox="1"/>
          <p:nvPr/>
        </p:nvSpPr>
        <p:spPr>
          <a:xfrm>
            <a:off x="1005840" y="4343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6"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48 / 55</a:t>
            </a:r>
          </a:p>
        </p:txBody>
      </p:sp>
    </p:spTree>
  </p:cSld>
  <p:clrMapOvr>
    <a:masterClrMapping/>
  </p:clrMapOvr>
</p:sld>
</file>

<file path=ppt/theme/theme1.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7.4 — Compare and Order Integers and Rational Numbers</dc:title>
  <dc:creator>Neft Teacher</dc:creator>
  <cp:lastModifiedBy>Neft Teacher</cp:lastModifiedBy>
  <dcterms:created xsi:type="dcterms:W3CDTF">2026-09-30T12:04:43Z</dcterms:created>
  <dcterms:modified xsi:type="dcterms:W3CDTF">2026-09-30T12:04:43Z</dcterms:modified>
</cp:coreProperties>
</file>