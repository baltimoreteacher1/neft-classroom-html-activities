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3.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3.xml" ContentType="application/vnd.openxmlformats-officedocument.presentationml.notesSlide+xml"/>
  <Override PartName="/ppt/notesSlides/notesSlide65.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8" r:id="rId21"/>
    <p:sldId id="260" r:id="rId13"/>
    <p:sldId id="344" r:id="rId86"/>
    <p:sldId id="343" r:id="rId42"/>
    <p:sldId id="342" r:id="rId41"/>
    <p:sldId id="341" r:id="rId40"/>
    <p:sldId id="340" r:id="rId39"/>
    <p:sldId id="339" r:id="rId38"/>
    <p:sldId id="338" r:id="rId37"/>
    <p:sldId id="261" r:id="rId14"/>
    <p:sldId id="271" r:id="rId24"/>
    <p:sldId id="278" r:id="rId31"/>
    <p:sldId id="348" r:id="rId90"/>
    <p:sldId id="290" r:id="rId43"/>
    <p:sldId id="299" r:id="rId52"/>
    <p:sldId id="301" r:id="rId54"/>
    <p:sldId id="303" r:id="rId56"/>
    <p:sldId id="349" r:id="rId91"/>
    <p:sldId id="304" r:id="rId57"/>
    <p:sldId id="345" r:id="rId87"/>
    <p:sldId id="337" r:id="rId36"/>
    <p:sldId id="336" r:id="rId35"/>
    <p:sldId id="335" r:id="rId34"/>
    <p:sldId id="334" r:id="rId33"/>
    <p:sldId id="330" r:id="rId83"/>
    <p:sldId id="350" r:id="rId92"/>
    <p:sldId id="331" r:id="rId84"/>
    <p:sldId id="332" r:id="rId85"/>
    <p:sldId id="308" r:id="rId61"/>
    <p:sldId id="351" r:id="rId93"/>
    <p:sldId id="312" r:id="rId65"/>
    <p:sldId id="314" r:id="rId67"/>
    <p:sldId id="318" r:id="rId71"/>
    <p:sldId id="352" r:id="rId94"/>
    <p:sldId id="320" r:id="rId73"/>
    <p:sldId id="325" r:id="rId78"/>
    <p:sldId id="353" r:id="rId95"/>
    <p:sldId id="326" r:id="rId79"/>
    <p:sldId id="346" r:id="rId88"/>
    <p:sldId id="333" r:id="rId32"/>
    <p:sldId id="327" r:id="rId80"/>
    <p:sldId id="329" r:id="rId82"/>
    <p:sldId id="347" r:id="rId8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ns3:sldGuideLst>
        <ns3:guide id="1" pos="1512">
          <ns3:clr>
            <a:srgbClr val="A4A3A4"/>
          </ns3:clr>
        </ns3:guide>
        <ns3:guide id="2" orient="horz" pos="3024">
          <ns3:clr>
            <a:srgbClr val="A4A3A4"/>
          </ns3:clr>
        </ns3:guide>
        <ns3:guide id="3" orient="horz" pos="384">
          <ns3:clr>
            <a:srgbClr val="A4A3A4"/>
          </ns3:clr>
        </ns3:guide>
        <ns3:guide id="4" orient="horz" pos="2520">
          <ns3:clr>
            <a:srgbClr val="A4A3A4"/>
          </ns3:clr>
        </ns3:guide>
        <ns3:guide id="5" orient="horz" pos="1080">
          <ns3:clr>
            <a:srgbClr val="A4A3A4"/>
          </ns3:clr>
        </ns3:guide>
        <ns3:guide id="6" orient="horz" pos="1680">
          <ns3:clr>
            <a:srgbClr val="A4A3A4"/>
          </ns3:clr>
        </ns3:guide>
        <ns3:guide id="7" orient="horz" pos="3432">
          <ns3:clr>
            <a:srgbClr val="A4A3A4"/>
          </ns3:clr>
        </ns3:guide>
        <ns3:guide id="8" orient="horz" pos="3120">
          <ns3:clr>
            <a:srgbClr val="A4A3A4"/>
          </ns3:clr>
        </ns3:guide>
        <ns3:guide id="9" pos="48">
          <ns3:clr>
            <a:srgbClr val="A4A3A4"/>
          </ns3:clr>
        </ns3:guide>
        <ns3:guide id="10" pos="384">
          <ns3:clr>
            <a:srgbClr val="A4A3A4"/>
          </ns3:clr>
        </ns3:guide>
        <ns3:guide id="11" pos="6480">
          <ns3:clr>
            <a:srgbClr val="A4A3A4"/>
          </ns3:clr>
        </ns3:guide>
        <ns3:guide id="12" pos="2597">
          <ns3:clr>
            <a:srgbClr val="A4A3A4"/>
          </ns3:clr>
        </ns3:guide>
        <ns3:guide id="13" pos="288">
          <ns3:clr>
            <a:srgbClr val="A4A3A4"/>
          </ns3:clr>
        </ns3:guide>
        <ns3:guide id="14" orient="horz" pos="2160">
          <ns3:clr>
            <a:srgbClr val="A4A3A4"/>
          </ns3:clr>
        </ns3:guide>
        <ns3:guide id="15" orient="horz" pos="216">
          <ns3:clr>
            <a:srgbClr val="A4A3A4"/>
          </ns3:clr>
        </ns3:guide>
        <ns3:guide id="16" orient="horz" pos="936">
          <ns3:clr>
            <a:srgbClr val="A4A3A4"/>
          </ns3:clr>
        </ns3:guide>
        <ns3:guide id="17" pos="4368">
          <ns3:clr>
            <a:srgbClr val="A4A3A4"/>
          </ns3:clr>
        </ns3:guide>
        <ns3:guide id="18" pos="7296">
          <ns3:clr>
            <a:srgbClr val="A4A3A4"/>
          </ns3:clr>
        </ns3:guide>
        <ns3:guide id="19" pos="3288">
          <ns3:clr>
            <a:srgbClr val="A4A3A4"/>
          </ns3:clr>
        </ns3:guide>
        <ns3:guide id="20" pos="5904">
          <ns3:clr>
            <a:srgbClr val="A4A3A4"/>
          </ns3:clr>
        </ns3:guide>
        <ns3:guide id="21" pos="5568">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3.xml"/><Relationship Id="rId14" Type="http://schemas.openxmlformats.org/officeDocument/2006/relationships/slide" Target="slides/slide11.xml"/><Relationship Id="rId21" Type="http://schemas.openxmlformats.org/officeDocument/2006/relationships/slide" Target="slides/slide2.xml"/><Relationship Id="rId24" Type="http://schemas.openxmlformats.org/officeDocument/2006/relationships/slide" Target="slides/slide12.xml"/><Relationship Id="rId31" Type="http://schemas.openxmlformats.org/officeDocument/2006/relationships/slide" Target="slides/slide13.xml"/><Relationship Id="rId32" Type="http://schemas.openxmlformats.org/officeDocument/2006/relationships/slide" Target="slides/slide35.xml"/><Relationship Id="rId33" Type="http://schemas.openxmlformats.org/officeDocument/2006/relationships/slide" Target="slides/slide23.xml"/><Relationship Id="rId34" Type="http://schemas.openxmlformats.org/officeDocument/2006/relationships/slide" Target="slides/slide22.xml"/><Relationship Id="rId35" Type="http://schemas.openxmlformats.org/officeDocument/2006/relationships/slide" Target="slides/slide21.xml"/><Relationship Id="rId36" Type="http://schemas.openxmlformats.org/officeDocument/2006/relationships/slide" Target="slides/slide20.xml"/><Relationship Id="rId37" Type="http://schemas.openxmlformats.org/officeDocument/2006/relationships/slide" Target="slides/slide10.xml"/><Relationship Id="rId38" Type="http://schemas.openxmlformats.org/officeDocument/2006/relationships/slide" Target="slides/slide9.xml"/><Relationship Id="rId39" Type="http://schemas.openxmlformats.org/officeDocument/2006/relationships/slide" Target="slides/slide8.xml"/><Relationship Id="rId40" Type="http://schemas.openxmlformats.org/officeDocument/2006/relationships/slide" Target="slides/slide7.xml"/><Relationship Id="rId41" Type="http://schemas.openxmlformats.org/officeDocument/2006/relationships/slide" Target="slides/slide6.xml"/><Relationship Id="rId42" Type="http://schemas.openxmlformats.org/officeDocument/2006/relationships/slide" Target="slides/slide5.xml"/><Relationship Id="rId43" Type="http://schemas.openxmlformats.org/officeDocument/2006/relationships/slide" Target="slides/slide14.xml"/><Relationship Id="rId52" Type="http://schemas.openxmlformats.org/officeDocument/2006/relationships/slide" Target="slides/slide15.xml"/><Relationship Id="rId54" Type="http://schemas.openxmlformats.org/officeDocument/2006/relationships/slide" Target="slides/slide16.xml"/><Relationship Id="rId56" Type="http://schemas.openxmlformats.org/officeDocument/2006/relationships/slide" Target="slides/slide17.xml"/><Relationship Id="rId57" Type="http://schemas.openxmlformats.org/officeDocument/2006/relationships/slide" Target="slides/slide18.xml"/><Relationship Id="rId61" Type="http://schemas.openxmlformats.org/officeDocument/2006/relationships/slide" Target="slides/slide27.xml"/><Relationship Id="rId65" Type="http://schemas.openxmlformats.org/officeDocument/2006/relationships/slide" Target="slides/slide28.xml"/><Relationship Id="rId67" Type="http://schemas.openxmlformats.org/officeDocument/2006/relationships/slide" Target="slides/slide29.xml"/><Relationship Id="rId71" Type="http://schemas.openxmlformats.org/officeDocument/2006/relationships/slide" Target="slides/slide30.xml"/><Relationship Id="rId73" Type="http://schemas.openxmlformats.org/officeDocument/2006/relationships/slide" Target="slides/slide31.xml"/><Relationship Id="rId78" Type="http://schemas.openxmlformats.org/officeDocument/2006/relationships/slide" Target="slides/slide32.xml"/><Relationship Id="rId79" Type="http://schemas.openxmlformats.org/officeDocument/2006/relationships/slide" Target="slides/slide33.xml"/><Relationship Id="rId80" Type="http://schemas.openxmlformats.org/officeDocument/2006/relationships/slide" Target="slides/slide36.xml"/><Relationship Id="rId82" Type="http://schemas.openxmlformats.org/officeDocument/2006/relationships/slide" Target="slides/slide37.xml"/><Relationship Id="rId83" Type="http://schemas.openxmlformats.org/officeDocument/2006/relationships/slide" Target="slides/slide24.xml"/><Relationship Id="rId84" Type="http://schemas.openxmlformats.org/officeDocument/2006/relationships/slide" Target="slides/slide25.xml"/><Relationship Id="rId85" Type="http://schemas.openxmlformats.org/officeDocument/2006/relationships/slide" Target="slides/slide26.xml"/><Relationship Id="rId86" Type="http://schemas.openxmlformats.org/officeDocument/2006/relationships/slide" Target="slides/slide4.xml"/><Relationship Id="rId87" Type="http://schemas.openxmlformats.org/officeDocument/2006/relationships/slide" Target="slides/slide19.xml"/><Relationship Id="rId88" Type="http://schemas.openxmlformats.org/officeDocument/2006/relationships/slide" Target="slides/slide34.xml"/><Relationship Id="rId89" Type="http://schemas.openxmlformats.org/officeDocument/2006/relationships/slide" Target="slides/slide38.xml"/><Relationship Id="rId90" Type="http://schemas.openxmlformats.org/officeDocument/2006/relationships/slide" Target="slides/slide39.xml"/><Relationship Id="rId91" Type="http://schemas.openxmlformats.org/officeDocument/2006/relationships/slide" Target="slides/slide40.xml"/><Relationship Id="rId92" Type="http://schemas.openxmlformats.org/officeDocument/2006/relationships/slide" Target="slides/slide41.xml"/><Relationship Id="rId93" Type="http://schemas.openxmlformats.org/officeDocument/2006/relationships/slide" Target="slides/slide42.xml"/><Relationship Id="rId94" Type="http://schemas.openxmlformats.org/officeDocument/2006/relationships/slide" Target="slides/slide43.xml"/><Relationship Id="rId95"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 | WARMUP</a:t>
            </a:r>
          </a:p>
          <a:p xmlns:a="http://schemas.openxmlformats.org/drawingml/2006/main">
            <a:pPr>
              <a:buNone/>
            </a:pPr>
            <a:r>
              <a:rPr lang="en-US" sz="1100"/>
              <a:t>Focus on the existing task: Warm-Up WARM-UP · THINK • TRY • CHECK Do these four on…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32   2) 3.2   3) 16   4) 80</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choose a useful benchmark or compatible number; label an estimate; justify its size. Review recent work and today’s warm-up to choose flexible groups and access supports; do not infer needs from identity or perceived ability. Use the existing lesson tasks and stated standards.</a:t>
            </a:r>
          </a:p>
          <a:p>
            <a:pPr>
              <a:buNone/>
            </a:pPr>
            <a:r>
              <a:rPr lang="en-US" sz="1100"/>
              <a:t>Anticipate: presenting an estimate as an exact answer. If observed, locate the given percent or amount between familiar benchmarks.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3 | GOAL</a:t>
            </a:r>
          </a:p>
          <a:p xmlns:a="http://schemas.openxmlformats.org/drawingml/2006/main">
            <a:pPr>
              <a:buNone/>
            </a:pPr>
            <a:r>
              <a:rPr lang="en-US" sz="1100"/>
              <a:t>Focus on the existing task: Today’s Objectives Estimate the Percent of a Number…</a:t>
            </a:r>
          </a:p>
          <a:p xmlns:a="http://schemas.openxmlformats.org/drawingml/2006/main">
            <a:pPr>
              <a:buNone/>
            </a:pPr>
            <a:r>
              <a:rPr lang="en-US" sz="1100"/>
              <a:t>CONNECT (T1/4): Ask students to restate the displayed goal or key idea and connect it to earlier work. Relevant lesson evidence: choose a useful benchmark or compatible number; label an estimate; justify its size.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Tell a partner the goal and why it matters.</a:t>
            </a:r>
          </a:p>
          <a:p>
            <a:r>
              <a:rPr lang="en-US"/>
              <a:t>Student move: Tell a partner the goal and why it matters.</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choose a useful benchmark or compatible number; label an estimate; justify its size. Ask: “Which part of your work would show this?” Revisit that evidence after the task; a confidence rating alone is not evidence of understanding.</a:t>
            </a:r>
          </a:p>
        </p:txBody>
      </p:sp>
      <p:sp>
        <p:nvSpPr>
          <p:cNvPr id="333" name="Google Shape;333;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11 | VOCAB</a:t>
            </a:r>
          </a:p>
          <a:p xmlns:a="http://schemas.openxmlformats.org/drawingml/2006/main">
            <a:pPr>
              <a:buNone/>
            </a:pPr>
            <a:r>
              <a:rPr lang="en-US" sz="1100"/>
              <a:t>Focus on the existing task: Vocabulary Today’s Math Words We learn every word — what…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Explain with today’s vocabulary; partner paraphrases.</a:t>
            </a:r>
          </a:p>
          <a:p>
            <a:r>
              <a:rPr lang="en-US"/>
              <a:t>Student move: Explain with today’s vocabulary; partner paraphrases.</a:t>
            </a:r>
          </a:p>
        </p:txBody>
      </p:sp>
      <p:sp>
        <p:nvSpPr>
          <p:cNvPr id="355" name="Google Shape;355;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3: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2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Partner talk: connect today’s idea to prior learning.</a:t>
            </a:r>
          </a:p>
          <a:p>
            <a:r>
              <a:rPr lang="en-US"/>
              <a:t>Student move: Partner talk: connect today’s idea to prior learning.</a:t>
            </a:r>
          </a:p>
        </p:txBody>
      </p:sp>
      <p:sp>
        <p:nvSpPr>
          <p:cNvPr id="505" name="Google Shape;505;p1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12 | TASK</a:t>
            </a:r>
          </a:p>
          <a:p xmlns:a="http://schemas.openxmlformats.org/drawingml/2006/main">
            <a:pPr>
              <a:buNone/>
            </a:pPr>
            <a:r>
              <a:rPr lang="en-US" sz="1100"/>
              <a:t>Focus on the existing task: Margaret checked the cloud storage for her cell phone. Approximately what percent of her storage is used?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Ask a partner a question; choose a model together.</a:t>
            </a:r>
          </a:p>
          <a:p>
            <a:r>
              <a:rPr lang="en-US"/>
              <a:t>Student move: Ask a partner a question; choose a model together.</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rounding choice made your estimate easier, and does it likely make the result larger or smaller?” Wait for evidence, invite another pathway, and have a student ask a follow-up question. Do not replace students’ reasoning with a sequence of leading steps.</a:t>
            </a:r>
          </a:p>
        </p:txBody>
      </p:sp>
      <p:sp>
        <p:nvSpPr>
          <p:cNvPr id="550" name="Google Shape;550;p1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13 | REVEAL</a:t>
            </a:r>
          </a:p>
          <a:p xmlns:a="http://schemas.openxmlformats.org/drawingml/2006/main">
            <a:pPr>
              <a:buNone/>
            </a:pPr>
            <a:r>
              <a:rPr lang="en-US" sz="1100"/>
              <a:t>Focus on the existing task: Reveal: One tool is a double number line. Cloud Storage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what tool could show a quantity and its percent at the same time, then introduce the double number line. Listen for students connecting the two lines: one carries the amounts, one carries the percents. Watch for lines whose labels do not stay aligned; that alignment is the whole tool.</a:t>
            </a:r>
          </a:p>
        </p:txBody>
      </p:sp>
      <p:sp>
        <p:nvSpPr>
          <p:cNvPr id="613" name="Google Shape;613;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14 | REVEAL</a:t>
            </a:r>
          </a:p>
          <a:p xmlns:a="http://schemas.openxmlformats.org/drawingml/2006/main">
            <a:pPr>
              <a:buNone/>
            </a:pPr>
            <a:r>
              <a:rPr lang="en-US" sz="1100"/>
              <a:t>Focus on the existing task: How can you represent the corresponding percent of storage used on the number line?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where the given amount lives on the top line and what percent must sit directly below it. Listen for reasoning that keeps the two lines locked together. A common error is spacing marks unevenly; ask whether equal jumps on one line stay equal on the other.</a:t>
            </a:r>
          </a:p>
        </p:txBody>
      </p:sp>
      <p:sp>
        <p:nvSpPr>
          <p:cNvPr id="719" name="Google Shape;719;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15 | COLLABORATE</a:t>
            </a:r>
          </a:p>
          <a:p xmlns:a="http://schemas.openxmlformats.org/drawingml/2006/main">
            <a:pPr>
              <a:buNone/>
            </a:pPr>
            <a:r>
              <a:rPr lang="en-US" sz="1100"/>
              <a:t>Focus on the existing task: How can you complete the double number line to show the amount of storage used for photos, in gigabytes, and the corresponding percentage?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Student-led talk: paraphrase, agree or disagree, add on.</a:t>
            </a:r>
          </a:p>
          <a:p>
            <a:r>
              <a:rPr lang="en-US"/>
              <a:t>Student move: Student-led talk: paraphrase, agree or disagree, add on.</a:t>
            </a: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presenting an estimate as an exact answer. If it appears, locate the given percent or amount between familiar benchmarks; then ask the student to revise the same response and explain the change. If evidence is secure, have students compare a second valid pathway or state why their approach works. Choose the next step from the responses, not a preset pace.</a:t>
            </a:r>
          </a:p>
        </p:txBody>
      </p:sp>
      <p:sp>
        <p:nvSpPr>
          <p:cNvPr id="801" name="Google Shape;801;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16 | REVEAL</a:t>
            </a:r>
          </a:p>
          <a:p xmlns:a="http://schemas.openxmlformats.org/drawingml/2006/main">
            <a:pPr>
              <a:buNone/>
            </a:pPr>
            <a:r>
              <a:rPr lang="en-US" sz="1100"/>
              <a:t>Focus on the existing task: How can you estimate the percent of the used storage that is used for photos?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students to estimate using benchmarks like 25, 50, and 75 percent before calculating anything. Listen for comparisons to a nearby benchmark rather than exact arithmetic. If a student computes precisely, ask them whether the estimate would have caught a wrong answer.</a:t>
            </a:r>
          </a:p>
        </p:txBody>
      </p:sp>
      <p:sp>
        <p:nvSpPr>
          <p:cNvPr id="820" name="Google Shape;820;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4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17 | TASK</a:t>
            </a:r>
          </a:p>
          <a:p xmlns:a="http://schemas.openxmlformats.org/drawingml/2006/main">
            <a:pPr>
              <a:buNone/>
            </a:pPr>
            <a:r>
              <a:rPr lang="en-US" sz="1100"/>
              <a:t>Focus on the existing task: Margaret checked the cloud storage for her cell phone. Approximately what percent of her storage is used?</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87 percent of what? Getting the whole right is the entire question here, since it is 87 percent of the used storage, not of all storage. Listen for students naming the correct whole before estimating. This changing-whole idea is the most common trap in the lesson.</a:t>
            </a:r>
          </a:p>
        </p:txBody>
      </p:sp>
      <p:sp>
        <p:nvSpPr>
          <p:cNvPr id="837" name="Google Shape;837;p4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18 | PRACTICE</a:t>
            </a:r>
          </a:p>
          <a:p xmlns:a="http://schemas.openxmlformats.org/drawingml/2006/main">
            <a:pPr>
              <a:buNone/>
            </a:pPr>
            <a:r>
              <a:rPr lang="en-US" sz="1100"/>
              <a:t>Focus on the existing task: What is a good estimate of the percent of the total storage that is used for photos?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an estimate.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strategies; persist, revise, and try again.</a:t>
            </a:r>
          </a:p>
          <a:p>
            <a:r>
              <a:rPr lang="en-US"/>
              <a:t>Student move: Compare strategies; persist, revise, and try again.</a:t>
            </a:r>
          </a:p>
        </p:txBody>
      </p:sp>
      <p:sp>
        <p:nvSpPr>
          <p:cNvPr id="848" name="Google Shape;848;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27 | TASK</a:t>
            </a:r>
          </a:p>
          <a:p xmlns:a="http://schemas.openxmlformats.org/drawingml/2006/main">
            <a:pPr>
              <a:buNone/>
            </a:pPr>
            <a:r>
              <a:rPr lang="en-US" sz="1100"/>
              <a:t>Focus on the existing task: A local middle school has organized a Green-Team to set up and manage recycling at the school. The team decided to collect paper, metal…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recycling situation and have students restate what is known and what is asked. Listen for the quantities students choose to track. Ask what an estimate would look like before any exact work is attempted.</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rounding choice made your estimate easier, and does it likely make the result larger or smaller?” Wait for evidence, invite another pathway, and have a student ask a follow-up question. Do not replace students’ reasoning with a sequence of leading steps.</a:t>
            </a:r>
          </a:p>
        </p:txBody>
      </p:sp>
      <p:sp>
        <p:nvSpPr>
          <p:cNvPr id="886" name="Google Shape;886;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28 | REVEAL</a:t>
            </a:r>
          </a:p>
          <a:p xmlns:a="http://schemas.openxmlformats.org/drawingml/2006/main">
            <a:pPr>
              <a:buNone/>
            </a:pPr>
            <a:r>
              <a:rPr lang="en-US" sz="1100"/>
              <a:t>Focus on the existing task: Of the 216 pounds of recycled materials, 8.6% was metal. About how many pounds of metal were recycled that month?</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Partner press: ask ‘Why?’ and answer with evidence.</a:t>
            </a:r>
          </a:p>
          <a:p>
            <a:r>
              <a:rPr lang="en-US"/>
              <a:t>Student move: Partner press: ask ‘Why?’ and answer with evidence.</a:t>
            </a:r>
          </a:p>
        </p:txBody>
      </p:sp>
      <p:sp>
        <p:nvSpPr>
          <p:cNvPr id="920" name="Google Shape;920;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29 | REVEAL</a:t>
            </a:r>
          </a:p>
          <a:p xmlns:a="http://schemas.openxmlformats.org/drawingml/2006/main">
            <a:pPr>
              <a:buNone/>
            </a:pPr>
            <a:r>
              <a:rPr lang="en-US" sz="1100"/>
              <a:t>Focus on the existing task: Let’s use rounding to estimate 8.6% of 216. 8.6% of the recycling collected was metal. This is about 10%. 216 pounds of material were…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label an estimate.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why 10 percent is a friendly stepping stone for estimating 8.6 percent. Listen for students rounding the percent and defending whether the estimate runs high or low. Watch for students moving the decimal the wrong way when writing 10 percent as 0.1.</a:t>
            </a:r>
          </a:p>
        </p:txBody>
      </p:sp>
      <p:sp>
        <p:nvSpPr>
          <p:cNvPr id="936" name="Google Shape;936;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30 | REVEAL</a:t>
            </a:r>
          </a:p>
          <a:p xmlns:a="http://schemas.openxmlformats.org/drawingml/2006/main">
            <a:pPr>
              <a:buNone/>
            </a:pPr>
            <a:r>
              <a:rPr lang="en-US" sz="1100"/>
              <a:t>Focus on the existing task: Reveal: About 22 pounds of metal were recycled that month. School Recycling</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Have students check the estimate against the situation: does about 22 pounds make sense for this percent of this total? Listen for reasonableness talk, not just the number. Ask what would signal that an answer was way off.</a:t>
            </a:r>
          </a:p>
        </p:txBody>
      </p:sp>
      <p:sp>
        <p:nvSpPr>
          <p:cNvPr id="968" name="Google Shape;968;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6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31 | COLLABORATE</a:t>
            </a:r>
          </a:p>
          <a:p xmlns:a="http://schemas.openxmlformats.org/drawingml/2006/main">
            <a:pPr>
              <a:buNone/>
            </a:pPr>
            <a:r>
              <a:rPr lang="en-US" sz="1100"/>
              <a:t>Focus on the existing task: We can also use compatible numbers to estimate. 8.6% of the recycling collected was metal. 216 pounds of material were recycled. What compatible numbers can you use for 8.6% and 216 pounds?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Student-led talk: assign roles and monitor group progress.</a:t>
            </a:r>
          </a:p>
          <a:p>
            <a:r>
              <a:rPr lang="en-US"/>
              <a:t>Student move: Student-led talk: assign roles and monitor group progress.</a:t>
            </a: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presenting an estimate as an exact answer. If it appears, locate the given percent or amount between familiar benchmarks; then ask the student to revise the same response and explain the change. If evidence is secure, have students compare a second valid pathway or state why their approach works. Choose the next step from the responses, not a preset pace.</a:t>
            </a:r>
          </a:p>
        </p:txBody>
      </p:sp>
      <p:sp>
        <p:nvSpPr>
          <p:cNvPr id="985" name="Google Shape;985;p6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7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32 | TASK</a:t>
            </a:r>
          </a:p>
          <a:p xmlns:a="http://schemas.openxmlformats.org/drawingml/2006/main">
            <a:pPr>
              <a:buNone/>
            </a:pPr>
            <a:r>
              <a:rPr lang="en-US" sz="1100"/>
              <a:t>Focus on the existing task: A local middle school has organized a Green-Team to set up and manage recycling at the school. The team decided to collect paper, metal…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Closing pass on the recycling problem. Have students explain the full estimation chain from percent to pounds in their own words. Listen for the correct whole and a benchmark-based estimate. Ask one pair to present, and one other student to add a check on reasonableness.</a:t>
            </a:r>
          </a:p>
        </p:txBody>
      </p:sp>
      <p:sp>
        <p:nvSpPr>
          <p:cNvPr id="1033" name="Google Shape;1033;p7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7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33 | PRACTICE</a:t>
            </a:r>
          </a:p>
          <a:p xmlns:a="http://schemas.openxmlformats.org/drawingml/2006/main">
            <a:pPr>
              <a:buNone/>
            </a:pPr>
            <a:r>
              <a:rPr lang="en-US" sz="1100"/>
              <a:t>Focus on the existing task: For each method, how would you expect the actual amount of metal recycled to compare to the estimate?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pathways with a partner; name one revision.</a:t>
            </a:r>
          </a:p>
          <a:p>
            <a:r>
              <a:rPr lang="en-US"/>
              <a:t>Student move: Compare pathways with a partner; name one revision.</a:t>
            </a:r>
          </a:p>
        </p:txBody>
      </p:sp>
      <p:sp>
        <p:nvSpPr>
          <p:cNvPr id="1043" name="Google Shape;1043;p7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7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36 | SUMMARIZE</a:t>
            </a:r>
          </a:p>
          <a:p xmlns:a="http://schemas.openxmlformats.org/drawingml/2006/main">
            <a:pPr>
              <a:buNone/>
            </a:pPr>
            <a:r>
              <a:rPr lang="en-US" sz="1100"/>
              <a:t>Focus on the existing task: Estimate 4 out of 6 as a percentage. 4 out of 6 is about 70% You can use benchmarks or rounding strategies to estimate the percent of a…</a:t>
            </a:r>
          </a:p>
          <a:p xmlns:a="http://schemas.openxmlformats.org/drawingml/2006/main">
            <a:pPr>
              <a:buNone/>
            </a:pPr>
            <a:r>
              <a:rPr lang="en-US" sz="1100"/>
              <a:t>CONNECT (T1/4): Ask students to restate the displayed goal or key idea and connect it to earlier work. Relevant lesson evidence: choose a useful benchmark or compatible number; label an estimate; justify its size.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50" name="Google Shape;1050;p7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7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4.3, slide 37 | APPLY</a:t>
            </a:r>
          </a:p>
          <a:p xmlns:a="http://schemas.openxmlformats.org/drawingml/2006/main">
            <a:pPr>
              <a:buNone/>
            </a:pPr>
            <a:r>
              <a:rPr lang="en-US" sz="1100"/>
              <a:t>Focus on the existing task: The organizers of a food drive set a new goal for a second food drive. They hope to collect 140% as many cans as they did for the last…</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Defend your method; partner gives one specific next step.</a:t>
            </a:r>
          </a:p>
          <a:p>
            <a:r>
              <a:rPr lang="en-US"/>
              <a:t>Student move: Defend your method; partner gives one specific next step.</a:t>
            </a: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choose a useful benchmark or compatible number; label an estimate; justify its size. Respond with one specific next step tied to the work. Students revise and annotate what changed, then identify a criterion they can now demonstrate and one they still need to practice.</a:t>
            </a:r>
          </a:p>
          <a:p>
            <a:pPr>
              <a:buNone/>
            </a:pPr>
            <a:r>
              <a:rPr lang="en-US" sz="1100"/>
              <a:t>REFLECT &amp; ADJUST 1-2 | After the lesson (UIFR PDF pp. 15-16).</a:t>
            </a:r>
          </a:p>
          <a:p>
            <a:pPr>
              <a:buNone/>
            </a:pPr>
            <a:r>
              <a:rPr lang="en-US" sz="1100"/>
              <a:t>Sort the existing work by demonstrated reasoning, partial understanding, and the specific misconception: presenting an estimate as an exact answer.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locate the given percent or amount between familiar benchmarks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1067" name="Google Shape;1067;p7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4.3, slide 24 | WARMUP</a:t>
            </a:r>
          </a:p>
          <a:p xmlns:a="http://schemas.openxmlformats.org/drawingml/2006/main">
            <a:pPr>
              <a:buNone/>
            </a:pPr>
            <a:r>
              <a:rPr lang="en-US" sz="1100"/>
              <a:t>Focus on the existing task: Session 2 Warm-Up Session 2 Warm-Up Quick review from Session 1 · about 4 minutes 1 Which benchmark percent equals one half?</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choose a useful benchmark or compatible number; label an estimate; justify its size. Ask: “Which part of your work would show this?” Revisit that evidence after the task; a confidence rating alone is not evidence of understanding.</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4.3, slide 25 | NOTES</a:t>
            </a:r>
          </a:p>
          <a:p xmlns:a="http://schemas.openxmlformats.org/drawingml/2006/main">
            <a:pPr>
              <a:buNone/>
            </a:pPr>
            <a:r>
              <a:rPr lang="en-US" sz="1100"/>
              <a:t>Focus on the existing task: Review Notes Review Notes — Session 2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4.3, slide 26 | DIVIDER</a:t>
            </a:r>
          </a:p>
          <a:p xmlns:a="http://schemas.openxmlformats.org/drawingml/2006/main">
            <a:pPr>
              <a:buNone/>
            </a:pPr>
            <a:r>
              <a:rPr lang="en-US" sz="1100"/>
              <a:t>Focus on the existing task: Estimate the Percent of a Number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Transition cue: state what materials are out and what success looks like this session.</a:t>
            </a:r>
          </a:p>
          <a:p>
            <a:r>
              <a:t>Keep the changeover under a minute.</a:t>
            </a:r>
          </a:p>
          <a:p>
            <a:r>
              <a:t>UIFR: TEACH 6.</a:t>
            </a:r>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4 | PRIOR_INSERT</a:t>
            </a:r>
          </a:p>
          <a:p xmlns:a="http://schemas.openxmlformats.org/drawingml/2006/main">
            <a:pPr>
              <a:buNone/>
            </a:pPr>
            <a:r>
              <a:rPr lang="en-US" sz="1100"/>
              <a:t>Focus on the existing task: LESSON 4.3 / OUR LEARNING What will show your learning?</a:t>
            </a:r>
          </a:p>
          <a:p xmlns:a="http://schemas.openxmlformats.org/drawingml/2006/main">
            <a:pPr>
              <a:buNone/>
            </a:pPr>
            <a:r>
              <a:rPr lang="en-US" sz="1100"/>
              <a:t>CONNECT (T1/4): Ask students to restate the displayed goal or key idea and connect it to earlier work. Relevant lesson evidence: choose a useful benchmark or compatible number; label an estimate; justify its size.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5 | VOCAB</a:t>
            </a:r>
          </a:p>
          <a:p xmlns:a="http://schemas.openxmlformats.org/drawingml/2006/main">
            <a:pPr>
              <a:buNone/>
            </a:pPr>
            <a:r>
              <a:rPr lang="en-US" sz="1100"/>
              <a:t>Focus on the existing task: Vocabulary 1 of 5 estimate A reasoned answer that is…</a:t>
            </a:r>
          </a:p>
          <a:p xmlns:a="http://schemas.openxmlformats.org/drawingml/2006/main">
            <a:pPr>
              <a:buNone/>
            </a:pPr>
            <a:r>
              <a:rPr lang="en-US" sz="1100"/>
              <a:t>ASK (T1/3/5): Where does “estimate”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6 | VOCAB</a:t>
            </a:r>
          </a:p>
          <a:p xmlns:a="http://schemas.openxmlformats.org/drawingml/2006/main">
            <a:pPr>
              <a:buNone/>
            </a:pPr>
            <a:r>
              <a:rPr lang="en-US" sz="1100"/>
              <a:t>Focus on the existing task: Vocabulary 2 of 5 benchmark percent A friendly percent…</a:t>
            </a:r>
          </a:p>
          <a:p xmlns:a="http://schemas.openxmlformats.org/drawingml/2006/main">
            <a:pPr>
              <a:buNone/>
            </a:pPr>
            <a:r>
              <a:rPr lang="en-US" sz="1100"/>
              <a:t>ASK (T1/3/5): Where does “benchmark percent”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7 | VOCAB</a:t>
            </a:r>
          </a:p>
          <a:p xmlns:a="http://schemas.openxmlformats.org/drawingml/2006/main">
            <a:pPr>
              <a:buNone/>
            </a:pPr>
            <a:r>
              <a:rPr lang="en-US" sz="1100"/>
              <a:t>Focus on the existing task: Vocabulary 3 of 5 compatible numbers Numbers close to the…</a:t>
            </a:r>
          </a:p>
          <a:p xmlns:a="http://schemas.openxmlformats.org/drawingml/2006/main">
            <a:pPr>
              <a:buNone/>
            </a:pPr>
            <a:r>
              <a:rPr lang="en-US" sz="1100"/>
              <a:t>ASK (T1/3/5): Where does “compatible numbers”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8 | VOCAB</a:t>
            </a:r>
          </a:p>
          <a:p xmlns:a="http://schemas.openxmlformats.org/drawingml/2006/main">
            <a:pPr>
              <a:buNone/>
            </a:pPr>
            <a:r>
              <a:rPr lang="en-US" sz="1100"/>
              <a:t>Focus on the existing task: Vocabulary 4 of 5 double number line Two parallel number…</a:t>
            </a:r>
          </a:p>
          <a:p xmlns:a="http://schemas.openxmlformats.org/drawingml/2006/main">
            <a:pPr>
              <a:buNone/>
            </a:pPr>
            <a:r>
              <a:rPr lang="en-US" sz="1100"/>
              <a:t>ASK (T1/3/5): Where does “double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9 | VOCAB</a:t>
            </a:r>
          </a:p>
          <a:p xmlns:a="http://schemas.openxmlformats.org/drawingml/2006/main">
            <a:pPr>
              <a:buNone/>
            </a:pPr>
            <a:r>
              <a:rPr lang="en-US" sz="1100"/>
              <a:t>Focus on the existing task: Vocabulary 5 of 5 the whole The quantity that counts as…</a:t>
            </a:r>
          </a:p>
          <a:p xmlns:a="http://schemas.openxmlformats.org/drawingml/2006/main">
            <a:pPr>
              <a:buNone/>
            </a:pPr>
            <a:r>
              <a:rPr lang="en-US" sz="1100"/>
              <a:t>ASK (T1/3/5): Where does “the whole”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10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19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choose a useful benchmark or compatible number; label an estimate; justify its size.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20 | REVEAL</a:t>
            </a:r>
          </a:p>
          <a:p xmlns:a="http://schemas.openxmlformats.org/drawingml/2006/main">
            <a:pPr>
              <a:buNone/>
            </a:pPr>
            <a:r>
              <a:rPr lang="en-US" sz="1100"/>
              <a:t>Focus on the existing task: Let’s look at the first question. Approximately what percent of her storage is used?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21 | REVEAL</a:t>
            </a:r>
          </a:p>
          <a:p xmlns:a="http://schemas.openxmlformats.org/drawingml/2006/main">
            <a:pPr>
              <a:buNone/>
            </a:pPr>
            <a:r>
              <a:rPr lang="en-US" sz="1100"/>
              <a:t>Focus on the existing task: Let’s use intervals of 25 on the bottom number line. How can you determine the corresponding labels for the number line that represents the amount of storage in gigabytes?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22 | REVEAL</a:t>
            </a:r>
          </a:p>
          <a:p xmlns:a="http://schemas.openxmlformats.org/drawingml/2006/main">
            <a:pPr>
              <a:buNone/>
            </a:pPr>
            <a:r>
              <a:rPr lang="en-US" sz="1100"/>
              <a:t>Focus on the existing task: How can you represent the corresponding percent of storage used on the number line?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23 | CURIOUS</a:t>
            </a:r>
          </a:p>
          <a:p xmlns:a="http://schemas.openxmlformats.org/drawingml/2006/main">
            <a:pPr>
              <a:buNone/>
            </a:pPr>
            <a:r>
              <a:rPr lang="en-US" sz="1100"/>
              <a:t>Focus on the existing task: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34 | PRIOR_INSERT</a:t>
            </a:r>
          </a:p>
          <a:p xmlns:a="http://schemas.openxmlformats.org/drawingml/2006/main">
            <a:pPr>
              <a:buNone/>
            </a:pPr>
            <a:r>
              <a:rPr lang="en-US" sz="1100"/>
              <a:t>Focus on the existing task: LESSON 4.3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choose a useful benchmark or compatible number; label an estimate; justify its size.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35 | REVEAL</a:t>
            </a:r>
          </a:p>
          <a:p xmlns:a="http://schemas.openxmlformats.org/drawingml/2006/main">
            <a:pPr>
              <a:buNone/>
            </a:pPr>
            <a:r>
              <a:rPr lang="en-US" sz="1100"/>
              <a:t>Focus on the existing task: Let’s represent the percentage as a decimal. 10% of 220 or 0.1 of 220 How can you find 0.1 of 220?</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choose a useful benchmark or compatible number. Ask which feature of their work supports the claim.</a:t>
            </a:r>
          </a:p>
          <a:p xmlns:a="http://schemas.openxmlformats.org/drawingml/2006/main">
            <a:pPr>
              <a:buNone/>
            </a:pPr>
            <a:r>
              <a:rPr lang="en-US" sz="1100"/>
              <a:t>RESPOND: If this task shows the lesson misconception—presenting an estimate as an exact answer—locate the given percent or amount between familiar benchmarks.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4.3, slide 38 | PRIOR_INSERT</a:t>
            </a:r>
          </a:p>
          <a:p xmlns:a="http://schemas.openxmlformats.org/drawingml/2006/main">
            <a:pPr>
              <a:buNone/>
            </a:pPr>
            <a:r>
              <a:rPr lang="en-US" sz="1100"/>
              <a:t>Focus on the existing task: LESSON 4.3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choose a useful benchmark or compatible number; label an estimate; justify its size.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Estimate the Percent of a Number</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Estimate the Percent of a Number</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8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8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8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8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notesSlide" Target="../notesSlides/notesSlide8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27.png"/><Relationship Id="rId4" Type="http://schemas.openxmlformats.org/officeDocument/2006/relationships/image" Target="../media/image13.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 Id="rId3" Type="http://schemas.openxmlformats.org/officeDocument/2006/relationships/notesSlide" Target="../notesSlides/notesSlide8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notesSlide" Target="../notesSlides/notesSlide8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2.png"/><Relationship Id="rId3" Type="http://schemas.openxmlformats.org/officeDocument/2006/relationships/notesSlide" Target="../notesSlides/notesSlide8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4-3 · Estimate the Percent of a Number   |   Warm-Up · about 4 minutes</a:t>
            </a:r>
          </a:p>
        </p:txBody>
      </p:sp>
      <p:sp>
        <p:nvSpPr>
          <p:cNvPr id="26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10% of 320 = ______</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1% of 320 = ______</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Half of 32 = ______</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Round 78 to the nearest ten: ______</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44</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8" name="Google Shape;508;p52"/>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10" name="Google Shape;510;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4-3 · Estimate the Percent of a Number</a:t>
            </a:r>
            <a:endParaRPr/>
          </a:p>
        </p:txBody>
      </p:sp>
      <p:sp>
        <p:nvSpPr>
          <p:cNvPr id="511" name="Google Shape;511;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3" name="Google Shape;513;p52"/>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14" name="Google Shape;514;p52"/>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16" name="Google Shape;516;p52"/>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7" name="Google Shape;517;p52"/>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Estimating Percents of Numbers</a:t>
            </a:r>
            <a:endParaRPr/>
          </a:p>
        </p:txBody>
      </p:sp>
      <p:sp>
        <p:nvSpPr>
          <p:cNvPr id="518" name="Google Shape;518;p52"/>
          <p:cNvSpPr/>
          <p:nvPr/>
        </p:nvSpPr>
        <p:spPr>
          <a:xfrm>
            <a:off x="640080" y="3182112"/>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9" name="Google Shape;519;p52"/>
          <p:cNvSpPr/>
          <p:nvPr/>
        </p:nvSpPr>
        <p:spPr>
          <a:xfrm>
            <a:off x="896112" y="34655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0" name="Google Shape;520;p52"/>
          <p:cNvSpPr txBox="1"/>
          <p:nvPr/>
        </p:nvSpPr>
        <p:spPr>
          <a:xfrm>
            <a:off x="1371600" y="3264408"/>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Use benchmark percents: </a:t>
            </a:r>
            <a:r>
              <a:rPr b="0" i="0" lang="en-US" sz="1600" u="none" cap="none" strike="noStrike">
                <a:solidFill>
                  <a:srgbClr val="14223A"/>
                </a:solidFill>
                <a:latin typeface="Arial"/>
                <a:ea typeface="Arial"/>
                <a:cs typeface="Arial"/>
                <a:sym typeface="Arial"/>
              </a:rPr>
              <a:t>10% (move decimal left 1), 1% (move left 2), 50% (half), 25% (quarter)</a:t>
            </a:r>
            <a:endParaRPr/>
          </a:p>
        </p:txBody>
      </p:sp>
      <p:sp>
        <p:nvSpPr>
          <p:cNvPr id="521" name="Google Shape;521;p52"/>
          <p:cNvSpPr/>
          <p:nvPr/>
        </p:nvSpPr>
        <p:spPr>
          <a:xfrm>
            <a:off x="640080" y="4224528"/>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2"/>
          <p:cNvSpPr/>
          <p:nvPr/>
        </p:nvSpPr>
        <p:spPr>
          <a:xfrm>
            <a:off x="896112" y="450799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23" name="Google Shape;523;p52"/>
          <p:cNvSpPr txBox="1"/>
          <p:nvPr/>
        </p:nvSpPr>
        <p:spPr>
          <a:xfrm>
            <a:off x="1371600" y="4306824"/>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Combine </a:t>
            </a:r>
            <a:r>
              <a:rPr b="1" i="0" lang="en-US" sz="1600" u="none" cap="none" strike="noStrike">
                <a:solidFill>
                  <a:srgbClr val="14223A"/>
                </a:solidFill>
                <a:latin typeface="Arial"/>
                <a:ea typeface="Arial"/>
                <a:cs typeface="Arial"/>
                <a:sym typeface="Arial"/>
              </a:rPr>
              <a:t xml:space="preserve">benchmarks</a:t>
            </a:r>
            <a:r>
              <a:rPr b="0" i="0" lang="en-US" sz="1600" u="none" cap="none" strike="noStrike">
                <a:solidFill>
                  <a:srgbClr val="14223A"/>
                </a:solidFill>
                <a:latin typeface="Arial"/>
                <a:ea typeface="Arial"/>
                <a:cs typeface="Arial"/>
                <a:sym typeface="Arial"/>
              </a:rPr>
              <a:t xml:space="preserve"> (e.g. 15% = 10% + 5%; 75% = 50% + 25%)</a:t>
            </a:r>
            <a:endParaRPr/>
          </a:p>
        </p:txBody>
      </p:sp>
      <p:sp>
        <p:nvSpPr>
          <p:cNvPr id="524" name="Google Shape;524;p52"/>
          <p:cNvSpPr/>
          <p:nvPr/>
        </p:nvSpPr>
        <p:spPr>
          <a:xfrm>
            <a:off x="640080" y="5266944"/>
            <a:ext cx="10911809" cy="89611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2"/>
          <p:cNvSpPr/>
          <p:nvPr/>
        </p:nvSpPr>
        <p:spPr>
          <a:xfrm>
            <a:off x="896112" y="555040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26" name="Google Shape;526;p52"/>
          <p:cNvSpPr txBox="1"/>
          <p:nvPr/>
        </p:nvSpPr>
        <p:spPr>
          <a:xfrm>
            <a:off x="1371600" y="5349240"/>
            <a:ext cx="10043129" cy="73152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1600" u="none" cap="none" strike="noStrike">
                <a:solidFill>
                  <a:srgbClr val="14223A"/>
                </a:solidFill>
                <a:latin typeface="Arial"/>
                <a:ea typeface="Arial"/>
                <a:cs typeface="Arial"/>
                <a:sym typeface="Arial"/>
              </a:rPr>
              <a:t xml:space="preserve">Round</a:t>
            </a:r>
            <a:r>
              <a:rPr b="0" i="0" lang="en-US" sz="1600" u="none" cap="none" strike="noStrike">
                <a:solidFill>
                  <a:srgbClr val="14223A"/>
                </a:solidFill>
                <a:latin typeface="Arial"/>
                <a:ea typeface="Arial"/>
                <a:cs typeface="Arial"/>
                <a:sym typeface="Arial"/>
              </a:rPr>
              <a:t xml:space="preserve"> numbers to compatible values for quick mental </a:t>
            </a:r>
            <a:r>
              <a:rPr b="1" i="0" lang="en-US" sz="1600" u="none" cap="none" strike="noStrike">
                <a:solidFill>
                  <a:srgbClr val="14223A"/>
                </a:solidFill>
                <a:latin typeface="Arial"/>
                <a:ea typeface="Arial"/>
                <a:cs typeface="Arial"/>
                <a:sym typeface="Arial"/>
              </a:rPr>
              <a:t xml:space="preserve">estimates</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 / 44</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Objectives</a:t>
            </a:r>
            <a:endParaRPr/>
          </a:p>
        </p:txBody>
      </p:sp>
      <p:sp>
        <p:nvSpPr>
          <p:cNvPr id="338" name="Google Shape;338;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4-3 · Estimate the Percent of a Number</a:t>
            </a:r>
            <a:endParaRPr/>
          </a:p>
        </p:txBody>
      </p:sp>
      <p:sp>
        <p:nvSpPr>
          <p:cNvPr id="339" name="Google Shape;339;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1" name="Google Shape;341;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800" u="none" cap="none" strike="noStrike">
                <a:solidFill>
                  <a:srgbClr val="14223A"/>
                </a:solidFill>
                <a:latin typeface="Arial"/>
                <a:ea typeface="Arial"/>
                <a:cs typeface="Arial"/>
                <a:sym typeface="Arial"/>
              </a:rPr>
              <a:t>Estimate the Percent of a Number</a:t>
            </a:r>
            <a:endParaRPr/>
          </a:p>
        </p:txBody>
      </p:sp>
      <p:sp>
        <p:nvSpPr>
          <p:cNvPr id="342" name="Google Shape;342;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475569"/>
                </a:solidFill>
                <a:latin typeface="Arial"/>
                <a:ea typeface="Arial"/>
                <a:cs typeface="Arial"/>
                <a:sym typeface="Arial"/>
              </a:rPr>
              <a:t>Maryland Standard 6.AT.4</a:t>
            </a:r>
            <a:endParaRPr/>
          </a:p>
        </p:txBody>
      </p:sp>
      <p:sp>
        <p:nvSpPr>
          <p:cNvPr id="343" name="Google Shape;343;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4" name="Google Shape;344;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F766E"/>
                </a:solidFill>
                <a:latin typeface="Arial"/>
                <a:ea typeface="Arial"/>
                <a:cs typeface="Arial"/>
                <a:sym typeface="Arial"/>
              </a:rPr>
              <a:t>CONTENT OBJECTIVE</a:t>
            </a:r>
            <a:endParaRPr/>
          </a:p>
        </p:txBody>
      </p:sp>
      <p:sp>
        <p:nvSpPr>
          <p:cNvPr id="346" name="Google Shape;346;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Restate the goal in your words</a:t>
            </a:r>
            <a:endParaRPr/>
          </a:p>
        </p:txBody>
      </p:sp>
      <p:sp>
        <p:nvSpPr>
          <p:cNvPr id="347" name="Google Shape;347;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estimate the percent of a number using benchmark percents, rounding, and compatible numbers.</a:t>
            </a:r>
            <a:endParaRPr/>
          </a:p>
        </p:txBody>
      </p:sp>
      <p:sp>
        <p:nvSpPr>
          <p:cNvPr id="348" name="Google Shape;348;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C2410C"/>
                </a:solidFill>
                <a:latin typeface="Arial"/>
                <a:ea typeface="Arial"/>
                <a:cs typeface="Arial"/>
                <a:sym typeface="Arial"/>
              </a:rPr>
              <a:t>LANGUAGE OBJECTIVE</a:t>
            </a:r>
            <a:endParaRPr/>
          </a:p>
        </p:txBody>
      </p:sp>
      <p:sp>
        <p:nvSpPr>
          <p:cNvPr id="351" name="Google Shape;351;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Use these words to explain why</a:t>
            </a:r>
            <a:endParaRPr/>
          </a:p>
        </p:txBody>
      </p:sp>
      <p:sp>
        <p:nvSpPr>
          <p:cNvPr id="352" name="Google Shape;352;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explain an estimate using the words about, benchmark, and compatible numbers.</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4.3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Choose a useful benchmark or compatible number.</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Label an estimate.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Justify its size.</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89" name="Google Shape;389;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5</a:t>
            </a:r>
            <a:endParaRPr/>
          </a:p>
        </p:txBody>
      </p:sp>
      <p:sp>
        <p:nvSpPr>
          <p:cNvPr id="392" name="Google Shape;392;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4-3 · Estimate the Percent of a Number</a:t>
            </a:r>
            <a:endParaRPr/>
          </a:p>
        </p:txBody>
      </p:sp>
      <p:sp>
        <p:nvSpPr>
          <p:cNvPr id="393" name="Google Shape;393;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4" name="Google Shape;394;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5" name="Google Shape;395;p46"/>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estimate</a:t>
            </a:r>
            <a:endParaRPr/>
          </a:p>
        </p:txBody>
      </p:sp>
      <p:sp>
        <p:nvSpPr>
          <p:cNvPr id="396" name="Google Shape;396;p46"/>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6"/>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reasoned answer that is close enough to be useful, found without exact computation.</a:t>
            </a:r>
            <a:endParaRPr/>
          </a:p>
        </p:txBody>
      </p:sp>
      <p:sp>
        <p:nvSpPr>
          <p:cNvPr id="398" name="Google Shape;398;p46"/>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1" name="Google Shape;401;p46"/>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8.6% of 216 ≈ 10% of 200 = 20 pounds of metal.</a:t>
            </a:r>
            <a:endParaRPr/>
          </a:p>
        </p:txBody>
      </p:sp>
      <p:pic>
        <p:nvPicPr>
          <p:cNvPr descr="estimate.png" id="402" name="Google Shape;402;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4 / 34</a:t>
            </a:r>
            <a:endParaRPr/>
          </a:p>
        </p:txBody>
      </p:sp>
      <p:sp xmlns:p="http://schemas.openxmlformats.org/presentationml/2006/main" xmlns:a="http://schemas.openxmlformats.org/drawingml/2006/main">
        <p:nvSpPr>
          <p:cNvPr id="4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“estimate” to explain the example. Point to evidence.</a:t>
            </a:r>
            <a:endParaRPr lang="en-US" sz="20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7" name="Google Shape;407;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2 of 5</a:t>
            </a:r>
            <a:endParaRPr/>
          </a:p>
        </p:txBody>
      </p:sp>
      <p:sp>
        <p:nvSpPr>
          <p:cNvPr id="410" name="Google Shape;410;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4-3 · Estimate the Percent of a Number</a:t>
            </a:r>
            <a:endParaRPr/>
          </a:p>
        </p:txBody>
      </p:sp>
      <p:sp>
        <p:nvSpPr>
          <p:cNvPr id="411" name="Google Shape;411;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13" name="Google Shape;413;p47"/>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benchmark percent</a:t>
            </a:r>
            <a:endParaRPr/>
          </a:p>
        </p:txBody>
      </p:sp>
      <p:sp>
        <p:nvSpPr>
          <p:cNvPr id="414" name="Google Shape;414;p47"/>
          <p:cNvSpPr/>
          <p:nvPr/>
        </p:nvSpPr>
        <p:spPr>
          <a:xfrm>
            <a:off x="658368" y="2462784"/>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A friendly percent — 1%, 10%, 25%, 50%, 75%, 100% — used as a landmark for estimating.</a:t>
            </a:r>
            <a:endParaRPr/>
          </a:p>
        </p:txBody>
      </p:sp>
      <p:sp>
        <p:nvSpPr>
          <p:cNvPr id="416" name="Google Shape;416;p47"/>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19" name="Google Shape;419;p47"/>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1% · 10% · 25% · 50% · 75% · 100% — the landmarks you can find mentally.</a:t>
            </a:r>
            <a:endParaRPr/>
          </a:p>
        </p:txBody>
      </p:sp>
      <p:pic>
        <p:nvPicPr>
          <p:cNvPr descr="percent.png" id="420" name="Google Shape;420;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5 / 34</a:t>
            </a:r>
            <a:endParaRPr/>
          </a:p>
        </p:txBody>
      </p:sp>
      <p:grpSp>
        <p:nvGrpSpPr>
          <p:cNvPr id="421" name="TEACH-5-student-move" descr="TEACH 5 · Facilitate student interactions and academic talk"/>
          <p:cNvGrpSpPr/>
          <p:nvPr/>
        </p:nvGrpSpPr>
        <p:grpSpPr>
          <a:xfrm>
            <a:off x="502920" y="5751576"/>
            <a:ext cx="11186160" cy="548640"/>
            <a:chOff x="502920" y="5751576"/>
            <a:chExt cx="11186160" cy="548640"/>
          </a:xfrm>
        </p:grpSpPr>
        <p:sp>
          <p:nvSpPr>
            <p:cNvPr id="422"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423"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424"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5" name="Google Shape;425;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5</a:t>
            </a:r>
            <a:endParaRPr/>
          </a:p>
        </p:txBody>
      </p:sp>
      <p:sp>
        <p:nvSpPr>
          <p:cNvPr id="428" name="Google Shape;428;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4-3 · Estimate the Percent of a Number</a:t>
            </a:r>
            <a:endParaRPr/>
          </a:p>
        </p:txBody>
      </p:sp>
      <p:sp>
        <p:nvSpPr>
          <p:cNvPr id="429" name="Google Shape;429;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1" name="Google Shape;431;p48"/>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compatible numbers</a:t>
            </a:r>
            <a:endParaRPr/>
          </a:p>
        </p:txBody>
      </p:sp>
      <p:sp>
        <p:nvSpPr>
          <p:cNvPr id="432" name="Google Shape;432;p48"/>
          <p:cNvSpPr/>
          <p:nvPr/>
        </p:nvSpPr>
        <p:spPr>
          <a:xfrm>
            <a:off x="658368" y="2638806"/>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Numbers close to the originals that are easy to compute with mentally.</a:t>
            </a:r>
            <a:endParaRPr/>
          </a:p>
        </p:txBody>
      </p:sp>
      <p:sp>
        <p:nvSpPr>
          <p:cNvPr id="434" name="Google Shape;434;p48"/>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7" name="Google Shape;437;p48"/>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8.6% of 216 → 10% of 220: both nudged to numbers that divide nicely.</a:t>
            </a:r>
            <a:endParaRPr/>
          </a:p>
        </p:txBody>
      </p:sp>
      <p:pic>
        <p:nvPicPr>
          <p:cNvPr descr="estimate.png" id="438" name="Google Shape;438;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6 / 34</a:t>
            </a:r>
            <a:endParaRPr/>
          </a:p>
        </p:txBody>
      </p:sp>
      <p:sp xmlns:p="http://schemas.openxmlformats.org/presentationml/2006/main" xmlns:a="http://schemas.openxmlformats.org/drawingml/2006/main">
        <p:nvSpPr>
          <p:cNvPr id="43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“compatible numbers”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3" name="Google Shape;443;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5</a:t>
            </a:r>
            <a:endParaRPr/>
          </a:p>
        </p:txBody>
      </p:sp>
      <p:sp>
        <p:nvSpPr>
          <p:cNvPr id="446" name="Google Shape;446;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4-3 · Estimate the Percent of a Number</a:t>
            </a:r>
            <a:endParaRPr/>
          </a:p>
        </p:txBody>
      </p:sp>
      <p:sp>
        <p:nvSpPr>
          <p:cNvPr id="447" name="Google Shape;447;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9" name="Google Shape;449;p49"/>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double number line</a:t>
            </a:r>
            <a:endParaRPr/>
          </a:p>
        </p:txBody>
      </p:sp>
      <p:sp>
        <p:nvSpPr>
          <p:cNvPr id="450" name="Google Shape;450;p49"/>
          <p:cNvSpPr/>
          <p:nvPr/>
        </p:nvSpPr>
        <p:spPr>
          <a:xfrm>
            <a:off x="658368" y="2638806"/>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parallel number lines that pair amounts with their percents at the same positions.</a:t>
            </a:r>
            <a:endParaRPr/>
          </a:p>
        </p:txBody>
      </p:sp>
      <p:sp>
        <p:nvSpPr>
          <p:cNvPr id="452" name="Google Shape;452;p49"/>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5" name="Google Shape;455;p49"/>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0 · 25% · 50% · 75% · 100% above; 0 · 1.5 · 3 · 4.5 · 6 GB below.</a:t>
            </a:r>
            <a:endParaRPr/>
          </a:p>
        </p:txBody>
      </p:sp>
      <p:pic>
        <p:nvPicPr>
          <p:cNvPr descr="number-line.png" id="456" name="Google Shape;456;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7 / 34</a:t>
            </a:r>
            <a:endParaRPr/>
          </a:p>
        </p:txBody>
      </p:sp>
      <p:sp xmlns:p="http://schemas.openxmlformats.org/presentationml/2006/main" xmlns:a="http://schemas.openxmlformats.org/drawingml/2006/main">
        <p:nvSpPr>
          <p:cNvPr id="457"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“double number line”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1" name="Google Shape;461;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5</a:t>
            </a:r>
            <a:endParaRPr/>
          </a:p>
        </p:txBody>
      </p:sp>
      <p:sp>
        <p:nvSpPr>
          <p:cNvPr id="464" name="Google Shape;464;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4-3 · Estimate the Percent of a Number</a:t>
            </a:r>
            <a:endParaRPr/>
          </a:p>
        </p:txBody>
      </p:sp>
      <p:sp>
        <p:nvSpPr>
          <p:cNvPr id="465" name="Google Shape;465;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7" name="Google Shape;467;p50"/>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the whole</a:t>
            </a:r>
            <a:endParaRPr/>
          </a:p>
        </p:txBody>
      </p:sp>
      <p:sp>
        <p:nvSpPr>
          <p:cNvPr id="468" name="Google Shape;468;p50"/>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quantity that counts as 100% in a problem — and it can change between questions.</a:t>
            </a:r>
            <a:endParaRPr/>
          </a:p>
        </p:txBody>
      </p:sp>
      <p:sp>
        <p:nvSpPr>
          <p:cNvPr id="470" name="Google Shape;470;p50"/>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3" name="Google Shape;473;p50"/>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“Of the USED storage” makes 4 GB the whole — not the 6 GB total.</a:t>
            </a:r>
            <a:endParaRPr/>
          </a:p>
        </p:txBody>
      </p:sp>
      <p:pic>
        <p:nvPicPr>
          <p:cNvPr descr="part-to-whole.png" id="474" name="Google Shape;474;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8 / 34</a:t>
            </a:r>
            <a:endParaRPr/>
          </a:p>
        </p:txBody>
      </p:sp>
      <p:sp xmlns:p="http://schemas.openxmlformats.org/presentationml/2006/main" xmlns:a="http://schemas.openxmlformats.org/drawingml/2006/main">
        <p:nvSpPr>
          <p:cNvPr id="47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“the whole”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41" name="Google Shape;541;p5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42" name="Google Shape;542;p54"/>
          <p:cNvSpPr txBox="1"/>
          <p:nvPr/>
        </p:nvSpPr>
        <p:spPr>
          <a:xfrm>
            <a:off x="474055" y="936100"/>
            <a:ext cx="3769471" cy="12833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rPr b="0" i="0" lang="en-US" sz="2800" u="none" cap="none" strike="noStrike">
                <a:solidFill>
                  <a:schemeClr val="dk2"/>
                </a:solidFill>
                <a:latin typeface="Calibri"/>
                <a:ea typeface="Calibri"/>
                <a:cs typeface="Calibri"/>
                <a:sym typeface="Calibri"/>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rPr b="0" i="0" lang="en-US" sz="2800" u="none" cap="none" strike="noStrike">
                <a:solidFill>
                  <a:schemeClr val="dk2"/>
                </a:solidFill>
                <a:latin typeface="Calibri"/>
                <a:ea typeface="Calibri"/>
                <a:cs typeface="Calibri"/>
                <a:sym typeface="Calibri"/>
              </a:rPr>
              <a:t>What do you wonder?</a:t>
            </a:r>
            <a:endParaRPr b="0" i="0" sz="2800" u="none" cap="none" strike="noStrike">
              <a:solidFill>
                <a:srgbClr val="262626"/>
              </a:solidFill>
              <a:latin typeface="Arial"/>
              <a:ea typeface="Arial"/>
              <a:cs typeface="Arial"/>
              <a:sym typeface="Arial"/>
            </a:endParaRPr>
          </a:p>
        </p:txBody>
      </p:sp>
      <p:sp>
        <p:nvSpPr>
          <p:cNvPr id="543" name="Google Shape;543;p54"/>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44" name="Google Shape;544;p54"/>
          <p:cNvPicPr preferRelativeResize="0"/>
          <p:nvPr/>
        </p:nvPicPr>
        <p:blipFill rotWithShape="1">
          <a:blip r:embed="rId2">
            <a:alphaModFix/>
          </a:blip>
          <a:srcRect b="0" l="0" r="0" t="0"/>
          <a:stretch/>
        </p:blipFill>
        <p:spPr>
          <a:xfrm>
            <a:off x="4540578" y="1797058"/>
            <a:ext cx="5791900" cy="2104528"/>
          </a:xfrm>
          <a:prstGeom prst="rect">
            <a:avLst/>
          </a:prstGeom>
          <a:noFill/>
          <a:ln>
            <a:noFill/>
          </a:ln>
        </p:spPr>
      </p:pic>
      <p:pic>
        <p:nvPicPr>
          <p:cNvPr id="545" name="Google Shape;545;p54"/>
          <p:cNvPicPr preferRelativeResize="0"/>
          <p:nvPr/>
        </p:nvPicPr>
        <p:blipFill rotWithShape="1">
          <a:blip r:embed="rId3">
            <a:alphaModFix/>
          </a:blip>
          <a:srcRect b="0" l="0" r="0" t="0"/>
          <a:stretch/>
        </p:blipFill>
        <p:spPr>
          <a:xfrm>
            <a:off x="474055" y="5083700"/>
            <a:ext cx="5054600" cy="838200"/>
          </a:xfrm>
          <a:prstGeom prst="rect">
            <a:avLst/>
          </a:prstGeom>
          <a:noFill/>
          <a:ln>
            <a:noFill/>
          </a:ln>
        </p:spPr>
      </p:pic>
      <p:sp>
        <p:nvSpPr>
          <p:cNvPr id="546" name="Google Shape;546;p54"/>
          <p:cNvSpPr txBox="1"/>
          <p:nvPr/>
        </p:nvSpPr>
        <p:spPr>
          <a:xfrm>
            <a:off x="3334072"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47" name="Google Shape;547;p54"/>
          <p:cNvSpPr/>
          <p:nvPr/>
        </p:nvSpPr>
        <p:spPr>
          <a:xfrm>
            <a:off x="687251" y="5899023"/>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know that you have made a good decision in math class?</a:t>
            </a:r>
            <a:endParaRPr b="0" i="0" sz="1400" u="none" cap="none" strike="noStrike">
              <a:solidFill>
                <a:srgbClr val="000000"/>
              </a:solidFill>
              <a:latin typeface="Arial"/>
              <a:ea typeface="Arial"/>
              <a:cs typeface="Arial"/>
              <a:sym typeface="Arial"/>
            </a:endParaRPr>
          </a:p>
        </p:txBody>
      </p:sp>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9 / 34</a:t>
            </a:r>
            <a:endParaRPr/>
          </a:p>
        </p:txBody>
      </p:sp>
      <p:sp xmlns:p="http://schemas.openxmlformats.org/presentationml/2006/main" xmlns:a="http://schemas.openxmlformats.org/drawingml/2006/main">
        <p:nvSpPr>
          <p:cNvPr id="548"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0" name="Google Shape;360;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4-3 · Estimate the Percent of a Number</a:t>
            </a:r>
            <a:endParaRPr/>
          </a:p>
        </p:txBody>
      </p:sp>
      <p:sp>
        <p:nvSpPr>
          <p:cNvPr id="361" name="Google Shape;361;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3" name="Google Shape;363;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4" name="Google Shape;364;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5" name="Google Shape;365;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estimate</a:t>
            </a:r>
            <a:endParaRPr/>
          </a:p>
        </p:txBody>
      </p:sp>
      <p:sp>
        <p:nvSpPr>
          <p:cNvPr id="368" name="Google Shape;368;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reasoned answer that is close enough to be useful, found without exact computation</a:t>
            </a:r>
            <a:endParaRPr/>
          </a:p>
        </p:txBody>
      </p:sp>
      <p:sp>
        <p:nvSpPr>
          <p:cNvPr id="369" name="Google Shape;369;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benchmark percent</a:t>
            </a:r>
            <a:endParaRPr/>
          </a:p>
        </p:txBody>
      </p:sp>
      <p:sp>
        <p:nvSpPr>
          <p:cNvPr id="372" name="Google Shape;372;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friendly percent — 1%, 10%, 25%, 50%, 75%, 100% — used as a landmark for estimating</a:t>
            </a:r>
            <a:endParaRPr/>
          </a:p>
        </p:txBody>
      </p:sp>
      <p:sp>
        <p:nvSpPr>
          <p:cNvPr id="373" name="Google Shape;373;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4" name="Google Shape;374;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compatible numbers</a:t>
            </a:r>
            <a:endParaRPr/>
          </a:p>
        </p:txBody>
      </p:sp>
      <p:sp>
        <p:nvSpPr>
          <p:cNvPr id="376" name="Google Shape;376;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Numbers close to the originals that are easy to compute with mentally</a:t>
            </a:r>
            <a:endParaRPr/>
          </a:p>
        </p:txBody>
      </p:sp>
      <p:sp>
        <p:nvSpPr>
          <p:cNvPr id="377" name="Google Shape;377;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double number line</a:t>
            </a:r>
            <a:endParaRPr/>
          </a:p>
        </p:txBody>
      </p:sp>
      <p:sp>
        <p:nvSpPr>
          <p:cNvPr id="380" name="Google Shape;380;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Two parallel number lines that pair amounts with their percents at the same positions</a:t>
            </a:r>
            <a:endParaRPr/>
          </a:p>
        </p:txBody>
      </p:sp>
      <p:sp>
        <p:nvSpPr>
          <p:cNvPr id="381" name="Google Shape;381;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the whole</a:t>
            </a:r>
            <a:endParaRPr/>
          </a:p>
        </p:txBody>
      </p:sp>
      <p:sp>
        <p:nvSpPr>
          <p:cNvPr id="384" name="Google Shape;384;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quantity that counts as 100% in a problem — and it can change between questions</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Explain with today’s vocabulary; partner paraphrases.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11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5"/>
          <p:cNvSpPr txBox="1"/>
          <p:nvPr/>
        </p:nvSpPr>
        <p:spPr>
          <a:xfrm>
            <a:off x="484565" y="936099"/>
            <a:ext cx="6937167" cy="38429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Margaret checked the cloud storage for her cell phone.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Approximately what percent of her storage is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Of the used storage, approximately what percent are photos?</a:t>
            </a:r>
            <a:endParaRPr b="0" i="0" sz="1400" u="none" cap="none" strike="noStrike">
              <a:solidFill>
                <a:srgbClr val="000000"/>
              </a:solidFill>
              <a:latin typeface="Arial"/>
              <a:ea typeface="Arial"/>
              <a:cs typeface="Arial"/>
              <a:sym typeface="Arial"/>
            </a:endParaRPr>
          </a:p>
        </p:txBody>
      </p:sp>
      <p:sp>
        <p:nvSpPr>
          <p:cNvPr id="553" name="Google Shape;553;p55"/>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cxnSp>
        <p:nvCxnSpPr>
          <p:cNvPr id="554" name="Google Shape;554;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55" name="Google Shape;555;p55"/>
          <p:cNvPicPr preferRelativeResize="0"/>
          <p:nvPr/>
        </p:nvPicPr>
        <p:blipFill rotWithShape="1">
          <a:blip r:embed="rId3">
            <a:alphaModFix/>
          </a:blip>
          <a:srcRect b="0" l="0" r="0" t="0"/>
          <a:stretch/>
        </p:blipFill>
        <p:spPr>
          <a:xfrm>
            <a:off x="7927760" y="1745610"/>
            <a:ext cx="3740458" cy="2709832"/>
          </a:xfrm>
          <a:prstGeom prst="rect">
            <a:avLst/>
          </a:prstGeom>
          <a:noFill/>
          <a:ln>
            <a:noFill/>
          </a:ln>
        </p:spPr>
      </p:pic>
      <p:sp>
        <p:nvSpPr>
          <p:cNvPr id="556" name="Google Shape;556;p55"/>
          <p:cNvSpPr txBox="1"/>
          <p:nvPr/>
        </p:nvSpPr>
        <p:spPr>
          <a:xfrm>
            <a:off x="484565" y="5320029"/>
            <a:ext cx="10203563" cy="10462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xml:space="preserve">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12 / 44</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62"/>
          <p:cNvSpPr txBox="1"/>
          <p:nvPr/>
        </p:nvSpPr>
        <p:spPr>
          <a:xfrm>
            <a:off x="484565" y="936099"/>
            <a:ext cx="6937167" cy="4141928"/>
          </a:xfrm>
          <a:prstGeom prst="rect">
            <a:avLst/>
          </a:prstGeom>
          <a:blipFill rotWithShape="1">
            <a:blip r:embed="rId3">
              <a:alphaModFix/>
            </a:blip>
            <a:stretch>
              <a:fillRect b="0" l="-1757" r="0" t="-162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cxnSp>
        <p:nvCxnSpPr>
          <p:cNvPr id="616" name="Google Shape;616;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17" name="Google Shape;617;p62"/>
          <p:cNvPicPr preferRelativeResize="0"/>
          <p:nvPr/>
        </p:nvPicPr>
        <p:blipFill rotWithShape="1">
          <a:blip r:embed="rId4">
            <a:alphaModFix/>
          </a:blip>
          <a:srcRect b="0" l="0" r="0" t="0"/>
          <a:stretch/>
        </p:blipFill>
        <p:spPr>
          <a:xfrm>
            <a:off x="7927760" y="1745610"/>
            <a:ext cx="3740458" cy="2709832"/>
          </a:xfrm>
          <a:prstGeom prst="rect">
            <a:avLst/>
          </a:prstGeom>
          <a:noFill/>
          <a:ln>
            <a:noFill/>
          </a:ln>
        </p:spPr>
      </p:pic>
      <p:sp>
        <p:nvSpPr>
          <p:cNvPr id="618" name="Google Shape;618;p62"/>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One tool is a double number line.</a:t>
            </a:r>
            <a:endParaRPr b="0" i="0" sz="1400" u="none" cap="none" strike="noStrike">
              <a:solidFill>
                <a:srgbClr val="000000"/>
              </a:solidFill>
              <a:latin typeface="Arial"/>
              <a:ea typeface="Arial"/>
              <a:cs typeface="Arial"/>
              <a:sym typeface="Arial"/>
            </a:endParaRPr>
          </a:p>
        </p:txBody>
      </p:sp>
      <p:sp>
        <p:nvSpPr>
          <p:cNvPr id="619" name="Google Shape;619;p62"/>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sp>
        <p:nvSpPr>
          <p:cNvPr id="62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13 / 44</a:t>
            </a:r>
          </a:p>
        </p:txBody>
      </p:sp>
      <p:sp>
        <p:nvSpPr>
          <p:cNvPr id="621" name="EWL-COVER-1"/>
          <p:cNvSpPr/>
          <p:nvPr/>
        </p:nvSpPr>
        <p:spPr>
          <a:xfrm>
            <a:off x="429701" y="5092016"/>
            <a:ext cx="7614618" cy="128601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4"/>
          <p:cNvSpPr txBox="1"/>
          <p:nvPr/>
        </p:nvSpPr>
        <p:spPr>
          <a:xfrm>
            <a:off x="484566" y="936249"/>
            <a:ext cx="787777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can you represent the corresponding percent of storage used on the number line?</a:t>
            </a:r>
            <a:endParaRPr b="0" i="0" sz="2800" u="none" cap="none" strike="noStrike">
              <a:solidFill>
                <a:schemeClr val="dk1"/>
              </a:solidFill>
              <a:latin typeface="Arial"/>
              <a:ea typeface="Arial"/>
              <a:cs typeface="Arial"/>
              <a:sym typeface="Arial"/>
            </a:endParaRPr>
          </a:p>
        </p:txBody>
      </p:sp>
      <p:cxnSp>
        <p:nvCxnSpPr>
          <p:cNvPr id="722" name="Google Shape;722;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descr="A picture containing chart&#10;&#10;Description automatically generated" id="723" name="Google Shape;723;p74"/>
          <p:cNvPicPr preferRelativeResize="0"/>
          <p:nvPr/>
        </p:nvPicPr>
        <p:blipFill rotWithShape="1">
          <a:blip r:embed="rId3">
            <a:alphaModFix/>
          </a:blip>
          <a:srcRect b="0" l="0" r="0" t="0"/>
          <a:stretch/>
        </p:blipFill>
        <p:spPr>
          <a:xfrm>
            <a:off x="685260" y="1969076"/>
            <a:ext cx="7143597" cy="2392988"/>
          </a:xfrm>
          <a:prstGeom prst="rect">
            <a:avLst/>
          </a:prstGeom>
          <a:noFill/>
          <a:ln>
            <a:noFill/>
          </a:ln>
        </p:spPr>
      </p:pic>
      <p:sp>
        <p:nvSpPr>
          <p:cNvPr id="724" name="Google Shape;724;p74"/>
          <p:cNvSpPr txBox="1"/>
          <p:nvPr/>
        </p:nvSpPr>
        <p:spPr>
          <a:xfrm>
            <a:off x="484566" y="4848358"/>
            <a:ext cx="9064877"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plot a point on the bottom number line that is at the same location as the point on the top number line.</a:t>
            </a:r>
            <a:endParaRPr b="1" i="0" sz="2800" u="none" cap="none" strike="noStrike">
              <a:solidFill>
                <a:srgbClr val="0070C0"/>
              </a:solidFill>
              <a:latin typeface="Arial"/>
              <a:ea typeface="Arial"/>
              <a:cs typeface="Arial"/>
              <a:sym typeface="Arial"/>
            </a:endParaRPr>
          </a:p>
        </p:txBody>
      </p:sp>
      <p:sp>
        <p:nvSpPr>
          <p:cNvPr id="725" name="Google Shape;725;p74"/>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sp>
        <p:nvSpPr>
          <p:cNvPr id="72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15 / 44</a:t>
            </a:r>
          </a:p>
        </p:txBody>
      </p:sp>
      <p:sp>
        <p:nvSpPr>
          <p:cNvPr id="727" name="EWL-COVER-1"/>
          <p:cNvSpPr/>
          <p:nvPr/>
        </p:nvSpPr>
        <p:spPr>
          <a:xfrm>
            <a:off x="429702" y="4793494"/>
            <a:ext cx="9174605" cy="1653026"/>
          </a:xfrm>
          <a:prstGeom prst="rect">
            <a:avLst/>
          </a:prstGeom>
          <a:solidFill>
            <a:srgbClr val="FFFFFF"/>
          </a:solidFill>
          <a:ln>
            <a:noFill/>
          </a:ln>
        </p:spPr>
        <p:txBody>
          <a:bodyPr/>
          <a:lstStyle/>
          <a:p/>
        </p:txBody>
      </p:sp>
      <p:grpSp>
        <p:nvGrpSpPr>
          <p:cNvPr id="728" name="TEACH-2-student-move" descr="TEACH 2 · Use strategies and tasks to engage students in rigorous work"/>
          <p:cNvGrpSpPr/>
          <p:nvPr/>
        </p:nvGrpSpPr>
        <p:grpSpPr>
          <a:xfrm>
            <a:off x="502920" y="4409446"/>
            <a:ext cx="11186160" cy="402336"/>
            <a:chOff x="502920" y="4409446"/>
            <a:chExt cx="11186160" cy="402336"/>
          </a:xfrm>
        </p:grpSpPr>
        <p:sp>
          <p:nvSpPr>
            <p:cNvPr id="729" name="TEACH-move-card"/>
            <p:cNvSpPr/>
            <p:nvPr/>
          </p:nvSpPr>
          <p:spPr>
            <a:xfrm>
              <a:off x="502920" y="440944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30" name="TEACH-move-rule"/>
            <p:cNvSpPr/>
            <p:nvPr/>
          </p:nvSpPr>
          <p:spPr>
            <a:xfrm>
              <a:off x="548640" y="4485890"/>
              <a:ext cx="100584" cy="249448"/>
            </a:xfrm>
            <a:prstGeom prst="roundRect">
              <a:avLst>
                <a:gd name="adj" fmla="val 50000"/>
              </a:avLst>
            </a:prstGeom>
            <a:solidFill>
              <a:srgbClr val="01708C"/>
            </a:solidFill>
            <a:ln>
              <a:noFill/>
            </a:ln>
          </p:spPr>
          <p:txBody>
            <a:bodyPr/>
            <a:lstStyle/>
            <a:p>
              <a:endParaRPr/>
            </a:p>
          </p:txBody>
        </p:sp>
        <p:sp>
          <p:nvSpPr>
            <p:cNvPr id="731" name="TEACH-move-text"/>
            <p:cNvSpPr txBox="1"/>
            <p:nvPr/>
          </p:nvSpPr>
          <p:spPr>
            <a:xfrm>
              <a:off x="822960" y="440944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pic>
        <p:nvPicPr>
          <p:cNvPr id="803" name="Google Shape;803;p83"/>
          <p:cNvPicPr preferRelativeResize="0"/>
          <p:nvPr/>
        </p:nvPicPr>
        <p:blipFill rotWithShape="1">
          <a:blip r:embed="rId3">
            <a:alphaModFix/>
          </a:blip>
          <a:srcRect b="0" l="0" r="0" t="0"/>
          <a:stretch/>
        </p:blipFill>
        <p:spPr>
          <a:xfrm>
            <a:off x="735092" y="3139073"/>
            <a:ext cx="6862883" cy="1116000"/>
          </a:xfrm>
          <a:prstGeom prst="rect">
            <a:avLst/>
          </a:prstGeom>
          <a:noFill/>
          <a:ln>
            <a:noFill/>
          </a:ln>
        </p:spPr>
      </p:pic>
      <p:sp>
        <p:nvSpPr>
          <p:cNvPr id="804" name="Google Shape;804;p83"/>
          <p:cNvSpPr txBox="1"/>
          <p:nvPr/>
        </p:nvSpPr>
        <p:spPr>
          <a:xfrm>
            <a:off x="484565" y="936099"/>
            <a:ext cx="7563268" cy="17984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complete the double number line to show the amount of storage used for photos, in gigabytes, and the corresponding percentage?</a:t>
            </a:r>
            <a:endParaRPr b="0" i="0" sz="1400" u="none" cap="none" strike="noStrike">
              <a:solidFill>
                <a:srgbClr val="000000"/>
              </a:solidFill>
              <a:latin typeface="Arial"/>
              <a:ea typeface="Arial"/>
              <a:cs typeface="Arial"/>
              <a:sym typeface="Arial"/>
            </a:endParaRPr>
          </a:p>
        </p:txBody>
      </p:sp>
      <p:cxnSp>
        <p:nvCxnSpPr>
          <p:cNvPr id="805" name="Google Shape;805;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806" name="Google Shape;806;p83"/>
          <p:cNvPicPr preferRelativeResize="0"/>
          <p:nvPr/>
        </p:nvPicPr>
        <p:blipFill rotWithShape="1">
          <a:blip r:embed="rId4">
            <a:alphaModFix/>
          </a:blip>
          <a:srcRect b="0" l="0" r="0" t="0"/>
          <a:stretch/>
        </p:blipFill>
        <p:spPr>
          <a:xfrm>
            <a:off x="8047833" y="1736373"/>
            <a:ext cx="3740458" cy="2709832"/>
          </a:xfrm>
          <a:prstGeom prst="rect">
            <a:avLst/>
          </a:prstGeom>
          <a:noFill/>
          <a:ln>
            <a:noFill/>
          </a:ln>
        </p:spPr>
      </p:pic>
      <p:sp>
        <p:nvSpPr>
          <p:cNvPr id="807" name="Google Shape;807;p83"/>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xml:space="preserve">    Collaborate and Connect</a:t>
            </a:r>
            <a:endParaRPr b="0" i="0" sz="1400" u="none" cap="none" strike="noStrike">
              <a:solidFill>
                <a:srgbClr val="000000"/>
              </a:solidFill>
              <a:latin typeface="Arial"/>
              <a:ea typeface="Arial"/>
              <a:cs typeface="Arial"/>
              <a:sym typeface="Arial"/>
            </a:endParaRPr>
          </a:p>
        </p:txBody>
      </p:sp>
      <p:pic>
        <p:nvPicPr>
          <p:cNvPr id="808" name="Google Shape;808;p83"/>
          <p:cNvPicPr preferRelativeResize="0"/>
          <p:nvPr/>
        </p:nvPicPr>
        <p:blipFill rotWithShape="1">
          <a:blip r:embed="rId5">
            <a:alphaModFix/>
          </a:blip>
          <a:srcRect b="0" l="0" r="0" t="0"/>
          <a:stretch/>
        </p:blipFill>
        <p:spPr>
          <a:xfrm>
            <a:off x="558276" y="386230"/>
            <a:ext cx="353635" cy="340537"/>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16 / 44</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004"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 Switch roles; both revise.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85"/>
          <p:cNvSpPr txBox="1"/>
          <p:nvPr/>
        </p:nvSpPr>
        <p:spPr>
          <a:xfrm>
            <a:off x="484565" y="936099"/>
            <a:ext cx="8280744" cy="8927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estimate the percent of the used storage that is used for photos?</a:t>
            </a:r>
            <a:endParaRPr b="0" i="0" sz="1400" u="none" cap="none" strike="noStrike">
              <a:solidFill>
                <a:srgbClr val="000000"/>
              </a:solidFill>
              <a:latin typeface="Arial"/>
              <a:ea typeface="Arial"/>
              <a:cs typeface="Arial"/>
              <a:sym typeface="Arial"/>
            </a:endParaRPr>
          </a:p>
        </p:txBody>
      </p:sp>
      <p:cxnSp>
        <p:nvCxnSpPr>
          <p:cNvPr id="823" name="Google Shape;823;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4" name="Google Shape;824;p85"/>
          <p:cNvSpPr txBox="1"/>
          <p:nvPr/>
        </p:nvSpPr>
        <p:spPr>
          <a:xfrm>
            <a:off x="484565" y="4862208"/>
            <a:ext cx="7504890" cy="15730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the benchmark values to estimate what percentage is between 75% and 100%.</a:t>
            </a:r>
            <a:endParaRPr b="0" i="0" sz="1400" u="none" cap="none" strike="noStrike">
              <a:solidFill>
                <a:srgbClr val="000000"/>
              </a:solidFill>
              <a:latin typeface="Arial"/>
              <a:ea typeface="Arial"/>
              <a:cs typeface="Arial"/>
              <a:sym typeface="Arial"/>
            </a:endParaRPr>
          </a:p>
        </p:txBody>
      </p:sp>
      <p:pic>
        <p:nvPicPr>
          <p:cNvPr id="825" name="Google Shape;825;p85"/>
          <p:cNvPicPr preferRelativeResize="0"/>
          <p:nvPr/>
        </p:nvPicPr>
        <p:blipFill rotWithShape="1">
          <a:blip r:embed="rId3">
            <a:alphaModFix/>
          </a:blip>
          <a:srcRect b="0" l="0" r="0" t="0"/>
          <a:stretch/>
        </p:blipFill>
        <p:spPr>
          <a:xfrm>
            <a:off x="735092" y="2531937"/>
            <a:ext cx="6848135" cy="1714181"/>
          </a:xfrm>
          <a:prstGeom prst="rect">
            <a:avLst/>
          </a:prstGeom>
          <a:noFill/>
          <a:ln>
            <a:noFill/>
          </a:ln>
        </p:spPr>
      </p:pic>
      <p:sp>
        <p:nvSpPr>
          <p:cNvPr id="826" name="Google Shape;826;p85"/>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sp>
        <p:nvSpPr>
          <p:cNvPr id="82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17 / 44</a:t>
            </a:r>
          </a:p>
        </p:txBody>
      </p:sp>
      <p:sp>
        <p:nvSpPr>
          <p:cNvPr id="828" name="EWL-COVER-1"/>
          <p:cNvSpPr/>
          <p:nvPr/>
        </p:nvSpPr>
        <p:spPr>
          <a:xfrm>
            <a:off x="429701" y="4807344"/>
            <a:ext cx="7614618" cy="1639176"/>
          </a:xfrm>
          <a:prstGeom prst="rect">
            <a:avLst/>
          </a:prstGeom>
          <a:solidFill>
            <a:srgbClr val="FFFFFF"/>
          </a:solidFill>
          <a:ln>
            <a:noFill/>
          </a:ln>
        </p:spPr>
        <p:txBody>
          <a:bodyPr/>
          <a:lstStyle/>
          <a:p/>
        </p:txBody>
      </p:sp>
      <p:grpSp>
        <p:nvGrpSpPr>
          <p:cNvPr id="829" name="TEACH-6-student-move" descr="TEACH 6 · Organize and implement routines to support a learning-focused classroom"/>
          <p:cNvGrpSpPr/>
          <p:nvPr/>
        </p:nvGrpSpPr>
        <p:grpSpPr>
          <a:xfrm>
            <a:off x="502920" y="4423296"/>
            <a:ext cx="11186160" cy="402336"/>
            <a:chOff x="502920" y="4423296"/>
            <a:chExt cx="11186160" cy="402336"/>
          </a:xfrm>
        </p:grpSpPr>
        <p:sp>
          <p:nvSpPr>
            <p:cNvPr id="830" name="TEACH-move-card"/>
            <p:cNvSpPr/>
            <p:nvPr/>
          </p:nvSpPr>
          <p:spPr>
            <a:xfrm>
              <a:off x="502920" y="442329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31" name="TEACH-move-rule"/>
            <p:cNvSpPr/>
            <p:nvPr/>
          </p:nvSpPr>
          <p:spPr>
            <a:xfrm>
              <a:off x="548640" y="4499740"/>
              <a:ext cx="100584" cy="249448"/>
            </a:xfrm>
            <a:prstGeom prst="roundRect">
              <a:avLst>
                <a:gd name="adj" fmla="val 50000"/>
              </a:avLst>
            </a:prstGeom>
            <a:solidFill>
              <a:srgbClr val="01708C"/>
            </a:solidFill>
            <a:ln>
              <a:noFill/>
            </a:ln>
          </p:spPr>
          <p:txBody>
            <a:bodyPr/>
            <a:lstStyle/>
            <a:p>
              <a:endParaRPr/>
            </a:p>
          </p:txBody>
        </p:sp>
        <p:sp>
          <p:nvSpPr>
            <p:cNvPr id="832" name="TEACH-move-text"/>
            <p:cNvSpPr txBox="1"/>
            <p:nvPr/>
          </p:nvSpPr>
          <p:spPr>
            <a:xfrm>
              <a:off x="822960" y="442329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cxnSp>
        <p:nvCxnSpPr>
          <p:cNvPr id="839" name="Google Shape;839;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0" name="Google Shape;840;p87"/>
          <p:cNvSpPr txBox="1"/>
          <p:nvPr/>
        </p:nvSpPr>
        <p:spPr>
          <a:xfrm>
            <a:off x="484565" y="936100"/>
            <a:ext cx="7443195" cy="19441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Margaret checked the cloud storage for her cell phone.</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Approximately what percent of her storage is used?</a:t>
            </a:r>
            <a:endParaRPr b="0" i="0" sz="1400" u="none" cap="none" strike="noStrike">
              <a:solidFill>
                <a:srgbClr val="000000"/>
              </a:solidFill>
              <a:latin typeface="Arial"/>
              <a:ea typeface="Arial"/>
              <a:cs typeface="Arial"/>
              <a:sym typeface="Arial"/>
            </a:endParaRPr>
          </a:p>
        </p:txBody>
      </p:sp>
      <p:pic>
        <p:nvPicPr>
          <p:cNvPr id="841" name="Google Shape;841;p87"/>
          <p:cNvPicPr preferRelativeResize="0"/>
          <p:nvPr/>
        </p:nvPicPr>
        <p:blipFill rotWithShape="1">
          <a:blip r:embed="rId3">
            <a:alphaModFix/>
          </a:blip>
          <a:srcRect b="0" l="0" r="0" t="0"/>
          <a:stretch/>
        </p:blipFill>
        <p:spPr>
          <a:xfrm>
            <a:off x="8047833" y="1736373"/>
            <a:ext cx="3740458" cy="2709832"/>
          </a:xfrm>
          <a:prstGeom prst="rect">
            <a:avLst/>
          </a:prstGeom>
          <a:noFill/>
          <a:ln>
            <a:noFill/>
          </a:ln>
        </p:spPr>
      </p:pic>
      <p:sp>
        <p:nvSpPr>
          <p:cNvPr id="842" name="Google Shape;842;p87"/>
          <p:cNvSpPr txBox="1"/>
          <p:nvPr/>
        </p:nvSpPr>
        <p:spPr>
          <a:xfrm>
            <a:off x="544601" y="2981377"/>
            <a:ext cx="7443195" cy="677108"/>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About 70% of the cloud storage is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500"/>
              <a:buFont typeface="Arial"/>
              <a:buNone/>
            </a:pPr>
            <a:r>
              <a:t/>
            </a:r>
            <a:endParaRPr b="1" i="0" sz="500" u="none" cap="none" strike="noStrike">
              <a:solidFill>
                <a:schemeClr val="dk1"/>
              </a:solidFill>
              <a:latin typeface="Arial"/>
              <a:ea typeface="Arial"/>
              <a:cs typeface="Arial"/>
              <a:sym typeface="Arial"/>
            </a:endParaRPr>
          </a:p>
        </p:txBody>
      </p:sp>
      <p:sp>
        <p:nvSpPr>
          <p:cNvPr id="843" name="Google Shape;843;p87"/>
          <p:cNvSpPr txBox="1"/>
          <p:nvPr/>
        </p:nvSpPr>
        <p:spPr>
          <a:xfrm>
            <a:off x="484564" y="5030614"/>
            <a:ext cx="7443195" cy="1107996"/>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About 87% of the used storage is used for photos.</a:t>
            </a:r>
            <a:endParaRPr b="0" i="0" sz="1400" u="none" cap="none" strike="noStrike">
              <a:solidFill>
                <a:srgbClr val="000000"/>
              </a:solidFill>
              <a:latin typeface="Arial"/>
              <a:ea typeface="Arial"/>
              <a:cs typeface="Arial"/>
              <a:sym typeface="Arial"/>
            </a:endParaRPr>
          </a:p>
        </p:txBody>
      </p:sp>
      <p:sp>
        <p:nvSpPr>
          <p:cNvPr id="844" name="Google Shape;844;p87"/>
          <p:cNvSpPr txBox="1"/>
          <p:nvPr/>
        </p:nvSpPr>
        <p:spPr>
          <a:xfrm>
            <a:off x="484564" y="3975374"/>
            <a:ext cx="7222662"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Of the used storage, approximately what percent are photos?</a:t>
            </a:r>
            <a:endParaRPr b="0" i="0" sz="1400" u="none" cap="none" strike="noStrike">
              <a:solidFill>
                <a:srgbClr val="000000"/>
              </a:solidFill>
              <a:latin typeface="Arial"/>
              <a:ea typeface="Arial"/>
              <a:cs typeface="Arial"/>
              <a:sym typeface="Arial"/>
            </a:endParaRPr>
          </a:p>
        </p:txBody>
      </p:sp>
      <p:sp>
        <p:nvSpPr>
          <p:cNvPr id="845" name="Google Shape;845;p87"/>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sp>
        <p:nvSpPr>
          <p:cNvPr id="8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18 / 44</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88"/>
          <p:cNvSpPr txBox="1"/>
          <p:nvPr/>
        </p:nvSpPr>
        <p:spPr>
          <a:xfrm>
            <a:off x="484564" y="927530"/>
            <a:ext cx="7330967" cy="918524"/>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What is a good estimate of the percent of the total storage that is used for photos?</a:t>
            </a:r>
            <a:endParaRPr b="0" i="0" sz="1400" u="none" cap="none" strike="noStrike">
              <a:solidFill>
                <a:srgbClr val="000000"/>
              </a:solidFill>
              <a:latin typeface="Arial"/>
              <a:ea typeface="Arial"/>
              <a:cs typeface="Arial"/>
              <a:sym typeface="Arial"/>
            </a:endParaRPr>
          </a:p>
        </p:txBody>
      </p:sp>
      <p:sp>
        <p:nvSpPr>
          <p:cNvPr id="851" name="Google Shape;851;p8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852" name="Google Shape;852;p88"/>
          <p:cNvPicPr preferRelativeResize="0"/>
          <p:nvPr/>
        </p:nvPicPr>
        <p:blipFill rotWithShape="1">
          <a:blip r:embed="rId3">
            <a:alphaModFix/>
          </a:blip>
          <a:srcRect b="0" l="0" r="0" t="0"/>
          <a:stretch/>
        </p:blipFill>
        <p:spPr>
          <a:xfrm>
            <a:off x="8047833" y="1736373"/>
            <a:ext cx="3740458" cy="2709832"/>
          </a:xfrm>
          <a:prstGeom prst="rect">
            <a:avLst/>
          </a:prstGeom>
          <a:noFill/>
          <a:ln>
            <a:noFill/>
          </a:ln>
        </p:spPr>
      </p:pic>
      <p:sp>
        <p:nvSpPr>
          <p:cNvPr id="853" name="Google Shape;853;p88"/>
          <p:cNvSpPr txBox="1"/>
          <p:nvPr/>
        </p:nvSpPr>
        <p:spPr>
          <a:xfrm>
            <a:off x="484563" y="3091289"/>
            <a:ext cx="7684651" cy="217082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 xml:space="preserve">What strategy might you use to determine the approximate percent of the cloud storage that is used for mail, messages, and documents? </a:t>
            </a:r>
            <a:r>
              <a:rPr b="0" i="1" lang="en-US" sz="2800" u="none" cap="none" strike="noStrike">
                <a:solidFill>
                  <a:srgbClr val="23282D"/>
                </a:solidFill>
                <a:latin typeface="Arial"/>
                <a:ea typeface="Arial"/>
                <a:cs typeface="Arial"/>
                <a:sym typeface="Arial"/>
              </a:rPr>
              <a:t>Note: 1 MB is equal to 0.001 GB.</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strategies; persist, revise, and try again.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20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rounding choice made your estimate easier, and does it likely make the result larger or smaller?</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79" name="Google Shape;579;p58"/>
          <p:cNvSpPr txBox="1"/>
          <p:nvPr/>
        </p:nvSpPr>
        <p:spPr>
          <a:xfrm>
            <a:off x="484565" y="936100"/>
            <a:ext cx="6937167" cy="32045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look at the first question.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Approximately what percent of her storage is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is the total cloud storage capacity? What percentage represents this whole?</a:t>
            </a:r>
            <a:endParaRPr b="0" i="0" sz="1400" u="none" cap="none" strike="noStrike">
              <a:solidFill>
                <a:srgbClr val="000000"/>
              </a:solidFill>
              <a:latin typeface="Arial"/>
              <a:ea typeface="Arial"/>
              <a:cs typeface="Arial"/>
              <a:sym typeface="Arial"/>
            </a:endParaRPr>
          </a:p>
        </p:txBody>
      </p:sp>
      <p:cxnSp>
        <p:nvCxnSpPr>
          <p:cNvPr id="580" name="Google Shape;580;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81" name="Google Shape;581;p58"/>
          <p:cNvPicPr preferRelativeResize="0"/>
          <p:nvPr/>
        </p:nvPicPr>
        <p:blipFill rotWithShape="1">
          <a:blip r:embed="rId2">
            <a:alphaModFix/>
          </a:blip>
          <a:srcRect b="0" l="0" r="0" t="0"/>
          <a:stretch/>
        </p:blipFill>
        <p:spPr>
          <a:xfrm>
            <a:off x="7927760" y="1745610"/>
            <a:ext cx="3740458" cy="2709832"/>
          </a:xfrm>
          <a:prstGeom prst="rect">
            <a:avLst/>
          </a:prstGeom>
          <a:noFill/>
          <a:ln>
            <a:noFill/>
          </a:ln>
        </p:spPr>
      </p:pic>
      <p:sp>
        <p:nvSpPr>
          <p:cNvPr id="582" name="Google Shape;582;p58"/>
          <p:cNvSpPr txBox="1"/>
          <p:nvPr/>
        </p:nvSpPr>
        <p:spPr>
          <a:xfrm>
            <a:off x="484564" y="5146880"/>
            <a:ext cx="9237405"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6 gigabytes (GB), which represents 100% of the storage</a:t>
            </a:r>
            <a:endParaRPr b="0" i="0" sz="1400" u="none" cap="none" strike="noStrike">
              <a:solidFill>
                <a:srgbClr val="000000"/>
              </a:solidFill>
              <a:latin typeface="Arial"/>
              <a:ea typeface="Arial"/>
              <a:cs typeface="Arial"/>
              <a:sym typeface="Arial"/>
            </a:endParaRPr>
          </a:p>
        </p:txBody>
      </p:sp>
      <p:sp>
        <p:nvSpPr>
          <p:cNvPr id="583" name="Google Shape;583;p5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18 / 34</a:t>
            </a:r>
            <a:endParaRPr/>
          </a:p>
        </p:txBody>
      </p:sp>
      <p:grpSp>
        <p:nvGrpSpPr>
          <p:cNvPr id="584" name="TEACH-5-student-move" descr="TEACH 5 · Facilitate student interactions and academic talk"/>
          <p:cNvGrpSpPr/>
          <p:nvPr/>
        </p:nvGrpSpPr>
        <p:grpSpPr>
          <a:xfrm>
            <a:off x="502920" y="4707968"/>
            <a:ext cx="11186160" cy="402336"/>
            <a:chOff x="502920" y="4707968"/>
            <a:chExt cx="11186160" cy="402336"/>
          </a:xfrm>
        </p:grpSpPr>
        <p:sp>
          <p:nvSpPr>
            <p:cNvPr id="585" name="TEACH-move-card"/>
            <p:cNvSpPr/>
            <p:nvPr/>
          </p:nvSpPr>
          <p:spPr>
            <a:xfrm>
              <a:off x="502920" y="470796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86" name="TEACH-move-rule"/>
            <p:cNvSpPr/>
            <p:nvPr/>
          </p:nvSpPr>
          <p:spPr>
            <a:xfrm>
              <a:off x="548640" y="4784412"/>
              <a:ext cx="100584" cy="249448"/>
            </a:xfrm>
            <a:prstGeom prst="roundRect">
              <a:avLst>
                <a:gd name="adj" fmla="val 50000"/>
              </a:avLst>
            </a:prstGeom>
            <a:solidFill>
              <a:srgbClr val="01708C"/>
            </a:solidFill>
            <a:ln>
              <a:noFill/>
            </a:ln>
          </p:spPr>
          <p:txBody>
            <a:bodyPr/>
            <a:lstStyle/>
            <a:p>
              <a:endParaRPr/>
            </a:p>
          </p:txBody>
        </p:sp>
        <p:sp>
          <p:nvSpPr>
            <p:cNvPr id="587" name="TEACH-move-text"/>
            <p:cNvSpPr txBox="1"/>
            <p:nvPr/>
          </p:nvSpPr>
          <p:spPr>
            <a:xfrm>
              <a:off x="822960" y="470796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ADD ON  ·  </a:t>
              </a:r>
              <a:r>
                <a:rPr lang="en-US" sz="1200" dirty="0">
                  <a:solidFill>
                    <a:srgbClr val="13303A"/>
                  </a:solidFill>
                  <a:latin typeface="Arial"/>
                </a:rPr>
                <a:t>Add on: “I agree because ______.”  or  “I see it differently because ______.”</a:t>
              </a:r>
              <a:endParaRPr lang="en-US" sz="1200"/>
            </a:p>
          </p:txBody>
        </p:sp>
      </p:gr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51" name="Google Shape;651;p66"/>
          <p:cNvSpPr txBox="1"/>
          <p:nvPr/>
        </p:nvSpPr>
        <p:spPr>
          <a:xfrm>
            <a:off x="484564" y="936099"/>
            <a:ext cx="9196783" cy="329947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use intervals of 25 on the bottom number line.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determine the corresponding labels for the number line that represents the amount of storage in gigabytes? </a:t>
            </a:r>
            <a:endParaRPr b="0" i="0" sz="1400" u="none" cap="none" strike="noStrike">
              <a:solidFill>
                <a:srgbClr val="000000"/>
              </a:solidFill>
              <a:latin typeface="Arial"/>
              <a:ea typeface="Arial"/>
              <a:cs typeface="Arial"/>
              <a:sym typeface="Arial"/>
            </a:endParaRPr>
          </a:p>
        </p:txBody>
      </p:sp>
      <p:cxnSp>
        <p:nvCxnSpPr>
          <p:cNvPr id="652" name="Google Shape;652;p6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3" name="Google Shape;653;p66"/>
          <p:cNvSpPr txBox="1"/>
          <p:nvPr/>
        </p:nvSpPr>
        <p:spPr>
          <a:xfrm>
            <a:off x="484565" y="4839547"/>
            <a:ext cx="8547291"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use multiplication or division to find values that result in equivalent ratios.</a:t>
            </a:r>
            <a:endParaRPr b="1" i="0" sz="2800" u="none" cap="none" strike="noStrike">
              <a:solidFill>
                <a:srgbClr val="0070C0"/>
              </a:solidFill>
              <a:latin typeface="Arial"/>
              <a:ea typeface="Arial"/>
              <a:cs typeface="Arial"/>
              <a:sym typeface="Arial"/>
            </a:endParaRPr>
          </a:p>
        </p:txBody>
      </p:sp>
      <p:pic>
        <p:nvPicPr>
          <p:cNvPr id="654" name="Google Shape;654;p66"/>
          <p:cNvPicPr preferRelativeResize="0"/>
          <p:nvPr/>
        </p:nvPicPr>
        <p:blipFill rotWithShape="1">
          <a:blip r:embed="rId2">
            <a:alphaModFix/>
          </a:blip>
          <a:srcRect b="0" l="0" r="0" t="0"/>
          <a:stretch/>
        </p:blipFill>
        <p:spPr>
          <a:xfrm>
            <a:off x="628438" y="3087901"/>
            <a:ext cx="7229915" cy="1276570"/>
          </a:xfrm>
          <a:prstGeom prst="rect">
            <a:avLst/>
          </a:prstGeom>
          <a:noFill/>
          <a:ln>
            <a:noFill/>
          </a:ln>
        </p:spPr>
      </p:pic>
      <p:sp>
        <p:nvSpPr>
          <p:cNvPr id="655" name="Google Shape;655;p6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19 / 34</a:t>
            </a:r>
            <a:endParaRPr/>
          </a:p>
        </p:txBody>
      </p:sp>
      <p:grpSp>
        <p:nvGrpSpPr>
          <p:cNvPr id="656" name="TEACH-4-student-move" descr="TEACH 4 · Monitor progress and provide feedback"/>
          <p:cNvGrpSpPr/>
          <p:nvPr/>
        </p:nvGrpSpPr>
        <p:grpSpPr>
          <a:xfrm>
            <a:off x="502920" y="4482931"/>
            <a:ext cx="11186160" cy="320040"/>
            <a:chOff x="502920" y="4482931"/>
            <a:chExt cx="11186160" cy="320040"/>
          </a:xfrm>
        </p:grpSpPr>
        <p:sp>
          <p:nvSpPr>
            <p:cNvPr id="657" name="TEACH-move-card"/>
            <p:cNvSpPr/>
            <p:nvPr/>
          </p:nvSpPr>
          <p:spPr>
            <a:xfrm>
              <a:off x="502920" y="4482931"/>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658" name="TEACH-move-rule"/>
            <p:cNvSpPr/>
            <p:nvPr/>
          </p:nvSpPr>
          <p:spPr>
            <a:xfrm>
              <a:off x="548640" y="4543739"/>
              <a:ext cx="100584" cy="198424"/>
            </a:xfrm>
            <a:prstGeom prst="roundRect">
              <a:avLst>
                <a:gd name="adj" fmla="val 50000"/>
              </a:avLst>
            </a:prstGeom>
            <a:solidFill>
              <a:srgbClr val="01708C"/>
            </a:solidFill>
            <a:ln>
              <a:noFill/>
            </a:ln>
          </p:spPr>
          <p:txBody>
            <a:bodyPr/>
            <a:lstStyle/>
            <a:p>
              <a:endParaRPr/>
            </a:p>
          </p:txBody>
        </p:sp>
        <p:sp>
          <p:nvSpPr>
            <p:cNvPr id="659" name="TEACH-move-text"/>
            <p:cNvSpPr txBox="1"/>
            <p:nvPr/>
          </p:nvSpPr>
          <p:spPr>
            <a:xfrm>
              <a:off x="822960" y="4482931"/>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21" name="Google Shape;721;p74"/>
          <p:cNvSpPr txBox="1"/>
          <p:nvPr/>
        </p:nvSpPr>
        <p:spPr>
          <a:xfrm>
            <a:off x="484566" y="936249"/>
            <a:ext cx="787777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How can you represent the corresponding percent of storage used on the number line?</a:t>
            </a:r>
            <a:endParaRPr b="0" i="0" sz="2800" u="none" cap="none" strike="noStrike">
              <a:solidFill>
                <a:schemeClr val="dk1"/>
              </a:solidFill>
              <a:latin typeface="Arial"/>
              <a:ea typeface="Arial"/>
              <a:cs typeface="Arial"/>
              <a:sym typeface="Arial"/>
            </a:endParaRPr>
          </a:p>
        </p:txBody>
      </p:sp>
      <p:cxnSp>
        <p:nvCxnSpPr>
          <p:cNvPr id="722" name="Google Shape;722;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descr="A picture containing chart&#10;&#10;Description automatically generated" id="723" name="Google Shape;723;p74"/>
          <p:cNvPicPr preferRelativeResize="0"/>
          <p:nvPr/>
        </p:nvPicPr>
        <p:blipFill rotWithShape="1">
          <a:blip r:embed="rId2">
            <a:alphaModFix/>
          </a:blip>
          <a:srcRect b="0" l="0" r="0" t="0"/>
          <a:stretch/>
        </p:blipFill>
        <p:spPr>
          <a:xfrm>
            <a:off x="685260" y="1969076"/>
            <a:ext cx="7143597" cy="2392988"/>
          </a:xfrm>
          <a:prstGeom prst="rect">
            <a:avLst/>
          </a:prstGeom>
          <a:noFill/>
          <a:ln>
            <a:noFill/>
          </a:ln>
        </p:spPr>
      </p:pic>
      <p:sp>
        <p:nvSpPr>
          <p:cNvPr id="724" name="Google Shape;724;p74"/>
          <p:cNvSpPr txBox="1"/>
          <p:nvPr/>
        </p:nvSpPr>
        <p:spPr>
          <a:xfrm>
            <a:off x="484566" y="4848358"/>
            <a:ext cx="9064877"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plot a point on the bottom number line that is at the same location as the point on the top number line.</a:t>
            </a:r>
            <a:endParaRPr b="1" i="0" sz="2800" u="none" cap="none" strike="noStrike">
              <a:solidFill>
                <a:srgbClr val="0070C0"/>
              </a:solidFill>
              <a:latin typeface="Arial"/>
              <a:ea typeface="Arial"/>
              <a:cs typeface="Arial"/>
              <a:sym typeface="Arial"/>
            </a:endParaRPr>
          </a:p>
        </p:txBody>
      </p:sp>
      <p:sp>
        <p:nvSpPr>
          <p:cNvPr id="725" name="Google Shape;725;p74"/>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Cloud Storage</a:t>
            </a:r>
            <a:endParaRPr b="0" i="0" sz="1400" u="none" cap="none" strike="noStrike">
              <a:solidFill>
                <a:srgbClr val="000000"/>
              </a:solidFill>
              <a:latin typeface="Arial"/>
              <a:ea typeface="Arial"/>
              <a:cs typeface="Arial"/>
              <a:sym typeface="Arial"/>
            </a:endParaRPr>
          </a:p>
        </p:txBody>
      </p:sp>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20 / 34</a:t>
            </a:r>
            <a:endParaRPr/>
          </a:p>
        </p:txBody>
      </p:sp>
      <p:grpSp>
        <p:nvGrpSpPr>
          <p:cNvPr id="726" name="TEACH-2-student-move" descr="TEACH 2 · Use strategies and tasks to engage students in rigorous work"/>
          <p:cNvGrpSpPr/>
          <p:nvPr/>
        </p:nvGrpSpPr>
        <p:grpSpPr>
          <a:xfrm>
            <a:off x="502920" y="4409446"/>
            <a:ext cx="11186160" cy="402336"/>
            <a:chOff x="502920" y="4409446"/>
            <a:chExt cx="11186160" cy="402336"/>
          </a:xfrm>
        </p:grpSpPr>
        <p:sp>
          <p:nvSpPr>
            <p:cNvPr id="727" name="TEACH-move-card"/>
            <p:cNvSpPr/>
            <p:nvPr/>
          </p:nvSpPr>
          <p:spPr>
            <a:xfrm>
              <a:off x="502920" y="440944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28" name="TEACH-move-rule"/>
            <p:cNvSpPr/>
            <p:nvPr/>
          </p:nvSpPr>
          <p:spPr>
            <a:xfrm>
              <a:off x="548640" y="4485890"/>
              <a:ext cx="100584" cy="249448"/>
            </a:xfrm>
            <a:prstGeom prst="roundRect">
              <a:avLst>
                <a:gd name="adj" fmla="val 50000"/>
              </a:avLst>
            </a:prstGeom>
            <a:solidFill>
              <a:srgbClr val="01708C"/>
            </a:solidFill>
            <a:ln>
              <a:noFill/>
            </a:ln>
          </p:spPr>
          <p:txBody>
            <a:bodyPr/>
            <a:lstStyle/>
            <a:p>
              <a:endParaRPr/>
            </a:p>
          </p:txBody>
        </p:sp>
        <p:sp>
          <p:nvSpPr>
            <p:cNvPr id="729" name="TEACH-move-text"/>
            <p:cNvSpPr txBox="1"/>
            <p:nvPr/>
          </p:nvSpPr>
          <p:spPr>
            <a:xfrm>
              <a:off x="822960" y="440944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6" name="Google Shape;876;p9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7" name="Google Shape;877;p91"/>
          <p:cNvSpPr txBox="1"/>
          <p:nvPr/>
        </p:nvSpPr>
        <p:spPr>
          <a:xfrm>
            <a:off x="474054" y="936101"/>
            <a:ext cx="4279101" cy="119570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How are they the same?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sp>
        <p:nvSpPr>
          <p:cNvPr id="878" name="Google Shape;878;p91"/>
          <p:cNvSpPr txBox="1"/>
          <p:nvPr/>
        </p:nvSpPr>
        <p:spPr>
          <a:xfrm>
            <a:off x="474055" y="316034"/>
            <a:ext cx="3904129" cy="52205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879" name="Google Shape;879;p91"/>
          <p:cNvPicPr preferRelativeResize="0"/>
          <p:nvPr/>
        </p:nvPicPr>
        <p:blipFill rotWithShape="1">
          <a:blip r:embed="rId2">
            <a:alphaModFix/>
          </a:blip>
          <a:srcRect b="0" l="0" r="0" t="0"/>
          <a:stretch/>
        </p:blipFill>
        <p:spPr>
          <a:xfrm>
            <a:off x="4378184" y="2352532"/>
            <a:ext cx="5022973" cy="1252816"/>
          </a:xfrm>
          <a:prstGeom prst="rect">
            <a:avLst/>
          </a:prstGeom>
          <a:noFill/>
          <a:ln>
            <a:noFill/>
          </a:ln>
        </p:spPr>
      </p:pic>
      <p:pic>
        <p:nvPicPr>
          <p:cNvPr id="880" name="Google Shape;880;p91"/>
          <p:cNvPicPr preferRelativeResize="0"/>
          <p:nvPr/>
        </p:nvPicPr>
        <p:blipFill rotWithShape="1">
          <a:blip r:embed="rId3">
            <a:alphaModFix/>
          </a:blip>
          <a:srcRect b="0" l="0" r="0" t="0"/>
          <a:stretch/>
        </p:blipFill>
        <p:spPr>
          <a:xfrm>
            <a:off x="474054" y="5002322"/>
            <a:ext cx="5054600" cy="838200"/>
          </a:xfrm>
          <a:prstGeom prst="rect">
            <a:avLst/>
          </a:prstGeom>
          <a:noFill/>
          <a:ln>
            <a:noFill/>
          </a:ln>
        </p:spPr>
      </p:pic>
      <p:sp>
        <p:nvSpPr>
          <p:cNvPr id="881" name="Google Shape;881;p91"/>
          <p:cNvSpPr txBox="1"/>
          <p:nvPr/>
        </p:nvSpPr>
        <p:spPr>
          <a:xfrm>
            <a:off x="3334071" y="515964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82" name="Google Shape;882;p91"/>
          <p:cNvSpPr/>
          <p:nvPr/>
        </p:nvSpPr>
        <p:spPr>
          <a:xfrm>
            <a:off x="687250" y="5817645"/>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do you know that you are making a good decision in math class?</a:t>
            </a:r>
            <a:endParaRPr b="0" i="0" sz="1400" u="none" cap="none" strike="noStrike">
              <a:solidFill>
                <a:srgbClr val="000000"/>
              </a:solidFill>
              <a:latin typeface="Arial"/>
              <a:ea typeface="Arial"/>
              <a:cs typeface="Arial"/>
              <a:sym typeface="Arial"/>
            </a:endParaRPr>
          </a:p>
        </p:txBody>
      </p:sp>
      <p:sp>
        <p:nvSpPr>
          <p:cNvPr id="883" name="Google Shape;883;p91"/>
          <p:cNvSpPr txBox="1"/>
          <p:nvPr/>
        </p:nvSpPr>
        <p:spPr>
          <a:xfrm>
            <a:off x="474054" y="2530227"/>
            <a:ext cx="2950634" cy="5580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10% of $20 is $2</a:t>
            </a:r>
            <a:endParaRPr b="0" i="0" sz="1400" u="none" cap="none" strike="noStrike">
              <a:solidFill>
                <a:srgbClr val="000000"/>
              </a:solidFill>
              <a:latin typeface="Arial"/>
              <a:ea typeface="Arial"/>
              <a:cs typeface="Arial"/>
              <a:sym typeface="Arial"/>
            </a:endParaRPr>
          </a:p>
        </p:txBody>
      </p:sp>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21 / 34</a:t>
            </a:r>
            <a:endParaRPr/>
          </a:p>
        </p:txBody>
      </p:sp>
      <p:sp xmlns:p="http://schemas.openxmlformats.org/presentationml/2006/main" xmlns:a="http://schemas.openxmlformats.org/drawingml/2006/main">
        <p:nvSpPr>
          <p:cNvPr id="884" name="TEACH-embedded-student-prompt" descr="Student thinking and response directions"/>
          <p:cNvSpPr txBox="1"/>
          <p:nvPr/>
        </p:nvSpPr>
        <p:spPr>
          <a:xfrm>
            <a:off x="594360" y="43525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4-3 · Estimate the Percent of a Number</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2D3A40"/>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benchmark percent equals one half?</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25%</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75%</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To estimate 10% of 240, divide 240 by:</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10% of 240?</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48</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Which compatible percent best estimates 48%?</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50%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25%</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44</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4-3 · Estimate the Percent of a Number</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Benchmark Percents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Use familiar </a:t>
            </a:r>
            <a:r>
              <a:rPr b="1" i="0" lang="en-US" sz="1450" u="none" cap="none" strike="noStrike">
                <a:solidFill>
                  <a:srgbClr val="475569"/>
                </a:solidFill>
                <a:latin typeface="Arial"/>
                <a:ea typeface="Arial"/>
                <a:cs typeface="Arial"/>
                <a:sym typeface="Arial"/>
              </a:rPr>
              <a:t xml:space="preserve">benchmarks</a:t>
            </a:r>
            <a:r>
              <a:rPr b="0" i="0" lang="en-US" sz="1450" u="none" cap="none" strike="noStrike">
                <a:solidFill>
                  <a:srgbClr val="475569"/>
                </a:solidFill>
                <a:latin typeface="Arial"/>
                <a:ea typeface="Arial"/>
                <a:cs typeface="Arial"/>
                <a:sym typeface="Arial"/>
              </a:rPr>
              <a:t xml:space="preserve"> like 10% (÷10), 25% (÷4), 50% (÷2), and 1% (÷100).</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Compatible Numbers</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Round</a:t>
            </a:r>
            <a:r>
              <a:rPr b="0" i="0" lang="en-US" sz="1450" u="none" cap="none" strike="noStrike">
                <a:solidFill>
                  <a:srgbClr val="475569"/>
                </a:solidFill>
                <a:latin typeface="Arial"/>
                <a:ea typeface="Arial"/>
                <a:cs typeface="Arial"/>
                <a:sym typeface="Arial"/>
              </a:rPr>
              <a:t xml:space="preserve"> percents and totals to friendly numbers that divide easily mentally.</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Double Number Lines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Map </a:t>
            </a:r>
            <a:r>
              <a:rPr b="1" i="0" lang="en-US" sz="1450" u="none" cap="none" strike="noStrike">
                <a:solidFill>
                  <a:srgbClr val="475569"/>
                </a:solidFill>
                <a:latin typeface="Arial"/>
                <a:ea typeface="Arial"/>
                <a:cs typeface="Arial"/>
                <a:sym typeface="Arial"/>
              </a:rPr>
              <a:t xml:space="preserve">percent</a:t>
            </a:r>
            <a:r>
              <a:rPr b="0" i="0" lang="en-US" sz="1450" u="none" cap="none" strike="noStrike">
                <a:solidFill>
                  <a:srgbClr val="475569"/>
                </a:solidFill>
                <a:latin typeface="Arial"/>
                <a:ea typeface="Arial"/>
                <a:cs typeface="Arial"/>
                <a:sym typeface="Arial"/>
              </a:rPr>
              <a:t xml:space="preserve"> benchmarks on top and real quantities on bottom to check reasonableness.</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44</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73"/>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Estimate the Percent of a Number</a:t>
            </a:r>
            <a:endParaRPr b="0" i="0" sz="1400" u="none" cap="none" strike="noStrike">
              <a:solidFill>
                <a:srgbClr val="000000"/>
              </a:solidFill>
              <a:latin typeface="Arial"/>
              <a:ea typeface="Arial"/>
              <a:cs typeface="Arial"/>
              <a:sym typeface="Arial"/>
            </a:endParaRPr>
          </a:p>
        </p:txBody>
      </p:sp>
      <p:sp>
        <p:nvSpPr>
          <p:cNvPr id="744" name="Google Shape;744;p73"/>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45" name="Google Shape;745;p73"/>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29 / 44</a:t>
            </a:r>
          </a:p>
        </p:txBody>
      </p:sp>
      <p:grpSp>
        <p:nvGrpSpPr>
          <p:cNvPr id="747" name="TEACH-3-student-move" descr="TEACH 3 · Use intentional questioning to deepen learning"/>
          <p:cNvGrpSpPr/>
          <p:nvPr/>
        </p:nvGrpSpPr>
        <p:grpSpPr>
          <a:xfrm>
            <a:off x="502920" y="3201929"/>
            <a:ext cx="11186160" cy="731520"/>
            <a:chOff x="502920" y="3201929"/>
            <a:chExt cx="11186160" cy="731520"/>
          </a:xfrm>
        </p:grpSpPr>
        <p:sp>
          <p:nvSpPr>
            <p:cNvPr id="74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5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JUSTIFY IT  ·  </a:t>
              </a:r>
              <a:r>
                <a:rPr lang="en-US" sz="1800" dirty="0">
                  <a:solidFill>
                    <a:srgbClr val="13303A"/>
                  </a:solidFill>
                  <a:latin typeface="Arial"/>
                </a:rPr>
                <a:t>Say it like this: “I know ______ because ______.”</a:t>
              </a:r>
              <a:endParaRPr lang="en-US" sz="18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cxnSp>
        <p:nvCxnSpPr>
          <p:cNvPr id="888" name="Google Shape;888;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9" name="Google Shape;889;p92"/>
          <p:cNvSpPr txBox="1"/>
          <p:nvPr/>
        </p:nvSpPr>
        <p:spPr>
          <a:xfrm>
            <a:off x="484565" y="936100"/>
            <a:ext cx="7015362" cy="51968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A local middle school has organized a Green-Team to set up and manage recycling at the school. The team decided to collect paper, metal, glass, and plastic to recycle. In one month, the team collected 216 total pounds of recycled materials, in the percents shown.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About how many pounds of metal were recycled that month?</a:t>
            </a:r>
            <a:endParaRPr b="0" i="0" sz="1400" u="none" cap="none" strike="noStrike">
              <a:solidFill>
                <a:srgbClr val="000000"/>
              </a:solidFill>
              <a:latin typeface="Arial"/>
              <a:ea typeface="Arial"/>
              <a:cs typeface="Arial"/>
              <a:sym typeface="Arial"/>
            </a:endParaRPr>
          </a:p>
        </p:txBody>
      </p:sp>
      <p:sp>
        <p:nvSpPr>
          <p:cNvPr id="890" name="Google Shape;890;p92"/>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Recycling</a:t>
            </a:r>
            <a:endParaRPr b="0" i="0" sz="1400" u="none" cap="none" strike="noStrike">
              <a:solidFill>
                <a:srgbClr val="000000"/>
              </a:solidFill>
              <a:latin typeface="Arial"/>
              <a:ea typeface="Arial"/>
              <a:cs typeface="Arial"/>
              <a:sym typeface="Arial"/>
            </a:endParaRPr>
          </a:p>
        </p:txBody>
      </p:sp>
      <p:pic>
        <p:nvPicPr>
          <p:cNvPr id="891" name="Google Shape;891;p92"/>
          <p:cNvPicPr preferRelativeResize="0"/>
          <p:nvPr/>
        </p:nvPicPr>
        <p:blipFill rotWithShape="1">
          <a:blip r:embed="rId3">
            <a:alphaModFix/>
          </a:blip>
          <a:srcRect b="0" l="0" r="0" t="0"/>
          <a:stretch/>
        </p:blipFill>
        <p:spPr>
          <a:xfrm>
            <a:off x="7499927" y="1586053"/>
            <a:ext cx="4320000" cy="1948469"/>
          </a:xfrm>
          <a:prstGeom prst="rect">
            <a:avLst/>
          </a:prstGeom>
          <a:noFill/>
          <a:ln>
            <a:noFill/>
          </a:ln>
        </p:spPr>
      </p:pic>
      <p:sp>
        <p:nvSpPr>
          <p:cNvPr id="8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30 / 44</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cxnSp>
        <p:nvCxnSpPr>
          <p:cNvPr id="922" name="Google Shape;922;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3" name="Google Shape;923;p96"/>
          <p:cNvSpPr txBox="1"/>
          <p:nvPr/>
        </p:nvSpPr>
        <p:spPr>
          <a:xfrm>
            <a:off x="484564" y="936101"/>
            <a:ext cx="7177477" cy="375667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Of the 216 pounds of recycled materials, 8.6% was metal. About how many pounds of metal were recycled that month?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We need to estimate 8.6% of 216.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strategies have you used before to estimate?</a:t>
            </a:r>
            <a:endParaRPr b="0" i="0" sz="1400" u="none" cap="none" strike="noStrike">
              <a:solidFill>
                <a:srgbClr val="000000"/>
              </a:solidFill>
              <a:latin typeface="Arial"/>
              <a:ea typeface="Arial"/>
              <a:cs typeface="Arial"/>
              <a:sym typeface="Arial"/>
            </a:endParaRPr>
          </a:p>
        </p:txBody>
      </p:sp>
      <p:sp>
        <p:nvSpPr>
          <p:cNvPr id="924" name="Google Shape;924;p96"/>
          <p:cNvSpPr txBox="1"/>
          <p:nvPr/>
        </p:nvSpPr>
        <p:spPr>
          <a:xfrm>
            <a:off x="484565" y="5146880"/>
            <a:ext cx="9228778"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rounding or compatible numbers to estimate.</a:t>
            </a:r>
            <a:endParaRPr b="0" i="0" sz="1400" u="none" cap="none" strike="noStrike">
              <a:solidFill>
                <a:srgbClr val="000000"/>
              </a:solidFill>
              <a:latin typeface="Arial"/>
              <a:ea typeface="Arial"/>
              <a:cs typeface="Arial"/>
              <a:sym typeface="Arial"/>
            </a:endParaRPr>
          </a:p>
        </p:txBody>
      </p:sp>
      <p:sp>
        <p:nvSpPr>
          <p:cNvPr id="925" name="Google Shape;925;p96"/>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School Recycling</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32 / 44</a:t>
            </a:r>
          </a:p>
        </p:txBody>
      </p:sp>
      <p:sp>
        <p:nvSpPr>
          <p:cNvPr id="9003" name="EWL-COVER-1"/>
          <p:cNvSpPr/>
          <p:nvPr/>
        </p:nvSpPr>
        <p:spPr>
          <a:xfrm>
            <a:off x="429701" y="5092016"/>
            <a:ext cx="9338506" cy="128601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cxnSp>
        <p:nvCxnSpPr>
          <p:cNvPr id="938" name="Google Shape;938;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9" name="Google Shape;939;p98"/>
          <p:cNvSpPr txBox="1"/>
          <p:nvPr/>
        </p:nvSpPr>
        <p:spPr>
          <a:xfrm>
            <a:off x="484564" y="936100"/>
            <a:ext cx="7495654" cy="39895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Let’s use rounding to estimate 8.6% of 216.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 xml:space="preserve">8.6% of the recycling collected was metal. This is about 10%.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 xml:space="preserve">216 pounds of material were recycled. This is about 220.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So, we can estimate using 10% of 220.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write 10% as a decimal?</a:t>
            </a:r>
            <a:endParaRPr b="0" i="0" sz="1400" u="none" cap="none" strike="noStrike">
              <a:solidFill>
                <a:srgbClr val="000000"/>
              </a:solidFill>
              <a:latin typeface="Arial"/>
              <a:ea typeface="Arial"/>
              <a:cs typeface="Arial"/>
              <a:sym typeface="Arial"/>
            </a:endParaRPr>
          </a:p>
        </p:txBody>
      </p:sp>
      <p:sp>
        <p:nvSpPr>
          <p:cNvPr id="940" name="Google Shape;940;p98"/>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write 10% as 0.10 or 0.1.</a:t>
            </a:r>
            <a:endParaRPr b="0" i="0" sz="1400" u="none" cap="none" strike="noStrike">
              <a:solidFill>
                <a:srgbClr val="000000"/>
              </a:solidFill>
              <a:latin typeface="Arial"/>
              <a:ea typeface="Arial"/>
              <a:cs typeface="Arial"/>
              <a:sym typeface="Arial"/>
            </a:endParaRPr>
          </a:p>
        </p:txBody>
      </p:sp>
      <p:sp>
        <p:nvSpPr>
          <p:cNvPr id="941" name="Google Shape;941;p98"/>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Recycling</a:t>
            </a:r>
            <a:endParaRPr b="0" i="0" sz="1400" u="none" cap="none" strike="noStrike">
              <a:solidFill>
                <a:srgbClr val="000000"/>
              </a:solidFill>
              <a:latin typeface="Arial"/>
              <a:ea typeface="Arial"/>
              <a:cs typeface="Arial"/>
              <a:sym typeface="Arial"/>
            </a:endParaRPr>
          </a:p>
        </p:txBody>
      </p:sp>
      <p:sp>
        <p:nvSpPr>
          <p:cNvPr id="94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33 / 44</a:t>
            </a:r>
          </a:p>
        </p:txBody>
      </p:sp>
      <p:sp>
        <p:nvSpPr>
          <p:cNvPr id="943" name="EWL-COVER-1"/>
          <p:cNvSpPr/>
          <p:nvPr/>
        </p:nvSpPr>
        <p:spPr>
          <a:xfrm>
            <a:off x="429701" y="5092016"/>
            <a:ext cx="7614618" cy="128601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cxnSp>
        <p:nvCxnSpPr>
          <p:cNvPr id="970" name="Google Shape;970;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1" name="Google Shape;971;p102"/>
          <p:cNvSpPr txBox="1"/>
          <p:nvPr/>
        </p:nvSpPr>
        <p:spPr>
          <a:xfrm>
            <a:off x="484563" y="936100"/>
            <a:ext cx="7883581" cy="4319391"/>
          </a:xfrm>
          <a:prstGeom prst="rect">
            <a:avLst/>
          </a:prstGeom>
          <a:blipFill rotWithShape="1">
            <a:blip r:embed="rId3">
              <a:alphaModFix/>
            </a:blip>
            <a:stretch>
              <a:fillRect b="-3814" l="-1546" r="0" t="-1554"/>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2" name="Google Shape;972;p102"/>
          <p:cNvSpPr txBox="1"/>
          <p:nvPr/>
        </p:nvSpPr>
        <p:spPr>
          <a:xfrm>
            <a:off x="484563" y="5255491"/>
            <a:ext cx="8504162"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About 22 pounds of metal were recycled that month.</a:t>
            </a:r>
            <a:endParaRPr b="0" i="0" sz="1400" u="none" cap="none" strike="noStrike">
              <a:solidFill>
                <a:srgbClr val="000000"/>
              </a:solidFill>
              <a:latin typeface="Arial"/>
              <a:ea typeface="Arial"/>
              <a:cs typeface="Arial"/>
              <a:sym typeface="Arial"/>
            </a:endParaRPr>
          </a:p>
        </p:txBody>
      </p:sp>
      <p:sp>
        <p:nvSpPr>
          <p:cNvPr id="973" name="Google Shape;973;p102"/>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Recycling</a:t>
            </a:r>
            <a:endParaRPr b="0" i="0" sz="1400" u="none" cap="none" strike="noStrike">
              <a:solidFill>
                <a:srgbClr val="000000"/>
              </a:solidFill>
              <a:latin typeface="Arial"/>
              <a:ea typeface="Arial"/>
              <a:cs typeface="Arial"/>
              <a:sym typeface="Arial"/>
            </a:endParaRPr>
          </a:p>
        </p:txBody>
      </p:sp>
      <p:sp>
        <p:nvSpPr>
          <p:cNvPr id="97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34 / 44</a:t>
            </a:r>
          </a:p>
        </p:txBody>
      </p:sp>
      <p:sp>
        <p:nvSpPr>
          <p:cNvPr id="975" name="EWL-COVER-1"/>
          <p:cNvSpPr/>
          <p:nvPr/>
        </p:nvSpPr>
        <p:spPr>
          <a:xfrm>
            <a:off x="429699" y="5200627"/>
            <a:ext cx="8613890" cy="1245893"/>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cxnSp>
        <p:nvCxnSpPr>
          <p:cNvPr id="987" name="Google Shape;987;p10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8" name="Google Shape;988;p104"/>
          <p:cNvSpPr txBox="1"/>
          <p:nvPr/>
        </p:nvSpPr>
        <p:spPr>
          <a:xfrm>
            <a:off x="484563" y="936100"/>
            <a:ext cx="8280745" cy="354100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We can also use compatible numbers to estimate.</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pPr>
            <a:r>
              <a:rPr b="0" i="0" lang="en-US" sz="2800" u="none" cap="none" strike="noStrike">
                <a:solidFill>
                  <a:srgbClr val="23282D"/>
                </a:solidFill>
                <a:latin typeface="Arial"/>
                <a:ea typeface="Arial"/>
                <a:cs typeface="Arial"/>
                <a:sym typeface="Arial"/>
              </a:rPr>
              <a:t xml:space="preserve">8.6% of the recycling collected was metal. </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pPr>
            <a:r>
              <a:rPr b="0" i="0" lang="en-US" sz="2800" u="none" cap="none" strike="noStrike">
                <a:solidFill>
                  <a:srgbClr val="23282D"/>
                </a:solidFill>
                <a:latin typeface="Arial"/>
                <a:ea typeface="Arial"/>
                <a:cs typeface="Arial"/>
                <a:sym typeface="Arial"/>
              </a:rPr>
              <a:t>216 pounds of material were recycled.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compatible numbers can you use for 8.6% and 216 pounds?</a:t>
            </a:r>
            <a:endParaRPr b="0" i="0" sz="1400" u="none" cap="none" strike="noStrike">
              <a:solidFill>
                <a:srgbClr val="000000"/>
              </a:solidFill>
              <a:latin typeface="Arial"/>
              <a:ea typeface="Arial"/>
              <a:cs typeface="Arial"/>
              <a:sym typeface="Arial"/>
            </a:endParaRPr>
          </a:p>
        </p:txBody>
      </p:sp>
      <p:sp>
        <p:nvSpPr>
          <p:cNvPr id="989" name="Google Shape;989;p104"/>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xml:space="preserve">    Collaborate and Connect</a:t>
            </a:r>
            <a:endParaRPr b="0" i="0" sz="1400" u="none" cap="none" strike="noStrike">
              <a:solidFill>
                <a:srgbClr val="000000"/>
              </a:solidFill>
              <a:latin typeface="Arial"/>
              <a:ea typeface="Arial"/>
              <a:cs typeface="Arial"/>
              <a:sym typeface="Arial"/>
            </a:endParaRPr>
          </a:p>
        </p:txBody>
      </p:sp>
      <p:pic>
        <p:nvPicPr>
          <p:cNvPr id="990" name="Google Shape;990;p104"/>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991" name="Google Shape;991;p104"/>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10% and 200 pounds.</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Student-led talk: assign roles and monitor group progress.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36 / 44</a:t>
            </a:r>
          </a:p>
        </p:txBody>
      </p:sp>
      <p:sp>
        <p:nvSpPr>
          <p:cNvPr id="9003" name="EWL-COVER-1"/>
          <p:cNvSpPr/>
          <p:nvPr/>
        </p:nvSpPr>
        <p:spPr>
          <a:xfrm>
            <a:off x="429701" y="5092016"/>
            <a:ext cx="7614618" cy="1286010"/>
          </a:xfrm>
          <a:prstGeom prst="rect">
            <a:avLst/>
          </a:prstGeom>
          <a:solidFill>
            <a:srgbClr val="FFFFFF"/>
          </a:solidFill>
          <a:ln>
            <a:noFill/>
          </a:ln>
        </p:spPr>
        <p:txBody>
          <a:bodyPr/>
          <a:lstStyle/>
          <a:p/>
        </p:txBody>
      </p:sp>
      <p:sp>
        <p:nvSpPr>
          <p:cNvPr id="900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cxnSp>
        <p:nvCxnSpPr>
          <p:cNvPr id="1035" name="Google Shape;1035;p10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1036" name="Google Shape;1036;p109"/>
          <p:cNvPicPr preferRelativeResize="0"/>
          <p:nvPr/>
        </p:nvPicPr>
        <p:blipFill rotWithShape="1">
          <a:blip r:embed="rId3">
            <a:alphaModFix/>
          </a:blip>
          <a:srcRect b="0" l="0" r="0" t="0"/>
          <a:stretch/>
        </p:blipFill>
        <p:spPr>
          <a:xfrm>
            <a:off x="7499927" y="1586053"/>
            <a:ext cx="4320000" cy="1948469"/>
          </a:xfrm>
          <a:prstGeom prst="rect">
            <a:avLst/>
          </a:prstGeom>
          <a:noFill/>
          <a:ln>
            <a:noFill/>
          </a:ln>
        </p:spPr>
      </p:pic>
      <p:sp>
        <p:nvSpPr>
          <p:cNvPr id="1037" name="Google Shape;1037;p109"/>
          <p:cNvSpPr txBox="1"/>
          <p:nvPr/>
        </p:nvSpPr>
        <p:spPr>
          <a:xfrm>
            <a:off x="484564" y="936100"/>
            <a:ext cx="6876817" cy="30355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A local middle school has organized a Green-Team to set up and manage recycling at the school. The team decided to collect paper, metal, glass, and plastic to recycle. In one month, the team collected 216 total pounds of recycled materials, in the percents shown.</a:t>
            </a:r>
            <a:endParaRPr b="1" i="0" sz="2800" u="none" cap="none" strike="noStrike">
              <a:solidFill>
                <a:srgbClr val="262626"/>
              </a:solidFill>
              <a:latin typeface="Arial"/>
              <a:ea typeface="Arial"/>
              <a:cs typeface="Arial"/>
              <a:sym typeface="Arial"/>
            </a:endParaRPr>
          </a:p>
        </p:txBody>
      </p:sp>
      <p:sp>
        <p:nvSpPr>
          <p:cNvPr id="1038" name="Google Shape;1038;p109"/>
          <p:cNvSpPr txBox="1"/>
          <p:nvPr/>
        </p:nvSpPr>
        <p:spPr>
          <a:xfrm>
            <a:off x="484564" y="4017817"/>
            <a:ext cx="11023945" cy="6200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About how many pounds of metal were recycled that month?</a:t>
            </a:r>
            <a:endParaRPr b="0" i="0" sz="1400" u="none" cap="none" strike="noStrike">
              <a:solidFill>
                <a:srgbClr val="000000"/>
              </a:solidFill>
              <a:latin typeface="Arial"/>
              <a:ea typeface="Arial"/>
              <a:cs typeface="Arial"/>
              <a:sym typeface="Arial"/>
            </a:endParaRPr>
          </a:p>
        </p:txBody>
      </p:sp>
      <p:sp>
        <p:nvSpPr>
          <p:cNvPr id="1039" name="Google Shape;1039;p109"/>
          <p:cNvSpPr txBox="1"/>
          <p:nvPr/>
        </p:nvSpPr>
        <p:spPr>
          <a:xfrm>
            <a:off x="484563" y="4719691"/>
            <a:ext cx="11162492" cy="1667123"/>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26262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 xml:space="preserve">Using rounding, about 22 pounds of metal were recycled that month.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Using compatible numbers, about 20 pounds of metal were recycled that month.</a:t>
            </a:r>
            <a:endParaRPr b="0" i="0" sz="1400" u="none" cap="none" strike="noStrike">
              <a:solidFill>
                <a:srgbClr val="000000"/>
              </a:solidFill>
              <a:latin typeface="Arial"/>
              <a:ea typeface="Arial"/>
              <a:cs typeface="Arial"/>
              <a:sym typeface="Arial"/>
            </a:endParaRPr>
          </a:p>
        </p:txBody>
      </p:sp>
      <p:sp>
        <p:nvSpPr>
          <p:cNvPr id="1040" name="Google Shape;1040;p109"/>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School Recycling</a:t>
            </a:r>
            <a:endParaRPr b="0" i="0" sz="1400" u="none" cap="none" strike="noStrike">
              <a:solidFill>
                <a:srgbClr val="000000"/>
              </a:solidFill>
              <a:latin typeface="Arial"/>
              <a:ea typeface="Arial"/>
              <a:cs typeface="Arial"/>
              <a:sym typeface="Arial"/>
            </a:endParaRPr>
          </a:p>
        </p:txBody>
      </p:sp>
      <p:sp>
        <p:nvSpPr>
          <p:cNvPr id="10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37 / 44</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cxnSp>
        <p:nvCxnSpPr>
          <p:cNvPr id="1045" name="Google Shape;1045;p11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6" name="Google Shape;1046;p110"/>
          <p:cNvSpPr txBox="1"/>
          <p:nvPr/>
        </p:nvSpPr>
        <p:spPr>
          <a:xfrm>
            <a:off x="484563" y="927528"/>
            <a:ext cx="7774534" cy="133627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For each method, how would you expect the actual amount of metal recycled to compare to the estimate? Explain.</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Calibri"/>
              <a:buNone/>
            </a:pPr>
            <a:r>
              <a:t/>
            </a:r>
            <a:endParaRPr b="0" i="0" sz="2800" u="none" cap="none" strike="noStrike">
              <a:solidFill>
                <a:srgbClr val="262626"/>
              </a:solidFill>
              <a:latin typeface="Arial"/>
              <a:ea typeface="Arial"/>
              <a:cs typeface="Arial"/>
              <a:sym typeface="Arial"/>
            </a:endParaRPr>
          </a:p>
          <a:p>
            <a:pPr indent="-514350" lvl="0" marL="514350" marR="0" rtl="0" algn="l">
              <a:lnSpc>
                <a:spcPct val="100000"/>
              </a:lnSpc>
              <a:spcBef>
                <a:spcPts val="180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You can use compatible numbers to estimate the amount of plastic that was recycled. For example, 20% of 200 pounds. How can you decompose 20% to find the estimate of the number of pounds of plastic recycled?</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Calibri"/>
              <a:buNone/>
            </a:pPr>
            <a:r>
              <a:t/>
            </a:r>
            <a:endParaRPr b="0" i="0" sz="2800" u="none" cap="none" strike="noStrike">
              <a:solidFill>
                <a:srgbClr val="262626"/>
              </a:solidFill>
              <a:latin typeface="Arial"/>
              <a:ea typeface="Arial"/>
              <a:cs typeface="Arial"/>
              <a:sym typeface="Arial"/>
            </a:endParaRPr>
          </a:p>
        </p:txBody>
      </p:sp>
      <p:sp>
        <p:nvSpPr>
          <p:cNvPr id="1047" name="Google Shape;1047;p11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39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presenting an estimate as an exact answer.</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Locate the given percent or amount between familiar benchmarks.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54" name="Google Shape;954;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5" name="Google Shape;955;p100"/>
          <p:cNvSpPr txBox="1"/>
          <p:nvPr/>
        </p:nvSpPr>
        <p:spPr>
          <a:xfrm>
            <a:off x="484564" y="936101"/>
            <a:ext cx="7495654" cy="34719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Let’s represent the percentage as a decimal.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10% of 220 or 0.1 of 220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find 0.1 of 220?</a:t>
            </a:r>
            <a:endParaRPr b="0" i="0" sz="1400" u="none" cap="none" strike="noStrike">
              <a:solidFill>
                <a:srgbClr val="000000"/>
              </a:solidFill>
              <a:latin typeface="Arial"/>
              <a:ea typeface="Arial"/>
              <a:cs typeface="Arial"/>
              <a:sym typeface="Arial"/>
            </a:endParaRPr>
          </a:p>
        </p:txBody>
      </p:sp>
      <p:sp>
        <p:nvSpPr>
          <p:cNvPr id="956" name="Google Shape;956;p100"/>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multiplication equation.</a:t>
            </a:r>
            <a:endParaRPr b="0" i="0" sz="1400" u="none" cap="none" strike="noStrike">
              <a:solidFill>
                <a:srgbClr val="000000"/>
              </a:solidFill>
              <a:latin typeface="Arial"/>
              <a:ea typeface="Arial"/>
              <a:cs typeface="Arial"/>
              <a:sym typeface="Arial"/>
            </a:endParaRPr>
          </a:p>
        </p:txBody>
      </p:sp>
      <p:sp>
        <p:nvSpPr>
          <p:cNvPr id="957" name="Google Shape;957;p100"/>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School Recycling</a:t>
            </a:r>
            <a:endParaRPr b="0" i="0" sz="1400" u="none" cap="none" strike="noStrike">
              <a:solidFill>
                <a:srgbClr val="000000"/>
              </a:solidFill>
              <a:latin typeface="Arial"/>
              <a:ea typeface="Arial"/>
              <a:cs typeface="Arial"/>
              <a:sym typeface="Arial"/>
            </a:endParaRPr>
          </a:p>
        </p:txBody>
      </p:sp>
      <p:sp>
        <p:nvSpPr>
          <p:cNvPr id="273" name="Google Shape;273;p43"/>
          <p:cNvSpPr txBox="1"/>
          <p:nvPr/>
        </p:nvSpPr>
        <p:spPr>
          <a:xfrm>
            <a:off x="1847088" y="2551176"/>
            <a:ext cx="488438"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4223A"/>
                </a:solidFill>
                <a:latin typeface="Arial"/>
                <a:ea typeface="Arial"/>
                <a:cs typeface="Arial"/>
                <a:sym typeface="Arial"/>
              </a:rPr>
              <a:t>32 / 34</a:t>
            </a:r>
            <a:endParaRPr/>
          </a:p>
        </p:txBody>
      </p:sp>
      <p:sp xmlns:p="http://schemas.openxmlformats.org/presentationml/2006/main" xmlns:a="http://schemas.openxmlformats.org/drawingml/2006/main">
        <p:nvSpPr>
          <p:cNvPr id="958"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11"/>
          <p:cNvSpPr txBox="1"/>
          <p:nvPr/>
        </p:nvSpPr>
        <p:spPr>
          <a:xfrm>
            <a:off x="484565" y="2292807"/>
            <a:ext cx="8644687" cy="25083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Estimate 4 out of 6 as a percentage.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4 out of 6 is about 70%</a:t>
            </a:r>
            <a:endParaRPr b="0" i="0" sz="1400" u="none" cap="none" strike="noStrike">
              <a:solidFill>
                <a:srgbClr val="000000"/>
              </a:solidFill>
              <a:latin typeface="Arial"/>
              <a:ea typeface="Arial"/>
              <a:cs typeface="Arial"/>
              <a:sym typeface="Arial"/>
            </a:endParaRPr>
          </a:p>
        </p:txBody>
      </p:sp>
      <p:cxnSp>
        <p:nvCxnSpPr>
          <p:cNvPr id="1053" name="Google Shape;1053;p11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4" name="Google Shape;1054;p111"/>
          <p:cNvSpPr txBox="1"/>
          <p:nvPr/>
        </p:nvSpPr>
        <p:spPr>
          <a:xfrm>
            <a:off x="484565" y="1215952"/>
            <a:ext cx="9153421" cy="9596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You can use benchmarks or rounding strategies to estimate the percent of a number. </a:t>
            </a:r>
            <a:endParaRPr b="0" i="0" sz="800" u="none" cap="none" strike="noStrike">
              <a:solidFill>
                <a:srgbClr val="262626"/>
              </a:solidFill>
              <a:latin typeface="Arial"/>
              <a:ea typeface="Arial"/>
              <a:cs typeface="Arial"/>
              <a:sym typeface="Arial"/>
            </a:endParaRPr>
          </a:p>
        </p:txBody>
      </p:sp>
      <p:sp>
        <p:nvSpPr>
          <p:cNvPr id="1055" name="Google Shape;1055;p111"/>
          <p:cNvSpPr txBox="1"/>
          <p:nvPr/>
        </p:nvSpPr>
        <p:spPr>
          <a:xfrm>
            <a:off x="484565" y="316034"/>
            <a:ext cx="6276453" cy="78275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Estimate the Percent of a Number</a:t>
            </a:r>
            <a:endParaRPr b="0" i="0" sz="1400" u="none" cap="none" strike="noStrike">
              <a:solidFill>
                <a:srgbClr val="000000"/>
              </a:solidFill>
              <a:latin typeface="Arial"/>
              <a:ea typeface="Arial"/>
              <a:cs typeface="Arial"/>
              <a:sym typeface="Arial"/>
            </a:endParaRPr>
          </a:p>
        </p:txBody>
      </p:sp>
      <p:pic>
        <p:nvPicPr>
          <p:cNvPr id="1056" name="Google Shape;1056;p111"/>
          <p:cNvPicPr preferRelativeResize="0"/>
          <p:nvPr/>
        </p:nvPicPr>
        <p:blipFill rotWithShape="1">
          <a:blip r:embed="rId3">
            <a:alphaModFix/>
          </a:blip>
          <a:srcRect b="0" l="0" r="0" t="0"/>
          <a:stretch/>
        </p:blipFill>
        <p:spPr>
          <a:xfrm>
            <a:off x="731558" y="2861281"/>
            <a:ext cx="7767170" cy="1371430"/>
          </a:xfrm>
          <a:prstGeom prst="rect">
            <a:avLst/>
          </a:prstGeom>
          <a:noFill/>
          <a:ln>
            <a:noFill/>
          </a:ln>
        </p:spPr>
      </p:pic>
      <p:sp>
        <p:nvSpPr>
          <p:cNvPr id="105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42 / 44</a:t>
            </a:r>
          </a:p>
        </p:txBody>
      </p:sp>
      <p:sp>
        <p:nvSpPr>
          <p:cNvPr id="105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105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cxnSp>
        <p:nvCxnSpPr>
          <p:cNvPr id="1069" name="Google Shape;1069;p11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0" name="Google Shape;1070;p113"/>
          <p:cNvSpPr txBox="1"/>
          <p:nvPr/>
        </p:nvSpPr>
        <p:spPr>
          <a:xfrm>
            <a:off x="484564" y="927529"/>
            <a:ext cx="7940345" cy="40240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The organizers of a food drive set a new goal for a second food drive. They hope to collect 140% as many cans as they did for the last food drive in which they collected 145 cans.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About how many cans can the organizers expect to collect? Explain your reasoning.</a:t>
            </a:r>
            <a:endParaRPr b="0" i="0" sz="1400" u="none" cap="none" strike="noStrike">
              <a:solidFill>
                <a:srgbClr val="000000"/>
              </a:solidFill>
              <a:latin typeface="Arial"/>
              <a:ea typeface="Arial"/>
              <a:cs typeface="Arial"/>
              <a:sym typeface="Arial"/>
            </a:endParaRPr>
          </a:p>
        </p:txBody>
      </p:sp>
      <p:sp>
        <p:nvSpPr>
          <p:cNvPr id="1071" name="Google Shape;1071;p11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The Food Drive</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43 / 44</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900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 then check the goal.</a:t>
            </a:r>
            <a:endParaRPr lang="en-US" sz="200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4.3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Choose a useful benchmark or compatible number.</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14 / 44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19 / 44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27 / 44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44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44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38 / 44</a:t>
            </a:r>
          </a:p>
        </p:txBody>
      </p:sp>
    </p:spTree>
  </p:cSld>
  <p:clrMapOvr>
    <a:masterClrMapping/>
  </p:clrMapOvr>
</p:sld>
</file>

<file path=ppt/theme/theme1.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4.3 — Estimate the Percent of a Number</dc:title>
  <dc:creator>Neft Teacher</dc:creator>
  <cp:lastModifiedBy>Neft Teacher</cp:lastModifiedBy>
  <dcterms:created xsi:type="dcterms:W3CDTF">2026-09-30T12:04:43Z</dcterms:created>
  <dcterms:modified xsi:type="dcterms:W3CDTF">2026-09-30T12:04:43Z</dcterms:modified>
</cp:coreProperties>
</file>