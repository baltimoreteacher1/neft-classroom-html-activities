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2.xml" ContentType="application/vnd.openxmlformats-officedocument.presentationml.notesSlide+xml"/>
  <Override PartName="/ppt/notesSlides/notesSlide26.xml" ContentType="application/vnd.openxmlformats-officedocument.presentationml.notesSlide+xml"/>
  <Override PartName="/ppt/notesSlides/notesSlide28.xml" ContentType="application/vnd.openxmlformats-officedocument.presentationml.notesSlide+xml"/>
  <Override PartName="/ppt/notesSlides/notesSlide33.xml" ContentType="application/vnd.openxmlformats-officedocument.presentationml.notesSlide+xml"/>
  <Override PartName="/ppt/notesSlides/notesSlide35.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52.xml" ContentType="application/vnd.openxmlformats-officedocument.presentationml.notesSlide+xml"/>
  <Override PartName="/ppt/notesSlides/notesSlide54.xml" ContentType="application/vnd.openxmlformats-officedocument.presentationml.notesSlide+xml"/>
  <Override PartName="/ppt/notesSlides/notesSlide6.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Core1"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83" r:id="rId5"/>
    <p:sldMasterId id="2147483684" r:id="rId6"/>
    <p:sldMasterId id="2147483685" r:id="rId7"/>
    <p:sldMasterId id="2147483686" r:id="rId8"/>
  </p:sldMasterIdLst>
  <p:notesMasterIdLst>
    <p:notesMasterId r:id="rId9"/>
  </p:notesMasterIdLst>
  <p:sldIdLst>
    <p:sldId id="259" r:id="rId13"/>
    <p:sldId id="267" r:id="rId21"/>
    <p:sldId id="268" r:id="rId22"/>
    <p:sldId id="256" r:id="rId10"/>
    <p:sldId id="257" r:id="rId11"/>
    <p:sldId id="260" r:id="rId14"/>
    <p:sldId id="336" r:id="rId80"/>
    <p:sldId id="332" r:id="rId76"/>
    <p:sldId id="331" r:id="rId46"/>
    <p:sldId id="330" r:id="rId45"/>
    <p:sldId id="329" r:id="rId32"/>
    <p:sldId id="328" r:id="rId43"/>
    <p:sldId id="327" r:id="rId33"/>
    <p:sldId id="261" r:id="rId15"/>
    <p:sldId id="270" r:id="rId24"/>
    <p:sldId id="271" r:id="rId25"/>
    <p:sldId id="273" r:id="rId27"/>
    <p:sldId id="337" r:id="rId81"/>
    <p:sldId id="274" r:id="rId28"/>
    <p:sldId id="277" r:id="rId31"/>
    <p:sldId id="281" r:id="rId35"/>
    <p:sldId id="283" r:id="rId37"/>
    <p:sldId id="338" r:id="rId82"/>
    <p:sldId id="288" r:id="rId42"/>
    <p:sldId id="333" r:id="rId77"/>
    <p:sldId id="326" r:id="rId41"/>
    <p:sldId id="325" r:id="rId40"/>
    <p:sldId id="324" r:id="rId39"/>
    <p:sldId id="339" r:id="rId83"/>
    <p:sldId id="323" r:id="rId38"/>
    <p:sldId id="319" r:id="rId74"/>
    <p:sldId id="340" r:id="rId84"/>
    <p:sldId id="320" r:id="rId75"/>
    <p:sldId id="290" r:id="rId44"/>
    <p:sldId id="293" r:id="rId47"/>
    <p:sldId id="296" r:id="rId50"/>
    <p:sldId id="341" r:id="rId85"/>
    <p:sldId id="297" r:id="rId51"/>
    <p:sldId id="307" r:id="rId61"/>
    <p:sldId id="309" r:id="rId63"/>
    <p:sldId id="316" r:id="rId70"/>
    <p:sldId id="342" r:id="rId86"/>
    <p:sldId id="334" r:id="rId78"/>
    <p:sldId id="322" r:id="rId34"/>
    <p:sldId id="343" r:id="rId87"/>
    <p:sldId id="317" r:id="rId71"/>
    <p:sldId id="318" r:id="rId72"/>
    <p:sldId id="321" r:id="rId36"/>
    <p:sldId id="335" r:id="rId79"/>
  </p:sldIdLst>
  <p:sldSz cy="6858000" cx="12192000"/>
  <p:notesSz cx="7010400" cy="92360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pos="1512">
          <p15:clr>
            <a:srgbClr val="A4A3A4"/>
          </p15:clr>
        </p15:guide>
        <p15:guide id="2" orient="horz" pos="3024">
          <p15:clr>
            <a:srgbClr val="A4A3A4"/>
          </p15:clr>
        </p15:guide>
        <p15:guide id="3" orient="horz" pos="384">
          <p15:clr>
            <a:srgbClr val="A4A3A4"/>
          </p15:clr>
        </p15:guide>
        <p15:guide id="4" orient="horz" pos="2520">
          <p15:clr>
            <a:srgbClr val="A4A3A4"/>
          </p15:clr>
        </p15:guide>
        <p15:guide id="5" orient="horz" pos="1080">
          <p15:clr>
            <a:srgbClr val="A4A3A4"/>
          </p15:clr>
        </p15:guide>
        <p15:guide id="6" orient="horz" pos="1680">
          <p15:clr>
            <a:srgbClr val="A4A3A4"/>
          </p15:clr>
        </p15:guide>
        <p15:guide id="7" orient="horz" pos="3432">
          <p15:clr>
            <a:srgbClr val="A4A3A4"/>
          </p15:clr>
        </p15:guide>
        <p15:guide id="8" orient="horz" pos="3120">
          <p15:clr>
            <a:srgbClr val="A4A3A4"/>
          </p15:clr>
        </p15:guide>
        <p15:guide id="9" pos="48">
          <p15:clr>
            <a:srgbClr val="A4A3A4"/>
          </p15:clr>
        </p15:guide>
        <p15:guide id="10" pos="384">
          <p15:clr>
            <a:srgbClr val="A4A3A4"/>
          </p15:clr>
        </p15:guide>
        <p15:guide id="11" pos="6480">
          <p15:clr>
            <a:srgbClr val="A4A3A4"/>
          </p15:clr>
        </p15:guide>
        <p15:guide id="12" pos="2597">
          <p15:clr>
            <a:srgbClr val="A4A3A4"/>
          </p15:clr>
        </p15:guide>
        <p15:guide id="13" pos="288">
          <p15:clr>
            <a:srgbClr val="A4A3A4"/>
          </p15:clr>
        </p15:guide>
        <p15:guide id="14" orient="horz" pos="2160">
          <p15:clr>
            <a:srgbClr val="A4A3A4"/>
          </p15:clr>
        </p15:guide>
        <p15:guide id="15" orient="horz" pos="216">
          <p15:clr>
            <a:srgbClr val="A4A3A4"/>
          </p15:clr>
        </p15:guide>
        <p15:guide id="16" orient="horz" pos="936">
          <p15:clr>
            <a:srgbClr val="A4A3A4"/>
          </p15:clr>
        </p15:guide>
        <p15:guide id="17" pos="4368">
          <p15:clr>
            <a:srgbClr val="A4A3A4"/>
          </p15:clr>
        </p15:guide>
        <p15:guide id="18" pos="7296">
          <p15:clr>
            <a:srgbClr val="A4A3A4"/>
          </p15:clr>
        </p15:guide>
        <p15:guide id="19" pos="3288">
          <p15:clr>
            <a:srgbClr val="A4A3A4"/>
          </p15:clr>
        </p15:guide>
        <p15:guide id="20" pos="5904">
          <p15:clr>
            <a:srgbClr val="A4A3A4"/>
          </p15:clr>
        </p15:guide>
        <p15:guide id="21" pos="55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076CFA3-0C6F-4F52-99AF-6655AA8B3034}">
  <a:tblStyle styleId="{8076CFA3-0C6F-4F52-99AF-6655AA8B3034}"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b="off" i="off"/>
      <a:tcStyle>
        <a:fill>
          <a:solidFill>
            <a:srgbClr val="CDD4EA"/>
          </a:solidFill>
        </a:fill>
      </a:tcStyle>
    </a:band1H>
    <a:band2H>
      <a:tcTxStyle b="off" i="off"/>
    </a:band2H>
    <a:band1V>
      <a:tcTxStyle b="off" i="off"/>
      <a:tcStyle>
        <a:fill>
          <a:solidFill>
            <a:srgbClr val="CDD4EA"/>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512"/>
        <p:guide pos="3024" orient="horz"/>
        <p:guide pos="384" orient="horz"/>
        <p:guide pos="2520" orient="horz"/>
        <p:guide pos="1080" orient="horz"/>
        <p:guide pos="1680" orient="horz"/>
        <p:guide pos="3432" orient="horz"/>
        <p:guide pos="3120" orient="horz"/>
        <p:guide pos="48"/>
        <p:guide pos="384"/>
        <p:guide pos="6480"/>
        <p:guide pos="2597"/>
        <p:guide pos="288"/>
        <p:guide pos="2160" orient="horz"/>
        <p:guide pos="216" orient="horz"/>
        <p:guide pos="936" orient="horz"/>
        <p:guide pos="4368"/>
        <p:guide pos="7296"/>
        <p:guide pos="3288"/>
        <p:guide pos="5904"/>
        <p:guide pos="5568"/>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9" Type="http://schemas.openxmlformats.org/officeDocument/2006/relationships/notesMaster" Target="notesMasters/notesMaster1.xml"/><Relationship Id="rId10" Type="http://schemas.openxmlformats.org/officeDocument/2006/relationships/slide" Target="slides/slide4.xml"/><Relationship Id="rId11" Type="http://schemas.openxmlformats.org/officeDocument/2006/relationships/slide" Target="slides/slide5.xml"/><Relationship Id="rId13" Type="http://schemas.openxmlformats.org/officeDocument/2006/relationships/slide" Target="slides/slide1.xml"/><Relationship Id="rId14" Type="http://schemas.openxmlformats.org/officeDocument/2006/relationships/slide" Target="slides/slide6.xml"/><Relationship Id="rId15" Type="http://schemas.openxmlformats.org/officeDocument/2006/relationships/slide" Target="slides/slide13.xml"/><Relationship Id="rId21" Type="http://schemas.openxmlformats.org/officeDocument/2006/relationships/slide" Target="slides/slide2.xml"/><Relationship Id="rId22" Type="http://schemas.openxmlformats.org/officeDocument/2006/relationships/slide" Target="slides/slide3.xml"/><Relationship Id="rId24" Type="http://schemas.openxmlformats.org/officeDocument/2006/relationships/slide" Target="slides/slide14.xml"/><Relationship Id="rId25"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 Id="rId31" Type="http://schemas.openxmlformats.org/officeDocument/2006/relationships/slide" Target="slides/slide18.xml"/><Relationship Id="rId32" Type="http://schemas.openxmlformats.org/officeDocument/2006/relationships/slide" Target="slides/slide10.xml"/><Relationship Id="rId33" Type="http://schemas.openxmlformats.org/officeDocument/2006/relationships/slide" Target="slides/slide12.xml"/><Relationship Id="rId34" Type="http://schemas.openxmlformats.org/officeDocument/2006/relationships/slide" Target="slides/slide37.xml"/><Relationship Id="rId35" Type="http://schemas.openxmlformats.org/officeDocument/2006/relationships/slide" Target="slides/slide19.xml"/><Relationship Id="rId36" Type="http://schemas.openxmlformats.org/officeDocument/2006/relationships/slide" Target="slides/slide40.xml"/><Relationship Id="rId37" Type="http://schemas.openxmlformats.org/officeDocument/2006/relationships/slide" Target="slides/slide20.xml"/><Relationship Id="rId38" Type="http://schemas.openxmlformats.org/officeDocument/2006/relationships/slide" Target="slides/slide26.xml"/><Relationship Id="rId39" Type="http://schemas.openxmlformats.org/officeDocument/2006/relationships/slide" Target="slides/slide25.xml"/><Relationship Id="rId40" Type="http://schemas.openxmlformats.org/officeDocument/2006/relationships/slide" Target="slides/slide24.xml"/><Relationship Id="rId41" Type="http://schemas.openxmlformats.org/officeDocument/2006/relationships/slide" Target="slides/slide23.xml"/><Relationship Id="rId42" Type="http://schemas.openxmlformats.org/officeDocument/2006/relationships/slide" Target="slides/slide21.xml"/><Relationship Id="rId43" Type="http://schemas.openxmlformats.org/officeDocument/2006/relationships/slide" Target="slides/slide11.xml"/><Relationship Id="rId44" Type="http://schemas.openxmlformats.org/officeDocument/2006/relationships/slide" Target="slides/slide29.xml"/><Relationship Id="rId45" Type="http://schemas.openxmlformats.org/officeDocument/2006/relationships/slide" Target="slides/slide9.xml"/><Relationship Id="rId46" Type="http://schemas.openxmlformats.org/officeDocument/2006/relationships/slide" Target="slides/slide8.xml"/><Relationship Id="rId47" Type="http://schemas.openxmlformats.org/officeDocument/2006/relationships/slide" Target="slides/slide30.xml"/><Relationship Id="rId50" Type="http://schemas.openxmlformats.org/officeDocument/2006/relationships/slide" Target="slides/slide31.xml"/><Relationship Id="rId51" Type="http://schemas.openxmlformats.org/officeDocument/2006/relationships/slide" Target="slides/slide32.xml"/><Relationship Id="rId61" Type="http://schemas.openxmlformats.org/officeDocument/2006/relationships/slide" Target="slides/slide33.xml"/><Relationship Id="rId63" Type="http://schemas.openxmlformats.org/officeDocument/2006/relationships/slide" Target="slides/slide34.xml"/><Relationship Id="rId70" Type="http://schemas.openxmlformats.org/officeDocument/2006/relationships/slide" Target="slides/slide35.xml"/><Relationship Id="rId71" Type="http://schemas.openxmlformats.org/officeDocument/2006/relationships/slide" Target="slides/slide38.xml"/><Relationship Id="rId72" Type="http://schemas.openxmlformats.org/officeDocument/2006/relationships/slide" Target="slides/slide39.xml"/><Relationship Id="rId74" Type="http://schemas.openxmlformats.org/officeDocument/2006/relationships/slide" Target="slides/slide27.xml"/><Relationship Id="rId75" Type="http://schemas.openxmlformats.org/officeDocument/2006/relationships/slide" Target="slides/slide28.xml"/><Relationship Id="rId76" Type="http://schemas.openxmlformats.org/officeDocument/2006/relationships/slide" Target="slides/slide7.xml"/><Relationship Id="rId77" Type="http://schemas.openxmlformats.org/officeDocument/2006/relationships/slide" Target="slides/slide22.xml"/><Relationship Id="rId78" Type="http://schemas.openxmlformats.org/officeDocument/2006/relationships/slide" Target="slides/slide36.xml"/><Relationship Id="rId79" Type="http://schemas.openxmlformats.org/officeDocument/2006/relationships/slide" Target="slides/slide41.xml"/><Relationship Id="rId80" Type="http://schemas.openxmlformats.org/officeDocument/2006/relationships/slide" Target="slides/slide42.xml"/><Relationship Id="rId81" Type="http://schemas.openxmlformats.org/officeDocument/2006/relationships/slide" Target="slides/slide43.xml"/><Relationship Id="rId82" Type="http://schemas.openxmlformats.org/officeDocument/2006/relationships/slide" Target="slides/slide44.xml"/><Relationship Id="rId83" Type="http://schemas.openxmlformats.org/officeDocument/2006/relationships/slide" Target="slides/slide45.xml"/><Relationship Id="rId84" Type="http://schemas.openxmlformats.org/officeDocument/2006/relationships/slide" Target="slides/slide46.xml"/><Relationship Id="rId85" Type="http://schemas.openxmlformats.org/officeDocument/2006/relationships/slide" Target="slides/slide47.xml"/><Relationship Id="rId86" Type="http://schemas.openxmlformats.org/officeDocument/2006/relationships/slide" Target="slides/slide48.xml"/><Relationship Id="rId87" Type="http://schemas.openxmlformats.org/officeDocument/2006/relationships/slide" Target="slides/slide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2"/>
            <a:ext cx="3037840" cy="463407"/>
          </a:xfrm>
          <a:prstGeom prst="rect">
            <a:avLst/>
          </a:prstGeom>
          <a:noFill/>
          <a:ln>
            <a:noFill/>
          </a:ln>
        </p:spPr>
        <p:txBody>
          <a:bodyPr anchorCtr="0" anchor="t"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970938" y="2"/>
            <a:ext cx="3037840" cy="463407"/>
          </a:xfrm>
          <a:prstGeom prst="rect">
            <a:avLst/>
          </a:prstGeom>
          <a:noFill/>
          <a:ln>
            <a:noFill/>
          </a:ln>
        </p:spPr>
        <p:txBody>
          <a:bodyPr anchorCtr="0" anchor="t" bIns="46125" lIns="92275" spcFirstLastPara="1" rIns="92275" wrap="square" tIns="46125">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772669"/>
            <a:ext cx="3037840" cy="463406"/>
          </a:xfrm>
          <a:prstGeom prst="rect">
            <a:avLst/>
          </a:prstGeom>
          <a:noFill/>
          <a:ln>
            <a:noFill/>
          </a:ln>
        </p:spPr>
        <p:txBody>
          <a:bodyPr anchorCtr="0" anchor="b"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9.3, slide 4 | DIVIDER</a:t>
            </a:r>
          </a:p>
          <a:p xmlns:a="http://schemas.openxmlformats.org/drawingml/2006/main">
            <a:pPr>
              <a:buNone/>
            </a:pPr>
            <a:r>
              <a:rPr lang="en-US" sz="1100"/>
              <a:t>Focus on the existing task: Write Equations to Represent Relationships Between Two Variables Session 1</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231" name="Google Shape;231;p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9.3, slide 5 | WORKED</a:t>
            </a:r>
          </a:p>
          <a:p xmlns:a="http://schemas.openxmlformats.org/drawingml/2006/main">
            <a:pPr>
              <a:buNone/>
            </a:pPr>
            <a:r>
              <a:rPr lang="en-US" sz="1100"/>
              <a:t>Focus on the existing task: More or Less Than… More or Less Than 5</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define variables. Ask which feature of their work supports the claim.</a:t>
            </a:r>
          </a:p>
          <a:p xmlns:a="http://schemas.openxmlformats.org/drawingml/2006/main">
            <a:pPr>
              <a:buNone/>
            </a:pPr>
            <a:r>
              <a:rPr lang="en-US" sz="1100"/>
              <a:t>RESPOND: If this task shows the lesson misconception—assuming every relationship has the form y = kx without checking the starting value—compare successive values and the starting amount in the existing table or graph.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Number-sense routine — every voice in. Give quiet think time, then hear from at least three students.</a:t>
            </a:r>
          </a:p>
          <a:p>
            <a:pPr indent="0" lvl="0" marL="0" rtl="0" algn="l">
              <a:lnSpc>
                <a:spcPct val="100000"/>
              </a:lnSpc>
              <a:spcBef>
                <a:spcPts val="0"/>
              </a:spcBef>
              <a:spcAft>
                <a:spcPts val="0"/>
              </a:spcAft>
              <a:buSzPts val="1400"/>
              <a:buNone/>
            </a:pPr>
            <a:r>
              <a:t>Always follow with “How do you know?” — the reasoning is the point, not the answer.</a:t>
            </a:r>
          </a:p>
          <a:p>
            <a:pPr indent="0" lvl="0" marL="0" rtl="0" algn="l">
              <a:lnSpc>
                <a:spcPct val="100000"/>
              </a:lnSpc>
              <a:spcBef>
                <a:spcPts val="0"/>
              </a:spcBef>
              <a:spcAft>
                <a:spcPts val="0"/>
              </a:spcAft>
              <a:buSzPts val="1400"/>
              <a:buNone/>
            </a:pPr>
            <a:r>
              <a:t>There is more than one path; name and celebrate different strategies.</a:t>
            </a:r>
          </a:p>
          <a:p>
            <a:pPr indent="0" lvl="0" marL="0" rtl="0" algn="l">
              <a:lnSpc>
                <a:spcPct val="100000"/>
              </a:lnSpc>
              <a:spcBef>
                <a:spcPts val="0"/>
              </a:spcBef>
              <a:spcAft>
                <a:spcPts val="0"/>
              </a:spcAft>
              <a:buSzPts val="1400"/>
              <a:buNone/>
            </a:pPr>
            <a:r>
              <a:t>UIFR: TEACH 3 · TEACH 5 · TEACH 6.</a:t>
            </a:r>
          </a:p>
        </p:txBody>
      </p:sp>
      <p:sp>
        <p:nvSpPr>
          <p:cNvPr id="238" name="Google Shape;238;p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4: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9.3, slide 1 | WARMUP</a:t>
            </a:r>
          </a:p>
          <a:p xmlns:a="http://schemas.openxmlformats.org/drawingml/2006/main">
            <a:pPr>
              <a:buNone/>
            </a:pPr>
            <a:r>
              <a:rPr lang="en-US" sz="1100"/>
              <a:t>Focus on the existing task: Warm-Up WARM-UP · THINK •…</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Warm-Up answers (teacher only): 1) $4   2) 5   3) 5n   4) yes</a:t>
            </a:r>
          </a:p>
          <a:p>
            <a:pPr>
              <a:buNone/>
            </a:pPr>
            <a:r>
              <a:rPr lang="en-US" sz="1100"/>
              <a:t/>
            </a:r>
          </a:p>
          <a:p>
            <a:pPr>
              <a:buNone/>
            </a:pPr>
            <a:r>
              <a:rPr lang="en-US" sz="1100"/>
              <a:t>UIFR FULL | Lesson-specific facilitation</a:t>
            </a:r>
          </a:p>
          <a:p>
            <a:pPr>
              <a:buNone/>
            </a:pPr>
            <a:r>
              <a:rPr lang="en-US" sz="1100"/>
              <a:t>PREPARE 1-2 | Before teaching (UIFR PDF pp. 6-7).</a:t>
            </a:r>
          </a:p>
          <a:p>
            <a:pPr>
              <a:buNone/>
            </a:pPr>
            <a:r>
              <a:rPr lang="en-US" sz="1100"/>
              <a:t>Plan to gather evidence that students can define variables; identify rate and any initial amount; write and verify an equation. Review recent work and today’s warm-up to choose flexible groups and access supports; do not infer needs from identity or perceived ability. Use the existing lesson tasks and stated standards.</a:t>
            </a:r>
          </a:p>
          <a:p>
            <a:pPr>
              <a:buNone/>
            </a:pPr>
            <a:r>
              <a:rPr lang="en-US" sz="1100"/>
              <a:t>Anticipate: assuming every relationship has the form y = kx without checking the starting value. If observed, compare successive values and the starting amount in the existing table or graph. Offer oral rehearsal, drawing, pointing, or home-language processing as needed; retain the original mathematical demand. Ask students which support helps and fade it as evidence improves.</a:t>
            </a:r>
          </a:p>
          <a:p>
            <a:pPr>
              <a:buNone/>
            </a:pPr>
            <a:r>
              <a:rPr lang="en-US" sz="1100"/>
              <a:t>TEACH 6-7 | Before the first transition, agree on materials, partner roles, and how to request help. Invite students to restate the routine. Normalize revising an idea, recognize a specific contribution, and check privately when frustration blocks participation. Source: UIFR PDF pp. 13-14.</a:t>
            </a:r>
          </a:p>
        </p:txBody>
      </p:sp>
      <p:sp>
        <p:nvSpPr>
          <p:cNvPr id="259" name="Google Shape;259;p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5: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9.3, slide 6 | GOAL</a:t>
            </a:r>
          </a:p>
          <a:p xmlns:a="http://schemas.openxmlformats.org/drawingml/2006/main">
            <a:pPr>
              <a:buNone/>
            </a:pPr>
            <a:r>
              <a:rPr lang="en-US" sz="1100"/>
              <a:t>Focus on the existing task: Today’s Objectives Write…</a:t>
            </a:r>
          </a:p>
          <a:p xmlns:a="http://schemas.openxmlformats.org/drawingml/2006/main">
            <a:pPr>
              <a:buNone/>
            </a:pPr>
            <a:r>
              <a:rPr lang="en-US" sz="1100"/>
              <a:t>CONNECT (T1/4): Ask students to restate the displayed goal or key idea and connect it to earlier work. Relevant lesson evidence: define variables; identify rate and any initial amount; write and verify an equation.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Read the objective together, then have one or two students restate today’s goal in their own words.</a:t>
            </a:r>
          </a:p>
          <a:p>
            <a:pPr indent="0" lvl="0" marL="0" rtl="0" algn="l">
              <a:spcBef>
                <a:spcPts val="0"/>
              </a:spcBef>
              <a:spcAft>
                <a:spcPts val="0"/>
              </a:spcAft>
              <a:buNone/>
            </a:pPr>
            <a:r>
              <a:t>Connect it to what the class learned last lesson.</a:t>
            </a:r>
          </a:p>
          <a:p>
            <a:pPr indent="0" lvl="0" marL="0" rtl="0" algn="l">
              <a:spcBef>
                <a:spcPts val="0"/>
              </a:spcBef>
              <a:spcAft>
                <a:spcPts val="0"/>
              </a:spcAft>
              <a:buNone/>
            </a:pPr>
            <a:r>
              <a:t>Return to this goal at the end of class to check it was met.</a:t>
            </a:r>
          </a:p>
          <a:p>
            <a:pPr indent="0" lvl="0" marL="0" rtl="0" algn="l">
              <a:spcBef>
                <a:spcPts val="0"/>
              </a:spcBef>
              <a:spcAft>
                <a:spcPts val="0"/>
              </a:spcAft>
              <a:buNone/>
            </a:pPr>
            <a:r>
              <a:t>UIFR: TEACH 1.</a:t>
            </a:r>
          </a:p>
          <a:p>
            <a:pPr>
              <a:buNone/>
            </a:pPr>
            <a:r>
              <a:rPr lang="en-US" sz="1100"/>
              <a:t/>
            </a:r>
          </a:p>
          <a:p>
            <a:pPr>
              <a:buNone/>
            </a:pPr>
            <a:r>
              <a:rPr lang="en-US" sz="1100"/>
              <a:t>UIFR FULL | Lesson-specific facilitation</a:t>
            </a:r>
          </a:p>
          <a:p>
            <a:pPr>
              <a:buNone/>
            </a:pPr>
            <a:r>
              <a:rPr lang="en-US" sz="1100"/>
              <a:t>TEACH 1 | Session 1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define variables; identify rate and any initial amount; write and verify an equation. Ask: “Which part of your work would show this?” Revisit that evidence after the task; a confidence rating alone is not evidence of understanding.</a:t>
            </a:r>
          </a:p>
        </p:txBody>
      </p:sp>
      <p:sp>
        <p:nvSpPr>
          <p:cNvPr id="335" name="Google Shape;335;p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6: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9.3, slide 13 | VOCAB</a:t>
            </a:r>
          </a:p>
          <a:p xmlns:a="http://schemas.openxmlformats.org/drawingml/2006/main">
            <a:pPr>
              <a:buNone/>
            </a:pPr>
            <a:r>
              <a:rPr lang="en-US" sz="1100"/>
              <a:t>Focus on the existing task: Vocabulary Today’s Math…</a:t>
            </a:r>
          </a:p>
          <a:p xmlns:a="http://schemas.openxmlformats.org/drawingml/2006/main">
            <a:pPr>
              <a:buNone/>
            </a:pPr>
            <a:r>
              <a:rPr lang="en-US" sz="1100"/>
              <a:t>ASK (T1/3/5): Where does “the displayed term”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Choral-read each word, its meaning, and what it looks like.</a:t>
            </a:r>
          </a:p>
          <a:p>
            <a:pPr indent="0" lvl="0" marL="0" rtl="0" algn="l">
              <a:spcBef>
                <a:spcPts val="0"/>
              </a:spcBef>
              <a:spcAft>
                <a:spcPts val="0"/>
              </a:spcAft>
              <a:buNone/>
            </a:pPr>
            <a:r>
              <a:t>Students should use these words out loud today — listen for them in partner talk and revoice student ideas with the academic term.</a:t>
            </a:r>
          </a:p>
          <a:p>
            <a:pPr indent="0" lvl="0" marL="0" rtl="0" algn="l">
              <a:spcBef>
                <a:spcPts val="0"/>
              </a:spcBef>
              <a:spcAft>
                <a:spcPts val="0"/>
              </a:spcAft>
              <a:buNone/>
            </a:pPr>
            <a:r>
              <a:t>UIFR: TEACH 1 · TEACH 5.</a:t>
            </a:r>
          </a:p>
        </p:txBody>
      </p:sp>
      <p:sp>
        <p:nvSpPr>
          <p:cNvPr id="357" name="Google Shape;357;p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12: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9.3, slide 2 | NOTES</a:t>
            </a:r>
          </a:p>
          <a:p xmlns:a="http://schemas.openxmlformats.org/drawingml/2006/main">
            <a:pPr>
              <a:buNone/>
            </a:pPr>
            <a:r>
              <a:rPr lang="en-US" sz="1100"/>
              <a:t>Focus on the existing task: Today’s Math Notes Section…</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479" name="Google Shape;479;p1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13: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9.3, slide 3 | NOTES</a:t>
            </a:r>
          </a:p>
          <a:p xmlns:a="http://schemas.openxmlformats.org/drawingml/2006/main">
            <a:pPr>
              <a:buNone/>
            </a:pPr>
            <a:r>
              <a:rPr lang="en-US" sz="1100"/>
              <a:t>Focus on the existing task: Today’s Math Notes Section…</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507" name="Google Shape;507;p1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p1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9.3, slide 14 | CURIOUS</a:t>
            </a:r>
          </a:p>
          <a:p xmlns:a="http://schemas.openxmlformats.org/drawingml/2006/main">
            <a:pPr>
              <a:buNone/>
            </a:pPr>
            <a:r>
              <a:rPr lang="en-US" sz="1100"/>
              <a:t>Focus on the existing task: Be Curious What do you notice?</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define variables. Ask which feature of their work supports the claim.</a:t>
            </a:r>
          </a:p>
          <a:p xmlns:a="http://schemas.openxmlformats.org/drawingml/2006/main">
            <a:pPr>
              <a:buNone/>
            </a:pPr>
            <a:r>
              <a:rPr lang="en-US" sz="1100"/>
              <a:t>RESPOND: If this task shows the lesson misconception—assuming every relationship has the form y = kx without checking the starting value—compare successive values and the starting amount in the existing table or graph.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Accept all noticings and wonderings — there are no wrong answers here.</a:t>
            </a:r>
          </a:p>
          <a:p>
            <a:pPr indent="0" lvl="0" marL="0" rtl="0" algn="l">
              <a:lnSpc>
                <a:spcPct val="100000"/>
              </a:lnSpc>
              <a:spcBef>
                <a:spcPts val="0"/>
              </a:spcBef>
              <a:spcAft>
                <a:spcPts val="0"/>
              </a:spcAft>
              <a:buSzPts val="1400"/>
              <a:buNone/>
            </a:pPr>
            <a:r>
              <a:t>Give 20–30 seconds of quiet think time before taking responses; mix cold and warm calls so it is not always the same voices.</a:t>
            </a:r>
          </a:p>
          <a:p>
            <a:pPr indent="0" lvl="0" marL="0" rtl="0" algn="l">
              <a:lnSpc>
                <a:spcPct val="100000"/>
              </a:lnSpc>
              <a:spcBef>
                <a:spcPts val="0"/>
              </a:spcBef>
              <a:spcAft>
                <a:spcPts val="0"/>
              </a:spcAft>
              <a:buSzPts val="1400"/>
              <a:buNone/>
            </a:pPr>
            <a:r>
              <a:t>Read the mindset question aloud and let two students respond.</a:t>
            </a:r>
          </a:p>
          <a:p>
            <a:pPr indent="0" lvl="0" marL="0" rtl="0" algn="l">
              <a:lnSpc>
                <a:spcPct val="100000"/>
              </a:lnSpc>
              <a:spcBef>
                <a:spcPts val="0"/>
              </a:spcBef>
              <a:spcAft>
                <a:spcPts val="0"/>
              </a:spcAft>
              <a:buSzPts val="1400"/>
              <a:buNone/>
            </a:pPr>
            <a:r>
              <a:t>UIFR: TEACH 3 · TEACH 7.</a:t>
            </a:r>
          </a:p>
        </p:txBody>
      </p:sp>
      <p:sp>
        <p:nvSpPr>
          <p:cNvPr id="547" name="Google Shape;547;p1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1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9.3, slide 15 | TASK</a:t>
            </a:r>
          </a:p>
          <a:p xmlns:a="http://schemas.openxmlformats.org/drawingml/2006/main">
            <a:pPr>
              <a:buNone/>
            </a:pPr>
            <a:r>
              <a:rPr lang="en-US" sz="1100"/>
              <a:t>Focus on the existing task: The Cost of Fitness Miguel is interested in joining a recreation center. Recreation World charges the monthly fee shown on the flyer. How…</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define variables. Ask which feature of their work supports the claim.</a:t>
            </a:r>
          </a:p>
          <a:p xmlns:a="http://schemas.openxmlformats.org/drawingml/2006/main">
            <a:pPr>
              <a:buNone/>
            </a:pPr>
            <a:r>
              <a:rPr lang="en-US" sz="1100"/>
              <a:t>RESPOND: If this task shows the lesson misconception—assuming every relationship has the form y = kx without checking the starting value—compare successive values and the starting amount in the existing table or graph.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a:p>
            <a:pPr>
              <a:buNone/>
            </a:pPr>
            <a:r>
              <a:rPr lang="en-US" sz="1100"/>
              <a:t/>
            </a:r>
          </a:p>
          <a:p>
            <a:pPr>
              <a:buNone/>
            </a:pPr>
            <a:r>
              <a:rPr lang="en-US" sz="1100"/>
              <a:t>UIFR FULL | Lesson-specific facilitation</a:t>
            </a:r>
          </a:p>
          <a:p>
            <a:pPr>
              <a:buNone/>
            </a:pPr>
            <a:r>
              <a:rPr lang="en-US" sz="1100"/>
              <a:t>TEACH 2-3 | Session 1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“How do the rate and any starting amount appear in both the representation and the equation?” Wait for evidence, invite another pathway, and have a student ask a follow-up question. Do not replace students’ reasoning with a sequence of leading steps.</a:t>
            </a:r>
          </a:p>
        </p:txBody>
      </p:sp>
      <p:sp>
        <p:nvSpPr>
          <p:cNvPr id="560" name="Google Shape;560;p1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p1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9.3, slide 16 | REVEAL</a:t>
            </a:r>
          </a:p>
          <a:p xmlns:a="http://schemas.openxmlformats.org/drawingml/2006/main">
            <a:pPr>
              <a:buNone/>
            </a:pPr>
            <a:r>
              <a:rPr lang="en-US" sz="1100"/>
              <a:t>Focus on the existing task: Reveal: The quantities are the number of months of membership and the total cost. The total cost depends on the number of months of membership. What are the quantities in the problem?</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define variables. Ask which feature of their work supports the claim.</a:t>
            </a:r>
          </a:p>
          <a:p xmlns:a="http://schemas.openxmlformats.org/drawingml/2006/main">
            <a:pPr>
              <a:buNone/>
            </a:pPr>
            <a:r>
              <a:rPr lang="en-US" sz="1100"/>
              <a:t>RESPOND: If this task shows the lesson misconception—assuming every relationship has the form y = kx without checking the starting value—compare successive values and the starting amount in the existing table or graph.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The quantities are the number of months of membership and the total cost. The total cost depends on the number of months of membership.</a:t>
            </a:r>
          </a:p>
          <a:p>
            <a:pPr indent="0" lvl="0" marL="0" rtl="0" algn="l">
              <a:lnSpc>
                <a:spcPct val="100000"/>
              </a:lnSpc>
              <a:spcBef>
                <a:spcPts val="0"/>
              </a:spcBef>
              <a:spcAft>
                <a:spcPts val="0"/>
              </a:spcAft>
              <a:buSzPts val="1400"/>
              <a:buNone/>
            </a:pPr>
            <a:r>
              <a:t>UIFR: TEACH 3 · TEACH 4.</a:t>
            </a:r>
          </a:p>
        </p:txBody>
      </p:sp>
      <p:sp>
        <p:nvSpPr>
          <p:cNvPr id="580" name="Google Shape;580;p1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1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9.3, slide 17 | TASK</a:t>
            </a:r>
          </a:p>
          <a:p xmlns:a="http://schemas.openxmlformats.org/drawingml/2006/main">
            <a:pPr>
              <a:buNone/>
            </a:pPr>
            <a:r>
              <a:rPr lang="en-US" sz="1100"/>
              <a:t>Focus on the existing task: The total cost depends on the number of months of membership. We can use a table of values to show the total cost for various numbers of…</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define variables. Ask which feature of their work supports the claim.</a:t>
            </a:r>
          </a:p>
          <a:p xmlns:a="http://schemas.openxmlformats.org/drawingml/2006/main">
            <a:pPr>
              <a:buNone/>
            </a:pPr>
            <a:r>
              <a:rPr lang="en-US" sz="1100"/>
              <a:t>RESPOND: If this task shows the lesson misconception—assuming every relationship has the form y = kx without checking the starting value—compare successive values and the starting amount in the existing table or graph.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591" name="Google Shape;591;p1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p2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9.3, slide 18 | REVEAL</a:t>
            </a:r>
          </a:p>
          <a:p xmlns:a="http://schemas.openxmlformats.org/drawingml/2006/main">
            <a:pPr>
              <a:buNone/>
            </a:pPr>
            <a:r>
              <a:rPr lang="en-US" sz="1100"/>
              <a:t>Focus on the existing task: The total cost depends on the number of months of membership. Reveal: It increases by $24.95 each month. What do you notice about the total cost?</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define variables. Ask which feature of their work supports the claim.</a:t>
            </a:r>
          </a:p>
          <a:p xmlns:a="http://schemas.openxmlformats.org/drawingml/2006/main">
            <a:pPr>
              <a:buNone/>
            </a:pPr>
            <a:r>
              <a:rPr lang="en-US" sz="1100"/>
              <a:t>RESPOND: If this task shows the lesson misconception—assuming every relationship has the form y = kx without checking the starting value—compare successive values and the starting amount in the existing table or graph.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It increases by $24.95 each month.</a:t>
            </a:r>
          </a:p>
          <a:p>
            <a:pPr indent="0" lvl="0" marL="0" rtl="0" algn="l">
              <a:lnSpc>
                <a:spcPct val="100000"/>
              </a:lnSpc>
              <a:spcBef>
                <a:spcPts val="0"/>
              </a:spcBef>
              <a:spcAft>
                <a:spcPts val="0"/>
              </a:spcAft>
              <a:buSzPts val="1400"/>
              <a:buNone/>
            </a:pPr>
            <a:r>
              <a:t>UIFR: TEACH 3 · TEACH 4.</a:t>
            </a:r>
          </a:p>
        </p:txBody>
      </p:sp>
      <p:sp>
        <p:nvSpPr>
          <p:cNvPr id="624" name="Google Shape;624;p2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p2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9.3, slide 19 | REVEAL</a:t>
            </a:r>
          </a:p>
          <a:p xmlns:a="http://schemas.openxmlformats.org/drawingml/2006/main">
            <a:pPr>
              <a:buNone/>
            </a:pPr>
            <a:r>
              <a:rPr lang="en-US" sz="1100"/>
              <a:t>Focus on the existing task: Reveal: We can use an equation. The total cost is the cost per month multiplied by the number of months. How can you represent the relationship algebraically?</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write and verify an equation. Ask which feature of their work supports the claim.</a:t>
            </a:r>
          </a:p>
          <a:p xmlns:a="http://schemas.openxmlformats.org/drawingml/2006/main">
            <a:pPr>
              <a:buNone/>
            </a:pPr>
            <a:r>
              <a:rPr lang="en-US" sz="1100"/>
              <a:t>RESPOND: If this task shows the lesson misconception—assuming every relationship has the form y = kx without checking the starting value—compare successive values and the starting amount in the existing table or graph.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can use an equation.</a:t>
            </a:r>
          </a:p>
          <a:p>
            <a:pPr indent="0" lvl="0" marL="0" rtl="0" algn="l">
              <a:lnSpc>
                <a:spcPct val="100000"/>
              </a:lnSpc>
              <a:spcBef>
                <a:spcPts val="0"/>
              </a:spcBef>
              <a:spcAft>
                <a:spcPts val="0"/>
              </a:spcAft>
              <a:buSzPts val="1400"/>
              <a:buNone/>
            </a:pPr>
            <a:r>
              <a:t>UIFR: TEACH 3 · TEACH 4.</a:t>
            </a:r>
          </a:p>
        </p:txBody>
      </p:sp>
      <p:sp>
        <p:nvSpPr>
          <p:cNvPr id="670" name="Google Shape;670;p2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p2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9.3, slide 20 | REVEAL</a:t>
            </a:r>
          </a:p>
          <a:p xmlns:a="http://schemas.openxmlformats.org/drawingml/2006/main">
            <a:pPr>
              <a:buNone/>
            </a:pPr>
            <a:r>
              <a:rPr lang="en-US" sz="1100"/>
              <a:t>Focus on the existing task: How can you represent these quantities?</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write and verify an equation. Ask which feature of their work supports the claim.</a:t>
            </a:r>
          </a:p>
          <a:p xmlns:a="http://schemas.openxmlformats.org/drawingml/2006/main">
            <a:pPr>
              <a:buNone/>
            </a:pPr>
            <a:r>
              <a:rPr lang="en-US" sz="1100"/>
              <a:t>RESPOND: If this task shows the lesson misconception—assuming every relationship has the form y = kx without checking the starting value—compare successive values and the starting amount in the existing table or graph.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The number of months and the total cost can change. We can represent them with variables.</a:t>
            </a:r>
          </a:p>
          <a:p>
            <a:pPr indent="0" lvl="0" marL="0" rtl="0" algn="l">
              <a:lnSpc>
                <a:spcPct val="100000"/>
              </a:lnSpc>
              <a:spcBef>
                <a:spcPts val="0"/>
              </a:spcBef>
              <a:spcAft>
                <a:spcPts val="0"/>
              </a:spcAft>
              <a:buSzPts val="1400"/>
              <a:buNone/>
            </a:pPr>
            <a:r>
              <a:t>UIFR: TEACH 3 · TEACH 4.</a:t>
            </a:r>
          </a:p>
        </p:txBody>
      </p:sp>
      <p:sp>
        <p:nvSpPr>
          <p:cNvPr id="691" name="Google Shape;691;p2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p33: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9.3, slide 21 | PRACTICE</a:t>
            </a:r>
          </a:p>
          <a:p xmlns:a="http://schemas.openxmlformats.org/drawingml/2006/main">
            <a:pPr>
              <a:buNone/>
            </a:pPr>
            <a:r>
              <a:rPr lang="en-US" sz="1100"/>
              <a:t>Focus on the existing task: Let’s Explore More What is the benefit of using a table of values or an equation to represent the number of months and total cost?</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write and verify an equation. Ask which feature of their work supports the claim.</a:t>
            </a:r>
          </a:p>
          <a:p xmlns:a="http://schemas.openxmlformats.org/drawingml/2006/main">
            <a:pPr>
              <a:buNone/>
            </a:pPr>
            <a:r>
              <a:rPr lang="en-US" sz="1100"/>
              <a:t>RESPOND: If this task shows the lesson misconception—assuming every relationship has the form y = kx without checking the starting value—compare successive values and the starting amount in the existing table or graph.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a:p>
            <a:pPr>
              <a:buNone/>
            </a:pPr>
            <a:r>
              <a:rPr lang="en-US" sz="1100"/>
              <a:t/>
            </a:r>
          </a:p>
          <a:p>
            <a:pPr>
              <a:buNone/>
            </a:pPr>
            <a:r>
              <a:rPr lang="en-US" sz="1100"/>
              <a:t>UIFR FULL | Lesson-specific facilitation</a:t>
            </a:r>
          </a:p>
          <a:p>
            <a:pPr>
              <a:buNone/>
            </a:pPr>
            <a:r>
              <a:rPr lang="en-US" sz="1100"/>
              <a:t>TEACH 4-5 | Session 1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assuming every relationship has the form y = kx without checking the starting value. If it appears, compare successive values and the starting amount in the existing table or graph; then ask the student to revise the same response and explain the change. If evidence is secure, have students compare a second valid pathway or state why their approach works. Choose the next step from the responses, not a preset pace.</a:t>
            </a:r>
          </a:p>
        </p:txBody>
      </p:sp>
      <p:sp>
        <p:nvSpPr>
          <p:cNvPr id="751" name="Google Shape;751;p3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p3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9.3, slide 29 | DIVIDER</a:t>
            </a:r>
          </a:p>
          <a:p xmlns:a="http://schemas.openxmlformats.org/drawingml/2006/main">
            <a:pPr>
              <a:buNone/>
            </a:pPr>
            <a:r>
              <a:rPr lang="en-US" sz="1100"/>
              <a:t>Focus on the existing task: Write Equations to Represent Relationships Between Two Variables Session 2</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772" name="Google Shape;772;p3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p3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9.3, slide 30 | TASK</a:t>
            </a:r>
          </a:p>
          <a:p xmlns:a="http://schemas.openxmlformats.org/drawingml/2006/main">
            <a:pPr>
              <a:buNone/>
            </a:pPr>
            <a:r>
              <a:rPr lang="en-US" sz="1100"/>
              <a:t>Focus on the existing task: Canoe Rental Some friends want to rent a canoe for a few hours. The sign shows the rental cost. How can the friends determine how much money they need to rent a canoe for any number of hours?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define variables. Ask which feature of their work supports the claim.</a:t>
            </a:r>
          </a:p>
          <a:p xmlns:a="http://schemas.openxmlformats.org/drawingml/2006/main">
            <a:pPr>
              <a:buNone/>
            </a:pPr>
            <a:r>
              <a:rPr lang="en-US" sz="1100"/>
              <a:t>RESPOND: If this task shows the lesson misconception—assuming every relationship has the form y = kx without checking the starting value—compare successive values and the starting amount in the existing table or graph.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a:p>
            <a:pPr>
              <a:buNone/>
            </a:pPr>
            <a:r>
              <a:rPr lang="en-US" sz="1100"/>
              <a:t/>
            </a:r>
          </a:p>
          <a:p>
            <a:pPr>
              <a:buNone/>
            </a:pPr>
            <a:r>
              <a:rPr lang="en-US" sz="1100"/>
              <a:t>UIFR FULL | Lesson-specific facilitation</a:t>
            </a:r>
          </a:p>
          <a:p>
            <a:pPr>
              <a:buNone/>
            </a:pPr>
            <a:r>
              <a:rPr lang="en-US" sz="1100"/>
              <a:t>TEACH 2-3 | Session 2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“How do the rate and any starting amount appear in both the representation and the equation?” Wait for evidence, invite another pathway, and have a student ask a follow-up question. Do not replace students’ reasoning with a sequence of leading steps.</a:t>
            </a:r>
          </a:p>
        </p:txBody>
      </p:sp>
      <p:sp>
        <p:nvSpPr>
          <p:cNvPr id="800" name="Google Shape;800;p3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1" name="Shape 831"/>
        <p:cNvGrpSpPr/>
        <p:nvPr/>
      </p:nvGrpSpPr>
      <p:grpSpPr>
        <a:xfrm>
          <a:off x="0" y="0"/>
          <a:ext cx="0" cy="0"/>
          <a:chOff x="0" y="0"/>
          <a:chExt cx="0" cy="0"/>
        </a:xfrm>
      </p:grpSpPr>
      <p:sp>
        <p:nvSpPr>
          <p:cNvPr id="832" name="Google Shape;832;p4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9.3, slide 31 | REVEAL</a:t>
            </a:r>
          </a:p>
          <a:p xmlns:a="http://schemas.openxmlformats.org/drawingml/2006/main">
            <a:pPr>
              <a:buNone/>
            </a:pPr>
            <a:r>
              <a:rPr lang="en-US" sz="1100"/>
              <a:t>Focus on the existing task: Canoe Rental Some friends want to rent a canoe for a few hours. The sign shows the rental costs. How can the friends determine how much money they need to rent a canoe for any number of hours?</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define variables. Ask which feature of their work supports the claim.</a:t>
            </a:r>
          </a:p>
          <a:p xmlns:a="http://schemas.openxmlformats.org/drawingml/2006/main">
            <a:pPr>
              <a:buNone/>
            </a:pPr>
            <a:r>
              <a:rPr lang="en-US" sz="1100"/>
              <a:t>RESPOND: If this task shows the lesson misconception—assuming every relationship has the form y = kx without checking the starting value—compare successive values and the starting amount in the existing table or graph.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The quantities are the time of the canoe rental, the independent variable, and the total cost of the rental, the dependent variable.</a:t>
            </a:r>
          </a:p>
          <a:p>
            <a:pPr indent="0" lvl="0" marL="0" rtl="0" algn="l">
              <a:lnSpc>
                <a:spcPct val="100000"/>
              </a:lnSpc>
              <a:spcBef>
                <a:spcPts val="0"/>
              </a:spcBef>
              <a:spcAft>
                <a:spcPts val="0"/>
              </a:spcAft>
              <a:buSzPts val="1400"/>
              <a:buNone/>
            </a:pPr>
            <a:r>
              <a:t>UIFR: TEACH 3 · TEACH 4.</a:t>
            </a:r>
          </a:p>
        </p:txBody>
      </p:sp>
      <p:sp>
        <p:nvSpPr>
          <p:cNvPr id="833" name="Google Shape;833;p4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 name="Shape 841"/>
        <p:cNvGrpSpPr/>
        <p:nvPr/>
      </p:nvGrpSpPr>
      <p:grpSpPr>
        <a:xfrm>
          <a:off x="0" y="0"/>
          <a:ext cx="0" cy="0"/>
          <a:chOff x="0" y="0"/>
          <a:chExt cx="0" cy="0"/>
        </a:xfrm>
      </p:grpSpPr>
      <p:sp>
        <p:nvSpPr>
          <p:cNvPr id="842" name="Google Shape;842;p4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9.3, slide 32 | WORKED</a:t>
            </a:r>
          </a:p>
          <a:p xmlns:a="http://schemas.openxmlformats.org/drawingml/2006/main">
            <a:pPr>
              <a:buNone/>
            </a:pPr>
            <a:r>
              <a:rPr lang="en-US" sz="1100"/>
              <a:t>Focus on the existing task: Canoe Rental Let’s graph the relationship between the two quantities. independent variable: hours of canoe rental dependent variable…</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define variables. Ask which feature of their work supports the claim.</a:t>
            </a:r>
          </a:p>
          <a:p xmlns:a="http://schemas.openxmlformats.org/drawingml/2006/main">
            <a:pPr>
              <a:buNone/>
            </a:pPr>
            <a:r>
              <a:rPr lang="en-US" sz="1100"/>
              <a:t>RESPOND: If this task shows the lesson misconception—assuming every relationship has the form y = kx without checking the starting value—compare successive values and the starting amount in the existing table or graph.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843" name="Google Shape;843;p4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p5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9.3, slide 33 | TASK</a:t>
            </a:r>
          </a:p>
          <a:p xmlns:a="http://schemas.openxmlformats.org/drawingml/2006/main">
            <a:pPr>
              <a:buNone/>
            </a:pPr>
            <a:r>
              <a:rPr lang="en-US" sz="1100"/>
              <a:t>Focus on the existing task: Canoe Rental How can you use the graph to determine the total cost for a given number of hours?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define variables. Ask which feature of their work supports the claim.</a:t>
            </a:r>
          </a:p>
          <a:p xmlns:a="http://schemas.openxmlformats.org/drawingml/2006/main">
            <a:pPr>
              <a:buNone/>
            </a:pPr>
            <a:r>
              <a:rPr lang="en-US" sz="1100"/>
              <a:t>RESPOND: If this task shows the lesson misconception—assuming every relationship has the form y = kx without checking the starting value—compare successive values and the starting amount in the existing table or graph.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950" name="Google Shape;950;p5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9" name="Shape 969"/>
        <p:cNvGrpSpPr/>
        <p:nvPr/>
      </p:nvGrpSpPr>
      <p:grpSpPr>
        <a:xfrm>
          <a:off x="0" y="0"/>
          <a:ext cx="0" cy="0"/>
          <a:chOff x="0" y="0"/>
          <a:chExt cx="0" cy="0"/>
        </a:xfrm>
      </p:grpSpPr>
      <p:sp>
        <p:nvSpPr>
          <p:cNvPr id="970" name="Google Shape;970;p5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9.3, slide 34 | REVEAL</a:t>
            </a:r>
          </a:p>
          <a:p xmlns:a="http://schemas.openxmlformats.org/drawingml/2006/main">
            <a:pPr>
              <a:buNone/>
            </a:pPr>
            <a:r>
              <a:rPr lang="en-US" sz="1100"/>
              <a:t>Focus on the existing task: Canoe Rental We can also use an equation to represent the relationship between hours rented and total cost. Reveal: The total cost…</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write and verify an equation. Ask which feature of their work supports the claim.</a:t>
            </a:r>
          </a:p>
          <a:p xmlns:a="http://schemas.openxmlformats.org/drawingml/2006/main">
            <a:pPr>
              <a:buNone/>
            </a:pPr>
            <a:r>
              <a:rPr lang="en-US" sz="1100"/>
              <a:t>RESPOND: If this task shows the lesson misconception—assuming every relationship has the form y = kx without checking the starting value—compare successive values and the starting amount in the existing table or graph.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The total cost equals the hourly rental cost, $15, times the number of hours of canoe rental.</a:t>
            </a:r>
          </a:p>
          <a:p>
            <a:pPr indent="0" lvl="0" marL="0" rtl="0" algn="l">
              <a:lnSpc>
                <a:spcPct val="100000"/>
              </a:lnSpc>
              <a:spcBef>
                <a:spcPts val="0"/>
              </a:spcBef>
              <a:spcAft>
                <a:spcPts val="0"/>
              </a:spcAft>
              <a:buSzPts val="1400"/>
              <a:buNone/>
            </a:pPr>
            <a:r>
              <a:t>UIFR: TEACH 3 · TEACH 4.</a:t>
            </a:r>
          </a:p>
        </p:txBody>
      </p:sp>
      <p:sp>
        <p:nvSpPr>
          <p:cNvPr id="971" name="Google Shape;971;p5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5" name="Shape 1045"/>
        <p:cNvGrpSpPr/>
        <p:nvPr/>
      </p:nvGrpSpPr>
      <p:grpSpPr>
        <a:xfrm>
          <a:off x="0" y="0"/>
          <a:ext cx="0" cy="0"/>
          <a:chOff x="0" y="0"/>
          <a:chExt cx="0" cy="0"/>
        </a:xfrm>
      </p:grpSpPr>
      <p:sp>
        <p:nvSpPr>
          <p:cNvPr id="1046" name="Google Shape;1046;p6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9.3, slide 35 | PRACTICE</a:t>
            </a:r>
          </a:p>
          <a:p xmlns:a="http://schemas.openxmlformats.org/drawingml/2006/main">
            <a:pPr>
              <a:buNone/>
            </a:pPr>
            <a:r>
              <a:rPr lang="en-US" sz="1100"/>
              <a:t>Focus on the existing task: Let’s Explore More Which representation do you find most helpful when representing the relationship between two variables: a table, a graph, or an equation?</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define variables. Ask which feature of their work supports the claim.</a:t>
            </a:r>
          </a:p>
          <a:p xmlns:a="http://schemas.openxmlformats.org/drawingml/2006/main">
            <a:pPr>
              <a:buNone/>
            </a:pPr>
            <a:r>
              <a:rPr lang="en-US" sz="1100"/>
              <a:t>RESPOND: If this task shows the lesson misconception—assuming every relationship has the form y = kx without checking the starting value—compare successive values and the starting amount in the existing table or graph.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a:p>
            <a:pPr>
              <a:buNone/>
            </a:pPr>
            <a:r>
              <a:rPr lang="en-US" sz="1100"/>
              <a:t/>
            </a:r>
          </a:p>
          <a:p>
            <a:pPr>
              <a:buNone/>
            </a:pPr>
            <a:r>
              <a:rPr lang="en-US" sz="1100"/>
              <a:t>UIFR FULL | Lesson-specific facilitation</a:t>
            </a:r>
          </a:p>
          <a:p>
            <a:pPr>
              <a:buNone/>
            </a:pPr>
            <a:r>
              <a:rPr lang="en-US" sz="1100"/>
              <a:t>TEACH 4-5 | Session 2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assuming every relationship has the form y = kx without checking the starting value. If it appears, compare successive values and the starting amount in the existing table or graph; then ask the student to revise the same response and explain the change. If evidence is secure, have students compare a second valid pathway or state why their approach works. Choose the next step from the responses, not a preset pace.</a:t>
            </a:r>
          </a:p>
        </p:txBody>
      </p:sp>
      <p:sp>
        <p:nvSpPr>
          <p:cNvPr id="1047" name="Google Shape;1047;p6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9" name="Shape 1059"/>
        <p:cNvGrpSpPr/>
        <p:nvPr/>
      </p:nvGrpSpPr>
      <p:grpSpPr>
        <a:xfrm>
          <a:off x="0" y="0"/>
          <a:ext cx="0" cy="0"/>
          <a:chOff x="0" y="0"/>
          <a:chExt cx="0" cy="0"/>
        </a:xfrm>
      </p:grpSpPr>
      <p:sp>
        <p:nvSpPr>
          <p:cNvPr id="1060" name="Google Shape;1060;p6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9.3, slide 38 | SUMMARIZE</a:t>
            </a:r>
          </a:p>
          <a:p xmlns:a="http://schemas.openxmlformats.org/drawingml/2006/main">
            <a:pPr>
              <a:buNone/>
            </a:pPr>
            <a:r>
              <a:rPr lang="en-US" sz="1100"/>
              <a:t>Focus on the existing task: Summarize: Write Equations to Represent Relationships Between Two Quantities You can write an equation to express the relationship…</a:t>
            </a:r>
          </a:p>
          <a:p xmlns:a="http://schemas.openxmlformats.org/drawingml/2006/main">
            <a:pPr>
              <a:buNone/>
            </a:pPr>
            <a:r>
              <a:rPr lang="en-US" sz="1100"/>
              <a:t>CONNECT (T1/4): Ask students to restate the displayed goal or key idea and connect it to earlier work. Relevant lesson evidence: define variables; identify rate and any initial amount; write and verify an equation.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SUMMARIZE  ·  SAY IT IN YOUR OWN WORDS</a:t>
            </a:r>
          </a:p>
        </p:txBody>
      </p:sp>
      <p:sp>
        <p:nvSpPr>
          <p:cNvPr id="1061" name="Google Shape;1061;p6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8" name="Shape 1068"/>
        <p:cNvGrpSpPr/>
        <p:nvPr/>
      </p:nvGrpSpPr>
      <p:grpSpPr>
        <a:xfrm>
          <a:off x="0" y="0"/>
          <a:ext cx="0" cy="0"/>
          <a:chOff x="0" y="0"/>
          <a:chExt cx="0" cy="0"/>
        </a:xfrm>
      </p:grpSpPr>
      <p:sp>
        <p:nvSpPr>
          <p:cNvPr id="1069" name="Google Shape;1069;p63: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9.3, slide 39 | APPLY</a:t>
            </a:r>
          </a:p>
          <a:p xmlns:a="http://schemas.openxmlformats.org/drawingml/2006/main">
            <a:pPr>
              <a:buNone/>
            </a:pPr>
            <a:r>
              <a:rPr lang="en-US" sz="1100"/>
              <a:t>Focus on the existing task: Apply: Music Downloads Diamond is considering using the online music service shown to purchase or stream songs. Question: Would you…</a:t>
            </a:r>
          </a:p>
          <a:p xmlns:a="http://schemas.openxmlformats.org/drawingml/2006/main">
            <a:pPr>
              <a:buNone/>
            </a:pPr>
            <a:r>
              <a:rPr lang="en-US" sz="1100"/>
              <a:t>LAUNCH (T2/3/5): Use the exact application task independently first. Ask students to justify their choice of method. Collect evidence before a partner discussion or correction.</a:t>
            </a:r>
          </a:p>
          <a:p xmlns:a="http://schemas.openxmlformats.org/drawingml/2006/main">
            <a:pPr>
              <a:buNone/>
            </a:pPr>
            <a:r>
              <a:rPr lang="en-US" sz="1100"/>
              <a:t>LOOK FOR (T4): Where this task addresses it, students can define variables. Ask which feature of their work supports the claim.</a:t>
            </a:r>
          </a:p>
          <a:p xmlns:a="http://schemas.openxmlformats.org/drawingml/2006/main">
            <a:pPr>
              <a:buNone/>
            </a:pPr>
            <a:r>
              <a:rPr lang="en-US" sz="1100"/>
              <a:t>RESPOND: If this task shows the lesson misconception—assuming every relationship has the form y = kx without checking the starting value—compare successive values and the starting amount in the existing table or graph.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APPLY  ·  PLAN IT • SOLVE IT • PROVE IT</a:t>
            </a:r>
          </a:p>
          <a:p>
            <a:pPr>
              <a:buNone/>
            </a:pPr>
            <a:r>
              <a:rPr lang="en-US" sz="1100"/>
              <a:t/>
            </a:r>
          </a:p>
          <a:p>
            <a:pPr>
              <a:buNone/>
            </a:pPr>
            <a:r>
              <a:rPr lang="en-US" sz="1100"/>
              <a:t>UIFR FULL | Lesson-specific facilitation</a:t>
            </a:r>
          </a:p>
          <a:p>
            <a:pPr>
              <a:buNone/>
            </a:pPr>
            <a:r>
              <a:rPr lang="en-US" sz="1100"/>
              <a:t>TEACH 4 | Independent evidence and revision (UIFR PDF p. 11).</a:t>
            </a:r>
          </a:p>
          <a:p>
            <a:pPr>
              <a:buNone/>
            </a:pPr>
            <a:r>
              <a:rPr lang="en-US" sz="1100"/>
              <a:t>Use the existing application/exit problem as the independent check. If this is a learning-target slide, have students point to and explain their work on the preceding task. Separate initial independent evidence from the revision after feedback.</a:t>
            </a:r>
          </a:p>
          <a:p>
            <a:pPr>
              <a:buNone/>
            </a:pPr>
            <a:r>
              <a:rPr lang="en-US" sz="1100"/>
              <a:t>Check the relevant criteria: define variables; identify rate and any initial amount; write and verify an equation. Respond with one specific next step tied to the work. Students revise and annotate what changed, then identify a criterion they can now demonstrate and one they still need to practice.</a:t>
            </a:r>
          </a:p>
        </p:txBody>
      </p:sp>
      <p:sp>
        <p:nvSpPr>
          <p:cNvPr id="1070" name="Google Shape;1070;p6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9.3, slide 27 | WARMUP</a:t>
            </a:r>
          </a:p>
          <a:p xmlns:a="http://schemas.openxmlformats.org/drawingml/2006/main">
            <a:pPr>
              <a:buNone/>
            </a:pPr>
            <a:r>
              <a:rPr lang="en-US" sz="1100"/>
              <a:t>Focus on the existing task: A y = x + 4 B y = 4x C x = 4y D y = x ÷ 4 2 In the equation d = 50t, what is the speed (unit rate)?</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Warm-up routine: students start silently on entry; keep it to about 4 minutes.</a:t>
            </a:r>
          </a:p>
          <a:p>
            <a:r>
              <a:t>Circulate and note who is stuck — use what you see to choose who you check on first today.</a:t>
            </a:r>
          </a:p>
          <a:p>
            <a:r>
              <a:t>Go over answers quickly; ask one student to explain a step, not just say the answer.</a:t>
            </a:r>
          </a:p>
          <a:p>
            <a:r>
              <a:t>UIFR: TEACH 4 · TEACH 6.</a:t>
            </a:r>
          </a:p>
          <a:p>
            <a:pPr>
              <a:buNone/>
            </a:pPr>
            <a:r>
              <a:rPr lang="en-US" sz="1100"/>
              <a:t/>
            </a:r>
          </a:p>
          <a:p>
            <a:pPr>
              <a:buNone/>
            </a:pPr>
            <a:r>
              <a:rPr lang="en-US" sz="1100"/>
              <a:t>UIFR FULL | Lesson-specific facilitation</a:t>
            </a:r>
          </a:p>
          <a:p>
            <a:pPr>
              <a:buNone/>
            </a:pPr>
            <a:r>
              <a:rPr lang="en-US" sz="1100"/>
              <a:t>TEACH 1 | Session 2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define variables; identify rate and any initial amount; write and verify an equation. Ask: “Which part of your work would show this?” Revisit that evidence after the task; a confidence rating alone is not evidence of understanding.</a:t>
            </a: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9.3, slide 28 | NOTES</a:t>
            </a:r>
          </a:p>
          <a:p xmlns:a="http://schemas.openxmlformats.org/drawingml/2006/main">
            <a:pPr>
              <a:buNone/>
            </a:pPr>
            <a:r>
              <a:rPr lang="en-US" sz="1100"/>
              <a:t>Focus on the existing task: Today’s Math Notes Review…</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Copy routine: read one line at a time; students copy, then explain that line to a partner.</a:t>
            </a:r>
          </a:p>
          <a:p>
            <a:r>
              <a:t>Keep it brisk — the understanding work happens in the examples, not the copying.</a:t>
            </a:r>
          </a:p>
          <a:p>
            <a:r>
              <a:t>UIFR: TEACH 1 · TEACH 6.</a:t>
            </a:r>
          </a:p>
        </p:txBody>
      </p:sp>
    </p:spTree>
  </p:cSld>
  <p:clrMapOvr>
    <a:masterClrMapping/>
  </p:clrMapOvr>
</p:notes>
</file>

<file path=ppt/notesSlides/notesSlide66.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9.3, slide 40 | REFLECTION</a:t>
            </a:r>
          </a:p>
          <a:p xmlns:a="http://schemas.openxmlformats.org/drawingml/2006/main">
            <a:pPr>
              <a:buNone/>
            </a:pPr>
            <a:r>
              <a:rPr lang="en-US" sz="1100"/>
              <a:t>Focus on the existing task: Learning Targets I can write an equation from a table to model the relationship between the dependent and independent variables. I can…</a:t>
            </a:r>
          </a:p>
          <a:p xmlns:a="http://schemas.openxmlformats.org/drawingml/2006/main">
            <a:pPr>
              <a:buNone/>
            </a:pPr>
            <a:r>
              <a:rPr lang="en-US" sz="1100"/>
              <a:t>CONNECT (T1/4): Ask students to restate the displayed goal or key idea and connect it to earlier work. Relevant lesson evidence: define variables; identify rate and any initial amount; write and verify an equation.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
            <a:pPr>
              <a:buNone/>
            </a:pPr>
            <a:r>
              <a:rPr lang="en-US" sz="1100"/>
              <a:t/>
            </a:r>
          </a:p>
          <a:p>
            <a:pPr>
              <a:buNone/>
            </a:pPr>
            <a:r>
              <a:rPr lang="en-US" sz="1100"/>
              <a:t>UIFR FULL | Lesson-specific facilitation</a:t>
            </a:r>
          </a:p>
          <a:p>
            <a:pPr>
              <a:buNone/>
            </a:pPr>
            <a:r>
              <a:rPr lang="en-US" sz="1100"/>
              <a:t>REFLECT &amp; ADJUST 1-2 | After the lesson (UIFR PDF pp. 15-16).</a:t>
            </a:r>
          </a:p>
          <a:p>
            <a:pPr>
              <a:buNone/>
            </a:pPr>
            <a:r>
              <a:rPr lang="en-US" sz="1100"/>
              <a:t>Sort the existing work by demonstrated reasoning, partial understanding, and the specific misconception: assuming every relationship has the form y = kx without checking the starting value. Compare the initial response with the revision. Record which teaching move plausibly helped, which did not, and whose participation or access needs a different approach; do not record sensitive student details in this shared deck.</a:t>
            </a:r>
          </a:p>
          <a:p>
            <a:pPr>
              <a:buNone/>
            </a:pPr>
            <a:r>
              <a:rPr lang="en-US" sz="1100"/>
              <a:t>Plan the next lesson from that evidence: if the misconception persists, compare successive values and the starting amount in the existing table or graph using the current example before returning to the next grade-level task; if understanding is secure, use an existing extension or ask for a general explanation. Check the targeted idea again at the next warm-up.</a:t>
            </a:r>
          </a:p>
          <a:p>
            <a:pPr>
              <a:buNone/>
            </a:pPr>
            <a:r>
              <a:rPr lang="en-US" sz="1100"/>
              <a:t>Ask students what supported their thinking and what would help next time. Identify one change to try and one successful practice to retain. Seek colleague feedback on anonymized work when useful; these prompts support reflection and do not establish an evaluation rating. Source: Baltimore City Public Schools, Updated Instructional Framework Rubric, June 2020 (UIFR_Full.pdf).</a:t>
            </a:r>
          </a:p>
        </p:txBody>
      </p:sp>
    </p:spTree>
  </p:cSld>
  <p:clrMapOvr>
    <a:masterClrMapping/>
  </p:clrMapOvr>
</p:notes>
</file>

<file path=ppt/notesSlides/notesSlide67.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9.3, slide 7 | PRIOR_INSERT</a:t>
            </a:r>
          </a:p>
          <a:p xmlns:a="http://schemas.openxmlformats.org/drawingml/2006/main">
            <a:pPr>
              <a:buNone/>
            </a:pPr>
            <a:r>
              <a:rPr lang="en-US" sz="1100"/>
              <a:t>Focus on the existing task: LESSON 9.3 / OUR LEARNING What will show your learning?</a:t>
            </a:r>
          </a:p>
          <a:p xmlns:a="http://schemas.openxmlformats.org/drawingml/2006/main">
            <a:pPr>
              <a:buNone/>
            </a:pPr>
            <a:r>
              <a:rPr lang="en-US" sz="1100"/>
              <a:t>CONNECT (T1/4): Ask students to restate the displayed goal or key idea and connect it to earlier work. Relevant lesson evidence: define variables; identify rate and any initial amount; write and verify an equation.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9.3, slide 8 | VOCAB</a:t>
            </a:r>
          </a:p>
          <a:p xmlns:a="http://schemas.openxmlformats.org/drawingml/2006/main">
            <a:pPr>
              <a:buNone/>
            </a:pPr>
            <a:r>
              <a:rPr lang="en-US" sz="1100"/>
              <a:t>Focus on the existing task: Vocabulary 1 of 5…</a:t>
            </a:r>
          </a:p>
          <a:p xmlns:a="http://schemas.openxmlformats.org/drawingml/2006/main">
            <a:pPr>
              <a:buNone/>
            </a:pPr>
            <a:r>
              <a:rPr lang="en-US" sz="1100"/>
              <a:t>ASK (T1/3/5): Where does “equation”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9.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9.3, slide 9 | VOCAB</a:t>
            </a:r>
          </a:p>
          <a:p xmlns:a="http://schemas.openxmlformats.org/drawingml/2006/main">
            <a:pPr>
              <a:buNone/>
            </a:pPr>
            <a:r>
              <a:rPr lang="en-US" sz="1100"/>
              <a:t>Focus on the existing task: Vocabulary 2 of 5…</a:t>
            </a:r>
          </a:p>
          <a:p xmlns:a="http://schemas.openxmlformats.org/drawingml/2006/main">
            <a:pPr>
              <a:buNone/>
            </a:pPr>
            <a:r>
              <a:rPr lang="en-US" sz="1100"/>
              <a:t>ASK (T1/3/5): Where does “variable”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0.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9.3, slide 10 | VOCAB</a:t>
            </a:r>
          </a:p>
          <a:p xmlns:a="http://schemas.openxmlformats.org/drawingml/2006/main">
            <a:pPr>
              <a:buNone/>
            </a:pPr>
            <a:r>
              <a:rPr lang="en-US" sz="1100"/>
              <a:t>Focus on the existing task: Vocabulary 3 of 5 rate A…</a:t>
            </a:r>
          </a:p>
          <a:p xmlns:a="http://schemas.openxmlformats.org/drawingml/2006/main">
            <a:pPr>
              <a:buNone/>
            </a:pPr>
            <a:r>
              <a:rPr lang="en-US" sz="1100"/>
              <a:t>ASK (T1/3/5): Where does “rate”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9.3, slide 11 | VOCAB</a:t>
            </a:r>
          </a:p>
          <a:p xmlns:a="http://schemas.openxmlformats.org/drawingml/2006/main">
            <a:pPr>
              <a:buNone/>
            </a:pPr>
            <a:r>
              <a:rPr lang="en-US" sz="1100"/>
              <a:t>Focus on the existing task: Vocabulary 4 of 5…</a:t>
            </a:r>
          </a:p>
          <a:p xmlns:a="http://schemas.openxmlformats.org/drawingml/2006/main">
            <a:pPr>
              <a:buNone/>
            </a:pPr>
            <a:r>
              <a:rPr lang="en-US" sz="1100"/>
              <a:t>ASK (T1/3/5): Where does “represent”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9.3, slide 12 | VOCAB</a:t>
            </a:r>
          </a:p>
          <a:p xmlns:a="http://schemas.openxmlformats.org/drawingml/2006/main">
            <a:pPr>
              <a:buNone/>
            </a:pPr>
            <a:r>
              <a:rPr lang="en-US" sz="1100"/>
              <a:t>Focus on the existing task: Vocabulary 5 of 5 define…</a:t>
            </a:r>
          </a:p>
          <a:p xmlns:a="http://schemas.openxmlformats.org/drawingml/2006/main">
            <a:pPr>
              <a:buNone/>
            </a:pPr>
            <a:r>
              <a:rPr lang="en-US" sz="1100"/>
              <a:t>ASK (T1/3/5): Where does “define the variables”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9.3, slide 22 | PRIOR_INSERT</a:t>
            </a:r>
          </a:p>
          <a:p xmlns:a="http://schemas.openxmlformats.org/drawingml/2006/main">
            <a:pPr>
              <a:buNone/>
            </a:pPr>
            <a:r>
              <a:rPr lang="en-US" sz="1100"/>
              <a:t>Focus on the existing task: Point to evidence in your work. Then compare your approach with a partner’s. TAKE TURNS Explain “I know this because…” Ask “Where does your work show that?</a:t>
            </a:r>
          </a:p>
          <a:p xmlns:a="http://schemas.openxmlformats.org/drawingml/2006/main">
            <a:pPr>
              <a:buNone/>
            </a:pPr>
            <a:r>
              <a:rPr lang="en-US" sz="1100"/>
              <a:t>CONNECT (T1/4): Ask students to restate the displayed goal or key idea and connect it to earlier work. Relevant lesson evidence: define variables; identify rate and any initial amount; write and verify an equation.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9.3, slide 23 | REVEAL</a:t>
            </a:r>
          </a:p>
          <a:p xmlns:a="http://schemas.openxmlformats.org/drawingml/2006/main">
            <a:pPr>
              <a:buNone/>
            </a:pPr>
            <a:r>
              <a:rPr lang="en-US" sz="1100"/>
              <a:t>Focus on the existing task: The total cost depends on the number of months of membership. Reveal: It increases by $24.95 each month. What do you notice about the total cost?</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define variables. Ask which feature of their work supports the claim.</a:t>
            </a:r>
          </a:p>
          <a:p xmlns:a="http://schemas.openxmlformats.org/drawingml/2006/main">
            <a:pPr>
              <a:buNone/>
            </a:pPr>
            <a:r>
              <a:rPr lang="en-US" sz="1100"/>
              <a:t>RESPOND: If this task shows the lesson misconception—assuming every relationship has the form y = kx without checking the starting value—compare successive values and the starting amount in the existing table or graph.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9.3, slide 24 | COLLABORATE</a:t>
            </a:r>
          </a:p>
          <a:p xmlns:a="http://schemas.openxmlformats.org/drawingml/2006/main">
            <a:pPr>
              <a:buNone/>
            </a:pPr>
            <a:r>
              <a:rPr lang="en-US" sz="1100"/>
              <a:t>Focus on the existing task: Collaborate and Connect Each month, the total cost increases by $24.95. Reveal: The total cost is the cost per month, $24.95, times…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define variables. Ask which feature of their work supports the claim.</a:t>
            </a:r>
          </a:p>
          <a:p xmlns:a="http://schemas.openxmlformats.org/drawingml/2006/main">
            <a:pPr>
              <a:buNone/>
            </a:pPr>
            <a:r>
              <a:rPr lang="en-US" sz="1100"/>
              <a:t>RESPOND: If this task shows the lesson misconception—assuming every relationship has the form y = kx without checking the starting value—compare successive values and the starting amount in the existing table or graph.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6.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9.3, slide 25 | REVEAL</a:t>
            </a:r>
          </a:p>
          <a:p xmlns:a="http://schemas.openxmlformats.org/drawingml/2006/main">
            <a:pPr>
              <a:buNone/>
            </a:pPr>
            <a:r>
              <a:rPr lang="en-US" sz="1100"/>
              <a:t>Focus on the existing task: How can you represent these quantities?</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write and verify an equation. Ask which feature of their work supports the claim.</a:t>
            </a:r>
          </a:p>
          <a:p xmlns:a="http://schemas.openxmlformats.org/drawingml/2006/main">
            <a:pPr>
              <a:buNone/>
            </a:pPr>
            <a:r>
              <a:rPr lang="en-US" sz="1100"/>
              <a:t>RESPOND: If this task shows the lesson misconception—assuming every relationship has the form y = kx without checking the starting value—compare successive values and the starting amount in the existing table or graph.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7.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9.3, slide 26 | CURIOUS</a:t>
            </a:r>
          </a:p>
          <a:p xmlns:a="http://schemas.openxmlformats.org/drawingml/2006/main">
            <a:pPr>
              <a:buNone/>
            </a:pPr>
            <a:r>
              <a:rPr lang="en-US" sz="1100"/>
              <a:t>Focus on the existing task: Be Curious What do you notice?</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define variables. Ask which feature of their work supports the claim.</a:t>
            </a:r>
          </a:p>
          <a:p xmlns:a="http://schemas.openxmlformats.org/drawingml/2006/main">
            <a:pPr>
              <a:buNone/>
            </a:pPr>
            <a:r>
              <a:rPr lang="en-US" sz="1100"/>
              <a:t>RESPOND: If this task shows the lesson misconception—assuming every relationship has the form y = kx without checking the starting value—compare successive values and the starting amount in the existing table or graph.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9.3, slide 36 | PRIOR_INSERT</a:t>
            </a:r>
          </a:p>
          <a:p xmlns:a="http://schemas.openxmlformats.org/drawingml/2006/main">
            <a:pPr>
              <a:buNone/>
            </a:pPr>
            <a:r>
              <a:rPr lang="en-US" sz="1100"/>
              <a:t>Focus on the existing task: LESSON 9.3 / CHECK YOUR WORK Pause. Check. Improve. Listen to understand. Ask for evidence. Make room for every voice. CHECK A mistake…</a:t>
            </a:r>
          </a:p>
          <a:p xmlns:a="http://schemas.openxmlformats.org/drawingml/2006/main">
            <a:pPr>
              <a:buNone/>
            </a:pPr>
            <a:r>
              <a:rPr lang="en-US" sz="1100"/>
              <a:t>CONNECT (T1/4): Ask students to restate the displayed goal or key idea and connect it to earlier work. Relevant lesson evidence: define variables; identify rate and any initial amount; write and verify an equation.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9.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9.3, slide 37 | REVEAL</a:t>
            </a:r>
          </a:p>
          <a:p xmlns:a="http://schemas.openxmlformats.org/drawingml/2006/main">
            <a:pPr>
              <a:buNone/>
            </a:pPr>
            <a:r>
              <a:rPr lang="en-US" sz="1100"/>
              <a:t>Focus on the existing task: Canoe Rental We can also use an equation to represent the relationship between hours rented and total cost. Reveal: The total cost…</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write and verify an equation. Ask which feature of their work supports the claim.</a:t>
            </a:r>
          </a:p>
          <a:p xmlns:a="http://schemas.openxmlformats.org/drawingml/2006/main">
            <a:pPr>
              <a:buNone/>
            </a:pPr>
            <a:r>
              <a:rPr lang="en-US" sz="1100"/>
              <a:t>RESPOND: If this task shows the lesson misconception—assuming every relationship has the form y = kx without checking the starting value—compare successive values and the starting amount in the existing table or graph.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0.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9.3, slide 41 | PRIOR_INSERT</a:t>
            </a:r>
          </a:p>
          <a:p xmlns:a="http://schemas.openxmlformats.org/drawingml/2006/main">
            <a:pPr>
              <a:buNone/>
            </a:pPr>
            <a:r>
              <a:rPr lang="en-US" sz="1100"/>
              <a:t>Focus on the existing task: LESSON 9.3 / REFLECT ON YOUR LEARNING Show your progress Listen to understand. Ask for evidence. Make room for every voice. 1 SHOW…</a:t>
            </a:r>
          </a:p>
          <a:p xmlns:a="http://schemas.openxmlformats.org/drawingml/2006/main">
            <a:pPr>
              <a:buNone/>
            </a:pPr>
            <a:r>
              <a:rPr lang="en-US" sz="1100"/>
              <a:t>CONNECT (T1/4): Ask students to restate the displayed goal or key idea and connect it to earlier work. Relevant lesson evidence: define variables; identify rate and any initial amount; write and verify an equation.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hoto">
  <p:cSld name="2_Title Slide Photo">
    <p:spTree>
      <p:nvGrpSpPr>
        <p:cNvPr id="15" name="Shape 15"/>
        <p:cNvGrpSpPr/>
        <p:nvPr/>
      </p:nvGrpSpPr>
      <p:grpSpPr>
        <a:xfrm>
          <a:off x="0" y="0"/>
          <a:ext cx="0" cy="0"/>
          <a:chOff x="0" y="0"/>
          <a:chExt cx="0" cy="0"/>
        </a:xfrm>
      </p:grpSpPr>
    </p:spTree>
  </p:cSld>
  <p:clrMapOvr>
    <a:masterClrMapping/>
  </p:clrMapOvr>
  <p:extLst>
    <p:ext uri="{DCECCB84-F9BA-43D5-87BE-67443E8EF086}">
      <p15:sldGuideLst>
        <p15:guide id="1" orient="horz" pos="9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column">
  <p:cSld name="Content 1-column">
    <p:spTree>
      <p:nvGrpSpPr>
        <p:cNvPr id="16" name="Shape 16"/>
        <p:cNvGrpSpPr/>
        <p:nvPr/>
      </p:nvGrpSpPr>
      <p:grpSpPr>
        <a:xfrm>
          <a:off x="0" y="0"/>
          <a:ext cx="0" cy="0"/>
          <a:chOff x="0" y="0"/>
          <a:chExt cx="0" cy="0"/>
        </a:xfrm>
      </p:grpSpPr>
      <p:sp>
        <p:nvSpPr>
          <p:cNvPr id="17" name="Google Shape;17;p3"/>
          <p:cNvSpPr txBox="1"/>
          <p:nvPr>
            <p:ph idx="12" type="sldNum"/>
          </p:nvPr>
        </p:nvSpPr>
        <p:spPr>
          <a:xfrm>
            <a:off x="10436045" y="6528815"/>
            <a:ext cx="1278151" cy="2286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8" name="Google Shape;18;p3"/>
          <p:cNvSpPr txBox="1"/>
          <p:nvPr/>
        </p:nvSpPr>
        <p:spPr>
          <a:xfrm>
            <a:off x="490549" y="6528816"/>
            <a:ext cx="2072640"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19" name="Google Shape;19;p3"/>
          <p:cNvSpPr txBox="1"/>
          <p:nvPr>
            <p:ph idx="11" type="ftr"/>
          </p:nvPr>
        </p:nvSpPr>
        <p:spPr>
          <a:xfrm>
            <a:off x="1402828" y="6528816"/>
            <a:ext cx="7315200" cy="2286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orient="horz" pos="3772">
          <p15:clr>
            <a:srgbClr val="FBAE40"/>
          </p15:clr>
        </p15:guide>
        <p15:guide id="2" orient="horz" pos="804">
          <p15:clr>
            <a:srgbClr val="FBAE40"/>
          </p15:clr>
        </p15:guide>
        <p15:guide id="3" pos="384">
          <p15:clr>
            <a:srgbClr val="FBAE40"/>
          </p15:clr>
        </p15:guide>
        <p15:guide id="4" pos="3940">
          <p15:clr>
            <a:srgbClr val="FBAE40"/>
          </p15:clr>
        </p15:guide>
        <p15:guide id="5" pos="40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6" name="Shape 26"/>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 name="Shape 27"/>
        <p:cNvGrpSpPr/>
        <p:nvPr/>
      </p:nvGrpSpPr>
      <p:grpSpPr>
        <a:xfrm>
          <a:off x="0" y="0"/>
          <a:ext cx="0" cy="0"/>
          <a:chOff x="0" y="0"/>
          <a:chExt cx="0" cy="0"/>
        </a:xfrm>
      </p:grpSpPr>
      <p:sp>
        <p:nvSpPr>
          <p:cNvPr id="28" name="Google Shape;28;p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9" name="Google Shape;29;p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0" name="Google Shape;30;p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1" name="Shape 31"/>
        <p:cNvGrpSpPr/>
        <p:nvPr/>
      </p:nvGrpSpPr>
      <p:grpSpPr>
        <a:xfrm>
          <a:off x="0" y="0"/>
          <a:ext cx="0" cy="0"/>
          <a:chOff x="0" y="0"/>
          <a:chExt cx="0" cy="0"/>
        </a:xfrm>
      </p:grpSpPr>
      <p:sp>
        <p:nvSpPr>
          <p:cNvPr id="32" name="Google Shape;32;p7"/>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3" name="Google Shape;33;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4" name="Google Shape;34;p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5" name="Google Shape;35;p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6" name="Google Shape;36;p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7" name="Shape 37"/>
        <p:cNvGrpSpPr/>
        <p:nvPr/>
      </p:nvGrpSpPr>
      <p:grpSpPr>
        <a:xfrm>
          <a:off x="0" y="0"/>
          <a:ext cx="0" cy="0"/>
          <a:chOff x="0" y="0"/>
          <a:chExt cx="0" cy="0"/>
        </a:xfrm>
      </p:grpSpPr>
      <p:sp>
        <p:nvSpPr>
          <p:cNvPr id="38" name="Google Shape;38;p8"/>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9" name="Google Shape;39;p8"/>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40" name="Google Shape;40;p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1" name="Google Shape;41;p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2" name="Google Shape;42;p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3" name="Shape 43"/>
        <p:cNvGrpSpPr/>
        <p:nvPr/>
      </p:nvGrpSpPr>
      <p:grpSpPr>
        <a:xfrm>
          <a:off x="0" y="0"/>
          <a:ext cx="0" cy="0"/>
          <a:chOff x="0" y="0"/>
          <a:chExt cx="0" cy="0"/>
        </a:xfrm>
      </p:grpSpPr>
      <p:sp>
        <p:nvSpPr>
          <p:cNvPr id="44" name="Google Shape;44;p9"/>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5" name="Google Shape;45;p9"/>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6" name="Google Shape;46;p9"/>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7" name="Google Shape;47;p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8" name="Google Shape;48;p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9" name="Google Shape;49;p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0" name="Shape 50"/>
        <p:cNvGrpSpPr/>
        <p:nvPr/>
      </p:nvGrpSpPr>
      <p:grpSpPr>
        <a:xfrm>
          <a:off x="0" y="0"/>
          <a:ext cx="0" cy="0"/>
          <a:chOff x="0" y="0"/>
          <a:chExt cx="0" cy="0"/>
        </a:xfrm>
      </p:grpSpPr>
      <p:sp>
        <p:nvSpPr>
          <p:cNvPr id="51" name="Google Shape;51;p10"/>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2" name="Google Shape;52;p10"/>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53" name="Google Shape;53;p10"/>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4" name="Google Shape;54;p10"/>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55" name="Google Shape;55;p10"/>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6" name="Google Shape;56;p1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7" name="Google Shape;57;p1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8" name="Google Shape;58;p1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9" name="Shape 59"/>
        <p:cNvGrpSpPr/>
        <p:nvPr/>
      </p:nvGrpSpPr>
      <p:grpSpPr>
        <a:xfrm>
          <a:off x="0" y="0"/>
          <a:ext cx="0" cy="0"/>
          <a:chOff x="0" y="0"/>
          <a:chExt cx="0" cy="0"/>
        </a:xfrm>
      </p:grpSpPr>
      <p:sp>
        <p:nvSpPr>
          <p:cNvPr id="60" name="Google Shape;60;p11"/>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1" name="Google Shape;61;p1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2" name="Google Shape;62;p1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3" name="Google Shape;63;p1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6" name="Google Shape;66;p1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7" name="Google Shape;67;p1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68" name="Google Shape;68;p1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9" name="Google Shape;69;p1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0" name="Google Shape;70;p1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1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3" name="Google Shape;73;p13"/>
          <p:cNvSpPr/>
          <p:nvPr>
            <p:ph idx="2" type="pic"/>
          </p:nvPr>
        </p:nvSpPr>
        <p:spPr>
          <a:xfrm>
            <a:off x="5183188" y="987425"/>
            <a:ext cx="6172200" cy="4873625"/>
          </a:xfrm>
          <a:prstGeom prst="rect">
            <a:avLst/>
          </a:prstGeom>
          <a:noFill/>
          <a:ln>
            <a:noFill/>
          </a:ln>
        </p:spPr>
      </p:sp>
      <p:sp>
        <p:nvSpPr>
          <p:cNvPr id="74" name="Google Shape;74;p1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75" name="Google Shape;75;p1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6" name="Google Shape;76;p1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7" name="Google Shape;77;p1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1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0" name="Google Shape;80;p1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1" name="Google Shape;81;p1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2" name="Google Shape;82;p1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3" name="Google Shape;83;p1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4" name="Shape 84"/>
        <p:cNvGrpSpPr/>
        <p:nvPr/>
      </p:nvGrpSpPr>
      <p:grpSpPr>
        <a:xfrm>
          <a:off x="0" y="0"/>
          <a:ext cx="0" cy="0"/>
          <a:chOff x="0" y="0"/>
          <a:chExt cx="0" cy="0"/>
        </a:xfrm>
      </p:grpSpPr>
      <p:sp>
        <p:nvSpPr>
          <p:cNvPr id="85" name="Google Shape;85;p15"/>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6" name="Google Shape;86;p1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7" name="Google Shape;87;p1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8" name="Google Shape;88;p1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9" name="Google Shape;89;p1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6" name="Shape 96"/>
        <p:cNvGrpSpPr/>
        <p:nvPr/>
      </p:nvGrpSpPr>
      <p:grpSpPr>
        <a:xfrm>
          <a:off x="0" y="0"/>
          <a:ext cx="0" cy="0"/>
          <a:chOff x="0" y="0"/>
          <a:chExt cx="0" cy="0"/>
        </a:xfrm>
      </p:grpSpPr>
      <p:sp>
        <p:nvSpPr>
          <p:cNvPr id="97" name="Google Shape;97;p1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8" name="Google Shape;98;p1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9" name="Google Shape;99;p1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00" name="Shape 100"/>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1" name="Shape 101"/>
        <p:cNvGrpSpPr/>
        <p:nvPr/>
      </p:nvGrpSpPr>
      <p:grpSpPr>
        <a:xfrm>
          <a:off x="0" y="0"/>
          <a:ext cx="0" cy="0"/>
          <a:chOff x="0" y="0"/>
          <a:chExt cx="0" cy="0"/>
        </a:xfrm>
      </p:grpSpPr>
      <p:sp>
        <p:nvSpPr>
          <p:cNvPr id="102" name="Google Shape;102;p19"/>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3" name="Google Shape;103;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4" name="Google Shape;104;p1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5" name="Google Shape;105;p1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6" name="Google Shape;106;p1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7" name="Shape 107"/>
        <p:cNvGrpSpPr/>
        <p:nvPr/>
      </p:nvGrpSpPr>
      <p:grpSpPr>
        <a:xfrm>
          <a:off x="0" y="0"/>
          <a:ext cx="0" cy="0"/>
          <a:chOff x="0" y="0"/>
          <a:chExt cx="0" cy="0"/>
        </a:xfrm>
      </p:grpSpPr>
      <p:sp>
        <p:nvSpPr>
          <p:cNvPr id="108" name="Google Shape;108;p2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9" name="Google Shape;109;p2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10" name="Google Shape;110;p2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1" name="Google Shape;111;p2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2" name="Google Shape;112;p2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3" name="Shape 113"/>
        <p:cNvGrpSpPr/>
        <p:nvPr/>
      </p:nvGrpSpPr>
      <p:grpSpPr>
        <a:xfrm>
          <a:off x="0" y="0"/>
          <a:ext cx="0" cy="0"/>
          <a:chOff x="0" y="0"/>
          <a:chExt cx="0" cy="0"/>
        </a:xfrm>
      </p:grpSpPr>
      <p:sp>
        <p:nvSpPr>
          <p:cNvPr id="114" name="Google Shape;114;p21"/>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5" name="Google Shape;115;p2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6" name="Google Shape;116;p2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7" name="Google Shape;117;p2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8" name="Google Shape;118;p2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9" name="Google Shape;119;p2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0" name="Shape 120"/>
        <p:cNvGrpSpPr/>
        <p:nvPr/>
      </p:nvGrpSpPr>
      <p:grpSpPr>
        <a:xfrm>
          <a:off x="0" y="0"/>
          <a:ext cx="0" cy="0"/>
          <a:chOff x="0" y="0"/>
          <a:chExt cx="0" cy="0"/>
        </a:xfrm>
      </p:grpSpPr>
      <p:sp>
        <p:nvSpPr>
          <p:cNvPr id="121" name="Google Shape;121;p22"/>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2" name="Google Shape;122;p2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3" name="Google Shape;123;p2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4" name="Google Shape;124;p2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5" name="Google Shape;125;p2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6" name="Google Shape;126;p2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7" name="Google Shape;127;p2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8" name="Google Shape;128;p2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9" name="Shape 129"/>
        <p:cNvGrpSpPr/>
        <p:nvPr/>
      </p:nvGrpSpPr>
      <p:grpSpPr>
        <a:xfrm>
          <a:off x="0" y="0"/>
          <a:ext cx="0" cy="0"/>
          <a:chOff x="0" y="0"/>
          <a:chExt cx="0" cy="0"/>
        </a:xfrm>
      </p:grpSpPr>
      <p:sp>
        <p:nvSpPr>
          <p:cNvPr id="130" name="Google Shape;130;p23"/>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1" name="Google Shape;131;p2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2" name="Google Shape;132;p2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3" name="Google Shape;133;p2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4" name="Shape 134"/>
        <p:cNvGrpSpPr/>
        <p:nvPr/>
      </p:nvGrpSpPr>
      <p:grpSpPr>
        <a:xfrm>
          <a:off x="0" y="0"/>
          <a:ext cx="0" cy="0"/>
          <a:chOff x="0" y="0"/>
          <a:chExt cx="0" cy="0"/>
        </a:xfrm>
      </p:grpSpPr>
      <p:sp>
        <p:nvSpPr>
          <p:cNvPr id="135" name="Google Shape;135;p2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6" name="Google Shape;136;p2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37" name="Google Shape;137;p2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38" name="Google Shape;138;p2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9" name="Google Shape;139;p2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0" name="Google Shape;140;p2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1" name="Shape 141"/>
        <p:cNvGrpSpPr/>
        <p:nvPr/>
      </p:nvGrpSpPr>
      <p:grpSpPr>
        <a:xfrm>
          <a:off x="0" y="0"/>
          <a:ext cx="0" cy="0"/>
          <a:chOff x="0" y="0"/>
          <a:chExt cx="0" cy="0"/>
        </a:xfrm>
      </p:grpSpPr>
      <p:sp>
        <p:nvSpPr>
          <p:cNvPr id="142" name="Google Shape;142;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3" name="Google Shape;143;p25"/>
          <p:cNvSpPr/>
          <p:nvPr>
            <p:ph idx="2" type="pic"/>
          </p:nvPr>
        </p:nvSpPr>
        <p:spPr>
          <a:xfrm>
            <a:off x="5183188" y="987425"/>
            <a:ext cx="6172200" cy="4873625"/>
          </a:xfrm>
          <a:prstGeom prst="rect">
            <a:avLst/>
          </a:prstGeom>
          <a:noFill/>
          <a:ln>
            <a:noFill/>
          </a:ln>
        </p:spPr>
      </p:sp>
      <p:sp>
        <p:nvSpPr>
          <p:cNvPr id="144" name="Google Shape;144;p2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45" name="Google Shape;145;p2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6" name="Google Shape;146;p2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7" name="Google Shape;147;p2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8" name="Shape 148"/>
        <p:cNvGrpSpPr/>
        <p:nvPr/>
      </p:nvGrpSpPr>
      <p:grpSpPr>
        <a:xfrm>
          <a:off x="0" y="0"/>
          <a:ext cx="0" cy="0"/>
          <a:chOff x="0" y="0"/>
          <a:chExt cx="0" cy="0"/>
        </a:xfrm>
      </p:grpSpPr>
      <p:sp>
        <p:nvSpPr>
          <p:cNvPr id="149" name="Google Shape;149;p2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0" name="Google Shape;150;p2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1" name="Google Shape;151;p2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2" name="Google Shape;152;p2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3" name="Google Shape;153;p2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4" name="Shape 154"/>
        <p:cNvGrpSpPr/>
        <p:nvPr/>
      </p:nvGrpSpPr>
      <p:grpSpPr>
        <a:xfrm>
          <a:off x="0" y="0"/>
          <a:ext cx="0" cy="0"/>
          <a:chOff x="0" y="0"/>
          <a:chExt cx="0" cy="0"/>
        </a:xfrm>
      </p:grpSpPr>
      <p:sp>
        <p:nvSpPr>
          <p:cNvPr id="155" name="Google Shape;155;p27"/>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6" name="Google Shape;156;p2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7" name="Google Shape;157;p2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8" name="Google Shape;158;p2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9" name="Google Shape;159;p2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65" name="Shape 165"/>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6" name="Shape 166"/>
        <p:cNvGrpSpPr/>
        <p:nvPr/>
      </p:nvGrpSpPr>
      <p:grpSpPr>
        <a:xfrm>
          <a:off x="0" y="0"/>
          <a:ext cx="0" cy="0"/>
          <a:chOff x="0" y="0"/>
          <a:chExt cx="0" cy="0"/>
        </a:xfrm>
      </p:grpSpPr>
      <p:sp>
        <p:nvSpPr>
          <p:cNvPr id="167" name="Google Shape;167;p3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68" name="Google Shape;168;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9" name="Google Shape;169;p3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0" name="Google Shape;170;p3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1" name="Google Shape;171;p3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2" name="Shape 172"/>
        <p:cNvGrpSpPr/>
        <p:nvPr/>
      </p:nvGrpSpPr>
      <p:grpSpPr>
        <a:xfrm>
          <a:off x="0" y="0"/>
          <a:ext cx="0" cy="0"/>
          <a:chOff x="0" y="0"/>
          <a:chExt cx="0" cy="0"/>
        </a:xfrm>
      </p:grpSpPr>
      <p:sp>
        <p:nvSpPr>
          <p:cNvPr id="173" name="Google Shape;173;p3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74" name="Google Shape;174;p3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75" name="Google Shape;175;p3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6" name="Google Shape;176;p3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7" name="Google Shape;177;p3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78" name="Shape 178"/>
        <p:cNvGrpSpPr/>
        <p:nvPr/>
      </p:nvGrpSpPr>
      <p:grpSpPr>
        <a:xfrm>
          <a:off x="0" y="0"/>
          <a:ext cx="0" cy="0"/>
          <a:chOff x="0" y="0"/>
          <a:chExt cx="0" cy="0"/>
        </a:xfrm>
      </p:grpSpPr>
      <p:sp>
        <p:nvSpPr>
          <p:cNvPr id="179" name="Google Shape;179;p32"/>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0" name="Google Shape;180;p3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1" name="Google Shape;181;p3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2" name="Google Shape;182;p3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3" name="Google Shape;183;p3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4" name="Google Shape;184;p3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85" name="Shape 185"/>
        <p:cNvGrpSpPr/>
        <p:nvPr/>
      </p:nvGrpSpPr>
      <p:grpSpPr>
        <a:xfrm>
          <a:off x="0" y="0"/>
          <a:ext cx="0" cy="0"/>
          <a:chOff x="0" y="0"/>
          <a:chExt cx="0" cy="0"/>
        </a:xfrm>
      </p:grpSpPr>
      <p:sp>
        <p:nvSpPr>
          <p:cNvPr id="186" name="Google Shape;186;p33"/>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7" name="Google Shape;187;p3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88" name="Google Shape;188;p3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9" name="Google Shape;189;p3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90" name="Google Shape;190;p3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1" name="Google Shape;191;p3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2" name="Google Shape;192;p3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3" name="Google Shape;193;p3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4" name="Shape 194"/>
        <p:cNvGrpSpPr/>
        <p:nvPr/>
      </p:nvGrpSpPr>
      <p:grpSpPr>
        <a:xfrm>
          <a:off x="0" y="0"/>
          <a:ext cx="0" cy="0"/>
          <a:chOff x="0" y="0"/>
          <a:chExt cx="0" cy="0"/>
        </a:xfrm>
      </p:grpSpPr>
      <p:sp>
        <p:nvSpPr>
          <p:cNvPr id="195" name="Google Shape;195;p3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96" name="Google Shape;196;p3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7" name="Google Shape;197;p3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8" name="Google Shape;198;p3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99" name="Shape 199"/>
        <p:cNvGrpSpPr/>
        <p:nvPr/>
      </p:nvGrpSpPr>
      <p:grpSpPr>
        <a:xfrm>
          <a:off x="0" y="0"/>
          <a:ext cx="0" cy="0"/>
          <a:chOff x="0" y="0"/>
          <a:chExt cx="0" cy="0"/>
        </a:xfrm>
      </p:grpSpPr>
      <p:sp>
        <p:nvSpPr>
          <p:cNvPr id="200" name="Google Shape;200;p3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1" name="Google Shape;201;p3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2" name="Google Shape;202;p3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03" name="Shape 203"/>
        <p:cNvGrpSpPr/>
        <p:nvPr/>
      </p:nvGrpSpPr>
      <p:grpSpPr>
        <a:xfrm>
          <a:off x="0" y="0"/>
          <a:ext cx="0" cy="0"/>
          <a:chOff x="0" y="0"/>
          <a:chExt cx="0" cy="0"/>
        </a:xfrm>
      </p:grpSpPr>
      <p:sp>
        <p:nvSpPr>
          <p:cNvPr id="204" name="Google Shape;204;p3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5" name="Google Shape;205;p3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06" name="Google Shape;206;p3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07" name="Google Shape;207;p3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8" name="Google Shape;208;p3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9" name="Google Shape;209;p3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10" name="Shape 210"/>
        <p:cNvGrpSpPr/>
        <p:nvPr/>
      </p:nvGrpSpPr>
      <p:grpSpPr>
        <a:xfrm>
          <a:off x="0" y="0"/>
          <a:ext cx="0" cy="0"/>
          <a:chOff x="0" y="0"/>
          <a:chExt cx="0" cy="0"/>
        </a:xfrm>
      </p:grpSpPr>
      <p:sp>
        <p:nvSpPr>
          <p:cNvPr id="211" name="Google Shape;211;p3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2" name="Google Shape;212;p37"/>
          <p:cNvSpPr/>
          <p:nvPr>
            <p:ph idx="2" type="pic"/>
          </p:nvPr>
        </p:nvSpPr>
        <p:spPr>
          <a:xfrm>
            <a:off x="5183188" y="987425"/>
            <a:ext cx="6172200" cy="4873625"/>
          </a:xfrm>
          <a:prstGeom prst="rect">
            <a:avLst/>
          </a:prstGeom>
          <a:noFill/>
          <a:ln>
            <a:noFill/>
          </a:ln>
        </p:spPr>
      </p:sp>
      <p:sp>
        <p:nvSpPr>
          <p:cNvPr id="213" name="Google Shape;213;p3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14" name="Google Shape;214;p3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5" name="Google Shape;215;p3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6" name="Google Shape;216;p3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17" name="Shape 217"/>
        <p:cNvGrpSpPr/>
        <p:nvPr/>
      </p:nvGrpSpPr>
      <p:grpSpPr>
        <a:xfrm>
          <a:off x="0" y="0"/>
          <a:ext cx="0" cy="0"/>
          <a:chOff x="0" y="0"/>
          <a:chExt cx="0" cy="0"/>
        </a:xfrm>
      </p:grpSpPr>
      <p:sp>
        <p:nvSpPr>
          <p:cNvPr id="218" name="Google Shape;218;p3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9" name="Google Shape;219;p3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0" name="Google Shape;220;p3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1" name="Google Shape;221;p3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2" name="Google Shape;222;p3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23" name="Shape 223"/>
        <p:cNvGrpSpPr/>
        <p:nvPr/>
      </p:nvGrpSpPr>
      <p:grpSpPr>
        <a:xfrm>
          <a:off x="0" y="0"/>
          <a:ext cx="0" cy="0"/>
          <a:chOff x="0" y="0"/>
          <a:chExt cx="0" cy="0"/>
        </a:xfrm>
      </p:grpSpPr>
      <p:sp>
        <p:nvSpPr>
          <p:cNvPr id="224" name="Google Shape;224;p39"/>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5" name="Google Shape;225;p3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6" name="Google Shape;226;p3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7" name="Google Shape;227;p3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8" name="Google Shape;228;p3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slideLayout" Target="../slideLayouts/slideLayout10.xml"/><Relationship Id="rId10" Type="http://schemas.openxmlformats.org/officeDocument/2006/relationships/slideLayout" Target="../slideLayouts/slideLayout11.xml"/><Relationship Id="rId11" Type="http://schemas.openxmlformats.org/officeDocument/2006/relationships/slideLayout" Target="../slideLayouts/slideLayout12.xml"/><Relationship Id="rId12" Type="http://schemas.openxmlformats.org/officeDocument/2006/relationships/slideLayout" Target="../slideLayouts/slideLayout13.xml"/><Relationship Id="rId13"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1"/>
          <p:cNvPicPr preferRelativeResize="0"/>
          <p:nvPr/>
        </p:nvPicPr>
        <p:blipFill rotWithShape="1">
          <a:blip r:embed="rId1">
            <a:alphaModFix/>
          </a:blip>
          <a:srcRect b="0" l="0" r="0" t="0"/>
          <a:stretch/>
        </p:blipFill>
        <p:spPr>
          <a:xfrm>
            <a:off x="2141884" y="0"/>
            <a:ext cx="10030237" cy="1640714"/>
          </a:xfrm>
          <a:prstGeom prst="rect">
            <a:avLst/>
          </a:prstGeom>
          <a:noFill/>
          <a:ln>
            <a:noFill/>
          </a:ln>
        </p:spPr>
      </p:pic>
      <p:sp>
        <p:nvSpPr>
          <p:cNvPr id="11" name="Google Shape;11;p1"/>
          <p:cNvSpPr txBox="1"/>
          <p:nvPr/>
        </p:nvSpPr>
        <p:spPr>
          <a:xfrm>
            <a:off x="1402828" y="6528816"/>
            <a:ext cx="627096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Copyright © McGraw Hill</a:t>
            </a:r>
            <a:endParaRPr b="0" i="0" sz="1400" u="none" cap="none" strike="noStrike">
              <a:solidFill>
                <a:srgbClr val="000000"/>
              </a:solidFill>
              <a:latin typeface="Arial"/>
              <a:ea typeface="Arial"/>
              <a:cs typeface="Arial"/>
              <a:sym typeface="Arial"/>
            </a:endParaRPr>
          </a:p>
        </p:txBody>
      </p:sp>
      <p:pic>
        <p:nvPicPr>
          <p:cNvPr id="12" name="Google Shape;12;p1"/>
          <p:cNvPicPr preferRelativeResize="0"/>
          <p:nvPr/>
        </p:nvPicPr>
        <p:blipFill rotWithShape="1">
          <a:blip r:embed="rId2">
            <a:alphaModFix/>
          </a:blip>
          <a:srcRect b="0" l="0" r="0" t="0"/>
          <a:stretch/>
        </p:blipFill>
        <p:spPr>
          <a:xfrm>
            <a:off x="1492908" y="5619163"/>
            <a:ext cx="654674" cy="654674"/>
          </a:xfrm>
          <a:prstGeom prst="rect">
            <a:avLst/>
          </a:prstGeom>
          <a:noFill/>
          <a:ln>
            <a:noFill/>
          </a:ln>
        </p:spPr>
      </p:pic>
      <p:cxnSp>
        <p:nvCxnSpPr>
          <p:cNvPr id="13" name="Google Shape;13;p1"/>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4" name="Google Shape;14;p1"/>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59">
          <p15:clr>
            <a:srgbClr val="F26B43"/>
          </p15:clr>
        </p15:guide>
        <p15:guide id="2" orient="horz" pos="360">
          <p15:clr>
            <a:srgbClr val="F26B43"/>
          </p15:clr>
        </p15:guide>
        <p15:guide id="3" pos="3840">
          <p15:clr>
            <a:srgbClr val="F26B43"/>
          </p15:clr>
        </p15:guide>
        <p15:guide id="4" pos="384">
          <p15:clr>
            <a:srgbClr val="F26B43"/>
          </p15:clr>
        </p15:guide>
        <p15:guide id="5" pos="7296">
          <p15:clr>
            <a:srgbClr val="F26B43"/>
          </p15:clr>
        </p15:guide>
        <p15:guide id="6" orient="horz" pos="4211">
          <p15:clr>
            <a:srgbClr val="F26B43"/>
          </p15:clr>
        </p15:guide>
        <p15:guide id="7" pos="1120">
          <p15:clr>
            <a:srgbClr val="F26B43"/>
          </p15:clr>
        </p15:guide>
        <p15:guide id="8" pos="93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 name="Shape 20"/>
        <p:cNvGrpSpPr/>
        <p:nvPr/>
      </p:nvGrpSpPr>
      <p:grpSpPr>
        <a:xfrm>
          <a:off x="0" y="0"/>
          <a:ext cx="0" cy="0"/>
          <a:chOff x="0" y="0"/>
          <a:chExt cx="0" cy="0"/>
        </a:xfrm>
      </p:grpSpPr>
      <p:cxnSp>
        <p:nvCxnSpPr>
          <p:cNvPr id="21" name="Google Shape;21;p4"/>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22" name="Google Shape;22;p4"/>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23" name="Google Shape;23;p4"/>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Write Equations to Represent Relationships Between Two Variables</a:t>
            </a:r>
            <a:endParaRPr b="0" i="0" sz="1400" u="none" cap="none" strike="noStrike">
              <a:solidFill>
                <a:srgbClr val="000000"/>
              </a:solidFill>
              <a:latin typeface="Arial"/>
              <a:ea typeface="Arial"/>
              <a:cs typeface="Arial"/>
              <a:sym typeface="Arial"/>
            </a:endParaRPr>
          </a:p>
        </p:txBody>
      </p:sp>
      <p:sp>
        <p:nvSpPr>
          <p:cNvPr id="24" name="Google Shape;24;p4"/>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25" name="Google Shape;25;p4"/>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0" name="Shape 90"/>
        <p:cNvGrpSpPr/>
        <p:nvPr/>
      </p:nvGrpSpPr>
      <p:grpSpPr>
        <a:xfrm>
          <a:off x="0" y="0"/>
          <a:ext cx="0" cy="0"/>
          <a:chOff x="0" y="0"/>
          <a:chExt cx="0" cy="0"/>
        </a:xfrm>
      </p:grpSpPr>
      <p:cxnSp>
        <p:nvCxnSpPr>
          <p:cNvPr id="91" name="Google Shape;91;p16"/>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92" name="Google Shape;92;p16"/>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93" name="Google Shape;93;p16"/>
          <p:cNvSpPr txBox="1"/>
          <p:nvPr/>
        </p:nvSpPr>
        <p:spPr>
          <a:xfrm>
            <a:off x="1401178"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Write Equations to Represent Relationships Between Two Variables</a:t>
            </a:r>
            <a:endParaRPr b="0" i="0" sz="1400" u="none" cap="none" strike="noStrike">
              <a:solidFill>
                <a:srgbClr val="000000"/>
              </a:solidFill>
              <a:latin typeface="Arial"/>
              <a:ea typeface="Arial"/>
              <a:cs typeface="Arial"/>
              <a:sym typeface="Arial"/>
            </a:endParaRPr>
          </a:p>
        </p:txBody>
      </p:sp>
      <p:sp>
        <p:nvSpPr>
          <p:cNvPr id="94" name="Google Shape;94;p16"/>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95" name="Google Shape;95;p16"/>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0" name="Shape 160"/>
        <p:cNvGrpSpPr/>
        <p:nvPr/>
      </p:nvGrpSpPr>
      <p:grpSpPr>
        <a:xfrm>
          <a:off x="0" y="0"/>
          <a:ext cx="0" cy="0"/>
          <a:chOff x="0" y="0"/>
          <a:chExt cx="0" cy="0"/>
        </a:xfrm>
      </p:grpSpPr>
      <p:cxnSp>
        <p:nvCxnSpPr>
          <p:cNvPr id="161" name="Google Shape;161;p28"/>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62" name="Google Shape;162;p28"/>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 xml:space="preserve">McGraw Hill   </a:t>
            </a:r>
            <a:endParaRPr b="0" i="0" sz="900" u="none" cap="none" strike="noStrike">
              <a:solidFill>
                <a:schemeClr val="dk2"/>
              </a:solidFill>
              <a:latin typeface="Arial"/>
              <a:ea typeface="Arial"/>
              <a:cs typeface="Arial"/>
              <a:sym typeface="Arial"/>
            </a:endParaRPr>
          </a:p>
        </p:txBody>
      </p:sp>
      <p:sp>
        <p:nvSpPr>
          <p:cNvPr id="163" name="Google Shape;163;p28"/>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164" name="Google Shape;164;p28"/>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7.png"/><Relationship Id="rId4" Type="http://schemas.openxmlformats.org/officeDocument/2006/relationships/image" Target="../media/image11.png"/><Relationship Id="rId5"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 Id="rId3" Type="http://schemas.openxmlformats.org/officeDocument/2006/relationships/notesSlide" Target="../notesSlides/notesSlide6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6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 Id="rId3" Type="http://schemas.openxmlformats.org/officeDocument/2006/relationships/notesSlide" Target="../notesSlides/notesSlide7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notesSlide" Target="../notesSlides/notesSlide7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7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9.jpg"/><Relationship Id="rId5" Type="http://schemas.openxmlformats.org/officeDocument/2006/relationships/image" Target="../media/image7.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 Id="rId3"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 Id="rId3" Type="http://schemas.openxmlformats.org/officeDocument/2006/relationships/image" Target="../media/image20.pn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 Id="rId3"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 Id="rId3"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 Id="rId3"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8.png"/><Relationship Id="rId3" Type="http://schemas.openxmlformats.org/officeDocument/2006/relationships/notesSlide" Target="../notesSlides/notesSlide7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 Id="rId3" Type="http://schemas.openxmlformats.org/officeDocument/2006/relationships/image" Target="../media/image18.png"/><Relationship Id="rId4" Type="http://schemas.openxmlformats.org/officeDocument/2006/relationships/notesSlide" Target="../notesSlides/notesSlide7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8.png"/><Relationship Id="rId3" Type="http://schemas.openxmlformats.org/officeDocument/2006/relationships/notesSlide" Target="../notesSlides/notesSlide7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notesSlide" Target="../notesSlides/notesSlide7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4.png"/><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2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31.png"/><Relationship Id="rId4" Type="http://schemas.openxmlformats.org/officeDocument/2006/relationships/image" Target="../media/image2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36.png"/><Relationship Id="rId4" Type="http://schemas.openxmlformats.org/officeDocument/2006/relationships/image" Target="../media/image47.png"/><Relationship Id="rId5" Type="http://schemas.openxmlformats.org/officeDocument/2006/relationships/image" Target="../media/image3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2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34.png"/><Relationship Id="rId4" Type="http://schemas.openxmlformats.org/officeDocument/2006/relationships/image" Target="../media/image4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9.png"/><Relationship Id="rId3" Type="http://schemas.openxmlformats.org/officeDocument/2006/relationships/notesSlide" Target="../notesSlides/notesSlide7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43.png"/><Relationship Id="rId4" Type="http://schemas.openxmlformats.org/officeDocument/2006/relationships/image" Target="../media/image3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4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2" name="TextBox 1"/>
          <p:cNvSpPr txBox="1"/>
          <p:nvPr/>
        </p:nvSpPr>
        <p:spPr>
          <a:xfrm>
            <a:off x="502920" y="310896"/>
            <a:ext cx="7315200" cy="502920"/>
          </a:xfrm>
          <a:prstGeom prst="rect">
            <a:avLst/>
          </a:prstGeom>
          <a:noFill/>
        </p:spPr>
        <p:txBody>
          <a:bodyPr wrap="square" lIns="0" tIns="0" rIns="0" bIns="0" anchor="t">
            <a:spAutoFit/>
          </a:bodyPr>
          <a:lstStyle/>
          <a:p>
            <a:pPr algn="l"/>
            <a:r>
              <a:rPr sz="2750" b="1">
                <a:solidFill>
                  <a:srgbClr val="782DA0"/>
                </a:solidFill>
                <a:latin typeface="Arial"/>
              </a:rPr>
              <a:t>Warm-Up</a:t>
            </a:r>
          </a:p>
        </p:txBody>
      </p:sp>
      <p:sp>
        <p:nvSpPr>
          <p:cNvPr id="263" name="TextBox 2"/>
          <p:cNvSpPr txBox="1"/>
          <p:nvPr/>
        </p:nvSpPr>
        <p:spPr>
          <a:xfrm>
            <a:off x="521207" y="877824"/>
            <a:ext cx="10881360" cy="274320"/>
          </a:xfrm>
          <a:prstGeom prst="rect">
            <a:avLst/>
          </a:prstGeom>
          <a:noFill/>
        </p:spPr>
        <p:txBody>
          <a:bodyPr wrap="square" lIns="0" tIns="0" rIns="0" bIns="0" anchor="t">
            <a:spAutoFit/>
          </a:bodyPr>
          <a:lstStyle/>
          <a:p>
            <a:pPr algn="l"/>
            <a:r>
              <a:rPr sz="1400" b="0">
                <a:solidFill>
                  <a:srgbClr val="5D6872"/>
                </a:solidFill>
                <a:latin typeface="Arial"/>
              </a:rPr>
              <a:t>Lesson 9-3 · Write Equations to Represent Relationships Between Two Variables   |   Warm-Up · about 4 minutes</a:t>
            </a:r>
          </a:p>
        </p:txBody>
      </p:sp>
      <p:sp>
        <p:nvSpPr>
          <p:cNvPr id="264"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WARM-UP</a:t>
            </a:r>
            <a:r>
              <a:rPr lang="en-US" sz="1150" b="1" dirty="0">
                <a:solidFill>
                  <a:srgbClr val="2D3A40"/>
                </a:solidFill>
                <a:latin typeface="Arial"/>
              </a:rPr>
              <a:t xml:space="preserve">  ·  THINK • TRY • CHECK</a:t>
            </a:r>
          </a:p>
        </p:txBody>
      </p:sp>
      <p:sp>
        <p:nvSpPr>
          <p:cNvPr id="265" name="TextBox 5"/>
          <p:cNvSpPr txBox="1"/>
          <p:nvPr/>
        </p:nvSpPr>
        <p:spPr>
          <a:xfrm>
            <a:off x="521207" y="1207008"/>
            <a:ext cx="10881360" cy="438912"/>
          </a:xfrm>
          <a:prstGeom prst="rect">
            <a:avLst/>
          </a:prstGeom>
          <a:noFill/>
        </p:spPr>
        <p:txBody>
          <a:bodyPr wrap="square" lIns="0" tIns="0" rIns="0" bIns="0" anchor="t">
            <a:spAutoFit/>
          </a:bodyPr>
          <a:lstStyle/>
          <a:p>
            <a:pPr algn="l"/>
            <a:r>
              <a:rPr sz="1600" b="0">
                <a:solidFill>
                  <a:srgbClr val="5D6872"/>
                </a:solidFill>
                <a:latin typeface="Arial"/>
              </a:rPr>
              <a:t>Try each on your own. Mark an unsure answer; explain and revise when we check.</a:t>
            </a:r>
          </a:p>
        </p:txBody>
      </p:sp>
      <p:sp>
        <p:nvSpPr>
          <p:cNvPr id="266" name="Rounded Rectangle 6"/>
          <p:cNvSpPr/>
          <p:nvPr/>
        </p:nvSpPr>
        <p:spPr>
          <a:xfrm>
            <a:off x="502920" y="1783080"/>
            <a:ext cx="5422392" cy="1572768"/>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7" name="Rectangle 7"/>
          <p:cNvSpPr/>
          <p:nvPr/>
        </p:nvSpPr>
        <p:spPr>
          <a:xfrm>
            <a:off x="502920" y="1783080"/>
            <a:ext cx="73152" cy="157276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 name="TextBox 8"/>
          <p:cNvSpPr txBox="1"/>
          <p:nvPr/>
        </p:nvSpPr>
        <p:spPr>
          <a:xfrm>
            <a:off x="667512" y="1892807"/>
            <a:ext cx="5129783" cy="228600"/>
          </a:xfrm>
          <a:prstGeom prst="rect">
            <a:avLst/>
          </a:prstGeom>
          <a:noFill/>
        </p:spPr>
        <p:txBody>
          <a:bodyPr wrap="square" lIns="0" tIns="0" rIns="0" bIns="0" anchor="t">
            <a:spAutoFit/>
          </a:bodyPr>
          <a:lstStyle/>
          <a:p>
            <a:pPr algn="l"/>
            <a:r>
              <a:rPr sz="1400" b="1">
                <a:solidFill>
                  <a:srgbClr val="01708C"/>
                </a:solidFill>
                <a:latin typeface="Arial"/>
              </a:rPr>
              <a:t>QUESTION 1</a:t>
            </a:r>
          </a:p>
        </p:txBody>
      </p:sp>
      <p:sp>
        <p:nvSpPr>
          <p:cNvPr id="269" name="TextBox 9"/>
          <p:cNvSpPr txBox="1"/>
          <p:nvPr/>
        </p:nvSpPr>
        <p:spPr>
          <a:xfrm>
            <a:off x="667512" y="2212848"/>
            <a:ext cx="5111496" cy="1051560"/>
          </a:xfrm>
          <a:prstGeom prst="rect">
            <a:avLst/>
          </a:prstGeom>
          <a:noFill/>
        </p:spPr>
        <p:txBody>
          <a:bodyPr wrap="square" lIns="0" tIns="0" rIns="0" bIns="0" anchor="t">
            <a:spAutoFit/>
          </a:bodyPr>
          <a:lstStyle/>
          <a:p>
            <a:pPr algn="l"/>
            <a:r>
              <a:rPr sz="1800" b="1">
                <a:solidFill>
                  <a:srgbClr val="23282D"/>
                </a:solidFill>
                <a:latin typeface="Arial"/>
              </a:rPr>
              <a:t>3 books cost $12. One book costs $______</a:t>
            </a:r>
          </a:p>
        </p:txBody>
      </p:sp>
      <p:sp>
        <p:nvSpPr>
          <p:cNvPr id="270" name="Rounded Rectangle 10"/>
          <p:cNvSpPr/>
          <p:nvPr/>
        </p:nvSpPr>
        <p:spPr>
          <a:xfrm>
            <a:off x="6181344" y="1783080"/>
            <a:ext cx="5413248" cy="1572768"/>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1" name="Rectangle 11"/>
          <p:cNvSpPr/>
          <p:nvPr/>
        </p:nvSpPr>
        <p:spPr>
          <a:xfrm>
            <a:off x="6181344" y="1783080"/>
            <a:ext cx="73152" cy="1572768"/>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 name="TextBox 12"/>
          <p:cNvSpPr txBox="1"/>
          <p:nvPr/>
        </p:nvSpPr>
        <p:spPr>
          <a:xfrm>
            <a:off x="6345936" y="1892807"/>
            <a:ext cx="5120640" cy="228600"/>
          </a:xfrm>
          <a:prstGeom prst="rect">
            <a:avLst/>
          </a:prstGeom>
          <a:noFill/>
        </p:spPr>
        <p:txBody>
          <a:bodyPr wrap="square" lIns="0" tIns="0" rIns="0" bIns="0" anchor="t">
            <a:spAutoFit/>
          </a:bodyPr>
          <a:lstStyle/>
          <a:p>
            <a:pPr algn="l"/>
            <a:r>
              <a:rPr sz="1400" b="1">
                <a:solidFill>
                  <a:srgbClr val="C8430E"/>
                </a:solidFill>
                <a:latin typeface="Arial"/>
              </a:rPr>
              <a:t>QUESTION 2</a:t>
            </a:r>
          </a:p>
        </p:txBody>
      </p:sp>
      <p:sp>
        <p:nvSpPr>
          <p:cNvPr id="273" name="TextBox 13"/>
          <p:cNvSpPr txBox="1"/>
          <p:nvPr/>
        </p:nvSpPr>
        <p:spPr>
          <a:xfrm>
            <a:off x="6345936" y="2212848"/>
            <a:ext cx="5102352" cy="1051560"/>
          </a:xfrm>
          <a:prstGeom prst="rect">
            <a:avLst/>
          </a:prstGeom>
          <a:noFill/>
        </p:spPr>
        <p:txBody>
          <a:bodyPr wrap="square" lIns="0" tIns="0" rIns="0" bIns="0" anchor="t">
            <a:spAutoFit/>
          </a:bodyPr>
          <a:lstStyle/>
          <a:p>
            <a:pPr algn="l"/>
            <a:r>
              <a:rPr sz="1800" b="1">
                <a:solidFill>
                  <a:srgbClr val="23282D"/>
                </a:solidFill>
                <a:latin typeface="Arial"/>
              </a:rPr>
              <a:t>A table row is x = 4, y = 20. y ÷ x = ______</a:t>
            </a:r>
          </a:p>
        </p:txBody>
      </p:sp>
      <p:sp>
        <p:nvSpPr>
          <p:cNvPr id="274" name="Rounded Rectangle 14"/>
          <p:cNvSpPr/>
          <p:nvPr/>
        </p:nvSpPr>
        <p:spPr>
          <a:xfrm>
            <a:off x="502920" y="3593592"/>
            <a:ext cx="5422392" cy="166420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5" name="Rectangle 15"/>
          <p:cNvSpPr/>
          <p:nvPr/>
        </p:nvSpPr>
        <p:spPr>
          <a:xfrm>
            <a:off x="502920" y="3593592"/>
            <a:ext cx="73152" cy="16642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 name="TextBox 16"/>
          <p:cNvSpPr txBox="1"/>
          <p:nvPr/>
        </p:nvSpPr>
        <p:spPr>
          <a:xfrm>
            <a:off x="667512" y="3703320"/>
            <a:ext cx="5129783" cy="228600"/>
          </a:xfrm>
          <a:prstGeom prst="rect">
            <a:avLst/>
          </a:prstGeom>
          <a:noFill/>
        </p:spPr>
        <p:txBody>
          <a:bodyPr wrap="square" lIns="0" tIns="0" rIns="0" bIns="0" anchor="t">
            <a:spAutoFit/>
          </a:bodyPr>
          <a:lstStyle/>
          <a:p>
            <a:pPr algn="l"/>
            <a:r>
              <a:rPr sz="1400" b="1">
                <a:solidFill>
                  <a:srgbClr val="0070C0"/>
                </a:solidFill>
                <a:latin typeface="Arial"/>
              </a:rPr>
              <a:t>QUESTION 3</a:t>
            </a:r>
          </a:p>
        </p:txBody>
      </p:sp>
      <p:sp>
        <p:nvSpPr>
          <p:cNvPr id="277" name="TextBox 17"/>
          <p:cNvSpPr txBox="1"/>
          <p:nvPr/>
        </p:nvSpPr>
        <p:spPr>
          <a:xfrm>
            <a:off x="667512" y="4023360"/>
            <a:ext cx="5111496" cy="1143000"/>
          </a:xfrm>
          <a:prstGeom prst="rect">
            <a:avLst/>
          </a:prstGeom>
          <a:noFill/>
        </p:spPr>
        <p:txBody>
          <a:bodyPr wrap="square" lIns="0" tIns="0" rIns="0" bIns="0" anchor="t">
            <a:spAutoFit/>
          </a:bodyPr>
          <a:lstStyle/>
          <a:p>
            <a:pPr algn="l"/>
            <a:r>
              <a:rPr sz="1800" b="1">
                <a:solidFill>
                  <a:srgbClr val="23282D"/>
                </a:solidFill>
                <a:latin typeface="Arial"/>
              </a:rPr>
              <a:t>5 times a number n is ______</a:t>
            </a:r>
          </a:p>
        </p:txBody>
      </p:sp>
      <p:sp>
        <p:nvSpPr>
          <p:cNvPr id="278" name="Rounded Rectangle 18"/>
          <p:cNvSpPr/>
          <p:nvPr/>
        </p:nvSpPr>
        <p:spPr>
          <a:xfrm>
            <a:off x="6181344" y="3593592"/>
            <a:ext cx="5413248" cy="166420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9" name="Rectangle 19"/>
          <p:cNvSpPr/>
          <p:nvPr/>
        </p:nvSpPr>
        <p:spPr>
          <a:xfrm>
            <a:off x="6181344" y="3593592"/>
            <a:ext cx="73152" cy="166420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0" name="TextBox 20"/>
          <p:cNvSpPr txBox="1"/>
          <p:nvPr/>
        </p:nvSpPr>
        <p:spPr>
          <a:xfrm>
            <a:off x="6345936" y="3703320"/>
            <a:ext cx="5120640" cy="228600"/>
          </a:xfrm>
          <a:prstGeom prst="rect">
            <a:avLst/>
          </a:prstGeom>
          <a:noFill/>
        </p:spPr>
        <p:txBody>
          <a:bodyPr wrap="square" lIns="0" tIns="0" rIns="0" bIns="0" anchor="t">
            <a:spAutoFit/>
          </a:bodyPr>
          <a:lstStyle/>
          <a:p>
            <a:pPr algn="l"/>
            <a:r>
              <a:rPr sz="1400" b="1">
                <a:solidFill>
                  <a:srgbClr val="008A62"/>
                </a:solidFill>
                <a:latin typeface="Arial"/>
              </a:rPr>
              <a:t>QUESTION 4</a:t>
            </a:r>
          </a:p>
        </p:txBody>
      </p:sp>
      <p:sp>
        <p:nvSpPr>
          <p:cNvPr id="281" name="TextBox 21"/>
          <p:cNvSpPr txBox="1"/>
          <p:nvPr/>
        </p:nvSpPr>
        <p:spPr>
          <a:xfrm>
            <a:off x="6345936" y="4023360"/>
            <a:ext cx="5102352" cy="1143000"/>
          </a:xfrm>
          <a:prstGeom prst="rect">
            <a:avLst/>
          </a:prstGeom>
          <a:noFill/>
        </p:spPr>
        <p:txBody>
          <a:bodyPr wrap="square" lIns="0" tIns="0" rIns="0" bIns="0" anchor="t">
            <a:spAutoFit/>
          </a:bodyPr>
          <a:lstStyle/>
          <a:p>
            <a:pPr algn="l"/>
            <a:r>
              <a:rPr sz="1800" b="1">
                <a:solidFill>
                  <a:srgbClr val="23282D"/>
                </a:solidFill>
                <a:latin typeface="Arial"/>
              </a:rPr>
              <a:t>Does x = 3, y = 12 fit y = 4x? ______</a:t>
            </a:r>
          </a:p>
        </p:txBody>
      </p:sp>
      <p:sp>
        <p:nvSpPr>
          <p:cNvPr id="282" name="Rounded Rectangle 22"/>
          <p:cNvSpPr/>
          <p:nvPr/>
        </p:nvSpPr>
        <p:spPr>
          <a:xfrm>
            <a:off x="502920" y="5532120"/>
            <a:ext cx="11091672" cy="502920"/>
          </a:xfrm>
          <a:prstGeom prst="roundRect">
            <a:avLst/>
          </a:prstGeom>
          <a:solidFill>
            <a:srgbClr val="FCFCFD"/>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E2682"/>
                </a:solidFill>
                <a:latin typeface="Arial"/>
              </a:rPr>
              <a:t>TALK IT OVER:  “I got ______ because ______.”   •   Compare with a partner before we check as a class.</a:t>
            </a:r>
          </a:p>
        </p:txBody>
      </p:sp>
      <p:sp>
        <p:nvSpPr>
          <p:cNvPr id="283"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Turn and talk: compare strategies, then defend one.</a:t>
            </a:r>
          </a:p>
        </p:txBody>
      </p:sp>
      <p:sp>
        <p:nvSpPr>
          <p:cNvPr id="28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 / 49</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51"/>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2" name="Google Shape;482;p51"/>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3" name="Google Shape;483;p51"/>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484" name="Google Shape;484;p51"/>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9-3 · Write Equations to Represent Relationships Between Two Variables</a:t>
            </a:r>
            <a:endParaRPr/>
          </a:p>
        </p:txBody>
      </p:sp>
      <p:sp>
        <p:nvSpPr>
          <p:cNvPr id="485" name="Google Shape;485;p51"/>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6" name="Google Shape;486;p51"/>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487" name="Google Shape;487;p51"/>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Section 1: Math Words</a:t>
            </a:r>
            <a:endParaRPr/>
          </a:p>
        </p:txBody>
      </p:sp>
      <p:sp>
        <p:nvSpPr>
          <p:cNvPr id="488" name="Google Shape;488;p51"/>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9" name="Google Shape;489;p51"/>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490" name="Google Shape;490;p51"/>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1" name="Google Shape;491;p51"/>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2" name="Google Shape;492;p51"/>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493" name="Google Shape;493;p51"/>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equation</a:t>
            </a:r>
            <a:endParaRPr/>
          </a:p>
        </p:txBody>
      </p:sp>
      <p:sp>
        <p:nvSpPr>
          <p:cNvPr id="494" name="Google Shape;494;p51"/>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A mathematical sentence with an equals sign</a:t>
            </a:r>
            <a:endParaRPr/>
          </a:p>
        </p:txBody>
      </p:sp>
      <p:sp>
        <p:nvSpPr>
          <p:cNvPr id="495" name="Google Shape;495;p51"/>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6" name="Google Shape;496;p51"/>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7" name="Google Shape;497;p51"/>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498" name="Google Shape;498;p51"/>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variable</a:t>
            </a:r>
            <a:endParaRPr/>
          </a:p>
        </p:txBody>
      </p:sp>
      <p:sp>
        <p:nvSpPr>
          <p:cNvPr id="499" name="Google Shape;499;p51"/>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A letter that represents a quantity that can change, or vary</a:t>
            </a:r>
            <a:endParaRPr/>
          </a:p>
        </p:txBody>
      </p:sp>
      <p:sp>
        <p:nvSpPr>
          <p:cNvPr id="500" name="Google Shape;500;p51"/>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1" name="Google Shape;501;p51"/>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2" name="Google Shape;502;p51"/>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03" name="Google Shape;503;p51"/>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rate</a:t>
            </a:r>
            <a:endParaRPr/>
          </a:p>
        </p:txBody>
      </p:sp>
      <p:sp>
        <p:nvSpPr>
          <p:cNvPr id="504" name="Google Shape;504;p51"/>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A fixed amount of one quantity for every one unit</a:t>
            </a:r>
            <a:endParaRPr/>
          </a:p>
        </p:txBody>
      </p:sp>
      <p:sp>
        <p:nvSpPr>
          <p:cNvPr id="50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 / 49</a:t>
            </a:r>
          </a:p>
        </p:txBody>
      </p:sp>
      <p:grpSp>
        <p:nvGrpSpPr>
          <p:cNvPr id="506" name="TEACH-1-student-move" descr="TEACH 1 · Facilitate clear, standards-based content learning"/>
          <p:cNvGrpSpPr/>
          <p:nvPr/>
        </p:nvGrpSpPr>
        <p:grpSpPr>
          <a:xfrm>
            <a:off x="6187440" y="1682496"/>
            <a:ext cx="5501640" cy="594360"/>
            <a:chOff x="6187440" y="1682496"/>
            <a:chExt cx="5501640" cy="594360"/>
          </a:xfrm>
        </p:grpSpPr>
        <p:sp>
          <p:nvSpPr>
            <p:cNvPr id="507"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08"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09"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SAY THE GOAL  ·  </a:t>
              </a:r>
              <a:r>
                <a:rPr lang="en-US" sz="1200" dirty="0">
                  <a:solidFill>
                    <a:srgbClr val="13303A"/>
                  </a:solidFill>
                  <a:latin typeface="Arial"/>
                </a:rPr>
                <a:t>Say today’s goal in your own words, then name one place this shows up outside math class.</a:t>
              </a:r>
              <a:endParaRPr lang="en-US" sz="1200"/>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52"/>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0" name="Google Shape;510;p52"/>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1" name="Google Shape;511;p52"/>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512" name="Google Shape;512;p52"/>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9-3 · Write Equations to Represent Relationships Between Two Variables</a:t>
            </a:r>
            <a:endParaRPr/>
          </a:p>
        </p:txBody>
      </p:sp>
      <p:sp>
        <p:nvSpPr>
          <p:cNvPr id="513" name="Google Shape;513;p52"/>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4" name="Google Shape;514;p52"/>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15" name="Google Shape;515;p52"/>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Section 2: Today’s Math</a:t>
            </a:r>
            <a:endParaRPr/>
          </a:p>
        </p:txBody>
      </p:sp>
      <p:sp>
        <p:nvSpPr>
          <p:cNvPr id="516" name="Google Shape;516;p52"/>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7" name="Google Shape;517;p52"/>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18" name="Google Shape;518;p52"/>
          <p:cNvSpPr/>
          <p:nvPr/>
        </p:nvSpPr>
        <p:spPr>
          <a:xfrm>
            <a:off x="640080" y="2231136"/>
            <a:ext cx="10911809" cy="749808"/>
          </a:xfrm>
          <a:prstGeom prst="roundRect">
            <a:avLst>
              <a:gd fmla="val 70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9" name="Google Shape;519;p52"/>
          <p:cNvSpPr txBox="1"/>
          <p:nvPr/>
        </p:nvSpPr>
        <p:spPr>
          <a:xfrm>
            <a:off x="960120" y="2359152"/>
            <a:ext cx="10271729" cy="493775"/>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1" i="0" lang="en-US" sz="2700" u="none" cap="none" strike="noStrike">
                <a:solidFill>
                  <a:srgbClr val="14223A"/>
                </a:solidFill>
                <a:latin typeface="Arial"/>
                <a:ea typeface="Arial"/>
                <a:cs typeface="Arial"/>
                <a:sym typeface="Arial"/>
              </a:rPr>
              <a:t>Writing Two-Variable Equations</a:t>
            </a:r>
            <a:endParaRPr/>
          </a:p>
        </p:txBody>
      </p:sp>
      <p:sp>
        <p:nvSpPr>
          <p:cNvPr id="520" name="Google Shape;520;p52"/>
          <p:cNvSpPr/>
          <p:nvPr/>
        </p:nvSpPr>
        <p:spPr>
          <a:xfrm>
            <a:off x="640080" y="3182112"/>
            <a:ext cx="3749039" cy="603504"/>
          </a:xfrm>
          <a:prstGeom prst="roundRect">
            <a:avLst>
              <a:gd fmla="val 12000" name="adj"/>
            </a:avLst>
          </a:prstGeom>
          <a:solidFill>
            <a:srgbClr val="FFFFFF"/>
          </a:solidFill>
          <a:ln cap="flat" cmpd="sng" w="15875">
            <a:solidFill>
              <a:srgbClr val="C241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1" name="Google Shape;521;p52"/>
          <p:cNvSpPr txBox="1"/>
          <p:nvPr/>
        </p:nvSpPr>
        <p:spPr>
          <a:xfrm>
            <a:off x="768096" y="3264408"/>
            <a:ext cx="3493007" cy="438912"/>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defRPr/>
            </a:pPr>
            <a:r>
              <a:rPr b="1" i="0" lang="en-US" sz="2200" u="none" cap="none" strike="noStrike">
                <a:solidFill>
                  <a:srgbClr val="C2410C"/>
                </a:solidFill>
                <a:latin typeface="Arial"/>
                <a:ea typeface="Arial"/>
                <a:cs typeface="Arial"/>
                <a:sym typeface="Arial"/>
              </a:rPr>
              <a:t>y = kx</a:t>
            </a:r>
            <a:endParaRPr/>
          </a:p>
        </p:txBody>
      </p:sp>
      <p:sp>
        <p:nvSpPr>
          <p:cNvPr id="522" name="Google Shape;522;p52"/>
          <p:cNvSpPr/>
          <p:nvPr/>
        </p:nvSpPr>
        <p:spPr>
          <a:xfrm>
            <a:off x="4663440" y="3182112"/>
            <a:ext cx="3749039" cy="603504"/>
          </a:xfrm>
          <a:prstGeom prst="roundRect">
            <a:avLst>
              <a:gd fmla="val 12000" name="adj"/>
            </a:avLst>
          </a:prstGeom>
          <a:solidFill>
            <a:srgbClr val="FFFFFF"/>
          </a:solidFill>
          <a:ln cap="flat" cmpd="sng" w="15875">
            <a:solidFill>
              <a:srgbClr val="C241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3" name="Google Shape;523;p52"/>
          <p:cNvSpPr txBox="1"/>
          <p:nvPr/>
        </p:nvSpPr>
        <p:spPr>
          <a:xfrm>
            <a:off x="4791455" y="3264408"/>
            <a:ext cx="3493007" cy="438912"/>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defRPr/>
            </a:pPr>
            <a:r>
              <a:rPr b="1" i="0" lang="en-US" sz="1550" u="none" cap="none" strike="noStrike">
                <a:solidFill>
                  <a:srgbClr val="C2410C"/>
                </a:solidFill>
                <a:latin typeface="Arial"/>
                <a:ea typeface="Arial"/>
                <a:cs typeface="Arial"/>
                <a:sym typeface="Arial"/>
              </a:rPr>
              <a:t>Dependent = (Unit Rate) × Independent</a:t>
            </a:r>
            <a:endParaRPr/>
          </a:p>
        </p:txBody>
      </p:sp>
      <p:sp>
        <p:nvSpPr>
          <p:cNvPr id="524" name="Google Shape;524;p52"/>
          <p:cNvSpPr/>
          <p:nvPr/>
        </p:nvSpPr>
        <p:spPr>
          <a:xfrm>
            <a:off x="640080" y="4005072"/>
            <a:ext cx="10911809" cy="62179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5" name="Google Shape;525;p52"/>
          <p:cNvSpPr/>
          <p:nvPr/>
        </p:nvSpPr>
        <p:spPr>
          <a:xfrm>
            <a:off x="896112" y="4151376"/>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1</a:t>
            </a:r>
            <a:endParaRPr/>
          </a:p>
        </p:txBody>
      </p:sp>
      <p:sp>
        <p:nvSpPr>
          <p:cNvPr id="526" name="Google Shape;526;p52"/>
          <p:cNvSpPr txBox="1"/>
          <p:nvPr/>
        </p:nvSpPr>
        <p:spPr>
          <a:xfrm>
            <a:off x="1371600" y="4087368"/>
            <a:ext cx="10043129" cy="45720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0" i="0" lang="en-US" sz="1600" u="none" cap="none" strike="noStrike">
                <a:solidFill>
                  <a:srgbClr val="14223A"/>
                </a:solidFill>
                <a:latin typeface="Arial"/>
                <a:ea typeface="Arial"/>
                <a:cs typeface="Arial"/>
                <a:sym typeface="Arial"/>
              </a:rPr>
              <a:t xml:space="preserve">Identify the </a:t>
            </a:r>
            <a:r>
              <a:rPr b="1" i="0" lang="en-US" sz="1600" u="none" cap="none" strike="noStrike">
                <a:solidFill>
                  <a:srgbClr val="14223A"/>
                </a:solidFill>
                <a:latin typeface="Arial"/>
                <a:ea typeface="Arial"/>
                <a:cs typeface="Arial"/>
                <a:sym typeface="Arial"/>
              </a:rPr>
              <a:t xml:space="preserve">independent variable</a:t>
            </a:r>
            <a:r>
              <a:rPr b="0" i="0" lang="en-US" sz="1600" u="none" cap="none" strike="noStrike">
                <a:solidFill>
                  <a:srgbClr val="14223A"/>
                </a:solidFill>
                <a:latin typeface="Arial"/>
                <a:ea typeface="Arial"/>
                <a:cs typeface="Arial"/>
                <a:sym typeface="Arial"/>
              </a:rPr>
              <a:t xml:space="preserve"> (x) and </a:t>
            </a:r>
            <a:r>
              <a:rPr b="1" i="0" lang="en-US" sz="1600" u="none" cap="none" strike="noStrike">
                <a:solidFill>
                  <a:srgbClr val="14223A"/>
                </a:solidFill>
                <a:latin typeface="Arial"/>
                <a:ea typeface="Arial"/>
                <a:cs typeface="Arial"/>
                <a:sym typeface="Arial"/>
              </a:rPr>
              <a:t xml:space="preserve">dependent variable</a:t>
            </a:r>
            <a:r>
              <a:rPr b="0" i="0" lang="en-US" sz="1600" u="none" cap="none" strike="noStrike">
                <a:solidFill>
                  <a:srgbClr val="14223A"/>
                </a:solidFill>
                <a:latin typeface="Arial"/>
                <a:ea typeface="Arial"/>
                <a:cs typeface="Arial"/>
                <a:sym typeface="Arial"/>
              </a:rPr>
              <a:t xml:space="preserve"> (y)</a:t>
            </a:r>
            <a:endParaRPr/>
          </a:p>
        </p:txBody>
      </p:sp>
      <p:sp>
        <p:nvSpPr>
          <p:cNvPr id="527" name="Google Shape;527;p52"/>
          <p:cNvSpPr/>
          <p:nvPr/>
        </p:nvSpPr>
        <p:spPr>
          <a:xfrm>
            <a:off x="640080" y="4773168"/>
            <a:ext cx="10911809" cy="62179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8" name="Google Shape;528;p52"/>
          <p:cNvSpPr/>
          <p:nvPr/>
        </p:nvSpPr>
        <p:spPr>
          <a:xfrm>
            <a:off x="896112" y="4919472"/>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2</a:t>
            </a:r>
            <a:endParaRPr/>
          </a:p>
        </p:txBody>
      </p:sp>
      <p:sp>
        <p:nvSpPr>
          <p:cNvPr id="529" name="Google Shape;529;p52"/>
          <p:cNvSpPr txBox="1"/>
          <p:nvPr/>
        </p:nvSpPr>
        <p:spPr>
          <a:xfrm>
            <a:off x="1371600" y="4855464"/>
            <a:ext cx="10043129" cy="45720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0" i="0" lang="en-US" sz="1600" u="none" cap="none" strike="noStrike">
                <a:solidFill>
                  <a:srgbClr val="14223A"/>
                </a:solidFill>
                <a:latin typeface="Arial"/>
                <a:ea typeface="Arial"/>
                <a:cs typeface="Arial"/>
                <a:sym typeface="Arial"/>
              </a:rPr>
              <a:t xml:space="preserve">Find the </a:t>
            </a:r>
            <a:r>
              <a:rPr b="1" i="0" lang="en-US" sz="1600" u="none" cap="none" strike="noStrike">
                <a:solidFill>
                  <a:srgbClr val="14223A"/>
                </a:solidFill>
                <a:latin typeface="Arial"/>
                <a:ea typeface="Arial"/>
                <a:cs typeface="Arial"/>
                <a:sym typeface="Arial"/>
              </a:rPr>
              <a:t xml:space="preserve">constant</a:t>
            </a:r>
            <a:r>
              <a:rPr b="0" i="0" lang="en-US" sz="1600" u="none" cap="none" strike="noStrike">
                <a:solidFill>
                  <a:srgbClr val="14223A"/>
                </a:solidFill>
                <a:latin typeface="Arial"/>
                <a:ea typeface="Arial"/>
                <a:cs typeface="Arial"/>
                <a:sym typeface="Arial"/>
              </a:rPr>
              <a:t xml:space="preserve"> </a:t>
            </a:r>
            <a:r>
              <a:rPr b="1" i="0" lang="en-US" sz="1600" u="none" cap="none" strike="noStrike">
                <a:solidFill>
                  <a:srgbClr val="14223A"/>
                </a:solidFill>
                <a:latin typeface="Arial"/>
                <a:ea typeface="Arial"/>
                <a:cs typeface="Arial"/>
                <a:sym typeface="Arial"/>
              </a:rPr>
              <a:t xml:space="preserve">unit rate</a:t>
            </a:r>
            <a:r>
              <a:rPr b="0" i="0" lang="en-US" sz="1600" u="none" cap="none" strike="noStrike">
                <a:solidFill>
                  <a:srgbClr val="14223A"/>
                </a:solidFill>
                <a:latin typeface="Arial"/>
                <a:ea typeface="Arial"/>
                <a:cs typeface="Arial"/>
                <a:sym typeface="Arial"/>
              </a:rPr>
              <a:t xml:space="preserve"> (k = y ÷ x)</a:t>
            </a:r>
            <a:endParaRPr/>
          </a:p>
        </p:txBody>
      </p:sp>
      <p:sp>
        <p:nvSpPr>
          <p:cNvPr id="530" name="Google Shape;530;p52"/>
          <p:cNvSpPr/>
          <p:nvPr/>
        </p:nvSpPr>
        <p:spPr>
          <a:xfrm>
            <a:off x="640080" y="5541264"/>
            <a:ext cx="10911809" cy="62179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1" name="Google Shape;531;p52"/>
          <p:cNvSpPr/>
          <p:nvPr/>
        </p:nvSpPr>
        <p:spPr>
          <a:xfrm>
            <a:off x="896112" y="5687568"/>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3</a:t>
            </a:r>
            <a:endParaRPr/>
          </a:p>
        </p:txBody>
      </p:sp>
      <p:sp>
        <p:nvSpPr>
          <p:cNvPr id="532" name="Google Shape;532;p52"/>
          <p:cNvSpPr txBox="1"/>
          <p:nvPr/>
        </p:nvSpPr>
        <p:spPr>
          <a:xfrm>
            <a:off x="1371600" y="5623560"/>
            <a:ext cx="10043129" cy="45720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1" i="0" lang="en-US" sz="1600" u="none" cap="none" strike="noStrike">
                <a:solidFill>
                  <a:srgbClr val="14223A"/>
                </a:solidFill>
                <a:latin typeface="Arial"/>
                <a:ea typeface="Arial"/>
                <a:cs typeface="Arial"/>
                <a:sym typeface="Arial"/>
              </a:rPr>
              <a:t xml:space="preserve">Write the equation relating the two variables: </a:t>
            </a:r>
            <a:r>
              <a:rPr b="0" i="0" lang="en-US" sz="1600" u="none" cap="none" strike="noStrike">
                <a:solidFill>
                  <a:srgbClr val="14223A"/>
                </a:solidFill>
                <a:latin typeface="Arial"/>
                <a:ea typeface="Arial"/>
                <a:cs typeface="Arial"/>
                <a:sym typeface="Arial"/>
              </a:rPr>
              <a:t>y = kx (or y = x + c)</a:t>
            </a:r>
            <a:endParaRPr/>
          </a:p>
        </p:txBody>
      </p:sp>
      <p:sp>
        <p:nvSpPr>
          <p:cNvPr id="5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 / 49</a:t>
            </a:r>
          </a:p>
        </p:txBody>
      </p:sp>
      <p:grpSp>
        <p:nvGrpSpPr>
          <p:cNvPr id="534" name="TEACH-1-student-move" descr="TEACH 1 · Facilitate clear, standards-based content learning"/>
          <p:cNvGrpSpPr/>
          <p:nvPr/>
        </p:nvGrpSpPr>
        <p:grpSpPr>
          <a:xfrm>
            <a:off x="6187440" y="1682496"/>
            <a:ext cx="5501640" cy="594360"/>
            <a:chOff x="6187440" y="1682496"/>
            <a:chExt cx="5501640" cy="594360"/>
          </a:xfrm>
        </p:grpSpPr>
        <p:sp>
          <p:nvSpPr>
            <p:cNvPr id="535"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36"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37"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CONNECT IT  ·  </a:t>
              </a:r>
              <a:r>
                <a:rPr lang="en-US" sz="1200" dirty="0">
                  <a:solidFill>
                    <a:srgbClr val="13303A"/>
                  </a:solidFill>
                  <a:latin typeface="Arial"/>
                </a:rPr>
                <a:t>What earlier lesson does this build on? Tell a partner in one sentence.</a:t>
              </a:r>
              <a:endParaRPr lang="en-US" sz="1200"/>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40"/>
          <p:cNvSpPr txBox="1"/>
          <p:nvPr/>
        </p:nvSpPr>
        <p:spPr>
          <a:xfrm>
            <a:off x="1402828" y="2453951"/>
            <a:ext cx="9144000" cy="139852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Write Equations to Represent Relationships Between Two Variables</a:t>
            </a:r>
            <a:endParaRPr b="0" i="0" sz="1400" u="none" cap="none" strike="noStrike">
              <a:solidFill>
                <a:srgbClr val="000000"/>
              </a:solidFill>
              <a:latin typeface="Arial"/>
              <a:ea typeface="Arial"/>
              <a:cs typeface="Arial"/>
              <a:sym typeface="Arial"/>
            </a:endParaRPr>
          </a:p>
        </p:txBody>
      </p:sp>
      <p:sp>
        <p:nvSpPr>
          <p:cNvPr id="234" name="Google Shape;234;p40"/>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782DA0"/>
                </a:solidFill>
                <a:latin typeface="Arial"/>
                <a:ea typeface="Arial"/>
                <a:cs typeface="Arial"/>
                <a:sym typeface="Arial"/>
              </a:rPr>
              <a:t>Session 1</a:t>
            </a:r>
            <a:endParaRPr b="1" i="0" sz="2800" u="none" cap="none" strike="noStrike">
              <a:solidFill>
                <a:srgbClr val="782DA0"/>
              </a:solidFill>
              <a:latin typeface="Arial"/>
              <a:ea typeface="Arial"/>
              <a:cs typeface="Arial"/>
              <a:sym typeface="Arial"/>
            </a:endParaRPr>
          </a:p>
        </p:txBody>
      </p:sp>
      <p:cxnSp>
        <p:nvCxnSpPr>
          <p:cNvPr id="235" name="Google Shape;235;p40"/>
          <p:cNvCxnSpPr/>
          <p:nvPr/>
        </p:nvCxnSpPr>
        <p:spPr>
          <a:xfrm>
            <a:off x="-1" y="1560382"/>
            <a:ext cx="3166453" cy="0"/>
          </a:xfrm>
          <a:prstGeom prst="straightConnector1">
            <a:avLst/>
          </a:prstGeom>
          <a:noFill/>
          <a:ln cap="flat" cmpd="sng" w="19050">
            <a:solidFill>
              <a:srgbClr val="782DA0"/>
            </a:solidFill>
            <a:prstDash val="solid"/>
            <a:miter lim="80"/>
            <a:headEnd len="sm" w="sm" type="none"/>
            <a:tailEnd len="sm" w="sm" type="none"/>
          </a:ln>
        </p:spPr>
      </p:cxnSp>
      <p:sp>
        <p:nvSpPr>
          <p:cNvPr id="23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 / 49</a:t>
            </a:r>
          </a:p>
        </p:txBody>
      </p:sp>
      <p:grpSp>
        <p:nvGrpSpPr>
          <p:cNvPr id="237" name="TEACH-2-student-move" descr="TEACH 2 · Use strategies and tasks to engage students in rigorous work"/>
          <p:cNvGrpSpPr/>
          <p:nvPr/>
        </p:nvGrpSpPr>
        <p:grpSpPr>
          <a:xfrm>
            <a:off x="502920" y="3867613"/>
            <a:ext cx="11186160" cy="731520"/>
            <a:chOff x="502920" y="3867613"/>
            <a:chExt cx="11186160" cy="731520"/>
          </a:xfrm>
        </p:grpSpPr>
        <p:sp>
          <p:nvSpPr>
            <p:cNvPr id="238" name="TEACH-move-card"/>
            <p:cNvSpPr/>
            <p:nvPr/>
          </p:nvSpPr>
          <p:spPr>
            <a:xfrm>
              <a:off x="502920" y="3867613"/>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239" name="TEACH-move-rule"/>
            <p:cNvSpPr/>
            <p:nvPr/>
          </p:nvSpPr>
          <p:spPr>
            <a:xfrm>
              <a:off x="548640" y="4006602"/>
              <a:ext cx="100584" cy="453542"/>
            </a:xfrm>
            <a:prstGeom prst="roundRect">
              <a:avLst>
                <a:gd name="adj" fmla="val 50000"/>
              </a:avLst>
            </a:prstGeom>
            <a:solidFill>
              <a:srgbClr val="01708C"/>
            </a:solidFill>
            <a:ln>
              <a:noFill/>
            </a:ln>
          </p:spPr>
          <p:txBody>
            <a:bodyPr/>
            <a:lstStyle/>
            <a:p>
              <a:endParaRPr/>
            </a:p>
          </p:txBody>
        </p:sp>
        <p:sp>
          <p:nvSpPr>
            <p:cNvPr id="240" name="TEACH-move-text"/>
            <p:cNvSpPr txBox="1"/>
            <p:nvPr/>
          </p:nvSpPr>
          <p:spPr>
            <a:xfrm>
              <a:off x="822960" y="3867613"/>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PICK YOUR STRATEGY  ·  </a:t>
              </a:r>
              <a:r>
                <a:rPr lang="en-US" sz="1800" dirty="0">
                  <a:solidFill>
                    <a:srgbClr val="13303A"/>
                  </a:solidFill>
                  <a:latin typeface="Arial"/>
                </a:rPr>
                <a:t>Choose your path — picture, table, number line, or equation — and be ready to say why you chose it.</a:t>
              </a:r>
              <a:endParaRPr lang="en-US" sz="1800"/>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cxnSp>
        <p:nvCxnSpPr>
          <p:cNvPr id="240" name="Google Shape;240;p4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241" name="Google Shape;241;p41"/>
          <p:cNvSpPr txBox="1"/>
          <p:nvPr/>
        </p:nvSpPr>
        <p:spPr>
          <a:xfrm>
            <a:off x="486000" y="316800"/>
            <a:ext cx="4671105"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More or Less Than…</a:t>
            </a:r>
            <a:endParaRPr b="0" i="0" sz="1400" u="none" cap="none" strike="noStrike">
              <a:solidFill>
                <a:srgbClr val="000000"/>
              </a:solidFill>
              <a:latin typeface="Arial"/>
              <a:ea typeface="Arial"/>
              <a:cs typeface="Arial"/>
              <a:sym typeface="Arial"/>
            </a:endParaRPr>
          </a:p>
        </p:txBody>
      </p:sp>
      <p:sp>
        <p:nvSpPr>
          <p:cNvPr id="242" name="Google Shape;242;p41"/>
          <p:cNvSpPr txBox="1"/>
          <p:nvPr/>
        </p:nvSpPr>
        <p:spPr>
          <a:xfrm>
            <a:off x="486000" y="2180551"/>
            <a:ext cx="1697642" cy="523220"/>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243" name="Google Shape;243;p41"/>
          <p:cNvSpPr txBox="1"/>
          <p:nvPr/>
        </p:nvSpPr>
        <p:spPr>
          <a:xfrm>
            <a:off x="3661746" y="2180551"/>
            <a:ext cx="1647234" cy="523220"/>
          </a:xfrm>
          <a:prstGeom prst="rect">
            <a:avLst/>
          </a:prstGeom>
          <a:blipFill rotWithShape="1">
            <a:blip r:embed="rId4">
              <a:alphaModFix/>
            </a:blip>
            <a:stretch>
              <a:fillRect b="0" l="0" r="-741"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244" name="Google Shape;244;p41"/>
          <p:cNvSpPr txBox="1"/>
          <p:nvPr/>
        </p:nvSpPr>
        <p:spPr>
          <a:xfrm>
            <a:off x="6534289" y="2180551"/>
            <a:ext cx="2118391" cy="523220"/>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245" name="Google Shape;245;p41"/>
          <p:cNvSpPr/>
          <p:nvPr/>
        </p:nvSpPr>
        <p:spPr>
          <a:xfrm>
            <a:off x="486000" y="936000"/>
            <a:ext cx="3498009"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More or Less Than 5</a:t>
            </a:r>
            <a:endParaRPr b="0" i="0" sz="2800" u="none" cap="none" strike="noStrike">
              <a:solidFill>
                <a:schemeClr val="dk1"/>
              </a:solidFill>
              <a:latin typeface="Arial"/>
              <a:ea typeface="Arial"/>
              <a:cs typeface="Arial"/>
              <a:sym typeface="Arial"/>
            </a:endParaRPr>
          </a:p>
        </p:txBody>
      </p:sp>
      <p:sp>
        <p:nvSpPr>
          <p:cNvPr id="24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 / 49</a:t>
            </a:r>
          </a:p>
        </p:txBody>
      </p:sp>
      <p:sp xmlns:p="http://schemas.openxmlformats.org/presentationml/2006/main" xmlns:a="http://schemas.openxmlformats.org/drawingml/2006/main">
        <p:nvSpPr>
          <p:cNvPr id="247"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how the information shown supports your reasoning.</a:t>
            </a:r>
            <a:endParaRPr lang="en-US" sz="2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44"/>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8" name="Google Shape;338;p44"/>
          <p:cNvSpPr/>
          <p:nvPr/>
        </p:nvSpPr>
        <p:spPr>
          <a:xfrm>
            <a:off x="0" y="0"/>
            <a:ext cx="12191969" cy="713232"/>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9" name="Google Shape;339;p44"/>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Objectives</a:t>
            </a:r>
            <a:endParaRPr/>
          </a:p>
        </p:txBody>
      </p:sp>
      <p:sp>
        <p:nvSpPr>
          <p:cNvPr id="340" name="Google Shape;340;p44"/>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9-3 · Write Equations to Represent Relationships Between Two Variables</a:t>
            </a:r>
            <a:endParaRPr/>
          </a:p>
        </p:txBody>
      </p:sp>
      <p:sp>
        <p:nvSpPr>
          <p:cNvPr id="341" name="Google Shape;341;p44"/>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2" name="Google Shape;342;p44"/>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343" name="Google Shape;343;p44"/>
          <p:cNvSpPr txBox="1"/>
          <p:nvPr/>
        </p:nvSpPr>
        <p:spPr>
          <a:xfrm>
            <a:off x="640080" y="969264"/>
            <a:ext cx="10911809" cy="101600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defRPr/>
            </a:pPr>
            <a:r>
              <a:rPr b="1" i="0" lang="en-US" sz="3250" u="none" cap="none" strike="noStrike">
                <a:solidFill>
                  <a:srgbClr val="14223A"/>
                </a:solidFill>
                <a:latin typeface="Arial"/>
                <a:ea typeface="Arial"/>
                <a:cs typeface="Arial"/>
                <a:sym typeface="Arial"/>
              </a:rPr>
              <a:t>Write Equations to Represent Relationships Between Two Variables</a:t>
            </a:r>
            <a:endParaRPr/>
          </a:p>
        </p:txBody>
      </p:sp>
      <p:sp>
        <p:nvSpPr>
          <p:cNvPr id="344" name="Google Shape;344;p44"/>
          <p:cNvSpPr txBox="1"/>
          <p:nvPr/>
        </p:nvSpPr>
        <p:spPr>
          <a:xfrm>
            <a:off x="640080" y="2021840"/>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475569"/>
                </a:solidFill>
                <a:latin typeface="Arial"/>
                <a:ea typeface="Arial"/>
                <a:cs typeface="Arial"/>
                <a:sym typeface="Arial"/>
              </a:rPr>
              <a:t>Maryland Standard 6.AT.11</a:t>
            </a:r>
            <a:endParaRPr/>
          </a:p>
        </p:txBody>
      </p:sp>
      <p:sp>
        <p:nvSpPr>
          <p:cNvPr id="345" name="Google Shape;345;p44"/>
          <p:cNvSpPr/>
          <p:nvPr/>
        </p:nvSpPr>
        <p:spPr>
          <a:xfrm>
            <a:off x="640080" y="2442464"/>
            <a:ext cx="5349240" cy="3610863"/>
          </a:xfrm>
          <a:prstGeom prst="roundRect">
            <a:avLst>
              <a:gd fmla="val 4500" name="adj"/>
            </a:avLst>
          </a:prstGeom>
          <a:solidFill>
            <a:srgbClr val="E3F2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6" name="Google Shape;346;p44"/>
          <p:cNvSpPr/>
          <p:nvPr/>
        </p:nvSpPr>
        <p:spPr>
          <a:xfrm>
            <a:off x="640080" y="2442464"/>
            <a:ext cx="118872" cy="3610863"/>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7" name="Google Shape;347;p44"/>
          <p:cNvSpPr txBox="1"/>
          <p:nvPr/>
        </p:nvSpPr>
        <p:spPr>
          <a:xfrm>
            <a:off x="1097280" y="280822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0F766E"/>
                </a:solidFill>
                <a:latin typeface="Arial"/>
                <a:ea typeface="Arial"/>
                <a:cs typeface="Arial"/>
                <a:sym typeface="Arial"/>
              </a:rPr>
              <a:t>CONTENT OBJECTIVE</a:t>
            </a:r>
            <a:endParaRPr/>
          </a:p>
        </p:txBody>
      </p:sp>
      <p:sp>
        <p:nvSpPr>
          <p:cNvPr id="348" name="Google Shape;348;p44"/>
          <p:cNvSpPr txBox="1"/>
          <p:nvPr/>
        </p:nvSpPr>
        <p:spPr>
          <a:xfrm>
            <a:off x="1097280" y="313740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Restate the goal in your words</a:t>
            </a:r>
            <a:endParaRPr/>
          </a:p>
        </p:txBody>
      </p:sp>
      <p:sp>
        <p:nvSpPr>
          <p:cNvPr id="349" name="Google Shape;349;p44"/>
          <p:cNvSpPr txBox="1"/>
          <p:nvPr/>
        </p:nvSpPr>
        <p:spPr>
          <a:xfrm>
            <a:off x="1097280" y="3612896"/>
            <a:ext cx="4480559" cy="2038095"/>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500" u="none" cap="none" strike="noStrike">
                <a:solidFill>
                  <a:srgbClr val="14223A"/>
                </a:solidFill>
                <a:latin typeface="Arial"/>
                <a:ea typeface="Arial"/>
                <a:cs typeface="Arial"/>
                <a:sym typeface="Arial"/>
              </a:rPr>
              <a:t>I can write an equation from a table or a graph to model the relationship between the dependent and independent variables.</a:t>
            </a:r>
            <a:endParaRPr/>
          </a:p>
        </p:txBody>
      </p:sp>
      <p:sp>
        <p:nvSpPr>
          <p:cNvPr id="350" name="Google Shape;350;p44"/>
          <p:cNvSpPr/>
          <p:nvPr/>
        </p:nvSpPr>
        <p:spPr>
          <a:xfrm>
            <a:off x="6382512" y="2442464"/>
            <a:ext cx="5349240" cy="3610863"/>
          </a:xfrm>
          <a:prstGeom prst="roundRect">
            <a:avLst>
              <a:gd fmla="val 45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1" name="Google Shape;351;p44"/>
          <p:cNvSpPr/>
          <p:nvPr/>
        </p:nvSpPr>
        <p:spPr>
          <a:xfrm>
            <a:off x="6382512" y="2442464"/>
            <a:ext cx="118872" cy="3610863"/>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2" name="Google Shape;352;p44"/>
          <p:cNvSpPr txBox="1"/>
          <p:nvPr/>
        </p:nvSpPr>
        <p:spPr>
          <a:xfrm>
            <a:off x="6839712" y="280822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C2410C"/>
                </a:solidFill>
                <a:latin typeface="Arial"/>
                <a:ea typeface="Arial"/>
                <a:cs typeface="Arial"/>
                <a:sym typeface="Arial"/>
              </a:rPr>
              <a:t>LANGUAGE OBJECTIVE</a:t>
            </a:r>
            <a:endParaRPr/>
          </a:p>
        </p:txBody>
      </p:sp>
      <p:sp>
        <p:nvSpPr>
          <p:cNvPr id="353" name="Google Shape;353;p44"/>
          <p:cNvSpPr txBox="1"/>
          <p:nvPr/>
        </p:nvSpPr>
        <p:spPr>
          <a:xfrm>
            <a:off x="6839712" y="313740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Use these words to explain why</a:t>
            </a:r>
            <a:endParaRPr/>
          </a:p>
        </p:txBody>
      </p:sp>
      <p:sp>
        <p:nvSpPr>
          <p:cNvPr id="354" name="Google Shape;354;p44"/>
          <p:cNvSpPr txBox="1"/>
          <p:nvPr/>
        </p:nvSpPr>
        <p:spPr>
          <a:xfrm>
            <a:off x="6839712" y="3612896"/>
            <a:ext cx="4480559" cy="2038095"/>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500" u="none" cap="none" strike="noStrike">
                <a:solidFill>
                  <a:srgbClr val="14223A"/>
                </a:solidFill>
                <a:latin typeface="Arial"/>
                <a:ea typeface="Arial"/>
                <a:cs typeface="Arial"/>
                <a:sym typeface="Arial"/>
              </a:rPr>
              <a:t>I can define the variables in my equation and explain what each part represents using the words equation, variable, and rate.</a:t>
            </a:r>
            <a:endParaRPr/>
          </a:p>
        </p:txBody>
      </p:sp>
      <p:sp>
        <p:nvSpPr>
          <p:cNvPr id="35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6 / 49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9.3  /  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What will show your learning?</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Oval 4"/>
          <p:cNvSpPr/>
          <p:nvPr/>
        </p:nvSpPr>
        <p:spPr>
          <a:xfrm>
            <a:off x="640080" y="1874519"/>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29384"/>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1</a:t>
            </a:r>
          </a:p>
        </p:txBody>
      </p:sp>
      <p:sp>
        <p:nvSpPr>
          <p:cNvPr id="7" name="TextBox 6"/>
          <p:cNvSpPr txBox="1"/>
          <p:nvPr/>
        </p:nvSpPr>
        <p:spPr>
          <a:xfrm>
            <a:off x="1399032" y="1856231"/>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Define variables.</a:t>
            </a:r>
          </a:p>
        </p:txBody>
      </p:sp>
      <p:sp>
        <p:nvSpPr>
          <p:cNvPr id="8" name="Oval 7"/>
          <p:cNvSpPr/>
          <p:nvPr/>
        </p:nvSpPr>
        <p:spPr>
          <a:xfrm>
            <a:off x="640080" y="2862072"/>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2916936"/>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2</a:t>
            </a:r>
          </a:p>
        </p:txBody>
      </p:sp>
      <p:sp>
        <p:nvSpPr>
          <p:cNvPr id="10" name="TextBox 9"/>
          <p:cNvSpPr txBox="1"/>
          <p:nvPr/>
        </p:nvSpPr>
        <p:spPr>
          <a:xfrm>
            <a:off x="1399032" y="2843784"/>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Identify rate and any initial amount.</a:t>
            </a:r>
          </a:p>
        </p:txBody>
      </p:sp>
      <p:sp>
        <p:nvSpPr>
          <p:cNvPr id="11" name="Oval 10"/>
          <p:cNvSpPr/>
          <p:nvPr/>
        </p:nvSpPr>
        <p:spPr>
          <a:xfrm>
            <a:off x="640080" y="3849624"/>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8" y="3904487"/>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3</a:t>
            </a:r>
          </a:p>
        </p:txBody>
      </p:sp>
      <p:sp>
        <p:nvSpPr>
          <p:cNvPr id="13" name="TextBox 12"/>
          <p:cNvSpPr txBox="1"/>
          <p:nvPr/>
        </p:nvSpPr>
        <p:spPr>
          <a:xfrm>
            <a:off x="1399032" y="3831336"/>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Write and verify an equation.</a:t>
            </a:r>
          </a:p>
        </p:txBody>
      </p:sp>
      <p:sp>
        <p:nvSpPr>
          <p:cNvPr id="14" name="Rounded Rectangle 13"/>
          <p:cNvSpPr/>
          <p:nvPr/>
        </p:nvSpPr>
        <p:spPr>
          <a:xfrm>
            <a:off x="594360" y="5120640"/>
            <a:ext cx="10972800" cy="822960"/>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5303520"/>
            <a:ext cx="10469880" cy="438912"/>
          </a:xfrm>
          <a:prstGeom prst="rect">
            <a:avLst/>
          </a:prstGeom>
          <a:noFill/>
        </p:spPr>
        <p:txBody>
          <a:bodyPr wrap="square" lIns="0" rIns="0" tIns="22860" bIns="0">
            <a:spAutoFit/>
          </a:bodyPr>
          <a:lstStyle/>
          <a:p>
            <a:pPr>
              <a:spcAft>
                <a:spcPts val="800"/>
              </a:spcAft>
              <a:defRPr sz="2200" b="0">
                <a:solidFill>
                  <a:srgbClr val="096B69"/>
                </a:solidFill>
                <a:latin typeface="Arial"/>
              </a:defRPr>
            </a:pPr>
            <a:r>
              <a:rPr/>
              <a:t>Tell a partner: Which skill connects to something you already know?</a:t>
            </a:r>
          </a:p>
        </p:txBody>
      </p:sp>
      <p:grpSp>
        <p:nvGrpSpPr>
          <p:cNvPr id="16" name="TEACH-1-student-move" descr="TEACH 1 · Facilitate clear, standards-based content learning"/>
          <p:cNvGrpSpPr/>
          <p:nvPr/>
        </p:nvGrpSpPr>
        <p:grpSpPr>
          <a:xfrm>
            <a:off x="502920" y="5824728"/>
            <a:ext cx="11186160" cy="402336"/>
            <a:chOff x="502920" y="5824728"/>
            <a:chExt cx="11186160" cy="402336"/>
          </a:xfrm>
        </p:grpSpPr>
        <p:sp>
          <p:nvSpPr>
            <p:cNvPr id="17"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8"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9"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SHOW YOUR THINKING  ·  </a:t>
              </a:r>
              <a:r>
                <a:rPr lang="en-US" sz="1200" dirty="0">
                  <a:solidFill>
                    <a:srgbClr val="13303A"/>
                  </a:solidFill>
                  <a:latin typeface="Arial"/>
                </a:rPr>
                <a:t>Show what you know — write it, draw it, or build it. A picture counts as an explanation.</a:t>
              </a:r>
              <a:endParaRPr lang="en-US" sz="1200"/>
            </a:p>
          </p:txBody>
        </p:sp>
      </p:gr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91" name="Google Shape;391;p46"/>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2" name="Google Shape;392;p46"/>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3" name="Google Shape;393;p46"/>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1 of 5</a:t>
            </a:r>
            <a:endParaRPr/>
          </a:p>
        </p:txBody>
      </p:sp>
      <p:sp>
        <p:nvSpPr>
          <p:cNvPr id="394" name="Google Shape;394;p46"/>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9-3 · Write Equations to Represent Relationships Between Two Variables</a:t>
            </a:r>
            <a:endParaRPr/>
          </a:p>
        </p:txBody>
      </p:sp>
      <p:sp>
        <p:nvSpPr>
          <p:cNvPr id="395" name="Google Shape;395;p46"/>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6" name="Google Shape;396;p46"/>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397" name="Google Shape;397;p46"/>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equation</a:t>
            </a:r>
            <a:endParaRPr/>
          </a:p>
        </p:txBody>
      </p:sp>
      <p:sp>
        <p:nvSpPr>
          <p:cNvPr id="398" name="Google Shape;398;p46"/>
          <p:cNvSpPr/>
          <p:nvPr/>
        </p:nvSpPr>
        <p:spPr>
          <a:xfrm>
            <a:off x="658368" y="263880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9" name="Google Shape;399;p46"/>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mathematical sentence with an equals sign that shows two amounts are the same.</a:t>
            </a:r>
            <a:endParaRPr/>
          </a:p>
        </p:txBody>
      </p:sp>
      <p:sp>
        <p:nvSpPr>
          <p:cNvPr id="400" name="Google Shape;400;p46"/>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1" name="Google Shape;401;p46"/>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2" name="Google Shape;402;p46"/>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03" name="Google Shape;403;p46"/>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c = 24.95m means the total cost equals $24.95 times the number of months</a:t>
            </a:r>
            <a:endParaRPr/>
          </a:p>
        </p:txBody>
      </p:sp>
      <p:pic>
        <p:nvPicPr>
          <p:cNvPr descr="equation-c-equals-24-95m.png" id="404" name="Google Shape;404;p46"/>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9 / 49</a:t>
            </a:r>
          </a:p>
        </p:txBody>
      </p:sp>
      <p:sp xmlns:p="http://schemas.openxmlformats.org/presentationml/2006/main" xmlns:a="http://schemas.openxmlformats.org/drawingml/2006/main">
        <p:nvSpPr>
          <p:cNvPr id="405"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“equation” to explain the example. Point to evidence.</a:t>
            </a:r>
            <a:endParaRPr lang="en-US" sz="200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09" name="Google Shape;409;p47"/>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0" name="Google Shape;410;p47"/>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1" name="Google Shape;411;p47"/>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2 of 5</a:t>
            </a:r>
            <a:endParaRPr/>
          </a:p>
        </p:txBody>
      </p:sp>
      <p:sp>
        <p:nvSpPr>
          <p:cNvPr id="412" name="Google Shape;412;p47"/>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9-3 · Write Equations to Represent Relationships Between Two Variables</a:t>
            </a:r>
            <a:endParaRPr/>
          </a:p>
        </p:txBody>
      </p:sp>
      <p:sp>
        <p:nvSpPr>
          <p:cNvPr id="413" name="Google Shape;413;p47"/>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4" name="Google Shape;414;p47"/>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15" name="Google Shape;415;p47"/>
          <p:cNvSpPr txBox="1"/>
          <p:nvPr/>
        </p:nvSpPr>
        <p:spPr>
          <a:xfrm>
            <a:off x="640080" y="190271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variable</a:t>
            </a:r>
            <a:endParaRPr/>
          </a:p>
        </p:txBody>
      </p:sp>
      <p:sp>
        <p:nvSpPr>
          <p:cNvPr id="416" name="Google Shape;416;p47"/>
          <p:cNvSpPr/>
          <p:nvPr/>
        </p:nvSpPr>
        <p:spPr>
          <a:xfrm>
            <a:off x="658368" y="273786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7" name="Google Shape;417;p47"/>
          <p:cNvSpPr txBox="1"/>
          <p:nvPr/>
        </p:nvSpPr>
        <p:spPr>
          <a:xfrm>
            <a:off x="640080" y="309905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letter that represents a quantity that can change, or vary.</a:t>
            </a:r>
            <a:endParaRPr/>
          </a:p>
        </p:txBody>
      </p:sp>
      <p:sp>
        <p:nvSpPr>
          <p:cNvPr id="418" name="Google Shape;418;p47"/>
          <p:cNvSpPr/>
          <p:nvPr/>
        </p:nvSpPr>
        <p:spPr>
          <a:xfrm>
            <a:off x="640080" y="4223766"/>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9" name="Google Shape;419;p47"/>
          <p:cNvSpPr/>
          <p:nvPr/>
        </p:nvSpPr>
        <p:spPr>
          <a:xfrm>
            <a:off x="640080" y="422376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0" name="Google Shape;420;p47"/>
          <p:cNvSpPr txBox="1"/>
          <p:nvPr/>
        </p:nvSpPr>
        <p:spPr>
          <a:xfrm>
            <a:off x="932688" y="439750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21" name="Google Shape;421;p47"/>
          <p:cNvSpPr txBox="1"/>
          <p:nvPr/>
        </p:nvSpPr>
        <p:spPr>
          <a:xfrm>
            <a:off x="932688" y="4699254"/>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In c = 24.95m, the m can be 1, 2, or 12 — it varies.</a:t>
            </a:r>
            <a:endParaRPr/>
          </a:p>
        </p:txBody>
      </p:sp>
      <p:pic>
        <p:nvPicPr>
          <p:cNvPr descr="variable.png" id="422" name="Google Shape;422;p47"/>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10 / 49</a:t>
            </a:r>
          </a:p>
        </p:txBody>
      </p:sp>
      <p:sp xmlns:p="http://schemas.openxmlformats.org/presentationml/2006/main" xmlns:a="http://schemas.openxmlformats.org/drawingml/2006/main">
        <p:nvSpPr>
          <p:cNvPr id="423"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“variable” to explain the example. Point to evidence.</a:t>
            </a:r>
            <a:endParaRPr lang="en-US" sz="200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27" name="Google Shape;427;p48"/>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8" name="Google Shape;428;p48"/>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9" name="Google Shape;429;p48"/>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3 of 5</a:t>
            </a:r>
            <a:endParaRPr/>
          </a:p>
        </p:txBody>
      </p:sp>
      <p:sp>
        <p:nvSpPr>
          <p:cNvPr id="430" name="Google Shape;430;p48"/>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9-3 · Write Equations to Represent Relationships Between Two Variables</a:t>
            </a:r>
            <a:endParaRPr/>
          </a:p>
        </p:txBody>
      </p:sp>
      <p:sp>
        <p:nvSpPr>
          <p:cNvPr id="431" name="Google Shape;431;p48"/>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2" name="Google Shape;432;p48"/>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33" name="Google Shape;433;p48"/>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rate</a:t>
            </a:r>
            <a:endParaRPr/>
          </a:p>
        </p:txBody>
      </p:sp>
      <p:sp>
        <p:nvSpPr>
          <p:cNvPr id="434" name="Google Shape;434;p48"/>
          <p:cNvSpPr/>
          <p:nvPr/>
        </p:nvSpPr>
        <p:spPr>
          <a:xfrm>
            <a:off x="658368" y="263880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5" name="Google Shape;435;p48"/>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fixed amount of one quantity for every one unit of the other quantity.</a:t>
            </a:r>
            <a:endParaRPr/>
          </a:p>
        </p:txBody>
      </p:sp>
      <p:sp>
        <p:nvSpPr>
          <p:cNvPr id="436" name="Google Shape;436;p48"/>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7" name="Google Shape;437;p48"/>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8" name="Google Shape;438;p48"/>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39" name="Google Shape;439;p48"/>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$24.95 for every 1 month — the amount attached to one unit.</a:t>
            </a:r>
            <a:endParaRPr/>
          </a:p>
        </p:txBody>
      </p:sp>
      <p:pic>
        <p:nvPicPr>
          <p:cNvPr descr="rate.png" id="440" name="Google Shape;440;p48"/>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11 / 49</a:t>
            </a:r>
          </a:p>
        </p:txBody>
      </p:sp>
      <p:sp xmlns:p="http://schemas.openxmlformats.org/presentationml/2006/main" xmlns:a="http://schemas.openxmlformats.org/drawingml/2006/main">
        <p:nvSpPr>
          <p:cNvPr id="441"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“rate” to explain the example. Point to evidence.</a:t>
            </a:r>
            <a:endParaRPr lang="en-US" sz="200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45" name="Google Shape;445;p49"/>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6" name="Google Shape;446;p49"/>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7" name="Google Shape;447;p49"/>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4 of 5</a:t>
            </a:r>
            <a:endParaRPr/>
          </a:p>
        </p:txBody>
      </p:sp>
      <p:sp>
        <p:nvSpPr>
          <p:cNvPr id="448" name="Google Shape;448;p49"/>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9-3 · Write Equations to Represent Relationships Between Two Variables</a:t>
            </a:r>
            <a:endParaRPr/>
          </a:p>
        </p:txBody>
      </p:sp>
      <p:sp>
        <p:nvSpPr>
          <p:cNvPr id="449" name="Google Shape;449;p49"/>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0" name="Google Shape;450;p49"/>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51" name="Google Shape;451;p49"/>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represent</a:t>
            </a:r>
            <a:endParaRPr/>
          </a:p>
        </p:txBody>
      </p:sp>
      <p:sp>
        <p:nvSpPr>
          <p:cNvPr id="452" name="Google Shape;452;p49"/>
          <p:cNvSpPr/>
          <p:nvPr/>
        </p:nvSpPr>
        <p:spPr>
          <a:xfrm>
            <a:off x="658368" y="263880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3" name="Google Shape;453;p49"/>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To show a relationship using a tool such as a table, a graph, or an equation.</a:t>
            </a:r>
            <a:endParaRPr/>
          </a:p>
        </p:txBody>
      </p:sp>
      <p:sp>
        <p:nvSpPr>
          <p:cNvPr id="454" name="Google Shape;454;p49"/>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5" name="Google Shape;455;p49"/>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6" name="Google Shape;456;p49"/>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57" name="Google Shape;457;p49"/>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The same membership shown as a table, a graph, AND c = 24.95m.</a:t>
            </a:r>
            <a:endParaRPr/>
          </a:p>
        </p:txBody>
      </p:sp>
      <p:pic>
        <p:nvPicPr>
          <p:cNvPr descr="bar-model.png" id="458" name="Google Shape;458;p49"/>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12 / 49</a:t>
            </a:r>
          </a:p>
        </p:txBody>
      </p:sp>
      <p:sp xmlns:p="http://schemas.openxmlformats.org/presentationml/2006/main" xmlns:a="http://schemas.openxmlformats.org/drawingml/2006/main">
        <p:nvSpPr>
          <p:cNvPr id="459"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“represent” to explain the example. Point to evidence.</a:t>
            </a:r>
            <a:endParaRPr lang="en-US" sz="200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63" name="Google Shape;463;p50"/>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4" name="Google Shape;464;p50"/>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5" name="Google Shape;465;p50"/>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5 of 5</a:t>
            </a:r>
            <a:endParaRPr/>
          </a:p>
        </p:txBody>
      </p:sp>
      <p:sp>
        <p:nvSpPr>
          <p:cNvPr id="466" name="Google Shape;466;p50"/>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9-3 · Write Equations to Represent Relationships Between Two Variables</a:t>
            </a:r>
            <a:endParaRPr/>
          </a:p>
        </p:txBody>
      </p:sp>
      <p:sp>
        <p:nvSpPr>
          <p:cNvPr id="467" name="Google Shape;467;p50"/>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8" name="Google Shape;468;p50"/>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69" name="Google Shape;469;p50"/>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define the variables</a:t>
            </a:r>
            <a:endParaRPr/>
          </a:p>
        </p:txBody>
      </p:sp>
      <p:sp>
        <p:nvSpPr>
          <p:cNvPr id="470" name="Google Shape;470;p50"/>
          <p:cNvSpPr/>
          <p:nvPr/>
        </p:nvSpPr>
        <p:spPr>
          <a:xfrm>
            <a:off x="658368" y="2638806"/>
            <a:ext cx="237744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1" name="Google Shape;471;p50"/>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To state exactly what quantity each letter in an equation stands for.</a:t>
            </a:r>
            <a:endParaRPr/>
          </a:p>
        </p:txBody>
      </p:sp>
      <p:sp>
        <p:nvSpPr>
          <p:cNvPr id="472" name="Google Shape;472;p50"/>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3" name="Google Shape;473;p50"/>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4" name="Google Shape;474;p50"/>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75" name="Google Shape;475;p50"/>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“Let m = months and c = total cost” — written before you solve.</a:t>
            </a:r>
            <a:endParaRPr/>
          </a:p>
        </p:txBody>
      </p:sp>
      <p:pic>
        <p:nvPicPr>
          <p:cNvPr descr="variable.png" id="476" name="Google Shape;476;p50"/>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13 / 49</a:t>
            </a:r>
          </a:p>
        </p:txBody>
      </p:sp>
      <p:sp xmlns:p="http://schemas.openxmlformats.org/presentationml/2006/main" xmlns:a="http://schemas.openxmlformats.org/drawingml/2006/main">
        <p:nvSpPr>
          <p:cNvPr id="477"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“define the variables” to explain the example. Point to</a:t>
            </a:r>
            <a:endParaRPr lang="en-US" sz="2000"/>
          </a:p>
          <a:p>
            <a:pPr>
              <a:lnSpc>
                <a:spcPts val="2400"/>
              </a:lnSpc>
              <a:buNone/>
            </a:pPr>
            <a:r>
              <a:rPr lang="en-US" sz="2000">
                <a:solidFill>
                  <a:srgbClr val="174D60"/>
                </a:solidFill>
                <a:latin typeface="Arial"/>
              </a:rPr>
              <a:t>evidence.</a:t>
            </a:r>
            <a:endParaRPr lang="en-US" sz="20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45"/>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0" name="Google Shape;360;p45"/>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1" name="Google Shape;361;p45"/>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a:t>
            </a:r>
            <a:endParaRPr/>
          </a:p>
        </p:txBody>
      </p:sp>
      <p:sp>
        <p:nvSpPr>
          <p:cNvPr id="362" name="Google Shape;362;p45"/>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9-3 · Write Equations to Represent Relationships Between Two Variables</a:t>
            </a:r>
            <a:endParaRPr/>
          </a:p>
        </p:txBody>
      </p:sp>
      <p:sp>
        <p:nvSpPr>
          <p:cNvPr id="363" name="Google Shape;363;p45"/>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4" name="Google Shape;364;p45"/>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365" name="Google Shape;365;p45"/>
          <p:cNvSpPr txBox="1"/>
          <p:nvPr/>
        </p:nvSpPr>
        <p:spPr>
          <a:xfrm>
            <a:off x="640080" y="1005840"/>
            <a:ext cx="10911809" cy="5120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400" u="none" cap="none" strike="noStrike">
                <a:solidFill>
                  <a:srgbClr val="14223A"/>
                </a:solidFill>
                <a:latin typeface="Arial"/>
                <a:ea typeface="Arial"/>
                <a:cs typeface="Arial"/>
                <a:sym typeface="Arial"/>
              </a:rPr>
              <a:t>Today’s Math Words</a:t>
            </a:r>
            <a:endParaRPr/>
          </a:p>
        </p:txBody>
      </p:sp>
      <p:sp>
        <p:nvSpPr>
          <p:cNvPr id="366" name="Google Shape;366;p45"/>
          <p:cNvSpPr txBox="1"/>
          <p:nvPr/>
        </p:nvSpPr>
        <p:spPr>
          <a:xfrm>
            <a:off x="640080" y="1591056"/>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1" lang="en-US" sz="1400" u="none" cap="none" strike="noStrike">
                <a:solidFill>
                  <a:srgbClr val="475569"/>
                </a:solidFill>
                <a:latin typeface="Arial"/>
                <a:ea typeface="Arial"/>
                <a:cs typeface="Arial"/>
                <a:sym typeface="Arial"/>
              </a:rPr>
              <a:t>We learn every word — what it means and what it looks like — before we use it.</a:t>
            </a:r>
            <a:endParaRPr/>
          </a:p>
        </p:txBody>
      </p:sp>
      <p:sp>
        <p:nvSpPr>
          <p:cNvPr id="367" name="Google Shape;367;p45"/>
          <p:cNvSpPr/>
          <p:nvPr/>
        </p:nvSpPr>
        <p:spPr>
          <a:xfrm>
            <a:off x="640080" y="2103120"/>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8" name="Google Shape;368;p45"/>
          <p:cNvSpPr/>
          <p:nvPr/>
        </p:nvSpPr>
        <p:spPr>
          <a:xfrm>
            <a:off x="640080" y="2103120"/>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9" name="Google Shape;369;p45"/>
          <p:cNvSpPr txBox="1"/>
          <p:nvPr/>
        </p:nvSpPr>
        <p:spPr>
          <a:xfrm>
            <a:off x="950976"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equation</a:t>
            </a:r>
            <a:endParaRPr/>
          </a:p>
        </p:txBody>
      </p:sp>
      <p:sp>
        <p:nvSpPr>
          <p:cNvPr id="370" name="Google Shape;370;p45"/>
          <p:cNvSpPr txBox="1"/>
          <p:nvPr/>
        </p:nvSpPr>
        <p:spPr>
          <a:xfrm>
            <a:off x="950976" y="2578608"/>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250" u="none" cap="none" strike="noStrike">
                <a:solidFill>
                  <a:srgbClr val="475569"/>
                </a:solidFill>
                <a:latin typeface="Arial"/>
                <a:ea typeface="Arial"/>
                <a:cs typeface="Arial"/>
                <a:sym typeface="Arial"/>
              </a:rPr>
              <a:t>A mathematical sentence with an equals sign that shows two amounts are the same</a:t>
            </a:r>
            <a:endParaRPr/>
          </a:p>
        </p:txBody>
      </p:sp>
      <p:sp>
        <p:nvSpPr>
          <p:cNvPr id="371" name="Google Shape;371;p45"/>
          <p:cNvSpPr/>
          <p:nvPr/>
        </p:nvSpPr>
        <p:spPr>
          <a:xfrm>
            <a:off x="6260576" y="2103120"/>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2" name="Google Shape;372;p45"/>
          <p:cNvSpPr/>
          <p:nvPr/>
        </p:nvSpPr>
        <p:spPr>
          <a:xfrm>
            <a:off x="6260576" y="2103120"/>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3" name="Google Shape;373;p45"/>
          <p:cNvSpPr txBox="1"/>
          <p:nvPr/>
        </p:nvSpPr>
        <p:spPr>
          <a:xfrm>
            <a:off x="6571472"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variable</a:t>
            </a:r>
            <a:endParaRPr/>
          </a:p>
        </p:txBody>
      </p:sp>
      <p:sp>
        <p:nvSpPr>
          <p:cNvPr id="374" name="Google Shape;374;p45"/>
          <p:cNvSpPr txBox="1"/>
          <p:nvPr/>
        </p:nvSpPr>
        <p:spPr>
          <a:xfrm>
            <a:off x="6571472" y="2578608"/>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250" u="none" cap="none" strike="noStrike">
                <a:solidFill>
                  <a:srgbClr val="475569"/>
                </a:solidFill>
                <a:latin typeface="Arial"/>
                <a:ea typeface="Arial"/>
                <a:cs typeface="Arial"/>
                <a:sym typeface="Arial"/>
              </a:rPr>
              <a:t>A letter that represents a quantity that can change, or vary</a:t>
            </a:r>
            <a:endParaRPr/>
          </a:p>
        </p:txBody>
      </p:sp>
      <p:sp>
        <p:nvSpPr>
          <p:cNvPr id="375" name="Google Shape;375;p45"/>
          <p:cNvSpPr/>
          <p:nvPr/>
        </p:nvSpPr>
        <p:spPr>
          <a:xfrm>
            <a:off x="640080" y="3401568"/>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6" name="Google Shape;376;p45"/>
          <p:cNvSpPr/>
          <p:nvPr/>
        </p:nvSpPr>
        <p:spPr>
          <a:xfrm>
            <a:off x="640080" y="3401568"/>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7" name="Google Shape;377;p45"/>
          <p:cNvSpPr txBox="1"/>
          <p:nvPr/>
        </p:nvSpPr>
        <p:spPr>
          <a:xfrm>
            <a:off x="950976" y="3538727"/>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rate</a:t>
            </a:r>
            <a:endParaRPr/>
          </a:p>
        </p:txBody>
      </p:sp>
      <p:sp>
        <p:nvSpPr>
          <p:cNvPr id="378" name="Google Shape;378;p45"/>
          <p:cNvSpPr txBox="1"/>
          <p:nvPr/>
        </p:nvSpPr>
        <p:spPr>
          <a:xfrm>
            <a:off x="950976" y="3877056"/>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250" u="none" cap="none" strike="noStrike">
                <a:solidFill>
                  <a:srgbClr val="475569"/>
                </a:solidFill>
                <a:latin typeface="Arial"/>
                <a:ea typeface="Arial"/>
                <a:cs typeface="Arial"/>
                <a:sym typeface="Arial"/>
              </a:rPr>
              <a:t>A fixed amount of one quantity for every one unit of the other quantity</a:t>
            </a:r>
            <a:endParaRPr/>
          </a:p>
        </p:txBody>
      </p:sp>
      <p:sp>
        <p:nvSpPr>
          <p:cNvPr id="379" name="Google Shape;379;p45"/>
          <p:cNvSpPr/>
          <p:nvPr/>
        </p:nvSpPr>
        <p:spPr>
          <a:xfrm>
            <a:off x="6260576" y="3401568"/>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0" name="Google Shape;380;p45"/>
          <p:cNvSpPr/>
          <p:nvPr/>
        </p:nvSpPr>
        <p:spPr>
          <a:xfrm>
            <a:off x="6260576" y="3401568"/>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1" name="Google Shape;381;p45"/>
          <p:cNvSpPr txBox="1"/>
          <p:nvPr/>
        </p:nvSpPr>
        <p:spPr>
          <a:xfrm>
            <a:off x="6571472" y="3538727"/>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represent</a:t>
            </a:r>
            <a:endParaRPr/>
          </a:p>
        </p:txBody>
      </p:sp>
      <p:sp>
        <p:nvSpPr>
          <p:cNvPr id="382" name="Google Shape;382;p45"/>
          <p:cNvSpPr txBox="1"/>
          <p:nvPr/>
        </p:nvSpPr>
        <p:spPr>
          <a:xfrm>
            <a:off x="6571472" y="3877056"/>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250" u="none" cap="none" strike="noStrike">
                <a:solidFill>
                  <a:srgbClr val="475569"/>
                </a:solidFill>
                <a:latin typeface="Arial"/>
                <a:ea typeface="Arial"/>
                <a:cs typeface="Arial"/>
                <a:sym typeface="Arial"/>
              </a:rPr>
              <a:t>To show a relationship using a tool such as a table, a graph, or an equation</a:t>
            </a:r>
            <a:endParaRPr/>
          </a:p>
        </p:txBody>
      </p:sp>
      <p:sp>
        <p:nvSpPr>
          <p:cNvPr id="383" name="Google Shape;383;p45"/>
          <p:cNvSpPr/>
          <p:nvPr/>
        </p:nvSpPr>
        <p:spPr>
          <a:xfrm>
            <a:off x="640080" y="4700016"/>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4" name="Google Shape;384;p45"/>
          <p:cNvSpPr/>
          <p:nvPr/>
        </p:nvSpPr>
        <p:spPr>
          <a:xfrm>
            <a:off x="640080" y="4700016"/>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5" name="Google Shape;385;p45"/>
          <p:cNvSpPr txBox="1"/>
          <p:nvPr/>
        </p:nvSpPr>
        <p:spPr>
          <a:xfrm>
            <a:off x="950976" y="4837176"/>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define the variables</a:t>
            </a:r>
            <a:endParaRPr/>
          </a:p>
        </p:txBody>
      </p:sp>
      <p:sp>
        <p:nvSpPr>
          <p:cNvPr id="386" name="Google Shape;386;p45"/>
          <p:cNvSpPr txBox="1"/>
          <p:nvPr/>
        </p:nvSpPr>
        <p:spPr>
          <a:xfrm>
            <a:off x="950976" y="5175504"/>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250" u="none" cap="none" strike="noStrike">
                <a:solidFill>
                  <a:srgbClr val="475569"/>
                </a:solidFill>
                <a:latin typeface="Arial"/>
                <a:ea typeface="Arial"/>
                <a:cs typeface="Arial"/>
                <a:sym typeface="Arial"/>
              </a:rPr>
              <a:t>To state exactly what quantity each letter in an equation stands for</a:t>
            </a:r>
            <a:endParaRPr/>
          </a:p>
        </p:txBody>
      </p:sp>
      <p:sp>
        <p:nvSpPr>
          <p:cNvPr id="38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14 / 49</a:t>
            </a:r>
          </a:p>
        </p:txBody>
      </p:sp>
      <p:sp xmlns:p="http://schemas.openxmlformats.org/presentationml/2006/main" xmlns:a="http://schemas.openxmlformats.org/drawingml/2006/main">
        <p:nvSpPr>
          <p:cNvPr id="388" name="TEACH-embedded-student-prompt" descr="Student thinking and response directions"/>
          <p:cNvSpPr txBox="1"/>
          <p:nvPr/>
        </p:nvSpPr>
        <p:spPr>
          <a:xfrm>
            <a:off x="6111240" y="55046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one math word using the example.</a:t>
            </a:r>
            <a:endParaRPr lang="en-US" sz="2000"/>
          </a:p>
          <a:p>
            <a:pPr>
              <a:lnSpc>
                <a:spcPts val="2400"/>
              </a:lnSpc>
              <a:buNone/>
            </a:pPr>
            <a:r>
              <a:rPr lang="en-US" sz="2000">
                <a:solidFill>
                  <a:srgbClr val="174D60"/>
                </a:solidFill>
                <a:latin typeface="Arial"/>
              </a:rPr>
              <a:t>Partner: point to evidence.</a:t>
            </a:r>
            <a:endParaRPr lang="en-US" sz="20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cxnSp>
        <p:nvCxnSpPr>
          <p:cNvPr id="549" name="Google Shape;549;p5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50" name="Google Shape;550;p54"/>
          <p:cNvSpPr txBox="1"/>
          <p:nvPr/>
        </p:nvSpPr>
        <p:spPr>
          <a:xfrm>
            <a:off x="484560"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defRPr/>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sp>
        <p:nvSpPr>
          <p:cNvPr id="551" name="Google Shape;551;p54"/>
          <p:cNvSpPr txBox="1"/>
          <p:nvPr/>
        </p:nvSpPr>
        <p:spPr>
          <a:xfrm>
            <a:off x="484560" y="936100"/>
            <a:ext cx="4441401" cy="52483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What do you notice?</a:t>
            </a:r>
            <a:endParaRPr b="0" i="0" sz="2800" u="none" cap="none" strike="noStrike">
              <a:solidFill>
                <a:schemeClr val="dk1"/>
              </a:solidFill>
              <a:latin typeface="Arial"/>
              <a:ea typeface="Arial"/>
              <a:cs typeface="Arial"/>
              <a:sym typeface="Arial"/>
            </a:endParaRPr>
          </a:p>
        </p:txBody>
      </p:sp>
      <p:pic>
        <p:nvPicPr>
          <p:cNvPr id="552" name="Google Shape;552;p54"/>
          <p:cNvPicPr preferRelativeResize="0"/>
          <p:nvPr/>
        </p:nvPicPr>
        <p:blipFill rotWithShape="1">
          <a:blip r:embed="rId3">
            <a:alphaModFix/>
          </a:blip>
          <a:srcRect b="0" l="0" r="0" t="0"/>
          <a:stretch/>
        </p:blipFill>
        <p:spPr>
          <a:xfrm>
            <a:off x="459052" y="5027952"/>
            <a:ext cx="5054600" cy="838200"/>
          </a:xfrm>
          <a:prstGeom prst="rect">
            <a:avLst/>
          </a:prstGeom>
          <a:noFill/>
          <a:ln>
            <a:noFill/>
          </a:ln>
        </p:spPr>
      </p:pic>
      <p:sp>
        <p:nvSpPr>
          <p:cNvPr id="553" name="Google Shape;553;p54"/>
          <p:cNvSpPr txBox="1"/>
          <p:nvPr/>
        </p:nvSpPr>
        <p:spPr>
          <a:xfrm>
            <a:off x="3174308" y="5185562"/>
            <a:ext cx="2194584" cy="52297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554" name="Google Shape;554;p54"/>
          <p:cNvSpPr txBox="1"/>
          <p:nvPr/>
        </p:nvSpPr>
        <p:spPr>
          <a:xfrm>
            <a:off x="459052" y="1497342"/>
            <a:ext cx="3929638" cy="52483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What do you wonder?</a:t>
            </a:r>
            <a:endParaRPr b="0" i="0" sz="2800" u="none" cap="none" strike="noStrike">
              <a:solidFill>
                <a:schemeClr val="dk1"/>
              </a:solidFill>
              <a:latin typeface="Arial"/>
              <a:ea typeface="Arial"/>
              <a:cs typeface="Arial"/>
              <a:sym typeface="Arial"/>
            </a:endParaRPr>
          </a:p>
        </p:txBody>
      </p:sp>
      <p:sp>
        <p:nvSpPr>
          <p:cNvPr id="555" name="Google Shape;555;p54"/>
          <p:cNvSpPr/>
          <p:nvPr/>
        </p:nvSpPr>
        <p:spPr>
          <a:xfrm>
            <a:off x="484560" y="5798938"/>
            <a:ext cx="10858943"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defRPr/>
            </a:pPr>
            <a:r>
              <a:rPr b="0" i="0" lang="en-US" sz="2600" u="none" cap="none" strike="noStrike">
                <a:solidFill>
                  <a:srgbClr val="595959"/>
                </a:solidFill>
                <a:latin typeface="Arial"/>
                <a:ea typeface="Arial"/>
                <a:cs typeface="Arial"/>
                <a:sym typeface="Arial"/>
              </a:rPr>
              <a:t>How can you show others that you respect their ideas about math?</a:t>
            </a:r>
            <a:endParaRPr b="0" i="0" sz="2600" u="none" cap="none" strike="noStrike">
              <a:solidFill>
                <a:srgbClr val="595959"/>
              </a:solidFill>
              <a:latin typeface="Arial"/>
              <a:ea typeface="Arial"/>
              <a:cs typeface="Arial"/>
              <a:sym typeface="Arial"/>
            </a:endParaRPr>
          </a:p>
        </p:txBody>
      </p:sp>
      <p:pic>
        <p:nvPicPr>
          <p:cNvPr descr="A picture containing text, black, device&#10;&#10;Description automatically generated" id="556" name="Google Shape;556;p54"/>
          <p:cNvPicPr preferRelativeResize="0"/>
          <p:nvPr/>
        </p:nvPicPr>
        <p:blipFill rotWithShape="1">
          <a:blip r:embed="rId4">
            <a:alphaModFix/>
          </a:blip>
          <a:srcRect b="0" l="0" r="0" t="0"/>
          <a:stretch/>
        </p:blipFill>
        <p:spPr>
          <a:xfrm>
            <a:off x="8673011" y="1434713"/>
            <a:ext cx="2888849" cy="3600000"/>
          </a:xfrm>
          <a:prstGeom prst="rect">
            <a:avLst/>
          </a:prstGeom>
          <a:noFill/>
          <a:ln>
            <a:noFill/>
          </a:ln>
        </p:spPr>
      </p:pic>
      <p:pic>
        <p:nvPicPr>
          <p:cNvPr descr="A picture containing outdoor, ground, area, playground&#10;&#10;Description automatically generated" id="557" name="Google Shape;557;p54"/>
          <p:cNvPicPr preferRelativeResize="0"/>
          <p:nvPr/>
        </p:nvPicPr>
        <p:blipFill rotWithShape="1">
          <a:blip r:embed="rId5">
            <a:alphaModFix/>
          </a:blip>
          <a:srcRect b="0" l="0" r="0" t="0"/>
          <a:stretch/>
        </p:blipFill>
        <p:spPr>
          <a:xfrm>
            <a:off x="4829729" y="1349147"/>
            <a:ext cx="3323333" cy="3599999"/>
          </a:xfrm>
          <a:prstGeom prst="rect">
            <a:avLst/>
          </a:prstGeom>
          <a:noFill/>
          <a:ln>
            <a:noFill/>
          </a:ln>
        </p:spPr>
      </p:pic>
      <p:sp>
        <p:nvSpPr>
          <p:cNvPr id="55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15 / 49</a:t>
            </a:r>
          </a:p>
        </p:txBody>
      </p:sp>
      <p:grpSp>
        <p:nvGrpSpPr>
          <p:cNvPr id="559" name="TEACH-3-student-move" descr="TEACH 3 · Use intentional questioning to deepen learning"/>
          <p:cNvGrpSpPr/>
          <p:nvPr/>
        </p:nvGrpSpPr>
        <p:grpSpPr>
          <a:xfrm>
            <a:off x="6187440" y="5122282"/>
            <a:ext cx="5501640" cy="594360"/>
            <a:chOff x="6187440" y="5122282"/>
            <a:chExt cx="5501640" cy="594360"/>
          </a:xfrm>
        </p:grpSpPr>
        <p:sp>
          <p:nvSpPr>
            <p:cNvPr id="560" name="TEACH-move-card"/>
            <p:cNvSpPr/>
            <p:nvPr/>
          </p:nvSpPr>
          <p:spPr>
            <a:xfrm>
              <a:off x="6187440" y="5122282"/>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61" name="TEACH-move-rule"/>
            <p:cNvSpPr/>
            <p:nvPr/>
          </p:nvSpPr>
          <p:spPr>
            <a:xfrm>
              <a:off x="6233160" y="5235210"/>
              <a:ext cx="100584" cy="368504"/>
            </a:xfrm>
            <a:prstGeom prst="roundRect">
              <a:avLst>
                <a:gd name="adj" fmla="val 50000"/>
              </a:avLst>
            </a:prstGeom>
            <a:solidFill>
              <a:srgbClr val="01708C"/>
            </a:solidFill>
            <a:ln>
              <a:noFill/>
            </a:ln>
          </p:spPr>
          <p:txBody>
            <a:bodyPr/>
            <a:lstStyle/>
            <a:p>
              <a:endParaRPr/>
            </a:p>
          </p:txBody>
        </p:sp>
        <p:sp>
          <p:nvSpPr>
            <p:cNvPr id="562" name="TEACH-move-text"/>
            <p:cNvSpPr txBox="1"/>
            <p:nvPr/>
          </p:nvSpPr>
          <p:spPr>
            <a:xfrm>
              <a:off x="6507480" y="5122282"/>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HOW DO YOU KNOW?  ·  </a:t>
              </a:r>
              <a:r>
                <a:rPr lang="en-US" sz="1200" dirty="0">
                  <a:solidFill>
                    <a:srgbClr val="13303A"/>
                  </a:solidFill>
                  <a:latin typeface="Arial"/>
                </a:rPr>
                <a:t>Ask your partner “How do you know?” Answer by pointing to your own work.</a:t>
              </a:r>
              <a:endParaRPr lang="en-US" sz="1200"/>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cxnSp>
        <p:nvCxnSpPr>
          <p:cNvPr id="562" name="Google Shape;562;p5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63" name="Google Shape;563;p55"/>
          <p:cNvSpPr txBox="1"/>
          <p:nvPr/>
        </p:nvSpPr>
        <p:spPr>
          <a:xfrm>
            <a:off x="486000" y="316800"/>
            <a:ext cx="5015483" cy="5214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The Cost of Fitness</a:t>
            </a:r>
            <a:endParaRPr b="1" i="0" sz="2800" u="none" cap="none" strike="noStrike">
              <a:solidFill>
                <a:srgbClr val="7030A0"/>
              </a:solidFill>
              <a:latin typeface="Arial"/>
              <a:ea typeface="Arial"/>
              <a:cs typeface="Arial"/>
              <a:sym typeface="Arial"/>
            </a:endParaRPr>
          </a:p>
        </p:txBody>
      </p:sp>
      <p:sp>
        <p:nvSpPr>
          <p:cNvPr id="564" name="Google Shape;564;p55"/>
          <p:cNvSpPr txBox="1"/>
          <p:nvPr/>
        </p:nvSpPr>
        <p:spPr>
          <a:xfrm>
            <a:off x="484564" y="936000"/>
            <a:ext cx="7459286" cy="156006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Miguel is interested in joining a recreation center. Recreation World charges the monthly fee shown on the flyer.</a:t>
            </a:r>
            <a:endParaRPr b="0" i="0" sz="1400" u="none" cap="none" strike="noStrike">
              <a:solidFill>
                <a:srgbClr val="000000"/>
              </a:solidFill>
              <a:latin typeface="Arial"/>
              <a:ea typeface="Arial"/>
              <a:cs typeface="Arial"/>
              <a:sym typeface="Arial"/>
            </a:endParaRPr>
          </a:p>
        </p:txBody>
      </p:sp>
      <p:sp>
        <p:nvSpPr>
          <p:cNvPr id="565" name="Google Shape;565;p55"/>
          <p:cNvSpPr txBox="1"/>
          <p:nvPr/>
        </p:nvSpPr>
        <p:spPr>
          <a:xfrm>
            <a:off x="483464" y="3075512"/>
            <a:ext cx="7460385"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How can Miguel determine the cost of being a member of Recreation World for any number of months?</a:t>
            </a:r>
            <a:endParaRPr b="0" i="0" sz="1400" u="none" cap="none" strike="noStrike">
              <a:solidFill>
                <a:srgbClr val="000000"/>
              </a:solidFill>
              <a:latin typeface="Arial"/>
              <a:ea typeface="Arial"/>
              <a:cs typeface="Arial"/>
              <a:sym typeface="Arial"/>
            </a:endParaRPr>
          </a:p>
        </p:txBody>
      </p:sp>
      <p:pic>
        <p:nvPicPr>
          <p:cNvPr id="566" name="Google Shape;566;p55"/>
          <p:cNvPicPr preferRelativeResize="0"/>
          <p:nvPr/>
        </p:nvPicPr>
        <p:blipFill rotWithShape="1">
          <a:blip r:embed="rId3">
            <a:alphaModFix/>
          </a:blip>
          <a:srcRect b="0" l="0" r="0" t="0"/>
          <a:stretch/>
        </p:blipFill>
        <p:spPr>
          <a:xfrm>
            <a:off x="8294626" y="1385925"/>
            <a:ext cx="3622542" cy="2581200"/>
          </a:xfrm>
          <a:prstGeom prst="rect">
            <a:avLst/>
          </a:prstGeom>
          <a:noFill/>
          <a:ln>
            <a:noFill/>
          </a:ln>
        </p:spPr>
      </p:pic>
      <p:sp>
        <p:nvSpPr>
          <p:cNvPr id="56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16 / 49</a:t>
            </a:r>
          </a:p>
        </p:txBody>
      </p:sp>
      <p:sp xmlns:p="http://schemas.openxmlformats.org/presentationml/2006/main" xmlns:a="http://schemas.openxmlformats.org/drawingml/2006/main">
        <p:nvSpPr>
          <p:cNvPr id="568" name="TEACH-embedded-student-prompt" descr="Student thinking and response directions"/>
          <p:cNvSpPr txBox="1"/>
          <p:nvPr/>
        </p:nvSpPr>
        <p:spPr>
          <a:xfrm>
            <a:off x="594360" y="572414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 answer?</a:t>
            </a:r>
            <a:endParaRPr lang="en-US" sz="20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cxnSp>
        <p:nvCxnSpPr>
          <p:cNvPr id="582" name="Google Shape;582;p5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83" name="Google Shape;583;p57"/>
          <p:cNvSpPr txBox="1"/>
          <p:nvPr/>
        </p:nvSpPr>
        <p:spPr>
          <a:xfrm>
            <a:off x="484563" y="936000"/>
            <a:ext cx="7468811" cy="1313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Miguel is interested in joining a recreation center. Recreation World charges the monthly fee shown on the flyer.</a:t>
            </a:r>
            <a:endParaRPr b="0" i="0" sz="1400" u="none" cap="none" strike="noStrike">
              <a:solidFill>
                <a:srgbClr val="000000"/>
              </a:solidFill>
              <a:latin typeface="Arial"/>
              <a:ea typeface="Arial"/>
              <a:cs typeface="Arial"/>
              <a:sym typeface="Arial"/>
            </a:endParaRPr>
          </a:p>
        </p:txBody>
      </p:sp>
      <p:sp>
        <p:nvSpPr>
          <p:cNvPr id="584" name="Google Shape;584;p57"/>
          <p:cNvSpPr txBox="1"/>
          <p:nvPr/>
        </p:nvSpPr>
        <p:spPr>
          <a:xfrm>
            <a:off x="484564" y="2304446"/>
            <a:ext cx="7468810"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How can Miguel determine the cost of being a member of Recreation World for any number of months?</a:t>
            </a:r>
            <a:endParaRPr b="1" i="0" sz="2800" u="none" cap="none" strike="noStrike">
              <a:solidFill>
                <a:schemeClr val="dk1"/>
              </a:solidFill>
              <a:latin typeface="Arial"/>
              <a:ea typeface="Arial"/>
              <a:cs typeface="Arial"/>
              <a:sym typeface="Arial"/>
            </a:endParaRPr>
          </a:p>
        </p:txBody>
      </p:sp>
      <p:sp>
        <p:nvSpPr>
          <p:cNvPr id="585" name="Google Shape;585;p57"/>
          <p:cNvSpPr txBox="1"/>
          <p:nvPr/>
        </p:nvSpPr>
        <p:spPr>
          <a:xfrm>
            <a:off x="484564" y="4753539"/>
            <a:ext cx="11284649" cy="15572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The quantities are the number of months of membership and the total cost. The total cost depends on the number of months of membership.</a:t>
            </a:r>
            <a:endParaRPr b="0" i="0" sz="1400" u="none" cap="none" strike="noStrike">
              <a:solidFill>
                <a:srgbClr val="000000"/>
              </a:solidFill>
              <a:latin typeface="Arial"/>
              <a:ea typeface="Arial"/>
              <a:cs typeface="Arial"/>
              <a:sym typeface="Arial"/>
            </a:endParaRPr>
          </a:p>
        </p:txBody>
      </p:sp>
      <p:sp>
        <p:nvSpPr>
          <p:cNvPr id="586" name="Google Shape;586;p57"/>
          <p:cNvSpPr/>
          <p:nvPr/>
        </p:nvSpPr>
        <p:spPr>
          <a:xfrm>
            <a:off x="484564" y="3744437"/>
            <a:ext cx="8815193"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What are the quantities in the problem?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Does one quantity depend on the other? Explain.</a:t>
            </a:r>
            <a:endParaRPr b="0" i="0" sz="2800" u="none" cap="none" strike="noStrike">
              <a:solidFill>
                <a:schemeClr val="dk1"/>
              </a:solidFill>
              <a:latin typeface="Arial"/>
              <a:ea typeface="Arial"/>
              <a:cs typeface="Arial"/>
              <a:sym typeface="Arial"/>
            </a:endParaRPr>
          </a:p>
        </p:txBody>
      </p:sp>
      <p:pic>
        <p:nvPicPr>
          <p:cNvPr id="587" name="Google Shape;587;p57"/>
          <p:cNvPicPr preferRelativeResize="0"/>
          <p:nvPr/>
        </p:nvPicPr>
        <p:blipFill rotWithShape="1">
          <a:blip r:embed="rId3">
            <a:alphaModFix/>
          </a:blip>
          <a:srcRect b="0" l="0" r="0" t="0"/>
          <a:stretch/>
        </p:blipFill>
        <p:spPr>
          <a:xfrm>
            <a:off x="8294626" y="1385925"/>
            <a:ext cx="3622542" cy="2581200"/>
          </a:xfrm>
          <a:prstGeom prst="rect">
            <a:avLst/>
          </a:prstGeom>
          <a:noFill/>
          <a:ln>
            <a:noFill/>
          </a:ln>
        </p:spPr>
      </p:pic>
      <p:sp>
        <p:nvSpPr>
          <p:cNvPr id="588" name="Google Shape;588;p57"/>
          <p:cNvSpPr txBox="1"/>
          <p:nvPr/>
        </p:nvSpPr>
        <p:spPr>
          <a:xfrm>
            <a:off x="486000" y="316800"/>
            <a:ext cx="5015483" cy="5214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The Cost of Fitness</a:t>
            </a:r>
            <a:endParaRPr b="1" i="0" sz="2800" u="none" cap="none" strike="noStrike">
              <a:solidFill>
                <a:srgbClr val="7030A0"/>
              </a:solidFill>
              <a:latin typeface="Arial"/>
              <a:ea typeface="Arial"/>
              <a:cs typeface="Arial"/>
              <a:sym typeface="Arial"/>
            </a:endParaRPr>
          </a:p>
        </p:txBody>
      </p:sp>
      <p:sp>
        <p:nvSpPr>
          <p:cNvPr id="58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17 / 49</a:t>
            </a:r>
          </a:p>
        </p:txBody>
      </p:sp>
      <p:sp>
        <p:nvSpPr>
          <p:cNvPr id="590" name="EWL-COVER-1"/>
          <p:cNvSpPr/>
          <p:nvPr/>
        </p:nvSpPr>
        <p:spPr>
          <a:xfrm>
            <a:off x="429700" y="4698675"/>
            <a:ext cx="11394377" cy="1666991"/>
          </a:xfrm>
          <a:prstGeom prst="rect">
            <a:avLst/>
          </a:prstGeom>
          <a:solidFill>
            <a:srgbClr val="FFFFFF"/>
          </a:solidFill>
          <a:ln>
            <a:noFill/>
          </a:ln>
        </p:spPr>
        <p:txBody>
          <a:bodyPr/>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59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cxnSp>
        <p:nvCxnSpPr>
          <p:cNvPr id="593" name="Google Shape;593;p5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94" name="Google Shape;594;p58"/>
          <p:cNvSpPr txBox="1"/>
          <p:nvPr/>
        </p:nvSpPr>
        <p:spPr>
          <a:xfrm>
            <a:off x="486001" y="936000"/>
            <a:ext cx="7410224"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The total cost depends on the number of months of membership.</a:t>
            </a:r>
            <a:endParaRPr b="0" i="0" sz="1400" u="none" cap="none" strike="noStrike">
              <a:solidFill>
                <a:srgbClr val="000000"/>
              </a:solidFill>
              <a:latin typeface="Arial"/>
              <a:ea typeface="Arial"/>
              <a:cs typeface="Arial"/>
              <a:sym typeface="Arial"/>
            </a:endParaRPr>
          </a:p>
        </p:txBody>
      </p:sp>
      <p:sp>
        <p:nvSpPr>
          <p:cNvPr id="595" name="Google Shape;595;p58"/>
          <p:cNvSpPr txBox="1"/>
          <p:nvPr/>
        </p:nvSpPr>
        <p:spPr>
          <a:xfrm>
            <a:off x="486000" y="2137685"/>
            <a:ext cx="7195036"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We can use a table of values to show the total cost for various numbers of months.</a:t>
            </a:r>
            <a:endParaRPr b="1" i="0" sz="2800" u="none" cap="none" strike="noStrike">
              <a:solidFill>
                <a:schemeClr val="dk1"/>
              </a:solidFill>
              <a:latin typeface="Arial"/>
              <a:ea typeface="Arial"/>
              <a:cs typeface="Arial"/>
              <a:sym typeface="Arial"/>
            </a:endParaRPr>
          </a:p>
        </p:txBody>
      </p:sp>
      <p:sp>
        <p:nvSpPr>
          <p:cNvPr id="596" name="Google Shape;596;p58"/>
          <p:cNvSpPr/>
          <p:nvPr/>
        </p:nvSpPr>
        <p:spPr>
          <a:xfrm>
            <a:off x="460264" y="3339369"/>
            <a:ext cx="4150519" cy="224676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How can you complete the table to show the total cost of being a member for different numbers of months?</a:t>
            </a:r>
            <a:endParaRPr b="0" i="0" sz="2800" u="none" cap="none" strike="noStrike">
              <a:solidFill>
                <a:schemeClr val="dk1"/>
              </a:solidFill>
              <a:latin typeface="Arial"/>
              <a:ea typeface="Arial"/>
              <a:cs typeface="Arial"/>
              <a:sym typeface="Arial"/>
            </a:endParaRPr>
          </a:p>
        </p:txBody>
      </p:sp>
      <p:pic>
        <p:nvPicPr>
          <p:cNvPr descr="C:\Users\HP\Desktop\G6 U9\OPS\img\chapter25\ec44290ca2a841dd889d8b70d5e421b1.png" id="597" name="Google Shape;597;p58"/>
          <p:cNvPicPr preferRelativeResize="0"/>
          <p:nvPr/>
        </p:nvPicPr>
        <p:blipFill rotWithShape="1">
          <a:blip r:embed="rId3">
            <a:alphaModFix/>
          </a:blip>
          <a:srcRect b="0" l="0" r="0" t="0"/>
          <a:stretch/>
        </p:blipFill>
        <p:spPr>
          <a:xfrm>
            <a:off x="4610783" y="3482525"/>
            <a:ext cx="2838450" cy="2276475"/>
          </a:xfrm>
          <a:prstGeom prst="rect">
            <a:avLst/>
          </a:prstGeom>
          <a:noFill/>
          <a:ln>
            <a:noFill/>
          </a:ln>
        </p:spPr>
      </p:pic>
      <p:pic>
        <p:nvPicPr>
          <p:cNvPr id="598" name="Google Shape;598;p58"/>
          <p:cNvPicPr preferRelativeResize="0"/>
          <p:nvPr/>
        </p:nvPicPr>
        <p:blipFill rotWithShape="1">
          <a:blip r:embed="rId4">
            <a:alphaModFix/>
          </a:blip>
          <a:srcRect b="0" l="0" r="0" t="0"/>
          <a:stretch/>
        </p:blipFill>
        <p:spPr>
          <a:xfrm>
            <a:off x="8294626" y="1385925"/>
            <a:ext cx="3622542" cy="2581200"/>
          </a:xfrm>
          <a:prstGeom prst="rect">
            <a:avLst/>
          </a:prstGeom>
          <a:noFill/>
          <a:ln>
            <a:noFill/>
          </a:ln>
        </p:spPr>
      </p:pic>
      <p:sp>
        <p:nvSpPr>
          <p:cNvPr id="599" name="Google Shape;599;p58"/>
          <p:cNvSpPr txBox="1"/>
          <p:nvPr/>
        </p:nvSpPr>
        <p:spPr>
          <a:xfrm>
            <a:off x="486000" y="316800"/>
            <a:ext cx="5015483" cy="5214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The Cost of Fitness</a:t>
            </a:r>
            <a:endParaRPr b="1" i="0" sz="2800" u="none" cap="none" strike="noStrike">
              <a:solidFill>
                <a:srgbClr val="7030A0"/>
              </a:solidFill>
              <a:latin typeface="Arial"/>
              <a:ea typeface="Arial"/>
              <a:cs typeface="Arial"/>
              <a:sym typeface="Arial"/>
            </a:endParaRPr>
          </a:p>
        </p:txBody>
      </p:sp>
      <p:sp>
        <p:nvSpPr>
          <p:cNvPr id="60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19 / 49</a:t>
            </a:r>
          </a:p>
        </p:txBody>
      </p:sp>
      <p:grpSp>
        <p:nvGrpSpPr>
          <p:cNvPr id="601" name="TEACH-6-student-move" descr="TEACH 6 · Organize and implement routines to support a learning-focused classroom"/>
          <p:cNvGrpSpPr/>
          <p:nvPr/>
        </p:nvGrpSpPr>
        <p:grpSpPr>
          <a:xfrm>
            <a:off x="502920" y="5795576"/>
            <a:ext cx="11186160" cy="457200"/>
            <a:chOff x="502920" y="5795576"/>
            <a:chExt cx="11186160" cy="457200"/>
          </a:xfrm>
        </p:grpSpPr>
        <p:sp>
          <p:nvSpPr>
            <p:cNvPr id="602" name="TEACH-move-card"/>
            <p:cNvSpPr/>
            <p:nvPr/>
          </p:nvSpPr>
          <p:spPr>
            <a:xfrm>
              <a:off x="502920" y="5795576"/>
              <a:ext cx="11186160" cy="457200"/>
            </a:xfrm>
            <a:prstGeom prst="roundRect">
              <a:avLst>
                <a:gd name="adj" fmla="val 16000"/>
              </a:avLst>
            </a:prstGeom>
            <a:solidFill>
              <a:srgbClr val="E4F0F5"/>
            </a:solidFill>
            <a:ln w="19050">
              <a:solidFill>
                <a:srgbClr val="8CB8C7"/>
              </a:solidFill>
            </a:ln>
          </p:spPr>
          <p:txBody>
            <a:bodyPr/>
            <a:lstStyle/>
            <a:p>
              <a:endParaRPr/>
            </a:p>
          </p:txBody>
        </p:sp>
        <p:sp>
          <p:nvSpPr>
            <p:cNvPr id="603" name="TEACH-move-rule"/>
            <p:cNvSpPr/>
            <p:nvPr/>
          </p:nvSpPr>
          <p:spPr>
            <a:xfrm>
              <a:off x="548640" y="5882444"/>
              <a:ext cx="100584" cy="283464"/>
            </a:xfrm>
            <a:prstGeom prst="roundRect">
              <a:avLst>
                <a:gd name="adj" fmla="val 50000"/>
              </a:avLst>
            </a:prstGeom>
            <a:solidFill>
              <a:srgbClr val="01708C"/>
            </a:solidFill>
            <a:ln>
              <a:noFill/>
            </a:ln>
          </p:spPr>
          <p:txBody>
            <a:bodyPr/>
            <a:lstStyle/>
            <a:p>
              <a:endParaRPr/>
            </a:p>
          </p:txBody>
        </p:sp>
        <p:sp>
          <p:nvSpPr>
            <p:cNvPr id="604" name="TEACH-move-text"/>
            <p:cNvSpPr txBox="1"/>
            <p:nvPr/>
          </p:nvSpPr>
          <p:spPr>
            <a:xfrm>
              <a:off x="822960" y="5795576"/>
              <a:ext cx="10728960" cy="45720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TRY IT BEFORE YOU’RE SURE  ·  </a:t>
              </a:r>
              <a:r>
                <a:rPr lang="en-US" sz="1400" dirty="0">
                  <a:solidFill>
                    <a:srgbClr val="13303A"/>
                  </a:solidFill>
                  <a:latin typeface="Arial"/>
                </a:rPr>
                <a:t>Start even if you are not sure. A revised answer counts as much as a first-try answer.</a:t>
              </a:r>
              <a:endParaRPr lang="en-US" sz="1400"/>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cxnSp>
        <p:nvCxnSpPr>
          <p:cNvPr id="626" name="Google Shape;626;p6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27" name="Google Shape;627;p61"/>
          <p:cNvSpPr txBox="1"/>
          <p:nvPr/>
        </p:nvSpPr>
        <p:spPr>
          <a:xfrm>
            <a:off x="486000" y="959691"/>
            <a:ext cx="7343550" cy="101904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The total cost depends on the number of months of membership.</a:t>
            </a:r>
            <a:endParaRPr b="0" i="0" sz="1400" u="none" cap="none" strike="noStrike">
              <a:solidFill>
                <a:srgbClr val="000000"/>
              </a:solidFill>
              <a:latin typeface="Arial"/>
              <a:ea typeface="Arial"/>
              <a:cs typeface="Arial"/>
              <a:sym typeface="Arial"/>
            </a:endParaRPr>
          </a:p>
        </p:txBody>
      </p:sp>
      <p:sp>
        <p:nvSpPr>
          <p:cNvPr id="628" name="Google Shape;628;p61"/>
          <p:cNvSpPr txBox="1"/>
          <p:nvPr/>
        </p:nvSpPr>
        <p:spPr>
          <a:xfrm>
            <a:off x="486000" y="5371443"/>
            <a:ext cx="6963251" cy="10103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It increases by $24.95 each month.</a:t>
            </a:r>
            <a:endParaRPr b="0" i="0" sz="1400" u="none" cap="none" strike="noStrike">
              <a:solidFill>
                <a:srgbClr val="000000"/>
              </a:solidFill>
              <a:latin typeface="Arial"/>
              <a:ea typeface="Arial"/>
              <a:cs typeface="Arial"/>
              <a:sym typeface="Arial"/>
            </a:endParaRPr>
          </a:p>
        </p:txBody>
      </p:sp>
      <p:sp>
        <p:nvSpPr>
          <p:cNvPr id="629" name="Google Shape;629;p61"/>
          <p:cNvSpPr/>
          <p:nvPr/>
        </p:nvSpPr>
        <p:spPr>
          <a:xfrm>
            <a:off x="486000" y="4818829"/>
            <a:ext cx="8762775"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What do you notice about the total cost?</a:t>
            </a:r>
            <a:endParaRPr b="0" i="0" sz="2800" u="none" cap="none" strike="noStrike">
              <a:solidFill>
                <a:schemeClr val="dk1"/>
              </a:solidFill>
              <a:latin typeface="Arial"/>
              <a:ea typeface="Arial"/>
              <a:cs typeface="Arial"/>
              <a:sym typeface="Arial"/>
            </a:endParaRPr>
          </a:p>
        </p:txBody>
      </p:sp>
      <p:graphicFrame>
        <p:nvGraphicFramePr>
          <p:cNvPr id="630" name="Google Shape;630;p61"/>
          <p:cNvGraphicFramePr/>
          <p:nvPr/>
        </p:nvGraphicFramePr>
        <p:xfrm>
          <a:off x="486000" y="1960508"/>
          <a:ext cx="3000000" cy="3000000"/>
        </p:xfrm>
        <a:graphic>
          <a:graphicData uri="http://schemas.openxmlformats.org/drawingml/2006/table">
            <a:tbl>
              <a:tblPr bandRow="1" firstRow="1">
                <a:noFill/>
                <a:tableStyleId>{8076CFA3-0C6F-4F52-99AF-6655AA8B3034}</a:tableStyleId>
              </a:tblPr>
              <a:tblGrid>
                <a:gridCol w="2062225"/>
                <a:gridCol w="3409625"/>
              </a:tblGrid>
              <a:tr h="479300">
                <a:tc gridSpan="2">
                  <a:txBody>
                    <a:bodyPr/>
                    <a:lstStyle/>
                    <a:p>
                      <a:pPr indent="0" lvl="0" marL="0" marR="0" rtl="0" algn="l">
                        <a:lnSpc>
                          <a:spcPct val="100000"/>
                        </a:lnSpc>
                        <a:spcBef>
                          <a:spcPts val="0"/>
                        </a:spcBef>
                        <a:spcAft>
                          <a:spcPts val="0"/>
                        </a:spcAft>
                        <a:buClr>
                          <a:srgbClr val="000000"/>
                        </a:buClr>
                        <a:buSzPts val="2000"/>
                        <a:buFont typeface="Arial"/>
                        <a:buNone/>
                      </a:pPr>
                      <a:r>
                        <a:rPr b="1" lang="en-US" sz="2000" u="none" cap="none" strike="noStrike">
                          <a:solidFill>
                            <a:schemeClr val="dk1"/>
                          </a:solidFill>
                          <a:latin typeface="Arial"/>
                          <a:ea typeface="Arial"/>
                          <a:cs typeface="Arial"/>
                          <a:sym typeface="Arial"/>
                        </a:rPr>
                        <a:t>Membership Cost</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hMerge="1"/>
              </a:tr>
              <a:tr h="416050">
                <a:tc>
                  <a:txBody>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Arial"/>
                          <a:ea typeface="Arial"/>
                          <a:cs typeface="Arial"/>
                          <a:sym typeface="Arial"/>
                        </a:rPr>
                        <a:t>Months</a:t>
                      </a:r>
                      <a:endParaRPr b="1" i="0" sz="2000" u="none" cap="none" strike="noStrike">
                        <a:solidFill>
                          <a:schemeClr val="lt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rgbClr val="625D9C"/>
                    </a:solidFill>
                  </a:tcPr>
                </a:tc>
                <a:tc>
                  <a:txBody>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Arial"/>
                          <a:ea typeface="Arial"/>
                          <a:cs typeface="Arial"/>
                          <a:sym typeface="Arial"/>
                        </a:rPr>
                        <a:t>Total Cost($)</a:t>
                      </a:r>
                      <a:endParaRPr b="1" i="0" sz="2000" u="none" cap="none" strike="noStrike">
                        <a:solidFill>
                          <a:schemeClr val="lt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rgbClr val="625D9C"/>
                    </a:solidFill>
                  </a:tcPr>
                </a:tc>
              </a:tr>
              <a:tr h="368425">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solidFill>
                            <a:schemeClr val="dk1"/>
                          </a:solidFill>
                          <a:latin typeface="Arial"/>
                          <a:ea typeface="Arial"/>
                          <a:cs typeface="Arial"/>
                          <a:sym typeface="Arial"/>
                        </a:rPr>
                        <a:t>1</a:t>
                      </a:r>
                      <a:endParaRPr sz="2000" u="none" cap="none" strike="noStrike">
                        <a:solidFill>
                          <a:schemeClr val="dk1"/>
                        </a:solidFill>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solidFill>
                            <a:schemeClr val="dk1"/>
                          </a:solidFill>
                          <a:latin typeface="Arial"/>
                          <a:ea typeface="Arial"/>
                          <a:cs typeface="Arial"/>
                          <a:sym typeface="Arial"/>
                        </a:rPr>
                        <a:t>24.95</a:t>
                      </a:r>
                      <a:endParaRPr sz="2000" u="none" cap="none" strike="noStrike">
                        <a:solidFill>
                          <a:schemeClr val="dk1"/>
                        </a:solidFill>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66825">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solidFill>
                            <a:schemeClr val="dk1"/>
                          </a:solidFill>
                          <a:latin typeface="Arial"/>
                          <a:ea typeface="Arial"/>
                          <a:cs typeface="Arial"/>
                          <a:sym typeface="Arial"/>
                        </a:rPr>
                        <a:t>2</a:t>
                      </a:r>
                      <a:endParaRPr sz="2000" u="none" cap="none" strike="noStrike">
                        <a:solidFill>
                          <a:schemeClr val="dk1"/>
                        </a:solidFill>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solidFill>
                            <a:schemeClr val="dk1"/>
                          </a:solidFill>
                          <a:latin typeface="Arial"/>
                          <a:ea typeface="Arial"/>
                          <a:cs typeface="Arial"/>
                          <a:sym typeface="Arial"/>
                        </a:rPr>
                        <a:t>49.90</a:t>
                      </a:r>
                      <a:endParaRPr sz="2000" u="none" cap="none" strike="noStrike">
                        <a:solidFill>
                          <a:schemeClr val="dk1"/>
                        </a:solidFill>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85875">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solidFill>
                            <a:schemeClr val="dk1"/>
                          </a:solidFill>
                          <a:latin typeface="Arial"/>
                          <a:ea typeface="Arial"/>
                          <a:cs typeface="Arial"/>
                          <a:sym typeface="Arial"/>
                        </a:rPr>
                        <a:t>3</a:t>
                      </a:r>
                      <a:endParaRPr sz="2000" u="none" cap="none" strike="noStrike">
                        <a:solidFill>
                          <a:schemeClr val="dk1"/>
                        </a:solidFill>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solidFill>
                            <a:schemeClr val="dk1"/>
                          </a:solidFill>
                          <a:latin typeface="Arial"/>
                          <a:ea typeface="Arial"/>
                          <a:cs typeface="Arial"/>
                          <a:sym typeface="Arial"/>
                        </a:rPr>
                        <a:t>74.85</a:t>
                      </a:r>
                      <a:endParaRPr sz="2000" u="none" cap="none" strike="noStrike">
                        <a:solidFill>
                          <a:schemeClr val="dk1"/>
                        </a:solidFill>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66825">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solidFill>
                            <a:schemeClr val="dk1"/>
                          </a:solidFill>
                          <a:latin typeface="Arial"/>
                          <a:ea typeface="Arial"/>
                          <a:cs typeface="Arial"/>
                          <a:sym typeface="Arial"/>
                        </a:rPr>
                        <a:t>4</a:t>
                      </a:r>
                      <a:endParaRPr sz="2000" u="none" cap="none" strike="noStrike">
                        <a:solidFill>
                          <a:schemeClr val="dk1"/>
                        </a:solidFill>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solidFill>
                            <a:schemeClr val="dk1"/>
                          </a:solidFill>
                          <a:latin typeface="Arial"/>
                          <a:ea typeface="Arial"/>
                          <a:cs typeface="Arial"/>
                          <a:sym typeface="Arial"/>
                        </a:rPr>
                        <a:t>99.80</a:t>
                      </a:r>
                      <a:endParaRPr sz="2000" u="none" cap="none" strike="noStrike">
                        <a:solidFill>
                          <a:schemeClr val="dk1"/>
                        </a:solidFill>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43000">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solidFill>
                            <a:schemeClr val="dk1"/>
                          </a:solidFill>
                          <a:latin typeface="Arial"/>
                          <a:ea typeface="Arial"/>
                          <a:cs typeface="Arial"/>
                          <a:sym typeface="Arial"/>
                        </a:rPr>
                        <a:t>10</a:t>
                      </a:r>
                      <a:endParaRPr sz="2000" u="none" cap="none" strike="noStrike">
                        <a:solidFill>
                          <a:schemeClr val="dk1"/>
                        </a:solidFill>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solidFill>
                            <a:schemeClr val="dk1"/>
                          </a:solidFill>
                          <a:latin typeface="Arial"/>
                          <a:ea typeface="Arial"/>
                          <a:cs typeface="Arial"/>
                          <a:sym typeface="Arial"/>
                        </a:rPr>
                        <a:t>249.50</a:t>
                      </a:r>
                      <a:endParaRPr sz="2000" u="none" cap="none" strike="noStrike">
                        <a:solidFill>
                          <a:schemeClr val="dk1"/>
                        </a:solidFill>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pic>
        <p:nvPicPr>
          <p:cNvPr id="631" name="Google Shape;631;p61"/>
          <p:cNvPicPr preferRelativeResize="0"/>
          <p:nvPr/>
        </p:nvPicPr>
        <p:blipFill rotWithShape="1">
          <a:blip r:embed="rId3">
            <a:alphaModFix/>
          </a:blip>
          <a:srcRect b="0" l="0" r="0" t="0"/>
          <a:stretch/>
        </p:blipFill>
        <p:spPr>
          <a:xfrm>
            <a:off x="8294626" y="1385925"/>
            <a:ext cx="3622542" cy="2581200"/>
          </a:xfrm>
          <a:prstGeom prst="rect">
            <a:avLst/>
          </a:prstGeom>
          <a:noFill/>
          <a:ln>
            <a:noFill/>
          </a:ln>
        </p:spPr>
      </p:pic>
      <p:sp>
        <p:nvSpPr>
          <p:cNvPr id="632" name="Google Shape;632;p61"/>
          <p:cNvSpPr txBox="1"/>
          <p:nvPr/>
        </p:nvSpPr>
        <p:spPr>
          <a:xfrm>
            <a:off x="486000" y="316800"/>
            <a:ext cx="5015483" cy="5214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The Cost of Fitness</a:t>
            </a:r>
            <a:endParaRPr b="1" i="0" sz="2800" u="none" cap="none" strike="noStrike">
              <a:solidFill>
                <a:srgbClr val="7030A0"/>
              </a:solidFill>
              <a:latin typeface="Arial"/>
              <a:ea typeface="Arial"/>
              <a:cs typeface="Arial"/>
              <a:sym typeface="Arial"/>
            </a:endParaRPr>
          </a:p>
        </p:txBody>
      </p:sp>
      <p:sp>
        <p:nvSpPr>
          <p:cNvPr id="6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20 / 49</a:t>
            </a:r>
          </a:p>
        </p:txBody>
      </p:sp>
      <p:sp>
        <p:nvSpPr>
          <p:cNvPr id="634" name="EWL-COVER-1"/>
          <p:cNvSpPr/>
          <p:nvPr/>
        </p:nvSpPr>
        <p:spPr>
          <a:xfrm>
            <a:off x="431136" y="5316579"/>
            <a:ext cx="7072979" cy="1120035"/>
          </a:xfrm>
          <a:prstGeom prst="rect">
            <a:avLst/>
          </a:prstGeom>
          <a:solidFill>
            <a:srgbClr val="FFFFFF"/>
          </a:solidFill>
          <a:ln>
            <a:noFill/>
          </a:ln>
        </p:spPr>
        <p:txBody>
          <a:bodyPr/>
          <a:lstStyle/>
          <a:p/>
        </p:txBody>
      </p:sp>
      <p:grpSp>
        <p:nvGrpSpPr>
          <p:cNvPr id="635" name="TEACH-3-student-move" descr="TEACH 3 · Use intentional questioning to deepen learning"/>
          <p:cNvGrpSpPr/>
          <p:nvPr/>
        </p:nvGrpSpPr>
        <p:grpSpPr>
          <a:xfrm>
            <a:off x="6187440" y="4142173"/>
            <a:ext cx="5501640" cy="594360"/>
            <a:chOff x="6187440" y="4142173"/>
            <a:chExt cx="5501640" cy="594360"/>
          </a:xfrm>
        </p:grpSpPr>
        <p:sp>
          <p:nvSpPr>
            <p:cNvPr id="636" name="TEACH-move-card"/>
            <p:cNvSpPr/>
            <p:nvPr/>
          </p:nvSpPr>
          <p:spPr>
            <a:xfrm>
              <a:off x="6187440" y="4142173"/>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637" name="TEACH-move-rule"/>
            <p:cNvSpPr/>
            <p:nvPr/>
          </p:nvSpPr>
          <p:spPr>
            <a:xfrm>
              <a:off x="6233160" y="4255101"/>
              <a:ext cx="100584" cy="368504"/>
            </a:xfrm>
            <a:prstGeom prst="roundRect">
              <a:avLst>
                <a:gd name="adj" fmla="val 50000"/>
              </a:avLst>
            </a:prstGeom>
            <a:solidFill>
              <a:srgbClr val="01708C"/>
            </a:solidFill>
            <a:ln>
              <a:noFill/>
            </a:ln>
          </p:spPr>
          <p:txBody>
            <a:bodyPr/>
            <a:lstStyle/>
            <a:p>
              <a:endParaRPr/>
            </a:p>
          </p:txBody>
        </p:sp>
        <p:sp>
          <p:nvSpPr>
            <p:cNvPr id="638" name="TEACH-move-text"/>
            <p:cNvSpPr txBox="1"/>
            <p:nvPr/>
          </p:nvSpPr>
          <p:spPr>
            <a:xfrm>
              <a:off x="6507480" y="4142173"/>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JUSTIFY IT  ·  </a:t>
              </a:r>
              <a:r>
                <a:rPr lang="en-US" sz="1200" dirty="0">
                  <a:solidFill>
                    <a:srgbClr val="13303A"/>
                  </a:solidFill>
                  <a:latin typeface="Arial"/>
                </a:rPr>
                <a:t>Say it like this: “I know ______ because ______.”</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3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cxnSp>
        <p:nvCxnSpPr>
          <p:cNvPr id="672" name="Google Shape;672;p6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73" name="Google Shape;673;p65"/>
          <p:cNvSpPr txBox="1"/>
          <p:nvPr/>
        </p:nvSpPr>
        <p:spPr>
          <a:xfrm>
            <a:off x="484566" y="4680000"/>
            <a:ext cx="5360181" cy="113839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can use an equation.</a:t>
            </a:r>
            <a:endParaRPr b="0" i="0" sz="1400" u="none" cap="none" strike="noStrike">
              <a:solidFill>
                <a:srgbClr val="000000"/>
              </a:solidFill>
              <a:latin typeface="Arial"/>
              <a:ea typeface="Arial"/>
              <a:cs typeface="Arial"/>
              <a:sym typeface="Arial"/>
            </a:endParaRPr>
          </a:p>
        </p:txBody>
      </p:sp>
      <p:sp>
        <p:nvSpPr>
          <p:cNvPr id="674" name="Google Shape;674;p65"/>
          <p:cNvSpPr txBox="1"/>
          <p:nvPr/>
        </p:nvSpPr>
        <p:spPr>
          <a:xfrm>
            <a:off x="484565" y="936000"/>
            <a:ext cx="7402135" cy="10356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The total cost is the cost per month multiplied by the number of months.</a:t>
            </a:r>
            <a:endParaRPr b="0" i="0" sz="1400" u="none" cap="none" strike="noStrike">
              <a:solidFill>
                <a:srgbClr val="000000"/>
              </a:solidFill>
              <a:latin typeface="Arial"/>
              <a:ea typeface="Arial"/>
              <a:cs typeface="Arial"/>
              <a:sym typeface="Arial"/>
            </a:endParaRPr>
          </a:p>
        </p:txBody>
      </p:sp>
      <p:sp>
        <p:nvSpPr>
          <p:cNvPr id="675" name="Google Shape;675;p65"/>
          <p:cNvSpPr/>
          <p:nvPr/>
        </p:nvSpPr>
        <p:spPr>
          <a:xfrm>
            <a:off x="484565" y="2389971"/>
            <a:ext cx="7157249"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How can you represent the relationship algebraically?</a:t>
            </a:r>
            <a:endParaRPr b="0" i="0" sz="2800" u="none" cap="none" strike="noStrike">
              <a:solidFill>
                <a:schemeClr val="dk1"/>
              </a:solidFill>
              <a:latin typeface="Arial"/>
              <a:ea typeface="Arial"/>
              <a:cs typeface="Arial"/>
              <a:sym typeface="Arial"/>
            </a:endParaRPr>
          </a:p>
        </p:txBody>
      </p:sp>
      <p:pic>
        <p:nvPicPr>
          <p:cNvPr id="676" name="Google Shape;676;p65"/>
          <p:cNvPicPr preferRelativeResize="0"/>
          <p:nvPr/>
        </p:nvPicPr>
        <p:blipFill rotWithShape="1">
          <a:blip r:embed="rId3">
            <a:alphaModFix/>
          </a:blip>
          <a:srcRect b="0" l="0" r="0" t="0"/>
          <a:stretch/>
        </p:blipFill>
        <p:spPr>
          <a:xfrm>
            <a:off x="8294626" y="1385925"/>
            <a:ext cx="3622542" cy="2581200"/>
          </a:xfrm>
          <a:prstGeom prst="rect">
            <a:avLst/>
          </a:prstGeom>
          <a:noFill/>
          <a:ln>
            <a:noFill/>
          </a:ln>
        </p:spPr>
      </p:pic>
      <p:sp>
        <p:nvSpPr>
          <p:cNvPr id="677" name="Google Shape;677;p65"/>
          <p:cNvSpPr txBox="1"/>
          <p:nvPr/>
        </p:nvSpPr>
        <p:spPr>
          <a:xfrm>
            <a:off x="486000" y="316800"/>
            <a:ext cx="5015483" cy="5214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The Cost of Fitness</a:t>
            </a:r>
            <a:endParaRPr b="1" i="0" sz="2800" u="none" cap="none" strike="noStrike">
              <a:solidFill>
                <a:srgbClr val="7030A0"/>
              </a:solidFill>
              <a:latin typeface="Arial"/>
              <a:ea typeface="Arial"/>
              <a:cs typeface="Arial"/>
              <a:sym typeface="Arial"/>
            </a:endParaRPr>
          </a:p>
        </p:txBody>
      </p:sp>
      <p:sp>
        <p:nvSpPr>
          <p:cNvPr id="67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21 / 49</a:t>
            </a:r>
          </a:p>
        </p:txBody>
      </p:sp>
      <p:sp>
        <p:nvSpPr>
          <p:cNvPr id="679" name="EWL-COVER-1"/>
          <p:cNvSpPr/>
          <p:nvPr/>
        </p:nvSpPr>
        <p:spPr>
          <a:xfrm>
            <a:off x="429702" y="4625136"/>
            <a:ext cx="5469909" cy="1248122"/>
          </a:xfrm>
          <a:prstGeom prst="rect">
            <a:avLst/>
          </a:prstGeom>
          <a:solidFill>
            <a:srgbClr val="FFFFFF"/>
          </a:solidFill>
          <a:ln>
            <a:noFill/>
          </a:ln>
        </p:spPr>
        <p:txBody>
          <a:bodyPr/>
          <a:lstStyle/>
          <a:p/>
        </p:txBody>
      </p:sp>
      <p:sp xmlns:p="http://schemas.openxmlformats.org/presentationml/2006/main" xmlns:a="http://schemas.openxmlformats.org/drawingml/2006/main">
        <p:nvSpPr>
          <p:cNvPr id="680" name="TEACH-embedded-student-prompt" descr="Student thinking and response directions"/>
          <p:cNvSpPr txBox="1"/>
          <p:nvPr/>
        </p:nvSpPr>
        <p:spPr>
          <a:xfrm>
            <a:off x="594360" y="36758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 Compare, then</a:t>
            </a:r>
            <a:endParaRPr lang="en-US" sz="2000"/>
          </a:p>
          <a:p>
            <a:pPr>
              <a:lnSpc>
                <a:spcPts val="2400"/>
              </a:lnSpc>
              <a:buNone/>
            </a:pPr>
            <a:r>
              <a:rPr lang="en-US" sz="2000">
                <a:solidFill>
                  <a:srgbClr val="174D60"/>
                </a:solidFill>
                <a:latin typeface="Arial"/>
              </a:rPr>
              <a:t>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7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cxnSp>
        <p:nvCxnSpPr>
          <p:cNvPr id="693" name="Google Shape;693;p6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94" name="Google Shape;694;p67"/>
          <p:cNvSpPr txBox="1"/>
          <p:nvPr/>
        </p:nvSpPr>
        <p:spPr>
          <a:xfrm>
            <a:off x="484564" y="936000"/>
            <a:ext cx="6992867" cy="112877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We can write an equation to represent the relationship between the quantities.</a:t>
            </a:r>
            <a:endParaRPr b="0" i="0" sz="1400" u="none" cap="none" strike="noStrike">
              <a:solidFill>
                <a:srgbClr val="000000"/>
              </a:solidFill>
              <a:latin typeface="Arial"/>
              <a:ea typeface="Arial"/>
              <a:cs typeface="Arial"/>
              <a:sym typeface="Arial"/>
            </a:endParaRPr>
          </a:p>
        </p:txBody>
      </p:sp>
      <p:sp>
        <p:nvSpPr>
          <p:cNvPr id="695" name="Google Shape;695;p67"/>
          <p:cNvSpPr txBox="1"/>
          <p:nvPr/>
        </p:nvSpPr>
        <p:spPr>
          <a:xfrm>
            <a:off x="485999" y="4773307"/>
            <a:ext cx="10899755" cy="15409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The number of months and the total cost can change. We can represent them with variables.</a:t>
            </a:r>
            <a:endParaRPr b="0" i="0" sz="1400" u="none" cap="none" strike="noStrike">
              <a:solidFill>
                <a:srgbClr val="000000"/>
              </a:solidFill>
              <a:latin typeface="Arial"/>
              <a:ea typeface="Arial"/>
              <a:cs typeface="Arial"/>
              <a:sym typeface="Arial"/>
            </a:endParaRPr>
          </a:p>
        </p:txBody>
      </p:sp>
      <p:sp>
        <p:nvSpPr>
          <p:cNvPr id="696" name="Google Shape;696;p67"/>
          <p:cNvSpPr/>
          <p:nvPr/>
        </p:nvSpPr>
        <p:spPr>
          <a:xfrm>
            <a:off x="484564" y="2206920"/>
            <a:ext cx="6992866"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The total cost is the cost per month times the number of months.</a:t>
            </a:r>
            <a:endParaRPr b="0" i="0" sz="2800" u="none" cap="none" strike="noStrike">
              <a:solidFill>
                <a:schemeClr val="dk1"/>
              </a:solidFill>
              <a:latin typeface="Arial"/>
              <a:ea typeface="Arial"/>
              <a:cs typeface="Arial"/>
              <a:sym typeface="Arial"/>
            </a:endParaRPr>
          </a:p>
        </p:txBody>
      </p:sp>
      <p:sp>
        <p:nvSpPr>
          <p:cNvPr id="697" name="Google Shape;697;p67"/>
          <p:cNvSpPr/>
          <p:nvPr/>
        </p:nvSpPr>
        <p:spPr>
          <a:xfrm>
            <a:off x="452919" y="3429000"/>
            <a:ext cx="7158843"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What quantities can change, or vary? How can you represent these quantities?</a:t>
            </a:r>
            <a:endParaRPr b="0" i="0" sz="2800" u="none" cap="none" strike="noStrike">
              <a:solidFill>
                <a:schemeClr val="dk1"/>
              </a:solidFill>
              <a:latin typeface="Arial"/>
              <a:ea typeface="Arial"/>
              <a:cs typeface="Arial"/>
              <a:sym typeface="Arial"/>
            </a:endParaRPr>
          </a:p>
        </p:txBody>
      </p:sp>
      <p:pic>
        <p:nvPicPr>
          <p:cNvPr id="698" name="Google Shape;698;p67"/>
          <p:cNvPicPr preferRelativeResize="0"/>
          <p:nvPr/>
        </p:nvPicPr>
        <p:blipFill rotWithShape="1">
          <a:blip r:embed="rId3">
            <a:alphaModFix/>
          </a:blip>
          <a:srcRect b="0" l="0" r="0" t="0"/>
          <a:stretch/>
        </p:blipFill>
        <p:spPr>
          <a:xfrm>
            <a:off x="8294626" y="1385925"/>
            <a:ext cx="3622542" cy="2581200"/>
          </a:xfrm>
          <a:prstGeom prst="rect">
            <a:avLst/>
          </a:prstGeom>
          <a:noFill/>
          <a:ln>
            <a:noFill/>
          </a:ln>
        </p:spPr>
      </p:pic>
      <p:sp>
        <p:nvSpPr>
          <p:cNvPr id="699" name="Google Shape;699;p67"/>
          <p:cNvSpPr txBox="1"/>
          <p:nvPr/>
        </p:nvSpPr>
        <p:spPr>
          <a:xfrm>
            <a:off x="486000" y="316800"/>
            <a:ext cx="5015483" cy="5214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The Cost of Fitness</a:t>
            </a:r>
            <a:endParaRPr b="1" i="0" sz="2800" u="none" cap="none" strike="noStrike">
              <a:solidFill>
                <a:srgbClr val="7030A0"/>
              </a:solidFill>
              <a:latin typeface="Arial"/>
              <a:ea typeface="Arial"/>
              <a:cs typeface="Arial"/>
              <a:sym typeface="Arial"/>
            </a:endParaRPr>
          </a:p>
        </p:txBody>
      </p:sp>
      <p:sp>
        <p:nvSpPr>
          <p:cNvPr id="70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22 / 49</a:t>
            </a:r>
          </a:p>
        </p:txBody>
      </p:sp>
      <p:sp>
        <p:nvSpPr>
          <p:cNvPr id="701" name="EWL-COVER-1"/>
          <p:cNvSpPr/>
          <p:nvPr/>
        </p:nvSpPr>
        <p:spPr>
          <a:xfrm>
            <a:off x="431135" y="4718443"/>
            <a:ext cx="11009483" cy="1650723"/>
          </a:xfrm>
          <a:prstGeom prst="rect">
            <a:avLst/>
          </a:prstGeom>
          <a:solidFill>
            <a:srgbClr val="FFFFFF"/>
          </a:solidFill>
          <a:ln>
            <a:noFill/>
          </a:ln>
        </p:spPr>
        <p:txBody>
          <a:bodyPr/>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0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cxnSp>
        <p:nvCxnSpPr>
          <p:cNvPr id="753" name="Google Shape;753;p7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54" name="Google Shape;754;p72"/>
          <p:cNvSpPr txBox="1"/>
          <p:nvPr/>
        </p:nvSpPr>
        <p:spPr>
          <a:xfrm>
            <a:off x="484564" y="316800"/>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755" name="Google Shape;755;p72"/>
          <p:cNvSpPr txBox="1"/>
          <p:nvPr/>
        </p:nvSpPr>
        <p:spPr>
          <a:xfrm>
            <a:off x="484565" y="936000"/>
            <a:ext cx="7725985" cy="1382706"/>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chemeClr val="dk1"/>
              </a:buClr>
              <a:buSzPts val="2800"/>
              <a:buFont typeface="Calibri"/>
              <a:buAutoNum type="alphaLcPeriod"/>
              <a:defRPr/>
            </a:pPr>
            <a:r>
              <a:rPr b="0" i="0" lang="en-US" sz="2800" u="none" cap="none" strike="noStrike">
                <a:solidFill>
                  <a:schemeClr val="dk1"/>
                </a:solidFill>
                <a:latin typeface="Arial"/>
                <a:ea typeface="Arial"/>
                <a:cs typeface="Arial"/>
                <a:sym typeface="Arial"/>
              </a:rPr>
              <a:t>What is the benefit of using a table of values or an equation to represent the number of months and total cost?</a:t>
            </a:r>
            <a:endParaRPr b="0" i="0" sz="1400" u="none" cap="none" strike="noStrike">
              <a:solidFill>
                <a:srgbClr val="000000"/>
              </a:solidFill>
              <a:latin typeface="Arial"/>
              <a:ea typeface="Arial"/>
              <a:cs typeface="Arial"/>
              <a:sym typeface="Arial"/>
            </a:endParaRPr>
          </a:p>
        </p:txBody>
      </p:sp>
      <p:sp>
        <p:nvSpPr>
          <p:cNvPr id="756" name="Google Shape;756;p72"/>
          <p:cNvSpPr/>
          <p:nvPr/>
        </p:nvSpPr>
        <p:spPr>
          <a:xfrm>
            <a:off x="484562" y="2355606"/>
            <a:ext cx="5669280" cy="1122729"/>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Calibri"/>
                <a:cs typeface="Calibri"/>
                <a:sym typeface="Calibri"/>
              </a:rPr>
              <a:t>How would the equation, 4 1 2 p = 36 , change if they used wooden planks that were 6 inches wide instead of 4 1 2 inches wide?</a:t>
            </a:r>
            <a:endParaRPr b="0" i="0" sz="1400" u="none" cap="none" strike="noStrike">
              <a:solidFill>
                <a:srgbClr val="000000"/>
              </a:solidFill>
              <a:latin typeface="Arial"/>
              <a:ea typeface="Arial"/>
              <a:cs typeface="Arial"/>
              <a:sym typeface="Arial"/>
            </a:endParaRPr>
          </a:p>
        </p:txBody>
      </p:sp>
      <p:sp>
        <p:nvSpPr>
          <p:cNvPr id="757" name="Google Shape;757;p72"/>
          <p:cNvSpPr txBox="1"/>
          <p:nvPr/>
        </p:nvSpPr>
        <p:spPr>
          <a:xfrm>
            <a:off x="7271912" y="3078221"/>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defRPr/>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758" name="Google Shape;758;p72"/>
          <p:cNvSpPr/>
          <p:nvPr/>
        </p:nvSpPr>
        <p:spPr>
          <a:xfrm>
            <a:off x="484563" y="4690182"/>
            <a:ext cx="8002214" cy="1221847"/>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759" name="Google Shape;759;p72"/>
          <p:cNvSpPr txBox="1"/>
          <p:nvPr/>
        </p:nvSpPr>
        <p:spPr>
          <a:xfrm>
            <a:off x="7271911" y="5570456"/>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defRPr/>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760" name="Google Shape;760;p72"/>
          <p:cNvSpPr/>
          <p:nvPr/>
        </p:nvSpPr>
        <p:spPr>
          <a:xfrm>
            <a:off x="397330" y="3607205"/>
            <a:ext cx="8772119" cy="954107"/>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chemeClr val="dk1"/>
              </a:buClr>
              <a:buSzPts val="2800"/>
              <a:buFont typeface="Calibri"/>
              <a:buAutoNum type="alphaLcPeriod" startAt="2"/>
              <a:defRPr/>
            </a:pPr>
            <a:r>
              <a:rPr b="0" i="0" lang="en-US" sz="2800" u="none" cap="none" strike="noStrike">
                <a:solidFill>
                  <a:schemeClr val="dk1"/>
                </a:solidFill>
                <a:latin typeface="Arial"/>
                <a:ea typeface="Arial"/>
                <a:cs typeface="Arial"/>
                <a:sym typeface="Arial"/>
              </a:rPr>
              <a:t>What does the total cost Miguel will spend on Recreation World membership depend on?</a:t>
            </a:r>
            <a:endParaRPr b="0" i="0" sz="2800" u="none" cap="none" strike="noStrike">
              <a:solidFill>
                <a:schemeClr val="dk1"/>
              </a:solidFill>
              <a:latin typeface="Arial"/>
              <a:ea typeface="Arial"/>
              <a:cs typeface="Arial"/>
              <a:sym typeface="Arial"/>
            </a:endParaRPr>
          </a:p>
        </p:txBody>
      </p:sp>
      <p:sp>
        <p:nvSpPr>
          <p:cNvPr id="76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24 / 49</a:t>
            </a:r>
          </a:p>
        </p:txBody>
      </p:sp>
      <p:grpSp>
        <p:nvGrpSpPr>
          <p:cNvPr id="762" name="TEACH-2-student-move" descr="TEACH 2 · Use strategies and tasks to engage students in rigorous work"/>
          <p:cNvGrpSpPr/>
          <p:nvPr/>
        </p:nvGrpSpPr>
        <p:grpSpPr>
          <a:xfrm>
            <a:off x="502920" y="5948605"/>
            <a:ext cx="11186160" cy="320040"/>
            <a:chOff x="502920" y="5948605"/>
            <a:chExt cx="11186160" cy="320040"/>
          </a:xfrm>
        </p:grpSpPr>
        <p:sp>
          <p:nvSpPr>
            <p:cNvPr id="763" name="TEACH-move-card"/>
            <p:cNvSpPr/>
            <p:nvPr/>
          </p:nvSpPr>
          <p:spPr>
            <a:xfrm>
              <a:off x="502920" y="5948605"/>
              <a:ext cx="11186160" cy="320040"/>
            </a:xfrm>
            <a:prstGeom prst="roundRect">
              <a:avLst>
                <a:gd name="adj" fmla="val 16000"/>
              </a:avLst>
            </a:prstGeom>
            <a:solidFill>
              <a:srgbClr val="E4F0F5"/>
            </a:solidFill>
            <a:ln w="19050">
              <a:solidFill>
                <a:srgbClr val="8CB8C7"/>
              </a:solidFill>
            </a:ln>
          </p:spPr>
          <p:txBody>
            <a:bodyPr/>
            <a:lstStyle/>
            <a:p>
              <a:endParaRPr/>
            </a:p>
          </p:txBody>
        </p:sp>
        <p:sp>
          <p:nvSpPr>
            <p:cNvPr id="764" name="TEACH-move-rule"/>
            <p:cNvSpPr/>
            <p:nvPr/>
          </p:nvSpPr>
          <p:spPr>
            <a:xfrm>
              <a:off x="548640" y="6009413"/>
              <a:ext cx="100584" cy="198424"/>
            </a:xfrm>
            <a:prstGeom prst="roundRect">
              <a:avLst>
                <a:gd name="adj" fmla="val 50000"/>
              </a:avLst>
            </a:prstGeom>
            <a:solidFill>
              <a:srgbClr val="01708C"/>
            </a:solidFill>
            <a:ln>
              <a:noFill/>
            </a:ln>
          </p:spPr>
          <p:txBody>
            <a:bodyPr/>
            <a:lstStyle/>
            <a:p>
              <a:endParaRPr/>
            </a:p>
          </p:txBody>
        </p:sp>
        <p:sp>
          <p:nvSpPr>
            <p:cNvPr id="765" name="TEACH-move-text"/>
            <p:cNvSpPr txBox="1"/>
            <p:nvPr/>
          </p:nvSpPr>
          <p:spPr>
            <a:xfrm>
              <a:off x="822960" y="5948605"/>
              <a:ext cx="10728960" cy="32004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STRUGGLE FIRST  ·  </a:t>
              </a:r>
              <a:r>
                <a:rPr lang="en-US" sz="1200" dirty="0">
                  <a:solidFill>
                    <a:srgbClr val="13303A"/>
                  </a:solidFill>
                  <a:latin typeface="Arial"/>
                </a:rPr>
                <a:t>Work on your own first. Stuck is allowed — try a second strategy before you ask.</a:t>
              </a:r>
              <a:endParaRPr lang="en-US" sz="1200"/>
            </a:p>
          </p:txBody>
        </p:sp>
      </p:gr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9.3  /  DISCUSS THE TASK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Explain and compare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TextBox 4"/>
          <p:cNvSpPr txBox="1"/>
          <p:nvPr/>
        </p:nvSpPr>
        <p:spPr>
          <a:xfrm>
            <a:off x="621792" y="1755648"/>
            <a:ext cx="6629400" cy="384048"/>
          </a:xfrm>
          <a:prstGeom prst="rect">
            <a:avLst/>
          </a:prstGeom>
          <a:noFill/>
        </p:spPr>
        <p:txBody>
          <a:bodyPr wrap="square" lIns="0" rIns="0" tIns="22860" bIns="0">
            <a:spAutoFit/>
          </a:bodyPr>
          <a:lstStyle/>
          <a:p>
            <a:pPr>
              <a:spcAft>
                <a:spcPts val="800"/>
              </a:spcAft>
              <a:defRPr sz="2000" b="1">
                <a:solidFill>
                  <a:srgbClr val="096B69"/>
                </a:solidFill>
                <a:latin typeface="Arial"/>
              </a:defRPr>
            </a:pPr>
            <a:r>
              <a:rPr/>
              <a:t>Use the task you just explored.</a:t>
            </a:r>
          </a:p>
        </p:txBody>
      </p:sp>
      <p:sp>
        <p:nvSpPr>
          <p:cNvPr id="6" name="TextBox 5"/>
          <p:cNvSpPr txBox="1"/>
          <p:nvPr/>
        </p:nvSpPr>
        <p:spPr>
          <a:xfrm>
            <a:off x="621792" y="2322576"/>
            <a:ext cx="6583680" cy="2057400"/>
          </a:xfrm>
          <a:prstGeom prst="rect">
            <a:avLst/>
          </a:prstGeom>
          <a:noFill/>
        </p:spPr>
        <p:txBody>
          <a:bodyPr wrap="square" lIns="0" rIns="0" tIns="22860" bIns="0">
            <a:spAutoFit/>
          </a:bodyPr>
          <a:lstStyle/>
          <a:p>
            <a:pPr>
              <a:spcAft>
                <a:spcPts val="800"/>
              </a:spcAft>
              <a:defRPr sz="2900" b="0">
                <a:solidFill>
                  <a:srgbClr val="24384B"/>
                </a:solidFill>
                <a:latin typeface="Arial"/>
              </a:defRPr>
            </a:pPr>
            <a:r>
              <a:rPr/>
              <a:t>How do the rate and any starting amount appear in both the representation and the equation?</a:t>
            </a:r>
          </a:p>
        </p:txBody>
      </p:sp>
      <p:sp>
        <p:nvSpPr>
          <p:cNvPr id="7" name="TextBox 6"/>
          <p:cNvSpPr txBox="1"/>
          <p:nvPr/>
        </p:nvSpPr>
        <p:spPr>
          <a:xfrm>
            <a:off x="621792" y="4590288"/>
            <a:ext cx="6629400" cy="960120"/>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Point to evidence in your work.</a:t>
            </a:r>
          </a:p>
          <a:p>
            <a:pPr>
              <a:spcAft>
                <a:spcPts val="800"/>
              </a:spcAft>
              <a:defRPr sz="2300" b="0">
                <a:solidFill>
                  <a:srgbClr val="24384B"/>
                </a:solidFill>
                <a:latin typeface="Arial"/>
              </a:defRPr>
            </a:pPr>
            <a:r>
              <a:rPr/>
              <a:t>Then compare your approach with a partner’s.</a:t>
            </a:r>
          </a:p>
        </p:txBody>
      </p:sp>
      <p:sp>
        <p:nvSpPr>
          <p:cNvPr id="8" name="Rounded Rectangle 7"/>
          <p:cNvSpPr/>
          <p:nvPr/>
        </p:nvSpPr>
        <p:spPr>
          <a:xfrm>
            <a:off x="7662672" y="1783080"/>
            <a:ext cx="3904487" cy="417880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82712" y="2066543"/>
            <a:ext cx="320040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TAKE TURNS</a:t>
            </a:r>
          </a:p>
        </p:txBody>
      </p:sp>
      <p:sp>
        <p:nvSpPr>
          <p:cNvPr id="10" name="TextBox 9"/>
          <p:cNvSpPr txBox="1"/>
          <p:nvPr/>
        </p:nvSpPr>
        <p:spPr>
          <a:xfrm>
            <a:off x="7982712" y="2715768"/>
            <a:ext cx="3200400" cy="2606040"/>
          </a:xfrm>
          <a:prstGeom prst="rect">
            <a:avLst/>
          </a:prstGeom>
          <a:noFill/>
        </p:spPr>
        <p:txBody>
          <a:bodyPr wrap="square" lIns="0" rIns="0" tIns="22860" bIns="0">
            <a:spAutoFit/>
          </a:bodyPr>
          <a:lstStyle/>
          <a:p>
            <a:pPr>
              <a:spcAft>
                <a:spcPts val="800"/>
              </a:spcAft>
              <a:defRPr sz="2200" b="0">
                <a:solidFill>
                  <a:srgbClr val="24384B"/>
                </a:solidFill>
                <a:latin typeface="Arial"/>
              </a:defRPr>
            </a:pPr>
            <a:r>
              <a:rPr/>
              <a:t>Explain</a:t>
            </a:r>
          </a:p>
          <a:p>
            <a:pPr>
              <a:spcAft>
                <a:spcPts val="800"/>
              </a:spcAft>
              <a:defRPr sz="2200" b="0">
                <a:solidFill>
                  <a:srgbClr val="24384B"/>
                </a:solidFill>
                <a:latin typeface="Arial"/>
              </a:defRPr>
            </a:pPr>
            <a:r>
              <a:rPr/>
              <a:t>“I know this because…”</a:t>
            </a:r>
          </a:p>
          <a:p>
            <a:pPr>
              <a:spcAft>
                <a:spcPts val="800"/>
              </a:spcAft>
              <a:defRPr sz="2200" b="0">
                <a:solidFill>
                  <a:srgbClr val="24384B"/>
                </a:solidFill>
                <a:latin typeface="Arial"/>
              </a:defRPr>
            </a:pPr>
          </a:p>
          <a:p>
            <a:pPr>
              <a:spcAft>
                <a:spcPts val="800"/>
              </a:spcAft>
              <a:defRPr sz="2200" b="0">
                <a:solidFill>
                  <a:srgbClr val="24384B"/>
                </a:solidFill>
                <a:latin typeface="Arial"/>
              </a:defRPr>
            </a:pPr>
            <a:r>
              <a:rPr/>
              <a:t>Ask</a:t>
            </a:r>
          </a:p>
          <a:p>
            <a:pPr>
              <a:spcAft>
                <a:spcPts val="800"/>
              </a:spcAft>
              <a:defRPr sz="2200" b="0">
                <a:solidFill>
                  <a:srgbClr val="24384B"/>
                </a:solidFill>
                <a:latin typeface="Arial"/>
              </a:defRPr>
            </a:pPr>
            <a:r>
              <a:rPr/>
              <a:t>“Where does your work show that?”</a:t>
            </a:r>
          </a:p>
        </p:txBody>
      </p:sp>
      <p:grpSp>
        <p:nvGrpSpPr>
          <p:cNvPr id="11" name="TEACH-3-student-move" descr="TEACH 3 · Use intentional questioning to deepen learning"/>
          <p:cNvGrpSpPr/>
          <p:nvPr/>
        </p:nvGrpSpPr>
        <p:grpSpPr>
          <a:xfrm>
            <a:off x="502920" y="5824728"/>
            <a:ext cx="11186160" cy="402336"/>
            <a:chOff x="502920" y="5824728"/>
            <a:chExt cx="11186160" cy="402336"/>
          </a:xfrm>
        </p:grpSpPr>
        <p:sp>
          <p:nvSpPr>
            <p:cNvPr id="12"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3"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4"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ANOTHER PATHWAY  ·  </a:t>
              </a:r>
              <a:r>
                <a:rPr lang="en-US" sz="1200" dirty="0">
                  <a:solidFill>
                    <a:srgbClr val="13303A"/>
                  </a:solidFill>
                  <a:latin typeface="Arial"/>
                </a:rPr>
                <a:t>Did anyone get there a different way? Put both pathways side by side and compare.</a:t>
              </a:r>
              <a:endParaRPr lang="en-US" sz="1200"/>
            </a:p>
          </p:txBody>
        </p:sp>
      </p:gr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626" name="Google Shape;626;p6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27" name="Google Shape;627;p61"/>
          <p:cNvSpPr txBox="1"/>
          <p:nvPr/>
        </p:nvSpPr>
        <p:spPr>
          <a:xfrm>
            <a:off x="486000" y="959691"/>
            <a:ext cx="7343550" cy="101904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The total cost depends on the number of months of membership.</a:t>
            </a:r>
            <a:endParaRPr b="0" i="0" sz="1400" u="none" cap="none" strike="noStrike">
              <a:solidFill>
                <a:srgbClr val="000000"/>
              </a:solidFill>
              <a:latin typeface="Arial"/>
              <a:ea typeface="Arial"/>
              <a:cs typeface="Arial"/>
              <a:sym typeface="Arial"/>
            </a:endParaRPr>
          </a:p>
        </p:txBody>
      </p:sp>
      <p:sp>
        <p:nvSpPr>
          <p:cNvPr id="628" name="Google Shape;628;p61"/>
          <p:cNvSpPr txBox="1"/>
          <p:nvPr/>
        </p:nvSpPr>
        <p:spPr>
          <a:xfrm>
            <a:off x="486000" y="5371443"/>
            <a:ext cx="6963251" cy="10103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It increases by $24.95 each month.</a:t>
            </a:r>
            <a:endParaRPr b="0" i="0" sz="1400" u="none" cap="none" strike="noStrike">
              <a:solidFill>
                <a:srgbClr val="000000"/>
              </a:solidFill>
              <a:latin typeface="Arial"/>
              <a:ea typeface="Arial"/>
              <a:cs typeface="Arial"/>
              <a:sym typeface="Arial"/>
            </a:endParaRPr>
          </a:p>
        </p:txBody>
      </p:sp>
      <p:sp>
        <p:nvSpPr>
          <p:cNvPr id="629" name="Google Shape;629;p61"/>
          <p:cNvSpPr/>
          <p:nvPr/>
        </p:nvSpPr>
        <p:spPr>
          <a:xfrm>
            <a:off x="486000" y="4818829"/>
            <a:ext cx="8762775"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What do you notice about the total cost?</a:t>
            </a:r>
            <a:endParaRPr b="0" i="0" sz="2800" u="none" cap="none" strike="noStrike">
              <a:solidFill>
                <a:schemeClr val="dk1"/>
              </a:solidFill>
              <a:latin typeface="Arial"/>
              <a:ea typeface="Arial"/>
              <a:cs typeface="Arial"/>
              <a:sym typeface="Arial"/>
            </a:endParaRPr>
          </a:p>
        </p:txBody>
      </p:sp>
      <p:graphicFrame>
        <p:nvGraphicFramePr>
          <p:cNvPr id="630" name="Google Shape;630;p61"/>
          <p:cNvGraphicFramePr/>
          <p:nvPr/>
        </p:nvGraphicFramePr>
        <p:xfrm>
          <a:off x="486000" y="1960508"/>
          <a:ext cx="3000000" cy="3000000"/>
        </p:xfrm>
        <a:graphic>
          <a:graphicData uri="http://schemas.openxmlformats.org/drawingml/2006/table">
            <a:tbl>
              <a:tblPr bandRow="1" firstRow="1">
                <a:noFill/>
                <a:tableStyleId>{F944C467-2D8C-4C2B-96B7-F3DFD2946025}</a:tableStyleId>
              </a:tblPr>
              <a:tblGrid>
                <a:gridCol w="2062225"/>
                <a:gridCol w="3409625"/>
              </a:tblGrid>
              <a:tr h="479300">
                <a:tc gridSpan="2">
                  <a:txBody>
                    <a:bodyPr/>
                    <a:lstStyle/>
                    <a:p>
                      <a:pPr indent="0" lvl="0" marL="0" marR="0" rtl="0" algn="l">
                        <a:lnSpc>
                          <a:spcPct val="100000"/>
                        </a:lnSpc>
                        <a:spcBef>
                          <a:spcPts val="0"/>
                        </a:spcBef>
                        <a:spcAft>
                          <a:spcPts val="0"/>
                        </a:spcAft>
                        <a:buClr>
                          <a:srgbClr val="000000"/>
                        </a:buClr>
                        <a:buSzPts val="2000"/>
                        <a:buFont typeface="Arial"/>
                        <a:buNone/>
                      </a:pPr>
                      <a:r>
                        <a:rPr b="1" lang="en-US" sz="2000" u="none" cap="none" strike="noStrike">
                          <a:solidFill>
                            <a:schemeClr val="dk1"/>
                          </a:solidFill>
                          <a:latin typeface="Arial"/>
                          <a:ea typeface="Arial"/>
                          <a:cs typeface="Arial"/>
                          <a:sym typeface="Arial"/>
                        </a:rPr>
                        <a:t>Membership Cost</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hMerge="1"/>
              </a:tr>
              <a:tr h="416050">
                <a:tc>
                  <a:txBody>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Arial"/>
                          <a:ea typeface="Arial"/>
                          <a:cs typeface="Arial"/>
                          <a:sym typeface="Arial"/>
                        </a:rPr>
                        <a:t>Months</a:t>
                      </a:r>
                      <a:endParaRPr b="1" i="0" sz="2000" u="none" cap="none" strike="noStrike">
                        <a:solidFill>
                          <a:schemeClr val="lt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rgbClr val="625D9C"/>
                    </a:solidFill>
                  </a:tcPr>
                </a:tc>
                <a:tc>
                  <a:txBody>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Arial"/>
                          <a:ea typeface="Arial"/>
                          <a:cs typeface="Arial"/>
                          <a:sym typeface="Arial"/>
                        </a:rPr>
                        <a:t>Total Cost($)</a:t>
                      </a:r>
                      <a:endParaRPr b="1" i="0" sz="2000" u="none" cap="none" strike="noStrike">
                        <a:solidFill>
                          <a:schemeClr val="lt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rgbClr val="625D9C"/>
                    </a:solidFill>
                  </a:tcPr>
                </a:tc>
              </a:tr>
              <a:tr h="368425">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solidFill>
                            <a:schemeClr val="dk1"/>
                          </a:solidFill>
                          <a:latin typeface="Arial"/>
                          <a:ea typeface="Arial"/>
                          <a:cs typeface="Arial"/>
                          <a:sym typeface="Arial"/>
                        </a:rPr>
                        <a:t>1</a:t>
                      </a:r>
                      <a:endParaRPr sz="2000" u="none" cap="none" strike="noStrike">
                        <a:solidFill>
                          <a:schemeClr val="dk1"/>
                        </a:solidFill>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solidFill>
                            <a:schemeClr val="dk1"/>
                          </a:solidFill>
                          <a:latin typeface="Arial"/>
                          <a:ea typeface="Arial"/>
                          <a:cs typeface="Arial"/>
                          <a:sym typeface="Arial"/>
                        </a:rPr>
                        <a:t>24.95</a:t>
                      </a:r>
                      <a:endParaRPr sz="2000" u="none" cap="none" strike="noStrike">
                        <a:solidFill>
                          <a:schemeClr val="dk1"/>
                        </a:solidFill>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66825">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solidFill>
                            <a:schemeClr val="dk1"/>
                          </a:solidFill>
                          <a:latin typeface="Arial"/>
                          <a:ea typeface="Arial"/>
                          <a:cs typeface="Arial"/>
                          <a:sym typeface="Arial"/>
                        </a:rPr>
                        <a:t>2</a:t>
                      </a:r>
                      <a:endParaRPr sz="2000" u="none" cap="none" strike="noStrike">
                        <a:solidFill>
                          <a:schemeClr val="dk1"/>
                        </a:solidFill>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solidFill>
                            <a:schemeClr val="dk1"/>
                          </a:solidFill>
                          <a:latin typeface="Arial"/>
                          <a:ea typeface="Arial"/>
                          <a:cs typeface="Arial"/>
                          <a:sym typeface="Arial"/>
                        </a:rPr>
                        <a:t>49.90</a:t>
                      </a:r>
                      <a:endParaRPr sz="2000" u="none" cap="none" strike="noStrike">
                        <a:solidFill>
                          <a:schemeClr val="dk1"/>
                        </a:solidFill>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85875">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solidFill>
                            <a:schemeClr val="dk1"/>
                          </a:solidFill>
                          <a:latin typeface="Arial"/>
                          <a:ea typeface="Arial"/>
                          <a:cs typeface="Arial"/>
                          <a:sym typeface="Arial"/>
                        </a:rPr>
                        <a:t>3</a:t>
                      </a:r>
                      <a:endParaRPr sz="2000" u="none" cap="none" strike="noStrike">
                        <a:solidFill>
                          <a:schemeClr val="dk1"/>
                        </a:solidFill>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solidFill>
                            <a:schemeClr val="dk1"/>
                          </a:solidFill>
                          <a:latin typeface="Arial"/>
                          <a:ea typeface="Arial"/>
                          <a:cs typeface="Arial"/>
                          <a:sym typeface="Arial"/>
                        </a:rPr>
                        <a:t>74.85</a:t>
                      </a:r>
                      <a:endParaRPr sz="2000" u="none" cap="none" strike="noStrike">
                        <a:solidFill>
                          <a:schemeClr val="dk1"/>
                        </a:solidFill>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66825">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solidFill>
                            <a:schemeClr val="dk1"/>
                          </a:solidFill>
                          <a:latin typeface="Arial"/>
                          <a:ea typeface="Arial"/>
                          <a:cs typeface="Arial"/>
                          <a:sym typeface="Arial"/>
                        </a:rPr>
                        <a:t>4</a:t>
                      </a:r>
                      <a:endParaRPr sz="2000" u="none" cap="none" strike="noStrike">
                        <a:solidFill>
                          <a:schemeClr val="dk1"/>
                        </a:solidFill>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solidFill>
                            <a:schemeClr val="dk1"/>
                          </a:solidFill>
                          <a:latin typeface="Arial"/>
                          <a:ea typeface="Arial"/>
                          <a:cs typeface="Arial"/>
                          <a:sym typeface="Arial"/>
                        </a:rPr>
                        <a:t>99.80</a:t>
                      </a:r>
                      <a:endParaRPr sz="2000" u="none" cap="none" strike="noStrike">
                        <a:solidFill>
                          <a:schemeClr val="dk1"/>
                        </a:solidFill>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43000">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solidFill>
                            <a:schemeClr val="dk1"/>
                          </a:solidFill>
                          <a:latin typeface="Arial"/>
                          <a:ea typeface="Arial"/>
                          <a:cs typeface="Arial"/>
                          <a:sym typeface="Arial"/>
                        </a:rPr>
                        <a:t>10</a:t>
                      </a:r>
                      <a:endParaRPr sz="2000" u="none" cap="none" strike="noStrike">
                        <a:solidFill>
                          <a:schemeClr val="dk1"/>
                        </a:solidFill>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solidFill>
                            <a:schemeClr val="dk1"/>
                          </a:solidFill>
                          <a:latin typeface="Arial"/>
                          <a:ea typeface="Arial"/>
                          <a:cs typeface="Arial"/>
                          <a:sym typeface="Arial"/>
                        </a:rPr>
                        <a:t>249.50</a:t>
                      </a:r>
                      <a:endParaRPr sz="2000" u="none" cap="none" strike="noStrike">
                        <a:solidFill>
                          <a:schemeClr val="dk1"/>
                        </a:solidFill>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pic>
        <p:nvPicPr>
          <p:cNvPr id="631" name="Google Shape;631;p61"/>
          <p:cNvPicPr preferRelativeResize="0"/>
          <p:nvPr/>
        </p:nvPicPr>
        <p:blipFill rotWithShape="1">
          <a:blip r:embed="rId2">
            <a:alphaModFix/>
          </a:blip>
          <a:srcRect b="0" l="0" r="0" t="0"/>
          <a:stretch/>
        </p:blipFill>
        <p:spPr>
          <a:xfrm>
            <a:off x="8294626" y="1385925"/>
            <a:ext cx="3622542" cy="2581200"/>
          </a:xfrm>
          <a:prstGeom prst="rect">
            <a:avLst/>
          </a:prstGeom>
          <a:noFill/>
          <a:ln>
            <a:noFill/>
          </a:ln>
        </p:spPr>
      </p:pic>
      <p:sp>
        <p:nvSpPr>
          <p:cNvPr id="632" name="Google Shape;632;p61"/>
          <p:cNvSpPr txBox="1"/>
          <p:nvPr/>
        </p:nvSpPr>
        <p:spPr>
          <a:xfrm>
            <a:off x="486000" y="316800"/>
            <a:ext cx="5015483" cy="5214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030A0"/>
                </a:solidFill>
                <a:latin typeface="Arial"/>
                <a:ea typeface="Arial"/>
                <a:cs typeface="Arial"/>
                <a:sym typeface="Arial"/>
              </a:rPr>
              <a:t>The Cost of Fitness</a:t>
            </a:r>
            <a:endParaRPr b="1" i="0" sz="2800" u="none" cap="none" strike="noStrike">
              <a:solidFill>
                <a:srgbClr val="7030A0"/>
              </a:solidFill>
              <a:latin typeface="Arial"/>
              <a:ea typeface="Arial"/>
              <a:cs typeface="Arial"/>
              <a:sym typeface="Arial"/>
            </a:endParaRPr>
          </a:p>
        </p:txBody>
      </p:sp>
      <p:sp>
        <p:nvSpPr>
          <p:cNvPr id="3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26 / 49</a:t>
            </a:r>
          </a:p>
        </p:txBody>
      </p:sp>
      <p:grpSp>
        <p:nvGrpSpPr>
          <p:cNvPr id="633" name="TEACH-3-student-move" descr="TEACH 3 · Use intentional questioning to deepen learning"/>
          <p:cNvGrpSpPr/>
          <p:nvPr/>
        </p:nvGrpSpPr>
        <p:grpSpPr>
          <a:xfrm>
            <a:off x="6187440" y="4142173"/>
            <a:ext cx="5501640" cy="594360"/>
            <a:chOff x="6187440" y="4142173"/>
            <a:chExt cx="5501640" cy="594360"/>
          </a:xfrm>
        </p:grpSpPr>
        <p:sp>
          <p:nvSpPr>
            <p:cNvPr id="634" name="TEACH-move-card"/>
            <p:cNvSpPr/>
            <p:nvPr/>
          </p:nvSpPr>
          <p:spPr>
            <a:xfrm>
              <a:off x="6187440" y="4142173"/>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635" name="TEACH-move-rule"/>
            <p:cNvSpPr/>
            <p:nvPr/>
          </p:nvSpPr>
          <p:spPr>
            <a:xfrm>
              <a:off x="6233160" y="4255101"/>
              <a:ext cx="100584" cy="368504"/>
            </a:xfrm>
            <a:prstGeom prst="roundRect">
              <a:avLst>
                <a:gd name="adj" fmla="val 50000"/>
              </a:avLst>
            </a:prstGeom>
            <a:solidFill>
              <a:srgbClr val="01708C"/>
            </a:solidFill>
            <a:ln>
              <a:noFill/>
            </a:ln>
          </p:spPr>
          <p:txBody>
            <a:bodyPr/>
            <a:lstStyle/>
            <a:p>
              <a:endParaRPr/>
            </a:p>
          </p:txBody>
        </p:sp>
        <p:sp>
          <p:nvSpPr>
            <p:cNvPr id="636" name="TEACH-move-text"/>
            <p:cNvSpPr txBox="1"/>
            <p:nvPr/>
          </p:nvSpPr>
          <p:spPr>
            <a:xfrm>
              <a:off x="6507480" y="4142173"/>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ASK THE CLASS  ·  </a:t>
              </a:r>
              <a:r>
                <a:rPr lang="en-US" sz="1200" dirty="0">
                  <a:solidFill>
                    <a:srgbClr val="13303A"/>
                  </a:solidFill>
                  <a:latin typeface="Arial"/>
                </a:rPr>
                <a:t>Write one question about this that you could ask the class.</a:t>
              </a:r>
              <a:endParaRPr lang="en-US" sz="1200"/>
            </a:p>
          </p:txBody>
        </p:sp>
      </p:gr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51" name="Google Shape;651;p63"/>
          <p:cNvSpPr txBox="1"/>
          <p:nvPr/>
        </p:nvSpPr>
        <p:spPr>
          <a:xfrm>
            <a:off x="838200" y="316800"/>
            <a:ext cx="4504685" cy="522918"/>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030A0"/>
                </a:solidFill>
                <a:latin typeface="Arial"/>
                <a:ea typeface="Arial"/>
                <a:cs typeface="Arial"/>
                <a:sym typeface="Arial"/>
              </a:rPr>
              <a:t>Collaborate and Connect</a:t>
            </a:r>
            <a:endParaRPr b="0" i="0" sz="1400" u="none" cap="none" strike="noStrike">
              <a:solidFill>
                <a:srgbClr val="000000"/>
              </a:solidFill>
              <a:latin typeface="Arial"/>
              <a:ea typeface="Arial"/>
              <a:cs typeface="Arial"/>
              <a:sym typeface="Arial"/>
            </a:endParaRPr>
          </a:p>
        </p:txBody>
      </p:sp>
      <p:sp>
        <p:nvSpPr>
          <p:cNvPr id="652" name="Google Shape;652;p63"/>
          <p:cNvSpPr txBox="1"/>
          <p:nvPr/>
        </p:nvSpPr>
        <p:spPr>
          <a:xfrm>
            <a:off x="484561" y="936000"/>
            <a:ext cx="7840396" cy="45172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Each month, the total cost increases by $24.95.</a:t>
            </a:r>
            <a:endParaRPr b="0" i="0" sz="2800" u="none" cap="none" strike="noStrike">
              <a:solidFill>
                <a:schemeClr val="dk1"/>
              </a:solidFill>
              <a:latin typeface="Arial"/>
              <a:ea typeface="Arial"/>
              <a:cs typeface="Arial"/>
              <a:sym typeface="Arial"/>
            </a:endParaRPr>
          </a:p>
        </p:txBody>
      </p:sp>
      <p:pic>
        <p:nvPicPr>
          <p:cNvPr id="653" name="Google Shape;653;p63"/>
          <p:cNvPicPr preferRelativeResize="0"/>
          <p:nvPr/>
        </p:nvPicPr>
        <p:blipFill rotWithShape="1">
          <a:blip r:embed="rId2">
            <a:alphaModFix/>
          </a:blip>
          <a:srcRect b="0" l="0" r="0" t="0"/>
          <a:stretch/>
        </p:blipFill>
        <p:spPr>
          <a:xfrm>
            <a:off x="484565" y="367527"/>
            <a:ext cx="353635" cy="340537"/>
          </a:xfrm>
          <a:prstGeom prst="rect">
            <a:avLst/>
          </a:prstGeom>
          <a:noFill/>
          <a:ln>
            <a:noFill/>
          </a:ln>
        </p:spPr>
      </p:pic>
      <p:sp>
        <p:nvSpPr>
          <p:cNvPr id="654" name="Google Shape;654;p63"/>
          <p:cNvSpPr txBox="1"/>
          <p:nvPr/>
        </p:nvSpPr>
        <p:spPr>
          <a:xfrm>
            <a:off x="6815138" y="4346327"/>
            <a:ext cx="4814887" cy="20369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The total cost is the cost per month, $24.95, times the number of months.</a:t>
            </a:r>
            <a:endParaRPr b="0" i="0" sz="1400" u="none" cap="none" strike="noStrike">
              <a:solidFill>
                <a:srgbClr val="000000"/>
              </a:solidFill>
              <a:latin typeface="Arial"/>
              <a:ea typeface="Arial"/>
              <a:cs typeface="Arial"/>
              <a:sym typeface="Arial"/>
            </a:endParaRPr>
          </a:p>
        </p:txBody>
      </p:sp>
      <p:graphicFrame>
        <p:nvGraphicFramePr>
          <p:cNvPr id="655" name="Google Shape;655;p63"/>
          <p:cNvGraphicFramePr/>
          <p:nvPr/>
        </p:nvGraphicFramePr>
        <p:xfrm>
          <a:off x="557490" y="1484004"/>
          <a:ext cx="3000000" cy="3000000"/>
        </p:xfrm>
        <a:graphic>
          <a:graphicData uri="http://schemas.openxmlformats.org/drawingml/2006/table">
            <a:tbl>
              <a:tblPr bandRow="1" firstRow="1">
                <a:noFill/>
                <a:tableStyleId>{F944C467-2D8C-4C2B-96B7-F3DFD2946025}</a:tableStyleId>
              </a:tblPr>
              <a:tblGrid>
                <a:gridCol w="2062225"/>
                <a:gridCol w="3409625"/>
              </a:tblGrid>
              <a:tr h="479300">
                <a:tc gridSpan="2">
                  <a:txBody>
                    <a:bodyPr/>
                    <a:lstStyle/>
                    <a:p>
                      <a:pPr indent="0" lvl="0" marL="0" marR="0" rtl="0" algn="l">
                        <a:lnSpc>
                          <a:spcPct val="100000"/>
                        </a:lnSpc>
                        <a:spcBef>
                          <a:spcPts val="0"/>
                        </a:spcBef>
                        <a:spcAft>
                          <a:spcPts val="0"/>
                        </a:spcAft>
                        <a:buClr>
                          <a:srgbClr val="000000"/>
                        </a:buClr>
                        <a:buSzPts val="2000"/>
                        <a:buFont typeface="Arial"/>
                        <a:buNone/>
                      </a:pPr>
                      <a:r>
                        <a:rPr b="1" lang="en-US" sz="2000" u="none" cap="none" strike="noStrike">
                          <a:solidFill>
                            <a:schemeClr val="dk1"/>
                          </a:solidFill>
                          <a:latin typeface="Arial"/>
                          <a:ea typeface="Arial"/>
                          <a:cs typeface="Arial"/>
                          <a:sym typeface="Arial"/>
                        </a:rPr>
                        <a:t>Membership Cost</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hMerge="1"/>
              </a:tr>
              <a:tr h="416050">
                <a:tc>
                  <a:txBody>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Arial"/>
                          <a:ea typeface="Arial"/>
                          <a:cs typeface="Arial"/>
                          <a:sym typeface="Arial"/>
                        </a:rPr>
                        <a:t>Months</a:t>
                      </a:r>
                      <a:endParaRPr b="1" i="0" sz="2000" u="none" cap="none" strike="noStrike">
                        <a:solidFill>
                          <a:schemeClr val="lt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rgbClr val="625D9C"/>
                    </a:solidFill>
                  </a:tcPr>
                </a:tc>
                <a:tc>
                  <a:txBody>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Arial"/>
                          <a:ea typeface="Arial"/>
                          <a:cs typeface="Arial"/>
                          <a:sym typeface="Arial"/>
                        </a:rPr>
                        <a:t>Total Cost($)</a:t>
                      </a:r>
                      <a:endParaRPr b="1" i="0" sz="2000" u="none" cap="none" strike="noStrike">
                        <a:solidFill>
                          <a:schemeClr val="lt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rgbClr val="625D9C"/>
                    </a:solidFill>
                  </a:tcPr>
                </a:tc>
              </a:tr>
              <a:tr h="368425">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solidFill>
                            <a:schemeClr val="dk1"/>
                          </a:solidFill>
                          <a:latin typeface="Arial"/>
                          <a:ea typeface="Arial"/>
                          <a:cs typeface="Arial"/>
                          <a:sym typeface="Arial"/>
                        </a:rPr>
                        <a:t>1</a:t>
                      </a:r>
                      <a:endParaRPr sz="2000" u="none" cap="none" strike="noStrike">
                        <a:solidFill>
                          <a:schemeClr val="dk1"/>
                        </a:solidFill>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solidFill>
                            <a:schemeClr val="dk1"/>
                          </a:solidFill>
                          <a:latin typeface="Arial"/>
                          <a:ea typeface="Arial"/>
                          <a:cs typeface="Arial"/>
                          <a:sym typeface="Arial"/>
                        </a:rPr>
                        <a:t>24.95</a:t>
                      </a:r>
                      <a:endParaRPr sz="2000" u="none" cap="none" strike="noStrike">
                        <a:solidFill>
                          <a:schemeClr val="dk1"/>
                        </a:solidFill>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66825">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solidFill>
                            <a:schemeClr val="dk1"/>
                          </a:solidFill>
                          <a:latin typeface="Arial"/>
                          <a:ea typeface="Arial"/>
                          <a:cs typeface="Arial"/>
                          <a:sym typeface="Arial"/>
                        </a:rPr>
                        <a:t>2</a:t>
                      </a:r>
                      <a:endParaRPr sz="2000" u="none" cap="none" strike="noStrike">
                        <a:solidFill>
                          <a:schemeClr val="dk1"/>
                        </a:solidFill>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solidFill>
                            <a:schemeClr val="dk1"/>
                          </a:solidFill>
                          <a:latin typeface="Arial"/>
                          <a:ea typeface="Arial"/>
                          <a:cs typeface="Arial"/>
                          <a:sym typeface="Arial"/>
                        </a:rPr>
                        <a:t>49.90</a:t>
                      </a:r>
                      <a:endParaRPr sz="2000" u="none" cap="none" strike="noStrike">
                        <a:solidFill>
                          <a:schemeClr val="dk1"/>
                        </a:solidFill>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85875">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solidFill>
                            <a:schemeClr val="dk1"/>
                          </a:solidFill>
                          <a:latin typeface="Arial"/>
                          <a:ea typeface="Arial"/>
                          <a:cs typeface="Arial"/>
                          <a:sym typeface="Arial"/>
                        </a:rPr>
                        <a:t>3</a:t>
                      </a:r>
                      <a:endParaRPr sz="2000" u="none" cap="none" strike="noStrike">
                        <a:solidFill>
                          <a:schemeClr val="dk1"/>
                        </a:solidFill>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solidFill>
                            <a:schemeClr val="dk1"/>
                          </a:solidFill>
                          <a:latin typeface="Arial"/>
                          <a:ea typeface="Arial"/>
                          <a:cs typeface="Arial"/>
                          <a:sym typeface="Arial"/>
                        </a:rPr>
                        <a:t>74.85</a:t>
                      </a:r>
                      <a:endParaRPr sz="2000" u="none" cap="none" strike="noStrike">
                        <a:solidFill>
                          <a:schemeClr val="dk1"/>
                        </a:solidFill>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66825">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solidFill>
                            <a:schemeClr val="dk1"/>
                          </a:solidFill>
                          <a:latin typeface="Arial"/>
                          <a:ea typeface="Arial"/>
                          <a:cs typeface="Arial"/>
                          <a:sym typeface="Arial"/>
                        </a:rPr>
                        <a:t>4</a:t>
                      </a:r>
                      <a:endParaRPr sz="2000" u="none" cap="none" strike="noStrike">
                        <a:solidFill>
                          <a:schemeClr val="dk1"/>
                        </a:solidFill>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solidFill>
                            <a:schemeClr val="dk1"/>
                          </a:solidFill>
                          <a:latin typeface="Arial"/>
                          <a:ea typeface="Arial"/>
                          <a:cs typeface="Arial"/>
                          <a:sym typeface="Arial"/>
                        </a:rPr>
                        <a:t>99.80</a:t>
                      </a:r>
                      <a:endParaRPr sz="2000" u="none" cap="none" strike="noStrike">
                        <a:solidFill>
                          <a:schemeClr val="dk1"/>
                        </a:solidFill>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43000">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solidFill>
                            <a:schemeClr val="dk1"/>
                          </a:solidFill>
                          <a:latin typeface="Arial"/>
                          <a:ea typeface="Arial"/>
                          <a:cs typeface="Arial"/>
                          <a:sym typeface="Arial"/>
                        </a:rPr>
                        <a:t>10</a:t>
                      </a:r>
                      <a:endParaRPr sz="2000" u="none" cap="none" strike="noStrike">
                        <a:solidFill>
                          <a:schemeClr val="dk1"/>
                        </a:solidFill>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solidFill>
                            <a:schemeClr val="dk1"/>
                          </a:solidFill>
                          <a:latin typeface="Arial"/>
                          <a:ea typeface="Arial"/>
                          <a:cs typeface="Arial"/>
                          <a:sym typeface="Arial"/>
                        </a:rPr>
                        <a:t>249.50</a:t>
                      </a:r>
                      <a:endParaRPr sz="2000" u="none" cap="none" strike="noStrike">
                        <a:solidFill>
                          <a:schemeClr val="dk1"/>
                        </a:solidFill>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656" name="Google Shape;656;p63"/>
          <p:cNvSpPr/>
          <p:nvPr/>
        </p:nvSpPr>
        <p:spPr>
          <a:xfrm>
            <a:off x="484561" y="4456836"/>
            <a:ext cx="5866708" cy="181588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How can you describe the relationship between the total cost and a given number of months?</a:t>
            </a:r>
            <a:endParaRPr b="0" i="0" sz="2800" u="none" cap="none" strike="noStrike">
              <a:solidFill>
                <a:schemeClr val="dk1"/>
              </a:solidFill>
              <a:latin typeface="Arial"/>
              <a:ea typeface="Arial"/>
              <a:cs typeface="Arial"/>
              <a:sym typeface="Arial"/>
            </a:endParaRPr>
          </a:p>
        </p:txBody>
      </p:sp>
      <p:pic>
        <p:nvPicPr>
          <p:cNvPr id="657" name="Google Shape;657;p63"/>
          <p:cNvPicPr preferRelativeResize="0"/>
          <p:nvPr/>
        </p:nvPicPr>
        <p:blipFill rotWithShape="1">
          <a:blip r:embed="rId3">
            <a:alphaModFix/>
          </a:blip>
          <a:srcRect b="0" l="0" r="0" t="0"/>
          <a:stretch/>
        </p:blipFill>
        <p:spPr>
          <a:xfrm>
            <a:off x="8294626" y="1385925"/>
            <a:ext cx="3622542" cy="2581200"/>
          </a:xfrm>
          <a:prstGeom prst="rect">
            <a:avLst/>
          </a:prstGeom>
          <a:noFill/>
          <a:ln>
            <a:noFill/>
          </a:ln>
        </p:spPr>
      </p:pic>
      <p:sp>
        <p:nvSpPr>
          <p:cNvPr id="3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27 / 49</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693" name="Google Shape;693;p6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94" name="Google Shape;694;p67"/>
          <p:cNvSpPr txBox="1"/>
          <p:nvPr/>
        </p:nvSpPr>
        <p:spPr>
          <a:xfrm>
            <a:off x="484564" y="936000"/>
            <a:ext cx="6992867" cy="112877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We can write an equation to represent the relationship between the quantities.</a:t>
            </a:r>
            <a:endParaRPr b="0" i="0" sz="1400" u="none" cap="none" strike="noStrike">
              <a:solidFill>
                <a:srgbClr val="000000"/>
              </a:solidFill>
              <a:latin typeface="Arial"/>
              <a:ea typeface="Arial"/>
              <a:cs typeface="Arial"/>
              <a:sym typeface="Arial"/>
            </a:endParaRPr>
          </a:p>
        </p:txBody>
      </p:sp>
      <p:sp>
        <p:nvSpPr>
          <p:cNvPr id="695" name="Google Shape;695;p67"/>
          <p:cNvSpPr txBox="1"/>
          <p:nvPr/>
        </p:nvSpPr>
        <p:spPr>
          <a:xfrm>
            <a:off x="485999" y="4773307"/>
            <a:ext cx="10899755" cy="15409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The number of months and the total cost can change. We can represent them with variables.</a:t>
            </a:r>
            <a:endParaRPr b="0" i="0" sz="1400" u="none" cap="none" strike="noStrike">
              <a:solidFill>
                <a:srgbClr val="000000"/>
              </a:solidFill>
              <a:latin typeface="Arial"/>
              <a:ea typeface="Arial"/>
              <a:cs typeface="Arial"/>
              <a:sym typeface="Arial"/>
            </a:endParaRPr>
          </a:p>
        </p:txBody>
      </p:sp>
      <p:sp>
        <p:nvSpPr>
          <p:cNvPr id="696" name="Google Shape;696;p67"/>
          <p:cNvSpPr/>
          <p:nvPr/>
        </p:nvSpPr>
        <p:spPr>
          <a:xfrm>
            <a:off x="484564" y="2206920"/>
            <a:ext cx="6992866"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The total cost is the cost per month times the number of months.</a:t>
            </a:r>
            <a:endParaRPr b="0" i="0" sz="2800" u="none" cap="none" strike="noStrike">
              <a:solidFill>
                <a:schemeClr val="dk1"/>
              </a:solidFill>
              <a:latin typeface="Arial"/>
              <a:ea typeface="Arial"/>
              <a:cs typeface="Arial"/>
              <a:sym typeface="Arial"/>
            </a:endParaRPr>
          </a:p>
        </p:txBody>
      </p:sp>
      <p:sp>
        <p:nvSpPr>
          <p:cNvPr id="697" name="Google Shape;697;p67"/>
          <p:cNvSpPr/>
          <p:nvPr/>
        </p:nvSpPr>
        <p:spPr>
          <a:xfrm>
            <a:off x="452919" y="3429000"/>
            <a:ext cx="7158843"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What quantities can change, or vary? How can you represent these quantities?</a:t>
            </a:r>
            <a:endParaRPr b="0" i="0" sz="2800" u="none" cap="none" strike="noStrike">
              <a:solidFill>
                <a:schemeClr val="dk1"/>
              </a:solidFill>
              <a:latin typeface="Arial"/>
              <a:ea typeface="Arial"/>
              <a:cs typeface="Arial"/>
              <a:sym typeface="Arial"/>
            </a:endParaRPr>
          </a:p>
        </p:txBody>
      </p:sp>
      <p:pic>
        <p:nvPicPr>
          <p:cNvPr id="698" name="Google Shape;698;p67"/>
          <p:cNvPicPr preferRelativeResize="0"/>
          <p:nvPr/>
        </p:nvPicPr>
        <p:blipFill rotWithShape="1">
          <a:blip r:embed="rId2">
            <a:alphaModFix/>
          </a:blip>
          <a:srcRect b="0" l="0" r="0" t="0"/>
          <a:stretch/>
        </p:blipFill>
        <p:spPr>
          <a:xfrm>
            <a:off x="8294626" y="1385925"/>
            <a:ext cx="3622542" cy="2581200"/>
          </a:xfrm>
          <a:prstGeom prst="rect">
            <a:avLst/>
          </a:prstGeom>
          <a:noFill/>
          <a:ln>
            <a:noFill/>
          </a:ln>
        </p:spPr>
      </p:pic>
      <p:sp>
        <p:nvSpPr>
          <p:cNvPr id="699" name="Google Shape;699;p67"/>
          <p:cNvSpPr txBox="1"/>
          <p:nvPr/>
        </p:nvSpPr>
        <p:spPr>
          <a:xfrm>
            <a:off x="486000" y="316800"/>
            <a:ext cx="5015483" cy="5214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030A0"/>
                </a:solidFill>
                <a:latin typeface="Arial"/>
                <a:ea typeface="Arial"/>
                <a:cs typeface="Arial"/>
                <a:sym typeface="Arial"/>
              </a:rPr>
              <a:t>The Cost of Fitness</a:t>
            </a:r>
            <a:endParaRPr b="1" i="0" sz="2800" u="none" cap="none" strike="noStrike">
              <a:solidFill>
                <a:srgbClr val="7030A0"/>
              </a:solidFill>
              <a:latin typeface="Arial"/>
              <a:ea typeface="Arial"/>
              <a:cs typeface="Arial"/>
              <a:sym typeface="Arial"/>
            </a:endParaRPr>
          </a:p>
        </p:txBody>
      </p:sp>
      <p:sp>
        <p:nvSpPr>
          <p:cNvPr id="3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28 / 49</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791" name="Google Shape;791;p7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92" name="Google Shape;792;p76"/>
          <p:cNvSpPr txBox="1"/>
          <p:nvPr/>
        </p:nvSpPr>
        <p:spPr>
          <a:xfrm>
            <a:off x="484560"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sp>
        <p:nvSpPr>
          <p:cNvPr id="793" name="Google Shape;793;p76"/>
          <p:cNvSpPr txBox="1"/>
          <p:nvPr/>
        </p:nvSpPr>
        <p:spPr>
          <a:xfrm>
            <a:off x="484560" y="936100"/>
            <a:ext cx="4441401" cy="125235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What do you notice?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What do you wonder?</a:t>
            </a:r>
            <a:endParaRPr b="0" i="0" sz="2800" u="none" cap="none" strike="noStrike">
              <a:solidFill>
                <a:schemeClr val="dk1"/>
              </a:solidFill>
              <a:latin typeface="Arial"/>
              <a:ea typeface="Arial"/>
              <a:cs typeface="Arial"/>
              <a:sym typeface="Arial"/>
            </a:endParaRPr>
          </a:p>
        </p:txBody>
      </p:sp>
      <p:pic>
        <p:nvPicPr>
          <p:cNvPr id="794" name="Google Shape;794;p76"/>
          <p:cNvPicPr preferRelativeResize="0"/>
          <p:nvPr/>
        </p:nvPicPr>
        <p:blipFill rotWithShape="1">
          <a:blip r:embed="rId2">
            <a:alphaModFix/>
          </a:blip>
          <a:srcRect b="0" l="0" r="0" t="0"/>
          <a:stretch/>
        </p:blipFill>
        <p:spPr>
          <a:xfrm>
            <a:off x="459052" y="4870245"/>
            <a:ext cx="5054600" cy="838200"/>
          </a:xfrm>
          <a:prstGeom prst="rect">
            <a:avLst/>
          </a:prstGeom>
          <a:noFill/>
          <a:ln>
            <a:noFill/>
          </a:ln>
        </p:spPr>
      </p:pic>
      <p:sp>
        <p:nvSpPr>
          <p:cNvPr id="795" name="Google Shape;795;p76"/>
          <p:cNvSpPr txBox="1"/>
          <p:nvPr/>
        </p:nvSpPr>
        <p:spPr>
          <a:xfrm>
            <a:off x="3174308" y="5027855"/>
            <a:ext cx="2194584" cy="52297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796" name="Google Shape;796;p76"/>
          <p:cNvSpPr/>
          <p:nvPr/>
        </p:nvSpPr>
        <p:spPr>
          <a:xfrm>
            <a:off x="484560" y="5619833"/>
            <a:ext cx="10858943"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How are you showing others that you respect their ideas about math?​</a:t>
            </a:r>
            <a:endParaRPr b="0" i="0" sz="2600" u="none" cap="none" strike="noStrike">
              <a:solidFill>
                <a:srgbClr val="595959"/>
              </a:solidFill>
              <a:latin typeface="Arial"/>
              <a:ea typeface="Arial"/>
              <a:cs typeface="Arial"/>
              <a:sym typeface="Arial"/>
            </a:endParaRPr>
          </a:p>
        </p:txBody>
      </p:sp>
      <p:pic>
        <p:nvPicPr>
          <p:cNvPr descr="C:\Users\HP\Desktop\G6 U9\OPS\img\.assets\f405d0a62f82454dba06e77f1bbe5794\narm24_c10903_se_006a-dig-a-eps.png" id="797" name="Google Shape;797;p76"/>
          <p:cNvPicPr preferRelativeResize="0"/>
          <p:nvPr/>
        </p:nvPicPr>
        <p:blipFill rotWithShape="1">
          <a:blip r:embed="rId3">
            <a:alphaModFix/>
          </a:blip>
          <a:srcRect b="0" l="0" r="0" t="0"/>
          <a:stretch/>
        </p:blipFill>
        <p:spPr>
          <a:xfrm>
            <a:off x="5092040" y="1147315"/>
            <a:ext cx="3295650" cy="3343275"/>
          </a:xfrm>
          <a:prstGeom prst="rect">
            <a:avLst/>
          </a:prstGeom>
          <a:noFill/>
          <a:ln>
            <a:noFill/>
          </a:ln>
        </p:spPr>
      </p:pic>
      <p:sp>
        <p:nvSpPr>
          <p:cNvPr id="3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30 / 49</a:t>
            </a:r>
          </a:p>
        </p:txBody>
      </p:sp>
      <p:sp xmlns:p="http://schemas.openxmlformats.org/presentationml/2006/main" xmlns:a="http://schemas.openxmlformats.org/drawingml/2006/main">
        <p:nvSpPr>
          <p:cNvPr id="798" name="TEACH-embedded-student-prompt" descr="Student thinking and response directions"/>
          <p:cNvSpPr txBox="1"/>
          <p:nvPr/>
        </p:nvSpPr>
        <p:spPr>
          <a:xfrm>
            <a:off x="6111240" y="468172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 question;</a:t>
            </a:r>
            <a:endParaRPr lang="en-US" sz="2000"/>
          </a:p>
          <a:p>
            <a:pPr>
              <a:lnSpc>
                <a:spcPts val="2400"/>
              </a:lnSpc>
              <a:buNone/>
            </a:pPr>
            <a:r>
              <a:rPr lang="en-US" sz="2000">
                <a:solidFill>
                  <a:srgbClr val="174D60"/>
                </a:solidFill>
                <a:latin typeface="Arial"/>
              </a:rPr>
              <a:t>build on a classmate’s idea.</a:t>
            </a:r>
            <a:endParaRPr lang="en-US" sz="20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2" name="Google Shape;262;p43"/>
          <p:cNvSpPr/>
          <p:nvPr/>
        </p:nvSpPr>
        <p:spPr>
          <a:xfrm>
            <a:off x="0" y="0"/>
            <a:ext cx="12191969" cy="713232"/>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3" name="Google Shape;263;p4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Session 2 Warm-Up</a:t>
            </a:r>
            <a:endParaRPr/>
          </a:p>
        </p:txBody>
      </p:sp>
      <p:sp>
        <p:nvSpPr>
          <p:cNvPr id="264" name="Google Shape;264;p4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9-3 · Write Equations to Represent Relationships Between Two Variables</a:t>
            </a:r>
            <a:endParaRPr/>
          </a:p>
        </p:txBody>
      </p:sp>
      <p:sp>
        <p:nvSpPr>
          <p:cNvPr id="265" name="Google Shape;265;p4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6" name="Google Shape;266;p4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267" name="Google Shape;267;p43"/>
          <p:cNvSpPr txBox="1"/>
          <p:nvPr/>
        </p:nvSpPr>
        <p:spPr>
          <a:xfrm>
            <a:off x="640080" y="914400"/>
            <a:ext cx="10911809" cy="4754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2400" u="none" cap="none" strike="noStrike">
                <a:solidFill>
                  <a:srgbClr val="7030A0"/>
                </a:solidFill>
                <a:latin typeface="Arial"/>
                <a:ea typeface="Arial"/>
                <a:cs typeface="Arial"/>
                <a:sym typeface="Arial"/>
              </a:rPr>
              <a:t>Session 2 Warm-Up</a:t>
            </a:r>
            <a:endParaRPr/>
          </a:p>
        </p:txBody>
      </p:sp>
      <p:sp>
        <p:nvSpPr>
          <p:cNvPr id="268" name="Google Shape;268;p43"/>
          <p:cNvSpPr txBox="1"/>
          <p:nvPr/>
        </p:nvSpPr>
        <p:spPr>
          <a:xfrm>
            <a:off x="640080" y="1426464"/>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500" u="none" cap="none" strike="noStrike">
                <a:solidFill>
                  <a:srgbClr val="475569"/>
                </a:solidFill>
                <a:latin typeface="Arial"/>
                <a:ea typeface="Arial"/>
                <a:cs typeface="Arial"/>
                <a:sym typeface="Arial"/>
              </a:rPr>
              <a:t>Check what you remember from Session 1 · about 4 minutes</a:t>
            </a:r>
            <a:endParaRPr/>
          </a:p>
        </p:txBody>
      </p:sp>
      <p:sp>
        <p:nvSpPr>
          <p:cNvPr id="269" name="Google Shape;269;p43"/>
          <p:cNvSpPr/>
          <p:nvPr/>
        </p:nvSpPr>
        <p:spPr>
          <a:xfrm>
            <a:off x="640080"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0" name="Google Shape;270;p43"/>
          <p:cNvSpPr/>
          <p:nvPr/>
        </p:nvSpPr>
        <p:spPr>
          <a:xfrm>
            <a:off x="640080"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1" name="Google Shape;271;p43"/>
          <p:cNvSpPr/>
          <p:nvPr/>
        </p:nvSpPr>
        <p:spPr>
          <a:xfrm>
            <a:off x="914400"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272" name="Google Shape;272;p43"/>
          <p:cNvSpPr txBox="1"/>
          <p:nvPr/>
        </p:nvSpPr>
        <p:spPr>
          <a:xfrm>
            <a:off x="144475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250" u="none" cap="none" strike="noStrike">
                <a:solidFill>
                  <a:srgbClr val="14223A"/>
                </a:solidFill>
                <a:latin typeface="Arial"/>
                <a:ea typeface="Arial"/>
                <a:cs typeface="Arial"/>
                <a:sym typeface="Arial"/>
              </a:rPr>
              <a:t>If y is 4 times x, which equation represents the relationship?</a:t>
            </a:r>
            <a:endParaRPr/>
          </a:p>
        </p:txBody>
      </p:sp>
      <p:sp>
        <p:nvSpPr>
          <p:cNvPr id="273" name="Google Shape;273;p43"/>
          <p:cNvSpPr/>
          <p:nvPr/>
        </p:nvSpPr>
        <p:spPr>
          <a:xfrm>
            <a:off x="144475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4" name="Google Shape;274;p43"/>
          <p:cNvSpPr txBox="1"/>
          <p:nvPr/>
        </p:nvSpPr>
        <p:spPr>
          <a:xfrm>
            <a:off x="157276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75" name="Google Shape;275;p43"/>
          <p:cNvSpPr txBox="1"/>
          <p:nvPr/>
        </p:nvSpPr>
        <p:spPr>
          <a:xfrm>
            <a:off x="184708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y = x + 4</a:t>
            </a:r>
            <a:endParaRPr/>
          </a:p>
        </p:txBody>
      </p:sp>
      <p:sp>
        <p:nvSpPr>
          <p:cNvPr id="276" name="Google Shape;276;p43"/>
          <p:cNvSpPr/>
          <p:nvPr/>
        </p:nvSpPr>
        <p:spPr>
          <a:xfrm>
            <a:off x="144475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7" name="Google Shape;277;p43"/>
          <p:cNvSpPr txBox="1"/>
          <p:nvPr/>
        </p:nvSpPr>
        <p:spPr>
          <a:xfrm>
            <a:off x="157276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78" name="Google Shape;278;p43"/>
          <p:cNvSpPr txBox="1"/>
          <p:nvPr/>
        </p:nvSpPr>
        <p:spPr>
          <a:xfrm>
            <a:off x="184708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y = 4x</a:t>
            </a:r>
            <a:endParaRPr/>
          </a:p>
        </p:txBody>
      </p:sp>
      <p:sp>
        <p:nvSpPr>
          <p:cNvPr id="279" name="Google Shape;279;p43"/>
          <p:cNvSpPr/>
          <p:nvPr/>
        </p:nvSpPr>
        <p:spPr>
          <a:xfrm>
            <a:off x="144475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0" name="Google Shape;280;p43"/>
          <p:cNvSpPr txBox="1"/>
          <p:nvPr/>
        </p:nvSpPr>
        <p:spPr>
          <a:xfrm>
            <a:off x="157276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81" name="Google Shape;281;p43"/>
          <p:cNvSpPr txBox="1"/>
          <p:nvPr/>
        </p:nvSpPr>
        <p:spPr>
          <a:xfrm>
            <a:off x="184708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x = 4y</a:t>
            </a:r>
            <a:endParaRPr/>
          </a:p>
        </p:txBody>
      </p:sp>
      <p:sp>
        <p:nvSpPr>
          <p:cNvPr id="282" name="Google Shape;282;p43"/>
          <p:cNvSpPr/>
          <p:nvPr/>
        </p:nvSpPr>
        <p:spPr>
          <a:xfrm>
            <a:off x="144475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3" name="Google Shape;283;p43"/>
          <p:cNvSpPr txBox="1"/>
          <p:nvPr/>
        </p:nvSpPr>
        <p:spPr>
          <a:xfrm>
            <a:off x="157276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284" name="Google Shape;284;p43"/>
          <p:cNvSpPr txBox="1"/>
          <p:nvPr/>
        </p:nvSpPr>
        <p:spPr>
          <a:xfrm>
            <a:off x="184708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y = x ÷ 4</a:t>
            </a:r>
            <a:endParaRPr/>
          </a:p>
        </p:txBody>
      </p:sp>
      <p:sp>
        <p:nvSpPr>
          <p:cNvPr id="285" name="Google Shape;285;p43"/>
          <p:cNvSpPr/>
          <p:nvPr/>
        </p:nvSpPr>
        <p:spPr>
          <a:xfrm>
            <a:off x="6260576"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6" name="Google Shape;286;p43"/>
          <p:cNvSpPr/>
          <p:nvPr/>
        </p:nvSpPr>
        <p:spPr>
          <a:xfrm>
            <a:off x="6260576"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7" name="Google Shape;287;p43"/>
          <p:cNvSpPr/>
          <p:nvPr/>
        </p:nvSpPr>
        <p:spPr>
          <a:xfrm>
            <a:off x="6534896"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288" name="Google Shape;288;p43"/>
          <p:cNvSpPr txBox="1"/>
          <p:nvPr/>
        </p:nvSpPr>
        <p:spPr>
          <a:xfrm>
            <a:off x="706831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250" u="none" cap="none" strike="noStrike">
                <a:solidFill>
                  <a:srgbClr val="14223A"/>
                </a:solidFill>
                <a:latin typeface="Arial"/>
                <a:ea typeface="Arial"/>
                <a:cs typeface="Arial"/>
                <a:sym typeface="Arial"/>
              </a:rPr>
              <a:t>In the equation d = 50t, what is the speed (unit rate)?</a:t>
            </a:r>
            <a:endParaRPr/>
          </a:p>
        </p:txBody>
      </p:sp>
      <p:sp>
        <p:nvSpPr>
          <p:cNvPr id="289" name="Google Shape;289;p43"/>
          <p:cNvSpPr/>
          <p:nvPr/>
        </p:nvSpPr>
        <p:spPr>
          <a:xfrm>
            <a:off x="706831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0" name="Google Shape;290;p43"/>
          <p:cNvSpPr txBox="1"/>
          <p:nvPr/>
        </p:nvSpPr>
        <p:spPr>
          <a:xfrm>
            <a:off x="719632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91" name="Google Shape;291;p43"/>
          <p:cNvSpPr txBox="1"/>
          <p:nvPr/>
        </p:nvSpPr>
        <p:spPr>
          <a:xfrm>
            <a:off x="747064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t</a:t>
            </a:r>
            <a:endParaRPr/>
          </a:p>
        </p:txBody>
      </p:sp>
      <p:sp>
        <p:nvSpPr>
          <p:cNvPr id="292" name="Google Shape;292;p43"/>
          <p:cNvSpPr/>
          <p:nvPr/>
        </p:nvSpPr>
        <p:spPr>
          <a:xfrm>
            <a:off x="706831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3" name="Google Shape;293;p43"/>
          <p:cNvSpPr txBox="1"/>
          <p:nvPr/>
        </p:nvSpPr>
        <p:spPr>
          <a:xfrm>
            <a:off x="719632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94" name="Google Shape;294;p43"/>
          <p:cNvSpPr txBox="1"/>
          <p:nvPr/>
        </p:nvSpPr>
        <p:spPr>
          <a:xfrm>
            <a:off x="747064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50</a:t>
            </a:r>
            <a:endParaRPr/>
          </a:p>
        </p:txBody>
      </p:sp>
      <p:sp>
        <p:nvSpPr>
          <p:cNvPr id="295" name="Google Shape;295;p43"/>
          <p:cNvSpPr/>
          <p:nvPr/>
        </p:nvSpPr>
        <p:spPr>
          <a:xfrm>
            <a:off x="706831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6" name="Google Shape;296;p43"/>
          <p:cNvSpPr txBox="1"/>
          <p:nvPr/>
        </p:nvSpPr>
        <p:spPr>
          <a:xfrm>
            <a:off x="719632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97" name="Google Shape;297;p43"/>
          <p:cNvSpPr txBox="1"/>
          <p:nvPr/>
        </p:nvSpPr>
        <p:spPr>
          <a:xfrm>
            <a:off x="747064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d</a:t>
            </a:r>
            <a:endParaRPr/>
          </a:p>
        </p:txBody>
      </p:sp>
      <p:sp>
        <p:nvSpPr>
          <p:cNvPr id="298" name="Google Shape;298;p43"/>
          <p:cNvSpPr/>
          <p:nvPr/>
        </p:nvSpPr>
        <p:spPr>
          <a:xfrm>
            <a:off x="706831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9" name="Google Shape;299;p43"/>
          <p:cNvSpPr txBox="1"/>
          <p:nvPr/>
        </p:nvSpPr>
        <p:spPr>
          <a:xfrm>
            <a:off x="719632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00" name="Google Shape;300;p43"/>
          <p:cNvSpPr txBox="1"/>
          <p:nvPr/>
        </p:nvSpPr>
        <p:spPr>
          <a:xfrm>
            <a:off x="747064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500</a:t>
            </a:r>
            <a:endParaRPr/>
          </a:p>
        </p:txBody>
      </p:sp>
      <p:sp>
        <p:nvSpPr>
          <p:cNvPr id="301" name="Google Shape;301;p43"/>
          <p:cNvSpPr/>
          <p:nvPr/>
        </p:nvSpPr>
        <p:spPr>
          <a:xfrm>
            <a:off x="640080"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2" name="Google Shape;302;p43"/>
          <p:cNvSpPr/>
          <p:nvPr/>
        </p:nvSpPr>
        <p:spPr>
          <a:xfrm>
            <a:off x="640080"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3" name="Google Shape;303;p43"/>
          <p:cNvSpPr/>
          <p:nvPr/>
        </p:nvSpPr>
        <p:spPr>
          <a:xfrm>
            <a:off x="914400"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304" name="Google Shape;304;p43"/>
          <p:cNvSpPr txBox="1"/>
          <p:nvPr/>
        </p:nvSpPr>
        <p:spPr>
          <a:xfrm>
            <a:off x="144475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250" u="none" cap="none" strike="noStrike">
                <a:solidFill>
                  <a:srgbClr val="14223A"/>
                </a:solidFill>
                <a:latin typeface="Arial"/>
                <a:ea typeface="Arial"/>
                <a:cs typeface="Arial"/>
                <a:sym typeface="Arial"/>
              </a:rPr>
              <a:t>If distance d = 50t, how far do you travel in t = 3 hours?</a:t>
            </a:r>
            <a:endParaRPr/>
          </a:p>
        </p:txBody>
      </p:sp>
      <p:sp>
        <p:nvSpPr>
          <p:cNvPr id="305" name="Google Shape;305;p43"/>
          <p:cNvSpPr/>
          <p:nvPr/>
        </p:nvSpPr>
        <p:spPr>
          <a:xfrm>
            <a:off x="144475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6" name="Google Shape;306;p43"/>
          <p:cNvSpPr txBox="1"/>
          <p:nvPr/>
        </p:nvSpPr>
        <p:spPr>
          <a:xfrm>
            <a:off x="157276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07" name="Google Shape;307;p43"/>
          <p:cNvSpPr txBox="1"/>
          <p:nvPr/>
        </p:nvSpPr>
        <p:spPr>
          <a:xfrm>
            <a:off x="184708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53 miles</a:t>
            </a:r>
            <a:endParaRPr/>
          </a:p>
        </p:txBody>
      </p:sp>
      <p:sp>
        <p:nvSpPr>
          <p:cNvPr id="308" name="Google Shape;308;p43"/>
          <p:cNvSpPr/>
          <p:nvPr/>
        </p:nvSpPr>
        <p:spPr>
          <a:xfrm>
            <a:off x="144475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9" name="Google Shape;309;p43"/>
          <p:cNvSpPr txBox="1"/>
          <p:nvPr/>
        </p:nvSpPr>
        <p:spPr>
          <a:xfrm>
            <a:off x="157276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10" name="Google Shape;310;p43"/>
          <p:cNvSpPr txBox="1"/>
          <p:nvPr/>
        </p:nvSpPr>
        <p:spPr>
          <a:xfrm>
            <a:off x="184708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150 miles</a:t>
            </a:r>
            <a:endParaRPr/>
          </a:p>
        </p:txBody>
      </p:sp>
      <p:sp>
        <p:nvSpPr>
          <p:cNvPr id="311" name="Google Shape;311;p43"/>
          <p:cNvSpPr/>
          <p:nvPr/>
        </p:nvSpPr>
        <p:spPr>
          <a:xfrm>
            <a:off x="144475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2" name="Google Shape;312;p43"/>
          <p:cNvSpPr txBox="1"/>
          <p:nvPr/>
        </p:nvSpPr>
        <p:spPr>
          <a:xfrm>
            <a:off x="157276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13" name="Google Shape;313;p43"/>
          <p:cNvSpPr txBox="1"/>
          <p:nvPr/>
        </p:nvSpPr>
        <p:spPr>
          <a:xfrm>
            <a:off x="184708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100 miles</a:t>
            </a:r>
            <a:endParaRPr/>
          </a:p>
        </p:txBody>
      </p:sp>
      <p:sp>
        <p:nvSpPr>
          <p:cNvPr id="314" name="Google Shape;314;p43"/>
          <p:cNvSpPr/>
          <p:nvPr/>
        </p:nvSpPr>
        <p:spPr>
          <a:xfrm>
            <a:off x="144475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5" name="Google Shape;315;p43"/>
          <p:cNvSpPr txBox="1"/>
          <p:nvPr/>
        </p:nvSpPr>
        <p:spPr>
          <a:xfrm>
            <a:off x="157276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16" name="Google Shape;316;p43"/>
          <p:cNvSpPr txBox="1"/>
          <p:nvPr/>
        </p:nvSpPr>
        <p:spPr>
          <a:xfrm>
            <a:off x="184708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17 miles</a:t>
            </a:r>
            <a:endParaRPr/>
          </a:p>
        </p:txBody>
      </p:sp>
      <p:sp>
        <p:nvSpPr>
          <p:cNvPr id="317" name="Google Shape;317;p43"/>
          <p:cNvSpPr/>
          <p:nvPr/>
        </p:nvSpPr>
        <p:spPr>
          <a:xfrm>
            <a:off x="6260576"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8" name="Google Shape;318;p43"/>
          <p:cNvSpPr/>
          <p:nvPr/>
        </p:nvSpPr>
        <p:spPr>
          <a:xfrm>
            <a:off x="6260576"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9" name="Google Shape;319;p43"/>
          <p:cNvSpPr/>
          <p:nvPr/>
        </p:nvSpPr>
        <p:spPr>
          <a:xfrm>
            <a:off x="6534896"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4</a:t>
            </a:r>
            <a:endParaRPr/>
          </a:p>
        </p:txBody>
      </p:sp>
      <p:sp>
        <p:nvSpPr>
          <p:cNvPr id="320" name="Google Shape;320;p43"/>
          <p:cNvSpPr txBox="1"/>
          <p:nvPr/>
        </p:nvSpPr>
        <p:spPr>
          <a:xfrm>
            <a:off x="706831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250" u="none" cap="none" strike="noStrike">
                <a:solidFill>
                  <a:srgbClr val="14223A"/>
                </a:solidFill>
                <a:latin typeface="Arial"/>
                <a:ea typeface="Arial"/>
                <a:cs typeface="Arial"/>
                <a:sym typeface="Arial"/>
              </a:rPr>
              <a:t>Equations relating two variables are typically written as:</a:t>
            </a:r>
            <a:endParaRPr/>
          </a:p>
        </p:txBody>
      </p:sp>
      <p:sp>
        <p:nvSpPr>
          <p:cNvPr id="321" name="Google Shape;321;p43"/>
          <p:cNvSpPr/>
          <p:nvPr/>
        </p:nvSpPr>
        <p:spPr>
          <a:xfrm>
            <a:off x="706831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2" name="Google Shape;322;p43"/>
          <p:cNvSpPr txBox="1"/>
          <p:nvPr/>
        </p:nvSpPr>
        <p:spPr>
          <a:xfrm>
            <a:off x="719632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23" name="Google Shape;323;p43"/>
          <p:cNvSpPr txBox="1"/>
          <p:nvPr/>
        </p:nvSpPr>
        <p:spPr>
          <a:xfrm>
            <a:off x="747064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x = y + 0</a:t>
            </a:r>
            <a:endParaRPr/>
          </a:p>
        </p:txBody>
      </p:sp>
      <p:sp>
        <p:nvSpPr>
          <p:cNvPr id="324" name="Google Shape;324;p43"/>
          <p:cNvSpPr/>
          <p:nvPr/>
        </p:nvSpPr>
        <p:spPr>
          <a:xfrm>
            <a:off x="706831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5" name="Google Shape;325;p43"/>
          <p:cNvSpPr txBox="1"/>
          <p:nvPr/>
        </p:nvSpPr>
        <p:spPr>
          <a:xfrm>
            <a:off x="719632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26" name="Google Shape;326;p43"/>
          <p:cNvSpPr txBox="1"/>
          <p:nvPr/>
        </p:nvSpPr>
        <p:spPr>
          <a:xfrm>
            <a:off x="747064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y = (rule involving x)</a:t>
            </a:r>
            <a:endParaRPr/>
          </a:p>
        </p:txBody>
      </p:sp>
      <p:sp>
        <p:nvSpPr>
          <p:cNvPr id="327" name="Google Shape;327;p43"/>
          <p:cNvSpPr/>
          <p:nvPr/>
        </p:nvSpPr>
        <p:spPr>
          <a:xfrm>
            <a:off x="706831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8" name="Google Shape;328;p43"/>
          <p:cNvSpPr txBox="1"/>
          <p:nvPr/>
        </p:nvSpPr>
        <p:spPr>
          <a:xfrm>
            <a:off x="719632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29" name="Google Shape;329;p43"/>
          <p:cNvSpPr txBox="1"/>
          <p:nvPr/>
        </p:nvSpPr>
        <p:spPr>
          <a:xfrm>
            <a:off x="747064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x × y = 0</a:t>
            </a:r>
            <a:endParaRPr/>
          </a:p>
        </p:txBody>
      </p:sp>
      <p:sp>
        <p:nvSpPr>
          <p:cNvPr id="330" name="Google Shape;330;p43"/>
          <p:cNvSpPr/>
          <p:nvPr/>
        </p:nvSpPr>
        <p:spPr>
          <a:xfrm>
            <a:off x="706831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1" name="Google Shape;331;p43"/>
          <p:cNvSpPr txBox="1"/>
          <p:nvPr/>
        </p:nvSpPr>
        <p:spPr>
          <a:xfrm>
            <a:off x="719632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32" name="Google Shape;332;p43"/>
          <p:cNvSpPr txBox="1"/>
          <p:nvPr/>
        </p:nvSpPr>
        <p:spPr>
          <a:xfrm>
            <a:off x="747064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Constants only</a:t>
            </a:r>
            <a:endParaRPr/>
          </a:p>
        </p:txBody>
      </p:sp>
      <p:sp>
        <p:nvSpPr>
          <p:cNvPr id="3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31 / 49</a:t>
            </a: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1" name="Google Shape;521;p53"/>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2" name="Google Shape;522;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523" name="Google Shape;523;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9-3 · Write Equations to Represent Relationships Between Two Variables</a:t>
            </a:r>
            <a:endParaRPr/>
          </a:p>
        </p:txBody>
      </p:sp>
      <p:sp>
        <p:nvSpPr>
          <p:cNvPr id="524" name="Google Shape;524;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5" name="Google Shape;525;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26" name="Google Shape;526;p53"/>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2400" u="none" cap="none" strike="noStrike">
                <a:solidFill>
                  <a:srgbClr val="7030A0"/>
                </a:solidFill>
                <a:latin typeface="Arial"/>
                <a:ea typeface="Arial"/>
                <a:cs typeface="Arial"/>
                <a:sym typeface="Arial"/>
              </a:rPr>
              <a:t>Review Notes — Session 2</a:t>
            </a:r>
            <a:endParaRPr/>
          </a:p>
        </p:txBody>
      </p:sp>
      <p:sp>
        <p:nvSpPr>
          <p:cNvPr id="527" name="Google Shape;527;p53"/>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8" name="Google Shape;528;p53"/>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29" name="Google Shape;529;p53"/>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0" name="Google Shape;530;p53"/>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1" name="Google Shape;531;p53"/>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532" name="Google Shape;532;p53"/>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Writing Equations</a:t>
            </a:r>
            <a:endParaRPr/>
          </a:p>
        </p:txBody>
      </p:sp>
      <p:sp>
        <p:nvSpPr>
          <p:cNvPr id="533" name="Google Shape;533;p53"/>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Express the </a:t>
            </a:r>
            <a:r>
              <a:rPr b="1" i="0" lang="en-US" sz="1450" u="none" cap="none" strike="noStrike">
                <a:solidFill>
                  <a:srgbClr val="475569"/>
                </a:solidFill>
                <a:latin typeface="Arial"/>
                <a:ea typeface="Arial"/>
                <a:cs typeface="Arial"/>
                <a:sym typeface="Arial"/>
              </a:rPr>
              <a:t xml:space="preserve">dependent variable</a:t>
            </a:r>
            <a:r>
              <a:rPr b="0" i="0" lang="en-US" sz="1450" u="none" cap="none" strike="noStrike">
                <a:solidFill>
                  <a:srgbClr val="475569"/>
                </a:solidFill>
                <a:latin typeface="Arial"/>
                <a:ea typeface="Arial"/>
                <a:cs typeface="Arial"/>
                <a:sym typeface="Arial"/>
              </a:rPr>
              <a:t xml:space="preserve"> in terms of the </a:t>
            </a:r>
            <a:r>
              <a:rPr b="1" i="0" lang="en-US" sz="1450" u="none" cap="none" strike="noStrike">
                <a:solidFill>
                  <a:srgbClr val="475569"/>
                </a:solidFill>
                <a:latin typeface="Arial"/>
                <a:ea typeface="Arial"/>
                <a:cs typeface="Arial"/>
                <a:sym typeface="Arial"/>
              </a:rPr>
              <a:t xml:space="preserve">independent variable</a:t>
            </a:r>
            <a:r>
              <a:rPr b="0" i="0" lang="en-US" sz="1450" u="none" cap="none" strike="noStrike">
                <a:solidFill>
                  <a:srgbClr val="475569"/>
                </a:solidFill>
                <a:latin typeface="Arial"/>
                <a:ea typeface="Arial"/>
                <a:cs typeface="Arial"/>
                <a:sym typeface="Arial"/>
              </a:rPr>
              <a:t xml:space="preserve">: y = kx or y = x + c.</a:t>
            </a:r>
            <a:endParaRPr/>
          </a:p>
        </p:txBody>
      </p:sp>
      <p:sp>
        <p:nvSpPr>
          <p:cNvPr id="534" name="Google Shape;534;p53"/>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5" name="Google Shape;535;p53"/>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6" name="Google Shape;536;p53"/>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537" name="Google Shape;537;p53"/>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Multiplicative Rules</a:t>
            </a:r>
            <a:endParaRPr/>
          </a:p>
        </p:txBody>
      </p:sp>
      <p:sp>
        <p:nvSpPr>
          <p:cNvPr id="538" name="Google Shape;538;p53"/>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When y is formed by multiplying x by a </a:t>
            </a:r>
            <a:r>
              <a:rPr b="1" i="0" lang="en-US" sz="1450" u="none" cap="none" strike="noStrike">
                <a:solidFill>
                  <a:srgbClr val="475569"/>
                </a:solidFill>
                <a:latin typeface="Arial"/>
                <a:ea typeface="Arial"/>
                <a:cs typeface="Arial"/>
                <a:sym typeface="Arial"/>
              </a:rPr>
              <a:t xml:space="preserve">constant</a:t>
            </a:r>
            <a:r>
              <a:rPr b="0" i="0" lang="en-US" sz="1450" u="none" cap="none" strike="noStrike">
                <a:solidFill>
                  <a:srgbClr val="475569"/>
                </a:solidFill>
                <a:latin typeface="Arial"/>
                <a:ea typeface="Arial"/>
                <a:cs typeface="Arial"/>
                <a:sym typeface="Arial"/>
              </a:rPr>
              <a:t xml:space="preserve"> </a:t>
            </a:r>
            <a:r>
              <a:rPr b="1" i="0" lang="en-US" sz="1450" u="none" cap="none" strike="noStrike">
                <a:solidFill>
                  <a:srgbClr val="475569"/>
                </a:solidFill>
                <a:latin typeface="Arial"/>
                <a:ea typeface="Arial"/>
                <a:cs typeface="Arial"/>
                <a:sym typeface="Arial"/>
              </a:rPr>
              <a:t xml:space="preserve">rate</a:t>
            </a:r>
            <a:r>
              <a:rPr b="0" i="0" lang="en-US" sz="1450" u="none" cap="none" strike="noStrike">
                <a:solidFill>
                  <a:srgbClr val="475569"/>
                </a:solidFill>
                <a:latin typeface="Arial"/>
                <a:ea typeface="Arial"/>
                <a:cs typeface="Arial"/>
                <a:sym typeface="Arial"/>
              </a:rPr>
              <a:t xml:space="preserve"> k: y = kx.</a:t>
            </a:r>
            <a:endParaRPr/>
          </a:p>
        </p:txBody>
      </p:sp>
      <p:sp>
        <p:nvSpPr>
          <p:cNvPr id="539" name="Google Shape;539;p53"/>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0" name="Google Shape;540;p53"/>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1" name="Google Shape;541;p53"/>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42" name="Google Shape;542;p53"/>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Additive Rules</a:t>
            </a:r>
            <a:endParaRPr/>
          </a:p>
        </p:txBody>
      </p:sp>
      <p:sp>
        <p:nvSpPr>
          <p:cNvPr id="543" name="Google Shape;543;p53"/>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When y is formed by adding a starting value or offset c to x: y = x + c.</a:t>
            </a:r>
            <a:endParaRPr/>
          </a:p>
        </p:txBody>
      </p:sp>
      <p:sp>
        <p:nvSpPr>
          <p:cNvPr id="54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33 / 49</a:t>
            </a:r>
          </a:p>
        </p:txBody>
      </p:sp>
      <p:grpSp>
        <p:nvGrpSpPr>
          <p:cNvPr id="545" name="TEACH-1-student-move" descr="TEACH 1 · Facilitate clear, standards-based content learning"/>
          <p:cNvGrpSpPr/>
          <p:nvPr/>
        </p:nvGrpSpPr>
        <p:grpSpPr>
          <a:xfrm>
            <a:off x="6187440" y="1682496"/>
            <a:ext cx="5501640" cy="594360"/>
            <a:chOff x="6187440" y="1682496"/>
            <a:chExt cx="5501640" cy="594360"/>
          </a:xfrm>
        </p:grpSpPr>
        <p:sp>
          <p:nvSpPr>
            <p:cNvPr id="546"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47"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48"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WHY IT MATTERS  ·  </a:t>
              </a:r>
              <a:r>
                <a:rPr lang="en-US" sz="1200" dirty="0">
                  <a:solidFill>
                    <a:srgbClr val="13303A"/>
                  </a:solidFill>
                  <a:latin typeface="Arial"/>
                </a:rPr>
                <a:t>Finish this: “This is worth knowing because ______.”</a:t>
              </a:r>
              <a:endParaRPr lang="en-US" sz="1200"/>
            </a:p>
          </p:txBody>
        </p:sp>
      </p:gr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3" name="Shape 773"/>
        <p:cNvGrpSpPr/>
        <p:nvPr/>
      </p:nvGrpSpPr>
      <p:grpSpPr>
        <a:xfrm>
          <a:off x="0" y="0"/>
          <a:ext cx="0" cy="0"/>
          <a:chOff x="0" y="0"/>
          <a:chExt cx="0" cy="0"/>
        </a:xfrm>
      </p:grpSpPr>
      <p:sp>
        <p:nvSpPr>
          <p:cNvPr id="774" name="Google Shape;774;p74"/>
          <p:cNvSpPr txBox="1"/>
          <p:nvPr/>
        </p:nvSpPr>
        <p:spPr>
          <a:xfrm>
            <a:off x="1402828" y="2453950"/>
            <a:ext cx="9144000" cy="21764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Write Equations to Represent Relationships Between Two Variables</a:t>
            </a:r>
            <a:endParaRPr b="0" i="0" sz="1400" u="none" cap="none" strike="noStrike">
              <a:solidFill>
                <a:srgbClr val="000000"/>
              </a:solidFill>
              <a:latin typeface="Arial"/>
              <a:ea typeface="Arial"/>
              <a:cs typeface="Arial"/>
              <a:sym typeface="Arial"/>
            </a:endParaRPr>
          </a:p>
        </p:txBody>
      </p:sp>
      <p:sp>
        <p:nvSpPr>
          <p:cNvPr id="775" name="Google Shape;775;p74"/>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01708C"/>
                </a:solidFill>
                <a:latin typeface="Arial"/>
                <a:ea typeface="Arial"/>
                <a:cs typeface="Arial"/>
                <a:sym typeface="Arial"/>
              </a:rPr>
              <a:t>Session 2</a:t>
            </a:r>
            <a:endParaRPr b="1" i="0" sz="2800" u="none" cap="none" strike="noStrike">
              <a:solidFill>
                <a:srgbClr val="01708C"/>
              </a:solidFill>
              <a:latin typeface="Arial"/>
              <a:ea typeface="Arial"/>
              <a:cs typeface="Arial"/>
              <a:sym typeface="Arial"/>
            </a:endParaRPr>
          </a:p>
        </p:txBody>
      </p:sp>
      <p:cxnSp>
        <p:nvCxnSpPr>
          <p:cNvPr id="776" name="Google Shape;776;p74"/>
          <p:cNvCxnSpPr/>
          <p:nvPr/>
        </p:nvCxnSpPr>
        <p:spPr>
          <a:xfrm>
            <a:off x="-1" y="1560382"/>
            <a:ext cx="3166453" cy="0"/>
          </a:xfrm>
          <a:prstGeom prst="straightConnector1">
            <a:avLst/>
          </a:prstGeom>
          <a:noFill/>
          <a:ln cap="flat" cmpd="sng" w="19050">
            <a:solidFill>
              <a:srgbClr val="01708C"/>
            </a:solidFill>
            <a:prstDash val="solid"/>
            <a:miter lim="80"/>
            <a:headEnd len="sm" w="sm" type="none"/>
            <a:tailEnd len="sm" w="sm" type="none"/>
          </a:ln>
        </p:spPr>
      </p:cxnSp>
      <p:sp>
        <p:nvSpPr>
          <p:cNvPr id="77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34 / 49</a:t>
            </a:r>
          </a:p>
        </p:txBody>
      </p:sp>
      <p:grpSp>
        <p:nvGrpSpPr>
          <p:cNvPr id="778" name="TEACH-5-student-move" descr="TEACH 5 · Facilitate student interactions and academic talk"/>
          <p:cNvGrpSpPr/>
          <p:nvPr/>
        </p:nvGrpSpPr>
        <p:grpSpPr>
          <a:xfrm>
            <a:off x="502920" y="3867612"/>
            <a:ext cx="11186160" cy="731520"/>
            <a:chOff x="502920" y="3867612"/>
            <a:chExt cx="11186160" cy="731520"/>
          </a:xfrm>
        </p:grpSpPr>
        <p:sp>
          <p:nvSpPr>
            <p:cNvPr id="779" name="TEACH-move-card"/>
            <p:cNvSpPr/>
            <p:nvPr/>
          </p:nvSpPr>
          <p:spPr>
            <a:xfrm>
              <a:off x="502920" y="3867612"/>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780" name="TEACH-move-rule"/>
            <p:cNvSpPr/>
            <p:nvPr/>
          </p:nvSpPr>
          <p:spPr>
            <a:xfrm>
              <a:off x="548640" y="4006601"/>
              <a:ext cx="100584" cy="453542"/>
            </a:xfrm>
            <a:prstGeom prst="roundRect">
              <a:avLst>
                <a:gd name="adj" fmla="val 50000"/>
              </a:avLst>
            </a:prstGeom>
            <a:solidFill>
              <a:srgbClr val="01708C"/>
            </a:solidFill>
            <a:ln>
              <a:noFill/>
            </a:ln>
          </p:spPr>
          <p:txBody>
            <a:bodyPr/>
            <a:lstStyle/>
            <a:p>
              <a:endParaRPr/>
            </a:p>
          </p:txBody>
        </p:sp>
        <p:sp>
          <p:nvSpPr>
            <p:cNvPr id="781" name="TEACH-move-text"/>
            <p:cNvSpPr txBox="1"/>
            <p:nvPr/>
          </p:nvSpPr>
          <p:spPr>
            <a:xfrm>
              <a:off x="822960" y="3867612"/>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USE THE MATH WORDS  ·  </a:t>
              </a:r>
              <a:r>
                <a:rPr lang="en-US" sz="1800" dirty="0">
                  <a:solidFill>
                    <a:srgbClr val="13303A"/>
                  </a:solidFill>
                  <a:latin typeface="Arial"/>
                </a:rPr>
                <a:t>Use today’s math words in your explanation — not “it” and “that thing.”</a:t>
              </a:r>
              <a:endParaRPr lang="en-US" sz="1800"/>
            </a:p>
          </p:txBody>
        </p:sp>
      </p:gr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cxnSp>
        <p:nvCxnSpPr>
          <p:cNvPr id="802" name="Google Shape;802;p7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03" name="Google Shape;803;p77"/>
          <p:cNvSpPr txBox="1"/>
          <p:nvPr/>
        </p:nvSpPr>
        <p:spPr>
          <a:xfrm>
            <a:off x="484565" y="316033"/>
            <a:ext cx="5029132" cy="46247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Canoe Rental</a:t>
            </a:r>
            <a:endParaRPr b="1" i="0" sz="2800" u="none" cap="none" strike="noStrike">
              <a:solidFill>
                <a:srgbClr val="7030A0"/>
              </a:solidFill>
              <a:latin typeface="Arial"/>
              <a:ea typeface="Arial"/>
              <a:cs typeface="Arial"/>
              <a:sym typeface="Arial"/>
            </a:endParaRPr>
          </a:p>
        </p:txBody>
      </p:sp>
      <p:sp>
        <p:nvSpPr>
          <p:cNvPr id="804" name="Google Shape;804;p77"/>
          <p:cNvSpPr txBox="1"/>
          <p:nvPr/>
        </p:nvSpPr>
        <p:spPr>
          <a:xfrm>
            <a:off x="486000" y="936000"/>
            <a:ext cx="6888194" cy="99757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Some friends want to rent a canoe for a few hours. The sign shows the rental cost.</a:t>
            </a:r>
            <a:endParaRPr b="0" i="0" sz="1400" u="none" cap="none" strike="noStrike">
              <a:solidFill>
                <a:srgbClr val="000000"/>
              </a:solidFill>
              <a:latin typeface="Arial"/>
              <a:ea typeface="Arial"/>
              <a:cs typeface="Arial"/>
              <a:sym typeface="Arial"/>
            </a:endParaRPr>
          </a:p>
        </p:txBody>
      </p:sp>
      <p:sp>
        <p:nvSpPr>
          <p:cNvPr id="805" name="Google Shape;805;p77"/>
          <p:cNvSpPr txBox="1"/>
          <p:nvPr/>
        </p:nvSpPr>
        <p:spPr>
          <a:xfrm>
            <a:off x="484565" y="2091060"/>
            <a:ext cx="6668956"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How can the friends determine how much money they need to rent a canoe for any number of hours?</a:t>
            </a:r>
            <a:endParaRPr b="1" i="0" sz="2800" u="none" cap="none" strike="noStrike">
              <a:solidFill>
                <a:schemeClr val="dk1"/>
              </a:solidFill>
              <a:latin typeface="Arial"/>
              <a:ea typeface="Arial"/>
              <a:cs typeface="Arial"/>
              <a:sym typeface="Arial"/>
            </a:endParaRPr>
          </a:p>
        </p:txBody>
      </p:sp>
      <p:pic>
        <p:nvPicPr>
          <p:cNvPr id="806" name="Google Shape;806;p77"/>
          <p:cNvPicPr preferRelativeResize="0"/>
          <p:nvPr/>
        </p:nvPicPr>
        <p:blipFill rotWithShape="1">
          <a:blip r:embed="rId3">
            <a:alphaModFix/>
          </a:blip>
          <a:srcRect b="0" l="0" r="0" t="0"/>
          <a:stretch/>
        </p:blipFill>
        <p:spPr>
          <a:xfrm>
            <a:off x="460720" y="4989282"/>
            <a:ext cx="5054600" cy="838200"/>
          </a:xfrm>
          <a:prstGeom prst="rect">
            <a:avLst/>
          </a:prstGeom>
          <a:noFill/>
          <a:ln>
            <a:noFill/>
          </a:ln>
        </p:spPr>
      </p:pic>
      <p:sp>
        <p:nvSpPr>
          <p:cNvPr id="807" name="Google Shape;807;p77"/>
          <p:cNvSpPr/>
          <p:nvPr/>
        </p:nvSpPr>
        <p:spPr>
          <a:xfrm>
            <a:off x="3197690" y="5146772"/>
            <a:ext cx="1564852"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Applying</a:t>
            </a:r>
            <a:endParaRPr b="0" i="0" sz="1400" u="none" cap="none" strike="noStrike">
              <a:solidFill>
                <a:srgbClr val="000000"/>
              </a:solidFill>
              <a:latin typeface="Arial"/>
              <a:ea typeface="Arial"/>
              <a:cs typeface="Arial"/>
              <a:sym typeface="Arial"/>
            </a:endParaRPr>
          </a:p>
        </p:txBody>
      </p:sp>
      <p:pic>
        <p:nvPicPr>
          <p:cNvPr descr="C:\Users\HP\Desktop\G6 U9\OPS\img\.assets\00cdb42cdcd14041994a77c0131c787b\narm24_c10903_se_005a-dig.png" id="808" name="Google Shape;808;p77"/>
          <p:cNvPicPr preferRelativeResize="0"/>
          <p:nvPr/>
        </p:nvPicPr>
        <p:blipFill rotWithShape="1">
          <a:blip r:embed="rId4">
            <a:alphaModFix/>
          </a:blip>
          <a:srcRect b="0" l="0" r="0" t="0"/>
          <a:stretch/>
        </p:blipFill>
        <p:spPr>
          <a:xfrm>
            <a:off x="7492305" y="1370044"/>
            <a:ext cx="4528663" cy="2278800"/>
          </a:xfrm>
          <a:prstGeom prst="rect">
            <a:avLst/>
          </a:prstGeom>
          <a:noFill/>
          <a:ln>
            <a:noFill/>
          </a:ln>
        </p:spPr>
      </p:pic>
      <p:sp>
        <p:nvSpPr>
          <p:cNvPr id="80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35 / 49</a:t>
            </a:r>
          </a:p>
        </p:txBody>
      </p:sp>
      <p:sp xmlns:p="http://schemas.openxmlformats.org/presentationml/2006/main" xmlns:a="http://schemas.openxmlformats.org/drawingml/2006/main">
        <p:nvSpPr>
          <p:cNvPr id="810" name="TEACH-embedded-student-prompt" descr="Student thinking and response directions"/>
          <p:cNvSpPr txBox="1"/>
          <p:nvPr/>
        </p:nvSpPr>
        <p:spPr>
          <a:xfrm>
            <a:off x="594360" y="435254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 answer?</a:t>
            </a:r>
            <a:endParaRPr lang="en-US" sz="20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4" name="Shape 834"/>
        <p:cNvGrpSpPr/>
        <p:nvPr/>
      </p:nvGrpSpPr>
      <p:grpSpPr>
        <a:xfrm>
          <a:off x="0" y="0"/>
          <a:ext cx="0" cy="0"/>
          <a:chOff x="0" y="0"/>
          <a:chExt cx="0" cy="0"/>
        </a:xfrm>
      </p:grpSpPr>
      <p:cxnSp>
        <p:nvCxnSpPr>
          <p:cNvPr id="835" name="Google Shape;835;p8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36" name="Google Shape;836;p80"/>
          <p:cNvSpPr txBox="1"/>
          <p:nvPr/>
        </p:nvSpPr>
        <p:spPr>
          <a:xfrm>
            <a:off x="484565" y="316033"/>
            <a:ext cx="5029132" cy="50311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Canoe Rental</a:t>
            </a:r>
            <a:endParaRPr b="1" i="0" sz="2800" u="none" cap="none" strike="noStrike">
              <a:solidFill>
                <a:srgbClr val="7030A0"/>
              </a:solidFill>
              <a:latin typeface="Arial"/>
              <a:ea typeface="Arial"/>
              <a:cs typeface="Arial"/>
              <a:sym typeface="Arial"/>
            </a:endParaRPr>
          </a:p>
        </p:txBody>
      </p:sp>
      <p:sp>
        <p:nvSpPr>
          <p:cNvPr id="837" name="Google Shape;837;p80"/>
          <p:cNvSpPr txBox="1"/>
          <p:nvPr/>
        </p:nvSpPr>
        <p:spPr>
          <a:xfrm>
            <a:off x="486000" y="936000"/>
            <a:ext cx="6914925" cy="223968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Some friends want to rent a canoe for a few hours. The sign shows the rental costs. How can the friends determine how much money they need to rent a canoe for any number of hours?</a:t>
            </a:r>
            <a:endParaRPr b="0" i="0" sz="1400" u="none" cap="none" strike="noStrike">
              <a:solidFill>
                <a:srgbClr val="000000"/>
              </a:solidFill>
              <a:latin typeface="Arial"/>
              <a:ea typeface="Arial"/>
              <a:cs typeface="Arial"/>
              <a:sym typeface="Arial"/>
            </a:endParaRPr>
          </a:p>
        </p:txBody>
      </p:sp>
      <p:sp>
        <p:nvSpPr>
          <p:cNvPr id="838" name="Google Shape;838;p80"/>
          <p:cNvSpPr txBox="1"/>
          <p:nvPr/>
        </p:nvSpPr>
        <p:spPr>
          <a:xfrm>
            <a:off x="486000" y="3168312"/>
            <a:ext cx="7044405" cy="181588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What are the quantities in the situation? Which quantity is the independent variable, and which is the dependent variable?</a:t>
            </a:r>
            <a:endParaRPr b="1" i="0" sz="2800" u="none" cap="none" strike="noStrike">
              <a:solidFill>
                <a:schemeClr val="dk1"/>
              </a:solidFill>
              <a:latin typeface="Arial"/>
              <a:ea typeface="Arial"/>
              <a:cs typeface="Arial"/>
              <a:sym typeface="Arial"/>
            </a:endParaRPr>
          </a:p>
        </p:txBody>
      </p:sp>
      <p:sp>
        <p:nvSpPr>
          <p:cNvPr id="839" name="Google Shape;839;p80"/>
          <p:cNvSpPr txBox="1"/>
          <p:nvPr/>
        </p:nvSpPr>
        <p:spPr>
          <a:xfrm>
            <a:off x="486000" y="4984194"/>
            <a:ext cx="11540409" cy="13849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The quantities are the time of the canoe rental, the independent variable, and the total cost of the rental, the dependent variable.</a:t>
            </a:r>
            <a:endParaRPr b="1" i="0" sz="2800" u="none" cap="none" strike="noStrike">
              <a:solidFill>
                <a:srgbClr val="595959"/>
              </a:solidFill>
              <a:latin typeface="Arial"/>
              <a:ea typeface="Arial"/>
              <a:cs typeface="Arial"/>
              <a:sym typeface="Arial"/>
            </a:endParaRPr>
          </a:p>
        </p:txBody>
      </p:sp>
      <p:pic>
        <p:nvPicPr>
          <p:cNvPr descr="C:\Users\HP\Desktop\G6 U9\OPS\img\.assets\00cdb42cdcd14041994a77c0131c787b\narm24_c10903_se_005a-dig.png" id="840" name="Google Shape;840;p80"/>
          <p:cNvPicPr preferRelativeResize="0"/>
          <p:nvPr/>
        </p:nvPicPr>
        <p:blipFill rotWithShape="1">
          <a:blip r:embed="rId3">
            <a:alphaModFix/>
          </a:blip>
          <a:srcRect b="0" l="0" r="0" t="0"/>
          <a:stretch/>
        </p:blipFill>
        <p:spPr>
          <a:xfrm>
            <a:off x="7492305" y="1370044"/>
            <a:ext cx="4528663" cy="2278800"/>
          </a:xfrm>
          <a:prstGeom prst="rect">
            <a:avLst/>
          </a:prstGeom>
          <a:noFill/>
          <a:ln>
            <a:noFill/>
          </a:ln>
        </p:spPr>
      </p:pic>
      <p:sp>
        <p:nvSpPr>
          <p:cNvPr id="84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36 / 49</a:t>
            </a:r>
          </a:p>
        </p:txBody>
      </p:sp>
      <p:sp>
        <p:nvSpPr>
          <p:cNvPr id="842" name="EWL-COVER-1"/>
          <p:cNvSpPr/>
          <p:nvPr/>
        </p:nvSpPr>
        <p:spPr>
          <a:xfrm>
            <a:off x="431136" y="4929330"/>
            <a:ext cx="11650137" cy="1494723"/>
          </a:xfrm>
          <a:prstGeom prst="rect">
            <a:avLst/>
          </a:prstGeom>
          <a:solidFill>
            <a:srgbClr val="FFFFFF"/>
          </a:solidFill>
          <a:ln>
            <a:noFill/>
          </a:ln>
        </p:spPr>
        <p:txBody>
          <a:bodyPr/>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84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4" name="Shape 844"/>
        <p:cNvGrpSpPr/>
        <p:nvPr/>
      </p:nvGrpSpPr>
      <p:grpSpPr>
        <a:xfrm>
          <a:off x="0" y="0"/>
          <a:ext cx="0" cy="0"/>
          <a:chOff x="0" y="0"/>
          <a:chExt cx="0" cy="0"/>
        </a:xfrm>
      </p:grpSpPr>
      <p:cxnSp>
        <p:nvCxnSpPr>
          <p:cNvPr id="845" name="Google Shape;845;p8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46" name="Google Shape;846;p81"/>
          <p:cNvSpPr txBox="1"/>
          <p:nvPr/>
        </p:nvSpPr>
        <p:spPr>
          <a:xfrm>
            <a:off x="484565" y="316034"/>
            <a:ext cx="5029132" cy="4821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Canoe Rental</a:t>
            </a:r>
            <a:endParaRPr b="1" i="0" sz="2800" u="none" cap="none" strike="noStrike">
              <a:solidFill>
                <a:srgbClr val="7030A0"/>
              </a:solidFill>
              <a:latin typeface="Arial"/>
              <a:ea typeface="Arial"/>
              <a:cs typeface="Arial"/>
              <a:sym typeface="Arial"/>
            </a:endParaRPr>
          </a:p>
        </p:txBody>
      </p:sp>
      <p:sp>
        <p:nvSpPr>
          <p:cNvPr id="847" name="Google Shape;847;p81"/>
          <p:cNvSpPr txBox="1"/>
          <p:nvPr/>
        </p:nvSpPr>
        <p:spPr>
          <a:xfrm>
            <a:off x="486000" y="897901"/>
            <a:ext cx="6260789" cy="86808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Let’s graph the relationship between the two quantities.</a:t>
            </a:r>
            <a:endParaRPr b="0" i="0" sz="1400" u="none" cap="none" strike="noStrike">
              <a:solidFill>
                <a:srgbClr val="000000"/>
              </a:solidFill>
              <a:latin typeface="Arial"/>
              <a:ea typeface="Arial"/>
              <a:cs typeface="Arial"/>
              <a:sym typeface="Arial"/>
            </a:endParaRPr>
          </a:p>
        </p:txBody>
      </p:sp>
      <p:sp>
        <p:nvSpPr>
          <p:cNvPr id="848" name="Google Shape;848;p81"/>
          <p:cNvSpPr txBox="1"/>
          <p:nvPr/>
        </p:nvSpPr>
        <p:spPr>
          <a:xfrm>
            <a:off x="486000" y="1865755"/>
            <a:ext cx="7006305" cy="1815882"/>
          </a:xfrm>
          <a:prstGeom prst="rect">
            <a:avLst/>
          </a:prstGeom>
          <a:noFill/>
          <a:ln>
            <a:noFill/>
          </a:ln>
        </p:spPr>
        <p:txBody>
          <a:bodyPr anchorCtr="0" anchor="t" bIns="45700" lIns="91425" spcFirstLastPara="1" rIns="91425" wrap="square" tIns="45700">
            <a:spAutoFit/>
          </a:bodyPr>
          <a:lstStyle/>
          <a:p>
            <a:pPr indent="-457200" lvl="0" marL="457200" marR="0" rtl="0" algn="l">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independent variable: hours of canoe rental</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dependent variable: total cost of canoe rental</a:t>
            </a:r>
            <a:endParaRPr b="0" i="0" sz="1400" u="none" cap="none" strike="noStrike">
              <a:solidFill>
                <a:srgbClr val="000000"/>
              </a:solidFill>
              <a:latin typeface="Arial"/>
              <a:ea typeface="Arial"/>
              <a:cs typeface="Arial"/>
              <a:sym typeface="Arial"/>
            </a:endParaRPr>
          </a:p>
        </p:txBody>
      </p:sp>
      <p:pic>
        <p:nvPicPr>
          <p:cNvPr descr="C:\Users\HP\Desktop\G6 U9\OPS\img\chapter27\narm24_c10903_se_006a-dig-b.png" id="849" name="Google Shape;849;p81"/>
          <p:cNvPicPr preferRelativeResize="0"/>
          <p:nvPr/>
        </p:nvPicPr>
        <p:blipFill rotWithShape="1">
          <a:blip r:embed="rId3">
            <a:alphaModFix/>
          </a:blip>
          <a:srcRect b="0" l="0" r="0" t="0"/>
          <a:stretch/>
        </p:blipFill>
        <p:spPr>
          <a:xfrm>
            <a:off x="484565" y="3681637"/>
            <a:ext cx="6592857" cy="2700000"/>
          </a:xfrm>
          <a:prstGeom prst="rect">
            <a:avLst/>
          </a:prstGeom>
          <a:noFill/>
          <a:ln>
            <a:noFill/>
          </a:ln>
        </p:spPr>
      </p:pic>
      <p:pic>
        <p:nvPicPr>
          <p:cNvPr descr="C:\Users\HP\Desktop\G6 U9\OPS\img\.assets\00cdb42cdcd14041994a77c0131c787b\narm24_c10903_se_005a-dig.png" id="850" name="Google Shape;850;p81"/>
          <p:cNvPicPr preferRelativeResize="0"/>
          <p:nvPr/>
        </p:nvPicPr>
        <p:blipFill rotWithShape="1">
          <a:blip r:embed="rId4">
            <a:alphaModFix/>
          </a:blip>
          <a:srcRect b="0" l="0" r="0" t="0"/>
          <a:stretch/>
        </p:blipFill>
        <p:spPr>
          <a:xfrm>
            <a:off x="7492305" y="1370044"/>
            <a:ext cx="4528663" cy="2278800"/>
          </a:xfrm>
          <a:prstGeom prst="rect">
            <a:avLst/>
          </a:prstGeom>
          <a:noFill/>
          <a:ln>
            <a:noFill/>
          </a:ln>
        </p:spPr>
      </p:pic>
      <p:sp>
        <p:nvSpPr>
          <p:cNvPr id="85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38 / 49</a:t>
            </a:r>
          </a:p>
        </p:txBody>
      </p:sp>
      <p:sp xmlns:p="http://schemas.openxmlformats.org/presentationml/2006/main" xmlns:a="http://schemas.openxmlformats.org/drawingml/2006/main">
        <p:nvSpPr>
          <p:cNvPr id="852" name="TEACH-embedded-student-prompt" descr="Student thinking and response directions"/>
          <p:cNvSpPr txBox="1"/>
          <p:nvPr/>
        </p:nvSpPr>
        <p:spPr>
          <a:xfrm>
            <a:off x="7391400" y="519379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Read the labels and scale. Use a</a:t>
            </a:r>
            <a:endParaRPr lang="en-US" sz="2000"/>
          </a:p>
          <a:p>
            <a:pPr>
              <a:lnSpc>
                <a:spcPts val="2400"/>
              </a:lnSpc>
              <a:buNone/>
            </a:pPr>
            <a:r>
              <a:rPr lang="en-US" sz="2000">
                <a:solidFill>
                  <a:srgbClr val="174D60"/>
                </a:solidFill>
                <a:latin typeface="Arial"/>
              </a:rPr>
              <a:t>point or feature to justify your</a:t>
            </a:r>
            <a:endParaRPr lang="en-US" sz="2000"/>
          </a:p>
          <a:p>
            <a:pPr>
              <a:lnSpc>
                <a:spcPts val="2400"/>
              </a:lnSpc>
              <a:buNone/>
            </a:pPr>
            <a:r>
              <a:rPr lang="en-US" sz="2000">
                <a:solidFill>
                  <a:srgbClr val="174D60"/>
                </a:solidFill>
                <a:latin typeface="Arial"/>
              </a:rPr>
              <a:t>answer.</a:t>
            </a:r>
            <a:endParaRPr lang="en-US" sz="20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cxnSp>
        <p:nvCxnSpPr>
          <p:cNvPr id="952" name="Google Shape;952;p9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53" name="Google Shape;953;p91"/>
          <p:cNvSpPr txBox="1"/>
          <p:nvPr/>
        </p:nvSpPr>
        <p:spPr>
          <a:xfrm>
            <a:off x="484565" y="316034"/>
            <a:ext cx="5029132" cy="50403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Canoe Rental</a:t>
            </a:r>
            <a:endParaRPr b="1" i="0" sz="2800" u="none" cap="none" strike="noStrike">
              <a:solidFill>
                <a:srgbClr val="7030A0"/>
              </a:solidFill>
              <a:latin typeface="Arial"/>
              <a:ea typeface="Arial"/>
              <a:cs typeface="Arial"/>
              <a:sym typeface="Arial"/>
            </a:endParaRPr>
          </a:p>
        </p:txBody>
      </p:sp>
      <p:sp>
        <p:nvSpPr>
          <p:cNvPr id="954" name="Google Shape;954;p91"/>
          <p:cNvSpPr txBox="1"/>
          <p:nvPr/>
        </p:nvSpPr>
        <p:spPr>
          <a:xfrm>
            <a:off x="484565" y="4062799"/>
            <a:ext cx="7268785" cy="2264259"/>
          </a:xfrm>
          <a:prstGeom prst="rect">
            <a:avLst/>
          </a:prstGeom>
          <a:blipFill rotWithShape="1">
            <a:blip r:embed="rId3">
              <a:alphaModFix/>
            </a:blip>
            <a:stretch>
              <a:fillRect b="-8871" l="-1676" r="0" t="-2687"/>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55" name="Google Shape;955;p91"/>
          <p:cNvSpPr txBox="1"/>
          <p:nvPr/>
        </p:nvSpPr>
        <p:spPr>
          <a:xfrm>
            <a:off x="485999" y="936000"/>
            <a:ext cx="7345395" cy="1374714"/>
          </a:xfrm>
          <a:prstGeom prst="rect">
            <a:avLst/>
          </a:prstGeom>
          <a:blipFill rotWithShape="1">
            <a:blip r:embed="rId4">
              <a:alphaModFix/>
            </a:blip>
            <a:stretch>
              <a:fillRect b="-12444" l="-1743" r="0" t="-488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56" name="Google Shape;956;p91"/>
          <p:cNvSpPr txBox="1"/>
          <p:nvPr/>
        </p:nvSpPr>
        <p:spPr>
          <a:xfrm>
            <a:off x="484565" y="2426645"/>
            <a:ext cx="7110854"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How can you use the graph to determine the total cost for a given number of hours?</a:t>
            </a:r>
            <a:endParaRPr b="1" i="0" sz="2800" u="none" cap="none" strike="noStrike">
              <a:solidFill>
                <a:schemeClr val="dk1"/>
              </a:solidFill>
              <a:latin typeface="Arial"/>
              <a:ea typeface="Arial"/>
              <a:cs typeface="Arial"/>
              <a:sym typeface="Arial"/>
            </a:endParaRPr>
          </a:p>
        </p:txBody>
      </p:sp>
      <p:pic>
        <p:nvPicPr>
          <p:cNvPr descr="C:\Users\HP\Desktop\G6 U9\OPS\img\.assets\5e85053ca6b74068b3252b98cc8107c4\narm24_c10903_se_006a-dig-eps.png" id="957" name="Google Shape;957;p91"/>
          <p:cNvPicPr preferRelativeResize="0"/>
          <p:nvPr/>
        </p:nvPicPr>
        <p:blipFill rotWithShape="1">
          <a:blip r:embed="rId5">
            <a:alphaModFix/>
          </a:blip>
          <a:srcRect b="0" l="0" r="0" t="0"/>
          <a:stretch/>
        </p:blipFill>
        <p:spPr>
          <a:xfrm>
            <a:off x="7920025" y="1357242"/>
            <a:ext cx="3838575" cy="4286250"/>
          </a:xfrm>
          <a:prstGeom prst="rect">
            <a:avLst/>
          </a:prstGeom>
          <a:noFill/>
          <a:ln>
            <a:noFill/>
          </a:ln>
        </p:spPr>
      </p:pic>
      <p:sp>
        <p:nvSpPr>
          <p:cNvPr id="95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39 / 49</a:t>
            </a: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2" name="Shape 972"/>
        <p:cNvGrpSpPr/>
        <p:nvPr/>
      </p:nvGrpSpPr>
      <p:grpSpPr>
        <a:xfrm>
          <a:off x="0" y="0"/>
          <a:ext cx="0" cy="0"/>
          <a:chOff x="0" y="0"/>
          <a:chExt cx="0" cy="0"/>
        </a:xfrm>
      </p:grpSpPr>
      <p:cxnSp>
        <p:nvCxnSpPr>
          <p:cNvPr id="973" name="Google Shape;973;p9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74" name="Google Shape;974;p93"/>
          <p:cNvSpPr txBox="1"/>
          <p:nvPr/>
        </p:nvSpPr>
        <p:spPr>
          <a:xfrm>
            <a:off x="484565" y="316034"/>
            <a:ext cx="5029132" cy="4836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Canoe Rental</a:t>
            </a:r>
            <a:endParaRPr b="1" i="0" sz="2800" u="none" cap="none" strike="noStrike">
              <a:solidFill>
                <a:srgbClr val="7030A0"/>
              </a:solidFill>
              <a:latin typeface="Arial"/>
              <a:ea typeface="Arial"/>
              <a:cs typeface="Arial"/>
              <a:sym typeface="Arial"/>
            </a:endParaRPr>
          </a:p>
        </p:txBody>
      </p:sp>
      <p:sp>
        <p:nvSpPr>
          <p:cNvPr id="975" name="Google Shape;975;p93"/>
          <p:cNvSpPr txBox="1"/>
          <p:nvPr/>
        </p:nvSpPr>
        <p:spPr>
          <a:xfrm>
            <a:off x="486000" y="936000"/>
            <a:ext cx="6795018" cy="127089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We can also use an equation to represent the relationship between hours rented and total cost.</a:t>
            </a:r>
            <a:endParaRPr b="0" i="0" sz="1400" u="none" cap="none" strike="noStrike">
              <a:solidFill>
                <a:srgbClr val="000000"/>
              </a:solidFill>
              <a:latin typeface="Arial"/>
              <a:ea typeface="Arial"/>
              <a:cs typeface="Arial"/>
              <a:sym typeface="Arial"/>
            </a:endParaRPr>
          </a:p>
        </p:txBody>
      </p:sp>
      <p:sp>
        <p:nvSpPr>
          <p:cNvPr id="976" name="Google Shape;976;p93"/>
          <p:cNvSpPr txBox="1"/>
          <p:nvPr/>
        </p:nvSpPr>
        <p:spPr>
          <a:xfrm>
            <a:off x="6011709" y="4295473"/>
            <a:ext cx="6094566" cy="2052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The total cost equals the hourly rental cost, $15, times the number of hours of canoe rental.</a:t>
            </a:r>
            <a:endParaRPr b="1" i="0" sz="2800" u="none" cap="none" strike="noStrike">
              <a:solidFill>
                <a:srgbClr val="595959"/>
              </a:solidFill>
              <a:latin typeface="Arial"/>
              <a:ea typeface="Arial"/>
              <a:cs typeface="Arial"/>
              <a:sym typeface="Arial"/>
            </a:endParaRPr>
          </a:p>
        </p:txBody>
      </p:sp>
      <p:sp>
        <p:nvSpPr>
          <p:cNvPr id="977" name="Google Shape;977;p93"/>
          <p:cNvSpPr/>
          <p:nvPr/>
        </p:nvSpPr>
        <p:spPr>
          <a:xfrm>
            <a:off x="484565" y="2343245"/>
            <a:ext cx="6354385" cy="1815882"/>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chemeClr val="dk1"/>
              </a:buClr>
              <a:buSzPts val="2800"/>
              <a:buFont typeface="Arial"/>
              <a:buChar char="•"/>
              <a:defRPr/>
            </a:pPr>
            <a:r>
              <a:rPr b="0" i="0" lang="en-US" sz="2800" u="none" cap="none" strike="noStrike">
                <a:solidFill>
                  <a:schemeClr val="dk1"/>
                </a:solidFill>
                <a:latin typeface="Arial"/>
                <a:ea typeface="Arial"/>
                <a:cs typeface="Arial"/>
                <a:sym typeface="Arial"/>
              </a:rPr>
              <a:t>independent variable: hours of canoe rental</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chemeClr val="dk1"/>
              </a:buClr>
              <a:buSzPts val="2800"/>
              <a:buFont typeface="Arial"/>
              <a:buChar char="•"/>
              <a:defRPr/>
            </a:pPr>
            <a:r>
              <a:rPr b="0" i="0" lang="en-US" sz="2800" u="none" cap="none" strike="noStrike">
                <a:solidFill>
                  <a:schemeClr val="dk1"/>
                </a:solidFill>
                <a:latin typeface="Arial"/>
                <a:ea typeface="Arial"/>
                <a:cs typeface="Arial"/>
                <a:sym typeface="Arial"/>
              </a:rPr>
              <a:t>dependent variable: total cost of canoe rental</a:t>
            </a:r>
            <a:endParaRPr b="0" i="0" sz="1400" u="none" cap="none" strike="noStrike">
              <a:solidFill>
                <a:srgbClr val="000000"/>
              </a:solidFill>
              <a:latin typeface="Arial"/>
              <a:ea typeface="Arial"/>
              <a:cs typeface="Arial"/>
              <a:sym typeface="Arial"/>
            </a:endParaRPr>
          </a:p>
        </p:txBody>
      </p:sp>
      <p:sp>
        <p:nvSpPr>
          <p:cNvPr id="978" name="Google Shape;978;p93"/>
          <p:cNvSpPr/>
          <p:nvPr/>
        </p:nvSpPr>
        <p:spPr>
          <a:xfrm>
            <a:off x="484565" y="4295473"/>
            <a:ext cx="5441837" cy="181588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How can you describe in words how to find the total cost for any number of hours of canoe rental?</a:t>
            </a:r>
            <a:endParaRPr b="0" i="0" sz="2800" u="none" cap="none" strike="noStrike">
              <a:solidFill>
                <a:schemeClr val="dk1"/>
              </a:solidFill>
              <a:latin typeface="Arial"/>
              <a:ea typeface="Arial"/>
              <a:cs typeface="Arial"/>
              <a:sym typeface="Arial"/>
            </a:endParaRPr>
          </a:p>
        </p:txBody>
      </p:sp>
      <p:pic>
        <p:nvPicPr>
          <p:cNvPr descr="C:\Users\HP\Desktop\G6 U9\OPS\img\.assets\00cdb42cdcd14041994a77c0131c787b\narm24_c10903_se_005a-dig.png" id="979" name="Google Shape;979;p93"/>
          <p:cNvPicPr preferRelativeResize="0"/>
          <p:nvPr/>
        </p:nvPicPr>
        <p:blipFill rotWithShape="1">
          <a:blip r:embed="rId3">
            <a:alphaModFix/>
          </a:blip>
          <a:srcRect b="0" l="0" r="0" t="0"/>
          <a:stretch/>
        </p:blipFill>
        <p:spPr>
          <a:xfrm>
            <a:off x="7492305" y="1370044"/>
            <a:ext cx="4528663" cy="2278800"/>
          </a:xfrm>
          <a:prstGeom prst="rect">
            <a:avLst/>
          </a:prstGeom>
          <a:noFill/>
          <a:ln>
            <a:noFill/>
          </a:ln>
        </p:spPr>
      </p:pic>
      <p:sp>
        <p:nvSpPr>
          <p:cNvPr id="98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40 / 49</a:t>
            </a:r>
          </a:p>
        </p:txBody>
      </p:sp>
      <p:sp>
        <p:nvSpPr>
          <p:cNvPr id="981" name="EWL-COVER-1"/>
          <p:cNvSpPr/>
          <p:nvPr/>
        </p:nvSpPr>
        <p:spPr>
          <a:xfrm>
            <a:off x="5956845" y="4240609"/>
            <a:ext cx="6204294" cy="2162628"/>
          </a:xfrm>
          <a:prstGeom prst="rect">
            <a:avLst/>
          </a:prstGeom>
          <a:solidFill>
            <a:srgbClr val="FFFFFF"/>
          </a:solidFill>
          <a:ln>
            <a:noFill/>
          </a:ln>
        </p:spPr>
        <p:txBody>
          <a:bodyPr/>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98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8" name="Shape 1048"/>
        <p:cNvGrpSpPr/>
        <p:nvPr/>
      </p:nvGrpSpPr>
      <p:grpSpPr>
        <a:xfrm>
          <a:off x="0" y="0"/>
          <a:ext cx="0" cy="0"/>
          <a:chOff x="0" y="0"/>
          <a:chExt cx="0" cy="0"/>
        </a:xfrm>
      </p:grpSpPr>
      <p:cxnSp>
        <p:nvCxnSpPr>
          <p:cNvPr id="1049" name="Google Shape;1049;p10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50" name="Google Shape;1050;p100"/>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1051" name="Google Shape;1051;p100"/>
          <p:cNvSpPr txBox="1"/>
          <p:nvPr/>
        </p:nvSpPr>
        <p:spPr>
          <a:xfrm>
            <a:off x="484565" y="936000"/>
            <a:ext cx="7413683" cy="1791646"/>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chemeClr val="dk1"/>
              </a:buClr>
              <a:buSzPts val="2800"/>
              <a:buFont typeface="Calibri"/>
              <a:buAutoNum type="alphaLcPeriod"/>
              <a:defRPr/>
            </a:pPr>
            <a:r>
              <a:rPr b="0" i="0" lang="en-US" sz="2800" u="none" cap="none" strike="noStrike">
                <a:solidFill>
                  <a:schemeClr val="dk1"/>
                </a:solidFill>
                <a:latin typeface="Arial"/>
                <a:ea typeface="Arial"/>
                <a:cs typeface="Arial"/>
                <a:sym typeface="Arial"/>
              </a:rPr>
              <a:t xml:space="preserve">Which representation do you find most helpful when representing the relationship between two variables: a table, a graph, or an equation?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chemeClr val="dk2"/>
              </a:buClr>
              <a:buSzPts val="2800"/>
              <a:buFont typeface="Arial"/>
              <a:buNone/>
              <a:defRPr/>
            </a:pPr>
            <a:r>
              <a:rPr/>
              <a:t/>
            </a:r>
            <a:endParaRPr b="0" i="0" sz="2800" u="none" cap="none" strike="noStrike">
              <a:solidFill>
                <a:schemeClr val="dk1"/>
              </a:solidFill>
              <a:latin typeface="Arial"/>
              <a:ea typeface="Arial"/>
              <a:cs typeface="Arial"/>
              <a:sym typeface="Arial"/>
            </a:endParaRPr>
          </a:p>
        </p:txBody>
      </p:sp>
      <p:sp>
        <p:nvSpPr>
          <p:cNvPr id="1052" name="Google Shape;1052;p100"/>
          <p:cNvSpPr/>
          <p:nvPr/>
        </p:nvSpPr>
        <p:spPr>
          <a:xfrm>
            <a:off x="480817" y="2810206"/>
            <a:ext cx="7417431" cy="1279874"/>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1053" name="Google Shape;1053;p100"/>
          <p:cNvSpPr txBox="1"/>
          <p:nvPr/>
        </p:nvSpPr>
        <p:spPr>
          <a:xfrm>
            <a:off x="6691378" y="5708292"/>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defRPr/>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1054" name="Google Shape;1054;p100"/>
          <p:cNvSpPr txBox="1"/>
          <p:nvPr/>
        </p:nvSpPr>
        <p:spPr>
          <a:xfrm>
            <a:off x="6691379" y="3751527"/>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defRPr/>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1055" name="Google Shape;1055;p100"/>
          <p:cNvSpPr/>
          <p:nvPr/>
        </p:nvSpPr>
        <p:spPr>
          <a:xfrm>
            <a:off x="480817" y="4853342"/>
            <a:ext cx="7477403" cy="1193504"/>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1056" name="Google Shape;1056;p100"/>
          <p:cNvSpPr/>
          <p:nvPr/>
        </p:nvSpPr>
        <p:spPr>
          <a:xfrm>
            <a:off x="486000" y="4172640"/>
            <a:ext cx="7499465" cy="523220"/>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chemeClr val="dk1"/>
              </a:buClr>
              <a:buSzPts val="2800"/>
              <a:buFont typeface="Calibri"/>
              <a:buAutoNum type="alphaLcPeriod" startAt="2"/>
              <a:defRPr/>
            </a:pPr>
            <a:r>
              <a:rPr b="0" i="0" lang="en-US" sz="2800" u="none" cap="none" strike="noStrike">
                <a:solidFill>
                  <a:schemeClr val="dk1"/>
                </a:solidFill>
                <a:latin typeface="Arial"/>
                <a:ea typeface="Arial"/>
                <a:cs typeface="Arial"/>
                <a:sym typeface="Arial"/>
              </a:rPr>
              <a:t>How are the graph and equation related?</a:t>
            </a:r>
            <a:endParaRPr b="0" i="0" sz="1400" u="none" cap="none" strike="noStrike">
              <a:solidFill>
                <a:srgbClr val="000000"/>
              </a:solidFill>
              <a:latin typeface="Arial"/>
              <a:ea typeface="Arial"/>
              <a:cs typeface="Arial"/>
              <a:sym typeface="Arial"/>
            </a:endParaRPr>
          </a:p>
        </p:txBody>
      </p:sp>
      <p:pic>
        <p:nvPicPr>
          <p:cNvPr descr="C:\Users\HP\Desktop\G6 U9\OPS\img\.assets\5e85053ca6b74068b3252b98cc8107c4\narm24_c10903_se_006a-dig-eps.png" id="1057" name="Google Shape;1057;p100"/>
          <p:cNvPicPr preferRelativeResize="0"/>
          <p:nvPr/>
        </p:nvPicPr>
        <p:blipFill rotWithShape="1">
          <a:blip r:embed="rId3">
            <a:alphaModFix/>
          </a:blip>
          <a:srcRect b="0" l="0" r="0" t="0"/>
          <a:stretch/>
        </p:blipFill>
        <p:spPr>
          <a:xfrm>
            <a:off x="8292414" y="1650143"/>
            <a:ext cx="3224000" cy="3600000"/>
          </a:xfrm>
          <a:prstGeom prst="rect">
            <a:avLst/>
          </a:prstGeom>
          <a:noFill/>
          <a:ln>
            <a:noFill/>
          </a:ln>
        </p:spPr>
      </p:pic>
      <p:sp>
        <p:nvSpPr>
          <p:cNvPr id="1058" name="Google Shape;1058;p100"/>
          <p:cNvSpPr/>
          <p:nvPr/>
        </p:nvSpPr>
        <p:spPr>
          <a:xfrm>
            <a:off x="9271352" y="5404337"/>
            <a:ext cx="1779373" cy="523220"/>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05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41 / 49</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9.3  /  CHECK YOUR WORK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Pause. Check. Improve.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2011680"/>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CHECK</a:t>
            </a:r>
          </a:p>
        </p:txBody>
      </p:sp>
      <p:sp>
        <p:nvSpPr>
          <p:cNvPr id="7" name="TextBox 6"/>
          <p:cNvSpPr txBox="1"/>
          <p:nvPr/>
        </p:nvSpPr>
        <p:spPr>
          <a:xfrm>
            <a:off x="2340864" y="1975104"/>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A mistake to watch for: assuming every relationship has the form y = kx without checking the starting value.</a:t>
            </a:r>
          </a:p>
        </p:txBody>
      </p:sp>
      <p:sp>
        <p:nvSpPr>
          <p:cNvPr id="8" name="Rounded Rectangle 7"/>
          <p:cNvSpPr/>
          <p:nvPr/>
        </p:nvSpPr>
        <p:spPr>
          <a:xfrm>
            <a:off x="594360" y="3127248"/>
            <a:ext cx="10972800" cy="1069848"/>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310128"/>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TRY</a:t>
            </a:r>
          </a:p>
        </p:txBody>
      </p:sp>
      <p:sp>
        <p:nvSpPr>
          <p:cNvPr id="10" name="TextBox 9"/>
          <p:cNvSpPr txBox="1"/>
          <p:nvPr/>
        </p:nvSpPr>
        <p:spPr>
          <a:xfrm>
            <a:off x="2340864" y="3273552"/>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Compare successive values and the starting amount in the given table or graph.</a:t>
            </a:r>
          </a:p>
        </p:txBody>
      </p:sp>
      <p:sp>
        <p:nvSpPr>
          <p:cNvPr id="11" name="Rounded Rectangle 10"/>
          <p:cNvSpPr/>
          <p:nvPr/>
        </p:nvSpPr>
        <p:spPr>
          <a:xfrm>
            <a:off x="594360" y="4425696"/>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4608576"/>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REVISE</a:t>
            </a:r>
          </a:p>
        </p:txBody>
      </p:sp>
      <p:sp>
        <p:nvSpPr>
          <p:cNvPr id="13" name="TextBox 12"/>
          <p:cNvSpPr txBox="1"/>
          <p:nvPr/>
        </p:nvSpPr>
        <p:spPr>
          <a:xfrm>
            <a:off x="2340864" y="4572000"/>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Use that check on the task you just completed. Correct or strengthen one part, and explain why.</a:t>
            </a:r>
          </a:p>
        </p:txBody>
      </p:sp>
      <p:grpSp>
        <p:nvGrpSpPr>
          <p:cNvPr id="14" name="TEACH-4-student-move" descr="TEACH 4 · Monitor progress and provide feedback"/>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SELF-CHECK  ·  </a:t>
              </a:r>
              <a:r>
                <a:rPr lang="en-US" sz="1200" dirty="0">
                  <a:solidFill>
                    <a:srgbClr val="13303A"/>
                  </a:solidFill>
                  <a:latin typeface="Arial"/>
                </a:rPr>
                <a:t>Mark it: ✓ got it  ·  ~ almost  ·  ? stuck. Then fix one thing before we move on.</a:t>
              </a:r>
              <a:endParaRPr lang="en-US" sz="1200"/>
            </a:p>
          </p:txBody>
        </p:sp>
      </p:gr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973" name="Google Shape;973;p9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74" name="Google Shape;974;p93"/>
          <p:cNvSpPr txBox="1"/>
          <p:nvPr/>
        </p:nvSpPr>
        <p:spPr>
          <a:xfrm>
            <a:off x="484565" y="316034"/>
            <a:ext cx="5029132" cy="4836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030A0"/>
                </a:solidFill>
                <a:latin typeface="Arial"/>
                <a:ea typeface="Arial"/>
                <a:cs typeface="Arial"/>
                <a:sym typeface="Arial"/>
              </a:rPr>
              <a:t>Canoe Rental</a:t>
            </a:r>
            <a:endParaRPr b="1" i="0" sz="2800" u="none" cap="none" strike="noStrike">
              <a:solidFill>
                <a:srgbClr val="7030A0"/>
              </a:solidFill>
              <a:latin typeface="Arial"/>
              <a:ea typeface="Arial"/>
              <a:cs typeface="Arial"/>
              <a:sym typeface="Arial"/>
            </a:endParaRPr>
          </a:p>
        </p:txBody>
      </p:sp>
      <p:sp>
        <p:nvSpPr>
          <p:cNvPr id="975" name="Google Shape;975;p93"/>
          <p:cNvSpPr txBox="1"/>
          <p:nvPr/>
        </p:nvSpPr>
        <p:spPr>
          <a:xfrm>
            <a:off x="486000" y="936000"/>
            <a:ext cx="6795018" cy="127089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We can also use an equation to represent the relationship between hours rented and total cost.</a:t>
            </a:r>
            <a:endParaRPr b="0" i="0" sz="1400" u="none" cap="none" strike="noStrike">
              <a:solidFill>
                <a:srgbClr val="000000"/>
              </a:solidFill>
              <a:latin typeface="Arial"/>
              <a:ea typeface="Arial"/>
              <a:cs typeface="Arial"/>
              <a:sym typeface="Arial"/>
            </a:endParaRPr>
          </a:p>
        </p:txBody>
      </p:sp>
      <p:sp>
        <p:nvSpPr>
          <p:cNvPr id="976" name="Google Shape;976;p93"/>
          <p:cNvSpPr txBox="1"/>
          <p:nvPr/>
        </p:nvSpPr>
        <p:spPr>
          <a:xfrm>
            <a:off x="6011709" y="4295473"/>
            <a:ext cx="6094566" cy="2052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The total cost equals the hourly rental cost, $15, times the number of hours of canoe rental.</a:t>
            </a:r>
            <a:endParaRPr b="1" i="0" sz="2800" u="none" cap="none" strike="noStrike">
              <a:solidFill>
                <a:srgbClr val="595959"/>
              </a:solidFill>
              <a:latin typeface="Arial"/>
              <a:ea typeface="Arial"/>
              <a:cs typeface="Arial"/>
              <a:sym typeface="Arial"/>
            </a:endParaRPr>
          </a:p>
        </p:txBody>
      </p:sp>
      <p:sp>
        <p:nvSpPr>
          <p:cNvPr id="977" name="Google Shape;977;p93"/>
          <p:cNvSpPr/>
          <p:nvPr/>
        </p:nvSpPr>
        <p:spPr>
          <a:xfrm>
            <a:off x="484565" y="2343245"/>
            <a:ext cx="6354385" cy="1815882"/>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chemeClr val="dk1"/>
              </a:buClr>
              <a:buSzPts val="2800"/>
              <a:buFont typeface="Arial"/>
              <a:buChar char="•"/>
              <a:defRPr/>
            </a:pPr>
            <a:r>
              <a:rPr b="0" i="0" lang="en-US" sz="2800" u="none" cap="none" strike="noStrike">
                <a:solidFill>
                  <a:schemeClr val="dk1"/>
                </a:solidFill>
                <a:latin typeface="Arial"/>
                <a:ea typeface="Arial"/>
                <a:cs typeface="Arial"/>
                <a:sym typeface="Arial"/>
              </a:rPr>
              <a:t>independent variable: hours of canoe rental</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chemeClr val="dk1"/>
              </a:buClr>
              <a:buSzPts val="2800"/>
              <a:buFont typeface="Arial"/>
              <a:buChar char="•"/>
              <a:defRPr/>
            </a:pPr>
            <a:r>
              <a:rPr b="0" i="0" lang="en-US" sz="2800" u="none" cap="none" strike="noStrike">
                <a:solidFill>
                  <a:schemeClr val="dk1"/>
                </a:solidFill>
                <a:latin typeface="Arial"/>
                <a:ea typeface="Arial"/>
                <a:cs typeface="Arial"/>
                <a:sym typeface="Arial"/>
              </a:rPr>
              <a:t>dependent variable: total cost of canoe rental</a:t>
            </a:r>
            <a:endParaRPr b="0" i="0" sz="1400" u="none" cap="none" strike="noStrike">
              <a:solidFill>
                <a:srgbClr val="000000"/>
              </a:solidFill>
              <a:latin typeface="Arial"/>
              <a:ea typeface="Arial"/>
              <a:cs typeface="Arial"/>
              <a:sym typeface="Arial"/>
            </a:endParaRPr>
          </a:p>
        </p:txBody>
      </p:sp>
      <p:sp>
        <p:nvSpPr>
          <p:cNvPr id="978" name="Google Shape;978;p93"/>
          <p:cNvSpPr/>
          <p:nvPr/>
        </p:nvSpPr>
        <p:spPr>
          <a:xfrm>
            <a:off x="484565" y="4295473"/>
            <a:ext cx="5441837" cy="181588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How can you describe in words how to find the total cost for any number of hours of canoe rental?</a:t>
            </a:r>
            <a:endParaRPr b="0" i="0" sz="2800" u="none" cap="none" strike="noStrike">
              <a:solidFill>
                <a:schemeClr val="dk1"/>
              </a:solidFill>
              <a:latin typeface="Arial"/>
              <a:ea typeface="Arial"/>
              <a:cs typeface="Arial"/>
              <a:sym typeface="Arial"/>
            </a:endParaRPr>
          </a:p>
        </p:txBody>
      </p:sp>
      <p:pic>
        <p:nvPicPr>
          <p:cNvPr descr="C:\Users\HP\Desktop\G6 U9\OPS\img\.assets\00cdb42cdcd14041994a77c0131c787b\narm24_c10903_se_005a-dig.png" id="979" name="Google Shape;979;p93"/>
          <p:cNvPicPr preferRelativeResize="0"/>
          <p:nvPr/>
        </p:nvPicPr>
        <p:blipFill rotWithShape="1">
          <a:blip r:embed="rId2">
            <a:alphaModFix/>
          </a:blip>
          <a:srcRect b="0" l="0" r="0" t="0"/>
          <a:stretch/>
        </p:blipFill>
        <p:spPr>
          <a:xfrm>
            <a:off x="7492305" y="1370044"/>
            <a:ext cx="4528663" cy="2278800"/>
          </a:xfrm>
          <a:prstGeom prst="rect">
            <a:avLst/>
          </a:prstGeom>
          <a:noFill/>
          <a:ln>
            <a:noFill/>
          </a:ln>
        </p:spPr>
      </p:pic>
      <p:sp>
        <p:nvSpPr>
          <p:cNvPr id="3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44 / 49</a:t>
            </a: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2" name="Shape 1062"/>
        <p:cNvGrpSpPr/>
        <p:nvPr/>
      </p:nvGrpSpPr>
      <p:grpSpPr>
        <a:xfrm>
          <a:off x="0" y="0"/>
          <a:ext cx="0" cy="0"/>
          <a:chOff x="0" y="0"/>
          <a:chExt cx="0" cy="0"/>
        </a:xfrm>
      </p:grpSpPr>
      <p:sp>
        <p:nvSpPr>
          <p:cNvPr id="1063" name="Google Shape;1063;p101"/>
          <p:cNvSpPr txBox="1"/>
          <p:nvPr/>
        </p:nvSpPr>
        <p:spPr>
          <a:xfrm>
            <a:off x="486001" y="316800"/>
            <a:ext cx="6643848" cy="128208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0" i="0" lang="en-US" sz="2800" u="none" cap="none" strike="noStrike">
                <a:solidFill>
                  <a:srgbClr val="782DA0"/>
                </a:solidFill>
                <a:latin typeface="Arial"/>
                <a:ea typeface="Arial"/>
                <a:cs typeface="Arial"/>
                <a:sym typeface="Arial"/>
              </a:rPr>
              <a:t xml:space="preserve">Summarize: </a:t>
            </a:r>
            <a:r>
              <a:rPr b="1" i="0" lang="en-US" sz="2800" u="none" cap="none" strike="noStrike">
                <a:solidFill>
                  <a:srgbClr val="782DA0"/>
                </a:solidFill>
                <a:latin typeface="Arial"/>
                <a:ea typeface="Arial"/>
                <a:cs typeface="Arial"/>
                <a:sym typeface="Arial"/>
              </a:rPr>
              <a:t>Write Equations to Represent Relationships Between Two Quantities</a:t>
            </a:r>
            <a:endParaRPr b="0" i="0" sz="1400" u="none" cap="none" strike="noStrike">
              <a:solidFill>
                <a:srgbClr val="000000"/>
              </a:solidFill>
              <a:latin typeface="Arial"/>
              <a:ea typeface="Arial"/>
              <a:cs typeface="Arial"/>
              <a:sym typeface="Arial"/>
            </a:endParaRPr>
          </a:p>
        </p:txBody>
      </p:sp>
      <p:cxnSp>
        <p:nvCxnSpPr>
          <p:cNvPr id="1064" name="Google Shape;1064;p10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65" name="Google Shape;1065;p101"/>
          <p:cNvSpPr txBox="1"/>
          <p:nvPr/>
        </p:nvSpPr>
        <p:spPr>
          <a:xfrm>
            <a:off x="486001" y="1656000"/>
            <a:ext cx="8581800" cy="96966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You can write an equation to express the relationship between two quantities.</a:t>
            </a:r>
            <a:endParaRPr b="0" i="0" sz="1400" u="none" cap="none" strike="noStrike">
              <a:solidFill>
                <a:srgbClr val="000000"/>
              </a:solidFill>
              <a:latin typeface="Arial"/>
              <a:ea typeface="Arial"/>
              <a:cs typeface="Arial"/>
              <a:sym typeface="Arial"/>
            </a:endParaRPr>
          </a:p>
        </p:txBody>
      </p:sp>
      <p:sp>
        <p:nvSpPr>
          <p:cNvPr id="1066" name="Google Shape;1066;p101"/>
          <p:cNvSpPr/>
          <p:nvPr/>
        </p:nvSpPr>
        <p:spPr>
          <a:xfrm>
            <a:off x="486001" y="2884179"/>
            <a:ext cx="8791351" cy="954107"/>
          </a:xfrm>
          <a:prstGeom prst="rect">
            <a:avLst/>
          </a:prstGeom>
          <a:blipFill rotWithShape="1">
            <a:blip r:embed="rId3">
              <a:alphaModFix/>
            </a:blip>
            <a:stretch>
              <a:fillRect b="-16561" l="-1456" r="0" t="-636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descr="C:\Users\HP\Desktop\G6 U9\OPS\img\.assets\22c74ac5d3c7482ab588053e34ee01aa\narm24_c10903_ebk_002a-eps.png" id="1067" name="Google Shape;1067;p101"/>
          <p:cNvPicPr preferRelativeResize="0"/>
          <p:nvPr/>
        </p:nvPicPr>
        <p:blipFill rotWithShape="1">
          <a:blip r:embed="rId4">
            <a:alphaModFix/>
          </a:blip>
          <a:srcRect b="0" l="0" r="0" t="0"/>
          <a:stretch/>
        </p:blipFill>
        <p:spPr>
          <a:xfrm>
            <a:off x="3866870" y="4096800"/>
            <a:ext cx="3370004" cy="2230848"/>
          </a:xfrm>
          <a:prstGeom prst="rect">
            <a:avLst/>
          </a:prstGeom>
          <a:noFill/>
          <a:ln>
            <a:noFill/>
          </a:ln>
        </p:spPr>
      </p:pic>
      <p:sp>
        <p:nvSpPr>
          <p:cNvPr id="106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46 / 49</a:t>
            </a:r>
          </a:p>
        </p:txBody>
      </p:sp>
      <p:sp>
        <p:nvSpPr>
          <p:cNvPr id="1069"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SUMMARIZE</a:t>
            </a:r>
            <a:r>
              <a:rPr lang="en-US" sz="1200" b="1">
                <a:solidFill>
                  <a:srgbClr val="5D6872"/>
                </a:solidFill>
                <a:latin typeface="Arial"/>
              </a:rPr>
              <a:t xml:space="preserve">  ·  SAY IT IN YOUR OWN WORDS</a:t>
            </a:r>
          </a:p>
        </p:txBody>
      </p:sp>
      <p:sp xmlns:p="http://schemas.openxmlformats.org/presentationml/2006/main" xmlns:a="http://schemas.openxmlformats.org/drawingml/2006/main">
        <p:nvSpPr>
          <p:cNvPr id="1070" name="TEACH-embedded-student-prompt" descr="Student thinking and response directions"/>
          <p:cNvSpPr txBox="1"/>
          <p:nvPr/>
        </p:nvSpPr>
        <p:spPr>
          <a:xfrm>
            <a:off x="7391400" y="519379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the key idea without</a:t>
            </a:r>
            <a:endParaRPr lang="en-US" sz="2000"/>
          </a:p>
          <a:p>
            <a:pPr>
              <a:lnSpc>
                <a:spcPts val="2400"/>
              </a:lnSpc>
              <a:buNone/>
            </a:pPr>
            <a:r>
              <a:rPr lang="en-US" sz="2000">
                <a:solidFill>
                  <a:srgbClr val="174D60"/>
                </a:solidFill>
                <a:latin typeface="Arial"/>
              </a:rPr>
              <a:t>reading. Use today’s example as</a:t>
            </a:r>
            <a:endParaRPr lang="en-US" sz="2000"/>
          </a:p>
          <a:p>
            <a:pPr>
              <a:lnSpc>
                <a:spcPts val="2400"/>
              </a:lnSpc>
              <a:buNone/>
            </a:pPr>
            <a:r>
              <a:rPr lang="en-US" sz="2000">
                <a:solidFill>
                  <a:srgbClr val="174D60"/>
                </a:solidFill>
                <a:latin typeface="Arial"/>
              </a:rPr>
              <a:t>evidence.</a:t>
            </a:r>
            <a:endParaRPr lang="en-US" sz="20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1" name="Shape 1071"/>
        <p:cNvGrpSpPr/>
        <p:nvPr/>
      </p:nvGrpSpPr>
      <p:grpSpPr>
        <a:xfrm>
          <a:off x="0" y="0"/>
          <a:ext cx="0" cy="0"/>
          <a:chOff x="0" y="0"/>
          <a:chExt cx="0" cy="0"/>
        </a:xfrm>
      </p:grpSpPr>
      <p:sp>
        <p:nvSpPr>
          <p:cNvPr id="1072" name="Google Shape;1072;p102"/>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0" i="0" lang="en-US" sz="2800" u="none" cap="none" strike="noStrike">
                <a:solidFill>
                  <a:srgbClr val="782DA0"/>
                </a:solidFill>
                <a:latin typeface="Arial"/>
                <a:ea typeface="Arial"/>
                <a:cs typeface="Arial"/>
                <a:sym typeface="Arial"/>
              </a:rPr>
              <a:t xml:space="preserve">Apply: </a:t>
            </a:r>
            <a:r>
              <a:rPr b="1" i="0" lang="en-US" sz="2800" u="none" cap="none" strike="noStrike">
                <a:solidFill>
                  <a:srgbClr val="782DA0"/>
                </a:solidFill>
                <a:latin typeface="Arial"/>
                <a:ea typeface="Arial"/>
                <a:cs typeface="Arial"/>
                <a:sym typeface="Arial"/>
              </a:rPr>
              <a:t>Music Downloads</a:t>
            </a:r>
            <a:endParaRPr b="1" i="0" sz="2800" u="none" cap="none" strike="noStrike">
              <a:solidFill>
                <a:srgbClr val="7030A0"/>
              </a:solidFill>
              <a:latin typeface="Arial"/>
              <a:ea typeface="Arial"/>
              <a:cs typeface="Arial"/>
              <a:sym typeface="Arial"/>
            </a:endParaRPr>
          </a:p>
        </p:txBody>
      </p:sp>
      <p:cxnSp>
        <p:nvCxnSpPr>
          <p:cNvPr id="1073" name="Google Shape;1073;p10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74" name="Google Shape;1074;p102"/>
          <p:cNvSpPr txBox="1"/>
          <p:nvPr/>
        </p:nvSpPr>
        <p:spPr>
          <a:xfrm>
            <a:off x="485999" y="936000"/>
            <a:ext cx="6705375" cy="148664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Diamond is considering using the online music service shown to purchase or stream songs.</a:t>
            </a:r>
            <a:endParaRPr b="0" i="0" sz="1400" u="none" cap="none" strike="noStrike">
              <a:solidFill>
                <a:srgbClr val="000000"/>
              </a:solidFill>
              <a:latin typeface="Arial"/>
              <a:ea typeface="Arial"/>
              <a:cs typeface="Arial"/>
              <a:sym typeface="Arial"/>
            </a:endParaRPr>
          </a:p>
        </p:txBody>
      </p:sp>
      <p:sp>
        <p:nvSpPr>
          <p:cNvPr id="1075" name="Google Shape;1075;p102"/>
          <p:cNvSpPr txBox="1"/>
          <p:nvPr/>
        </p:nvSpPr>
        <p:spPr>
          <a:xfrm>
            <a:off x="484564" y="2736502"/>
            <a:ext cx="6706809"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Question:</a:t>
            </a:r>
            <a:r>
              <a:rPr b="0" i="0" lang="en-US" sz="2800" u="none" cap="none" strike="noStrike">
                <a:solidFill>
                  <a:schemeClr val="dk1"/>
                </a:solidFill>
                <a:latin typeface="Arial"/>
                <a:ea typeface="Arial"/>
                <a:cs typeface="Arial"/>
                <a:sym typeface="Arial"/>
              </a:rPr>
              <a:t xml:space="preserve"> Would you recommend that Diamond purchase or stream songs from the online music service?</a:t>
            </a:r>
            <a:endParaRPr b="0" i="0" sz="2800" u="none" cap="none" strike="noStrike">
              <a:solidFill>
                <a:schemeClr val="dk1"/>
              </a:solidFill>
              <a:latin typeface="Arial"/>
              <a:ea typeface="Arial"/>
              <a:cs typeface="Arial"/>
              <a:sym typeface="Arial"/>
            </a:endParaRPr>
          </a:p>
        </p:txBody>
      </p:sp>
      <p:pic>
        <p:nvPicPr>
          <p:cNvPr descr="C:\Users\HP\Desktop\G6 U9\OPS\img\.assets\dd93ed22f7d94f26b0c59ed2822c61d0\narm24_c10903_se_007a-dig.png" id="1076" name="Google Shape;1076;p102"/>
          <p:cNvPicPr preferRelativeResize="0"/>
          <p:nvPr/>
        </p:nvPicPr>
        <p:blipFill rotWithShape="1">
          <a:blip r:embed="rId3">
            <a:alphaModFix/>
          </a:blip>
          <a:srcRect b="0" l="0" r="0" t="0"/>
          <a:stretch/>
        </p:blipFill>
        <p:spPr>
          <a:xfrm>
            <a:off x="8043738" y="1820475"/>
            <a:ext cx="3538699" cy="4370013"/>
          </a:xfrm>
          <a:prstGeom prst="rect">
            <a:avLst/>
          </a:prstGeom>
          <a:noFill/>
          <a:ln>
            <a:noFill/>
          </a:ln>
        </p:spPr>
      </p:pic>
      <p:sp>
        <p:nvSpPr>
          <p:cNvPr id="107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47 / 49</a:t>
            </a:r>
          </a:p>
        </p:txBody>
      </p:sp>
      <p:sp>
        <p:nvSpPr>
          <p:cNvPr id="1078"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APPLY</a:t>
            </a:r>
            <a:r>
              <a:rPr lang="en-US" sz="1200" b="1">
                <a:solidFill>
                  <a:srgbClr val="5D6872"/>
                </a:solidFill>
                <a:latin typeface="Arial"/>
              </a:rPr>
              <a:t xml:space="preserve">  ·  PLAN IT • SOLVE IT • PROVE IT</a:t>
            </a:r>
          </a:p>
        </p:txBody>
      </p:sp>
      <p:sp xmlns:p="http://schemas.openxmlformats.org/presentationml/2006/main" xmlns:a="http://schemas.openxmlformats.org/drawingml/2006/main">
        <p:nvSpPr>
          <p:cNvPr id="1079" name="TEACH-embedded-student-prompt" descr="Student thinking and response directions"/>
          <p:cNvSpPr txBox="1"/>
          <p:nvPr/>
        </p:nvSpPr>
        <p:spPr>
          <a:xfrm>
            <a:off x="594360" y="55046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Choose a method. Solve independently,</a:t>
            </a:r>
            <a:endParaRPr lang="en-US" sz="2000"/>
          </a:p>
          <a:p>
            <a:pPr>
              <a:lnSpc>
                <a:spcPts val="2400"/>
              </a:lnSpc>
              <a:buNone/>
            </a:pPr>
            <a:r>
              <a:rPr lang="en-US" sz="2000">
                <a:solidFill>
                  <a:srgbClr val="174D60"/>
                </a:solidFill>
                <a:latin typeface="Arial"/>
              </a:rPr>
              <a:t>justify your answer, then check the goal.</a:t>
            </a:r>
            <a:endParaRPr lang="en-US" sz="2000"/>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81" name="Google Shape;1081;p103"/>
          <p:cNvSpPr txBox="1"/>
          <p:nvPr/>
        </p:nvSpPr>
        <p:spPr>
          <a:xfrm>
            <a:off x="484565" y="316800"/>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Learning Targets</a:t>
            </a:r>
            <a:endParaRPr b="0" i="0" sz="1400" u="none" cap="none" strike="noStrike">
              <a:solidFill>
                <a:srgbClr val="000000"/>
              </a:solidFill>
              <a:latin typeface="Arial"/>
              <a:ea typeface="Arial"/>
              <a:cs typeface="Arial"/>
              <a:sym typeface="Arial"/>
            </a:endParaRPr>
          </a:p>
        </p:txBody>
      </p:sp>
      <p:cxnSp>
        <p:nvCxnSpPr>
          <p:cNvPr id="1082" name="Google Shape;1082;p10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83" name="Google Shape;1083;p103"/>
          <p:cNvSpPr txBox="1"/>
          <p:nvPr/>
        </p:nvSpPr>
        <p:spPr>
          <a:xfrm>
            <a:off x="484565" y="936000"/>
            <a:ext cx="7916485" cy="2774317"/>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I can write an equation from a table to model the relationship between the dependent and independent variables.</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20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I can write an equation from a graph to model the relationship between the dependent and independent variables.</a:t>
            </a:r>
            <a:endParaRPr b="0" i="0" sz="1400" u="none" cap="none" strike="noStrike">
              <a:solidFill>
                <a:srgbClr val="000000"/>
              </a:solidFill>
              <a:latin typeface="Arial"/>
              <a:ea typeface="Arial"/>
              <a:cs typeface="Arial"/>
              <a:sym typeface="Arial"/>
            </a:endParaRPr>
          </a:p>
        </p:txBody>
      </p:sp>
      <p:sp>
        <p:nvSpPr>
          <p:cNvPr id="3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48 / 49</a:t>
            </a:r>
          </a:p>
        </p:txBody>
      </p:sp>
      <p:sp xmlns:p="http://schemas.openxmlformats.org/presentationml/2006/main" xmlns:a="http://schemas.openxmlformats.org/drawingml/2006/main">
        <p:nvSpPr>
          <p:cNvPr id="1084"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Point to evidence in your work. Name what improved and your next step.</a:t>
            </a:r>
            <a:endParaRPr lang="en-US" sz="2000"/>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9.3  /  REFLECT ON YOUR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Show your progress</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5330952" cy="3136392"/>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36208" y="1828800"/>
            <a:ext cx="5330952" cy="3136392"/>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2103120"/>
            <a:ext cx="4709160"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1  SHOW EVIDENCE</a:t>
            </a:r>
          </a:p>
        </p:txBody>
      </p:sp>
      <p:sp>
        <p:nvSpPr>
          <p:cNvPr id="8" name="TextBox 7"/>
          <p:cNvSpPr txBox="1"/>
          <p:nvPr/>
        </p:nvSpPr>
        <p:spPr>
          <a:xfrm>
            <a:off x="886968"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Choose one response. Point to the part that shows your reasoning.</a:t>
            </a:r>
          </a:p>
        </p:txBody>
      </p:sp>
      <p:sp>
        <p:nvSpPr>
          <p:cNvPr id="9" name="TextBox 8"/>
          <p:cNvSpPr txBox="1"/>
          <p:nvPr/>
        </p:nvSpPr>
        <p:spPr>
          <a:xfrm>
            <a:off x="886968"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“My work shows ___ because ___.”</a:t>
            </a:r>
          </a:p>
        </p:txBody>
      </p:sp>
      <p:sp>
        <p:nvSpPr>
          <p:cNvPr id="10" name="TextBox 9"/>
          <p:cNvSpPr txBox="1"/>
          <p:nvPr/>
        </p:nvSpPr>
        <p:spPr>
          <a:xfrm>
            <a:off x="6528816" y="2103120"/>
            <a:ext cx="4700016"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2  CHOOSE A NEXT STEP</a:t>
            </a:r>
          </a:p>
        </p:txBody>
      </p:sp>
      <p:sp>
        <p:nvSpPr>
          <p:cNvPr id="11" name="TextBox 10"/>
          <p:cNvSpPr txBox="1"/>
          <p:nvPr/>
        </p:nvSpPr>
        <p:spPr>
          <a:xfrm>
            <a:off x="6528816"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Name a change you made after feedback—or a question you still have.</a:t>
            </a:r>
          </a:p>
        </p:txBody>
      </p:sp>
      <p:sp>
        <p:nvSpPr>
          <p:cNvPr id="12" name="TextBox 11"/>
          <p:cNvSpPr txBox="1"/>
          <p:nvPr/>
        </p:nvSpPr>
        <p:spPr>
          <a:xfrm>
            <a:off x="6528816"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“Next time, I will ___ to help me ___.”</a:t>
            </a:r>
          </a:p>
        </p:txBody>
      </p:sp>
      <p:sp>
        <p:nvSpPr>
          <p:cNvPr id="13" name="TextBox 12"/>
          <p:cNvSpPr txBox="1"/>
          <p:nvPr/>
        </p:nvSpPr>
        <p:spPr>
          <a:xfrm>
            <a:off x="621792" y="5376672"/>
            <a:ext cx="10954512" cy="685800"/>
          </a:xfrm>
          <a:prstGeom prst="rect">
            <a:avLst/>
          </a:prstGeom>
          <a:noFill/>
        </p:spPr>
        <p:txBody>
          <a:bodyPr wrap="square" lIns="0" rIns="0" tIns="22860" bIns="0">
            <a:spAutoFit/>
          </a:bodyPr>
          <a:lstStyle/>
          <a:p>
            <a:pPr>
              <a:spcAft>
                <a:spcPts val="800"/>
              </a:spcAft>
              <a:defRPr sz="2200" b="1">
                <a:solidFill>
                  <a:srgbClr val="173451"/>
                </a:solidFill>
                <a:latin typeface="Arial"/>
              </a:defRPr>
            </a:pPr>
            <a:r>
              <a:rPr/>
              <a:t>Today’s focus: Define variables.</a:t>
            </a:r>
          </a:p>
        </p:txBody>
      </p:sp>
      <p:grpSp>
        <p:nvGrpSpPr>
          <p:cNvPr id="14" name="TEACH-7-student-move" descr="TEACH 7 · Cultivate a supportive learning community"/>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CREDIT A CLASSMATE  ·  </a:t>
              </a:r>
              <a:r>
                <a:rPr lang="en-US" sz="1200" dirty="0">
                  <a:solidFill>
                    <a:srgbClr val="13303A"/>
                  </a:solidFill>
                  <a:latin typeface="Arial"/>
                </a:rPr>
                <a:t>Name one classmate whose idea helped you today, and say what they said.</a:t>
              </a:r>
              <a:endParaRPr lang="en-US" sz="1200"/>
            </a:p>
          </p:txBody>
        </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9-3</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1-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NAME THE MATH  ·  </a:t>
            </a:r>
            <a:r>
              <a:rPr lang="en-US" sz="2000" b="0" dirty="0">
                <a:solidFill>
                  <a:srgbClr val="13303A"/>
                </a:solidFill>
                <a:latin typeface="Arial"/>
              </a:rPr>
              <a:t>Point to the part of this that is new today, and say what it changes.</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7 / 49</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9-3</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USE YOUR TOOLS  ·  </a:t>
            </a:r>
            <a:r>
              <a:rPr lang="en-US" sz="2000" b="0" dirty="0">
                <a:solidFill>
                  <a:srgbClr val="13303A"/>
                </a:solidFill>
                <a:latin typeface="Arial"/>
              </a:rPr>
              <a:t>Reach for your notes, a model, or a manipulative before you reach for an answer.</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18 / 49</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9-3</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3-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PROVE IT  ·  </a:t>
            </a:r>
            <a:r>
              <a:rPr lang="en-US" sz="2000" b="0" dirty="0">
                <a:solidFill>
                  <a:srgbClr val="13303A"/>
                </a:solidFill>
                <a:latin typeface="Arial"/>
              </a:rPr>
              <a:t>Find the evidence in the problem that makes your answer right — not just the answer.</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23 / 49</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9-3</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moves</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48510"/>
            <a:ext cx="100584" cy="623620"/>
          </a:xfrm>
          <a:prstGeom prst="roundRect">
            <a:avLst>
              <a:gd name="adj" fmla="val 50000"/>
            </a:avLst>
          </a:prstGeom>
          <a:solidFill>
            <a:srgbClr val="01708C"/>
          </a:solidFill>
          <a:ln>
            <a:noFill/>
          </a:ln>
        </p:spPr>
        <p:txBody>
          <a:bodyPr/>
          <a:lstStyle/>
          <a:p>
            <a:endParaRPr/>
          </a:p>
        </p:txBody>
      </p:sp>
      <p:sp>
        <p:nvSpPr>
          <p:cNvPr id="9" name="TEACH-5-student-move"/>
          <p:cNvSpPr txBox="1"/>
          <p:nvPr/>
        </p:nvSpPr>
        <p:spPr>
          <a:xfrm>
            <a:off x="1005840" y="2057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ADD ON  ·  </a:t>
            </a:r>
            <a:r>
              <a:rPr lang="en-US" sz="2000" b="0" dirty="0">
                <a:solidFill>
                  <a:srgbClr val="13303A"/>
                </a:solidFill>
                <a:latin typeface="Arial"/>
              </a:rPr>
              <a:t>Add on: “I agree because ______.”  or  “I see it differently because ______.”</a:t>
            </a:r>
          </a:p>
        </p:txBody>
      </p:sp>
      <p:sp>
        <p:nvSpPr>
          <p:cNvPr id="10" name="TEACH-move-card"/>
          <p:cNvSpPr/>
          <p:nvPr/>
        </p:nvSpPr>
        <p:spPr>
          <a:xfrm>
            <a:off x="685800" y="3200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11" name="TEACH-move-rule"/>
          <p:cNvSpPr/>
          <p:nvPr/>
        </p:nvSpPr>
        <p:spPr>
          <a:xfrm>
            <a:off x="731520" y="3391510"/>
            <a:ext cx="100584" cy="623620"/>
          </a:xfrm>
          <a:prstGeom prst="roundRect">
            <a:avLst>
              <a:gd name="adj" fmla="val 50000"/>
            </a:avLst>
          </a:prstGeom>
          <a:solidFill>
            <a:srgbClr val="01708C"/>
          </a:solidFill>
          <a:ln>
            <a:noFill/>
          </a:ln>
        </p:spPr>
        <p:txBody>
          <a:bodyPr/>
          <a:lstStyle/>
          <a:p>
            <a:endParaRPr/>
          </a:p>
        </p:txBody>
      </p:sp>
      <p:sp>
        <p:nvSpPr>
          <p:cNvPr id="12" name="TEACH-5-student-move"/>
          <p:cNvSpPr txBox="1"/>
          <p:nvPr/>
        </p:nvSpPr>
        <p:spPr>
          <a:xfrm>
            <a:off x="1005840" y="3200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TAKE TURNS  ·  </a:t>
            </a:r>
            <a:r>
              <a:rPr lang="en-US" sz="2000" b="0" dirty="0">
                <a:solidFill>
                  <a:srgbClr val="13303A"/>
                </a:solidFill>
                <a:latin typeface="Arial"/>
              </a:rPr>
              <a:t>One explains, one asks a question. Then switch, so both of you talk.</a:t>
            </a:r>
          </a:p>
        </p:txBody>
      </p:sp>
      <p:sp>
        <p:nvSpPr>
          <p:cNvPr id="13"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29 / 49</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9-3</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6-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YOU KNOW THE ROUTINE  ·  </a:t>
            </a:r>
            <a:r>
              <a:rPr lang="en-US" sz="2000" b="0" dirty="0">
                <a:solidFill>
                  <a:srgbClr val="13303A"/>
                </a:solidFill>
                <a:latin typeface="Arial"/>
              </a:rPr>
              <a:t>Read  →  plan  →  solve  →  check. Do all four, in that order.</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32 / 49</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9-3</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TWO MINUTES SOLO  ·  </a:t>
            </a:r>
            <a:r>
              <a:rPr lang="en-US" sz="2000" b="0" dirty="0">
                <a:solidFill>
                  <a:srgbClr val="13303A"/>
                </a:solidFill>
                <a:latin typeface="Arial"/>
              </a:rPr>
              <a:t>Two minutes on your own, then compare. Bring one thing you tried, even if it did not work.</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37 / 49</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9-3</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moves</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48510"/>
            <a:ext cx="100584" cy="623620"/>
          </a:xfrm>
          <a:prstGeom prst="roundRect">
            <a:avLst>
              <a:gd name="adj" fmla="val 50000"/>
            </a:avLst>
          </a:prstGeom>
          <a:solidFill>
            <a:srgbClr val="01708C"/>
          </a:solidFill>
          <a:ln>
            <a:noFill/>
          </a:ln>
        </p:spPr>
        <p:txBody>
          <a:bodyPr/>
          <a:lstStyle/>
          <a:p>
            <a:endParaRPr/>
          </a:p>
        </p:txBody>
      </p:sp>
      <p:sp>
        <p:nvSpPr>
          <p:cNvPr id="9" name="TEACH-4-student-move"/>
          <p:cNvSpPr txBox="1"/>
          <p:nvPr/>
        </p:nvSpPr>
        <p:spPr>
          <a:xfrm>
            <a:off x="1005840" y="2057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REVISE NOW  ·  </a:t>
            </a:r>
            <a:r>
              <a:rPr lang="en-US" sz="2000" b="0" dirty="0">
                <a:solidFill>
                  <a:srgbClr val="13303A"/>
                </a:solidFill>
                <a:latin typeface="Arial"/>
              </a:rPr>
              <a:t>Change one answer and write why you changed it. A revision is evidence of learning.</a:t>
            </a:r>
          </a:p>
        </p:txBody>
      </p:sp>
      <p:sp>
        <p:nvSpPr>
          <p:cNvPr id="10" name="TEACH-move-card"/>
          <p:cNvSpPr/>
          <p:nvPr/>
        </p:nvSpPr>
        <p:spPr>
          <a:xfrm>
            <a:off x="685800" y="3200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11" name="TEACH-move-rule"/>
          <p:cNvSpPr/>
          <p:nvPr/>
        </p:nvSpPr>
        <p:spPr>
          <a:xfrm>
            <a:off x="731520" y="3391510"/>
            <a:ext cx="100584" cy="623620"/>
          </a:xfrm>
          <a:prstGeom prst="roundRect">
            <a:avLst>
              <a:gd name="adj" fmla="val 50000"/>
            </a:avLst>
          </a:prstGeom>
          <a:solidFill>
            <a:srgbClr val="01708C"/>
          </a:solidFill>
          <a:ln>
            <a:noFill/>
          </a:ln>
        </p:spPr>
        <p:txBody>
          <a:bodyPr/>
          <a:lstStyle/>
          <a:p>
            <a:endParaRPr/>
          </a:p>
        </p:txBody>
      </p:sp>
      <p:sp>
        <p:nvSpPr>
          <p:cNvPr id="12" name="TEACH-2-student-move"/>
          <p:cNvSpPr txBox="1"/>
          <p:nvPr/>
        </p:nvSpPr>
        <p:spPr>
          <a:xfrm>
            <a:off x="1005840" y="3200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YOUR CHOICE  ·  </a:t>
            </a:r>
            <a:r>
              <a:rPr lang="en-US" sz="2000" b="0" dirty="0">
                <a:solidFill>
                  <a:srgbClr val="13303A"/>
                </a:solidFill>
                <a:latin typeface="Arial"/>
              </a:rPr>
              <a:t>You choose how to show this — numbers, words, or a diagram. Make your reasoning visible.</a:t>
            </a:r>
          </a:p>
        </p:txBody>
      </p:sp>
      <p:sp>
        <p:nvSpPr>
          <p:cNvPr id="13" name="TEACH-move-card"/>
          <p:cNvSpPr/>
          <p:nvPr/>
        </p:nvSpPr>
        <p:spPr>
          <a:xfrm>
            <a:off x="685800" y="4343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14" name="TEACH-move-rule"/>
          <p:cNvSpPr/>
          <p:nvPr/>
        </p:nvSpPr>
        <p:spPr>
          <a:xfrm>
            <a:off x="731520" y="4534510"/>
            <a:ext cx="100584" cy="623620"/>
          </a:xfrm>
          <a:prstGeom prst="roundRect">
            <a:avLst>
              <a:gd name="adj" fmla="val 50000"/>
            </a:avLst>
          </a:prstGeom>
          <a:solidFill>
            <a:srgbClr val="01708C"/>
          </a:solidFill>
          <a:ln>
            <a:noFill/>
          </a:ln>
        </p:spPr>
        <p:txBody>
          <a:bodyPr/>
          <a:lstStyle/>
          <a:p>
            <a:endParaRPr/>
          </a:p>
        </p:txBody>
      </p:sp>
      <p:sp>
        <p:nvSpPr>
          <p:cNvPr id="15" name="TEACH-2-student-move"/>
          <p:cNvSpPr txBox="1"/>
          <p:nvPr/>
        </p:nvSpPr>
        <p:spPr>
          <a:xfrm>
            <a:off x="1005840" y="4343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PICK YOUR STRATEGY  ·  </a:t>
            </a:r>
            <a:r>
              <a:rPr lang="en-US" sz="2000" b="0" dirty="0">
                <a:solidFill>
                  <a:srgbClr val="13303A"/>
                </a:solidFill>
                <a:latin typeface="Arial"/>
              </a:rPr>
              <a:t>Choose your path — picture, table, number line, or equation — and be ready to say why you chose it.</a:t>
            </a:r>
          </a:p>
        </p:txBody>
      </p:sp>
      <p:sp>
        <p:nvSpPr>
          <p:cNvPr id="16"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42 / 49</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9-3</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STRUGGLE FIRST  ·  </a:t>
            </a:r>
            <a:r>
              <a:rPr lang="en-US" sz="2000" b="0" dirty="0">
                <a:solidFill>
                  <a:srgbClr val="13303A"/>
                </a:solidFill>
                <a:latin typeface="Arial"/>
              </a:rPr>
              <a:t>Work on your own first. Stuck is allowed — try a second strategy before you ask.</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45 / 49</a:t>
            </a:r>
          </a:p>
        </p:txBody>
      </p:sp>
    </p:spTree>
  </p:cSld>
  <p:clrMapOvr>
    <a:masterClrMapping/>
  </p:clrMapOvr>
</p:sld>
</file>

<file path=ppt/theme/theme1.xml><?xml version="1.0" encoding="utf-8"?>
<a:theme xmlns:a="http://schemas.openxmlformats.org/drawingml/2006/main" xmlns:r="http://schemas.openxmlformats.org/officeDocument/2006/relationships" name="Title Slide">
  <a:themeElements>
    <a:clrScheme name="Marquee">
      <a:dk1>
        <a:srgbClr val="000000"/>
      </a:dk1>
      <a:lt1>
        <a:srgbClr val="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2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Reveal Math Grade 6 · Lesson 9.3 — Write Equations to Represent Relationships Between Two Variables</dc:title>
  <dc:creator>Neft Teacher</dc:creator>
  <cp:lastModifiedBy>Neft Teacher</cp:lastModifiedBy>
  <dcterms:created xsi:type="dcterms:W3CDTF">2026-09-30T12:04:43Z</dcterms:created>
  <dcterms:modified xsi:type="dcterms:W3CDTF">2026-09-30T12:04:43Z</dcterms:modified>
</cp:coreProperties>
</file>