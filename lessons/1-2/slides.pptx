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GCF = 4 (the greatest of the common factors, not just any common factor). Amara found the common factors correctly but chose 2 instead of the largest one,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Greatest Common Factor</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greatest common factor (GCF) of two numbers by listing or comparing their factors.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found the GCF using the words factor, common factor, divisible, and greatest common factor.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Supply Sort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Mission Control needs to organize 24 food packs and 36 water containers into equal groups for the crew pods. Each pod must get the same number of food packs AND the same number of water containers. What is the largest number of pods they can fill equally?</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two quantities need to be divided equally?</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numbers could divide into both 24 and 36?</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biggest number of equal groups we can make?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we had 24 food packs and 40 water containers instead?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divides another number with nothing left over.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divide a otro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Factors of 12: 1, 2, 3, 4, 6, 12 — each divides 12 with no remainder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Greatest Common 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Máximo común divisor</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biggest number that divides two or more numbers evenly.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más grande que divide a dos o más números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Factors of 12: {1, 2, 3, 4, 6, 12}. Factors of 18: {1, 2, 3, 6, 9, 18}. Shared: 1, 2, 3, 6. GCF = 6</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Common factor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 común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divides two or more numbers evenly.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divide a dos o más números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8 and 12 both divide evenly by 1, 2, and 4 — those are their common factors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Divisible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Divisible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you can divide evenly, with nothing left over.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que se puede dividir sin que sobre 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15 ÷ 3 = 5 with no remainder, so 15 is divisible by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 It helps you find the GCF.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 Ayuda a encontrar el MCD.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2 × 2 × 3 and 18 = 2 × 3 × 3. Shared primes: 2 × 3 = 6 = GCF</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Factor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3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3 = 4 with no remainder.</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4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4 = 3 with no remainder.</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5 for the number 12  </a:t>
            </a:r>
            <a:pPr indent="0" marL="0">
              <a:buNone/>
            </a:pPr>
            <a:r>
              <a:rPr lang="en-US" sz="800" dirty="0">
                <a:solidFill>
                  <a:srgbClr val="24323F"/>
                </a:solidFill>
                <a:latin typeface="Hanken Grotesk" pitchFamily="34" charset="0"/>
                <a:ea typeface="Hanken Grotesk" pitchFamily="34" charset="-122"/>
                <a:cs typeface="Hanken Grotesk" pitchFamily="34" charset="-120"/>
              </a:rPr>
              <a:t>12 ÷ 5 leaves a remainder, so 5 is not a factor of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the greatest common factor (GCF)?</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find the GCF of 8 and 12. What are the factors of 8? (1, 2, 4, 8.)</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are the factors of 12? (1, 2, 3, 4, 6, 12.) Which numbers are in both lists? (1, 2, 4.)</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Which shared factor is the largest? (4.) So the GCF of 8 and 12 is 4.</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Mission Control must split 24 food packs and 36 water containers into equal crew pods, with each pod getting the same of each. Why won't the answer just be 24 or 36?</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The GCF is the largest number that divides BOTH numbers with no remainder.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factors of BOTH 24 and 36 (common factors), and which are factors of only one?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28" name="Shape 26"/>
          <p:cNvSpPr/>
          <p:nvPr/>
        </p:nvSpPr>
        <p:spPr>
          <a:xfrm>
            <a:off x="236220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45364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6</a:t>
            </a:r>
            <a:endParaRPr lang="en-US" sz="900" dirty="0"/>
          </a:p>
        </p:txBody>
      </p:sp>
      <p:sp>
        <p:nvSpPr>
          <p:cNvPr id="30" name="Shape 28"/>
          <p:cNvSpPr/>
          <p:nvPr/>
        </p:nvSpPr>
        <p:spPr>
          <a:xfrm>
            <a:off x="413004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22148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12</a:t>
            </a:r>
            <a:endParaRPr lang="en-US" sz="900" dirty="0"/>
          </a:p>
        </p:txBody>
      </p:sp>
      <p:sp>
        <p:nvSpPr>
          <p:cNvPr id="32" name="Shape 30"/>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Common Factors of 24 and 36</a:t>
            </a:r>
            <a:endParaRPr lang="en-US" sz="950" dirty="0"/>
          </a:p>
        </p:txBody>
      </p:sp>
      <p:sp>
        <p:nvSpPr>
          <p:cNvPr id="34" name="Shape 32"/>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NOT Common Factors</a:t>
            </a:r>
            <a:endParaRPr lang="en-US" sz="950" dirty="0"/>
          </a:p>
        </p:txBody>
      </p:sp>
      <p:sp>
        <p:nvSpPr>
          <p:cNvPr id="36" name="Shape 34"/>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7" name="Text 35"/>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8" name="Text 36"/>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did you find the factors that 24 and 36 share, and how did you decide which one is the GCF?</a:t>
            </a:r>
            <a:endParaRPr lang="en-US" sz="1000" dirty="0"/>
          </a:p>
        </p:txBody>
      </p:sp>
      <p:sp>
        <p:nvSpPr>
          <p:cNvPr id="39" name="Shape 37"/>
          <p:cNvSpPr/>
          <p:nvPr/>
        </p:nvSpPr>
        <p:spPr>
          <a:xfrm>
            <a:off x="6217920" y="2743200"/>
            <a:ext cx="2423160" cy="0"/>
          </a:xfrm>
          <a:prstGeom prst="line">
            <a:avLst/>
          </a:prstGeom>
          <a:noFill/>
          <a:ln w="9525">
            <a:solidFill>
              <a:srgbClr val="C7CDD2"/>
            </a:solidFill>
            <a:prstDash val="dash"/>
          </a:ln>
        </p:spPr>
      </p:sp>
      <p:sp>
        <p:nvSpPr>
          <p:cNvPr id="40" name="Shape 38"/>
          <p:cNvSpPr/>
          <p:nvPr/>
        </p:nvSpPr>
        <p:spPr>
          <a:xfrm>
            <a:off x="6217920" y="3072384"/>
            <a:ext cx="2423160" cy="0"/>
          </a:xfrm>
          <a:prstGeom prst="line">
            <a:avLst/>
          </a:prstGeom>
          <a:noFill/>
          <a:ln w="9525">
            <a:solidFill>
              <a:srgbClr val="C7CDD2"/>
            </a:solidFill>
            <a:prstDash val="dash"/>
          </a:ln>
        </p:spPr>
      </p:sp>
      <p:sp>
        <p:nvSpPr>
          <p:cNvPr id="41" name="Shape 39"/>
          <p:cNvSpPr/>
          <p:nvPr/>
        </p:nvSpPr>
        <p:spPr>
          <a:xfrm>
            <a:off x="6217920" y="3401568"/>
            <a:ext cx="2423160" cy="0"/>
          </a:xfrm>
          <a:prstGeom prst="line">
            <a:avLst/>
          </a:prstGeom>
          <a:noFill/>
          <a:ln w="9525">
            <a:solidFill>
              <a:srgbClr val="C7CDD2"/>
            </a:solidFill>
            <a:prstDash val="dash"/>
          </a:ln>
        </p:spPr>
      </p:sp>
      <p:sp>
        <p:nvSpPr>
          <p:cNvPr id="42" name="Shape 40"/>
          <p:cNvSpPr/>
          <p:nvPr/>
        </p:nvSpPr>
        <p:spPr>
          <a:xfrm>
            <a:off x="6217920" y="3730752"/>
            <a:ext cx="2423160" cy="0"/>
          </a:xfrm>
          <a:prstGeom prst="line">
            <a:avLst/>
          </a:prstGeom>
          <a:noFill/>
          <a:ln w="9525">
            <a:solidFill>
              <a:srgbClr val="C7CDD2"/>
            </a:solidFill>
            <a:prstDash val="dash"/>
          </a:ln>
        </p:spPr>
      </p:sp>
      <p:sp>
        <p:nvSpPr>
          <p:cNvPr id="43" name="Shape 41"/>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Amara's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factors of 16:  </a:t>
            </a:r>
            <a:pPr indent="0" marL="0">
              <a:buNone/>
            </a:pPr>
            <a:r>
              <a:rPr lang="en-US" sz="950" b="1" dirty="0">
                <a:solidFill>
                  <a:srgbClr val="24323F"/>
                </a:solidFill>
                <a:latin typeface="Courier New" pitchFamily="34" charset="0"/>
                <a:ea typeface="Courier New" pitchFamily="34" charset="-122"/>
                <a:cs typeface="Courier New" pitchFamily="34" charset="-120"/>
              </a:rPr>
              <a:t>1, 2, 4, 8, 16</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factors of 28:  </a:t>
            </a:r>
            <a:pPr indent="0" marL="0">
              <a:buNone/>
            </a:pPr>
            <a:r>
              <a:rPr lang="en-US" sz="950" b="1" dirty="0">
                <a:solidFill>
                  <a:srgbClr val="24323F"/>
                </a:solidFill>
                <a:latin typeface="Courier New" pitchFamily="34" charset="0"/>
                <a:ea typeface="Courier New" pitchFamily="34" charset="-122"/>
                <a:cs typeface="Courier New" pitchFamily="34" charset="-120"/>
              </a:rPr>
              <a:t>1, 2, 4, 7, 14, 28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List common factors:  </a:t>
            </a:r>
            <a:pPr indent="0" marL="0">
              <a:buNone/>
            </a:pPr>
            <a:r>
              <a:rPr lang="en-US" sz="950" b="1" dirty="0">
                <a:solidFill>
                  <a:srgbClr val="24323F"/>
                </a:solidFill>
                <a:latin typeface="Courier New" pitchFamily="34" charset="0"/>
                <a:ea typeface="Courier New" pitchFamily="34" charset="-122"/>
                <a:cs typeface="Courier New" pitchFamily="34" charset="-120"/>
              </a:rPr>
              <a:t>1, 2, 4</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Choose GCF:  </a:t>
            </a:r>
            <a:pPr indent="0" marL="0">
              <a:buNone/>
            </a:pPr>
            <a:r>
              <a:rPr lang="en-US" sz="950" b="1" dirty="0">
                <a:solidFill>
                  <a:srgbClr val="24323F"/>
                </a:solidFill>
                <a:latin typeface="Courier New" pitchFamily="34" charset="0"/>
                <a:ea typeface="Courier New" pitchFamily="34" charset="-122"/>
                <a:cs typeface="Courier New" pitchFamily="34" charset="-120"/>
              </a:rPr>
              <a:t>GCF = 2</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GCF of 24 and 36. First I list the factors of 24: 1, 2, 3, 4, 6, 8, 12, 24.</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Next I list the factors of 36: 1, 2, 3, 4, 6, 9, 12, 18, 36.</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I circle the factors in BOTH lists: 1, 2, 3, 4, 6, 12. These are the common factors.</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biggest one is 12, so the GCF of 24 and 36 is 12. I check: 24 ÷ 12 = 2 and 36 ÷ 12 = 3. Both are even, so 12 works.</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Factor and Greatest Common Factor.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"The GCF is the largest number that divides BOTH numbers with no remainder."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Factor,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teacher has 36 pencils and 48 erasers. She wants to make identical supply bags with no items left over. What is the greatest number of bags she can make?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GCF of 8 and 12?</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pair of numbers has a GCF of 5?</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baker has 48 cookies and 32 brownies and wants identical boxes with none left over. How does the GCF tell her the most boxes she can make?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"The GCF is the largest number that divides BOTH numbers with no remainder."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Factor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Factor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GCF of 18 and 27?</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6</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18</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greatest common factor (GCF) of two numbers by listing or comparing their factors.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Greatest Common Factor</dc:title>
  <dc:subject>6.NS.4</dc:subject>
  <dc:creator>Neft Teacher</dc:creator>
  <cp:lastModifiedBy>Neft Teacher</cp:lastModifiedBy>
  <cp:revision>1</cp:revision>
  <dcterms:created xsi:type="dcterms:W3CDTF">2026-06-08T12:10:58Z</dcterms:created>
  <dcterms:modified xsi:type="dcterms:W3CDTF">2026-06-08T12:10:58Z</dcterms:modified>
</cp:coreProperties>
</file>