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82" r:id="rId5"/>
    <p:sldMasterId id="2147483694" r:id="rId6"/>
    <p:sldMasterId id="2147483706" r:id="rId7"/>
  </p:sldMasterIdLst>
  <p:notesMasterIdLst>
    <p:notesMasterId r:id="rId39"/>
  </p:notesMasterIdLst>
  <p:handoutMasterIdLst>
    <p:handoutMasterId r:id="rId40"/>
  </p:handoutMasterIdLst>
  <p:sldIdLst>
    <p:sldId id="427" r:id="rId8"/>
    <p:sldId id="426" r:id="rId9"/>
    <p:sldId id="346" r:id="rId10"/>
    <p:sldId id="422" r:id="rId11"/>
    <p:sldId id="448" r:id="rId66"/>
    <p:sldId id="447" r:id="rId65"/>
    <p:sldId id="446" r:id="rId64"/>
    <p:sldId id="445" r:id="rId63"/>
    <p:sldId id="444" r:id="rId62"/>
    <p:sldId id="443" r:id="rId61"/>
    <p:sldId id="442" r:id="rId60"/>
    <p:sldId id="441" r:id="rId59"/>
    <p:sldId id="440" r:id="rId58"/>
    <p:sldId id="394" r:id="rId12"/>
    <p:sldId id="361" r:id="rId13"/>
    <p:sldId id="374" r:id="rId14"/>
    <p:sldId id="451" r:id="rId69"/>
    <p:sldId id="449" r:id="rId67"/>
    <p:sldId id="364" r:id="rId15"/>
    <p:sldId id="366" r:id="rId16"/>
    <p:sldId id="368" r:id="rId17"/>
    <p:sldId id="370" r:id="rId18"/>
    <p:sldId id="372" r:id="rId19"/>
    <p:sldId id="373" r:id="rId20"/>
    <p:sldId id="324" r:id="rId21"/>
    <p:sldId id="423" r:id="rId22"/>
    <p:sldId id="439" r:id="rId57"/>
    <p:sldId id="438" r:id="rId56"/>
    <p:sldId id="437" r:id="rId55"/>
    <p:sldId id="436" r:id="rId54"/>
    <p:sldId id="329" r:id="rId23"/>
    <p:sldId id="428" r:id="rId24"/>
    <p:sldId id="429" r:id="rId25"/>
    <p:sldId id="424" r:id="rId26"/>
    <p:sldId id="435" r:id="rId53"/>
    <p:sldId id="339" r:id="rId27"/>
    <p:sldId id="342" r:id="rId28"/>
    <p:sldId id="407" r:id="rId29"/>
    <p:sldId id="408" r:id="rId30"/>
    <p:sldId id="353" r:id="rId31"/>
    <p:sldId id="452" r:id="rId70"/>
    <p:sldId id="450" r:id="rId68"/>
    <p:sldId id="382" r:id="rId32"/>
    <p:sldId id="384" r:id="rId33"/>
    <p:sldId id="419" r:id="rId34"/>
    <p:sldId id="434" r:id="rId52"/>
    <p:sldId id="433" r:id="rId51"/>
    <p:sldId id="432" r:id="rId50"/>
    <p:sldId id="431" r:id="rId49"/>
    <p:sldId id="386" r:id="rId35"/>
    <p:sldId id="356" r:id="rId36"/>
    <p:sldId id="453" r:id="rId71"/>
    <p:sldId id="359" r:id="rId37"/>
    <p:sldId id="360" r:id="rId38"/>
    <p:sldId id="430" r:id="rId48"/>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ssion 1" id="{7C5483C3-4ED8-3C44-A16B-377738F7500E}">
          <p14:sldIdLst>
            <p14:sldId id="427"/>
            <p14:sldId id="426"/>
            <p14:sldId id="346"/>
            <p14:sldId id="422"/>
            <p14:sldId id="394"/>
            <p14:sldId id="361"/>
            <p14:sldId id="374"/>
            <p14:sldId id="364"/>
            <p14:sldId id="366"/>
            <p14:sldId id="368"/>
            <p14:sldId id="370"/>
            <p14:sldId id="372"/>
            <p14:sldId id="373"/>
            <p14:sldId id="324"/>
            <p14:sldId id="423"/>
          </p14:sldIdLst>
        </p14:section>
        <p14:section name="Session 2" id="{78177A17-BF90-E64E-B653-463937330CAB}">
          <p14:sldIdLst>
            <p14:sldId id="329"/>
            <p14:sldId id="428"/>
            <p14:sldId id="429"/>
            <p14:sldId id="424"/>
            <p14:sldId id="339"/>
            <p14:sldId id="342"/>
            <p14:sldId id="407"/>
            <p14:sldId id="408"/>
            <p14:sldId id="353"/>
            <p14:sldId id="382"/>
            <p14:sldId id="384"/>
            <p14:sldId id="419"/>
            <p14:sldId id="386"/>
            <p14:sldId id="356"/>
            <p14:sldId id="359"/>
            <p14:sldId id="360"/>
          </p14:sldIdLst>
        </p14:section>
      </p14:sectionLst>
    </p:ext>
    <p:ext uri="{EFAFB233-063F-42B5-8137-9DF3F51BA10A}">
      <p15:sldGuideLst xmlns:p15="http://schemas.microsoft.com/office/powerpoint/2012/main">
        <p15:guide id="1" pos="1512" userDrawn="1">
          <p15:clr>
            <a:srgbClr val="A4A3A4"/>
          </p15:clr>
        </p15:guide>
        <p15:guide id="2" orient="horz" pos="3024" userDrawn="1">
          <p15:clr>
            <a:srgbClr val="A4A3A4"/>
          </p15:clr>
        </p15:guide>
        <p15:guide id="3" orient="horz" pos="384" userDrawn="1">
          <p15:clr>
            <a:srgbClr val="A4A3A4"/>
          </p15:clr>
        </p15:guide>
        <p15:guide id="4" orient="horz" pos="2520" userDrawn="1">
          <p15:clr>
            <a:srgbClr val="A4A3A4"/>
          </p15:clr>
        </p15:guide>
        <p15:guide id="5" orient="horz" pos="1080" userDrawn="1">
          <p15:clr>
            <a:srgbClr val="A4A3A4"/>
          </p15:clr>
        </p15:guide>
        <p15:guide id="6" orient="horz" pos="1680" userDrawn="1">
          <p15:clr>
            <a:srgbClr val="A4A3A4"/>
          </p15:clr>
        </p15:guide>
        <p15:guide id="7" orient="horz" pos="3432" userDrawn="1">
          <p15:clr>
            <a:srgbClr val="A4A3A4"/>
          </p15:clr>
        </p15:guide>
        <p15:guide id="8" orient="horz" pos="3120" userDrawn="1">
          <p15:clr>
            <a:srgbClr val="A4A3A4"/>
          </p15:clr>
        </p15:guide>
        <p15:guide id="9" pos="48" userDrawn="1">
          <p15:clr>
            <a:srgbClr val="A4A3A4"/>
          </p15:clr>
        </p15:guide>
        <p15:guide id="10" pos="384" userDrawn="1">
          <p15:clr>
            <a:srgbClr val="A4A3A4"/>
          </p15:clr>
        </p15:guide>
        <p15:guide id="11" pos="6480" userDrawn="1">
          <p15:clr>
            <a:srgbClr val="A4A3A4"/>
          </p15:clr>
        </p15:guide>
        <p15:guide id="12" pos="2597" userDrawn="1">
          <p15:clr>
            <a:srgbClr val="A4A3A4"/>
          </p15:clr>
        </p15:guide>
        <p15:guide id="13" pos="288" userDrawn="1">
          <p15:clr>
            <a:srgbClr val="A4A3A4"/>
          </p15:clr>
        </p15:guide>
        <p15:guide id="14" orient="horz" pos="2160" userDrawn="1">
          <p15:clr>
            <a:srgbClr val="A4A3A4"/>
          </p15:clr>
        </p15:guide>
        <p15:guide id="15" orient="horz" pos="216" userDrawn="1">
          <p15:clr>
            <a:srgbClr val="A4A3A4"/>
          </p15:clr>
        </p15:guide>
        <p15:guide id="16" orient="horz" pos="936" userDrawn="1">
          <p15:clr>
            <a:srgbClr val="A4A3A4"/>
          </p15:clr>
        </p15:guide>
        <p15:guide id="17" pos="4368" userDrawn="1">
          <p15:clr>
            <a:srgbClr val="A4A3A4"/>
          </p15:clr>
        </p15:guide>
        <p15:guide id="18" pos="7296" userDrawn="1">
          <p15:clr>
            <a:srgbClr val="A4A3A4"/>
          </p15:clr>
        </p15:guide>
        <p15:guide id="19" pos="3288" userDrawn="1">
          <p15:clr>
            <a:srgbClr val="A4A3A4"/>
          </p15:clr>
        </p15:guide>
        <p15:guide id="20" pos="5904" userDrawn="1">
          <p15:clr>
            <a:srgbClr val="A4A3A4"/>
          </p15:clr>
        </p15:guide>
        <p15:guide id="21" pos="55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2C20163-4893-BE3A-1E07-F906005A17F8}" name="Heinlen, Kristina" initials="HK" userId="S::kristina.heinlen@mheducation.com::2678760f-1e13-422b-88a4-e26a0f284b0e" providerId="AD"/>
  <p188:author id="{43F91394-6150-5E56-57B3-F65AFD19BD12}" name="bhuvaneswari Kannan" initials="bK" userId="cbb3bab1c709e121" providerId="Windows Live"/>
  <p188:author id="{560B32AA-EC0E-E568-8A98-74E2563834DC}" name="Herrel, Brian" initials="HB" userId="S::brian.herrel@mheducation.com::88b938c8-9e82-40e1-8563-4045ae5ecb0e" providerId="AD"/>
  <p188:author id="{C433D3EE-49F3-8E60-D8D6-87ED04619419}" name="Nourse-Driscoll, Kailen" initials="NK" userId="S::kailen.nourse@mheducation.com::677d6fbd-8591-465c-8492-75451441fb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quel User" initials="SU"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2DA0"/>
    <a:srgbClr val="01708C"/>
    <a:srgbClr val="A01A74"/>
    <a:srgbClr val="33175A"/>
    <a:srgbClr val="FFB600"/>
    <a:srgbClr val="692146"/>
    <a:srgbClr val="720F11"/>
    <a:srgbClr val="9F2241"/>
    <a:srgbClr val="E2DFCA"/>
    <a:srgbClr val="625D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91143C-D503-F13E-8B02-0B1ED75841B9}" v="2" dt="2023-02-03T03:49:14.635"/>
    <p1510:client id="{B202BB94-85A4-F70E-5CB1-92BEB92611C7}" v="4" dt="2023-01-23T18:42:39.670"/>
    <p1510:client id="{B9296A86-2DC8-1414-09D4-693C084F3F90}" v="2" dt="2023-01-23T19:45:17.049"/>
    <p1510:client id="{BF4D74BB-CCEB-9685-BA85-E90ACFBFCC62}" v="18" dt="2023-01-23T19:28:06.915"/>
    <p1510:client id="{D9FFE8F0-CAFD-4485-9E17-205A22046434}" v="8" dt="2023-01-23T19:32:01.393"/>
    <p1510:client id="{F8FD8785-7AB8-8E41-CB44-531ECDA9C7B6}" v="15" dt="2023-02-03T03:59:31.9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94750"/>
  </p:normalViewPr>
  <p:slideViewPr>
    <p:cSldViewPr snapToGrid="0">
      <p:cViewPr varScale="1">
        <p:scale>
          <a:sx n="66" d="100"/>
          <a:sy n="66" d="100"/>
        </p:scale>
        <p:origin x="200" y="864"/>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8.xml"/><Relationship Id="rId16" Type="http://schemas.openxmlformats.org/officeDocument/2006/relationships/slide" Target="slides/slide19.xml"/><Relationship Id="rId17" Type="http://schemas.openxmlformats.org/officeDocument/2006/relationships/slide" Target="slides/slide20.xml"/><Relationship Id="rId18" Type="http://schemas.openxmlformats.org/officeDocument/2006/relationships/slide" Target="slides/slide21.xml"/><Relationship Id="rId19" Type="http://schemas.openxmlformats.org/officeDocument/2006/relationships/slide" Target="slides/slide22.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slide" Target="slides/slide25.xml"/><Relationship Id="rId23" Type="http://schemas.openxmlformats.org/officeDocument/2006/relationships/slide" Target="slides/slide30.xml"/><Relationship Id="rId24" Type="http://schemas.openxmlformats.org/officeDocument/2006/relationships/slide" Target="slides/slide31.xml"/><Relationship Id="rId25" Type="http://schemas.openxmlformats.org/officeDocument/2006/relationships/slide" Target="slides/slide32.xml"/><Relationship Id="rId26" Type="http://schemas.openxmlformats.org/officeDocument/2006/relationships/slide" Target="slides/slide33.xml"/><Relationship Id="rId27" Type="http://schemas.openxmlformats.org/officeDocument/2006/relationships/slide" Target="slides/slide35.xml"/><Relationship Id="rId28" Type="http://schemas.openxmlformats.org/officeDocument/2006/relationships/slide" Target="slides/slide36.xml"/><Relationship Id="rId29" Type="http://schemas.openxmlformats.org/officeDocument/2006/relationships/slide" Target="slides/slide37.xml"/><Relationship Id="rId30" Type="http://schemas.openxmlformats.org/officeDocument/2006/relationships/slide" Target="slides/slide38.xml"/><Relationship Id="rId31" Type="http://schemas.openxmlformats.org/officeDocument/2006/relationships/slide" Target="slides/slide39.xml"/><Relationship Id="rId32" Type="http://schemas.openxmlformats.org/officeDocument/2006/relationships/slide" Target="slides/slide41.xml"/><Relationship Id="rId33" Type="http://schemas.openxmlformats.org/officeDocument/2006/relationships/slide" Target="slides/slide42.xml"/><Relationship Id="rId34" Type="http://schemas.openxmlformats.org/officeDocument/2006/relationships/slide" Target="slides/slide43.xml"/><Relationship Id="rId35" Type="http://schemas.openxmlformats.org/officeDocument/2006/relationships/slide" Target="slides/slide48.xml"/><Relationship Id="rId36" Type="http://schemas.openxmlformats.org/officeDocument/2006/relationships/slide" Target="slides/slide49.xml"/><Relationship Id="rId37" Type="http://schemas.openxmlformats.org/officeDocument/2006/relationships/slide" Target="slides/slide50.xml"/><Relationship Id="rId38" Type="http://schemas.openxmlformats.org/officeDocument/2006/relationships/slide" Target="slides/slide51.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commentAuthors" Target="commentAuthors.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microsoft.com/office/2015/10/relationships/revisionInfo" Target="revisionInfo.xml"/><Relationship Id="rId47" Type="http://schemas.microsoft.com/office/2018/10/relationships/authors" Target="authors.xml"/><Relationship Id="rId48" Type="http://schemas.openxmlformats.org/officeDocument/2006/relationships/slide" Target="slides/slide52.xml"/><Relationship Id="rId49" Type="http://schemas.openxmlformats.org/officeDocument/2006/relationships/slide" Target="slides/slide47.xml"/><Relationship Id="rId50" Type="http://schemas.openxmlformats.org/officeDocument/2006/relationships/slide" Target="slides/slide46.xml"/><Relationship Id="rId51" Type="http://schemas.openxmlformats.org/officeDocument/2006/relationships/slide" Target="slides/slide45.xml"/><Relationship Id="rId52" Type="http://schemas.openxmlformats.org/officeDocument/2006/relationships/slide" Target="slides/slide44.xml"/><Relationship Id="rId53" Type="http://schemas.openxmlformats.org/officeDocument/2006/relationships/slide" Target="slides/slide34.xml"/><Relationship Id="rId54" Type="http://schemas.openxmlformats.org/officeDocument/2006/relationships/slide" Target="slides/slide29.xml"/><Relationship Id="rId55" Type="http://schemas.openxmlformats.org/officeDocument/2006/relationships/slide" Target="slides/slide28.xml"/><Relationship Id="rId56" Type="http://schemas.openxmlformats.org/officeDocument/2006/relationships/slide" Target="slides/slide27.xml"/><Relationship Id="rId57" Type="http://schemas.openxmlformats.org/officeDocument/2006/relationships/slide" Target="slides/slide26.xml"/><Relationship Id="rId58" Type="http://schemas.openxmlformats.org/officeDocument/2006/relationships/slide" Target="slides/slide13.xml"/><Relationship Id="rId59" Type="http://schemas.openxmlformats.org/officeDocument/2006/relationships/slide" Target="slides/slide12.xml"/><Relationship Id="rId60" Type="http://schemas.openxmlformats.org/officeDocument/2006/relationships/slide" Target="slides/slide11.xml"/><Relationship Id="rId61" Type="http://schemas.openxmlformats.org/officeDocument/2006/relationships/slide" Target="slides/slide10.xml"/><Relationship Id="rId62" Type="http://schemas.openxmlformats.org/officeDocument/2006/relationships/slide" Target="slides/slide9.xml"/><Relationship Id="rId63" Type="http://schemas.openxmlformats.org/officeDocument/2006/relationships/slide" Target="slides/slide8.xml"/><Relationship Id="rId64" Type="http://schemas.openxmlformats.org/officeDocument/2006/relationships/slide" Target="slides/slide7.xml"/><Relationship Id="rId65" Type="http://schemas.openxmlformats.org/officeDocument/2006/relationships/slide" Target="slides/slide6.xml"/><Relationship Id="rId66" Type="http://schemas.openxmlformats.org/officeDocument/2006/relationships/slide" Target="slides/slide5.xml"/><Relationship Id="rId67" Type="http://schemas.openxmlformats.org/officeDocument/2006/relationships/slide" Target="slides/slide17.xml"/><Relationship Id="rId68" Type="http://schemas.openxmlformats.org/officeDocument/2006/relationships/slide" Target="slides/slide40.xml"/><Relationship Id="rId69" Type="http://schemas.openxmlformats.org/officeDocument/2006/relationships/slide" Target="slides/slide53.xml"/><Relationship Id="rId70" Type="http://schemas.openxmlformats.org/officeDocument/2006/relationships/slide" Target="slides/slide54.xml"/><Relationship Id="rId71" Type="http://schemas.openxmlformats.org/officeDocument/2006/relationships/slide" Target="slides/slide5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145" cy="462721"/>
          </a:xfrm>
          <a:prstGeom prst="rect">
            <a:avLst/>
          </a:prstGeom>
        </p:spPr>
        <p:txBody>
          <a:bodyPr vert="horz" lIns="87304" tIns="43652" rIns="87304" bIns="43652" rtlCol="0"/>
          <a:lstStyle>
            <a:lvl1pPr algn="l">
              <a:defRPr sz="1100"/>
            </a:lvl1pPr>
          </a:lstStyle>
          <a:p>
            <a:endParaRPr lang="en-US"/>
          </a:p>
        </p:txBody>
      </p:sp>
      <p:sp>
        <p:nvSpPr>
          <p:cNvPr id="3" name="Date Placeholder 2"/>
          <p:cNvSpPr>
            <a:spLocks noGrp="1"/>
          </p:cNvSpPr>
          <p:nvPr>
            <p:ph type="dt" sz="quarter" idx="1"/>
          </p:nvPr>
        </p:nvSpPr>
        <p:spPr>
          <a:xfrm>
            <a:off x="3970734" y="0"/>
            <a:ext cx="3038145" cy="462721"/>
          </a:xfrm>
          <a:prstGeom prst="rect">
            <a:avLst/>
          </a:prstGeom>
        </p:spPr>
        <p:txBody>
          <a:bodyPr vert="horz" lIns="87304" tIns="43652" rIns="87304" bIns="43652" rtlCol="0"/>
          <a:lstStyle>
            <a:lvl1pPr algn="r">
              <a:defRPr sz="1100"/>
            </a:lvl1pPr>
          </a:lstStyle>
          <a:p>
            <a:fld id="{7CF79C4C-9A95-4F23-B503-12D2C6F00E19}" type="datetimeFigureOut">
              <a:rPr lang="en-US" smtClean="0"/>
              <a:t>9/14/26</a:t>
            </a:fld>
            <a:endParaRPr lang="en-US"/>
          </a:p>
        </p:txBody>
      </p:sp>
      <p:sp>
        <p:nvSpPr>
          <p:cNvPr id="4" name="Footer Placeholder 3"/>
          <p:cNvSpPr>
            <a:spLocks noGrp="1"/>
          </p:cNvSpPr>
          <p:nvPr>
            <p:ph type="ftr" sz="quarter" idx="2"/>
          </p:nvPr>
        </p:nvSpPr>
        <p:spPr>
          <a:xfrm>
            <a:off x="1" y="8773355"/>
            <a:ext cx="3038145" cy="462720"/>
          </a:xfrm>
          <a:prstGeom prst="rect">
            <a:avLst/>
          </a:prstGeom>
        </p:spPr>
        <p:txBody>
          <a:bodyPr vert="horz" lIns="87304" tIns="43652" rIns="87304" bIns="43652" rtlCol="0" anchor="b"/>
          <a:lstStyle>
            <a:lvl1pPr algn="l">
              <a:defRPr sz="1100"/>
            </a:lvl1pPr>
          </a:lstStyle>
          <a:p>
            <a:endParaRPr lang="en-US"/>
          </a:p>
        </p:txBody>
      </p:sp>
      <p:sp>
        <p:nvSpPr>
          <p:cNvPr id="5" name="Slide Number Placeholder 4"/>
          <p:cNvSpPr>
            <a:spLocks noGrp="1"/>
          </p:cNvSpPr>
          <p:nvPr>
            <p:ph type="sldNum" sz="quarter" idx="3"/>
          </p:nvPr>
        </p:nvSpPr>
        <p:spPr>
          <a:xfrm>
            <a:off x="3970734" y="8773355"/>
            <a:ext cx="3038145" cy="462720"/>
          </a:xfrm>
          <a:prstGeom prst="rect">
            <a:avLst/>
          </a:prstGeom>
        </p:spPr>
        <p:txBody>
          <a:bodyPr vert="horz" lIns="87304" tIns="43652" rIns="87304" bIns="43652" rtlCol="0" anchor="b"/>
          <a:lstStyle>
            <a:lvl1pPr algn="r">
              <a:defRPr sz="1100"/>
            </a:lvl1pPr>
          </a:lstStyle>
          <a:p>
            <a:fld id="{9BEDD28F-82A9-4FAE-8C69-E41F27D67B02}" type="slidenum">
              <a:rPr lang="en-US" smtClean="0"/>
              <a:t>‹#›</a:t>
            </a:fld>
            <a:endParaRPr lang="en-US"/>
          </a:p>
        </p:txBody>
      </p:sp>
    </p:spTree>
    <p:extLst>
      <p:ext uri="{BB962C8B-B14F-4D97-AF65-F5344CB8AC3E}">
        <p14:creationId xmlns:p14="http://schemas.microsoft.com/office/powerpoint/2010/main" val="27668477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2"/>
            <a:ext cx="3037840" cy="463407"/>
          </a:xfrm>
          <a:prstGeom prst="rect">
            <a:avLst/>
          </a:prstGeom>
        </p:spPr>
        <p:txBody>
          <a:bodyPr vert="horz" lIns="92290" tIns="46144" rIns="92290" bIns="46144" rtlCol="0"/>
          <a:lstStyle>
            <a:lvl1pPr algn="l">
              <a:defRPr sz="1200"/>
            </a:lvl1pPr>
          </a:lstStyle>
          <a:p>
            <a:endParaRPr lang="en-US"/>
          </a:p>
        </p:txBody>
      </p:sp>
      <p:sp>
        <p:nvSpPr>
          <p:cNvPr id="3" name="Date Placeholder 2"/>
          <p:cNvSpPr>
            <a:spLocks noGrp="1"/>
          </p:cNvSpPr>
          <p:nvPr>
            <p:ph type="dt" idx="1"/>
          </p:nvPr>
        </p:nvSpPr>
        <p:spPr>
          <a:xfrm>
            <a:off x="3970938" y="2"/>
            <a:ext cx="3037840" cy="463407"/>
          </a:xfrm>
          <a:prstGeom prst="rect">
            <a:avLst/>
          </a:prstGeom>
        </p:spPr>
        <p:txBody>
          <a:bodyPr vert="horz" lIns="92290" tIns="46144" rIns="92290" bIns="46144" rtlCol="0"/>
          <a:lstStyle>
            <a:lvl1pPr algn="r">
              <a:defRPr sz="1200"/>
            </a:lvl1pPr>
          </a:lstStyle>
          <a:p>
            <a:fld id="{2BE65169-DB50-4446-8324-0D580DBE95C4}" type="datetimeFigureOut">
              <a:rPr lang="en-US" smtClean="0"/>
              <a:t>9/14/26</a:t>
            </a:fld>
            <a:endParaRPr lang="en-US"/>
          </a:p>
        </p:txBody>
      </p:sp>
      <p:sp>
        <p:nvSpPr>
          <p:cNvPr id="4" name="Slide Image Placeholder 3"/>
          <p:cNvSpPr>
            <a:spLocks noGrp="1" noRot="1" noChangeAspect="1"/>
          </p:cNvSpPr>
          <p:nvPr>
            <p:ph type="sldImg" idx="2"/>
          </p:nvPr>
        </p:nvSpPr>
        <p:spPr>
          <a:xfrm>
            <a:off x="736600" y="1154113"/>
            <a:ext cx="5537200" cy="3116262"/>
          </a:xfrm>
          <a:prstGeom prst="rect">
            <a:avLst/>
          </a:prstGeom>
          <a:noFill/>
          <a:ln w="12700">
            <a:solidFill>
              <a:prstClr val="black"/>
            </a:solidFill>
          </a:ln>
        </p:spPr>
        <p:txBody>
          <a:bodyPr vert="horz" lIns="92290" tIns="46144" rIns="92290" bIns="46144" rtlCol="0" anchor="ctr"/>
          <a:lstStyle/>
          <a:p>
            <a:endParaRPr lang="en-US"/>
          </a:p>
        </p:txBody>
      </p:sp>
      <p:sp>
        <p:nvSpPr>
          <p:cNvPr id="5" name="Notes Placeholder 4"/>
          <p:cNvSpPr>
            <a:spLocks noGrp="1"/>
          </p:cNvSpPr>
          <p:nvPr>
            <p:ph type="body" sz="quarter" idx="3"/>
          </p:nvPr>
        </p:nvSpPr>
        <p:spPr>
          <a:xfrm>
            <a:off x="701040" y="4444862"/>
            <a:ext cx="5608320" cy="3636705"/>
          </a:xfrm>
          <a:prstGeom prst="rect">
            <a:avLst/>
          </a:prstGeom>
        </p:spPr>
        <p:txBody>
          <a:bodyPr vert="horz" lIns="92290" tIns="46144" rIns="92290" bIns="4614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6"/>
          </a:xfrm>
          <a:prstGeom prst="rect">
            <a:avLst/>
          </a:prstGeom>
        </p:spPr>
        <p:txBody>
          <a:bodyPr vert="horz" lIns="92290" tIns="46144" rIns="92290" bIns="46144"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6"/>
          </a:xfrm>
          <a:prstGeom prst="rect">
            <a:avLst/>
          </a:prstGeom>
        </p:spPr>
        <p:txBody>
          <a:bodyPr vert="horz" lIns="92290" tIns="46144" rIns="92290" bIns="46144" rtlCol="0" anchor="b"/>
          <a:lstStyle>
            <a:lvl1pPr algn="r">
              <a:defRPr sz="1200"/>
            </a:lvl1pPr>
          </a:lstStyle>
          <a:p>
            <a:fld id="{30DC0D4C-FD52-4CA4-A998-31C73A5A5BDE}" type="slidenum">
              <a:rPr lang="en-US" smtClean="0"/>
              <a:t>‹#›</a:t>
            </a:fld>
            <a:endParaRPr lang="en-US"/>
          </a:p>
        </p:txBody>
      </p:sp>
    </p:spTree>
    <p:extLst>
      <p:ext uri="{BB962C8B-B14F-4D97-AF65-F5344CB8AC3E}">
        <p14:creationId xmlns:p14="http://schemas.microsoft.com/office/powerpoint/2010/main" val="9518215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1 | WARMUP</a:t>
            </a:r>
          </a:p>
          <a:p xmlns:a="http://schemas.openxmlformats.org/drawingml/2006/main">
            <a:pPr>
              <a:buNone/>
            </a:pPr>
            <a:r>
              <a:rPr lang="en-US" sz="1100"/>
              <a:t>Focus on the existing task: Warm-Up WARM-UP · THINK • TRY • CHECK Do these four on your own. We will…</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Warm-Up answers (teacher only): 1) 24   2) 8 animals   3) 10, 12   4) 3/8</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name the compared quantities in order; distinguish part-to-part and part-to-whole; scale both quantities together. Review recent work and today’s warm-up to choose flexible groups and access supports; do not infer needs from identity or perceived ability. Use the existing lesson tasks and stated standards.</a:t>
            </a:r>
          </a:p>
          <a:p>
            <a:pPr>
              <a:buNone/>
            </a:pPr>
            <a:r>
              <a:rPr lang="en-US" sz="1100"/>
              <a:t>Anticipate: reversing the ratio or confusing a part with the total. If observed, label the two quantities on the existing tape diagram or double number line.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2 | NOTES</a:t>
            </a:r>
          </a:p>
          <a:p xmlns:a="http://schemas.openxmlformats.org/drawingml/2006/main">
            <a:pPr>
              <a:buNone/>
            </a:pPr>
            <a:r>
              <a:rPr lang="en-US" sz="1100"/>
              <a:t>Focus on the existing task: Today’s Math Notes Lesson 3-1 · Understand Ratio s STUDENT NOTES · COPY LESS • UNDERSTAND MORE Read the words in order → write the…</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Students copy only the boxed idea into their notebooks — two minutes, then pens down. Emphasize that a ratio compares two quantities and that order matters. Watch for students copying numbers without the labels; the labels are the point.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3 | DIVIDER</a:t>
            </a:r>
          </a:p>
          <a:p xmlns:a="http://schemas.openxmlformats.org/drawingml/2006/main">
            <a:pPr>
              <a:buNone/>
            </a:pPr>
            <a:r>
              <a:rPr lang="en-US" sz="1100"/>
              <a:t>Focus on the existing task: Understand Ratio s Session 1 COMPARE • REPRESENT • EXPLAIN</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Session 1 launch. Frame the goal in one sentence: today we learn what a ratio is and how part-to-part differs from part-to-whole. Keep the transition under thirty seconds.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4 | GOAL</a:t>
            </a:r>
          </a:p>
          <a:p xmlns:a="http://schemas.openxmlformats.org/drawingml/2006/main">
            <a:pPr>
              <a:buNone/>
            </a:pPr>
            <a:r>
              <a:rPr lang="en-US" sz="1100"/>
              <a:t>Focus on the existing task: Learning Target — Session 1 | Maryland Standard 6.AT.1 LEARNING TARGET · COMPARE • WRITE • EXPLAIN…</a:t>
            </a:r>
          </a:p>
          <a:p xmlns:a="http://schemas.openxmlformats.org/drawingml/2006/main">
            <a:pPr>
              <a:buNone/>
            </a:pPr>
            <a:r>
              <a:rPr lang="en-US" sz="1100"/>
              <a:t>CONNECT (T1/4): Ask students to restate the displayed goal or key idea and connect it to earlier work. Relevant lesson evidence: name the compared quantities in order; distinguish part-to-part and part-to-whole; scale both quantities together.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Read the target aloud, then have students restate it to a partner in their own words. Ask: what two things will we compare today? Listen for ‘order matters’ — it returns all lesson.</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name the compared quantities in order; distinguish part-to-part and part-to-whole; scale both quantities together. Ask: “Which part of your work would show this?” Revisit that evidence after the task; a confidence rating alone is not evidence of understanding.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14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Give one quiet minute to notice and wonder about the image before any hands go up. Collect three notices and two wonders. Resolve nothing yet — curiosity is the goal here.</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two quantities does this ratio compare, and how does your model preserve that comparison?” Wait for evidence, invite another pathway, and have a student ask a follow-up question. Do not replace students’ reasoning with a sequence of leading steps.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15 | TASK</a:t>
            </a:r>
          </a:p>
          <a:p xmlns:a="http://schemas.openxmlformats.org/drawingml/2006/main">
            <a:pPr>
              <a:buNone/>
            </a:pPr>
            <a:r>
              <a:rPr lang="en-US" sz="1100"/>
              <a:t>Focus on the existing task: Making a Fruit Drink The recipe shows the ingredients needed to make one batch of sparkling cranberry-apple fruit drink. How can you describe the relationship between the apple juice and the fruit drink?</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Solo think first, then partner talk. The key question: is the second quantity another part, or the whole? Common slip: reading 2 to 10 as part-to-part because both numbers are in the recipe.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16 | PRACTICE</a:t>
            </a:r>
          </a:p>
          <a:p xmlns:a="http://schemas.openxmlformats.org/drawingml/2006/main">
            <a:pPr>
              <a:buNone/>
            </a:pPr>
            <a:r>
              <a:rPr lang="en-US" sz="1100"/>
              <a:t>Focus on the existing task: Let’s Explore More What kind of ratio is the cranberry juice to fruit drink relationship?</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Students choose a challenge level and must justify their ratio type with ‘because.’ Early finishers write one part-to-part and one part-to-whole ratio from the same recipe.</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reversing the ratio or confusing a part with the total. If it appears, label the two quantities on the existing tape diagram or double number line; then ask the student to revise the same response and explain the change. If evidence is secure, have students compare a second valid pathway or state why their approach works. Choose the next step from the responses, not a preset pace.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18 | TASK</a:t>
            </a:r>
          </a:p>
          <a:p xmlns:a="http://schemas.openxmlformats.org/drawingml/2006/main">
            <a:pPr>
              <a:buNone/>
            </a:pPr>
            <a:r>
              <a:rPr lang="en-US" sz="1100"/>
              <a:t>Focus on the existing task: For 2 cups of apple juice used, 10 cups of fruit drink are made. Use the tape diagram to answer both: How is 2 cups related to 10 cups?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Teacher reference: The apple juice is part of the fruit drink.</a:t>
            </a:r>
          </a:p>
          <a:p>
            <a:endParaRPr/>
          </a:p>
          <a:p>
            <a:r>
              <a:t>Combined from the former relationship, representation, and classification sequence. Pause before the model discussion so students still generate an idea first.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19 | WORKED</a:t>
            </a:r>
          </a:p>
          <a:p xmlns:a="http://schemas.openxmlformats.org/drawingml/2006/main">
            <a:pPr>
              <a:buNone/>
            </a:pPr>
            <a:r>
              <a:rPr lang="en-US" sz="1100"/>
              <a:t>Focus on the existing task: Apple juice = part. Fruit drink = whole. That makes this a part-to-whole ratio. STUDENT MOVE · SAY IT IN YOUR OWN WORDS PART →…</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Combined part/whole identification with the part-to-whole classification.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20 | TASK</a:t>
            </a:r>
          </a:p>
          <a:p xmlns:a="http://schemas.openxmlformats.org/drawingml/2006/main">
            <a:pPr>
              <a:buNone/>
            </a:pPr>
            <a:r>
              <a:rPr lang="en-US" sz="1100"/>
              <a:t>Focus on the existing task: A ratio compares two quantities, and order matters. 2 cups of apple juice are compared with 10 cups of fruit drink. A part-to-whole…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Combined ratio definition with the three symbolic/word forms.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21 | TASK</a:t>
            </a:r>
          </a:p>
          <a:p xmlns:a="http://schemas.openxmlformats.org/drawingml/2006/main">
            <a:pPr>
              <a:buNone/>
            </a:pPr>
            <a:r>
              <a:rPr lang="en-US" sz="1100"/>
              <a:t>Focus on the existing task: How can you describe apple juice to sparkling water?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Combined the part-to-part launch question and conclusion.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22 | TASK</a:t>
            </a:r>
          </a:p>
          <a:p xmlns:a="http://schemas.openxmlformats.org/drawingml/2006/main">
            <a:pPr>
              <a:buNone/>
            </a:pPr>
            <a:r>
              <a:rPr lang="en-US" sz="1100"/>
              <a:t>Focus on the existing task: This tape diagram represents a part-to-part ratio. For every 2 cups of apple juice, there are 7 cups of sparkling water. What is another way you can represent a part-to-part ratio?</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Teacher reference: The relationship can also be represented with numbers.</a:t>
            </a:r>
          </a:p>
          <a:p>
            <a:endParaRPr/>
          </a:p>
          <a:p>
            <a:r>
              <a:t>Combined the representation-choice prompt with the connecting-representations slide.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23 | WORKED</a:t>
            </a:r>
          </a:p>
          <a:p xmlns:a="http://schemas.openxmlformats.org/drawingml/2006/main">
            <a:pPr>
              <a:buNone/>
            </a:pPr>
            <a:r>
              <a:rPr lang="en-US" sz="1100"/>
              <a:t>Focus on the existing task: For every two cups of apple juice in the fruit drink, there are seven cups of water. You can represent a part-to-part ratio with…</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Have two or three students read the sentence aloud, filling in the blanks. Check that the order of quantities matches the order of the words — reversed order reads fine aloud but breaks the ratio.</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24 | TASK</a:t>
            </a:r>
          </a:p>
          <a:p xmlns:a="http://schemas.openxmlformats.org/drawingml/2006/main">
            <a:pPr>
              <a:buNone/>
            </a:pPr>
            <a:r>
              <a:rPr lang="en-US" sz="1100"/>
              <a:t>Focus on the existing task: STUDENT MOVE · SELF-EXPLAIN • PART VS. WHOLE Don’t Mix Them Up Use the SAME recipe. Look at what the second quantity is. PART-TO-PART…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Self-explain routine: each student tells a partner the difference between part-to-part and part-to-whole using the fruit-drink numbers. Listen for ‘the whole includes every part.’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25 | TASK</a:t>
            </a:r>
          </a:p>
          <a:p xmlns:a="http://schemas.openxmlformats.org/drawingml/2006/main">
            <a:pPr>
              <a:buNone/>
            </a:pPr>
            <a:r>
              <a:rPr lang="en-US" sz="1100"/>
              <a:t>Focus on the existing task: Explain how you know. 3 — SELF-MONITOR Circle one: READY — I can explain it. ALMOST — I need one hint. NOT YET — I need a model. Partner feedback: Ask “How do you know?</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Students work the three panels solo, then check with a partner. The READY / ALMOST / NOT YET line tells you who needs the model tomorrow — record 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30 | DIVIDER</a:t>
            </a:r>
          </a:p>
          <a:p xmlns:a="http://schemas.openxmlformats.org/drawingml/2006/main">
            <a:pPr>
              <a:buNone/>
            </a:pPr>
            <a:r>
              <a:rPr lang="en-US" sz="1100"/>
              <a:t>Focus on the existing task: Understand Ratio s Session 2 SCALE • MODEL • EXPLAIN</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Session 2 launch. One-sentence recap of Session 1 (a ratio compares two quantities, order matters), then frame today: modeling ratios with tape diagrams and double number lines.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xmlns:a="http://schemas.openxmlformats.org/drawingml/2006/main">
            <a:pPr>
              <a:buNone/>
            </a:pPr>
            <a:r>
              <a:rPr lang="en-US" sz="1100"/>
              <a:t>TEACH IN PRACTICE | Embedded facilitation | Lesson 3.1, slide 31 | WARMUP</a:t>
            </a:r>
          </a:p>
          <a:p xmlns:a="http://schemas.openxmlformats.org/drawingml/2006/main">
            <a:pPr>
              <a:buNone/>
            </a:pPr>
            <a:r>
              <a:rPr lang="en-US" sz="1100"/>
              <a:t>Focus on the existing task: ______ QUESTION 3 Is apples: total part-to-part or part-to-whole?</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xmlns:a="http://schemas.openxmlformats.org/drawingml/2006/main">
            <a:pPr>
              <a:buNone/>
            </a:pPr>
            <a:r>
              <a:rPr lang="en-US" sz="1100"/>
              <a:t>TEACH IN PRACTICE | Embedded facilitation | Lesson 3.1, slide 32 | NOTES</a:t>
            </a:r>
          </a:p>
          <a:p xmlns:a="http://schemas.openxmlformats.org/drawingml/2006/main">
            <a:pPr>
              <a:buNone/>
            </a:pPr>
            <a:r>
              <a:rPr lang="en-US" sz="1100"/>
              <a:t>Focus on the existing task: Review Notes — Session 2 | Review before Session 2 REVIEW NOTES · RECALL • CONNECT • APPLY Read the…</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33 | GOAL</a:t>
            </a:r>
          </a:p>
          <a:p xmlns:a="http://schemas.openxmlformats.org/drawingml/2006/main">
            <a:pPr>
              <a:buNone/>
            </a:pPr>
            <a:r>
              <a:rPr lang="en-US" sz="1100"/>
              <a:t>Focus on the existing task: Learning Target — Session 2 | Maryland Standard 6.AT.1 LEARNING TARGET · MODEL • SCALE • EXPLAIN…</a:t>
            </a:r>
          </a:p>
          <a:p xmlns:a="http://schemas.openxmlformats.org/drawingml/2006/main">
            <a:pPr>
              <a:buNone/>
            </a:pPr>
            <a:r>
              <a:rPr lang="en-US" sz="1100"/>
              <a:t>CONNECT (T1/4): Ask students to restate the displayed goal or key idea and connect it to earlier work. Relevant lesson evidence: name the compared quantities in order; distinguish part-to-part and part-to-whole; scale both quantities together.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Read the target, partners restate it. Ask what a model is for — seeing the relationship, not decorating the page.</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name the compared quantities in order; distinguish part-to-part and part-to-whole; scale both quantities together. Ask: “Which part of your work would show this?” Revisit that evidence after the task; a confidence rating alone is not evidence of understanding.</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35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One quiet minute with the recipe image. Collect notices and wonders and steer nothing. If someone predicts the question, park it on the board for two slides from now.</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“Which two quantities does this ratio compare, and how does your model preserve that comparison?” Wait for evidence, invite another pathway, and have a student ask a follow-up question. Do not replace students’ reasoning with a sequence of leading steps.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36 | TASK</a:t>
            </a:r>
          </a:p>
          <a:p xmlns:a="http://schemas.openxmlformats.org/drawingml/2006/main">
            <a:pPr>
              <a:buNone/>
            </a:pPr>
            <a:r>
              <a:rPr lang="en-US" sz="1100"/>
              <a:t>Focus on the existing task: Tahira is making a salad dressing using the recipe shown. She plans to use 4 tablespoons of vinegar. How can she determine the amount of…</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Combined the salad-dressing launch with the question about how the two ingredients relate.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37 | TASK</a:t>
            </a:r>
          </a:p>
          <a:p xmlns:a="http://schemas.openxmlformats.org/drawingml/2006/main">
            <a:pPr>
              <a:buNone/>
            </a:pPr>
            <a:r>
              <a:rPr lang="en-US" sz="1100"/>
              <a:t>Focus on the existing task: Both ingredients are parts → part-to-part. One way to model the relationship is a tape diagram. How do the tablespoons of vinegar relate to the tablespoons of olive oil?</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Teacher reference: For every 1 tablespoon of vinegar, there are 3 tablespoons of olive oil.</a:t>
            </a:r>
          </a:p>
          <a:p>
            <a:endParaRPr/>
          </a:p>
          <a:p>
            <a:r>
              <a:t>Combined part-to-part classification with the tape-diagram reading task.</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38 | COLLABORATE</a:t>
            </a:r>
          </a:p>
          <a:p xmlns:a="http://schemas.openxmlformats.org/drawingml/2006/main">
            <a:pPr>
              <a:buNone/>
            </a:pPr>
            <a:r>
              <a:rPr lang="en-US" sz="1100"/>
              <a:t>Focus on the existing task: Collaborate and Connect (continued) Tahira can change the value in each box of the tape diagram from 1 to 4. STUDENT MOVE · SCALE…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scale both quantities together.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Combined the scale-the-model, solve, and multiple-strategy prompts.</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reversing the ratio or confusing a part with the total. If it appears, label the two quantities on the existing tape diagram or double number line; then ask the student to revise the same response and explain the change. If evidence is secure, have students compare a second valid pathway or state why their approach works. Choose the next step from the responses, not a preset pace.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39 | PRACTICE</a:t>
            </a:r>
          </a:p>
          <a:p xmlns:a="http://schemas.openxmlformats.org/drawingml/2006/main">
            <a:pPr>
              <a:buNone/>
            </a:pPr>
            <a:r>
              <a:rPr lang="en-US" sz="1100"/>
              <a:t>Focus on the existing task: Let’s Explore More How can Tahira determine the amount of salad dressing she will have if she uses 6 tablespoons of vinegar?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Choice slide: students pick a challenge and show their thinking in the notebook. Press for a model — tape diagram or double number line — not just an answer.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41 | TASK</a:t>
            </a:r>
          </a:p>
          <a:p xmlns:a="http://schemas.openxmlformats.org/drawingml/2006/main">
            <a:pPr>
              <a:buNone/>
            </a:pPr>
            <a:r>
              <a:rPr lang="en-US" sz="1100"/>
              <a:t>Focus on the existing task: A double number line can be used to represent the relationship. A double number line consists of two number lines. Complete the double number line. What pattern do you notice?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Teacher reference: The top number line increases by 1; the bottom number line increases by 3.</a:t>
            </a:r>
          </a:p>
          <a:p>
            <a:endParaRPr/>
          </a:p>
          <a:p>
            <a:r>
              <a:t>Combined prediction of another model, double-number-line introduction, and pattern analysis.</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42 | TASK</a:t>
            </a:r>
          </a:p>
          <a:p xmlns:a="http://schemas.openxmlformats.org/drawingml/2006/main">
            <a:pPr>
              <a:buNone/>
            </a:pPr>
            <a:r>
              <a:rPr lang="en-US" sz="1100"/>
              <a:t>Focus on the existing task: How can you use the double number line to determine how many tablespoons of olive oil are needed for 4 tablespoons of vinegar?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Solo think, then partner explain. The move is reading straight down between the two lines: tablespoons of vinegar line up with tablespoons of olive oil. Listen for students counting tick marks without naming units.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xmlns:a="http://schemas.openxmlformats.org/drawingml/2006/main">
            <a:pPr>
              <a:buNone/>
            </a:pPr>
            <a:r>
              <a:rPr lang="en-US" sz="1100"/>
              <a:t>TEACH IN PRACTICE | Embedded facilitation | Lesson 3.1, slide 43 | TASK</a:t>
            </a:r>
          </a:p>
          <a:p xmlns:a="http://schemas.openxmlformats.org/drawingml/2006/main">
            <a:pPr>
              <a:buNone/>
            </a:pPr>
            <a:r>
              <a:rPr lang="en-US" sz="1100"/>
              <a:t>Focus on the existing task: CHECK YOUR MODEL: 4 tbsp vinegar → 12 tbsp olive oil. How does the double number line prove the relationship stays 1:3?</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Combined solve/check, looking-for-structure, and final 12-tablespoon conclusion.</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48 | TASK</a:t>
            </a:r>
          </a:p>
          <a:p xmlns:a="http://schemas.openxmlformats.org/drawingml/2006/main">
            <a:pPr>
              <a:buNone/>
            </a:pPr>
            <a:r>
              <a:rPr lang="en-US" sz="1100"/>
              <a:t>Focus on the existing task: Tahira can use a tape diagram or a double number line to determine that 12 tablespoons of olive oil are needed when using 4…</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Summarize the strategy: both models answer the same question. Partners name one thing the tape diagram shows better and one thing the double number line shows better.</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49 | SUMMARIZE</a:t>
            </a:r>
          </a:p>
          <a:p xmlns:a="http://schemas.openxmlformats.org/drawingml/2006/main">
            <a:pPr>
              <a:buNone/>
            </a:pPr>
            <a:r>
              <a:rPr lang="en-US" sz="1100"/>
              <a:t>Focus on the existing task: Summarize: Understand Ratio s A ratio can be represented symbolically in three ways. a to b a: b STUDENT MOVE · SUMMARIZE •…</a:t>
            </a:r>
          </a:p>
          <a:p xmlns:a="http://schemas.openxmlformats.org/drawingml/2006/main">
            <a:pPr>
              <a:buNone/>
            </a:pPr>
            <a:r>
              <a:rPr lang="en-US" sz="1100"/>
              <a:t>CONNECT (T1/4): Ask students to restate the displayed goal or key idea and connect it to earlier work. Relevant lesson evidence: name the compared quantities in order; distinguish part-to-part and part-to-whole; scale both quantities together.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Students teach a partner the two ratio types using the anchor examples. ‘Classify BEFORE you calculate’ is the takeaway — have the class say it once together.</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50 | APPLY</a:t>
            </a:r>
          </a:p>
          <a:p xmlns:a="http://schemas.openxmlformats.org/drawingml/2006/main">
            <a:pPr>
              <a:buNone/>
            </a:pPr>
            <a:r>
              <a:rPr lang="en-US" sz="1100"/>
              <a:t>Focus on the existing task: QUESTION 2: One pound of almonds costs $9.99 and has 3 cups of almonds. How much will the students need to budget for almonds?</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Voice and choice: students pick a representation and defend it. Debrief by sharing two pairs who chose different models for the same ratio.</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xmlns:a="http://schemas.openxmlformats.org/drawingml/2006/main">
            <a:pPr>
              <a:buNone/>
            </a:pPr>
            <a:r>
              <a:rPr lang="en-US" sz="1100"/>
              <a:t>TEACH IN PRACTICE | Embedded facilitation | Lesson 3.1, slide 51 | ASSESSMENT</a:t>
            </a:r>
          </a:p>
          <a:p xmlns:a="http://schemas.openxmlformats.org/drawingml/2006/main">
            <a:pPr>
              <a:buNone/>
            </a:pPr>
            <a:r>
              <a:rPr lang="en-US" sz="1100"/>
              <a:t>Focus on the existing task: Exit Ticket + Self-Check STUDENT MOVE · SELF-ASSESS • NAME YOUR NEXT STEP Trail mix uses 2 cups of pretzels for every 5 cups of cereal. If you use 8 cups of pretzels, how many cups of cereal are needed?</a:t>
            </a:r>
          </a:p>
          <a:p xmlns:a="http://schemas.openxmlformats.org/drawingml/2006/main">
            <a:pPr>
              <a:buNone/>
            </a:pPr>
            <a:r>
              <a:rPr lang="en-US" sz="1100"/>
              <a:t>LAUNCH (T2/3/5): Gather an independent response before feedback. Students choose a suitable representation and justify it. Keep the first attempt separate from the revision.</a:t>
            </a:r>
          </a:p>
          <a:p xmlns:a="http://schemas.openxmlformats.org/drawingml/2006/main">
            <a:pPr>
              <a:buNone/>
            </a:pPr>
            <a:r>
              <a:rPr lang="en-US" sz="1100"/>
              <a:t>LOOK FOR (T4): Where this task addresses it, students can scale both quantities together.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rPr lang="en-US" dirty="0"/>
              <a:t>Collect exit tickets before students self-assess. The READY / ALMOST / NOT YET line sets tomorrow’s small groups — record it before dismissal.</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name the compared quantities in order; distinguish part-to-part and part-to-whole; scale both quantities together. Respond with one specific next step tied to the work. Students revise and annotate what changed, then identify a criterion they can now demonstrate and one they still need to practice.</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52 | REFLECTION</a:t>
            </a:r>
          </a:p>
          <a:p xmlns:a="http://schemas.openxmlformats.org/drawingml/2006/main">
            <a:pPr>
              <a:buNone/>
            </a:pPr>
            <a:r>
              <a:rPr lang="en-US" sz="1100"/>
              <a:t>Focus on the existing task: Learning Targets I can describe the relationship between quantities using ratios. I can make sense of quantities to represent ratios using…</a:t>
            </a:r>
          </a:p>
          <a:p xmlns:a="http://schemas.openxmlformats.org/drawingml/2006/main">
            <a:pPr>
              <a:buNone/>
            </a:pPr>
            <a:r>
              <a:rPr lang="en-US" sz="1100"/>
              <a:t>CONNECT (T1/4): Ask students to restate the displayed goal or key idea and connect it to earlier work. Relevant lesson evidence: name the compared quantities in order; distinguish part-to-part and part-to-whole; scale both quantities together.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reversing the ratio or confusing a part with the total.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two quantities on the existing tape diagram or double number line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5 | VOCAB</a:t>
            </a:r>
          </a:p>
          <a:p xmlns:a="http://schemas.openxmlformats.org/drawingml/2006/main">
            <a:pPr>
              <a:buNone/>
            </a:pPr>
            <a:r>
              <a:rPr lang="en-US" sz="1100"/>
              <a:t>Focus on the existing task: Vocabulary 1 of 8 Understand Ratios Use a ratio to compare two…</a:t>
            </a:r>
          </a:p>
          <a:p xmlns:a="http://schemas.openxmlformats.org/drawingml/2006/main">
            <a:pPr>
              <a:buNone/>
            </a:pPr>
            <a:r>
              <a:rPr lang="en-US" sz="1100"/>
              <a:t>ASK (T1/3/5): Where does “Understand Ratios”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6 | VOCAB</a:t>
            </a:r>
          </a:p>
          <a:p xmlns:a="http://schemas.openxmlformats.org/drawingml/2006/main">
            <a:pPr>
              <a:buNone/>
            </a:pPr>
            <a:r>
              <a:rPr lang="en-US" sz="1100"/>
              <a:t>Focus on the existing task: Vocabulary 2 of 8 Ratio A way to compare two amounts, like 3 to 2.…</a:t>
            </a:r>
          </a:p>
          <a:p xmlns:a="http://schemas.openxmlformats.org/drawingml/2006/main">
            <a:pPr>
              <a:buNone/>
            </a:pPr>
            <a:r>
              <a:rPr lang="en-US" sz="1100"/>
              <a:t>ASK (T1/3/5): Where does “Ratio”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7 | VOCAB</a:t>
            </a:r>
          </a:p>
          <a:p xmlns:a="http://schemas.openxmlformats.org/drawingml/2006/main">
            <a:pPr>
              <a:buNone/>
            </a:pPr>
            <a:r>
              <a:rPr lang="en-US" sz="1100"/>
              <a:t>Focus on the existing task: Vocabulary 3 of 8 Comparison Looking at two or more amounts to see how they are related. EXAMPLE 5 eggs vs. 3 eggs — which recipe uses more?</a:t>
            </a:r>
          </a:p>
          <a:p xmlns:a="http://schemas.openxmlformats.org/drawingml/2006/main">
            <a:pPr>
              <a:buNone/>
            </a:pPr>
            <a:r>
              <a:rPr lang="en-US" sz="1100"/>
              <a:t>ASK (T1/3/5): Where does “Comparison”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8 | VOCAB</a:t>
            </a:r>
          </a:p>
          <a:p xmlns:a="http://schemas.openxmlformats.org/drawingml/2006/main">
            <a:pPr>
              <a:buNone/>
            </a:pPr>
            <a:r>
              <a:rPr lang="en-US" sz="1100"/>
              <a:t>Focus on the existing task: Vocabulary 4 of 8 Part-to-part A ratio comparing one part of a group to…</a:t>
            </a:r>
          </a:p>
          <a:p xmlns:a="http://schemas.openxmlformats.org/drawingml/2006/main">
            <a:pPr>
              <a:buNone/>
            </a:pPr>
            <a:r>
              <a:rPr lang="en-US" sz="1100"/>
              <a:t>ASK (T1/3/5): Where does “Part-to-part”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9 | VOCAB</a:t>
            </a:r>
          </a:p>
          <a:p xmlns:a="http://schemas.openxmlformats.org/drawingml/2006/main">
            <a:pPr>
              <a:buNone/>
            </a:pPr>
            <a:r>
              <a:rPr lang="en-US" sz="1100"/>
              <a:t>Focus on the existing task: Vocabulary 5 of 8 Part-to-whole A ratio comparing one part to the whole…</a:t>
            </a:r>
          </a:p>
          <a:p xmlns:a="http://schemas.openxmlformats.org/drawingml/2006/main">
            <a:pPr>
              <a:buNone/>
            </a:pPr>
            <a:r>
              <a:rPr lang="en-US" sz="1100"/>
              <a:t>ASK (T1/3/5): Where does “Part-to-whole”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10 | VOCAB</a:t>
            </a:r>
          </a:p>
          <a:p xmlns:a="http://schemas.openxmlformats.org/drawingml/2006/main">
            <a:pPr>
              <a:buNone/>
            </a:pPr>
            <a:r>
              <a:rPr lang="en-US" sz="1100"/>
              <a:t>Focus on the existing task: Vocabulary 6 of 8 Colon notation Writing a ratio with two dots between…</a:t>
            </a:r>
          </a:p>
          <a:p xmlns:a="http://schemas.openxmlformats.org/drawingml/2006/main">
            <a:pPr>
              <a:buNone/>
            </a:pPr>
            <a:r>
              <a:rPr lang="en-US" sz="1100"/>
              <a:t>ASK (T1/3/5): Where does “Colon notation”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3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11 | VOCAB</a:t>
            </a:r>
          </a:p>
          <a:p xmlns:a="http://schemas.openxmlformats.org/drawingml/2006/main">
            <a:pPr>
              <a:buNone/>
            </a:pPr>
            <a:r>
              <a:rPr lang="en-US" sz="1100"/>
              <a:t>Focus on the existing task: Vocabulary 7 of 8 Tape diagram A bar cut into equal parts that shows how…</a:t>
            </a:r>
          </a:p>
          <a:p xmlns:a="http://schemas.openxmlformats.org/drawingml/2006/main">
            <a:pPr>
              <a:buNone/>
            </a:pPr>
            <a:r>
              <a:rPr lang="en-US" sz="1100"/>
              <a:t>ASK (T1/3/5): Where does “Tape diagram”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12 | VOCAB</a:t>
            </a:r>
          </a:p>
          <a:p xmlns:a="http://schemas.openxmlformats.org/drawingml/2006/main">
            <a:pPr>
              <a:buNone/>
            </a:pPr>
            <a:r>
              <a:rPr lang="en-US" sz="1100"/>
              <a:t>Focus on the existing task: Vocabulary 8 of 8 Double number line Two number lines lined up so…</a:t>
            </a:r>
          </a:p>
          <a:p xmlns:a="http://schemas.openxmlformats.org/drawingml/2006/main">
            <a:pPr>
              <a:buNone/>
            </a:pPr>
            <a:r>
              <a:rPr lang="en-US" sz="1100"/>
              <a:t>ASK (T1/3/5): Where does “Double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13 | CURIOUS</a:t>
            </a:r>
          </a:p>
          <a:p xmlns:a="http://schemas.openxmlformats.org/drawingml/2006/main">
            <a:pPr>
              <a:buNone/>
            </a:pPr>
            <a:r>
              <a:rPr lang="en-US" sz="1100"/>
              <a:t>Focus on the existing task: Be Curious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17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name the compared quantities in order; distinguish part-to-part and part-to-whole; scale both quantities together.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26 | REVEAL</a:t>
            </a:r>
          </a:p>
          <a:p xmlns:a="http://schemas.openxmlformats.org/drawingml/2006/main">
            <a:pPr>
              <a:buNone/>
            </a:pPr>
            <a:r>
              <a:rPr lang="en-US" sz="1100"/>
              <a:t>Focus on the existing task: What do you know about the cups of apple juice and total cups of fruit drink in one batch?</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27 | REVEAL</a:t>
            </a:r>
          </a:p>
          <a:p xmlns:a="http://schemas.openxmlformats.org/drawingml/2006/main">
            <a:pPr>
              <a:buNone/>
            </a:pPr>
            <a:r>
              <a:rPr lang="en-US" sz="1100"/>
              <a:t>Focus on the existing task: For 2 cups of apple juice used, 10 cups of fruit drink are made. How might you represent this relationship?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28 | REVEAL</a:t>
            </a:r>
          </a:p>
          <a:p xmlns:a="http://schemas.openxmlformats.org/drawingml/2006/main">
            <a:pPr>
              <a:buNone/>
            </a:pPr>
            <a:r>
              <a:rPr lang="en-US" sz="1100"/>
              <a:t>Focus on the existing task: For 2 cups of apple juice used, 10 cups of fruit drink are made. How are the two liquids related?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29 | REVEAL</a:t>
            </a:r>
          </a:p>
          <a:p xmlns:a="http://schemas.openxmlformats.org/drawingml/2006/main">
            <a:pPr>
              <a:buNone/>
            </a:pPr>
            <a:r>
              <a:rPr lang="en-US" sz="1100"/>
              <a:t>Focus on the existing task: Next, let’s look at the relationship between the apple juice and the sparkling water. How can you describe the relationship?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scale both quantities together.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34 | CURIOUS</a:t>
            </a:r>
          </a:p>
          <a:p xmlns:a="http://schemas.openxmlformats.org/drawingml/2006/main">
            <a:pPr>
              <a:buNone/>
            </a:pPr>
            <a:r>
              <a:rPr lang="en-US" sz="1100"/>
              <a:t>Focus on the existing task: Be Curious How are they the same?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40 | PRIOR_INSERT</a:t>
            </a:r>
          </a:p>
          <a:p xmlns:a="http://schemas.openxmlformats.org/drawingml/2006/main">
            <a:pPr>
              <a:buNone/>
            </a:pPr>
            <a:r>
              <a:rPr lang="en-US" sz="1100"/>
              <a:t>Focus on the existing task: LESSON 3.1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name the compared quantities in order; distinguish part-to-part and part-to-whole; scale both quantities together.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4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44 | REVEAL</a:t>
            </a:r>
          </a:p>
          <a:p xmlns:a="http://schemas.openxmlformats.org/drawingml/2006/main">
            <a:pPr>
              <a:buNone/>
            </a:pPr>
            <a:r>
              <a:rPr lang="en-US" sz="1100"/>
              <a:t>Focus on the existing task: Both vinegar and olive oil are parts of the recipe. The relationship is a part-to-part ratio. What is one way to represent the relationship?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45 | REVEAL</a:t>
            </a:r>
          </a:p>
          <a:p xmlns:a="http://schemas.openxmlformats.org/drawingml/2006/main">
            <a:pPr>
              <a:buNone/>
            </a:pPr>
            <a:r>
              <a:rPr lang="en-US" sz="1100"/>
              <a:t>Focus on the existing task: The tape diagram shows a part-to-part relationship. How do the tablespoons of vinegar relate to the tablespoons of olive oil?</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46 | REVEAL</a:t>
            </a:r>
          </a:p>
          <a:p xmlns:a="http://schemas.openxmlformats.org/drawingml/2006/main">
            <a:pPr>
              <a:buNone/>
            </a:pPr>
            <a:r>
              <a:rPr lang="en-US" sz="1100"/>
              <a:t>Focus on the existing task: How can Tahira determine how much olive oil to use with 4 tablespoons of vinegar?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name the compared quantities in order.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5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3.1, slide 47 | REVEAL</a:t>
            </a:r>
          </a:p>
          <a:p xmlns:a="http://schemas.openxmlformats.org/drawingml/2006/main">
            <a:pPr>
              <a:buNone/>
            </a:pPr>
            <a:r>
              <a:rPr lang="en-US" sz="1100"/>
              <a:t>Focus on the existing task: What could be another way to represent the part-to-part relationship?</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part-to-part and part-to-whole. Ask which feature of their work supports the claim.</a:t>
            </a:r>
          </a:p>
          <a:p xmlns:a="http://schemas.openxmlformats.org/drawingml/2006/main">
            <a:pPr>
              <a:buNone/>
            </a:pPr>
            <a:r>
              <a:rPr lang="en-US" sz="1100"/>
              <a:t>RESPOND: If this task shows the lesson misconception—reversing the ratio or confusing a part with the total—label the two quantities on the existing tape diagram or double number line.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hoto">
    <p:spTree>
      <p:nvGrpSpPr>
        <p:cNvPr id="1" name=""/>
        <p:cNvGrpSpPr/>
        <p:nvPr/>
      </p:nvGrpSpPr>
      <p:grpSpPr>
        <a:xfrm>
          <a:off x="0" y="0"/>
          <a:ext cx="0" cy="0"/>
          <a:chOff x="0" y="0"/>
          <a:chExt cx="0" cy="0"/>
        </a:xfrm>
      </p:grpSpPr>
    </p:spTree>
    <p:extLst>
      <p:ext uri="{BB962C8B-B14F-4D97-AF65-F5344CB8AC3E}">
        <p14:creationId xmlns:p14="http://schemas.microsoft.com/office/powerpoint/2010/main" val="450837024"/>
      </p:ext>
    </p:extLst>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1-column">
    <p:spTree>
      <p:nvGrpSpPr>
        <p:cNvPr id="1" name=""/>
        <p:cNvGrpSpPr/>
        <p:nvPr/>
      </p:nvGrpSpPr>
      <p:grpSpPr>
        <a:xfrm>
          <a:off x="0" y="0"/>
          <a:ext cx="0" cy="0"/>
          <a:chOff x="0" y="0"/>
          <a:chExt cx="0" cy="0"/>
        </a:xfrm>
      </p:grpSpPr>
      <p:sp>
        <p:nvSpPr>
          <p:cNvPr id="10" name="Slide Number Placeholder 5"/>
          <p:cNvSpPr>
            <a:spLocks noGrp="1"/>
          </p:cNvSpPr>
          <p:nvPr>
            <p:ph type="sldNum" sz="quarter" idx="4"/>
          </p:nvPr>
        </p:nvSpPr>
        <p:spPr>
          <a:xfrm>
            <a:off x="10436045" y="6528815"/>
            <a:ext cx="1278151" cy="228600"/>
          </a:xfrm>
          <a:prstGeom prst="rect">
            <a:avLst/>
          </a:prstGeom>
        </p:spPr>
        <p:txBody>
          <a:bodyPr vert="horz" lIns="91440" tIns="45720" rIns="91440" bIns="45720" rtlCol="0" anchor="ctr"/>
          <a:lstStyle>
            <a:lvl1pPr algn="r">
              <a:defRPr sz="900">
                <a:solidFill>
                  <a:schemeClr val="tx2"/>
                </a:solidFill>
              </a:defRPr>
            </a:lvl1pPr>
          </a:lstStyle>
          <a:p>
            <a:fld id="{40BFEAB2-FD83-41F2-9787-AD5D1A1760CD}" type="slidenum">
              <a:rPr lang="en-US" smtClean="0"/>
              <a:pPr/>
              <a:t>‹#›</a:t>
            </a:fld>
            <a:endParaRPr lang="en-US"/>
          </a:p>
        </p:txBody>
      </p:sp>
      <p:sp>
        <p:nvSpPr>
          <p:cNvPr id="7" name="Footer Placeholder 9">
            <a:extLst>
              <a:ext uri="{FF2B5EF4-FFF2-40B4-BE49-F238E27FC236}">
                <a16:creationId xmlns:a16="http://schemas.microsoft.com/office/drawing/2014/main" id="{A6B10B21-A22D-4973-9F22-3C85C87DD1D6}"/>
              </a:ext>
            </a:extLst>
          </p:cNvPr>
          <p:cNvSpPr txBox="1">
            <a:spLocks/>
          </p:cNvSpPr>
          <p:nvPr userDrawn="1"/>
        </p:nvSpPr>
        <p:spPr>
          <a:xfrm>
            <a:off x="490549" y="6528816"/>
            <a:ext cx="2072640" cy="22860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8" name="Footer Placeholder 4">
            <a:extLst>
              <a:ext uri="{FF2B5EF4-FFF2-40B4-BE49-F238E27FC236}">
                <a16:creationId xmlns:a16="http://schemas.microsoft.com/office/drawing/2014/main" id="{A64EDF15-04D6-4FE5-B900-301ADC58C14E}"/>
              </a:ext>
            </a:extLst>
          </p:cNvPr>
          <p:cNvSpPr>
            <a:spLocks noGrp="1"/>
          </p:cNvSpPr>
          <p:nvPr>
            <p:ph type="ftr" sz="quarter" idx="3"/>
          </p:nvPr>
        </p:nvSpPr>
        <p:spPr>
          <a:xfrm>
            <a:off x="1402828" y="6528816"/>
            <a:ext cx="7315200" cy="228600"/>
          </a:xfrm>
          <a:prstGeom prst="rect">
            <a:avLst/>
          </a:prstGeom>
        </p:spPr>
        <p:txBody>
          <a:bodyPr vert="horz" lIns="91440" tIns="45720" rIns="91440" bIns="45720" rtlCol="0" anchor="ctr"/>
          <a:lstStyle>
            <a:lvl1pPr algn="l">
              <a:defRPr sz="900">
                <a:solidFill>
                  <a:schemeClr val="tx2"/>
                </a:solidFill>
              </a:defRPr>
            </a:lvl1pPr>
          </a:lstStyle>
          <a:p>
            <a:r>
              <a:rPr lang="en-US"/>
              <a:t>Update Footer Text in Insert Tab's Header &amp; Footer [Title Case]</a:t>
            </a:r>
          </a:p>
        </p:txBody>
      </p:sp>
    </p:spTree>
    <p:extLst>
      <p:ext uri="{BB962C8B-B14F-4D97-AF65-F5344CB8AC3E}">
        <p14:creationId xmlns:p14="http://schemas.microsoft.com/office/powerpoint/2010/main" val="3464801227"/>
      </p:ext>
    </p:extLst>
  </p:cSld>
  <p:clrMapOvr>
    <a:masterClrMapping/>
  </p:clrMapOvr>
  <p:extLst>
    <p:ext uri="{DCECCB84-F9BA-43D5-87BE-67443E8EF086}">
      <p15:sldGuideLst xmlns:p15="http://schemas.microsoft.com/office/powerpoint/2012/main">
        <p15:guide id="1" orient="horz" pos="3772" userDrawn="1">
          <p15:clr>
            <a:srgbClr val="FBAE40"/>
          </p15:clr>
        </p15:guide>
        <p15:guide id="2" orient="horz" pos="804" userDrawn="1">
          <p15:clr>
            <a:srgbClr val="FBAE40"/>
          </p15:clr>
        </p15:guide>
        <p15:guide id="3" pos="384" userDrawn="1">
          <p15:clr>
            <a:srgbClr val="FBAE40"/>
          </p15:clr>
        </p15:guide>
        <p15:guide id="4" pos="3940" userDrawn="1">
          <p15:clr>
            <a:srgbClr val="FBAE40"/>
          </p15:clr>
        </p15:guide>
        <p15:guide id="5" pos="40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5272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54597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64206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796359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29116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60170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0557084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5708808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050713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0761495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326893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559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7606141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7172800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124200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5316421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924256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769715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6023632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1682362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2940521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84812403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74678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D769D-F592-2049-8CD9-3C1B32B2A753}"/>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9CB6B09-56C4-7846-91C7-D59B315A4E00}"/>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2FD7E8-7200-C949-BB13-E118073F91F2}"/>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E7D72EFC-4EE7-4144-B95B-17CEC442478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AEEA334-DEDB-FD4F-A53E-79E012CF9F82}"/>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05348116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AE61B1-1B3F-1D4F-BAF9-3AED686D0418}"/>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B68BD20-3EDF-1145-A857-0A2532D8EDA9}"/>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A4FF297-A420-0E4D-8F5A-96354E7D482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91CD8232-4862-E442-8744-1E53D518846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35946B13-3CFA-694F-883B-C9278D1A9D8F}"/>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487404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9FD96-1F21-9341-9470-D1F6FFBAA89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F9F910CA-4AF6-1749-AB0F-67BB34724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05B918-DC9E-A948-A567-F7C72364A93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B5F046-E5F8-414F-838B-1E32E10C416A}"/>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3162DBDD-179C-CF42-B4CE-C2805343451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D6D4D96-8DBD-5C46-B28F-FAA0903CB81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118896315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13F92-104A-9347-A779-BB46FF26A8C1}"/>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5CA4409B-23B4-E649-87C8-C7FF6C11B00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D428990-9B24-CB41-BA6A-B87D8AC4D568}"/>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1013B01-5E24-C14E-82B9-9575D70E4BE5}"/>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60F52B-161F-6A4C-B060-C83953959F0E}"/>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685CE9F-AA0C-AA41-BF7B-1F905189C3C0}"/>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8" name="Footer Placeholder 7">
            <a:extLst>
              <a:ext uri="{FF2B5EF4-FFF2-40B4-BE49-F238E27FC236}">
                <a16:creationId xmlns:a16="http://schemas.microsoft.com/office/drawing/2014/main" id="{5299CB08-02C8-4040-8A99-81393E307AC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C624D65-BBE1-0840-9374-4BB6B564FBE1}"/>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7758557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58484-B3AD-9047-9FEB-02810EBA723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1AD3965A-F46D-5147-9CCD-8A3B9831D3AF}"/>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4" name="Footer Placeholder 3">
            <a:extLst>
              <a:ext uri="{FF2B5EF4-FFF2-40B4-BE49-F238E27FC236}">
                <a16:creationId xmlns:a16="http://schemas.microsoft.com/office/drawing/2014/main" id="{FEDCDC3B-B0F5-B546-B615-443CF233118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B81633E-DE52-574B-9D1C-CB1522C6D444}"/>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00062204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FADF3D-2733-D541-A6F0-113535947F5D}"/>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3" name="Footer Placeholder 2">
            <a:extLst>
              <a:ext uri="{FF2B5EF4-FFF2-40B4-BE49-F238E27FC236}">
                <a16:creationId xmlns:a16="http://schemas.microsoft.com/office/drawing/2014/main" id="{2CA48EED-1BCE-484A-A04B-59E5A1FDC77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95642D01-D152-E14E-A6FF-C30AC8D49D1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36450677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57BB66-84CB-9947-976C-4F6A66C1906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716C2F-957B-8B41-B2E1-5905C4080AA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C2202C1-BE7A-BA4C-AB5F-712D63C088B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4F9417E-77FB-3C40-95FC-B74C241D71BC}"/>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A586D0B9-B2F1-B846-8D9E-ABA1961B474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AC2AE01-31A0-F849-9F7C-F176989D72BD}"/>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5229591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B7998-1F1A-3C40-969A-21C392F7A8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40331-6224-DA4B-80D7-D45D0B7917B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C3228D2-3869-9A45-912D-C9DC1FABB9B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EE8450-A06C-FD4F-A28C-49ECD9FB83B8}"/>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6" name="Footer Placeholder 5">
            <a:extLst>
              <a:ext uri="{FF2B5EF4-FFF2-40B4-BE49-F238E27FC236}">
                <a16:creationId xmlns:a16="http://schemas.microsoft.com/office/drawing/2014/main" id="{537347B8-BC56-AF4A-85A3-E7CA9A68829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DE3DFB10-112C-B643-935B-970B5CC9BE7B}"/>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24628003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6E914-F3CA-0945-B2AA-8C7AF720EE0B}"/>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A399F88-00FF-D140-A8A6-3C6772925C65}"/>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11986D-1C20-914A-AD35-5B63CFE0F42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CE9244C6-D626-EC42-9DAA-C77B5F7D1EC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F417302-F1F7-0044-8A67-38CA545F63BA}"/>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9347834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EE9C3F-1005-CB4E-B0F6-D1C0C457C647}"/>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30AEDC-2F40-0C44-AA13-1D0849FFD471}"/>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D8080A-0DE6-534B-9F0D-0F62A2792B76}"/>
              </a:ext>
            </a:extLst>
          </p:cNvPr>
          <p:cNvSpPr>
            <a:spLocks noGrp="1"/>
          </p:cNvSpPr>
          <p:nvPr>
            <p:ph type="dt" sz="half" idx="10"/>
          </p:nvPr>
        </p:nvSpPr>
        <p:spPr>
          <a:xfrm>
            <a:off x="838200" y="6356350"/>
            <a:ext cx="2743200" cy="365125"/>
          </a:xfrm>
          <a:prstGeom prst="rect">
            <a:avLst/>
          </a:prstGeom>
        </p:spPr>
        <p:txBody>
          <a:bodyPr/>
          <a:lstStyle/>
          <a:p>
            <a:fld id="{2835F4E8-8D92-1548-8469-0F10B9A1A48B}" type="datetimeFigureOut">
              <a:rPr lang="en-US" smtClean="0"/>
              <a:t>9/14/26</a:t>
            </a:fld>
            <a:endParaRPr lang="en-US"/>
          </a:p>
        </p:txBody>
      </p:sp>
      <p:sp>
        <p:nvSpPr>
          <p:cNvPr id="5" name="Footer Placeholder 4">
            <a:extLst>
              <a:ext uri="{FF2B5EF4-FFF2-40B4-BE49-F238E27FC236}">
                <a16:creationId xmlns:a16="http://schemas.microsoft.com/office/drawing/2014/main" id="{A659B2E0-1405-3149-B511-4F6C6FBFE11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88DFEAF-7F52-6542-9AF3-CC6A75613958}"/>
              </a:ext>
            </a:extLst>
          </p:cNvPr>
          <p:cNvSpPr>
            <a:spLocks noGrp="1"/>
          </p:cNvSpPr>
          <p:nvPr>
            <p:ph type="sldNum" sz="quarter" idx="12"/>
          </p:nvPr>
        </p:nvSpPr>
        <p:spPr>
          <a:xfrm>
            <a:off x="8610600" y="6356350"/>
            <a:ext cx="2743200" cy="365125"/>
          </a:xfrm>
          <a:prstGeom prst="rect">
            <a:avLst/>
          </a:prstGeom>
        </p:spPr>
        <p:txBody>
          <a:bodyPr/>
          <a:lstStyle/>
          <a:p>
            <a:fld id="{749693F2-B945-B544-A368-496FF6C9BE4A}" type="slidenum">
              <a:rPr lang="en-US" smtClean="0"/>
              <a:t>‹#›</a:t>
            </a:fld>
            <a:endParaRPr lang="en-US"/>
          </a:p>
        </p:txBody>
      </p:sp>
    </p:spTree>
    <p:extLst>
      <p:ext uri="{BB962C8B-B14F-4D97-AF65-F5344CB8AC3E}">
        <p14:creationId xmlns:p14="http://schemas.microsoft.com/office/powerpoint/2010/main" val="7965004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theme" Target="../theme/theme2.xml"/><Relationship Id="rId13"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 Id="rId9" Type="http://schemas.openxmlformats.org/officeDocument/2006/relationships/slideLayout" Target="../slideLayouts/slideLayout22.xml"/><Relationship Id="rId10" Type="http://schemas.openxmlformats.org/officeDocument/2006/relationships/slideLayout" Target="../slideLayouts/slideLayout23.xml"/><Relationship Id="rId11" Type="http://schemas.openxmlformats.org/officeDocument/2006/relationships/slideLayout" Target="../slideLayouts/slideLayout24.xml"/><Relationship Id="rId12" Type="http://schemas.openxmlformats.org/officeDocument/2006/relationships/theme" Target="../theme/theme3.xml"/><Relationship Id="rId13"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theme" Target="../theme/theme4.xml"/><Relationship Id="rId1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ECC7E3B-3826-A747-907B-434CD0AB1B6D}"/>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2141884" y="0"/>
            <a:ext cx="10030237" cy="1640714"/>
          </a:xfrm>
          <a:prstGeom prst="rect">
            <a:avLst/>
          </a:prstGeom>
        </p:spPr>
      </p:pic>
      <p:sp>
        <p:nvSpPr>
          <p:cNvPr id="9" name="Footer Placeholder 4">
            <a:extLst>
              <a:ext uri="{FF2B5EF4-FFF2-40B4-BE49-F238E27FC236}">
                <a16:creationId xmlns:a16="http://schemas.microsoft.com/office/drawing/2014/main" id="{7B87EEFC-3D04-9C41-873A-79E3F696160C}"/>
              </a:ext>
            </a:extLst>
          </p:cNvPr>
          <p:cNvSpPr txBox="1">
            <a:spLocks/>
          </p:cNvSpPr>
          <p:nvPr userDrawn="1"/>
        </p:nvSpPr>
        <p:spPr>
          <a:xfrm>
            <a:off x="1402828" y="6528816"/>
            <a:ext cx="6270960" cy="228600"/>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 McGraw Hill</a:t>
            </a:r>
          </a:p>
        </p:txBody>
      </p:sp>
      <p:pic>
        <p:nvPicPr>
          <p:cNvPr id="12" name="Picture 11">
            <a:extLst>
              <a:ext uri="{FF2B5EF4-FFF2-40B4-BE49-F238E27FC236}">
                <a16:creationId xmlns:a16="http://schemas.microsoft.com/office/drawing/2014/main" id="{0A3C2FB6-2066-4943-A3E2-2DA7B26280D4}"/>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1492908" y="5619163"/>
            <a:ext cx="654674" cy="654674"/>
          </a:xfrm>
          <a:prstGeom prst="rect">
            <a:avLst/>
          </a:prstGeom>
        </p:spPr>
      </p:pic>
      <p:cxnSp>
        <p:nvCxnSpPr>
          <p:cNvPr id="13" name="Straight Connector 12">
            <a:extLst>
              <a:ext uri="{FF2B5EF4-FFF2-40B4-BE49-F238E27FC236}">
                <a16:creationId xmlns:a16="http://schemas.microsoft.com/office/drawing/2014/main" id="{8E3B969C-3783-264E-8850-A53199584177}"/>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Footer Placeholder 4">
            <a:extLst>
              <a:ext uri="{FF2B5EF4-FFF2-40B4-BE49-F238E27FC236}">
                <a16:creationId xmlns:a16="http://schemas.microsoft.com/office/drawing/2014/main" id="{0C52BA41-91DC-FA49-8FBB-46C6C1B93FAD}"/>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spTree>
    <p:extLst>
      <p:ext uri="{BB962C8B-B14F-4D97-AF65-F5344CB8AC3E}">
        <p14:creationId xmlns:p14="http://schemas.microsoft.com/office/powerpoint/2010/main" val="1502882778"/>
      </p:ext>
    </p:extLst>
  </p:cSld>
  <p:clrMap bg1="lt1" tx1="dk1" bg2="lt2" tx2="dk2" accent1="accent1" accent2="accent2" accent3="accent3" accent4="accent4" accent5="accent5" accent6="accent6" hlink="hlink" folHlink="folHlink"/>
  <p:sldLayoutIdLst>
    <p:sldLayoutId id="2147483680" r:id="rId1"/>
    <p:sldLayoutId id="2147483665"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5" pos="3840">
          <p15:clr>
            <a:srgbClr val="F26B43"/>
          </p15:clr>
        </p15:guide>
        <p15:guide id="6" pos="384">
          <p15:clr>
            <a:srgbClr val="F26B43"/>
          </p15:clr>
        </p15:guide>
        <p15:guide id="7" pos="7296">
          <p15:clr>
            <a:srgbClr val="F26B43"/>
          </p15:clr>
        </p15:guide>
        <p15:guide id="9" orient="horz" pos="4211">
          <p15:clr>
            <a:srgbClr val="F26B43"/>
          </p15:clr>
        </p15:guide>
        <p15:guide id="10" pos="1120">
          <p15:clr>
            <a:srgbClr val="F26B43"/>
          </p15:clr>
        </p15:guide>
        <p15:guide id="11"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
        <p:nvSpPr>
          <p:cNvPr id="12" name="Footer Placeholder 9">
            <a:extLst>
              <a:ext uri="{FF2B5EF4-FFF2-40B4-BE49-F238E27FC236}">
                <a16:creationId xmlns:a16="http://schemas.microsoft.com/office/drawing/2014/main" id="{0FFCF478-E46E-474C-A6F6-E53E48F9103D}"/>
              </a:ext>
            </a:extLst>
          </p:cNvPr>
          <p:cNvSpPr txBox="1">
            <a:spLocks/>
          </p:cNvSpPr>
          <p:nvPr userDrawn="1"/>
        </p:nvSpPr>
        <p:spPr>
          <a:xfrm>
            <a:off x="1401178" y="6548751"/>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dirty="0">
                <a:solidFill>
                  <a:schemeClr val="tx2"/>
                </a:solidFill>
                <a:latin typeface="Arial" panose="020B0604020202020204" pitchFamily="34" charset="0"/>
                <a:cs typeface="Arial" panose="020B0604020202020204" pitchFamily="34" charset="0"/>
              </a:rPr>
              <a:t>Understand Ratios</a:t>
            </a:r>
          </a:p>
        </p:txBody>
      </p:sp>
    </p:spTree>
    <p:extLst>
      <p:ext uri="{BB962C8B-B14F-4D97-AF65-F5344CB8AC3E}">
        <p14:creationId xmlns:p14="http://schemas.microsoft.com/office/powerpoint/2010/main" val="1795604345"/>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9" name="Footer Placeholder 9">
            <a:extLst>
              <a:ext uri="{FF2B5EF4-FFF2-40B4-BE49-F238E27FC236}">
                <a16:creationId xmlns:a16="http://schemas.microsoft.com/office/drawing/2014/main" id="{0FFCF478-E46E-474C-A6F6-E53E48F9103D}"/>
              </a:ext>
            </a:extLst>
          </p:cNvPr>
          <p:cNvSpPr txBox="1">
            <a:spLocks/>
          </p:cNvSpPr>
          <p:nvPr userDrawn="1"/>
        </p:nvSpPr>
        <p:spPr>
          <a:xfrm>
            <a:off x="1401178" y="6548751"/>
            <a:ext cx="4694822" cy="324681"/>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0" dirty="0">
                <a:solidFill>
                  <a:schemeClr val="tx2"/>
                </a:solidFill>
                <a:latin typeface="Arial" panose="020B0604020202020204" pitchFamily="34" charset="0"/>
                <a:cs typeface="Arial" panose="020B0604020202020204" pitchFamily="34" charset="0"/>
              </a:rPr>
              <a:t>Understand Ratios</a:t>
            </a: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2556504911"/>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7223C3C7-1489-9C41-8C28-D9B5002D9755}"/>
              </a:ext>
            </a:extLst>
          </p:cNvPr>
          <p:cNvCxnSpPr/>
          <p:nvPr userDrawn="1"/>
        </p:nvCxnSpPr>
        <p:spPr>
          <a:xfrm>
            <a:off x="0" y="6432698"/>
            <a:ext cx="12192000" cy="0"/>
          </a:xfrm>
          <a:prstGeom prst="line">
            <a:avLst/>
          </a:prstGeom>
          <a:ln w="222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Footer Placeholder 9">
            <a:extLst>
              <a:ext uri="{FF2B5EF4-FFF2-40B4-BE49-F238E27FC236}">
                <a16:creationId xmlns:a16="http://schemas.microsoft.com/office/drawing/2014/main" id="{31BA0F39-6F16-BD45-B2F6-8E8E0FCE6D22}"/>
              </a:ext>
            </a:extLst>
          </p:cNvPr>
          <p:cNvSpPr txBox="1">
            <a:spLocks/>
          </p:cNvSpPr>
          <p:nvPr userDrawn="1"/>
        </p:nvSpPr>
        <p:spPr>
          <a:xfrm>
            <a:off x="490549" y="6528815"/>
            <a:ext cx="1036320" cy="32466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900" b="1">
                <a:solidFill>
                  <a:schemeClr val="tx2"/>
                </a:solidFill>
                <a:latin typeface="Arial" panose="020B0604020202020204" pitchFamily="34" charset="0"/>
                <a:cs typeface="Arial" panose="020B0604020202020204" pitchFamily="34" charset="0"/>
              </a:rPr>
              <a:t>McGraw Hill   </a:t>
            </a:r>
            <a:r>
              <a:rPr lang="en-US" sz="900" b="1" spc="0" baseline="0">
                <a:solidFill>
                  <a:schemeClr val="tx2"/>
                </a:solidFill>
                <a:latin typeface="Arial" panose="020B0604020202020204" pitchFamily="34" charset="0"/>
                <a:cs typeface="Arial" panose="020B0604020202020204" pitchFamily="34" charset="0"/>
              </a:rPr>
              <a:t>|</a:t>
            </a:r>
            <a:endParaRPr lang="en-US" sz="900">
              <a:solidFill>
                <a:schemeClr val="tx2"/>
              </a:solidFill>
              <a:latin typeface="Arial" panose="020B0604020202020204" pitchFamily="34" charset="0"/>
              <a:cs typeface="Arial" panose="020B0604020202020204" pitchFamily="34" charset="0"/>
            </a:endParaRPr>
          </a:p>
        </p:txBody>
      </p:sp>
      <p:sp>
        <p:nvSpPr>
          <p:cNvPr id="10" name="Footer Placeholder 4">
            <a:extLst>
              <a:ext uri="{FF2B5EF4-FFF2-40B4-BE49-F238E27FC236}">
                <a16:creationId xmlns:a16="http://schemas.microsoft.com/office/drawing/2014/main" id="{65D709DB-80CD-BD4D-958F-080EA8C05428}"/>
              </a:ext>
            </a:extLst>
          </p:cNvPr>
          <p:cNvSpPr txBox="1">
            <a:spLocks/>
          </p:cNvSpPr>
          <p:nvPr userDrawn="1"/>
        </p:nvSpPr>
        <p:spPr>
          <a:xfrm>
            <a:off x="9064487" y="6399634"/>
            <a:ext cx="3107634" cy="478243"/>
          </a:xfrm>
          <a:prstGeom prst="rect">
            <a:avLst/>
          </a:prstGeom>
        </p:spPr>
        <p:txBody>
          <a:bodyPr vert="horz" lIns="91440" tIns="45720" rIns="91440" bIns="45720" rtlCol="0" anchor="ctr"/>
          <a:lstStyle>
            <a:defPPr>
              <a:defRPr lang="en-US"/>
            </a:defPPr>
            <a:lvl1pPr marL="0" algn="l" defTabSz="914400" rtl="0" eaLnBrk="1" latinLnBrk="0" hangingPunct="1">
              <a:defRPr sz="9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800">
                <a:solidFill>
                  <a:schemeClr val="tx1">
                    <a:lumMod val="75000"/>
                    <a:lumOff val="25000"/>
                  </a:schemeClr>
                </a:solidFill>
                <a:latin typeface="Arial" panose="020B0604020202020204" pitchFamily="34" charset="0"/>
                <a:cs typeface="Arial" panose="020B0604020202020204" pitchFamily="34" charset="0"/>
              </a:rPr>
              <a:t>This material may be reproduced for licensed classroom use only and may not be further reproduced or distributed.</a:t>
            </a:r>
          </a:p>
        </p:txBody>
      </p:sp>
      <p:pic>
        <p:nvPicPr>
          <p:cNvPr id="11" name="Picture 10">
            <a:extLst>
              <a:ext uri="{FF2B5EF4-FFF2-40B4-BE49-F238E27FC236}">
                <a16:creationId xmlns:a16="http://schemas.microsoft.com/office/drawing/2014/main" id="{DB6EED09-8B61-F64F-907D-F4B749DB901C}"/>
              </a:ext>
            </a:extLst>
          </p:cNvPr>
          <p:cNvPicPr>
            <a:picLocks noChangeAspect="1"/>
          </p:cNvPicPr>
          <p:nvPr userDrawn="1"/>
        </p:nvPicPr>
        <p:blipFill>
          <a:blip r:embed="rId13" cstate="print">
            <a:extLst>
              <a:ext uri="{28A0092B-C50C-407E-A947-70E740481C1C}">
                <a14:useLocalDpi xmlns:a14="http://schemas.microsoft.com/office/drawing/2010/main" val="0"/>
              </a:ext>
            </a:extLst>
          </a:blip>
          <a:srcRect/>
          <a:stretch/>
        </p:blipFill>
        <p:spPr>
          <a:xfrm>
            <a:off x="4896996" y="0"/>
            <a:ext cx="7295004" cy="1193294"/>
          </a:xfrm>
          <a:prstGeom prst="rect">
            <a:avLst/>
          </a:prstGeom>
        </p:spPr>
      </p:pic>
    </p:spTree>
    <p:extLst>
      <p:ext uri="{BB962C8B-B14F-4D97-AF65-F5344CB8AC3E}">
        <p14:creationId xmlns:p14="http://schemas.microsoft.com/office/powerpoint/2010/main" val="4061719450"/>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3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notesSlide" Target="../notesSlides/notesSlide3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png"/><Relationship Id="rId3" Type="http://schemas.openxmlformats.org/officeDocument/2006/relationships/notesSlide" Target="../notesSlides/notesSlide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png"/><Relationship Id="rId3" Type="http://schemas.openxmlformats.org/officeDocument/2006/relationships/notesSlide" Target="../notesSlides/notesSlide3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notesSlide" Target="../notesSlides/notesSlide3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png"/><Relationship Id="rId3" Type="http://schemas.openxmlformats.org/officeDocument/2006/relationships/notesSlide" Target="../notesSlides/notesSlide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7.jpg"/><Relationship Id="rId3" Type="http://schemas.openxmlformats.org/officeDocument/2006/relationships/image" Target="../media/image24.png"/><Relationship Id="rId4" Type="http://schemas.openxmlformats.org/officeDocument/2006/relationships/notesSlide" Target="../notesSlides/notesSlide4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3.jpe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 Id="rId3" Type="http://schemas.openxmlformats.org/officeDocument/2006/relationships/notesSlide" Target="../notesSlides/notesSlide4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 Id="rId3" Type="http://schemas.openxmlformats.org/officeDocument/2006/relationships/notesSlide" Target="../notesSlides/notesSlide4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6.png"/><Relationship Id="rId3" Type="http://schemas.openxmlformats.org/officeDocument/2006/relationships/notesSlide" Target="../notesSlides/notesSlide4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5.png"/><Relationship Id="rId3" Type="http://schemas.openxmlformats.org/officeDocument/2006/relationships/notesSlide" Target="../notesSlides/notesSlide4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1.png"/><Relationship Id="rId3" Type="http://schemas.openxmlformats.org/officeDocument/2006/relationships/image" Target="../media/image24.png"/><Relationship Id="rId4" Type="http://schemas.openxmlformats.org/officeDocument/2006/relationships/notesSlide" Target="../notesSlides/notesSlide4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 Id="rId3" Type="http://schemas.openxmlformats.org/officeDocument/2006/relationships/image" Target="../media/image11.png"/><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 Id="rId3" Type="http://schemas.openxmlformats.org/officeDocument/2006/relationships/image" Target="../media/image1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 Id="rId3" Type="http://schemas.openxmlformats.org/officeDocument/2006/relationships/image" Target="../media/image14.svg"/><Relationship Id="rId4" Type="http://schemas.openxmlformats.org/officeDocument/2006/relationships/image" Target="../media/image13.png"/><Relationship Id="rId5"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3.png"/><Relationship Id="rId3" Type="http://schemas.openxmlformats.org/officeDocument/2006/relationships/notesSlide" Target="../notesSlides/notesSlide4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png"/><Relationship Id="rId3" Type="http://schemas.openxmlformats.org/officeDocument/2006/relationships/notesSlide" Target="../notesSlides/notesSlide5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5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0.png"/><Relationship Id="rId3" Type="http://schemas.openxmlformats.org/officeDocument/2006/relationships/notesSlide" Target="../notesSlides/notesSlide5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18.png"/><Relationship Id="rId5" Type="http://schemas.openxmlformats.org/officeDocument/2006/relationships/image" Target="../media/image2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20" b="0">
                <a:solidFill>
                  <a:srgbClr val="5D6872"/>
                </a:solidFill>
                <a:latin typeface="Arial"/>
              </a:rPr>
              <a:t>Lesson 3-1 · Understand Ratios   |   Warm-Up · about 4 minutes</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3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6 × 4 = ______</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There are 3 dogs and 5 cats.</a:t>
            </a:r>
          </a:p>
          <a:p>
            <a:pPr algn="l"/>
            <a:r>
              <a:rPr sz="1800" b="1">
                <a:solidFill>
                  <a:srgbClr val="23282D"/>
                </a:solidFill>
                <a:latin typeface="Arial"/>
              </a:rPr>
              <a:t>How many animals in all?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Keep the pattern going:</a:t>
            </a:r>
          </a:p>
          <a:p>
            <a:pPr algn="l"/>
            <a:r>
              <a:rPr sz="1800" b="1">
                <a:solidFill>
                  <a:srgbClr val="23282D"/>
                </a:solidFill>
                <a:latin typeface="Arial"/>
              </a:rPr>
              <a:t>2, 4, 6, 8, ______,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3 of the 8 students wear glasses.</a:t>
            </a:r>
          </a:p>
          <a:p>
            <a:pPr algn="l"/>
            <a:r>
              <a:rPr sz="1800" b="1">
                <a:solidFill>
                  <a:srgbClr val="23282D"/>
                </a:solidFill>
                <a:latin typeface="Arial"/>
              </a:rPr>
              <a:t>Write that as a fraction: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 / 55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6400800" cy="502920"/>
          </a:xfrm>
          <a:prstGeom prst="rect">
            <a:avLst/>
          </a:prstGeom>
          <a:noFill/>
        </p:spPr>
        <p:txBody>
          <a:bodyPr wrap="square" lIns="0" tIns="0" rIns="0" bIns="0" anchor="t">
            <a:spAutoFit/>
          </a:bodyPr>
          <a:lstStyle/>
          <a:p>
            <a:pPr algn="l"/>
            <a:r>
              <a:rPr sz="2800" b="1">
                <a:solidFill>
                  <a:srgbClr val="782DA0"/>
                </a:solidFill>
                <a:latin typeface="Arial"/>
              </a:rPr>
              <a:t>Today’s Math Notes</a:t>
            </a:r>
          </a:p>
        </p:txBody>
      </p:sp>
      <p:sp>
        <p:nvSpPr>
          <p:cNvPr id="3" name="TextBox 2"/>
          <p:cNvSpPr txBox="1"/>
          <p:nvPr/>
        </p:nvSpPr>
        <p:spPr>
          <a:xfrm>
            <a:off x="521207" y="877824"/>
            <a:ext cx="7315200" cy="369332"/>
          </a:xfrm>
          <a:prstGeom prst="rect">
            <a:avLst/>
          </a:prstGeom>
          <a:noFill/>
        </p:spPr>
        <p:txBody>
          <a:bodyPr wrap="square" lIns="0" tIns="0" rIns="0" bIns="0" anchor="t">
            <a:spAutoFit/>
          </a:bodyPr>
          <a:lstStyle/>
          <a:p>
            <a:pPr algn="l"/>
            <a:r>
              <a:rPr sz="2400" b="0" dirty="0">
                <a:solidFill>
                  <a:srgbClr val="5D6872"/>
                </a:solidFill>
                <a:latin typeface="Arial"/>
              </a:rPr>
              <a:t>Lesson 3-1 · Understand </a:t>
            </a:r>
            <a:r>
              <a:rPr sz="2400" b="1" dirty="0">
                <a:latin typeface="Arial"/>
              </a:rPr>
              <a:t>Ratio</a:t>
            </a:r>
            <a:r>
              <a:rPr sz="2400" b="0" dirty="0">
                <a:solidFill>
                  <a:srgbClr val="5D6872"/>
                </a:solidFill>
                <a:latin typeface="Arial"/>
              </a:rPr>
              <a:t>s</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NOTES  ·  COPY LESS • UNDERSTAND MORE</a:t>
            </a:r>
          </a:p>
        </p:txBody>
      </p:sp>
      <p:sp>
        <p:nvSpPr>
          <p:cNvPr id="6" name="Rounded Rectangle 5"/>
          <p:cNvSpPr/>
          <p:nvPr/>
        </p:nvSpPr>
        <p:spPr>
          <a:xfrm>
            <a:off x="502920" y="1353312"/>
            <a:ext cx="6565392" cy="437083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437083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33488" y="1353312"/>
            <a:ext cx="4261104" cy="3273552"/>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33488" y="1353312"/>
            <a:ext cx="73152" cy="32735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33488" y="4828032"/>
            <a:ext cx="4261104" cy="89611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33488" y="4828032"/>
            <a:ext cx="73152" cy="89611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6035040"/>
            <a:ext cx="10835640" cy="320040"/>
          </a:xfrm>
          <a:prstGeom prst="rect">
            <a:avLst/>
          </a:prstGeom>
          <a:noFill/>
        </p:spPr>
        <p:txBody>
          <a:bodyPr wrap="square" lIns="0" tIns="0" rIns="0" bIns="0" anchor="t">
            <a:spAutoFit/>
          </a:bodyPr>
          <a:lstStyle/>
          <a:p>
            <a:pPr algn="ctr"/>
            <a:r>
              <a:rPr sz="1430" b="1">
                <a:solidFill>
                  <a:srgbClr val="1E2682"/>
                </a:solidFill>
                <a:latin typeface="Arial"/>
              </a:rPr>
              <a:t>Read the words in order → write the numbers in the same order.</a:t>
            </a:r>
          </a:p>
        </p:txBody>
      </p:sp>
      <p:sp>
        <p:nvSpPr>
          <p:cNvPr id="19" name="Rectangle 18"/>
          <p:cNvSpPr/>
          <p:nvPr/>
        </p:nvSpPr>
        <p:spPr>
          <a:xfrm>
            <a:off x="320040" y="1188720"/>
            <a:ext cx="11475720" cy="4892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1298448"/>
            <a:ext cx="11064240" cy="438912"/>
          </a:xfrm>
          <a:prstGeom prst="rect">
            <a:avLst/>
          </a:prstGeom>
          <a:noFill/>
        </p:spPr>
        <p:txBody>
          <a:bodyPr wrap="none" lIns="45720" rIns="45720" anchor="ctr">
            <a:spAutoFit/>
          </a:bodyPr>
          <a:lstStyle/>
          <a:p>
            <a:pPr algn="l"/>
            <a:r>
              <a:rPr sz="2500" b="1" dirty="0">
                <a:solidFill>
                  <a:srgbClr val="17365D"/>
                </a:solidFill>
                <a:latin typeface="Arial"/>
              </a:rPr>
              <a:t>Two Types of Ratios — ask what the SECOND quantity represents.</a:t>
            </a:r>
          </a:p>
        </p:txBody>
      </p:sp>
      <p:sp>
        <p:nvSpPr>
          <p:cNvPr id="21" name="Rounded Rectangle 20"/>
          <p:cNvSpPr/>
          <p:nvPr/>
        </p:nvSpPr>
        <p:spPr>
          <a:xfrm>
            <a:off x="502920" y="1874519"/>
            <a:ext cx="5440680" cy="3611880"/>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2920" y="1874519"/>
            <a:ext cx="5440680" cy="56692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1901952"/>
            <a:ext cx="5120640" cy="502920"/>
          </a:xfrm>
          <a:prstGeom prst="rect">
            <a:avLst/>
          </a:prstGeom>
          <a:noFill/>
        </p:spPr>
        <p:txBody>
          <a:bodyPr wrap="none" lIns="45720" rIns="45720" anchor="ctr">
            <a:spAutoFit/>
          </a:bodyPr>
          <a:lstStyle/>
          <a:p>
            <a:pPr algn="l"/>
            <a:r>
              <a:rPr sz="2400" b="1">
                <a:solidFill>
                  <a:srgbClr val="FFFFFF"/>
                </a:solidFill>
                <a:latin typeface="Arial"/>
              </a:rPr>
              <a:t>PART-TO-PART  =  part → part</a:t>
            </a:r>
          </a:p>
        </p:txBody>
      </p:sp>
      <p:sp>
        <p:nvSpPr>
          <p:cNvPr id="24" name="TextBox 23"/>
          <p:cNvSpPr txBox="1"/>
          <p:nvPr/>
        </p:nvSpPr>
        <p:spPr>
          <a:xfrm>
            <a:off x="731520" y="2587752"/>
            <a:ext cx="4800600" cy="530352"/>
          </a:xfrm>
          <a:prstGeom prst="rect">
            <a:avLst/>
          </a:prstGeom>
          <a:noFill/>
        </p:spPr>
        <p:txBody>
          <a:bodyPr wrap="none" lIns="45720" rIns="45720" anchor="ctr">
            <a:spAutoFit/>
          </a:bodyPr>
          <a:lstStyle/>
          <a:p>
            <a:pPr algn="l"/>
            <a:r>
              <a:rPr sz="2200" b="1">
                <a:solidFill>
                  <a:srgbClr val="17365D"/>
                </a:solidFill>
                <a:latin typeface="Arial"/>
              </a:rPr>
              <a:t>Compare one part to another part.</a:t>
            </a:r>
          </a:p>
        </p:txBody>
      </p:sp>
      <p:sp>
        <p:nvSpPr>
          <p:cNvPr id="25" name="TextBox 24"/>
          <p:cNvSpPr txBox="1"/>
          <p:nvPr/>
        </p:nvSpPr>
        <p:spPr>
          <a:xfrm>
            <a:off x="731520" y="3154680"/>
            <a:ext cx="4754880" cy="438912"/>
          </a:xfrm>
          <a:prstGeom prst="rect">
            <a:avLst/>
          </a:prstGeom>
          <a:noFill/>
        </p:spPr>
        <p:txBody>
          <a:bodyPr wrap="none" lIns="45720" rIns="45720" anchor="ctr">
            <a:spAutoFit/>
          </a:bodyPr>
          <a:lstStyle/>
          <a:p>
            <a:pPr algn="l"/>
            <a:r>
              <a:rPr sz="2000" b="0" dirty="0">
                <a:solidFill>
                  <a:srgbClr val="2D2D2D"/>
                </a:solidFill>
                <a:latin typeface="Arial"/>
              </a:rPr>
              <a:t>Example: 3 apples and 2 oranges</a:t>
            </a:r>
          </a:p>
        </p:txBody>
      </p:sp>
      <p:sp>
        <p:nvSpPr>
          <p:cNvPr id="26" name="TextBox 25"/>
          <p:cNvSpPr txBox="1"/>
          <p:nvPr/>
        </p:nvSpPr>
        <p:spPr>
          <a:xfrm>
            <a:off x="731520" y="3639312"/>
            <a:ext cx="4754880" cy="493776"/>
          </a:xfrm>
          <a:prstGeom prst="rect">
            <a:avLst/>
          </a:prstGeom>
          <a:noFill/>
        </p:spPr>
        <p:txBody>
          <a:bodyPr wrap="none" lIns="45720" rIns="45720" anchor="ctr">
            <a:spAutoFit/>
          </a:bodyPr>
          <a:lstStyle/>
          <a:p>
            <a:pPr algn="l"/>
            <a:r>
              <a:rPr sz="2400" b="1">
                <a:solidFill>
                  <a:srgbClr val="E67E22"/>
                </a:solidFill>
                <a:latin typeface="Arial"/>
              </a:rPr>
              <a:t>apples : oranges  =  3 : 2</a:t>
            </a:r>
          </a:p>
        </p:txBody>
      </p:sp>
      <p:sp>
        <p:nvSpPr>
          <p:cNvPr id="27" name="TextBox 26"/>
          <p:cNvSpPr txBox="1"/>
          <p:nvPr/>
        </p:nvSpPr>
        <p:spPr>
          <a:xfrm>
            <a:off x="731520" y="4224528"/>
            <a:ext cx="4754880" cy="758952"/>
          </a:xfrm>
          <a:prstGeom prst="rect">
            <a:avLst/>
          </a:prstGeom>
          <a:noFill/>
        </p:spPr>
        <p:txBody>
          <a:bodyPr wrap="none" lIns="45720" rIns="45720" anchor="ctr">
            <a:spAutoFit/>
          </a:bodyPr>
          <a:lstStyle/>
          <a:p>
            <a:pPr algn="l"/>
            <a:r>
              <a:rPr sz="1900" b="1">
                <a:solidFill>
                  <a:srgbClr val="2D2D2D"/>
                </a:solidFill>
                <a:latin typeface="Arial"/>
              </a:rPr>
              <a:t>CLUE: both quantities are pieces/parts.
Do NOT add them first.</a:t>
            </a:r>
          </a:p>
        </p:txBody>
      </p:sp>
      <p:sp>
        <p:nvSpPr>
          <p:cNvPr id="28" name="Rounded Rectangle 27"/>
          <p:cNvSpPr/>
          <p:nvPr/>
        </p:nvSpPr>
        <p:spPr>
          <a:xfrm>
            <a:off x="6236208" y="1874519"/>
            <a:ext cx="5440680" cy="3611880"/>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236208" y="1874519"/>
            <a:ext cx="5440680" cy="56692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91656" y="1901952"/>
            <a:ext cx="5120640" cy="502920"/>
          </a:xfrm>
          <a:prstGeom prst="rect">
            <a:avLst/>
          </a:prstGeom>
          <a:noFill/>
        </p:spPr>
        <p:txBody>
          <a:bodyPr wrap="none" lIns="45720" rIns="45720" anchor="ctr">
            <a:spAutoFit/>
          </a:bodyPr>
          <a:lstStyle/>
          <a:p>
            <a:pPr algn="l"/>
            <a:r>
              <a:rPr sz="2400" b="1">
                <a:solidFill>
                  <a:srgbClr val="FFFFFF"/>
                </a:solidFill>
                <a:latin typeface="Arial"/>
              </a:rPr>
              <a:t>PART-TO-WHOLE  =  part → total</a:t>
            </a:r>
          </a:p>
        </p:txBody>
      </p:sp>
      <p:sp>
        <p:nvSpPr>
          <p:cNvPr id="31" name="TextBox 30"/>
          <p:cNvSpPr txBox="1"/>
          <p:nvPr/>
        </p:nvSpPr>
        <p:spPr>
          <a:xfrm>
            <a:off x="6464808" y="2587752"/>
            <a:ext cx="4800600" cy="530352"/>
          </a:xfrm>
          <a:prstGeom prst="rect">
            <a:avLst/>
          </a:prstGeom>
          <a:noFill/>
        </p:spPr>
        <p:txBody>
          <a:bodyPr wrap="none" lIns="45720" rIns="45720" anchor="ctr">
            <a:spAutoFit/>
          </a:bodyPr>
          <a:lstStyle/>
          <a:p>
            <a:pPr algn="l"/>
            <a:r>
              <a:rPr sz="2200" b="1">
                <a:solidFill>
                  <a:srgbClr val="17365D"/>
                </a:solidFill>
                <a:latin typeface="Arial"/>
              </a:rPr>
              <a:t>Compare one part to the TOTAL.</a:t>
            </a:r>
          </a:p>
        </p:txBody>
      </p:sp>
      <p:sp>
        <p:nvSpPr>
          <p:cNvPr id="32" name="TextBox 31"/>
          <p:cNvSpPr txBox="1"/>
          <p:nvPr/>
        </p:nvSpPr>
        <p:spPr>
          <a:xfrm>
            <a:off x="6464808" y="3154680"/>
            <a:ext cx="4754880" cy="438912"/>
          </a:xfrm>
          <a:prstGeom prst="rect">
            <a:avLst/>
          </a:prstGeom>
          <a:noFill/>
        </p:spPr>
        <p:txBody>
          <a:bodyPr wrap="none" lIns="45720" rIns="45720" anchor="ctr">
            <a:spAutoFit/>
          </a:bodyPr>
          <a:lstStyle/>
          <a:p>
            <a:pPr algn="l"/>
            <a:r>
              <a:rPr sz="2000" b="0">
                <a:solidFill>
                  <a:srgbClr val="2D2D2D"/>
                </a:solidFill>
                <a:latin typeface="Arial"/>
              </a:rPr>
              <a:t>Same example: 3 apples + 2 oranges</a:t>
            </a:r>
          </a:p>
        </p:txBody>
      </p:sp>
      <p:sp>
        <p:nvSpPr>
          <p:cNvPr id="33" name="TextBox 32"/>
          <p:cNvSpPr txBox="1"/>
          <p:nvPr/>
        </p:nvSpPr>
        <p:spPr>
          <a:xfrm>
            <a:off x="6464808" y="3486091"/>
            <a:ext cx="4471737" cy="800219"/>
          </a:xfrm>
          <a:prstGeom prst="rect">
            <a:avLst/>
          </a:prstGeom>
          <a:noFill/>
        </p:spPr>
        <p:txBody>
          <a:bodyPr wrap="none" lIns="45720" rIns="45720" anchor="ctr">
            <a:spAutoFit/>
          </a:bodyPr>
          <a:lstStyle/>
          <a:p>
            <a:pPr algn="l"/>
            <a:r>
              <a:rPr sz="2300" b="1" dirty="0">
                <a:solidFill>
                  <a:srgbClr val="0F9D8A"/>
                </a:solidFill>
                <a:latin typeface="Arial"/>
              </a:rPr>
              <a:t>total = 5  </a:t>
            </a:r>
            <a:r>
              <a:rPr lang="en-US" sz="2300" b="1" dirty="0">
                <a:solidFill>
                  <a:srgbClr val="0F9D8A"/>
                </a:solidFill>
                <a:latin typeface="Arial"/>
              </a:rPr>
              <a:t>(3 apples + 2 oranges)</a:t>
            </a:r>
          </a:p>
          <a:p>
            <a:pPr algn="l"/>
            <a:r>
              <a:rPr sz="2300" b="1" dirty="0">
                <a:solidFill>
                  <a:srgbClr val="0F9D8A"/>
                </a:solidFill>
                <a:latin typeface="Arial"/>
              </a:rPr>
              <a:t>apples : total = 3 : 5</a:t>
            </a:r>
          </a:p>
        </p:txBody>
      </p:sp>
      <p:sp>
        <p:nvSpPr>
          <p:cNvPr id="34" name="TextBox 33"/>
          <p:cNvSpPr txBox="1"/>
          <p:nvPr/>
        </p:nvSpPr>
        <p:spPr>
          <a:xfrm>
            <a:off x="6464808" y="4224528"/>
            <a:ext cx="4754880" cy="758952"/>
          </a:xfrm>
          <a:prstGeom prst="rect">
            <a:avLst/>
          </a:prstGeom>
          <a:noFill/>
        </p:spPr>
        <p:txBody>
          <a:bodyPr wrap="none" lIns="45720" rIns="45720" anchor="ctr">
            <a:spAutoFit/>
          </a:bodyPr>
          <a:lstStyle/>
          <a:p>
            <a:pPr algn="l"/>
            <a:r>
              <a:rPr sz="1900" b="1">
                <a:solidFill>
                  <a:srgbClr val="2D2D2D"/>
                </a:solidFill>
                <a:latin typeface="Arial"/>
              </a:rPr>
              <a:t>CLUE: one quantity is the whole/total.
Find the total first.</a:t>
            </a:r>
          </a:p>
        </p:txBody>
      </p:sp>
      <p:sp>
        <p:nvSpPr>
          <p:cNvPr id="35" name="Rounded Rectangle 34"/>
          <p:cNvSpPr/>
          <p:nvPr/>
        </p:nvSpPr>
        <p:spPr>
          <a:xfrm>
            <a:off x="1097280" y="5532120"/>
            <a:ext cx="9966960" cy="475488"/>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225296" y="5541264"/>
            <a:ext cx="9692640" cy="438912"/>
          </a:xfrm>
          <a:prstGeom prst="rect">
            <a:avLst/>
          </a:prstGeom>
          <a:noFill/>
        </p:spPr>
        <p:txBody>
          <a:bodyPr wrap="none" lIns="45720" rIns="45720" anchor="ctr">
            <a:spAutoFit/>
          </a:bodyPr>
          <a:lstStyle/>
          <a:p>
            <a:pPr algn="ctr"/>
            <a:r>
              <a:rPr sz="1900" b="1">
                <a:solidFill>
                  <a:srgbClr val="17365D"/>
                </a:solidFill>
                <a:latin typeface="Arial"/>
              </a:rPr>
              <a:t>FAST CHECK: another PART → part-to-part   |   the TOTAL/WHOLE → part-to-whole</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 / 55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7B29969-56BF-6D41-A9E2-22306CDCAC18}"/>
              </a:ext>
            </a:extLst>
          </p:cNvPr>
          <p:cNvSpPr txBox="1">
            <a:spLocks/>
          </p:cNvSpPr>
          <p:nvPr/>
        </p:nvSpPr>
        <p:spPr>
          <a:xfrm>
            <a:off x="1402828" y="2453950"/>
            <a:ext cx="9144000" cy="2176463"/>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3600" b="1">
                <a:solidFill>
                  <a:schemeClr val="tx1"/>
                </a:solidFill>
              </a:rPr>
              <a:t>Understand </a:t>
            </a:r>
            <a:r>
              <a:rPr lang="en-US" sz="3600" b="1">
                <a:highlight>
                  <a:srgbClr val="FFF2CC"/>
                </a:highlight>
              </a:rPr>
              <a:t>Ratio</a:t>
            </a:r>
            <a:r>
              <a:rPr lang="en-US" sz="3600" b="1">
                <a:solidFill>
                  <a:schemeClr val="tx1"/>
                </a:solidFill>
              </a:rPr>
              <a:t>s​</a:t>
            </a:r>
          </a:p>
        </p:txBody>
      </p:sp>
      <p:sp>
        <p:nvSpPr>
          <p:cNvPr id="3" name="Rectangle 2">
            <a:extLst>
              <a:ext uri="{FF2B5EF4-FFF2-40B4-BE49-F238E27FC236}">
                <a16:creationId xmlns:a16="http://schemas.microsoft.com/office/drawing/2014/main" id="{D47C5C07-DC6A-A94F-98F8-AB4A0C53596F}"/>
              </a:ext>
            </a:extLst>
          </p:cNvPr>
          <p:cNvSpPr/>
          <p:nvPr/>
        </p:nvSpPr>
        <p:spPr>
          <a:xfrm>
            <a:off x="1402828" y="1037162"/>
            <a:ext cx="1763624" cy="523220"/>
          </a:xfrm>
          <a:prstGeom prst="rect">
            <a:avLst/>
          </a:prstGeom>
        </p:spPr>
        <p:txBody>
          <a:bodyPr wrap="none">
            <a:spAutoFit/>
          </a:bodyPr>
          <a:lstStyle/>
          <a:p>
            <a:pPr>
              <a:defRPr/>
            </a:pPr>
            <a:r>
              <a:rPr lang="en-US" sz="2800">
                <a:solidFill>
                  <a:srgbClr val="782DA0"/>
                </a:solidFill>
                <a:latin typeface="Arial" panose="020B0604020202020204" pitchFamily="34" charset="0"/>
                <a:cs typeface="Arial" panose="020B0604020202020204" pitchFamily="34" charset="0"/>
              </a:rPr>
              <a:t>Session 1</a:t>
            </a:r>
            <a:endParaRPr lang="en-US" sz="2800" b="1">
              <a:solidFill>
                <a:srgbClr val="782DA0"/>
              </a:solidFill>
            </a:endParaRPr>
          </a:p>
        </p:txBody>
      </p:sp>
      <p:cxnSp>
        <p:nvCxnSpPr>
          <p:cNvPr id="5" name="Straight Connector 4">
            <a:extLst>
              <a:ext uri="{FF2B5EF4-FFF2-40B4-BE49-F238E27FC236}">
                <a16:creationId xmlns:a16="http://schemas.microsoft.com/office/drawing/2014/main" id="{A2C235B8-3689-62C7-3E1A-7C82A61D30E4}"/>
              </a:ext>
            </a:extLst>
          </p:cNvPr>
          <p:cNvCxnSpPr>
            <a:cxnSpLocks/>
          </p:cNvCxnSpPr>
          <p:nvPr/>
        </p:nvCxnSpPr>
        <p:spPr>
          <a:xfrm>
            <a:off x="-1" y="1560382"/>
            <a:ext cx="3166453" cy="0"/>
          </a:xfrm>
          <a:prstGeom prst="line">
            <a:avLst/>
          </a:prstGeom>
          <a:ln>
            <a:solidFill>
              <a:srgbClr val="782DA0"/>
            </a:solidFill>
          </a:ln>
        </p:spPr>
        <p:style>
          <a:lnRef idx="3">
            <a:schemeClr val="accent4"/>
          </a:lnRef>
          <a:fillRef idx="0">
            <a:schemeClr val="accent4"/>
          </a:fillRef>
          <a:effectRef idx="2">
            <a:schemeClr val="accent4"/>
          </a:effectRef>
          <a:fontRef idx="minor">
            <a:schemeClr val="tx1"/>
          </a:fontRef>
        </p:style>
      </p:cxnSp>
      <p:sp>
        <p:nvSpPr>
          <p:cNvPr id="6" name="Rounded Rectangle 5"/>
          <p:cNvSpPr/>
          <p:nvPr/>
        </p:nvSpPr>
        <p:spPr>
          <a:xfrm>
            <a:off x="1399032" y="4224528"/>
            <a:ext cx="4251960" cy="530352"/>
          </a:xfrm>
          <a:prstGeom prst="roundRect">
            <a:avLst/>
          </a:prstGeom>
          <a:solidFill>
            <a:srgbClr val="F4EEF8"/>
          </a:solidFill>
          <a:ln w="12700">
            <a:solidFill>
              <a:srgbClr val="D8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82DA0"/>
                </a:solidFill>
                <a:latin typeface="Arial"/>
              </a:rPr>
              <a:t>COMPARE  •  REPRESENT  •  EXPLAIN</a:t>
            </a:r>
          </a:p>
        </p:txBody>
      </p:sp>
      <p:sp>
        <p:nvSpPr>
          <p:cNvPr id="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 / 55</a:t>
            </a:r>
          </a:p>
        </p:txBody>
      </p:sp>
      <p:grpSp>
        <p:nvGrpSpPr>
          <p:cNvPr id="8" name="TEACH-2-student-move" descr="TEACH 2 · Use strategies and tasks to engage students in rigorous work"/>
          <p:cNvGrpSpPr/>
          <p:nvPr/>
        </p:nvGrpSpPr>
        <p:grpSpPr>
          <a:xfrm>
            <a:off x="502920" y="4837176"/>
            <a:ext cx="11186160" cy="731520"/>
            <a:chOff x="502920" y="4837176"/>
            <a:chExt cx="11186160" cy="731520"/>
          </a:xfrm>
        </p:grpSpPr>
        <p:sp>
          <p:nvSpPr>
            <p:cNvPr id="9" name="TEACH-move-card"/>
            <p:cNvSpPr/>
            <p:nvPr/>
          </p:nvSpPr>
          <p:spPr>
            <a:xfrm>
              <a:off x="502920" y="4837176"/>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10" name="TEACH-move-rule"/>
            <p:cNvSpPr/>
            <p:nvPr/>
          </p:nvSpPr>
          <p:spPr>
            <a:xfrm>
              <a:off x="548640" y="4976165"/>
              <a:ext cx="100584" cy="453542"/>
            </a:xfrm>
            <a:prstGeom prst="roundRect">
              <a:avLst>
                <a:gd name="adj" fmla="val 50000"/>
              </a:avLst>
            </a:prstGeom>
            <a:solidFill>
              <a:srgbClr val="01708C"/>
            </a:solidFill>
            <a:ln>
              <a:noFill/>
            </a:ln>
          </p:spPr>
          <p:txBody>
            <a:bodyPr/>
            <a:lstStyle/>
            <a:p>
              <a:endParaRPr/>
            </a:p>
          </p:txBody>
        </p:sp>
        <p:sp>
          <p:nvSpPr>
            <p:cNvPr id="11" name="TEACH-move-text"/>
            <p:cNvSpPr txBox="1"/>
            <p:nvPr/>
          </p:nvSpPr>
          <p:spPr>
            <a:xfrm>
              <a:off x="822960" y="4837176"/>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extLst>
      <p:ext uri="{BB962C8B-B14F-4D97-AF65-F5344CB8AC3E}">
        <p14:creationId xmlns:p14="http://schemas.microsoft.com/office/powerpoint/2010/main" val="4186062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1</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20" b="0">
                <a:solidFill>
                  <a:srgbClr val="5D6872"/>
                </a:solidFill>
                <a:latin typeface="Arial"/>
              </a:rPr>
              <a:t>Lesson 3-1 · Understand </a:t>
            </a:r>
            <a:r>
              <a:rPr sz="1420" b="1">
                <a:latin typeface="Arial"/>
              </a:rPr>
              <a:t>Ratio</a:t>
            </a:r>
            <a:r>
              <a:rPr sz="1420" b="0">
                <a:solidFill>
                  <a:srgbClr val="5D6872"/>
                </a:solidFill>
                <a:latin typeface="Arial"/>
              </a:rPr>
              <a:t>s   |   Maryland Standard 6.AT.1</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LEARNING TARGET  ·  COMPARE • WRITE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30" b="0">
                <a:solidFill>
                  <a:srgbClr val="5D6872"/>
                </a:solidFill>
                <a:latin typeface="Arial"/>
              </a:rPr>
              <a:t>Today I will compare two quantities, write the </a:t>
            </a:r>
            <a:r>
              <a:rPr sz="1630" b="1">
                <a:latin typeface="Arial"/>
              </a:rPr>
              <a:t>ratio</a:t>
            </a:r>
            <a:r>
              <a:rPr sz="1630" b="0">
                <a:solidFill>
                  <a:srgbClr val="5D6872"/>
                </a:solidFill>
                <a:latin typeface="Arial"/>
              </a:rPr>
              <a:t> in order, and explain what the comparison means.</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20" b="1">
                <a:solidFill>
                  <a:srgbClr val="23282D"/>
                </a:solidFill>
                <a:latin typeface="Arial"/>
              </a:rPr>
              <a:t>I can compare two quantities and write the </a:t>
            </a:r>
            <a:r>
              <a:rPr sz="1820" b="1">
                <a:latin typeface="Arial"/>
              </a:rPr>
              <a:t>ratio</a:t>
            </a:r>
            <a:r>
              <a:rPr sz="1820" b="1">
                <a:solidFill>
                  <a:srgbClr val="23282D"/>
                </a:solidFill>
                <a:latin typeface="Arial"/>
              </a:rPr>
              <a:t> in the correct order.</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700" b="1">
                <a:solidFill>
                  <a:srgbClr val="23282D"/>
                </a:solidFill>
                <a:latin typeface="Arial"/>
              </a:rPr>
              <a:t>I can explain a </a:t>
            </a:r>
            <a:r>
              <a:rPr sz="1700" b="1">
                <a:latin typeface="Arial"/>
              </a:rPr>
              <a:t>ratio</a:t>
            </a:r>
            <a:r>
              <a:rPr sz="1700" b="1">
                <a:solidFill>
                  <a:srgbClr val="23282D"/>
                </a:solidFill>
                <a:latin typeface="Arial"/>
              </a:rPr>
              <a:t> using “</a:t>
            </a:r>
            <a:r>
              <a:rPr sz="1700" b="1">
                <a:latin typeface="Arial"/>
              </a:rPr>
              <a:t>for every</a:t>
            </a:r>
            <a:r>
              <a:rPr sz="1700" b="1">
                <a:solidFill>
                  <a:srgbClr val="23282D"/>
                </a:solidFill>
                <a:latin typeface="Arial"/>
              </a:rPr>
              <a:t>…,” </a:t>
            </a:r>
            <a:r>
              <a:rPr sz="1700" b="1">
                <a:latin typeface="Arial"/>
              </a:rPr>
              <a:t>part-to-part</a:t>
            </a:r>
            <a:r>
              <a:rPr sz="1700" b="1">
                <a:solidFill>
                  <a:srgbClr val="23282D"/>
                </a:solidFill>
                <a:latin typeface="Arial"/>
              </a:rPr>
              <a:t>, and </a:t>
            </a:r>
            <a:r>
              <a:rPr sz="1700" b="1">
                <a:latin typeface="Arial"/>
              </a:rPr>
              <a:t>part-to-whole</a:t>
            </a:r>
            <a:r>
              <a:rPr sz="1700" b="1">
                <a:solidFill>
                  <a:srgbClr val="23282D"/>
                </a:solidFill>
                <a:latin typeface="Arial"/>
              </a:rPr>
              <a:t>.</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540" b="0">
                <a:solidFill>
                  <a:srgbClr val="23282D"/>
                </a:solidFill>
                <a:latin typeface="Arial"/>
              </a:rPr>
              <a:t>✓ Name the two quantities.
✓ Write the </a:t>
            </a:r>
            <a:r>
              <a:rPr sz="1540" b="1">
                <a:latin typeface="Arial"/>
              </a:rPr>
              <a:t>ratio</a:t>
            </a:r>
            <a:r>
              <a:rPr sz="1540" b="0">
                <a:solidFill>
                  <a:srgbClr val="23282D"/>
                </a:solidFill>
                <a:latin typeface="Arial"/>
              </a:rPr>
              <a:t> as  a to b  or  a:b.
✓ Explain what the numbers mean.</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570" b="1">
                <a:latin typeface="Arial"/>
              </a:rPr>
              <a:t>Ratio</a:t>
            </a:r>
            <a:r>
              <a:rPr sz="1570" b="0">
                <a:solidFill>
                  <a:srgbClr val="23282D"/>
                </a:solidFill>
                <a:latin typeface="Arial"/>
              </a:rPr>
              <a:t>s help us compare recipes, teams, prices, mixtures, and many other real-world relationships.</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 / 55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8" name="Google Shape;398;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1 of 8</a:t>
            </a:r>
            <a:endParaRPr/>
          </a:p>
        </p:txBody>
      </p:sp>
      <p:sp>
        <p:nvSpPr>
          <p:cNvPr id="401" name="Google Shape;401;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402" name="Google Shape;402;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4" name="Google Shape;404;p46"/>
          <p:cNvSpPr txBox="1"/>
          <p:nvPr/>
        </p:nvSpPr>
        <p:spPr>
          <a:xfrm>
            <a:off x="640080" y="1977771"/>
            <a:ext cx="10911809" cy="90220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5200" u="none" cap="none" strike="noStrike">
                <a:solidFill>
                  <a:srgbClr val="14223A"/>
                </a:solidFill>
                <a:latin typeface="Arial"/>
                <a:ea typeface="Arial"/>
                <a:cs typeface="Arial"/>
                <a:sym typeface="Arial"/>
              </a:rPr>
              <a:t>Understand Ratios</a:t>
            </a:r>
            <a:endParaRPr/>
          </a:p>
        </p:txBody>
      </p:sp>
      <p:sp>
        <p:nvSpPr>
          <p:cNvPr id="405" name="Google Shape;405;p46"/>
          <p:cNvSpPr/>
          <p:nvPr/>
        </p:nvSpPr>
        <p:spPr>
          <a:xfrm>
            <a:off x="658368" y="2934843"/>
            <a:ext cx="202082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6"/>
          <p:cNvSpPr txBox="1"/>
          <p:nvPr/>
        </p:nvSpPr>
        <p:spPr>
          <a:xfrm>
            <a:off x="640080" y="3296031"/>
            <a:ext cx="10911809" cy="432054"/>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700" u="none" cap="none" strike="noStrike">
                <a:solidFill>
                  <a:srgbClr val="14223A"/>
                </a:solidFill>
                <a:latin typeface="Arial"/>
                <a:ea typeface="Arial"/>
                <a:cs typeface="Arial"/>
                <a:sym typeface="Arial"/>
              </a:rPr>
              <a:t>Use a ratio to compare two quantities by division.</a:t>
            </a:r>
            <a:endParaRPr/>
          </a:p>
        </p:txBody>
      </p:sp>
      <p:sp>
        <p:nvSpPr>
          <p:cNvPr id="407" name="Google Shape;407;p46"/>
          <p:cNvSpPr/>
          <p:nvPr/>
        </p:nvSpPr>
        <p:spPr>
          <a:xfrm>
            <a:off x="640080" y="4148709"/>
            <a:ext cx="10911809"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8" name="Google Shape;408;p46"/>
          <p:cNvSpPr/>
          <p:nvPr/>
        </p:nvSpPr>
        <p:spPr>
          <a:xfrm>
            <a:off x="640080" y="4148709"/>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9" name="Google Shape;409;p46"/>
          <p:cNvSpPr txBox="1"/>
          <p:nvPr/>
        </p:nvSpPr>
        <p:spPr>
          <a:xfrm>
            <a:off x="932688" y="4322445"/>
            <a:ext cx="10344881"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10" name="Google Shape;410;p46"/>
          <p:cNvSpPr txBox="1"/>
          <p:nvPr/>
        </p:nvSpPr>
        <p:spPr>
          <a:xfrm>
            <a:off x="932688" y="4624197"/>
            <a:ext cx="10344881"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2100" u="none" cap="none" strike="noStrike">
                <a:solidFill>
                  <a:srgbClr val="14223A"/>
                </a:solidFill>
                <a:latin typeface="Arial"/>
                <a:ea typeface="Arial"/>
                <a:cs typeface="Arial"/>
                <a:sym typeface="Arial"/>
              </a:rPr>
              <a:t>3 red tiles to 5 blue tiles can be written 3:5 or 3/5.</a:t>
            </a:r>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“Understand Ratios”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5" name="Google Shape;415;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6" name="Google Shape;416;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8</a:t>
            </a:r>
            <a:endParaRPr/>
          </a:p>
        </p:txBody>
      </p:sp>
      <p:sp>
        <p:nvSpPr>
          <p:cNvPr id="418" name="Google Shape;418;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419" name="Google Shape;419;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21" name="Google Shape;421;p47"/>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Ratio</a:t>
            </a:r>
            <a:endParaRPr/>
          </a:p>
        </p:txBody>
      </p:sp>
      <p:sp>
        <p:nvSpPr>
          <p:cNvPr id="422" name="Google Shape;422;p47"/>
          <p:cNvSpPr/>
          <p:nvPr/>
        </p:nvSpPr>
        <p:spPr>
          <a:xfrm>
            <a:off x="658368" y="2913888"/>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way to compare two amounts, like 3 to 2.</a:t>
            </a:r>
            <a:endParaRPr/>
          </a:p>
        </p:txBody>
      </p:sp>
      <p:sp>
        <p:nvSpPr>
          <p:cNvPr id="424" name="Google Shape;424;p47"/>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5" name="Google Shape;425;p47"/>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6" name="Google Shape;426;p47"/>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7" name="Google Shape;427;p47"/>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cups flour to 2 cups sugar → 3:2</a:t>
            </a:r>
            <a:endParaRPr/>
          </a:p>
        </p:txBody>
      </p:sp>
      <p:pic>
        <p:nvPicPr>
          <p:cNvPr descr="ratio.png" id="428" name="Google Shape;428;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6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“Ratio”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3" name="Google Shape;43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4" name="Google Shape;43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8</a:t>
            </a:r>
            <a:endParaRPr/>
          </a:p>
        </p:txBody>
      </p:sp>
      <p:sp>
        <p:nvSpPr>
          <p:cNvPr id="436" name="Google Shape;43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437" name="Google Shape;43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9" name="Google Shape;439;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Comparison</a:t>
            </a:r>
            <a:endParaRPr/>
          </a:p>
        </p:txBody>
      </p:sp>
      <p:sp>
        <p:nvSpPr>
          <p:cNvPr id="440" name="Google Shape;440;p48"/>
          <p:cNvSpPr/>
          <p:nvPr/>
        </p:nvSpPr>
        <p:spPr>
          <a:xfrm>
            <a:off x="658368" y="2737866"/>
            <a:ext cx="118872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Looking at two or more amounts to see how they are related.</a:t>
            </a:r>
            <a:endParaRPr/>
          </a:p>
        </p:txBody>
      </p:sp>
      <p:sp>
        <p:nvSpPr>
          <p:cNvPr id="442" name="Google Shape;442;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3" name="Google Shape;443;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4" name="Google Shape;444;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5" name="Google Shape;445;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5 eggs vs. 3 eggs — which recipe uses more?</a:t>
            </a:r>
            <a:endParaRPr/>
          </a:p>
        </p:txBody>
      </p:sp>
      <p:pic>
        <p:nvPicPr>
          <p:cNvPr descr="ratio.png" id="446" name="Google Shape;44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7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“Comparison”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51" name="Google Shape;45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2" name="Google Shape;45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4 of 8</a:t>
            </a:r>
            <a:endParaRPr/>
          </a:p>
        </p:txBody>
      </p:sp>
      <p:sp>
        <p:nvSpPr>
          <p:cNvPr id="454" name="Google Shape;45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455" name="Google Shape;45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7" name="Google Shape;457;p49"/>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Part-to-part</a:t>
            </a:r>
            <a:endParaRPr/>
          </a:p>
        </p:txBody>
      </p:sp>
      <p:sp>
        <p:nvSpPr>
          <p:cNvPr id="458" name="Google Shape;458;p49"/>
          <p:cNvSpPr/>
          <p:nvPr/>
        </p:nvSpPr>
        <p:spPr>
          <a:xfrm>
            <a:off x="658368" y="2737866"/>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ratio comparing one part of a group to another part.</a:t>
            </a:r>
            <a:endParaRPr/>
          </a:p>
        </p:txBody>
      </p:sp>
      <p:sp>
        <p:nvSpPr>
          <p:cNvPr id="460" name="Google Shape;460;p49"/>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1" name="Google Shape;461;p49"/>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2" name="Google Shape;462;p49"/>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3" name="Google Shape;463;p49"/>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cups flour : 2 cups sugar (ingredient to ingredient)</a:t>
            </a:r>
            <a:endParaRPr/>
          </a:p>
        </p:txBody>
      </p:sp>
      <p:pic>
        <p:nvPicPr>
          <p:cNvPr descr="part-to-part.png" id="464" name="Google Shape;46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8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“Part-to-part” to explain the example. Point to evidence.</a:t>
            </a:r>
            <a:endParaRPr lang="en-US" sz="20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9" name="Google Shape;46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0" name="Google Shape;47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8</a:t>
            </a:r>
            <a:endParaRPr/>
          </a:p>
        </p:txBody>
      </p:sp>
      <p:sp>
        <p:nvSpPr>
          <p:cNvPr id="472" name="Google Shape;47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473" name="Google Shape;47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5" name="Google Shape;475;p50"/>
          <p:cNvSpPr txBox="1"/>
          <p:nvPr/>
        </p:nvSpPr>
        <p:spPr>
          <a:xfrm>
            <a:off x="640080" y="2078736"/>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Part-to-whole</a:t>
            </a:r>
            <a:endParaRPr/>
          </a:p>
        </p:txBody>
      </p:sp>
      <p:sp>
        <p:nvSpPr>
          <p:cNvPr id="476" name="Google Shape;476;p50"/>
          <p:cNvSpPr/>
          <p:nvPr/>
        </p:nvSpPr>
        <p:spPr>
          <a:xfrm>
            <a:off x="658368" y="2913888"/>
            <a:ext cx="154533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640080" y="3275076"/>
            <a:ext cx="5897880" cy="365760"/>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ratio comparing one part to the whole group.</a:t>
            </a:r>
            <a:endParaRPr/>
          </a:p>
        </p:txBody>
      </p:sp>
      <p:sp>
        <p:nvSpPr>
          <p:cNvPr id="478" name="Google Shape;478;p50"/>
          <p:cNvSpPr/>
          <p:nvPr/>
        </p:nvSpPr>
        <p:spPr>
          <a:xfrm>
            <a:off x="640080" y="404774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9" name="Google Shape;479;p50"/>
          <p:cNvSpPr/>
          <p:nvPr/>
        </p:nvSpPr>
        <p:spPr>
          <a:xfrm>
            <a:off x="640080" y="404774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0" name="Google Shape;480;p50"/>
          <p:cNvSpPr txBox="1"/>
          <p:nvPr/>
        </p:nvSpPr>
        <p:spPr>
          <a:xfrm>
            <a:off x="932688" y="422148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81" name="Google Shape;481;p50"/>
          <p:cNvSpPr txBox="1"/>
          <p:nvPr/>
        </p:nvSpPr>
        <p:spPr>
          <a:xfrm>
            <a:off x="932688" y="452323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cups flour out of 5 cups total → 3:5</a:t>
            </a:r>
            <a:endParaRPr/>
          </a:p>
        </p:txBody>
      </p:sp>
      <p:pic>
        <p:nvPicPr>
          <p:cNvPr descr="part-to-whole.png" id="482" name="Google Shape;482;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9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“Part-to-whole”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7" name="Google Shape;487;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8" name="Google Shape;488;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8</a:t>
            </a:r>
            <a:endParaRPr/>
          </a:p>
        </p:txBody>
      </p:sp>
      <p:sp>
        <p:nvSpPr>
          <p:cNvPr id="490" name="Google Shape;490;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491" name="Google Shape;491;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3" name="Google Shape;493;p51"/>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Colon notation</a:t>
            </a:r>
            <a:endParaRPr/>
          </a:p>
        </p:txBody>
      </p:sp>
      <p:sp>
        <p:nvSpPr>
          <p:cNvPr id="494" name="Google Shape;494;p51"/>
          <p:cNvSpPr/>
          <p:nvPr/>
        </p:nvSpPr>
        <p:spPr>
          <a:xfrm>
            <a:off x="658368" y="2737866"/>
            <a:ext cx="166420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Writing a ratio with two dots between the numbers, like 3:2.</a:t>
            </a:r>
            <a:endParaRPr/>
          </a:p>
        </p:txBody>
      </p:sp>
      <p:sp>
        <p:nvSpPr>
          <p:cNvPr id="496" name="Google Shape;496;p51"/>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7" name="Google Shape;497;p51"/>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8" name="Google Shape;498;p51"/>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9" name="Google Shape;499;p51"/>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to 2 can be written as 3:2</a:t>
            </a:r>
            <a:endParaRPr/>
          </a:p>
        </p:txBody>
      </p:sp>
      <p:pic>
        <p:nvPicPr>
          <p:cNvPr descr="ratio.png" id="500" name="Google Shape;500;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10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“Colon notation”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5" name="Google Shape;505;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6" name="Google Shape;506;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7 of 8</a:t>
            </a:r>
            <a:endParaRPr/>
          </a:p>
        </p:txBody>
      </p:sp>
      <p:sp>
        <p:nvSpPr>
          <p:cNvPr id="508" name="Google Shape;508;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3-1 · Understand Ratios</a:t>
            </a:r>
            <a:endParaRPr/>
          </a:p>
        </p:txBody>
      </p:sp>
      <p:sp>
        <p:nvSpPr>
          <p:cNvPr id="509" name="Google Shape;509;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1" name="Google Shape;511;p52"/>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Tape diagram</a:t>
            </a:r>
            <a:endParaRPr/>
          </a:p>
        </p:txBody>
      </p:sp>
      <p:sp>
        <p:nvSpPr>
          <p:cNvPr id="512" name="Google Shape;512;p52"/>
          <p:cNvSpPr/>
          <p:nvPr/>
        </p:nvSpPr>
        <p:spPr>
          <a:xfrm>
            <a:off x="658368" y="2462784"/>
            <a:ext cx="1426464"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bar cut into equal parts that shows how two amounts in a ratio compare, and how they make up the whole.</a:t>
            </a:r>
            <a:endParaRPr/>
          </a:p>
        </p:txBody>
      </p:sp>
      <p:sp>
        <p:nvSpPr>
          <p:cNvPr id="514" name="Google Shape;514;p52"/>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2"/>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6" name="Google Shape;516;p52"/>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517" name="Google Shape;517;p52"/>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3 equal parts of apple juice beside 2 equal parts of sparkling water — 5 parts of fruit drink in all.</a:t>
            </a:r>
            <a:endParaRPr/>
          </a:p>
        </p:txBody>
      </p:sp>
      <p:pic>
        <p:nvPicPr>
          <p:cNvPr descr="bar-model.png" id="518" name="Google Shape;518;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11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50468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“Tape diagram” to explain</a:t>
            </a:r>
            <a:endParaRPr lang="en-US" sz="2000"/>
          </a:p>
          <a:p>
            <a:pPr>
              <a:lnSpc>
                <a:spcPts val="2400"/>
              </a:lnSpc>
              <a:buNone/>
            </a:pPr>
            <a:r>
              <a:rPr lang="en-US" sz="2000">
                <a:solidFill>
                  <a:srgbClr val="174D60"/>
                </a:solidFill>
                <a:latin typeface="Arial"/>
              </a:rPr>
              <a:t>the example. Point to evidence.</a:t>
            </a:r>
            <a:endParaRPr lang="en-US" sz="20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23" name="Google Shape;523;p53"/>
          <p:cNvSpPr/>
          <p:nvPr/>
        </p:nvSpPr>
        <p:spPr>
          <a:xfrm>
            <a:off x="0" y="14883"/>
            <a:ext cx="12192000"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4" name="Google Shape;524;p53"/>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8 of 8</a:t>
            </a:r>
            <a:endParaRPr/>
          </a:p>
        </p:txBody>
      </p:sp>
      <p:sp>
        <p:nvSpPr>
          <p:cNvPr id="526" name="Google Shape;526;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3-1 · Understand Ratios</a:t>
            </a:r>
            <a:endParaRPr/>
          </a:p>
        </p:txBody>
      </p:sp>
      <p:sp>
        <p:nvSpPr>
          <p:cNvPr id="527" name="Google Shape;527;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9" name="Google Shape;529;p53"/>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Double number line</a:t>
            </a:r>
            <a:endParaRPr/>
          </a:p>
        </p:txBody>
      </p:sp>
      <p:sp>
        <p:nvSpPr>
          <p:cNvPr id="530" name="Google Shape;530;p53"/>
          <p:cNvSpPr/>
          <p:nvPr/>
        </p:nvSpPr>
        <p:spPr>
          <a:xfrm>
            <a:off x="658368" y="2462784"/>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Two number lines lined up so matching tick marks show the two quantities in a ratio at the same time.</a:t>
            </a:r>
            <a:endParaRPr/>
          </a:p>
        </p:txBody>
      </p:sp>
      <p:sp>
        <p:nvSpPr>
          <p:cNvPr id="532" name="Google Shape;532;p53"/>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4" name="Google Shape;534;p53"/>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535" name="Google Shape;535;p53"/>
          <p:cNvSpPr txBox="1"/>
          <p:nvPr/>
        </p:nvSpPr>
        <p:spPr>
          <a:xfrm>
            <a:off x="932688" y="4776215"/>
            <a:ext cx="5331000" cy="843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700" u="none" cap="none" strike="noStrike">
                <a:solidFill>
                  <a:srgbClr val="14223A"/>
                </a:solidFill>
              </a:rPr>
              <a:t>Cups of </a:t>
            </a:r>
            <a:r>
              <a:rPr b="1" lang="en-US" sz="1700">
                <a:solidFill>
                  <a:srgbClr val="14223A"/>
                </a:solidFill>
              </a:rPr>
              <a:t>orange</a:t>
            </a:r>
            <a:r>
              <a:rPr b="1" i="0" lang="en-US" sz="1700" u="none" cap="none" strike="noStrike">
                <a:solidFill>
                  <a:srgbClr val="14223A"/>
                </a:solidFill>
              </a:rPr>
              <a:t> juice 0, </a:t>
            </a:r>
            <a:r>
              <a:rPr b="1" lang="en-US" sz="1700">
                <a:solidFill>
                  <a:srgbClr val="14223A"/>
                </a:solidFill>
              </a:rPr>
              <a:t>1</a:t>
            </a:r>
            <a:r>
              <a:rPr b="1" i="0" lang="en-US" sz="1700" u="none" cap="none" strike="noStrike">
                <a:solidFill>
                  <a:srgbClr val="14223A"/>
                </a:solidFill>
              </a:rPr>
              <a:t>, </a:t>
            </a:r>
            <a:r>
              <a:rPr b="1" lang="en-US" sz="1700">
                <a:solidFill>
                  <a:srgbClr val="14223A"/>
                </a:solidFill>
              </a:rPr>
              <a:t>2</a:t>
            </a:r>
            <a:r>
              <a:rPr b="1" i="0" lang="en-US" sz="1700" u="none" cap="none" strike="noStrike">
                <a:solidFill>
                  <a:srgbClr val="14223A"/>
                </a:solidFill>
              </a:rPr>
              <a:t>, </a:t>
            </a:r>
            <a:r>
              <a:rPr b="1" lang="en-US" sz="1700">
                <a:solidFill>
                  <a:srgbClr val="14223A"/>
                </a:solidFill>
              </a:rPr>
              <a:t>3, 4</a:t>
            </a:r>
            <a:endParaRPr b="1" sz="1700">
              <a:solidFill>
                <a:srgbClr val="14223A"/>
              </a:solidFill>
            </a:endParaRPr>
          </a:p>
          <a:p>
            <a:pPr indent="0" lvl="0" marL="0" marR="0" rtl="0" algn="l">
              <a:lnSpc>
                <a:spcPct val="120000"/>
              </a:lnSpc>
              <a:spcBef>
                <a:spcPts val="0"/>
              </a:spcBef>
              <a:spcAft>
                <a:spcPts val="0"/>
              </a:spcAft>
              <a:buNone/>
              <a:defRPr/>
            </a:pPr>
            <a:r>
              <a:rPr b="1" lang="en-US" sz="1700">
                <a:solidFill>
                  <a:srgbClr val="14223A"/>
                </a:solidFill>
              </a:rPr>
              <a:t>Cups of grap juice:    0 , 3, 6, 9, 12</a:t>
            </a:r>
            <a:endParaRPr b="1" sz="1700">
              <a:solidFill>
                <a:srgbClr val="14223A"/>
              </a:solidFill>
            </a:endParaRPr>
          </a:p>
          <a:p>
            <a:pPr indent="0" lvl="0" marL="0" marR="0" rtl="0" algn="l">
              <a:lnSpc>
                <a:spcPct val="120000"/>
              </a:lnSpc>
              <a:spcBef>
                <a:spcPts val="0"/>
              </a:spcBef>
              <a:spcAft>
                <a:spcPts val="0"/>
              </a:spcAft>
              <a:buNone/>
              <a:defRPr/>
            </a:pPr>
            <a:r>
              <a:rPr/>
              <a:t/>
            </a:r>
            <a:endParaRPr/>
          </a:p>
        </p:txBody>
      </p:sp>
      <p:pic>
        <p:nvPicPr>
          <p:cNvPr id="536" name="Google Shape;536;p53"/>
          <p:cNvPicPr preferRelativeResize="0"/>
          <p:nvPr/>
        </p:nvPicPr>
        <p:blipFill>
          <a:blip r:embed="rId2">
            <a:alphaModFix/>
          </a:blip>
          <a:stretch>
            <a:fillRect/>
          </a:stretch>
        </p:blipFill>
        <p:spPr>
          <a:xfrm>
            <a:off x="7012475" y="1442063"/>
            <a:ext cx="4720250" cy="3970725"/>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12 / 55</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09" name="Google Shape;609;p5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10" name="Google Shape;610;p57"/>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611" name="Google Shape;611;p57"/>
          <p:cNvSpPr txBox="1"/>
          <p:nvPr/>
        </p:nvSpPr>
        <p:spPr>
          <a:xfrm>
            <a:off x="484560" y="936100"/>
            <a:ext cx="7705762" cy="13415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do you notice?</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pic>
        <p:nvPicPr>
          <p:cNvPr descr="A picture containing group, pile, close, several&#10;&#10;Description automatically generated" id="612" name="Google Shape;612;p57"/>
          <p:cNvPicPr preferRelativeResize="0"/>
          <p:nvPr/>
        </p:nvPicPr>
        <p:blipFill rotWithShape="1">
          <a:blip r:embed="rId2">
            <a:alphaModFix/>
          </a:blip>
          <a:srcRect b="0" l="0" r="0" t="0"/>
          <a:stretch/>
        </p:blipFill>
        <p:spPr>
          <a:xfrm>
            <a:off x="4973407" y="1488192"/>
            <a:ext cx="4211542" cy="3061073"/>
          </a:xfrm>
          <a:prstGeom prst="rect">
            <a:avLst/>
          </a:prstGeom>
          <a:noFill/>
          <a:ln>
            <a:noFill/>
          </a:ln>
        </p:spPr>
      </p:pic>
      <p:pic>
        <p:nvPicPr>
          <p:cNvPr id="613" name="Google Shape;613;p57"/>
          <p:cNvPicPr preferRelativeResize="0"/>
          <p:nvPr/>
        </p:nvPicPr>
        <p:blipFill rotWithShape="1">
          <a:blip r:embed="rId3">
            <a:alphaModFix/>
          </a:blip>
          <a:srcRect b="0" l="0" r="0" t="0"/>
          <a:stretch/>
        </p:blipFill>
        <p:spPr>
          <a:xfrm>
            <a:off x="484560" y="5083699"/>
            <a:ext cx="5054600" cy="838200"/>
          </a:xfrm>
          <a:prstGeom prst="rect">
            <a:avLst/>
          </a:prstGeom>
          <a:noFill/>
          <a:ln>
            <a:noFill/>
          </a:ln>
        </p:spPr>
      </p:pic>
      <p:sp>
        <p:nvSpPr>
          <p:cNvPr id="614" name="Google Shape;614;p57"/>
          <p:cNvSpPr txBox="1"/>
          <p:nvPr/>
        </p:nvSpPr>
        <p:spPr>
          <a:xfrm>
            <a:off x="3344577" y="5241017"/>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615" name="Google Shape;615;p57"/>
          <p:cNvSpPr/>
          <p:nvPr/>
        </p:nvSpPr>
        <p:spPr>
          <a:xfrm>
            <a:off x="697756" y="5899022"/>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you build your confidence when engaging in math?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13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F2E9F79-1180-5E3D-0B67-B293D55F3E48}"/>
              </a:ext>
            </a:extLst>
          </p:cNvPr>
          <p:cNvSpPr txBox="1">
            <a:spLocks/>
          </p:cNvSpPr>
          <p:nvPr/>
        </p:nvSpPr>
        <p:spPr>
          <a:xfrm>
            <a:off x="484560"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sz="2800">
                <a:solidFill>
                  <a:srgbClr val="00B050"/>
                </a:solidFill>
                <a:latin typeface="Arial" panose="020B0604020202020204" pitchFamily="34" charset="0"/>
                <a:cs typeface="Arial" panose="020B0604020202020204" pitchFamily="34" charset="0"/>
              </a:rPr>
              <a:t>Be Curious</a:t>
            </a:r>
          </a:p>
        </p:txBody>
      </p:sp>
      <p:sp>
        <p:nvSpPr>
          <p:cNvPr id="3" name="Content Placeholder 2">
            <a:extLst>
              <a:ext uri="{FF2B5EF4-FFF2-40B4-BE49-F238E27FC236}">
                <a16:creationId xmlns:a16="http://schemas.microsoft.com/office/drawing/2014/main" id="{3C64A2BC-4D5F-F313-BCCF-8697F016B769}"/>
              </a:ext>
            </a:extLst>
          </p:cNvPr>
          <p:cNvSpPr txBox="1">
            <a:spLocks/>
          </p:cNvSpPr>
          <p:nvPr/>
        </p:nvSpPr>
        <p:spPr>
          <a:xfrm>
            <a:off x="484560" y="936101"/>
            <a:ext cx="3904129" cy="97119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What do you notice?</a:t>
            </a:r>
            <a:br>
              <a:rPr lang="en-US" sz="2800" dirty="0">
                <a:solidFill>
                  <a:schemeClr val="tx1">
                    <a:lumMod val="85000"/>
                    <a:lumOff val="15000"/>
                  </a:schemeClr>
                </a:solidFill>
                <a:latin typeface="Arial" panose="020B0604020202020204" pitchFamily="34" charset="0"/>
                <a:cs typeface="Arial" panose="020B0604020202020204" pitchFamily="34" charset="0"/>
              </a:rPr>
            </a:br>
            <a:r>
              <a:rPr lang="en-US" sz="2800" dirty="0">
                <a:solidFill>
                  <a:schemeClr val="tx1">
                    <a:lumMod val="85000"/>
                    <a:lumOff val="15000"/>
                  </a:schemeClr>
                </a:solidFill>
                <a:latin typeface="Arial" panose="020B0604020202020204" pitchFamily="34" charset="0"/>
                <a:cs typeface="Arial" panose="020B0604020202020204" pitchFamily="34" charset="0"/>
              </a:rPr>
              <a:t>What do you wonder?</a:t>
            </a:r>
          </a:p>
        </p:txBody>
      </p:sp>
      <p:pic>
        <p:nvPicPr>
          <p:cNvPr id="8" name="Picture 7" descr="A picture containing group, pile, close, several&#10;&#10;Description automatically generated">
            <a:extLst>
              <a:ext uri="{FF2B5EF4-FFF2-40B4-BE49-F238E27FC236}">
                <a16:creationId xmlns:a16="http://schemas.microsoft.com/office/drawing/2014/main" id="{84269F82-C3A8-653F-40E2-8A05B209D6D8}"/>
              </a:ext>
            </a:extLst>
          </p:cNvPr>
          <p:cNvPicPr>
            <a:picLocks noChangeAspect="1"/>
          </p:cNvPicPr>
          <p:nvPr/>
        </p:nvPicPr>
        <p:blipFill>
          <a:blip r:embed="rId3"/>
          <a:stretch>
            <a:fillRect/>
          </a:stretch>
        </p:blipFill>
        <p:spPr>
          <a:xfrm>
            <a:off x="4973407" y="1488192"/>
            <a:ext cx="4211542" cy="3061073"/>
          </a:xfrm>
          <a:prstGeom prst="rect">
            <a:avLst/>
          </a:prstGeom>
        </p:spPr>
      </p:pic>
      <p:pic>
        <p:nvPicPr>
          <p:cNvPr id="4" name="Picture 3">
            <a:extLst>
              <a:ext uri="{FF2B5EF4-FFF2-40B4-BE49-F238E27FC236}">
                <a16:creationId xmlns:a16="http://schemas.microsoft.com/office/drawing/2014/main" id="{32BC9E1D-23AC-05C8-D9B3-63164F14A74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84560" y="5083699"/>
            <a:ext cx="5054600" cy="838200"/>
          </a:xfrm>
          <a:prstGeom prst="rect">
            <a:avLst/>
          </a:prstGeom>
        </p:spPr>
      </p:pic>
      <p:sp>
        <p:nvSpPr>
          <p:cNvPr id="5" name="Content Placeholder 2">
            <a:extLst>
              <a:ext uri="{FF2B5EF4-FFF2-40B4-BE49-F238E27FC236}">
                <a16:creationId xmlns:a16="http://schemas.microsoft.com/office/drawing/2014/main" id="{B39C938B-F8BD-0A07-6AEB-B5C2FEE9E06B}"/>
              </a:ext>
            </a:extLst>
          </p:cNvPr>
          <p:cNvSpPr txBox="1">
            <a:spLocks/>
          </p:cNvSpPr>
          <p:nvPr/>
        </p:nvSpPr>
        <p:spPr>
          <a:xfrm>
            <a:off x="3344577" y="5241017"/>
            <a:ext cx="2194584" cy="6397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Mindset</a:t>
            </a:r>
          </a:p>
        </p:txBody>
      </p: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NOTICE • WONDER • LISTEN</a:t>
            </a:r>
          </a:p>
        </p:txBody>
      </p:sp>
      <p:sp>
        <p:nvSpPr>
          <p:cNvPr id="17" name="Rounded Rectangle 16"/>
          <p:cNvSpPr/>
          <p:nvPr/>
        </p:nvSpPr>
        <p:spPr>
          <a:xfrm>
            <a:off x="7882127" y="4901184"/>
            <a:ext cx="3639312" cy="10241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82127" y="4901184"/>
            <a:ext cx="73152" cy="102412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19" y="5010912"/>
            <a:ext cx="3346704" cy="219456"/>
          </a:xfrm>
          <a:prstGeom prst="rect">
            <a:avLst/>
          </a:prstGeom>
          <a:noFill/>
        </p:spPr>
        <p:txBody>
          <a:bodyPr wrap="square" lIns="0" tIns="0" rIns="0" bIns="0" anchor="t">
            <a:spAutoFit/>
          </a:bodyPr>
          <a:lstStyle/>
          <a:p>
            <a:pPr algn="l"/>
            <a:r>
              <a:rPr sz="1400" b="1">
                <a:solidFill>
                  <a:srgbClr val="01708C"/>
                </a:solidFill>
                <a:latin typeface="Arial"/>
              </a:rPr>
              <a:t>DISCUSSION MOVES</a:t>
            </a:r>
          </a:p>
        </p:txBody>
      </p:sp>
      <p:sp>
        <p:nvSpPr>
          <p:cNvPr id="20" name="TextBox 19"/>
          <p:cNvSpPr txBox="1"/>
          <p:nvPr/>
        </p:nvSpPr>
        <p:spPr>
          <a:xfrm>
            <a:off x="8046719" y="5285232"/>
            <a:ext cx="3328416" cy="548640"/>
          </a:xfrm>
          <a:prstGeom prst="rect">
            <a:avLst/>
          </a:prstGeom>
          <a:noFill/>
        </p:spPr>
        <p:txBody>
          <a:bodyPr wrap="square" lIns="0" tIns="0" rIns="0" bIns="0" anchor="t">
            <a:spAutoFit/>
          </a:bodyPr>
          <a:lstStyle/>
          <a:p>
            <a:pPr algn="l"/>
            <a:r>
              <a:rPr sz="1350" b="0">
                <a:solidFill>
                  <a:srgbClr val="23282D"/>
                </a:solidFill>
                <a:latin typeface="Arial"/>
              </a:rPr>
              <a:t>I notice ___ because ___.
I wonder ___.
I agree / disagree because ___.</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14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38221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a:t>
            </a:r>
            <a:endParaRPr lang="en-US" sz="2000"/>
          </a:p>
          <a:p>
            <a:pPr>
              <a:lnSpc>
                <a:spcPts val="2400"/>
              </a:lnSpc>
              <a:buNone/>
            </a:pPr>
            <a:r>
              <a:rPr lang="en-US" sz="2000">
                <a:solidFill>
                  <a:srgbClr val="174D60"/>
                </a:solidFill>
                <a:latin typeface="Arial"/>
              </a:rPr>
              <a:t>question; build on a classmate’s</a:t>
            </a:r>
            <a:endParaRPr lang="en-US" sz="2000"/>
          </a:p>
          <a:p>
            <a:pPr>
              <a:lnSpc>
                <a:spcPts val="2400"/>
              </a:lnSpc>
              <a:buNone/>
            </a:pPr>
            <a:r>
              <a:rPr lang="en-US" sz="2000">
                <a:solidFill>
                  <a:srgbClr val="174D60"/>
                </a:solidFill>
                <a:latin typeface="Arial"/>
              </a:rPr>
              <a:t>idea.</a:t>
            </a:r>
            <a:endParaRPr lang="en-US" sz="2000"/>
          </a:p>
        </p:txBody>
      </p:sp>
    </p:spTree>
    <p:extLst>
      <p:ext uri="{BB962C8B-B14F-4D97-AF65-F5344CB8AC3E}">
        <p14:creationId xmlns:p14="http://schemas.microsoft.com/office/powerpoint/2010/main" val="3264321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sz="2800" dirty="0">
                <a:solidFill>
                  <a:srgbClr val="782DA0"/>
                </a:solidFill>
                <a:latin typeface="Arial"/>
                <a:ea typeface="+mj-lt"/>
                <a:cs typeface="Arial"/>
              </a:rPr>
              <a:t>Making a Fruit Drink</a:t>
            </a:r>
            <a:endParaRPr lang="en-US" dirty="0">
              <a:solidFill>
                <a:srgbClr val="782DA0"/>
              </a:solidFill>
              <a:cs typeface="Calibri Light"/>
            </a:endParaRPr>
          </a:p>
        </p:txBody>
      </p: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100"/>
            <a:ext cx="6366435" cy="332755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The recipe shows the ingredients needed to make one batch of sparkling cranberry-apple fruit drink. </a:t>
            </a:r>
          </a:p>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How can you describe the relationship between the apple juice and the fruit drink? between the apple juice and sparkling water?</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4968" y="975931"/>
            <a:ext cx="3724275" cy="3552825"/>
          </a:xfrm>
          <a:prstGeom prst="rect">
            <a:avLst/>
          </a:prstGeom>
        </p:spPr>
      </p:pic>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SOLO THINK → PARTNER TALK</a:t>
            </a:r>
          </a:p>
        </p:txBody>
      </p:sp>
      <p:sp>
        <p:nvSpPr>
          <p:cNvPr id="17" name="Rounded Rectangle 16"/>
          <p:cNvSpPr/>
          <p:nvPr/>
        </p:nvSpPr>
        <p:spPr>
          <a:xfrm>
            <a:off x="7927848" y="4882896"/>
            <a:ext cx="3593592" cy="107899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927848" y="4882896"/>
            <a:ext cx="73152" cy="107899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92440" y="4992624"/>
            <a:ext cx="3300984" cy="219456"/>
          </a:xfrm>
          <a:prstGeom prst="rect">
            <a:avLst/>
          </a:prstGeom>
          <a:noFill/>
        </p:spPr>
        <p:txBody>
          <a:bodyPr wrap="square" lIns="0" tIns="0" rIns="0" bIns="0" anchor="t">
            <a:spAutoFit/>
          </a:bodyPr>
          <a:lstStyle/>
          <a:p>
            <a:pPr algn="l"/>
            <a:r>
              <a:rPr sz="1400" b="1">
                <a:solidFill>
                  <a:srgbClr val="782DA0"/>
                </a:solidFill>
                <a:latin typeface="Arial"/>
              </a:rPr>
              <a:t>TALK TOOL</a:t>
            </a:r>
          </a:p>
        </p:txBody>
      </p:sp>
      <p:sp>
        <p:nvSpPr>
          <p:cNvPr id="20" name="TextBox 19"/>
          <p:cNvSpPr txBox="1"/>
          <p:nvPr/>
        </p:nvSpPr>
        <p:spPr>
          <a:xfrm>
            <a:off x="8092440" y="5266944"/>
            <a:ext cx="3282696" cy="603503"/>
          </a:xfrm>
          <a:prstGeom prst="rect">
            <a:avLst/>
          </a:prstGeom>
          <a:noFill/>
        </p:spPr>
        <p:txBody>
          <a:bodyPr wrap="square" lIns="0" tIns="0" rIns="0" bIns="0" anchor="t">
            <a:spAutoFit/>
          </a:bodyPr>
          <a:lstStyle/>
          <a:p>
            <a:pPr algn="l"/>
            <a:r>
              <a:rPr sz="1420" b="1">
                <a:latin typeface="Arial"/>
              </a:rPr>
              <a:t>For every</a:t>
            </a:r>
            <a:r>
              <a:rPr sz="1420" b="0">
                <a:solidFill>
                  <a:srgbClr val="23282D"/>
                </a:solidFill>
                <a:latin typeface="Arial"/>
              </a:rPr>
              <a:t> ___, there are ___.
This is part-to-___ because ___. </a:t>
            </a:r>
          </a:p>
        </p:txBody>
      </p:sp>
      <p:sp>
        <p:nvSpPr>
          <p:cNvPr id="21" name="Rectangle 20"/>
          <p:cNvSpPr/>
          <p:nvPr/>
        </p:nvSpPr>
        <p:spPr>
          <a:xfrm>
            <a:off x="438912" y="2240280"/>
            <a:ext cx="7178040" cy="34015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6928" y="2304288"/>
            <a:ext cx="6720840" cy="475488"/>
          </a:xfrm>
          <a:prstGeom prst="rect">
            <a:avLst/>
          </a:prstGeom>
          <a:noFill/>
        </p:spPr>
        <p:txBody>
          <a:bodyPr wrap="none" lIns="45720" rIns="45720" anchor="ctr">
            <a:spAutoFit/>
          </a:bodyPr>
          <a:lstStyle/>
          <a:p>
            <a:pPr algn="l"/>
            <a:r>
              <a:rPr sz="2500" b="1">
                <a:solidFill>
                  <a:srgbClr val="17365D"/>
                </a:solidFill>
                <a:latin typeface="Arial"/>
              </a:rPr>
              <a:t>Same recipe. Two different ratio types.</a:t>
            </a:r>
          </a:p>
        </p:txBody>
      </p:sp>
      <p:sp>
        <p:nvSpPr>
          <p:cNvPr id="23" name="Rounded Rectangle 22"/>
          <p:cNvSpPr/>
          <p:nvPr/>
        </p:nvSpPr>
        <p:spPr>
          <a:xfrm>
            <a:off x="566928" y="2907792"/>
            <a:ext cx="6565392" cy="1124712"/>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731520" y="3035808"/>
            <a:ext cx="224028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 y="3049410"/>
            <a:ext cx="1804468" cy="338554"/>
          </a:xfrm>
          <a:prstGeom prst="rect">
            <a:avLst/>
          </a:prstGeom>
          <a:noFill/>
        </p:spPr>
        <p:txBody>
          <a:bodyPr wrap="none" lIns="45720" rIns="45720" anchor="ctr">
            <a:spAutoFit/>
          </a:bodyPr>
          <a:lstStyle/>
          <a:p>
            <a:pPr algn="l"/>
            <a:r>
              <a:rPr sz="1600" b="1" dirty="0">
                <a:solidFill>
                  <a:srgbClr val="FFFFFF"/>
                </a:solidFill>
                <a:latin typeface="Arial"/>
              </a:rPr>
              <a:t>PART-TO-WHOLE</a:t>
            </a:r>
          </a:p>
        </p:txBody>
      </p:sp>
      <p:sp>
        <p:nvSpPr>
          <p:cNvPr id="26" name="TextBox 25"/>
          <p:cNvSpPr txBox="1"/>
          <p:nvPr/>
        </p:nvSpPr>
        <p:spPr>
          <a:xfrm>
            <a:off x="3108960" y="2980944"/>
            <a:ext cx="3886200" cy="393192"/>
          </a:xfrm>
          <a:prstGeom prst="rect">
            <a:avLst/>
          </a:prstGeom>
          <a:noFill/>
        </p:spPr>
        <p:txBody>
          <a:bodyPr wrap="none" lIns="0" rIns="0" anchor="ctr">
            <a:spAutoFit/>
          </a:bodyPr>
          <a:lstStyle/>
          <a:p>
            <a:pPr algn="l"/>
            <a:r>
              <a:rPr sz="2100" b="1">
                <a:solidFill>
                  <a:srgbClr val="2D2D2D"/>
                </a:solidFill>
                <a:latin typeface="Arial"/>
              </a:rPr>
              <a:t>apple juice → fruit drink</a:t>
            </a:r>
          </a:p>
        </p:txBody>
      </p:sp>
      <p:sp>
        <p:nvSpPr>
          <p:cNvPr id="27" name="TextBox 26"/>
          <p:cNvSpPr txBox="1"/>
          <p:nvPr/>
        </p:nvSpPr>
        <p:spPr>
          <a:xfrm>
            <a:off x="3108960" y="3383280"/>
            <a:ext cx="3886200" cy="384048"/>
          </a:xfrm>
          <a:prstGeom prst="rect">
            <a:avLst/>
          </a:prstGeom>
          <a:noFill/>
        </p:spPr>
        <p:txBody>
          <a:bodyPr wrap="none" lIns="0" rIns="0" anchor="ctr">
            <a:spAutoFit/>
          </a:bodyPr>
          <a:lstStyle/>
          <a:p>
            <a:pPr algn="l"/>
            <a:r>
              <a:rPr sz="2000" b="0">
                <a:solidFill>
                  <a:srgbClr val="2D2D2D"/>
                </a:solidFill>
                <a:latin typeface="Arial"/>
              </a:rPr>
              <a:t>2 cups → 10 cups TOTAL</a:t>
            </a:r>
          </a:p>
        </p:txBody>
      </p:sp>
      <p:sp>
        <p:nvSpPr>
          <p:cNvPr id="28" name="Rounded Rectangle 27"/>
          <p:cNvSpPr/>
          <p:nvPr/>
        </p:nvSpPr>
        <p:spPr>
          <a:xfrm>
            <a:off x="566928" y="4224528"/>
            <a:ext cx="6720840" cy="1124712"/>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731520" y="435254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86384" y="4366147"/>
            <a:ext cx="1552541" cy="338554"/>
          </a:xfrm>
          <a:prstGeom prst="rect">
            <a:avLst/>
          </a:prstGeom>
          <a:noFill/>
        </p:spPr>
        <p:txBody>
          <a:bodyPr wrap="none" lIns="45720" rIns="45720" anchor="ctr">
            <a:spAutoFit/>
          </a:bodyPr>
          <a:lstStyle/>
          <a:p>
            <a:pPr algn="l"/>
            <a:r>
              <a:rPr sz="1600" dirty="0">
                <a:solidFill>
                  <a:srgbClr val="FFFFFF"/>
                </a:solidFill>
                <a:latin typeface="Arial"/>
              </a:rPr>
              <a:t>PART-TO-PART</a:t>
            </a:r>
          </a:p>
        </p:txBody>
      </p:sp>
      <p:sp>
        <p:nvSpPr>
          <p:cNvPr id="31" name="TextBox 30"/>
          <p:cNvSpPr txBox="1"/>
          <p:nvPr/>
        </p:nvSpPr>
        <p:spPr>
          <a:xfrm>
            <a:off x="3108960" y="4297680"/>
            <a:ext cx="3886200" cy="393192"/>
          </a:xfrm>
          <a:prstGeom prst="rect">
            <a:avLst/>
          </a:prstGeom>
          <a:noFill/>
        </p:spPr>
        <p:txBody>
          <a:bodyPr wrap="none" lIns="0" rIns="0" anchor="ctr">
            <a:spAutoFit/>
          </a:bodyPr>
          <a:lstStyle/>
          <a:p>
            <a:pPr algn="l"/>
            <a:r>
              <a:rPr sz="2100" b="1">
                <a:solidFill>
                  <a:srgbClr val="2D2D2D"/>
                </a:solidFill>
                <a:latin typeface="Arial"/>
              </a:rPr>
              <a:t>apple juice → sparkling water</a:t>
            </a:r>
          </a:p>
        </p:txBody>
      </p:sp>
      <p:sp>
        <p:nvSpPr>
          <p:cNvPr id="32" name="TextBox 31"/>
          <p:cNvSpPr txBox="1"/>
          <p:nvPr/>
        </p:nvSpPr>
        <p:spPr>
          <a:xfrm>
            <a:off x="3108960" y="4700016"/>
            <a:ext cx="3886200" cy="384048"/>
          </a:xfrm>
          <a:prstGeom prst="rect">
            <a:avLst/>
          </a:prstGeom>
          <a:noFill/>
        </p:spPr>
        <p:txBody>
          <a:bodyPr wrap="none" lIns="0" rIns="0" anchor="ctr">
            <a:spAutoFit/>
          </a:bodyPr>
          <a:lstStyle/>
          <a:p>
            <a:pPr algn="l"/>
            <a:r>
              <a:rPr sz="2000" b="0">
                <a:solidFill>
                  <a:srgbClr val="2D2D2D"/>
                </a:solidFill>
                <a:latin typeface="Arial"/>
              </a:rPr>
              <a:t>2 cups → 7 cups (another part)</a:t>
            </a:r>
          </a:p>
        </p:txBody>
      </p:sp>
      <p:sp>
        <p:nvSpPr>
          <p:cNvPr id="33" name="TextBox 32"/>
          <p:cNvSpPr txBox="1"/>
          <p:nvPr/>
        </p:nvSpPr>
        <p:spPr>
          <a:xfrm>
            <a:off x="694944" y="5440680"/>
            <a:ext cx="6400800" cy="329184"/>
          </a:xfrm>
          <a:prstGeom prst="rect">
            <a:avLst/>
          </a:prstGeom>
          <a:noFill/>
        </p:spPr>
        <p:txBody>
          <a:bodyPr wrap="none" lIns="45720" rIns="45720" anchor="ctr">
            <a:spAutoFit/>
          </a:bodyPr>
          <a:lstStyle/>
          <a:p>
            <a:pPr algn="l"/>
            <a:r>
              <a:rPr sz="1800" b="1" dirty="0">
                <a:solidFill>
                  <a:srgbClr val="782DA0"/>
                </a:solidFill>
                <a:latin typeface="Arial"/>
              </a:rPr>
              <a:t>Ask: Is the second quantity another PART, or is it the WHOLE?</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15 / 55</a:t>
            </a:r>
          </a:p>
        </p:txBody>
      </p:sp>
    </p:spTree>
    <p:extLst>
      <p:ext uri="{BB962C8B-B14F-4D97-AF65-F5344CB8AC3E}">
        <p14:creationId xmlns:p14="http://schemas.microsoft.com/office/powerpoint/2010/main" val="68863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defRPr/>
            </a:pPr>
            <a:r>
              <a:rPr lang="en-US" sz="2800">
                <a:solidFill>
                  <a:srgbClr val="782DA0"/>
                </a:solidFill>
                <a:latin typeface="Arial" panose="020B0604020202020204" pitchFamily="34" charset="0"/>
                <a:cs typeface="Arial" panose="020B0604020202020204" pitchFamily="34" charset="0"/>
              </a:rPr>
              <a:t>Let’s Explore More</a:t>
            </a:r>
          </a:p>
        </p:txBody>
      </p:sp>
      <p:sp>
        <p:nvSpPr>
          <p:cNvPr id="15" name="Content Placeholder 2">
            <a:extLst>
              <a:ext uri="{FF2B5EF4-FFF2-40B4-BE49-F238E27FC236}">
                <a16:creationId xmlns:a16="http://schemas.microsoft.com/office/drawing/2014/main" id="{D7D5C8EC-F1EF-6146-850F-128719B25F22}"/>
              </a:ext>
            </a:extLst>
          </p:cNvPr>
          <p:cNvSpPr txBox="1">
            <a:spLocks/>
          </p:cNvSpPr>
          <p:nvPr/>
        </p:nvSpPr>
        <p:spPr>
          <a:xfrm>
            <a:off x="484565" y="927528"/>
            <a:ext cx="7230130" cy="132396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800"/>
              </a:spcBef>
              <a:buFont typeface="+mj-lt"/>
              <a:buAutoNum type="alphaLcPeriod"/>
              <a:defRPr/>
            </a:pPr>
            <a:r>
              <a:rPr lang="en-US" sz="2800" dirty="0">
                <a:solidFill>
                  <a:schemeClr val="tx1">
                    <a:lumMod val="85000"/>
                    <a:lumOff val="15000"/>
                  </a:schemeClr>
                </a:solidFill>
                <a:latin typeface="Arial" panose="020B0604020202020204" pitchFamily="34" charset="0"/>
                <a:cs typeface="Arial" panose="020B0604020202020204" pitchFamily="34" charset="0"/>
              </a:rPr>
              <a:t>What kind of </a:t>
            </a:r>
            <a:r>
              <a:rPr lang="en-US" sz="2800" b="1" dirty="0">
                <a:latin typeface="Arial" panose="020B0604020202020204" pitchFamily="34" charset="0"/>
                <a:cs typeface="Arial" panose="020B0604020202020204" pitchFamily="34" charset="0"/>
              </a:rPr>
              <a:t>ratio</a:t>
            </a:r>
            <a:r>
              <a:rPr lang="en-US" sz="2800" dirty="0">
                <a:solidFill>
                  <a:schemeClr val="tx1">
                    <a:lumMod val="85000"/>
                    <a:lumOff val="15000"/>
                  </a:schemeClr>
                </a:solidFill>
                <a:latin typeface="Arial" panose="020B0604020202020204" pitchFamily="34" charset="0"/>
                <a:cs typeface="Arial" panose="020B0604020202020204" pitchFamily="34" charset="0"/>
              </a:rPr>
              <a:t> is the cranberry juice to fruit drink relationship? Justify your thinking.</a:t>
            </a:r>
          </a:p>
        </p:txBody>
      </p:sp>
      <p:sp>
        <p:nvSpPr>
          <p:cNvPr id="17" name="TextBox 16">
            <a:extLst>
              <a:ext uri="{FF2B5EF4-FFF2-40B4-BE49-F238E27FC236}">
                <a16:creationId xmlns:a16="http://schemas.microsoft.com/office/drawing/2014/main" id="{354B16FB-6891-DD42-B230-D51CD92601A2}"/>
              </a:ext>
            </a:extLst>
          </p:cNvPr>
          <p:cNvSpPr txBox="1"/>
          <p:nvPr/>
        </p:nvSpPr>
        <p:spPr>
          <a:xfrm>
            <a:off x="6314663" y="5744798"/>
            <a:ext cx="1206869" cy="338554"/>
          </a:xfrm>
          <a:prstGeom prst="rect">
            <a:avLst/>
          </a:prstGeom>
          <a:noFill/>
        </p:spPr>
        <p:txBody>
          <a:bodyPr wrap="none" rtlCol="0">
            <a:spAutoFit/>
          </a:bodyPr>
          <a:lstStyle/>
          <a:p>
            <a:pPr algn="r">
              <a:defRPr/>
            </a:pPr>
            <a:r>
              <a:rPr sz="1100" b="1">
                <a:solidFill>
                  <a:srgbClr val="5D6872"/>
                </a:solidFill>
                <a:latin typeface="Arial"/>
              </a:rPr>
              <a:t>Show your thinking</a:t>
            </a:r>
          </a:p>
        </p:txBody>
      </p:sp>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6265" y="1281854"/>
            <a:ext cx="3724275" cy="3552825"/>
          </a:xfrm>
          <a:prstGeom prst="rect">
            <a:avLst/>
          </a:prstGeom>
        </p:spPr>
      </p:pic>
      <p:sp>
        <p:nvSpPr>
          <p:cNvPr id="7" name="Rectangle 6">
            <a:extLst>
              <a:ext uri="{FF2B5EF4-FFF2-40B4-BE49-F238E27FC236}">
                <a16:creationId xmlns:a16="http://schemas.microsoft.com/office/drawing/2014/main" id="{D3A629F8-C3A1-BA44-BC5C-24372160A7E2}"/>
              </a:ext>
            </a:extLst>
          </p:cNvPr>
          <p:cNvSpPr/>
          <p:nvPr/>
        </p:nvSpPr>
        <p:spPr>
          <a:xfrm>
            <a:off x="567559" y="2325583"/>
            <a:ext cx="7031726" cy="3952728"/>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CHOOSE A CHALLENGE • JUSTIFY</a:t>
            </a:r>
          </a:p>
        </p:txBody>
      </p:sp>
      <p:sp>
        <p:nvSpPr>
          <p:cNvPr id="22" name="Rounded Rectangle 21"/>
          <p:cNvSpPr/>
          <p:nvPr/>
        </p:nvSpPr>
        <p:spPr>
          <a:xfrm>
            <a:off x="7927848" y="4882896"/>
            <a:ext cx="3593592" cy="107899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927848" y="4882896"/>
            <a:ext cx="73152" cy="107899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92440" y="4992624"/>
            <a:ext cx="3300984" cy="219456"/>
          </a:xfrm>
          <a:prstGeom prst="rect">
            <a:avLst/>
          </a:prstGeom>
          <a:noFill/>
        </p:spPr>
        <p:txBody>
          <a:bodyPr wrap="square" lIns="0" tIns="0" rIns="0" bIns="0" anchor="t">
            <a:spAutoFit/>
          </a:bodyPr>
          <a:lstStyle/>
          <a:p>
            <a:pPr algn="l">
              <a:defRPr/>
            </a:pPr>
            <a:r>
              <a:rPr sz="1400" b="1">
                <a:solidFill>
                  <a:srgbClr val="782DA0"/>
                </a:solidFill>
                <a:latin typeface="Arial"/>
              </a:rPr>
              <a:t>TALK TOOL</a:t>
            </a:r>
          </a:p>
        </p:txBody>
      </p:sp>
      <p:sp>
        <p:nvSpPr>
          <p:cNvPr id="25" name="TextBox 24"/>
          <p:cNvSpPr txBox="1"/>
          <p:nvPr/>
        </p:nvSpPr>
        <p:spPr>
          <a:xfrm>
            <a:off x="8092440" y="5266944"/>
            <a:ext cx="3282696" cy="603503"/>
          </a:xfrm>
          <a:prstGeom prst="rect">
            <a:avLst/>
          </a:prstGeom>
          <a:noFill/>
        </p:spPr>
        <p:txBody>
          <a:bodyPr wrap="square" lIns="0" tIns="0" rIns="0" bIns="0" anchor="t">
            <a:spAutoFit/>
          </a:bodyPr>
          <a:lstStyle/>
          <a:p>
            <a:pPr algn="l">
              <a:defRPr/>
            </a:pPr>
            <a:r>
              <a:rPr sz="1420" b="1">
                <a:latin typeface="Arial"/>
              </a:rPr>
              <a:t>For every</a:t>
            </a:r>
            <a:r>
              <a:rPr sz="1420" b="0">
                <a:solidFill>
                  <a:srgbClr val="23282D"/>
                </a:solidFill>
                <a:latin typeface="Arial"/>
              </a:rPr>
              <a:t> ___, there are ___.
This is part-to-___ because ___. </a:t>
            </a:r>
          </a:p>
        </p:txBody>
      </p:sp>
      <p:sp>
        <p:nvSpPr>
          <p:cNvPr id="26" name="Rounded Rectangle 25"/>
          <p:cNvSpPr/>
          <p:nvPr/>
        </p:nvSpPr>
        <p:spPr>
          <a:xfrm>
            <a:off x="7927848" y="5998464"/>
            <a:ext cx="2880360" cy="347472"/>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lIns="73152" tIns="0" rIns="73152" bIns="0" rtlCol="0" anchor="ctr"/>
          <a:lstStyle/>
          <a:p>
            <a:pPr algn="ctr"/>
            <a:r>
              <a:rPr sz="1400" b="1">
                <a:solidFill>
                  <a:srgbClr val="FFFFFF"/>
                </a:solidFill>
                <a:latin typeface="Arial"/>
              </a:rPr>
              <a:t>Solve → Explain → Revise</a:t>
            </a:r>
          </a:p>
        </p:txBody>
      </p:sp>
      <p:sp>
        <p:nvSpPr>
          <p:cNvPr id="27" name="Rounded Rectangle 26"/>
          <p:cNvSpPr/>
          <p:nvPr/>
        </p:nvSpPr>
        <p:spPr>
          <a:xfrm>
            <a:off x="8138160" y="4498848"/>
            <a:ext cx="233172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183880" y="4507992"/>
            <a:ext cx="2240279" cy="347472"/>
          </a:xfrm>
          <a:prstGeom prst="rect">
            <a:avLst/>
          </a:prstGeom>
          <a:noFill/>
        </p:spPr>
        <p:txBody>
          <a:bodyPr wrap="none" lIns="9144" tIns="9144" rIns="9144" bIns="9144" anchor="ctr">
            <a:spAutoFit/>
          </a:bodyPr>
          <a:lstStyle/>
          <a:p>
            <a:pPr algn="ctr">
              <a:defRPr/>
            </a:pPr>
            <a:r>
              <a:rPr sz="1500" b="1">
                <a:solidFill>
                  <a:srgbClr val="FFFFFF"/>
                </a:solidFill>
                <a:latin typeface="Arial"/>
              </a:rPr>
              <a:t>PART → WHOLE</a:t>
            </a:r>
          </a:p>
        </p:txBody>
      </p:sp>
      <p:sp>
        <p:nvSpPr>
          <p:cNvPr id="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16 / 55</a:t>
            </a:r>
          </a:p>
        </p:txBody>
      </p:sp>
    </p:spTree>
    <p:extLst>
      <p:ext uri="{BB962C8B-B14F-4D97-AF65-F5344CB8AC3E}">
        <p14:creationId xmlns:p14="http://schemas.microsoft.com/office/powerpoint/2010/main" val="1163090787"/>
      </p:ext>
    </p:extLst>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3.1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Which two quantities does this ratio compare, and how does your model preserve that comparison?</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EF6A0A76-1EBD-DF3E-802C-D740D42EB0EF}"/>
              </a:ext>
            </a:extLst>
          </p:cNvPr>
          <p:cNvSpPr txBox="1">
            <a:spLocks/>
          </p:cNvSpPr>
          <p:nvPr/>
        </p:nvSpPr>
        <p:spPr>
          <a:xfrm>
            <a:off x="614744" y="623124"/>
            <a:ext cx="7314118" cy="98796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defRPr/>
            </a:pPr>
            <a:r>
              <a:rPr lang="en-US" sz="2800" dirty="0">
                <a:solidFill>
                  <a:schemeClr val="tx1">
                    <a:lumMod val="85000"/>
                    <a:lumOff val="15000"/>
                  </a:schemeClr>
                </a:solidFill>
                <a:latin typeface="Arial" panose="020B0604020202020204" pitchFamily="34" charset="0"/>
                <a:cs typeface="Arial" panose="020B0604020202020204" pitchFamily="34" charset="0"/>
              </a:rPr>
              <a:t>For 2 cups of apple juice used, </a:t>
            </a:r>
            <a:br>
              <a:rPr lang="en-US" sz="2800" dirty="0">
                <a:solidFill>
                  <a:schemeClr val="tx1">
                    <a:lumMod val="85000"/>
                    <a:lumOff val="15000"/>
                  </a:schemeClr>
                </a:solidFill>
                <a:latin typeface="Arial" panose="020B0604020202020204" pitchFamily="34" charset="0"/>
                <a:cs typeface="Arial" panose="020B0604020202020204" pitchFamily="34" charset="0"/>
              </a:rPr>
            </a:br>
            <a:r>
              <a:rPr lang="en-US" sz="2800" dirty="0">
                <a:solidFill>
                  <a:schemeClr val="tx1">
                    <a:lumMod val="85000"/>
                    <a:lumOff val="15000"/>
                  </a:schemeClr>
                </a:solidFill>
                <a:latin typeface="Arial" panose="020B0604020202020204" pitchFamily="34" charset="0"/>
                <a:cs typeface="Arial" panose="020B0604020202020204" pitchFamily="34" charset="0"/>
              </a:rPr>
              <a:t>10 cups of fruit drink are made.</a:t>
            </a:r>
            <a:endParaRPr lang="en-US" sz="2800" b="1"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2" name="Content Placeholder 2" hidden="1">
            <a:extLst>
              <a:ext uri="{FF2B5EF4-FFF2-40B4-BE49-F238E27FC236}">
                <a16:creationId xmlns:a16="http://schemas.microsoft.com/office/drawing/2014/main" id="{7B0E57D9-C632-2B43-8F53-613EBDF732B4}"/>
              </a:ext>
            </a:extLst>
          </p:cNvPr>
          <p:cNvSpPr txBox="1">
            <a:spLocks/>
          </p:cNvSpPr>
          <p:nvPr/>
        </p:nvSpPr>
        <p:spPr>
          <a:xfrm>
            <a:off x="694646" y="4169663"/>
            <a:ext cx="7314118" cy="96012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defRPr/>
            </a:pPr>
            <a:r>
              <a:rPr sz="2000" b="1">
                <a:solidFill>
                  <a:srgbClr val="2D3A40"/>
                </a:solidFill>
                <a:latin typeface="Arial"/>
              </a:rPr>
              <a:t>Use the </a:t>
            </a:r>
            <a:r>
              <a:rPr sz="2000" b="1">
                <a:latin typeface="Arial"/>
              </a:rPr>
              <a:t>tape diagram</a:t>
            </a:r>
            <a:r>
              <a:rPr sz="2000" b="1">
                <a:solidFill>
                  <a:srgbClr val="2D3A40"/>
                </a:solidFill>
                <a:latin typeface="Arial"/>
              </a:rPr>
              <a:t> to answer both:</a:t>
            </a:r>
            <a:br/>
            <a:r>
              <a:rPr sz="2000" b="1">
                <a:solidFill>
                  <a:srgbClr val="2D3A40"/>
                </a:solidFill>
                <a:latin typeface="Arial"/>
              </a:rPr>
              <a:t>How is 2 cups related to 10 cups?  Is this </a:t>
            </a:r>
            <a:r>
              <a:rPr sz="2000" b="1">
                <a:latin typeface="Arial"/>
              </a:rPr>
              <a:t>part-to-part</a:t>
            </a:r>
            <a:r>
              <a:rPr sz="2000" b="1">
                <a:solidFill>
                  <a:srgbClr val="2D3A40"/>
                </a:solidFill>
                <a:latin typeface="Arial"/>
              </a:rPr>
              <a:t> or </a:t>
            </a:r>
            <a:r>
              <a:rPr sz="2000" b="1">
                <a:latin typeface="Arial"/>
              </a:rPr>
              <a:t>part-to-whole</a:t>
            </a:r>
            <a:r>
              <a:rPr sz="2000" b="1">
                <a:solidFill>
                  <a:srgbClr val="2D3A40"/>
                </a:solidFill>
                <a:latin typeface="Arial"/>
              </a:rPr>
              <a:t>?</a:t>
            </a:r>
          </a:p>
        </p:txBody>
      </p:sp>
      <p:pic>
        <p:nvPicPr>
          <p:cNvPr id="6" name="Picture 5">
            <a:extLst>
              <a:ext uri="{FF2B5EF4-FFF2-40B4-BE49-F238E27FC236}">
                <a16:creationId xmlns:a16="http://schemas.microsoft.com/office/drawing/2014/main" id="{212D14FD-2E44-B9A7-C409-ADB18B3D67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1925" y="2040187"/>
            <a:ext cx="6385199" cy="2124000"/>
          </a:xfrm>
          <a:prstGeom prst="rect">
            <a:avLst/>
          </a:prstGeom>
        </p:spPr>
      </p:pic>
      <p:sp>
        <p:nvSpPr>
          <p:cNvPr id="4" name="Content Placeholder 2">
            <a:extLst>
              <a:ext uri="{FF2B5EF4-FFF2-40B4-BE49-F238E27FC236}">
                <a16:creationId xmlns:a16="http://schemas.microsoft.com/office/drawing/2014/main" id="{18145FC1-DE8B-7DE7-C6DD-DEE4CAD8EB99}"/>
              </a:ext>
            </a:extLst>
          </p:cNvPr>
          <p:cNvSpPr txBox="1">
            <a:spLocks/>
          </p:cNvSpPr>
          <p:nvPr/>
        </p:nvSpPr>
        <p:spPr>
          <a:xfrm>
            <a:off x="614744" y="5440680"/>
            <a:ext cx="5960624" cy="658368"/>
          </a:xfrm>
          <a:prstGeom prst="rect">
            <a:avLst/>
          </a:prstGeom>
        </p:spPr>
        <p:txBody>
          <a:bodyPr wrap="square" lIns="36576" tIns="18288" rIns="36576" bIns="18288">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600"/>
              </a:spcBef>
              <a:spcAft>
                <a:spcPts val="400"/>
              </a:spcAft>
              <a:defRPr/>
            </a:pPr>
            <a:r>
              <a:rPr sz="1400">
                <a:solidFill>
                  <a:srgbClr val="2D3A40"/>
                </a:solidFill>
                <a:latin typeface="Arial"/>
              </a:rPr>
              <a:t>Think → Pair → Share: Explain how the model proves your answer.</a:t>
            </a:r>
          </a:p>
        </p:txBody>
      </p:sp>
      <p:sp>
        <p:nvSpPr>
          <p:cNvPr id="19"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CLASSIFY • JUSTIFY</a:t>
            </a:r>
          </a:p>
        </p:txBody>
      </p:sp>
      <p:sp>
        <p:nvSpPr>
          <p:cNvPr id="21" name="Rounded Rectangle 20"/>
          <p:cNvSpPr/>
          <p:nvPr/>
        </p:nvSpPr>
        <p:spPr>
          <a:xfrm>
            <a:off x="7927848" y="4882896"/>
            <a:ext cx="3593592" cy="107899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927848" y="4882896"/>
            <a:ext cx="73152" cy="107899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92440" y="4992624"/>
            <a:ext cx="3300984" cy="219456"/>
          </a:xfrm>
          <a:prstGeom prst="rect">
            <a:avLst/>
          </a:prstGeom>
          <a:noFill/>
        </p:spPr>
        <p:txBody>
          <a:bodyPr wrap="square" lIns="0" tIns="0" rIns="0" bIns="0" anchor="t">
            <a:spAutoFit/>
          </a:bodyPr>
          <a:lstStyle/>
          <a:p>
            <a:pPr algn="l">
              <a:defRPr/>
            </a:pPr>
            <a:r>
              <a:rPr sz="1400" b="1">
                <a:solidFill>
                  <a:srgbClr val="782DA0"/>
                </a:solidFill>
                <a:latin typeface="Arial"/>
              </a:rPr>
              <a:t>TALK TOOL</a:t>
            </a:r>
          </a:p>
        </p:txBody>
      </p:sp>
      <p:sp>
        <p:nvSpPr>
          <p:cNvPr id="24" name="TextBox 23"/>
          <p:cNvSpPr txBox="1"/>
          <p:nvPr/>
        </p:nvSpPr>
        <p:spPr>
          <a:xfrm>
            <a:off x="8092440" y="5266944"/>
            <a:ext cx="3282696" cy="603503"/>
          </a:xfrm>
          <a:prstGeom prst="rect">
            <a:avLst/>
          </a:prstGeom>
          <a:noFill/>
        </p:spPr>
        <p:txBody>
          <a:bodyPr wrap="square" lIns="0" tIns="0" rIns="0" bIns="0" anchor="t">
            <a:spAutoFit/>
          </a:bodyPr>
          <a:lstStyle/>
          <a:p>
            <a:pPr algn="l">
              <a:defRPr/>
            </a:pPr>
            <a:r>
              <a:rPr sz="1420" b="1">
                <a:latin typeface="Arial"/>
              </a:rPr>
              <a:t>For every</a:t>
            </a:r>
            <a:r>
              <a:rPr sz="1420" b="0">
                <a:solidFill>
                  <a:srgbClr val="23282D"/>
                </a:solidFill>
                <a:latin typeface="Arial"/>
              </a:rPr>
              <a:t> ___, there are ___.
This is part-to-___ because ___. </a:t>
            </a:r>
          </a:p>
        </p:txBody>
      </p:sp>
      <p:sp>
        <p:nvSpPr>
          <p:cNvPr id="25" name="Rounded Rectangle 24"/>
          <p:cNvSpPr/>
          <p:nvPr/>
        </p:nvSpPr>
        <p:spPr>
          <a:xfrm>
            <a:off x="8366760" y="4462272"/>
            <a:ext cx="233172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80" y="4471416"/>
            <a:ext cx="2240279" cy="347472"/>
          </a:xfrm>
          <a:prstGeom prst="rect">
            <a:avLst/>
          </a:prstGeom>
          <a:noFill/>
        </p:spPr>
        <p:txBody>
          <a:bodyPr wrap="none" lIns="9144" tIns="9144" rIns="9144" bIns="9144" anchor="ctr">
            <a:spAutoFit/>
          </a:bodyPr>
          <a:lstStyle/>
          <a:p>
            <a:pPr algn="ctr">
              <a:defRPr/>
            </a:pPr>
            <a:r>
              <a:rPr sz="1500" b="1">
                <a:solidFill>
                  <a:srgbClr val="FFFFFF"/>
                </a:solidFill>
                <a:latin typeface="Arial"/>
              </a:rPr>
              <a:t>PART → WHOLE</a:t>
            </a:r>
          </a:p>
        </p:txBody>
      </p:sp>
      <p:sp>
        <p:nvSpPr>
          <p:cNvPr id="27" name="Rectangle 26"/>
          <p:cNvSpPr/>
          <p:nvPr/>
        </p:nvSpPr>
        <p:spPr>
          <a:xfrm>
            <a:off x="566928" y="4178808"/>
            <a:ext cx="726948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0080" y="4224528"/>
            <a:ext cx="7040880" cy="393192"/>
          </a:xfrm>
          <a:prstGeom prst="rect">
            <a:avLst/>
          </a:prstGeom>
          <a:noFill/>
        </p:spPr>
        <p:txBody>
          <a:bodyPr wrap="none" lIns="45720" rIns="45720" anchor="ctr">
            <a:spAutoFit/>
          </a:bodyPr>
          <a:lstStyle/>
          <a:p>
            <a:pPr algn="l">
              <a:defRPr/>
            </a:pPr>
            <a:r>
              <a:rPr sz="2200" b="1" dirty="0">
                <a:solidFill>
                  <a:srgbClr val="0F9D8A"/>
                </a:solidFill>
                <a:latin typeface="Arial"/>
              </a:rPr>
              <a:t>Apple juice is a PART. Fruit drink is the WHOLE.</a:t>
            </a:r>
          </a:p>
        </p:txBody>
      </p:sp>
      <p:sp>
        <p:nvSpPr>
          <p:cNvPr id="29" name="TextBox 28"/>
          <p:cNvSpPr txBox="1"/>
          <p:nvPr/>
        </p:nvSpPr>
        <p:spPr>
          <a:xfrm>
            <a:off x="640080" y="4636008"/>
            <a:ext cx="6995160" cy="576072"/>
          </a:xfrm>
          <a:prstGeom prst="rect">
            <a:avLst/>
          </a:prstGeom>
          <a:noFill/>
        </p:spPr>
        <p:txBody>
          <a:bodyPr wrap="none" lIns="45720" rIns="45720" anchor="ctr">
            <a:spAutoFit/>
          </a:bodyPr>
          <a:lstStyle/>
          <a:p>
            <a:pPr algn="l">
              <a:defRPr/>
            </a:pPr>
            <a:r>
              <a:rPr sz="2200" b="1">
                <a:solidFill>
                  <a:srgbClr val="2D2D2D"/>
                </a:solidFill>
                <a:latin typeface="Arial"/>
              </a:rPr>
              <a:t>So 2 : 10 is PART-TO-WHOLE.  </a:t>
            </a:r>
            <a:r>
              <a:rPr sz="2200" b="1" dirty="0">
                <a:solidFill>
                  <a:srgbClr val="2D2D2D"/>
                </a:solidFill>
                <a:latin typeface="Arial"/>
              </a:rPr>
              <a:t>Why is 10 the whole?</a:t>
            </a:r>
          </a:p>
        </p:txBody>
      </p:sp>
      <p:sp>
        <p:nvSpPr>
          <p:cNvPr id="3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19 / 55</a:t>
            </a:r>
          </a:p>
        </p:txBody>
      </p:sp>
      <p:grpSp>
        <p:nvGrpSpPr>
          <p:cNvPr id="31" name="TEACH-6-student-move" descr="TEACH 6 · Organize and implement routines to support a learning-focused classroom"/>
          <p:cNvGrpSpPr/>
          <p:nvPr/>
        </p:nvGrpSpPr>
        <p:grpSpPr>
          <a:xfrm>
            <a:off x="502920" y="1683571"/>
            <a:ext cx="11186160" cy="320040"/>
            <a:chOff x="502920" y="1683571"/>
            <a:chExt cx="11186160" cy="320040"/>
          </a:xfrm>
        </p:grpSpPr>
        <p:sp>
          <p:nvSpPr>
            <p:cNvPr id="32" name="TEACH-move-card"/>
            <p:cNvSpPr/>
            <p:nvPr/>
          </p:nvSpPr>
          <p:spPr>
            <a:xfrm>
              <a:off x="502920" y="1683571"/>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33" name="TEACH-move-rule"/>
            <p:cNvSpPr/>
            <p:nvPr/>
          </p:nvSpPr>
          <p:spPr>
            <a:xfrm>
              <a:off x="548640" y="1744379"/>
              <a:ext cx="100584" cy="198424"/>
            </a:xfrm>
            <a:prstGeom prst="roundRect">
              <a:avLst>
                <a:gd name="adj" fmla="val 50000"/>
              </a:avLst>
            </a:prstGeom>
            <a:solidFill>
              <a:srgbClr val="01708C"/>
            </a:solidFill>
            <a:ln>
              <a:noFill/>
            </a:ln>
          </p:spPr>
          <p:txBody>
            <a:bodyPr/>
            <a:lstStyle/>
            <a:p>
              <a:endParaRPr/>
            </a:p>
          </p:txBody>
        </p:sp>
        <p:sp>
          <p:nvSpPr>
            <p:cNvPr id="34" name="TEACH-move-text"/>
            <p:cNvSpPr txBox="1"/>
            <p:nvPr/>
          </p:nvSpPr>
          <p:spPr>
            <a:xfrm>
              <a:off x="822960" y="1683571"/>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extLst>
      <p:ext uri="{BB962C8B-B14F-4D97-AF65-F5344CB8AC3E}">
        <p14:creationId xmlns:p14="http://schemas.microsoft.com/office/powerpoint/2010/main" val="3597335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EF6A0A76-1EBD-DF3E-802C-D740D42EB0EF}"/>
              </a:ext>
            </a:extLst>
          </p:cNvPr>
          <p:cNvSpPr txBox="1">
            <a:spLocks/>
          </p:cNvSpPr>
          <p:nvPr/>
        </p:nvSpPr>
        <p:spPr>
          <a:xfrm>
            <a:off x="462794" y="596584"/>
            <a:ext cx="7878200" cy="12322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2500" b="0" dirty="0">
                <a:solidFill>
                  <a:srgbClr val="2D3A40"/>
                </a:solidFill>
                <a:latin typeface="Arial"/>
              </a:rPr>
              <a:t>Apple juice = part.  Fruit drink = whole.</a:t>
            </a:r>
            <a:br>
              <a:rPr dirty="0"/>
            </a:br>
            <a:r>
              <a:rPr sz="2500" b="0" dirty="0">
                <a:solidFill>
                  <a:srgbClr val="2D3A40"/>
                </a:solidFill>
                <a:latin typeface="Arial"/>
              </a:rPr>
              <a:t>That makes this a </a:t>
            </a:r>
            <a:r>
              <a:rPr sz="2500" b="1" dirty="0">
                <a:latin typeface="Arial"/>
              </a:rPr>
              <a:t>part-to-whole</a:t>
            </a:r>
            <a:r>
              <a:rPr sz="2500" b="0" dirty="0">
                <a:solidFill>
                  <a:srgbClr val="2D3A40"/>
                </a:solidFill>
                <a:latin typeface="Arial"/>
              </a:rPr>
              <a:t> </a:t>
            </a:r>
            <a:r>
              <a:rPr sz="2500" b="1" dirty="0">
                <a:latin typeface="Arial"/>
              </a:rPr>
              <a:t>ratio</a:t>
            </a:r>
            <a:r>
              <a:rPr sz="2500" b="0" dirty="0">
                <a:solidFill>
                  <a:srgbClr val="2D3A40"/>
                </a:solidFill>
                <a:latin typeface="Arial"/>
              </a:rPr>
              <a:t>.</a:t>
            </a:r>
          </a:p>
        </p:txBody>
      </p:sp>
      <p:pic>
        <p:nvPicPr>
          <p:cNvPr id="4" name="Picture 3">
            <a:extLst>
              <a:ext uri="{FF2B5EF4-FFF2-40B4-BE49-F238E27FC236}">
                <a16:creationId xmlns:a16="http://schemas.microsoft.com/office/drawing/2014/main" id="{A6856E64-5BE5-E7D6-038B-6DD55A9FA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10929" y="2000326"/>
            <a:ext cx="8508150" cy="2200384"/>
          </a:xfrm>
          <a:prstGeom prst="rect">
            <a:avLst/>
          </a:prstGeom>
        </p:spPr>
      </p:pic>
      <p:sp>
        <p:nvSpPr>
          <p:cNvPr id="19"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SAY IT IN YOUR OWN WORDS</a:t>
            </a:r>
          </a:p>
        </p:txBody>
      </p:sp>
      <p:sp>
        <p:nvSpPr>
          <p:cNvPr id="21" name="Rounded Rectangle 20"/>
          <p:cNvSpPr/>
          <p:nvPr/>
        </p:nvSpPr>
        <p:spPr>
          <a:xfrm>
            <a:off x="713232" y="4443984"/>
            <a:ext cx="233172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58952" y="4453128"/>
            <a:ext cx="2240279" cy="347472"/>
          </a:xfrm>
          <a:prstGeom prst="rect">
            <a:avLst/>
          </a:prstGeom>
          <a:noFill/>
        </p:spPr>
        <p:txBody>
          <a:bodyPr wrap="none" lIns="9144" tIns="9144" rIns="9144" bIns="9144" anchor="ctr">
            <a:spAutoFit/>
          </a:bodyPr>
          <a:lstStyle/>
          <a:p>
            <a:pPr algn="ctr"/>
            <a:r>
              <a:rPr sz="1500" b="1">
                <a:solidFill>
                  <a:srgbClr val="FFFFFF"/>
                </a:solidFill>
                <a:latin typeface="Arial"/>
              </a:rPr>
              <a:t>PART → WHOLE</a:t>
            </a:r>
          </a:p>
        </p:txBody>
      </p:sp>
      <p:sp>
        <p:nvSpPr>
          <p:cNvPr id="23" name="Rounded Rectangle 22"/>
          <p:cNvSpPr/>
          <p:nvPr/>
        </p:nvSpPr>
        <p:spPr>
          <a:xfrm>
            <a:off x="731520" y="4919472"/>
            <a:ext cx="5074920" cy="658368"/>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 y="4983480"/>
            <a:ext cx="4800600" cy="502920"/>
          </a:xfrm>
          <a:prstGeom prst="rect">
            <a:avLst/>
          </a:prstGeom>
          <a:noFill/>
        </p:spPr>
        <p:txBody>
          <a:bodyPr wrap="none" lIns="45720" rIns="45720" anchor="ctr">
            <a:spAutoFit/>
          </a:bodyPr>
          <a:lstStyle/>
          <a:p>
            <a:pPr algn="ctr"/>
            <a:r>
              <a:rPr sz="2400" b="1">
                <a:solidFill>
                  <a:srgbClr val="0F9D8A"/>
                </a:solidFill>
                <a:latin typeface="Arial"/>
              </a:rPr>
              <a:t>PART : WHOLE  =  2 : 10</a:t>
            </a:r>
          </a:p>
        </p:txBody>
      </p:sp>
      <p:sp>
        <p:nvSpPr>
          <p:cNvPr id="2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20 / 55</a:t>
            </a:r>
          </a:p>
        </p:txBody>
      </p:sp>
      <p:sp xmlns:p="http://schemas.openxmlformats.org/presentationml/2006/main" xmlns:a="http://schemas.openxmlformats.org/drawingml/2006/main">
        <p:nvSpPr>
          <p:cNvPr id="26"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extLst>
      <p:ext uri="{BB962C8B-B14F-4D97-AF65-F5344CB8AC3E}">
        <p14:creationId xmlns:p14="http://schemas.microsoft.com/office/powerpoint/2010/main" val="519184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EF6A0A76-1EBD-DF3E-802C-D740D42EB0EF}"/>
              </a:ext>
            </a:extLst>
          </p:cNvPr>
          <p:cNvSpPr txBox="1">
            <a:spLocks/>
          </p:cNvSpPr>
          <p:nvPr/>
        </p:nvSpPr>
        <p:spPr>
          <a:xfrm>
            <a:off x="495451" y="464225"/>
            <a:ext cx="6906836" cy="316797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defRPr/>
            </a:pPr>
            <a:r>
              <a:rPr sz="2200">
                <a:solidFill>
                  <a:srgbClr val="2D3A40"/>
                </a:solidFill>
                <a:latin typeface="Arial"/>
              </a:rPr>
              <a:t>A </a:t>
            </a:r>
            <a:r>
              <a:rPr sz="2200" b="1">
                <a:latin typeface="Arial"/>
              </a:rPr>
              <a:t>ratio</a:t>
            </a:r>
            <a:r>
              <a:rPr sz="2200">
                <a:solidFill>
                  <a:srgbClr val="2D3A40"/>
                </a:solidFill>
                <a:latin typeface="Arial"/>
              </a:rPr>
              <a:t> compares two quantities, and </a:t>
            </a:r>
            <a:r>
              <a:rPr sz="2200" b="1">
                <a:latin typeface="Arial"/>
              </a:rPr>
              <a:t>order matters</a:t>
            </a:r>
            <a:r>
              <a:rPr sz="2200">
                <a:solidFill>
                  <a:srgbClr val="2D3A40"/>
                </a:solidFill>
                <a:latin typeface="Arial"/>
              </a:rPr>
              <a:t>.</a:t>
            </a:r>
            <a:br/>
            <a:br/>
            <a:r>
              <a:rPr sz="2200">
                <a:solidFill>
                  <a:srgbClr val="2D3A40"/>
                </a:solidFill>
                <a:latin typeface="Arial"/>
              </a:rPr>
              <a:t>2 cups of apple juice are compared with 10 cups of fruit drink.</a:t>
            </a:r>
            <a:br/>
            <a:r>
              <a:rPr sz="2200">
                <a:solidFill>
                  <a:srgbClr val="2D3A40"/>
                </a:solidFill>
                <a:latin typeface="Arial"/>
              </a:rPr>
              <a:t>A </a:t>
            </a:r>
            <a:r>
              <a:rPr sz="2200" b="1">
                <a:latin typeface="Arial"/>
              </a:rPr>
              <a:t>part-to-whole</a:t>
            </a:r>
            <a:r>
              <a:rPr sz="2200">
                <a:solidFill>
                  <a:srgbClr val="2D3A40"/>
                </a:solidFill>
                <a:latin typeface="Arial"/>
              </a:rPr>
              <a:t> </a:t>
            </a:r>
            <a:r>
              <a:rPr sz="2200" b="1">
                <a:latin typeface="Arial"/>
              </a:rPr>
              <a:t>ratio</a:t>
            </a:r>
            <a:r>
              <a:rPr sz="2200">
                <a:solidFill>
                  <a:srgbClr val="2D3A40"/>
                </a:solidFill>
                <a:latin typeface="Arial"/>
              </a:rPr>
              <a:t> can be written three ways.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6161" y="3785529"/>
            <a:ext cx="5065416" cy="1872000"/>
          </a:xfrm>
          <a:prstGeom prst="rect">
            <a:avLst/>
          </a:prstGeom>
        </p:spPr>
      </p:pic>
      <p:sp>
        <p:nvSpPr>
          <p:cNvPr id="19"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WRITE IT 3 WAYS • CHECK ORDER</a:t>
            </a:r>
          </a:p>
        </p:txBody>
      </p:sp>
      <p:sp>
        <p:nvSpPr>
          <p:cNvPr id="21" name="Rounded Rectangle 20"/>
          <p:cNvSpPr/>
          <p:nvPr/>
        </p:nvSpPr>
        <p:spPr>
          <a:xfrm>
            <a:off x="7936992" y="5074920"/>
            <a:ext cx="233172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82712" y="5084064"/>
            <a:ext cx="2240279" cy="347472"/>
          </a:xfrm>
          <a:prstGeom prst="rect">
            <a:avLst/>
          </a:prstGeom>
          <a:noFill/>
        </p:spPr>
        <p:txBody>
          <a:bodyPr wrap="none" lIns="9144" tIns="9144" rIns="9144" bIns="9144" anchor="ctr">
            <a:spAutoFit/>
          </a:bodyPr>
          <a:lstStyle/>
          <a:p>
            <a:pPr algn="ctr">
              <a:defRPr/>
            </a:pPr>
            <a:r>
              <a:rPr sz="1500" b="1">
                <a:solidFill>
                  <a:srgbClr val="FFFFFF"/>
                </a:solidFill>
                <a:latin typeface="Arial"/>
              </a:rPr>
              <a:t>PART → WHOLE</a:t>
            </a:r>
          </a:p>
        </p:txBody>
      </p:sp>
      <p:sp>
        <p:nvSpPr>
          <p:cNvPr id="23" name="Rounded Rectangle 22"/>
          <p:cNvSpPr/>
          <p:nvPr/>
        </p:nvSpPr>
        <p:spPr>
          <a:xfrm>
            <a:off x="7040880" y="3977639"/>
            <a:ext cx="3931920" cy="960120"/>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39494" y="4182969"/>
            <a:ext cx="4734694" cy="646331"/>
          </a:xfrm>
          <a:prstGeom prst="rect">
            <a:avLst/>
          </a:prstGeom>
          <a:noFill/>
        </p:spPr>
        <p:txBody>
          <a:bodyPr wrap="none" lIns="45720" rIns="45720" anchor="ctr">
            <a:spAutoFit/>
          </a:bodyPr>
          <a:lstStyle/>
          <a:p>
            <a:pPr algn="ctr">
              <a:defRPr/>
            </a:pPr>
            <a:r>
              <a:rPr lang="en-US" sz="1800" b="1" dirty="0">
                <a:solidFill>
                  <a:srgbClr val="17365D"/>
                </a:solidFill>
                <a:latin typeface="Arial"/>
              </a:rPr>
              <a:t>       </a:t>
            </a:r>
            <a:r>
              <a:rPr sz="1800" b="1" dirty="0">
                <a:solidFill>
                  <a:srgbClr val="17365D"/>
                </a:solidFill>
                <a:latin typeface="Arial"/>
              </a:rPr>
              <a:t>WHY? 10 means ALL of the fruit drink.
Second quantity = TOTAL.</a:t>
            </a:r>
          </a:p>
        </p:txBody>
      </p:sp>
      <p:sp>
        <p:nvSpPr>
          <p:cNvPr id="2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21 / 55</a:t>
            </a:r>
          </a:p>
        </p:txBody>
      </p:sp>
      <p:grpSp>
        <p:nvGrpSpPr>
          <p:cNvPr id="26" name="TEACH-5-student-move" descr="TEACH 5 · Facilitate student interactions and academic talk"/>
          <p:cNvGrpSpPr/>
          <p:nvPr/>
        </p:nvGrpSpPr>
        <p:grpSpPr>
          <a:xfrm>
            <a:off x="502920" y="5739825"/>
            <a:ext cx="11186160" cy="548640"/>
            <a:chOff x="502920" y="5739825"/>
            <a:chExt cx="11186160" cy="548640"/>
          </a:xfrm>
        </p:grpSpPr>
        <p:sp>
          <p:nvSpPr>
            <p:cNvPr id="27" name="TEACH-move-card"/>
            <p:cNvSpPr/>
            <p:nvPr/>
          </p:nvSpPr>
          <p:spPr>
            <a:xfrm>
              <a:off x="502920" y="5739825"/>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28" name="TEACH-move-rule"/>
            <p:cNvSpPr/>
            <p:nvPr/>
          </p:nvSpPr>
          <p:spPr>
            <a:xfrm>
              <a:off x="548640" y="5844067"/>
              <a:ext cx="100584" cy="340156"/>
            </a:xfrm>
            <a:prstGeom prst="roundRect">
              <a:avLst>
                <a:gd name="adj" fmla="val 50000"/>
              </a:avLst>
            </a:prstGeom>
            <a:solidFill>
              <a:srgbClr val="01708C"/>
            </a:solidFill>
            <a:ln>
              <a:noFill/>
            </a:ln>
          </p:spPr>
          <p:txBody>
            <a:bodyPr/>
            <a:lstStyle/>
            <a:p>
              <a:endParaRPr/>
            </a:p>
          </p:txBody>
        </p:sp>
        <p:sp>
          <p:nvSpPr>
            <p:cNvPr id="29" name="TEACH-move-text"/>
            <p:cNvSpPr txBox="1"/>
            <p:nvPr/>
          </p:nvSpPr>
          <p:spPr>
            <a:xfrm>
              <a:off x="822960" y="5739825"/>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extLst>
      <p:ext uri="{BB962C8B-B14F-4D97-AF65-F5344CB8AC3E}">
        <p14:creationId xmlns:p14="http://schemas.microsoft.com/office/powerpoint/2010/main" val="3490874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62794" y="489786"/>
            <a:ext cx="6366435" cy="399101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2300" dirty="0">
                <a:solidFill>
                  <a:srgbClr val="2D3A40"/>
                </a:solidFill>
                <a:latin typeface="Arial"/>
              </a:rPr>
              <a:t>How can you describe apple juice to sparkling water?</a:t>
            </a:r>
            <a:br>
              <a:rPr dirty="0"/>
            </a:br>
            <a:br>
              <a:rPr dirty="0"/>
            </a:br>
            <a:r>
              <a:rPr sz="2300" dirty="0">
                <a:solidFill>
                  <a:srgbClr val="2D3A40"/>
                </a:solidFill>
                <a:latin typeface="Arial"/>
              </a:rPr>
              <a:t>Both are parts of the fruit drink → </a:t>
            </a:r>
            <a:r>
              <a:rPr lang="en-US" sz="2300" b="1" dirty="0">
                <a:solidFill>
                  <a:srgbClr val="2D3A40"/>
                </a:solidFill>
                <a:latin typeface="Arial"/>
              </a:rPr>
              <a:t>Part to ____</a:t>
            </a:r>
            <a:r>
              <a:rPr sz="2300" dirty="0">
                <a:solidFill>
                  <a:srgbClr val="2D3A40"/>
                </a:solidFill>
                <a:latin typeface="Arial"/>
              </a:rPr>
              <a:t> </a:t>
            </a:r>
            <a:r>
              <a:rPr sz="2300" b="1" dirty="0">
                <a:latin typeface="Arial"/>
              </a:rPr>
              <a:t>ratio</a:t>
            </a:r>
            <a:r>
              <a:rPr sz="2300" dirty="0">
                <a:solidFill>
                  <a:srgbClr val="2D3A40"/>
                </a:solidFill>
                <a:latin typeface="Arial"/>
              </a:rPr>
              <a:t>.</a:t>
            </a:r>
            <a:br>
              <a:rPr dirty="0"/>
            </a:br>
            <a:br>
              <a:rPr dirty="0"/>
            </a:br>
            <a:r>
              <a:rPr sz="2300" b="1" dirty="0">
                <a:latin typeface="Arial"/>
              </a:rPr>
              <a:t>For every</a:t>
            </a:r>
            <a:r>
              <a:rPr sz="2300" dirty="0">
                <a:solidFill>
                  <a:srgbClr val="2D3A40"/>
                </a:solidFill>
                <a:latin typeface="Arial"/>
              </a:rPr>
              <a:t> 2 cups of apple juice, there are 7 cups of sparkling water.</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6265" y="1281854"/>
            <a:ext cx="3724275" cy="3552825"/>
          </a:xfrm>
          <a:prstGeom prst="rect">
            <a:avLst/>
          </a:prstGeom>
        </p:spPr>
      </p:pic>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PART-TO-PART • PROVE IT</a:t>
            </a:r>
          </a:p>
        </p:txBody>
      </p:sp>
      <p:sp>
        <p:nvSpPr>
          <p:cNvPr id="17" name="Rounded Rectangle 16"/>
          <p:cNvSpPr/>
          <p:nvPr/>
        </p:nvSpPr>
        <p:spPr>
          <a:xfrm>
            <a:off x="694944" y="4919472"/>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79628" y="4977702"/>
            <a:ext cx="1470915" cy="249299"/>
          </a:xfrm>
          <a:prstGeom prst="rect">
            <a:avLst/>
          </a:prstGeom>
          <a:noFill/>
        </p:spPr>
        <p:txBody>
          <a:bodyPr wrap="none" lIns="9144" tIns="9144" rIns="9144" bIns="9144" anchor="ctr">
            <a:spAutoFit/>
          </a:bodyPr>
          <a:lstStyle/>
          <a:p>
            <a:pPr algn="ctr"/>
            <a:r>
              <a:rPr sz="1500" b="1" dirty="0">
                <a:solidFill>
                  <a:srgbClr val="FFFFFF"/>
                </a:solidFill>
                <a:latin typeface="Arial"/>
              </a:rPr>
              <a:t>PART → </a:t>
            </a:r>
            <a:r>
              <a:rPr lang="en-US" sz="1500" b="1" dirty="0">
                <a:solidFill>
                  <a:srgbClr val="FFFFFF"/>
                </a:solidFill>
                <a:latin typeface="Arial"/>
              </a:rPr>
              <a:t>______</a:t>
            </a:r>
            <a:endParaRPr sz="1500" b="1" dirty="0">
              <a:solidFill>
                <a:srgbClr val="FFFFFF"/>
              </a:solidFill>
              <a:latin typeface="Arial"/>
            </a:endParaRPr>
          </a:p>
        </p:txBody>
      </p:sp>
      <p:sp>
        <p:nvSpPr>
          <p:cNvPr id="19" name="Rounded Rectangle 18"/>
          <p:cNvSpPr/>
          <p:nvPr/>
        </p:nvSpPr>
        <p:spPr>
          <a:xfrm>
            <a:off x="740664" y="3831454"/>
            <a:ext cx="6492240" cy="868680"/>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17365D"/>
                </a:solidFill>
                <a:latin typeface="Arial"/>
              </a:rPr>
              <a:t>Apple juice and sparkling water are BOTH ingredients.
Neither number is the total.</a:t>
            </a:r>
          </a:p>
        </p:txBody>
      </p:sp>
      <p:sp>
        <p:nvSpPr>
          <p:cNvPr id="2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22 / 55</a:t>
            </a:r>
          </a:p>
        </p:txBody>
      </p:sp>
      <p:sp xmlns:p="http://schemas.openxmlformats.org/presentationml/2006/main" xmlns:a="http://schemas.openxmlformats.org/drawingml/2006/main">
        <p:nvSpPr>
          <p:cNvPr id="21"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extLst>
      <p:ext uri="{BB962C8B-B14F-4D97-AF65-F5344CB8AC3E}">
        <p14:creationId xmlns:p14="http://schemas.microsoft.com/office/powerpoint/2010/main" val="2963891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503816" y="530474"/>
            <a:ext cx="5592184" cy="289852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This </a:t>
            </a:r>
            <a:r>
              <a:rPr lang="en-US" sz="2800" b="1" dirty="0">
                <a:latin typeface="Arial" panose="020B0604020202020204" pitchFamily="34" charset="0"/>
                <a:cs typeface="Arial" panose="020B0604020202020204" pitchFamily="34" charset="0"/>
              </a:rPr>
              <a:t>tape diagram</a:t>
            </a:r>
            <a:r>
              <a:rPr lang="en-US" sz="2800" dirty="0">
                <a:solidFill>
                  <a:schemeClr val="tx1">
                    <a:lumMod val="85000"/>
                    <a:lumOff val="15000"/>
                  </a:schemeClr>
                </a:solidFill>
                <a:latin typeface="Arial" panose="020B0604020202020204" pitchFamily="34" charset="0"/>
                <a:cs typeface="Arial" panose="020B0604020202020204" pitchFamily="34" charset="0"/>
              </a:rPr>
              <a:t> represents a </a:t>
            </a:r>
            <a:r>
              <a:rPr lang="en-US" sz="2800" b="1" dirty="0">
                <a:latin typeface="Arial" panose="020B0604020202020204" pitchFamily="34" charset="0"/>
                <a:cs typeface="Arial" panose="020B0604020202020204" pitchFamily="34" charset="0"/>
              </a:rPr>
              <a:t>part-to-part</a:t>
            </a:r>
            <a:r>
              <a:rPr lang="en-US" sz="2800" dirty="0">
                <a:solidFill>
                  <a:schemeClr val="tx1">
                    <a:lumMod val="85000"/>
                    <a:lumOff val="15000"/>
                  </a:schemeClr>
                </a:solidFill>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ratio</a:t>
            </a:r>
            <a:r>
              <a:rPr lang="en-US" sz="2800" dirty="0">
                <a:solidFill>
                  <a:schemeClr val="tx1">
                    <a:lumMod val="85000"/>
                    <a:lumOff val="15000"/>
                  </a:schemeClr>
                </a:solidFill>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For every</a:t>
            </a:r>
            <a:r>
              <a:rPr lang="en-US" sz="2800" dirty="0">
                <a:solidFill>
                  <a:schemeClr val="tx1">
                    <a:lumMod val="85000"/>
                    <a:lumOff val="15000"/>
                  </a:schemeClr>
                </a:solidFill>
                <a:latin typeface="Arial" panose="020B0604020202020204" pitchFamily="34" charset="0"/>
                <a:cs typeface="Arial" panose="020B0604020202020204" pitchFamily="34" charset="0"/>
              </a:rPr>
              <a:t> 2 cups of apple juice, there are 7 cups of sparkling water.</a:t>
            </a:r>
          </a:p>
          <a:p>
            <a:pPr>
              <a:spcBef>
                <a:spcPts val="1800"/>
              </a:spcBef>
            </a:pPr>
            <a:r>
              <a:rPr lang="en-US" sz="2800" b="1" dirty="0">
                <a:solidFill>
                  <a:schemeClr val="tx1">
                    <a:lumMod val="85000"/>
                    <a:lumOff val="15000"/>
                  </a:schemeClr>
                </a:solidFill>
                <a:latin typeface="Arial" panose="020B0604020202020204" pitchFamily="34" charset="0"/>
                <a:cs typeface="Arial" panose="020B0604020202020204" pitchFamily="34" charset="0"/>
              </a:rPr>
              <a:t>What is another way you can represent a </a:t>
            </a:r>
            <a:r>
              <a:rPr lang="en-US" sz="2800" b="1" dirty="0">
                <a:latin typeface="Arial" panose="020B0604020202020204" pitchFamily="34" charset="0"/>
                <a:cs typeface="Arial" panose="020B0604020202020204" pitchFamily="34" charset="0"/>
              </a:rPr>
              <a:t>part-to-part</a:t>
            </a:r>
            <a:r>
              <a:rPr lang="en-US" sz="2800" b="1" dirty="0">
                <a:solidFill>
                  <a:schemeClr val="tx1">
                    <a:lumMod val="85000"/>
                    <a:lumOff val="15000"/>
                  </a:schemeClr>
                </a:solidFill>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ratio</a:t>
            </a:r>
            <a:r>
              <a:rPr lang="en-US" sz="2800" b="1" dirty="0">
                <a:solidFill>
                  <a:schemeClr val="tx1">
                    <a:lumMod val="85000"/>
                    <a:lumOff val="15000"/>
                  </a:schemeClr>
                </a:solidFill>
                <a:latin typeface="Arial" panose="020B0604020202020204" pitchFamily="34" charset="0"/>
                <a:cs typeface="Arial" panose="020B0604020202020204" pitchFamily="34" charset="0"/>
              </a:rPr>
              <a:t>?</a:t>
            </a:r>
            <a:r>
              <a:rPr lang="en-US" sz="2800" dirty="0">
                <a:solidFill>
                  <a:schemeClr val="tx1">
                    <a:lumMod val="85000"/>
                    <a:lumOff val="15000"/>
                  </a:schemeClr>
                </a:solidFill>
                <a:latin typeface="Arial" panose="020B0604020202020204" pitchFamily="34" charset="0"/>
                <a:cs typeface="Arial" panose="020B0604020202020204" pitchFamily="34" charset="0"/>
              </a:rPr>
              <a:t> </a:t>
            </a:r>
          </a:p>
        </p:txBody>
      </p:sp>
      <p:pic>
        <p:nvPicPr>
          <p:cNvPr id="2" name="Picture 1">
            <a:extLst>
              <a:ext uri="{FF2B5EF4-FFF2-40B4-BE49-F238E27FC236}">
                <a16:creationId xmlns:a16="http://schemas.microsoft.com/office/drawing/2014/main" id="{23B321AC-B662-D365-DD73-9330C35F7E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93469" y="1182356"/>
            <a:ext cx="5340004" cy="2520000"/>
          </a:xfrm>
          <a:prstGeom prst="rect">
            <a:avLst/>
          </a:prstGeom>
        </p:spPr>
      </p:pic>
      <p:sp>
        <p:nvSpPr>
          <p:cNvPr id="3" name="Content Placeholder 2">
            <a:extLst>
              <a:ext uri="{FF2B5EF4-FFF2-40B4-BE49-F238E27FC236}">
                <a16:creationId xmlns:a16="http://schemas.microsoft.com/office/drawing/2014/main" id="{46E42EC9-CE38-FBE9-AC23-507860F2A9D9}"/>
              </a:ext>
            </a:extLst>
          </p:cNvPr>
          <p:cNvSpPr txBox="1">
            <a:spLocks/>
          </p:cNvSpPr>
          <p:nvPr/>
        </p:nvSpPr>
        <p:spPr>
          <a:xfrm>
            <a:off x="503816" y="3859620"/>
            <a:ext cx="5960624" cy="1095152"/>
          </a:xfrm>
          <a:prstGeom prst="rect">
            <a:avLst/>
          </a:prstGeom>
        </p:spPr>
        <p:txBody>
          <a:bodyPr wrap="square" lIns="36576" tIns="18288" rIns="36576" bIns="18288">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600"/>
              </a:spcBef>
              <a:spcAft>
                <a:spcPts val="400"/>
              </a:spcAft>
            </a:pPr>
            <a:r>
              <a:rPr sz="1500">
                <a:solidFill>
                  <a:srgbClr val="2D3A40"/>
                </a:solidFill>
                <a:latin typeface="Arial"/>
              </a:rPr>
              <a:t>Partner challenge: Choose a representation. Then explain how it connects to the </a:t>
            </a:r>
            <a:r>
              <a:rPr sz="1500" b="1">
                <a:latin typeface="Arial"/>
              </a:rPr>
              <a:t>tape diagram</a:t>
            </a:r>
            <a:r>
              <a:rPr sz="1500">
                <a:solidFill>
                  <a:srgbClr val="2D3A40"/>
                </a:solidFill>
                <a:latin typeface="Arial"/>
              </a:rPr>
              <a:t>.</a:t>
            </a:r>
          </a:p>
        </p:txBody>
      </p:sp>
      <p:pic>
        <p:nvPicPr>
          <p:cNvPr id="15" name="Picture 14">
            <a:extLst>
              <a:ext uri="{FF2B5EF4-FFF2-40B4-BE49-F238E27FC236}">
                <a16:creationId xmlns:a16="http://schemas.microsoft.com/office/drawing/2014/main" id="{D580F680-C9D7-F25E-C9CF-D88098D10DE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11097" y="4935390"/>
            <a:ext cx="7560000" cy="899693"/>
          </a:xfrm>
          <a:prstGeom prst="rect">
            <a:avLst/>
          </a:prstGeom>
        </p:spPr>
      </p:pic>
      <p:sp>
        <p:nvSpPr>
          <p:cNvPr id="16" name="Content Placeholder 2">
            <a:extLst>
              <a:ext uri="{FF2B5EF4-FFF2-40B4-BE49-F238E27FC236}">
                <a16:creationId xmlns:a16="http://schemas.microsoft.com/office/drawing/2014/main" id="{C498E2FB-5939-C6EE-51DB-D4DE3C6CCA50}"/>
              </a:ext>
            </a:extLst>
          </p:cNvPr>
          <p:cNvSpPr txBox="1">
            <a:spLocks/>
          </p:cNvSpPr>
          <p:nvPr/>
        </p:nvSpPr>
        <p:spPr>
          <a:xfrm>
            <a:off x="3228619" y="5092709"/>
            <a:ext cx="6783781" cy="64250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Connecting Representations</a:t>
            </a:r>
          </a:p>
        </p:txBody>
      </p:sp>
      <p:sp>
        <p:nvSpPr>
          <p:cNvPr id="17"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CONNECT 2 REPRESENTATIONS</a:t>
            </a:r>
          </a:p>
        </p:txBody>
      </p:sp>
      <p:sp>
        <p:nvSpPr>
          <p:cNvPr id="19" name="Rounded Rectangle 18"/>
          <p:cNvSpPr/>
          <p:nvPr/>
        </p:nvSpPr>
        <p:spPr>
          <a:xfrm>
            <a:off x="8302752" y="4407408"/>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348472" y="4416552"/>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23 / 55</a:t>
            </a:r>
          </a:p>
        </p:txBody>
      </p:sp>
    </p:spTree>
    <p:extLst>
      <p:ext uri="{BB962C8B-B14F-4D97-AF65-F5344CB8AC3E}">
        <p14:creationId xmlns:p14="http://schemas.microsoft.com/office/powerpoint/2010/main" val="3801412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15552" y="409301"/>
            <a:ext cx="6545965" cy="5353144"/>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b="1" dirty="0">
                <a:latin typeface="Arial" panose="020B0604020202020204" pitchFamily="34" charset="0"/>
                <a:cs typeface="Arial" panose="020B0604020202020204" pitchFamily="34" charset="0"/>
              </a:rPr>
              <a:t>For every</a:t>
            </a:r>
            <a:r>
              <a:rPr lang="en-US" sz="2800" dirty="0">
                <a:solidFill>
                  <a:schemeClr val="tx1">
                    <a:lumMod val="85000"/>
                    <a:lumOff val="15000"/>
                  </a:schemeClr>
                </a:solidFill>
                <a:latin typeface="Arial" panose="020B0604020202020204" pitchFamily="34" charset="0"/>
                <a:cs typeface="Arial" panose="020B0604020202020204" pitchFamily="34" charset="0"/>
              </a:rPr>
              <a:t> </a:t>
            </a:r>
            <a:r>
              <a:rPr lang="en-US" sz="2800" b="1" dirty="0">
                <a:solidFill>
                  <a:schemeClr val="tx1">
                    <a:lumMod val="85000"/>
                    <a:lumOff val="15000"/>
                  </a:schemeClr>
                </a:solidFill>
                <a:latin typeface="Arial" panose="020B0604020202020204" pitchFamily="34" charset="0"/>
                <a:cs typeface="Arial" panose="020B0604020202020204" pitchFamily="34" charset="0"/>
              </a:rPr>
              <a:t>two</a:t>
            </a:r>
            <a:r>
              <a:rPr lang="en-US" sz="2800" dirty="0">
                <a:solidFill>
                  <a:schemeClr val="tx1">
                    <a:lumMod val="85000"/>
                    <a:lumOff val="15000"/>
                  </a:schemeClr>
                </a:solidFill>
                <a:latin typeface="Arial" panose="020B0604020202020204" pitchFamily="34" charset="0"/>
                <a:cs typeface="Arial" panose="020B0604020202020204" pitchFamily="34" charset="0"/>
              </a:rPr>
              <a:t> cups of apple juice in the fruit drink, there are </a:t>
            </a:r>
            <a:r>
              <a:rPr lang="en-US" sz="2800" b="1" dirty="0">
                <a:solidFill>
                  <a:schemeClr val="tx1">
                    <a:lumMod val="85000"/>
                    <a:lumOff val="15000"/>
                  </a:schemeClr>
                </a:solidFill>
                <a:latin typeface="Arial" panose="020B0604020202020204" pitchFamily="34" charset="0"/>
                <a:cs typeface="Arial" panose="020B0604020202020204" pitchFamily="34" charset="0"/>
              </a:rPr>
              <a:t>seven</a:t>
            </a:r>
            <a:r>
              <a:rPr lang="en-US" sz="2800" dirty="0">
                <a:solidFill>
                  <a:schemeClr val="tx1">
                    <a:lumMod val="85000"/>
                    <a:lumOff val="15000"/>
                  </a:schemeClr>
                </a:solidFill>
                <a:latin typeface="Arial" panose="020B0604020202020204" pitchFamily="34" charset="0"/>
                <a:cs typeface="Arial" panose="020B0604020202020204" pitchFamily="34" charset="0"/>
              </a:rPr>
              <a:t> cups of water.</a:t>
            </a:r>
          </a:p>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You can represent a </a:t>
            </a:r>
            <a:r>
              <a:rPr lang="en-US" sz="2800" b="1" dirty="0">
                <a:latin typeface="Arial" panose="020B0604020202020204" pitchFamily="34" charset="0"/>
                <a:cs typeface="Arial" panose="020B0604020202020204" pitchFamily="34" charset="0"/>
              </a:rPr>
              <a:t>part-to-part</a:t>
            </a:r>
            <a:r>
              <a:rPr lang="en-US" sz="2800" dirty="0">
                <a:solidFill>
                  <a:schemeClr val="tx1">
                    <a:lumMod val="85000"/>
                    <a:lumOff val="15000"/>
                  </a:schemeClr>
                </a:solidFill>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ratio</a:t>
            </a:r>
            <a:r>
              <a:rPr lang="en-US" sz="2800" dirty="0">
                <a:solidFill>
                  <a:schemeClr val="tx1">
                    <a:lumMod val="85000"/>
                    <a:lumOff val="15000"/>
                  </a:schemeClr>
                </a:solidFill>
                <a:latin typeface="Arial" panose="020B0604020202020204" pitchFamily="34" charset="0"/>
                <a:cs typeface="Arial" panose="020B0604020202020204" pitchFamily="34" charset="0"/>
              </a:rPr>
              <a:t> with numbers in two ways. </a:t>
            </a:r>
          </a:p>
        </p:txBody>
      </p:sp>
      <p:sp>
        <p:nvSpPr>
          <p:cNvPr id="11" name="TextBox 10">
            <a:extLst>
              <a:ext uri="{FF2B5EF4-FFF2-40B4-BE49-F238E27FC236}">
                <a16:creationId xmlns:a16="http://schemas.microsoft.com/office/drawing/2014/main" id="{1DD4F0CE-B2AB-CEB3-6A44-E094E48B8A38}"/>
              </a:ext>
            </a:extLst>
          </p:cNvPr>
          <p:cNvSpPr txBox="1"/>
          <p:nvPr/>
        </p:nvSpPr>
        <p:spPr>
          <a:xfrm>
            <a:off x="3185094" y="3482452"/>
            <a:ext cx="2375338" cy="492443"/>
          </a:xfrm>
          <a:prstGeom prst="rect">
            <a:avLst/>
          </a:prstGeom>
          <a:noFill/>
        </p:spPr>
        <p:txBody>
          <a:bodyPr wrap="square" rtlCol="0">
            <a:spAutoFit/>
          </a:bodyPr>
          <a:lstStyle/>
          <a:p>
            <a:pPr algn="ctr">
              <a:spcBef>
                <a:spcPts val="1800"/>
              </a:spcBef>
            </a:pPr>
            <a:r>
              <a:rPr lang="en-US" sz="260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a:t>2 to 7</a:t>
            </a:r>
          </a:p>
        </p:txBody>
      </p:sp>
      <p:sp>
        <p:nvSpPr>
          <p:cNvPr id="13" name="TextBox 12">
            <a:extLst>
              <a:ext uri="{FF2B5EF4-FFF2-40B4-BE49-F238E27FC236}">
                <a16:creationId xmlns:a16="http://schemas.microsoft.com/office/drawing/2014/main" id="{1DD4F0CE-B2AB-CEB3-6A44-E094E48B8A38}"/>
              </a:ext>
            </a:extLst>
          </p:cNvPr>
          <p:cNvSpPr txBox="1"/>
          <p:nvPr/>
        </p:nvSpPr>
        <p:spPr>
          <a:xfrm>
            <a:off x="3122952" y="4415509"/>
            <a:ext cx="2375338" cy="492443"/>
          </a:xfrm>
          <a:prstGeom prst="rect">
            <a:avLst/>
          </a:prstGeom>
          <a:noFill/>
        </p:spPr>
        <p:txBody>
          <a:bodyPr wrap="square" rtlCol="0">
            <a:spAutoFit/>
          </a:bodyPr>
          <a:lstStyle/>
          <a:p>
            <a:pPr algn="ctr">
              <a:spcBef>
                <a:spcPts val="1800"/>
              </a:spcBef>
            </a:pPr>
            <a:r>
              <a:rPr lang="en-US" sz="260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a:t>2 : 7</a:t>
            </a:r>
          </a:p>
        </p:txBody>
      </p: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READ IT ALOUD • CHECK ORDER</a:t>
            </a:r>
          </a:p>
        </p:txBody>
      </p:sp>
      <p:sp>
        <p:nvSpPr>
          <p:cNvPr id="17" name="Rounded Rectangle 16"/>
          <p:cNvSpPr/>
          <p:nvPr/>
        </p:nvSpPr>
        <p:spPr>
          <a:xfrm>
            <a:off x="7086600" y="3154680"/>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0" y="3163824"/>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19" name="Rounded Rectangle 18"/>
          <p:cNvSpPr/>
          <p:nvPr/>
        </p:nvSpPr>
        <p:spPr>
          <a:xfrm>
            <a:off x="5532120" y="3749039"/>
            <a:ext cx="4251960" cy="1078992"/>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15000" y="3840480"/>
            <a:ext cx="3886200" cy="896112"/>
          </a:xfrm>
          <a:prstGeom prst="rect">
            <a:avLst/>
          </a:prstGeom>
          <a:noFill/>
        </p:spPr>
        <p:txBody>
          <a:bodyPr wrap="none" lIns="45720" rIns="45720" anchor="ctr">
            <a:spAutoFit/>
          </a:bodyPr>
          <a:lstStyle/>
          <a:p>
            <a:pPr algn="ctr"/>
            <a:r>
              <a:rPr sz="2000" b="1" dirty="0">
                <a:solidFill>
                  <a:srgbClr val="E67E22"/>
                </a:solidFill>
                <a:latin typeface="Arial"/>
              </a:rPr>
              <a:t>PART : PART
2 : 7
No total is used.</a:t>
            </a:r>
          </a:p>
        </p:txBody>
      </p:sp>
      <p:sp>
        <p:nvSpPr>
          <p:cNvPr id="2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24 / 55</a:t>
            </a:r>
          </a:p>
        </p:txBody>
      </p:sp>
      <p:sp xmlns:p="http://schemas.openxmlformats.org/presentationml/2006/main" xmlns:a="http://schemas.openxmlformats.org/drawingml/2006/main">
        <p:nvSpPr>
          <p:cNvPr id="22" name="TEACH-embedded-student-prompt" descr="Student thinking and response directions"/>
          <p:cNvSpPr txBox="1"/>
          <p:nvPr/>
        </p:nvSpPr>
        <p:spPr>
          <a:xfrm>
            <a:off x="7391400" y="5413248"/>
            <a:ext cx="420624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a:t>
            </a:r>
            <a:endParaRPr lang="en-US" sz="2000"/>
          </a:p>
          <a:p>
            <a:pPr>
              <a:lnSpc>
                <a:spcPts val="2400"/>
              </a:lnSpc>
              <a:buNone/>
            </a:pPr>
            <a:r>
              <a:rPr lang="en-US" sz="2000">
                <a:solidFill>
                  <a:srgbClr val="174D60"/>
                </a:solidFill>
                <a:latin typeface="Arial"/>
              </a:rPr>
              <a:t>shown supports your reasoning.</a:t>
            </a:r>
            <a:endParaRPr lang="en-US" sz="2000"/>
          </a:p>
        </p:txBody>
      </p:sp>
    </p:spTree>
    <p:extLst>
      <p:ext uri="{BB962C8B-B14F-4D97-AF65-F5344CB8AC3E}">
        <p14:creationId xmlns:p14="http://schemas.microsoft.com/office/powerpoint/2010/main" val="1434058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6265" y="1281854"/>
            <a:ext cx="3724275" cy="3552825"/>
          </a:xfrm>
          <a:prstGeom prst="rect">
            <a:avLst/>
          </a:prstGeom>
        </p:spPr>
      </p:pic>
      <p:sp>
        <p:nvSpPr>
          <p:cNvPr id="20"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SELF-EXPLAIN • PART VS. WHOLE</a:t>
            </a:r>
          </a:p>
        </p:txBody>
      </p:sp>
      <p:sp>
        <p:nvSpPr>
          <p:cNvPr id="22" name="Rounded Rectangle 21"/>
          <p:cNvSpPr/>
          <p:nvPr/>
        </p:nvSpPr>
        <p:spPr>
          <a:xfrm>
            <a:off x="7927848" y="4882896"/>
            <a:ext cx="3593592" cy="107899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927848" y="4882896"/>
            <a:ext cx="73152" cy="107899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320040" y="594360"/>
            <a:ext cx="11521440" cy="5486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658368"/>
            <a:ext cx="10972800" cy="502920"/>
          </a:xfrm>
          <a:prstGeom prst="rect">
            <a:avLst/>
          </a:prstGeom>
          <a:noFill/>
        </p:spPr>
        <p:txBody>
          <a:bodyPr wrap="none" lIns="45720" rIns="45720" anchor="ctr">
            <a:spAutoFit/>
          </a:bodyPr>
          <a:lstStyle/>
          <a:p>
            <a:pPr algn="l">
              <a:defRPr/>
            </a:pPr>
            <a:r>
              <a:rPr sz="3000" b="1">
                <a:solidFill>
                  <a:srgbClr val="782DA0"/>
                </a:solidFill>
                <a:latin typeface="Arial"/>
              </a:rPr>
              <a:t>Don’t Mix Them Up</a:t>
            </a:r>
          </a:p>
        </p:txBody>
      </p:sp>
      <p:sp>
        <p:nvSpPr>
          <p:cNvPr id="28" name="TextBox 27"/>
          <p:cNvSpPr txBox="1"/>
          <p:nvPr/>
        </p:nvSpPr>
        <p:spPr>
          <a:xfrm>
            <a:off x="566928" y="1216152"/>
            <a:ext cx="10972800" cy="365760"/>
          </a:xfrm>
          <a:prstGeom prst="rect">
            <a:avLst/>
          </a:prstGeom>
          <a:noFill/>
        </p:spPr>
        <p:txBody>
          <a:bodyPr wrap="none" lIns="45720" rIns="45720" anchor="ctr">
            <a:spAutoFit/>
          </a:bodyPr>
          <a:lstStyle/>
          <a:p>
            <a:pPr algn="l">
              <a:defRPr/>
            </a:pPr>
            <a:r>
              <a:rPr sz="2100" b="1">
                <a:solidFill>
                  <a:srgbClr val="17365D"/>
                </a:solidFill>
                <a:latin typeface="Arial"/>
              </a:rPr>
              <a:t>Use the SAME recipe. Look at what the second quantity is.</a:t>
            </a:r>
          </a:p>
        </p:txBody>
      </p:sp>
      <p:sp>
        <p:nvSpPr>
          <p:cNvPr id="29" name="Rounded Rectangle 28"/>
          <p:cNvSpPr/>
          <p:nvPr/>
        </p:nvSpPr>
        <p:spPr>
          <a:xfrm>
            <a:off x="621792" y="1783080"/>
            <a:ext cx="5394960" cy="3246120"/>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41248" y="1975104"/>
            <a:ext cx="260604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96112" y="1984248"/>
            <a:ext cx="2496312" cy="347472"/>
          </a:xfrm>
          <a:prstGeom prst="rect">
            <a:avLst/>
          </a:prstGeom>
          <a:noFill/>
        </p:spPr>
        <p:txBody>
          <a:bodyPr wrap="none" lIns="45720" rIns="45720" anchor="ctr">
            <a:spAutoFit/>
          </a:bodyPr>
          <a:lstStyle/>
          <a:p>
            <a:pPr algn="l">
              <a:defRPr/>
            </a:pPr>
            <a:r>
              <a:rPr sz="1600" b="1">
                <a:solidFill>
                  <a:srgbClr val="FFFFFF"/>
                </a:solidFill>
                <a:latin typeface="Arial"/>
              </a:rPr>
              <a:t>PART-TO-PART</a:t>
            </a:r>
          </a:p>
        </p:txBody>
      </p:sp>
      <p:sp>
        <p:nvSpPr>
          <p:cNvPr id="32" name="TextBox 31"/>
          <p:cNvSpPr txBox="1"/>
          <p:nvPr/>
        </p:nvSpPr>
        <p:spPr>
          <a:xfrm>
            <a:off x="841248" y="2487168"/>
            <a:ext cx="4800600" cy="411480"/>
          </a:xfrm>
          <a:prstGeom prst="rect">
            <a:avLst/>
          </a:prstGeom>
          <a:noFill/>
        </p:spPr>
        <p:txBody>
          <a:bodyPr wrap="none" lIns="45720" rIns="45720" anchor="ctr">
            <a:spAutoFit/>
          </a:bodyPr>
          <a:lstStyle/>
          <a:p>
            <a:pPr algn="l">
              <a:defRPr/>
            </a:pPr>
            <a:r>
              <a:rPr sz="2200" b="1">
                <a:solidFill>
                  <a:srgbClr val="2D2D2D"/>
                </a:solidFill>
                <a:latin typeface="Arial"/>
              </a:rPr>
              <a:t>apple juice : sparkling water</a:t>
            </a:r>
          </a:p>
        </p:txBody>
      </p:sp>
      <p:sp>
        <p:nvSpPr>
          <p:cNvPr id="33" name="TextBox 32"/>
          <p:cNvSpPr txBox="1"/>
          <p:nvPr/>
        </p:nvSpPr>
        <p:spPr>
          <a:xfrm>
            <a:off x="841248" y="2944368"/>
            <a:ext cx="4800600" cy="475488"/>
          </a:xfrm>
          <a:prstGeom prst="rect">
            <a:avLst/>
          </a:prstGeom>
          <a:noFill/>
        </p:spPr>
        <p:txBody>
          <a:bodyPr wrap="none" lIns="45720" rIns="45720" anchor="ctr">
            <a:spAutoFit/>
          </a:bodyPr>
          <a:lstStyle/>
          <a:p>
            <a:pPr algn="l">
              <a:defRPr/>
            </a:pPr>
            <a:r>
              <a:rPr sz="3200" b="1">
                <a:solidFill>
                  <a:srgbClr val="E67E22"/>
                </a:solidFill>
                <a:latin typeface="Arial"/>
              </a:rPr>
              <a:t>2 : 7</a:t>
            </a:r>
          </a:p>
        </p:txBody>
      </p:sp>
      <p:sp>
        <p:nvSpPr>
          <p:cNvPr id="34" name="TextBox 33"/>
          <p:cNvSpPr txBox="1"/>
          <p:nvPr/>
        </p:nvSpPr>
        <p:spPr>
          <a:xfrm>
            <a:off x="841248" y="3529584"/>
            <a:ext cx="4800600" cy="841248"/>
          </a:xfrm>
          <a:prstGeom prst="rect">
            <a:avLst/>
          </a:prstGeom>
          <a:noFill/>
        </p:spPr>
        <p:txBody>
          <a:bodyPr wrap="none" lIns="45720" rIns="45720" anchor="ctr">
            <a:spAutoFit/>
          </a:bodyPr>
          <a:lstStyle/>
          <a:p>
            <a:pPr algn="l">
              <a:defRPr/>
            </a:pPr>
            <a:r>
              <a:rPr sz="1900" b="0">
                <a:solidFill>
                  <a:srgbClr val="2D2D2D"/>
                </a:solidFill>
                <a:latin typeface="Arial"/>
              </a:rPr>
              <a:t>7 cups is another PART.
Compare one ingredient to another.</a:t>
            </a:r>
          </a:p>
        </p:txBody>
      </p:sp>
      <p:sp>
        <p:nvSpPr>
          <p:cNvPr id="35" name="TextBox 34"/>
          <p:cNvSpPr txBox="1"/>
          <p:nvPr/>
        </p:nvSpPr>
        <p:spPr>
          <a:xfrm>
            <a:off x="841248" y="4462272"/>
            <a:ext cx="4800600" cy="384048"/>
          </a:xfrm>
          <a:prstGeom prst="rect">
            <a:avLst/>
          </a:prstGeom>
          <a:noFill/>
        </p:spPr>
        <p:txBody>
          <a:bodyPr wrap="none" lIns="45720" rIns="45720" anchor="ctr">
            <a:spAutoFit/>
          </a:bodyPr>
          <a:lstStyle/>
          <a:p>
            <a:pPr algn="ctr">
              <a:defRPr/>
            </a:pPr>
            <a:r>
              <a:rPr sz="2200" b="1">
                <a:solidFill>
                  <a:srgbClr val="E67E22"/>
                </a:solidFill>
                <a:latin typeface="Arial"/>
              </a:rPr>
              <a:t>PART : PART</a:t>
            </a:r>
          </a:p>
        </p:txBody>
      </p:sp>
      <p:sp>
        <p:nvSpPr>
          <p:cNvPr id="36" name="Rounded Rectangle 35"/>
          <p:cNvSpPr/>
          <p:nvPr/>
        </p:nvSpPr>
        <p:spPr>
          <a:xfrm>
            <a:off x="6236208" y="1783080"/>
            <a:ext cx="5394960" cy="3246120"/>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6455664" y="1975104"/>
            <a:ext cx="274320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510527" y="1984248"/>
            <a:ext cx="2633472" cy="347472"/>
          </a:xfrm>
          <a:prstGeom prst="rect">
            <a:avLst/>
          </a:prstGeom>
          <a:noFill/>
        </p:spPr>
        <p:txBody>
          <a:bodyPr wrap="none" lIns="45720" rIns="45720" anchor="ctr">
            <a:spAutoFit/>
          </a:bodyPr>
          <a:lstStyle/>
          <a:p>
            <a:pPr algn="l">
              <a:defRPr/>
            </a:pPr>
            <a:r>
              <a:rPr sz="1600" b="1">
                <a:solidFill>
                  <a:srgbClr val="FFFFFF"/>
                </a:solidFill>
                <a:latin typeface="Arial"/>
              </a:rPr>
              <a:t>PART-TO-WHOLE</a:t>
            </a:r>
          </a:p>
        </p:txBody>
      </p:sp>
      <p:sp>
        <p:nvSpPr>
          <p:cNvPr id="39" name="TextBox 38"/>
          <p:cNvSpPr txBox="1"/>
          <p:nvPr/>
        </p:nvSpPr>
        <p:spPr>
          <a:xfrm>
            <a:off x="6455664" y="2487168"/>
            <a:ext cx="4800600" cy="411480"/>
          </a:xfrm>
          <a:prstGeom prst="rect">
            <a:avLst/>
          </a:prstGeom>
          <a:noFill/>
        </p:spPr>
        <p:txBody>
          <a:bodyPr wrap="none" lIns="45720" rIns="45720" anchor="ctr">
            <a:spAutoFit/>
          </a:bodyPr>
          <a:lstStyle/>
          <a:p>
            <a:pPr algn="l">
              <a:defRPr/>
            </a:pPr>
            <a:r>
              <a:rPr sz="2200" b="1">
                <a:solidFill>
                  <a:srgbClr val="2D2D2D"/>
                </a:solidFill>
                <a:latin typeface="Arial"/>
              </a:rPr>
              <a:t>apple juice : fruit drink</a:t>
            </a:r>
          </a:p>
        </p:txBody>
      </p:sp>
      <p:sp>
        <p:nvSpPr>
          <p:cNvPr id="40" name="TextBox 39"/>
          <p:cNvSpPr txBox="1"/>
          <p:nvPr/>
        </p:nvSpPr>
        <p:spPr>
          <a:xfrm>
            <a:off x="6455664" y="2944368"/>
            <a:ext cx="4800600" cy="475488"/>
          </a:xfrm>
          <a:prstGeom prst="rect">
            <a:avLst/>
          </a:prstGeom>
          <a:noFill/>
        </p:spPr>
        <p:txBody>
          <a:bodyPr wrap="none" lIns="45720" rIns="45720" anchor="ctr">
            <a:spAutoFit/>
          </a:bodyPr>
          <a:lstStyle/>
          <a:p>
            <a:pPr algn="l">
              <a:defRPr/>
            </a:pPr>
            <a:r>
              <a:rPr sz="3200" b="1">
                <a:solidFill>
                  <a:srgbClr val="0F9D8A"/>
                </a:solidFill>
                <a:latin typeface="Arial"/>
              </a:rPr>
              <a:t>2 : 10</a:t>
            </a:r>
          </a:p>
        </p:txBody>
      </p:sp>
      <p:sp>
        <p:nvSpPr>
          <p:cNvPr id="41" name="TextBox 40"/>
          <p:cNvSpPr txBox="1"/>
          <p:nvPr/>
        </p:nvSpPr>
        <p:spPr>
          <a:xfrm>
            <a:off x="6455664" y="3529584"/>
            <a:ext cx="4800600" cy="841248"/>
          </a:xfrm>
          <a:prstGeom prst="rect">
            <a:avLst/>
          </a:prstGeom>
          <a:noFill/>
        </p:spPr>
        <p:txBody>
          <a:bodyPr wrap="none" lIns="45720" rIns="45720" anchor="ctr">
            <a:spAutoFit/>
          </a:bodyPr>
          <a:lstStyle/>
          <a:p>
            <a:pPr algn="l">
              <a:defRPr/>
            </a:pPr>
            <a:r>
              <a:rPr sz="1900" b="0">
                <a:solidFill>
                  <a:srgbClr val="2D2D2D"/>
                </a:solidFill>
                <a:latin typeface="Arial"/>
              </a:rPr>
              <a:t>10 cups is the WHOLE drink.
Compare one ingredient to the total.</a:t>
            </a:r>
          </a:p>
        </p:txBody>
      </p:sp>
      <p:sp>
        <p:nvSpPr>
          <p:cNvPr id="42" name="TextBox 41"/>
          <p:cNvSpPr txBox="1"/>
          <p:nvPr/>
        </p:nvSpPr>
        <p:spPr>
          <a:xfrm>
            <a:off x="6455664" y="4462272"/>
            <a:ext cx="4800600" cy="384048"/>
          </a:xfrm>
          <a:prstGeom prst="rect">
            <a:avLst/>
          </a:prstGeom>
          <a:noFill/>
        </p:spPr>
        <p:txBody>
          <a:bodyPr wrap="none" lIns="45720" rIns="45720" anchor="ctr">
            <a:spAutoFit/>
          </a:bodyPr>
          <a:lstStyle/>
          <a:p>
            <a:pPr algn="ctr">
              <a:defRPr/>
            </a:pPr>
            <a:r>
              <a:rPr sz="2200" b="1">
                <a:solidFill>
                  <a:srgbClr val="0F9D8A"/>
                </a:solidFill>
                <a:latin typeface="Arial"/>
              </a:rPr>
              <a:t>PART : TOTAL</a:t>
            </a:r>
          </a:p>
        </p:txBody>
      </p:sp>
      <p:sp>
        <p:nvSpPr>
          <p:cNvPr id="43" name="Rounded Rectangle 42"/>
          <p:cNvSpPr/>
          <p:nvPr/>
        </p:nvSpPr>
        <p:spPr>
          <a:xfrm>
            <a:off x="1280160" y="5248656"/>
            <a:ext cx="9646920" cy="612648"/>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417320" y="5303520"/>
            <a:ext cx="9372600" cy="484632"/>
          </a:xfrm>
          <a:prstGeom prst="rect">
            <a:avLst/>
          </a:prstGeom>
          <a:noFill/>
        </p:spPr>
        <p:txBody>
          <a:bodyPr wrap="none" lIns="45720" rIns="45720" anchor="ctr">
            <a:spAutoFit/>
          </a:bodyPr>
          <a:lstStyle/>
          <a:p>
            <a:pPr algn="ctr">
              <a:defRPr/>
            </a:pPr>
            <a:r>
              <a:rPr sz="1800" b="1">
                <a:solidFill>
                  <a:srgbClr val="17365D"/>
                </a:solidFill>
                <a:latin typeface="Arial"/>
              </a:rPr>
              <a:t>DECISION RULE: second quantity is another part → PART-TO-PART | second quantity is total → PART-TO-WHOLE</a:t>
            </a:r>
          </a:p>
        </p:txBody>
      </p:sp>
      <p:sp>
        <p:nvSpPr>
          <p:cNvPr id="45" name="Rectangle 44"/>
          <p:cNvSpPr/>
          <p:nvPr/>
        </p:nvSpPr>
        <p:spPr>
          <a:xfrm>
            <a:off x="320040" y="310896"/>
            <a:ext cx="6492240" cy="2560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25 / 55</a:t>
            </a:r>
          </a:p>
        </p:txBody>
      </p:sp>
      <p:grpSp>
        <p:nvGrpSpPr>
          <p:cNvPr id="47" name="TEACH-4-student-move" descr="TEACH 4 · Monitor progress and provide feedback"/>
          <p:cNvGrpSpPr/>
          <p:nvPr/>
        </p:nvGrpSpPr>
        <p:grpSpPr>
          <a:xfrm>
            <a:off x="502920" y="5897880"/>
            <a:ext cx="5501640" cy="402336"/>
            <a:chOff x="502920" y="5897880"/>
            <a:chExt cx="5501640" cy="402336"/>
          </a:xfrm>
        </p:grpSpPr>
        <p:sp>
          <p:nvSpPr>
            <p:cNvPr id="48" name="TEACH-move-card"/>
            <p:cNvSpPr/>
            <p:nvPr/>
          </p:nvSpPr>
          <p:spPr>
            <a:xfrm>
              <a:off x="502920" y="5897880"/>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49" name="TEACH-move-rule"/>
            <p:cNvSpPr/>
            <p:nvPr/>
          </p:nvSpPr>
          <p:spPr>
            <a:xfrm>
              <a:off x="548640" y="5974324"/>
              <a:ext cx="100584" cy="249448"/>
            </a:xfrm>
            <a:prstGeom prst="roundRect">
              <a:avLst>
                <a:gd name="adj" fmla="val 50000"/>
              </a:avLst>
            </a:prstGeom>
            <a:solidFill>
              <a:srgbClr val="01708C"/>
            </a:solidFill>
            <a:ln>
              <a:noFill/>
            </a:ln>
          </p:spPr>
          <p:txBody>
            <a:bodyPr/>
            <a:lstStyle/>
            <a:p>
              <a:endParaRPr/>
            </a:p>
          </p:txBody>
        </p:sp>
        <p:sp>
          <p:nvSpPr>
            <p:cNvPr id="50" name="TEACH-move-text"/>
            <p:cNvSpPr txBox="1"/>
            <p:nvPr/>
          </p:nvSpPr>
          <p:spPr>
            <a:xfrm>
              <a:off x="822960" y="5897880"/>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extLst>
      <p:ext uri="{BB962C8B-B14F-4D97-AF65-F5344CB8AC3E}">
        <p14:creationId xmlns:p14="http://schemas.microsoft.com/office/powerpoint/2010/main" val="1226145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9184"/>
            <a:ext cx="7132320" cy="530352"/>
          </a:xfrm>
          <a:prstGeom prst="rect">
            <a:avLst/>
          </a:prstGeom>
          <a:noFill/>
        </p:spPr>
        <p:txBody>
          <a:bodyPr wrap="square" lIns="0" tIns="0" rIns="0" bIns="0" anchor="t">
            <a:spAutoFit/>
          </a:bodyPr>
          <a:lstStyle/>
          <a:p>
            <a:pPr algn="l"/>
            <a:r>
              <a:rPr sz="2800" b="1">
                <a:solidFill>
                  <a:srgbClr val="782DA0"/>
                </a:solidFill>
                <a:latin typeface="Arial"/>
              </a:rPr>
              <a:t>60-Second Check</a:t>
            </a:r>
          </a:p>
        </p:txBody>
      </p:sp>
      <p:sp>
        <p:nvSpPr>
          <p:cNvPr id="3" name="TextBox 2"/>
          <p:cNvSpPr txBox="1"/>
          <p:nvPr/>
        </p:nvSpPr>
        <p:spPr>
          <a:xfrm>
            <a:off x="521207" y="896112"/>
            <a:ext cx="7589520" cy="320040"/>
          </a:xfrm>
          <a:prstGeom prst="rect">
            <a:avLst/>
          </a:prstGeom>
          <a:noFill/>
        </p:spPr>
        <p:txBody>
          <a:bodyPr wrap="square" lIns="0" tIns="0" rIns="0" bIns="0" anchor="t">
            <a:spAutoFit/>
          </a:bodyPr>
          <a:lstStyle/>
          <a:p>
            <a:pPr algn="l"/>
            <a:r>
              <a:rPr sz="1500" b="0">
                <a:solidFill>
                  <a:srgbClr val="5D6872"/>
                </a:solidFill>
                <a:latin typeface="Arial"/>
              </a:rPr>
              <a:t>Work independently first. Your response tells us what to do next.</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FORMATIVE CHECK  ·  SOLO → CHECK → REVISE</a:t>
            </a:r>
          </a:p>
        </p:txBody>
      </p:sp>
      <p:sp>
        <p:nvSpPr>
          <p:cNvPr id="6" name="Rounded Rectangle 5"/>
          <p:cNvSpPr/>
          <p:nvPr/>
        </p:nvSpPr>
        <p:spPr>
          <a:xfrm>
            <a:off x="502920" y="1353312"/>
            <a:ext cx="11082528" cy="868680"/>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868680"/>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7512" y="1463040"/>
            <a:ext cx="10789919" cy="219456"/>
          </a:xfrm>
          <a:prstGeom prst="rect">
            <a:avLst/>
          </a:prstGeom>
          <a:noFill/>
        </p:spPr>
        <p:txBody>
          <a:bodyPr wrap="square" lIns="0" tIns="0" rIns="0" bIns="0" anchor="t">
            <a:spAutoFit/>
          </a:bodyPr>
          <a:lstStyle/>
          <a:p>
            <a:pPr algn="l"/>
            <a:r>
              <a:rPr sz="1400" b="1">
                <a:solidFill>
                  <a:srgbClr val="01708C"/>
                </a:solidFill>
                <a:latin typeface="Arial"/>
              </a:rPr>
              <a:t>USE THIS RECIPE INFORMATION</a:t>
            </a:r>
          </a:p>
        </p:txBody>
      </p:sp>
      <p:sp>
        <p:nvSpPr>
          <p:cNvPr id="9" name="TextBox 8"/>
          <p:cNvSpPr txBox="1"/>
          <p:nvPr/>
        </p:nvSpPr>
        <p:spPr>
          <a:xfrm>
            <a:off x="667512" y="1737360"/>
            <a:ext cx="10771632" cy="393191"/>
          </a:xfrm>
          <a:prstGeom prst="rect">
            <a:avLst/>
          </a:prstGeom>
          <a:noFill/>
        </p:spPr>
        <p:txBody>
          <a:bodyPr wrap="square" lIns="0" tIns="0" rIns="0" bIns="0" anchor="t">
            <a:spAutoFit/>
          </a:bodyPr>
          <a:lstStyle/>
          <a:p>
            <a:pPr algn="l"/>
            <a:r>
              <a:rPr sz="1600" b="0">
                <a:solidFill>
                  <a:srgbClr val="23282D"/>
                </a:solidFill>
                <a:latin typeface="Arial"/>
              </a:rPr>
              <a:t>2 cups apple juice  •  1 cup cranberry juice  •  7 cups sparkling water  •  10 cups total fruit drink</a:t>
            </a:r>
          </a:p>
        </p:txBody>
      </p:sp>
      <p:sp>
        <p:nvSpPr>
          <p:cNvPr id="10" name="Rounded Rectangle 9"/>
          <p:cNvSpPr/>
          <p:nvPr/>
        </p:nvSpPr>
        <p:spPr>
          <a:xfrm>
            <a:off x="502920" y="2487168"/>
            <a:ext cx="3520440" cy="2395728"/>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2920" y="2487168"/>
            <a:ext cx="73152" cy="2395728"/>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 y="2596896"/>
            <a:ext cx="3227832" cy="219456"/>
          </a:xfrm>
          <a:prstGeom prst="rect">
            <a:avLst/>
          </a:prstGeom>
          <a:noFill/>
        </p:spPr>
        <p:txBody>
          <a:bodyPr wrap="square" lIns="0" tIns="0" rIns="0" bIns="0" anchor="t">
            <a:spAutoFit/>
          </a:bodyPr>
          <a:lstStyle/>
          <a:p>
            <a:pPr algn="l"/>
            <a:r>
              <a:rPr sz="1400" b="1">
                <a:solidFill>
                  <a:srgbClr val="782DA0"/>
                </a:solidFill>
                <a:latin typeface="Arial"/>
              </a:rPr>
              <a:t>1 — REPRESENT</a:t>
            </a:r>
          </a:p>
        </p:txBody>
      </p:sp>
      <p:sp>
        <p:nvSpPr>
          <p:cNvPr id="13" name="TextBox 12"/>
          <p:cNvSpPr txBox="1"/>
          <p:nvPr/>
        </p:nvSpPr>
        <p:spPr>
          <a:xfrm>
            <a:off x="667512" y="2871216"/>
            <a:ext cx="3209544" cy="1920240"/>
          </a:xfrm>
          <a:prstGeom prst="rect">
            <a:avLst/>
          </a:prstGeom>
          <a:noFill/>
        </p:spPr>
        <p:txBody>
          <a:bodyPr wrap="square" lIns="0" tIns="0" rIns="0" bIns="0" anchor="t">
            <a:spAutoFit/>
          </a:bodyPr>
          <a:lstStyle/>
          <a:p>
            <a:pPr algn="l"/>
            <a:r>
              <a:rPr sz="1700" b="0">
                <a:solidFill>
                  <a:srgbClr val="23282D"/>
                </a:solidFill>
                <a:latin typeface="Arial"/>
              </a:rPr>
              <a:t>Write the </a:t>
            </a:r>
            <a:r>
              <a:rPr sz="1700" b="1">
                <a:latin typeface="Arial"/>
              </a:rPr>
              <a:t>ratio</a:t>
            </a:r>
            <a:r>
              <a:rPr sz="1700" b="0">
                <a:solidFill>
                  <a:srgbClr val="23282D"/>
                </a:solidFill>
                <a:latin typeface="Arial"/>
              </a:rPr>
              <a:t> of apple juice to sparkling water in TWO ways.</a:t>
            </a:r>
          </a:p>
        </p:txBody>
      </p:sp>
      <p:sp>
        <p:nvSpPr>
          <p:cNvPr id="14" name="Rounded Rectangle 13"/>
          <p:cNvSpPr/>
          <p:nvPr/>
        </p:nvSpPr>
        <p:spPr>
          <a:xfrm>
            <a:off x="4270248" y="2487168"/>
            <a:ext cx="3520440" cy="23957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70248" y="2487168"/>
            <a:ext cx="73152" cy="239572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34840" y="2596896"/>
            <a:ext cx="3227832" cy="219456"/>
          </a:xfrm>
          <a:prstGeom prst="rect">
            <a:avLst/>
          </a:prstGeom>
          <a:noFill/>
        </p:spPr>
        <p:txBody>
          <a:bodyPr wrap="square" lIns="0" tIns="0" rIns="0" bIns="0" anchor="t">
            <a:spAutoFit/>
          </a:bodyPr>
          <a:lstStyle/>
          <a:p>
            <a:pPr algn="l"/>
            <a:r>
              <a:rPr sz="1400" b="1">
                <a:solidFill>
                  <a:srgbClr val="0070C0"/>
                </a:solidFill>
                <a:latin typeface="Arial"/>
              </a:rPr>
              <a:t>2 — CLASSIFY + PROVE</a:t>
            </a:r>
          </a:p>
        </p:txBody>
      </p:sp>
      <p:sp>
        <p:nvSpPr>
          <p:cNvPr id="17" name="TextBox 16"/>
          <p:cNvSpPr txBox="1"/>
          <p:nvPr/>
        </p:nvSpPr>
        <p:spPr>
          <a:xfrm>
            <a:off x="4434840" y="2871216"/>
            <a:ext cx="3209544" cy="1920240"/>
          </a:xfrm>
          <a:prstGeom prst="rect">
            <a:avLst/>
          </a:prstGeom>
          <a:noFill/>
        </p:spPr>
        <p:txBody>
          <a:bodyPr wrap="square" lIns="0" tIns="0" rIns="0" bIns="0" anchor="t">
            <a:spAutoFit/>
          </a:bodyPr>
          <a:lstStyle/>
          <a:p>
            <a:pPr algn="l"/>
            <a:r>
              <a:rPr sz="1600" b="0">
                <a:solidFill>
                  <a:srgbClr val="23282D"/>
                </a:solidFill>
                <a:latin typeface="Arial"/>
              </a:rPr>
              <a:t>Is apple juice : fruit drink </a:t>
            </a:r>
            <a:r>
              <a:rPr sz="1600" b="1">
                <a:latin typeface="Arial"/>
              </a:rPr>
              <a:t>part-to-part</a:t>
            </a:r>
            <a:r>
              <a:rPr sz="1600" b="0">
                <a:solidFill>
                  <a:srgbClr val="23282D"/>
                </a:solidFill>
                <a:latin typeface="Arial"/>
              </a:rPr>
              <a:t> or </a:t>
            </a:r>
            <a:r>
              <a:rPr sz="1600" b="1">
                <a:latin typeface="Arial"/>
              </a:rPr>
              <a:t>part-to-whole</a:t>
            </a:r>
            <a:r>
              <a:rPr sz="1600" b="0">
                <a:solidFill>
                  <a:srgbClr val="23282D"/>
                </a:solidFill>
                <a:latin typeface="Arial"/>
              </a:rPr>
              <a:t>? Explain how you know.</a:t>
            </a:r>
          </a:p>
        </p:txBody>
      </p:sp>
      <p:sp>
        <p:nvSpPr>
          <p:cNvPr id="18" name="Rounded Rectangle 17"/>
          <p:cNvSpPr/>
          <p:nvPr/>
        </p:nvSpPr>
        <p:spPr>
          <a:xfrm>
            <a:off x="8046720" y="2487168"/>
            <a:ext cx="3538728" cy="239572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46720" y="2487168"/>
            <a:ext cx="73152" cy="239572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11312" y="2596896"/>
            <a:ext cx="3246120" cy="219456"/>
          </a:xfrm>
          <a:prstGeom prst="rect">
            <a:avLst/>
          </a:prstGeom>
          <a:noFill/>
        </p:spPr>
        <p:txBody>
          <a:bodyPr wrap="square" lIns="0" tIns="0" rIns="0" bIns="0" anchor="t">
            <a:spAutoFit/>
          </a:bodyPr>
          <a:lstStyle/>
          <a:p>
            <a:pPr algn="l"/>
            <a:r>
              <a:rPr sz="1400" b="1">
                <a:solidFill>
                  <a:srgbClr val="008A62"/>
                </a:solidFill>
                <a:latin typeface="Arial"/>
              </a:rPr>
              <a:t>3 — SELF-MONITOR</a:t>
            </a:r>
          </a:p>
        </p:txBody>
      </p:sp>
      <p:sp>
        <p:nvSpPr>
          <p:cNvPr id="21" name="TextBox 20"/>
          <p:cNvSpPr txBox="1"/>
          <p:nvPr/>
        </p:nvSpPr>
        <p:spPr>
          <a:xfrm>
            <a:off x="8211312" y="2871216"/>
            <a:ext cx="3227832" cy="1920240"/>
          </a:xfrm>
          <a:prstGeom prst="rect">
            <a:avLst/>
          </a:prstGeom>
          <a:noFill/>
        </p:spPr>
        <p:txBody>
          <a:bodyPr wrap="square" lIns="0" tIns="0" rIns="0" bIns="0" anchor="t">
            <a:spAutoFit/>
          </a:bodyPr>
          <a:lstStyle/>
          <a:p>
            <a:pPr algn="l"/>
            <a:r>
              <a:rPr sz="1500" b="0">
                <a:solidFill>
                  <a:srgbClr val="23282D"/>
                </a:solidFill>
                <a:latin typeface="Arial"/>
              </a:rPr>
              <a:t>Circle one:
READY — I can explain it.
ALMOST — I need one hint.
NOT YET — I need a model.</a:t>
            </a:r>
          </a:p>
        </p:txBody>
      </p:sp>
      <p:sp>
        <p:nvSpPr>
          <p:cNvPr id="22" name="TextBox 21"/>
          <p:cNvSpPr txBox="1"/>
          <p:nvPr/>
        </p:nvSpPr>
        <p:spPr>
          <a:xfrm>
            <a:off x="658368" y="5239512"/>
            <a:ext cx="10789920" cy="512064"/>
          </a:xfrm>
          <a:prstGeom prst="rect">
            <a:avLst/>
          </a:prstGeom>
          <a:noFill/>
        </p:spPr>
        <p:txBody>
          <a:bodyPr wrap="square" lIns="0" tIns="0" rIns="0" bIns="0" anchor="t">
            <a:spAutoFit/>
          </a:bodyPr>
          <a:lstStyle/>
          <a:p>
            <a:pPr algn="ctr"/>
            <a:r>
              <a:rPr sz="1400" b="1">
                <a:solidFill>
                  <a:srgbClr val="1E2682"/>
                </a:solidFill>
                <a:latin typeface="Arial"/>
              </a:rPr>
              <a:t>Partner feedback: Ask “How do you know?”  The solver may clarify or revise before sharing.</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Defend your method; partner gives one specific next step.</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26 / 55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46" name="Google Shape;646;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47" name="Google Shape;647;p61"/>
          <p:cNvSpPr txBox="1"/>
          <p:nvPr/>
        </p:nvSpPr>
        <p:spPr>
          <a:xfrm>
            <a:off x="458686" y="623124"/>
            <a:ext cx="6366435" cy="146085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do you know about the cups of apple juice and total cups of fruit drink in one batch? </a:t>
            </a:r>
            <a:endParaRPr b="0" i="0" sz="1400" u="none" cap="none" strike="noStrike">
              <a:solidFill>
                <a:srgbClr val="000000"/>
              </a:solidFill>
              <a:latin typeface="Arial"/>
              <a:ea typeface="Arial"/>
              <a:cs typeface="Arial"/>
              <a:sym typeface="Arial"/>
            </a:endParaRPr>
          </a:p>
        </p:txBody>
      </p:sp>
      <p:pic>
        <p:nvPicPr>
          <p:cNvPr id="648" name="Google Shape;648;p61"/>
          <p:cNvPicPr preferRelativeResize="0"/>
          <p:nvPr/>
        </p:nvPicPr>
        <p:blipFill rotWithShape="1">
          <a:blip r:embed="rId2">
            <a:alphaModFix/>
          </a:blip>
          <a:srcRect b="0" l="0" r="0" t="0"/>
          <a:stretch/>
        </p:blipFill>
        <p:spPr>
          <a:xfrm>
            <a:off x="7846265" y="1281854"/>
            <a:ext cx="3724275" cy="3552825"/>
          </a:xfrm>
          <a:prstGeom prst="rect">
            <a:avLst/>
          </a:prstGeom>
          <a:noFill/>
          <a:ln>
            <a:noFill/>
          </a:ln>
        </p:spPr>
      </p:pic>
      <p:sp>
        <p:nvSpPr>
          <p:cNvPr id="649" name="Google Shape;649;p61"/>
          <p:cNvSpPr txBox="1"/>
          <p:nvPr/>
        </p:nvSpPr>
        <p:spPr>
          <a:xfrm>
            <a:off x="458686" y="488034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Two cups of apple juice are needed to make 10 cups of fruit drink.</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27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39502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62" name="Google Shape;662;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63" name="Google Shape;663;p63"/>
          <p:cNvSpPr txBox="1"/>
          <p:nvPr/>
        </p:nvSpPr>
        <p:spPr>
          <a:xfrm>
            <a:off x="475939" y="530658"/>
            <a:ext cx="6366435" cy="39910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For 2 cups of apple juice used, </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10 cups of fruit drink are made.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might you represent this relationship?</a:t>
            </a:r>
            <a:r>
              <a:rPr b="0" i="0" lang="en-US" sz="2800" u="none" cap="none" strike="noStrike">
                <a:solidFill>
                  <a:srgbClr val="262626"/>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664" name="Google Shape;664;p63"/>
          <p:cNvPicPr preferRelativeResize="0"/>
          <p:nvPr/>
        </p:nvPicPr>
        <p:blipFill rotWithShape="1">
          <a:blip r:embed="rId2">
            <a:alphaModFix/>
          </a:blip>
          <a:srcRect b="0" l="0" r="0" t="0"/>
          <a:stretch/>
        </p:blipFill>
        <p:spPr>
          <a:xfrm>
            <a:off x="7846265" y="1281854"/>
            <a:ext cx="3724275" cy="3552825"/>
          </a:xfrm>
          <a:prstGeom prst="rect">
            <a:avLst/>
          </a:prstGeom>
          <a:noFill/>
          <a:ln>
            <a:noFill/>
          </a:ln>
        </p:spPr>
      </p:pic>
      <p:sp>
        <p:nvSpPr>
          <p:cNvPr id="665" name="Google Shape;665;p63"/>
          <p:cNvSpPr txBox="1"/>
          <p:nvPr/>
        </p:nvSpPr>
        <p:spPr>
          <a:xfrm>
            <a:off x="458686" y="4880345"/>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way is to use a tape diagram.</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28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79" name="Google Shape;679;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0" name="Google Shape;680;p65"/>
          <p:cNvSpPr txBox="1"/>
          <p:nvPr/>
        </p:nvSpPr>
        <p:spPr>
          <a:xfrm>
            <a:off x="614744" y="623124"/>
            <a:ext cx="7314118" cy="987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For 2 cups of apple juice used, </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10 cups of fruit drink are made.</a:t>
            </a:r>
            <a:endParaRPr b="1" i="0" sz="2800" u="none" cap="none" strike="noStrike">
              <a:solidFill>
                <a:srgbClr val="262626"/>
              </a:solidFill>
              <a:latin typeface="Arial"/>
              <a:ea typeface="Arial"/>
              <a:cs typeface="Arial"/>
              <a:sym typeface="Arial"/>
            </a:endParaRPr>
          </a:p>
        </p:txBody>
      </p:sp>
      <p:pic>
        <p:nvPicPr>
          <p:cNvPr id="681" name="Google Shape;681;p65"/>
          <p:cNvPicPr preferRelativeResize="0"/>
          <p:nvPr/>
        </p:nvPicPr>
        <p:blipFill rotWithShape="1">
          <a:blip r:embed="rId2">
            <a:alphaModFix/>
          </a:blip>
          <a:srcRect b="0" l="0" r="0" t="0"/>
          <a:stretch/>
        </p:blipFill>
        <p:spPr>
          <a:xfrm>
            <a:off x="1841925" y="2040187"/>
            <a:ext cx="6385199" cy="2124000"/>
          </a:xfrm>
          <a:prstGeom prst="rect">
            <a:avLst/>
          </a:prstGeom>
          <a:noFill/>
          <a:ln>
            <a:noFill/>
          </a:ln>
        </p:spPr>
      </p:pic>
      <p:sp>
        <p:nvSpPr>
          <p:cNvPr id="682" name="Google Shape;682;p65"/>
          <p:cNvSpPr txBox="1"/>
          <p:nvPr/>
        </p:nvSpPr>
        <p:spPr>
          <a:xfrm>
            <a:off x="694646" y="4363680"/>
            <a:ext cx="7314118" cy="6451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are the two liquids related?</a:t>
            </a:r>
            <a:endParaRPr b="0" i="0" sz="1400" u="none" cap="none" strike="noStrike">
              <a:solidFill>
                <a:srgbClr val="000000"/>
              </a:solidFill>
              <a:latin typeface="Arial"/>
              <a:ea typeface="Arial"/>
              <a:cs typeface="Arial"/>
              <a:sym typeface="Arial"/>
            </a:endParaRPr>
          </a:p>
        </p:txBody>
      </p:sp>
      <p:sp>
        <p:nvSpPr>
          <p:cNvPr id="683" name="Google Shape;683;p65"/>
          <p:cNvSpPr txBox="1"/>
          <p:nvPr/>
        </p:nvSpPr>
        <p:spPr>
          <a:xfrm>
            <a:off x="614744" y="5284382"/>
            <a:ext cx="6540968" cy="11589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apple juice is part of the fruit drink.</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29 / 55</a:t>
            </a:r>
          </a:p>
        </p:txBody>
      </p:sp>
      <p:grpSp>
        <p:nvGrpSpPr>
          <p:cNvPr id="9003" name="TEACH-2-student-move" descr="TEACH 2 · Use strategies and tasks to engage students in rigorous work"/>
          <p:cNvGrpSpPr/>
          <p:nvPr/>
        </p:nvGrpSpPr>
        <p:grpSpPr>
          <a:xfrm>
            <a:off x="502920" y="4927766"/>
            <a:ext cx="11186160" cy="320040"/>
            <a:chOff x="502920" y="4927766"/>
            <a:chExt cx="11186160" cy="320040"/>
          </a:xfrm>
        </p:grpSpPr>
        <p:sp>
          <p:nvSpPr>
            <p:cNvPr id="9004" name="TEACH-move-card"/>
            <p:cNvSpPr/>
            <p:nvPr/>
          </p:nvSpPr>
          <p:spPr>
            <a:xfrm>
              <a:off x="502920" y="4927766"/>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988574"/>
              <a:ext cx="100584" cy="19842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927766"/>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26" name="Google Shape;726;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27" name="Google Shape;727;p71"/>
          <p:cNvSpPr txBox="1"/>
          <p:nvPr/>
        </p:nvSpPr>
        <p:spPr>
          <a:xfrm>
            <a:off x="450060" y="444394"/>
            <a:ext cx="6366435" cy="39910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Next, let’s look at the relationship between the apple juice and the sparkling water.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describe the relationship?</a:t>
            </a:r>
            <a:r>
              <a:rPr b="0" i="0" lang="en-US" sz="2800" u="none" cap="none" strike="noStrike">
                <a:solidFill>
                  <a:srgbClr val="262626"/>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728" name="Google Shape;728;p71"/>
          <p:cNvPicPr preferRelativeResize="0"/>
          <p:nvPr/>
        </p:nvPicPr>
        <p:blipFill rotWithShape="1">
          <a:blip r:embed="rId2">
            <a:alphaModFix/>
          </a:blip>
          <a:srcRect b="0" l="0" r="0" t="0"/>
          <a:stretch/>
        </p:blipFill>
        <p:spPr>
          <a:xfrm>
            <a:off x="7846265" y="1281854"/>
            <a:ext cx="3724275" cy="3552825"/>
          </a:xfrm>
          <a:prstGeom prst="rect">
            <a:avLst/>
          </a:prstGeom>
          <a:noFill/>
          <a:ln>
            <a:noFill/>
          </a:ln>
        </p:spPr>
      </p:pic>
      <p:sp>
        <p:nvSpPr>
          <p:cNvPr id="729" name="Google Shape;729;p71"/>
          <p:cNvSpPr txBox="1"/>
          <p:nvPr/>
        </p:nvSpPr>
        <p:spPr>
          <a:xfrm>
            <a:off x="450060" y="4863566"/>
            <a:ext cx="5960624"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Both are parts of the fruit drink.</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30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0235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a:extLst>
              <a:ext uri="{FF2B5EF4-FFF2-40B4-BE49-F238E27FC236}">
                <a16:creationId xmlns:a16="http://schemas.microsoft.com/office/drawing/2014/main" id="{C7B29969-56BF-6D41-A9E2-22306CDCAC18}"/>
              </a:ext>
            </a:extLst>
          </p:cNvPr>
          <p:cNvSpPr txBox="1">
            <a:spLocks/>
          </p:cNvSpPr>
          <p:nvPr/>
        </p:nvSpPr>
        <p:spPr>
          <a:xfrm>
            <a:off x="1402828" y="2453950"/>
            <a:ext cx="9144000" cy="2176463"/>
          </a:xfrm>
          <a:prstGeom prst="rect">
            <a:avLst/>
          </a:prstGeom>
        </p:spPr>
        <p:txBody>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sz="3600" b="1">
                <a:solidFill>
                  <a:schemeClr val="tx1"/>
                </a:solidFill>
              </a:rPr>
              <a:t>Understand </a:t>
            </a:r>
            <a:r>
              <a:rPr lang="en-US" sz="3600" b="1">
                <a:highlight>
                  <a:srgbClr val="FFF2CC"/>
                </a:highlight>
              </a:rPr>
              <a:t>Ratio</a:t>
            </a:r>
            <a:r>
              <a:rPr lang="en-US" sz="3600" b="1">
                <a:solidFill>
                  <a:schemeClr val="tx1"/>
                </a:solidFill>
              </a:rPr>
              <a:t>s</a:t>
            </a:r>
          </a:p>
        </p:txBody>
      </p:sp>
      <p:sp>
        <p:nvSpPr>
          <p:cNvPr id="3" name="Rectangle 2">
            <a:extLst>
              <a:ext uri="{FF2B5EF4-FFF2-40B4-BE49-F238E27FC236}">
                <a16:creationId xmlns:a16="http://schemas.microsoft.com/office/drawing/2014/main" id="{059AB280-D7EB-53CD-A267-024F312C0186}"/>
              </a:ext>
            </a:extLst>
          </p:cNvPr>
          <p:cNvSpPr/>
          <p:nvPr/>
        </p:nvSpPr>
        <p:spPr>
          <a:xfrm>
            <a:off x="1402828" y="1037162"/>
            <a:ext cx="1763624" cy="523220"/>
          </a:xfrm>
          <a:prstGeom prst="rect">
            <a:avLst/>
          </a:prstGeom>
        </p:spPr>
        <p:txBody>
          <a:bodyPr wrap="none">
            <a:spAutoFit/>
          </a:bodyPr>
          <a:lstStyle/>
          <a:p>
            <a:pPr>
              <a:defRPr/>
            </a:pPr>
            <a:r>
              <a:rPr lang="en-US" sz="2800">
                <a:solidFill>
                  <a:srgbClr val="01708C"/>
                </a:solidFill>
                <a:latin typeface="Arial" panose="020B0604020202020204" pitchFamily="34" charset="0"/>
                <a:cs typeface="Arial" panose="020B0604020202020204" pitchFamily="34" charset="0"/>
              </a:rPr>
              <a:t>Session 2</a:t>
            </a:r>
            <a:endParaRPr lang="en-US" sz="2800" b="1">
              <a:solidFill>
                <a:srgbClr val="01708C"/>
              </a:solidFill>
            </a:endParaRPr>
          </a:p>
        </p:txBody>
      </p:sp>
      <p:cxnSp>
        <p:nvCxnSpPr>
          <p:cNvPr id="4" name="Straight Connector 3">
            <a:extLst>
              <a:ext uri="{FF2B5EF4-FFF2-40B4-BE49-F238E27FC236}">
                <a16:creationId xmlns:a16="http://schemas.microsoft.com/office/drawing/2014/main" id="{3CCD7778-281C-3A8A-ED72-4347917C275A}"/>
              </a:ext>
            </a:extLst>
          </p:cNvPr>
          <p:cNvCxnSpPr>
            <a:cxnSpLocks/>
          </p:cNvCxnSpPr>
          <p:nvPr/>
        </p:nvCxnSpPr>
        <p:spPr>
          <a:xfrm>
            <a:off x="-1" y="1560382"/>
            <a:ext cx="3166453" cy="0"/>
          </a:xfrm>
          <a:prstGeom prst="line">
            <a:avLst/>
          </a:prstGeom>
          <a:ln>
            <a:solidFill>
              <a:srgbClr val="01708C"/>
            </a:solidFill>
          </a:ln>
        </p:spPr>
        <p:style>
          <a:lnRef idx="3">
            <a:schemeClr val="accent4"/>
          </a:lnRef>
          <a:fillRef idx="0">
            <a:schemeClr val="accent4"/>
          </a:fillRef>
          <a:effectRef idx="2">
            <a:schemeClr val="accent4"/>
          </a:effectRef>
          <a:fontRef idx="minor">
            <a:schemeClr val="tx1"/>
          </a:fontRef>
        </p:style>
      </p:cxnSp>
      <p:sp>
        <p:nvSpPr>
          <p:cNvPr id="5" name="Rounded Rectangle 4"/>
          <p:cNvSpPr/>
          <p:nvPr/>
        </p:nvSpPr>
        <p:spPr>
          <a:xfrm>
            <a:off x="1399032" y="4224528"/>
            <a:ext cx="4251960" cy="530352"/>
          </a:xfrm>
          <a:prstGeom prst="roundRect">
            <a:avLst/>
          </a:prstGeom>
          <a:solidFill>
            <a:srgbClr val="F4EEF8"/>
          </a:solidFill>
          <a:ln w="12700">
            <a:solidFill>
              <a:srgbClr val="D8C5E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700" b="1">
                <a:solidFill>
                  <a:srgbClr val="782DA0"/>
                </a:solidFill>
                <a:latin typeface="Arial"/>
              </a:rPr>
              <a:t>SCALE  •  MODEL  •  EXPLAIN</a:t>
            </a:r>
          </a:p>
        </p:txBody>
      </p:sp>
      <p:sp>
        <p:nvSpPr>
          <p:cNvPr id="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31 / 55</a:t>
            </a:r>
          </a:p>
        </p:txBody>
      </p:sp>
      <p:grpSp>
        <p:nvGrpSpPr>
          <p:cNvPr id="7" name="TEACH-7-student-move" descr="TEACH 7 · Cultivate a supportive learning community"/>
          <p:cNvGrpSpPr/>
          <p:nvPr/>
        </p:nvGrpSpPr>
        <p:grpSpPr>
          <a:xfrm>
            <a:off x="502920" y="4837176"/>
            <a:ext cx="11186160" cy="731520"/>
            <a:chOff x="502920" y="4837176"/>
            <a:chExt cx="11186160" cy="731520"/>
          </a:xfrm>
        </p:grpSpPr>
        <p:sp>
          <p:nvSpPr>
            <p:cNvPr id="8" name="TEACH-move-card"/>
            <p:cNvSpPr/>
            <p:nvPr/>
          </p:nvSpPr>
          <p:spPr>
            <a:xfrm>
              <a:off x="502920" y="4837176"/>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 name="TEACH-move-rule"/>
            <p:cNvSpPr/>
            <p:nvPr/>
          </p:nvSpPr>
          <p:spPr>
            <a:xfrm>
              <a:off x="548640" y="4976165"/>
              <a:ext cx="100584" cy="453542"/>
            </a:xfrm>
            <a:prstGeom prst="roundRect">
              <a:avLst>
                <a:gd name="adj" fmla="val 50000"/>
              </a:avLst>
            </a:prstGeom>
            <a:solidFill>
              <a:srgbClr val="01708C"/>
            </a:solidFill>
            <a:ln>
              <a:noFill/>
            </a:ln>
          </p:spPr>
          <p:txBody>
            <a:bodyPr/>
            <a:lstStyle/>
            <a:p>
              <a:endParaRPr/>
            </a:p>
          </p:txBody>
        </p:sp>
        <p:sp>
          <p:nvSpPr>
            <p:cNvPr id="10" name="TEACH-move-text"/>
            <p:cNvSpPr txBox="1"/>
            <p:nvPr/>
          </p:nvSpPr>
          <p:spPr>
            <a:xfrm>
              <a:off x="822960" y="4837176"/>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CREDIT A CLASSMATE  ·  </a:t>
              </a:r>
              <a:r>
                <a:rPr lang="en-US" sz="1800" dirty="0">
                  <a:solidFill>
                    <a:srgbClr val="13303A"/>
                  </a:solidFill>
                  <a:latin typeface="Arial"/>
                </a:rPr>
                <a:t>Name one classmate whose idea helped you today, and say what they said.</a:t>
              </a:r>
              <a:endParaRPr lang="en-US" sz="1800"/>
            </a:p>
          </p:txBody>
        </p:sp>
      </p:grpSp>
    </p:spTree>
    <p:extLst>
      <p:ext uri="{BB962C8B-B14F-4D97-AF65-F5344CB8AC3E}">
        <p14:creationId xmlns:p14="http://schemas.microsoft.com/office/powerpoint/2010/main" val="752550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400" b="1">
                <a:solidFill>
                  <a:srgbClr val="7030A0"/>
                </a:solidFill>
                <a:latin typeface="Arial"/>
              </a:rPr>
              <a:t>Session 2 Warm-Up</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2D3A40"/>
                </a:solidFill>
                <a:latin typeface="Arial"/>
              </a:rPr>
              <a:t>Lesson 3-1 · Understand Ratios   |   Session 2 Warm-Up · about 4 minutes</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30" b="0">
                <a:solidFill>
                  <a:srgbClr val="5D6872"/>
                </a:solidFill>
                <a:latin typeface="Arial"/>
              </a:rPr>
              <a:t>Try each on your own. Mark an unsure answer; explain and revise when we check.</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10" name="TextBox 9"/>
          <p:cNvSpPr txBox="1"/>
          <p:nvPr/>
        </p:nvSpPr>
        <p:spPr>
          <a:xfrm>
            <a:off x="667512" y="2212848"/>
            <a:ext cx="5111496" cy="1051560"/>
          </a:xfrm>
          <a:prstGeom prst="rect">
            <a:avLst/>
          </a:prstGeom>
          <a:noFill/>
        </p:spPr>
        <p:txBody>
          <a:bodyPr wrap="square" lIns="73152" rIns="73152" bIns="27432" anchor="t">
            <a:spAutoFit/>
          </a:bodyPr>
          <a:lstStyle/>
          <a:p>
            <a:pPr algn="l"/>
            <a:r>
              <a:rPr sz="1800" b="1">
                <a:solidFill>
                  <a:srgbClr val="2D3A40"/>
                </a:solidFill>
                <a:latin typeface="Arial"/>
              </a:rPr>
              <a:t>Write 3 red counters to 5 blue counters as a ratio in two ways.</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14" name="TextBox 13"/>
          <p:cNvSpPr txBox="1"/>
          <p:nvPr/>
        </p:nvSpPr>
        <p:spPr>
          <a:xfrm>
            <a:off x="6345936" y="2212848"/>
            <a:ext cx="5102352" cy="1051560"/>
          </a:xfrm>
          <a:prstGeom prst="rect">
            <a:avLst/>
          </a:prstGeom>
          <a:noFill/>
        </p:spPr>
        <p:txBody>
          <a:bodyPr wrap="square" lIns="73152" rIns="73152" bIns="27432" anchor="t">
            <a:spAutoFit/>
          </a:bodyPr>
          <a:lstStyle/>
          <a:p>
            <a:pPr algn="l"/>
            <a:r>
              <a:rPr sz="1800" b="1">
                <a:solidFill>
                  <a:srgbClr val="2D3A40"/>
                </a:solidFill>
                <a:latin typeface="Arial"/>
              </a:rPr>
              <a:t>A drink has 2 cups apple juice and 8 cups water.</a:t>
            </a:r>
          </a:p>
          <a:p>
            <a:pPr algn="l"/>
            <a:r>
              <a:rPr sz="1800" b="1">
                <a:solidFill>
                  <a:srgbClr val="2D3A40"/>
                </a:solidFill>
                <a:latin typeface="Arial"/>
              </a:rPr>
              <a:t>How many cups total? ______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18" name="TextBox 17"/>
          <p:cNvSpPr txBox="1"/>
          <p:nvPr/>
        </p:nvSpPr>
        <p:spPr>
          <a:xfrm>
            <a:off x="667512" y="4023360"/>
            <a:ext cx="5111496" cy="1143000"/>
          </a:xfrm>
          <a:prstGeom prst="rect">
            <a:avLst/>
          </a:prstGeom>
          <a:noFill/>
        </p:spPr>
        <p:txBody>
          <a:bodyPr wrap="square" lIns="73152" rIns="73152" bIns="27432" anchor="t">
            <a:spAutoFit/>
          </a:bodyPr>
          <a:lstStyle/>
          <a:p>
            <a:pPr algn="l"/>
            <a:r>
              <a:rPr sz="1800" b="1">
                <a:solidFill>
                  <a:srgbClr val="2D3A40"/>
                </a:solidFill>
                <a:latin typeface="Arial"/>
              </a:rPr>
              <a:t>Is apples : total part-to-part or part-to-whole? ______</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2" name="TextBox 21"/>
          <p:cNvSpPr txBox="1"/>
          <p:nvPr/>
        </p:nvSpPr>
        <p:spPr>
          <a:xfrm>
            <a:off x="6345936" y="4023360"/>
            <a:ext cx="5102352" cy="1143000"/>
          </a:xfrm>
          <a:prstGeom prst="rect">
            <a:avLst/>
          </a:prstGeom>
          <a:noFill/>
        </p:spPr>
        <p:txBody>
          <a:bodyPr wrap="square" lIns="73152" rIns="73152" bIns="27432" anchor="t">
            <a:spAutoFit/>
          </a:bodyPr>
          <a:lstStyle/>
          <a:p>
            <a:pPr algn="l"/>
            <a:r>
              <a:rPr sz="1800" b="1">
                <a:solidFill>
                  <a:srgbClr val="2D3A40"/>
                </a:solidFill>
                <a:latin typeface="Arial"/>
              </a:rPr>
              <a:t>Scale 2 : 7 by 3.</a:t>
            </a:r>
          </a:p>
          <a:p>
            <a:pPr algn="l"/>
            <a:r>
              <a:rPr sz="1800" b="1">
                <a:solidFill>
                  <a:srgbClr val="2D3A40"/>
                </a:solidFill>
                <a:latin typeface="Arial"/>
              </a:rPr>
              <a:t>Equivalent ratio: ______ : ______</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32 / 55</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20040"/>
            <a:ext cx="5989320" cy="457200"/>
          </a:xfrm>
          <a:prstGeom prst="rect">
            <a:avLst/>
          </a:prstGeom>
          <a:noFill/>
        </p:spPr>
        <p:txBody>
          <a:bodyPr wrap="square" lIns="0" tIns="0" rIns="0" bIns="0" anchor="t">
            <a:spAutoFit/>
          </a:bodyPr>
          <a:lstStyle/>
          <a:p>
            <a:pPr algn="l"/>
            <a:r>
              <a:rPr sz="2200" b="1">
                <a:solidFill>
                  <a:srgbClr val="7030A0"/>
                </a:solidFill>
                <a:latin typeface="Arial"/>
              </a:rPr>
              <a:t>Review Notes — Session 2</a:t>
            </a:r>
          </a:p>
        </p:txBody>
      </p:sp>
      <p:sp>
        <p:nvSpPr>
          <p:cNvPr id="3" name="TextBox 2"/>
          <p:cNvSpPr txBox="1"/>
          <p:nvPr/>
        </p:nvSpPr>
        <p:spPr>
          <a:xfrm>
            <a:off x="521207" y="804672"/>
            <a:ext cx="5669280" cy="310896"/>
          </a:xfrm>
          <a:prstGeom prst="rect">
            <a:avLst/>
          </a:prstGeom>
          <a:noFill/>
        </p:spPr>
        <p:txBody>
          <a:bodyPr wrap="square" lIns="0" tIns="0" rIns="0" bIns="0" anchor="t">
            <a:spAutoFit/>
          </a:bodyPr>
          <a:lstStyle/>
          <a:p>
            <a:pPr algn="l"/>
            <a:r>
              <a:rPr sz="1400" b="0" dirty="0">
                <a:solidFill>
                  <a:srgbClr val="2D3A40"/>
                </a:solidFill>
                <a:latin typeface="Arial"/>
              </a:rPr>
              <a:t>Lesson 3-1 · Understand Ratios   |   Review before Session 2</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REVIEW NOTES  ·  RECALL • CONNECT • APPLY</a:t>
            </a:r>
          </a:p>
        </p:txBody>
      </p:sp>
      <p:sp>
        <p:nvSpPr>
          <p:cNvPr id="6" name="Rounded Rectangle 5"/>
          <p:cNvSpPr/>
          <p:nvPr/>
        </p:nvSpPr>
        <p:spPr>
          <a:xfrm>
            <a:off x="502920" y="1353312"/>
            <a:ext cx="6565392" cy="437083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02920" y="1353312"/>
            <a:ext cx="73152" cy="437083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33488" y="1353312"/>
            <a:ext cx="4261104" cy="3273552"/>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33488" y="1353312"/>
            <a:ext cx="73152" cy="3273552"/>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33488" y="4828032"/>
            <a:ext cx="4261104" cy="896112"/>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33488" y="4828032"/>
            <a:ext cx="73152" cy="896112"/>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8368" y="6035040"/>
            <a:ext cx="10835640" cy="320040"/>
          </a:xfrm>
          <a:prstGeom prst="rect">
            <a:avLst/>
          </a:prstGeom>
          <a:noFill/>
        </p:spPr>
        <p:txBody>
          <a:bodyPr wrap="square" lIns="0" tIns="0" rIns="0" bIns="0" anchor="t">
            <a:spAutoFit/>
          </a:bodyPr>
          <a:lstStyle/>
          <a:p>
            <a:pPr algn="ctr"/>
            <a:r>
              <a:rPr sz="1430" b="1">
                <a:solidFill>
                  <a:srgbClr val="1E2682"/>
                </a:solidFill>
                <a:latin typeface="Arial"/>
              </a:rPr>
              <a:t>Read the words in order → write the numbers in the same order.</a:t>
            </a:r>
          </a:p>
        </p:txBody>
      </p:sp>
      <p:sp>
        <p:nvSpPr>
          <p:cNvPr id="19" name="Rectangle 18"/>
          <p:cNvSpPr/>
          <p:nvPr/>
        </p:nvSpPr>
        <p:spPr>
          <a:xfrm>
            <a:off x="320040" y="1188720"/>
            <a:ext cx="11475720" cy="4892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1298448"/>
            <a:ext cx="11064240" cy="438912"/>
          </a:xfrm>
          <a:prstGeom prst="rect">
            <a:avLst/>
          </a:prstGeom>
          <a:noFill/>
        </p:spPr>
        <p:txBody>
          <a:bodyPr wrap="none" lIns="45720" rIns="45720" anchor="ctr">
            <a:spAutoFit/>
          </a:bodyPr>
          <a:lstStyle/>
          <a:p>
            <a:pPr algn="l"/>
            <a:r>
              <a:rPr sz="2500" b="1" dirty="0">
                <a:solidFill>
                  <a:srgbClr val="17365D"/>
                </a:solidFill>
                <a:latin typeface="Arial"/>
              </a:rPr>
              <a:t>Two Types of Ratios — ask what the SECOND quantity represents.</a:t>
            </a:r>
          </a:p>
        </p:txBody>
      </p:sp>
      <p:sp>
        <p:nvSpPr>
          <p:cNvPr id="21" name="Rounded Rectangle 20"/>
          <p:cNvSpPr/>
          <p:nvPr/>
        </p:nvSpPr>
        <p:spPr>
          <a:xfrm>
            <a:off x="502920" y="1874519"/>
            <a:ext cx="5440680" cy="3611880"/>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02920" y="1874519"/>
            <a:ext cx="5440680" cy="56692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58368" y="1901952"/>
            <a:ext cx="5120640" cy="502920"/>
          </a:xfrm>
          <a:prstGeom prst="rect">
            <a:avLst/>
          </a:prstGeom>
          <a:noFill/>
        </p:spPr>
        <p:txBody>
          <a:bodyPr wrap="none" lIns="45720" rIns="45720" anchor="ctr">
            <a:spAutoFit/>
          </a:bodyPr>
          <a:lstStyle/>
          <a:p>
            <a:pPr algn="l"/>
            <a:r>
              <a:rPr sz="2400" b="1">
                <a:solidFill>
                  <a:srgbClr val="FFFFFF"/>
                </a:solidFill>
                <a:latin typeface="Arial"/>
              </a:rPr>
              <a:t>PART-TO-PART  =  part → part</a:t>
            </a:r>
          </a:p>
        </p:txBody>
      </p:sp>
      <p:sp>
        <p:nvSpPr>
          <p:cNvPr id="24" name="TextBox 23"/>
          <p:cNvSpPr txBox="1"/>
          <p:nvPr/>
        </p:nvSpPr>
        <p:spPr>
          <a:xfrm>
            <a:off x="731520" y="2587752"/>
            <a:ext cx="4800600" cy="530352"/>
          </a:xfrm>
          <a:prstGeom prst="rect">
            <a:avLst/>
          </a:prstGeom>
          <a:noFill/>
        </p:spPr>
        <p:txBody>
          <a:bodyPr wrap="none" lIns="45720" rIns="45720" anchor="ctr">
            <a:spAutoFit/>
          </a:bodyPr>
          <a:lstStyle/>
          <a:p>
            <a:pPr algn="l"/>
            <a:r>
              <a:rPr sz="2200" b="1">
                <a:solidFill>
                  <a:srgbClr val="17365D"/>
                </a:solidFill>
                <a:latin typeface="Arial"/>
              </a:rPr>
              <a:t>Compare one part to another part.</a:t>
            </a:r>
          </a:p>
        </p:txBody>
      </p:sp>
      <p:sp>
        <p:nvSpPr>
          <p:cNvPr id="25" name="TextBox 24"/>
          <p:cNvSpPr txBox="1"/>
          <p:nvPr/>
        </p:nvSpPr>
        <p:spPr>
          <a:xfrm>
            <a:off x="731520" y="3154680"/>
            <a:ext cx="4754880" cy="438912"/>
          </a:xfrm>
          <a:prstGeom prst="rect">
            <a:avLst/>
          </a:prstGeom>
          <a:noFill/>
        </p:spPr>
        <p:txBody>
          <a:bodyPr wrap="none" lIns="45720" rIns="45720" anchor="ctr">
            <a:spAutoFit/>
          </a:bodyPr>
          <a:lstStyle/>
          <a:p>
            <a:pPr algn="l"/>
            <a:r>
              <a:rPr sz="2000" b="0">
                <a:solidFill>
                  <a:srgbClr val="2D2D2D"/>
                </a:solidFill>
                <a:latin typeface="Arial"/>
              </a:rPr>
              <a:t>Example: 3 apples and 2 oranges</a:t>
            </a:r>
          </a:p>
        </p:txBody>
      </p:sp>
      <p:sp>
        <p:nvSpPr>
          <p:cNvPr id="26" name="TextBox 25"/>
          <p:cNvSpPr txBox="1"/>
          <p:nvPr/>
        </p:nvSpPr>
        <p:spPr>
          <a:xfrm>
            <a:off x="731520" y="3639312"/>
            <a:ext cx="4754880" cy="493776"/>
          </a:xfrm>
          <a:prstGeom prst="rect">
            <a:avLst/>
          </a:prstGeom>
          <a:noFill/>
        </p:spPr>
        <p:txBody>
          <a:bodyPr wrap="none" lIns="45720" rIns="45720" anchor="ctr">
            <a:spAutoFit/>
          </a:bodyPr>
          <a:lstStyle/>
          <a:p>
            <a:pPr algn="l"/>
            <a:r>
              <a:rPr sz="2400" b="1">
                <a:solidFill>
                  <a:srgbClr val="E67E22"/>
                </a:solidFill>
                <a:latin typeface="Arial"/>
              </a:rPr>
              <a:t>apples : oranges  =  3 : 2</a:t>
            </a:r>
          </a:p>
        </p:txBody>
      </p:sp>
      <p:sp>
        <p:nvSpPr>
          <p:cNvPr id="27" name="TextBox 26"/>
          <p:cNvSpPr txBox="1"/>
          <p:nvPr/>
        </p:nvSpPr>
        <p:spPr>
          <a:xfrm>
            <a:off x="731520" y="4224528"/>
            <a:ext cx="4754880" cy="758952"/>
          </a:xfrm>
          <a:prstGeom prst="rect">
            <a:avLst/>
          </a:prstGeom>
          <a:noFill/>
        </p:spPr>
        <p:txBody>
          <a:bodyPr wrap="none" lIns="45720" rIns="45720" anchor="ctr">
            <a:spAutoFit/>
          </a:bodyPr>
          <a:lstStyle/>
          <a:p>
            <a:pPr algn="l"/>
            <a:r>
              <a:rPr sz="1900" b="1">
                <a:solidFill>
                  <a:srgbClr val="2D2D2D"/>
                </a:solidFill>
                <a:latin typeface="Arial"/>
              </a:rPr>
              <a:t>CLUE: both quantities are pieces/parts.
Do NOT add them first.</a:t>
            </a:r>
          </a:p>
        </p:txBody>
      </p:sp>
      <p:sp>
        <p:nvSpPr>
          <p:cNvPr id="28" name="Rounded Rectangle 27"/>
          <p:cNvSpPr/>
          <p:nvPr/>
        </p:nvSpPr>
        <p:spPr>
          <a:xfrm>
            <a:off x="6236208" y="1874519"/>
            <a:ext cx="5440680" cy="3611880"/>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6236208" y="1874519"/>
            <a:ext cx="5440680" cy="56692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391656" y="1901952"/>
            <a:ext cx="5120640" cy="502920"/>
          </a:xfrm>
          <a:prstGeom prst="rect">
            <a:avLst/>
          </a:prstGeom>
          <a:noFill/>
        </p:spPr>
        <p:txBody>
          <a:bodyPr wrap="none" lIns="45720" rIns="45720" anchor="ctr">
            <a:spAutoFit/>
          </a:bodyPr>
          <a:lstStyle/>
          <a:p>
            <a:pPr algn="l"/>
            <a:r>
              <a:rPr sz="2400" b="1">
                <a:solidFill>
                  <a:srgbClr val="FFFFFF"/>
                </a:solidFill>
                <a:latin typeface="Arial"/>
              </a:rPr>
              <a:t>PART-TO-WHOLE  =  part → total</a:t>
            </a:r>
          </a:p>
        </p:txBody>
      </p:sp>
      <p:sp>
        <p:nvSpPr>
          <p:cNvPr id="31" name="TextBox 30"/>
          <p:cNvSpPr txBox="1"/>
          <p:nvPr/>
        </p:nvSpPr>
        <p:spPr>
          <a:xfrm>
            <a:off x="6464808" y="2587752"/>
            <a:ext cx="4800600" cy="530352"/>
          </a:xfrm>
          <a:prstGeom prst="rect">
            <a:avLst/>
          </a:prstGeom>
          <a:noFill/>
        </p:spPr>
        <p:txBody>
          <a:bodyPr wrap="none" lIns="45720" rIns="45720" anchor="ctr">
            <a:spAutoFit/>
          </a:bodyPr>
          <a:lstStyle/>
          <a:p>
            <a:pPr algn="l"/>
            <a:r>
              <a:rPr sz="2200" b="1">
                <a:solidFill>
                  <a:srgbClr val="17365D"/>
                </a:solidFill>
                <a:latin typeface="Arial"/>
              </a:rPr>
              <a:t>Compare one part to the TOTAL.</a:t>
            </a:r>
          </a:p>
        </p:txBody>
      </p:sp>
      <p:sp>
        <p:nvSpPr>
          <p:cNvPr id="32" name="TextBox 31"/>
          <p:cNvSpPr txBox="1"/>
          <p:nvPr/>
        </p:nvSpPr>
        <p:spPr>
          <a:xfrm>
            <a:off x="6464808" y="3154680"/>
            <a:ext cx="4754880" cy="438912"/>
          </a:xfrm>
          <a:prstGeom prst="rect">
            <a:avLst/>
          </a:prstGeom>
          <a:noFill/>
        </p:spPr>
        <p:txBody>
          <a:bodyPr wrap="none" lIns="45720" rIns="45720" anchor="ctr">
            <a:spAutoFit/>
          </a:bodyPr>
          <a:lstStyle/>
          <a:p>
            <a:pPr algn="l"/>
            <a:r>
              <a:rPr sz="2000" b="0">
                <a:solidFill>
                  <a:srgbClr val="2D2D2D"/>
                </a:solidFill>
                <a:latin typeface="Arial"/>
              </a:rPr>
              <a:t>Same example: 3 apples + 2 oranges</a:t>
            </a:r>
          </a:p>
        </p:txBody>
      </p:sp>
      <p:sp>
        <p:nvSpPr>
          <p:cNvPr id="33" name="TextBox 32"/>
          <p:cNvSpPr txBox="1"/>
          <p:nvPr/>
        </p:nvSpPr>
        <p:spPr>
          <a:xfrm>
            <a:off x="6464808" y="3639312"/>
            <a:ext cx="4754880" cy="493776"/>
          </a:xfrm>
          <a:prstGeom prst="rect">
            <a:avLst/>
          </a:prstGeom>
          <a:noFill/>
        </p:spPr>
        <p:txBody>
          <a:bodyPr wrap="none" lIns="45720" rIns="45720" anchor="ctr">
            <a:spAutoFit/>
          </a:bodyPr>
          <a:lstStyle/>
          <a:p>
            <a:pPr algn="l"/>
            <a:r>
              <a:rPr sz="2300" b="1">
                <a:solidFill>
                  <a:srgbClr val="0F9D8A"/>
                </a:solidFill>
                <a:latin typeface="Arial"/>
              </a:rPr>
              <a:t>total = 5   →   apples : total = 3 : 5</a:t>
            </a:r>
          </a:p>
        </p:txBody>
      </p:sp>
      <p:sp>
        <p:nvSpPr>
          <p:cNvPr id="34" name="TextBox 33"/>
          <p:cNvSpPr txBox="1"/>
          <p:nvPr/>
        </p:nvSpPr>
        <p:spPr>
          <a:xfrm>
            <a:off x="6464808" y="4224528"/>
            <a:ext cx="4754880" cy="758952"/>
          </a:xfrm>
          <a:prstGeom prst="rect">
            <a:avLst/>
          </a:prstGeom>
          <a:noFill/>
        </p:spPr>
        <p:txBody>
          <a:bodyPr wrap="none" lIns="45720" rIns="45720" anchor="ctr">
            <a:spAutoFit/>
          </a:bodyPr>
          <a:lstStyle/>
          <a:p>
            <a:pPr algn="l"/>
            <a:r>
              <a:rPr sz="1900" b="1">
                <a:solidFill>
                  <a:srgbClr val="2D2D2D"/>
                </a:solidFill>
                <a:latin typeface="Arial"/>
              </a:rPr>
              <a:t>CLUE: one quantity is the whole/total.
Find the total first.</a:t>
            </a:r>
          </a:p>
        </p:txBody>
      </p:sp>
      <p:sp>
        <p:nvSpPr>
          <p:cNvPr id="35" name="Rounded Rectangle 34"/>
          <p:cNvSpPr/>
          <p:nvPr/>
        </p:nvSpPr>
        <p:spPr>
          <a:xfrm>
            <a:off x="1097280" y="5532120"/>
            <a:ext cx="9966960" cy="475488"/>
          </a:xfrm>
          <a:prstGeom prst="roundRect">
            <a:avLst/>
          </a:prstGeom>
          <a:solidFill>
            <a:srgbClr val="FFF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225296" y="5541264"/>
            <a:ext cx="9692640" cy="438912"/>
          </a:xfrm>
          <a:prstGeom prst="rect">
            <a:avLst/>
          </a:prstGeom>
          <a:noFill/>
        </p:spPr>
        <p:txBody>
          <a:bodyPr wrap="none" lIns="45720" rIns="45720" anchor="ctr">
            <a:spAutoFit/>
          </a:bodyPr>
          <a:lstStyle/>
          <a:p>
            <a:pPr algn="ctr"/>
            <a:r>
              <a:rPr sz="1900" b="1">
                <a:solidFill>
                  <a:srgbClr val="17365D"/>
                </a:solidFill>
                <a:latin typeface="Arial"/>
              </a:rPr>
              <a:t>FAST CHECK: another PART → part-to-part   |   the TOTAL/WHOLE → part-to-whole</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check: explain one idea without looking.</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33 / 55</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Learning Target — Session 2</a:t>
            </a:r>
          </a:p>
        </p:txBody>
      </p:sp>
      <p:sp>
        <p:nvSpPr>
          <p:cNvPr id="3" name="TextBox 2"/>
          <p:cNvSpPr txBox="1"/>
          <p:nvPr/>
        </p:nvSpPr>
        <p:spPr>
          <a:xfrm>
            <a:off x="521207" y="877824"/>
            <a:ext cx="7680960" cy="274320"/>
          </a:xfrm>
          <a:prstGeom prst="rect">
            <a:avLst/>
          </a:prstGeom>
          <a:noFill/>
        </p:spPr>
        <p:txBody>
          <a:bodyPr wrap="square" lIns="0" tIns="0" rIns="0" bIns="0" anchor="t">
            <a:spAutoFit/>
          </a:bodyPr>
          <a:lstStyle/>
          <a:p>
            <a:pPr algn="l"/>
            <a:r>
              <a:rPr sz="1420" b="0">
                <a:solidFill>
                  <a:srgbClr val="5D6872"/>
                </a:solidFill>
                <a:latin typeface="Arial"/>
              </a:rPr>
              <a:t>Lesson 3-1 · Understand </a:t>
            </a:r>
            <a:r>
              <a:rPr sz="1420" b="1">
                <a:latin typeface="Arial"/>
              </a:rPr>
              <a:t>Ratio</a:t>
            </a:r>
            <a:r>
              <a:rPr sz="1420" b="0">
                <a:solidFill>
                  <a:srgbClr val="5D6872"/>
                </a:solidFill>
                <a:latin typeface="Arial"/>
              </a:rPr>
              <a:t>s   |   Maryland Standard 6.AT.1</a:t>
            </a:r>
          </a:p>
        </p:txBody>
      </p:sp>
      <p:sp>
        <p:nvSpPr>
          <p:cNvPr id="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LEARNING TARGET  ·  MODEL • SCALE • EXPLAIN</a:t>
            </a:r>
          </a:p>
        </p:txBody>
      </p:sp>
      <p:sp>
        <p:nvSpPr>
          <p:cNvPr id="6" name="TextBox 5"/>
          <p:cNvSpPr txBox="1"/>
          <p:nvPr/>
        </p:nvSpPr>
        <p:spPr>
          <a:xfrm>
            <a:off x="521207" y="1207008"/>
            <a:ext cx="10881360" cy="438912"/>
          </a:xfrm>
          <a:prstGeom prst="rect">
            <a:avLst/>
          </a:prstGeom>
          <a:noFill/>
        </p:spPr>
        <p:txBody>
          <a:bodyPr wrap="square" lIns="0" tIns="0" rIns="0" bIns="0" anchor="t">
            <a:spAutoFit/>
          </a:bodyPr>
          <a:lstStyle/>
          <a:p>
            <a:pPr algn="l"/>
            <a:r>
              <a:rPr sz="1630" b="0">
                <a:solidFill>
                  <a:srgbClr val="5D6872"/>
                </a:solidFill>
                <a:latin typeface="Arial"/>
              </a:rPr>
              <a:t>Today I will keep </a:t>
            </a:r>
            <a:r>
              <a:rPr sz="1630" b="1">
                <a:latin typeface="Arial"/>
              </a:rPr>
              <a:t>ratio</a:t>
            </a:r>
            <a:r>
              <a:rPr sz="1630" b="0">
                <a:solidFill>
                  <a:srgbClr val="5D6872"/>
                </a:solidFill>
                <a:latin typeface="Arial"/>
              </a:rPr>
              <a:t>s equivalent as the quantities grow and show the relationship with a </a:t>
            </a:r>
            <a:r>
              <a:rPr sz="1630" b="1">
                <a:latin typeface="Arial"/>
              </a:rPr>
              <a:t>tape diagram</a:t>
            </a:r>
            <a:r>
              <a:rPr sz="1630" b="0">
                <a:solidFill>
                  <a:srgbClr val="5D6872"/>
                </a:solidFill>
                <a:latin typeface="Arial"/>
              </a:rPr>
              <a:t> or </a:t>
            </a:r>
            <a:r>
              <a:rPr sz="1630" b="1">
                <a:latin typeface="Arial"/>
              </a:rPr>
              <a:t>double number line</a:t>
            </a:r>
            <a:r>
              <a:rPr sz="1630" b="0">
                <a:solidFill>
                  <a:srgbClr val="5D6872"/>
                </a:solidFill>
                <a:latin typeface="Arial"/>
              </a:rPr>
              <a:t>.</a:t>
            </a:r>
          </a:p>
        </p:txBody>
      </p:sp>
      <p:sp>
        <p:nvSpPr>
          <p:cNvPr id="7"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CONTENT OBJECTIVE</a:t>
            </a:r>
          </a:p>
        </p:txBody>
      </p:sp>
      <p:sp>
        <p:nvSpPr>
          <p:cNvPr id="10" name="TextBox 9"/>
          <p:cNvSpPr txBox="1"/>
          <p:nvPr/>
        </p:nvSpPr>
        <p:spPr>
          <a:xfrm>
            <a:off x="667512" y="2212848"/>
            <a:ext cx="5111496" cy="1051560"/>
          </a:xfrm>
          <a:prstGeom prst="rect">
            <a:avLst/>
          </a:prstGeom>
          <a:noFill/>
        </p:spPr>
        <p:txBody>
          <a:bodyPr wrap="square" lIns="0" tIns="0" rIns="0" bIns="0" anchor="t">
            <a:spAutoFit/>
          </a:bodyPr>
          <a:lstStyle/>
          <a:p>
            <a:pPr algn="l"/>
            <a:r>
              <a:rPr sz="1820" b="1">
                <a:solidFill>
                  <a:srgbClr val="23282D"/>
                </a:solidFill>
                <a:latin typeface="Arial"/>
              </a:rPr>
              <a:t>I can use a </a:t>
            </a:r>
            <a:r>
              <a:rPr sz="1820" b="1">
                <a:latin typeface="Arial"/>
              </a:rPr>
              <a:t>tape diagram</a:t>
            </a:r>
            <a:r>
              <a:rPr sz="1820" b="1">
                <a:solidFill>
                  <a:srgbClr val="23282D"/>
                </a:solidFill>
                <a:latin typeface="Arial"/>
              </a:rPr>
              <a:t> or </a:t>
            </a:r>
            <a:r>
              <a:rPr sz="1820" b="1">
                <a:latin typeface="Arial"/>
              </a:rPr>
              <a:t>double number line</a:t>
            </a:r>
            <a:r>
              <a:rPr sz="1820" b="1">
                <a:solidFill>
                  <a:srgbClr val="23282D"/>
                </a:solidFill>
                <a:latin typeface="Arial"/>
              </a:rPr>
              <a:t> to represent </a:t>
            </a:r>
            <a:r>
              <a:rPr sz="1820" b="1">
                <a:latin typeface="Arial"/>
              </a:rPr>
              <a:t>equivalent ratios</a:t>
            </a:r>
            <a:r>
              <a:rPr sz="1820" b="1">
                <a:solidFill>
                  <a:srgbClr val="23282D"/>
                </a:solidFill>
                <a:latin typeface="Arial"/>
              </a:rPr>
              <a:t>.</a:t>
            </a:r>
          </a:p>
        </p:txBody>
      </p:sp>
      <p:sp>
        <p:nvSpPr>
          <p:cNvPr id="11"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LANGUAGE OBJECTIVE</a:t>
            </a:r>
          </a:p>
        </p:txBody>
      </p:sp>
      <p:sp>
        <p:nvSpPr>
          <p:cNvPr id="14" name="TextBox 13"/>
          <p:cNvSpPr txBox="1"/>
          <p:nvPr/>
        </p:nvSpPr>
        <p:spPr>
          <a:xfrm>
            <a:off x="6345936" y="2212848"/>
            <a:ext cx="5102352" cy="1051560"/>
          </a:xfrm>
          <a:prstGeom prst="rect">
            <a:avLst/>
          </a:prstGeom>
          <a:noFill/>
        </p:spPr>
        <p:txBody>
          <a:bodyPr wrap="square" lIns="0" tIns="0" rIns="0" bIns="0" anchor="t">
            <a:spAutoFit/>
          </a:bodyPr>
          <a:lstStyle/>
          <a:p>
            <a:pPr algn="l"/>
            <a:r>
              <a:rPr sz="1700" b="1">
                <a:solidFill>
                  <a:srgbClr val="23282D"/>
                </a:solidFill>
                <a:latin typeface="Arial"/>
              </a:rPr>
              <a:t>I can explain how both quantities change using “both quantities were multiplied by ___.”</a:t>
            </a:r>
          </a:p>
        </p:txBody>
      </p:sp>
      <p:sp>
        <p:nvSpPr>
          <p:cNvPr id="15"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SUCCESS CHECK</a:t>
            </a:r>
          </a:p>
        </p:txBody>
      </p:sp>
      <p:sp>
        <p:nvSpPr>
          <p:cNvPr id="18" name="TextBox 17"/>
          <p:cNvSpPr txBox="1"/>
          <p:nvPr/>
        </p:nvSpPr>
        <p:spPr>
          <a:xfrm>
            <a:off x="667512" y="4023360"/>
            <a:ext cx="5111496" cy="1143000"/>
          </a:xfrm>
          <a:prstGeom prst="rect">
            <a:avLst/>
          </a:prstGeom>
          <a:noFill/>
        </p:spPr>
        <p:txBody>
          <a:bodyPr wrap="square" lIns="0" tIns="0" rIns="0" bIns="0" anchor="t">
            <a:spAutoFit/>
          </a:bodyPr>
          <a:lstStyle/>
          <a:p>
            <a:pPr algn="l"/>
            <a:r>
              <a:rPr sz="1540" b="0">
                <a:solidFill>
                  <a:srgbClr val="23282D"/>
                </a:solidFill>
                <a:latin typeface="Arial"/>
              </a:rPr>
              <a:t>✓ Read the starting </a:t>
            </a:r>
            <a:r>
              <a:rPr sz="1540" b="1">
                <a:latin typeface="Arial"/>
              </a:rPr>
              <a:t>ratio</a:t>
            </a:r>
            <a:r>
              <a:rPr sz="1540" b="0">
                <a:solidFill>
                  <a:srgbClr val="23282D"/>
                </a:solidFill>
                <a:latin typeface="Arial"/>
              </a:rPr>
              <a:t>.
✓ Scale both quantities by the same factor.
✓ Use a model and explain the pattern.</a:t>
            </a:r>
          </a:p>
        </p:txBody>
      </p:sp>
      <p:sp>
        <p:nvSpPr>
          <p:cNvPr id="19"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WHY THIS MATTERS</a:t>
            </a:r>
          </a:p>
        </p:txBody>
      </p:sp>
      <p:sp>
        <p:nvSpPr>
          <p:cNvPr id="22" name="TextBox 21"/>
          <p:cNvSpPr txBox="1"/>
          <p:nvPr/>
        </p:nvSpPr>
        <p:spPr>
          <a:xfrm>
            <a:off x="6345936" y="4023360"/>
            <a:ext cx="5102352" cy="1143000"/>
          </a:xfrm>
          <a:prstGeom prst="rect">
            <a:avLst/>
          </a:prstGeom>
          <a:noFill/>
        </p:spPr>
        <p:txBody>
          <a:bodyPr wrap="square" lIns="0" tIns="0" rIns="0" bIns="0" anchor="t">
            <a:spAutoFit/>
          </a:bodyPr>
          <a:lstStyle/>
          <a:p>
            <a:pPr algn="l"/>
            <a:r>
              <a:rPr sz="1570" b="1">
                <a:latin typeface="Arial"/>
              </a:rPr>
              <a:t>Equivalent ratios</a:t>
            </a:r>
            <a:r>
              <a:rPr sz="1570" b="0">
                <a:solidFill>
                  <a:srgbClr val="23282D"/>
                </a:solidFill>
                <a:latin typeface="Arial"/>
              </a:rPr>
              <a:t> keep recipes, mixtures, scale drawings, and comparisons consistent.</a:t>
            </a:r>
          </a:p>
        </p:txBody>
      </p:sp>
      <p:sp>
        <p:nvSpPr>
          <p:cNvPr id="23"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MATH COMMUNITY:  Different strategies are welcome  •  Ask before telling  •  Revising your thinking is part of learning</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Tell a partner the new goal and how you will show it.</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34 / 55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23" name="Google Shape;823;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24" name="Google Shape;824;p82"/>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25" name="Google Shape;825;p82"/>
          <p:cNvSpPr txBox="1"/>
          <p:nvPr/>
        </p:nvSpPr>
        <p:spPr>
          <a:xfrm>
            <a:off x="484560" y="936100"/>
            <a:ext cx="4260695" cy="11622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How are they the same?</a:t>
            </a:r>
            <a:br>
              <a:rPr b="0" i="0" lang="en-US" sz="2800" u="none" cap="none" strike="noStrike">
                <a:solidFill>
                  <a:srgbClr val="262626"/>
                </a:solidFill>
                <a:latin typeface="Arial"/>
                <a:ea typeface="Arial"/>
                <a:cs typeface="Arial"/>
                <a:sym typeface="Arial"/>
              </a:rPr>
            </a:br>
            <a:r>
              <a:rPr b="0" i="0" lang="en-US" sz="2800" u="none" cap="none" strike="noStrike">
                <a:solidFill>
                  <a:srgbClr val="262626"/>
                </a:solidFill>
                <a:latin typeface="Arial"/>
                <a:ea typeface="Arial"/>
                <a:cs typeface="Arial"/>
                <a:sym typeface="Arial"/>
              </a:rPr>
              <a:t>How are they different?</a:t>
            </a:r>
            <a:endParaRPr b="0" i="0" sz="1400" u="none" cap="none" strike="noStrike">
              <a:solidFill>
                <a:srgbClr val="000000"/>
              </a:solidFill>
              <a:latin typeface="Arial"/>
              <a:ea typeface="Arial"/>
              <a:cs typeface="Arial"/>
              <a:sym typeface="Arial"/>
            </a:endParaRPr>
          </a:p>
        </p:txBody>
      </p:sp>
      <p:pic>
        <p:nvPicPr>
          <p:cNvPr id="826" name="Google Shape;826;p82"/>
          <p:cNvPicPr preferRelativeResize="0"/>
          <p:nvPr/>
        </p:nvPicPr>
        <p:blipFill rotWithShape="1">
          <a:blip r:embed="rId2">
            <a:alphaModFix/>
          </a:blip>
          <a:srcRect b="0" l="0" r="0" t="0"/>
          <a:stretch/>
        </p:blipFill>
        <p:spPr>
          <a:xfrm>
            <a:off x="3222594" y="932832"/>
            <a:ext cx="6998022" cy="4170156"/>
          </a:xfrm>
          <a:prstGeom prst="rect">
            <a:avLst/>
          </a:prstGeom>
          <a:noFill/>
          <a:ln>
            <a:noFill/>
          </a:ln>
        </p:spPr>
      </p:pic>
      <p:pic>
        <p:nvPicPr>
          <p:cNvPr id="827" name="Google Shape;827;p82"/>
          <p:cNvPicPr preferRelativeResize="0"/>
          <p:nvPr/>
        </p:nvPicPr>
        <p:blipFill rotWithShape="1">
          <a:blip r:embed="rId3">
            <a:alphaModFix/>
          </a:blip>
          <a:srcRect b="0" l="0" r="0" t="0"/>
          <a:stretch/>
        </p:blipFill>
        <p:spPr>
          <a:xfrm>
            <a:off x="484560" y="5083700"/>
            <a:ext cx="5054600" cy="838200"/>
          </a:xfrm>
          <a:prstGeom prst="rect">
            <a:avLst/>
          </a:prstGeom>
          <a:noFill/>
          <a:ln>
            <a:noFill/>
          </a:ln>
        </p:spPr>
      </p:pic>
      <p:sp>
        <p:nvSpPr>
          <p:cNvPr id="828" name="Google Shape;828;p82"/>
          <p:cNvSpPr txBox="1"/>
          <p:nvPr/>
        </p:nvSpPr>
        <p:spPr>
          <a:xfrm>
            <a:off x="3344577" y="5241018"/>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29" name="Google Shape;829;p82"/>
          <p:cNvSpPr/>
          <p:nvPr/>
        </p:nvSpPr>
        <p:spPr>
          <a:xfrm>
            <a:off x="474055" y="5921900"/>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How are you building your confidence when engaging with math?</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35 / 55</a:t>
            </a:r>
          </a:p>
        </p:txBody>
      </p:sp>
      <p:grpSp>
        <p:nvGrpSpPr>
          <p:cNvPr id="9003" name="TEACH-3-student-move" descr="TEACH 3 · Use intentional questioning to deepen learning"/>
          <p:cNvGrpSpPr/>
          <p:nvPr/>
        </p:nvGrpSpPr>
        <p:grpSpPr>
          <a:xfrm>
            <a:off x="6187440" y="5245244"/>
            <a:ext cx="5501640" cy="594360"/>
            <a:chOff x="6187440" y="5245244"/>
            <a:chExt cx="5501640" cy="594360"/>
          </a:xfrm>
        </p:grpSpPr>
        <p:sp>
          <p:nvSpPr>
            <p:cNvPr id="9004" name="TEACH-move-card"/>
            <p:cNvSpPr/>
            <p:nvPr/>
          </p:nvSpPr>
          <p:spPr>
            <a:xfrm>
              <a:off x="6187440" y="5245244"/>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6233160" y="5358172"/>
              <a:ext cx="100584" cy="368504"/>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6507480" y="5245244"/>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3CF4AF49-89F7-5C44-B082-4D1951B38CC4}"/>
              </a:ext>
            </a:extLst>
          </p:cNvPr>
          <p:cNvSpPr txBox="1">
            <a:spLocks/>
          </p:cNvSpPr>
          <p:nvPr/>
        </p:nvSpPr>
        <p:spPr>
          <a:xfrm>
            <a:off x="474055" y="316034"/>
            <a:ext cx="3904129"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defRPr/>
            </a:pPr>
            <a:r>
              <a:rPr lang="en-US" sz="2800">
                <a:solidFill>
                  <a:srgbClr val="00B050"/>
                </a:solidFill>
                <a:latin typeface="Arial" panose="020B0604020202020204" pitchFamily="34" charset="0"/>
                <a:cs typeface="Arial" panose="020B0604020202020204" pitchFamily="34" charset="0"/>
              </a:rPr>
              <a:t>Be Curious</a:t>
            </a:r>
          </a:p>
        </p:txBody>
      </p:sp>
      <p:sp>
        <p:nvSpPr>
          <p:cNvPr id="17" name="Content Placeholder 2">
            <a:extLst>
              <a:ext uri="{FF2B5EF4-FFF2-40B4-BE49-F238E27FC236}">
                <a16:creationId xmlns:a16="http://schemas.microsoft.com/office/drawing/2014/main" id="{3C64A2BC-4D5F-F313-BCCF-8697F016B769}"/>
              </a:ext>
            </a:extLst>
          </p:cNvPr>
          <p:cNvSpPr txBox="1">
            <a:spLocks/>
          </p:cNvSpPr>
          <p:nvPr/>
        </p:nvSpPr>
        <p:spPr>
          <a:xfrm>
            <a:off x="484560" y="936100"/>
            <a:ext cx="4260695" cy="1162207"/>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defRPr/>
            </a:pPr>
            <a:r>
              <a:rPr lang="en-US" sz="2800">
                <a:solidFill>
                  <a:schemeClr val="tx1">
                    <a:lumMod val="85000"/>
                    <a:lumOff val="15000"/>
                  </a:schemeClr>
                </a:solidFill>
                <a:latin typeface="Arial" panose="020B0604020202020204" pitchFamily="34" charset="0"/>
                <a:cs typeface="Arial" panose="020B0604020202020204" pitchFamily="34" charset="0"/>
              </a:rPr>
              <a:t>How are they the same?</a:t>
            </a:r>
            <a:br>
              <a:rPr lang="en-US" sz="2800">
                <a:solidFill>
                  <a:schemeClr val="tx1">
                    <a:lumMod val="85000"/>
                    <a:lumOff val="15000"/>
                  </a:schemeClr>
                </a:solidFill>
                <a:latin typeface="Arial" panose="020B0604020202020204" pitchFamily="34" charset="0"/>
                <a:cs typeface="Arial" panose="020B0604020202020204" pitchFamily="34" charset="0"/>
              </a:rPr>
            </a:br>
            <a:r>
              <a:rPr lang="en-US" sz="2800">
                <a:solidFill>
                  <a:schemeClr val="tx1">
                    <a:lumMod val="85000"/>
                    <a:lumOff val="15000"/>
                  </a:schemeClr>
                </a:solidFill>
                <a:latin typeface="Arial" panose="020B0604020202020204" pitchFamily="34" charset="0"/>
                <a:cs typeface="Arial" panose="020B0604020202020204" pitchFamily="34" charset="0"/>
              </a:rPr>
              <a:t>How are they different?</a:t>
            </a:r>
          </a:p>
        </p:txBody>
      </p:sp>
      <p:pic>
        <p:nvPicPr>
          <p:cNvPr id="3" name="Picture 2"/>
          <p:cNvPicPr>
            <a:picLocks noChangeAspect="1"/>
          </p:cNvPicPr>
          <p:nvPr/>
        </p:nvPicPr>
        <p:blipFill>
          <a:blip r:embed="rId3"/>
          <a:stretch>
            <a:fillRect/>
          </a:stretch>
        </p:blipFill>
        <p:spPr>
          <a:xfrm>
            <a:off x="3222594" y="932832"/>
            <a:ext cx="6998022" cy="4170156"/>
          </a:xfrm>
          <a:prstGeom prst="rect">
            <a:avLst/>
          </a:prstGeom>
        </p:spPr>
      </p:pic>
      <p:pic>
        <p:nvPicPr>
          <p:cNvPr id="2" name="Picture 1">
            <a:extLst>
              <a:ext uri="{FF2B5EF4-FFF2-40B4-BE49-F238E27FC236}">
                <a16:creationId xmlns:a16="http://schemas.microsoft.com/office/drawing/2014/main" id="{B6282A6C-9EE6-EF0A-4913-DA05FC9E969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84560" y="5083700"/>
            <a:ext cx="5054600" cy="838200"/>
          </a:xfrm>
          <a:prstGeom prst="rect">
            <a:avLst/>
          </a:prstGeom>
        </p:spPr>
      </p:pic>
      <p:sp>
        <p:nvSpPr>
          <p:cNvPr id="4" name="Content Placeholder 2">
            <a:extLst>
              <a:ext uri="{FF2B5EF4-FFF2-40B4-BE49-F238E27FC236}">
                <a16:creationId xmlns:a16="http://schemas.microsoft.com/office/drawing/2014/main" id="{B8B3C195-A973-E722-C355-D03465BA622A}"/>
              </a:ext>
            </a:extLst>
          </p:cNvPr>
          <p:cNvSpPr txBox="1">
            <a:spLocks/>
          </p:cNvSpPr>
          <p:nvPr/>
        </p:nvSpPr>
        <p:spPr>
          <a:xfrm>
            <a:off x="3344577" y="5241018"/>
            <a:ext cx="2194584" cy="639716"/>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defRPr/>
            </a:pPr>
            <a:r>
              <a:rPr lang="en-US" sz="2800" dirty="0">
                <a:solidFill>
                  <a:schemeClr val="tx1">
                    <a:lumMod val="85000"/>
                    <a:lumOff val="15000"/>
                  </a:schemeClr>
                </a:solidFill>
                <a:latin typeface="Arial" panose="020B0604020202020204" pitchFamily="34" charset="0"/>
                <a:cs typeface="Arial" panose="020B0604020202020204" pitchFamily="34" charset="0"/>
              </a:rPr>
              <a:t>Mindset</a:t>
            </a:r>
          </a:p>
        </p:txBody>
      </p:sp>
      <p:sp>
        <p:nvSpPr>
          <p:cNvPr id="18"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NOTICE • COMPARE • EXPLAIN</a:t>
            </a:r>
          </a:p>
        </p:txBody>
      </p:sp>
      <p:sp>
        <p:nvSpPr>
          <p:cNvPr id="20" name="Rounded Rectangle 19"/>
          <p:cNvSpPr/>
          <p:nvPr/>
        </p:nvSpPr>
        <p:spPr>
          <a:xfrm>
            <a:off x="7882127" y="4901184"/>
            <a:ext cx="3639312" cy="102412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882127" y="4901184"/>
            <a:ext cx="73152" cy="102412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19" y="5010912"/>
            <a:ext cx="3346704" cy="219456"/>
          </a:xfrm>
          <a:prstGeom prst="rect">
            <a:avLst/>
          </a:prstGeom>
          <a:noFill/>
        </p:spPr>
        <p:txBody>
          <a:bodyPr wrap="square" lIns="0" tIns="0" rIns="0" bIns="0" anchor="t">
            <a:spAutoFit/>
          </a:bodyPr>
          <a:lstStyle/>
          <a:p>
            <a:pPr algn="l">
              <a:defRPr/>
            </a:pPr>
            <a:r>
              <a:rPr sz="1400" b="1">
                <a:solidFill>
                  <a:srgbClr val="01708C"/>
                </a:solidFill>
                <a:latin typeface="Arial"/>
              </a:rPr>
              <a:t>DISCUSSION MOVES</a:t>
            </a:r>
          </a:p>
        </p:txBody>
      </p:sp>
      <p:sp>
        <p:nvSpPr>
          <p:cNvPr id="23" name="TextBox 22"/>
          <p:cNvSpPr txBox="1"/>
          <p:nvPr/>
        </p:nvSpPr>
        <p:spPr>
          <a:xfrm>
            <a:off x="8046719" y="5285232"/>
            <a:ext cx="3328416" cy="548640"/>
          </a:xfrm>
          <a:prstGeom prst="rect">
            <a:avLst/>
          </a:prstGeom>
          <a:noFill/>
        </p:spPr>
        <p:txBody>
          <a:bodyPr wrap="square" lIns="0" tIns="0" rIns="0" bIns="0" anchor="t">
            <a:spAutoFit/>
          </a:bodyPr>
          <a:lstStyle/>
          <a:p>
            <a:pPr algn="l">
              <a:defRPr/>
            </a:pPr>
            <a:r>
              <a:rPr sz="1350" b="0">
                <a:solidFill>
                  <a:srgbClr val="23282D"/>
                </a:solidFill>
                <a:latin typeface="Arial"/>
              </a:rPr>
              <a:t>I notice ___ because ___.
I wonder ___.
I agree / disagree because ___.</a:t>
            </a:r>
          </a:p>
        </p:txBody>
      </p:sp>
      <p:sp>
        <p:nvSpPr>
          <p:cNvPr id="2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36 / 55</a:t>
            </a:r>
          </a:p>
        </p:txBody>
      </p:sp>
      <p:grpSp>
        <p:nvGrpSpPr>
          <p:cNvPr id="25" name="TEACH-3-student-move" descr="TEACH 3 · Use intentional questioning to deepen learning"/>
          <p:cNvGrpSpPr/>
          <p:nvPr/>
        </p:nvGrpSpPr>
        <p:grpSpPr>
          <a:xfrm>
            <a:off x="502920" y="5961888"/>
            <a:ext cx="11186160" cy="320040"/>
            <a:chOff x="502920" y="5961888"/>
            <a:chExt cx="11186160" cy="320040"/>
          </a:xfrm>
        </p:grpSpPr>
        <p:sp>
          <p:nvSpPr>
            <p:cNvPr id="26" name="TEACH-move-card"/>
            <p:cNvSpPr/>
            <p:nvPr/>
          </p:nvSpPr>
          <p:spPr>
            <a:xfrm>
              <a:off x="502920" y="596188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27" name="TEACH-move-rule"/>
            <p:cNvSpPr/>
            <p:nvPr/>
          </p:nvSpPr>
          <p:spPr>
            <a:xfrm>
              <a:off x="548640" y="6022696"/>
              <a:ext cx="100584" cy="198424"/>
            </a:xfrm>
            <a:prstGeom prst="roundRect">
              <a:avLst>
                <a:gd name="adj" fmla="val 50000"/>
              </a:avLst>
            </a:prstGeom>
            <a:solidFill>
              <a:srgbClr val="01708C"/>
            </a:solidFill>
            <a:ln>
              <a:noFill/>
            </a:ln>
          </p:spPr>
          <p:txBody>
            <a:bodyPr/>
            <a:lstStyle/>
            <a:p>
              <a:endParaRPr/>
            </a:p>
          </p:txBody>
        </p:sp>
        <p:sp>
          <p:nvSpPr>
            <p:cNvPr id="28" name="TEACH-move-text"/>
            <p:cNvSpPr txBox="1"/>
            <p:nvPr/>
          </p:nvSpPr>
          <p:spPr>
            <a:xfrm>
              <a:off x="822960" y="596188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extLst>
      <p:ext uri="{BB962C8B-B14F-4D97-AF65-F5344CB8AC3E}">
        <p14:creationId xmlns:p14="http://schemas.microsoft.com/office/powerpoint/2010/main" val="1304381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D7D5C8EC-F1EF-6146-850F-128719B25F22}"/>
              </a:ext>
            </a:extLst>
          </p:cNvPr>
          <p:cNvSpPr txBox="1">
            <a:spLocks/>
          </p:cNvSpPr>
          <p:nvPr/>
        </p:nvSpPr>
        <p:spPr>
          <a:xfrm>
            <a:off x="484565" y="936100"/>
            <a:ext cx="6366435" cy="509683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a:solidFill>
                  <a:schemeClr val="tx1">
                    <a:lumMod val="85000"/>
                    <a:lumOff val="15000"/>
                  </a:schemeClr>
                </a:solidFill>
                <a:latin typeface="Arial" panose="020B0604020202020204" pitchFamily="34" charset="0"/>
                <a:cs typeface="Arial" panose="020B0604020202020204" pitchFamily="34" charset="0"/>
              </a:rPr>
              <a:t>Tahira is making a salad dressing using the recipe shown. She plans to use 4 tablespoons of vinegar.</a:t>
            </a:r>
          </a:p>
          <a:p>
            <a:pPr>
              <a:spcBef>
                <a:spcPts val="1800"/>
              </a:spcBef>
            </a:pPr>
            <a:r>
              <a:rPr lang="en-US" sz="2800" b="1">
                <a:solidFill>
                  <a:schemeClr val="tx1">
                    <a:lumMod val="85000"/>
                    <a:lumOff val="15000"/>
                  </a:schemeClr>
                </a:solidFill>
                <a:latin typeface="Arial" panose="020B0604020202020204" pitchFamily="34" charset="0"/>
                <a:cs typeface="Arial" panose="020B0604020202020204" pitchFamily="34" charset="0"/>
              </a:rPr>
              <a:t>How can she determine the amount of olive oil she will need to keep the taste of the salad dressing the same?</a:t>
            </a:r>
            <a:r>
              <a:rPr lang="en-US" sz="2800">
                <a:solidFill>
                  <a:schemeClr val="tx1">
                    <a:lumMod val="85000"/>
                    <a:lumOff val="15000"/>
                  </a:schemeClr>
                </a:solidFill>
                <a:latin typeface="Arial" panose="020B0604020202020204" pitchFamily="34" charset="0"/>
                <a:cs typeface="Arial" panose="020B0604020202020204" pitchFamily="34" charset="0"/>
              </a:rPr>
              <a:t>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3870" y="2187297"/>
            <a:ext cx="3212310" cy="2880000"/>
          </a:xfrm>
          <a:prstGeom prst="rect">
            <a:avLst/>
          </a:prstGeom>
        </p:spPr>
      </p:pic>
      <p:sp>
        <p:nvSpPr>
          <p:cNvPr id="3" name="Title 1">
            <a:extLst>
              <a:ext uri="{FF2B5EF4-FFF2-40B4-BE49-F238E27FC236}">
                <a16:creationId xmlns:a16="http://schemas.microsoft.com/office/drawing/2014/main" id="{9BED3BA3-F06B-E4AA-A209-5F8EB538E899}"/>
              </a:ext>
            </a:extLst>
          </p:cNvPr>
          <p:cNvSpPr txBox="1">
            <a:spLocks/>
          </p:cNvSpPr>
          <p:nvPr/>
        </p:nvSpPr>
        <p:spPr>
          <a:xfrm>
            <a:off x="484565" y="316034"/>
            <a:ext cx="4309377"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sz="2800" dirty="0">
                <a:solidFill>
                  <a:srgbClr val="782DA0"/>
                </a:solidFill>
                <a:latin typeface="Arial"/>
                <a:cs typeface="Arial"/>
              </a:rPr>
              <a:t>Making Salad Dressing</a:t>
            </a:r>
          </a:p>
        </p:txBody>
      </p: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MAKE A PREDICTION • EXPLAIN</a:t>
            </a:r>
          </a:p>
        </p:txBody>
      </p:sp>
      <p:sp>
        <p:nvSpPr>
          <p:cNvPr id="17" name="Rounded Rectangle 16"/>
          <p:cNvSpPr/>
          <p:nvPr/>
        </p:nvSpPr>
        <p:spPr>
          <a:xfrm>
            <a:off x="7818120" y="5230368"/>
            <a:ext cx="3657600" cy="859536"/>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7818120" y="5230368"/>
            <a:ext cx="73152" cy="859536"/>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82712" y="5340096"/>
            <a:ext cx="3364992" cy="219456"/>
          </a:xfrm>
          <a:prstGeom prst="rect">
            <a:avLst/>
          </a:prstGeom>
          <a:noFill/>
        </p:spPr>
        <p:txBody>
          <a:bodyPr wrap="square" lIns="0" tIns="0" rIns="0" bIns="0" anchor="t">
            <a:spAutoFit/>
          </a:bodyPr>
          <a:lstStyle/>
          <a:p>
            <a:pPr algn="l"/>
            <a:r>
              <a:rPr sz="1400" b="1">
                <a:solidFill>
                  <a:srgbClr val="008A62"/>
                </a:solidFill>
                <a:latin typeface="Arial"/>
              </a:rPr>
              <a:t>MAKE A PREDICTION</a:t>
            </a:r>
          </a:p>
        </p:txBody>
      </p:sp>
      <p:sp>
        <p:nvSpPr>
          <p:cNvPr id="20" name="TextBox 19"/>
          <p:cNvSpPr txBox="1"/>
          <p:nvPr/>
        </p:nvSpPr>
        <p:spPr>
          <a:xfrm>
            <a:off x="7982712" y="5614416"/>
            <a:ext cx="3346704" cy="384047"/>
          </a:xfrm>
          <a:prstGeom prst="rect">
            <a:avLst/>
          </a:prstGeom>
          <a:noFill/>
        </p:spPr>
        <p:txBody>
          <a:bodyPr wrap="square" lIns="0" tIns="0" rIns="0" bIns="0" anchor="t">
            <a:spAutoFit/>
          </a:bodyPr>
          <a:lstStyle/>
          <a:p>
            <a:pPr algn="l"/>
            <a:r>
              <a:rPr sz="1350" b="0">
                <a:solidFill>
                  <a:srgbClr val="23282D"/>
                </a:solidFill>
                <a:latin typeface="Arial"/>
              </a:rPr>
              <a:t>“If the vinegar is ×4, I predict the olive oil will be ___ because ___.”</a:t>
            </a:r>
          </a:p>
        </p:txBody>
      </p:sp>
      <p:sp>
        <p:nvSpPr>
          <p:cNvPr id="21" name="Rounded Rectangle 20"/>
          <p:cNvSpPr/>
          <p:nvPr/>
        </p:nvSpPr>
        <p:spPr>
          <a:xfrm>
            <a:off x="658368" y="5074920"/>
            <a:ext cx="6217920" cy="822960"/>
          </a:xfrm>
          <a:prstGeom prst="roundRect">
            <a:avLst/>
          </a:prstGeom>
          <a:solidFill>
            <a:srgbClr val="EBF5FB"/>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lIns="164592" tIns="73152" rIns="137160" bIns="54864" rtlCol="0" anchor="ctr"/>
          <a:lstStyle/>
          <a:p>
            <a:pPr algn="ctr">
              <a:spcAft>
                <a:spcPts val="200"/>
              </a:spcAft>
            </a:pPr>
            <a:r>
              <a:rPr sz="1100" b="1">
                <a:solidFill>
                  <a:srgbClr val="01708C"/>
                </a:solidFill>
                <a:latin typeface="Arial"/>
              </a:rPr>
              <a:t>FIRST QUESTION</a:t>
            </a:r>
          </a:p>
          <a:p>
            <a:pPr>
              <a:spcBef>
                <a:spcPts val="0"/>
              </a:spcBef>
            </a:pPr>
            <a:r>
              <a:rPr sz="1700" b="0">
                <a:solidFill>
                  <a:srgbClr val="2D3A40"/>
                </a:solidFill>
                <a:latin typeface="Arial"/>
              </a:rPr>
              <a:t>How do vinegar and olive oil relate: </a:t>
            </a:r>
            <a:r>
              <a:rPr sz="1700" b="1">
                <a:solidFill>
                  <a:srgbClr val="2D3A40"/>
                </a:solidFill>
                <a:latin typeface="Arial"/>
              </a:rPr>
              <a:t>part-to-part</a:t>
            </a:r>
            <a:r>
              <a:rPr sz="1700" b="0">
                <a:solidFill>
                  <a:srgbClr val="2D3A40"/>
                </a:solidFill>
                <a:latin typeface="Arial"/>
              </a:rPr>
              <a:t> or </a:t>
            </a:r>
            <a:r>
              <a:rPr sz="1700" b="1">
                <a:solidFill>
                  <a:srgbClr val="2D3A40"/>
                </a:solidFill>
                <a:latin typeface="Arial"/>
              </a:rPr>
              <a:t>part-to-whole</a:t>
            </a:r>
            <a:r>
              <a:rPr sz="1700" b="0">
                <a:solidFill>
                  <a:srgbClr val="2D3A40"/>
                </a:solidFill>
                <a:latin typeface="Arial"/>
              </a:rPr>
              <a:t>?</a:t>
            </a:r>
          </a:p>
        </p:txBody>
      </p:sp>
      <p:sp>
        <p:nvSpPr>
          <p:cNvPr id="22" name="Rounded Rectangle 21"/>
          <p:cNvSpPr/>
          <p:nvPr/>
        </p:nvSpPr>
        <p:spPr>
          <a:xfrm>
            <a:off x="8092440" y="1499616"/>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38160" y="1508760"/>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Compare strategies; defend one with evidence.</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37 / 55</a:t>
            </a:r>
          </a:p>
        </p:txBody>
      </p:sp>
    </p:spTree>
    <p:extLst>
      <p:ext uri="{BB962C8B-B14F-4D97-AF65-F5344CB8AC3E}">
        <p14:creationId xmlns:p14="http://schemas.microsoft.com/office/powerpoint/2010/main" val="2020339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a:cxnSpLocks/>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EF6A0A76-1EBD-DF3E-802C-D740D42EB0EF}"/>
              </a:ext>
            </a:extLst>
          </p:cNvPr>
          <p:cNvSpPr txBox="1">
            <a:spLocks/>
          </p:cNvSpPr>
          <p:nvPr/>
        </p:nvSpPr>
        <p:spPr>
          <a:xfrm>
            <a:off x="614744" y="623124"/>
            <a:ext cx="6777948" cy="3698619"/>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2200">
                <a:solidFill>
                  <a:srgbClr val="2D3A40"/>
                </a:solidFill>
                <a:latin typeface="Arial"/>
              </a:rPr>
              <a:t>Both ingredients are parts → </a:t>
            </a:r>
            <a:r>
              <a:rPr sz="2200" b="1">
                <a:latin typeface="Arial"/>
              </a:rPr>
              <a:t>part-to-part</a:t>
            </a:r>
            <a:r>
              <a:rPr sz="2200">
                <a:solidFill>
                  <a:srgbClr val="2D3A40"/>
                </a:solidFill>
                <a:latin typeface="Arial"/>
              </a:rPr>
              <a:t>. One way to model the relationship is a </a:t>
            </a:r>
            <a:r>
              <a:rPr sz="2200" b="1">
                <a:latin typeface="Arial"/>
              </a:rPr>
              <a:t>tape diagram</a:t>
            </a:r>
            <a:r>
              <a:rPr sz="2200">
                <a:solidFill>
                  <a:srgbClr val="2D3A40"/>
                </a:solidFill>
                <a:latin typeface="Arial"/>
              </a:rPr>
              <a:t>.</a:t>
            </a:r>
            <a:endParaRPr lang="en-US" sz="2800" b="1">
              <a:solidFill>
                <a:schemeClr val="tx1">
                  <a:lumMod val="85000"/>
                  <a:lumOff val="15000"/>
                </a:schemeClr>
              </a:solidFill>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F4138726-FF9C-4830-C264-CD63B460B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1514" y="2379316"/>
            <a:ext cx="5209920" cy="2416973"/>
          </a:xfrm>
          <a:prstGeom prst="rect">
            <a:avLst/>
          </a:prstGeom>
        </p:spPr>
      </p:pic>
      <p:sp>
        <p:nvSpPr>
          <p:cNvPr id="6" name="TextBox 5">
            <a:extLst>
              <a:ext uri="{FF2B5EF4-FFF2-40B4-BE49-F238E27FC236}">
                <a16:creationId xmlns:a16="http://schemas.microsoft.com/office/drawing/2014/main" id="{AE8AF488-9B72-2852-A0FB-AD865A528610}"/>
              </a:ext>
            </a:extLst>
          </p:cNvPr>
          <p:cNvSpPr txBox="1"/>
          <p:nvPr/>
        </p:nvSpPr>
        <p:spPr>
          <a:xfrm>
            <a:off x="614744" y="1670993"/>
            <a:ext cx="10915995" cy="954107"/>
          </a:xfrm>
          <a:prstGeom prst="rect">
            <a:avLst/>
          </a:prstGeom>
          <a:noFill/>
        </p:spPr>
        <p:txBody>
          <a:bodyPr wrap="square">
            <a:spAutoFit/>
          </a:bodyPr>
          <a:lstStyle/>
          <a:p>
            <a:r>
              <a:rPr lang="en-US" sz="2800" b="1">
                <a:solidFill>
                  <a:schemeClr val="tx1">
                    <a:lumMod val="85000"/>
                    <a:lumOff val="15000"/>
                  </a:schemeClr>
                </a:solidFill>
                <a:latin typeface="Arial" panose="020B0604020202020204" pitchFamily="34" charset="0"/>
                <a:cs typeface="Arial" panose="020B0604020202020204" pitchFamily="34" charset="0"/>
              </a:rPr>
              <a:t>How do the tablespoons of vinegar relate to the tablespoons of olive oil?</a:t>
            </a:r>
            <a:endParaRPr lang="en-US" sz="2800"/>
          </a:p>
        </p:txBody>
      </p:sp>
      <p:sp>
        <p:nvSpPr>
          <p:cNvPr id="2" name="Content Placeholder 2">
            <a:extLst>
              <a:ext uri="{FF2B5EF4-FFF2-40B4-BE49-F238E27FC236}">
                <a16:creationId xmlns:a16="http://schemas.microsoft.com/office/drawing/2014/main" id="{7D0DDF72-A096-35C3-897E-DEAF4C678E5F}"/>
              </a:ext>
            </a:extLst>
          </p:cNvPr>
          <p:cNvSpPr txBox="1">
            <a:spLocks/>
          </p:cNvSpPr>
          <p:nvPr/>
        </p:nvSpPr>
        <p:spPr>
          <a:xfrm>
            <a:off x="614744" y="4923741"/>
            <a:ext cx="6657926" cy="1423896"/>
          </a:xfrm>
          <a:prstGeom prst="rect">
            <a:avLst/>
          </a:prstGeom>
        </p:spPr>
        <p:txBody>
          <a:bodyPr wrap="square" lIns="36576" tIns="18288" rIns="36576" bIns="18288">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400"/>
              </a:spcAft>
            </a:pPr>
            <a:r>
              <a:rPr sz="1600" b="1">
                <a:solidFill>
                  <a:srgbClr val="0070C0"/>
                </a:solidFill>
                <a:latin typeface="Arial"/>
              </a:rPr>
              <a:t>Think first:</a:t>
            </a:r>
          </a:p>
          <a:p>
            <a:pPr>
              <a:spcAft>
                <a:spcPts val="0"/>
              </a:spcAft>
            </a:pPr>
            <a:r>
              <a:rPr sz="1700" b="0">
                <a:solidFill>
                  <a:srgbClr val="23282D"/>
                </a:solidFill>
                <a:latin typeface="Arial"/>
              </a:rPr>
              <a:t>Explain your reasoning to a partner before the next slide.</a:t>
            </a:r>
          </a:p>
        </p:txBody>
      </p: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READ THE DIAGRAM • EXPLAIN</a:t>
            </a:r>
          </a:p>
        </p:txBody>
      </p:sp>
      <p:sp>
        <p:nvSpPr>
          <p:cNvPr id="17" name="Rounded Rectangle 16"/>
          <p:cNvSpPr/>
          <p:nvPr/>
        </p:nvSpPr>
        <p:spPr>
          <a:xfrm>
            <a:off x="8275320" y="4407408"/>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21040" y="4416552"/>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1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38 / 55</a:t>
            </a:r>
          </a:p>
        </p:txBody>
      </p:sp>
      <p:sp xmlns:p="http://schemas.openxmlformats.org/presentationml/2006/main" xmlns:a="http://schemas.openxmlformats.org/drawingml/2006/main">
        <p:nvSpPr>
          <p:cNvPr id="20"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Explain what each part</a:t>
            </a:r>
            <a:endParaRPr lang="en-US" sz="2000"/>
          </a:p>
          <a:p>
            <a:pPr>
              <a:lnSpc>
                <a:spcPts val="2400"/>
              </a:lnSpc>
              <a:buNone/>
            </a:pPr>
            <a:r>
              <a:rPr lang="en-US" sz="2000">
                <a:solidFill>
                  <a:srgbClr val="174D60"/>
                </a:solidFill>
                <a:latin typeface="Arial"/>
              </a:rPr>
              <a:t>of the tape diagram represents in</a:t>
            </a:r>
            <a:endParaRPr lang="en-US" sz="2000"/>
          </a:p>
          <a:p>
            <a:pPr>
              <a:lnSpc>
                <a:spcPts val="2400"/>
              </a:lnSpc>
              <a:buNone/>
            </a:pPr>
            <a:r>
              <a:rPr lang="en-US" sz="2000">
                <a:solidFill>
                  <a:srgbClr val="174D60"/>
                </a:solidFill>
                <a:latin typeface="Arial"/>
              </a:rPr>
              <a:t>the problem.</a:t>
            </a:r>
            <a:endParaRPr lang="en-US" sz="2000"/>
          </a:p>
        </p:txBody>
      </p:sp>
    </p:spTree>
    <p:extLst>
      <p:ext uri="{BB962C8B-B14F-4D97-AF65-F5344CB8AC3E}">
        <p14:creationId xmlns:p14="http://schemas.microsoft.com/office/powerpoint/2010/main" val="4307382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70FBBB7-8F61-DA18-7D8B-1438C9BFF5CE}"/>
              </a:ext>
            </a:extLst>
          </p:cNvPr>
          <p:cNvSpPr txBox="1">
            <a:spLocks/>
          </p:cNvSpPr>
          <p:nvPr/>
        </p:nvSpPr>
        <p:spPr>
          <a:xfrm>
            <a:off x="484565" y="316034"/>
            <a:ext cx="6022113" cy="661120"/>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sz="2800">
                <a:solidFill>
                  <a:schemeClr val="tx1"/>
                </a:solidFill>
                <a:latin typeface="Arial" panose="020B0604020202020204" pitchFamily="34" charset="0"/>
                <a:cs typeface="Arial" panose="020B0604020202020204" pitchFamily="34" charset="0"/>
              </a:rPr>
              <a:t>    Collaborate and Connect </a:t>
            </a:r>
            <a:r>
              <a:rPr lang="en-US" sz="1500">
                <a:solidFill>
                  <a:schemeClr val="tx1"/>
                </a:solidFill>
                <a:latin typeface="Arial" panose="020B0604020202020204" pitchFamily="34" charset="0"/>
                <a:cs typeface="Arial" panose="020B0604020202020204" pitchFamily="34" charset="0"/>
              </a:rPr>
              <a:t>(continued)</a:t>
            </a:r>
            <a:endParaRPr lang="en-US" sz="2800">
              <a:solidFill>
                <a:schemeClr val="tx1"/>
              </a:solidFill>
              <a:latin typeface="Arial" panose="020B0604020202020204" pitchFamily="34" charset="0"/>
              <a:cs typeface="Arial" panose="020B0604020202020204" pitchFamily="34" charset="0"/>
            </a:endParaRPr>
          </a:p>
        </p:txBody>
      </p:sp>
      <p:pic>
        <p:nvPicPr>
          <p:cNvPr id="3" name="Graphic 2">
            <a:extLst>
              <a:ext uri="{FF2B5EF4-FFF2-40B4-BE49-F238E27FC236}">
                <a16:creationId xmlns:a16="http://schemas.microsoft.com/office/drawing/2014/main" id="{54F6E1D1-B6EF-6F76-696A-59A3990349C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8276" y="386230"/>
            <a:ext cx="353635" cy="340537"/>
          </a:xfrm>
          <a:prstGeom prst="rect">
            <a:avLst/>
          </a:prstGeom>
        </p:spPr>
      </p:pic>
      <p:sp>
        <p:nvSpPr>
          <p:cNvPr id="6" name="Content Placeholder 2">
            <a:extLst>
              <a:ext uri="{FF2B5EF4-FFF2-40B4-BE49-F238E27FC236}">
                <a16:creationId xmlns:a16="http://schemas.microsoft.com/office/drawing/2014/main" id="{7A69D19B-ADDC-0007-BE1C-0866D928F36B}"/>
              </a:ext>
            </a:extLst>
          </p:cNvPr>
          <p:cNvSpPr txBox="1">
            <a:spLocks/>
          </p:cNvSpPr>
          <p:nvPr/>
        </p:nvSpPr>
        <p:spPr>
          <a:xfrm>
            <a:off x="397938" y="1104920"/>
            <a:ext cx="8153408" cy="89981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a:solidFill>
                  <a:schemeClr val="tx1">
                    <a:lumMod val="85000"/>
                    <a:lumOff val="15000"/>
                  </a:schemeClr>
                </a:solidFill>
                <a:latin typeface="Arial" panose="020B0604020202020204" pitchFamily="34" charset="0"/>
                <a:cs typeface="Arial" panose="020B0604020202020204" pitchFamily="34" charset="0"/>
              </a:rPr>
              <a:t>Tahira can change the value in each box of the </a:t>
            </a:r>
            <a:r>
              <a:rPr lang="en-US" sz="2800" b="1">
                <a:latin typeface="Arial" panose="020B0604020202020204" pitchFamily="34" charset="0"/>
                <a:cs typeface="Arial" panose="020B0604020202020204" pitchFamily="34" charset="0"/>
              </a:rPr>
              <a:t>tape diagram</a:t>
            </a:r>
            <a:r>
              <a:rPr lang="en-US" sz="2800">
                <a:solidFill>
                  <a:schemeClr val="tx1">
                    <a:lumMod val="85000"/>
                    <a:lumOff val="15000"/>
                  </a:schemeClr>
                </a:solidFill>
                <a:latin typeface="Arial" panose="020B0604020202020204" pitchFamily="34" charset="0"/>
                <a:cs typeface="Arial" panose="020B0604020202020204" pitchFamily="34" charset="0"/>
              </a:rPr>
              <a:t> from 1 to 4.</a:t>
            </a:r>
          </a:p>
        </p:txBody>
      </p:sp>
      <p:pic>
        <p:nvPicPr>
          <p:cNvPr id="4" name="Picture 3">
            <a:extLst>
              <a:ext uri="{FF2B5EF4-FFF2-40B4-BE49-F238E27FC236}">
                <a16:creationId xmlns:a16="http://schemas.microsoft.com/office/drawing/2014/main" id="{AE74CE08-09DD-13B0-2101-EA6E1960B6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276" y="2612945"/>
            <a:ext cx="5209920" cy="2416973"/>
          </a:xfrm>
          <a:prstGeom prst="rect">
            <a:avLst/>
          </a:prstGeom>
        </p:spPr>
      </p:pic>
      <p:pic>
        <p:nvPicPr>
          <p:cNvPr id="5" name="Picture 4">
            <a:extLst>
              <a:ext uri="{FF2B5EF4-FFF2-40B4-BE49-F238E27FC236}">
                <a16:creationId xmlns:a16="http://schemas.microsoft.com/office/drawing/2014/main" id="{FB86E947-19B3-72BE-8A31-8AF861D17F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3804" y="2612945"/>
            <a:ext cx="5209920" cy="2412000"/>
          </a:xfrm>
          <a:prstGeom prst="rect">
            <a:avLst/>
          </a:prstGeom>
        </p:spPr>
      </p:pic>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SCALE BOTH PARTS • CHECK</a:t>
            </a:r>
          </a:p>
        </p:txBody>
      </p:sp>
      <p:sp>
        <p:nvSpPr>
          <p:cNvPr id="17" name="Rounded Rectangle 16"/>
          <p:cNvSpPr/>
          <p:nvPr/>
        </p:nvSpPr>
        <p:spPr>
          <a:xfrm>
            <a:off x="658368" y="5230368"/>
            <a:ext cx="10561320" cy="841248"/>
          </a:xfrm>
          <a:prstGeom prst="roundRect">
            <a:avLst/>
          </a:prstGeom>
          <a:solidFill>
            <a:srgbClr val="EDF8F3"/>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lIns="164592" tIns="73152" rIns="137160" bIns="54864" rtlCol="0" anchor="ctr"/>
          <a:lstStyle/>
          <a:p>
            <a:pPr algn="ctr">
              <a:spcAft>
                <a:spcPts val="200"/>
              </a:spcAft>
            </a:pPr>
            <a:r>
              <a:rPr sz="1100" b="1">
                <a:solidFill>
                  <a:srgbClr val="008A62"/>
                </a:solidFill>
                <a:latin typeface="Arial"/>
              </a:rPr>
              <a:t>SOLVE + EXPLAIN</a:t>
            </a:r>
          </a:p>
          <a:p>
            <a:pPr>
              <a:spcBef>
                <a:spcPts val="0"/>
              </a:spcBef>
            </a:pPr>
            <a:r>
              <a:rPr sz="1700" b="0">
                <a:solidFill>
                  <a:srgbClr val="2D3A40"/>
                </a:solidFill>
                <a:latin typeface="Arial"/>
              </a:rPr>
              <a:t>How much olive oil is needed for 4 tbsp vinegar? Use addition OR multiplication, then explain why the </a:t>
            </a:r>
            <a:r>
              <a:rPr sz="1700" b="1">
                <a:solidFill>
                  <a:srgbClr val="2D3A40"/>
                </a:solidFill>
                <a:latin typeface="Arial"/>
              </a:rPr>
              <a:t>ratio</a:t>
            </a:r>
            <a:r>
              <a:rPr sz="1700" b="0">
                <a:solidFill>
                  <a:srgbClr val="2D3A40"/>
                </a:solidFill>
                <a:latin typeface="Arial"/>
              </a:rPr>
              <a:t> stays 1:3.</a:t>
            </a:r>
          </a:p>
        </p:txBody>
      </p:sp>
      <p:sp>
        <p:nvSpPr>
          <p:cNvPr id="18" name="Rounded Rectangle 17"/>
          <p:cNvSpPr/>
          <p:nvPr/>
        </p:nvSpPr>
        <p:spPr>
          <a:xfrm>
            <a:off x="8229600" y="2075688"/>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75320" y="2084832"/>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Student-led talk: assign roles and monitor group progress.</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39 / 55</a:t>
            </a:r>
          </a:p>
        </p:txBody>
      </p:sp>
    </p:spTree>
    <p:extLst>
      <p:ext uri="{BB962C8B-B14F-4D97-AF65-F5344CB8AC3E}">
        <p14:creationId xmlns:p14="http://schemas.microsoft.com/office/powerpoint/2010/main" val="184013702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defRPr/>
            </a:pPr>
            <a:r>
              <a:rPr lang="en-US" sz="2800">
                <a:solidFill>
                  <a:srgbClr val="782DA0"/>
                </a:solidFill>
                <a:latin typeface="Arial" panose="020B0604020202020204" pitchFamily="34" charset="0"/>
                <a:cs typeface="Arial" panose="020B0604020202020204" pitchFamily="34" charset="0"/>
              </a:rPr>
              <a:t>Let’s Explore More</a:t>
            </a:r>
          </a:p>
        </p:txBody>
      </p:sp>
      <p:sp>
        <p:nvSpPr>
          <p:cNvPr id="20" name="Content Placeholder 2">
            <a:extLst>
              <a:ext uri="{FF2B5EF4-FFF2-40B4-BE49-F238E27FC236}">
                <a16:creationId xmlns:a16="http://schemas.microsoft.com/office/drawing/2014/main" id="{D7D5C8EC-F1EF-6146-850F-128719B25F22}"/>
              </a:ext>
            </a:extLst>
          </p:cNvPr>
          <p:cNvSpPr txBox="1">
            <a:spLocks/>
          </p:cNvSpPr>
          <p:nvPr/>
        </p:nvSpPr>
        <p:spPr>
          <a:xfrm>
            <a:off x="484565" y="927528"/>
            <a:ext cx="7361700" cy="136192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800"/>
              </a:spcBef>
              <a:buFont typeface="+mj-lt"/>
              <a:buAutoNum type="alphaLcPeriod"/>
              <a:defRPr/>
            </a:pPr>
            <a:r>
              <a:rPr lang="en-US" sz="2800" dirty="0">
                <a:solidFill>
                  <a:schemeClr val="tx1">
                    <a:lumMod val="85000"/>
                    <a:lumOff val="15000"/>
                  </a:schemeClr>
                </a:solidFill>
                <a:latin typeface="Arial" panose="020B0604020202020204" pitchFamily="34" charset="0"/>
                <a:cs typeface="Arial" panose="020B0604020202020204" pitchFamily="34" charset="0"/>
              </a:rPr>
              <a:t>How can </a:t>
            </a:r>
            <a:r>
              <a:rPr lang="en-US" sz="2800" dirty="0" err="1">
                <a:solidFill>
                  <a:schemeClr val="tx1">
                    <a:lumMod val="85000"/>
                    <a:lumOff val="15000"/>
                  </a:schemeClr>
                </a:solidFill>
                <a:latin typeface="Arial" panose="020B0604020202020204" pitchFamily="34" charset="0"/>
                <a:cs typeface="Arial" panose="020B0604020202020204" pitchFamily="34" charset="0"/>
              </a:rPr>
              <a:t>Tahira</a:t>
            </a:r>
            <a:r>
              <a:rPr lang="en-US" sz="2800" dirty="0">
                <a:solidFill>
                  <a:schemeClr val="tx1">
                    <a:lumMod val="85000"/>
                    <a:lumOff val="15000"/>
                  </a:schemeClr>
                </a:solidFill>
                <a:latin typeface="Arial" panose="020B0604020202020204" pitchFamily="34" charset="0"/>
                <a:cs typeface="Arial" panose="020B0604020202020204" pitchFamily="34" charset="0"/>
              </a:rPr>
              <a:t> determine the amount of salad dressing she will have if she uses 6 tablespoons of vinegar?</a:t>
            </a:r>
          </a:p>
        </p:txBody>
      </p:sp>
      <p:sp>
        <p:nvSpPr>
          <p:cNvPr id="2" name="TextBox 1">
            <a:extLst>
              <a:ext uri="{FF2B5EF4-FFF2-40B4-BE49-F238E27FC236}">
                <a16:creationId xmlns:a16="http://schemas.microsoft.com/office/drawing/2014/main" id="{FB01AFD7-1166-F762-CF53-F0B8686A6DCE}"/>
              </a:ext>
            </a:extLst>
          </p:cNvPr>
          <p:cNvSpPr txBox="1"/>
          <p:nvPr/>
        </p:nvSpPr>
        <p:spPr>
          <a:xfrm>
            <a:off x="6231669" y="3105011"/>
            <a:ext cx="1206869" cy="338554"/>
          </a:xfrm>
          <a:prstGeom prst="rect">
            <a:avLst/>
          </a:prstGeom>
          <a:noFill/>
        </p:spPr>
        <p:txBody>
          <a:bodyPr wrap="none" rtlCol="0">
            <a:spAutoFit/>
          </a:bodyPr>
          <a:lstStyle/>
          <a:p>
            <a:pPr algn="r">
              <a:defRPr/>
            </a:pPr>
            <a:r>
              <a:rPr sz="1100" b="1">
                <a:solidFill>
                  <a:srgbClr val="5D6872"/>
                </a:solidFill>
                <a:latin typeface="Arial"/>
              </a:rPr>
              <a:t>Show your thinking</a:t>
            </a:r>
          </a:p>
        </p:txBody>
      </p:sp>
      <p:sp>
        <p:nvSpPr>
          <p:cNvPr id="3" name="Rectangle 2">
            <a:extLst>
              <a:ext uri="{FF2B5EF4-FFF2-40B4-BE49-F238E27FC236}">
                <a16:creationId xmlns:a16="http://schemas.microsoft.com/office/drawing/2014/main" id="{97D2DC32-19FC-BE14-4A7E-95769DDDA2DD}"/>
              </a:ext>
            </a:extLst>
          </p:cNvPr>
          <p:cNvSpPr/>
          <p:nvPr/>
        </p:nvSpPr>
        <p:spPr>
          <a:xfrm>
            <a:off x="484565" y="2320402"/>
            <a:ext cx="7031726" cy="1300868"/>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E3CEF34F-CC04-A25A-9732-00EF3DFAE4D6}"/>
              </a:ext>
            </a:extLst>
          </p:cNvPr>
          <p:cNvSpPr txBox="1">
            <a:spLocks/>
          </p:cNvSpPr>
          <p:nvPr/>
        </p:nvSpPr>
        <p:spPr>
          <a:xfrm>
            <a:off x="484565" y="3713626"/>
            <a:ext cx="7361700" cy="130086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spcBef>
                <a:spcPts val="1800"/>
              </a:spcBef>
              <a:buFont typeface="+mj-lt"/>
              <a:buAutoNum type="alphaLcPeriod" startAt="2"/>
              <a:defRPr/>
            </a:pPr>
            <a:r>
              <a:rPr lang="en-US" sz="2800" dirty="0" err="1">
                <a:solidFill>
                  <a:schemeClr val="tx1">
                    <a:lumMod val="85000"/>
                    <a:lumOff val="15000"/>
                  </a:schemeClr>
                </a:solidFill>
                <a:latin typeface="Arial" panose="020B0604020202020204" pitchFamily="34" charset="0"/>
                <a:cs typeface="Arial" panose="020B0604020202020204" pitchFamily="34" charset="0"/>
              </a:rPr>
              <a:t>Tahira</a:t>
            </a:r>
            <a:r>
              <a:rPr lang="en-US" sz="2800" dirty="0">
                <a:solidFill>
                  <a:schemeClr val="tx1">
                    <a:lumMod val="85000"/>
                    <a:lumOff val="15000"/>
                  </a:schemeClr>
                </a:solidFill>
                <a:latin typeface="Arial" panose="020B0604020202020204" pitchFamily="34" charset="0"/>
                <a:cs typeface="Arial" panose="020B0604020202020204" pitchFamily="34" charset="0"/>
              </a:rPr>
              <a:t> added 4 teaspoons of mustard to the 4 tablespoons of vinegar. How will her salad dressing taste?</a:t>
            </a:r>
          </a:p>
          <a:p>
            <a:pPr marL="514350" indent="-514350">
              <a:spcBef>
                <a:spcPts val="1800"/>
              </a:spcBef>
              <a:buAutoNum type="alphaLcPeriod" startAt="2"/>
              <a:defRPr/>
            </a:pPr>
            <a:endParaRPr lang="en-US" sz="2800" dirty="0">
              <a:solidFill>
                <a:schemeClr val="tx1">
                  <a:lumMod val="85000"/>
                  <a:lumOff val="15000"/>
                </a:schemeClr>
              </a:solidFill>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AF8BA020-9924-75D0-279D-C464C8AE67F9}"/>
              </a:ext>
            </a:extLst>
          </p:cNvPr>
          <p:cNvSpPr txBox="1"/>
          <p:nvPr/>
        </p:nvSpPr>
        <p:spPr>
          <a:xfrm>
            <a:off x="6231669" y="5830055"/>
            <a:ext cx="1206869" cy="338554"/>
          </a:xfrm>
          <a:prstGeom prst="rect">
            <a:avLst/>
          </a:prstGeom>
          <a:noFill/>
        </p:spPr>
        <p:txBody>
          <a:bodyPr wrap="none" rtlCol="0">
            <a:spAutoFit/>
          </a:bodyPr>
          <a:lstStyle/>
          <a:p>
            <a:pPr algn="r">
              <a:defRPr/>
            </a:pPr>
            <a:r>
              <a:rPr sz="1100" b="1">
                <a:solidFill>
                  <a:srgbClr val="5D6872"/>
                </a:solidFill>
                <a:latin typeface="Arial"/>
              </a:rPr>
              <a:t>Show your thinking</a:t>
            </a:r>
          </a:p>
        </p:txBody>
      </p:sp>
      <p:sp>
        <p:nvSpPr>
          <p:cNvPr id="6" name="Rectangle 5">
            <a:extLst>
              <a:ext uri="{FF2B5EF4-FFF2-40B4-BE49-F238E27FC236}">
                <a16:creationId xmlns:a16="http://schemas.microsoft.com/office/drawing/2014/main" id="{4F620FE0-29A0-D6B6-9E1B-63E8FF345266}"/>
              </a:ext>
            </a:extLst>
          </p:cNvPr>
          <p:cNvSpPr/>
          <p:nvPr/>
        </p:nvSpPr>
        <p:spPr>
          <a:xfrm>
            <a:off x="484565" y="5045446"/>
            <a:ext cx="7031726" cy="1300868"/>
          </a:xfrm>
          <a:prstGeom prst="rect">
            <a:avLst/>
          </a:prstGeom>
          <a:no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CHOOSE A CHALLENGE • SHOW YOUR THINKING</a:t>
            </a:r>
          </a:p>
        </p:txBody>
      </p:sp>
      <p:sp>
        <p:nvSpPr>
          <p:cNvPr id="23" name="Rounded Rectangle 22"/>
          <p:cNvSpPr/>
          <p:nvPr/>
        </p:nvSpPr>
        <p:spPr>
          <a:xfrm>
            <a:off x="7927848" y="5998464"/>
            <a:ext cx="2880360" cy="347472"/>
          </a:xfrm>
          <a:prstGeom prst="round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lIns="73152" tIns="0" rIns="73152" bIns="0" rtlCol="0" anchor="ctr"/>
          <a:lstStyle/>
          <a:p>
            <a:pPr algn="ctr"/>
            <a:r>
              <a:rPr sz="1400" b="1">
                <a:solidFill>
                  <a:srgbClr val="FFFFFF"/>
                </a:solidFill>
                <a:latin typeface="Arial"/>
              </a:rPr>
              <a:t>Solve → Explain → Revise</a:t>
            </a:r>
          </a:p>
        </p:txBody>
      </p:sp>
      <p:sp>
        <p:nvSpPr>
          <p:cNvPr id="2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40 / 55</a:t>
            </a:r>
          </a:p>
        </p:txBody>
      </p:sp>
    </p:spTree>
    <p:extLst>
      <p:ext uri="{BB962C8B-B14F-4D97-AF65-F5344CB8AC3E}">
        <p14:creationId xmlns:p14="http://schemas.microsoft.com/office/powerpoint/2010/main" val="928177338"/>
      </p:ext>
    </p:extLst>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3.1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reversing the ratio or confusing a part with the total.</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two quantities on the given tape diagram or double number line.</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386614A-BBAB-F6CB-E0C2-EA2FE8C41DD6}"/>
              </a:ext>
            </a:extLst>
          </p:cNvPr>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63A43591-35A5-926C-57B8-D2F901E38B66}"/>
              </a:ext>
            </a:extLst>
          </p:cNvPr>
          <p:cNvSpPr txBox="1">
            <a:spLocks/>
          </p:cNvSpPr>
          <p:nvPr/>
        </p:nvSpPr>
        <p:spPr>
          <a:xfrm>
            <a:off x="451908" y="653623"/>
            <a:ext cx="7878200" cy="1281503"/>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dirty="0">
                <a:solidFill>
                  <a:schemeClr val="tx1">
                    <a:lumMod val="85000"/>
                    <a:lumOff val="15000"/>
                  </a:schemeClr>
                </a:solidFill>
                <a:latin typeface="Arial" panose="020B0604020202020204" pitchFamily="34" charset="0"/>
                <a:cs typeface="Arial" panose="020B0604020202020204" pitchFamily="34" charset="0"/>
              </a:rPr>
              <a:t>A </a:t>
            </a:r>
            <a:r>
              <a:rPr lang="en-US" sz="2800" b="1" dirty="0">
                <a:latin typeface="Arial" panose="020B0604020202020204" pitchFamily="34" charset="0"/>
                <a:cs typeface="Arial" panose="020B0604020202020204" pitchFamily="34" charset="0"/>
              </a:rPr>
              <a:t>double number line</a:t>
            </a:r>
            <a:r>
              <a:rPr lang="en-US" sz="2800" dirty="0">
                <a:solidFill>
                  <a:schemeClr val="tx1">
                    <a:lumMod val="85000"/>
                    <a:lumOff val="15000"/>
                  </a:schemeClr>
                </a:solidFill>
                <a:latin typeface="Arial" panose="020B0604020202020204" pitchFamily="34" charset="0"/>
                <a:cs typeface="Arial" panose="020B0604020202020204" pitchFamily="34" charset="0"/>
              </a:rPr>
              <a:t> can be used to represent the relationship. A </a:t>
            </a:r>
            <a:r>
              <a:rPr lang="en-US" sz="2800" b="1" dirty="0">
                <a:latin typeface="Arial" panose="020B0604020202020204" pitchFamily="34" charset="0"/>
                <a:cs typeface="Arial" panose="020B0604020202020204" pitchFamily="34" charset="0"/>
              </a:rPr>
              <a:t>double number line</a:t>
            </a:r>
            <a:r>
              <a:rPr lang="en-US" sz="2800" dirty="0">
                <a:solidFill>
                  <a:schemeClr val="tx1">
                    <a:lumMod val="85000"/>
                    <a:lumOff val="15000"/>
                  </a:schemeClr>
                </a:solidFill>
                <a:latin typeface="Arial" panose="020B0604020202020204" pitchFamily="34" charset="0"/>
                <a:cs typeface="Arial" panose="020B0604020202020204" pitchFamily="34" charset="0"/>
              </a:rPr>
              <a:t> consists of two number lines.</a:t>
            </a:r>
          </a:p>
        </p:txBody>
      </p:sp>
      <p:pic>
        <p:nvPicPr>
          <p:cNvPr id="5" name="Picture 2" descr="C:\Users\Admin\Downloads\NARM24_C10301_SE_008A-DIG-A.png">
            <a:extLst>
              <a:ext uri="{FF2B5EF4-FFF2-40B4-BE49-F238E27FC236}">
                <a16:creationId xmlns:a16="http://schemas.microsoft.com/office/drawing/2014/main" id="{A948D4E4-B18B-4FAD-C294-8F47CE5B1F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13994" y="2077628"/>
            <a:ext cx="5236363" cy="1440000"/>
          </a:xfrm>
          <a:prstGeom prst="rect">
            <a:avLst/>
          </a:prstGeom>
          <a:noFill/>
          <a:extLst>
            <a:ext uri="{909E8E84-426E-40DD-AFC4-6F175D3DCCD1}">
              <a14:hiddenFill xmlns:a14="http://schemas.microsoft.com/office/drawing/2010/main">
                <a:solidFill>
                  <a:srgbClr val="FFFFFF"/>
                </a:solidFill>
              </a14:hiddenFill>
            </a:ext>
          </a:extLst>
        </p:spPr>
      </p:pic>
      <p:sp>
        <p:nvSpPr>
          <p:cNvPr id="6" name="Content Placeholder 2">
            <a:extLst>
              <a:ext uri="{FF2B5EF4-FFF2-40B4-BE49-F238E27FC236}">
                <a16:creationId xmlns:a16="http://schemas.microsoft.com/office/drawing/2014/main" id="{5FA0EE23-42D2-01F8-AF67-C74055FF87F5}"/>
              </a:ext>
            </a:extLst>
          </p:cNvPr>
          <p:cNvSpPr txBox="1">
            <a:spLocks/>
          </p:cNvSpPr>
          <p:nvPr/>
        </p:nvSpPr>
        <p:spPr>
          <a:xfrm>
            <a:off x="451908" y="3519016"/>
            <a:ext cx="7878200" cy="85731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2100" b="1">
                <a:solidFill>
                  <a:srgbClr val="2D3A40"/>
                </a:solidFill>
                <a:latin typeface="Arial"/>
              </a:rPr>
              <a:t>Complete the </a:t>
            </a:r>
            <a:r>
              <a:rPr sz="2100" b="1">
                <a:latin typeface="Arial"/>
              </a:rPr>
              <a:t>double number line</a:t>
            </a:r>
            <a:r>
              <a:rPr sz="2100" b="1">
                <a:solidFill>
                  <a:srgbClr val="2D3A40"/>
                </a:solidFill>
                <a:latin typeface="Arial"/>
              </a:rPr>
              <a:t>. What pattern do you notice?</a:t>
            </a:r>
          </a:p>
        </p:txBody>
      </p:sp>
      <p:sp>
        <p:nvSpPr>
          <p:cNvPr id="7" name="Content Placeholder 2">
            <a:extLst>
              <a:ext uri="{FF2B5EF4-FFF2-40B4-BE49-F238E27FC236}">
                <a16:creationId xmlns:a16="http://schemas.microsoft.com/office/drawing/2014/main" id="{CA15D60B-75C1-7813-D9B0-9EE2F83C41CE}"/>
              </a:ext>
            </a:extLst>
          </p:cNvPr>
          <p:cNvSpPr txBox="1">
            <a:spLocks/>
          </p:cNvSpPr>
          <p:nvPr/>
        </p:nvSpPr>
        <p:spPr>
          <a:xfrm>
            <a:off x="451908" y="4518837"/>
            <a:ext cx="6657926" cy="1860697"/>
          </a:xfrm>
          <a:prstGeom prst="rect">
            <a:avLst/>
          </a:prstGeom>
        </p:spPr>
        <p:txBody>
          <a:bodyPr wrap="square" lIns="36576" tIns="18288" rIns="36576" bIns="18288">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400"/>
              </a:spcAft>
            </a:pPr>
            <a:r>
              <a:rPr sz="1600" b="1">
                <a:solidFill>
                  <a:srgbClr val="0070C0"/>
                </a:solidFill>
                <a:latin typeface="Arial"/>
              </a:rPr>
              <a:t>Think first:</a:t>
            </a:r>
          </a:p>
          <a:p>
            <a:pPr>
              <a:spcAft>
                <a:spcPts val="0"/>
              </a:spcAft>
            </a:pPr>
            <a:r>
              <a:rPr sz="1700" b="0">
                <a:solidFill>
                  <a:srgbClr val="23282D"/>
                </a:solidFill>
                <a:latin typeface="Arial"/>
              </a:rPr>
              <a:t>Explain your reasoning to a partner before the next slide.</a:t>
            </a:r>
          </a:p>
        </p:txBody>
      </p:sp>
      <p:sp>
        <p:nvSpPr>
          <p:cNvPr id="8"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NOTICE A PATTERN • EXPLAIN</a:t>
            </a:r>
          </a:p>
        </p:txBody>
      </p:sp>
      <p:sp>
        <p:nvSpPr>
          <p:cNvPr id="10" name="Rounded Rectangle 9"/>
          <p:cNvSpPr/>
          <p:nvPr/>
        </p:nvSpPr>
        <p:spPr>
          <a:xfrm>
            <a:off x="8458200" y="1920240"/>
            <a:ext cx="2971800" cy="1965960"/>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458200" y="1920240"/>
            <a:ext cx="73152" cy="1965960"/>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22792" y="2029968"/>
            <a:ext cx="2679192" cy="219456"/>
          </a:xfrm>
          <a:prstGeom prst="rect">
            <a:avLst/>
          </a:prstGeom>
          <a:noFill/>
        </p:spPr>
        <p:txBody>
          <a:bodyPr wrap="square" lIns="0" tIns="0" rIns="0" bIns="0" anchor="t">
            <a:spAutoFit/>
          </a:bodyPr>
          <a:lstStyle/>
          <a:p>
            <a:pPr algn="l"/>
            <a:r>
              <a:rPr sz="1400" b="1">
                <a:solidFill>
                  <a:srgbClr val="0070C0"/>
                </a:solidFill>
                <a:latin typeface="Arial"/>
              </a:rPr>
              <a:t>PATTERN TALK</a:t>
            </a:r>
          </a:p>
        </p:txBody>
      </p:sp>
      <p:sp>
        <p:nvSpPr>
          <p:cNvPr id="13" name="TextBox 12"/>
          <p:cNvSpPr txBox="1"/>
          <p:nvPr/>
        </p:nvSpPr>
        <p:spPr>
          <a:xfrm>
            <a:off x="8622792" y="2304288"/>
            <a:ext cx="2660904" cy="1490472"/>
          </a:xfrm>
          <a:prstGeom prst="rect">
            <a:avLst/>
          </a:prstGeom>
          <a:noFill/>
        </p:spPr>
        <p:txBody>
          <a:bodyPr wrap="square" lIns="0" tIns="0" rIns="0" bIns="0" anchor="t">
            <a:spAutoFit/>
          </a:bodyPr>
          <a:lstStyle/>
          <a:p>
            <a:pPr algn="l"/>
            <a:r>
              <a:rPr sz="1600">
                <a:solidFill>
                  <a:srgbClr val="2D3A40"/>
                </a:solidFill>
                <a:latin typeface="Arial"/>
              </a:rPr>
              <a:t>Top line: +1 each step</a:t>
            </a:r>
            <a:br/>
            <a:r>
              <a:rPr sz="1600">
                <a:solidFill>
                  <a:srgbClr val="2D3A40"/>
                </a:solidFill>
                <a:latin typeface="Arial"/>
              </a:rPr>
              <a:t>Bottom line: +3 each step</a:t>
            </a:r>
            <a:br/>
            <a:r>
              <a:rPr sz="1600">
                <a:solidFill>
                  <a:srgbClr val="2D3A40"/>
                </a:solidFill>
                <a:latin typeface="Arial"/>
              </a:rPr>
              <a:t>Why does this keep the </a:t>
            </a:r>
            <a:r>
              <a:rPr sz="1600" b="1">
                <a:latin typeface="Arial"/>
              </a:rPr>
              <a:t>ratio</a:t>
            </a:r>
            <a:r>
              <a:rPr sz="1600">
                <a:solidFill>
                  <a:srgbClr val="2D3A40"/>
                </a:solidFill>
                <a:latin typeface="Arial"/>
              </a:rPr>
              <a:t> 1:3?</a:t>
            </a:r>
          </a:p>
        </p:txBody>
      </p:sp>
      <p:sp>
        <p:nvSpPr>
          <p:cNvPr id="14" name="Rounded Rectangle 13"/>
          <p:cNvSpPr/>
          <p:nvPr/>
        </p:nvSpPr>
        <p:spPr>
          <a:xfrm>
            <a:off x="8641080" y="4005072"/>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0" y="4014215"/>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1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43 / 55</a:t>
            </a:r>
          </a:p>
        </p:txBody>
      </p:sp>
      <p:sp xmlns:p="http://schemas.openxmlformats.org/presentationml/2006/main" xmlns:a="http://schemas.openxmlformats.org/drawingml/2006/main">
        <p:nvSpPr>
          <p:cNvPr id="17"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Use the scale and</a:t>
            </a:r>
            <a:endParaRPr lang="en-US" sz="2000"/>
          </a:p>
          <a:p>
            <a:pPr>
              <a:lnSpc>
                <a:spcPts val="2400"/>
              </a:lnSpc>
              <a:buNone/>
            </a:pPr>
            <a:r>
              <a:rPr lang="en-US" sz="2000">
                <a:solidFill>
                  <a:srgbClr val="174D60"/>
                </a:solidFill>
                <a:latin typeface="Arial"/>
              </a:rPr>
              <a:t>positions on the number line to</a:t>
            </a:r>
            <a:endParaRPr lang="en-US" sz="2000"/>
          </a:p>
          <a:p>
            <a:pPr>
              <a:lnSpc>
                <a:spcPts val="2400"/>
              </a:lnSpc>
              <a:buNone/>
            </a:pPr>
            <a:r>
              <a:rPr lang="en-US" sz="2000">
                <a:solidFill>
                  <a:srgbClr val="174D60"/>
                </a:solidFill>
                <a:latin typeface="Arial"/>
              </a:rPr>
              <a:t>justify your answer.</a:t>
            </a:r>
            <a:endParaRPr lang="en-US" sz="2000"/>
          </a:p>
        </p:txBody>
      </p:sp>
    </p:spTree>
    <p:extLst>
      <p:ext uri="{BB962C8B-B14F-4D97-AF65-F5344CB8AC3E}">
        <p14:creationId xmlns:p14="http://schemas.microsoft.com/office/powerpoint/2010/main" val="35430485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6B0AA757-0B6C-A604-0C3B-8A33CD9CA249}"/>
              </a:ext>
            </a:extLst>
          </p:cNvPr>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a16="http://schemas.microsoft.com/office/drawing/2014/main" id="{6F95879E-B4D3-A6FE-F327-700E05D92EED}"/>
              </a:ext>
            </a:extLst>
          </p:cNvPr>
          <p:cNvSpPr txBox="1">
            <a:spLocks/>
          </p:cNvSpPr>
          <p:nvPr/>
        </p:nvSpPr>
        <p:spPr>
          <a:xfrm>
            <a:off x="484565" y="418932"/>
            <a:ext cx="7094106" cy="176974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b="1">
                <a:solidFill>
                  <a:schemeClr val="tx1">
                    <a:lumMod val="85000"/>
                    <a:lumOff val="15000"/>
                  </a:schemeClr>
                </a:solidFill>
                <a:latin typeface="Arial" panose="020B0604020202020204" pitchFamily="34" charset="0"/>
                <a:cs typeface="Arial" panose="020B0604020202020204" pitchFamily="34" charset="0"/>
              </a:rPr>
              <a:t>How can you use the </a:t>
            </a:r>
            <a:r>
              <a:rPr lang="en-US" sz="2800" b="1">
                <a:latin typeface="Arial" panose="020B0604020202020204" pitchFamily="34" charset="0"/>
                <a:cs typeface="Arial" panose="020B0604020202020204" pitchFamily="34" charset="0"/>
              </a:rPr>
              <a:t>double number line</a:t>
            </a:r>
            <a:r>
              <a:rPr lang="en-US" sz="2800" b="1">
                <a:solidFill>
                  <a:schemeClr val="tx1">
                    <a:lumMod val="85000"/>
                    <a:lumOff val="15000"/>
                  </a:schemeClr>
                </a:solidFill>
                <a:latin typeface="Arial" panose="020B0604020202020204" pitchFamily="34" charset="0"/>
                <a:cs typeface="Arial" panose="020B0604020202020204" pitchFamily="34" charset="0"/>
              </a:rPr>
              <a:t> to determine how many tablespoons of olive oil are needed for 4 tablespoons of vinegar?</a:t>
            </a:r>
          </a:p>
        </p:txBody>
      </p:sp>
      <p:pic>
        <p:nvPicPr>
          <p:cNvPr id="11" name="Picture 10" descr="C:\Users\Admin\Downloads\NARM24_C10301_SE_008A-DIG-B.png">
            <a:extLst>
              <a:ext uri="{FF2B5EF4-FFF2-40B4-BE49-F238E27FC236}">
                <a16:creationId xmlns:a16="http://schemas.microsoft.com/office/drawing/2014/main" id="{EA73F6B6-EF1A-216D-899D-C431A2273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1246" y="2448289"/>
            <a:ext cx="5236363" cy="1407765"/>
          </a:xfrm>
          <a:prstGeom prst="rect">
            <a:avLst/>
          </a:prstGeom>
          <a:noFill/>
          <a:extLst>
            <a:ext uri="{909E8E84-426E-40DD-AFC4-6F175D3DCCD1}">
              <a14:hiddenFill xmlns:a14="http://schemas.microsoft.com/office/drawing/2010/main">
                <a:solidFill>
                  <a:srgbClr val="FFFFFF"/>
                </a:solidFill>
              </a14:hiddenFill>
            </a:ext>
          </a:extLst>
        </p:spPr>
      </p:pic>
      <p:sp>
        <p:nvSpPr>
          <p:cNvPr id="13" name="Content Placeholder 2">
            <a:extLst>
              <a:ext uri="{FF2B5EF4-FFF2-40B4-BE49-F238E27FC236}">
                <a16:creationId xmlns:a16="http://schemas.microsoft.com/office/drawing/2014/main" id="{2B639886-4416-140C-0F50-31C45357F2BC}"/>
              </a:ext>
            </a:extLst>
          </p:cNvPr>
          <p:cNvSpPr txBox="1">
            <a:spLocks/>
          </p:cNvSpPr>
          <p:nvPr/>
        </p:nvSpPr>
        <p:spPr>
          <a:xfrm>
            <a:off x="484565" y="4547734"/>
            <a:ext cx="5960624" cy="1891334"/>
          </a:xfrm>
          <a:prstGeom prst="rect">
            <a:avLst/>
          </a:prstGeom>
        </p:spPr>
        <p:txBody>
          <a:bodyPr wrap="square" lIns="36576" tIns="18288" rIns="36576" bIns="18288">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spcAft>
                <a:spcPts val="400"/>
              </a:spcAft>
            </a:pPr>
            <a:r>
              <a:rPr sz="1600" b="1">
                <a:solidFill>
                  <a:srgbClr val="0070C0"/>
                </a:solidFill>
                <a:latin typeface="Arial"/>
              </a:rPr>
              <a:t>Think first:</a:t>
            </a:r>
          </a:p>
          <a:p>
            <a:pPr>
              <a:spcAft>
                <a:spcPts val="0"/>
              </a:spcAft>
            </a:pPr>
            <a:r>
              <a:rPr sz="1700" b="0">
                <a:solidFill>
                  <a:srgbClr val="23282D"/>
                </a:solidFill>
                <a:latin typeface="Arial"/>
              </a:rPr>
              <a:t>Explain your reasoning to a partner before the next slide.</a:t>
            </a:r>
          </a:p>
        </p:txBody>
      </p:sp>
      <p:sp>
        <p:nvSpPr>
          <p:cNvPr id="14"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USE THE MODEL • EXPLAIN</a:t>
            </a:r>
          </a:p>
        </p:txBody>
      </p:sp>
      <p:sp>
        <p:nvSpPr>
          <p:cNvPr id="16" name="Rounded Rectangle 15"/>
          <p:cNvSpPr/>
          <p:nvPr/>
        </p:nvSpPr>
        <p:spPr>
          <a:xfrm>
            <a:off x="8366760" y="4023360"/>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12480" y="4032504"/>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18"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44 / 55</a:t>
            </a:r>
          </a:p>
        </p:txBody>
      </p:sp>
      <p:sp xmlns:p="http://schemas.openxmlformats.org/presentationml/2006/main" xmlns:a="http://schemas.openxmlformats.org/drawingml/2006/main">
        <p:nvSpPr>
          <p:cNvPr id="19"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Use the scale and</a:t>
            </a:r>
            <a:endParaRPr lang="en-US" sz="2000"/>
          </a:p>
          <a:p>
            <a:pPr>
              <a:lnSpc>
                <a:spcPts val="2400"/>
              </a:lnSpc>
              <a:buNone/>
            </a:pPr>
            <a:r>
              <a:rPr lang="en-US" sz="2000">
                <a:solidFill>
                  <a:srgbClr val="174D60"/>
                </a:solidFill>
                <a:latin typeface="Arial"/>
              </a:rPr>
              <a:t>positions on the number line to</a:t>
            </a:r>
            <a:endParaRPr lang="en-US" sz="2000"/>
          </a:p>
          <a:p>
            <a:pPr>
              <a:lnSpc>
                <a:spcPts val="2400"/>
              </a:lnSpc>
              <a:buNone/>
            </a:pPr>
            <a:r>
              <a:rPr lang="en-US" sz="2000">
                <a:solidFill>
                  <a:srgbClr val="174D60"/>
                </a:solidFill>
                <a:latin typeface="Arial"/>
              </a:rPr>
              <a:t>justify your answer.</a:t>
            </a:r>
            <a:endParaRPr lang="en-US" sz="2000"/>
          </a:p>
        </p:txBody>
      </p:sp>
    </p:spTree>
    <p:extLst>
      <p:ext uri="{BB962C8B-B14F-4D97-AF65-F5344CB8AC3E}">
        <p14:creationId xmlns:p14="http://schemas.microsoft.com/office/powerpoint/2010/main" val="1323409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18E5602-F494-F659-B345-0A07092BAFBD}"/>
              </a:ext>
            </a:extLst>
          </p:cNvPr>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6BC64DED-9BA9-5302-8871-D01FC26BC654}"/>
              </a:ext>
            </a:extLst>
          </p:cNvPr>
          <p:cNvSpPr txBox="1">
            <a:spLocks/>
          </p:cNvSpPr>
          <p:nvPr/>
        </p:nvSpPr>
        <p:spPr>
          <a:xfrm>
            <a:off x="484565" y="418932"/>
            <a:ext cx="7094106" cy="1769742"/>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2200" b="1">
                <a:solidFill>
                  <a:srgbClr val="2D3A40"/>
                </a:solidFill>
                <a:latin typeface="Arial"/>
              </a:rPr>
              <a:t>CHECK YOUR MODEL: 4 tbsp vinegar → 12 tbsp olive oil.</a:t>
            </a:r>
            <a:br/>
            <a:r>
              <a:rPr sz="2200" b="1">
                <a:solidFill>
                  <a:srgbClr val="2D3A40"/>
                </a:solidFill>
                <a:latin typeface="Arial"/>
              </a:rPr>
              <a:t>How does the </a:t>
            </a:r>
            <a:r>
              <a:rPr sz="2200" b="1">
                <a:latin typeface="Arial"/>
              </a:rPr>
              <a:t>double number line</a:t>
            </a:r>
            <a:r>
              <a:rPr sz="2200" b="1">
                <a:solidFill>
                  <a:srgbClr val="2D3A40"/>
                </a:solidFill>
                <a:latin typeface="Arial"/>
              </a:rPr>
              <a:t> prove the relationship stays 1:3?</a:t>
            </a:r>
          </a:p>
        </p:txBody>
      </p:sp>
      <p:pic>
        <p:nvPicPr>
          <p:cNvPr id="10" name="Picture 9" descr="C:\Users\Admin\Downloads\NARM24_C10301_SE_008A-DIG-B.png">
            <a:extLst>
              <a:ext uri="{FF2B5EF4-FFF2-40B4-BE49-F238E27FC236}">
                <a16:creationId xmlns:a16="http://schemas.microsoft.com/office/drawing/2014/main" id="{AEC568BA-0F5A-D9C3-A104-8B018A6B2B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620" y="2575280"/>
            <a:ext cx="5236363" cy="140776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65CF95E-55EF-AD2C-042F-37851E2E262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98301" y="4910867"/>
            <a:ext cx="7073900" cy="841847"/>
          </a:xfrm>
          <a:prstGeom prst="rect">
            <a:avLst/>
          </a:prstGeom>
        </p:spPr>
      </p:pic>
      <p:sp>
        <p:nvSpPr>
          <p:cNvPr id="13" name="Content Placeholder 2">
            <a:extLst>
              <a:ext uri="{FF2B5EF4-FFF2-40B4-BE49-F238E27FC236}">
                <a16:creationId xmlns:a16="http://schemas.microsoft.com/office/drawing/2014/main" id="{F11E7DC7-C1CF-2263-4A36-739BB4874894}"/>
              </a:ext>
            </a:extLst>
          </p:cNvPr>
          <p:cNvSpPr txBox="1">
            <a:spLocks/>
          </p:cNvSpPr>
          <p:nvPr/>
        </p:nvSpPr>
        <p:spPr>
          <a:xfrm>
            <a:off x="3115823" y="5068186"/>
            <a:ext cx="6783781" cy="642500"/>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2000" b="1">
                <a:solidFill>
                  <a:srgbClr val="01708C"/>
                </a:solidFill>
                <a:latin typeface="Arial"/>
              </a:rPr>
              <a:t>Check + Explain</a:t>
            </a:r>
          </a:p>
        </p:txBody>
      </p:sp>
      <p:sp>
        <p:nvSpPr>
          <p:cNvPr id="15" name="Rectangle 14">
            <a:extLst>
              <a:ext uri="{FF2B5EF4-FFF2-40B4-BE49-F238E27FC236}">
                <a16:creationId xmlns:a16="http://schemas.microsoft.com/office/drawing/2014/main" id="{34CE1D7A-94D7-7C66-3933-C6B8BE95267A}"/>
              </a:ext>
            </a:extLst>
          </p:cNvPr>
          <p:cNvSpPr/>
          <p:nvPr/>
        </p:nvSpPr>
        <p:spPr>
          <a:xfrm>
            <a:off x="587875" y="5726191"/>
            <a:ext cx="10741420" cy="492443"/>
          </a:xfrm>
          <a:prstGeom prst="rect">
            <a:avLst/>
          </a:prstGeom>
        </p:spPr>
        <p:txBody>
          <a:bodyPr wrap="square">
            <a:spAutoFit/>
          </a:bodyPr>
          <a:lstStyle/>
          <a:p>
            <a:pPr algn="l"/>
            <a:r>
              <a:rPr sz="1700">
                <a:solidFill>
                  <a:srgbClr val="2D3A40"/>
                </a:solidFill>
                <a:latin typeface="Arial"/>
              </a:rPr>
              <a:t>Explain using either the +3 pattern or the ×4 </a:t>
            </a:r>
            <a:r>
              <a:rPr sz="1700" b="1">
                <a:latin typeface="Arial"/>
              </a:rPr>
              <a:t>scale factor</a:t>
            </a:r>
            <a:r>
              <a:rPr sz="1700">
                <a:solidFill>
                  <a:srgbClr val="2D3A40"/>
                </a:solidFill>
                <a:latin typeface="Arial"/>
              </a:rPr>
              <a:t>. Which explanation is clearer to you?</a:t>
            </a:r>
          </a:p>
        </p:txBody>
      </p:sp>
      <p:sp>
        <p:nvSpPr>
          <p:cNvPr id="16"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EXPLAIN WHY THE PATTERN WORKS</a:t>
            </a:r>
          </a:p>
        </p:txBody>
      </p:sp>
      <p:sp>
        <p:nvSpPr>
          <p:cNvPr id="18" name="Rounded Rectangle 17"/>
          <p:cNvSpPr/>
          <p:nvPr/>
        </p:nvSpPr>
        <p:spPr>
          <a:xfrm>
            <a:off x="8366760" y="4315968"/>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0" y="4325112"/>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2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45 / 55</a:t>
            </a:r>
          </a:p>
        </p:txBody>
      </p:sp>
      <p:sp xmlns:p="http://schemas.openxmlformats.org/presentationml/2006/main" xmlns:a="http://schemas.openxmlformats.org/drawingml/2006/main">
        <p:nvSpPr>
          <p:cNvPr id="21" name="TEACH-embedded-student-prompt" descr="Student thinking and response directions"/>
          <p:cNvSpPr txBox="1"/>
          <p:nvPr/>
        </p:nvSpPr>
        <p:spPr>
          <a:xfrm>
            <a:off x="7391400" y="309067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Use the scale and</a:t>
            </a:r>
            <a:endParaRPr lang="en-US" sz="2000"/>
          </a:p>
          <a:p>
            <a:pPr>
              <a:lnSpc>
                <a:spcPts val="2400"/>
              </a:lnSpc>
              <a:buNone/>
            </a:pPr>
            <a:r>
              <a:rPr lang="en-US" sz="2000">
                <a:solidFill>
                  <a:srgbClr val="174D60"/>
                </a:solidFill>
                <a:latin typeface="Arial"/>
              </a:rPr>
              <a:t>positions on the number line to</a:t>
            </a:r>
            <a:endParaRPr lang="en-US" sz="2000"/>
          </a:p>
          <a:p>
            <a:pPr>
              <a:lnSpc>
                <a:spcPts val="2400"/>
              </a:lnSpc>
              <a:buNone/>
            </a:pPr>
            <a:r>
              <a:rPr lang="en-US" sz="2000">
                <a:solidFill>
                  <a:srgbClr val="174D60"/>
                </a:solidFill>
                <a:latin typeface="Arial"/>
              </a:rPr>
              <a:t>justify your answer.</a:t>
            </a:r>
            <a:endParaRPr lang="en-US" sz="2000"/>
          </a:p>
        </p:txBody>
      </p:sp>
    </p:spTree>
    <p:extLst>
      <p:ext uri="{BB962C8B-B14F-4D97-AF65-F5344CB8AC3E}">
        <p14:creationId xmlns:p14="http://schemas.microsoft.com/office/powerpoint/2010/main" val="2330492394"/>
      </p:ext>
    </p:extLst>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66" name="Google Shape;866;p8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67" name="Google Shape;867;p87"/>
          <p:cNvSpPr txBox="1"/>
          <p:nvPr/>
        </p:nvSpPr>
        <p:spPr>
          <a:xfrm>
            <a:off x="614744" y="623124"/>
            <a:ext cx="6750736" cy="31788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Both vinegar and olive oil are parts of the recipe. The relationship is a part-to-part ratio.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one way to represent the relationship?</a:t>
            </a:r>
            <a:r>
              <a:rPr b="0" i="0" lang="en-US" sz="2800" u="none" cap="none" strike="noStrike">
                <a:solidFill>
                  <a:srgbClr val="262626"/>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pic>
        <p:nvPicPr>
          <p:cNvPr id="868" name="Google Shape;868;p87"/>
          <p:cNvPicPr preferRelativeResize="0"/>
          <p:nvPr/>
        </p:nvPicPr>
        <p:blipFill rotWithShape="1">
          <a:blip r:embed="rId2">
            <a:alphaModFix/>
          </a:blip>
          <a:srcRect b="0" l="0" r="0" t="0"/>
          <a:stretch/>
        </p:blipFill>
        <p:spPr>
          <a:xfrm>
            <a:off x="7373870" y="2187297"/>
            <a:ext cx="3212310" cy="2880000"/>
          </a:xfrm>
          <a:prstGeom prst="rect">
            <a:avLst/>
          </a:prstGeom>
          <a:noFill/>
          <a:ln>
            <a:noFill/>
          </a:ln>
        </p:spPr>
      </p:pic>
      <p:sp>
        <p:nvSpPr>
          <p:cNvPr id="869" name="Google Shape;869;p87"/>
          <p:cNvSpPr txBox="1"/>
          <p:nvPr/>
        </p:nvSpPr>
        <p:spPr>
          <a:xfrm>
            <a:off x="490760" y="4982237"/>
            <a:ext cx="5960624" cy="13866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A tape diagram can represent the relationship.</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46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0416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3" name="Google Shape;883;p8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4" name="Google Shape;884;p89"/>
          <p:cNvSpPr txBox="1"/>
          <p:nvPr/>
        </p:nvSpPr>
        <p:spPr>
          <a:xfrm>
            <a:off x="614744" y="623124"/>
            <a:ext cx="6777948" cy="9541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The tape diagram shows a part-to-part relationship. </a:t>
            </a:r>
            <a:endParaRPr b="1" i="0" sz="2800" u="none" cap="none" strike="noStrike">
              <a:solidFill>
                <a:srgbClr val="262626"/>
              </a:solidFill>
              <a:latin typeface="Arial"/>
              <a:ea typeface="Arial"/>
              <a:cs typeface="Arial"/>
              <a:sym typeface="Arial"/>
            </a:endParaRPr>
          </a:p>
        </p:txBody>
      </p:sp>
      <p:pic>
        <p:nvPicPr>
          <p:cNvPr id="885" name="Google Shape;885;p89"/>
          <p:cNvPicPr preferRelativeResize="0"/>
          <p:nvPr/>
        </p:nvPicPr>
        <p:blipFill rotWithShape="1">
          <a:blip r:embed="rId2">
            <a:alphaModFix/>
          </a:blip>
          <a:srcRect b="0" l="0" r="0" t="0"/>
          <a:stretch/>
        </p:blipFill>
        <p:spPr>
          <a:xfrm>
            <a:off x="2831514" y="2379316"/>
            <a:ext cx="5209920" cy="2416973"/>
          </a:xfrm>
          <a:prstGeom prst="rect">
            <a:avLst/>
          </a:prstGeom>
          <a:noFill/>
          <a:ln>
            <a:noFill/>
          </a:ln>
        </p:spPr>
      </p:pic>
      <p:sp>
        <p:nvSpPr>
          <p:cNvPr id="886" name="Google Shape;886;p89"/>
          <p:cNvSpPr txBox="1"/>
          <p:nvPr/>
        </p:nvSpPr>
        <p:spPr>
          <a:xfrm>
            <a:off x="614744" y="1670993"/>
            <a:ext cx="1091599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62626"/>
                </a:solidFill>
                <a:latin typeface="Arial"/>
                <a:ea typeface="Arial"/>
                <a:cs typeface="Arial"/>
                <a:sym typeface="Arial"/>
              </a:rPr>
              <a:t>How do the tablespoons of vinegar relate to the tablespoons of olive oil?</a:t>
            </a:r>
            <a:endParaRPr b="0" i="0" sz="2800" u="none" cap="none" strike="noStrike">
              <a:solidFill>
                <a:schemeClr val="dk1"/>
              </a:solidFill>
              <a:latin typeface="Calibri"/>
              <a:ea typeface="Calibri"/>
              <a:cs typeface="Calibri"/>
              <a:sym typeface="Calibri"/>
            </a:endParaRPr>
          </a:p>
        </p:txBody>
      </p:sp>
      <p:sp>
        <p:nvSpPr>
          <p:cNvPr id="887" name="Google Shape;887;p89"/>
          <p:cNvSpPr txBox="1"/>
          <p:nvPr/>
        </p:nvSpPr>
        <p:spPr>
          <a:xfrm>
            <a:off x="614744" y="4923741"/>
            <a:ext cx="6657926" cy="1423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For every one tablespoon of vinegar, there are 3 tablespoons of olive oil.</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47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20" name="Google Shape;920;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21" name="Google Shape;921;p93"/>
          <p:cNvSpPr txBox="1"/>
          <p:nvPr/>
        </p:nvSpPr>
        <p:spPr>
          <a:xfrm>
            <a:off x="614744" y="623124"/>
            <a:ext cx="7166282" cy="13523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Tahira determine how much olive oil to use with 4 tablespoons of vinegar?</a:t>
            </a:r>
            <a:endParaRPr b="0" i="0" sz="1400" u="none" cap="none" strike="noStrike">
              <a:solidFill>
                <a:srgbClr val="000000"/>
              </a:solidFill>
              <a:latin typeface="Arial"/>
              <a:ea typeface="Arial"/>
              <a:cs typeface="Arial"/>
              <a:sym typeface="Arial"/>
            </a:endParaRPr>
          </a:p>
        </p:txBody>
      </p:sp>
      <p:pic>
        <p:nvPicPr>
          <p:cNvPr id="922" name="Google Shape;922;p93"/>
          <p:cNvPicPr preferRelativeResize="0"/>
          <p:nvPr/>
        </p:nvPicPr>
        <p:blipFill rotWithShape="1">
          <a:blip r:embed="rId2">
            <a:alphaModFix/>
          </a:blip>
          <a:srcRect b="0" l="0" r="0" t="0"/>
          <a:stretch/>
        </p:blipFill>
        <p:spPr>
          <a:xfrm>
            <a:off x="2831514" y="2327301"/>
            <a:ext cx="5209920" cy="2412000"/>
          </a:xfrm>
          <a:prstGeom prst="rect">
            <a:avLst/>
          </a:prstGeom>
          <a:noFill/>
          <a:ln>
            <a:noFill/>
          </a:ln>
        </p:spPr>
      </p:pic>
      <p:sp>
        <p:nvSpPr>
          <p:cNvPr id="923" name="Google Shape;923;p93"/>
          <p:cNvSpPr txBox="1"/>
          <p:nvPr/>
        </p:nvSpPr>
        <p:spPr>
          <a:xfrm>
            <a:off x="614744" y="4923741"/>
            <a:ext cx="6657926" cy="1423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She can add the values in the tape diagram, or she can multiply 4 by 3.</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48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36" name="Google Shape;936;p9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7" name="Google Shape;937;p95"/>
          <p:cNvSpPr txBox="1"/>
          <p:nvPr/>
        </p:nvSpPr>
        <p:spPr>
          <a:xfrm>
            <a:off x="614744" y="623124"/>
            <a:ext cx="7268589" cy="98138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could be another way to represent the part-to-part relationship?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pic>
        <p:nvPicPr>
          <p:cNvPr id="938" name="Google Shape;938;p95"/>
          <p:cNvPicPr preferRelativeResize="0"/>
          <p:nvPr/>
        </p:nvPicPr>
        <p:blipFill rotWithShape="1">
          <a:blip r:embed="rId2">
            <a:alphaModFix/>
          </a:blip>
          <a:srcRect b="0" l="0" r="0" t="0"/>
          <a:stretch/>
        </p:blipFill>
        <p:spPr>
          <a:xfrm>
            <a:off x="2831514" y="2327301"/>
            <a:ext cx="5209920" cy="2412000"/>
          </a:xfrm>
          <a:prstGeom prst="rect">
            <a:avLst/>
          </a:prstGeom>
          <a:noFill/>
          <a:ln>
            <a:noFill/>
          </a:ln>
        </p:spPr>
      </p:pic>
      <p:sp>
        <p:nvSpPr>
          <p:cNvPr id="939" name="Google Shape;939;p95"/>
          <p:cNvSpPr txBox="1"/>
          <p:nvPr/>
        </p:nvSpPr>
        <p:spPr>
          <a:xfrm>
            <a:off x="614744" y="4923741"/>
            <a:ext cx="6657926" cy="142389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A double number line can represent the relationship.</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49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a:t>
            </a:r>
            <a:endParaRPr lang="en-US" sz="2000"/>
          </a:p>
          <a:p>
            <a:pPr>
              <a:lnSpc>
                <a:spcPts val="2400"/>
              </a:lnSpc>
              <a:buNone/>
            </a:pPr>
            <a:r>
              <a:rPr lang="en-US" sz="2000">
                <a:solidFill>
                  <a:srgbClr val="174D60"/>
                </a:solidFill>
                <a:latin typeface="Arial"/>
              </a:rPr>
              <a:t>you make.</a:t>
            </a:r>
            <a:endParaRPr lang="en-US"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1300F337-A523-2736-FD72-30A51EA3B8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656" y="1740323"/>
            <a:ext cx="3212310" cy="2880000"/>
          </a:xfrm>
          <a:prstGeom prst="rect">
            <a:avLst/>
          </a:prstGeom>
        </p:spPr>
      </p:pic>
      <p:sp>
        <p:nvSpPr>
          <p:cNvPr id="3" name="TextBox 2">
            <a:extLst>
              <a:ext uri="{FF2B5EF4-FFF2-40B4-BE49-F238E27FC236}">
                <a16:creationId xmlns:a16="http://schemas.microsoft.com/office/drawing/2014/main" id="{02656B87-7C05-0128-9896-A1E5249C7EB8}"/>
              </a:ext>
            </a:extLst>
          </p:cNvPr>
          <p:cNvSpPr txBox="1"/>
          <p:nvPr/>
        </p:nvSpPr>
        <p:spPr>
          <a:xfrm>
            <a:off x="484565" y="4363311"/>
            <a:ext cx="7361700" cy="1815882"/>
          </a:xfrm>
          <a:prstGeom prst="rect">
            <a:avLst/>
          </a:prstGeom>
          <a:ln>
            <a:solidFill>
              <a:srgbClr val="782DA0"/>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spcBef>
                <a:spcPts val="1800"/>
              </a:spcBef>
            </a:pPr>
            <a:r>
              <a:rPr lang="en-US" sz="2800">
                <a:solidFill>
                  <a:schemeClr val="tx1">
                    <a:lumMod val="85000"/>
                    <a:lumOff val="15000"/>
                  </a:schemeClr>
                </a:solidFill>
                <a:latin typeface="Arial" panose="020B0604020202020204" pitchFamily="34" charset="0"/>
                <a:cs typeface="Arial" panose="020B0604020202020204" pitchFamily="34" charset="0"/>
              </a:rPr>
              <a:t>Tahira can use a </a:t>
            </a:r>
            <a:r>
              <a:rPr lang="en-US" sz="2800" b="1">
                <a:latin typeface="Arial" panose="020B0604020202020204" pitchFamily="34" charset="0"/>
                <a:cs typeface="Arial" panose="020B0604020202020204" pitchFamily="34" charset="0"/>
              </a:rPr>
              <a:t>tape diagram</a:t>
            </a:r>
            <a:r>
              <a:rPr lang="en-US" sz="2800">
                <a:solidFill>
                  <a:schemeClr val="tx1">
                    <a:lumMod val="85000"/>
                    <a:lumOff val="15000"/>
                  </a:schemeClr>
                </a:solidFill>
                <a:latin typeface="Arial" panose="020B0604020202020204" pitchFamily="34" charset="0"/>
                <a:cs typeface="Arial" panose="020B0604020202020204" pitchFamily="34" charset="0"/>
              </a:rPr>
              <a:t> or a </a:t>
            </a:r>
            <a:r>
              <a:rPr lang="en-US" sz="2800" b="1">
                <a:latin typeface="Arial" panose="020B0604020202020204" pitchFamily="34" charset="0"/>
                <a:cs typeface="Arial" panose="020B0604020202020204" pitchFamily="34" charset="0"/>
              </a:rPr>
              <a:t>double number line</a:t>
            </a:r>
            <a:r>
              <a:rPr lang="en-US" sz="2800">
                <a:solidFill>
                  <a:schemeClr val="tx1">
                    <a:lumMod val="85000"/>
                    <a:lumOff val="15000"/>
                  </a:schemeClr>
                </a:solidFill>
                <a:latin typeface="Arial" panose="020B0604020202020204" pitchFamily="34" charset="0"/>
                <a:cs typeface="Arial" panose="020B0604020202020204" pitchFamily="34" charset="0"/>
              </a:rPr>
              <a:t> to determine that 12 tablespoons of olive oil are needed when using 4 tablespoons of vinegar.</a:t>
            </a:r>
          </a:p>
        </p:txBody>
      </p:sp>
      <p:sp>
        <p:nvSpPr>
          <p:cNvPr id="4" name="Content Placeholder 2">
            <a:extLst>
              <a:ext uri="{FF2B5EF4-FFF2-40B4-BE49-F238E27FC236}">
                <a16:creationId xmlns:a16="http://schemas.microsoft.com/office/drawing/2014/main" id="{7FC7B2F1-5999-59CC-C299-0E1AF745CDE0}"/>
              </a:ext>
            </a:extLst>
          </p:cNvPr>
          <p:cNvSpPr txBox="1">
            <a:spLocks/>
          </p:cNvSpPr>
          <p:nvPr/>
        </p:nvSpPr>
        <p:spPr>
          <a:xfrm>
            <a:off x="484565" y="936100"/>
            <a:ext cx="6366435" cy="3239085"/>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defRPr/>
            </a:pPr>
            <a:r>
              <a:rPr lang="en-US" sz="2800" dirty="0" err="1">
                <a:solidFill>
                  <a:schemeClr val="tx1">
                    <a:lumMod val="85000"/>
                    <a:lumOff val="15000"/>
                  </a:schemeClr>
                </a:solidFill>
                <a:latin typeface="Arial" panose="020B0604020202020204" pitchFamily="34" charset="0"/>
                <a:cs typeface="Arial" panose="020B0604020202020204" pitchFamily="34" charset="0"/>
              </a:rPr>
              <a:t>Tahira</a:t>
            </a:r>
            <a:r>
              <a:rPr lang="en-US" sz="2800" dirty="0">
                <a:solidFill>
                  <a:schemeClr val="tx1">
                    <a:lumMod val="85000"/>
                    <a:lumOff val="15000"/>
                  </a:schemeClr>
                </a:solidFill>
                <a:latin typeface="Arial" panose="020B0604020202020204" pitchFamily="34" charset="0"/>
                <a:cs typeface="Arial" panose="020B0604020202020204" pitchFamily="34" charset="0"/>
              </a:rPr>
              <a:t> is making a salad dressing using the recipe shown. She plans to use 4 tablespoons of vinegar.</a:t>
            </a:r>
          </a:p>
          <a:p>
            <a:pPr>
              <a:spcBef>
                <a:spcPts val="1800"/>
              </a:spcBef>
              <a:defRPr/>
            </a:pPr>
            <a:r>
              <a:rPr lang="en-US" sz="2800" b="1" dirty="0">
                <a:solidFill>
                  <a:schemeClr val="tx1">
                    <a:lumMod val="85000"/>
                    <a:lumOff val="15000"/>
                  </a:schemeClr>
                </a:solidFill>
                <a:latin typeface="Arial" panose="020B0604020202020204" pitchFamily="34" charset="0"/>
                <a:cs typeface="Arial" panose="020B0604020202020204" pitchFamily="34" charset="0"/>
              </a:rPr>
              <a:t>How can she determine the amount of olive oil she will need to keep the taste of the salad dressing the same?</a:t>
            </a:r>
            <a:r>
              <a:rPr lang="en-US" sz="2800" dirty="0">
                <a:solidFill>
                  <a:schemeClr val="tx1">
                    <a:lumMod val="85000"/>
                    <a:lumOff val="15000"/>
                  </a:schemeClr>
                </a:solidFill>
                <a:latin typeface="Arial" panose="020B0604020202020204" pitchFamily="34" charset="0"/>
                <a:cs typeface="Arial" panose="020B0604020202020204" pitchFamily="34" charset="0"/>
              </a:rPr>
              <a:t> </a:t>
            </a:r>
          </a:p>
        </p:txBody>
      </p: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SUMMARIZE YOUR STRATEGY</a:t>
            </a:r>
          </a:p>
        </p:txBody>
      </p:sp>
      <p:sp>
        <p:nvSpPr>
          <p:cNvPr id="1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50 / 55</a:t>
            </a:r>
          </a:p>
        </p:txBody>
      </p:sp>
    </p:spTree>
    <p:extLst>
      <p:ext uri="{BB962C8B-B14F-4D97-AF65-F5344CB8AC3E}">
        <p14:creationId xmlns:p14="http://schemas.microsoft.com/office/powerpoint/2010/main" val="987006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itle 1" hidden="1">
            <a:extLst>
              <a:ext uri="{FF2B5EF4-FFF2-40B4-BE49-F238E27FC236}">
                <a16:creationId xmlns:a16="http://schemas.microsoft.com/office/drawing/2014/main" id="{28E97816-2DAB-2040-DAB6-AC97208A7F2C}"/>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pPr>
              <a:defRPr/>
            </a:pPr>
            <a:r>
              <a:rPr lang="en-US" sz="2800" b="0">
                <a:solidFill>
                  <a:srgbClr val="782DA0"/>
                </a:solidFill>
                <a:latin typeface="Arial" panose="020B0604020202020204" pitchFamily="34" charset="0"/>
                <a:cs typeface="Arial" panose="020B0604020202020204" pitchFamily="34" charset="0"/>
              </a:rPr>
              <a:t>Summarize:</a:t>
            </a:r>
            <a:r>
              <a:rPr lang="en-US" sz="2800">
                <a:solidFill>
                  <a:srgbClr val="782DA0"/>
                </a:solidFill>
                <a:latin typeface="Arial" panose="020B0604020202020204" pitchFamily="34" charset="0"/>
                <a:cs typeface="Arial" panose="020B0604020202020204" pitchFamily="34" charset="0"/>
              </a:rPr>
              <a:t> Understand </a:t>
            </a:r>
            <a:r>
              <a:rPr lang="en-US" sz="2800" b="1">
                <a:latin typeface="Arial" panose="020B0604020202020204" pitchFamily="34" charset="0"/>
                <a:cs typeface="Arial" panose="020B0604020202020204" pitchFamily="34" charset="0"/>
              </a:rPr>
              <a:t>Ratio</a:t>
            </a:r>
            <a:r>
              <a:rPr lang="en-US" sz="2800">
                <a:solidFill>
                  <a:srgbClr val="782DA0"/>
                </a:solidFill>
                <a:latin typeface="Arial" panose="020B0604020202020204" pitchFamily="34" charset="0"/>
                <a:cs typeface="Arial" panose="020B0604020202020204" pitchFamily="34" charset="0"/>
              </a:rPr>
              <a:t>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9959" y="3348943"/>
            <a:ext cx="4610100" cy="1533525"/>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5535" y="3348943"/>
            <a:ext cx="4171950" cy="1809750"/>
          </a:xfrm>
          <a:prstGeom prst="rect">
            <a:avLst/>
          </a:prstGeom>
        </p:spPr>
      </p:pic>
      <p:sp>
        <p:nvSpPr>
          <p:cNvPr id="7" name="TextBox 6">
            <a:extLst>
              <a:ext uri="{FF2B5EF4-FFF2-40B4-BE49-F238E27FC236}">
                <a16:creationId xmlns:a16="http://schemas.microsoft.com/office/drawing/2014/main" id="{62704676-F30C-61E4-A270-E94677783BB0}"/>
              </a:ext>
            </a:extLst>
          </p:cNvPr>
          <p:cNvSpPr txBox="1"/>
          <p:nvPr/>
        </p:nvSpPr>
        <p:spPr>
          <a:xfrm>
            <a:off x="489730" y="5158693"/>
            <a:ext cx="9646162" cy="1143000"/>
          </a:xfrm>
          <a:prstGeom prst="rect">
            <a:avLst/>
          </a:prstGeom>
          <a:noFill/>
        </p:spPr>
        <p:txBody>
          <a:bodyPr wrap="square">
            <a:spAutoFit/>
          </a:bodyPr>
          <a:lstStyle/>
          <a:p>
            <a:pPr>
              <a:defRPr/>
            </a:pPr>
            <a:r>
              <a:rPr lang="en-US" sz="2800" b="0" i="0" u="none" strike="noStrike" baseline="0">
                <a:solidFill>
                  <a:srgbClr val="211D1E"/>
                </a:solidFill>
                <a:latin typeface="Arial" panose="02000506030000020004" pitchFamily="50" charset="0"/>
              </a:rPr>
              <a:t>A </a:t>
            </a:r>
            <a:r>
              <a:rPr lang="en-US" sz="2800" b="1" i="0" u="none" strike="noStrike" baseline="0">
                <a:latin typeface="Arial" panose="02000506030000020004" pitchFamily="50" charset="0"/>
              </a:rPr>
              <a:t>ratio</a:t>
            </a:r>
            <a:r>
              <a:rPr lang="en-US" sz="2800" b="0" i="0" u="none" strike="noStrike" baseline="0">
                <a:solidFill>
                  <a:srgbClr val="211D1E"/>
                </a:solidFill>
                <a:latin typeface="Arial" panose="02000506030000020004" pitchFamily="50" charset="0"/>
              </a:rPr>
              <a:t> can be represented symbolically in three ways. </a:t>
            </a:r>
            <a:endParaRPr lang="en-US" sz="2800"/>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28436709-0C21-827C-7B38-DD2C69F56C57}"/>
                  </a:ext>
                </a:extLst>
              </p:cNvPr>
              <p:cNvSpPr txBox="1">
                <a:spLocks/>
              </p:cNvSpPr>
              <p:nvPr/>
            </p:nvSpPr>
            <p:spPr>
              <a:xfrm>
                <a:off x="2880876" y="5766999"/>
                <a:ext cx="4863869" cy="759288"/>
              </a:xfrm>
              <a:prstGeom prst="rect">
                <a:avLst/>
              </a:prstGeom>
            </p:spPr>
            <p:txBody>
              <a:bodyPr>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800"/>
                  </a:spcBef>
                </a:pPr>
                <a:r>
                  <a:rPr lang="en-US" sz="280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a:t>a to b		a : b		</a:t>
                </a:r>
                <a14:m>
                  <m:oMath xmlns:m="http://schemas.openxmlformats.org/officeDocument/2006/math">
                    <m:f>
                      <m:fPr>
                        <m:ctrlPr>
                          <a:rPr lang="en-US" sz="2800" i="1" dirty="0" smtClean="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ctrlPr>
                      </m:fPr>
                      <m:num>
                        <m:r>
                          <a:rPr lang="en-US" sz="2800" i="1" dirty="0" smtClean="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t>𝑎</m:t>
                        </m:r>
                      </m:num>
                      <m:den>
                        <m:r>
                          <a:rPr lang="en-US" sz="2800" i="1" dirty="0" smtClean="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rPr>
                          <m:t>𝑏</m:t>
                        </m:r>
                      </m:den>
                    </m:f>
                  </m:oMath>
                </a14:m>
                <a:endParaRPr lang="en-US" sz="2800">
                  <a:solidFill>
                    <a:schemeClr val="tx1">
                      <a:lumMod val="85000"/>
                      <a:lumOff val="15000"/>
                    </a:schemeClr>
                  </a:solidFill>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38" name="Content Placeholder 2">
                <a:extLst>
                  <a:ext uri="{FF2B5EF4-FFF2-40B4-BE49-F238E27FC236}">
                    <a16:creationId xmlns:a16="http://schemas.microsoft.com/office/drawing/2014/main" id="{28436709-0C21-827C-7B38-DD2C69F56C57}"/>
                  </a:ext>
                </a:extLst>
              </p:cNvPr>
              <p:cNvSpPr txBox="1">
                <a:spLocks noRot="1" noChangeAspect="1" noMove="1" noResize="1" noEditPoints="1" noAdjustHandles="1" noChangeArrowheads="1" noChangeShapeType="1" noTextEdit="1"/>
              </p:cNvSpPr>
              <p:nvPr/>
            </p:nvSpPr>
            <p:spPr>
              <a:xfrm>
                <a:off x="2880876" y="5766999"/>
                <a:ext cx="4863869" cy="759288"/>
              </a:xfrm>
              <a:prstGeom prst="rect">
                <a:avLst/>
              </a:prstGeom>
              <a:blipFill>
                <a:blip r:embed="rId5"/>
                <a:stretch>
                  <a:fillRect l="-2635" t="-2400"/>
                </a:stretch>
              </a:blipFill>
            </p:spPr>
            <p:txBody>
              <a:bodyPr/>
              <a:lstStyle/>
              <a:p>
                <a:r>
                  <a:rPr lang="en-US">
                    <a:noFill/>
                  </a:rPr>
                  <a:t> </a:t>
                </a:r>
              </a:p>
            </p:txBody>
          </p:sp>
        </mc:Fallback>
      </mc:AlternateContent>
      <p:sp>
        <p:nvSpPr>
          <p:cNvPr id="20" name="UIFR_Routine_Label"/>
          <p:cNvSpPr txBox="1"/>
          <p:nvPr/>
        </p:nvSpPr>
        <p:spPr>
          <a:xfrm>
            <a:off x="502920" y="54864"/>
            <a:ext cx="6236208" cy="237744"/>
          </a:xfrm>
          <a:prstGeom prst="rect">
            <a:avLst/>
          </a:prstGeom>
          <a:noFill/>
        </p:spPr>
        <p:txBody>
          <a:bodyPr wrap="square" lIns="0" tIns="0" rIns="0" bIns="0" anchor="ctr">
            <a:noAutofit/>
          </a:bodyPr>
          <a:lstStyle/>
          <a:p>
            <a:pPr algn="l">
              <a:defRPr/>
            </a:pPr>
            <a:r>
              <a:rPr lang="en-US" sz="1150" b="1" dirty="0">
                <a:solidFill>
                  <a:srgbClr val="2D3A40"/>
                </a:solidFill>
                <a:latin typeface="Arial"/>
              </a:rPr>
              <a:t>STUDENT MOVE  ·  SUMMARIZE • TEACH A PARTNER</a:t>
            </a:r>
          </a:p>
        </p:txBody>
      </p:sp>
      <p:sp>
        <p:nvSpPr>
          <p:cNvPr id="22" name="Rectangle 21"/>
          <p:cNvSpPr/>
          <p:nvPr/>
        </p:nvSpPr>
        <p:spPr>
          <a:xfrm>
            <a:off x="365760" y="438912"/>
            <a:ext cx="1138428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 y="493776"/>
            <a:ext cx="10972800" cy="475488"/>
          </a:xfrm>
          <a:prstGeom prst="rect">
            <a:avLst/>
          </a:prstGeom>
          <a:noFill/>
        </p:spPr>
        <p:txBody>
          <a:bodyPr wrap="none" lIns="45720" rIns="45720" anchor="ctr">
            <a:spAutoFit/>
          </a:bodyPr>
          <a:lstStyle/>
          <a:p>
            <a:pPr algn="l">
              <a:defRPr/>
            </a:pPr>
            <a:r>
              <a:rPr sz="2900" b="1">
                <a:solidFill>
                  <a:srgbClr val="782DA0"/>
                </a:solidFill>
                <a:latin typeface="Arial"/>
              </a:rPr>
              <a:t>Summarize: Two Ratio Types</a:t>
            </a:r>
          </a:p>
        </p:txBody>
      </p:sp>
      <p:sp>
        <p:nvSpPr>
          <p:cNvPr id="24" name="TextBox 23"/>
          <p:cNvSpPr txBox="1"/>
          <p:nvPr/>
        </p:nvSpPr>
        <p:spPr>
          <a:xfrm>
            <a:off x="566928" y="969264"/>
            <a:ext cx="10972800" cy="347472"/>
          </a:xfrm>
          <a:prstGeom prst="rect">
            <a:avLst/>
          </a:prstGeom>
          <a:noFill/>
        </p:spPr>
        <p:txBody>
          <a:bodyPr wrap="none" lIns="45720" rIns="45720" anchor="ctr">
            <a:spAutoFit/>
          </a:bodyPr>
          <a:lstStyle/>
          <a:p>
            <a:pPr algn="l">
              <a:defRPr/>
            </a:pPr>
            <a:r>
              <a:rPr sz="1900" b="1">
                <a:solidFill>
                  <a:srgbClr val="17365D"/>
                </a:solidFill>
                <a:latin typeface="Arial"/>
              </a:rPr>
              <a:t>Classify the comparison BEFORE you calculate.</a:t>
            </a:r>
          </a:p>
        </p:txBody>
      </p:sp>
      <p:sp>
        <p:nvSpPr>
          <p:cNvPr id="25" name="Rounded Rectangle 24"/>
          <p:cNvSpPr/>
          <p:nvPr/>
        </p:nvSpPr>
        <p:spPr>
          <a:xfrm>
            <a:off x="658368" y="1417320"/>
            <a:ext cx="5212080" cy="1444752"/>
          </a:xfrm>
          <a:prstGeom prst="roundRect">
            <a:avLst/>
          </a:prstGeom>
          <a:solidFill>
            <a:srgbClr val="FDEBD6"/>
          </a:solidFill>
          <a:ln w="19050">
            <a:solidFill>
              <a:srgbClr val="E67E2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822960" y="1572768"/>
            <a:ext cx="242316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77824" y="1581912"/>
            <a:ext cx="2313432" cy="347472"/>
          </a:xfrm>
          <a:prstGeom prst="rect">
            <a:avLst/>
          </a:prstGeom>
          <a:noFill/>
        </p:spPr>
        <p:txBody>
          <a:bodyPr wrap="none" lIns="45720" rIns="45720" anchor="ctr">
            <a:spAutoFit/>
          </a:bodyPr>
          <a:lstStyle/>
          <a:p>
            <a:pPr algn="l">
              <a:defRPr/>
            </a:pPr>
            <a:r>
              <a:rPr sz="1600" b="1">
                <a:solidFill>
                  <a:srgbClr val="FFFFFF"/>
                </a:solidFill>
                <a:latin typeface="Arial"/>
              </a:rPr>
              <a:t>PART-TO-PART</a:t>
            </a:r>
          </a:p>
        </p:txBody>
      </p:sp>
      <p:sp>
        <p:nvSpPr>
          <p:cNvPr id="28" name="TextBox 27"/>
          <p:cNvSpPr txBox="1"/>
          <p:nvPr/>
        </p:nvSpPr>
        <p:spPr>
          <a:xfrm>
            <a:off x="841248" y="2011680"/>
            <a:ext cx="4709160" cy="320040"/>
          </a:xfrm>
          <a:prstGeom prst="rect">
            <a:avLst/>
          </a:prstGeom>
          <a:noFill/>
        </p:spPr>
        <p:txBody>
          <a:bodyPr wrap="none" lIns="45720" rIns="45720" anchor="ctr">
            <a:spAutoFit/>
          </a:bodyPr>
          <a:lstStyle/>
          <a:p>
            <a:pPr algn="ctr">
              <a:defRPr/>
            </a:pPr>
            <a:r>
              <a:rPr sz="2200" b="1">
                <a:solidFill>
                  <a:srgbClr val="E67E22"/>
                </a:solidFill>
                <a:latin typeface="Arial"/>
              </a:rPr>
              <a:t>part : part</a:t>
            </a:r>
          </a:p>
        </p:txBody>
      </p:sp>
      <p:sp>
        <p:nvSpPr>
          <p:cNvPr id="29" name="TextBox 28"/>
          <p:cNvSpPr txBox="1"/>
          <p:nvPr/>
        </p:nvSpPr>
        <p:spPr>
          <a:xfrm>
            <a:off x="841248" y="2359152"/>
            <a:ext cx="4709160" cy="365760"/>
          </a:xfrm>
          <a:prstGeom prst="rect">
            <a:avLst/>
          </a:prstGeom>
          <a:noFill/>
        </p:spPr>
        <p:txBody>
          <a:bodyPr wrap="none" lIns="45720" rIns="45720" anchor="ctr">
            <a:spAutoFit/>
          </a:bodyPr>
          <a:lstStyle/>
          <a:p>
            <a:pPr algn="ctr">
              <a:defRPr/>
            </a:pPr>
            <a:r>
              <a:rPr sz="1900" b="1">
                <a:solidFill>
                  <a:srgbClr val="2D2D2D"/>
                </a:solidFill>
                <a:latin typeface="Arial"/>
              </a:rPr>
              <a:t>Example: apple juice : water = 2 : 7</a:t>
            </a:r>
          </a:p>
        </p:txBody>
      </p:sp>
      <p:sp>
        <p:nvSpPr>
          <p:cNvPr id="30" name="Rounded Rectangle 29"/>
          <p:cNvSpPr/>
          <p:nvPr/>
        </p:nvSpPr>
        <p:spPr>
          <a:xfrm>
            <a:off x="6309360" y="1417320"/>
            <a:ext cx="5212080" cy="1444752"/>
          </a:xfrm>
          <a:prstGeom prst="roundRect">
            <a:avLst/>
          </a:prstGeom>
          <a:solidFill>
            <a:srgbClr val="DCF5F0"/>
          </a:solidFill>
          <a:ln w="19050">
            <a:solidFill>
              <a:srgbClr val="0F9D8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473952" y="1572768"/>
            <a:ext cx="2560320" cy="384048"/>
          </a:xfrm>
          <a:prstGeom prst="roundRect">
            <a:avLst/>
          </a:prstGeom>
          <a:solidFill>
            <a:srgbClr val="0F9D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28816" y="1581912"/>
            <a:ext cx="2450591" cy="347472"/>
          </a:xfrm>
          <a:prstGeom prst="rect">
            <a:avLst/>
          </a:prstGeom>
          <a:noFill/>
        </p:spPr>
        <p:txBody>
          <a:bodyPr wrap="none" lIns="45720" rIns="45720" anchor="ctr">
            <a:spAutoFit/>
          </a:bodyPr>
          <a:lstStyle/>
          <a:p>
            <a:pPr algn="l">
              <a:defRPr/>
            </a:pPr>
            <a:r>
              <a:rPr sz="1600" b="1">
                <a:solidFill>
                  <a:srgbClr val="FFFFFF"/>
                </a:solidFill>
                <a:latin typeface="Arial"/>
              </a:rPr>
              <a:t>PART-TO-WHOLE</a:t>
            </a:r>
          </a:p>
        </p:txBody>
      </p:sp>
      <p:sp>
        <p:nvSpPr>
          <p:cNvPr id="33" name="TextBox 32"/>
          <p:cNvSpPr txBox="1"/>
          <p:nvPr/>
        </p:nvSpPr>
        <p:spPr>
          <a:xfrm>
            <a:off x="6492240" y="2011680"/>
            <a:ext cx="4709160" cy="320040"/>
          </a:xfrm>
          <a:prstGeom prst="rect">
            <a:avLst/>
          </a:prstGeom>
          <a:noFill/>
        </p:spPr>
        <p:txBody>
          <a:bodyPr wrap="none" lIns="45720" rIns="45720" anchor="ctr">
            <a:spAutoFit/>
          </a:bodyPr>
          <a:lstStyle/>
          <a:p>
            <a:pPr algn="ctr">
              <a:defRPr/>
            </a:pPr>
            <a:r>
              <a:rPr sz="2200" b="1">
                <a:solidFill>
                  <a:srgbClr val="0F9D8A"/>
                </a:solidFill>
                <a:latin typeface="Arial"/>
              </a:rPr>
              <a:t>part : total</a:t>
            </a:r>
          </a:p>
        </p:txBody>
      </p:sp>
      <p:sp>
        <p:nvSpPr>
          <p:cNvPr id="34" name="TextBox 33"/>
          <p:cNvSpPr txBox="1"/>
          <p:nvPr/>
        </p:nvSpPr>
        <p:spPr>
          <a:xfrm>
            <a:off x="6492240" y="2359152"/>
            <a:ext cx="4709160" cy="365760"/>
          </a:xfrm>
          <a:prstGeom prst="rect">
            <a:avLst/>
          </a:prstGeom>
          <a:noFill/>
        </p:spPr>
        <p:txBody>
          <a:bodyPr wrap="none" lIns="45720" rIns="45720" anchor="ctr">
            <a:spAutoFit/>
          </a:bodyPr>
          <a:lstStyle/>
          <a:p>
            <a:pPr algn="ctr">
              <a:defRPr/>
            </a:pPr>
            <a:r>
              <a:rPr sz="1900" b="1">
                <a:solidFill>
                  <a:srgbClr val="2D2D2D"/>
                </a:solidFill>
                <a:latin typeface="Arial"/>
              </a:rPr>
              <a:t>Example: apple juice : drink = 2 : 10</a:t>
            </a:r>
          </a:p>
        </p:txBody>
      </p:sp>
      <p:sp>
        <p:nvSpPr>
          <p:cNvPr id="35" name="Rectangle 34"/>
          <p:cNvSpPr/>
          <p:nvPr/>
        </p:nvSpPr>
        <p:spPr>
          <a:xfrm>
            <a:off x="320040" y="256032"/>
            <a:ext cx="653796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320040" y="2944368"/>
            <a:ext cx="1147572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51 / 55</a:t>
            </a:r>
          </a:p>
        </p:txBody>
      </p:sp>
    </p:spTree>
    <p:extLst>
      <p:ext uri="{BB962C8B-B14F-4D97-AF65-F5344CB8AC3E}">
        <p14:creationId xmlns:p14="http://schemas.microsoft.com/office/powerpoint/2010/main" val="21815035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854091"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lang="en-US" sz="2800" b="0">
                <a:solidFill>
                  <a:srgbClr val="782DA0"/>
                </a:solidFill>
                <a:latin typeface="Arial" panose="020B0604020202020204" pitchFamily="34" charset="0"/>
                <a:cs typeface="Arial" panose="020B0604020202020204" pitchFamily="34" charset="0"/>
              </a:rPr>
              <a:t>Apply:</a:t>
            </a:r>
            <a:r>
              <a:rPr lang="en-US" sz="2800">
                <a:solidFill>
                  <a:srgbClr val="782DA0"/>
                </a:solidFill>
                <a:latin typeface="Arial" panose="020B0604020202020204" pitchFamily="34" charset="0"/>
                <a:cs typeface="Arial" panose="020B0604020202020204" pitchFamily="34" charset="0"/>
              </a:rPr>
              <a:t> Middle School Fundraiser</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E09B2DFC-9AF3-3E6F-9BCA-D40521A21E02}"/>
              </a:ext>
            </a:extLst>
          </p:cNvPr>
          <p:cNvSpPr txBox="1">
            <a:spLocks/>
          </p:cNvSpPr>
          <p:nvPr/>
        </p:nvSpPr>
        <p:spPr>
          <a:xfrm>
            <a:off x="484632" y="914400"/>
            <a:ext cx="7452360" cy="1234440"/>
          </a:xfrm>
          <a:prstGeom prst="rect">
            <a:avLst/>
          </a:prstGeom>
        </p:spPr>
        <p:txBody>
          <a:bodyPr wrap="square" lIns="73152" rIns="73152" bIns="27432">
            <a:noAutofit/>
          </a:bodyPr>
          <a:lstStyle>
            <a:lvl1pPr marL="0" indent="0" algn="l" defTabSz="914400" rtl="0" eaLnBrk="1" latinLnBrk="0" hangingPunct="1">
              <a:lnSpc>
                <a:spcPct val="100000"/>
              </a:lnSpc>
              <a:spcBef>
                <a:spcPts val="1200"/>
              </a:spcBef>
              <a:buFont typeface="Arial" panose="020B0604020202020204" pitchFamily="34" charset="0"/>
              <a:buNone/>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spcBef>
                <a:spcPts val="1800"/>
              </a:spcBef>
            </a:pPr>
            <a:r>
              <a:rPr sz="1700" b="0">
                <a:solidFill>
                  <a:srgbClr val="2D3A40"/>
                </a:solidFill>
                <a:latin typeface="Arial"/>
              </a:rPr>
              <a:t>Some sixth-grade students will make 50 bags of honey granola to sell at a fundraising event using the recipe shown. They will put 2 cups of granola in each bag and will sell each bag for $5.</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41216" y="1447456"/>
            <a:ext cx="3051515" cy="4541231"/>
          </a:xfrm>
          <a:prstGeom prst="rect">
            <a:avLst/>
          </a:prstGeom>
        </p:spPr>
      </p:pic>
      <p:sp>
        <p:nvSpPr>
          <p:cNvPr id="20"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VOICE + CHOICE • PROVE IT</a:t>
            </a:r>
          </a:p>
        </p:txBody>
      </p:sp>
      <p:sp>
        <p:nvSpPr>
          <p:cNvPr id="22" name="Rounded Rectangle 21"/>
          <p:cNvSpPr/>
          <p:nvPr/>
        </p:nvSpPr>
        <p:spPr>
          <a:xfrm>
            <a:off x="8522208" y="5248656"/>
            <a:ext cx="3017520" cy="1014984"/>
          </a:xfrm>
          <a:prstGeom prst="roundRect">
            <a:avLst/>
          </a:prstGeom>
          <a:solidFill>
            <a:srgbClr val="F4EEF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522208" y="5248656"/>
            <a:ext cx="73152" cy="1014984"/>
          </a:xfrm>
          <a:prstGeom prst="rect">
            <a:avLst/>
          </a:prstGeom>
          <a:solidFill>
            <a:srgbClr val="782D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686800" y="5358384"/>
            <a:ext cx="2724912" cy="219456"/>
          </a:xfrm>
          <a:prstGeom prst="rect">
            <a:avLst/>
          </a:prstGeom>
          <a:noFill/>
        </p:spPr>
        <p:txBody>
          <a:bodyPr wrap="square" lIns="0" tIns="0" rIns="0" bIns="0" anchor="t">
            <a:spAutoFit/>
          </a:bodyPr>
          <a:lstStyle/>
          <a:p>
            <a:pPr algn="l"/>
            <a:r>
              <a:rPr sz="1400" b="1">
                <a:solidFill>
                  <a:srgbClr val="782DA0"/>
                </a:solidFill>
                <a:latin typeface="Arial"/>
              </a:rPr>
              <a:t>BEFORE YOU FINISH</a:t>
            </a:r>
          </a:p>
        </p:txBody>
      </p:sp>
      <p:sp>
        <p:nvSpPr>
          <p:cNvPr id="25" name="TextBox 24"/>
          <p:cNvSpPr txBox="1"/>
          <p:nvPr/>
        </p:nvSpPr>
        <p:spPr>
          <a:xfrm>
            <a:off x="8686800" y="5632704"/>
            <a:ext cx="2706624" cy="237744"/>
          </a:xfrm>
          <a:prstGeom prst="rect">
            <a:avLst/>
          </a:prstGeom>
          <a:noFill/>
        </p:spPr>
        <p:txBody>
          <a:bodyPr wrap="square" lIns="0" tIns="0" rIns="0" bIns="0" anchor="t">
            <a:spAutoFit/>
          </a:bodyPr>
          <a:lstStyle/>
          <a:p>
            <a:pPr algn="l"/>
            <a:r>
              <a:rPr sz="1140" b="0">
                <a:solidFill>
                  <a:srgbClr val="23282D"/>
                </a:solidFill>
                <a:latin typeface="Arial"/>
              </a:rPr>
              <a:t>Label units. Show a model or equation. Write one sentence that proves your answer.</a:t>
            </a:r>
          </a:p>
        </p:txBody>
      </p:sp>
      <p:sp>
        <p:nvSpPr>
          <p:cNvPr id="2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53 / 55</a:t>
            </a:r>
          </a:p>
        </p:txBody>
      </p:sp>
      <p:sp>
        <p:nvSpPr>
          <p:cNvPr id="27" name="TextBox 26"/>
          <p:cNvSpPr txBox="1"/>
          <p:nvPr/>
        </p:nvSpPr>
        <p:spPr>
          <a:xfrm>
            <a:off x="594360" y="2157984"/>
            <a:ext cx="7269480" cy="320040"/>
          </a:xfrm>
          <a:prstGeom prst="rect">
            <a:avLst/>
          </a:prstGeom>
          <a:noFill/>
        </p:spPr>
        <p:txBody>
          <a:bodyPr wrap="square" lIns="73152" rIns="73152" bIns="27432">
            <a:spAutoFit/>
          </a:bodyPr>
          <a:lstStyle/>
          <a:p>
            <a:pPr algn="l"/>
            <a:r>
              <a:rPr sz="1400" b="1">
                <a:solidFill>
                  <a:srgbClr val="1F2D74"/>
                </a:solidFill>
                <a:latin typeface="Arial"/>
              </a:rPr>
              <a:t>Choose one question to answer.</a:t>
            </a:r>
          </a:p>
        </p:txBody>
      </p:sp>
      <p:sp>
        <p:nvSpPr>
          <p:cNvPr id="28" name="Rounded Rectangle 27"/>
          <p:cNvSpPr/>
          <p:nvPr/>
        </p:nvSpPr>
        <p:spPr>
          <a:xfrm>
            <a:off x="502920" y="2542032"/>
            <a:ext cx="7452360" cy="1078992"/>
          </a:xfrm>
          <a:prstGeom prst="roundRect">
            <a:avLst>
              <a:gd name="adj" fmla="val 8000"/>
            </a:avLst>
          </a:prstGeom>
          <a:solidFill>
            <a:srgbClr val="EBF5F7"/>
          </a:solidFill>
          <a:ln w="15875">
            <a:solidFill>
              <a:srgbClr val="00897B"/>
            </a:solidFill>
          </a:ln>
        </p:spPr>
        <p:style>
          <a:lnRef idx="1">
            <a:schemeClr val="accent1"/>
          </a:lnRef>
          <a:fillRef idx="3">
            <a:schemeClr val="accent1"/>
          </a:fillRef>
          <a:effectRef idx="2">
            <a:schemeClr val="accent1"/>
          </a:effectRef>
          <a:fontRef idx="minor">
            <a:schemeClr val="lt1"/>
          </a:fontRef>
        </p:style>
        <p:txBody>
          <a:bodyPr lIns="164592" tIns="118872" rIns="164592" rtlCol="0" anchor="ctr"/>
          <a:lstStyle/>
          <a:p>
            <a:pPr algn="ctr"/>
            <a:r>
              <a:rPr sz="1400" b="1">
                <a:solidFill>
                  <a:srgbClr val="00897B"/>
                </a:solidFill>
                <a:latin typeface="Arial"/>
              </a:rPr>
              <a:t>QUESTION 1:</a:t>
            </a:r>
          </a:p>
          <a:p>
            <a:pPr>
              <a:spcBef>
                <a:spcPts val="500"/>
              </a:spcBef>
            </a:pPr>
            <a:r>
              <a:rPr sz="1700" b="0">
                <a:solidFill>
                  <a:srgbClr val="2D3A40"/>
                </a:solidFill>
                <a:latin typeface="Arial"/>
              </a:rPr>
              <a:t>How many cups of rolled oats will the students need to buy?</a:t>
            </a:r>
          </a:p>
        </p:txBody>
      </p:sp>
      <p:sp>
        <p:nvSpPr>
          <p:cNvPr id="29" name="Rounded Rectangle 28"/>
          <p:cNvSpPr/>
          <p:nvPr/>
        </p:nvSpPr>
        <p:spPr>
          <a:xfrm>
            <a:off x="502920" y="3749039"/>
            <a:ext cx="7452360" cy="1353312"/>
          </a:xfrm>
          <a:prstGeom prst="roundRect">
            <a:avLst>
              <a:gd name="adj" fmla="val 8000"/>
            </a:avLst>
          </a:prstGeom>
          <a:solidFill>
            <a:srgbClr val="FCF1E8"/>
          </a:solidFill>
          <a:ln w="15875">
            <a:solidFill>
              <a:srgbClr val="D65B14"/>
            </a:solidFill>
          </a:ln>
        </p:spPr>
        <p:style>
          <a:lnRef idx="1">
            <a:schemeClr val="accent1"/>
          </a:lnRef>
          <a:fillRef idx="3">
            <a:schemeClr val="accent1"/>
          </a:fillRef>
          <a:effectRef idx="2">
            <a:schemeClr val="accent1"/>
          </a:effectRef>
          <a:fontRef idx="minor">
            <a:schemeClr val="lt1"/>
          </a:fontRef>
        </p:style>
        <p:txBody>
          <a:bodyPr lIns="164592" tIns="118872" rIns="164592" rtlCol="0" anchor="ctr"/>
          <a:lstStyle/>
          <a:p>
            <a:pPr algn="ctr"/>
            <a:r>
              <a:rPr sz="1400" b="1">
                <a:solidFill>
                  <a:srgbClr val="D65B14"/>
                </a:solidFill>
                <a:latin typeface="Arial"/>
              </a:rPr>
              <a:t>QUESTION 2:</a:t>
            </a:r>
          </a:p>
          <a:p>
            <a:pPr>
              <a:spcBef>
                <a:spcPts val="500"/>
              </a:spcBef>
            </a:pPr>
            <a:r>
              <a:rPr sz="1600" b="0">
                <a:solidFill>
                  <a:srgbClr val="2D3A40"/>
                </a:solidFill>
                <a:latin typeface="Arial"/>
              </a:rPr>
              <a:t>One pound of almonds costs $9.99 and has 3 cups of almonds. How much will the students need to budget for almonds?</a:t>
            </a:r>
          </a:p>
        </p:txBody>
      </p:sp>
      <p:sp xmlns:p="http://schemas.openxmlformats.org/presentationml/2006/main" xmlns:a="http://schemas.openxmlformats.org/drawingml/2006/main">
        <p:nvSpPr>
          <p:cNvPr id="30" name="TEACH-embedded-student-prompt" descr="Student thinking and response directions"/>
          <p:cNvSpPr txBox="1"/>
          <p:nvPr/>
        </p:nvSpPr>
        <p:spPr>
          <a:xfrm>
            <a:off x="5943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 justify your answer,</a:t>
            </a:r>
            <a:endParaRPr lang="en-US" sz="2000"/>
          </a:p>
          <a:p>
            <a:pPr>
              <a:lnSpc>
                <a:spcPts val="2400"/>
              </a:lnSpc>
              <a:buNone/>
            </a:pPr>
            <a:r>
              <a:rPr lang="en-US" sz="2000">
                <a:solidFill>
                  <a:srgbClr val="174D60"/>
                </a:solidFill>
                <a:latin typeface="Arial"/>
              </a:rPr>
              <a:t>then check the goal.</a:t>
            </a:r>
            <a:endParaRPr lang="en-US" sz="2000"/>
          </a:p>
        </p:txBody>
      </p:sp>
    </p:spTree>
    <p:extLst>
      <p:ext uri="{BB962C8B-B14F-4D97-AF65-F5344CB8AC3E}">
        <p14:creationId xmlns:p14="http://schemas.microsoft.com/office/powerpoint/2010/main" val="366947899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CF4AF49-89F7-5C44-B082-4D1951B38CC4}"/>
              </a:ext>
            </a:extLst>
          </p:cNvPr>
          <p:cNvSpPr txBox="1">
            <a:spLocks/>
          </p:cNvSpPr>
          <p:nvPr/>
        </p:nvSpPr>
        <p:spPr>
          <a:xfrm>
            <a:off x="484565" y="316034"/>
            <a:ext cx="5492675" cy="537406"/>
          </a:xfrm>
          <a:prstGeom prst="rect">
            <a:avLst/>
          </a:prstGeom>
        </p:spPr>
        <p:txBody>
          <a:bodyPr vert="horz" lIns="91440" tIns="45720" rIns="91440" bIns="45720" rtlCol="0" anchor="t">
            <a:noAutofit/>
          </a:bodyPr>
          <a:lst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a:lstStyle>
          <a:p>
            <a:r>
              <a:rPr sz="2800" b="1">
                <a:solidFill>
                  <a:srgbClr val="782DA0"/>
                </a:solidFill>
                <a:latin typeface="Arial"/>
              </a:rPr>
              <a:t>Exit Ticket + Self-Check</a:t>
            </a:r>
          </a:p>
        </p:txBody>
      </p:sp>
      <p:cxnSp>
        <p:nvCxnSpPr>
          <p:cNvPr id="14" name="Straight Connector 13"/>
          <p:cNvCxnSpPr/>
          <p:nvPr/>
        </p:nvCxnSpPr>
        <p:spPr>
          <a:xfrm>
            <a:off x="13164879" y="5911702"/>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5"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STUDENT MOVE  ·  SELF-ASSESS • NAME YOUR NEXT STEP</a:t>
            </a:r>
          </a:p>
        </p:txBody>
      </p:sp>
      <p:sp>
        <p:nvSpPr>
          <p:cNvPr id="17" name="TextBox 16"/>
          <p:cNvSpPr txBox="1"/>
          <p:nvPr/>
        </p:nvSpPr>
        <p:spPr>
          <a:xfrm>
            <a:off x="530352" y="1115568"/>
            <a:ext cx="7360920" cy="502920"/>
          </a:xfrm>
          <a:prstGeom prst="rect">
            <a:avLst/>
          </a:prstGeom>
          <a:noFill/>
        </p:spPr>
        <p:txBody>
          <a:bodyPr wrap="square" lIns="0" tIns="0" rIns="0" bIns="0" anchor="t">
            <a:spAutoFit/>
          </a:bodyPr>
          <a:lstStyle/>
          <a:p>
            <a:pPr algn="l"/>
            <a:r>
              <a:rPr sz="1900" b="0">
                <a:solidFill>
                  <a:srgbClr val="23282D"/>
                </a:solidFill>
                <a:latin typeface="Arial"/>
              </a:rPr>
              <a:t>Trail mix uses 2 cups of pretzels </a:t>
            </a:r>
            <a:r>
              <a:rPr sz="1900" b="1">
                <a:latin typeface="Arial"/>
              </a:rPr>
              <a:t>for every</a:t>
            </a:r>
            <a:r>
              <a:rPr sz="1900" b="0">
                <a:solidFill>
                  <a:srgbClr val="23282D"/>
                </a:solidFill>
                <a:latin typeface="Arial"/>
              </a:rPr>
              <a:t> 5 cups of cereal.</a:t>
            </a:r>
          </a:p>
        </p:txBody>
      </p:sp>
      <p:sp>
        <p:nvSpPr>
          <p:cNvPr id="18" name="TextBox 17"/>
          <p:cNvSpPr txBox="1"/>
          <p:nvPr/>
        </p:nvSpPr>
        <p:spPr>
          <a:xfrm>
            <a:off x="530352" y="1828800"/>
            <a:ext cx="7360920" cy="713232"/>
          </a:xfrm>
          <a:prstGeom prst="rect">
            <a:avLst/>
          </a:prstGeom>
          <a:noFill/>
        </p:spPr>
        <p:txBody>
          <a:bodyPr wrap="square" lIns="0" tIns="0" rIns="0" bIns="0" anchor="t">
            <a:spAutoFit/>
          </a:bodyPr>
          <a:lstStyle/>
          <a:p>
            <a:pPr algn="l"/>
            <a:r>
              <a:rPr sz="2150" b="1">
                <a:solidFill>
                  <a:srgbClr val="23282D"/>
                </a:solidFill>
                <a:latin typeface="Arial"/>
              </a:rPr>
              <a:t>If you use 8 cups of pretzels, how many cups of cereal are needed?</a:t>
            </a:r>
          </a:p>
        </p:txBody>
      </p:sp>
      <p:sp>
        <p:nvSpPr>
          <p:cNvPr id="19" name="TextBox 18"/>
          <p:cNvSpPr txBox="1"/>
          <p:nvPr/>
        </p:nvSpPr>
        <p:spPr>
          <a:xfrm>
            <a:off x="530352" y="2761488"/>
            <a:ext cx="7360920" cy="685800"/>
          </a:xfrm>
          <a:prstGeom prst="rect">
            <a:avLst/>
          </a:prstGeom>
          <a:noFill/>
        </p:spPr>
        <p:txBody>
          <a:bodyPr wrap="square" lIns="0" tIns="0" rIns="0" bIns="0" anchor="t">
            <a:spAutoFit/>
          </a:bodyPr>
          <a:lstStyle/>
          <a:p>
            <a:pPr algn="l"/>
            <a:r>
              <a:rPr sz="1850" b="0">
                <a:solidFill>
                  <a:srgbClr val="5D6872"/>
                </a:solidFill>
                <a:latin typeface="Arial"/>
              </a:rPr>
              <a:t>Show your thinking with a </a:t>
            </a:r>
            <a:r>
              <a:rPr sz="1850" b="1">
                <a:latin typeface="Arial"/>
              </a:rPr>
              <a:t>tape diagram</a:t>
            </a:r>
            <a:r>
              <a:rPr sz="1850" b="0">
                <a:solidFill>
                  <a:srgbClr val="5D6872"/>
                </a:solidFill>
                <a:latin typeface="Arial"/>
              </a:rPr>
              <a:t>, </a:t>
            </a:r>
            <a:r>
              <a:rPr sz="1850" b="1">
                <a:latin typeface="Arial"/>
              </a:rPr>
              <a:t>double number line</a:t>
            </a:r>
            <a:r>
              <a:rPr sz="1850" b="0">
                <a:solidFill>
                  <a:srgbClr val="5D6872"/>
                </a:solidFill>
                <a:latin typeface="Arial"/>
              </a:rPr>
              <a:t>, or </a:t>
            </a:r>
            <a:r>
              <a:rPr sz="1850" b="1">
                <a:latin typeface="Arial"/>
              </a:rPr>
              <a:t>scale factor</a:t>
            </a:r>
            <a:r>
              <a:rPr sz="1850" b="0">
                <a:solidFill>
                  <a:srgbClr val="5D6872"/>
                </a:solidFill>
                <a:latin typeface="Arial"/>
              </a:rPr>
              <a:t>.</a:t>
            </a:r>
          </a:p>
        </p:txBody>
      </p:sp>
      <p:sp>
        <p:nvSpPr>
          <p:cNvPr id="20" name="TextBox 19"/>
          <p:cNvSpPr txBox="1"/>
          <p:nvPr/>
        </p:nvSpPr>
        <p:spPr>
          <a:xfrm>
            <a:off x="530352" y="3584448"/>
            <a:ext cx="7360920" cy="640080"/>
          </a:xfrm>
          <a:prstGeom prst="rect">
            <a:avLst/>
          </a:prstGeom>
          <a:noFill/>
        </p:spPr>
        <p:txBody>
          <a:bodyPr wrap="square" lIns="0" tIns="0" rIns="0" bIns="0" anchor="t">
            <a:spAutoFit/>
          </a:bodyPr>
          <a:lstStyle/>
          <a:p>
            <a:pPr algn="l"/>
            <a:r>
              <a:rPr sz="1850" b="1">
                <a:solidFill>
                  <a:srgbClr val="1E2682"/>
                </a:solidFill>
                <a:latin typeface="Arial"/>
              </a:rPr>
              <a:t>Explain: “I multiplied both quantities by ___, so ___.”</a:t>
            </a:r>
          </a:p>
        </p:txBody>
      </p:sp>
      <p:sp>
        <p:nvSpPr>
          <p:cNvPr id="21" name="Rounded Rectangle 20"/>
          <p:cNvSpPr/>
          <p:nvPr/>
        </p:nvSpPr>
        <p:spPr>
          <a:xfrm>
            <a:off x="8275320" y="1325880"/>
            <a:ext cx="3200400" cy="4462272"/>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75320" y="1325880"/>
            <a:ext cx="73152" cy="4462272"/>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39912" y="1435607"/>
            <a:ext cx="2907792" cy="219456"/>
          </a:xfrm>
          <a:prstGeom prst="rect">
            <a:avLst/>
          </a:prstGeom>
          <a:noFill/>
        </p:spPr>
        <p:txBody>
          <a:bodyPr wrap="square" lIns="0" tIns="0" rIns="0" bIns="0" anchor="t">
            <a:spAutoFit/>
          </a:bodyPr>
          <a:lstStyle/>
          <a:p>
            <a:pPr algn="l"/>
            <a:r>
              <a:rPr sz="1400" b="1">
                <a:solidFill>
                  <a:srgbClr val="008A62"/>
                </a:solidFill>
                <a:latin typeface="Arial"/>
              </a:rPr>
              <a:t>SELF-CHECK</a:t>
            </a:r>
          </a:p>
        </p:txBody>
      </p:sp>
      <p:sp>
        <p:nvSpPr>
          <p:cNvPr id="24" name="TextBox 23"/>
          <p:cNvSpPr txBox="1"/>
          <p:nvPr/>
        </p:nvSpPr>
        <p:spPr>
          <a:xfrm>
            <a:off x="8439912" y="1709928"/>
            <a:ext cx="2889504" cy="3986783"/>
          </a:xfrm>
          <a:prstGeom prst="rect">
            <a:avLst/>
          </a:prstGeom>
          <a:noFill/>
        </p:spPr>
        <p:txBody>
          <a:bodyPr wrap="square" lIns="0" tIns="0" rIns="0" bIns="0" anchor="t">
            <a:spAutoFit/>
          </a:bodyPr>
          <a:lstStyle/>
          <a:p>
            <a:pPr algn="l"/>
            <a:r>
              <a:rPr sz="1420" b="0">
                <a:solidFill>
                  <a:srgbClr val="23282D"/>
                </a:solidFill>
                <a:latin typeface="Arial"/>
              </a:rPr>
              <a:t>1. I can describe a </a:t>
            </a:r>
            <a:r>
              <a:rPr sz="1420" b="1">
                <a:latin typeface="Arial"/>
              </a:rPr>
              <a:t>ratio</a:t>
            </a:r>
            <a:r>
              <a:rPr sz="1420" b="0">
                <a:solidFill>
                  <a:srgbClr val="23282D"/>
                </a:solidFill>
                <a:latin typeface="Arial"/>
              </a:rPr>
              <a:t>.
   □ Alone   □ With a hint   □ Not yet
2. I can represent and scale a </a:t>
            </a:r>
            <a:r>
              <a:rPr sz="1420" b="1">
                <a:latin typeface="Arial"/>
              </a:rPr>
              <a:t>ratio</a:t>
            </a:r>
            <a:r>
              <a:rPr sz="1420" b="0">
                <a:solidFill>
                  <a:srgbClr val="23282D"/>
                </a:solidFill>
                <a:latin typeface="Arial"/>
              </a:rPr>
              <a:t>.
   □ Alone   □ With a hint   □ Not yet
My next step:
____________________</a:t>
            </a:r>
          </a:p>
        </p:txBody>
      </p:sp>
      <p:sp>
        <p:nvSpPr>
          <p:cNvPr id="25" name="Rounded Rectangle 24"/>
          <p:cNvSpPr/>
          <p:nvPr/>
        </p:nvSpPr>
        <p:spPr>
          <a:xfrm>
            <a:off x="585216" y="4443984"/>
            <a:ext cx="2240280" cy="384048"/>
          </a:xfrm>
          <a:prstGeom prst="roundRect">
            <a:avLst/>
          </a:prstGeom>
          <a:solidFill>
            <a:srgbClr val="E67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30936" y="4453128"/>
            <a:ext cx="2148840" cy="347472"/>
          </a:xfrm>
          <a:prstGeom prst="rect">
            <a:avLst/>
          </a:prstGeom>
          <a:noFill/>
        </p:spPr>
        <p:txBody>
          <a:bodyPr wrap="none" lIns="9144" tIns="9144" rIns="9144" bIns="9144" anchor="ctr">
            <a:spAutoFit/>
          </a:bodyPr>
          <a:lstStyle/>
          <a:p>
            <a:pPr algn="ctr"/>
            <a:r>
              <a:rPr sz="1500" b="1">
                <a:solidFill>
                  <a:srgbClr val="FFFFFF"/>
                </a:solidFill>
                <a:latin typeface="Arial"/>
              </a:rPr>
              <a:t>PART → PART</a:t>
            </a:r>
          </a:p>
        </p:txBody>
      </p:sp>
      <p:sp>
        <p:nvSpPr>
          <p:cNvPr id="9001"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Partner debrief: name your evidence and one next step.</a:t>
            </a: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54 / 55</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Work independently and show why. Use feedback to revise</a:t>
            </a:r>
            <a:endParaRPr lang="en-US" sz="2000"/>
          </a:p>
          <a:p>
            <a:pPr>
              <a:lnSpc>
                <a:spcPts val="2400"/>
              </a:lnSpc>
              <a:buNone/>
            </a:pPr>
            <a:r>
              <a:rPr lang="en-US" sz="2000">
                <a:solidFill>
                  <a:srgbClr val="174D60"/>
                </a:solidFill>
                <a:latin typeface="Arial"/>
              </a:rPr>
              <a:t>in a second color.</a:t>
            </a:r>
            <a:endParaRPr lang="en-US" sz="2000"/>
          </a:p>
        </p:txBody>
      </p:sp>
    </p:spTree>
    <p:extLst>
      <p:ext uri="{BB962C8B-B14F-4D97-AF65-F5344CB8AC3E}">
        <p14:creationId xmlns:p14="http://schemas.microsoft.com/office/powerpoint/2010/main" val="3589764002"/>
      </p:ext>
    </p:extLst>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0" name="Google Shape;1050;p108"/>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cxnSp>
        <p:nvCxnSpPr>
          <p:cNvPr id="1051" name="Google Shape;1051;p10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52" name="Google Shape;1052;p108"/>
          <p:cNvSpPr txBox="1"/>
          <p:nvPr/>
        </p:nvSpPr>
        <p:spPr>
          <a:xfrm>
            <a:off x="484564" y="927528"/>
            <a:ext cx="8459745"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describe the relationship between quantities using ratios.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62626"/>
                </a:solidFill>
                <a:latin typeface="Arial"/>
                <a:ea typeface="Arial"/>
                <a:cs typeface="Arial"/>
                <a:sym typeface="Arial"/>
              </a:rPr>
              <a:t>I can make sense of quantities to represent ratios using tape diagrams and double number 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55 / 55</a:t>
            </a:r>
          </a:p>
        </p:txBody>
      </p:sp>
      <p:grpSp>
        <p:nvGrpSpPr>
          <p:cNvPr id="9003" name="TEACH-1-student-move" descr="TEACH 1 · Facilitate clear, standards-based content learning"/>
          <p:cNvGrpSpPr/>
          <p:nvPr/>
        </p:nvGrpSpPr>
        <p:grpSpPr>
          <a:xfrm>
            <a:off x="502920" y="5472790"/>
            <a:ext cx="11186160" cy="402336"/>
            <a:chOff x="502920" y="5472790"/>
            <a:chExt cx="11186160" cy="402336"/>
          </a:xfrm>
        </p:grpSpPr>
        <p:sp>
          <p:nvSpPr>
            <p:cNvPr id="9004"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17 / 55</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41 / 55</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3-1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52 / 55</a:t>
            </a:r>
          </a:p>
        </p:txBody>
      </p:sp>
    </p:spTree>
  </p:cSld>
  <p:clrMapOvr>
    <a:masterClrMapping/>
  </p:clrMapOvr>
</p:sld>
</file>

<file path=ppt/theme/theme1.xml><?xml version="1.0" encoding="utf-8"?>
<a:theme xmlns:a="http://schemas.openxmlformats.org/drawingml/2006/main" name="Title Slide">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PT Template 16x9 2020 update" id="{5E47A058-0525-4FF8-ABFF-DAB3961E1CA4}" vid="{3779B88A-58AE-471A-9261-01943B1F04F1}"/>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forsorting xmlns="4d542492-1411-461f-a54d-7ce3bfc1bb2b" xsi:nil="true"/>
    <lcf76f155ced4ddcb4097134ff3c332f xmlns="4d542492-1411-461f-a54d-7ce3bfc1bb2b">
      <Terms xmlns="http://schemas.microsoft.com/office/infopath/2007/PartnerControls"/>
    </lcf76f155ced4ddcb4097134ff3c332f>
    <TaxCatchAll xmlns="ea4a9e5c-3d35-4957-9f75-be99225b1345" xsi:nil="true"/>
    <Notes xmlns="4d542492-1411-461f-a54d-7ce3bfc1bb2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99F8A31FEB8FB4A9590D7113407C76B" ma:contentTypeVersion="23" ma:contentTypeDescription="Create a new document." ma:contentTypeScope="" ma:versionID="d6f8201bcdc3ac1a5d3b4ec446f57399">
  <xsd:schema xmlns:xsd="http://www.w3.org/2001/XMLSchema" xmlns:xs="http://www.w3.org/2001/XMLSchema" xmlns:p="http://schemas.microsoft.com/office/2006/metadata/properties" xmlns:ns2="ea4a9e5c-3d35-4957-9f75-be99225b1345" xmlns:ns3="4d542492-1411-461f-a54d-7ce3bfc1bb2b" targetNamespace="http://schemas.microsoft.com/office/2006/metadata/properties" ma:root="true" ma:fieldsID="eb4ce593c22c6175f1cf9c13ccc41e6e" ns2:_="" ns3:_="">
    <xsd:import namespace="ea4a9e5c-3d35-4957-9f75-be99225b1345"/>
    <xsd:import namespace="4d542492-1411-461f-a54d-7ce3bfc1bb2b"/>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forsorting" minOccurs="0"/>
                <xsd:element ref="ns3:MediaLengthInSeconds" minOccurs="0"/>
                <xsd:element ref="ns3:Notes" minOccurs="0"/>
                <xsd:element ref="ns2:TaxCatchAll" minOccurs="0"/>
                <xsd:element ref="ns3:lcf76f155ced4ddcb4097134ff3c332f"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a4a9e5c-3d35-4957-9f75-be99225b134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e5a88aca-94cb-4ad7-8102-31941725a82d}" ma:internalName="TaxCatchAll" ma:showField="CatchAllData" ma:web="ea4a9e5c-3d35-4957-9f75-be99225b1345">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d542492-1411-461f-a54d-7ce3bfc1bb2b"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forsorting" ma:index="20" nillable="true" ma:displayName="for sorting" ma:format="Dropdown" ma:internalName="forsorting" ma:percentage="FALSE">
      <xsd:simpleType>
        <xsd:restriction base="dms:Number"/>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format="Dropdown" ma:internalName="Notes">
      <xsd:simpleType>
        <xsd:union memberTypes="dms:Text">
          <xsd:simpleType>
            <xsd:restriction base="dms:Choice">
              <xsd:enumeration value="ready for review"/>
              <xsd:enumeration value="review complete"/>
              <xsd:enumeration value="Choice 3"/>
            </xsd:restriction>
          </xsd:simpleType>
        </xsd:unio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b8617a1-beef-4e24-867f-51551f54cfe0"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5C5BD1B-9B2C-46D3-B0B7-30CCA484F4EF}">
  <ds:schemaRefs>
    <ds:schemaRef ds:uri="4d542492-1411-461f-a54d-7ce3bfc1bb2b"/>
    <ds:schemaRef ds:uri="ea4a9e5c-3d35-4957-9f75-be99225b134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3C509481-75F9-4D7C-AB4E-7F0F2866F3D7}">
  <ds:schemaRefs>
    <ds:schemaRef ds:uri="4d542492-1411-461f-a54d-7ce3bfc1bb2b"/>
    <ds:schemaRef ds:uri="ea4a9e5c-3d35-4957-9f75-be99225b134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FEAE647-4D09-40C7-A340-44BE4553B7A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121</TotalTime>
  <Words>3735</Words>
  <Application>Microsoft Macintosh PowerPoint</Application>
  <PresentationFormat>Widescreen</PresentationFormat>
  <Paragraphs>359</Paragraphs>
  <Slides>31</Slides>
  <Notes>31</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31</vt:i4>
      </vt:variant>
    </vt:vector>
  </HeadingPairs>
  <TitlesOfParts>
    <vt:vector size="39" baseType="lpstr">
      <vt:lpstr>Arial</vt:lpstr>
      <vt:lpstr>Calibri</vt:lpstr>
      <vt:lpstr>Calibri Light</vt:lpstr>
      <vt:lpstr>Cambria Math</vt:lpstr>
      <vt:lpstr>Title Slide</vt:lpstr>
      <vt:lpstr>Custom Design</vt:lpstr>
      <vt:lpstr>1_Custom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Understand Ratios — UIFR-Aligned with Simple Student Notes and Objectives</dc:title>
  <dc:subject>Reveal Math ratio lesson updated with UIFR-aligned objectives and simplified student math notes.</dc:subject>
  <dc:creator>Grubelich, Rocio</dc:creator>
  <dc:description>UIFR-aligned objectives plus simplified student math notes.</dc:description>
  <cp:lastModifiedBy>Neft, Joel D.</cp:lastModifiedBy>
  <cp:revision>115</cp:revision>
  <cp:lastPrinted>2018-08-01T21:17:27Z</cp:lastPrinted>
  <dcterms:created xsi:type="dcterms:W3CDTF">2020-09-17T18:06:02Z</dcterms:created>
  <dcterms:modified xsi:type="dcterms:W3CDTF">2026-09-14T14:58:35Z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0x010100C99F8A31FEB8FB4A9590D7113407C76B</vt:lpwstr>
  </property>
  <property fmtid="{D5CDD505-2E9C-101B-9397-08002B2CF9AE}" pid="3" name="MediaServiceImageTags">
    <vt:lpwstr/>
  </property>
</Properties>
</file>