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notesSlides/notesSlide33.xml" ContentType="application/vnd.openxmlformats-officedocument.presentationml.notesSlide+xml"/>
  <Override PartName="/ppt/notesSlides/notesSlide36.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52.xml" ContentType="application/vnd.openxmlformats-officedocument.presentationml.notesSlide+xml"/>
  <Override PartName="/ppt/notesSlides/notesSlide54.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3" r:id="rId5"/>
    <p:sldMasterId id="2147483684" r:id="rId6"/>
    <p:sldMasterId id="2147483685" r:id="rId7"/>
    <p:sldMasterId id="2147483686" r:id="rId8"/>
  </p:sldMasterIdLst>
  <p:notesMasterIdLst>
    <p:notesMasterId r:id="rId9"/>
  </p:notesMasterIdLst>
  <p:sldIdLst>
    <p:sldId id="259" r:id="rId13"/>
    <p:sldId id="268" r:id="rId22"/>
    <p:sldId id="269" r:id="rId23"/>
    <p:sldId id="256" r:id="rId10"/>
    <p:sldId id="257" r:id="rId11"/>
    <p:sldId id="260" r:id="rId14"/>
    <p:sldId id="331" r:id="rId74"/>
    <p:sldId id="330" r:id="rId46"/>
    <p:sldId id="329" r:id="rId32"/>
    <p:sldId id="328" r:id="rId44"/>
    <p:sldId id="327" r:id="rId43"/>
    <p:sldId id="326" r:id="rId33"/>
    <p:sldId id="325" r:id="rId41"/>
    <p:sldId id="261" r:id="rId15"/>
    <p:sldId id="271" r:id="rId25"/>
    <p:sldId id="272" r:id="rId26"/>
    <p:sldId id="280" r:id="rId34"/>
    <p:sldId id="282" r:id="rId36"/>
    <p:sldId id="288" r:id="rId42"/>
    <p:sldId id="335" r:id="rId78"/>
    <p:sldId id="291" r:id="rId45"/>
    <p:sldId id="293" r:id="rId47"/>
    <p:sldId id="295" r:id="rId49"/>
    <p:sldId id="332" r:id="rId75"/>
    <p:sldId id="324" r:id="rId40"/>
    <p:sldId id="336" r:id="rId79"/>
    <p:sldId id="323" r:id="rId39"/>
    <p:sldId id="322" r:id="rId38"/>
    <p:sldId id="318" r:id="rId72"/>
    <p:sldId id="337" r:id="rId80"/>
    <p:sldId id="319" r:id="rId73"/>
    <p:sldId id="296" r:id="rId50"/>
    <p:sldId id="298" r:id="rId52"/>
    <p:sldId id="299" r:id="rId53"/>
    <p:sldId id="307" r:id="rId61"/>
    <p:sldId id="338" r:id="rId81"/>
    <p:sldId id="309" r:id="rId63"/>
    <p:sldId id="314" r:id="rId68"/>
    <p:sldId id="333" r:id="rId76"/>
    <p:sldId id="321" r:id="rId37"/>
    <p:sldId id="320" r:id="rId35"/>
    <p:sldId id="315" r:id="rId69"/>
    <p:sldId id="339" r:id="rId82"/>
    <p:sldId id="316" r:id="rId70"/>
    <p:sldId id="317" r:id="rId71"/>
    <p:sldId id="334" r:id="rId77"/>
  </p:sldIdLst>
  <p:sldSz cy="6858000" cx="12192000"/>
  <p:notesSz cx="7010400"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74E4A2D-D716-4A53-BA71-2DB6B5DF641B}">
  <a:tblStyle styleId="{974E4A2D-D716-4A53-BA71-2DB6B5DF641B}"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9" Type="http://schemas.openxmlformats.org/officeDocument/2006/relationships/notesMaster" Target="notesMasters/notesMaster1.xml"/><Relationship Id="rId10" Type="http://schemas.openxmlformats.org/officeDocument/2006/relationships/slide" Target="slides/slide4.xml"/><Relationship Id="rId11" Type="http://schemas.openxmlformats.org/officeDocument/2006/relationships/slide" Target="slides/slide5.xml"/><Relationship Id="rId13" Type="http://schemas.openxmlformats.org/officeDocument/2006/relationships/slide" Target="slides/slide1.xml"/><Relationship Id="rId14" Type="http://schemas.openxmlformats.org/officeDocument/2006/relationships/slide" Target="slides/slide6.xml"/><Relationship Id="rId15" Type="http://schemas.openxmlformats.org/officeDocument/2006/relationships/slide" Target="slides/slide14.xml"/><Relationship Id="rId22" Type="http://schemas.openxmlformats.org/officeDocument/2006/relationships/slide" Target="slides/slide2.xml"/><Relationship Id="rId23" Type="http://schemas.openxmlformats.org/officeDocument/2006/relationships/slide" Target="slides/slide3.xml"/><Relationship Id="rId25" Type="http://schemas.openxmlformats.org/officeDocument/2006/relationships/slide" Target="slides/slide15.xml"/><Relationship Id="rId26" Type="http://schemas.openxmlformats.org/officeDocument/2006/relationships/slide" Target="slides/slide16.xml"/><Relationship Id="rId32" Type="http://schemas.openxmlformats.org/officeDocument/2006/relationships/slide" Target="slides/slide9.xml"/><Relationship Id="rId33" Type="http://schemas.openxmlformats.org/officeDocument/2006/relationships/slide" Target="slides/slide12.xml"/><Relationship Id="rId34" Type="http://schemas.openxmlformats.org/officeDocument/2006/relationships/slide" Target="slides/slide17.xml"/><Relationship Id="rId35" Type="http://schemas.openxmlformats.org/officeDocument/2006/relationships/slide" Target="slides/slide37.xml"/><Relationship Id="rId36" Type="http://schemas.openxmlformats.org/officeDocument/2006/relationships/slide" Target="slides/slide18.xml"/><Relationship Id="rId37" Type="http://schemas.openxmlformats.org/officeDocument/2006/relationships/slide" Target="slides/slide36.xml"/><Relationship Id="rId38" Type="http://schemas.openxmlformats.org/officeDocument/2006/relationships/slide" Target="slides/slide26.xml"/><Relationship Id="rId39" Type="http://schemas.openxmlformats.org/officeDocument/2006/relationships/slide" Target="slides/slide25.xml"/><Relationship Id="rId40" Type="http://schemas.openxmlformats.org/officeDocument/2006/relationships/slide" Target="slides/slide24.xml"/><Relationship Id="rId41" Type="http://schemas.openxmlformats.org/officeDocument/2006/relationships/slide" Target="slides/slide13.xml"/><Relationship Id="rId42" Type="http://schemas.openxmlformats.org/officeDocument/2006/relationships/slide" Target="slides/slide19.xml"/><Relationship Id="rId43" Type="http://schemas.openxmlformats.org/officeDocument/2006/relationships/slide" Target="slides/slide11.xml"/><Relationship Id="rId44" Type="http://schemas.openxmlformats.org/officeDocument/2006/relationships/slide" Target="slides/slide10.xml"/><Relationship Id="rId45" Type="http://schemas.openxmlformats.org/officeDocument/2006/relationships/slide" Target="slides/slide20.xml"/><Relationship Id="rId46" Type="http://schemas.openxmlformats.org/officeDocument/2006/relationships/slide" Target="slides/slide8.xml"/><Relationship Id="rId47" Type="http://schemas.openxmlformats.org/officeDocument/2006/relationships/slide" Target="slides/slide21.xml"/><Relationship Id="rId49" Type="http://schemas.openxmlformats.org/officeDocument/2006/relationships/slide" Target="slides/slide22.xml"/><Relationship Id="rId50" Type="http://schemas.openxmlformats.org/officeDocument/2006/relationships/slide" Target="slides/slide29.xml"/><Relationship Id="rId52" Type="http://schemas.openxmlformats.org/officeDocument/2006/relationships/slide" Target="slides/slide30.xml"/><Relationship Id="rId53" Type="http://schemas.openxmlformats.org/officeDocument/2006/relationships/slide" Target="slides/slide31.xml"/><Relationship Id="rId61" Type="http://schemas.openxmlformats.org/officeDocument/2006/relationships/slide" Target="slides/slide32.xml"/><Relationship Id="rId63" Type="http://schemas.openxmlformats.org/officeDocument/2006/relationships/slide" Target="slides/slide33.xml"/><Relationship Id="rId68" Type="http://schemas.openxmlformats.org/officeDocument/2006/relationships/slide" Target="slides/slide34.xml"/><Relationship Id="rId69" Type="http://schemas.openxmlformats.org/officeDocument/2006/relationships/slide" Target="slides/slide38.xml"/><Relationship Id="rId70" Type="http://schemas.openxmlformats.org/officeDocument/2006/relationships/slide" Target="slides/slide39.xml"/><Relationship Id="rId71" Type="http://schemas.openxmlformats.org/officeDocument/2006/relationships/slide" Target="slides/slide40.xml"/><Relationship Id="rId72" Type="http://schemas.openxmlformats.org/officeDocument/2006/relationships/slide" Target="slides/slide27.xml"/><Relationship Id="rId73" Type="http://schemas.openxmlformats.org/officeDocument/2006/relationships/slide" Target="slides/slide28.xml"/><Relationship Id="rId74" Type="http://schemas.openxmlformats.org/officeDocument/2006/relationships/slide" Target="slides/slide7.xml"/><Relationship Id="rId75" Type="http://schemas.openxmlformats.org/officeDocument/2006/relationships/slide" Target="slides/slide23.xml"/><Relationship Id="rId76" Type="http://schemas.openxmlformats.org/officeDocument/2006/relationships/slide" Target="slides/slide35.xml"/><Relationship Id="rId77" Type="http://schemas.openxmlformats.org/officeDocument/2006/relationships/slide" Target="slides/slide41.xml"/><Relationship Id="rId78" Type="http://schemas.openxmlformats.org/officeDocument/2006/relationships/slide" Target="slides/slide42.xml"/><Relationship Id="rId79" Type="http://schemas.openxmlformats.org/officeDocument/2006/relationships/slide" Target="slides/slide43.xml"/><Relationship Id="rId80" Type="http://schemas.openxmlformats.org/officeDocument/2006/relationships/slide" Target="slides/slide44.xml"/><Relationship Id="rId81" Type="http://schemas.openxmlformats.org/officeDocument/2006/relationships/slide" Target="slides/slide45.xml"/><Relationship Id="rId82"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2.2, slide 4 | DIVIDER</a:t>
            </a:r>
          </a:p>
          <a:p xmlns:a="http://schemas.openxmlformats.org/drawingml/2006/main">
            <a:pPr>
              <a:buNone/>
            </a:pPr>
            <a:r>
              <a:rPr lang="en-US" sz="1100"/>
              <a:t>Focus on the existing task: Represent and Describe Data in a Histogram Session 1</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231" name="Google Shape;231;p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2.2, slide 5 | WORKED</a:t>
            </a:r>
          </a:p>
          <a:p xmlns:a="http://schemas.openxmlformats.org/drawingml/2006/main">
            <a:pPr>
              <a:buNone/>
            </a:pPr>
            <a:r>
              <a:rPr lang="en-US" sz="1100"/>
              <a:t>Focus on the existing task: Give Me Five Use all the numbers in any order with any operation to equal the target number (in red).</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use equal-width intervals. Ask which feature of their work supports the claim.</a:t>
            </a:r>
          </a:p>
          <a:p xmlns:a="http://schemas.openxmlformats.org/drawingml/2006/main">
            <a:pPr>
              <a:buNone/>
            </a:pPr>
            <a:r>
              <a:rPr lang="en-US" sz="1100"/>
              <a:t>RESPOND: If this task shows the lesson misconception—reading a bar height as an individual data value—trace each original value into its interval and label both axes.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Number-sense routine — every voice in. Give quiet think time, then hear from at least three students.</a:t>
            </a:r>
          </a:p>
          <a:p>
            <a:pPr indent="0" lvl="0" marL="0" rtl="0" algn="l">
              <a:lnSpc>
                <a:spcPct val="100000"/>
              </a:lnSpc>
              <a:spcBef>
                <a:spcPts val="0"/>
              </a:spcBef>
              <a:spcAft>
                <a:spcPts val="0"/>
              </a:spcAft>
              <a:buSzPts val="1400"/>
              <a:buNone/>
            </a:pPr>
            <a:r>
              <a:t>Always follow with “How do you know?” — the reasoning is the point, not the answer.</a:t>
            </a:r>
          </a:p>
          <a:p>
            <a:pPr indent="0" lvl="0" marL="0" rtl="0" algn="l">
              <a:lnSpc>
                <a:spcPct val="100000"/>
              </a:lnSpc>
              <a:spcBef>
                <a:spcPts val="0"/>
              </a:spcBef>
              <a:spcAft>
                <a:spcPts val="0"/>
              </a:spcAft>
              <a:buSzPts val="1400"/>
              <a:buNone/>
            </a:pPr>
            <a:r>
              <a:t>There is more than one path; name and celebrate different strategies.</a:t>
            </a:r>
          </a:p>
          <a:p>
            <a:pPr indent="0" lvl="0" marL="0" rtl="0" algn="l">
              <a:lnSpc>
                <a:spcPct val="100000"/>
              </a:lnSpc>
              <a:spcBef>
                <a:spcPts val="0"/>
              </a:spcBef>
              <a:spcAft>
                <a:spcPts val="0"/>
              </a:spcAft>
              <a:buSzPts val="1400"/>
              <a:buNone/>
            </a:pPr>
            <a:r>
              <a:t>UIFR: TEACH 3 · TEACH 5 · TEACH 6.</a:t>
            </a:r>
          </a:p>
        </p:txBody>
      </p:sp>
      <p:sp>
        <p:nvSpPr>
          <p:cNvPr id="238" name="Google Shape;238;p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2.2, slide 1 | WARMUP</a:t>
            </a:r>
          </a:p>
          <a:p xmlns:a="http://schemas.openxmlformats.org/drawingml/2006/main">
            <a:pPr>
              <a:buNone/>
            </a:pPr>
            <a:r>
              <a:rPr lang="en-US" sz="1100"/>
              <a:t>Focus on the existing task: ______ QUESTION 2 How many of 3, 8, 12, 15, 21 land in 10-19?</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10-19   2) 2   3) 30   4) 20</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use equal-width intervals; count each value once; interpret frequency and distribution. Review recent work and today’s warm-up to choose flexible groups and access supports; do not infer needs from identity or perceived ability. Use the existing lesson tasks and stated standards.</a:t>
            </a:r>
          </a:p>
          <a:p>
            <a:pPr>
              <a:buNone/>
            </a:pPr>
            <a:r>
              <a:rPr lang="en-US" sz="1100"/>
              <a:t>Anticipate: reading a bar height as an individual data value. If observed, trace each original value into its interval and label both axes.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56" name="Google Shape;256;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2.2, slide 6 | GOAL</a:t>
            </a:r>
          </a:p>
          <a:p xmlns:a="http://schemas.openxmlformats.org/drawingml/2006/main">
            <a:pPr>
              <a:buNone/>
            </a:pPr>
            <a:r>
              <a:rPr lang="en-US" sz="1100"/>
              <a:t>Focus on the existing task: Today’s Objectives Represent and Describe Data…</a:t>
            </a:r>
          </a:p>
          <a:p xmlns:a="http://schemas.openxmlformats.org/drawingml/2006/main">
            <a:pPr>
              <a:buNone/>
            </a:pPr>
            <a:r>
              <a:rPr lang="en-US" sz="1100"/>
              <a:t>CONNECT (T1/4): Ask students to restate the displayed goal or key idea and connect it to earlier work. Relevant lesson evidence: use equal-width intervals; count each value once; interpret frequency and distribution.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Read the objective together, then have one or two students restate today’s goal in their own words.</a:t>
            </a:r>
          </a:p>
          <a:p>
            <a:pPr indent="0" lvl="0" marL="0" rtl="0" algn="l">
              <a:spcBef>
                <a:spcPts val="0"/>
              </a:spcBef>
              <a:spcAft>
                <a:spcPts val="0"/>
              </a:spcAft>
              <a:buNone/>
            </a:pPr>
            <a:r>
              <a:t>Connect it to what the class learned last lesson.</a:t>
            </a:r>
          </a:p>
          <a:p>
            <a:pPr indent="0" lvl="0" marL="0" rtl="0" algn="l">
              <a:spcBef>
                <a:spcPts val="0"/>
              </a:spcBef>
              <a:spcAft>
                <a:spcPts val="0"/>
              </a:spcAft>
              <a:buNone/>
            </a:pPr>
            <a:r>
              <a:t>Return to this goal at the end of class to check it was met.</a:t>
            </a:r>
          </a:p>
          <a:p>
            <a:pPr indent="0" lvl="0" marL="0" rtl="0" algn="l">
              <a:spcBef>
                <a:spcPts val="0"/>
              </a:spcBef>
              <a:spcAft>
                <a:spcPts val="0"/>
              </a:spcAft>
              <a:buNone/>
            </a:pPr>
            <a:r>
              <a:t>UIFR: TEACH 1.</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use equal-width intervals; count each value once; interpret frequency and distribution. Ask: “Which part of your work would show this?” Revisit that evidence after the task; a confidence rating alone is not evidence of understanding.</a:t>
            </a:r>
          </a:p>
        </p:txBody>
      </p:sp>
      <p:sp>
        <p:nvSpPr>
          <p:cNvPr id="316" name="Google Shape;316;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2.2, slide 14 | VOCAB</a:t>
            </a:r>
          </a:p>
          <a:p xmlns:a="http://schemas.openxmlformats.org/drawingml/2006/main">
            <a:pPr>
              <a:buNone/>
            </a:pPr>
            <a:r>
              <a:rPr lang="en-US" sz="1100"/>
              <a:t>Focus on the existing task: Vocabulary Today’s Math Words We learn every…</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Choral-read each word, its meaning, and what it looks like.</a:t>
            </a:r>
          </a:p>
          <a:p>
            <a:pPr indent="0" lvl="0" marL="0" rtl="0" algn="l">
              <a:spcBef>
                <a:spcPts val="0"/>
              </a:spcBef>
              <a:spcAft>
                <a:spcPts val="0"/>
              </a:spcAft>
              <a:buNone/>
            </a:pPr>
            <a:r>
              <a:t>Students should use these words out loud today — listen for them in partner talk and revoice student ideas with the academic term.</a:t>
            </a:r>
          </a:p>
          <a:p>
            <a:pPr indent="0" lvl="0" marL="0" rtl="0" algn="l">
              <a:spcBef>
                <a:spcPts val="0"/>
              </a:spcBef>
              <a:spcAft>
                <a:spcPts val="0"/>
              </a:spcAft>
              <a:buNone/>
            </a:pPr>
            <a:r>
              <a:t>UIFR: TEACH 1 · TEACH 5.</a:t>
            </a:r>
          </a:p>
        </p:txBody>
      </p:sp>
      <p:sp>
        <p:nvSpPr>
          <p:cNvPr id="338" name="Google Shape;338;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3: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2.2, slide 2 | NOTES</a:t>
            </a:r>
          </a:p>
          <a:p xmlns:a="http://schemas.openxmlformats.org/drawingml/2006/main">
            <a:pPr>
              <a:buNone/>
            </a:pPr>
            <a:r>
              <a:rPr lang="en-US" sz="1100"/>
              <a:t>Focus on the existing task: Today’s Math Notes Section 1: Math Words Copy…</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481" name="Google Shape;481;p1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1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2.2, slide 3 | NOTES</a:t>
            </a:r>
          </a:p>
          <a:p xmlns:a="http://schemas.openxmlformats.org/drawingml/2006/main">
            <a:pPr>
              <a:buNone/>
            </a:pPr>
            <a:r>
              <a:rPr lang="en-US" sz="1100"/>
              <a:t>Focus on the existing task: Today’s Math Notes Section 2: Today’s Math Copy…</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09" name="Google Shape;509;p1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1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2.2, slide 15 | CURIOUS</a:t>
            </a:r>
          </a:p>
          <a:p xmlns:a="http://schemas.openxmlformats.org/drawingml/2006/main">
            <a:pPr>
              <a:buNone/>
            </a:pPr>
            <a:r>
              <a:rPr lang="en-US" sz="1100"/>
              <a:t>Focus on the existing task: How are they the same?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use equal-width intervals. Ask which feature of their work supports the claim.</a:t>
            </a:r>
          </a:p>
          <a:p xmlns:a="http://schemas.openxmlformats.org/drawingml/2006/main">
            <a:pPr>
              <a:buNone/>
            </a:pPr>
            <a:r>
              <a:rPr lang="en-US" sz="1100"/>
              <a:t>RESPOND: If this task shows the lesson misconception—reading a bar height as an individual data value—trace each original value into its interval and label both axes.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Accept all noticings and wonderings — there are no wrong answers here.</a:t>
            </a:r>
          </a:p>
          <a:p>
            <a:pPr indent="0" lvl="0" marL="0" rtl="0" algn="l">
              <a:lnSpc>
                <a:spcPct val="100000"/>
              </a:lnSpc>
              <a:spcBef>
                <a:spcPts val="0"/>
              </a:spcBef>
              <a:spcAft>
                <a:spcPts val="0"/>
              </a:spcAft>
              <a:buSzPts val="1400"/>
              <a:buNone/>
            </a:pPr>
            <a:r>
              <a:t>Give 20–30 seconds of quiet think time before taking responses; mix cold and warm calls so it is not always the same voices.</a:t>
            </a:r>
          </a:p>
          <a:p>
            <a:pPr indent="0" lvl="0" marL="0" rtl="0" algn="l">
              <a:lnSpc>
                <a:spcPct val="100000"/>
              </a:lnSpc>
              <a:spcBef>
                <a:spcPts val="0"/>
              </a:spcBef>
              <a:spcAft>
                <a:spcPts val="0"/>
              </a:spcAft>
              <a:buSzPts val="1400"/>
              <a:buNone/>
            </a:pPr>
            <a:r>
              <a:t>Read the mindset question aloud and let two students respond.</a:t>
            </a:r>
          </a:p>
          <a:p>
            <a:pPr indent="0" lvl="0" marL="0" rtl="0" algn="l">
              <a:lnSpc>
                <a:spcPct val="100000"/>
              </a:lnSpc>
              <a:spcBef>
                <a:spcPts val="0"/>
              </a:spcBef>
              <a:spcAft>
                <a:spcPts val="0"/>
              </a:spcAft>
              <a:buSzPts val="1400"/>
              <a:buNone/>
            </a:pPr>
            <a:r>
              <a:t>UIFR: TEACH 3 · TEACH 7.</a:t>
            </a:r>
          </a:p>
        </p:txBody>
      </p:sp>
      <p:sp>
        <p:nvSpPr>
          <p:cNvPr id="543" name="Google Shape;543;p1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1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2.2, slide 16 | TASK</a:t>
            </a:r>
          </a:p>
          <a:p xmlns:a="http://schemas.openxmlformats.org/drawingml/2006/main">
            <a:pPr>
              <a:buNone/>
            </a:pPr>
            <a:r>
              <a:rPr lang="en-US" sz="1100"/>
              <a:t>Focus on the existing task: What range of paces was the most common for the students?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count each value once. Ask which feature of their work supports the claim.</a:t>
            </a:r>
          </a:p>
          <a:p xmlns:a="http://schemas.openxmlformats.org/drawingml/2006/main">
            <a:pPr>
              <a:buNone/>
            </a:pPr>
            <a:r>
              <a:rPr lang="en-US" sz="1100"/>
              <a:t>RESPOND: If this task shows the lesson misconception—reading a bar height as an individual data value—trace each original value into its interval and label both axes.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the context aloud (or have a student read it).</a:t>
            </a:r>
          </a:p>
          <a:p>
            <a:pPr indent="0" lvl="0" marL="0" rtl="0" algn="l">
              <a:lnSpc>
                <a:spcPct val="100000"/>
              </a:lnSpc>
              <a:spcBef>
                <a:spcPts val="0"/>
              </a:spcBef>
              <a:spcAft>
                <a:spcPts val="0"/>
              </a:spcAft>
              <a:buSzPts val="1400"/>
              <a:buNone/>
            </a:pPr>
            <a:r>
              <a:t>Before any math, students restate the situation and what is being asked in their own words.</a:t>
            </a:r>
          </a:p>
          <a:p>
            <a:pPr indent="0" lvl="0" marL="0" rtl="0" algn="l">
              <a:lnSpc>
                <a:spcPct val="100000"/>
              </a:lnSpc>
              <a:spcBef>
                <a:spcPts val="0"/>
              </a:spcBef>
              <a:spcAft>
                <a:spcPts val="0"/>
              </a:spcAft>
              <a:buSzPts val="1400"/>
              <a:buNone/>
            </a:pPr>
            <a:r>
              <a:t>Ask: What range of paces was the most common for the students?</a:t>
            </a:r>
          </a:p>
          <a:p>
            <a:pPr indent="0" lvl="0" marL="0" rtl="0" algn="l">
              <a:lnSpc>
                <a:spcPct val="100000"/>
              </a:lnSpc>
              <a:spcBef>
                <a:spcPts val="0"/>
              </a:spcBef>
              <a:spcAft>
                <a:spcPts val="0"/>
              </a:spcAft>
              <a:buSzPts val="1400"/>
              <a:buNone/>
            </a:pPr>
            <a:r>
              <a:t>UIFR: TEACH 1 · TEACH 3.</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“What does one bar count, and what information about individual values can this display no longer show?” Wait for evidence, invite another pathway, and have a student ask a follow-up question. Do not replace students’ reasoning with a sequence of leading steps.</a:t>
            </a:r>
          </a:p>
        </p:txBody>
      </p:sp>
      <p:sp>
        <p:nvSpPr>
          <p:cNvPr id="554" name="Google Shape;554;p1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2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2.2, slide 17 | COLLABORATE</a:t>
            </a:r>
          </a:p>
          <a:p xmlns:a="http://schemas.openxmlformats.org/drawingml/2006/main">
            <a:pPr>
              <a:buNone/>
            </a:pPr>
            <a:r>
              <a:rPr lang="en-US" sz="1100"/>
              <a:t>Focus on the existing task: What intervals could you use to group the students’ times?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equal-width intervals. Ask which feature of their work supports the claim.</a:t>
            </a:r>
          </a:p>
          <a:p xmlns:a="http://schemas.openxmlformats.org/drawingml/2006/main">
            <a:pPr>
              <a:buNone/>
            </a:pPr>
            <a:r>
              <a:rPr lang="en-US" sz="1100"/>
              <a:t>RESPOND: If this task shows the lesson misconception—reading a bar height as an individual data value—trace each original value into its interval and label both axes.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reading a bar height as an individual data value. If it appears, trace each original value into its interval and label both axes; then ask the student to revise the same response and explain the change. If evidence is secure, have students compare a second valid pathway or state why their approach works. Choose the next step from the responses, not a preset pace.</a:t>
            </a:r>
          </a:p>
        </p:txBody>
      </p:sp>
      <p:sp>
        <p:nvSpPr>
          <p:cNvPr id="624" name="Google Shape;624;p2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p2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2.2, slide 18 | REVEAL</a:t>
            </a:r>
          </a:p>
          <a:p xmlns:a="http://schemas.openxmlformats.org/drawingml/2006/main">
            <a:pPr>
              <a:buNone/>
            </a:pPr>
            <a:r>
              <a:rPr lang="en-US" sz="1100"/>
              <a:t>Focus on the existing task: Let’s make each interval 0.5 minute. How can you organize the data into 0.5-minute intervals?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equal-width intervals. Ask which feature of their work supports the claim.</a:t>
            </a:r>
          </a:p>
          <a:p xmlns:a="http://schemas.openxmlformats.org/drawingml/2006/main">
            <a:pPr>
              <a:buNone/>
            </a:pPr>
            <a:r>
              <a:rPr lang="en-US" sz="1100"/>
              <a:t>RESPOND: If this task shows the lesson misconception—reading a bar height as an individual data value—trace each original value into its interval and label both axes.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One way is to list the intervals in a table.</a:t>
            </a:r>
          </a:p>
          <a:p>
            <a:pPr indent="0" lvl="0" marL="0" rtl="0" algn="l">
              <a:lnSpc>
                <a:spcPct val="100000"/>
              </a:lnSpc>
              <a:spcBef>
                <a:spcPts val="0"/>
              </a:spcBef>
              <a:spcAft>
                <a:spcPts val="0"/>
              </a:spcAft>
              <a:buSzPts val="1400"/>
              <a:buNone/>
            </a:pPr>
            <a:r>
              <a:t>UIFR: TEACH 3 · TEACH 4.</a:t>
            </a:r>
          </a:p>
        </p:txBody>
      </p:sp>
      <p:sp>
        <p:nvSpPr>
          <p:cNvPr id="642" name="Google Shape;642;p2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p3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2.2, slide 19 | TASK</a:t>
            </a:r>
          </a:p>
          <a:p xmlns:a="http://schemas.openxmlformats.org/drawingml/2006/main">
            <a:pPr>
              <a:buNone/>
            </a:pPr>
            <a:r>
              <a:rPr lang="en-US" sz="1100"/>
              <a:t>Focus on the existing task: Minutes to Run One Kilometer Frequency 4.5–4.9 13 5.0–5.4 20 5.5–5.9 12 6.0–6.4 5 You can display the values from the frequency table in a…</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interpret frequency and distribution. Ask which feature of their work supports the claim.</a:t>
            </a:r>
          </a:p>
          <a:p xmlns:a="http://schemas.openxmlformats.org/drawingml/2006/main">
            <a:pPr>
              <a:buNone/>
            </a:pPr>
            <a:r>
              <a:rPr lang="en-US" sz="1100"/>
              <a:t>RESPOND: If this task shows the lesson misconception—reading a bar height as an individual data value—trace each original value into its interval and label both axes.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685" name="Google Shape;685;p3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3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2.2, slide 20 | REVEAL</a:t>
            </a:r>
          </a:p>
          <a:p xmlns:a="http://schemas.openxmlformats.org/drawingml/2006/main">
            <a:pPr>
              <a:buNone/>
            </a:pPr>
            <a:r>
              <a:rPr lang="en-US" sz="1100"/>
              <a:t>Focus on the existing task: How can you determine which interval is the most common?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equal-width intervals. Ask which feature of their work supports the claim.</a:t>
            </a:r>
          </a:p>
          <a:p xmlns:a="http://schemas.openxmlformats.org/drawingml/2006/main">
            <a:pPr>
              <a:buNone/>
            </a:pPr>
            <a:r>
              <a:rPr lang="en-US" sz="1100"/>
              <a:t>RESPOND: If this task shows the lesson misconception—reading a bar height as an individual data value—trace each original value into its interval and label both axes.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You can look for the tallest bar on the histogram.</a:t>
            </a:r>
          </a:p>
          <a:p>
            <a:pPr indent="0" lvl="0" marL="0" rtl="0" algn="l">
              <a:lnSpc>
                <a:spcPct val="100000"/>
              </a:lnSpc>
              <a:spcBef>
                <a:spcPts val="0"/>
              </a:spcBef>
              <a:spcAft>
                <a:spcPts val="0"/>
              </a:spcAft>
              <a:buSzPts val="1400"/>
              <a:buNone/>
            </a:pPr>
            <a:r>
              <a:t>UIFR: TEACH 3 · TEACH 4.</a:t>
            </a:r>
          </a:p>
        </p:txBody>
      </p:sp>
      <p:sp>
        <p:nvSpPr>
          <p:cNvPr id="713" name="Google Shape;713;p3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p3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2.2, slide 21 | REVEAL</a:t>
            </a:r>
          </a:p>
          <a:p xmlns:a="http://schemas.openxmlformats.org/drawingml/2006/main">
            <a:pPr>
              <a:buNone/>
            </a:pPr>
            <a:r>
              <a:rPr lang="en-US" sz="1100"/>
              <a:t>Focus on the existing task: What does this mean in the context of the problem?</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equal-width intervals. Ask which feature of their work supports the claim.</a:t>
            </a:r>
          </a:p>
          <a:p xmlns:a="http://schemas.openxmlformats.org/drawingml/2006/main">
            <a:pPr>
              <a:buNone/>
            </a:pPr>
            <a:r>
              <a:rPr lang="en-US" sz="1100"/>
              <a:t>RESPOND: If this task shows the lesson misconception—reading a bar height as an individual data value—trace each original value into its interval and label both axes.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greatest number of students took between 5.0 minutes and 5.4 minutes to run one kilometer.</a:t>
            </a:r>
          </a:p>
          <a:p>
            <a:pPr indent="0" lvl="0" marL="0" rtl="0" algn="l">
              <a:lnSpc>
                <a:spcPct val="100000"/>
              </a:lnSpc>
              <a:spcBef>
                <a:spcPts val="0"/>
              </a:spcBef>
              <a:spcAft>
                <a:spcPts val="0"/>
              </a:spcAft>
              <a:buSzPts val="1400"/>
              <a:buNone/>
            </a:pPr>
            <a:r>
              <a:t>UIFR: TEACH 3 · TEACH 4.</a:t>
            </a:r>
          </a:p>
        </p:txBody>
      </p:sp>
      <p:sp>
        <p:nvSpPr>
          <p:cNvPr id="733" name="Google Shape;733;p3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p4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2.2, slide 22 | PRACTICE</a:t>
            </a:r>
          </a:p>
          <a:p xmlns:a="http://schemas.openxmlformats.org/drawingml/2006/main">
            <a:pPr>
              <a:buNone/>
            </a:pPr>
            <a:r>
              <a:rPr lang="en-US" sz="1100"/>
              <a:t>Focus on the existing task: Workspace Why might a histogram be a better choice than a dot plot for displaying the data?</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equal-width intervals. Ask which feature of their work supports the claim.</a:t>
            </a:r>
          </a:p>
          <a:p xmlns:a="http://schemas.openxmlformats.org/drawingml/2006/main">
            <a:pPr>
              <a:buNone/>
            </a:pPr>
            <a:r>
              <a:rPr lang="en-US" sz="1100"/>
              <a:t>RESPOND: If this task shows the lesson misconception—reading a bar height as an individual data value—trace each original value into its interval and label both axes.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751" name="Google Shape;751;p4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4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2.2, slide 29 | DIVIDER</a:t>
            </a:r>
          </a:p>
          <a:p xmlns:a="http://schemas.openxmlformats.org/drawingml/2006/main">
            <a:pPr>
              <a:buNone/>
            </a:pPr>
            <a:r>
              <a:rPr lang="en-US" sz="1100"/>
              <a:t>Focus on the existing task: Represent and Describe Data in a Histogram Session 2</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760" name="Google Shape;760;p4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p4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2.2, slide 30 | CURIOUS</a:t>
            </a:r>
          </a:p>
          <a:p xmlns:a="http://schemas.openxmlformats.org/drawingml/2006/main">
            <a:pPr>
              <a:buNone/>
            </a:pPr>
            <a:r>
              <a:rPr lang="en-US" sz="1100"/>
              <a:t>Focus on the existing task: Which doesn’t belong?</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use equal-width intervals. Ask which feature of their work supports the claim.</a:t>
            </a:r>
          </a:p>
          <a:p xmlns:a="http://schemas.openxmlformats.org/drawingml/2006/main">
            <a:pPr>
              <a:buNone/>
            </a:pPr>
            <a:r>
              <a:rPr lang="en-US" sz="1100"/>
              <a:t>RESPOND: If this task shows the lesson misconception—reading a bar height as an individual data value—trace each original value into its interval and label both axes.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Accept all noticings and wonderings — there are no wrong answers here.</a:t>
            </a:r>
          </a:p>
          <a:p>
            <a:pPr indent="0" lvl="0" marL="0" rtl="0" algn="l">
              <a:lnSpc>
                <a:spcPct val="100000"/>
              </a:lnSpc>
              <a:spcBef>
                <a:spcPts val="0"/>
              </a:spcBef>
              <a:spcAft>
                <a:spcPts val="0"/>
              </a:spcAft>
              <a:buSzPts val="1400"/>
              <a:buNone/>
            </a:pPr>
            <a:r>
              <a:t>Give 20–30 seconds of quiet think time before taking responses; mix cold and warm calls so it is not always the same voices.</a:t>
            </a:r>
          </a:p>
          <a:p>
            <a:pPr indent="0" lvl="0" marL="0" rtl="0" algn="l">
              <a:lnSpc>
                <a:spcPct val="100000"/>
              </a:lnSpc>
              <a:spcBef>
                <a:spcPts val="0"/>
              </a:spcBef>
              <a:spcAft>
                <a:spcPts val="0"/>
              </a:spcAft>
              <a:buSzPts val="1400"/>
              <a:buNone/>
            </a:pPr>
            <a:r>
              <a:t>Read the mindset question aloud and let two students respond.</a:t>
            </a:r>
          </a:p>
          <a:p>
            <a:pPr indent="0" lvl="0" marL="0" rtl="0" algn="l">
              <a:lnSpc>
                <a:spcPct val="100000"/>
              </a:lnSpc>
              <a:spcBef>
                <a:spcPts val="0"/>
              </a:spcBef>
              <a:spcAft>
                <a:spcPts val="0"/>
              </a:spcAft>
              <a:buSzPts val="1400"/>
              <a:buNone/>
            </a:pPr>
            <a:r>
              <a:t>UIFR: TEACH 3 · TEACH 7.</a:t>
            </a:r>
          </a:p>
        </p:txBody>
      </p:sp>
      <p:sp>
        <p:nvSpPr>
          <p:cNvPr id="777" name="Google Shape;777;p4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p4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2.2, slide 31 | TASK</a:t>
            </a:r>
          </a:p>
          <a:p xmlns:a="http://schemas.openxmlformats.org/drawingml/2006/main">
            <a:pPr>
              <a:buNone/>
            </a:pPr>
            <a:r>
              <a:rPr lang="en-US" sz="1100"/>
              <a:t>Focus on the existing task: How can you describe the data set?</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equal-width intervals. Ask which feature of their work supports the claim.</a:t>
            </a:r>
          </a:p>
          <a:p xmlns:a="http://schemas.openxmlformats.org/drawingml/2006/main">
            <a:pPr>
              <a:buNone/>
            </a:pPr>
            <a:r>
              <a:rPr lang="en-US" sz="1100"/>
              <a:t>RESPOND: If this task shows the lesson misconception—reading a bar height as an individual data value—trace each original value into its interval and label both axes.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the context aloud (or have a student read it).</a:t>
            </a:r>
          </a:p>
          <a:p>
            <a:pPr indent="0" lvl="0" marL="0" rtl="0" algn="l">
              <a:lnSpc>
                <a:spcPct val="100000"/>
              </a:lnSpc>
              <a:spcBef>
                <a:spcPts val="0"/>
              </a:spcBef>
              <a:spcAft>
                <a:spcPts val="0"/>
              </a:spcAft>
              <a:buSzPts val="1400"/>
              <a:buNone/>
            </a:pPr>
            <a:r>
              <a:t>Before any math, students restate the situation and what is being asked in their own words.</a:t>
            </a:r>
          </a:p>
          <a:p>
            <a:pPr indent="0" lvl="0" marL="0" rtl="0" algn="l">
              <a:lnSpc>
                <a:spcPct val="100000"/>
              </a:lnSpc>
              <a:spcBef>
                <a:spcPts val="0"/>
              </a:spcBef>
              <a:spcAft>
                <a:spcPts val="0"/>
              </a:spcAft>
              <a:buSzPts val="1400"/>
              <a:buNone/>
            </a:pPr>
            <a:r>
              <a:t>Ask: How can you describe the data set?</a:t>
            </a:r>
          </a:p>
          <a:p>
            <a:pPr indent="0" lvl="0" marL="0" rtl="0" algn="l">
              <a:lnSpc>
                <a:spcPct val="100000"/>
              </a:lnSpc>
              <a:spcBef>
                <a:spcPts val="0"/>
              </a:spcBef>
              <a:spcAft>
                <a:spcPts val="0"/>
              </a:spcAft>
              <a:buSzPts val="1400"/>
              <a:buNone/>
            </a:pPr>
            <a:r>
              <a:t>UIFR: TEACH 1 · TEACH 3.</a:t>
            </a:r>
          </a:p>
          <a:p>
            <a:pPr>
              <a:buNone/>
            </a:pPr>
            <a:r>
              <a:rPr lang="en-US" sz="1100"/>
              <a:t/>
            </a:r>
          </a:p>
          <a:p>
            <a:pPr>
              <a:buNone/>
            </a:pPr>
            <a:r>
              <a:rPr lang="en-US" sz="1100"/>
              <a:t>UIFR FULL | Lesson-specific facilitation</a:t>
            </a:r>
          </a:p>
          <a:p>
            <a:pPr>
              <a:buNone/>
            </a:pPr>
            <a:r>
              <a:rPr lang="en-US" sz="1100"/>
              <a:t>TEACH 2-3 | Session 2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“What does one bar count, and what information about individual values can this display no longer show?” Wait for evidence, invite another pathway, and have a student ask a follow-up question. Do not replace students’ reasoning with a sequence of leading steps.</a:t>
            </a:r>
          </a:p>
        </p:txBody>
      </p:sp>
      <p:sp>
        <p:nvSpPr>
          <p:cNvPr id="788" name="Google Shape;788;p4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p5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2.2, slide 32 | TASK</a:t>
            </a:r>
          </a:p>
          <a:p xmlns:a="http://schemas.openxmlformats.org/drawingml/2006/main">
            <a:pPr>
              <a:buNone/>
            </a:pPr>
            <a:r>
              <a:rPr lang="en-US" sz="1100"/>
              <a:t>Focus on the existing task: What do you notice about the shape of the histogram?</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interpret frequency and distribution. Ask which feature of their work supports the claim.</a:t>
            </a:r>
          </a:p>
          <a:p xmlns:a="http://schemas.openxmlformats.org/drawingml/2006/main">
            <a:pPr>
              <a:buNone/>
            </a:pPr>
            <a:r>
              <a:rPr lang="en-US" sz="1100"/>
              <a:t>RESPOND: If this task shows the lesson misconception—reading a bar height as an individual data value—trace each original value into its interval and label both axes.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862" name="Google Shape;862;p5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p5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2.2, slide 33 | REVEAL</a:t>
            </a:r>
          </a:p>
          <a:p xmlns:a="http://schemas.openxmlformats.org/drawingml/2006/main">
            <a:pPr>
              <a:buNone/>
            </a:pPr>
            <a:r>
              <a:rPr lang="en-US" sz="1100"/>
              <a:t>Focus on the existing task: What do you notice about the bars on either side of the middle bar?</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equal-width intervals. Ask which feature of their work supports the claim.</a:t>
            </a:r>
          </a:p>
          <a:p xmlns:a="http://schemas.openxmlformats.org/drawingml/2006/main">
            <a:pPr>
              <a:buNone/>
            </a:pPr>
            <a:r>
              <a:rPr lang="en-US" sz="1100"/>
              <a:t>RESPOND: If this task shows the lesson misconception—reading a bar height as an individual data value—trace each original value into its interval and label both axes.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Students should have shared predictions before this reveal.</a:t>
            </a:r>
          </a:p>
          <a:p>
            <a:pPr indent="0" lvl="0" marL="0" rtl="0" algn="l">
              <a:lnSpc>
                <a:spcPct val="100000"/>
              </a:lnSpc>
              <a:spcBef>
                <a:spcPts val="0"/>
              </a:spcBef>
              <a:spcAft>
                <a:spcPts val="0"/>
              </a:spcAft>
              <a:buSzPts val="1400"/>
              <a:buNone/>
            </a:pPr>
            <a:r>
              <a:t>Have them compare their thinking to what is shown: “Is this the same as what we said? Where is it different?”</a:t>
            </a:r>
          </a:p>
          <a:p>
            <a:pPr indent="0" lvl="0" marL="0" rtl="0" algn="l">
              <a:lnSpc>
                <a:spcPct val="100000"/>
              </a:lnSpc>
              <a:spcBef>
                <a:spcPts val="0"/>
              </a:spcBef>
              <a:spcAft>
                <a:spcPts val="0"/>
              </a:spcAft>
              <a:buSzPts val="1400"/>
              <a:buNone/>
            </a:pPr>
            <a:r>
              <a:t>Press one student to explain the reveal in their own words.</a:t>
            </a:r>
          </a:p>
          <a:p>
            <a:pPr indent="0" lvl="0" marL="0" rtl="0" algn="l">
              <a:lnSpc>
                <a:spcPct val="100000"/>
              </a:lnSpc>
              <a:spcBef>
                <a:spcPts val="0"/>
              </a:spcBef>
              <a:spcAft>
                <a:spcPts val="0"/>
              </a:spcAft>
              <a:buSzPts val="1400"/>
              <a:buNone/>
            </a:pPr>
            <a:r>
              <a:t>UIFR: TEACH 3 · TEACH 4.</a:t>
            </a:r>
          </a:p>
        </p:txBody>
      </p:sp>
      <p:sp>
        <p:nvSpPr>
          <p:cNvPr id="881" name="Google Shape;881;p5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p5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2.2, slide 34 | PRACTICE</a:t>
            </a:r>
          </a:p>
          <a:p xmlns:a="http://schemas.openxmlformats.org/drawingml/2006/main">
            <a:pPr>
              <a:buNone/>
            </a:pPr>
            <a:r>
              <a:rPr lang="en-US" sz="1100"/>
              <a:t>Focus on the existing task: Workspace Describe how the heights of the plants could have been measured. How might this affect the data?</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equal-width intervals. Ask which feature of their work supports the claim.</a:t>
            </a:r>
          </a:p>
          <a:p xmlns:a="http://schemas.openxmlformats.org/drawingml/2006/main">
            <a:pPr>
              <a:buNone/>
            </a:pPr>
            <a:r>
              <a:rPr lang="en-US" sz="1100"/>
              <a:t>RESPOND: If this task shows the lesson misconception—reading a bar height as an individual data value—trace each original value into its interval and label both axes.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a:p>
            <a:pPr>
              <a:buNone/>
            </a:pPr>
            <a:r>
              <a:rPr lang="en-US" sz="1100"/>
              <a:t/>
            </a:r>
          </a:p>
          <a:p>
            <a:pPr>
              <a:buNone/>
            </a:pPr>
            <a:r>
              <a:rPr lang="en-US" sz="1100"/>
              <a:t>UIFR FULL | Lesson-specific facilitation</a:t>
            </a:r>
          </a:p>
          <a:p>
            <a:pPr>
              <a:buNone/>
            </a:pPr>
            <a:r>
              <a:rPr lang="en-US" sz="1100"/>
              <a:t>TEACH 4-5 | Session 2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reading a bar height as an individual data value. If it appears, trace each original value into its interval and label both axes; then ask the student to revise the same response and explain the change. If evidence is secure, have students compare a second valid pathway or state why their approach works. Choose the next step from the responses, not a preset pace.</a:t>
            </a:r>
          </a:p>
        </p:txBody>
      </p:sp>
      <p:sp>
        <p:nvSpPr>
          <p:cNvPr id="929" name="Google Shape;929;p5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p6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2.2, slide 38 | SUMMARIZE</a:t>
            </a:r>
          </a:p>
          <a:p xmlns:a="http://schemas.openxmlformats.org/drawingml/2006/main">
            <a:pPr>
              <a:buNone/>
            </a:pPr>
            <a:r>
              <a:rPr lang="en-US" sz="1100"/>
              <a:t>Focus on the existing task: A histogram displays data values in intervals. A histogram is a useful display when the data set is large. Frequency Table Minutes to Run…</a:t>
            </a:r>
          </a:p>
          <a:p xmlns:a="http://schemas.openxmlformats.org/drawingml/2006/main">
            <a:pPr>
              <a:buNone/>
            </a:pPr>
            <a:r>
              <a:rPr lang="en-US" sz="1100"/>
              <a:t>CONNECT (T1/4): Ask students to restate the displayed goal or key idea and connect it to earlier work. Relevant lesson evidence: use equal-width intervals; count each value once; interpret frequency and distribution.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938" name="Google Shape;938;p6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p6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2.2, slide 39 | APPLY</a:t>
            </a:r>
          </a:p>
          <a:p xmlns:a="http://schemas.openxmlformats.org/drawingml/2006/main">
            <a:pPr>
              <a:buNone/>
            </a:pPr>
            <a:r>
              <a:rPr lang="en-US" sz="1100"/>
              <a:t>Focus on the existing task: A group of friends are planning to make a movie. They research the running times of movies made. The data they collected are shown in the…</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use equal-width intervals. Ask which feature of their work supports the claim.</a:t>
            </a:r>
          </a:p>
          <a:p xmlns:a="http://schemas.openxmlformats.org/drawingml/2006/main">
            <a:pPr>
              <a:buNone/>
            </a:pPr>
            <a:r>
              <a:rPr lang="en-US" sz="1100"/>
              <a:t>RESPOND: If this task shows the lesson misconception—reading a bar height as an individual data value—trace each original value into its interval and label both axes.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use equal-width intervals; count each value once; interpret frequency and distribution. Respond with one specific next step tied to the work. Students revise and annotate what changed, then identify a criterion they can now demonstrate and one they still need to practice.</a:t>
            </a:r>
          </a:p>
        </p:txBody>
      </p:sp>
      <p:sp>
        <p:nvSpPr>
          <p:cNvPr id="948" name="Google Shape;948;p6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p6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2.2, slide 40 | REFLECTION</a:t>
            </a:r>
          </a:p>
          <a:p xmlns:a="http://schemas.openxmlformats.org/drawingml/2006/main">
            <a:pPr>
              <a:buNone/>
            </a:pPr>
            <a:r>
              <a:rPr lang="en-US" sz="1100"/>
              <a:t>Focus on the existing task: I can display numerical data in a histogram and explain how this type of display is different from a dot plot. I can use repetition to…</a:t>
            </a:r>
          </a:p>
          <a:p xmlns:a="http://schemas.openxmlformats.org/drawingml/2006/main">
            <a:pPr>
              <a:buNone/>
            </a:pPr>
            <a:r>
              <a:rPr lang="en-US" sz="1100"/>
              <a:t>CONNECT (T1/4): Ask students to restate the displayed goal or key idea and connect it to earlier work. Relevant lesson evidence: use equal-width intervals; count each value once; interpret frequency and distribution.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each target; students self-rate with fist-to-five or thumbs.</a:t>
            </a:r>
          </a:p>
          <a:p>
            <a:pPr indent="0" lvl="0" marL="0" rtl="0" algn="l">
              <a:lnSpc>
                <a:spcPct val="100000"/>
              </a:lnSpc>
              <a:spcBef>
                <a:spcPts val="0"/>
              </a:spcBef>
              <a:spcAft>
                <a:spcPts val="0"/>
              </a:spcAft>
              <a:buSzPts val="1400"/>
              <a:buNone/>
            </a:pPr>
            <a:r>
              <a:t>Tie back to the goal from the start of class: did we get there?</a:t>
            </a:r>
          </a:p>
          <a:p>
            <a:pPr indent="0" lvl="0" marL="0" rtl="0" algn="l">
              <a:lnSpc>
                <a:spcPct val="100000"/>
              </a:lnSpc>
              <a:spcBef>
                <a:spcPts val="0"/>
              </a:spcBef>
              <a:spcAft>
                <a:spcPts val="0"/>
              </a:spcAft>
              <a:buSzPts val="1400"/>
              <a:buNone/>
            </a:pPr>
            <a:r>
              <a:t>Note any target that rates low — revisit it tomorrow.</a:t>
            </a:r>
          </a:p>
          <a:p>
            <a:pPr indent="0" lvl="0" marL="0" rtl="0" algn="l">
              <a:lnSpc>
                <a:spcPct val="100000"/>
              </a:lnSpc>
              <a:spcBef>
                <a:spcPts val="0"/>
              </a:spcBef>
              <a:spcAft>
                <a:spcPts val="0"/>
              </a:spcAft>
              <a:buSzPts val="1400"/>
              <a:buNone/>
            </a:pPr>
            <a:r>
              <a:t>UIFR: TEACH 1 · TEACH 4.</a:t>
            </a:r>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reading a bar height as an individual data value.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trace each original value into its interval and label both axes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
        <p:nvSpPr>
          <p:cNvPr id="956" name="Google Shape;956;p6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2.2, slide 27 | WARMUP</a:t>
            </a:r>
          </a:p>
          <a:p xmlns:a="http://schemas.openxmlformats.org/drawingml/2006/main">
            <a:pPr>
              <a:buNone/>
            </a:pPr>
            <a:r>
              <a:rPr lang="en-US" sz="1100"/>
              <a:t>Focus on the existing task: A Individual names B Equal numerical intervals C Word categories D Decimals only 2 If intervals are 0–4, 5–9, 10–14, what is each width?</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a:p>
            <a:pPr>
              <a:buNone/>
            </a:pPr>
            <a:r>
              <a:rPr lang="en-US" sz="1100"/>
              <a:t/>
            </a:r>
          </a:p>
          <a:p>
            <a:pPr>
              <a:buNone/>
            </a:pPr>
            <a:r>
              <a:rPr lang="en-US" sz="1100"/>
              <a:t>UIFR FULL | Lesson-specific facilitation</a:t>
            </a:r>
          </a:p>
          <a:p>
            <a:pPr>
              <a:buNone/>
            </a:pPr>
            <a:r>
              <a:rPr lang="en-US" sz="1100"/>
              <a:t>TEACH 1 | Session 2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use equal-width intervals; count each value once; interpret frequency and distribution. Ask: “Which part of your work would show this?” Revisit that evidence after the task; a confidence rating alone is not evidence of understanding.</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2.2, slide 28 | NOTES</a:t>
            </a:r>
          </a:p>
          <a:p xmlns:a="http://schemas.openxmlformats.org/drawingml/2006/main">
            <a:pPr>
              <a:buNone/>
            </a:pPr>
            <a:r>
              <a:rPr lang="en-US" sz="1100"/>
              <a:t>Focus on the existing task: Review Notes Review Notes — Session 2 Copy into…</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6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2.2, slide 7 | PRIOR_INSERT</a:t>
            </a:r>
          </a:p>
          <a:p xmlns:a="http://schemas.openxmlformats.org/drawingml/2006/main">
            <a:pPr>
              <a:buNone/>
            </a:pPr>
            <a:r>
              <a:rPr lang="en-US" sz="1100"/>
              <a:t>Focus on the existing task: LESSON 2.2 / OUR LEARNING What will show your learning?</a:t>
            </a:r>
          </a:p>
          <a:p xmlns:a="http://schemas.openxmlformats.org/drawingml/2006/main">
            <a:pPr>
              <a:buNone/>
            </a:pPr>
            <a:r>
              <a:rPr lang="en-US" sz="1100"/>
              <a:t>CONNECT (T1/4): Ask students to restate the displayed goal or key idea and connect it to earlier work. Relevant lesson evidence: use equal-width intervals; count each value once; interpret frequency and distribution.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2.2, slide 8 | VOCAB</a:t>
            </a:r>
          </a:p>
          <a:p xmlns:a="http://schemas.openxmlformats.org/drawingml/2006/main">
            <a:pPr>
              <a:buNone/>
            </a:pPr>
            <a:r>
              <a:rPr lang="en-US" sz="1100"/>
              <a:t>Focus on the existing task: Vocabulary 1 of 6 Display Data with Histograms…</a:t>
            </a:r>
          </a:p>
          <a:p xmlns:a="http://schemas.openxmlformats.org/drawingml/2006/main">
            <a:pPr>
              <a:buNone/>
            </a:pPr>
            <a:r>
              <a:rPr lang="en-US" sz="1100"/>
              <a:t>ASK (T1/3/5): Where does “Display Data with Histograms”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2.2, slide 9 | VOCAB</a:t>
            </a:r>
          </a:p>
          <a:p xmlns:a="http://schemas.openxmlformats.org/drawingml/2006/main">
            <a:pPr>
              <a:buNone/>
            </a:pPr>
            <a:r>
              <a:rPr lang="en-US" sz="1100"/>
              <a:t>Focus on the existing task: Vocabulary 2 of 6 Histogram A bar graph that…</a:t>
            </a:r>
          </a:p>
          <a:p xmlns:a="http://schemas.openxmlformats.org/drawingml/2006/main">
            <a:pPr>
              <a:buNone/>
            </a:pPr>
            <a:r>
              <a:rPr lang="en-US" sz="1100"/>
              <a:t>ASK (T1/3/5): Where does “Histogram”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2.2, slide 10 | VOCAB</a:t>
            </a:r>
          </a:p>
          <a:p xmlns:a="http://schemas.openxmlformats.org/drawingml/2006/main">
            <a:pPr>
              <a:buNone/>
            </a:pPr>
            <a:r>
              <a:rPr lang="en-US" sz="1100"/>
              <a:t>Focus on the existing task: Vocabulary 3 of 6 Frequency How many times a…</a:t>
            </a:r>
          </a:p>
          <a:p xmlns:a="http://schemas.openxmlformats.org/drawingml/2006/main">
            <a:pPr>
              <a:buNone/>
            </a:pPr>
            <a:r>
              <a:rPr lang="en-US" sz="1100"/>
              <a:t>ASK (T1/3/5): Where does “Frequency”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2.2, slide 11 | VOCAB</a:t>
            </a:r>
          </a:p>
          <a:p xmlns:a="http://schemas.openxmlformats.org/drawingml/2006/main">
            <a:pPr>
              <a:buNone/>
            </a:pPr>
            <a:r>
              <a:rPr lang="en-US" sz="1100"/>
              <a:t>Focus on the existing task: Vocabulary 4 of 6 Interval A range of numbers…</a:t>
            </a:r>
          </a:p>
          <a:p xmlns:a="http://schemas.openxmlformats.org/drawingml/2006/main">
            <a:pPr>
              <a:buNone/>
            </a:pPr>
            <a:r>
              <a:rPr lang="en-US" sz="1100"/>
              <a:t>ASK (T1/3/5): Where does “Interval”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2.2, slide 12 | VOCAB</a:t>
            </a:r>
          </a:p>
          <a:p xmlns:a="http://schemas.openxmlformats.org/drawingml/2006/main">
            <a:pPr>
              <a:buNone/>
            </a:pPr>
            <a:r>
              <a:rPr lang="en-US" sz="1100"/>
              <a:t>Focus on the existing task: Vocabulary 5 of 6 Distribution How the data is…</a:t>
            </a:r>
          </a:p>
          <a:p xmlns:a="http://schemas.openxmlformats.org/drawingml/2006/main">
            <a:pPr>
              <a:buNone/>
            </a:pPr>
            <a:r>
              <a:rPr lang="en-US" sz="1100"/>
              <a:t>ASK (T1/3/5): Where does “Distribution”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2.2, slide 13 | VOCAB</a:t>
            </a:r>
          </a:p>
          <a:p xmlns:a="http://schemas.openxmlformats.org/drawingml/2006/main">
            <a:pPr>
              <a:buNone/>
            </a:pPr>
            <a:r>
              <a:rPr lang="en-US" sz="1100"/>
              <a:t>Focus on the existing task: Vocabulary 6 of 6 Variability How spread out…</a:t>
            </a:r>
          </a:p>
          <a:p xmlns:a="http://schemas.openxmlformats.org/drawingml/2006/main">
            <a:pPr>
              <a:buNone/>
            </a:pPr>
            <a:r>
              <a:rPr lang="en-US" sz="1100"/>
              <a:t>ASK (T1/3/5): Where does “Variability”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2.2, slide 23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use equal-width intervals; count each value once; interpret frequency and distribution.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2.2, slide 24 | REVEAL</a:t>
            </a:r>
          </a:p>
          <a:p xmlns:a="http://schemas.openxmlformats.org/drawingml/2006/main">
            <a:pPr>
              <a:buNone/>
            </a:pPr>
            <a:r>
              <a:rPr lang="en-US" sz="1100"/>
              <a:t>Focus on the existing task: What does the data in the table represent?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count each value once. Ask which feature of their work supports the claim.</a:t>
            </a:r>
          </a:p>
          <a:p xmlns:a="http://schemas.openxmlformats.org/drawingml/2006/main">
            <a:pPr>
              <a:buNone/>
            </a:pPr>
            <a:r>
              <a:rPr lang="en-US" sz="1100"/>
              <a:t>RESPOND: If this task shows the lesson misconception—reading a bar height as an individual data value—trace each original value into its interval and label both axes.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2.2, slide 25 | REVEAL</a:t>
            </a:r>
          </a:p>
          <a:p xmlns:a="http://schemas.openxmlformats.org/drawingml/2006/main">
            <a:pPr>
              <a:buNone/>
            </a:pPr>
            <a:r>
              <a:rPr lang="en-US" sz="1100"/>
              <a:t>Focus on the existing task: How can you group the students’ times to make the data easier to understand and interpret?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equal-width intervals. Ask which feature of their work supports the claim.</a:t>
            </a:r>
          </a:p>
          <a:p xmlns:a="http://schemas.openxmlformats.org/drawingml/2006/main">
            <a:pPr>
              <a:buNone/>
            </a:pPr>
            <a:r>
              <a:rPr lang="en-US" sz="1100"/>
              <a:t>RESPOND: If this task shows the lesson misconception—reading a bar height as an individual data value—trace each original value into its interval and label both axes.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2.2, slide 26 | REVEAL</a:t>
            </a:r>
          </a:p>
          <a:p xmlns:a="http://schemas.openxmlformats.org/drawingml/2006/main">
            <a:pPr>
              <a:buNone/>
            </a:pPr>
            <a:r>
              <a:rPr lang="en-US" sz="1100"/>
              <a:t>Focus on the existing task: How can you determine which interval is the most common?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equal-width intervals. Ask which feature of their work supports the claim.</a:t>
            </a:r>
          </a:p>
          <a:p xmlns:a="http://schemas.openxmlformats.org/drawingml/2006/main">
            <a:pPr>
              <a:buNone/>
            </a:pPr>
            <a:r>
              <a:rPr lang="en-US" sz="1100"/>
              <a:t>RESPOND: If this task shows the lesson misconception—reading a bar height as an individual data value—trace each original value into its interval and label both axes.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2.2, slide 35 | PRIOR_INSERT</a:t>
            </a:r>
          </a:p>
          <a:p xmlns:a="http://schemas.openxmlformats.org/drawingml/2006/main">
            <a:pPr>
              <a:buNone/>
            </a:pPr>
            <a:r>
              <a:rPr lang="en-US" sz="1100"/>
              <a:t>Focus on the existing task: LESSON 2.2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use equal-width intervals; count each value once; interpret frequency and distribution.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2.2, slide 36 | REVEAL</a:t>
            </a:r>
          </a:p>
          <a:p xmlns:a="http://schemas.openxmlformats.org/drawingml/2006/main">
            <a:pPr>
              <a:buNone/>
            </a:pPr>
            <a:r>
              <a:rPr lang="en-US" sz="1100"/>
              <a:t>Focus on the existing task: How can you display the data?</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equal-width intervals. Ask which feature of their work supports the claim.</a:t>
            </a:r>
          </a:p>
          <a:p xmlns:a="http://schemas.openxmlformats.org/drawingml/2006/main">
            <a:pPr>
              <a:buNone/>
            </a:pPr>
            <a:r>
              <a:rPr lang="en-US" sz="1100"/>
              <a:t>RESPOND: If this task shows the lesson misconception—reading a bar height as an individual data value—trace each original value into its interval and label both axes.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2.2, slide 37 | REVEAL</a:t>
            </a:r>
          </a:p>
          <a:p xmlns:a="http://schemas.openxmlformats.org/drawingml/2006/main">
            <a:pPr>
              <a:buNone/>
            </a:pPr>
            <a:r>
              <a:rPr lang="en-US" sz="1100"/>
              <a:t>Focus on the existing task: What intervals could you use?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use equal-width intervals. Ask which feature of their work supports the claim.</a:t>
            </a:r>
          </a:p>
          <a:p xmlns:a="http://schemas.openxmlformats.org/drawingml/2006/main">
            <a:pPr>
              <a:buNone/>
            </a:pPr>
            <a:r>
              <a:rPr lang="en-US" sz="1100"/>
              <a:t>RESPOND: If this task shows the lesson misconception—reading a bar height as an individual data value—trace each original value into its interval and label both axes.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2.2, slide 41 | PRIOR_INSERT</a:t>
            </a:r>
          </a:p>
          <a:p xmlns:a="http://schemas.openxmlformats.org/drawingml/2006/main">
            <a:pPr>
              <a:buNone/>
            </a:pPr>
            <a:r>
              <a:rPr lang="en-US" sz="1100"/>
              <a:t>Focus on the existing task: LESSON 2.2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use equal-width intervals; count each value once; interpret frequency and distribution.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 name="Google Shape;2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1" name="Google Shape;31;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2" name="Google Shape;32;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5" name="Google Shape;3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36" name="Google Shape;36;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7" name="Google Shape;37;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8" name="Google Shape;38;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1" name="Google Shape;4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 name="Google Shape;43;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4" name="Google Shape;44;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5" name="Google Shape;45;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9"/>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8" name="Google Shape;4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9" name="Google Shape;4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0" name="Google Shape;5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1" name="Google Shape;5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3" name="Google Shape;53;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4" name="Google Shape;54;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7" name="Google Shape;57;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9" name="Google Shape;59;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8" name="Google Shape;98;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9" name="Google Shape;99;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0" name="Shape 10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1" name="Shape 101"/>
        <p:cNvGrpSpPr/>
        <p:nvPr/>
      </p:nvGrpSpPr>
      <p:grpSpPr>
        <a:xfrm>
          <a:off x="0" y="0"/>
          <a:ext cx="0" cy="0"/>
          <a:chOff x="0" y="0"/>
          <a:chExt cx="0" cy="0"/>
        </a:xfrm>
      </p:grpSpPr>
      <p:sp>
        <p:nvSpPr>
          <p:cNvPr id="102" name="Google Shape;102;p1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3" name="Google Shape;10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5" name="Google Shape;105;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6" name="Google Shape;106;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9" name="Google Shape;10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0" name="Google Shape;110;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1" name="Google Shape;111;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2" name="Google Shape;112;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2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5" name="Google Shape;11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8" name="Google Shape;118;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9" name="Google Shape;119;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2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2" name="Google Shape;12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3" name="Google Shape;12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 name="Google Shape;12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5" name="Google Shape;12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6" name="Google Shape;126;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7" name="Google Shape;127;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8" name="Google Shape;128;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2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1" name="Google Shape;131;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4" name="Shape 134"/>
        <p:cNvGrpSpPr/>
        <p:nvPr/>
      </p:nvGrpSpPr>
      <p:grpSpPr>
        <a:xfrm>
          <a:off x="0" y="0"/>
          <a:ext cx="0" cy="0"/>
          <a:chOff x="0" y="0"/>
          <a:chExt cx="0" cy="0"/>
        </a:xfrm>
      </p:grpSpPr>
      <p:sp>
        <p:nvSpPr>
          <p:cNvPr id="135" name="Google Shape;13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 name="Google Shape;13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7" name="Google Shape;13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8" name="Google Shape;138;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9" name="Google Shape;139;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0" name="Google Shape;140;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1" name="Shape 141"/>
        <p:cNvGrpSpPr/>
        <p:nvPr/>
      </p:nvGrpSpPr>
      <p:grpSpPr>
        <a:xfrm>
          <a:off x="0" y="0"/>
          <a:ext cx="0" cy="0"/>
          <a:chOff x="0" y="0"/>
          <a:chExt cx="0" cy="0"/>
        </a:xfrm>
      </p:grpSpPr>
      <p:sp>
        <p:nvSpPr>
          <p:cNvPr id="142" name="Google Shape;14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3" name="Google Shape;143;p25"/>
          <p:cNvSpPr/>
          <p:nvPr>
            <p:ph idx="2" type="pic"/>
          </p:nvPr>
        </p:nvSpPr>
        <p:spPr>
          <a:xfrm>
            <a:off x="5183188" y="987425"/>
            <a:ext cx="6172200" cy="4873625"/>
          </a:xfrm>
          <a:prstGeom prst="rect">
            <a:avLst/>
          </a:prstGeom>
          <a:noFill/>
          <a:ln>
            <a:noFill/>
          </a:ln>
        </p:spPr>
      </p:sp>
      <p:sp>
        <p:nvSpPr>
          <p:cNvPr id="144" name="Google Shape;14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5" name="Google Shape;145;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6" name="Google Shape;146;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7" name="Google Shape;147;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2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0" name="Google Shape;15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2" name="Google Shape;152;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3" name="Google Shape;153;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sp>
        <p:nvSpPr>
          <p:cNvPr id="155" name="Google Shape;155;p2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6" name="Google Shape;15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8" name="Google Shape;158;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9" name="Google Shape;159;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5" name="Shape 16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6" name="Shape 166"/>
        <p:cNvGrpSpPr/>
        <p:nvPr/>
      </p:nvGrpSpPr>
      <p:grpSpPr>
        <a:xfrm>
          <a:off x="0" y="0"/>
          <a:ext cx="0" cy="0"/>
          <a:chOff x="0" y="0"/>
          <a:chExt cx="0" cy="0"/>
        </a:xfrm>
      </p:grpSpPr>
      <p:sp>
        <p:nvSpPr>
          <p:cNvPr id="167" name="Google Shape;167;p3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8" name="Google Shape;168;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3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0" name="Google Shape;170;p3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1" name="Google Shape;171;p3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4" name="Google Shape;174;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5" name="Google Shape;175;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6" name="Google Shape;176;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7" name="Google Shape;177;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8" name="Shape 178"/>
        <p:cNvGrpSpPr/>
        <p:nvPr/>
      </p:nvGrpSpPr>
      <p:grpSpPr>
        <a:xfrm>
          <a:off x="0" y="0"/>
          <a:ext cx="0" cy="0"/>
          <a:chOff x="0" y="0"/>
          <a:chExt cx="0" cy="0"/>
        </a:xfrm>
      </p:grpSpPr>
      <p:sp>
        <p:nvSpPr>
          <p:cNvPr id="179" name="Google Shape;179;p3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0" name="Google Shape;180;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 name="Google Shape;181;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 name="Google Shape;182;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3" name="Google Shape;183;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4" name="Google Shape;184;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5" name="Shape 185"/>
        <p:cNvGrpSpPr/>
        <p:nvPr/>
      </p:nvGrpSpPr>
      <p:grpSpPr>
        <a:xfrm>
          <a:off x="0" y="0"/>
          <a:ext cx="0" cy="0"/>
          <a:chOff x="0" y="0"/>
          <a:chExt cx="0" cy="0"/>
        </a:xfrm>
      </p:grpSpPr>
      <p:sp>
        <p:nvSpPr>
          <p:cNvPr id="186" name="Google Shape;186;p3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7" name="Google Shape;187;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88" name="Google Shape;188;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 name="Google Shape;189;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0" name="Google Shape;190;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 name="Google Shape;191;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2" name="Google Shape;192;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3" name="Google Shape;193;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4" name="Shape 194"/>
        <p:cNvGrpSpPr/>
        <p:nvPr/>
      </p:nvGrpSpPr>
      <p:grpSpPr>
        <a:xfrm>
          <a:off x="0" y="0"/>
          <a:ext cx="0" cy="0"/>
          <a:chOff x="0" y="0"/>
          <a:chExt cx="0" cy="0"/>
        </a:xfrm>
      </p:grpSpPr>
      <p:sp>
        <p:nvSpPr>
          <p:cNvPr id="195" name="Google Shape;195;p3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6" name="Google Shape;196;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7" name="Google Shape;197;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8" name="Google Shape;198;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9" name="Shape 199"/>
        <p:cNvGrpSpPr/>
        <p:nvPr/>
      </p:nvGrpSpPr>
      <p:grpSpPr>
        <a:xfrm>
          <a:off x="0" y="0"/>
          <a:ext cx="0" cy="0"/>
          <a:chOff x="0" y="0"/>
          <a:chExt cx="0" cy="0"/>
        </a:xfrm>
      </p:grpSpPr>
      <p:sp>
        <p:nvSpPr>
          <p:cNvPr id="200" name="Google Shape;200;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1" name="Google Shape;201;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2" name="Google Shape;202;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3" name="Shape 203"/>
        <p:cNvGrpSpPr/>
        <p:nvPr/>
      </p:nvGrpSpPr>
      <p:grpSpPr>
        <a:xfrm>
          <a:off x="0" y="0"/>
          <a:ext cx="0" cy="0"/>
          <a:chOff x="0" y="0"/>
          <a:chExt cx="0" cy="0"/>
        </a:xfrm>
      </p:grpSpPr>
      <p:sp>
        <p:nvSpPr>
          <p:cNvPr id="204" name="Google Shape;204;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5" name="Google Shape;205;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6" name="Google Shape;206;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07" name="Google Shape;207;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8" name="Google Shape;208;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9" name="Google Shape;209;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0" name="Shape 210"/>
        <p:cNvGrpSpPr/>
        <p:nvPr/>
      </p:nvGrpSpPr>
      <p:grpSpPr>
        <a:xfrm>
          <a:off x="0" y="0"/>
          <a:ext cx="0" cy="0"/>
          <a:chOff x="0" y="0"/>
          <a:chExt cx="0" cy="0"/>
        </a:xfrm>
      </p:grpSpPr>
      <p:sp>
        <p:nvSpPr>
          <p:cNvPr id="211" name="Google Shape;211;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2" name="Google Shape;212;p37"/>
          <p:cNvSpPr/>
          <p:nvPr>
            <p:ph idx="2" type="pic"/>
          </p:nvPr>
        </p:nvSpPr>
        <p:spPr>
          <a:xfrm>
            <a:off x="5183188" y="987425"/>
            <a:ext cx="6172200" cy="4873625"/>
          </a:xfrm>
          <a:prstGeom prst="rect">
            <a:avLst/>
          </a:prstGeom>
          <a:noFill/>
          <a:ln>
            <a:noFill/>
          </a:ln>
        </p:spPr>
      </p:sp>
      <p:sp>
        <p:nvSpPr>
          <p:cNvPr id="213" name="Google Shape;213;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4" name="Google Shape;214;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5" name="Google Shape;215;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6" name="Google Shape;216;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3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9" name="Google Shape;219;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0" name="Google Shape;220;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1" name="Google Shape;221;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2" name="Google Shape;222;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3" name="Shape 223"/>
        <p:cNvGrpSpPr/>
        <p:nvPr/>
      </p:nvGrpSpPr>
      <p:grpSpPr>
        <a:xfrm>
          <a:off x="0" y="0"/>
          <a:ext cx="0" cy="0"/>
          <a:chOff x="0" y="0"/>
          <a:chExt cx="0" cy="0"/>
        </a:xfrm>
      </p:grpSpPr>
      <p:sp>
        <p:nvSpPr>
          <p:cNvPr id="224" name="Google Shape;224;p39"/>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5" name="Google Shape;225;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6" name="Google Shape;226;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7" name="Google Shape;227;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8" name="Google Shape;228;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2.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22" name="Google Shape;22;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3" name="Google Shape;23;p4"/>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Represent and Describe Data in a Histogram</a:t>
            </a:r>
            <a:endParaRPr b="0" i="0" sz="1400" u="none" cap="none" strike="noStrike">
              <a:solidFill>
                <a:srgbClr val="000000"/>
              </a:solidFill>
              <a:latin typeface="Arial"/>
              <a:ea typeface="Arial"/>
              <a:cs typeface="Arial"/>
              <a:sym typeface="Arial"/>
            </a:endParaRPr>
          </a:p>
        </p:txBody>
      </p:sp>
      <p:sp>
        <p:nvSpPr>
          <p:cNvPr id="24" name="Google Shape;24;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25" name="Google Shape;25;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2" name="Google Shape;92;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93" name="Google Shape;93;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
        <p:nvSpPr>
          <p:cNvPr id="94" name="Google Shape;94;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5" name="Google Shape;95;p16"/>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Represent and Describe Data in a Histogram</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62" name="Google Shape;162;p28"/>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164" name="Google Shape;164;p28"/>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6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6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6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7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7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8.jp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 Id="rId3" Type="http://schemas.openxmlformats.org/officeDocument/2006/relationships/image" Target="../media/image21.pn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1.png"/><Relationship Id="rId3" Type="http://schemas.openxmlformats.org/officeDocument/2006/relationships/image" Target="../media/image9.png"/><Relationship Id="rId4" Type="http://schemas.openxmlformats.org/officeDocument/2006/relationships/notesSlide" Target="../notesSlides/notesSlide7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9.png"/><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2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2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2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9"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60"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2-2 · Represent and Describe Data in a Histogram   |   Warm-Up · about 4 minutes</a:t>
            </a:r>
          </a:p>
        </p:txBody>
      </p:sp>
      <p:sp>
        <p:nvSpPr>
          <p:cNvPr id="261"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262"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63"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66"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Which interval holds 19: 10-19 or 20-29? ______</a:t>
            </a:r>
          </a:p>
        </p:txBody>
      </p:sp>
      <p:sp>
        <p:nvSpPr>
          <p:cNvPr id="267"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70"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How many of 3, 8, 12, 15, 21 land in 10-19? ______</a:t>
            </a:r>
          </a:p>
        </p:txBody>
      </p:sp>
      <p:sp>
        <p:nvSpPr>
          <p:cNvPr id="271"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74"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6 + 9 + 4 + 11 = ______</a:t>
            </a:r>
          </a:p>
        </p:txBody>
      </p:sp>
      <p:sp>
        <p:nvSpPr>
          <p:cNvPr id="275"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78"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A scale counts by 5. A bar reaches line 4. Height = ______</a:t>
            </a:r>
          </a:p>
        </p:txBody>
      </p:sp>
      <p:sp>
        <p:nvSpPr>
          <p:cNvPr id="279"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80"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8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46</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5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4" name="Google Shape;484;p52"/>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5" name="Google Shape;485;p5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486" name="Google Shape;486;p5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2-2 · Represent and Describe Data in a Histogram</a:t>
            </a:r>
            <a:endParaRPr/>
          </a:p>
        </p:txBody>
      </p:sp>
      <p:sp>
        <p:nvSpPr>
          <p:cNvPr id="487" name="Google Shape;487;p5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8" name="Google Shape;488;p5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489" name="Google Shape;489;p52"/>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1: Math Words</a:t>
            </a:r>
            <a:endParaRPr/>
          </a:p>
        </p:txBody>
      </p:sp>
      <p:sp>
        <p:nvSpPr>
          <p:cNvPr id="490" name="Google Shape;490;p52"/>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1" name="Google Shape;491;p52"/>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492" name="Google Shape;492;p52"/>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3" name="Google Shape;493;p52"/>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4" name="Google Shape;494;p52"/>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495" name="Google Shape;495;p52"/>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Display Data with Histograms</a:t>
            </a:r>
            <a:endParaRPr/>
          </a:p>
        </p:txBody>
      </p:sp>
      <p:sp>
        <p:nvSpPr>
          <p:cNvPr id="496" name="Google Shape;496;p52"/>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Group </a:t>
            </a:r>
            <a:r>
              <a:rPr b="1" i="0" lang="en-US" sz="1450" u="none" cap="none" strike="noStrike">
                <a:solidFill>
                  <a:srgbClr val="475569"/>
                </a:solidFill>
                <a:latin typeface="Arial"/>
                <a:ea typeface="Arial"/>
                <a:cs typeface="Arial"/>
                <a:sym typeface="Arial"/>
              </a:rPr>
              <a:t xml:space="preserve">numerical data</a:t>
            </a:r>
            <a:r>
              <a:rPr b="0" i="0" lang="en-US" sz="1450" u="none" cap="none" strike="noStrike">
                <a:solidFill>
                  <a:srgbClr val="475569"/>
                </a:solidFill>
                <a:latin typeface="Arial"/>
                <a:ea typeface="Arial"/>
                <a:cs typeface="Arial"/>
                <a:sym typeface="Arial"/>
              </a:rPr>
              <a:t xml:space="preserve"> into intervals and show each </a:t>
            </a:r>
            <a:r>
              <a:rPr b="1" i="0" lang="en-US" sz="1450" u="none" cap="none" strike="noStrike">
                <a:solidFill>
                  <a:srgbClr val="475569"/>
                </a:solidFill>
                <a:latin typeface="Arial"/>
                <a:ea typeface="Arial"/>
                <a:cs typeface="Arial"/>
                <a:sym typeface="Arial"/>
              </a:rPr>
              <a:t xml:space="preserve">interval</a:t>
            </a:r>
            <a:r>
              <a:rPr b="0" i="0" lang="en-US" sz="1450" u="none" cap="none" strike="noStrike">
                <a:solidFill>
                  <a:srgbClr val="475569"/>
                </a:solidFill>
                <a:latin typeface="Arial"/>
                <a:ea typeface="Arial"/>
                <a:cs typeface="Arial"/>
                <a:sym typeface="Arial"/>
              </a:rPr>
              <a:t xml:space="preserve">’s frequency</a:t>
            </a:r>
            <a:endParaRPr/>
          </a:p>
        </p:txBody>
      </p:sp>
      <p:sp>
        <p:nvSpPr>
          <p:cNvPr id="497" name="Google Shape;497;p52"/>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8" name="Google Shape;498;p52"/>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9" name="Google Shape;499;p52"/>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00" name="Google Shape;500;p52"/>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Histogram</a:t>
            </a:r>
            <a:endParaRPr/>
          </a:p>
        </p:txBody>
      </p:sp>
      <p:sp>
        <p:nvSpPr>
          <p:cNvPr id="501" name="Google Shape;501;p52"/>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A </a:t>
            </a:r>
            <a:r>
              <a:rPr b="1" i="0" lang="en-US" sz="1450" u="none" cap="none" strike="noStrike">
                <a:solidFill>
                  <a:srgbClr val="475569"/>
                </a:solidFill>
                <a:latin typeface="Arial"/>
                <a:ea typeface="Arial"/>
                <a:cs typeface="Arial"/>
                <a:sym typeface="Arial"/>
              </a:rPr>
              <a:t xml:space="preserve">bar graph</a:t>
            </a:r>
            <a:r>
              <a:rPr b="0" i="0" lang="en-US" sz="1450" u="none" cap="none" strike="noStrike">
                <a:solidFill>
                  <a:srgbClr val="475569"/>
                </a:solidFill>
                <a:latin typeface="Arial"/>
                <a:ea typeface="Arial"/>
                <a:cs typeface="Arial"/>
                <a:sym typeface="Arial"/>
              </a:rPr>
              <a:t xml:space="preserve"> that groups data into equal ranges</a:t>
            </a:r>
            <a:endParaRPr/>
          </a:p>
        </p:txBody>
      </p:sp>
      <p:sp>
        <p:nvSpPr>
          <p:cNvPr id="502" name="Google Shape;502;p52"/>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3" name="Google Shape;503;p52"/>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4" name="Google Shape;504;p52"/>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05" name="Google Shape;505;p52"/>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Frequency</a:t>
            </a:r>
            <a:endParaRPr/>
          </a:p>
        </p:txBody>
      </p:sp>
      <p:sp>
        <p:nvSpPr>
          <p:cNvPr id="506" name="Google Shape;506;p52"/>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How many times a value shows up</a:t>
            </a:r>
            <a:endParaRPr/>
          </a:p>
        </p:txBody>
      </p:sp>
      <p:sp>
        <p:nvSpPr>
          <p:cNvPr id="50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 / 46</a:t>
            </a:r>
          </a:p>
        </p:txBody>
      </p:sp>
      <p:grpSp>
        <p:nvGrpSpPr>
          <p:cNvPr id="508" name="TEACH-1-student-move" descr="TEACH 1 · Facilitate clear, standards-based content learning"/>
          <p:cNvGrpSpPr/>
          <p:nvPr/>
        </p:nvGrpSpPr>
        <p:grpSpPr>
          <a:xfrm>
            <a:off x="6187440" y="1682496"/>
            <a:ext cx="5501640" cy="594360"/>
            <a:chOff x="6187440" y="1682496"/>
            <a:chExt cx="5501640" cy="594360"/>
          </a:xfrm>
        </p:grpSpPr>
        <p:sp>
          <p:nvSpPr>
            <p:cNvPr id="509"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10"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11"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2" name="Google Shape;512;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3" name="Google Shape;513;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14" name="Google Shape;514;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2-2 · Represent and Describe Data in a Histogram</a:t>
            </a:r>
            <a:endParaRPr/>
          </a:p>
        </p:txBody>
      </p:sp>
      <p:sp>
        <p:nvSpPr>
          <p:cNvPr id="515" name="Google Shape;515;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6" name="Google Shape;516;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17" name="Google Shape;517;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2: Today’s Math</a:t>
            </a:r>
            <a:endParaRPr/>
          </a:p>
        </p:txBody>
      </p:sp>
      <p:sp>
        <p:nvSpPr>
          <p:cNvPr id="518" name="Google Shape;518;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9" name="Google Shape;519;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0" name="Google Shape;520;p53"/>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2700" u="none" cap="none" strike="noStrike">
                <a:solidFill>
                  <a:srgbClr val="14223A"/>
                </a:solidFill>
                <a:latin typeface="Arial"/>
                <a:ea typeface="Arial"/>
                <a:cs typeface="Arial"/>
                <a:sym typeface="Arial"/>
              </a:rPr>
              <a:t>Histograms &amp; Frequency Distributions</a:t>
            </a:r>
            <a:endParaRPr/>
          </a:p>
        </p:txBody>
      </p:sp>
      <p:sp>
        <p:nvSpPr>
          <p:cNvPr id="522" name="Google Shape;522;p53"/>
          <p:cNvSpPr/>
          <p:nvPr/>
        </p:nvSpPr>
        <p:spPr>
          <a:xfrm>
            <a:off x="640080" y="3182112"/>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3" name="Google Shape;523;p53"/>
          <p:cNvSpPr/>
          <p:nvPr/>
        </p:nvSpPr>
        <p:spPr>
          <a:xfrm>
            <a:off x="896112" y="346557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524" name="Google Shape;524;p53"/>
          <p:cNvSpPr txBox="1"/>
          <p:nvPr/>
        </p:nvSpPr>
        <p:spPr>
          <a:xfrm>
            <a:off x="1371600" y="3264408"/>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0" i="0" lang="en-US" sz="1600" u="none" cap="none" strike="noStrike">
                <a:solidFill>
                  <a:srgbClr val="14223A"/>
                </a:solidFill>
                <a:latin typeface="Arial"/>
                <a:ea typeface="Arial"/>
                <a:cs typeface="Arial"/>
                <a:sym typeface="Arial"/>
              </a:rPr>
              <a:t xml:space="preserve">Set equal intervals along the </a:t>
            </a:r>
            <a:r>
              <a:rPr b="1" i="0" lang="en-US" sz="1600" u="none" cap="none" strike="noStrike">
                <a:solidFill>
                  <a:srgbClr val="14223A"/>
                </a:solidFill>
                <a:latin typeface="Arial"/>
                <a:ea typeface="Arial"/>
                <a:cs typeface="Arial"/>
                <a:sym typeface="Arial"/>
              </a:rPr>
              <a:t xml:space="preserve">horizontal axis</a:t>
            </a:r>
            <a:r>
              <a:rPr b="0" i="0" lang="en-US" sz="1600" u="none" cap="none" strike="noStrike">
                <a:solidFill>
                  <a:srgbClr val="14223A"/>
                </a:solidFill>
                <a:latin typeface="Arial"/>
                <a:ea typeface="Arial"/>
                <a:cs typeface="Arial"/>
                <a:sym typeface="Arial"/>
              </a:rPr>
              <a:t xml:space="preserve"> with no gaps</a:t>
            </a:r>
            <a:endParaRPr/>
          </a:p>
        </p:txBody>
      </p:sp>
      <p:sp>
        <p:nvSpPr>
          <p:cNvPr id="525" name="Google Shape;525;p53"/>
          <p:cNvSpPr/>
          <p:nvPr/>
        </p:nvSpPr>
        <p:spPr>
          <a:xfrm>
            <a:off x="640080" y="4224528"/>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6" name="Google Shape;526;p53"/>
          <p:cNvSpPr/>
          <p:nvPr/>
        </p:nvSpPr>
        <p:spPr>
          <a:xfrm>
            <a:off x="896112" y="450799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527" name="Google Shape;527;p53"/>
          <p:cNvSpPr txBox="1"/>
          <p:nvPr/>
        </p:nvSpPr>
        <p:spPr>
          <a:xfrm>
            <a:off x="1371600" y="4306824"/>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0" i="0" lang="en-US" sz="1600" u="none" cap="none" strike="noStrike">
                <a:solidFill>
                  <a:srgbClr val="14223A"/>
                </a:solidFill>
                <a:latin typeface="Arial"/>
                <a:ea typeface="Arial"/>
                <a:cs typeface="Arial"/>
                <a:sym typeface="Arial"/>
              </a:rPr>
              <a:t xml:space="preserve">Count the </a:t>
            </a:r>
            <a:r>
              <a:rPr b="1" i="0" lang="en-US" sz="1600" u="none" cap="none" strike="noStrike">
                <a:solidFill>
                  <a:srgbClr val="14223A"/>
                </a:solidFill>
                <a:latin typeface="Arial"/>
                <a:ea typeface="Arial"/>
                <a:cs typeface="Arial"/>
                <a:sym typeface="Arial"/>
              </a:rPr>
              <a:t xml:space="preserve">frequency</a:t>
            </a:r>
            <a:r>
              <a:rPr b="0" i="0" lang="en-US" sz="1600" u="none" cap="none" strike="noStrike">
                <a:solidFill>
                  <a:srgbClr val="14223A"/>
                </a:solidFill>
                <a:latin typeface="Arial"/>
                <a:ea typeface="Arial"/>
                <a:cs typeface="Arial"/>
                <a:sym typeface="Arial"/>
              </a:rPr>
              <a:t xml:space="preserve"> (how many data values fall into each </a:t>
            </a:r>
            <a:r>
              <a:rPr b="1" i="0" lang="en-US" sz="1600" u="none" cap="none" strike="noStrike">
                <a:solidFill>
                  <a:srgbClr val="14223A"/>
                </a:solidFill>
                <a:latin typeface="Arial"/>
                <a:ea typeface="Arial"/>
                <a:cs typeface="Arial"/>
                <a:sym typeface="Arial"/>
              </a:rPr>
              <a:t xml:space="preserve">interval</a:t>
            </a:r>
            <a:r>
              <a:rPr b="0" i="0" lang="en-US" sz="1600" u="none" cap="none" strike="noStrike">
                <a:solidFill>
                  <a:srgbClr val="14223A"/>
                </a:solidFill>
                <a:latin typeface="Arial"/>
                <a:ea typeface="Arial"/>
                <a:cs typeface="Arial"/>
                <a:sym typeface="Arial"/>
              </a:rPr>
              <a:t xml:space="preserve">)</a:t>
            </a:r>
            <a:endParaRPr/>
          </a:p>
        </p:txBody>
      </p:sp>
      <p:sp>
        <p:nvSpPr>
          <p:cNvPr id="528" name="Google Shape;528;p53"/>
          <p:cNvSpPr/>
          <p:nvPr/>
        </p:nvSpPr>
        <p:spPr>
          <a:xfrm>
            <a:off x="640080" y="5266944"/>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9" name="Google Shape;529;p53"/>
          <p:cNvSpPr/>
          <p:nvPr/>
        </p:nvSpPr>
        <p:spPr>
          <a:xfrm>
            <a:off x="896112" y="555040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530" name="Google Shape;530;p53"/>
          <p:cNvSpPr txBox="1"/>
          <p:nvPr/>
        </p:nvSpPr>
        <p:spPr>
          <a:xfrm>
            <a:off x="1371600" y="5349240"/>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0" i="0" lang="en-US" sz="1600" u="none" cap="none" strike="noStrike">
                <a:solidFill>
                  <a:srgbClr val="14223A"/>
                </a:solidFill>
                <a:latin typeface="Arial"/>
                <a:ea typeface="Arial"/>
                <a:cs typeface="Arial"/>
                <a:sym typeface="Arial"/>
              </a:rPr>
              <a:t>Draw adjacent bars with heights equal to frequency</a:t>
            </a:r>
            <a:endParaRPr/>
          </a:p>
        </p:txBody>
      </p:sp>
      <p:sp>
        <p:nvSpPr>
          <p:cNvPr id="53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46</a:t>
            </a:r>
          </a:p>
        </p:txBody>
      </p:sp>
      <p:grpSp>
        <p:nvGrpSpPr>
          <p:cNvPr id="532" name="TEACH-1-student-move" descr="TEACH 1 · Facilitate clear, standards-based content learning"/>
          <p:cNvGrpSpPr/>
          <p:nvPr/>
        </p:nvGrpSpPr>
        <p:grpSpPr>
          <a:xfrm>
            <a:off x="502920" y="5111496"/>
            <a:ext cx="11186160" cy="402336"/>
            <a:chOff x="502920" y="5111496"/>
            <a:chExt cx="11186160" cy="402336"/>
          </a:xfrm>
        </p:grpSpPr>
        <p:sp>
          <p:nvSpPr>
            <p:cNvPr id="533" name="TEACH-move-card"/>
            <p:cNvSpPr/>
            <p:nvPr/>
          </p:nvSpPr>
          <p:spPr>
            <a:xfrm>
              <a:off x="502920" y="5111496"/>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534" name="TEACH-move-rule"/>
            <p:cNvSpPr/>
            <p:nvPr/>
          </p:nvSpPr>
          <p:spPr>
            <a:xfrm>
              <a:off x="548640" y="5187940"/>
              <a:ext cx="100584" cy="249448"/>
            </a:xfrm>
            <a:prstGeom prst="roundRect">
              <a:avLst>
                <a:gd name="adj" fmla="val 50000"/>
              </a:avLst>
            </a:prstGeom>
            <a:solidFill>
              <a:srgbClr val="01708C"/>
            </a:solidFill>
            <a:ln>
              <a:noFill/>
            </a:ln>
          </p:spPr>
          <p:txBody>
            <a:bodyPr/>
            <a:lstStyle/>
            <a:p>
              <a:endParaRPr/>
            </a:p>
          </p:txBody>
        </p:sp>
        <p:sp>
          <p:nvSpPr>
            <p:cNvPr id="535" name="TEACH-move-text"/>
            <p:cNvSpPr txBox="1"/>
            <p:nvPr/>
          </p:nvSpPr>
          <p:spPr>
            <a:xfrm>
              <a:off x="822960" y="5111496"/>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0"/>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Represent and Describe Data in a Histogram</a:t>
            </a:r>
            <a:endParaRPr b="0" i="0" sz="1400" u="none" cap="none" strike="noStrike">
              <a:solidFill>
                <a:srgbClr val="000000"/>
              </a:solidFill>
              <a:latin typeface="Arial"/>
              <a:ea typeface="Arial"/>
              <a:cs typeface="Arial"/>
              <a:sym typeface="Arial"/>
            </a:endParaRPr>
          </a:p>
        </p:txBody>
      </p:sp>
      <p:sp>
        <p:nvSpPr>
          <p:cNvPr id="234" name="Google Shape;234;p40"/>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782DA0"/>
                </a:solidFill>
                <a:latin typeface="Arial"/>
                <a:ea typeface="Arial"/>
                <a:cs typeface="Arial"/>
                <a:sym typeface="Arial"/>
              </a:rPr>
              <a:t>Session 1</a:t>
            </a:r>
            <a:endParaRPr b="1" i="0" sz="2800" u="none" cap="none" strike="noStrike">
              <a:solidFill>
                <a:srgbClr val="782DA0"/>
              </a:solidFill>
              <a:latin typeface="Arial"/>
              <a:ea typeface="Arial"/>
              <a:cs typeface="Arial"/>
              <a:sym typeface="Arial"/>
            </a:endParaRPr>
          </a:p>
        </p:txBody>
      </p:sp>
      <p:cxnSp>
        <p:nvCxnSpPr>
          <p:cNvPr id="235" name="Google Shape;235;p40"/>
          <p:cNvCxnSpPr/>
          <p:nvPr/>
        </p:nvCxnSpPr>
        <p:spPr>
          <a:xfrm>
            <a:off x="-1" y="1560382"/>
            <a:ext cx="3166453" cy="0"/>
          </a:xfrm>
          <a:prstGeom prst="straightConnector1">
            <a:avLst/>
          </a:prstGeom>
          <a:noFill/>
          <a:ln cap="flat" cmpd="sng" w="19050">
            <a:solidFill>
              <a:srgbClr val="782DA0"/>
            </a:solidFill>
            <a:prstDash val="solid"/>
            <a:miter lim="80"/>
            <a:headEnd len="sm" w="sm" type="none"/>
            <a:tailEnd len="sm" w="sm" type="none"/>
          </a:ln>
        </p:spPr>
      </p:cxnSp>
      <p:sp>
        <p:nvSpPr>
          <p:cNvPr id="2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46</a:t>
            </a:r>
          </a:p>
        </p:txBody>
      </p:sp>
      <p:grpSp>
        <p:nvGrpSpPr>
          <p:cNvPr id="237" name="TEACH-6-student-move" descr="TEACH 6 · Organize and implement routines to support a learning-focused classroom"/>
          <p:cNvGrpSpPr/>
          <p:nvPr/>
        </p:nvGrpSpPr>
        <p:grpSpPr>
          <a:xfrm>
            <a:off x="502920" y="3867612"/>
            <a:ext cx="11186160" cy="731520"/>
            <a:chOff x="502920" y="3867612"/>
            <a:chExt cx="11186160" cy="731520"/>
          </a:xfrm>
        </p:grpSpPr>
        <p:sp>
          <p:nvSpPr>
            <p:cNvPr id="238" name="TEACH-move-card"/>
            <p:cNvSpPr/>
            <p:nvPr/>
          </p:nvSpPr>
          <p:spPr>
            <a:xfrm>
              <a:off x="502920" y="38676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239" name="TEACH-move-rule"/>
            <p:cNvSpPr/>
            <p:nvPr/>
          </p:nvSpPr>
          <p:spPr>
            <a:xfrm>
              <a:off x="548640" y="4006601"/>
              <a:ext cx="100584" cy="453542"/>
            </a:xfrm>
            <a:prstGeom prst="roundRect">
              <a:avLst>
                <a:gd name="adj" fmla="val 50000"/>
              </a:avLst>
            </a:prstGeom>
            <a:solidFill>
              <a:srgbClr val="01708C"/>
            </a:solidFill>
            <a:ln>
              <a:noFill/>
            </a:ln>
          </p:spPr>
          <p:txBody>
            <a:bodyPr/>
            <a:lstStyle/>
            <a:p>
              <a:endParaRPr/>
            </a:p>
          </p:txBody>
        </p:sp>
        <p:sp>
          <p:nvSpPr>
            <p:cNvPr id="240" name="TEACH-move-text"/>
            <p:cNvSpPr txBox="1"/>
            <p:nvPr/>
          </p:nvSpPr>
          <p:spPr>
            <a:xfrm>
              <a:off x="822960" y="38676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TRY IT BEFORE YOU’RE SURE  ·  </a:t>
              </a:r>
              <a:r>
                <a:rPr lang="en-US" sz="1800" dirty="0">
                  <a:solidFill>
                    <a:srgbClr val="13303A"/>
                  </a:solidFill>
                  <a:latin typeface="Arial"/>
                </a:rPr>
                <a:t>Start even if you are not sure. A revised answer counts as much as a first-try answer.</a:t>
              </a:r>
              <a:endParaRPr lang="en-US" sz="1800"/>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cxnSp>
        <p:nvCxnSpPr>
          <p:cNvPr id="240" name="Google Shape;240;p4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241" name="Google Shape;241;p41"/>
          <p:cNvSpPr txBox="1"/>
          <p:nvPr/>
        </p:nvSpPr>
        <p:spPr>
          <a:xfrm>
            <a:off x="505579" y="316034"/>
            <a:ext cx="4842276"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Give Me Five</a:t>
            </a:r>
            <a:endParaRPr b="0" i="0" sz="1400" u="none" cap="none" strike="noStrike">
              <a:solidFill>
                <a:srgbClr val="000000"/>
              </a:solidFill>
              <a:latin typeface="Arial"/>
              <a:ea typeface="Arial"/>
              <a:cs typeface="Arial"/>
              <a:sym typeface="Arial"/>
            </a:endParaRPr>
          </a:p>
        </p:txBody>
      </p:sp>
      <p:sp>
        <p:nvSpPr>
          <p:cNvPr id="242" name="Google Shape;242;p41"/>
          <p:cNvSpPr txBox="1"/>
          <p:nvPr/>
        </p:nvSpPr>
        <p:spPr>
          <a:xfrm>
            <a:off x="474054" y="936100"/>
            <a:ext cx="7711157" cy="122933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Use all the numbers in any order with any operation to equal the target number (in red). ​</a:t>
            </a:r>
            <a:endParaRPr b="0" i="0" sz="1400" u="none" cap="none" strike="noStrike">
              <a:solidFill>
                <a:srgbClr val="000000"/>
              </a:solidFill>
              <a:latin typeface="Arial"/>
              <a:ea typeface="Arial"/>
              <a:cs typeface="Arial"/>
              <a:sym typeface="Arial"/>
            </a:endParaRPr>
          </a:p>
        </p:txBody>
      </p:sp>
      <p:pic>
        <p:nvPicPr>
          <p:cNvPr id="243" name="Google Shape;243;p41"/>
          <p:cNvPicPr preferRelativeResize="0"/>
          <p:nvPr/>
        </p:nvPicPr>
        <p:blipFill rotWithShape="1">
          <a:blip r:embed="rId3">
            <a:alphaModFix/>
          </a:blip>
          <a:srcRect b="0" l="0" r="0" t="0"/>
          <a:stretch/>
        </p:blipFill>
        <p:spPr>
          <a:xfrm>
            <a:off x="1691440" y="2388360"/>
            <a:ext cx="6422231" cy="2480310"/>
          </a:xfrm>
          <a:prstGeom prst="rect">
            <a:avLst/>
          </a:prstGeom>
          <a:noFill/>
          <a:ln>
            <a:noFill/>
          </a:ln>
        </p:spPr>
      </p:pic>
      <p:sp>
        <p:nvSpPr>
          <p:cNvPr id="2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46</a:t>
            </a:r>
          </a:p>
        </p:txBody>
      </p:sp>
      <p:sp xmlns:p="http://schemas.openxmlformats.org/presentationml/2006/main" xmlns:a="http://schemas.openxmlformats.org/drawingml/2006/main">
        <p:nvSpPr>
          <p:cNvPr id="245"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4"/>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0" name="Google Shape;320;p4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Objectives</a:t>
            </a:r>
            <a:endParaRPr/>
          </a:p>
        </p:txBody>
      </p:sp>
      <p:sp>
        <p:nvSpPr>
          <p:cNvPr id="321" name="Google Shape;321;p4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2-2 · Represent and Describe Data in a Histogram</a:t>
            </a:r>
            <a:endParaRPr/>
          </a:p>
        </p:txBody>
      </p:sp>
      <p:sp>
        <p:nvSpPr>
          <p:cNvPr id="322" name="Google Shape;322;p4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3" name="Google Shape;323;p4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24" name="Google Shape;324;p44"/>
          <p:cNvSpPr txBox="1"/>
          <p:nvPr/>
        </p:nvSpPr>
        <p:spPr>
          <a:xfrm>
            <a:off x="640080" y="969264"/>
            <a:ext cx="10911809" cy="631952"/>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defRPr/>
            </a:pPr>
            <a:r>
              <a:rPr b="1" i="0" lang="en-US" sz="3800" u="none" cap="none" strike="noStrike">
                <a:solidFill>
                  <a:srgbClr val="14223A"/>
                </a:solidFill>
                <a:latin typeface="Arial"/>
                <a:ea typeface="Arial"/>
                <a:cs typeface="Arial"/>
                <a:sym typeface="Arial"/>
              </a:rPr>
              <a:t>Represent and Describe Data in a Histogram</a:t>
            </a:r>
            <a:endParaRPr/>
          </a:p>
        </p:txBody>
      </p:sp>
      <p:sp>
        <p:nvSpPr>
          <p:cNvPr id="325" name="Google Shape;325;p44"/>
          <p:cNvSpPr txBox="1"/>
          <p:nvPr/>
        </p:nvSpPr>
        <p:spPr>
          <a:xfrm>
            <a:off x="640080" y="1637792"/>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475569"/>
                </a:solidFill>
                <a:latin typeface="Arial"/>
                <a:ea typeface="Arial"/>
                <a:cs typeface="Arial"/>
                <a:sym typeface="Arial"/>
              </a:rPr>
              <a:t>Maryland Standard 6.DS.5</a:t>
            </a:r>
            <a:endParaRPr/>
          </a:p>
        </p:txBody>
      </p:sp>
      <p:sp>
        <p:nvSpPr>
          <p:cNvPr id="326" name="Google Shape;326;p44"/>
          <p:cNvSpPr/>
          <p:nvPr/>
        </p:nvSpPr>
        <p:spPr>
          <a:xfrm>
            <a:off x="640080" y="2432304"/>
            <a:ext cx="5349240" cy="3621024"/>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7" name="Google Shape;327;p44"/>
          <p:cNvSpPr/>
          <p:nvPr/>
        </p:nvSpPr>
        <p:spPr>
          <a:xfrm>
            <a:off x="640080" y="2432304"/>
            <a:ext cx="118872" cy="3621024"/>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4"/>
          <p:cNvSpPr txBox="1"/>
          <p:nvPr/>
        </p:nvSpPr>
        <p:spPr>
          <a:xfrm>
            <a:off x="1097280"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0F766E"/>
                </a:solidFill>
                <a:latin typeface="Arial"/>
                <a:ea typeface="Arial"/>
                <a:cs typeface="Arial"/>
                <a:sym typeface="Arial"/>
              </a:rPr>
              <a:t>CONTENT OBJECTIVE</a:t>
            </a:r>
            <a:endParaRPr/>
          </a:p>
        </p:txBody>
      </p:sp>
      <p:sp>
        <p:nvSpPr>
          <p:cNvPr id="329" name="Google Shape;329;p44"/>
          <p:cNvSpPr txBox="1"/>
          <p:nvPr/>
        </p:nvSpPr>
        <p:spPr>
          <a:xfrm>
            <a:off x="1097280"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Restate the goal in your words</a:t>
            </a:r>
            <a:endParaRPr/>
          </a:p>
        </p:txBody>
      </p:sp>
      <p:sp>
        <p:nvSpPr>
          <p:cNvPr id="330" name="Google Shape;330;p44"/>
          <p:cNvSpPr txBox="1"/>
          <p:nvPr/>
        </p:nvSpPr>
        <p:spPr>
          <a:xfrm>
            <a:off x="1097280"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make and read a histogram to display data in intervals.</a:t>
            </a:r>
            <a:endParaRPr/>
          </a:p>
        </p:txBody>
      </p:sp>
      <p:sp>
        <p:nvSpPr>
          <p:cNvPr id="331" name="Google Shape;331;p44"/>
          <p:cNvSpPr/>
          <p:nvPr/>
        </p:nvSpPr>
        <p:spPr>
          <a:xfrm>
            <a:off x="6382512" y="2432304"/>
            <a:ext cx="5349240" cy="3621024"/>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2" name="Google Shape;332;p44"/>
          <p:cNvSpPr/>
          <p:nvPr/>
        </p:nvSpPr>
        <p:spPr>
          <a:xfrm>
            <a:off x="6382512" y="2432304"/>
            <a:ext cx="118872" cy="3621024"/>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3" name="Google Shape;333;p44"/>
          <p:cNvSpPr txBox="1"/>
          <p:nvPr/>
        </p:nvSpPr>
        <p:spPr>
          <a:xfrm>
            <a:off x="6839712"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C2410C"/>
                </a:solidFill>
                <a:latin typeface="Arial"/>
                <a:ea typeface="Arial"/>
                <a:cs typeface="Arial"/>
                <a:sym typeface="Arial"/>
              </a:rPr>
              <a:t>LANGUAGE OBJECTIVE</a:t>
            </a:r>
            <a:endParaRPr/>
          </a:p>
        </p:txBody>
      </p:sp>
      <p:sp>
        <p:nvSpPr>
          <p:cNvPr id="334" name="Google Shape;334;p44"/>
          <p:cNvSpPr txBox="1"/>
          <p:nvPr/>
        </p:nvSpPr>
        <p:spPr>
          <a:xfrm>
            <a:off x="6839712"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Use these words to explain why</a:t>
            </a:r>
            <a:endParaRPr/>
          </a:p>
        </p:txBody>
      </p:sp>
      <p:sp>
        <p:nvSpPr>
          <p:cNvPr id="335" name="Google Shape;335;p44"/>
          <p:cNvSpPr txBox="1"/>
          <p:nvPr/>
        </p:nvSpPr>
        <p:spPr>
          <a:xfrm>
            <a:off x="6839712"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explain my histogram using the words histogram, frequency, interval, and distribution.</a:t>
            </a:r>
            <a:endParaRPr/>
          </a:p>
        </p:txBody>
      </p:sp>
      <p:sp>
        <p:nvSpPr>
          <p:cNvPr id="3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46</a:t>
            </a:r>
          </a:p>
        </p:txBody>
      </p:sp>
      <p:grpSp>
        <p:nvGrpSpPr>
          <p:cNvPr id="337" name="TEACH-1-student-move" descr="TEACH 1 · Facilitate clear, standards-based content learning"/>
          <p:cNvGrpSpPr/>
          <p:nvPr/>
        </p:nvGrpSpPr>
        <p:grpSpPr>
          <a:xfrm>
            <a:off x="502920" y="1993392"/>
            <a:ext cx="11186160" cy="402336"/>
            <a:chOff x="502920" y="1993392"/>
            <a:chExt cx="11186160" cy="402336"/>
          </a:xfrm>
        </p:grpSpPr>
        <p:sp>
          <p:nvSpPr>
            <p:cNvPr id="338" name="TEACH-move-card"/>
            <p:cNvSpPr/>
            <p:nvPr/>
          </p:nvSpPr>
          <p:spPr>
            <a:xfrm>
              <a:off x="502920" y="1993392"/>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339" name="TEACH-move-rule"/>
            <p:cNvSpPr/>
            <p:nvPr/>
          </p:nvSpPr>
          <p:spPr>
            <a:xfrm>
              <a:off x="548640" y="2069836"/>
              <a:ext cx="100584" cy="249448"/>
            </a:xfrm>
            <a:prstGeom prst="roundRect">
              <a:avLst>
                <a:gd name="adj" fmla="val 50000"/>
              </a:avLst>
            </a:prstGeom>
            <a:solidFill>
              <a:srgbClr val="01708C"/>
            </a:solidFill>
            <a:ln>
              <a:noFill/>
            </a:ln>
          </p:spPr>
          <p:txBody>
            <a:bodyPr/>
            <a:lstStyle/>
            <a:p>
              <a:endParaRPr/>
            </a:p>
          </p:txBody>
        </p:sp>
        <p:sp>
          <p:nvSpPr>
            <p:cNvPr id="340" name="TEACH-move-text"/>
            <p:cNvSpPr txBox="1"/>
            <p:nvPr/>
          </p:nvSpPr>
          <p:spPr>
            <a:xfrm>
              <a:off x="822960" y="1993392"/>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2.2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Use equal-width intervals.</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Count each value once.</a:t>
            </a:r>
          </a:p>
        </p:txBody>
      </p:sp>
      <p:sp>
        <p:nvSpPr>
          <p:cNvPr id="11" name="Oval 10"/>
          <p:cNvSpPr/>
          <p:nvPr/>
        </p:nvSpPr>
        <p:spPr>
          <a:xfrm>
            <a:off x="640080" y="3849624"/>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3904487"/>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3</a:t>
            </a:r>
          </a:p>
        </p:txBody>
      </p:sp>
      <p:sp>
        <p:nvSpPr>
          <p:cNvPr id="13" name="TextBox 12"/>
          <p:cNvSpPr txBox="1"/>
          <p:nvPr/>
        </p:nvSpPr>
        <p:spPr>
          <a:xfrm>
            <a:off x="1399032" y="3831336"/>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Interpret frequency and distribution.</a:t>
            </a:r>
          </a:p>
        </p:txBody>
      </p:sp>
      <p:sp>
        <p:nvSpPr>
          <p:cNvPr id="14" name="Rounded Rectangle 13"/>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6" name="TEACH-1-student-move" descr="TEACH 1 · Facilitate clear, standards-based content learning"/>
          <p:cNvGrpSpPr/>
          <p:nvPr/>
        </p:nvGrpSpPr>
        <p:grpSpPr>
          <a:xfrm>
            <a:off x="502920" y="5824728"/>
            <a:ext cx="11186160" cy="402336"/>
            <a:chOff x="502920" y="5824728"/>
            <a:chExt cx="11186160" cy="402336"/>
          </a:xfrm>
        </p:grpSpPr>
        <p:sp>
          <p:nvSpPr>
            <p:cNvPr id="17"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8"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9"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76" name="Google Shape;376;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7" name="Google Shape;377;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8" name="Google Shape;378;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1 of 6</a:t>
            </a:r>
            <a:endParaRPr/>
          </a:p>
        </p:txBody>
      </p:sp>
      <p:sp>
        <p:nvSpPr>
          <p:cNvPr id="379" name="Google Shape;379;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2-2 · Represent and Describe Data in a Histogram</a:t>
            </a:r>
            <a:endParaRPr/>
          </a:p>
        </p:txBody>
      </p:sp>
      <p:sp>
        <p:nvSpPr>
          <p:cNvPr id="380" name="Google Shape;380;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1" name="Google Shape;381;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82" name="Google Shape;382;p46"/>
          <p:cNvSpPr txBox="1"/>
          <p:nvPr/>
        </p:nvSpPr>
        <p:spPr>
          <a:xfrm>
            <a:off x="640080" y="1761743"/>
            <a:ext cx="10911809" cy="90220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5200" u="none" cap="none" strike="noStrike">
                <a:solidFill>
                  <a:srgbClr val="14223A"/>
                </a:solidFill>
                <a:latin typeface="Arial"/>
                <a:ea typeface="Arial"/>
                <a:cs typeface="Arial"/>
                <a:sym typeface="Arial"/>
              </a:rPr>
              <a:t>Display Data with Histograms</a:t>
            </a:r>
            <a:endParaRPr/>
          </a:p>
        </p:txBody>
      </p:sp>
      <p:sp>
        <p:nvSpPr>
          <p:cNvPr id="383" name="Google Shape;383;p46"/>
          <p:cNvSpPr/>
          <p:nvPr/>
        </p:nvSpPr>
        <p:spPr>
          <a:xfrm>
            <a:off x="658368" y="2718816"/>
            <a:ext cx="29260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4" name="Google Shape;384;p46"/>
          <p:cNvSpPr txBox="1"/>
          <p:nvPr/>
        </p:nvSpPr>
        <p:spPr>
          <a:xfrm>
            <a:off x="640080" y="3080004"/>
            <a:ext cx="10911809" cy="86410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700" u="none" cap="none" strike="noStrike">
                <a:solidFill>
                  <a:srgbClr val="14223A"/>
                </a:solidFill>
                <a:latin typeface="Arial"/>
                <a:ea typeface="Arial"/>
                <a:cs typeface="Arial"/>
                <a:sym typeface="Arial"/>
              </a:rPr>
              <a:t>Group numerical data into intervals and show each interval’s frequency with a bar.</a:t>
            </a:r>
            <a:endParaRPr/>
          </a:p>
        </p:txBody>
      </p:sp>
      <p:sp>
        <p:nvSpPr>
          <p:cNvPr id="385" name="Google Shape;385;p46"/>
          <p:cNvSpPr/>
          <p:nvPr/>
        </p:nvSpPr>
        <p:spPr>
          <a:xfrm>
            <a:off x="640080" y="4364736"/>
            <a:ext cx="10911809"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6" name="Google Shape;386;p46"/>
          <p:cNvSpPr/>
          <p:nvPr/>
        </p:nvSpPr>
        <p:spPr>
          <a:xfrm>
            <a:off x="640080" y="436473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7" name="Google Shape;387;p46"/>
          <p:cNvSpPr txBox="1"/>
          <p:nvPr/>
        </p:nvSpPr>
        <p:spPr>
          <a:xfrm>
            <a:off x="932688" y="4538472"/>
            <a:ext cx="10344881"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388" name="Google Shape;388;p46"/>
          <p:cNvSpPr txBox="1"/>
          <p:nvPr/>
        </p:nvSpPr>
        <p:spPr>
          <a:xfrm>
            <a:off x="932688" y="4840224"/>
            <a:ext cx="10344881"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2100" u="none" cap="none" strike="noStrike">
                <a:solidFill>
                  <a:srgbClr val="14223A"/>
                </a:solidFill>
                <a:latin typeface="Arial"/>
                <a:ea typeface="Arial"/>
                <a:cs typeface="Arial"/>
                <a:sym typeface="Arial"/>
              </a:rPr>
              <a:t>Each touching bar shows how many values fall in one interval.</a:t>
            </a:r>
            <a:endParaRPr/>
          </a:p>
        </p:txBody>
      </p:sp>
      <p:sp>
        <p:nvSpPr>
          <p:cNvPr id="31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8 / 46</a:t>
            </a:r>
          </a:p>
        </p:txBody>
      </p:sp>
      <p:grpSp>
        <p:nvGrpSpPr>
          <p:cNvPr id="389" name="TEACH-5-student-move" descr="TEACH 5 · Facilitate student interactions and academic talk"/>
          <p:cNvGrpSpPr/>
          <p:nvPr/>
        </p:nvGrpSpPr>
        <p:grpSpPr>
          <a:xfrm>
            <a:off x="502920" y="5751576"/>
            <a:ext cx="11186160" cy="548640"/>
            <a:chOff x="502920" y="5751576"/>
            <a:chExt cx="11186160" cy="548640"/>
          </a:xfrm>
        </p:grpSpPr>
        <p:sp>
          <p:nvSpPr>
            <p:cNvPr id="390" name="TEACH-move-card"/>
            <p:cNvSpPr/>
            <p:nvPr/>
          </p:nvSpPr>
          <p:spPr>
            <a:xfrm>
              <a:off x="502920" y="5751576"/>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391" name="TEACH-move-rule"/>
            <p:cNvSpPr/>
            <p:nvPr/>
          </p:nvSpPr>
          <p:spPr>
            <a:xfrm>
              <a:off x="548640" y="5855818"/>
              <a:ext cx="100584" cy="340156"/>
            </a:xfrm>
            <a:prstGeom prst="roundRect">
              <a:avLst>
                <a:gd name="adj" fmla="val 50000"/>
              </a:avLst>
            </a:prstGeom>
            <a:solidFill>
              <a:srgbClr val="01708C"/>
            </a:solidFill>
            <a:ln>
              <a:noFill/>
            </a:ln>
          </p:spPr>
          <p:txBody>
            <a:bodyPr/>
            <a:lstStyle/>
            <a:p>
              <a:endParaRPr/>
            </a:p>
          </p:txBody>
        </p:sp>
        <p:sp>
          <p:nvSpPr>
            <p:cNvPr id="392" name="TEACH-move-text"/>
            <p:cNvSpPr txBox="1"/>
            <p:nvPr/>
          </p:nvSpPr>
          <p:spPr>
            <a:xfrm>
              <a:off x="822960" y="5751576"/>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USE THE MATH WORDS  ·  </a:t>
              </a:r>
              <a:r>
                <a:rPr lang="en-US" sz="1400" dirty="0">
                  <a:solidFill>
                    <a:srgbClr val="13303A"/>
                  </a:solidFill>
                  <a:latin typeface="Arial"/>
                </a:rPr>
                <a:t>Use today’s math words in your explanation — not “it” and “that thing.”</a:t>
              </a:r>
              <a:endParaRPr lang="en-US" sz="1400"/>
            </a:p>
          </p:txBody>
        </p:sp>
      </p:gr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3" name="Google Shape;393;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4" name="Google Shape;394;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5" name="Google Shape;395;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6</a:t>
            </a:r>
            <a:endParaRPr/>
          </a:p>
        </p:txBody>
      </p:sp>
      <p:sp>
        <p:nvSpPr>
          <p:cNvPr id="396" name="Google Shape;396;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2-2 · Represent and Describe Data in a Histogram</a:t>
            </a:r>
            <a:endParaRPr/>
          </a:p>
        </p:txBody>
      </p:sp>
      <p:sp>
        <p:nvSpPr>
          <p:cNvPr id="397" name="Google Shape;397;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8" name="Google Shape;398;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99" name="Google Shape;399;p47"/>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Histogram</a:t>
            </a:r>
            <a:endParaRPr/>
          </a:p>
        </p:txBody>
      </p:sp>
      <p:sp>
        <p:nvSpPr>
          <p:cNvPr id="400" name="Google Shape;400;p47"/>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1" name="Google Shape;401;p47"/>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bar graph that groups data into equal ranges. The bars touch.</a:t>
            </a:r>
            <a:endParaRPr/>
          </a:p>
        </p:txBody>
      </p:sp>
      <p:sp>
        <p:nvSpPr>
          <p:cNvPr id="402" name="Google Shape;402;p47"/>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3" name="Google Shape;403;p47"/>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4" name="Google Shape;404;p47"/>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05" name="Google Shape;405;p47"/>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Bars side by side: 0-9 pts (3 players), 10-19 pts (8 players), 20-29 pts (4 players)</a:t>
            </a:r>
            <a:endParaRPr/>
          </a:p>
        </p:txBody>
      </p:sp>
      <p:pic>
        <p:nvPicPr>
          <p:cNvPr descr="histogram.png" id="406" name="Google Shape;406;p47"/>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1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46</a:t>
            </a:r>
          </a:p>
        </p:txBody>
      </p:sp>
      <p:sp xmlns:p="http://schemas.openxmlformats.org/presentationml/2006/main" xmlns:a="http://schemas.openxmlformats.org/drawingml/2006/main">
        <p:nvSpPr>
          <p:cNvPr id="407"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“Histogram” to explain the example. Point to 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11" name="Google Shape;411;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2" name="Google Shape;412;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3" name="Google Shape;413;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6</a:t>
            </a:r>
            <a:endParaRPr/>
          </a:p>
        </p:txBody>
      </p:sp>
      <p:sp>
        <p:nvSpPr>
          <p:cNvPr id="414" name="Google Shape;414;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2-2 · Represent and Describe Data in a Histogram</a:t>
            </a:r>
            <a:endParaRPr/>
          </a:p>
        </p:txBody>
      </p:sp>
      <p:sp>
        <p:nvSpPr>
          <p:cNvPr id="415" name="Google Shape;415;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6" name="Google Shape;416;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17" name="Google Shape;417;p48"/>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Frequency</a:t>
            </a:r>
            <a:endParaRPr/>
          </a:p>
        </p:txBody>
      </p:sp>
      <p:sp>
        <p:nvSpPr>
          <p:cNvPr id="418" name="Google Shape;418;p48"/>
          <p:cNvSpPr/>
          <p:nvPr/>
        </p:nvSpPr>
        <p:spPr>
          <a:xfrm>
            <a:off x="658368" y="2814828"/>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9" name="Google Shape;419;p48"/>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How many times a value shows up.</a:t>
            </a:r>
            <a:endParaRPr/>
          </a:p>
        </p:txBody>
      </p:sp>
      <p:sp>
        <p:nvSpPr>
          <p:cNvPr id="420" name="Google Shape;420;p48"/>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1" name="Google Shape;421;p48"/>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2" name="Google Shape;422;p48"/>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23" name="Google Shape;423;p48"/>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If 5 players scored 10-19 points, the frequency for that interval is 5</a:t>
            </a:r>
            <a:endParaRPr/>
          </a:p>
        </p:txBody>
      </p:sp>
      <p:pic>
        <p:nvPicPr>
          <p:cNvPr descr="frequency.png" id="424" name="Google Shape;424;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1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46</a:t>
            </a:r>
          </a:p>
        </p:txBody>
      </p:sp>
      <p:sp xmlns:p="http://schemas.openxmlformats.org/presentationml/2006/main" xmlns:a="http://schemas.openxmlformats.org/drawingml/2006/main">
        <p:nvSpPr>
          <p:cNvPr id="425"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“Frequency” to explain the example. Point to 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29" name="Google Shape;429;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0" name="Google Shape;430;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1" name="Google Shape;431;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6</a:t>
            </a:r>
            <a:endParaRPr/>
          </a:p>
        </p:txBody>
      </p:sp>
      <p:sp>
        <p:nvSpPr>
          <p:cNvPr id="432" name="Google Shape;432;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2-2 · Represent and Describe Data in a Histogram</a:t>
            </a:r>
            <a:endParaRPr/>
          </a:p>
        </p:txBody>
      </p:sp>
      <p:sp>
        <p:nvSpPr>
          <p:cNvPr id="433" name="Google Shape;433;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4" name="Google Shape;434;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35" name="Google Shape;435;p49"/>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Interval</a:t>
            </a:r>
            <a:endParaRPr/>
          </a:p>
        </p:txBody>
      </p:sp>
      <p:sp>
        <p:nvSpPr>
          <p:cNvPr id="436" name="Google Shape;436;p49"/>
          <p:cNvSpPr/>
          <p:nvPr/>
        </p:nvSpPr>
        <p:spPr>
          <a:xfrm>
            <a:off x="658368" y="2814828"/>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7" name="Google Shape;437;p49"/>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range of numbers used to group data.</a:t>
            </a:r>
            <a:endParaRPr/>
          </a:p>
        </p:txBody>
      </p:sp>
      <p:sp>
        <p:nvSpPr>
          <p:cNvPr id="438" name="Google Shape;438;p49"/>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9" name="Google Shape;439;p49"/>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0" name="Google Shape;440;p49"/>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41" name="Google Shape;441;p49"/>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0-9, 10-19, 20-29 are intervals of width 10 — each covers 10 values</a:t>
            </a:r>
            <a:endParaRPr/>
          </a:p>
        </p:txBody>
      </p:sp>
      <p:pic>
        <p:nvPicPr>
          <p:cNvPr descr="histogram.png" id="442" name="Google Shape;442;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1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46</a:t>
            </a:r>
          </a:p>
        </p:txBody>
      </p:sp>
      <p:sp xmlns:p="http://schemas.openxmlformats.org/presentationml/2006/main" xmlns:a="http://schemas.openxmlformats.org/drawingml/2006/main">
        <p:nvSpPr>
          <p:cNvPr id="44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“Interval” to explain the example. Point to evidence.</a:t>
            </a:r>
            <a:endParaRPr lang="en-US" sz="20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47" name="Google Shape;447;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8" name="Google Shape;448;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9" name="Google Shape;449;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6</a:t>
            </a:r>
            <a:endParaRPr/>
          </a:p>
        </p:txBody>
      </p:sp>
      <p:sp>
        <p:nvSpPr>
          <p:cNvPr id="450" name="Google Shape;450;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2-2 · Represent and Describe Data in a Histogram</a:t>
            </a:r>
            <a:endParaRPr/>
          </a:p>
        </p:txBody>
      </p:sp>
      <p:sp>
        <p:nvSpPr>
          <p:cNvPr id="451" name="Google Shape;451;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2" name="Google Shape;452;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53" name="Google Shape;453;p50"/>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Distribution</a:t>
            </a:r>
            <a:endParaRPr/>
          </a:p>
        </p:txBody>
      </p:sp>
      <p:sp>
        <p:nvSpPr>
          <p:cNvPr id="454" name="Google Shape;454;p50"/>
          <p:cNvSpPr/>
          <p:nvPr/>
        </p:nvSpPr>
        <p:spPr>
          <a:xfrm>
            <a:off x="658368" y="2814828"/>
            <a:ext cx="1426464"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5" name="Google Shape;455;p50"/>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How the data is spread out.</a:t>
            </a:r>
            <a:endParaRPr/>
          </a:p>
        </p:txBody>
      </p:sp>
      <p:sp>
        <p:nvSpPr>
          <p:cNvPr id="456" name="Google Shape;456;p50"/>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7" name="Google Shape;457;p50"/>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8" name="Google Shape;458;p50"/>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59" name="Google Shape;459;p50"/>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Most data in the middle with fewer at the ends = bell-shaped; most on one side with a tail = skewed</a:t>
            </a:r>
            <a:endParaRPr/>
          </a:p>
        </p:txBody>
      </p:sp>
      <p:pic>
        <p:nvPicPr>
          <p:cNvPr descr="distribution.png" id="460" name="Google Shape;460;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1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46</a:t>
            </a:r>
          </a:p>
        </p:txBody>
      </p:sp>
      <p:sp xmlns:p="http://schemas.openxmlformats.org/presentationml/2006/main" xmlns:a="http://schemas.openxmlformats.org/drawingml/2006/main">
        <p:nvSpPr>
          <p:cNvPr id="461"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“Distribution” to explain the example. Point to evidence.</a:t>
            </a:r>
            <a:endParaRPr lang="en-US" sz="20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5" name="Google Shape;465;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6" name="Google Shape;466;p51"/>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7" name="Google Shape;467;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6 of 6</a:t>
            </a:r>
            <a:endParaRPr/>
          </a:p>
        </p:txBody>
      </p:sp>
      <p:sp>
        <p:nvSpPr>
          <p:cNvPr id="468" name="Google Shape;468;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2-2 · Represent and Describe Data in a Histogram</a:t>
            </a:r>
            <a:endParaRPr/>
          </a:p>
        </p:txBody>
      </p:sp>
      <p:sp>
        <p:nvSpPr>
          <p:cNvPr id="469" name="Google Shape;469;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0" name="Google Shape;470;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71" name="Google Shape;471;p51"/>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Variability</a:t>
            </a:r>
            <a:endParaRPr/>
          </a:p>
        </p:txBody>
      </p:sp>
      <p:sp>
        <p:nvSpPr>
          <p:cNvPr id="472" name="Google Shape;472;p51"/>
          <p:cNvSpPr/>
          <p:nvPr/>
        </p:nvSpPr>
        <p:spPr>
          <a:xfrm>
            <a:off x="658368" y="2814828"/>
            <a:ext cx="1307592"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3" name="Google Shape;473;p51"/>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How spread out the numbers are.</a:t>
            </a:r>
            <a:endParaRPr/>
          </a:p>
        </p:txBody>
      </p:sp>
      <p:sp>
        <p:nvSpPr>
          <p:cNvPr id="474" name="Google Shape;474;p51"/>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5" name="Google Shape;475;p51"/>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6" name="Google Shape;476;p51"/>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77" name="Google Shape;477;p51"/>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Data in just 2 intervals = low variability. Data across 6 intervals = high variability</a:t>
            </a:r>
            <a:endParaRPr/>
          </a:p>
        </p:txBody>
      </p:sp>
      <p:pic>
        <p:nvPicPr>
          <p:cNvPr descr="spread.png" id="478" name="Google Shape;478;p51"/>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1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13 / 46</a:t>
            </a:r>
          </a:p>
        </p:txBody>
      </p:sp>
      <p:sp xmlns:p="http://schemas.openxmlformats.org/presentationml/2006/main" xmlns:a="http://schemas.openxmlformats.org/drawingml/2006/main">
        <p:nvSpPr>
          <p:cNvPr id="479"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“Variability” to explain the example. Point to evidence.</a:t>
            </a:r>
            <a:endParaRPr lang="en-US" sz="2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1" name="Google Shape;341;p45"/>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2" name="Google Shape;342;p4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a:t>
            </a:r>
            <a:endParaRPr/>
          </a:p>
        </p:txBody>
      </p:sp>
      <p:sp>
        <p:nvSpPr>
          <p:cNvPr id="343" name="Google Shape;343;p4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2-2 · Represent and Describe Data in a Histogram</a:t>
            </a:r>
            <a:endParaRPr/>
          </a:p>
        </p:txBody>
      </p:sp>
      <p:sp>
        <p:nvSpPr>
          <p:cNvPr id="344" name="Google Shape;344;p4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5" name="Google Shape;345;p4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46" name="Google Shape;346;p45"/>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400" u="none" cap="none" strike="noStrike">
                <a:solidFill>
                  <a:srgbClr val="14223A"/>
                </a:solidFill>
                <a:latin typeface="Arial"/>
                <a:ea typeface="Arial"/>
                <a:cs typeface="Arial"/>
                <a:sym typeface="Arial"/>
              </a:rPr>
              <a:t>Today’s Math Words</a:t>
            </a:r>
            <a:endParaRPr/>
          </a:p>
        </p:txBody>
      </p:sp>
      <p:sp>
        <p:nvSpPr>
          <p:cNvPr id="347" name="Google Shape;347;p45"/>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348" name="Google Shape;348;p45"/>
          <p:cNvSpPr/>
          <p:nvPr/>
        </p:nvSpPr>
        <p:spPr>
          <a:xfrm>
            <a:off x="640080"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9" name="Google Shape;349;p45"/>
          <p:cNvSpPr/>
          <p:nvPr/>
        </p:nvSpPr>
        <p:spPr>
          <a:xfrm>
            <a:off x="640080"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0" name="Google Shape;350;p45"/>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Display Data with Histograms</a:t>
            </a:r>
            <a:endParaRPr/>
          </a:p>
        </p:txBody>
      </p:sp>
      <p:sp>
        <p:nvSpPr>
          <p:cNvPr id="351" name="Google Shape;351;p45"/>
          <p:cNvSpPr txBox="1"/>
          <p:nvPr/>
        </p:nvSpPr>
        <p:spPr>
          <a:xfrm>
            <a:off x="950976"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50" u="none" cap="none" strike="noStrike">
                <a:solidFill>
                  <a:srgbClr val="475569"/>
                </a:solidFill>
                <a:latin typeface="Arial"/>
                <a:ea typeface="Arial"/>
                <a:cs typeface="Arial"/>
                <a:sym typeface="Arial"/>
              </a:rPr>
              <a:t>Group numerical data into intervals and show each interval’s frequency with a bar</a:t>
            </a:r>
            <a:endParaRPr/>
          </a:p>
        </p:txBody>
      </p:sp>
      <p:sp>
        <p:nvSpPr>
          <p:cNvPr id="352" name="Google Shape;352;p45"/>
          <p:cNvSpPr/>
          <p:nvPr/>
        </p:nvSpPr>
        <p:spPr>
          <a:xfrm>
            <a:off x="6260576"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3" name="Google Shape;353;p45"/>
          <p:cNvSpPr/>
          <p:nvPr/>
        </p:nvSpPr>
        <p:spPr>
          <a:xfrm>
            <a:off x="6260576"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4" name="Google Shape;354;p45"/>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Histogram</a:t>
            </a:r>
            <a:endParaRPr/>
          </a:p>
        </p:txBody>
      </p:sp>
      <p:sp>
        <p:nvSpPr>
          <p:cNvPr id="355" name="Google Shape;355;p45"/>
          <p:cNvSpPr txBox="1"/>
          <p:nvPr/>
        </p:nvSpPr>
        <p:spPr>
          <a:xfrm>
            <a:off x="6571472"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A bar graph that groups data into equal ranges</a:t>
            </a:r>
            <a:endParaRPr/>
          </a:p>
        </p:txBody>
      </p:sp>
      <p:sp>
        <p:nvSpPr>
          <p:cNvPr id="356" name="Google Shape;356;p45"/>
          <p:cNvSpPr/>
          <p:nvPr/>
        </p:nvSpPr>
        <p:spPr>
          <a:xfrm>
            <a:off x="640080"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7" name="Google Shape;357;p45"/>
          <p:cNvSpPr/>
          <p:nvPr/>
        </p:nvSpPr>
        <p:spPr>
          <a:xfrm>
            <a:off x="640080"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8" name="Google Shape;358;p45"/>
          <p:cNvSpPr txBox="1"/>
          <p:nvPr/>
        </p:nvSpPr>
        <p:spPr>
          <a:xfrm>
            <a:off x="950976"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Frequency</a:t>
            </a:r>
            <a:endParaRPr/>
          </a:p>
        </p:txBody>
      </p:sp>
      <p:sp>
        <p:nvSpPr>
          <p:cNvPr id="359" name="Google Shape;359;p45"/>
          <p:cNvSpPr txBox="1"/>
          <p:nvPr/>
        </p:nvSpPr>
        <p:spPr>
          <a:xfrm>
            <a:off x="950976"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How many times a value shows up</a:t>
            </a:r>
            <a:endParaRPr/>
          </a:p>
        </p:txBody>
      </p:sp>
      <p:sp>
        <p:nvSpPr>
          <p:cNvPr id="360" name="Google Shape;360;p45"/>
          <p:cNvSpPr/>
          <p:nvPr/>
        </p:nvSpPr>
        <p:spPr>
          <a:xfrm>
            <a:off x="6260576"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1" name="Google Shape;361;p45"/>
          <p:cNvSpPr/>
          <p:nvPr/>
        </p:nvSpPr>
        <p:spPr>
          <a:xfrm>
            <a:off x="6260576"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2" name="Google Shape;362;p45"/>
          <p:cNvSpPr txBox="1"/>
          <p:nvPr/>
        </p:nvSpPr>
        <p:spPr>
          <a:xfrm>
            <a:off x="6571472"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Interval</a:t>
            </a:r>
            <a:endParaRPr/>
          </a:p>
        </p:txBody>
      </p:sp>
      <p:sp>
        <p:nvSpPr>
          <p:cNvPr id="363" name="Google Shape;363;p45"/>
          <p:cNvSpPr txBox="1"/>
          <p:nvPr/>
        </p:nvSpPr>
        <p:spPr>
          <a:xfrm>
            <a:off x="6571472"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A range of numbers used to group data</a:t>
            </a:r>
            <a:endParaRPr/>
          </a:p>
        </p:txBody>
      </p:sp>
      <p:sp>
        <p:nvSpPr>
          <p:cNvPr id="364" name="Google Shape;364;p45"/>
          <p:cNvSpPr/>
          <p:nvPr/>
        </p:nvSpPr>
        <p:spPr>
          <a:xfrm>
            <a:off x="640080" y="4700016"/>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5" name="Google Shape;365;p45"/>
          <p:cNvSpPr/>
          <p:nvPr/>
        </p:nvSpPr>
        <p:spPr>
          <a:xfrm>
            <a:off x="640080" y="4700016"/>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6" name="Google Shape;366;p45"/>
          <p:cNvSpPr txBox="1"/>
          <p:nvPr/>
        </p:nvSpPr>
        <p:spPr>
          <a:xfrm>
            <a:off x="950976" y="4837176"/>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Distribution</a:t>
            </a:r>
            <a:endParaRPr/>
          </a:p>
        </p:txBody>
      </p:sp>
      <p:sp>
        <p:nvSpPr>
          <p:cNvPr id="367" name="Google Shape;367;p45"/>
          <p:cNvSpPr txBox="1"/>
          <p:nvPr/>
        </p:nvSpPr>
        <p:spPr>
          <a:xfrm>
            <a:off x="950976" y="5175504"/>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How the data is spread out</a:t>
            </a:r>
            <a:endParaRPr/>
          </a:p>
        </p:txBody>
      </p:sp>
      <p:sp>
        <p:nvSpPr>
          <p:cNvPr id="368" name="Google Shape;368;p45"/>
          <p:cNvSpPr/>
          <p:nvPr/>
        </p:nvSpPr>
        <p:spPr>
          <a:xfrm>
            <a:off x="6260576" y="4700016"/>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9" name="Google Shape;369;p45"/>
          <p:cNvSpPr/>
          <p:nvPr/>
        </p:nvSpPr>
        <p:spPr>
          <a:xfrm>
            <a:off x="6260576" y="4700016"/>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0" name="Google Shape;370;p45"/>
          <p:cNvSpPr txBox="1"/>
          <p:nvPr/>
        </p:nvSpPr>
        <p:spPr>
          <a:xfrm>
            <a:off x="6571472" y="4837176"/>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Variability</a:t>
            </a:r>
            <a:endParaRPr/>
          </a:p>
        </p:txBody>
      </p:sp>
      <p:sp>
        <p:nvSpPr>
          <p:cNvPr id="371" name="Google Shape;371;p45"/>
          <p:cNvSpPr txBox="1"/>
          <p:nvPr/>
        </p:nvSpPr>
        <p:spPr>
          <a:xfrm>
            <a:off x="6571472" y="5175504"/>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How spread out the numbers are</a:t>
            </a:r>
            <a:endParaRPr/>
          </a:p>
        </p:txBody>
      </p:sp>
      <p:sp>
        <p:nvSpPr>
          <p:cNvPr id="37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14 / 46</a:t>
            </a:r>
          </a:p>
        </p:txBody>
      </p:sp>
      <p:grpSp>
        <p:nvGrpSpPr>
          <p:cNvPr id="373" name="TEACH-5-student-move" descr="TEACH 5 · Facilitate student interactions and academic talk"/>
          <p:cNvGrpSpPr/>
          <p:nvPr/>
        </p:nvGrpSpPr>
        <p:grpSpPr>
          <a:xfrm>
            <a:off x="502920" y="5852160"/>
            <a:ext cx="11186160" cy="457200"/>
            <a:chOff x="502920" y="5852160"/>
            <a:chExt cx="11186160" cy="457200"/>
          </a:xfrm>
        </p:grpSpPr>
        <p:sp>
          <p:nvSpPr>
            <p:cNvPr id="374" name="TEACH-move-card"/>
            <p:cNvSpPr/>
            <p:nvPr/>
          </p:nvSpPr>
          <p:spPr>
            <a:xfrm>
              <a:off x="502920" y="5852160"/>
              <a:ext cx="11186160" cy="457200"/>
            </a:xfrm>
            <a:prstGeom prst="roundRect">
              <a:avLst>
                <a:gd name="adj" fmla="val 16000"/>
              </a:avLst>
            </a:prstGeom>
            <a:solidFill>
              <a:srgbClr val="E4F0F5"/>
            </a:solidFill>
            <a:ln w="19050">
              <a:solidFill>
                <a:srgbClr val="8CB8C7"/>
              </a:solidFill>
            </a:ln>
          </p:spPr>
          <p:txBody>
            <a:bodyPr/>
            <a:lstStyle/>
            <a:p>
              <a:endParaRPr/>
            </a:p>
          </p:txBody>
        </p:sp>
        <p:sp>
          <p:nvSpPr>
            <p:cNvPr id="375" name="TEACH-move-rule"/>
            <p:cNvSpPr/>
            <p:nvPr/>
          </p:nvSpPr>
          <p:spPr>
            <a:xfrm>
              <a:off x="548640" y="5939028"/>
              <a:ext cx="100584" cy="283464"/>
            </a:xfrm>
            <a:prstGeom prst="roundRect">
              <a:avLst>
                <a:gd name="adj" fmla="val 50000"/>
              </a:avLst>
            </a:prstGeom>
            <a:solidFill>
              <a:srgbClr val="01708C"/>
            </a:solidFill>
            <a:ln>
              <a:noFill/>
            </a:ln>
          </p:spPr>
          <p:txBody>
            <a:bodyPr/>
            <a:lstStyle/>
            <a:p>
              <a:endParaRPr/>
            </a:p>
          </p:txBody>
        </p:sp>
        <p:sp>
          <p:nvSpPr>
            <p:cNvPr id="376" name="TEACH-move-text"/>
            <p:cNvSpPr txBox="1"/>
            <p:nvPr/>
          </p:nvSpPr>
          <p:spPr>
            <a:xfrm>
              <a:off x="822960" y="5852160"/>
              <a:ext cx="10728960" cy="45720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ADD ON  ·  </a:t>
              </a:r>
              <a:r>
                <a:rPr lang="en-US" sz="1400" dirty="0">
                  <a:solidFill>
                    <a:srgbClr val="13303A"/>
                  </a:solidFill>
                  <a:latin typeface="Arial"/>
                </a:rPr>
                <a:t>Add on: “I agree because ______.”  or  “I see it differently because ______.”</a:t>
              </a:r>
              <a:endParaRPr lang="en-US" sz="1400"/>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cxnSp>
        <p:nvCxnSpPr>
          <p:cNvPr id="545" name="Google Shape;545;p5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46" name="Google Shape;546;p55"/>
          <p:cNvSpPr txBox="1"/>
          <p:nvPr/>
        </p:nvSpPr>
        <p:spPr>
          <a:xfrm>
            <a:off x="474055" y="936100"/>
            <a:ext cx="4089319" cy="122933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 xml:space="preserve">How are they the same?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How are they different?</a:t>
            </a:r>
            <a:endParaRPr b="0" i="0" sz="1400" u="none" cap="none" strike="noStrike">
              <a:solidFill>
                <a:srgbClr val="000000"/>
              </a:solidFill>
              <a:latin typeface="Arial"/>
              <a:ea typeface="Arial"/>
              <a:cs typeface="Arial"/>
              <a:sym typeface="Arial"/>
            </a:endParaRPr>
          </a:p>
        </p:txBody>
      </p:sp>
      <p:sp>
        <p:nvSpPr>
          <p:cNvPr id="547" name="Google Shape;547;p55"/>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descr="A picture containing nature&#10;&#10;Description automatically generated" id="548" name="Google Shape;548;p55"/>
          <p:cNvPicPr preferRelativeResize="0"/>
          <p:nvPr/>
        </p:nvPicPr>
        <p:blipFill rotWithShape="1">
          <a:blip r:embed="rId3">
            <a:alphaModFix/>
          </a:blip>
          <a:srcRect b="0" l="0" r="0" t="0"/>
          <a:stretch/>
        </p:blipFill>
        <p:spPr>
          <a:xfrm>
            <a:off x="4793942" y="1461384"/>
            <a:ext cx="4608676" cy="3076248"/>
          </a:xfrm>
          <a:prstGeom prst="rect">
            <a:avLst/>
          </a:prstGeom>
          <a:noFill/>
          <a:ln>
            <a:noFill/>
          </a:ln>
        </p:spPr>
      </p:pic>
      <p:pic>
        <p:nvPicPr>
          <p:cNvPr id="549" name="Google Shape;549;p55"/>
          <p:cNvPicPr preferRelativeResize="0"/>
          <p:nvPr/>
        </p:nvPicPr>
        <p:blipFill rotWithShape="1">
          <a:blip r:embed="rId4">
            <a:alphaModFix/>
          </a:blip>
          <a:srcRect b="0" l="0" r="0" t="0"/>
          <a:stretch/>
        </p:blipFill>
        <p:spPr>
          <a:xfrm>
            <a:off x="474055" y="5088006"/>
            <a:ext cx="5054600" cy="838200"/>
          </a:xfrm>
          <a:prstGeom prst="rect">
            <a:avLst/>
          </a:prstGeom>
          <a:noFill/>
          <a:ln>
            <a:noFill/>
          </a:ln>
        </p:spPr>
      </p:pic>
      <p:sp>
        <p:nvSpPr>
          <p:cNvPr id="550" name="Google Shape;550;p55"/>
          <p:cNvSpPr txBox="1"/>
          <p:nvPr/>
        </p:nvSpPr>
        <p:spPr>
          <a:xfrm>
            <a:off x="3334072" y="5245324"/>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551" name="Google Shape;551;p55"/>
          <p:cNvSpPr/>
          <p:nvPr/>
        </p:nvSpPr>
        <p:spPr>
          <a:xfrm>
            <a:off x="687251" y="5903329"/>
            <a:ext cx="10741420"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What goal will you set for today’s math class?</a:t>
            </a:r>
            <a:endParaRPr b="0" i="0" sz="1400" u="none" cap="none" strike="noStrike">
              <a:solidFill>
                <a:srgbClr val="000000"/>
              </a:solidFill>
              <a:latin typeface="Arial"/>
              <a:ea typeface="Arial"/>
              <a:cs typeface="Arial"/>
              <a:sym typeface="Arial"/>
            </a:endParaRPr>
          </a:p>
        </p:txBody>
      </p:sp>
      <p:sp>
        <p:nvSpPr>
          <p:cNvPr id="55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46</a:t>
            </a:r>
          </a:p>
        </p:txBody>
      </p:sp>
      <p:sp xmlns:p="http://schemas.openxmlformats.org/presentationml/2006/main" xmlns:a="http://schemas.openxmlformats.org/drawingml/2006/main">
        <p:nvSpPr>
          <p:cNvPr id="553" name="TEACH-embedded-student-prompt" descr="Student thinking and response directions"/>
          <p:cNvSpPr txBox="1"/>
          <p:nvPr/>
        </p:nvSpPr>
        <p:spPr>
          <a:xfrm>
            <a:off x="6111240" y="49560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cxnSp>
        <p:nvCxnSpPr>
          <p:cNvPr id="556" name="Google Shape;556;p5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57" name="Google Shape;557;p56"/>
          <p:cNvSpPr txBox="1"/>
          <p:nvPr/>
        </p:nvSpPr>
        <p:spPr>
          <a:xfrm>
            <a:off x="484564" y="5814983"/>
            <a:ext cx="11005471" cy="4671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What range of paces was the most common for the students?</a:t>
            </a:r>
            <a:endParaRPr b="0" i="0" sz="1400" u="none" cap="none" strike="noStrike">
              <a:solidFill>
                <a:srgbClr val="000000"/>
              </a:solidFill>
              <a:latin typeface="Arial"/>
              <a:ea typeface="Arial"/>
              <a:cs typeface="Arial"/>
              <a:sym typeface="Arial"/>
            </a:endParaRPr>
          </a:p>
        </p:txBody>
      </p:sp>
      <p:pic>
        <p:nvPicPr>
          <p:cNvPr id="558" name="Google Shape;558;p56"/>
          <p:cNvPicPr preferRelativeResize="0"/>
          <p:nvPr/>
        </p:nvPicPr>
        <p:blipFill rotWithShape="1">
          <a:blip r:embed="rId3">
            <a:alphaModFix/>
          </a:blip>
          <a:srcRect b="0" l="0" r="0" t="0"/>
          <a:stretch/>
        </p:blipFill>
        <p:spPr>
          <a:xfrm>
            <a:off x="8879321" y="1882486"/>
            <a:ext cx="2751847" cy="3339848"/>
          </a:xfrm>
          <a:prstGeom prst="rect">
            <a:avLst/>
          </a:prstGeom>
          <a:noFill/>
          <a:ln>
            <a:noFill/>
          </a:ln>
        </p:spPr>
      </p:pic>
      <p:sp>
        <p:nvSpPr>
          <p:cNvPr id="559" name="Google Shape;559;p56"/>
          <p:cNvSpPr txBox="1"/>
          <p:nvPr/>
        </p:nvSpPr>
        <p:spPr>
          <a:xfrm>
            <a:off x="484564" y="936100"/>
            <a:ext cx="7126199" cy="174244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Fifty middle school students took part in a 5-kilometer road race. The table shows each student’s pace, or the amount of time it took each student to run one kilometer.</a:t>
            </a:r>
            <a:endParaRPr b="1" i="0" sz="2800" u="none" cap="none" strike="noStrike">
              <a:solidFill>
                <a:srgbClr val="262626"/>
              </a:solidFill>
              <a:latin typeface="Arial"/>
              <a:ea typeface="Arial"/>
              <a:cs typeface="Arial"/>
              <a:sym typeface="Arial"/>
            </a:endParaRPr>
          </a:p>
        </p:txBody>
      </p:sp>
      <p:sp>
        <p:nvSpPr>
          <p:cNvPr id="560" name="Google Shape;560;p56"/>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Running a 5K</a:t>
            </a:r>
            <a:endParaRPr b="0" i="0" sz="1400" u="none" cap="none" strike="noStrike">
              <a:solidFill>
                <a:srgbClr val="000000"/>
              </a:solidFill>
              <a:latin typeface="Arial"/>
              <a:ea typeface="Arial"/>
              <a:cs typeface="Arial"/>
              <a:sym typeface="Arial"/>
            </a:endParaRPr>
          </a:p>
        </p:txBody>
      </p:sp>
      <p:graphicFrame>
        <p:nvGraphicFramePr>
          <p:cNvPr id="561" name="Google Shape;561;p56"/>
          <p:cNvGraphicFramePr/>
          <p:nvPr/>
        </p:nvGraphicFramePr>
        <p:xfrm>
          <a:off x="522447" y="3143367"/>
          <a:ext cx="3000000" cy="3000000"/>
        </p:xfrm>
        <a:graphic>
          <a:graphicData uri="http://schemas.openxmlformats.org/drawingml/2006/table">
            <a:tbl>
              <a:tblPr bandRow="1" firstRow="1">
                <a:noFill/>
                <a:tableStyleId>{974E4A2D-D716-4A53-BA71-2DB6B5DF641B}</a:tableStyleId>
              </a:tblPr>
              <a:tblGrid>
                <a:gridCol w="600025"/>
                <a:gridCol w="600025"/>
                <a:gridCol w="600025"/>
                <a:gridCol w="600025"/>
                <a:gridCol w="600025"/>
                <a:gridCol w="600025"/>
                <a:gridCol w="600025"/>
                <a:gridCol w="600025"/>
                <a:gridCol w="600025"/>
                <a:gridCol w="600025"/>
                <a:gridCol w="600025"/>
                <a:gridCol w="600025"/>
                <a:gridCol w="600025"/>
              </a:tblGrid>
              <a:tr h="419175">
                <a:tc gridSpan="13">
                  <a:txBody>
                    <a:bodyPr/>
                    <a:lstStyle/>
                    <a:p>
                      <a:pPr indent="0" lvl="0" marL="0" marR="0" rtl="0" algn="ctr">
                        <a:lnSpc>
                          <a:spcPct val="100000"/>
                        </a:lnSpc>
                        <a:spcBef>
                          <a:spcPts val="0"/>
                        </a:spcBef>
                        <a:spcAft>
                          <a:spcPts val="0"/>
                        </a:spcAft>
                        <a:buClr>
                          <a:srgbClr val="000000"/>
                        </a:buClr>
                        <a:buSzPts val="2200"/>
                        <a:buFont typeface="Arial"/>
                        <a:buNone/>
                      </a:pPr>
                      <a:r>
                        <a:rPr b="1" lang="en-US" sz="2200" u="none" cap="none" strike="noStrike">
                          <a:solidFill>
                            <a:schemeClr val="lt1"/>
                          </a:solidFill>
                          <a:latin typeface="Arial"/>
                          <a:ea typeface="Arial"/>
                          <a:cs typeface="Arial"/>
                          <a:sym typeface="Arial"/>
                        </a:rPr>
                        <a:t>Minutes to Run One Kilometer</a:t>
                      </a:r>
                      <a:endParaRPr b="1" sz="2200" u="none" cap="none" strike="noStrike">
                        <a:solidFill>
                          <a:schemeClr val="lt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95B9A"/>
                    </a:solidFill>
                  </a:tcPr>
                </a:tc>
                <a:tc hMerge="1"/>
                <a:tc hMerge="1"/>
                <a:tc hMerge="1"/>
                <a:tc hMerge="1"/>
                <a:tc hMerge="1"/>
                <a:tc hMerge="1"/>
                <a:tc hMerge="1"/>
                <a:tc hMerge="1"/>
                <a:tc hMerge="1"/>
                <a:tc hMerge="1"/>
                <a:tc hMerge="1"/>
                <a:tc hMerge="1"/>
              </a:tr>
              <a:tr h="514575">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5.6</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5.3</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4.7</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6.2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4.7</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5.1</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5.5</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5.4</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504000">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5.1</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4.9</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5.5</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6.0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5.9</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6.1</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5.3</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5.4</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504000">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5.6</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4.5</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5.4</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4.5</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5.7</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4.6</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5.9</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5.1</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6.0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504000">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5.3</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5.3</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4.9</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5.5</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5.4</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4.7</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6.1</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5.7</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4.9</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Calibri"/>
                        <a:buNone/>
                      </a:pPr>
                      <a:r>
                        <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Calibri"/>
                        <a:buNone/>
                      </a:pPr>
                      <a:r>
                        <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bl>
          </a:graphicData>
        </a:graphic>
      </p:graphicFrame>
      <p:sp>
        <p:nvSpPr>
          <p:cNvPr id="56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16 / 46</a:t>
            </a:r>
          </a:p>
        </p:txBody>
      </p:sp>
      <p:grpSp>
        <p:nvGrpSpPr>
          <p:cNvPr id="563" name="TEACH-3-student-move" descr="TEACH 3 · Use intentional questioning to deepen learning"/>
          <p:cNvGrpSpPr/>
          <p:nvPr/>
        </p:nvGrpSpPr>
        <p:grpSpPr>
          <a:xfrm>
            <a:off x="8278063" y="1155700"/>
            <a:ext cx="3411017" cy="681375"/>
            <a:chOff x="6187440" y="5376071"/>
            <a:chExt cx="5501640" cy="402336"/>
          </a:xfrm>
        </p:grpSpPr>
        <p:sp>
          <p:nvSpPr>
            <p:cNvPr id="564" name="TEACH-move-card"/>
            <p:cNvSpPr/>
            <p:nvPr/>
          </p:nvSpPr>
          <p:spPr>
            <a:xfrm>
              <a:off x="6187440" y="5376071"/>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565" name="TEACH-move-rule"/>
            <p:cNvSpPr/>
            <p:nvPr/>
          </p:nvSpPr>
          <p:spPr>
            <a:xfrm>
              <a:off x="6233160" y="5452515"/>
              <a:ext cx="100584" cy="249448"/>
            </a:xfrm>
            <a:prstGeom prst="roundRect">
              <a:avLst>
                <a:gd name="adj" fmla="val 50000"/>
              </a:avLst>
            </a:prstGeom>
            <a:solidFill>
              <a:srgbClr val="01708C"/>
            </a:solidFill>
            <a:ln>
              <a:noFill/>
            </a:ln>
          </p:spPr>
          <p:txBody>
            <a:bodyPr/>
            <a:lstStyle/>
            <a:p>
              <a:endParaRPr/>
            </a:p>
          </p:txBody>
        </p:sp>
        <p:sp>
          <p:nvSpPr>
            <p:cNvPr id="566" name="TEACH-move-text"/>
            <p:cNvSpPr txBox="1"/>
            <p:nvPr/>
          </p:nvSpPr>
          <p:spPr>
            <a:xfrm>
              <a:off x="6507480" y="5376071"/>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cxnSp>
        <p:nvCxnSpPr>
          <p:cNvPr id="626" name="Google Shape;626;p6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27" name="Google Shape;627;p64"/>
          <p:cNvSpPr txBox="1"/>
          <p:nvPr/>
        </p:nvSpPr>
        <p:spPr>
          <a:xfrm>
            <a:off x="484564" y="936101"/>
            <a:ext cx="8345400" cy="11420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What intervals could you use to group the students’ times?</a:t>
            </a:r>
            <a:endParaRPr b="0" i="0" sz="1400" u="none" cap="none" strike="noStrike">
              <a:solidFill>
                <a:srgbClr val="000000"/>
              </a:solidFill>
              <a:latin typeface="Arial"/>
              <a:ea typeface="Arial"/>
              <a:cs typeface="Arial"/>
              <a:sym typeface="Arial"/>
            </a:endParaRPr>
          </a:p>
        </p:txBody>
      </p:sp>
      <p:sp>
        <p:nvSpPr>
          <p:cNvPr id="628" name="Google Shape;628;p64"/>
          <p:cNvSpPr txBox="1"/>
          <p:nvPr/>
        </p:nvSpPr>
        <p:spPr>
          <a:xfrm>
            <a:off x="484565" y="316034"/>
            <a:ext cx="538283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    Collaborate and Connect</a:t>
            </a:r>
            <a:endParaRPr b="0" i="0" sz="1400" u="none" cap="none" strike="noStrike">
              <a:solidFill>
                <a:srgbClr val="000000"/>
              </a:solidFill>
              <a:latin typeface="Arial"/>
              <a:ea typeface="Arial"/>
              <a:cs typeface="Arial"/>
              <a:sym typeface="Arial"/>
            </a:endParaRPr>
          </a:p>
        </p:txBody>
      </p:sp>
      <p:pic>
        <p:nvPicPr>
          <p:cNvPr id="629" name="Google Shape;629;p64"/>
          <p:cNvPicPr preferRelativeResize="0"/>
          <p:nvPr/>
        </p:nvPicPr>
        <p:blipFill rotWithShape="1">
          <a:blip r:embed="rId3">
            <a:alphaModFix/>
          </a:blip>
          <a:srcRect b="0" l="0" r="0" t="0"/>
          <a:stretch/>
        </p:blipFill>
        <p:spPr>
          <a:xfrm>
            <a:off x="558276" y="386230"/>
            <a:ext cx="353635" cy="340537"/>
          </a:xfrm>
          <a:prstGeom prst="rect">
            <a:avLst/>
          </a:prstGeom>
          <a:noFill/>
          <a:ln>
            <a:noFill/>
          </a:ln>
        </p:spPr>
      </p:pic>
      <p:sp>
        <p:nvSpPr>
          <p:cNvPr id="630" name="Google Shape;630;p64"/>
          <p:cNvSpPr txBox="1"/>
          <p:nvPr/>
        </p:nvSpPr>
        <p:spPr>
          <a:xfrm>
            <a:off x="484564" y="5008676"/>
            <a:ext cx="11190814" cy="135649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use intervals that are the same width and do not overlap.</a:t>
            </a:r>
            <a:endParaRPr b="0" i="0" sz="1400" u="none" cap="none" strike="noStrike">
              <a:solidFill>
                <a:srgbClr val="000000"/>
              </a:solidFill>
              <a:latin typeface="Arial"/>
              <a:ea typeface="Arial"/>
              <a:cs typeface="Arial"/>
              <a:sym typeface="Arial"/>
            </a:endParaRPr>
          </a:p>
        </p:txBody>
      </p:sp>
      <p:graphicFrame>
        <p:nvGraphicFramePr>
          <p:cNvPr id="631" name="Google Shape;631;p64"/>
          <p:cNvGraphicFramePr/>
          <p:nvPr/>
        </p:nvGraphicFramePr>
        <p:xfrm>
          <a:off x="484564" y="2202349"/>
          <a:ext cx="3000000" cy="3000000"/>
        </p:xfrm>
        <a:graphic>
          <a:graphicData uri="http://schemas.openxmlformats.org/drawingml/2006/table">
            <a:tbl>
              <a:tblPr bandRow="1" firstRow="1">
                <a:noFill/>
                <a:tableStyleId>{974E4A2D-D716-4A53-BA71-2DB6B5DF641B}</a:tableStyleId>
              </a:tblPr>
              <a:tblGrid>
                <a:gridCol w="600025"/>
                <a:gridCol w="600025"/>
                <a:gridCol w="600025"/>
                <a:gridCol w="600025"/>
                <a:gridCol w="600025"/>
                <a:gridCol w="600025"/>
                <a:gridCol w="600025"/>
                <a:gridCol w="600025"/>
                <a:gridCol w="600025"/>
                <a:gridCol w="600025"/>
                <a:gridCol w="600025"/>
                <a:gridCol w="600025"/>
                <a:gridCol w="600025"/>
              </a:tblGrid>
              <a:tr h="419175">
                <a:tc gridSpan="13">
                  <a:txBody>
                    <a:bodyPr/>
                    <a:lstStyle/>
                    <a:p>
                      <a:pPr indent="0" lvl="0" marL="0" marR="0" rtl="0" algn="ctr">
                        <a:lnSpc>
                          <a:spcPct val="100000"/>
                        </a:lnSpc>
                        <a:spcBef>
                          <a:spcPts val="0"/>
                        </a:spcBef>
                        <a:spcAft>
                          <a:spcPts val="0"/>
                        </a:spcAft>
                        <a:buClr>
                          <a:srgbClr val="000000"/>
                        </a:buClr>
                        <a:buSzPts val="2200"/>
                        <a:buFont typeface="Arial"/>
                        <a:buNone/>
                      </a:pPr>
                      <a:r>
                        <a:rPr b="1" lang="en-US" sz="2200" u="none" cap="none" strike="noStrike">
                          <a:solidFill>
                            <a:schemeClr val="lt1"/>
                          </a:solidFill>
                          <a:latin typeface="Arial"/>
                          <a:ea typeface="Arial"/>
                          <a:cs typeface="Arial"/>
                          <a:sym typeface="Arial"/>
                        </a:rPr>
                        <a:t>Minutes to Run One Kilometer</a:t>
                      </a:r>
                      <a:endParaRPr b="1" sz="2200" u="none" cap="none" strike="noStrike">
                        <a:solidFill>
                          <a:schemeClr val="lt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95B9A"/>
                    </a:solidFill>
                  </a:tcPr>
                </a:tc>
                <a:tc hMerge="1"/>
                <a:tc hMerge="1"/>
                <a:tc hMerge="1"/>
                <a:tc hMerge="1"/>
                <a:tc hMerge="1"/>
                <a:tc hMerge="1"/>
                <a:tc hMerge="1"/>
                <a:tc hMerge="1"/>
                <a:tc hMerge="1"/>
                <a:tc hMerge="1"/>
                <a:tc hMerge="1"/>
                <a:tc hMerge="1"/>
              </a:tr>
              <a:tr h="514575">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5.6</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5.3</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4.7</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6.2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4.7</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5.1</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5.5</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5.4</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504000">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5.1</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4.9</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5.5</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6.0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5.9</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6.1</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5.3</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5.4</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504000">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5.6</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4.5</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5.4</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4.5</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5.7</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4.6</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5.9</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5.1</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6.0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504000">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5.3</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5.3</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4.9</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5.5</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5.4</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4.7</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6.1</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5.7</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4.9</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Calibri"/>
                        <a:buNone/>
                      </a:pPr>
                      <a:r>
                        <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Calibri"/>
                        <a:buNone/>
                      </a:pPr>
                      <a:r>
                        <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bl>
          </a:graphicData>
        </a:graphic>
      </p:graphicFrame>
      <p:sp>
        <p:nvSpPr>
          <p:cNvPr id="63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17 / 46</a:t>
            </a:r>
          </a:p>
        </p:txBody>
      </p:sp>
      <p:sp>
        <p:nvSpPr>
          <p:cNvPr id="633" name="EWL-COVER-1"/>
          <p:cNvSpPr/>
          <p:nvPr/>
        </p:nvSpPr>
        <p:spPr>
          <a:xfrm>
            <a:off x="429700" y="4953812"/>
            <a:ext cx="11300542" cy="1466226"/>
          </a:xfrm>
          <a:prstGeom prst="rect">
            <a:avLst/>
          </a:prstGeom>
          <a:solidFill>
            <a:srgbClr val="FFFFFF"/>
          </a:solidFill>
          <a:ln>
            <a:noFill/>
          </a:ln>
        </p:spPr>
        <p:txBody>
          <a:bodyPr/>
          <a:lstStyle/>
          <a:p/>
        </p:txBody>
      </p:sp>
      <p:sp>
        <p:nvSpPr>
          <p:cNvPr id="634"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COLLABORATE</a:t>
            </a:r>
            <a:r>
              <a:rPr lang="en-US" sz="1200" b="1">
                <a:solidFill>
                  <a:srgbClr val="5D6872"/>
                </a:solidFill>
                <a:latin typeface="Arial"/>
              </a:rPr>
              <a:t xml:space="preserve">  ·  TALK IT THROUGH • AGREE ON A MODEL</a:t>
            </a:r>
          </a:p>
        </p:txBody>
      </p:sp>
      <p:grpSp>
        <p:nvGrpSpPr>
          <p:cNvPr id="635" name="TEACH-5-student-move" descr="TEACH 5 · Facilitate student interactions and academic talk"/>
          <p:cNvGrpSpPr/>
          <p:nvPr/>
        </p:nvGrpSpPr>
        <p:grpSpPr>
          <a:xfrm>
            <a:off x="6187440" y="4941620"/>
            <a:ext cx="5501640" cy="594360"/>
            <a:chOff x="6187440" y="4332020"/>
            <a:chExt cx="5501640" cy="594360"/>
          </a:xfrm>
        </p:grpSpPr>
        <p:sp>
          <p:nvSpPr>
            <p:cNvPr id="636" name="TEACH-move-card"/>
            <p:cNvSpPr/>
            <p:nvPr/>
          </p:nvSpPr>
          <p:spPr>
            <a:xfrm>
              <a:off x="6187440" y="4332020"/>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637" name="TEACH-move-rule"/>
            <p:cNvSpPr/>
            <p:nvPr/>
          </p:nvSpPr>
          <p:spPr>
            <a:xfrm>
              <a:off x="6233160" y="4444948"/>
              <a:ext cx="100584" cy="368504"/>
            </a:xfrm>
            <a:prstGeom prst="roundRect">
              <a:avLst>
                <a:gd name="adj" fmla="val 50000"/>
              </a:avLst>
            </a:prstGeom>
            <a:solidFill>
              <a:srgbClr val="01708C"/>
            </a:solidFill>
            <a:ln>
              <a:noFill/>
            </a:ln>
          </p:spPr>
          <p:txBody>
            <a:bodyPr/>
            <a:lstStyle/>
            <a:p>
              <a:endParaRPr/>
            </a:p>
          </p:txBody>
        </p:sp>
        <p:sp>
          <p:nvSpPr>
            <p:cNvPr id="638" name="TEACH-move-text"/>
            <p:cNvSpPr txBox="1"/>
            <p:nvPr/>
          </p:nvSpPr>
          <p:spPr>
            <a:xfrm>
              <a:off x="6507480" y="4332020"/>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TAKE TURNS  ·  </a:t>
              </a:r>
              <a:r>
                <a:rPr lang="en-US" sz="1200" dirty="0">
                  <a:solidFill>
                    <a:srgbClr val="13303A"/>
                  </a:solidFill>
                  <a:latin typeface="Arial"/>
                </a:rPr>
                <a:t>One explains, one asks a question. Then switch, so both of you talk.</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3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cxnSp>
        <p:nvCxnSpPr>
          <p:cNvPr id="644" name="Google Shape;644;p6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45" name="Google Shape;645;p66"/>
          <p:cNvSpPr txBox="1"/>
          <p:nvPr/>
        </p:nvSpPr>
        <p:spPr>
          <a:xfrm>
            <a:off x="458685" y="391738"/>
            <a:ext cx="6718492" cy="157252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Let’s make each interval 0.5 minute.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How can you organize the data into 0.5-minute intervals?</a:t>
            </a:r>
            <a:endParaRPr b="0" i="0" sz="1400" u="none" cap="none" strike="noStrike">
              <a:solidFill>
                <a:srgbClr val="000000"/>
              </a:solidFill>
              <a:latin typeface="Arial"/>
              <a:ea typeface="Arial"/>
              <a:cs typeface="Arial"/>
              <a:sym typeface="Arial"/>
            </a:endParaRPr>
          </a:p>
        </p:txBody>
      </p:sp>
      <p:sp>
        <p:nvSpPr>
          <p:cNvPr id="646" name="Google Shape;646;p66"/>
          <p:cNvSpPr txBox="1"/>
          <p:nvPr/>
        </p:nvSpPr>
        <p:spPr>
          <a:xfrm>
            <a:off x="458685" y="5115936"/>
            <a:ext cx="6658108" cy="101520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One way is to list the intervals in a table.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2800"/>
              <a:buFont typeface="Arial"/>
              <a:buNone/>
              <a:defRPr/>
            </a:pPr>
            <a:r>
              <a:rPr/>
              <a:t/>
            </a:r>
            <a:endParaRPr b="0" i="0" sz="2800" u="none" cap="none" strike="noStrike">
              <a:solidFill>
                <a:srgbClr val="595959"/>
              </a:solidFill>
              <a:latin typeface="Arial"/>
              <a:ea typeface="Arial"/>
              <a:cs typeface="Arial"/>
              <a:sym typeface="Arial"/>
            </a:endParaRPr>
          </a:p>
        </p:txBody>
      </p:sp>
      <p:graphicFrame>
        <p:nvGraphicFramePr>
          <p:cNvPr id="647" name="Google Shape;647;p66"/>
          <p:cNvGraphicFramePr/>
          <p:nvPr/>
        </p:nvGraphicFramePr>
        <p:xfrm>
          <a:off x="458685" y="2457805"/>
          <a:ext cx="3000000" cy="3000000"/>
        </p:xfrm>
        <a:graphic>
          <a:graphicData uri="http://schemas.openxmlformats.org/drawingml/2006/table">
            <a:tbl>
              <a:tblPr bandRow="1" firstRow="1">
                <a:noFill/>
                <a:tableStyleId>{974E4A2D-D716-4A53-BA71-2DB6B5DF641B}</a:tableStyleId>
              </a:tblPr>
              <a:tblGrid>
                <a:gridCol w="600025"/>
                <a:gridCol w="600025"/>
                <a:gridCol w="600025"/>
                <a:gridCol w="600025"/>
                <a:gridCol w="600025"/>
                <a:gridCol w="600025"/>
                <a:gridCol w="600025"/>
                <a:gridCol w="600025"/>
                <a:gridCol w="600025"/>
                <a:gridCol w="600025"/>
                <a:gridCol w="600025"/>
                <a:gridCol w="600025"/>
                <a:gridCol w="600025"/>
              </a:tblGrid>
              <a:tr h="419175">
                <a:tc gridSpan="13">
                  <a:txBody>
                    <a:bodyPr/>
                    <a:lstStyle/>
                    <a:p>
                      <a:pPr indent="0" lvl="0" marL="0" marR="0" rtl="0" algn="ctr">
                        <a:lnSpc>
                          <a:spcPct val="100000"/>
                        </a:lnSpc>
                        <a:spcBef>
                          <a:spcPts val="0"/>
                        </a:spcBef>
                        <a:spcAft>
                          <a:spcPts val="0"/>
                        </a:spcAft>
                        <a:buClr>
                          <a:srgbClr val="000000"/>
                        </a:buClr>
                        <a:buSzPts val="2200"/>
                        <a:buFont typeface="Arial"/>
                        <a:buNone/>
                      </a:pPr>
                      <a:r>
                        <a:rPr b="1" lang="en-US" sz="2200" u="none" cap="none" strike="noStrike">
                          <a:solidFill>
                            <a:schemeClr val="lt1"/>
                          </a:solidFill>
                          <a:latin typeface="Arial"/>
                          <a:ea typeface="Arial"/>
                          <a:cs typeface="Arial"/>
                          <a:sym typeface="Arial"/>
                        </a:rPr>
                        <a:t>Minutes to Run One Kilometer</a:t>
                      </a:r>
                      <a:endParaRPr b="1" sz="2200" u="none" cap="none" strike="noStrike">
                        <a:solidFill>
                          <a:schemeClr val="lt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95B9A"/>
                    </a:solidFill>
                  </a:tcPr>
                </a:tc>
                <a:tc hMerge="1"/>
                <a:tc hMerge="1"/>
                <a:tc hMerge="1"/>
                <a:tc hMerge="1"/>
                <a:tc hMerge="1"/>
                <a:tc hMerge="1"/>
                <a:tc hMerge="1"/>
                <a:tc hMerge="1"/>
                <a:tc hMerge="1"/>
                <a:tc hMerge="1"/>
                <a:tc hMerge="1"/>
                <a:tc hMerge="1"/>
              </a:tr>
              <a:tr h="514575">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5.6</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5.3</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4.7</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6.2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4.7</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5.1</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5.5</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5.4</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504000">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5.1</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4.9</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5.5</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6.0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5.9</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6.1</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5.3</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5.4</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504000">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5.6</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4.5</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5.4</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4.5</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5.7</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4.6</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5.9</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5.1</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6.0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504000">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5.3</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5.3</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4.9</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5.5</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5.4</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4.7</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6.1</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5.7</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4.9</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Calibri"/>
                        <a:buNone/>
                      </a:pPr>
                      <a:r>
                        <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Calibri"/>
                        <a:buNone/>
                      </a:pPr>
                      <a:r>
                        <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bl>
          </a:graphicData>
        </a:graphic>
      </p:graphicFrame>
      <p:sp>
        <p:nvSpPr>
          <p:cNvPr id="64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18 / 46</a:t>
            </a:r>
          </a:p>
        </p:txBody>
      </p:sp>
      <p:sp>
        <p:nvSpPr>
          <p:cNvPr id="649" name="EWL-COVER-1"/>
          <p:cNvSpPr/>
          <p:nvPr/>
        </p:nvSpPr>
        <p:spPr>
          <a:xfrm>
            <a:off x="403821" y="5061072"/>
            <a:ext cx="6767836" cy="1301476"/>
          </a:xfrm>
          <a:prstGeom prst="rect">
            <a:avLst/>
          </a:prstGeom>
          <a:solidFill>
            <a:srgbClr val="FFFFFF"/>
          </a:solidFill>
          <a:ln>
            <a:noFill/>
          </a:ln>
        </p:spPr>
        <p:txBody>
          <a:bodyPr/>
          <a:lstStyle/>
          <a:p/>
        </p:txBody>
      </p:sp>
      <p:grpSp>
        <p:nvGrpSpPr>
          <p:cNvPr id="650" name="TEACH-5-student-move" descr="TEACH 5 · Facilitate student interactions and academic talk"/>
          <p:cNvGrpSpPr/>
          <p:nvPr/>
        </p:nvGrpSpPr>
        <p:grpSpPr>
          <a:xfrm>
            <a:off x="502920" y="2018893"/>
            <a:ext cx="11186160" cy="402336"/>
            <a:chOff x="502920" y="2018893"/>
            <a:chExt cx="11186160" cy="402336"/>
          </a:xfrm>
        </p:grpSpPr>
        <p:sp>
          <p:nvSpPr>
            <p:cNvPr id="651" name="TEACH-move-card"/>
            <p:cNvSpPr/>
            <p:nvPr/>
          </p:nvSpPr>
          <p:spPr>
            <a:xfrm>
              <a:off x="502920" y="2018893"/>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652" name="TEACH-move-rule"/>
            <p:cNvSpPr/>
            <p:nvPr/>
          </p:nvSpPr>
          <p:spPr>
            <a:xfrm>
              <a:off x="548640" y="2095337"/>
              <a:ext cx="100584" cy="249448"/>
            </a:xfrm>
            <a:prstGeom prst="roundRect">
              <a:avLst>
                <a:gd name="adj" fmla="val 50000"/>
              </a:avLst>
            </a:prstGeom>
            <a:solidFill>
              <a:srgbClr val="01708C"/>
            </a:solidFill>
            <a:ln>
              <a:noFill/>
            </a:ln>
          </p:spPr>
          <p:txBody>
            <a:bodyPr/>
            <a:lstStyle/>
            <a:p>
              <a:endParaRPr/>
            </a:p>
          </p:txBody>
        </p:sp>
        <p:sp>
          <p:nvSpPr>
            <p:cNvPr id="653" name="TEACH-move-text"/>
            <p:cNvSpPr txBox="1"/>
            <p:nvPr/>
          </p:nvSpPr>
          <p:spPr>
            <a:xfrm>
              <a:off x="822960" y="2018893"/>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RESTATE FIRST  ·  </a:t>
              </a:r>
              <a:r>
                <a:rPr lang="en-US" sz="1200" dirty="0">
                  <a:solidFill>
                    <a:srgbClr val="13303A"/>
                  </a:solidFill>
                  <a:latin typeface="Arial"/>
                </a:rPr>
                <a:t>Restate your partner’s idea in your own words before you give yours.</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4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cxnSp>
        <p:nvCxnSpPr>
          <p:cNvPr id="687" name="Google Shape;687;p7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graphicFrame>
        <p:nvGraphicFramePr>
          <p:cNvPr id="688" name="Google Shape;688;p72"/>
          <p:cNvGraphicFramePr/>
          <p:nvPr/>
        </p:nvGraphicFramePr>
        <p:xfrm>
          <a:off x="905073" y="3160272"/>
          <a:ext cx="3000000" cy="3000000"/>
        </p:xfrm>
        <a:graphic>
          <a:graphicData uri="http://schemas.openxmlformats.org/drawingml/2006/table">
            <a:tbl>
              <a:tblPr bandRow="1" firstRow="1">
                <a:noFill/>
                <a:tableStyleId>{974E4A2D-D716-4A53-BA71-2DB6B5DF641B}</a:tableStyleId>
              </a:tblPr>
              <a:tblGrid>
                <a:gridCol w="2323300"/>
                <a:gridCol w="1607125"/>
              </a:tblGrid>
              <a:tr h="800100">
                <a:tc>
                  <a:txBody>
                    <a:bodyPr/>
                    <a:lstStyle/>
                    <a:p>
                      <a:pPr indent="0" lvl="0" marL="0" marR="0" rtl="0" algn="ctr">
                        <a:lnSpc>
                          <a:spcPct val="100000"/>
                        </a:lnSpc>
                        <a:spcBef>
                          <a:spcPts val="0"/>
                        </a:spcBef>
                        <a:spcAft>
                          <a:spcPts val="0"/>
                        </a:spcAft>
                        <a:buClr>
                          <a:srgbClr val="000000"/>
                        </a:buClr>
                        <a:buSzPts val="2200"/>
                        <a:buFont typeface="Arial"/>
                        <a:buNone/>
                      </a:pPr>
                      <a:r>
                        <a:rPr b="1" lang="en-US" sz="2200" u="none" cap="none" strike="noStrike">
                          <a:solidFill>
                            <a:schemeClr val="lt1"/>
                          </a:solidFill>
                          <a:latin typeface="Arial"/>
                          <a:ea typeface="Arial"/>
                          <a:cs typeface="Arial"/>
                          <a:sym typeface="Arial"/>
                        </a:rPr>
                        <a:t>Minutes to Run One Kilometer</a:t>
                      </a:r>
                      <a:endParaRPr b="1" sz="2200" u="none" cap="none" strike="noStrike">
                        <a:solidFill>
                          <a:schemeClr val="lt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95B9A"/>
                    </a:solidFill>
                  </a:tcPr>
                </a:tc>
                <a:tc>
                  <a:txBody>
                    <a:bodyPr/>
                    <a:lstStyle/>
                    <a:p>
                      <a:pPr indent="0" lvl="0" marL="0" marR="0" rtl="0" algn="ctr">
                        <a:lnSpc>
                          <a:spcPct val="100000"/>
                        </a:lnSpc>
                        <a:spcBef>
                          <a:spcPts val="0"/>
                        </a:spcBef>
                        <a:spcAft>
                          <a:spcPts val="0"/>
                        </a:spcAft>
                        <a:buClr>
                          <a:srgbClr val="000000"/>
                        </a:buClr>
                        <a:buSzPts val="2200"/>
                        <a:buFont typeface="Arial"/>
                        <a:buNone/>
                      </a:pPr>
                      <a:r>
                        <a:rPr b="1" lang="en-US" sz="2200" u="none" cap="none" strike="noStrike">
                          <a:solidFill>
                            <a:schemeClr val="lt1"/>
                          </a:solidFill>
                          <a:latin typeface="Arial"/>
                          <a:ea typeface="Arial"/>
                          <a:cs typeface="Arial"/>
                          <a:sym typeface="Arial"/>
                        </a:rPr>
                        <a:t>Frequency</a:t>
                      </a:r>
                      <a:endParaRPr b="1" sz="2200" u="none" cap="none" strike="noStrike">
                        <a:solidFill>
                          <a:schemeClr val="lt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95B9A"/>
                    </a:solidFill>
                  </a:tcPr>
                </a:tc>
              </a:tr>
              <a:tr h="542175">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4.5–4.9</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13</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542175">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5.0–5.4</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20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542175">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5.5–5.9</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542175">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6.0–6.4</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bl>
          </a:graphicData>
        </a:graphic>
      </p:graphicFrame>
      <p:sp>
        <p:nvSpPr>
          <p:cNvPr id="689" name="Google Shape;689;p72"/>
          <p:cNvSpPr txBox="1"/>
          <p:nvPr/>
        </p:nvSpPr>
        <p:spPr>
          <a:xfrm>
            <a:off x="477562" y="499515"/>
            <a:ext cx="6683259" cy="93739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600"/>
              <a:buFont typeface="Arial"/>
              <a:buNone/>
              <a:defRPr/>
            </a:pPr>
            <a:r>
              <a:rPr b="0" i="0" lang="en-US" sz="2600" u="none" cap="none" strike="noStrike">
                <a:solidFill>
                  <a:srgbClr val="23282D"/>
                </a:solidFill>
                <a:latin typeface="Arial"/>
                <a:ea typeface="Arial"/>
                <a:cs typeface="Arial"/>
                <a:sym typeface="Arial"/>
              </a:rPr>
              <a:t>You can display the values from the frequency table in a histogram.</a:t>
            </a:r>
            <a:endParaRPr b="0" i="0" sz="1400" u="none" cap="none" strike="noStrike">
              <a:solidFill>
                <a:srgbClr val="000000"/>
              </a:solidFill>
              <a:latin typeface="Arial"/>
              <a:ea typeface="Arial"/>
              <a:cs typeface="Arial"/>
              <a:sym typeface="Arial"/>
            </a:endParaRPr>
          </a:p>
        </p:txBody>
      </p:sp>
      <p:pic>
        <p:nvPicPr>
          <p:cNvPr id="690" name="Google Shape;690;p72"/>
          <p:cNvPicPr preferRelativeResize="0"/>
          <p:nvPr/>
        </p:nvPicPr>
        <p:blipFill rotWithShape="1">
          <a:blip r:embed="rId3">
            <a:alphaModFix/>
          </a:blip>
          <a:srcRect b="0" l="0" r="0" t="0"/>
          <a:stretch/>
        </p:blipFill>
        <p:spPr>
          <a:xfrm>
            <a:off x="5879786" y="2887175"/>
            <a:ext cx="3302195" cy="3471310"/>
          </a:xfrm>
          <a:prstGeom prst="rect">
            <a:avLst/>
          </a:prstGeom>
          <a:noFill/>
          <a:ln>
            <a:noFill/>
          </a:ln>
        </p:spPr>
      </p:pic>
      <p:sp>
        <p:nvSpPr>
          <p:cNvPr id="691" name="Google Shape;691;p72"/>
          <p:cNvSpPr txBox="1"/>
          <p:nvPr/>
        </p:nvSpPr>
        <p:spPr>
          <a:xfrm>
            <a:off x="477561" y="1414790"/>
            <a:ext cx="11089005" cy="18466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23282D"/>
                </a:solidFill>
                <a:latin typeface="Arial"/>
                <a:ea typeface="Arial"/>
                <a:cs typeface="Arial"/>
                <a:sym typeface="Arial"/>
              </a:rPr>
              <a:t xml:space="preserve">A </a:t>
            </a:r>
            <a:r>
              <a:rPr b="1" i="0" lang="en-US" sz="2600" u="none" cap="none" strike="noStrike">
                <a:solidFill>
                  <a:srgbClr val="23282D"/>
                </a:solidFill>
                <a:highlight>
                  <a:srgbClr val="FFFF00"/>
                </a:highlight>
                <a:latin typeface="Arial"/>
                <a:ea typeface="Arial"/>
                <a:cs typeface="Arial"/>
                <a:sym typeface="Arial"/>
              </a:rPr>
              <a:t>histogram</a:t>
            </a:r>
            <a:r>
              <a:rPr b="0" i="0" lang="en-US" sz="2600" u="none" cap="none" strike="noStrike">
                <a:solidFill>
                  <a:srgbClr val="23282D"/>
                </a:solidFill>
                <a:latin typeface="Arial"/>
                <a:ea typeface="Arial"/>
                <a:cs typeface="Arial"/>
                <a:sym typeface="Arial"/>
              </a:rPr>
              <a:t xml:space="preserve"> is a graph that shows the number of values in each interval, that is, the frequency distribution.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2600"/>
              <a:buFont typeface="Arial"/>
              <a:buNone/>
              <a:defRPr/>
            </a:pPr>
            <a:r>
              <a:rPr b="1" i="0" lang="en-US" sz="2600" u="none" cap="none" strike="noStrike">
                <a:solidFill>
                  <a:srgbClr val="23282D"/>
                </a:solidFill>
                <a:latin typeface="Arial"/>
                <a:ea typeface="Arial"/>
                <a:cs typeface="Arial"/>
                <a:sym typeface="Arial"/>
              </a:rPr>
              <a:t>How can you represent the data in the frequency table on the graph?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2600"/>
              <a:buFont typeface="Arial"/>
              <a:buNone/>
              <a:defRPr/>
            </a:pPr>
            <a:r>
              <a:rPr/>
              <a:t/>
            </a:r>
            <a:endParaRPr b="0" i="0" sz="2600" u="none" cap="none" strike="noStrike">
              <a:solidFill>
                <a:schemeClr val="dk1"/>
              </a:solidFill>
              <a:latin typeface="Arial"/>
              <a:ea typeface="Calibri"/>
              <a:cs typeface="Calibri"/>
              <a:sym typeface="Calibri"/>
            </a:endParaRPr>
          </a:p>
        </p:txBody>
      </p:sp>
      <p:sp>
        <p:nvSpPr>
          <p:cNvPr id="69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19 / 46</a:t>
            </a: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cxnSp>
        <p:nvCxnSpPr>
          <p:cNvPr id="715" name="Google Shape;715;p7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16" name="Google Shape;716;p75"/>
          <p:cNvSpPr txBox="1"/>
          <p:nvPr/>
        </p:nvSpPr>
        <p:spPr>
          <a:xfrm>
            <a:off x="408626" y="447965"/>
            <a:ext cx="5457784" cy="5015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can you determine which interval is the most common?</a:t>
            </a:r>
            <a:endParaRPr b="0" i="0" sz="1400" u="none" cap="none" strike="noStrike">
              <a:solidFill>
                <a:srgbClr val="000000"/>
              </a:solidFill>
              <a:latin typeface="Arial"/>
              <a:ea typeface="Arial"/>
              <a:cs typeface="Arial"/>
              <a:sym typeface="Arial"/>
            </a:endParaRPr>
          </a:p>
        </p:txBody>
      </p:sp>
      <p:pic>
        <p:nvPicPr>
          <p:cNvPr id="717" name="Google Shape;717;p75"/>
          <p:cNvPicPr preferRelativeResize="0"/>
          <p:nvPr/>
        </p:nvPicPr>
        <p:blipFill rotWithShape="1">
          <a:blip r:embed="rId3">
            <a:alphaModFix/>
          </a:blip>
          <a:srcRect b="0" l="0" r="0" t="0"/>
          <a:stretch/>
        </p:blipFill>
        <p:spPr>
          <a:xfrm>
            <a:off x="7861465" y="1376877"/>
            <a:ext cx="3409881" cy="3584511"/>
          </a:xfrm>
          <a:prstGeom prst="rect">
            <a:avLst/>
          </a:prstGeom>
          <a:noFill/>
          <a:ln>
            <a:noFill/>
          </a:ln>
        </p:spPr>
      </p:pic>
      <p:sp>
        <p:nvSpPr>
          <p:cNvPr id="718" name="Google Shape;718;p75"/>
          <p:cNvSpPr txBox="1"/>
          <p:nvPr/>
        </p:nvSpPr>
        <p:spPr>
          <a:xfrm>
            <a:off x="408626" y="2695818"/>
            <a:ext cx="6847197" cy="14663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You can look for the tallest bar on the histogram.</a:t>
            </a:r>
            <a:endParaRPr b="0" i="0" sz="1400" u="none" cap="none" strike="noStrike">
              <a:solidFill>
                <a:srgbClr val="000000"/>
              </a:solidFill>
              <a:latin typeface="Arial"/>
              <a:ea typeface="Arial"/>
              <a:cs typeface="Arial"/>
              <a:sym typeface="Arial"/>
            </a:endParaRPr>
          </a:p>
        </p:txBody>
      </p:sp>
      <p:pic>
        <p:nvPicPr>
          <p:cNvPr id="719" name="Google Shape;719;p75"/>
          <p:cNvPicPr preferRelativeResize="0"/>
          <p:nvPr/>
        </p:nvPicPr>
        <p:blipFill rotWithShape="1">
          <a:blip r:embed="rId4">
            <a:alphaModFix/>
          </a:blip>
          <a:srcRect b="0" l="0" r="0" t="0"/>
          <a:stretch/>
        </p:blipFill>
        <p:spPr>
          <a:xfrm>
            <a:off x="408626" y="4718756"/>
            <a:ext cx="7524000" cy="895409"/>
          </a:xfrm>
          <a:prstGeom prst="rect">
            <a:avLst/>
          </a:prstGeom>
          <a:noFill/>
          <a:ln>
            <a:noFill/>
          </a:ln>
        </p:spPr>
      </p:pic>
      <p:sp>
        <p:nvSpPr>
          <p:cNvPr id="720" name="Google Shape;720;p75"/>
          <p:cNvSpPr txBox="1"/>
          <p:nvPr/>
        </p:nvSpPr>
        <p:spPr>
          <a:xfrm>
            <a:off x="3126148" y="4876075"/>
            <a:ext cx="6783781" cy="642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Connecting Representations</a:t>
            </a:r>
            <a:endParaRPr b="0" i="0" sz="1400" u="none" cap="none" strike="noStrike">
              <a:solidFill>
                <a:srgbClr val="000000"/>
              </a:solidFill>
              <a:latin typeface="Arial"/>
              <a:ea typeface="Arial"/>
              <a:cs typeface="Arial"/>
              <a:sym typeface="Arial"/>
            </a:endParaRPr>
          </a:p>
        </p:txBody>
      </p:sp>
      <p:sp>
        <p:nvSpPr>
          <p:cNvPr id="721" name="Google Shape;721;p75"/>
          <p:cNvSpPr/>
          <p:nvPr/>
        </p:nvSpPr>
        <p:spPr>
          <a:xfrm>
            <a:off x="649932" y="5564826"/>
            <a:ext cx="10741420"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595959"/>
                </a:solidFill>
                <a:latin typeface="Arial"/>
                <a:ea typeface="Arial"/>
                <a:cs typeface="Arial"/>
                <a:sym typeface="Arial"/>
              </a:rPr>
              <a:t>How can you connect mathematical ideas to representations?</a:t>
            </a:r>
            <a:endParaRPr b="0" i="0" sz="1400" u="none" cap="none" strike="noStrike">
              <a:solidFill>
                <a:srgbClr val="000000"/>
              </a:solidFill>
              <a:latin typeface="Arial"/>
              <a:ea typeface="Arial"/>
              <a:cs typeface="Arial"/>
              <a:sym typeface="Arial"/>
            </a:endParaRPr>
          </a:p>
        </p:txBody>
      </p:sp>
      <p:sp>
        <p:nvSpPr>
          <p:cNvPr id="72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21 / 46</a:t>
            </a:r>
          </a:p>
        </p:txBody>
      </p:sp>
      <p:sp>
        <p:nvSpPr>
          <p:cNvPr id="723" name="EWL-COVER-1"/>
          <p:cNvSpPr/>
          <p:nvPr/>
        </p:nvSpPr>
        <p:spPr>
          <a:xfrm>
            <a:off x="353762" y="2640954"/>
            <a:ext cx="6956925" cy="1576091"/>
          </a:xfrm>
          <a:prstGeom prst="rect">
            <a:avLst/>
          </a:prstGeom>
          <a:solidFill>
            <a:srgbClr val="FFFFFF"/>
          </a:solidFill>
          <a:ln>
            <a:noFill/>
          </a:ln>
        </p:spPr>
        <p:txBody>
          <a:bodyPr/>
          <a:lstStyle/>
          <a:p/>
        </p:txBody>
      </p:sp>
      <p:sp xmlns:p="http://schemas.openxmlformats.org/presentationml/2006/main" xmlns:a="http://schemas.openxmlformats.org/drawingml/2006/main">
        <p:nvSpPr>
          <p:cNvPr id="724" name="TEACH-embedded-student-prompt" descr="Student thinking and response directions"/>
          <p:cNvSpPr txBox="1"/>
          <p:nvPr/>
        </p:nvSpPr>
        <p:spPr>
          <a:xfrm>
            <a:off x="594360" y="17556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a:t>
            </a:r>
            <a:endParaRPr lang="en-US" sz="2000"/>
          </a:p>
          <a:p>
            <a:pPr>
              <a:lnSpc>
                <a:spcPts val="2400"/>
              </a:lnSpc>
              <a:buNone/>
            </a:pPr>
            <a:r>
              <a:rPr lang="en-US" sz="2000">
                <a:solidFill>
                  <a:srgbClr val="174D60"/>
                </a:solidFill>
                <a:latin typeface="Arial"/>
              </a:rPr>
              <a:t>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2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cxnSp>
        <p:nvCxnSpPr>
          <p:cNvPr id="735" name="Google Shape;735;p7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36" name="Google Shape;736;p77"/>
          <p:cNvSpPr txBox="1"/>
          <p:nvPr/>
        </p:nvSpPr>
        <p:spPr>
          <a:xfrm>
            <a:off x="484564" y="3674393"/>
            <a:ext cx="6649417" cy="10502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What does this mean in the context of the problem?</a:t>
            </a:r>
            <a:endParaRPr b="0" i="0" sz="1400" u="none" cap="none" strike="noStrike">
              <a:solidFill>
                <a:srgbClr val="000000"/>
              </a:solidFill>
              <a:latin typeface="Arial"/>
              <a:ea typeface="Arial"/>
              <a:cs typeface="Arial"/>
              <a:sym typeface="Arial"/>
            </a:endParaRPr>
          </a:p>
        </p:txBody>
      </p:sp>
      <p:sp>
        <p:nvSpPr>
          <p:cNvPr id="737" name="Google Shape;737;p77"/>
          <p:cNvSpPr txBox="1"/>
          <p:nvPr/>
        </p:nvSpPr>
        <p:spPr>
          <a:xfrm>
            <a:off x="484564" y="427143"/>
            <a:ext cx="6359581" cy="103725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The interval between 5.0 and 5.4 minutes contains the most data values.</a:t>
            </a:r>
            <a:endParaRPr b="0" i="0" sz="1400" u="none" cap="none" strike="noStrike">
              <a:solidFill>
                <a:srgbClr val="000000"/>
              </a:solidFill>
              <a:latin typeface="Arial"/>
              <a:ea typeface="Arial"/>
              <a:cs typeface="Arial"/>
              <a:sym typeface="Arial"/>
            </a:endParaRPr>
          </a:p>
        </p:txBody>
      </p:sp>
      <p:sp>
        <p:nvSpPr>
          <p:cNvPr id="738" name="Google Shape;738;p77"/>
          <p:cNvSpPr txBox="1"/>
          <p:nvPr/>
        </p:nvSpPr>
        <p:spPr>
          <a:xfrm>
            <a:off x="484565" y="4774125"/>
            <a:ext cx="8030044"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 greatest number of students took between 5.0 minutes and 5.4 minutes to run one kilometer.</a:t>
            </a:r>
            <a:endParaRPr b="0" i="0" sz="1400" u="none" cap="none" strike="noStrike">
              <a:solidFill>
                <a:srgbClr val="000000"/>
              </a:solidFill>
              <a:latin typeface="Arial"/>
              <a:ea typeface="Arial"/>
              <a:cs typeface="Arial"/>
              <a:sym typeface="Arial"/>
            </a:endParaRPr>
          </a:p>
        </p:txBody>
      </p:sp>
      <p:pic>
        <p:nvPicPr>
          <p:cNvPr id="739" name="Google Shape;739;p77"/>
          <p:cNvPicPr preferRelativeResize="0"/>
          <p:nvPr/>
        </p:nvPicPr>
        <p:blipFill rotWithShape="1">
          <a:blip r:embed="rId3">
            <a:alphaModFix/>
          </a:blip>
          <a:srcRect b="0" l="0" r="0" t="0"/>
          <a:stretch/>
        </p:blipFill>
        <p:spPr>
          <a:xfrm>
            <a:off x="7861465" y="1376877"/>
            <a:ext cx="3409881" cy="3584511"/>
          </a:xfrm>
          <a:prstGeom prst="rect">
            <a:avLst/>
          </a:prstGeom>
          <a:noFill/>
          <a:ln>
            <a:noFill/>
          </a:ln>
        </p:spPr>
      </p:pic>
      <p:sp>
        <p:nvSpPr>
          <p:cNvPr id="74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22 / 46</a:t>
            </a:r>
          </a:p>
        </p:txBody>
      </p:sp>
      <p:sp>
        <p:nvSpPr>
          <p:cNvPr id="741" name="EWL-COVER-1"/>
          <p:cNvSpPr/>
          <p:nvPr/>
        </p:nvSpPr>
        <p:spPr>
          <a:xfrm>
            <a:off x="429701" y="4719261"/>
            <a:ext cx="8139772" cy="1659768"/>
          </a:xfrm>
          <a:prstGeom prst="rect">
            <a:avLst/>
          </a:prstGeom>
          <a:solidFill>
            <a:srgbClr val="FFFFFF"/>
          </a:solidFill>
          <a:ln>
            <a:noFill/>
          </a:ln>
        </p:spPr>
        <p:txBody>
          <a:bodyPr/>
          <a:lstStyle/>
          <a:p/>
        </p:txBody>
      </p:sp>
      <p:sp xmlns:p="http://schemas.openxmlformats.org/presentationml/2006/main" xmlns:a="http://schemas.openxmlformats.org/drawingml/2006/main">
        <p:nvSpPr>
          <p:cNvPr id="742" name="TEACH-embedded-student-prompt" descr="Student thinking and response directions"/>
          <p:cNvSpPr txBox="1"/>
          <p:nvPr/>
        </p:nvSpPr>
        <p:spPr>
          <a:xfrm>
            <a:off x="594360" y="27614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a:t>
            </a:r>
            <a:endParaRPr lang="en-US" sz="2000"/>
          </a:p>
          <a:p>
            <a:pPr>
              <a:lnSpc>
                <a:spcPts val="2400"/>
              </a:lnSpc>
              <a:buNone/>
            </a:pPr>
            <a:r>
              <a:rPr lang="en-US" sz="2000">
                <a:solidFill>
                  <a:srgbClr val="174D60"/>
                </a:solidFill>
                <a:latin typeface="Arial"/>
              </a:rPr>
              <a:t>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4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79"/>
          <p:cNvSpPr txBox="1"/>
          <p:nvPr/>
        </p:nvSpPr>
        <p:spPr>
          <a:xfrm>
            <a:off x="7247351" y="5951992"/>
            <a:ext cx="125361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754" name="Google Shape;754;p79"/>
          <p:cNvSpPr/>
          <p:nvPr/>
        </p:nvSpPr>
        <p:spPr>
          <a:xfrm>
            <a:off x="539225" y="5054560"/>
            <a:ext cx="7961746" cy="1321100"/>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755" name="Google Shape;755;p79"/>
          <p:cNvSpPr txBox="1"/>
          <p:nvPr/>
        </p:nvSpPr>
        <p:spPr>
          <a:xfrm>
            <a:off x="495400" y="3915042"/>
            <a:ext cx="8005570" cy="10305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Why might a histogram be a better choice than a dot plot for displaying the data?</a:t>
            </a:r>
            <a:endParaRPr b="0" i="0" sz="1400" u="none" cap="none" strike="noStrike">
              <a:solidFill>
                <a:srgbClr val="000000"/>
              </a:solidFill>
              <a:latin typeface="Arial"/>
              <a:ea typeface="Arial"/>
              <a:cs typeface="Arial"/>
              <a:sym typeface="Arial"/>
            </a:endParaRPr>
          </a:p>
        </p:txBody>
      </p:sp>
      <p:graphicFrame>
        <p:nvGraphicFramePr>
          <p:cNvPr id="756" name="Google Shape;756;p79"/>
          <p:cNvGraphicFramePr/>
          <p:nvPr/>
        </p:nvGraphicFramePr>
        <p:xfrm>
          <a:off x="539225" y="962377"/>
          <a:ext cx="3000000" cy="3000000"/>
        </p:xfrm>
        <a:graphic>
          <a:graphicData uri="http://schemas.openxmlformats.org/drawingml/2006/table">
            <a:tbl>
              <a:tblPr bandRow="1" firstRow="1">
                <a:noFill/>
                <a:tableStyleId>{974E4A2D-D716-4A53-BA71-2DB6B5DF641B}</a:tableStyleId>
              </a:tblPr>
              <a:tblGrid>
                <a:gridCol w="772725"/>
                <a:gridCol w="772725"/>
                <a:gridCol w="772725"/>
                <a:gridCol w="772725"/>
                <a:gridCol w="772725"/>
                <a:gridCol w="772725"/>
                <a:gridCol w="772725"/>
                <a:gridCol w="772725"/>
                <a:gridCol w="772725"/>
                <a:gridCol w="772725"/>
              </a:tblGrid>
              <a:tr h="421800">
                <a:tc gridSpan="10">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solidFill>
                            <a:schemeClr val="dk1"/>
                          </a:solidFill>
                          <a:latin typeface="Arial"/>
                          <a:ea typeface="Arial"/>
                          <a:cs typeface="Arial"/>
                          <a:sym typeface="Arial"/>
                        </a:rPr>
                        <a:t>Road Race</a:t>
                      </a:r>
                      <a:endParaRPr sz="1400" u="none" cap="none" strike="noStrike"/>
                    </a:p>
                  </a:txBody>
                  <a:tcPr marT="45750" marB="45750" marR="91500" marL="91500">
                    <a:lnB cap="flat" cmpd="sng" w="12700">
                      <a:solidFill>
                        <a:srgbClr val="D0CECE"/>
                      </a:solidFill>
                      <a:prstDash val="solid"/>
                      <a:round/>
                      <a:headEnd len="sm" w="sm" type="none"/>
                      <a:tailEnd len="sm" w="sm" type="none"/>
                    </a:lnB>
                    <a:solidFill>
                      <a:schemeClr val="lt1"/>
                    </a:solidFill>
                  </a:tcPr>
                </a:tc>
                <a:tc hMerge="1"/>
                <a:tc hMerge="1"/>
                <a:tc hMerge="1"/>
                <a:tc hMerge="1"/>
                <a:tc hMerge="1"/>
                <a:tc hMerge="1"/>
                <a:tc hMerge="1"/>
                <a:tc hMerge="1"/>
                <a:tc hMerge="1"/>
              </a:tr>
              <a:tr h="421800">
                <a:tc gridSpan="10">
                  <a:txBody>
                    <a:bodyPr/>
                    <a:lstStyle/>
                    <a:p>
                      <a:pPr indent="0" lvl="0" marL="0" marR="0" rtl="0" algn="ctr">
                        <a:lnSpc>
                          <a:spcPct val="100000"/>
                        </a:lnSpc>
                        <a:spcBef>
                          <a:spcPts val="0"/>
                        </a:spcBef>
                        <a:spcAft>
                          <a:spcPts val="0"/>
                        </a:spcAft>
                        <a:buClr>
                          <a:srgbClr val="000000"/>
                        </a:buClr>
                        <a:buSzPts val="2200"/>
                        <a:buFont typeface="Arial"/>
                        <a:buNone/>
                      </a:pPr>
                      <a:r>
                        <a:rPr b="1" lang="en-US" sz="2200" u="none" cap="none" strike="noStrike">
                          <a:solidFill>
                            <a:schemeClr val="lt1"/>
                          </a:solidFill>
                          <a:latin typeface="Arial"/>
                          <a:ea typeface="Arial"/>
                          <a:cs typeface="Arial"/>
                          <a:sym typeface="Arial"/>
                        </a:rPr>
                        <a:t>Minutes to Run One Kilometer</a:t>
                      </a:r>
                      <a:endParaRPr b="1" sz="2200" u="none" cap="none" strike="noStrike">
                        <a:solidFill>
                          <a:schemeClr val="lt1"/>
                        </a:solidFill>
                        <a:latin typeface="Arial"/>
                        <a:ea typeface="Arial"/>
                        <a:cs typeface="Arial"/>
                        <a:sym typeface="Arial"/>
                      </a:endParaRPr>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95B9A"/>
                    </a:solidFill>
                  </a:tcPr>
                </a:tc>
                <a:tc hMerge="1"/>
                <a:tc hMerge="1"/>
                <a:tc hMerge="1"/>
                <a:tc hMerge="1"/>
                <a:tc hMerge="1"/>
                <a:tc hMerge="1"/>
                <a:tc hMerge="1"/>
                <a:tc hMerge="1"/>
                <a:tc hMerge="1"/>
              </a:tr>
              <a:tr h="421800">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4.8</a:t>
                      </a:r>
                      <a:endParaRPr sz="2200" u="none" cap="none" strike="noStrike">
                        <a:latin typeface="Arial"/>
                        <a:ea typeface="Arial"/>
                        <a:cs typeface="Arial"/>
                        <a:sym typeface="Arial"/>
                      </a:endParaRPr>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5.2</a:t>
                      </a:r>
                      <a:endParaRPr sz="2200" u="none" cap="none" strike="noStrike">
                        <a:latin typeface="Arial"/>
                        <a:ea typeface="Arial"/>
                        <a:cs typeface="Arial"/>
                        <a:sym typeface="Arial"/>
                      </a:endParaRPr>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5.6</a:t>
                      </a:r>
                      <a:endParaRPr sz="2200" u="none" cap="none" strike="noStrike">
                        <a:latin typeface="Arial"/>
                        <a:ea typeface="Arial"/>
                        <a:cs typeface="Arial"/>
                        <a:sym typeface="Arial"/>
                      </a:endParaRPr>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5.3</a:t>
                      </a:r>
                      <a:endParaRPr sz="2200" u="none" cap="none" strike="noStrike">
                        <a:latin typeface="Arial"/>
                        <a:ea typeface="Arial"/>
                        <a:cs typeface="Arial"/>
                        <a:sym typeface="Arial"/>
                      </a:endParaRPr>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5.0</a:t>
                      </a:r>
                      <a:endParaRPr sz="2200" u="none" cap="none" strike="noStrike">
                        <a:latin typeface="Arial"/>
                        <a:ea typeface="Arial"/>
                        <a:cs typeface="Arial"/>
                        <a:sym typeface="Arial"/>
                      </a:endParaRPr>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4.7</a:t>
                      </a:r>
                      <a:endParaRPr sz="2200" u="none" cap="none" strike="noStrike">
                        <a:latin typeface="Arial"/>
                        <a:ea typeface="Arial"/>
                        <a:cs typeface="Arial"/>
                        <a:sym typeface="Arial"/>
                      </a:endParaRPr>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6.2</a:t>
                      </a:r>
                      <a:endParaRPr sz="2200" u="none" cap="none" strike="noStrike">
                        <a:latin typeface="Arial"/>
                        <a:ea typeface="Arial"/>
                        <a:cs typeface="Arial"/>
                        <a:sym typeface="Arial"/>
                      </a:endParaRPr>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4.7</a:t>
                      </a:r>
                      <a:endParaRPr sz="2200" u="none" cap="none" strike="noStrike">
                        <a:latin typeface="Arial"/>
                        <a:ea typeface="Arial"/>
                        <a:cs typeface="Arial"/>
                        <a:sym typeface="Arial"/>
                      </a:endParaRPr>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5.1</a:t>
                      </a:r>
                      <a:endParaRPr sz="2200" u="none" cap="none" strike="noStrike">
                        <a:latin typeface="Arial"/>
                        <a:ea typeface="Arial"/>
                        <a:cs typeface="Arial"/>
                        <a:sym typeface="Arial"/>
                      </a:endParaRPr>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5.8</a:t>
                      </a:r>
                      <a:endParaRPr sz="2200" u="none" cap="none" strike="noStrike">
                        <a:latin typeface="Arial"/>
                        <a:ea typeface="Arial"/>
                        <a:cs typeface="Arial"/>
                        <a:sym typeface="Arial"/>
                      </a:endParaRPr>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421800">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4.8</a:t>
                      </a:r>
                      <a:endParaRPr sz="2200" u="none" cap="none" strike="noStrike">
                        <a:latin typeface="Arial"/>
                        <a:ea typeface="Arial"/>
                        <a:cs typeface="Arial"/>
                        <a:sym typeface="Arial"/>
                      </a:endParaRPr>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5.5</a:t>
                      </a:r>
                      <a:endParaRPr sz="2200" u="none" cap="none" strike="noStrike">
                        <a:latin typeface="Arial"/>
                        <a:ea typeface="Arial"/>
                        <a:cs typeface="Arial"/>
                        <a:sym typeface="Arial"/>
                      </a:endParaRPr>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5.4</a:t>
                      </a:r>
                      <a:endParaRPr sz="2200" u="none" cap="none" strike="noStrike">
                        <a:latin typeface="Arial"/>
                        <a:ea typeface="Arial"/>
                        <a:cs typeface="Arial"/>
                        <a:sym typeface="Arial"/>
                      </a:endParaRPr>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5.1</a:t>
                      </a:r>
                      <a:endParaRPr sz="2200" u="none" cap="none" strike="noStrike">
                        <a:latin typeface="Arial"/>
                        <a:ea typeface="Arial"/>
                        <a:cs typeface="Arial"/>
                        <a:sym typeface="Arial"/>
                      </a:endParaRPr>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4.9</a:t>
                      </a:r>
                      <a:endParaRPr sz="2200" u="none" cap="none" strike="noStrike">
                        <a:latin typeface="Arial"/>
                        <a:ea typeface="Arial"/>
                        <a:cs typeface="Arial"/>
                        <a:sym typeface="Arial"/>
                      </a:endParaRPr>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5.0</a:t>
                      </a:r>
                      <a:endParaRPr sz="2200" u="none" cap="none" strike="noStrike">
                        <a:latin typeface="Arial"/>
                        <a:ea typeface="Arial"/>
                        <a:cs typeface="Arial"/>
                        <a:sym typeface="Arial"/>
                      </a:endParaRPr>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5.2</a:t>
                      </a:r>
                      <a:endParaRPr sz="2200" u="none" cap="none" strike="noStrike">
                        <a:latin typeface="Arial"/>
                        <a:ea typeface="Arial"/>
                        <a:cs typeface="Arial"/>
                        <a:sym typeface="Arial"/>
                      </a:endParaRPr>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5.5</a:t>
                      </a:r>
                      <a:endParaRPr sz="2200" u="none" cap="none" strike="noStrike">
                        <a:latin typeface="Arial"/>
                        <a:ea typeface="Arial"/>
                        <a:cs typeface="Arial"/>
                        <a:sym typeface="Arial"/>
                      </a:endParaRPr>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5.8</a:t>
                      </a:r>
                      <a:endParaRPr sz="2200" u="none" cap="none" strike="noStrike">
                        <a:latin typeface="Arial"/>
                        <a:ea typeface="Arial"/>
                        <a:cs typeface="Arial"/>
                        <a:sym typeface="Arial"/>
                      </a:endParaRPr>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6.0</a:t>
                      </a:r>
                      <a:endParaRPr sz="2200" u="none" cap="none" strike="noStrike">
                        <a:latin typeface="Arial"/>
                        <a:ea typeface="Arial"/>
                        <a:cs typeface="Arial"/>
                        <a:sym typeface="Arial"/>
                      </a:endParaRPr>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421800">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5.8</a:t>
                      </a:r>
                      <a:endParaRPr sz="2200" u="none" cap="none" strike="noStrike">
                        <a:latin typeface="Arial"/>
                        <a:ea typeface="Arial"/>
                        <a:cs typeface="Arial"/>
                        <a:sym typeface="Arial"/>
                      </a:endParaRPr>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5.9</a:t>
                      </a:r>
                      <a:endParaRPr sz="2200" u="none" cap="none" strike="noStrike">
                        <a:latin typeface="Arial"/>
                        <a:ea typeface="Arial"/>
                        <a:cs typeface="Arial"/>
                        <a:sym typeface="Arial"/>
                      </a:endParaRPr>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6.1</a:t>
                      </a:r>
                      <a:endParaRPr sz="2200" u="none" cap="none" strike="noStrike">
                        <a:latin typeface="Arial"/>
                        <a:ea typeface="Arial"/>
                        <a:cs typeface="Arial"/>
                        <a:sym typeface="Arial"/>
                      </a:endParaRPr>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4.8</a:t>
                      </a:r>
                      <a:endParaRPr sz="2200" u="none" cap="none" strike="noStrike">
                        <a:latin typeface="Arial"/>
                        <a:ea typeface="Arial"/>
                        <a:cs typeface="Arial"/>
                        <a:sym typeface="Arial"/>
                      </a:endParaRPr>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5.3</a:t>
                      </a:r>
                      <a:endParaRPr sz="2200" u="none" cap="none" strike="noStrike">
                        <a:latin typeface="Arial"/>
                        <a:ea typeface="Arial"/>
                        <a:cs typeface="Arial"/>
                        <a:sym typeface="Arial"/>
                      </a:endParaRPr>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5.4</a:t>
                      </a:r>
                      <a:endParaRPr sz="2200" u="none" cap="none" strike="noStrike">
                        <a:latin typeface="Arial"/>
                        <a:ea typeface="Arial"/>
                        <a:cs typeface="Arial"/>
                        <a:sym typeface="Arial"/>
                      </a:endParaRPr>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5.6</a:t>
                      </a:r>
                      <a:endParaRPr sz="2200" u="none" cap="none" strike="noStrike">
                        <a:latin typeface="Arial"/>
                        <a:ea typeface="Arial"/>
                        <a:cs typeface="Arial"/>
                        <a:sym typeface="Arial"/>
                      </a:endParaRPr>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4.5</a:t>
                      </a:r>
                      <a:endParaRPr sz="2200" u="none" cap="none" strike="noStrike">
                        <a:latin typeface="Arial"/>
                        <a:ea typeface="Arial"/>
                        <a:cs typeface="Arial"/>
                        <a:sym typeface="Arial"/>
                      </a:endParaRPr>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5.4</a:t>
                      </a:r>
                      <a:endParaRPr sz="2200" u="none" cap="none" strike="noStrike">
                        <a:latin typeface="Arial"/>
                        <a:ea typeface="Arial"/>
                        <a:cs typeface="Arial"/>
                        <a:sym typeface="Arial"/>
                      </a:endParaRPr>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5.0</a:t>
                      </a:r>
                      <a:endParaRPr sz="2200" u="none" cap="none" strike="noStrike">
                        <a:latin typeface="Arial"/>
                        <a:ea typeface="Arial"/>
                        <a:cs typeface="Arial"/>
                        <a:sym typeface="Arial"/>
                      </a:endParaRPr>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421800">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4.5</a:t>
                      </a:r>
                      <a:endParaRPr sz="2200" u="none" cap="none" strike="noStrike">
                        <a:latin typeface="Arial"/>
                        <a:ea typeface="Arial"/>
                        <a:cs typeface="Arial"/>
                        <a:sym typeface="Arial"/>
                      </a:endParaRPr>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5.7</a:t>
                      </a:r>
                      <a:endParaRPr sz="2200" u="none" cap="none" strike="noStrike">
                        <a:latin typeface="Arial"/>
                        <a:ea typeface="Arial"/>
                        <a:cs typeface="Arial"/>
                        <a:sym typeface="Arial"/>
                      </a:endParaRPr>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5.0</a:t>
                      </a:r>
                      <a:endParaRPr sz="2200" u="none" cap="none" strike="noStrike">
                        <a:latin typeface="Arial"/>
                        <a:ea typeface="Arial"/>
                        <a:cs typeface="Arial"/>
                        <a:sym typeface="Arial"/>
                      </a:endParaRPr>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4.6</a:t>
                      </a:r>
                      <a:endParaRPr sz="2200" u="none" cap="none" strike="noStrike">
                        <a:latin typeface="Arial"/>
                        <a:ea typeface="Arial"/>
                        <a:cs typeface="Arial"/>
                        <a:sym typeface="Arial"/>
                      </a:endParaRPr>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5.9</a:t>
                      </a:r>
                      <a:endParaRPr sz="2200" u="none" cap="none" strike="noStrike">
                        <a:latin typeface="Arial"/>
                        <a:ea typeface="Arial"/>
                        <a:cs typeface="Arial"/>
                        <a:sym typeface="Arial"/>
                      </a:endParaRPr>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5.1</a:t>
                      </a:r>
                      <a:endParaRPr sz="2200" u="none" cap="none" strike="noStrike">
                        <a:latin typeface="Arial"/>
                        <a:ea typeface="Arial"/>
                        <a:cs typeface="Arial"/>
                        <a:sym typeface="Arial"/>
                      </a:endParaRPr>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6.0</a:t>
                      </a:r>
                      <a:endParaRPr sz="2200" u="none" cap="none" strike="noStrike">
                        <a:latin typeface="Arial"/>
                        <a:ea typeface="Arial"/>
                        <a:cs typeface="Arial"/>
                        <a:sym typeface="Arial"/>
                      </a:endParaRPr>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5.0</a:t>
                      </a:r>
                      <a:endParaRPr sz="2200" u="none" cap="none" strike="noStrike">
                        <a:latin typeface="Arial"/>
                        <a:ea typeface="Arial"/>
                        <a:cs typeface="Arial"/>
                        <a:sym typeface="Arial"/>
                      </a:endParaRPr>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4.8</a:t>
                      </a:r>
                      <a:endParaRPr sz="2200" u="none" cap="none" strike="noStrike">
                        <a:latin typeface="Arial"/>
                        <a:ea typeface="Arial"/>
                        <a:cs typeface="Arial"/>
                        <a:sym typeface="Arial"/>
                      </a:endParaRPr>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5.3</a:t>
                      </a:r>
                      <a:endParaRPr sz="2200" u="none" cap="none" strike="noStrike">
                        <a:latin typeface="Arial"/>
                        <a:ea typeface="Arial"/>
                        <a:cs typeface="Arial"/>
                        <a:sym typeface="Arial"/>
                      </a:endParaRPr>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421800">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5.3</a:t>
                      </a:r>
                      <a:endParaRPr sz="1400" u="none" cap="none" strike="noStrike"/>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5.2</a:t>
                      </a:r>
                      <a:endParaRPr sz="1400" u="none" cap="none" strike="noStrike"/>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4.9</a:t>
                      </a:r>
                      <a:endParaRPr sz="1400" u="none" cap="none" strike="noStrike"/>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5.5</a:t>
                      </a:r>
                      <a:endParaRPr sz="1400" u="none" cap="none" strike="noStrike"/>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5.4</a:t>
                      </a:r>
                      <a:endParaRPr sz="1400" u="none" cap="none" strike="noStrike"/>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5.0</a:t>
                      </a:r>
                      <a:endParaRPr sz="1400" u="none" cap="none" strike="noStrike"/>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4.7</a:t>
                      </a:r>
                      <a:endParaRPr sz="1400" u="none" cap="none" strike="noStrike"/>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6.1</a:t>
                      </a:r>
                      <a:endParaRPr sz="1400" u="none" cap="none" strike="noStrike"/>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5.7</a:t>
                      </a:r>
                      <a:endParaRPr sz="1400" u="none" cap="none" strike="noStrike"/>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4.9</a:t>
                      </a:r>
                      <a:endParaRPr sz="1400" u="none" cap="none" strike="noStrike"/>
                    </a:p>
                  </a:txBody>
                  <a:tcPr marT="45750" marB="45750" marR="91500" marL="9150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bl>
          </a:graphicData>
        </a:graphic>
      </p:graphicFrame>
      <p:sp>
        <p:nvSpPr>
          <p:cNvPr id="757" name="Google Shape;757;p79"/>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75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23 / 46</a:t>
            </a:r>
          </a:p>
        </p:txBody>
      </p:sp>
      <p:grpSp>
        <p:nvGrpSpPr>
          <p:cNvPr id="759" name="TEACH-2-student-move" descr="TEACH 2 · Use strategies and tasks to engage students in rigorous work"/>
          <p:cNvGrpSpPr/>
          <p:nvPr/>
        </p:nvGrpSpPr>
        <p:grpSpPr>
          <a:xfrm>
            <a:off x="6187440" y="4419486"/>
            <a:ext cx="5501640" cy="594360"/>
            <a:chOff x="6187440" y="3238386"/>
            <a:chExt cx="5501640" cy="594360"/>
          </a:xfrm>
        </p:grpSpPr>
        <p:sp>
          <p:nvSpPr>
            <p:cNvPr id="760" name="TEACH-move-card"/>
            <p:cNvSpPr/>
            <p:nvPr/>
          </p:nvSpPr>
          <p:spPr>
            <a:xfrm>
              <a:off x="6187440" y="323838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761" name="TEACH-move-rule"/>
            <p:cNvSpPr/>
            <p:nvPr/>
          </p:nvSpPr>
          <p:spPr>
            <a:xfrm>
              <a:off x="6233160" y="3351314"/>
              <a:ext cx="100584" cy="368504"/>
            </a:xfrm>
            <a:prstGeom prst="roundRect">
              <a:avLst>
                <a:gd name="adj" fmla="val 50000"/>
              </a:avLst>
            </a:prstGeom>
            <a:solidFill>
              <a:srgbClr val="01708C"/>
            </a:solidFill>
            <a:ln>
              <a:noFill/>
            </a:ln>
          </p:spPr>
          <p:txBody>
            <a:bodyPr/>
            <a:lstStyle/>
            <a:p>
              <a:endParaRPr/>
            </a:p>
          </p:txBody>
        </p:sp>
        <p:sp>
          <p:nvSpPr>
            <p:cNvPr id="762" name="TEACH-move-text"/>
            <p:cNvSpPr txBox="1"/>
            <p:nvPr/>
          </p:nvSpPr>
          <p:spPr>
            <a:xfrm>
              <a:off x="6507480" y="323838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PICK YOUR STRATEGY  ·  </a:t>
              </a:r>
              <a:r>
                <a:rPr lang="en-US" sz="1200" dirty="0">
                  <a:solidFill>
                    <a:srgbClr val="13303A"/>
                  </a:solidFill>
                  <a:latin typeface="Arial"/>
                </a:rPr>
                <a:t>Choose your path — picture, table, number line, or equation — and be ready to say why you chose it.</a:t>
              </a:r>
              <a:endParaRPr lang="en-US" sz="1200"/>
            </a:p>
          </p:txBody>
        </p:sp>
      </p:gr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2.2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What does one bar count, and what information about individual values can this display no longer show?</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575" name="Google Shape;575;p5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76" name="Google Shape;576;p58"/>
          <p:cNvSpPr txBox="1"/>
          <p:nvPr/>
        </p:nvSpPr>
        <p:spPr>
          <a:xfrm>
            <a:off x="458739" y="5804491"/>
            <a:ext cx="7715444" cy="4671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What does the data in the table represent?</a:t>
            </a:r>
            <a:endParaRPr b="0" i="0" sz="1400" u="none" cap="none" strike="noStrike">
              <a:solidFill>
                <a:srgbClr val="000000"/>
              </a:solidFill>
              <a:latin typeface="Arial"/>
              <a:ea typeface="Arial"/>
              <a:cs typeface="Arial"/>
              <a:sym typeface="Arial"/>
            </a:endParaRPr>
          </a:p>
        </p:txBody>
      </p:sp>
      <p:sp>
        <p:nvSpPr>
          <p:cNvPr id="577" name="Google Shape;577;p58"/>
          <p:cNvSpPr txBox="1"/>
          <p:nvPr/>
        </p:nvSpPr>
        <p:spPr>
          <a:xfrm>
            <a:off x="522447" y="455750"/>
            <a:ext cx="6965281" cy="25688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Fifty middle school students took part in a 5-kilometer road race. The table shows the amount of time it took each student to run one kilometer during the race. What was most common time interval for the students?</a:t>
            </a:r>
            <a:endParaRPr b="1" i="0" sz="2800" u="none" cap="none" strike="noStrike">
              <a:solidFill>
                <a:srgbClr val="262626"/>
              </a:solidFill>
              <a:latin typeface="Arial"/>
              <a:ea typeface="Arial"/>
              <a:cs typeface="Arial"/>
              <a:sym typeface="Arial"/>
            </a:endParaRPr>
          </a:p>
        </p:txBody>
      </p:sp>
      <p:sp>
        <p:nvSpPr>
          <p:cNvPr id="578" name="Google Shape;578;p58"/>
          <p:cNvSpPr txBox="1"/>
          <p:nvPr/>
        </p:nvSpPr>
        <p:spPr>
          <a:xfrm>
            <a:off x="8594428" y="3424861"/>
            <a:ext cx="3459193" cy="25688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data represent the time it took the students to run one kilometer.</a:t>
            </a:r>
            <a:endParaRPr b="0" i="0" sz="1400" u="none" cap="none" strike="noStrike">
              <a:solidFill>
                <a:srgbClr val="000000"/>
              </a:solidFill>
              <a:latin typeface="Arial"/>
              <a:ea typeface="Arial"/>
              <a:cs typeface="Arial"/>
              <a:sym typeface="Arial"/>
            </a:endParaRPr>
          </a:p>
        </p:txBody>
      </p:sp>
      <p:graphicFrame>
        <p:nvGraphicFramePr>
          <p:cNvPr id="579" name="Google Shape;579;p58"/>
          <p:cNvGraphicFramePr/>
          <p:nvPr/>
        </p:nvGraphicFramePr>
        <p:xfrm>
          <a:off x="522447" y="3143367"/>
          <a:ext cx="3000000" cy="3000000"/>
        </p:xfrm>
        <a:graphic>
          <a:graphicData uri="http://schemas.openxmlformats.org/drawingml/2006/table">
            <a:tbl>
              <a:tblPr bandRow="1" firstRow="1">
                <a:noFill/>
                <a:tableStyleId>{7B81A0DB-3F27-4F21-9CA0-FA5A85361B75}</a:tableStyleId>
              </a:tblPr>
              <a:tblGrid>
                <a:gridCol w="600025"/>
                <a:gridCol w="600025"/>
                <a:gridCol w="600025"/>
                <a:gridCol w="600025"/>
                <a:gridCol w="600025"/>
                <a:gridCol w="600025"/>
                <a:gridCol w="600025"/>
                <a:gridCol w="600025"/>
                <a:gridCol w="600025"/>
                <a:gridCol w="600025"/>
                <a:gridCol w="600025"/>
                <a:gridCol w="600025"/>
                <a:gridCol w="600025"/>
              </a:tblGrid>
              <a:tr h="419175">
                <a:tc gridSpan="13">
                  <a:txBody>
                    <a:bodyPr/>
                    <a:lstStyle/>
                    <a:p>
                      <a:pPr indent="0" lvl="0" marL="0" marR="0" rtl="0" algn="ctr">
                        <a:lnSpc>
                          <a:spcPct val="100000"/>
                        </a:lnSpc>
                        <a:spcBef>
                          <a:spcPts val="0"/>
                        </a:spcBef>
                        <a:spcAft>
                          <a:spcPts val="0"/>
                        </a:spcAft>
                        <a:buClr>
                          <a:srgbClr val="000000"/>
                        </a:buClr>
                        <a:buSzPts val="2200"/>
                        <a:buFont typeface="Arial"/>
                        <a:buNone/>
                      </a:pPr>
                      <a:r>
                        <a:rPr b="1" lang="en-US" sz="2200" u="none" cap="none" strike="noStrike">
                          <a:solidFill>
                            <a:schemeClr val="lt1"/>
                          </a:solidFill>
                          <a:latin typeface="Arial"/>
                          <a:ea typeface="Arial"/>
                          <a:cs typeface="Arial"/>
                          <a:sym typeface="Arial"/>
                        </a:rPr>
                        <a:t>Minutes to Run One Kilometer</a:t>
                      </a:r>
                      <a:endParaRPr b="1" sz="2200" u="none" cap="none" strike="noStrike">
                        <a:solidFill>
                          <a:schemeClr val="lt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95B9A"/>
                    </a:solidFill>
                  </a:tcPr>
                </a:tc>
                <a:tc hMerge="1"/>
                <a:tc hMerge="1"/>
                <a:tc hMerge="1"/>
                <a:tc hMerge="1"/>
                <a:tc hMerge="1"/>
                <a:tc hMerge="1"/>
                <a:tc hMerge="1"/>
                <a:tc hMerge="1"/>
                <a:tc hMerge="1"/>
                <a:tc hMerge="1"/>
                <a:tc hMerge="1"/>
                <a:tc hMerge="1"/>
              </a:tr>
              <a:tr h="514575">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5.6</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5.3</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4.7</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6.2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4.7</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5.1</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5.5</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5.4</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504000">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5.1</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4.9</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5.5</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6.0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5.9</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6.1</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5.3</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5.4</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504000">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5.6</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4.5</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5.4</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4.5</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5.7</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4.6</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5.9</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5.1</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6.0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504000">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5.3</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5.3</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4.9</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5.5</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5.4</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4.7</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6.1</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5.7</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4.9</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Calibri"/>
                        <a:buNone/>
                      </a:pPr>
                      <a:r>
                        <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Calibri"/>
                        <a:buNone/>
                      </a:pPr>
                      <a:r>
                        <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bl>
          </a:graphicData>
        </a:graphic>
      </p:graphicFrame>
      <p:sp>
        <p:nvSpPr>
          <p:cNvPr id="31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25 / 46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592" name="Google Shape;592;p6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93" name="Google Shape;593;p60"/>
          <p:cNvSpPr txBox="1"/>
          <p:nvPr/>
        </p:nvSpPr>
        <p:spPr>
          <a:xfrm>
            <a:off x="528480" y="3859968"/>
            <a:ext cx="8410053" cy="9930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How can you group the students’ times to make the data easier to understand and interpret?</a:t>
            </a:r>
            <a:endParaRPr b="0" i="0" sz="1400" u="none" cap="none" strike="noStrike">
              <a:solidFill>
                <a:srgbClr val="000000"/>
              </a:solidFill>
              <a:latin typeface="Arial"/>
              <a:ea typeface="Arial"/>
              <a:cs typeface="Arial"/>
              <a:sym typeface="Arial"/>
            </a:endParaRPr>
          </a:p>
        </p:txBody>
      </p:sp>
      <p:sp>
        <p:nvSpPr>
          <p:cNvPr id="594" name="Google Shape;594;p60"/>
          <p:cNvSpPr txBox="1"/>
          <p:nvPr/>
        </p:nvSpPr>
        <p:spPr>
          <a:xfrm>
            <a:off x="614744" y="5253614"/>
            <a:ext cx="8323789" cy="113855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group the times into ranges, or intervals.</a:t>
            </a:r>
            <a:endParaRPr b="0" i="0" sz="1400" u="none" cap="none" strike="noStrike">
              <a:solidFill>
                <a:srgbClr val="000000"/>
              </a:solidFill>
              <a:latin typeface="Arial"/>
              <a:ea typeface="Arial"/>
              <a:cs typeface="Arial"/>
              <a:sym typeface="Arial"/>
            </a:endParaRPr>
          </a:p>
        </p:txBody>
      </p:sp>
      <p:graphicFrame>
        <p:nvGraphicFramePr>
          <p:cNvPr id="595" name="Google Shape;595;p60"/>
          <p:cNvGraphicFramePr/>
          <p:nvPr/>
        </p:nvGraphicFramePr>
        <p:xfrm>
          <a:off x="528480" y="1006036"/>
          <a:ext cx="3000000" cy="3000000"/>
        </p:xfrm>
        <a:graphic>
          <a:graphicData uri="http://schemas.openxmlformats.org/drawingml/2006/table">
            <a:tbl>
              <a:tblPr bandRow="1" firstRow="1">
                <a:noFill/>
                <a:tableStyleId>{7B81A0DB-3F27-4F21-9CA0-FA5A85361B75}</a:tableStyleId>
              </a:tblPr>
              <a:tblGrid>
                <a:gridCol w="600025"/>
                <a:gridCol w="600025"/>
                <a:gridCol w="600025"/>
                <a:gridCol w="600025"/>
                <a:gridCol w="600025"/>
                <a:gridCol w="600025"/>
                <a:gridCol w="600025"/>
                <a:gridCol w="600025"/>
                <a:gridCol w="600025"/>
                <a:gridCol w="600025"/>
                <a:gridCol w="600025"/>
                <a:gridCol w="600025"/>
                <a:gridCol w="600025"/>
              </a:tblGrid>
              <a:tr h="419175">
                <a:tc gridSpan="13">
                  <a:txBody>
                    <a:bodyPr/>
                    <a:lstStyle/>
                    <a:p>
                      <a:pPr indent="0" lvl="0" marL="0" marR="0" rtl="0" algn="ctr">
                        <a:lnSpc>
                          <a:spcPct val="100000"/>
                        </a:lnSpc>
                        <a:spcBef>
                          <a:spcPts val="0"/>
                        </a:spcBef>
                        <a:spcAft>
                          <a:spcPts val="0"/>
                        </a:spcAft>
                        <a:buClr>
                          <a:srgbClr val="000000"/>
                        </a:buClr>
                        <a:buSzPts val="2200"/>
                        <a:buFont typeface="Arial"/>
                        <a:buNone/>
                      </a:pPr>
                      <a:r>
                        <a:rPr b="1" lang="en-US" sz="2200" u="none" cap="none" strike="noStrike">
                          <a:solidFill>
                            <a:schemeClr val="lt1"/>
                          </a:solidFill>
                          <a:latin typeface="Arial"/>
                          <a:ea typeface="Arial"/>
                          <a:cs typeface="Arial"/>
                          <a:sym typeface="Arial"/>
                        </a:rPr>
                        <a:t>Minutes to Run One Kilometer</a:t>
                      </a:r>
                      <a:endParaRPr b="1" sz="2200" u="none" cap="none" strike="noStrike">
                        <a:solidFill>
                          <a:schemeClr val="lt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95B9A"/>
                    </a:solidFill>
                  </a:tcPr>
                </a:tc>
                <a:tc hMerge="1"/>
                <a:tc hMerge="1"/>
                <a:tc hMerge="1"/>
                <a:tc hMerge="1"/>
                <a:tc hMerge="1"/>
                <a:tc hMerge="1"/>
                <a:tc hMerge="1"/>
                <a:tc hMerge="1"/>
                <a:tc hMerge="1"/>
                <a:tc hMerge="1"/>
                <a:tc hMerge="1"/>
                <a:tc hMerge="1"/>
              </a:tr>
              <a:tr h="514575">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5.6</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5.3</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4.7</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6.2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4.7</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5.1</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5.5</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5.4</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504000">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5.1</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4.9</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5.5</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6.0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5.9</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6.1</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5.3</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5.4</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504000">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5.6</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4.5</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5.4</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4.5</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5.7</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4.6</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5.9</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5.1</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6.0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504000">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5.3</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5.3</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4.9</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5.5</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5.4</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4.7</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6.1</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5.7</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4.9</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Calibri"/>
                        <a:buNone/>
                      </a:pPr>
                      <a:r>
                        <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Calibri"/>
                        <a:buNone/>
                      </a:pPr>
                      <a:r>
                        <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bl>
          </a:graphicData>
        </a:graphic>
      </p:graphicFrame>
      <p:sp>
        <p:nvSpPr>
          <p:cNvPr id="31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27 / 46</a:t>
            </a:r>
          </a:p>
        </p:txBody>
      </p:sp>
      <p:grpSp>
        <p:nvGrpSpPr>
          <p:cNvPr id="596" name="TEACH-4-student-move" descr="TEACH 4 · Monitor progress and provide feedback"/>
          <p:cNvGrpSpPr/>
          <p:nvPr/>
        </p:nvGrpSpPr>
        <p:grpSpPr>
          <a:xfrm>
            <a:off x="6187440" y="4796212"/>
            <a:ext cx="5501640" cy="594360"/>
            <a:chOff x="6187440" y="3183312"/>
            <a:chExt cx="5501640" cy="594360"/>
          </a:xfrm>
        </p:grpSpPr>
        <p:sp>
          <p:nvSpPr>
            <p:cNvPr id="597" name="TEACH-move-card"/>
            <p:cNvSpPr/>
            <p:nvPr/>
          </p:nvSpPr>
          <p:spPr>
            <a:xfrm>
              <a:off x="6187440" y="3183312"/>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98" name="TEACH-move-rule"/>
            <p:cNvSpPr/>
            <p:nvPr/>
          </p:nvSpPr>
          <p:spPr>
            <a:xfrm>
              <a:off x="6233160" y="3296240"/>
              <a:ext cx="100584" cy="368504"/>
            </a:xfrm>
            <a:prstGeom prst="roundRect">
              <a:avLst>
                <a:gd name="adj" fmla="val 50000"/>
              </a:avLst>
            </a:prstGeom>
            <a:solidFill>
              <a:srgbClr val="01708C"/>
            </a:solidFill>
            <a:ln>
              <a:noFill/>
            </a:ln>
          </p:spPr>
          <p:txBody>
            <a:bodyPr/>
            <a:lstStyle/>
            <a:p>
              <a:endParaRPr/>
            </a:p>
          </p:txBody>
        </p:sp>
        <p:sp>
          <p:nvSpPr>
            <p:cNvPr id="599" name="TEACH-move-text"/>
            <p:cNvSpPr txBox="1"/>
            <p:nvPr/>
          </p:nvSpPr>
          <p:spPr>
            <a:xfrm>
              <a:off x="6507480" y="3183312"/>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SELF-CHECK  ·  </a:t>
              </a:r>
              <a:r>
                <a:rPr lang="en-US" sz="1200" dirty="0">
                  <a:solidFill>
                    <a:srgbClr val="13303A"/>
                  </a:solidFill>
                  <a:latin typeface="Arial"/>
                </a:rPr>
                <a:t>Mark it: ✓ got it  ·  ~ almost  ·  ? stuck. Then fix one thing before we move on.</a:t>
              </a:r>
              <a:endParaRPr lang="en-US" sz="1200"/>
            </a:p>
          </p:txBody>
        </p:sp>
      </p:gr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15" name="Google Shape;715;p7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16" name="Google Shape;716;p75"/>
          <p:cNvSpPr txBox="1"/>
          <p:nvPr/>
        </p:nvSpPr>
        <p:spPr>
          <a:xfrm>
            <a:off x="408626" y="447965"/>
            <a:ext cx="5457784" cy="5015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How can you determine which interval is the most common?</a:t>
            </a:r>
            <a:endParaRPr b="0" i="0" sz="1400" u="none" cap="none" strike="noStrike">
              <a:solidFill>
                <a:srgbClr val="000000"/>
              </a:solidFill>
              <a:latin typeface="Arial"/>
              <a:ea typeface="Arial"/>
              <a:cs typeface="Arial"/>
              <a:sym typeface="Arial"/>
            </a:endParaRPr>
          </a:p>
        </p:txBody>
      </p:sp>
      <p:pic>
        <p:nvPicPr>
          <p:cNvPr id="717" name="Google Shape;717;p75"/>
          <p:cNvPicPr preferRelativeResize="0"/>
          <p:nvPr/>
        </p:nvPicPr>
        <p:blipFill rotWithShape="1">
          <a:blip r:embed="rId2">
            <a:alphaModFix/>
          </a:blip>
          <a:srcRect b="0" l="0" r="0" t="0"/>
          <a:stretch/>
        </p:blipFill>
        <p:spPr>
          <a:xfrm>
            <a:off x="7861465" y="1376877"/>
            <a:ext cx="3409881" cy="3584511"/>
          </a:xfrm>
          <a:prstGeom prst="rect">
            <a:avLst/>
          </a:prstGeom>
          <a:noFill/>
          <a:ln>
            <a:noFill/>
          </a:ln>
        </p:spPr>
      </p:pic>
      <p:sp>
        <p:nvSpPr>
          <p:cNvPr id="718" name="Google Shape;718;p75"/>
          <p:cNvSpPr txBox="1"/>
          <p:nvPr/>
        </p:nvSpPr>
        <p:spPr>
          <a:xfrm>
            <a:off x="408626" y="2695818"/>
            <a:ext cx="6847197" cy="14663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You can look for the tallest bar on the histogram.</a:t>
            </a:r>
            <a:endParaRPr b="0" i="0" sz="1400" u="none" cap="none" strike="noStrike">
              <a:solidFill>
                <a:srgbClr val="000000"/>
              </a:solidFill>
              <a:latin typeface="Arial"/>
              <a:ea typeface="Arial"/>
              <a:cs typeface="Arial"/>
              <a:sym typeface="Arial"/>
            </a:endParaRPr>
          </a:p>
        </p:txBody>
      </p:sp>
      <p:pic>
        <p:nvPicPr>
          <p:cNvPr id="719" name="Google Shape;719;p75"/>
          <p:cNvPicPr preferRelativeResize="0"/>
          <p:nvPr/>
        </p:nvPicPr>
        <p:blipFill rotWithShape="1">
          <a:blip r:embed="rId3">
            <a:alphaModFix/>
          </a:blip>
          <a:srcRect b="0" l="0" r="0" t="0"/>
          <a:stretch/>
        </p:blipFill>
        <p:spPr>
          <a:xfrm>
            <a:off x="408626" y="4718756"/>
            <a:ext cx="7524000" cy="895409"/>
          </a:xfrm>
          <a:prstGeom prst="rect">
            <a:avLst/>
          </a:prstGeom>
          <a:noFill/>
          <a:ln>
            <a:noFill/>
          </a:ln>
        </p:spPr>
      </p:pic>
      <p:sp>
        <p:nvSpPr>
          <p:cNvPr id="720" name="Google Shape;720;p75"/>
          <p:cNvSpPr txBox="1"/>
          <p:nvPr/>
        </p:nvSpPr>
        <p:spPr>
          <a:xfrm>
            <a:off x="3126148" y="4876075"/>
            <a:ext cx="6783781" cy="642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Connecting Representations</a:t>
            </a:r>
            <a:endParaRPr b="0" i="0" sz="1400" u="none" cap="none" strike="noStrike">
              <a:solidFill>
                <a:srgbClr val="000000"/>
              </a:solidFill>
              <a:latin typeface="Arial"/>
              <a:ea typeface="Arial"/>
              <a:cs typeface="Arial"/>
              <a:sym typeface="Arial"/>
            </a:endParaRPr>
          </a:p>
        </p:txBody>
      </p:sp>
      <p:sp>
        <p:nvSpPr>
          <p:cNvPr id="721" name="Google Shape;721;p75"/>
          <p:cNvSpPr/>
          <p:nvPr/>
        </p:nvSpPr>
        <p:spPr>
          <a:xfrm>
            <a:off x="649932" y="5564826"/>
            <a:ext cx="10741420"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595959"/>
                </a:solidFill>
                <a:latin typeface="Arial"/>
                <a:ea typeface="Arial"/>
                <a:cs typeface="Arial"/>
                <a:sym typeface="Arial"/>
              </a:rPr>
              <a:t>How can you connect mathematical ideas to representations?</a:t>
            </a:r>
            <a:endParaRPr b="0" i="0" sz="1400" u="none" cap="none" strike="noStrike">
              <a:solidFill>
                <a:srgbClr val="000000"/>
              </a:solidFill>
              <a:latin typeface="Arial"/>
              <a:ea typeface="Arial"/>
              <a:cs typeface="Arial"/>
              <a:sym typeface="Arial"/>
            </a:endParaRPr>
          </a:p>
        </p:txBody>
      </p:sp>
      <p:sp>
        <p:nvSpPr>
          <p:cNvPr id="31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28 / 46</a:t>
            </a:r>
          </a:p>
        </p:txBody>
      </p:sp>
      <p:sp xmlns:p="http://schemas.openxmlformats.org/presentationml/2006/main" xmlns:a="http://schemas.openxmlformats.org/drawingml/2006/main">
        <p:nvSpPr>
          <p:cNvPr id="722" name="TEACH-embedded-student-prompt" descr="Student thinking and response directions"/>
          <p:cNvSpPr txBox="1"/>
          <p:nvPr/>
        </p:nvSpPr>
        <p:spPr>
          <a:xfrm>
            <a:off x="594360" y="17556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 you make.</a:t>
            </a:r>
            <a:endParaRPr lang="en-US" sz="20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Session 2 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2-2 · Represent and Describe Data in a Histogram</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200" u="none" cap="none" strike="noStrike">
                <a:solidFill>
                  <a:srgbClr val="14223A"/>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500" u="none" cap="none" strike="noStrike">
                <a:solidFill>
                  <a:srgbClr val="475569"/>
                </a:solidFill>
                <a:latin typeface="Arial"/>
                <a:ea typeface="Arial"/>
                <a:cs typeface="Arial"/>
                <a:sym typeface="Arial"/>
              </a:rPr>
              <a:t>Quick review from Session 1 · about 4 minutes</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In a histogram, what do the bars represent?</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Individual names</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Equal numerical intervals</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Word categories</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Decimals only</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250" u="none" cap="none" strike="noStrike">
                <a:solidFill>
                  <a:srgbClr val="14223A"/>
                </a:solidFill>
                <a:latin typeface="Arial"/>
                <a:ea typeface="Arial"/>
                <a:cs typeface="Arial"/>
                <a:sym typeface="Arial"/>
              </a:rPr>
              <a:t>If intervals are 0–4, 5–9, 10–14, what is each width?</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4</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5</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9</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10</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The vertical height of each bar represents:</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Interval size</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Frequency (data count)</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The mean value</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The minimum value</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Why do bars in a histogram touch each other?</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By accident</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Intervals are continuous</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To save space</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Only when empty</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29 / 46</a:t>
            </a: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Review Notes</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2-2 · Represent and Describe Data in a Histogram</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Review Notes — Session 2</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Histogram Intervals</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Data is grouped into equal, non-overlapping intervals along a number line.</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Frequency Representation</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Bar heights indicate the count of data values falling inside each </a:t>
            </a:r>
            <a:r>
              <a:rPr b="1" i="0" lang="en-US" sz="1450" u="none" cap="none" strike="noStrike">
                <a:solidFill>
                  <a:srgbClr val="475569"/>
                </a:solidFill>
                <a:latin typeface="Arial"/>
                <a:ea typeface="Arial"/>
                <a:cs typeface="Arial"/>
                <a:sym typeface="Arial"/>
              </a:rPr>
              <a:t xml:space="preserve">bin</a:t>
            </a:r>
            <a:r>
              <a:rPr b="0" i="0" lang="en-US" sz="1450" u="none" cap="none" strike="noStrike">
                <a:solidFill>
                  <a:srgbClr val="475569"/>
                </a:solidFill>
                <a:latin typeface="Arial"/>
                <a:ea typeface="Arial"/>
                <a:cs typeface="Arial"/>
                <a:sym typeface="Arial"/>
              </a:rPr>
              <a:t xml:space="preserve">.</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Continuous Scale</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Bars touch because numerical intervals continue without gaps across the range.</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31 / 46</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NAME THE MATH  ·  </a:t>
              </a:r>
              <a:r>
                <a:rPr lang="en-US" sz="1200" dirty="0">
                  <a:solidFill>
                    <a:srgbClr val="13303A"/>
                  </a:solidFill>
                  <a:latin typeface="Arial"/>
                </a:rPr>
                <a:t>Point to the part of this that is new today, and say what it changes.</a:t>
              </a:r>
              <a:endParaRPr lang="en-US" sz="1200"/>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80"/>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Represent and Describe Data in a Histogram</a:t>
            </a:r>
            <a:endParaRPr b="0" i="0" sz="1400" u="none" cap="none" strike="noStrike">
              <a:solidFill>
                <a:srgbClr val="000000"/>
              </a:solidFill>
              <a:latin typeface="Arial"/>
              <a:ea typeface="Arial"/>
              <a:cs typeface="Arial"/>
              <a:sym typeface="Arial"/>
            </a:endParaRPr>
          </a:p>
        </p:txBody>
      </p:sp>
      <p:sp>
        <p:nvSpPr>
          <p:cNvPr id="763" name="Google Shape;763;p80"/>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764" name="Google Shape;764;p80"/>
          <p:cNvCxnSpPr/>
          <p:nvPr/>
        </p:nvCxnSpPr>
        <p:spPr>
          <a:xfrm>
            <a:off x="-1" y="1560382"/>
            <a:ext cx="3166453" cy="0"/>
          </a:xfrm>
          <a:prstGeom prst="straightConnector1">
            <a:avLst/>
          </a:prstGeom>
          <a:noFill/>
          <a:ln cap="flat" cmpd="sng" w="19050">
            <a:solidFill>
              <a:srgbClr val="01708C"/>
            </a:solidFill>
            <a:prstDash val="solid"/>
            <a:miter lim="80"/>
            <a:headEnd len="sm" w="sm" type="none"/>
            <a:tailEnd len="sm" w="sm" type="none"/>
          </a:ln>
        </p:spPr>
      </p:cxnSp>
      <p:sp>
        <p:nvSpPr>
          <p:cNvPr id="76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32 / 46</a:t>
            </a:r>
          </a:p>
        </p:txBody>
      </p:sp>
      <p:grpSp>
        <p:nvGrpSpPr>
          <p:cNvPr id="766" name="TEACH-2-student-move" descr="TEACH 2 · Use strategies and tasks to engage students in rigorous work"/>
          <p:cNvGrpSpPr/>
          <p:nvPr/>
        </p:nvGrpSpPr>
        <p:grpSpPr>
          <a:xfrm>
            <a:off x="502920" y="3867612"/>
            <a:ext cx="11186160" cy="731520"/>
            <a:chOff x="502920" y="3867612"/>
            <a:chExt cx="11186160" cy="731520"/>
          </a:xfrm>
        </p:grpSpPr>
        <p:sp>
          <p:nvSpPr>
            <p:cNvPr id="767" name="TEACH-move-card"/>
            <p:cNvSpPr/>
            <p:nvPr/>
          </p:nvSpPr>
          <p:spPr>
            <a:xfrm>
              <a:off x="502920" y="38676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768" name="TEACH-move-rule"/>
            <p:cNvSpPr/>
            <p:nvPr/>
          </p:nvSpPr>
          <p:spPr>
            <a:xfrm>
              <a:off x="548640" y="4006601"/>
              <a:ext cx="100584" cy="453542"/>
            </a:xfrm>
            <a:prstGeom prst="roundRect">
              <a:avLst>
                <a:gd name="adj" fmla="val 50000"/>
              </a:avLst>
            </a:prstGeom>
            <a:solidFill>
              <a:srgbClr val="01708C"/>
            </a:solidFill>
            <a:ln>
              <a:noFill/>
            </a:ln>
          </p:spPr>
          <p:txBody>
            <a:bodyPr/>
            <a:lstStyle/>
            <a:p>
              <a:endParaRPr/>
            </a:p>
          </p:txBody>
        </p:sp>
        <p:sp>
          <p:nvSpPr>
            <p:cNvPr id="769" name="TEACH-move-text"/>
            <p:cNvSpPr txBox="1"/>
            <p:nvPr/>
          </p:nvSpPr>
          <p:spPr>
            <a:xfrm>
              <a:off x="822960" y="38676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STRUGGLE FIRST  ·  </a:t>
              </a:r>
              <a:r>
                <a:rPr lang="en-US" sz="1800" dirty="0">
                  <a:solidFill>
                    <a:srgbClr val="13303A"/>
                  </a:solidFill>
                  <a:latin typeface="Arial"/>
                </a:rPr>
                <a:t>Work on your own first. Stuck is allowed — try a second strategy before you ask.</a:t>
              </a:r>
              <a:endParaRPr lang="en-US" sz="1800"/>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cxnSp>
        <p:nvCxnSpPr>
          <p:cNvPr id="779" name="Google Shape;779;p8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780" name="Google Shape;780;p82"/>
          <p:cNvPicPr preferRelativeResize="0"/>
          <p:nvPr/>
        </p:nvPicPr>
        <p:blipFill rotWithShape="1">
          <a:blip r:embed="rId3">
            <a:alphaModFix/>
          </a:blip>
          <a:srcRect b="0" l="0" r="0" t="0"/>
          <a:stretch/>
        </p:blipFill>
        <p:spPr>
          <a:xfrm>
            <a:off x="4313382" y="1154373"/>
            <a:ext cx="4082472" cy="3335962"/>
          </a:xfrm>
          <a:prstGeom prst="rect">
            <a:avLst/>
          </a:prstGeom>
          <a:noFill/>
          <a:ln>
            <a:noFill/>
          </a:ln>
        </p:spPr>
      </p:pic>
      <p:sp>
        <p:nvSpPr>
          <p:cNvPr id="781" name="Google Shape;781;p82"/>
          <p:cNvSpPr txBox="1"/>
          <p:nvPr/>
        </p:nvSpPr>
        <p:spPr>
          <a:xfrm>
            <a:off x="474055" y="936101"/>
            <a:ext cx="3839328" cy="6497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Which doesn’t belong?</a:t>
            </a:r>
            <a:endParaRPr b="0" i="0" sz="1400" u="none" cap="none" strike="noStrike">
              <a:solidFill>
                <a:srgbClr val="000000"/>
              </a:solidFill>
              <a:latin typeface="Arial"/>
              <a:ea typeface="Arial"/>
              <a:cs typeface="Arial"/>
              <a:sym typeface="Arial"/>
            </a:endParaRPr>
          </a:p>
        </p:txBody>
      </p:sp>
      <p:sp>
        <p:nvSpPr>
          <p:cNvPr id="782" name="Google Shape;782;p82"/>
          <p:cNvSpPr txBox="1"/>
          <p:nvPr/>
        </p:nvSpPr>
        <p:spPr>
          <a:xfrm>
            <a:off x="474055" y="316034"/>
            <a:ext cx="3904129" cy="52072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id="783" name="Google Shape;783;p82"/>
          <p:cNvPicPr preferRelativeResize="0"/>
          <p:nvPr/>
        </p:nvPicPr>
        <p:blipFill rotWithShape="1">
          <a:blip r:embed="rId4">
            <a:alphaModFix/>
          </a:blip>
          <a:srcRect b="0" l="0" r="0" t="0"/>
          <a:stretch/>
        </p:blipFill>
        <p:spPr>
          <a:xfrm>
            <a:off x="474054" y="4986731"/>
            <a:ext cx="5054600" cy="838200"/>
          </a:xfrm>
          <a:prstGeom prst="rect">
            <a:avLst/>
          </a:prstGeom>
          <a:noFill/>
          <a:ln>
            <a:noFill/>
          </a:ln>
        </p:spPr>
      </p:pic>
      <p:sp>
        <p:nvSpPr>
          <p:cNvPr id="784" name="Google Shape;784;p82"/>
          <p:cNvSpPr txBox="1"/>
          <p:nvPr/>
        </p:nvSpPr>
        <p:spPr>
          <a:xfrm>
            <a:off x="3334071" y="5144049"/>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785" name="Google Shape;785;p82"/>
          <p:cNvSpPr/>
          <p:nvPr/>
        </p:nvSpPr>
        <p:spPr>
          <a:xfrm>
            <a:off x="687250" y="5802054"/>
            <a:ext cx="10741420"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What are you doing to meet the goal you set for today’s math class?</a:t>
            </a:r>
            <a:endParaRPr b="0" i="0" sz="1400" u="none" cap="none" strike="noStrike">
              <a:solidFill>
                <a:srgbClr val="000000"/>
              </a:solidFill>
              <a:latin typeface="Arial"/>
              <a:ea typeface="Arial"/>
              <a:cs typeface="Arial"/>
              <a:sym typeface="Arial"/>
            </a:endParaRPr>
          </a:p>
        </p:txBody>
      </p:sp>
      <p:sp>
        <p:nvSpPr>
          <p:cNvPr id="78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33 / 46</a:t>
            </a:r>
          </a:p>
        </p:txBody>
      </p:sp>
      <p:sp xmlns:p="http://schemas.openxmlformats.org/presentationml/2006/main" xmlns:a="http://schemas.openxmlformats.org/drawingml/2006/main">
        <p:nvSpPr>
          <p:cNvPr id="787" name="TEACH-embedded-student-prompt" descr="Student thinking and response directions"/>
          <p:cNvSpPr txBox="1"/>
          <p:nvPr/>
        </p:nvSpPr>
        <p:spPr>
          <a:xfrm>
            <a:off x="6111240" y="486460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cxnSp>
        <p:nvCxnSpPr>
          <p:cNvPr id="790" name="Google Shape;790;p8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91" name="Google Shape;791;p83"/>
          <p:cNvSpPr txBox="1"/>
          <p:nvPr/>
        </p:nvSpPr>
        <p:spPr>
          <a:xfrm>
            <a:off x="484565" y="5822970"/>
            <a:ext cx="10571365" cy="50477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How can you describe the data set?</a:t>
            </a:r>
            <a:endParaRPr b="0" i="0" sz="1400" u="none" cap="none" strike="noStrike">
              <a:solidFill>
                <a:srgbClr val="000000"/>
              </a:solidFill>
              <a:latin typeface="Arial"/>
              <a:ea typeface="Arial"/>
              <a:cs typeface="Arial"/>
              <a:sym typeface="Arial"/>
            </a:endParaRPr>
          </a:p>
        </p:txBody>
      </p:sp>
      <p:graphicFrame>
        <p:nvGraphicFramePr>
          <p:cNvPr id="792" name="Google Shape;792;p83"/>
          <p:cNvGraphicFramePr/>
          <p:nvPr/>
        </p:nvGraphicFramePr>
        <p:xfrm>
          <a:off x="1453163" y="2789149"/>
          <a:ext cx="3000000" cy="3000000"/>
        </p:xfrm>
        <a:graphic>
          <a:graphicData uri="http://schemas.openxmlformats.org/drawingml/2006/table">
            <a:tbl>
              <a:tblPr bandRow="1" firstRow="1">
                <a:noFill/>
                <a:tableStyleId>{974E4A2D-D716-4A53-BA71-2DB6B5DF641B}</a:tableStyleId>
              </a:tblPr>
              <a:tblGrid>
                <a:gridCol w="836225"/>
                <a:gridCol w="785100"/>
                <a:gridCol w="766625"/>
                <a:gridCol w="748150"/>
                <a:gridCol w="887900"/>
              </a:tblGrid>
              <a:tr h="390975">
                <a:tc gridSpan="5">
                  <a:txBody>
                    <a:bodyPr/>
                    <a:lstStyle/>
                    <a:p>
                      <a:pPr indent="0" lvl="0" marL="0" marR="0" rtl="0" algn="l">
                        <a:lnSpc>
                          <a:spcPct val="100000"/>
                        </a:lnSpc>
                        <a:spcBef>
                          <a:spcPts val="0"/>
                        </a:spcBef>
                        <a:spcAft>
                          <a:spcPts val="0"/>
                        </a:spcAft>
                        <a:buClr>
                          <a:srgbClr val="000000"/>
                        </a:buClr>
                        <a:buSzPts val="2200"/>
                        <a:buFont typeface="Arial"/>
                        <a:buNone/>
                      </a:pPr>
                      <a:r>
                        <a:rPr b="1" lang="en-US" sz="2200" u="none" cap="none" strike="noStrike">
                          <a:solidFill>
                            <a:schemeClr val="dk1"/>
                          </a:solidFill>
                          <a:latin typeface="Arial"/>
                          <a:ea typeface="Arial"/>
                          <a:cs typeface="Arial"/>
                          <a:sym typeface="Arial"/>
                        </a:rPr>
                        <a:t>Beanstalks</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hMerge="1"/>
                <a:tc hMerge="1"/>
                <a:tc hMerge="1"/>
                <a:tc hMerge="1"/>
              </a:tr>
              <a:tr h="390975">
                <a:tc gridSpan="5">
                  <a:txBody>
                    <a:bodyPr/>
                    <a:lstStyle/>
                    <a:p>
                      <a:pPr indent="0" lvl="0" marL="0" marR="0" rtl="0" algn="ctr">
                        <a:lnSpc>
                          <a:spcPct val="100000"/>
                        </a:lnSpc>
                        <a:spcBef>
                          <a:spcPts val="0"/>
                        </a:spcBef>
                        <a:spcAft>
                          <a:spcPts val="0"/>
                        </a:spcAft>
                        <a:buClr>
                          <a:srgbClr val="000000"/>
                        </a:buClr>
                        <a:buSzPts val="2200"/>
                        <a:buFont typeface="Arial"/>
                        <a:buNone/>
                      </a:pPr>
                      <a:r>
                        <a:rPr b="1" lang="en-US" sz="2200" u="none" cap="none" strike="noStrike">
                          <a:solidFill>
                            <a:schemeClr val="lt1"/>
                          </a:solidFill>
                          <a:latin typeface="Arial"/>
                          <a:ea typeface="Arial"/>
                          <a:cs typeface="Arial"/>
                          <a:sym typeface="Arial"/>
                        </a:rPr>
                        <a:t>Heights of Plants (cm)</a:t>
                      </a:r>
                      <a:endParaRPr b="1" sz="2200" u="none" cap="none" strike="noStrike">
                        <a:solidFill>
                          <a:schemeClr val="lt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95B9A"/>
                    </a:solidFill>
                  </a:tcPr>
                </a:tc>
                <a:tc hMerge="1"/>
                <a:tc hMerge="1"/>
                <a:tc hMerge="1"/>
                <a:tc hMerge="1"/>
              </a:tr>
              <a:tr h="390975">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14</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14.5</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17.2</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90975">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9.5</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14.5</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14.7</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16.5</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90975">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13.5</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14.5</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15.7</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16.5</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90975">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11.5</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13.5</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14.5</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15.7</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17.7</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90975">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11.5</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13.5</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14</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15.7</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9</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bl>
          </a:graphicData>
        </a:graphic>
      </p:graphicFrame>
      <p:pic>
        <p:nvPicPr>
          <p:cNvPr id="793" name="Google Shape;793;p83"/>
          <p:cNvPicPr preferRelativeResize="0"/>
          <p:nvPr/>
        </p:nvPicPr>
        <p:blipFill rotWithShape="1">
          <a:blip r:embed="rId3">
            <a:alphaModFix/>
          </a:blip>
          <a:srcRect b="0" l="0" r="0" t="0"/>
          <a:stretch/>
        </p:blipFill>
        <p:spPr>
          <a:xfrm>
            <a:off x="7295504" y="1614487"/>
            <a:ext cx="3248025" cy="4089559"/>
          </a:xfrm>
          <a:prstGeom prst="rect">
            <a:avLst/>
          </a:prstGeom>
          <a:noFill/>
          <a:ln>
            <a:noFill/>
          </a:ln>
        </p:spPr>
      </p:pic>
      <p:sp>
        <p:nvSpPr>
          <p:cNvPr id="794" name="Google Shape;794;p83"/>
          <p:cNvSpPr txBox="1"/>
          <p:nvPr/>
        </p:nvSpPr>
        <p:spPr>
          <a:xfrm>
            <a:off x="484565" y="936100"/>
            <a:ext cx="6673617" cy="172397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Students planted beans for a science experiment. They measured their plants after two weeks and recorded the data shown in the table.</a:t>
            </a:r>
            <a:endParaRPr b="1" i="0" sz="2800" u="none" cap="none" strike="noStrike">
              <a:solidFill>
                <a:srgbClr val="262626"/>
              </a:solidFill>
              <a:latin typeface="Arial"/>
              <a:ea typeface="Arial"/>
              <a:cs typeface="Arial"/>
              <a:sym typeface="Arial"/>
            </a:endParaRPr>
          </a:p>
        </p:txBody>
      </p:sp>
      <p:sp>
        <p:nvSpPr>
          <p:cNvPr id="795" name="Google Shape;795;p83"/>
          <p:cNvSpPr txBox="1"/>
          <p:nvPr/>
        </p:nvSpPr>
        <p:spPr>
          <a:xfrm>
            <a:off x="484565" y="316034"/>
            <a:ext cx="499259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Growing Plants</a:t>
            </a:r>
            <a:endParaRPr b="0" i="0" sz="1400" u="none" cap="none" strike="noStrike">
              <a:solidFill>
                <a:srgbClr val="000000"/>
              </a:solidFill>
              <a:latin typeface="Arial"/>
              <a:ea typeface="Arial"/>
              <a:cs typeface="Arial"/>
              <a:sym typeface="Arial"/>
            </a:endParaRPr>
          </a:p>
        </p:txBody>
      </p:sp>
      <p:sp>
        <p:nvSpPr>
          <p:cNvPr id="79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34 / 46</a:t>
            </a: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cxnSp>
        <p:nvCxnSpPr>
          <p:cNvPr id="864" name="Google Shape;864;p9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65" name="Google Shape;865;p91"/>
          <p:cNvSpPr txBox="1"/>
          <p:nvPr/>
        </p:nvSpPr>
        <p:spPr>
          <a:xfrm>
            <a:off x="484565" y="4853451"/>
            <a:ext cx="8991944" cy="102181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600"/>
              <a:buFont typeface="Arial"/>
              <a:buNone/>
              <a:defRPr/>
            </a:pPr>
            <a:r>
              <a:rPr b="1" i="0" lang="en-US" sz="2600" u="none" cap="none" strike="noStrike">
                <a:solidFill>
                  <a:srgbClr val="23282D"/>
                </a:solidFill>
                <a:latin typeface="Arial"/>
                <a:ea typeface="Arial"/>
                <a:cs typeface="Arial"/>
                <a:sym typeface="Arial"/>
              </a:rPr>
              <a:t>What do you notice about the shape of the histogram?</a:t>
            </a:r>
            <a:endParaRPr b="0" i="0" sz="1400" u="none" cap="none" strike="noStrike">
              <a:solidFill>
                <a:srgbClr val="000000"/>
              </a:solidFill>
              <a:latin typeface="Arial"/>
              <a:ea typeface="Arial"/>
              <a:cs typeface="Arial"/>
              <a:sym typeface="Arial"/>
            </a:endParaRPr>
          </a:p>
        </p:txBody>
      </p:sp>
      <p:pic>
        <p:nvPicPr>
          <p:cNvPr id="866" name="Google Shape;866;p91"/>
          <p:cNvPicPr preferRelativeResize="0"/>
          <p:nvPr/>
        </p:nvPicPr>
        <p:blipFill rotWithShape="1">
          <a:blip r:embed="rId3">
            <a:alphaModFix/>
          </a:blip>
          <a:srcRect b="0" l="0" r="0" t="0"/>
          <a:stretch/>
        </p:blipFill>
        <p:spPr>
          <a:xfrm>
            <a:off x="5578485" y="1494297"/>
            <a:ext cx="5014305" cy="3413285"/>
          </a:xfrm>
          <a:prstGeom prst="rect">
            <a:avLst/>
          </a:prstGeom>
          <a:noFill/>
          <a:ln>
            <a:noFill/>
          </a:ln>
        </p:spPr>
      </p:pic>
      <p:graphicFrame>
        <p:nvGraphicFramePr>
          <p:cNvPr id="867" name="Google Shape;867;p91"/>
          <p:cNvGraphicFramePr/>
          <p:nvPr/>
        </p:nvGraphicFramePr>
        <p:xfrm>
          <a:off x="484565" y="1375166"/>
          <a:ext cx="3000000" cy="3000000"/>
        </p:xfrm>
        <a:graphic>
          <a:graphicData uri="http://schemas.openxmlformats.org/drawingml/2006/table">
            <a:tbl>
              <a:tblPr bandRow="1" firstRow="1">
                <a:noFill/>
                <a:tableStyleId>{974E4A2D-D716-4A53-BA71-2DB6B5DF641B}</a:tableStyleId>
              </a:tblPr>
              <a:tblGrid>
                <a:gridCol w="2484575"/>
                <a:gridCol w="1708725"/>
              </a:tblGrid>
              <a:tr h="390975">
                <a:tc gridSpan="2">
                  <a:txBody>
                    <a:bodyPr/>
                    <a:lstStyle/>
                    <a:p>
                      <a:pPr indent="0" lvl="0" marL="0" marR="0" rtl="0" algn="l">
                        <a:lnSpc>
                          <a:spcPct val="100000"/>
                        </a:lnSpc>
                        <a:spcBef>
                          <a:spcPts val="0"/>
                        </a:spcBef>
                        <a:spcAft>
                          <a:spcPts val="0"/>
                        </a:spcAft>
                        <a:buClr>
                          <a:srgbClr val="000000"/>
                        </a:buClr>
                        <a:buSzPts val="2200"/>
                        <a:buFont typeface="Arial"/>
                        <a:buNone/>
                      </a:pPr>
                      <a:r>
                        <a:rPr b="1" lang="en-US" sz="2200" u="none" cap="none" strike="noStrike">
                          <a:solidFill>
                            <a:schemeClr val="dk1"/>
                          </a:solidFill>
                          <a:latin typeface="Arial"/>
                          <a:ea typeface="Arial"/>
                          <a:cs typeface="Arial"/>
                          <a:sym typeface="Arial"/>
                        </a:rPr>
                        <a:t>Frequency of Plant Heights</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hMerge="1"/>
              </a:tr>
              <a:tr h="390975">
                <a:tc>
                  <a:txBody>
                    <a:bodyPr/>
                    <a:lstStyle/>
                    <a:p>
                      <a:pPr indent="0" lvl="0" marL="0" marR="0" rtl="0" algn="l">
                        <a:lnSpc>
                          <a:spcPct val="100000"/>
                        </a:lnSpc>
                        <a:spcBef>
                          <a:spcPts val="0"/>
                        </a:spcBef>
                        <a:spcAft>
                          <a:spcPts val="0"/>
                        </a:spcAft>
                        <a:buClr>
                          <a:srgbClr val="000000"/>
                        </a:buClr>
                        <a:buSzPts val="2200"/>
                        <a:buFont typeface="Arial"/>
                        <a:buNone/>
                      </a:pPr>
                      <a:r>
                        <a:rPr b="1" lang="en-US" sz="2200" u="none" cap="none" strike="noStrike">
                          <a:solidFill>
                            <a:schemeClr val="lt1"/>
                          </a:solidFill>
                          <a:latin typeface="Arial"/>
                          <a:ea typeface="Arial"/>
                          <a:cs typeface="Arial"/>
                          <a:sym typeface="Arial"/>
                        </a:rPr>
                        <a:t>Plant Heights (cm)</a:t>
                      </a:r>
                      <a:endParaRPr b="1" sz="2200" u="none" cap="none" strike="noStrike">
                        <a:solidFill>
                          <a:schemeClr val="lt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95B9A"/>
                    </a:solidFill>
                  </a:tcPr>
                </a:tc>
                <a:tc>
                  <a:txBody>
                    <a:bodyPr/>
                    <a:lstStyle/>
                    <a:p>
                      <a:pPr indent="0" lvl="0" marL="0" marR="0" rtl="0" algn="l">
                        <a:lnSpc>
                          <a:spcPct val="100000"/>
                        </a:lnSpc>
                        <a:spcBef>
                          <a:spcPts val="0"/>
                        </a:spcBef>
                        <a:spcAft>
                          <a:spcPts val="0"/>
                        </a:spcAft>
                        <a:buClr>
                          <a:srgbClr val="000000"/>
                        </a:buClr>
                        <a:buSzPts val="2200"/>
                        <a:buFont typeface="Arial"/>
                        <a:buNone/>
                      </a:pPr>
                      <a:r>
                        <a:rPr b="1" lang="en-US" sz="2200" u="none" cap="none" strike="noStrike">
                          <a:solidFill>
                            <a:schemeClr val="lt1"/>
                          </a:solidFill>
                          <a:latin typeface="Arial"/>
                          <a:ea typeface="Arial"/>
                          <a:cs typeface="Arial"/>
                          <a:sym typeface="Arial"/>
                        </a:rPr>
                        <a:t>Frequency</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95B9A"/>
                    </a:solidFill>
                  </a:tcPr>
                </a:tc>
              </a:tr>
              <a:tr h="390975">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9–10.9</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3</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90975">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11–12.9</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90975">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13–14.9</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90975">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15–16.9</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90975">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17–18.9</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3</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bl>
          </a:graphicData>
        </a:graphic>
      </p:graphicFrame>
      <p:sp>
        <p:nvSpPr>
          <p:cNvPr id="868" name="Google Shape;868;p91"/>
          <p:cNvSpPr txBox="1"/>
          <p:nvPr/>
        </p:nvSpPr>
        <p:spPr>
          <a:xfrm>
            <a:off x="484566" y="452671"/>
            <a:ext cx="6183654" cy="93316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600"/>
              <a:buFont typeface="Arial"/>
              <a:buNone/>
              <a:defRPr/>
            </a:pPr>
            <a:r>
              <a:rPr b="0" i="0" lang="en-US" sz="2600" u="none" cap="none" strike="noStrike">
                <a:solidFill>
                  <a:srgbClr val="23282D"/>
                </a:solidFill>
                <a:latin typeface="Arial"/>
                <a:ea typeface="Arial"/>
                <a:cs typeface="Arial"/>
                <a:sym typeface="Arial"/>
              </a:rPr>
              <a:t>Using the data in the frequency table, we can create a histogram.</a:t>
            </a:r>
            <a:endParaRPr b="0" i="0" sz="1400" u="none" cap="none" strike="noStrike">
              <a:solidFill>
                <a:srgbClr val="000000"/>
              </a:solidFill>
              <a:latin typeface="Arial"/>
              <a:ea typeface="Arial"/>
              <a:cs typeface="Arial"/>
              <a:sym typeface="Arial"/>
            </a:endParaRPr>
          </a:p>
        </p:txBody>
      </p:sp>
      <p:sp>
        <p:nvSpPr>
          <p:cNvPr id="869" name="Google Shape;869;p91"/>
          <p:cNvSpPr txBox="1"/>
          <p:nvPr/>
        </p:nvSpPr>
        <p:spPr>
          <a:xfrm>
            <a:off x="484565" y="5440421"/>
            <a:ext cx="11057350" cy="7746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95959"/>
              </a:buClr>
              <a:buSzPts val="2600"/>
              <a:buFont typeface="Arial"/>
              <a:buNone/>
              <a:defRPr/>
            </a:pPr>
            <a:r>
              <a:rPr b="0" i="0" lang="en-US" sz="2600" u="none" cap="none" strike="noStrike">
                <a:solidFill>
                  <a:srgbClr val="595959"/>
                </a:solidFill>
                <a:latin typeface="Arial"/>
                <a:ea typeface="Arial"/>
                <a:cs typeface="Arial"/>
                <a:sym typeface="Arial"/>
              </a:rPr>
              <a:t>The middle bar is the tallest. The bars on either side get shorter as you move away from the middle bar.</a:t>
            </a:r>
            <a:endParaRPr b="0" i="0" sz="1400" u="none" cap="none" strike="noStrike">
              <a:solidFill>
                <a:srgbClr val="000000"/>
              </a:solidFill>
              <a:latin typeface="Arial"/>
              <a:ea typeface="Arial"/>
              <a:cs typeface="Arial"/>
              <a:sym typeface="Arial"/>
            </a:endParaRPr>
          </a:p>
        </p:txBody>
      </p:sp>
      <p:sp>
        <p:nvSpPr>
          <p:cNvPr id="87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35 / 46</a:t>
            </a: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cxnSp>
        <p:nvCxnSpPr>
          <p:cNvPr id="883" name="Google Shape;883;p9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84" name="Google Shape;884;p93"/>
          <p:cNvSpPr txBox="1"/>
          <p:nvPr/>
        </p:nvSpPr>
        <p:spPr>
          <a:xfrm>
            <a:off x="427087" y="4196471"/>
            <a:ext cx="6282471" cy="147108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What do you notice about the bars on either side of the middle bar?</a:t>
            </a:r>
            <a:endParaRPr b="0" i="0" sz="1400" u="none" cap="none" strike="noStrike">
              <a:solidFill>
                <a:srgbClr val="000000"/>
              </a:solidFill>
              <a:latin typeface="Arial"/>
              <a:ea typeface="Arial"/>
              <a:cs typeface="Arial"/>
              <a:sym typeface="Arial"/>
            </a:endParaRPr>
          </a:p>
        </p:txBody>
      </p:sp>
      <p:sp>
        <p:nvSpPr>
          <p:cNvPr id="885" name="Google Shape;885;p93"/>
          <p:cNvSpPr txBox="1"/>
          <p:nvPr/>
        </p:nvSpPr>
        <p:spPr>
          <a:xfrm>
            <a:off x="427087" y="465452"/>
            <a:ext cx="5668914" cy="6098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Look at the shape of the curve.</a:t>
            </a:r>
            <a:endParaRPr b="0" i="0" sz="1400" u="none" cap="none" strike="noStrike">
              <a:solidFill>
                <a:srgbClr val="000000"/>
              </a:solidFill>
              <a:latin typeface="Arial"/>
              <a:ea typeface="Arial"/>
              <a:cs typeface="Arial"/>
              <a:sym typeface="Arial"/>
            </a:endParaRPr>
          </a:p>
        </p:txBody>
      </p:sp>
      <p:sp>
        <p:nvSpPr>
          <p:cNvPr id="886" name="Google Shape;886;p93"/>
          <p:cNvSpPr txBox="1"/>
          <p:nvPr/>
        </p:nvSpPr>
        <p:spPr>
          <a:xfrm>
            <a:off x="427087" y="5214064"/>
            <a:ext cx="7149370" cy="164393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 bars are about the same height.</a:t>
            </a:r>
            <a:endParaRPr b="0" i="0" sz="1400" u="none" cap="none" strike="noStrike">
              <a:solidFill>
                <a:srgbClr val="000000"/>
              </a:solidFill>
              <a:latin typeface="Arial"/>
              <a:ea typeface="Arial"/>
              <a:cs typeface="Arial"/>
              <a:sym typeface="Arial"/>
            </a:endParaRPr>
          </a:p>
        </p:txBody>
      </p:sp>
      <p:pic>
        <p:nvPicPr>
          <p:cNvPr id="887" name="Google Shape;887;p93"/>
          <p:cNvPicPr preferRelativeResize="0"/>
          <p:nvPr/>
        </p:nvPicPr>
        <p:blipFill rotWithShape="1">
          <a:blip r:embed="rId3">
            <a:alphaModFix/>
          </a:blip>
          <a:srcRect b="0" l="0" r="0" t="0"/>
          <a:stretch/>
        </p:blipFill>
        <p:spPr>
          <a:xfrm>
            <a:off x="5595285" y="1507569"/>
            <a:ext cx="5014305" cy="3458528"/>
          </a:xfrm>
          <a:prstGeom prst="rect">
            <a:avLst/>
          </a:prstGeom>
          <a:noFill/>
          <a:ln>
            <a:noFill/>
          </a:ln>
        </p:spPr>
      </p:pic>
      <p:sp>
        <p:nvSpPr>
          <p:cNvPr id="88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37 / 46</a:t>
            </a:r>
          </a:p>
        </p:txBody>
      </p:sp>
      <p:sp>
        <p:nvSpPr>
          <p:cNvPr id="889" name="EWL-COVER-1"/>
          <p:cNvSpPr/>
          <p:nvPr/>
        </p:nvSpPr>
        <p:spPr>
          <a:xfrm>
            <a:off x="372223" y="5159200"/>
            <a:ext cx="7259098" cy="1287320"/>
          </a:xfrm>
          <a:prstGeom prst="rect">
            <a:avLst/>
          </a:prstGeom>
          <a:solidFill>
            <a:srgbClr val="FFFFFF"/>
          </a:solidFill>
          <a:ln>
            <a:noFill/>
          </a:ln>
        </p:spPr>
        <p:txBody>
          <a:bodyPr/>
          <a:lstStyle/>
          <a:p/>
        </p:txBody>
      </p:sp>
      <p:sp xmlns:p="http://schemas.openxmlformats.org/presentationml/2006/main" xmlns:a="http://schemas.openxmlformats.org/drawingml/2006/main">
        <p:nvSpPr>
          <p:cNvPr id="890" name="TEACH-embedded-student-prompt" descr="Student thinking and response directions"/>
          <p:cNvSpPr txBox="1"/>
          <p:nvPr/>
        </p:nvSpPr>
        <p:spPr>
          <a:xfrm>
            <a:off x="594360" y="299923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a:t>
            </a:r>
            <a:endParaRPr lang="en-US" sz="2000"/>
          </a:p>
          <a:p>
            <a:pPr>
              <a:lnSpc>
                <a:spcPts val="2400"/>
              </a:lnSpc>
              <a:buNone/>
            </a:pPr>
            <a:r>
              <a:rPr lang="en-US" sz="2000">
                <a:solidFill>
                  <a:srgbClr val="174D60"/>
                </a:solidFill>
                <a:latin typeface="Arial"/>
              </a:rPr>
              <a:t>reveal. Compare, then explain</a:t>
            </a:r>
            <a:endParaRPr lang="en-US" sz="2000"/>
          </a:p>
          <a:p>
            <a:pPr>
              <a:lnSpc>
                <a:spcPts val="2400"/>
              </a:lnSpc>
              <a:buNone/>
            </a:pPr>
            <a:r>
              <a:rPr lang="en-US" sz="2000">
                <a:solidFill>
                  <a:srgbClr val="174D60"/>
                </a:solidFill>
                <a:latin typeface="Arial"/>
              </a:rPr>
              <a:t>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8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cxnSp>
        <p:nvCxnSpPr>
          <p:cNvPr id="931" name="Google Shape;931;p9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32" name="Google Shape;932;p98"/>
          <p:cNvSpPr txBox="1"/>
          <p:nvPr/>
        </p:nvSpPr>
        <p:spPr>
          <a:xfrm>
            <a:off x="5950678" y="5744798"/>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933" name="Google Shape;933;p98"/>
          <p:cNvSpPr/>
          <p:nvPr/>
        </p:nvSpPr>
        <p:spPr>
          <a:xfrm>
            <a:off x="567559" y="2360088"/>
            <a:ext cx="6589988" cy="3796835"/>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934" name="Google Shape;934;p98"/>
          <p:cNvSpPr txBox="1"/>
          <p:nvPr/>
        </p:nvSpPr>
        <p:spPr>
          <a:xfrm>
            <a:off x="484564" y="927528"/>
            <a:ext cx="6941472" cy="1358472"/>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a:pPr>
            <a:r>
              <a:rPr b="0" i="0" lang="en-US" sz="2800" u="none" cap="none" strike="noStrike">
                <a:solidFill>
                  <a:srgbClr val="23282D"/>
                </a:solidFill>
                <a:latin typeface="Arial"/>
                <a:ea typeface="Arial"/>
                <a:cs typeface="Arial"/>
                <a:sym typeface="Arial"/>
              </a:rPr>
              <a:t>Describe how the heights of the plants could have been measured. How might this affect the data?</a:t>
            </a:r>
            <a:endParaRPr b="0" i="0" sz="1400" u="none" cap="none" strike="noStrike">
              <a:solidFill>
                <a:srgbClr val="000000"/>
              </a:solidFill>
              <a:latin typeface="Arial"/>
              <a:ea typeface="Arial"/>
              <a:cs typeface="Arial"/>
              <a:sym typeface="Arial"/>
            </a:endParaRPr>
          </a:p>
        </p:txBody>
      </p:sp>
      <p:sp>
        <p:nvSpPr>
          <p:cNvPr id="935" name="Google Shape;935;p98"/>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9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38 / 46</a:t>
            </a:r>
          </a:p>
        </p:txBody>
      </p:sp>
      <p:sp xmlns:p="http://schemas.openxmlformats.org/presentationml/2006/main" xmlns:a="http://schemas.openxmlformats.org/drawingml/2006/main">
        <p:nvSpPr>
          <p:cNvPr id="937"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it yourself. Compare your</a:t>
            </a:r>
            <a:endParaRPr lang="en-US" sz="2000"/>
          </a:p>
          <a:p>
            <a:pPr>
              <a:lnSpc>
                <a:spcPts val="2400"/>
              </a:lnSpc>
              <a:buNone/>
            </a:pPr>
            <a:r>
              <a:rPr lang="en-US" sz="2000">
                <a:solidFill>
                  <a:srgbClr val="174D60"/>
                </a:solidFill>
                <a:latin typeface="Arial"/>
              </a:rPr>
              <a:t>work with a partner; explain one</a:t>
            </a:r>
            <a:endParaRPr lang="en-US" sz="2000"/>
          </a:p>
          <a:p>
            <a:pPr>
              <a:lnSpc>
                <a:spcPts val="2400"/>
              </a:lnSpc>
              <a:buNone/>
            </a:pPr>
            <a:r>
              <a:rPr lang="en-US" sz="2000">
                <a:solidFill>
                  <a:srgbClr val="174D60"/>
                </a:solidFill>
                <a:latin typeface="Arial"/>
              </a:rPr>
              <a:t>choice and revise.</a:t>
            </a:r>
            <a:endParaRPr lang="en-US" sz="2000"/>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2.2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reading a bar height as an individual data value.</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Trace each given value into its interval and label both axes.</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REVISE NOW  ·  </a:t>
              </a:r>
              <a:r>
                <a:rPr lang="en-US" sz="1200" dirty="0">
                  <a:solidFill>
                    <a:srgbClr val="13303A"/>
                  </a:solidFill>
                  <a:latin typeface="Arial"/>
                </a:rPr>
                <a:t>Change one answer and write why you changed it. A revision is evidence of learning.</a:t>
              </a:r>
              <a:endParaRPr lang="en-US" sz="1200"/>
            </a:p>
          </p:txBody>
        </p:sp>
      </p:gr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08" name="Google Shape;808;p8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09" name="Google Shape;809;p85"/>
          <p:cNvSpPr txBox="1"/>
          <p:nvPr/>
        </p:nvSpPr>
        <p:spPr>
          <a:xfrm>
            <a:off x="415554" y="443360"/>
            <a:ext cx="6673617" cy="56942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How can you display the data?</a:t>
            </a:r>
            <a:endParaRPr b="0" i="0" sz="1400" u="none" cap="none" strike="noStrike">
              <a:solidFill>
                <a:srgbClr val="000000"/>
              </a:solidFill>
              <a:latin typeface="Arial"/>
              <a:ea typeface="Arial"/>
              <a:cs typeface="Arial"/>
              <a:sym typeface="Arial"/>
            </a:endParaRPr>
          </a:p>
        </p:txBody>
      </p:sp>
      <p:sp>
        <p:nvSpPr>
          <p:cNvPr id="810" name="Google Shape;810;p85"/>
          <p:cNvSpPr txBox="1"/>
          <p:nvPr/>
        </p:nvSpPr>
        <p:spPr>
          <a:xfrm>
            <a:off x="415554" y="5174497"/>
            <a:ext cx="5043349" cy="117737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use a histogram.</a:t>
            </a:r>
            <a:endParaRPr b="0" i="0" sz="1400" u="none" cap="none" strike="noStrike">
              <a:solidFill>
                <a:srgbClr val="000000"/>
              </a:solidFill>
              <a:latin typeface="Arial"/>
              <a:ea typeface="Arial"/>
              <a:cs typeface="Arial"/>
              <a:sym typeface="Arial"/>
            </a:endParaRPr>
          </a:p>
        </p:txBody>
      </p:sp>
      <p:graphicFrame>
        <p:nvGraphicFramePr>
          <p:cNvPr id="811" name="Google Shape;811;p85"/>
          <p:cNvGraphicFramePr/>
          <p:nvPr/>
        </p:nvGraphicFramePr>
        <p:xfrm>
          <a:off x="566473" y="1683503"/>
          <a:ext cx="3000000" cy="3000000"/>
        </p:xfrm>
        <a:graphic>
          <a:graphicData uri="http://schemas.openxmlformats.org/drawingml/2006/table">
            <a:tbl>
              <a:tblPr bandRow="1" firstRow="1">
                <a:noFill/>
                <a:tableStyleId>{7B81A0DB-3F27-4F21-9CA0-FA5A85361B75}</a:tableStyleId>
              </a:tblPr>
              <a:tblGrid>
                <a:gridCol w="836225"/>
                <a:gridCol w="785100"/>
                <a:gridCol w="766625"/>
                <a:gridCol w="748150"/>
                <a:gridCol w="887900"/>
              </a:tblGrid>
              <a:tr h="390975">
                <a:tc gridSpan="5">
                  <a:txBody>
                    <a:bodyPr/>
                    <a:lstStyle/>
                    <a:p>
                      <a:pPr indent="0" lvl="0" marL="0" marR="0" rtl="0" algn="l">
                        <a:lnSpc>
                          <a:spcPct val="100000"/>
                        </a:lnSpc>
                        <a:spcBef>
                          <a:spcPts val="0"/>
                        </a:spcBef>
                        <a:spcAft>
                          <a:spcPts val="0"/>
                        </a:spcAft>
                        <a:buClr>
                          <a:srgbClr val="000000"/>
                        </a:buClr>
                        <a:buSzPts val="2200"/>
                        <a:buFont typeface="Arial"/>
                        <a:buNone/>
                      </a:pPr>
                      <a:r>
                        <a:rPr b="1" lang="en-US" sz="2200" u="none" cap="none" strike="noStrike">
                          <a:solidFill>
                            <a:schemeClr val="dk1"/>
                          </a:solidFill>
                          <a:latin typeface="Arial"/>
                          <a:ea typeface="Arial"/>
                          <a:cs typeface="Arial"/>
                          <a:sym typeface="Arial"/>
                        </a:rPr>
                        <a:t>Beanstalks</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hMerge="1"/>
                <a:tc hMerge="1"/>
                <a:tc hMerge="1"/>
                <a:tc hMerge="1"/>
              </a:tr>
              <a:tr h="390975">
                <a:tc gridSpan="5">
                  <a:txBody>
                    <a:bodyPr/>
                    <a:lstStyle/>
                    <a:p>
                      <a:pPr indent="0" lvl="0" marL="0" marR="0" rtl="0" algn="ctr">
                        <a:lnSpc>
                          <a:spcPct val="100000"/>
                        </a:lnSpc>
                        <a:spcBef>
                          <a:spcPts val="0"/>
                        </a:spcBef>
                        <a:spcAft>
                          <a:spcPts val="0"/>
                        </a:spcAft>
                        <a:buClr>
                          <a:srgbClr val="000000"/>
                        </a:buClr>
                        <a:buSzPts val="2200"/>
                        <a:buFont typeface="Arial"/>
                        <a:buNone/>
                      </a:pPr>
                      <a:r>
                        <a:rPr b="1" lang="en-US" sz="2200" u="none" cap="none" strike="noStrike">
                          <a:solidFill>
                            <a:schemeClr val="lt1"/>
                          </a:solidFill>
                          <a:latin typeface="Arial"/>
                          <a:ea typeface="Arial"/>
                          <a:cs typeface="Arial"/>
                          <a:sym typeface="Arial"/>
                        </a:rPr>
                        <a:t>Heights of Plants (cm)</a:t>
                      </a:r>
                      <a:endParaRPr b="1" sz="2200" u="none" cap="none" strike="noStrike">
                        <a:solidFill>
                          <a:schemeClr val="lt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95B9A"/>
                    </a:solidFill>
                  </a:tcPr>
                </a:tc>
                <a:tc hMerge="1"/>
                <a:tc hMerge="1"/>
                <a:tc hMerge="1"/>
                <a:tc hMerge="1"/>
              </a:tr>
              <a:tr h="390975">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14</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14.5</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17.2</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90975">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9.5</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14.5</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14.7</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16.5</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90975">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13.5</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14.5</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15.7</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16.5</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90975">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11.5</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13.5</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14.5</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15.7</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17.7</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90975">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11.5</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13.5</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14</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15.7</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9</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bl>
          </a:graphicData>
        </a:graphic>
      </p:graphicFrame>
      <p:sp>
        <p:nvSpPr>
          <p:cNvPr id="31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40 / 46</a:t>
            </a:r>
          </a:p>
        </p:txBody>
      </p:sp>
      <p:grpSp>
        <p:nvGrpSpPr>
          <p:cNvPr id="812" name="TEACH-3-student-move" descr="TEACH 3 · Use intentional questioning to deepen learning"/>
          <p:cNvGrpSpPr/>
          <p:nvPr/>
        </p:nvGrpSpPr>
        <p:grpSpPr>
          <a:xfrm>
            <a:off x="502920" y="4735585"/>
            <a:ext cx="11186160" cy="402336"/>
            <a:chOff x="502920" y="4735585"/>
            <a:chExt cx="11186160" cy="402336"/>
          </a:xfrm>
        </p:grpSpPr>
        <p:sp>
          <p:nvSpPr>
            <p:cNvPr id="813" name="TEACH-move-card"/>
            <p:cNvSpPr/>
            <p:nvPr/>
          </p:nvSpPr>
          <p:spPr>
            <a:xfrm>
              <a:off x="502920" y="4735585"/>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814" name="TEACH-move-rule"/>
            <p:cNvSpPr/>
            <p:nvPr/>
          </p:nvSpPr>
          <p:spPr>
            <a:xfrm>
              <a:off x="548640" y="4812029"/>
              <a:ext cx="100584" cy="249448"/>
            </a:xfrm>
            <a:prstGeom prst="roundRect">
              <a:avLst>
                <a:gd name="adj" fmla="val 50000"/>
              </a:avLst>
            </a:prstGeom>
            <a:solidFill>
              <a:srgbClr val="01708C"/>
            </a:solidFill>
            <a:ln>
              <a:noFill/>
            </a:ln>
          </p:spPr>
          <p:txBody>
            <a:bodyPr/>
            <a:lstStyle/>
            <a:p>
              <a:endParaRPr/>
            </a:p>
          </p:txBody>
        </p:sp>
        <p:sp>
          <p:nvSpPr>
            <p:cNvPr id="815" name="TEACH-move-text"/>
            <p:cNvSpPr txBox="1"/>
            <p:nvPr/>
          </p:nvSpPr>
          <p:spPr>
            <a:xfrm>
              <a:off x="822960" y="4735585"/>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ANOTHER PATHWAY  ·  </a:t>
              </a:r>
              <a:r>
                <a:rPr lang="en-US" sz="1200" dirty="0">
                  <a:solidFill>
                    <a:srgbClr val="13303A"/>
                  </a:solidFill>
                  <a:latin typeface="Arial"/>
                </a:rPr>
                <a:t>Did anyone get there a different way? Put both pathways side by side and compare.</a:t>
              </a:r>
              <a:endParaRPr lang="en-US" sz="1200"/>
            </a:p>
          </p:txBody>
        </p:sp>
      </p:gr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25" name="Google Shape;825;p8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26" name="Google Shape;826;p87"/>
          <p:cNvSpPr txBox="1"/>
          <p:nvPr/>
        </p:nvSpPr>
        <p:spPr>
          <a:xfrm>
            <a:off x="484565" y="4814574"/>
            <a:ext cx="10571365" cy="50477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What intervals could you use?</a:t>
            </a:r>
            <a:endParaRPr b="0" i="0" sz="1400" u="none" cap="none" strike="noStrike">
              <a:solidFill>
                <a:srgbClr val="000000"/>
              </a:solidFill>
              <a:latin typeface="Arial"/>
              <a:ea typeface="Arial"/>
              <a:cs typeface="Arial"/>
              <a:sym typeface="Arial"/>
            </a:endParaRPr>
          </a:p>
        </p:txBody>
      </p:sp>
      <p:sp>
        <p:nvSpPr>
          <p:cNvPr id="827" name="Google Shape;827;p87"/>
          <p:cNvSpPr txBox="1"/>
          <p:nvPr/>
        </p:nvSpPr>
        <p:spPr>
          <a:xfrm>
            <a:off x="484565" y="522032"/>
            <a:ext cx="6673617" cy="56942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You can display the data in a histogram.</a:t>
            </a:r>
            <a:endParaRPr b="0" i="0" sz="1400" u="none" cap="none" strike="noStrike">
              <a:solidFill>
                <a:srgbClr val="000000"/>
              </a:solidFill>
              <a:latin typeface="Arial"/>
              <a:ea typeface="Arial"/>
              <a:cs typeface="Arial"/>
              <a:sym typeface="Arial"/>
            </a:endParaRPr>
          </a:p>
        </p:txBody>
      </p:sp>
      <p:sp>
        <p:nvSpPr>
          <p:cNvPr id="828" name="Google Shape;828;p87"/>
          <p:cNvSpPr txBox="1"/>
          <p:nvPr/>
        </p:nvSpPr>
        <p:spPr>
          <a:xfrm>
            <a:off x="484565" y="5319346"/>
            <a:ext cx="7391494" cy="117737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You can use intervals of 0.9 centimeters.</a:t>
            </a:r>
            <a:endParaRPr b="0" i="0" sz="1400" u="none" cap="none" strike="noStrike">
              <a:solidFill>
                <a:srgbClr val="000000"/>
              </a:solidFill>
              <a:latin typeface="Arial"/>
              <a:ea typeface="Arial"/>
              <a:cs typeface="Arial"/>
              <a:sym typeface="Arial"/>
            </a:endParaRPr>
          </a:p>
        </p:txBody>
      </p:sp>
      <p:graphicFrame>
        <p:nvGraphicFramePr>
          <p:cNvPr id="829" name="Google Shape;829;p87"/>
          <p:cNvGraphicFramePr/>
          <p:nvPr/>
        </p:nvGraphicFramePr>
        <p:xfrm>
          <a:off x="566473" y="1683503"/>
          <a:ext cx="3000000" cy="3000000"/>
        </p:xfrm>
        <a:graphic>
          <a:graphicData uri="http://schemas.openxmlformats.org/drawingml/2006/table">
            <a:tbl>
              <a:tblPr bandRow="1" firstRow="1">
                <a:noFill/>
                <a:tableStyleId>{7B81A0DB-3F27-4F21-9CA0-FA5A85361B75}</a:tableStyleId>
              </a:tblPr>
              <a:tblGrid>
                <a:gridCol w="836225"/>
                <a:gridCol w="785100"/>
                <a:gridCol w="766625"/>
                <a:gridCol w="748150"/>
                <a:gridCol w="887900"/>
              </a:tblGrid>
              <a:tr h="390975">
                <a:tc gridSpan="5">
                  <a:txBody>
                    <a:bodyPr/>
                    <a:lstStyle/>
                    <a:p>
                      <a:pPr indent="0" lvl="0" marL="0" marR="0" rtl="0" algn="l">
                        <a:lnSpc>
                          <a:spcPct val="100000"/>
                        </a:lnSpc>
                        <a:spcBef>
                          <a:spcPts val="0"/>
                        </a:spcBef>
                        <a:spcAft>
                          <a:spcPts val="0"/>
                        </a:spcAft>
                        <a:buClr>
                          <a:srgbClr val="000000"/>
                        </a:buClr>
                        <a:buSzPts val="2200"/>
                        <a:buFont typeface="Arial"/>
                        <a:buNone/>
                      </a:pPr>
                      <a:r>
                        <a:rPr b="1" lang="en-US" sz="2200" u="none" cap="none" strike="noStrike">
                          <a:solidFill>
                            <a:schemeClr val="dk1"/>
                          </a:solidFill>
                          <a:latin typeface="Arial"/>
                          <a:ea typeface="Arial"/>
                          <a:cs typeface="Arial"/>
                          <a:sym typeface="Arial"/>
                        </a:rPr>
                        <a:t>Beanstalks</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hMerge="1"/>
                <a:tc hMerge="1"/>
                <a:tc hMerge="1"/>
                <a:tc hMerge="1"/>
              </a:tr>
              <a:tr h="390975">
                <a:tc gridSpan="5">
                  <a:txBody>
                    <a:bodyPr/>
                    <a:lstStyle/>
                    <a:p>
                      <a:pPr indent="0" lvl="0" marL="0" marR="0" rtl="0" algn="ctr">
                        <a:lnSpc>
                          <a:spcPct val="100000"/>
                        </a:lnSpc>
                        <a:spcBef>
                          <a:spcPts val="0"/>
                        </a:spcBef>
                        <a:spcAft>
                          <a:spcPts val="0"/>
                        </a:spcAft>
                        <a:buClr>
                          <a:srgbClr val="000000"/>
                        </a:buClr>
                        <a:buSzPts val="2200"/>
                        <a:buFont typeface="Arial"/>
                        <a:buNone/>
                      </a:pPr>
                      <a:r>
                        <a:rPr b="1" lang="en-US" sz="2200" u="none" cap="none" strike="noStrike">
                          <a:solidFill>
                            <a:schemeClr val="lt1"/>
                          </a:solidFill>
                          <a:latin typeface="Arial"/>
                          <a:ea typeface="Arial"/>
                          <a:cs typeface="Arial"/>
                          <a:sym typeface="Arial"/>
                        </a:rPr>
                        <a:t>Heights of Plants (cm)</a:t>
                      </a:r>
                      <a:endParaRPr b="1" sz="2200" u="none" cap="none" strike="noStrike">
                        <a:solidFill>
                          <a:schemeClr val="lt1"/>
                        </a:solidFill>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95B9A"/>
                    </a:solidFill>
                  </a:tcPr>
                </a:tc>
                <a:tc hMerge="1"/>
                <a:tc hMerge="1"/>
                <a:tc hMerge="1"/>
                <a:tc hMerge="1"/>
              </a:tr>
              <a:tr h="390975">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18</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14</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14.5</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17.2</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90975">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9.5</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12</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14.5</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14.7</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16.5</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90975">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10</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13.5</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14.5</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15.7</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16.5</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90975">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11.5</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13.5</a:t>
                      </a:r>
                      <a:endParaRPr sz="2200" u="none" cap="none" strike="noStrike">
                        <a:latin typeface="Arial"/>
                        <a:ea typeface="Arial"/>
                        <a:cs typeface="Arial"/>
                        <a:sym typeface="Arial"/>
                      </a:endParaRPr>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14.5</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15.7</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17.7</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390975">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11.5</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13.5</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14</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15.7</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9</a:t>
                      </a:r>
                      <a:endParaRPr sz="1400" u="none" cap="none" strike="noStrike"/>
                    </a:p>
                  </a:txBody>
                  <a:tcPr marT="45725" marB="45725" marR="91450" marL="91450">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bl>
          </a:graphicData>
        </a:graphic>
      </p:graphicFrame>
      <p:sp>
        <p:nvSpPr>
          <p:cNvPr id="31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41 / 46</a:t>
            </a:r>
          </a:p>
        </p:txBody>
      </p:sp>
      <p:grpSp>
        <p:nvGrpSpPr>
          <p:cNvPr id="830" name="TEACH-2-student-move" descr="TEACH 2 · Use strategies and tasks to engage students in rigorous work"/>
          <p:cNvGrpSpPr/>
          <p:nvPr/>
        </p:nvGrpSpPr>
        <p:grpSpPr>
          <a:xfrm>
            <a:off x="502920" y="1244591"/>
            <a:ext cx="11186160" cy="402336"/>
            <a:chOff x="502920" y="1244591"/>
            <a:chExt cx="11186160" cy="402336"/>
          </a:xfrm>
        </p:grpSpPr>
        <p:sp>
          <p:nvSpPr>
            <p:cNvPr id="831" name="TEACH-move-card"/>
            <p:cNvSpPr/>
            <p:nvPr/>
          </p:nvSpPr>
          <p:spPr>
            <a:xfrm>
              <a:off x="502920" y="1244591"/>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832" name="TEACH-move-rule"/>
            <p:cNvSpPr/>
            <p:nvPr/>
          </p:nvSpPr>
          <p:spPr>
            <a:xfrm>
              <a:off x="548640" y="1321035"/>
              <a:ext cx="100584" cy="249448"/>
            </a:xfrm>
            <a:prstGeom prst="roundRect">
              <a:avLst>
                <a:gd name="adj" fmla="val 50000"/>
              </a:avLst>
            </a:prstGeom>
            <a:solidFill>
              <a:srgbClr val="01708C"/>
            </a:solidFill>
            <a:ln>
              <a:noFill/>
            </a:ln>
          </p:spPr>
          <p:txBody>
            <a:bodyPr/>
            <a:lstStyle/>
            <a:p>
              <a:endParaRPr/>
            </a:p>
          </p:txBody>
        </p:sp>
        <p:sp>
          <p:nvSpPr>
            <p:cNvPr id="833" name="TEACH-move-text"/>
            <p:cNvSpPr txBox="1"/>
            <p:nvPr/>
          </p:nvSpPr>
          <p:spPr>
            <a:xfrm>
              <a:off x="822960" y="1244591"/>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USE YOUR TOOLS  ·  </a:t>
              </a:r>
              <a:r>
                <a:rPr lang="en-US" sz="1200" dirty="0">
                  <a:solidFill>
                    <a:srgbClr val="13303A"/>
                  </a:solidFill>
                  <a:latin typeface="Arial"/>
                </a:rPr>
                <a:t>Reach for your notes, a model, or a manipulative before you reach for an answer.</a:t>
              </a:r>
              <a:endParaRPr lang="en-US" sz="1200"/>
            </a:p>
          </p:txBody>
        </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cxnSp>
        <p:nvCxnSpPr>
          <p:cNvPr id="940" name="Google Shape;940;p9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941" name="Google Shape;941;p99"/>
          <p:cNvPicPr preferRelativeResize="0"/>
          <p:nvPr/>
        </p:nvPicPr>
        <p:blipFill rotWithShape="1">
          <a:blip r:embed="rId3">
            <a:alphaModFix/>
          </a:blip>
          <a:srcRect b="0" l="0" r="0" t="0"/>
          <a:stretch/>
        </p:blipFill>
        <p:spPr>
          <a:xfrm>
            <a:off x="6761018" y="3248025"/>
            <a:ext cx="2739692" cy="2880000"/>
          </a:xfrm>
          <a:prstGeom prst="rect">
            <a:avLst/>
          </a:prstGeom>
          <a:noFill/>
          <a:ln>
            <a:noFill/>
          </a:ln>
        </p:spPr>
      </p:pic>
      <p:sp>
        <p:nvSpPr>
          <p:cNvPr id="942" name="Google Shape;942;p99"/>
          <p:cNvSpPr txBox="1"/>
          <p:nvPr/>
        </p:nvSpPr>
        <p:spPr>
          <a:xfrm>
            <a:off x="5984446" y="1400175"/>
            <a:ext cx="5154238" cy="18478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A histogram displays data values in intervals. A histogram is a useful display when the data set is large.</a:t>
            </a:r>
            <a:endParaRPr b="0" i="0" sz="1400" u="none" cap="none" strike="noStrike">
              <a:solidFill>
                <a:srgbClr val="000000"/>
              </a:solidFill>
              <a:latin typeface="Arial"/>
              <a:ea typeface="Arial"/>
              <a:cs typeface="Arial"/>
              <a:sym typeface="Arial"/>
            </a:endParaRPr>
          </a:p>
        </p:txBody>
      </p:sp>
      <p:graphicFrame>
        <p:nvGraphicFramePr>
          <p:cNvPr id="943" name="Google Shape;943;p99"/>
          <p:cNvGraphicFramePr/>
          <p:nvPr/>
        </p:nvGraphicFramePr>
        <p:xfrm>
          <a:off x="521450" y="3248025"/>
          <a:ext cx="3000000" cy="3000000"/>
        </p:xfrm>
        <a:graphic>
          <a:graphicData uri="http://schemas.openxmlformats.org/drawingml/2006/table">
            <a:tbl>
              <a:tblPr bandRow="1" firstRow="1">
                <a:noFill/>
                <a:tableStyleId>{974E4A2D-D716-4A53-BA71-2DB6B5DF641B}</a:tableStyleId>
              </a:tblPr>
              <a:tblGrid>
                <a:gridCol w="2415200"/>
                <a:gridCol w="2415200"/>
              </a:tblGrid>
              <a:tr h="396000">
                <a:tc>
                  <a:txBody>
                    <a:bodyPr/>
                    <a:lstStyle/>
                    <a:p>
                      <a:pPr indent="0" lvl="0" marL="0" marR="0" rtl="0" algn="l">
                        <a:lnSpc>
                          <a:spcPct val="100000"/>
                        </a:lnSpc>
                        <a:spcBef>
                          <a:spcPts val="0"/>
                        </a:spcBef>
                        <a:spcAft>
                          <a:spcPts val="0"/>
                        </a:spcAft>
                        <a:buClr>
                          <a:srgbClr val="000000"/>
                        </a:buClr>
                        <a:buSzPts val="2200"/>
                        <a:buFont typeface="Arial"/>
                        <a:buNone/>
                      </a:pPr>
                      <a:r>
                        <a:rPr lang="en-US" sz="2200" u="none" cap="none" strike="noStrike">
                          <a:solidFill>
                            <a:schemeClr val="dk1"/>
                          </a:solidFill>
                          <a:latin typeface="Arial"/>
                          <a:ea typeface="Arial"/>
                          <a:cs typeface="Arial"/>
                          <a:sym typeface="Arial"/>
                        </a:rPr>
                        <a:t>Frequency Table</a:t>
                      </a:r>
                      <a:endParaRPr sz="1400" u="none" cap="none" strike="noStrike"/>
                    </a:p>
                  </a:txBody>
                  <a:tcPr marT="35225" marB="35225" marR="70475" marL="70475">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2200"/>
                        <a:buFont typeface="Arial"/>
                        <a:buNone/>
                      </a:pPr>
                      <a:r>
                        <a:t/>
                      </a:r>
                      <a:endParaRPr sz="2200" u="none" cap="none" strike="noStrike">
                        <a:latin typeface="Arial"/>
                        <a:ea typeface="Arial"/>
                        <a:cs typeface="Arial"/>
                        <a:sym typeface="Arial"/>
                      </a:endParaRPr>
                    </a:p>
                  </a:txBody>
                  <a:tcPr marT="35225" marB="35225" marR="70475" marL="70475">
                    <a:lnB cap="flat" cmpd="sng" w="12700">
                      <a:solidFill>
                        <a:srgbClr val="D0CECE"/>
                      </a:solidFill>
                      <a:prstDash val="solid"/>
                      <a:round/>
                      <a:headEnd len="sm" w="sm" type="none"/>
                      <a:tailEnd len="sm" w="sm" type="none"/>
                    </a:lnB>
                    <a:solidFill>
                      <a:schemeClr val="lt1"/>
                    </a:solidFill>
                  </a:tcPr>
                </a:tc>
              </a:tr>
              <a:tr h="684400">
                <a:tc>
                  <a:txBody>
                    <a:bodyPr/>
                    <a:lstStyle/>
                    <a:p>
                      <a:pPr indent="0" lvl="0" marL="0" marR="0" rtl="0" algn="l">
                        <a:lnSpc>
                          <a:spcPct val="100000"/>
                        </a:lnSpc>
                        <a:spcBef>
                          <a:spcPts val="0"/>
                        </a:spcBef>
                        <a:spcAft>
                          <a:spcPts val="0"/>
                        </a:spcAft>
                        <a:buClr>
                          <a:srgbClr val="000000"/>
                        </a:buClr>
                        <a:buSzPts val="2200"/>
                        <a:buFont typeface="Arial"/>
                        <a:buNone/>
                      </a:pPr>
                      <a:r>
                        <a:rPr b="1" lang="en-US" sz="2200" u="none" cap="none" strike="noStrike">
                          <a:solidFill>
                            <a:schemeClr val="lt1"/>
                          </a:solidFill>
                          <a:latin typeface="Arial"/>
                          <a:ea typeface="Arial"/>
                          <a:cs typeface="Arial"/>
                          <a:sym typeface="Arial"/>
                        </a:rPr>
                        <a:t>Minutes to Run One Kilometer</a:t>
                      </a:r>
                      <a:endParaRPr b="1" sz="2200" u="none" cap="none" strike="noStrike">
                        <a:solidFill>
                          <a:schemeClr val="lt1"/>
                        </a:solidFill>
                        <a:latin typeface="Arial"/>
                        <a:ea typeface="Arial"/>
                        <a:cs typeface="Arial"/>
                        <a:sym typeface="Arial"/>
                      </a:endParaRPr>
                    </a:p>
                  </a:txBody>
                  <a:tcPr marT="35225" marB="35225" marR="70475" marL="70475">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95B9A"/>
                    </a:solidFill>
                  </a:tcPr>
                </a:tc>
                <a:tc>
                  <a:txBody>
                    <a:bodyPr/>
                    <a:lstStyle/>
                    <a:p>
                      <a:pPr indent="0" lvl="0" marL="0" marR="0" rtl="0" algn="l">
                        <a:lnSpc>
                          <a:spcPct val="100000"/>
                        </a:lnSpc>
                        <a:spcBef>
                          <a:spcPts val="0"/>
                        </a:spcBef>
                        <a:spcAft>
                          <a:spcPts val="0"/>
                        </a:spcAft>
                        <a:buClr>
                          <a:srgbClr val="000000"/>
                        </a:buClr>
                        <a:buSzPts val="2200"/>
                        <a:buFont typeface="Arial"/>
                        <a:buNone/>
                      </a:pPr>
                      <a:r>
                        <a:rPr b="1" lang="en-US" sz="2200" u="none" cap="none" strike="noStrike">
                          <a:solidFill>
                            <a:schemeClr val="lt1"/>
                          </a:solidFill>
                          <a:latin typeface="Arial"/>
                          <a:ea typeface="Arial"/>
                          <a:cs typeface="Arial"/>
                          <a:sym typeface="Arial"/>
                        </a:rPr>
                        <a:t>Frequency</a:t>
                      </a:r>
                      <a:endParaRPr sz="1400" u="none" cap="none" strike="noStrike"/>
                    </a:p>
                  </a:txBody>
                  <a:tcPr marT="35225" marB="35225" marR="70475" marL="70475">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rgbClr val="695B9A"/>
                    </a:solidFill>
                  </a:tcPr>
                </a:tc>
              </a:tr>
              <a:tr h="369525">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4.5–4.9</a:t>
                      </a:r>
                      <a:endParaRPr sz="2200" u="none" cap="none" strike="noStrike">
                        <a:latin typeface="Arial"/>
                        <a:ea typeface="Arial"/>
                        <a:cs typeface="Arial"/>
                        <a:sym typeface="Arial"/>
                      </a:endParaRPr>
                    </a:p>
                  </a:txBody>
                  <a:tcPr marT="35225" marB="35225" marR="70475" marL="70475">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13</a:t>
                      </a:r>
                      <a:endParaRPr sz="2200" u="none" cap="none" strike="noStrike">
                        <a:latin typeface="Arial"/>
                        <a:ea typeface="Arial"/>
                        <a:cs typeface="Arial"/>
                        <a:sym typeface="Arial"/>
                      </a:endParaRPr>
                    </a:p>
                  </a:txBody>
                  <a:tcPr marT="35225" marB="35225" marR="70475" marL="70475">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408875">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5.0–5.4</a:t>
                      </a:r>
                      <a:endParaRPr sz="2200" u="none" cap="none" strike="noStrike">
                        <a:latin typeface="Arial"/>
                        <a:ea typeface="Arial"/>
                        <a:cs typeface="Arial"/>
                        <a:sym typeface="Arial"/>
                      </a:endParaRPr>
                    </a:p>
                  </a:txBody>
                  <a:tcPr marT="35225" marB="35225" marR="70475" marL="70475">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20</a:t>
                      </a:r>
                      <a:endParaRPr sz="2200" u="none" cap="none" strike="noStrike">
                        <a:latin typeface="Arial"/>
                        <a:ea typeface="Arial"/>
                        <a:cs typeface="Arial"/>
                        <a:sym typeface="Arial"/>
                      </a:endParaRPr>
                    </a:p>
                  </a:txBody>
                  <a:tcPr marT="35225" marB="35225" marR="70475" marL="70475">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408875">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5.5–5.9</a:t>
                      </a:r>
                      <a:endParaRPr sz="2200" u="none" cap="none" strike="noStrike">
                        <a:latin typeface="Arial"/>
                        <a:ea typeface="Arial"/>
                        <a:cs typeface="Arial"/>
                        <a:sym typeface="Arial"/>
                      </a:endParaRPr>
                    </a:p>
                  </a:txBody>
                  <a:tcPr marT="35225" marB="35225" marR="70475" marL="70475">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12</a:t>
                      </a:r>
                      <a:endParaRPr sz="1400" u="none" cap="none" strike="noStrike"/>
                    </a:p>
                  </a:txBody>
                  <a:tcPr marT="35225" marB="35225" marR="70475" marL="70475">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r h="408875">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6.0–6.4</a:t>
                      </a:r>
                      <a:endParaRPr sz="2200" u="none" cap="none" strike="noStrike">
                        <a:latin typeface="Arial"/>
                        <a:ea typeface="Arial"/>
                        <a:cs typeface="Arial"/>
                        <a:sym typeface="Arial"/>
                      </a:endParaRPr>
                    </a:p>
                  </a:txBody>
                  <a:tcPr marT="35225" marB="35225" marR="70475" marL="70475">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5</a:t>
                      </a:r>
                      <a:endParaRPr sz="1400" u="none" cap="none" strike="noStrike"/>
                    </a:p>
                  </a:txBody>
                  <a:tcPr marT="35225" marB="35225" marR="70475" marL="70475">
                    <a:lnL cap="flat" cmpd="sng" w="12700">
                      <a:solidFill>
                        <a:srgbClr val="D0CECE"/>
                      </a:solidFill>
                      <a:prstDash val="solid"/>
                      <a:round/>
                      <a:headEnd len="sm" w="sm" type="none"/>
                      <a:tailEnd len="sm" w="sm" type="none"/>
                    </a:lnL>
                    <a:lnR cap="flat" cmpd="sng" w="12700">
                      <a:solidFill>
                        <a:srgbClr val="D0CECE"/>
                      </a:solidFill>
                      <a:prstDash val="solid"/>
                      <a:round/>
                      <a:headEnd len="sm" w="sm" type="none"/>
                      <a:tailEnd len="sm" w="sm" type="none"/>
                    </a:lnR>
                    <a:lnT cap="flat" cmpd="sng" w="12700">
                      <a:solidFill>
                        <a:srgbClr val="D0CECE"/>
                      </a:solidFill>
                      <a:prstDash val="solid"/>
                      <a:round/>
                      <a:headEnd len="sm" w="sm" type="none"/>
                      <a:tailEnd len="sm" w="sm" type="none"/>
                    </a:lnT>
                    <a:lnB cap="flat" cmpd="sng" w="12700">
                      <a:solidFill>
                        <a:srgbClr val="D0CECE"/>
                      </a:solidFill>
                      <a:prstDash val="solid"/>
                      <a:round/>
                      <a:headEnd len="sm" w="sm" type="none"/>
                      <a:tailEnd len="sm" w="sm" type="none"/>
                    </a:lnB>
                  </a:tcPr>
                </a:tc>
              </a:tr>
            </a:tbl>
          </a:graphicData>
        </a:graphic>
      </p:graphicFrame>
      <p:sp>
        <p:nvSpPr>
          <p:cNvPr id="944" name="Google Shape;944;p99"/>
          <p:cNvSpPr txBox="1"/>
          <p:nvPr/>
        </p:nvSpPr>
        <p:spPr>
          <a:xfrm>
            <a:off x="521450" y="1400175"/>
            <a:ext cx="5154238" cy="1162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A frequency table organizes the data values into intervals.</a:t>
            </a:r>
            <a:endParaRPr b="0" i="0" sz="1400" u="none" cap="none" strike="noStrike">
              <a:solidFill>
                <a:srgbClr val="000000"/>
              </a:solidFill>
              <a:latin typeface="Arial"/>
              <a:ea typeface="Arial"/>
              <a:cs typeface="Arial"/>
              <a:sym typeface="Arial"/>
            </a:endParaRPr>
          </a:p>
        </p:txBody>
      </p:sp>
      <p:sp>
        <p:nvSpPr>
          <p:cNvPr id="945" name="Google Shape;945;p99"/>
          <p:cNvSpPr txBox="1"/>
          <p:nvPr/>
        </p:nvSpPr>
        <p:spPr>
          <a:xfrm>
            <a:off x="484566" y="316034"/>
            <a:ext cx="5892484" cy="826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Summarize:</a:t>
            </a:r>
            <a:r>
              <a:rPr b="1" i="0" lang="en-US" sz="2800" u="none" cap="none" strike="noStrike">
                <a:solidFill>
                  <a:srgbClr val="782DA0"/>
                </a:solidFill>
                <a:latin typeface="Arial"/>
                <a:ea typeface="Arial"/>
                <a:cs typeface="Arial"/>
                <a:sym typeface="Arial"/>
              </a:rPr>
              <a:t xml:space="preserve"> Represent and Describe Data in a Histogram</a:t>
            </a:r>
            <a:endParaRPr b="0" i="0" sz="1400" u="none" cap="none" strike="noStrike">
              <a:solidFill>
                <a:srgbClr val="000000"/>
              </a:solidFill>
              <a:latin typeface="Arial"/>
              <a:ea typeface="Arial"/>
              <a:cs typeface="Arial"/>
              <a:sym typeface="Arial"/>
            </a:endParaRPr>
          </a:p>
        </p:txBody>
      </p:sp>
      <p:sp>
        <p:nvSpPr>
          <p:cNvPr id="94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42 / 46</a:t>
            </a:r>
          </a:p>
        </p:txBody>
      </p:sp>
      <p:sp>
        <p:nvSpPr>
          <p:cNvPr id="947"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SUMMARIZE</a:t>
            </a:r>
            <a:r>
              <a:rPr lang="en-US" sz="1200" b="1">
                <a:solidFill>
                  <a:srgbClr val="5D6872"/>
                </a:solidFill>
                <a:latin typeface="Arial"/>
              </a:rPr>
              <a:t xml:space="preserve">  ·  SAY IT IN YOUR OWN WORDS</a:t>
            </a: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cxnSp>
        <p:nvCxnSpPr>
          <p:cNvPr id="950" name="Google Shape;950;p10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951" name="Google Shape;951;p100"/>
          <p:cNvPicPr preferRelativeResize="0"/>
          <p:nvPr/>
        </p:nvPicPr>
        <p:blipFill rotWithShape="1">
          <a:blip r:embed="rId3">
            <a:alphaModFix/>
          </a:blip>
          <a:srcRect b="0" l="0" r="0" t="0"/>
          <a:stretch/>
        </p:blipFill>
        <p:spPr>
          <a:xfrm>
            <a:off x="7128164" y="2752725"/>
            <a:ext cx="4680584" cy="2228850"/>
          </a:xfrm>
          <a:prstGeom prst="rect">
            <a:avLst/>
          </a:prstGeom>
          <a:noFill/>
          <a:ln>
            <a:noFill/>
          </a:ln>
        </p:spPr>
      </p:pic>
      <p:sp>
        <p:nvSpPr>
          <p:cNvPr id="952" name="Google Shape;952;p100"/>
          <p:cNvSpPr txBox="1"/>
          <p:nvPr/>
        </p:nvSpPr>
        <p:spPr>
          <a:xfrm>
            <a:off x="484564" y="927528"/>
            <a:ext cx="6719800" cy="549232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A group of friends are planning to make a movie. They research the running times of movies made. The data they collected are shown in the histogram. They have asked for your advice on how long their movie should run.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 xml:space="preserve">Question: </a:t>
            </a:r>
            <a:r>
              <a:rPr b="0" i="0" lang="en-US" sz="2800" u="none" cap="none" strike="noStrike">
                <a:solidFill>
                  <a:srgbClr val="23282D"/>
                </a:solidFill>
                <a:latin typeface="Arial"/>
                <a:ea typeface="Arial"/>
                <a:cs typeface="Arial"/>
                <a:sym typeface="Arial"/>
              </a:rPr>
              <a:t>What do you recommend? Explain your recommendation based on the data presented in the histogram.</a:t>
            </a:r>
            <a:endParaRPr b="0" i="0" sz="1400" u="none" cap="none" strike="noStrike">
              <a:solidFill>
                <a:srgbClr val="000000"/>
              </a:solidFill>
              <a:latin typeface="Arial"/>
              <a:ea typeface="Arial"/>
              <a:cs typeface="Arial"/>
              <a:sym typeface="Arial"/>
            </a:endParaRPr>
          </a:p>
        </p:txBody>
      </p:sp>
      <p:sp>
        <p:nvSpPr>
          <p:cNvPr id="953" name="Google Shape;953;p100"/>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0" i="0" lang="en-US" sz="2800" u="none" cap="none" strike="noStrike">
                <a:solidFill>
                  <a:srgbClr val="782DA0"/>
                </a:solidFill>
                <a:latin typeface="Arial"/>
                <a:ea typeface="Arial"/>
                <a:cs typeface="Arial"/>
                <a:sym typeface="Arial"/>
              </a:rPr>
              <a:t>Apply:</a:t>
            </a:r>
            <a:r>
              <a:rPr b="1" i="0" lang="en-US" sz="2800" u="none" cap="none" strike="noStrike">
                <a:solidFill>
                  <a:srgbClr val="782DA0"/>
                </a:solidFill>
                <a:latin typeface="Arial"/>
                <a:ea typeface="Arial"/>
                <a:cs typeface="Arial"/>
                <a:sym typeface="Arial"/>
              </a:rPr>
              <a:t xml:space="preserve"> Making Moves</a:t>
            </a:r>
            <a:endParaRPr b="0" i="0" sz="1400" u="none" cap="none" strike="noStrike">
              <a:solidFill>
                <a:srgbClr val="000000"/>
              </a:solidFill>
              <a:latin typeface="Arial"/>
              <a:ea typeface="Arial"/>
              <a:cs typeface="Arial"/>
              <a:sym typeface="Arial"/>
            </a:endParaRPr>
          </a:p>
        </p:txBody>
      </p:sp>
      <p:sp>
        <p:nvSpPr>
          <p:cNvPr id="95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44 / 46</a:t>
            </a:r>
          </a:p>
        </p:txBody>
      </p:sp>
      <p:sp>
        <p:nvSpPr>
          <p:cNvPr id="955"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APPLY</a:t>
            </a:r>
            <a:r>
              <a:rPr lang="en-US" sz="1200" b="1">
                <a:solidFill>
                  <a:srgbClr val="5D6872"/>
                </a:solidFill>
                <a:latin typeface="Arial"/>
              </a:rPr>
              <a:t xml:space="preserve">  ·  PLAN IT • SOLVE IT • PROVE IT</a:t>
            </a:r>
          </a:p>
        </p:txBody>
      </p:sp>
      <p:sp xmlns:p="http://schemas.openxmlformats.org/presentationml/2006/main" xmlns:a="http://schemas.openxmlformats.org/drawingml/2006/main">
        <p:nvSpPr>
          <p:cNvPr id="956"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Choose a method. Solve</a:t>
            </a:r>
            <a:endParaRPr lang="en-US" sz="2000"/>
          </a:p>
          <a:p>
            <a:pPr>
              <a:lnSpc>
                <a:spcPts val="2400"/>
              </a:lnSpc>
              <a:buNone/>
            </a:pPr>
            <a:r>
              <a:rPr lang="en-US" sz="2000">
                <a:solidFill>
                  <a:srgbClr val="174D60"/>
                </a:solidFill>
                <a:latin typeface="Arial"/>
              </a:rPr>
              <a:t>independently, justify your</a:t>
            </a:r>
            <a:endParaRPr lang="en-US" sz="2000"/>
          </a:p>
          <a:p>
            <a:pPr>
              <a:lnSpc>
                <a:spcPts val="2400"/>
              </a:lnSpc>
              <a:buNone/>
            </a:pPr>
            <a:r>
              <a:rPr lang="en-US" sz="2000">
                <a:solidFill>
                  <a:srgbClr val="174D60"/>
                </a:solidFill>
                <a:latin typeface="Arial"/>
              </a:rPr>
              <a:t>answer, then check the goal.</a:t>
            </a:r>
            <a:endParaRPr lang="en-US" sz="20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cxnSp>
        <p:nvCxnSpPr>
          <p:cNvPr id="958" name="Google Shape;958;p10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59" name="Google Shape;959;p101"/>
          <p:cNvSpPr txBox="1"/>
          <p:nvPr/>
        </p:nvSpPr>
        <p:spPr>
          <a:xfrm>
            <a:off x="484564" y="927528"/>
            <a:ext cx="8188919" cy="5305106"/>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I can display numerical data in a histogram and explain how this type of display is different from a dot plot.</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I can use repetition to describe the data by its shape.</a:t>
            </a:r>
            <a:endParaRPr b="0" i="0" sz="1400" u="none" cap="none" strike="noStrike">
              <a:solidFill>
                <a:srgbClr val="000000"/>
              </a:solidFill>
              <a:latin typeface="Arial"/>
              <a:ea typeface="Arial"/>
              <a:cs typeface="Arial"/>
              <a:sym typeface="Arial"/>
            </a:endParaRPr>
          </a:p>
        </p:txBody>
      </p:sp>
      <p:sp>
        <p:nvSpPr>
          <p:cNvPr id="960" name="Google Shape;960;p101"/>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sp>
        <p:nvSpPr>
          <p:cNvPr id="96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45 / 46</a:t>
            </a:r>
          </a:p>
        </p:txBody>
      </p:sp>
      <p:grpSp>
        <p:nvGrpSpPr>
          <p:cNvPr id="962" name="TEACH-1-student-move" descr="TEACH 1 · Facilitate clear, standards-based content learning"/>
          <p:cNvGrpSpPr/>
          <p:nvPr/>
        </p:nvGrpSpPr>
        <p:grpSpPr>
          <a:xfrm>
            <a:off x="502920" y="5472790"/>
            <a:ext cx="11186160" cy="402336"/>
            <a:chOff x="502920" y="5472790"/>
            <a:chExt cx="11186160" cy="402336"/>
          </a:xfrm>
        </p:grpSpPr>
        <p:sp>
          <p:nvSpPr>
            <p:cNvPr id="963"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964"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965"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2.2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Use equal-width intervals.</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2-2</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TWO MINUTES SOLO  ·  </a:t>
            </a:r>
            <a:r>
              <a:rPr lang="en-US" sz="2000" b="0" dirty="0">
                <a:solidFill>
                  <a:srgbClr val="13303A"/>
                </a:solidFill>
                <a:latin typeface="Arial"/>
              </a:rPr>
              <a:t>Two minutes on your own, then compare. Bring one thing you tried, even if it did not work.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20 / 46</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2-2</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3-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ASK THE CLASS  ·  </a:t>
            </a:r>
            <a:r>
              <a:rPr lang="en-US" sz="2000" b="0" dirty="0">
                <a:solidFill>
                  <a:srgbClr val="13303A"/>
                </a:solidFill>
                <a:latin typeface="Arial"/>
              </a:rPr>
              <a:t>Write one question about this that you could ask the class.</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26 / 46</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2-2</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6-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30 / 46</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2-2</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5-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TEACH A PARTNER  ·  </a:t>
            </a:r>
            <a:r>
              <a:rPr lang="en-US" sz="2000" b="0" dirty="0">
                <a:solidFill>
                  <a:srgbClr val="13303A"/>
                </a:solidFill>
                <a:latin typeface="Arial"/>
              </a:rPr>
              <a:t>Teach this to someone who missed it. If you can teach it, you know it.</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3-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PROVE IT  ·  </a:t>
            </a:r>
            <a:r>
              <a:rPr lang="en-US" sz="2000" b="0" dirty="0">
                <a:solidFill>
                  <a:srgbClr val="13303A"/>
                </a:solidFill>
                <a:latin typeface="Arial"/>
              </a:rPr>
              <a:t>Find the evidence in the problem that makes your answer right — not just the answer.</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36 / 46</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2-2</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4-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SPECIFIC FEEDBACK  ·  </a:t>
            </a:r>
            <a:r>
              <a:rPr lang="en-US" sz="2000" b="0" dirty="0">
                <a:solidFill>
                  <a:srgbClr val="13303A"/>
                </a:solidFill>
                <a:latin typeface="Arial"/>
              </a:rPr>
              <a:t>Trade work. Give one specific comment: “This part is clear because ______.”</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43 / 46</a:t>
            </a:r>
          </a:p>
        </p:txBody>
      </p:sp>
    </p:spTree>
  </p:cSld>
  <p:clrMapOvr>
    <a:masterClrMapping/>
  </p:clrMapOvr>
</p:sld>
</file>

<file path=ppt/theme/theme1.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2.2 — Represent and Describe Data in a Histogram</dc:title>
  <dc:creator>Neft Teacher</dc:creator>
  <cp:lastModifiedBy>Neft Teacher</cp:lastModifiedBy>
  <dcterms:created xsi:type="dcterms:W3CDTF">2026-09-30T12:04:43Z</dcterms:created>
  <dcterms:modified xsi:type="dcterms:W3CDTF">2026-09-30T12:04:43Z</dcterms:modified>
</cp:coreProperties>
</file>