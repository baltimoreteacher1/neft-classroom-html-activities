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 8 = 2 × 4, but 4 is not prime. 4 = 2 × 2, so 8 = 2 × 2 × 2. The correct prime factorization is 48 = 2 × 2 × 2 × 2 × 3 = 2⁴ ×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3749040" cy="5143500"/>
          </a:xfrm>
          <a:prstGeom prst="rect">
            <a:avLst/>
          </a:prstGeom>
          <a:solidFill>
            <a:srgbClr val="17324D"/>
          </a:solidFill>
          <a:ln/>
        </p:spPr>
      </p:sp>
      <p:sp>
        <p:nvSpPr>
          <p:cNvPr id="3" name="Shape 1"/>
          <p:cNvSpPr/>
          <p:nvPr/>
        </p:nvSpPr>
        <p:spPr>
          <a:xfrm>
            <a:off x="2651760" y="-640080"/>
            <a:ext cx="2011680" cy="2011680"/>
          </a:xfrm>
          <a:prstGeom prst="ellipse">
            <a:avLst/>
          </a:prstGeom>
          <a:solidFill>
            <a:srgbClr val="1FA6A2">
              <a:alpha val="35000"/>
            </a:srgbClr>
          </a:solidFill>
          <a:ln/>
        </p:spPr>
      </p:sp>
      <p:sp>
        <p:nvSpPr>
          <p:cNvPr id="4" name="Text 2"/>
          <p:cNvSpPr/>
          <p:nvPr/>
        </p:nvSpPr>
        <p:spPr>
          <a:xfrm>
            <a:off x="411480" y="365760"/>
            <a:ext cx="3017520" cy="274320"/>
          </a:xfrm>
          <a:prstGeom prst="rect">
            <a:avLst/>
          </a:prstGeom>
          <a:noFill/>
          <a:ln/>
        </p:spPr>
        <p:txBody>
          <a:bodyPr wrap="square" rtlCol="0" anchor="ctr"/>
          <a:lstStyle/>
          <a:p>
            <a:pPr indent="0" marL="0">
              <a:buNone/>
            </a:pPr>
            <a:r>
              <a:rPr lang="en-US" sz="1100" b="1" spc="200" kern="0" dirty="0">
                <a:solidFill>
                  <a:srgbClr val="BFE6E2"/>
                </a:solidFill>
                <a:latin typeface="Outfit" pitchFamily="34" charset="0"/>
                <a:ea typeface="Outfit" pitchFamily="34" charset="-122"/>
                <a:cs typeface="Outfit" pitchFamily="34" charset="-120"/>
              </a:rPr>
              <a:t>NEFT TEACHER</a:t>
            </a:r>
            <a:endParaRPr lang="en-US" sz="1100" dirty="0"/>
          </a:p>
        </p:txBody>
      </p:sp>
      <p:sp>
        <p:nvSpPr>
          <p:cNvPr id="5" name="Text 3"/>
          <p:cNvSpPr/>
          <p:nvPr/>
        </p:nvSpPr>
        <p:spPr>
          <a:xfrm>
            <a:off x="411480" y="777240"/>
            <a:ext cx="1371600" cy="822960"/>
          </a:xfrm>
          <a:prstGeom prst="rect">
            <a:avLst/>
          </a:prstGeom>
          <a:noFill/>
          <a:ln/>
        </p:spPr>
        <p:txBody>
          <a:bodyPr wrap="square" rtlCol="0" anchor="ctr"/>
          <a:lstStyle/>
          <a:p>
            <a:pPr indent="0" marL="0">
              <a:buNone/>
            </a:pPr>
            <a:r>
              <a:rPr lang="en-US" sz="4400" dirty="0">
                <a:solidFill>
                  <a:srgbClr val="000000"/>
                </a:solidFill>
              </a:rPr>
              <a:t>🚀</a:t>
            </a:r>
            <a:endParaRPr lang="en-US" sz="4400" dirty="0"/>
          </a:p>
        </p:txBody>
      </p:sp>
      <p:sp>
        <p:nvSpPr>
          <p:cNvPr id="6" name="Text 4"/>
          <p:cNvSpPr/>
          <p:nvPr/>
        </p:nvSpPr>
        <p:spPr>
          <a:xfrm>
            <a:off x="411480" y="1783080"/>
            <a:ext cx="3017520" cy="1554480"/>
          </a:xfrm>
          <a:prstGeom prst="rect">
            <a:avLst/>
          </a:prstGeom>
          <a:noFill/>
          <a:ln/>
        </p:spPr>
        <p:txBody>
          <a:bodyPr wrap="square" rtlCol="0" anchor="t"/>
          <a:lstStyle/>
          <a:p>
            <a:pPr indent="0" marL="0">
              <a:lnSpc>
                <a:spcPct val="95000"/>
              </a:lnSpc>
              <a:buNone/>
            </a:pPr>
            <a:r>
              <a:rPr lang="en-US" sz="3000" b="1" dirty="0">
                <a:solidFill>
                  <a:srgbClr val="FFFFFF"/>
                </a:solidFill>
                <a:latin typeface="Outfit" pitchFamily="34" charset="0"/>
                <a:ea typeface="Outfit" pitchFamily="34" charset="-122"/>
                <a:cs typeface="Outfit" pitchFamily="34" charset="-120"/>
              </a:rPr>
              <a:t>Prime Factorization</a:t>
            </a:r>
            <a:endParaRPr lang="en-US" sz="3000" dirty="0"/>
          </a:p>
        </p:txBody>
      </p:sp>
      <p:sp>
        <p:nvSpPr>
          <p:cNvPr id="7" name="Text 5"/>
          <p:cNvSpPr/>
          <p:nvPr/>
        </p:nvSpPr>
        <p:spPr>
          <a:xfrm>
            <a:off x="411480" y="4160520"/>
            <a:ext cx="1188720" cy="310896"/>
          </a:xfrm>
          <a:prstGeom prst="rect">
            <a:avLst>
              <a:gd name="adj" fmla="val 50000"/>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6.NS.4</a:t>
            </a:r>
            <a:endParaRPr lang="en-US" sz="1000" dirty="0"/>
          </a:p>
        </p:txBody>
      </p:sp>
      <p:sp>
        <p:nvSpPr>
          <p:cNvPr id="8" name="Text 6"/>
          <p:cNvSpPr/>
          <p:nvPr/>
        </p:nvSpPr>
        <p:spPr>
          <a:xfrm>
            <a:off x="1691640" y="4160520"/>
            <a:ext cx="1920240" cy="310896"/>
          </a:xfrm>
          <a:prstGeom prst="rect">
            <a:avLst/>
          </a:prstGeom>
          <a:noFill/>
          <a:ln/>
        </p:spPr>
        <p:txBody>
          <a:bodyPr wrap="square" rtlCol="0" anchor="ctr"/>
          <a:lstStyle/>
          <a:p>
            <a:pPr indent="0" marL="0">
              <a:buNone/>
            </a:pPr>
            <a:r>
              <a:rPr lang="en-US" sz="1000" dirty="0">
                <a:solidFill>
                  <a:srgbClr val="BFE6E2"/>
                </a:solidFill>
                <a:latin typeface="Hanken Grotesk" pitchFamily="34" charset="0"/>
                <a:ea typeface="Hanken Grotesk" pitchFamily="34" charset="-122"/>
                <a:cs typeface="Hanken Grotesk" pitchFamily="34" charset="-120"/>
              </a:rPr>
              <a:t>Unit 1  ·  Lesson 1-1-flagship</a:t>
            </a:r>
            <a:endParaRPr lang="en-US" sz="1000" dirty="0"/>
          </a:p>
        </p:txBody>
      </p:sp>
      <p:sp>
        <p:nvSpPr>
          <p:cNvPr id="9" name="Shape 7"/>
          <p:cNvSpPr/>
          <p:nvPr/>
        </p:nvSpPr>
        <p:spPr>
          <a:xfrm>
            <a:off x="4023360" y="411480"/>
            <a:ext cx="4800600" cy="1417320"/>
          </a:xfrm>
          <a:prstGeom prst="roundRect">
            <a:avLst>
              <a:gd name="adj" fmla="val 516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0" name="Text 8"/>
          <p:cNvSpPr/>
          <p:nvPr/>
        </p:nvSpPr>
        <p:spPr>
          <a:xfrm>
            <a:off x="4251960" y="548640"/>
            <a:ext cx="4389120" cy="365760"/>
          </a:xfrm>
          <a:prstGeom prst="rect">
            <a:avLst/>
          </a:prstGeom>
          <a:noFill/>
          <a:ln/>
        </p:spPr>
        <p:txBody>
          <a:bodyPr wrap="square" rtlCol="0" anchor="ctr"/>
          <a:lstStyle/>
          <a:p>
            <a:pPr indent="0" marL="0">
              <a:buNone/>
            </a:pPr>
            <a:r>
              <a:rPr lang="en-US" sz="1600" b="1" dirty="0">
                <a:solidFill>
                  <a:srgbClr val="17324D"/>
                </a:solidFill>
                <a:latin typeface="Outfit" pitchFamily="34" charset="0"/>
                <a:ea typeface="Outfit" pitchFamily="34" charset="-122"/>
                <a:cs typeface="Outfit" pitchFamily="34" charset="-120"/>
              </a:rPr>
              <a:t>My Math Notebook</a:t>
            </a:r>
            <a:endParaRPr lang="en-US" sz="1600" dirty="0"/>
          </a:p>
        </p:txBody>
      </p:sp>
      <p:sp>
        <p:nvSpPr>
          <p:cNvPr id="11" name="Text 9"/>
          <p:cNvSpPr/>
          <p:nvPr/>
        </p:nvSpPr>
        <p:spPr>
          <a:xfrm>
            <a:off x="4251960" y="1024128"/>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Name:</a:t>
            </a:r>
            <a:endParaRPr lang="en-US" sz="1000" dirty="0"/>
          </a:p>
        </p:txBody>
      </p:sp>
      <p:sp>
        <p:nvSpPr>
          <p:cNvPr id="12" name="Shape 10"/>
          <p:cNvSpPr/>
          <p:nvPr/>
        </p:nvSpPr>
        <p:spPr>
          <a:xfrm>
            <a:off x="4983480" y="1207008"/>
            <a:ext cx="3566160" cy="0"/>
          </a:xfrm>
          <a:prstGeom prst="line">
            <a:avLst/>
          </a:prstGeom>
          <a:noFill/>
          <a:ln w="9525">
            <a:solidFill>
              <a:srgbClr val="C7CDD2"/>
            </a:solidFill>
            <a:prstDash val="solid"/>
          </a:ln>
        </p:spPr>
      </p:sp>
      <p:sp>
        <p:nvSpPr>
          <p:cNvPr id="13" name="Text 11"/>
          <p:cNvSpPr/>
          <p:nvPr/>
        </p:nvSpPr>
        <p:spPr>
          <a:xfrm>
            <a:off x="4251960" y="1280160"/>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Date:</a:t>
            </a:r>
            <a:endParaRPr lang="en-US" sz="1000" dirty="0"/>
          </a:p>
        </p:txBody>
      </p:sp>
      <p:sp>
        <p:nvSpPr>
          <p:cNvPr id="14" name="Shape 12"/>
          <p:cNvSpPr/>
          <p:nvPr/>
        </p:nvSpPr>
        <p:spPr>
          <a:xfrm>
            <a:off x="4983480" y="1463040"/>
            <a:ext cx="3566160" cy="0"/>
          </a:xfrm>
          <a:prstGeom prst="line">
            <a:avLst/>
          </a:prstGeom>
          <a:noFill/>
          <a:ln w="9525">
            <a:solidFill>
              <a:srgbClr val="C7CDD2"/>
            </a:solidFill>
            <a:prstDash val="solid"/>
          </a:ln>
        </p:spPr>
      </p:sp>
      <p:sp>
        <p:nvSpPr>
          <p:cNvPr id="15" name="Text 13"/>
          <p:cNvSpPr/>
          <p:nvPr/>
        </p:nvSpPr>
        <p:spPr>
          <a:xfrm>
            <a:off x="4251960" y="1536192"/>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Period:</a:t>
            </a:r>
            <a:endParaRPr lang="en-US" sz="1000" dirty="0"/>
          </a:p>
        </p:txBody>
      </p:sp>
      <p:sp>
        <p:nvSpPr>
          <p:cNvPr id="16" name="Shape 14"/>
          <p:cNvSpPr/>
          <p:nvPr/>
        </p:nvSpPr>
        <p:spPr>
          <a:xfrm>
            <a:off x="4983480" y="1719072"/>
            <a:ext cx="3566160" cy="0"/>
          </a:xfrm>
          <a:prstGeom prst="line">
            <a:avLst/>
          </a:prstGeom>
          <a:noFill/>
          <a:ln w="9525">
            <a:solidFill>
              <a:srgbClr val="C7CDD2"/>
            </a:solidFill>
            <a:prstDash val="solid"/>
          </a:ln>
        </p:spPr>
      </p:sp>
      <p:sp>
        <p:nvSpPr>
          <p:cNvPr id="17" name="Shape 15"/>
          <p:cNvSpPr/>
          <p:nvPr/>
        </p:nvSpPr>
        <p:spPr>
          <a:xfrm>
            <a:off x="4023360" y="2011680"/>
            <a:ext cx="4800600" cy="1143000"/>
          </a:xfrm>
          <a:prstGeom prst="roundRect">
            <a:avLst>
              <a:gd name="adj" fmla="val 6400"/>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206240" y="2103120"/>
            <a:ext cx="4434840" cy="274320"/>
          </a:xfrm>
          <a:prstGeom prst="rect">
            <a:avLst/>
          </a:prstGeom>
          <a:noFill/>
          <a:ln/>
        </p:spPr>
        <p:txBody>
          <a:bodyPr wrap="square" rtlCol="0" anchor="ctr"/>
          <a:lstStyle/>
          <a:p>
            <a:pPr indent="0" marL="0">
              <a:buNone/>
            </a:pPr>
            <a:r>
              <a:rPr lang="en-US" sz="1100" b="1" dirty="0">
                <a:solidFill>
                  <a:srgbClr val="1FA6A2"/>
                </a:solidFill>
                <a:latin typeface="Outfit" pitchFamily="34" charset="0"/>
                <a:ea typeface="Outfit" pitchFamily="34" charset="-122"/>
                <a:cs typeface="Outfit" pitchFamily="34" charset="-120"/>
              </a:rPr>
              <a:t>I CAN…  </a:t>
            </a:r>
            <a:pPr indent="0" marL="0">
              <a:buNone/>
            </a:pPr>
            <a:r>
              <a:rPr lang="en-US" sz="900" i="1" dirty="0">
                <a:solidFill>
                  <a:srgbClr val="8A96A3"/>
                </a:solidFill>
                <a:latin typeface="Outfit" pitchFamily="34" charset="0"/>
                <a:ea typeface="Outfit" pitchFamily="34" charset="-122"/>
                <a:cs typeface="Outfit" pitchFamily="34" charset="-120"/>
              </a:rPr>
              <a:t>/ Yo puedo…</a:t>
            </a:r>
            <a:endParaRPr lang="en-US" sz="1100" dirty="0"/>
          </a:p>
        </p:txBody>
      </p:sp>
      <p:sp>
        <p:nvSpPr>
          <p:cNvPr id="19" name="Text 17"/>
          <p:cNvSpPr/>
          <p:nvPr/>
        </p:nvSpPr>
        <p:spPr>
          <a:xfrm>
            <a:off x="4206240" y="2395728"/>
            <a:ext cx="4434840" cy="713232"/>
          </a:xfrm>
          <a:prstGeom prst="rect">
            <a:avLst/>
          </a:prstGeom>
          <a:noFill/>
          <a:ln/>
        </p:spPr>
        <p:txBody>
          <a:bodyPr wrap="square" rtlCol="0" anchor="t"/>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I can write a number as a product of its prime factors using a factor tree.</a:t>
            </a:r>
            <a:endParaRPr lang="en-US" sz="1100" dirty="0"/>
          </a:p>
        </p:txBody>
      </p:sp>
      <p:sp>
        <p:nvSpPr>
          <p:cNvPr id="20" name="Shape 18"/>
          <p:cNvSpPr/>
          <p:nvPr/>
        </p:nvSpPr>
        <p:spPr>
          <a:xfrm>
            <a:off x="4023360" y="3291840"/>
            <a:ext cx="4800600" cy="1280160"/>
          </a:xfrm>
          <a:prstGeom prst="roundRect">
            <a:avLst>
              <a:gd name="adj" fmla="val 5714"/>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4206240" y="3383280"/>
            <a:ext cx="4434840" cy="274320"/>
          </a:xfrm>
          <a:prstGeom prst="rect">
            <a:avLst/>
          </a:prstGeom>
          <a:noFill/>
          <a:ln/>
        </p:spPr>
        <p:txBody>
          <a:bodyPr wrap="square" rtlCol="0" anchor="ctr"/>
          <a:lstStyle/>
          <a:p>
            <a:pPr indent="0" marL="0">
              <a:buNone/>
            </a:pPr>
            <a:r>
              <a:rPr lang="en-US" sz="1100" b="1" dirty="0">
                <a:solidFill>
                  <a:srgbClr val="1FA6A2"/>
                </a:solidFill>
                <a:latin typeface="Outfit" pitchFamily="34" charset="0"/>
                <a:ea typeface="Outfit" pitchFamily="34" charset="-122"/>
                <a:cs typeface="Outfit" pitchFamily="34" charset="-120"/>
              </a:rPr>
              <a:t>I WILL EXPLAIN…  </a:t>
            </a:r>
            <a:pPr indent="0" marL="0">
              <a:buNone/>
            </a:pPr>
            <a:r>
              <a:rPr lang="en-US" sz="900" i="1" dirty="0">
                <a:solidFill>
                  <a:srgbClr val="8A96A3"/>
                </a:solidFill>
                <a:latin typeface="Outfit" pitchFamily="34" charset="0"/>
                <a:ea typeface="Outfit" pitchFamily="34" charset="-122"/>
                <a:cs typeface="Outfit" pitchFamily="34" charset="-120"/>
              </a:rPr>
              <a:t>/ Objetivo de lenguaje</a:t>
            </a:r>
            <a:endParaRPr lang="en-US" sz="1100" dirty="0"/>
          </a:p>
        </p:txBody>
      </p:sp>
      <p:sp>
        <p:nvSpPr>
          <p:cNvPr id="22" name="Text 20"/>
          <p:cNvSpPr/>
          <p:nvPr/>
        </p:nvSpPr>
        <p:spPr>
          <a:xfrm>
            <a:off x="4206240" y="3675888"/>
            <a:ext cx="4434840" cy="841248"/>
          </a:xfrm>
          <a:prstGeom prst="rect">
            <a:avLst/>
          </a:prstGeom>
          <a:noFill/>
          <a:ln/>
        </p:spPr>
        <p:txBody>
          <a:bodyPr wrap="square" rtlCol="0" anchor="t"/>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can explain how I broke a number down using the words prime number, composite number, factor, and exponent.</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Be Curious / Sé Curioso</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2</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3716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VISUAL PROMPT</a:t>
            </a:r>
            <a:endParaRPr lang="en-US" sz="900" dirty="0"/>
          </a:p>
        </p:txBody>
      </p:sp>
      <p:sp>
        <p:nvSpPr>
          <p:cNvPr id="19" name="Text 17"/>
          <p:cNvSpPr/>
          <p:nvPr/>
        </p:nvSpPr>
        <p:spPr>
          <a:xfrm>
            <a:off x="594360" y="1207008"/>
            <a:ext cx="379476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Space Station Cargo Breakdown</a:t>
            </a:r>
            <a:endParaRPr lang="en-US" sz="1100" dirty="0"/>
          </a:p>
        </p:txBody>
      </p:sp>
      <p:sp>
        <p:nvSpPr>
          <p:cNvPr id="20" name="Text 18"/>
          <p:cNvSpPr/>
          <p:nvPr/>
        </p:nvSpPr>
        <p:spPr>
          <a:xfrm>
            <a:off x="594360" y="1508760"/>
            <a:ext cx="3794760" cy="1554480"/>
          </a:xfrm>
          <a:prstGeom prst="rect">
            <a:avLst/>
          </a:prstGeom>
          <a:noFill/>
          <a:ln/>
        </p:spPr>
        <p:txBody>
          <a:bodyPr wrap="square" rtlCol="0" anchor="t"/>
          <a:lstStyle/>
          <a:p>
            <a:pPr indent="0" marL="0">
              <a:buNone/>
            </a:pPr>
            <a:r>
              <a:rPr lang="en-US" sz="1150" dirty="0">
                <a:solidFill>
                  <a:srgbClr val="24323F"/>
                </a:solidFill>
                <a:latin typeface="Hanken Grotesk" pitchFamily="34" charset="0"/>
                <a:ea typeface="Hanken Grotesk" pitchFamily="34" charset="-122"/>
                <a:cs typeface="Hanken Grotesk" pitchFamily="34" charset="-120"/>
              </a:rPr>
              <a:t>The space station received 60 supply crates. Mission Control needs to break this quantity into its prime components so the sorting robots can distribute them into equally sized pods. Help the crew find the prime factorization of 60!</a:t>
            </a:r>
            <a:endParaRPr lang="en-US" sz="1150" dirty="0"/>
          </a:p>
        </p:txBody>
      </p:sp>
      <p:sp>
        <p:nvSpPr>
          <p:cNvPr id="21" name="Text 19"/>
          <p:cNvSpPr/>
          <p:nvPr/>
        </p:nvSpPr>
        <p:spPr>
          <a:xfrm>
            <a:off x="594360" y="3154680"/>
            <a:ext cx="365760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Jot your first idea:</a:t>
            </a:r>
            <a:endParaRPr lang="en-US" sz="900" dirty="0"/>
          </a:p>
        </p:txBody>
      </p:sp>
      <p:sp>
        <p:nvSpPr>
          <p:cNvPr id="22" name="Shape 20"/>
          <p:cNvSpPr/>
          <p:nvPr/>
        </p:nvSpPr>
        <p:spPr>
          <a:xfrm>
            <a:off x="594360" y="3566160"/>
            <a:ext cx="3794760" cy="0"/>
          </a:xfrm>
          <a:prstGeom prst="line">
            <a:avLst/>
          </a:prstGeom>
          <a:noFill/>
          <a:ln w="9525">
            <a:solidFill>
              <a:srgbClr val="C7CDD2"/>
            </a:solidFill>
            <a:prstDash val="dash"/>
          </a:ln>
        </p:spPr>
      </p:sp>
      <p:sp>
        <p:nvSpPr>
          <p:cNvPr id="23" name="Shape 21"/>
          <p:cNvSpPr/>
          <p:nvPr/>
        </p:nvSpPr>
        <p:spPr>
          <a:xfrm>
            <a:off x="594360" y="3886200"/>
            <a:ext cx="3794760" cy="0"/>
          </a:xfrm>
          <a:prstGeom prst="line">
            <a:avLst/>
          </a:prstGeom>
          <a:noFill/>
          <a:ln w="9525">
            <a:solidFill>
              <a:srgbClr val="C7CDD2"/>
            </a:solidFill>
            <a:prstDash val="dash"/>
          </a:ln>
        </p:spPr>
      </p:sp>
      <p:sp>
        <p:nvSpPr>
          <p:cNvPr id="24" name="Shape 22"/>
          <p:cNvSpPr/>
          <p:nvPr/>
        </p:nvSpPr>
        <p:spPr>
          <a:xfrm>
            <a:off x="594360" y="4206240"/>
            <a:ext cx="3794760" cy="0"/>
          </a:xfrm>
          <a:prstGeom prst="line">
            <a:avLst/>
          </a:prstGeom>
          <a:noFill/>
          <a:ln w="9525">
            <a:solidFill>
              <a:srgbClr val="C7CDD2"/>
            </a:solidFill>
            <a:prstDash val="dash"/>
          </a:ln>
        </p:spPr>
      </p:sp>
      <p:sp>
        <p:nvSpPr>
          <p:cNvPr id="25" name="Shape 23"/>
          <p:cNvSpPr/>
          <p:nvPr/>
        </p:nvSpPr>
        <p:spPr>
          <a:xfrm>
            <a:off x="4709160" y="685800"/>
            <a:ext cx="4114800" cy="1920240"/>
          </a:xfrm>
          <a:prstGeom prst="roundRect">
            <a:avLst>
              <a:gd name="adj" fmla="val 381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4709160" y="685800"/>
            <a:ext cx="411480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I Notice…</a:t>
            </a:r>
            <a:endParaRPr lang="en-US" sz="1000" dirty="0"/>
          </a:p>
        </p:txBody>
      </p:sp>
      <p:sp>
        <p:nvSpPr>
          <p:cNvPr id="27" name="Text 25"/>
          <p:cNvSpPr/>
          <p:nvPr/>
        </p:nvSpPr>
        <p:spPr>
          <a:xfrm>
            <a:off x="4892040" y="1051560"/>
            <a:ext cx="3749040" cy="146304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number are we breaking down into factors?</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What's the difference between a factor and a prime factor?</a:t>
            </a:r>
            <a:endParaRPr lang="en-US" sz="1000" dirty="0"/>
          </a:p>
        </p:txBody>
      </p:sp>
      <p:sp>
        <p:nvSpPr>
          <p:cNvPr id="28" name="Shape 26"/>
          <p:cNvSpPr/>
          <p:nvPr/>
        </p:nvSpPr>
        <p:spPr>
          <a:xfrm>
            <a:off x="4709160" y="2743200"/>
            <a:ext cx="4114800" cy="1965960"/>
          </a:xfrm>
          <a:prstGeom prst="roundRect">
            <a:avLst>
              <a:gd name="adj" fmla="val 372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4709160" y="2743200"/>
            <a:ext cx="4114800" cy="274320"/>
          </a:xfrm>
          <a:prstGeom prst="rect">
            <a:avLst/>
          </a:prstGeom>
          <a:solidFill>
            <a:srgbClr val="F2C15B"/>
          </a:solidFill>
          <a:ln/>
        </p:spPr>
        <p:txBody>
          <a:bodyPr wrap="square" rtlCol="0" anchor="ctr"/>
          <a:lstStyle/>
          <a:p>
            <a:pPr algn="ctr" indent="0" marL="0">
              <a:buNone/>
            </a:pPr>
            <a:r>
              <a:rPr lang="en-US" sz="1000" b="1" dirty="0">
                <a:solidFill>
                  <a:srgbClr val="17324D"/>
                </a:solidFill>
                <a:latin typeface="Outfit" pitchFamily="34" charset="0"/>
                <a:ea typeface="Outfit" pitchFamily="34" charset="-122"/>
                <a:cs typeface="Outfit" pitchFamily="34" charset="-120"/>
              </a:rPr>
              <a:t>💭  I Wonder…</a:t>
            </a:r>
            <a:endParaRPr lang="en-US" sz="1000" dirty="0"/>
          </a:p>
        </p:txBody>
      </p:sp>
      <p:sp>
        <p:nvSpPr>
          <p:cNvPr id="30" name="Text 28"/>
          <p:cNvSpPr/>
          <p:nvPr/>
        </p:nvSpPr>
        <p:spPr>
          <a:xfrm>
            <a:off x="4892040" y="3108960"/>
            <a:ext cx="3749040" cy="150876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How many different ways can we start breaking 60 apart?</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Will we always get the same prime factors no matter how we start?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Vocabulary / Vocabulario</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685800"/>
          <a:ext cx="8412480" cy="914400"/>
        </p:xfrm>
        <a:graphic>
          <a:graphicData uri="http://schemas.openxmlformats.org/drawingml/2006/table">
            <a:tbl>
              <a:tblPr/>
              <a:tblGrid>
                <a:gridCol w="2103120"/>
                <a:gridCol w="4114800"/>
                <a:gridCol w="2194560"/>
              </a:tblGrid>
              <a:tr h="457200">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Term / Término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Meaning / Significado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Example / Ejemplo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Prime number</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Número primo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number bigger than 1 that you can only divide by 1 and itself.</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mayor que 1 que solo se puede dividir entre 1 y sí mismo.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7 has only two factors: 1 × 7. So 7 is prime.</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Composite number</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Número compuesto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number bigger than 1 that you can divide by more than just 1 and itself.</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mayor que 1 que se puede dividir entre más números, no solo 1 y sí mismo.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12 = 1 × 12, 2 × 6, 3 × 4 — six factors, so 12 is composite</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Prime factorization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Factorización prima</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Writing a number as prime numbers multiplied together.</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Escribir un número como números primos multiplicados.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36 = 2 × 2 × 3 × 3 = 2² × 3²</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Factor tree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Árbol de factores</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picture that splits a number into its prime numbers, step by step.</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dibujo que separa un número en sus números primos, paso a paso.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24 → 4 × 6 → (2 × 2) × (2 × 3) → 2 × 2 × 2 × 3</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Exponent</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Exponente</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small number that tells how many times to multiply a number by itself.</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pequeño que dice cuántas veces multiplicar un número por sí mismo.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2³ means 2 × 2 × 2 = 8</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bl>
          </a:graphicData>
        </a:graphic>
      </p:graphicFrame>
      <p:sp>
        <p:nvSpPr>
          <p:cNvPr id="18" name="Text 15"/>
          <p:cNvSpPr/>
          <p:nvPr/>
        </p:nvSpPr>
        <p:spPr>
          <a:xfrm>
            <a:off x="411480" y="3520440"/>
            <a:ext cx="8412480" cy="237744"/>
          </a:xfrm>
          <a:prstGeom prst="rect">
            <a:avLst/>
          </a:prstGeom>
          <a:noFill/>
          <a:ln/>
        </p:spPr>
        <p:txBody>
          <a:bodyPr wrap="square" rtlCol="0" anchor="ctr"/>
          <a:lstStyle/>
          <a:p>
            <a:pPr indent="0" marL="0">
              <a:buNone/>
            </a:pPr>
            <a:r>
              <a:rPr lang="en-US" sz="950" b="1" dirty="0">
                <a:solidFill>
                  <a:srgbClr val="17324D"/>
                </a:solidFill>
                <a:latin typeface="Outfit" pitchFamily="34" charset="0"/>
                <a:ea typeface="Outfit" pitchFamily="34" charset="-122"/>
                <a:cs typeface="Outfit" pitchFamily="34" charset="-120"/>
              </a:rPr>
              <a:t>Prime number — example vs. non-example:</a:t>
            </a:r>
            <a:endParaRPr lang="en-US" sz="950" dirty="0"/>
          </a:p>
        </p:txBody>
      </p:sp>
      <p:sp>
        <p:nvSpPr>
          <p:cNvPr id="19" name="Shape 16"/>
          <p:cNvSpPr/>
          <p:nvPr/>
        </p:nvSpPr>
        <p:spPr>
          <a:xfrm>
            <a:off x="411480" y="3813048"/>
            <a:ext cx="4114800" cy="457200"/>
          </a:xfrm>
          <a:prstGeom prst="roundRect">
            <a:avLst>
              <a:gd name="adj" fmla="val 10000"/>
            </a:avLst>
          </a:prstGeom>
          <a:solidFill>
            <a:srgbClr val="E7F6F4"/>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0" name="Text 17"/>
          <p:cNvSpPr/>
          <p:nvPr/>
        </p:nvSpPr>
        <p:spPr>
          <a:xfrm>
            <a:off x="521208" y="3813048"/>
            <a:ext cx="3895344" cy="457200"/>
          </a:xfrm>
          <a:prstGeom prst="rect">
            <a:avLst/>
          </a:prstGeom>
          <a:noFill/>
          <a:ln/>
        </p:spPr>
        <p:txBody>
          <a:bodyPr wrap="square" rtlCol="0" anchor="ctr"/>
          <a:lstStyle/>
          <a:p>
            <a:pPr indent="0" marL="0">
              <a:buNone/>
            </a:pPr>
            <a:r>
              <a:rPr lang="en-US" sz="900" b="1" dirty="0">
                <a:solidFill>
                  <a:srgbClr val="1FA6A2"/>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7  </a:t>
            </a:r>
            <a:pPr indent="0" marL="0">
              <a:buNone/>
            </a:pPr>
            <a:r>
              <a:rPr lang="en-US" sz="800" dirty="0">
                <a:solidFill>
                  <a:srgbClr val="24323F"/>
                </a:solidFill>
                <a:latin typeface="Hanken Grotesk" pitchFamily="34" charset="0"/>
                <a:ea typeface="Hanken Grotesk" pitchFamily="34" charset="-122"/>
                <a:cs typeface="Hanken Grotesk" pitchFamily="34" charset="-120"/>
              </a:rPr>
              <a:t>7 has only two factors: 1 and 7.</a:t>
            </a:r>
            <a:endParaRPr lang="en-US" sz="900" dirty="0"/>
          </a:p>
        </p:txBody>
      </p:sp>
      <p:sp>
        <p:nvSpPr>
          <p:cNvPr id="21" name="Shape 18"/>
          <p:cNvSpPr/>
          <p:nvPr/>
        </p:nvSpPr>
        <p:spPr>
          <a:xfrm>
            <a:off x="4663440" y="3813048"/>
            <a:ext cx="4114800" cy="457200"/>
          </a:xfrm>
          <a:prstGeom prst="roundRect">
            <a:avLst>
              <a:gd name="adj" fmla="val 10000"/>
            </a:avLst>
          </a:prstGeom>
          <a:solidFill>
            <a:srgbClr val="E7F6F4"/>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2" name="Text 19"/>
          <p:cNvSpPr/>
          <p:nvPr/>
        </p:nvSpPr>
        <p:spPr>
          <a:xfrm>
            <a:off x="4773168" y="3813048"/>
            <a:ext cx="3895344" cy="457200"/>
          </a:xfrm>
          <a:prstGeom prst="rect">
            <a:avLst/>
          </a:prstGeom>
          <a:noFill/>
          <a:ln/>
        </p:spPr>
        <p:txBody>
          <a:bodyPr wrap="square" rtlCol="0" anchor="ctr"/>
          <a:lstStyle/>
          <a:p>
            <a:pPr indent="0" marL="0">
              <a:buNone/>
            </a:pPr>
            <a:r>
              <a:rPr lang="en-US" sz="900" b="1" dirty="0">
                <a:solidFill>
                  <a:srgbClr val="1FA6A2"/>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13  </a:t>
            </a:r>
            <a:pPr indent="0" marL="0">
              <a:buNone/>
            </a:pPr>
            <a:r>
              <a:rPr lang="en-US" sz="800" dirty="0">
                <a:solidFill>
                  <a:srgbClr val="24323F"/>
                </a:solidFill>
                <a:latin typeface="Hanken Grotesk" pitchFamily="34" charset="0"/>
                <a:ea typeface="Hanken Grotesk" pitchFamily="34" charset="-122"/>
                <a:cs typeface="Hanken Grotesk" pitchFamily="34" charset="-120"/>
              </a:rPr>
              <a:t>13 has only two factors: 1 and 13.</a:t>
            </a:r>
            <a:endParaRPr lang="en-US" sz="900" dirty="0"/>
          </a:p>
        </p:txBody>
      </p:sp>
      <p:sp>
        <p:nvSpPr>
          <p:cNvPr id="23" name="Shape 20"/>
          <p:cNvSpPr/>
          <p:nvPr/>
        </p:nvSpPr>
        <p:spPr>
          <a:xfrm>
            <a:off x="411480" y="4315968"/>
            <a:ext cx="4114800" cy="457200"/>
          </a:xfrm>
          <a:prstGeom prst="roundRect">
            <a:avLst>
              <a:gd name="adj" fmla="val 10000"/>
            </a:avLst>
          </a:prstGeom>
          <a:solidFill>
            <a:srgbClr val="FDECEA"/>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4" name="Text 21"/>
          <p:cNvSpPr/>
          <p:nvPr/>
        </p:nvSpPr>
        <p:spPr>
          <a:xfrm>
            <a:off x="521208" y="4315968"/>
            <a:ext cx="3895344" cy="457200"/>
          </a:xfrm>
          <a:prstGeom prst="rect">
            <a:avLst/>
          </a:prstGeom>
          <a:noFill/>
          <a:ln/>
        </p:spPr>
        <p:txBody>
          <a:bodyPr wrap="square" rtlCol="0" anchor="ctr"/>
          <a:lstStyle/>
          <a:p>
            <a:pPr indent="0" marL="0">
              <a:buNone/>
            </a:pPr>
            <a:r>
              <a:rPr lang="en-US" sz="900" b="1" dirty="0">
                <a:solidFill>
                  <a:srgbClr val="C0392B"/>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9  </a:t>
            </a:r>
            <a:pPr indent="0" marL="0">
              <a:buNone/>
            </a:pPr>
            <a:r>
              <a:rPr lang="en-US" sz="800" dirty="0">
                <a:solidFill>
                  <a:srgbClr val="24323F"/>
                </a:solidFill>
                <a:latin typeface="Hanken Grotesk" pitchFamily="34" charset="0"/>
                <a:ea typeface="Hanken Grotesk" pitchFamily="34" charset="-122"/>
                <a:cs typeface="Hanken Grotesk" pitchFamily="34" charset="-120"/>
              </a:rPr>
              <a:t>9 = 3 × 3, so it has more than two factors.</a:t>
            </a:r>
            <a:endParaRPr lang="en-US" sz="900" dirty="0"/>
          </a:p>
        </p:txBody>
      </p:sp>
      <p:sp>
        <p:nvSpPr>
          <p:cNvPr id="25" name="Shape 22"/>
          <p:cNvSpPr/>
          <p:nvPr/>
        </p:nvSpPr>
        <p:spPr>
          <a:xfrm>
            <a:off x="4663440" y="4315968"/>
            <a:ext cx="4114800" cy="457200"/>
          </a:xfrm>
          <a:prstGeom prst="roundRect">
            <a:avLst>
              <a:gd name="adj" fmla="val 10000"/>
            </a:avLst>
          </a:prstGeom>
          <a:solidFill>
            <a:srgbClr val="FDECEA"/>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6" name="Text 23"/>
          <p:cNvSpPr/>
          <p:nvPr/>
        </p:nvSpPr>
        <p:spPr>
          <a:xfrm>
            <a:off x="4773168" y="4315968"/>
            <a:ext cx="3895344" cy="457200"/>
          </a:xfrm>
          <a:prstGeom prst="rect">
            <a:avLst/>
          </a:prstGeom>
          <a:noFill/>
          <a:ln/>
        </p:spPr>
        <p:txBody>
          <a:bodyPr wrap="square" rtlCol="0" anchor="ctr"/>
          <a:lstStyle/>
          <a:p>
            <a:pPr indent="0" marL="0">
              <a:buNone/>
            </a:pPr>
            <a:r>
              <a:rPr lang="en-US" sz="900" b="1" dirty="0">
                <a:solidFill>
                  <a:srgbClr val="C0392B"/>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1  </a:t>
            </a:r>
            <a:pPr indent="0" marL="0">
              <a:buNone/>
            </a:pPr>
            <a:r>
              <a:rPr lang="en-US" sz="800" dirty="0">
                <a:solidFill>
                  <a:srgbClr val="24323F"/>
                </a:solidFill>
                <a:latin typeface="Hanken Grotesk" pitchFamily="34" charset="0"/>
                <a:ea typeface="Hanken Grotesk" pitchFamily="34" charset="-122"/>
                <a:cs typeface="Hanken Grotesk" pitchFamily="34" charset="-120"/>
              </a:rPr>
              <a:t>1 has only one factor, so it is not prime.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Guided Practice / Práctica Guiada</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4</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73736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WE DO TOGETHER</a:t>
            </a:r>
            <a:endParaRPr lang="en-US" sz="900" dirty="0"/>
          </a:p>
        </p:txBody>
      </p:sp>
      <p:sp>
        <p:nvSpPr>
          <p:cNvPr id="19" name="Text 17"/>
          <p:cNvSpPr/>
          <p:nvPr/>
        </p:nvSpPr>
        <p:spPr>
          <a:xfrm>
            <a:off x="594360" y="1188720"/>
            <a:ext cx="512064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What is prime factorization?</a:t>
            </a:r>
            <a:endParaRPr lang="en-US" sz="1200" dirty="0"/>
          </a:p>
        </p:txBody>
      </p:sp>
      <p:sp>
        <p:nvSpPr>
          <p:cNvPr id="20" name="Shape 18"/>
          <p:cNvSpPr/>
          <p:nvPr/>
        </p:nvSpPr>
        <p:spPr>
          <a:xfrm>
            <a:off x="640080" y="1609344"/>
            <a:ext cx="274320" cy="274320"/>
          </a:xfrm>
          <a:prstGeom prst="ellipse">
            <a:avLst/>
          </a:prstGeom>
          <a:solidFill>
            <a:srgbClr val="1FA6A2"/>
          </a:solidFill>
          <a:ln/>
        </p:spPr>
      </p:sp>
      <p:sp>
        <p:nvSpPr>
          <p:cNvPr id="21" name="Text 19"/>
          <p:cNvSpPr/>
          <p:nvPr/>
        </p:nvSpPr>
        <p:spPr>
          <a:xfrm>
            <a:off x="640080" y="160934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2" name="Text 20"/>
          <p:cNvSpPr/>
          <p:nvPr/>
        </p:nvSpPr>
        <p:spPr>
          <a:xfrm>
            <a:off x="1024128" y="1554480"/>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Let's factor 12 together. What is one way to split 12 into two factors? (You might say 3 × 4.)</a:t>
            </a:r>
            <a:endParaRPr lang="en-US" sz="1050" dirty="0"/>
          </a:p>
        </p:txBody>
      </p:sp>
      <p:sp>
        <p:nvSpPr>
          <p:cNvPr id="23" name="Shape 21"/>
          <p:cNvSpPr/>
          <p:nvPr/>
        </p:nvSpPr>
        <p:spPr>
          <a:xfrm>
            <a:off x="640080" y="2084832"/>
            <a:ext cx="274320" cy="274320"/>
          </a:xfrm>
          <a:prstGeom prst="ellipse">
            <a:avLst/>
          </a:prstGeom>
          <a:solidFill>
            <a:srgbClr val="1FA6A2"/>
          </a:solidFill>
          <a:ln/>
        </p:spPr>
      </p:sp>
      <p:sp>
        <p:nvSpPr>
          <p:cNvPr id="24" name="Text 22"/>
          <p:cNvSpPr/>
          <p:nvPr/>
        </p:nvSpPr>
        <p:spPr>
          <a:xfrm>
            <a:off x="640080" y="208483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5" name="Text 23"/>
          <p:cNvSpPr/>
          <p:nvPr/>
        </p:nvSpPr>
        <p:spPr>
          <a:xfrm>
            <a:off x="1024128" y="2029968"/>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Is 3 prime? Yes, so we keep it. Is 4 prime? No — what is 4 split apart? (4 = 2 × 2.)</a:t>
            </a:r>
            <a:endParaRPr lang="en-US" sz="1050" dirty="0"/>
          </a:p>
        </p:txBody>
      </p:sp>
      <p:sp>
        <p:nvSpPr>
          <p:cNvPr id="26" name="Shape 24"/>
          <p:cNvSpPr/>
          <p:nvPr/>
        </p:nvSpPr>
        <p:spPr>
          <a:xfrm>
            <a:off x="640080" y="2560320"/>
            <a:ext cx="274320" cy="274320"/>
          </a:xfrm>
          <a:prstGeom prst="ellipse">
            <a:avLst/>
          </a:prstGeom>
          <a:solidFill>
            <a:srgbClr val="1FA6A2"/>
          </a:solidFill>
          <a:ln/>
        </p:spPr>
      </p:sp>
      <p:sp>
        <p:nvSpPr>
          <p:cNvPr id="27" name="Text 25"/>
          <p:cNvSpPr/>
          <p:nvPr/>
        </p:nvSpPr>
        <p:spPr>
          <a:xfrm>
            <a:off x="640080" y="256032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8" name="Text 26"/>
          <p:cNvSpPr/>
          <p:nvPr/>
        </p:nvSpPr>
        <p:spPr>
          <a:xfrm>
            <a:off x="1024128" y="2505456"/>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So put the prime factors together: 12 = 2 × 2 × 3. Every factor is prime, so we are done.</a:t>
            </a:r>
            <a:endParaRPr lang="en-US" sz="1050" dirty="0"/>
          </a:p>
        </p:txBody>
      </p:sp>
      <p:sp>
        <p:nvSpPr>
          <p:cNvPr id="29" name="Text 27"/>
          <p:cNvSpPr/>
          <p:nvPr/>
        </p:nvSpPr>
        <p:spPr>
          <a:xfrm>
            <a:off x="594360" y="3886200"/>
            <a:ext cx="512064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Your turn — show your work:</a:t>
            </a:r>
            <a:endParaRPr lang="en-US" sz="900" dirty="0"/>
          </a:p>
        </p:txBody>
      </p:sp>
      <p:sp>
        <p:nvSpPr>
          <p:cNvPr id="30" name="Shape 28"/>
          <p:cNvSpPr/>
          <p:nvPr/>
        </p:nvSpPr>
        <p:spPr>
          <a:xfrm>
            <a:off x="640080" y="4297680"/>
            <a:ext cx="5120640" cy="0"/>
          </a:xfrm>
          <a:prstGeom prst="line">
            <a:avLst/>
          </a:prstGeom>
          <a:noFill/>
          <a:ln w="9525">
            <a:solidFill>
              <a:srgbClr val="C7CDD2"/>
            </a:solidFill>
            <a:prstDash val="dash"/>
          </a:ln>
        </p:spPr>
      </p:sp>
      <p:sp>
        <p:nvSpPr>
          <p:cNvPr id="31" name="Shape 29"/>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3" name="Text 31"/>
          <p:cNvSpPr/>
          <p:nvPr/>
        </p:nvSpPr>
        <p:spPr>
          <a:xfrm>
            <a:off x="6217920" y="1097280"/>
            <a:ext cx="2468880" cy="146304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freighter docks with 48 cargo containers, and each storage pod only holds groups built from prime-numbered units. Is 48 prime or composite, and how can you tell before building a factor tree?</a:t>
            </a:r>
            <a:endParaRPr lang="en-US" sz="1000" dirty="0"/>
          </a:p>
        </p:txBody>
      </p:sp>
      <p:sp>
        <p:nvSpPr>
          <p:cNvPr id="34" name="Shape 32"/>
          <p:cNvSpPr/>
          <p:nvPr/>
        </p:nvSpPr>
        <p:spPr>
          <a:xfrm>
            <a:off x="6172200" y="2743200"/>
            <a:ext cx="2514600" cy="1828800"/>
          </a:xfrm>
          <a:prstGeom prst="roundRect">
            <a:avLst>
              <a:gd name="adj" fmla="val 40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6309360" y="2834640"/>
            <a:ext cx="2286000" cy="228600"/>
          </a:xfrm>
          <a:prstGeom prst="rect">
            <a:avLst/>
          </a:prstGeom>
          <a:noFill/>
          <a:ln/>
        </p:spPr>
        <p:txBody>
          <a:bodyPr wrap="square" rtlCol="0" anchor="ctr"/>
          <a:lstStyle/>
          <a:p>
            <a:pPr indent="0" marL="0">
              <a:buNone/>
            </a:pPr>
            <a:r>
              <a:rPr lang="en-US" sz="950" b="1" dirty="0">
                <a:solidFill>
                  <a:srgbClr val="1FA6A2"/>
                </a:solidFill>
                <a:latin typeface="Outfit" pitchFamily="34" charset="0"/>
                <a:ea typeface="Outfit" pitchFamily="34" charset="-122"/>
                <a:cs typeface="Outfit" pitchFamily="34" charset="-120"/>
              </a:rPr>
              <a:t>🔑 Key Idea</a:t>
            </a:r>
            <a:endParaRPr lang="en-US" sz="950" dirty="0"/>
          </a:p>
        </p:txBody>
      </p:sp>
      <p:sp>
        <p:nvSpPr>
          <p:cNvPr id="36" name="Text 34"/>
          <p:cNvSpPr/>
          <p:nvPr/>
        </p:nvSpPr>
        <p:spPr>
          <a:xfrm>
            <a:off x="6309360" y="3108960"/>
            <a:ext cx="2286000" cy="1371600"/>
          </a:xfrm>
          <a:prstGeom prst="rect">
            <a:avLst/>
          </a:prstGeom>
          <a:noFill/>
          <a:ln/>
        </p:spPr>
        <p:txBody>
          <a:bodyPr wrap="square" rtlCol="0" anchor="t"/>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Keep breaking a number apart until every factor is a prime number you cannot split anymore.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Sort It Out / Clasifícalo</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5</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22960"/>
            <a:ext cx="5120640" cy="365760"/>
          </a:xfrm>
          <a:prstGeom prst="rect">
            <a:avLst/>
          </a:prstGeom>
          <a:noFill/>
          <a:ln/>
        </p:spPr>
        <p:txBody>
          <a:bodyPr wrap="square" rtlCol="0" anchor="ctr"/>
          <a:lstStyle/>
          <a:p>
            <a:pPr indent="0" marL="0">
              <a:buNone/>
            </a:pPr>
            <a:r>
              <a:rPr lang="en-US" sz="1050" b="1" dirty="0">
                <a:solidFill>
                  <a:srgbClr val="17324D"/>
                </a:solidFill>
                <a:latin typeface="Outfit" pitchFamily="34" charset="0"/>
                <a:ea typeface="Outfit" pitchFamily="34" charset="-122"/>
                <a:cs typeface="Outfit" pitchFamily="34" charset="-120"/>
              </a:rPr>
              <a:t>Sort these numbers — which are prime and which are composite?</a:t>
            </a:r>
            <a:endParaRPr lang="en-US" sz="1050" dirty="0"/>
          </a:p>
        </p:txBody>
      </p:sp>
      <p:sp>
        <p:nvSpPr>
          <p:cNvPr id="19" name="Text 17"/>
          <p:cNvSpPr/>
          <p:nvPr/>
        </p:nvSpPr>
        <p:spPr>
          <a:xfrm>
            <a:off x="594360" y="1234440"/>
            <a:ext cx="5120640" cy="219456"/>
          </a:xfrm>
          <a:prstGeom prst="rect">
            <a:avLst/>
          </a:prstGeom>
          <a:noFill/>
          <a:ln/>
        </p:spPr>
        <p:txBody>
          <a:bodyPr wrap="square" rtlCol="0" anchor="ctr"/>
          <a:lstStyle/>
          <a:p>
            <a:pPr indent="0" marL="0">
              <a:buNone/>
            </a:pPr>
            <a:r>
              <a:rPr lang="en-US" sz="850" i="1" dirty="0">
                <a:solidFill>
                  <a:srgbClr val="8A96A3"/>
                </a:solidFill>
                <a:latin typeface="Hanken Grotesk" pitchFamily="34" charset="0"/>
                <a:ea typeface="Hanken Grotesk" pitchFamily="34" charset="-122"/>
                <a:cs typeface="Hanken Grotesk" pitchFamily="34" charset="-120"/>
              </a:rPr>
              <a:t>Card Bank — cut or sort these cards:</a:t>
            </a:r>
            <a:endParaRPr lang="en-US" sz="850" dirty="0"/>
          </a:p>
        </p:txBody>
      </p:sp>
      <p:sp>
        <p:nvSpPr>
          <p:cNvPr id="20" name="Text 18"/>
          <p:cNvSpPr/>
          <p:nvPr/>
        </p:nvSpPr>
        <p:spPr>
          <a:xfrm>
            <a:off x="59436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2</a:t>
            </a:r>
            <a:endParaRPr lang="en-US" sz="900" dirty="0"/>
          </a:p>
        </p:txBody>
      </p:sp>
      <p:sp>
        <p:nvSpPr>
          <p:cNvPr id="21" name="Text 19"/>
          <p:cNvSpPr/>
          <p:nvPr/>
        </p:nvSpPr>
        <p:spPr>
          <a:xfrm>
            <a:off x="236220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3</a:t>
            </a:r>
            <a:endParaRPr lang="en-US" sz="900" dirty="0"/>
          </a:p>
        </p:txBody>
      </p:sp>
      <p:sp>
        <p:nvSpPr>
          <p:cNvPr id="22" name="Text 20"/>
          <p:cNvSpPr/>
          <p:nvPr/>
        </p:nvSpPr>
        <p:spPr>
          <a:xfrm>
            <a:off x="413004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5</a:t>
            </a:r>
            <a:endParaRPr lang="en-US" sz="900" dirty="0"/>
          </a:p>
        </p:txBody>
      </p:sp>
      <p:sp>
        <p:nvSpPr>
          <p:cNvPr id="23" name="Text 21"/>
          <p:cNvSpPr/>
          <p:nvPr/>
        </p:nvSpPr>
        <p:spPr>
          <a:xfrm>
            <a:off x="594360" y="1975104"/>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11</a:t>
            </a:r>
            <a:endParaRPr lang="en-US" sz="900" dirty="0"/>
          </a:p>
        </p:txBody>
      </p:sp>
      <p:sp>
        <p:nvSpPr>
          <p:cNvPr id="24" name="Text 22"/>
          <p:cNvSpPr/>
          <p:nvPr/>
        </p:nvSpPr>
        <p:spPr>
          <a:xfrm>
            <a:off x="2362200" y="1975104"/>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13</a:t>
            </a:r>
            <a:endParaRPr lang="en-US" sz="900" dirty="0"/>
          </a:p>
        </p:txBody>
      </p:sp>
      <p:sp>
        <p:nvSpPr>
          <p:cNvPr id="25" name="Text 23"/>
          <p:cNvSpPr/>
          <p:nvPr/>
        </p:nvSpPr>
        <p:spPr>
          <a:xfrm>
            <a:off x="4130040" y="1975104"/>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4</a:t>
            </a:r>
            <a:endParaRPr lang="en-US" sz="900" dirty="0"/>
          </a:p>
        </p:txBody>
      </p:sp>
      <p:sp>
        <p:nvSpPr>
          <p:cNvPr id="26" name="Shape 24"/>
          <p:cNvSpPr/>
          <p:nvPr/>
        </p:nvSpPr>
        <p:spPr>
          <a:xfrm>
            <a:off x="594360" y="2560320"/>
            <a:ext cx="2514600" cy="1965960"/>
          </a:xfrm>
          <a:prstGeom prst="roundRect">
            <a:avLst>
              <a:gd name="adj" fmla="val 2326"/>
            </a:avLst>
          </a:prstGeom>
          <a:solidFill>
            <a:srgbClr val="FFFFFF"/>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2560320"/>
            <a:ext cx="2514600" cy="292608"/>
          </a:xfrm>
          <a:prstGeom prst="rect">
            <a:avLst/>
          </a:prstGeom>
          <a:solidFill>
            <a:srgbClr val="1FA6A2"/>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Prime Numbers</a:t>
            </a:r>
            <a:endParaRPr lang="en-US" sz="950" dirty="0"/>
          </a:p>
        </p:txBody>
      </p:sp>
      <p:sp>
        <p:nvSpPr>
          <p:cNvPr id="28" name="Shape 26"/>
          <p:cNvSpPr/>
          <p:nvPr/>
        </p:nvSpPr>
        <p:spPr>
          <a:xfrm>
            <a:off x="3246120" y="2560320"/>
            <a:ext cx="2514600" cy="1965960"/>
          </a:xfrm>
          <a:prstGeom prst="roundRect">
            <a:avLst>
              <a:gd name="adj" fmla="val 2326"/>
            </a:avLst>
          </a:prstGeom>
          <a:solidFill>
            <a:srgbClr val="FFFFFF"/>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3246120" y="2560320"/>
            <a:ext cx="2514600" cy="292608"/>
          </a:xfrm>
          <a:prstGeom prst="rect">
            <a:avLst/>
          </a:prstGeom>
          <a:solidFill>
            <a:srgbClr val="1FA6A2"/>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Composite Numbers</a:t>
            </a:r>
            <a:endParaRPr lang="en-US" sz="950" dirty="0"/>
          </a:p>
        </p:txBody>
      </p:sp>
      <p:sp>
        <p:nvSpPr>
          <p:cNvPr id="30" name="Shape 28"/>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2" name="Text 30"/>
          <p:cNvSpPr/>
          <p:nvPr/>
        </p:nvSpPr>
        <p:spPr>
          <a:xfrm>
            <a:off x="6217920" y="1097280"/>
            <a:ext cx="2468880" cy="137160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Look at your factor tree for 48. How did you decide which numbers to break apart first, and how did you know when to stop?</a:t>
            </a:r>
            <a:endParaRPr lang="en-US" sz="1000" dirty="0"/>
          </a:p>
        </p:txBody>
      </p:sp>
      <p:sp>
        <p:nvSpPr>
          <p:cNvPr id="33" name="Shape 31"/>
          <p:cNvSpPr/>
          <p:nvPr/>
        </p:nvSpPr>
        <p:spPr>
          <a:xfrm>
            <a:off x="6217920" y="2743200"/>
            <a:ext cx="2423160" cy="0"/>
          </a:xfrm>
          <a:prstGeom prst="line">
            <a:avLst/>
          </a:prstGeom>
          <a:noFill/>
          <a:ln w="9525">
            <a:solidFill>
              <a:srgbClr val="C7CDD2"/>
            </a:solidFill>
            <a:prstDash val="dash"/>
          </a:ln>
        </p:spPr>
      </p:sp>
      <p:sp>
        <p:nvSpPr>
          <p:cNvPr id="34" name="Shape 32"/>
          <p:cNvSpPr/>
          <p:nvPr/>
        </p:nvSpPr>
        <p:spPr>
          <a:xfrm>
            <a:off x="6217920" y="3072384"/>
            <a:ext cx="2423160" cy="0"/>
          </a:xfrm>
          <a:prstGeom prst="line">
            <a:avLst/>
          </a:prstGeom>
          <a:noFill/>
          <a:ln w="9525">
            <a:solidFill>
              <a:srgbClr val="C7CDD2"/>
            </a:solidFill>
            <a:prstDash val="dash"/>
          </a:ln>
        </p:spPr>
      </p:sp>
      <p:sp>
        <p:nvSpPr>
          <p:cNvPr id="35" name="Shape 33"/>
          <p:cNvSpPr/>
          <p:nvPr/>
        </p:nvSpPr>
        <p:spPr>
          <a:xfrm>
            <a:off x="6217920" y="3401568"/>
            <a:ext cx="2423160" cy="0"/>
          </a:xfrm>
          <a:prstGeom prst="line">
            <a:avLst/>
          </a:prstGeom>
          <a:noFill/>
          <a:ln w="9525">
            <a:solidFill>
              <a:srgbClr val="C7CDD2"/>
            </a:solidFill>
            <a:prstDash val="dash"/>
          </a:ln>
        </p:spPr>
      </p:sp>
      <p:sp>
        <p:nvSpPr>
          <p:cNvPr id="36" name="Shape 34"/>
          <p:cNvSpPr/>
          <p:nvPr/>
        </p:nvSpPr>
        <p:spPr>
          <a:xfrm>
            <a:off x="6217920" y="3730752"/>
            <a:ext cx="2423160" cy="0"/>
          </a:xfrm>
          <a:prstGeom prst="line">
            <a:avLst/>
          </a:prstGeom>
          <a:noFill/>
          <a:ln w="9525">
            <a:solidFill>
              <a:srgbClr val="C7CDD2"/>
            </a:solidFill>
            <a:prstDash val="dash"/>
          </a:ln>
        </p:spPr>
      </p:sp>
      <p:sp>
        <p:nvSpPr>
          <p:cNvPr id="37" name="Shape 35"/>
          <p:cNvSpPr/>
          <p:nvPr/>
        </p:nvSpPr>
        <p:spPr>
          <a:xfrm>
            <a:off x="6217920" y="4059936"/>
            <a:ext cx="2423160" cy="0"/>
          </a:xfrm>
          <a:prstGeom prst="line">
            <a:avLst/>
          </a:prstGeom>
          <a:noFill/>
          <a:ln w="9525">
            <a:solidFill>
              <a:srgbClr val="C7CDD2"/>
            </a:solidFill>
            <a:prstDash val="dash"/>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Error Analysis / Análisis de Errores</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6</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554480" cy="274320"/>
          </a:xfrm>
          <a:prstGeom prst="rect">
            <a:avLst>
              <a:gd name="adj" fmla="val 50000"/>
            </a:avLst>
          </a:prstGeom>
          <a:solidFill>
            <a:srgbClr val="C0392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FIND THE ERROR</a:t>
            </a:r>
            <a:endParaRPr lang="en-US" sz="900" dirty="0"/>
          </a:p>
        </p:txBody>
      </p:sp>
      <p:sp>
        <p:nvSpPr>
          <p:cNvPr id="19" name="Text 17"/>
          <p:cNvSpPr/>
          <p:nvPr/>
        </p:nvSpPr>
        <p:spPr>
          <a:xfrm>
            <a:off x="2286000" y="841248"/>
            <a:ext cx="338328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Find Marcus's Mistake</a:t>
            </a:r>
            <a:endParaRPr lang="en-US" sz="1100" dirty="0"/>
          </a:p>
        </p:txBody>
      </p:sp>
      <p:sp>
        <p:nvSpPr>
          <p:cNvPr id="20" name="Text 18"/>
          <p:cNvSpPr/>
          <p:nvPr/>
        </p:nvSpPr>
        <p:spPr>
          <a:xfrm>
            <a:off x="594360" y="1188720"/>
            <a:ext cx="5120640" cy="365760"/>
          </a:xfrm>
          <a:prstGeom prst="rect">
            <a:avLst/>
          </a:prstGeom>
          <a:noFill/>
          <a:ln/>
        </p:spPr>
        <p:txBody>
          <a:bodyPr wrap="square" rtlCol="0" anchor="ctr"/>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classmate turned in the work below. One step has a mistake — find it, name it, fix it.</a:t>
            </a:r>
            <a:endParaRPr lang="en-US" sz="950" dirty="0"/>
          </a:p>
        </p:txBody>
      </p:sp>
      <p:sp>
        <p:nvSpPr>
          <p:cNvPr id="21" name="Shape 19"/>
          <p:cNvSpPr/>
          <p:nvPr/>
        </p:nvSpPr>
        <p:spPr>
          <a:xfrm>
            <a:off x="594360" y="1627632"/>
            <a:ext cx="5166360" cy="2286000"/>
          </a:xfrm>
          <a:prstGeom prst="roundRect">
            <a:avLst>
              <a:gd name="adj" fmla="val 2000"/>
            </a:avLst>
          </a:prstGeom>
          <a:solidFill>
            <a:srgbClr val="F4F1E8"/>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2" name="Text 20"/>
          <p:cNvSpPr/>
          <p:nvPr/>
        </p:nvSpPr>
        <p:spPr>
          <a:xfrm>
            <a:off x="713232" y="1691640"/>
            <a:ext cx="4937760" cy="219456"/>
          </a:xfrm>
          <a:prstGeom prst="rect">
            <a:avLst/>
          </a:prstGeom>
          <a:noFill/>
          <a:ln/>
        </p:spPr>
        <p:txBody>
          <a:bodyPr wrap="square" rtlCol="0" anchor="ctr"/>
          <a:lstStyle/>
          <a:p>
            <a:pPr indent="0" marL="0">
              <a:buNone/>
            </a:pPr>
            <a:r>
              <a:rPr lang="en-US" sz="800" i="1" dirty="0">
                <a:solidFill>
                  <a:srgbClr val="8A96A3"/>
                </a:solidFill>
                <a:latin typeface="Hanken Grotesk" pitchFamily="34" charset="0"/>
                <a:ea typeface="Hanken Grotesk" pitchFamily="34" charset="-122"/>
                <a:cs typeface="Hanken Grotesk" pitchFamily="34" charset="-120"/>
              </a:rPr>
              <a:t>Student's work (contains an error):</a:t>
            </a:r>
            <a:endParaRPr lang="en-US" sz="800" dirty="0"/>
          </a:p>
        </p:txBody>
      </p:sp>
      <p:sp>
        <p:nvSpPr>
          <p:cNvPr id="23" name="Text 21"/>
          <p:cNvSpPr/>
          <p:nvPr/>
        </p:nvSpPr>
        <p:spPr>
          <a:xfrm>
            <a:off x="777240" y="1938528"/>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1. </a:t>
            </a:r>
            <a:pPr indent="0" marL="0">
              <a:buNone/>
            </a:pPr>
            <a:r>
              <a:rPr lang="en-US" sz="950" b="1" dirty="0">
                <a:solidFill>
                  <a:srgbClr val="17324D"/>
                </a:solidFill>
                <a:latin typeface="Hanken Grotesk" pitchFamily="34" charset="0"/>
                <a:ea typeface="Hanken Grotesk" pitchFamily="34" charset="-122"/>
                <a:cs typeface="Hanken Grotesk" pitchFamily="34" charset="-120"/>
              </a:rPr>
              <a:t>Find prime factorization of 48:  </a:t>
            </a:r>
            <a:pPr indent="0" marL="0">
              <a:buNone/>
            </a:pPr>
            <a:r>
              <a:rPr lang="en-US" sz="950" b="1" dirty="0">
                <a:solidFill>
                  <a:srgbClr val="24323F"/>
                </a:solidFill>
                <a:latin typeface="Courier New" pitchFamily="34" charset="0"/>
                <a:ea typeface="Courier New" pitchFamily="34" charset="-122"/>
                <a:cs typeface="Courier New" pitchFamily="34" charset="-120"/>
              </a:rPr>
              <a:t>Start: 48</a:t>
            </a:r>
            <a:endParaRPr lang="en-US" sz="950" dirty="0"/>
          </a:p>
        </p:txBody>
      </p:sp>
      <p:sp>
        <p:nvSpPr>
          <p:cNvPr id="24" name="Text 22"/>
          <p:cNvSpPr/>
          <p:nvPr/>
        </p:nvSpPr>
        <p:spPr>
          <a:xfrm>
            <a:off x="777240" y="2322576"/>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2. </a:t>
            </a:r>
            <a:pPr indent="0" marL="0">
              <a:buNone/>
            </a:pPr>
            <a:r>
              <a:rPr lang="en-US" sz="950" b="1" dirty="0">
                <a:solidFill>
                  <a:srgbClr val="17324D"/>
                </a:solidFill>
                <a:latin typeface="Hanken Grotesk" pitchFamily="34" charset="0"/>
                <a:ea typeface="Hanken Grotesk" pitchFamily="34" charset="-122"/>
                <a:cs typeface="Hanken Grotesk" pitchFamily="34" charset="-120"/>
              </a:rPr>
              <a:t>First split:  </a:t>
            </a:r>
            <a:pPr indent="0" marL="0">
              <a:buNone/>
            </a:pPr>
            <a:r>
              <a:rPr lang="en-US" sz="950" b="1" dirty="0">
                <a:solidFill>
                  <a:srgbClr val="24323F"/>
                </a:solidFill>
                <a:latin typeface="Courier New" pitchFamily="34" charset="0"/>
                <a:ea typeface="Courier New" pitchFamily="34" charset="-122"/>
                <a:cs typeface="Courier New" pitchFamily="34" charset="-120"/>
              </a:rPr>
              <a:t>48 = 6 × 8</a:t>
            </a:r>
            <a:endParaRPr lang="en-US" sz="950" dirty="0"/>
          </a:p>
        </p:txBody>
      </p:sp>
      <p:sp>
        <p:nvSpPr>
          <p:cNvPr id="25" name="Text 23"/>
          <p:cNvSpPr/>
          <p:nvPr/>
        </p:nvSpPr>
        <p:spPr>
          <a:xfrm>
            <a:off x="777240" y="2706624"/>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3. </a:t>
            </a:r>
            <a:pPr indent="0" marL="0">
              <a:buNone/>
            </a:pPr>
            <a:r>
              <a:rPr lang="en-US" sz="950" b="1" dirty="0">
                <a:solidFill>
                  <a:srgbClr val="17324D"/>
                </a:solidFill>
                <a:latin typeface="Hanken Grotesk" pitchFamily="34" charset="0"/>
                <a:ea typeface="Hanken Grotesk" pitchFamily="34" charset="-122"/>
                <a:cs typeface="Hanken Grotesk" pitchFamily="34" charset="-120"/>
              </a:rPr>
              <a:t>Break down 6:  </a:t>
            </a:r>
            <a:pPr indent="0" marL="0">
              <a:buNone/>
            </a:pPr>
            <a:r>
              <a:rPr lang="en-US" sz="950" b="1" dirty="0">
                <a:solidFill>
                  <a:srgbClr val="24323F"/>
                </a:solidFill>
                <a:latin typeface="Courier New" pitchFamily="34" charset="0"/>
                <a:ea typeface="Courier New" pitchFamily="34" charset="-122"/>
                <a:cs typeface="Courier New" pitchFamily="34" charset="-120"/>
              </a:rPr>
              <a:t>6 = 2 × 3</a:t>
            </a:r>
            <a:endParaRPr lang="en-US" sz="950" dirty="0"/>
          </a:p>
        </p:txBody>
      </p:sp>
      <p:sp>
        <p:nvSpPr>
          <p:cNvPr id="26" name="Text 24"/>
          <p:cNvSpPr/>
          <p:nvPr/>
        </p:nvSpPr>
        <p:spPr>
          <a:xfrm>
            <a:off x="777240" y="3090672"/>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4. </a:t>
            </a:r>
            <a:pPr indent="0" marL="0">
              <a:buNone/>
            </a:pPr>
            <a:r>
              <a:rPr lang="en-US" sz="950" b="1" dirty="0">
                <a:solidFill>
                  <a:srgbClr val="17324D"/>
                </a:solidFill>
                <a:latin typeface="Hanken Grotesk" pitchFamily="34" charset="0"/>
                <a:ea typeface="Hanken Grotesk" pitchFamily="34" charset="-122"/>
                <a:cs typeface="Hanken Grotesk" pitchFamily="34" charset="-120"/>
              </a:rPr>
              <a:t>Break down 8:  </a:t>
            </a:r>
            <a:pPr indent="0" marL="0">
              <a:buNone/>
            </a:pPr>
            <a:r>
              <a:rPr lang="en-US" sz="950" b="1" dirty="0">
                <a:solidFill>
                  <a:srgbClr val="24323F"/>
                </a:solidFill>
                <a:latin typeface="Courier New" pitchFamily="34" charset="0"/>
                <a:ea typeface="Courier New" pitchFamily="34" charset="-122"/>
                <a:cs typeface="Courier New" pitchFamily="34" charset="-120"/>
              </a:rPr>
              <a:t>8 = 2 × 4</a:t>
            </a:r>
            <a:endParaRPr lang="en-US" sz="950" dirty="0"/>
          </a:p>
        </p:txBody>
      </p:sp>
      <p:sp>
        <p:nvSpPr>
          <p:cNvPr id="27" name="Text 25"/>
          <p:cNvSpPr/>
          <p:nvPr/>
        </p:nvSpPr>
        <p:spPr>
          <a:xfrm>
            <a:off x="777240" y="3474720"/>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5. </a:t>
            </a:r>
            <a:pPr indent="0" marL="0">
              <a:buNone/>
            </a:pPr>
            <a:r>
              <a:rPr lang="en-US" sz="950" b="1" dirty="0">
                <a:solidFill>
                  <a:srgbClr val="17324D"/>
                </a:solidFill>
                <a:latin typeface="Hanken Grotesk" pitchFamily="34" charset="0"/>
                <a:ea typeface="Hanken Grotesk" pitchFamily="34" charset="-122"/>
                <a:cs typeface="Hanken Grotesk" pitchFamily="34" charset="-120"/>
              </a:rPr>
              <a:t>Final answer:  </a:t>
            </a:r>
            <a:pPr indent="0" marL="0">
              <a:buNone/>
            </a:pPr>
            <a:r>
              <a:rPr lang="en-US" sz="950" b="1" dirty="0">
                <a:solidFill>
                  <a:srgbClr val="24323F"/>
                </a:solidFill>
                <a:latin typeface="Courier New" pitchFamily="34" charset="0"/>
                <a:ea typeface="Courier New" pitchFamily="34" charset="-122"/>
                <a:cs typeface="Courier New" pitchFamily="34" charset="-120"/>
              </a:rPr>
              <a:t>48 = 2 × 3 × 2 × 4</a:t>
            </a:r>
            <a:endParaRPr lang="en-US" sz="950" dirty="0"/>
          </a:p>
        </p:txBody>
      </p:sp>
      <p:sp>
        <p:nvSpPr>
          <p:cNvPr id="28" name="Text 26"/>
          <p:cNvSpPr/>
          <p:nvPr/>
        </p:nvSpPr>
        <p:spPr>
          <a:xfrm>
            <a:off x="594360" y="4050792"/>
            <a:ext cx="5120640" cy="22860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Which step has the error? Circle it above.</a:t>
            </a:r>
            <a:endParaRPr lang="en-US" sz="900" dirty="0"/>
          </a:p>
        </p:txBody>
      </p:sp>
      <p:sp>
        <p:nvSpPr>
          <p:cNvPr id="29" name="Shape 27"/>
          <p:cNvSpPr/>
          <p:nvPr/>
        </p:nvSpPr>
        <p:spPr>
          <a:xfrm>
            <a:off x="6035040" y="685800"/>
            <a:ext cx="2788920" cy="4023360"/>
          </a:xfrm>
          <a:prstGeom prst="roundRect">
            <a:avLst>
              <a:gd name="adj" fmla="val 2623"/>
            </a:avLst>
          </a:prstGeom>
          <a:solidFill>
            <a:srgbClr val="FCE6DE"/>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30" name="Text 28"/>
          <p:cNvSpPr/>
          <p:nvPr/>
        </p:nvSpPr>
        <p:spPr>
          <a:xfrm>
            <a:off x="6035040" y="685800"/>
            <a:ext cx="2788920" cy="274320"/>
          </a:xfrm>
          <a:prstGeom prst="rect">
            <a:avLst/>
          </a:prstGeom>
          <a:solidFill>
            <a:srgbClr val="C0392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Explain &amp; Fix</a:t>
            </a:r>
            <a:endParaRPr lang="en-US" sz="1000" dirty="0"/>
          </a:p>
        </p:txBody>
      </p:sp>
      <p:sp>
        <p:nvSpPr>
          <p:cNvPr id="31" name="Text 29"/>
          <p:cNvSpPr/>
          <p:nvPr/>
        </p:nvSpPr>
        <p:spPr>
          <a:xfrm>
            <a:off x="6217920" y="1097280"/>
            <a:ext cx="2468880" cy="50292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mistake was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 because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a:t>
            </a:r>
            <a:endParaRPr lang="en-US" sz="1000" dirty="0"/>
          </a:p>
        </p:txBody>
      </p:sp>
      <p:sp>
        <p:nvSpPr>
          <p:cNvPr id="32" name="Shape 30"/>
          <p:cNvSpPr/>
          <p:nvPr/>
        </p:nvSpPr>
        <p:spPr>
          <a:xfrm>
            <a:off x="6217920" y="1783080"/>
            <a:ext cx="2423160" cy="0"/>
          </a:xfrm>
          <a:prstGeom prst="line">
            <a:avLst/>
          </a:prstGeom>
          <a:noFill/>
          <a:ln w="9525">
            <a:solidFill>
              <a:srgbClr val="C7CDD2"/>
            </a:solidFill>
            <a:prstDash val="dash"/>
          </a:ln>
        </p:spPr>
      </p:sp>
      <p:sp>
        <p:nvSpPr>
          <p:cNvPr id="33" name="Shape 31"/>
          <p:cNvSpPr/>
          <p:nvPr/>
        </p:nvSpPr>
        <p:spPr>
          <a:xfrm>
            <a:off x="6217920" y="2075688"/>
            <a:ext cx="2423160" cy="0"/>
          </a:xfrm>
          <a:prstGeom prst="line">
            <a:avLst/>
          </a:prstGeom>
          <a:noFill/>
          <a:ln w="9525">
            <a:solidFill>
              <a:srgbClr val="C7CDD2"/>
            </a:solidFill>
            <a:prstDash val="dash"/>
          </a:ln>
        </p:spPr>
      </p:sp>
      <p:sp>
        <p:nvSpPr>
          <p:cNvPr id="34" name="Shape 32"/>
          <p:cNvSpPr/>
          <p:nvPr/>
        </p:nvSpPr>
        <p:spPr>
          <a:xfrm>
            <a:off x="6217920" y="2368296"/>
            <a:ext cx="2423160" cy="0"/>
          </a:xfrm>
          <a:prstGeom prst="line">
            <a:avLst/>
          </a:prstGeom>
          <a:noFill/>
          <a:ln w="9525">
            <a:solidFill>
              <a:srgbClr val="C7CDD2"/>
            </a:solidFill>
            <a:prstDash val="dash"/>
          </a:ln>
        </p:spPr>
      </p:sp>
      <p:sp>
        <p:nvSpPr>
          <p:cNvPr id="35" name="Text 33"/>
          <p:cNvSpPr/>
          <p:nvPr/>
        </p:nvSpPr>
        <p:spPr>
          <a:xfrm>
            <a:off x="6217920" y="2788920"/>
            <a:ext cx="2468880" cy="27432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Fix it — rewrite the step correctly:</a:t>
            </a:r>
            <a:endParaRPr lang="en-US" sz="900" dirty="0"/>
          </a:p>
        </p:txBody>
      </p:sp>
      <p:sp>
        <p:nvSpPr>
          <p:cNvPr id="36" name="Shape 34"/>
          <p:cNvSpPr/>
          <p:nvPr/>
        </p:nvSpPr>
        <p:spPr>
          <a:xfrm>
            <a:off x="6217920" y="3246120"/>
            <a:ext cx="2423160" cy="0"/>
          </a:xfrm>
          <a:prstGeom prst="line">
            <a:avLst/>
          </a:prstGeom>
          <a:noFill/>
          <a:ln w="9525">
            <a:solidFill>
              <a:srgbClr val="C7CDD2"/>
            </a:solidFill>
            <a:prstDash val="dash"/>
          </a:ln>
        </p:spPr>
      </p:sp>
      <p:sp>
        <p:nvSpPr>
          <p:cNvPr id="37" name="Shape 35"/>
          <p:cNvSpPr/>
          <p:nvPr/>
        </p:nvSpPr>
        <p:spPr>
          <a:xfrm>
            <a:off x="6217920" y="3538728"/>
            <a:ext cx="2423160" cy="0"/>
          </a:xfrm>
          <a:prstGeom prst="line">
            <a:avLst/>
          </a:prstGeom>
          <a:noFill/>
          <a:ln w="9525">
            <a:solidFill>
              <a:srgbClr val="C7CDD2"/>
            </a:solidFill>
            <a:prstDash val="dash"/>
          </a:ln>
        </p:spPr>
      </p:sp>
      <p:sp>
        <p:nvSpPr>
          <p:cNvPr id="38" name="Shape 36"/>
          <p:cNvSpPr/>
          <p:nvPr/>
        </p:nvSpPr>
        <p:spPr>
          <a:xfrm>
            <a:off x="6217920" y="3831336"/>
            <a:ext cx="2423160" cy="0"/>
          </a:xfrm>
          <a:prstGeom prst="line">
            <a:avLst/>
          </a:prstGeom>
          <a:noFill/>
          <a:ln w="9525">
            <a:solidFill>
              <a:srgbClr val="C7CDD2"/>
            </a:solidFill>
            <a:prstDash val="dash"/>
          </a:ln>
        </p:spPr>
      </p:sp>
      <p:sp>
        <p:nvSpPr>
          <p:cNvPr id="39" name="Shape 37"/>
          <p:cNvSpPr/>
          <p:nvPr/>
        </p:nvSpPr>
        <p:spPr>
          <a:xfrm>
            <a:off x="6217920" y="4123944"/>
            <a:ext cx="2423160" cy="0"/>
          </a:xfrm>
          <a:prstGeom prst="line">
            <a:avLst/>
          </a:prstGeom>
          <a:noFill/>
          <a:ln w="9525">
            <a:solidFill>
              <a:srgbClr val="C7CDD2"/>
            </a:solidFill>
            <a:prstDash val="dash"/>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Two-Column Notes / Notas</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7</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92608"/>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Steps / Pasos</a:t>
            </a:r>
            <a:endParaRPr lang="en-US" sz="1000" dirty="0"/>
          </a:p>
        </p:txBody>
      </p:sp>
      <p:sp>
        <p:nvSpPr>
          <p:cNvPr id="19" name="Shape 17"/>
          <p:cNvSpPr/>
          <p:nvPr/>
        </p:nvSpPr>
        <p:spPr>
          <a:xfrm>
            <a:off x="594360" y="1243584"/>
            <a:ext cx="274320" cy="274320"/>
          </a:xfrm>
          <a:prstGeom prst="ellipse">
            <a:avLst/>
          </a:prstGeom>
          <a:solidFill>
            <a:srgbClr val="1FA6A2"/>
          </a:solidFill>
          <a:ln/>
        </p:spPr>
      </p:sp>
      <p:sp>
        <p:nvSpPr>
          <p:cNvPr id="20" name="Text 18"/>
          <p:cNvSpPr/>
          <p:nvPr/>
        </p:nvSpPr>
        <p:spPr>
          <a:xfrm>
            <a:off x="594360" y="124358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1" name="Text 19"/>
          <p:cNvSpPr/>
          <p:nvPr/>
        </p:nvSpPr>
        <p:spPr>
          <a:xfrm>
            <a:off x="978408" y="1188720"/>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want the prime factorization of 60. I start by splitting it: 60 = 6 × 10.</a:t>
            </a:r>
            <a:endParaRPr lang="en-US" sz="1050" dirty="0"/>
          </a:p>
        </p:txBody>
      </p:sp>
      <p:sp>
        <p:nvSpPr>
          <p:cNvPr id="22" name="Shape 20"/>
          <p:cNvSpPr/>
          <p:nvPr/>
        </p:nvSpPr>
        <p:spPr>
          <a:xfrm>
            <a:off x="594360" y="1719072"/>
            <a:ext cx="274320" cy="274320"/>
          </a:xfrm>
          <a:prstGeom prst="ellipse">
            <a:avLst/>
          </a:prstGeom>
          <a:solidFill>
            <a:srgbClr val="1FA6A2"/>
          </a:solidFill>
          <a:ln/>
        </p:spPr>
      </p:sp>
      <p:sp>
        <p:nvSpPr>
          <p:cNvPr id="23" name="Text 21"/>
          <p:cNvSpPr/>
          <p:nvPr/>
        </p:nvSpPr>
        <p:spPr>
          <a:xfrm>
            <a:off x="594360" y="171907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4" name="Text 22"/>
          <p:cNvSpPr/>
          <p:nvPr/>
        </p:nvSpPr>
        <p:spPr>
          <a:xfrm>
            <a:off x="978408" y="1664208"/>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6 is not prime, so I break it: 6 = 2 × 3. Both 2 and 3 are prime, so I stop those branches.</a:t>
            </a:r>
            <a:endParaRPr lang="en-US" sz="1050" dirty="0"/>
          </a:p>
        </p:txBody>
      </p:sp>
      <p:sp>
        <p:nvSpPr>
          <p:cNvPr id="25" name="Shape 23"/>
          <p:cNvSpPr/>
          <p:nvPr/>
        </p:nvSpPr>
        <p:spPr>
          <a:xfrm>
            <a:off x="594360" y="2194560"/>
            <a:ext cx="274320" cy="274320"/>
          </a:xfrm>
          <a:prstGeom prst="ellipse">
            <a:avLst/>
          </a:prstGeom>
          <a:solidFill>
            <a:srgbClr val="1FA6A2"/>
          </a:solidFill>
          <a:ln/>
        </p:spPr>
      </p:sp>
      <p:sp>
        <p:nvSpPr>
          <p:cNvPr id="26" name="Text 24"/>
          <p:cNvSpPr/>
          <p:nvPr/>
        </p:nvSpPr>
        <p:spPr>
          <a:xfrm>
            <a:off x="594360" y="219456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7" name="Text 25"/>
          <p:cNvSpPr/>
          <p:nvPr/>
        </p:nvSpPr>
        <p:spPr>
          <a:xfrm>
            <a:off x="978408" y="2139696"/>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10 is not prime, so I break it: 10 = 2 × 5. Both 2 and 5 are prime, so I stop.</a:t>
            </a:r>
            <a:endParaRPr lang="en-US" sz="1050" dirty="0"/>
          </a:p>
        </p:txBody>
      </p:sp>
      <p:sp>
        <p:nvSpPr>
          <p:cNvPr id="28" name="Shape 26"/>
          <p:cNvSpPr/>
          <p:nvPr/>
        </p:nvSpPr>
        <p:spPr>
          <a:xfrm>
            <a:off x="594360" y="2670048"/>
            <a:ext cx="274320" cy="274320"/>
          </a:xfrm>
          <a:prstGeom prst="ellipse">
            <a:avLst/>
          </a:prstGeom>
          <a:solidFill>
            <a:srgbClr val="1FA6A2"/>
          </a:solidFill>
          <a:ln/>
        </p:spPr>
      </p:sp>
      <p:sp>
        <p:nvSpPr>
          <p:cNvPr id="29" name="Text 27"/>
          <p:cNvSpPr/>
          <p:nvPr/>
        </p:nvSpPr>
        <p:spPr>
          <a:xfrm>
            <a:off x="594360" y="267004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0" name="Text 28"/>
          <p:cNvSpPr/>
          <p:nvPr/>
        </p:nvSpPr>
        <p:spPr>
          <a:xfrm>
            <a:off x="978408" y="2615184"/>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Now every factor is prime: 60 = 2 × 2 × 3 × 5.</a:t>
            </a:r>
            <a:endParaRPr lang="en-US" sz="1050" dirty="0"/>
          </a:p>
        </p:txBody>
      </p:sp>
      <p:sp>
        <p:nvSpPr>
          <p:cNvPr id="31" name="Shape 29"/>
          <p:cNvSpPr/>
          <p:nvPr/>
        </p:nvSpPr>
        <p:spPr>
          <a:xfrm>
            <a:off x="594360" y="3145536"/>
            <a:ext cx="274320" cy="274320"/>
          </a:xfrm>
          <a:prstGeom prst="ellipse">
            <a:avLst/>
          </a:prstGeom>
          <a:solidFill>
            <a:srgbClr val="1FA6A2"/>
          </a:solidFill>
          <a:ln/>
        </p:spPr>
      </p:sp>
      <p:sp>
        <p:nvSpPr>
          <p:cNvPr id="32" name="Text 30"/>
          <p:cNvSpPr/>
          <p:nvPr/>
        </p:nvSpPr>
        <p:spPr>
          <a:xfrm>
            <a:off x="594360" y="3145536"/>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5</a:t>
            </a:r>
            <a:endParaRPr lang="en-US" sz="1100" dirty="0"/>
          </a:p>
        </p:txBody>
      </p:sp>
      <p:sp>
        <p:nvSpPr>
          <p:cNvPr id="33" name="Text 31"/>
          <p:cNvSpPr/>
          <p:nvPr/>
        </p:nvSpPr>
        <p:spPr>
          <a:xfrm>
            <a:off x="978408" y="3090672"/>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Using exponents, I write it as 2² × 3 × 5. I check: 2 × 2 × 3 × 5 = 60. Correct.</a:t>
            </a:r>
            <a:endParaRPr lang="en-US" sz="1050" dirty="0"/>
          </a:p>
        </p:txBody>
      </p:sp>
      <p:sp>
        <p:nvSpPr>
          <p:cNvPr id="34" name="Shape 32"/>
          <p:cNvSpPr/>
          <p:nvPr/>
        </p:nvSpPr>
        <p:spPr>
          <a:xfrm>
            <a:off x="4709160" y="685800"/>
            <a:ext cx="411480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4709160" y="685800"/>
            <a:ext cx="4114800" cy="292608"/>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My Example / Mi Ejemplo</a:t>
            </a:r>
            <a:endParaRPr lang="en-US" sz="1000" dirty="0"/>
          </a:p>
        </p:txBody>
      </p:sp>
      <p:sp>
        <p:nvSpPr>
          <p:cNvPr id="36" name="Text 34"/>
          <p:cNvSpPr/>
          <p:nvPr/>
        </p:nvSpPr>
        <p:spPr>
          <a:xfrm>
            <a:off x="4892040" y="1143000"/>
            <a:ext cx="3749040" cy="365760"/>
          </a:xfrm>
          <a:prstGeom prst="rect">
            <a:avLst/>
          </a:prstGeom>
          <a:noFill/>
          <a:ln/>
        </p:spPr>
        <p:txBody>
          <a:bodyPr wrap="square" rtlCol="0" anchor="ctr"/>
          <a:lstStyle/>
          <a:p>
            <a:pPr indent="0" marL="0">
              <a:buNone/>
            </a:pPr>
            <a:r>
              <a:rPr lang="en-US" sz="950" i="1" dirty="0">
                <a:solidFill>
                  <a:srgbClr val="8A96A3"/>
                </a:solidFill>
                <a:latin typeface="Hanken Grotesk" pitchFamily="34" charset="0"/>
                <a:ea typeface="Hanken Grotesk" pitchFamily="34" charset="-122"/>
                <a:cs typeface="Hanken Grotesk" pitchFamily="34" charset="-120"/>
              </a:rPr>
              <a:t>Work one problem here, matching each step on the left:</a:t>
            </a:r>
            <a:endParaRPr lang="en-US" sz="950" dirty="0"/>
          </a:p>
        </p:txBody>
      </p:sp>
      <p:sp>
        <p:nvSpPr>
          <p:cNvPr id="37" name="Shape 35"/>
          <p:cNvSpPr/>
          <p:nvPr/>
        </p:nvSpPr>
        <p:spPr>
          <a:xfrm>
            <a:off x="4892040" y="1783080"/>
            <a:ext cx="3749040" cy="0"/>
          </a:xfrm>
          <a:prstGeom prst="line">
            <a:avLst/>
          </a:prstGeom>
          <a:noFill/>
          <a:ln w="9525">
            <a:solidFill>
              <a:srgbClr val="C7CDD2"/>
            </a:solidFill>
            <a:prstDash val="dash"/>
          </a:ln>
        </p:spPr>
      </p:sp>
      <p:sp>
        <p:nvSpPr>
          <p:cNvPr id="38" name="Shape 36"/>
          <p:cNvSpPr/>
          <p:nvPr/>
        </p:nvSpPr>
        <p:spPr>
          <a:xfrm>
            <a:off x="4892040" y="2112264"/>
            <a:ext cx="3749040" cy="0"/>
          </a:xfrm>
          <a:prstGeom prst="line">
            <a:avLst/>
          </a:prstGeom>
          <a:noFill/>
          <a:ln w="9525">
            <a:solidFill>
              <a:srgbClr val="C7CDD2"/>
            </a:solidFill>
            <a:prstDash val="dash"/>
          </a:ln>
        </p:spPr>
      </p:sp>
      <p:sp>
        <p:nvSpPr>
          <p:cNvPr id="39" name="Shape 37"/>
          <p:cNvSpPr/>
          <p:nvPr/>
        </p:nvSpPr>
        <p:spPr>
          <a:xfrm>
            <a:off x="4892040" y="2441448"/>
            <a:ext cx="3749040" cy="0"/>
          </a:xfrm>
          <a:prstGeom prst="line">
            <a:avLst/>
          </a:prstGeom>
          <a:noFill/>
          <a:ln w="9525">
            <a:solidFill>
              <a:srgbClr val="C7CDD2"/>
            </a:solidFill>
            <a:prstDash val="dash"/>
          </a:ln>
        </p:spPr>
      </p:sp>
      <p:sp>
        <p:nvSpPr>
          <p:cNvPr id="40" name="Shape 38"/>
          <p:cNvSpPr/>
          <p:nvPr/>
        </p:nvSpPr>
        <p:spPr>
          <a:xfrm>
            <a:off x="4892040" y="2770632"/>
            <a:ext cx="3749040" cy="0"/>
          </a:xfrm>
          <a:prstGeom prst="line">
            <a:avLst/>
          </a:prstGeom>
          <a:noFill/>
          <a:ln w="9525">
            <a:solidFill>
              <a:srgbClr val="C7CDD2"/>
            </a:solidFill>
            <a:prstDash val="dash"/>
          </a:ln>
        </p:spPr>
      </p:sp>
      <p:sp>
        <p:nvSpPr>
          <p:cNvPr id="41" name="Shape 39"/>
          <p:cNvSpPr/>
          <p:nvPr/>
        </p:nvSpPr>
        <p:spPr>
          <a:xfrm>
            <a:off x="4892040" y="3099816"/>
            <a:ext cx="3749040" cy="0"/>
          </a:xfrm>
          <a:prstGeom prst="line">
            <a:avLst/>
          </a:prstGeom>
          <a:noFill/>
          <a:ln w="9525">
            <a:solidFill>
              <a:srgbClr val="C7CDD2"/>
            </a:solidFill>
            <a:prstDash val="dash"/>
          </a:ln>
        </p:spPr>
      </p:sp>
      <p:sp>
        <p:nvSpPr>
          <p:cNvPr id="42" name="Shape 40"/>
          <p:cNvSpPr/>
          <p:nvPr/>
        </p:nvSpPr>
        <p:spPr>
          <a:xfrm>
            <a:off x="4892040" y="3429000"/>
            <a:ext cx="3749040" cy="0"/>
          </a:xfrm>
          <a:prstGeom prst="line">
            <a:avLst/>
          </a:prstGeom>
          <a:noFill/>
          <a:ln w="9525">
            <a:solidFill>
              <a:srgbClr val="C7CDD2"/>
            </a:solidFill>
            <a:prstDash val="dash"/>
          </a:ln>
        </p:spPr>
      </p:sp>
      <p:sp>
        <p:nvSpPr>
          <p:cNvPr id="43" name="Shape 41"/>
          <p:cNvSpPr/>
          <p:nvPr/>
        </p:nvSpPr>
        <p:spPr>
          <a:xfrm>
            <a:off x="4892040" y="3758184"/>
            <a:ext cx="3749040" cy="0"/>
          </a:xfrm>
          <a:prstGeom prst="line">
            <a:avLst/>
          </a:prstGeom>
          <a:noFill/>
          <a:ln w="9525">
            <a:solidFill>
              <a:srgbClr val="C7CDD2"/>
            </a:solidFill>
            <a:prstDash val="dash"/>
          </a:ln>
        </p:spPr>
      </p:sp>
      <p:sp>
        <p:nvSpPr>
          <p:cNvPr id="44" name="Shape 42"/>
          <p:cNvSpPr/>
          <p:nvPr/>
        </p:nvSpPr>
        <p:spPr>
          <a:xfrm>
            <a:off x="4892040" y="4087368"/>
            <a:ext cx="3749040" cy="0"/>
          </a:xfrm>
          <a:prstGeom prst="line">
            <a:avLst/>
          </a:prstGeom>
          <a:noFill/>
          <a:ln w="9525">
            <a:solidFill>
              <a:srgbClr val="C7CDD2"/>
            </a:solidFill>
            <a:prstDash val="dash"/>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Choice Board / Tablero de Opciones</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8</a:t>
            </a:r>
            <a:endParaRPr lang="en-US" sz="800" dirty="0"/>
          </a:p>
        </p:txBody>
      </p:sp>
      <p:sp>
        <p:nvSpPr>
          <p:cNvPr id="17" name="Text 15"/>
          <p:cNvSpPr/>
          <p:nvPr/>
        </p:nvSpPr>
        <p:spPr>
          <a:xfrm>
            <a:off x="411480" y="640080"/>
            <a:ext cx="841248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Choose ONE to show what you know:</a:t>
            </a:r>
            <a:endParaRPr lang="en-US" sz="1200" dirty="0"/>
          </a:p>
        </p:txBody>
      </p:sp>
      <p:sp>
        <p:nvSpPr>
          <p:cNvPr id="18" name="Shape 16"/>
          <p:cNvSpPr/>
          <p:nvPr/>
        </p:nvSpPr>
        <p:spPr>
          <a:xfrm>
            <a:off x="411480" y="1051560"/>
            <a:ext cx="4114800" cy="1645920"/>
          </a:xfrm>
          <a:prstGeom prst="roundRect">
            <a:avLst>
              <a:gd name="adj" fmla="val 4444"/>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4864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0" name="Text 18"/>
          <p:cNvSpPr/>
          <p:nvPr/>
        </p:nvSpPr>
        <p:spPr>
          <a:xfrm>
            <a:off x="123444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Draw &amp; Label</a:t>
            </a:r>
            <a:endParaRPr lang="en-US" sz="1300" dirty="0"/>
          </a:p>
        </p:txBody>
      </p:sp>
      <p:sp>
        <p:nvSpPr>
          <p:cNvPr id="21" name="Text 19"/>
          <p:cNvSpPr/>
          <p:nvPr/>
        </p:nvSpPr>
        <p:spPr>
          <a:xfrm>
            <a:off x="59436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Sketch a model for today's problem. Label it using Prime number and Composite number.</a:t>
            </a:r>
            <a:endParaRPr lang="en-US" sz="1000" dirty="0"/>
          </a:p>
        </p:txBody>
      </p:sp>
      <p:sp>
        <p:nvSpPr>
          <p:cNvPr id="22" name="Shape 20"/>
          <p:cNvSpPr/>
          <p:nvPr/>
        </p:nvSpPr>
        <p:spPr>
          <a:xfrm>
            <a:off x="4709160" y="1051560"/>
            <a:ext cx="4114800" cy="1645920"/>
          </a:xfrm>
          <a:prstGeom prst="roundRect">
            <a:avLst>
              <a:gd name="adj" fmla="val 4444"/>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484632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4" name="Text 22"/>
          <p:cNvSpPr/>
          <p:nvPr/>
        </p:nvSpPr>
        <p:spPr>
          <a:xfrm>
            <a:off x="553212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Explain It</a:t>
            </a:r>
            <a:endParaRPr lang="en-US" sz="1300" dirty="0"/>
          </a:p>
        </p:txBody>
      </p:sp>
      <p:sp>
        <p:nvSpPr>
          <p:cNvPr id="25" name="Text 23"/>
          <p:cNvSpPr/>
          <p:nvPr/>
        </p:nvSpPr>
        <p:spPr>
          <a:xfrm>
            <a:off x="489204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In 2–3 sentences, explain "Keep breaking a number apart until every factor is a prime number you cannot split anymore." in your own words.</a:t>
            </a:r>
            <a:endParaRPr lang="en-US" sz="1000" dirty="0"/>
          </a:p>
        </p:txBody>
      </p:sp>
      <p:sp>
        <p:nvSpPr>
          <p:cNvPr id="26" name="Shape 24"/>
          <p:cNvSpPr/>
          <p:nvPr/>
        </p:nvSpPr>
        <p:spPr>
          <a:xfrm>
            <a:off x="411480" y="2834640"/>
            <a:ext cx="4114800" cy="1645920"/>
          </a:xfrm>
          <a:prstGeom prst="roundRect">
            <a:avLst>
              <a:gd name="adj" fmla="val 4444"/>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4864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8" name="Text 26"/>
          <p:cNvSpPr/>
          <p:nvPr/>
        </p:nvSpPr>
        <p:spPr>
          <a:xfrm>
            <a:off x="123444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Solve It</a:t>
            </a:r>
            <a:endParaRPr lang="en-US" sz="1300" dirty="0"/>
          </a:p>
        </p:txBody>
      </p:sp>
      <p:sp>
        <p:nvSpPr>
          <p:cNvPr id="29" name="Text 27"/>
          <p:cNvSpPr/>
          <p:nvPr/>
        </p:nvSpPr>
        <p:spPr>
          <a:xfrm>
            <a:off x="59436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Work one practice problem and show every step clearly.</a:t>
            </a:r>
            <a:endParaRPr lang="en-US" sz="1000" dirty="0"/>
          </a:p>
        </p:txBody>
      </p:sp>
      <p:sp>
        <p:nvSpPr>
          <p:cNvPr id="30" name="Shape 28"/>
          <p:cNvSpPr/>
          <p:nvPr/>
        </p:nvSpPr>
        <p:spPr>
          <a:xfrm>
            <a:off x="4709160" y="2834640"/>
            <a:ext cx="4114800" cy="1645920"/>
          </a:xfrm>
          <a:prstGeom prst="roundRect">
            <a:avLst>
              <a:gd name="adj" fmla="val 4444"/>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84632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32" name="Text 30"/>
          <p:cNvSpPr/>
          <p:nvPr/>
        </p:nvSpPr>
        <p:spPr>
          <a:xfrm>
            <a:off x="553212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Create a Problem</a:t>
            </a:r>
            <a:endParaRPr lang="en-US" sz="1300" dirty="0"/>
          </a:p>
        </p:txBody>
      </p:sp>
      <p:sp>
        <p:nvSpPr>
          <p:cNvPr id="33" name="Text 31"/>
          <p:cNvSpPr/>
          <p:nvPr/>
        </p:nvSpPr>
        <p:spPr>
          <a:xfrm>
            <a:off x="489204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Write your own problem that uses Prime number, then solve it and make an answer key.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Independent Practice / Práctica Independiente</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9</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46304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ON YOUR OWN</a:t>
            </a:r>
            <a:endParaRPr lang="en-US" sz="900" dirty="0"/>
          </a:p>
        </p:txBody>
      </p:sp>
      <p:sp>
        <p:nvSpPr>
          <p:cNvPr id="19" name="Text 17"/>
          <p:cNvSpPr/>
          <p:nvPr/>
        </p:nvSpPr>
        <p:spPr>
          <a:xfrm>
            <a:off x="594360" y="1234440"/>
            <a:ext cx="5166360" cy="45720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1.  </a:t>
            </a:r>
            <a:pPr indent="0" marL="0">
              <a:buNone/>
            </a:pPr>
            <a:r>
              <a:rPr lang="en-US" sz="1050" dirty="0">
                <a:solidFill>
                  <a:srgbClr val="17324D"/>
                </a:solidFill>
                <a:latin typeface="Hanken Grotesk" pitchFamily="34" charset="0"/>
                <a:ea typeface="Hanken Grotesk" pitchFamily="34" charset="-122"/>
                <a:cs typeface="Hanken Grotesk" pitchFamily="34" charset="-120"/>
              </a:rPr>
              <a:t>Two students found different factor trees for 60. Student A started with 2 × 30. Student B started with 6 × 10. Which statement is true?</a:t>
            </a:r>
            <a:endParaRPr lang="en-US" sz="1050" dirty="0"/>
          </a:p>
        </p:txBody>
      </p:sp>
      <p:sp>
        <p:nvSpPr>
          <p:cNvPr id="20" name="Shape 18"/>
          <p:cNvSpPr/>
          <p:nvPr/>
        </p:nvSpPr>
        <p:spPr>
          <a:xfrm>
            <a:off x="777240" y="1783080"/>
            <a:ext cx="4983480" cy="0"/>
          </a:xfrm>
          <a:prstGeom prst="line">
            <a:avLst/>
          </a:prstGeom>
          <a:noFill/>
          <a:ln w="9525">
            <a:solidFill>
              <a:srgbClr val="C7CDD2"/>
            </a:solidFill>
            <a:prstDash val="dash"/>
          </a:ln>
        </p:spPr>
      </p:sp>
      <p:sp>
        <p:nvSpPr>
          <p:cNvPr id="21" name="Text 19"/>
          <p:cNvSpPr/>
          <p:nvPr/>
        </p:nvSpPr>
        <p:spPr>
          <a:xfrm>
            <a:off x="594360" y="2194560"/>
            <a:ext cx="5166360" cy="45720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2.  </a:t>
            </a:r>
            <a:pPr indent="0" marL="0">
              <a:buNone/>
            </a:pPr>
            <a:r>
              <a:rPr lang="en-US" sz="1050" dirty="0">
                <a:solidFill>
                  <a:srgbClr val="17324D"/>
                </a:solidFill>
                <a:latin typeface="Hanken Grotesk" pitchFamily="34" charset="0"/>
                <a:ea typeface="Hanken Grotesk" pitchFamily="34" charset="-122"/>
                <a:cs typeface="Hanken Grotesk" pitchFamily="34" charset="-120"/>
              </a:rPr>
              <a:t>Which of the following is a prime number?</a:t>
            </a:r>
            <a:endParaRPr lang="en-US" sz="1050" dirty="0"/>
          </a:p>
        </p:txBody>
      </p:sp>
      <p:sp>
        <p:nvSpPr>
          <p:cNvPr id="22" name="Shape 20"/>
          <p:cNvSpPr/>
          <p:nvPr/>
        </p:nvSpPr>
        <p:spPr>
          <a:xfrm>
            <a:off x="777240" y="2743200"/>
            <a:ext cx="4983480" cy="0"/>
          </a:xfrm>
          <a:prstGeom prst="line">
            <a:avLst/>
          </a:prstGeom>
          <a:noFill/>
          <a:ln w="9525">
            <a:solidFill>
              <a:srgbClr val="C7CDD2"/>
            </a:solidFill>
            <a:prstDash val="dash"/>
          </a:ln>
        </p:spPr>
      </p:sp>
      <p:sp>
        <p:nvSpPr>
          <p:cNvPr id="23" name="Text 21"/>
          <p:cNvSpPr/>
          <p:nvPr/>
        </p:nvSpPr>
        <p:spPr>
          <a:xfrm>
            <a:off x="594360" y="3154680"/>
            <a:ext cx="5166360" cy="45720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3.  </a:t>
            </a:r>
            <a:pPr indent="0" marL="0">
              <a:buNone/>
            </a:pPr>
            <a:r>
              <a:rPr lang="en-US" sz="1050" dirty="0">
                <a:solidFill>
                  <a:srgbClr val="17324D"/>
                </a:solidFill>
                <a:latin typeface="Hanken Grotesk" pitchFamily="34" charset="0"/>
                <a:ea typeface="Hanken Grotesk" pitchFamily="34" charset="-122"/>
                <a:cs typeface="Hanken Grotesk" pitchFamily="34" charset="-120"/>
              </a:rPr>
              <a:t>What is the prime factorization of 30?</a:t>
            </a:r>
            <a:endParaRPr lang="en-US" sz="1050" dirty="0"/>
          </a:p>
        </p:txBody>
      </p:sp>
      <p:sp>
        <p:nvSpPr>
          <p:cNvPr id="24" name="Shape 22"/>
          <p:cNvSpPr/>
          <p:nvPr/>
        </p:nvSpPr>
        <p:spPr>
          <a:xfrm>
            <a:off x="777240" y="3703320"/>
            <a:ext cx="4983480" cy="0"/>
          </a:xfrm>
          <a:prstGeom prst="line">
            <a:avLst/>
          </a:prstGeom>
          <a:noFill/>
          <a:ln w="9525">
            <a:solidFill>
              <a:srgbClr val="C7CDD2"/>
            </a:solidFill>
            <a:prstDash val="dash"/>
          </a:ln>
        </p:spPr>
      </p:sp>
      <p:sp>
        <p:nvSpPr>
          <p:cNvPr id="25" name="Shape 23"/>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27" name="Text 25"/>
          <p:cNvSpPr/>
          <p:nvPr/>
        </p:nvSpPr>
        <p:spPr>
          <a:xfrm>
            <a:off x="6217920" y="1097280"/>
            <a:ext cx="2468880" cy="155448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cafeteria has 84 apples to arrange into equal rows. How does the prime factorization of 84 help the manager find every possible equal-row display?</a:t>
            </a:r>
            <a:endParaRPr lang="en-US" sz="1000" dirty="0"/>
          </a:p>
        </p:txBody>
      </p:sp>
      <p:sp>
        <p:nvSpPr>
          <p:cNvPr id="28" name="Shape 26"/>
          <p:cNvSpPr/>
          <p:nvPr/>
        </p:nvSpPr>
        <p:spPr>
          <a:xfrm>
            <a:off x="6217920" y="2834640"/>
            <a:ext cx="2423160" cy="0"/>
          </a:xfrm>
          <a:prstGeom prst="line">
            <a:avLst/>
          </a:prstGeom>
          <a:noFill/>
          <a:ln w="9525">
            <a:solidFill>
              <a:srgbClr val="C7CDD2"/>
            </a:solidFill>
            <a:prstDash val="dash"/>
          </a:ln>
        </p:spPr>
      </p:sp>
      <p:sp>
        <p:nvSpPr>
          <p:cNvPr id="29" name="Shape 27"/>
          <p:cNvSpPr/>
          <p:nvPr/>
        </p:nvSpPr>
        <p:spPr>
          <a:xfrm>
            <a:off x="6217920" y="3163824"/>
            <a:ext cx="2423160" cy="0"/>
          </a:xfrm>
          <a:prstGeom prst="line">
            <a:avLst/>
          </a:prstGeom>
          <a:noFill/>
          <a:ln w="9525">
            <a:solidFill>
              <a:srgbClr val="C7CDD2"/>
            </a:solidFill>
            <a:prstDash val="dash"/>
          </a:ln>
        </p:spPr>
      </p:sp>
      <p:sp>
        <p:nvSpPr>
          <p:cNvPr id="30" name="Shape 28"/>
          <p:cNvSpPr/>
          <p:nvPr/>
        </p:nvSpPr>
        <p:spPr>
          <a:xfrm>
            <a:off x="6217920" y="3493008"/>
            <a:ext cx="2423160" cy="0"/>
          </a:xfrm>
          <a:prstGeom prst="line">
            <a:avLst/>
          </a:prstGeom>
          <a:noFill/>
          <a:ln w="9525">
            <a:solidFill>
              <a:srgbClr val="C7CDD2"/>
            </a:solidFill>
            <a:prstDash val="dash"/>
          </a:ln>
        </p:spPr>
      </p:sp>
      <p:sp>
        <p:nvSpPr>
          <p:cNvPr id="31" name="Shape 29"/>
          <p:cNvSpPr/>
          <p:nvPr/>
        </p:nvSpPr>
        <p:spPr>
          <a:xfrm>
            <a:off x="6217920" y="3822192"/>
            <a:ext cx="2423160" cy="0"/>
          </a:xfrm>
          <a:prstGeom prst="line">
            <a:avLst/>
          </a:prstGeom>
          <a:noFill/>
          <a:ln w="9525">
            <a:solidFill>
              <a:srgbClr val="C7CDD2"/>
            </a:solidFill>
            <a:prstDash val="dash"/>
          </a:ln>
        </p:spPr>
      </p:sp>
      <p:sp>
        <p:nvSpPr>
          <p:cNvPr id="32" name="Shape 30"/>
          <p:cNvSpPr/>
          <p:nvPr/>
        </p:nvSpPr>
        <p:spPr>
          <a:xfrm>
            <a:off x="6217920" y="4151376"/>
            <a:ext cx="2423160" cy="0"/>
          </a:xfrm>
          <a:prstGeom prst="line">
            <a:avLst/>
          </a:prstGeom>
          <a:noFill/>
          <a:ln w="9525">
            <a:solidFill>
              <a:srgbClr val="C7CDD2"/>
            </a:solidFill>
            <a:prstDash val="dash"/>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Think–Write–Respond / Piensa y Escribe</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10</a:t>
            </a:r>
            <a:endParaRPr lang="en-US" sz="800" dirty="0"/>
          </a:p>
        </p:txBody>
      </p:sp>
      <p:sp>
        <p:nvSpPr>
          <p:cNvPr id="17" name="Text 15"/>
          <p:cNvSpPr/>
          <p:nvPr/>
        </p:nvSpPr>
        <p:spPr>
          <a:xfrm>
            <a:off x="411480" y="603504"/>
            <a:ext cx="8412480" cy="274320"/>
          </a:xfrm>
          <a:prstGeom prst="rect">
            <a:avLst/>
          </a:prstGeom>
          <a:noFill/>
          <a:ln/>
        </p:spPr>
        <p:txBody>
          <a:bodyPr wrap="square" rtlCol="0" anchor="ctr"/>
          <a:lstStyle/>
          <a:p>
            <a:pPr indent="0" marL="0">
              <a:buNone/>
            </a:pPr>
            <a:r>
              <a:rPr lang="en-US" sz="1000" i="1" dirty="0">
                <a:solidFill>
                  <a:srgbClr val="8A96A3"/>
                </a:solidFill>
                <a:latin typeface="Hanken Grotesk" pitchFamily="34" charset="0"/>
                <a:ea typeface="Hanken Grotesk" pitchFamily="34" charset="-122"/>
                <a:cs typeface="Hanken Grotesk" pitchFamily="34" charset="-120"/>
              </a:rPr>
              <a:t>Use evidence from today's lesson to complete each frame.</a:t>
            </a:r>
            <a:endParaRPr lang="en-US" sz="1000" dirty="0"/>
          </a:p>
        </p:txBody>
      </p:sp>
      <p:sp>
        <p:nvSpPr>
          <p:cNvPr id="18" name="Shape 16"/>
          <p:cNvSpPr/>
          <p:nvPr/>
        </p:nvSpPr>
        <p:spPr>
          <a:xfrm>
            <a:off x="411480" y="96012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94360" y="105156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1 — </a:t>
            </a:r>
            <a:pPr indent="0" marL="0">
              <a:buNone/>
            </a:pPr>
            <a:r>
              <a:rPr lang="en-US" sz="1100" b="1" dirty="0">
                <a:solidFill>
                  <a:srgbClr val="1FA6A2"/>
                </a:solidFill>
                <a:latin typeface="Outfit" pitchFamily="34" charset="0"/>
                <a:ea typeface="Outfit" pitchFamily="34" charset="-122"/>
                <a:cs typeface="Outfit" pitchFamily="34" charset="-120"/>
              </a:rPr>
              <a:t>Explain the Rule</a:t>
            </a:r>
            <a:endParaRPr lang="en-US" sz="1100" dirty="0"/>
          </a:p>
        </p:txBody>
      </p:sp>
      <p:sp>
        <p:nvSpPr>
          <p:cNvPr id="20" name="Text 18"/>
          <p:cNvSpPr/>
          <p:nvPr/>
        </p:nvSpPr>
        <p:spPr>
          <a:xfrm>
            <a:off x="594360" y="134416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Today's key idea is "Keep breaking a number apart until every factor is a prime number you cannot split anymore." — and it works because ___.</a:t>
            </a:r>
            <a:endParaRPr lang="en-US" sz="1050" dirty="0"/>
          </a:p>
        </p:txBody>
      </p:sp>
      <p:sp>
        <p:nvSpPr>
          <p:cNvPr id="21" name="Shape 19"/>
          <p:cNvSpPr/>
          <p:nvPr/>
        </p:nvSpPr>
        <p:spPr>
          <a:xfrm>
            <a:off x="594360" y="1892808"/>
            <a:ext cx="8046720" cy="0"/>
          </a:xfrm>
          <a:prstGeom prst="line">
            <a:avLst/>
          </a:prstGeom>
          <a:noFill/>
          <a:ln w="9525">
            <a:solidFill>
              <a:srgbClr val="C7CDD2"/>
            </a:solidFill>
            <a:prstDash val="dash"/>
          </a:ln>
        </p:spPr>
      </p:sp>
      <p:sp>
        <p:nvSpPr>
          <p:cNvPr id="22" name="Shape 20"/>
          <p:cNvSpPr/>
          <p:nvPr/>
        </p:nvSpPr>
        <p:spPr>
          <a:xfrm>
            <a:off x="411480" y="224028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594360" y="233172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2 — </a:t>
            </a:r>
            <a:pPr indent="0" marL="0">
              <a:buNone/>
            </a:pPr>
            <a:r>
              <a:rPr lang="en-US" sz="1100" b="1" dirty="0">
                <a:solidFill>
                  <a:srgbClr val="1FA6A2"/>
                </a:solidFill>
                <a:latin typeface="Outfit" pitchFamily="34" charset="0"/>
                <a:ea typeface="Outfit" pitchFamily="34" charset="-122"/>
                <a:cs typeface="Outfit" pitchFamily="34" charset="-120"/>
              </a:rPr>
              <a:t>Because / But / So</a:t>
            </a:r>
            <a:endParaRPr lang="en-US" sz="1100" dirty="0"/>
          </a:p>
        </p:txBody>
      </p:sp>
      <p:sp>
        <p:nvSpPr>
          <p:cNvPr id="24" name="Text 22"/>
          <p:cNvSpPr/>
          <p:nvPr/>
        </p:nvSpPr>
        <p:spPr>
          <a:xfrm>
            <a:off x="594360" y="262432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Because Prime number means ___, but a tricky part is ___, so I have to ___.</a:t>
            </a:r>
            <a:endParaRPr lang="en-US" sz="1050" dirty="0"/>
          </a:p>
        </p:txBody>
      </p:sp>
      <p:sp>
        <p:nvSpPr>
          <p:cNvPr id="25" name="Shape 23"/>
          <p:cNvSpPr/>
          <p:nvPr/>
        </p:nvSpPr>
        <p:spPr>
          <a:xfrm>
            <a:off x="594360" y="3172968"/>
            <a:ext cx="8046720" cy="0"/>
          </a:xfrm>
          <a:prstGeom prst="line">
            <a:avLst/>
          </a:prstGeom>
          <a:noFill/>
          <a:ln w="9525">
            <a:solidFill>
              <a:srgbClr val="C7CDD2"/>
            </a:solidFill>
            <a:prstDash val="dash"/>
          </a:ln>
        </p:spPr>
      </p:sp>
      <p:sp>
        <p:nvSpPr>
          <p:cNvPr id="26" name="Shape 24"/>
          <p:cNvSpPr/>
          <p:nvPr/>
        </p:nvSpPr>
        <p:spPr>
          <a:xfrm>
            <a:off x="411480" y="352044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361188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3 — </a:t>
            </a:r>
            <a:pPr indent="0" marL="0">
              <a:buNone/>
            </a:pPr>
            <a:r>
              <a:rPr lang="en-US" sz="1100" b="1" dirty="0">
                <a:solidFill>
                  <a:srgbClr val="1FA6A2"/>
                </a:solidFill>
                <a:latin typeface="Outfit" pitchFamily="34" charset="0"/>
                <a:ea typeface="Outfit" pitchFamily="34" charset="-122"/>
                <a:cs typeface="Outfit" pitchFamily="34" charset="-120"/>
              </a:rPr>
              <a:t>Catch the Mistake</a:t>
            </a:r>
            <a:endParaRPr lang="en-US" sz="1100" dirty="0"/>
          </a:p>
        </p:txBody>
      </p:sp>
      <p:sp>
        <p:nvSpPr>
          <p:cNvPr id="28" name="Text 26"/>
          <p:cNvSpPr/>
          <p:nvPr/>
        </p:nvSpPr>
        <p:spPr>
          <a:xfrm>
            <a:off x="594360" y="390448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A common mistake with Prime number is ___. It happens because ___, and the fix is ___.</a:t>
            </a:r>
            <a:endParaRPr lang="en-US" sz="1050" dirty="0"/>
          </a:p>
        </p:txBody>
      </p:sp>
      <p:sp>
        <p:nvSpPr>
          <p:cNvPr id="29" name="Shape 27"/>
          <p:cNvSpPr/>
          <p:nvPr/>
        </p:nvSpPr>
        <p:spPr>
          <a:xfrm>
            <a:off x="594360" y="4453128"/>
            <a:ext cx="8046720" cy="0"/>
          </a:xfrm>
          <a:prstGeom prst="line">
            <a:avLst/>
          </a:prstGeom>
          <a:noFill/>
          <a:ln w="9525">
            <a:solidFill>
              <a:srgbClr val="C7CDD2"/>
            </a:solidFill>
            <a:prstDash val="dash"/>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Exit Ticket / Boleto de Salida</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11</a:t>
            </a:r>
            <a:endParaRPr lang="en-US" sz="800" dirty="0"/>
          </a:p>
        </p:txBody>
      </p:sp>
      <p:sp>
        <p:nvSpPr>
          <p:cNvPr id="17" name="Shape 15"/>
          <p:cNvSpPr/>
          <p:nvPr/>
        </p:nvSpPr>
        <p:spPr>
          <a:xfrm>
            <a:off x="411480" y="685800"/>
            <a:ext cx="416052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Reflection / Reflexión</a:t>
            </a:r>
            <a:endParaRPr lang="en-US" sz="1000" dirty="0"/>
          </a:p>
        </p:txBody>
      </p:sp>
      <p:sp>
        <p:nvSpPr>
          <p:cNvPr id="19" name="Text 17"/>
          <p:cNvSpPr/>
          <p:nvPr/>
        </p:nvSpPr>
        <p:spPr>
          <a:xfrm>
            <a:off x="594360" y="109728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Today I learned that ___ because ___.</a:t>
            </a:r>
            <a:endParaRPr lang="en-US" sz="1100" dirty="0"/>
          </a:p>
        </p:txBody>
      </p:sp>
      <p:sp>
        <p:nvSpPr>
          <p:cNvPr id="20" name="Shape 18"/>
          <p:cNvSpPr/>
          <p:nvPr/>
        </p:nvSpPr>
        <p:spPr>
          <a:xfrm>
            <a:off x="594360" y="1783080"/>
            <a:ext cx="3794760" cy="0"/>
          </a:xfrm>
          <a:prstGeom prst="line">
            <a:avLst/>
          </a:prstGeom>
          <a:noFill/>
          <a:ln w="9525">
            <a:solidFill>
              <a:srgbClr val="C7CDD2"/>
            </a:solidFill>
            <a:prstDash val="dash"/>
          </a:ln>
        </p:spPr>
      </p:sp>
      <p:sp>
        <p:nvSpPr>
          <p:cNvPr id="21" name="Shape 19"/>
          <p:cNvSpPr/>
          <p:nvPr/>
        </p:nvSpPr>
        <p:spPr>
          <a:xfrm>
            <a:off x="594360" y="2093976"/>
            <a:ext cx="3794760" cy="0"/>
          </a:xfrm>
          <a:prstGeom prst="line">
            <a:avLst/>
          </a:prstGeom>
          <a:noFill/>
          <a:ln w="9525">
            <a:solidFill>
              <a:srgbClr val="C7CDD2"/>
            </a:solidFill>
            <a:prstDash val="dash"/>
          </a:ln>
        </p:spPr>
      </p:sp>
      <p:sp>
        <p:nvSpPr>
          <p:cNvPr id="22" name="Shape 20"/>
          <p:cNvSpPr/>
          <p:nvPr/>
        </p:nvSpPr>
        <p:spPr>
          <a:xfrm>
            <a:off x="594360" y="2404872"/>
            <a:ext cx="3794760" cy="0"/>
          </a:xfrm>
          <a:prstGeom prst="line">
            <a:avLst/>
          </a:prstGeom>
          <a:noFill/>
          <a:ln w="9525">
            <a:solidFill>
              <a:srgbClr val="C7CDD2"/>
            </a:solidFill>
            <a:prstDash val="dash"/>
          </a:ln>
        </p:spPr>
      </p:sp>
      <p:sp>
        <p:nvSpPr>
          <p:cNvPr id="23" name="Text 21"/>
          <p:cNvSpPr/>
          <p:nvPr/>
        </p:nvSpPr>
        <p:spPr>
          <a:xfrm>
            <a:off x="594360" y="283464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One thing I am still not sure about is ___.</a:t>
            </a:r>
            <a:endParaRPr lang="en-US" sz="1100" dirty="0"/>
          </a:p>
        </p:txBody>
      </p:sp>
      <p:sp>
        <p:nvSpPr>
          <p:cNvPr id="24" name="Shape 22"/>
          <p:cNvSpPr/>
          <p:nvPr/>
        </p:nvSpPr>
        <p:spPr>
          <a:xfrm>
            <a:off x="594360" y="3520440"/>
            <a:ext cx="3794760" cy="0"/>
          </a:xfrm>
          <a:prstGeom prst="line">
            <a:avLst/>
          </a:prstGeom>
          <a:noFill/>
          <a:ln w="9525">
            <a:solidFill>
              <a:srgbClr val="C7CDD2"/>
            </a:solidFill>
            <a:prstDash val="dash"/>
          </a:ln>
        </p:spPr>
      </p:sp>
      <p:sp>
        <p:nvSpPr>
          <p:cNvPr id="25" name="Shape 23"/>
          <p:cNvSpPr/>
          <p:nvPr/>
        </p:nvSpPr>
        <p:spPr>
          <a:xfrm>
            <a:off x="594360" y="3831336"/>
            <a:ext cx="3794760" cy="0"/>
          </a:xfrm>
          <a:prstGeom prst="line">
            <a:avLst/>
          </a:prstGeom>
          <a:noFill/>
          <a:ln w="9525">
            <a:solidFill>
              <a:srgbClr val="C7CDD2"/>
            </a:solidFill>
            <a:prstDash val="dash"/>
          </a:ln>
        </p:spPr>
      </p:sp>
      <p:sp>
        <p:nvSpPr>
          <p:cNvPr id="26" name="Shape 24"/>
          <p:cNvSpPr/>
          <p:nvPr/>
        </p:nvSpPr>
        <p:spPr>
          <a:xfrm>
            <a:off x="594360" y="4142232"/>
            <a:ext cx="3794760" cy="0"/>
          </a:xfrm>
          <a:prstGeom prst="line">
            <a:avLst/>
          </a:prstGeom>
          <a:noFill/>
          <a:ln w="9525">
            <a:solidFill>
              <a:srgbClr val="C7CDD2"/>
            </a:solidFill>
            <a:prstDash val="dash"/>
          </a:ln>
        </p:spPr>
      </p:sp>
      <p:sp>
        <p:nvSpPr>
          <p:cNvPr id="27" name="Shape 25"/>
          <p:cNvSpPr/>
          <p:nvPr/>
        </p:nvSpPr>
        <p:spPr>
          <a:xfrm>
            <a:off x="4709160" y="685800"/>
            <a:ext cx="41148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8" name="Text 26"/>
          <p:cNvSpPr/>
          <p:nvPr/>
        </p:nvSpPr>
        <p:spPr>
          <a:xfrm>
            <a:off x="4709160" y="685800"/>
            <a:ext cx="4114800" cy="274320"/>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Quick Exit Ticket</a:t>
            </a:r>
            <a:endParaRPr lang="en-US" sz="1000" dirty="0"/>
          </a:p>
        </p:txBody>
      </p:sp>
      <p:sp>
        <p:nvSpPr>
          <p:cNvPr id="29" name="Text 27"/>
          <p:cNvSpPr/>
          <p:nvPr/>
        </p:nvSpPr>
        <p:spPr>
          <a:xfrm>
            <a:off x="4892040" y="1097280"/>
            <a:ext cx="3749040" cy="64008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Tier 1 — </a:t>
            </a:r>
            <a:pPr indent="0" marL="0">
              <a:buNone/>
            </a:pPr>
            <a:r>
              <a:rPr lang="en-US" sz="1050" dirty="0">
                <a:solidFill>
                  <a:srgbClr val="17324D"/>
                </a:solidFill>
                <a:latin typeface="Hanken Grotesk" pitchFamily="34" charset="0"/>
                <a:ea typeface="Hanken Grotesk" pitchFamily="34" charset="-122"/>
                <a:cs typeface="Hanken Grotesk" pitchFamily="34" charset="-120"/>
              </a:rPr>
              <a:t>What is the prime factorization of 40?</a:t>
            </a:r>
            <a:endParaRPr lang="en-US" sz="1050" dirty="0"/>
          </a:p>
        </p:txBody>
      </p:sp>
      <p:sp>
        <p:nvSpPr>
          <p:cNvPr id="30" name="Text 28"/>
          <p:cNvSpPr/>
          <p:nvPr/>
        </p:nvSpPr>
        <p:spPr>
          <a:xfrm>
            <a:off x="5029200" y="1783080"/>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A.  2 × 2 × 2 × 5</a:t>
            </a:r>
            <a:endParaRPr lang="en-US" sz="1000" dirty="0"/>
          </a:p>
        </p:txBody>
      </p:sp>
      <p:sp>
        <p:nvSpPr>
          <p:cNvPr id="31" name="Text 29"/>
          <p:cNvSpPr/>
          <p:nvPr/>
        </p:nvSpPr>
        <p:spPr>
          <a:xfrm>
            <a:off x="5029200" y="2093976"/>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B.  4 × 10</a:t>
            </a:r>
            <a:endParaRPr lang="en-US" sz="1000" dirty="0"/>
          </a:p>
        </p:txBody>
      </p:sp>
      <p:sp>
        <p:nvSpPr>
          <p:cNvPr id="32" name="Text 30"/>
          <p:cNvSpPr/>
          <p:nvPr/>
        </p:nvSpPr>
        <p:spPr>
          <a:xfrm>
            <a:off x="5029200" y="2404872"/>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C.  5 × 8</a:t>
            </a:r>
            <a:endParaRPr lang="en-US" sz="1000" dirty="0"/>
          </a:p>
        </p:txBody>
      </p:sp>
      <p:sp>
        <p:nvSpPr>
          <p:cNvPr id="33" name="Text 31"/>
          <p:cNvSpPr/>
          <p:nvPr/>
        </p:nvSpPr>
        <p:spPr>
          <a:xfrm>
            <a:off x="5029200" y="2715768"/>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D.  2 × 20</a:t>
            </a:r>
            <a:endParaRPr lang="en-US" sz="1000" dirty="0"/>
          </a:p>
        </p:txBody>
      </p:sp>
      <p:sp>
        <p:nvSpPr>
          <p:cNvPr id="34" name="Text 32"/>
          <p:cNvSpPr/>
          <p:nvPr/>
        </p:nvSpPr>
        <p:spPr>
          <a:xfrm>
            <a:off x="4892040" y="3163824"/>
            <a:ext cx="3749040" cy="50292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Tier 2 — </a:t>
            </a:r>
            <a:pPr indent="0" marL="0">
              <a:buNone/>
            </a:pPr>
            <a:r>
              <a:rPr lang="en-US" sz="1050" dirty="0">
                <a:solidFill>
                  <a:srgbClr val="17324D"/>
                </a:solidFill>
                <a:latin typeface="Hanken Grotesk" pitchFamily="34" charset="0"/>
                <a:ea typeface="Hanken Grotesk" pitchFamily="34" charset="-122"/>
                <a:cs typeface="Hanken Grotesk" pitchFamily="34" charset="-120"/>
              </a:rPr>
              <a:t>Explain how you know your answer is correct. Use at least one vocabulary word.</a:t>
            </a:r>
            <a:endParaRPr lang="en-US" sz="1050" dirty="0"/>
          </a:p>
        </p:txBody>
      </p:sp>
      <p:sp>
        <p:nvSpPr>
          <p:cNvPr id="35" name="Shape 33"/>
          <p:cNvSpPr/>
          <p:nvPr/>
        </p:nvSpPr>
        <p:spPr>
          <a:xfrm>
            <a:off x="4892040" y="3803904"/>
            <a:ext cx="3749040" cy="0"/>
          </a:xfrm>
          <a:prstGeom prst="line">
            <a:avLst/>
          </a:prstGeom>
          <a:noFill/>
          <a:ln w="9525">
            <a:solidFill>
              <a:srgbClr val="C7CDD2"/>
            </a:solidFill>
            <a:prstDash val="dash"/>
          </a:ln>
        </p:spPr>
      </p:sp>
      <p:sp>
        <p:nvSpPr>
          <p:cNvPr id="36" name="Shape 34"/>
          <p:cNvSpPr/>
          <p:nvPr/>
        </p:nvSpPr>
        <p:spPr>
          <a:xfrm>
            <a:off x="4892040" y="4096512"/>
            <a:ext cx="3749040" cy="0"/>
          </a:xfrm>
          <a:prstGeom prst="line">
            <a:avLst/>
          </a:prstGeom>
          <a:noFill/>
          <a:ln w="9525">
            <a:solidFill>
              <a:srgbClr val="C7CDD2"/>
            </a:solidFill>
            <a:prstDash val="dash"/>
          </a:ln>
        </p:spPr>
      </p:sp>
      <p:sp>
        <p:nvSpPr>
          <p:cNvPr id="37" name="Shape 35"/>
          <p:cNvSpPr/>
          <p:nvPr/>
        </p:nvSpPr>
        <p:spPr>
          <a:xfrm>
            <a:off x="4892040" y="4389120"/>
            <a:ext cx="3749040" cy="0"/>
          </a:xfrm>
          <a:prstGeom prst="line">
            <a:avLst/>
          </a:prstGeom>
          <a:noFill/>
          <a:ln w="9525">
            <a:solidFill>
              <a:srgbClr val="C7CDD2"/>
            </a:solidFill>
            <a:prstDash val="dash"/>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Goal Tracker / Seguimiento de Metas</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12</a:t>
            </a:r>
            <a:endParaRPr lang="en-US" sz="800" dirty="0"/>
          </a:p>
        </p:txBody>
      </p:sp>
      <p:sp>
        <p:nvSpPr>
          <p:cNvPr id="17" name="Shape 15"/>
          <p:cNvSpPr/>
          <p:nvPr/>
        </p:nvSpPr>
        <p:spPr>
          <a:xfrm>
            <a:off x="411480" y="658368"/>
            <a:ext cx="8412480" cy="502920"/>
          </a:xfrm>
          <a:prstGeom prst="roundRect">
            <a:avLst>
              <a:gd name="adj" fmla="val 14545"/>
            </a:avLst>
          </a:prstGeom>
          <a:solidFill>
            <a:srgbClr val="17324D"/>
          </a:solidFill>
          <a:ln/>
        </p:spPr>
      </p:sp>
      <p:sp>
        <p:nvSpPr>
          <p:cNvPr id="18" name="Text 16"/>
          <p:cNvSpPr/>
          <p:nvPr/>
        </p:nvSpPr>
        <p:spPr>
          <a:xfrm>
            <a:off x="640080" y="658368"/>
            <a:ext cx="7955280" cy="502920"/>
          </a:xfrm>
          <a:prstGeom prst="rect">
            <a:avLst/>
          </a:prstGeom>
          <a:noFill/>
          <a:ln/>
        </p:spPr>
        <p:txBody>
          <a:bodyPr wrap="square" rtlCol="0" anchor="ctr"/>
          <a:lstStyle/>
          <a:p>
            <a:pPr indent="0" marL="0">
              <a:buNone/>
            </a:pPr>
            <a:r>
              <a:rPr lang="en-US" sz="1100" b="1" dirty="0">
                <a:solidFill>
                  <a:srgbClr val="F2C15B"/>
                </a:solidFill>
                <a:latin typeface="Hanken Grotesk" pitchFamily="34" charset="0"/>
                <a:ea typeface="Hanken Grotesk" pitchFamily="34" charset="-122"/>
                <a:cs typeface="Hanken Grotesk" pitchFamily="34" charset="-120"/>
              </a:rPr>
              <a:t>My Goal:  </a:t>
            </a:r>
            <a:pPr indent="0" marL="0">
              <a:buNone/>
            </a:pPr>
            <a:r>
              <a:rPr lang="en-US" sz="1100" dirty="0">
                <a:solidFill>
                  <a:srgbClr val="FFFFFF"/>
                </a:solidFill>
                <a:latin typeface="Hanken Grotesk" pitchFamily="34" charset="0"/>
                <a:ea typeface="Hanken Grotesk" pitchFamily="34" charset="-122"/>
                <a:cs typeface="Hanken Grotesk" pitchFamily="34" charset="-120"/>
              </a:rPr>
              <a:t>I can write a number as a product of its prime factors using a factor tree.</a:t>
            </a:r>
            <a:endParaRPr lang="en-US" sz="1100" dirty="0"/>
          </a:p>
        </p:txBody>
      </p:sp>
      <p:sp>
        <p:nvSpPr>
          <p:cNvPr id="19" name="Shape 17"/>
          <p:cNvSpPr/>
          <p:nvPr/>
        </p:nvSpPr>
        <p:spPr>
          <a:xfrm>
            <a:off x="411480" y="1371600"/>
            <a:ext cx="1965960" cy="2377440"/>
          </a:xfrm>
          <a:prstGeom prst="roundRect">
            <a:avLst>
              <a:gd name="adj" fmla="val 3721"/>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0" name="Shape 18"/>
          <p:cNvSpPr/>
          <p:nvPr/>
        </p:nvSpPr>
        <p:spPr>
          <a:xfrm>
            <a:off x="1138428" y="1508760"/>
            <a:ext cx="512064" cy="512064"/>
          </a:xfrm>
          <a:prstGeom prst="ellipse">
            <a:avLst/>
          </a:prstGeom>
          <a:solidFill>
            <a:srgbClr val="1FA6A2"/>
          </a:solidFill>
          <a:ln/>
        </p:spPr>
      </p:sp>
      <p:sp>
        <p:nvSpPr>
          <p:cNvPr id="21" name="Text 19"/>
          <p:cNvSpPr/>
          <p:nvPr/>
        </p:nvSpPr>
        <p:spPr>
          <a:xfrm>
            <a:off x="113842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1</a:t>
            </a:r>
            <a:endParaRPr lang="en-US" sz="2000" dirty="0"/>
          </a:p>
        </p:txBody>
      </p:sp>
      <p:sp>
        <p:nvSpPr>
          <p:cNvPr id="22" name="Text 20"/>
          <p:cNvSpPr/>
          <p:nvPr/>
        </p:nvSpPr>
        <p:spPr>
          <a:xfrm>
            <a:off x="45720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Not Yet</a:t>
            </a:r>
            <a:endParaRPr lang="en-US" sz="1150" dirty="0"/>
          </a:p>
        </p:txBody>
      </p:sp>
      <p:sp>
        <p:nvSpPr>
          <p:cNvPr id="23" name="Text 21"/>
          <p:cNvSpPr/>
          <p:nvPr/>
        </p:nvSpPr>
        <p:spPr>
          <a:xfrm>
            <a:off x="52120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need more help. This does not make sense to me yet.</a:t>
            </a:r>
            <a:endParaRPr lang="en-US" sz="900" dirty="0"/>
          </a:p>
        </p:txBody>
      </p:sp>
      <p:sp>
        <p:nvSpPr>
          <p:cNvPr id="24" name="Text 22"/>
          <p:cNvSpPr/>
          <p:nvPr/>
        </p:nvSpPr>
        <p:spPr>
          <a:xfrm>
            <a:off x="45720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25" name="Shape 23"/>
          <p:cNvSpPr/>
          <p:nvPr/>
        </p:nvSpPr>
        <p:spPr>
          <a:xfrm>
            <a:off x="2560320" y="1371600"/>
            <a:ext cx="1965960" cy="2377440"/>
          </a:xfrm>
          <a:prstGeom prst="roundRect">
            <a:avLst>
              <a:gd name="adj" fmla="val 3721"/>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Shape 24"/>
          <p:cNvSpPr/>
          <p:nvPr/>
        </p:nvSpPr>
        <p:spPr>
          <a:xfrm>
            <a:off x="3287268" y="1508760"/>
            <a:ext cx="512064" cy="512064"/>
          </a:xfrm>
          <a:prstGeom prst="ellipse">
            <a:avLst/>
          </a:prstGeom>
          <a:solidFill>
            <a:srgbClr val="1FA6A2"/>
          </a:solidFill>
          <a:ln/>
        </p:spPr>
      </p:sp>
      <p:sp>
        <p:nvSpPr>
          <p:cNvPr id="27" name="Text 25"/>
          <p:cNvSpPr/>
          <p:nvPr/>
        </p:nvSpPr>
        <p:spPr>
          <a:xfrm>
            <a:off x="328726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2</a:t>
            </a:r>
            <a:endParaRPr lang="en-US" sz="2000" dirty="0"/>
          </a:p>
        </p:txBody>
      </p:sp>
      <p:sp>
        <p:nvSpPr>
          <p:cNvPr id="28" name="Text 26"/>
          <p:cNvSpPr/>
          <p:nvPr/>
        </p:nvSpPr>
        <p:spPr>
          <a:xfrm>
            <a:off x="260604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Getting There</a:t>
            </a:r>
            <a:endParaRPr lang="en-US" sz="1150" dirty="0"/>
          </a:p>
        </p:txBody>
      </p:sp>
      <p:sp>
        <p:nvSpPr>
          <p:cNvPr id="29" name="Text 27"/>
          <p:cNvSpPr/>
          <p:nvPr/>
        </p:nvSpPr>
        <p:spPr>
          <a:xfrm>
            <a:off x="267004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understand the idea but I make mistakes when I work.</a:t>
            </a:r>
            <a:endParaRPr lang="en-US" sz="900" dirty="0"/>
          </a:p>
        </p:txBody>
      </p:sp>
      <p:sp>
        <p:nvSpPr>
          <p:cNvPr id="30" name="Text 28"/>
          <p:cNvSpPr/>
          <p:nvPr/>
        </p:nvSpPr>
        <p:spPr>
          <a:xfrm>
            <a:off x="260604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1" name="Shape 29"/>
          <p:cNvSpPr/>
          <p:nvPr/>
        </p:nvSpPr>
        <p:spPr>
          <a:xfrm>
            <a:off x="4709160" y="1371600"/>
            <a:ext cx="1965960" cy="2377440"/>
          </a:xfrm>
          <a:prstGeom prst="roundRect">
            <a:avLst>
              <a:gd name="adj" fmla="val 3721"/>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2" name="Shape 30"/>
          <p:cNvSpPr/>
          <p:nvPr/>
        </p:nvSpPr>
        <p:spPr>
          <a:xfrm>
            <a:off x="5436108" y="1508760"/>
            <a:ext cx="512064" cy="512064"/>
          </a:xfrm>
          <a:prstGeom prst="ellipse">
            <a:avLst/>
          </a:prstGeom>
          <a:solidFill>
            <a:srgbClr val="1FA6A2"/>
          </a:solidFill>
          <a:ln/>
        </p:spPr>
      </p:sp>
      <p:sp>
        <p:nvSpPr>
          <p:cNvPr id="33" name="Text 31"/>
          <p:cNvSpPr/>
          <p:nvPr/>
        </p:nvSpPr>
        <p:spPr>
          <a:xfrm>
            <a:off x="543610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3</a:t>
            </a:r>
            <a:endParaRPr lang="en-US" sz="2000" dirty="0"/>
          </a:p>
        </p:txBody>
      </p:sp>
      <p:sp>
        <p:nvSpPr>
          <p:cNvPr id="34" name="Text 32"/>
          <p:cNvSpPr/>
          <p:nvPr/>
        </p:nvSpPr>
        <p:spPr>
          <a:xfrm>
            <a:off x="475488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Got It!</a:t>
            </a:r>
            <a:endParaRPr lang="en-US" sz="1150" dirty="0"/>
          </a:p>
        </p:txBody>
      </p:sp>
      <p:sp>
        <p:nvSpPr>
          <p:cNvPr id="35" name="Text 33"/>
          <p:cNvSpPr/>
          <p:nvPr/>
        </p:nvSpPr>
        <p:spPr>
          <a:xfrm>
            <a:off x="481888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solve problems on my own and explain my thinking.</a:t>
            </a:r>
            <a:endParaRPr lang="en-US" sz="900" dirty="0"/>
          </a:p>
        </p:txBody>
      </p:sp>
      <p:sp>
        <p:nvSpPr>
          <p:cNvPr id="36" name="Text 34"/>
          <p:cNvSpPr/>
          <p:nvPr/>
        </p:nvSpPr>
        <p:spPr>
          <a:xfrm>
            <a:off x="475488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7" name="Shape 35"/>
          <p:cNvSpPr/>
          <p:nvPr/>
        </p:nvSpPr>
        <p:spPr>
          <a:xfrm>
            <a:off x="6858000" y="1371600"/>
            <a:ext cx="1965960" cy="2377440"/>
          </a:xfrm>
          <a:prstGeom prst="roundRect">
            <a:avLst>
              <a:gd name="adj" fmla="val 3721"/>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Shape 36"/>
          <p:cNvSpPr/>
          <p:nvPr/>
        </p:nvSpPr>
        <p:spPr>
          <a:xfrm>
            <a:off x="7584948" y="1508760"/>
            <a:ext cx="512064" cy="512064"/>
          </a:xfrm>
          <a:prstGeom prst="ellipse">
            <a:avLst/>
          </a:prstGeom>
          <a:solidFill>
            <a:srgbClr val="1FA6A2"/>
          </a:solidFill>
          <a:ln/>
        </p:spPr>
      </p:sp>
      <p:sp>
        <p:nvSpPr>
          <p:cNvPr id="39" name="Text 37"/>
          <p:cNvSpPr/>
          <p:nvPr/>
        </p:nvSpPr>
        <p:spPr>
          <a:xfrm>
            <a:off x="758494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4</a:t>
            </a:r>
            <a:endParaRPr lang="en-US" sz="2000" dirty="0"/>
          </a:p>
        </p:txBody>
      </p:sp>
      <p:sp>
        <p:nvSpPr>
          <p:cNvPr id="40" name="Text 38"/>
          <p:cNvSpPr/>
          <p:nvPr/>
        </p:nvSpPr>
        <p:spPr>
          <a:xfrm>
            <a:off x="690372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Can Teach It</a:t>
            </a:r>
            <a:endParaRPr lang="en-US" sz="1150" dirty="0"/>
          </a:p>
        </p:txBody>
      </p:sp>
      <p:sp>
        <p:nvSpPr>
          <p:cNvPr id="41" name="Text 39"/>
          <p:cNvSpPr/>
          <p:nvPr/>
        </p:nvSpPr>
        <p:spPr>
          <a:xfrm>
            <a:off x="696772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clearly teach this strategy to a classmate.</a:t>
            </a:r>
            <a:endParaRPr lang="en-US" sz="900" dirty="0"/>
          </a:p>
        </p:txBody>
      </p:sp>
      <p:sp>
        <p:nvSpPr>
          <p:cNvPr id="42" name="Text 40"/>
          <p:cNvSpPr/>
          <p:nvPr/>
        </p:nvSpPr>
        <p:spPr>
          <a:xfrm>
            <a:off x="690372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43" name="Shape 41"/>
          <p:cNvSpPr/>
          <p:nvPr/>
        </p:nvSpPr>
        <p:spPr>
          <a:xfrm>
            <a:off x="411480" y="3977640"/>
            <a:ext cx="8412480" cy="685800"/>
          </a:xfrm>
          <a:prstGeom prst="roundRect">
            <a:avLst>
              <a:gd name="adj" fmla="val 10667"/>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44" name="Text 42"/>
          <p:cNvSpPr/>
          <p:nvPr/>
        </p:nvSpPr>
        <p:spPr>
          <a:xfrm>
            <a:off x="640080" y="3977640"/>
            <a:ext cx="7955280" cy="685800"/>
          </a:xfrm>
          <a:prstGeom prst="rect">
            <a:avLst/>
          </a:prstGeom>
          <a:noFill/>
          <a:ln/>
        </p:spPr>
        <p:txBody>
          <a:bodyPr wrap="square" rtlCol="0" anchor="ctr"/>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My next step:  </a:t>
            </a:r>
            <a:pPr indent="0" marL="0">
              <a:buNone/>
            </a:pPr>
            <a:r>
              <a:rPr lang="en-US" sz="1050" dirty="0">
                <a:solidFill>
                  <a:srgbClr val="24323F"/>
                </a:solidFill>
                <a:latin typeface="Hanken Grotesk" pitchFamily="34" charset="0"/>
                <a:ea typeface="Hanken Grotesk" pitchFamily="34" charset="-122"/>
                <a:cs typeface="Hanken Grotesk" pitchFamily="34" charset="-120"/>
              </a:rPr>
              <a:t>To move up one level, I will ___.</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Neft Teacher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1-1-flagship: Prime Factorization</dc:title>
  <dc:subject>6.NS.4</dc:subject>
  <dc:creator>Neft Teacher</dc:creator>
  <cp:lastModifiedBy>Neft Teacher</cp:lastModifiedBy>
  <cp:revision>1</cp:revision>
  <dcterms:created xsi:type="dcterms:W3CDTF">2026-06-08T12:33:41Z</dcterms:created>
  <dcterms:modified xsi:type="dcterms:W3CDTF">2026-06-08T12:33:41Z</dcterms:modified>
</cp:coreProperties>
</file>