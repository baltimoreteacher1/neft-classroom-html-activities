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Lst>
  <p:notesMasterIdLst>
    <p:notesMasterId r:id="rId14"/>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notesMaster" Target="notesMasters/notesMaster1.xml"/><Relationship Id="rId15" Type="http://schemas.openxmlformats.org/officeDocument/2006/relationships/presProps" Target="presProps.xml"/><Relationship Id="rId16" Type="http://schemas.openxmlformats.org/officeDocument/2006/relationships/viewProps" Target="viewProps.xml"/><Relationship Id="rId17" Type="http://schemas.openxmlformats.org/officeDocument/2006/relationships/theme" Target="theme/theme1.xml"/><Relationship Id="rId1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 key — 8 = 2 × 4, but 4 is not prime. 4 = 2 × 2, so 8 = 2 × 2 × 2. The correct prime factorization is 48 = 2 × 2 × 2 × 2 × 3 = 2⁴ × 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7F4EC"/>
        </a:solidFill>
      </p:bgPr>
    </p:bg>
    <p:spTree>
      <p:nvGrpSpPr>
        <p:cNvPr id="1" name=""/>
        <p:cNvGrpSpPr/>
        <p:nvPr/>
      </p:nvGrpSpPr>
      <p:grpSpPr>
        <a:xfrm>
          <a:off x="0" y="0"/>
          <a:ext cx="0" cy="0"/>
          <a:chOff x="0" y="0"/>
          <a:chExt cx="0" cy="0"/>
        </a:xfrm>
      </p:grpSpPr>
      <p:sp>
        <p:nvSpPr>
          <p:cNvPr id="2" name="Shape 0"/>
          <p:cNvSpPr/>
          <p:nvPr/>
        </p:nvSpPr>
        <p:spPr>
          <a:xfrm>
            <a:off x="0" y="0"/>
            <a:ext cx="3749040" cy="5143500"/>
          </a:xfrm>
          <a:prstGeom prst="rect">
            <a:avLst/>
          </a:prstGeom>
          <a:solidFill>
            <a:srgbClr val="17324D"/>
          </a:solidFill>
          <a:ln/>
        </p:spPr>
      </p:sp>
      <p:sp>
        <p:nvSpPr>
          <p:cNvPr id="3" name="Shape 1"/>
          <p:cNvSpPr/>
          <p:nvPr/>
        </p:nvSpPr>
        <p:spPr>
          <a:xfrm>
            <a:off x="2651760" y="-640080"/>
            <a:ext cx="2011680" cy="2011680"/>
          </a:xfrm>
          <a:prstGeom prst="ellipse">
            <a:avLst/>
          </a:prstGeom>
          <a:solidFill>
            <a:srgbClr val="1FA6A2">
              <a:alpha val="35000"/>
            </a:srgbClr>
          </a:solidFill>
          <a:ln/>
        </p:spPr>
      </p:sp>
      <p:sp>
        <p:nvSpPr>
          <p:cNvPr id="4" name="Text 2"/>
          <p:cNvSpPr/>
          <p:nvPr/>
        </p:nvSpPr>
        <p:spPr>
          <a:xfrm>
            <a:off x="411480" y="365760"/>
            <a:ext cx="3017520" cy="274320"/>
          </a:xfrm>
          <a:prstGeom prst="rect">
            <a:avLst/>
          </a:prstGeom>
          <a:noFill/>
          <a:ln/>
        </p:spPr>
        <p:txBody>
          <a:bodyPr wrap="square" rtlCol="0" anchor="ctr"/>
          <a:lstStyle/>
          <a:p>
            <a:pPr indent="0" marL="0">
              <a:buNone/>
            </a:pPr>
            <a:r>
              <a:rPr lang="en-US" sz="1100" b="1" spc="200" kern="0" dirty="0">
                <a:solidFill>
                  <a:srgbClr val="BFE6E2"/>
                </a:solidFill>
                <a:latin typeface="Outfit" pitchFamily="34" charset="0"/>
                <a:ea typeface="Outfit" pitchFamily="34" charset="-122"/>
                <a:cs typeface="Outfit" pitchFamily="34" charset="-120"/>
              </a:rPr>
              <a:t>NEFT TEACHER</a:t>
            </a:r>
            <a:endParaRPr lang="en-US" sz="1100" dirty="0"/>
          </a:p>
        </p:txBody>
      </p:sp>
      <p:sp>
        <p:nvSpPr>
          <p:cNvPr id="5" name="Text 3"/>
          <p:cNvSpPr/>
          <p:nvPr/>
        </p:nvSpPr>
        <p:spPr>
          <a:xfrm>
            <a:off x="411480" y="777240"/>
            <a:ext cx="1371600" cy="822960"/>
          </a:xfrm>
          <a:prstGeom prst="rect">
            <a:avLst/>
          </a:prstGeom>
          <a:noFill/>
          <a:ln/>
        </p:spPr>
        <p:txBody>
          <a:bodyPr wrap="square" rtlCol="0" anchor="ctr"/>
          <a:lstStyle/>
          <a:p>
            <a:pPr indent="0" marL="0">
              <a:buNone/>
            </a:pPr>
            <a:r>
              <a:rPr lang="en-US" sz="4400" dirty="0">
                <a:solidFill>
                  <a:srgbClr val="000000"/>
                </a:solidFill>
              </a:rPr>
              <a:t>🚀</a:t>
            </a:r>
            <a:endParaRPr lang="en-US" sz="4400" dirty="0"/>
          </a:p>
        </p:txBody>
      </p:sp>
      <p:sp>
        <p:nvSpPr>
          <p:cNvPr id="6" name="Text 4"/>
          <p:cNvSpPr/>
          <p:nvPr/>
        </p:nvSpPr>
        <p:spPr>
          <a:xfrm>
            <a:off x="411480" y="1783080"/>
            <a:ext cx="3017520" cy="1554480"/>
          </a:xfrm>
          <a:prstGeom prst="rect">
            <a:avLst/>
          </a:prstGeom>
          <a:noFill/>
          <a:ln/>
        </p:spPr>
        <p:txBody>
          <a:bodyPr wrap="square" rtlCol="0" anchor="t"/>
          <a:lstStyle/>
          <a:p>
            <a:pPr indent="0" marL="0">
              <a:lnSpc>
                <a:spcPct val="95000"/>
              </a:lnSpc>
              <a:buNone/>
            </a:pPr>
            <a:r>
              <a:rPr lang="en-US" sz="3000" b="1" dirty="0">
                <a:solidFill>
                  <a:srgbClr val="FFFFFF"/>
                </a:solidFill>
                <a:latin typeface="Outfit" pitchFamily="34" charset="0"/>
                <a:ea typeface="Outfit" pitchFamily="34" charset="-122"/>
                <a:cs typeface="Outfit" pitchFamily="34" charset="-120"/>
              </a:rPr>
              <a:t>Prime Factorization</a:t>
            </a:r>
            <a:endParaRPr lang="en-US" sz="3000" dirty="0"/>
          </a:p>
        </p:txBody>
      </p:sp>
      <p:sp>
        <p:nvSpPr>
          <p:cNvPr id="7" name="Text 5"/>
          <p:cNvSpPr/>
          <p:nvPr/>
        </p:nvSpPr>
        <p:spPr>
          <a:xfrm>
            <a:off x="411480" y="4160520"/>
            <a:ext cx="1188720" cy="310896"/>
          </a:xfrm>
          <a:prstGeom prst="rect">
            <a:avLst>
              <a:gd name="adj" fmla="val 50000"/>
            </a:avLst>
          </a:prstGeom>
          <a:solidFill>
            <a:srgbClr val="1FA6A2"/>
          </a:solidFill>
          <a:ln/>
        </p:spPr>
        <p:txBody>
          <a:bodyPr wrap="square" rtlCol="0" anchor="ctr"/>
          <a:lstStyle/>
          <a:p>
            <a:pPr algn="ctr" indent="0" marL="0">
              <a:buNone/>
            </a:pPr>
            <a:r>
              <a:rPr lang="en-US" sz="1000" b="1" dirty="0">
                <a:solidFill>
                  <a:srgbClr val="FFFFFF"/>
                </a:solidFill>
                <a:latin typeface="Outfit" pitchFamily="34" charset="0"/>
                <a:ea typeface="Outfit" pitchFamily="34" charset="-122"/>
                <a:cs typeface="Outfit" pitchFamily="34" charset="-120"/>
              </a:rPr>
              <a:t>6.NS.4</a:t>
            </a:r>
            <a:endParaRPr lang="en-US" sz="1000" dirty="0"/>
          </a:p>
        </p:txBody>
      </p:sp>
      <p:sp>
        <p:nvSpPr>
          <p:cNvPr id="8" name="Text 6"/>
          <p:cNvSpPr/>
          <p:nvPr/>
        </p:nvSpPr>
        <p:spPr>
          <a:xfrm>
            <a:off x="1691640" y="4160520"/>
            <a:ext cx="1920240" cy="310896"/>
          </a:xfrm>
          <a:prstGeom prst="rect">
            <a:avLst/>
          </a:prstGeom>
          <a:noFill/>
          <a:ln/>
        </p:spPr>
        <p:txBody>
          <a:bodyPr wrap="square" rtlCol="0" anchor="ctr"/>
          <a:lstStyle/>
          <a:p>
            <a:pPr indent="0" marL="0">
              <a:buNone/>
            </a:pPr>
            <a:r>
              <a:rPr lang="en-US" sz="1000" dirty="0">
                <a:solidFill>
                  <a:srgbClr val="BFE6E2"/>
                </a:solidFill>
                <a:latin typeface="Hanken Grotesk" pitchFamily="34" charset="0"/>
                <a:ea typeface="Hanken Grotesk" pitchFamily="34" charset="-122"/>
                <a:cs typeface="Hanken Grotesk" pitchFamily="34" charset="-120"/>
              </a:rPr>
              <a:t>Unit 1  ·  Lesson 1-1-flagship</a:t>
            </a:r>
            <a:endParaRPr lang="en-US" sz="1000" dirty="0"/>
          </a:p>
        </p:txBody>
      </p:sp>
      <p:sp>
        <p:nvSpPr>
          <p:cNvPr id="9" name="Shape 7"/>
          <p:cNvSpPr/>
          <p:nvPr/>
        </p:nvSpPr>
        <p:spPr>
          <a:xfrm>
            <a:off x="4023360" y="411480"/>
            <a:ext cx="4800600" cy="1417320"/>
          </a:xfrm>
          <a:prstGeom prst="roundRect">
            <a:avLst>
              <a:gd name="adj" fmla="val 5161"/>
            </a:avLst>
          </a:prstGeom>
          <a:solidFill>
            <a:srgbClr val="FFFFFF"/>
          </a:solidFill>
          <a:ln w="12700">
            <a:solidFill>
              <a:srgbClr val="D6DBDF"/>
            </a:solidFill>
            <a:prstDash val="solid"/>
          </a:ln>
          <a:effectLst>
            <a:outerShdw sx="100000" sy="100000" kx="0" ky="0" algn="bl" rotWithShape="0" blurRad="50800" dist="12700" dir="5400000">
              <a:srgbClr val="1C2E42">
                <a:alpha val="10000"/>
              </a:srgbClr>
            </a:outerShdw>
          </a:effectLst>
        </p:spPr>
      </p:sp>
      <p:sp>
        <p:nvSpPr>
          <p:cNvPr id="10" name="Text 8"/>
          <p:cNvSpPr/>
          <p:nvPr/>
        </p:nvSpPr>
        <p:spPr>
          <a:xfrm>
            <a:off x="4251960" y="548640"/>
            <a:ext cx="4389120" cy="365760"/>
          </a:xfrm>
          <a:prstGeom prst="rect">
            <a:avLst/>
          </a:prstGeom>
          <a:noFill/>
          <a:ln/>
        </p:spPr>
        <p:txBody>
          <a:bodyPr wrap="square" rtlCol="0" anchor="ctr"/>
          <a:lstStyle/>
          <a:p>
            <a:pPr indent="0" marL="0">
              <a:buNone/>
            </a:pPr>
            <a:r>
              <a:rPr lang="en-US" sz="1600" b="1" dirty="0">
                <a:solidFill>
                  <a:srgbClr val="17324D"/>
                </a:solidFill>
                <a:latin typeface="Outfit" pitchFamily="34" charset="0"/>
                <a:ea typeface="Outfit" pitchFamily="34" charset="-122"/>
                <a:cs typeface="Outfit" pitchFamily="34" charset="-120"/>
              </a:rPr>
              <a:t>My Math Notebook</a:t>
            </a:r>
            <a:endParaRPr lang="en-US" sz="1600" dirty="0"/>
          </a:p>
        </p:txBody>
      </p:sp>
      <p:sp>
        <p:nvSpPr>
          <p:cNvPr id="11" name="Text 9"/>
          <p:cNvSpPr/>
          <p:nvPr/>
        </p:nvSpPr>
        <p:spPr>
          <a:xfrm>
            <a:off x="4251960" y="1024128"/>
            <a:ext cx="731520" cy="219456"/>
          </a:xfrm>
          <a:prstGeom prst="rect">
            <a:avLst/>
          </a:prstGeom>
          <a:noFill/>
          <a:ln/>
        </p:spPr>
        <p:txBody>
          <a:bodyPr wrap="square" rtlCol="0" anchor="ctr"/>
          <a:lstStyle/>
          <a:p>
            <a:pPr indent="0" marL="0">
              <a:buNone/>
            </a:pPr>
            <a:r>
              <a:rPr lang="en-US" sz="1000" b="1" dirty="0">
                <a:solidFill>
                  <a:srgbClr val="24323F"/>
                </a:solidFill>
                <a:latin typeface="Hanken Grotesk" pitchFamily="34" charset="0"/>
                <a:ea typeface="Hanken Grotesk" pitchFamily="34" charset="-122"/>
                <a:cs typeface="Hanken Grotesk" pitchFamily="34" charset="-120"/>
              </a:rPr>
              <a:t>Name:</a:t>
            </a:r>
            <a:endParaRPr lang="en-US" sz="1000" dirty="0"/>
          </a:p>
        </p:txBody>
      </p:sp>
      <p:sp>
        <p:nvSpPr>
          <p:cNvPr id="12" name="Shape 10"/>
          <p:cNvSpPr/>
          <p:nvPr/>
        </p:nvSpPr>
        <p:spPr>
          <a:xfrm>
            <a:off x="4983480" y="1207008"/>
            <a:ext cx="3566160" cy="0"/>
          </a:xfrm>
          <a:prstGeom prst="line">
            <a:avLst/>
          </a:prstGeom>
          <a:noFill/>
          <a:ln w="9525">
            <a:solidFill>
              <a:srgbClr val="C7CDD2"/>
            </a:solidFill>
            <a:prstDash val="solid"/>
          </a:ln>
        </p:spPr>
      </p:sp>
      <p:sp>
        <p:nvSpPr>
          <p:cNvPr id="13" name="Text 11"/>
          <p:cNvSpPr/>
          <p:nvPr/>
        </p:nvSpPr>
        <p:spPr>
          <a:xfrm>
            <a:off x="4251960" y="1280160"/>
            <a:ext cx="731520" cy="219456"/>
          </a:xfrm>
          <a:prstGeom prst="rect">
            <a:avLst/>
          </a:prstGeom>
          <a:noFill/>
          <a:ln/>
        </p:spPr>
        <p:txBody>
          <a:bodyPr wrap="square" rtlCol="0" anchor="ctr"/>
          <a:lstStyle/>
          <a:p>
            <a:pPr indent="0" marL="0">
              <a:buNone/>
            </a:pPr>
            <a:r>
              <a:rPr lang="en-US" sz="1000" b="1" dirty="0">
                <a:solidFill>
                  <a:srgbClr val="24323F"/>
                </a:solidFill>
                <a:latin typeface="Hanken Grotesk" pitchFamily="34" charset="0"/>
                <a:ea typeface="Hanken Grotesk" pitchFamily="34" charset="-122"/>
                <a:cs typeface="Hanken Grotesk" pitchFamily="34" charset="-120"/>
              </a:rPr>
              <a:t>Date:</a:t>
            </a:r>
            <a:endParaRPr lang="en-US" sz="1000" dirty="0"/>
          </a:p>
        </p:txBody>
      </p:sp>
      <p:sp>
        <p:nvSpPr>
          <p:cNvPr id="14" name="Shape 12"/>
          <p:cNvSpPr/>
          <p:nvPr/>
        </p:nvSpPr>
        <p:spPr>
          <a:xfrm>
            <a:off x="4983480" y="1463040"/>
            <a:ext cx="3566160" cy="0"/>
          </a:xfrm>
          <a:prstGeom prst="line">
            <a:avLst/>
          </a:prstGeom>
          <a:noFill/>
          <a:ln w="9525">
            <a:solidFill>
              <a:srgbClr val="C7CDD2"/>
            </a:solidFill>
            <a:prstDash val="solid"/>
          </a:ln>
        </p:spPr>
      </p:sp>
      <p:sp>
        <p:nvSpPr>
          <p:cNvPr id="15" name="Text 13"/>
          <p:cNvSpPr/>
          <p:nvPr/>
        </p:nvSpPr>
        <p:spPr>
          <a:xfrm>
            <a:off x="4251960" y="1536192"/>
            <a:ext cx="731520" cy="219456"/>
          </a:xfrm>
          <a:prstGeom prst="rect">
            <a:avLst/>
          </a:prstGeom>
          <a:noFill/>
          <a:ln/>
        </p:spPr>
        <p:txBody>
          <a:bodyPr wrap="square" rtlCol="0" anchor="ctr"/>
          <a:lstStyle/>
          <a:p>
            <a:pPr indent="0" marL="0">
              <a:buNone/>
            </a:pPr>
            <a:r>
              <a:rPr lang="en-US" sz="1000" b="1" dirty="0">
                <a:solidFill>
                  <a:srgbClr val="24323F"/>
                </a:solidFill>
                <a:latin typeface="Hanken Grotesk" pitchFamily="34" charset="0"/>
                <a:ea typeface="Hanken Grotesk" pitchFamily="34" charset="-122"/>
                <a:cs typeface="Hanken Grotesk" pitchFamily="34" charset="-120"/>
              </a:rPr>
              <a:t>Period:</a:t>
            </a:r>
            <a:endParaRPr lang="en-US" sz="1000" dirty="0"/>
          </a:p>
        </p:txBody>
      </p:sp>
      <p:sp>
        <p:nvSpPr>
          <p:cNvPr id="16" name="Shape 14"/>
          <p:cNvSpPr/>
          <p:nvPr/>
        </p:nvSpPr>
        <p:spPr>
          <a:xfrm>
            <a:off x="4983480" y="1719072"/>
            <a:ext cx="3566160" cy="0"/>
          </a:xfrm>
          <a:prstGeom prst="line">
            <a:avLst/>
          </a:prstGeom>
          <a:noFill/>
          <a:ln w="9525">
            <a:solidFill>
              <a:srgbClr val="C7CDD2"/>
            </a:solidFill>
            <a:prstDash val="solid"/>
          </a:ln>
        </p:spPr>
      </p:sp>
      <p:sp>
        <p:nvSpPr>
          <p:cNvPr id="17" name="Shape 15"/>
          <p:cNvSpPr/>
          <p:nvPr/>
        </p:nvSpPr>
        <p:spPr>
          <a:xfrm>
            <a:off x="4023360" y="2011680"/>
            <a:ext cx="4800600" cy="1143000"/>
          </a:xfrm>
          <a:prstGeom prst="roundRect">
            <a:avLst>
              <a:gd name="adj" fmla="val 6400"/>
            </a:avLst>
          </a:prstGeom>
          <a:solidFill>
            <a:srgbClr val="DFF2EE"/>
          </a:solidFill>
          <a:ln w="12700">
            <a:solidFill>
              <a:srgbClr val="1FA6A2"/>
            </a:solidFill>
            <a:prstDash val="solid"/>
          </a:ln>
          <a:effectLst>
            <a:outerShdw sx="100000" sy="100000" kx="0" ky="0" algn="bl" rotWithShape="0" blurRad="50800" dist="12700" dir="5400000">
              <a:srgbClr val="1C2E42">
                <a:alpha val="10000"/>
              </a:srgbClr>
            </a:outerShdw>
          </a:effectLst>
        </p:spPr>
      </p:sp>
      <p:sp>
        <p:nvSpPr>
          <p:cNvPr id="18" name="Text 16"/>
          <p:cNvSpPr/>
          <p:nvPr/>
        </p:nvSpPr>
        <p:spPr>
          <a:xfrm>
            <a:off x="4206240" y="2103120"/>
            <a:ext cx="4434840" cy="274320"/>
          </a:xfrm>
          <a:prstGeom prst="rect">
            <a:avLst/>
          </a:prstGeom>
          <a:noFill/>
          <a:ln/>
        </p:spPr>
        <p:txBody>
          <a:bodyPr wrap="square" rtlCol="0" anchor="ctr"/>
          <a:lstStyle/>
          <a:p>
            <a:pPr indent="0" marL="0">
              <a:buNone/>
            </a:pPr>
            <a:r>
              <a:rPr lang="en-US" sz="1100" b="1" dirty="0">
                <a:solidFill>
                  <a:srgbClr val="1FA6A2"/>
                </a:solidFill>
                <a:latin typeface="Outfit" pitchFamily="34" charset="0"/>
                <a:ea typeface="Outfit" pitchFamily="34" charset="-122"/>
                <a:cs typeface="Outfit" pitchFamily="34" charset="-120"/>
              </a:rPr>
              <a:t>I CAN…  </a:t>
            </a:r>
            <a:pPr indent="0" marL="0">
              <a:buNone/>
            </a:pPr>
            <a:r>
              <a:rPr lang="en-US" sz="900" i="1" dirty="0">
                <a:solidFill>
                  <a:srgbClr val="8A96A3"/>
                </a:solidFill>
                <a:latin typeface="Outfit" pitchFamily="34" charset="0"/>
                <a:ea typeface="Outfit" pitchFamily="34" charset="-122"/>
                <a:cs typeface="Outfit" pitchFamily="34" charset="-120"/>
              </a:rPr>
              <a:t>/ Yo puedo…</a:t>
            </a:r>
            <a:endParaRPr lang="en-US" sz="1100" dirty="0"/>
          </a:p>
        </p:txBody>
      </p:sp>
      <p:sp>
        <p:nvSpPr>
          <p:cNvPr id="19" name="Text 17"/>
          <p:cNvSpPr/>
          <p:nvPr/>
        </p:nvSpPr>
        <p:spPr>
          <a:xfrm>
            <a:off x="4206240" y="2395728"/>
            <a:ext cx="4434840" cy="713232"/>
          </a:xfrm>
          <a:prstGeom prst="rect">
            <a:avLst/>
          </a:prstGeom>
          <a:noFill/>
          <a:ln/>
        </p:spPr>
        <p:txBody>
          <a:bodyPr wrap="square" rtlCol="0" anchor="t"/>
          <a:lstStyle/>
          <a:p>
            <a:pPr indent="0" marL="0">
              <a:buNone/>
            </a:pPr>
            <a:r>
              <a:rPr lang="en-US" sz="1100" dirty="0">
                <a:solidFill>
                  <a:srgbClr val="17324D"/>
                </a:solidFill>
                <a:latin typeface="Hanken Grotesk" pitchFamily="34" charset="0"/>
                <a:ea typeface="Hanken Grotesk" pitchFamily="34" charset="-122"/>
                <a:cs typeface="Hanken Grotesk" pitchFamily="34" charset="-120"/>
              </a:rPr>
              <a:t>I can write a number as a product of its prime factors using a factor tree.</a:t>
            </a:r>
            <a:endParaRPr lang="en-US" sz="1100" dirty="0"/>
          </a:p>
        </p:txBody>
      </p:sp>
      <p:sp>
        <p:nvSpPr>
          <p:cNvPr id="20" name="Shape 18"/>
          <p:cNvSpPr/>
          <p:nvPr/>
        </p:nvSpPr>
        <p:spPr>
          <a:xfrm>
            <a:off x="4023360" y="3291840"/>
            <a:ext cx="4800600" cy="1280160"/>
          </a:xfrm>
          <a:prstGeom prst="roundRect">
            <a:avLst>
              <a:gd name="adj" fmla="val 5714"/>
            </a:avLst>
          </a:prstGeom>
          <a:solidFill>
            <a:srgbClr val="FFFFFF"/>
          </a:solidFill>
          <a:ln w="12700">
            <a:solidFill>
              <a:srgbClr val="D6DBDF"/>
            </a:solidFill>
            <a:prstDash val="solid"/>
          </a:ln>
          <a:effectLst>
            <a:outerShdw sx="100000" sy="100000" kx="0" ky="0" algn="bl" rotWithShape="0" blurRad="50800" dist="12700" dir="5400000">
              <a:srgbClr val="1C2E42">
                <a:alpha val="10000"/>
              </a:srgbClr>
            </a:outerShdw>
          </a:effectLst>
        </p:spPr>
      </p:sp>
      <p:sp>
        <p:nvSpPr>
          <p:cNvPr id="21" name="Text 19"/>
          <p:cNvSpPr/>
          <p:nvPr/>
        </p:nvSpPr>
        <p:spPr>
          <a:xfrm>
            <a:off x="4206240" y="3383280"/>
            <a:ext cx="4434840" cy="274320"/>
          </a:xfrm>
          <a:prstGeom prst="rect">
            <a:avLst/>
          </a:prstGeom>
          <a:noFill/>
          <a:ln/>
        </p:spPr>
        <p:txBody>
          <a:bodyPr wrap="square" rtlCol="0" anchor="ctr"/>
          <a:lstStyle/>
          <a:p>
            <a:pPr indent="0" marL="0">
              <a:buNone/>
            </a:pPr>
            <a:r>
              <a:rPr lang="en-US" sz="1100" b="1" dirty="0">
                <a:solidFill>
                  <a:srgbClr val="1FA6A2"/>
                </a:solidFill>
                <a:latin typeface="Outfit" pitchFamily="34" charset="0"/>
                <a:ea typeface="Outfit" pitchFamily="34" charset="-122"/>
                <a:cs typeface="Outfit" pitchFamily="34" charset="-120"/>
              </a:rPr>
              <a:t>I WILL EXPLAIN…  </a:t>
            </a:r>
            <a:pPr indent="0" marL="0">
              <a:buNone/>
            </a:pPr>
            <a:r>
              <a:rPr lang="en-US" sz="900" i="1" dirty="0">
                <a:solidFill>
                  <a:srgbClr val="8A96A3"/>
                </a:solidFill>
                <a:latin typeface="Outfit" pitchFamily="34" charset="0"/>
                <a:ea typeface="Outfit" pitchFamily="34" charset="-122"/>
                <a:cs typeface="Outfit" pitchFamily="34" charset="-120"/>
              </a:rPr>
              <a:t>/ Objetivo de lenguaje</a:t>
            </a:r>
            <a:endParaRPr lang="en-US" sz="1100" dirty="0"/>
          </a:p>
        </p:txBody>
      </p:sp>
      <p:sp>
        <p:nvSpPr>
          <p:cNvPr id="22" name="Text 20"/>
          <p:cNvSpPr/>
          <p:nvPr/>
        </p:nvSpPr>
        <p:spPr>
          <a:xfrm>
            <a:off x="4206240" y="3675888"/>
            <a:ext cx="4434840" cy="841248"/>
          </a:xfrm>
          <a:prstGeom prst="rect">
            <a:avLst/>
          </a:prstGeom>
          <a:noFill/>
          <a:ln/>
        </p:spPr>
        <p:txBody>
          <a:bodyPr wrap="square" rtlCol="0" anchor="t"/>
          <a:lstStyle/>
          <a:p>
            <a:pPr indent="0" marL="0">
              <a:buNone/>
            </a:pPr>
            <a:r>
              <a:rPr lang="en-US" sz="1050" dirty="0">
                <a:solidFill>
                  <a:srgbClr val="24323F"/>
                </a:solidFill>
                <a:latin typeface="Hanken Grotesk" pitchFamily="34" charset="0"/>
                <a:ea typeface="Hanken Grotesk" pitchFamily="34" charset="-122"/>
                <a:cs typeface="Hanken Grotesk" pitchFamily="34" charset="-120"/>
              </a:rPr>
              <a:t>I can explain how I broke a number down using the words prime number, composite number, factor, and exponent.</a:t>
            </a:r>
            <a:endParaRPr lang="en-US" sz="10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7F4EC"/>
        </a:solidFill>
      </p:bgPr>
    </p:bg>
    <p:spTree>
      <p:nvGrpSpPr>
        <p:cNvPr id="1" name=""/>
        <p:cNvGrpSpPr/>
        <p:nvPr/>
      </p:nvGrpSpPr>
      <p:grpSpPr>
        <a:xfrm>
          <a:off x="0" y="0"/>
          <a:ext cx="0" cy="0"/>
          <a:chOff x="0" y="0"/>
          <a:chExt cx="0" cy="0"/>
        </a:xfrm>
      </p:grpSpPr>
      <p:sp>
        <p:nvSpPr>
          <p:cNvPr id="2" name="Shape 0"/>
          <p:cNvSpPr/>
          <p:nvPr/>
        </p:nvSpPr>
        <p:spPr>
          <a:xfrm>
            <a:off x="0" y="0"/>
            <a:ext cx="9144000" cy="475488"/>
          </a:xfrm>
          <a:prstGeom prst="rect">
            <a:avLst/>
          </a:prstGeom>
          <a:solidFill>
            <a:srgbClr val="17324D"/>
          </a:solidFill>
          <a:ln/>
        </p:spPr>
      </p:sp>
      <p:sp>
        <p:nvSpPr>
          <p:cNvPr id="3" name="Text 1"/>
          <p:cNvSpPr/>
          <p:nvPr/>
        </p:nvSpPr>
        <p:spPr>
          <a:xfrm>
            <a:off x="274320" y="0"/>
            <a:ext cx="2194560" cy="475488"/>
          </a:xfrm>
          <a:prstGeom prst="rect">
            <a:avLst/>
          </a:prstGeom>
          <a:noFill/>
          <a:ln/>
        </p:spPr>
        <p:txBody>
          <a:bodyPr wrap="square" rtlCol="0" anchor="ctr"/>
          <a:lstStyle/>
          <a:p>
            <a:pPr indent="0" marL="0">
              <a:buNone/>
            </a:pPr>
            <a:r>
              <a:rPr lang="en-US" sz="850" b="1" spc="100" kern="0" dirty="0">
                <a:solidFill>
                  <a:srgbClr val="BFE6E2"/>
                </a:solidFill>
                <a:latin typeface="Outfit" pitchFamily="34" charset="0"/>
                <a:ea typeface="Outfit" pitchFamily="34" charset="-122"/>
                <a:cs typeface="Outfit" pitchFamily="34" charset="-120"/>
              </a:rPr>
              <a:t>NEFT TEACHER</a:t>
            </a:r>
            <a:endParaRPr lang="en-US" sz="850" dirty="0"/>
          </a:p>
        </p:txBody>
      </p:sp>
      <p:sp>
        <p:nvSpPr>
          <p:cNvPr id="4" name="Text 2"/>
          <p:cNvSpPr/>
          <p:nvPr/>
        </p:nvSpPr>
        <p:spPr>
          <a:xfrm>
            <a:off x="1737360" y="0"/>
            <a:ext cx="5120640" cy="475488"/>
          </a:xfrm>
          <a:prstGeom prst="rect">
            <a:avLst/>
          </a:prstGeom>
          <a:noFill/>
          <a:ln/>
        </p:spPr>
        <p:txBody>
          <a:bodyPr wrap="square" rtlCol="0" anchor="ctr"/>
          <a:lstStyle/>
          <a:p>
            <a:pPr indent="0" marL="0">
              <a:buNone/>
            </a:pPr>
            <a:r>
              <a:rPr lang="en-US" sz="1500" b="1" dirty="0">
                <a:solidFill>
                  <a:srgbClr val="FFFFFF"/>
                </a:solidFill>
                <a:latin typeface="Outfit" pitchFamily="34" charset="0"/>
                <a:ea typeface="Outfit" pitchFamily="34" charset="-122"/>
                <a:cs typeface="Outfit" pitchFamily="34" charset="-120"/>
              </a:rPr>
              <a:t>Be Curious / Sé Curioso</a:t>
            </a:r>
            <a:endParaRPr lang="en-US" sz="1500" dirty="0"/>
          </a:p>
        </p:txBody>
      </p:sp>
      <p:sp>
        <p:nvSpPr>
          <p:cNvPr id="5" name="Text 3"/>
          <p:cNvSpPr/>
          <p:nvPr/>
        </p:nvSpPr>
        <p:spPr>
          <a:xfrm>
            <a:off x="7360920" y="100584"/>
            <a:ext cx="914400" cy="274320"/>
          </a:xfrm>
          <a:prstGeom prst="rect">
            <a:avLst>
              <a:gd name="adj" fmla="val 50000"/>
            </a:avLst>
          </a:prstGeom>
          <a:solidFill>
            <a:srgbClr val="1FA6A2"/>
          </a:solidFill>
          <a:ln/>
        </p:spPr>
        <p:txBody>
          <a:bodyPr wrap="square" rtlCol="0" anchor="ctr"/>
          <a:lstStyle/>
          <a:p>
            <a:pPr algn="ctr" indent="0" marL="0">
              <a:buNone/>
            </a:pPr>
            <a:r>
              <a:rPr lang="en-US" sz="900" b="1" dirty="0">
                <a:solidFill>
                  <a:srgbClr val="FFFFFF"/>
                </a:solidFill>
                <a:latin typeface="Outfit" pitchFamily="34" charset="0"/>
                <a:ea typeface="Outfit" pitchFamily="34" charset="-122"/>
                <a:cs typeface="Outfit" pitchFamily="34" charset="-120"/>
              </a:rPr>
              <a:t>6.NS.4</a:t>
            </a:r>
            <a:endParaRPr lang="en-US" sz="900" dirty="0"/>
          </a:p>
        </p:txBody>
      </p:sp>
      <p:sp>
        <p:nvSpPr>
          <p:cNvPr id="6" name="Shape 4"/>
          <p:cNvSpPr/>
          <p:nvPr/>
        </p:nvSpPr>
        <p:spPr>
          <a:xfrm>
            <a:off x="73152" y="685800"/>
            <a:ext cx="109728" cy="109728"/>
          </a:xfrm>
          <a:prstGeom prst="ellipse">
            <a:avLst/>
          </a:prstGeom>
          <a:solidFill>
            <a:srgbClr val="CBD3D9"/>
          </a:solidFill>
          <a:ln/>
        </p:spPr>
      </p:sp>
      <p:sp>
        <p:nvSpPr>
          <p:cNvPr id="7" name="Shape 5"/>
          <p:cNvSpPr/>
          <p:nvPr/>
        </p:nvSpPr>
        <p:spPr>
          <a:xfrm>
            <a:off x="73152" y="1161288"/>
            <a:ext cx="109728" cy="109728"/>
          </a:xfrm>
          <a:prstGeom prst="ellipse">
            <a:avLst/>
          </a:prstGeom>
          <a:solidFill>
            <a:srgbClr val="CBD3D9"/>
          </a:solidFill>
          <a:ln/>
        </p:spPr>
      </p:sp>
      <p:sp>
        <p:nvSpPr>
          <p:cNvPr id="8" name="Shape 6"/>
          <p:cNvSpPr/>
          <p:nvPr/>
        </p:nvSpPr>
        <p:spPr>
          <a:xfrm>
            <a:off x="73152" y="1636776"/>
            <a:ext cx="109728" cy="109728"/>
          </a:xfrm>
          <a:prstGeom prst="ellipse">
            <a:avLst/>
          </a:prstGeom>
          <a:solidFill>
            <a:srgbClr val="CBD3D9"/>
          </a:solidFill>
          <a:ln/>
        </p:spPr>
      </p:sp>
      <p:sp>
        <p:nvSpPr>
          <p:cNvPr id="9" name="Shape 7"/>
          <p:cNvSpPr/>
          <p:nvPr/>
        </p:nvSpPr>
        <p:spPr>
          <a:xfrm>
            <a:off x="73152" y="2112264"/>
            <a:ext cx="109728" cy="109728"/>
          </a:xfrm>
          <a:prstGeom prst="ellipse">
            <a:avLst/>
          </a:prstGeom>
          <a:solidFill>
            <a:srgbClr val="CBD3D9"/>
          </a:solidFill>
          <a:ln/>
        </p:spPr>
      </p:sp>
      <p:sp>
        <p:nvSpPr>
          <p:cNvPr id="10" name="Shape 8"/>
          <p:cNvSpPr/>
          <p:nvPr/>
        </p:nvSpPr>
        <p:spPr>
          <a:xfrm>
            <a:off x="73152" y="2587752"/>
            <a:ext cx="109728" cy="109728"/>
          </a:xfrm>
          <a:prstGeom prst="ellipse">
            <a:avLst/>
          </a:prstGeom>
          <a:solidFill>
            <a:srgbClr val="CBD3D9"/>
          </a:solidFill>
          <a:ln/>
        </p:spPr>
      </p:sp>
      <p:sp>
        <p:nvSpPr>
          <p:cNvPr id="11" name="Shape 9"/>
          <p:cNvSpPr/>
          <p:nvPr/>
        </p:nvSpPr>
        <p:spPr>
          <a:xfrm>
            <a:off x="73152" y="3063240"/>
            <a:ext cx="109728" cy="109728"/>
          </a:xfrm>
          <a:prstGeom prst="ellipse">
            <a:avLst/>
          </a:prstGeom>
          <a:solidFill>
            <a:srgbClr val="CBD3D9"/>
          </a:solidFill>
          <a:ln/>
        </p:spPr>
      </p:sp>
      <p:sp>
        <p:nvSpPr>
          <p:cNvPr id="12" name="Shape 10"/>
          <p:cNvSpPr/>
          <p:nvPr/>
        </p:nvSpPr>
        <p:spPr>
          <a:xfrm>
            <a:off x="73152" y="3538728"/>
            <a:ext cx="109728" cy="109728"/>
          </a:xfrm>
          <a:prstGeom prst="ellipse">
            <a:avLst/>
          </a:prstGeom>
          <a:solidFill>
            <a:srgbClr val="CBD3D9"/>
          </a:solidFill>
          <a:ln/>
        </p:spPr>
      </p:sp>
      <p:sp>
        <p:nvSpPr>
          <p:cNvPr id="13" name="Shape 11"/>
          <p:cNvSpPr/>
          <p:nvPr/>
        </p:nvSpPr>
        <p:spPr>
          <a:xfrm>
            <a:off x="73152" y="4014216"/>
            <a:ext cx="109728" cy="109728"/>
          </a:xfrm>
          <a:prstGeom prst="ellipse">
            <a:avLst/>
          </a:prstGeom>
          <a:solidFill>
            <a:srgbClr val="CBD3D9"/>
          </a:solidFill>
          <a:ln/>
        </p:spPr>
      </p:sp>
      <p:sp>
        <p:nvSpPr>
          <p:cNvPr id="14" name="Shape 12"/>
          <p:cNvSpPr/>
          <p:nvPr/>
        </p:nvSpPr>
        <p:spPr>
          <a:xfrm>
            <a:off x="73152" y="4489704"/>
            <a:ext cx="109728" cy="109728"/>
          </a:xfrm>
          <a:prstGeom prst="ellipse">
            <a:avLst/>
          </a:prstGeom>
          <a:solidFill>
            <a:srgbClr val="CBD3D9"/>
          </a:solidFill>
          <a:ln/>
        </p:spPr>
      </p:sp>
      <p:sp>
        <p:nvSpPr>
          <p:cNvPr id="15" name="Text 13"/>
          <p:cNvSpPr/>
          <p:nvPr/>
        </p:nvSpPr>
        <p:spPr>
          <a:xfrm>
            <a:off x="274320" y="4850892"/>
            <a:ext cx="6400800" cy="256032"/>
          </a:xfrm>
          <a:prstGeom prst="rect">
            <a:avLst/>
          </a:prstGeom>
          <a:noFill/>
          <a:ln/>
        </p:spPr>
        <p:txBody>
          <a:bodyPr wrap="square" rtlCol="0" anchor="ctr"/>
          <a:lstStyle/>
          <a:p>
            <a:pPr indent="0" marL="0">
              <a:buNone/>
            </a:pPr>
            <a:r>
              <a:rPr lang="en-US" sz="750" dirty="0">
                <a:solidFill>
                  <a:srgbClr val="8A96A3"/>
                </a:solidFill>
                <a:latin typeface="Hanken Grotesk" pitchFamily="34" charset="0"/>
                <a:ea typeface="Hanken Grotesk" pitchFamily="34" charset="-122"/>
                <a:cs typeface="Hanken Grotesk" pitchFamily="34" charset="-120"/>
              </a:rPr>
              <a:t>Reveal Math Grade 6  ·  Unit 1  ·  Lesson 1-1-flagship</a:t>
            </a:r>
            <a:endParaRPr lang="en-US" sz="750" dirty="0"/>
          </a:p>
        </p:txBody>
      </p:sp>
      <p:sp>
        <p:nvSpPr>
          <p:cNvPr id="16" name="Text 14"/>
          <p:cNvSpPr/>
          <p:nvPr/>
        </p:nvSpPr>
        <p:spPr>
          <a:xfrm>
            <a:off x="8412480" y="4850892"/>
            <a:ext cx="457200" cy="256032"/>
          </a:xfrm>
          <a:prstGeom prst="rect">
            <a:avLst/>
          </a:prstGeom>
          <a:noFill/>
          <a:ln/>
        </p:spPr>
        <p:txBody>
          <a:bodyPr wrap="square" rtlCol="0" anchor="ctr"/>
          <a:lstStyle/>
          <a:p>
            <a:pPr algn="r" indent="0" marL="0">
              <a:buNone/>
            </a:pPr>
            <a:r>
              <a:rPr lang="en-US" sz="800" b="1" dirty="0">
                <a:solidFill>
                  <a:srgbClr val="8A96A3"/>
                </a:solidFill>
                <a:latin typeface="Outfit" pitchFamily="34" charset="0"/>
                <a:ea typeface="Outfit" pitchFamily="34" charset="-122"/>
                <a:cs typeface="Outfit" pitchFamily="34" charset="-120"/>
              </a:rPr>
              <a:t>2</a:t>
            </a:r>
            <a:endParaRPr lang="en-US" sz="800" dirty="0"/>
          </a:p>
        </p:txBody>
      </p:sp>
      <p:sp>
        <p:nvSpPr>
          <p:cNvPr id="17" name="Shape 15"/>
          <p:cNvSpPr/>
          <p:nvPr/>
        </p:nvSpPr>
        <p:spPr>
          <a:xfrm>
            <a:off x="411480" y="685800"/>
            <a:ext cx="4160520" cy="4023360"/>
          </a:xfrm>
          <a:prstGeom prst="roundRect">
            <a:avLst>
              <a:gd name="adj" fmla="val 1818"/>
            </a:avLst>
          </a:prstGeom>
          <a:solidFill>
            <a:srgbClr val="FFFFFF"/>
          </a:solidFill>
          <a:ln w="12700">
            <a:solidFill>
              <a:srgbClr val="D6DBDF"/>
            </a:solidFill>
            <a:prstDash val="solid"/>
          </a:ln>
          <a:effectLst>
            <a:outerShdw sx="100000" sy="100000" kx="0" ky="0" algn="bl" rotWithShape="0" blurRad="50800" dist="12700" dir="5400000">
              <a:srgbClr val="1C2E42">
                <a:alpha val="10000"/>
              </a:srgbClr>
            </a:outerShdw>
          </a:effectLst>
        </p:spPr>
      </p:sp>
      <p:sp>
        <p:nvSpPr>
          <p:cNvPr id="18" name="Text 16"/>
          <p:cNvSpPr/>
          <p:nvPr/>
        </p:nvSpPr>
        <p:spPr>
          <a:xfrm>
            <a:off x="594360" y="841248"/>
            <a:ext cx="1371600" cy="274320"/>
          </a:xfrm>
          <a:prstGeom prst="rect">
            <a:avLst>
              <a:gd name="adj" fmla="val 50000"/>
            </a:avLst>
          </a:prstGeom>
          <a:solidFill>
            <a:srgbClr val="1FA6A2"/>
          </a:solidFill>
          <a:ln/>
        </p:spPr>
        <p:txBody>
          <a:bodyPr wrap="square" rtlCol="0" anchor="ctr"/>
          <a:lstStyle/>
          <a:p>
            <a:pPr algn="ctr" indent="0" marL="0">
              <a:buNone/>
            </a:pPr>
            <a:r>
              <a:rPr lang="en-US" sz="900" b="1" dirty="0">
                <a:solidFill>
                  <a:srgbClr val="FFFFFF"/>
                </a:solidFill>
                <a:latin typeface="Outfit" pitchFamily="34" charset="0"/>
                <a:ea typeface="Outfit" pitchFamily="34" charset="-122"/>
                <a:cs typeface="Outfit" pitchFamily="34" charset="-120"/>
              </a:rPr>
              <a:t>VISUAL PROMPT</a:t>
            </a:r>
            <a:endParaRPr lang="en-US" sz="900" dirty="0"/>
          </a:p>
        </p:txBody>
      </p:sp>
      <p:sp>
        <p:nvSpPr>
          <p:cNvPr id="19" name="Text 17"/>
          <p:cNvSpPr/>
          <p:nvPr/>
        </p:nvSpPr>
        <p:spPr>
          <a:xfrm>
            <a:off x="594360" y="1207008"/>
            <a:ext cx="3794760" cy="274320"/>
          </a:xfrm>
          <a:prstGeom prst="rect">
            <a:avLst/>
          </a:prstGeom>
          <a:noFill/>
          <a:ln/>
        </p:spPr>
        <p:txBody>
          <a:bodyPr wrap="square" rtlCol="0" anchor="ctr"/>
          <a:lstStyle/>
          <a:p>
            <a:pPr indent="0" marL="0">
              <a:buNone/>
            </a:pPr>
            <a:r>
              <a:rPr lang="en-US" sz="1100" b="1" dirty="0">
                <a:solidFill>
                  <a:srgbClr val="17324D"/>
                </a:solidFill>
                <a:latin typeface="Outfit" pitchFamily="34" charset="0"/>
                <a:ea typeface="Outfit" pitchFamily="34" charset="-122"/>
                <a:cs typeface="Outfit" pitchFamily="34" charset="-120"/>
              </a:rPr>
              <a:t>Space Station Cargo Breakdown</a:t>
            </a:r>
            <a:endParaRPr lang="en-US" sz="1100" dirty="0"/>
          </a:p>
        </p:txBody>
      </p:sp>
      <p:sp>
        <p:nvSpPr>
          <p:cNvPr id="20" name="Text 18"/>
          <p:cNvSpPr/>
          <p:nvPr/>
        </p:nvSpPr>
        <p:spPr>
          <a:xfrm>
            <a:off x="594360" y="1508760"/>
            <a:ext cx="3794760" cy="1554480"/>
          </a:xfrm>
          <a:prstGeom prst="rect">
            <a:avLst/>
          </a:prstGeom>
          <a:noFill/>
          <a:ln/>
        </p:spPr>
        <p:txBody>
          <a:bodyPr wrap="square" rtlCol="0" anchor="t"/>
          <a:lstStyle/>
          <a:p>
            <a:pPr indent="0" marL="0">
              <a:buNone/>
            </a:pPr>
            <a:r>
              <a:rPr lang="en-US" sz="1150" dirty="0">
                <a:solidFill>
                  <a:srgbClr val="24323F"/>
                </a:solidFill>
                <a:latin typeface="Hanken Grotesk" pitchFamily="34" charset="0"/>
                <a:ea typeface="Hanken Grotesk" pitchFamily="34" charset="-122"/>
                <a:cs typeface="Hanken Grotesk" pitchFamily="34" charset="-120"/>
              </a:rPr>
              <a:t>The space station received 60 supply crates. Mission Control needs to break this quantity into its prime components so the sorting robots can distribute them into equally sized pods. Help the crew find the prime factorization of 60!</a:t>
            </a:r>
            <a:endParaRPr lang="en-US" sz="1150" dirty="0"/>
          </a:p>
        </p:txBody>
      </p:sp>
      <p:sp>
        <p:nvSpPr>
          <p:cNvPr id="21" name="Text 19"/>
          <p:cNvSpPr/>
          <p:nvPr/>
        </p:nvSpPr>
        <p:spPr>
          <a:xfrm>
            <a:off x="594360" y="3154680"/>
            <a:ext cx="3657600" cy="228600"/>
          </a:xfrm>
          <a:prstGeom prst="rect">
            <a:avLst/>
          </a:prstGeom>
          <a:noFill/>
          <a:ln/>
        </p:spPr>
        <p:txBody>
          <a:bodyPr wrap="square" rtlCol="0" anchor="ctr"/>
          <a:lstStyle/>
          <a:p>
            <a:pPr indent="0" marL="0">
              <a:buNone/>
            </a:pPr>
            <a:r>
              <a:rPr lang="en-US" sz="900" i="1" dirty="0">
                <a:solidFill>
                  <a:srgbClr val="8A96A3"/>
                </a:solidFill>
                <a:latin typeface="Hanken Grotesk" pitchFamily="34" charset="0"/>
                <a:ea typeface="Hanken Grotesk" pitchFamily="34" charset="-122"/>
                <a:cs typeface="Hanken Grotesk" pitchFamily="34" charset="-120"/>
              </a:rPr>
              <a:t>Jot your first idea:</a:t>
            </a:r>
            <a:endParaRPr lang="en-US" sz="900" dirty="0"/>
          </a:p>
        </p:txBody>
      </p:sp>
      <p:sp>
        <p:nvSpPr>
          <p:cNvPr id="22" name="Shape 20"/>
          <p:cNvSpPr/>
          <p:nvPr/>
        </p:nvSpPr>
        <p:spPr>
          <a:xfrm>
            <a:off x="594360" y="3566160"/>
            <a:ext cx="3794760" cy="0"/>
          </a:xfrm>
          <a:prstGeom prst="line">
            <a:avLst/>
          </a:prstGeom>
          <a:noFill/>
          <a:ln w="9525">
            <a:solidFill>
              <a:srgbClr val="C7CDD2"/>
            </a:solidFill>
            <a:prstDash val="dash"/>
          </a:ln>
        </p:spPr>
      </p:sp>
      <p:sp>
        <p:nvSpPr>
          <p:cNvPr id="23" name="Shape 21"/>
          <p:cNvSpPr/>
          <p:nvPr/>
        </p:nvSpPr>
        <p:spPr>
          <a:xfrm>
            <a:off x="594360" y="3886200"/>
            <a:ext cx="3794760" cy="0"/>
          </a:xfrm>
          <a:prstGeom prst="line">
            <a:avLst/>
          </a:prstGeom>
          <a:noFill/>
          <a:ln w="9525">
            <a:solidFill>
              <a:srgbClr val="C7CDD2"/>
            </a:solidFill>
            <a:prstDash val="dash"/>
          </a:ln>
        </p:spPr>
      </p:sp>
      <p:sp>
        <p:nvSpPr>
          <p:cNvPr id="24" name="Shape 22"/>
          <p:cNvSpPr/>
          <p:nvPr/>
        </p:nvSpPr>
        <p:spPr>
          <a:xfrm>
            <a:off x="594360" y="4206240"/>
            <a:ext cx="3794760" cy="0"/>
          </a:xfrm>
          <a:prstGeom prst="line">
            <a:avLst/>
          </a:prstGeom>
          <a:noFill/>
          <a:ln w="9525">
            <a:solidFill>
              <a:srgbClr val="C7CDD2"/>
            </a:solidFill>
            <a:prstDash val="dash"/>
          </a:ln>
        </p:spPr>
      </p:sp>
      <p:sp>
        <p:nvSpPr>
          <p:cNvPr id="25" name="Shape 23"/>
          <p:cNvSpPr/>
          <p:nvPr/>
        </p:nvSpPr>
        <p:spPr>
          <a:xfrm>
            <a:off x="4709160" y="685800"/>
            <a:ext cx="4114800" cy="1920240"/>
          </a:xfrm>
          <a:prstGeom prst="roundRect">
            <a:avLst>
              <a:gd name="adj" fmla="val 3810"/>
            </a:avLst>
          </a:prstGeom>
          <a:solidFill>
            <a:srgbClr val="FFFFFF"/>
          </a:solidFill>
          <a:ln w="12700">
            <a:solidFill>
              <a:srgbClr val="D6DBDF"/>
            </a:solidFill>
            <a:prstDash val="solid"/>
          </a:ln>
          <a:effectLst>
            <a:outerShdw sx="100000" sy="100000" kx="0" ky="0" algn="bl" rotWithShape="0" blurRad="50800" dist="12700" dir="5400000">
              <a:srgbClr val="1C2E42">
                <a:alpha val="10000"/>
              </a:srgbClr>
            </a:outerShdw>
          </a:effectLst>
        </p:spPr>
      </p:sp>
      <p:sp>
        <p:nvSpPr>
          <p:cNvPr id="26" name="Text 24"/>
          <p:cNvSpPr/>
          <p:nvPr/>
        </p:nvSpPr>
        <p:spPr>
          <a:xfrm>
            <a:off x="4709160" y="685800"/>
            <a:ext cx="4114800" cy="274320"/>
          </a:xfrm>
          <a:prstGeom prst="rect">
            <a:avLst/>
          </a:prstGeom>
          <a:solidFill>
            <a:srgbClr val="1FA6A2"/>
          </a:solidFill>
          <a:ln/>
        </p:spPr>
        <p:txBody>
          <a:bodyPr wrap="square" rtlCol="0" anchor="ctr"/>
          <a:lstStyle/>
          <a:p>
            <a:pPr algn="ctr" indent="0" marL="0">
              <a:buNone/>
            </a:pPr>
            <a:r>
              <a:rPr lang="en-US" sz="1000" b="1" dirty="0">
                <a:solidFill>
                  <a:srgbClr val="FFFFFF"/>
                </a:solidFill>
                <a:latin typeface="Outfit" pitchFamily="34" charset="0"/>
                <a:ea typeface="Outfit" pitchFamily="34" charset="-122"/>
                <a:cs typeface="Outfit" pitchFamily="34" charset="-120"/>
              </a:rPr>
              <a:t>👁  I Notice…</a:t>
            </a:r>
            <a:endParaRPr lang="en-US" sz="1000" dirty="0"/>
          </a:p>
        </p:txBody>
      </p:sp>
      <p:sp>
        <p:nvSpPr>
          <p:cNvPr id="27" name="Text 25"/>
          <p:cNvSpPr/>
          <p:nvPr/>
        </p:nvSpPr>
        <p:spPr>
          <a:xfrm>
            <a:off x="4892040" y="1051560"/>
            <a:ext cx="3749040" cy="1463040"/>
          </a:xfrm>
          <a:prstGeom prst="rect">
            <a:avLst/>
          </a:prstGeom>
          <a:noFill/>
          <a:ln/>
        </p:spPr>
        <p:txBody>
          <a:bodyPr wrap="square" rtlCol="0" anchor="t"/>
          <a:lstStyle/>
          <a:p>
            <a:pPr indent="0" marL="0">
              <a:lnSpc>
                <a:spcPct val="110000"/>
              </a:lnSpc>
              <a:buNone/>
            </a:pPr>
            <a:r>
              <a:rPr lang="en-US" sz="1000" dirty="0">
                <a:solidFill>
                  <a:srgbClr val="24323F"/>
                </a:solidFill>
                <a:latin typeface="Hanken Grotesk" pitchFamily="34" charset="0"/>
                <a:ea typeface="Hanken Grotesk" pitchFamily="34" charset="-122"/>
                <a:cs typeface="Hanken Grotesk" pitchFamily="34" charset="-120"/>
              </a:rPr>
              <a:t>•  What number are we breaking down into factors?</a:t>
            </a:r>
            <a:endParaRPr lang="en-US" sz="1000" dirty="0"/>
          </a:p>
          <a:p>
            <a:pPr indent="0" marL="0">
              <a:lnSpc>
                <a:spcPct val="110000"/>
              </a:lnSpc>
              <a:buNone/>
            </a:pPr>
            <a:r>
              <a:rPr lang="en-US" sz="1000" dirty="0">
                <a:solidFill>
                  <a:srgbClr val="24323F"/>
                </a:solidFill>
                <a:latin typeface="Hanken Grotesk" pitchFamily="34" charset="0"/>
                <a:ea typeface="Hanken Grotesk" pitchFamily="34" charset="-122"/>
                <a:cs typeface="Hanken Grotesk" pitchFamily="34" charset="-120"/>
              </a:rPr>
              <a:t>•  What's the difference between a factor and a prime factor?</a:t>
            </a:r>
            <a:endParaRPr lang="en-US" sz="1000" dirty="0"/>
          </a:p>
        </p:txBody>
      </p:sp>
      <p:sp>
        <p:nvSpPr>
          <p:cNvPr id="28" name="Shape 26"/>
          <p:cNvSpPr/>
          <p:nvPr/>
        </p:nvSpPr>
        <p:spPr>
          <a:xfrm>
            <a:off x="4709160" y="2743200"/>
            <a:ext cx="4114800" cy="1965960"/>
          </a:xfrm>
          <a:prstGeom prst="roundRect">
            <a:avLst>
              <a:gd name="adj" fmla="val 3721"/>
            </a:avLst>
          </a:prstGeom>
          <a:solidFill>
            <a:srgbClr val="FFFFFF"/>
          </a:solidFill>
          <a:ln w="12700">
            <a:solidFill>
              <a:srgbClr val="D6DBDF"/>
            </a:solidFill>
            <a:prstDash val="solid"/>
          </a:ln>
          <a:effectLst>
            <a:outerShdw sx="100000" sy="100000" kx="0" ky="0" algn="bl" rotWithShape="0" blurRad="50800" dist="12700" dir="5400000">
              <a:srgbClr val="1C2E42">
                <a:alpha val="10000"/>
              </a:srgbClr>
            </a:outerShdw>
          </a:effectLst>
        </p:spPr>
      </p:sp>
      <p:sp>
        <p:nvSpPr>
          <p:cNvPr id="29" name="Text 27"/>
          <p:cNvSpPr/>
          <p:nvPr/>
        </p:nvSpPr>
        <p:spPr>
          <a:xfrm>
            <a:off x="4709160" y="2743200"/>
            <a:ext cx="4114800" cy="274320"/>
          </a:xfrm>
          <a:prstGeom prst="rect">
            <a:avLst/>
          </a:prstGeom>
          <a:solidFill>
            <a:srgbClr val="F2C15B"/>
          </a:solidFill>
          <a:ln/>
        </p:spPr>
        <p:txBody>
          <a:bodyPr wrap="square" rtlCol="0" anchor="ctr"/>
          <a:lstStyle/>
          <a:p>
            <a:pPr algn="ctr" indent="0" marL="0">
              <a:buNone/>
            </a:pPr>
            <a:r>
              <a:rPr lang="en-US" sz="1000" b="1" dirty="0">
                <a:solidFill>
                  <a:srgbClr val="17324D"/>
                </a:solidFill>
                <a:latin typeface="Outfit" pitchFamily="34" charset="0"/>
                <a:ea typeface="Outfit" pitchFamily="34" charset="-122"/>
                <a:cs typeface="Outfit" pitchFamily="34" charset="-120"/>
              </a:rPr>
              <a:t>💭  I Wonder…</a:t>
            </a:r>
            <a:endParaRPr lang="en-US" sz="1000" dirty="0"/>
          </a:p>
        </p:txBody>
      </p:sp>
      <p:sp>
        <p:nvSpPr>
          <p:cNvPr id="30" name="Text 28"/>
          <p:cNvSpPr/>
          <p:nvPr/>
        </p:nvSpPr>
        <p:spPr>
          <a:xfrm>
            <a:off x="4892040" y="3108960"/>
            <a:ext cx="3749040" cy="1508760"/>
          </a:xfrm>
          <a:prstGeom prst="rect">
            <a:avLst/>
          </a:prstGeom>
          <a:noFill/>
          <a:ln/>
        </p:spPr>
        <p:txBody>
          <a:bodyPr wrap="square" rtlCol="0" anchor="t"/>
          <a:lstStyle/>
          <a:p>
            <a:pPr indent="0" marL="0">
              <a:lnSpc>
                <a:spcPct val="110000"/>
              </a:lnSpc>
              <a:buNone/>
            </a:pPr>
            <a:r>
              <a:rPr lang="en-US" sz="1000" dirty="0">
                <a:solidFill>
                  <a:srgbClr val="24323F"/>
                </a:solidFill>
                <a:latin typeface="Hanken Grotesk" pitchFamily="34" charset="0"/>
                <a:ea typeface="Hanken Grotesk" pitchFamily="34" charset="-122"/>
                <a:cs typeface="Hanken Grotesk" pitchFamily="34" charset="-120"/>
              </a:rPr>
              <a:t>•  How many different ways can we start breaking 60 apart?</a:t>
            </a:r>
            <a:endParaRPr lang="en-US" sz="1000" dirty="0"/>
          </a:p>
          <a:p>
            <a:pPr indent="0" marL="0">
              <a:lnSpc>
                <a:spcPct val="110000"/>
              </a:lnSpc>
              <a:buNone/>
            </a:pPr>
            <a:r>
              <a:rPr lang="en-US" sz="1000" dirty="0">
                <a:solidFill>
                  <a:srgbClr val="24323F"/>
                </a:solidFill>
                <a:latin typeface="Hanken Grotesk" pitchFamily="34" charset="0"/>
                <a:ea typeface="Hanken Grotesk" pitchFamily="34" charset="-122"/>
                <a:cs typeface="Hanken Grotesk" pitchFamily="34" charset="-120"/>
              </a:rPr>
              <a:t>•  Will we always get the same prime factors no matter how we start?</a:t>
            </a:r>
            <a:endParaRPr lang="en-US" sz="1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7F4EC"/>
        </a:solidFill>
      </p:bgPr>
    </p:bg>
    <p:spTree>
      <p:nvGrpSpPr>
        <p:cNvPr id="1" name=""/>
        <p:cNvGrpSpPr/>
        <p:nvPr/>
      </p:nvGrpSpPr>
      <p:grpSpPr>
        <a:xfrm>
          <a:off x="0" y="0"/>
          <a:ext cx="0" cy="0"/>
          <a:chOff x="0" y="0"/>
          <a:chExt cx="0" cy="0"/>
        </a:xfrm>
      </p:grpSpPr>
      <p:sp>
        <p:nvSpPr>
          <p:cNvPr id="2" name="Shape 0"/>
          <p:cNvSpPr/>
          <p:nvPr/>
        </p:nvSpPr>
        <p:spPr>
          <a:xfrm>
            <a:off x="0" y="0"/>
            <a:ext cx="9144000" cy="475488"/>
          </a:xfrm>
          <a:prstGeom prst="rect">
            <a:avLst/>
          </a:prstGeom>
          <a:solidFill>
            <a:srgbClr val="17324D"/>
          </a:solidFill>
          <a:ln/>
        </p:spPr>
      </p:sp>
      <p:sp>
        <p:nvSpPr>
          <p:cNvPr id="3" name="Text 1"/>
          <p:cNvSpPr/>
          <p:nvPr/>
        </p:nvSpPr>
        <p:spPr>
          <a:xfrm>
            <a:off x="274320" y="0"/>
            <a:ext cx="2194560" cy="475488"/>
          </a:xfrm>
          <a:prstGeom prst="rect">
            <a:avLst/>
          </a:prstGeom>
          <a:noFill/>
          <a:ln/>
        </p:spPr>
        <p:txBody>
          <a:bodyPr wrap="square" rtlCol="0" anchor="ctr"/>
          <a:lstStyle/>
          <a:p>
            <a:pPr indent="0" marL="0">
              <a:buNone/>
            </a:pPr>
            <a:r>
              <a:rPr lang="en-US" sz="850" b="1" spc="100" kern="0" dirty="0">
                <a:solidFill>
                  <a:srgbClr val="BFE6E2"/>
                </a:solidFill>
                <a:latin typeface="Outfit" pitchFamily="34" charset="0"/>
                <a:ea typeface="Outfit" pitchFamily="34" charset="-122"/>
                <a:cs typeface="Outfit" pitchFamily="34" charset="-120"/>
              </a:rPr>
              <a:t>NEFT TEACHER</a:t>
            </a:r>
            <a:endParaRPr lang="en-US" sz="850" dirty="0"/>
          </a:p>
        </p:txBody>
      </p:sp>
      <p:sp>
        <p:nvSpPr>
          <p:cNvPr id="4" name="Text 2"/>
          <p:cNvSpPr/>
          <p:nvPr/>
        </p:nvSpPr>
        <p:spPr>
          <a:xfrm>
            <a:off x="1737360" y="0"/>
            <a:ext cx="5120640" cy="475488"/>
          </a:xfrm>
          <a:prstGeom prst="rect">
            <a:avLst/>
          </a:prstGeom>
          <a:noFill/>
          <a:ln/>
        </p:spPr>
        <p:txBody>
          <a:bodyPr wrap="square" rtlCol="0" anchor="ctr"/>
          <a:lstStyle/>
          <a:p>
            <a:pPr indent="0" marL="0">
              <a:buNone/>
            </a:pPr>
            <a:r>
              <a:rPr lang="en-US" sz="1500" b="1" dirty="0">
                <a:solidFill>
                  <a:srgbClr val="FFFFFF"/>
                </a:solidFill>
                <a:latin typeface="Outfit" pitchFamily="34" charset="0"/>
                <a:ea typeface="Outfit" pitchFamily="34" charset="-122"/>
                <a:cs typeface="Outfit" pitchFamily="34" charset="-120"/>
              </a:rPr>
              <a:t>Vocabulary / Vocabulario</a:t>
            </a:r>
            <a:endParaRPr lang="en-US" sz="1500" dirty="0"/>
          </a:p>
        </p:txBody>
      </p:sp>
      <p:sp>
        <p:nvSpPr>
          <p:cNvPr id="5" name="Text 3"/>
          <p:cNvSpPr/>
          <p:nvPr/>
        </p:nvSpPr>
        <p:spPr>
          <a:xfrm>
            <a:off x="7360920" y="100584"/>
            <a:ext cx="914400" cy="274320"/>
          </a:xfrm>
          <a:prstGeom prst="rect">
            <a:avLst>
              <a:gd name="adj" fmla="val 50000"/>
            </a:avLst>
          </a:prstGeom>
          <a:solidFill>
            <a:srgbClr val="1FA6A2"/>
          </a:solidFill>
          <a:ln/>
        </p:spPr>
        <p:txBody>
          <a:bodyPr wrap="square" rtlCol="0" anchor="ctr"/>
          <a:lstStyle/>
          <a:p>
            <a:pPr algn="ctr" indent="0" marL="0">
              <a:buNone/>
            </a:pPr>
            <a:r>
              <a:rPr lang="en-US" sz="900" b="1" dirty="0">
                <a:solidFill>
                  <a:srgbClr val="FFFFFF"/>
                </a:solidFill>
                <a:latin typeface="Outfit" pitchFamily="34" charset="0"/>
                <a:ea typeface="Outfit" pitchFamily="34" charset="-122"/>
                <a:cs typeface="Outfit" pitchFamily="34" charset="-120"/>
              </a:rPr>
              <a:t>6.NS.4</a:t>
            </a:r>
            <a:endParaRPr lang="en-US" sz="900" dirty="0"/>
          </a:p>
        </p:txBody>
      </p:sp>
      <p:sp>
        <p:nvSpPr>
          <p:cNvPr id="6" name="Shape 4"/>
          <p:cNvSpPr/>
          <p:nvPr/>
        </p:nvSpPr>
        <p:spPr>
          <a:xfrm>
            <a:off x="73152" y="685800"/>
            <a:ext cx="109728" cy="109728"/>
          </a:xfrm>
          <a:prstGeom prst="ellipse">
            <a:avLst/>
          </a:prstGeom>
          <a:solidFill>
            <a:srgbClr val="CBD3D9"/>
          </a:solidFill>
          <a:ln/>
        </p:spPr>
      </p:sp>
      <p:sp>
        <p:nvSpPr>
          <p:cNvPr id="7" name="Shape 5"/>
          <p:cNvSpPr/>
          <p:nvPr/>
        </p:nvSpPr>
        <p:spPr>
          <a:xfrm>
            <a:off x="73152" y="1161288"/>
            <a:ext cx="109728" cy="109728"/>
          </a:xfrm>
          <a:prstGeom prst="ellipse">
            <a:avLst/>
          </a:prstGeom>
          <a:solidFill>
            <a:srgbClr val="CBD3D9"/>
          </a:solidFill>
          <a:ln/>
        </p:spPr>
      </p:sp>
      <p:sp>
        <p:nvSpPr>
          <p:cNvPr id="8" name="Shape 6"/>
          <p:cNvSpPr/>
          <p:nvPr/>
        </p:nvSpPr>
        <p:spPr>
          <a:xfrm>
            <a:off x="73152" y="1636776"/>
            <a:ext cx="109728" cy="109728"/>
          </a:xfrm>
          <a:prstGeom prst="ellipse">
            <a:avLst/>
          </a:prstGeom>
          <a:solidFill>
            <a:srgbClr val="CBD3D9"/>
          </a:solidFill>
          <a:ln/>
        </p:spPr>
      </p:sp>
      <p:sp>
        <p:nvSpPr>
          <p:cNvPr id="9" name="Shape 7"/>
          <p:cNvSpPr/>
          <p:nvPr/>
        </p:nvSpPr>
        <p:spPr>
          <a:xfrm>
            <a:off x="73152" y="2112264"/>
            <a:ext cx="109728" cy="109728"/>
          </a:xfrm>
          <a:prstGeom prst="ellipse">
            <a:avLst/>
          </a:prstGeom>
          <a:solidFill>
            <a:srgbClr val="CBD3D9"/>
          </a:solidFill>
          <a:ln/>
        </p:spPr>
      </p:sp>
      <p:sp>
        <p:nvSpPr>
          <p:cNvPr id="10" name="Shape 8"/>
          <p:cNvSpPr/>
          <p:nvPr/>
        </p:nvSpPr>
        <p:spPr>
          <a:xfrm>
            <a:off x="73152" y="2587752"/>
            <a:ext cx="109728" cy="109728"/>
          </a:xfrm>
          <a:prstGeom prst="ellipse">
            <a:avLst/>
          </a:prstGeom>
          <a:solidFill>
            <a:srgbClr val="CBD3D9"/>
          </a:solidFill>
          <a:ln/>
        </p:spPr>
      </p:sp>
      <p:sp>
        <p:nvSpPr>
          <p:cNvPr id="11" name="Shape 9"/>
          <p:cNvSpPr/>
          <p:nvPr/>
        </p:nvSpPr>
        <p:spPr>
          <a:xfrm>
            <a:off x="73152" y="3063240"/>
            <a:ext cx="109728" cy="109728"/>
          </a:xfrm>
          <a:prstGeom prst="ellipse">
            <a:avLst/>
          </a:prstGeom>
          <a:solidFill>
            <a:srgbClr val="CBD3D9"/>
          </a:solidFill>
          <a:ln/>
        </p:spPr>
      </p:sp>
      <p:sp>
        <p:nvSpPr>
          <p:cNvPr id="12" name="Shape 10"/>
          <p:cNvSpPr/>
          <p:nvPr/>
        </p:nvSpPr>
        <p:spPr>
          <a:xfrm>
            <a:off x="73152" y="3538728"/>
            <a:ext cx="109728" cy="109728"/>
          </a:xfrm>
          <a:prstGeom prst="ellipse">
            <a:avLst/>
          </a:prstGeom>
          <a:solidFill>
            <a:srgbClr val="CBD3D9"/>
          </a:solidFill>
          <a:ln/>
        </p:spPr>
      </p:sp>
      <p:sp>
        <p:nvSpPr>
          <p:cNvPr id="13" name="Shape 11"/>
          <p:cNvSpPr/>
          <p:nvPr/>
        </p:nvSpPr>
        <p:spPr>
          <a:xfrm>
            <a:off x="73152" y="4014216"/>
            <a:ext cx="109728" cy="109728"/>
          </a:xfrm>
          <a:prstGeom prst="ellipse">
            <a:avLst/>
          </a:prstGeom>
          <a:solidFill>
            <a:srgbClr val="CBD3D9"/>
          </a:solidFill>
          <a:ln/>
        </p:spPr>
      </p:sp>
      <p:sp>
        <p:nvSpPr>
          <p:cNvPr id="14" name="Shape 12"/>
          <p:cNvSpPr/>
          <p:nvPr/>
        </p:nvSpPr>
        <p:spPr>
          <a:xfrm>
            <a:off x="73152" y="4489704"/>
            <a:ext cx="109728" cy="109728"/>
          </a:xfrm>
          <a:prstGeom prst="ellipse">
            <a:avLst/>
          </a:prstGeom>
          <a:solidFill>
            <a:srgbClr val="CBD3D9"/>
          </a:solidFill>
          <a:ln/>
        </p:spPr>
      </p:sp>
      <p:sp>
        <p:nvSpPr>
          <p:cNvPr id="15" name="Text 13"/>
          <p:cNvSpPr/>
          <p:nvPr/>
        </p:nvSpPr>
        <p:spPr>
          <a:xfrm>
            <a:off x="274320" y="4850892"/>
            <a:ext cx="6400800" cy="256032"/>
          </a:xfrm>
          <a:prstGeom prst="rect">
            <a:avLst/>
          </a:prstGeom>
          <a:noFill/>
          <a:ln/>
        </p:spPr>
        <p:txBody>
          <a:bodyPr wrap="square" rtlCol="0" anchor="ctr"/>
          <a:lstStyle/>
          <a:p>
            <a:pPr indent="0" marL="0">
              <a:buNone/>
            </a:pPr>
            <a:r>
              <a:rPr lang="en-US" sz="750" dirty="0">
                <a:solidFill>
                  <a:srgbClr val="8A96A3"/>
                </a:solidFill>
                <a:latin typeface="Hanken Grotesk" pitchFamily="34" charset="0"/>
                <a:ea typeface="Hanken Grotesk" pitchFamily="34" charset="-122"/>
                <a:cs typeface="Hanken Grotesk" pitchFamily="34" charset="-120"/>
              </a:rPr>
              <a:t>Reveal Math Grade 6  ·  Unit 1  ·  Lesson 1-1-flagship</a:t>
            </a:r>
            <a:endParaRPr lang="en-US" sz="750" dirty="0"/>
          </a:p>
        </p:txBody>
      </p:sp>
      <p:sp>
        <p:nvSpPr>
          <p:cNvPr id="16" name="Text 14"/>
          <p:cNvSpPr/>
          <p:nvPr/>
        </p:nvSpPr>
        <p:spPr>
          <a:xfrm>
            <a:off x="8412480" y="4850892"/>
            <a:ext cx="457200" cy="256032"/>
          </a:xfrm>
          <a:prstGeom prst="rect">
            <a:avLst/>
          </a:prstGeom>
          <a:noFill/>
          <a:ln/>
        </p:spPr>
        <p:txBody>
          <a:bodyPr wrap="square" rtlCol="0" anchor="ctr"/>
          <a:lstStyle/>
          <a:p>
            <a:pPr algn="r" indent="0" marL="0">
              <a:buNone/>
            </a:pPr>
            <a:r>
              <a:rPr lang="en-US" sz="800" b="1" dirty="0">
                <a:solidFill>
                  <a:srgbClr val="8A96A3"/>
                </a:solidFill>
                <a:latin typeface="Outfit" pitchFamily="34" charset="0"/>
                <a:ea typeface="Outfit" pitchFamily="34" charset="-122"/>
                <a:cs typeface="Outfit" pitchFamily="34" charset="-120"/>
              </a:rPr>
              <a:t>3</a:t>
            </a:r>
            <a:endParaRPr lang="en-US" sz="8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11480" y="685800"/>
          <a:ext cx="8412480" cy="914400"/>
        </p:xfrm>
        <a:graphic>
          <a:graphicData uri="http://schemas.openxmlformats.org/drawingml/2006/table">
            <a:tbl>
              <a:tblPr/>
              <a:tblGrid>
                <a:gridCol w="2103120"/>
                <a:gridCol w="4114800"/>
                <a:gridCol w="2194560"/>
              </a:tblGrid>
              <a:tr h="457200">
                <a:tc>
                  <a:txBody>
                    <a:bodyPr/>
                    <a:lstStyle/>
                    <a:p>
                      <a:pPr indent="0" marL="0">
                        <a:buNone/>
                      </a:pPr>
                      <a:r>
                        <a:rPr lang="en-US" sz="1000" b="1" dirty="0">
                          <a:solidFill>
                            <a:srgbClr val="FFFFFF"/>
                          </a:solidFill>
                          <a:latin typeface="Outfit" pitchFamily="34" charset="0"/>
                          <a:ea typeface="Outfit" pitchFamily="34" charset="-122"/>
                          <a:cs typeface="Outfit" pitchFamily="34" charset="-120"/>
                        </a:rPr>
                        <a:t>Term / Término</a:t>
                      </a:r>
                      <a:endParaRPr lang="en-US" sz="1000" dirty="0">
                        <a:latin typeface="Outfit" charset="0"/>
                        <a:ea typeface="Outfit" charset="0"/>
                        <a:cs typeface="Outfit"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solidFill>
                      <a:srgbClr val="17324D"/>
                    </a:solidFill>
                  </a:tcPr>
                </a:tc>
                <a:tc>
                  <a:txBody>
                    <a:bodyPr/>
                    <a:lstStyle/>
                    <a:p>
                      <a:pPr indent="0" marL="0">
                        <a:buNone/>
                      </a:pPr>
                      <a:r>
                        <a:rPr lang="en-US" sz="1000" b="1" dirty="0">
                          <a:solidFill>
                            <a:srgbClr val="FFFFFF"/>
                          </a:solidFill>
                          <a:latin typeface="Outfit" pitchFamily="34" charset="0"/>
                          <a:ea typeface="Outfit" pitchFamily="34" charset="-122"/>
                          <a:cs typeface="Outfit" pitchFamily="34" charset="-120"/>
                        </a:rPr>
                        <a:t>Meaning / Significado</a:t>
                      </a:r>
                      <a:endParaRPr lang="en-US" sz="1000" dirty="0">
                        <a:latin typeface="Outfit" charset="0"/>
                        <a:ea typeface="Outfit" charset="0"/>
                        <a:cs typeface="Outfit"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solidFill>
                      <a:srgbClr val="17324D"/>
                    </a:solidFill>
                  </a:tcPr>
                </a:tc>
                <a:tc>
                  <a:txBody>
                    <a:bodyPr/>
                    <a:lstStyle/>
                    <a:p>
                      <a:pPr indent="0" marL="0">
                        <a:buNone/>
                      </a:pPr>
                      <a:r>
                        <a:rPr lang="en-US" sz="1000" b="1" dirty="0">
                          <a:solidFill>
                            <a:srgbClr val="FFFFFF"/>
                          </a:solidFill>
                          <a:latin typeface="Outfit" pitchFamily="34" charset="0"/>
                          <a:ea typeface="Outfit" pitchFamily="34" charset="-122"/>
                          <a:cs typeface="Outfit" pitchFamily="34" charset="-120"/>
                        </a:rPr>
                        <a:t>Example / Ejemplo</a:t>
                      </a:r>
                      <a:endParaRPr lang="en-US" sz="1000" dirty="0">
                        <a:latin typeface="Outfit" charset="0"/>
                        <a:ea typeface="Outfit" charset="0"/>
                        <a:cs typeface="Outfit"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solidFill>
                      <a:srgbClr val="17324D"/>
                    </a:solidFill>
                  </a:tcPr>
                </a:tc>
              </a:tr>
              <a:tr h="457200">
                <a:tc>
                  <a:txBody>
                    <a:bodyPr/>
                    <a:lstStyle/>
                    <a:p>
                      <a:pPr indent="0" marL="0">
                        <a:buNone/>
                      </a:pPr>
                      <a:r>
                        <a:rPr lang="en-US" sz="950" b="1" dirty="0">
                          <a:solidFill>
                            <a:srgbClr val="17324D"/>
                          </a:solidFill>
                          <a:latin typeface="Hanken Grotesk" pitchFamily="34" charset="0"/>
                          <a:ea typeface="Hanken Grotesk" pitchFamily="34" charset="-122"/>
                          <a:cs typeface="Hanken Grotesk" pitchFamily="34" charset="-120"/>
                        </a:rPr>
                        <a:t>Prime number</a:t>
                      </a:r>
                      <a:pPr indent="0" marL="0">
                        <a:buNone/>
                      </a:pPr>
                      <a:endParaRPr lang="en-US" sz="950" dirty="0">
                        <a:latin typeface="Hanken Grotesk" charset="0"/>
                        <a:ea typeface="Hanken Grotesk" charset="0"/>
                        <a:cs typeface="Hanken Grotesk" charset="0"/>
                      </a:endParaRPr>
                    </a:p>
                    <a:p>
                      <a:pPr indent="0" marL="0">
                        <a:buNone/>
                      </a:pPr>
                      <a:r>
                        <a:rPr lang="en-US" sz="850" i="1" dirty="0">
                          <a:solidFill>
                            <a:srgbClr val="8A96A3"/>
                          </a:solidFill>
                          <a:latin typeface="Hanken Grotesk" pitchFamily="34" charset="0"/>
                          <a:ea typeface="Hanken Grotesk" pitchFamily="34" charset="-122"/>
                          <a:cs typeface="Hanken Grotesk" pitchFamily="34" charset="-120"/>
                        </a:rPr>
                        <a:t>Número primo</a:t>
                      </a:r>
                      <a:endParaRPr lang="en-US" sz="950" dirty="0">
                        <a:latin typeface="Hanken Grotesk" charset="0"/>
                        <a:ea typeface="Hanken Grotesk" charset="0"/>
                        <a:cs typeface="Hanken Grotesk"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solidFill>
                      <a:srgbClr val="FFFFFF"/>
                    </a:solidFill>
                  </a:tcPr>
                </a:tc>
                <a:tc>
                  <a:txBody>
                    <a:bodyPr/>
                    <a:lstStyle/>
                    <a:p>
                      <a:pPr indent="0" marL="0">
                        <a:buNone/>
                      </a:pPr>
                      <a:r>
                        <a:rPr lang="en-US" sz="900" dirty="0">
                          <a:solidFill>
                            <a:srgbClr val="24323F"/>
                          </a:solidFill>
                          <a:latin typeface="Hanken Grotesk" pitchFamily="34" charset="0"/>
                          <a:ea typeface="Hanken Grotesk" pitchFamily="34" charset="-122"/>
                          <a:cs typeface="Hanken Grotesk" pitchFamily="34" charset="-120"/>
                        </a:rPr>
                        <a:t>A number bigger than 1 that you can only divide by 1 and itself.</a:t>
                      </a:r>
                      <a:pPr indent="0" marL="0">
                        <a:buNone/>
                      </a:pPr>
                      <a:endParaRPr lang="en-US" sz="900" dirty="0">
                        <a:latin typeface="Hanken Grotesk" charset="0"/>
                        <a:ea typeface="Hanken Grotesk" charset="0"/>
                        <a:cs typeface="Hanken Grotesk" charset="0"/>
                      </a:endParaRPr>
                    </a:p>
                    <a:p>
                      <a:pPr indent="0" marL="0">
                        <a:buNone/>
                      </a:pPr>
                      <a:r>
                        <a:rPr lang="en-US" sz="850" i="1" dirty="0">
                          <a:solidFill>
                            <a:srgbClr val="8A96A3"/>
                          </a:solidFill>
                          <a:latin typeface="Hanken Grotesk" pitchFamily="34" charset="0"/>
                          <a:ea typeface="Hanken Grotesk" pitchFamily="34" charset="-122"/>
                          <a:cs typeface="Hanken Grotesk" pitchFamily="34" charset="-120"/>
                        </a:rPr>
                        <a:t>Un número mayor que 1 que solo se puede dividir entre 1 y sí mismo.</a:t>
                      </a:r>
                      <a:endParaRPr lang="en-US" sz="900" dirty="0">
                        <a:latin typeface="Hanken Grotesk" charset="0"/>
                        <a:ea typeface="Hanken Grotesk" charset="0"/>
                        <a:cs typeface="Hanken Grotesk"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solidFill>
                      <a:srgbClr val="FFFFFF"/>
                    </a:solidFill>
                  </a:tcPr>
                </a:tc>
                <a:tc>
                  <a:txBody>
                    <a:bodyPr/>
                    <a:lstStyle/>
                    <a:p>
                      <a:pPr indent="0" marL="0">
                        <a:buNone/>
                      </a:pPr>
                      <a:r>
                        <a:rPr lang="en-US" sz="900" i="1" dirty="0">
                          <a:solidFill>
                            <a:srgbClr val="24323F"/>
                          </a:solidFill>
                          <a:latin typeface="Hanken Grotesk" pitchFamily="34" charset="0"/>
                          <a:ea typeface="Hanken Grotesk" pitchFamily="34" charset="-122"/>
                          <a:cs typeface="Hanken Grotesk" pitchFamily="34" charset="-120"/>
                        </a:rPr>
                        <a:t>7 has only two factors: 1 × 7. So 7 is prime.</a:t>
                      </a:r>
                      <a:endParaRPr lang="en-US" sz="900" dirty="0">
                        <a:latin typeface="Hanken Grotesk" charset="0"/>
                        <a:ea typeface="Hanken Grotesk" charset="0"/>
                        <a:cs typeface="Hanken Grotesk"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solidFill>
                      <a:srgbClr val="FFFFFF"/>
                    </a:solidFill>
                  </a:tcPr>
                </a:tc>
              </a:tr>
              <a:tr h="457200">
                <a:tc>
                  <a:txBody>
                    <a:bodyPr/>
                    <a:lstStyle/>
                    <a:p>
                      <a:pPr indent="0" marL="0">
                        <a:buNone/>
                      </a:pPr>
                      <a:r>
                        <a:rPr lang="en-US" sz="950" b="1" dirty="0">
                          <a:solidFill>
                            <a:srgbClr val="17324D"/>
                          </a:solidFill>
                          <a:latin typeface="Hanken Grotesk" pitchFamily="34" charset="0"/>
                          <a:ea typeface="Hanken Grotesk" pitchFamily="34" charset="-122"/>
                          <a:cs typeface="Hanken Grotesk" pitchFamily="34" charset="-120"/>
                        </a:rPr>
                        <a:t>Composite number</a:t>
                      </a:r>
                      <a:pPr indent="0" marL="0">
                        <a:buNone/>
                      </a:pPr>
                      <a:endParaRPr lang="en-US" sz="950" dirty="0">
                        <a:latin typeface="Hanken Grotesk" charset="0"/>
                        <a:ea typeface="Hanken Grotesk" charset="0"/>
                        <a:cs typeface="Hanken Grotesk" charset="0"/>
                      </a:endParaRPr>
                    </a:p>
                    <a:p>
                      <a:pPr indent="0" marL="0">
                        <a:buNone/>
                      </a:pPr>
                      <a:r>
                        <a:rPr lang="en-US" sz="850" i="1" dirty="0">
                          <a:solidFill>
                            <a:srgbClr val="8A96A3"/>
                          </a:solidFill>
                          <a:latin typeface="Hanken Grotesk" pitchFamily="34" charset="0"/>
                          <a:ea typeface="Hanken Grotesk" pitchFamily="34" charset="-122"/>
                          <a:cs typeface="Hanken Grotesk" pitchFamily="34" charset="-120"/>
                        </a:rPr>
                        <a:t>Número compuesto</a:t>
                      </a:r>
                      <a:endParaRPr lang="en-US" sz="950" dirty="0">
                        <a:latin typeface="Hanken Grotesk" charset="0"/>
                        <a:ea typeface="Hanken Grotesk" charset="0"/>
                        <a:cs typeface="Hanken Grotesk"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solidFill>
                      <a:srgbClr val="F4F1E8"/>
                    </a:solidFill>
                  </a:tcPr>
                </a:tc>
                <a:tc>
                  <a:txBody>
                    <a:bodyPr/>
                    <a:lstStyle/>
                    <a:p>
                      <a:pPr indent="0" marL="0">
                        <a:buNone/>
                      </a:pPr>
                      <a:r>
                        <a:rPr lang="en-US" sz="900" dirty="0">
                          <a:solidFill>
                            <a:srgbClr val="24323F"/>
                          </a:solidFill>
                          <a:latin typeface="Hanken Grotesk" pitchFamily="34" charset="0"/>
                          <a:ea typeface="Hanken Grotesk" pitchFamily="34" charset="-122"/>
                          <a:cs typeface="Hanken Grotesk" pitchFamily="34" charset="-120"/>
                        </a:rPr>
                        <a:t>A number bigger than 1 that you can divide by more than just 1 and itself.</a:t>
                      </a:r>
                      <a:pPr indent="0" marL="0">
                        <a:buNone/>
                      </a:pPr>
                      <a:endParaRPr lang="en-US" sz="900" dirty="0">
                        <a:latin typeface="Hanken Grotesk" charset="0"/>
                        <a:ea typeface="Hanken Grotesk" charset="0"/>
                        <a:cs typeface="Hanken Grotesk" charset="0"/>
                      </a:endParaRPr>
                    </a:p>
                    <a:p>
                      <a:pPr indent="0" marL="0">
                        <a:buNone/>
                      </a:pPr>
                      <a:r>
                        <a:rPr lang="en-US" sz="850" i="1" dirty="0">
                          <a:solidFill>
                            <a:srgbClr val="8A96A3"/>
                          </a:solidFill>
                          <a:latin typeface="Hanken Grotesk" pitchFamily="34" charset="0"/>
                          <a:ea typeface="Hanken Grotesk" pitchFamily="34" charset="-122"/>
                          <a:cs typeface="Hanken Grotesk" pitchFamily="34" charset="-120"/>
                        </a:rPr>
                        <a:t>Un número mayor que 1 que se puede dividir entre más números, no solo 1 y sí mismo.</a:t>
                      </a:r>
                      <a:endParaRPr lang="en-US" sz="900" dirty="0">
                        <a:latin typeface="Hanken Grotesk" charset="0"/>
                        <a:ea typeface="Hanken Grotesk" charset="0"/>
                        <a:cs typeface="Hanken Grotesk"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solidFill>
                      <a:srgbClr val="F4F1E8"/>
                    </a:solidFill>
                  </a:tcPr>
                </a:tc>
                <a:tc>
                  <a:txBody>
                    <a:bodyPr/>
                    <a:lstStyle/>
                    <a:p>
                      <a:pPr indent="0" marL="0">
                        <a:buNone/>
                      </a:pPr>
                      <a:r>
                        <a:rPr lang="en-US" sz="900" i="1" dirty="0">
                          <a:solidFill>
                            <a:srgbClr val="24323F"/>
                          </a:solidFill>
                          <a:latin typeface="Hanken Grotesk" pitchFamily="34" charset="0"/>
                          <a:ea typeface="Hanken Grotesk" pitchFamily="34" charset="-122"/>
                          <a:cs typeface="Hanken Grotesk" pitchFamily="34" charset="-120"/>
                        </a:rPr>
                        <a:t>12 = 1 × 12, 2 × 6, 3 × 4 — six factors, so 12 is composite</a:t>
                      </a:r>
                      <a:endParaRPr lang="en-US" sz="900" dirty="0">
                        <a:latin typeface="Hanken Grotesk" charset="0"/>
                        <a:ea typeface="Hanken Grotesk" charset="0"/>
                        <a:cs typeface="Hanken Grotesk"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solidFill>
                      <a:srgbClr val="F4F1E8"/>
                    </a:solidFill>
                  </a:tcPr>
                </a:tc>
              </a:tr>
              <a:tr h="457200">
                <a:tc>
                  <a:txBody>
                    <a:bodyPr/>
                    <a:lstStyle/>
                    <a:p>
                      <a:pPr indent="0" marL="0">
                        <a:buNone/>
                      </a:pPr>
                      <a:r>
                        <a:rPr lang="en-US" sz="950" b="1" dirty="0">
                          <a:solidFill>
                            <a:srgbClr val="17324D"/>
                          </a:solidFill>
                          <a:latin typeface="Hanken Grotesk" pitchFamily="34" charset="0"/>
                          <a:ea typeface="Hanken Grotesk" pitchFamily="34" charset="-122"/>
                          <a:cs typeface="Hanken Grotesk" pitchFamily="34" charset="-120"/>
                        </a:rPr>
                        <a:t>Prime factorization</a:t>
                      </a:r>
                      <a:pPr indent="0" marL="0">
                        <a:buNone/>
                      </a:pPr>
                      <a:endParaRPr lang="en-US" sz="950" dirty="0">
                        <a:latin typeface="Hanken Grotesk" charset="0"/>
                        <a:ea typeface="Hanken Grotesk" charset="0"/>
                        <a:cs typeface="Hanken Grotesk" charset="0"/>
                      </a:endParaRPr>
                    </a:p>
                    <a:p>
                      <a:pPr indent="0" marL="0">
                        <a:buNone/>
                      </a:pPr>
                      <a:r>
                        <a:rPr lang="en-US" sz="850" i="1" dirty="0">
                          <a:solidFill>
                            <a:srgbClr val="8A96A3"/>
                          </a:solidFill>
                          <a:latin typeface="Hanken Grotesk" pitchFamily="34" charset="0"/>
                          <a:ea typeface="Hanken Grotesk" pitchFamily="34" charset="-122"/>
                          <a:cs typeface="Hanken Grotesk" pitchFamily="34" charset="-120"/>
                        </a:rPr>
                        <a:t>Factorización prima</a:t>
                      </a:r>
                      <a:endParaRPr lang="en-US" sz="950" dirty="0">
                        <a:latin typeface="Hanken Grotesk" charset="0"/>
                        <a:ea typeface="Hanken Grotesk" charset="0"/>
                        <a:cs typeface="Hanken Grotesk"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solidFill>
                      <a:srgbClr val="FFFFFF"/>
                    </a:solidFill>
                  </a:tcPr>
                </a:tc>
                <a:tc>
                  <a:txBody>
                    <a:bodyPr/>
                    <a:lstStyle/>
                    <a:p>
                      <a:pPr indent="0" marL="0">
                        <a:buNone/>
                      </a:pPr>
                      <a:r>
                        <a:rPr lang="en-US" sz="900" dirty="0">
                          <a:solidFill>
                            <a:srgbClr val="24323F"/>
                          </a:solidFill>
                          <a:latin typeface="Hanken Grotesk" pitchFamily="34" charset="0"/>
                          <a:ea typeface="Hanken Grotesk" pitchFamily="34" charset="-122"/>
                          <a:cs typeface="Hanken Grotesk" pitchFamily="34" charset="-120"/>
                        </a:rPr>
                        <a:t>Writing a number as prime numbers multiplied together.</a:t>
                      </a:r>
                      <a:pPr indent="0" marL="0">
                        <a:buNone/>
                      </a:pPr>
                      <a:endParaRPr lang="en-US" sz="900" dirty="0">
                        <a:latin typeface="Hanken Grotesk" charset="0"/>
                        <a:ea typeface="Hanken Grotesk" charset="0"/>
                        <a:cs typeface="Hanken Grotesk" charset="0"/>
                      </a:endParaRPr>
                    </a:p>
                    <a:p>
                      <a:pPr indent="0" marL="0">
                        <a:buNone/>
                      </a:pPr>
                      <a:r>
                        <a:rPr lang="en-US" sz="850" i="1" dirty="0">
                          <a:solidFill>
                            <a:srgbClr val="8A96A3"/>
                          </a:solidFill>
                          <a:latin typeface="Hanken Grotesk" pitchFamily="34" charset="0"/>
                          <a:ea typeface="Hanken Grotesk" pitchFamily="34" charset="-122"/>
                          <a:cs typeface="Hanken Grotesk" pitchFamily="34" charset="-120"/>
                        </a:rPr>
                        <a:t>Escribir un número como números primos multiplicados.</a:t>
                      </a:r>
                      <a:endParaRPr lang="en-US" sz="900" dirty="0">
                        <a:latin typeface="Hanken Grotesk" charset="0"/>
                        <a:ea typeface="Hanken Grotesk" charset="0"/>
                        <a:cs typeface="Hanken Grotesk"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solidFill>
                      <a:srgbClr val="FFFFFF"/>
                    </a:solidFill>
                  </a:tcPr>
                </a:tc>
                <a:tc>
                  <a:txBody>
                    <a:bodyPr/>
                    <a:lstStyle/>
                    <a:p>
                      <a:pPr indent="0" marL="0">
                        <a:buNone/>
                      </a:pPr>
                      <a:r>
                        <a:rPr lang="en-US" sz="900" i="1" dirty="0">
                          <a:solidFill>
                            <a:srgbClr val="24323F"/>
                          </a:solidFill>
                          <a:latin typeface="Hanken Grotesk" pitchFamily="34" charset="0"/>
                          <a:ea typeface="Hanken Grotesk" pitchFamily="34" charset="-122"/>
                          <a:cs typeface="Hanken Grotesk" pitchFamily="34" charset="-120"/>
                        </a:rPr>
                        <a:t>36 = 2 × 2 × 3 × 3 = 2² × 3²</a:t>
                      </a:r>
                      <a:endParaRPr lang="en-US" sz="900" dirty="0">
                        <a:latin typeface="Hanken Grotesk" charset="0"/>
                        <a:ea typeface="Hanken Grotesk" charset="0"/>
                        <a:cs typeface="Hanken Grotesk"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solidFill>
                      <a:srgbClr val="FFFFFF"/>
                    </a:solidFill>
                  </a:tcPr>
                </a:tc>
              </a:tr>
              <a:tr h="457200">
                <a:tc>
                  <a:txBody>
                    <a:bodyPr/>
                    <a:lstStyle/>
                    <a:p>
                      <a:pPr indent="0" marL="0">
                        <a:buNone/>
                      </a:pPr>
                      <a:r>
                        <a:rPr lang="en-US" sz="950" b="1" dirty="0">
                          <a:solidFill>
                            <a:srgbClr val="17324D"/>
                          </a:solidFill>
                          <a:latin typeface="Hanken Grotesk" pitchFamily="34" charset="0"/>
                          <a:ea typeface="Hanken Grotesk" pitchFamily="34" charset="-122"/>
                          <a:cs typeface="Hanken Grotesk" pitchFamily="34" charset="-120"/>
                        </a:rPr>
                        <a:t>Factor tree</a:t>
                      </a:r>
                      <a:pPr indent="0" marL="0">
                        <a:buNone/>
                      </a:pPr>
                      <a:endParaRPr lang="en-US" sz="950" dirty="0">
                        <a:latin typeface="Hanken Grotesk" charset="0"/>
                        <a:ea typeface="Hanken Grotesk" charset="0"/>
                        <a:cs typeface="Hanken Grotesk" charset="0"/>
                      </a:endParaRPr>
                    </a:p>
                    <a:p>
                      <a:pPr indent="0" marL="0">
                        <a:buNone/>
                      </a:pPr>
                      <a:r>
                        <a:rPr lang="en-US" sz="850" i="1" dirty="0">
                          <a:solidFill>
                            <a:srgbClr val="8A96A3"/>
                          </a:solidFill>
                          <a:latin typeface="Hanken Grotesk" pitchFamily="34" charset="0"/>
                          <a:ea typeface="Hanken Grotesk" pitchFamily="34" charset="-122"/>
                          <a:cs typeface="Hanken Grotesk" pitchFamily="34" charset="-120"/>
                        </a:rPr>
                        <a:t>Árbol de factores</a:t>
                      </a:r>
                      <a:endParaRPr lang="en-US" sz="950" dirty="0">
                        <a:latin typeface="Hanken Grotesk" charset="0"/>
                        <a:ea typeface="Hanken Grotesk" charset="0"/>
                        <a:cs typeface="Hanken Grotesk"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solidFill>
                      <a:srgbClr val="F4F1E8"/>
                    </a:solidFill>
                  </a:tcPr>
                </a:tc>
                <a:tc>
                  <a:txBody>
                    <a:bodyPr/>
                    <a:lstStyle/>
                    <a:p>
                      <a:pPr indent="0" marL="0">
                        <a:buNone/>
                      </a:pPr>
                      <a:r>
                        <a:rPr lang="en-US" sz="900" dirty="0">
                          <a:solidFill>
                            <a:srgbClr val="24323F"/>
                          </a:solidFill>
                          <a:latin typeface="Hanken Grotesk" pitchFamily="34" charset="0"/>
                          <a:ea typeface="Hanken Grotesk" pitchFamily="34" charset="-122"/>
                          <a:cs typeface="Hanken Grotesk" pitchFamily="34" charset="-120"/>
                        </a:rPr>
                        <a:t>A picture that splits a number into its prime numbers, step by step.</a:t>
                      </a:r>
                      <a:pPr indent="0" marL="0">
                        <a:buNone/>
                      </a:pPr>
                      <a:endParaRPr lang="en-US" sz="900" dirty="0">
                        <a:latin typeface="Hanken Grotesk" charset="0"/>
                        <a:ea typeface="Hanken Grotesk" charset="0"/>
                        <a:cs typeface="Hanken Grotesk" charset="0"/>
                      </a:endParaRPr>
                    </a:p>
                    <a:p>
                      <a:pPr indent="0" marL="0">
                        <a:buNone/>
                      </a:pPr>
                      <a:r>
                        <a:rPr lang="en-US" sz="850" i="1" dirty="0">
                          <a:solidFill>
                            <a:srgbClr val="8A96A3"/>
                          </a:solidFill>
                          <a:latin typeface="Hanken Grotesk" pitchFamily="34" charset="0"/>
                          <a:ea typeface="Hanken Grotesk" pitchFamily="34" charset="-122"/>
                          <a:cs typeface="Hanken Grotesk" pitchFamily="34" charset="-120"/>
                        </a:rPr>
                        <a:t>Un dibujo que separa un número en sus números primos, paso a paso.</a:t>
                      </a:r>
                      <a:endParaRPr lang="en-US" sz="900" dirty="0">
                        <a:latin typeface="Hanken Grotesk" charset="0"/>
                        <a:ea typeface="Hanken Grotesk" charset="0"/>
                        <a:cs typeface="Hanken Grotesk"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solidFill>
                      <a:srgbClr val="F4F1E8"/>
                    </a:solidFill>
                  </a:tcPr>
                </a:tc>
                <a:tc>
                  <a:txBody>
                    <a:bodyPr/>
                    <a:lstStyle/>
                    <a:p>
                      <a:pPr indent="0" marL="0">
                        <a:buNone/>
                      </a:pPr>
                      <a:r>
                        <a:rPr lang="en-US" sz="900" i="1" dirty="0">
                          <a:solidFill>
                            <a:srgbClr val="24323F"/>
                          </a:solidFill>
                          <a:latin typeface="Hanken Grotesk" pitchFamily="34" charset="0"/>
                          <a:ea typeface="Hanken Grotesk" pitchFamily="34" charset="-122"/>
                          <a:cs typeface="Hanken Grotesk" pitchFamily="34" charset="-120"/>
                        </a:rPr>
                        <a:t>24 → 4 × 6 → (2 × 2) × (2 × 3) → 2 × 2 × 2 × 3</a:t>
                      </a:r>
                      <a:endParaRPr lang="en-US" sz="900" dirty="0">
                        <a:latin typeface="Hanken Grotesk" charset="0"/>
                        <a:ea typeface="Hanken Grotesk" charset="0"/>
                        <a:cs typeface="Hanken Grotesk"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solidFill>
                      <a:srgbClr val="F4F1E8"/>
                    </a:solidFill>
                  </a:tcPr>
                </a:tc>
              </a:tr>
              <a:tr h="457200">
                <a:tc>
                  <a:txBody>
                    <a:bodyPr/>
                    <a:lstStyle/>
                    <a:p>
                      <a:pPr indent="0" marL="0">
                        <a:buNone/>
                      </a:pPr>
                      <a:r>
                        <a:rPr lang="en-US" sz="950" b="1" dirty="0">
                          <a:solidFill>
                            <a:srgbClr val="17324D"/>
                          </a:solidFill>
                          <a:latin typeface="Hanken Grotesk" pitchFamily="34" charset="0"/>
                          <a:ea typeface="Hanken Grotesk" pitchFamily="34" charset="-122"/>
                          <a:cs typeface="Hanken Grotesk" pitchFamily="34" charset="-120"/>
                        </a:rPr>
                        <a:t>Exponent</a:t>
                      </a:r>
                      <a:pPr indent="0" marL="0">
                        <a:buNone/>
                      </a:pPr>
                      <a:endParaRPr lang="en-US" sz="950" dirty="0">
                        <a:latin typeface="Hanken Grotesk" charset="0"/>
                        <a:ea typeface="Hanken Grotesk" charset="0"/>
                        <a:cs typeface="Hanken Grotesk" charset="0"/>
                      </a:endParaRPr>
                    </a:p>
                    <a:p>
                      <a:pPr indent="0" marL="0">
                        <a:buNone/>
                      </a:pPr>
                      <a:r>
                        <a:rPr lang="en-US" sz="850" i="1" dirty="0">
                          <a:solidFill>
                            <a:srgbClr val="8A96A3"/>
                          </a:solidFill>
                          <a:latin typeface="Hanken Grotesk" pitchFamily="34" charset="0"/>
                          <a:ea typeface="Hanken Grotesk" pitchFamily="34" charset="-122"/>
                          <a:cs typeface="Hanken Grotesk" pitchFamily="34" charset="-120"/>
                        </a:rPr>
                        <a:t>Exponente</a:t>
                      </a:r>
                      <a:endParaRPr lang="en-US" sz="950" dirty="0">
                        <a:latin typeface="Hanken Grotesk" charset="0"/>
                        <a:ea typeface="Hanken Grotesk" charset="0"/>
                        <a:cs typeface="Hanken Grotesk"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solidFill>
                      <a:srgbClr val="FFFFFF"/>
                    </a:solidFill>
                  </a:tcPr>
                </a:tc>
                <a:tc>
                  <a:txBody>
                    <a:bodyPr/>
                    <a:lstStyle/>
                    <a:p>
                      <a:pPr indent="0" marL="0">
                        <a:buNone/>
                      </a:pPr>
                      <a:r>
                        <a:rPr lang="en-US" sz="900" dirty="0">
                          <a:solidFill>
                            <a:srgbClr val="24323F"/>
                          </a:solidFill>
                          <a:latin typeface="Hanken Grotesk" pitchFamily="34" charset="0"/>
                          <a:ea typeface="Hanken Grotesk" pitchFamily="34" charset="-122"/>
                          <a:cs typeface="Hanken Grotesk" pitchFamily="34" charset="-120"/>
                        </a:rPr>
                        <a:t>A small number that tells how many times to multiply a number by itself.</a:t>
                      </a:r>
                      <a:pPr indent="0" marL="0">
                        <a:buNone/>
                      </a:pPr>
                      <a:endParaRPr lang="en-US" sz="900" dirty="0">
                        <a:latin typeface="Hanken Grotesk" charset="0"/>
                        <a:ea typeface="Hanken Grotesk" charset="0"/>
                        <a:cs typeface="Hanken Grotesk" charset="0"/>
                      </a:endParaRPr>
                    </a:p>
                    <a:p>
                      <a:pPr indent="0" marL="0">
                        <a:buNone/>
                      </a:pPr>
                      <a:r>
                        <a:rPr lang="en-US" sz="850" i="1" dirty="0">
                          <a:solidFill>
                            <a:srgbClr val="8A96A3"/>
                          </a:solidFill>
                          <a:latin typeface="Hanken Grotesk" pitchFamily="34" charset="0"/>
                          <a:ea typeface="Hanken Grotesk" pitchFamily="34" charset="-122"/>
                          <a:cs typeface="Hanken Grotesk" pitchFamily="34" charset="-120"/>
                        </a:rPr>
                        <a:t>Un número pequeño que dice cuántas veces multiplicar un número por sí mismo.</a:t>
                      </a:r>
                      <a:endParaRPr lang="en-US" sz="900" dirty="0">
                        <a:latin typeface="Hanken Grotesk" charset="0"/>
                        <a:ea typeface="Hanken Grotesk" charset="0"/>
                        <a:cs typeface="Hanken Grotesk"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solidFill>
                      <a:srgbClr val="FFFFFF"/>
                    </a:solidFill>
                  </a:tcPr>
                </a:tc>
                <a:tc>
                  <a:txBody>
                    <a:bodyPr/>
                    <a:lstStyle/>
                    <a:p>
                      <a:pPr indent="0" marL="0">
                        <a:buNone/>
                      </a:pPr>
                      <a:r>
                        <a:rPr lang="en-US" sz="900" i="1" dirty="0">
                          <a:solidFill>
                            <a:srgbClr val="24323F"/>
                          </a:solidFill>
                          <a:latin typeface="Hanken Grotesk" pitchFamily="34" charset="0"/>
                          <a:ea typeface="Hanken Grotesk" pitchFamily="34" charset="-122"/>
                          <a:cs typeface="Hanken Grotesk" pitchFamily="34" charset="-120"/>
                        </a:rPr>
                        <a:t>2³ means 2 × 2 × 2 = 8</a:t>
                      </a:r>
                      <a:endParaRPr lang="en-US" sz="900" dirty="0">
                        <a:latin typeface="Hanken Grotesk" charset="0"/>
                        <a:ea typeface="Hanken Grotesk" charset="0"/>
                        <a:cs typeface="Hanken Grotesk"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solidFill>
                      <a:srgbClr val="FFFFFF"/>
                    </a:solidFill>
                  </a:tcPr>
                </a:tc>
              </a:tr>
            </a:tbl>
          </a:graphicData>
        </a:graphic>
      </p:graphicFrame>
      <p:sp>
        <p:nvSpPr>
          <p:cNvPr id="18" name="Text 15"/>
          <p:cNvSpPr/>
          <p:nvPr/>
        </p:nvSpPr>
        <p:spPr>
          <a:xfrm>
            <a:off x="411480" y="3520440"/>
            <a:ext cx="8412480" cy="237744"/>
          </a:xfrm>
          <a:prstGeom prst="rect">
            <a:avLst/>
          </a:prstGeom>
          <a:noFill/>
          <a:ln/>
        </p:spPr>
        <p:txBody>
          <a:bodyPr wrap="square" rtlCol="0" anchor="ctr"/>
          <a:lstStyle/>
          <a:p>
            <a:pPr indent="0" marL="0">
              <a:buNone/>
            </a:pPr>
            <a:r>
              <a:rPr lang="en-US" sz="950" b="1" dirty="0">
                <a:solidFill>
                  <a:srgbClr val="17324D"/>
                </a:solidFill>
                <a:latin typeface="Outfit" pitchFamily="34" charset="0"/>
                <a:ea typeface="Outfit" pitchFamily="34" charset="-122"/>
                <a:cs typeface="Outfit" pitchFamily="34" charset="-120"/>
              </a:rPr>
              <a:t>Prime number — example vs. non-example:</a:t>
            </a:r>
            <a:endParaRPr lang="en-US" sz="950" dirty="0"/>
          </a:p>
        </p:txBody>
      </p:sp>
      <p:sp>
        <p:nvSpPr>
          <p:cNvPr id="19" name="Shape 16"/>
          <p:cNvSpPr/>
          <p:nvPr/>
        </p:nvSpPr>
        <p:spPr>
          <a:xfrm>
            <a:off x="411480" y="3813048"/>
            <a:ext cx="4114800" cy="457200"/>
          </a:xfrm>
          <a:prstGeom prst="roundRect">
            <a:avLst>
              <a:gd name="adj" fmla="val 10000"/>
            </a:avLst>
          </a:prstGeom>
          <a:solidFill>
            <a:srgbClr val="E7F6F4"/>
          </a:solidFill>
          <a:ln w="12700">
            <a:solidFill>
              <a:srgbClr val="1FA6A2"/>
            </a:solidFill>
            <a:prstDash val="solid"/>
          </a:ln>
          <a:effectLst>
            <a:outerShdw sx="100000" sy="100000" kx="0" ky="0" algn="bl" rotWithShape="0" blurRad="50800" dist="12700" dir="5400000">
              <a:srgbClr val="1C2E42">
                <a:alpha val="10000"/>
              </a:srgbClr>
            </a:outerShdw>
          </a:effectLst>
        </p:spPr>
      </p:sp>
      <p:sp>
        <p:nvSpPr>
          <p:cNvPr id="20" name="Text 17"/>
          <p:cNvSpPr/>
          <p:nvPr/>
        </p:nvSpPr>
        <p:spPr>
          <a:xfrm>
            <a:off x="521208" y="3813048"/>
            <a:ext cx="3895344" cy="457200"/>
          </a:xfrm>
          <a:prstGeom prst="rect">
            <a:avLst/>
          </a:prstGeom>
          <a:noFill/>
          <a:ln/>
        </p:spPr>
        <p:txBody>
          <a:bodyPr wrap="square" rtlCol="0" anchor="ctr"/>
          <a:lstStyle/>
          <a:p>
            <a:pPr indent="0" marL="0">
              <a:buNone/>
            </a:pPr>
            <a:r>
              <a:rPr lang="en-US" sz="900" b="1" dirty="0">
                <a:solidFill>
                  <a:srgbClr val="1FA6A2"/>
                </a:solidFill>
                <a:latin typeface="Hanken Grotesk" pitchFamily="34" charset="0"/>
                <a:ea typeface="Hanken Grotesk" pitchFamily="34" charset="-122"/>
                <a:cs typeface="Hanken Grotesk" pitchFamily="34" charset="-120"/>
              </a:rPr>
              <a:t>✓ </a:t>
            </a:r>
            <a:pPr indent="0" marL="0">
              <a:buNone/>
            </a:pPr>
            <a:r>
              <a:rPr lang="en-US" sz="900" b="1" dirty="0">
                <a:solidFill>
                  <a:srgbClr val="17324D"/>
                </a:solidFill>
                <a:latin typeface="Hanken Grotesk" pitchFamily="34" charset="0"/>
                <a:ea typeface="Hanken Grotesk" pitchFamily="34" charset="-122"/>
                <a:cs typeface="Hanken Grotesk" pitchFamily="34" charset="-120"/>
              </a:rPr>
              <a:t>7  </a:t>
            </a:r>
            <a:pPr indent="0" marL="0">
              <a:buNone/>
            </a:pPr>
            <a:r>
              <a:rPr lang="en-US" sz="800" dirty="0">
                <a:solidFill>
                  <a:srgbClr val="24323F"/>
                </a:solidFill>
                <a:latin typeface="Hanken Grotesk" pitchFamily="34" charset="0"/>
                <a:ea typeface="Hanken Grotesk" pitchFamily="34" charset="-122"/>
                <a:cs typeface="Hanken Grotesk" pitchFamily="34" charset="-120"/>
              </a:rPr>
              <a:t>7 has only two factors: 1 and 7.</a:t>
            </a:r>
            <a:endParaRPr lang="en-US" sz="900" dirty="0"/>
          </a:p>
        </p:txBody>
      </p:sp>
      <p:sp>
        <p:nvSpPr>
          <p:cNvPr id="21" name="Shape 18"/>
          <p:cNvSpPr/>
          <p:nvPr/>
        </p:nvSpPr>
        <p:spPr>
          <a:xfrm>
            <a:off x="4663440" y="3813048"/>
            <a:ext cx="4114800" cy="457200"/>
          </a:xfrm>
          <a:prstGeom prst="roundRect">
            <a:avLst>
              <a:gd name="adj" fmla="val 10000"/>
            </a:avLst>
          </a:prstGeom>
          <a:solidFill>
            <a:srgbClr val="E7F6F4"/>
          </a:solidFill>
          <a:ln w="12700">
            <a:solidFill>
              <a:srgbClr val="1FA6A2"/>
            </a:solidFill>
            <a:prstDash val="solid"/>
          </a:ln>
          <a:effectLst>
            <a:outerShdw sx="100000" sy="100000" kx="0" ky="0" algn="bl" rotWithShape="0" blurRad="50800" dist="12700" dir="5400000">
              <a:srgbClr val="1C2E42">
                <a:alpha val="10000"/>
              </a:srgbClr>
            </a:outerShdw>
          </a:effectLst>
        </p:spPr>
      </p:sp>
      <p:sp>
        <p:nvSpPr>
          <p:cNvPr id="22" name="Text 19"/>
          <p:cNvSpPr/>
          <p:nvPr/>
        </p:nvSpPr>
        <p:spPr>
          <a:xfrm>
            <a:off x="4773168" y="3813048"/>
            <a:ext cx="3895344" cy="457200"/>
          </a:xfrm>
          <a:prstGeom prst="rect">
            <a:avLst/>
          </a:prstGeom>
          <a:noFill/>
          <a:ln/>
        </p:spPr>
        <p:txBody>
          <a:bodyPr wrap="square" rtlCol="0" anchor="ctr"/>
          <a:lstStyle/>
          <a:p>
            <a:pPr indent="0" marL="0">
              <a:buNone/>
            </a:pPr>
            <a:r>
              <a:rPr lang="en-US" sz="900" b="1" dirty="0">
                <a:solidFill>
                  <a:srgbClr val="1FA6A2"/>
                </a:solidFill>
                <a:latin typeface="Hanken Grotesk" pitchFamily="34" charset="0"/>
                <a:ea typeface="Hanken Grotesk" pitchFamily="34" charset="-122"/>
                <a:cs typeface="Hanken Grotesk" pitchFamily="34" charset="-120"/>
              </a:rPr>
              <a:t>✓ </a:t>
            </a:r>
            <a:pPr indent="0" marL="0">
              <a:buNone/>
            </a:pPr>
            <a:r>
              <a:rPr lang="en-US" sz="900" b="1" dirty="0">
                <a:solidFill>
                  <a:srgbClr val="17324D"/>
                </a:solidFill>
                <a:latin typeface="Hanken Grotesk" pitchFamily="34" charset="0"/>
                <a:ea typeface="Hanken Grotesk" pitchFamily="34" charset="-122"/>
                <a:cs typeface="Hanken Grotesk" pitchFamily="34" charset="-120"/>
              </a:rPr>
              <a:t>13  </a:t>
            </a:r>
            <a:pPr indent="0" marL="0">
              <a:buNone/>
            </a:pPr>
            <a:r>
              <a:rPr lang="en-US" sz="800" dirty="0">
                <a:solidFill>
                  <a:srgbClr val="24323F"/>
                </a:solidFill>
                <a:latin typeface="Hanken Grotesk" pitchFamily="34" charset="0"/>
                <a:ea typeface="Hanken Grotesk" pitchFamily="34" charset="-122"/>
                <a:cs typeface="Hanken Grotesk" pitchFamily="34" charset="-120"/>
              </a:rPr>
              <a:t>13 has only two factors: 1 and 13.</a:t>
            </a:r>
            <a:endParaRPr lang="en-US" sz="900" dirty="0"/>
          </a:p>
        </p:txBody>
      </p:sp>
      <p:sp>
        <p:nvSpPr>
          <p:cNvPr id="23" name="Shape 20"/>
          <p:cNvSpPr/>
          <p:nvPr/>
        </p:nvSpPr>
        <p:spPr>
          <a:xfrm>
            <a:off x="411480" y="4315968"/>
            <a:ext cx="4114800" cy="457200"/>
          </a:xfrm>
          <a:prstGeom prst="roundRect">
            <a:avLst>
              <a:gd name="adj" fmla="val 10000"/>
            </a:avLst>
          </a:prstGeom>
          <a:solidFill>
            <a:srgbClr val="FDECEA"/>
          </a:solidFill>
          <a:ln w="12700">
            <a:solidFill>
              <a:srgbClr val="E2A39B"/>
            </a:solidFill>
            <a:prstDash val="solid"/>
          </a:ln>
          <a:effectLst>
            <a:outerShdw sx="100000" sy="100000" kx="0" ky="0" algn="bl" rotWithShape="0" blurRad="50800" dist="12700" dir="5400000">
              <a:srgbClr val="1C2E42">
                <a:alpha val="10000"/>
              </a:srgbClr>
            </a:outerShdw>
          </a:effectLst>
        </p:spPr>
      </p:sp>
      <p:sp>
        <p:nvSpPr>
          <p:cNvPr id="24" name="Text 21"/>
          <p:cNvSpPr/>
          <p:nvPr/>
        </p:nvSpPr>
        <p:spPr>
          <a:xfrm>
            <a:off x="521208" y="4315968"/>
            <a:ext cx="3895344" cy="457200"/>
          </a:xfrm>
          <a:prstGeom prst="rect">
            <a:avLst/>
          </a:prstGeom>
          <a:noFill/>
          <a:ln/>
        </p:spPr>
        <p:txBody>
          <a:bodyPr wrap="square" rtlCol="0" anchor="ctr"/>
          <a:lstStyle/>
          <a:p>
            <a:pPr indent="0" marL="0">
              <a:buNone/>
            </a:pPr>
            <a:r>
              <a:rPr lang="en-US" sz="900" b="1" dirty="0">
                <a:solidFill>
                  <a:srgbClr val="C0392B"/>
                </a:solidFill>
                <a:latin typeface="Hanken Grotesk" pitchFamily="34" charset="0"/>
                <a:ea typeface="Hanken Grotesk" pitchFamily="34" charset="-122"/>
                <a:cs typeface="Hanken Grotesk" pitchFamily="34" charset="-120"/>
              </a:rPr>
              <a:t>✗ </a:t>
            </a:r>
            <a:pPr indent="0" marL="0">
              <a:buNone/>
            </a:pPr>
            <a:r>
              <a:rPr lang="en-US" sz="900" b="1" dirty="0">
                <a:solidFill>
                  <a:srgbClr val="17324D"/>
                </a:solidFill>
                <a:latin typeface="Hanken Grotesk" pitchFamily="34" charset="0"/>
                <a:ea typeface="Hanken Grotesk" pitchFamily="34" charset="-122"/>
                <a:cs typeface="Hanken Grotesk" pitchFamily="34" charset="-120"/>
              </a:rPr>
              <a:t>9  </a:t>
            </a:r>
            <a:pPr indent="0" marL="0">
              <a:buNone/>
            </a:pPr>
            <a:r>
              <a:rPr lang="en-US" sz="800" dirty="0">
                <a:solidFill>
                  <a:srgbClr val="24323F"/>
                </a:solidFill>
                <a:latin typeface="Hanken Grotesk" pitchFamily="34" charset="0"/>
                <a:ea typeface="Hanken Grotesk" pitchFamily="34" charset="-122"/>
                <a:cs typeface="Hanken Grotesk" pitchFamily="34" charset="-120"/>
              </a:rPr>
              <a:t>9 = 3 × 3, so it has more than two factors.</a:t>
            </a:r>
            <a:endParaRPr lang="en-US" sz="900" dirty="0"/>
          </a:p>
        </p:txBody>
      </p:sp>
      <p:sp>
        <p:nvSpPr>
          <p:cNvPr id="25" name="Shape 22"/>
          <p:cNvSpPr/>
          <p:nvPr/>
        </p:nvSpPr>
        <p:spPr>
          <a:xfrm>
            <a:off x="4663440" y="4315968"/>
            <a:ext cx="4114800" cy="457200"/>
          </a:xfrm>
          <a:prstGeom prst="roundRect">
            <a:avLst>
              <a:gd name="adj" fmla="val 10000"/>
            </a:avLst>
          </a:prstGeom>
          <a:solidFill>
            <a:srgbClr val="FDECEA"/>
          </a:solidFill>
          <a:ln w="12700">
            <a:solidFill>
              <a:srgbClr val="E2A39B"/>
            </a:solidFill>
            <a:prstDash val="solid"/>
          </a:ln>
          <a:effectLst>
            <a:outerShdw sx="100000" sy="100000" kx="0" ky="0" algn="bl" rotWithShape="0" blurRad="50800" dist="12700" dir="5400000">
              <a:srgbClr val="1C2E42">
                <a:alpha val="10000"/>
              </a:srgbClr>
            </a:outerShdw>
          </a:effectLst>
        </p:spPr>
      </p:sp>
      <p:sp>
        <p:nvSpPr>
          <p:cNvPr id="26" name="Text 23"/>
          <p:cNvSpPr/>
          <p:nvPr/>
        </p:nvSpPr>
        <p:spPr>
          <a:xfrm>
            <a:off x="4773168" y="4315968"/>
            <a:ext cx="3895344" cy="457200"/>
          </a:xfrm>
          <a:prstGeom prst="rect">
            <a:avLst/>
          </a:prstGeom>
          <a:noFill/>
          <a:ln/>
        </p:spPr>
        <p:txBody>
          <a:bodyPr wrap="square" rtlCol="0" anchor="ctr"/>
          <a:lstStyle/>
          <a:p>
            <a:pPr indent="0" marL="0">
              <a:buNone/>
            </a:pPr>
            <a:r>
              <a:rPr lang="en-US" sz="900" b="1" dirty="0">
                <a:solidFill>
                  <a:srgbClr val="C0392B"/>
                </a:solidFill>
                <a:latin typeface="Hanken Grotesk" pitchFamily="34" charset="0"/>
                <a:ea typeface="Hanken Grotesk" pitchFamily="34" charset="-122"/>
                <a:cs typeface="Hanken Grotesk" pitchFamily="34" charset="-120"/>
              </a:rPr>
              <a:t>✗ </a:t>
            </a:r>
            <a:pPr indent="0" marL="0">
              <a:buNone/>
            </a:pPr>
            <a:r>
              <a:rPr lang="en-US" sz="900" b="1" dirty="0">
                <a:solidFill>
                  <a:srgbClr val="17324D"/>
                </a:solidFill>
                <a:latin typeface="Hanken Grotesk" pitchFamily="34" charset="0"/>
                <a:ea typeface="Hanken Grotesk" pitchFamily="34" charset="-122"/>
                <a:cs typeface="Hanken Grotesk" pitchFamily="34" charset="-120"/>
              </a:rPr>
              <a:t>1  </a:t>
            </a:r>
            <a:pPr indent="0" marL="0">
              <a:buNone/>
            </a:pPr>
            <a:r>
              <a:rPr lang="en-US" sz="800" dirty="0">
                <a:solidFill>
                  <a:srgbClr val="24323F"/>
                </a:solidFill>
                <a:latin typeface="Hanken Grotesk" pitchFamily="34" charset="0"/>
                <a:ea typeface="Hanken Grotesk" pitchFamily="34" charset="-122"/>
                <a:cs typeface="Hanken Grotesk" pitchFamily="34" charset="-120"/>
              </a:rPr>
              <a:t>1 has only one factor, so it is not prime.</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7F4EC"/>
        </a:solidFill>
      </p:bgPr>
    </p:bg>
    <p:spTree>
      <p:nvGrpSpPr>
        <p:cNvPr id="1" name=""/>
        <p:cNvGrpSpPr/>
        <p:nvPr/>
      </p:nvGrpSpPr>
      <p:grpSpPr>
        <a:xfrm>
          <a:off x="0" y="0"/>
          <a:ext cx="0" cy="0"/>
          <a:chOff x="0" y="0"/>
          <a:chExt cx="0" cy="0"/>
        </a:xfrm>
      </p:grpSpPr>
      <p:sp>
        <p:nvSpPr>
          <p:cNvPr id="2" name="Shape 0"/>
          <p:cNvSpPr/>
          <p:nvPr/>
        </p:nvSpPr>
        <p:spPr>
          <a:xfrm>
            <a:off x="0" y="0"/>
            <a:ext cx="9144000" cy="475488"/>
          </a:xfrm>
          <a:prstGeom prst="rect">
            <a:avLst/>
          </a:prstGeom>
          <a:solidFill>
            <a:srgbClr val="17324D"/>
          </a:solidFill>
          <a:ln/>
        </p:spPr>
      </p:sp>
      <p:sp>
        <p:nvSpPr>
          <p:cNvPr id="3" name="Text 1"/>
          <p:cNvSpPr/>
          <p:nvPr/>
        </p:nvSpPr>
        <p:spPr>
          <a:xfrm>
            <a:off x="274320" y="0"/>
            <a:ext cx="2194560" cy="475488"/>
          </a:xfrm>
          <a:prstGeom prst="rect">
            <a:avLst/>
          </a:prstGeom>
          <a:noFill/>
          <a:ln/>
        </p:spPr>
        <p:txBody>
          <a:bodyPr wrap="square" rtlCol="0" anchor="ctr"/>
          <a:lstStyle/>
          <a:p>
            <a:pPr indent="0" marL="0">
              <a:buNone/>
            </a:pPr>
            <a:r>
              <a:rPr lang="en-US" sz="850" b="1" spc="100" kern="0" dirty="0">
                <a:solidFill>
                  <a:srgbClr val="BFE6E2"/>
                </a:solidFill>
                <a:latin typeface="Outfit" pitchFamily="34" charset="0"/>
                <a:ea typeface="Outfit" pitchFamily="34" charset="-122"/>
                <a:cs typeface="Outfit" pitchFamily="34" charset="-120"/>
              </a:rPr>
              <a:t>NEFT TEACHER</a:t>
            </a:r>
            <a:endParaRPr lang="en-US" sz="850" dirty="0"/>
          </a:p>
        </p:txBody>
      </p:sp>
      <p:sp>
        <p:nvSpPr>
          <p:cNvPr id="4" name="Text 2"/>
          <p:cNvSpPr/>
          <p:nvPr/>
        </p:nvSpPr>
        <p:spPr>
          <a:xfrm>
            <a:off x="1737360" y="0"/>
            <a:ext cx="5120640" cy="475488"/>
          </a:xfrm>
          <a:prstGeom prst="rect">
            <a:avLst/>
          </a:prstGeom>
          <a:noFill/>
          <a:ln/>
        </p:spPr>
        <p:txBody>
          <a:bodyPr wrap="square" rtlCol="0" anchor="ctr"/>
          <a:lstStyle/>
          <a:p>
            <a:pPr indent="0" marL="0">
              <a:buNone/>
            </a:pPr>
            <a:r>
              <a:rPr lang="en-US" sz="1500" b="1" dirty="0">
                <a:solidFill>
                  <a:srgbClr val="FFFFFF"/>
                </a:solidFill>
                <a:latin typeface="Outfit" pitchFamily="34" charset="0"/>
                <a:ea typeface="Outfit" pitchFamily="34" charset="-122"/>
                <a:cs typeface="Outfit" pitchFamily="34" charset="-120"/>
              </a:rPr>
              <a:t>Guided Practice / Práctica Guiada</a:t>
            </a:r>
            <a:endParaRPr lang="en-US" sz="1500" dirty="0"/>
          </a:p>
        </p:txBody>
      </p:sp>
      <p:sp>
        <p:nvSpPr>
          <p:cNvPr id="5" name="Text 3"/>
          <p:cNvSpPr/>
          <p:nvPr/>
        </p:nvSpPr>
        <p:spPr>
          <a:xfrm>
            <a:off x="7360920" y="100584"/>
            <a:ext cx="914400" cy="274320"/>
          </a:xfrm>
          <a:prstGeom prst="rect">
            <a:avLst>
              <a:gd name="adj" fmla="val 50000"/>
            </a:avLst>
          </a:prstGeom>
          <a:solidFill>
            <a:srgbClr val="1FA6A2"/>
          </a:solidFill>
          <a:ln/>
        </p:spPr>
        <p:txBody>
          <a:bodyPr wrap="square" rtlCol="0" anchor="ctr"/>
          <a:lstStyle/>
          <a:p>
            <a:pPr algn="ctr" indent="0" marL="0">
              <a:buNone/>
            </a:pPr>
            <a:r>
              <a:rPr lang="en-US" sz="900" b="1" dirty="0">
                <a:solidFill>
                  <a:srgbClr val="FFFFFF"/>
                </a:solidFill>
                <a:latin typeface="Outfit" pitchFamily="34" charset="0"/>
                <a:ea typeface="Outfit" pitchFamily="34" charset="-122"/>
                <a:cs typeface="Outfit" pitchFamily="34" charset="-120"/>
              </a:rPr>
              <a:t>6.NS.4</a:t>
            </a:r>
            <a:endParaRPr lang="en-US" sz="900" dirty="0"/>
          </a:p>
        </p:txBody>
      </p:sp>
      <p:sp>
        <p:nvSpPr>
          <p:cNvPr id="6" name="Shape 4"/>
          <p:cNvSpPr/>
          <p:nvPr/>
        </p:nvSpPr>
        <p:spPr>
          <a:xfrm>
            <a:off x="73152" y="685800"/>
            <a:ext cx="109728" cy="109728"/>
          </a:xfrm>
          <a:prstGeom prst="ellipse">
            <a:avLst/>
          </a:prstGeom>
          <a:solidFill>
            <a:srgbClr val="CBD3D9"/>
          </a:solidFill>
          <a:ln/>
        </p:spPr>
      </p:sp>
      <p:sp>
        <p:nvSpPr>
          <p:cNvPr id="7" name="Shape 5"/>
          <p:cNvSpPr/>
          <p:nvPr/>
        </p:nvSpPr>
        <p:spPr>
          <a:xfrm>
            <a:off x="73152" y="1161288"/>
            <a:ext cx="109728" cy="109728"/>
          </a:xfrm>
          <a:prstGeom prst="ellipse">
            <a:avLst/>
          </a:prstGeom>
          <a:solidFill>
            <a:srgbClr val="CBD3D9"/>
          </a:solidFill>
          <a:ln/>
        </p:spPr>
      </p:sp>
      <p:sp>
        <p:nvSpPr>
          <p:cNvPr id="8" name="Shape 6"/>
          <p:cNvSpPr/>
          <p:nvPr/>
        </p:nvSpPr>
        <p:spPr>
          <a:xfrm>
            <a:off x="73152" y="1636776"/>
            <a:ext cx="109728" cy="109728"/>
          </a:xfrm>
          <a:prstGeom prst="ellipse">
            <a:avLst/>
          </a:prstGeom>
          <a:solidFill>
            <a:srgbClr val="CBD3D9"/>
          </a:solidFill>
          <a:ln/>
        </p:spPr>
      </p:sp>
      <p:sp>
        <p:nvSpPr>
          <p:cNvPr id="9" name="Shape 7"/>
          <p:cNvSpPr/>
          <p:nvPr/>
        </p:nvSpPr>
        <p:spPr>
          <a:xfrm>
            <a:off x="73152" y="2112264"/>
            <a:ext cx="109728" cy="109728"/>
          </a:xfrm>
          <a:prstGeom prst="ellipse">
            <a:avLst/>
          </a:prstGeom>
          <a:solidFill>
            <a:srgbClr val="CBD3D9"/>
          </a:solidFill>
          <a:ln/>
        </p:spPr>
      </p:sp>
      <p:sp>
        <p:nvSpPr>
          <p:cNvPr id="10" name="Shape 8"/>
          <p:cNvSpPr/>
          <p:nvPr/>
        </p:nvSpPr>
        <p:spPr>
          <a:xfrm>
            <a:off x="73152" y="2587752"/>
            <a:ext cx="109728" cy="109728"/>
          </a:xfrm>
          <a:prstGeom prst="ellipse">
            <a:avLst/>
          </a:prstGeom>
          <a:solidFill>
            <a:srgbClr val="CBD3D9"/>
          </a:solidFill>
          <a:ln/>
        </p:spPr>
      </p:sp>
      <p:sp>
        <p:nvSpPr>
          <p:cNvPr id="11" name="Shape 9"/>
          <p:cNvSpPr/>
          <p:nvPr/>
        </p:nvSpPr>
        <p:spPr>
          <a:xfrm>
            <a:off x="73152" y="3063240"/>
            <a:ext cx="109728" cy="109728"/>
          </a:xfrm>
          <a:prstGeom prst="ellipse">
            <a:avLst/>
          </a:prstGeom>
          <a:solidFill>
            <a:srgbClr val="CBD3D9"/>
          </a:solidFill>
          <a:ln/>
        </p:spPr>
      </p:sp>
      <p:sp>
        <p:nvSpPr>
          <p:cNvPr id="12" name="Shape 10"/>
          <p:cNvSpPr/>
          <p:nvPr/>
        </p:nvSpPr>
        <p:spPr>
          <a:xfrm>
            <a:off x="73152" y="3538728"/>
            <a:ext cx="109728" cy="109728"/>
          </a:xfrm>
          <a:prstGeom prst="ellipse">
            <a:avLst/>
          </a:prstGeom>
          <a:solidFill>
            <a:srgbClr val="CBD3D9"/>
          </a:solidFill>
          <a:ln/>
        </p:spPr>
      </p:sp>
      <p:sp>
        <p:nvSpPr>
          <p:cNvPr id="13" name="Shape 11"/>
          <p:cNvSpPr/>
          <p:nvPr/>
        </p:nvSpPr>
        <p:spPr>
          <a:xfrm>
            <a:off x="73152" y="4014216"/>
            <a:ext cx="109728" cy="109728"/>
          </a:xfrm>
          <a:prstGeom prst="ellipse">
            <a:avLst/>
          </a:prstGeom>
          <a:solidFill>
            <a:srgbClr val="CBD3D9"/>
          </a:solidFill>
          <a:ln/>
        </p:spPr>
      </p:sp>
      <p:sp>
        <p:nvSpPr>
          <p:cNvPr id="14" name="Shape 12"/>
          <p:cNvSpPr/>
          <p:nvPr/>
        </p:nvSpPr>
        <p:spPr>
          <a:xfrm>
            <a:off x="73152" y="4489704"/>
            <a:ext cx="109728" cy="109728"/>
          </a:xfrm>
          <a:prstGeom prst="ellipse">
            <a:avLst/>
          </a:prstGeom>
          <a:solidFill>
            <a:srgbClr val="CBD3D9"/>
          </a:solidFill>
          <a:ln/>
        </p:spPr>
      </p:sp>
      <p:sp>
        <p:nvSpPr>
          <p:cNvPr id="15" name="Text 13"/>
          <p:cNvSpPr/>
          <p:nvPr/>
        </p:nvSpPr>
        <p:spPr>
          <a:xfrm>
            <a:off x="274320" y="4850892"/>
            <a:ext cx="6400800" cy="256032"/>
          </a:xfrm>
          <a:prstGeom prst="rect">
            <a:avLst/>
          </a:prstGeom>
          <a:noFill/>
          <a:ln/>
        </p:spPr>
        <p:txBody>
          <a:bodyPr wrap="square" rtlCol="0" anchor="ctr"/>
          <a:lstStyle/>
          <a:p>
            <a:pPr indent="0" marL="0">
              <a:buNone/>
            </a:pPr>
            <a:r>
              <a:rPr lang="en-US" sz="750" dirty="0">
                <a:solidFill>
                  <a:srgbClr val="8A96A3"/>
                </a:solidFill>
                <a:latin typeface="Hanken Grotesk" pitchFamily="34" charset="0"/>
                <a:ea typeface="Hanken Grotesk" pitchFamily="34" charset="-122"/>
                <a:cs typeface="Hanken Grotesk" pitchFamily="34" charset="-120"/>
              </a:rPr>
              <a:t>Reveal Math Grade 6  ·  Unit 1  ·  Lesson 1-1-flagship</a:t>
            </a:r>
            <a:endParaRPr lang="en-US" sz="750" dirty="0"/>
          </a:p>
        </p:txBody>
      </p:sp>
      <p:sp>
        <p:nvSpPr>
          <p:cNvPr id="16" name="Text 14"/>
          <p:cNvSpPr/>
          <p:nvPr/>
        </p:nvSpPr>
        <p:spPr>
          <a:xfrm>
            <a:off x="8412480" y="4850892"/>
            <a:ext cx="457200" cy="256032"/>
          </a:xfrm>
          <a:prstGeom prst="rect">
            <a:avLst/>
          </a:prstGeom>
          <a:noFill/>
          <a:ln/>
        </p:spPr>
        <p:txBody>
          <a:bodyPr wrap="square" rtlCol="0" anchor="ctr"/>
          <a:lstStyle/>
          <a:p>
            <a:pPr algn="r" indent="0" marL="0">
              <a:buNone/>
            </a:pPr>
            <a:r>
              <a:rPr lang="en-US" sz="800" b="1" dirty="0">
                <a:solidFill>
                  <a:srgbClr val="8A96A3"/>
                </a:solidFill>
                <a:latin typeface="Outfit" pitchFamily="34" charset="0"/>
                <a:ea typeface="Outfit" pitchFamily="34" charset="-122"/>
                <a:cs typeface="Outfit" pitchFamily="34" charset="-120"/>
              </a:rPr>
              <a:t>4</a:t>
            </a:r>
            <a:endParaRPr lang="en-US" sz="800" dirty="0"/>
          </a:p>
        </p:txBody>
      </p:sp>
      <p:sp>
        <p:nvSpPr>
          <p:cNvPr id="17" name="Shape 15"/>
          <p:cNvSpPr/>
          <p:nvPr/>
        </p:nvSpPr>
        <p:spPr>
          <a:xfrm>
            <a:off x="411480" y="685800"/>
            <a:ext cx="5486400" cy="4023360"/>
          </a:xfrm>
          <a:prstGeom prst="roundRect">
            <a:avLst>
              <a:gd name="adj" fmla="val 1818"/>
            </a:avLst>
          </a:prstGeom>
          <a:solidFill>
            <a:srgbClr val="FFFFFF"/>
          </a:solidFill>
          <a:ln w="12700">
            <a:solidFill>
              <a:srgbClr val="D6DBDF"/>
            </a:solidFill>
            <a:prstDash val="solid"/>
          </a:ln>
          <a:effectLst>
            <a:outerShdw sx="100000" sy="100000" kx="0" ky="0" algn="bl" rotWithShape="0" blurRad="50800" dist="12700" dir="5400000">
              <a:srgbClr val="1C2E42">
                <a:alpha val="10000"/>
              </a:srgbClr>
            </a:outerShdw>
          </a:effectLst>
        </p:spPr>
      </p:sp>
      <p:sp>
        <p:nvSpPr>
          <p:cNvPr id="18" name="Text 16"/>
          <p:cNvSpPr/>
          <p:nvPr/>
        </p:nvSpPr>
        <p:spPr>
          <a:xfrm>
            <a:off x="594360" y="841248"/>
            <a:ext cx="1737360" cy="274320"/>
          </a:xfrm>
          <a:prstGeom prst="rect">
            <a:avLst>
              <a:gd name="adj" fmla="val 50000"/>
            </a:avLst>
          </a:prstGeom>
          <a:solidFill>
            <a:srgbClr val="1FA6A2"/>
          </a:solidFill>
          <a:ln/>
        </p:spPr>
        <p:txBody>
          <a:bodyPr wrap="square" rtlCol="0" anchor="ctr"/>
          <a:lstStyle/>
          <a:p>
            <a:pPr algn="ctr" indent="0" marL="0">
              <a:buNone/>
            </a:pPr>
            <a:r>
              <a:rPr lang="en-US" sz="900" b="1" dirty="0">
                <a:solidFill>
                  <a:srgbClr val="FFFFFF"/>
                </a:solidFill>
                <a:latin typeface="Outfit" pitchFamily="34" charset="0"/>
                <a:ea typeface="Outfit" pitchFamily="34" charset="-122"/>
                <a:cs typeface="Outfit" pitchFamily="34" charset="-120"/>
              </a:rPr>
              <a:t>👩‍🏫 WE DO TOGETHER</a:t>
            </a:r>
            <a:endParaRPr lang="en-US" sz="900" dirty="0"/>
          </a:p>
        </p:txBody>
      </p:sp>
      <p:sp>
        <p:nvSpPr>
          <p:cNvPr id="19" name="Text 17"/>
          <p:cNvSpPr/>
          <p:nvPr/>
        </p:nvSpPr>
        <p:spPr>
          <a:xfrm>
            <a:off x="594360" y="1188720"/>
            <a:ext cx="5120640" cy="274320"/>
          </a:xfrm>
          <a:prstGeom prst="rect">
            <a:avLst/>
          </a:prstGeom>
          <a:noFill/>
          <a:ln/>
        </p:spPr>
        <p:txBody>
          <a:bodyPr wrap="square" rtlCol="0" anchor="ctr"/>
          <a:lstStyle/>
          <a:p>
            <a:pPr indent="0" marL="0">
              <a:buNone/>
            </a:pPr>
            <a:r>
              <a:rPr lang="en-US" sz="1200" b="1" dirty="0">
                <a:solidFill>
                  <a:srgbClr val="17324D"/>
                </a:solidFill>
                <a:latin typeface="Outfit" pitchFamily="34" charset="0"/>
                <a:ea typeface="Outfit" pitchFamily="34" charset="-122"/>
                <a:cs typeface="Outfit" pitchFamily="34" charset="-120"/>
              </a:rPr>
              <a:t>What is prime factorization?</a:t>
            </a:r>
            <a:endParaRPr lang="en-US" sz="1200" dirty="0"/>
          </a:p>
        </p:txBody>
      </p:sp>
      <p:sp>
        <p:nvSpPr>
          <p:cNvPr id="20" name="Shape 18"/>
          <p:cNvSpPr/>
          <p:nvPr/>
        </p:nvSpPr>
        <p:spPr>
          <a:xfrm>
            <a:off x="640080" y="1609344"/>
            <a:ext cx="274320" cy="274320"/>
          </a:xfrm>
          <a:prstGeom prst="ellipse">
            <a:avLst/>
          </a:prstGeom>
          <a:solidFill>
            <a:srgbClr val="1FA6A2"/>
          </a:solidFill>
          <a:ln/>
        </p:spPr>
      </p:sp>
      <p:sp>
        <p:nvSpPr>
          <p:cNvPr id="21" name="Text 19"/>
          <p:cNvSpPr/>
          <p:nvPr/>
        </p:nvSpPr>
        <p:spPr>
          <a:xfrm>
            <a:off x="640080" y="1609344"/>
            <a:ext cx="274320" cy="274320"/>
          </a:xfrm>
          <a:prstGeom prst="rect">
            <a:avLst/>
          </a:prstGeom>
          <a:noFill/>
          <a:ln/>
        </p:spPr>
        <p:txBody>
          <a:bodyPr wrap="square" rtlCol="0" anchor="ctr"/>
          <a:lstStyle/>
          <a:p>
            <a:pPr algn="ctr" indent="0" marL="0">
              <a:buNone/>
            </a:pPr>
            <a:r>
              <a:rPr lang="en-US" sz="1100" b="1" dirty="0">
                <a:solidFill>
                  <a:srgbClr val="FFFFFF"/>
                </a:solidFill>
                <a:latin typeface="Outfit" pitchFamily="34" charset="0"/>
                <a:ea typeface="Outfit" pitchFamily="34" charset="-122"/>
                <a:cs typeface="Outfit" pitchFamily="34" charset="-120"/>
              </a:rPr>
              <a:t>1</a:t>
            </a:r>
            <a:endParaRPr lang="en-US" sz="1100" dirty="0"/>
          </a:p>
        </p:txBody>
      </p:sp>
      <p:sp>
        <p:nvSpPr>
          <p:cNvPr id="22" name="Text 20"/>
          <p:cNvSpPr/>
          <p:nvPr/>
        </p:nvSpPr>
        <p:spPr>
          <a:xfrm>
            <a:off x="1024128" y="1554480"/>
            <a:ext cx="4828032" cy="420624"/>
          </a:xfrm>
          <a:prstGeom prst="rect">
            <a:avLst/>
          </a:prstGeom>
          <a:noFill/>
          <a:ln/>
        </p:spPr>
        <p:txBody>
          <a:bodyPr wrap="square" rtlCol="0" anchor="ctr"/>
          <a:lstStyle/>
          <a:p>
            <a:pPr indent="0" marL="0">
              <a:buNone/>
            </a:pPr>
            <a:r>
              <a:rPr lang="en-US" sz="1050" dirty="0">
                <a:solidFill>
                  <a:srgbClr val="24323F"/>
                </a:solidFill>
                <a:latin typeface="Hanken Grotesk" pitchFamily="34" charset="0"/>
                <a:ea typeface="Hanken Grotesk" pitchFamily="34" charset="-122"/>
                <a:cs typeface="Hanken Grotesk" pitchFamily="34" charset="-120"/>
              </a:rPr>
              <a:t>Let's factor 12 together. What is one way to split 12 into two factors? (You might say 3 × 4.)</a:t>
            </a:r>
            <a:endParaRPr lang="en-US" sz="1050" dirty="0"/>
          </a:p>
        </p:txBody>
      </p:sp>
      <p:sp>
        <p:nvSpPr>
          <p:cNvPr id="23" name="Shape 21"/>
          <p:cNvSpPr/>
          <p:nvPr/>
        </p:nvSpPr>
        <p:spPr>
          <a:xfrm>
            <a:off x="640080" y="2084832"/>
            <a:ext cx="274320" cy="274320"/>
          </a:xfrm>
          <a:prstGeom prst="ellipse">
            <a:avLst/>
          </a:prstGeom>
          <a:solidFill>
            <a:srgbClr val="1FA6A2"/>
          </a:solidFill>
          <a:ln/>
        </p:spPr>
      </p:sp>
      <p:sp>
        <p:nvSpPr>
          <p:cNvPr id="24" name="Text 22"/>
          <p:cNvSpPr/>
          <p:nvPr/>
        </p:nvSpPr>
        <p:spPr>
          <a:xfrm>
            <a:off x="640080" y="2084832"/>
            <a:ext cx="274320" cy="274320"/>
          </a:xfrm>
          <a:prstGeom prst="rect">
            <a:avLst/>
          </a:prstGeom>
          <a:noFill/>
          <a:ln/>
        </p:spPr>
        <p:txBody>
          <a:bodyPr wrap="square" rtlCol="0" anchor="ctr"/>
          <a:lstStyle/>
          <a:p>
            <a:pPr algn="ctr" indent="0" marL="0">
              <a:buNone/>
            </a:pPr>
            <a:r>
              <a:rPr lang="en-US" sz="1100" b="1" dirty="0">
                <a:solidFill>
                  <a:srgbClr val="FFFFFF"/>
                </a:solidFill>
                <a:latin typeface="Outfit" pitchFamily="34" charset="0"/>
                <a:ea typeface="Outfit" pitchFamily="34" charset="-122"/>
                <a:cs typeface="Outfit" pitchFamily="34" charset="-120"/>
              </a:rPr>
              <a:t>2</a:t>
            </a:r>
            <a:endParaRPr lang="en-US" sz="1100" dirty="0"/>
          </a:p>
        </p:txBody>
      </p:sp>
      <p:sp>
        <p:nvSpPr>
          <p:cNvPr id="25" name="Text 23"/>
          <p:cNvSpPr/>
          <p:nvPr/>
        </p:nvSpPr>
        <p:spPr>
          <a:xfrm>
            <a:off x="1024128" y="2029968"/>
            <a:ext cx="4828032" cy="420624"/>
          </a:xfrm>
          <a:prstGeom prst="rect">
            <a:avLst/>
          </a:prstGeom>
          <a:noFill/>
          <a:ln/>
        </p:spPr>
        <p:txBody>
          <a:bodyPr wrap="square" rtlCol="0" anchor="ctr"/>
          <a:lstStyle/>
          <a:p>
            <a:pPr indent="0" marL="0">
              <a:buNone/>
            </a:pPr>
            <a:r>
              <a:rPr lang="en-US" sz="1050" dirty="0">
                <a:solidFill>
                  <a:srgbClr val="24323F"/>
                </a:solidFill>
                <a:latin typeface="Hanken Grotesk" pitchFamily="34" charset="0"/>
                <a:ea typeface="Hanken Grotesk" pitchFamily="34" charset="-122"/>
                <a:cs typeface="Hanken Grotesk" pitchFamily="34" charset="-120"/>
              </a:rPr>
              <a:t>Is 3 prime? Yes, so we keep it. Is 4 prime? No — what is 4 split apart? (4 = 2 × 2.)</a:t>
            </a:r>
            <a:endParaRPr lang="en-US" sz="1050" dirty="0"/>
          </a:p>
        </p:txBody>
      </p:sp>
      <p:sp>
        <p:nvSpPr>
          <p:cNvPr id="26" name="Shape 24"/>
          <p:cNvSpPr/>
          <p:nvPr/>
        </p:nvSpPr>
        <p:spPr>
          <a:xfrm>
            <a:off x="640080" y="2560320"/>
            <a:ext cx="274320" cy="274320"/>
          </a:xfrm>
          <a:prstGeom prst="ellipse">
            <a:avLst/>
          </a:prstGeom>
          <a:solidFill>
            <a:srgbClr val="1FA6A2"/>
          </a:solidFill>
          <a:ln/>
        </p:spPr>
      </p:sp>
      <p:sp>
        <p:nvSpPr>
          <p:cNvPr id="27" name="Text 25"/>
          <p:cNvSpPr/>
          <p:nvPr/>
        </p:nvSpPr>
        <p:spPr>
          <a:xfrm>
            <a:off x="640080" y="2560320"/>
            <a:ext cx="274320" cy="274320"/>
          </a:xfrm>
          <a:prstGeom prst="rect">
            <a:avLst/>
          </a:prstGeom>
          <a:noFill/>
          <a:ln/>
        </p:spPr>
        <p:txBody>
          <a:bodyPr wrap="square" rtlCol="0" anchor="ctr"/>
          <a:lstStyle/>
          <a:p>
            <a:pPr algn="ctr" indent="0" marL="0">
              <a:buNone/>
            </a:pPr>
            <a:r>
              <a:rPr lang="en-US" sz="1100" b="1" dirty="0">
                <a:solidFill>
                  <a:srgbClr val="FFFFFF"/>
                </a:solidFill>
                <a:latin typeface="Outfit" pitchFamily="34" charset="0"/>
                <a:ea typeface="Outfit" pitchFamily="34" charset="-122"/>
                <a:cs typeface="Outfit" pitchFamily="34" charset="-120"/>
              </a:rPr>
              <a:t>3</a:t>
            </a:r>
            <a:endParaRPr lang="en-US" sz="1100" dirty="0"/>
          </a:p>
        </p:txBody>
      </p:sp>
      <p:sp>
        <p:nvSpPr>
          <p:cNvPr id="28" name="Text 26"/>
          <p:cNvSpPr/>
          <p:nvPr/>
        </p:nvSpPr>
        <p:spPr>
          <a:xfrm>
            <a:off x="1024128" y="2505456"/>
            <a:ext cx="4828032" cy="420624"/>
          </a:xfrm>
          <a:prstGeom prst="rect">
            <a:avLst/>
          </a:prstGeom>
          <a:noFill/>
          <a:ln/>
        </p:spPr>
        <p:txBody>
          <a:bodyPr wrap="square" rtlCol="0" anchor="ctr"/>
          <a:lstStyle/>
          <a:p>
            <a:pPr indent="0" marL="0">
              <a:buNone/>
            </a:pPr>
            <a:r>
              <a:rPr lang="en-US" sz="1050" dirty="0">
                <a:solidFill>
                  <a:srgbClr val="24323F"/>
                </a:solidFill>
                <a:latin typeface="Hanken Grotesk" pitchFamily="34" charset="0"/>
                <a:ea typeface="Hanken Grotesk" pitchFamily="34" charset="-122"/>
                <a:cs typeface="Hanken Grotesk" pitchFamily="34" charset="-120"/>
              </a:rPr>
              <a:t>So put the prime factors together: 12 = 2 × 2 × 3. Every factor is prime, so we are done.</a:t>
            </a:r>
            <a:endParaRPr lang="en-US" sz="1050" dirty="0"/>
          </a:p>
        </p:txBody>
      </p:sp>
      <p:sp>
        <p:nvSpPr>
          <p:cNvPr id="29" name="Text 27"/>
          <p:cNvSpPr/>
          <p:nvPr/>
        </p:nvSpPr>
        <p:spPr>
          <a:xfrm>
            <a:off x="594360" y="3886200"/>
            <a:ext cx="5120640" cy="228600"/>
          </a:xfrm>
          <a:prstGeom prst="rect">
            <a:avLst/>
          </a:prstGeom>
          <a:noFill/>
          <a:ln/>
        </p:spPr>
        <p:txBody>
          <a:bodyPr wrap="square" rtlCol="0" anchor="ctr"/>
          <a:lstStyle/>
          <a:p>
            <a:pPr indent="0" marL="0">
              <a:buNone/>
            </a:pPr>
            <a:r>
              <a:rPr lang="en-US" sz="900" i="1" dirty="0">
                <a:solidFill>
                  <a:srgbClr val="8A96A3"/>
                </a:solidFill>
                <a:latin typeface="Hanken Grotesk" pitchFamily="34" charset="0"/>
                <a:ea typeface="Hanken Grotesk" pitchFamily="34" charset="-122"/>
                <a:cs typeface="Hanken Grotesk" pitchFamily="34" charset="-120"/>
              </a:rPr>
              <a:t>Your turn — show your work:</a:t>
            </a:r>
            <a:endParaRPr lang="en-US" sz="900" dirty="0"/>
          </a:p>
        </p:txBody>
      </p:sp>
      <p:sp>
        <p:nvSpPr>
          <p:cNvPr id="30" name="Shape 28"/>
          <p:cNvSpPr/>
          <p:nvPr/>
        </p:nvSpPr>
        <p:spPr>
          <a:xfrm>
            <a:off x="640080" y="4297680"/>
            <a:ext cx="5120640" cy="0"/>
          </a:xfrm>
          <a:prstGeom prst="line">
            <a:avLst/>
          </a:prstGeom>
          <a:noFill/>
          <a:ln w="9525">
            <a:solidFill>
              <a:srgbClr val="C7CDD2"/>
            </a:solidFill>
            <a:prstDash val="dash"/>
          </a:ln>
        </p:spPr>
      </p:sp>
      <p:sp>
        <p:nvSpPr>
          <p:cNvPr id="31" name="Shape 29"/>
          <p:cNvSpPr/>
          <p:nvPr/>
        </p:nvSpPr>
        <p:spPr>
          <a:xfrm>
            <a:off x="6035040" y="685800"/>
            <a:ext cx="2788920" cy="4023360"/>
          </a:xfrm>
          <a:prstGeom prst="roundRect">
            <a:avLst>
              <a:gd name="adj" fmla="val 2623"/>
            </a:avLst>
          </a:prstGeom>
          <a:solidFill>
            <a:srgbClr val="DFF2EE"/>
          </a:solidFill>
          <a:ln w="12700">
            <a:solidFill>
              <a:srgbClr val="1FA6A2"/>
            </a:solidFill>
            <a:prstDash val="solid"/>
          </a:ln>
          <a:effectLst>
            <a:outerShdw sx="100000" sy="100000" kx="0" ky="0" algn="bl" rotWithShape="0" blurRad="50800" dist="12700" dir="5400000">
              <a:srgbClr val="1C2E42">
                <a:alpha val="10000"/>
              </a:srgbClr>
            </a:outerShdw>
          </a:effectLst>
        </p:spPr>
      </p:sp>
      <p:sp>
        <p:nvSpPr>
          <p:cNvPr id="32" name="Text 30"/>
          <p:cNvSpPr/>
          <p:nvPr/>
        </p:nvSpPr>
        <p:spPr>
          <a:xfrm>
            <a:off x="6035040" y="685800"/>
            <a:ext cx="2788920" cy="274320"/>
          </a:xfrm>
          <a:prstGeom prst="rect">
            <a:avLst/>
          </a:prstGeom>
          <a:solidFill>
            <a:srgbClr val="1FA6A2"/>
          </a:solidFill>
          <a:ln/>
        </p:spPr>
        <p:txBody>
          <a:bodyPr wrap="square" rtlCol="0" anchor="ctr"/>
          <a:lstStyle/>
          <a:p>
            <a:pPr algn="ctr" indent="0" marL="0">
              <a:buNone/>
            </a:pPr>
            <a:r>
              <a:rPr lang="en-US" sz="1000" b="1" dirty="0">
                <a:solidFill>
                  <a:srgbClr val="FFFFFF"/>
                </a:solidFill>
                <a:latin typeface="Outfit" pitchFamily="34" charset="0"/>
                <a:ea typeface="Outfit" pitchFamily="34" charset="-122"/>
                <a:cs typeface="Outfit" pitchFamily="34" charset="-120"/>
              </a:rPr>
              <a:t>💬 Talk It Over</a:t>
            </a:r>
            <a:endParaRPr lang="en-US" sz="1000" dirty="0"/>
          </a:p>
        </p:txBody>
      </p:sp>
      <p:sp>
        <p:nvSpPr>
          <p:cNvPr id="33" name="Text 31"/>
          <p:cNvSpPr/>
          <p:nvPr/>
        </p:nvSpPr>
        <p:spPr>
          <a:xfrm>
            <a:off x="6217920" y="1097280"/>
            <a:ext cx="2468880" cy="1463040"/>
          </a:xfrm>
          <a:prstGeom prst="rect">
            <a:avLst/>
          </a:prstGeom>
          <a:noFill/>
          <a:ln/>
        </p:spPr>
        <p:txBody>
          <a:bodyPr wrap="square" rtlCol="0" anchor="t"/>
          <a:lstStyle/>
          <a:p>
            <a:pPr indent="0" marL="0">
              <a:buNone/>
            </a:pPr>
            <a:r>
              <a:rPr lang="en-US" sz="1000" dirty="0">
                <a:solidFill>
                  <a:srgbClr val="17324D"/>
                </a:solidFill>
                <a:latin typeface="Hanken Grotesk" pitchFamily="34" charset="0"/>
                <a:ea typeface="Hanken Grotesk" pitchFamily="34" charset="-122"/>
                <a:cs typeface="Hanken Grotesk" pitchFamily="34" charset="-120"/>
              </a:rPr>
              <a:t>The freighter docks with 48 cargo containers, and each storage pod only holds groups built from prime-numbered units. Is 48 prime or composite, and how can you tell before building a factor tree?</a:t>
            </a:r>
            <a:endParaRPr lang="en-US" sz="1000" dirty="0"/>
          </a:p>
        </p:txBody>
      </p:sp>
      <p:sp>
        <p:nvSpPr>
          <p:cNvPr id="34" name="Shape 32"/>
          <p:cNvSpPr/>
          <p:nvPr/>
        </p:nvSpPr>
        <p:spPr>
          <a:xfrm>
            <a:off x="6172200" y="2743200"/>
            <a:ext cx="2514600" cy="1828800"/>
          </a:xfrm>
          <a:prstGeom prst="roundRect">
            <a:avLst>
              <a:gd name="adj" fmla="val 4000"/>
            </a:avLst>
          </a:prstGeom>
          <a:solidFill>
            <a:srgbClr val="FFFFFF"/>
          </a:solidFill>
          <a:ln w="12700">
            <a:solidFill>
              <a:srgbClr val="D6DBDF"/>
            </a:solidFill>
            <a:prstDash val="solid"/>
          </a:ln>
          <a:effectLst>
            <a:outerShdw sx="100000" sy="100000" kx="0" ky="0" algn="bl" rotWithShape="0" blurRad="50800" dist="12700" dir="5400000">
              <a:srgbClr val="1C2E42">
                <a:alpha val="10000"/>
              </a:srgbClr>
            </a:outerShdw>
          </a:effectLst>
        </p:spPr>
      </p:sp>
      <p:sp>
        <p:nvSpPr>
          <p:cNvPr id="35" name="Text 33"/>
          <p:cNvSpPr/>
          <p:nvPr/>
        </p:nvSpPr>
        <p:spPr>
          <a:xfrm>
            <a:off x="6309360" y="2834640"/>
            <a:ext cx="2286000" cy="228600"/>
          </a:xfrm>
          <a:prstGeom prst="rect">
            <a:avLst/>
          </a:prstGeom>
          <a:noFill/>
          <a:ln/>
        </p:spPr>
        <p:txBody>
          <a:bodyPr wrap="square" rtlCol="0" anchor="ctr"/>
          <a:lstStyle/>
          <a:p>
            <a:pPr indent="0" marL="0">
              <a:buNone/>
            </a:pPr>
            <a:r>
              <a:rPr lang="en-US" sz="950" b="1" dirty="0">
                <a:solidFill>
                  <a:srgbClr val="1FA6A2"/>
                </a:solidFill>
                <a:latin typeface="Outfit" pitchFamily="34" charset="0"/>
                <a:ea typeface="Outfit" pitchFamily="34" charset="-122"/>
                <a:cs typeface="Outfit" pitchFamily="34" charset="-120"/>
              </a:rPr>
              <a:t>🔑 Key Idea</a:t>
            </a:r>
            <a:endParaRPr lang="en-US" sz="950" dirty="0"/>
          </a:p>
        </p:txBody>
      </p:sp>
      <p:sp>
        <p:nvSpPr>
          <p:cNvPr id="36" name="Text 34"/>
          <p:cNvSpPr/>
          <p:nvPr/>
        </p:nvSpPr>
        <p:spPr>
          <a:xfrm>
            <a:off x="6309360" y="3108960"/>
            <a:ext cx="2286000" cy="1371600"/>
          </a:xfrm>
          <a:prstGeom prst="rect">
            <a:avLst/>
          </a:prstGeom>
          <a:noFill/>
          <a:ln/>
        </p:spPr>
        <p:txBody>
          <a:bodyPr wrap="square" rtlCol="0" anchor="t"/>
          <a:lstStyle/>
          <a:p>
            <a:pPr indent="0" marL="0">
              <a:buNone/>
            </a:pPr>
            <a:r>
              <a:rPr lang="en-US" sz="950" dirty="0">
                <a:solidFill>
                  <a:srgbClr val="24323F"/>
                </a:solidFill>
                <a:latin typeface="Hanken Grotesk" pitchFamily="34" charset="0"/>
                <a:ea typeface="Hanken Grotesk" pitchFamily="34" charset="-122"/>
                <a:cs typeface="Hanken Grotesk" pitchFamily="34" charset="-120"/>
              </a:rPr>
              <a:t>Keep breaking a number apart until every factor is a prime number you cannot split anymore.</a:t>
            </a:r>
            <a:endParaRPr lang="en-US" sz="9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7F4EC"/>
        </a:solidFill>
      </p:bgPr>
    </p:bg>
    <p:spTree>
      <p:nvGrpSpPr>
        <p:cNvPr id="1" name=""/>
        <p:cNvGrpSpPr/>
        <p:nvPr/>
      </p:nvGrpSpPr>
      <p:grpSpPr>
        <a:xfrm>
          <a:off x="0" y="0"/>
          <a:ext cx="0" cy="0"/>
          <a:chOff x="0" y="0"/>
          <a:chExt cx="0" cy="0"/>
        </a:xfrm>
      </p:grpSpPr>
      <p:sp>
        <p:nvSpPr>
          <p:cNvPr id="2" name="Shape 0"/>
          <p:cNvSpPr/>
          <p:nvPr/>
        </p:nvSpPr>
        <p:spPr>
          <a:xfrm>
            <a:off x="0" y="0"/>
            <a:ext cx="9144000" cy="475488"/>
          </a:xfrm>
          <a:prstGeom prst="rect">
            <a:avLst/>
          </a:prstGeom>
          <a:solidFill>
            <a:srgbClr val="17324D"/>
          </a:solidFill>
          <a:ln/>
        </p:spPr>
      </p:sp>
      <p:sp>
        <p:nvSpPr>
          <p:cNvPr id="3" name="Text 1"/>
          <p:cNvSpPr/>
          <p:nvPr/>
        </p:nvSpPr>
        <p:spPr>
          <a:xfrm>
            <a:off x="274320" y="0"/>
            <a:ext cx="2194560" cy="475488"/>
          </a:xfrm>
          <a:prstGeom prst="rect">
            <a:avLst/>
          </a:prstGeom>
          <a:noFill/>
          <a:ln/>
        </p:spPr>
        <p:txBody>
          <a:bodyPr wrap="square" rtlCol="0" anchor="ctr"/>
          <a:lstStyle/>
          <a:p>
            <a:pPr indent="0" marL="0">
              <a:buNone/>
            </a:pPr>
            <a:r>
              <a:rPr lang="en-US" sz="850" b="1" spc="100" kern="0" dirty="0">
                <a:solidFill>
                  <a:srgbClr val="BFE6E2"/>
                </a:solidFill>
                <a:latin typeface="Outfit" pitchFamily="34" charset="0"/>
                <a:ea typeface="Outfit" pitchFamily="34" charset="-122"/>
                <a:cs typeface="Outfit" pitchFamily="34" charset="-120"/>
              </a:rPr>
              <a:t>NEFT TEACHER</a:t>
            </a:r>
            <a:endParaRPr lang="en-US" sz="850" dirty="0"/>
          </a:p>
        </p:txBody>
      </p:sp>
      <p:sp>
        <p:nvSpPr>
          <p:cNvPr id="4" name="Text 2"/>
          <p:cNvSpPr/>
          <p:nvPr/>
        </p:nvSpPr>
        <p:spPr>
          <a:xfrm>
            <a:off x="1737360" y="0"/>
            <a:ext cx="5120640" cy="475488"/>
          </a:xfrm>
          <a:prstGeom prst="rect">
            <a:avLst/>
          </a:prstGeom>
          <a:noFill/>
          <a:ln/>
        </p:spPr>
        <p:txBody>
          <a:bodyPr wrap="square" rtlCol="0" anchor="ctr"/>
          <a:lstStyle/>
          <a:p>
            <a:pPr indent="0" marL="0">
              <a:buNone/>
            </a:pPr>
            <a:r>
              <a:rPr lang="en-US" sz="1500" b="1" dirty="0">
                <a:solidFill>
                  <a:srgbClr val="FFFFFF"/>
                </a:solidFill>
                <a:latin typeface="Outfit" pitchFamily="34" charset="0"/>
                <a:ea typeface="Outfit" pitchFamily="34" charset="-122"/>
                <a:cs typeface="Outfit" pitchFamily="34" charset="-120"/>
              </a:rPr>
              <a:t>Sort It Out / Clasifícalo</a:t>
            </a:r>
            <a:endParaRPr lang="en-US" sz="1500" dirty="0"/>
          </a:p>
        </p:txBody>
      </p:sp>
      <p:sp>
        <p:nvSpPr>
          <p:cNvPr id="5" name="Text 3"/>
          <p:cNvSpPr/>
          <p:nvPr/>
        </p:nvSpPr>
        <p:spPr>
          <a:xfrm>
            <a:off x="7360920" y="100584"/>
            <a:ext cx="914400" cy="274320"/>
          </a:xfrm>
          <a:prstGeom prst="rect">
            <a:avLst>
              <a:gd name="adj" fmla="val 50000"/>
            </a:avLst>
          </a:prstGeom>
          <a:solidFill>
            <a:srgbClr val="1FA6A2"/>
          </a:solidFill>
          <a:ln/>
        </p:spPr>
        <p:txBody>
          <a:bodyPr wrap="square" rtlCol="0" anchor="ctr"/>
          <a:lstStyle/>
          <a:p>
            <a:pPr algn="ctr" indent="0" marL="0">
              <a:buNone/>
            </a:pPr>
            <a:r>
              <a:rPr lang="en-US" sz="900" b="1" dirty="0">
                <a:solidFill>
                  <a:srgbClr val="FFFFFF"/>
                </a:solidFill>
                <a:latin typeface="Outfit" pitchFamily="34" charset="0"/>
                <a:ea typeface="Outfit" pitchFamily="34" charset="-122"/>
                <a:cs typeface="Outfit" pitchFamily="34" charset="-120"/>
              </a:rPr>
              <a:t>6.NS.4</a:t>
            </a:r>
            <a:endParaRPr lang="en-US" sz="900" dirty="0"/>
          </a:p>
        </p:txBody>
      </p:sp>
      <p:sp>
        <p:nvSpPr>
          <p:cNvPr id="6" name="Shape 4"/>
          <p:cNvSpPr/>
          <p:nvPr/>
        </p:nvSpPr>
        <p:spPr>
          <a:xfrm>
            <a:off x="73152" y="685800"/>
            <a:ext cx="109728" cy="109728"/>
          </a:xfrm>
          <a:prstGeom prst="ellipse">
            <a:avLst/>
          </a:prstGeom>
          <a:solidFill>
            <a:srgbClr val="CBD3D9"/>
          </a:solidFill>
          <a:ln/>
        </p:spPr>
      </p:sp>
      <p:sp>
        <p:nvSpPr>
          <p:cNvPr id="7" name="Shape 5"/>
          <p:cNvSpPr/>
          <p:nvPr/>
        </p:nvSpPr>
        <p:spPr>
          <a:xfrm>
            <a:off x="73152" y="1161288"/>
            <a:ext cx="109728" cy="109728"/>
          </a:xfrm>
          <a:prstGeom prst="ellipse">
            <a:avLst/>
          </a:prstGeom>
          <a:solidFill>
            <a:srgbClr val="CBD3D9"/>
          </a:solidFill>
          <a:ln/>
        </p:spPr>
      </p:sp>
      <p:sp>
        <p:nvSpPr>
          <p:cNvPr id="8" name="Shape 6"/>
          <p:cNvSpPr/>
          <p:nvPr/>
        </p:nvSpPr>
        <p:spPr>
          <a:xfrm>
            <a:off x="73152" y="1636776"/>
            <a:ext cx="109728" cy="109728"/>
          </a:xfrm>
          <a:prstGeom prst="ellipse">
            <a:avLst/>
          </a:prstGeom>
          <a:solidFill>
            <a:srgbClr val="CBD3D9"/>
          </a:solidFill>
          <a:ln/>
        </p:spPr>
      </p:sp>
      <p:sp>
        <p:nvSpPr>
          <p:cNvPr id="9" name="Shape 7"/>
          <p:cNvSpPr/>
          <p:nvPr/>
        </p:nvSpPr>
        <p:spPr>
          <a:xfrm>
            <a:off x="73152" y="2112264"/>
            <a:ext cx="109728" cy="109728"/>
          </a:xfrm>
          <a:prstGeom prst="ellipse">
            <a:avLst/>
          </a:prstGeom>
          <a:solidFill>
            <a:srgbClr val="CBD3D9"/>
          </a:solidFill>
          <a:ln/>
        </p:spPr>
      </p:sp>
      <p:sp>
        <p:nvSpPr>
          <p:cNvPr id="10" name="Shape 8"/>
          <p:cNvSpPr/>
          <p:nvPr/>
        </p:nvSpPr>
        <p:spPr>
          <a:xfrm>
            <a:off x="73152" y="2587752"/>
            <a:ext cx="109728" cy="109728"/>
          </a:xfrm>
          <a:prstGeom prst="ellipse">
            <a:avLst/>
          </a:prstGeom>
          <a:solidFill>
            <a:srgbClr val="CBD3D9"/>
          </a:solidFill>
          <a:ln/>
        </p:spPr>
      </p:sp>
      <p:sp>
        <p:nvSpPr>
          <p:cNvPr id="11" name="Shape 9"/>
          <p:cNvSpPr/>
          <p:nvPr/>
        </p:nvSpPr>
        <p:spPr>
          <a:xfrm>
            <a:off x="73152" y="3063240"/>
            <a:ext cx="109728" cy="109728"/>
          </a:xfrm>
          <a:prstGeom prst="ellipse">
            <a:avLst/>
          </a:prstGeom>
          <a:solidFill>
            <a:srgbClr val="CBD3D9"/>
          </a:solidFill>
          <a:ln/>
        </p:spPr>
      </p:sp>
      <p:sp>
        <p:nvSpPr>
          <p:cNvPr id="12" name="Shape 10"/>
          <p:cNvSpPr/>
          <p:nvPr/>
        </p:nvSpPr>
        <p:spPr>
          <a:xfrm>
            <a:off x="73152" y="3538728"/>
            <a:ext cx="109728" cy="109728"/>
          </a:xfrm>
          <a:prstGeom prst="ellipse">
            <a:avLst/>
          </a:prstGeom>
          <a:solidFill>
            <a:srgbClr val="CBD3D9"/>
          </a:solidFill>
          <a:ln/>
        </p:spPr>
      </p:sp>
      <p:sp>
        <p:nvSpPr>
          <p:cNvPr id="13" name="Shape 11"/>
          <p:cNvSpPr/>
          <p:nvPr/>
        </p:nvSpPr>
        <p:spPr>
          <a:xfrm>
            <a:off x="73152" y="4014216"/>
            <a:ext cx="109728" cy="109728"/>
          </a:xfrm>
          <a:prstGeom prst="ellipse">
            <a:avLst/>
          </a:prstGeom>
          <a:solidFill>
            <a:srgbClr val="CBD3D9"/>
          </a:solidFill>
          <a:ln/>
        </p:spPr>
      </p:sp>
      <p:sp>
        <p:nvSpPr>
          <p:cNvPr id="14" name="Shape 12"/>
          <p:cNvSpPr/>
          <p:nvPr/>
        </p:nvSpPr>
        <p:spPr>
          <a:xfrm>
            <a:off x="73152" y="4489704"/>
            <a:ext cx="109728" cy="109728"/>
          </a:xfrm>
          <a:prstGeom prst="ellipse">
            <a:avLst/>
          </a:prstGeom>
          <a:solidFill>
            <a:srgbClr val="CBD3D9"/>
          </a:solidFill>
          <a:ln/>
        </p:spPr>
      </p:sp>
      <p:sp>
        <p:nvSpPr>
          <p:cNvPr id="15" name="Text 13"/>
          <p:cNvSpPr/>
          <p:nvPr/>
        </p:nvSpPr>
        <p:spPr>
          <a:xfrm>
            <a:off x="274320" y="4850892"/>
            <a:ext cx="6400800" cy="256032"/>
          </a:xfrm>
          <a:prstGeom prst="rect">
            <a:avLst/>
          </a:prstGeom>
          <a:noFill/>
          <a:ln/>
        </p:spPr>
        <p:txBody>
          <a:bodyPr wrap="square" rtlCol="0" anchor="ctr"/>
          <a:lstStyle/>
          <a:p>
            <a:pPr indent="0" marL="0">
              <a:buNone/>
            </a:pPr>
            <a:r>
              <a:rPr lang="en-US" sz="750" dirty="0">
                <a:solidFill>
                  <a:srgbClr val="8A96A3"/>
                </a:solidFill>
                <a:latin typeface="Hanken Grotesk" pitchFamily="34" charset="0"/>
                <a:ea typeface="Hanken Grotesk" pitchFamily="34" charset="-122"/>
                <a:cs typeface="Hanken Grotesk" pitchFamily="34" charset="-120"/>
              </a:rPr>
              <a:t>Reveal Math Grade 6  ·  Unit 1  ·  Lesson 1-1-flagship</a:t>
            </a:r>
            <a:endParaRPr lang="en-US" sz="750" dirty="0"/>
          </a:p>
        </p:txBody>
      </p:sp>
      <p:sp>
        <p:nvSpPr>
          <p:cNvPr id="16" name="Text 14"/>
          <p:cNvSpPr/>
          <p:nvPr/>
        </p:nvSpPr>
        <p:spPr>
          <a:xfrm>
            <a:off x="8412480" y="4850892"/>
            <a:ext cx="457200" cy="256032"/>
          </a:xfrm>
          <a:prstGeom prst="rect">
            <a:avLst/>
          </a:prstGeom>
          <a:noFill/>
          <a:ln/>
        </p:spPr>
        <p:txBody>
          <a:bodyPr wrap="square" rtlCol="0" anchor="ctr"/>
          <a:lstStyle/>
          <a:p>
            <a:pPr algn="r" indent="0" marL="0">
              <a:buNone/>
            </a:pPr>
            <a:r>
              <a:rPr lang="en-US" sz="800" b="1" dirty="0">
                <a:solidFill>
                  <a:srgbClr val="8A96A3"/>
                </a:solidFill>
                <a:latin typeface="Outfit" pitchFamily="34" charset="0"/>
                <a:ea typeface="Outfit" pitchFamily="34" charset="-122"/>
                <a:cs typeface="Outfit" pitchFamily="34" charset="-120"/>
              </a:rPr>
              <a:t>5</a:t>
            </a:r>
            <a:endParaRPr lang="en-US" sz="800" dirty="0"/>
          </a:p>
        </p:txBody>
      </p:sp>
      <p:sp>
        <p:nvSpPr>
          <p:cNvPr id="17" name="Shape 15"/>
          <p:cNvSpPr/>
          <p:nvPr/>
        </p:nvSpPr>
        <p:spPr>
          <a:xfrm>
            <a:off x="411480" y="685800"/>
            <a:ext cx="5486400" cy="4023360"/>
          </a:xfrm>
          <a:prstGeom prst="roundRect">
            <a:avLst>
              <a:gd name="adj" fmla="val 1818"/>
            </a:avLst>
          </a:prstGeom>
          <a:solidFill>
            <a:srgbClr val="FFFFFF"/>
          </a:solidFill>
          <a:ln w="12700">
            <a:solidFill>
              <a:srgbClr val="D6DBDF"/>
            </a:solidFill>
            <a:prstDash val="solid"/>
          </a:ln>
          <a:effectLst>
            <a:outerShdw sx="100000" sy="100000" kx="0" ky="0" algn="bl" rotWithShape="0" blurRad="50800" dist="12700" dir="5400000">
              <a:srgbClr val="1C2E42">
                <a:alpha val="10000"/>
              </a:srgbClr>
            </a:outerShdw>
          </a:effectLst>
        </p:spPr>
      </p:sp>
      <p:sp>
        <p:nvSpPr>
          <p:cNvPr id="18" name="Text 16"/>
          <p:cNvSpPr/>
          <p:nvPr/>
        </p:nvSpPr>
        <p:spPr>
          <a:xfrm>
            <a:off x="594360" y="822960"/>
            <a:ext cx="5120640" cy="365760"/>
          </a:xfrm>
          <a:prstGeom prst="rect">
            <a:avLst/>
          </a:prstGeom>
          <a:noFill/>
          <a:ln/>
        </p:spPr>
        <p:txBody>
          <a:bodyPr wrap="square" rtlCol="0" anchor="ctr"/>
          <a:lstStyle/>
          <a:p>
            <a:pPr indent="0" marL="0">
              <a:buNone/>
            </a:pPr>
            <a:r>
              <a:rPr lang="en-US" sz="1050" b="1" dirty="0">
                <a:solidFill>
                  <a:srgbClr val="17324D"/>
                </a:solidFill>
                <a:latin typeface="Outfit" pitchFamily="34" charset="0"/>
                <a:ea typeface="Outfit" pitchFamily="34" charset="-122"/>
                <a:cs typeface="Outfit" pitchFamily="34" charset="-120"/>
              </a:rPr>
              <a:t>Sort these numbers — which are prime and which are composite?</a:t>
            </a:r>
            <a:endParaRPr lang="en-US" sz="1050" dirty="0"/>
          </a:p>
        </p:txBody>
      </p:sp>
      <p:sp>
        <p:nvSpPr>
          <p:cNvPr id="19" name="Text 17"/>
          <p:cNvSpPr/>
          <p:nvPr/>
        </p:nvSpPr>
        <p:spPr>
          <a:xfrm>
            <a:off x="594360" y="1234440"/>
            <a:ext cx="5120640" cy="219456"/>
          </a:xfrm>
          <a:prstGeom prst="rect">
            <a:avLst/>
          </a:prstGeom>
          <a:noFill/>
          <a:ln/>
        </p:spPr>
        <p:txBody>
          <a:bodyPr wrap="square" rtlCol="0" anchor="ctr"/>
          <a:lstStyle/>
          <a:p>
            <a:pPr indent="0" marL="0">
              <a:buNone/>
            </a:pPr>
            <a:r>
              <a:rPr lang="en-US" sz="850" i="1" dirty="0">
                <a:solidFill>
                  <a:srgbClr val="8A96A3"/>
                </a:solidFill>
                <a:latin typeface="Hanken Grotesk" pitchFamily="34" charset="0"/>
                <a:ea typeface="Hanken Grotesk" pitchFamily="34" charset="-122"/>
                <a:cs typeface="Hanken Grotesk" pitchFamily="34" charset="-120"/>
              </a:rPr>
              <a:t>Card Bank — cut or sort these cards:</a:t>
            </a:r>
            <a:endParaRPr lang="en-US" sz="850" dirty="0"/>
          </a:p>
        </p:txBody>
      </p:sp>
      <p:sp>
        <p:nvSpPr>
          <p:cNvPr id="20" name="Shape 18"/>
          <p:cNvSpPr/>
          <p:nvPr/>
        </p:nvSpPr>
        <p:spPr>
          <a:xfrm>
            <a:off x="594360" y="1481328"/>
            <a:ext cx="1630680" cy="384048"/>
          </a:xfrm>
          <a:prstGeom prst="roundRect">
            <a:avLst>
              <a:gd name="adj" fmla="val 11905"/>
            </a:avLst>
          </a:prstGeom>
          <a:solidFill>
            <a:srgbClr val="FBEFD0"/>
          </a:solidFill>
          <a:ln w="12700">
            <a:solidFill>
              <a:srgbClr val="D6DBDF"/>
            </a:solidFill>
            <a:prstDash val="solid"/>
          </a:ln>
          <a:effectLst>
            <a:outerShdw sx="100000" sy="100000" kx="0" ky="0" algn="bl" rotWithShape="0" blurRad="50800" dist="12700" dir="5400000">
              <a:srgbClr val="1C2E42">
                <a:alpha val="10000"/>
              </a:srgbClr>
            </a:outerShdw>
          </a:effectLst>
        </p:spPr>
      </p:sp>
      <p:sp>
        <p:nvSpPr>
          <p:cNvPr id="21" name="Text 19"/>
          <p:cNvSpPr/>
          <p:nvPr/>
        </p:nvSpPr>
        <p:spPr>
          <a:xfrm>
            <a:off x="685800" y="1481328"/>
            <a:ext cx="1447800" cy="384048"/>
          </a:xfrm>
          <a:prstGeom prst="rect">
            <a:avLst/>
          </a:prstGeom>
          <a:noFill/>
          <a:ln/>
        </p:spPr>
        <p:txBody>
          <a:bodyPr wrap="square" rtlCol="0" anchor="ctr"/>
          <a:lstStyle/>
          <a:p>
            <a:pPr algn="ctr" indent="0" marL="0">
              <a:buNone/>
            </a:pPr>
            <a:r>
              <a:rPr lang="en-US" sz="900" dirty="0">
                <a:solidFill>
                  <a:srgbClr val="17324D"/>
                </a:solidFill>
                <a:latin typeface="Hanken Grotesk" pitchFamily="34" charset="0"/>
                <a:ea typeface="Hanken Grotesk" pitchFamily="34" charset="-122"/>
                <a:cs typeface="Hanken Grotesk" pitchFamily="34" charset="-120"/>
              </a:rPr>
              <a:t>2</a:t>
            </a:r>
            <a:endParaRPr lang="en-US" sz="900" dirty="0"/>
          </a:p>
        </p:txBody>
      </p:sp>
      <p:sp>
        <p:nvSpPr>
          <p:cNvPr id="22" name="Shape 20"/>
          <p:cNvSpPr/>
          <p:nvPr/>
        </p:nvSpPr>
        <p:spPr>
          <a:xfrm>
            <a:off x="2362200" y="1481328"/>
            <a:ext cx="1630680" cy="384048"/>
          </a:xfrm>
          <a:prstGeom prst="roundRect">
            <a:avLst>
              <a:gd name="adj" fmla="val 11905"/>
            </a:avLst>
          </a:prstGeom>
          <a:solidFill>
            <a:srgbClr val="FBEFD0"/>
          </a:solidFill>
          <a:ln w="12700">
            <a:solidFill>
              <a:srgbClr val="D6DBDF"/>
            </a:solidFill>
            <a:prstDash val="solid"/>
          </a:ln>
          <a:effectLst>
            <a:outerShdw sx="100000" sy="100000" kx="0" ky="0" algn="bl" rotWithShape="0" blurRad="50800" dist="12700" dir="5400000">
              <a:srgbClr val="1C2E42">
                <a:alpha val="10000"/>
              </a:srgbClr>
            </a:outerShdw>
          </a:effectLst>
        </p:spPr>
      </p:sp>
      <p:sp>
        <p:nvSpPr>
          <p:cNvPr id="23" name="Text 21"/>
          <p:cNvSpPr/>
          <p:nvPr/>
        </p:nvSpPr>
        <p:spPr>
          <a:xfrm>
            <a:off x="2453640" y="1481328"/>
            <a:ext cx="1447800" cy="384048"/>
          </a:xfrm>
          <a:prstGeom prst="rect">
            <a:avLst/>
          </a:prstGeom>
          <a:noFill/>
          <a:ln/>
        </p:spPr>
        <p:txBody>
          <a:bodyPr wrap="square" rtlCol="0" anchor="ctr"/>
          <a:lstStyle/>
          <a:p>
            <a:pPr algn="ctr" indent="0" marL="0">
              <a:buNone/>
            </a:pPr>
            <a:r>
              <a:rPr lang="en-US" sz="900" dirty="0">
                <a:solidFill>
                  <a:srgbClr val="17324D"/>
                </a:solidFill>
                <a:latin typeface="Hanken Grotesk" pitchFamily="34" charset="0"/>
                <a:ea typeface="Hanken Grotesk" pitchFamily="34" charset="-122"/>
                <a:cs typeface="Hanken Grotesk" pitchFamily="34" charset="-120"/>
              </a:rPr>
              <a:t>3</a:t>
            </a:r>
            <a:endParaRPr lang="en-US" sz="900" dirty="0"/>
          </a:p>
        </p:txBody>
      </p:sp>
      <p:sp>
        <p:nvSpPr>
          <p:cNvPr id="24" name="Shape 22"/>
          <p:cNvSpPr/>
          <p:nvPr/>
        </p:nvSpPr>
        <p:spPr>
          <a:xfrm>
            <a:off x="4130040" y="1481328"/>
            <a:ext cx="1630680" cy="384048"/>
          </a:xfrm>
          <a:prstGeom prst="roundRect">
            <a:avLst>
              <a:gd name="adj" fmla="val 11905"/>
            </a:avLst>
          </a:prstGeom>
          <a:solidFill>
            <a:srgbClr val="FBEFD0"/>
          </a:solidFill>
          <a:ln w="12700">
            <a:solidFill>
              <a:srgbClr val="D6DBDF"/>
            </a:solidFill>
            <a:prstDash val="solid"/>
          </a:ln>
          <a:effectLst>
            <a:outerShdw sx="100000" sy="100000" kx="0" ky="0" algn="bl" rotWithShape="0" blurRad="50800" dist="12700" dir="5400000">
              <a:srgbClr val="1C2E42">
                <a:alpha val="10000"/>
              </a:srgbClr>
            </a:outerShdw>
          </a:effectLst>
        </p:spPr>
      </p:sp>
      <p:sp>
        <p:nvSpPr>
          <p:cNvPr id="25" name="Text 23"/>
          <p:cNvSpPr/>
          <p:nvPr/>
        </p:nvSpPr>
        <p:spPr>
          <a:xfrm>
            <a:off x="4221480" y="1481328"/>
            <a:ext cx="1447800" cy="384048"/>
          </a:xfrm>
          <a:prstGeom prst="rect">
            <a:avLst/>
          </a:prstGeom>
          <a:noFill/>
          <a:ln/>
        </p:spPr>
        <p:txBody>
          <a:bodyPr wrap="square" rtlCol="0" anchor="ctr"/>
          <a:lstStyle/>
          <a:p>
            <a:pPr algn="ctr" indent="0" marL="0">
              <a:buNone/>
            </a:pPr>
            <a:r>
              <a:rPr lang="en-US" sz="900" dirty="0">
                <a:solidFill>
                  <a:srgbClr val="17324D"/>
                </a:solidFill>
                <a:latin typeface="Hanken Grotesk" pitchFamily="34" charset="0"/>
                <a:ea typeface="Hanken Grotesk" pitchFamily="34" charset="-122"/>
                <a:cs typeface="Hanken Grotesk" pitchFamily="34" charset="-120"/>
              </a:rPr>
              <a:t>5</a:t>
            </a:r>
            <a:endParaRPr lang="en-US" sz="900" dirty="0"/>
          </a:p>
        </p:txBody>
      </p:sp>
      <p:sp>
        <p:nvSpPr>
          <p:cNvPr id="26" name="Shape 24"/>
          <p:cNvSpPr/>
          <p:nvPr/>
        </p:nvSpPr>
        <p:spPr>
          <a:xfrm>
            <a:off x="594360" y="1975104"/>
            <a:ext cx="1630680" cy="384048"/>
          </a:xfrm>
          <a:prstGeom prst="roundRect">
            <a:avLst>
              <a:gd name="adj" fmla="val 11905"/>
            </a:avLst>
          </a:prstGeom>
          <a:solidFill>
            <a:srgbClr val="FBEFD0"/>
          </a:solidFill>
          <a:ln w="12700">
            <a:solidFill>
              <a:srgbClr val="D6DBDF"/>
            </a:solidFill>
            <a:prstDash val="solid"/>
          </a:ln>
          <a:effectLst>
            <a:outerShdw sx="100000" sy="100000" kx="0" ky="0" algn="bl" rotWithShape="0" blurRad="50800" dist="12700" dir="5400000">
              <a:srgbClr val="1C2E42">
                <a:alpha val="10000"/>
              </a:srgbClr>
            </a:outerShdw>
          </a:effectLst>
        </p:spPr>
      </p:sp>
      <p:sp>
        <p:nvSpPr>
          <p:cNvPr id="27" name="Text 25"/>
          <p:cNvSpPr/>
          <p:nvPr/>
        </p:nvSpPr>
        <p:spPr>
          <a:xfrm>
            <a:off x="685800" y="1975104"/>
            <a:ext cx="1447800" cy="384048"/>
          </a:xfrm>
          <a:prstGeom prst="rect">
            <a:avLst/>
          </a:prstGeom>
          <a:noFill/>
          <a:ln/>
        </p:spPr>
        <p:txBody>
          <a:bodyPr wrap="square" rtlCol="0" anchor="ctr"/>
          <a:lstStyle/>
          <a:p>
            <a:pPr algn="ctr" indent="0" marL="0">
              <a:buNone/>
            </a:pPr>
            <a:r>
              <a:rPr lang="en-US" sz="900" dirty="0">
                <a:solidFill>
                  <a:srgbClr val="17324D"/>
                </a:solidFill>
                <a:latin typeface="Hanken Grotesk" pitchFamily="34" charset="0"/>
                <a:ea typeface="Hanken Grotesk" pitchFamily="34" charset="-122"/>
                <a:cs typeface="Hanken Grotesk" pitchFamily="34" charset="-120"/>
              </a:rPr>
              <a:t>11</a:t>
            </a:r>
            <a:endParaRPr lang="en-US" sz="900" dirty="0"/>
          </a:p>
        </p:txBody>
      </p:sp>
      <p:sp>
        <p:nvSpPr>
          <p:cNvPr id="28" name="Shape 26"/>
          <p:cNvSpPr/>
          <p:nvPr/>
        </p:nvSpPr>
        <p:spPr>
          <a:xfrm>
            <a:off x="2362200" y="1975104"/>
            <a:ext cx="1630680" cy="384048"/>
          </a:xfrm>
          <a:prstGeom prst="roundRect">
            <a:avLst>
              <a:gd name="adj" fmla="val 11905"/>
            </a:avLst>
          </a:prstGeom>
          <a:solidFill>
            <a:srgbClr val="FBEFD0"/>
          </a:solidFill>
          <a:ln w="12700">
            <a:solidFill>
              <a:srgbClr val="D6DBDF"/>
            </a:solidFill>
            <a:prstDash val="solid"/>
          </a:ln>
          <a:effectLst>
            <a:outerShdw sx="100000" sy="100000" kx="0" ky="0" algn="bl" rotWithShape="0" blurRad="50800" dist="12700" dir="5400000">
              <a:srgbClr val="1C2E42">
                <a:alpha val="10000"/>
              </a:srgbClr>
            </a:outerShdw>
          </a:effectLst>
        </p:spPr>
      </p:sp>
      <p:sp>
        <p:nvSpPr>
          <p:cNvPr id="29" name="Text 27"/>
          <p:cNvSpPr/>
          <p:nvPr/>
        </p:nvSpPr>
        <p:spPr>
          <a:xfrm>
            <a:off x="2453640" y="1975104"/>
            <a:ext cx="1447800" cy="384048"/>
          </a:xfrm>
          <a:prstGeom prst="rect">
            <a:avLst/>
          </a:prstGeom>
          <a:noFill/>
          <a:ln/>
        </p:spPr>
        <p:txBody>
          <a:bodyPr wrap="square" rtlCol="0" anchor="ctr"/>
          <a:lstStyle/>
          <a:p>
            <a:pPr algn="ctr" indent="0" marL="0">
              <a:buNone/>
            </a:pPr>
            <a:r>
              <a:rPr lang="en-US" sz="900" dirty="0">
                <a:solidFill>
                  <a:srgbClr val="17324D"/>
                </a:solidFill>
                <a:latin typeface="Hanken Grotesk" pitchFamily="34" charset="0"/>
                <a:ea typeface="Hanken Grotesk" pitchFamily="34" charset="-122"/>
                <a:cs typeface="Hanken Grotesk" pitchFamily="34" charset="-120"/>
              </a:rPr>
              <a:t>13</a:t>
            </a:r>
            <a:endParaRPr lang="en-US" sz="900" dirty="0"/>
          </a:p>
        </p:txBody>
      </p:sp>
      <p:sp>
        <p:nvSpPr>
          <p:cNvPr id="30" name="Shape 28"/>
          <p:cNvSpPr/>
          <p:nvPr/>
        </p:nvSpPr>
        <p:spPr>
          <a:xfrm>
            <a:off x="4130040" y="1975104"/>
            <a:ext cx="1630680" cy="384048"/>
          </a:xfrm>
          <a:prstGeom prst="roundRect">
            <a:avLst>
              <a:gd name="adj" fmla="val 11905"/>
            </a:avLst>
          </a:prstGeom>
          <a:solidFill>
            <a:srgbClr val="FBEFD0"/>
          </a:solidFill>
          <a:ln w="12700">
            <a:solidFill>
              <a:srgbClr val="D6DBDF"/>
            </a:solidFill>
            <a:prstDash val="solid"/>
          </a:ln>
          <a:effectLst>
            <a:outerShdw sx="100000" sy="100000" kx="0" ky="0" algn="bl" rotWithShape="0" blurRad="50800" dist="12700" dir="5400000">
              <a:srgbClr val="1C2E42">
                <a:alpha val="10000"/>
              </a:srgbClr>
            </a:outerShdw>
          </a:effectLst>
        </p:spPr>
      </p:sp>
      <p:sp>
        <p:nvSpPr>
          <p:cNvPr id="31" name="Text 29"/>
          <p:cNvSpPr/>
          <p:nvPr/>
        </p:nvSpPr>
        <p:spPr>
          <a:xfrm>
            <a:off x="4221480" y="1975104"/>
            <a:ext cx="1447800" cy="384048"/>
          </a:xfrm>
          <a:prstGeom prst="rect">
            <a:avLst/>
          </a:prstGeom>
          <a:noFill/>
          <a:ln/>
        </p:spPr>
        <p:txBody>
          <a:bodyPr wrap="square" rtlCol="0" anchor="ctr"/>
          <a:lstStyle/>
          <a:p>
            <a:pPr algn="ctr" indent="0" marL="0">
              <a:buNone/>
            </a:pPr>
            <a:r>
              <a:rPr lang="en-US" sz="900" dirty="0">
                <a:solidFill>
                  <a:srgbClr val="17324D"/>
                </a:solidFill>
                <a:latin typeface="Hanken Grotesk" pitchFamily="34" charset="0"/>
                <a:ea typeface="Hanken Grotesk" pitchFamily="34" charset="-122"/>
                <a:cs typeface="Hanken Grotesk" pitchFamily="34" charset="-120"/>
              </a:rPr>
              <a:t>4</a:t>
            </a:r>
            <a:endParaRPr lang="en-US" sz="900" dirty="0"/>
          </a:p>
        </p:txBody>
      </p:sp>
      <p:sp>
        <p:nvSpPr>
          <p:cNvPr id="32" name="Shape 30"/>
          <p:cNvSpPr/>
          <p:nvPr/>
        </p:nvSpPr>
        <p:spPr>
          <a:xfrm>
            <a:off x="594360" y="2560320"/>
            <a:ext cx="2514600" cy="1965960"/>
          </a:xfrm>
          <a:prstGeom prst="roundRect">
            <a:avLst>
              <a:gd name="adj" fmla="val 2326"/>
            </a:avLst>
          </a:prstGeom>
          <a:solidFill>
            <a:srgbClr val="FFFFFF"/>
          </a:solidFill>
          <a:ln w="12700">
            <a:solidFill>
              <a:srgbClr val="1FA6A2"/>
            </a:solidFill>
            <a:prstDash val="solid"/>
          </a:ln>
          <a:effectLst>
            <a:outerShdw sx="100000" sy="100000" kx="0" ky="0" algn="bl" rotWithShape="0" blurRad="50800" dist="12700" dir="5400000">
              <a:srgbClr val="1C2E42">
                <a:alpha val="10000"/>
              </a:srgbClr>
            </a:outerShdw>
          </a:effectLst>
        </p:spPr>
      </p:sp>
      <p:sp>
        <p:nvSpPr>
          <p:cNvPr id="33" name="Text 31"/>
          <p:cNvSpPr/>
          <p:nvPr/>
        </p:nvSpPr>
        <p:spPr>
          <a:xfrm>
            <a:off x="594360" y="2560320"/>
            <a:ext cx="2514600" cy="292608"/>
          </a:xfrm>
          <a:prstGeom prst="rect">
            <a:avLst/>
          </a:prstGeom>
          <a:solidFill>
            <a:srgbClr val="1FA6A2"/>
          </a:solidFill>
          <a:ln/>
        </p:spPr>
        <p:txBody>
          <a:bodyPr wrap="square" rtlCol="0" anchor="ctr"/>
          <a:lstStyle/>
          <a:p>
            <a:pPr algn="ctr" indent="0" marL="0">
              <a:buNone/>
            </a:pPr>
            <a:r>
              <a:rPr lang="en-US" sz="950" b="1" dirty="0">
                <a:solidFill>
                  <a:srgbClr val="FFFFFF"/>
                </a:solidFill>
                <a:latin typeface="Outfit" pitchFamily="34" charset="0"/>
                <a:ea typeface="Outfit" pitchFamily="34" charset="-122"/>
                <a:cs typeface="Outfit" pitchFamily="34" charset="-120"/>
              </a:rPr>
              <a:t>Prime Numbers</a:t>
            </a:r>
            <a:endParaRPr lang="en-US" sz="950" dirty="0"/>
          </a:p>
        </p:txBody>
      </p:sp>
      <p:sp>
        <p:nvSpPr>
          <p:cNvPr id="34" name="Shape 32"/>
          <p:cNvSpPr/>
          <p:nvPr/>
        </p:nvSpPr>
        <p:spPr>
          <a:xfrm>
            <a:off x="3246120" y="2560320"/>
            <a:ext cx="2514600" cy="1965960"/>
          </a:xfrm>
          <a:prstGeom prst="roundRect">
            <a:avLst>
              <a:gd name="adj" fmla="val 2326"/>
            </a:avLst>
          </a:prstGeom>
          <a:solidFill>
            <a:srgbClr val="FFFFFF"/>
          </a:solidFill>
          <a:ln w="12700">
            <a:solidFill>
              <a:srgbClr val="1FA6A2"/>
            </a:solidFill>
            <a:prstDash val="solid"/>
          </a:ln>
          <a:effectLst>
            <a:outerShdw sx="100000" sy="100000" kx="0" ky="0" algn="bl" rotWithShape="0" blurRad="50800" dist="12700" dir="5400000">
              <a:srgbClr val="1C2E42">
                <a:alpha val="10000"/>
              </a:srgbClr>
            </a:outerShdw>
          </a:effectLst>
        </p:spPr>
      </p:sp>
      <p:sp>
        <p:nvSpPr>
          <p:cNvPr id="35" name="Text 33"/>
          <p:cNvSpPr/>
          <p:nvPr/>
        </p:nvSpPr>
        <p:spPr>
          <a:xfrm>
            <a:off x="3246120" y="2560320"/>
            <a:ext cx="2514600" cy="292608"/>
          </a:xfrm>
          <a:prstGeom prst="rect">
            <a:avLst/>
          </a:prstGeom>
          <a:solidFill>
            <a:srgbClr val="1FA6A2"/>
          </a:solidFill>
          <a:ln/>
        </p:spPr>
        <p:txBody>
          <a:bodyPr wrap="square" rtlCol="0" anchor="ctr"/>
          <a:lstStyle/>
          <a:p>
            <a:pPr algn="ctr" indent="0" marL="0">
              <a:buNone/>
            </a:pPr>
            <a:r>
              <a:rPr lang="en-US" sz="950" b="1" dirty="0">
                <a:solidFill>
                  <a:srgbClr val="FFFFFF"/>
                </a:solidFill>
                <a:latin typeface="Outfit" pitchFamily="34" charset="0"/>
                <a:ea typeface="Outfit" pitchFamily="34" charset="-122"/>
                <a:cs typeface="Outfit" pitchFamily="34" charset="-120"/>
              </a:rPr>
              <a:t>Composite Numbers</a:t>
            </a:r>
            <a:endParaRPr lang="en-US" sz="950" dirty="0"/>
          </a:p>
        </p:txBody>
      </p:sp>
      <p:sp>
        <p:nvSpPr>
          <p:cNvPr id="36" name="Shape 34"/>
          <p:cNvSpPr/>
          <p:nvPr/>
        </p:nvSpPr>
        <p:spPr>
          <a:xfrm>
            <a:off x="6035040" y="685800"/>
            <a:ext cx="2788920" cy="4023360"/>
          </a:xfrm>
          <a:prstGeom prst="roundRect">
            <a:avLst>
              <a:gd name="adj" fmla="val 2623"/>
            </a:avLst>
          </a:prstGeom>
          <a:solidFill>
            <a:srgbClr val="DFF2EE"/>
          </a:solidFill>
          <a:ln w="12700">
            <a:solidFill>
              <a:srgbClr val="1FA6A2"/>
            </a:solidFill>
            <a:prstDash val="solid"/>
          </a:ln>
          <a:effectLst>
            <a:outerShdw sx="100000" sy="100000" kx="0" ky="0" algn="bl" rotWithShape="0" blurRad="50800" dist="12700" dir="5400000">
              <a:srgbClr val="1C2E42">
                <a:alpha val="10000"/>
              </a:srgbClr>
            </a:outerShdw>
          </a:effectLst>
        </p:spPr>
      </p:sp>
      <p:sp>
        <p:nvSpPr>
          <p:cNvPr id="37" name="Text 35"/>
          <p:cNvSpPr/>
          <p:nvPr/>
        </p:nvSpPr>
        <p:spPr>
          <a:xfrm>
            <a:off x="6035040" y="685800"/>
            <a:ext cx="2788920" cy="274320"/>
          </a:xfrm>
          <a:prstGeom prst="rect">
            <a:avLst/>
          </a:prstGeom>
          <a:solidFill>
            <a:srgbClr val="1FA6A2"/>
          </a:solidFill>
          <a:ln/>
        </p:spPr>
        <p:txBody>
          <a:bodyPr wrap="square" rtlCol="0" anchor="ctr"/>
          <a:lstStyle/>
          <a:p>
            <a:pPr algn="ctr" indent="0" marL="0">
              <a:buNone/>
            </a:pPr>
            <a:r>
              <a:rPr lang="en-US" sz="1000" b="1" dirty="0">
                <a:solidFill>
                  <a:srgbClr val="FFFFFF"/>
                </a:solidFill>
                <a:latin typeface="Outfit" pitchFamily="34" charset="0"/>
                <a:ea typeface="Outfit" pitchFamily="34" charset="-122"/>
                <a:cs typeface="Outfit" pitchFamily="34" charset="-120"/>
              </a:rPr>
              <a:t>💬 Talk It Over</a:t>
            </a:r>
            <a:endParaRPr lang="en-US" sz="1000" dirty="0"/>
          </a:p>
        </p:txBody>
      </p:sp>
      <p:sp>
        <p:nvSpPr>
          <p:cNvPr id="38" name="Text 36"/>
          <p:cNvSpPr/>
          <p:nvPr/>
        </p:nvSpPr>
        <p:spPr>
          <a:xfrm>
            <a:off x="6217920" y="1097280"/>
            <a:ext cx="2468880" cy="1371600"/>
          </a:xfrm>
          <a:prstGeom prst="rect">
            <a:avLst/>
          </a:prstGeom>
          <a:noFill/>
          <a:ln/>
        </p:spPr>
        <p:txBody>
          <a:bodyPr wrap="square" rtlCol="0" anchor="t"/>
          <a:lstStyle/>
          <a:p>
            <a:pPr indent="0" marL="0">
              <a:buNone/>
            </a:pPr>
            <a:r>
              <a:rPr lang="en-US" sz="1000" dirty="0">
                <a:solidFill>
                  <a:srgbClr val="17324D"/>
                </a:solidFill>
                <a:latin typeface="Hanken Grotesk" pitchFamily="34" charset="0"/>
                <a:ea typeface="Hanken Grotesk" pitchFamily="34" charset="-122"/>
                <a:cs typeface="Hanken Grotesk" pitchFamily="34" charset="-120"/>
              </a:rPr>
              <a:t>Look at your factor tree for 48. How did you decide which numbers to break apart first, and how did you know when to stop?</a:t>
            </a:r>
            <a:endParaRPr lang="en-US" sz="1000" dirty="0"/>
          </a:p>
        </p:txBody>
      </p:sp>
      <p:sp>
        <p:nvSpPr>
          <p:cNvPr id="39" name="Shape 37"/>
          <p:cNvSpPr/>
          <p:nvPr/>
        </p:nvSpPr>
        <p:spPr>
          <a:xfrm>
            <a:off x="6217920" y="2743200"/>
            <a:ext cx="2423160" cy="0"/>
          </a:xfrm>
          <a:prstGeom prst="line">
            <a:avLst/>
          </a:prstGeom>
          <a:noFill/>
          <a:ln w="9525">
            <a:solidFill>
              <a:srgbClr val="C7CDD2"/>
            </a:solidFill>
            <a:prstDash val="dash"/>
          </a:ln>
        </p:spPr>
      </p:sp>
      <p:sp>
        <p:nvSpPr>
          <p:cNvPr id="40" name="Shape 38"/>
          <p:cNvSpPr/>
          <p:nvPr/>
        </p:nvSpPr>
        <p:spPr>
          <a:xfrm>
            <a:off x="6217920" y="3072384"/>
            <a:ext cx="2423160" cy="0"/>
          </a:xfrm>
          <a:prstGeom prst="line">
            <a:avLst/>
          </a:prstGeom>
          <a:noFill/>
          <a:ln w="9525">
            <a:solidFill>
              <a:srgbClr val="C7CDD2"/>
            </a:solidFill>
            <a:prstDash val="dash"/>
          </a:ln>
        </p:spPr>
      </p:sp>
      <p:sp>
        <p:nvSpPr>
          <p:cNvPr id="41" name="Shape 39"/>
          <p:cNvSpPr/>
          <p:nvPr/>
        </p:nvSpPr>
        <p:spPr>
          <a:xfrm>
            <a:off x="6217920" y="3401568"/>
            <a:ext cx="2423160" cy="0"/>
          </a:xfrm>
          <a:prstGeom prst="line">
            <a:avLst/>
          </a:prstGeom>
          <a:noFill/>
          <a:ln w="9525">
            <a:solidFill>
              <a:srgbClr val="C7CDD2"/>
            </a:solidFill>
            <a:prstDash val="dash"/>
          </a:ln>
        </p:spPr>
      </p:sp>
      <p:sp>
        <p:nvSpPr>
          <p:cNvPr id="42" name="Shape 40"/>
          <p:cNvSpPr/>
          <p:nvPr/>
        </p:nvSpPr>
        <p:spPr>
          <a:xfrm>
            <a:off x="6217920" y="3730752"/>
            <a:ext cx="2423160" cy="0"/>
          </a:xfrm>
          <a:prstGeom prst="line">
            <a:avLst/>
          </a:prstGeom>
          <a:noFill/>
          <a:ln w="9525">
            <a:solidFill>
              <a:srgbClr val="C7CDD2"/>
            </a:solidFill>
            <a:prstDash val="dash"/>
          </a:ln>
        </p:spPr>
      </p:sp>
      <p:sp>
        <p:nvSpPr>
          <p:cNvPr id="43" name="Shape 41"/>
          <p:cNvSpPr/>
          <p:nvPr/>
        </p:nvSpPr>
        <p:spPr>
          <a:xfrm>
            <a:off x="6217920" y="4059936"/>
            <a:ext cx="2423160" cy="0"/>
          </a:xfrm>
          <a:prstGeom prst="line">
            <a:avLst/>
          </a:prstGeom>
          <a:noFill/>
          <a:ln w="9525">
            <a:solidFill>
              <a:srgbClr val="C7CDD2"/>
            </a:solidFill>
            <a:prstDash val="dash"/>
          </a:ln>
        </p:spPr>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7F4EC"/>
        </a:solidFill>
      </p:bgPr>
    </p:bg>
    <p:spTree>
      <p:nvGrpSpPr>
        <p:cNvPr id="1" name=""/>
        <p:cNvGrpSpPr/>
        <p:nvPr/>
      </p:nvGrpSpPr>
      <p:grpSpPr>
        <a:xfrm>
          <a:off x="0" y="0"/>
          <a:ext cx="0" cy="0"/>
          <a:chOff x="0" y="0"/>
          <a:chExt cx="0" cy="0"/>
        </a:xfrm>
      </p:grpSpPr>
      <p:sp>
        <p:nvSpPr>
          <p:cNvPr id="2" name="Shape 0"/>
          <p:cNvSpPr/>
          <p:nvPr/>
        </p:nvSpPr>
        <p:spPr>
          <a:xfrm>
            <a:off x="0" y="0"/>
            <a:ext cx="9144000" cy="475488"/>
          </a:xfrm>
          <a:prstGeom prst="rect">
            <a:avLst/>
          </a:prstGeom>
          <a:solidFill>
            <a:srgbClr val="17324D"/>
          </a:solidFill>
          <a:ln/>
        </p:spPr>
      </p:sp>
      <p:sp>
        <p:nvSpPr>
          <p:cNvPr id="3" name="Text 1"/>
          <p:cNvSpPr/>
          <p:nvPr/>
        </p:nvSpPr>
        <p:spPr>
          <a:xfrm>
            <a:off x="274320" y="0"/>
            <a:ext cx="2194560" cy="475488"/>
          </a:xfrm>
          <a:prstGeom prst="rect">
            <a:avLst/>
          </a:prstGeom>
          <a:noFill/>
          <a:ln/>
        </p:spPr>
        <p:txBody>
          <a:bodyPr wrap="square" rtlCol="0" anchor="ctr"/>
          <a:lstStyle/>
          <a:p>
            <a:pPr indent="0" marL="0">
              <a:buNone/>
            </a:pPr>
            <a:r>
              <a:rPr lang="en-US" sz="850" b="1" spc="100" kern="0" dirty="0">
                <a:solidFill>
                  <a:srgbClr val="BFE6E2"/>
                </a:solidFill>
                <a:latin typeface="Outfit" pitchFamily="34" charset="0"/>
                <a:ea typeface="Outfit" pitchFamily="34" charset="-122"/>
                <a:cs typeface="Outfit" pitchFamily="34" charset="-120"/>
              </a:rPr>
              <a:t>NEFT TEACHER</a:t>
            </a:r>
            <a:endParaRPr lang="en-US" sz="850" dirty="0"/>
          </a:p>
        </p:txBody>
      </p:sp>
      <p:sp>
        <p:nvSpPr>
          <p:cNvPr id="4" name="Text 2"/>
          <p:cNvSpPr/>
          <p:nvPr/>
        </p:nvSpPr>
        <p:spPr>
          <a:xfrm>
            <a:off x="1737360" y="0"/>
            <a:ext cx="5120640" cy="475488"/>
          </a:xfrm>
          <a:prstGeom prst="rect">
            <a:avLst/>
          </a:prstGeom>
          <a:noFill/>
          <a:ln/>
        </p:spPr>
        <p:txBody>
          <a:bodyPr wrap="square" rtlCol="0" anchor="ctr"/>
          <a:lstStyle/>
          <a:p>
            <a:pPr indent="0" marL="0">
              <a:buNone/>
            </a:pPr>
            <a:r>
              <a:rPr lang="en-US" sz="1500" b="1" dirty="0">
                <a:solidFill>
                  <a:srgbClr val="FFFFFF"/>
                </a:solidFill>
                <a:latin typeface="Outfit" pitchFamily="34" charset="0"/>
                <a:ea typeface="Outfit" pitchFamily="34" charset="-122"/>
                <a:cs typeface="Outfit" pitchFamily="34" charset="-120"/>
              </a:rPr>
              <a:t>Error Analysis / Análisis de Errores</a:t>
            </a:r>
            <a:endParaRPr lang="en-US" sz="1500" dirty="0"/>
          </a:p>
        </p:txBody>
      </p:sp>
      <p:sp>
        <p:nvSpPr>
          <p:cNvPr id="5" name="Text 3"/>
          <p:cNvSpPr/>
          <p:nvPr/>
        </p:nvSpPr>
        <p:spPr>
          <a:xfrm>
            <a:off x="7360920" y="100584"/>
            <a:ext cx="914400" cy="274320"/>
          </a:xfrm>
          <a:prstGeom prst="rect">
            <a:avLst>
              <a:gd name="adj" fmla="val 50000"/>
            </a:avLst>
          </a:prstGeom>
          <a:solidFill>
            <a:srgbClr val="1FA6A2"/>
          </a:solidFill>
          <a:ln/>
        </p:spPr>
        <p:txBody>
          <a:bodyPr wrap="square" rtlCol="0" anchor="ctr"/>
          <a:lstStyle/>
          <a:p>
            <a:pPr algn="ctr" indent="0" marL="0">
              <a:buNone/>
            </a:pPr>
            <a:r>
              <a:rPr lang="en-US" sz="900" b="1" dirty="0">
                <a:solidFill>
                  <a:srgbClr val="FFFFFF"/>
                </a:solidFill>
                <a:latin typeface="Outfit" pitchFamily="34" charset="0"/>
                <a:ea typeface="Outfit" pitchFamily="34" charset="-122"/>
                <a:cs typeface="Outfit" pitchFamily="34" charset="-120"/>
              </a:rPr>
              <a:t>6.NS.4</a:t>
            </a:r>
            <a:endParaRPr lang="en-US" sz="900" dirty="0"/>
          </a:p>
        </p:txBody>
      </p:sp>
      <p:sp>
        <p:nvSpPr>
          <p:cNvPr id="6" name="Shape 4"/>
          <p:cNvSpPr/>
          <p:nvPr/>
        </p:nvSpPr>
        <p:spPr>
          <a:xfrm>
            <a:off x="73152" y="685800"/>
            <a:ext cx="109728" cy="109728"/>
          </a:xfrm>
          <a:prstGeom prst="ellipse">
            <a:avLst/>
          </a:prstGeom>
          <a:solidFill>
            <a:srgbClr val="CBD3D9"/>
          </a:solidFill>
          <a:ln/>
        </p:spPr>
      </p:sp>
      <p:sp>
        <p:nvSpPr>
          <p:cNvPr id="7" name="Shape 5"/>
          <p:cNvSpPr/>
          <p:nvPr/>
        </p:nvSpPr>
        <p:spPr>
          <a:xfrm>
            <a:off x="73152" y="1161288"/>
            <a:ext cx="109728" cy="109728"/>
          </a:xfrm>
          <a:prstGeom prst="ellipse">
            <a:avLst/>
          </a:prstGeom>
          <a:solidFill>
            <a:srgbClr val="CBD3D9"/>
          </a:solidFill>
          <a:ln/>
        </p:spPr>
      </p:sp>
      <p:sp>
        <p:nvSpPr>
          <p:cNvPr id="8" name="Shape 6"/>
          <p:cNvSpPr/>
          <p:nvPr/>
        </p:nvSpPr>
        <p:spPr>
          <a:xfrm>
            <a:off x="73152" y="1636776"/>
            <a:ext cx="109728" cy="109728"/>
          </a:xfrm>
          <a:prstGeom prst="ellipse">
            <a:avLst/>
          </a:prstGeom>
          <a:solidFill>
            <a:srgbClr val="CBD3D9"/>
          </a:solidFill>
          <a:ln/>
        </p:spPr>
      </p:sp>
      <p:sp>
        <p:nvSpPr>
          <p:cNvPr id="9" name="Shape 7"/>
          <p:cNvSpPr/>
          <p:nvPr/>
        </p:nvSpPr>
        <p:spPr>
          <a:xfrm>
            <a:off x="73152" y="2112264"/>
            <a:ext cx="109728" cy="109728"/>
          </a:xfrm>
          <a:prstGeom prst="ellipse">
            <a:avLst/>
          </a:prstGeom>
          <a:solidFill>
            <a:srgbClr val="CBD3D9"/>
          </a:solidFill>
          <a:ln/>
        </p:spPr>
      </p:sp>
      <p:sp>
        <p:nvSpPr>
          <p:cNvPr id="10" name="Shape 8"/>
          <p:cNvSpPr/>
          <p:nvPr/>
        </p:nvSpPr>
        <p:spPr>
          <a:xfrm>
            <a:off x="73152" y="2587752"/>
            <a:ext cx="109728" cy="109728"/>
          </a:xfrm>
          <a:prstGeom prst="ellipse">
            <a:avLst/>
          </a:prstGeom>
          <a:solidFill>
            <a:srgbClr val="CBD3D9"/>
          </a:solidFill>
          <a:ln/>
        </p:spPr>
      </p:sp>
      <p:sp>
        <p:nvSpPr>
          <p:cNvPr id="11" name="Shape 9"/>
          <p:cNvSpPr/>
          <p:nvPr/>
        </p:nvSpPr>
        <p:spPr>
          <a:xfrm>
            <a:off x="73152" y="3063240"/>
            <a:ext cx="109728" cy="109728"/>
          </a:xfrm>
          <a:prstGeom prst="ellipse">
            <a:avLst/>
          </a:prstGeom>
          <a:solidFill>
            <a:srgbClr val="CBD3D9"/>
          </a:solidFill>
          <a:ln/>
        </p:spPr>
      </p:sp>
      <p:sp>
        <p:nvSpPr>
          <p:cNvPr id="12" name="Shape 10"/>
          <p:cNvSpPr/>
          <p:nvPr/>
        </p:nvSpPr>
        <p:spPr>
          <a:xfrm>
            <a:off x="73152" y="3538728"/>
            <a:ext cx="109728" cy="109728"/>
          </a:xfrm>
          <a:prstGeom prst="ellipse">
            <a:avLst/>
          </a:prstGeom>
          <a:solidFill>
            <a:srgbClr val="CBD3D9"/>
          </a:solidFill>
          <a:ln/>
        </p:spPr>
      </p:sp>
      <p:sp>
        <p:nvSpPr>
          <p:cNvPr id="13" name="Shape 11"/>
          <p:cNvSpPr/>
          <p:nvPr/>
        </p:nvSpPr>
        <p:spPr>
          <a:xfrm>
            <a:off x="73152" y="4014216"/>
            <a:ext cx="109728" cy="109728"/>
          </a:xfrm>
          <a:prstGeom prst="ellipse">
            <a:avLst/>
          </a:prstGeom>
          <a:solidFill>
            <a:srgbClr val="CBD3D9"/>
          </a:solidFill>
          <a:ln/>
        </p:spPr>
      </p:sp>
      <p:sp>
        <p:nvSpPr>
          <p:cNvPr id="14" name="Shape 12"/>
          <p:cNvSpPr/>
          <p:nvPr/>
        </p:nvSpPr>
        <p:spPr>
          <a:xfrm>
            <a:off x="73152" y="4489704"/>
            <a:ext cx="109728" cy="109728"/>
          </a:xfrm>
          <a:prstGeom prst="ellipse">
            <a:avLst/>
          </a:prstGeom>
          <a:solidFill>
            <a:srgbClr val="CBD3D9"/>
          </a:solidFill>
          <a:ln/>
        </p:spPr>
      </p:sp>
      <p:sp>
        <p:nvSpPr>
          <p:cNvPr id="15" name="Text 13"/>
          <p:cNvSpPr/>
          <p:nvPr/>
        </p:nvSpPr>
        <p:spPr>
          <a:xfrm>
            <a:off x="274320" y="4850892"/>
            <a:ext cx="6400800" cy="256032"/>
          </a:xfrm>
          <a:prstGeom prst="rect">
            <a:avLst/>
          </a:prstGeom>
          <a:noFill/>
          <a:ln/>
        </p:spPr>
        <p:txBody>
          <a:bodyPr wrap="square" rtlCol="0" anchor="ctr"/>
          <a:lstStyle/>
          <a:p>
            <a:pPr indent="0" marL="0">
              <a:buNone/>
            </a:pPr>
            <a:r>
              <a:rPr lang="en-US" sz="750" dirty="0">
                <a:solidFill>
                  <a:srgbClr val="8A96A3"/>
                </a:solidFill>
                <a:latin typeface="Hanken Grotesk" pitchFamily="34" charset="0"/>
                <a:ea typeface="Hanken Grotesk" pitchFamily="34" charset="-122"/>
                <a:cs typeface="Hanken Grotesk" pitchFamily="34" charset="-120"/>
              </a:rPr>
              <a:t>Reveal Math Grade 6  ·  Unit 1  ·  Lesson 1-1-flagship</a:t>
            </a:r>
            <a:endParaRPr lang="en-US" sz="750" dirty="0"/>
          </a:p>
        </p:txBody>
      </p:sp>
      <p:sp>
        <p:nvSpPr>
          <p:cNvPr id="16" name="Text 14"/>
          <p:cNvSpPr/>
          <p:nvPr/>
        </p:nvSpPr>
        <p:spPr>
          <a:xfrm>
            <a:off x="8412480" y="4850892"/>
            <a:ext cx="457200" cy="256032"/>
          </a:xfrm>
          <a:prstGeom prst="rect">
            <a:avLst/>
          </a:prstGeom>
          <a:noFill/>
          <a:ln/>
        </p:spPr>
        <p:txBody>
          <a:bodyPr wrap="square" rtlCol="0" anchor="ctr"/>
          <a:lstStyle/>
          <a:p>
            <a:pPr algn="r" indent="0" marL="0">
              <a:buNone/>
            </a:pPr>
            <a:r>
              <a:rPr lang="en-US" sz="800" b="1" dirty="0">
                <a:solidFill>
                  <a:srgbClr val="8A96A3"/>
                </a:solidFill>
                <a:latin typeface="Outfit" pitchFamily="34" charset="0"/>
                <a:ea typeface="Outfit" pitchFamily="34" charset="-122"/>
                <a:cs typeface="Outfit" pitchFamily="34" charset="-120"/>
              </a:rPr>
              <a:t>6</a:t>
            </a:r>
            <a:endParaRPr lang="en-US" sz="800" dirty="0"/>
          </a:p>
        </p:txBody>
      </p:sp>
      <p:sp>
        <p:nvSpPr>
          <p:cNvPr id="17" name="Shape 15"/>
          <p:cNvSpPr/>
          <p:nvPr/>
        </p:nvSpPr>
        <p:spPr>
          <a:xfrm>
            <a:off x="411480" y="685800"/>
            <a:ext cx="5486400" cy="4023360"/>
          </a:xfrm>
          <a:prstGeom prst="roundRect">
            <a:avLst>
              <a:gd name="adj" fmla="val 1818"/>
            </a:avLst>
          </a:prstGeom>
          <a:solidFill>
            <a:srgbClr val="FFFFFF"/>
          </a:solidFill>
          <a:ln w="12700">
            <a:solidFill>
              <a:srgbClr val="D6DBDF"/>
            </a:solidFill>
            <a:prstDash val="solid"/>
          </a:ln>
          <a:effectLst>
            <a:outerShdw sx="100000" sy="100000" kx="0" ky="0" algn="bl" rotWithShape="0" blurRad="50800" dist="12700" dir="5400000">
              <a:srgbClr val="1C2E42">
                <a:alpha val="10000"/>
              </a:srgbClr>
            </a:outerShdw>
          </a:effectLst>
        </p:spPr>
      </p:sp>
      <p:sp>
        <p:nvSpPr>
          <p:cNvPr id="18" name="Text 16"/>
          <p:cNvSpPr/>
          <p:nvPr/>
        </p:nvSpPr>
        <p:spPr>
          <a:xfrm>
            <a:off x="594360" y="841248"/>
            <a:ext cx="1554480" cy="274320"/>
          </a:xfrm>
          <a:prstGeom prst="rect">
            <a:avLst>
              <a:gd name="adj" fmla="val 50000"/>
            </a:avLst>
          </a:prstGeom>
          <a:solidFill>
            <a:srgbClr val="C0392B"/>
          </a:solidFill>
          <a:ln/>
        </p:spPr>
        <p:txBody>
          <a:bodyPr wrap="square" rtlCol="0" anchor="ctr"/>
          <a:lstStyle/>
          <a:p>
            <a:pPr algn="ctr" indent="0" marL="0">
              <a:buNone/>
            </a:pPr>
            <a:r>
              <a:rPr lang="en-US" sz="900" b="1" dirty="0">
                <a:solidFill>
                  <a:srgbClr val="FFFFFF"/>
                </a:solidFill>
                <a:latin typeface="Outfit" pitchFamily="34" charset="0"/>
                <a:ea typeface="Outfit" pitchFamily="34" charset="-122"/>
                <a:cs typeface="Outfit" pitchFamily="34" charset="-120"/>
              </a:rPr>
              <a:t>⚠ FIND THE ERROR</a:t>
            </a:r>
            <a:endParaRPr lang="en-US" sz="900" dirty="0"/>
          </a:p>
        </p:txBody>
      </p:sp>
      <p:sp>
        <p:nvSpPr>
          <p:cNvPr id="19" name="Text 17"/>
          <p:cNvSpPr/>
          <p:nvPr/>
        </p:nvSpPr>
        <p:spPr>
          <a:xfrm>
            <a:off x="2286000" y="841248"/>
            <a:ext cx="3383280" cy="274320"/>
          </a:xfrm>
          <a:prstGeom prst="rect">
            <a:avLst/>
          </a:prstGeom>
          <a:noFill/>
          <a:ln/>
        </p:spPr>
        <p:txBody>
          <a:bodyPr wrap="square" rtlCol="0" anchor="ctr"/>
          <a:lstStyle/>
          <a:p>
            <a:pPr indent="0" marL="0">
              <a:buNone/>
            </a:pPr>
            <a:r>
              <a:rPr lang="en-US" sz="1100" b="1" dirty="0">
                <a:solidFill>
                  <a:srgbClr val="17324D"/>
                </a:solidFill>
                <a:latin typeface="Outfit" pitchFamily="34" charset="0"/>
                <a:ea typeface="Outfit" pitchFamily="34" charset="-122"/>
                <a:cs typeface="Outfit" pitchFamily="34" charset="-120"/>
              </a:rPr>
              <a:t>Find Marcus's Mistake</a:t>
            </a:r>
            <a:endParaRPr lang="en-US" sz="1100" dirty="0"/>
          </a:p>
        </p:txBody>
      </p:sp>
      <p:sp>
        <p:nvSpPr>
          <p:cNvPr id="20" name="Text 18"/>
          <p:cNvSpPr/>
          <p:nvPr/>
        </p:nvSpPr>
        <p:spPr>
          <a:xfrm>
            <a:off x="594360" y="1188720"/>
            <a:ext cx="5120640" cy="365760"/>
          </a:xfrm>
          <a:prstGeom prst="rect">
            <a:avLst/>
          </a:prstGeom>
          <a:noFill/>
          <a:ln/>
        </p:spPr>
        <p:txBody>
          <a:bodyPr wrap="square" rtlCol="0" anchor="ctr"/>
          <a:lstStyle/>
          <a:p>
            <a:pPr indent="0" marL="0">
              <a:buNone/>
            </a:pPr>
            <a:r>
              <a:rPr lang="en-US" sz="950" dirty="0">
                <a:solidFill>
                  <a:srgbClr val="24323F"/>
                </a:solidFill>
                <a:latin typeface="Hanken Grotesk" pitchFamily="34" charset="0"/>
                <a:ea typeface="Hanken Grotesk" pitchFamily="34" charset="-122"/>
                <a:cs typeface="Hanken Grotesk" pitchFamily="34" charset="-120"/>
              </a:rPr>
              <a:t>A classmate turned in the work below. One step has a mistake — find it, name it, fix it.</a:t>
            </a:r>
            <a:endParaRPr lang="en-US" sz="950" dirty="0"/>
          </a:p>
        </p:txBody>
      </p:sp>
      <p:sp>
        <p:nvSpPr>
          <p:cNvPr id="21" name="Shape 19"/>
          <p:cNvSpPr/>
          <p:nvPr/>
        </p:nvSpPr>
        <p:spPr>
          <a:xfrm>
            <a:off x="594360" y="1627632"/>
            <a:ext cx="5166360" cy="2286000"/>
          </a:xfrm>
          <a:prstGeom prst="roundRect">
            <a:avLst>
              <a:gd name="adj" fmla="val 2000"/>
            </a:avLst>
          </a:prstGeom>
          <a:solidFill>
            <a:srgbClr val="F4F1E8"/>
          </a:solidFill>
          <a:ln w="12700">
            <a:solidFill>
              <a:srgbClr val="D6DBDF"/>
            </a:solidFill>
            <a:prstDash val="solid"/>
          </a:ln>
          <a:effectLst>
            <a:outerShdw sx="100000" sy="100000" kx="0" ky="0" algn="bl" rotWithShape="0" blurRad="50800" dist="12700" dir="5400000">
              <a:srgbClr val="1C2E42">
                <a:alpha val="10000"/>
              </a:srgbClr>
            </a:outerShdw>
          </a:effectLst>
        </p:spPr>
      </p:sp>
      <p:sp>
        <p:nvSpPr>
          <p:cNvPr id="22" name="Text 20"/>
          <p:cNvSpPr/>
          <p:nvPr/>
        </p:nvSpPr>
        <p:spPr>
          <a:xfrm>
            <a:off x="713232" y="1691640"/>
            <a:ext cx="4937760" cy="219456"/>
          </a:xfrm>
          <a:prstGeom prst="rect">
            <a:avLst/>
          </a:prstGeom>
          <a:noFill/>
          <a:ln/>
        </p:spPr>
        <p:txBody>
          <a:bodyPr wrap="square" rtlCol="0" anchor="ctr"/>
          <a:lstStyle/>
          <a:p>
            <a:pPr indent="0" marL="0">
              <a:buNone/>
            </a:pPr>
            <a:r>
              <a:rPr lang="en-US" sz="800" i="1" dirty="0">
                <a:solidFill>
                  <a:srgbClr val="8A96A3"/>
                </a:solidFill>
                <a:latin typeface="Hanken Grotesk" pitchFamily="34" charset="0"/>
                <a:ea typeface="Hanken Grotesk" pitchFamily="34" charset="-122"/>
                <a:cs typeface="Hanken Grotesk" pitchFamily="34" charset="-120"/>
              </a:rPr>
              <a:t>Student's work (contains an error):</a:t>
            </a:r>
            <a:endParaRPr lang="en-US" sz="800" dirty="0"/>
          </a:p>
        </p:txBody>
      </p:sp>
      <p:sp>
        <p:nvSpPr>
          <p:cNvPr id="23" name="Text 21"/>
          <p:cNvSpPr/>
          <p:nvPr/>
        </p:nvSpPr>
        <p:spPr>
          <a:xfrm>
            <a:off x="777240" y="1938528"/>
            <a:ext cx="4892040" cy="347472"/>
          </a:xfrm>
          <a:prstGeom prst="rect">
            <a:avLst/>
          </a:prstGeom>
          <a:noFill/>
          <a:ln/>
        </p:spPr>
        <p:txBody>
          <a:bodyPr wrap="square" rtlCol="0" anchor="ctr"/>
          <a:lstStyle/>
          <a:p>
            <a:pPr indent="0" marL="0">
              <a:buNone/>
            </a:pPr>
            <a:r>
              <a:rPr lang="en-US" sz="950" b="1" dirty="0">
                <a:solidFill>
                  <a:srgbClr val="17324D"/>
                </a:solidFill>
                <a:latin typeface="Hanken Grotesk" pitchFamily="34" charset="0"/>
                <a:ea typeface="Hanken Grotesk" pitchFamily="34" charset="-122"/>
                <a:cs typeface="Hanken Grotesk" pitchFamily="34" charset="-120"/>
              </a:rPr>
              <a:t>1. </a:t>
            </a:r>
            <a:pPr indent="0" marL="0">
              <a:buNone/>
            </a:pPr>
            <a:r>
              <a:rPr lang="en-US" sz="950" b="1" dirty="0">
                <a:solidFill>
                  <a:srgbClr val="17324D"/>
                </a:solidFill>
                <a:latin typeface="Hanken Grotesk" pitchFamily="34" charset="0"/>
                <a:ea typeface="Hanken Grotesk" pitchFamily="34" charset="-122"/>
                <a:cs typeface="Hanken Grotesk" pitchFamily="34" charset="-120"/>
              </a:rPr>
              <a:t>Find prime factorization of 48:  </a:t>
            </a:r>
            <a:pPr indent="0" marL="0">
              <a:buNone/>
            </a:pPr>
            <a:r>
              <a:rPr lang="en-US" sz="950" b="1" dirty="0">
                <a:solidFill>
                  <a:srgbClr val="24323F"/>
                </a:solidFill>
                <a:latin typeface="Courier New" pitchFamily="34" charset="0"/>
                <a:ea typeface="Courier New" pitchFamily="34" charset="-122"/>
                <a:cs typeface="Courier New" pitchFamily="34" charset="-120"/>
              </a:rPr>
              <a:t>Start: 48</a:t>
            </a:r>
            <a:endParaRPr lang="en-US" sz="950" dirty="0"/>
          </a:p>
        </p:txBody>
      </p:sp>
      <p:sp>
        <p:nvSpPr>
          <p:cNvPr id="24" name="Text 22"/>
          <p:cNvSpPr/>
          <p:nvPr/>
        </p:nvSpPr>
        <p:spPr>
          <a:xfrm>
            <a:off x="777240" y="2322576"/>
            <a:ext cx="4892040" cy="347472"/>
          </a:xfrm>
          <a:prstGeom prst="rect">
            <a:avLst/>
          </a:prstGeom>
          <a:noFill/>
          <a:ln/>
        </p:spPr>
        <p:txBody>
          <a:bodyPr wrap="square" rtlCol="0" anchor="ctr"/>
          <a:lstStyle/>
          <a:p>
            <a:pPr indent="0" marL="0">
              <a:buNone/>
            </a:pPr>
            <a:r>
              <a:rPr lang="en-US" sz="950" b="1" dirty="0">
                <a:solidFill>
                  <a:srgbClr val="17324D"/>
                </a:solidFill>
                <a:latin typeface="Hanken Grotesk" pitchFamily="34" charset="0"/>
                <a:ea typeface="Hanken Grotesk" pitchFamily="34" charset="-122"/>
                <a:cs typeface="Hanken Grotesk" pitchFamily="34" charset="-120"/>
              </a:rPr>
              <a:t>2. </a:t>
            </a:r>
            <a:pPr indent="0" marL="0">
              <a:buNone/>
            </a:pPr>
            <a:r>
              <a:rPr lang="en-US" sz="950" b="1" dirty="0">
                <a:solidFill>
                  <a:srgbClr val="17324D"/>
                </a:solidFill>
                <a:latin typeface="Hanken Grotesk" pitchFamily="34" charset="0"/>
                <a:ea typeface="Hanken Grotesk" pitchFamily="34" charset="-122"/>
                <a:cs typeface="Hanken Grotesk" pitchFamily="34" charset="-120"/>
              </a:rPr>
              <a:t>First split:  </a:t>
            </a:r>
            <a:pPr indent="0" marL="0">
              <a:buNone/>
            </a:pPr>
            <a:r>
              <a:rPr lang="en-US" sz="950" b="1" dirty="0">
                <a:solidFill>
                  <a:srgbClr val="24323F"/>
                </a:solidFill>
                <a:latin typeface="Courier New" pitchFamily="34" charset="0"/>
                <a:ea typeface="Courier New" pitchFamily="34" charset="-122"/>
                <a:cs typeface="Courier New" pitchFamily="34" charset="-120"/>
              </a:rPr>
              <a:t>48 = 6 × 8</a:t>
            </a:r>
            <a:endParaRPr lang="en-US" sz="950" dirty="0"/>
          </a:p>
        </p:txBody>
      </p:sp>
      <p:sp>
        <p:nvSpPr>
          <p:cNvPr id="25" name="Text 23"/>
          <p:cNvSpPr/>
          <p:nvPr/>
        </p:nvSpPr>
        <p:spPr>
          <a:xfrm>
            <a:off x="777240" y="2706624"/>
            <a:ext cx="4892040" cy="347472"/>
          </a:xfrm>
          <a:prstGeom prst="rect">
            <a:avLst/>
          </a:prstGeom>
          <a:noFill/>
          <a:ln/>
        </p:spPr>
        <p:txBody>
          <a:bodyPr wrap="square" rtlCol="0" anchor="ctr"/>
          <a:lstStyle/>
          <a:p>
            <a:pPr indent="0" marL="0">
              <a:buNone/>
            </a:pPr>
            <a:r>
              <a:rPr lang="en-US" sz="950" b="1" dirty="0">
                <a:solidFill>
                  <a:srgbClr val="17324D"/>
                </a:solidFill>
                <a:latin typeface="Hanken Grotesk" pitchFamily="34" charset="0"/>
                <a:ea typeface="Hanken Grotesk" pitchFamily="34" charset="-122"/>
                <a:cs typeface="Hanken Grotesk" pitchFamily="34" charset="-120"/>
              </a:rPr>
              <a:t>3. </a:t>
            </a:r>
            <a:pPr indent="0" marL="0">
              <a:buNone/>
            </a:pPr>
            <a:r>
              <a:rPr lang="en-US" sz="950" b="1" dirty="0">
                <a:solidFill>
                  <a:srgbClr val="17324D"/>
                </a:solidFill>
                <a:latin typeface="Hanken Grotesk" pitchFamily="34" charset="0"/>
                <a:ea typeface="Hanken Grotesk" pitchFamily="34" charset="-122"/>
                <a:cs typeface="Hanken Grotesk" pitchFamily="34" charset="-120"/>
              </a:rPr>
              <a:t>Break down 6:  </a:t>
            </a:r>
            <a:pPr indent="0" marL="0">
              <a:buNone/>
            </a:pPr>
            <a:r>
              <a:rPr lang="en-US" sz="950" b="1" dirty="0">
                <a:solidFill>
                  <a:srgbClr val="24323F"/>
                </a:solidFill>
                <a:latin typeface="Courier New" pitchFamily="34" charset="0"/>
                <a:ea typeface="Courier New" pitchFamily="34" charset="-122"/>
                <a:cs typeface="Courier New" pitchFamily="34" charset="-120"/>
              </a:rPr>
              <a:t>6 = 2 × 3</a:t>
            </a:r>
            <a:endParaRPr lang="en-US" sz="950" dirty="0"/>
          </a:p>
        </p:txBody>
      </p:sp>
      <p:sp>
        <p:nvSpPr>
          <p:cNvPr id="26" name="Text 24"/>
          <p:cNvSpPr/>
          <p:nvPr/>
        </p:nvSpPr>
        <p:spPr>
          <a:xfrm>
            <a:off x="777240" y="3090672"/>
            <a:ext cx="4892040" cy="347472"/>
          </a:xfrm>
          <a:prstGeom prst="rect">
            <a:avLst/>
          </a:prstGeom>
          <a:noFill/>
          <a:ln/>
        </p:spPr>
        <p:txBody>
          <a:bodyPr wrap="square" rtlCol="0" anchor="ctr"/>
          <a:lstStyle/>
          <a:p>
            <a:pPr indent="0" marL="0">
              <a:buNone/>
            </a:pPr>
            <a:r>
              <a:rPr lang="en-US" sz="950" b="1" dirty="0">
                <a:solidFill>
                  <a:srgbClr val="17324D"/>
                </a:solidFill>
                <a:latin typeface="Hanken Grotesk" pitchFamily="34" charset="0"/>
                <a:ea typeface="Hanken Grotesk" pitchFamily="34" charset="-122"/>
                <a:cs typeface="Hanken Grotesk" pitchFamily="34" charset="-120"/>
              </a:rPr>
              <a:t>4. </a:t>
            </a:r>
            <a:pPr indent="0" marL="0">
              <a:buNone/>
            </a:pPr>
            <a:r>
              <a:rPr lang="en-US" sz="950" b="1" dirty="0">
                <a:solidFill>
                  <a:srgbClr val="17324D"/>
                </a:solidFill>
                <a:latin typeface="Hanken Grotesk" pitchFamily="34" charset="0"/>
                <a:ea typeface="Hanken Grotesk" pitchFamily="34" charset="-122"/>
                <a:cs typeface="Hanken Grotesk" pitchFamily="34" charset="-120"/>
              </a:rPr>
              <a:t>Break down 8:  </a:t>
            </a:r>
            <a:pPr indent="0" marL="0">
              <a:buNone/>
            </a:pPr>
            <a:r>
              <a:rPr lang="en-US" sz="950" b="1" dirty="0">
                <a:solidFill>
                  <a:srgbClr val="24323F"/>
                </a:solidFill>
                <a:latin typeface="Courier New" pitchFamily="34" charset="0"/>
                <a:ea typeface="Courier New" pitchFamily="34" charset="-122"/>
                <a:cs typeface="Courier New" pitchFamily="34" charset="-120"/>
              </a:rPr>
              <a:t>8 = 2 × 4</a:t>
            </a:r>
            <a:endParaRPr lang="en-US" sz="950" dirty="0"/>
          </a:p>
        </p:txBody>
      </p:sp>
      <p:sp>
        <p:nvSpPr>
          <p:cNvPr id="27" name="Text 25"/>
          <p:cNvSpPr/>
          <p:nvPr/>
        </p:nvSpPr>
        <p:spPr>
          <a:xfrm>
            <a:off x="777240" y="3474720"/>
            <a:ext cx="4892040" cy="347472"/>
          </a:xfrm>
          <a:prstGeom prst="rect">
            <a:avLst/>
          </a:prstGeom>
          <a:noFill/>
          <a:ln/>
        </p:spPr>
        <p:txBody>
          <a:bodyPr wrap="square" rtlCol="0" anchor="ctr"/>
          <a:lstStyle/>
          <a:p>
            <a:pPr indent="0" marL="0">
              <a:buNone/>
            </a:pPr>
            <a:r>
              <a:rPr lang="en-US" sz="950" b="1" dirty="0">
                <a:solidFill>
                  <a:srgbClr val="17324D"/>
                </a:solidFill>
                <a:latin typeface="Hanken Grotesk" pitchFamily="34" charset="0"/>
                <a:ea typeface="Hanken Grotesk" pitchFamily="34" charset="-122"/>
                <a:cs typeface="Hanken Grotesk" pitchFamily="34" charset="-120"/>
              </a:rPr>
              <a:t>5. </a:t>
            </a:r>
            <a:pPr indent="0" marL="0">
              <a:buNone/>
            </a:pPr>
            <a:r>
              <a:rPr lang="en-US" sz="950" b="1" dirty="0">
                <a:solidFill>
                  <a:srgbClr val="17324D"/>
                </a:solidFill>
                <a:latin typeface="Hanken Grotesk" pitchFamily="34" charset="0"/>
                <a:ea typeface="Hanken Grotesk" pitchFamily="34" charset="-122"/>
                <a:cs typeface="Hanken Grotesk" pitchFamily="34" charset="-120"/>
              </a:rPr>
              <a:t>Final answer:  </a:t>
            </a:r>
            <a:pPr indent="0" marL="0">
              <a:buNone/>
            </a:pPr>
            <a:r>
              <a:rPr lang="en-US" sz="950" b="1" dirty="0">
                <a:solidFill>
                  <a:srgbClr val="24323F"/>
                </a:solidFill>
                <a:latin typeface="Courier New" pitchFamily="34" charset="0"/>
                <a:ea typeface="Courier New" pitchFamily="34" charset="-122"/>
                <a:cs typeface="Courier New" pitchFamily="34" charset="-120"/>
              </a:rPr>
              <a:t>48 = 2 × 3 × 2 × 4</a:t>
            </a:r>
            <a:endParaRPr lang="en-US" sz="950" dirty="0"/>
          </a:p>
        </p:txBody>
      </p:sp>
      <p:sp>
        <p:nvSpPr>
          <p:cNvPr id="28" name="Text 26"/>
          <p:cNvSpPr/>
          <p:nvPr/>
        </p:nvSpPr>
        <p:spPr>
          <a:xfrm>
            <a:off x="594360" y="4050792"/>
            <a:ext cx="5120640" cy="228600"/>
          </a:xfrm>
          <a:prstGeom prst="rect">
            <a:avLst/>
          </a:prstGeom>
          <a:noFill/>
          <a:ln/>
        </p:spPr>
        <p:txBody>
          <a:bodyPr wrap="square" rtlCol="0" anchor="ctr"/>
          <a:lstStyle/>
          <a:p>
            <a:pPr indent="0" marL="0">
              <a:buNone/>
            </a:pPr>
            <a:r>
              <a:rPr lang="en-US" sz="900" b="1" dirty="0">
                <a:solidFill>
                  <a:srgbClr val="17324D"/>
                </a:solidFill>
                <a:latin typeface="Hanken Grotesk" pitchFamily="34" charset="0"/>
                <a:ea typeface="Hanken Grotesk" pitchFamily="34" charset="-122"/>
                <a:cs typeface="Hanken Grotesk" pitchFamily="34" charset="-120"/>
              </a:rPr>
              <a:t>Which step has the error? Circle it above.</a:t>
            </a:r>
            <a:endParaRPr lang="en-US" sz="900" dirty="0"/>
          </a:p>
        </p:txBody>
      </p:sp>
      <p:sp>
        <p:nvSpPr>
          <p:cNvPr id="29" name="Shape 27"/>
          <p:cNvSpPr/>
          <p:nvPr/>
        </p:nvSpPr>
        <p:spPr>
          <a:xfrm>
            <a:off x="6035040" y="685800"/>
            <a:ext cx="2788920" cy="4023360"/>
          </a:xfrm>
          <a:prstGeom prst="roundRect">
            <a:avLst>
              <a:gd name="adj" fmla="val 2623"/>
            </a:avLst>
          </a:prstGeom>
          <a:solidFill>
            <a:srgbClr val="FCE6DE"/>
          </a:solidFill>
          <a:ln w="12700">
            <a:solidFill>
              <a:srgbClr val="E2A39B"/>
            </a:solidFill>
            <a:prstDash val="solid"/>
          </a:ln>
          <a:effectLst>
            <a:outerShdw sx="100000" sy="100000" kx="0" ky="0" algn="bl" rotWithShape="0" blurRad="50800" dist="12700" dir="5400000">
              <a:srgbClr val="1C2E42">
                <a:alpha val="10000"/>
              </a:srgbClr>
            </a:outerShdw>
          </a:effectLst>
        </p:spPr>
      </p:sp>
      <p:sp>
        <p:nvSpPr>
          <p:cNvPr id="30" name="Text 28"/>
          <p:cNvSpPr/>
          <p:nvPr/>
        </p:nvSpPr>
        <p:spPr>
          <a:xfrm>
            <a:off x="6035040" y="685800"/>
            <a:ext cx="2788920" cy="274320"/>
          </a:xfrm>
          <a:prstGeom prst="rect">
            <a:avLst/>
          </a:prstGeom>
          <a:solidFill>
            <a:srgbClr val="C0392B"/>
          </a:solidFill>
          <a:ln/>
        </p:spPr>
        <p:txBody>
          <a:bodyPr wrap="square" rtlCol="0" anchor="ctr"/>
          <a:lstStyle/>
          <a:p>
            <a:pPr algn="ctr" indent="0" marL="0">
              <a:buNone/>
            </a:pPr>
            <a:r>
              <a:rPr lang="en-US" sz="1000" b="1" dirty="0">
                <a:solidFill>
                  <a:srgbClr val="FFFFFF"/>
                </a:solidFill>
                <a:latin typeface="Outfit" pitchFamily="34" charset="0"/>
                <a:ea typeface="Outfit" pitchFamily="34" charset="-122"/>
                <a:cs typeface="Outfit" pitchFamily="34" charset="-120"/>
              </a:rPr>
              <a:t>🛠 Explain &amp; Fix</a:t>
            </a:r>
            <a:endParaRPr lang="en-US" sz="1000" dirty="0"/>
          </a:p>
        </p:txBody>
      </p:sp>
      <p:sp>
        <p:nvSpPr>
          <p:cNvPr id="31" name="Text 29"/>
          <p:cNvSpPr/>
          <p:nvPr/>
        </p:nvSpPr>
        <p:spPr>
          <a:xfrm>
            <a:off x="6217920" y="1097280"/>
            <a:ext cx="2468880" cy="502920"/>
          </a:xfrm>
          <a:prstGeom prst="rect">
            <a:avLst/>
          </a:prstGeom>
          <a:noFill/>
          <a:ln/>
        </p:spPr>
        <p:txBody>
          <a:bodyPr wrap="square" rtlCol="0" anchor="t"/>
          <a:lstStyle/>
          <a:p>
            <a:pPr indent="0" marL="0">
              <a:buNone/>
            </a:pPr>
            <a:r>
              <a:rPr lang="en-US" sz="1000" dirty="0">
                <a:solidFill>
                  <a:srgbClr val="17324D"/>
                </a:solidFill>
                <a:latin typeface="Hanken Grotesk" pitchFamily="34" charset="0"/>
                <a:ea typeface="Hanken Grotesk" pitchFamily="34" charset="-122"/>
                <a:cs typeface="Hanken Grotesk" pitchFamily="34" charset="-120"/>
              </a:rPr>
              <a:t>The mistake was </a:t>
            </a:r>
            <a:pPr indent="0" marL="0">
              <a:buNone/>
            </a:pPr>
            <a:r>
              <a:rPr lang="en-US" sz="1000" b="1" dirty="0">
                <a:solidFill>
                  <a:srgbClr val="17324D"/>
                </a:solidFill>
                <a:latin typeface="Hanken Grotesk" pitchFamily="34" charset="0"/>
                <a:ea typeface="Hanken Grotesk" pitchFamily="34" charset="-122"/>
                <a:cs typeface="Hanken Grotesk" pitchFamily="34" charset="-120"/>
              </a:rPr>
              <a:t>___</a:t>
            </a:r>
            <a:pPr indent="0" marL="0">
              <a:buNone/>
            </a:pPr>
            <a:r>
              <a:rPr lang="en-US" sz="1000" dirty="0">
                <a:solidFill>
                  <a:srgbClr val="17324D"/>
                </a:solidFill>
                <a:latin typeface="Hanken Grotesk" pitchFamily="34" charset="0"/>
                <a:ea typeface="Hanken Grotesk" pitchFamily="34" charset="-122"/>
                <a:cs typeface="Hanken Grotesk" pitchFamily="34" charset="-120"/>
              </a:rPr>
              <a:t> because </a:t>
            </a:r>
            <a:pPr indent="0" marL="0">
              <a:buNone/>
            </a:pPr>
            <a:r>
              <a:rPr lang="en-US" sz="1000" b="1" dirty="0">
                <a:solidFill>
                  <a:srgbClr val="17324D"/>
                </a:solidFill>
                <a:latin typeface="Hanken Grotesk" pitchFamily="34" charset="0"/>
                <a:ea typeface="Hanken Grotesk" pitchFamily="34" charset="-122"/>
                <a:cs typeface="Hanken Grotesk" pitchFamily="34" charset="-120"/>
              </a:rPr>
              <a:t>___</a:t>
            </a:r>
            <a:pPr indent="0" marL="0">
              <a:buNone/>
            </a:pPr>
            <a:r>
              <a:rPr lang="en-US" sz="1000" dirty="0">
                <a:solidFill>
                  <a:srgbClr val="17324D"/>
                </a:solidFill>
                <a:latin typeface="Hanken Grotesk" pitchFamily="34" charset="0"/>
                <a:ea typeface="Hanken Grotesk" pitchFamily="34" charset="-122"/>
                <a:cs typeface="Hanken Grotesk" pitchFamily="34" charset="-120"/>
              </a:rPr>
              <a:t>.</a:t>
            </a:r>
            <a:endParaRPr lang="en-US" sz="1000" dirty="0"/>
          </a:p>
        </p:txBody>
      </p:sp>
      <p:sp>
        <p:nvSpPr>
          <p:cNvPr id="32" name="Shape 30"/>
          <p:cNvSpPr/>
          <p:nvPr/>
        </p:nvSpPr>
        <p:spPr>
          <a:xfrm>
            <a:off x="6217920" y="1783080"/>
            <a:ext cx="2423160" cy="0"/>
          </a:xfrm>
          <a:prstGeom prst="line">
            <a:avLst/>
          </a:prstGeom>
          <a:noFill/>
          <a:ln w="9525">
            <a:solidFill>
              <a:srgbClr val="C7CDD2"/>
            </a:solidFill>
            <a:prstDash val="dash"/>
          </a:ln>
        </p:spPr>
      </p:sp>
      <p:sp>
        <p:nvSpPr>
          <p:cNvPr id="33" name="Shape 31"/>
          <p:cNvSpPr/>
          <p:nvPr/>
        </p:nvSpPr>
        <p:spPr>
          <a:xfrm>
            <a:off x="6217920" y="2075688"/>
            <a:ext cx="2423160" cy="0"/>
          </a:xfrm>
          <a:prstGeom prst="line">
            <a:avLst/>
          </a:prstGeom>
          <a:noFill/>
          <a:ln w="9525">
            <a:solidFill>
              <a:srgbClr val="C7CDD2"/>
            </a:solidFill>
            <a:prstDash val="dash"/>
          </a:ln>
        </p:spPr>
      </p:sp>
      <p:sp>
        <p:nvSpPr>
          <p:cNvPr id="34" name="Shape 32"/>
          <p:cNvSpPr/>
          <p:nvPr/>
        </p:nvSpPr>
        <p:spPr>
          <a:xfrm>
            <a:off x="6217920" y="2368296"/>
            <a:ext cx="2423160" cy="0"/>
          </a:xfrm>
          <a:prstGeom prst="line">
            <a:avLst/>
          </a:prstGeom>
          <a:noFill/>
          <a:ln w="9525">
            <a:solidFill>
              <a:srgbClr val="C7CDD2"/>
            </a:solidFill>
            <a:prstDash val="dash"/>
          </a:ln>
        </p:spPr>
      </p:sp>
      <p:sp>
        <p:nvSpPr>
          <p:cNvPr id="35" name="Text 33"/>
          <p:cNvSpPr/>
          <p:nvPr/>
        </p:nvSpPr>
        <p:spPr>
          <a:xfrm>
            <a:off x="6217920" y="2788920"/>
            <a:ext cx="2468880" cy="274320"/>
          </a:xfrm>
          <a:prstGeom prst="rect">
            <a:avLst/>
          </a:prstGeom>
          <a:noFill/>
          <a:ln/>
        </p:spPr>
        <p:txBody>
          <a:bodyPr wrap="square" rtlCol="0" anchor="ctr"/>
          <a:lstStyle/>
          <a:p>
            <a:pPr indent="0" marL="0">
              <a:buNone/>
            </a:pPr>
            <a:r>
              <a:rPr lang="en-US" sz="900" b="1" dirty="0">
                <a:solidFill>
                  <a:srgbClr val="17324D"/>
                </a:solidFill>
                <a:latin typeface="Hanken Grotesk" pitchFamily="34" charset="0"/>
                <a:ea typeface="Hanken Grotesk" pitchFamily="34" charset="-122"/>
                <a:cs typeface="Hanken Grotesk" pitchFamily="34" charset="-120"/>
              </a:rPr>
              <a:t>Fix it — rewrite the step correctly:</a:t>
            </a:r>
            <a:endParaRPr lang="en-US" sz="900" dirty="0"/>
          </a:p>
        </p:txBody>
      </p:sp>
      <p:sp>
        <p:nvSpPr>
          <p:cNvPr id="36" name="Shape 34"/>
          <p:cNvSpPr/>
          <p:nvPr/>
        </p:nvSpPr>
        <p:spPr>
          <a:xfrm>
            <a:off x="6217920" y="3246120"/>
            <a:ext cx="2423160" cy="0"/>
          </a:xfrm>
          <a:prstGeom prst="line">
            <a:avLst/>
          </a:prstGeom>
          <a:noFill/>
          <a:ln w="9525">
            <a:solidFill>
              <a:srgbClr val="C7CDD2"/>
            </a:solidFill>
            <a:prstDash val="dash"/>
          </a:ln>
        </p:spPr>
      </p:sp>
      <p:sp>
        <p:nvSpPr>
          <p:cNvPr id="37" name="Shape 35"/>
          <p:cNvSpPr/>
          <p:nvPr/>
        </p:nvSpPr>
        <p:spPr>
          <a:xfrm>
            <a:off x="6217920" y="3538728"/>
            <a:ext cx="2423160" cy="0"/>
          </a:xfrm>
          <a:prstGeom prst="line">
            <a:avLst/>
          </a:prstGeom>
          <a:noFill/>
          <a:ln w="9525">
            <a:solidFill>
              <a:srgbClr val="C7CDD2"/>
            </a:solidFill>
            <a:prstDash val="dash"/>
          </a:ln>
        </p:spPr>
      </p:sp>
      <p:sp>
        <p:nvSpPr>
          <p:cNvPr id="38" name="Shape 36"/>
          <p:cNvSpPr/>
          <p:nvPr/>
        </p:nvSpPr>
        <p:spPr>
          <a:xfrm>
            <a:off x="6217920" y="3831336"/>
            <a:ext cx="2423160" cy="0"/>
          </a:xfrm>
          <a:prstGeom prst="line">
            <a:avLst/>
          </a:prstGeom>
          <a:noFill/>
          <a:ln w="9525">
            <a:solidFill>
              <a:srgbClr val="C7CDD2"/>
            </a:solidFill>
            <a:prstDash val="dash"/>
          </a:ln>
        </p:spPr>
      </p:sp>
      <p:sp>
        <p:nvSpPr>
          <p:cNvPr id="39" name="Shape 37"/>
          <p:cNvSpPr/>
          <p:nvPr/>
        </p:nvSpPr>
        <p:spPr>
          <a:xfrm>
            <a:off x="6217920" y="4123944"/>
            <a:ext cx="2423160" cy="0"/>
          </a:xfrm>
          <a:prstGeom prst="line">
            <a:avLst/>
          </a:prstGeom>
          <a:noFill/>
          <a:ln w="9525">
            <a:solidFill>
              <a:srgbClr val="C7CDD2"/>
            </a:solidFill>
            <a:prstDash val="dash"/>
          </a:ln>
        </p:spPr>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7F4EC"/>
        </a:solidFill>
      </p:bgPr>
    </p:bg>
    <p:spTree>
      <p:nvGrpSpPr>
        <p:cNvPr id="1" name=""/>
        <p:cNvGrpSpPr/>
        <p:nvPr/>
      </p:nvGrpSpPr>
      <p:grpSpPr>
        <a:xfrm>
          <a:off x="0" y="0"/>
          <a:ext cx="0" cy="0"/>
          <a:chOff x="0" y="0"/>
          <a:chExt cx="0" cy="0"/>
        </a:xfrm>
      </p:grpSpPr>
      <p:sp>
        <p:nvSpPr>
          <p:cNvPr id="2" name="Shape 0"/>
          <p:cNvSpPr/>
          <p:nvPr/>
        </p:nvSpPr>
        <p:spPr>
          <a:xfrm>
            <a:off x="0" y="0"/>
            <a:ext cx="9144000" cy="475488"/>
          </a:xfrm>
          <a:prstGeom prst="rect">
            <a:avLst/>
          </a:prstGeom>
          <a:solidFill>
            <a:srgbClr val="17324D"/>
          </a:solidFill>
          <a:ln/>
        </p:spPr>
      </p:sp>
      <p:sp>
        <p:nvSpPr>
          <p:cNvPr id="3" name="Text 1"/>
          <p:cNvSpPr/>
          <p:nvPr/>
        </p:nvSpPr>
        <p:spPr>
          <a:xfrm>
            <a:off x="274320" y="0"/>
            <a:ext cx="2194560" cy="475488"/>
          </a:xfrm>
          <a:prstGeom prst="rect">
            <a:avLst/>
          </a:prstGeom>
          <a:noFill/>
          <a:ln/>
        </p:spPr>
        <p:txBody>
          <a:bodyPr wrap="square" rtlCol="0" anchor="ctr"/>
          <a:lstStyle/>
          <a:p>
            <a:pPr indent="0" marL="0">
              <a:buNone/>
            </a:pPr>
            <a:r>
              <a:rPr lang="en-US" sz="850" b="1" spc="100" kern="0" dirty="0">
                <a:solidFill>
                  <a:srgbClr val="BFE6E2"/>
                </a:solidFill>
                <a:latin typeface="Outfit" pitchFamily="34" charset="0"/>
                <a:ea typeface="Outfit" pitchFamily="34" charset="-122"/>
                <a:cs typeface="Outfit" pitchFamily="34" charset="-120"/>
              </a:rPr>
              <a:t>NEFT TEACHER</a:t>
            </a:r>
            <a:endParaRPr lang="en-US" sz="850" dirty="0"/>
          </a:p>
        </p:txBody>
      </p:sp>
      <p:sp>
        <p:nvSpPr>
          <p:cNvPr id="4" name="Text 2"/>
          <p:cNvSpPr/>
          <p:nvPr/>
        </p:nvSpPr>
        <p:spPr>
          <a:xfrm>
            <a:off x="1737360" y="0"/>
            <a:ext cx="5120640" cy="475488"/>
          </a:xfrm>
          <a:prstGeom prst="rect">
            <a:avLst/>
          </a:prstGeom>
          <a:noFill/>
          <a:ln/>
        </p:spPr>
        <p:txBody>
          <a:bodyPr wrap="square" rtlCol="0" anchor="ctr"/>
          <a:lstStyle/>
          <a:p>
            <a:pPr indent="0" marL="0">
              <a:buNone/>
            </a:pPr>
            <a:r>
              <a:rPr lang="en-US" sz="1500" b="1" dirty="0">
                <a:solidFill>
                  <a:srgbClr val="FFFFFF"/>
                </a:solidFill>
                <a:latin typeface="Outfit" pitchFamily="34" charset="0"/>
                <a:ea typeface="Outfit" pitchFamily="34" charset="-122"/>
                <a:cs typeface="Outfit" pitchFamily="34" charset="-120"/>
              </a:rPr>
              <a:t>Two-Column Notes / Notas</a:t>
            </a:r>
            <a:endParaRPr lang="en-US" sz="1500" dirty="0"/>
          </a:p>
        </p:txBody>
      </p:sp>
      <p:sp>
        <p:nvSpPr>
          <p:cNvPr id="5" name="Text 3"/>
          <p:cNvSpPr/>
          <p:nvPr/>
        </p:nvSpPr>
        <p:spPr>
          <a:xfrm>
            <a:off x="7360920" y="100584"/>
            <a:ext cx="914400" cy="274320"/>
          </a:xfrm>
          <a:prstGeom prst="rect">
            <a:avLst>
              <a:gd name="adj" fmla="val 50000"/>
            </a:avLst>
          </a:prstGeom>
          <a:solidFill>
            <a:srgbClr val="1FA6A2"/>
          </a:solidFill>
          <a:ln/>
        </p:spPr>
        <p:txBody>
          <a:bodyPr wrap="square" rtlCol="0" anchor="ctr"/>
          <a:lstStyle/>
          <a:p>
            <a:pPr algn="ctr" indent="0" marL="0">
              <a:buNone/>
            </a:pPr>
            <a:r>
              <a:rPr lang="en-US" sz="900" b="1" dirty="0">
                <a:solidFill>
                  <a:srgbClr val="FFFFFF"/>
                </a:solidFill>
                <a:latin typeface="Outfit" pitchFamily="34" charset="0"/>
                <a:ea typeface="Outfit" pitchFamily="34" charset="-122"/>
                <a:cs typeface="Outfit" pitchFamily="34" charset="-120"/>
              </a:rPr>
              <a:t>6.NS.4</a:t>
            </a:r>
            <a:endParaRPr lang="en-US" sz="900" dirty="0"/>
          </a:p>
        </p:txBody>
      </p:sp>
      <p:sp>
        <p:nvSpPr>
          <p:cNvPr id="6" name="Shape 4"/>
          <p:cNvSpPr/>
          <p:nvPr/>
        </p:nvSpPr>
        <p:spPr>
          <a:xfrm>
            <a:off x="73152" y="685800"/>
            <a:ext cx="109728" cy="109728"/>
          </a:xfrm>
          <a:prstGeom prst="ellipse">
            <a:avLst/>
          </a:prstGeom>
          <a:solidFill>
            <a:srgbClr val="CBD3D9"/>
          </a:solidFill>
          <a:ln/>
        </p:spPr>
      </p:sp>
      <p:sp>
        <p:nvSpPr>
          <p:cNvPr id="7" name="Shape 5"/>
          <p:cNvSpPr/>
          <p:nvPr/>
        </p:nvSpPr>
        <p:spPr>
          <a:xfrm>
            <a:off x="73152" y="1161288"/>
            <a:ext cx="109728" cy="109728"/>
          </a:xfrm>
          <a:prstGeom prst="ellipse">
            <a:avLst/>
          </a:prstGeom>
          <a:solidFill>
            <a:srgbClr val="CBD3D9"/>
          </a:solidFill>
          <a:ln/>
        </p:spPr>
      </p:sp>
      <p:sp>
        <p:nvSpPr>
          <p:cNvPr id="8" name="Shape 6"/>
          <p:cNvSpPr/>
          <p:nvPr/>
        </p:nvSpPr>
        <p:spPr>
          <a:xfrm>
            <a:off x="73152" y="1636776"/>
            <a:ext cx="109728" cy="109728"/>
          </a:xfrm>
          <a:prstGeom prst="ellipse">
            <a:avLst/>
          </a:prstGeom>
          <a:solidFill>
            <a:srgbClr val="CBD3D9"/>
          </a:solidFill>
          <a:ln/>
        </p:spPr>
      </p:sp>
      <p:sp>
        <p:nvSpPr>
          <p:cNvPr id="9" name="Shape 7"/>
          <p:cNvSpPr/>
          <p:nvPr/>
        </p:nvSpPr>
        <p:spPr>
          <a:xfrm>
            <a:off x="73152" y="2112264"/>
            <a:ext cx="109728" cy="109728"/>
          </a:xfrm>
          <a:prstGeom prst="ellipse">
            <a:avLst/>
          </a:prstGeom>
          <a:solidFill>
            <a:srgbClr val="CBD3D9"/>
          </a:solidFill>
          <a:ln/>
        </p:spPr>
      </p:sp>
      <p:sp>
        <p:nvSpPr>
          <p:cNvPr id="10" name="Shape 8"/>
          <p:cNvSpPr/>
          <p:nvPr/>
        </p:nvSpPr>
        <p:spPr>
          <a:xfrm>
            <a:off x="73152" y="2587752"/>
            <a:ext cx="109728" cy="109728"/>
          </a:xfrm>
          <a:prstGeom prst="ellipse">
            <a:avLst/>
          </a:prstGeom>
          <a:solidFill>
            <a:srgbClr val="CBD3D9"/>
          </a:solidFill>
          <a:ln/>
        </p:spPr>
      </p:sp>
      <p:sp>
        <p:nvSpPr>
          <p:cNvPr id="11" name="Shape 9"/>
          <p:cNvSpPr/>
          <p:nvPr/>
        </p:nvSpPr>
        <p:spPr>
          <a:xfrm>
            <a:off x="73152" y="3063240"/>
            <a:ext cx="109728" cy="109728"/>
          </a:xfrm>
          <a:prstGeom prst="ellipse">
            <a:avLst/>
          </a:prstGeom>
          <a:solidFill>
            <a:srgbClr val="CBD3D9"/>
          </a:solidFill>
          <a:ln/>
        </p:spPr>
      </p:sp>
      <p:sp>
        <p:nvSpPr>
          <p:cNvPr id="12" name="Shape 10"/>
          <p:cNvSpPr/>
          <p:nvPr/>
        </p:nvSpPr>
        <p:spPr>
          <a:xfrm>
            <a:off x="73152" y="3538728"/>
            <a:ext cx="109728" cy="109728"/>
          </a:xfrm>
          <a:prstGeom prst="ellipse">
            <a:avLst/>
          </a:prstGeom>
          <a:solidFill>
            <a:srgbClr val="CBD3D9"/>
          </a:solidFill>
          <a:ln/>
        </p:spPr>
      </p:sp>
      <p:sp>
        <p:nvSpPr>
          <p:cNvPr id="13" name="Shape 11"/>
          <p:cNvSpPr/>
          <p:nvPr/>
        </p:nvSpPr>
        <p:spPr>
          <a:xfrm>
            <a:off x="73152" y="4014216"/>
            <a:ext cx="109728" cy="109728"/>
          </a:xfrm>
          <a:prstGeom prst="ellipse">
            <a:avLst/>
          </a:prstGeom>
          <a:solidFill>
            <a:srgbClr val="CBD3D9"/>
          </a:solidFill>
          <a:ln/>
        </p:spPr>
      </p:sp>
      <p:sp>
        <p:nvSpPr>
          <p:cNvPr id="14" name="Shape 12"/>
          <p:cNvSpPr/>
          <p:nvPr/>
        </p:nvSpPr>
        <p:spPr>
          <a:xfrm>
            <a:off x="73152" y="4489704"/>
            <a:ext cx="109728" cy="109728"/>
          </a:xfrm>
          <a:prstGeom prst="ellipse">
            <a:avLst/>
          </a:prstGeom>
          <a:solidFill>
            <a:srgbClr val="CBD3D9"/>
          </a:solidFill>
          <a:ln/>
        </p:spPr>
      </p:sp>
      <p:sp>
        <p:nvSpPr>
          <p:cNvPr id="15" name="Text 13"/>
          <p:cNvSpPr/>
          <p:nvPr/>
        </p:nvSpPr>
        <p:spPr>
          <a:xfrm>
            <a:off x="274320" y="4850892"/>
            <a:ext cx="6400800" cy="256032"/>
          </a:xfrm>
          <a:prstGeom prst="rect">
            <a:avLst/>
          </a:prstGeom>
          <a:noFill/>
          <a:ln/>
        </p:spPr>
        <p:txBody>
          <a:bodyPr wrap="square" rtlCol="0" anchor="ctr"/>
          <a:lstStyle/>
          <a:p>
            <a:pPr indent="0" marL="0">
              <a:buNone/>
            </a:pPr>
            <a:r>
              <a:rPr lang="en-US" sz="750" dirty="0">
                <a:solidFill>
                  <a:srgbClr val="8A96A3"/>
                </a:solidFill>
                <a:latin typeface="Hanken Grotesk" pitchFamily="34" charset="0"/>
                <a:ea typeface="Hanken Grotesk" pitchFamily="34" charset="-122"/>
                <a:cs typeface="Hanken Grotesk" pitchFamily="34" charset="-120"/>
              </a:rPr>
              <a:t>Reveal Math Grade 6  ·  Unit 1  ·  Lesson 1-1-flagship</a:t>
            </a:r>
            <a:endParaRPr lang="en-US" sz="750" dirty="0"/>
          </a:p>
        </p:txBody>
      </p:sp>
      <p:sp>
        <p:nvSpPr>
          <p:cNvPr id="16" name="Text 14"/>
          <p:cNvSpPr/>
          <p:nvPr/>
        </p:nvSpPr>
        <p:spPr>
          <a:xfrm>
            <a:off x="8412480" y="4850892"/>
            <a:ext cx="457200" cy="256032"/>
          </a:xfrm>
          <a:prstGeom prst="rect">
            <a:avLst/>
          </a:prstGeom>
          <a:noFill/>
          <a:ln/>
        </p:spPr>
        <p:txBody>
          <a:bodyPr wrap="square" rtlCol="0" anchor="ctr"/>
          <a:lstStyle/>
          <a:p>
            <a:pPr algn="r" indent="0" marL="0">
              <a:buNone/>
            </a:pPr>
            <a:r>
              <a:rPr lang="en-US" sz="800" b="1" dirty="0">
                <a:solidFill>
                  <a:srgbClr val="8A96A3"/>
                </a:solidFill>
                <a:latin typeface="Outfit" pitchFamily="34" charset="0"/>
                <a:ea typeface="Outfit" pitchFamily="34" charset="-122"/>
                <a:cs typeface="Outfit" pitchFamily="34" charset="-120"/>
              </a:rPr>
              <a:t>7</a:t>
            </a:r>
            <a:endParaRPr lang="en-US" sz="800" dirty="0"/>
          </a:p>
        </p:txBody>
      </p:sp>
      <p:sp>
        <p:nvSpPr>
          <p:cNvPr id="17" name="Shape 15"/>
          <p:cNvSpPr/>
          <p:nvPr/>
        </p:nvSpPr>
        <p:spPr>
          <a:xfrm>
            <a:off x="411480" y="685800"/>
            <a:ext cx="4160520" cy="4023360"/>
          </a:xfrm>
          <a:prstGeom prst="roundRect">
            <a:avLst>
              <a:gd name="adj" fmla="val 1818"/>
            </a:avLst>
          </a:prstGeom>
          <a:solidFill>
            <a:srgbClr val="FFFFFF"/>
          </a:solidFill>
          <a:ln w="12700">
            <a:solidFill>
              <a:srgbClr val="D6DBDF"/>
            </a:solidFill>
            <a:prstDash val="solid"/>
          </a:ln>
          <a:effectLst>
            <a:outerShdw sx="100000" sy="100000" kx="0" ky="0" algn="bl" rotWithShape="0" blurRad="50800" dist="12700" dir="5400000">
              <a:srgbClr val="1C2E42">
                <a:alpha val="10000"/>
              </a:srgbClr>
            </a:outerShdw>
          </a:effectLst>
        </p:spPr>
      </p:sp>
      <p:sp>
        <p:nvSpPr>
          <p:cNvPr id="18" name="Text 16"/>
          <p:cNvSpPr/>
          <p:nvPr/>
        </p:nvSpPr>
        <p:spPr>
          <a:xfrm>
            <a:off x="411480" y="685800"/>
            <a:ext cx="4160520" cy="292608"/>
          </a:xfrm>
          <a:prstGeom prst="rect">
            <a:avLst/>
          </a:prstGeom>
          <a:solidFill>
            <a:srgbClr val="17324D"/>
          </a:solidFill>
          <a:ln/>
        </p:spPr>
        <p:txBody>
          <a:bodyPr wrap="square" rtlCol="0" anchor="ctr"/>
          <a:lstStyle/>
          <a:p>
            <a:pPr algn="ctr" indent="0" marL="0">
              <a:buNone/>
            </a:pPr>
            <a:r>
              <a:rPr lang="en-US" sz="1000" b="1" dirty="0">
                <a:solidFill>
                  <a:srgbClr val="FFFFFF"/>
                </a:solidFill>
                <a:latin typeface="Outfit" pitchFamily="34" charset="0"/>
                <a:ea typeface="Outfit" pitchFamily="34" charset="-122"/>
                <a:cs typeface="Outfit" pitchFamily="34" charset="-120"/>
              </a:rPr>
              <a:t>Steps / Pasos</a:t>
            </a:r>
            <a:endParaRPr lang="en-US" sz="1000" dirty="0"/>
          </a:p>
        </p:txBody>
      </p:sp>
      <p:sp>
        <p:nvSpPr>
          <p:cNvPr id="19" name="Shape 17"/>
          <p:cNvSpPr/>
          <p:nvPr/>
        </p:nvSpPr>
        <p:spPr>
          <a:xfrm>
            <a:off x="594360" y="1243584"/>
            <a:ext cx="274320" cy="274320"/>
          </a:xfrm>
          <a:prstGeom prst="ellipse">
            <a:avLst/>
          </a:prstGeom>
          <a:solidFill>
            <a:srgbClr val="1FA6A2"/>
          </a:solidFill>
          <a:ln/>
        </p:spPr>
      </p:sp>
      <p:sp>
        <p:nvSpPr>
          <p:cNvPr id="20" name="Text 18"/>
          <p:cNvSpPr/>
          <p:nvPr/>
        </p:nvSpPr>
        <p:spPr>
          <a:xfrm>
            <a:off x="594360" y="1243584"/>
            <a:ext cx="274320" cy="274320"/>
          </a:xfrm>
          <a:prstGeom prst="rect">
            <a:avLst/>
          </a:prstGeom>
          <a:noFill/>
          <a:ln/>
        </p:spPr>
        <p:txBody>
          <a:bodyPr wrap="square" rtlCol="0" anchor="ctr"/>
          <a:lstStyle/>
          <a:p>
            <a:pPr algn="ctr" indent="0" marL="0">
              <a:buNone/>
            </a:pPr>
            <a:r>
              <a:rPr lang="en-US" sz="1100" b="1" dirty="0">
                <a:solidFill>
                  <a:srgbClr val="FFFFFF"/>
                </a:solidFill>
                <a:latin typeface="Outfit" pitchFamily="34" charset="0"/>
                <a:ea typeface="Outfit" pitchFamily="34" charset="-122"/>
                <a:cs typeface="Outfit" pitchFamily="34" charset="-120"/>
              </a:rPr>
              <a:t>1</a:t>
            </a:r>
            <a:endParaRPr lang="en-US" sz="1100" dirty="0"/>
          </a:p>
        </p:txBody>
      </p:sp>
      <p:sp>
        <p:nvSpPr>
          <p:cNvPr id="21" name="Text 19"/>
          <p:cNvSpPr/>
          <p:nvPr/>
        </p:nvSpPr>
        <p:spPr>
          <a:xfrm>
            <a:off x="978408" y="1188720"/>
            <a:ext cx="3456432" cy="420624"/>
          </a:xfrm>
          <a:prstGeom prst="rect">
            <a:avLst/>
          </a:prstGeom>
          <a:noFill/>
          <a:ln/>
        </p:spPr>
        <p:txBody>
          <a:bodyPr wrap="square" rtlCol="0" anchor="ctr"/>
          <a:lstStyle/>
          <a:p>
            <a:pPr indent="0" marL="0">
              <a:buNone/>
            </a:pPr>
            <a:r>
              <a:rPr lang="en-US" sz="1050" dirty="0">
                <a:solidFill>
                  <a:srgbClr val="24323F"/>
                </a:solidFill>
                <a:latin typeface="Hanken Grotesk" pitchFamily="34" charset="0"/>
                <a:ea typeface="Hanken Grotesk" pitchFamily="34" charset="-122"/>
                <a:cs typeface="Hanken Grotesk" pitchFamily="34" charset="-120"/>
              </a:rPr>
              <a:t>I want the prime factorization of 60. I start by splitting it: 60 = 6 × 10.</a:t>
            </a:r>
            <a:endParaRPr lang="en-US" sz="1050" dirty="0"/>
          </a:p>
        </p:txBody>
      </p:sp>
      <p:sp>
        <p:nvSpPr>
          <p:cNvPr id="22" name="Shape 20"/>
          <p:cNvSpPr/>
          <p:nvPr/>
        </p:nvSpPr>
        <p:spPr>
          <a:xfrm>
            <a:off x="594360" y="1719072"/>
            <a:ext cx="274320" cy="274320"/>
          </a:xfrm>
          <a:prstGeom prst="ellipse">
            <a:avLst/>
          </a:prstGeom>
          <a:solidFill>
            <a:srgbClr val="1FA6A2"/>
          </a:solidFill>
          <a:ln/>
        </p:spPr>
      </p:sp>
      <p:sp>
        <p:nvSpPr>
          <p:cNvPr id="23" name="Text 21"/>
          <p:cNvSpPr/>
          <p:nvPr/>
        </p:nvSpPr>
        <p:spPr>
          <a:xfrm>
            <a:off x="594360" y="1719072"/>
            <a:ext cx="274320" cy="274320"/>
          </a:xfrm>
          <a:prstGeom prst="rect">
            <a:avLst/>
          </a:prstGeom>
          <a:noFill/>
          <a:ln/>
        </p:spPr>
        <p:txBody>
          <a:bodyPr wrap="square" rtlCol="0" anchor="ctr"/>
          <a:lstStyle/>
          <a:p>
            <a:pPr algn="ctr" indent="0" marL="0">
              <a:buNone/>
            </a:pPr>
            <a:r>
              <a:rPr lang="en-US" sz="1100" b="1" dirty="0">
                <a:solidFill>
                  <a:srgbClr val="FFFFFF"/>
                </a:solidFill>
                <a:latin typeface="Outfit" pitchFamily="34" charset="0"/>
                <a:ea typeface="Outfit" pitchFamily="34" charset="-122"/>
                <a:cs typeface="Outfit" pitchFamily="34" charset="-120"/>
              </a:rPr>
              <a:t>2</a:t>
            </a:r>
            <a:endParaRPr lang="en-US" sz="1100" dirty="0"/>
          </a:p>
        </p:txBody>
      </p:sp>
      <p:sp>
        <p:nvSpPr>
          <p:cNvPr id="24" name="Text 22"/>
          <p:cNvSpPr/>
          <p:nvPr/>
        </p:nvSpPr>
        <p:spPr>
          <a:xfrm>
            <a:off x="978408" y="1664208"/>
            <a:ext cx="3456432" cy="420624"/>
          </a:xfrm>
          <a:prstGeom prst="rect">
            <a:avLst/>
          </a:prstGeom>
          <a:noFill/>
          <a:ln/>
        </p:spPr>
        <p:txBody>
          <a:bodyPr wrap="square" rtlCol="0" anchor="ctr"/>
          <a:lstStyle/>
          <a:p>
            <a:pPr indent="0" marL="0">
              <a:buNone/>
            </a:pPr>
            <a:r>
              <a:rPr lang="en-US" sz="1050" dirty="0">
                <a:solidFill>
                  <a:srgbClr val="24323F"/>
                </a:solidFill>
                <a:latin typeface="Hanken Grotesk" pitchFamily="34" charset="0"/>
                <a:ea typeface="Hanken Grotesk" pitchFamily="34" charset="-122"/>
                <a:cs typeface="Hanken Grotesk" pitchFamily="34" charset="-120"/>
              </a:rPr>
              <a:t>6 is not prime, so I break it: 6 = 2 × 3. Both 2 and 3 are prime, so I stop those branches.</a:t>
            </a:r>
            <a:endParaRPr lang="en-US" sz="1050" dirty="0"/>
          </a:p>
        </p:txBody>
      </p:sp>
      <p:sp>
        <p:nvSpPr>
          <p:cNvPr id="25" name="Shape 23"/>
          <p:cNvSpPr/>
          <p:nvPr/>
        </p:nvSpPr>
        <p:spPr>
          <a:xfrm>
            <a:off x="594360" y="2194560"/>
            <a:ext cx="274320" cy="274320"/>
          </a:xfrm>
          <a:prstGeom prst="ellipse">
            <a:avLst/>
          </a:prstGeom>
          <a:solidFill>
            <a:srgbClr val="1FA6A2"/>
          </a:solidFill>
          <a:ln/>
        </p:spPr>
      </p:sp>
      <p:sp>
        <p:nvSpPr>
          <p:cNvPr id="26" name="Text 24"/>
          <p:cNvSpPr/>
          <p:nvPr/>
        </p:nvSpPr>
        <p:spPr>
          <a:xfrm>
            <a:off x="594360" y="2194560"/>
            <a:ext cx="274320" cy="274320"/>
          </a:xfrm>
          <a:prstGeom prst="rect">
            <a:avLst/>
          </a:prstGeom>
          <a:noFill/>
          <a:ln/>
        </p:spPr>
        <p:txBody>
          <a:bodyPr wrap="square" rtlCol="0" anchor="ctr"/>
          <a:lstStyle/>
          <a:p>
            <a:pPr algn="ctr" indent="0" marL="0">
              <a:buNone/>
            </a:pPr>
            <a:r>
              <a:rPr lang="en-US" sz="1100" b="1" dirty="0">
                <a:solidFill>
                  <a:srgbClr val="FFFFFF"/>
                </a:solidFill>
                <a:latin typeface="Outfit" pitchFamily="34" charset="0"/>
                <a:ea typeface="Outfit" pitchFamily="34" charset="-122"/>
                <a:cs typeface="Outfit" pitchFamily="34" charset="-120"/>
              </a:rPr>
              <a:t>3</a:t>
            </a:r>
            <a:endParaRPr lang="en-US" sz="1100" dirty="0"/>
          </a:p>
        </p:txBody>
      </p:sp>
      <p:sp>
        <p:nvSpPr>
          <p:cNvPr id="27" name="Text 25"/>
          <p:cNvSpPr/>
          <p:nvPr/>
        </p:nvSpPr>
        <p:spPr>
          <a:xfrm>
            <a:off x="978408" y="2139696"/>
            <a:ext cx="3456432" cy="420624"/>
          </a:xfrm>
          <a:prstGeom prst="rect">
            <a:avLst/>
          </a:prstGeom>
          <a:noFill/>
          <a:ln/>
        </p:spPr>
        <p:txBody>
          <a:bodyPr wrap="square" rtlCol="0" anchor="ctr"/>
          <a:lstStyle/>
          <a:p>
            <a:pPr indent="0" marL="0">
              <a:buNone/>
            </a:pPr>
            <a:r>
              <a:rPr lang="en-US" sz="1050" dirty="0">
                <a:solidFill>
                  <a:srgbClr val="24323F"/>
                </a:solidFill>
                <a:latin typeface="Hanken Grotesk" pitchFamily="34" charset="0"/>
                <a:ea typeface="Hanken Grotesk" pitchFamily="34" charset="-122"/>
                <a:cs typeface="Hanken Grotesk" pitchFamily="34" charset="-120"/>
              </a:rPr>
              <a:t>10 is not prime, so I break it: 10 = 2 × 5. Both 2 and 5 are prime, so I stop.</a:t>
            </a:r>
            <a:endParaRPr lang="en-US" sz="1050" dirty="0"/>
          </a:p>
        </p:txBody>
      </p:sp>
      <p:sp>
        <p:nvSpPr>
          <p:cNvPr id="28" name="Shape 26"/>
          <p:cNvSpPr/>
          <p:nvPr/>
        </p:nvSpPr>
        <p:spPr>
          <a:xfrm>
            <a:off x="594360" y="2670048"/>
            <a:ext cx="274320" cy="274320"/>
          </a:xfrm>
          <a:prstGeom prst="ellipse">
            <a:avLst/>
          </a:prstGeom>
          <a:solidFill>
            <a:srgbClr val="1FA6A2"/>
          </a:solidFill>
          <a:ln/>
        </p:spPr>
      </p:sp>
      <p:sp>
        <p:nvSpPr>
          <p:cNvPr id="29" name="Text 27"/>
          <p:cNvSpPr/>
          <p:nvPr/>
        </p:nvSpPr>
        <p:spPr>
          <a:xfrm>
            <a:off x="594360" y="2670048"/>
            <a:ext cx="274320" cy="274320"/>
          </a:xfrm>
          <a:prstGeom prst="rect">
            <a:avLst/>
          </a:prstGeom>
          <a:noFill/>
          <a:ln/>
        </p:spPr>
        <p:txBody>
          <a:bodyPr wrap="square" rtlCol="0" anchor="ctr"/>
          <a:lstStyle/>
          <a:p>
            <a:pPr algn="ctr" indent="0" marL="0">
              <a:buNone/>
            </a:pPr>
            <a:r>
              <a:rPr lang="en-US" sz="1100" b="1" dirty="0">
                <a:solidFill>
                  <a:srgbClr val="FFFFFF"/>
                </a:solidFill>
                <a:latin typeface="Outfit" pitchFamily="34" charset="0"/>
                <a:ea typeface="Outfit" pitchFamily="34" charset="-122"/>
                <a:cs typeface="Outfit" pitchFamily="34" charset="-120"/>
              </a:rPr>
              <a:t>4</a:t>
            </a:r>
            <a:endParaRPr lang="en-US" sz="1100" dirty="0"/>
          </a:p>
        </p:txBody>
      </p:sp>
      <p:sp>
        <p:nvSpPr>
          <p:cNvPr id="30" name="Text 28"/>
          <p:cNvSpPr/>
          <p:nvPr/>
        </p:nvSpPr>
        <p:spPr>
          <a:xfrm>
            <a:off x="978408" y="2615184"/>
            <a:ext cx="3456432" cy="420624"/>
          </a:xfrm>
          <a:prstGeom prst="rect">
            <a:avLst/>
          </a:prstGeom>
          <a:noFill/>
          <a:ln/>
        </p:spPr>
        <p:txBody>
          <a:bodyPr wrap="square" rtlCol="0" anchor="ctr"/>
          <a:lstStyle/>
          <a:p>
            <a:pPr indent="0" marL="0">
              <a:buNone/>
            </a:pPr>
            <a:r>
              <a:rPr lang="en-US" sz="1050" dirty="0">
                <a:solidFill>
                  <a:srgbClr val="24323F"/>
                </a:solidFill>
                <a:latin typeface="Hanken Grotesk" pitchFamily="34" charset="0"/>
                <a:ea typeface="Hanken Grotesk" pitchFamily="34" charset="-122"/>
                <a:cs typeface="Hanken Grotesk" pitchFamily="34" charset="-120"/>
              </a:rPr>
              <a:t>Now every factor is prime: 60 = 2 × 2 × 3 × 5.</a:t>
            </a:r>
            <a:endParaRPr lang="en-US" sz="1050" dirty="0"/>
          </a:p>
        </p:txBody>
      </p:sp>
      <p:sp>
        <p:nvSpPr>
          <p:cNvPr id="31" name="Shape 29"/>
          <p:cNvSpPr/>
          <p:nvPr/>
        </p:nvSpPr>
        <p:spPr>
          <a:xfrm>
            <a:off x="594360" y="3145536"/>
            <a:ext cx="274320" cy="274320"/>
          </a:xfrm>
          <a:prstGeom prst="ellipse">
            <a:avLst/>
          </a:prstGeom>
          <a:solidFill>
            <a:srgbClr val="1FA6A2"/>
          </a:solidFill>
          <a:ln/>
        </p:spPr>
      </p:sp>
      <p:sp>
        <p:nvSpPr>
          <p:cNvPr id="32" name="Text 30"/>
          <p:cNvSpPr/>
          <p:nvPr/>
        </p:nvSpPr>
        <p:spPr>
          <a:xfrm>
            <a:off x="594360" y="3145536"/>
            <a:ext cx="274320" cy="274320"/>
          </a:xfrm>
          <a:prstGeom prst="rect">
            <a:avLst/>
          </a:prstGeom>
          <a:noFill/>
          <a:ln/>
        </p:spPr>
        <p:txBody>
          <a:bodyPr wrap="square" rtlCol="0" anchor="ctr"/>
          <a:lstStyle/>
          <a:p>
            <a:pPr algn="ctr" indent="0" marL="0">
              <a:buNone/>
            </a:pPr>
            <a:r>
              <a:rPr lang="en-US" sz="1100" b="1" dirty="0">
                <a:solidFill>
                  <a:srgbClr val="FFFFFF"/>
                </a:solidFill>
                <a:latin typeface="Outfit" pitchFamily="34" charset="0"/>
                <a:ea typeface="Outfit" pitchFamily="34" charset="-122"/>
                <a:cs typeface="Outfit" pitchFamily="34" charset="-120"/>
              </a:rPr>
              <a:t>5</a:t>
            </a:r>
            <a:endParaRPr lang="en-US" sz="1100" dirty="0"/>
          </a:p>
        </p:txBody>
      </p:sp>
      <p:sp>
        <p:nvSpPr>
          <p:cNvPr id="33" name="Text 31"/>
          <p:cNvSpPr/>
          <p:nvPr/>
        </p:nvSpPr>
        <p:spPr>
          <a:xfrm>
            <a:off x="978408" y="3090672"/>
            <a:ext cx="3456432" cy="420624"/>
          </a:xfrm>
          <a:prstGeom prst="rect">
            <a:avLst/>
          </a:prstGeom>
          <a:noFill/>
          <a:ln/>
        </p:spPr>
        <p:txBody>
          <a:bodyPr wrap="square" rtlCol="0" anchor="ctr"/>
          <a:lstStyle/>
          <a:p>
            <a:pPr indent="0" marL="0">
              <a:buNone/>
            </a:pPr>
            <a:r>
              <a:rPr lang="en-US" sz="1050" dirty="0">
                <a:solidFill>
                  <a:srgbClr val="24323F"/>
                </a:solidFill>
                <a:latin typeface="Hanken Grotesk" pitchFamily="34" charset="0"/>
                <a:ea typeface="Hanken Grotesk" pitchFamily="34" charset="-122"/>
                <a:cs typeface="Hanken Grotesk" pitchFamily="34" charset="-120"/>
              </a:rPr>
              <a:t>Using exponents, I write it as 2² × 3 × 5. I check: 2 × 2 × 3 × 5 = 60. Correct.</a:t>
            </a:r>
            <a:endParaRPr lang="en-US" sz="1050" dirty="0"/>
          </a:p>
        </p:txBody>
      </p:sp>
      <p:sp>
        <p:nvSpPr>
          <p:cNvPr id="34" name="Shape 32"/>
          <p:cNvSpPr/>
          <p:nvPr/>
        </p:nvSpPr>
        <p:spPr>
          <a:xfrm>
            <a:off x="4709160" y="685800"/>
            <a:ext cx="4114800" cy="4023360"/>
          </a:xfrm>
          <a:prstGeom prst="roundRect">
            <a:avLst>
              <a:gd name="adj" fmla="val 1818"/>
            </a:avLst>
          </a:prstGeom>
          <a:solidFill>
            <a:srgbClr val="DFF2EE"/>
          </a:solidFill>
          <a:ln w="12700">
            <a:solidFill>
              <a:srgbClr val="1FA6A2"/>
            </a:solidFill>
            <a:prstDash val="solid"/>
          </a:ln>
          <a:effectLst>
            <a:outerShdw sx="100000" sy="100000" kx="0" ky="0" algn="bl" rotWithShape="0" blurRad="50800" dist="12700" dir="5400000">
              <a:srgbClr val="1C2E42">
                <a:alpha val="10000"/>
              </a:srgbClr>
            </a:outerShdw>
          </a:effectLst>
        </p:spPr>
      </p:sp>
      <p:sp>
        <p:nvSpPr>
          <p:cNvPr id="35" name="Text 33"/>
          <p:cNvSpPr/>
          <p:nvPr/>
        </p:nvSpPr>
        <p:spPr>
          <a:xfrm>
            <a:off x="4709160" y="685800"/>
            <a:ext cx="4114800" cy="292608"/>
          </a:xfrm>
          <a:prstGeom prst="rect">
            <a:avLst/>
          </a:prstGeom>
          <a:solidFill>
            <a:srgbClr val="1FA6A2"/>
          </a:solidFill>
          <a:ln/>
        </p:spPr>
        <p:txBody>
          <a:bodyPr wrap="square" rtlCol="0" anchor="ctr"/>
          <a:lstStyle/>
          <a:p>
            <a:pPr algn="ctr" indent="0" marL="0">
              <a:buNone/>
            </a:pPr>
            <a:r>
              <a:rPr lang="en-US" sz="1000" b="1" dirty="0">
                <a:solidFill>
                  <a:srgbClr val="FFFFFF"/>
                </a:solidFill>
                <a:latin typeface="Outfit" pitchFamily="34" charset="0"/>
                <a:ea typeface="Outfit" pitchFamily="34" charset="-122"/>
                <a:cs typeface="Outfit" pitchFamily="34" charset="-120"/>
              </a:rPr>
              <a:t>My Example / Mi Ejemplo</a:t>
            </a:r>
            <a:endParaRPr lang="en-US" sz="1000" dirty="0"/>
          </a:p>
        </p:txBody>
      </p:sp>
      <p:sp>
        <p:nvSpPr>
          <p:cNvPr id="36" name="Text 34"/>
          <p:cNvSpPr/>
          <p:nvPr/>
        </p:nvSpPr>
        <p:spPr>
          <a:xfrm>
            <a:off x="4892040" y="1143000"/>
            <a:ext cx="3749040" cy="365760"/>
          </a:xfrm>
          <a:prstGeom prst="rect">
            <a:avLst/>
          </a:prstGeom>
          <a:noFill/>
          <a:ln/>
        </p:spPr>
        <p:txBody>
          <a:bodyPr wrap="square" rtlCol="0" anchor="ctr"/>
          <a:lstStyle/>
          <a:p>
            <a:pPr indent="0" marL="0">
              <a:buNone/>
            </a:pPr>
            <a:r>
              <a:rPr lang="en-US" sz="950" i="1" dirty="0">
                <a:solidFill>
                  <a:srgbClr val="8A96A3"/>
                </a:solidFill>
                <a:latin typeface="Hanken Grotesk" pitchFamily="34" charset="0"/>
                <a:ea typeface="Hanken Grotesk" pitchFamily="34" charset="-122"/>
                <a:cs typeface="Hanken Grotesk" pitchFamily="34" charset="-120"/>
              </a:rPr>
              <a:t>Work one problem here, matching each step on the left:</a:t>
            </a:r>
            <a:endParaRPr lang="en-US" sz="950" dirty="0"/>
          </a:p>
        </p:txBody>
      </p:sp>
      <p:sp>
        <p:nvSpPr>
          <p:cNvPr id="37" name="Shape 35"/>
          <p:cNvSpPr/>
          <p:nvPr/>
        </p:nvSpPr>
        <p:spPr>
          <a:xfrm>
            <a:off x="4892040" y="1783080"/>
            <a:ext cx="3749040" cy="0"/>
          </a:xfrm>
          <a:prstGeom prst="line">
            <a:avLst/>
          </a:prstGeom>
          <a:noFill/>
          <a:ln w="9525">
            <a:solidFill>
              <a:srgbClr val="C7CDD2"/>
            </a:solidFill>
            <a:prstDash val="dash"/>
          </a:ln>
        </p:spPr>
      </p:sp>
      <p:sp>
        <p:nvSpPr>
          <p:cNvPr id="38" name="Shape 36"/>
          <p:cNvSpPr/>
          <p:nvPr/>
        </p:nvSpPr>
        <p:spPr>
          <a:xfrm>
            <a:off x="4892040" y="2112264"/>
            <a:ext cx="3749040" cy="0"/>
          </a:xfrm>
          <a:prstGeom prst="line">
            <a:avLst/>
          </a:prstGeom>
          <a:noFill/>
          <a:ln w="9525">
            <a:solidFill>
              <a:srgbClr val="C7CDD2"/>
            </a:solidFill>
            <a:prstDash val="dash"/>
          </a:ln>
        </p:spPr>
      </p:sp>
      <p:sp>
        <p:nvSpPr>
          <p:cNvPr id="39" name="Shape 37"/>
          <p:cNvSpPr/>
          <p:nvPr/>
        </p:nvSpPr>
        <p:spPr>
          <a:xfrm>
            <a:off x="4892040" y="2441448"/>
            <a:ext cx="3749040" cy="0"/>
          </a:xfrm>
          <a:prstGeom prst="line">
            <a:avLst/>
          </a:prstGeom>
          <a:noFill/>
          <a:ln w="9525">
            <a:solidFill>
              <a:srgbClr val="C7CDD2"/>
            </a:solidFill>
            <a:prstDash val="dash"/>
          </a:ln>
        </p:spPr>
      </p:sp>
      <p:sp>
        <p:nvSpPr>
          <p:cNvPr id="40" name="Shape 38"/>
          <p:cNvSpPr/>
          <p:nvPr/>
        </p:nvSpPr>
        <p:spPr>
          <a:xfrm>
            <a:off x="4892040" y="2770632"/>
            <a:ext cx="3749040" cy="0"/>
          </a:xfrm>
          <a:prstGeom prst="line">
            <a:avLst/>
          </a:prstGeom>
          <a:noFill/>
          <a:ln w="9525">
            <a:solidFill>
              <a:srgbClr val="C7CDD2"/>
            </a:solidFill>
            <a:prstDash val="dash"/>
          </a:ln>
        </p:spPr>
      </p:sp>
      <p:sp>
        <p:nvSpPr>
          <p:cNvPr id="41" name="Shape 39"/>
          <p:cNvSpPr/>
          <p:nvPr/>
        </p:nvSpPr>
        <p:spPr>
          <a:xfrm>
            <a:off x="4892040" y="3099816"/>
            <a:ext cx="3749040" cy="0"/>
          </a:xfrm>
          <a:prstGeom prst="line">
            <a:avLst/>
          </a:prstGeom>
          <a:noFill/>
          <a:ln w="9525">
            <a:solidFill>
              <a:srgbClr val="C7CDD2"/>
            </a:solidFill>
            <a:prstDash val="dash"/>
          </a:ln>
        </p:spPr>
      </p:sp>
      <p:sp>
        <p:nvSpPr>
          <p:cNvPr id="42" name="Shape 40"/>
          <p:cNvSpPr/>
          <p:nvPr/>
        </p:nvSpPr>
        <p:spPr>
          <a:xfrm>
            <a:off x="4892040" y="3429000"/>
            <a:ext cx="3749040" cy="0"/>
          </a:xfrm>
          <a:prstGeom prst="line">
            <a:avLst/>
          </a:prstGeom>
          <a:noFill/>
          <a:ln w="9525">
            <a:solidFill>
              <a:srgbClr val="C7CDD2"/>
            </a:solidFill>
            <a:prstDash val="dash"/>
          </a:ln>
        </p:spPr>
      </p:sp>
      <p:sp>
        <p:nvSpPr>
          <p:cNvPr id="43" name="Shape 41"/>
          <p:cNvSpPr/>
          <p:nvPr/>
        </p:nvSpPr>
        <p:spPr>
          <a:xfrm>
            <a:off x="4892040" y="3758184"/>
            <a:ext cx="3749040" cy="0"/>
          </a:xfrm>
          <a:prstGeom prst="line">
            <a:avLst/>
          </a:prstGeom>
          <a:noFill/>
          <a:ln w="9525">
            <a:solidFill>
              <a:srgbClr val="C7CDD2"/>
            </a:solidFill>
            <a:prstDash val="dash"/>
          </a:ln>
        </p:spPr>
      </p:sp>
      <p:sp>
        <p:nvSpPr>
          <p:cNvPr id="44" name="Shape 42"/>
          <p:cNvSpPr/>
          <p:nvPr/>
        </p:nvSpPr>
        <p:spPr>
          <a:xfrm>
            <a:off x="4892040" y="4087368"/>
            <a:ext cx="3749040" cy="0"/>
          </a:xfrm>
          <a:prstGeom prst="line">
            <a:avLst/>
          </a:prstGeom>
          <a:noFill/>
          <a:ln w="9525">
            <a:solidFill>
              <a:srgbClr val="C7CDD2"/>
            </a:solidFill>
            <a:prstDash val="dash"/>
          </a:ln>
        </p:spPr>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7F4EC"/>
        </a:solidFill>
      </p:bgPr>
    </p:bg>
    <p:spTree>
      <p:nvGrpSpPr>
        <p:cNvPr id="1" name=""/>
        <p:cNvGrpSpPr/>
        <p:nvPr/>
      </p:nvGrpSpPr>
      <p:grpSpPr>
        <a:xfrm>
          <a:off x="0" y="0"/>
          <a:ext cx="0" cy="0"/>
          <a:chOff x="0" y="0"/>
          <a:chExt cx="0" cy="0"/>
        </a:xfrm>
      </p:grpSpPr>
      <p:sp>
        <p:nvSpPr>
          <p:cNvPr id="2" name="Shape 0"/>
          <p:cNvSpPr/>
          <p:nvPr/>
        </p:nvSpPr>
        <p:spPr>
          <a:xfrm>
            <a:off x="0" y="0"/>
            <a:ext cx="9144000" cy="475488"/>
          </a:xfrm>
          <a:prstGeom prst="rect">
            <a:avLst/>
          </a:prstGeom>
          <a:solidFill>
            <a:srgbClr val="17324D"/>
          </a:solidFill>
          <a:ln/>
        </p:spPr>
      </p:sp>
      <p:sp>
        <p:nvSpPr>
          <p:cNvPr id="3" name="Text 1"/>
          <p:cNvSpPr/>
          <p:nvPr/>
        </p:nvSpPr>
        <p:spPr>
          <a:xfrm>
            <a:off x="274320" y="0"/>
            <a:ext cx="2194560" cy="475488"/>
          </a:xfrm>
          <a:prstGeom prst="rect">
            <a:avLst/>
          </a:prstGeom>
          <a:noFill/>
          <a:ln/>
        </p:spPr>
        <p:txBody>
          <a:bodyPr wrap="square" rtlCol="0" anchor="ctr"/>
          <a:lstStyle/>
          <a:p>
            <a:pPr indent="0" marL="0">
              <a:buNone/>
            </a:pPr>
            <a:r>
              <a:rPr lang="en-US" sz="850" b="1" spc="100" kern="0" dirty="0">
                <a:solidFill>
                  <a:srgbClr val="BFE6E2"/>
                </a:solidFill>
                <a:latin typeface="Outfit" pitchFamily="34" charset="0"/>
                <a:ea typeface="Outfit" pitchFamily="34" charset="-122"/>
                <a:cs typeface="Outfit" pitchFamily="34" charset="-120"/>
              </a:rPr>
              <a:t>NEFT TEACHER</a:t>
            </a:r>
            <a:endParaRPr lang="en-US" sz="850" dirty="0"/>
          </a:p>
        </p:txBody>
      </p:sp>
      <p:sp>
        <p:nvSpPr>
          <p:cNvPr id="4" name="Text 2"/>
          <p:cNvSpPr/>
          <p:nvPr/>
        </p:nvSpPr>
        <p:spPr>
          <a:xfrm>
            <a:off x="1737360" y="0"/>
            <a:ext cx="5120640" cy="475488"/>
          </a:xfrm>
          <a:prstGeom prst="rect">
            <a:avLst/>
          </a:prstGeom>
          <a:noFill/>
          <a:ln/>
        </p:spPr>
        <p:txBody>
          <a:bodyPr wrap="square" rtlCol="0" anchor="ctr"/>
          <a:lstStyle/>
          <a:p>
            <a:pPr indent="0" marL="0">
              <a:buNone/>
            </a:pPr>
            <a:r>
              <a:rPr lang="en-US" sz="1500" b="1" dirty="0">
                <a:solidFill>
                  <a:srgbClr val="FFFFFF"/>
                </a:solidFill>
                <a:latin typeface="Outfit" pitchFamily="34" charset="0"/>
                <a:ea typeface="Outfit" pitchFamily="34" charset="-122"/>
                <a:cs typeface="Outfit" pitchFamily="34" charset="-120"/>
              </a:rPr>
              <a:t>Choice Board / Tablero de Opciones</a:t>
            </a:r>
            <a:endParaRPr lang="en-US" sz="1500" dirty="0"/>
          </a:p>
        </p:txBody>
      </p:sp>
      <p:sp>
        <p:nvSpPr>
          <p:cNvPr id="5" name="Text 3"/>
          <p:cNvSpPr/>
          <p:nvPr/>
        </p:nvSpPr>
        <p:spPr>
          <a:xfrm>
            <a:off x="7360920" y="100584"/>
            <a:ext cx="914400" cy="274320"/>
          </a:xfrm>
          <a:prstGeom prst="rect">
            <a:avLst>
              <a:gd name="adj" fmla="val 50000"/>
            </a:avLst>
          </a:prstGeom>
          <a:solidFill>
            <a:srgbClr val="1FA6A2"/>
          </a:solidFill>
          <a:ln/>
        </p:spPr>
        <p:txBody>
          <a:bodyPr wrap="square" rtlCol="0" anchor="ctr"/>
          <a:lstStyle/>
          <a:p>
            <a:pPr algn="ctr" indent="0" marL="0">
              <a:buNone/>
            </a:pPr>
            <a:r>
              <a:rPr lang="en-US" sz="900" b="1" dirty="0">
                <a:solidFill>
                  <a:srgbClr val="FFFFFF"/>
                </a:solidFill>
                <a:latin typeface="Outfit" pitchFamily="34" charset="0"/>
                <a:ea typeface="Outfit" pitchFamily="34" charset="-122"/>
                <a:cs typeface="Outfit" pitchFamily="34" charset="-120"/>
              </a:rPr>
              <a:t>6.NS.4</a:t>
            </a:r>
            <a:endParaRPr lang="en-US" sz="900" dirty="0"/>
          </a:p>
        </p:txBody>
      </p:sp>
      <p:sp>
        <p:nvSpPr>
          <p:cNvPr id="6" name="Shape 4"/>
          <p:cNvSpPr/>
          <p:nvPr/>
        </p:nvSpPr>
        <p:spPr>
          <a:xfrm>
            <a:off x="73152" y="685800"/>
            <a:ext cx="109728" cy="109728"/>
          </a:xfrm>
          <a:prstGeom prst="ellipse">
            <a:avLst/>
          </a:prstGeom>
          <a:solidFill>
            <a:srgbClr val="CBD3D9"/>
          </a:solidFill>
          <a:ln/>
        </p:spPr>
      </p:sp>
      <p:sp>
        <p:nvSpPr>
          <p:cNvPr id="7" name="Shape 5"/>
          <p:cNvSpPr/>
          <p:nvPr/>
        </p:nvSpPr>
        <p:spPr>
          <a:xfrm>
            <a:off x="73152" y="1161288"/>
            <a:ext cx="109728" cy="109728"/>
          </a:xfrm>
          <a:prstGeom prst="ellipse">
            <a:avLst/>
          </a:prstGeom>
          <a:solidFill>
            <a:srgbClr val="CBD3D9"/>
          </a:solidFill>
          <a:ln/>
        </p:spPr>
      </p:sp>
      <p:sp>
        <p:nvSpPr>
          <p:cNvPr id="8" name="Shape 6"/>
          <p:cNvSpPr/>
          <p:nvPr/>
        </p:nvSpPr>
        <p:spPr>
          <a:xfrm>
            <a:off x="73152" y="1636776"/>
            <a:ext cx="109728" cy="109728"/>
          </a:xfrm>
          <a:prstGeom prst="ellipse">
            <a:avLst/>
          </a:prstGeom>
          <a:solidFill>
            <a:srgbClr val="CBD3D9"/>
          </a:solidFill>
          <a:ln/>
        </p:spPr>
      </p:sp>
      <p:sp>
        <p:nvSpPr>
          <p:cNvPr id="9" name="Shape 7"/>
          <p:cNvSpPr/>
          <p:nvPr/>
        </p:nvSpPr>
        <p:spPr>
          <a:xfrm>
            <a:off x="73152" y="2112264"/>
            <a:ext cx="109728" cy="109728"/>
          </a:xfrm>
          <a:prstGeom prst="ellipse">
            <a:avLst/>
          </a:prstGeom>
          <a:solidFill>
            <a:srgbClr val="CBD3D9"/>
          </a:solidFill>
          <a:ln/>
        </p:spPr>
      </p:sp>
      <p:sp>
        <p:nvSpPr>
          <p:cNvPr id="10" name="Shape 8"/>
          <p:cNvSpPr/>
          <p:nvPr/>
        </p:nvSpPr>
        <p:spPr>
          <a:xfrm>
            <a:off x="73152" y="2587752"/>
            <a:ext cx="109728" cy="109728"/>
          </a:xfrm>
          <a:prstGeom prst="ellipse">
            <a:avLst/>
          </a:prstGeom>
          <a:solidFill>
            <a:srgbClr val="CBD3D9"/>
          </a:solidFill>
          <a:ln/>
        </p:spPr>
      </p:sp>
      <p:sp>
        <p:nvSpPr>
          <p:cNvPr id="11" name="Shape 9"/>
          <p:cNvSpPr/>
          <p:nvPr/>
        </p:nvSpPr>
        <p:spPr>
          <a:xfrm>
            <a:off x="73152" y="3063240"/>
            <a:ext cx="109728" cy="109728"/>
          </a:xfrm>
          <a:prstGeom prst="ellipse">
            <a:avLst/>
          </a:prstGeom>
          <a:solidFill>
            <a:srgbClr val="CBD3D9"/>
          </a:solidFill>
          <a:ln/>
        </p:spPr>
      </p:sp>
      <p:sp>
        <p:nvSpPr>
          <p:cNvPr id="12" name="Shape 10"/>
          <p:cNvSpPr/>
          <p:nvPr/>
        </p:nvSpPr>
        <p:spPr>
          <a:xfrm>
            <a:off x="73152" y="3538728"/>
            <a:ext cx="109728" cy="109728"/>
          </a:xfrm>
          <a:prstGeom prst="ellipse">
            <a:avLst/>
          </a:prstGeom>
          <a:solidFill>
            <a:srgbClr val="CBD3D9"/>
          </a:solidFill>
          <a:ln/>
        </p:spPr>
      </p:sp>
      <p:sp>
        <p:nvSpPr>
          <p:cNvPr id="13" name="Shape 11"/>
          <p:cNvSpPr/>
          <p:nvPr/>
        </p:nvSpPr>
        <p:spPr>
          <a:xfrm>
            <a:off x="73152" y="4014216"/>
            <a:ext cx="109728" cy="109728"/>
          </a:xfrm>
          <a:prstGeom prst="ellipse">
            <a:avLst/>
          </a:prstGeom>
          <a:solidFill>
            <a:srgbClr val="CBD3D9"/>
          </a:solidFill>
          <a:ln/>
        </p:spPr>
      </p:sp>
      <p:sp>
        <p:nvSpPr>
          <p:cNvPr id="14" name="Shape 12"/>
          <p:cNvSpPr/>
          <p:nvPr/>
        </p:nvSpPr>
        <p:spPr>
          <a:xfrm>
            <a:off x="73152" y="4489704"/>
            <a:ext cx="109728" cy="109728"/>
          </a:xfrm>
          <a:prstGeom prst="ellipse">
            <a:avLst/>
          </a:prstGeom>
          <a:solidFill>
            <a:srgbClr val="CBD3D9"/>
          </a:solidFill>
          <a:ln/>
        </p:spPr>
      </p:sp>
      <p:sp>
        <p:nvSpPr>
          <p:cNvPr id="15" name="Text 13"/>
          <p:cNvSpPr/>
          <p:nvPr/>
        </p:nvSpPr>
        <p:spPr>
          <a:xfrm>
            <a:off x="274320" y="4850892"/>
            <a:ext cx="6400800" cy="256032"/>
          </a:xfrm>
          <a:prstGeom prst="rect">
            <a:avLst/>
          </a:prstGeom>
          <a:noFill/>
          <a:ln/>
        </p:spPr>
        <p:txBody>
          <a:bodyPr wrap="square" rtlCol="0" anchor="ctr"/>
          <a:lstStyle/>
          <a:p>
            <a:pPr indent="0" marL="0">
              <a:buNone/>
            </a:pPr>
            <a:r>
              <a:rPr lang="en-US" sz="750" dirty="0">
                <a:solidFill>
                  <a:srgbClr val="8A96A3"/>
                </a:solidFill>
                <a:latin typeface="Hanken Grotesk" pitchFamily="34" charset="0"/>
                <a:ea typeface="Hanken Grotesk" pitchFamily="34" charset="-122"/>
                <a:cs typeface="Hanken Grotesk" pitchFamily="34" charset="-120"/>
              </a:rPr>
              <a:t>Reveal Math Grade 6  ·  Unit 1  ·  Lesson 1-1-flagship</a:t>
            </a:r>
            <a:endParaRPr lang="en-US" sz="750" dirty="0"/>
          </a:p>
        </p:txBody>
      </p:sp>
      <p:sp>
        <p:nvSpPr>
          <p:cNvPr id="16" name="Text 14"/>
          <p:cNvSpPr/>
          <p:nvPr/>
        </p:nvSpPr>
        <p:spPr>
          <a:xfrm>
            <a:off x="8412480" y="4850892"/>
            <a:ext cx="457200" cy="256032"/>
          </a:xfrm>
          <a:prstGeom prst="rect">
            <a:avLst/>
          </a:prstGeom>
          <a:noFill/>
          <a:ln/>
        </p:spPr>
        <p:txBody>
          <a:bodyPr wrap="square" rtlCol="0" anchor="ctr"/>
          <a:lstStyle/>
          <a:p>
            <a:pPr algn="r" indent="0" marL="0">
              <a:buNone/>
            </a:pPr>
            <a:r>
              <a:rPr lang="en-US" sz="800" b="1" dirty="0">
                <a:solidFill>
                  <a:srgbClr val="8A96A3"/>
                </a:solidFill>
                <a:latin typeface="Outfit" pitchFamily="34" charset="0"/>
                <a:ea typeface="Outfit" pitchFamily="34" charset="-122"/>
                <a:cs typeface="Outfit" pitchFamily="34" charset="-120"/>
              </a:rPr>
              <a:t>8</a:t>
            </a:r>
            <a:endParaRPr lang="en-US" sz="800" dirty="0"/>
          </a:p>
        </p:txBody>
      </p:sp>
      <p:sp>
        <p:nvSpPr>
          <p:cNvPr id="17" name="Text 15"/>
          <p:cNvSpPr/>
          <p:nvPr/>
        </p:nvSpPr>
        <p:spPr>
          <a:xfrm>
            <a:off x="411480" y="640080"/>
            <a:ext cx="8412480" cy="274320"/>
          </a:xfrm>
          <a:prstGeom prst="rect">
            <a:avLst/>
          </a:prstGeom>
          <a:noFill/>
          <a:ln/>
        </p:spPr>
        <p:txBody>
          <a:bodyPr wrap="square" rtlCol="0" anchor="ctr"/>
          <a:lstStyle/>
          <a:p>
            <a:pPr indent="0" marL="0">
              <a:buNone/>
            </a:pPr>
            <a:r>
              <a:rPr lang="en-US" sz="1200" b="1" dirty="0">
                <a:solidFill>
                  <a:srgbClr val="17324D"/>
                </a:solidFill>
                <a:latin typeface="Outfit" pitchFamily="34" charset="0"/>
                <a:ea typeface="Outfit" pitchFamily="34" charset="-122"/>
                <a:cs typeface="Outfit" pitchFamily="34" charset="-120"/>
              </a:rPr>
              <a:t>Choose ONE to show what you know:</a:t>
            </a:r>
            <a:endParaRPr lang="en-US" sz="1200" dirty="0"/>
          </a:p>
        </p:txBody>
      </p:sp>
      <p:sp>
        <p:nvSpPr>
          <p:cNvPr id="18" name="Shape 16"/>
          <p:cNvSpPr/>
          <p:nvPr/>
        </p:nvSpPr>
        <p:spPr>
          <a:xfrm>
            <a:off x="411480" y="1051560"/>
            <a:ext cx="4114800" cy="1645920"/>
          </a:xfrm>
          <a:prstGeom prst="roundRect">
            <a:avLst>
              <a:gd name="adj" fmla="val 4444"/>
            </a:avLst>
          </a:prstGeom>
          <a:solidFill>
            <a:srgbClr val="DFF2EE"/>
          </a:solidFill>
          <a:ln w="12700">
            <a:solidFill>
              <a:srgbClr val="D6DBDF"/>
            </a:solidFill>
            <a:prstDash val="solid"/>
          </a:ln>
          <a:effectLst>
            <a:outerShdw sx="100000" sy="100000" kx="0" ky="0" algn="bl" rotWithShape="0" blurRad="50800" dist="12700" dir="5400000">
              <a:srgbClr val="1C2E42">
                <a:alpha val="10000"/>
              </a:srgbClr>
            </a:outerShdw>
          </a:effectLst>
        </p:spPr>
      </p:sp>
      <p:sp>
        <p:nvSpPr>
          <p:cNvPr id="19" name="Text 17"/>
          <p:cNvSpPr/>
          <p:nvPr/>
        </p:nvSpPr>
        <p:spPr>
          <a:xfrm>
            <a:off x="548640" y="1161288"/>
            <a:ext cx="640080" cy="548640"/>
          </a:xfrm>
          <a:prstGeom prst="rect">
            <a:avLst/>
          </a:prstGeom>
          <a:noFill/>
          <a:ln/>
        </p:spPr>
        <p:txBody>
          <a:bodyPr wrap="square" rtlCol="0" anchor="ctr"/>
          <a:lstStyle/>
          <a:p>
            <a:pPr indent="0" marL="0">
              <a:buNone/>
            </a:pPr>
            <a:r>
              <a:rPr lang="en-US" sz="2600" dirty="0">
                <a:solidFill>
                  <a:srgbClr val="000000"/>
                </a:solidFill>
              </a:rPr>
              <a:t>✏️</a:t>
            </a:r>
            <a:endParaRPr lang="en-US" sz="2600" dirty="0"/>
          </a:p>
        </p:txBody>
      </p:sp>
      <p:sp>
        <p:nvSpPr>
          <p:cNvPr id="20" name="Text 18"/>
          <p:cNvSpPr/>
          <p:nvPr/>
        </p:nvSpPr>
        <p:spPr>
          <a:xfrm>
            <a:off x="1234440" y="1188720"/>
            <a:ext cx="3108960" cy="365760"/>
          </a:xfrm>
          <a:prstGeom prst="rect">
            <a:avLst/>
          </a:prstGeom>
          <a:noFill/>
          <a:ln/>
        </p:spPr>
        <p:txBody>
          <a:bodyPr wrap="square" rtlCol="0" anchor="ctr"/>
          <a:lstStyle/>
          <a:p>
            <a:pPr indent="0" marL="0">
              <a:buNone/>
            </a:pPr>
            <a:r>
              <a:rPr lang="en-US" sz="1300" b="1" dirty="0">
                <a:solidFill>
                  <a:srgbClr val="17324D"/>
                </a:solidFill>
                <a:latin typeface="Outfit" pitchFamily="34" charset="0"/>
                <a:ea typeface="Outfit" pitchFamily="34" charset="-122"/>
                <a:cs typeface="Outfit" pitchFamily="34" charset="-120"/>
              </a:rPr>
              <a:t>Draw &amp; Label</a:t>
            </a:r>
            <a:endParaRPr lang="en-US" sz="1300" dirty="0"/>
          </a:p>
        </p:txBody>
      </p:sp>
      <p:sp>
        <p:nvSpPr>
          <p:cNvPr id="21" name="Text 19"/>
          <p:cNvSpPr/>
          <p:nvPr/>
        </p:nvSpPr>
        <p:spPr>
          <a:xfrm>
            <a:off x="594360" y="1709928"/>
            <a:ext cx="3749040" cy="868680"/>
          </a:xfrm>
          <a:prstGeom prst="rect">
            <a:avLst/>
          </a:prstGeom>
          <a:noFill/>
          <a:ln/>
        </p:spPr>
        <p:txBody>
          <a:bodyPr wrap="square" rtlCol="0" anchor="t"/>
          <a:lstStyle/>
          <a:p>
            <a:pPr indent="0" marL="0">
              <a:buNone/>
            </a:pPr>
            <a:r>
              <a:rPr lang="en-US" sz="1000" dirty="0">
                <a:solidFill>
                  <a:srgbClr val="24323F"/>
                </a:solidFill>
                <a:latin typeface="Hanken Grotesk" pitchFamily="34" charset="0"/>
                <a:ea typeface="Hanken Grotesk" pitchFamily="34" charset="-122"/>
                <a:cs typeface="Hanken Grotesk" pitchFamily="34" charset="-120"/>
              </a:rPr>
              <a:t>Sketch a model for today's problem. Label it using Prime number and Composite number.</a:t>
            </a:r>
            <a:endParaRPr lang="en-US" sz="1000" dirty="0"/>
          </a:p>
        </p:txBody>
      </p:sp>
      <p:sp>
        <p:nvSpPr>
          <p:cNvPr id="22" name="Shape 20"/>
          <p:cNvSpPr/>
          <p:nvPr/>
        </p:nvSpPr>
        <p:spPr>
          <a:xfrm>
            <a:off x="4709160" y="1051560"/>
            <a:ext cx="4114800" cy="1645920"/>
          </a:xfrm>
          <a:prstGeom prst="roundRect">
            <a:avLst>
              <a:gd name="adj" fmla="val 4444"/>
            </a:avLst>
          </a:prstGeom>
          <a:solidFill>
            <a:srgbClr val="FBEFD0"/>
          </a:solidFill>
          <a:ln w="12700">
            <a:solidFill>
              <a:srgbClr val="D6DBDF"/>
            </a:solidFill>
            <a:prstDash val="solid"/>
          </a:ln>
          <a:effectLst>
            <a:outerShdw sx="100000" sy="100000" kx="0" ky="0" algn="bl" rotWithShape="0" blurRad="50800" dist="12700" dir="5400000">
              <a:srgbClr val="1C2E42">
                <a:alpha val="10000"/>
              </a:srgbClr>
            </a:outerShdw>
          </a:effectLst>
        </p:spPr>
      </p:sp>
      <p:sp>
        <p:nvSpPr>
          <p:cNvPr id="23" name="Text 21"/>
          <p:cNvSpPr/>
          <p:nvPr/>
        </p:nvSpPr>
        <p:spPr>
          <a:xfrm>
            <a:off x="4846320" y="1161288"/>
            <a:ext cx="640080" cy="548640"/>
          </a:xfrm>
          <a:prstGeom prst="rect">
            <a:avLst/>
          </a:prstGeom>
          <a:noFill/>
          <a:ln/>
        </p:spPr>
        <p:txBody>
          <a:bodyPr wrap="square" rtlCol="0" anchor="ctr"/>
          <a:lstStyle/>
          <a:p>
            <a:pPr indent="0" marL="0">
              <a:buNone/>
            </a:pPr>
            <a:r>
              <a:rPr lang="en-US" sz="2600" dirty="0">
                <a:solidFill>
                  <a:srgbClr val="000000"/>
                </a:solidFill>
              </a:rPr>
              <a:t>💬</a:t>
            </a:r>
            <a:endParaRPr lang="en-US" sz="2600" dirty="0"/>
          </a:p>
        </p:txBody>
      </p:sp>
      <p:sp>
        <p:nvSpPr>
          <p:cNvPr id="24" name="Text 22"/>
          <p:cNvSpPr/>
          <p:nvPr/>
        </p:nvSpPr>
        <p:spPr>
          <a:xfrm>
            <a:off x="5532120" y="1188720"/>
            <a:ext cx="3108960" cy="365760"/>
          </a:xfrm>
          <a:prstGeom prst="rect">
            <a:avLst/>
          </a:prstGeom>
          <a:noFill/>
          <a:ln/>
        </p:spPr>
        <p:txBody>
          <a:bodyPr wrap="square" rtlCol="0" anchor="ctr"/>
          <a:lstStyle/>
          <a:p>
            <a:pPr indent="0" marL="0">
              <a:buNone/>
            </a:pPr>
            <a:r>
              <a:rPr lang="en-US" sz="1300" b="1" dirty="0">
                <a:solidFill>
                  <a:srgbClr val="17324D"/>
                </a:solidFill>
                <a:latin typeface="Outfit" pitchFamily="34" charset="0"/>
                <a:ea typeface="Outfit" pitchFamily="34" charset="-122"/>
                <a:cs typeface="Outfit" pitchFamily="34" charset="-120"/>
              </a:rPr>
              <a:t>Explain It</a:t>
            </a:r>
            <a:endParaRPr lang="en-US" sz="1300" dirty="0"/>
          </a:p>
        </p:txBody>
      </p:sp>
      <p:sp>
        <p:nvSpPr>
          <p:cNvPr id="25" name="Text 23"/>
          <p:cNvSpPr/>
          <p:nvPr/>
        </p:nvSpPr>
        <p:spPr>
          <a:xfrm>
            <a:off x="4892040" y="1709928"/>
            <a:ext cx="3749040" cy="868680"/>
          </a:xfrm>
          <a:prstGeom prst="rect">
            <a:avLst/>
          </a:prstGeom>
          <a:noFill/>
          <a:ln/>
        </p:spPr>
        <p:txBody>
          <a:bodyPr wrap="square" rtlCol="0" anchor="t"/>
          <a:lstStyle/>
          <a:p>
            <a:pPr indent="0" marL="0">
              <a:buNone/>
            </a:pPr>
            <a:r>
              <a:rPr lang="en-US" sz="1000" dirty="0">
                <a:solidFill>
                  <a:srgbClr val="24323F"/>
                </a:solidFill>
                <a:latin typeface="Hanken Grotesk" pitchFamily="34" charset="0"/>
                <a:ea typeface="Hanken Grotesk" pitchFamily="34" charset="-122"/>
                <a:cs typeface="Hanken Grotesk" pitchFamily="34" charset="-120"/>
              </a:rPr>
              <a:t>In 2–3 sentences, explain "Keep breaking a number apart until every factor is a prime number you cannot split anymore." in your own words.</a:t>
            </a:r>
            <a:endParaRPr lang="en-US" sz="1000" dirty="0"/>
          </a:p>
        </p:txBody>
      </p:sp>
      <p:sp>
        <p:nvSpPr>
          <p:cNvPr id="26" name="Shape 24"/>
          <p:cNvSpPr/>
          <p:nvPr/>
        </p:nvSpPr>
        <p:spPr>
          <a:xfrm>
            <a:off x="411480" y="2834640"/>
            <a:ext cx="4114800" cy="1645920"/>
          </a:xfrm>
          <a:prstGeom prst="roundRect">
            <a:avLst>
              <a:gd name="adj" fmla="val 4444"/>
            </a:avLst>
          </a:prstGeom>
          <a:solidFill>
            <a:srgbClr val="FCE6DE"/>
          </a:solidFill>
          <a:ln w="12700">
            <a:solidFill>
              <a:srgbClr val="D6DBDF"/>
            </a:solidFill>
            <a:prstDash val="solid"/>
          </a:ln>
          <a:effectLst>
            <a:outerShdw sx="100000" sy="100000" kx="0" ky="0" algn="bl" rotWithShape="0" blurRad="50800" dist="12700" dir="5400000">
              <a:srgbClr val="1C2E42">
                <a:alpha val="10000"/>
              </a:srgbClr>
            </a:outerShdw>
          </a:effectLst>
        </p:spPr>
      </p:sp>
      <p:sp>
        <p:nvSpPr>
          <p:cNvPr id="27" name="Text 25"/>
          <p:cNvSpPr/>
          <p:nvPr/>
        </p:nvSpPr>
        <p:spPr>
          <a:xfrm>
            <a:off x="548640" y="2944368"/>
            <a:ext cx="640080" cy="548640"/>
          </a:xfrm>
          <a:prstGeom prst="rect">
            <a:avLst/>
          </a:prstGeom>
          <a:noFill/>
          <a:ln/>
        </p:spPr>
        <p:txBody>
          <a:bodyPr wrap="square" rtlCol="0" anchor="ctr"/>
          <a:lstStyle/>
          <a:p>
            <a:pPr indent="0" marL="0">
              <a:buNone/>
            </a:pPr>
            <a:r>
              <a:rPr lang="en-US" sz="2600" dirty="0">
                <a:solidFill>
                  <a:srgbClr val="000000"/>
                </a:solidFill>
              </a:rPr>
              <a:t>🧮</a:t>
            </a:r>
            <a:endParaRPr lang="en-US" sz="2600" dirty="0"/>
          </a:p>
        </p:txBody>
      </p:sp>
      <p:sp>
        <p:nvSpPr>
          <p:cNvPr id="28" name="Text 26"/>
          <p:cNvSpPr/>
          <p:nvPr/>
        </p:nvSpPr>
        <p:spPr>
          <a:xfrm>
            <a:off x="1234440" y="2971800"/>
            <a:ext cx="3108960" cy="365760"/>
          </a:xfrm>
          <a:prstGeom prst="rect">
            <a:avLst/>
          </a:prstGeom>
          <a:noFill/>
          <a:ln/>
        </p:spPr>
        <p:txBody>
          <a:bodyPr wrap="square" rtlCol="0" anchor="ctr"/>
          <a:lstStyle/>
          <a:p>
            <a:pPr indent="0" marL="0">
              <a:buNone/>
            </a:pPr>
            <a:r>
              <a:rPr lang="en-US" sz="1300" b="1" dirty="0">
                <a:solidFill>
                  <a:srgbClr val="17324D"/>
                </a:solidFill>
                <a:latin typeface="Outfit" pitchFamily="34" charset="0"/>
                <a:ea typeface="Outfit" pitchFamily="34" charset="-122"/>
                <a:cs typeface="Outfit" pitchFamily="34" charset="-120"/>
              </a:rPr>
              <a:t>Solve It</a:t>
            </a:r>
            <a:endParaRPr lang="en-US" sz="1300" dirty="0"/>
          </a:p>
        </p:txBody>
      </p:sp>
      <p:sp>
        <p:nvSpPr>
          <p:cNvPr id="29" name="Text 27"/>
          <p:cNvSpPr/>
          <p:nvPr/>
        </p:nvSpPr>
        <p:spPr>
          <a:xfrm>
            <a:off x="594360" y="3493008"/>
            <a:ext cx="3749040" cy="868680"/>
          </a:xfrm>
          <a:prstGeom prst="rect">
            <a:avLst/>
          </a:prstGeom>
          <a:noFill/>
          <a:ln/>
        </p:spPr>
        <p:txBody>
          <a:bodyPr wrap="square" rtlCol="0" anchor="t"/>
          <a:lstStyle/>
          <a:p>
            <a:pPr indent="0" marL="0">
              <a:buNone/>
            </a:pPr>
            <a:r>
              <a:rPr lang="en-US" sz="1000" dirty="0">
                <a:solidFill>
                  <a:srgbClr val="24323F"/>
                </a:solidFill>
                <a:latin typeface="Hanken Grotesk" pitchFamily="34" charset="0"/>
                <a:ea typeface="Hanken Grotesk" pitchFamily="34" charset="-122"/>
                <a:cs typeface="Hanken Grotesk" pitchFamily="34" charset="-120"/>
              </a:rPr>
              <a:t>Work one practice problem and show every step clearly.</a:t>
            </a:r>
            <a:endParaRPr lang="en-US" sz="1000" dirty="0"/>
          </a:p>
        </p:txBody>
      </p:sp>
      <p:sp>
        <p:nvSpPr>
          <p:cNvPr id="30" name="Shape 28"/>
          <p:cNvSpPr/>
          <p:nvPr/>
        </p:nvSpPr>
        <p:spPr>
          <a:xfrm>
            <a:off x="4709160" y="2834640"/>
            <a:ext cx="4114800" cy="1645920"/>
          </a:xfrm>
          <a:prstGeom prst="roundRect">
            <a:avLst>
              <a:gd name="adj" fmla="val 4444"/>
            </a:avLst>
          </a:prstGeom>
          <a:solidFill>
            <a:srgbClr val="EAF2F1"/>
          </a:solidFill>
          <a:ln w="12700">
            <a:solidFill>
              <a:srgbClr val="D6DBDF"/>
            </a:solidFill>
            <a:prstDash val="solid"/>
          </a:ln>
          <a:effectLst>
            <a:outerShdw sx="100000" sy="100000" kx="0" ky="0" algn="bl" rotWithShape="0" blurRad="50800" dist="12700" dir="5400000">
              <a:srgbClr val="1C2E42">
                <a:alpha val="10000"/>
              </a:srgbClr>
            </a:outerShdw>
          </a:effectLst>
        </p:spPr>
      </p:sp>
      <p:sp>
        <p:nvSpPr>
          <p:cNvPr id="31" name="Text 29"/>
          <p:cNvSpPr/>
          <p:nvPr/>
        </p:nvSpPr>
        <p:spPr>
          <a:xfrm>
            <a:off x="4846320" y="2944368"/>
            <a:ext cx="640080" cy="548640"/>
          </a:xfrm>
          <a:prstGeom prst="rect">
            <a:avLst/>
          </a:prstGeom>
          <a:noFill/>
          <a:ln/>
        </p:spPr>
        <p:txBody>
          <a:bodyPr wrap="square" rtlCol="0" anchor="ctr"/>
          <a:lstStyle/>
          <a:p>
            <a:pPr indent="0" marL="0">
              <a:buNone/>
            </a:pPr>
            <a:r>
              <a:rPr lang="en-US" sz="2600" dirty="0">
                <a:solidFill>
                  <a:srgbClr val="000000"/>
                </a:solidFill>
              </a:rPr>
              <a:t>🎯</a:t>
            </a:r>
            <a:endParaRPr lang="en-US" sz="2600" dirty="0"/>
          </a:p>
        </p:txBody>
      </p:sp>
      <p:sp>
        <p:nvSpPr>
          <p:cNvPr id="32" name="Text 30"/>
          <p:cNvSpPr/>
          <p:nvPr/>
        </p:nvSpPr>
        <p:spPr>
          <a:xfrm>
            <a:off x="5532120" y="2971800"/>
            <a:ext cx="3108960" cy="365760"/>
          </a:xfrm>
          <a:prstGeom prst="rect">
            <a:avLst/>
          </a:prstGeom>
          <a:noFill/>
          <a:ln/>
        </p:spPr>
        <p:txBody>
          <a:bodyPr wrap="square" rtlCol="0" anchor="ctr"/>
          <a:lstStyle/>
          <a:p>
            <a:pPr indent="0" marL="0">
              <a:buNone/>
            </a:pPr>
            <a:r>
              <a:rPr lang="en-US" sz="1300" b="1" dirty="0">
                <a:solidFill>
                  <a:srgbClr val="17324D"/>
                </a:solidFill>
                <a:latin typeface="Outfit" pitchFamily="34" charset="0"/>
                <a:ea typeface="Outfit" pitchFamily="34" charset="-122"/>
                <a:cs typeface="Outfit" pitchFamily="34" charset="-120"/>
              </a:rPr>
              <a:t>Create a Problem</a:t>
            </a:r>
            <a:endParaRPr lang="en-US" sz="1300" dirty="0"/>
          </a:p>
        </p:txBody>
      </p:sp>
      <p:sp>
        <p:nvSpPr>
          <p:cNvPr id="33" name="Text 31"/>
          <p:cNvSpPr/>
          <p:nvPr/>
        </p:nvSpPr>
        <p:spPr>
          <a:xfrm>
            <a:off x="4892040" y="3493008"/>
            <a:ext cx="3749040" cy="868680"/>
          </a:xfrm>
          <a:prstGeom prst="rect">
            <a:avLst/>
          </a:prstGeom>
          <a:noFill/>
          <a:ln/>
        </p:spPr>
        <p:txBody>
          <a:bodyPr wrap="square" rtlCol="0" anchor="t"/>
          <a:lstStyle/>
          <a:p>
            <a:pPr indent="0" marL="0">
              <a:buNone/>
            </a:pPr>
            <a:r>
              <a:rPr lang="en-US" sz="1000" dirty="0">
                <a:solidFill>
                  <a:srgbClr val="24323F"/>
                </a:solidFill>
                <a:latin typeface="Hanken Grotesk" pitchFamily="34" charset="0"/>
                <a:ea typeface="Hanken Grotesk" pitchFamily="34" charset="-122"/>
                <a:cs typeface="Hanken Grotesk" pitchFamily="34" charset="-120"/>
              </a:rPr>
              <a:t>Write your own problem that uses Prime number, then solve it and make an answer key.</a:t>
            </a:r>
            <a:endParaRPr lang="en-US" sz="10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7F4EC"/>
        </a:solidFill>
      </p:bgPr>
    </p:bg>
    <p:spTree>
      <p:nvGrpSpPr>
        <p:cNvPr id="1" name=""/>
        <p:cNvGrpSpPr/>
        <p:nvPr/>
      </p:nvGrpSpPr>
      <p:grpSpPr>
        <a:xfrm>
          <a:off x="0" y="0"/>
          <a:ext cx="0" cy="0"/>
          <a:chOff x="0" y="0"/>
          <a:chExt cx="0" cy="0"/>
        </a:xfrm>
      </p:grpSpPr>
      <p:sp>
        <p:nvSpPr>
          <p:cNvPr id="2" name="Shape 0"/>
          <p:cNvSpPr/>
          <p:nvPr/>
        </p:nvSpPr>
        <p:spPr>
          <a:xfrm>
            <a:off x="0" y="0"/>
            <a:ext cx="9144000" cy="475488"/>
          </a:xfrm>
          <a:prstGeom prst="rect">
            <a:avLst/>
          </a:prstGeom>
          <a:solidFill>
            <a:srgbClr val="17324D"/>
          </a:solidFill>
          <a:ln/>
        </p:spPr>
      </p:sp>
      <p:sp>
        <p:nvSpPr>
          <p:cNvPr id="3" name="Text 1"/>
          <p:cNvSpPr/>
          <p:nvPr/>
        </p:nvSpPr>
        <p:spPr>
          <a:xfrm>
            <a:off x="274320" y="0"/>
            <a:ext cx="2194560" cy="475488"/>
          </a:xfrm>
          <a:prstGeom prst="rect">
            <a:avLst/>
          </a:prstGeom>
          <a:noFill/>
          <a:ln/>
        </p:spPr>
        <p:txBody>
          <a:bodyPr wrap="square" rtlCol="0" anchor="ctr"/>
          <a:lstStyle/>
          <a:p>
            <a:pPr indent="0" marL="0">
              <a:buNone/>
            </a:pPr>
            <a:r>
              <a:rPr lang="en-US" sz="850" b="1" spc="100" kern="0" dirty="0">
                <a:solidFill>
                  <a:srgbClr val="BFE6E2"/>
                </a:solidFill>
                <a:latin typeface="Outfit" pitchFamily="34" charset="0"/>
                <a:ea typeface="Outfit" pitchFamily="34" charset="-122"/>
                <a:cs typeface="Outfit" pitchFamily="34" charset="-120"/>
              </a:rPr>
              <a:t>NEFT TEACHER</a:t>
            </a:r>
            <a:endParaRPr lang="en-US" sz="850" dirty="0"/>
          </a:p>
        </p:txBody>
      </p:sp>
      <p:sp>
        <p:nvSpPr>
          <p:cNvPr id="4" name="Text 2"/>
          <p:cNvSpPr/>
          <p:nvPr/>
        </p:nvSpPr>
        <p:spPr>
          <a:xfrm>
            <a:off x="1737360" y="0"/>
            <a:ext cx="5120640" cy="475488"/>
          </a:xfrm>
          <a:prstGeom prst="rect">
            <a:avLst/>
          </a:prstGeom>
          <a:noFill/>
          <a:ln/>
        </p:spPr>
        <p:txBody>
          <a:bodyPr wrap="square" rtlCol="0" anchor="ctr"/>
          <a:lstStyle/>
          <a:p>
            <a:pPr indent="0" marL="0">
              <a:buNone/>
            </a:pPr>
            <a:r>
              <a:rPr lang="en-US" sz="1500" b="1" dirty="0">
                <a:solidFill>
                  <a:srgbClr val="FFFFFF"/>
                </a:solidFill>
                <a:latin typeface="Outfit" pitchFamily="34" charset="0"/>
                <a:ea typeface="Outfit" pitchFamily="34" charset="-122"/>
                <a:cs typeface="Outfit" pitchFamily="34" charset="-120"/>
              </a:rPr>
              <a:t>Independent Practice / Práctica Independiente</a:t>
            </a:r>
            <a:endParaRPr lang="en-US" sz="1500" dirty="0"/>
          </a:p>
        </p:txBody>
      </p:sp>
      <p:sp>
        <p:nvSpPr>
          <p:cNvPr id="5" name="Text 3"/>
          <p:cNvSpPr/>
          <p:nvPr/>
        </p:nvSpPr>
        <p:spPr>
          <a:xfrm>
            <a:off x="7360920" y="100584"/>
            <a:ext cx="914400" cy="274320"/>
          </a:xfrm>
          <a:prstGeom prst="rect">
            <a:avLst>
              <a:gd name="adj" fmla="val 50000"/>
            </a:avLst>
          </a:prstGeom>
          <a:solidFill>
            <a:srgbClr val="1FA6A2"/>
          </a:solidFill>
          <a:ln/>
        </p:spPr>
        <p:txBody>
          <a:bodyPr wrap="square" rtlCol="0" anchor="ctr"/>
          <a:lstStyle/>
          <a:p>
            <a:pPr algn="ctr" indent="0" marL="0">
              <a:buNone/>
            </a:pPr>
            <a:r>
              <a:rPr lang="en-US" sz="900" b="1" dirty="0">
                <a:solidFill>
                  <a:srgbClr val="FFFFFF"/>
                </a:solidFill>
                <a:latin typeface="Outfit" pitchFamily="34" charset="0"/>
                <a:ea typeface="Outfit" pitchFamily="34" charset="-122"/>
                <a:cs typeface="Outfit" pitchFamily="34" charset="-120"/>
              </a:rPr>
              <a:t>6.NS.4</a:t>
            </a:r>
            <a:endParaRPr lang="en-US" sz="900" dirty="0"/>
          </a:p>
        </p:txBody>
      </p:sp>
      <p:sp>
        <p:nvSpPr>
          <p:cNvPr id="6" name="Shape 4"/>
          <p:cNvSpPr/>
          <p:nvPr/>
        </p:nvSpPr>
        <p:spPr>
          <a:xfrm>
            <a:off x="73152" y="685800"/>
            <a:ext cx="109728" cy="109728"/>
          </a:xfrm>
          <a:prstGeom prst="ellipse">
            <a:avLst/>
          </a:prstGeom>
          <a:solidFill>
            <a:srgbClr val="CBD3D9"/>
          </a:solidFill>
          <a:ln/>
        </p:spPr>
      </p:sp>
      <p:sp>
        <p:nvSpPr>
          <p:cNvPr id="7" name="Shape 5"/>
          <p:cNvSpPr/>
          <p:nvPr/>
        </p:nvSpPr>
        <p:spPr>
          <a:xfrm>
            <a:off x="73152" y="1161288"/>
            <a:ext cx="109728" cy="109728"/>
          </a:xfrm>
          <a:prstGeom prst="ellipse">
            <a:avLst/>
          </a:prstGeom>
          <a:solidFill>
            <a:srgbClr val="CBD3D9"/>
          </a:solidFill>
          <a:ln/>
        </p:spPr>
      </p:sp>
      <p:sp>
        <p:nvSpPr>
          <p:cNvPr id="8" name="Shape 6"/>
          <p:cNvSpPr/>
          <p:nvPr/>
        </p:nvSpPr>
        <p:spPr>
          <a:xfrm>
            <a:off x="73152" y="1636776"/>
            <a:ext cx="109728" cy="109728"/>
          </a:xfrm>
          <a:prstGeom prst="ellipse">
            <a:avLst/>
          </a:prstGeom>
          <a:solidFill>
            <a:srgbClr val="CBD3D9"/>
          </a:solidFill>
          <a:ln/>
        </p:spPr>
      </p:sp>
      <p:sp>
        <p:nvSpPr>
          <p:cNvPr id="9" name="Shape 7"/>
          <p:cNvSpPr/>
          <p:nvPr/>
        </p:nvSpPr>
        <p:spPr>
          <a:xfrm>
            <a:off x="73152" y="2112264"/>
            <a:ext cx="109728" cy="109728"/>
          </a:xfrm>
          <a:prstGeom prst="ellipse">
            <a:avLst/>
          </a:prstGeom>
          <a:solidFill>
            <a:srgbClr val="CBD3D9"/>
          </a:solidFill>
          <a:ln/>
        </p:spPr>
      </p:sp>
      <p:sp>
        <p:nvSpPr>
          <p:cNvPr id="10" name="Shape 8"/>
          <p:cNvSpPr/>
          <p:nvPr/>
        </p:nvSpPr>
        <p:spPr>
          <a:xfrm>
            <a:off x="73152" y="2587752"/>
            <a:ext cx="109728" cy="109728"/>
          </a:xfrm>
          <a:prstGeom prst="ellipse">
            <a:avLst/>
          </a:prstGeom>
          <a:solidFill>
            <a:srgbClr val="CBD3D9"/>
          </a:solidFill>
          <a:ln/>
        </p:spPr>
      </p:sp>
      <p:sp>
        <p:nvSpPr>
          <p:cNvPr id="11" name="Shape 9"/>
          <p:cNvSpPr/>
          <p:nvPr/>
        </p:nvSpPr>
        <p:spPr>
          <a:xfrm>
            <a:off x="73152" y="3063240"/>
            <a:ext cx="109728" cy="109728"/>
          </a:xfrm>
          <a:prstGeom prst="ellipse">
            <a:avLst/>
          </a:prstGeom>
          <a:solidFill>
            <a:srgbClr val="CBD3D9"/>
          </a:solidFill>
          <a:ln/>
        </p:spPr>
      </p:sp>
      <p:sp>
        <p:nvSpPr>
          <p:cNvPr id="12" name="Shape 10"/>
          <p:cNvSpPr/>
          <p:nvPr/>
        </p:nvSpPr>
        <p:spPr>
          <a:xfrm>
            <a:off x="73152" y="3538728"/>
            <a:ext cx="109728" cy="109728"/>
          </a:xfrm>
          <a:prstGeom prst="ellipse">
            <a:avLst/>
          </a:prstGeom>
          <a:solidFill>
            <a:srgbClr val="CBD3D9"/>
          </a:solidFill>
          <a:ln/>
        </p:spPr>
      </p:sp>
      <p:sp>
        <p:nvSpPr>
          <p:cNvPr id="13" name="Shape 11"/>
          <p:cNvSpPr/>
          <p:nvPr/>
        </p:nvSpPr>
        <p:spPr>
          <a:xfrm>
            <a:off x="73152" y="4014216"/>
            <a:ext cx="109728" cy="109728"/>
          </a:xfrm>
          <a:prstGeom prst="ellipse">
            <a:avLst/>
          </a:prstGeom>
          <a:solidFill>
            <a:srgbClr val="CBD3D9"/>
          </a:solidFill>
          <a:ln/>
        </p:spPr>
      </p:sp>
      <p:sp>
        <p:nvSpPr>
          <p:cNvPr id="14" name="Shape 12"/>
          <p:cNvSpPr/>
          <p:nvPr/>
        </p:nvSpPr>
        <p:spPr>
          <a:xfrm>
            <a:off x="73152" y="4489704"/>
            <a:ext cx="109728" cy="109728"/>
          </a:xfrm>
          <a:prstGeom prst="ellipse">
            <a:avLst/>
          </a:prstGeom>
          <a:solidFill>
            <a:srgbClr val="CBD3D9"/>
          </a:solidFill>
          <a:ln/>
        </p:spPr>
      </p:sp>
      <p:sp>
        <p:nvSpPr>
          <p:cNvPr id="15" name="Text 13"/>
          <p:cNvSpPr/>
          <p:nvPr/>
        </p:nvSpPr>
        <p:spPr>
          <a:xfrm>
            <a:off x="274320" y="4850892"/>
            <a:ext cx="6400800" cy="256032"/>
          </a:xfrm>
          <a:prstGeom prst="rect">
            <a:avLst/>
          </a:prstGeom>
          <a:noFill/>
          <a:ln/>
        </p:spPr>
        <p:txBody>
          <a:bodyPr wrap="square" rtlCol="0" anchor="ctr"/>
          <a:lstStyle/>
          <a:p>
            <a:pPr indent="0" marL="0">
              <a:buNone/>
            </a:pPr>
            <a:r>
              <a:rPr lang="en-US" sz="750" dirty="0">
                <a:solidFill>
                  <a:srgbClr val="8A96A3"/>
                </a:solidFill>
                <a:latin typeface="Hanken Grotesk" pitchFamily="34" charset="0"/>
                <a:ea typeface="Hanken Grotesk" pitchFamily="34" charset="-122"/>
                <a:cs typeface="Hanken Grotesk" pitchFamily="34" charset="-120"/>
              </a:rPr>
              <a:t>Reveal Math Grade 6  ·  Unit 1  ·  Lesson 1-1-flagship</a:t>
            </a:r>
            <a:endParaRPr lang="en-US" sz="750" dirty="0"/>
          </a:p>
        </p:txBody>
      </p:sp>
      <p:sp>
        <p:nvSpPr>
          <p:cNvPr id="16" name="Text 14"/>
          <p:cNvSpPr/>
          <p:nvPr/>
        </p:nvSpPr>
        <p:spPr>
          <a:xfrm>
            <a:off x="8412480" y="4850892"/>
            <a:ext cx="457200" cy="256032"/>
          </a:xfrm>
          <a:prstGeom prst="rect">
            <a:avLst/>
          </a:prstGeom>
          <a:noFill/>
          <a:ln/>
        </p:spPr>
        <p:txBody>
          <a:bodyPr wrap="square" rtlCol="0" anchor="ctr"/>
          <a:lstStyle/>
          <a:p>
            <a:pPr algn="r" indent="0" marL="0">
              <a:buNone/>
            </a:pPr>
            <a:r>
              <a:rPr lang="en-US" sz="800" b="1" dirty="0">
                <a:solidFill>
                  <a:srgbClr val="8A96A3"/>
                </a:solidFill>
                <a:latin typeface="Outfit" pitchFamily="34" charset="0"/>
                <a:ea typeface="Outfit" pitchFamily="34" charset="-122"/>
                <a:cs typeface="Outfit" pitchFamily="34" charset="-120"/>
              </a:rPr>
              <a:t>9</a:t>
            </a:r>
            <a:endParaRPr lang="en-US" sz="800" dirty="0"/>
          </a:p>
        </p:txBody>
      </p:sp>
      <p:sp>
        <p:nvSpPr>
          <p:cNvPr id="17" name="Shape 15"/>
          <p:cNvSpPr/>
          <p:nvPr/>
        </p:nvSpPr>
        <p:spPr>
          <a:xfrm>
            <a:off x="411480" y="685800"/>
            <a:ext cx="5486400" cy="4023360"/>
          </a:xfrm>
          <a:prstGeom prst="roundRect">
            <a:avLst>
              <a:gd name="adj" fmla="val 1818"/>
            </a:avLst>
          </a:prstGeom>
          <a:solidFill>
            <a:srgbClr val="FFFFFF"/>
          </a:solidFill>
          <a:ln w="12700">
            <a:solidFill>
              <a:srgbClr val="D6DBDF"/>
            </a:solidFill>
            <a:prstDash val="solid"/>
          </a:ln>
          <a:effectLst>
            <a:outerShdw sx="100000" sy="100000" kx="0" ky="0" algn="bl" rotWithShape="0" blurRad="50800" dist="12700" dir="5400000">
              <a:srgbClr val="1C2E42">
                <a:alpha val="10000"/>
              </a:srgbClr>
            </a:outerShdw>
          </a:effectLst>
        </p:spPr>
      </p:sp>
      <p:sp>
        <p:nvSpPr>
          <p:cNvPr id="18" name="Text 16"/>
          <p:cNvSpPr/>
          <p:nvPr/>
        </p:nvSpPr>
        <p:spPr>
          <a:xfrm>
            <a:off x="594360" y="841248"/>
            <a:ext cx="1463040" cy="274320"/>
          </a:xfrm>
          <a:prstGeom prst="rect">
            <a:avLst>
              <a:gd name="adj" fmla="val 50000"/>
            </a:avLst>
          </a:prstGeom>
          <a:solidFill>
            <a:srgbClr val="1FA6A2"/>
          </a:solidFill>
          <a:ln/>
        </p:spPr>
        <p:txBody>
          <a:bodyPr wrap="square" rtlCol="0" anchor="ctr"/>
          <a:lstStyle/>
          <a:p>
            <a:pPr algn="ctr" indent="0" marL="0">
              <a:buNone/>
            </a:pPr>
            <a:r>
              <a:rPr lang="en-US" sz="900" b="1" dirty="0">
                <a:solidFill>
                  <a:srgbClr val="FFFFFF"/>
                </a:solidFill>
                <a:latin typeface="Outfit" pitchFamily="34" charset="0"/>
                <a:ea typeface="Outfit" pitchFamily="34" charset="-122"/>
                <a:cs typeface="Outfit" pitchFamily="34" charset="-120"/>
              </a:rPr>
              <a:t>✍️ ON YOUR OWN</a:t>
            </a:r>
            <a:endParaRPr lang="en-US" sz="900" dirty="0"/>
          </a:p>
        </p:txBody>
      </p:sp>
      <p:sp>
        <p:nvSpPr>
          <p:cNvPr id="19" name="Text 17"/>
          <p:cNvSpPr/>
          <p:nvPr/>
        </p:nvSpPr>
        <p:spPr>
          <a:xfrm>
            <a:off x="594360" y="1234440"/>
            <a:ext cx="5166360" cy="457200"/>
          </a:xfrm>
          <a:prstGeom prst="rect">
            <a:avLst/>
          </a:prstGeom>
          <a:noFill/>
          <a:ln/>
        </p:spPr>
        <p:txBody>
          <a:bodyPr wrap="square" rtlCol="0" anchor="t"/>
          <a:lstStyle/>
          <a:p>
            <a:pPr indent="0" marL="0">
              <a:buNone/>
            </a:pPr>
            <a:r>
              <a:rPr lang="en-US" sz="1050" b="1" dirty="0">
                <a:solidFill>
                  <a:srgbClr val="1FA6A2"/>
                </a:solidFill>
                <a:latin typeface="Hanken Grotesk" pitchFamily="34" charset="0"/>
                <a:ea typeface="Hanken Grotesk" pitchFamily="34" charset="-122"/>
                <a:cs typeface="Hanken Grotesk" pitchFamily="34" charset="-120"/>
              </a:rPr>
              <a:t>1.  </a:t>
            </a:r>
            <a:pPr indent="0" marL="0">
              <a:buNone/>
            </a:pPr>
            <a:r>
              <a:rPr lang="en-US" sz="1050" dirty="0">
                <a:solidFill>
                  <a:srgbClr val="17324D"/>
                </a:solidFill>
                <a:latin typeface="Hanken Grotesk" pitchFamily="34" charset="0"/>
                <a:ea typeface="Hanken Grotesk" pitchFamily="34" charset="-122"/>
                <a:cs typeface="Hanken Grotesk" pitchFamily="34" charset="-120"/>
              </a:rPr>
              <a:t>Two students found different factor trees for 60. Student A started with 2 × 30. Student B started with 6 × 10. Which statement is true?</a:t>
            </a:r>
            <a:endParaRPr lang="en-US" sz="1050" dirty="0"/>
          </a:p>
        </p:txBody>
      </p:sp>
      <p:sp>
        <p:nvSpPr>
          <p:cNvPr id="20" name="Shape 18"/>
          <p:cNvSpPr/>
          <p:nvPr/>
        </p:nvSpPr>
        <p:spPr>
          <a:xfrm>
            <a:off x="777240" y="1783080"/>
            <a:ext cx="4983480" cy="0"/>
          </a:xfrm>
          <a:prstGeom prst="line">
            <a:avLst/>
          </a:prstGeom>
          <a:noFill/>
          <a:ln w="9525">
            <a:solidFill>
              <a:srgbClr val="C7CDD2"/>
            </a:solidFill>
            <a:prstDash val="dash"/>
          </a:ln>
        </p:spPr>
      </p:sp>
      <p:sp>
        <p:nvSpPr>
          <p:cNvPr id="21" name="Text 19"/>
          <p:cNvSpPr/>
          <p:nvPr/>
        </p:nvSpPr>
        <p:spPr>
          <a:xfrm>
            <a:off x="594360" y="2194560"/>
            <a:ext cx="5166360" cy="457200"/>
          </a:xfrm>
          <a:prstGeom prst="rect">
            <a:avLst/>
          </a:prstGeom>
          <a:noFill/>
          <a:ln/>
        </p:spPr>
        <p:txBody>
          <a:bodyPr wrap="square" rtlCol="0" anchor="t"/>
          <a:lstStyle/>
          <a:p>
            <a:pPr indent="0" marL="0">
              <a:buNone/>
            </a:pPr>
            <a:r>
              <a:rPr lang="en-US" sz="1050" b="1" dirty="0">
                <a:solidFill>
                  <a:srgbClr val="1FA6A2"/>
                </a:solidFill>
                <a:latin typeface="Hanken Grotesk" pitchFamily="34" charset="0"/>
                <a:ea typeface="Hanken Grotesk" pitchFamily="34" charset="-122"/>
                <a:cs typeface="Hanken Grotesk" pitchFamily="34" charset="-120"/>
              </a:rPr>
              <a:t>2.  </a:t>
            </a:r>
            <a:pPr indent="0" marL="0">
              <a:buNone/>
            </a:pPr>
            <a:r>
              <a:rPr lang="en-US" sz="1050" dirty="0">
                <a:solidFill>
                  <a:srgbClr val="17324D"/>
                </a:solidFill>
                <a:latin typeface="Hanken Grotesk" pitchFamily="34" charset="0"/>
                <a:ea typeface="Hanken Grotesk" pitchFamily="34" charset="-122"/>
                <a:cs typeface="Hanken Grotesk" pitchFamily="34" charset="-120"/>
              </a:rPr>
              <a:t>Which of the following is a prime number?</a:t>
            </a:r>
            <a:endParaRPr lang="en-US" sz="1050" dirty="0"/>
          </a:p>
        </p:txBody>
      </p:sp>
      <p:sp>
        <p:nvSpPr>
          <p:cNvPr id="22" name="Shape 20"/>
          <p:cNvSpPr/>
          <p:nvPr/>
        </p:nvSpPr>
        <p:spPr>
          <a:xfrm>
            <a:off x="777240" y="2743200"/>
            <a:ext cx="4983480" cy="0"/>
          </a:xfrm>
          <a:prstGeom prst="line">
            <a:avLst/>
          </a:prstGeom>
          <a:noFill/>
          <a:ln w="9525">
            <a:solidFill>
              <a:srgbClr val="C7CDD2"/>
            </a:solidFill>
            <a:prstDash val="dash"/>
          </a:ln>
        </p:spPr>
      </p:sp>
      <p:sp>
        <p:nvSpPr>
          <p:cNvPr id="23" name="Text 21"/>
          <p:cNvSpPr/>
          <p:nvPr/>
        </p:nvSpPr>
        <p:spPr>
          <a:xfrm>
            <a:off x="594360" y="3154680"/>
            <a:ext cx="5166360" cy="457200"/>
          </a:xfrm>
          <a:prstGeom prst="rect">
            <a:avLst/>
          </a:prstGeom>
          <a:noFill/>
          <a:ln/>
        </p:spPr>
        <p:txBody>
          <a:bodyPr wrap="square" rtlCol="0" anchor="t"/>
          <a:lstStyle/>
          <a:p>
            <a:pPr indent="0" marL="0">
              <a:buNone/>
            </a:pPr>
            <a:r>
              <a:rPr lang="en-US" sz="1050" b="1" dirty="0">
                <a:solidFill>
                  <a:srgbClr val="1FA6A2"/>
                </a:solidFill>
                <a:latin typeface="Hanken Grotesk" pitchFamily="34" charset="0"/>
                <a:ea typeface="Hanken Grotesk" pitchFamily="34" charset="-122"/>
                <a:cs typeface="Hanken Grotesk" pitchFamily="34" charset="-120"/>
              </a:rPr>
              <a:t>3.  </a:t>
            </a:r>
            <a:pPr indent="0" marL="0">
              <a:buNone/>
            </a:pPr>
            <a:r>
              <a:rPr lang="en-US" sz="1050" dirty="0">
                <a:solidFill>
                  <a:srgbClr val="17324D"/>
                </a:solidFill>
                <a:latin typeface="Hanken Grotesk" pitchFamily="34" charset="0"/>
                <a:ea typeface="Hanken Grotesk" pitchFamily="34" charset="-122"/>
                <a:cs typeface="Hanken Grotesk" pitchFamily="34" charset="-120"/>
              </a:rPr>
              <a:t>What is the prime factorization of 30?</a:t>
            </a:r>
            <a:endParaRPr lang="en-US" sz="1050" dirty="0"/>
          </a:p>
        </p:txBody>
      </p:sp>
      <p:sp>
        <p:nvSpPr>
          <p:cNvPr id="24" name="Shape 22"/>
          <p:cNvSpPr/>
          <p:nvPr/>
        </p:nvSpPr>
        <p:spPr>
          <a:xfrm>
            <a:off x="777240" y="3703320"/>
            <a:ext cx="4983480" cy="0"/>
          </a:xfrm>
          <a:prstGeom prst="line">
            <a:avLst/>
          </a:prstGeom>
          <a:noFill/>
          <a:ln w="9525">
            <a:solidFill>
              <a:srgbClr val="C7CDD2"/>
            </a:solidFill>
            <a:prstDash val="dash"/>
          </a:ln>
        </p:spPr>
      </p:sp>
      <p:sp>
        <p:nvSpPr>
          <p:cNvPr id="25" name="Shape 23"/>
          <p:cNvSpPr/>
          <p:nvPr/>
        </p:nvSpPr>
        <p:spPr>
          <a:xfrm>
            <a:off x="6035040" y="685800"/>
            <a:ext cx="2788920" cy="4023360"/>
          </a:xfrm>
          <a:prstGeom prst="roundRect">
            <a:avLst>
              <a:gd name="adj" fmla="val 2623"/>
            </a:avLst>
          </a:prstGeom>
          <a:solidFill>
            <a:srgbClr val="DFF2EE"/>
          </a:solidFill>
          <a:ln w="12700">
            <a:solidFill>
              <a:srgbClr val="1FA6A2"/>
            </a:solidFill>
            <a:prstDash val="solid"/>
          </a:ln>
          <a:effectLst>
            <a:outerShdw sx="100000" sy="100000" kx="0" ky="0" algn="bl" rotWithShape="0" blurRad="50800" dist="12700" dir="5400000">
              <a:srgbClr val="1C2E42">
                <a:alpha val="10000"/>
              </a:srgbClr>
            </a:outerShdw>
          </a:effectLst>
        </p:spPr>
      </p:sp>
      <p:sp>
        <p:nvSpPr>
          <p:cNvPr id="26" name="Text 24"/>
          <p:cNvSpPr/>
          <p:nvPr/>
        </p:nvSpPr>
        <p:spPr>
          <a:xfrm>
            <a:off x="6035040" y="685800"/>
            <a:ext cx="2788920" cy="274320"/>
          </a:xfrm>
          <a:prstGeom prst="rect">
            <a:avLst/>
          </a:prstGeom>
          <a:solidFill>
            <a:srgbClr val="1FA6A2"/>
          </a:solidFill>
          <a:ln/>
        </p:spPr>
        <p:txBody>
          <a:bodyPr wrap="square" rtlCol="0" anchor="ctr"/>
          <a:lstStyle/>
          <a:p>
            <a:pPr algn="ctr" indent="0" marL="0">
              <a:buNone/>
            </a:pPr>
            <a:r>
              <a:rPr lang="en-US" sz="1000" b="1" dirty="0">
                <a:solidFill>
                  <a:srgbClr val="FFFFFF"/>
                </a:solidFill>
                <a:latin typeface="Outfit" pitchFamily="34" charset="0"/>
                <a:ea typeface="Outfit" pitchFamily="34" charset="-122"/>
                <a:cs typeface="Outfit" pitchFamily="34" charset="-120"/>
              </a:rPr>
              <a:t>💬 Talk It Over</a:t>
            </a:r>
            <a:endParaRPr lang="en-US" sz="1000" dirty="0"/>
          </a:p>
        </p:txBody>
      </p:sp>
      <p:sp>
        <p:nvSpPr>
          <p:cNvPr id="27" name="Text 25"/>
          <p:cNvSpPr/>
          <p:nvPr/>
        </p:nvSpPr>
        <p:spPr>
          <a:xfrm>
            <a:off x="6217920" y="1097280"/>
            <a:ext cx="2468880" cy="1554480"/>
          </a:xfrm>
          <a:prstGeom prst="rect">
            <a:avLst/>
          </a:prstGeom>
          <a:noFill/>
          <a:ln/>
        </p:spPr>
        <p:txBody>
          <a:bodyPr wrap="square" rtlCol="0" anchor="t"/>
          <a:lstStyle/>
          <a:p>
            <a:pPr indent="0" marL="0">
              <a:buNone/>
            </a:pPr>
            <a:r>
              <a:rPr lang="en-US" sz="1000" dirty="0">
                <a:solidFill>
                  <a:srgbClr val="17324D"/>
                </a:solidFill>
                <a:latin typeface="Hanken Grotesk" pitchFamily="34" charset="0"/>
                <a:ea typeface="Hanken Grotesk" pitchFamily="34" charset="-122"/>
                <a:cs typeface="Hanken Grotesk" pitchFamily="34" charset="-120"/>
              </a:rPr>
              <a:t>The cafeteria has 84 apples to arrange into equal rows. How does the prime factorization of 84 help the manager find every possible equal-row display?</a:t>
            </a:r>
            <a:endParaRPr lang="en-US" sz="1000" dirty="0"/>
          </a:p>
        </p:txBody>
      </p:sp>
      <p:sp>
        <p:nvSpPr>
          <p:cNvPr id="28" name="Shape 26"/>
          <p:cNvSpPr/>
          <p:nvPr/>
        </p:nvSpPr>
        <p:spPr>
          <a:xfrm>
            <a:off x="6217920" y="2834640"/>
            <a:ext cx="2423160" cy="0"/>
          </a:xfrm>
          <a:prstGeom prst="line">
            <a:avLst/>
          </a:prstGeom>
          <a:noFill/>
          <a:ln w="9525">
            <a:solidFill>
              <a:srgbClr val="C7CDD2"/>
            </a:solidFill>
            <a:prstDash val="dash"/>
          </a:ln>
        </p:spPr>
      </p:sp>
      <p:sp>
        <p:nvSpPr>
          <p:cNvPr id="29" name="Shape 27"/>
          <p:cNvSpPr/>
          <p:nvPr/>
        </p:nvSpPr>
        <p:spPr>
          <a:xfrm>
            <a:off x="6217920" y="3163824"/>
            <a:ext cx="2423160" cy="0"/>
          </a:xfrm>
          <a:prstGeom prst="line">
            <a:avLst/>
          </a:prstGeom>
          <a:noFill/>
          <a:ln w="9525">
            <a:solidFill>
              <a:srgbClr val="C7CDD2"/>
            </a:solidFill>
            <a:prstDash val="dash"/>
          </a:ln>
        </p:spPr>
      </p:sp>
      <p:sp>
        <p:nvSpPr>
          <p:cNvPr id="30" name="Shape 28"/>
          <p:cNvSpPr/>
          <p:nvPr/>
        </p:nvSpPr>
        <p:spPr>
          <a:xfrm>
            <a:off x="6217920" y="3493008"/>
            <a:ext cx="2423160" cy="0"/>
          </a:xfrm>
          <a:prstGeom prst="line">
            <a:avLst/>
          </a:prstGeom>
          <a:noFill/>
          <a:ln w="9525">
            <a:solidFill>
              <a:srgbClr val="C7CDD2"/>
            </a:solidFill>
            <a:prstDash val="dash"/>
          </a:ln>
        </p:spPr>
      </p:sp>
      <p:sp>
        <p:nvSpPr>
          <p:cNvPr id="31" name="Shape 29"/>
          <p:cNvSpPr/>
          <p:nvPr/>
        </p:nvSpPr>
        <p:spPr>
          <a:xfrm>
            <a:off x="6217920" y="3822192"/>
            <a:ext cx="2423160" cy="0"/>
          </a:xfrm>
          <a:prstGeom prst="line">
            <a:avLst/>
          </a:prstGeom>
          <a:noFill/>
          <a:ln w="9525">
            <a:solidFill>
              <a:srgbClr val="C7CDD2"/>
            </a:solidFill>
            <a:prstDash val="dash"/>
          </a:ln>
        </p:spPr>
      </p:sp>
      <p:sp>
        <p:nvSpPr>
          <p:cNvPr id="32" name="Shape 30"/>
          <p:cNvSpPr/>
          <p:nvPr/>
        </p:nvSpPr>
        <p:spPr>
          <a:xfrm>
            <a:off x="6217920" y="4151376"/>
            <a:ext cx="2423160" cy="0"/>
          </a:xfrm>
          <a:prstGeom prst="line">
            <a:avLst/>
          </a:prstGeom>
          <a:noFill/>
          <a:ln w="9525">
            <a:solidFill>
              <a:srgbClr val="C7CDD2"/>
            </a:solidFill>
            <a:prstDash val="dash"/>
          </a:ln>
        </p:spPr>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7F4EC"/>
        </a:solidFill>
      </p:bgPr>
    </p:bg>
    <p:spTree>
      <p:nvGrpSpPr>
        <p:cNvPr id="1" name=""/>
        <p:cNvGrpSpPr/>
        <p:nvPr/>
      </p:nvGrpSpPr>
      <p:grpSpPr>
        <a:xfrm>
          <a:off x="0" y="0"/>
          <a:ext cx="0" cy="0"/>
          <a:chOff x="0" y="0"/>
          <a:chExt cx="0" cy="0"/>
        </a:xfrm>
      </p:grpSpPr>
      <p:sp>
        <p:nvSpPr>
          <p:cNvPr id="2" name="Shape 0"/>
          <p:cNvSpPr/>
          <p:nvPr/>
        </p:nvSpPr>
        <p:spPr>
          <a:xfrm>
            <a:off x="0" y="0"/>
            <a:ext cx="9144000" cy="475488"/>
          </a:xfrm>
          <a:prstGeom prst="rect">
            <a:avLst/>
          </a:prstGeom>
          <a:solidFill>
            <a:srgbClr val="17324D"/>
          </a:solidFill>
          <a:ln/>
        </p:spPr>
      </p:sp>
      <p:sp>
        <p:nvSpPr>
          <p:cNvPr id="3" name="Text 1"/>
          <p:cNvSpPr/>
          <p:nvPr/>
        </p:nvSpPr>
        <p:spPr>
          <a:xfrm>
            <a:off x="274320" y="0"/>
            <a:ext cx="2194560" cy="475488"/>
          </a:xfrm>
          <a:prstGeom prst="rect">
            <a:avLst/>
          </a:prstGeom>
          <a:noFill/>
          <a:ln/>
        </p:spPr>
        <p:txBody>
          <a:bodyPr wrap="square" rtlCol="0" anchor="ctr"/>
          <a:lstStyle/>
          <a:p>
            <a:pPr indent="0" marL="0">
              <a:buNone/>
            </a:pPr>
            <a:r>
              <a:rPr lang="en-US" sz="850" b="1" spc="100" kern="0" dirty="0">
                <a:solidFill>
                  <a:srgbClr val="BFE6E2"/>
                </a:solidFill>
                <a:latin typeface="Outfit" pitchFamily="34" charset="0"/>
                <a:ea typeface="Outfit" pitchFamily="34" charset="-122"/>
                <a:cs typeface="Outfit" pitchFamily="34" charset="-120"/>
              </a:rPr>
              <a:t>NEFT TEACHER</a:t>
            </a:r>
            <a:endParaRPr lang="en-US" sz="850" dirty="0"/>
          </a:p>
        </p:txBody>
      </p:sp>
      <p:sp>
        <p:nvSpPr>
          <p:cNvPr id="4" name="Text 2"/>
          <p:cNvSpPr/>
          <p:nvPr/>
        </p:nvSpPr>
        <p:spPr>
          <a:xfrm>
            <a:off x="1737360" y="0"/>
            <a:ext cx="5120640" cy="475488"/>
          </a:xfrm>
          <a:prstGeom prst="rect">
            <a:avLst/>
          </a:prstGeom>
          <a:noFill/>
          <a:ln/>
        </p:spPr>
        <p:txBody>
          <a:bodyPr wrap="square" rtlCol="0" anchor="ctr"/>
          <a:lstStyle/>
          <a:p>
            <a:pPr indent="0" marL="0">
              <a:buNone/>
            </a:pPr>
            <a:r>
              <a:rPr lang="en-US" sz="1500" b="1" dirty="0">
                <a:solidFill>
                  <a:srgbClr val="FFFFFF"/>
                </a:solidFill>
                <a:latin typeface="Outfit" pitchFamily="34" charset="0"/>
                <a:ea typeface="Outfit" pitchFamily="34" charset="-122"/>
                <a:cs typeface="Outfit" pitchFamily="34" charset="-120"/>
              </a:rPr>
              <a:t>Think–Write–Respond / Piensa y Escribe</a:t>
            </a:r>
            <a:endParaRPr lang="en-US" sz="1500" dirty="0"/>
          </a:p>
        </p:txBody>
      </p:sp>
      <p:sp>
        <p:nvSpPr>
          <p:cNvPr id="5" name="Text 3"/>
          <p:cNvSpPr/>
          <p:nvPr/>
        </p:nvSpPr>
        <p:spPr>
          <a:xfrm>
            <a:off x="7360920" y="100584"/>
            <a:ext cx="914400" cy="274320"/>
          </a:xfrm>
          <a:prstGeom prst="rect">
            <a:avLst>
              <a:gd name="adj" fmla="val 50000"/>
            </a:avLst>
          </a:prstGeom>
          <a:solidFill>
            <a:srgbClr val="1FA6A2"/>
          </a:solidFill>
          <a:ln/>
        </p:spPr>
        <p:txBody>
          <a:bodyPr wrap="square" rtlCol="0" anchor="ctr"/>
          <a:lstStyle/>
          <a:p>
            <a:pPr algn="ctr" indent="0" marL="0">
              <a:buNone/>
            </a:pPr>
            <a:r>
              <a:rPr lang="en-US" sz="900" b="1" dirty="0">
                <a:solidFill>
                  <a:srgbClr val="FFFFFF"/>
                </a:solidFill>
                <a:latin typeface="Outfit" pitchFamily="34" charset="0"/>
                <a:ea typeface="Outfit" pitchFamily="34" charset="-122"/>
                <a:cs typeface="Outfit" pitchFamily="34" charset="-120"/>
              </a:rPr>
              <a:t>6.NS.4</a:t>
            </a:r>
            <a:endParaRPr lang="en-US" sz="900" dirty="0"/>
          </a:p>
        </p:txBody>
      </p:sp>
      <p:sp>
        <p:nvSpPr>
          <p:cNvPr id="6" name="Shape 4"/>
          <p:cNvSpPr/>
          <p:nvPr/>
        </p:nvSpPr>
        <p:spPr>
          <a:xfrm>
            <a:off x="73152" y="685800"/>
            <a:ext cx="109728" cy="109728"/>
          </a:xfrm>
          <a:prstGeom prst="ellipse">
            <a:avLst/>
          </a:prstGeom>
          <a:solidFill>
            <a:srgbClr val="CBD3D9"/>
          </a:solidFill>
          <a:ln/>
        </p:spPr>
      </p:sp>
      <p:sp>
        <p:nvSpPr>
          <p:cNvPr id="7" name="Shape 5"/>
          <p:cNvSpPr/>
          <p:nvPr/>
        </p:nvSpPr>
        <p:spPr>
          <a:xfrm>
            <a:off x="73152" y="1161288"/>
            <a:ext cx="109728" cy="109728"/>
          </a:xfrm>
          <a:prstGeom prst="ellipse">
            <a:avLst/>
          </a:prstGeom>
          <a:solidFill>
            <a:srgbClr val="CBD3D9"/>
          </a:solidFill>
          <a:ln/>
        </p:spPr>
      </p:sp>
      <p:sp>
        <p:nvSpPr>
          <p:cNvPr id="8" name="Shape 6"/>
          <p:cNvSpPr/>
          <p:nvPr/>
        </p:nvSpPr>
        <p:spPr>
          <a:xfrm>
            <a:off x="73152" y="1636776"/>
            <a:ext cx="109728" cy="109728"/>
          </a:xfrm>
          <a:prstGeom prst="ellipse">
            <a:avLst/>
          </a:prstGeom>
          <a:solidFill>
            <a:srgbClr val="CBD3D9"/>
          </a:solidFill>
          <a:ln/>
        </p:spPr>
      </p:sp>
      <p:sp>
        <p:nvSpPr>
          <p:cNvPr id="9" name="Shape 7"/>
          <p:cNvSpPr/>
          <p:nvPr/>
        </p:nvSpPr>
        <p:spPr>
          <a:xfrm>
            <a:off x="73152" y="2112264"/>
            <a:ext cx="109728" cy="109728"/>
          </a:xfrm>
          <a:prstGeom prst="ellipse">
            <a:avLst/>
          </a:prstGeom>
          <a:solidFill>
            <a:srgbClr val="CBD3D9"/>
          </a:solidFill>
          <a:ln/>
        </p:spPr>
      </p:sp>
      <p:sp>
        <p:nvSpPr>
          <p:cNvPr id="10" name="Shape 8"/>
          <p:cNvSpPr/>
          <p:nvPr/>
        </p:nvSpPr>
        <p:spPr>
          <a:xfrm>
            <a:off x="73152" y="2587752"/>
            <a:ext cx="109728" cy="109728"/>
          </a:xfrm>
          <a:prstGeom prst="ellipse">
            <a:avLst/>
          </a:prstGeom>
          <a:solidFill>
            <a:srgbClr val="CBD3D9"/>
          </a:solidFill>
          <a:ln/>
        </p:spPr>
      </p:sp>
      <p:sp>
        <p:nvSpPr>
          <p:cNvPr id="11" name="Shape 9"/>
          <p:cNvSpPr/>
          <p:nvPr/>
        </p:nvSpPr>
        <p:spPr>
          <a:xfrm>
            <a:off x="73152" y="3063240"/>
            <a:ext cx="109728" cy="109728"/>
          </a:xfrm>
          <a:prstGeom prst="ellipse">
            <a:avLst/>
          </a:prstGeom>
          <a:solidFill>
            <a:srgbClr val="CBD3D9"/>
          </a:solidFill>
          <a:ln/>
        </p:spPr>
      </p:sp>
      <p:sp>
        <p:nvSpPr>
          <p:cNvPr id="12" name="Shape 10"/>
          <p:cNvSpPr/>
          <p:nvPr/>
        </p:nvSpPr>
        <p:spPr>
          <a:xfrm>
            <a:off x="73152" y="3538728"/>
            <a:ext cx="109728" cy="109728"/>
          </a:xfrm>
          <a:prstGeom prst="ellipse">
            <a:avLst/>
          </a:prstGeom>
          <a:solidFill>
            <a:srgbClr val="CBD3D9"/>
          </a:solidFill>
          <a:ln/>
        </p:spPr>
      </p:sp>
      <p:sp>
        <p:nvSpPr>
          <p:cNvPr id="13" name="Shape 11"/>
          <p:cNvSpPr/>
          <p:nvPr/>
        </p:nvSpPr>
        <p:spPr>
          <a:xfrm>
            <a:off x="73152" y="4014216"/>
            <a:ext cx="109728" cy="109728"/>
          </a:xfrm>
          <a:prstGeom prst="ellipse">
            <a:avLst/>
          </a:prstGeom>
          <a:solidFill>
            <a:srgbClr val="CBD3D9"/>
          </a:solidFill>
          <a:ln/>
        </p:spPr>
      </p:sp>
      <p:sp>
        <p:nvSpPr>
          <p:cNvPr id="14" name="Shape 12"/>
          <p:cNvSpPr/>
          <p:nvPr/>
        </p:nvSpPr>
        <p:spPr>
          <a:xfrm>
            <a:off x="73152" y="4489704"/>
            <a:ext cx="109728" cy="109728"/>
          </a:xfrm>
          <a:prstGeom prst="ellipse">
            <a:avLst/>
          </a:prstGeom>
          <a:solidFill>
            <a:srgbClr val="CBD3D9"/>
          </a:solidFill>
          <a:ln/>
        </p:spPr>
      </p:sp>
      <p:sp>
        <p:nvSpPr>
          <p:cNvPr id="15" name="Text 13"/>
          <p:cNvSpPr/>
          <p:nvPr/>
        </p:nvSpPr>
        <p:spPr>
          <a:xfrm>
            <a:off x="274320" y="4850892"/>
            <a:ext cx="6400800" cy="256032"/>
          </a:xfrm>
          <a:prstGeom prst="rect">
            <a:avLst/>
          </a:prstGeom>
          <a:noFill/>
          <a:ln/>
        </p:spPr>
        <p:txBody>
          <a:bodyPr wrap="square" rtlCol="0" anchor="ctr"/>
          <a:lstStyle/>
          <a:p>
            <a:pPr indent="0" marL="0">
              <a:buNone/>
            </a:pPr>
            <a:r>
              <a:rPr lang="en-US" sz="750" dirty="0">
                <a:solidFill>
                  <a:srgbClr val="8A96A3"/>
                </a:solidFill>
                <a:latin typeface="Hanken Grotesk" pitchFamily="34" charset="0"/>
                <a:ea typeface="Hanken Grotesk" pitchFamily="34" charset="-122"/>
                <a:cs typeface="Hanken Grotesk" pitchFamily="34" charset="-120"/>
              </a:rPr>
              <a:t>Reveal Math Grade 6  ·  Unit 1  ·  Lesson 1-1-flagship</a:t>
            </a:r>
            <a:endParaRPr lang="en-US" sz="750" dirty="0"/>
          </a:p>
        </p:txBody>
      </p:sp>
      <p:sp>
        <p:nvSpPr>
          <p:cNvPr id="16" name="Text 14"/>
          <p:cNvSpPr/>
          <p:nvPr/>
        </p:nvSpPr>
        <p:spPr>
          <a:xfrm>
            <a:off x="8412480" y="4850892"/>
            <a:ext cx="457200" cy="256032"/>
          </a:xfrm>
          <a:prstGeom prst="rect">
            <a:avLst/>
          </a:prstGeom>
          <a:noFill/>
          <a:ln/>
        </p:spPr>
        <p:txBody>
          <a:bodyPr wrap="square" rtlCol="0" anchor="ctr"/>
          <a:lstStyle/>
          <a:p>
            <a:pPr algn="r" indent="0" marL="0">
              <a:buNone/>
            </a:pPr>
            <a:r>
              <a:rPr lang="en-US" sz="800" b="1" dirty="0">
                <a:solidFill>
                  <a:srgbClr val="8A96A3"/>
                </a:solidFill>
                <a:latin typeface="Outfit" pitchFamily="34" charset="0"/>
                <a:ea typeface="Outfit" pitchFamily="34" charset="-122"/>
                <a:cs typeface="Outfit" pitchFamily="34" charset="-120"/>
              </a:rPr>
              <a:t>10</a:t>
            </a:r>
            <a:endParaRPr lang="en-US" sz="800" dirty="0"/>
          </a:p>
        </p:txBody>
      </p:sp>
      <p:sp>
        <p:nvSpPr>
          <p:cNvPr id="17" name="Text 15"/>
          <p:cNvSpPr/>
          <p:nvPr/>
        </p:nvSpPr>
        <p:spPr>
          <a:xfrm>
            <a:off x="411480" y="603504"/>
            <a:ext cx="8412480" cy="274320"/>
          </a:xfrm>
          <a:prstGeom prst="rect">
            <a:avLst/>
          </a:prstGeom>
          <a:noFill/>
          <a:ln/>
        </p:spPr>
        <p:txBody>
          <a:bodyPr wrap="square" rtlCol="0" anchor="ctr"/>
          <a:lstStyle/>
          <a:p>
            <a:pPr indent="0" marL="0">
              <a:buNone/>
            </a:pPr>
            <a:r>
              <a:rPr lang="en-US" sz="1000" i="1" dirty="0">
                <a:solidFill>
                  <a:srgbClr val="8A96A3"/>
                </a:solidFill>
                <a:latin typeface="Hanken Grotesk" pitchFamily="34" charset="0"/>
                <a:ea typeface="Hanken Grotesk" pitchFamily="34" charset="-122"/>
                <a:cs typeface="Hanken Grotesk" pitchFamily="34" charset="-120"/>
              </a:rPr>
              <a:t>Use evidence from today's lesson to complete each frame.</a:t>
            </a:r>
            <a:endParaRPr lang="en-US" sz="1000" dirty="0"/>
          </a:p>
        </p:txBody>
      </p:sp>
      <p:sp>
        <p:nvSpPr>
          <p:cNvPr id="18" name="Shape 16"/>
          <p:cNvSpPr/>
          <p:nvPr/>
        </p:nvSpPr>
        <p:spPr>
          <a:xfrm>
            <a:off x="411480" y="960120"/>
            <a:ext cx="8412480" cy="1143000"/>
          </a:xfrm>
          <a:prstGeom prst="roundRect">
            <a:avLst>
              <a:gd name="adj" fmla="val 6400"/>
            </a:avLst>
          </a:prstGeom>
          <a:solidFill>
            <a:srgbClr val="FFFFFF"/>
          </a:solidFill>
          <a:ln w="12700">
            <a:solidFill>
              <a:srgbClr val="D6DBDF"/>
            </a:solidFill>
            <a:prstDash val="solid"/>
          </a:ln>
          <a:effectLst>
            <a:outerShdw sx="100000" sy="100000" kx="0" ky="0" algn="bl" rotWithShape="0" blurRad="50800" dist="12700" dir="5400000">
              <a:srgbClr val="1C2E42">
                <a:alpha val="10000"/>
              </a:srgbClr>
            </a:outerShdw>
          </a:effectLst>
        </p:spPr>
      </p:sp>
      <p:sp>
        <p:nvSpPr>
          <p:cNvPr id="19" name="Text 17"/>
          <p:cNvSpPr/>
          <p:nvPr/>
        </p:nvSpPr>
        <p:spPr>
          <a:xfrm>
            <a:off x="594360" y="1051560"/>
            <a:ext cx="8046720" cy="274320"/>
          </a:xfrm>
          <a:prstGeom prst="rect">
            <a:avLst/>
          </a:prstGeom>
          <a:noFill/>
          <a:ln/>
        </p:spPr>
        <p:txBody>
          <a:bodyPr wrap="square" rtlCol="0" anchor="ctr"/>
          <a:lstStyle/>
          <a:p>
            <a:pPr indent="0" marL="0">
              <a:buNone/>
            </a:pPr>
            <a:r>
              <a:rPr lang="en-US" sz="1100" dirty="0">
                <a:solidFill>
                  <a:srgbClr val="8A96A3"/>
                </a:solidFill>
                <a:latin typeface="Outfit" pitchFamily="34" charset="0"/>
                <a:ea typeface="Outfit" pitchFamily="34" charset="-122"/>
                <a:cs typeface="Outfit" pitchFamily="34" charset="-120"/>
              </a:rPr>
              <a:t>Frame 1 — </a:t>
            </a:r>
            <a:pPr indent="0" marL="0">
              <a:buNone/>
            </a:pPr>
            <a:r>
              <a:rPr lang="en-US" sz="1100" b="1" dirty="0">
                <a:solidFill>
                  <a:srgbClr val="1FA6A2"/>
                </a:solidFill>
                <a:latin typeface="Outfit" pitchFamily="34" charset="0"/>
                <a:ea typeface="Outfit" pitchFamily="34" charset="-122"/>
                <a:cs typeface="Outfit" pitchFamily="34" charset="-120"/>
              </a:rPr>
              <a:t>Explain the Rule</a:t>
            </a:r>
            <a:endParaRPr lang="en-US" sz="1100" dirty="0"/>
          </a:p>
        </p:txBody>
      </p:sp>
      <p:sp>
        <p:nvSpPr>
          <p:cNvPr id="20" name="Text 18"/>
          <p:cNvSpPr/>
          <p:nvPr/>
        </p:nvSpPr>
        <p:spPr>
          <a:xfrm>
            <a:off x="594360" y="1344168"/>
            <a:ext cx="8046720" cy="365760"/>
          </a:xfrm>
          <a:prstGeom prst="rect">
            <a:avLst/>
          </a:prstGeom>
          <a:noFill/>
          <a:ln/>
        </p:spPr>
        <p:txBody>
          <a:bodyPr wrap="square" rtlCol="0" anchor="t"/>
          <a:lstStyle/>
          <a:p>
            <a:pPr indent="0" marL="0">
              <a:buNone/>
            </a:pPr>
            <a:r>
              <a:rPr lang="en-US" sz="1050" dirty="0">
                <a:solidFill>
                  <a:srgbClr val="17324D"/>
                </a:solidFill>
                <a:latin typeface="Hanken Grotesk" pitchFamily="34" charset="0"/>
                <a:ea typeface="Hanken Grotesk" pitchFamily="34" charset="-122"/>
                <a:cs typeface="Hanken Grotesk" pitchFamily="34" charset="-120"/>
              </a:rPr>
              <a:t>Today's key idea is "Keep breaking a number apart until every factor is a prime number you cannot split anymore." — and it works because ___.</a:t>
            </a:r>
            <a:endParaRPr lang="en-US" sz="1050" dirty="0"/>
          </a:p>
        </p:txBody>
      </p:sp>
      <p:sp>
        <p:nvSpPr>
          <p:cNvPr id="21" name="Shape 19"/>
          <p:cNvSpPr/>
          <p:nvPr/>
        </p:nvSpPr>
        <p:spPr>
          <a:xfrm>
            <a:off x="594360" y="1892808"/>
            <a:ext cx="8046720" cy="0"/>
          </a:xfrm>
          <a:prstGeom prst="line">
            <a:avLst/>
          </a:prstGeom>
          <a:noFill/>
          <a:ln w="9525">
            <a:solidFill>
              <a:srgbClr val="C7CDD2"/>
            </a:solidFill>
            <a:prstDash val="dash"/>
          </a:ln>
        </p:spPr>
      </p:sp>
      <p:sp>
        <p:nvSpPr>
          <p:cNvPr id="22" name="Shape 20"/>
          <p:cNvSpPr/>
          <p:nvPr/>
        </p:nvSpPr>
        <p:spPr>
          <a:xfrm>
            <a:off x="411480" y="2240280"/>
            <a:ext cx="8412480" cy="1143000"/>
          </a:xfrm>
          <a:prstGeom prst="roundRect">
            <a:avLst>
              <a:gd name="adj" fmla="val 6400"/>
            </a:avLst>
          </a:prstGeom>
          <a:solidFill>
            <a:srgbClr val="FFFFFF"/>
          </a:solidFill>
          <a:ln w="12700">
            <a:solidFill>
              <a:srgbClr val="D6DBDF"/>
            </a:solidFill>
            <a:prstDash val="solid"/>
          </a:ln>
          <a:effectLst>
            <a:outerShdw sx="100000" sy="100000" kx="0" ky="0" algn="bl" rotWithShape="0" blurRad="50800" dist="12700" dir="5400000">
              <a:srgbClr val="1C2E42">
                <a:alpha val="10000"/>
              </a:srgbClr>
            </a:outerShdw>
          </a:effectLst>
        </p:spPr>
      </p:sp>
      <p:sp>
        <p:nvSpPr>
          <p:cNvPr id="23" name="Text 21"/>
          <p:cNvSpPr/>
          <p:nvPr/>
        </p:nvSpPr>
        <p:spPr>
          <a:xfrm>
            <a:off x="594360" y="2331720"/>
            <a:ext cx="8046720" cy="274320"/>
          </a:xfrm>
          <a:prstGeom prst="rect">
            <a:avLst/>
          </a:prstGeom>
          <a:noFill/>
          <a:ln/>
        </p:spPr>
        <p:txBody>
          <a:bodyPr wrap="square" rtlCol="0" anchor="ctr"/>
          <a:lstStyle/>
          <a:p>
            <a:pPr indent="0" marL="0">
              <a:buNone/>
            </a:pPr>
            <a:r>
              <a:rPr lang="en-US" sz="1100" dirty="0">
                <a:solidFill>
                  <a:srgbClr val="8A96A3"/>
                </a:solidFill>
                <a:latin typeface="Outfit" pitchFamily="34" charset="0"/>
                <a:ea typeface="Outfit" pitchFamily="34" charset="-122"/>
                <a:cs typeface="Outfit" pitchFamily="34" charset="-120"/>
              </a:rPr>
              <a:t>Frame 2 — </a:t>
            </a:r>
            <a:pPr indent="0" marL="0">
              <a:buNone/>
            </a:pPr>
            <a:r>
              <a:rPr lang="en-US" sz="1100" b="1" dirty="0">
                <a:solidFill>
                  <a:srgbClr val="1FA6A2"/>
                </a:solidFill>
                <a:latin typeface="Outfit" pitchFamily="34" charset="0"/>
                <a:ea typeface="Outfit" pitchFamily="34" charset="-122"/>
                <a:cs typeface="Outfit" pitchFamily="34" charset="-120"/>
              </a:rPr>
              <a:t>Because / But / So</a:t>
            </a:r>
            <a:endParaRPr lang="en-US" sz="1100" dirty="0"/>
          </a:p>
        </p:txBody>
      </p:sp>
      <p:sp>
        <p:nvSpPr>
          <p:cNvPr id="24" name="Text 22"/>
          <p:cNvSpPr/>
          <p:nvPr/>
        </p:nvSpPr>
        <p:spPr>
          <a:xfrm>
            <a:off x="594360" y="2624328"/>
            <a:ext cx="8046720" cy="365760"/>
          </a:xfrm>
          <a:prstGeom prst="rect">
            <a:avLst/>
          </a:prstGeom>
          <a:noFill/>
          <a:ln/>
        </p:spPr>
        <p:txBody>
          <a:bodyPr wrap="square" rtlCol="0" anchor="t"/>
          <a:lstStyle/>
          <a:p>
            <a:pPr indent="0" marL="0">
              <a:buNone/>
            </a:pPr>
            <a:r>
              <a:rPr lang="en-US" sz="1050" dirty="0">
                <a:solidFill>
                  <a:srgbClr val="17324D"/>
                </a:solidFill>
                <a:latin typeface="Hanken Grotesk" pitchFamily="34" charset="0"/>
                <a:ea typeface="Hanken Grotesk" pitchFamily="34" charset="-122"/>
                <a:cs typeface="Hanken Grotesk" pitchFamily="34" charset="-120"/>
              </a:rPr>
              <a:t>Because Prime number means ___, but a tricky part is ___, so I have to ___.</a:t>
            </a:r>
            <a:endParaRPr lang="en-US" sz="1050" dirty="0"/>
          </a:p>
        </p:txBody>
      </p:sp>
      <p:sp>
        <p:nvSpPr>
          <p:cNvPr id="25" name="Shape 23"/>
          <p:cNvSpPr/>
          <p:nvPr/>
        </p:nvSpPr>
        <p:spPr>
          <a:xfrm>
            <a:off x="594360" y="3172968"/>
            <a:ext cx="8046720" cy="0"/>
          </a:xfrm>
          <a:prstGeom prst="line">
            <a:avLst/>
          </a:prstGeom>
          <a:noFill/>
          <a:ln w="9525">
            <a:solidFill>
              <a:srgbClr val="C7CDD2"/>
            </a:solidFill>
            <a:prstDash val="dash"/>
          </a:ln>
        </p:spPr>
      </p:sp>
      <p:sp>
        <p:nvSpPr>
          <p:cNvPr id="26" name="Shape 24"/>
          <p:cNvSpPr/>
          <p:nvPr/>
        </p:nvSpPr>
        <p:spPr>
          <a:xfrm>
            <a:off x="411480" y="3520440"/>
            <a:ext cx="8412480" cy="1143000"/>
          </a:xfrm>
          <a:prstGeom prst="roundRect">
            <a:avLst>
              <a:gd name="adj" fmla="val 6400"/>
            </a:avLst>
          </a:prstGeom>
          <a:solidFill>
            <a:srgbClr val="FFFFFF"/>
          </a:solidFill>
          <a:ln w="12700">
            <a:solidFill>
              <a:srgbClr val="D6DBDF"/>
            </a:solidFill>
            <a:prstDash val="solid"/>
          </a:ln>
          <a:effectLst>
            <a:outerShdw sx="100000" sy="100000" kx="0" ky="0" algn="bl" rotWithShape="0" blurRad="50800" dist="12700" dir="5400000">
              <a:srgbClr val="1C2E42">
                <a:alpha val="10000"/>
              </a:srgbClr>
            </a:outerShdw>
          </a:effectLst>
        </p:spPr>
      </p:sp>
      <p:sp>
        <p:nvSpPr>
          <p:cNvPr id="27" name="Text 25"/>
          <p:cNvSpPr/>
          <p:nvPr/>
        </p:nvSpPr>
        <p:spPr>
          <a:xfrm>
            <a:off x="594360" y="3611880"/>
            <a:ext cx="8046720" cy="274320"/>
          </a:xfrm>
          <a:prstGeom prst="rect">
            <a:avLst/>
          </a:prstGeom>
          <a:noFill/>
          <a:ln/>
        </p:spPr>
        <p:txBody>
          <a:bodyPr wrap="square" rtlCol="0" anchor="ctr"/>
          <a:lstStyle/>
          <a:p>
            <a:pPr indent="0" marL="0">
              <a:buNone/>
            </a:pPr>
            <a:r>
              <a:rPr lang="en-US" sz="1100" dirty="0">
                <a:solidFill>
                  <a:srgbClr val="8A96A3"/>
                </a:solidFill>
                <a:latin typeface="Outfit" pitchFamily="34" charset="0"/>
                <a:ea typeface="Outfit" pitchFamily="34" charset="-122"/>
                <a:cs typeface="Outfit" pitchFamily="34" charset="-120"/>
              </a:rPr>
              <a:t>Frame 3 — </a:t>
            </a:r>
            <a:pPr indent="0" marL="0">
              <a:buNone/>
            </a:pPr>
            <a:r>
              <a:rPr lang="en-US" sz="1100" b="1" dirty="0">
                <a:solidFill>
                  <a:srgbClr val="1FA6A2"/>
                </a:solidFill>
                <a:latin typeface="Outfit" pitchFamily="34" charset="0"/>
                <a:ea typeface="Outfit" pitchFamily="34" charset="-122"/>
                <a:cs typeface="Outfit" pitchFamily="34" charset="-120"/>
              </a:rPr>
              <a:t>Catch the Mistake</a:t>
            </a:r>
            <a:endParaRPr lang="en-US" sz="1100" dirty="0"/>
          </a:p>
        </p:txBody>
      </p:sp>
      <p:sp>
        <p:nvSpPr>
          <p:cNvPr id="28" name="Text 26"/>
          <p:cNvSpPr/>
          <p:nvPr/>
        </p:nvSpPr>
        <p:spPr>
          <a:xfrm>
            <a:off x="594360" y="3904488"/>
            <a:ext cx="8046720" cy="365760"/>
          </a:xfrm>
          <a:prstGeom prst="rect">
            <a:avLst/>
          </a:prstGeom>
          <a:noFill/>
          <a:ln/>
        </p:spPr>
        <p:txBody>
          <a:bodyPr wrap="square" rtlCol="0" anchor="t"/>
          <a:lstStyle/>
          <a:p>
            <a:pPr indent="0" marL="0">
              <a:buNone/>
            </a:pPr>
            <a:r>
              <a:rPr lang="en-US" sz="1050" dirty="0">
                <a:solidFill>
                  <a:srgbClr val="17324D"/>
                </a:solidFill>
                <a:latin typeface="Hanken Grotesk" pitchFamily="34" charset="0"/>
                <a:ea typeface="Hanken Grotesk" pitchFamily="34" charset="-122"/>
                <a:cs typeface="Hanken Grotesk" pitchFamily="34" charset="-120"/>
              </a:rPr>
              <a:t>A common mistake with Prime number is ___. It happens because ___, and the fix is ___.</a:t>
            </a:r>
            <a:endParaRPr lang="en-US" sz="1050" dirty="0"/>
          </a:p>
        </p:txBody>
      </p:sp>
      <p:sp>
        <p:nvSpPr>
          <p:cNvPr id="29" name="Shape 27"/>
          <p:cNvSpPr/>
          <p:nvPr/>
        </p:nvSpPr>
        <p:spPr>
          <a:xfrm>
            <a:off x="594360" y="4453128"/>
            <a:ext cx="8046720" cy="0"/>
          </a:xfrm>
          <a:prstGeom prst="line">
            <a:avLst/>
          </a:prstGeom>
          <a:noFill/>
          <a:ln w="9525">
            <a:solidFill>
              <a:srgbClr val="C7CDD2"/>
            </a:solidFill>
            <a:prstDash val="dash"/>
          </a:ln>
        </p:spPr>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7F4EC"/>
        </a:solidFill>
      </p:bgPr>
    </p:bg>
    <p:spTree>
      <p:nvGrpSpPr>
        <p:cNvPr id="1" name=""/>
        <p:cNvGrpSpPr/>
        <p:nvPr/>
      </p:nvGrpSpPr>
      <p:grpSpPr>
        <a:xfrm>
          <a:off x="0" y="0"/>
          <a:ext cx="0" cy="0"/>
          <a:chOff x="0" y="0"/>
          <a:chExt cx="0" cy="0"/>
        </a:xfrm>
      </p:grpSpPr>
      <p:sp>
        <p:nvSpPr>
          <p:cNvPr id="2" name="Shape 0"/>
          <p:cNvSpPr/>
          <p:nvPr/>
        </p:nvSpPr>
        <p:spPr>
          <a:xfrm>
            <a:off x="0" y="0"/>
            <a:ext cx="9144000" cy="475488"/>
          </a:xfrm>
          <a:prstGeom prst="rect">
            <a:avLst/>
          </a:prstGeom>
          <a:solidFill>
            <a:srgbClr val="17324D"/>
          </a:solidFill>
          <a:ln/>
        </p:spPr>
      </p:sp>
      <p:sp>
        <p:nvSpPr>
          <p:cNvPr id="3" name="Text 1"/>
          <p:cNvSpPr/>
          <p:nvPr/>
        </p:nvSpPr>
        <p:spPr>
          <a:xfrm>
            <a:off x="274320" y="0"/>
            <a:ext cx="2194560" cy="475488"/>
          </a:xfrm>
          <a:prstGeom prst="rect">
            <a:avLst/>
          </a:prstGeom>
          <a:noFill/>
          <a:ln/>
        </p:spPr>
        <p:txBody>
          <a:bodyPr wrap="square" rtlCol="0" anchor="ctr"/>
          <a:lstStyle/>
          <a:p>
            <a:pPr indent="0" marL="0">
              <a:buNone/>
            </a:pPr>
            <a:r>
              <a:rPr lang="en-US" sz="850" b="1" spc="100" kern="0" dirty="0">
                <a:solidFill>
                  <a:srgbClr val="BFE6E2"/>
                </a:solidFill>
                <a:latin typeface="Outfit" pitchFamily="34" charset="0"/>
                <a:ea typeface="Outfit" pitchFamily="34" charset="-122"/>
                <a:cs typeface="Outfit" pitchFamily="34" charset="-120"/>
              </a:rPr>
              <a:t>NEFT TEACHER</a:t>
            </a:r>
            <a:endParaRPr lang="en-US" sz="850" dirty="0"/>
          </a:p>
        </p:txBody>
      </p:sp>
      <p:sp>
        <p:nvSpPr>
          <p:cNvPr id="4" name="Text 2"/>
          <p:cNvSpPr/>
          <p:nvPr/>
        </p:nvSpPr>
        <p:spPr>
          <a:xfrm>
            <a:off x="1737360" y="0"/>
            <a:ext cx="5120640" cy="475488"/>
          </a:xfrm>
          <a:prstGeom prst="rect">
            <a:avLst/>
          </a:prstGeom>
          <a:noFill/>
          <a:ln/>
        </p:spPr>
        <p:txBody>
          <a:bodyPr wrap="square" rtlCol="0" anchor="ctr"/>
          <a:lstStyle/>
          <a:p>
            <a:pPr indent="0" marL="0">
              <a:buNone/>
            </a:pPr>
            <a:r>
              <a:rPr lang="en-US" sz="1500" b="1" dirty="0">
                <a:solidFill>
                  <a:srgbClr val="FFFFFF"/>
                </a:solidFill>
                <a:latin typeface="Outfit" pitchFamily="34" charset="0"/>
                <a:ea typeface="Outfit" pitchFamily="34" charset="-122"/>
                <a:cs typeface="Outfit" pitchFamily="34" charset="-120"/>
              </a:rPr>
              <a:t>Exit Ticket / Boleto de Salida</a:t>
            </a:r>
            <a:endParaRPr lang="en-US" sz="1500" dirty="0"/>
          </a:p>
        </p:txBody>
      </p:sp>
      <p:sp>
        <p:nvSpPr>
          <p:cNvPr id="5" name="Text 3"/>
          <p:cNvSpPr/>
          <p:nvPr/>
        </p:nvSpPr>
        <p:spPr>
          <a:xfrm>
            <a:off x="7360920" y="100584"/>
            <a:ext cx="914400" cy="274320"/>
          </a:xfrm>
          <a:prstGeom prst="rect">
            <a:avLst>
              <a:gd name="adj" fmla="val 50000"/>
            </a:avLst>
          </a:prstGeom>
          <a:solidFill>
            <a:srgbClr val="1FA6A2"/>
          </a:solidFill>
          <a:ln/>
        </p:spPr>
        <p:txBody>
          <a:bodyPr wrap="square" rtlCol="0" anchor="ctr"/>
          <a:lstStyle/>
          <a:p>
            <a:pPr algn="ctr" indent="0" marL="0">
              <a:buNone/>
            </a:pPr>
            <a:r>
              <a:rPr lang="en-US" sz="900" b="1" dirty="0">
                <a:solidFill>
                  <a:srgbClr val="FFFFFF"/>
                </a:solidFill>
                <a:latin typeface="Outfit" pitchFamily="34" charset="0"/>
                <a:ea typeface="Outfit" pitchFamily="34" charset="-122"/>
                <a:cs typeface="Outfit" pitchFamily="34" charset="-120"/>
              </a:rPr>
              <a:t>6.NS.4</a:t>
            </a:r>
            <a:endParaRPr lang="en-US" sz="900" dirty="0"/>
          </a:p>
        </p:txBody>
      </p:sp>
      <p:sp>
        <p:nvSpPr>
          <p:cNvPr id="6" name="Shape 4"/>
          <p:cNvSpPr/>
          <p:nvPr/>
        </p:nvSpPr>
        <p:spPr>
          <a:xfrm>
            <a:off x="73152" y="685800"/>
            <a:ext cx="109728" cy="109728"/>
          </a:xfrm>
          <a:prstGeom prst="ellipse">
            <a:avLst/>
          </a:prstGeom>
          <a:solidFill>
            <a:srgbClr val="CBD3D9"/>
          </a:solidFill>
          <a:ln/>
        </p:spPr>
      </p:sp>
      <p:sp>
        <p:nvSpPr>
          <p:cNvPr id="7" name="Shape 5"/>
          <p:cNvSpPr/>
          <p:nvPr/>
        </p:nvSpPr>
        <p:spPr>
          <a:xfrm>
            <a:off x="73152" y="1161288"/>
            <a:ext cx="109728" cy="109728"/>
          </a:xfrm>
          <a:prstGeom prst="ellipse">
            <a:avLst/>
          </a:prstGeom>
          <a:solidFill>
            <a:srgbClr val="CBD3D9"/>
          </a:solidFill>
          <a:ln/>
        </p:spPr>
      </p:sp>
      <p:sp>
        <p:nvSpPr>
          <p:cNvPr id="8" name="Shape 6"/>
          <p:cNvSpPr/>
          <p:nvPr/>
        </p:nvSpPr>
        <p:spPr>
          <a:xfrm>
            <a:off x="73152" y="1636776"/>
            <a:ext cx="109728" cy="109728"/>
          </a:xfrm>
          <a:prstGeom prst="ellipse">
            <a:avLst/>
          </a:prstGeom>
          <a:solidFill>
            <a:srgbClr val="CBD3D9"/>
          </a:solidFill>
          <a:ln/>
        </p:spPr>
      </p:sp>
      <p:sp>
        <p:nvSpPr>
          <p:cNvPr id="9" name="Shape 7"/>
          <p:cNvSpPr/>
          <p:nvPr/>
        </p:nvSpPr>
        <p:spPr>
          <a:xfrm>
            <a:off x="73152" y="2112264"/>
            <a:ext cx="109728" cy="109728"/>
          </a:xfrm>
          <a:prstGeom prst="ellipse">
            <a:avLst/>
          </a:prstGeom>
          <a:solidFill>
            <a:srgbClr val="CBD3D9"/>
          </a:solidFill>
          <a:ln/>
        </p:spPr>
      </p:sp>
      <p:sp>
        <p:nvSpPr>
          <p:cNvPr id="10" name="Shape 8"/>
          <p:cNvSpPr/>
          <p:nvPr/>
        </p:nvSpPr>
        <p:spPr>
          <a:xfrm>
            <a:off x="73152" y="2587752"/>
            <a:ext cx="109728" cy="109728"/>
          </a:xfrm>
          <a:prstGeom prst="ellipse">
            <a:avLst/>
          </a:prstGeom>
          <a:solidFill>
            <a:srgbClr val="CBD3D9"/>
          </a:solidFill>
          <a:ln/>
        </p:spPr>
      </p:sp>
      <p:sp>
        <p:nvSpPr>
          <p:cNvPr id="11" name="Shape 9"/>
          <p:cNvSpPr/>
          <p:nvPr/>
        </p:nvSpPr>
        <p:spPr>
          <a:xfrm>
            <a:off x="73152" y="3063240"/>
            <a:ext cx="109728" cy="109728"/>
          </a:xfrm>
          <a:prstGeom prst="ellipse">
            <a:avLst/>
          </a:prstGeom>
          <a:solidFill>
            <a:srgbClr val="CBD3D9"/>
          </a:solidFill>
          <a:ln/>
        </p:spPr>
      </p:sp>
      <p:sp>
        <p:nvSpPr>
          <p:cNvPr id="12" name="Shape 10"/>
          <p:cNvSpPr/>
          <p:nvPr/>
        </p:nvSpPr>
        <p:spPr>
          <a:xfrm>
            <a:off x="73152" y="3538728"/>
            <a:ext cx="109728" cy="109728"/>
          </a:xfrm>
          <a:prstGeom prst="ellipse">
            <a:avLst/>
          </a:prstGeom>
          <a:solidFill>
            <a:srgbClr val="CBD3D9"/>
          </a:solidFill>
          <a:ln/>
        </p:spPr>
      </p:sp>
      <p:sp>
        <p:nvSpPr>
          <p:cNvPr id="13" name="Shape 11"/>
          <p:cNvSpPr/>
          <p:nvPr/>
        </p:nvSpPr>
        <p:spPr>
          <a:xfrm>
            <a:off x="73152" y="4014216"/>
            <a:ext cx="109728" cy="109728"/>
          </a:xfrm>
          <a:prstGeom prst="ellipse">
            <a:avLst/>
          </a:prstGeom>
          <a:solidFill>
            <a:srgbClr val="CBD3D9"/>
          </a:solidFill>
          <a:ln/>
        </p:spPr>
      </p:sp>
      <p:sp>
        <p:nvSpPr>
          <p:cNvPr id="14" name="Shape 12"/>
          <p:cNvSpPr/>
          <p:nvPr/>
        </p:nvSpPr>
        <p:spPr>
          <a:xfrm>
            <a:off x="73152" y="4489704"/>
            <a:ext cx="109728" cy="109728"/>
          </a:xfrm>
          <a:prstGeom prst="ellipse">
            <a:avLst/>
          </a:prstGeom>
          <a:solidFill>
            <a:srgbClr val="CBD3D9"/>
          </a:solidFill>
          <a:ln/>
        </p:spPr>
      </p:sp>
      <p:sp>
        <p:nvSpPr>
          <p:cNvPr id="15" name="Text 13"/>
          <p:cNvSpPr/>
          <p:nvPr/>
        </p:nvSpPr>
        <p:spPr>
          <a:xfrm>
            <a:off x="274320" y="4850892"/>
            <a:ext cx="6400800" cy="256032"/>
          </a:xfrm>
          <a:prstGeom prst="rect">
            <a:avLst/>
          </a:prstGeom>
          <a:noFill/>
          <a:ln/>
        </p:spPr>
        <p:txBody>
          <a:bodyPr wrap="square" rtlCol="0" anchor="ctr"/>
          <a:lstStyle/>
          <a:p>
            <a:pPr indent="0" marL="0">
              <a:buNone/>
            </a:pPr>
            <a:r>
              <a:rPr lang="en-US" sz="750" dirty="0">
                <a:solidFill>
                  <a:srgbClr val="8A96A3"/>
                </a:solidFill>
                <a:latin typeface="Hanken Grotesk" pitchFamily="34" charset="0"/>
                <a:ea typeface="Hanken Grotesk" pitchFamily="34" charset="-122"/>
                <a:cs typeface="Hanken Grotesk" pitchFamily="34" charset="-120"/>
              </a:rPr>
              <a:t>Reveal Math Grade 6  ·  Unit 1  ·  Lesson 1-1-flagship</a:t>
            </a:r>
            <a:endParaRPr lang="en-US" sz="750" dirty="0"/>
          </a:p>
        </p:txBody>
      </p:sp>
      <p:sp>
        <p:nvSpPr>
          <p:cNvPr id="16" name="Text 14"/>
          <p:cNvSpPr/>
          <p:nvPr/>
        </p:nvSpPr>
        <p:spPr>
          <a:xfrm>
            <a:off x="8412480" y="4850892"/>
            <a:ext cx="457200" cy="256032"/>
          </a:xfrm>
          <a:prstGeom prst="rect">
            <a:avLst/>
          </a:prstGeom>
          <a:noFill/>
          <a:ln/>
        </p:spPr>
        <p:txBody>
          <a:bodyPr wrap="square" rtlCol="0" anchor="ctr"/>
          <a:lstStyle/>
          <a:p>
            <a:pPr algn="r" indent="0" marL="0">
              <a:buNone/>
            </a:pPr>
            <a:r>
              <a:rPr lang="en-US" sz="800" b="1" dirty="0">
                <a:solidFill>
                  <a:srgbClr val="8A96A3"/>
                </a:solidFill>
                <a:latin typeface="Outfit" pitchFamily="34" charset="0"/>
                <a:ea typeface="Outfit" pitchFamily="34" charset="-122"/>
                <a:cs typeface="Outfit" pitchFamily="34" charset="-120"/>
              </a:rPr>
              <a:t>11</a:t>
            </a:r>
            <a:endParaRPr lang="en-US" sz="800" dirty="0"/>
          </a:p>
        </p:txBody>
      </p:sp>
      <p:sp>
        <p:nvSpPr>
          <p:cNvPr id="17" name="Shape 15"/>
          <p:cNvSpPr/>
          <p:nvPr/>
        </p:nvSpPr>
        <p:spPr>
          <a:xfrm>
            <a:off x="411480" y="685800"/>
            <a:ext cx="4160520" cy="4023360"/>
          </a:xfrm>
          <a:prstGeom prst="roundRect">
            <a:avLst>
              <a:gd name="adj" fmla="val 1818"/>
            </a:avLst>
          </a:prstGeom>
          <a:solidFill>
            <a:srgbClr val="DFF2EE"/>
          </a:solidFill>
          <a:ln w="12700">
            <a:solidFill>
              <a:srgbClr val="1FA6A2"/>
            </a:solidFill>
            <a:prstDash val="solid"/>
          </a:ln>
          <a:effectLst>
            <a:outerShdw sx="100000" sy="100000" kx="0" ky="0" algn="bl" rotWithShape="0" blurRad="50800" dist="12700" dir="5400000">
              <a:srgbClr val="1C2E42">
                <a:alpha val="10000"/>
              </a:srgbClr>
            </a:outerShdw>
          </a:effectLst>
        </p:spPr>
      </p:sp>
      <p:sp>
        <p:nvSpPr>
          <p:cNvPr id="18" name="Text 16"/>
          <p:cNvSpPr/>
          <p:nvPr/>
        </p:nvSpPr>
        <p:spPr>
          <a:xfrm>
            <a:off x="411480" y="685800"/>
            <a:ext cx="4160520" cy="274320"/>
          </a:xfrm>
          <a:prstGeom prst="rect">
            <a:avLst/>
          </a:prstGeom>
          <a:solidFill>
            <a:srgbClr val="1FA6A2"/>
          </a:solidFill>
          <a:ln/>
        </p:spPr>
        <p:txBody>
          <a:bodyPr wrap="square" rtlCol="0" anchor="ctr"/>
          <a:lstStyle/>
          <a:p>
            <a:pPr algn="ctr" indent="0" marL="0">
              <a:buNone/>
            </a:pPr>
            <a:r>
              <a:rPr lang="en-US" sz="1000" b="1" dirty="0">
                <a:solidFill>
                  <a:srgbClr val="FFFFFF"/>
                </a:solidFill>
                <a:latin typeface="Outfit" pitchFamily="34" charset="0"/>
                <a:ea typeface="Outfit" pitchFamily="34" charset="-122"/>
                <a:cs typeface="Outfit" pitchFamily="34" charset="-120"/>
              </a:rPr>
              <a:t>Reflection / Reflexión</a:t>
            </a:r>
            <a:endParaRPr lang="en-US" sz="1000" dirty="0"/>
          </a:p>
        </p:txBody>
      </p:sp>
      <p:sp>
        <p:nvSpPr>
          <p:cNvPr id="19" name="Text 17"/>
          <p:cNvSpPr/>
          <p:nvPr/>
        </p:nvSpPr>
        <p:spPr>
          <a:xfrm>
            <a:off x="594360" y="1097280"/>
            <a:ext cx="3794760" cy="365760"/>
          </a:xfrm>
          <a:prstGeom prst="rect">
            <a:avLst/>
          </a:prstGeom>
          <a:noFill/>
          <a:ln/>
        </p:spPr>
        <p:txBody>
          <a:bodyPr wrap="square" rtlCol="0" anchor="ctr"/>
          <a:lstStyle/>
          <a:p>
            <a:pPr indent="0" marL="0">
              <a:buNone/>
            </a:pPr>
            <a:r>
              <a:rPr lang="en-US" sz="1100" dirty="0">
                <a:solidFill>
                  <a:srgbClr val="17324D"/>
                </a:solidFill>
                <a:latin typeface="Hanken Grotesk" pitchFamily="34" charset="0"/>
                <a:ea typeface="Hanken Grotesk" pitchFamily="34" charset="-122"/>
                <a:cs typeface="Hanken Grotesk" pitchFamily="34" charset="-120"/>
              </a:rPr>
              <a:t>Today I learned that ___ because ___.</a:t>
            </a:r>
            <a:endParaRPr lang="en-US" sz="1100" dirty="0"/>
          </a:p>
        </p:txBody>
      </p:sp>
      <p:sp>
        <p:nvSpPr>
          <p:cNvPr id="20" name="Shape 18"/>
          <p:cNvSpPr/>
          <p:nvPr/>
        </p:nvSpPr>
        <p:spPr>
          <a:xfrm>
            <a:off x="594360" y="1783080"/>
            <a:ext cx="3794760" cy="0"/>
          </a:xfrm>
          <a:prstGeom prst="line">
            <a:avLst/>
          </a:prstGeom>
          <a:noFill/>
          <a:ln w="9525">
            <a:solidFill>
              <a:srgbClr val="C7CDD2"/>
            </a:solidFill>
            <a:prstDash val="dash"/>
          </a:ln>
        </p:spPr>
      </p:sp>
      <p:sp>
        <p:nvSpPr>
          <p:cNvPr id="21" name="Shape 19"/>
          <p:cNvSpPr/>
          <p:nvPr/>
        </p:nvSpPr>
        <p:spPr>
          <a:xfrm>
            <a:off x="594360" y="2093976"/>
            <a:ext cx="3794760" cy="0"/>
          </a:xfrm>
          <a:prstGeom prst="line">
            <a:avLst/>
          </a:prstGeom>
          <a:noFill/>
          <a:ln w="9525">
            <a:solidFill>
              <a:srgbClr val="C7CDD2"/>
            </a:solidFill>
            <a:prstDash val="dash"/>
          </a:ln>
        </p:spPr>
      </p:sp>
      <p:sp>
        <p:nvSpPr>
          <p:cNvPr id="22" name="Shape 20"/>
          <p:cNvSpPr/>
          <p:nvPr/>
        </p:nvSpPr>
        <p:spPr>
          <a:xfrm>
            <a:off x="594360" y="2404872"/>
            <a:ext cx="3794760" cy="0"/>
          </a:xfrm>
          <a:prstGeom prst="line">
            <a:avLst/>
          </a:prstGeom>
          <a:noFill/>
          <a:ln w="9525">
            <a:solidFill>
              <a:srgbClr val="C7CDD2"/>
            </a:solidFill>
            <a:prstDash val="dash"/>
          </a:ln>
        </p:spPr>
      </p:sp>
      <p:sp>
        <p:nvSpPr>
          <p:cNvPr id="23" name="Text 21"/>
          <p:cNvSpPr/>
          <p:nvPr/>
        </p:nvSpPr>
        <p:spPr>
          <a:xfrm>
            <a:off x="594360" y="2834640"/>
            <a:ext cx="3794760" cy="365760"/>
          </a:xfrm>
          <a:prstGeom prst="rect">
            <a:avLst/>
          </a:prstGeom>
          <a:noFill/>
          <a:ln/>
        </p:spPr>
        <p:txBody>
          <a:bodyPr wrap="square" rtlCol="0" anchor="ctr"/>
          <a:lstStyle/>
          <a:p>
            <a:pPr indent="0" marL="0">
              <a:buNone/>
            </a:pPr>
            <a:r>
              <a:rPr lang="en-US" sz="1100" dirty="0">
                <a:solidFill>
                  <a:srgbClr val="17324D"/>
                </a:solidFill>
                <a:latin typeface="Hanken Grotesk" pitchFamily="34" charset="0"/>
                <a:ea typeface="Hanken Grotesk" pitchFamily="34" charset="-122"/>
                <a:cs typeface="Hanken Grotesk" pitchFamily="34" charset="-120"/>
              </a:rPr>
              <a:t>One thing I am still not sure about is ___.</a:t>
            </a:r>
            <a:endParaRPr lang="en-US" sz="1100" dirty="0"/>
          </a:p>
        </p:txBody>
      </p:sp>
      <p:sp>
        <p:nvSpPr>
          <p:cNvPr id="24" name="Shape 22"/>
          <p:cNvSpPr/>
          <p:nvPr/>
        </p:nvSpPr>
        <p:spPr>
          <a:xfrm>
            <a:off x="594360" y="3520440"/>
            <a:ext cx="3794760" cy="0"/>
          </a:xfrm>
          <a:prstGeom prst="line">
            <a:avLst/>
          </a:prstGeom>
          <a:noFill/>
          <a:ln w="9525">
            <a:solidFill>
              <a:srgbClr val="C7CDD2"/>
            </a:solidFill>
            <a:prstDash val="dash"/>
          </a:ln>
        </p:spPr>
      </p:sp>
      <p:sp>
        <p:nvSpPr>
          <p:cNvPr id="25" name="Shape 23"/>
          <p:cNvSpPr/>
          <p:nvPr/>
        </p:nvSpPr>
        <p:spPr>
          <a:xfrm>
            <a:off x="594360" y="3831336"/>
            <a:ext cx="3794760" cy="0"/>
          </a:xfrm>
          <a:prstGeom prst="line">
            <a:avLst/>
          </a:prstGeom>
          <a:noFill/>
          <a:ln w="9525">
            <a:solidFill>
              <a:srgbClr val="C7CDD2"/>
            </a:solidFill>
            <a:prstDash val="dash"/>
          </a:ln>
        </p:spPr>
      </p:sp>
      <p:sp>
        <p:nvSpPr>
          <p:cNvPr id="26" name="Shape 24"/>
          <p:cNvSpPr/>
          <p:nvPr/>
        </p:nvSpPr>
        <p:spPr>
          <a:xfrm>
            <a:off x="594360" y="4142232"/>
            <a:ext cx="3794760" cy="0"/>
          </a:xfrm>
          <a:prstGeom prst="line">
            <a:avLst/>
          </a:prstGeom>
          <a:noFill/>
          <a:ln w="9525">
            <a:solidFill>
              <a:srgbClr val="C7CDD2"/>
            </a:solidFill>
            <a:prstDash val="dash"/>
          </a:ln>
        </p:spPr>
      </p:sp>
      <p:sp>
        <p:nvSpPr>
          <p:cNvPr id="27" name="Shape 25"/>
          <p:cNvSpPr/>
          <p:nvPr/>
        </p:nvSpPr>
        <p:spPr>
          <a:xfrm>
            <a:off x="4709160" y="685800"/>
            <a:ext cx="4114800" cy="4023360"/>
          </a:xfrm>
          <a:prstGeom prst="roundRect">
            <a:avLst>
              <a:gd name="adj" fmla="val 1818"/>
            </a:avLst>
          </a:prstGeom>
          <a:solidFill>
            <a:srgbClr val="FFFFFF"/>
          </a:solidFill>
          <a:ln w="12700">
            <a:solidFill>
              <a:srgbClr val="D6DBDF"/>
            </a:solidFill>
            <a:prstDash val="solid"/>
          </a:ln>
          <a:effectLst>
            <a:outerShdw sx="100000" sy="100000" kx="0" ky="0" algn="bl" rotWithShape="0" blurRad="50800" dist="12700" dir="5400000">
              <a:srgbClr val="1C2E42">
                <a:alpha val="10000"/>
              </a:srgbClr>
            </a:outerShdw>
          </a:effectLst>
        </p:spPr>
      </p:sp>
      <p:sp>
        <p:nvSpPr>
          <p:cNvPr id="28" name="Text 26"/>
          <p:cNvSpPr/>
          <p:nvPr/>
        </p:nvSpPr>
        <p:spPr>
          <a:xfrm>
            <a:off x="4709160" y="685800"/>
            <a:ext cx="4114800" cy="274320"/>
          </a:xfrm>
          <a:prstGeom prst="rect">
            <a:avLst/>
          </a:prstGeom>
          <a:solidFill>
            <a:srgbClr val="17324D"/>
          </a:solidFill>
          <a:ln/>
        </p:spPr>
        <p:txBody>
          <a:bodyPr wrap="square" rtlCol="0" anchor="ctr"/>
          <a:lstStyle/>
          <a:p>
            <a:pPr algn="ctr" indent="0" marL="0">
              <a:buNone/>
            </a:pPr>
            <a:r>
              <a:rPr lang="en-US" sz="1000" b="1" dirty="0">
                <a:solidFill>
                  <a:srgbClr val="FFFFFF"/>
                </a:solidFill>
                <a:latin typeface="Outfit" pitchFamily="34" charset="0"/>
                <a:ea typeface="Outfit" pitchFamily="34" charset="-122"/>
                <a:cs typeface="Outfit" pitchFamily="34" charset="-120"/>
              </a:rPr>
              <a:t>Quick Exit Ticket</a:t>
            </a:r>
            <a:endParaRPr lang="en-US" sz="1000" dirty="0"/>
          </a:p>
        </p:txBody>
      </p:sp>
      <p:sp>
        <p:nvSpPr>
          <p:cNvPr id="29" name="Text 27"/>
          <p:cNvSpPr/>
          <p:nvPr/>
        </p:nvSpPr>
        <p:spPr>
          <a:xfrm>
            <a:off x="4892040" y="1097280"/>
            <a:ext cx="3749040" cy="640080"/>
          </a:xfrm>
          <a:prstGeom prst="rect">
            <a:avLst/>
          </a:prstGeom>
          <a:noFill/>
          <a:ln/>
        </p:spPr>
        <p:txBody>
          <a:bodyPr wrap="square" rtlCol="0" anchor="t"/>
          <a:lstStyle/>
          <a:p>
            <a:pPr indent="0" marL="0">
              <a:buNone/>
            </a:pPr>
            <a:r>
              <a:rPr lang="en-US" sz="1050" b="1" dirty="0">
                <a:solidFill>
                  <a:srgbClr val="1FA6A2"/>
                </a:solidFill>
                <a:latin typeface="Hanken Grotesk" pitchFamily="34" charset="0"/>
                <a:ea typeface="Hanken Grotesk" pitchFamily="34" charset="-122"/>
                <a:cs typeface="Hanken Grotesk" pitchFamily="34" charset="-120"/>
              </a:rPr>
              <a:t>Tier 1 — </a:t>
            </a:r>
            <a:pPr indent="0" marL="0">
              <a:buNone/>
            </a:pPr>
            <a:r>
              <a:rPr lang="en-US" sz="1050" dirty="0">
                <a:solidFill>
                  <a:srgbClr val="17324D"/>
                </a:solidFill>
                <a:latin typeface="Hanken Grotesk" pitchFamily="34" charset="0"/>
                <a:ea typeface="Hanken Grotesk" pitchFamily="34" charset="-122"/>
                <a:cs typeface="Hanken Grotesk" pitchFamily="34" charset="-120"/>
              </a:rPr>
              <a:t>What is the prime factorization of 40?</a:t>
            </a:r>
            <a:endParaRPr lang="en-US" sz="1050" dirty="0"/>
          </a:p>
        </p:txBody>
      </p:sp>
      <p:sp>
        <p:nvSpPr>
          <p:cNvPr id="30" name="Text 28"/>
          <p:cNvSpPr/>
          <p:nvPr/>
        </p:nvSpPr>
        <p:spPr>
          <a:xfrm>
            <a:off x="5029200" y="1783080"/>
            <a:ext cx="3566160" cy="274320"/>
          </a:xfrm>
          <a:prstGeom prst="rect">
            <a:avLst/>
          </a:prstGeom>
          <a:noFill/>
          <a:ln/>
        </p:spPr>
        <p:txBody>
          <a:bodyPr wrap="square" rtlCol="0" anchor="ctr"/>
          <a:lstStyle/>
          <a:p>
            <a:pPr indent="0" marL="0">
              <a:buNone/>
            </a:pPr>
            <a:r>
              <a:rPr lang="en-US" sz="1000" dirty="0">
                <a:solidFill>
                  <a:srgbClr val="24323F"/>
                </a:solidFill>
                <a:latin typeface="Hanken Grotesk" pitchFamily="34" charset="0"/>
                <a:ea typeface="Hanken Grotesk" pitchFamily="34" charset="-122"/>
                <a:cs typeface="Hanken Grotesk" pitchFamily="34" charset="-120"/>
              </a:rPr>
              <a:t>A.  2 × 2 × 2 × 5</a:t>
            </a:r>
            <a:endParaRPr lang="en-US" sz="1000" dirty="0"/>
          </a:p>
        </p:txBody>
      </p:sp>
      <p:sp>
        <p:nvSpPr>
          <p:cNvPr id="31" name="Text 29"/>
          <p:cNvSpPr/>
          <p:nvPr/>
        </p:nvSpPr>
        <p:spPr>
          <a:xfrm>
            <a:off x="5029200" y="2093976"/>
            <a:ext cx="3566160" cy="274320"/>
          </a:xfrm>
          <a:prstGeom prst="rect">
            <a:avLst/>
          </a:prstGeom>
          <a:noFill/>
          <a:ln/>
        </p:spPr>
        <p:txBody>
          <a:bodyPr wrap="square" rtlCol="0" anchor="ctr"/>
          <a:lstStyle/>
          <a:p>
            <a:pPr indent="0" marL="0">
              <a:buNone/>
            </a:pPr>
            <a:r>
              <a:rPr lang="en-US" sz="1000" dirty="0">
                <a:solidFill>
                  <a:srgbClr val="24323F"/>
                </a:solidFill>
                <a:latin typeface="Hanken Grotesk" pitchFamily="34" charset="0"/>
                <a:ea typeface="Hanken Grotesk" pitchFamily="34" charset="-122"/>
                <a:cs typeface="Hanken Grotesk" pitchFamily="34" charset="-120"/>
              </a:rPr>
              <a:t>B.  4 × 10</a:t>
            </a:r>
            <a:endParaRPr lang="en-US" sz="1000" dirty="0"/>
          </a:p>
        </p:txBody>
      </p:sp>
      <p:sp>
        <p:nvSpPr>
          <p:cNvPr id="32" name="Text 30"/>
          <p:cNvSpPr/>
          <p:nvPr/>
        </p:nvSpPr>
        <p:spPr>
          <a:xfrm>
            <a:off x="5029200" y="2404872"/>
            <a:ext cx="3566160" cy="274320"/>
          </a:xfrm>
          <a:prstGeom prst="rect">
            <a:avLst/>
          </a:prstGeom>
          <a:noFill/>
          <a:ln/>
        </p:spPr>
        <p:txBody>
          <a:bodyPr wrap="square" rtlCol="0" anchor="ctr"/>
          <a:lstStyle/>
          <a:p>
            <a:pPr indent="0" marL="0">
              <a:buNone/>
            </a:pPr>
            <a:r>
              <a:rPr lang="en-US" sz="1000" dirty="0">
                <a:solidFill>
                  <a:srgbClr val="24323F"/>
                </a:solidFill>
                <a:latin typeface="Hanken Grotesk" pitchFamily="34" charset="0"/>
                <a:ea typeface="Hanken Grotesk" pitchFamily="34" charset="-122"/>
                <a:cs typeface="Hanken Grotesk" pitchFamily="34" charset="-120"/>
              </a:rPr>
              <a:t>C.  5 × 8</a:t>
            </a:r>
            <a:endParaRPr lang="en-US" sz="1000" dirty="0"/>
          </a:p>
        </p:txBody>
      </p:sp>
      <p:sp>
        <p:nvSpPr>
          <p:cNvPr id="33" name="Text 31"/>
          <p:cNvSpPr/>
          <p:nvPr/>
        </p:nvSpPr>
        <p:spPr>
          <a:xfrm>
            <a:off x="5029200" y="2715768"/>
            <a:ext cx="3566160" cy="274320"/>
          </a:xfrm>
          <a:prstGeom prst="rect">
            <a:avLst/>
          </a:prstGeom>
          <a:noFill/>
          <a:ln/>
        </p:spPr>
        <p:txBody>
          <a:bodyPr wrap="square" rtlCol="0" anchor="ctr"/>
          <a:lstStyle/>
          <a:p>
            <a:pPr indent="0" marL="0">
              <a:buNone/>
            </a:pPr>
            <a:r>
              <a:rPr lang="en-US" sz="1000" dirty="0">
                <a:solidFill>
                  <a:srgbClr val="24323F"/>
                </a:solidFill>
                <a:latin typeface="Hanken Grotesk" pitchFamily="34" charset="0"/>
                <a:ea typeface="Hanken Grotesk" pitchFamily="34" charset="-122"/>
                <a:cs typeface="Hanken Grotesk" pitchFamily="34" charset="-120"/>
              </a:rPr>
              <a:t>D.  2 × 20</a:t>
            </a:r>
            <a:endParaRPr lang="en-US" sz="1000" dirty="0"/>
          </a:p>
        </p:txBody>
      </p:sp>
      <p:sp>
        <p:nvSpPr>
          <p:cNvPr id="34" name="Text 32"/>
          <p:cNvSpPr/>
          <p:nvPr/>
        </p:nvSpPr>
        <p:spPr>
          <a:xfrm>
            <a:off x="4892040" y="3163824"/>
            <a:ext cx="3749040" cy="502920"/>
          </a:xfrm>
          <a:prstGeom prst="rect">
            <a:avLst/>
          </a:prstGeom>
          <a:noFill/>
          <a:ln/>
        </p:spPr>
        <p:txBody>
          <a:bodyPr wrap="square" rtlCol="0" anchor="t"/>
          <a:lstStyle/>
          <a:p>
            <a:pPr indent="0" marL="0">
              <a:buNone/>
            </a:pPr>
            <a:r>
              <a:rPr lang="en-US" sz="1050" b="1" dirty="0">
                <a:solidFill>
                  <a:srgbClr val="1FA6A2"/>
                </a:solidFill>
                <a:latin typeface="Hanken Grotesk" pitchFamily="34" charset="0"/>
                <a:ea typeface="Hanken Grotesk" pitchFamily="34" charset="-122"/>
                <a:cs typeface="Hanken Grotesk" pitchFamily="34" charset="-120"/>
              </a:rPr>
              <a:t>Tier 2 — </a:t>
            </a:r>
            <a:pPr indent="0" marL="0">
              <a:buNone/>
            </a:pPr>
            <a:r>
              <a:rPr lang="en-US" sz="1050" dirty="0">
                <a:solidFill>
                  <a:srgbClr val="17324D"/>
                </a:solidFill>
                <a:latin typeface="Hanken Grotesk" pitchFamily="34" charset="0"/>
                <a:ea typeface="Hanken Grotesk" pitchFamily="34" charset="-122"/>
                <a:cs typeface="Hanken Grotesk" pitchFamily="34" charset="-120"/>
              </a:rPr>
              <a:t>Explain how you know your answer is correct. Use at least one vocabulary word.</a:t>
            </a:r>
            <a:endParaRPr lang="en-US" sz="1050" dirty="0"/>
          </a:p>
        </p:txBody>
      </p:sp>
      <p:sp>
        <p:nvSpPr>
          <p:cNvPr id="35" name="Shape 33"/>
          <p:cNvSpPr/>
          <p:nvPr/>
        </p:nvSpPr>
        <p:spPr>
          <a:xfrm>
            <a:off x="4892040" y="3803904"/>
            <a:ext cx="3749040" cy="0"/>
          </a:xfrm>
          <a:prstGeom prst="line">
            <a:avLst/>
          </a:prstGeom>
          <a:noFill/>
          <a:ln w="9525">
            <a:solidFill>
              <a:srgbClr val="C7CDD2"/>
            </a:solidFill>
            <a:prstDash val="dash"/>
          </a:ln>
        </p:spPr>
      </p:sp>
      <p:sp>
        <p:nvSpPr>
          <p:cNvPr id="36" name="Shape 34"/>
          <p:cNvSpPr/>
          <p:nvPr/>
        </p:nvSpPr>
        <p:spPr>
          <a:xfrm>
            <a:off x="4892040" y="4096512"/>
            <a:ext cx="3749040" cy="0"/>
          </a:xfrm>
          <a:prstGeom prst="line">
            <a:avLst/>
          </a:prstGeom>
          <a:noFill/>
          <a:ln w="9525">
            <a:solidFill>
              <a:srgbClr val="C7CDD2"/>
            </a:solidFill>
            <a:prstDash val="dash"/>
          </a:ln>
        </p:spPr>
      </p:sp>
      <p:sp>
        <p:nvSpPr>
          <p:cNvPr id="37" name="Shape 35"/>
          <p:cNvSpPr/>
          <p:nvPr/>
        </p:nvSpPr>
        <p:spPr>
          <a:xfrm>
            <a:off x="4892040" y="4389120"/>
            <a:ext cx="3749040" cy="0"/>
          </a:xfrm>
          <a:prstGeom prst="line">
            <a:avLst/>
          </a:prstGeom>
          <a:noFill/>
          <a:ln w="9525">
            <a:solidFill>
              <a:srgbClr val="C7CDD2"/>
            </a:solidFill>
            <a:prstDash val="dash"/>
          </a:ln>
        </p:spPr>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7F4EC"/>
        </a:solidFill>
      </p:bgPr>
    </p:bg>
    <p:spTree>
      <p:nvGrpSpPr>
        <p:cNvPr id="1" name=""/>
        <p:cNvGrpSpPr/>
        <p:nvPr/>
      </p:nvGrpSpPr>
      <p:grpSpPr>
        <a:xfrm>
          <a:off x="0" y="0"/>
          <a:ext cx="0" cy="0"/>
          <a:chOff x="0" y="0"/>
          <a:chExt cx="0" cy="0"/>
        </a:xfrm>
      </p:grpSpPr>
      <p:sp>
        <p:nvSpPr>
          <p:cNvPr id="2" name="Shape 0"/>
          <p:cNvSpPr/>
          <p:nvPr/>
        </p:nvSpPr>
        <p:spPr>
          <a:xfrm>
            <a:off x="0" y="0"/>
            <a:ext cx="9144000" cy="475488"/>
          </a:xfrm>
          <a:prstGeom prst="rect">
            <a:avLst/>
          </a:prstGeom>
          <a:solidFill>
            <a:srgbClr val="17324D"/>
          </a:solidFill>
          <a:ln/>
        </p:spPr>
      </p:sp>
      <p:sp>
        <p:nvSpPr>
          <p:cNvPr id="3" name="Text 1"/>
          <p:cNvSpPr/>
          <p:nvPr/>
        </p:nvSpPr>
        <p:spPr>
          <a:xfrm>
            <a:off x="274320" y="0"/>
            <a:ext cx="2194560" cy="475488"/>
          </a:xfrm>
          <a:prstGeom prst="rect">
            <a:avLst/>
          </a:prstGeom>
          <a:noFill/>
          <a:ln/>
        </p:spPr>
        <p:txBody>
          <a:bodyPr wrap="square" rtlCol="0" anchor="ctr"/>
          <a:lstStyle/>
          <a:p>
            <a:pPr indent="0" marL="0">
              <a:buNone/>
            </a:pPr>
            <a:r>
              <a:rPr lang="en-US" sz="850" b="1" spc="100" kern="0" dirty="0">
                <a:solidFill>
                  <a:srgbClr val="BFE6E2"/>
                </a:solidFill>
                <a:latin typeface="Outfit" pitchFamily="34" charset="0"/>
                <a:ea typeface="Outfit" pitchFamily="34" charset="-122"/>
                <a:cs typeface="Outfit" pitchFamily="34" charset="-120"/>
              </a:rPr>
              <a:t>NEFT TEACHER</a:t>
            </a:r>
            <a:endParaRPr lang="en-US" sz="850" dirty="0"/>
          </a:p>
        </p:txBody>
      </p:sp>
      <p:sp>
        <p:nvSpPr>
          <p:cNvPr id="4" name="Text 2"/>
          <p:cNvSpPr/>
          <p:nvPr/>
        </p:nvSpPr>
        <p:spPr>
          <a:xfrm>
            <a:off x="1737360" y="0"/>
            <a:ext cx="5120640" cy="475488"/>
          </a:xfrm>
          <a:prstGeom prst="rect">
            <a:avLst/>
          </a:prstGeom>
          <a:noFill/>
          <a:ln/>
        </p:spPr>
        <p:txBody>
          <a:bodyPr wrap="square" rtlCol="0" anchor="ctr"/>
          <a:lstStyle/>
          <a:p>
            <a:pPr indent="0" marL="0">
              <a:buNone/>
            </a:pPr>
            <a:r>
              <a:rPr lang="en-US" sz="1500" b="1" dirty="0">
                <a:solidFill>
                  <a:srgbClr val="FFFFFF"/>
                </a:solidFill>
                <a:latin typeface="Outfit" pitchFamily="34" charset="0"/>
                <a:ea typeface="Outfit" pitchFamily="34" charset="-122"/>
                <a:cs typeface="Outfit" pitchFamily="34" charset="-120"/>
              </a:rPr>
              <a:t>Goal Tracker / Seguimiento de Metas</a:t>
            </a:r>
            <a:endParaRPr lang="en-US" sz="1500" dirty="0"/>
          </a:p>
        </p:txBody>
      </p:sp>
      <p:sp>
        <p:nvSpPr>
          <p:cNvPr id="5" name="Text 3"/>
          <p:cNvSpPr/>
          <p:nvPr/>
        </p:nvSpPr>
        <p:spPr>
          <a:xfrm>
            <a:off x="7360920" y="100584"/>
            <a:ext cx="914400" cy="274320"/>
          </a:xfrm>
          <a:prstGeom prst="rect">
            <a:avLst>
              <a:gd name="adj" fmla="val 50000"/>
            </a:avLst>
          </a:prstGeom>
          <a:solidFill>
            <a:srgbClr val="1FA6A2"/>
          </a:solidFill>
          <a:ln/>
        </p:spPr>
        <p:txBody>
          <a:bodyPr wrap="square" rtlCol="0" anchor="ctr"/>
          <a:lstStyle/>
          <a:p>
            <a:pPr algn="ctr" indent="0" marL="0">
              <a:buNone/>
            </a:pPr>
            <a:r>
              <a:rPr lang="en-US" sz="900" b="1" dirty="0">
                <a:solidFill>
                  <a:srgbClr val="FFFFFF"/>
                </a:solidFill>
                <a:latin typeface="Outfit" pitchFamily="34" charset="0"/>
                <a:ea typeface="Outfit" pitchFamily="34" charset="-122"/>
                <a:cs typeface="Outfit" pitchFamily="34" charset="-120"/>
              </a:rPr>
              <a:t>6.NS.4</a:t>
            </a:r>
            <a:endParaRPr lang="en-US" sz="900" dirty="0"/>
          </a:p>
        </p:txBody>
      </p:sp>
      <p:sp>
        <p:nvSpPr>
          <p:cNvPr id="6" name="Shape 4"/>
          <p:cNvSpPr/>
          <p:nvPr/>
        </p:nvSpPr>
        <p:spPr>
          <a:xfrm>
            <a:off x="73152" y="685800"/>
            <a:ext cx="109728" cy="109728"/>
          </a:xfrm>
          <a:prstGeom prst="ellipse">
            <a:avLst/>
          </a:prstGeom>
          <a:solidFill>
            <a:srgbClr val="CBD3D9"/>
          </a:solidFill>
          <a:ln/>
        </p:spPr>
      </p:sp>
      <p:sp>
        <p:nvSpPr>
          <p:cNvPr id="7" name="Shape 5"/>
          <p:cNvSpPr/>
          <p:nvPr/>
        </p:nvSpPr>
        <p:spPr>
          <a:xfrm>
            <a:off x="73152" y="1161288"/>
            <a:ext cx="109728" cy="109728"/>
          </a:xfrm>
          <a:prstGeom prst="ellipse">
            <a:avLst/>
          </a:prstGeom>
          <a:solidFill>
            <a:srgbClr val="CBD3D9"/>
          </a:solidFill>
          <a:ln/>
        </p:spPr>
      </p:sp>
      <p:sp>
        <p:nvSpPr>
          <p:cNvPr id="8" name="Shape 6"/>
          <p:cNvSpPr/>
          <p:nvPr/>
        </p:nvSpPr>
        <p:spPr>
          <a:xfrm>
            <a:off x="73152" y="1636776"/>
            <a:ext cx="109728" cy="109728"/>
          </a:xfrm>
          <a:prstGeom prst="ellipse">
            <a:avLst/>
          </a:prstGeom>
          <a:solidFill>
            <a:srgbClr val="CBD3D9"/>
          </a:solidFill>
          <a:ln/>
        </p:spPr>
      </p:sp>
      <p:sp>
        <p:nvSpPr>
          <p:cNvPr id="9" name="Shape 7"/>
          <p:cNvSpPr/>
          <p:nvPr/>
        </p:nvSpPr>
        <p:spPr>
          <a:xfrm>
            <a:off x="73152" y="2112264"/>
            <a:ext cx="109728" cy="109728"/>
          </a:xfrm>
          <a:prstGeom prst="ellipse">
            <a:avLst/>
          </a:prstGeom>
          <a:solidFill>
            <a:srgbClr val="CBD3D9"/>
          </a:solidFill>
          <a:ln/>
        </p:spPr>
      </p:sp>
      <p:sp>
        <p:nvSpPr>
          <p:cNvPr id="10" name="Shape 8"/>
          <p:cNvSpPr/>
          <p:nvPr/>
        </p:nvSpPr>
        <p:spPr>
          <a:xfrm>
            <a:off x="73152" y="2587752"/>
            <a:ext cx="109728" cy="109728"/>
          </a:xfrm>
          <a:prstGeom prst="ellipse">
            <a:avLst/>
          </a:prstGeom>
          <a:solidFill>
            <a:srgbClr val="CBD3D9"/>
          </a:solidFill>
          <a:ln/>
        </p:spPr>
      </p:sp>
      <p:sp>
        <p:nvSpPr>
          <p:cNvPr id="11" name="Shape 9"/>
          <p:cNvSpPr/>
          <p:nvPr/>
        </p:nvSpPr>
        <p:spPr>
          <a:xfrm>
            <a:off x="73152" y="3063240"/>
            <a:ext cx="109728" cy="109728"/>
          </a:xfrm>
          <a:prstGeom prst="ellipse">
            <a:avLst/>
          </a:prstGeom>
          <a:solidFill>
            <a:srgbClr val="CBD3D9"/>
          </a:solidFill>
          <a:ln/>
        </p:spPr>
      </p:sp>
      <p:sp>
        <p:nvSpPr>
          <p:cNvPr id="12" name="Shape 10"/>
          <p:cNvSpPr/>
          <p:nvPr/>
        </p:nvSpPr>
        <p:spPr>
          <a:xfrm>
            <a:off x="73152" y="3538728"/>
            <a:ext cx="109728" cy="109728"/>
          </a:xfrm>
          <a:prstGeom prst="ellipse">
            <a:avLst/>
          </a:prstGeom>
          <a:solidFill>
            <a:srgbClr val="CBD3D9"/>
          </a:solidFill>
          <a:ln/>
        </p:spPr>
      </p:sp>
      <p:sp>
        <p:nvSpPr>
          <p:cNvPr id="13" name="Shape 11"/>
          <p:cNvSpPr/>
          <p:nvPr/>
        </p:nvSpPr>
        <p:spPr>
          <a:xfrm>
            <a:off x="73152" y="4014216"/>
            <a:ext cx="109728" cy="109728"/>
          </a:xfrm>
          <a:prstGeom prst="ellipse">
            <a:avLst/>
          </a:prstGeom>
          <a:solidFill>
            <a:srgbClr val="CBD3D9"/>
          </a:solidFill>
          <a:ln/>
        </p:spPr>
      </p:sp>
      <p:sp>
        <p:nvSpPr>
          <p:cNvPr id="14" name="Shape 12"/>
          <p:cNvSpPr/>
          <p:nvPr/>
        </p:nvSpPr>
        <p:spPr>
          <a:xfrm>
            <a:off x="73152" y="4489704"/>
            <a:ext cx="109728" cy="109728"/>
          </a:xfrm>
          <a:prstGeom prst="ellipse">
            <a:avLst/>
          </a:prstGeom>
          <a:solidFill>
            <a:srgbClr val="CBD3D9"/>
          </a:solidFill>
          <a:ln/>
        </p:spPr>
      </p:sp>
      <p:sp>
        <p:nvSpPr>
          <p:cNvPr id="15" name="Text 13"/>
          <p:cNvSpPr/>
          <p:nvPr/>
        </p:nvSpPr>
        <p:spPr>
          <a:xfrm>
            <a:off x="274320" y="4850892"/>
            <a:ext cx="6400800" cy="256032"/>
          </a:xfrm>
          <a:prstGeom prst="rect">
            <a:avLst/>
          </a:prstGeom>
          <a:noFill/>
          <a:ln/>
        </p:spPr>
        <p:txBody>
          <a:bodyPr wrap="square" rtlCol="0" anchor="ctr"/>
          <a:lstStyle/>
          <a:p>
            <a:pPr indent="0" marL="0">
              <a:buNone/>
            </a:pPr>
            <a:r>
              <a:rPr lang="en-US" sz="750" dirty="0">
                <a:solidFill>
                  <a:srgbClr val="8A96A3"/>
                </a:solidFill>
                <a:latin typeface="Hanken Grotesk" pitchFamily="34" charset="0"/>
                <a:ea typeface="Hanken Grotesk" pitchFamily="34" charset="-122"/>
                <a:cs typeface="Hanken Grotesk" pitchFamily="34" charset="-120"/>
              </a:rPr>
              <a:t>Reveal Math Grade 6  ·  Unit 1  ·  Lesson 1-1-flagship</a:t>
            </a:r>
            <a:endParaRPr lang="en-US" sz="750" dirty="0"/>
          </a:p>
        </p:txBody>
      </p:sp>
      <p:sp>
        <p:nvSpPr>
          <p:cNvPr id="16" name="Text 14"/>
          <p:cNvSpPr/>
          <p:nvPr/>
        </p:nvSpPr>
        <p:spPr>
          <a:xfrm>
            <a:off x="8412480" y="4850892"/>
            <a:ext cx="457200" cy="256032"/>
          </a:xfrm>
          <a:prstGeom prst="rect">
            <a:avLst/>
          </a:prstGeom>
          <a:noFill/>
          <a:ln/>
        </p:spPr>
        <p:txBody>
          <a:bodyPr wrap="square" rtlCol="0" anchor="ctr"/>
          <a:lstStyle/>
          <a:p>
            <a:pPr algn="r" indent="0" marL="0">
              <a:buNone/>
            </a:pPr>
            <a:r>
              <a:rPr lang="en-US" sz="800" b="1" dirty="0">
                <a:solidFill>
                  <a:srgbClr val="8A96A3"/>
                </a:solidFill>
                <a:latin typeface="Outfit" pitchFamily="34" charset="0"/>
                <a:ea typeface="Outfit" pitchFamily="34" charset="-122"/>
                <a:cs typeface="Outfit" pitchFamily="34" charset="-120"/>
              </a:rPr>
              <a:t>12</a:t>
            </a:r>
            <a:endParaRPr lang="en-US" sz="800" dirty="0"/>
          </a:p>
        </p:txBody>
      </p:sp>
      <p:sp>
        <p:nvSpPr>
          <p:cNvPr id="17" name="Shape 15"/>
          <p:cNvSpPr/>
          <p:nvPr/>
        </p:nvSpPr>
        <p:spPr>
          <a:xfrm>
            <a:off x="411480" y="658368"/>
            <a:ext cx="8412480" cy="502920"/>
          </a:xfrm>
          <a:prstGeom prst="roundRect">
            <a:avLst>
              <a:gd name="adj" fmla="val 14545"/>
            </a:avLst>
          </a:prstGeom>
          <a:solidFill>
            <a:srgbClr val="17324D"/>
          </a:solidFill>
          <a:ln/>
        </p:spPr>
      </p:sp>
      <p:sp>
        <p:nvSpPr>
          <p:cNvPr id="18" name="Text 16"/>
          <p:cNvSpPr/>
          <p:nvPr/>
        </p:nvSpPr>
        <p:spPr>
          <a:xfrm>
            <a:off x="640080" y="658368"/>
            <a:ext cx="7955280" cy="502920"/>
          </a:xfrm>
          <a:prstGeom prst="rect">
            <a:avLst/>
          </a:prstGeom>
          <a:noFill/>
          <a:ln/>
        </p:spPr>
        <p:txBody>
          <a:bodyPr wrap="square" rtlCol="0" anchor="ctr"/>
          <a:lstStyle/>
          <a:p>
            <a:pPr indent="0" marL="0">
              <a:buNone/>
            </a:pPr>
            <a:r>
              <a:rPr lang="en-US" sz="1100" b="1" dirty="0">
                <a:solidFill>
                  <a:srgbClr val="F2C15B"/>
                </a:solidFill>
                <a:latin typeface="Hanken Grotesk" pitchFamily="34" charset="0"/>
                <a:ea typeface="Hanken Grotesk" pitchFamily="34" charset="-122"/>
                <a:cs typeface="Hanken Grotesk" pitchFamily="34" charset="-120"/>
              </a:rPr>
              <a:t>My Goal:  </a:t>
            </a:r>
            <a:pPr indent="0" marL="0">
              <a:buNone/>
            </a:pPr>
            <a:r>
              <a:rPr lang="en-US" sz="1100" dirty="0">
                <a:solidFill>
                  <a:srgbClr val="FFFFFF"/>
                </a:solidFill>
                <a:latin typeface="Hanken Grotesk" pitchFamily="34" charset="0"/>
                <a:ea typeface="Hanken Grotesk" pitchFamily="34" charset="-122"/>
                <a:cs typeface="Hanken Grotesk" pitchFamily="34" charset="-120"/>
              </a:rPr>
              <a:t>I can write a number as a product of its prime factors using a factor tree.</a:t>
            </a:r>
            <a:endParaRPr lang="en-US" sz="1100" dirty="0"/>
          </a:p>
        </p:txBody>
      </p:sp>
      <p:sp>
        <p:nvSpPr>
          <p:cNvPr id="19" name="Shape 17"/>
          <p:cNvSpPr/>
          <p:nvPr/>
        </p:nvSpPr>
        <p:spPr>
          <a:xfrm>
            <a:off x="411480" y="1371600"/>
            <a:ext cx="1965960" cy="2377440"/>
          </a:xfrm>
          <a:prstGeom prst="roundRect">
            <a:avLst>
              <a:gd name="adj" fmla="val 3721"/>
            </a:avLst>
          </a:prstGeom>
          <a:solidFill>
            <a:srgbClr val="FCE6DE"/>
          </a:solidFill>
          <a:ln w="12700">
            <a:solidFill>
              <a:srgbClr val="D6DBDF"/>
            </a:solidFill>
            <a:prstDash val="solid"/>
          </a:ln>
          <a:effectLst>
            <a:outerShdw sx="100000" sy="100000" kx="0" ky="0" algn="bl" rotWithShape="0" blurRad="50800" dist="12700" dir="5400000">
              <a:srgbClr val="1C2E42">
                <a:alpha val="10000"/>
              </a:srgbClr>
            </a:outerShdw>
          </a:effectLst>
        </p:spPr>
      </p:sp>
      <p:sp>
        <p:nvSpPr>
          <p:cNvPr id="20" name="Shape 18"/>
          <p:cNvSpPr/>
          <p:nvPr/>
        </p:nvSpPr>
        <p:spPr>
          <a:xfrm>
            <a:off x="1138428" y="1508760"/>
            <a:ext cx="512064" cy="512064"/>
          </a:xfrm>
          <a:prstGeom prst="ellipse">
            <a:avLst/>
          </a:prstGeom>
          <a:solidFill>
            <a:srgbClr val="1FA6A2"/>
          </a:solidFill>
          <a:ln/>
        </p:spPr>
      </p:sp>
      <p:sp>
        <p:nvSpPr>
          <p:cNvPr id="21" name="Text 19"/>
          <p:cNvSpPr/>
          <p:nvPr/>
        </p:nvSpPr>
        <p:spPr>
          <a:xfrm>
            <a:off x="1138428" y="1508760"/>
            <a:ext cx="512064" cy="512064"/>
          </a:xfrm>
          <a:prstGeom prst="rect">
            <a:avLst/>
          </a:prstGeom>
          <a:noFill/>
          <a:ln/>
        </p:spPr>
        <p:txBody>
          <a:bodyPr wrap="square" rtlCol="0" anchor="ctr"/>
          <a:lstStyle/>
          <a:p>
            <a:pPr algn="ctr" indent="0" marL="0">
              <a:buNone/>
            </a:pPr>
            <a:r>
              <a:rPr lang="en-US" sz="2000" b="1" dirty="0">
                <a:solidFill>
                  <a:srgbClr val="FFFFFF"/>
                </a:solidFill>
                <a:latin typeface="Outfit" pitchFamily="34" charset="0"/>
                <a:ea typeface="Outfit" pitchFamily="34" charset="-122"/>
                <a:cs typeface="Outfit" pitchFamily="34" charset="-120"/>
              </a:rPr>
              <a:t>1</a:t>
            </a:r>
            <a:endParaRPr lang="en-US" sz="2000" dirty="0"/>
          </a:p>
        </p:txBody>
      </p:sp>
      <p:sp>
        <p:nvSpPr>
          <p:cNvPr id="22" name="Text 20"/>
          <p:cNvSpPr/>
          <p:nvPr/>
        </p:nvSpPr>
        <p:spPr>
          <a:xfrm>
            <a:off x="457200" y="2148840"/>
            <a:ext cx="1874520" cy="320040"/>
          </a:xfrm>
          <a:prstGeom prst="rect">
            <a:avLst/>
          </a:prstGeom>
          <a:noFill/>
          <a:ln/>
        </p:spPr>
        <p:txBody>
          <a:bodyPr wrap="square" rtlCol="0" anchor="ctr"/>
          <a:lstStyle/>
          <a:p>
            <a:pPr algn="ctr" indent="0" marL="0">
              <a:buNone/>
            </a:pPr>
            <a:r>
              <a:rPr lang="en-US" sz="1150" b="1" dirty="0">
                <a:solidFill>
                  <a:srgbClr val="17324D"/>
                </a:solidFill>
                <a:latin typeface="Outfit" pitchFamily="34" charset="0"/>
                <a:ea typeface="Outfit" pitchFamily="34" charset="-122"/>
                <a:cs typeface="Outfit" pitchFamily="34" charset="-120"/>
              </a:rPr>
              <a:t>Not Yet</a:t>
            </a:r>
            <a:endParaRPr lang="en-US" sz="1150" dirty="0"/>
          </a:p>
        </p:txBody>
      </p:sp>
      <p:sp>
        <p:nvSpPr>
          <p:cNvPr id="23" name="Text 21"/>
          <p:cNvSpPr/>
          <p:nvPr/>
        </p:nvSpPr>
        <p:spPr>
          <a:xfrm>
            <a:off x="521208" y="2514600"/>
            <a:ext cx="1746504" cy="1051560"/>
          </a:xfrm>
          <a:prstGeom prst="rect">
            <a:avLst/>
          </a:prstGeom>
          <a:noFill/>
          <a:ln/>
        </p:spPr>
        <p:txBody>
          <a:bodyPr wrap="square" rtlCol="0" anchor="t"/>
          <a:lstStyle/>
          <a:p>
            <a:pPr algn="ctr" indent="0" marL="0">
              <a:buNone/>
            </a:pPr>
            <a:r>
              <a:rPr lang="en-US" sz="900" dirty="0">
                <a:solidFill>
                  <a:srgbClr val="24323F"/>
                </a:solidFill>
                <a:latin typeface="Hanken Grotesk" pitchFamily="34" charset="0"/>
                <a:ea typeface="Hanken Grotesk" pitchFamily="34" charset="-122"/>
                <a:cs typeface="Hanken Grotesk" pitchFamily="34" charset="-120"/>
              </a:rPr>
              <a:t>I need more help. This does not make sense to me yet.</a:t>
            </a:r>
            <a:endParaRPr lang="en-US" sz="900" dirty="0"/>
          </a:p>
        </p:txBody>
      </p:sp>
      <p:sp>
        <p:nvSpPr>
          <p:cNvPr id="24" name="Text 22"/>
          <p:cNvSpPr/>
          <p:nvPr/>
        </p:nvSpPr>
        <p:spPr>
          <a:xfrm>
            <a:off x="457200" y="3520440"/>
            <a:ext cx="1874520" cy="182880"/>
          </a:xfrm>
          <a:prstGeom prst="rect">
            <a:avLst/>
          </a:prstGeom>
          <a:noFill/>
          <a:ln/>
        </p:spPr>
        <p:txBody>
          <a:bodyPr wrap="square" rtlCol="0" anchor="ctr"/>
          <a:lstStyle/>
          <a:p>
            <a:pPr algn="ctr" indent="0" marL="0">
              <a:buNone/>
            </a:pPr>
            <a:r>
              <a:rPr lang="en-US" sz="800" i="1" dirty="0">
                <a:solidFill>
                  <a:srgbClr val="8A96A3"/>
                </a:solidFill>
                <a:latin typeface="Hanken Grotesk" pitchFamily="34" charset="0"/>
                <a:ea typeface="Hanken Grotesk" pitchFamily="34" charset="-122"/>
                <a:cs typeface="Hanken Grotesk" pitchFamily="34" charset="-120"/>
              </a:rPr>
              <a:t>○ circle me</a:t>
            </a:r>
            <a:endParaRPr lang="en-US" sz="800" dirty="0"/>
          </a:p>
        </p:txBody>
      </p:sp>
      <p:sp>
        <p:nvSpPr>
          <p:cNvPr id="25" name="Shape 23"/>
          <p:cNvSpPr/>
          <p:nvPr/>
        </p:nvSpPr>
        <p:spPr>
          <a:xfrm>
            <a:off x="2560320" y="1371600"/>
            <a:ext cx="1965960" cy="2377440"/>
          </a:xfrm>
          <a:prstGeom prst="roundRect">
            <a:avLst>
              <a:gd name="adj" fmla="val 3721"/>
            </a:avLst>
          </a:prstGeom>
          <a:solidFill>
            <a:srgbClr val="FBEFD0"/>
          </a:solidFill>
          <a:ln w="12700">
            <a:solidFill>
              <a:srgbClr val="D6DBDF"/>
            </a:solidFill>
            <a:prstDash val="solid"/>
          </a:ln>
          <a:effectLst>
            <a:outerShdw sx="100000" sy="100000" kx="0" ky="0" algn="bl" rotWithShape="0" blurRad="50800" dist="12700" dir="5400000">
              <a:srgbClr val="1C2E42">
                <a:alpha val="10000"/>
              </a:srgbClr>
            </a:outerShdw>
          </a:effectLst>
        </p:spPr>
      </p:sp>
      <p:sp>
        <p:nvSpPr>
          <p:cNvPr id="26" name="Shape 24"/>
          <p:cNvSpPr/>
          <p:nvPr/>
        </p:nvSpPr>
        <p:spPr>
          <a:xfrm>
            <a:off x="3287268" y="1508760"/>
            <a:ext cx="512064" cy="512064"/>
          </a:xfrm>
          <a:prstGeom prst="ellipse">
            <a:avLst/>
          </a:prstGeom>
          <a:solidFill>
            <a:srgbClr val="1FA6A2"/>
          </a:solidFill>
          <a:ln/>
        </p:spPr>
      </p:sp>
      <p:sp>
        <p:nvSpPr>
          <p:cNvPr id="27" name="Text 25"/>
          <p:cNvSpPr/>
          <p:nvPr/>
        </p:nvSpPr>
        <p:spPr>
          <a:xfrm>
            <a:off x="3287268" y="1508760"/>
            <a:ext cx="512064" cy="512064"/>
          </a:xfrm>
          <a:prstGeom prst="rect">
            <a:avLst/>
          </a:prstGeom>
          <a:noFill/>
          <a:ln/>
        </p:spPr>
        <p:txBody>
          <a:bodyPr wrap="square" rtlCol="0" anchor="ctr"/>
          <a:lstStyle/>
          <a:p>
            <a:pPr algn="ctr" indent="0" marL="0">
              <a:buNone/>
            </a:pPr>
            <a:r>
              <a:rPr lang="en-US" sz="2000" b="1" dirty="0">
                <a:solidFill>
                  <a:srgbClr val="FFFFFF"/>
                </a:solidFill>
                <a:latin typeface="Outfit" pitchFamily="34" charset="0"/>
                <a:ea typeface="Outfit" pitchFamily="34" charset="-122"/>
                <a:cs typeface="Outfit" pitchFamily="34" charset="-120"/>
              </a:rPr>
              <a:t>2</a:t>
            </a:r>
            <a:endParaRPr lang="en-US" sz="2000" dirty="0"/>
          </a:p>
        </p:txBody>
      </p:sp>
      <p:sp>
        <p:nvSpPr>
          <p:cNvPr id="28" name="Text 26"/>
          <p:cNvSpPr/>
          <p:nvPr/>
        </p:nvSpPr>
        <p:spPr>
          <a:xfrm>
            <a:off x="2606040" y="2148840"/>
            <a:ext cx="1874520" cy="320040"/>
          </a:xfrm>
          <a:prstGeom prst="rect">
            <a:avLst/>
          </a:prstGeom>
          <a:noFill/>
          <a:ln/>
        </p:spPr>
        <p:txBody>
          <a:bodyPr wrap="square" rtlCol="0" anchor="ctr"/>
          <a:lstStyle/>
          <a:p>
            <a:pPr algn="ctr" indent="0" marL="0">
              <a:buNone/>
            </a:pPr>
            <a:r>
              <a:rPr lang="en-US" sz="1150" b="1" dirty="0">
                <a:solidFill>
                  <a:srgbClr val="17324D"/>
                </a:solidFill>
                <a:latin typeface="Outfit" pitchFamily="34" charset="0"/>
                <a:ea typeface="Outfit" pitchFamily="34" charset="-122"/>
                <a:cs typeface="Outfit" pitchFamily="34" charset="-120"/>
              </a:rPr>
              <a:t>Getting There</a:t>
            </a:r>
            <a:endParaRPr lang="en-US" sz="1150" dirty="0"/>
          </a:p>
        </p:txBody>
      </p:sp>
      <p:sp>
        <p:nvSpPr>
          <p:cNvPr id="29" name="Text 27"/>
          <p:cNvSpPr/>
          <p:nvPr/>
        </p:nvSpPr>
        <p:spPr>
          <a:xfrm>
            <a:off x="2670048" y="2514600"/>
            <a:ext cx="1746504" cy="1051560"/>
          </a:xfrm>
          <a:prstGeom prst="rect">
            <a:avLst/>
          </a:prstGeom>
          <a:noFill/>
          <a:ln/>
        </p:spPr>
        <p:txBody>
          <a:bodyPr wrap="square" rtlCol="0" anchor="t"/>
          <a:lstStyle/>
          <a:p>
            <a:pPr algn="ctr" indent="0" marL="0">
              <a:buNone/>
            </a:pPr>
            <a:r>
              <a:rPr lang="en-US" sz="900" dirty="0">
                <a:solidFill>
                  <a:srgbClr val="24323F"/>
                </a:solidFill>
                <a:latin typeface="Hanken Grotesk" pitchFamily="34" charset="0"/>
                <a:ea typeface="Hanken Grotesk" pitchFamily="34" charset="-122"/>
                <a:cs typeface="Hanken Grotesk" pitchFamily="34" charset="-120"/>
              </a:rPr>
              <a:t>I understand the idea but I make mistakes when I work.</a:t>
            </a:r>
            <a:endParaRPr lang="en-US" sz="900" dirty="0"/>
          </a:p>
        </p:txBody>
      </p:sp>
      <p:sp>
        <p:nvSpPr>
          <p:cNvPr id="30" name="Text 28"/>
          <p:cNvSpPr/>
          <p:nvPr/>
        </p:nvSpPr>
        <p:spPr>
          <a:xfrm>
            <a:off x="2606040" y="3520440"/>
            <a:ext cx="1874520" cy="182880"/>
          </a:xfrm>
          <a:prstGeom prst="rect">
            <a:avLst/>
          </a:prstGeom>
          <a:noFill/>
          <a:ln/>
        </p:spPr>
        <p:txBody>
          <a:bodyPr wrap="square" rtlCol="0" anchor="ctr"/>
          <a:lstStyle/>
          <a:p>
            <a:pPr algn="ctr" indent="0" marL="0">
              <a:buNone/>
            </a:pPr>
            <a:r>
              <a:rPr lang="en-US" sz="800" i="1" dirty="0">
                <a:solidFill>
                  <a:srgbClr val="8A96A3"/>
                </a:solidFill>
                <a:latin typeface="Hanken Grotesk" pitchFamily="34" charset="0"/>
                <a:ea typeface="Hanken Grotesk" pitchFamily="34" charset="-122"/>
                <a:cs typeface="Hanken Grotesk" pitchFamily="34" charset="-120"/>
              </a:rPr>
              <a:t>○ circle me</a:t>
            </a:r>
            <a:endParaRPr lang="en-US" sz="800" dirty="0"/>
          </a:p>
        </p:txBody>
      </p:sp>
      <p:sp>
        <p:nvSpPr>
          <p:cNvPr id="31" name="Shape 29"/>
          <p:cNvSpPr/>
          <p:nvPr/>
        </p:nvSpPr>
        <p:spPr>
          <a:xfrm>
            <a:off x="4709160" y="1371600"/>
            <a:ext cx="1965960" cy="2377440"/>
          </a:xfrm>
          <a:prstGeom prst="roundRect">
            <a:avLst>
              <a:gd name="adj" fmla="val 3721"/>
            </a:avLst>
          </a:prstGeom>
          <a:solidFill>
            <a:srgbClr val="DFF2EE"/>
          </a:solidFill>
          <a:ln w="12700">
            <a:solidFill>
              <a:srgbClr val="D6DBDF"/>
            </a:solidFill>
            <a:prstDash val="solid"/>
          </a:ln>
          <a:effectLst>
            <a:outerShdw sx="100000" sy="100000" kx="0" ky="0" algn="bl" rotWithShape="0" blurRad="50800" dist="12700" dir="5400000">
              <a:srgbClr val="1C2E42">
                <a:alpha val="10000"/>
              </a:srgbClr>
            </a:outerShdw>
          </a:effectLst>
        </p:spPr>
      </p:sp>
      <p:sp>
        <p:nvSpPr>
          <p:cNvPr id="32" name="Shape 30"/>
          <p:cNvSpPr/>
          <p:nvPr/>
        </p:nvSpPr>
        <p:spPr>
          <a:xfrm>
            <a:off x="5436108" y="1508760"/>
            <a:ext cx="512064" cy="512064"/>
          </a:xfrm>
          <a:prstGeom prst="ellipse">
            <a:avLst/>
          </a:prstGeom>
          <a:solidFill>
            <a:srgbClr val="1FA6A2"/>
          </a:solidFill>
          <a:ln/>
        </p:spPr>
      </p:sp>
      <p:sp>
        <p:nvSpPr>
          <p:cNvPr id="33" name="Text 31"/>
          <p:cNvSpPr/>
          <p:nvPr/>
        </p:nvSpPr>
        <p:spPr>
          <a:xfrm>
            <a:off x="5436108" y="1508760"/>
            <a:ext cx="512064" cy="512064"/>
          </a:xfrm>
          <a:prstGeom prst="rect">
            <a:avLst/>
          </a:prstGeom>
          <a:noFill/>
          <a:ln/>
        </p:spPr>
        <p:txBody>
          <a:bodyPr wrap="square" rtlCol="0" anchor="ctr"/>
          <a:lstStyle/>
          <a:p>
            <a:pPr algn="ctr" indent="0" marL="0">
              <a:buNone/>
            </a:pPr>
            <a:r>
              <a:rPr lang="en-US" sz="2000" b="1" dirty="0">
                <a:solidFill>
                  <a:srgbClr val="FFFFFF"/>
                </a:solidFill>
                <a:latin typeface="Outfit" pitchFamily="34" charset="0"/>
                <a:ea typeface="Outfit" pitchFamily="34" charset="-122"/>
                <a:cs typeface="Outfit" pitchFamily="34" charset="-120"/>
              </a:rPr>
              <a:t>3</a:t>
            </a:r>
            <a:endParaRPr lang="en-US" sz="2000" dirty="0"/>
          </a:p>
        </p:txBody>
      </p:sp>
      <p:sp>
        <p:nvSpPr>
          <p:cNvPr id="34" name="Text 32"/>
          <p:cNvSpPr/>
          <p:nvPr/>
        </p:nvSpPr>
        <p:spPr>
          <a:xfrm>
            <a:off x="4754880" y="2148840"/>
            <a:ext cx="1874520" cy="320040"/>
          </a:xfrm>
          <a:prstGeom prst="rect">
            <a:avLst/>
          </a:prstGeom>
          <a:noFill/>
          <a:ln/>
        </p:spPr>
        <p:txBody>
          <a:bodyPr wrap="square" rtlCol="0" anchor="ctr"/>
          <a:lstStyle/>
          <a:p>
            <a:pPr algn="ctr" indent="0" marL="0">
              <a:buNone/>
            </a:pPr>
            <a:r>
              <a:rPr lang="en-US" sz="1150" b="1" dirty="0">
                <a:solidFill>
                  <a:srgbClr val="17324D"/>
                </a:solidFill>
                <a:latin typeface="Outfit" pitchFamily="34" charset="0"/>
                <a:ea typeface="Outfit" pitchFamily="34" charset="-122"/>
                <a:cs typeface="Outfit" pitchFamily="34" charset="-120"/>
              </a:rPr>
              <a:t>Got It!</a:t>
            </a:r>
            <a:endParaRPr lang="en-US" sz="1150" dirty="0"/>
          </a:p>
        </p:txBody>
      </p:sp>
      <p:sp>
        <p:nvSpPr>
          <p:cNvPr id="35" name="Text 33"/>
          <p:cNvSpPr/>
          <p:nvPr/>
        </p:nvSpPr>
        <p:spPr>
          <a:xfrm>
            <a:off x="4818888" y="2514600"/>
            <a:ext cx="1746504" cy="1051560"/>
          </a:xfrm>
          <a:prstGeom prst="rect">
            <a:avLst/>
          </a:prstGeom>
          <a:noFill/>
          <a:ln/>
        </p:spPr>
        <p:txBody>
          <a:bodyPr wrap="square" rtlCol="0" anchor="t"/>
          <a:lstStyle/>
          <a:p>
            <a:pPr algn="ctr" indent="0" marL="0">
              <a:buNone/>
            </a:pPr>
            <a:r>
              <a:rPr lang="en-US" sz="900" dirty="0">
                <a:solidFill>
                  <a:srgbClr val="24323F"/>
                </a:solidFill>
                <a:latin typeface="Hanken Grotesk" pitchFamily="34" charset="0"/>
                <a:ea typeface="Hanken Grotesk" pitchFamily="34" charset="-122"/>
                <a:cs typeface="Hanken Grotesk" pitchFamily="34" charset="-120"/>
              </a:rPr>
              <a:t>I can solve problems on my own and explain my thinking.</a:t>
            </a:r>
            <a:endParaRPr lang="en-US" sz="900" dirty="0"/>
          </a:p>
        </p:txBody>
      </p:sp>
      <p:sp>
        <p:nvSpPr>
          <p:cNvPr id="36" name="Text 34"/>
          <p:cNvSpPr/>
          <p:nvPr/>
        </p:nvSpPr>
        <p:spPr>
          <a:xfrm>
            <a:off x="4754880" y="3520440"/>
            <a:ext cx="1874520" cy="182880"/>
          </a:xfrm>
          <a:prstGeom prst="rect">
            <a:avLst/>
          </a:prstGeom>
          <a:noFill/>
          <a:ln/>
        </p:spPr>
        <p:txBody>
          <a:bodyPr wrap="square" rtlCol="0" anchor="ctr"/>
          <a:lstStyle/>
          <a:p>
            <a:pPr algn="ctr" indent="0" marL="0">
              <a:buNone/>
            </a:pPr>
            <a:r>
              <a:rPr lang="en-US" sz="800" i="1" dirty="0">
                <a:solidFill>
                  <a:srgbClr val="8A96A3"/>
                </a:solidFill>
                <a:latin typeface="Hanken Grotesk" pitchFamily="34" charset="0"/>
                <a:ea typeface="Hanken Grotesk" pitchFamily="34" charset="-122"/>
                <a:cs typeface="Hanken Grotesk" pitchFamily="34" charset="-120"/>
              </a:rPr>
              <a:t>○ circle me</a:t>
            </a:r>
            <a:endParaRPr lang="en-US" sz="800" dirty="0"/>
          </a:p>
        </p:txBody>
      </p:sp>
      <p:sp>
        <p:nvSpPr>
          <p:cNvPr id="37" name="Shape 35"/>
          <p:cNvSpPr/>
          <p:nvPr/>
        </p:nvSpPr>
        <p:spPr>
          <a:xfrm>
            <a:off x="6858000" y="1371600"/>
            <a:ext cx="1965960" cy="2377440"/>
          </a:xfrm>
          <a:prstGeom prst="roundRect">
            <a:avLst>
              <a:gd name="adj" fmla="val 3721"/>
            </a:avLst>
          </a:prstGeom>
          <a:solidFill>
            <a:srgbClr val="EAF2F1"/>
          </a:solidFill>
          <a:ln w="12700">
            <a:solidFill>
              <a:srgbClr val="D6DBDF"/>
            </a:solidFill>
            <a:prstDash val="solid"/>
          </a:ln>
          <a:effectLst>
            <a:outerShdw sx="100000" sy="100000" kx="0" ky="0" algn="bl" rotWithShape="0" blurRad="50800" dist="12700" dir="5400000">
              <a:srgbClr val="1C2E42">
                <a:alpha val="10000"/>
              </a:srgbClr>
            </a:outerShdw>
          </a:effectLst>
        </p:spPr>
      </p:sp>
      <p:sp>
        <p:nvSpPr>
          <p:cNvPr id="38" name="Shape 36"/>
          <p:cNvSpPr/>
          <p:nvPr/>
        </p:nvSpPr>
        <p:spPr>
          <a:xfrm>
            <a:off x="7584948" y="1508760"/>
            <a:ext cx="512064" cy="512064"/>
          </a:xfrm>
          <a:prstGeom prst="ellipse">
            <a:avLst/>
          </a:prstGeom>
          <a:solidFill>
            <a:srgbClr val="1FA6A2"/>
          </a:solidFill>
          <a:ln/>
        </p:spPr>
      </p:sp>
      <p:sp>
        <p:nvSpPr>
          <p:cNvPr id="39" name="Text 37"/>
          <p:cNvSpPr/>
          <p:nvPr/>
        </p:nvSpPr>
        <p:spPr>
          <a:xfrm>
            <a:off x="7584948" y="1508760"/>
            <a:ext cx="512064" cy="512064"/>
          </a:xfrm>
          <a:prstGeom prst="rect">
            <a:avLst/>
          </a:prstGeom>
          <a:noFill/>
          <a:ln/>
        </p:spPr>
        <p:txBody>
          <a:bodyPr wrap="square" rtlCol="0" anchor="ctr"/>
          <a:lstStyle/>
          <a:p>
            <a:pPr algn="ctr" indent="0" marL="0">
              <a:buNone/>
            </a:pPr>
            <a:r>
              <a:rPr lang="en-US" sz="2000" b="1" dirty="0">
                <a:solidFill>
                  <a:srgbClr val="FFFFFF"/>
                </a:solidFill>
                <a:latin typeface="Outfit" pitchFamily="34" charset="0"/>
                <a:ea typeface="Outfit" pitchFamily="34" charset="-122"/>
                <a:cs typeface="Outfit" pitchFamily="34" charset="-120"/>
              </a:rPr>
              <a:t>4</a:t>
            </a:r>
            <a:endParaRPr lang="en-US" sz="2000" dirty="0"/>
          </a:p>
        </p:txBody>
      </p:sp>
      <p:sp>
        <p:nvSpPr>
          <p:cNvPr id="40" name="Text 38"/>
          <p:cNvSpPr/>
          <p:nvPr/>
        </p:nvSpPr>
        <p:spPr>
          <a:xfrm>
            <a:off x="6903720" y="2148840"/>
            <a:ext cx="1874520" cy="320040"/>
          </a:xfrm>
          <a:prstGeom prst="rect">
            <a:avLst/>
          </a:prstGeom>
          <a:noFill/>
          <a:ln/>
        </p:spPr>
        <p:txBody>
          <a:bodyPr wrap="square" rtlCol="0" anchor="ctr"/>
          <a:lstStyle/>
          <a:p>
            <a:pPr algn="ctr" indent="0" marL="0">
              <a:buNone/>
            </a:pPr>
            <a:r>
              <a:rPr lang="en-US" sz="1150" b="1" dirty="0">
                <a:solidFill>
                  <a:srgbClr val="17324D"/>
                </a:solidFill>
                <a:latin typeface="Outfit" pitchFamily="34" charset="0"/>
                <a:ea typeface="Outfit" pitchFamily="34" charset="-122"/>
                <a:cs typeface="Outfit" pitchFamily="34" charset="-120"/>
              </a:rPr>
              <a:t>Can Teach It</a:t>
            </a:r>
            <a:endParaRPr lang="en-US" sz="1150" dirty="0"/>
          </a:p>
        </p:txBody>
      </p:sp>
      <p:sp>
        <p:nvSpPr>
          <p:cNvPr id="41" name="Text 39"/>
          <p:cNvSpPr/>
          <p:nvPr/>
        </p:nvSpPr>
        <p:spPr>
          <a:xfrm>
            <a:off x="6967728" y="2514600"/>
            <a:ext cx="1746504" cy="1051560"/>
          </a:xfrm>
          <a:prstGeom prst="rect">
            <a:avLst/>
          </a:prstGeom>
          <a:noFill/>
          <a:ln/>
        </p:spPr>
        <p:txBody>
          <a:bodyPr wrap="square" rtlCol="0" anchor="t"/>
          <a:lstStyle/>
          <a:p>
            <a:pPr algn="ctr" indent="0" marL="0">
              <a:buNone/>
            </a:pPr>
            <a:r>
              <a:rPr lang="en-US" sz="900" dirty="0">
                <a:solidFill>
                  <a:srgbClr val="24323F"/>
                </a:solidFill>
                <a:latin typeface="Hanken Grotesk" pitchFamily="34" charset="0"/>
                <a:ea typeface="Hanken Grotesk" pitchFamily="34" charset="-122"/>
                <a:cs typeface="Hanken Grotesk" pitchFamily="34" charset="-120"/>
              </a:rPr>
              <a:t>I can clearly teach this strategy to a classmate.</a:t>
            </a:r>
            <a:endParaRPr lang="en-US" sz="900" dirty="0"/>
          </a:p>
        </p:txBody>
      </p:sp>
      <p:sp>
        <p:nvSpPr>
          <p:cNvPr id="42" name="Text 40"/>
          <p:cNvSpPr/>
          <p:nvPr/>
        </p:nvSpPr>
        <p:spPr>
          <a:xfrm>
            <a:off x="6903720" y="3520440"/>
            <a:ext cx="1874520" cy="182880"/>
          </a:xfrm>
          <a:prstGeom prst="rect">
            <a:avLst/>
          </a:prstGeom>
          <a:noFill/>
          <a:ln/>
        </p:spPr>
        <p:txBody>
          <a:bodyPr wrap="square" rtlCol="0" anchor="ctr"/>
          <a:lstStyle/>
          <a:p>
            <a:pPr algn="ctr" indent="0" marL="0">
              <a:buNone/>
            </a:pPr>
            <a:r>
              <a:rPr lang="en-US" sz="800" i="1" dirty="0">
                <a:solidFill>
                  <a:srgbClr val="8A96A3"/>
                </a:solidFill>
                <a:latin typeface="Hanken Grotesk" pitchFamily="34" charset="0"/>
                <a:ea typeface="Hanken Grotesk" pitchFamily="34" charset="-122"/>
                <a:cs typeface="Hanken Grotesk" pitchFamily="34" charset="-120"/>
              </a:rPr>
              <a:t>○ circle me</a:t>
            </a:r>
            <a:endParaRPr lang="en-US" sz="800" dirty="0"/>
          </a:p>
        </p:txBody>
      </p:sp>
      <p:sp>
        <p:nvSpPr>
          <p:cNvPr id="43" name="Shape 41"/>
          <p:cNvSpPr/>
          <p:nvPr/>
        </p:nvSpPr>
        <p:spPr>
          <a:xfrm>
            <a:off x="411480" y="3977640"/>
            <a:ext cx="8412480" cy="685800"/>
          </a:xfrm>
          <a:prstGeom prst="roundRect">
            <a:avLst>
              <a:gd name="adj" fmla="val 10667"/>
            </a:avLst>
          </a:prstGeom>
          <a:solidFill>
            <a:srgbClr val="FFFFFF"/>
          </a:solidFill>
          <a:ln w="12700">
            <a:solidFill>
              <a:srgbClr val="D6DBDF"/>
            </a:solidFill>
            <a:prstDash val="solid"/>
          </a:ln>
          <a:effectLst>
            <a:outerShdw sx="100000" sy="100000" kx="0" ky="0" algn="bl" rotWithShape="0" blurRad="50800" dist="12700" dir="5400000">
              <a:srgbClr val="1C2E42">
                <a:alpha val="10000"/>
              </a:srgbClr>
            </a:outerShdw>
          </a:effectLst>
        </p:spPr>
      </p:sp>
      <p:sp>
        <p:nvSpPr>
          <p:cNvPr id="44" name="Text 42"/>
          <p:cNvSpPr/>
          <p:nvPr/>
        </p:nvSpPr>
        <p:spPr>
          <a:xfrm>
            <a:off x="640080" y="3977640"/>
            <a:ext cx="7955280" cy="685800"/>
          </a:xfrm>
          <a:prstGeom prst="rect">
            <a:avLst/>
          </a:prstGeom>
          <a:noFill/>
          <a:ln/>
        </p:spPr>
        <p:txBody>
          <a:bodyPr wrap="square" rtlCol="0" anchor="ctr"/>
          <a:lstStyle/>
          <a:p>
            <a:pPr indent="0" marL="0">
              <a:buNone/>
            </a:pPr>
            <a:r>
              <a:rPr lang="en-US" sz="1050" b="1" dirty="0">
                <a:solidFill>
                  <a:srgbClr val="1FA6A2"/>
                </a:solidFill>
                <a:latin typeface="Hanken Grotesk" pitchFamily="34" charset="0"/>
                <a:ea typeface="Hanken Grotesk" pitchFamily="34" charset="-122"/>
                <a:cs typeface="Hanken Grotesk" pitchFamily="34" charset="-120"/>
              </a:rPr>
              <a:t>My next step:  </a:t>
            </a:r>
            <a:pPr indent="0" marL="0">
              <a:buNone/>
            </a:pPr>
            <a:r>
              <a:rPr lang="en-US" sz="1050" dirty="0">
                <a:solidFill>
                  <a:srgbClr val="24323F"/>
                </a:solidFill>
                <a:latin typeface="Hanken Grotesk" pitchFamily="34" charset="0"/>
                <a:ea typeface="Hanken Grotesk" pitchFamily="34" charset="-122"/>
                <a:cs typeface="Hanken Grotesk" pitchFamily="34" charset="-120"/>
              </a:rPr>
              <a:t>To move up one level, I will ___.</a:t>
            </a:r>
            <a:endParaRPr lang="en-US" sz="10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12</Slides>
  <Notes>12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12</vt:i4>
      </vt:variant>
    </vt:vector>
  </HeadingPairs>
  <TitlesOfParts>
    <vt:vector size="1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vector>
  </TitlesOfParts>
  <Company>Neft Teacher</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Lesson 1-1-flagship: Prime Factorization</dc:title>
  <dc:subject>6.NS.4</dc:subject>
  <dc:creator>Neft Teacher</dc:creator>
  <cp:lastModifiedBy>Neft Teacher</cp:lastModifiedBy>
  <cp:revision>1</cp:revision>
  <dcterms:created xsi:type="dcterms:W3CDTF">2026-06-08T12:10:58Z</dcterms:created>
  <dcterms:modified xsi:type="dcterms:W3CDTF">2026-06-08T12:10:58Z</dcterms:modified>
</cp:coreProperties>
</file>