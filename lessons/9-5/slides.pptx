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key — A negative y-coordinate means DOWN, not up. Go left 3 and DOWN 5. The point (-3, -5) is in Quadrant III (both negative), not Quadrant II.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49040" cy="5143500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Shape 1"/>
          <p:cNvSpPr/>
          <p:nvPr/>
        </p:nvSpPr>
        <p:spPr>
          <a:xfrm>
            <a:off x="2651760" y="-640080"/>
            <a:ext cx="2011680" cy="2011680"/>
          </a:xfrm>
          <a:prstGeom prst="ellipse">
            <a:avLst/>
          </a:prstGeom>
          <a:solidFill>
            <a:srgbClr val="C0654A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3657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🗺️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11480" y="1783080"/>
            <a:ext cx="30175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Ordered Pairs in All Four Quadrants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11480" y="4160520"/>
            <a:ext cx="1188720" cy="310896"/>
          </a:xfrm>
          <a:prstGeom prst="rect">
            <a:avLst>
              <a:gd name="adj" fmla="val 50000"/>
            </a:avLst>
          </a:prstGeom>
          <a:solidFill>
            <a:srgbClr val="C065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6.NS.6b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691640" y="4160520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E6E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Unit 9  ·  Lesson 9-5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023360" y="411480"/>
            <a:ext cx="4800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251960" y="5486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My Math Notebook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251960" y="1024128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Name: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983480" y="1207008"/>
            <a:ext cx="3566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51960" y="1280160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Date: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83480" y="1463040"/>
            <a:ext cx="3566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51960" y="1536192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Period: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83480" y="1719072"/>
            <a:ext cx="3566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23360" y="2011680"/>
            <a:ext cx="4800600" cy="1143000"/>
          </a:xfrm>
          <a:prstGeom prst="roundRect">
            <a:avLst>
              <a:gd name="adj" fmla="val 6400"/>
            </a:avLst>
          </a:prstGeom>
          <a:solidFill>
            <a:srgbClr val="DFF2EE"/>
          </a:solidFill>
          <a:ln w="12700">
            <a:solidFill>
              <a:srgbClr val="1FA6A2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206240" y="2103120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65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 CAN…  </a:t>
            </a:r>
            <a:pPr indent="0" marL="0">
              <a:buNone/>
            </a:pPr>
            <a:r>
              <a:rPr lang="en-US" sz="900" i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/ Yo puedo…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06240" y="2395728"/>
            <a:ext cx="44348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can plot ordered pairs in all four quadrants of the coordinate plane.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023360" y="3291840"/>
            <a:ext cx="48006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206240" y="3383280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65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 WILL EXPLAIN…  </a:t>
            </a:r>
            <a:pPr indent="0" marL="0">
              <a:buNone/>
            </a:pPr>
            <a:r>
              <a:rPr lang="en-US" sz="900" i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/ Objetivo de lenguaje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206240" y="3675888"/>
            <a:ext cx="443484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can explain my work using the words quadrant, negative coordinate, reflection, and axis.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Be Curious / Sé Curioso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C065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6.NS.6b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9  ·  Lesson 9-5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685800"/>
            <a:ext cx="416052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841248"/>
            <a:ext cx="1371600" cy="274320"/>
          </a:xfrm>
          <a:prstGeom prst="rect">
            <a:avLst>
              <a:gd name="adj" fmla="val 50000"/>
            </a:avLst>
          </a:prstGeom>
          <a:solidFill>
            <a:srgbClr val="C065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VISUAL PROMPT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4360" y="120700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Expanding the Treasure Map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1508760"/>
            <a:ext cx="3794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Captain Vega realized her treasure map only covered one corner of the island! She needs to expand the map in all directions — north, south, east, and west of the base camp at the origin (0, 0). Now clues can have negative coordinates: (-4, 3) means 4 units west and 3 units north. A clue at (2, -5) means 2 units east and 5 units south. Which quadrant is each clue in?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94360" y="31546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Jot your first idea: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4360" y="3566160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594360" y="3886200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594360" y="4206240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4709160" y="685800"/>
            <a:ext cx="41148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09160" y="685800"/>
            <a:ext cx="4114800" cy="274320"/>
          </a:xfrm>
          <a:prstGeom prst="rect">
            <a:avLst/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👁  I Notice…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92040" y="1051560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•  How do you know which quadrant a point is in by looking at the signs of its coordinates?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•  What do negative x-values and negative y-values mean on the map?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•  Where is the point (0, 0) on the expanded map?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09160" y="2743200"/>
            <a:ext cx="41148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09160" y="2743200"/>
            <a:ext cx="4114800" cy="274320"/>
          </a:xfrm>
          <a:prstGeom prst="rect">
            <a:avLst/>
          </a:prstGeom>
          <a:solidFill>
            <a:srgbClr val="F2C1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💭  I Wonder…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92040" y="3108960"/>
            <a:ext cx="374904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•  Can a point be in more than one quadrant?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•  What quadrant is a point on if one of its coordinates is zero?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Vocabulary / Vocabulario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C065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6.NS.6b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9  ·  Lesson 9-5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</a:t>
            </a:r>
            <a:endParaRPr lang="en-US" sz="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685800"/>
          <a:ext cx="84124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114800"/>
                <a:gridCol w="21945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Term / Término</a:t>
                      </a:r>
                      <a:endParaRPr lang="en-US" sz="10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Meaning / Significado</a:t>
                      </a:r>
                      <a:endParaRPr lang="en-US" sz="10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Example / Ejemplo</a:t>
                      </a:r>
                      <a:endParaRPr lang="en-US" sz="10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324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Quadrant</a:t>
                      </a:r>
                      <a:pPr indent="0" marL="0">
                        <a:buNone/>
                      </a:pP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Cuadrante</a:t>
                      </a: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One of the four parts of a coordinate grid, numbered I to IV.</a:t>
                      </a:r>
                      <a:pPr indent="0" marL="0">
                        <a:buNone/>
                      </a:pP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Una de las cuatro partes de una cuadrícula de coordenadas, numeradas I a IV.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I (+, +) top-right, II (-, +) top-left, III (-, -) bottom-left, IV (+, -) bottom-right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324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Negative coordinate</a:t>
                      </a:r>
                      <a:pPr indent="0" marL="0">
                        <a:buNone/>
                      </a:pP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Coordenada negativa</a:t>
                      </a: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A coordinate less than zero. It means left or below the center point.</a:t>
                      </a:r>
                      <a:pPr indent="0" marL="0">
                        <a:buNone/>
                      </a:pP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Una coordenada menor que cero. Significa a la izquierda o debajo del centro.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(-3, 2) means 3 left and 2 up from the origin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324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Reflection</a:t>
                      </a:r>
                      <a:pPr indent="0" marL="0">
                        <a:buNone/>
                      </a:pP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Reflexión</a:t>
                      </a: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A flipped, mirror image of a point across a line.</a:t>
                      </a:r>
                      <a:pPr indent="0" marL="0">
                        <a:buNone/>
                      </a:pP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Una imagen reflejada de un punto al otro lado de una línea.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(3, 2) reflected over the y-axis is (-3, 2) — same distance, opposite side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324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Axis</a:t>
                      </a:r>
                      <a:pPr indent="0" marL="0">
                        <a:buNone/>
                      </a:pP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Eje</a:t>
                      </a: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A line on the grid. The x-axis goes across; the y-axis goes up.</a:t>
                      </a:r>
                      <a:pPr indent="0" marL="0">
                        <a:buNone/>
                      </a:pP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Una línea en la cuadrícula. El eje x va de lado; el eje y va hacia arriba.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The x-axis goes left-right; the y-axis goes up-down; they cross at (0, 0)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324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Integer</a:t>
                      </a:r>
                      <a:pPr indent="0" marL="0">
                        <a:buNone/>
                      </a:pP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Número entero</a:t>
                      </a: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Whole numbers and their opposites, like -2, -1, 0, 1, 2.</a:t>
                      </a:r>
                      <a:pPr indent="0" marL="0">
                        <a:buNone/>
                      </a:pP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Números enteros y sus opuestos, como -2, -1, 0, 1, 2.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..., -3, -2, -1, 0, 1, 2, 3, ...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411480" y="3520440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Negative coordinate — example vs. non-example: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11480" y="3813048"/>
            <a:ext cx="4114800" cy="457200"/>
          </a:xfrm>
          <a:prstGeom prst="roundRect">
            <a:avLst>
              <a:gd name="adj" fmla="val 10000"/>
            </a:avLst>
          </a:prstGeom>
          <a:solidFill>
            <a:srgbClr val="E7F6F4"/>
          </a:solidFill>
          <a:ln w="12700">
            <a:solidFill>
              <a:srgbClr val="1FA6A2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21208" y="3813048"/>
            <a:ext cx="3895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A6A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✓ </a:t>
            </a:r>
            <a:pPr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−3 in (−3, 5)  </a:t>
            </a:r>
            <a:pPr indent="0" marL="0">
              <a:buNone/>
            </a:pPr>
            <a:r>
              <a:rPr lang="en-US" sz="8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It is a coordinate less than zero.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663440" y="3813048"/>
            <a:ext cx="4114800" cy="457200"/>
          </a:xfrm>
          <a:prstGeom prst="roundRect">
            <a:avLst>
              <a:gd name="adj" fmla="val 10000"/>
            </a:avLst>
          </a:prstGeom>
          <a:solidFill>
            <a:srgbClr val="FDECEA"/>
          </a:solidFill>
          <a:ln w="12700">
            <a:solidFill>
              <a:srgbClr val="E2A39B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4773168" y="3813048"/>
            <a:ext cx="3895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✗ </a:t>
            </a:r>
            <a:pPr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5 in (−3, 5)  </a:t>
            </a:r>
            <a:pPr indent="0" marL="0">
              <a:buNone/>
            </a:pPr>
            <a:r>
              <a:rPr lang="en-US" sz="8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5 is positive, not negative.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Guided Practice / Práctica Guiada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C065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6.NS.6b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9  ·  Lesson 9-5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68580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841248"/>
            <a:ext cx="1737360" cy="274320"/>
          </a:xfrm>
          <a:prstGeom prst="rect">
            <a:avLst>
              <a:gd name="adj" fmla="val 50000"/>
            </a:avLst>
          </a:prstGeom>
          <a:solidFill>
            <a:srgbClr val="C065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👩‍🏫 WE DO TOGETHER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4360" y="11887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How do you plot points in all four quadrants?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1609344"/>
            <a:ext cx="274320" cy="274320"/>
          </a:xfrm>
          <a:prstGeom prst="ellipse">
            <a:avLst/>
          </a:prstGeom>
          <a:solidFill>
            <a:srgbClr val="C0654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16093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24128" y="1554480"/>
            <a:ext cx="48280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Now let's plot (-5, 2). The x is -5, so which way do we move? Left 5 units.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" y="2084832"/>
            <a:ext cx="274320" cy="274320"/>
          </a:xfrm>
          <a:prstGeom prst="ellipse">
            <a:avLst/>
          </a:prstGeom>
          <a:solidFill>
            <a:srgbClr val="C0654A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20848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24128" y="2029968"/>
            <a:ext cx="48280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y is 2, which is positive, so which way? Up 2 units.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" y="2560320"/>
            <a:ext cx="274320" cy="274320"/>
          </a:xfrm>
          <a:prstGeom prst="ellipse">
            <a:avLst/>
          </a:prstGeom>
          <a:solidFill>
            <a:srgbClr val="C0654A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25603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24128" y="2505456"/>
            <a:ext cx="48280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Left and up lands us in which quadrant? Quadrant II.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94360" y="388620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Your turn — show your work: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40080" y="4297680"/>
            <a:ext cx="51206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6035040" y="685800"/>
            <a:ext cx="2788920" cy="4023360"/>
          </a:xfrm>
          <a:prstGeom prst="roundRect">
            <a:avLst>
              <a:gd name="adj" fmla="val 2623"/>
            </a:avLst>
          </a:prstGeom>
          <a:solidFill>
            <a:srgbClr val="DFF2EE"/>
          </a:solidFill>
          <a:ln w="12700">
            <a:solidFill>
              <a:srgbClr val="1FA6A2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035040" y="685800"/>
            <a:ext cx="2788920" cy="274320"/>
          </a:xfrm>
          <a:prstGeom prst="rect">
            <a:avLst/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💬 Talk It Over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17920" y="109728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What do the signs of the coordinates in an ordered pair tell you about which quadrant the point is in?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72200" y="274320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309360" y="28346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65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🔑 Key Idea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309360" y="310896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signs of (x, y) tell you the quadrant: (+,+) is I, (-,+) is II, (-,-) is III, (+,-) is IV.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Sort It Out / Clasifícalo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C065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6.NS.6b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9  ·  Lesson 9-5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5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68580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8229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Plot each treasure clue on the expanded map and identify which quadrant it falls in.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94360" y="123444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Card Bank — cut or sort these cards: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94360" y="1481328"/>
            <a:ext cx="1630680" cy="384048"/>
          </a:xfrm>
          <a:prstGeom prst="roundRect">
            <a:avLst>
              <a:gd name="adj" fmla="val 11905"/>
            </a:avLst>
          </a:prstGeom>
          <a:solidFill>
            <a:srgbClr val="FBEFD0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85800" y="1481328"/>
            <a:ext cx="1447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Card 1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362200" y="1481328"/>
            <a:ext cx="1630680" cy="384048"/>
          </a:xfrm>
          <a:prstGeom prst="roundRect">
            <a:avLst>
              <a:gd name="adj" fmla="val 11905"/>
            </a:avLst>
          </a:prstGeom>
          <a:solidFill>
            <a:srgbClr val="FBEFD0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453640" y="1481328"/>
            <a:ext cx="1447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Card 2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130040" y="1481328"/>
            <a:ext cx="1630680" cy="384048"/>
          </a:xfrm>
          <a:prstGeom prst="roundRect">
            <a:avLst>
              <a:gd name="adj" fmla="val 11905"/>
            </a:avLst>
          </a:prstGeom>
          <a:solidFill>
            <a:srgbClr val="FBEFD0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221480" y="1481328"/>
            <a:ext cx="1447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Card 3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94360" y="1975104"/>
            <a:ext cx="1630680" cy="384048"/>
          </a:xfrm>
          <a:prstGeom prst="roundRect">
            <a:avLst>
              <a:gd name="adj" fmla="val 11905"/>
            </a:avLst>
          </a:prstGeom>
          <a:solidFill>
            <a:srgbClr val="FBEFD0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85800" y="1975104"/>
            <a:ext cx="1447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Card 4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94360" y="2560320"/>
            <a:ext cx="2514600" cy="196596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C0654A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94360" y="2560320"/>
            <a:ext cx="2514600" cy="292608"/>
          </a:xfrm>
          <a:prstGeom prst="rect">
            <a:avLst/>
          </a:prstGeom>
          <a:solidFill>
            <a:srgbClr val="C065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Group A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46120" y="2560320"/>
            <a:ext cx="2514600" cy="196596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C0654A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246120" y="2560320"/>
            <a:ext cx="2514600" cy="292608"/>
          </a:xfrm>
          <a:prstGeom prst="rect">
            <a:avLst/>
          </a:prstGeom>
          <a:solidFill>
            <a:srgbClr val="C065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Group B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035040" y="685800"/>
            <a:ext cx="2788920" cy="4023360"/>
          </a:xfrm>
          <a:prstGeom prst="roundRect">
            <a:avLst>
              <a:gd name="adj" fmla="val 2623"/>
            </a:avLst>
          </a:prstGeom>
          <a:solidFill>
            <a:srgbClr val="DFF2EE"/>
          </a:solidFill>
          <a:ln w="12700">
            <a:solidFill>
              <a:srgbClr val="1FA6A2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035040" y="685800"/>
            <a:ext cx="2788920" cy="274320"/>
          </a:xfrm>
          <a:prstGeom prst="rect">
            <a:avLst/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💬 Talk It Over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17920" y="109728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Plot (-3, -4). Which quadrant is it in, and how do the negative coordinates change the directions you move from the origin?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17920" y="2743200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6217920" y="3072384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6217920" y="3401568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6217920" y="3730752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6217920" y="4059936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Error Analysis / Análisis de Errores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C065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6.NS.6b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9  ·  Lesson 9-5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68580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841248"/>
            <a:ext cx="1554480" cy="274320"/>
          </a:xfrm>
          <a:prstGeom prst="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⚠ FIND THE ERROR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286000" y="84124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Find the Quadrant Error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11887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classmate turned in the work below. One step has a mistake — find it, name it, fix it.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94360" y="1627632"/>
            <a:ext cx="5166360" cy="1517904"/>
          </a:xfrm>
          <a:prstGeom prst="roundRect">
            <a:avLst>
              <a:gd name="adj" fmla="val 3012"/>
            </a:avLst>
          </a:prstGeom>
          <a:solidFill>
            <a:srgbClr val="F4F1E8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13232" y="1691640"/>
            <a:ext cx="4937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Student's work (contains an error):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77240" y="1938528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1. </a:t>
            </a:r>
            <a:pPr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Problem:  </a:t>
            </a:r>
            <a:pPr indent="0" marL="0">
              <a:buNone/>
            </a:pPr>
            <a:r>
              <a:rPr lang="en-US" sz="950" b="1" dirty="0">
                <a:solidFill>
                  <a:srgbClr val="2432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Identify the quadrant for (-3, -5)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77240" y="2322576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2. </a:t>
            </a:r>
            <a:pPr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Student thinking:  </a:t>
            </a:r>
            <a:pPr indent="0" marL="0">
              <a:buNone/>
            </a:pPr>
            <a:r>
              <a:rPr lang="en-US" sz="950" b="1" dirty="0">
                <a:solidFill>
                  <a:srgbClr val="2432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x is -3, so I go left 3. The y is -5, so I go up 5.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77240" y="2706624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3. </a:t>
            </a:r>
            <a:pPr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Student answer:  </a:t>
            </a:r>
            <a:pPr indent="0" marL="0">
              <a:buNone/>
            </a:pPr>
            <a:r>
              <a:rPr lang="en-US" sz="950" b="1" dirty="0">
                <a:solidFill>
                  <a:srgbClr val="2432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(-3, -5) is in Quadrant II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94360" y="3282696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Which step has the error? Circle it above.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035040" y="685800"/>
            <a:ext cx="2788920" cy="4023360"/>
          </a:xfrm>
          <a:prstGeom prst="roundRect">
            <a:avLst>
              <a:gd name="adj" fmla="val 2623"/>
            </a:avLst>
          </a:prstGeom>
          <a:solidFill>
            <a:srgbClr val="FCE6DE"/>
          </a:solidFill>
          <a:ln w="12700">
            <a:solidFill>
              <a:srgbClr val="E2A39B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035040" y="685800"/>
            <a:ext cx="2788920" cy="274320"/>
          </a:xfrm>
          <a:prstGeom prst="rect">
            <a:avLst/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🛠 Explain &amp; Fix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17920" y="10972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mistake was </a:t>
            </a:r>
            <a:pPr indent="0" marL="0">
              <a:buNone/>
            </a:pPr>
            <a:r>
              <a:rPr lang="en-US" sz="10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___</a:t>
            </a:r>
            <a:pPr indent="0" marL="0">
              <a:buNone/>
            </a:pPr>
            <a:r>
              <a:rPr lang="en-US" sz="10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 because </a:t>
            </a:r>
            <a:pPr indent="0" marL="0">
              <a:buNone/>
            </a:pPr>
            <a:r>
              <a:rPr lang="en-US" sz="10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___</a:t>
            </a:r>
            <a:pPr indent="0" marL="0">
              <a:buNone/>
            </a:pPr>
            <a:r>
              <a:rPr lang="en-US" sz="10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17920" y="1783080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6217920" y="2075688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6217920" y="2368296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6217920" y="27889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Fix it — rewrite the step correctly: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217920" y="3246120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6217920" y="3538728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6217920" y="3831336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6217920" y="4123944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Two-Column Notes / Notas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C065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6.NS.6b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9  ·  Lesson 9-5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7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685800"/>
            <a:ext cx="416052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11480" y="685800"/>
            <a:ext cx="4160520" cy="292608"/>
          </a:xfrm>
          <a:prstGeom prst="rect">
            <a:avLst/>
          </a:prstGeom>
          <a:solidFill>
            <a:srgbClr val="17324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Steps / Pasos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" y="1243584"/>
            <a:ext cx="274320" cy="274320"/>
          </a:xfrm>
          <a:prstGeom prst="ellipse">
            <a:avLst/>
          </a:prstGeom>
          <a:solidFill>
            <a:srgbClr val="C0654A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124358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78408" y="1188720"/>
            <a:ext cx="3456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will plot (-3, -4). I start at the origin (0, 0).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94360" y="1719072"/>
            <a:ext cx="274320" cy="274320"/>
          </a:xfrm>
          <a:prstGeom prst="ellipse">
            <a:avLst/>
          </a:prstGeom>
          <a:solidFill>
            <a:srgbClr val="C0654A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17190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78408" y="1664208"/>
            <a:ext cx="3456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x is -3, which is negative, so I move 3 units to the LEFT.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94360" y="2194560"/>
            <a:ext cx="274320" cy="274320"/>
          </a:xfrm>
          <a:prstGeom prst="ellipse">
            <a:avLst/>
          </a:prstGeom>
          <a:solidFill>
            <a:srgbClr val="C0654A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2194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78408" y="2139696"/>
            <a:ext cx="3456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y is -4, which is negative, so I move 4 units DOWN. I place my dot.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94360" y="2670048"/>
            <a:ext cx="274320" cy="274320"/>
          </a:xfrm>
          <a:prstGeom prst="ellipse">
            <a:avLst/>
          </a:prstGeom>
          <a:solidFill>
            <a:srgbClr val="C0654A"/>
          </a:solidFill>
          <a:ln/>
        </p:spPr>
      </p:sp>
      <p:sp>
        <p:nvSpPr>
          <p:cNvPr id="29" name="Text 27"/>
          <p:cNvSpPr/>
          <p:nvPr/>
        </p:nvSpPr>
        <p:spPr>
          <a:xfrm>
            <a:off x="594360" y="26700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78408" y="2615184"/>
            <a:ext cx="3456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Both coordinates are negative, so the point is in Quadrant III.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09160" y="685800"/>
            <a:ext cx="4114800" cy="4023360"/>
          </a:xfrm>
          <a:prstGeom prst="roundRect">
            <a:avLst>
              <a:gd name="adj" fmla="val 1818"/>
            </a:avLst>
          </a:prstGeom>
          <a:solidFill>
            <a:srgbClr val="DFF2EE"/>
          </a:solidFill>
          <a:ln w="12700">
            <a:solidFill>
              <a:srgbClr val="1FA6A2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709160" y="685800"/>
            <a:ext cx="4114800" cy="292608"/>
          </a:xfrm>
          <a:prstGeom prst="rect">
            <a:avLst/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My Example / Mi Ejemplo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92040" y="11430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Work one problem here, matching each step on the left: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92040" y="1783080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4892040" y="2112264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4892040" y="2441448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4892040" y="2770632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4892040" y="3099816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4892040" y="3429000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4892040" y="3758184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4892040" y="4087368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Choice Board / Tablero de Opciones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C065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6.NS.6b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9  ·  Lesson 9-5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8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11480" y="6400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Choose ONE to show what you know: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1480" y="1051560"/>
            <a:ext cx="4114800" cy="1645920"/>
          </a:xfrm>
          <a:prstGeom prst="roundRect">
            <a:avLst>
              <a:gd name="adj" fmla="val 4444"/>
            </a:avLst>
          </a:prstGeom>
          <a:solidFill>
            <a:srgbClr val="DFF2EE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8640" y="116128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✏️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1234440" y="11887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Draw &amp; Label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4360" y="1709928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Sketch a model for today's problem. Label it using Quadrant and Negative coordinate.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1051560"/>
            <a:ext cx="4114800" cy="1645920"/>
          </a:xfrm>
          <a:prstGeom prst="roundRect">
            <a:avLst>
              <a:gd name="adj" fmla="val 4444"/>
            </a:avLst>
          </a:prstGeom>
          <a:solidFill>
            <a:srgbClr val="FBEFD0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46320" y="116128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💬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5532120" y="11887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Explain It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92040" y="1709928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In 2–3 sentences, explain "The signs of (x, y) tell you the quadrant: (+,+) is I, (-,+) is II, (-,-) is III, (+,-) is IV." in your own words.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1480" y="2834640"/>
            <a:ext cx="4114800" cy="1645920"/>
          </a:xfrm>
          <a:prstGeom prst="roundRect">
            <a:avLst>
              <a:gd name="adj" fmla="val 4444"/>
            </a:avLst>
          </a:prstGeom>
          <a:solidFill>
            <a:srgbClr val="FCE6DE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48640" y="294436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🧮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1234440" y="29718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Solve It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94360" y="3493008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Work one practice problem and show every step clearly.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09160" y="2834640"/>
            <a:ext cx="4114800" cy="1645920"/>
          </a:xfrm>
          <a:prstGeom prst="roundRect">
            <a:avLst>
              <a:gd name="adj" fmla="val 4444"/>
            </a:avLst>
          </a:prstGeom>
          <a:solidFill>
            <a:srgbClr val="EAF2F1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846320" y="294436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5532120" y="29718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Create a Problem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892040" y="3493008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Write your own problem that uses Quadrant, then solve it and make an answer key.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Independent Practice / Práctica Independiente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C065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6.NS.6b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9  ·  Lesson 9-5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9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68580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841248"/>
            <a:ext cx="1463040" cy="274320"/>
          </a:xfrm>
          <a:prstGeom prst="rect">
            <a:avLst>
              <a:gd name="adj" fmla="val 50000"/>
            </a:avLst>
          </a:prstGeom>
          <a:solidFill>
            <a:srgbClr val="C065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✍️ ON YOUR OWN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4360" y="1234440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0654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1.  </a:t>
            </a:r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Point A is at (-5, 3). If you move 8 units to the right, what are the new coordinates?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77240" y="1783080"/>
            <a:ext cx="498348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594360" y="2194560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0654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2.  </a:t>
            </a:r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In which quadrant is the point (-4, 5)?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77240" y="2743200"/>
            <a:ext cx="498348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594360" y="3154680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0654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3.  </a:t>
            </a:r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point has a positive x-coordinate and a negative y-coordinate. Which quadrant is it in?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77240" y="3703320"/>
            <a:ext cx="498348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6035040" y="685800"/>
            <a:ext cx="2788920" cy="4023360"/>
          </a:xfrm>
          <a:prstGeom prst="roundRect">
            <a:avLst>
              <a:gd name="adj" fmla="val 2623"/>
            </a:avLst>
          </a:prstGeom>
          <a:solidFill>
            <a:srgbClr val="DFF2EE"/>
          </a:solidFill>
          <a:ln w="12700">
            <a:solidFill>
              <a:srgbClr val="1FA6A2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035040" y="685800"/>
            <a:ext cx="2788920" cy="274320"/>
          </a:xfrm>
          <a:prstGeom prst="rect">
            <a:avLst/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💬 Talk It Over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17920" y="109728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How are the four quadrants like a tic-tac-toe of positive and negative directions on the coordinate plane?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17920" y="2834640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6217920" y="3163824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6217920" y="3493008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6217920" y="3822192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6217920" y="4151376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Think–Write–Respond / Piensa y Escribe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C065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6.NS.6b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9  ·  Lesson 9-5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11480" y="60350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Use evidence from today's lesson to complete each frame.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960120"/>
            <a:ext cx="84124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94360" y="10515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Frame 1 — </a:t>
            </a:r>
            <a:pPr indent="0" marL="0">
              <a:buNone/>
            </a:pPr>
            <a:r>
              <a:rPr lang="en-US" sz="1100" b="1" dirty="0">
                <a:solidFill>
                  <a:srgbClr val="C065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Explain the Rule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134416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Today's key idea is "The signs of (x, y) tell you the quadrant: (+,+) is I, (-,+) is II, (-,-) is III, (+,-) is IV." — and it works because ___.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94360" y="1892808"/>
            <a:ext cx="804672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411480" y="2240280"/>
            <a:ext cx="84124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94360" y="23317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Frame 2 — </a:t>
            </a:r>
            <a:pPr indent="0" marL="0">
              <a:buNone/>
            </a:pPr>
            <a:r>
              <a:rPr lang="en-US" sz="1100" b="1" dirty="0">
                <a:solidFill>
                  <a:srgbClr val="C065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Because / But / So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4360" y="262432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Because Quadrant means ___, but a tricky part is ___, so I have to ___.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94360" y="3172968"/>
            <a:ext cx="804672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411480" y="3520440"/>
            <a:ext cx="84124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94360" y="36118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Frame 3 — </a:t>
            </a:r>
            <a:pPr indent="0" marL="0">
              <a:buNone/>
            </a:pPr>
            <a:r>
              <a:rPr lang="en-US" sz="1100" b="1" dirty="0">
                <a:solidFill>
                  <a:srgbClr val="C0654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Catch the Mistake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4360" y="390448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common mistake with Quadrant is ___. It happens because ___, and the fix is ___.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94360" y="4453128"/>
            <a:ext cx="804672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Exit Ticket / Boleto de Salida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C065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6.NS.6b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9  ·  Lesson 9-5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11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685800"/>
            <a:ext cx="4160520" cy="4023360"/>
          </a:xfrm>
          <a:prstGeom prst="roundRect">
            <a:avLst>
              <a:gd name="adj" fmla="val 1818"/>
            </a:avLst>
          </a:prstGeom>
          <a:solidFill>
            <a:srgbClr val="DFF2EE"/>
          </a:solidFill>
          <a:ln w="12700">
            <a:solidFill>
              <a:srgbClr val="1FA6A2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11480" y="685800"/>
            <a:ext cx="4160520" cy="274320"/>
          </a:xfrm>
          <a:prstGeom prst="rect">
            <a:avLst/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Reflection / Reflexión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" y="109728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Today I learned that ___ because ___.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" y="1783080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594360" y="2093976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594360" y="2404872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594360" y="283464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One thing I am still not sure about is ___.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4360" y="3520440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594360" y="3831336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594360" y="4142232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4709160" y="685800"/>
            <a:ext cx="411480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709160" y="685800"/>
            <a:ext cx="4114800" cy="274320"/>
          </a:xfrm>
          <a:prstGeom prst="rect">
            <a:avLst/>
          </a:prstGeom>
          <a:solidFill>
            <a:srgbClr val="17324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Quick Exit Ticket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92040" y="109728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0654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Tier 1 — </a:t>
            </a:r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point has a negative x-coordinate and a negative y-coordinate. Which quadrant is it in?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029200" y="17830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A.  Quadrant I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29200" y="209397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B.  Quadrant II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0" y="240487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C.  Quadrant III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29200" y="271576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D.  Quadrant IV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92040" y="3163824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0654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Tier 2 — </a:t>
            </a:r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Explain how you know your answer is correct. Use at least one vocabulary word.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892040" y="3803904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4892040" y="4096512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4892040" y="4389120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Goal Tracker / Seguimiento de Metas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C065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6.NS.6b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9  ·  Lesson 9-5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12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658368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17324D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658368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C15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My Goal: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can plot ordered pairs in all four quadrants of the coordinate plane.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137160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FCE6DE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138428" y="1508760"/>
            <a:ext cx="512064" cy="512064"/>
          </a:xfrm>
          <a:prstGeom prst="ellipse">
            <a:avLst/>
          </a:prstGeom>
          <a:solidFill>
            <a:srgbClr val="C0654A"/>
          </a:solidFill>
          <a:ln/>
        </p:spPr>
      </p:sp>
      <p:sp>
        <p:nvSpPr>
          <p:cNvPr id="21" name="Text 19"/>
          <p:cNvSpPr/>
          <p:nvPr/>
        </p:nvSpPr>
        <p:spPr>
          <a:xfrm>
            <a:off x="1138428" y="15087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57200" y="21488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Not Yet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21208" y="2514600"/>
            <a:ext cx="174650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need more help. This does not make sense to me yet.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3520440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○ circle me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560320" y="137160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FBEFD0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87268" y="1508760"/>
            <a:ext cx="512064" cy="512064"/>
          </a:xfrm>
          <a:prstGeom prst="ellipse">
            <a:avLst/>
          </a:prstGeom>
          <a:solidFill>
            <a:srgbClr val="C0654A"/>
          </a:solidFill>
          <a:ln/>
        </p:spPr>
      </p:sp>
      <p:sp>
        <p:nvSpPr>
          <p:cNvPr id="27" name="Text 25"/>
          <p:cNvSpPr/>
          <p:nvPr/>
        </p:nvSpPr>
        <p:spPr>
          <a:xfrm>
            <a:off x="3287268" y="15087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2606040" y="21488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Getting There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2670048" y="2514600"/>
            <a:ext cx="174650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understand the idea but I make mistakes when I work.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606040" y="3520440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○ circle me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709160" y="137160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DFF2EE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436108" y="1508760"/>
            <a:ext cx="512064" cy="512064"/>
          </a:xfrm>
          <a:prstGeom prst="ellipse">
            <a:avLst/>
          </a:prstGeom>
          <a:solidFill>
            <a:srgbClr val="C0654A"/>
          </a:solidFill>
          <a:ln/>
        </p:spPr>
      </p:sp>
      <p:sp>
        <p:nvSpPr>
          <p:cNvPr id="33" name="Text 31"/>
          <p:cNvSpPr/>
          <p:nvPr/>
        </p:nvSpPr>
        <p:spPr>
          <a:xfrm>
            <a:off x="5436108" y="15087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4754880" y="21488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Got It!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818888" y="2514600"/>
            <a:ext cx="174650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can solve problems on my own and explain my thinking.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54880" y="3520440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○ circle me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858000" y="137160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EAF2F1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584948" y="1508760"/>
            <a:ext cx="512064" cy="512064"/>
          </a:xfrm>
          <a:prstGeom prst="ellipse">
            <a:avLst/>
          </a:prstGeom>
          <a:solidFill>
            <a:srgbClr val="C0654A"/>
          </a:solidFill>
          <a:ln/>
        </p:spPr>
      </p:sp>
      <p:sp>
        <p:nvSpPr>
          <p:cNvPr id="39" name="Text 37"/>
          <p:cNvSpPr/>
          <p:nvPr/>
        </p:nvSpPr>
        <p:spPr>
          <a:xfrm>
            <a:off x="7584948" y="15087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6903720" y="21488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Can Teach It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6967728" y="2514600"/>
            <a:ext cx="174650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can clearly teach this strategy to a classmate.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903720" y="3520440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○ circle me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11480" y="397764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40080" y="3977640"/>
            <a:ext cx="7955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654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My next step:  </a:t>
            </a:r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To move up one level, I will ___.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Neft Teacher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9-5: Ordered Pairs in All Four Quadrants</dc:title>
  <dc:subject>6.NS.6b</dc:subject>
  <dc:creator>Neft Teacher</dc:creator>
  <cp:lastModifiedBy>Neft Teacher</cp:lastModifiedBy>
  <cp:revision>1</cp:revision>
  <dcterms:created xsi:type="dcterms:W3CDTF">2026-06-08T12:10:58Z</dcterms:created>
  <dcterms:modified xsi:type="dcterms:W3CDTF">2026-06-08T12:10:58Z</dcterms:modified>
</cp:coreProperties>
</file>