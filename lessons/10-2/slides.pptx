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 3 × 2.5 = 7.5, not 5.5. Correct: V = 5 × 7.5 = 37.5 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17324D"/>
          </a:solidFill>
          <a:ln/>
        </p:spPr>
      </p:sp>
      <p:sp>
        <p:nvSpPr>
          <p:cNvPr id="3" name="Shape 1"/>
          <p:cNvSpPr/>
          <p:nvPr/>
        </p:nvSpPr>
        <p:spPr>
          <a:xfrm>
            <a:off x="2651760" y="-640080"/>
            <a:ext cx="2011680" cy="2011680"/>
          </a:xfrm>
          <a:prstGeom prst="ellipse">
            <a:avLst/>
          </a:prstGeom>
          <a:solidFill>
            <a:srgbClr val="B0883B">
              <a:alpha val="35000"/>
            </a:srgbClr>
          </a:solidFill>
          <a:ln/>
        </p:spPr>
      </p:sp>
      <p:sp>
        <p:nvSpPr>
          <p:cNvPr id="4" name="Text 2"/>
          <p:cNvSpPr/>
          <p:nvPr/>
        </p:nvSpPr>
        <p:spPr>
          <a:xfrm>
            <a:off x="411480" y="365760"/>
            <a:ext cx="3017520" cy="274320"/>
          </a:xfrm>
          <a:prstGeom prst="rect">
            <a:avLst/>
          </a:prstGeom>
          <a:noFill/>
          <a:ln/>
        </p:spPr>
        <p:txBody>
          <a:bodyPr wrap="square" rtlCol="0" anchor="ctr"/>
          <a:lstStyle/>
          <a:p>
            <a:pPr indent="0" marL="0">
              <a:buNone/>
            </a:pPr>
            <a:r>
              <a:rPr lang="en-US" sz="1100" b="1" spc="200" kern="0" dirty="0">
                <a:solidFill>
                  <a:srgbClr val="BFE6E2"/>
                </a:solidFill>
                <a:latin typeface="Outfit" pitchFamily="34" charset="0"/>
                <a:ea typeface="Outfit" pitchFamily="34" charset="-122"/>
                <a:cs typeface="Outfit" pitchFamily="34" charset="-120"/>
              </a:rPr>
              <a:t>NEFT TEACHER</a:t>
            </a:r>
            <a:endParaRPr lang="en-US" sz="1100" dirty="0"/>
          </a:p>
        </p:txBody>
      </p:sp>
      <p:sp>
        <p:nvSpPr>
          <p:cNvPr id="5" name="Text 3"/>
          <p:cNvSpPr/>
          <p:nvPr/>
        </p:nvSpPr>
        <p:spPr>
          <a:xfrm>
            <a:off x="411480" y="777240"/>
            <a:ext cx="1371600" cy="822960"/>
          </a:xfrm>
          <a:prstGeom prst="rect">
            <a:avLst/>
          </a:prstGeom>
          <a:noFill/>
          <a:ln/>
        </p:spPr>
        <p:txBody>
          <a:bodyPr wrap="square" rtlCol="0" anchor="ctr"/>
          <a:lstStyle/>
          <a:p>
            <a:pPr indent="0" marL="0">
              <a:buNone/>
            </a:pPr>
            <a:r>
              <a:rPr lang="en-US" sz="4400" dirty="0">
                <a:solidFill>
                  <a:srgbClr val="000000"/>
                </a:solidFill>
              </a:rPr>
              <a:t>📦</a:t>
            </a:r>
            <a:endParaRPr lang="en-US" sz="4400" dirty="0"/>
          </a:p>
        </p:txBody>
      </p:sp>
      <p:sp>
        <p:nvSpPr>
          <p:cNvPr id="6" name="Text 4"/>
          <p:cNvSpPr/>
          <p:nvPr/>
        </p:nvSpPr>
        <p:spPr>
          <a:xfrm>
            <a:off x="411480" y="1783080"/>
            <a:ext cx="3017520" cy="1554480"/>
          </a:xfrm>
          <a:prstGeom prst="rect">
            <a:avLst/>
          </a:prstGeom>
          <a:noFill/>
          <a:ln/>
        </p:spPr>
        <p:txBody>
          <a:bodyPr wrap="square" rtlCol="0" anchor="t"/>
          <a:lstStyle/>
          <a:p>
            <a:pPr indent="0" marL="0">
              <a:lnSpc>
                <a:spcPct val="95000"/>
              </a:lnSpc>
              <a:buNone/>
            </a:pPr>
            <a:r>
              <a:rPr lang="en-US" sz="3000" b="1" dirty="0">
                <a:solidFill>
                  <a:srgbClr val="FFFFFF"/>
                </a:solidFill>
                <a:latin typeface="Outfit" pitchFamily="34" charset="0"/>
                <a:ea typeface="Outfit" pitchFamily="34" charset="-122"/>
                <a:cs typeface="Outfit" pitchFamily="34" charset="-120"/>
              </a:rPr>
              <a:t>Volume of Rectangular Prisms</a:t>
            </a:r>
            <a:endParaRPr lang="en-US" sz="3000" dirty="0"/>
          </a:p>
        </p:txBody>
      </p:sp>
      <p:sp>
        <p:nvSpPr>
          <p:cNvPr id="7" name="Text 5"/>
          <p:cNvSpPr/>
          <p:nvPr/>
        </p:nvSpPr>
        <p:spPr>
          <a:xfrm>
            <a:off x="411480" y="4160520"/>
            <a:ext cx="1188720" cy="310896"/>
          </a:xfrm>
          <a:prstGeom prst="rect">
            <a:avLst>
              <a:gd name="adj" fmla="val 50000"/>
            </a:avLst>
          </a:prstGeom>
          <a:solidFill>
            <a:srgbClr val="B0883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6.G.2</a:t>
            </a:r>
            <a:endParaRPr lang="en-US" sz="1000" dirty="0"/>
          </a:p>
        </p:txBody>
      </p:sp>
      <p:sp>
        <p:nvSpPr>
          <p:cNvPr id="8" name="Text 6"/>
          <p:cNvSpPr/>
          <p:nvPr/>
        </p:nvSpPr>
        <p:spPr>
          <a:xfrm>
            <a:off x="1691640" y="4160520"/>
            <a:ext cx="1920240" cy="310896"/>
          </a:xfrm>
          <a:prstGeom prst="rect">
            <a:avLst/>
          </a:prstGeom>
          <a:noFill/>
          <a:ln/>
        </p:spPr>
        <p:txBody>
          <a:bodyPr wrap="square" rtlCol="0" anchor="ctr"/>
          <a:lstStyle/>
          <a:p>
            <a:pPr indent="0" marL="0">
              <a:buNone/>
            </a:pPr>
            <a:r>
              <a:rPr lang="en-US" sz="1000" dirty="0">
                <a:solidFill>
                  <a:srgbClr val="BFE6E2"/>
                </a:solidFill>
                <a:latin typeface="Hanken Grotesk" pitchFamily="34" charset="0"/>
                <a:ea typeface="Hanken Grotesk" pitchFamily="34" charset="-122"/>
                <a:cs typeface="Hanken Grotesk" pitchFamily="34" charset="-120"/>
              </a:rPr>
              <a:t>Unit 10  ·  Lesson 10-2</a:t>
            </a:r>
            <a:endParaRPr lang="en-US" sz="1000" dirty="0"/>
          </a:p>
        </p:txBody>
      </p:sp>
      <p:sp>
        <p:nvSpPr>
          <p:cNvPr id="9" name="Shape 7"/>
          <p:cNvSpPr/>
          <p:nvPr/>
        </p:nvSpPr>
        <p:spPr>
          <a:xfrm>
            <a:off x="4023360" y="411480"/>
            <a:ext cx="4800600" cy="1417320"/>
          </a:xfrm>
          <a:prstGeom prst="roundRect">
            <a:avLst>
              <a:gd name="adj" fmla="val 516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0" name="Text 8"/>
          <p:cNvSpPr/>
          <p:nvPr/>
        </p:nvSpPr>
        <p:spPr>
          <a:xfrm>
            <a:off x="4251960" y="548640"/>
            <a:ext cx="4389120" cy="365760"/>
          </a:xfrm>
          <a:prstGeom prst="rect">
            <a:avLst/>
          </a:prstGeom>
          <a:noFill/>
          <a:ln/>
        </p:spPr>
        <p:txBody>
          <a:bodyPr wrap="square" rtlCol="0" anchor="ctr"/>
          <a:lstStyle/>
          <a:p>
            <a:pPr indent="0" marL="0">
              <a:buNone/>
            </a:pPr>
            <a:r>
              <a:rPr lang="en-US" sz="1600" b="1" dirty="0">
                <a:solidFill>
                  <a:srgbClr val="17324D"/>
                </a:solidFill>
                <a:latin typeface="Outfit" pitchFamily="34" charset="0"/>
                <a:ea typeface="Outfit" pitchFamily="34" charset="-122"/>
                <a:cs typeface="Outfit" pitchFamily="34" charset="-120"/>
              </a:rPr>
              <a:t>My Math Notebook</a:t>
            </a:r>
            <a:endParaRPr lang="en-US" sz="1600" dirty="0"/>
          </a:p>
        </p:txBody>
      </p:sp>
      <p:sp>
        <p:nvSpPr>
          <p:cNvPr id="11" name="Text 9"/>
          <p:cNvSpPr/>
          <p:nvPr/>
        </p:nvSpPr>
        <p:spPr>
          <a:xfrm>
            <a:off x="4251960" y="1024128"/>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Name:</a:t>
            </a:r>
            <a:endParaRPr lang="en-US" sz="1000" dirty="0"/>
          </a:p>
        </p:txBody>
      </p:sp>
      <p:sp>
        <p:nvSpPr>
          <p:cNvPr id="12" name="Shape 10"/>
          <p:cNvSpPr/>
          <p:nvPr/>
        </p:nvSpPr>
        <p:spPr>
          <a:xfrm>
            <a:off x="4983480" y="1207008"/>
            <a:ext cx="3566160" cy="0"/>
          </a:xfrm>
          <a:prstGeom prst="line">
            <a:avLst/>
          </a:prstGeom>
          <a:noFill/>
          <a:ln w="9525">
            <a:solidFill>
              <a:srgbClr val="C7CDD2"/>
            </a:solidFill>
            <a:prstDash val="solid"/>
          </a:ln>
        </p:spPr>
      </p:sp>
      <p:sp>
        <p:nvSpPr>
          <p:cNvPr id="13" name="Text 11"/>
          <p:cNvSpPr/>
          <p:nvPr/>
        </p:nvSpPr>
        <p:spPr>
          <a:xfrm>
            <a:off x="4251960" y="1280160"/>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Date:</a:t>
            </a:r>
            <a:endParaRPr lang="en-US" sz="1000" dirty="0"/>
          </a:p>
        </p:txBody>
      </p:sp>
      <p:sp>
        <p:nvSpPr>
          <p:cNvPr id="14" name="Shape 12"/>
          <p:cNvSpPr/>
          <p:nvPr/>
        </p:nvSpPr>
        <p:spPr>
          <a:xfrm>
            <a:off x="4983480" y="1463040"/>
            <a:ext cx="3566160" cy="0"/>
          </a:xfrm>
          <a:prstGeom prst="line">
            <a:avLst/>
          </a:prstGeom>
          <a:noFill/>
          <a:ln w="9525">
            <a:solidFill>
              <a:srgbClr val="C7CDD2"/>
            </a:solidFill>
            <a:prstDash val="solid"/>
          </a:ln>
        </p:spPr>
      </p:sp>
      <p:sp>
        <p:nvSpPr>
          <p:cNvPr id="15" name="Text 13"/>
          <p:cNvSpPr/>
          <p:nvPr/>
        </p:nvSpPr>
        <p:spPr>
          <a:xfrm>
            <a:off x="4251960" y="1536192"/>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Period:</a:t>
            </a:r>
            <a:endParaRPr lang="en-US" sz="1000" dirty="0"/>
          </a:p>
        </p:txBody>
      </p:sp>
      <p:sp>
        <p:nvSpPr>
          <p:cNvPr id="16" name="Shape 14"/>
          <p:cNvSpPr/>
          <p:nvPr/>
        </p:nvSpPr>
        <p:spPr>
          <a:xfrm>
            <a:off x="4983480" y="1719072"/>
            <a:ext cx="3566160" cy="0"/>
          </a:xfrm>
          <a:prstGeom prst="line">
            <a:avLst/>
          </a:prstGeom>
          <a:noFill/>
          <a:ln w="9525">
            <a:solidFill>
              <a:srgbClr val="C7CDD2"/>
            </a:solidFill>
            <a:prstDash val="solid"/>
          </a:ln>
        </p:spPr>
      </p:sp>
      <p:sp>
        <p:nvSpPr>
          <p:cNvPr id="17" name="Shape 15"/>
          <p:cNvSpPr/>
          <p:nvPr/>
        </p:nvSpPr>
        <p:spPr>
          <a:xfrm>
            <a:off x="4023360" y="2011680"/>
            <a:ext cx="4800600" cy="1143000"/>
          </a:xfrm>
          <a:prstGeom prst="roundRect">
            <a:avLst>
              <a:gd name="adj" fmla="val 6400"/>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206240" y="2103120"/>
            <a:ext cx="4434840" cy="274320"/>
          </a:xfrm>
          <a:prstGeom prst="rect">
            <a:avLst/>
          </a:prstGeom>
          <a:noFill/>
          <a:ln/>
        </p:spPr>
        <p:txBody>
          <a:bodyPr wrap="square" rtlCol="0" anchor="ctr"/>
          <a:lstStyle/>
          <a:p>
            <a:pPr indent="0" marL="0">
              <a:buNone/>
            </a:pPr>
            <a:r>
              <a:rPr lang="en-US" sz="1100" b="1" dirty="0">
                <a:solidFill>
                  <a:srgbClr val="B0883B"/>
                </a:solidFill>
                <a:latin typeface="Outfit" pitchFamily="34" charset="0"/>
                <a:ea typeface="Outfit" pitchFamily="34" charset="-122"/>
                <a:cs typeface="Outfit" pitchFamily="34" charset="-120"/>
              </a:rPr>
              <a:t>I CAN…  </a:t>
            </a:r>
            <a:pPr indent="0" marL="0">
              <a:buNone/>
            </a:pPr>
            <a:r>
              <a:rPr lang="en-US" sz="900" i="1" dirty="0">
                <a:solidFill>
                  <a:srgbClr val="8A96A3"/>
                </a:solidFill>
                <a:latin typeface="Outfit" pitchFamily="34" charset="0"/>
                <a:ea typeface="Outfit" pitchFamily="34" charset="-122"/>
                <a:cs typeface="Outfit" pitchFamily="34" charset="-120"/>
              </a:rPr>
              <a:t>/ Yo puedo…</a:t>
            </a:r>
            <a:endParaRPr lang="en-US" sz="1100" dirty="0"/>
          </a:p>
        </p:txBody>
      </p:sp>
      <p:sp>
        <p:nvSpPr>
          <p:cNvPr id="19" name="Text 17"/>
          <p:cNvSpPr/>
          <p:nvPr/>
        </p:nvSpPr>
        <p:spPr>
          <a:xfrm>
            <a:off x="4206240" y="2395728"/>
            <a:ext cx="4434840" cy="713232"/>
          </a:xfrm>
          <a:prstGeom prst="rect">
            <a:avLst/>
          </a:prstGeom>
          <a:noFill/>
          <a:ln/>
        </p:spPr>
        <p:txBody>
          <a:bodyPr wrap="square" rtlCol="0" anchor="t"/>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I can find the volume of a rectangular prism, including ones with fractional edge lengths, using base area × height.</a:t>
            </a:r>
            <a:endParaRPr lang="en-US" sz="1100" dirty="0"/>
          </a:p>
        </p:txBody>
      </p:sp>
      <p:sp>
        <p:nvSpPr>
          <p:cNvPr id="20" name="Shape 18"/>
          <p:cNvSpPr/>
          <p:nvPr/>
        </p:nvSpPr>
        <p:spPr>
          <a:xfrm>
            <a:off x="4023360" y="3291840"/>
            <a:ext cx="4800600" cy="1280160"/>
          </a:xfrm>
          <a:prstGeom prst="roundRect">
            <a:avLst>
              <a:gd name="adj" fmla="val 5714"/>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4206240" y="3383280"/>
            <a:ext cx="4434840" cy="274320"/>
          </a:xfrm>
          <a:prstGeom prst="rect">
            <a:avLst/>
          </a:prstGeom>
          <a:noFill/>
          <a:ln/>
        </p:spPr>
        <p:txBody>
          <a:bodyPr wrap="square" rtlCol="0" anchor="ctr"/>
          <a:lstStyle/>
          <a:p>
            <a:pPr indent="0" marL="0">
              <a:buNone/>
            </a:pPr>
            <a:r>
              <a:rPr lang="en-US" sz="1100" b="1" dirty="0">
                <a:solidFill>
                  <a:srgbClr val="B0883B"/>
                </a:solidFill>
                <a:latin typeface="Outfit" pitchFamily="34" charset="0"/>
                <a:ea typeface="Outfit" pitchFamily="34" charset="-122"/>
                <a:cs typeface="Outfit" pitchFamily="34" charset="-120"/>
              </a:rPr>
              <a:t>I WILL EXPLAIN…  </a:t>
            </a:r>
            <a:pPr indent="0" marL="0">
              <a:buNone/>
            </a:pPr>
            <a:r>
              <a:rPr lang="en-US" sz="900" i="1" dirty="0">
                <a:solidFill>
                  <a:srgbClr val="8A96A3"/>
                </a:solidFill>
                <a:latin typeface="Outfit" pitchFamily="34" charset="0"/>
                <a:ea typeface="Outfit" pitchFamily="34" charset="-122"/>
                <a:cs typeface="Outfit" pitchFamily="34" charset="-120"/>
              </a:rPr>
              <a:t>/ Objetivo de lenguaje</a:t>
            </a:r>
            <a:endParaRPr lang="en-US" sz="1100" dirty="0"/>
          </a:p>
        </p:txBody>
      </p:sp>
      <p:sp>
        <p:nvSpPr>
          <p:cNvPr id="22" name="Text 20"/>
          <p:cNvSpPr/>
          <p:nvPr/>
        </p:nvSpPr>
        <p:spPr>
          <a:xfrm>
            <a:off x="4206240" y="3675888"/>
            <a:ext cx="4434840" cy="841248"/>
          </a:xfrm>
          <a:prstGeom prst="rect">
            <a:avLst/>
          </a:prstGeom>
          <a:noFill/>
          <a:ln/>
        </p:spPr>
        <p:txBody>
          <a:bodyPr wrap="square" rtlCol="0" anchor="t"/>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can explain my work using the words volume, rectangular prism, dimensions, and base area.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Be Curious / Sé Curioso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2</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3716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VISUAL PROMPT</a:t>
            </a:r>
            <a:endParaRPr lang="en-US" sz="900" dirty="0"/>
          </a:p>
        </p:txBody>
      </p:sp>
      <p:sp>
        <p:nvSpPr>
          <p:cNvPr id="19" name="Text 17"/>
          <p:cNvSpPr/>
          <p:nvPr/>
        </p:nvSpPr>
        <p:spPr>
          <a:xfrm>
            <a:off x="594360" y="1207008"/>
            <a:ext cx="379476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Time Capsule Project</a:t>
            </a:r>
            <a:endParaRPr lang="en-US" sz="1100" dirty="0"/>
          </a:p>
        </p:txBody>
      </p:sp>
      <p:sp>
        <p:nvSpPr>
          <p:cNvPr id="20" name="Text 18"/>
          <p:cNvSpPr/>
          <p:nvPr/>
        </p:nvSpPr>
        <p:spPr>
          <a:xfrm>
            <a:off x="594360" y="1508760"/>
            <a:ext cx="3794760" cy="1554480"/>
          </a:xfrm>
          <a:prstGeom prst="rect">
            <a:avLst/>
          </a:prstGeom>
          <a:noFill/>
          <a:ln/>
        </p:spPr>
        <p:txBody>
          <a:bodyPr wrap="square" rtlCol="0" anchor="t"/>
          <a:lstStyle/>
          <a:p>
            <a:pPr indent="0" marL="0">
              <a:buNone/>
            </a:pPr>
            <a:r>
              <a:rPr lang="en-US" sz="1150" dirty="0">
                <a:solidFill>
                  <a:srgbClr val="24323F"/>
                </a:solidFill>
                <a:latin typeface="Hanken Grotesk" pitchFamily="34" charset="0"/>
                <a:ea typeface="Hanken Grotesk" pitchFamily="34" charset="-122"/>
                <a:cs typeface="Hanken Grotesk" pitchFamily="34" charset="-120"/>
              </a:rPr>
              <a:t>Your class is building a time capsule to bury on school grounds. The capsule is a rectangular prism that is 2 feet long, 1.5 feet wide, and 1 foot tall. You need to figure out how much stuff can fit inside — that means calculating the volume!</a:t>
            </a:r>
            <a:endParaRPr lang="en-US" sz="1150" dirty="0"/>
          </a:p>
        </p:txBody>
      </p:sp>
      <p:sp>
        <p:nvSpPr>
          <p:cNvPr id="21" name="Text 19"/>
          <p:cNvSpPr/>
          <p:nvPr/>
        </p:nvSpPr>
        <p:spPr>
          <a:xfrm>
            <a:off x="594360" y="3154680"/>
            <a:ext cx="365760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first idea:</a:t>
            </a:r>
            <a:endParaRPr lang="en-US" sz="900" dirty="0"/>
          </a:p>
        </p:txBody>
      </p:sp>
      <p:sp>
        <p:nvSpPr>
          <p:cNvPr id="22" name="Shape 20"/>
          <p:cNvSpPr/>
          <p:nvPr/>
        </p:nvSpPr>
        <p:spPr>
          <a:xfrm>
            <a:off x="594360" y="3566160"/>
            <a:ext cx="3794760" cy="0"/>
          </a:xfrm>
          <a:prstGeom prst="line">
            <a:avLst/>
          </a:prstGeom>
          <a:noFill/>
          <a:ln w="9525">
            <a:solidFill>
              <a:srgbClr val="C7CDD2"/>
            </a:solidFill>
            <a:prstDash val="dash"/>
          </a:ln>
        </p:spPr>
      </p:sp>
      <p:sp>
        <p:nvSpPr>
          <p:cNvPr id="23" name="Shape 21"/>
          <p:cNvSpPr/>
          <p:nvPr/>
        </p:nvSpPr>
        <p:spPr>
          <a:xfrm>
            <a:off x="594360" y="3886200"/>
            <a:ext cx="3794760" cy="0"/>
          </a:xfrm>
          <a:prstGeom prst="line">
            <a:avLst/>
          </a:prstGeom>
          <a:noFill/>
          <a:ln w="9525">
            <a:solidFill>
              <a:srgbClr val="C7CDD2"/>
            </a:solidFill>
            <a:prstDash val="dash"/>
          </a:ln>
        </p:spPr>
      </p:sp>
      <p:sp>
        <p:nvSpPr>
          <p:cNvPr id="24" name="Shape 22"/>
          <p:cNvSpPr/>
          <p:nvPr/>
        </p:nvSpPr>
        <p:spPr>
          <a:xfrm>
            <a:off x="594360" y="4206240"/>
            <a:ext cx="3794760" cy="0"/>
          </a:xfrm>
          <a:prstGeom prst="line">
            <a:avLst/>
          </a:prstGeom>
          <a:noFill/>
          <a:ln w="9525">
            <a:solidFill>
              <a:srgbClr val="C7CDD2"/>
            </a:solidFill>
            <a:prstDash val="dash"/>
          </a:ln>
        </p:spPr>
      </p:sp>
      <p:sp>
        <p:nvSpPr>
          <p:cNvPr id="25" name="Shape 23"/>
          <p:cNvSpPr/>
          <p:nvPr/>
        </p:nvSpPr>
        <p:spPr>
          <a:xfrm>
            <a:off x="4709160" y="685800"/>
            <a:ext cx="4114800" cy="1920240"/>
          </a:xfrm>
          <a:prstGeom prst="roundRect">
            <a:avLst>
              <a:gd name="adj" fmla="val 381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4709160" y="685800"/>
            <a:ext cx="411480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I Notice…</a:t>
            </a:r>
            <a:endParaRPr lang="en-US" sz="1000" dirty="0"/>
          </a:p>
        </p:txBody>
      </p:sp>
      <p:sp>
        <p:nvSpPr>
          <p:cNvPr id="27" name="Text 25"/>
          <p:cNvSpPr/>
          <p:nvPr/>
        </p:nvSpPr>
        <p:spPr>
          <a:xfrm>
            <a:off x="4892040" y="1051560"/>
            <a:ext cx="3749040" cy="146304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are the three measurements of the time capsule?</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does volume measure — length, area, or space inside?</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How is volume different from area?</a:t>
            </a:r>
            <a:endParaRPr lang="en-US" sz="1000" dirty="0"/>
          </a:p>
        </p:txBody>
      </p:sp>
      <p:sp>
        <p:nvSpPr>
          <p:cNvPr id="28" name="Shape 26"/>
          <p:cNvSpPr/>
          <p:nvPr/>
        </p:nvSpPr>
        <p:spPr>
          <a:xfrm>
            <a:off x="4709160" y="2743200"/>
            <a:ext cx="4114800" cy="1965960"/>
          </a:xfrm>
          <a:prstGeom prst="roundRect">
            <a:avLst>
              <a:gd name="adj" fmla="val 372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4709160" y="2743200"/>
            <a:ext cx="411480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I Wonder…</a:t>
            </a:r>
            <a:endParaRPr lang="en-US" sz="1000" dirty="0"/>
          </a:p>
        </p:txBody>
      </p:sp>
      <p:sp>
        <p:nvSpPr>
          <p:cNvPr id="30" name="Text 28"/>
          <p:cNvSpPr/>
          <p:nvPr/>
        </p:nvSpPr>
        <p:spPr>
          <a:xfrm>
            <a:off x="4892040" y="3108960"/>
            <a:ext cx="3749040" cy="150876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if we made the capsule taller but narrower — would the volume change?</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What units do we use for volume versus area?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Vocabulary / Vocabulario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685800"/>
          <a:ext cx="8412480" cy="914400"/>
        </p:xfrm>
        <a:graphic>
          <a:graphicData uri="http://schemas.openxmlformats.org/drawingml/2006/table">
            <a:tbl>
              <a:tblPr/>
              <a:tblGrid>
                <a:gridCol w="2103120"/>
                <a:gridCol w="4114800"/>
                <a:gridCol w="2194560"/>
              </a:tblGrid>
              <a:tr h="457200">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Term / Término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Meaning / Significado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Example / Ejemplo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Volume</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Volumen</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How much space is inside a solid shape.</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Cuánto espacio hay dentro de una figura sólida.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A box 2 × 1.5 × 1 = 3 ft³ — it holds 3 cubic feet of stuff</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Rectangular prism</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Prisma rectangular</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solid box shape with six flat rectangle sides.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figura sólida en forma de caja con seis lados rectangulares.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A tissue box, a fish tank, a brick — all rectangular prisms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Cubic units</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Unidades cúbicas</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units used to measure space inside, like cubic inches.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Las unidades para medir el espacio interior, como pulgadas cúbicas.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1 ft³ = a cube that is 1 foot on every edge</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Dimensions</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Dimensiones</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How long, how wide, and how tall a shape is.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Qué tan largo, ancho y alto es una figura.</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A box with dimensions 4 × 3 × 2 means l = 4, w = 3, h = 2</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Net</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Plantilla (desarrollo plano)</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A flat shape that folds up into a solid.</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Una figura plana que se dobla y forma un sólido.</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Cut a cereal box along its edges, unfold it flat — that is the net</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Guided Practice / Práctica Guiada</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4</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73736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WE DO TOGETHER</a:t>
            </a:r>
            <a:endParaRPr lang="en-US" sz="900" dirty="0"/>
          </a:p>
        </p:txBody>
      </p:sp>
      <p:sp>
        <p:nvSpPr>
          <p:cNvPr id="19" name="Text 17"/>
          <p:cNvSpPr/>
          <p:nvPr/>
        </p:nvSpPr>
        <p:spPr>
          <a:xfrm>
            <a:off x="594360" y="1188720"/>
            <a:ext cx="512064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How do we find volume when an edge is a fraction?</a:t>
            </a:r>
            <a:endParaRPr lang="en-US" sz="1200" dirty="0"/>
          </a:p>
        </p:txBody>
      </p:sp>
      <p:sp>
        <p:nvSpPr>
          <p:cNvPr id="20" name="Shape 18"/>
          <p:cNvSpPr/>
          <p:nvPr/>
        </p:nvSpPr>
        <p:spPr>
          <a:xfrm>
            <a:off x="640080" y="1609344"/>
            <a:ext cx="274320" cy="274320"/>
          </a:xfrm>
          <a:prstGeom prst="ellipse">
            <a:avLst/>
          </a:prstGeom>
          <a:solidFill>
            <a:srgbClr val="B0883B"/>
          </a:solidFill>
          <a:ln/>
        </p:spPr>
      </p:sp>
      <p:sp>
        <p:nvSpPr>
          <p:cNvPr id="21" name="Text 19"/>
          <p:cNvSpPr/>
          <p:nvPr/>
        </p:nvSpPr>
        <p:spPr>
          <a:xfrm>
            <a:off x="640080" y="160934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2" name="Text 20"/>
          <p:cNvSpPr/>
          <p:nvPr/>
        </p:nvSpPr>
        <p:spPr>
          <a:xfrm>
            <a:off x="1024128" y="1554480"/>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Now try a box that is 4 long, 2 wide, and 0.5 tall. What formula do we use?</a:t>
            </a:r>
            <a:endParaRPr lang="en-US" sz="1050" dirty="0"/>
          </a:p>
        </p:txBody>
      </p:sp>
      <p:sp>
        <p:nvSpPr>
          <p:cNvPr id="23" name="Shape 21"/>
          <p:cNvSpPr/>
          <p:nvPr/>
        </p:nvSpPr>
        <p:spPr>
          <a:xfrm>
            <a:off x="640080" y="2084832"/>
            <a:ext cx="274320" cy="274320"/>
          </a:xfrm>
          <a:prstGeom prst="ellipse">
            <a:avLst/>
          </a:prstGeom>
          <a:solidFill>
            <a:srgbClr val="B0883B"/>
          </a:solidFill>
          <a:ln/>
        </p:spPr>
      </p:sp>
      <p:sp>
        <p:nvSpPr>
          <p:cNvPr id="24" name="Text 22"/>
          <p:cNvSpPr/>
          <p:nvPr/>
        </p:nvSpPr>
        <p:spPr>
          <a:xfrm>
            <a:off x="640080" y="208483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5" name="Text 23"/>
          <p:cNvSpPr/>
          <p:nvPr/>
        </p:nvSpPr>
        <p:spPr>
          <a:xfrm>
            <a:off x="1024128" y="2029968"/>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Put in the numbers: V = 4 × 2 × 0.5. What is 4 × 2?</a:t>
            </a:r>
            <a:endParaRPr lang="en-US" sz="1050" dirty="0"/>
          </a:p>
        </p:txBody>
      </p:sp>
      <p:sp>
        <p:nvSpPr>
          <p:cNvPr id="26" name="Shape 24"/>
          <p:cNvSpPr/>
          <p:nvPr/>
        </p:nvSpPr>
        <p:spPr>
          <a:xfrm>
            <a:off x="640080" y="2560320"/>
            <a:ext cx="274320" cy="274320"/>
          </a:xfrm>
          <a:prstGeom prst="ellipse">
            <a:avLst/>
          </a:prstGeom>
          <a:solidFill>
            <a:srgbClr val="B0883B"/>
          </a:solidFill>
          <a:ln/>
        </p:spPr>
      </p:sp>
      <p:sp>
        <p:nvSpPr>
          <p:cNvPr id="27" name="Text 25"/>
          <p:cNvSpPr/>
          <p:nvPr/>
        </p:nvSpPr>
        <p:spPr>
          <a:xfrm>
            <a:off x="640080" y="256032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8" name="Text 26"/>
          <p:cNvSpPr/>
          <p:nvPr/>
        </p:nvSpPr>
        <p:spPr>
          <a:xfrm>
            <a:off x="1024128" y="2505456"/>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We got 8. Now multiply 8 × 0.5 (that means half of 8). What is the volume?</a:t>
            </a:r>
            <a:endParaRPr lang="en-US" sz="1050" dirty="0"/>
          </a:p>
        </p:txBody>
      </p:sp>
      <p:sp>
        <p:nvSpPr>
          <p:cNvPr id="29" name="Shape 27"/>
          <p:cNvSpPr/>
          <p:nvPr/>
        </p:nvSpPr>
        <p:spPr>
          <a:xfrm>
            <a:off x="640080" y="3035808"/>
            <a:ext cx="274320" cy="274320"/>
          </a:xfrm>
          <a:prstGeom prst="ellipse">
            <a:avLst/>
          </a:prstGeom>
          <a:solidFill>
            <a:srgbClr val="B0883B"/>
          </a:solidFill>
          <a:ln/>
        </p:spPr>
      </p:sp>
      <p:sp>
        <p:nvSpPr>
          <p:cNvPr id="30" name="Text 28"/>
          <p:cNvSpPr/>
          <p:nvPr/>
        </p:nvSpPr>
        <p:spPr>
          <a:xfrm>
            <a:off x="640080" y="303580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1" name="Text 29"/>
          <p:cNvSpPr/>
          <p:nvPr/>
        </p:nvSpPr>
        <p:spPr>
          <a:xfrm>
            <a:off x="1024128" y="2980944"/>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Yes, V = 4 cubic units. The decimal edge just made the answer a little smaller.</a:t>
            </a:r>
            <a:endParaRPr lang="en-US" sz="1050" dirty="0"/>
          </a:p>
        </p:txBody>
      </p:sp>
      <p:sp>
        <p:nvSpPr>
          <p:cNvPr id="32" name="Text 30"/>
          <p:cNvSpPr/>
          <p:nvPr/>
        </p:nvSpPr>
        <p:spPr>
          <a:xfrm>
            <a:off x="594360" y="3886200"/>
            <a:ext cx="512064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Your turn — show your work:</a:t>
            </a:r>
            <a:endParaRPr lang="en-US" sz="900" dirty="0"/>
          </a:p>
        </p:txBody>
      </p:sp>
      <p:sp>
        <p:nvSpPr>
          <p:cNvPr id="33" name="Shape 31"/>
          <p:cNvSpPr/>
          <p:nvPr/>
        </p:nvSpPr>
        <p:spPr>
          <a:xfrm>
            <a:off x="640080" y="4297680"/>
            <a:ext cx="5120640" cy="0"/>
          </a:xfrm>
          <a:prstGeom prst="line">
            <a:avLst/>
          </a:prstGeom>
          <a:noFill/>
          <a:ln w="9525">
            <a:solidFill>
              <a:srgbClr val="C7CDD2"/>
            </a:solidFill>
            <a:prstDash val="dash"/>
          </a:ln>
        </p:spPr>
      </p:sp>
      <p:sp>
        <p:nvSpPr>
          <p:cNvPr id="34" name="Shape 32"/>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6" name="Text 34"/>
          <p:cNvSpPr/>
          <p:nvPr/>
        </p:nvSpPr>
        <p:spPr>
          <a:xfrm>
            <a:off x="6217920" y="1097280"/>
            <a:ext cx="2468880" cy="146304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Your time capsule is 2 ft long, 1.5 ft wide, and 1 ft tall — one edge is a fraction. Does having a fractional edge change how you find the volume? Why or why not?</a:t>
            </a:r>
            <a:endParaRPr lang="en-US" sz="1000" dirty="0"/>
          </a:p>
        </p:txBody>
      </p:sp>
      <p:sp>
        <p:nvSpPr>
          <p:cNvPr id="37" name="Shape 35"/>
          <p:cNvSpPr/>
          <p:nvPr/>
        </p:nvSpPr>
        <p:spPr>
          <a:xfrm>
            <a:off x="6172200" y="2743200"/>
            <a:ext cx="2514600" cy="1828800"/>
          </a:xfrm>
          <a:prstGeom prst="roundRect">
            <a:avLst>
              <a:gd name="adj" fmla="val 40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Text 36"/>
          <p:cNvSpPr/>
          <p:nvPr/>
        </p:nvSpPr>
        <p:spPr>
          <a:xfrm>
            <a:off x="6309360" y="2834640"/>
            <a:ext cx="2286000" cy="228600"/>
          </a:xfrm>
          <a:prstGeom prst="rect">
            <a:avLst/>
          </a:prstGeom>
          <a:noFill/>
          <a:ln/>
        </p:spPr>
        <p:txBody>
          <a:bodyPr wrap="square" rtlCol="0" anchor="ctr"/>
          <a:lstStyle/>
          <a:p>
            <a:pPr indent="0" marL="0">
              <a:buNone/>
            </a:pPr>
            <a:r>
              <a:rPr lang="en-US" sz="950" b="1" dirty="0">
                <a:solidFill>
                  <a:srgbClr val="B0883B"/>
                </a:solidFill>
                <a:latin typeface="Outfit" pitchFamily="34" charset="0"/>
                <a:ea typeface="Outfit" pitchFamily="34" charset="-122"/>
                <a:cs typeface="Outfit" pitchFamily="34" charset="-120"/>
              </a:rPr>
              <a:t>🔑 Key Idea</a:t>
            </a:r>
            <a:endParaRPr lang="en-US" sz="950" dirty="0"/>
          </a:p>
        </p:txBody>
      </p:sp>
      <p:sp>
        <p:nvSpPr>
          <p:cNvPr id="39" name="Text 37"/>
          <p:cNvSpPr/>
          <p:nvPr/>
        </p:nvSpPr>
        <p:spPr>
          <a:xfrm>
            <a:off x="6309360" y="3108960"/>
            <a:ext cx="2286000" cy="1371600"/>
          </a:xfrm>
          <a:prstGeom prst="rect">
            <a:avLst/>
          </a:prstGeom>
          <a:noFill/>
          <a:ln/>
        </p:spPr>
        <p:txBody>
          <a:bodyPr wrap="square" rtlCol="0" anchor="t"/>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 fractional edge does not change the rule: still multiply length × width × height.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Sort It Out / Clasifícalo</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5</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22960"/>
            <a:ext cx="5120640" cy="365760"/>
          </a:xfrm>
          <a:prstGeom prst="rect">
            <a:avLst/>
          </a:prstGeom>
          <a:noFill/>
          <a:ln/>
        </p:spPr>
        <p:txBody>
          <a:bodyPr wrap="square" rtlCol="0" anchor="ctr"/>
          <a:lstStyle/>
          <a:p>
            <a:pPr indent="0" marL="0">
              <a:buNone/>
            </a:pPr>
            <a:r>
              <a:rPr lang="en-US" sz="1050" b="1" dirty="0">
                <a:solidFill>
                  <a:srgbClr val="17324D"/>
                </a:solidFill>
                <a:latin typeface="Outfit" pitchFamily="34" charset="0"/>
                <a:ea typeface="Outfit" pitchFamily="34" charset="-122"/>
                <a:cs typeface="Outfit" pitchFamily="34" charset="-120"/>
              </a:rPr>
              <a:t>Calculate the volume of each possible time capsule design. Use V = l × w × h.</a:t>
            </a:r>
            <a:endParaRPr lang="en-US" sz="1050" dirty="0"/>
          </a:p>
        </p:txBody>
      </p:sp>
      <p:sp>
        <p:nvSpPr>
          <p:cNvPr id="19" name="Text 17"/>
          <p:cNvSpPr/>
          <p:nvPr/>
        </p:nvSpPr>
        <p:spPr>
          <a:xfrm>
            <a:off x="594360" y="1234440"/>
            <a:ext cx="5120640" cy="219456"/>
          </a:xfrm>
          <a:prstGeom prst="rect">
            <a:avLst/>
          </a:prstGeom>
          <a:noFill/>
          <a:ln/>
        </p:spPr>
        <p:txBody>
          <a:bodyPr wrap="square" rtlCol="0" anchor="ctr"/>
          <a:lstStyle/>
          <a:p>
            <a:pPr indent="0" marL="0">
              <a:buNone/>
            </a:pPr>
            <a:r>
              <a:rPr lang="en-US" sz="850" i="1" dirty="0">
                <a:solidFill>
                  <a:srgbClr val="8A96A3"/>
                </a:solidFill>
                <a:latin typeface="Hanken Grotesk" pitchFamily="34" charset="0"/>
                <a:ea typeface="Hanken Grotesk" pitchFamily="34" charset="-122"/>
                <a:cs typeface="Hanken Grotesk" pitchFamily="34" charset="-120"/>
              </a:rPr>
              <a:t>Card Bank — cut or sort these cards:</a:t>
            </a:r>
            <a:endParaRPr lang="en-US" sz="850" dirty="0"/>
          </a:p>
        </p:txBody>
      </p:sp>
      <p:sp>
        <p:nvSpPr>
          <p:cNvPr id="20" name="Shape 18"/>
          <p:cNvSpPr/>
          <p:nvPr/>
        </p:nvSpPr>
        <p:spPr>
          <a:xfrm>
            <a:off x="59436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68580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1</a:t>
            </a:r>
            <a:endParaRPr lang="en-US" sz="900" dirty="0"/>
          </a:p>
        </p:txBody>
      </p:sp>
      <p:sp>
        <p:nvSpPr>
          <p:cNvPr id="22" name="Shape 20"/>
          <p:cNvSpPr/>
          <p:nvPr/>
        </p:nvSpPr>
        <p:spPr>
          <a:xfrm>
            <a:off x="236220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245364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2</a:t>
            </a:r>
            <a:endParaRPr lang="en-US" sz="900" dirty="0"/>
          </a:p>
        </p:txBody>
      </p:sp>
      <p:sp>
        <p:nvSpPr>
          <p:cNvPr id="24" name="Shape 22"/>
          <p:cNvSpPr/>
          <p:nvPr/>
        </p:nvSpPr>
        <p:spPr>
          <a:xfrm>
            <a:off x="4130040" y="1481328"/>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4221480" y="1481328"/>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3</a:t>
            </a:r>
            <a:endParaRPr lang="en-US" sz="900" dirty="0"/>
          </a:p>
        </p:txBody>
      </p:sp>
      <p:sp>
        <p:nvSpPr>
          <p:cNvPr id="26" name="Shape 24"/>
          <p:cNvSpPr/>
          <p:nvPr/>
        </p:nvSpPr>
        <p:spPr>
          <a:xfrm>
            <a:off x="594360" y="1975104"/>
            <a:ext cx="1630680" cy="384048"/>
          </a:xfrm>
          <a:prstGeom prst="roundRect">
            <a:avLst>
              <a:gd name="adj" fmla="val 11905"/>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685800" y="1975104"/>
            <a:ext cx="1447800" cy="384048"/>
          </a:xfrm>
          <a:prstGeom prst="rect">
            <a:avLst/>
          </a:prstGeom>
          <a:noFill/>
          <a:ln/>
        </p:spPr>
        <p:txBody>
          <a:bodyPr wrap="square" rtlCol="0" anchor="ctr"/>
          <a:lstStyle/>
          <a:p>
            <a:pPr algn="ctr" indent="0" marL="0">
              <a:buNone/>
            </a:pPr>
            <a:r>
              <a:rPr lang="en-US" sz="900" dirty="0">
                <a:solidFill>
                  <a:srgbClr val="17324D"/>
                </a:solidFill>
                <a:latin typeface="Hanken Grotesk" pitchFamily="34" charset="0"/>
                <a:ea typeface="Hanken Grotesk" pitchFamily="34" charset="-122"/>
                <a:cs typeface="Hanken Grotesk" pitchFamily="34" charset="-120"/>
              </a:rPr>
              <a:t>Card 4</a:t>
            </a:r>
            <a:endParaRPr lang="en-US" sz="900" dirty="0"/>
          </a:p>
        </p:txBody>
      </p:sp>
      <p:sp>
        <p:nvSpPr>
          <p:cNvPr id="28" name="Shape 26"/>
          <p:cNvSpPr/>
          <p:nvPr/>
        </p:nvSpPr>
        <p:spPr>
          <a:xfrm>
            <a:off x="594360" y="2560320"/>
            <a:ext cx="2514600" cy="1965960"/>
          </a:xfrm>
          <a:prstGeom prst="roundRect">
            <a:avLst>
              <a:gd name="adj" fmla="val 2326"/>
            </a:avLst>
          </a:prstGeom>
          <a:solidFill>
            <a:srgbClr val="FFFFFF"/>
          </a:solidFill>
          <a:ln w="12700">
            <a:solidFill>
              <a:srgbClr val="B0883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594360" y="2560320"/>
            <a:ext cx="2514600" cy="292608"/>
          </a:xfrm>
          <a:prstGeom prst="rect">
            <a:avLst/>
          </a:prstGeom>
          <a:solidFill>
            <a:srgbClr val="B0883B"/>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A</a:t>
            </a:r>
            <a:endParaRPr lang="en-US" sz="950" dirty="0"/>
          </a:p>
        </p:txBody>
      </p:sp>
      <p:sp>
        <p:nvSpPr>
          <p:cNvPr id="30" name="Shape 28"/>
          <p:cNvSpPr/>
          <p:nvPr/>
        </p:nvSpPr>
        <p:spPr>
          <a:xfrm>
            <a:off x="3246120" y="2560320"/>
            <a:ext cx="2514600" cy="1965960"/>
          </a:xfrm>
          <a:prstGeom prst="roundRect">
            <a:avLst>
              <a:gd name="adj" fmla="val 2326"/>
            </a:avLst>
          </a:prstGeom>
          <a:solidFill>
            <a:srgbClr val="FFFFFF"/>
          </a:solidFill>
          <a:ln w="12700">
            <a:solidFill>
              <a:srgbClr val="B0883B"/>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3246120" y="2560320"/>
            <a:ext cx="2514600" cy="292608"/>
          </a:xfrm>
          <a:prstGeom prst="rect">
            <a:avLst/>
          </a:prstGeom>
          <a:solidFill>
            <a:srgbClr val="B0883B"/>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Group B</a:t>
            </a:r>
            <a:endParaRPr lang="en-US" sz="950" dirty="0"/>
          </a:p>
        </p:txBody>
      </p:sp>
      <p:sp>
        <p:nvSpPr>
          <p:cNvPr id="32" name="Shape 30"/>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3" name="Text 31"/>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4" name="Text 32"/>
          <p:cNvSpPr/>
          <p:nvPr/>
        </p:nvSpPr>
        <p:spPr>
          <a:xfrm>
            <a:off x="6217920" y="1097280"/>
            <a:ext cx="2468880" cy="137160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Capsule A (2 × 1.5 × 1) and Capsule B (3 × 1 × 1) both have a volume of 3 ft³. How did your multiplication produce the same volume from different dimensions?</a:t>
            </a:r>
            <a:endParaRPr lang="en-US" sz="1000" dirty="0"/>
          </a:p>
        </p:txBody>
      </p:sp>
      <p:sp>
        <p:nvSpPr>
          <p:cNvPr id="35" name="Shape 33"/>
          <p:cNvSpPr/>
          <p:nvPr/>
        </p:nvSpPr>
        <p:spPr>
          <a:xfrm>
            <a:off x="6217920" y="2743200"/>
            <a:ext cx="2423160" cy="0"/>
          </a:xfrm>
          <a:prstGeom prst="line">
            <a:avLst/>
          </a:prstGeom>
          <a:noFill/>
          <a:ln w="9525">
            <a:solidFill>
              <a:srgbClr val="C7CDD2"/>
            </a:solidFill>
            <a:prstDash val="dash"/>
          </a:ln>
        </p:spPr>
      </p:sp>
      <p:sp>
        <p:nvSpPr>
          <p:cNvPr id="36" name="Shape 34"/>
          <p:cNvSpPr/>
          <p:nvPr/>
        </p:nvSpPr>
        <p:spPr>
          <a:xfrm>
            <a:off x="6217920" y="3072384"/>
            <a:ext cx="2423160" cy="0"/>
          </a:xfrm>
          <a:prstGeom prst="line">
            <a:avLst/>
          </a:prstGeom>
          <a:noFill/>
          <a:ln w="9525">
            <a:solidFill>
              <a:srgbClr val="C7CDD2"/>
            </a:solidFill>
            <a:prstDash val="dash"/>
          </a:ln>
        </p:spPr>
      </p:sp>
      <p:sp>
        <p:nvSpPr>
          <p:cNvPr id="37" name="Shape 35"/>
          <p:cNvSpPr/>
          <p:nvPr/>
        </p:nvSpPr>
        <p:spPr>
          <a:xfrm>
            <a:off x="6217920" y="3401568"/>
            <a:ext cx="2423160" cy="0"/>
          </a:xfrm>
          <a:prstGeom prst="line">
            <a:avLst/>
          </a:prstGeom>
          <a:noFill/>
          <a:ln w="9525">
            <a:solidFill>
              <a:srgbClr val="C7CDD2"/>
            </a:solidFill>
            <a:prstDash val="dash"/>
          </a:ln>
        </p:spPr>
      </p:sp>
      <p:sp>
        <p:nvSpPr>
          <p:cNvPr id="38" name="Shape 36"/>
          <p:cNvSpPr/>
          <p:nvPr/>
        </p:nvSpPr>
        <p:spPr>
          <a:xfrm>
            <a:off x="6217920" y="3730752"/>
            <a:ext cx="2423160" cy="0"/>
          </a:xfrm>
          <a:prstGeom prst="line">
            <a:avLst/>
          </a:prstGeom>
          <a:noFill/>
          <a:ln w="9525">
            <a:solidFill>
              <a:srgbClr val="C7CDD2"/>
            </a:solidFill>
            <a:prstDash val="dash"/>
          </a:ln>
        </p:spPr>
      </p:sp>
      <p:sp>
        <p:nvSpPr>
          <p:cNvPr id="39" name="Shape 37"/>
          <p:cNvSpPr/>
          <p:nvPr/>
        </p:nvSpPr>
        <p:spPr>
          <a:xfrm>
            <a:off x="6217920" y="4059936"/>
            <a:ext cx="2423160" cy="0"/>
          </a:xfrm>
          <a:prstGeom prst="line">
            <a:avLst/>
          </a:prstGeom>
          <a:noFill/>
          <a:ln w="9525">
            <a:solidFill>
              <a:srgbClr val="C7CDD2"/>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Error Analysis / Análisis de Errores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6</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554480" cy="274320"/>
          </a:xfrm>
          <a:prstGeom prst="rect">
            <a:avLst>
              <a:gd name="adj" fmla="val 50000"/>
            </a:avLst>
          </a:prstGeom>
          <a:solidFill>
            <a:srgbClr val="C0392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FIND THE ERROR</a:t>
            </a:r>
            <a:endParaRPr lang="en-US" sz="900" dirty="0"/>
          </a:p>
        </p:txBody>
      </p:sp>
      <p:sp>
        <p:nvSpPr>
          <p:cNvPr id="19" name="Text 17"/>
          <p:cNvSpPr/>
          <p:nvPr/>
        </p:nvSpPr>
        <p:spPr>
          <a:xfrm>
            <a:off x="2286000" y="841248"/>
            <a:ext cx="338328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Find the Volume Error</a:t>
            </a:r>
            <a:endParaRPr lang="en-US" sz="1100" dirty="0"/>
          </a:p>
        </p:txBody>
      </p:sp>
      <p:sp>
        <p:nvSpPr>
          <p:cNvPr id="20" name="Text 18"/>
          <p:cNvSpPr/>
          <p:nvPr/>
        </p:nvSpPr>
        <p:spPr>
          <a:xfrm>
            <a:off x="594360" y="1188720"/>
            <a:ext cx="5120640" cy="365760"/>
          </a:xfrm>
          <a:prstGeom prst="rect">
            <a:avLst/>
          </a:prstGeom>
          <a:noFill/>
          <a:ln/>
        </p:spPr>
        <p:txBody>
          <a:bodyPr wrap="square" rtlCol="0" anchor="ctr"/>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 classmate turned in the work below. One step has a mistake — find it, name it, fix it.</a:t>
            </a:r>
            <a:endParaRPr lang="en-US" sz="950" dirty="0"/>
          </a:p>
        </p:txBody>
      </p:sp>
      <p:sp>
        <p:nvSpPr>
          <p:cNvPr id="21" name="Shape 19"/>
          <p:cNvSpPr/>
          <p:nvPr/>
        </p:nvSpPr>
        <p:spPr>
          <a:xfrm>
            <a:off x="594360" y="1627632"/>
            <a:ext cx="5166360" cy="1901952"/>
          </a:xfrm>
          <a:prstGeom prst="roundRect">
            <a:avLst>
              <a:gd name="adj" fmla="val 2404"/>
            </a:avLst>
          </a:prstGeom>
          <a:solidFill>
            <a:srgbClr val="F4F1E8"/>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2" name="Text 20"/>
          <p:cNvSpPr/>
          <p:nvPr/>
        </p:nvSpPr>
        <p:spPr>
          <a:xfrm>
            <a:off x="713232" y="1691640"/>
            <a:ext cx="4937760" cy="219456"/>
          </a:xfrm>
          <a:prstGeom prst="rect">
            <a:avLst/>
          </a:prstGeom>
          <a:noFill/>
          <a:ln/>
        </p:spPr>
        <p:txBody>
          <a:bodyPr wrap="square" rtlCol="0" anchor="ctr"/>
          <a:lstStyle/>
          <a:p>
            <a:pPr indent="0" marL="0">
              <a:buNone/>
            </a:pPr>
            <a:r>
              <a:rPr lang="en-US" sz="800" i="1" dirty="0">
                <a:solidFill>
                  <a:srgbClr val="8A96A3"/>
                </a:solidFill>
                <a:latin typeface="Hanken Grotesk" pitchFamily="34" charset="0"/>
                <a:ea typeface="Hanken Grotesk" pitchFamily="34" charset="-122"/>
                <a:cs typeface="Hanken Grotesk" pitchFamily="34" charset="-120"/>
              </a:rPr>
              <a:t>Student's work (contains an error):</a:t>
            </a:r>
            <a:endParaRPr lang="en-US" sz="800" dirty="0"/>
          </a:p>
        </p:txBody>
      </p:sp>
      <p:sp>
        <p:nvSpPr>
          <p:cNvPr id="23" name="Text 21"/>
          <p:cNvSpPr/>
          <p:nvPr/>
        </p:nvSpPr>
        <p:spPr>
          <a:xfrm>
            <a:off x="777240" y="1938528"/>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1. </a:t>
            </a:r>
            <a:pPr indent="0" marL="0">
              <a:buNone/>
            </a:pPr>
            <a:r>
              <a:rPr lang="en-US" sz="950" b="1" dirty="0">
                <a:solidFill>
                  <a:srgbClr val="17324D"/>
                </a:solidFill>
                <a:latin typeface="Hanken Grotesk" pitchFamily="34" charset="0"/>
                <a:ea typeface="Hanken Grotesk" pitchFamily="34" charset="-122"/>
                <a:cs typeface="Hanken Grotesk" pitchFamily="34" charset="-120"/>
              </a:rPr>
              <a:t>Dimensions:  </a:t>
            </a:r>
            <a:pPr indent="0" marL="0">
              <a:buNone/>
            </a:pPr>
            <a:r>
              <a:rPr lang="en-US" sz="950" b="1" dirty="0">
                <a:solidFill>
                  <a:srgbClr val="24323F"/>
                </a:solidFill>
                <a:latin typeface="Courier New" pitchFamily="34" charset="0"/>
                <a:ea typeface="Courier New" pitchFamily="34" charset="-122"/>
                <a:cs typeface="Courier New" pitchFamily="34" charset="-120"/>
              </a:rPr>
              <a:t>l = 5 m, w = 3 m, h = 2.5 m</a:t>
            </a:r>
            <a:endParaRPr lang="en-US" sz="950" dirty="0"/>
          </a:p>
        </p:txBody>
      </p:sp>
      <p:sp>
        <p:nvSpPr>
          <p:cNvPr id="24" name="Text 22"/>
          <p:cNvSpPr/>
          <p:nvPr/>
        </p:nvSpPr>
        <p:spPr>
          <a:xfrm>
            <a:off x="777240" y="2322576"/>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2. </a:t>
            </a:r>
            <a:pPr indent="0" marL="0">
              <a:buNone/>
            </a:pPr>
            <a:r>
              <a:rPr lang="en-US" sz="950" b="1" dirty="0">
                <a:solidFill>
                  <a:srgbClr val="17324D"/>
                </a:solidFill>
                <a:latin typeface="Hanken Grotesk" pitchFamily="34" charset="0"/>
                <a:ea typeface="Hanken Grotesk" pitchFamily="34" charset="-122"/>
                <a:cs typeface="Hanken Grotesk" pitchFamily="34" charset="-120"/>
              </a:rPr>
              <a:t>Formula:  </a:t>
            </a:r>
            <a:pPr indent="0" marL="0">
              <a:buNone/>
            </a:pPr>
            <a:r>
              <a:rPr lang="en-US" sz="950" b="1" dirty="0">
                <a:solidFill>
                  <a:srgbClr val="24323F"/>
                </a:solidFill>
                <a:latin typeface="Courier New" pitchFamily="34" charset="0"/>
                <a:ea typeface="Courier New" pitchFamily="34" charset="-122"/>
                <a:cs typeface="Courier New" pitchFamily="34" charset="-120"/>
              </a:rPr>
              <a:t>V = l × w × h</a:t>
            </a:r>
            <a:endParaRPr lang="en-US" sz="950" dirty="0"/>
          </a:p>
        </p:txBody>
      </p:sp>
      <p:sp>
        <p:nvSpPr>
          <p:cNvPr id="25" name="Text 23"/>
          <p:cNvSpPr/>
          <p:nvPr/>
        </p:nvSpPr>
        <p:spPr>
          <a:xfrm>
            <a:off x="777240" y="2706624"/>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3. </a:t>
            </a:r>
            <a:pPr indent="0" marL="0">
              <a:buNone/>
            </a:pPr>
            <a:r>
              <a:rPr lang="en-US" sz="950" b="1" dirty="0">
                <a:solidFill>
                  <a:srgbClr val="17324D"/>
                </a:solidFill>
                <a:latin typeface="Hanken Grotesk" pitchFamily="34" charset="0"/>
                <a:ea typeface="Hanken Grotesk" pitchFamily="34" charset="-122"/>
                <a:cs typeface="Hanken Grotesk" pitchFamily="34" charset="-120"/>
              </a:rPr>
              <a:t>Calculate:  </a:t>
            </a:r>
            <a:pPr indent="0" marL="0">
              <a:buNone/>
            </a:pPr>
            <a:r>
              <a:rPr lang="en-US" sz="950" b="1" dirty="0">
                <a:solidFill>
                  <a:srgbClr val="24323F"/>
                </a:solidFill>
                <a:latin typeface="Courier New" pitchFamily="34" charset="0"/>
                <a:ea typeface="Courier New" pitchFamily="34" charset="-122"/>
                <a:cs typeface="Courier New" pitchFamily="34" charset="-120"/>
              </a:rPr>
              <a:t>V = 5 × 3 × 2.5 = 5 × 5.5 = 27.5 m³</a:t>
            </a:r>
            <a:endParaRPr lang="en-US" sz="950" dirty="0"/>
          </a:p>
        </p:txBody>
      </p:sp>
      <p:sp>
        <p:nvSpPr>
          <p:cNvPr id="26" name="Text 24"/>
          <p:cNvSpPr/>
          <p:nvPr/>
        </p:nvSpPr>
        <p:spPr>
          <a:xfrm>
            <a:off x="777240" y="3090672"/>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4. </a:t>
            </a:r>
            <a:pPr indent="0" marL="0">
              <a:buNone/>
            </a:pPr>
            <a:r>
              <a:rPr lang="en-US" sz="950" b="1" dirty="0">
                <a:solidFill>
                  <a:srgbClr val="17324D"/>
                </a:solidFill>
                <a:latin typeface="Hanken Grotesk" pitchFamily="34" charset="0"/>
                <a:ea typeface="Hanken Grotesk" pitchFamily="34" charset="-122"/>
                <a:cs typeface="Hanken Grotesk" pitchFamily="34" charset="-120"/>
              </a:rPr>
              <a:t>Answer:  </a:t>
            </a:r>
            <a:pPr indent="0" marL="0">
              <a:buNone/>
            </a:pPr>
            <a:r>
              <a:rPr lang="en-US" sz="950" b="1" dirty="0">
                <a:solidFill>
                  <a:srgbClr val="24323F"/>
                </a:solidFill>
                <a:latin typeface="Courier New" pitchFamily="34" charset="0"/>
                <a:ea typeface="Courier New" pitchFamily="34" charset="-122"/>
                <a:cs typeface="Courier New" pitchFamily="34" charset="-120"/>
              </a:rPr>
              <a:t>Volume = 27.5 m³</a:t>
            </a:r>
            <a:endParaRPr lang="en-US" sz="950" dirty="0"/>
          </a:p>
        </p:txBody>
      </p:sp>
      <p:sp>
        <p:nvSpPr>
          <p:cNvPr id="27" name="Text 25"/>
          <p:cNvSpPr/>
          <p:nvPr/>
        </p:nvSpPr>
        <p:spPr>
          <a:xfrm>
            <a:off x="594360" y="3666744"/>
            <a:ext cx="5120640" cy="22860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Which step has the error? Circle it above.</a:t>
            </a:r>
            <a:endParaRPr lang="en-US" sz="900" dirty="0"/>
          </a:p>
        </p:txBody>
      </p:sp>
      <p:sp>
        <p:nvSpPr>
          <p:cNvPr id="28" name="Shape 26"/>
          <p:cNvSpPr/>
          <p:nvPr/>
        </p:nvSpPr>
        <p:spPr>
          <a:xfrm>
            <a:off x="6035040" y="685800"/>
            <a:ext cx="2788920" cy="4023360"/>
          </a:xfrm>
          <a:prstGeom prst="roundRect">
            <a:avLst>
              <a:gd name="adj" fmla="val 2623"/>
            </a:avLst>
          </a:prstGeom>
          <a:solidFill>
            <a:srgbClr val="FCE6DE"/>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6035040" y="685800"/>
            <a:ext cx="2788920" cy="274320"/>
          </a:xfrm>
          <a:prstGeom prst="rect">
            <a:avLst/>
          </a:prstGeom>
          <a:solidFill>
            <a:srgbClr val="C0392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Explain &amp; Fix</a:t>
            </a:r>
            <a:endParaRPr lang="en-US" sz="1000" dirty="0"/>
          </a:p>
        </p:txBody>
      </p:sp>
      <p:sp>
        <p:nvSpPr>
          <p:cNvPr id="30" name="Text 28"/>
          <p:cNvSpPr/>
          <p:nvPr/>
        </p:nvSpPr>
        <p:spPr>
          <a:xfrm>
            <a:off x="6217920" y="1097280"/>
            <a:ext cx="2468880" cy="50292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The mistake was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 because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a:t>
            </a:r>
            <a:endParaRPr lang="en-US" sz="1000" dirty="0"/>
          </a:p>
        </p:txBody>
      </p:sp>
      <p:sp>
        <p:nvSpPr>
          <p:cNvPr id="31" name="Shape 29"/>
          <p:cNvSpPr/>
          <p:nvPr/>
        </p:nvSpPr>
        <p:spPr>
          <a:xfrm>
            <a:off x="6217920" y="1783080"/>
            <a:ext cx="2423160" cy="0"/>
          </a:xfrm>
          <a:prstGeom prst="line">
            <a:avLst/>
          </a:prstGeom>
          <a:noFill/>
          <a:ln w="9525">
            <a:solidFill>
              <a:srgbClr val="C7CDD2"/>
            </a:solidFill>
            <a:prstDash val="dash"/>
          </a:ln>
        </p:spPr>
      </p:sp>
      <p:sp>
        <p:nvSpPr>
          <p:cNvPr id="32" name="Shape 30"/>
          <p:cNvSpPr/>
          <p:nvPr/>
        </p:nvSpPr>
        <p:spPr>
          <a:xfrm>
            <a:off x="6217920" y="2075688"/>
            <a:ext cx="2423160" cy="0"/>
          </a:xfrm>
          <a:prstGeom prst="line">
            <a:avLst/>
          </a:prstGeom>
          <a:noFill/>
          <a:ln w="9525">
            <a:solidFill>
              <a:srgbClr val="C7CDD2"/>
            </a:solidFill>
            <a:prstDash val="dash"/>
          </a:ln>
        </p:spPr>
      </p:sp>
      <p:sp>
        <p:nvSpPr>
          <p:cNvPr id="33" name="Shape 31"/>
          <p:cNvSpPr/>
          <p:nvPr/>
        </p:nvSpPr>
        <p:spPr>
          <a:xfrm>
            <a:off x="6217920" y="2368296"/>
            <a:ext cx="2423160" cy="0"/>
          </a:xfrm>
          <a:prstGeom prst="line">
            <a:avLst/>
          </a:prstGeom>
          <a:noFill/>
          <a:ln w="9525">
            <a:solidFill>
              <a:srgbClr val="C7CDD2"/>
            </a:solidFill>
            <a:prstDash val="dash"/>
          </a:ln>
        </p:spPr>
      </p:sp>
      <p:sp>
        <p:nvSpPr>
          <p:cNvPr id="34" name="Text 32"/>
          <p:cNvSpPr/>
          <p:nvPr/>
        </p:nvSpPr>
        <p:spPr>
          <a:xfrm>
            <a:off x="6217920" y="2788920"/>
            <a:ext cx="2468880" cy="27432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Fix it — rewrite the step correctly:</a:t>
            </a:r>
            <a:endParaRPr lang="en-US" sz="900" dirty="0"/>
          </a:p>
        </p:txBody>
      </p:sp>
      <p:sp>
        <p:nvSpPr>
          <p:cNvPr id="35" name="Shape 33"/>
          <p:cNvSpPr/>
          <p:nvPr/>
        </p:nvSpPr>
        <p:spPr>
          <a:xfrm>
            <a:off x="6217920" y="3246120"/>
            <a:ext cx="2423160" cy="0"/>
          </a:xfrm>
          <a:prstGeom prst="line">
            <a:avLst/>
          </a:prstGeom>
          <a:noFill/>
          <a:ln w="9525">
            <a:solidFill>
              <a:srgbClr val="C7CDD2"/>
            </a:solidFill>
            <a:prstDash val="dash"/>
          </a:ln>
        </p:spPr>
      </p:sp>
      <p:sp>
        <p:nvSpPr>
          <p:cNvPr id="36" name="Shape 34"/>
          <p:cNvSpPr/>
          <p:nvPr/>
        </p:nvSpPr>
        <p:spPr>
          <a:xfrm>
            <a:off x="6217920" y="3538728"/>
            <a:ext cx="2423160" cy="0"/>
          </a:xfrm>
          <a:prstGeom prst="line">
            <a:avLst/>
          </a:prstGeom>
          <a:noFill/>
          <a:ln w="9525">
            <a:solidFill>
              <a:srgbClr val="C7CDD2"/>
            </a:solidFill>
            <a:prstDash val="dash"/>
          </a:ln>
        </p:spPr>
      </p:sp>
      <p:sp>
        <p:nvSpPr>
          <p:cNvPr id="37" name="Shape 35"/>
          <p:cNvSpPr/>
          <p:nvPr/>
        </p:nvSpPr>
        <p:spPr>
          <a:xfrm>
            <a:off x="6217920" y="3831336"/>
            <a:ext cx="2423160" cy="0"/>
          </a:xfrm>
          <a:prstGeom prst="line">
            <a:avLst/>
          </a:prstGeom>
          <a:noFill/>
          <a:ln w="9525">
            <a:solidFill>
              <a:srgbClr val="C7CDD2"/>
            </a:solidFill>
            <a:prstDash val="dash"/>
          </a:ln>
        </p:spPr>
      </p:sp>
      <p:sp>
        <p:nvSpPr>
          <p:cNvPr id="38" name="Shape 36"/>
          <p:cNvSpPr/>
          <p:nvPr/>
        </p:nvSpPr>
        <p:spPr>
          <a:xfrm>
            <a:off x="6217920" y="4123944"/>
            <a:ext cx="2423160" cy="0"/>
          </a:xfrm>
          <a:prstGeom prst="line">
            <a:avLst/>
          </a:prstGeom>
          <a:noFill/>
          <a:ln w="9525">
            <a:solidFill>
              <a:srgbClr val="C7CDD2"/>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Two-Column Notes / Notas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7</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92608"/>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Steps / Pasos</a:t>
            </a:r>
            <a:endParaRPr lang="en-US" sz="1000" dirty="0"/>
          </a:p>
        </p:txBody>
      </p:sp>
      <p:sp>
        <p:nvSpPr>
          <p:cNvPr id="19" name="Shape 17"/>
          <p:cNvSpPr/>
          <p:nvPr/>
        </p:nvSpPr>
        <p:spPr>
          <a:xfrm>
            <a:off x="594360" y="1243584"/>
            <a:ext cx="274320" cy="274320"/>
          </a:xfrm>
          <a:prstGeom prst="ellipse">
            <a:avLst/>
          </a:prstGeom>
          <a:solidFill>
            <a:srgbClr val="B0883B"/>
          </a:solidFill>
          <a:ln/>
        </p:spPr>
      </p:sp>
      <p:sp>
        <p:nvSpPr>
          <p:cNvPr id="20" name="Text 18"/>
          <p:cNvSpPr/>
          <p:nvPr/>
        </p:nvSpPr>
        <p:spPr>
          <a:xfrm>
            <a:off x="594360" y="124358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1" name="Text 19"/>
          <p:cNvSpPr/>
          <p:nvPr/>
        </p:nvSpPr>
        <p:spPr>
          <a:xfrm>
            <a:off x="978408" y="1188720"/>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My capsule is 2 ft long, 1.5 ft wide, and 1 ft tall. I write V = length × width × height.</a:t>
            </a:r>
            <a:endParaRPr lang="en-US" sz="1050" dirty="0"/>
          </a:p>
        </p:txBody>
      </p:sp>
      <p:sp>
        <p:nvSpPr>
          <p:cNvPr id="22" name="Shape 20"/>
          <p:cNvSpPr/>
          <p:nvPr/>
        </p:nvSpPr>
        <p:spPr>
          <a:xfrm>
            <a:off x="594360" y="1719072"/>
            <a:ext cx="274320" cy="274320"/>
          </a:xfrm>
          <a:prstGeom prst="ellipse">
            <a:avLst/>
          </a:prstGeom>
          <a:solidFill>
            <a:srgbClr val="B0883B"/>
          </a:solidFill>
          <a:ln/>
        </p:spPr>
      </p:sp>
      <p:sp>
        <p:nvSpPr>
          <p:cNvPr id="23" name="Text 21"/>
          <p:cNvSpPr/>
          <p:nvPr/>
        </p:nvSpPr>
        <p:spPr>
          <a:xfrm>
            <a:off x="594360" y="171907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4" name="Text 22"/>
          <p:cNvSpPr/>
          <p:nvPr/>
        </p:nvSpPr>
        <p:spPr>
          <a:xfrm>
            <a:off x="978408" y="1664208"/>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put in the numbers: V = 2 × 1.5 × 1.</a:t>
            </a:r>
            <a:endParaRPr lang="en-US" sz="1050" dirty="0"/>
          </a:p>
        </p:txBody>
      </p:sp>
      <p:sp>
        <p:nvSpPr>
          <p:cNvPr id="25" name="Shape 23"/>
          <p:cNvSpPr/>
          <p:nvPr/>
        </p:nvSpPr>
        <p:spPr>
          <a:xfrm>
            <a:off x="594360" y="2194560"/>
            <a:ext cx="274320" cy="274320"/>
          </a:xfrm>
          <a:prstGeom prst="ellipse">
            <a:avLst/>
          </a:prstGeom>
          <a:solidFill>
            <a:srgbClr val="B0883B"/>
          </a:solidFill>
          <a:ln/>
        </p:spPr>
      </p:sp>
      <p:sp>
        <p:nvSpPr>
          <p:cNvPr id="26" name="Text 24"/>
          <p:cNvSpPr/>
          <p:nvPr/>
        </p:nvSpPr>
        <p:spPr>
          <a:xfrm>
            <a:off x="594360" y="219456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7" name="Text 25"/>
          <p:cNvSpPr/>
          <p:nvPr/>
        </p:nvSpPr>
        <p:spPr>
          <a:xfrm>
            <a:off x="978408" y="2139696"/>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First I multiply 2 × 1.5 = 3.</a:t>
            </a:r>
            <a:endParaRPr lang="en-US" sz="1050" dirty="0"/>
          </a:p>
        </p:txBody>
      </p:sp>
      <p:sp>
        <p:nvSpPr>
          <p:cNvPr id="28" name="Shape 26"/>
          <p:cNvSpPr/>
          <p:nvPr/>
        </p:nvSpPr>
        <p:spPr>
          <a:xfrm>
            <a:off x="594360" y="2670048"/>
            <a:ext cx="274320" cy="274320"/>
          </a:xfrm>
          <a:prstGeom prst="ellipse">
            <a:avLst/>
          </a:prstGeom>
          <a:solidFill>
            <a:srgbClr val="B0883B"/>
          </a:solidFill>
          <a:ln/>
        </p:spPr>
      </p:sp>
      <p:sp>
        <p:nvSpPr>
          <p:cNvPr id="29" name="Text 27"/>
          <p:cNvSpPr/>
          <p:nvPr/>
        </p:nvSpPr>
        <p:spPr>
          <a:xfrm>
            <a:off x="594360" y="267004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0" name="Text 28"/>
          <p:cNvSpPr/>
          <p:nvPr/>
        </p:nvSpPr>
        <p:spPr>
          <a:xfrm>
            <a:off x="978408" y="2615184"/>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Then 3 × 1 = 3.</a:t>
            </a:r>
            <a:endParaRPr lang="en-US" sz="1050" dirty="0"/>
          </a:p>
        </p:txBody>
      </p:sp>
      <p:sp>
        <p:nvSpPr>
          <p:cNvPr id="31" name="Shape 29"/>
          <p:cNvSpPr/>
          <p:nvPr/>
        </p:nvSpPr>
        <p:spPr>
          <a:xfrm>
            <a:off x="594360" y="3145536"/>
            <a:ext cx="274320" cy="274320"/>
          </a:xfrm>
          <a:prstGeom prst="ellipse">
            <a:avLst/>
          </a:prstGeom>
          <a:solidFill>
            <a:srgbClr val="B0883B"/>
          </a:solidFill>
          <a:ln/>
        </p:spPr>
      </p:sp>
      <p:sp>
        <p:nvSpPr>
          <p:cNvPr id="32" name="Text 30"/>
          <p:cNvSpPr/>
          <p:nvPr/>
        </p:nvSpPr>
        <p:spPr>
          <a:xfrm>
            <a:off x="594360" y="3145536"/>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5</a:t>
            </a:r>
            <a:endParaRPr lang="en-US" sz="1100" dirty="0"/>
          </a:p>
        </p:txBody>
      </p:sp>
      <p:sp>
        <p:nvSpPr>
          <p:cNvPr id="33" name="Text 31"/>
          <p:cNvSpPr/>
          <p:nvPr/>
        </p:nvSpPr>
        <p:spPr>
          <a:xfrm>
            <a:off x="978408" y="3090672"/>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So the volume is 3 ft³. A fractional edge like 1.5 did not change my steps at all.</a:t>
            </a:r>
            <a:endParaRPr lang="en-US" sz="1050" dirty="0"/>
          </a:p>
        </p:txBody>
      </p:sp>
      <p:sp>
        <p:nvSpPr>
          <p:cNvPr id="34" name="Shape 32"/>
          <p:cNvSpPr/>
          <p:nvPr/>
        </p:nvSpPr>
        <p:spPr>
          <a:xfrm>
            <a:off x="4709160" y="685800"/>
            <a:ext cx="411480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4709160" y="685800"/>
            <a:ext cx="4114800" cy="292608"/>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My Example / Mi Ejemplo</a:t>
            </a:r>
            <a:endParaRPr lang="en-US" sz="1000" dirty="0"/>
          </a:p>
        </p:txBody>
      </p:sp>
      <p:sp>
        <p:nvSpPr>
          <p:cNvPr id="36" name="Text 34"/>
          <p:cNvSpPr/>
          <p:nvPr/>
        </p:nvSpPr>
        <p:spPr>
          <a:xfrm>
            <a:off x="4892040" y="1143000"/>
            <a:ext cx="3749040" cy="36576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Work one problem here, matching each step on the left:</a:t>
            </a:r>
            <a:endParaRPr lang="en-US" sz="950" dirty="0"/>
          </a:p>
        </p:txBody>
      </p:sp>
      <p:sp>
        <p:nvSpPr>
          <p:cNvPr id="37" name="Shape 35"/>
          <p:cNvSpPr/>
          <p:nvPr/>
        </p:nvSpPr>
        <p:spPr>
          <a:xfrm>
            <a:off x="4892040" y="1783080"/>
            <a:ext cx="3749040" cy="0"/>
          </a:xfrm>
          <a:prstGeom prst="line">
            <a:avLst/>
          </a:prstGeom>
          <a:noFill/>
          <a:ln w="9525">
            <a:solidFill>
              <a:srgbClr val="C7CDD2"/>
            </a:solidFill>
            <a:prstDash val="dash"/>
          </a:ln>
        </p:spPr>
      </p:sp>
      <p:sp>
        <p:nvSpPr>
          <p:cNvPr id="38" name="Shape 36"/>
          <p:cNvSpPr/>
          <p:nvPr/>
        </p:nvSpPr>
        <p:spPr>
          <a:xfrm>
            <a:off x="4892040" y="2112264"/>
            <a:ext cx="3749040" cy="0"/>
          </a:xfrm>
          <a:prstGeom prst="line">
            <a:avLst/>
          </a:prstGeom>
          <a:noFill/>
          <a:ln w="9525">
            <a:solidFill>
              <a:srgbClr val="C7CDD2"/>
            </a:solidFill>
            <a:prstDash val="dash"/>
          </a:ln>
        </p:spPr>
      </p:sp>
      <p:sp>
        <p:nvSpPr>
          <p:cNvPr id="39" name="Shape 37"/>
          <p:cNvSpPr/>
          <p:nvPr/>
        </p:nvSpPr>
        <p:spPr>
          <a:xfrm>
            <a:off x="4892040" y="2441448"/>
            <a:ext cx="3749040" cy="0"/>
          </a:xfrm>
          <a:prstGeom prst="line">
            <a:avLst/>
          </a:prstGeom>
          <a:noFill/>
          <a:ln w="9525">
            <a:solidFill>
              <a:srgbClr val="C7CDD2"/>
            </a:solidFill>
            <a:prstDash val="dash"/>
          </a:ln>
        </p:spPr>
      </p:sp>
      <p:sp>
        <p:nvSpPr>
          <p:cNvPr id="40" name="Shape 38"/>
          <p:cNvSpPr/>
          <p:nvPr/>
        </p:nvSpPr>
        <p:spPr>
          <a:xfrm>
            <a:off x="4892040" y="2770632"/>
            <a:ext cx="3749040" cy="0"/>
          </a:xfrm>
          <a:prstGeom prst="line">
            <a:avLst/>
          </a:prstGeom>
          <a:noFill/>
          <a:ln w="9525">
            <a:solidFill>
              <a:srgbClr val="C7CDD2"/>
            </a:solidFill>
            <a:prstDash val="dash"/>
          </a:ln>
        </p:spPr>
      </p:sp>
      <p:sp>
        <p:nvSpPr>
          <p:cNvPr id="41" name="Shape 39"/>
          <p:cNvSpPr/>
          <p:nvPr/>
        </p:nvSpPr>
        <p:spPr>
          <a:xfrm>
            <a:off x="4892040" y="3099816"/>
            <a:ext cx="3749040" cy="0"/>
          </a:xfrm>
          <a:prstGeom prst="line">
            <a:avLst/>
          </a:prstGeom>
          <a:noFill/>
          <a:ln w="9525">
            <a:solidFill>
              <a:srgbClr val="C7CDD2"/>
            </a:solidFill>
            <a:prstDash val="dash"/>
          </a:ln>
        </p:spPr>
      </p:sp>
      <p:sp>
        <p:nvSpPr>
          <p:cNvPr id="42" name="Shape 40"/>
          <p:cNvSpPr/>
          <p:nvPr/>
        </p:nvSpPr>
        <p:spPr>
          <a:xfrm>
            <a:off x="4892040" y="3429000"/>
            <a:ext cx="3749040" cy="0"/>
          </a:xfrm>
          <a:prstGeom prst="line">
            <a:avLst/>
          </a:prstGeom>
          <a:noFill/>
          <a:ln w="9525">
            <a:solidFill>
              <a:srgbClr val="C7CDD2"/>
            </a:solidFill>
            <a:prstDash val="dash"/>
          </a:ln>
        </p:spPr>
      </p:sp>
      <p:sp>
        <p:nvSpPr>
          <p:cNvPr id="43" name="Shape 41"/>
          <p:cNvSpPr/>
          <p:nvPr/>
        </p:nvSpPr>
        <p:spPr>
          <a:xfrm>
            <a:off x="4892040" y="3758184"/>
            <a:ext cx="3749040" cy="0"/>
          </a:xfrm>
          <a:prstGeom prst="line">
            <a:avLst/>
          </a:prstGeom>
          <a:noFill/>
          <a:ln w="9525">
            <a:solidFill>
              <a:srgbClr val="C7CDD2"/>
            </a:solidFill>
            <a:prstDash val="dash"/>
          </a:ln>
        </p:spPr>
      </p:sp>
      <p:sp>
        <p:nvSpPr>
          <p:cNvPr id="44" name="Shape 42"/>
          <p:cNvSpPr/>
          <p:nvPr/>
        </p:nvSpPr>
        <p:spPr>
          <a:xfrm>
            <a:off x="4892040" y="4087368"/>
            <a:ext cx="3749040" cy="0"/>
          </a:xfrm>
          <a:prstGeom prst="line">
            <a:avLst/>
          </a:prstGeom>
          <a:noFill/>
          <a:ln w="9525">
            <a:solidFill>
              <a:srgbClr val="C7CDD2"/>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Choice Board / Tablero de Opciones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8</a:t>
            </a:r>
            <a:endParaRPr lang="en-US" sz="800" dirty="0"/>
          </a:p>
        </p:txBody>
      </p:sp>
      <p:sp>
        <p:nvSpPr>
          <p:cNvPr id="17" name="Text 15"/>
          <p:cNvSpPr/>
          <p:nvPr/>
        </p:nvSpPr>
        <p:spPr>
          <a:xfrm>
            <a:off x="411480" y="640080"/>
            <a:ext cx="841248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Choose ONE to show what you know:</a:t>
            </a:r>
            <a:endParaRPr lang="en-US" sz="1200" dirty="0"/>
          </a:p>
        </p:txBody>
      </p:sp>
      <p:sp>
        <p:nvSpPr>
          <p:cNvPr id="18" name="Shape 16"/>
          <p:cNvSpPr/>
          <p:nvPr/>
        </p:nvSpPr>
        <p:spPr>
          <a:xfrm>
            <a:off x="411480" y="1051560"/>
            <a:ext cx="4114800" cy="1645920"/>
          </a:xfrm>
          <a:prstGeom prst="roundRect">
            <a:avLst>
              <a:gd name="adj" fmla="val 4444"/>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4864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0" name="Text 18"/>
          <p:cNvSpPr/>
          <p:nvPr/>
        </p:nvSpPr>
        <p:spPr>
          <a:xfrm>
            <a:off x="123444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Draw &amp; Label</a:t>
            </a:r>
            <a:endParaRPr lang="en-US" sz="1300" dirty="0"/>
          </a:p>
        </p:txBody>
      </p:sp>
      <p:sp>
        <p:nvSpPr>
          <p:cNvPr id="21" name="Text 19"/>
          <p:cNvSpPr/>
          <p:nvPr/>
        </p:nvSpPr>
        <p:spPr>
          <a:xfrm>
            <a:off x="59436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Sketch a model for today's problem. Label it using Volume and Rectangular prism.</a:t>
            </a:r>
            <a:endParaRPr lang="en-US" sz="1000" dirty="0"/>
          </a:p>
        </p:txBody>
      </p:sp>
      <p:sp>
        <p:nvSpPr>
          <p:cNvPr id="22" name="Shape 20"/>
          <p:cNvSpPr/>
          <p:nvPr/>
        </p:nvSpPr>
        <p:spPr>
          <a:xfrm>
            <a:off x="4709160" y="1051560"/>
            <a:ext cx="4114800" cy="1645920"/>
          </a:xfrm>
          <a:prstGeom prst="roundRect">
            <a:avLst>
              <a:gd name="adj" fmla="val 4444"/>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484632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4" name="Text 22"/>
          <p:cNvSpPr/>
          <p:nvPr/>
        </p:nvSpPr>
        <p:spPr>
          <a:xfrm>
            <a:off x="553212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Explain It</a:t>
            </a:r>
            <a:endParaRPr lang="en-US" sz="1300" dirty="0"/>
          </a:p>
        </p:txBody>
      </p:sp>
      <p:sp>
        <p:nvSpPr>
          <p:cNvPr id="25" name="Text 23"/>
          <p:cNvSpPr/>
          <p:nvPr/>
        </p:nvSpPr>
        <p:spPr>
          <a:xfrm>
            <a:off x="489204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In 2–3 sentences, explain "A fractional edge does not change the rule: still multiply length × width × height." in your own words.</a:t>
            </a:r>
            <a:endParaRPr lang="en-US" sz="1000" dirty="0"/>
          </a:p>
        </p:txBody>
      </p:sp>
      <p:sp>
        <p:nvSpPr>
          <p:cNvPr id="26" name="Shape 24"/>
          <p:cNvSpPr/>
          <p:nvPr/>
        </p:nvSpPr>
        <p:spPr>
          <a:xfrm>
            <a:off x="411480" y="2834640"/>
            <a:ext cx="4114800" cy="1645920"/>
          </a:xfrm>
          <a:prstGeom prst="roundRect">
            <a:avLst>
              <a:gd name="adj" fmla="val 4444"/>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4864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8" name="Text 26"/>
          <p:cNvSpPr/>
          <p:nvPr/>
        </p:nvSpPr>
        <p:spPr>
          <a:xfrm>
            <a:off x="123444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Solve It</a:t>
            </a:r>
            <a:endParaRPr lang="en-US" sz="1300" dirty="0"/>
          </a:p>
        </p:txBody>
      </p:sp>
      <p:sp>
        <p:nvSpPr>
          <p:cNvPr id="29" name="Text 27"/>
          <p:cNvSpPr/>
          <p:nvPr/>
        </p:nvSpPr>
        <p:spPr>
          <a:xfrm>
            <a:off x="59436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Work one practice problem and show every step clearly.</a:t>
            </a:r>
            <a:endParaRPr lang="en-US" sz="1000" dirty="0"/>
          </a:p>
        </p:txBody>
      </p:sp>
      <p:sp>
        <p:nvSpPr>
          <p:cNvPr id="30" name="Shape 28"/>
          <p:cNvSpPr/>
          <p:nvPr/>
        </p:nvSpPr>
        <p:spPr>
          <a:xfrm>
            <a:off x="4709160" y="2834640"/>
            <a:ext cx="4114800" cy="1645920"/>
          </a:xfrm>
          <a:prstGeom prst="roundRect">
            <a:avLst>
              <a:gd name="adj" fmla="val 4444"/>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484632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32" name="Text 30"/>
          <p:cNvSpPr/>
          <p:nvPr/>
        </p:nvSpPr>
        <p:spPr>
          <a:xfrm>
            <a:off x="553212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Create a Problem</a:t>
            </a:r>
            <a:endParaRPr lang="en-US" sz="1300" dirty="0"/>
          </a:p>
        </p:txBody>
      </p:sp>
      <p:sp>
        <p:nvSpPr>
          <p:cNvPr id="33" name="Text 31"/>
          <p:cNvSpPr/>
          <p:nvPr/>
        </p:nvSpPr>
        <p:spPr>
          <a:xfrm>
            <a:off x="489204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Write your own problem that uses Volume, then solve it and make an answer key.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Independent Practice / Práctica Independiente</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9</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46304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ON YOUR OWN</a:t>
            </a:r>
            <a:endParaRPr lang="en-US" sz="900" dirty="0"/>
          </a:p>
        </p:txBody>
      </p:sp>
      <p:sp>
        <p:nvSpPr>
          <p:cNvPr id="19" name="Text 17"/>
          <p:cNvSpPr/>
          <p:nvPr/>
        </p:nvSpPr>
        <p:spPr>
          <a:xfrm>
            <a:off x="594360" y="123444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1.  </a:t>
            </a:r>
            <a:pPr indent="0" marL="0">
              <a:buNone/>
            </a:pPr>
            <a:r>
              <a:rPr lang="en-US" sz="1050" dirty="0">
                <a:solidFill>
                  <a:srgbClr val="17324D"/>
                </a:solidFill>
                <a:latin typeface="Hanken Grotesk" pitchFamily="34" charset="0"/>
                <a:ea typeface="Hanken Grotesk" pitchFamily="34" charset="-122"/>
                <a:cs typeface="Hanken Grotesk" pitchFamily="34" charset="-120"/>
              </a:rPr>
              <a:t>Two boxes: Box A is 10 × 5 × 4 inches. Box B is 8 × 6 × 5 inches. Which has more volume and by how much?</a:t>
            </a:r>
            <a:endParaRPr lang="en-US" sz="1050" dirty="0"/>
          </a:p>
        </p:txBody>
      </p:sp>
      <p:sp>
        <p:nvSpPr>
          <p:cNvPr id="20" name="Shape 18"/>
          <p:cNvSpPr/>
          <p:nvPr/>
        </p:nvSpPr>
        <p:spPr>
          <a:xfrm>
            <a:off x="777240" y="1783080"/>
            <a:ext cx="4983480" cy="0"/>
          </a:xfrm>
          <a:prstGeom prst="line">
            <a:avLst/>
          </a:prstGeom>
          <a:noFill/>
          <a:ln w="9525">
            <a:solidFill>
              <a:srgbClr val="C7CDD2"/>
            </a:solidFill>
            <a:prstDash val="dash"/>
          </a:ln>
        </p:spPr>
      </p:sp>
      <p:sp>
        <p:nvSpPr>
          <p:cNvPr id="21" name="Text 19"/>
          <p:cNvSpPr/>
          <p:nvPr/>
        </p:nvSpPr>
        <p:spPr>
          <a:xfrm>
            <a:off x="594360" y="219456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2.  </a:t>
            </a:r>
            <a:pPr indent="0" marL="0">
              <a:buNone/>
            </a:pPr>
            <a:r>
              <a:rPr lang="en-US" sz="1050" dirty="0">
                <a:solidFill>
                  <a:srgbClr val="17324D"/>
                </a:solidFill>
                <a:latin typeface="Hanken Grotesk" pitchFamily="34" charset="0"/>
                <a:ea typeface="Hanken Grotesk" pitchFamily="34" charset="-122"/>
                <a:cs typeface="Hanken Grotesk" pitchFamily="34" charset="-120"/>
              </a:rPr>
              <a:t>What is the volume of a rectangular prism with l = 4 in, w = 3 in, h = 5 in?</a:t>
            </a:r>
            <a:endParaRPr lang="en-US" sz="1050" dirty="0"/>
          </a:p>
        </p:txBody>
      </p:sp>
      <p:sp>
        <p:nvSpPr>
          <p:cNvPr id="22" name="Shape 20"/>
          <p:cNvSpPr/>
          <p:nvPr/>
        </p:nvSpPr>
        <p:spPr>
          <a:xfrm>
            <a:off x="777240" y="2743200"/>
            <a:ext cx="4983480" cy="0"/>
          </a:xfrm>
          <a:prstGeom prst="line">
            <a:avLst/>
          </a:prstGeom>
          <a:noFill/>
          <a:ln w="9525">
            <a:solidFill>
              <a:srgbClr val="C7CDD2"/>
            </a:solidFill>
            <a:prstDash val="dash"/>
          </a:ln>
        </p:spPr>
      </p:sp>
      <p:sp>
        <p:nvSpPr>
          <p:cNvPr id="23" name="Text 21"/>
          <p:cNvSpPr/>
          <p:nvPr/>
        </p:nvSpPr>
        <p:spPr>
          <a:xfrm>
            <a:off x="594360" y="3154680"/>
            <a:ext cx="5166360" cy="45720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3.  </a:t>
            </a:r>
            <a:pPr indent="0" marL="0">
              <a:buNone/>
            </a:pPr>
            <a:r>
              <a:rPr lang="en-US" sz="1050" dirty="0">
                <a:solidFill>
                  <a:srgbClr val="17324D"/>
                </a:solidFill>
                <a:latin typeface="Hanken Grotesk" pitchFamily="34" charset="0"/>
                <a:ea typeface="Hanken Grotesk" pitchFamily="34" charset="-122"/>
                <a:cs typeface="Hanken Grotesk" pitchFamily="34" charset="-120"/>
              </a:rPr>
              <a:t>A box has a volume of 36 cm³. Its length is 6 cm and width is 3 cm. What is the height?</a:t>
            </a:r>
            <a:endParaRPr lang="en-US" sz="1050" dirty="0"/>
          </a:p>
        </p:txBody>
      </p:sp>
      <p:sp>
        <p:nvSpPr>
          <p:cNvPr id="24" name="Shape 22"/>
          <p:cNvSpPr/>
          <p:nvPr/>
        </p:nvSpPr>
        <p:spPr>
          <a:xfrm>
            <a:off x="777240" y="3703320"/>
            <a:ext cx="4983480" cy="0"/>
          </a:xfrm>
          <a:prstGeom prst="line">
            <a:avLst/>
          </a:prstGeom>
          <a:noFill/>
          <a:ln w="9525">
            <a:solidFill>
              <a:srgbClr val="C7CDD2"/>
            </a:solidFill>
            <a:prstDash val="dash"/>
          </a:ln>
        </p:spPr>
      </p:sp>
      <p:sp>
        <p:nvSpPr>
          <p:cNvPr id="25" name="Shape 23"/>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27" name="Text 25"/>
          <p:cNvSpPr/>
          <p:nvPr/>
        </p:nvSpPr>
        <p:spPr>
          <a:xfrm>
            <a:off x="6217920" y="1097280"/>
            <a:ext cx="2468880" cy="155448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A fish tank is 24 in long, 12 in wide, and 16 in tall, and one gallon takes about 231 cubic inches. Talk through how you would find how many gallons it holds.</a:t>
            </a:r>
            <a:endParaRPr lang="en-US" sz="1000" dirty="0"/>
          </a:p>
        </p:txBody>
      </p:sp>
      <p:sp>
        <p:nvSpPr>
          <p:cNvPr id="28" name="Shape 26"/>
          <p:cNvSpPr/>
          <p:nvPr/>
        </p:nvSpPr>
        <p:spPr>
          <a:xfrm>
            <a:off x="6217920" y="2834640"/>
            <a:ext cx="2423160" cy="0"/>
          </a:xfrm>
          <a:prstGeom prst="line">
            <a:avLst/>
          </a:prstGeom>
          <a:noFill/>
          <a:ln w="9525">
            <a:solidFill>
              <a:srgbClr val="C7CDD2"/>
            </a:solidFill>
            <a:prstDash val="dash"/>
          </a:ln>
        </p:spPr>
      </p:sp>
      <p:sp>
        <p:nvSpPr>
          <p:cNvPr id="29" name="Shape 27"/>
          <p:cNvSpPr/>
          <p:nvPr/>
        </p:nvSpPr>
        <p:spPr>
          <a:xfrm>
            <a:off x="6217920" y="3163824"/>
            <a:ext cx="2423160" cy="0"/>
          </a:xfrm>
          <a:prstGeom prst="line">
            <a:avLst/>
          </a:prstGeom>
          <a:noFill/>
          <a:ln w="9525">
            <a:solidFill>
              <a:srgbClr val="C7CDD2"/>
            </a:solidFill>
            <a:prstDash val="dash"/>
          </a:ln>
        </p:spPr>
      </p:sp>
      <p:sp>
        <p:nvSpPr>
          <p:cNvPr id="30" name="Shape 28"/>
          <p:cNvSpPr/>
          <p:nvPr/>
        </p:nvSpPr>
        <p:spPr>
          <a:xfrm>
            <a:off x="6217920" y="3493008"/>
            <a:ext cx="2423160" cy="0"/>
          </a:xfrm>
          <a:prstGeom prst="line">
            <a:avLst/>
          </a:prstGeom>
          <a:noFill/>
          <a:ln w="9525">
            <a:solidFill>
              <a:srgbClr val="C7CDD2"/>
            </a:solidFill>
            <a:prstDash val="dash"/>
          </a:ln>
        </p:spPr>
      </p:sp>
      <p:sp>
        <p:nvSpPr>
          <p:cNvPr id="31" name="Shape 29"/>
          <p:cNvSpPr/>
          <p:nvPr/>
        </p:nvSpPr>
        <p:spPr>
          <a:xfrm>
            <a:off x="6217920" y="3822192"/>
            <a:ext cx="2423160" cy="0"/>
          </a:xfrm>
          <a:prstGeom prst="line">
            <a:avLst/>
          </a:prstGeom>
          <a:noFill/>
          <a:ln w="9525">
            <a:solidFill>
              <a:srgbClr val="C7CDD2"/>
            </a:solidFill>
            <a:prstDash val="dash"/>
          </a:ln>
        </p:spPr>
      </p:sp>
      <p:sp>
        <p:nvSpPr>
          <p:cNvPr id="32" name="Shape 30"/>
          <p:cNvSpPr/>
          <p:nvPr/>
        </p:nvSpPr>
        <p:spPr>
          <a:xfrm>
            <a:off x="6217920" y="4151376"/>
            <a:ext cx="2423160" cy="0"/>
          </a:xfrm>
          <a:prstGeom prst="line">
            <a:avLst/>
          </a:prstGeom>
          <a:noFill/>
          <a:ln w="9525">
            <a:solidFill>
              <a:srgbClr val="C7CDD2"/>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Think–Write–Respond / Piensa y Escribe</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10</a:t>
            </a:r>
            <a:endParaRPr lang="en-US" sz="800" dirty="0"/>
          </a:p>
        </p:txBody>
      </p:sp>
      <p:sp>
        <p:nvSpPr>
          <p:cNvPr id="17" name="Text 15"/>
          <p:cNvSpPr/>
          <p:nvPr/>
        </p:nvSpPr>
        <p:spPr>
          <a:xfrm>
            <a:off x="411480" y="603504"/>
            <a:ext cx="8412480" cy="274320"/>
          </a:xfrm>
          <a:prstGeom prst="rect">
            <a:avLst/>
          </a:prstGeom>
          <a:noFill/>
          <a:ln/>
        </p:spPr>
        <p:txBody>
          <a:bodyPr wrap="square" rtlCol="0" anchor="ctr"/>
          <a:lstStyle/>
          <a:p>
            <a:pPr indent="0" marL="0">
              <a:buNone/>
            </a:pPr>
            <a:r>
              <a:rPr lang="en-US" sz="1000" i="1" dirty="0">
                <a:solidFill>
                  <a:srgbClr val="8A96A3"/>
                </a:solidFill>
                <a:latin typeface="Hanken Grotesk" pitchFamily="34" charset="0"/>
                <a:ea typeface="Hanken Grotesk" pitchFamily="34" charset="-122"/>
                <a:cs typeface="Hanken Grotesk" pitchFamily="34" charset="-120"/>
              </a:rPr>
              <a:t>Use evidence from today's lesson to complete each frame.</a:t>
            </a:r>
            <a:endParaRPr lang="en-US" sz="1000" dirty="0"/>
          </a:p>
        </p:txBody>
      </p:sp>
      <p:sp>
        <p:nvSpPr>
          <p:cNvPr id="18" name="Shape 16"/>
          <p:cNvSpPr/>
          <p:nvPr/>
        </p:nvSpPr>
        <p:spPr>
          <a:xfrm>
            <a:off x="411480" y="96012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94360" y="105156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1 — </a:t>
            </a:r>
            <a:pPr indent="0" marL="0">
              <a:buNone/>
            </a:pPr>
            <a:r>
              <a:rPr lang="en-US" sz="1100" b="1" dirty="0">
                <a:solidFill>
                  <a:srgbClr val="B0883B"/>
                </a:solidFill>
                <a:latin typeface="Outfit" pitchFamily="34" charset="0"/>
                <a:ea typeface="Outfit" pitchFamily="34" charset="-122"/>
                <a:cs typeface="Outfit" pitchFamily="34" charset="-120"/>
              </a:rPr>
              <a:t>Explain the Rule</a:t>
            </a:r>
            <a:endParaRPr lang="en-US" sz="1100" dirty="0"/>
          </a:p>
        </p:txBody>
      </p:sp>
      <p:sp>
        <p:nvSpPr>
          <p:cNvPr id="20" name="Text 18"/>
          <p:cNvSpPr/>
          <p:nvPr/>
        </p:nvSpPr>
        <p:spPr>
          <a:xfrm>
            <a:off x="594360" y="134416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Today's key idea is "A fractional edge does not change the rule: still multiply length × width × height." — and it works because ___.</a:t>
            </a:r>
            <a:endParaRPr lang="en-US" sz="1050" dirty="0"/>
          </a:p>
        </p:txBody>
      </p:sp>
      <p:sp>
        <p:nvSpPr>
          <p:cNvPr id="21" name="Shape 19"/>
          <p:cNvSpPr/>
          <p:nvPr/>
        </p:nvSpPr>
        <p:spPr>
          <a:xfrm>
            <a:off x="594360" y="1892808"/>
            <a:ext cx="8046720" cy="0"/>
          </a:xfrm>
          <a:prstGeom prst="line">
            <a:avLst/>
          </a:prstGeom>
          <a:noFill/>
          <a:ln w="9525">
            <a:solidFill>
              <a:srgbClr val="C7CDD2"/>
            </a:solidFill>
            <a:prstDash val="dash"/>
          </a:ln>
        </p:spPr>
      </p:sp>
      <p:sp>
        <p:nvSpPr>
          <p:cNvPr id="22" name="Shape 20"/>
          <p:cNvSpPr/>
          <p:nvPr/>
        </p:nvSpPr>
        <p:spPr>
          <a:xfrm>
            <a:off x="411480" y="224028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594360" y="233172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2 — </a:t>
            </a:r>
            <a:pPr indent="0" marL="0">
              <a:buNone/>
            </a:pPr>
            <a:r>
              <a:rPr lang="en-US" sz="1100" b="1" dirty="0">
                <a:solidFill>
                  <a:srgbClr val="B0883B"/>
                </a:solidFill>
                <a:latin typeface="Outfit" pitchFamily="34" charset="0"/>
                <a:ea typeface="Outfit" pitchFamily="34" charset="-122"/>
                <a:cs typeface="Outfit" pitchFamily="34" charset="-120"/>
              </a:rPr>
              <a:t>Because / But / So</a:t>
            </a:r>
            <a:endParaRPr lang="en-US" sz="1100" dirty="0"/>
          </a:p>
        </p:txBody>
      </p:sp>
      <p:sp>
        <p:nvSpPr>
          <p:cNvPr id="24" name="Text 22"/>
          <p:cNvSpPr/>
          <p:nvPr/>
        </p:nvSpPr>
        <p:spPr>
          <a:xfrm>
            <a:off x="594360" y="262432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Because Volume means ___, but a tricky part is ___, so I have to ___.</a:t>
            </a:r>
            <a:endParaRPr lang="en-US" sz="1050" dirty="0"/>
          </a:p>
        </p:txBody>
      </p:sp>
      <p:sp>
        <p:nvSpPr>
          <p:cNvPr id="25" name="Shape 23"/>
          <p:cNvSpPr/>
          <p:nvPr/>
        </p:nvSpPr>
        <p:spPr>
          <a:xfrm>
            <a:off x="594360" y="3172968"/>
            <a:ext cx="8046720" cy="0"/>
          </a:xfrm>
          <a:prstGeom prst="line">
            <a:avLst/>
          </a:prstGeom>
          <a:noFill/>
          <a:ln w="9525">
            <a:solidFill>
              <a:srgbClr val="C7CDD2"/>
            </a:solidFill>
            <a:prstDash val="dash"/>
          </a:ln>
        </p:spPr>
      </p:sp>
      <p:sp>
        <p:nvSpPr>
          <p:cNvPr id="26" name="Shape 24"/>
          <p:cNvSpPr/>
          <p:nvPr/>
        </p:nvSpPr>
        <p:spPr>
          <a:xfrm>
            <a:off x="411480" y="352044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94360" y="361188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3 — </a:t>
            </a:r>
            <a:pPr indent="0" marL="0">
              <a:buNone/>
            </a:pPr>
            <a:r>
              <a:rPr lang="en-US" sz="1100" b="1" dirty="0">
                <a:solidFill>
                  <a:srgbClr val="B0883B"/>
                </a:solidFill>
                <a:latin typeface="Outfit" pitchFamily="34" charset="0"/>
                <a:ea typeface="Outfit" pitchFamily="34" charset="-122"/>
                <a:cs typeface="Outfit" pitchFamily="34" charset="-120"/>
              </a:rPr>
              <a:t>Catch the Mistake</a:t>
            </a:r>
            <a:endParaRPr lang="en-US" sz="1100" dirty="0"/>
          </a:p>
        </p:txBody>
      </p:sp>
      <p:sp>
        <p:nvSpPr>
          <p:cNvPr id="28" name="Text 26"/>
          <p:cNvSpPr/>
          <p:nvPr/>
        </p:nvSpPr>
        <p:spPr>
          <a:xfrm>
            <a:off x="594360" y="390448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A common mistake with Volume is ___. It happens because ___, and the fix is ___.</a:t>
            </a:r>
            <a:endParaRPr lang="en-US" sz="1050" dirty="0"/>
          </a:p>
        </p:txBody>
      </p:sp>
      <p:sp>
        <p:nvSpPr>
          <p:cNvPr id="29" name="Shape 27"/>
          <p:cNvSpPr/>
          <p:nvPr/>
        </p:nvSpPr>
        <p:spPr>
          <a:xfrm>
            <a:off x="594360" y="4453128"/>
            <a:ext cx="8046720" cy="0"/>
          </a:xfrm>
          <a:prstGeom prst="line">
            <a:avLst/>
          </a:prstGeom>
          <a:noFill/>
          <a:ln w="9525">
            <a:solidFill>
              <a:srgbClr val="C7CDD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Exit Ticket / Boleto de Salida</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11</a:t>
            </a:r>
            <a:endParaRPr lang="en-US" sz="800" dirty="0"/>
          </a:p>
        </p:txBody>
      </p:sp>
      <p:sp>
        <p:nvSpPr>
          <p:cNvPr id="17" name="Shape 15"/>
          <p:cNvSpPr/>
          <p:nvPr/>
        </p:nvSpPr>
        <p:spPr>
          <a:xfrm>
            <a:off x="411480" y="685800"/>
            <a:ext cx="416052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Reflection / Reflexión</a:t>
            </a:r>
            <a:endParaRPr lang="en-US" sz="1000" dirty="0"/>
          </a:p>
        </p:txBody>
      </p:sp>
      <p:sp>
        <p:nvSpPr>
          <p:cNvPr id="19" name="Text 17"/>
          <p:cNvSpPr/>
          <p:nvPr/>
        </p:nvSpPr>
        <p:spPr>
          <a:xfrm>
            <a:off x="594360" y="109728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Today I learned that ___ because ___.</a:t>
            </a:r>
            <a:endParaRPr lang="en-US" sz="1100" dirty="0"/>
          </a:p>
        </p:txBody>
      </p:sp>
      <p:sp>
        <p:nvSpPr>
          <p:cNvPr id="20" name="Shape 18"/>
          <p:cNvSpPr/>
          <p:nvPr/>
        </p:nvSpPr>
        <p:spPr>
          <a:xfrm>
            <a:off x="594360" y="1783080"/>
            <a:ext cx="3794760" cy="0"/>
          </a:xfrm>
          <a:prstGeom prst="line">
            <a:avLst/>
          </a:prstGeom>
          <a:noFill/>
          <a:ln w="9525">
            <a:solidFill>
              <a:srgbClr val="C7CDD2"/>
            </a:solidFill>
            <a:prstDash val="dash"/>
          </a:ln>
        </p:spPr>
      </p:sp>
      <p:sp>
        <p:nvSpPr>
          <p:cNvPr id="21" name="Shape 19"/>
          <p:cNvSpPr/>
          <p:nvPr/>
        </p:nvSpPr>
        <p:spPr>
          <a:xfrm>
            <a:off x="594360" y="2093976"/>
            <a:ext cx="3794760" cy="0"/>
          </a:xfrm>
          <a:prstGeom prst="line">
            <a:avLst/>
          </a:prstGeom>
          <a:noFill/>
          <a:ln w="9525">
            <a:solidFill>
              <a:srgbClr val="C7CDD2"/>
            </a:solidFill>
            <a:prstDash val="dash"/>
          </a:ln>
        </p:spPr>
      </p:sp>
      <p:sp>
        <p:nvSpPr>
          <p:cNvPr id="22" name="Shape 20"/>
          <p:cNvSpPr/>
          <p:nvPr/>
        </p:nvSpPr>
        <p:spPr>
          <a:xfrm>
            <a:off x="594360" y="2404872"/>
            <a:ext cx="3794760" cy="0"/>
          </a:xfrm>
          <a:prstGeom prst="line">
            <a:avLst/>
          </a:prstGeom>
          <a:noFill/>
          <a:ln w="9525">
            <a:solidFill>
              <a:srgbClr val="C7CDD2"/>
            </a:solidFill>
            <a:prstDash val="dash"/>
          </a:ln>
        </p:spPr>
      </p:sp>
      <p:sp>
        <p:nvSpPr>
          <p:cNvPr id="23" name="Text 21"/>
          <p:cNvSpPr/>
          <p:nvPr/>
        </p:nvSpPr>
        <p:spPr>
          <a:xfrm>
            <a:off x="594360" y="283464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One thing I am still not sure about is ___.</a:t>
            </a:r>
            <a:endParaRPr lang="en-US" sz="1100" dirty="0"/>
          </a:p>
        </p:txBody>
      </p:sp>
      <p:sp>
        <p:nvSpPr>
          <p:cNvPr id="24" name="Shape 22"/>
          <p:cNvSpPr/>
          <p:nvPr/>
        </p:nvSpPr>
        <p:spPr>
          <a:xfrm>
            <a:off x="594360" y="3520440"/>
            <a:ext cx="3794760" cy="0"/>
          </a:xfrm>
          <a:prstGeom prst="line">
            <a:avLst/>
          </a:prstGeom>
          <a:noFill/>
          <a:ln w="9525">
            <a:solidFill>
              <a:srgbClr val="C7CDD2"/>
            </a:solidFill>
            <a:prstDash val="dash"/>
          </a:ln>
        </p:spPr>
      </p:sp>
      <p:sp>
        <p:nvSpPr>
          <p:cNvPr id="25" name="Shape 23"/>
          <p:cNvSpPr/>
          <p:nvPr/>
        </p:nvSpPr>
        <p:spPr>
          <a:xfrm>
            <a:off x="594360" y="3831336"/>
            <a:ext cx="3794760" cy="0"/>
          </a:xfrm>
          <a:prstGeom prst="line">
            <a:avLst/>
          </a:prstGeom>
          <a:noFill/>
          <a:ln w="9525">
            <a:solidFill>
              <a:srgbClr val="C7CDD2"/>
            </a:solidFill>
            <a:prstDash val="dash"/>
          </a:ln>
        </p:spPr>
      </p:sp>
      <p:sp>
        <p:nvSpPr>
          <p:cNvPr id="26" name="Shape 24"/>
          <p:cNvSpPr/>
          <p:nvPr/>
        </p:nvSpPr>
        <p:spPr>
          <a:xfrm>
            <a:off x="594360" y="4142232"/>
            <a:ext cx="3794760" cy="0"/>
          </a:xfrm>
          <a:prstGeom prst="line">
            <a:avLst/>
          </a:prstGeom>
          <a:noFill/>
          <a:ln w="9525">
            <a:solidFill>
              <a:srgbClr val="C7CDD2"/>
            </a:solidFill>
            <a:prstDash val="dash"/>
          </a:ln>
        </p:spPr>
      </p:sp>
      <p:sp>
        <p:nvSpPr>
          <p:cNvPr id="27" name="Shape 25"/>
          <p:cNvSpPr/>
          <p:nvPr/>
        </p:nvSpPr>
        <p:spPr>
          <a:xfrm>
            <a:off x="4709160" y="685800"/>
            <a:ext cx="41148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8" name="Text 26"/>
          <p:cNvSpPr/>
          <p:nvPr/>
        </p:nvSpPr>
        <p:spPr>
          <a:xfrm>
            <a:off x="4709160" y="685800"/>
            <a:ext cx="4114800" cy="274320"/>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Quick Exit Ticket</a:t>
            </a:r>
            <a:endParaRPr lang="en-US" sz="1000" dirty="0"/>
          </a:p>
        </p:txBody>
      </p:sp>
      <p:sp>
        <p:nvSpPr>
          <p:cNvPr id="29" name="Text 27"/>
          <p:cNvSpPr/>
          <p:nvPr/>
        </p:nvSpPr>
        <p:spPr>
          <a:xfrm>
            <a:off x="4892040" y="1097280"/>
            <a:ext cx="3749040" cy="64008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Tier 1 — </a:t>
            </a:r>
            <a:pPr indent="0" marL="0">
              <a:buNone/>
            </a:pPr>
            <a:r>
              <a:rPr lang="en-US" sz="1050" dirty="0">
                <a:solidFill>
                  <a:srgbClr val="17324D"/>
                </a:solidFill>
                <a:latin typeface="Hanken Grotesk" pitchFamily="34" charset="0"/>
                <a:ea typeface="Hanken Grotesk" pitchFamily="34" charset="-122"/>
                <a:cs typeface="Hanken Grotesk" pitchFamily="34" charset="-120"/>
              </a:rPr>
              <a:t>A rectangular prism has l = 7 ft, w = 2 ft, h = 3 ft. What is the volume?</a:t>
            </a:r>
            <a:endParaRPr lang="en-US" sz="1050" dirty="0"/>
          </a:p>
        </p:txBody>
      </p:sp>
      <p:sp>
        <p:nvSpPr>
          <p:cNvPr id="30" name="Text 28"/>
          <p:cNvSpPr/>
          <p:nvPr/>
        </p:nvSpPr>
        <p:spPr>
          <a:xfrm>
            <a:off x="5029200" y="1783080"/>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A.  42 ft³</a:t>
            </a:r>
            <a:endParaRPr lang="en-US" sz="1000" dirty="0"/>
          </a:p>
        </p:txBody>
      </p:sp>
      <p:sp>
        <p:nvSpPr>
          <p:cNvPr id="31" name="Text 29"/>
          <p:cNvSpPr/>
          <p:nvPr/>
        </p:nvSpPr>
        <p:spPr>
          <a:xfrm>
            <a:off x="5029200" y="2093976"/>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B.  24 ft³</a:t>
            </a:r>
            <a:endParaRPr lang="en-US" sz="1000" dirty="0"/>
          </a:p>
        </p:txBody>
      </p:sp>
      <p:sp>
        <p:nvSpPr>
          <p:cNvPr id="32" name="Text 30"/>
          <p:cNvSpPr/>
          <p:nvPr/>
        </p:nvSpPr>
        <p:spPr>
          <a:xfrm>
            <a:off x="5029200" y="2404872"/>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C.  42 ft²</a:t>
            </a:r>
            <a:endParaRPr lang="en-US" sz="1000" dirty="0"/>
          </a:p>
        </p:txBody>
      </p:sp>
      <p:sp>
        <p:nvSpPr>
          <p:cNvPr id="33" name="Text 31"/>
          <p:cNvSpPr/>
          <p:nvPr/>
        </p:nvSpPr>
        <p:spPr>
          <a:xfrm>
            <a:off x="5029200" y="2715768"/>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D.  12 ft³</a:t>
            </a:r>
            <a:endParaRPr lang="en-US" sz="1000" dirty="0"/>
          </a:p>
        </p:txBody>
      </p:sp>
      <p:sp>
        <p:nvSpPr>
          <p:cNvPr id="34" name="Text 32"/>
          <p:cNvSpPr/>
          <p:nvPr/>
        </p:nvSpPr>
        <p:spPr>
          <a:xfrm>
            <a:off x="4892040" y="3163824"/>
            <a:ext cx="3749040" cy="502920"/>
          </a:xfrm>
          <a:prstGeom prst="rect">
            <a:avLst/>
          </a:prstGeom>
          <a:noFill/>
          <a:ln/>
        </p:spPr>
        <p:txBody>
          <a:bodyPr wrap="square" rtlCol="0" anchor="t"/>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Tier 2 — </a:t>
            </a:r>
            <a:pPr indent="0" marL="0">
              <a:buNone/>
            </a:pPr>
            <a:r>
              <a:rPr lang="en-US" sz="1050" dirty="0">
                <a:solidFill>
                  <a:srgbClr val="17324D"/>
                </a:solidFill>
                <a:latin typeface="Hanken Grotesk" pitchFamily="34" charset="0"/>
                <a:ea typeface="Hanken Grotesk" pitchFamily="34" charset="-122"/>
                <a:cs typeface="Hanken Grotesk" pitchFamily="34" charset="-120"/>
              </a:rPr>
              <a:t>Explain how you know your answer is correct. Use at least one vocabulary word.</a:t>
            </a:r>
            <a:endParaRPr lang="en-US" sz="1050" dirty="0"/>
          </a:p>
        </p:txBody>
      </p:sp>
      <p:sp>
        <p:nvSpPr>
          <p:cNvPr id="35" name="Shape 33"/>
          <p:cNvSpPr/>
          <p:nvPr/>
        </p:nvSpPr>
        <p:spPr>
          <a:xfrm>
            <a:off x="4892040" y="3803904"/>
            <a:ext cx="3749040" cy="0"/>
          </a:xfrm>
          <a:prstGeom prst="line">
            <a:avLst/>
          </a:prstGeom>
          <a:noFill/>
          <a:ln w="9525">
            <a:solidFill>
              <a:srgbClr val="C7CDD2"/>
            </a:solidFill>
            <a:prstDash val="dash"/>
          </a:ln>
        </p:spPr>
      </p:sp>
      <p:sp>
        <p:nvSpPr>
          <p:cNvPr id="36" name="Shape 34"/>
          <p:cNvSpPr/>
          <p:nvPr/>
        </p:nvSpPr>
        <p:spPr>
          <a:xfrm>
            <a:off x="4892040" y="4096512"/>
            <a:ext cx="3749040" cy="0"/>
          </a:xfrm>
          <a:prstGeom prst="line">
            <a:avLst/>
          </a:prstGeom>
          <a:noFill/>
          <a:ln w="9525">
            <a:solidFill>
              <a:srgbClr val="C7CDD2"/>
            </a:solidFill>
            <a:prstDash val="dash"/>
          </a:ln>
        </p:spPr>
      </p:sp>
      <p:sp>
        <p:nvSpPr>
          <p:cNvPr id="37" name="Shape 35"/>
          <p:cNvSpPr/>
          <p:nvPr/>
        </p:nvSpPr>
        <p:spPr>
          <a:xfrm>
            <a:off x="4892040" y="4389120"/>
            <a:ext cx="3749040" cy="0"/>
          </a:xfrm>
          <a:prstGeom prst="line">
            <a:avLst/>
          </a:prstGeom>
          <a:noFill/>
          <a:ln w="9525">
            <a:solidFill>
              <a:srgbClr val="C7CDD2"/>
            </a:solidFill>
            <a:prstDash val="dash"/>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Goal Tracker / Seguimiento de Metas</a:t>
            </a:r>
            <a:endParaRPr lang="en-US" sz="1500" dirty="0"/>
          </a:p>
        </p:txBody>
      </p:sp>
      <p:sp>
        <p:nvSpPr>
          <p:cNvPr id="5" name="Text 3"/>
          <p:cNvSpPr/>
          <p:nvPr/>
        </p:nvSpPr>
        <p:spPr>
          <a:xfrm>
            <a:off x="7360920" y="100584"/>
            <a:ext cx="914400" cy="274320"/>
          </a:xfrm>
          <a:prstGeom prst="rect">
            <a:avLst>
              <a:gd name="adj" fmla="val 50000"/>
            </a:avLst>
          </a:prstGeom>
          <a:solidFill>
            <a:srgbClr val="B0883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6.G.2</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10  ·  Lesson 10-2</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12</a:t>
            </a:r>
            <a:endParaRPr lang="en-US" sz="800" dirty="0"/>
          </a:p>
        </p:txBody>
      </p:sp>
      <p:sp>
        <p:nvSpPr>
          <p:cNvPr id="17" name="Shape 15"/>
          <p:cNvSpPr/>
          <p:nvPr/>
        </p:nvSpPr>
        <p:spPr>
          <a:xfrm>
            <a:off x="411480" y="658368"/>
            <a:ext cx="8412480" cy="502920"/>
          </a:xfrm>
          <a:prstGeom prst="roundRect">
            <a:avLst>
              <a:gd name="adj" fmla="val 14545"/>
            </a:avLst>
          </a:prstGeom>
          <a:solidFill>
            <a:srgbClr val="17324D"/>
          </a:solidFill>
          <a:ln/>
        </p:spPr>
      </p:sp>
      <p:sp>
        <p:nvSpPr>
          <p:cNvPr id="18" name="Text 16"/>
          <p:cNvSpPr/>
          <p:nvPr/>
        </p:nvSpPr>
        <p:spPr>
          <a:xfrm>
            <a:off x="640080" y="658368"/>
            <a:ext cx="7955280" cy="502920"/>
          </a:xfrm>
          <a:prstGeom prst="rect">
            <a:avLst/>
          </a:prstGeom>
          <a:noFill/>
          <a:ln/>
        </p:spPr>
        <p:txBody>
          <a:bodyPr wrap="square" rtlCol="0" anchor="ctr"/>
          <a:lstStyle/>
          <a:p>
            <a:pPr indent="0" marL="0">
              <a:buNone/>
            </a:pPr>
            <a:r>
              <a:rPr lang="en-US" sz="1100" b="1" dirty="0">
                <a:solidFill>
                  <a:srgbClr val="F2C15B"/>
                </a:solidFill>
                <a:latin typeface="Hanken Grotesk" pitchFamily="34" charset="0"/>
                <a:ea typeface="Hanken Grotesk" pitchFamily="34" charset="-122"/>
                <a:cs typeface="Hanken Grotesk" pitchFamily="34" charset="-120"/>
              </a:rPr>
              <a:t>My Goal:  </a:t>
            </a:r>
            <a:pPr indent="0" marL="0">
              <a:buNone/>
            </a:pPr>
            <a:r>
              <a:rPr lang="en-US" sz="1100" dirty="0">
                <a:solidFill>
                  <a:srgbClr val="FFFFFF"/>
                </a:solidFill>
                <a:latin typeface="Hanken Grotesk" pitchFamily="34" charset="0"/>
                <a:ea typeface="Hanken Grotesk" pitchFamily="34" charset="-122"/>
                <a:cs typeface="Hanken Grotesk" pitchFamily="34" charset="-120"/>
              </a:rPr>
              <a:t>I can find the volume of a rectangular prism, including ones with fractional edge lengths, using base area × height.</a:t>
            </a:r>
            <a:endParaRPr lang="en-US" sz="1100" dirty="0"/>
          </a:p>
        </p:txBody>
      </p:sp>
      <p:sp>
        <p:nvSpPr>
          <p:cNvPr id="19" name="Shape 17"/>
          <p:cNvSpPr/>
          <p:nvPr/>
        </p:nvSpPr>
        <p:spPr>
          <a:xfrm>
            <a:off x="411480" y="1371600"/>
            <a:ext cx="1965960" cy="2377440"/>
          </a:xfrm>
          <a:prstGeom prst="roundRect">
            <a:avLst>
              <a:gd name="adj" fmla="val 3721"/>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0" name="Shape 18"/>
          <p:cNvSpPr/>
          <p:nvPr/>
        </p:nvSpPr>
        <p:spPr>
          <a:xfrm>
            <a:off x="1138428" y="1508760"/>
            <a:ext cx="512064" cy="512064"/>
          </a:xfrm>
          <a:prstGeom prst="ellipse">
            <a:avLst/>
          </a:prstGeom>
          <a:solidFill>
            <a:srgbClr val="B0883B"/>
          </a:solidFill>
          <a:ln/>
        </p:spPr>
      </p:sp>
      <p:sp>
        <p:nvSpPr>
          <p:cNvPr id="21" name="Text 19"/>
          <p:cNvSpPr/>
          <p:nvPr/>
        </p:nvSpPr>
        <p:spPr>
          <a:xfrm>
            <a:off x="113842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1</a:t>
            </a:r>
            <a:endParaRPr lang="en-US" sz="2000" dirty="0"/>
          </a:p>
        </p:txBody>
      </p:sp>
      <p:sp>
        <p:nvSpPr>
          <p:cNvPr id="22" name="Text 20"/>
          <p:cNvSpPr/>
          <p:nvPr/>
        </p:nvSpPr>
        <p:spPr>
          <a:xfrm>
            <a:off x="45720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Not Yet</a:t>
            </a:r>
            <a:endParaRPr lang="en-US" sz="1150" dirty="0"/>
          </a:p>
        </p:txBody>
      </p:sp>
      <p:sp>
        <p:nvSpPr>
          <p:cNvPr id="23" name="Text 21"/>
          <p:cNvSpPr/>
          <p:nvPr/>
        </p:nvSpPr>
        <p:spPr>
          <a:xfrm>
            <a:off x="52120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need more help. This does not make sense to me yet.</a:t>
            </a:r>
            <a:endParaRPr lang="en-US" sz="900" dirty="0"/>
          </a:p>
        </p:txBody>
      </p:sp>
      <p:sp>
        <p:nvSpPr>
          <p:cNvPr id="24" name="Text 22"/>
          <p:cNvSpPr/>
          <p:nvPr/>
        </p:nvSpPr>
        <p:spPr>
          <a:xfrm>
            <a:off x="45720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25" name="Shape 23"/>
          <p:cNvSpPr/>
          <p:nvPr/>
        </p:nvSpPr>
        <p:spPr>
          <a:xfrm>
            <a:off x="2560320" y="1371600"/>
            <a:ext cx="1965960" cy="2377440"/>
          </a:xfrm>
          <a:prstGeom prst="roundRect">
            <a:avLst>
              <a:gd name="adj" fmla="val 3721"/>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Shape 24"/>
          <p:cNvSpPr/>
          <p:nvPr/>
        </p:nvSpPr>
        <p:spPr>
          <a:xfrm>
            <a:off x="3287268" y="1508760"/>
            <a:ext cx="512064" cy="512064"/>
          </a:xfrm>
          <a:prstGeom prst="ellipse">
            <a:avLst/>
          </a:prstGeom>
          <a:solidFill>
            <a:srgbClr val="B0883B"/>
          </a:solidFill>
          <a:ln/>
        </p:spPr>
      </p:sp>
      <p:sp>
        <p:nvSpPr>
          <p:cNvPr id="27" name="Text 25"/>
          <p:cNvSpPr/>
          <p:nvPr/>
        </p:nvSpPr>
        <p:spPr>
          <a:xfrm>
            <a:off x="328726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2</a:t>
            </a:r>
            <a:endParaRPr lang="en-US" sz="2000" dirty="0"/>
          </a:p>
        </p:txBody>
      </p:sp>
      <p:sp>
        <p:nvSpPr>
          <p:cNvPr id="28" name="Text 26"/>
          <p:cNvSpPr/>
          <p:nvPr/>
        </p:nvSpPr>
        <p:spPr>
          <a:xfrm>
            <a:off x="260604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Getting There</a:t>
            </a:r>
            <a:endParaRPr lang="en-US" sz="1150" dirty="0"/>
          </a:p>
        </p:txBody>
      </p:sp>
      <p:sp>
        <p:nvSpPr>
          <p:cNvPr id="29" name="Text 27"/>
          <p:cNvSpPr/>
          <p:nvPr/>
        </p:nvSpPr>
        <p:spPr>
          <a:xfrm>
            <a:off x="267004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understand the idea but I make mistakes when I work.</a:t>
            </a:r>
            <a:endParaRPr lang="en-US" sz="900" dirty="0"/>
          </a:p>
        </p:txBody>
      </p:sp>
      <p:sp>
        <p:nvSpPr>
          <p:cNvPr id="30" name="Text 28"/>
          <p:cNvSpPr/>
          <p:nvPr/>
        </p:nvSpPr>
        <p:spPr>
          <a:xfrm>
            <a:off x="260604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1" name="Shape 29"/>
          <p:cNvSpPr/>
          <p:nvPr/>
        </p:nvSpPr>
        <p:spPr>
          <a:xfrm>
            <a:off x="4709160" y="1371600"/>
            <a:ext cx="1965960" cy="2377440"/>
          </a:xfrm>
          <a:prstGeom prst="roundRect">
            <a:avLst>
              <a:gd name="adj" fmla="val 3721"/>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2" name="Shape 30"/>
          <p:cNvSpPr/>
          <p:nvPr/>
        </p:nvSpPr>
        <p:spPr>
          <a:xfrm>
            <a:off x="5436108" y="1508760"/>
            <a:ext cx="512064" cy="512064"/>
          </a:xfrm>
          <a:prstGeom prst="ellipse">
            <a:avLst/>
          </a:prstGeom>
          <a:solidFill>
            <a:srgbClr val="B0883B"/>
          </a:solidFill>
          <a:ln/>
        </p:spPr>
      </p:sp>
      <p:sp>
        <p:nvSpPr>
          <p:cNvPr id="33" name="Text 31"/>
          <p:cNvSpPr/>
          <p:nvPr/>
        </p:nvSpPr>
        <p:spPr>
          <a:xfrm>
            <a:off x="543610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3</a:t>
            </a:r>
            <a:endParaRPr lang="en-US" sz="2000" dirty="0"/>
          </a:p>
        </p:txBody>
      </p:sp>
      <p:sp>
        <p:nvSpPr>
          <p:cNvPr id="34" name="Text 32"/>
          <p:cNvSpPr/>
          <p:nvPr/>
        </p:nvSpPr>
        <p:spPr>
          <a:xfrm>
            <a:off x="475488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Got It!</a:t>
            </a:r>
            <a:endParaRPr lang="en-US" sz="1150" dirty="0"/>
          </a:p>
        </p:txBody>
      </p:sp>
      <p:sp>
        <p:nvSpPr>
          <p:cNvPr id="35" name="Text 33"/>
          <p:cNvSpPr/>
          <p:nvPr/>
        </p:nvSpPr>
        <p:spPr>
          <a:xfrm>
            <a:off x="481888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solve problems on my own and explain my thinking.</a:t>
            </a:r>
            <a:endParaRPr lang="en-US" sz="900" dirty="0"/>
          </a:p>
        </p:txBody>
      </p:sp>
      <p:sp>
        <p:nvSpPr>
          <p:cNvPr id="36" name="Text 34"/>
          <p:cNvSpPr/>
          <p:nvPr/>
        </p:nvSpPr>
        <p:spPr>
          <a:xfrm>
            <a:off x="475488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7" name="Shape 35"/>
          <p:cNvSpPr/>
          <p:nvPr/>
        </p:nvSpPr>
        <p:spPr>
          <a:xfrm>
            <a:off x="6858000" y="1371600"/>
            <a:ext cx="1965960" cy="2377440"/>
          </a:xfrm>
          <a:prstGeom prst="roundRect">
            <a:avLst>
              <a:gd name="adj" fmla="val 3721"/>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Shape 36"/>
          <p:cNvSpPr/>
          <p:nvPr/>
        </p:nvSpPr>
        <p:spPr>
          <a:xfrm>
            <a:off x="7584948" y="1508760"/>
            <a:ext cx="512064" cy="512064"/>
          </a:xfrm>
          <a:prstGeom prst="ellipse">
            <a:avLst/>
          </a:prstGeom>
          <a:solidFill>
            <a:srgbClr val="B0883B"/>
          </a:solidFill>
          <a:ln/>
        </p:spPr>
      </p:sp>
      <p:sp>
        <p:nvSpPr>
          <p:cNvPr id="39" name="Text 37"/>
          <p:cNvSpPr/>
          <p:nvPr/>
        </p:nvSpPr>
        <p:spPr>
          <a:xfrm>
            <a:off x="758494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4</a:t>
            </a:r>
            <a:endParaRPr lang="en-US" sz="2000" dirty="0"/>
          </a:p>
        </p:txBody>
      </p:sp>
      <p:sp>
        <p:nvSpPr>
          <p:cNvPr id="40" name="Text 38"/>
          <p:cNvSpPr/>
          <p:nvPr/>
        </p:nvSpPr>
        <p:spPr>
          <a:xfrm>
            <a:off x="690372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Can Teach It</a:t>
            </a:r>
            <a:endParaRPr lang="en-US" sz="1150" dirty="0"/>
          </a:p>
        </p:txBody>
      </p:sp>
      <p:sp>
        <p:nvSpPr>
          <p:cNvPr id="41" name="Text 39"/>
          <p:cNvSpPr/>
          <p:nvPr/>
        </p:nvSpPr>
        <p:spPr>
          <a:xfrm>
            <a:off x="696772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clearly teach this strategy to a classmate.</a:t>
            </a:r>
            <a:endParaRPr lang="en-US" sz="900" dirty="0"/>
          </a:p>
        </p:txBody>
      </p:sp>
      <p:sp>
        <p:nvSpPr>
          <p:cNvPr id="42" name="Text 40"/>
          <p:cNvSpPr/>
          <p:nvPr/>
        </p:nvSpPr>
        <p:spPr>
          <a:xfrm>
            <a:off x="690372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43" name="Shape 41"/>
          <p:cNvSpPr/>
          <p:nvPr/>
        </p:nvSpPr>
        <p:spPr>
          <a:xfrm>
            <a:off x="411480" y="3977640"/>
            <a:ext cx="8412480" cy="685800"/>
          </a:xfrm>
          <a:prstGeom prst="roundRect">
            <a:avLst>
              <a:gd name="adj" fmla="val 10667"/>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44" name="Text 42"/>
          <p:cNvSpPr/>
          <p:nvPr/>
        </p:nvSpPr>
        <p:spPr>
          <a:xfrm>
            <a:off x="640080" y="3977640"/>
            <a:ext cx="7955280" cy="685800"/>
          </a:xfrm>
          <a:prstGeom prst="rect">
            <a:avLst/>
          </a:prstGeom>
          <a:noFill/>
          <a:ln/>
        </p:spPr>
        <p:txBody>
          <a:bodyPr wrap="square" rtlCol="0" anchor="ctr"/>
          <a:lstStyle/>
          <a:p>
            <a:pPr indent="0" marL="0">
              <a:buNone/>
            </a:pPr>
            <a:r>
              <a:rPr lang="en-US" sz="1050" b="1" dirty="0">
                <a:solidFill>
                  <a:srgbClr val="B0883B"/>
                </a:solidFill>
                <a:latin typeface="Hanken Grotesk" pitchFamily="34" charset="0"/>
                <a:ea typeface="Hanken Grotesk" pitchFamily="34" charset="-122"/>
                <a:cs typeface="Hanken Grotesk" pitchFamily="34" charset="-120"/>
              </a:rPr>
              <a:t>My next step:  </a:t>
            </a:r>
            <a:pPr indent="0" marL="0">
              <a:buNone/>
            </a:pPr>
            <a:r>
              <a:rPr lang="en-US" sz="1050" dirty="0">
                <a:solidFill>
                  <a:srgbClr val="24323F"/>
                </a:solidFill>
                <a:latin typeface="Hanken Grotesk" pitchFamily="34" charset="0"/>
                <a:ea typeface="Hanken Grotesk" pitchFamily="34" charset="-122"/>
                <a:cs typeface="Hanken Grotesk" pitchFamily="34" charset="-120"/>
              </a:rPr>
              <a:t>To move up one level, I will ___.</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Neft Teacher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10-2: Volume of Rectangular Prisms</dc:title>
  <dc:subject>6.G.2</dc:subject>
  <dc:creator>Neft Teacher</dc:creator>
  <cp:lastModifiedBy>Neft Teacher</cp:lastModifiedBy>
  <cp:revision>1</cp:revision>
  <dcterms:created xsi:type="dcterms:W3CDTF">2026-06-08T12:10:58Z</dcterms:created>
  <dcterms:modified xsi:type="dcterms:W3CDTF">2026-06-08T12:10:58Z</dcterms:modified>
</cp:coreProperties>
</file>