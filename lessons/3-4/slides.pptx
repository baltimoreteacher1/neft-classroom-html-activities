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</p:sldIdLst>
  <p:notesMasterIdLst>
    <p:notesMasterId r:id="rId14"/>
  </p:notesMasterIdLst>
  <p:sldSz cx="9144000" cy="5143500"/>
  <p:notesSz cx="5143500" cy="9144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notesMaster" Target="notesMasters/notesMaster1.xml"/><Relationship Id="rId15" Type="http://schemas.openxmlformats.org/officeDocument/2006/relationships/presProps" Target="presProps.xml"/><Relationship Id="rId16" Type="http://schemas.openxmlformats.org/officeDocument/2006/relationships/viewProps" Target="viewProps.xml"/><Relationship Id="rId17" Type="http://schemas.openxmlformats.org/officeDocument/2006/relationships/theme" Target="theme/theme1.xml"/><Relationship Id="rId18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Answer key — 3 × 4 = 12 (multiply, don't add)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3749040" cy="5143500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Shape 1"/>
          <p:cNvSpPr/>
          <p:nvPr/>
        </p:nvSpPr>
        <p:spPr>
          <a:xfrm>
            <a:off x="2651760" y="-640080"/>
            <a:ext cx="2011680" cy="2011680"/>
          </a:xfrm>
          <a:prstGeom prst="ellipse">
            <a:avLst/>
          </a:prstGeom>
          <a:solidFill>
            <a:srgbClr val="C0654A">
              <a:alpha val="35000"/>
            </a:srgbClr>
          </a:solidFill>
          <a:ln/>
        </p:spPr>
      </p:sp>
      <p:sp>
        <p:nvSpPr>
          <p:cNvPr id="4" name="Text 2"/>
          <p:cNvSpPr/>
          <p:nvPr/>
        </p:nvSpPr>
        <p:spPr>
          <a:xfrm>
            <a:off x="411480" y="365760"/>
            <a:ext cx="30175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spc="2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411480" y="777240"/>
            <a:ext cx="1371600" cy="8229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4400" dirty="0">
                <a:solidFill>
                  <a:srgbClr val="000000"/>
                </a:solidFill>
              </a:rPr>
              <a:t>👨‍🍳</a:t>
            </a:r>
            <a:endParaRPr lang="en-US" sz="4400" dirty="0"/>
          </a:p>
        </p:txBody>
      </p:sp>
      <p:sp>
        <p:nvSpPr>
          <p:cNvPr id="6" name="Text 4"/>
          <p:cNvSpPr/>
          <p:nvPr/>
        </p:nvSpPr>
        <p:spPr>
          <a:xfrm>
            <a:off x="411480" y="1783080"/>
            <a:ext cx="301752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95000"/>
              </a:lnSpc>
              <a:buNone/>
            </a:pPr>
            <a:r>
              <a:rPr lang="en-US" sz="3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Equivalent Ratios</a:t>
            </a:r>
            <a:endParaRPr lang="en-US" sz="3000" dirty="0"/>
          </a:p>
        </p:txBody>
      </p:sp>
      <p:sp>
        <p:nvSpPr>
          <p:cNvPr id="7" name="Text 5"/>
          <p:cNvSpPr/>
          <p:nvPr/>
        </p:nvSpPr>
        <p:spPr>
          <a:xfrm>
            <a:off x="411480" y="4160520"/>
            <a:ext cx="1188720" cy="310896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1000" dirty="0"/>
          </a:p>
        </p:txBody>
      </p:sp>
      <p:sp>
        <p:nvSpPr>
          <p:cNvPr id="8" name="Text 6"/>
          <p:cNvSpPr/>
          <p:nvPr/>
        </p:nvSpPr>
        <p:spPr>
          <a:xfrm>
            <a:off x="1691640" y="4160520"/>
            <a:ext cx="1920240" cy="31089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BFE6E2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Unit 3  ·  Lesson 3-4</a:t>
            </a:r>
            <a:endParaRPr lang="en-US" sz="1000" dirty="0"/>
          </a:p>
        </p:txBody>
      </p:sp>
      <p:sp>
        <p:nvSpPr>
          <p:cNvPr id="9" name="Shape 7"/>
          <p:cNvSpPr/>
          <p:nvPr/>
        </p:nvSpPr>
        <p:spPr>
          <a:xfrm>
            <a:off x="4023360" y="411480"/>
            <a:ext cx="4800600" cy="1417320"/>
          </a:xfrm>
          <a:prstGeom prst="roundRect">
            <a:avLst>
              <a:gd name="adj" fmla="val 516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0" name="Text 8"/>
          <p:cNvSpPr/>
          <p:nvPr/>
        </p:nvSpPr>
        <p:spPr>
          <a:xfrm>
            <a:off x="4251960" y="548640"/>
            <a:ext cx="438912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Math Notebook</a:t>
            </a:r>
            <a:endParaRPr lang="en-US" sz="1600" dirty="0"/>
          </a:p>
        </p:txBody>
      </p:sp>
      <p:sp>
        <p:nvSpPr>
          <p:cNvPr id="11" name="Text 9"/>
          <p:cNvSpPr/>
          <p:nvPr/>
        </p:nvSpPr>
        <p:spPr>
          <a:xfrm>
            <a:off x="4251960" y="1024128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Name:</a:t>
            </a:r>
            <a:endParaRPr lang="en-US" sz="1000" dirty="0"/>
          </a:p>
        </p:txBody>
      </p:sp>
      <p:sp>
        <p:nvSpPr>
          <p:cNvPr id="12" name="Shape 10"/>
          <p:cNvSpPr/>
          <p:nvPr/>
        </p:nvSpPr>
        <p:spPr>
          <a:xfrm>
            <a:off x="4983480" y="1207008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3" name="Text 11"/>
          <p:cNvSpPr/>
          <p:nvPr/>
        </p:nvSpPr>
        <p:spPr>
          <a:xfrm>
            <a:off x="4251960" y="1280160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Date: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4983480" y="1463040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5" name="Text 13"/>
          <p:cNvSpPr/>
          <p:nvPr/>
        </p:nvSpPr>
        <p:spPr>
          <a:xfrm>
            <a:off x="4251960" y="1536192"/>
            <a:ext cx="73152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Period:</a:t>
            </a:r>
            <a:endParaRPr lang="en-US" sz="1000" dirty="0"/>
          </a:p>
        </p:txBody>
      </p:sp>
      <p:sp>
        <p:nvSpPr>
          <p:cNvPr id="16" name="Shape 14"/>
          <p:cNvSpPr/>
          <p:nvPr/>
        </p:nvSpPr>
        <p:spPr>
          <a:xfrm>
            <a:off x="4983480" y="1719072"/>
            <a:ext cx="3566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4023360" y="2011680"/>
            <a:ext cx="4800600" cy="1143000"/>
          </a:xfrm>
          <a:prstGeom prst="roundRect">
            <a:avLst>
              <a:gd name="adj" fmla="val 6400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206240" y="210312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CAN…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Yo puedo…</a:t>
            </a:r>
            <a:endParaRPr lang="en-US" sz="1100" dirty="0"/>
          </a:p>
        </p:txBody>
      </p:sp>
      <p:sp>
        <p:nvSpPr>
          <p:cNvPr id="19" name="Text 17"/>
          <p:cNvSpPr/>
          <p:nvPr/>
        </p:nvSpPr>
        <p:spPr>
          <a:xfrm>
            <a:off x="4206240" y="2395728"/>
            <a:ext cx="4434840" cy="713232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and check equivalent ratios using multiplication and division.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4023360" y="3291840"/>
            <a:ext cx="4800600" cy="1280160"/>
          </a:xfrm>
          <a:prstGeom prst="roundRect">
            <a:avLst>
              <a:gd name="adj" fmla="val 5714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4206240" y="3383280"/>
            <a:ext cx="44348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 WILL EXPLAIN…  </a:t>
            </a:r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/ Objetivo de lenguaje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4206240" y="3675888"/>
            <a:ext cx="4434840" cy="841248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explain my reasoning using the words equivalent ratios, rate, proportion, and simplify.</a:t>
            </a:r>
            <a:endParaRPr lang="en-US" sz="105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 Curious / Sé Curioso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3716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VISUAL PROMPT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07008"/>
            <a:ext cx="37947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Scenario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508760"/>
            <a:ext cx="379476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1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Montoya is preparing her famous tomato soup for a school banquet. Her original recipe serves 8 people, but tonight she needs to serve 32 guests. She needs your help to scale the recipe without changing the flavor!</a:t>
            </a:r>
            <a:endParaRPr lang="en-US" sz="1150" dirty="0"/>
          </a:p>
        </p:txBody>
      </p:sp>
      <p:sp>
        <p:nvSpPr>
          <p:cNvPr id="21" name="Text 19"/>
          <p:cNvSpPr/>
          <p:nvPr/>
        </p:nvSpPr>
        <p:spPr>
          <a:xfrm>
            <a:off x="594360" y="3154680"/>
            <a:ext cx="36576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Jot your first idea: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594360" y="356616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Shape 21"/>
          <p:cNvSpPr/>
          <p:nvPr/>
        </p:nvSpPr>
        <p:spPr>
          <a:xfrm>
            <a:off x="594360" y="388620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4" name="Shape 22"/>
          <p:cNvSpPr/>
          <p:nvPr/>
        </p:nvSpPr>
        <p:spPr>
          <a:xfrm>
            <a:off x="594360" y="42062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4709160" y="685800"/>
            <a:ext cx="4114800" cy="1920240"/>
          </a:xfrm>
          <a:prstGeom prst="roundRect">
            <a:avLst>
              <a:gd name="adj" fmla="val 381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👁  I Notice…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4892040" y="1051560"/>
            <a:ext cx="374904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quantities are being compared in the recipe?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stays the same when you multiply both ingredients by the same number?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How many times bigger is 32 than 8?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4709160" y="2743200"/>
            <a:ext cx="4114800" cy="1965960"/>
          </a:xfrm>
          <a:prstGeom prst="roundRect">
            <a:avLst>
              <a:gd name="adj" fmla="val 3721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4709160" y="2743200"/>
            <a:ext cx="4114800" cy="274320"/>
          </a:xfrm>
          <a:prstGeom prst="rect">
            <a:avLst/>
          </a:prstGeom>
          <a:solidFill>
            <a:srgbClr val="F2C15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💭  I Wonder…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4892040" y="3108960"/>
            <a:ext cx="3749040" cy="1508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What if we needed to scale DOWN for just 4 people?</a:t>
            </a:r>
            <a:endParaRPr lang="en-US" sz="1000" dirty="0"/>
          </a:p>
          <a:p>
            <a:pPr indent="0" marL="0">
              <a:lnSpc>
                <a:spcPct val="110000"/>
              </a:lnSpc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•  Could we use this same thinking with other recipes?</a:t>
            </a:r>
            <a:endParaRPr lang="en-US" sz="10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Vocabulary / Vocabulario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800" dirty="0"/>
          </a:p>
        </p:txBody>
      </p:sp>
      <p:graphicFrame>
        <p:nvGraphicFramePr>
          <p:cNvPr id="4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411480" y="685800"/>
          <a:ext cx="8412480" cy="914400"/>
        </p:xfrm>
        <a:graphic>
          <a:graphicData uri="http://schemas.openxmlformats.org/drawingml/2006/table">
            <a:tbl>
              <a:tblPr/>
              <a:tblGrid>
                <a:gridCol w="2103120"/>
                <a:gridCol w="4114800"/>
                <a:gridCol w="2194560"/>
              </a:tblGrid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Term / Término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Meaning / Significado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1000" b="1" dirty="0">
                          <a:solidFill>
                            <a:srgbClr val="FFFFFF"/>
                          </a:solidFill>
                          <a:latin typeface="Outfit" pitchFamily="34" charset="0"/>
                          <a:ea typeface="Outfit" pitchFamily="34" charset="-122"/>
                          <a:cs typeface="Outfit" pitchFamily="34" charset="-120"/>
                        </a:rPr>
                        <a:t>Example / Ejemplo</a:t>
                      </a:r>
                      <a:endParaRPr lang="en-US" sz="1000" dirty="0">
                        <a:latin typeface="Outfit" charset="0"/>
                        <a:ea typeface="Outfit" charset="0"/>
                        <a:cs typeface="Outfit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7324D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Ratio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way to compare two amounts.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manera de comparar dos cantidades.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3 red apples : 5 green apples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Equivalent ratios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Razones equivalentes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Two ratios that mean the same thing.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Dos razones que significan lo mismo.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2:3 and 4:6 both mean 2 out of every 3, so 2/3 = 4/6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Rate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Tasa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ratio comparing two amounts with different units, like miles per hour.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razón que compara dos cantidades con unidades distintas, como millas por hora.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60 miles per 1 hour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Proportion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Proporción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A math sentence saying two ratios are equal.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Una oración matemática que dice que dos razones son iguales.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2/3 = 4/6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4F1E8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50" b="1" dirty="0">
                          <a:solidFill>
                            <a:srgbClr val="17324D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Simplify</a:t>
                      </a:r>
                      <a:pPr indent="0" marL="0">
                        <a:buNone/>
                      </a:pP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Simplificar</a:t>
                      </a:r>
                      <a:endParaRPr lang="en-US" sz="95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To make a ratio smaller while keeping the same comparison.</a:t>
                      </a:r>
                      <a:pPr indent="0" marL="0">
                        <a:buNone/>
                      </a:pP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  <a:p>
                      <a:pPr indent="0" marL="0">
                        <a:buNone/>
                      </a:pPr>
                      <a:r>
                        <a:rPr lang="en-US" sz="850" i="1" dirty="0">
                          <a:solidFill>
                            <a:srgbClr val="8A96A3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Hacer una razón más pequeña sin cambiar la comparación.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indent="0" marL="0">
                        <a:buNone/>
                      </a:pPr>
                      <a:r>
                        <a:rPr lang="en-US" sz="900" i="1" dirty="0">
                          <a:solidFill>
                            <a:srgbClr val="24323F"/>
                          </a:solidFill>
                          <a:latin typeface="Hanken Grotesk" pitchFamily="34" charset="0"/>
                          <a:ea typeface="Hanken Grotesk" pitchFamily="34" charset="-122"/>
                          <a:cs typeface="Hanken Grotesk" pitchFamily="34" charset="-120"/>
                        </a:rPr>
                        <a:t>12:18 → divide both by 6 → 2:3</a:t>
                      </a:r>
                      <a:endParaRPr lang="en-US" sz="900" dirty="0">
                        <a:latin typeface="Hanken Grotesk" charset="0"/>
                        <a:ea typeface="Hanken Grotesk" charset="0"/>
                        <a:cs typeface="Hanken Grotesk" charset="0"/>
                      </a:endParaRPr>
                    </a:p>
                  </a:txBody>
                  <a:tcPr marL="91440" marR="91440" marT="45720" marB="45720" anchor="ctr">
                    <a:lnL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D6DBDF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Guided Practice / Práctica Guiada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73736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👩‍🏫 WE DO TOGETHER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188720"/>
            <a:ext cx="512064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What are equivalent ratios?</a:t>
            </a:r>
            <a:endParaRPr lang="en-US" sz="1200" dirty="0"/>
          </a:p>
        </p:txBody>
      </p:sp>
      <p:sp>
        <p:nvSpPr>
          <p:cNvPr id="20" name="Shape 18"/>
          <p:cNvSpPr/>
          <p:nvPr/>
        </p:nvSpPr>
        <p:spPr>
          <a:xfrm>
            <a:off x="640080" y="160934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640080" y="160934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2" name="Text 20"/>
          <p:cNvSpPr/>
          <p:nvPr/>
        </p:nvSpPr>
        <p:spPr>
          <a:xfrm>
            <a:off x="1024128" y="1554480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ratio is 2:5. We want to make it bigger using a scale factor of 3.</a:t>
            </a:r>
            <a:endParaRPr lang="en-US" sz="1050" dirty="0"/>
          </a:p>
        </p:txBody>
      </p:sp>
      <p:sp>
        <p:nvSpPr>
          <p:cNvPr id="23" name="Shape 21"/>
          <p:cNvSpPr/>
          <p:nvPr/>
        </p:nvSpPr>
        <p:spPr>
          <a:xfrm>
            <a:off x="640080" y="208483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4" name="Text 22"/>
          <p:cNvSpPr/>
          <p:nvPr/>
        </p:nvSpPr>
        <p:spPr>
          <a:xfrm>
            <a:off x="640080" y="208483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5" name="Text 23"/>
          <p:cNvSpPr/>
          <p:nvPr/>
        </p:nvSpPr>
        <p:spPr>
          <a:xfrm>
            <a:off x="1024128" y="2029968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both by 3: 2 x 3 = 6 and 5 x 3 = 15.</a:t>
            </a:r>
            <a:endParaRPr lang="en-US" sz="1050" dirty="0"/>
          </a:p>
        </p:txBody>
      </p:sp>
      <p:sp>
        <p:nvSpPr>
          <p:cNvPr id="26" name="Shape 24"/>
          <p:cNvSpPr/>
          <p:nvPr/>
        </p:nvSpPr>
        <p:spPr>
          <a:xfrm>
            <a:off x="640080" y="256032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640080" y="256032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1024128" y="2505456"/>
            <a:ext cx="48280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2:5 and 6:15 are equivalent ratios.</a:t>
            </a:r>
            <a:endParaRPr lang="en-US" sz="1050" dirty="0"/>
          </a:p>
        </p:txBody>
      </p:sp>
      <p:sp>
        <p:nvSpPr>
          <p:cNvPr id="29" name="Text 27"/>
          <p:cNvSpPr/>
          <p:nvPr/>
        </p:nvSpPr>
        <p:spPr>
          <a:xfrm>
            <a:off x="594360" y="3886200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Your turn — show your work:</a:t>
            </a:r>
            <a:endParaRPr lang="en-US" sz="900" dirty="0"/>
          </a:p>
        </p:txBody>
      </p:sp>
      <p:sp>
        <p:nvSpPr>
          <p:cNvPr id="30" name="Shape 28"/>
          <p:cNvSpPr/>
          <p:nvPr/>
        </p:nvSpPr>
        <p:spPr>
          <a:xfrm>
            <a:off x="640080" y="4297680"/>
            <a:ext cx="51206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Text 30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6217920" y="1097280"/>
            <a:ext cx="2468880" cy="146304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Montoya's soup serves 8 people, but she needs to serve 32. How many times bigger is the recipe, and what must she do to BOTH ingredients to keep the flavor?</a:t>
            </a:r>
            <a:endParaRPr lang="en-US" sz="1000" dirty="0"/>
          </a:p>
        </p:txBody>
      </p:sp>
      <p:sp>
        <p:nvSpPr>
          <p:cNvPr id="34" name="Shape 32"/>
          <p:cNvSpPr/>
          <p:nvPr/>
        </p:nvSpPr>
        <p:spPr>
          <a:xfrm>
            <a:off x="6172200" y="2743200"/>
            <a:ext cx="2514600" cy="1828800"/>
          </a:xfrm>
          <a:prstGeom prst="roundRect">
            <a:avLst>
              <a:gd name="adj" fmla="val 40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6309360" y="2834640"/>
            <a:ext cx="228600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🔑 Key Idea</a:t>
            </a:r>
            <a:endParaRPr lang="en-US" sz="950" dirty="0"/>
          </a:p>
        </p:txBody>
      </p:sp>
      <p:sp>
        <p:nvSpPr>
          <p:cNvPr id="36" name="Text 34"/>
          <p:cNvSpPr/>
          <p:nvPr/>
        </p:nvSpPr>
        <p:spPr>
          <a:xfrm>
            <a:off x="6309360" y="3108960"/>
            <a:ext cx="228600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Multiply or divide both numbers by the same amount to make an equivalent ratio.</a:t>
            </a:r>
            <a:endParaRPr lang="en-US" sz="95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Sort It Out / Clasifícalo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2296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Chef Montoya's recipe calls for 3 cups of tomatoes for every 2 cups of broth. Complete the ratio table to help her scale the recipe.</a:t>
            </a:r>
            <a:endParaRPr lang="en-US" sz="105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2064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Bank — cut or sort these cards:</a:t>
            </a:r>
            <a:endParaRPr lang="en-US" sz="850" dirty="0"/>
          </a:p>
        </p:txBody>
      </p:sp>
      <p:sp>
        <p:nvSpPr>
          <p:cNvPr id="20" name="Shape 18"/>
          <p:cNvSpPr/>
          <p:nvPr/>
        </p:nvSpPr>
        <p:spPr>
          <a:xfrm>
            <a:off x="59436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1" name="Text 19"/>
          <p:cNvSpPr/>
          <p:nvPr/>
        </p:nvSpPr>
        <p:spPr>
          <a:xfrm>
            <a:off x="68580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1</a:t>
            </a:r>
            <a:endParaRPr lang="en-US" sz="900" dirty="0"/>
          </a:p>
        </p:txBody>
      </p:sp>
      <p:sp>
        <p:nvSpPr>
          <p:cNvPr id="22" name="Shape 20"/>
          <p:cNvSpPr/>
          <p:nvPr/>
        </p:nvSpPr>
        <p:spPr>
          <a:xfrm>
            <a:off x="236220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245364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2</a:t>
            </a:r>
            <a:endParaRPr lang="en-US" sz="900" dirty="0"/>
          </a:p>
        </p:txBody>
      </p:sp>
      <p:sp>
        <p:nvSpPr>
          <p:cNvPr id="24" name="Shape 22"/>
          <p:cNvSpPr/>
          <p:nvPr/>
        </p:nvSpPr>
        <p:spPr>
          <a:xfrm>
            <a:off x="4130040" y="1481328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5" name="Text 23"/>
          <p:cNvSpPr/>
          <p:nvPr/>
        </p:nvSpPr>
        <p:spPr>
          <a:xfrm>
            <a:off x="4221480" y="1481328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3</a:t>
            </a:r>
            <a:endParaRPr lang="en-US" sz="900" dirty="0"/>
          </a:p>
        </p:txBody>
      </p:sp>
      <p:sp>
        <p:nvSpPr>
          <p:cNvPr id="26" name="Shape 24"/>
          <p:cNvSpPr/>
          <p:nvPr/>
        </p:nvSpPr>
        <p:spPr>
          <a:xfrm>
            <a:off x="594360" y="1975104"/>
            <a:ext cx="1630680" cy="384048"/>
          </a:xfrm>
          <a:prstGeom prst="roundRect">
            <a:avLst>
              <a:gd name="adj" fmla="val 11905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685800" y="1975104"/>
            <a:ext cx="1447800" cy="38404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Card 4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59436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59436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A</a:t>
            </a:r>
            <a:endParaRPr lang="en-US" sz="950" dirty="0"/>
          </a:p>
        </p:txBody>
      </p:sp>
      <p:sp>
        <p:nvSpPr>
          <p:cNvPr id="30" name="Shape 28"/>
          <p:cNvSpPr/>
          <p:nvPr/>
        </p:nvSpPr>
        <p:spPr>
          <a:xfrm>
            <a:off x="3246120" y="2560320"/>
            <a:ext cx="2514600" cy="1965960"/>
          </a:xfrm>
          <a:prstGeom prst="roundRect">
            <a:avLst>
              <a:gd name="adj" fmla="val 2326"/>
            </a:avLst>
          </a:prstGeom>
          <a:solidFill>
            <a:srgbClr val="FFFFFF"/>
          </a:solidFill>
          <a:ln w="12700">
            <a:solidFill>
              <a:srgbClr val="C0654A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3246120" y="2560320"/>
            <a:ext cx="2514600" cy="292608"/>
          </a:xfrm>
          <a:prstGeom prst="rect">
            <a:avLst/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5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Group B</a:t>
            </a:r>
            <a:endParaRPr lang="en-US" sz="950" dirty="0"/>
          </a:p>
        </p:txBody>
      </p:sp>
      <p:sp>
        <p:nvSpPr>
          <p:cNvPr id="32" name="Shape 30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3" name="Text 31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6217920" y="1097280"/>
            <a:ext cx="2468880" cy="1371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Looking at the tomatoes-to-broth table (3:2, 6:4, 9:6, 12:8), how can you PROVE these ratios are all equivalent?</a:t>
            </a:r>
            <a:endParaRPr lang="en-US" sz="1000" dirty="0"/>
          </a:p>
        </p:txBody>
      </p:sp>
      <p:sp>
        <p:nvSpPr>
          <p:cNvPr id="35" name="Shape 33"/>
          <p:cNvSpPr/>
          <p:nvPr/>
        </p:nvSpPr>
        <p:spPr>
          <a:xfrm>
            <a:off x="6217920" y="274320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07238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40156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373075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6217920" y="40599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Error Analysis / Análisis de Errores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554480" cy="274320"/>
          </a:xfrm>
          <a:prstGeom prst="rect">
            <a:avLst>
              <a:gd name="adj" fmla="val 50000"/>
            </a:avLst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⚠ FIND THE ERROR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2286000" y="841248"/>
            <a:ext cx="33832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Find Marcus's Mistake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188720"/>
            <a:ext cx="51206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classmate turned in the work below. One step has a mistake — find it, name it, fix it.</a:t>
            </a:r>
            <a:endParaRPr lang="en-US" sz="950" dirty="0"/>
          </a:p>
        </p:txBody>
      </p:sp>
      <p:sp>
        <p:nvSpPr>
          <p:cNvPr id="21" name="Shape 19"/>
          <p:cNvSpPr/>
          <p:nvPr/>
        </p:nvSpPr>
        <p:spPr>
          <a:xfrm>
            <a:off x="594360" y="1627632"/>
            <a:ext cx="5166360" cy="1901952"/>
          </a:xfrm>
          <a:prstGeom prst="roundRect">
            <a:avLst>
              <a:gd name="adj" fmla="val 2404"/>
            </a:avLst>
          </a:prstGeom>
          <a:solidFill>
            <a:srgbClr val="F4F1E8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2" name="Text 20"/>
          <p:cNvSpPr/>
          <p:nvPr/>
        </p:nvSpPr>
        <p:spPr>
          <a:xfrm>
            <a:off x="713232" y="1691640"/>
            <a:ext cx="4937760" cy="219456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Student's work (contains an error):</a:t>
            </a:r>
            <a:endParaRPr lang="en-US" sz="800" dirty="0"/>
          </a:p>
        </p:txBody>
      </p:sp>
      <p:sp>
        <p:nvSpPr>
          <p:cNvPr id="23" name="Text 21"/>
          <p:cNvSpPr/>
          <p:nvPr/>
        </p:nvSpPr>
        <p:spPr>
          <a:xfrm>
            <a:off x="777240" y="1938528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Set up the ratio: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cups : 5 cups = ? : 20 cups</a:t>
            </a:r>
            <a:endParaRPr lang="en-US" sz="950" dirty="0"/>
          </a:p>
        </p:txBody>
      </p:sp>
      <p:sp>
        <p:nvSpPr>
          <p:cNvPr id="24" name="Text 22"/>
          <p:cNvSpPr/>
          <p:nvPr/>
        </p:nvSpPr>
        <p:spPr>
          <a:xfrm>
            <a:off x="777240" y="2322576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Find the multiplier: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20 ÷ 5 = 4</a:t>
            </a:r>
            <a:endParaRPr lang="en-US" sz="950" dirty="0"/>
          </a:p>
        </p:txBody>
      </p:sp>
      <p:sp>
        <p:nvSpPr>
          <p:cNvPr id="25" name="Text 23"/>
          <p:cNvSpPr/>
          <p:nvPr/>
        </p:nvSpPr>
        <p:spPr>
          <a:xfrm>
            <a:off x="777240" y="2706624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Apply to both parts: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3 + 4 = 7</a:t>
            </a:r>
            <a:endParaRPr lang="en-US" sz="950" dirty="0"/>
          </a:p>
        </p:txBody>
      </p:sp>
      <p:sp>
        <p:nvSpPr>
          <p:cNvPr id="26" name="Text 24"/>
          <p:cNvSpPr/>
          <p:nvPr/>
        </p:nvSpPr>
        <p:spPr>
          <a:xfrm>
            <a:off x="777240" y="3090672"/>
            <a:ext cx="4892040" cy="34747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4. </a:t>
            </a:r>
            <a:pPr indent="0" marL="0">
              <a:buNone/>
            </a:pPr>
            <a:r>
              <a:rPr lang="en-US" sz="95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Answer:  </a:t>
            </a:r>
            <a:pPr indent="0" marL="0">
              <a:buNone/>
            </a:pPr>
            <a:r>
              <a:rPr lang="en-US" sz="950" b="1" dirty="0">
                <a:solidFill>
                  <a:srgbClr val="24323F"/>
                </a:solidFill>
                <a:latin typeface="Courier New" pitchFamily="34" charset="0"/>
                <a:ea typeface="Courier New" pitchFamily="34" charset="-122"/>
                <a:cs typeface="Courier New" pitchFamily="34" charset="-120"/>
              </a:rPr>
              <a:t>7 cups : 20 cups</a:t>
            </a:r>
            <a:endParaRPr lang="en-US" sz="950" dirty="0"/>
          </a:p>
        </p:txBody>
      </p:sp>
      <p:sp>
        <p:nvSpPr>
          <p:cNvPr id="27" name="Text 25"/>
          <p:cNvSpPr/>
          <p:nvPr/>
        </p:nvSpPr>
        <p:spPr>
          <a:xfrm>
            <a:off x="594360" y="3666744"/>
            <a:ext cx="5120640" cy="2286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step has the error? Circle it above.</a:t>
            </a:r>
            <a:endParaRPr lang="en-US" sz="900" dirty="0"/>
          </a:p>
        </p:txBody>
      </p:sp>
      <p:sp>
        <p:nvSpPr>
          <p:cNvPr id="28" name="Shape 26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FCE6DE"/>
          </a:solidFill>
          <a:ln w="12700">
            <a:solidFill>
              <a:srgbClr val="E2A39B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9" name="Text 27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C0392B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🛠 Explain &amp; Fix</a:t>
            </a:r>
            <a:endParaRPr lang="en-US" sz="1000" dirty="0"/>
          </a:p>
        </p:txBody>
      </p:sp>
      <p:sp>
        <p:nvSpPr>
          <p:cNvPr id="30" name="Text 28"/>
          <p:cNvSpPr/>
          <p:nvPr/>
        </p:nvSpPr>
        <p:spPr>
          <a:xfrm>
            <a:off x="6217920" y="1097280"/>
            <a:ext cx="246888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mistake was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 because </a:t>
            </a:r>
            <a:pPr indent="0" marL="0">
              <a:buNone/>
            </a:pPr>
            <a:r>
              <a:rPr lang="en-US" sz="10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___</a:t>
            </a:r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.</a:t>
            </a:r>
            <a:endParaRPr lang="en-US" sz="1000" dirty="0"/>
          </a:p>
        </p:txBody>
      </p:sp>
      <p:sp>
        <p:nvSpPr>
          <p:cNvPr id="31" name="Shape 29"/>
          <p:cNvSpPr/>
          <p:nvPr/>
        </p:nvSpPr>
        <p:spPr>
          <a:xfrm>
            <a:off x="6217920" y="178308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207568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3" name="Shape 31"/>
          <p:cNvSpPr/>
          <p:nvPr/>
        </p:nvSpPr>
        <p:spPr>
          <a:xfrm>
            <a:off x="6217920" y="236829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4" name="Text 32"/>
          <p:cNvSpPr/>
          <p:nvPr/>
        </p:nvSpPr>
        <p:spPr>
          <a:xfrm>
            <a:off x="6217920" y="2788920"/>
            <a:ext cx="24688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00" b="1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Fix it — rewrite the step correctly:</a:t>
            </a:r>
            <a:endParaRPr lang="en-US" sz="900" dirty="0"/>
          </a:p>
        </p:txBody>
      </p:sp>
      <p:sp>
        <p:nvSpPr>
          <p:cNvPr id="35" name="Shape 33"/>
          <p:cNvSpPr/>
          <p:nvPr/>
        </p:nvSpPr>
        <p:spPr>
          <a:xfrm>
            <a:off x="6217920" y="324612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6217920" y="353872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6217920" y="383133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6217920" y="412394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Two-Column Notes / Notas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7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92608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Steps / Pasos</a:t>
            </a:r>
            <a:endParaRPr lang="en-US" sz="1000" dirty="0"/>
          </a:p>
        </p:txBody>
      </p:sp>
      <p:sp>
        <p:nvSpPr>
          <p:cNvPr id="19" name="Shape 17"/>
          <p:cNvSpPr/>
          <p:nvPr/>
        </p:nvSpPr>
        <p:spPr>
          <a:xfrm>
            <a:off x="594360" y="1243584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0" name="Text 18"/>
          <p:cNvSpPr/>
          <p:nvPr/>
        </p:nvSpPr>
        <p:spPr>
          <a:xfrm>
            <a:off x="594360" y="1243584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1100" dirty="0"/>
          </a:p>
        </p:txBody>
      </p:sp>
      <p:sp>
        <p:nvSpPr>
          <p:cNvPr id="21" name="Text 19"/>
          <p:cNvSpPr/>
          <p:nvPr/>
        </p:nvSpPr>
        <p:spPr>
          <a:xfrm>
            <a:off x="978408" y="1188720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Chef Montoya's soup serves 8 people, but she needs to serve 32.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594360" y="1719072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3" name="Text 21"/>
          <p:cNvSpPr/>
          <p:nvPr/>
        </p:nvSpPr>
        <p:spPr>
          <a:xfrm>
            <a:off x="594360" y="1719072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978408" y="1664208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find the scale factor: 32 divided by 8 = 4.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2194560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6" name="Text 24"/>
          <p:cNvSpPr/>
          <p:nvPr/>
        </p:nvSpPr>
        <p:spPr>
          <a:xfrm>
            <a:off x="594360" y="2194560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1100" dirty="0"/>
          </a:p>
        </p:txBody>
      </p:sp>
      <p:sp>
        <p:nvSpPr>
          <p:cNvPr id="27" name="Text 25"/>
          <p:cNvSpPr/>
          <p:nvPr/>
        </p:nvSpPr>
        <p:spPr>
          <a:xfrm>
            <a:off x="978408" y="2139696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recipe uses 3 cups of tomatoes to 2 cups of broth, a 3:2 ratio.</a:t>
            </a:r>
            <a:endParaRPr lang="en-US" sz="1050" dirty="0"/>
          </a:p>
        </p:txBody>
      </p:sp>
      <p:sp>
        <p:nvSpPr>
          <p:cNvPr id="28" name="Shape 26"/>
          <p:cNvSpPr/>
          <p:nvPr/>
        </p:nvSpPr>
        <p:spPr>
          <a:xfrm>
            <a:off x="594360" y="2670048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9" name="Text 27"/>
          <p:cNvSpPr/>
          <p:nvPr/>
        </p:nvSpPr>
        <p:spPr>
          <a:xfrm>
            <a:off x="594360" y="2670048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1100" dirty="0"/>
          </a:p>
        </p:txBody>
      </p:sp>
      <p:sp>
        <p:nvSpPr>
          <p:cNvPr id="30" name="Text 28"/>
          <p:cNvSpPr/>
          <p:nvPr/>
        </p:nvSpPr>
        <p:spPr>
          <a:xfrm>
            <a:off x="978408" y="2615184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multiply both by 4: 3 x 4 = 12 cups of tomatoes, and 2 x 4 = 8 cups of broth.</a:t>
            </a:r>
            <a:endParaRPr lang="en-US" sz="1050" dirty="0"/>
          </a:p>
        </p:txBody>
      </p:sp>
      <p:sp>
        <p:nvSpPr>
          <p:cNvPr id="31" name="Shape 29"/>
          <p:cNvSpPr/>
          <p:nvPr/>
        </p:nvSpPr>
        <p:spPr>
          <a:xfrm>
            <a:off x="594360" y="3145536"/>
            <a:ext cx="274320" cy="274320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2" name="Text 30"/>
          <p:cNvSpPr/>
          <p:nvPr/>
        </p:nvSpPr>
        <p:spPr>
          <a:xfrm>
            <a:off x="594360" y="3145536"/>
            <a:ext cx="2743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5</a:t>
            </a:r>
            <a:endParaRPr lang="en-US" sz="1100" dirty="0"/>
          </a:p>
        </p:txBody>
      </p:sp>
      <p:sp>
        <p:nvSpPr>
          <p:cNvPr id="33" name="Text 31"/>
          <p:cNvSpPr/>
          <p:nvPr/>
        </p:nvSpPr>
        <p:spPr>
          <a:xfrm>
            <a:off x="978408" y="3090672"/>
            <a:ext cx="3456432" cy="42062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So 3:2 and 12:8 are equivalent ratios, and the flavor stays the same.</a:t>
            </a:r>
            <a:endParaRPr lang="en-US" sz="1050" dirty="0"/>
          </a:p>
        </p:txBody>
      </p:sp>
      <p:sp>
        <p:nvSpPr>
          <p:cNvPr id="34" name="Shape 32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5" name="Text 33"/>
          <p:cNvSpPr/>
          <p:nvPr/>
        </p:nvSpPr>
        <p:spPr>
          <a:xfrm>
            <a:off x="4709160" y="685800"/>
            <a:ext cx="4114800" cy="292608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My Example / Mi Ejemplo</a:t>
            </a:r>
            <a:endParaRPr lang="en-US" sz="1000" dirty="0"/>
          </a:p>
        </p:txBody>
      </p:sp>
      <p:sp>
        <p:nvSpPr>
          <p:cNvPr id="36" name="Text 34"/>
          <p:cNvSpPr/>
          <p:nvPr/>
        </p:nvSpPr>
        <p:spPr>
          <a:xfrm>
            <a:off x="4892040" y="1143000"/>
            <a:ext cx="374904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95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problem here, matching each step on the left:</a:t>
            </a:r>
            <a:endParaRPr lang="en-US" sz="950" dirty="0"/>
          </a:p>
        </p:txBody>
      </p:sp>
      <p:sp>
        <p:nvSpPr>
          <p:cNvPr id="37" name="Shape 35"/>
          <p:cNvSpPr/>
          <p:nvPr/>
        </p:nvSpPr>
        <p:spPr>
          <a:xfrm>
            <a:off x="4892040" y="178308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8" name="Shape 36"/>
          <p:cNvSpPr/>
          <p:nvPr/>
        </p:nvSpPr>
        <p:spPr>
          <a:xfrm>
            <a:off x="4892040" y="211226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9" name="Shape 37"/>
          <p:cNvSpPr/>
          <p:nvPr/>
        </p:nvSpPr>
        <p:spPr>
          <a:xfrm>
            <a:off x="4892040" y="244144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0" name="Shape 38"/>
          <p:cNvSpPr/>
          <p:nvPr/>
        </p:nvSpPr>
        <p:spPr>
          <a:xfrm>
            <a:off x="4892040" y="277063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1" name="Shape 39"/>
          <p:cNvSpPr/>
          <p:nvPr/>
        </p:nvSpPr>
        <p:spPr>
          <a:xfrm>
            <a:off x="4892040" y="3099816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2" name="Shape 40"/>
          <p:cNvSpPr/>
          <p:nvPr/>
        </p:nvSpPr>
        <p:spPr>
          <a:xfrm>
            <a:off x="4892040" y="342900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3" name="Shape 41"/>
          <p:cNvSpPr/>
          <p:nvPr/>
        </p:nvSpPr>
        <p:spPr>
          <a:xfrm>
            <a:off x="4892040" y="375818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44" name="Shape 42"/>
          <p:cNvSpPr/>
          <p:nvPr/>
        </p:nvSpPr>
        <p:spPr>
          <a:xfrm>
            <a:off x="4892040" y="4087368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Choice Board / Tablero de Opciones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8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40080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2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Choose ONE to show what you know:</a:t>
            </a:r>
            <a:endParaRPr lang="en-US" sz="1200" dirty="0"/>
          </a:p>
        </p:txBody>
      </p:sp>
      <p:sp>
        <p:nvSpPr>
          <p:cNvPr id="18" name="Shape 16"/>
          <p:cNvSpPr/>
          <p:nvPr/>
        </p:nvSpPr>
        <p:spPr>
          <a:xfrm>
            <a:off x="41148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4864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✏️</a:t>
            </a:r>
            <a:endParaRPr lang="en-US" sz="2600" dirty="0"/>
          </a:p>
        </p:txBody>
      </p:sp>
      <p:sp>
        <p:nvSpPr>
          <p:cNvPr id="20" name="Text 18"/>
          <p:cNvSpPr/>
          <p:nvPr/>
        </p:nvSpPr>
        <p:spPr>
          <a:xfrm>
            <a:off x="123444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Draw &amp; Label</a:t>
            </a:r>
            <a:endParaRPr lang="en-US" sz="1300" dirty="0"/>
          </a:p>
        </p:txBody>
      </p:sp>
      <p:sp>
        <p:nvSpPr>
          <p:cNvPr id="21" name="Text 19"/>
          <p:cNvSpPr/>
          <p:nvPr/>
        </p:nvSpPr>
        <p:spPr>
          <a:xfrm>
            <a:off x="59436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Sketch a model for today's problem. Label it using Ratio and Equivalent ratios.</a:t>
            </a:r>
            <a:endParaRPr lang="en-US" sz="1000" dirty="0"/>
          </a:p>
        </p:txBody>
      </p:sp>
      <p:sp>
        <p:nvSpPr>
          <p:cNvPr id="22" name="Shape 20"/>
          <p:cNvSpPr/>
          <p:nvPr/>
        </p:nvSpPr>
        <p:spPr>
          <a:xfrm>
            <a:off x="4709160" y="105156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4846320" y="116128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💬</a:t>
            </a:r>
            <a:endParaRPr lang="en-US" sz="2600" dirty="0"/>
          </a:p>
        </p:txBody>
      </p:sp>
      <p:sp>
        <p:nvSpPr>
          <p:cNvPr id="24" name="Text 22"/>
          <p:cNvSpPr/>
          <p:nvPr/>
        </p:nvSpPr>
        <p:spPr>
          <a:xfrm>
            <a:off x="5532120" y="118872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It</a:t>
            </a:r>
            <a:endParaRPr lang="en-US" sz="1300" dirty="0"/>
          </a:p>
        </p:txBody>
      </p:sp>
      <p:sp>
        <p:nvSpPr>
          <p:cNvPr id="25" name="Text 23"/>
          <p:cNvSpPr/>
          <p:nvPr/>
        </p:nvSpPr>
        <p:spPr>
          <a:xfrm>
            <a:off x="4892040" y="170992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In 2–3 sentences, explain "Multiply or divide both numbers by the same amount to make an equivalent ratio." in your own words.</a:t>
            </a:r>
            <a:endParaRPr lang="en-US" sz="1000" dirty="0"/>
          </a:p>
        </p:txBody>
      </p:sp>
      <p:sp>
        <p:nvSpPr>
          <p:cNvPr id="26" name="Shape 24"/>
          <p:cNvSpPr/>
          <p:nvPr/>
        </p:nvSpPr>
        <p:spPr>
          <a:xfrm>
            <a:off x="41148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4864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🧮</a:t>
            </a:r>
            <a:endParaRPr lang="en-US" sz="2600" dirty="0"/>
          </a:p>
        </p:txBody>
      </p:sp>
      <p:sp>
        <p:nvSpPr>
          <p:cNvPr id="28" name="Text 26"/>
          <p:cNvSpPr/>
          <p:nvPr/>
        </p:nvSpPr>
        <p:spPr>
          <a:xfrm>
            <a:off x="123444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Solve It</a:t>
            </a:r>
            <a:endParaRPr lang="en-US" sz="1300" dirty="0"/>
          </a:p>
        </p:txBody>
      </p:sp>
      <p:sp>
        <p:nvSpPr>
          <p:cNvPr id="29" name="Text 27"/>
          <p:cNvSpPr/>
          <p:nvPr/>
        </p:nvSpPr>
        <p:spPr>
          <a:xfrm>
            <a:off x="59436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Work one practice problem and show every step clearly.</a:t>
            </a:r>
            <a:endParaRPr lang="en-US" sz="1000" dirty="0"/>
          </a:p>
        </p:txBody>
      </p:sp>
      <p:sp>
        <p:nvSpPr>
          <p:cNvPr id="30" name="Shape 28"/>
          <p:cNvSpPr/>
          <p:nvPr/>
        </p:nvSpPr>
        <p:spPr>
          <a:xfrm>
            <a:off x="4709160" y="2834640"/>
            <a:ext cx="4114800" cy="1645920"/>
          </a:xfrm>
          <a:prstGeom prst="roundRect">
            <a:avLst>
              <a:gd name="adj" fmla="val 4444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1" name="Text 29"/>
          <p:cNvSpPr/>
          <p:nvPr/>
        </p:nvSpPr>
        <p:spPr>
          <a:xfrm>
            <a:off x="4846320" y="2944368"/>
            <a:ext cx="640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dirty="0">
                <a:solidFill>
                  <a:srgbClr val="000000"/>
                </a:solidFill>
              </a:rPr>
              <a:t>🎯</a:t>
            </a:r>
            <a:endParaRPr lang="en-US" sz="2600" dirty="0"/>
          </a:p>
        </p:txBody>
      </p:sp>
      <p:sp>
        <p:nvSpPr>
          <p:cNvPr id="32" name="Text 30"/>
          <p:cNvSpPr/>
          <p:nvPr/>
        </p:nvSpPr>
        <p:spPr>
          <a:xfrm>
            <a:off x="5532120" y="2971800"/>
            <a:ext cx="31089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30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Create a Problem</a:t>
            </a:r>
            <a:endParaRPr lang="en-US" sz="1300" dirty="0"/>
          </a:p>
        </p:txBody>
      </p:sp>
      <p:sp>
        <p:nvSpPr>
          <p:cNvPr id="33" name="Text 31"/>
          <p:cNvSpPr/>
          <p:nvPr/>
        </p:nvSpPr>
        <p:spPr>
          <a:xfrm>
            <a:off x="4892040" y="3493008"/>
            <a:ext cx="3749040" cy="8686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Write your own problem that uses Ratio, then solve it and make an answer key.</a:t>
            </a:r>
            <a:endParaRPr lang="en-US" sz="10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Independent Practice / Práctica Independiente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9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54864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594360" y="841248"/>
            <a:ext cx="146304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✍️ ON YOUR OWN</a:t>
            </a:r>
            <a:endParaRPr lang="en-US" sz="900" dirty="0"/>
          </a:p>
        </p:txBody>
      </p:sp>
      <p:sp>
        <p:nvSpPr>
          <p:cNvPr id="19" name="Text 17"/>
          <p:cNvSpPr/>
          <p:nvPr/>
        </p:nvSpPr>
        <p:spPr>
          <a:xfrm>
            <a:off x="594360" y="123444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1.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Marcus earns $45 for every 3 hours of work. How much does he earn in 8 hours?</a:t>
            </a:r>
            <a:endParaRPr lang="en-US" sz="1050" dirty="0"/>
          </a:p>
        </p:txBody>
      </p:sp>
      <p:sp>
        <p:nvSpPr>
          <p:cNvPr id="20" name="Shape 18"/>
          <p:cNvSpPr/>
          <p:nvPr/>
        </p:nvSpPr>
        <p:spPr>
          <a:xfrm>
            <a:off x="777240" y="178308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Text 19"/>
          <p:cNvSpPr/>
          <p:nvPr/>
        </p:nvSpPr>
        <p:spPr>
          <a:xfrm>
            <a:off x="594360" y="219456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2.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Which ratio is equivalent to 2:5?</a:t>
            </a:r>
            <a:endParaRPr lang="en-US" sz="1050" dirty="0"/>
          </a:p>
        </p:txBody>
      </p:sp>
      <p:sp>
        <p:nvSpPr>
          <p:cNvPr id="22" name="Shape 20"/>
          <p:cNvSpPr/>
          <p:nvPr/>
        </p:nvSpPr>
        <p:spPr>
          <a:xfrm>
            <a:off x="777240" y="274320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3154680"/>
            <a:ext cx="5166360" cy="4572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3. 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recipe uses 4 eggs for every 6 cups of flour. Which ratio is equivalent?</a:t>
            </a:r>
            <a:endParaRPr lang="en-US" sz="1050" dirty="0"/>
          </a:p>
        </p:txBody>
      </p:sp>
      <p:sp>
        <p:nvSpPr>
          <p:cNvPr id="24" name="Shape 22"/>
          <p:cNvSpPr/>
          <p:nvPr/>
        </p:nvSpPr>
        <p:spPr>
          <a:xfrm>
            <a:off x="777240" y="3703320"/>
            <a:ext cx="498348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6035040" y="685800"/>
            <a:ext cx="2788920" cy="4023360"/>
          </a:xfrm>
          <a:prstGeom prst="roundRect">
            <a:avLst>
              <a:gd name="adj" fmla="val 2623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Text 24"/>
          <p:cNvSpPr/>
          <p:nvPr/>
        </p:nvSpPr>
        <p:spPr>
          <a:xfrm>
            <a:off x="6035040" y="685800"/>
            <a:ext cx="27889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💬 Talk It Over</a:t>
            </a:r>
            <a:endParaRPr lang="en-US" sz="1000" dirty="0"/>
          </a:p>
        </p:txBody>
      </p:sp>
      <p:sp>
        <p:nvSpPr>
          <p:cNvPr id="27" name="Text 25"/>
          <p:cNvSpPr/>
          <p:nvPr/>
        </p:nvSpPr>
        <p:spPr>
          <a:xfrm>
            <a:off x="6217920" y="1097280"/>
            <a:ext cx="2468880" cy="15544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The smoothie shop uses 2 cups of strawberries for every 3 cups of yogurt and needs 15 cups of yogurt. How is this the same as scaling Chef Montoya's soup?</a:t>
            </a:r>
            <a:endParaRPr lang="en-US" sz="1000" dirty="0"/>
          </a:p>
        </p:txBody>
      </p:sp>
      <p:sp>
        <p:nvSpPr>
          <p:cNvPr id="28" name="Shape 26"/>
          <p:cNvSpPr/>
          <p:nvPr/>
        </p:nvSpPr>
        <p:spPr>
          <a:xfrm>
            <a:off x="6217920" y="2834640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9" name="Shape 27"/>
          <p:cNvSpPr/>
          <p:nvPr/>
        </p:nvSpPr>
        <p:spPr>
          <a:xfrm>
            <a:off x="6217920" y="3163824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0" name="Shape 28"/>
          <p:cNvSpPr/>
          <p:nvPr/>
        </p:nvSpPr>
        <p:spPr>
          <a:xfrm>
            <a:off x="6217920" y="3493008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1" name="Shape 29"/>
          <p:cNvSpPr/>
          <p:nvPr/>
        </p:nvSpPr>
        <p:spPr>
          <a:xfrm>
            <a:off x="6217920" y="3822192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2" name="Shape 30"/>
          <p:cNvSpPr/>
          <p:nvPr/>
        </p:nvSpPr>
        <p:spPr>
          <a:xfrm>
            <a:off x="6217920" y="4151376"/>
            <a:ext cx="24231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Think–Write–Respond / Piensa y Escribe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10</a:t>
            </a:r>
            <a:endParaRPr lang="en-US" sz="800" dirty="0"/>
          </a:p>
        </p:txBody>
      </p:sp>
      <p:sp>
        <p:nvSpPr>
          <p:cNvPr id="17" name="Text 15"/>
          <p:cNvSpPr/>
          <p:nvPr/>
        </p:nvSpPr>
        <p:spPr>
          <a:xfrm>
            <a:off x="411480" y="603504"/>
            <a:ext cx="841248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Use evidence from today's lesson to complete each frame.</a:t>
            </a:r>
            <a:endParaRPr lang="en-US" sz="1000" dirty="0"/>
          </a:p>
        </p:txBody>
      </p:sp>
      <p:sp>
        <p:nvSpPr>
          <p:cNvPr id="18" name="Shape 16"/>
          <p:cNvSpPr/>
          <p:nvPr/>
        </p:nvSpPr>
        <p:spPr>
          <a:xfrm>
            <a:off x="411480" y="96012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9" name="Text 17"/>
          <p:cNvSpPr/>
          <p:nvPr/>
        </p:nvSpPr>
        <p:spPr>
          <a:xfrm>
            <a:off x="594360" y="105156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1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Explain the Rule</a:t>
            </a:r>
            <a:endParaRPr lang="en-US" sz="1100" dirty="0"/>
          </a:p>
        </p:txBody>
      </p:sp>
      <p:sp>
        <p:nvSpPr>
          <p:cNvPr id="20" name="Text 18"/>
          <p:cNvSpPr/>
          <p:nvPr/>
        </p:nvSpPr>
        <p:spPr>
          <a:xfrm>
            <a:off x="594360" y="134416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Today's key idea is "Multiply or divide both numbers by the same amount to make an equivalent ratio." — and it works because ___.</a:t>
            </a:r>
            <a:endParaRPr lang="en-US" sz="1050" dirty="0"/>
          </a:p>
        </p:txBody>
      </p:sp>
      <p:sp>
        <p:nvSpPr>
          <p:cNvPr id="21" name="Shape 19"/>
          <p:cNvSpPr/>
          <p:nvPr/>
        </p:nvSpPr>
        <p:spPr>
          <a:xfrm>
            <a:off x="594360" y="189280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411480" y="224028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3" name="Text 21"/>
          <p:cNvSpPr/>
          <p:nvPr/>
        </p:nvSpPr>
        <p:spPr>
          <a:xfrm>
            <a:off x="594360" y="233172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2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Because / But / So</a:t>
            </a:r>
            <a:endParaRPr lang="en-US" sz="1100" dirty="0"/>
          </a:p>
        </p:txBody>
      </p:sp>
      <p:sp>
        <p:nvSpPr>
          <p:cNvPr id="24" name="Text 22"/>
          <p:cNvSpPr/>
          <p:nvPr/>
        </p:nvSpPr>
        <p:spPr>
          <a:xfrm>
            <a:off x="594360" y="262432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Because Ratio means ___, but a tricky part is ___, so I have to ___.</a:t>
            </a:r>
            <a:endParaRPr lang="en-US" sz="1050" dirty="0"/>
          </a:p>
        </p:txBody>
      </p:sp>
      <p:sp>
        <p:nvSpPr>
          <p:cNvPr id="25" name="Shape 23"/>
          <p:cNvSpPr/>
          <p:nvPr/>
        </p:nvSpPr>
        <p:spPr>
          <a:xfrm>
            <a:off x="594360" y="317296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411480" y="3520440"/>
            <a:ext cx="8412480" cy="1143000"/>
          </a:xfrm>
          <a:prstGeom prst="roundRect">
            <a:avLst>
              <a:gd name="adj" fmla="val 6400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7" name="Text 25"/>
          <p:cNvSpPr/>
          <p:nvPr/>
        </p:nvSpPr>
        <p:spPr>
          <a:xfrm>
            <a:off x="594360" y="3611880"/>
            <a:ext cx="804672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Frame 3 — </a:t>
            </a:r>
            <a:pPr indent="0" marL="0">
              <a:buNone/>
            </a:pPr>
            <a:r>
              <a:rPr lang="en-US" sz="1100" b="1" dirty="0">
                <a:solidFill>
                  <a:srgbClr val="C0654A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Catch the Mistake</a:t>
            </a:r>
            <a:endParaRPr lang="en-US" sz="1100" dirty="0"/>
          </a:p>
        </p:txBody>
      </p:sp>
      <p:sp>
        <p:nvSpPr>
          <p:cNvPr id="28" name="Text 26"/>
          <p:cNvSpPr/>
          <p:nvPr/>
        </p:nvSpPr>
        <p:spPr>
          <a:xfrm>
            <a:off x="594360" y="3904488"/>
            <a:ext cx="8046720" cy="365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common mistake with Ratio is ___. It happens because ___, and the fix is ___.</a:t>
            </a:r>
            <a:endParaRPr lang="en-US" sz="1050" dirty="0"/>
          </a:p>
        </p:txBody>
      </p:sp>
      <p:sp>
        <p:nvSpPr>
          <p:cNvPr id="29" name="Shape 27"/>
          <p:cNvSpPr/>
          <p:nvPr/>
        </p:nvSpPr>
        <p:spPr>
          <a:xfrm>
            <a:off x="594360" y="4453128"/>
            <a:ext cx="804672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Exit Ticket / Boleto de Salida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11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85800"/>
            <a:ext cx="4160520" cy="4023360"/>
          </a:xfrm>
          <a:prstGeom prst="roundRect">
            <a:avLst>
              <a:gd name="adj" fmla="val 1818"/>
            </a:avLst>
          </a:prstGeom>
          <a:solidFill>
            <a:srgbClr val="DFF2EE"/>
          </a:solidFill>
          <a:ln w="12700">
            <a:solidFill>
              <a:srgbClr val="1FA6A2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18" name="Text 16"/>
          <p:cNvSpPr/>
          <p:nvPr/>
        </p:nvSpPr>
        <p:spPr>
          <a:xfrm>
            <a:off x="411480" y="685800"/>
            <a:ext cx="4160520" cy="274320"/>
          </a:xfrm>
          <a:prstGeom prst="rect">
            <a:avLst/>
          </a:prstGeom>
          <a:solidFill>
            <a:srgbClr val="1FA6A2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Reflection / Reflexión</a:t>
            </a:r>
            <a:endParaRPr lang="en-US" sz="1000" dirty="0"/>
          </a:p>
        </p:txBody>
      </p:sp>
      <p:sp>
        <p:nvSpPr>
          <p:cNvPr id="19" name="Text 17"/>
          <p:cNvSpPr/>
          <p:nvPr/>
        </p:nvSpPr>
        <p:spPr>
          <a:xfrm>
            <a:off x="594360" y="109728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Today I learned that ___ because ___.</a:t>
            </a:r>
            <a:endParaRPr lang="en-US" sz="1100" dirty="0"/>
          </a:p>
        </p:txBody>
      </p:sp>
      <p:sp>
        <p:nvSpPr>
          <p:cNvPr id="20" name="Shape 18"/>
          <p:cNvSpPr/>
          <p:nvPr/>
        </p:nvSpPr>
        <p:spPr>
          <a:xfrm>
            <a:off x="594360" y="178308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1" name="Shape 19"/>
          <p:cNvSpPr/>
          <p:nvPr/>
        </p:nvSpPr>
        <p:spPr>
          <a:xfrm>
            <a:off x="594360" y="209397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2" name="Shape 20"/>
          <p:cNvSpPr/>
          <p:nvPr/>
        </p:nvSpPr>
        <p:spPr>
          <a:xfrm>
            <a:off x="594360" y="240487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3" name="Text 21"/>
          <p:cNvSpPr/>
          <p:nvPr/>
        </p:nvSpPr>
        <p:spPr>
          <a:xfrm>
            <a:off x="594360" y="2834640"/>
            <a:ext cx="379476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One thing I am still not sure about is ___.</a:t>
            </a:r>
            <a:endParaRPr lang="en-US" sz="1100" dirty="0"/>
          </a:p>
        </p:txBody>
      </p:sp>
      <p:sp>
        <p:nvSpPr>
          <p:cNvPr id="24" name="Shape 22"/>
          <p:cNvSpPr/>
          <p:nvPr/>
        </p:nvSpPr>
        <p:spPr>
          <a:xfrm>
            <a:off x="594360" y="3520440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5" name="Shape 23"/>
          <p:cNvSpPr/>
          <p:nvPr/>
        </p:nvSpPr>
        <p:spPr>
          <a:xfrm>
            <a:off x="594360" y="3831336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6" name="Shape 24"/>
          <p:cNvSpPr/>
          <p:nvPr/>
        </p:nvSpPr>
        <p:spPr>
          <a:xfrm>
            <a:off x="594360" y="4142232"/>
            <a:ext cx="379476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27" name="Shape 25"/>
          <p:cNvSpPr/>
          <p:nvPr/>
        </p:nvSpPr>
        <p:spPr>
          <a:xfrm>
            <a:off x="4709160" y="685800"/>
            <a:ext cx="4114800" cy="4023360"/>
          </a:xfrm>
          <a:prstGeom prst="roundRect">
            <a:avLst>
              <a:gd name="adj" fmla="val 1818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8" name="Text 26"/>
          <p:cNvSpPr/>
          <p:nvPr/>
        </p:nvSpPr>
        <p:spPr>
          <a:xfrm>
            <a:off x="4709160" y="685800"/>
            <a:ext cx="4114800" cy="274320"/>
          </a:xfrm>
          <a:prstGeom prst="rect">
            <a:avLst/>
          </a:prstGeom>
          <a:solidFill>
            <a:srgbClr val="17324D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Quick Exit Ticket</a:t>
            </a:r>
            <a:endParaRPr lang="en-US" sz="1000" dirty="0"/>
          </a:p>
        </p:txBody>
      </p:sp>
      <p:sp>
        <p:nvSpPr>
          <p:cNvPr id="29" name="Text 27"/>
          <p:cNvSpPr/>
          <p:nvPr/>
        </p:nvSpPr>
        <p:spPr>
          <a:xfrm>
            <a:off x="4892040" y="1097280"/>
            <a:ext cx="3749040" cy="64008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1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 store sells 5 notebooks for $8. At this rate, how much would 15 notebooks cost?</a:t>
            </a:r>
            <a:endParaRPr lang="en-US" sz="1050" dirty="0"/>
          </a:p>
        </p:txBody>
      </p:sp>
      <p:sp>
        <p:nvSpPr>
          <p:cNvPr id="30" name="Text 28"/>
          <p:cNvSpPr/>
          <p:nvPr/>
        </p:nvSpPr>
        <p:spPr>
          <a:xfrm>
            <a:off x="5029200" y="1783080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A.  $24</a:t>
            </a:r>
            <a:endParaRPr lang="en-US" sz="1000" dirty="0"/>
          </a:p>
        </p:txBody>
      </p:sp>
      <p:sp>
        <p:nvSpPr>
          <p:cNvPr id="31" name="Text 29"/>
          <p:cNvSpPr/>
          <p:nvPr/>
        </p:nvSpPr>
        <p:spPr>
          <a:xfrm>
            <a:off x="5029200" y="2093976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B.  $18</a:t>
            </a:r>
            <a:endParaRPr lang="en-US" sz="1000" dirty="0"/>
          </a:p>
        </p:txBody>
      </p:sp>
      <p:sp>
        <p:nvSpPr>
          <p:cNvPr id="32" name="Text 30"/>
          <p:cNvSpPr/>
          <p:nvPr/>
        </p:nvSpPr>
        <p:spPr>
          <a:xfrm>
            <a:off x="5029200" y="2404872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C.  $20</a:t>
            </a:r>
            <a:endParaRPr lang="en-US" sz="1000" dirty="0"/>
          </a:p>
        </p:txBody>
      </p:sp>
      <p:sp>
        <p:nvSpPr>
          <p:cNvPr id="33" name="Text 31"/>
          <p:cNvSpPr/>
          <p:nvPr/>
        </p:nvSpPr>
        <p:spPr>
          <a:xfrm>
            <a:off x="5029200" y="2715768"/>
            <a:ext cx="356616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D.  $40</a:t>
            </a:r>
            <a:endParaRPr lang="en-US" sz="1000" dirty="0"/>
          </a:p>
        </p:txBody>
      </p:sp>
      <p:sp>
        <p:nvSpPr>
          <p:cNvPr id="34" name="Text 32"/>
          <p:cNvSpPr/>
          <p:nvPr/>
        </p:nvSpPr>
        <p:spPr>
          <a:xfrm>
            <a:off x="4892040" y="3163824"/>
            <a:ext cx="3749040" cy="50292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Tier 2 — </a:t>
            </a:r>
            <a:pPr indent="0" marL="0">
              <a:buNone/>
            </a:pPr>
            <a:r>
              <a:rPr lang="en-US" sz="1050" dirty="0">
                <a:solidFill>
                  <a:srgbClr val="17324D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Explain how you know your answer is correct. Use at least one vocabulary word.</a:t>
            </a:r>
            <a:endParaRPr lang="en-US" sz="1050" dirty="0"/>
          </a:p>
        </p:txBody>
      </p:sp>
      <p:sp>
        <p:nvSpPr>
          <p:cNvPr id="35" name="Shape 33"/>
          <p:cNvSpPr/>
          <p:nvPr/>
        </p:nvSpPr>
        <p:spPr>
          <a:xfrm>
            <a:off x="4892040" y="3803904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6" name="Shape 34"/>
          <p:cNvSpPr/>
          <p:nvPr/>
        </p:nvSpPr>
        <p:spPr>
          <a:xfrm>
            <a:off x="4892040" y="4096512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  <p:sp>
        <p:nvSpPr>
          <p:cNvPr id="37" name="Shape 35"/>
          <p:cNvSpPr/>
          <p:nvPr/>
        </p:nvSpPr>
        <p:spPr>
          <a:xfrm>
            <a:off x="4892040" y="4389120"/>
            <a:ext cx="3749040" cy="0"/>
          </a:xfrm>
          <a:prstGeom prst="line">
            <a:avLst/>
          </a:prstGeom>
          <a:noFill/>
          <a:ln w="9525">
            <a:solidFill>
              <a:srgbClr val="C7CDD2"/>
            </a:solidFill>
            <a:prstDash val="dash"/>
          </a:ln>
        </p:spPr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7F4EC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0" y="0"/>
            <a:ext cx="9144000" cy="475488"/>
          </a:xfrm>
          <a:prstGeom prst="rect">
            <a:avLst/>
          </a:prstGeom>
          <a:solidFill>
            <a:srgbClr val="17324D"/>
          </a:solidFill>
          <a:ln/>
        </p:spPr>
      </p:sp>
      <p:sp>
        <p:nvSpPr>
          <p:cNvPr id="3" name="Text 1"/>
          <p:cNvSpPr/>
          <p:nvPr/>
        </p:nvSpPr>
        <p:spPr>
          <a:xfrm>
            <a:off x="274320" y="0"/>
            <a:ext cx="219456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50" b="1" spc="100" kern="0" dirty="0">
                <a:solidFill>
                  <a:srgbClr val="BFE6E2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NEFT TEACHER</a:t>
            </a:r>
            <a:endParaRPr lang="en-US" sz="850" dirty="0"/>
          </a:p>
        </p:txBody>
      </p:sp>
      <p:sp>
        <p:nvSpPr>
          <p:cNvPr id="4" name="Text 2"/>
          <p:cNvSpPr/>
          <p:nvPr/>
        </p:nvSpPr>
        <p:spPr>
          <a:xfrm>
            <a:off x="1737360" y="0"/>
            <a:ext cx="5120640" cy="475488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Goal Tracker / Seguimiento de Metas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7360920" y="100584"/>
            <a:ext cx="914400" cy="274320"/>
          </a:xfrm>
          <a:prstGeom prst="rect">
            <a:avLst>
              <a:gd name="adj" fmla="val 50000"/>
            </a:avLst>
          </a:prstGeom>
          <a:solidFill>
            <a:srgbClr val="C0654A"/>
          </a:solidFill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9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6.RP.3</a:t>
            </a:r>
            <a:endParaRPr lang="en-US" sz="900" dirty="0"/>
          </a:p>
        </p:txBody>
      </p:sp>
      <p:sp>
        <p:nvSpPr>
          <p:cNvPr id="6" name="Shape 4"/>
          <p:cNvSpPr/>
          <p:nvPr/>
        </p:nvSpPr>
        <p:spPr>
          <a:xfrm>
            <a:off x="73152" y="68580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7" name="Shape 5"/>
          <p:cNvSpPr/>
          <p:nvPr/>
        </p:nvSpPr>
        <p:spPr>
          <a:xfrm>
            <a:off x="73152" y="116128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8" name="Shape 6"/>
          <p:cNvSpPr/>
          <p:nvPr/>
        </p:nvSpPr>
        <p:spPr>
          <a:xfrm>
            <a:off x="73152" y="163677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9" name="Shape 7"/>
          <p:cNvSpPr/>
          <p:nvPr/>
        </p:nvSpPr>
        <p:spPr>
          <a:xfrm>
            <a:off x="73152" y="211226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0" name="Shape 8"/>
          <p:cNvSpPr/>
          <p:nvPr/>
        </p:nvSpPr>
        <p:spPr>
          <a:xfrm>
            <a:off x="73152" y="2587752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1" name="Shape 9"/>
          <p:cNvSpPr/>
          <p:nvPr/>
        </p:nvSpPr>
        <p:spPr>
          <a:xfrm>
            <a:off x="73152" y="3063240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2" name="Shape 10"/>
          <p:cNvSpPr/>
          <p:nvPr/>
        </p:nvSpPr>
        <p:spPr>
          <a:xfrm>
            <a:off x="73152" y="3538728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3" name="Shape 11"/>
          <p:cNvSpPr/>
          <p:nvPr/>
        </p:nvSpPr>
        <p:spPr>
          <a:xfrm>
            <a:off x="73152" y="4014216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4" name="Shape 12"/>
          <p:cNvSpPr/>
          <p:nvPr/>
        </p:nvSpPr>
        <p:spPr>
          <a:xfrm>
            <a:off x="73152" y="4489704"/>
            <a:ext cx="109728" cy="109728"/>
          </a:xfrm>
          <a:prstGeom prst="ellipse">
            <a:avLst/>
          </a:prstGeom>
          <a:solidFill>
            <a:srgbClr val="CBD3D9"/>
          </a:solidFill>
          <a:ln/>
        </p:spPr>
      </p:sp>
      <p:sp>
        <p:nvSpPr>
          <p:cNvPr id="15" name="Text 13"/>
          <p:cNvSpPr/>
          <p:nvPr/>
        </p:nvSpPr>
        <p:spPr>
          <a:xfrm>
            <a:off x="274320" y="4850892"/>
            <a:ext cx="64008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750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Reveal Math Grade 6  ·  Unit 3  ·  Lesson 3-4</a:t>
            </a:r>
            <a:endParaRPr lang="en-US" sz="750" dirty="0"/>
          </a:p>
        </p:txBody>
      </p:sp>
      <p:sp>
        <p:nvSpPr>
          <p:cNvPr id="16" name="Text 14"/>
          <p:cNvSpPr/>
          <p:nvPr/>
        </p:nvSpPr>
        <p:spPr>
          <a:xfrm>
            <a:off x="8412480" y="4850892"/>
            <a:ext cx="457200" cy="256032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b="1" dirty="0">
                <a:solidFill>
                  <a:srgbClr val="8A96A3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12</a:t>
            </a:r>
            <a:endParaRPr lang="en-US" sz="800" dirty="0"/>
          </a:p>
        </p:txBody>
      </p:sp>
      <p:sp>
        <p:nvSpPr>
          <p:cNvPr id="17" name="Shape 15"/>
          <p:cNvSpPr/>
          <p:nvPr/>
        </p:nvSpPr>
        <p:spPr>
          <a:xfrm>
            <a:off x="411480" y="658368"/>
            <a:ext cx="8412480" cy="502920"/>
          </a:xfrm>
          <a:prstGeom prst="roundRect">
            <a:avLst>
              <a:gd name="adj" fmla="val 14545"/>
            </a:avLst>
          </a:prstGeom>
          <a:solidFill>
            <a:srgbClr val="17324D"/>
          </a:solidFill>
          <a:ln/>
        </p:spPr>
      </p:sp>
      <p:sp>
        <p:nvSpPr>
          <p:cNvPr id="18" name="Text 16"/>
          <p:cNvSpPr/>
          <p:nvPr/>
        </p:nvSpPr>
        <p:spPr>
          <a:xfrm>
            <a:off x="640080" y="658368"/>
            <a:ext cx="7955280" cy="502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F2C15B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Goal:  </a:t>
            </a:r>
            <a:pPr indent="0" marL="0">
              <a:buNone/>
            </a:pPr>
            <a:r>
              <a:rPr lang="en-US" sz="1100" dirty="0">
                <a:solidFill>
                  <a:srgbClr val="FFFFF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find and check equivalent ratios using multiplication and division.</a:t>
            </a:r>
            <a:endParaRPr lang="en-US" sz="1100" dirty="0"/>
          </a:p>
        </p:txBody>
      </p:sp>
      <p:sp>
        <p:nvSpPr>
          <p:cNvPr id="19" name="Shape 17"/>
          <p:cNvSpPr/>
          <p:nvPr/>
        </p:nvSpPr>
        <p:spPr>
          <a:xfrm>
            <a:off x="41148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CE6D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0" name="Shape 18"/>
          <p:cNvSpPr/>
          <p:nvPr/>
        </p:nvSpPr>
        <p:spPr>
          <a:xfrm>
            <a:off x="113842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1" name="Text 19"/>
          <p:cNvSpPr/>
          <p:nvPr/>
        </p:nvSpPr>
        <p:spPr>
          <a:xfrm>
            <a:off x="113842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1</a:t>
            </a:r>
            <a:endParaRPr lang="en-US" sz="2000" dirty="0"/>
          </a:p>
        </p:txBody>
      </p:sp>
      <p:sp>
        <p:nvSpPr>
          <p:cNvPr id="22" name="Text 20"/>
          <p:cNvSpPr/>
          <p:nvPr/>
        </p:nvSpPr>
        <p:spPr>
          <a:xfrm>
            <a:off x="45720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Not Yet</a:t>
            </a:r>
            <a:endParaRPr lang="en-US" sz="1150" dirty="0"/>
          </a:p>
        </p:txBody>
      </p:sp>
      <p:sp>
        <p:nvSpPr>
          <p:cNvPr id="23" name="Text 21"/>
          <p:cNvSpPr/>
          <p:nvPr/>
        </p:nvSpPr>
        <p:spPr>
          <a:xfrm>
            <a:off x="52120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need more help. This does not make sense to me yet.</a:t>
            </a:r>
            <a:endParaRPr lang="en-US" sz="900" dirty="0"/>
          </a:p>
        </p:txBody>
      </p:sp>
      <p:sp>
        <p:nvSpPr>
          <p:cNvPr id="24" name="Text 22"/>
          <p:cNvSpPr/>
          <p:nvPr/>
        </p:nvSpPr>
        <p:spPr>
          <a:xfrm>
            <a:off x="45720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25" name="Shape 23"/>
          <p:cNvSpPr/>
          <p:nvPr/>
        </p:nvSpPr>
        <p:spPr>
          <a:xfrm>
            <a:off x="256032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FBEFD0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26" name="Shape 24"/>
          <p:cNvSpPr/>
          <p:nvPr/>
        </p:nvSpPr>
        <p:spPr>
          <a:xfrm>
            <a:off x="328726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27" name="Text 25"/>
          <p:cNvSpPr/>
          <p:nvPr/>
        </p:nvSpPr>
        <p:spPr>
          <a:xfrm>
            <a:off x="328726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2</a:t>
            </a:r>
            <a:endParaRPr lang="en-US" sz="2000" dirty="0"/>
          </a:p>
        </p:txBody>
      </p:sp>
      <p:sp>
        <p:nvSpPr>
          <p:cNvPr id="28" name="Text 26"/>
          <p:cNvSpPr/>
          <p:nvPr/>
        </p:nvSpPr>
        <p:spPr>
          <a:xfrm>
            <a:off x="260604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Getting There</a:t>
            </a:r>
            <a:endParaRPr lang="en-US" sz="1150" dirty="0"/>
          </a:p>
        </p:txBody>
      </p:sp>
      <p:sp>
        <p:nvSpPr>
          <p:cNvPr id="29" name="Text 27"/>
          <p:cNvSpPr/>
          <p:nvPr/>
        </p:nvSpPr>
        <p:spPr>
          <a:xfrm>
            <a:off x="267004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understand the idea but I make mistakes when I work.</a:t>
            </a:r>
            <a:endParaRPr lang="en-US" sz="900" dirty="0"/>
          </a:p>
        </p:txBody>
      </p:sp>
      <p:sp>
        <p:nvSpPr>
          <p:cNvPr id="30" name="Text 28"/>
          <p:cNvSpPr/>
          <p:nvPr/>
        </p:nvSpPr>
        <p:spPr>
          <a:xfrm>
            <a:off x="260604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1" name="Shape 29"/>
          <p:cNvSpPr/>
          <p:nvPr/>
        </p:nvSpPr>
        <p:spPr>
          <a:xfrm>
            <a:off x="470916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DFF2EE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2" name="Shape 30"/>
          <p:cNvSpPr/>
          <p:nvPr/>
        </p:nvSpPr>
        <p:spPr>
          <a:xfrm>
            <a:off x="543610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3" name="Text 31"/>
          <p:cNvSpPr/>
          <p:nvPr/>
        </p:nvSpPr>
        <p:spPr>
          <a:xfrm>
            <a:off x="543610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3</a:t>
            </a:r>
            <a:endParaRPr lang="en-US" sz="2000" dirty="0"/>
          </a:p>
        </p:txBody>
      </p:sp>
      <p:sp>
        <p:nvSpPr>
          <p:cNvPr id="34" name="Text 32"/>
          <p:cNvSpPr/>
          <p:nvPr/>
        </p:nvSpPr>
        <p:spPr>
          <a:xfrm>
            <a:off x="475488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Got It!</a:t>
            </a:r>
            <a:endParaRPr lang="en-US" sz="1150" dirty="0"/>
          </a:p>
        </p:txBody>
      </p:sp>
      <p:sp>
        <p:nvSpPr>
          <p:cNvPr id="35" name="Text 33"/>
          <p:cNvSpPr/>
          <p:nvPr/>
        </p:nvSpPr>
        <p:spPr>
          <a:xfrm>
            <a:off x="481888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solve problems on my own and explain my thinking.</a:t>
            </a:r>
            <a:endParaRPr lang="en-US" sz="900" dirty="0"/>
          </a:p>
        </p:txBody>
      </p:sp>
      <p:sp>
        <p:nvSpPr>
          <p:cNvPr id="36" name="Text 34"/>
          <p:cNvSpPr/>
          <p:nvPr/>
        </p:nvSpPr>
        <p:spPr>
          <a:xfrm>
            <a:off x="475488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37" name="Shape 35"/>
          <p:cNvSpPr/>
          <p:nvPr/>
        </p:nvSpPr>
        <p:spPr>
          <a:xfrm>
            <a:off x="6858000" y="1371600"/>
            <a:ext cx="1965960" cy="2377440"/>
          </a:xfrm>
          <a:prstGeom prst="roundRect">
            <a:avLst>
              <a:gd name="adj" fmla="val 3721"/>
            </a:avLst>
          </a:prstGeom>
          <a:solidFill>
            <a:srgbClr val="EAF2F1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38" name="Shape 36"/>
          <p:cNvSpPr/>
          <p:nvPr/>
        </p:nvSpPr>
        <p:spPr>
          <a:xfrm>
            <a:off x="7584948" y="1508760"/>
            <a:ext cx="512064" cy="512064"/>
          </a:xfrm>
          <a:prstGeom prst="ellipse">
            <a:avLst/>
          </a:prstGeom>
          <a:solidFill>
            <a:srgbClr val="C0654A"/>
          </a:solidFill>
          <a:ln/>
        </p:spPr>
      </p:sp>
      <p:sp>
        <p:nvSpPr>
          <p:cNvPr id="39" name="Text 37"/>
          <p:cNvSpPr/>
          <p:nvPr/>
        </p:nvSpPr>
        <p:spPr>
          <a:xfrm>
            <a:off x="7584948" y="1508760"/>
            <a:ext cx="512064" cy="512064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000" b="1" dirty="0">
                <a:solidFill>
                  <a:srgbClr val="FFFFFF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4</a:t>
            </a:r>
            <a:endParaRPr lang="en-US" sz="2000" dirty="0"/>
          </a:p>
        </p:txBody>
      </p:sp>
      <p:sp>
        <p:nvSpPr>
          <p:cNvPr id="40" name="Text 38"/>
          <p:cNvSpPr/>
          <p:nvPr/>
        </p:nvSpPr>
        <p:spPr>
          <a:xfrm>
            <a:off x="6903720" y="2148840"/>
            <a:ext cx="1874520" cy="320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150" b="1" dirty="0">
                <a:solidFill>
                  <a:srgbClr val="17324D"/>
                </a:solidFill>
                <a:latin typeface="Outfit" pitchFamily="34" charset="0"/>
                <a:ea typeface="Outfit" pitchFamily="34" charset="-122"/>
                <a:cs typeface="Outfit" pitchFamily="34" charset="-120"/>
              </a:rPr>
              <a:t>Can Teach It</a:t>
            </a:r>
            <a:endParaRPr lang="en-US" sz="1150" dirty="0"/>
          </a:p>
        </p:txBody>
      </p:sp>
      <p:sp>
        <p:nvSpPr>
          <p:cNvPr id="41" name="Text 39"/>
          <p:cNvSpPr/>
          <p:nvPr/>
        </p:nvSpPr>
        <p:spPr>
          <a:xfrm>
            <a:off x="6967728" y="2514600"/>
            <a:ext cx="1746504" cy="10515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algn="ctr" indent="0" marL="0">
              <a:buNone/>
            </a:pPr>
            <a:r>
              <a:rPr lang="en-US" sz="90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I can clearly teach this strategy to a classmate.</a:t>
            </a:r>
            <a:endParaRPr lang="en-US" sz="900" dirty="0"/>
          </a:p>
        </p:txBody>
      </p:sp>
      <p:sp>
        <p:nvSpPr>
          <p:cNvPr id="42" name="Text 40"/>
          <p:cNvSpPr/>
          <p:nvPr/>
        </p:nvSpPr>
        <p:spPr>
          <a:xfrm>
            <a:off x="6903720" y="3520440"/>
            <a:ext cx="1874520" cy="18288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800" i="1" dirty="0">
                <a:solidFill>
                  <a:srgbClr val="8A96A3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○ circle me</a:t>
            </a:r>
            <a:endParaRPr lang="en-US" sz="800" dirty="0"/>
          </a:p>
        </p:txBody>
      </p:sp>
      <p:sp>
        <p:nvSpPr>
          <p:cNvPr id="43" name="Shape 41"/>
          <p:cNvSpPr/>
          <p:nvPr/>
        </p:nvSpPr>
        <p:spPr>
          <a:xfrm>
            <a:off x="411480" y="3977640"/>
            <a:ext cx="8412480" cy="685800"/>
          </a:xfrm>
          <a:prstGeom prst="roundRect">
            <a:avLst>
              <a:gd name="adj" fmla="val 10667"/>
            </a:avLst>
          </a:prstGeom>
          <a:solidFill>
            <a:srgbClr val="FFFFFF"/>
          </a:solidFill>
          <a:ln w="12700">
            <a:solidFill>
              <a:srgbClr val="D6DBDF"/>
            </a:solidFill>
            <a:prstDash val="solid"/>
          </a:ln>
          <a:effectLst>
            <a:outerShdw sx="100000" sy="100000" kx="0" ky="0" algn="bl" rotWithShape="0" blurRad="50800" dist="12700" dir="5400000">
              <a:srgbClr val="1C2E42">
                <a:alpha val="10000"/>
              </a:srgbClr>
            </a:outerShdw>
          </a:effectLst>
        </p:spPr>
      </p:sp>
      <p:sp>
        <p:nvSpPr>
          <p:cNvPr id="44" name="Text 42"/>
          <p:cNvSpPr/>
          <p:nvPr/>
        </p:nvSpPr>
        <p:spPr>
          <a:xfrm>
            <a:off x="640080" y="3977640"/>
            <a:ext cx="7955280" cy="6858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50" b="1" dirty="0">
                <a:solidFill>
                  <a:srgbClr val="C0654A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My next step:  </a:t>
            </a:r>
            <a:pPr indent="0" marL="0">
              <a:buNone/>
            </a:pPr>
            <a:r>
              <a:rPr lang="en-US" sz="1050" dirty="0">
                <a:solidFill>
                  <a:srgbClr val="24323F"/>
                </a:solidFill>
                <a:latin typeface="Hanken Grotesk" pitchFamily="34" charset="0"/>
                <a:ea typeface="Hanken Grotesk" pitchFamily="34" charset="-122"/>
                <a:cs typeface="Hanken Grotesk" pitchFamily="34" charset="-120"/>
              </a:rPr>
              <a:t>To move up one level, I will ___.</a:t>
            </a:r>
            <a:endParaRPr 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12</Slides>
  <Notes>12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12</vt:i4>
      </vt:variant>
    </vt:vector>
  </HeadingPairs>
  <TitlesOfParts>
    <vt:vector size="15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</vt:vector>
  </TitlesOfParts>
  <Company>Neft Teacher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Lesson 3-4: Equivalent Ratios</dc:title>
  <dc:subject>6.RP.3</dc:subject>
  <dc:creator>Neft Teacher</dc:creator>
  <cp:lastModifiedBy>Neft Teacher</cp:lastModifiedBy>
  <cp:revision>1</cp:revision>
  <dcterms:created xsi:type="dcterms:W3CDTF">2026-06-08T12:10:58Z</dcterms:created>
  <dcterms:modified xsi:type="dcterms:W3CDTF">2026-06-08T12:10:58Z</dcterms:modified>
</cp:coreProperties>
</file>