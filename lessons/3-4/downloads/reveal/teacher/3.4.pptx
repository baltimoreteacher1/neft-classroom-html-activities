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47.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r3_notesSlide1.xml" ContentType="application/vnd.openxmlformats-officedocument.presentationml.notesSlide+xml"/>
  <Override PartName="/ppt/notesSlides/r3_notesSlide2.xml" ContentType="application/vnd.openxmlformats-officedocument.presentationml.notesSlide+xml"/>
  <Override PartName="/ppt/notesSlides/r3_notesSlide3.xml" ContentType="application/vnd.openxmlformats-officedocument.presentationml.notesSlide+xml"/>
  <Override PartName="/ppt/notesSlides/u3_notesSlide1.xml" ContentType="application/vnd.openxmlformats-officedocument.presentationml.notesSlide+xml"/>
  <Override PartName="/ppt/notesSlides/u3_notesSlide2.xml" ContentType="application/vnd.openxmlformats-officedocument.presentationml.notesSlide+xml"/>
  <Override PartName="/ppt/notesSlides/u3_notesSlide3.xml" ContentType="application/vnd.openxmlformats-officedocument.presentationml.notesSlide+xml"/>
  <Override PartName="/ppt/notesSlides/u3_notesSlide4.xml" ContentType="application/vnd.openxmlformats-officedocument.presentationml.notesSlide+xml"/>
  <Override PartName="/ppt/notesSlides/u3_notesSlide5.xml" ContentType="application/vnd.openxmlformats-officedocument.presentationml.notesSlide+xml"/>
  <Override PartName="/ppt/notesSlides/u3_notesSlide6.xml" ContentType="application/vnd.openxmlformats-officedocument.presentationml.notesSlide+xml"/>
  <Override PartName="/ppt/notesSlides/u3_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r3_slideLayout1.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u3_slideLayout1.xml" ContentType="application/vnd.openxmlformats-officedocument.presentationml.slideLayout+xml"/>
  <Override PartName="/ppt/slideMasters/r3_slideMaster1.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r3_theme2.xml" ContentType="application/vnd.openxmlformats-officedocument.theme+xml"/>
  <Override PartName="/ppt/slideMasters/theme/u3_theme2.xml" ContentType="application/vnd.openxmlformats-officedocument.theme+xml"/>
  <Override PartName="/ppt/slideMasters/u3_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49" r:id="rId6"/>
    <p:sldMasterId id="2147483650" r:id="rId7"/>
    <p:sldMasterId id="2147483651" r:id="rId8"/>
    <p:sldMasterId id="2147483652" r:id="u3_slideMaster_0"/>
    <p:sldMasterId id="2147483653" r:id="r3_sldMasterIdLst_0"/>
  </p:sldMasterIdLst>
  <p:notesMasterIdLst>
    <p:notesMasterId r:id="rId9"/>
  </p:notesMasterIdLst>
  <p:sldIdLst>
    <p:sldId id="5019" r:id="rIdWarmUp"/>
    <p:sldId id="5006" r:id="r3_order_6"/>
    <p:sldId id="5000" r:id="r3_order_0"/>
    <p:sldId id="5037" r:id="rId48"/>
    <p:sldId id="5036" r:id="rId65"/>
    <p:sldId id="5035" r:id="rId49"/>
    <p:sldId id="5034" r:id="rId63"/>
    <p:sldId id="5033" r:id="rId62"/>
    <p:sldId id="5032" r:id="rId61"/>
    <p:sldId id="5031" r:id="rId60"/>
    <p:sldId id="5030" r:id="rId59"/>
    <p:sldId id="5001" r:id="r3_order_1"/>
    <p:sldId id="5002" r:id="r3_order_2"/>
    <p:sldId id="5003" r:id="r3_order_3"/>
    <p:sldId id="5004" r:id="r3_order_4"/>
    <p:sldId id="5005" r:id="r3_order_5"/>
    <p:sldId id="5007" r:id="r3_order_7"/>
    <p:sldId id="5038" r:id="rId91"/>
    <p:sldId id="5008" r:id="r3_order_8"/>
    <p:sldId id="5029" r:id="rId58"/>
    <p:sldId id="5028" r:id="rId57"/>
    <p:sldId id="5027" r:id="rId51"/>
    <p:sldId id="5021" r:id="rId89"/>
    <p:sldId id="5022" r:id="rId90"/>
    <p:sldId id="5009" r:id="r3_order_9"/>
    <p:sldId id="5026" r:id="rId55"/>
    <p:sldId id="5010" r:id="r3_order_10"/>
    <p:sldId id="5011" r:id="r3_order_11"/>
    <p:sldId id="5012" r:id="r3_order_12"/>
    <p:sldId id="5013" r:id="r3_order_13"/>
    <p:sldId id="5014" r:id="r3_order_14"/>
    <p:sldId id="5015" r:id="r3_order_15"/>
    <p:sldId id="5039" r:id="rId92"/>
    <p:sldId id="5025" r:id="rId54"/>
    <p:sldId id="5024" r:id="rId53"/>
    <p:sldId id="5020" r:id="rIdSummarize"/>
    <p:sldId id="5016" r:id="r3_order_16"/>
    <p:sldId id="5040" r:id="rId93"/>
    <p:sldId id="5017" r:id="r3_order_17"/>
    <p:sldId id="5023" r:id="rId52"/>
    <p:sldId id="5018" r:id="r3_order_18"/>
  </p:sldIdLst>
  <p:sldSz cy="6858000" cx="12192000"/>
  <p:notesSz cx="7010400" cy="9236075"/>
  <p:embeddedFontLst>
    <p:embeddedFont>
      <p:font typeface="Cambria Math"/>
      <p:regular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0069DE-F049-479C-8371-F48BC3530E7E}">
  <a:tblStyle styleId="{6A0069DE-F049-479C-8371-F48BC3530E7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22446DA-2791-4D1F-A74B-2A2D7EC16FFA}" styleName="Table_1">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3_order_0" Type="http://schemas.openxmlformats.org/officeDocument/2006/relationships/slide" Target="slides/slide3.xml"/><Relationship Id="r3_order_1" Type="http://schemas.openxmlformats.org/officeDocument/2006/relationships/slide" Target="slides/slide12.xml"/><Relationship Id="r3_order_10" Type="http://schemas.openxmlformats.org/officeDocument/2006/relationships/slide" Target="slides/slide27.xml"/><Relationship Id="r3_order_11" Type="http://schemas.openxmlformats.org/officeDocument/2006/relationships/slide" Target="slides/slide28.xml"/><Relationship Id="r3_order_12" Type="http://schemas.openxmlformats.org/officeDocument/2006/relationships/slide" Target="slides/slide29.xml"/><Relationship Id="r3_order_13" Type="http://schemas.openxmlformats.org/officeDocument/2006/relationships/slide" Target="slides/slide30.xml"/><Relationship Id="r3_order_14" Type="http://schemas.openxmlformats.org/officeDocument/2006/relationships/slide" Target="slides/slide31.xml"/><Relationship Id="r3_order_15" Type="http://schemas.openxmlformats.org/officeDocument/2006/relationships/slide" Target="slides/slide32.xml"/><Relationship Id="r3_order_16" Type="http://schemas.openxmlformats.org/officeDocument/2006/relationships/slide" Target="slides/slide37.xml"/><Relationship Id="r3_order_17" Type="http://schemas.openxmlformats.org/officeDocument/2006/relationships/slide" Target="slides/slide38.xml"/><Relationship Id="r3_order_18" Type="http://schemas.openxmlformats.org/officeDocument/2006/relationships/slide" Target="slides/slide40.xml"/><Relationship Id="r3_order_2" Type="http://schemas.openxmlformats.org/officeDocument/2006/relationships/slide" Target="slides/slide13.xml"/><Relationship Id="r3_order_3" Type="http://schemas.openxmlformats.org/officeDocument/2006/relationships/slide" Target="slides/slide14.xml"/><Relationship Id="r3_order_4" Type="http://schemas.openxmlformats.org/officeDocument/2006/relationships/slide" Target="slides/slide15.xml"/><Relationship Id="r3_order_5" Type="http://schemas.openxmlformats.org/officeDocument/2006/relationships/slide" Target="slides/slide16.xml"/><Relationship Id="r3_order_6" Type="http://schemas.openxmlformats.org/officeDocument/2006/relationships/slide" Target="slides/slide2.xml"/><Relationship Id="r3_order_7" Type="http://schemas.openxmlformats.org/officeDocument/2006/relationships/slide" Target="slides/slide17.xml"/><Relationship Id="r3_order_8" Type="http://schemas.openxmlformats.org/officeDocument/2006/relationships/slide" Target="slides/slide19.xml"/><Relationship Id="r3_order_9" Type="http://schemas.openxmlformats.org/officeDocument/2006/relationships/slide" Target="slides/slide25.xml"/><Relationship Id="r3_sldMasterIdLst_0" Type="http://schemas.openxmlformats.org/officeDocument/2006/relationships/slideMaster" Target="slideMasters/r3_slideMaster1.xml"/><Relationship Id="rIdSummarize" Type="http://schemas.openxmlformats.org/officeDocument/2006/relationships/slide" Target="slides/slide36.xml"/><Relationship Id="rIdWarmUp" Type="http://schemas.openxmlformats.org/officeDocument/2006/relationships/slide" Target="slides/slide1.xml"/><Relationship Id="u3_slideMaster_0" Type="http://schemas.openxmlformats.org/officeDocument/2006/relationships/slideMaster" Target="slideMasters/u3_slideMaster1.xml"/><Relationship Id="u3_slide_1" Type="http://schemas.openxmlformats.org/officeDocument/2006/relationships/slide" Target="slides/slide3.xml"/><Relationship Id="u3_slide_2" Type="http://schemas.openxmlformats.org/officeDocument/2006/relationships/slide" Target="slides/slide25.xml"/><Relationship Id="u3_slide_3" Type="http://schemas.openxmlformats.org/officeDocument/2006/relationships/slide" Target="slides/slide2.xml"/><Relationship Id="u3_slide_4" Type="http://schemas.openxmlformats.org/officeDocument/2006/relationships/slide" Target="slides/slide31.xml"/><Relationship Id="u3_slide_5" Type="http://schemas.openxmlformats.org/officeDocument/2006/relationships/slide" Target="slides/slide19.xml"/><Relationship Id="u3_slide_6" Type="http://schemas.openxmlformats.org/officeDocument/2006/relationships/slide" Target="slides/slide38.xml"/><Relationship Id="u3_slide_7"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1" Type="http://schemas.openxmlformats.org/officeDocument/2006/relationships/slide" Target="slides/slide12.xml"/><Relationship Id="rId15" Type="http://schemas.openxmlformats.org/officeDocument/2006/relationships/slide" Target="slides/slide13.xml"/><Relationship Id="rId37" Type="http://schemas.openxmlformats.org/officeDocument/2006/relationships/slide" Target="slides/slide15.xml"/><Relationship Id="rId41" Type="http://schemas.openxmlformats.org/officeDocument/2006/relationships/slide" Target="slides/slide16.xml"/><Relationship Id="rId48" Type="http://schemas.openxmlformats.org/officeDocument/2006/relationships/slide" Target="slides/slide4.xml"/><Relationship Id="rId49" Type="http://schemas.openxmlformats.org/officeDocument/2006/relationships/slide" Target="slides/slide6.xml"/><Relationship Id="rId50" Type="http://schemas.openxmlformats.org/officeDocument/2006/relationships/slide" Target="slides/slide27.xml"/><Relationship Id="rId51" Type="http://schemas.openxmlformats.org/officeDocument/2006/relationships/slide" Target="slides/slide22.xml"/><Relationship Id="rId52" Type="http://schemas.openxmlformats.org/officeDocument/2006/relationships/slide" Target="slides/slide39.xml"/><Relationship Id="rId53" Type="http://schemas.openxmlformats.org/officeDocument/2006/relationships/slide" Target="slides/slide35.xml"/><Relationship Id="rId54" Type="http://schemas.openxmlformats.org/officeDocument/2006/relationships/slide" Target="slides/slide34.xml"/><Relationship Id="rId55" Type="http://schemas.openxmlformats.org/officeDocument/2006/relationships/slide" Target="slides/slide26.xml"/><Relationship Id="rId56" Type="http://schemas.openxmlformats.org/officeDocument/2006/relationships/slide" Target="slides/slide28.xml"/><Relationship Id="rId57" Type="http://schemas.openxmlformats.org/officeDocument/2006/relationships/slide" Target="slides/slide21.xml"/><Relationship Id="rId58" Type="http://schemas.openxmlformats.org/officeDocument/2006/relationships/slide" Target="slides/slide20.xml"/><Relationship Id="rId59" Type="http://schemas.openxmlformats.org/officeDocument/2006/relationships/slide" Target="slides/slide11.xml"/><Relationship Id="rId60" Type="http://schemas.openxmlformats.org/officeDocument/2006/relationships/slide" Target="slides/slide10.xml"/><Relationship Id="rId61" Type="http://schemas.openxmlformats.org/officeDocument/2006/relationships/slide" Target="slides/slide9.xml"/><Relationship Id="rId62" Type="http://schemas.openxmlformats.org/officeDocument/2006/relationships/slide" Target="slides/slide8.xml"/><Relationship Id="rId63" Type="http://schemas.openxmlformats.org/officeDocument/2006/relationships/slide" Target="slides/slide7.xml"/><Relationship Id="rId64" Type="http://schemas.openxmlformats.org/officeDocument/2006/relationships/slide" Target="slides/slide30.xml"/><Relationship Id="rId65" Type="http://schemas.openxmlformats.org/officeDocument/2006/relationships/slide" Target="slides/slide5.xml"/><Relationship Id="rId66" Type="http://schemas.openxmlformats.org/officeDocument/2006/relationships/slide" Target="slides/slide32.xml"/><Relationship Id="rId68" Type="http://schemas.openxmlformats.org/officeDocument/2006/relationships/slide" Target="slides/slide37.xml"/><Relationship Id="rId70" Type="http://schemas.openxmlformats.org/officeDocument/2006/relationships/font" Target="fonts/CambriaMath-regular.fntdata"/><Relationship Id="rId89" Type="http://schemas.openxmlformats.org/officeDocument/2006/relationships/slide" Target="slides/slide23.xml"/><Relationship Id="rId90" Type="http://schemas.openxmlformats.org/officeDocument/2006/relationships/slide" Target="slides/slide24.xml"/><Relationship Id="rId91" Type="http://schemas.openxmlformats.org/officeDocument/2006/relationships/slide" Target="slides/slide18.xml"/><Relationship Id="rId92" Type="http://schemas.openxmlformats.org/officeDocument/2006/relationships/slide" Target="slides/slide33.xml"/><Relationship Id="rId93"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r3_notesSlide1.xml.rels><?xml version='1.0' encoding='UTF-8' standalone='yes'?>
<Relationships xmlns="http://schemas.openxmlformats.org/package/2006/relationships"><Relationship Id="R55ccced4a8fe4992" Type="http://schemas.openxmlformats.org/officeDocument/2006/relationships/notesMaster" Target="../notesMasters/notesMaster1.xml"/><Relationship Id="R805ba9e5b44d47c2" Type="http://schemas.openxmlformats.org/officeDocument/2006/relationships/slide" Target="../slides/slide14.xml"/></Relationships>
</file>

<file path=ppt/notesSlides/_rels/r3_notesSlide2.xml.rels><?xml version='1.0' encoding='UTF-8' standalone='yes'?>
<Relationships xmlns="http://schemas.openxmlformats.org/package/2006/relationships"><Relationship Id="R2eb1b0eb18384818" Type="http://schemas.openxmlformats.org/officeDocument/2006/relationships/slide" Target="../slides/slide17.xml"/><Relationship Id="Rf2515686794d44c1" Type="http://schemas.openxmlformats.org/officeDocument/2006/relationships/notesMaster" Target="../notesMasters/notesMaster1.xml"/></Relationships>
</file>

<file path=ppt/notesSlides/_rels/r3_notesSlide3.xml.rels><?xml version='1.0' encoding='UTF-8' standalone='yes'?>
<Relationships xmlns="http://schemas.openxmlformats.org/package/2006/relationships"><Relationship Id="R3b33f9b2ff9a471b" Type="http://schemas.openxmlformats.org/officeDocument/2006/relationships/slide" Target="../slides/slide29.xml"/><Relationship Id="Reca4792c52854f71" Type="http://schemas.openxmlformats.org/officeDocument/2006/relationships/notesMaster" Target="../notesMasters/notesMaster1.xml"/></Relationships>
</file>

<file path=ppt/notesSlides/_rels/u3_notesSlide1.xml.rels><?xml version='1.0' encoding='UTF-8' standalone='yes'?>
<Relationships xmlns="http://schemas.openxmlformats.org/package/2006/relationships"><Relationship Id="R0d55af2202e14344" Type="http://schemas.openxmlformats.org/officeDocument/2006/relationships/notesMaster" Target="../notesMasters/notesMaster1.xml"/><Relationship Id="R93e9c5c264874ca7" Type="http://schemas.openxmlformats.org/officeDocument/2006/relationships/slide" Target="../slides/slide3.xml"/></Relationships>
</file>

<file path=ppt/notesSlides/_rels/u3_notesSlide2.xml.rels><?xml version='1.0' encoding='UTF-8' standalone='yes'?>
<Relationships xmlns="http://schemas.openxmlformats.org/package/2006/relationships"><Relationship Id="Rd91561ea0b4b46fc" Type="http://schemas.openxmlformats.org/officeDocument/2006/relationships/notesMaster" Target="../notesMasters/notesMaster1.xml"/><Relationship Id="Re36a219969a34d62" Type="http://schemas.openxmlformats.org/officeDocument/2006/relationships/slide" Target="../slides/slide25.xml"/></Relationships>
</file>

<file path=ppt/notesSlides/_rels/u3_notesSlide3.xml.rels><?xml version='1.0' encoding='UTF-8' standalone='yes'?>
<Relationships xmlns="http://schemas.openxmlformats.org/package/2006/relationships"><Relationship Id="R0c71657f24014270" Type="http://schemas.openxmlformats.org/officeDocument/2006/relationships/slide" Target="../slides/slide2.xml"/><Relationship Id="R1452a4ae34854fcb" Type="http://schemas.openxmlformats.org/officeDocument/2006/relationships/notesMaster" Target="../notesMasters/notesMaster1.xml"/></Relationships>
</file>

<file path=ppt/notesSlides/_rels/u3_notesSlide4.xml.rels><?xml version='1.0' encoding='UTF-8' standalone='yes'?>
<Relationships xmlns="http://schemas.openxmlformats.org/package/2006/relationships"><Relationship Id="R6be733b6af694696" Type="http://schemas.openxmlformats.org/officeDocument/2006/relationships/notesMaster" Target="../notesMasters/notesMaster1.xml"/><Relationship Id="R8c6dea2ba1e74e8d" Type="http://schemas.openxmlformats.org/officeDocument/2006/relationships/slide" Target="../slides/slide31.xml"/></Relationships>
</file>

<file path=ppt/notesSlides/_rels/u3_notesSlide5.xml.rels><?xml version='1.0' encoding='UTF-8' standalone='yes'?>
<Relationships xmlns="http://schemas.openxmlformats.org/package/2006/relationships"><Relationship Id="R7f3e8ee152474f69" Type="http://schemas.openxmlformats.org/officeDocument/2006/relationships/slide" Target="../slides/slide19.xml"/><Relationship Id="Rc013a507f84e43e3" Type="http://schemas.openxmlformats.org/officeDocument/2006/relationships/notesMaster" Target="../notesMasters/notesMaster1.xml"/></Relationships>
</file>

<file path=ppt/notesSlides/_rels/u3_notesSlide6.xml.rels><?xml version='1.0' encoding='UTF-8' standalone='yes'?>
<Relationships xmlns="http://schemas.openxmlformats.org/package/2006/relationships"><Relationship Id="R82c937a467ce4421" Type="http://schemas.openxmlformats.org/officeDocument/2006/relationships/slide" Target="../slides/slide38.xml"/><Relationship Id="Rb16ef47001b446fd" Type="http://schemas.openxmlformats.org/officeDocument/2006/relationships/notesMaster" Target="../notesMasters/notesMaster1.xml"/></Relationships>
</file>

<file path=ppt/notesSlides/_rels/u3_notesSlide7.xml.rels><?xml version='1.0' encoding='UTF-8' standalone='yes'?>
<Relationships xmlns="http://schemas.openxmlformats.org/package/2006/relationships"><Relationship Id="Re91a1a3a089c4f30" Type="http://schemas.openxmlformats.org/officeDocument/2006/relationships/notesMaster" Target="../notesMasters/notesMaster1.xml"/><Relationship Id="Rfe009bd4369e4129" Type="http://schemas.openxmlformats.org/officeDocument/2006/relationships/slide" Target="../slides/slide40.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12 | TASK</a:t>
            </a:r>
          </a:p>
          <a:p xmlns:a="http://schemas.openxmlformats.org/drawingml/2006/main">
            <a:pPr>
              <a:buNone/>
            </a:pPr>
            <a:r>
              <a:rPr lang="en-US" sz="1100"/>
              <a:t>Focus on the existing task: More or Less Than 25 1,128 ÷ 41 1,850 ÷ 29 624 ÷ 12 STUDENT MOVE · ESTIMATE • DEFEND • COMPARE Estimate first. Choose one…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points as ratios.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Partner press: ask Why? and answer with evidence.</a:t>
            </a:r>
          </a:p>
          <a:p>
            <a:r>
              <a:rPr lang="en-US"/>
              <a:t>Routine: STUDENT MOVE  ·  ESTIMATE • DEFEND • COMPARE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this plotted point show the same comparison as its row in the table?” Wait for evidence, invite another pathway, and have a student ask a follow-up question. Do not replace students’ reasoning with a sequence of leading steps.</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13 | TASK</a:t>
            </a:r>
          </a:p>
          <a:p xmlns:a="http://schemas.openxmlformats.org/drawingml/2006/main">
            <a:pPr>
              <a:buNone/>
            </a:pPr>
            <a:r>
              <a:rPr lang="en-US" sz="1100"/>
              <a:t>Focus on the existing task: Soccer Balls The organizers of a soccer league ordered 6 of the bags shown to hold soccer balls. Each bag holds the same number of soccer balls. How many soccer balls will the bags hold?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Ask a partner a question; choose a model together.</a:t>
            </a:r>
          </a:p>
          <a:p>
            <a:r>
              <a:rPr lang="en-US"/>
              <a:t>Routine: STUDENT MOVE  ·  SOLO THINK → PARTNER TALK</a:t>
            </a:r>
          </a:p>
        </p:txBody>
      </p:sp>
      <p:sp>
        <p:nvSpPr>
          <p:cNvPr id="275" name="Google Shape;27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8: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15 | COLLABORATE</a:t>
            </a:r>
          </a:p>
          <a:p xmlns:a="http://schemas.openxmlformats.org/drawingml/2006/main">
            <a:pPr>
              <a:buNone/>
            </a:pPr>
            <a:r>
              <a:rPr lang="en-US" sz="1100"/>
              <a:t>Focus on the existing task: How can you plot the ordered pairs on the coordinate plane?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Student-led talk: paraphrase, agree or disagree, add on.</a:t>
            </a:r>
          </a:p>
          <a:p>
            <a:r>
              <a:rPr lang="en-US"/>
              <a:t>Routine: STUDENT MOVE  ·  SOLO THINK → PARTNER TALK</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swapping coordinates or ignoring the axis scale. If it appears, trace one original table row to the corresponding horizontal and vertical coordinates; then ask the student to revise the same response and explain the change. If evidence is secure, have students compare a second valid pathway or state why their approach works. Choose the next step from the responses, not a preset pace.</a:t>
            </a:r>
          </a:p>
        </p:txBody>
      </p:sp>
      <p:sp>
        <p:nvSpPr>
          <p:cNvPr id="456" name="Google Shape;456;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16 | REVEAL</a:t>
            </a:r>
          </a:p>
          <a:p xmlns:a="http://schemas.openxmlformats.org/drawingml/2006/main">
            <a:pPr>
              <a:buNone/>
            </a:pPr>
            <a:r>
              <a:rPr lang="en-US" sz="1100"/>
              <a:t>Focus on the existing task: Check: Each coordinate is +6 units up and +1 unit right from the previous coordinate. Equivalent ratio points form a straight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493" name="Google Shape;493;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41: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27 | TASK</a:t>
            </a:r>
          </a:p>
          <a:p xmlns:a="http://schemas.openxmlformats.org/drawingml/2006/main">
            <a:pPr>
              <a:buNone/>
            </a:pPr>
            <a:r>
              <a:rPr lang="en-US" sz="1100"/>
              <a:t>Focus on the existing task: Lucy’s Bracelets Lucy is making charm bracelets for her friends. She uses 25 orange beads and 5 blue charms for one kind of bracelet and…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strategies; defend one with evidence.</a:t>
            </a:r>
          </a:p>
          <a:p>
            <a:r>
              <a:rPr lang="en-US"/>
              <a:t>Routine: STUDENT MOVE  ·  SOLO THINK → PARTNER TALK</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this plotted point show the same comparison as its row in the table?” Wait for evidence, invite another pathway, and have a student ask a follow-up question. Do not replace students’ reasoning with a sequence of leading steps.</a:t>
            </a:r>
          </a:p>
        </p:txBody>
      </p:sp>
      <p:sp>
        <p:nvSpPr>
          <p:cNvPr id="571" name="Google Shape;571;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28 | TASK</a:t>
            </a:r>
          </a:p>
          <a:p xmlns:a="http://schemas.openxmlformats.org/drawingml/2006/main">
            <a:pPr>
              <a:buNone/>
            </a:pPr>
            <a:r>
              <a:rPr lang="en-US" sz="1100"/>
              <a:t>Focus on the existing task: The ratios of charms to beads for the bracelets are 4: 20 and 5: 25, so the ordered pairs for these values are (4, 20) and (5, 25). Talk About It: How do graphs help you interpret data?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619" name="Google Shape;619;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5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30 | REVEAL</a:t>
            </a:r>
          </a:p>
          <a:p xmlns:a="http://schemas.openxmlformats.org/drawingml/2006/main">
            <a:pPr>
              <a:buNone/>
            </a:pPr>
            <a:r>
              <a:rPr lang="en-US" sz="1100"/>
              <a:t>Focus on the existing task: What is the missing coordinate for (1, y ) and what does it represent?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690" name="Google Shape;690;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5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32 | PRACTICE</a:t>
            </a:r>
          </a:p>
          <a:p xmlns:a="http://schemas.openxmlformats.org/drawingml/2006/main">
            <a:pPr>
              <a:buNone/>
            </a:pPr>
            <a:r>
              <a:rPr lang="en-US" sz="1100"/>
              <a:t>Focus on the existing task: Let’s Explore More How do a ratio table and the graph both illustrate the same ratio relationship?</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axis labels and scales.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Student move: Compare pathways with a partner; name one revision.</a:t>
            </a:r>
          </a:p>
          <a:p>
            <a:r>
              <a:rPr lang="en-US"/>
              <a:t>Routine: STUDENT MOVE  ·  SOLO THINK → PARTNER TALK</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swapping coordinates or ignoring the axis scale. If it appears, trace one original table row to the corresponding horizontal and vertical coordinates; then ask the student to revise the same response and explain the change. If evidence is secure, have students compare a second valid pathway or state why their approach works. Choose the next step from the responses, not a preset pace.</a:t>
            </a:r>
          </a:p>
        </p:txBody>
      </p:sp>
      <p:sp>
        <p:nvSpPr>
          <p:cNvPr id="706" name="Google Shape;706;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59: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3.4, slide 37 | APPLY</a:t>
            </a:r>
          </a:p>
          <a:p xmlns:a="http://schemas.openxmlformats.org/drawingml/2006/main">
            <a:pPr>
              <a:buNone/>
            </a:pPr>
            <a:r>
              <a:rPr lang="en-US" sz="1100"/>
              <a:t>Focus on the existing task: Apply: Street Corn Recipe Eduardo is going to make 30 ears of grilled Mexican street corn for a party using the recipe shown. He has all…</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a:t>Routine: STUDENT MOVE  ·  SOLO THINK → PARTNER TALK</a:t>
            </a:r>
          </a:p>
        </p:txBody>
      </p:sp>
      <p:sp>
        <p:nvSpPr>
          <p:cNvPr id="726" name="Google Shape;726;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3.4, slide 1 | WARMUP</a:t>
            </a:r>
          </a:p>
          <a:p xmlns:a="http://schemas.openxmlformats.org/drawingml/2006/main">
            <a:pPr>
              <a:buNone/>
            </a:pPr>
            <a:r>
              <a:rPr lang="en-US" sz="1100"/>
              <a:t>Focus on the existing task: Warm-Up WARM-UP · THINK • TRY • CHECK Do these four on your…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(3, 2)   2) 5   3) 12   4) 24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match table entries to ordered pairs; use axis labels and scales; explain points as ratios. Review recent work and today’s warm-up to choose flexible groups and access supports; do not infer needs from identity or perceived ability. Use the existing lesson tasks and stated standards.</a:t>
            </a:r>
          </a:p>
          <a:p>
            <a:pPr>
              <a:buNone/>
            </a:pPr>
            <a:r>
              <a:rPr lang="en-US" sz="1100"/>
              <a:t>Anticipate: swapping coordinates or ignoring the axis scale. If observed, trace one original table row to the corresponding horizontal and vertical coordinates.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3.4, slide 23 | WARMUP</a:t>
            </a:r>
          </a:p>
          <a:p xmlns:a="http://schemas.openxmlformats.org/drawingml/2006/main">
            <a:pPr>
              <a:buNone/>
            </a:pPr>
            <a:r>
              <a:rPr lang="en-US" sz="1100"/>
              <a:t>Focus on the existing task: Session 2 Warm-Up | Session 2 Warm-Up · about 4 minutes WARM-UP · THINK • TRY • CHECK…</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3.4, slide 24 | NOTES</a:t>
            </a:r>
          </a:p>
          <a:p xmlns:a="http://schemas.openxmlformats.org/drawingml/2006/main">
            <a:pPr>
              <a:buNone/>
            </a:pPr>
            <a:r>
              <a:rPr lang="en-US" sz="1100"/>
              <a:t>Focus on the existing task: Review Notes — Session 2 REVIEW NOTES · RECALL • CONNECT • APPLY ORDERED PAIR = (x, y) Read the axis labels first. x tells how far…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3.4, slide 36 | SUMMARIZE</a:t>
            </a:r>
          </a:p>
          <a:p xmlns:a="http://schemas.openxmlformats.org/drawingml/2006/main">
            <a:pPr>
              <a:buNone/>
            </a:pPr>
            <a:r>
              <a:rPr lang="en-US" sz="1100"/>
              <a:t>Focus on the existing task: STUDENT MOVE · SUMMARIZE • TEACH A PARTNER Summarize: Graphs of Ratios Each column of a ratio table becomes an ordered pair (x, y).…</a:t>
            </a:r>
          </a:p>
          <a:p xmlns:a="http://schemas.openxmlformats.org/drawingml/2006/main">
            <a:pPr>
              <a:buNone/>
            </a:pPr>
            <a:r>
              <a:rPr lang="en-US" sz="1100"/>
              <a:t>CONNECT (T1/4): Ask students to restate the displayed goal or key idea and connect it to earlier work. Relevant lesson evidence: match table entries to ordered pairs; use axis labels and scales; explain points as ratios.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39 | REFLECTION</a:t>
            </a:r>
          </a:p>
          <a:p xmlns:a="http://schemas.openxmlformats.org/drawingml/2006/main">
            <a:pPr>
              <a:buNone/>
            </a:pPr>
            <a:r>
              <a:rPr lang="en-US" sz="1100"/>
              <a:t>Focus on the existing task: Learning Targets I can represent ratios on a coordinate plane. I can look for structure on the graph of a ratio relationship to determine…</a:t>
            </a:r>
          </a:p>
          <a:p xmlns:a="http://schemas.openxmlformats.org/drawingml/2006/main">
            <a:pPr>
              <a:buNone/>
            </a:pPr>
            <a:r>
              <a:rPr lang="en-US" sz="1100"/>
              <a:t>CONNECT (T1/4): Ask students to restate the displayed goal or key idea and connect it to earlier work. Relevant lesson evidence: match table entries to ordered pairs; use axis labels and scales; explain points as ratios.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swapping coordinates or ignoring the axis scale.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trace one original table row to the corresponding horizontal and vertical coordinates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4 | VOCAB</a:t>
            </a:r>
          </a:p>
          <a:p xmlns:a="http://schemas.openxmlformats.org/drawingml/2006/main">
            <a:pPr>
              <a:buNone/>
            </a:pPr>
            <a:r>
              <a:rPr lang="en-US" sz="1100"/>
              <a:t>Focus on the existing task: Vocabulary 1 of 7 Graph Ratio Tables Plot the…</a:t>
            </a:r>
          </a:p>
          <a:p xmlns:a="http://schemas.openxmlformats.org/drawingml/2006/main">
            <a:pPr>
              <a:buNone/>
            </a:pPr>
            <a:r>
              <a:rPr lang="en-US" sz="1100"/>
              <a:t>ASK (T1/3/5): Where does “Graph Ratio Tables”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5 | VOCAB</a:t>
            </a:r>
          </a:p>
          <a:p xmlns:a="http://schemas.openxmlformats.org/drawingml/2006/main">
            <a:pPr>
              <a:buNone/>
            </a:pPr>
            <a:r>
              <a:rPr lang="en-US" sz="1100"/>
              <a:t>Focus on the existing task: Vocabulary 2 of 7 Coordinate plane A grid with a…</a:t>
            </a:r>
          </a:p>
          <a:p xmlns:a="http://schemas.openxmlformats.org/drawingml/2006/main">
            <a:pPr>
              <a:buNone/>
            </a:pPr>
            <a:r>
              <a:rPr lang="en-US" sz="1100"/>
              <a:t>ASK (T1/3/5): Where does “Coordinate plane”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6 | VOCAB</a:t>
            </a:r>
          </a:p>
          <a:p xmlns:a="http://schemas.openxmlformats.org/drawingml/2006/main">
            <a:pPr>
              <a:buNone/>
            </a:pPr>
            <a:r>
              <a:rPr lang="en-US" sz="1100"/>
              <a:t>Focus on the existing task: Vocabulary 3 of 7 Ordered pair Two numbers (x, y)…</a:t>
            </a:r>
          </a:p>
          <a:p xmlns:a="http://schemas.openxmlformats.org/drawingml/2006/main">
            <a:pPr>
              <a:buNone/>
            </a:pPr>
            <a:r>
              <a:rPr lang="en-US" sz="1100"/>
              <a:t>ASK (T1/3/5): Where does “Ordered pair”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7 | VOCAB</a:t>
            </a:r>
          </a:p>
          <a:p xmlns:a="http://schemas.openxmlformats.org/drawingml/2006/main">
            <a:pPr>
              <a:buNone/>
            </a:pPr>
            <a:r>
              <a:rPr lang="en-US" sz="1100"/>
              <a:t>Focus on the existing task: Vocabulary 4 of 7 Linear pattern Points that make…</a:t>
            </a:r>
          </a:p>
          <a:p xmlns:a="http://schemas.openxmlformats.org/drawingml/2006/main">
            <a:pPr>
              <a:buNone/>
            </a:pPr>
            <a:r>
              <a:rPr lang="en-US" sz="1100"/>
              <a:t>ASK (T1/3/5): Where does “Linear pattern”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8 | VOCAB</a:t>
            </a:r>
          </a:p>
          <a:p xmlns:a="http://schemas.openxmlformats.org/drawingml/2006/main">
            <a:pPr>
              <a:buNone/>
            </a:pPr>
            <a:r>
              <a:rPr lang="en-US" sz="1100"/>
              <a:t>Focus on the existing task: Vocabulary 5 of 7 Proportional Two amounts that…</a:t>
            </a:r>
          </a:p>
          <a:p xmlns:a="http://schemas.openxmlformats.org/drawingml/2006/main">
            <a:pPr>
              <a:buNone/>
            </a:pPr>
            <a:r>
              <a:rPr lang="en-US" sz="1100"/>
              <a:t>ASK (T1/3/5): Where does “Proportional”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9 | VOCAB</a:t>
            </a:r>
          </a:p>
          <a:p xmlns:a="http://schemas.openxmlformats.org/drawingml/2006/main">
            <a:pPr>
              <a:buNone/>
            </a:pPr>
            <a:r>
              <a:rPr lang="en-US" sz="1100"/>
              <a:t>Focus on the existing task: Vocabulary 6 of 7 Origin The point (0, 0) where…</a:t>
            </a:r>
          </a:p>
          <a:p xmlns:a="http://schemas.openxmlformats.org/drawingml/2006/main">
            <a:pPr>
              <a:buNone/>
            </a:pPr>
            <a:r>
              <a:rPr lang="en-US" sz="1100"/>
              <a:t>ASK (T1/3/5): Where does “Origin”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10 | VOCAB</a:t>
            </a:r>
          </a:p>
          <a:p xmlns:a="http://schemas.openxmlformats.org/drawingml/2006/main">
            <a:pPr>
              <a:buNone/>
            </a:pPr>
            <a:r>
              <a:rPr lang="en-US" sz="1100"/>
              <a:t>Focus on the existing task: Vocabulary 7 of 7 Ratio table A table of equal…</a:t>
            </a:r>
          </a:p>
          <a:p xmlns:a="http://schemas.openxmlformats.org/drawingml/2006/main">
            <a:pPr>
              <a:buNone/>
            </a:pPr>
            <a:r>
              <a:rPr lang="en-US" sz="1100"/>
              <a:t>ASK (T1/3/5): Where does “Ratio table”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11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18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match table entries to ordered pairs; use axis labels and scales; explain points as ratios.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20 | REVEAL</a:t>
            </a:r>
          </a:p>
          <a:p xmlns:a="http://schemas.openxmlformats.org/drawingml/2006/main">
            <a:pPr>
              <a:buNone/>
            </a:pPr>
            <a:r>
              <a:rPr lang="en-US" sz="1100"/>
              <a:t>Focus on the existing task: For each bag, there are 6 soccer balls. The ratio of bags to soccer balls is 1: 6. How can you find equivalent ratios?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21 | REVEAL</a:t>
            </a:r>
          </a:p>
          <a:p xmlns:a="http://schemas.openxmlformats.org/drawingml/2006/main">
            <a:pPr>
              <a:buNone/>
            </a:pPr>
            <a:r>
              <a:rPr lang="en-US" sz="1100"/>
              <a:t>Focus on the existing task: Reveal: We can create a graph from the data. Six bags will hold 36 soccer balls. Equivalent ratios from a table can be displayed in other ways. What is another way to display the information in the table?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22 | REVEAL</a:t>
            </a:r>
          </a:p>
          <a:p xmlns:a="http://schemas.openxmlformats.org/drawingml/2006/main">
            <a:pPr>
              <a:buNone/>
            </a:pPr>
            <a:r>
              <a:rPr lang="en-US" sz="1100"/>
              <a:t>Focus on the existing task: Reveal: The coordinates form a straight line. Connecting the points to form a graph can then help you interpret the data. What do you notice about the plotted points?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points as ratios.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26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33 | PRIOR_INSERT</a:t>
            </a:r>
          </a:p>
          <a:p xmlns:a="http://schemas.openxmlformats.org/drawingml/2006/main">
            <a:pPr>
              <a:buNone/>
            </a:pPr>
            <a:r>
              <a:rPr lang="en-US" sz="1100"/>
              <a:t>Focus on the existing task: LESSON 3.4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match table entries to ordered pairs; use axis labels and scales; explain points as ratios.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34 | COLLABORATE</a:t>
            </a:r>
          </a:p>
          <a:p xmlns:a="http://schemas.openxmlformats.org/drawingml/2006/main">
            <a:pPr>
              <a:buNone/>
            </a:pPr>
            <a:r>
              <a:rPr lang="en-US" sz="1100"/>
              <a:t>Focus on the existing task: Connect the coordinates with a dotted line. How can you use the graph to find equivalent ratios?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points as ratios.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3.4, slide 35 | REVEAL</a:t>
            </a:r>
          </a:p>
          <a:p xmlns:a="http://schemas.openxmlformats.org/drawingml/2006/main">
            <a:pPr>
              <a:buNone/>
            </a:pPr>
            <a:r>
              <a:rPr lang="en-US" sz="1100"/>
              <a:t>Focus on the existing task: The graph contains the ratios equivalent to 4: 20 and 5: 25. How can you use the line to find the number of beads she uses for every 1 charm?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axis labels and scales.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r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14 | WORKED</a:t>
            </a:r>
          </a:p>
          <a:p xmlns:a="http://schemas.openxmlformats.org/drawingml/2006/main">
            <a:pPr>
              <a:buNone/>
            </a:pPr>
            <a:r>
              <a:rPr lang="en-US" sz="1100"/>
              <a:t>Focus on the existing task: From a ratio table to ordered pairs An ordered pair (x, y) locates a point on a coordinate plane. Here, x represents bags and y…</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17 | PRACTICE</a:t>
            </a:r>
          </a:p>
          <a:p xmlns:a="http://schemas.openxmlformats.org/drawingml/2006/main">
            <a:pPr>
              <a:buNone/>
            </a:pPr>
            <a:r>
              <a:rPr lang="en-US" sz="1100"/>
              <a:t>Focus on the existing task: Practice: bags and soccer balls Each bag holds 6 soccer balls. Let x = bags and y = balls. 1. Explain the multiplication relationship…</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29 | WORKED</a:t>
            </a:r>
          </a:p>
          <a:p xmlns:a="http://schemas.openxmlformats.org/drawingml/2006/main">
            <a:pPr>
              <a:buNone/>
            </a:pPr>
            <a:r>
              <a:rPr lang="en-US" sz="1100"/>
              <a:t>Focus on the existing task: Reading an equivalent ratio on a graph Equivalent ratios lie on one straight line through the origin, (0, 0). To find beads for 1…</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explain points as ratios.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3 | GOAL</a:t>
            </a:r>
          </a:p>
          <a:p xmlns:a="http://schemas.openxmlformats.org/drawingml/2006/main">
            <a:pPr>
              <a:buNone/>
            </a:pPr>
            <a:r>
              <a:rPr lang="en-US" sz="1100"/>
              <a:t>Focus on the existing task: Learning Target — Session 1 | Maryland Standard 6.AT.3a LEARNING TARGET · PLOT • READ •…</a:t>
            </a:r>
          </a:p>
          <a:p xmlns:a="http://schemas.openxmlformats.org/drawingml/2006/main">
            <a:pPr>
              <a:buNone/>
            </a:pPr>
            <a:r>
              <a:rPr lang="en-US" sz="1100"/>
              <a:t>CONNECT (T1/4): Ask students to restate the displayed goal or key idea and connect it to earlier work. Relevant lesson evidence: match table entries to ordered pairs; use axis labels and scales; explain points as ratios.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match table entries to ordered pairs; use axis labels and scales; explain points as ratios.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25 | GOAL</a:t>
            </a:r>
          </a:p>
          <a:p xmlns:a="http://schemas.openxmlformats.org/drawingml/2006/main">
            <a:pPr>
              <a:buNone/>
            </a:pPr>
            <a:r>
              <a:rPr lang="en-US" sz="1100"/>
              <a:t>Focus on the existing task: Learning Target — Session 2 | Maryland Standard 6.AT.3a LEARNING TARGET · PLOT • READ •…</a:t>
            </a:r>
          </a:p>
          <a:p xmlns:a="http://schemas.openxmlformats.org/drawingml/2006/main">
            <a:pPr>
              <a:buNone/>
            </a:pPr>
            <a:r>
              <a:rPr lang="en-US" sz="1100"/>
              <a:t>CONNECT (T1/4): Ask students to restate the displayed goal or key idea and connect it to earlier work. Relevant lesson evidence: match table entries to ordered pairs; use axis labels and scales; explain points as ratios.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match table entries to ordered pairs; use axis labels and scales; explain points as ratios. Ask: “Which part of your work would show this?” Revisit that evidence after the task; a confidence rating alone is not evidence of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2 | NOTES</a:t>
            </a:r>
          </a:p>
          <a:p xmlns:a="http://schemas.openxmlformats.org/drawingml/2006/main">
            <a:pPr>
              <a:buNone/>
            </a:pPr>
            <a:r>
              <a:rPr lang="en-US" sz="1100"/>
              <a:t>Focus on the existing task: Today’s Math Notes — Session 1 STUDENT NOTES · COPY LESS • UNDERSTAND MORE ORDERED PAIR = (x, y) Read the axis labels first. x tells…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31 | NOTES</a:t>
            </a:r>
          </a:p>
          <a:p xmlns:a="http://schemas.openxmlformats.org/drawingml/2006/main">
            <a:pPr>
              <a:buNone/>
            </a:pPr>
            <a:r>
              <a:rPr lang="en-US" sz="1100"/>
              <a:t>Focus on the existing task: Today’s Math Notes — Session 2 STUDENT NOTES · COPY LESS • UNDERSTAND MORE ONE RATIO, ONE LINE Equivalent ratio points lie on a…</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19 | TASK</a:t>
            </a:r>
          </a:p>
          <a:p xmlns:a="http://schemas.openxmlformats.org/drawingml/2006/main">
            <a:pPr>
              <a:buNone/>
            </a:pPr>
            <a:r>
              <a:rPr lang="en-US" sz="1100"/>
              <a:t>Focus on the existing task: 60-Second Check Work independently first. Your response tells us what to do next. FORMATIVE CHECK · SOLO → CHECK → REVISE USE THIS…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match table entries to ordered pairs.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(4, 24): 4 bags and 24 balls. Give quiet thinking time before sharing. If a student is stuck, point back to the relevant worked model without doing the task for them. Give specific feedback, then allow a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38 | ASSESSMENT</a:t>
            </a:r>
          </a:p>
          <a:p xmlns:a="http://schemas.openxmlformats.org/drawingml/2006/main">
            <a:pPr>
              <a:buNone/>
            </a:pPr>
            <a:r>
              <a:rPr lang="en-US" sz="1100"/>
              <a:t>Focus on the existing task: Exit Ticket + Self-Check STUDENT MOVE · SELF-ASSESS • NAME YOUR NEXT STEP Lucy uses 5 beads for every 1 charm. What point represents 3 charms?</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explain points as ratios. Ask which feature of their work supports the claim.</a:t>
            </a:r>
          </a:p>
          <a:p xmlns:a="http://schemas.openxmlformats.org/drawingml/2006/main">
            <a:pPr>
              <a:buNone/>
            </a:pPr>
            <a:r>
              <a:rPr lang="en-US" sz="1100"/>
              <a:t>RESPOND: If this task shows the lesson misconception—swapping coordinates or ignoring the axis scale—trace one original table row to the corresponding horizontal and vertical coordinates.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Answer: (3, 15); 15 ÷ 3 = 20 ÷ 4 = 5 beads per charm. Give quiet thinking time before sharing. If a student is stuck, point back to the relevant worked model without doing the task for them. Give specific feedback, then allow a correction.</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match table entries to ordered pairs; use axis labels and scales; explain points as ratios. Respond with one specific next step tied to the work. Students revise and annotate what changed, then identify a criterion they can now demonstrate and one they still need to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u3_notesSlide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rPr lang="en-US" sz="1100"/>
              <a:t>TEACH IN PRACTICE | Embedded facilitation | Lesson 3.4, slide 40 | REFERENCE</a:t>
            </a:r>
          </a:p>
          <a:p xmlns:a="http://schemas.openxmlformats.org/drawingml/2006/main">
            <a:pPr>
              <a:buNone/>
            </a:pPr>
            <a:r>
              <a:rPr lang="en-US" sz="1100"/>
              <a:t>Focus on the existing task: Teacher Reference — Graphs and Ratios Hidden from the student slideshow; use checks to choose the next step. Session 1: label both axes…</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xmlns:a="http://schemas.openxmlformats.org/drawingml/2006/main">
            <a:r>
              <a:t>Source: Baltimore City Public Schools, Updated Instructional Framework Rubric, June 2020. Teacher enactment determines the quality of instruction; this is a support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r3_slideLayout1.xml.rels><?xml version='1.0' encoding='UTF-8' standalone='yes'?>
<Relationships xmlns="http://schemas.openxmlformats.org/package/2006/relationships"><Relationship Id="R8235af17afe74679" Type="http://schemas.openxmlformats.org/officeDocument/2006/relationships/slideMaster" Target="../slideMasters/r3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u3_slideLayout1.xml.rels><?xml version='1.0' encoding='UTF-8' standalone='yes'?>
<Relationships xmlns="http://schemas.openxmlformats.org/package/2006/relationships"><Relationship Id="R9ec4161d3d694195" Type="http://schemas.openxmlformats.org/officeDocument/2006/relationships/slideMaster" Target="../slideMasters/u3_slideMaster1.xml"/></Relationships>
</file>

<file path=ppt/slideLayouts/r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chemeClr val="dk2"/>
                </a:solidFill>
                <a:latin typeface="Arial"/>
                <a:ea typeface="Arial"/>
                <a:cs typeface="Arial"/>
                <a:sym typeface="Arial"/>
              </a:defRPr>
            </a:lvl1pPr>
            <a:lvl2pPr indent="0" lvl="1" marL="0" marR="0" rtl="0" algn="r">
              <a:spcBef>
                <a:spcPts val="0"/>
              </a:spcBef>
              <a:buNone/>
              <a:defRPr sz="900">
                <a:solidFill>
                  <a:schemeClr val="dk2"/>
                </a:solidFill>
                <a:latin typeface="Arial"/>
                <a:ea typeface="Arial"/>
                <a:cs typeface="Arial"/>
                <a:sym typeface="Arial"/>
              </a:defRPr>
            </a:lvl2pPr>
            <a:lvl3pPr indent="0" lvl="2" marL="0" marR="0" rtl="0" algn="r">
              <a:spcBef>
                <a:spcPts val="0"/>
              </a:spcBef>
              <a:buNone/>
              <a:defRPr sz="900">
                <a:solidFill>
                  <a:schemeClr val="dk2"/>
                </a:solidFill>
                <a:latin typeface="Arial"/>
                <a:ea typeface="Arial"/>
                <a:cs typeface="Arial"/>
                <a:sym typeface="Arial"/>
              </a:defRPr>
            </a:lvl3pPr>
            <a:lvl4pPr indent="0" lvl="3" marL="0" marR="0" rtl="0" algn="r">
              <a:spcBef>
                <a:spcPts val="0"/>
              </a:spcBef>
              <a:buNone/>
              <a:defRPr sz="900">
                <a:solidFill>
                  <a:schemeClr val="dk2"/>
                </a:solidFill>
                <a:latin typeface="Arial"/>
                <a:ea typeface="Arial"/>
                <a:cs typeface="Arial"/>
                <a:sym typeface="Arial"/>
              </a:defRPr>
            </a:lvl4pPr>
            <a:lvl5pPr indent="0" lvl="4" marL="0" marR="0" rtl="0" algn="r">
              <a:spcBef>
                <a:spcPts val="0"/>
              </a:spcBef>
              <a:buNone/>
              <a:defRPr sz="900">
                <a:solidFill>
                  <a:schemeClr val="dk2"/>
                </a:solidFill>
                <a:latin typeface="Arial"/>
                <a:ea typeface="Arial"/>
                <a:cs typeface="Arial"/>
                <a:sym typeface="Arial"/>
              </a:defRPr>
            </a:lvl5pPr>
            <a:lvl6pPr indent="0" lvl="5" marL="0" marR="0" rtl="0" algn="r">
              <a:spcBef>
                <a:spcPts val="0"/>
              </a:spcBef>
              <a:buNone/>
              <a:defRPr sz="900">
                <a:solidFill>
                  <a:schemeClr val="dk2"/>
                </a:solidFill>
                <a:latin typeface="Arial"/>
                <a:ea typeface="Arial"/>
                <a:cs typeface="Arial"/>
                <a:sym typeface="Arial"/>
              </a:defRPr>
            </a:lvl6pPr>
            <a:lvl7pPr indent="0" lvl="6" marL="0" marR="0" rtl="0" algn="r">
              <a:spcBef>
                <a:spcPts val="0"/>
              </a:spcBef>
              <a:buNone/>
              <a:defRPr sz="900">
                <a:solidFill>
                  <a:schemeClr val="dk2"/>
                </a:solidFill>
                <a:latin typeface="Arial"/>
                <a:ea typeface="Arial"/>
                <a:cs typeface="Arial"/>
                <a:sym typeface="Arial"/>
              </a:defRPr>
            </a:lvl7pPr>
            <a:lvl8pPr indent="0" lvl="7" marL="0" marR="0" rtl="0" algn="r">
              <a:spcBef>
                <a:spcPts val="0"/>
              </a:spcBef>
              <a:buNone/>
              <a:defRPr sz="900">
                <a:solidFill>
                  <a:schemeClr val="dk2"/>
                </a:solidFill>
                <a:latin typeface="Arial"/>
                <a:ea typeface="Arial"/>
                <a:cs typeface="Arial"/>
                <a:sym typeface="Arial"/>
              </a:defRPr>
            </a:lvl8pPr>
            <a:lvl9pPr indent="0" lvl="8" marL="0" marR="0" rtl="0" algn="r">
              <a:spcBef>
                <a:spcPts val="0"/>
              </a:spcBef>
              <a:buNone/>
              <a:defRPr sz="9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u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r3_slideMaster1.xml.rels><?xml version='1.0' encoding='UTF-8' standalone='yes'?>
<Relationships xmlns="http://schemas.openxmlformats.org/package/2006/relationships"><Relationship Id="R021d13d15d784a4c" Type="http://schemas.openxmlformats.org/officeDocument/2006/relationships/slideLayout" Target="../slideLayouts/r3_slideLayout1.xml"/><Relationship Id="R0b398bc25a0e44d2" Type="http://schemas.openxmlformats.org/officeDocument/2006/relationships/theme" Target="theme/r3_theme2.xml"/></Relationships>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_rels/u3_slideMaster1.xml.rels><?xml version='1.0' encoding='UTF-8' standalone='yes'?>
<Relationships xmlns="http://schemas.openxmlformats.org/package/2006/relationships"><Relationship Id="R50fdabbc60664287" Type="http://schemas.openxmlformats.org/officeDocument/2006/relationships/theme" Target="theme/u3_theme2.xml"/><Relationship Id="R9e803acb807a4044" Type="http://schemas.openxmlformats.org/officeDocument/2006/relationships/slideLayout" Target="../slideLayouts/u3_slideLayout1.xml"/></Relationships>
</file>

<file path=ppt/slideMasters/r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4" r:id="R021d13d15d784a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900" u="none" cap="none" strike="noStrike">
                <a:solidFill>
                  <a:schemeClr val="dk2"/>
                </a:solidFill>
                <a:latin typeface="Arial"/>
                <a:ea typeface="Arial"/>
                <a:cs typeface="Arial"/>
                <a:sym typeface="Arial"/>
              </a:rPr>
              <a:t>Copyright © McGraw Hill</a:t>
            </a:r>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a:p>
        </p:txBody>
      </p:sp>
    </p:spTree>
  </p:cSld>
  <p:clrMap accent1="accent1" accent2="accent2" accent3="accent3" accent4="accent4" accent5="accent5" accent6="accent6" bg1="lt1" bg2="dk2" tx1="dk1" tx2="lt2" folHlink="folHlink" hlink="hlink"/>
  <p:sldLayoutIdLst>
    <p:sldLayoutId id="2147483655" r:id="rId3"/>
    <p:sldLayoutId id="2147483656"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23" name="Google Shape;23;p4"/>
          <p:cNvSpPr txBox="1"/>
          <p:nvPr/>
        </p:nvSpPr>
        <p:spPr>
          <a:xfrm>
            <a:off x="1335587" y="6548207"/>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Determine Equivalent Ratios Using Graphs</a:t>
            </a:r>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93" name="Google Shape;93;p16"/>
          <p:cNvSpPr txBox="1"/>
          <p:nvPr/>
        </p:nvSpPr>
        <p:spPr>
          <a:xfrm>
            <a:off x="1335588" y="6533319"/>
            <a:ext cx="4694822" cy="3246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chemeClr val="dk2"/>
                </a:solidFill>
                <a:latin typeface="Arial"/>
                <a:ea typeface="Arial"/>
                <a:cs typeface="Arial"/>
                <a:sym typeface="Arial"/>
              </a:rPr>
              <a:t>Determine Equivalent Ratios Using Graphs</a:t>
            </a:r>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0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00">
                <a:solidFill>
                  <a:schemeClr val="dk2"/>
                </a:solidFill>
                <a:latin typeface="Arial"/>
                <a:ea typeface="Arial"/>
                <a:cs typeface="Arial"/>
                <a:sym typeface="Arial"/>
              </a:rPr>
              <a:t xml:space="preserve">McGraw Hill  </a:t>
            </a:r>
            <a:r>
              <a:rPr b="1" lang="en-US" sz="900">
                <a:solidFill>
                  <a:schemeClr val="dk2"/>
                </a:solidFill>
                <a:latin typeface="Arial"/>
                <a:ea typeface="Arial"/>
                <a:cs typeface="Arial"/>
                <a:sym typeface="Arial"/>
              </a:rPr>
              <a:t>|</a:t>
            </a:r>
            <a:endParaRPr sz="900">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theme/r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u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u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0" r:id="R9e803acb807a40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e6d076faeeba43cc" Type="http://schemas.openxmlformats.org/officeDocument/2006/relationships/slideLayout" Target="../slideLayouts/slideLayout9.xml"/><Relationship Id="rIdWarmUpNotes" Type="http://schemas.openxmlformats.org/officeDocument/2006/relationships/notesSlide" Target="../notesSlides/notesSlide68.xml"/></Relationships>
</file>

<file path=ppt/slides/_rels/slide2.xml.rels><?xml version='1.0' encoding='UTF-8' standalone='yes'?>
<Relationships xmlns="http://schemas.openxmlformats.org/package/2006/relationships"><Relationship Id="R3682fea14fb84486" Type="http://schemas.openxmlformats.org/officeDocument/2006/relationships/notesSlide" Target="../notesSlides/u3_notesSlide3.xml"/><Relationship Id="Rb61c7dc8514f4339"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5bb65d21912d47a1" Type="http://schemas.openxmlformats.org/officeDocument/2006/relationships/notesSlide" Target="../notesSlides/u3_notesSlide1.xml"/><Relationship Id="Re6d076faeeba43cc"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7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7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7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notesSlide" Target="../notesSlides/notesSlide8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0a31958e0636410f" Type="http://schemas.openxmlformats.org/officeDocument/2006/relationships/slideLayout" Target="../slideLayouts/slideLayout9.xml"/><Relationship Id="R9c6742291c0c4f48" Type="http://schemas.openxmlformats.org/officeDocument/2006/relationships/notesSlide" Target="../notesSlides/r3_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4045d5a86e234c19" Type="http://schemas.openxmlformats.org/officeDocument/2006/relationships/notesSlide" Target="../notesSlides/r3_notesSlide2.xml"/><Relationship Id="R90cbbe4fd2094df3"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19.xml.rels><?xml version='1.0' encoding='UTF-8' standalone='yes'?>
<Relationships xmlns="http://schemas.openxmlformats.org/package/2006/relationships"><Relationship Id="R4559df0dc0f049a5" Type="http://schemas.openxmlformats.org/officeDocument/2006/relationships/notesSlide" Target="../notesSlides/u3_notesSlide5.xml"/><Relationship Id="Raf246858f1ce4118"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notesSlide" Target="../notesSlides/notesSlide8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notesSlide" Target="../notesSlides/notesSlide84.xml"/></Relationships>
</file>

<file path=ppt/slides/_rels/slide23.xml.rels><?xml version='1.0' encoding='UTF-8' standalone='yes'?>
<Relationships xmlns="http://schemas.openxmlformats.org/package/2006/relationships"><Relationship Id="Re6d076faeeba43cc" Type="http://schemas.openxmlformats.org/officeDocument/2006/relationships/slideLayout" Target="../slideLayouts/slideLayout9.xml"/><Relationship Id="rId1" Type="http://schemas.openxmlformats.org/officeDocument/2006/relationships/notesSlide" Target="../notesSlides/notesSlide69.xml"/></Relationships>
</file>

<file path=ppt/slides/_rels/slide24.xml.rels><?xml version='1.0' encoding='UTF-8' standalone='yes'?>
<Relationships xmlns="http://schemas.openxmlformats.org/package/2006/relationships"><Relationship Id="Rb61c7dc8514f4339" Type="http://schemas.openxmlformats.org/officeDocument/2006/relationships/slideLayout" Target="../slideLayouts/slideLayout9.xml"/><Relationship Id="rId1"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02cdb0e8b6b9497e" Type="http://schemas.openxmlformats.org/officeDocument/2006/relationships/slideLayout" Target="../slideLayouts/slideLayout9.xml"/><Relationship Id="R730a11d24bbb4862" Type="http://schemas.openxmlformats.org/officeDocument/2006/relationships/notesSlide" Target="../notesSlides/u3_notes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8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160823097c76454f" Type="http://schemas.openxmlformats.org/officeDocument/2006/relationships/notesSlide" Target="../notesSlides/r3_notesSlide3.xml"/><Relationship Id="Ra971875e862a4a9d"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6.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d4b9829f6fa34324" Type="http://schemas.openxmlformats.org/officeDocument/2006/relationships/notesSlide" Target="../notesSlides/u3_notesSlide4.xml"/><Relationship Id="Rda00ef822fcf4e2e"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23.png"/><Relationship Id="rId4" Type="http://schemas.openxmlformats.org/officeDocument/2006/relationships/notesSlide" Target="../notesSlides/notesSlide8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8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8b391b842e854535" Type="http://schemas.openxmlformats.org/officeDocument/2006/relationships/slideLayout" Target="../slideLayouts/slideLayout9.xml"/><Relationship Id="Rbfb12d9cca27417c" Type="http://schemas.openxmlformats.org/officeDocument/2006/relationships/notesSlide" Target="../notesSlides/u3_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40.xml.rels><?xml version='1.0' encoding='UTF-8' standalone='yes'?>
<Relationships xmlns="http://schemas.openxmlformats.org/package/2006/relationships"><Relationship Id="R9df9f75fbd724e47" Type="http://schemas.openxmlformats.org/officeDocument/2006/relationships/notesSlide" Target="../notesSlides/u3_notesSlide7.xml"/><Relationship Id="Re1ff630a10b74f95"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700" b="0">
                <a:solidFill>
                  <a:srgbClr val="5D6872"/>
                </a:solidFill>
                <a:latin typeface="Arial"/>
              </a:rPr>
              <a:t>Lesson 3-4 · Equivalent Ratios Using Graphs   |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Start at (0, 0). Move 3 right and 2 up.</a:t>
            </a:r>
          </a:p>
          <a:p>
            <a:pPr algn="l"/>
            <a:r>
              <a:rPr sz="1800" b="1">
                <a:solidFill>
                  <a:srgbClr val="23282D"/>
                </a:solidFill>
                <a:latin typeface="Arial"/>
              </a:rPr>
              <a:t>Write the ordered pair: ( ____ , ____ )</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In the pair (5, 8), which number tells you</a:t>
            </a:r>
          </a:p>
          <a:p>
            <a:pPr algn="l"/>
            <a:r>
              <a:rPr sz="1800" b="1">
                <a:solidFill>
                  <a:srgbClr val="23282D"/>
                </a:solidFill>
                <a:latin typeface="Arial"/>
              </a:rPr>
              <a:t>how far to move RIGHT?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Keep the pattern going:</a:t>
            </a:r>
          </a:p>
          <a:p>
            <a:pPr algn="l"/>
            <a:r>
              <a:rPr sz="1800" b="1">
                <a:solidFill>
                  <a:srgbClr val="23282D"/>
                </a:solidFill>
                <a:latin typeface="Arial"/>
              </a:rPr>
              <a:t>(1, 4),  (2, 8),  (3, ______ )</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4 × 6 =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41</a:t>
            </a:r>
          </a:p>
        </p:txBody>
      </p:sp>
    </p:spTree>
    <p:extLst>
      <p:ext uri="{BB962C8B-B14F-4D97-AF65-F5344CB8AC3E}">
        <p14:creationId xmlns:p14="http://schemas.microsoft.com/office/powerpoint/2010/main" val="1201565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02920" y="365760"/>
            <a:ext cx="8229600" cy="502920"/>
          </a:xfrm>
          <a:prstGeom prst="rect">
            <a:avLst/>
          </a:prstGeom>
          <a:noFill/>
        </p:spPr>
        <p:txBody>
          <a:bodyPr wrap="square" lIns="0" tIns="0" rIns="0" bIns="0" anchor="t">
            <a:spAutoFit/>
          </a:bodyPr>
          <a:lstStyle/>
          <a:p>
            <a:pPr algn="l"/>
            <a:r>
              <a:rPr sz="3000" b="1">
                <a:solidFill>
                  <a:srgbClr val="782DA0"/>
                </a:solidFill>
                <a:latin typeface="Arial"/>
              </a:rPr>
              <a:t>Today’s Math Notes — Session 1</a:t>
            </a:r>
          </a:p>
        </p:txBody>
      </p:sp>
      <p:sp xmlns:a="http://schemas.openxmlformats.org/drawingml/2006/main">
        <p:nvSpPr>
          <p:cNvPr id="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5" name="Rounded Rectangle 6"/>
          <p:cNvSpPr/>
          <p:nvPr/>
        </p:nvSpPr>
        <p:spPr>
          <a:xfrm>
            <a:off x="502920" y="1371600"/>
            <a:ext cx="5486400" cy="4160520"/>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6" name="Rectangle 7"/>
          <p:cNvSpPr/>
          <p:nvPr/>
        </p:nvSpPr>
        <p:spPr>
          <a:xfrm>
            <a:off x="502920" y="1371600"/>
            <a:ext cx="73152" cy="416052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7" name="TextBox 8"/>
          <p:cNvSpPr txBox="1"/>
          <p:nvPr/>
        </p:nvSpPr>
        <p:spPr>
          <a:xfrm>
            <a:off x="667512" y="1508760"/>
            <a:ext cx="5166360" cy="228600"/>
          </a:xfrm>
          <a:prstGeom prst="rect">
            <a:avLst/>
          </a:prstGeom>
          <a:noFill/>
        </p:spPr>
        <p:txBody>
          <a:bodyPr wrap="square" lIns="0" tIns="0" rIns="0" bIns="0" anchor="t">
            <a:spAutoFit/>
          </a:bodyPr>
          <a:lstStyle/>
          <a:p>
            <a:pPr algn="l"/>
            <a:r>
              <a:rPr sz="1400" b="1">
                <a:solidFill>
                  <a:srgbClr val="01708C"/>
                </a:solidFill>
                <a:latin typeface="Arial"/>
              </a:rPr>
              <a:t>ORDERED PAIR = (x, y)</a:t>
            </a:r>
          </a:p>
        </p:txBody>
      </p:sp>
      <p:sp xmlns:a="http://schemas.openxmlformats.org/drawingml/2006/main">
        <p:nvSpPr>
          <p:cNvPr id="8" name="TextBox 9"/>
          <p:cNvSpPr txBox="1"/>
          <p:nvPr/>
        </p:nvSpPr>
        <p:spPr>
          <a:xfrm>
            <a:off x="667512" y="1810512"/>
            <a:ext cx="5166360" cy="3630168"/>
          </a:xfrm>
          <a:prstGeom prst="rect">
            <a:avLst/>
          </a:prstGeom>
          <a:noFill/>
        </p:spPr>
        <p:txBody>
          <a:bodyPr wrap="square" lIns="0" tIns="0" rIns="0" bIns="0" anchor="t">
            <a:spAutoFit/>
          </a:bodyPr>
          <a:lstStyle/>
          <a:p>
            <a:pPr algn="l"/>
            <a:r>
              <a:rPr sz="2300" b="0">
                <a:solidFill>
                  <a:srgbClr val="23282D"/>
                </a:solidFill>
                <a:latin typeface="Arial"/>
              </a:rPr>
              <a:t xml:space="preserve">Read the </a:t>
            </a:r>
            <a:r>
              <a:rPr sz="2300" b="1">
                <a:solidFill>
                  <a:srgbClr val="23282D"/>
                </a:solidFill>
                <a:latin typeface="Arial"/>
              </a:rPr>
              <a:t xml:space="preserve">axis labels</a:t>
            </a:r>
            <a:r>
              <a:rPr sz="2300" b="0">
                <a:solidFill>
                  <a:srgbClr val="23282D"/>
                </a:solidFill>
                <a:latin typeface="Arial"/>
              </a:rPr>
              <a:t xml:space="preserve"> first.</a:t>
            </a:r>
          </a:p>
          <a:p>
            <a:pPr algn="l"/>
            <a:r>
              <a:rPr sz="2300" b="0">
                <a:solidFill>
                  <a:srgbClr val="23282D"/>
                </a:solidFill>
                <a:latin typeface="Arial"/>
              </a:rPr>
              <a:t>x tells how far across.</a:t>
            </a:r>
          </a:p>
          <a:p>
            <a:pPr algn="l"/>
            <a:r>
              <a:rPr sz="2300" b="0">
                <a:solidFill>
                  <a:srgbClr val="23282D"/>
                </a:solidFill>
                <a:latin typeface="Arial"/>
              </a:rPr>
              <a:t>y tells how far up.</a:t>
            </a:r>
          </a:p>
          <a:p>
            <a:pPr algn="l"/>
            <a:r>
              <a:rPr sz="2300" b="0">
                <a:solidFill>
                  <a:srgbClr val="23282D"/>
                </a:solidFill>
                <a:latin typeface="Arial"/>
              </a:rPr>
              <a:t/>
            </a:r>
          </a:p>
          <a:p>
            <a:pPr algn="l"/>
            <a:r>
              <a:rPr sz="2300" b="0">
                <a:solidFill>
                  <a:srgbClr val="23282D"/>
                </a:solidFill>
                <a:latin typeface="Arial"/>
              </a:rPr>
              <a:t>(2, 12) means 2 bags hold 12 balls.</a:t>
            </a:r>
          </a:p>
        </p:txBody>
      </p:sp>
      <p:sp xmlns:a="http://schemas.openxmlformats.org/drawingml/2006/main">
        <p:nvSpPr>
          <p:cNvPr id="9" name="Rounded Rectangle 10"/>
          <p:cNvSpPr/>
          <p:nvPr/>
        </p:nvSpPr>
        <p:spPr>
          <a:xfrm>
            <a:off x="6245352" y="1371600"/>
            <a:ext cx="5394960" cy="4160520"/>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1"/>
          <p:cNvSpPr/>
          <p:nvPr/>
        </p:nvSpPr>
        <p:spPr>
          <a:xfrm>
            <a:off x="6245352" y="1371600"/>
            <a:ext cx="73152" cy="4160520"/>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2"/>
          <p:cNvSpPr txBox="1"/>
          <p:nvPr/>
        </p:nvSpPr>
        <p:spPr>
          <a:xfrm>
            <a:off x="6409944" y="1508760"/>
            <a:ext cx="5074920" cy="228600"/>
          </a:xfrm>
          <a:prstGeom prst="rect">
            <a:avLst/>
          </a:prstGeom>
          <a:noFill/>
        </p:spPr>
        <p:txBody>
          <a:bodyPr wrap="square" lIns="0" tIns="0" rIns="0" bIns="0" anchor="t">
            <a:spAutoFit/>
          </a:bodyPr>
          <a:lstStyle/>
          <a:p>
            <a:pPr algn="l"/>
            <a:r>
              <a:rPr sz="1400" b="1">
                <a:solidFill>
                  <a:srgbClr val="C8430E"/>
                </a:solidFill>
                <a:latin typeface="Arial"/>
              </a:rPr>
              <a:t>CHECK THE SCALE</a:t>
            </a:r>
          </a:p>
        </p:txBody>
      </p:sp>
      <p:sp xmlns:a="http://schemas.openxmlformats.org/drawingml/2006/main">
        <p:nvSpPr>
          <p:cNvPr id="12" name="TextBox 13"/>
          <p:cNvSpPr txBox="1"/>
          <p:nvPr/>
        </p:nvSpPr>
        <p:spPr>
          <a:xfrm>
            <a:off x="6409944" y="1810512"/>
            <a:ext cx="5074920" cy="3630168"/>
          </a:xfrm>
          <a:prstGeom prst="rect">
            <a:avLst/>
          </a:prstGeom>
          <a:noFill/>
        </p:spPr>
        <p:txBody>
          <a:bodyPr wrap="square" lIns="0" tIns="0" rIns="0" bIns="0" anchor="t">
            <a:spAutoFit/>
          </a:bodyPr>
          <a:lstStyle/>
          <a:p>
            <a:pPr algn="l"/>
            <a:r>
              <a:rPr sz="2300" b="0">
                <a:solidFill>
                  <a:srgbClr val="23282D"/>
                </a:solidFill>
                <a:latin typeface="Arial"/>
              </a:rPr>
              <a:t>Each bag holds 6 balls.</a:t>
            </a:r>
          </a:p>
          <a:p>
            <a:pPr algn="l"/>
            <a:r>
              <a:rPr sz="2300" b="0">
                <a:solidFill>
                  <a:srgbClr val="23282D"/>
                </a:solidFill>
                <a:latin typeface="Arial"/>
              </a:rPr>
              <a:t>Move 1 bag right → 6 balls up.</a:t>
            </a:r>
          </a:p>
          <a:p>
            <a:pPr algn="l"/>
            <a:r>
              <a:rPr sz="2300" b="0">
                <a:solidFill>
                  <a:srgbClr val="23282D"/>
                </a:solidFill>
                <a:latin typeface="Arial"/>
              </a:rPr>
              <a:t/>
            </a:r>
          </a:p>
          <a:p>
            <a:pPr algn="l"/>
            <a:r>
              <a:rPr sz="2300" b="0">
                <a:solidFill>
                  <a:srgbClr val="23282D"/>
                </a:solidFill>
                <a:latin typeface="Arial"/>
              </a:rPr>
              <a:t>Explain: “The point (__, __) means __ bags hold __ balls.”</a:t>
            </a:r>
          </a:p>
        </p:txBody>
      </p:sp>
      <p:sp xmlns:a="http://schemas.openxmlformats.org/drawingml/2006/main">
        <p:nvSpPr>
          <p:cNvPr id="13" name="Rounded Rectangle 17"/>
          <p:cNvSpPr/>
          <p:nvPr/>
        </p:nvSpPr>
        <p:spPr>
          <a:xfrm>
            <a:off x="594360" y="5669280"/>
            <a:ext cx="10972800" cy="5029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4" name="Rectangle 18"/>
          <p:cNvSpPr/>
          <p:nvPr/>
        </p:nvSpPr>
        <p:spPr>
          <a:xfrm>
            <a:off x="594360" y="5669280"/>
            <a:ext cx="73152" cy="5029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TextBox 19"/>
          <p:cNvSpPr txBox="1"/>
          <p:nvPr/>
        </p:nvSpPr>
        <p:spPr>
          <a:xfrm>
            <a:off x="758952" y="5806440"/>
            <a:ext cx="10652760" cy="228600"/>
          </a:xfrm>
          <a:prstGeom prst="rect">
            <a:avLst/>
          </a:prstGeom>
          <a:noFill/>
        </p:spPr>
        <p:txBody>
          <a:bodyPr wrap="square" lIns="0" tIns="0" rIns="0" bIns="0" anchor="t">
            <a:spAutoFit/>
          </a:bodyPr>
          <a:lstStyle/>
          <a:p>
            <a:pPr algn="l"/>
            <a:r>
              <a:rPr sz="1400" b="1">
                <a:solidFill>
                  <a:srgbClr val="782DA0"/>
                </a:solidFill>
                <a:latin typeface="Arial"/>
              </a:rPr>
              <a:t/>
            </a:r>
          </a:p>
        </p:txBody>
      </p:sp>
      <p:sp xmlns:a="http://schemas.openxmlformats.org/drawingml/2006/main">
        <p:nvSpPr>
          <p:cNvPr id="16" name="TextBox 20"/>
          <p:cNvSpPr txBox="1"/>
          <p:nvPr/>
        </p:nvSpPr>
        <p:spPr>
          <a:xfrm>
            <a:off x="758952" y="5742432"/>
            <a:ext cx="10515600" cy="274320"/>
          </a:xfrm>
          <a:prstGeom prst="rect">
            <a:avLst/>
          </a:prstGeom>
          <a:noFill/>
        </p:spPr>
        <p:txBody>
          <a:bodyPr wrap="square" lIns="0" tIns="0" rIns="0" bIns="0" anchor="t">
            <a:spAutoFit/>
          </a:bodyPr>
          <a:lstStyle/>
          <a:p>
            <a:pPr algn="l"/>
            <a:r>
              <a:rPr sz="1700" b="0">
                <a:solidFill>
                  <a:srgbClr val="23282D"/>
                </a:solidFill>
                <a:latin typeface="Arial"/>
              </a:rPr>
              <a:t>Read x first, then y. Name BOTH quantities.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 / 41</ns3:t>
            </ns3:r>
          </ns3:p>
        </p:txBody>
      </p:sp>
    </p:spTree>
    <p:extLst>
      <p:ext uri="{BB962C8B-B14F-4D97-AF65-F5344CB8AC3E}">
        <p14:creationId xmlns:p14="http://schemas.microsoft.com/office/powerpoint/2010/main" val="1000139686"/>
      </p:ext>
    </p:extLst>
  </p:cSld>
</p:sld>
</file>

<file path=ppt/slides/slide3.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700" b="0">
                <a:solidFill>
                  <a:srgbClr val="5D6872"/>
                </a:solidFill>
                <a:latin typeface="Arial"/>
              </a:rPr>
              <a:t>Lesson 3-4 · Equivalent Ratios Using Graphs | Maryland Standard 6.AT.3a</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PLOT • READ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Today I will connect a ratio table, an ordered pair, and a point on a graph.</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2200" b="1">
                <a:solidFill>
                  <a:srgbClr val="23282D"/>
                </a:solidFill>
                <a:latin typeface="Arial"/>
              </a:rPr>
              <a:t>I can turn a ratio table into ordered pairs and plot them.</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2200" b="1">
                <a:solidFill>
                  <a:srgbClr val="23282D"/>
                </a:solidFill>
                <a:latin typeface="Arial"/>
              </a:rPr>
              <a:t>I can explain a point using the names of the quantities on each axis.</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2000" b="0">
                <a:solidFill>
                  <a:srgbClr val="23282D"/>
                </a:solidFill>
                <a:latin typeface="Arial"/>
              </a:rPr>
              <a:t>✓ Name the quantities on both axes.</a:t>
            </a:r>
          </a:p>
          <a:p>
            <a:pPr algn="l"/>
            <a:r>
              <a:rPr sz="2000" b="0">
                <a:solidFill>
                  <a:srgbClr val="23282D"/>
                </a:solidFill>
                <a:latin typeface="Arial"/>
              </a:rPr>
              <a:t>✓ Write each pair in (x, y) order.</a:t>
            </a:r>
          </a:p>
          <a:p>
            <a:pPr algn="l"/>
            <a:r>
              <a:rPr sz="2000" b="0">
                <a:solidFill>
                  <a:srgbClr val="23282D"/>
                </a:solidFill>
                <a:latin typeface="Arial"/>
              </a:rPr>
              <a:t>✓ Use the axis scales to plot the points.</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2100" b="0">
                <a:latin typeface="Arial"/>
              </a:rPr>
              <a:t>A graph helps us see a ratio pattern and predict other amounts.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41</a:t>
            </a:r>
          </a:p>
        </p:txBody>
      </p:sp>
    </p:spTree>
    <p:extLst>
      <p:ext uri="{BB962C8B-B14F-4D97-AF65-F5344CB8AC3E}">
        <p14:creationId xmlns:p14="http://schemas.microsoft.com/office/powerpoint/2010/main" val="120156525"/>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7</a:t>
            </a:r>
            <a:endParaRPr/>
          </a:p>
        </p:txBody>
      </p:sp>
      <p:sp>
        <p:nvSpPr>
          <p:cNvPr id="397" name="Google Shape;39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398" name="Google Shape;39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0" name="Google Shape;400;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Graph Ratio Tables</a:t>
            </a:r>
            <a:endParaRPr/>
          </a:p>
        </p:txBody>
      </p:sp>
      <p:sp>
        <p:nvSpPr>
          <p:cNvPr id="401" name="Google Shape;401;p46"/>
          <p:cNvSpPr/>
          <p:nvPr/>
        </p:nvSpPr>
        <p:spPr>
          <a:xfrm>
            <a:off x="658368" y="2934843"/>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Plot the paired values from a ratio table as ordered pairs.</a:t>
            </a:r>
            <a:endParaRPr/>
          </a:p>
        </p:txBody>
      </p:sp>
      <p:sp>
        <p:nvSpPr>
          <p:cNvPr id="403" name="Google Shape;403;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6" name="Google Shape;406;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The ratio pairs 2:3 and 4:6 become points (2,3) and (4,6).</a:t>
            </a:r>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“Graph Ratio Tables”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1" name="Google Shape;411;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4" name="Google Shape;414;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415" name="Google Shape;415;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7" name="Google Shape;417;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Coordinate plane</a:t>
            </a:r>
            <a:endParaRPr/>
          </a:p>
        </p:txBody>
      </p:sp>
      <p:sp>
        <p:nvSpPr>
          <p:cNvPr id="418" name="Google Shape;418;p47"/>
          <p:cNvSpPr/>
          <p:nvPr/>
        </p:nvSpPr>
        <p:spPr>
          <a:xfrm>
            <a:off x="658368" y="263880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grid with a line going across and a line going up to plot points.</a:t>
            </a:r>
            <a:endParaRPr/>
          </a:p>
        </p:txBody>
      </p:sp>
      <p:sp>
        <p:nvSpPr>
          <p:cNvPr id="420" name="Google Shape;420;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3" name="Google Shape;423;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 shape made by two number lines crossing at the center point (0, 0)</a:t>
            </a:r>
            <a:endParaRPr/>
          </a:p>
        </p:txBody>
      </p:sp>
      <p:pic>
        <p:nvPicPr>
          <p:cNvPr descr="coordinate-plane.png" id="424" name="Google Shape;424;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“Coordinate plane”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9" name="Google Shape;429;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2" name="Google Shape;432;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433" name="Google Shape;433;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5" name="Google Shape;435;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Ordered pair</a:t>
            </a:r>
            <a:endParaRPr/>
          </a:p>
        </p:txBody>
      </p:sp>
      <p:sp>
        <p:nvSpPr>
          <p:cNvPr id="436" name="Google Shape;436;p48"/>
          <p:cNvSpPr/>
          <p:nvPr/>
        </p:nvSpPr>
        <p:spPr>
          <a:xfrm>
            <a:off x="658368" y="273786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numbers (x, y) that tell where a point is on a grid.</a:t>
            </a:r>
            <a:endParaRPr/>
          </a:p>
        </p:txBody>
      </p:sp>
      <p:sp>
        <p:nvSpPr>
          <p:cNvPr id="438" name="Google Shape;438;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1" name="Google Shape;441;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6) means go right 3, up 6</a:t>
            </a:r>
            <a:endParaRPr/>
          </a:p>
        </p:txBody>
      </p:sp>
      <p:pic>
        <p:nvPicPr>
          <p:cNvPr descr="ordered-pair.png" id="442" name="Google Shape;442;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“Ordered pair”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7" name="Google Shape;447;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0" name="Google Shape;450;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451" name="Google Shape;451;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3" name="Google Shape;453;p49"/>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Linear pattern</a:t>
            </a:r>
            <a:endParaRPr/>
          </a:p>
        </p:txBody>
      </p:sp>
      <p:sp>
        <p:nvSpPr>
          <p:cNvPr id="454" name="Google Shape;454;p49"/>
          <p:cNvSpPr/>
          <p:nvPr/>
        </p:nvSpPr>
        <p:spPr>
          <a:xfrm>
            <a:off x="658368" y="2913888"/>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Points that make a straight line on a grid.</a:t>
            </a:r>
            <a:endParaRPr/>
          </a:p>
        </p:txBody>
      </p:sp>
      <p:sp>
        <p:nvSpPr>
          <p:cNvPr id="456" name="Google Shape;456;p49"/>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9" name="Google Shape;459;p49"/>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(2,4), (3,6) all line up</a:t>
            </a:r>
            <a:endParaRPr/>
          </a:p>
        </p:txBody>
      </p:sp>
      <p:pic>
        <p:nvPicPr>
          <p:cNvPr descr="pattern.png" id="460" name="Google Shape;460;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7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“Linear pattern”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5" name="Google Shape;465;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68" name="Google Shape;468;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469" name="Google Shape;469;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1" name="Google Shape;471;p50"/>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Proportional</a:t>
            </a:r>
            <a:endParaRPr/>
          </a:p>
        </p:txBody>
      </p:sp>
      <p:sp>
        <p:nvSpPr>
          <p:cNvPr id="472" name="Google Shape;472;p50"/>
          <p:cNvSpPr/>
          <p:nvPr/>
        </p:nvSpPr>
        <p:spPr>
          <a:xfrm>
            <a:off x="658368" y="273786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amounts that grow together at the same rate.</a:t>
            </a:r>
            <a:endParaRPr/>
          </a:p>
        </p:txBody>
      </p:sp>
      <p:sp>
        <p:nvSpPr>
          <p:cNvPr id="474" name="Google Shape;474;p50"/>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7" name="Google Shape;477;p50"/>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straight line from (0,0) through (2,6) and (4,12)</a:t>
            </a:r>
            <a:endParaRPr/>
          </a:p>
        </p:txBody>
      </p:sp>
      <p:pic>
        <p:nvPicPr>
          <p:cNvPr descr="proportion.png" id="478" name="Google Shape;478;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“Proportional”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3" name="Google Shape;483;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6" name="Google Shape;486;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487" name="Google Shape;487;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9" name="Google Shape;489;p51"/>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Origin</a:t>
            </a:r>
            <a:endParaRPr/>
          </a:p>
        </p:txBody>
      </p:sp>
      <p:sp>
        <p:nvSpPr>
          <p:cNvPr id="490" name="Google Shape;490;p51"/>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point (0, 0) where the two grid lines cross.</a:t>
            </a:r>
            <a:endParaRPr/>
          </a:p>
        </p:txBody>
      </p:sp>
      <p:sp>
        <p:nvSpPr>
          <p:cNvPr id="492" name="Google Shape;492;p51"/>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5" name="Google Shape;495;p51"/>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starting corner of the grid at (0, 0)</a:t>
            </a:r>
            <a:endParaRPr/>
          </a:p>
        </p:txBody>
      </p:sp>
      <p:pic>
        <p:nvPicPr>
          <p:cNvPr descr="origin.png" id="496" name="Google Shape;496;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“Origin”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1" name="Google Shape;501;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4" name="Google Shape;504;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3-4 · Determine Equivalent Ratios Using Graphs</a:t>
            </a:r>
            <a:endParaRPr/>
          </a:p>
        </p:txBody>
      </p:sp>
      <p:sp>
        <p:nvSpPr>
          <p:cNvPr id="505" name="Google Shape;505;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7" name="Google Shape;507;p52"/>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 table</a:t>
            </a:r>
            <a:endParaRPr/>
          </a:p>
        </p:txBody>
      </p:sp>
      <p:sp>
        <p:nvSpPr>
          <p:cNvPr id="508" name="Google Shape;508;p52"/>
          <p:cNvSpPr/>
          <p:nvPr/>
        </p:nvSpPr>
        <p:spPr>
          <a:xfrm>
            <a:off x="658368" y="291388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table of equal ratios that shows a pattern.</a:t>
            </a:r>
            <a:endParaRPr/>
          </a:p>
        </p:txBody>
      </p:sp>
      <p:sp>
        <p:nvSpPr>
          <p:cNvPr id="510" name="Google Shape;510;p52"/>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3" name="Google Shape;513;p52"/>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Cups of juice: 2, 4, 6 | Cups of water: 3, 6, 9</a:t>
            </a:r>
            <a:endParaRPr/>
          </a:p>
        </p:txBody>
      </p:sp>
      <p:pic>
        <p:nvPicPr>
          <p:cNvPr descr="ratio-table.png" id="514" name="Google Shape;514;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table”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81" name="Google Shape;581;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2" name="Google Shape;582;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83" name="Google Shape;583;p56"/>
          <p:cNvSpPr txBox="1"/>
          <p:nvPr/>
        </p:nvSpPr>
        <p:spPr>
          <a:xfrm>
            <a:off x="484560" y="936100"/>
            <a:ext cx="770576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D:\Sujatha\Job\Epres_New\PPT\G6U3\sn_47fe6-360mp4\OPS\img\.assets\25d4d6a1d11545318dd0f806a10d359b\narm24_c10304_se_005a-dig.png" id="584" name="Google Shape;584;p56"/>
          <p:cNvPicPr preferRelativeResize="0"/>
          <p:nvPr/>
        </p:nvPicPr>
        <p:blipFill rotWithShape="1">
          <a:blip r:embed="rId2">
            <a:alphaModFix/>
          </a:blip>
          <a:srcRect b="0" l="0" r="0" t="0"/>
          <a:stretch/>
        </p:blipFill>
        <p:spPr>
          <a:xfrm>
            <a:off x="4386197" y="1119188"/>
            <a:ext cx="3562887" cy="3600000"/>
          </a:xfrm>
          <a:prstGeom prst="rect">
            <a:avLst/>
          </a:prstGeom>
          <a:noFill/>
          <a:ln>
            <a:noFill/>
          </a:ln>
        </p:spPr>
      </p:pic>
      <p:pic>
        <p:nvPicPr>
          <p:cNvPr id="585" name="Google Shape;585;p56"/>
          <p:cNvPicPr preferRelativeResize="0"/>
          <p:nvPr/>
        </p:nvPicPr>
        <p:blipFill rotWithShape="1">
          <a:blip r:embed="rId3">
            <a:alphaModFix/>
          </a:blip>
          <a:srcRect b="0" l="0" r="0" t="0"/>
          <a:stretch/>
        </p:blipFill>
        <p:spPr>
          <a:xfrm>
            <a:off x="484560" y="5083700"/>
            <a:ext cx="5054600" cy="838200"/>
          </a:xfrm>
          <a:prstGeom prst="rect">
            <a:avLst/>
          </a:prstGeom>
          <a:noFill/>
          <a:ln>
            <a:noFill/>
          </a:ln>
        </p:spPr>
      </p:pic>
      <p:sp>
        <p:nvSpPr>
          <p:cNvPr id="586" name="Google Shape;586;p56"/>
          <p:cNvSpPr txBox="1"/>
          <p:nvPr/>
        </p:nvSpPr>
        <p:spPr>
          <a:xfrm>
            <a:off x="334457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87" name="Google Shape;587;p56"/>
          <p:cNvSpPr/>
          <p:nvPr/>
        </p:nvSpPr>
        <p:spPr>
          <a:xfrm>
            <a:off x="697756" y="58990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working as a team help you achieve your math goals?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41" name="Google Shape;241;p41"/>
          <p:cNvSpPr txBox="1"/>
          <p:nvPr/>
        </p:nvSpPr>
        <p:spPr>
          <a:xfrm>
            <a:off x="505578" y="316034"/>
            <a:ext cx="45014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latin typeface="Arial"/>
                <a:ea typeface="Arial"/>
                <a:cs typeface="Arial"/>
                <a:sym typeface="Arial"/>
                <a:solidFill>
                  <a:srgbClr val="782DA0"/>
                </a:solidFill>
              </a:rPr>
              <a:t>More or Less Than 25</a:t>
            </a:r>
            <a:endParaRPr/>
          </a:p>
        </p:txBody>
      </p:sp>
      <p:sp>
        <p:nvSpPr>
          <p:cNvPr id="242" name="Google Shape;242;p41"/>
          <p:cNvSpPr txBox="1"/>
          <p:nvPr/>
        </p:nvSpPr>
        <p:spPr>
          <a:xfrm>
            <a:off x="956343" y="2775548"/>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 xml:space="preserve">1,128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41</a:t>
            </a:r>
            <a:endParaRPr/>
          </a:p>
        </p:txBody>
      </p:sp>
      <p:sp>
        <p:nvSpPr>
          <p:cNvPr id="243" name="Google Shape;243;p41"/>
          <p:cNvSpPr txBox="1"/>
          <p:nvPr/>
        </p:nvSpPr>
        <p:spPr>
          <a:xfrm>
            <a:off x="4188274" y="2775546"/>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 xml:space="preserve">1,850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29</a:t>
            </a:r>
            <a:endParaRPr/>
          </a:p>
        </p:txBody>
      </p:sp>
      <p:sp>
        <p:nvSpPr>
          <p:cNvPr id="244" name="Google Shape;244;p41"/>
          <p:cNvSpPr txBox="1"/>
          <p:nvPr/>
        </p:nvSpPr>
        <p:spPr>
          <a:xfrm>
            <a:off x="7420206" y="2775547"/>
            <a:ext cx="23753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23282D"/>
                </a:solidFill>
                <a:latin typeface="Cambria Math"/>
                <a:ea typeface="Cambria Math"/>
                <a:cs typeface="Cambria Math"/>
                <a:sym typeface="Cambria Math"/>
              </a:rPr>
              <a:t xml:space="preserve">624 </a:t>
            </a:r>
            <a:r>
              <a:rPr lang="en-US" sz="2800">
                <a:solidFill>
                  <a:schemeClr val="dk1"/>
                </a:solidFill>
                <a:latin typeface="Cambria Math"/>
                <a:ea typeface="Cambria Math"/>
                <a:cs typeface="Cambria Math"/>
                <a:sym typeface="Cambria Math"/>
              </a:rPr>
              <a:t>÷</a:t>
            </a:r>
            <a:r>
              <a:rPr lang="en-US" sz="2800">
                <a:solidFill>
                  <a:srgbClr val="23282D"/>
                </a:solidFill>
                <a:latin typeface="Cambria Math"/>
                <a:ea typeface="Cambria Math"/>
                <a:cs typeface="Cambria Math"/>
                <a:sym typeface="Cambria Math"/>
              </a:rPr>
              <a:t xml:space="preserve"> 12</a:t>
            </a:r>
            <a:endParaRPr/>
          </a:p>
        </p:txBody>
      </p:sp>
      <p:sp>
        <p:nvSpPr>
          <p:cNvPr id="24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ESTIMATE • DEFEND • COMPARE</a:t>
            </a:r>
          </a:p>
        </p:txBody>
      </p:sp>
      <p:sp>
        <p:nvSpPr>
          <p:cNvPr id="247" name="TextBox 16"/>
          <p:cNvSpPr txBox="1"/>
          <p:nvPr/>
        </p:nvSpPr>
        <p:spPr>
          <a:xfrm>
            <a:off x="521207" y="1170432"/>
            <a:ext cx="6492240" cy="411480"/>
          </a:xfrm>
          <a:prstGeom prst="rect">
            <a:avLst/>
          </a:prstGeom>
          <a:noFill/>
        </p:spPr>
        <p:txBody>
          <a:bodyPr wrap="square" lIns="0" tIns="0" rIns="0" bIns="0" anchor="t">
            <a:spAutoFit/>
          </a:bodyPr>
          <a:lstStyle/>
          <a:p>
            <a:pPr algn="l"/>
            <a:r>
              <a:rPr sz="2000" b="0">
                <a:solidFill>
                  <a:srgbClr val="5D6872"/>
                </a:solidFill>
                <a:latin typeface="Arial"/>
              </a:rPr>
              <a:t>Estimate first. Choose one expression and defend whether the value is above or below 25.</a:t>
            </a:r>
          </a:p>
        </p:txBody>
      </p:sp>
      <p:sp>
        <p:nvSpPr>
          <p:cNvPr id="248" name="Rounded Rectangle 17"/>
          <p:cNvSpPr/>
          <p:nvPr/>
        </p:nvSpPr>
        <p:spPr>
          <a:xfrm>
            <a:off x="603504" y="4800600"/>
            <a:ext cx="6812280" cy="85039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18"/>
          <p:cNvSpPr/>
          <p:nvPr/>
        </p:nvSpPr>
        <p:spPr>
          <a:xfrm>
            <a:off x="603504" y="4800600"/>
            <a:ext cx="73152" cy="85039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19"/>
          <p:cNvSpPr txBox="1"/>
          <p:nvPr/>
        </p:nvSpPr>
        <p:spPr>
          <a:xfrm>
            <a:off x="768096" y="4937760"/>
            <a:ext cx="6492240" cy="228600"/>
          </a:xfrm>
          <a:prstGeom prst="rect">
            <a:avLst/>
          </a:prstGeom>
          <a:noFill/>
        </p:spPr>
        <p:txBody>
          <a:bodyPr wrap="square" lIns="0" tIns="0" rIns="0" bIns="0" anchor="t">
            <a:spAutoFit/>
          </a:bodyPr>
          <a:lstStyle/>
          <a:p>
            <a:pPr algn="l"/>
            <a:r>
              <a:rPr sz="1400" b="1">
                <a:solidFill>
                  <a:srgbClr val="782DA0"/>
                </a:solidFill>
                <a:latin typeface="Arial"/>
              </a:rPr>
              <a:t>EXPLAIN YOUR THINKING</a:t>
            </a:r>
          </a:p>
        </p:txBody>
      </p:sp>
      <p:sp>
        <p:nvSpPr>
          <p:cNvPr id="251" name="TextBox 20"/>
          <p:cNvSpPr txBox="1"/>
          <p:nvPr/>
        </p:nvSpPr>
        <p:spPr>
          <a:xfrm>
            <a:off x="768096" y="5239512"/>
            <a:ext cx="6492240" cy="320040"/>
          </a:xfrm>
          <a:prstGeom prst="rect">
            <a:avLst/>
          </a:prstGeom>
          <a:noFill/>
        </p:spPr>
        <p:txBody>
          <a:bodyPr wrap="square" lIns="0" tIns="0" rIns="0" bIns="0" anchor="t">
            <a:spAutoFit/>
          </a:bodyPr>
          <a:lstStyle/>
          <a:p>
            <a:pPr algn="l"/>
            <a:r>
              <a:rPr sz="1800" b="0">
                <a:solidFill>
                  <a:srgbClr val="23282D"/>
                </a:solidFill>
                <a:latin typeface="Arial"/>
              </a:rPr>
              <a:t>“My estimate is above/below 25 because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45"/>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278" name="Google Shape;278;p4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latin typeface="Arial"/>
                <a:ea typeface="Arial"/>
                <a:cs typeface="Arial"/>
                <a:sym typeface="Arial"/>
                <a:solidFill>
                  <a:srgbClr val="782DA0"/>
                </a:solidFill>
              </a:rPr>
              <a:t>Soccer Balls</a:t>
            </a:r>
            <a:endParaRPr/>
          </a:p>
        </p:txBody>
      </p:sp>
      <p:sp>
        <p:nvSpPr>
          <p:cNvPr id="279" name="Google Shape;279;p45"/>
          <p:cNvSpPr txBox="1"/>
          <p:nvPr/>
        </p:nvSpPr>
        <p:spPr>
          <a:xfrm>
            <a:off x="484565" y="936100"/>
            <a:ext cx="6366435" cy="4351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The organizers of a soccer league ordered 6 of the bags shown to hold soccer balls. Each bag holds the same number of soccer balls.</a:t>
            </a:r>
            <a:endParaRPr/>
          </a:p>
          <a:p>
            <a:pPr indent="0" lvl="0" marL="0" marR="0" rtl="0" algn="l">
              <a:lnSpc>
                <a:spcPct val="100000"/>
              </a:lnSpc>
              <a:spcBef>
                <a:spcPts val="1800"/>
              </a:spcBef>
              <a:spcAft>
                <a:spcPts val="0"/>
              </a:spcAft>
              <a:buClr>
                <a:srgbClr val="262626"/>
              </a:buClr>
              <a:buSzPts val="2800"/>
              <a:buFont typeface="Arial"/>
              <a:buNone/>
            </a:pPr>
            <a:r>
              <a:rPr b="1" lang="en-US" sz="2800">
                <a:solidFill>
                  <a:srgbClr val="23282D"/>
                </a:solidFill>
                <a:latin typeface="Arial"/>
                <a:ea typeface="Arial"/>
                <a:cs typeface="Arial"/>
                <a:sym typeface="Arial"/>
              </a:rPr>
              <a:t>How many soccer balls will the bags hold?</a:t>
            </a:r>
            <a:endParaRPr/>
          </a:p>
        </p:txBody>
      </p:sp>
      <p:pic>
        <p:nvPicPr>
          <p:cNvPr descr="D:\Sujatha\Job\Epres_New\PPT\G6U3\sn_47fe6-360mp4\OPS\img\.assets\5b48c55c21464083b27c24dd4f80bccc\narm24_c10304_se_012a-dig.png" id="280" name="Google Shape;280;p45"/>
          <p:cNvPicPr preferRelativeResize="0"/>
          <p:nvPr/>
        </p:nvPicPr>
        <p:blipFill rotWithShape="1">
          <a:blip r:embed="rId3">
            <a:alphaModFix/>
          </a:blip>
          <a:srcRect b="0" l="0" r="0" t="0"/>
          <a:stretch/>
        </p:blipFill>
        <p:spPr>
          <a:xfrm>
            <a:off x="7572429" y="1738291"/>
            <a:ext cx="4000500" cy="2619375"/>
          </a:xfrm>
          <a:prstGeom prst="rect">
            <a:avLst/>
          </a:prstGeom>
          <a:noFill/>
          <a:ln>
            <a:noFill/>
          </a:ln>
        </p:spPr>
      </p:pic>
      <p:sp>
        <p:nvSpPr>
          <p:cNvPr id="28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283" name="Rounded Rectangle 17"/>
          <p:cNvSpPr/>
          <p:nvPr/>
        </p:nvSpPr>
        <p:spPr>
          <a:xfrm>
            <a:off x="594360" y="5394960"/>
            <a:ext cx="6583680" cy="7315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Rectangle 18"/>
          <p:cNvSpPr/>
          <p:nvPr/>
        </p:nvSpPr>
        <p:spPr>
          <a:xfrm>
            <a:off x="594360" y="5394960"/>
            <a:ext cx="73152" cy="7315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TextBox 19"/>
          <p:cNvSpPr txBox="1"/>
          <p:nvPr/>
        </p:nvSpPr>
        <p:spPr>
          <a:xfrm>
            <a:off x="758952" y="5532120"/>
            <a:ext cx="6263640" cy="228600"/>
          </a:xfrm>
          <a:prstGeom prst="rect">
            <a:avLst/>
          </a:prstGeom>
          <a:noFill/>
        </p:spPr>
        <p:txBody>
          <a:bodyPr wrap="square" lIns="0" tIns="0" rIns="0" bIns="0" anchor="t">
            <a:spAutoFit/>
          </a:bodyPr>
          <a:lstStyle/>
          <a:p>
            <a:pPr algn="l"/>
            <a:r>
              <a:rPr sz="1400" b="1">
                <a:solidFill>
                  <a:srgbClr val="782DA0"/>
                </a:solidFill>
                <a:latin typeface="Arial"/>
              </a:rPr>
              <a:t>PLAN WITH A PARTNER</a:t>
            </a:r>
          </a:p>
        </p:txBody>
      </p:sp>
      <p:sp>
        <p:nvSpPr>
          <p:cNvPr id="286" name="TextBox 20"/>
          <p:cNvSpPr txBox="1"/>
          <p:nvPr/>
        </p:nvSpPr>
        <p:spPr>
          <a:xfrm>
            <a:off x="758952" y="5833872"/>
            <a:ext cx="6263640" cy="201168"/>
          </a:xfrm>
          <a:prstGeom prst="rect">
            <a:avLst/>
          </a:prstGeom>
          <a:noFill/>
        </p:spPr>
        <p:txBody>
          <a:bodyPr wrap="square" lIns="0" tIns="0" rIns="0" bIns="0" anchor="t">
            <a:spAutoFit/>
          </a:bodyPr>
          <a:lstStyle/>
          <a:p>
            <a:pPr algn="l"/>
            <a:r>
              <a:rPr sz="1700" b="0">
                <a:solidFill>
                  <a:srgbClr val="23282D"/>
                </a:solidFill>
                <a:latin typeface="Arial"/>
              </a:rPr>
              <a:t>“One bag holds __ balls. Six bags will hold __ because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a:t>
            </a:r>
            <a:endParaRPr lang="en-US" sz="2000"/>
          </a:p>
          <a:p>
            <a:pPr>
              <a:lnSpc>
                <a:spcPts val="2400"/>
              </a:lnSpc>
              <a:buNone/>
            </a:pPr>
            <a:r>
              <a:rPr lang="en-US" sz="2000">
                <a:solidFill>
                  <a:srgbClr val="174D60"/>
                </a:solidFill>
                <a:latin typeface="Arial"/>
              </a:rPr>
              <a:t>model to a step in your</a:t>
            </a:r>
            <a:endParaRPr lang="en-US" sz="2000"/>
          </a:p>
          <a:p>
            <a:pPr>
              <a:lnSpc>
                <a:spcPts val="2400"/>
              </a:lnSpc>
              <a:buNone/>
            </a:pPr>
            <a:r>
              <a:rPr lang="en-US" sz="2000">
                <a:solidFill>
                  <a:srgbClr val="174D60"/>
                </a:solidFill>
                <a:latin typeface="Arial"/>
              </a:rPr>
              <a:t>reasoning.</a:t>
            </a:r>
            <a:endParaRPr lang="en-US" sz="2000"/>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7DA728-F0CE-4E6E-928A-C450D38F4A0E}"/>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 xml:space="preserve">From a ratio table to </a:t>
            </a:r>
            <a:r>
              <a:rPr sz="2775" b="1">
                <a:highlight>
                  <a:srgbClr val="FFF2A8"/>
                </a:highlight>
                <a:latin typeface="Arial"/>
                <a:ea typeface="Arial"/>
                <a:cs typeface="Arial"/>
                <a:solidFill>
                  <a:srgbClr val="782DA0"/>
                </a:solidFill>
              </a:rPr>
              <a:t>ordered pairs</a:t>
            </a:r>
          </a:p>
        </p:txBody>
      </p:sp>
      <p:sp>
        <p:nvSpPr>
          <p:cNvPr id="2" name="">
            <a:extLst xmlns:a="http://schemas.openxmlformats.org/drawingml/2006/main">
              <a:ext uri="{FF2B5EF4-FFF2-40B4-BE49-F238E27FC236}">
                <a16:creationId xmlns:a16="http://schemas.microsoft.com/office/drawing/2014/main" id="{CEA8723C-9E48-48D7-9C4F-B3644A88F527}"/>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An </a:t>
            </a:r>
            <a:r>
              <a:rPr sz="2250" b="1">
                <a:solidFill>
                  <a:srgbClr val="23282D"/>
                </a:solidFill>
                <a:highlight>
                  <a:srgbClr val="FFF2A8"/>
                </a:highlight>
                <a:latin typeface="Arial"/>
                <a:ea typeface="Arial"/>
                <a:cs typeface="Arial"/>
              </a:rPr>
              <a:t>ordered pair</a:t>
            </a:r>
            <a:r>
              <a:rPr sz="2250" b="0">
                <a:solidFill>
                  <a:srgbClr val="23282D"/>
                </a:solidFill>
                <a:latin typeface="Arial"/>
                <a:ea typeface="Arial"/>
                <a:cs typeface="Arial"/>
              </a:rPr>
              <a:t xml:space="preserve"> (x, y) locates a point on a </a:t>
            </a:r>
            <a:r>
              <a:rPr sz="2250" b="1">
                <a:solidFill>
                  <a:srgbClr val="23282D"/>
                </a:solidFill>
                <a:highlight>
                  <a:srgbClr val="FFF2A8"/>
                </a:highlight>
                <a:latin typeface="Arial"/>
                <a:ea typeface="Arial"/>
                <a:cs typeface="Arial"/>
              </a:rPr>
              <a:t>coordinate plane</a:t>
            </a:r>
            <a:r>
              <a:rPr sz="2250" b="0">
                <a:solidFill>
                  <a:srgbClr val="2328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266C0DF5-3CB4-4325-A26C-2F6A949B8C63}"/>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Here, x represents bags and y represents soccer balls.</a:t>
            </a:r>
          </a:p>
        </p:txBody>
      </p:sp>
      <p:sp>
        <p:nvSpPr>
          <p:cNvPr id="4" name="">
            <a:extLst xmlns:a="http://schemas.openxmlformats.org/drawingml/2006/main">
              <a:ext uri="{FF2B5EF4-FFF2-40B4-BE49-F238E27FC236}">
                <a16:creationId xmlns:a16="http://schemas.microsoft.com/office/drawing/2014/main" id="{7B010A06-BB76-4643-A75D-135E8FFF56B9}"/>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Read across each table row: 2 bags and 12 balls become (2, 12).</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1803400"/>
                <a:gridCol w="1803400"/>
                <a:gridCol w="1803400"/>
              </a:tblGrid>
              <a:tr h="628650">
                <a:tc>
                  <a:txBody>
                    <a:bodyPr/>
                    <a:lstStyle/>
                    <a:p>
                      <a:r>
                        <a:rPr sz="1650" b="1">
                          <a:solidFill>
                            <a:srgbClr val="FFFFFF"/>
                          </a:solidFill>
                          <a:latin typeface="Arial"/>
                          <a:ea typeface="Arial"/>
                          <a:cs typeface="Arial"/>
                        </a:rPr>
                        <a:t>Bags (x)</a:t>
                      </a:r>
                    </a:p>
                  </a:txBody>
                  <a:tcPr marL="91440" marR="91440" marT="45720" marB="45720">
                    <a:solidFill>
                      <a:srgbClr val="0070C0"/>
                    </a:solidFill>
                  </a:tcPr>
                </a:tc>
                <a:tc>
                  <a:txBody>
                    <a:bodyPr/>
                    <a:lstStyle/>
                    <a:p>
                      <a:r>
                        <a:rPr sz="1650" b="1">
                          <a:solidFill>
                            <a:srgbClr val="FFFFFF"/>
                          </a:solidFill>
                          <a:latin typeface="Arial"/>
                          <a:ea typeface="Arial"/>
                          <a:cs typeface="Arial"/>
                        </a:rPr>
                        <a:t>Balls (y)</a:t>
                      </a:r>
                    </a:p>
                  </a:txBody>
                  <a:tcPr marL="91440" marR="91440" marT="45720" marB="45720">
                    <a:solidFill>
                      <a:srgbClr val="0070C0"/>
                    </a:solidFill>
                  </a:tcPr>
                </a:tc>
                <a:tc>
                  <a:txBody>
                    <a:bodyPr/>
                    <a:lstStyle/>
                    <a:p>
                      <a:r>
                        <a:rPr sz="1650" b="1">
                          <a:solidFill>
                            <a:srgbClr val="FFFFFF"/>
                          </a:solidFill>
                          <a:latin typeface="Arial"/>
                          <a:ea typeface="Arial"/>
                          <a:cs typeface="Arial"/>
                        </a:rPr>
                        <a:t>Ordered pair</a:t>
                      </a:r>
                    </a:p>
                  </a:txBody>
                  <a:tcPr marL="91440" marR="91440" marT="45720" marB="45720">
                    <a:solidFill>
                      <a:srgbClr val="0070C0"/>
                    </a:solidFill>
                  </a:tcPr>
                </a:tc>
              </a:tr>
              <a:tr h="628650">
                <a:tc>
                  <a:txBody>
                    <a:bodyPr/>
                    <a:lstStyle/>
                    <a:p>
                      <a:r>
                        <a:rPr sz="1650" b="0">
                          <a:solidFill>
                            <a:srgbClr val="23282D"/>
                          </a:solidFill>
                          <a:latin typeface="Arial"/>
                          <a:ea typeface="Arial"/>
                          <a:cs typeface="Arial"/>
                        </a:rPr>
                        <a:t>1</a:t>
                      </a:r>
                    </a:p>
                  </a:txBody>
                  <a:tcPr marL="91440" marR="91440" marT="45720" marB="45720">
                    <a:solidFill>
                      <a:srgbClr val="FFFFFF"/>
                    </a:solidFill>
                  </a:tcPr>
                </a:tc>
                <a:tc>
                  <a:txBody>
                    <a:bodyPr/>
                    <a:lstStyle/>
                    <a:p>
                      <a:r>
                        <a:rPr sz="1650" b="0">
                          <a:solidFill>
                            <a:srgbClr val="23282D"/>
                          </a:solidFill>
                          <a:latin typeface="Arial"/>
                          <a:ea typeface="Arial"/>
                          <a:cs typeface="Arial"/>
                        </a:rPr>
                        <a:t>6</a:t>
                      </a:r>
                    </a:p>
                  </a:txBody>
                  <a:tcPr marL="91440" marR="91440" marT="45720" marB="45720">
                    <a:solidFill>
                      <a:srgbClr val="FFFFFF"/>
                    </a:solidFill>
                  </a:tcPr>
                </a:tc>
                <a:tc>
                  <a:txBody>
                    <a:bodyPr/>
                    <a:lstStyle/>
                    <a:p>
                      <a:r>
                        <a:rPr sz="1650" b="0">
                          <a:solidFill>
                            <a:srgbClr val="23282D"/>
                          </a:solidFill>
                          <a:latin typeface="Arial"/>
                          <a:ea typeface="Arial"/>
                          <a:cs typeface="Arial"/>
                        </a:rPr>
                        <a:t>(1, 6)</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2</a:t>
                      </a:r>
                    </a:p>
                  </a:txBody>
                  <a:tcPr marL="91440" marR="91440" marT="45720" marB="45720">
                    <a:solidFill>
                      <a:srgbClr val="FFFFFF"/>
                    </a:solidFill>
                  </a:tcPr>
                </a:tc>
                <a:tc>
                  <a:txBody>
                    <a:bodyPr/>
                    <a:lstStyle/>
                    <a:p>
                      <a:r>
                        <a:rPr sz="1650" b="0">
                          <a:solidFill>
                            <a:srgbClr val="23282D"/>
                          </a:solidFill>
                          <a:latin typeface="Arial"/>
                          <a:ea typeface="Arial"/>
                          <a:cs typeface="Arial"/>
                        </a:rPr>
                        <a:t>12</a:t>
                      </a:r>
                    </a:p>
                  </a:txBody>
                  <a:tcPr marL="91440" marR="91440" marT="45720" marB="45720">
                    <a:solidFill>
                      <a:srgbClr val="FFFFFF"/>
                    </a:solidFill>
                  </a:tcPr>
                </a:tc>
                <a:tc>
                  <a:txBody>
                    <a:bodyPr/>
                    <a:lstStyle/>
                    <a:p>
                      <a:r>
                        <a:rPr sz="1650" b="0">
                          <a:solidFill>
                            <a:srgbClr val="23282D"/>
                          </a:solidFill>
                          <a:latin typeface="Arial"/>
                          <a:ea typeface="Arial"/>
                          <a:cs typeface="Arial"/>
                        </a:rPr>
                        <a:t>(2, 12)</a:t>
                      </a:r>
                    </a:p>
                  </a:txBody>
                  <a:tcPr marL="91440" marR="91440" marT="45720" marB="45720">
                    <a:solidFill>
                      <a:srgbClr val="FFFFFF"/>
                    </a:solidFill>
                  </a:tcPr>
                </a:tc>
              </a:tr>
              <a:tr h="628650">
                <a:tc>
                  <a:txBody>
                    <a:bodyPr/>
                    <a:lstStyle/>
                    <a:p>
                      <a:r>
                        <a:rPr sz="1650" b="0">
                          <a:solidFill>
                            <a:srgbClr val="23282D"/>
                          </a:solidFill>
                          <a:latin typeface="Arial"/>
                          <a:ea typeface="Arial"/>
                          <a:cs typeface="Arial"/>
                        </a:rPr>
                        <a:t>6</a:t>
                      </a:r>
                    </a:p>
                  </a:txBody>
                  <a:tcPr marL="91440" marR="91440" marT="45720" marB="45720">
                    <a:solidFill>
                      <a:srgbClr val="FFFFFF"/>
                    </a:solidFill>
                  </a:tcPr>
                </a:tc>
                <a:tc>
                  <a:txBody>
                    <a:bodyPr/>
                    <a:lstStyle/>
                    <a:p>
                      <a:r>
                        <a:rPr sz="1650" b="0">
                          <a:solidFill>
                            <a:srgbClr val="23282D"/>
                          </a:solidFill>
                          <a:latin typeface="Arial"/>
                          <a:ea typeface="Arial"/>
                          <a:cs typeface="Arial"/>
                        </a:rPr>
                        <a:t>36</a:t>
                      </a:r>
                    </a:p>
                  </a:txBody>
                  <a:tcPr marL="91440" marR="91440" marT="45720" marB="45720">
                    <a:solidFill>
                      <a:srgbClr val="FFFFFF"/>
                    </a:solidFill>
                  </a:tcPr>
                </a:tc>
                <a:tc>
                  <a:txBody>
                    <a:bodyPr/>
                    <a:lstStyle/>
                    <a:p>
                      <a:r>
                        <a:rPr sz="1650" b="0">
                          <a:solidFill>
                            <a:srgbClr val="23282D"/>
                          </a:solidFill>
                          <a:latin typeface="Arial"/>
                          <a:ea typeface="Arial"/>
                          <a:cs typeface="Arial"/>
                        </a:rPr>
                        <a:t>(6, 36)</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14"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713232" y="5577840"/>
            <a:ext cx="10607040" cy="201168"/>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17" name="TextBox 20"/>
          <p:cNvSpPr txBox="1"/>
          <p:nvPr/>
        </p:nvSpPr>
        <p:spPr>
          <a:xfrm>
            <a:off x="713232" y="5815584"/>
            <a:ext cx="10607040" cy="256032"/>
          </a:xfrm>
          <a:prstGeom prst="rect">
            <a:avLst/>
          </a:prstGeom>
          <a:noFill/>
        </p:spPr>
        <p:txBody>
          <a:bodyPr wrap="square" lIns="0" tIns="0" rIns="0" bIns="0" anchor="t">
            <a:spAutoFit/>
          </a:bodyPr>
          <a:lstStyle/>
          <a:p>
            <a:pPr algn="l"/>
            <a:r>
              <a:rPr sz="1700" b="0">
                <a:solidFill>
                  <a:srgbClr val="23282D"/>
                </a:solidFill>
                <a:latin typeface="Arial"/>
              </a:rPr>
              <a:t>“The pair (__, __) means __ bags and __ balls. I plot __ across, then __ up.”</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14 / 41</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table keeps the same</a:t>
            </a:r>
            <a:endParaRPr lang="en-US" sz="2000"/>
          </a:p>
          <a:p>
            <a:pPr>
              <a:lnSpc>
                <a:spcPts val="2400"/>
              </a:lnSpc>
              <a:buNone/>
            </a:pPr>
            <a:r>
              <a:rPr lang="en-US" sz="2000">
                <a:solidFill>
                  <a:srgbClr val="174D60"/>
                </a:solidFill>
                <a:latin typeface="Arial"/>
              </a:rPr>
              <a:t>relationship between the two quantities.</a:t>
            </a:r>
            <a:endParaRPr lang="en-US" sz="2000"/>
          </a:p>
        </p:txBody>
      </p:sp>
    </p:spTree>
    <p:extLst>
      <p:ext uri="{BB962C8B-B14F-4D97-AF65-F5344CB8AC3E}">
        <p14:creationId xmlns:p14="http://schemas.microsoft.com/office/powerpoint/2010/main" val="473089210"/>
      </p:ext>
    </p:extLst>
  </p:cSld>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cxnSp>
        <p:nvCxnSpPr>
          <p:cNvPr id="458" name="Google Shape;458;p67"/>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459" name="Google Shape;459;p67"/>
          <p:cNvSpPr txBox="1"/>
          <p:nvPr/>
        </p:nvSpPr>
        <p:spPr>
          <a:xfrm>
            <a:off x="484565" y="936100"/>
            <a:ext cx="7434762" cy="8668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lang="en-US" sz="2800">
                <a:solidFill>
                  <a:srgbClr val="23282D"/>
                </a:solidFill>
                <a:latin typeface="Arial"/>
                <a:ea typeface="Arial"/>
                <a:cs typeface="Arial"/>
                <a:sym typeface="Arial"/>
              </a:rPr>
              <a:t xml:space="preserve">How can you plot the </a:t>
            </a:r>
            <a:r>
              <a:rPr b="1" lang="en-US" sz="2800">
                <a:solidFill>
                  <a:srgbClr val="23282D"/>
                </a:solidFill>
                <a:highlight>
                  <a:srgbClr val="FFF2A8"/>
                </a:highlight>
                <a:latin typeface="Arial"/>
                <a:ea typeface="Arial"/>
                <a:cs typeface="Arial"/>
                <a:sym typeface="Arial"/>
              </a:rPr>
              <a:t>ordered pairs</a:t>
            </a:r>
            <a:r>
              <a:rPr b="1" lang="en-US" sz="2800">
                <a:solidFill>
                  <a:srgbClr val="23282D"/>
                </a:solidFill>
                <a:latin typeface="Arial"/>
                <a:ea typeface="Arial"/>
                <a:cs typeface="Arial"/>
                <a:sym typeface="Arial"/>
              </a:rPr>
              <a:t xml:space="preserve"> on the </a:t>
            </a:r>
            <a:r>
              <a:rPr b="1" lang="en-US" sz="2800">
                <a:solidFill>
                  <a:srgbClr val="23282D"/>
                </a:solidFill>
                <a:highlight>
                  <a:srgbClr val="FFF2A8"/>
                </a:highlight>
                <a:latin typeface="Arial"/>
                <a:ea typeface="Arial"/>
                <a:cs typeface="Arial"/>
                <a:sym typeface="Arial"/>
              </a:rPr>
              <a:t>coordinate plane</a:t>
            </a:r>
            <a:r>
              <a:rPr b="1" lang="en-US" sz="2800">
                <a:solidFill>
                  <a:srgbClr val="23282D"/>
                </a:solidFill>
                <a:latin typeface="Arial"/>
                <a:ea typeface="Arial"/>
                <a:cs typeface="Arial"/>
                <a:sym typeface="Arial"/>
              </a:rPr>
              <a:t>?</a:t>
            </a:r>
            <a:endParaRPr/>
          </a:p>
        </p:txBody>
      </p:sp>
      <p:graphicFrame>
        <p:nvGraphicFramePr>
          <p:cNvPr id="460" name="Google Shape;460;p67"/>
          <p:cNvGraphicFramePr/>
          <p:nvPr/>
        </p:nvGraphicFramePr>
        <p:xfrm>
          <a:off x="9107424" y="1691640"/>
          <a:ext cx="2514600" cy="3886200"/>
        </p:xfrm>
        <a:graphic>
          <a:graphicData uri="http://schemas.openxmlformats.org/drawingml/2006/table">
            <a:tbl>
              <a:tblPr bandRow="1" firstRow="1">
                <a:noFill/>
                <a:tableStyleId>{822446DA-2791-4D1F-A74B-2A2D7EC16FFA}</a:tableStyleId>
              </a:tblPr>
              <a:tblGrid>
                <a:gridCol w="2425700"/>
              </a:tblGrid>
              <a:tr h="883925">
                <a:tc>
                  <a:txBody>
                    <a:bodyPr/>
                    <a:lstStyle/>
                    <a:p>
                      <a:pPr algn="ctr"/>
                      <a:r>
                        <a:rPr sz="2000" b="1">
                          <a:solidFill>
                            <a:srgbClr val="FFFFFF"/>
                          </a:solidFill>
                          <a:latin typeface="Arial"/>
                        </a:rPr>
                        <a:t>Ordered pair</a:t>
                      </a: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B8"/>
                    </a:solidFill>
                  </a:tcPr>
                </a:tc>
              </a:tr>
              <a:tr h="487675">
                <a:tc>
                  <a:txBody>
                    <a:bodyPr/>
                    <a:lstStyle/>
                    <a:p>
                      <a:pPr indent="0" lvl="0" marL="0" marR="0" rtl="0" algn="ctr">
                        <a:spcBef>
                          <a:spcPts val="0"/>
                        </a:spcBef>
                        <a:spcAft>
                          <a:spcPts val="0"/>
                        </a:spcAft>
                        <a:buNone/>
                      </a:pPr>
                      <a:r>
                        <a:rPr lang="en-US" sz="2600">
                          <a:solidFill>
                            <a:schemeClr val="dk1"/>
                          </a:solidFill>
                          <a:latin typeface="Cambria Math"/>
                          <a:ea typeface="Cambria Math"/>
                          <a:cs typeface="Cambria Math"/>
                          <a:sym typeface="Cambria Math"/>
                        </a:rPr>
                        <a:t>(1, 6)</a:t>
                      </a:r>
                      <a:endParaRPr sz="2600">
                        <a:solidFill>
                          <a:schemeClr val="dk1"/>
                        </a:solidFill>
                        <a:latin typeface="Cambria Math"/>
                        <a:ea typeface="Cambria Math"/>
                        <a:cs typeface="Cambria Math"/>
                        <a:sym typeface="Cambria Math"/>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87675">
                <a:tc>
                  <a:txBody>
                    <a:bodyPr/>
                    <a:lstStyle/>
                    <a:p>
                      <a:pPr indent="0" lvl="0" marL="0" marR="0" rtl="0" algn="ctr">
                        <a:spcBef>
                          <a:spcPts val="0"/>
                        </a:spcBef>
                        <a:spcAft>
                          <a:spcPts val="0"/>
                        </a:spcAft>
                        <a:buNone/>
                      </a:pPr>
                      <a:r>
                        <a:rPr lang="en-US" sz="2600">
                          <a:latin typeface="Cambria Math"/>
                          <a:ea typeface="Cambria Math"/>
                          <a:cs typeface="Cambria Math"/>
                          <a:sym typeface="Cambria Math"/>
                        </a:rPr>
                        <a:t>(2, 12)</a:t>
                      </a:r>
                      <a:endParaRPr sz="2600">
                        <a:latin typeface="Cambria Math"/>
                        <a:ea typeface="Cambria Math"/>
                        <a:cs typeface="Cambria Math"/>
                        <a:sym typeface="Cambria Math"/>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87675">
                <a:tc>
                  <a:txBody>
                    <a:bodyPr/>
                    <a:lstStyle/>
                    <a:p>
                      <a:pPr indent="0" lvl="0" marL="0" marR="0" rtl="0" algn="ctr">
                        <a:spcBef>
                          <a:spcPts val="0"/>
                        </a:spcBef>
                        <a:spcAft>
                          <a:spcPts val="0"/>
                        </a:spcAft>
                        <a:buNone/>
                      </a:pPr>
                      <a:r>
                        <a:rPr lang="en-US" sz="2600">
                          <a:latin typeface="Cambria Math"/>
                          <a:ea typeface="Cambria Math"/>
                          <a:cs typeface="Cambria Math"/>
                          <a:sym typeface="Cambria Math"/>
                        </a:rPr>
                        <a:t>(3, 18)</a:t>
                      </a:r>
                      <a:endParaRPr sz="2600">
                        <a:latin typeface="Cambria Math"/>
                        <a:ea typeface="Cambria Math"/>
                        <a:cs typeface="Cambria Math"/>
                        <a:sym typeface="Cambria Math"/>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87675">
                <a:tc>
                  <a:txBody>
                    <a:bodyPr/>
                    <a:lstStyle/>
                    <a:p>
                      <a:pPr indent="0" lvl="0" marL="0" marR="0" rtl="0" algn="ctr">
                        <a:spcBef>
                          <a:spcPts val="0"/>
                        </a:spcBef>
                        <a:spcAft>
                          <a:spcPts val="0"/>
                        </a:spcAft>
                        <a:buNone/>
                      </a:pPr>
                      <a:r>
                        <a:rPr lang="en-US" sz="2600">
                          <a:latin typeface="Cambria Math"/>
                          <a:ea typeface="Cambria Math"/>
                          <a:cs typeface="Cambria Math"/>
                          <a:sym typeface="Cambria Math"/>
                        </a:rPr>
                        <a:t>(4, 24)</a:t>
                      </a:r>
                      <a:endParaRPr sz="2600">
                        <a:latin typeface="Cambria Math"/>
                        <a:ea typeface="Cambria Math"/>
                        <a:cs typeface="Cambria Math"/>
                        <a:sym typeface="Cambria Math"/>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87675">
                <a:tc>
                  <a:txBody>
                    <a:bodyPr/>
                    <a:lstStyle/>
                    <a:p>
                      <a:pPr indent="0" lvl="0" marL="0" marR="0" rtl="0" algn="ctr">
                        <a:spcBef>
                          <a:spcPts val="0"/>
                        </a:spcBef>
                        <a:spcAft>
                          <a:spcPts val="0"/>
                        </a:spcAft>
                        <a:buNone/>
                      </a:pPr>
                      <a:r>
                        <a:rPr lang="en-US" sz="2600">
                          <a:latin typeface="Cambria Math"/>
                          <a:ea typeface="Cambria Math"/>
                          <a:cs typeface="Cambria Math"/>
                          <a:sym typeface="Cambria Math"/>
                        </a:rPr>
                        <a:t>(5, 30)</a:t>
                      </a:r>
                      <a:endParaRPr sz="2600">
                        <a:latin typeface="Cambria Math"/>
                        <a:ea typeface="Cambria Math"/>
                        <a:cs typeface="Cambria Math"/>
                        <a:sym typeface="Cambria Math"/>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87675">
                <a:tc>
                  <a:txBody>
                    <a:bodyPr/>
                    <a:lstStyle/>
                    <a:p>
                      <a:pPr indent="0" lvl="0" marL="0" marR="0" rtl="0" algn="ctr">
                        <a:spcBef>
                          <a:spcPts val="0"/>
                        </a:spcBef>
                        <a:spcAft>
                          <a:spcPts val="0"/>
                        </a:spcAft>
                        <a:buNone/>
                      </a:pPr>
                      <a:r>
                        <a:rPr lang="en-US" sz="2600">
                          <a:latin typeface="Cambria Math"/>
                          <a:ea typeface="Cambria Math"/>
                          <a:cs typeface="Cambria Math"/>
                          <a:sym typeface="Cambria Math"/>
                        </a:rPr>
                        <a:t>(6, 36)</a:t>
                      </a:r>
                      <a:endParaRPr sz="2600">
                        <a:latin typeface="Cambria Math"/>
                        <a:ea typeface="Cambria Math"/>
                        <a:cs typeface="Cambria Math"/>
                        <a:sym typeface="Cambria Math"/>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461" name="Google Shape;461;p67"/>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lang="en-US" sz="2800">
                <a:latin typeface="Arial"/>
                <a:ea typeface="Arial"/>
                <a:cs typeface="Arial"/>
                <a:sym typeface="Arial"/>
                <a:solidFill>
                  <a:srgbClr val="782DA0"/>
                </a:solidFill>
              </a:rPr>
              <a:t xml:space="preserve">    </a:t>
            </a:r>
            <a:r>
              <a:rPr b="1" lang="en-US" sz="2800">
                <a:latin typeface="Arial"/>
                <a:ea typeface="Arial"/>
                <a:cs typeface="Arial"/>
                <a:sym typeface="Arial"/>
                <a:solidFill>
                  <a:srgbClr val="782DA0"/>
                </a:solidFill>
              </a:rPr>
              <a:t>Collaborate and Connect</a:t>
            </a:r>
            <a:endParaRPr/>
          </a:p>
        </p:txBody>
      </p:sp>
      <p:pic>
        <p:nvPicPr>
          <p:cNvPr id="462" name="Google Shape;462;p67"/>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pic>
        <p:nvPicPr>
          <p:cNvPr id="464" name="Google Shape;464;p67"/>
          <p:cNvPicPr preferRelativeResize="0"/>
          <p:nvPr/>
        </p:nvPicPr>
        <p:blipFill rotWithShape="1">
          <a:blip r:embed="rId4">
            <a:alphaModFix/>
          </a:blip>
          <a:srcRect b="0" l="0" r="0" t="0"/>
          <a:stretch/>
        </p:blipFill>
        <p:spPr>
          <a:xfrm>
            <a:off x="6053328" y="1335024"/>
            <a:ext cx="2962656" cy="3730752"/>
          </a:xfrm>
          <a:prstGeom prst="rect">
            <a:avLst/>
          </a:prstGeom>
          <a:noFill/>
          <a:ln>
            <a:noFill/>
          </a:ln>
        </p:spPr>
      </p:pic>
      <p:sp>
        <p:nvSpPr>
          <p:cNvPr id="465" name="Google Shape;465;p67"/>
          <p:cNvSpPr txBox="1"/>
          <p:nvPr/>
        </p:nvSpPr>
        <p:spPr>
          <a:xfrm>
            <a:off x="558276" y="4075917"/>
            <a:ext cx="8487985" cy="23439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lang="en-US" sz="2800">
                <a:solidFill>
                  <a:srgbClr val="0070C0"/>
                </a:solidFill>
                <a:highlight>
                  <a:srgbClr val="E0E0E0"/>
                </a:highlight>
                <a:latin typeface="Arial"/>
                <a:ea typeface="Arial"/>
                <a:cs typeface="Arial"/>
                <a:sym typeface="Arial"/>
              </a:rPr>
              <a:t xml:space="preserve"> Check</a:t>
            </a:r>
            <a:r>
              <a:rPr b="1" lang="en-US" sz="2800">
                <a:solidFill>
                  <a:srgbClr val="E0E0E0"/>
                </a:solidFill>
                <a:highlight>
                  <a:srgbClr val="E0E0E0"/>
                </a:highlight>
                <a:latin typeface="Arial"/>
                <a:ea typeface="Arial"/>
                <a:cs typeface="Arial"/>
                <a:sym typeface="Arial"/>
              </a:rPr>
              <a:t>:</a:t>
            </a:r>
            <a:r>
              <a:rPr b="1" lang="en-US" sz="2800">
                <a:solidFill>
                  <a:srgbClr val="0070C0"/>
                </a:solidFill>
                <a:latin typeface="Arial"/>
                <a:ea typeface="Arial"/>
                <a:cs typeface="Arial"/>
                <a:sym typeface="Arial"/>
              </a:rPr>
              <a:t xml:space="preserve"> </a:t>
            </a:r>
            <a:endParaRPr/>
          </a:p>
          <a:p>
            <a:pPr indent="0" lvl="0" marL="0" marR="0" rtl="0" algn="l">
              <a:lnSpc>
                <a:spcPct val="100000"/>
              </a:lnSpc>
              <a:spcBef>
                <a:spcPts val="1200"/>
              </a:spcBef>
              <a:spcAft>
                <a:spcPts val="0"/>
              </a:spcAft>
              <a:buClr>
                <a:srgbClr val="595959"/>
              </a:buClr>
              <a:buSzPts val="2800"/>
              <a:buFont typeface="Arial"/>
              <a:buNone/>
            </a:pPr>
            <a:r>
              <a:rPr lang="en-US" sz="2800">
                <a:solidFill>
                  <a:srgbClr val="595959"/>
                </a:solidFill>
                <a:latin typeface="Arial"/>
                <a:ea typeface="Arial"/>
                <a:cs typeface="Arial"/>
                <a:sym typeface="Arial"/>
              </a:rPr>
              <a:t>Plot each point: move across to x, then up to y.</a:t>
            </a:r>
            <a:r>
              <a:rPr i="1" lang="en-US" sz="2800">
                <a:solidFill>
                  <a:srgbClr val="595959"/>
                </a:solidFill>
                <a:latin typeface="Arial"/>
                <a:ea typeface="Arial"/>
                <a:cs typeface="Arial"/>
                <a:sym typeface="Arial"/>
              </a:rPr>
              <a:t/>
            </a:r>
            <a:r>
              <a:rPr lang="en-US" sz="2800">
                <a:solidFill>
                  <a:srgbClr val="595959"/>
                </a:solidFill>
                <a:latin typeface="Arial"/>
                <a:ea typeface="Arial"/>
                <a:cs typeface="Arial"/>
                <a:sym typeface="Arial"/>
              </a:rPr>
              <a:t/>
            </a:r>
            <a:r>
              <a:rPr i="1" lang="en-US" sz="2800">
                <a:solidFill>
                  <a:srgbClr val="595959"/>
                </a:solidFill>
                <a:latin typeface="Arial"/>
                <a:ea typeface="Arial"/>
                <a:cs typeface="Arial"/>
                <a:sym typeface="Arial"/>
              </a:rPr>
              <a:t/>
            </a:r>
            <a:r>
              <a:rPr lang="en-US" sz="2800">
                <a:solidFill>
                  <a:srgbClr val="595959"/>
                </a:solidFill>
                <a:latin typeface="Arial"/>
                <a:ea typeface="Arial"/>
                <a:cs typeface="Arial"/>
                <a:sym typeface="Arial"/>
              </a:rPr>
              <a:t/>
            </a:r>
            <a:r>
              <a:rPr i="1" lang="en-US" sz="2800">
                <a:solidFill>
                  <a:srgbClr val="595959"/>
                </a:solidFill>
                <a:latin typeface="Arial"/>
                <a:ea typeface="Arial"/>
                <a:cs typeface="Arial"/>
                <a:sym typeface="Arial"/>
              </a:rPr>
              <a:t/>
            </a:r>
            <a:r>
              <a:rPr lang="en-US" sz="2800">
                <a:solidFill>
                  <a:srgbClr val="595959"/>
                </a:solidFill>
                <a:latin typeface="Arial"/>
                <a:ea typeface="Arial"/>
                <a:cs typeface="Arial"/>
                <a:sym typeface="Arial"/>
              </a:rPr>
              <a:t/>
            </a:r>
            <a:r>
              <a:rPr i="1" lang="en-US" sz="2800">
                <a:solidFill>
                  <a:srgbClr val="595959"/>
                </a:solidFill>
                <a:latin typeface="Arial"/>
                <a:ea typeface="Arial"/>
                <a:cs typeface="Arial"/>
                <a:sym typeface="Arial"/>
              </a:rPr>
              <a:t/>
            </a:r>
            <a:r>
              <a:rPr lang="en-US" sz="2800">
                <a:solidFill>
                  <a:srgbClr val="595959"/>
                </a:solidFill>
                <a:latin typeface="Arial"/>
                <a:ea typeface="Arial"/>
                <a:cs typeface="Arial"/>
                <a:sym typeface="Arial"/>
              </a:rPr>
              <a:t/>
            </a:r>
            <a:endParaRPr/>
          </a:p>
        </p:txBody>
      </p:sp>
      <p:sp>
        <p:nvSpPr>
          <p:cNvPr id="466"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41</a:t>
            </a:r>
          </a:p>
        </p:txBody>
      </p:sp>
      <p:sp>
        <p:nvSpPr>
          <p:cNvPr id="9003" name="EWL-COVER-1"/>
          <p:cNvSpPr/>
          <p:nvPr/>
        </p:nvSpPr>
        <p:spPr>
          <a:xfrm>
            <a:off x="503412" y="4021053"/>
            <a:ext cx="5627342" cy="2425467"/>
          </a:xfrm>
          <a:prstGeom prst="rect">
            <a:avLst/>
          </a:prstGeom>
          <a:solidFill>
            <a:srgbClr val="FFFFFF"/>
          </a:solidFill>
          <a:ln>
            <a:noFill/>
          </a:ln>
        </p:spPr>
        <p:txBody>
          <a:bodyPr/>
          <a:lstStyle/>
          <a:p/>
        </p:txBody>
      </p:sp>
      <p:sp>
        <p:nvSpPr>
          <p:cNvPr id="9004" name="EWL-COVER-2"/>
          <p:cNvSpPr/>
          <p:nvPr/>
        </p:nvSpPr>
        <p:spPr>
          <a:xfrm>
            <a:off x="6108192" y="4636008"/>
            <a:ext cx="2935350" cy="1810512"/>
          </a:xfrm>
          <a:prstGeom prst="rect">
            <a:avLst/>
          </a:prstGeom>
          <a:solidFill>
            <a:srgbClr val="FFFFFF"/>
          </a:solidFill>
          <a:ln>
            <a:noFill/>
          </a:ln>
        </p:spPr>
        <p:txBody>
          <a:bodyPr/>
          <a:lstStyle/>
          <a:p/>
        </p:txBody>
      </p:sp>
      <p:sp xmlns:p="http://schemas.openxmlformats.org/presentationml/2006/main" xmlns:a="http://schemas.openxmlformats.org/drawingml/2006/main">
        <p:nvSpPr>
          <p:cNvPr id="9005" name="TEACH-embedded-student-prompt" descr="Student thinking and response directions"/>
          <p:cNvSpPr txBox="1"/>
          <p:nvPr/>
        </p:nvSpPr>
        <p:spPr>
          <a:xfrm>
            <a:off x="594360" y="2816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set>
                                      <p:cBhvr>
                                        <p:cTn id="7" dur="1" fill="hold">
                                          <p:stCondLst>
                                            <p:cond delay="0"/>
                                          </p:stCondLst>
                                        </p:cTn>
                                        <p:tgtEl>
                                          <p:spTgt spid="90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cxnSp>
        <p:nvCxnSpPr>
          <p:cNvPr id="495" name="Google Shape;495;p71"/>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496" name="Google Shape;496;p71"/>
          <p:cNvSpPr txBox="1"/>
          <p:nvPr/>
        </p:nvSpPr>
        <p:spPr>
          <a:xfrm>
            <a:off x="451297" y="4509719"/>
            <a:ext cx="7140127" cy="19083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lang="en-US" sz="2800">
                <a:solidFill>
                  <a:srgbClr val="0070C0"/>
                </a:solidFill>
                <a:highlight>
                  <a:srgbClr val="E0E0E0"/>
                </a:highlight>
                <a:latin typeface="Arial"/>
                <a:ea typeface="Arial"/>
                <a:cs typeface="Arial"/>
                <a:sym typeface="Arial"/>
              </a:rPr>
              <a:t xml:space="preserve"> Check</a:t>
            </a:r>
            <a:r>
              <a:rPr b="1" lang="en-US" sz="2800">
                <a:solidFill>
                  <a:srgbClr val="E0E0E0"/>
                </a:solidFill>
                <a:highlight>
                  <a:srgbClr val="E0E0E0"/>
                </a:highlight>
                <a:latin typeface="Arial"/>
                <a:ea typeface="Arial"/>
                <a:cs typeface="Arial"/>
                <a:sym typeface="Arial"/>
              </a:rPr>
              <a:t>:</a:t>
            </a:r>
            <a:r>
              <a:rPr b="1" lang="en-US" sz="2800">
                <a:solidFill>
                  <a:srgbClr val="0070C0"/>
                </a:solidFill>
                <a:latin typeface="Arial"/>
                <a:ea typeface="Arial"/>
                <a:cs typeface="Arial"/>
                <a:sym typeface="Arial"/>
              </a:rPr>
              <a:t xml:space="preserve"> </a:t>
            </a:r>
            <a:endParaRPr/>
          </a:p>
          <a:p>
            <a:pPr indent="0" lvl="0" marL="0" marR="0" rtl="0" algn="l">
              <a:lnSpc>
                <a:spcPct val="100000"/>
              </a:lnSpc>
              <a:spcBef>
                <a:spcPts val="1200"/>
              </a:spcBef>
              <a:spcAft>
                <a:spcPts val="0"/>
              </a:spcAft>
              <a:buClr>
                <a:srgbClr val="595959"/>
              </a:buClr>
              <a:buSzPts val="2800"/>
              <a:buFont typeface="Arial"/>
              <a:buNone/>
              <a:defRPr/>
            </a:pPr>
            <a:r>
              <a:rPr lang="en-US" sz="2800">
                <a:solidFill>
                  <a:srgbClr val="595959"/>
                </a:solidFill>
                <a:latin typeface="Arial"/>
                <a:ea typeface="Arial"/>
                <a:cs typeface="Arial"/>
                <a:sym typeface="Arial"/>
              </a:rPr>
              <a:t>Each coordinate is +6 units up and +1 unit right from the previous coordinate.</a:t>
            </a:r>
            <a:endParaRPr/>
          </a:p>
        </p:txBody>
      </p:sp>
      <p:sp>
        <p:nvSpPr>
          <p:cNvPr id="497" name="Google Shape;497;p71"/>
          <p:cNvSpPr/>
          <p:nvPr/>
        </p:nvSpPr>
        <p:spPr>
          <a:xfrm>
            <a:off x="486000" y="936000"/>
            <a:ext cx="7286400" cy="26776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defRPr/>
            </a:pPr>
            <a:r>
              <a:rPr lang="en-US" sz="2800">
                <a:solidFill>
                  <a:schemeClr val="dk1"/>
                </a:solidFill>
                <a:latin typeface="Arial"/>
                <a:ea typeface="Arial"/>
                <a:cs typeface="Arial"/>
                <a:sym typeface="Arial"/>
              </a:rPr>
              <a:t>Equivalent ratio points form a straight line through (0, 0).</a:t>
            </a:r>
            <a:endParaRPr/>
          </a:p>
          <a:p>
            <a:pPr indent="0" lvl="0" marL="0" marR="0" rtl="0" algn="l">
              <a:spcBef>
                <a:spcPts val="0"/>
              </a:spcBef>
              <a:spcAft>
                <a:spcPts val="0"/>
              </a:spcAft>
              <a:buNone/>
              <a:defRPr/>
            </a:pPr>
            <a:r>
              <a:rPr/>
              <a:t/>
            </a:r>
            <a:endParaRPr sz="2800">
              <a:solidFill>
                <a:schemeClr val="dk1"/>
              </a:solidFill>
              <a:latin typeface="Arial"/>
              <a:ea typeface="Arial"/>
              <a:cs typeface="Arial"/>
              <a:sym typeface="Arial"/>
            </a:endParaRPr>
          </a:p>
          <a:p>
            <a:pPr indent="0" lvl="0" marL="0" marR="0" rtl="0" algn="l">
              <a:spcBef>
                <a:spcPts val="0"/>
              </a:spcBef>
              <a:spcAft>
                <a:spcPts val="0"/>
              </a:spcAft>
              <a:buNone/>
              <a:defRPr/>
            </a:pPr>
            <a:r>
              <a:rPr b="1" lang="en-US" sz="2800">
                <a:solidFill>
                  <a:schemeClr val="dk1"/>
                </a:solidFill>
                <a:latin typeface="Arial"/>
                <a:ea typeface="Arial"/>
                <a:cs typeface="Arial"/>
                <a:sym typeface="Arial"/>
              </a:rPr>
              <a:t>What relationship do you notice between the coordinate pairs?</a:t>
            </a:r>
            <a:endParaRPr sz="2800">
              <a:solidFill>
                <a:schemeClr val="dk1"/>
              </a:solidFill>
              <a:latin typeface="Arial"/>
              <a:ea typeface="Arial"/>
              <a:cs typeface="Arial"/>
              <a:sym typeface="Arial"/>
            </a:endParaRPr>
          </a:p>
          <a:p>
            <a:pPr indent="0" lvl="0" marL="0" marR="0" rtl="0" algn="l">
              <a:spcBef>
                <a:spcPts val="0"/>
              </a:spcBef>
              <a:spcAft>
                <a:spcPts val="0"/>
              </a:spcAft>
              <a:buNone/>
              <a:defRPr/>
            </a:pPr>
            <a:r>
              <a:rPr/>
              <a:t/>
            </a:r>
            <a:endParaRPr sz="2800">
              <a:solidFill>
                <a:schemeClr val="dk1"/>
              </a:solidFill>
              <a:latin typeface="Arial"/>
              <a:ea typeface="Arial"/>
              <a:cs typeface="Arial"/>
              <a:sym typeface="Arial"/>
            </a:endParaRPr>
          </a:p>
        </p:txBody>
      </p:sp>
      <p:pic>
        <p:nvPicPr>
          <p:cNvPr descr="A graph with a line going up&#10;&#10;AI-generated content may be incorrect." id="498" name="Google Shape;498;p71"/>
          <p:cNvPicPr preferRelativeResize="0"/>
          <p:nvPr/>
        </p:nvPicPr>
        <p:blipFill rotWithShape="1">
          <a:blip r:embed="rId3">
            <a:alphaModFix/>
          </a:blip>
          <a:srcRect b="0" l="0" r="0" t="0"/>
          <a:stretch/>
        </p:blipFill>
        <p:spPr>
          <a:xfrm>
            <a:off x="7973568" y="1298448"/>
            <a:ext cx="3685032" cy="4553712"/>
          </a:xfrm>
          <a:prstGeom prst="rect">
            <a:avLst/>
          </a:prstGeom>
          <a:noFill/>
          <a:ln>
            <a:noFill/>
          </a:ln>
        </p:spPr>
      </p:pic>
      <p:sp>
        <p:nvSpPr>
          <p:cNvPr id="499"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501" name="TextBox 1"/>
          <p:cNvSpPr txBox="1"/>
          <p:nvPr/>
        </p:nvSpPr>
        <p:spPr>
          <a:xfrm>
            <a:off x="502920" y="365760"/>
            <a:ext cx="8229600" cy="502920"/>
          </a:xfrm>
          <a:prstGeom prst="rect">
            <a:avLst/>
          </a:prstGeom>
          <a:noFill/>
        </p:spPr>
        <p:txBody>
          <a:bodyPr wrap="square" lIns="0" tIns="0" rIns="0" bIns="0" anchor="t">
            <a:spAutoFit/>
          </a:bodyPr>
          <a:lstStyle/>
          <a:p>
            <a:pPr algn="l">
              <a:defRPr/>
            </a:pPr>
            <a:r>
              <a:rPr sz="3000" b="1">
                <a:latin typeface="Arial"/>
                <a:solidFill>
                  <a:srgbClr val="782DA0"/>
                </a:solidFill>
              </a:rPr>
              <a:t>Read the Graph’s Pattern</a:t>
            </a:r>
          </a:p>
        </p:txBody>
      </p:sp>
      <p:sp>
        <p:nvSpPr>
          <p:cNvPr id="5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41</a:t>
            </a:r>
          </a:p>
        </p:txBody>
      </p:sp>
      <p:sp>
        <p:nvSpPr>
          <p:cNvPr id="503" name="EWL-COVER-1"/>
          <p:cNvSpPr/>
          <p:nvPr/>
        </p:nvSpPr>
        <p:spPr>
          <a:xfrm>
            <a:off x="396433" y="4454855"/>
            <a:ext cx="7117370" cy="1991665"/>
          </a:xfrm>
          <a:prstGeom prst="rect">
            <a:avLst/>
          </a:prstGeom>
          <a:solidFill>
            <a:srgbClr val="FFFFFF"/>
          </a:solidFill>
          <a:ln>
            <a:noFill/>
          </a:ln>
        </p:spPr>
        <p:txBody>
          <a:bodyPr/>
          <a:lstStyle/>
          <a:p/>
        </p:txBody>
      </p:sp>
      <p:grpSp>
        <p:nvGrpSpPr>
          <p:cNvPr id="504" name="TEACH-7-student-move" descr="TEACH 7 · Cultivate a supportive learning community"/>
          <p:cNvGrpSpPr/>
          <p:nvPr/>
        </p:nvGrpSpPr>
        <p:grpSpPr>
          <a:xfrm>
            <a:off x="502920" y="3833063"/>
            <a:ext cx="5501640" cy="594360"/>
            <a:chOff x="502920" y="3833063"/>
            <a:chExt cx="5501640" cy="594360"/>
          </a:xfrm>
        </p:grpSpPr>
        <p:sp>
          <p:nvSpPr>
            <p:cNvPr id="505" name="TEACH-move-card"/>
            <p:cNvSpPr/>
            <p:nvPr/>
          </p:nvSpPr>
          <p:spPr>
            <a:xfrm>
              <a:off x="502920" y="383306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6" name="TEACH-move-rule"/>
            <p:cNvSpPr/>
            <p:nvPr/>
          </p:nvSpPr>
          <p:spPr>
            <a:xfrm>
              <a:off x="548640" y="3945991"/>
              <a:ext cx="100584" cy="368504"/>
            </a:xfrm>
            <a:prstGeom prst="roundRect">
              <a:avLst>
                <a:gd name="adj" fmla="val 50000"/>
              </a:avLst>
            </a:prstGeom>
            <a:solidFill>
              <a:srgbClr val="01708C"/>
            </a:solidFill>
            <a:ln>
              <a:noFill/>
            </a:ln>
          </p:spPr>
          <p:txBody>
            <a:bodyPr/>
            <a:lstStyle/>
            <a:p>
              <a:endParaRPr/>
            </a:p>
          </p:txBody>
        </p:sp>
        <p:sp>
          <p:nvSpPr>
            <p:cNvPr id="507" name="TEACH-move-text"/>
            <p:cNvSpPr txBox="1"/>
            <p:nvPr/>
          </p:nvSpPr>
          <p:spPr>
            <a:xfrm>
              <a:off x="822960" y="383306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08E41D-67B4-41FA-BC38-B859EA42A44D}"/>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Practice: bags and soccer balls</a:t>
            </a:r>
          </a:p>
        </p:txBody>
      </p:sp>
      <p:sp>
        <p:nvSpPr>
          <p:cNvPr id="2" name="">
            <a:extLst xmlns:a="http://schemas.openxmlformats.org/drawingml/2006/main">
              <a:ext uri="{FF2B5EF4-FFF2-40B4-BE49-F238E27FC236}">
                <a16:creationId xmlns:a16="http://schemas.microsoft.com/office/drawing/2014/main" id="{7C2170D7-FD2C-40D3-BD0A-D301C640B604}"/>
              </a:ext>
            </a:extLst>
          </p:cNvPr>
          <p:cNvSpPr>
            <a:spLocks xmlns:a="http://schemas.openxmlformats.org/drawingml/2006/main" noGrp="1"/>
          </p:cNvSpPr>
          <p:nvPr/>
        </p:nvSpPr>
        <p:spPr>
          <a:xfrm xmlns:a="http://schemas.openxmlformats.org/drawingml/2006/main">
            <a:off x="552450" y="16192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Each bag holds 6 soccer balls. Let x = bags and y = balls.</a:t>
            </a:r>
          </a:p>
        </p:txBody>
      </p:sp>
      <p:sp>
        <p:nvSpPr>
          <p:cNvPr id="3" name="">
            <a:extLst xmlns:a="http://schemas.openxmlformats.org/drawingml/2006/main">
              <a:ext uri="{FF2B5EF4-FFF2-40B4-BE49-F238E27FC236}">
                <a16:creationId xmlns:a16="http://schemas.microsoft.com/office/drawing/2014/main" id="{76F2040F-1D2E-45C3-B10A-E94ECA0EF5D6}"/>
              </a:ext>
            </a:extLst>
          </p:cNvPr>
          <p:cNvSpPr>
            <a:spLocks xmlns:a="http://schemas.openxmlformats.org/drawingml/2006/main" noGrp="1"/>
          </p:cNvSpPr>
          <p:nvPr/>
        </p:nvSpPr>
        <p:spPr>
          <a:xfrm xmlns:a="http://schemas.openxmlformats.org/drawingml/2006/main">
            <a:off x="552450" y="278130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250" b="0">
                <ns0:solidFill>
                  <ns0:srgbClr val="23282D"/>
                </ns0:solidFill>
                <ns0:latin typeface="Arial"/>
                <ns0:ea typeface="Arial"/>
                <ns0:cs typeface="Arial"/>
              </ns0:defRPr>
            </ns0:pPr>
            <ns0:r>
              <ns0:rPr sz="2250" b="0">
                <ns0:solidFill>
                  <ns0:srgbClr val="23282D"/>
                </ns0:solidFill>
                <ns0:latin typeface="Arial"/>
                <ns0:ea typeface="Arial"/>
                <ns0:cs typeface="Arial"/>
              </ns0:rPr>
              <ns0:t>1. Explain the multiplication relationship between bags and balls.</ns0:t>
            </ns0:r>
          </ns0:p>
        </p:txBody>
      </p:sp>
      <p:sp>
        <p:nvSpPr>
          <p:cNvPr id="4" name="">
            <a:extLst xmlns:a="http://schemas.openxmlformats.org/drawingml/2006/main">
              <a:ext uri="{FF2B5EF4-FFF2-40B4-BE49-F238E27FC236}">
                <a16:creationId xmlns:a16="http://schemas.microsoft.com/office/drawing/2014/main" id="{0FBAAFA9-EBF1-4EAE-AC1C-E13D11EA8C02}"/>
              </a:ext>
            </a:extLst>
          </p:cNvPr>
          <p:cNvSpPr>
            <a:spLocks xmlns:a="http://schemas.openxmlformats.org/drawingml/2006/main" noGrp="1"/>
          </p:cNvSpPr>
          <p:nvPr/>
        </p:nvSpPr>
        <p:spPr>
          <a:xfrm xmlns:a="http://schemas.openxmlformats.org/drawingml/2006/main">
            <a:off x="552450" y="39433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2. Find the number of balls for 10 bags. Write the </a:t>
            </a:r>
            <a:r>
              <a:rPr sz="2250" b="1">
                <a:solidFill>
                  <a:srgbClr val="23282D"/>
                </a:solidFill>
                <a:highlight>
                  <a:srgbClr val="FFF2A8"/>
                </a:highlight>
                <a:latin typeface="Arial"/>
                <a:ea typeface="Arial"/>
                <a:cs typeface="Arial"/>
              </a:rPr>
              <a:t>ordered pair</a:t>
            </a:r>
            <a:r>
              <a:rPr sz="2250" b="0">
                <a:solidFill>
                  <a:srgbClr val="23282D"/>
                </a:solidFill>
                <a:latin typeface="Arial"/>
                <a:ea typeface="Arial"/>
                <a:cs typeface="Arial"/>
              </a:rPr>
              <a:t>.</a:t>
            </a:r>
          </a:p>
        </p:txBody>
      </p:sp>
      <p:sp xmlns:a="http://schemas.openxmlformats.org/drawingml/2006/main">
        <p:nvSpPr>
          <p:cNvPr id="7"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9"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9"/>
          <p:cNvSpPr txBox="1"/>
          <p:nvPr/>
        </p:nvSpPr>
        <p:spPr>
          <a:xfrm>
            <a:off x="713232" y="5577840"/>
            <a:ext cx="10607040" cy="201168"/>
          </a:xfrm>
          <a:prstGeom prst="rect">
            <a:avLst/>
          </a:prstGeom>
          <a:noFill/>
        </p:spPr>
        <p:txBody>
          <a:bodyPr wrap="square" lIns="0" tIns="0" rIns="0" bIns="0" anchor="t">
            <a:spAutoFit/>
          </a:bodyPr>
          <a:lstStyle/>
          <a:p>
            <a:pPr algn="l">
              <a:defRPr/>
            </a:pPr>
            <a:r>
              <a:rPr sz="1100" b="1">
                <a:solidFill>
                  <a:srgbClr val="782DA0"/>
                </a:solidFill>
                <a:latin typeface="Arial"/>
              </a:rPr>
              <a:t>EXPLAIN THE CONNECTION</a:t>
            </a:r>
          </a:p>
        </p:txBody>
      </p:sp>
      <p:sp xmlns:a="http://schemas.openxmlformats.org/drawingml/2006/main">
        <p:nvSpPr>
          <p:cNvPr id="12" name="TextBox 20"/>
          <p:cNvSpPr txBox="1"/>
          <p:nvPr/>
        </p:nvSpPr>
        <p:spPr>
          <a:xfrm>
            <a:off x="713232" y="5815584"/>
            <a:ext cx="10607040" cy="256032"/>
          </a:xfrm>
          <a:prstGeom prst="rect">
            <a:avLst/>
          </a:prstGeom>
          <a:noFill/>
        </p:spPr>
        <p:txBody>
          <a:bodyPr wrap="square" lIns="0" tIns="0" rIns="0" bIns="0" anchor="t">
            <a:spAutoFit/>
          </a:bodyPr>
          <a:lstStyle/>
          <a:p>
            <a:pPr algn="l">
              <a:defRPr/>
            </a:pPr>
            <a:r>
              <a:rPr sz="1700" b="0">
                <a:solidFill>
                  <a:srgbClr val="23282D"/>
                </a:solidFill>
                <a:latin typeface="Arial"/>
              </a:rPr>
              <a:t>“The point (__, __) means __ bags hold __ balls. I used the rule ___.”</a:t>
            </a:r>
          </a:p>
        </p:txBody>
      </p:sp>
      <p:sp>
        <p:nvSpPr>
          <p:cNvPr id="13"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17 / 41</ns3:t>
            </ns3:r>
          </ns3:p>
        </p:txBody>
      </p:sp>
      <p:grpSp xmlns:a="http://schemas.openxmlformats.org/drawingml/2006/main">
        <p:nvGrpSpPr>
          <p:cNvPr id="14" name="TEACH-2-student-move" descr="TEACH 2 · Use strategies and tasks to engage students in rigorous work"/>
          <p:cNvGrpSpPr/>
          <p:nvPr/>
        </p:nvGrpSpPr>
        <p:grpSpPr>
          <a:xfrm>
            <a:off x="502920" y="5074920"/>
            <a:ext cx="11186160" cy="402336"/>
            <a:chOff x="502920" y="5074920"/>
            <a:chExt cx="11186160" cy="402336"/>
          </a:xfrm>
        </p:grpSpPr>
        <p:sp>
          <p:nvSpPr>
            <p:cNvPr id="15" name="TEACH-move-card"/>
            <p:cNvSpPr/>
            <p:nvPr/>
          </p:nvSpPr>
          <p:spPr>
            <a:xfrm>
              <a:off x="502920" y="507492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151364"/>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07492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extLst>
      <p:ext uri="{BB962C8B-B14F-4D97-AF65-F5344CB8AC3E}">
        <p14:creationId xmlns:p14="http://schemas.microsoft.com/office/powerpoint/2010/main" val="115001513"/>
      </p:ext>
    </p:extLst>
  </p:cSld>
</p:sld>
</file>

<file path=ppt/slides/slide1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this plotted point show the same comparison as its row in the table?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9.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29184"/>
            <a:ext cx="7132320" cy="530352"/>
          </a:xfrm>
          <a:prstGeom prst="rect">
            <a:avLst/>
          </a:prstGeom>
          <a:noFill/>
        </p:spPr>
        <p:txBody>
          <a:bodyPr wrap="square" lIns="0" tIns="0" rIns="0" bIns="0" anchor="t">
            <a:spAutoFit/>
          </a:bodyPr>
          <a:lstStyle/>
          <a:p>
            <a:pPr algn="l"/>
            <a:r>
              <a:rPr sz="2800" b="1">
                <a:solidFill>
                  <a:srgbClr val="782DA0"/>
                </a:solidFill>
                <a:latin typeface="Arial"/>
              </a:rPr>
              <a:t>60-Second Check</a:t>
            </a:r>
          </a:p>
        </p:txBody>
      </p:sp>
      <p:sp>
        <p:nvSpPr>
          <p:cNvPr id="3" name="TextBox 2"/>
          <p:cNvSpPr txBox="1"/>
          <p:nvPr/>
        </p:nvSpPr>
        <p:spPr>
          <a:xfrm>
            <a:off x="521207" y="896112"/>
            <a:ext cx="7589520" cy="320040"/>
          </a:xfrm>
          <a:prstGeom prst="rect">
            <a:avLst/>
          </a:prstGeom>
          <a:noFill/>
        </p:spPr>
        <p:txBody>
          <a:bodyPr wrap="square" lIns="0" tIns="0" rIns="0" bIns="0" anchor="t">
            <a:spAutoFit/>
          </a:bodyPr>
          <a:lstStyle/>
          <a:p>
            <a:pPr algn="l"/>
            <a:r>
              <a:rPr sz="1500" b="0">
                <a:solidFill>
                  <a:srgbClr val="5D6872"/>
                </a:solidFill>
                <a:latin typeface="Arial"/>
              </a:rPr>
              <a:t>Work independently first. Your response tells us what to do next.</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FORMATIVE CHECK</a:t>
            </a:r>
            <a:r>
              <a:rPr lang="en-US" sz="1150" b="1" dirty="0">
                <a:solidFill>
                  <a:srgbClr val="2D3A40"/>
                </a:solidFill>
                <a:latin typeface="Arial"/>
              </a:rPr>
              <a:t xml:space="preserve">  ·  SOLO → CHECK → REVISE</a:t>
            </a:r>
          </a:p>
        </p:txBody>
      </p:sp>
      <p:sp>
        <p:nvSpPr>
          <p:cNvPr id="6" name="Rounded Rectangle 5"/>
          <p:cNvSpPr/>
          <p:nvPr/>
        </p:nvSpPr>
        <p:spPr>
          <a:xfrm>
            <a:off x="502920" y="1353312"/>
            <a:ext cx="11082528" cy="868680"/>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86868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463040"/>
            <a:ext cx="10789919" cy="219456"/>
          </a:xfrm>
          <a:prstGeom prst="rect">
            <a:avLst/>
          </a:prstGeom>
          <a:noFill/>
        </p:spPr>
        <p:txBody>
          <a:bodyPr wrap="square" lIns="0" tIns="0" rIns="0" bIns="0" anchor="t">
            <a:spAutoFit/>
          </a:bodyPr>
          <a:lstStyle/>
          <a:p>
            <a:pPr algn="l"/>
            <a:r>
              <a:rPr sz="1400" b="1">
                <a:solidFill>
                  <a:srgbClr val="01708C"/>
                </a:solidFill>
                <a:latin typeface="Arial"/>
              </a:rPr>
              <a:t>USE THIS INFORMATION</a:t>
            </a:r>
          </a:p>
        </p:txBody>
      </p:sp>
      <p:sp>
        <p:nvSpPr>
          <p:cNvPr id="9" name="TextBox 8"/>
          <p:cNvSpPr txBox="1"/>
          <p:nvPr/>
        </p:nvSpPr>
        <p:spPr>
          <a:xfrm>
            <a:off x="667512" y="1737360"/>
            <a:ext cx="10771632" cy="393191"/>
          </a:xfrm>
          <a:prstGeom prst="rect">
            <a:avLst/>
          </a:prstGeom>
          <a:noFill/>
        </p:spPr>
        <p:txBody>
          <a:bodyPr wrap="square" lIns="0" tIns="0" rIns="0" bIns="0" anchor="t">
            <a:spAutoFit/>
          </a:bodyPr>
          <a:lstStyle/>
          <a:p>
            <a:pPr algn="l"/>
            <a:r>
              <a:rPr sz="2000" b="0">
                <a:solidFill>
                  <a:srgbClr val="23282D"/>
                </a:solidFill>
                <a:latin typeface="Arial"/>
              </a:rPr>
              <a:t>Each bag holds 6 soccer balls.  x = bags; y = soccer balls.</a:t>
            </a:r>
          </a:p>
        </p:txBody>
      </p:sp>
      <p:sp>
        <p:nvSpPr>
          <p:cNvPr id="10" name="Rounded Rectangle 9"/>
          <p:cNvSpPr/>
          <p:nvPr/>
        </p:nvSpPr>
        <p:spPr>
          <a:xfrm>
            <a:off x="502920" y="2487168"/>
            <a:ext cx="3520440" cy="239572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487168"/>
            <a:ext cx="73152" cy="239572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596896"/>
            <a:ext cx="3227832" cy="219456"/>
          </a:xfrm>
          <a:prstGeom prst="rect">
            <a:avLst/>
          </a:prstGeom>
          <a:noFill/>
        </p:spPr>
        <p:txBody>
          <a:bodyPr wrap="square" lIns="0" tIns="0" rIns="0" bIns="0" anchor="t">
            <a:spAutoFit/>
          </a:bodyPr>
          <a:lstStyle/>
          <a:p>
            <a:pPr algn="l"/>
            <a:r>
              <a:rPr sz="1400" b="1">
                <a:solidFill>
                  <a:srgbClr val="782DA0"/>
                </a:solidFill>
                <a:latin typeface="Arial"/>
              </a:rPr>
              <a:t>1 — REPRESENT</a:t>
            </a:r>
          </a:p>
        </p:txBody>
      </p:sp>
      <p:sp>
        <p:nvSpPr>
          <p:cNvPr id="13" name="TextBox 12"/>
          <p:cNvSpPr txBox="1"/>
          <p:nvPr/>
        </p:nvSpPr>
        <p:spPr>
          <a:xfrm>
            <a:off x="667512" y="2871216"/>
            <a:ext cx="3209544" cy="1920240"/>
          </a:xfrm>
          <a:prstGeom prst="rect">
            <a:avLst/>
          </a:prstGeom>
          <a:noFill/>
        </p:spPr>
        <p:txBody>
          <a:bodyPr wrap="square" lIns="0" tIns="0" rIns="0" bIns="0" anchor="t">
            <a:spAutoFit/>
          </a:bodyPr>
          <a:lstStyle/>
          <a:p>
            <a:pPr algn="l"/>
            <a:r>
              <a:rPr sz="2200" b="0">
                <a:solidFill>
                  <a:srgbClr val="23282D"/>
                </a:solidFill>
                <a:latin typeface="Arial"/>
              </a:rPr>
              <a:t>Write the ordered pair for 4 bags. Label what x and y represent.</a:t>
            </a:r>
          </a:p>
        </p:txBody>
      </p:sp>
      <p:sp>
        <p:nvSpPr>
          <p:cNvPr id="14" name="Rounded Rectangle 13"/>
          <p:cNvSpPr/>
          <p:nvPr/>
        </p:nvSpPr>
        <p:spPr>
          <a:xfrm>
            <a:off x="4270248" y="2487168"/>
            <a:ext cx="3520440" cy="23957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2487168"/>
            <a:ext cx="73152" cy="2395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596896"/>
            <a:ext cx="3227832" cy="219456"/>
          </a:xfrm>
          <a:prstGeom prst="rect">
            <a:avLst/>
          </a:prstGeom>
          <a:noFill/>
        </p:spPr>
        <p:txBody>
          <a:bodyPr wrap="square" lIns="0" tIns="0" rIns="0" bIns="0" anchor="t">
            <a:spAutoFit/>
          </a:bodyPr>
          <a:lstStyle/>
          <a:p>
            <a:pPr algn="l"/>
            <a:r>
              <a:rPr sz="1400" b="1">
                <a:solidFill>
                  <a:srgbClr val="0070C0"/>
                </a:solidFill>
                <a:latin typeface="Arial"/>
              </a:rPr>
              <a:t>2 — PLOT + EXPLAIN</a:t>
            </a:r>
          </a:p>
        </p:txBody>
      </p:sp>
      <p:sp>
        <p:nvSpPr>
          <p:cNvPr id="17" name="TextBox 16"/>
          <p:cNvSpPr txBox="1"/>
          <p:nvPr/>
        </p:nvSpPr>
        <p:spPr>
          <a:xfrm>
            <a:off x="4434840" y="2871216"/>
            <a:ext cx="3209544" cy="1920240"/>
          </a:xfrm>
          <a:prstGeom prst="rect">
            <a:avLst/>
          </a:prstGeom>
          <a:noFill/>
        </p:spPr>
        <p:txBody>
          <a:bodyPr wrap="square" lIns="0" tIns="0" rIns="0" bIns="0" anchor="t">
            <a:spAutoFit/>
          </a:bodyPr>
          <a:lstStyle/>
          <a:p>
            <a:pPr algn="l"/>
            <a:r>
              <a:rPr sz="2200" b="0">
                <a:solidFill>
                  <a:srgbClr val="23282D"/>
                </a:solidFill>
                <a:latin typeface="Arial"/>
              </a:rPr>
              <a:t>Sketch axes and plot the point. Explain how you know it belongs to the ratio pattern.</a:t>
            </a:r>
          </a:p>
        </p:txBody>
      </p:sp>
      <p:sp>
        <p:nvSpPr>
          <p:cNvPr id="18" name="Rounded Rectangle 17"/>
          <p:cNvSpPr/>
          <p:nvPr/>
        </p:nvSpPr>
        <p:spPr>
          <a:xfrm>
            <a:off x="8046720" y="2487168"/>
            <a:ext cx="3538728" cy="239572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2487168"/>
            <a:ext cx="73152" cy="239572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11312" y="2596896"/>
            <a:ext cx="3246120" cy="219456"/>
          </a:xfrm>
          <a:prstGeom prst="rect">
            <a:avLst/>
          </a:prstGeom>
          <a:noFill/>
        </p:spPr>
        <p:txBody>
          <a:bodyPr wrap="square" lIns="0" tIns="0" rIns="0" bIns="0" anchor="t">
            <a:spAutoFit/>
          </a:bodyPr>
          <a:lstStyle/>
          <a:p>
            <a:pPr algn="l"/>
            <a:r>
              <a:rPr sz="1400" b="1">
                <a:solidFill>
                  <a:srgbClr val="008A62"/>
                </a:solidFill>
                <a:latin typeface="Arial"/>
              </a:rPr>
              <a:t>3 — SELF-MONITOR</a:t>
            </a:r>
          </a:p>
        </p:txBody>
      </p:sp>
      <p:sp>
        <p:nvSpPr>
          <p:cNvPr id="21" name="TextBox 20"/>
          <p:cNvSpPr txBox="1"/>
          <p:nvPr/>
        </p:nvSpPr>
        <p:spPr>
          <a:xfrm>
            <a:off x="8211312" y="2871216"/>
            <a:ext cx="3227832" cy="1920240"/>
          </a:xfrm>
          <a:prstGeom prst="rect">
            <a:avLst/>
          </a:prstGeom>
          <a:noFill/>
        </p:spPr>
        <p:txBody>
          <a:bodyPr wrap="square" lIns="0" tIns="0" rIns="0" bIns="0" anchor="t">
            <a:spAutoFit/>
          </a:bodyPr>
          <a:lstStyle/>
          <a:p>
            <a:pPr algn="l"/>
            <a:r>
              <a:rPr sz="1500" b="0">
                <a:solidFill>
                  <a:srgbClr val="23282D"/>
                </a:solidFill>
                <a:latin typeface="Arial"/>
              </a:rPr>
              <a:t>Circle one:
READY — I can explain it.
ALMOST — I need one hint.
NOT YET — I need a model.</a:t>
            </a:r>
          </a:p>
        </p:txBody>
      </p:sp>
      <p:sp>
        <p:nvSpPr>
          <p:cNvPr id="22" name="TextBox 21"/>
          <p:cNvSpPr txBox="1"/>
          <p:nvPr/>
        </p:nvSpPr>
        <p:spPr>
          <a:xfrm>
            <a:off x="658368" y="5239512"/>
            <a:ext cx="10789920" cy="512064"/>
          </a:xfrm>
          <a:prstGeom prst="rect">
            <a:avLst/>
          </a:prstGeom>
          <a:noFill/>
        </p:spPr>
        <p:txBody>
          <a:bodyPr wrap="square" lIns="0" tIns="0" rIns="0" bIns="0" anchor="t">
            <a:spAutoFit/>
          </a:bodyPr>
          <a:lstStyle/>
          <a:p>
            <a:pPr algn="ctr"/>
            <a:r>
              <a:rPr sz="1400" b="1">
                <a:solidFill>
                  <a:srgbClr val="1E2682"/>
                </a:solidFill>
                <a:latin typeface="Arial"/>
              </a:rPr>
              <a:t>Partner feedback: Ask “How do you know?”  The solver may clarify or revise before sharing.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41</a:t>
            </a:r>
          </a:p>
        </p:txBody>
      </p:sp>
    </p:spTree>
    <p:extLst>
      <p:ext uri="{BB962C8B-B14F-4D97-AF65-F5344CB8AC3E}">
        <p14:creationId xmlns:p14="http://schemas.microsoft.com/office/powerpoint/2010/main" val="1532128704"/>
      </p:ext>
    </p:extLst>
  </p:cSl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56" name="Google Shape;656;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7" name="Google Shape;657;p65"/>
          <p:cNvSpPr txBox="1"/>
          <p:nvPr/>
        </p:nvSpPr>
        <p:spPr>
          <a:xfrm>
            <a:off x="467312" y="453021"/>
            <a:ext cx="6617693" cy="4351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For each bag, there are 6 soccer balls.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ratio of bags to soccer balls is </a:t>
            </a:r>
            <a:r>
              <a:rPr b="0" i="0" lang="en-US" sz="2800" u="none" cap="none" strike="noStrike">
                <a:solidFill>
                  <a:srgbClr val="262626"/>
                </a:solidFill>
                <a:latin typeface="Cambria Math"/>
                <a:ea typeface="Cambria Math"/>
                <a:cs typeface="Cambria Math"/>
                <a:sym typeface="Cambria Math"/>
              </a:rPr>
              <a:t>1 : 6</a:t>
            </a:r>
            <a:r>
              <a:rPr b="0" i="0" lang="en-US" sz="2800" u="none" cap="none" strike="noStrike">
                <a:solidFill>
                  <a:srgbClr val="26262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find equivalent ratios?</a:t>
            </a:r>
            <a:endParaRPr b="0" i="0" sz="1400" u="none" cap="none" strike="noStrike">
              <a:solidFill>
                <a:srgbClr val="000000"/>
              </a:solidFill>
              <a:latin typeface="Arial"/>
              <a:ea typeface="Arial"/>
              <a:cs typeface="Arial"/>
              <a:sym typeface="Arial"/>
            </a:endParaRPr>
          </a:p>
        </p:txBody>
      </p:sp>
      <p:pic>
        <p:nvPicPr>
          <p:cNvPr descr="D:\Sujatha\Job\Epres_New\PPT\G6U3\sn_47fe6-360mp4\OPS\img\.assets\5b48c55c21464083b27c24dd4f80bccc\narm24_c10304_se_012a-dig.png" id="658" name="Google Shape;658;p65"/>
          <p:cNvPicPr preferRelativeResize="0"/>
          <p:nvPr/>
        </p:nvPicPr>
        <p:blipFill rotWithShape="1">
          <a:blip r:embed="rId2">
            <a:alphaModFix/>
          </a:blip>
          <a:srcRect b="0" l="0" r="0" t="0"/>
          <a:stretch/>
        </p:blipFill>
        <p:spPr>
          <a:xfrm>
            <a:off x="7572429" y="1738291"/>
            <a:ext cx="4000500" cy="2619375"/>
          </a:xfrm>
          <a:prstGeom prst="rect">
            <a:avLst/>
          </a:prstGeom>
          <a:noFill/>
          <a:ln>
            <a:noFill/>
          </a:ln>
        </p:spPr>
      </p:pic>
      <p:sp>
        <p:nvSpPr>
          <p:cNvPr id="659" name="Google Shape;659;p65"/>
          <p:cNvSpPr txBox="1"/>
          <p:nvPr/>
        </p:nvSpPr>
        <p:spPr>
          <a:xfrm>
            <a:off x="518845" y="5222052"/>
            <a:ext cx="5960624" cy="11478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table.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21" name="Google Shape;721;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2" name="Google Shape;722;p73"/>
          <p:cNvSpPr txBox="1"/>
          <p:nvPr/>
        </p:nvSpPr>
        <p:spPr>
          <a:xfrm>
            <a:off x="519069" y="4847491"/>
            <a:ext cx="6119855"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create a graph from the data.</a:t>
            </a:r>
            <a:endParaRPr b="0" i="0" sz="1400" u="none" cap="none" strike="noStrike">
              <a:solidFill>
                <a:srgbClr val="000000"/>
              </a:solidFill>
              <a:latin typeface="Arial"/>
              <a:ea typeface="Arial"/>
              <a:cs typeface="Arial"/>
              <a:sym typeface="Arial"/>
            </a:endParaRPr>
          </a:p>
        </p:txBody>
      </p:sp>
      <p:sp>
        <p:nvSpPr>
          <p:cNvPr id="723" name="Google Shape;723;p73"/>
          <p:cNvSpPr txBox="1"/>
          <p:nvPr/>
        </p:nvSpPr>
        <p:spPr>
          <a:xfrm>
            <a:off x="484565" y="936000"/>
            <a:ext cx="5995129" cy="39731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Six bags will hold 36 soccer balls.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Equivalent ratios from a table can be displayed in other ways.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is another way to display the information in the table?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p:txBody>
      </p:sp>
      <p:graphicFrame>
        <p:nvGraphicFramePr>
          <p:cNvPr id="724" name="Google Shape;724;p73"/>
          <p:cNvGraphicFramePr/>
          <p:nvPr/>
        </p:nvGraphicFramePr>
        <p:xfrm>
          <a:off x="7605328" y="1332327"/>
          <a:ext cx="3000000" cy="3000000"/>
        </p:xfrm>
        <a:graphic>
          <a:graphicData uri="http://schemas.openxmlformats.org/drawingml/2006/table">
            <a:tbl>
              <a:tblPr bandRow="1" firstRow="1">
                <a:noFill/>
                <a:tableStyleId>{FFA4FEA4-E124-49D5-8CC6-180C8C50718B}</a:tableStyleId>
              </a:tblPr>
              <a:tblGrid>
                <a:gridCol w="2207250"/>
                <a:gridCol w="2207250"/>
              </a:tblGrid>
              <a:tr h="1280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827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1</a:t>
                      </a:r>
                      <a:endParaRPr sz="28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6</a:t>
                      </a:r>
                      <a:endParaRPr sz="28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08275">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2</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12</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08275">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3</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18</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08275">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4</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24</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86925">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5</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30</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08275">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6</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latin typeface="Arial"/>
                          <a:ea typeface="Arial"/>
                          <a:cs typeface="Arial"/>
                          <a:sym typeface="Arial"/>
                        </a:rPr>
                        <a:t>36</a:t>
                      </a:r>
                      <a:endParaRPr sz="26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41</a:t>
            </a:r>
          </a:p>
        </p:txBody>
      </p:sp>
      <p:grpSp>
        <p:nvGrpSpPr>
          <p:cNvPr id="9003" name="TEACH-6-student-move" descr="TEACH 6 · Organize and implement routines to support a learning-focused classroom"/>
          <p:cNvGrpSpPr/>
          <p:nvPr/>
        </p:nvGrpSpPr>
        <p:grpSpPr>
          <a:xfrm>
            <a:off x="502920" y="3949700"/>
            <a:ext cx="6935419" cy="542003"/>
            <a:chOff x="502920" y="4490875"/>
            <a:chExt cx="11186160" cy="320040"/>
          </a:xfrm>
        </p:grpSpPr>
        <p:sp>
          <p:nvSpPr>
            <p:cNvPr id="9004" name="TEACH-move-card"/>
            <p:cNvSpPr/>
            <p:nvPr/>
          </p:nvSpPr>
          <p:spPr>
            <a:xfrm>
              <a:off x="502920" y="4490875"/>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551683"/>
              <a:ext cx="100584" cy="19842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490875"/>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3" name="Google Shape;793;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94" name="Google Shape;794;p81"/>
          <p:cNvPicPr preferRelativeResize="0"/>
          <p:nvPr/>
        </p:nvPicPr>
        <p:blipFill rotWithShape="1">
          <a:blip r:embed="rId2">
            <a:alphaModFix/>
          </a:blip>
          <a:srcRect b="0" l="0" r="0" t="0"/>
          <a:stretch/>
        </p:blipFill>
        <p:spPr>
          <a:xfrm>
            <a:off x="8195427" y="1482828"/>
            <a:ext cx="3390900" cy="4181475"/>
          </a:xfrm>
          <a:prstGeom prst="rect">
            <a:avLst/>
          </a:prstGeom>
          <a:noFill/>
          <a:ln>
            <a:noFill/>
          </a:ln>
        </p:spPr>
      </p:pic>
      <p:sp>
        <p:nvSpPr>
          <p:cNvPr id="795" name="Google Shape;795;p81"/>
          <p:cNvSpPr txBox="1"/>
          <p:nvPr/>
        </p:nvSpPr>
        <p:spPr>
          <a:xfrm>
            <a:off x="389674" y="5257793"/>
            <a:ext cx="5960624" cy="11213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coordinates form a straight line.</a:t>
            </a:r>
            <a:endParaRPr b="0" i="0" sz="1400" u="none" cap="none" strike="noStrike">
              <a:solidFill>
                <a:srgbClr val="000000"/>
              </a:solidFill>
              <a:latin typeface="Arial"/>
              <a:ea typeface="Arial"/>
              <a:cs typeface="Arial"/>
              <a:sym typeface="Arial"/>
            </a:endParaRPr>
          </a:p>
        </p:txBody>
      </p:sp>
      <p:sp>
        <p:nvSpPr>
          <p:cNvPr id="796" name="Google Shape;796;p81"/>
          <p:cNvSpPr txBox="1"/>
          <p:nvPr/>
        </p:nvSpPr>
        <p:spPr>
          <a:xfrm>
            <a:off x="486000" y="936000"/>
            <a:ext cx="6617693" cy="4150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Connecting the points to form a graph can then help you interpret the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plotted points?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41</a:t>
            </a:r>
          </a:p>
        </p:txBody>
      </p:sp>
      <p:grpSp>
        <p:nvGrpSpPr>
          <p:cNvPr id="9003" name="TEACH-3-student-move" descr="TEACH 3 · Use intentional questioning to deepen learning"/>
          <p:cNvGrpSpPr/>
          <p:nvPr/>
        </p:nvGrpSpPr>
        <p:grpSpPr>
          <a:xfrm>
            <a:off x="502920" y="3625081"/>
            <a:ext cx="5501640" cy="402336"/>
            <a:chOff x="502920" y="4818881"/>
            <a:chExt cx="5501640" cy="402336"/>
          </a:xfrm>
        </p:grpSpPr>
        <p:sp>
          <p:nvSpPr>
            <p:cNvPr id="9004" name="TEACH-move-card"/>
            <p:cNvSpPr/>
            <p:nvPr/>
          </p:nvSpPr>
          <p:spPr>
            <a:xfrm>
              <a:off x="502920" y="4818881"/>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895325"/>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818881"/>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3.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2D3A40"/>
                </a:solidFill>
                <a:latin typeface="Arial"/>
              </a:rPr>
              <a:t>Lesson 3-4 · Equivalent Ratios Using Graphs   |   Session 2 Warm-Up · about 4 minutes</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spAutoFit/>
          </a:bodyPr>
          <a:lstStyle/>
          <a:p>
            <a:pPr algn="l"/>
            <a:r>
              <a:rPr sz="1800" b="1">
                <a:solidFill>
                  <a:srgbClr val="2D3A40"/>
                </a:solidFill>
                <a:latin typeface="Arial"/>
              </a:rPr>
              <a:t>Each bag holds 6 balls.</a:t>
            </a:r>
          </a:p>
          <a:p>
            <a:pPr algn="l"/>
            <a:r>
              <a:rPr sz="1800" b="1">
                <a:solidFill>
                  <a:srgbClr val="2D3A40"/>
                </a:solidFill>
                <a:latin typeface="Arial"/>
              </a:rPr>
              <a:t>Complete the ordered pair: (2,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spAutoFit/>
          </a:bodyPr>
          <a:lstStyle/>
          <a:p>
            <a:pPr algn="l"/>
            <a:r>
              <a:rPr sz="1800" b="1">
                <a:solidFill>
                  <a:srgbClr val="2D3A40"/>
                </a:solidFill>
                <a:latin typeface="Arial"/>
              </a:rPr>
              <a:t>In the ordered pair (4, 24),</a:t>
            </a:r>
          </a:p>
          <a:p>
            <a:pPr algn="l"/>
            <a:r>
              <a:rPr sz="1800" b="1">
                <a:solidFill>
                  <a:srgbClr val="2D3A40"/>
                </a:solidFill>
                <a:latin typeface="Arial"/>
              </a:rPr>
              <a:t>which number is x?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spAutoFit/>
          </a:bodyPr>
          <a:lstStyle/>
          <a:p>
            <a:pPr algn="l"/>
            <a:r>
              <a:rPr sz="1800" b="1">
                <a:solidFill>
                  <a:srgbClr val="2D3A40"/>
                </a:solidFill>
                <a:latin typeface="Arial"/>
              </a:rPr>
              <a:t>Continue the pattern:</a:t>
            </a:r>
          </a:p>
          <a:p>
            <a:pPr algn="l"/>
            <a:r>
              <a:rPr sz="1800" b="1">
                <a:solidFill>
                  <a:srgbClr val="2D3A40"/>
                </a:solidFill>
                <a:latin typeface="Arial"/>
              </a:rPr>
              <a:t>(1, 6), (2, 12), (3,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spAutoFit/>
          </a:bodyPr>
          <a:lstStyle/>
          <a:p>
            <a:pPr algn="l"/>
            <a:r>
              <a:rPr sz="1800" b="1">
                <a:solidFill>
                  <a:srgbClr val="2D3A40"/>
                </a:solidFill>
                <a:latin typeface="Arial"/>
              </a:rPr>
              <a:t>Equivalent-ratio points form a ______ line through (0, 0).</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41</a:t>
            </a:r>
          </a:p>
        </p:txBody>
      </p:sp>
    </p:spTree>
    <p:extLst>
      <p:ext uri="{BB962C8B-B14F-4D97-AF65-F5344CB8AC3E}">
        <p14:creationId xmlns:p14="http://schemas.microsoft.com/office/powerpoint/2010/main" val="12015652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02920" y="365760"/>
            <a:ext cx="8229600" cy="502920"/>
          </a:xfrm>
          <a:prstGeom prst="rect">
            <a:avLst/>
          </a:prstGeom>
          <a:noFill/>
        </p:spPr>
        <p:txBody>
          <a:bodyPr wrap="square" lIns="0" tIns="0" rIns="0" bIns="0" anchor="t">
            <a:spAutoFit/>
          </a:bodyPr>
          <a:lstStyle/>
          <a:p>
            <a:pPr algn="l"/>
            <a:r>
              <a:rPr sz="2400" b="1">
                <a:solidFill>
                  <a:srgbClr val="7030A0"/>
                </a:solidFill>
                <a:latin typeface="Arial"/>
              </a:rPr>
              <a:t>Review Notes — Session 2</a:t>
            </a:r>
          </a:p>
        </p:txBody>
      </p:sp>
      <p:sp xmlns:a="http://schemas.openxmlformats.org/drawingml/2006/main">
        <p:nvSpPr>
          <p:cNvPr id="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REVIEW NOTES  ·  RECALL • CONNECT • APPLY</a:t>
            </a:r>
            <a:r>
              <a:rPr lang="en-US" sz="1150" b="1" dirty="0">
                <a:solidFill>
                  <a:srgbClr val="2D3A40"/>
                </a:solidFill>
                <a:latin typeface="Arial"/>
              </a:rPr>
              <a:t xml:space="preserve"/>
            </a:r>
          </a:p>
        </p:txBody>
      </p:sp>
      <p:sp xmlns:a="http://schemas.openxmlformats.org/drawingml/2006/main">
        <p:nvSpPr>
          <p:cNvPr id="5" name="Rounded Rectangle 6"/>
          <p:cNvSpPr/>
          <p:nvPr/>
        </p:nvSpPr>
        <p:spPr>
          <a:xfrm>
            <a:off x="502920" y="1371600"/>
            <a:ext cx="5486400" cy="4160520"/>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6" name="Rectangle 7"/>
          <p:cNvSpPr/>
          <p:nvPr/>
        </p:nvSpPr>
        <p:spPr>
          <a:xfrm>
            <a:off x="502920" y="1371600"/>
            <a:ext cx="73152" cy="416052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7" name="TextBox 8"/>
          <p:cNvSpPr txBox="1"/>
          <p:nvPr/>
        </p:nvSpPr>
        <p:spPr>
          <a:xfrm>
            <a:off x="667512" y="1508760"/>
            <a:ext cx="5166360" cy="228600"/>
          </a:xfrm>
          <a:prstGeom prst="rect">
            <a:avLst/>
          </a:prstGeom>
          <a:noFill/>
        </p:spPr>
        <p:txBody>
          <a:bodyPr wrap="square" lIns="0" tIns="0" rIns="0" bIns="0" anchor="t">
            <a:spAutoFit/>
          </a:bodyPr>
          <a:lstStyle/>
          <a:p>
            <a:pPr algn="l"/>
            <a:r>
              <a:rPr sz="1400" b="1">
                <a:solidFill>
                  <a:srgbClr val="01708C"/>
                </a:solidFill>
                <a:latin typeface="Arial"/>
              </a:rPr>
              <a:t>ORDERED PAIR = (x, y)</a:t>
            </a:r>
          </a:p>
        </p:txBody>
      </p:sp>
      <p:sp xmlns:a="http://schemas.openxmlformats.org/drawingml/2006/main">
        <p:nvSpPr>
          <p:cNvPr id="8" name="TextBox 9"/>
          <p:cNvSpPr txBox="1"/>
          <p:nvPr/>
        </p:nvSpPr>
        <p:spPr>
          <a:xfrm>
            <a:off x="667512" y="1810512"/>
            <a:ext cx="5166360" cy="3630168"/>
          </a:xfrm>
          <a:prstGeom prst="rect">
            <a:avLst/>
          </a:prstGeom>
          <a:noFill/>
        </p:spPr>
        <p:txBody>
          <a:bodyPr wrap="square" lIns="0" tIns="0" rIns="0" bIns="0" anchor="t">
            <a:spAutoFit/>
          </a:bodyPr>
          <a:lstStyle/>
          <a:p>
            <a:pPr algn="l"/>
            <a:r>
              <a:rPr sz="2300" b="0">
                <a:solidFill>
                  <a:srgbClr val="23282D"/>
                </a:solidFill>
                <a:latin typeface="Arial"/>
              </a:rPr>
              <a:t xml:space="preserve">Read the </a:t>
            </a:r>
            <a:r>
              <a:rPr sz="2300" b="1">
                <a:solidFill>
                  <a:srgbClr val="23282D"/>
                </a:solidFill>
                <a:latin typeface="Arial"/>
              </a:rPr>
              <a:t xml:space="preserve">axis labels</a:t>
            </a:r>
            <a:r>
              <a:rPr sz="2300" b="0">
                <a:solidFill>
                  <a:srgbClr val="23282D"/>
                </a:solidFill>
                <a:latin typeface="Arial"/>
              </a:rPr>
              <a:t xml:space="preserve"> first.</a:t>
            </a:r>
          </a:p>
          <a:p>
            <a:pPr algn="l"/>
            <a:r>
              <a:rPr sz="2300" b="0">
                <a:solidFill>
                  <a:srgbClr val="23282D"/>
                </a:solidFill>
                <a:latin typeface="Arial"/>
              </a:rPr>
              <a:t>x tells how far across.</a:t>
            </a:r>
          </a:p>
          <a:p>
            <a:pPr algn="l"/>
            <a:r>
              <a:rPr sz="2300" b="0">
                <a:solidFill>
                  <a:srgbClr val="23282D"/>
                </a:solidFill>
                <a:latin typeface="Arial"/>
              </a:rPr>
              <a:t>y tells how far up.</a:t>
            </a:r>
          </a:p>
          <a:p>
            <a:pPr algn="l"/>
            <a:r>
              <a:rPr sz="2300" b="0">
                <a:solidFill>
                  <a:srgbClr val="23282D"/>
                </a:solidFill>
                <a:latin typeface="Arial"/>
              </a:rPr>
              <a:t/>
            </a:r>
          </a:p>
          <a:p>
            <a:pPr algn="l"/>
            <a:r>
              <a:rPr sz="2300" b="0">
                <a:solidFill>
                  <a:srgbClr val="23282D"/>
                </a:solidFill>
                <a:latin typeface="Arial"/>
              </a:rPr>
              <a:t>(2, 12) means 2 bags hold 12 balls.</a:t>
            </a:r>
          </a:p>
        </p:txBody>
      </p:sp>
      <p:sp xmlns:a="http://schemas.openxmlformats.org/drawingml/2006/main">
        <p:nvSpPr>
          <p:cNvPr id="9" name="Rounded Rectangle 10"/>
          <p:cNvSpPr/>
          <p:nvPr/>
        </p:nvSpPr>
        <p:spPr>
          <a:xfrm>
            <a:off x="6245352" y="1371600"/>
            <a:ext cx="5394960" cy="4160520"/>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1"/>
          <p:cNvSpPr/>
          <p:nvPr/>
        </p:nvSpPr>
        <p:spPr>
          <a:xfrm>
            <a:off x="6245352" y="1371600"/>
            <a:ext cx="73152" cy="4160520"/>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2"/>
          <p:cNvSpPr txBox="1"/>
          <p:nvPr/>
        </p:nvSpPr>
        <p:spPr>
          <a:xfrm>
            <a:off x="6409944" y="1508760"/>
            <a:ext cx="5074920" cy="228600"/>
          </a:xfrm>
          <a:prstGeom prst="rect">
            <a:avLst/>
          </a:prstGeom>
          <a:noFill/>
        </p:spPr>
        <p:txBody>
          <a:bodyPr wrap="square" lIns="0" tIns="0" rIns="0" bIns="0" anchor="t">
            <a:spAutoFit/>
          </a:bodyPr>
          <a:lstStyle/>
          <a:p>
            <a:pPr algn="l"/>
            <a:r>
              <a:rPr sz="1400" b="1">
                <a:solidFill>
                  <a:srgbClr val="C8430E"/>
                </a:solidFill>
                <a:latin typeface="Arial"/>
              </a:rPr>
              <a:t>CHECK THE SCALE</a:t>
            </a:r>
          </a:p>
        </p:txBody>
      </p:sp>
      <p:sp xmlns:a="http://schemas.openxmlformats.org/drawingml/2006/main">
        <p:nvSpPr>
          <p:cNvPr id="12" name="TextBox 13"/>
          <p:cNvSpPr txBox="1"/>
          <p:nvPr/>
        </p:nvSpPr>
        <p:spPr>
          <a:xfrm>
            <a:off x="6409944" y="1810512"/>
            <a:ext cx="5074920" cy="3630168"/>
          </a:xfrm>
          <a:prstGeom prst="rect">
            <a:avLst/>
          </a:prstGeom>
          <a:noFill/>
        </p:spPr>
        <p:txBody>
          <a:bodyPr wrap="square" lIns="0" tIns="0" rIns="0" bIns="0" anchor="t">
            <a:spAutoFit/>
          </a:bodyPr>
          <a:lstStyle/>
          <a:p>
            <a:pPr algn="l"/>
            <a:r>
              <a:rPr sz="2300" b="0">
                <a:solidFill>
                  <a:srgbClr val="23282D"/>
                </a:solidFill>
                <a:latin typeface="Arial"/>
              </a:rPr>
              <a:t>Each bag holds 6 balls.</a:t>
            </a:r>
          </a:p>
          <a:p>
            <a:pPr algn="l"/>
            <a:r>
              <a:rPr sz="2300" b="0">
                <a:solidFill>
                  <a:srgbClr val="23282D"/>
                </a:solidFill>
                <a:latin typeface="Arial"/>
              </a:rPr>
              <a:t>Move 1 bag right → 6 balls up.</a:t>
            </a:r>
          </a:p>
          <a:p>
            <a:pPr algn="l"/>
            <a:r>
              <a:rPr sz="2300" b="0">
                <a:solidFill>
                  <a:srgbClr val="23282D"/>
                </a:solidFill>
                <a:latin typeface="Arial"/>
              </a:rPr>
              <a:t/>
            </a:r>
          </a:p>
          <a:p>
            <a:pPr algn="l"/>
            <a:r>
              <a:rPr sz="2300" b="0">
                <a:solidFill>
                  <a:srgbClr val="23282D"/>
                </a:solidFill>
                <a:latin typeface="Arial"/>
              </a:rPr>
              <a:t>Explain: “The point (__, __) means __ bags hold __ balls.”</a:t>
            </a:r>
          </a:p>
        </p:txBody>
      </p:sp>
      <p:sp xmlns:a="http://schemas.openxmlformats.org/drawingml/2006/main">
        <p:nvSpPr>
          <p:cNvPr id="13" name="Rounded Rectangle 17"/>
          <p:cNvSpPr/>
          <p:nvPr/>
        </p:nvSpPr>
        <p:spPr>
          <a:xfrm>
            <a:off x="594360" y="5669280"/>
            <a:ext cx="10972800" cy="5029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4" name="Rectangle 18"/>
          <p:cNvSpPr/>
          <p:nvPr/>
        </p:nvSpPr>
        <p:spPr>
          <a:xfrm>
            <a:off x="594360" y="5669280"/>
            <a:ext cx="73152" cy="5029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TextBox 19"/>
          <p:cNvSpPr txBox="1"/>
          <p:nvPr/>
        </p:nvSpPr>
        <p:spPr>
          <a:xfrm>
            <a:off x="758952" y="5806440"/>
            <a:ext cx="10652760" cy="228600"/>
          </a:xfrm>
          <a:prstGeom prst="rect">
            <a:avLst/>
          </a:prstGeom>
          <a:noFill/>
        </p:spPr>
        <p:txBody>
          <a:bodyPr wrap="square" lIns="0" tIns="0" rIns="0" bIns="0" anchor="t">
            <a:spAutoFit/>
          </a:bodyPr>
          <a:lstStyle/>
          <a:p>
            <a:pPr algn="l"/>
            <a:r>
              <a:rPr sz="1400" b="1">
                <a:solidFill>
                  <a:srgbClr val="782DA0"/>
                </a:solidFill>
                <a:latin typeface="Arial"/>
              </a:rPr>
              <a:t/>
            </a:r>
          </a:p>
        </p:txBody>
      </p:sp>
      <p:sp xmlns:a="http://schemas.openxmlformats.org/drawingml/2006/main">
        <p:nvSpPr>
          <p:cNvPr id="16" name="TextBox 20"/>
          <p:cNvSpPr txBox="1"/>
          <p:nvPr/>
        </p:nvSpPr>
        <p:spPr>
          <a:xfrm>
            <a:off x="758952" y="5742432"/>
            <a:ext cx="10515600" cy="274320"/>
          </a:xfrm>
          <a:prstGeom prst="rect">
            <a:avLst/>
          </a:prstGeom>
          <a:noFill/>
        </p:spPr>
        <p:txBody>
          <a:bodyPr wrap="square" lIns="0" tIns="0" rIns="0" bIns="0" anchor="t">
            <a:spAutoFit/>
          </a:bodyPr>
          <a:lstStyle/>
          <a:p>
            <a:pPr algn="l"/>
            <a:r>
              <a:rPr sz="1700" b="0">
                <a:solidFill>
                  <a:srgbClr val="23282D"/>
                </a:solidFill>
                <a:latin typeface="Arial"/>
              </a:rPr>
              <a:t>Read x first, then y. Name BOTH quantities.</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24 / 41</ns3:t>
            </ns3:r>
          </ns3:p>
        </p:txBody>
      </p:sp>
    </p:spTree>
    <p:extLst>
      <p:ext uri="{BB962C8B-B14F-4D97-AF65-F5344CB8AC3E}">
        <p14:creationId xmlns:p14="http://schemas.microsoft.com/office/powerpoint/2010/main" val="1000139686"/>
      </p:ext>
    </p:extLst>
  </p:cSld>
</p:sld>
</file>

<file path=ppt/slides/slide25.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700" b="0">
                <a:solidFill>
                  <a:srgbClr val="5D6872"/>
                </a:solidFill>
                <a:latin typeface="Arial"/>
              </a:rPr>
              <a:t>Lesson 3-4 · Equivalent Ratios Using Graphs | Maryland Standard 6.AT.3a</a:t>
            </a:r>
          </a:p>
        </p:txBody>
      </p:sp>
      <p:sp>
        <p:nvSpPr>
          <p:cNvPr id="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LEARNING TARGET</a:t>
            </a:r>
            <a:r>
              <a:rPr lang="en-US" sz="1150" b="1" dirty="0">
                <a:solidFill>
                  <a:srgbClr val="2D3A40"/>
                </a:solidFill>
                <a:latin typeface="Arial"/>
              </a:rPr>
              <a:t xml:space="preserve">  ·  PLOT • READ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2000" b="0">
                <a:solidFill>
                  <a:srgbClr val="5D6872"/>
                </a:solidFill>
                <a:latin typeface="Arial"/>
              </a:rPr>
              <a:t>Today I will read a graph and explain how a new point keeps the same ratio.</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2200" b="1">
                <a:solidFill>
                  <a:srgbClr val="23282D"/>
                </a:solidFill>
                <a:latin typeface="Arial"/>
              </a:rPr>
              <a:t>I can read a graph to find another equivalent ratio.</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2200" b="1">
                <a:solidFill>
                  <a:srgbClr val="23282D"/>
                </a:solidFill>
                <a:latin typeface="Arial"/>
              </a:rPr>
              <a:t>I can describe how a point on the graph represents an equivalent ratio.</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2000" b="0">
                <a:solidFill>
                  <a:srgbClr val="23282D"/>
                </a:solidFill>
                <a:latin typeface="Arial"/>
              </a:rPr>
              <a:t>✓ Read x first, then the matching y.</a:t>
            </a:r>
          </a:p>
          <a:p>
            <a:pPr algn="l"/>
            <a:r>
              <a:rPr sz="2000" b="0">
                <a:solidFill>
                  <a:srgbClr val="23282D"/>
                </a:solidFill>
                <a:latin typeface="Arial"/>
              </a:rPr>
              <a:t>✓ Check the point follows the ratio.</a:t>
            </a:r>
          </a:p>
          <a:p>
            <a:pPr algn="l"/>
            <a:r>
              <a:rPr sz="2000" b="0">
                <a:solidFill>
                  <a:srgbClr val="23282D"/>
                </a:solidFill>
                <a:latin typeface="Arial"/>
              </a:rPr>
              <a:t>✓ Explain both values in context.</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2100" b="0">
                <a:latin typeface="Arial"/>
              </a:rPr>
              <a:t>A graph helps us see a ratio pattern and predict other amounts.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41</a:t>
            </a:r>
          </a:p>
        </p:txBody>
      </p:sp>
    </p:spTree>
    <p:extLst>
      <p:ext uri="{BB962C8B-B14F-4D97-AF65-F5344CB8AC3E}">
        <p14:creationId xmlns:p14="http://schemas.microsoft.com/office/powerpoint/2010/main" val="1499355627"/>
      </p:ext>
    </p:extLst>
  </p:cSld>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7" name="Google Shape;877;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8" name="Google Shape;878;p91"/>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79" name="Google Shape;879;p91"/>
          <p:cNvSpPr txBox="1"/>
          <p:nvPr/>
        </p:nvSpPr>
        <p:spPr>
          <a:xfrm>
            <a:off x="484560" y="936100"/>
            <a:ext cx="770576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e7a05ed8586a43be9f9454ac25c9ba8d\narm24_c10304_eps_001a.png" id="880" name="Google Shape;880;p91"/>
          <p:cNvPicPr preferRelativeResize="0"/>
          <p:nvPr/>
        </p:nvPicPr>
        <p:blipFill rotWithShape="1">
          <a:blip r:embed="rId2">
            <a:alphaModFix/>
          </a:blip>
          <a:srcRect b="0" l="0" r="0" t="0"/>
          <a:stretch/>
        </p:blipFill>
        <p:spPr>
          <a:xfrm>
            <a:off x="4622067" y="1211716"/>
            <a:ext cx="3152775" cy="3219451"/>
          </a:xfrm>
          <a:prstGeom prst="rect">
            <a:avLst/>
          </a:prstGeom>
          <a:noFill/>
          <a:ln>
            <a:noFill/>
          </a:ln>
        </p:spPr>
      </p:pic>
      <p:pic>
        <p:nvPicPr>
          <p:cNvPr id="881" name="Google Shape;881;p91"/>
          <p:cNvPicPr preferRelativeResize="0"/>
          <p:nvPr/>
        </p:nvPicPr>
        <p:blipFill rotWithShape="1">
          <a:blip r:embed="rId3">
            <a:alphaModFix/>
          </a:blip>
          <a:srcRect b="0" l="0" r="0" t="0"/>
          <a:stretch/>
        </p:blipFill>
        <p:spPr>
          <a:xfrm>
            <a:off x="484560" y="5144515"/>
            <a:ext cx="5054600" cy="838200"/>
          </a:xfrm>
          <a:prstGeom prst="rect">
            <a:avLst/>
          </a:prstGeom>
          <a:noFill/>
          <a:ln>
            <a:noFill/>
          </a:ln>
        </p:spPr>
      </p:pic>
      <p:sp>
        <p:nvSpPr>
          <p:cNvPr id="882" name="Google Shape;882;p91"/>
          <p:cNvSpPr txBox="1"/>
          <p:nvPr/>
        </p:nvSpPr>
        <p:spPr>
          <a:xfrm>
            <a:off x="3344577" y="5301833"/>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83" name="Google Shape;883;p91"/>
          <p:cNvSpPr/>
          <p:nvPr/>
        </p:nvSpPr>
        <p:spPr>
          <a:xfrm>
            <a:off x="697756" y="5959838"/>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is working as a team helping you achieve your math goals?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5047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cxnSp>
        <p:nvCxnSpPr>
          <p:cNvPr id="573" name="Google Shape;573;p80"/>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574" name="Google Shape;574;p80"/>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lang="en-US" sz="2800">
                <a:latin typeface="Arial"/>
                <a:ea typeface="Arial"/>
                <a:cs typeface="Arial"/>
                <a:sym typeface="Arial"/>
                <a:solidFill>
                  <a:srgbClr val="782DA0"/>
                </a:solidFill>
              </a:rPr>
              <a:t>Lucy’s Bracelets</a:t>
            </a:r>
            <a:endParaRPr/>
          </a:p>
        </p:txBody>
      </p:sp>
      <p:sp>
        <p:nvSpPr>
          <p:cNvPr id="575" name="Google Shape;575;p80"/>
          <p:cNvSpPr txBox="1"/>
          <p:nvPr/>
        </p:nvSpPr>
        <p:spPr>
          <a:xfrm>
            <a:off x="484565" y="936100"/>
            <a:ext cx="7198935" cy="50968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Lucy is making charm bracelets for her friends. She uses 25 orange beads and 5 blue charms for one kind of bracelet and the beads and charms shown for another kind.</a:t>
            </a:r>
            <a:endParaRPr/>
          </a:p>
          <a:p>
            <a:pPr indent="0" lvl="0" marL="0" marR="0" rtl="0" algn="l">
              <a:lnSpc>
                <a:spcPct val="100000"/>
              </a:lnSpc>
              <a:spcBef>
                <a:spcPts val="1800"/>
              </a:spcBef>
              <a:spcAft>
                <a:spcPts val="0"/>
              </a:spcAft>
              <a:buClr>
                <a:srgbClr val="262626"/>
              </a:buClr>
              <a:buSzPts val="2800"/>
              <a:buFont typeface="Arial"/>
              <a:buNone/>
            </a:pPr>
            <a:r>
              <a:rPr b="1" lang="en-US" sz="2800">
                <a:solidFill>
                  <a:srgbClr val="23282D"/>
                </a:solidFill>
                <a:latin typeface="Arial"/>
                <a:ea typeface="Arial"/>
                <a:cs typeface="Arial"/>
                <a:sym typeface="Arial"/>
              </a:rPr>
              <a:t>If Lucy always uses the same ratio of charms to beads, how many beads does she use for each charm?</a:t>
            </a:r>
            <a:r>
              <a:rPr lang="en-US" sz="2800">
                <a:solidFill>
                  <a:srgbClr val="23282D"/>
                </a:solidFill>
                <a:latin typeface="Arial"/>
                <a:ea typeface="Arial"/>
                <a:cs typeface="Arial"/>
                <a:sym typeface="Arial"/>
              </a:rPr>
              <a:t xml:space="preserve"> </a:t>
            </a:r>
            <a:endParaRPr/>
          </a:p>
        </p:txBody>
      </p:sp>
      <p:pic>
        <p:nvPicPr>
          <p:cNvPr descr="C:\Users\e402540\Downloads\kanchana\ePress PPT creation\sn_47fe6-1080mp4\OPS\img\.assets\a7625cc287be4341b0d3d8071ea57396\narm24_c10304_se_013a-dig.png" id="576" name="Google Shape;576;p80"/>
          <p:cNvPicPr preferRelativeResize="0"/>
          <p:nvPr/>
        </p:nvPicPr>
        <p:blipFill rotWithShape="1">
          <a:blip r:embed="rId3">
            <a:alphaModFix/>
          </a:blip>
          <a:srcRect b="0" l="0" r="0" t="0"/>
          <a:stretch/>
        </p:blipFill>
        <p:spPr>
          <a:xfrm>
            <a:off x="8226912" y="1556238"/>
            <a:ext cx="3404256" cy="3687002"/>
          </a:xfrm>
          <a:prstGeom prst="rect">
            <a:avLst/>
          </a:prstGeom>
          <a:noFill/>
          <a:ln>
            <a:noFill/>
          </a:ln>
        </p:spPr>
      </p:pic>
      <p:sp>
        <p:nvSpPr>
          <p:cNvPr id="577"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41</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cxnSp>
        <p:nvCxnSpPr>
          <p:cNvPr id="621" name="Google Shape;621;p86"/>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622" name="Google Shape;622;p86"/>
          <p:cNvSpPr txBox="1"/>
          <p:nvPr/>
        </p:nvSpPr>
        <p:spPr>
          <a:xfrm>
            <a:off x="484565" y="423915"/>
            <a:ext cx="6366435" cy="19828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lang="en-US" sz="2800">
                <a:solidFill>
                  <a:srgbClr val="23282D"/>
                </a:solidFill>
                <a:latin typeface="Arial"/>
                <a:ea typeface="Arial"/>
                <a:cs typeface="Arial"/>
                <a:sym typeface="Arial"/>
              </a:rPr>
              <a:t xml:space="preserve">The ratios of charms to beads for the bracelets are </a:t>
            </a:r>
            <a:r>
              <a:rPr lang="en-US" sz="2800">
                <a:solidFill>
                  <a:srgbClr val="23282D"/>
                </a:solidFill>
                <a:latin typeface="Cambria Math"/>
                <a:ea typeface="Cambria Math"/>
                <a:cs typeface="Cambria Math"/>
                <a:sym typeface="Cambria Math"/>
              </a:rPr>
              <a:t>4 : 20</a:t>
            </a:r>
            <a:r>
              <a:rPr lang="en-US" sz="2800">
                <a:solidFill>
                  <a:srgbClr val="23282D"/>
                </a:solidFill>
                <a:latin typeface="Arial"/>
                <a:ea typeface="Arial"/>
                <a:cs typeface="Arial"/>
                <a:sym typeface="Arial"/>
              </a:rPr>
              <a:t xml:space="preserve"> and </a:t>
            </a:r>
            <a:r>
              <a:rPr lang="en-US" sz="2800">
                <a:solidFill>
                  <a:srgbClr val="23282D"/>
                </a:solidFill>
                <a:latin typeface="Cambria Math"/>
                <a:ea typeface="Cambria Math"/>
                <a:cs typeface="Cambria Math"/>
                <a:sym typeface="Cambria Math"/>
              </a:rPr>
              <a:t>5 : 25</a:t>
            </a:r>
            <a:r>
              <a:rPr lang="en-US" sz="2800">
                <a:solidFill>
                  <a:srgbClr val="23282D"/>
                </a:solidFill>
                <a:latin typeface="Arial"/>
                <a:ea typeface="Arial"/>
                <a:cs typeface="Arial"/>
                <a:sym typeface="Arial"/>
              </a:rPr>
              <a:t xml:space="preserve">, so the </a:t>
            </a:r>
            <a:r>
              <a:rPr lang="en-US" sz="2800" b="1">
                <a:solidFill>
                  <a:srgbClr val="23282D"/>
                </a:solidFill>
                <a:highlight>
                  <a:srgbClr val="FFF2A8"/>
                </a:highlight>
                <a:latin typeface="Arial"/>
                <a:ea typeface="Arial"/>
                <a:cs typeface="Arial"/>
                <a:sym typeface="Arial"/>
              </a:rPr>
              <a:t>ordered pairs</a:t>
            </a:r>
            <a:r>
              <a:rPr lang="en-US" sz="2800">
                <a:solidFill>
                  <a:srgbClr val="23282D"/>
                </a:solidFill>
                <a:latin typeface="Arial"/>
                <a:ea typeface="Arial"/>
                <a:cs typeface="Arial"/>
                <a:sym typeface="Arial"/>
              </a:rPr>
              <a:t xml:space="preserve"> for these values are     </a:t>
            </a:r>
            <a:r>
              <a:rPr lang="en-US" sz="2800">
                <a:solidFill>
                  <a:srgbClr val="23282D"/>
                </a:solidFill>
                <a:latin typeface="Cambria Math"/>
                <a:ea typeface="Cambria Math"/>
                <a:cs typeface="Cambria Math"/>
                <a:sym typeface="Cambria Math"/>
              </a:rPr>
              <a:t>(4, 20)</a:t>
            </a:r>
            <a:r>
              <a:rPr lang="en-US" sz="2800">
                <a:solidFill>
                  <a:srgbClr val="23282D"/>
                </a:solidFill>
                <a:latin typeface="Arial"/>
                <a:ea typeface="Arial"/>
                <a:cs typeface="Arial"/>
                <a:sym typeface="Arial"/>
              </a:rPr>
              <a:t xml:space="preserve"> and </a:t>
            </a:r>
            <a:r>
              <a:rPr lang="en-US" sz="2800">
                <a:solidFill>
                  <a:srgbClr val="23282D"/>
                </a:solidFill>
                <a:latin typeface="Cambria Math"/>
                <a:ea typeface="Cambria Math"/>
                <a:cs typeface="Cambria Math"/>
                <a:sym typeface="Cambria Math"/>
              </a:rPr>
              <a:t>(5, 25)</a:t>
            </a:r>
            <a:r>
              <a:rPr lang="en-US" sz="2800">
                <a:solidFill>
                  <a:srgbClr val="23282D"/>
                </a:solidFill>
                <a:latin typeface="Arial"/>
                <a:ea typeface="Arial"/>
                <a:cs typeface="Arial"/>
                <a:sym typeface="Arial"/>
              </a:rPr>
              <a:t>.</a:t>
            </a:r>
            <a:endParaRPr/>
          </a:p>
          <a:p>
            <a:pPr indent="0" lvl="0" marL="0" marR="0" rtl="0" algn="l">
              <a:lnSpc>
                <a:spcPct val="100000"/>
              </a:lnSpc>
              <a:spcBef>
                <a:spcPts val="1800"/>
              </a:spcBef>
              <a:spcAft>
                <a:spcPts val="0"/>
              </a:spcAft>
              <a:buClr>
                <a:schemeClr val="dk2"/>
              </a:buClr>
              <a:buSzPts val="2800"/>
              <a:buFont typeface="Arial"/>
              <a:buNone/>
            </a:pPr>
            <a:r>
              <a:t/>
            </a:r>
            <a:endParaRPr sz="2800">
              <a:solidFill>
                <a:srgbClr val="262626"/>
              </a:solidFill>
              <a:latin typeface="Arial"/>
              <a:ea typeface="Arial"/>
              <a:cs typeface="Arial"/>
              <a:sym typeface="Arial"/>
            </a:endParaRPr>
          </a:p>
        </p:txBody>
      </p:sp>
      <p:pic>
        <p:nvPicPr>
          <p:cNvPr descr="C:\Users\e402540\Downloads\kanchana\ePress PPT creation\sn_47fe6-1080mp4\OPS\img\.assets\b71b55367d7c443ba2d1746d5e8d0b1d\narm24_c10304_se_007a-dig-a.png" id="623" name="Google Shape;623;p86"/>
          <p:cNvPicPr preferRelativeResize="0"/>
          <p:nvPr/>
        </p:nvPicPr>
        <p:blipFill rotWithShape="1">
          <a:blip r:embed="rId3">
            <a:alphaModFix/>
          </a:blip>
          <a:srcRect b="0" l="0" r="0" t="0"/>
          <a:stretch/>
        </p:blipFill>
        <p:spPr>
          <a:xfrm>
            <a:off x="6967728" y="1325880"/>
            <a:ext cx="5047488" cy="3621024"/>
          </a:xfrm>
          <a:prstGeom prst="rect">
            <a:avLst/>
          </a:prstGeom>
          <a:noFill/>
          <a:ln>
            <a:noFill/>
          </a:ln>
        </p:spPr>
      </p:pic>
      <p:sp>
        <p:nvSpPr>
          <p:cNvPr id="624" name="Google Shape;624;p86"/>
          <p:cNvSpPr txBox="1"/>
          <p:nvPr/>
        </p:nvSpPr>
        <p:spPr>
          <a:xfrm>
            <a:off x="484565" y="4876799"/>
            <a:ext cx="5072857" cy="15240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lang="en-US" sz="2800">
                <a:solidFill>
                  <a:schemeClr val="lt1"/>
                </a:solidFill>
                <a:highlight>
                  <a:srgbClr val="1E2682"/>
                </a:highlight>
                <a:latin typeface="Arial"/>
                <a:ea typeface="Arial"/>
                <a:cs typeface="Arial"/>
                <a:sym typeface="Arial"/>
              </a:rPr>
              <a:t xml:space="preserve"> Talk About It</a:t>
            </a:r>
            <a:r>
              <a:rPr b="1" lang="en-US" sz="2800">
                <a:solidFill>
                  <a:srgbClr val="1E2682"/>
                </a:solidFill>
                <a:highlight>
                  <a:srgbClr val="1E2682"/>
                </a:highlight>
                <a:latin typeface="Arial"/>
                <a:ea typeface="Arial"/>
                <a:cs typeface="Arial"/>
                <a:sym typeface="Arial"/>
              </a:rPr>
              <a:t>:</a:t>
            </a:r>
            <a:r>
              <a:rPr b="1" lang="en-US" sz="2800">
                <a:solidFill>
                  <a:schemeClr val="lt1"/>
                </a:solidFill>
                <a:highlight>
                  <a:srgbClr val="1E2682"/>
                </a:highlight>
                <a:latin typeface="Arial"/>
                <a:ea typeface="Arial"/>
                <a:cs typeface="Arial"/>
                <a:sym typeface="Arial"/>
              </a:rPr>
              <a:t xml:space="preserve"> </a:t>
            </a:r>
            <a:endParaRPr/>
          </a:p>
          <a:p>
            <a:pPr indent="0" lvl="0" marL="0" marR="0" rtl="0" algn="l">
              <a:lnSpc>
                <a:spcPct val="100000"/>
              </a:lnSpc>
              <a:spcBef>
                <a:spcPts val="1200"/>
              </a:spcBef>
              <a:spcAft>
                <a:spcPts val="0"/>
              </a:spcAft>
              <a:buClr>
                <a:srgbClr val="595959"/>
              </a:buClr>
              <a:buSzPts val="2800"/>
              <a:buFont typeface="Arial"/>
              <a:buNone/>
            </a:pPr>
            <a:r>
              <a:rPr lang="en-US" sz="2800">
                <a:solidFill>
                  <a:srgbClr val="595959"/>
                </a:solidFill>
                <a:latin typeface="Arial"/>
                <a:ea typeface="Arial"/>
                <a:cs typeface="Arial"/>
                <a:sym typeface="Arial"/>
              </a:rPr>
              <a:t>How do graphs help you interpret data?</a:t>
            </a:r>
            <a:endParaRPr/>
          </a:p>
        </p:txBody>
      </p:sp>
      <p:sp>
        <p:nvSpPr>
          <p:cNvPr id="62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6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41</a:t>
            </a:r>
          </a:p>
        </p:txBody>
      </p:sp>
      <p:sp xmlns:p="http://schemas.openxmlformats.org/presentationml/2006/main" xmlns:a="http://schemas.openxmlformats.org/drawingml/2006/main">
        <p:nvSpPr>
          <p:cNvPr id="627"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Read the labels and scale. Use a</a:t>
            </a:r>
            <a:endParaRPr lang="en-US" sz="2000"/>
          </a:p>
          <a:p>
            <a:pPr>
              <a:lnSpc>
                <a:spcPts val="2400"/>
              </a:lnSpc>
              <a:buNone/>
            </a:pPr>
            <a:r>
              <a:rPr lang="en-US" sz="2000">
                <a:solidFill>
                  <a:srgbClr val="174D60"/>
                </a:solidFill>
                <a:latin typeface="Arial"/>
              </a:rPr>
              <a:t>point or feature to justify your answer.</a:t>
            </a:r>
            <a:endParaRPr lang="en-US" sz="2000"/>
          </a:p>
        </p:txBody>
      </p:sp>
    </p:spTree>
  </p:cSld>
  <p:clrMapOvr>
    <a:masterClrMapping/>
  </p:clrMapOvr>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D5C9A7-B18D-4B17-B6B9-91BF263AB009}"/>
              </a:ext>
            </a:extLst>
          </p:cNvPr>
          <p:cNvSpPr>
            <a:spLocks xmlns:a="http://schemas.openxmlformats.org/drawingml/2006/main" noGrp="1"/>
          </p:cNvSpPr>
          <p:nvPr/>
        </p:nvSpPr>
        <p:spPr>
          <a:xfrm xmlns:a="http://schemas.openxmlformats.org/drawingml/2006/main">
            <a:off x="523875" y="400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782DA0"/>
                </a:solidFill>
                <a:latin typeface="Arial"/>
                <a:ea typeface="Arial"/>
                <a:cs typeface="Arial"/>
              </a:defRPr>
            </a:pPr>
            <a:r>
              <a:rPr sz="2775" b="1">
                <a:latin typeface="Arial"/>
                <a:ea typeface="Arial"/>
                <a:cs typeface="Arial"/>
                <a:solidFill>
                  <a:srgbClr val="782DA0"/>
                </a:solidFill>
              </a:rPr>
              <a:t>Reading an equivalent ratio on a graph</a:t>
            </a:r>
          </a:p>
        </p:txBody>
      </p:sp>
      <p:sp>
        <p:nvSpPr>
          <p:cNvPr id="2" name="">
            <a:extLst xmlns:a="http://schemas.openxmlformats.org/drawingml/2006/main">
              <a:ext uri="{FF2B5EF4-FFF2-40B4-BE49-F238E27FC236}">
                <a16:creationId xmlns:a16="http://schemas.microsoft.com/office/drawing/2014/main" id="{D9FA2F9B-74AF-494C-B6DD-B4F068136C0B}"/>
              </a:ext>
            </a:extLst>
          </p:cNvPr>
          <p:cNvSpPr>
            <a:spLocks xmlns:a="http://schemas.openxmlformats.org/drawingml/2006/main" noGrp="1"/>
          </p:cNvSpPr>
          <p:nvPr/>
        </p:nvSpPr>
        <p:spPr>
          <a:xfrm xmlns:a="http://schemas.openxmlformats.org/drawingml/2006/main">
            <a:off x="552450" y="16192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1">
                <a:solidFill>
                  <a:srgbClr val="23282D"/>
                </a:solidFill>
                <a:highlight>
                  <a:srgbClr val="FFF2A8"/>
                </a:highlight>
                <a:latin typeface="Arial"/>
                <a:ea typeface="Arial"/>
                <a:cs typeface="Arial"/>
              </a:rPr>
              <a:t>Equivalent ratios</a:t>
            </a:r>
            <a:r>
              <a:rPr sz="2250" b="0">
                <a:solidFill>
                  <a:srgbClr val="23282D"/>
                </a:solidFill>
                <a:latin typeface="Arial"/>
                <a:ea typeface="Arial"/>
                <a:cs typeface="Arial"/>
              </a:rPr>
              <a:t xml:space="preserve"> lie on one straight line through the </a:t>
            </a:r>
            <a:r>
              <a:rPr sz="2250" b="1">
                <a:solidFill>
                  <a:srgbClr val="23282D"/>
                </a:solidFill>
                <a:highlight>
                  <a:srgbClr val="FFF2A8"/>
                </a:highlight>
                <a:latin typeface="Arial"/>
                <a:ea typeface="Arial"/>
                <a:cs typeface="Arial"/>
              </a:rPr>
              <a:t>origin</a:t>
            </a:r>
            <a:r>
              <a:rPr sz="2250" b="0">
                <a:solidFill>
                  <a:srgbClr val="23282D"/>
                </a:solidFill>
                <a:latin typeface="Arial"/>
                <a:ea typeface="Arial"/>
                <a:cs typeface="Arial"/>
              </a:rPr>
              <a:t>, (0, 0).</a:t>
            </a:r>
          </a:p>
        </p:txBody>
      </p:sp>
      <p:sp>
        <p:nvSpPr>
          <p:cNvPr id="3" name="">
            <a:extLst xmlns:a="http://schemas.openxmlformats.org/drawingml/2006/main">
              <a:ext uri="{FF2B5EF4-FFF2-40B4-BE49-F238E27FC236}">
                <a16:creationId xmlns:a16="http://schemas.microsoft.com/office/drawing/2014/main" id="{64AC0515-812E-408D-B0FF-73F1D27F8716}"/>
              </a:ext>
            </a:extLst>
          </p:cNvPr>
          <p:cNvSpPr>
            <a:spLocks xmlns:a="http://schemas.openxmlformats.org/drawingml/2006/main" noGrp="1"/>
          </p:cNvSpPr>
          <p:nvPr/>
        </p:nvSpPr>
        <p:spPr>
          <a:xfrm xmlns:a="http://schemas.openxmlformats.org/drawingml/2006/main">
            <a:off x="552450" y="28194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 xml:space="preserve">To find beads for 1 charm, locate 1 on the </a:t>
            </a:r>
            <a:r>
              <a:rPr sz="2250" b="1">
                <a:solidFill>
                  <a:srgbClr val="23282D"/>
                </a:solidFill>
                <a:highlight>
                  <a:srgbClr val="FFF2A8"/>
                </a:highlight>
                <a:latin typeface="Arial"/>
                <a:ea typeface="Arial"/>
                <a:cs typeface="Arial"/>
              </a:rPr>
              <a:t>x-axis</a:t>
            </a:r>
            <a:r>
              <a:rPr sz="2250" b="0">
                <a:solidFill>
                  <a:srgbClr val="23282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699E20C9-4B01-4616-8050-583010F57FEA}"/>
              </a:ext>
            </a:extLst>
          </p:cNvPr>
          <p:cNvSpPr>
            <a:spLocks xmlns:a="http://schemas.openxmlformats.org/drawingml/2006/main" noGrp="1"/>
          </p:cNvSpPr>
          <p:nvPr/>
        </p:nvSpPr>
        <p:spPr>
          <a:xfrm xmlns:a="http://schemas.openxmlformats.org/drawingml/2006/main">
            <a:off x="552450" y="401955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3282D"/>
                </a:solidFill>
                <a:latin typeface="Arial"/>
                <a:ea typeface="Arial"/>
                <a:cs typeface="Arial"/>
              </a:defRPr>
            </a:pPr>
            <a:r>
              <a:rPr sz="2250" b="0">
                <a:solidFill>
                  <a:srgbClr val="23282D"/>
                </a:solidFill>
                <a:latin typeface="Arial"/>
                <a:ea typeface="Arial"/>
                <a:cs typeface="Arial"/>
              </a:rPr>
              <a:t>Move up to the ratio line. Read the matching y-value: 5 beads.</a:t>
            </a:r>
          </a:p>
        </p:txBody>
      </p:sp>
      <p:graphicFrame>
        <p:nvGraphicFramePr>
          <p:cNvPr id="11" name=""/>
          <p:cNvGraphicFramePr/>
          <p:nvPr/>
        </p:nvGraphicFramePr>
        <p:xfrm>
          <a:off xmlns:a="http://schemas.openxmlformats.org/drawingml/2006/main" x="6210300" y="1809750"/>
          <a:ext xmlns:a="http://schemas.openxmlformats.org/drawingml/2006/main" cx="5410200" cy="2514600"/>
        </p:xfrm>
        <a:graphic xmlns:a="http://schemas.openxmlformats.org/drawingml/2006/main">
          <a:graphicData uri="http://schemas.openxmlformats.org/drawingml/2006/table">
            <a:tbl>
              <a:tblPr/>
              <a:tblGrid>
                <a:gridCol w="2705100"/>
                <a:gridCol w="2705100"/>
              </a:tblGrid>
              <a:tr h="628650">
                <a:tc>
                  <a:txBody>
                    <a:bodyPr/>
                    <a:lstStyle/>
                    <a:p>
                      <a:r>
                        <a:rPr sz="1875" b="1">
                          <a:solidFill>
                            <a:srgbClr val="FFFFFF"/>
                          </a:solidFill>
                          <a:latin typeface="Arial"/>
                          <a:ea typeface="Arial"/>
                          <a:cs typeface="Arial"/>
                        </a:rPr>
                        <a:t>Charms (x)</a:t>
                      </a:r>
                    </a:p>
                  </a:txBody>
                  <a:tcPr marL="91440" marR="91440" marT="45720" marB="45720">
                    <a:solidFill>
                      <a:srgbClr val="0070C0"/>
                    </a:solidFill>
                  </a:tcPr>
                </a:tc>
                <a:tc>
                  <a:txBody>
                    <a:bodyPr/>
                    <a:lstStyle/>
                    <a:p>
                      <a:r>
                        <a:rPr sz="1875" b="1">
                          <a:solidFill>
                            <a:srgbClr val="FFFFFF"/>
                          </a:solidFill>
                          <a:latin typeface="Arial"/>
                          <a:ea typeface="Arial"/>
                          <a:cs typeface="Arial"/>
                        </a:rPr>
                        <a:t>Beads (y)</a:t>
                      </a:r>
                    </a:p>
                  </a:txBody>
                  <a:tcPr marL="91440" marR="91440" marT="45720" marB="45720">
                    <a:solidFill>
                      <a:srgbClr val="0070C0"/>
                    </a:solidFill>
                  </a:tcPr>
                </a:tc>
              </a:tr>
              <a:tr h="628650">
                <a:tc>
                  <a:txBody>
                    <a:bodyPr/>
                    <a:lstStyle/>
                    <a:p>
                      <a:r>
                        <a:rPr sz="1875" b="0">
                          <a:solidFill>
                            <a:srgbClr val="23282D"/>
                          </a:solidFill>
                          <a:latin typeface="Arial"/>
                          <a:ea typeface="Arial"/>
                          <a:cs typeface="Arial"/>
                        </a:rPr>
                        <a:t>1</a:t>
                      </a:r>
                    </a:p>
                  </a:txBody>
                  <a:tcPr marL="91440" marR="91440" marT="45720" marB="45720">
                    <a:solidFill>
                      <a:srgbClr val="FFFFFF"/>
                    </a:solidFill>
                  </a:tcPr>
                </a:tc>
                <a:tc>
                  <a:txBody>
                    <a:bodyPr/>
                    <a:lstStyle/>
                    <a:p>
                      <a:r>
                        <a:rPr sz="1875" b="0">
                          <a:solidFill>
                            <a:srgbClr val="23282D"/>
                          </a:solidFill>
                          <a:latin typeface="Arial"/>
                          <a:ea typeface="Arial"/>
                          <a:cs typeface="Arial"/>
                        </a:rPr>
                        <a:t>5</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4</a:t>
                      </a:r>
                    </a:p>
                  </a:txBody>
                  <a:tcPr marL="91440" marR="91440" marT="45720" marB="45720">
                    <a:solidFill>
                      <a:srgbClr val="FFFFFF"/>
                    </a:solidFill>
                  </a:tcPr>
                </a:tc>
                <a:tc>
                  <a:txBody>
                    <a:bodyPr/>
                    <a:lstStyle/>
                    <a:p>
                      <a:r>
                        <a:rPr sz="1875" b="0">
                          <a:solidFill>
                            <a:srgbClr val="23282D"/>
                          </a:solidFill>
                          <a:latin typeface="Arial"/>
                          <a:ea typeface="Arial"/>
                          <a:cs typeface="Arial"/>
                        </a:rPr>
                        <a:t>20</a:t>
                      </a:r>
                    </a:p>
                  </a:txBody>
                  <a:tcPr marL="91440" marR="91440" marT="45720" marB="45720">
                    <a:solidFill>
                      <a:srgbClr val="FFFFFF"/>
                    </a:solidFill>
                  </a:tcPr>
                </a:tc>
              </a:tr>
              <a:tr h="628650">
                <a:tc>
                  <a:txBody>
                    <a:bodyPr/>
                    <a:lstStyle/>
                    <a:p>
                      <a:r>
                        <a:rPr sz="1875" b="0">
                          <a:solidFill>
                            <a:srgbClr val="23282D"/>
                          </a:solidFill>
                          <a:latin typeface="Arial"/>
                          <a:ea typeface="Arial"/>
                          <a:cs typeface="Arial"/>
                        </a:rPr>
                        <a:t>5</a:t>
                      </a:r>
                    </a:p>
                  </a:txBody>
                  <a:tcPr marL="91440" marR="91440" marT="45720" marB="45720">
                    <a:solidFill>
                      <a:srgbClr val="FFFFFF"/>
                    </a:solidFill>
                  </a:tcPr>
                </a:tc>
                <a:tc>
                  <a:txBody>
                    <a:bodyPr/>
                    <a:lstStyle/>
                    <a:p>
                      <a:r>
                        <a:rPr sz="1875" b="0">
                          <a:solidFill>
                            <a:srgbClr val="23282D"/>
                          </a:solidFill>
                          <a:latin typeface="Arial"/>
                          <a:ea typeface="Arial"/>
                          <a:cs typeface="Arial"/>
                        </a:rPr>
                        <a:t>25</a:t>
                      </a:r>
                    </a:p>
                  </a:txBody>
                  <a:tcPr marL="91440" marR="91440" marT="45720" marB="45720">
                    <a:solidFill>
                      <a:srgbClr val="FFFFFF"/>
                    </a:solidFill>
                  </a:tcPr>
                </a:tc>
              </a:tr>
            </a:tbl>
          </a:graphicData>
        </a:graphic>
      </p:graphicFrame>
      <p:sp xmlns:a="http://schemas.openxmlformats.org/drawingml/2006/main">
        <p:nvSpPr>
          <p:cNvPr id="1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NOTICE → MODEL → EXPLAIN</a:t>
            </a:r>
          </a:p>
        </p:txBody>
      </p:sp>
      <p:sp xmlns:a="http://schemas.openxmlformats.org/drawingml/2006/main">
        <p:nvSpPr>
          <p:cNvPr id="14" name="Rounded Rectangle 17"/>
          <p:cNvSpPr/>
          <p:nvPr/>
        </p:nvSpPr>
        <p:spPr>
          <a:xfrm>
            <a:off x="548640" y="5513832"/>
            <a:ext cx="10972800" cy="65836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Rectangle 18"/>
          <p:cNvSpPr/>
          <p:nvPr/>
        </p:nvSpPr>
        <p:spPr>
          <a:xfrm>
            <a:off x="548640" y="5513832"/>
            <a:ext cx="73152" cy="65836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6" name="TextBox 19"/>
          <p:cNvSpPr txBox="1"/>
          <p:nvPr/>
        </p:nvSpPr>
        <p:spPr>
          <a:xfrm>
            <a:off x="713232" y="5577840"/>
            <a:ext cx="10607040" cy="201168"/>
          </a:xfrm>
          <a:prstGeom prst="rect">
            <a:avLst/>
          </a:prstGeom>
          <a:noFill/>
        </p:spPr>
        <p:txBody>
          <a:bodyPr wrap="square" lIns="0" tIns="0" rIns="0" bIns="0" anchor="t">
            <a:spAutoFit/>
          </a:bodyPr>
          <a:lstStyle/>
          <a:p>
            <a:pPr algn="l"/>
            <a:r>
              <a:rPr sz="1100" b="1">
                <a:solidFill>
                  <a:srgbClr val="782DA0"/>
                </a:solidFill>
                <a:latin typeface="Arial"/>
              </a:rPr>
              <a:t>EXPLAIN THE CONNECTION</a:t>
            </a:r>
          </a:p>
        </p:txBody>
      </p:sp>
      <p:sp xmlns:a="http://schemas.openxmlformats.org/drawingml/2006/main">
        <p:nvSpPr>
          <p:cNvPr id="17" name="TextBox 20"/>
          <p:cNvSpPr txBox="1"/>
          <p:nvPr/>
        </p:nvSpPr>
        <p:spPr>
          <a:xfrm>
            <a:off x="713232" y="5815584"/>
            <a:ext cx="10607040" cy="256032"/>
          </a:xfrm>
          <a:prstGeom prst="rect">
            <a:avLst/>
          </a:prstGeom>
          <a:noFill/>
        </p:spPr>
        <p:txBody>
          <a:bodyPr wrap="square" lIns="0" tIns="0" rIns="0" bIns="0" anchor="t">
            <a:spAutoFit/>
          </a:bodyPr>
          <a:lstStyle/>
          <a:p>
            <a:pPr algn="l"/>
            <a:r>
              <a:rPr sz="1700" b="0">
                <a:solidFill>
                  <a:srgbClr val="23282D"/>
                </a:solidFill>
                <a:latin typeface="Arial"/>
              </a:rPr>
              <a:t>“At x = 1 charm, y = 5 beads. For __ charms, the graph shows __ beads.”</a:t>
            </a:r>
          </a:p>
        </p:txBody>
      </p:sp>
      <p:sp>
        <p:nvSpPr>
          <p:cNvPr id="18"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29 / 41</ns3:t>
            </ns3:r>
          </ns3:p>
        </p:txBody>
      </p:sp>
      <p:sp xmlns:p="http://schemas.openxmlformats.org/presentationml/2006/main" xmlns:a="http://schemas.openxmlformats.org/drawingml/2006/main">
        <p:nvSpPr>
          <p:cNvPr id="19"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the labels and scale. Use a point or</a:t>
            </a:r>
            <a:endParaRPr lang="en-US" sz="2000"/>
          </a:p>
          <a:p>
            <a:pPr>
              <a:lnSpc>
                <a:spcPts val="2400"/>
              </a:lnSpc>
              <a:buNone/>
            </a:pPr>
            <a:r>
              <a:rPr lang="en-US" sz="2000">
                <a:solidFill>
                  <a:srgbClr val="174D60"/>
                </a:solidFill>
                <a:latin typeface="Arial"/>
              </a:rPr>
              <a:t>feature to justify your answer.</a:t>
            </a:r>
            <a:endParaRPr lang="en-US" sz="2000"/>
          </a:p>
        </p:txBody>
      </p:sp>
    </p:spTree>
    <p:extLst>
      <p:ext uri="{BB962C8B-B14F-4D97-AF65-F5344CB8AC3E}">
        <p14:creationId xmlns:p14="http://schemas.microsoft.com/office/powerpoint/2010/main" val="1613747444"/>
      </p:ext>
    </p:extLst>
  </p:cSld>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cxnSp>
        <p:nvCxnSpPr>
          <p:cNvPr id="692" name="Google Shape;692;p94"/>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693" name="Google Shape;693;p94"/>
          <p:cNvSpPr txBox="1"/>
          <p:nvPr/>
        </p:nvSpPr>
        <p:spPr>
          <a:xfrm>
            <a:off x="549654" y="513406"/>
            <a:ext cx="6342852" cy="1004844"/>
          </a:xfrm>
          <a:prstGeom prst="rect">
            <a:avLst/>
          </a:prstGeom>
          <a:noFill/>
          <a:ln>
            <a:noFill/>
          </a:ln>
        </p:spPr>
        <p:txBody>
          <a:bodyPr anchorCtr="0" anchor="t" bIns="45700" lIns="91425" spcFirstLastPara="1" rIns="91425" wrap="square" tIns="45700">
            <a:noAutofit/>
          </a:bodyPr>
          <a:lstStyle/>
          <a:p>
            <a:pPr algn="l"/>
            <a:r>
              <a:rPr lang="en-US" sz="2600" b="1">
                <a:solidFill>
                  <a:srgbClr val="782DA0"/>
                </a:solidFill>
                <a:latin typeface="Arial"/>
                <a:ea typeface="Arial"/>
                <a:cs typeface="Arial"/>
              </a:rPr>
              <a:t xml:space="preserve">What is the missing coordinate for (1, </a:t>
            </a:r>
            <a:r>
              <a:rPr lang="en-US" sz="2600" b="1" i="1">
                <a:solidFill>
                  <a:srgbClr val="782DA0"/>
                </a:solidFill>
                <a:latin typeface="Arial"/>
                <a:ea typeface="Arial"/>
                <a:cs typeface="Arial"/>
              </a:rPr>
              <a:t>y</a:t>
            </a:r>
            <a:r>
              <a:rPr lang="en-US" sz="2600" b="1">
                <a:solidFill>
                  <a:srgbClr val="782DA0"/>
                </a:solidFill>
                <a:latin typeface="Arial"/>
                <a:ea typeface="Arial"/>
                <a:cs typeface="Arial"/>
              </a:rPr>
              <a:t>) and what does it represent?</a:t>
            </a:r>
          </a:p>
        </p:txBody>
      </p:sp>
      <p:pic>
        <p:nvPicPr>
          <p:cNvPr descr="C:\Users\e402540\Downloads\kanchana\ePress PPT creation\sn_47fe6-1080mp4\OPS\img\chapter38\ede4b14934294158b242c179e73aba80.png" id="694" name="Google Shape;694;p94"/>
          <p:cNvPicPr preferRelativeResize="0"/>
          <p:nvPr/>
        </p:nvPicPr>
        <p:blipFill rotWithShape="1">
          <a:blip r:embed="rId4">
            <a:alphaModFix/>
          </a:blip>
          <a:srcRect b="0" l="0" r="0" t="0"/>
          <a:stretch/>
        </p:blipFill>
        <p:spPr>
          <a:xfrm>
            <a:off x="7335138" y="1450705"/>
            <a:ext cx="4296030" cy="4233544"/>
          </a:xfrm>
          <a:prstGeom prst="rect">
            <a:avLst/>
          </a:prstGeom>
          <a:noFill/>
          <a:ln>
            <a:noFill/>
          </a:ln>
        </p:spPr>
      </p:pic>
      <p:sp>
        <p:nvSpPr>
          <p:cNvPr id="695" name="Google Shape;695;p94"/>
          <p:cNvSpPr txBox="1"/>
          <p:nvPr/>
        </p:nvSpPr>
        <p:spPr>
          <a:xfrm>
            <a:off x="549654" y="4466751"/>
            <a:ext cx="6594096" cy="19554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lang="en-US" sz="2800">
                <a:solidFill>
                  <a:srgbClr val="0070C0"/>
                </a:solidFill>
                <a:highlight>
                  <a:srgbClr val="E0E0E0"/>
                </a:highlight>
                <a:latin typeface="Arial"/>
                <a:ea typeface="Arial"/>
                <a:cs typeface="Arial"/>
                <a:sym typeface="Arial"/>
              </a:rPr>
              <a:t xml:space="preserve"> Check</a:t>
            </a:r>
            <a:r>
              <a:rPr b="1" lang="en-US" sz="2800">
                <a:solidFill>
                  <a:srgbClr val="E0E0E0"/>
                </a:solidFill>
                <a:highlight>
                  <a:srgbClr val="E0E0E0"/>
                </a:highlight>
                <a:latin typeface="Arial"/>
                <a:ea typeface="Arial"/>
                <a:cs typeface="Arial"/>
                <a:sym typeface="Arial"/>
              </a:rPr>
              <a:t>:</a:t>
            </a:r>
            <a:r>
              <a:rPr b="1" lang="en-US" sz="2800">
                <a:solidFill>
                  <a:srgbClr val="0070C0"/>
                </a:solidFill>
                <a:latin typeface="Arial"/>
                <a:ea typeface="Arial"/>
                <a:cs typeface="Arial"/>
                <a:sym typeface="Arial"/>
              </a:rPr>
              <a:t xml:space="preserve"> </a:t>
            </a:r>
            <a:endParaRPr/>
          </a:p>
          <a:p>
            <a:pPr indent="0" lvl="0" marL="0" marR="0" rtl="0" algn="l">
              <a:lnSpc>
                <a:spcPct val="100000"/>
              </a:lnSpc>
              <a:spcBef>
                <a:spcPts val="1200"/>
              </a:spcBef>
              <a:spcAft>
                <a:spcPts val="0"/>
              </a:spcAft>
              <a:buClr>
                <a:srgbClr val="595959"/>
              </a:buClr>
              <a:buSzPts val="2800"/>
              <a:buFont typeface="Arial"/>
              <a:buNone/>
            </a:pPr>
            <a:r>
              <a:rPr lang="en-US" sz="2800">
                <a:solidFill>
                  <a:srgbClr val="595959"/>
                </a:solidFill>
                <a:latin typeface="Arial"/>
                <a:ea typeface="Arial"/>
                <a:cs typeface="Arial"/>
                <a:sym typeface="Arial"/>
              </a:rPr>
              <a:t>5 is the missing coordinate, and it represents the number of beads for every charm.</a:t>
            </a:r>
            <a:endParaRPr/>
          </a:p>
        </p:txBody>
      </p:sp>
      <p:sp>
        <p:nvSpPr>
          <p:cNvPr id="696"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6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41</a:t>
            </a:r>
          </a:p>
        </p:txBody>
      </p:sp>
      <p:sp>
        <p:nvSpPr>
          <p:cNvPr id="698" name="EWL-COVER-1"/>
          <p:cNvSpPr/>
          <p:nvPr/>
        </p:nvSpPr>
        <p:spPr>
          <a:xfrm>
            <a:off x="494790" y="4411887"/>
            <a:ext cx="6029589" cy="2034633"/>
          </a:xfrm>
          <a:prstGeom prst="rect">
            <a:avLst/>
          </a:prstGeom>
          <a:solidFill>
            <a:srgbClr val="FFFFFF"/>
          </a:solidFill>
          <a:ln>
            <a:noFill/>
          </a:ln>
        </p:spPr>
        <p:txBody>
          <a:bodyPr/>
          <a:lstStyle/>
          <a:p/>
        </p:txBody>
      </p:sp>
      <p:sp xmlns:p="http://schemas.openxmlformats.org/presentationml/2006/main" xmlns:a="http://schemas.openxmlformats.org/drawingml/2006/main">
        <p:nvSpPr>
          <p:cNvPr id="699" name="TEACH-embedded-student-prompt" descr="Student thinking and response directions"/>
          <p:cNvSpPr txBox="1"/>
          <p:nvPr/>
        </p:nvSpPr>
        <p:spPr>
          <a:xfrm>
            <a:off x="59436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02920" y="365760"/>
            <a:ext cx="8229600" cy="502920"/>
          </a:xfrm>
          <a:prstGeom prst="rect">
            <a:avLst/>
          </a:prstGeom>
          <a:noFill/>
        </p:spPr>
        <p:txBody>
          <a:bodyPr wrap="square" lIns="0" tIns="0" rIns="0" bIns="0" anchor="t">
            <a:spAutoFit/>
          </a:bodyPr>
          <a:lstStyle/>
          <a:p>
            <a:pPr algn="l">
              <a:defRPr/>
            </a:pPr>
            <a:r>
              <a:rPr sz="3000" b="1">
                <a:solidFill>
                  <a:srgbClr val="782DA0"/>
                </a:solidFill>
                <a:latin typeface="Arial"/>
              </a:rPr>
              <a:t>Today’s Math Notes — Session 2</a:t>
            </a:r>
          </a:p>
        </p:txBody>
      </p:sp>
      <p:sp xmlns:a="http://schemas.openxmlformats.org/drawingml/2006/main">
        <p:nvSpPr>
          <p:cNvPr id="3"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NOTES</a:t>
            </a:r>
            <a:r>
              <a:rPr lang="en-US" sz="1150" b="1" dirty="0">
                <a:solidFill>
                  <a:srgbClr val="2D3A40"/>
                </a:solidFill>
                <a:latin typeface="Arial"/>
              </a:rPr>
              <a:t xml:space="preserve">  ·  COPY LESS • UNDERSTAND MORE</a:t>
            </a:r>
          </a:p>
        </p:txBody>
      </p:sp>
      <p:sp xmlns:a="http://schemas.openxmlformats.org/drawingml/2006/main">
        <p:nvSpPr>
          <p:cNvPr id="5" name="Rounded Rectangle 6"/>
          <p:cNvSpPr/>
          <p:nvPr/>
        </p:nvSpPr>
        <p:spPr>
          <a:xfrm>
            <a:off x="502920" y="1371600"/>
            <a:ext cx="5486400" cy="4160520"/>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6" name="Rectangle 7"/>
          <p:cNvSpPr/>
          <p:nvPr/>
        </p:nvSpPr>
        <p:spPr>
          <a:xfrm>
            <a:off x="502920" y="1371600"/>
            <a:ext cx="73152" cy="416052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7" name="TextBox 8"/>
          <p:cNvSpPr txBox="1"/>
          <p:nvPr/>
        </p:nvSpPr>
        <p:spPr>
          <a:xfrm>
            <a:off x="667512" y="1508760"/>
            <a:ext cx="5166360" cy="228600"/>
          </a:xfrm>
          <a:prstGeom prst="rect">
            <a:avLst/>
          </a:prstGeom>
          <a:noFill/>
        </p:spPr>
        <p:txBody>
          <a:bodyPr wrap="square" lIns="0" tIns="0" rIns="0" bIns="0" anchor="t">
            <a:spAutoFit/>
          </a:bodyPr>
          <a:lstStyle/>
          <a:p>
            <a:pPr algn="l">
              <a:defRPr/>
            </a:pPr>
            <a:r>
              <a:rPr sz="1400" b="1">
                <a:solidFill>
                  <a:srgbClr val="01708C"/>
                </a:solidFill>
                <a:latin typeface="Arial"/>
              </a:rPr>
              <a:t>ONE RATIO, ONE LINE</a:t>
            </a:r>
          </a:p>
        </p:txBody>
      </p:sp>
      <p:sp xmlns:a="http://schemas.openxmlformats.org/drawingml/2006/main">
        <p:nvSpPr>
          <p:cNvPr id="8" name="TextBox 9"/>
          <p:cNvSpPr txBox="1"/>
          <p:nvPr/>
        </p:nvSpPr>
        <p:spPr>
          <a:xfrm>
            <a:off x="667512" y="1810512"/>
            <a:ext cx="5166360" cy="3630168"/>
          </a:xfrm>
          <a:prstGeom prst="rect">
            <a:avLst/>
          </a:prstGeom>
          <a:noFill/>
        </p:spPr>
        <p:txBody>
          <a:bodyPr wrap="square" lIns="0" tIns="0" rIns="0" bIns="0" anchor="t">
            <a:spAutoFit/>
          </a:bodyPr>
          <a:lstStyle/>
          <a:p>
            <a:pPr algn="l">
              <a:defRPr/>
            </a:pPr>
            <a:r>
              <a:rPr sz="2300" b="1">
                <a:solidFill>
                  <a:srgbClr val="23282D"/>
                </a:solidFill>
                <a:latin typeface="Arial"/>
              </a:rPr>
              <a:t xml:space="preserve">Equivalent ratio</a:t>
            </a:r>
            <a:r>
              <a:rPr sz="2300" b="0">
                <a:solidFill>
                  <a:srgbClr val="23282D"/>
                </a:solidFill>
                <a:latin typeface="Arial"/>
              </a:rPr>
              <a:t xml:space="preserve"> points lie on a straight line through (0, 0).</a:t>
            </a:r>
          </a:p>
          <a:p>
            <a:pPr algn="l">
              <a:defRPr/>
            </a:pPr>
            <a:r>
              <a:rPr sz="2300" b="0">
                <a:solidFill>
                  <a:srgbClr val="23282D"/>
                </a:solidFill>
                <a:latin typeface="Arial"/>
              </a:rPr>
              <a:t/>
            </a:r>
          </a:p>
          <a:p>
            <a:pPr algn="l">
              <a:defRPr/>
            </a:pPr>
            <a:r>
              <a:rPr sz="2300" b="0">
                <a:solidFill>
                  <a:srgbClr val="23282D"/>
                </a:solidFill>
                <a:latin typeface="Arial"/>
              </a:rPr>
              <a:t>For Lucy’s bracelets:</a:t>
            </a:r>
          </a:p>
          <a:p>
            <a:pPr algn="l">
              <a:defRPr/>
            </a:pPr>
            <a:r>
              <a:rPr sz="2300" b="0">
                <a:solidFill>
                  <a:srgbClr val="23282D"/>
                </a:solidFill>
                <a:latin typeface="Arial"/>
              </a:rPr>
              <a:t>1 charm → 5 beads.</a:t>
            </a:r>
          </a:p>
        </p:txBody>
      </p:sp>
      <p:sp xmlns:a="http://schemas.openxmlformats.org/drawingml/2006/main">
        <p:nvSpPr>
          <p:cNvPr id="9" name="Rounded Rectangle 10"/>
          <p:cNvSpPr/>
          <p:nvPr/>
        </p:nvSpPr>
        <p:spPr>
          <a:xfrm>
            <a:off x="6245352" y="1371600"/>
            <a:ext cx="5394960" cy="4160520"/>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0" name="Rectangle 11"/>
          <p:cNvSpPr/>
          <p:nvPr/>
        </p:nvSpPr>
        <p:spPr>
          <a:xfrm>
            <a:off x="6245352" y="1371600"/>
            <a:ext cx="73152" cy="4160520"/>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1" name="TextBox 12"/>
          <p:cNvSpPr txBox="1"/>
          <p:nvPr/>
        </p:nvSpPr>
        <p:spPr>
          <a:xfrm>
            <a:off x="6409944" y="1508760"/>
            <a:ext cx="5074920" cy="228600"/>
          </a:xfrm>
          <a:prstGeom prst="rect">
            <a:avLst/>
          </a:prstGeom>
          <a:noFill/>
        </p:spPr>
        <p:txBody>
          <a:bodyPr wrap="square" lIns="0" tIns="0" rIns="0" bIns="0" anchor="t">
            <a:spAutoFit/>
          </a:bodyPr>
          <a:lstStyle/>
          <a:p>
            <a:pPr algn="l">
              <a:defRPr/>
            </a:pPr>
            <a:r>
              <a:rPr sz="1400" b="1">
                <a:solidFill>
                  <a:srgbClr val="C8430E"/>
                </a:solidFill>
                <a:latin typeface="Arial"/>
              </a:rPr>
              <a:t>READ A RELATED PAIR</a:t>
            </a:r>
          </a:p>
        </p:txBody>
      </p:sp>
      <p:sp xmlns:a="http://schemas.openxmlformats.org/drawingml/2006/main">
        <p:nvSpPr>
          <p:cNvPr id="12" name="TextBox 13"/>
          <p:cNvSpPr txBox="1"/>
          <p:nvPr/>
        </p:nvSpPr>
        <p:spPr>
          <a:xfrm>
            <a:off x="6409944" y="1810512"/>
            <a:ext cx="5074920" cy="3630168"/>
          </a:xfrm>
          <a:prstGeom prst="rect">
            <a:avLst/>
          </a:prstGeom>
          <a:noFill/>
        </p:spPr>
        <p:txBody>
          <a:bodyPr wrap="square" lIns="0" tIns="0" rIns="0" bIns="0" anchor="t">
            <a:spAutoFit/>
          </a:bodyPr>
          <a:lstStyle/>
          <a:p>
            <a:pPr algn="l">
              <a:defRPr/>
            </a:pPr>
            <a:r>
              <a:rPr sz="2300" b="0">
                <a:solidFill>
                  <a:srgbClr val="23282D"/>
                </a:solidFill>
                <a:latin typeface="Arial"/>
              </a:rPr>
              <a:t>Locate the number of charms on x. Move up to the ratio line. Read beads on y.</a:t>
            </a:r>
          </a:p>
          <a:p>
            <a:pPr algn="l">
              <a:defRPr/>
            </a:pPr>
            <a:r>
              <a:rPr sz="2300" b="0">
                <a:solidFill>
                  <a:srgbClr val="23282D"/>
                </a:solidFill>
                <a:latin typeface="Arial"/>
              </a:rPr>
              <a:t/>
            </a:r>
          </a:p>
          <a:p>
            <a:pPr algn="l">
              <a:defRPr/>
            </a:pPr>
            <a:r>
              <a:rPr sz="2300" b="0">
                <a:solidFill>
                  <a:srgbClr val="23282D"/>
                </a:solidFill>
                <a:latin typeface="Arial"/>
              </a:rPr>
              <a:t>Explain: “For __ charms, the graph shows __ beads.”</a:t>
            </a:r>
          </a:p>
        </p:txBody>
      </p:sp>
      <p:sp xmlns:a="http://schemas.openxmlformats.org/drawingml/2006/main">
        <p:nvSpPr>
          <p:cNvPr id="13" name="Rounded Rectangle 17"/>
          <p:cNvSpPr/>
          <p:nvPr/>
        </p:nvSpPr>
        <p:spPr>
          <a:xfrm>
            <a:off x="594360" y="5669280"/>
            <a:ext cx="10972800" cy="50292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4" name="Rectangle 18"/>
          <p:cNvSpPr/>
          <p:nvPr/>
        </p:nvSpPr>
        <p:spPr>
          <a:xfrm>
            <a:off x="594360" y="5669280"/>
            <a:ext cx="73152" cy="50292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xmlns:a="http://schemas.openxmlformats.org/drawingml/2006/main">
        <p:nvSpPr>
          <p:cNvPr id="15" name="TextBox 19"/>
          <p:cNvSpPr txBox="1"/>
          <p:nvPr/>
        </p:nvSpPr>
        <p:spPr>
          <a:xfrm>
            <a:off x="758952" y="5806440"/>
            <a:ext cx="10652760" cy="228600"/>
          </a:xfrm>
          <a:prstGeom prst="rect">
            <a:avLst/>
          </a:prstGeom>
          <a:noFill/>
        </p:spPr>
        <p:txBody>
          <a:bodyPr wrap="square" lIns="0" tIns="0" rIns="0" bIns="0" anchor="t">
            <a:spAutoFit/>
          </a:bodyPr>
          <a:lstStyle/>
          <a:p>
            <a:pPr algn="l"/>
            <a:r>
              <a:rPr sz="1400" b="1">
                <a:solidFill>
                  <a:srgbClr val="782DA0"/>
                </a:solidFill>
                <a:latin typeface="Arial"/>
              </a:rPr>
              <a:t/>
            </a:r>
          </a:p>
        </p:txBody>
      </p:sp>
      <p:sp xmlns:a="http://schemas.openxmlformats.org/drawingml/2006/main">
        <p:nvSpPr>
          <p:cNvPr id="16" name="TextBox 20"/>
          <p:cNvSpPr txBox="1"/>
          <p:nvPr/>
        </p:nvSpPr>
        <p:spPr>
          <a:xfrm>
            <a:off x="758952" y="5742432"/>
            <a:ext cx="10515600" cy="274320"/>
          </a:xfrm>
          <a:prstGeom prst="rect">
            <a:avLst/>
          </a:prstGeom>
          <a:noFill/>
        </p:spPr>
        <p:txBody>
          <a:bodyPr wrap="square" lIns="0" tIns="0" rIns="0" bIns="0" anchor="t">
            <a:spAutoFit/>
          </a:bodyPr>
          <a:lstStyle/>
          <a:p>
            <a:pPr algn="l">
              <a:defRPr/>
            </a:pPr>
            <a:r>
              <a:rPr sz="1700" b="0">
                <a:solidFill>
                  <a:srgbClr val="23282D"/>
                </a:solidFill>
                <a:latin typeface="Arial"/>
              </a:rPr>
              <a:t>Read x first, then y. Name BOTH quantities.</a:t>
            </a:r>
          </a:p>
        </p:txBody>
      </p:sp>
      <p:sp>
        <p:nvSpPr>
          <p:cNvPr id="17" name="EWL-SlideNumber"/>
          <p:cNvSpPr>
            <ns1:spLocks xmlns:ns1="http://schemas.openxmlformats.org/drawingml/2006/main" noGrp="1"/>
          </p:cNvSpPr>
          <p:nvPr/>
        </p:nvSpPr>
        <p:spPr>
          <ns2:xfrm xmlns:ns2="http://schemas.openxmlformats.org/drawingml/2006/main">
            <ns2:off x="5577840" y="6492240"/>
            <ns2:ext cx="1033272" cy="256032"/>
          </ns2:xfrm>
          <ns3:prstGeom xmlns:ns3="http://schemas.openxmlformats.org/drawingml/2006/main" prst="rect">
            <ns3:avLst/>
          </ns3:prstGeom>
          <ns4:noFill xmlns:ns4="http://schemas.openxmlformats.org/drawingml/2006/main"/>
        </p:spPr>
        <p:txBody>
          <ns1:bodyPr xmlns:ns1="http://schemas.openxmlformats.org/drawingml/2006/main" wrap="square" lIns="0" rIns="0" tIns="0" bIns="0" anchor="ctr">
            <ns1:noAutofit/>
          </ns1:bodyPr>
          <ns2:lstStyle xmlns:ns2="http://schemas.openxmlformats.org/drawingml/2006/main"/>
          <ns3:p xmlns:ns3="http://schemas.openxmlformats.org/drawingml/2006/main">
            <ns3:pPr algn="ctr"/>
            <ns3:r>
              <ns3:rPr lang="en-US" sz="1100" b="0" dirty="0">
                <ns3:solidFill>
                  <ns3:srgbClr val="5D6872"/>
                </ns3:solidFill>
                <ns3:latin typeface="Arial"/>
              </ns3:rPr>
              <ns3:t>31 / 41</ns3:t>
            </ns3:r>
          </ns3:p>
        </p:txBody>
      </p:sp>
      <p:grpSp xmlns:a="http://schemas.openxmlformats.org/drawingml/2006/main">
        <p:nvGrpSpPr>
          <p:cNvPr id="18" name="TEACH-1-student-move" descr="TEACH 1 · Facilitate clear, standards-based content learning"/>
          <p:cNvGrpSpPr/>
          <p:nvPr/>
        </p:nvGrpSpPr>
        <p:grpSpPr>
          <a:xfrm>
            <a:off x="502920" y="932688"/>
            <a:ext cx="11186160" cy="402336"/>
            <a:chOff x="502920" y="932688"/>
            <a:chExt cx="11186160" cy="402336"/>
          </a:xfrm>
        </p:grpSpPr>
        <p:sp>
          <p:nvSpPr>
            <p:cNvPr id="19" name="TEACH-move-card"/>
            <p:cNvSpPr/>
            <p:nvPr/>
          </p:nvSpPr>
          <p:spPr>
            <a:xfrm>
              <a:off x="502920" y="93268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20" name="TEACH-move-rule"/>
            <p:cNvSpPr/>
            <p:nvPr/>
          </p:nvSpPr>
          <p:spPr>
            <a:xfrm>
              <a:off x="548640" y="1009132"/>
              <a:ext cx="100584" cy="249448"/>
            </a:xfrm>
            <a:prstGeom prst="roundRect">
              <a:avLst>
                <a:gd name="adj" fmla="val 50000"/>
              </a:avLst>
            </a:prstGeom>
            <a:solidFill>
              <a:srgbClr val="01708C"/>
            </a:solidFill>
            <a:ln>
              <a:noFill/>
            </a:ln>
          </p:spPr>
          <p:txBody>
            <a:bodyPr/>
            <a:lstStyle/>
            <a:p>
              <a:endParaRPr/>
            </a:p>
          </p:txBody>
        </p:sp>
        <p:sp>
          <p:nvSpPr>
            <p:cNvPr id="21" name="TEACH-move-text"/>
            <p:cNvSpPr txBox="1"/>
            <p:nvPr/>
          </p:nvSpPr>
          <p:spPr>
            <a:xfrm>
              <a:off x="822960" y="93268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extLst>
      <p:ext uri="{BB962C8B-B14F-4D97-AF65-F5344CB8AC3E}">
        <p14:creationId xmlns:p14="http://schemas.microsoft.com/office/powerpoint/2010/main" val="7764933"/>
      </p:ext>
    </p:extLst>
  </p:cSld>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6"/>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lang="en-US" sz="2800">
                <a:latin typeface="Arial"/>
                <a:ea typeface="Arial"/>
                <a:cs typeface="Arial"/>
                <a:sym typeface="Arial"/>
                <a:solidFill>
                  <a:srgbClr val="782DA0"/>
                </a:solidFill>
              </a:rPr>
              <a:t>Let’s Explore More</a:t>
            </a:r>
            <a:endParaRPr/>
          </a:p>
        </p:txBody>
      </p:sp>
      <p:sp>
        <p:nvSpPr>
          <p:cNvPr id="709" name="Google Shape;709;p96"/>
          <p:cNvSpPr txBox="1"/>
          <p:nvPr/>
        </p:nvSpPr>
        <p:spPr>
          <a:xfrm>
            <a:off x="484565" y="853440"/>
            <a:ext cx="8211760" cy="179451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lang="en-US" sz="2800">
                <a:solidFill>
                  <a:srgbClr val="23282D"/>
                </a:solidFill>
                <a:latin typeface="Arial"/>
                <a:ea typeface="Arial"/>
                <a:cs typeface="Arial"/>
                <a:sym typeface="Arial"/>
              </a:rPr>
              <a:t>How do a ratio table and the graph both illustrate the same ratio relationship? Which representation helps you visualize a ratio relationship more clearly?</a:t>
            </a:r>
            <a:endParaRPr/>
          </a:p>
        </p:txBody>
      </p:sp>
      <p:pic>
        <p:nvPicPr>
          <p:cNvPr descr="C:\Users\e402540\Downloads\kanchana\ePress PPT creation\sn_47fe6-1080mp4\OPS\img\.assets\4ff1347b2bcb4177ba92c7d36aa81a1f\narm24_c10304_se_008a-dig.png" id="710" name="Google Shape;710;p96"/>
          <p:cNvPicPr preferRelativeResize="0"/>
          <p:nvPr/>
        </p:nvPicPr>
        <p:blipFill rotWithShape="1">
          <a:blip r:embed="rId3">
            <a:alphaModFix/>
          </a:blip>
          <a:srcRect b="0" l="0" r="0" t="0"/>
          <a:stretch/>
        </p:blipFill>
        <p:spPr>
          <a:xfrm>
            <a:off x="8924544" y="1947672"/>
            <a:ext cx="2999232" cy="2944368"/>
          </a:xfrm>
          <a:prstGeom prst="rect">
            <a:avLst/>
          </a:prstGeom>
          <a:noFill/>
          <a:ln>
            <a:noFill/>
          </a:ln>
        </p:spPr>
      </p:pic>
      <p:sp>
        <p:nvSpPr>
          <p:cNvPr id="711" name="Google Shape;711;p96"/>
          <p:cNvSpPr/>
          <p:nvPr/>
        </p:nvSpPr>
        <p:spPr>
          <a:xfrm>
            <a:off x="484565" y="2647410"/>
            <a:ext cx="8211760" cy="1000665"/>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712" name="Google Shape;712;p96"/>
          <p:cNvSpPr txBox="1"/>
          <p:nvPr/>
        </p:nvSpPr>
        <p:spPr>
          <a:xfrm>
            <a:off x="7401209" y="3193551"/>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713" name="Google Shape;713;p96"/>
          <p:cNvSpPr txBox="1"/>
          <p:nvPr/>
        </p:nvSpPr>
        <p:spPr>
          <a:xfrm>
            <a:off x="484565" y="3738579"/>
            <a:ext cx="8211760" cy="1406681"/>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lang="en-US" sz="2800">
                <a:solidFill>
                  <a:srgbClr val="23282D"/>
                </a:solidFill>
                <a:latin typeface="Arial"/>
                <a:ea typeface="Arial"/>
                <a:cs typeface="Arial"/>
                <a:sym typeface="Arial"/>
              </a:rPr>
              <a:t>How can Lucy use the graph to determine the number of beads she will need if she uses 3 charms?</a:t>
            </a:r>
            <a:endParaRPr/>
          </a:p>
        </p:txBody>
      </p:sp>
      <p:sp>
        <p:nvSpPr>
          <p:cNvPr id="714" name="Google Shape;714;p96"/>
          <p:cNvSpPr/>
          <p:nvPr/>
        </p:nvSpPr>
        <p:spPr>
          <a:xfrm>
            <a:off x="484565" y="5235764"/>
            <a:ext cx="8211760" cy="1000665"/>
          </a:xfrm>
          <a:prstGeom prst="rect">
            <a:avLst/>
          </a:prstGeom>
          <a:noFill/>
          <a:ln cap="flat" cmpd="sng" w="12700">
            <a:solidFill>
              <a:srgbClr val="8296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Calibri"/>
              <a:cs typeface="Calibri"/>
              <a:sym typeface="Calibri"/>
            </a:endParaRPr>
          </a:p>
        </p:txBody>
      </p:sp>
      <p:sp>
        <p:nvSpPr>
          <p:cNvPr id="715" name="Google Shape;715;p96"/>
          <p:cNvSpPr txBox="1"/>
          <p:nvPr/>
        </p:nvSpPr>
        <p:spPr>
          <a:xfrm>
            <a:off x="7401209" y="5781905"/>
            <a:ext cx="12068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BFBF"/>
                </a:solidFill>
                <a:latin typeface="Arial"/>
                <a:ea typeface="Arial"/>
                <a:cs typeface="Arial"/>
                <a:sym typeface="Arial"/>
              </a:rPr>
              <a:t/>
            </a:r>
            <a:endParaRPr/>
          </a:p>
        </p:txBody>
      </p:sp>
      <p:sp>
        <p:nvSpPr>
          <p:cNvPr id="716"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718" name="Rounded Rectangle 17"/>
          <p:cNvSpPr/>
          <p:nvPr/>
        </p:nvSpPr>
        <p:spPr>
          <a:xfrm>
            <a:off x="548640" y="5349240"/>
            <a:ext cx="7040880" cy="80467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 name="Rectangle 18"/>
          <p:cNvSpPr/>
          <p:nvPr/>
        </p:nvSpPr>
        <p:spPr>
          <a:xfrm>
            <a:off x="548640" y="5349240"/>
            <a:ext cx="73152" cy="80467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0" name="TextBox 19"/>
          <p:cNvSpPr txBox="1"/>
          <p:nvPr/>
        </p:nvSpPr>
        <p:spPr>
          <a:xfrm>
            <a:off x="713232" y="5486400"/>
            <a:ext cx="6720840" cy="228600"/>
          </a:xfrm>
          <a:prstGeom prst="rect">
            <a:avLst/>
          </a:prstGeom>
          <a:noFill/>
        </p:spPr>
        <p:txBody>
          <a:bodyPr wrap="square" lIns="0" tIns="0" rIns="0" bIns="0" anchor="t">
            <a:spAutoFit/>
          </a:bodyPr>
          <a:lstStyle/>
          <a:p>
            <a:pPr algn="l"/>
            <a:r>
              <a:rPr sz="1400" b="1">
                <a:solidFill>
                  <a:srgbClr val="782DA0"/>
                </a:solidFill>
                <a:latin typeface="Arial"/>
              </a:rPr>
              <a:t>USE THE AXIS LABELS</a:t>
            </a:r>
          </a:p>
        </p:txBody>
      </p:sp>
      <p:sp>
        <p:nvSpPr>
          <p:cNvPr id="721" name="TextBox 20"/>
          <p:cNvSpPr txBox="1"/>
          <p:nvPr/>
        </p:nvSpPr>
        <p:spPr>
          <a:xfrm>
            <a:off x="713232" y="5788152"/>
            <a:ext cx="6720840" cy="274320"/>
          </a:xfrm>
          <a:prstGeom prst="rect">
            <a:avLst/>
          </a:prstGeom>
          <a:noFill/>
        </p:spPr>
        <p:txBody>
          <a:bodyPr wrap="square" lIns="0" tIns="0" rIns="0" bIns="0" anchor="t">
            <a:spAutoFit/>
          </a:bodyPr>
          <a:lstStyle/>
          <a:p>
            <a:pPr algn="l"/>
            <a:r>
              <a:rPr sz="1700" b="0">
                <a:solidFill>
                  <a:srgbClr val="23282D"/>
                </a:solidFill>
                <a:latin typeface="Arial"/>
              </a:rPr>
              <a:t>“For 3 charms, y is __ beads. The table and graph both show ___.”</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swapping coordinates or ignoring the axis scale.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Trace one given table row to the corresponding horizontal and vertical coordinates.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54" name="Google Shape;954;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5" name="Google Shape;955;p100"/>
          <p:cNvSpPr txBox="1"/>
          <p:nvPr/>
        </p:nvSpPr>
        <p:spPr>
          <a:xfrm>
            <a:off x="484565" y="936100"/>
            <a:ext cx="6983035" cy="17467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Connect the coordinates with a dotted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use the graph to find equivalent ratios?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956" name="Google Shape;956;p100"/>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    </a:t>
            </a: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57" name="Google Shape;957;p100"/>
          <p:cNvPicPr preferRelativeResize="0"/>
          <p:nvPr/>
        </p:nvPicPr>
        <p:blipFill rotWithShape="1">
          <a:blip r:embed="rId2">
            <a:alphaModFix/>
          </a:blip>
          <a:srcRect b="0" l="0" r="0" t="0"/>
          <a:stretch/>
        </p:blipFill>
        <p:spPr>
          <a:xfrm>
            <a:off x="558276" y="386230"/>
            <a:ext cx="353635" cy="340537"/>
          </a:xfrm>
          <a:prstGeom prst="rect">
            <a:avLst/>
          </a:prstGeom>
          <a:noFill/>
          <a:ln>
            <a:noFill/>
          </a:ln>
        </p:spPr>
      </p:pic>
      <p:pic>
        <p:nvPicPr>
          <p:cNvPr descr="C:\Users\e402540\Downloads\kanchana\ePress PPT creation\sn_47fe6-1080mp4\OPS\img\.assets\b71b55367d7c443ba2d1746d5e8d0b1d\narm24_c10304_se_007a-dig-a.png" id="958" name="Google Shape;958;p100"/>
          <p:cNvPicPr preferRelativeResize="0"/>
          <p:nvPr/>
        </p:nvPicPr>
        <p:blipFill rotWithShape="1">
          <a:blip r:embed="rId3">
            <a:alphaModFix/>
          </a:blip>
          <a:srcRect b="0" l="0" r="0" t="0"/>
          <a:stretch/>
        </p:blipFill>
        <p:spPr>
          <a:xfrm>
            <a:off x="7318652" y="1533536"/>
            <a:ext cx="4667950" cy="3343263"/>
          </a:xfrm>
          <a:prstGeom prst="rect">
            <a:avLst/>
          </a:prstGeom>
          <a:noFill/>
          <a:ln>
            <a:noFill/>
          </a:ln>
        </p:spPr>
      </p:pic>
      <p:sp>
        <p:nvSpPr>
          <p:cNvPr id="959" name="Google Shape;959;p100"/>
          <p:cNvSpPr txBox="1"/>
          <p:nvPr/>
        </p:nvSpPr>
        <p:spPr>
          <a:xfrm>
            <a:off x="558276" y="3938341"/>
            <a:ext cx="5960624" cy="24557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points on the line where the </a:t>
            </a:r>
            <a:r>
              <a:rPr b="0" i="1" lang="en-US" sz="2800" u="none" cap="none" strike="noStrike">
                <a:solidFill>
                  <a:srgbClr val="595959"/>
                </a:solidFill>
                <a:latin typeface="Arial"/>
                <a:ea typeface="Arial"/>
                <a:cs typeface="Arial"/>
                <a:sym typeface="Arial"/>
              </a:rPr>
              <a:t>x</a:t>
            </a:r>
            <a:r>
              <a:rPr b="0" i="0" lang="en-US" sz="2800" u="none" cap="none" strike="noStrike">
                <a:solidFill>
                  <a:srgbClr val="595959"/>
                </a:solidFill>
                <a:latin typeface="Arial"/>
                <a:ea typeface="Arial"/>
                <a:cs typeface="Arial"/>
                <a:sym typeface="Arial"/>
              </a:rPr>
              <a:t>- and </a:t>
            </a:r>
            <a:r>
              <a:rPr b="0" i="1" lang="en-US" sz="2800" u="none" cap="none" strike="noStrike">
                <a:solidFill>
                  <a:srgbClr val="595959"/>
                </a:solidFill>
                <a:latin typeface="Arial"/>
                <a:ea typeface="Arial"/>
                <a:cs typeface="Arial"/>
                <a:sym typeface="Arial"/>
              </a:rPr>
              <a:t>y</a:t>
            </a:r>
            <a:r>
              <a:rPr b="0" i="0" lang="en-US" sz="2800" u="none" cap="none" strike="noStrike">
                <a:solidFill>
                  <a:srgbClr val="595959"/>
                </a:solidFill>
                <a:latin typeface="Arial"/>
                <a:ea typeface="Arial"/>
                <a:cs typeface="Arial"/>
                <a:sym typeface="Arial"/>
              </a:rPr>
              <a:t>-coordinates meet and use those coordinates as the equivalent ratios. </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30358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72" name="Google Shape;972;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3" name="Google Shape;973;p102"/>
          <p:cNvSpPr txBox="1"/>
          <p:nvPr/>
        </p:nvSpPr>
        <p:spPr>
          <a:xfrm>
            <a:off x="569895" y="475581"/>
            <a:ext cx="5809704" cy="27039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graph contains the ratios equivalent to </a:t>
            </a:r>
            <a:r>
              <a:rPr b="0" i="0" lang="en-US" sz="2800" u="none" cap="none" strike="noStrike">
                <a:solidFill>
                  <a:srgbClr val="262626"/>
                </a:solidFill>
                <a:latin typeface="Cambria Math"/>
                <a:ea typeface="Cambria Math"/>
                <a:cs typeface="Cambria Math"/>
                <a:sym typeface="Cambria Math"/>
              </a:rPr>
              <a:t>4 : 20</a:t>
            </a:r>
            <a:r>
              <a:rPr b="0" i="0" lang="en-US" sz="2800" u="none" cap="none" strike="noStrike">
                <a:solidFill>
                  <a:srgbClr val="262626"/>
                </a:solidFill>
                <a:latin typeface="Arial"/>
                <a:ea typeface="Arial"/>
                <a:cs typeface="Arial"/>
                <a:sym typeface="Arial"/>
              </a:rPr>
              <a:t> and </a:t>
            </a:r>
            <a:r>
              <a:rPr b="0" i="0" lang="en-US" sz="2800" u="none" cap="none" strike="noStrike">
                <a:solidFill>
                  <a:srgbClr val="262626"/>
                </a:solidFill>
                <a:latin typeface="Cambria Math"/>
                <a:ea typeface="Cambria Math"/>
                <a:cs typeface="Cambria Math"/>
                <a:sym typeface="Cambria Math"/>
              </a:rPr>
              <a:t>5 : 25</a:t>
            </a:r>
            <a:r>
              <a:rPr b="0" i="0" lang="en-US" sz="2800" u="none" cap="none" strike="noStrike">
                <a:solidFill>
                  <a:srgbClr val="26262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use the line to find the number of beads she uses for every 1 charm?</a:t>
            </a:r>
            <a:endParaRPr b="0" i="0" sz="1400" u="none" cap="none" strike="noStrike">
              <a:solidFill>
                <a:srgbClr val="000000"/>
              </a:solidFill>
              <a:latin typeface="Arial"/>
              <a:ea typeface="Arial"/>
              <a:cs typeface="Arial"/>
              <a:sym typeface="Arial"/>
            </a:endParaRPr>
          </a:p>
        </p:txBody>
      </p:sp>
      <p:pic>
        <p:nvPicPr>
          <p:cNvPr id="974" name="Google Shape;974;p102"/>
          <p:cNvPicPr preferRelativeResize="0"/>
          <p:nvPr/>
        </p:nvPicPr>
        <p:blipFill rotWithShape="1">
          <a:blip r:embed="rId2">
            <a:alphaModFix/>
          </a:blip>
          <a:srcRect b="0" l="0" r="0" t="0"/>
          <a:stretch/>
        </p:blipFill>
        <p:spPr>
          <a:xfrm>
            <a:off x="7331352" y="1450706"/>
            <a:ext cx="3452247" cy="3389479"/>
          </a:xfrm>
          <a:prstGeom prst="rect">
            <a:avLst/>
          </a:prstGeom>
          <a:solidFill>
            <a:schemeClr val="lt1"/>
          </a:solidFill>
          <a:ln>
            <a:noFill/>
          </a:ln>
        </p:spPr>
      </p:pic>
      <p:sp>
        <p:nvSpPr>
          <p:cNvPr id="975" name="Google Shape;975;p102"/>
          <p:cNvSpPr txBox="1"/>
          <p:nvPr/>
        </p:nvSpPr>
        <p:spPr>
          <a:xfrm>
            <a:off x="569895" y="4018909"/>
            <a:ext cx="5960624" cy="23635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move right to 1 on the </a:t>
            </a:r>
            <a:r>
              <a:rPr b="0" i="1" lang="en-US" sz="2800" u="none" cap="none" strike="noStrike">
                <a:solidFill>
                  <a:srgbClr val="595959"/>
                </a:solidFill>
                <a:latin typeface="Arial"/>
                <a:ea typeface="Arial"/>
                <a:cs typeface="Arial"/>
                <a:sym typeface="Arial"/>
              </a:rPr>
              <a:t>x</a:t>
            </a:r>
            <a:r>
              <a:rPr b="0" i="0" lang="en-US" sz="2800" u="none" cap="none" strike="noStrike">
                <a:solidFill>
                  <a:srgbClr val="595959"/>
                </a:solidFill>
                <a:latin typeface="Arial"/>
                <a:ea typeface="Arial"/>
                <a:cs typeface="Arial"/>
                <a:sym typeface="Arial"/>
              </a:rPr>
              <a:t>-axis and then move up to the dotted line to find the missing coordinate on the </a:t>
            </a:r>
            <a:r>
              <a:rPr b="0" i="1" lang="en-US" sz="2800" u="none" cap="none" strike="noStrike">
                <a:solidFill>
                  <a:srgbClr val="595959"/>
                </a:solidFill>
                <a:latin typeface="Arial"/>
                <a:ea typeface="Arial"/>
                <a:cs typeface="Arial"/>
                <a:sym typeface="Arial"/>
              </a:rPr>
              <a:t>y</a:t>
            </a:r>
            <a:r>
              <a:rPr b="0" i="0" lang="en-US" sz="2800" u="none" cap="none" strike="noStrike">
                <a:solidFill>
                  <a:srgbClr val="595959"/>
                </a:solidFill>
                <a:latin typeface="Arial"/>
                <a:ea typeface="Arial"/>
                <a:cs typeface="Arial"/>
                <a:sym typeface="Arial"/>
              </a:rPr>
              <a:t>-axis.</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EWL-Eyebrow"/>
          <p:cNvSpPr txBox="1"/>
          <p:nvPr/>
        </p:nvSpPr>
        <p:spPr>
          <a:xfrm>
            <a:off x="502920" y="54864"/>
            <a:ext cx="6035040" cy="237744"/>
          </a:xfrm>
          <a:prstGeom prst="rect">
            <a:avLst/>
          </a:prstGeom>
          <a:noFill/>
          <a:ln>
            <a:noFill/>
          </a:ln>
        </p:spPr>
        <p:txBody>
          <a:bodyPr wrap="square" lIns="0" tIns="0" rIns="0" bIns="45700" anchor="t"/>
          <a:lstStyle/>
          <a:p>
            <a:pPr algn="l">
              <a:lnSpc>
                <a:spcPct val="115000"/>
              </a:lnSpc>
              <a:defRPr/>
            </a:pPr>
            <a:r>
              <a:rPr lang="en-US" sz="1200" b="1">
                <a:solidFill>
                  <a:srgbClr val="1E2682"/>
                </a:solidFill>
                <a:latin typeface="Arial"/>
                <a:ea typeface="Arial"/>
                <a:cs typeface="Arial"/>
              </a:rPr>
              <a:t xml:space="preserve">STUDENT MOVE  ·  </a:t>
            </a:r>
            <a:r>
              <a:rPr lang="en-US" sz="1200" b="1">
                <a:solidFill>
                  <a:srgbClr val="595959"/>
                </a:solidFill>
                <a:latin typeface="Arial"/>
                <a:ea typeface="Arial"/>
                <a:cs typeface="Arial"/>
              </a:rPr>
              <a:t>SUMMARIZE • TEACH A PARTNER</a:t>
            </a:r>
          </a:p>
        </p:txBody>
      </p:sp>
      <p:sp>
        <p:nvSpPr>
          <p:cNvPr id="802" name="EWL-Title"/>
          <p:cNvSpPr txBox="1"/>
          <p:nvPr/>
        </p:nvSpPr>
        <p:spPr>
          <a:xfrm>
            <a:off x="484632" y="365760"/>
            <a:ext cx="9144000" cy="822960"/>
          </a:xfrm>
          <a:prstGeom prst="rect">
            <a:avLst/>
          </a:prstGeom>
          <a:noFill/>
          <a:ln>
            <a:noFill/>
          </a:ln>
        </p:spPr>
        <p:txBody>
          <a:bodyPr wrap="square" lIns="91425" tIns="45700" rIns="91425" bIns="45700" anchor="t"/>
          <a:lstStyle/>
          <a:p>
            <a:pPr algn="l">
              <a:lnSpc>
                <a:spcPct val="115000"/>
              </a:lnSpc>
              <a:defRPr/>
            </a:pPr>
            <a:r>
              <a:rPr lang="en-US" sz="2700" b="1">
                <a:solidFill>
                  <a:srgbClr val="782DA0"/>
                </a:solidFill>
                <a:latin typeface="Arial"/>
                <a:ea typeface="Arial"/>
                <a:cs typeface="Arial"/>
              </a:rPr>
              <a:t>Summarize: Graphs of Ratios</a:t>
            </a:r>
          </a:p>
        </p:txBody>
      </p:sp>
      <p:sp>
        <p:nvSpPr>
          <p:cNvPr id="803" name="EWL-Card1"/>
          <p:cNvSpPr txBox="1"/>
          <p:nvPr/>
        </p:nvSpPr>
        <p:spPr>
          <a:xfrm>
            <a:off x="548640" y="1554480"/>
            <a:ext cx="5440680" cy="2468880"/>
          </a:xfrm>
          <a:prstGeom prst="roundRect">
            <a:avLst>
              <a:gd name="adj" fmla="val 6000"/>
            </a:avLst>
          </a:prstGeom>
          <a:solidFill>
            <a:srgbClr val="EAF6F2"/>
          </a:solidFill>
          <a:ln w="19050">
            <a:solidFill>
              <a:srgbClr val="0E8476"/>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Each column of a ratio table becomes an ordered pair (x, y). Plot across to x, then up to y.</a:t>
            </a:r>
          </a:p>
        </p:txBody>
      </p:sp>
      <p:sp>
        <p:nvSpPr>
          <p:cNvPr id="804" name="EWL-Chip1"/>
          <p:cNvSpPr txBox="1"/>
          <p:nvPr/>
        </p:nvSpPr>
        <p:spPr>
          <a:xfrm>
            <a:off x="777240" y="1783080"/>
            <a:ext cx="2377440" cy="420624"/>
          </a:xfrm>
          <a:prstGeom prst="roundRect">
            <a:avLst>
              <a:gd name="adj" fmla="val 50000"/>
            </a:avLst>
          </a:prstGeom>
          <a:solidFill>
            <a:srgbClr val="0E8476"/>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TABLE → POINTS</a:t>
            </a:r>
          </a:p>
        </p:txBody>
      </p:sp>
      <p:sp>
        <p:nvSpPr>
          <p:cNvPr id="805" name="EWL-Card2"/>
          <p:cNvSpPr txBox="1"/>
          <p:nvPr/>
        </p:nvSpPr>
        <p:spPr>
          <a:xfrm>
            <a:off x="6217920" y="1554480"/>
            <a:ext cx="5440680" cy="2468880"/>
          </a:xfrm>
          <a:prstGeom prst="roundRect">
            <a:avLst>
              <a:gd name="adj" fmla="val 6000"/>
            </a:avLst>
          </a:prstGeom>
          <a:solidFill>
            <a:srgbClr val="FDF1E3"/>
          </a:solidFill>
          <a:ln w="19050">
            <a:solidFill>
              <a:srgbClr val="C46A0C"/>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Points from equivalent ratios line up on a straight line through (0, 0). The pattern on the graph IS the ratio.</a:t>
            </a:r>
          </a:p>
        </p:txBody>
      </p:sp>
      <p:sp>
        <p:nvSpPr>
          <p:cNvPr id="806" name="EWL-Chip2"/>
          <p:cNvSpPr txBox="1"/>
          <p:nvPr/>
        </p:nvSpPr>
        <p:spPr>
          <a:xfrm>
            <a:off x="6446520" y="1783080"/>
            <a:ext cx="2377440" cy="420624"/>
          </a:xfrm>
          <a:prstGeom prst="roundRect">
            <a:avLst>
              <a:gd name="adj" fmla="val 50000"/>
            </a:avLst>
          </a:prstGeom>
          <a:solidFill>
            <a:srgbClr val="C46A0C"/>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READ THE GRAPH</a:t>
            </a:r>
          </a:p>
        </p:txBody>
      </p:sp>
      <p:sp>
        <p:nvSpPr>
          <p:cNvPr id="807" name="EWL-Takeaway"/>
          <p:cNvSpPr txBox="1"/>
          <p:nvPr/>
        </p:nvSpPr>
        <p:spPr>
          <a:xfrm>
            <a:off x="548640" y="4434840"/>
            <a:ext cx="11091672" cy="1234440"/>
          </a:xfrm>
          <a:prstGeom prst="rect">
            <a:avLst/>
          </a:prstGeom>
          <a:solidFill>
            <a:srgbClr val="F6EFFA"/>
          </a:solidFill>
          <a:ln w="12700">
            <a:solidFill>
              <a:srgbClr val="782DA0"/>
            </a:solidFill>
          </a:ln>
        </p:spPr>
        <p:txBody>
          <a:bodyPr wrap="square" lIns="228600" tIns="45700" rIns="228600" bIns="45700" anchor="ctr"/>
          <a:lstStyle/>
          <a:p>
            <a:pPr algn="l">
              <a:lnSpc>
                <a:spcPct val="115000"/>
              </a:lnSpc>
            </a:pPr>
            <a:r>
              <a:rPr lang="en-US" sz="1600" b="1">
                <a:solidFill>
                  <a:srgbClr val="782DA0"/>
                </a:solidFill>
                <a:latin typeface="Arial"/>
                <a:ea typeface="Arial"/>
                <a:cs typeface="Arial"/>
              </a:rPr>
              <a:t xml:space="preserve">Key idea: </a:t>
            </a:r>
            <a:r>
              <a:rPr lang="en-US" sz="1600">
                <a:solidFill>
                  <a:srgbClr val="262626"/>
                </a:solidFill>
                <a:latin typeface="Arial"/>
                <a:ea typeface="Arial"/>
                <a:cs typeface="Arial"/>
              </a:rPr>
              <a:t>A graph shows every equivalent ratio at once — including ones the table never listed.</a:t>
            </a:r>
          </a:p>
          <a:p>
            <a:pPr algn="l">
              <a:lnSpc>
                <a:spcPct val="115000"/>
              </a:lnSpc>
            </a:pPr>
            <a:r>
              <a:rPr lang="en-US" sz="1500" b="1">
                <a:solidFill>
                  <a:srgbClr val="1E2682"/>
                </a:solidFill>
                <a:latin typeface="Arial"/>
                <a:ea typeface="Arial"/>
                <a:cs typeface="Arial"/>
              </a:rPr>
              <a:t xml:space="preserve">Teach a partner: </a:t>
            </a:r>
            <a:r>
              <a:rPr lang="en-US" sz="1500">
                <a:solidFill>
                  <a:srgbClr val="262626"/>
                </a:solidFill>
                <a:latin typeface="Arial"/>
                <a:ea typeface="Arial"/>
                <a:cs typeface="Arial"/>
              </a:rPr>
              <a:t>How do you find a missing value using the graph?</a:t>
            </a:r>
          </a:p>
        </p:txBody>
      </p:sp>
      <p:sp>
        <p:nvSpPr>
          <p:cNvPr id="808" name="EWL-SlideNumber"/>
          <p:cNvSpPr txBox="1"/>
          <p:nvPr/>
        </p:nvSpPr>
        <p:spPr>
          <a:xfrm>
            <a:off x="5577840" y="6492240"/>
            <a:ext cx="1033272" cy="256032"/>
          </a:xfrm>
          <a:prstGeom prst="rect">
            <a:avLst/>
          </a:prstGeom>
          <a:noFill/>
          <a:ln>
            <a:noFill/>
          </a:ln>
        </p:spPr>
        <p:txBody>
          <a:bodyPr wrap="square" lIns="0" tIns="0" rIns="0" bIns="45700" anchor="t"/>
          <a:lstStyle/>
          <a:p>
            <a:pPr algn="ctr">
              <a:lnSpc>
                <a:spcPct val="115000"/>
              </a:lnSpc>
            </a:pPr>
            <a:r>
              <a:rPr lang="en-US" sz="1100">
                <a:solidFill>
                  <a:srgbClr val="767171"/>
                </a:solidFill>
                <a:latin typeface="Arial"/>
                <a:ea typeface="Arial"/>
                <a:cs typeface="Arial"/>
              </a:rPr>
              <a:t>36 / 41</a:t>
            </a:r>
          </a:p>
        </p:txBody>
      </p:sp>
      <p:grpSp>
        <p:nvGrpSpPr>
          <p:cNvPr id="809" name="TEACH-5-student-move" descr="TEACH 5 · Facilitate student interactions and academic talk"/>
          <p:cNvGrpSpPr/>
          <p:nvPr/>
        </p:nvGrpSpPr>
        <p:grpSpPr>
          <a:xfrm>
            <a:off x="502920" y="5751576"/>
            <a:ext cx="11186160" cy="548640"/>
            <a:chOff x="502920" y="5751576"/>
            <a:chExt cx="11186160" cy="548640"/>
          </a:xfrm>
        </p:grpSpPr>
        <p:sp>
          <p:nvSpPr>
            <p:cNvPr id="8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8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8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8"/>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lang="en-US" sz="2800">
                <a:latin typeface="Arial"/>
                <a:ea typeface="Arial"/>
                <a:cs typeface="Arial"/>
                <a:sym typeface="Arial"/>
                <a:solidFill>
                  <a:srgbClr val="782DA0"/>
                </a:solidFill>
              </a:rPr>
              <a:t>Apply:</a:t>
            </a:r>
            <a:r>
              <a:rPr b="1" lang="en-US" sz="2800">
                <a:latin typeface="Arial"/>
                <a:ea typeface="Arial"/>
                <a:cs typeface="Arial"/>
                <a:sym typeface="Arial"/>
                <a:solidFill>
                  <a:srgbClr val="782DA0"/>
                </a:solidFill>
              </a:rPr>
              <a:t xml:space="preserve"> Street Corn Recipe</a:t>
            </a:r>
            <a:endParaRPr b="1" sz="2800">
              <a:solidFill>
                <a:srgbClr val="782DA0"/>
              </a:solidFill>
              <a:latin typeface="Arial"/>
              <a:ea typeface="Arial"/>
              <a:cs typeface="Arial"/>
              <a:sym typeface="Arial"/>
            </a:endParaRPr>
          </a:p>
        </p:txBody>
      </p:sp>
      <p:cxnSp>
        <p:nvCxnSpPr>
          <p:cNvPr id="729" name="Google Shape;729;p98"/>
          <p:cNvCxnSpPr/>
          <p:nvPr/>
        </p:nvCxnSpPr>
        <p:spPr>
          <a:xfrm>
            <a:off x="13164879" y="5911702"/>
            <a:ext cx="0" cy="0"/>
          </a:xfrm>
          <a:prstGeom prst="straightConnector1">
            <a:avLst/>
          </a:prstGeom>
          <a:noFill/>
          <a:ln cap="flat" cmpd="sng" w="9525">
            <a:solidFill>
              <a:schemeClr val="accent1"/>
            </a:solidFill>
            <a:prstDash val="solid"/>
            <a:miter lim="8000"/>
            <a:headEnd len="sm" w="sm" type="none"/>
            <a:tailEnd len="sm" w="sm" type="none"/>
          </a:ln>
        </p:spPr>
      </p:cxnSp>
      <p:sp>
        <p:nvSpPr>
          <p:cNvPr id="730" name="Google Shape;730;p98"/>
          <p:cNvSpPr txBox="1"/>
          <p:nvPr/>
        </p:nvSpPr>
        <p:spPr>
          <a:xfrm>
            <a:off x="484565" y="927528"/>
            <a:ext cx="6705944" cy="42527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lang="en-US" sz="2800">
                <a:solidFill>
                  <a:srgbClr val="23282D"/>
                </a:solidFill>
                <a:latin typeface="Arial"/>
                <a:ea typeface="Arial"/>
                <a:cs typeface="Arial"/>
                <a:sym typeface="Arial"/>
              </a:rPr>
              <a:t>Eduardo is going to make 30 ears of grilled Mexican street corn for a party using the recipe shown. He has all the ingredients except Cotija cheese. Eduardo tells a friend he will buy four 10-ounce packages of cheese that each contains 2 cups.</a:t>
            </a:r>
            <a:endParaRPr/>
          </a:p>
          <a:p>
            <a:pPr indent="0" lvl="0" marL="0" marR="0" rtl="0" algn="l">
              <a:lnSpc>
                <a:spcPct val="100000"/>
              </a:lnSpc>
              <a:spcBef>
                <a:spcPts val="1800"/>
              </a:spcBef>
              <a:spcAft>
                <a:spcPts val="0"/>
              </a:spcAft>
              <a:buClr>
                <a:srgbClr val="262626"/>
              </a:buClr>
              <a:buSzPts val="2800"/>
              <a:buFont typeface="Arial"/>
              <a:buNone/>
              <a:defRPr/>
            </a:pPr>
            <a:r>
              <a:rPr b="1" lang="en-US" sz="2800">
                <a:solidFill>
                  <a:srgbClr val="23282D"/>
                </a:solidFill>
                <a:latin typeface="Arial"/>
                <a:ea typeface="Arial"/>
                <a:cs typeface="Arial"/>
                <a:sym typeface="Arial"/>
              </a:rPr>
              <a:t xml:space="preserve">Question: </a:t>
            </a:r>
            <a:r>
              <a:rPr lang="en-US" sz="2800">
                <a:solidFill>
                  <a:srgbClr val="23282D"/>
                </a:solidFill>
                <a:latin typeface="Arial"/>
                <a:ea typeface="Arial"/>
                <a:cs typeface="Arial"/>
                <a:sym typeface="Arial"/>
              </a:rPr>
              <a:t>How would you respond to Eduardo?</a:t>
            </a:r>
            <a:endParaRPr/>
          </a:p>
        </p:txBody>
      </p:sp>
      <p:pic>
        <p:nvPicPr>
          <p:cNvPr descr="C:\Users\e402540\Downloads\kanchana\ePress PPT creation\sn_47fe6-1080mp4\OPS\img\.assets\2d88d56e4fe144b2a1a17dd10c0a3d2d\narm24_c10304_se_011a-dig.png" id="731" name="Google Shape;731;p98"/>
          <p:cNvPicPr preferRelativeResize="0"/>
          <p:nvPr/>
        </p:nvPicPr>
        <p:blipFill rotWithShape="1">
          <a:blip r:embed="rId3">
            <a:alphaModFix/>
          </a:blip>
          <a:srcRect b="0" l="0" r="0" t="0"/>
          <a:stretch/>
        </p:blipFill>
        <p:spPr>
          <a:xfrm>
            <a:off x="7732643" y="1422308"/>
            <a:ext cx="3974792" cy="4013384"/>
          </a:xfrm>
          <a:prstGeom prst="rect">
            <a:avLst/>
          </a:prstGeom>
          <a:noFill/>
          <a:ln>
            <a:noFill/>
          </a:ln>
        </p:spPr>
      </p:pic>
      <p:sp>
        <p:nvSpPr>
          <p:cNvPr id="732" name="UIFR_Routine_Label"/>
          <p:cNvSpPr txBox="1"/>
          <p:nvPr/>
        </p:nvSpPr>
        <p:spPr>
          <a:xfrm>
            <a:off x="502920" y="54864"/>
            <a:ext cx="6236208" cy="237744"/>
          </a:xfrm>
          <a:prstGeom prst="rect">
            <a:avLst/>
          </a:prstGeom>
          <a:noFill/>
        </p:spPr>
        <p:txBody>
          <a:bodyPr wrap="square" lIns="0" rIns="0" tIns="0" bIns="0" anchor="ctr">
            <a:noAutofit/>
          </a:bodyPr>
          <a:lstStyle/>
          <a:p>
            <a:pPr algn="l">
              <a:defRPr/>
            </a:pPr>
            <a:r>
              <a:rPr lang="en-US" sz="1150" b="1" dirty="0">
                <a:solidFill>
                  <a:srgbClr val="2D3A40"/>
                </a:solidFill>
                <a:latin typeface="Arial"/>
              </a:rPr>
              <a:t>STUDENT MOVE</a:t>
            </a:r>
            <a:r>
              <a:rPr lang="en-US" sz="1150" b="1" dirty="0">
                <a:solidFill>
                  <a:srgbClr val="2D3A40"/>
                </a:solidFill>
                <a:latin typeface="Arial"/>
              </a:rPr>
              <a:t xml:space="preserve">  ·  SOLO THINK → PARTNER TALK</a:t>
            </a:r>
          </a:p>
        </p:txBody>
      </p:sp>
      <p:sp>
        <p:nvSpPr>
          <p:cNvPr id="734" name="Rounded Rectangle 17"/>
          <p:cNvSpPr/>
          <p:nvPr/>
        </p:nvSpPr>
        <p:spPr>
          <a:xfrm>
            <a:off x="548640" y="5303520"/>
            <a:ext cx="6492240" cy="822960"/>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5" name="Rectangle 18"/>
          <p:cNvSpPr/>
          <p:nvPr/>
        </p:nvSpPr>
        <p:spPr>
          <a:xfrm>
            <a:off x="548640" y="5303520"/>
            <a:ext cx="73152" cy="822960"/>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6" name="TextBox 19"/>
          <p:cNvSpPr txBox="1"/>
          <p:nvPr/>
        </p:nvSpPr>
        <p:spPr>
          <a:xfrm>
            <a:off x="713232" y="5440680"/>
            <a:ext cx="6172200" cy="228600"/>
          </a:xfrm>
          <a:prstGeom prst="rect">
            <a:avLst/>
          </a:prstGeom>
          <a:noFill/>
        </p:spPr>
        <p:txBody>
          <a:bodyPr wrap="square" lIns="0" tIns="0" rIns="0" bIns="0" anchor="t">
            <a:spAutoFit/>
          </a:bodyPr>
          <a:lstStyle/>
          <a:p>
            <a:pPr algn="l">
              <a:defRPr/>
            </a:pPr>
            <a:r>
              <a:rPr sz="1400" b="1">
                <a:solidFill>
                  <a:srgbClr val="782DA0"/>
                </a:solidFill>
                <a:latin typeface="Arial"/>
              </a:rPr>
              <a:t>CHECK THE CLAIM</a:t>
            </a:r>
          </a:p>
        </p:txBody>
      </p:sp>
      <p:sp>
        <p:nvSpPr>
          <p:cNvPr id="737" name="TextBox 20"/>
          <p:cNvSpPr txBox="1"/>
          <p:nvPr/>
        </p:nvSpPr>
        <p:spPr>
          <a:xfrm>
            <a:off x="713232" y="5742431"/>
            <a:ext cx="6172200" cy="292608"/>
          </a:xfrm>
          <a:prstGeom prst="rect">
            <a:avLst/>
          </a:prstGeom>
          <a:noFill/>
        </p:spPr>
        <p:txBody>
          <a:bodyPr wrap="square" lIns="0" tIns="0" rIns="0" bIns="0" anchor="t">
            <a:spAutoFit/>
          </a:bodyPr>
          <a:lstStyle/>
          <a:p>
            <a:pPr algn="l">
              <a:defRPr/>
            </a:pPr>
            <a:r>
              <a:rPr sz="1600" b="0">
                <a:solidFill>
                  <a:srgbClr val="23282D"/>
                </a:solidFill>
                <a:latin typeface="Arial"/>
              </a:rPr>
              <a:t>“For 30 ears, __ cups are needed. Compare that with 8 cups.”</a:t>
            </a:r>
          </a:p>
        </p:txBody>
      </p:sp>
      <p:sp>
        <p:nvSpPr>
          <p:cNvPr id="7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41</a:t>
            </a:r>
          </a:p>
        </p:txBody>
      </p:sp>
    </p:spTree>
  </p:cSld>
  <p:clrMapOvr>
    <a:masterClrMapping/>
  </p:clrMapOvr>
</p:sld>
</file>

<file path=ppt/slides/slide38.xml><?xml version="1.0" encoding="utf-8"?>
<p:sld xmlns:p="http://schemas.openxmlformats.org/presentationml/2006/main">
  <p:cSld>
    <p:bg>
      <p:bgPr>
        <a:solidFill xmlns:a="http://schemas.openxmlformats.org/drawingml/2006/main">
          <a:srgbClr val="FFFFFF"/>
        </a:solidFill>
      </p:bgPr>
    </p:bg>
    <p:spTree xmlns:a="http://schemas.openxmlformats.org/drawingml/2006/main">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STUDENT MOVE</a:t>
            </a:r>
            <a:r>
              <a:rPr lang="en-US" sz="1150" b="1" dirty="0">
                <a:solidFill>
                  <a:srgbClr val="2D3A40"/>
                </a:solidFill>
                <a:latin typeface="Arial"/>
              </a:rPr>
              <a:t xml:space="preser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spAutoFit/>
          </a:bodyPr>
          <a:lstStyle/>
          <a:p>
            <a:pPr algn="l"/>
            <a:r>
              <a:rPr sz="2300" b="0">
                <a:solidFill>
                  <a:srgbClr val="23282D"/>
                </a:solidFill>
                <a:latin typeface="Arial"/>
              </a:rPr>
              <a:t>Lucy uses 5 beads for every 1 charm.</a:t>
            </a:r>
          </a:p>
        </p:txBody>
      </p:sp>
      <p:sp>
        <p:nvSpPr>
          <p:cNvPr id="18" name="TextBox 17"/>
          <p:cNvSpPr txBox="1"/>
          <p:nvPr/>
        </p:nvSpPr>
        <p:spPr>
          <a:xfrm>
            <a:off x="530352" y="1828800"/>
            <a:ext cx="7360920" cy="713232"/>
          </a:xfrm>
          <a:prstGeom prst="rect">
            <a:avLst/>
          </a:prstGeom>
          <a:noFill/>
        </p:spPr>
        <p:txBody>
          <a:bodyPr wrap="square" lIns="0" tIns="0" rIns="0" bIns="0" anchor="t">
            <a:spAutoFit/>
          </a:bodyPr>
          <a:lstStyle/>
          <a:p>
            <a:pPr algn="l"/>
            <a:r>
              <a:rPr sz="2600" b="1">
                <a:solidFill>
                  <a:srgbClr val="23282D"/>
                </a:solidFill>
                <a:latin typeface="Arial"/>
              </a:rPr>
              <a:t>What point represents 3 charms? Use x = charms and y = beads.</a:t>
            </a:r>
          </a:p>
        </p:txBody>
      </p:sp>
      <p:sp>
        <p:nvSpPr>
          <p:cNvPr id="19" name="TextBox 18"/>
          <p:cNvSpPr txBox="1"/>
          <p:nvPr/>
        </p:nvSpPr>
        <p:spPr>
          <a:xfrm>
            <a:off x="530352" y="2761488"/>
            <a:ext cx="7360920" cy="685800"/>
          </a:xfrm>
          <a:prstGeom prst="rect">
            <a:avLst/>
          </a:prstGeom>
          <a:noFill/>
        </p:spPr>
        <p:txBody>
          <a:bodyPr wrap="square" lIns="0" tIns="0" rIns="0" bIns="0" anchor="t">
            <a:spAutoFit/>
          </a:bodyPr>
          <a:lstStyle/>
          <a:p>
            <a:pPr algn="l"/>
            <a:r>
              <a:rPr sz="2300" b="0">
                <a:solidFill>
                  <a:srgbClr val="5D6872"/>
                </a:solidFill>
                <a:latin typeface="Arial"/>
              </a:rPr>
              <a:t>Show the point on labeled axes. Explain why it fits the same ratio as (4, 20).</a:t>
            </a:r>
          </a:p>
        </p:txBody>
      </p:sp>
      <p:sp>
        <p:nvSpPr>
          <p:cNvPr id="20" name="TextBox 19"/>
          <p:cNvSpPr txBox="1"/>
          <p:nvPr/>
        </p:nvSpPr>
        <p:spPr>
          <a:xfrm>
            <a:off x="530352" y="3584448"/>
            <a:ext cx="7360920" cy="640080"/>
          </a:xfrm>
          <a:prstGeom prst="rect">
            <a:avLst/>
          </a:prstGeom>
          <a:noFill/>
        </p:spPr>
        <p:txBody>
          <a:bodyPr wrap="square" lIns="0" tIns="0" rIns="0" bIns="0" anchor="t">
            <a:spAutoFit/>
          </a:bodyPr>
          <a:lstStyle/>
          <a:p>
            <a:pPr algn="l"/>
            <a:r>
              <a:rPr sz="2300" b="1">
                <a:solidFill>
                  <a:srgbClr val="1E2682"/>
                </a:solidFill>
                <a:latin typeface="Arial"/>
              </a:rPr>
              <a:t>Explain: “Both points follow the rule ___ because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spAutoFit/>
          </a:bodyPr>
          <a:lstStyle/>
          <a:p>
            <a:pPr algn="l"/>
            <a:r>
              <a:rPr sz="2000" b="0">
                <a:solidFill>
                  <a:srgbClr val="23282D"/>
                </a:solidFill>
                <a:latin typeface="Arial"/>
              </a:rPr>
              <a:t>1. I can plot and read a point.</a:t>
            </a:r>
          </a:p>
          <a:p>
            <a:pPr algn="l"/>
            <a:r>
              <a:rPr sz="2000" b="0">
                <a:solidFill>
                  <a:srgbClr val="23282D"/>
                </a:solidFill>
                <a:latin typeface="Arial"/>
              </a:rPr>
              <a:t>□ Alone  □ With a hint  □ Not yet</a:t>
            </a:r>
          </a:p>
          <a:p>
            <a:pPr algn="l"/>
            <a:r>
              <a:rPr sz="2000" b="0">
                <a:solidFill>
                  <a:srgbClr val="23282D"/>
                </a:solidFill>
                <a:latin typeface="Arial"/>
              </a:rPr>
              <a:t/>
            </a:r>
          </a:p>
          <a:p>
            <a:pPr algn="l"/>
            <a:r>
              <a:rPr sz="2000" b="0">
                <a:solidFill>
                  <a:srgbClr val="23282D"/>
                </a:solidFill>
                <a:latin typeface="Arial"/>
              </a:rPr>
              <a:t>2. I can justify an equivalent ratio.</a:t>
            </a:r>
          </a:p>
          <a:p>
            <a:pPr algn="l"/>
            <a:r>
              <a:rPr sz="2000" b="0">
                <a:solidFill>
                  <a:srgbClr val="23282D"/>
                </a:solidFill>
                <a:latin typeface="Arial"/>
              </a:rPr>
              <a:t>□ Alone  □ With a hint  □ Not yet</a:t>
            </a:r>
          </a:p>
          <a:p>
            <a:pPr algn="l"/>
            <a:r>
              <a:rPr sz="2000" b="0">
                <a:solidFill>
                  <a:srgbClr val="23282D"/>
                </a:solidFill>
                <a:latin typeface="Arial"/>
              </a:rPr>
              <a:t/>
            </a:r>
          </a:p>
          <a:p>
            <a:pPr algn="l"/>
            <a:r>
              <a:rPr sz="2000" b="0">
                <a:solidFill>
                  <a:srgbClr val="23282D"/>
                </a:solidFill>
                <a:latin typeface="Arial"/>
              </a:rPr>
              <a:t>My next step:</a:t>
            </a:r>
          </a:p>
          <a:p>
            <a:pPr algn="l"/>
            <a:r>
              <a:rPr sz="2000" b="0">
                <a:solidFill>
                  <a:srgbClr val="23282D"/>
                </a:solidFill>
                <a:latin typeface="Arial"/>
              </a:rPr>
              <a:t>____________________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spAutoFit/>
          </a:bodyPr>
          <a:lstStyle/>
          <a:p>
            <a:pPr algn="ctr"/>
            <a:r>
              <a:rPr sz="1800" b="1">
                <a:solidFill>
                  <a:srgbClr val="FFFFFF"/>
                </a:solidFill>
                <a:latin typeface="Arial"/>
              </a:rPr>
              <a:t>PLOT → EXPLAIN</a:t>
            </a:r>
          </a:p>
        </p:txBody>
      </p:sp>
      <p:sp xmlns:a="http://schemas.openxmlformats.org/drawingml/2006/main">
        <p:nvSpPr>
          <p:cNvPr id="900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41</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extLst>
      <p:ext uri="{BB962C8B-B14F-4D97-AF65-F5344CB8AC3E}">
        <p14:creationId xmlns:p14="http://schemas.microsoft.com/office/powerpoint/2010/main" val="89845436"/>
      </p:ext>
    </p:extLst>
  </p:cSld>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1" name="Google Shape;1051;p11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2" name="Google Shape;1052;p11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3" name="Google Shape;1053;p111"/>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represent ratios on a coordinate plane.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look for structure on the graph of a ratio relationship to determine equivalent ratios.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41</a:t>
            </a:r>
          </a:p>
        </p:txBody>
      </p:sp>
      <p:grpSp>
        <p:nvGrpSpPr>
          <p:cNvPr id="9003" name="TEACH-1-student-move" descr="TEACH 1 · Facilitate clear, standards-based content learning"/>
          <p:cNvGrpSpPr/>
          <p:nvPr/>
        </p:nvGrpSpPr>
        <p:grpSpPr>
          <a:xfrm>
            <a:off x="502920" y="5472790"/>
            <a:ext cx="11186160" cy="402336"/>
            <a:chOff x="502920" y="5472790"/>
            <a:chExt cx="11186160" cy="402336"/>
          </a:xfrm>
        </p:grpSpPr>
        <p:sp>
          <p:nvSpPr>
            <p:cNvPr id="9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7BAEB1-9916-4AB1-AA61-9460EC1C4552}"/>
              </a:ext>
            </a:extLst>
          </p:cNvPr>
          <p:cNvSpPr>
            <a:spLocks xmlns:a="http://schemas.openxmlformats.org/drawingml/2006/main" noGrp="1"/>
          </p:cNvSpPr>
          <p:nvPr/>
        </p:nvSpPr>
        <p:spPr>
          <a:xfrm xmlns:a="http://schemas.openxmlformats.org/drawingml/2006/main">
            <a:off x="514350" y="3810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0:p xmlns:ns0="http://schemas.openxmlformats.org/drawingml/2006/main">
            <ns0:pPr>
              <ns0:defRPr sz="2700" b="1">
                <ns0:solidFill>
                  <ns0:srgbClr val="782DA0"/>
                </ns0:solidFill>
                <ns0:latin typeface="Arial"/>
                <ns0:ea typeface="Arial"/>
                <ns0:cs typeface="Arial"/>
              </ns0:defRPr>
            </ns0:pPr>
            <ns0:r>
              <ns0:rPr sz="2800" b="1">
                <ns0:solidFill>
                  <ns0:srgbClr val="782DA0"/>
                </ns0:solidFill>
                <ns0:latin typeface="Arial"/>
                <ns0:ea typeface="Arial"/>
                <ns0:cs typeface="Arial"/>
              </ns0:rPr>
              <ns0:t>Teacher Reference — Graphs and Ratios</ns0:t>
            </ns0:r>
          </ns0:p>
        </p:txBody>
      </p:sp>
      <p:sp>
        <p:nvSpPr>
          <p:cNvPr id="2" name="">
            <a:extLst xmlns:a="http://schemas.openxmlformats.org/drawingml/2006/main">
              <a:ext uri="{FF2B5EF4-FFF2-40B4-BE49-F238E27FC236}">
                <a16:creationId xmlns:a16="http://schemas.microsoft.com/office/drawing/2014/main" id="{8AECBF65-2DDD-4C04-AECB-7C83441E16F7}"/>
              </a:ext>
            </a:extLst>
          </p:cNvPr>
          <p:cNvSpPr>
            <a:spLocks xmlns:a="http://schemas.openxmlformats.org/drawingml/2006/main" noGrp="1"/>
          </p:cNvSpPr>
          <p:nvPr/>
        </p:nvSpPr>
        <p:spPr>
          <a:xfrm xmlns:a="http://schemas.openxmlformats.org/drawingml/2006/main">
            <a:off x="523875" y="1028700"/>
            <a:ext cx="866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1:p xmlns:ns1="http://schemas.openxmlformats.org/drawingml/2006/main">
            <ns1:pPr>
              <ns1:defRPr sz="1575" b="0">
                <ns1:solidFill>
                  <ns1:srgbClr val="5D6872"/>
                </ns1:solidFill>
                <ns1:latin typeface="Arial"/>
                <ns1:ea typeface="Arial"/>
                <ns1:cs typeface="Arial"/>
              </ns1:defRPr>
            </ns1:pPr>
            <ns1:r>
              <ns1:rPr sz="1700" b="0">
                <ns1:solidFill>
                  <ns1:srgbClr val="5D6872"/>
                </ns1:solidFill>
                <ns1:latin typeface="Arial"/>
                <ns1:ea typeface="Arial"/>
                <ns1:cs typeface="Arial"/>
              </ns1:rPr>
              <ns1:t>Hidden from the student slideshow; use checks to choose the next step.</ns1:t>
            </ns1:r>
          </ns1:p>
        </p:txBody>
      </p:sp>
      <p:sp>
        <p:nvSpPr>
          <p:cNvPr id="3" name="">
            <a:extLst xmlns:a="http://schemas.openxmlformats.org/drawingml/2006/main">
              <a:ext uri="{FF2B5EF4-FFF2-40B4-BE49-F238E27FC236}">
                <a16:creationId xmlns:a16="http://schemas.microsoft.com/office/drawing/2014/main" id="{AA7C3F0D-B507-478A-AE3F-38B8AF6828CF}"/>
              </a:ext>
            </a:extLst>
          </p:cNvPr>
          <p:cNvSpPr>
            <a:spLocks xmlns:a="http://schemas.openxmlformats.org/drawingml/2006/main" noGrp="1"/>
          </p:cNvSpPr>
          <p:nvPr/>
        </p:nvSpPr>
        <p:spPr>
          <a:xfrm xmlns:a="http://schemas.openxmlformats.org/drawingml/2006/main">
            <a:off x="647700"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2:p xmlns:ns2="http://schemas.openxmlformats.org/drawingml/2006/main">
            <ns2:pPr>
              <ns2:defRPr sz="1875" b="0">
                <ns2:solidFill>
                  <ns2:srgbClr val="23282D"/>
                </ns2:solidFill>
                <ns2:latin typeface="Arial"/>
                <ns2:ea typeface="Arial"/>
                <ns2:cs typeface="Arial"/>
              </ns2:defRPr>
            </ns2:pPr>
            <ns2:r>
              <ns2:rPr sz="1800" b="0">
                <ns2:solidFill>
                  <ns2:srgbClr val="23282D"/>
                </ns2:solidFill>
                <ns2:latin typeface="Arial"/>
                <ns2:ea typeface="Arial"/>
                <ns2:cs typeface="Arial"/>
              </ns2:rPr>
              <ns2:t>Session 1: label both axes, read the scale, and interpret (x, y) in context.</ns2:t>
            </ns2:r>
          </ns2:p>
        </p:txBody>
      </p:sp>
      <p:sp>
        <p:nvSpPr>
          <p:cNvPr id="4" name="">
            <a:extLst xmlns:a="http://schemas.openxmlformats.org/drawingml/2006/main">
              <a:ext uri="{FF2B5EF4-FFF2-40B4-BE49-F238E27FC236}">
                <a16:creationId xmlns:a16="http://schemas.microsoft.com/office/drawing/2014/main" id="{6DFE7CA2-BAFF-492A-A555-12999D93CE28}"/>
              </a:ext>
            </a:extLst>
          </p:cNvPr>
          <p:cNvSpPr>
            <a:spLocks xmlns:a="http://schemas.openxmlformats.org/drawingml/2006/main" noGrp="1"/>
          </p:cNvSpPr>
          <p:nvPr/>
        </p:nvSpPr>
        <p:spPr>
          <a:xfrm xmlns:a="http://schemas.openxmlformats.org/drawingml/2006/main">
            <a:off x="647700" y="22479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3:p xmlns:ns3="http://schemas.openxmlformats.org/drawingml/2006/main">
            <ns3:pPr>
              <ns3:defRPr sz="1875" b="0">
                <ns3:solidFill>
                  <ns3:srgbClr val="23282D"/>
                </ns3:solidFill>
                <ns3:latin typeface="Arial"/>
                <ns3:ea typeface="Arial"/>
                <ns3:cs typeface="Arial"/>
              </ns3:defRPr>
            </ns3:pPr>
            <ns3:r>
              <ns3:rPr sz="1800" b="0">
                <ns3:solidFill>
                  <ns3:srgbClr val="23282D"/>
                </ns3:solidFill>
                <ns3:latin typeface="Arial"/>
                <ns3:ea typeface="Arial"/>
                <ns3:cs typeface="Arial"/>
              </ns3:rPr>
              <ns3:t>Quick check: 4 bags → 24 balls, so (4, 24). Move 4 across, then 24 up.</ns3:t>
            </ns3:r>
          </ns3:p>
        </p:txBody>
      </p:sp>
      <p:sp>
        <p:nvSpPr>
          <p:cNvPr id="5" name="">
            <a:extLst xmlns:a="http://schemas.openxmlformats.org/drawingml/2006/main">
              <a:ext uri="{FF2B5EF4-FFF2-40B4-BE49-F238E27FC236}">
                <a16:creationId xmlns:a16="http://schemas.microsoft.com/office/drawing/2014/main" id="{654F41D6-D23B-4FA8-B239-BF0F599A347A}"/>
              </a:ext>
            </a:extLst>
          </p:cNvPr>
          <p:cNvSpPr>
            <a:spLocks xmlns:a="http://schemas.openxmlformats.org/drawingml/2006/main" noGrp="1"/>
          </p:cNvSpPr>
          <p:nvPr/>
        </p:nvSpPr>
        <p:spPr>
          <a:xfrm xmlns:a="http://schemas.openxmlformats.org/drawingml/2006/main">
            <a:off x="647700" y="28289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4:p xmlns:ns4="http://schemas.openxmlformats.org/drawingml/2006/main">
            <ns4:pPr>
              <ns4:defRPr sz="1875" b="0">
                <ns4:solidFill>
                  <ns4:srgbClr val="23282D"/>
                </ns4:solidFill>
                <ns4:latin typeface="Arial"/>
                <ns4:ea typeface="Arial"/>
                <ns4:cs typeface="Arial"/>
              </ns4:defRPr>
            </ns4:pPr>
            <ns4:r>
              <ns4:rPr sz="1800" b="0">
                <ns4:solidFill>
                  <ns4:srgbClr val="23282D"/>
                </ns4:solidFill>
                <ns4:latin typeface="Arial"/>
                <ns4:ea typeface="Arial"/>
                <ns4:cs typeface="Arial"/>
              </ns4:rPr>
              <ns4:t>Listen for reversed coordinates or counting grid marks instead of units.</ns4:t>
            </ns4:r>
          </ns4:p>
        </p:txBody>
      </p:sp>
      <p:sp>
        <p:nvSpPr>
          <p:cNvPr id="6" name="">
            <a:extLst xmlns:a="http://schemas.openxmlformats.org/drawingml/2006/main">
              <a:ext uri="{FF2B5EF4-FFF2-40B4-BE49-F238E27FC236}">
                <a16:creationId xmlns:a16="http://schemas.microsoft.com/office/drawing/2014/main" id="{25CA5D2C-A3EE-4FFF-B91D-2EF9A9370AC9}"/>
              </a:ext>
            </a:extLst>
          </p:cNvPr>
          <p:cNvSpPr>
            <a:spLocks xmlns:a="http://schemas.openxmlformats.org/drawingml/2006/main" noGrp="1"/>
          </p:cNvSpPr>
          <p:nvPr/>
        </p:nvSpPr>
        <p:spPr>
          <a:xfrm xmlns:a="http://schemas.openxmlformats.org/drawingml/2006/main">
            <a:off x="647700" y="34099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5:p xmlns:ns5="http://schemas.openxmlformats.org/drawingml/2006/main">
            <ns5:pPr>
              <ns5:defRPr sz="1875" b="0">
                <ns5:solidFill>
                  <ns5:srgbClr val="23282D"/>
                </ns5:solidFill>
                <ns5:latin typeface="Arial"/>
                <ns5:ea typeface="Arial"/>
                <ns5:cs typeface="Arial"/>
              </ns5:defRPr>
            </ns5:pPr>
            <ns5:r>
              <ns5:rPr sz="1800" b="0">
                <ns5:solidFill>
                  <ns5:srgbClr val="23282D"/>
                </ns5:solidFill>
                <ns5:latin typeface="Arial"/>
                <ns5:ea typeface="Arial"/>
                <ns5:cs typeface="Arial"/>
              </ns5:rPr>
              <ns5:t>If needed, model (1, 6), then ask the student to plot and explain (2, 12).</ns5:t>
            </ns5:r>
          </ns5:p>
        </p:txBody>
      </p:sp>
      <p:sp>
        <p:nvSpPr>
          <p:cNvPr id="7" name="">
            <a:extLst xmlns:a="http://schemas.openxmlformats.org/drawingml/2006/main">
              <a:ext uri="{FF2B5EF4-FFF2-40B4-BE49-F238E27FC236}">
                <a16:creationId xmlns:a16="http://schemas.microsoft.com/office/drawing/2014/main" id="{2035C9B7-B949-4B63-874C-BF89D37F3499}"/>
              </a:ext>
            </a:extLst>
          </p:cNvPr>
          <p:cNvSpPr>
            <a:spLocks xmlns:a="http://schemas.openxmlformats.org/drawingml/2006/main" noGrp="1"/>
          </p:cNvSpPr>
          <p:nvPr/>
        </p:nvSpPr>
        <p:spPr>
          <a:xfrm xmlns:a="http://schemas.openxmlformats.org/drawingml/2006/main">
            <a:off x="647700" y="39909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6:p xmlns:ns6="http://schemas.openxmlformats.org/drawingml/2006/main">
            <ns6:pPr>
              <ns6:defRPr sz="1875" b="0">
                <ns6:solidFill>
                  <ns6:srgbClr val="23282D"/>
                </ns6:solidFill>
                <ns6:latin typeface="Arial"/>
                <ns6:ea typeface="Arial"/>
                <ns6:cs typeface="Arial"/>
              </ns6:defRPr>
            </ns6:pPr>
            <ns6:r>
              <ns6:rPr sz="1800" b="0">
                <ns6:solidFill>
                  <ns6:srgbClr val="23282D"/>
                </ns6:solidFill>
                <ns6:latin typeface="Arial"/>
                <ns6:ea typeface="Arial"/>
                <ns6:cs typeface="Arial"/>
              </ns6:rPr>
              <ns6:t>Session 2: Lucy uses 5 beads per charm; every point follows y = 5x.</ns6:t>
            </ns6:r>
          </ns6:p>
        </p:txBody>
      </p:sp>
      <p:sp>
        <p:nvSpPr>
          <p:cNvPr id="8" name="">
            <a:extLst xmlns:a="http://schemas.openxmlformats.org/drawingml/2006/main">
              <a:ext uri="{FF2B5EF4-FFF2-40B4-BE49-F238E27FC236}">
                <a16:creationId xmlns:a16="http://schemas.microsoft.com/office/drawing/2014/main" id="{438580A4-F898-442E-A7BC-DF75605DBBB9}"/>
              </a:ext>
            </a:extLst>
          </p:cNvPr>
          <p:cNvSpPr>
            <a:spLocks xmlns:a="http://schemas.openxmlformats.org/drawingml/2006/main" noGrp="1"/>
          </p:cNvSpPr>
          <p:nvPr/>
        </p:nvSpPr>
        <p:spPr>
          <a:xfrm xmlns:a="http://schemas.openxmlformats.org/drawingml/2006/main">
            <a:off x="647700" y="4572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7:p xmlns:ns7="http://schemas.openxmlformats.org/drawingml/2006/main">
            <ns7:pPr>
              <ns7:defRPr sz="1875" b="0">
                <ns7:solidFill>
                  <ns7:srgbClr val="23282D"/>
                </ns7:solidFill>
                <ns7:latin typeface="Arial"/>
                <ns7:ea typeface="Arial"/>
                <ns7:cs typeface="Arial"/>
              </ns7:defRPr>
            </ns7:pPr>
            <ns7:r>
              <ns7:rPr sz="1800" b="0">
                <ns7:solidFill>
                  <ns7:srgbClr val="23282D"/>
                </ns7:solidFill>
                <ns7:latin typeface="Arial"/>
                <ns7:ea typeface="Arial"/>
                <ns7:cs typeface="Arial"/>
              </ns7:rPr>
              <ns7:t>Exit: (3, 15). Both (3, 15) and (4, 20) have 5 beads for each charm.</ns7:t>
            </ns7:r>
          </ns7:p>
        </p:txBody>
      </p:sp>
      <p:sp>
        <p:nvSpPr>
          <p:cNvPr id="9" name="">
            <a:extLst xmlns:a="http://schemas.openxmlformats.org/drawingml/2006/main">
              <a:ext uri="{FF2B5EF4-FFF2-40B4-BE49-F238E27FC236}">
                <a16:creationId xmlns:a16="http://schemas.microsoft.com/office/drawing/2014/main" id="{003B3763-F383-4316-B79C-EAAFCD365520}"/>
              </a:ext>
            </a:extLst>
          </p:cNvPr>
          <p:cNvSpPr>
            <a:spLocks xmlns:a="http://schemas.openxmlformats.org/drawingml/2006/main" noGrp="1"/>
          </p:cNvSpPr>
          <p:nvPr/>
        </p:nvSpPr>
        <p:spPr>
          <a:xfrm xmlns:a="http://schemas.openxmlformats.org/drawingml/2006/main">
            <a:off x="647700" y="5153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ns8:p xmlns:ns8="http://schemas.openxmlformats.org/drawingml/2006/main">
            <ns8:pPr>
              <ns8:defRPr sz="1875" b="0">
                <ns8:solidFill>
                  <ns8:srgbClr val="23282D"/>
                </ns8:solidFill>
                <ns8:latin typeface="Arial"/>
                <ns8:ea typeface="Arial"/>
                <ns8:cs typeface="Arial"/>
              </ns8:defRPr>
            </ns8:pPr>
            <ns8:r>
              <ns8:rPr sz="1800" b="0">
                <ns8:solidFill>
                  <ns8:srgbClr val="23282D"/>
                </ns8:solidFill>
                <ns8:latin typeface="Arial"/>
                <ns8:ea typeface="Arial"/>
                <ns8:cs typeface="Arial"/>
              </ns8:rPr>
              <ns8:t>Feedback: ask for axis labels and a reason; allow a revision before sharing.</ns8:t>
            </ns8:r>
          </ns8:p>
        </p:txBody>
      </p:sp>
      <p:sp xmlns:a="http://schemas.openxmlformats.org/drawingml/2006/main">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41</a:t>
            </a:r>
          </a:p>
        </p:txBody>
      </p:sp>
      <p:grpSp xmlns:a="http://schemas.openxmlformats.org/drawingml/2006/main">
        <p:nvGrpSpPr>
          <p:cNvPr id="9003" name="TEACH-4-student-move" descr="TEACH 4 · Monitor progress and provide feedback"/>
          <p:cNvGrpSpPr/>
          <p:nvPr/>
        </p:nvGrpSpPr>
        <p:grpSpPr>
          <a:xfrm>
            <a:off x="502920" y="5582031"/>
            <a:ext cx="11186160" cy="640080"/>
            <a:chOff x="502920" y="5582031"/>
            <a:chExt cx="11186160" cy="640080"/>
          </a:xfrm>
        </p:grpSpPr>
        <p:sp>
          <p:nvSpPr>
            <p:cNvPr id="9004" name="TEACH-move-card"/>
            <p:cNvSpPr/>
            <p:nvPr/>
          </p:nvSpPr>
          <p:spPr>
            <a:xfrm>
              <a:off x="502920" y="5582031"/>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703646"/>
              <a:ext cx="100584" cy="396850"/>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82031"/>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REVISE NOW  ·  </a:t>
              </a:r>
              <a:r>
                <a:rPr lang="en-US" sz="1600" dirty="0">
                  <a:solidFill>
                    <a:srgbClr val="13303A"/>
                  </a:solidFill>
                  <a:latin typeface="Arial"/>
                </a:rPr>
                <a:t>Change one answer and write why you changed it. A revision is evidence of learning.</a:t>
              </a:r>
              <a:endParaRPr lang="en-US" sz="1600"/>
            </a:p>
          </p:txBody>
        </p:sp>
      </p:grpSp>
    </p:spTree>
    <p:extLst>
      <p:ext uri="{BB962C8B-B14F-4D97-AF65-F5344CB8AC3E}">
        <p14:creationId xmlns:p14="http://schemas.microsoft.com/office/powerpoint/2010/main" val="758979302"/>
      </p:ext>
    </p:extLst>
  </p:cSld>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38 / 41</a:t>
            </a: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3.4 — Determine Equivalent Ratios Using Graphs</dc:title>
  <dc:creator>Neft Teacher</dc:creator>
  <cp:lastModifiedBy>Neft Teacher</cp:lastModifiedBy>
  <dcterms:created xsi:type="dcterms:W3CDTF">2026-09-30T12:04:43Z</dcterms:created>
  <dcterms:modified xsi:type="dcterms:W3CDTF">2026-09-30T12:04:43Z</dcterms:modified>
</cp:coreProperties>
</file>