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9" r:id="rId22"/>
    <p:sldId id="270" r:id="rId23"/>
    <p:sldId id="256" r:id="rId9"/>
    <p:sldId id="257" r:id="rId10"/>
    <p:sldId id="260" r:id="rId13"/>
    <p:sldId id="328" r:id="rId70"/>
    <p:sldId id="327" r:id="rId51"/>
    <p:sldId id="326" r:id="rId33"/>
    <p:sldId id="325" r:id="rId49"/>
    <p:sldId id="324" r:id="rId36"/>
    <p:sldId id="323" r:id="rId47"/>
    <p:sldId id="322" r:id="rId46"/>
    <p:sldId id="321" r:id="rId45"/>
    <p:sldId id="261" r:id="rId14"/>
    <p:sldId id="272" r:id="rId25"/>
    <p:sldId id="275" r:id="rId28"/>
    <p:sldId id="332" r:id="rId74"/>
    <p:sldId id="277" r:id="rId30"/>
    <p:sldId id="281" r:id="rId34"/>
    <p:sldId id="282" r:id="rId35"/>
    <p:sldId id="284" r:id="rId37"/>
    <p:sldId id="286" r:id="rId39"/>
    <p:sldId id="333" r:id="rId75"/>
    <p:sldId id="329" r:id="rId71"/>
    <p:sldId id="320" r:id="rId38"/>
    <p:sldId id="315" r:id="rId68"/>
    <p:sldId id="334" r:id="rId76"/>
    <p:sldId id="316" r:id="rId69"/>
    <p:sldId id="287" r:id="rId40"/>
    <p:sldId id="291" r:id="rId44"/>
    <p:sldId id="295" r:id="rId48"/>
    <p:sldId id="297" r:id="rId50"/>
    <p:sldId id="299" r:id="rId52"/>
    <p:sldId id="335" r:id="rId77"/>
    <p:sldId id="301" r:id="rId54"/>
    <p:sldId id="303" r:id="rId56"/>
    <p:sldId id="305" r:id="rId58"/>
    <p:sldId id="306" r:id="rId59"/>
    <p:sldId id="307" r:id="rId60"/>
    <p:sldId id="309" r:id="rId62"/>
    <p:sldId id="310" r:id="rId63"/>
    <p:sldId id="311" r:id="rId64"/>
    <p:sldId id="336" r:id="rId78"/>
    <p:sldId id="330" r:id="rId72"/>
    <p:sldId id="319" r:id="rId43"/>
    <p:sldId id="337" r:id="rId79"/>
    <p:sldId id="312" r:id="rId65"/>
    <p:sldId id="313" r:id="rId66"/>
    <p:sldId id="314" r:id="rId67"/>
    <p:sldId id="318" r:id="rId42"/>
    <p:sldId id="317" r:id="rId41"/>
    <p:sldId id="331" r:id="rId73"/>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6.xml"/><Relationship Id="rId28" Type="http://schemas.openxmlformats.org/officeDocument/2006/relationships/slide" Target="slides/slide17.xml"/><Relationship Id="rId30" Type="http://schemas.openxmlformats.org/officeDocument/2006/relationships/slide" Target="slides/slide18.xml"/><Relationship Id="rId33" Type="http://schemas.openxmlformats.org/officeDocument/2006/relationships/slide" Target="slides/slide9.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11.xml"/><Relationship Id="rId37" Type="http://schemas.openxmlformats.org/officeDocument/2006/relationships/slide" Target="slides/slide21.xml"/><Relationship Id="rId38" Type="http://schemas.openxmlformats.org/officeDocument/2006/relationships/slide" Target="slides/slide24.xml"/><Relationship Id="rId39" Type="http://schemas.openxmlformats.org/officeDocument/2006/relationships/slide" Target="slides/slide22.xml"/><Relationship Id="rId40" Type="http://schemas.openxmlformats.org/officeDocument/2006/relationships/slide" Target="slides/slide27.xml"/><Relationship Id="rId41" Type="http://schemas.openxmlformats.org/officeDocument/2006/relationships/slide" Target="slides/slide46.xml"/><Relationship Id="rId42" Type="http://schemas.openxmlformats.org/officeDocument/2006/relationships/slide" Target="slides/slide45.xml"/><Relationship Id="rId43" Type="http://schemas.openxmlformats.org/officeDocument/2006/relationships/slide" Target="slides/slide41.xml"/><Relationship Id="rId44" Type="http://schemas.openxmlformats.org/officeDocument/2006/relationships/slide" Target="slides/slide28.xml"/><Relationship Id="rId45" Type="http://schemas.openxmlformats.org/officeDocument/2006/relationships/slide" Target="slides/slide14.xml"/><Relationship Id="rId46" Type="http://schemas.openxmlformats.org/officeDocument/2006/relationships/slide" Target="slides/slide13.xml"/><Relationship Id="rId47" Type="http://schemas.openxmlformats.org/officeDocument/2006/relationships/slide" Target="slides/slide12.xml"/><Relationship Id="rId48" Type="http://schemas.openxmlformats.org/officeDocument/2006/relationships/slide" Target="slides/slide29.xml"/><Relationship Id="rId49" Type="http://schemas.openxmlformats.org/officeDocument/2006/relationships/slide" Target="slides/slide10.xml"/><Relationship Id="rId50" Type="http://schemas.openxmlformats.org/officeDocument/2006/relationships/slide" Target="slides/slide30.xml"/><Relationship Id="rId51" Type="http://schemas.openxmlformats.org/officeDocument/2006/relationships/slide" Target="slides/slide8.xml"/><Relationship Id="rId52" Type="http://schemas.openxmlformats.org/officeDocument/2006/relationships/slide" Target="slides/slide31.xml"/><Relationship Id="rId54" Type="http://schemas.openxmlformats.org/officeDocument/2006/relationships/slide" Target="slides/slide32.xml"/><Relationship Id="rId56" Type="http://schemas.openxmlformats.org/officeDocument/2006/relationships/slide" Target="slides/slide33.xml"/><Relationship Id="rId58" Type="http://schemas.openxmlformats.org/officeDocument/2006/relationships/slide" Target="slides/slide34.xml"/><Relationship Id="rId59" Type="http://schemas.openxmlformats.org/officeDocument/2006/relationships/slide" Target="slides/slide35.xml"/><Relationship Id="rId60"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2.xml"/><Relationship Id="rId66" Type="http://schemas.openxmlformats.org/officeDocument/2006/relationships/slide" Target="slides/slide43.xml"/><Relationship Id="rId67" Type="http://schemas.openxmlformats.org/officeDocument/2006/relationships/slide" Target="slides/slide44.xml"/><Relationship Id="rId68" Type="http://schemas.openxmlformats.org/officeDocument/2006/relationships/slide" Target="slides/slide25.xml"/><Relationship Id="rId69" Type="http://schemas.openxmlformats.org/officeDocument/2006/relationships/slide" Target="slides/slide26.xml"/><Relationship Id="rId70" Type="http://schemas.openxmlformats.org/officeDocument/2006/relationships/slide" Target="slides/slide7.xml"/><Relationship Id="rId71" Type="http://schemas.openxmlformats.org/officeDocument/2006/relationships/slide" Target="slides/slide23.xml"/><Relationship Id="rId72" Type="http://schemas.openxmlformats.org/officeDocument/2006/relationships/slide" Target="slides/slide40.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49.xml"/><Relationship Id="rId76" Type="http://schemas.openxmlformats.org/officeDocument/2006/relationships/slide" Target="slides/slide50.xml"/><Relationship Id="rId77" Type="http://schemas.openxmlformats.org/officeDocument/2006/relationships/slide" Target="slides/slide51.xml"/><Relationship Id="rId78" Type="http://schemas.openxmlformats.org/officeDocument/2006/relationships/slide" Target="slides/slide52.xml"/><Relationship Id="rId79"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4 | DIVIDER</a:t>
            </a:r>
          </a:p>
          <a:p xmlns:a="http://schemas.openxmlformats.org/drawingml/2006/main">
            <a:pPr>
              <a:buNone/>
            </a:pPr>
            <a:r>
              <a:rPr lang="en-US" sz="1100"/>
              <a:t>Focus on the existing task: Understand Absolute Values of Rational Numbers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5 | WORKED</a:t>
            </a:r>
          </a:p>
          <a:p xmlns:a="http://schemas.openxmlformats.org/drawingml/2006/main">
            <a:pPr>
              <a:buNone/>
            </a:pPr>
            <a:r>
              <a:rPr lang="en-US" sz="1100"/>
              <a:t>Focus on the existing task: About, Between, or Exact It is about ___. It is between ___ and ____. It is exactly ___.</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1 | WARMUP</a:t>
            </a:r>
          </a:p>
          <a:p xmlns:a="http://schemas.openxmlformats.org/drawingml/2006/main">
            <a:pPr>
              <a:buNone/>
            </a:pPr>
            <a:r>
              <a:rPr lang="en-US" sz="1100"/>
              <a:t>Focus on the existing task: Warm-Up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4 units   2) −9   3) 7   4) 7 units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interpret absolute value as nonnegative distance; distinguish magnitude from direction. Review recent work and today’s warm-up to choose flexible groups and access supports; do not infer needs from identity or perceived ability. Use the existing lesson tasks and stated standards.</a:t>
            </a:r>
          </a:p>
          <a:p>
            <a:pPr>
              <a:buNone/>
            </a:pPr>
            <a:r>
              <a:rPr lang="en-US" sz="1100"/>
              <a:t>Anticipate: assigning a negative absolute value to a negative number. If observed, trace distance from zero on the original number line and label position separately.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6 | GOAL</a:t>
            </a:r>
          </a:p>
          <a:p xmlns:a="http://schemas.openxmlformats.org/drawingml/2006/main">
            <a:pPr>
              <a:buNone/>
            </a:pPr>
            <a:r>
              <a:rPr lang="en-US" sz="1100"/>
              <a:t>Focus on the existing task: Today’s Objectives Understand Absolute Value…</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absolute value as nonnegative distance; distinguish magnitude from direction.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15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9" name="Google Shape;519;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 | NOTES</a:t>
            </a:r>
          </a:p>
          <a:p xmlns:a="http://schemas.openxmlformats.org/drawingml/2006/main">
            <a:pPr>
              <a:buNone/>
            </a:pPr>
            <a:r>
              <a:rPr lang="en-US" sz="1100"/>
              <a:t>Focus on the existing task: Today’s Math Notes Section 2: Today’s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7" name="Google Shape;54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16 | CURIOUS</a:t>
            </a:r>
          </a:p>
          <a:p xmlns:a="http://schemas.openxmlformats.org/drawingml/2006/main">
            <a:pPr>
              <a:buNone/>
            </a:pPr>
            <a:r>
              <a:rPr lang="en-US" sz="1100"/>
              <a:t>Focus on the existing task: Be Curious Mindset What can you do to stay productive when you are frustrated with math?</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3" name="Google Shape;583;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17 | REVEAL</a:t>
            </a:r>
          </a:p>
          <a:p xmlns:a="http://schemas.openxmlformats.org/drawingml/2006/main">
            <a:pPr>
              <a:buNone/>
            </a:pPr>
            <a:r>
              <a:rPr lang="en-US" sz="1100"/>
              <a:t>Focus on the existing task: What information do you know?</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liquid in Beaker A is −4°C, and the liquid in Beaker B is 2°C. We need to find which temperature is closer to 0°C.</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can opposite numbers have equal absolute values while representing different positions?” Wait for evidence, invite another pathway, and have a student ask a follow-up question. Do not replace students’ reasoning with a sequence of leading steps.</a:t>
            </a:r>
          </a:p>
        </p:txBody>
      </p:sp>
      <p:sp>
        <p:nvSpPr>
          <p:cNvPr id="611" name="Google Shape;611;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18 | REVEAL</a:t>
            </a:r>
          </a:p>
          <a:p xmlns:a="http://schemas.openxmlformats.org/drawingml/2006/main">
            <a:pPr>
              <a:buNone/>
            </a:pPr>
            <a:r>
              <a:rPr lang="en-US" sz="1100"/>
              <a:t>Focus on the existing task: Reveal: One tool is a number line. Beaker Temperatures The liquid in Beaker A is −4°C, and the liquid in Beaker B is 2°C. We need to…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is a number line.</a:t>
            </a:r>
          </a:p>
          <a:p>
            <a:pPr indent="0" lvl="0" marL="0" rtl="0" algn="l">
              <a:lnSpc>
                <a:spcPct val="100000"/>
              </a:lnSpc>
              <a:spcBef>
                <a:spcPts val="0"/>
              </a:spcBef>
              <a:spcAft>
                <a:spcPts val="0"/>
              </a:spcAft>
              <a:buSzPts val="1400"/>
              <a:buNone/>
            </a:pPr>
            <a:r>
              <a:t>UIFR: TEACH 3 · TEACH 4.</a:t>
            </a:r>
          </a:p>
        </p:txBody>
      </p:sp>
      <p:sp>
        <p:nvSpPr>
          <p:cNvPr id="629" name="Google Shape;629;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19 | COLLABORATE</a:t>
            </a:r>
          </a:p>
          <a:p xmlns:a="http://schemas.openxmlformats.org/drawingml/2006/main">
            <a:pPr>
              <a:buNone/>
            </a:pPr>
            <a:r>
              <a:rPr lang="en-US" sz="1100"/>
              <a:t>Focus on the existing task: Collaborate and Connect Using Tools How does this tool help solve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assigning a negative absolute value to a negative number. If it appears, trace distance from zero on the original number line and label position separately; then ask the student to revise the same response and explain the change. If evidence is secure, have students compare a second valid pathway or state why their approach works. Choose the next step from the responses, not a preset pace.</a:t>
            </a:r>
          </a:p>
        </p:txBody>
      </p:sp>
      <p:sp>
        <p:nvSpPr>
          <p:cNvPr id="676" name="Google Shape;676;p26: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20 | WORKED</a:t>
            </a:r>
          </a:p>
          <a:p xmlns:a="http://schemas.openxmlformats.org/drawingml/2006/main">
            <a:pPr>
              <a:buNone/>
            </a:pPr>
            <a:r>
              <a:rPr lang="en-US" sz="1100"/>
              <a:t>Focus on the existing task: The distance of a number from 0 on the number line is the absolute value, or magnitude, of the number. Distance is always represented by…</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89" name="Google Shape;689;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21 | TASK</a:t>
            </a:r>
          </a:p>
          <a:p xmlns:a="http://schemas.openxmlformats.org/drawingml/2006/main">
            <a:pPr>
              <a:buNone/>
            </a:pPr>
            <a:r>
              <a:rPr lang="en-US" sz="1100"/>
              <a:t>Focus on the existing task: Let’s use absolute value to determine which value is closer to 0. Which beaker has a temperature closer to 0?</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10" name="Google Shape;710;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22 | PRACTICE</a:t>
            </a:r>
          </a:p>
          <a:p xmlns:a="http://schemas.openxmlformats.org/drawingml/2006/main">
            <a:pPr>
              <a:buNone/>
            </a:pPr>
            <a:r>
              <a:rPr lang="en-US" sz="1100"/>
              <a:t>Focus on the existing task: Which has the greater absolute value?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32" name="Google Shape;732;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27 | DIVIDER</a:t>
            </a:r>
          </a:p>
          <a:p xmlns:a="http://schemas.openxmlformats.org/drawingml/2006/main">
            <a:pPr>
              <a:buNone/>
            </a:pPr>
            <a:r>
              <a:rPr lang="en-US" sz="1100"/>
              <a:t>Focus on the existing task: Understand Absolute Values of Rational Numbers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41" name="Google Shape;741;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28 | TASK</a:t>
            </a:r>
          </a:p>
          <a:p xmlns:a="http://schemas.openxmlformats.org/drawingml/2006/main">
            <a:pPr>
              <a:buNone/>
            </a:pPr>
            <a:r>
              <a:rPr lang="en-US" sz="1100"/>
              <a:t>Focus on the existing task: Record Temperatures The greatest temperature swing in a 24-hour period happened in Loma, Montana in 1972. How great was the temperature swing?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can opposite numbers have equal absolute values while representing different positions?” Wait for evidence, invite another pathway, and have a student ask a follow-up question. Do not replace students’ reasoning with a sequence of leading steps.</a:t>
            </a:r>
          </a:p>
        </p:txBody>
      </p:sp>
      <p:sp>
        <p:nvSpPr>
          <p:cNvPr id="783" name="Google Shape;783;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29 | TASK</a:t>
            </a:r>
          </a:p>
          <a:p xmlns:a="http://schemas.openxmlformats.org/drawingml/2006/main">
            <a:pPr>
              <a:buNone/>
            </a:pPr>
            <a:r>
              <a:rPr lang="en-US" sz="1100"/>
              <a:t>Focus on the existing task: The greatest temperature swing in a 24-hour period happened in Loma, Montana in 1972. How great was the temperature swing?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The greatest temperature swing in a 24-hour period happened in Loma, Montana in 1972. How great was the temperature swing?</a:t>
            </a:r>
          </a:p>
          <a:p>
            <a:pPr indent="0" lvl="0" marL="0" rtl="0" algn="l">
              <a:lnSpc>
                <a:spcPct val="100000"/>
              </a:lnSpc>
              <a:spcBef>
                <a:spcPts val="0"/>
              </a:spcBef>
              <a:spcAft>
                <a:spcPts val="0"/>
              </a:spcAft>
              <a:buSzPts val="1400"/>
              <a:buNone/>
            </a:pPr>
            <a:r>
              <a:t>UIFR: TEACH 1 · TEACH 3.</a:t>
            </a:r>
          </a:p>
        </p:txBody>
      </p:sp>
      <p:sp>
        <p:nvSpPr>
          <p:cNvPr id="824" name="Google Shape;824;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30 | REVEAL</a:t>
            </a:r>
          </a:p>
          <a:p xmlns:a="http://schemas.openxmlformats.org/drawingml/2006/main">
            <a:pPr>
              <a:buNone/>
            </a:pPr>
            <a:r>
              <a:rPr lang="en-US" sz="1100"/>
              <a:t>Focus on the existing task: We can use a number line to represent the problem. We need to find how far apart the two temperatures were. What do you notice about the locations of the two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number is to the left of 0 and the other is to the right of 0.</a:t>
            </a:r>
          </a:p>
          <a:p>
            <a:pPr indent="0" lvl="0" marL="0" rtl="0" algn="l">
              <a:lnSpc>
                <a:spcPct val="100000"/>
              </a:lnSpc>
              <a:spcBef>
                <a:spcPts val="0"/>
              </a:spcBef>
              <a:spcAft>
                <a:spcPts val="0"/>
              </a:spcAft>
              <a:buSzPts val="1400"/>
              <a:buNone/>
            </a:pPr>
            <a:r>
              <a:t>UIFR: TEACH 3 · TEACH 4.</a:t>
            </a:r>
          </a:p>
        </p:txBody>
      </p:sp>
      <p:sp>
        <p:nvSpPr>
          <p:cNvPr id="848" name="Google Shape;848;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31 | REVEAL</a:t>
            </a:r>
          </a:p>
          <a:p xmlns:a="http://schemas.openxmlformats.org/drawingml/2006/main">
            <a:pPr>
              <a:buNone/>
            </a:pPr>
            <a:r>
              <a:rPr lang="en-US" sz="1100"/>
              <a:t>Focus on the existing task: −54 is to the left of 0 and 49 is to the right of 0. Reveal: The temperature swing is the sum of the distance from −54 to 0 and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temperature swing is the sum of the distance from −54 to 0 and the distance from 0 to 49.</a:t>
            </a:r>
          </a:p>
          <a:p>
            <a:pPr indent="0" lvl="0" marL="0" rtl="0" algn="l">
              <a:lnSpc>
                <a:spcPct val="100000"/>
              </a:lnSpc>
              <a:spcBef>
                <a:spcPts val="0"/>
              </a:spcBef>
              <a:spcAft>
                <a:spcPts val="0"/>
              </a:spcAft>
              <a:buSzPts val="1400"/>
              <a:buNone/>
            </a:pPr>
            <a:r>
              <a:t>UIFR: TEACH 3 · TEACH 4.</a:t>
            </a:r>
          </a:p>
        </p:txBody>
      </p:sp>
      <p:sp>
        <p:nvSpPr>
          <p:cNvPr id="870" name="Google Shape;870;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32 | REVEAL</a:t>
            </a:r>
          </a:p>
          <a:p xmlns:a="http://schemas.openxmlformats.org/drawingml/2006/main">
            <a:pPr>
              <a:buNone/>
            </a:pPr>
            <a:r>
              <a:rPr lang="en-US" sz="1100"/>
              <a:t>Focus on the existing task: The temperature swing is the sum of each number’s distance from 0. Let’s determine the distance of each number from 0. How do the distances relate to the absolute value of each number?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absolute value of each number is the same as the distance we found from 0.</a:t>
            </a:r>
          </a:p>
          <a:p>
            <a:pPr indent="0" lvl="0" marL="0" rtl="0" algn="l">
              <a:lnSpc>
                <a:spcPct val="100000"/>
              </a:lnSpc>
              <a:spcBef>
                <a:spcPts val="0"/>
              </a:spcBef>
              <a:spcAft>
                <a:spcPts val="0"/>
              </a:spcAft>
              <a:buSzPts val="1400"/>
              <a:buNone/>
            </a:pPr>
            <a:r>
              <a:t>UIFR: TEACH 3 · TEACH 4.</a:t>
            </a:r>
          </a:p>
        </p:txBody>
      </p:sp>
      <p:sp>
        <p:nvSpPr>
          <p:cNvPr id="890" name="Google Shape;890;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33 | REVEAL</a:t>
            </a:r>
          </a:p>
          <a:p xmlns:a="http://schemas.openxmlformats.org/drawingml/2006/main">
            <a:pPr>
              <a:buNone/>
            </a:pPr>
            <a:r>
              <a:rPr lang="en-US" sz="1100"/>
              <a:t>Focus on the existing task: Reveal: We can add the absolute values of the numbers. How can you use the absolute values to determine the total distance between the two numbers?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add the absolute values of the numbers.</a:t>
            </a:r>
          </a:p>
          <a:p>
            <a:pPr indent="0" lvl="0" marL="0" rtl="0" algn="l">
              <a:lnSpc>
                <a:spcPct val="100000"/>
              </a:lnSpc>
              <a:spcBef>
                <a:spcPts val="0"/>
              </a:spcBef>
              <a:spcAft>
                <a:spcPts val="0"/>
              </a:spcAft>
              <a:buSzPts val="1400"/>
              <a:buNone/>
            </a:pPr>
            <a:r>
              <a:t>UIFR: TEACH 3 · TEACH 4.</a:t>
            </a:r>
          </a:p>
        </p:txBody>
      </p:sp>
      <p:sp>
        <p:nvSpPr>
          <p:cNvPr id="913" name="Google Shape;913;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34 | COLLABORATE</a:t>
            </a:r>
          </a:p>
          <a:p xmlns:a="http://schemas.openxmlformats.org/drawingml/2006/main">
            <a:pPr>
              <a:buNone/>
            </a:pPr>
            <a:r>
              <a:rPr lang="en-US" sz="1100"/>
              <a:t>Focus on the existing task: Collaborate and Connect We can add the absolute values to determine the total distance between the two numbers. What is the sum of the absolute values?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assigning a negative absolute value to a negative number. If it appears, trace distance from zero on the original number line and label position separately; then ask the student to revise the same response and explain the change. If evidence is secure, have students compare a second valid pathway or state why their approach works. Choose the next step from the responses, not a preset pace.</a:t>
            </a:r>
          </a:p>
        </p:txBody>
      </p:sp>
      <p:sp>
        <p:nvSpPr>
          <p:cNvPr id="941" name="Google Shape;941;p50: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35 | TASK</a:t>
            </a:r>
          </a:p>
          <a:p xmlns:a="http://schemas.openxmlformats.org/drawingml/2006/main">
            <a:pPr>
              <a:buNone/>
            </a:pPr>
            <a:r>
              <a:rPr lang="en-US" sz="1100"/>
              <a:t>Focus on the existing task: Think About It: Record Temperatures What should be the unit of measure given the context of the situation?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54" name="Google Shape;954;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36 | TASK</a:t>
            </a:r>
          </a:p>
          <a:p xmlns:a="http://schemas.openxmlformats.org/drawingml/2006/main">
            <a:pPr>
              <a:buNone/>
            </a:pPr>
            <a:r>
              <a:rPr lang="en-US" sz="1100"/>
              <a:t>Focus on the existing task: What should be the unit of measure given the context of the situation?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67" name="Google Shape;967;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37 | REVEAL</a:t>
            </a:r>
          </a:p>
          <a:p xmlns:a="http://schemas.openxmlformats.org/drawingml/2006/main">
            <a:pPr>
              <a:buNone/>
            </a:pPr>
            <a:r>
              <a:rPr lang="en-US" sz="1100"/>
              <a:t>Focus on the existing task: Record Temperatures Reveal: degrees Fahrenheit What should be the unit of measure given the context of the situation?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degrees Fahrenheit</a:t>
            </a:r>
          </a:p>
          <a:p>
            <a:pPr indent="0" lvl="0" marL="0" rtl="0" algn="l">
              <a:lnSpc>
                <a:spcPct val="100000"/>
              </a:lnSpc>
              <a:spcBef>
                <a:spcPts val="0"/>
              </a:spcBef>
              <a:spcAft>
                <a:spcPts val="0"/>
              </a:spcAft>
              <a:buSzPts val="1400"/>
              <a:buNone/>
            </a:pPr>
            <a:r>
              <a:t>UIFR: TEACH 3 · TEACH 4.</a:t>
            </a:r>
          </a:p>
        </p:txBody>
      </p:sp>
      <p:sp>
        <p:nvSpPr>
          <p:cNvPr id="993" name="Google Shape;993;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38 | TASK</a:t>
            </a:r>
          </a:p>
          <a:p xmlns:a="http://schemas.openxmlformats.org/drawingml/2006/main">
            <a:pPr>
              <a:buNone/>
            </a:pPr>
            <a:r>
              <a:rPr lang="en-US" sz="1100"/>
              <a:t>Focus on the existing task: The greatest temperature swing in a 24-hour period happened in Loma, Montana in 1972. The temperature swing was 103°F. How great was the temperature swing?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06" name="Google Shape;1006;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39 | PRACTICE</a:t>
            </a:r>
          </a:p>
          <a:p xmlns:a="http://schemas.openxmlformats.org/drawingml/2006/main">
            <a:pPr>
              <a:buNone/>
            </a:pPr>
            <a:r>
              <a:rPr lang="en-US" sz="1100"/>
              <a:t>Focus on the existing task: Let’s Explore More What other temperature has the same magnitude as −54°F?</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17" name="Google Shape;1017;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42 | SUMMARIZE</a:t>
            </a:r>
          </a:p>
          <a:p xmlns:a="http://schemas.openxmlformats.org/drawingml/2006/main">
            <a:pPr>
              <a:buNone/>
            </a:pPr>
            <a:r>
              <a:rPr lang="en-US" sz="1100"/>
              <a:t>Focus on the existing task: Summarize: Understand Absolute Values of Numbers The absolute value of a number is its distance from 0 on the number line. The distance…</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29" name="Google Shape;1029;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43 | APPLY</a:t>
            </a:r>
          </a:p>
          <a:p xmlns:a="http://schemas.openxmlformats.org/drawingml/2006/main">
            <a:pPr>
              <a:buNone/>
            </a:pPr>
            <a:r>
              <a:rPr lang="en-US" sz="1100"/>
              <a:t>Focus on the existing task: Apply: Comparing Heights Two of the tallest formations on Earth are Mount Everest and Mauna Kea. Mount Everest is a mountain in South Asia.</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interpret absolute value as nonnegative distance; distinguish magnitude from direction. Respond with one specific next step tied to the work. Students revise and annotate what changed, then identify a criterion they can now demonstrate and one they still need to practice.</a:t>
            </a:r>
          </a:p>
        </p:txBody>
      </p:sp>
      <p:sp>
        <p:nvSpPr>
          <p:cNvPr id="1038" name="Google Shape;1038;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7.3, slide 44 | REFLECTION</a:t>
            </a:r>
          </a:p>
          <a:p xmlns:a="http://schemas.openxmlformats.org/drawingml/2006/main">
            <a:pPr>
              <a:buNone/>
            </a:pPr>
            <a:r>
              <a:rPr lang="en-US" sz="1100"/>
              <a:t>Focus on the existing task: Learning Targets I can explain that the absolute value of a number is the distance between the number and zero on a number line. I can use…</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47" name="Google Shape;1047;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7.3, slide 25 | WARMUP</a:t>
            </a:r>
          </a:p>
          <a:p xmlns:a="http://schemas.openxmlformats.org/drawingml/2006/main">
            <a:pPr>
              <a:buNone/>
            </a:pPr>
            <a:r>
              <a:rPr lang="en-US" sz="1100"/>
              <a:t>Focus on the existing task: A −15 B 15 C 0 D 3 Can an absolute value ever be negative?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absolute value as nonnegative distance; distinguish magnitude from direction. Ask: “Which part of your work would show this?” Revisit that evidence after the task; a confidence rating alone is not evidence of understanding.</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7.3, slide 26 | NOTES</a:t>
            </a:r>
          </a:p>
          <a:p xmlns:a="http://schemas.openxmlformats.org/drawingml/2006/main">
            <a:pPr>
              <a:buNone/>
            </a:pPr>
            <a:r>
              <a:rPr lang="en-US" sz="1100"/>
              <a:t>Focus on the existing task: Today’s Math Notes Review Notes —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46 | REFLECTION</a:t>
            </a:r>
          </a:p>
          <a:p xmlns:a="http://schemas.openxmlformats.org/drawingml/2006/main">
            <a:pPr>
              <a:buNone/>
            </a:pPr>
            <a:r>
              <a:rPr lang="en-US" sz="1100"/>
              <a:t>Focus on the existing task: Learning Targets I can explain that the absolute value of a number is the distance between the number and zero on a number line. I can use…</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assigning a negative absolute value to a negative number.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trace distance from zero on the original number line and label position separately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7 | PRIOR_INSERT</a:t>
            </a:r>
          </a:p>
          <a:p xmlns:a="http://schemas.openxmlformats.org/drawingml/2006/main">
            <a:pPr>
              <a:buNone/>
            </a:pPr>
            <a:r>
              <a:rPr lang="en-US" sz="1100"/>
              <a:t>Focus on the existing task: LESSON 7.3 / OUR LEARNING What will show your learning?</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8 | VOCAB</a:t>
            </a:r>
          </a:p>
          <a:p xmlns:a="http://schemas.openxmlformats.org/drawingml/2006/main">
            <a:pPr>
              <a:buNone/>
            </a:pPr>
            <a:r>
              <a:rPr lang="en-US" sz="1100"/>
              <a:t>Focus on the existing task: Vocabulary 1 of 7 Integers and Absolute…</a:t>
            </a:r>
          </a:p>
          <a:p xmlns:a="http://schemas.openxmlformats.org/drawingml/2006/main">
            <a:pPr>
              <a:buNone/>
            </a:pPr>
            <a:r>
              <a:rPr lang="en-US" sz="1100"/>
              <a:t>ASK (T1/3/5): Where does “Integers and Absolute Value”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9 | VOCAB</a:t>
            </a:r>
          </a:p>
          <a:p xmlns:a="http://schemas.openxmlformats.org/drawingml/2006/main">
            <a:pPr>
              <a:buNone/>
            </a:pPr>
            <a:r>
              <a:rPr lang="en-US" sz="1100"/>
              <a:t>Focus on the existing task: Vocabulary 2 of 7 Integer Whole numbers and…</a:t>
            </a:r>
          </a:p>
          <a:p xmlns:a="http://schemas.openxmlformats.org/drawingml/2006/main">
            <a:pPr>
              <a:buNone/>
            </a:pPr>
            <a:r>
              <a:rPr lang="en-US" sz="1100"/>
              <a:t>ASK (T1/3/5): Where does “Integer”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10 | VOCAB</a:t>
            </a:r>
          </a:p>
          <a:p xmlns:a="http://schemas.openxmlformats.org/drawingml/2006/main">
            <a:pPr>
              <a:buNone/>
            </a:pPr>
            <a:r>
              <a:rPr lang="en-US" sz="1100"/>
              <a:t>Focus on the existing task: Vocabulary 3 of 7 Positive A number bigger…</a:t>
            </a:r>
          </a:p>
          <a:p xmlns:a="http://schemas.openxmlformats.org/drawingml/2006/main">
            <a:pPr>
              <a:buNone/>
            </a:pPr>
            <a:r>
              <a:rPr lang="en-US" sz="1100"/>
              <a:t>ASK (T1/3/5): Where does “Positive”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11 | VOCAB</a:t>
            </a:r>
          </a:p>
          <a:p xmlns:a="http://schemas.openxmlformats.org/drawingml/2006/main">
            <a:pPr>
              <a:buNone/>
            </a:pPr>
            <a:r>
              <a:rPr lang="en-US" sz="1100"/>
              <a:t>Focus on the existing task: Vocabulary 4 of 7 Negative A number smaller…</a:t>
            </a:r>
          </a:p>
          <a:p xmlns:a="http://schemas.openxmlformats.org/drawingml/2006/main">
            <a:pPr>
              <a:buNone/>
            </a:pPr>
            <a:r>
              <a:rPr lang="en-US" sz="1100"/>
              <a:t>ASK (T1/3/5): Where does “Negative”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12 | VOCAB</a:t>
            </a:r>
          </a:p>
          <a:p xmlns:a="http://schemas.openxmlformats.org/drawingml/2006/main">
            <a:pPr>
              <a:buNone/>
            </a:pPr>
            <a:r>
              <a:rPr lang="en-US" sz="1100"/>
              <a:t>Focus on the existing task: Vocabulary 5 of 7 Absolute value How far a…</a:t>
            </a:r>
          </a:p>
          <a:p xmlns:a="http://schemas.openxmlformats.org/drawingml/2006/main">
            <a:pPr>
              <a:buNone/>
            </a:pPr>
            <a:r>
              <a:rPr lang="en-US" sz="1100"/>
              <a:t>ASK (T1/3/5): Where does “Absolute value”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13 | VOCAB</a:t>
            </a:r>
          </a:p>
          <a:p xmlns:a="http://schemas.openxmlformats.org/drawingml/2006/main">
            <a:pPr>
              <a:buNone/>
            </a:pPr>
            <a:r>
              <a:rPr lang="en-US" sz="1100"/>
              <a:t>Focus on the existing task: Vocabulary 6 of 7 Opposite Two numbers the…</a:t>
            </a:r>
          </a:p>
          <a:p xmlns:a="http://schemas.openxmlformats.org/drawingml/2006/main">
            <a:pPr>
              <a:buNone/>
            </a:pPr>
            <a:r>
              <a:rPr lang="en-US" sz="1100"/>
              <a:t>ASK (T1/3/5): Where does “Opposite”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14 | VOCAB</a:t>
            </a:r>
          </a:p>
          <a:p xmlns:a="http://schemas.openxmlformats.org/drawingml/2006/main">
            <a:pPr>
              <a:buNone/>
            </a:pPr>
            <a:r>
              <a:rPr lang="en-US" sz="1100"/>
              <a:t>Focus on the existing task: Vocabulary 7 of 7 Rational number A number…</a:t>
            </a:r>
          </a:p>
          <a:p xmlns:a="http://schemas.openxmlformats.org/drawingml/2006/main">
            <a:pPr>
              <a:buNone/>
            </a:pPr>
            <a:r>
              <a:rPr lang="en-US" sz="1100"/>
              <a:t>ASK (T1/3/5): Where does “Rational number”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23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24 | COLLABORATE</a:t>
            </a:r>
          </a:p>
          <a:p xmlns:a="http://schemas.openxmlformats.org/drawingml/2006/main">
            <a:pPr>
              <a:buNone/>
            </a:pPr>
            <a:r>
              <a:rPr lang="en-US" sz="1100"/>
              <a:t>Focus on the existing task: Collaborate and Connect Let’s graph the temperatures on a number line. We need to find which temperature is closer to 0°C. How far is each value from 0?</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40 | PRIOR_INSERT</a:t>
            </a:r>
          </a:p>
          <a:p xmlns:a="http://schemas.openxmlformats.org/drawingml/2006/main">
            <a:pPr>
              <a:buNone/>
            </a:pPr>
            <a:r>
              <a:rPr lang="en-US" sz="1100"/>
              <a:t>Focus on the existing task: LESSON 7.3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41 | REVEAL</a:t>
            </a:r>
          </a:p>
          <a:p xmlns:a="http://schemas.openxmlformats.org/drawingml/2006/main">
            <a:pPr>
              <a:buNone/>
            </a:pPr>
            <a:r>
              <a:rPr lang="en-US" sz="1100"/>
              <a:t>Focus on the existing task: −54 is to the left of 0 and 49 is to the right of 0. Reveal: The temperature swing is the sum of the distance from −54 to 0 and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45 | CURIOUS</a:t>
            </a:r>
          </a:p>
          <a:p xmlns:a="http://schemas.openxmlformats.org/drawingml/2006/main">
            <a:pPr>
              <a:buNone/>
            </a:pPr>
            <a:r>
              <a:rPr lang="en-US" sz="1100"/>
              <a:t>Focus on the existing task: Be Curious Be Curious What’s the question?</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absolute value as nonnegative distance. Ask which feature of their work supports the claim.</a:t>
            </a:r>
          </a:p>
          <a:p xmlns:a="http://schemas.openxmlformats.org/drawingml/2006/main">
            <a:pPr>
              <a:buNone/>
            </a:pPr>
            <a:r>
              <a:rPr lang="en-US" sz="1100"/>
              <a:t>RESPOND: If this task shows the lesson misconception—assigning a negative absolute value to a negative number—trace distance from zero on the original number line and label position separately.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7.3, slide 47 | PRIOR_INSERT</a:t>
            </a:r>
          </a:p>
          <a:p xmlns:a="http://schemas.openxmlformats.org/drawingml/2006/main">
            <a:pPr>
              <a:buNone/>
            </a:pPr>
            <a:r>
              <a:rPr lang="en-US" sz="1100"/>
              <a:t>Focus on the existing task: LESSON 7.3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interpret absolute value as nonnegative distance; distinguish magnitude from direction.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Absolute Values of Rational Numbers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Absolute Values of Rational Numbers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6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13.png"/><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notesSlide" Target="../notesSlides/notesSlide7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5.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7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5.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7-3 · Understand Absolute Value of Rational Numbers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From 2 to 6 on a number line is ______ units.</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The opposite of 9 is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|−7|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From −4 to 0 is 4 units. From 0 to 3 is 3 units. Total: ______ units.</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53</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4" name="Google Shape;524;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525" name="Google Shape;525;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7" name="Google Shape;527;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8" name="Google Shape;528;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0" name="Google Shape;530;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3" name="Google Shape;533;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Integers and Absolute Value</a:t>
            </a:r>
            <a:endParaRPr/>
          </a:p>
        </p:txBody>
      </p:sp>
      <p:sp>
        <p:nvSpPr>
          <p:cNvPr id="534" name="Google Shape;534;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Integers</a:t>
            </a:r>
            <a:r>
              <a:rPr b="0" i="0" lang="en-US" sz="1450" u="none" cap="none" strike="noStrike">
                <a:solidFill>
                  <a:srgbClr val="475569"/>
                </a:solidFill>
                <a:latin typeface="Arial"/>
                <a:ea typeface="Arial"/>
                <a:cs typeface="Arial"/>
                <a:sym typeface="Arial"/>
              </a:rPr>
              <a:t xml:space="preserve"> are whole numbers and their </a:t>
            </a:r>
            <a:r>
              <a:rPr b="1" i="0" lang="en-US" sz="1450" u="none" cap="none" strike="noStrike">
                <a:solidFill>
                  <a:srgbClr val="475569"/>
                </a:solidFill>
                <a:latin typeface="Arial"/>
                <a:ea typeface="Arial"/>
                <a:cs typeface="Arial"/>
                <a:sym typeface="Arial"/>
              </a:rPr>
              <a:t xml:space="preserve">opposites</a:t>
            </a:r>
            <a:endParaRPr/>
          </a:p>
        </p:txBody>
      </p:sp>
      <p:sp>
        <p:nvSpPr>
          <p:cNvPr id="535" name="Google Shape;535;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8" name="Google Shape;538;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Integer</a:t>
            </a:r>
            <a:endParaRPr/>
          </a:p>
        </p:txBody>
      </p:sp>
      <p:sp>
        <p:nvSpPr>
          <p:cNvPr id="539" name="Google Shape;539;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Whole numbers and their opposites, like −2, −1, 0, 1, 2</a:t>
            </a:r>
            <a:endParaRPr/>
          </a:p>
        </p:txBody>
      </p:sp>
      <p:sp>
        <p:nvSpPr>
          <p:cNvPr id="540" name="Google Shape;540;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3" name="Google Shape;543;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Positive</a:t>
            </a:r>
            <a:endParaRPr/>
          </a:p>
        </p:txBody>
      </p:sp>
      <p:sp>
        <p:nvSpPr>
          <p:cNvPr id="544" name="Google Shape;544;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number bigger than zero</a:t>
            </a:r>
            <a:endParaRPr/>
          </a:p>
        </p:txBody>
      </p:sp>
      <p:sp>
        <p:nvSpPr>
          <p:cNvPr id="5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53</a:t>
            </a:r>
          </a:p>
        </p:txBody>
      </p:sp>
      <p:grpSp>
        <p:nvGrpSpPr>
          <p:cNvPr id="546" name="TEACH-1-student-move" descr="TEACH 1 · Facilitate clear, standards-based content learning"/>
          <p:cNvGrpSpPr/>
          <p:nvPr/>
        </p:nvGrpSpPr>
        <p:grpSpPr>
          <a:xfrm>
            <a:off x="6187440" y="1682496"/>
            <a:ext cx="5501640" cy="594360"/>
            <a:chOff x="6187440" y="1682496"/>
            <a:chExt cx="5501640" cy="594360"/>
          </a:xfrm>
        </p:grpSpPr>
        <p:sp>
          <p:nvSpPr>
            <p:cNvPr id="54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52" name="Google Shape;552;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553" name="Google Shape;553;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55" name="Google Shape;555;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56" name="Google Shape;556;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58" name="Google Shape;558;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Absolute Value</a:t>
            </a:r>
            <a:endParaRPr/>
          </a:p>
        </p:txBody>
      </p:sp>
      <p:sp>
        <p:nvSpPr>
          <p:cNvPr id="560" name="Google Shape;560;p54"/>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54"/>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|a| = Distance of a from 0 (always ≥ 0)</a:t>
            </a:r>
            <a:endParaRPr/>
          </a:p>
        </p:txBody>
      </p:sp>
      <p:sp>
        <p:nvSpPr>
          <p:cNvPr id="562" name="Google Shape;562;p54"/>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4" name="Google Shape;564;p54"/>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Absolute value</a:t>
            </a:r>
            <a:r>
              <a:rPr b="0" i="0" lang="en-US" sz="1600" u="none" cap="none" strike="noStrike">
                <a:solidFill>
                  <a:srgbClr val="14223A"/>
                </a:solidFill>
                <a:latin typeface="Arial"/>
                <a:ea typeface="Arial"/>
                <a:cs typeface="Arial"/>
                <a:sym typeface="Arial"/>
              </a:rPr>
              <a:t xml:space="preserve"> represents </a:t>
            </a:r>
            <a:r>
              <a:rPr b="1" i="0" lang="en-US" sz="1600" u="none" cap="none" strike="noStrike">
                <a:solidFill>
                  <a:srgbClr val="14223A"/>
                </a:solidFill>
                <a:latin typeface="Arial"/>
                <a:ea typeface="Arial"/>
                <a:cs typeface="Arial"/>
                <a:sym typeface="Arial"/>
              </a:rPr>
              <a:t xml:space="preserve">distance</a:t>
            </a:r>
            <a:r>
              <a:rPr b="0" i="0" lang="en-US" sz="1600" u="none" cap="none" strike="noStrike">
                <a:solidFill>
                  <a:srgbClr val="14223A"/>
                </a:solidFill>
                <a:latin typeface="Arial"/>
                <a:ea typeface="Arial"/>
                <a:cs typeface="Arial"/>
                <a:sym typeface="Arial"/>
              </a:rPr>
              <a:t xml:space="preserve"> on a number line, never direction</a:t>
            </a:r>
            <a:endParaRPr/>
          </a:p>
        </p:txBody>
      </p:sp>
      <p:sp>
        <p:nvSpPr>
          <p:cNvPr id="565" name="Google Shape;565;p54"/>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54"/>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7" name="Google Shape;567;p54"/>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Distance is always positive or zero: </a:t>
            </a:r>
            <a:r>
              <a:rPr b="0" i="0" lang="en-US" sz="1600" u="none" cap="none" strike="noStrike">
                <a:solidFill>
                  <a:srgbClr val="14223A"/>
                </a:solidFill>
                <a:latin typeface="Arial"/>
                <a:ea typeface="Arial"/>
                <a:cs typeface="Arial"/>
                <a:sym typeface="Arial"/>
              </a:rPr>
              <a:t>|-7| = 7 and |7| = 7</a:t>
            </a:r>
            <a:endParaRPr/>
          </a:p>
        </p:txBody>
      </p:sp>
      <p:sp>
        <p:nvSpPr>
          <p:cNvPr id="568" name="Google Shape;568;p54"/>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9" name="Google Shape;569;p54"/>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70" name="Google Shape;570;p54"/>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Context: </a:t>
            </a:r>
            <a:r>
              <a:rPr b="1" i="0" lang="en-US" sz="1600" u="none" cap="none" strike="noStrike">
                <a:solidFill>
                  <a:srgbClr val="14223A"/>
                </a:solidFill>
                <a:latin typeface="Arial"/>
                <a:ea typeface="Arial"/>
                <a:cs typeface="Arial"/>
                <a:sym typeface="Arial"/>
              </a:rPr>
              <a:t xml:space="preserve">Magnitude</a:t>
            </a:r>
            <a:r>
              <a:rPr b="0" i="0" lang="en-US" sz="1600" u="none" cap="none" strike="noStrike">
                <a:solidFill>
                  <a:srgbClr val="14223A"/>
                </a:solidFill>
                <a:latin typeface="Arial"/>
                <a:ea typeface="Arial"/>
                <a:cs typeface="Arial"/>
                <a:sym typeface="Arial"/>
              </a:rPr>
              <a:t xml:space="preserve"> of temperature, debt, elevation regardless of sign</a:t>
            </a:r>
            <a:endParaRPr/>
          </a:p>
        </p:txBody>
      </p:sp>
      <p:sp>
        <p:nvSpPr>
          <p:cNvPr id="5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53</a:t>
            </a:r>
          </a:p>
        </p:txBody>
      </p:sp>
      <p:sp xmlns:p="http://schemas.openxmlformats.org/presentationml/2006/main" xmlns:a="http://schemas.openxmlformats.org/drawingml/2006/main">
        <p:nvSpPr>
          <p:cNvPr id="572"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Understand Absolute Values of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Rational Numbers</a:t>
            </a:r>
            <a:endParaRPr b="1" i="0" sz="3600" u="none" cap="none" strike="noStrike">
              <a:solidFill>
                <a:schemeClr val="dk1"/>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53</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486000" y="316800"/>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About, Between, or Exact</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499311" y="936000"/>
            <a:ext cx="4604146" cy="18466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about 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between ___ and 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exactly ___.</a:t>
            </a:r>
            <a:endParaRPr b="0" i="0" sz="2800" u="none" cap="none" strike="noStrike">
              <a:solidFill>
                <a:schemeClr val="dk1"/>
              </a:solidFill>
              <a:latin typeface="Arial"/>
              <a:ea typeface="Arial"/>
              <a:cs typeface="Arial"/>
              <a:sym typeface="Arial"/>
            </a:endParaRPr>
          </a:p>
        </p:txBody>
      </p:sp>
      <p:sp>
        <p:nvSpPr>
          <p:cNvPr id="243" name="Google Shape;243;p41"/>
          <p:cNvSpPr/>
          <p:nvPr/>
        </p:nvSpPr>
        <p:spPr>
          <a:xfrm>
            <a:off x="499311" y="3401859"/>
            <a:ext cx="1970668" cy="89896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4" name="Google Shape;244;p41"/>
          <p:cNvSpPr/>
          <p:nvPr/>
        </p:nvSpPr>
        <p:spPr>
          <a:xfrm>
            <a:off x="3554467" y="3401859"/>
            <a:ext cx="1850443" cy="89896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6403094" y="3401859"/>
            <a:ext cx="1627112" cy="89896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53</a:t>
            </a:r>
          </a:p>
        </p:txBody>
      </p:sp>
      <p:sp xmlns:p="http://schemas.openxmlformats.org/presentationml/2006/main" xmlns:a="http://schemas.openxmlformats.org/drawingml/2006/main">
        <p:nvSpPr>
          <p:cNvPr id="2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177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700" u="none" cap="none" strike="noStrike">
                <a:solidFill>
                  <a:srgbClr val="14223A"/>
                </a:solidFill>
                <a:latin typeface="Arial"/>
                <a:ea typeface="Arial"/>
                <a:cs typeface="Arial"/>
                <a:sym typeface="Arial"/>
              </a:rPr>
              <a:t>Understand Absolute Value of Rational Numbers</a:t>
            </a:r>
            <a:endParaRPr/>
          </a:p>
        </p:txBody>
      </p:sp>
      <p:sp>
        <p:nvSpPr>
          <p:cNvPr id="341" name="Google Shape;341;p44"/>
          <p:cNvSpPr txBox="1"/>
          <p:nvPr/>
        </p:nvSpPr>
        <p:spPr>
          <a:xfrm>
            <a:off x="640080" y="1623568"/>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6.NOS.8</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absolute value of a rational number — an integer, fraction, or decimal — as its distance from zero.</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absolute value using the words distance, zero, opposite, and rational number.</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53</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7.3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absolute value as nonnegative distance.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magnitude from direction.</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6" name="Google Shape;396;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99" name="Google Shape;399;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400" name="Google Shape;400;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2" name="Google Shape;402;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Integers and Absolute Value</a:t>
            </a:r>
            <a:endParaRPr/>
          </a:p>
        </p:txBody>
      </p:sp>
      <p:sp>
        <p:nvSpPr>
          <p:cNvPr id="403" name="Google Shape;403;p46"/>
          <p:cNvSpPr/>
          <p:nvPr/>
        </p:nvSpPr>
        <p:spPr>
          <a:xfrm>
            <a:off x="658368" y="2718816"/>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Integers are whole numbers and their opposites; absolute value is their distance from zero.</a:t>
            </a:r>
            <a:endParaRPr/>
          </a:p>
        </p:txBody>
      </p:sp>
      <p:sp>
        <p:nvSpPr>
          <p:cNvPr id="405" name="Google Shape;405;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8" name="Google Shape;408;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|−6| = 6 because −6 is 6 units from zero.</a:t>
            </a:r>
            <a:endParaRPr/>
          </a:p>
        </p:txBody>
      </p:sp>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7 / 43</a:t>
            </a:r>
            <a:endParaRPr/>
          </a:p>
        </p:txBody>
      </p:sp>
      <p:grpSp>
        <p:nvGrpSpPr>
          <p:cNvPr id="409" name="TEACH-5-student-move" descr="TEACH 5 · Facilitate student interactions and academic talk"/>
          <p:cNvGrpSpPr/>
          <p:nvPr/>
        </p:nvGrpSpPr>
        <p:grpSpPr>
          <a:xfrm>
            <a:off x="502920" y="5751576"/>
            <a:ext cx="11186160" cy="548640"/>
            <a:chOff x="502920" y="5751576"/>
            <a:chExt cx="11186160" cy="548640"/>
          </a:xfrm>
        </p:grpSpPr>
        <p:sp>
          <p:nvSpPr>
            <p:cNvPr id="41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1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6" name="Google Shape;41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417" name="Google Shape;41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Integer</a:t>
            </a:r>
            <a:endParaRPr/>
          </a:p>
        </p:txBody>
      </p:sp>
      <p:sp>
        <p:nvSpPr>
          <p:cNvPr id="420" name="Google Shape;420;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Whole numbers and their opposites, like −2, −1, 0, 1, 2.</a:t>
            </a:r>
            <a:endParaRPr/>
          </a:p>
        </p:txBody>
      </p:sp>
      <p:sp>
        <p:nvSpPr>
          <p:cNvPr id="422" name="Google Shape;422;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 −3, −2, −1, 0, 1, 2, 3 … shown on a number line with 0 in the center</a:t>
            </a:r>
            <a:endParaRPr/>
          </a:p>
        </p:txBody>
      </p:sp>
      <p:pic>
        <p:nvPicPr>
          <p:cNvPr descr="integer.png" id="426" name="Google Shape;426;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8 / 43</a:t>
            </a:r>
            <a:endParaRP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“Integer”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4" name="Google Shape;434;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435" name="Google Shape;435;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Positive</a:t>
            </a:r>
            <a:endParaRPr/>
          </a:p>
        </p:txBody>
      </p:sp>
      <p:sp>
        <p:nvSpPr>
          <p:cNvPr id="438" name="Google Shape;438;p4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bigger than zero, to the right of zero on a number line.</a:t>
            </a:r>
            <a:endParaRPr/>
          </a:p>
        </p:txBody>
      </p:sp>
      <p:sp>
        <p:nvSpPr>
          <p:cNvPr id="440" name="Google Shape;440;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+5 means 5 above zero, like 5 floors above ground level</a:t>
            </a:r>
            <a:endParaRPr/>
          </a:p>
        </p:txBody>
      </p:sp>
      <p:pic>
        <p:nvPicPr>
          <p:cNvPr descr="positive.png" id="444" name="Google Shape;444;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9 / 43</a:t>
            </a:r>
            <a:endParaRPr/>
          </a:p>
        </p:txBody>
      </p:sp>
      <p:sp xmlns:p="http://schemas.openxmlformats.org/presentationml/2006/main" xmlns:a="http://schemas.openxmlformats.org/drawingml/2006/main">
        <p:nvSpPr>
          <p:cNvPr id="44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“Positive”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2" name="Google Shape;452;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453" name="Google Shape;453;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Negative</a:t>
            </a:r>
            <a:endParaRPr/>
          </a:p>
        </p:txBody>
      </p:sp>
      <p:sp>
        <p:nvSpPr>
          <p:cNvPr id="456" name="Google Shape;456;p49"/>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smaller than zero, to the left of zero on a number line.</a:t>
            </a:r>
            <a:endParaRPr/>
          </a:p>
        </p:txBody>
      </p:sp>
      <p:sp>
        <p:nvSpPr>
          <p:cNvPr id="458" name="Google Shape;458;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means 3 below zero, like 3 floors underground</a:t>
            </a:r>
            <a:endParaRPr/>
          </a:p>
        </p:txBody>
      </p:sp>
      <p:pic>
        <p:nvPicPr>
          <p:cNvPr descr="negative.png" id="462" name="Google Shape;462;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10 / 43</a:t>
            </a:r>
            <a:endParaRPr/>
          </a:p>
        </p:txBody>
      </p:sp>
      <p:sp xmlns:p="http://schemas.openxmlformats.org/presentationml/2006/main" xmlns:a="http://schemas.openxmlformats.org/drawingml/2006/main">
        <p:nvSpPr>
          <p:cNvPr id="46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“Negative”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70" name="Google Shape;470;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471" name="Google Shape;471;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0"/>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Absolute value</a:t>
            </a:r>
            <a:endParaRPr/>
          </a:p>
        </p:txBody>
      </p:sp>
      <p:sp>
        <p:nvSpPr>
          <p:cNvPr id="474" name="Google Shape;474;p50"/>
          <p:cNvSpPr/>
          <p:nvPr/>
        </p:nvSpPr>
        <p:spPr>
          <a:xfrm>
            <a:off x="658368" y="2737866"/>
            <a:ext cx="166420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far a number is from zero. It is never negative.</a:t>
            </a:r>
            <a:endParaRPr/>
          </a:p>
        </p:txBody>
      </p:sp>
      <p:sp>
        <p:nvSpPr>
          <p:cNvPr id="476" name="Google Shape;476;p50"/>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0"/>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|-5| = 5 and |5| = 5 — both are 5 units from 0</a:t>
            </a:r>
            <a:endParaRPr/>
          </a:p>
        </p:txBody>
      </p:sp>
      <p:pic>
        <p:nvPicPr>
          <p:cNvPr descr="absolute-value.png" id="480" name="Google Shape;480;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11 / 43</a:t>
            </a:r>
            <a:endParaRPr/>
          </a:p>
        </p:txBody>
      </p:sp>
      <p:sp xmlns:p="http://schemas.openxmlformats.org/presentationml/2006/main" xmlns:a="http://schemas.openxmlformats.org/drawingml/2006/main">
        <p:nvSpPr>
          <p:cNvPr id="481"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“Absolute value”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5" name="Google Shape;485;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8" name="Google Shape;488;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489" name="Google Shape;489;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1" name="Google Shape;491;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Opposite</a:t>
            </a:r>
            <a:endParaRPr/>
          </a:p>
        </p:txBody>
      </p:sp>
      <p:sp>
        <p:nvSpPr>
          <p:cNvPr id="492" name="Google Shape;492;p51"/>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numbers the same distance from zero, on opposite sides, like 3 and −3.</a:t>
            </a:r>
            <a:endParaRPr/>
          </a:p>
        </p:txBody>
      </p:sp>
      <p:sp>
        <p:nvSpPr>
          <p:cNvPr id="494" name="Google Shape;494;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7" name="Google Shape;497;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and −3 are opposites — both are 3 units from 0</a:t>
            </a:r>
            <a:endParaRPr/>
          </a:p>
        </p:txBody>
      </p:sp>
      <p:pic>
        <p:nvPicPr>
          <p:cNvPr descr="opposite.png" id="498" name="Google Shape;498;p51"/>
          <p:cNvPicPr preferRelativeResize="0"/>
          <p:nvPr/>
        </p:nvPicPr>
        <p:blipFill rotWithShape="1">
          <a:blip r:embed="rId2">
            <a:alphaModFix/>
          </a:blip>
          <a:srcRect b="0" l="0" r="0" t="0"/>
          <a:stretch/>
        </p:blipFill>
        <p:spPr>
          <a:xfrm>
            <a:off x="6903720" y="1849581"/>
            <a:ext cx="4572000" cy="3433156"/>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12 / 43</a:t>
            </a:r>
            <a:endParaRPr/>
          </a:p>
        </p:txBody>
      </p:sp>
      <p:sp xmlns:p="http://schemas.openxmlformats.org/presentationml/2006/main" xmlns:a="http://schemas.openxmlformats.org/drawingml/2006/main">
        <p:nvSpPr>
          <p:cNvPr id="49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“Opposite”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3" name="Google Shape;503;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6" name="Google Shape;506;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507" name="Google Shape;507;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9" name="Google Shape;509;p52"/>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Rational number</a:t>
            </a:r>
            <a:endParaRPr/>
          </a:p>
        </p:txBody>
      </p:sp>
      <p:sp>
        <p:nvSpPr>
          <p:cNvPr id="510" name="Google Shape;510;p52"/>
          <p:cNvSpPr/>
          <p:nvPr/>
        </p:nvSpPr>
        <p:spPr>
          <a:xfrm>
            <a:off x="658368" y="2561844"/>
            <a:ext cx="1783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that can be written as a fraction of two integers, with a bottom number that is not zero.</a:t>
            </a:r>
            <a:endParaRPr/>
          </a:p>
        </p:txBody>
      </p:sp>
      <p:sp>
        <p:nvSpPr>
          <p:cNvPr id="512" name="Google Shape;512;p52"/>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5" name="Google Shape;515;p52"/>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−1/2, 0 and 5/4 each sit at one exact point.</a:t>
            </a:r>
            <a:endParaRPr/>
          </a:p>
        </p:txBody>
      </p:sp>
      <p:pic>
        <p:nvPicPr>
          <p:cNvPr descr="number-line.png" id="516" name="Google Shape;516;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13 / 43</a:t>
            </a:r>
            <a:endParaRPr/>
          </a:p>
        </p:txBody>
      </p:sp>
      <p:sp xmlns:p="http://schemas.openxmlformats.org/presentationml/2006/main" xmlns:a="http://schemas.openxmlformats.org/drawingml/2006/main">
        <p:nvSpPr>
          <p:cNvPr id="517"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“Rational number”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Integers and Absolute Value</a:t>
            </a:r>
            <a:endParaRPr/>
          </a:p>
        </p:txBody>
      </p:sp>
      <p:sp>
        <p:nvSpPr>
          <p:cNvPr id="367" name="Google Shape;367;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Integers are whole numbers and their opposites; absolute value is their distance from zero</a:t>
            </a:r>
            <a:endParaRPr/>
          </a:p>
        </p:txBody>
      </p:sp>
      <p:sp>
        <p:nvSpPr>
          <p:cNvPr id="368" name="Google Shape;368;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Integer</a:t>
            </a:r>
            <a:endParaRPr/>
          </a:p>
        </p:txBody>
      </p:sp>
      <p:sp>
        <p:nvSpPr>
          <p:cNvPr id="371" name="Google Shape;371;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Whole numbers and their opposites, like −2, −1, 0, 1, 2</a:t>
            </a:r>
            <a:endParaRPr/>
          </a:p>
        </p:txBody>
      </p:sp>
      <p:sp>
        <p:nvSpPr>
          <p:cNvPr id="372" name="Google Shape;372;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Positive</a:t>
            </a:r>
            <a:endParaRPr/>
          </a:p>
        </p:txBody>
      </p:sp>
      <p:sp>
        <p:nvSpPr>
          <p:cNvPr id="375" name="Google Shape;375;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number bigger than zero, to the right of zero on a number line</a:t>
            </a:r>
            <a:endParaRPr/>
          </a:p>
        </p:txBody>
      </p:sp>
      <p:sp>
        <p:nvSpPr>
          <p:cNvPr id="376" name="Google Shape;376;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Negative</a:t>
            </a:r>
            <a:endParaRPr/>
          </a:p>
        </p:txBody>
      </p:sp>
      <p:sp>
        <p:nvSpPr>
          <p:cNvPr id="379" name="Google Shape;379;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number smaller than zero, to the left of zero on a number line</a:t>
            </a:r>
            <a:endParaRPr/>
          </a:p>
        </p:txBody>
      </p:sp>
      <p:sp>
        <p:nvSpPr>
          <p:cNvPr id="380" name="Google Shape;380;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Absolute value</a:t>
            </a:r>
            <a:endParaRPr/>
          </a:p>
        </p:txBody>
      </p:sp>
      <p:sp>
        <p:nvSpPr>
          <p:cNvPr id="383" name="Google Shape;383;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far a number is from zero</a:t>
            </a:r>
            <a:endParaRPr/>
          </a:p>
        </p:txBody>
      </p:sp>
      <p:sp>
        <p:nvSpPr>
          <p:cNvPr id="384" name="Google Shape;384;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Opposite</a:t>
            </a:r>
            <a:endParaRPr/>
          </a:p>
        </p:txBody>
      </p:sp>
      <p:sp>
        <p:nvSpPr>
          <p:cNvPr id="387" name="Google Shape;387;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Two numbers the same distance from zero, on opposite sides, like 3 and −3</a:t>
            </a:r>
            <a:endParaRPr/>
          </a:p>
        </p:txBody>
      </p:sp>
      <p:sp>
        <p:nvSpPr>
          <p:cNvPr id="388" name="Google Shape;388;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Rational number</a:t>
            </a:r>
            <a:endParaRPr/>
          </a:p>
        </p:txBody>
      </p:sp>
      <p:sp>
        <p:nvSpPr>
          <p:cNvPr id="391" name="Google Shape;391;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number that can be written as a fraction of two integers, with a bottom number that is not zero</a:t>
            </a:r>
            <a:endParaRPr/>
          </a:p>
        </p:txBody>
      </p:sp>
      <p:sp>
        <p:nvSpPr>
          <p:cNvPr id="3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53</a:t>
            </a:r>
          </a:p>
        </p:txBody>
      </p:sp>
      <p:sp xmlns:p="http://schemas.openxmlformats.org/presentationml/2006/main" xmlns:a="http://schemas.openxmlformats.org/drawingml/2006/main">
        <p:nvSpPr>
          <p:cNvPr id="393"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cxnSp>
        <p:nvCxnSpPr>
          <p:cNvPr id="585" name="Google Shape;585;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6" name="Google Shape;586;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87" name="Google Shape;587;p56"/>
          <p:cNvPicPr preferRelativeResize="0"/>
          <p:nvPr/>
        </p:nvPicPr>
        <p:blipFill rotWithShape="1">
          <a:blip r:embed="rId3">
            <a:alphaModFix/>
          </a:blip>
          <a:srcRect b="0" l="0" r="0" t="0"/>
          <a:stretch/>
        </p:blipFill>
        <p:spPr>
          <a:xfrm>
            <a:off x="484560" y="4643417"/>
            <a:ext cx="5054600" cy="838200"/>
          </a:xfrm>
          <a:prstGeom prst="rect">
            <a:avLst/>
          </a:prstGeom>
          <a:noFill/>
          <a:ln>
            <a:noFill/>
          </a:ln>
        </p:spPr>
      </p:pic>
      <p:sp>
        <p:nvSpPr>
          <p:cNvPr id="588" name="Google Shape;588;p56"/>
          <p:cNvSpPr txBox="1"/>
          <p:nvPr/>
        </p:nvSpPr>
        <p:spPr>
          <a:xfrm>
            <a:off x="3086401" y="480733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pic>
        <p:nvPicPr>
          <p:cNvPr id="589" name="Google Shape;589;p56"/>
          <p:cNvPicPr preferRelativeResize="0"/>
          <p:nvPr/>
        </p:nvPicPr>
        <p:blipFill rotWithShape="1">
          <a:blip r:embed="rId4">
            <a:alphaModFix/>
          </a:blip>
          <a:srcRect b="0" l="0" r="0" t="0"/>
          <a:stretch/>
        </p:blipFill>
        <p:spPr>
          <a:xfrm>
            <a:off x="6144934" y="1383194"/>
            <a:ext cx="5400000" cy="3877773"/>
          </a:xfrm>
          <a:prstGeom prst="rect">
            <a:avLst/>
          </a:prstGeom>
          <a:noFill/>
          <a:ln>
            <a:noFill/>
          </a:ln>
        </p:spPr>
      </p:pic>
      <p:sp>
        <p:nvSpPr>
          <p:cNvPr id="590" name="Google Shape;590;p56"/>
          <p:cNvSpPr/>
          <p:nvPr/>
        </p:nvSpPr>
        <p:spPr>
          <a:xfrm>
            <a:off x="669930" y="5433723"/>
            <a:ext cx="9973922"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can you do to stay productive when you are frustrated with math?</a:t>
            </a:r>
            <a:endParaRPr b="0" i="0" sz="2600" u="none" cap="none" strike="noStrike">
              <a:solidFill>
                <a:srgbClr val="595959"/>
              </a:solidFill>
              <a:latin typeface="Arial"/>
              <a:ea typeface="Arial"/>
              <a:cs typeface="Arial"/>
              <a:sym typeface="Arial"/>
            </a:endParaRPr>
          </a:p>
        </p:txBody>
      </p:sp>
      <p:sp>
        <p:nvSpPr>
          <p:cNvPr id="591" name="Google Shape;591;p56"/>
          <p:cNvSpPr txBox="1"/>
          <p:nvPr/>
        </p:nvSpPr>
        <p:spPr>
          <a:xfrm>
            <a:off x="484560" y="936100"/>
            <a:ext cx="4441401" cy="11755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53</a:t>
            </a:r>
          </a:p>
        </p:txBody>
      </p:sp>
      <p:sp xmlns:p="http://schemas.openxmlformats.org/presentationml/2006/main" xmlns:a="http://schemas.openxmlformats.org/drawingml/2006/main">
        <p:nvSpPr>
          <p:cNvPr id="593" name="TEACH-embedded-student-prompt" descr="Student thinking and response directions"/>
          <p:cNvSpPr txBox="1"/>
          <p:nvPr/>
        </p:nvSpPr>
        <p:spPr>
          <a:xfrm>
            <a:off x="594360" y="33649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cxnSp>
        <p:nvCxnSpPr>
          <p:cNvPr id="613" name="Google Shape;613;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4" name="Google Shape;614;p59"/>
          <p:cNvSpPr txBox="1"/>
          <p:nvPr/>
        </p:nvSpPr>
        <p:spPr>
          <a:xfrm>
            <a:off x="484565" y="4698889"/>
            <a:ext cx="10060333" cy="14939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liquid in Beaker A is −4°C, and the liquid in Beaker B is 2°C. We need to find which temperature is closer to 0°C.</a:t>
            </a:r>
            <a:endParaRPr b="0" i="0" sz="1400" u="none" cap="none" strike="noStrike">
              <a:solidFill>
                <a:srgbClr val="000000"/>
              </a:solidFill>
              <a:latin typeface="Arial"/>
              <a:ea typeface="Arial"/>
              <a:cs typeface="Arial"/>
              <a:sym typeface="Arial"/>
            </a:endParaRPr>
          </a:p>
        </p:txBody>
      </p:sp>
      <p:sp>
        <p:nvSpPr>
          <p:cNvPr id="615" name="Google Shape;615;p59"/>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Beaker Temperatures</a:t>
            </a:r>
            <a:endParaRPr b="0" i="0" sz="1400" u="none" cap="none" strike="noStrike">
              <a:solidFill>
                <a:srgbClr val="000000"/>
              </a:solidFill>
              <a:latin typeface="Arial"/>
              <a:ea typeface="Arial"/>
              <a:cs typeface="Arial"/>
              <a:sym typeface="Arial"/>
            </a:endParaRPr>
          </a:p>
        </p:txBody>
      </p:sp>
      <p:sp>
        <p:nvSpPr>
          <p:cNvPr id="616" name="Google Shape;616;p59"/>
          <p:cNvSpPr txBox="1"/>
          <p:nvPr/>
        </p:nvSpPr>
        <p:spPr>
          <a:xfrm>
            <a:off x="484565" y="935999"/>
            <a:ext cx="7565926" cy="34608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Claire is performing a science experiment with two liquids. The temperatures of the two liquids in Celsius are shown. She needs to use the beaker with the temperature that is closer to 0°C. Which beaker should Claire 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What information do you know? What information do you need to find?</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cf7eeea9d28468fbd821a079ecd0012\narm24_c10703_se_007a-dig-eps.png" id="617" name="Google Shape;617;p59"/>
          <p:cNvPicPr preferRelativeResize="0"/>
          <p:nvPr/>
        </p:nvPicPr>
        <p:blipFill rotWithShape="1">
          <a:blip r:embed="rId3">
            <a:alphaModFix/>
          </a:blip>
          <a:srcRect b="0" l="0" r="0" t="0"/>
          <a:stretch/>
        </p:blipFill>
        <p:spPr>
          <a:xfrm>
            <a:off x="8432254" y="2206070"/>
            <a:ext cx="3400425" cy="2190750"/>
          </a:xfrm>
          <a:prstGeom prst="rect">
            <a:avLst/>
          </a:prstGeom>
          <a:noFill/>
          <a:ln>
            <a:noFill/>
          </a:ln>
        </p:spPr>
      </p:pic>
      <p:sp>
        <p:nvSpPr>
          <p:cNvPr id="6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53</a:t>
            </a:r>
          </a:p>
        </p:txBody>
      </p:sp>
      <p:sp>
        <p:nvSpPr>
          <p:cNvPr id="619" name="EWL-COVER-1"/>
          <p:cNvSpPr/>
          <p:nvPr/>
        </p:nvSpPr>
        <p:spPr>
          <a:xfrm>
            <a:off x="429701" y="4644025"/>
            <a:ext cx="10170061" cy="160372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cxnSp>
        <p:nvCxnSpPr>
          <p:cNvPr id="631" name="Google Shape;631;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2" name="Google Shape;632;p61"/>
          <p:cNvSpPr txBox="1"/>
          <p:nvPr/>
        </p:nvSpPr>
        <p:spPr>
          <a:xfrm>
            <a:off x="446374" y="5078743"/>
            <a:ext cx="5652106" cy="11701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tool is a number line.</a:t>
            </a:r>
            <a:endParaRPr b="0" i="0" sz="1400" u="none" cap="none" strike="noStrike">
              <a:solidFill>
                <a:srgbClr val="000000"/>
              </a:solidFill>
              <a:latin typeface="Arial"/>
              <a:ea typeface="Arial"/>
              <a:cs typeface="Arial"/>
              <a:sym typeface="Arial"/>
            </a:endParaRPr>
          </a:p>
        </p:txBody>
      </p:sp>
      <p:sp>
        <p:nvSpPr>
          <p:cNvPr id="633" name="Google Shape;633;p61"/>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Beaker Temperatures</a:t>
            </a:r>
            <a:endParaRPr b="0" i="0" sz="1400" u="none" cap="none" strike="noStrike">
              <a:solidFill>
                <a:srgbClr val="000000"/>
              </a:solidFill>
              <a:latin typeface="Arial"/>
              <a:ea typeface="Arial"/>
              <a:cs typeface="Arial"/>
              <a:sym typeface="Arial"/>
            </a:endParaRPr>
          </a:p>
        </p:txBody>
      </p:sp>
      <p:sp>
        <p:nvSpPr>
          <p:cNvPr id="634" name="Google Shape;634;p61"/>
          <p:cNvSpPr txBox="1"/>
          <p:nvPr/>
        </p:nvSpPr>
        <p:spPr>
          <a:xfrm>
            <a:off x="484564" y="935999"/>
            <a:ext cx="7301975" cy="27593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liquid in Beaker A is −4°C, and the liquid in Beaker B is 2°C. We need to find which temperature is closer to 0°C.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tool can you use to compare numbers?</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cf7eeea9d28468fbd821a079ecd0012\narm24_c10703_se_007a-dig-eps.png" id="635" name="Google Shape;635;p61"/>
          <p:cNvPicPr preferRelativeResize="0"/>
          <p:nvPr/>
        </p:nvPicPr>
        <p:blipFill rotWithShape="1">
          <a:blip r:embed="rId3">
            <a:alphaModFix/>
          </a:blip>
          <a:srcRect b="0" l="0" r="0" t="0"/>
          <a:stretch/>
        </p:blipFill>
        <p:spPr>
          <a:xfrm>
            <a:off x="8432254" y="2206070"/>
            <a:ext cx="3400425" cy="2190750"/>
          </a:xfrm>
          <a:prstGeom prst="rect">
            <a:avLst/>
          </a:prstGeom>
          <a:noFill/>
          <a:ln>
            <a:noFill/>
          </a:ln>
        </p:spPr>
      </p:pic>
      <p:sp>
        <p:nvSpPr>
          <p:cNvPr id="6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53</a:t>
            </a:r>
          </a:p>
        </p:txBody>
      </p:sp>
      <p:sp>
        <p:nvSpPr>
          <p:cNvPr id="637" name="EWL-COVER-1"/>
          <p:cNvSpPr/>
          <p:nvPr/>
        </p:nvSpPr>
        <p:spPr>
          <a:xfrm>
            <a:off x="391510" y="5023879"/>
            <a:ext cx="5761834" cy="1279884"/>
          </a:xfrm>
          <a:prstGeom prst="rect">
            <a:avLst/>
          </a:prstGeom>
          <a:solidFill>
            <a:srgbClr val="FFFFFF"/>
          </a:solidFill>
          <a:ln>
            <a:noFill/>
          </a:ln>
        </p:spPr>
        <p:txBody>
          <a:bodyPr/>
          <a:lstStyle/>
          <a:p/>
        </p:txBody>
      </p:sp>
      <p:sp xmlns:p="http://schemas.openxmlformats.org/presentationml/2006/main" xmlns:a="http://schemas.openxmlformats.org/drawingml/2006/main">
        <p:nvSpPr>
          <p:cNvPr id="638" name="TEACH-embedded-student-prompt" descr="Student thinking and response directions"/>
          <p:cNvSpPr txBox="1"/>
          <p:nvPr/>
        </p:nvSpPr>
        <p:spPr>
          <a:xfrm>
            <a:off x="594360" y="41330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cxnSp>
        <p:nvCxnSpPr>
          <p:cNvPr id="678" name="Google Shape;678;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9" name="Google Shape;679;p65"/>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680" name="Google Shape;680;p65"/>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pic>
        <p:nvPicPr>
          <p:cNvPr id="681" name="Google Shape;681;p65"/>
          <p:cNvPicPr preferRelativeResize="0"/>
          <p:nvPr/>
        </p:nvPicPr>
        <p:blipFill rotWithShape="1">
          <a:blip r:embed="rId4">
            <a:alphaModFix/>
          </a:blip>
          <a:srcRect b="0" l="0" r="0" t="0"/>
          <a:stretch/>
        </p:blipFill>
        <p:spPr>
          <a:xfrm>
            <a:off x="485999" y="4886060"/>
            <a:ext cx="5054600" cy="838200"/>
          </a:xfrm>
          <a:prstGeom prst="rect">
            <a:avLst/>
          </a:prstGeom>
          <a:noFill/>
          <a:ln>
            <a:noFill/>
          </a:ln>
        </p:spPr>
      </p:pic>
      <p:sp>
        <p:nvSpPr>
          <p:cNvPr id="682" name="Google Shape;682;p65"/>
          <p:cNvSpPr/>
          <p:nvPr/>
        </p:nvSpPr>
        <p:spPr>
          <a:xfrm>
            <a:off x="3151453" y="5043550"/>
            <a:ext cx="203793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Using Tools</a:t>
            </a:r>
            <a:endParaRPr b="0" i="0" sz="1400" u="none" cap="none" strike="noStrike">
              <a:solidFill>
                <a:srgbClr val="000000"/>
              </a:solidFill>
              <a:latin typeface="Arial"/>
              <a:ea typeface="Arial"/>
              <a:cs typeface="Arial"/>
              <a:sym typeface="Arial"/>
            </a:endParaRPr>
          </a:p>
        </p:txBody>
      </p:sp>
      <p:sp>
        <p:nvSpPr>
          <p:cNvPr id="683" name="Google Shape;683;p65"/>
          <p:cNvSpPr/>
          <p:nvPr/>
        </p:nvSpPr>
        <p:spPr>
          <a:xfrm>
            <a:off x="676382" y="5897880"/>
            <a:ext cx="6551794"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does this tool help solve the problem?</a:t>
            </a:r>
            <a:endParaRPr b="0" i="0" sz="2600" u="none" cap="none" strike="noStrike">
              <a:solidFill>
                <a:srgbClr val="595959"/>
              </a:solidFill>
              <a:latin typeface="Arial"/>
              <a:ea typeface="Arial"/>
              <a:cs typeface="Arial"/>
              <a:sym typeface="Arial"/>
            </a:endParaRPr>
          </a:p>
        </p:txBody>
      </p:sp>
      <p:sp>
        <p:nvSpPr>
          <p:cNvPr id="684" name="Google Shape;684;p65"/>
          <p:cNvSpPr txBox="1"/>
          <p:nvPr/>
        </p:nvSpPr>
        <p:spPr>
          <a:xfrm>
            <a:off x="485999" y="936000"/>
            <a:ext cx="5113523" cy="31763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graph the temperatures on a number 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need to find which temperature is closer to 0°C.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far is each value from 0? Explain your reasoning.</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cf7eeea9d28468fbd821a079ecd0012\narm24_c10703_se_007a-dig-eps.png" id="685" name="Google Shape;685;p65"/>
          <p:cNvPicPr preferRelativeResize="0"/>
          <p:nvPr/>
        </p:nvPicPr>
        <p:blipFill rotWithShape="1">
          <a:blip r:embed="rId5">
            <a:alphaModFix/>
          </a:blip>
          <a:srcRect b="0" l="0" r="0" t="0"/>
          <a:stretch/>
        </p:blipFill>
        <p:spPr>
          <a:xfrm>
            <a:off x="8432254" y="2206070"/>
            <a:ext cx="3400425" cy="2190750"/>
          </a:xfrm>
          <a:prstGeom prst="rect">
            <a:avLst/>
          </a:prstGeom>
          <a:noFill/>
          <a:ln>
            <a:noFill/>
          </a:ln>
        </p:spPr>
      </p:pic>
      <p:pic>
        <p:nvPicPr>
          <p:cNvPr descr="C:\Users\HP\Desktop\Grade_6_Unit_7-20230217T053830Z-001\Grade_6_Unit_7\OPS\img\.assets\1ebdb7e789594b4588c721122c7a5c4c\narm24_c10703_se_001a-dig-eps.png" id="686" name="Google Shape;686;p65"/>
          <p:cNvPicPr preferRelativeResize="0"/>
          <p:nvPr/>
        </p:nvPicPr>
        <p:blipFill rotWithShape="1">
          <a:blip r:embed="rId6">
            <a:alphaModFix/>
          </a:blip>
          <a:srcRect b="0" l="0" r="0" t="0"/>
          <a:stretch/>
        </p:blipFill>
        <p:spPr>
          <a:xfrm>
            <a:off x="5604604" y="647360"/>
            <a:ext cx="2705100" cy="4457700"/>
          </a:xfrm>
          <a:prstGeom prst="rect">
            <a:avLst/>
          </a:prstGeom>
          <a:noFill/>
          <a:ln>
            <a:noFill/>
          </a:ln>
        </p:spPr>
      </p:pic>
      <p:sp>
        <p:nvSpPr>
          <p:cNvPr id="6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53</a:t>
            </a:r>
          </a:p>
        </p:txBody>
      </p:sp>
      <p:sp>
        <p:nvSpPr>
          <p:cNvPr id="68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689" name="TEACH-5-student-move" descr="TEACH 5 · Facilitate student interactions and academic talk"/>
          <p:cNvGrpSpPr/>
          <p:nvPr/>
        </p:nvGrpSpPr>
        <p:grpSpPr>
          <a:xfrm>
            <a:off x="6187440" y="5221224"/>
            <a:ext cx="5501640" cy="594360"/>
            <a:chOff x="6187440" y="5221224"/>
            <a:chExt cx="5501640" cy="594360"/>
          </a:xfrm>
        </p:grpSpPr>
        <p:sp>
          <p:nvSpPr>
            <p:cNvPr id="690" name="TEACH-move-card"/>
            <p:cNvSpPr/>
            <p:nvPr/>
          </p:nvSpPr>
          <p:spPr>
            <a:xfrm>
              <a:off x="6187440" y="522122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91" name="TEACH-move-rule"/>
            <p:cNvSpPr/>
            <p:nvPr/>
          </p:nvSpPr>
          <p:spPr>
            <a:xfrm>
              <a:off x="6233160" y="5334152"/>
              <a:ext cx="100584" cy="368504"/>
            </a:xfrm>
            <a:prstGeom prst="roundRect">
              <a:avLst>
                <a:gd name="adj" fmla="val 50000"/>
              </a:avLst>
            </a:prstGeom>
            <a:solidFill>
              <a:srgbClr val="01708C"/>
            </a:solidFill>
            <a:ln>
              <a:noFill/>
            </a:ln>
          </p:spPr>
          <p:txBody>
            <a:bodyPr/>
            <a:lstStyle/>
            <a:p>
              <a:endParaRPr/>
            </a:p>
          </p:txBody>
        </p:sp>
        <p:sp>
          <p:nvSpPr>
            <p:cNvPr id="692" name="TEACH-move-text"/>
            <p:cNvSpPr txBox="1"/>
            <p:nvPr/>
          </p:nvSpPr>
          <p:spPr>
            <a:xfrm>
              <a:off x="6507480" y="522122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cxnSp>
        <p:nvCxnSpPr>
          <p:cNvPr id="691" name="Google Shape;691;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2" name="Google Shape;692;p66"/>
          <p:cNvSpPr txBox="1"/>
          <p:nvPr/>
        </p:nvSpPr>
        <p:spPr>
          <a:xfrm>
            <a:off x="484565" y="936000"/>
            <a:ext cx="8277298" cy="13841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xml:space="preserve">The distance of a number from 0 on the number line is the </a:t>
            </a:r>
            <a:r>
              <a:rPr b="1" i="0" lang="en-US" sz="2800" u="none" cap="none" strike="noStrike">
                <a:solidFill>
                  <a:srgbClr val="23282D"/>
                </a:solidFill>
                <a:highlight>
                  <a:srgbClr val="FFFF00"/>
                </a:highlight>
                <a:latin typeface="Arial"/>
                <a:ea typeface="Arial"/>
                <a:cs typeface="Arial"/>
                <a:sym typeface="Arial"/>
              </a:rPr>
              <a:t>absolute value</a:t>
            </a:r>
            <a:r>
              <a:rPr b="0" i="0" lang="en-US" sz="2800" u="none" cap="none" strike="noStrike">
                <a:solidFill>
                  <a:schemeClr val="dk1"/>
                </a:solidFill>
                <a:latin typeface="Arial"/>
                <a:ea typeface="Arial"/>
                <a:cs typeface="Arial"/>
                <a:sym typeface="Arial"/>
              </a:rPr>
              <a:t>, or magnitude, of the number.</a:t>
            </a:r>
            <a:endParaRPr b="0" i="0" sz="1400" u="none" cap="none" strike="noStrike">
              <a:solidFill>
                <a:srgbClr val="000000"/>
              </a:solidFill>
              <a:latin typeface="Arial"/>
              <a:ea typeface="Arial"/>
              <a:cs typeface="Arial"/>
              <a:sym typeface="Arial"/>
            </a:endParaRPr>
          </a:p>
        </p:txBody>
      </p:sp>
      <p:sp>
        <p:nvSpPr>
          <p:cNvPr id="693" name="Google Shape;693;p66"/>
          <p:cNvSpPr/>
          <p:nvPr/>
        </p:nvSpPr>
        <p:spPr>
          <a:xfrm>
            <a:off x="498280" y="2578745"/>
            <a:ext cx="797015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Distance is always represented by a positive number.</a:t>
            </a:r>
            <a:endParaRPr b="0" i="0" sz="2800" u="none" cap="none" strike="noStrike">
              <a:solidFill>
                <a:schemeClr val="dk1"/>
              </a:solidFill>
              <a:latin typeface="Arial"/>
              <a:ea typeface="Arial"/>
              <a:cs typeface="Arial"/>
              <a:sym typeface="Arial"/>
            </a:endParaRPr>
          </a:p>
        </p:txBody>
      </p:sp>
      <p:sp>
        <p:nvSpPr>
          <p:cNvPr id="694" name="Google Shape;694;p66"/>
          <p:cNvSpPr/>
          <p:nvPr/>
        </p:nvSpPr>
        <p:spPr>
          <a:xfrm>
            <a:off x="450513" y="3941329"/>
            <a:ext cx="8065690" cy="523220"/>
          </a:xfrm>
          <a:prstGeom prst="rect">
            <a:avLst/>
          </a:prstGeom>
          <a:blipFill rotWithShape="1">
            <a:blip r:embed="rId3">
              <a:alphaModFix/>
            </a:blip>
            <a:stretch>
              <a:fillRect b="-32942" l="-1587" r="0" t="-129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5" name="Google Shape;695;p66"/>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Beaker Temperatures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1ebdb7e789594b4588c721122c7a5c4c\narm24_c10703_se_001a-dig-eps.png" id="696" name="Google Shape;696;p66"/>
          <p:cNvPicPr preferRelativeResize="0"/>
          <p:nvPr/>
        </p:nvPicPr>
        <p:blipFill rotWithShape="1">
          <a:blip r:embed="rId3">
            <a:alphaModFix/>
          </a:blip>
          <a:srcRect b="0" l="0" r="0" t="0"/>
          <a:stretch/>
        </p:blipFill>
        <p:spPr>
          <a:xfrm>
            <a:off x="8761863" y="1628059"/>
            <a:ext cx="2705100" cy="4457700"/>
          </a:xfrm>
          <a:prstGeom prst="rect">
            <a:avLst/>
          </a:prstGeom>
          <a:noFill/>
          <a:ln>
            <a:noFill/>
          </a:ln>
        </p:spPr>
      </p:pic>
      <p:sp>
        <p:nvSpPr>
          <p:cNvPr id="6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53</a:t>
            </a:r>
          </a:p>
        </p:txBody>
      </p:sp>
      <p:sp xmlns:p="http://schemas.openxmlformats.org/presentationml/2006/main" xmlns:a="http://schemas.openxmlformats.org/drawingml/2006/main">
        <p:nvSpPr>
          <p:cNvPr id="698" name="TEACH-embedded-student-prompt" descr="Student thinking and response directions"/>
          <p:cNvSpPr txBox="1"/>
          <p:nvPr/>
        </p:nvSpPr>
        <p:spPr>
          <a:xfrm>
            <a:off x="5943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the scale and positions on the number line to justify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cxnSp>
        <p:nvCxnSpPr>
          <p:cNvPr id="712" name="Google Shape;712;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3" name="Google Shape;713;p68"/>
          <p:cNvSpPr txBox="1"/>
          <p:nvPr/>
        </p:nvSpPr>
        <p:spPr>
          <a:xfrm>
            <a:off x="484566" y="907719"/>
            <a:ext cx="7443376" cy="8833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use absolute value to determine which value is closer to 0.</a:t>
            </a:r>
            <a:endParaRPr b="0" i="0" sz="1400" u="none" cap="none" strike="noStrike">
              <a:solidFill>
                <a:srgbClr val="000000"/>
              </a:solidFill>
              <a:latin typeface="Arial"/>
              <a:ea typeface="Arial"/>
              <a:cs typeface="Arial"/>
              <a:sym typeface="Arial"/>
            </a:endParaRPr>
          </a:p>
        </p:txBody>
      </p:sp>
      <p:sp>
        <p:nvSpPr>
          <p:cNvPr id="714" name="Google Shape;714;p68"/>
          <p:cNvSpPr/>
          <p:nvPr/>
        </p:nvSpPr>
        <p:spPr>
          <a:xfrm>
            <a:off x="8490352" y="2306611"/>
            <a:ext cx="3266365" cy="3770263"/>
          </a:xfrm>
          <a:prstGeom prst="rect">
            <a:avLst/>
          </a:prstGeom>
          <a:blipFill rotWithShape="1">
            <a:blip r:embed="rId3">
              <a:alphaModFix/>
            </a:blip>
            <a:stretch>
              <a:fillRect b="0" l="-3918" r="-1493" t="-161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5" name="Google Shape;715;p68"/>
          <p:cNvSpPr/>
          <p:nvPr/>
        </p:nvSpPr>
        <p:spPr>
          <a:xfrm>
            <a:off x="477809" y="2052735"/>
            <a:ext cx="476292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Which beaker has a temperature closer to 0? How do you know?</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ebdb7e789594b4588c721122c7a5c4c\narm24_c10703_se_001a-dig-eps.png" id="716" name="Google Shape;716;p68"/>
          <p:cNvPicPr preferRelativeResize="0"/>
          <p:nvPr/>
        </p:nvPicPr>
        <p:blipFill rotWithShape="1">
          <a:blip r:embed="rId4">
            <a:alphaModFix/>
          </a:blip>
          <a:srcRect b="0" l="0" r="0" t="0"/>
          <a:stretch/>
        </p:blipFill>
        <p:spPr>
          <a:xfrm>
            <a:off x="5512996" y="1826745"/>
            <a:ext cx="2705100" cy="4457700"/>
          </a:xfrm>
          <a:prstGeom prst="rect">
            <a:avLst/>
          </a:prstGeom>
          <a:noFill/>
          <a:ln>
            <a:noFill/>
          </a:ln>
        </p:spPr>
      </p:pic>
      <p:sp>
        <p:nvSpPr>
          <p:cNvPr id="717" name="Google Shape;717;p68"/>
          <p:cNvSpPr txBox="1"/>
          <p:nvPr/>
        </p:nvSpPr>
        <p:spPr>
          <a:xfrm>
            <a:off x="477810" y="5084370"/>
            <a:ext cx="4762929" cy="1080760"/>
          </a:xfrm>
          <a:prstGeom prst="rect">
            <a:avLst/>
          </a:prstGeom>
          <a:blipFill rotWithShape="1">
            <a:blip r:embed="rId5">
              <a:alphaModFix/>
            </a:blip>
            <a:stretch>
              <a:fillRect b="-10169" l="-2558" r="0" t="-565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8" name="Google Shape;718;p68"/>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Beaker Temperatures</a:t>
            </a:r>
            <a:endParaRPr b="0" i="0" sz="1400" u="none" cap="none" strike="noStrike">
              <a:solidFill>
                <a:srgbClr val="000000"/>
              </a:solidFill>
              <a:latin typeface="Arial"/>
              <a:ea typeface="Arial"/>
              <a:cs typeface="Arial"/>
              <a:sym typeface="Arial"/>
            </a:endParaRPr>
          </a:p>
        </p:txBody>
      </p:sp>
      <p:sp>
        <p:nvSpPr>
          <p:cNvPr id="7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53</a:t>
            </a:r>
          </a:p>
        </p:txBody>
      </p:sp>
      <p:sp xmlns:p="http://schemas.openxmlformats.org/presentationml/2006/main" xmlns:a="http://schemas.openxmlformats.org/drawingml/2006/main">
        <p:nvSpPr>
          <p:cNvPr id="720" name="TEACH-embedded-student-prompt" descr="Student thinking and response directions"/>
          <p:cNvSpPr txBox="1"/>
          <p:nvPr/>
        </p:nvSpPr>
        <p:spPr>
          <a:xfrm>
            <a:off x="594360" y="38221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a:t>
            </a:r>
            <a:endParaRPr lang="en-US" sz="2000"/>
          </a:p>
          <a:p>
            <a:pPr>
              <a:lnSpc>
                <a:spcPts val="2400"/>
              </a:lnSpc>
              <a:buNone/>
            </a:pPr>
            <a:r>
              <a:rPr lang="en-US" sz="2000">
                <a:solidFill>
                  <a:srgbClr val="174D60"/>
                </a:solidFill>
                <a:latin typeface="Arial"/>
              </a:rPr>
              <a:t>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cxnSp>
        <p:nvCxnSpPr>
          <p:cNvPr id="734" name="Google Shape;734;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5" name="Google Shape;735;p7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36" name="Google Shape;736;p70"/>
          <p:cNvSpPr txBox="1"/>
          <p:nvPr/>
        </p:nvSpPr>
        <p:spPr>
          <a:xfrm>
            <a:off x="484565" y="927528"/>
            <a:ext cx="8349720" cy="318044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In another experiment, Claire had two liquids that started at 0 degrees Celsius. She warmed one liquid and cooled the other. After a certain amount of time, one liquid was recorded as 4 degrees Celsius, and one liquid was recorded as −9 degrees Celsius. Which temperature is warmer? Which has the greater absolute value?</a:t>
            </a:r>
            <a:endParaRPr b="1"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0"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chemeClr val="dk1"/>
              </a:solidFill>
              <a:latin typeface="Arial"/>
              <a:ea typeface="Arial"/>
              <a:cs typeface="Arial"/>
              <a:sym typeface="Arial"/>
            </a:endParaRPr>
          </a:p>
        </p:txBody>
      </p:sp>
      <p:sp>
        <p:nvSpPr>
          <p:cNvPr id="737" name="Google Shape;737;p70"/>
          <p:cNvSpPr/>
          <p:nvPr/>
        </p:nvSpPr>
        <p:spPr>
          <a:xfrm>
            <a:off x="486000" y="4129768"/>
            <a:ext cx="8348285" cy="214848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8" name="Google Shape;738;p70"/>
          <p:cNvSpPr txBox="1"/>
          <p:nvPr/>
        </p:nvSpPr>
        <p:spPr>
          <a:xfrm>
            <a:off x="7524877" y="586372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can opposite numbers have equal absolute values while representing different positions?</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53" name="Google Shape;653;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4" name="Google Shape;654;p63"/>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sp>
        <p:nvSpPr>
          <p:cNvPr id="655" name="Google Shape;655;p63"/>
          <p:cNvSpPr txBox="1"/>
          <p:nvPr/>
        </p:nvSpPr>
        <p:spPr>
          <a:xfrm>
            <a:off x="485999" y="936000"/>
            <a:ext cx="5113523" cy="31763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graph the temperatures on a number 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need to find which temperature is closer to 0°C.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far is each value from 0? Explain your reasoning.</a:t>
            </a:r>
            <a:endParaRPr b="1" i="0" sz="2800" u="none" cap="none" strike="noStrike">
              <a:solidFill>
                <a:schemeClr val="dk1"/>
              </a:solidFill>
              <a:latin typeface="Arial"/>
              <a:ea typeface="Arial"/>
              <a:cs typeface="Arial"/>
              <a:sym typeface="Arial"/>
            </a:endParaRPr>
          </a:p>
        </p:txBody>
      </p:sp>
      <p:pic>
        <p:nvPicPr>
          <p:cNvPr id="656" name="Google Shape;656;p63"/>
          <p:cNvPicPr preferRelativeResize="0"/>
          <p:nvPr/>
        </p:nvPicPr>
        <p:blipFill rotWithShape="1">
          <a:blip r:embed="rId2">
            <a:alphaModFix/>
          </a:blip>
          <a:srcRect b="0" l="0" r="0" t="0"/>
          <a:stretch/>
        </p:blipFill>
        <p:spPr>
          <a:xfrm>
            <a:off x="499565" y="368708"/>
            <a:ext cx="353635" cy="340537"/>
          </a:xfrm>
          <a:prstGeom prst="rect">
            <a:avLst/>
          </a:prstGeom>
          <a:noFill/>
          <a:ln>
            <a:noFill/>
          </a:ln>
        </p:spPr>
      </p:pic>
      <p:sp>
        <p:nvSpPr>
          <p:cNvPr id="657" name="Google Shape;657;p63"/>
          <p:cNvSpPr txBox="1"/>
          <p:nvPr/>
        </p:nvSpPr>
        <p:spPr>
          <a:xfrm>
            <a:off x="499565" y="4888412"/>
            <a:ext cx="9833587" cy="14369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count the units from 0 to each integer. The point at 2 is 2 units from 0. The point at −4 is 4 units from 0.</a:t>
            </a:r>
            <a:endParaRPr b="1" i="0"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1cf7eeea9d28468fbd821a079ecd0012\narm24_c10703_se_007a-dig-eps.png" id="658" name="Google Shape;658;p63"/>
          <p:cNvPicPr preferRelativeResize="0"/>
          <p:nvPr/>
        </p:nvPicPr>
        <p:blipFill rotWithShape="1">
          <a:blip r:embed="rId3">
            <a:alphaModFix/>
          </a:blip>
          <a:srcRect b="0" l="0" r="0" t="0"/>
          <a:stretch/>
        </p:blipFill>
        <p:spPr>
          <a:xfrm>
            <a:off x="8432254" y="2206070"/>
            <a:ext cx="3400425" cy="2190750"/>
          </a:xfrm>
          <a:prstGeom prst="rect">
            <a:avLst/>
          </a:prstGeom>
          <a:noFill/>
          <a:ln>
            <a:noFill/>
          </a:ln>
        </p:spPr>
      </p:pic>
      <p:pic>
        <p:nvPicPr>
          <p:cNvPr descr="C:\Users\HP\Desktop\Grade_6_Unit_7-20230217T053830Z-001\Grade_6_Unit_7\OPS\img\.assets\1ebdb7e789594b4588c721122c7a5c4c\narm24_c10703_se_001a-dig-eps.png" id="659" name="Google Shape;659;p63"/>
          <p:cNvPicPr preferRelativeResize="0"/>
          <p:nvPr/>
        </p:nvPicPr>
        <p:blipFill rotWithShape="1">
          <a:blip r:embed="rId4">
            <a:alphaModFix/>
          </a:blip>
          <a:srcRect b="0" l="0" r="0" t="0"/>
          <a:stretch/>
        </p:blipFill>
        <p:spPr>
          <a:xfrm>
            <a:off x="5604604" y="647360"/>
            <a:ext cx="2705100" cy="4457700"/>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22 / 43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absolute value of a number represents its: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Opposite value</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Distance from zero on a number line</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Reciprocal</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Negative sign</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|−15|?</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23 / 43</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Can an absolute value ever be negative?</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Yes, always</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 distance is never negative</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for fractions</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in winter</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has a greater absolute value: −20 or 15?</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−20 (distance is 20)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Both are equal</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Zero</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53</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7-3 · Understand Absolute Value of Rational Numbers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Absolute Value Definition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distance</a:t>
            </a:r>
            <a:r>
              <a:rPr b="0" i="0" lang="en-US" sz="1450" u="none" cap="none" strike="noStrike">
                <a:solidFill>
                  <a:srgbClr val="475569"/>
                </a:solidFill>
                <a:latin typeface="Arial"/>
                <a:ea typeface="Arial"/>
                <a:cs typeface="Arial"/>
                <a:sym typeface="Arial"/>
              </a:rPr>
              <a:t xml:space="preserve"> of a number from zero on a </a:t>
            </a:r>
            <a:r>
              <a:rPr b="1" i="0" lang="en-US" sz="1450" u="none" cap="none" strike="noStrike">
                <a:solidFill>
                  <a:srgbClr val="475569"/>
                </a:solidFill>
                <a:latin typeface="Arial"/>
                <a:ea typeface="Arial"/>
                <a:cs typeface="Arial"/>
                <a:sym typeface="Arial"/>
              </a:rPr>
              <a:t xml:space="preserve">number line</a:t>
            </a:r>
            <a:r>
              <a:rPr b="0" i="0" lang="en-US" sz="1450" u="none" cap="none" strike="noStrike">
                <a:solidFill>
                  <a:srgbClr val="475569"/>
                </a:solidFill>
                <a:latin typeface="Arial"/>
                <a:ea typeface="Arial"/>
                <a:cs typeface="Arial"/>
                <a:sym typeface="Arial"/>
              </a:rPr>
              <a:t xml:space="preserve">, denoted |x|. Distance is always ≥ 0.</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Magnitude vs Position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Magnitude</a:t>
            </a:r>
            <a:r>
              <a:rPr b="0" i="0" lang="en-US" sz="1450" u="none" cap="none" strike="noStrike">
                <a:solidFill>
                  <a:srgbClr val="475569"/>
                </a:solidFill>
                <a:latin typeface="Arial"/>
                <a:ea typeface="Arial"/>
                <a:cs typeface="Arial"/>
                <a:sym typeface="Arial"/>
              </a:rPr>
              <a:t xml:space="preserve"> measures magnitude/size (|−50| = 50), while position describes location on a scale.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Real-World Distance</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Used to describe depth, debt amount, or temperature variation without direction.</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53</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1"/>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Understand Absolute Values of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Rational Numbers</a:t>
            </a:r>
            <a:endParaRPr b="1" i="0" sz="3600" u="none" cap="none" strike="noStrike">
              <a:solidFill>
                <a:schemeClr val="dk1"/>
              </a:solidFill>
              <a:latin typeface="Arial"/>
              <a:ea typeface="Arial"/>
              <a:cs typeface="Arial"/>
              <a:sym typeface="Arial"/>
            </a:endParaRPr>
          </a:p>
        </p:txBody>
      </p:sp>
      <p:sp>
        <p:nvSpPr>
          <p:cNvPr id="744" name="Google Shape;744;p7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5" name="Google Shape;745;p71"/>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53</a:t>
            </a:r>
          </a:p>
        </p:txBody>
      </p:sp>
      <p:grpSp>
        <p:nvGrpSpPr>
          <p:cNvPr id="747"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74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5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cxnSp>
        <p:nvCxnSpPr>
          <p:cNvPr id="785" name="Google Shape;785;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6" name="Google Shape;786;p75"/>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sp>
        <p:nvSpPr>
          <p:cNvPr id="787" name="Google Shape;787;p75"/>
          <p:cNvSpPr txBox="1"/>
          <p:nvPr/>
        </p:nvSpPr>
        <p:spPr>
          <a:xfrm>
            <a:off x="486000" y="935998"/>
            <a:ext cx="6430994" cy="15313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greatest temperature swing in a 24-hour period happened in Loma, Montana in 1972.</a:t>
            </a:r>
            <a:endParaRPr b="1" i="0" sz="2800" u="none" cap="none" strike="noStrike">
              <a:solidFill>
                <a:schemeClr val="dk1"/>
              </a:solidFill>
              <a:latin typeface="Arial"/>
              <a:ea typeface="Arial"/>
              <a:cs typeface="Arial"/>
              <a:sym typeface="Arial"/>
            </a:endParaRPr>
          </a:p>
        </p:txBody>
      </p:sp>
      <p:sp>
        <p:nvSpPr>
          <p:cNvPr id="788" name="Google Shape;788;p75"/>
          <p:cNvSpPr txBox="1"/>
          <p:nvPr/>
        </p:nvSpPr>
        <p:spPr>
          <a:xfrm>
            <a:off x="484565" y="2687266"/>
            <a:ext cx="69191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great was the temperature swing?</a:t>
            </a:r>
            <a:endParaRPr b="0" i="0" sz="2800" u="none" cap="none" strike="noStrike">
              <a:solidFill>
                <a:schemeClr val="dk1"/>
              </a:solidFill>
              <a:latin typeface="Arial"/>
              <a:ea typeface="Arial"/>
              <a:cs typeface="Arial"/>
              <a:sym typeface="Arial"/>
            </a:endParaRPr>
          </a:p>
        </p:txBody>
      </p:sp>
      <p:sp>
        <p:nvSpPr>
          <p:cNvPr id="789" name="Google Shape;789;p75"/>
          <p:cNvSpPr txBox="1"/>
          <p:nvPr/>
        </p:nvSpPr>
        <p:spPr>
          <a:xfrm>
            <a:off x="484565" y="4961752"/>
            <a:ext cx="7494312" cy="11978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 xml:space="preserve">What do you think </a:t>
            </a:r>
            <a:r>
              <a:rPr b="0" i="1" lang="en-US" sz="2800" u="none" cap="none" strike="noStrike">
                <a:solidFill>
                  <a:srgbClr val="595959"/>
                </a:solidFill>
                <a:latin typeface="Arial"/>
                <a:ea typeface="Arial"/>
                <a:cs typeface="Arial"/>
                <a:sym typeface="Arial"/>
              </a:rPr>
              <a:t>temperature swing</a:t>
            </a:r>
            <a:r>
              <a:rPr b="0" i="0" lang="en-US" sz="2800" u="none" cap="none" strike="noStrike">
                <a:solidFill>
                  <a:srgbClr val="595959"/>
                </a:solidFill>
                <a:latin typeface="Arial"/>
                <a:ea typeface="Arial"/>
                <a:cs typeface="Arial"/>
                <a:sym typeface="Arial"/>
              </a:rPr>
              <a:t xml:space="preserve"> means?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39b8bf72b523429c9dd1c1de721abfcf\narm24_c10703_se_004a-dig.png" id="790" name="Google Shape;790;p75"/>
          <p:cNvPicPr preferRelativeResize="0"/>
          <p:nvPr/>
        </p:nvPicPr>
        <p:blipFill rotWithShape="1">
          <a:blip r:embed="rId3">
            <a:alphaModFix/>
          </a:blip>
          <a:srcRect b="0" l="0" r="0" t="0"/>
          <a:stretch/>
        </p:blipFill>
        <p:spPr>
          <a:xfrm>
            <a:off x="8171869" y="1376873"/>
            <a:ext cx="3381375" cy="3409950"/>
          </a:xfrm>
          <a:prstGeom prst="rect">
            <a:avLst/>
          </a:prstGeom>
          <a:noFill/>
          <a:ln>
            <a:noFill/>
          </a:ln>
        </p:spPr>
      </p:pic>
      <p:sp>
        <p:nvSpPr>
          <p:cNvPr id="7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53</a:t>
            </a:r>
          </a:p>
        </p:txBody>
      </p:sp>
      <p:sp xmlns:p="http://schemas.openxmlformats.org/presentationml/2006/main" xmlns:a="http://schemas.openxmlformats.org/drawingml/2006/main">
        <p:nvSpPr>
          <p:cNvPr id="792" name="TEACH-embedded-student-prompt" descr="Student thinking and response directions"/>
          <p:cNvSpPr txBox="1"/>
          <p:nvPr/>
        </p:nvSpPr>
        <p:spPr>
          <a:xfrm>
            <a:off x="594360" y="4041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cxnSp>
        <p:nvCxnSpPr>
          <p:cNvPr id="826" name="Google Shape;826;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7" name="Google Shape;827;p79"/>
          <p:cNvSpPr txBox="1"/>
          <p:nvPr/>
        </p:nvSpPr>
        <p:spPr>
          <a:xfrm>
            <a:off x="486000" y="936000"/>
            <a:ext cx="7242155" cy="180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greatest temperature swing in a 24-hour period happened in Loma, Montana in 1972. How great was the temperature swing?</a:t>
            </a:r>
            <a:endParaRPr b="1" i="0" sz="2800" u="none" cap="none" strike="noStrike">
              <a:solidFill>
                <a:schemeClr val="dk1"/>
              </a:solidFill>
              <a:latin typeface="Arial"/>
              <a:ea typeface="Arial"/>
              <a:cs typeface="Arial"/>
              <a:sym typeface="Arial"/>
            </a:endParaRPr>
          </a:p>
        </p:txBody>
      </p:sp>
      <p:sp>
        <p:nvSpPr>
          <p:cNvPr id="828" name="Google Shape;828;p79"/>
          <p:cNvSpPr/>
          <p:nvPr/>
        </p:nvSpPr>
        <p:spPr>
          <a:xfrm>
            <a:off x="467030" y="2934939"/>
            <a:ext cx="705464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information do you need to find?</a:t>
            </a:r>
            <a:endParaRPr b="0" i="0" sz="2800" u="none" cap="none" strike="noStrike">
              <a:solidFill>
                <a:schemeClr val="dk1"/>
              </a:solidFill>
              <a:latin typeface="Arial"/>
              <a:ea typeface="Arial"/>
              <a:cs typeface="Arial"/>
              <a:sym typeface="Arial"/>
            </a:endParaRPr>
          </a:p>
        </p:txBody>
      </p:sp>
      <p:sp>
        <p:nvSpPr>
          <p:cNvPr id="829" name="Google Shape;829;p79"/>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pic>
        <p:nvPicPr>
          <p:cNvPr id="830" name="Google Shape;830;p79"/>
          <p:cNvPicPr preferRelativeResize="0"/>
          <p:nvPr/>
        </p:nvPicPr>
        <p:blipFill rotWithShape="1">
          <a:blip r:embed="rId3">
            <a:alphaModFix/>
          </a:blip>
          <a:srcRect b="0" l="0" r="0" t="0"/>
          <a:stretch/>
        </p:blipFill>
        <p:spPr>
          <a:xfrm>
            <a:off x="488810" y="4687880"/>
            <a:ext cx="5292558" cy="838200"/>
          </a:xfrm>
          <a:prstGeom prst="rect">
            <a:avLst/>
          </a:prstGeom>
          <a:noFill/>
          <a:ln>
            <a:noFill/>
          </a:ln>
        </p:spPr>
      </p:pic>
      <p:sp>
        <p:nvSpPr>
          <p:cNvPr id="831" name="Google Shape;831;p79"/>
          <p:cNvSpPr/>
          <p:nvPr/>
        </p:nvSpPr>
        <p:spPr>
          <a:xfrm>
            <a:off x="664027" y="5806440"/>
            <a:ext cx="8520281"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tool can help you represent this problem situation?</a:t>
            </a:r>
            <a:endParaRPr b="0" i="0" sz="2600" u="none" cap="none" strike="noStrike">
              <a:solidFill>
                <a:srgbClr val="595959"/>
              </a:solidFill>
              <a:latin typeface="Arial"/>
              <a:ea typeface="Arial"/>
              <a:cs typeface="Arial"/>
              <a:sym typeface="Arial"/>
            </a:endParaRPr>
          </a:p>
        </p:txBody>
      </p:sp>
      <p:sp>
        <p:nvSpPr>
          <p:cNvPr id="832" name="Google Shape;832;p79"/>
          <p:cNvSpPr/>
          <p:nvPr/>
        </p:nvSpPr>
        <p:spPr>
          <a:xfrm>
            <a:off x="3129030" y="4845370"/>
            <a:ext cx="263905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Choosing Tools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39b8bf72b523429c9dd1c1de721abfcf\narm24_c10703_se_004a-dig.png" id="833" name="Google Shape;833;p79"/>
          <p:cNvPicPr preferRelativeResize="0"/>
          <p:nvPr/>
        </p:nvPicPr>
        <p:blipFill rotWithShape="1">
          <a:blip r:embed="rId4">
            <a:alphaModFix/>
          </a:blip>
          <a:srcRect b="0" l="0" r="0" t="0"/>
          <a:stretch/>
        </p:blipFill>
        <p:spPr>
          <a:xfrm>
            <a:off x="8171869" y="1376873"/>
            <a:ext cx="3381375" cy="3409950"/>
          </a:xfrm>
          <a:prstGeom prst="rect">
            <a:avLst/>
          </a:prstGeom>
          <a:noFill/>
          <a:ln>
            <a:noFill/>
          </a:ln>
        </p:spPr>
      </p:pic>
      <p:sp>
        <p:nvSpPr>
          <p:cNvPr id="83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53</a:t>
            </a:r>
          </a:p>
        </p:txBody>
      </p:sp>
      <p:sp xmlns:p="http://schemas.openxmlformats.org/presentationml/2006/main" xmlns:a="http://schemas.openxmlformats.org/drawingml/2006/main">
        <p:nvSpPr>
          <p:cNvPr id="835" name="TEACH-embedded-student-prompt" descr="Student thinking and response directions"/>
          <p:cNvSpPr txBox="1"/>
          <p:nvPr/>
        </p:nvSpPr>
        <p:spPr>
          <a:xfrm>
            <a:off x="594360" y="37673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cxnSp>
        <p:nvCxnSpPr>
          <p:cNvPr id="850" name="Google Shape;850;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1" name="Google Shape;851;p81"/>
          <p:cNvSpPr txBox="1"/>
          <p:nvPr/>
        </p:nvSpPr>
        <p:spPr>
          <a:xfrm>
            <a:off x="486000" y="936000"/>
            <a:ext cx="7366645" cy="10019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use a number line to represent the problem.</a:t>
            </a:r>
            <a:endParaRPr b="1" i="0" sz="2800" u="none" cap="none" strike="noStrike">
              <a:solidFill>
                <a:schemeClr val="dk1"/>
              </a:solidFill>
              <a:latin typeface="Arial"/>
              <a:ea typeface="Arial"/>
              <a:cs typeface="Arial"/>
              <a:sym typeface="Arial"/>
            </a:endParaRPr>
          </a:p>
        </p:txBody>
      </p:sp>
      <p:sp>
        <p:nvSpPr>
          <p:cNvPr id="852" name="Google Shape;852;p81"/>
          <p:cNvSpPr/>
          <p:nvPr/>
        </p:nvSpPr>
        <p:spPr>
          <a:xfrm>
            <a:off x="486000" y="1937982"/>
            <a:ext cx="710257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We need to find how far apart the two temperatures were.</a:t>
            </a:r>
            <a:endParaRPr b="0" i="0" sz="2800" u="none" cap="none" strike="noStrike">
              <a:solidFill>
                <a:schemeClr val="dk1"/>
              </a:solidFill>
              <a:latin typeface="Arial"/>
              <a:ea typeface="Arial"/>
              <a:cs typeface="Arial"/>
              <a:sym typeface="Arial"/>
            </a:endParaRPr>
          </a:p>
        </p:txBody>
      </p:sp>
      <p:sp>
        <p:nvSpPr>
          <p:cNvPr id="853" name="Google Shape;853;p81"/>
          <p:cNvSpPr/>
          <p:nvPr/>
        </p:nvSpPr>
        <p:spPr>
          <a:xfrm>
            <a:off x="467028" y="4837269"/>
            <a:ext cx="1102409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locations of the two numbers?</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3a752cebc28f4a8990d93c6b948e56a1\narm24_c10703_se_002a-dig-a-eps.png" id="854" name="Google Shape;854;p81"/>
          <p:cNvPicPr preferRelativeResize="0"/>
          <p:nvPr/>
        </p:nvPicPr>
        <p:blipFill rotWithShape="1">
          <a:blip r:embed="rId3">
            <a:alphaModFix/>
          </a:blip>
          <a:srcRect b="0" l="0" r="0" t="0"/>
          <a:stretch/>
        </p:blipFill>
        <p:spPr>
          <a:xfrm>
            <a:off x="1045200" y="3002099"/>
            <a:ext cx="6210300" cy="1762125"/>
          </a:xfrm>
          <a:prstGeom prst="rect">
            <a:avLst/>
          </a:prstGeom>
          <a:noFill/>
          <a:ln>
            <a:noFill/>
          </a:ln>
        </p:spPr>
      </p:pic>
      <p:sp>
        <p:nvSpPr>
          <p:cNvPr id="855" name="Google Shape;855;p81"/>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39b8bf72b523429c9dd1c1de721abfcf\narm24_c10703_se_004a-dig.png" id="856" name="Google Shape;856;p81"/>
          <p:cNvPicPr preferRelativeResize="0"/>
          <p:nvPr/>
        </p:nvPicPr>
        <p:blipFill rotWithShape="1">
          <a:blip r:embed="rId4">
            <a:alphaModFix/>
          </a:blip>
          <a:srcRect b="0" l="0" r="0" t="0"/>
          <a:stretch/>
        </p:blipFill>
        <p:spPr>
          <a:xfrm>
            <a:off x="8171869" y="1376873"/>
            <a:ext cx="3381375" cy="3409950"/>
          </a:xfrm>
          <a:prstGeom prst="rect">
            <a:avLst/>
          </a:prstGeom>
          <a:noFill/>
          <a:ln>
            <a:noFill/>
          </a:ln>
        </p:spPr>
      </p:pic>
      <p:sp>
        <p:nvSpPr>
          <p:cNvPr id="857" name="Google Shape;857;p81"/>
          <p:cNvSpPr txBox="1"/>
          <p:nvPr/>
        </p:nvSpPr>
        <p:spPr>
          <a:xfrm>
            <a:off x="484565" y="5388860"/>
            <a:ext cx="10238696" cy="10138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number is to the left of 0 and the other is to the right of 0.</a:t>
            </a:r>
            <a:endParaRPr b="1" i="0" sz="2800" u="none" cap="none" strike="noStrike">
              <a:solidFill>
                <a:srgbClr val="595959"/>
              </a:solidFill>
              <a:latin typeface="Arial"/>
              <a:ea typeface="Arial"/>
              <a:cs typeface="Arial"/>
              <a:sym typeface="Arial"/>
            </a:endParaRPr>
          </a:p>
        </p:txBody>
      </p:sp>
      <p:sp>
        <p:nvSpPr>
          <p:cNvPr id="8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53</a:t>
            </a:r>
          </a:p>
        </p:txBody>
      </p:sp>
      <p:sp>
        <p:nvSpPr>
          <p:cNvPr id="859" name="EWL-COVER-1"/>
          <p:cNvSpPr/>
          <p:nvPr/>
        </p:nvSpPr>
        <p:spPr>
          <a:xfrm>
            <a:off x="429701" y="5333996"/>
            <a:ext cx="10348424" cy="1112524"/>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cxnSp>
        <p:nvCxnSpPr>
          <p:cNvPr id="872" name="Google Shape;872;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3" name="Google Shape;873;p83"/>
          <p:cNvSpPr txBox="1"/>
          <p:nvPr/>
        </p:nvSpPr>
        <p:spPr>
          <a:xfrm>
            <a:off x="486000" y="936000"/>
            <a:ext cx="7893725" cy="5789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−54 is to the left of 0 and 49 is to the right of 0.</a:t>
            </a:r>
            <a:endParaRPr b="1" i="0" sz="2800" u="none" cap="none" strike="noStrike">
              <a:solidFill>
                <a:schemeClr val="dk1"/>
              </a:solidFill>
              <a:latin typeface="Arial"/>
              <a:ea typeface="Arial"/>
              <a:cs typeface="Arial"/>
              <a:sym typeface="Arial"/>
            </a:endParaRPr>
          </a:p>
        </p:txBody>
      </p:sp>
      <p:sp>
        <p:nvSpPr>
          <p:cNvPr id="874" name="Google Shape;874;p83"/>
          <p:cNvSpPr txBox="1"/>
          <p:nvPr/>
        </p:nvSpPr>
        <p:spPr>
          <a:xfrm>
            <a:off x="489007" y="4774914"/>
            <a:ext cx="8333534" cy="15439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temperature swing is the sum of the distance from −54 to 0 and the distance from 0 to 49.</a:t>
            </a:r>
            <a:endParaRPr b="1" i="0" sz="2800" u="none" cap="none" strike="noStrike">
              <a:solidFill>
                <a:srgbClr val="595959"/>
              </a:solidFill>
              <a:latin typeface="Arial"/>
              <a:ea typeface="Arial"/>
              <a:cs typeface="Arial"/>
              <a:sym typeface="Arial"/>
            </a:endParaRPr>
          </a:p>
        </p:txBody>
      </p:sp>
      <p:sp>
        <p:nvSpPr>
          <p:cNvPr id="875" name="Google Shape;875;p83"/>
          <p:cNvSpPr/>
          <p:nvPr/>
        </p:nvSpPr>
        <p:spPr>
          <a:xfrm>
            <a:off x="467031" y="3697978"/>
            <a:ext cx="89772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does the distance of each number from 0 relate to the temperature swing?</a:t>
            </a:r>
            <a:endParaRPr b="0" i="0" sz="2800" u="none" cap="none" strike="noStrike">
              <a:solidFill>
                <a:schemeClr val="dk1"/>
              </a:solidFill>
              <a:latin typeface="Arial"/>
              <a:ea typeface="Arial"/>
              <a:cs typeface="Arial"/>
              <a:sym typeface="Arial"/>
            </a:endParaRPr>
          </a:p>
        </p:txBody>
      </p:sp>
      <p:sp>
        <p:nvSpPr>
          <p:cNvPr id="876" name="Google Shape;876;p83"/>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3a752cebc28f4a8990d93c6b948e56a1\narm24_c10703_se_002a-dig-a-eps.png" id="877" name="Google Shape;877;p83"/>
          <p:cNvPicPr preferRelativeResize="0"/>
          <p:nvPr/>
        </p:nvPicPr>
        <p:blipFill rotWithShape="1">
          <a:blip r:embed="rId3">
            <a:alphaModFix/>
          </a:blip>
          <a:srcRect b="0" l="0" r="0" t="0"/>
          <a:stretch/>
        </p:blipFill>
        <p:spPr>
          <a:xfrm>
            <a:off x="1327712" y="1725377"/>
            <a:ext cx="6210300" cy="1762125"/>
          </a:xfrm>
          <a:prstGeom prst="rect">
            <a:avLst/>
          </a:prstGeom>
          <a:noFill/>
          <a:ln>
            <a:noFill/>
          </a:ln>
        </p:spPr>
      </p:pic>
      <p:sp>
        <p:nvSpPr>
          <p:cNvPr id="8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53</a:t>
            </a:r>
          </a:p>
        </p:txBody>
      </p:sp>
      <p:sp>
        <p:nvSpPr>
          <p:cNvPr id="879" name="EWL-COVER-1"/>
          <p:cNvSpPr/>
          <p:nvPr/>
        </p:nvSpPr>
        <p:spPr>
          <a:xfrm>
            <a:off x="434143" y="4720050"/>
            <a:ext cx="8443262" cy="165372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cxnSp>
        <p:nvCxnSpPr>
          <p:cNvPr id="892" name="Google Shape;892;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3" name="Google Shape;893;p85"/>
          <p:cNvSpPr txBox="1"/>
          <p:nvPr/>
        </p:nvSpPr>
        <p:spPr>
          <a:xfrm>
            <a:off x="486000" y="935999"/>
            <a:ext cx="8610866" cy="15471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temperature swing is the sum of each number’s distance from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determine the distance of each number from 0.</a:t>
            </a:r>
            <a:endParaRPr b="0" i="0" sz="2800" u="none" cap="none" strike="noStrike">
              <a:solidFill>
                <a:schemeClr val="dk1"/>
              </a:solidFill>
              <a:latin typeface="Arial"/>
              <a:ea typeface="Arial"/>
              <a:cs typeface="Arial"/>
              <a:sym typeface="Arial"/>
            </a:endParaRPr>
          </a:p>
        </p:txBody>
      </p:sp>
      <p:sp>
        <p:nvSpPr>
          <p:cNvPr id="894" name="Google Shape;894;p85"/>
          <p:cNvSpPr/>
          <p:nvPr/>
        </p:nvSpPr>
        <p:spPr>
          <a:xfrm>
            <a:off x="382305" y="3841753"/>
            <a:ext cx="914469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do the distances relate to the absolute value of each number?</a:t>
            </a:r>
            <a:endParaRPr b="0" i="0" sz="2800" u="none" cap="none" strike="noStrike">
              <a:solidFill>
                <a:schemeClr val="dk1"/>
              </a:solidFill>
              <a:latin typeface="Arial"/>
              <a:ea typeface="Arial"/>
              <a:cs typeface="Arial"/>
              <a:sym typeface="Arial"/>
            </a:endParaRPr>
          </a:p>
        </p:txBody>
      </p:sp>
      <p:sp>
        <p:nvSpPr>
          <p:cNvPr id="895" name="Google Shape;895;p85"/>
          <p:cNvSpPr txBox="1"/>
          <p:nvPr/>
        </p:nvSpPr>
        <p:spPr>
          <a:xfrm>
            <a:off x="486000" y="4903957"/>
            <a:ext cx="9520123" cy="13980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absolute value of each number is the same as the distance we found from 0.</a:t>
            </a:r>
            <a:endParaRPr b="0" i="1"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cc21c5536c2d495eaff124bcfc910e00\narm24_c10703_se_002a-dig-eps.png" id="896" name="Google Shape;896;p85"/>
          <p:cNvPicPr preferRelativeResize="0"/>
          <p:nvPr/>
        </p:nvPicPr>
        <p:blipFill rotWithShape="1">
          <a:blip r:embed="rId3">
            <a:alphaModFix/>
          </a:blip>
          <a:srcRect b="0" l="0" r="0" t="0"/>
          <a:stretch/>
        </p:blipFill>
        <p:spPr>
          <a:xfrm>
            <a:off x="1262120" y="2728487"/>
            <a:ext cx="5981700" cy="1000125"/>
          </a:xfrm>
          <a:prstGeom prst="rect">
            <a:avLst/>
          </a:prstGeom>
          <a:noFill/>
          <a:ln>
            <a:noFill/>
          </a:ln>
        </p:spPr>
      </p:pic>
      <p:sp>
        <p:nvSpPr>
          <p:cNvPr id="897" name="Google Shape;897;p85"/>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sp>
        <p:nvSpPr>
          <p:cNvPr id="8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53</a:t>
            </a:r>
          </a:p>
        </p:txBody>
      </p:sp>
      <p:sp>
        <p:nvSpPr>
          <p:cNvPr id="899" name="EWL-COVER-1"/>
          <p:cNvSpPr/>
          <p:nvPr/>
        </p:nvSpPr>
        <p:spPr>
          <a:xfrm>
            <a:off x="431136" y="4849093"/>
            <a:ext cx="9629851" cy="1507770"/>
          </a:xfrm>
          <a:prstGeom prst="rect">
            <a:avLst/>
          </a:prstGeom>
          <a:solidFill>
            <a:srgbClr val="FFFFFF"/>
          </a:solidFill>
          <a:ln>
            <a:noFill/>
          </a:ln>
        </p:spPr>
        <p:txBody>
          <a:bodyPr/>
          <a:lstStyle/>
          <a:p/>
        </p:txBody>
      </p:sp>
      <p:sp xmlns:p="http://schemas.openxmlformats.org/presentationml/2006/main" xmlns:a="http://schemas.openxmlformats.org/drawingml/2006/main">
        <p:nvSpPr>
          <p:cNvPr id="900" name="TEACH-embedded-student-prompt" descr="Student thinking and response directions"/>
          <p:cNvSpPr txBox="1"/>
          <p:nvPr/>
        </p:nvSpPr>
        <p:spPr>
          <a:xfrm>
            <a:off x="7391400" y="26334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cxnSp>
        <p:nvCxnSpPr>
          <p:cNvPr id="915" name="Google Shape;915;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6" name="Google Shape;916;p87"/>
          <p:cNvSpPr txBox="1"/>
          <p:nvPr/>
        </p:nvSpPr>
        <p:spPr>
          <a:xfrm>
            <a:off x="485998" y="2111959"/>
            <a:ext cx="8385047" cy="537959"/>
          </a:xfrm>
          <a:prstGeom prst="rect">
            <a:avLst/>
          </a:prstGeom>
          <a:blipFill rotWithShape="1">
            <a:blip r:embed="rId3">
              <a:alphaModFix/>
            </a:blip>
            <a:stretch>
              <a:fillRect b="-26966" l="-1527" r="0" t="-1123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7" name="Google Shape;917;p87"/>
          <p:cNvSpPr txBox="1"/>
          <p:nvPr/>
        </p:nvSpPr>
        <p:spPr>
          <a:xfrm>
            <a:off x="485998" y="5326457"/>
            <a:ext cx="7851828" cy="10573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add the absolute values of the numbers.</a:t>
            </a:r>
            <a:endParaRPr b="1" i="0" sz="2800" u="none" cap="none" strike="noStrike">
              <a:solidFill>
                <a:srgbClr val="595959"/>
              </a:solidFill>
              <a:latin typeface="Arial"/>
              <a:ea typeface="Arial"/>
              <a:cs typeface="Arial"/>
              <a:sym typeface="Arial"/>
            </a:endParaRPr>
          </a:p>
        </p:txBody>
      </p:sp>
      <p:sp>
        <p:nvSpPr>
          <p:cNvPr id="918" name="Google Shape;918;p87"/>
          <p:cNvSpPr/>
          <p:nvPr/>
        </p:nvSpPr>
        <p:spPr>
          <a:xfrm>
            <a:off x="485998" y="4317829"/>
            <a:ext cx="9804412"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absolute values to determine the total distance between the two numbers?</a:t>
            </a:r>
            <a:endParaRPr b="0" i="0" sz="2800" u="none" cap="none" strike="noStrike">
              <a:solidFill>
                <a:schemeClr val="dk1"/>
              </a:solidFill>
              <a:latin typeface="Arial"/>
              <a:ea typeface="Arial"/>
              <a:cs typeface="Arial"/>
              <a:sym typeface="Arial"/>
            </a:endParaRPr>
          </a:p>
        </p:txBody>
      </p:sp>
      <p:sp>
        <p:nvSpPr>
          <p:cNvPr id="919" name="Google Shape;919;p87"/>
          <p:cNvSpPr/>
          <p:nvPr/>
        </p:nvSpPr>
        <p:spPr>
          <a:xfrm>
            <a:off x="485998" y="2674481"/>
            <a:ext cx="215405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0" name="Google Shape;920;p87"/>
          <p:cNvSpPr/>
          <p:nvPr/>
        </p:nvSpPr>
        <p:spPr>
          <a:xfrm>
            <a:off x="485998" y="3222264"/>
            <a:ext cx="7974661" cy="523220"/>
          </a:xfrm>
          <a:prstGeom prst="rect">
            <a:avLst/>
          </a:prstGeom>
          <a:blipFill rotWithShape="1">
            <a:blip r:embed="rId5">
              <a:alphaModFix/>
            </a:blip>
            <a:stretch>
              <a:fillRect b="-32942" l="-1606" r="0" t="-129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1" name="Google Shape;921;p87"/>
          <p:cNvSpPr/>
          <p:nvPr/>
        </p:nvSpPr>
        <p:spPr>
          <a:xfrm>
            <a:off x="485998" y="3770047"/>
            <a:ext cx="1852558"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2" name="Google Shape;922;p87"/>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cc21c5536c2d495eaff124bcfc910e00\narm24_c10703_se_002a-dig-eps.png" id="923" name="Google Shape;923;p87"/>
          <p:cNvPicPr preferRelativeResize="0"/>
          <p:nvPr/>
        </p:nvPicPr>
        <p:blipFill rotWithShape="1">
          <a:blip r:embed="rId7">
            <a:alphaModFix/>
          </a:blip>
          <a:srcRect b="0" l="0" r="0" t="0"/>
          <a:stretch/>
        </p:blipFill>
        <p:spPr>
          <a:xfrm>
            <a:off x="486000" y="936000"/>
            <a:ext cx="5981700" cy="1000125"/>
          </a:xfrm>
          <a:prstGeom prst="rect">
            <a:avLst/>
          </a:prstGeom>
          <a:noFill/>
          <a:ln>
            <a:noFill/>
          </a:ln>
        </p:spPr>
      </p:pic>
      <p:sp>
        <p:nvSpPr>
          <p:cNvPr id="9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53</a:t>
            </a:r>
          </a:p>
        </p:txBody>
      </p:sp>
      <p:sp>
        <p:nvSpPr>
          <p:cNvPr id="925" name="EWL-COVER-1"/>
          <p:cNvSpPr/>
          <p:nvPr/>
        </p:nvSpPr>
        <p:spPr>
          <a:xfrm>
            <a:off x="431134" y="5271593"/>
            <a:ext cx="7961556" cy="1167094"/>
          </a:xfrm>
          <a:prstGeom prst="rect">
            <a:avLst/>
          </a:prstGeom>
          <a:solidFill>
            <a:srgbClr val="FFFFFF"/>
          </a:solidFill>
          <a:ln>
            <a:noFill/>
          </a:ln>
        </p:spPr>
        <p:txBody>
          <a:bodyPr/>
          <a:lstStyle/>
          <a:p/>
        </p:txBody>
      </p:sp>
      <p:grpSp>
        <p:nvGrpSpPr>
          <p:cNvPr id="926" name="TEACH-5-student-move" descr="TEACH 5 · Facilitate student interactions and academic talk"/>
          <p:cNvGrpSpPr/>
          <p:nvPr/>
        </p:nvGrpSpPr>
        <p:grpSpPr>
          <a:xfrm>
            <a:off x="6187440" y="3878917"/>
            <a:ext cx="5501640" cy="402336"/>
            <a:chOff x="6187440" y="3878917"/>
            <a:chExt cx="5501640" cy="402336"/>
          </a:xfrm>
        </p:grpSpPr>
        <p:sp>
          <p:nvSpPr>
            <p:cNvPr id="927" name="TEACH-move-card"/>
            <p:cNvSpPr/>
            <p:nvPr/>
          </p:nvSpPr>
          <p:spPr>
            <a:xfrm>
              <a:off x="6187440" y="3878917"/>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28" name="TEACH-move-rule"/>
            <p:cNvSpPr/>
            <p:nvPr/>
          </p:nvSpPr>
          <p:spPr>
            <a:xfrm>
              <a:off x="6233160" y="3955361"/>
              <a:ext cx="100584" cy="249448"/>
            </a:xfrm>
            <a:prstGeom prst="roundRect">
              <a:avLst>
                <a:gd name="adj" fmla="val 50000"/>
              </a:avLst>
            </a:prstGeom>
            <a:solidFill>
              <a:srgbClr val="01708C"/>
            </a:solidFill>
            <a:ln>
              <a:noFill/>
            </a:ln>
          </p:spPr>
          <p:txBody>
            <a:bodyPr/>
            <a:lstStyle/>
            <a:p>
              <a:endParaRPr/>
            </a:p>
          </p:txBody>
        </p:sp>
        <p:sp>
          <p:nvSpPr>
            <p:cNvPr id="929" name="TEACH-move-text"/>
            <p:cNvSpPr txBox="1"/>
            <p:nvPr/>
          </p:nvSpPr>
          <p:spPr>
            <a:xfrm>
              <a:off x="6507480" y="3878917"/>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cxnSp>
        <p:nvCxnSpPr>
          <p:cNvPr id="943" name="Google Shape;943;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4" name="Google Shape;944;p89"/>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45" name="Google Shape;945;p89"/>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946" name="Google Shape;946;p89"/>
          <p:cNvSpPr txBox="1"/>
          <p:nvPr/>
        </p:nvSpPr>
        <p:spPr>
          <a:xfrm>
            <a:off x="485997" y="5036625"/>
            <a:ext cx="3476015" cy="1254394"/>
          </a:xfrm>
          <a:prstGeom prst="rect">
            <a:avLst/>
          </a:prstGeom>
          <a:blipFill rotWithShape="1">
            <a:blip r:embed="rId4">
              <a:alphaModFix/>
            </a:blip>
            <a:stretch>
              <a:fillRect b="0" l="-3684" r="0" t="-48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47" name="Google Shape;947;p89"/>
          <p:cNvSpPr txBox="1"/>
          <p:nvPr/>
        </p:nvSpPr>
        <p:spPr>
          <a:xfrm>
            <a:off x="485999" y="936000"/>
            <a:ext cx="7243980" cy="15751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We can add the absolute values to determine the total distance between the two numbers.</a:t>
            </a:r>
            <a:endParaRPr b="0" i="0" sz="2800" u="none" cap="none" strike="noStrike">
              <a:solidFill>
                <a:schemeClr val="dk1"/>
              </a:solidFill>
              <a:latin typeface="Arial"/>
              <a:ea typeface="Arial"/>
              <a:cs typeface="Arial"/>
              <a:sym typeface="Arial"/>
            </a:endParaRPr>
          </a:p>
        </p:txBody>
      </p:sp>
      <p:sp>
        <p:nvSpPr>
          <p:cNvPr id="948" name="Google Shape;948;p89"/>
          <p:cNvSpPr/>
          <p:nvPr/>
        </p:nvSpPr>
        <p:spPr>
          <a:xfrm>
            <a:off x="425686" y="3821199"/>
            <a:ext cx="752523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is the sum of the absolute values?</a:t>
            </a:r>
            <a:endParaRPr b="0" i="0" sz="2800" u="none" cap="none" strike="noStrike">
              <a:solidFill>
                <a:schemeClr val="dk1"/>
              </a:solidFill>
              <a:latin typeface="Arial"/>
              <a:ea typeface="Arial"/>
              <a:cs typeface="Arial"/>
              <a:sym typeface="Arial"/>
            </a:endParaRPr>
          </a:p>
        </p:txBody>
      </p:sp>
      <p:sp>
        <p:nvSpPr>
          <p:cNvPr id="949" name="Google Shape;949;p89"/>
          <p:cNvSpPr/>
          <p:nvPr/>
        </p:nvSpPr>
        <p:spPr>
          <a:xfrm>
            <a:off x="2535754" y="2492963"/>
            <a:ext cx="212025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0" name="Google Shape;950;p89"/>
          <p:cNvSpPr/>
          <p:nvPr/>
        </p:nvSpPr>
        <p:spPr>
          <a:xfrm>
            <a:off x="2803455" y="3128993"/>
            <a:ext cx="1852558"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39b8bf72b523429c9dd1c1de721abfcf\narm24_c10703_se_004a-dig.png" id="951" name="Google Shape;951;p89"/>
          <p:cNvPicPr preferRelativeResize="0"/>
          <p:nvPr/>
        </p:nvPicPr>
        <p:blipFill rotWithShape="1">
          <a:blip r:embed="rId7">
            <a:alphaModFix/>
          </a:blip>
          <a:srcRect b="0" l="0" r="0" t="0"/>
          <a:stretch/>
        </p:blipFill>
        <p:spPr>
          <a:xfrm>
            <a:off x="8171869" y="1376873"/>
            <a:ext cx="3381375" cy="3409950"/>
          </a:xfrm>
          <a:prstGeom prst="rect">
            <a:avLst/>
          </a:prstGeom>
          <a:noFill/>
          <a:ln>
            <a:noFill/>
          </a:ln>
        </p:spPr>
      </p:pic>
      <p:sp>
        <p:nvSpPr>
          <p:cNvPr id="9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53</a:t>
            </a:r>
          </a:p>
        </p:txBody>
      </p:sp>
      <p:sp>
        <p:nvSpPr>
          <p:cNvPr id="95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54" name="TEACH-embedded-student-prompt" descr="Student thinking and response directions"/>
          <p:cNvSpPr txBox="1"/>
          <p:nvPr/>
        </p:nvSpPr>
        <p:spPr>
          <a:xfrm>
            <a:off x="40995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a:t>
            </a:r>
            <a:endParaRPr lang="en-US" sz="2000"/>
          </a:p>
          <a:p>
            <a:pPr>
              <a:lnSpc>
                <a:spcPts val="2400"/>
              </a:lnSpc>
              <a:buNone/>
            </a:pPr>
            <a:r>
              <a:rPr lang="en-US" sz="2000">
                <a:solidFill>
                  <a:srgbClr val="174D60"/>
                </a:solidFill>
                <a:latin typeface="Arial"/>
              </a:rPr>
              <a:t>both revise.</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cxnSp>
        <p:nvCxnSpPr>
          <p:cNvPr id="956" name="Google Shape;956;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7" name="Google Shape;957;p90"/>
          <p:cNvSpPr txBox="1"/>
          <p:nvPr/>
        </p:nvSpPr>
        <p:spPr>
          <a:xfrm>
            <a:off x="484565" y="4546868"/>
            <a:ext cx="10522286" cy="175515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sp>
        <p:nvSpPr>
          <p:cNvPr id="958" name="Google Shape;958;p90"/>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sp>
        <p:nvSpPr>
          <p:cNvPr id="959" name="Google Shape;959;p90"/>
          <p:cNvSpPr txBox="1"/>
          <p:nvPr/>
        </p:nvSpPr>
        <p:spPr>
          <a:xfrm>
            <a:off x="1321614" y="936000"/>
            <a:ext cx="2325439" cy="54887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0" name="Google Shape;960;p90"/>
          <p:cNvSpPr/>
          <p:nvPr/>
        </p:nvSpPr>
        <p:spPr>
          <a:xfrm>
            <a:off x="489010" y="3485626"/>
            <a:ext cx="739179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should be the unit of measure given the context of the situation?</a:t>
            </a:r>
            <a:endParaRPr b="0" i="0" sz="2800" u="none" cap="none" strike="noStrike">
              <a:solidFill>
                <a:schemeClr val="dk1"/>
              </a:solidFill>
              <a:latin typeface="Arial"/>
              <a:ea typeface="Arial"/>
              <a:cs typeface="Arial"/>
              <a:sym typeface="Arial"/>
            </a:endParaRPr>
          </a:p>
        </p:txBody>
      </p:sp>
      <p:sp>
        <p:nvSpPr>
          <p:cNvPr id="961" name="Google Shape;961;p90"/>
          <p:cNvSpPr/>
          <p:nvPr/>
        </p:nvSpPr>
        <p:spPr>
          <a:xfrm>
            <a:off x="1824224" y="1628570"/>
            <a:ext cx="1852558"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2" name="Google Shape;962;p90"/>
          <p:cNvSpPr/>
          <p:nvPr/>
        </p:nvSpPr>
        <p:spPr>
          <a:xfrm>
            <a:off x="485999" y="2295488"/>
            <a:ext cx="3996671"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63" name="Google Shape;963;p90"/>
          <p:cNvSpPr txBox="1"/>
          <p:nvPr/>
        </p:nvSpPr>
        <p:spPr>
          <a:xfrm>
            <a:off x="2586107" y="2962407"/>
            <a:ext cx="1082348" cy="523220"/>
          </a:xfrm>
          <a:prstGeom prst="rect">
            <a:avLst/>
          </a:prstGeom>
          <a:blipFill rotWithShape="1">
            <a:blip r:embed="rId6">
              <a:alphaModFix/>
            </a:blip>
            <a:stretch>
              <a:fillRect b="-32559" l="0" r="-8989" t="-116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39b8bf72b523429c9dd1c1de721abfcf\narm24_c10703_se_004a-dig.png" id="964" name="Google Shape;964;p90"/>
          <p:cNvPicPr preferRelativeResize="0"/>
          <p:nvPr/>
        </p:nvPicPr>
        <p:blipFill rotWithShape="1">
          <a:blip r:embed="rId7">
            <a:alphaModFix/>
          </a:blip>
          <a:srcRect b="0" l="0" r="0" t="0"/>
          <a:stretch/>
        </p:blipFill>
        <p:spPr>
          <a:xfrm>
            <a:off x="8171869" y="1376873"/>
            <a:ext cx="3381375" cy="3409950"/>
          </a:xfrm>
          <a:prstGeom prst="rect">
            <a:avLst/>
          </a:prstGeom>
          <a:noFill/>
          <a:ln>
            <a:noFill/>
          </a:ln>
        </p:spPr>
      </p:pic>
      <p:sp>
        <p:nvSpPr>
          <p:cNvPr id="9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53</a:t>
            </a:r>
          </a:p>
        </p:txBody>
      </p:sp>
      <p:grpSp>
        <p:nvGrpSpPr>
          <p:cNvPr id="966" name="TEACH-4-student-move" descr="TEACH 4 · Monitor progress and provide feedback"/>
          <p:cNvGrpSpPr/>
          <p:nvPr/>
        </p:nvGrpSpPr>
        <p:grpSpPr>
          <a:xfrm>
            <a:off x="502920" y="5472790"/>
            <a:ext cx="11186160" cy="402336"/>
            <a:chOff x="502920" y="5472790"/>
            <a:chExt cx="11186160" cy="402336"/>
          </a:xfrm>
        </p:grpSpPr>
        <p:sp>
          <p:nvSpPr>
            <p:cNvPr id="967"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68"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69"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cxnSp>
        <p:nvCxnSpPr>
          <p:cNvPr id="969" name="Google Shape;969;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0" name="Google Shape;970;p91"/>
          <p:cNvSpPr txBox="1"/>
          <p:nvPr/>
        </p:nvSpPr>
        <p:spPr>
          <a:xfrm>
            <a:off x="1321614" y="936000"/>
            <a:ext cx="2325439" cy="54887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1" name="Google Shape;971;p91"/>
          <p:cNvSpPr/>
          <p:nvPr/>
        </p:nvSpPr>
        <p:spPr>
          <a:xfrm>
            <a:off x="489010" y="3485626"/>
            <a:ext cx="739179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should be the unit of measure given the context of the situation?</a:t>
            </a:r>
            <a:endParaRPr b="0" i="0" sz="2800" u="none" cap="none" strike="noStrike">
              <a:solidFill>
                <a:schemeClr val="dk1"/>
              </a:solidFill>
              <a:latin typeface="Arial"/>
              <a:ea typeface="Arial"/>
              <a:cs typeface="Arial"/>
              <a:sym typeface="Arial"/>
            </a:endParaRPr>
          </a:p>
        </p:txBody>
      </p:sp>
      <p:sp>
        <p:nvSpPr>
          <p:cNvPr id="972" name="Google Shape;972;p91"/>
          <p:cNvSpPr/>
          <p:nvPr/>
        </p:nvSpPr>
        <p:spPr>
          <a:xfrm>
            <a:off x="1824224" y="1628570"/>
            <a:ext cx="1852558"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3" name="Google Shape;973;p91"/>
          <p:cNvSpPr/>
          <p:nvPr/>
        </p:nvSpPr>
        <p:spPr>
          <a:xfrm>
            <a:off x="485999" y="2295488"/>
            <a:ext cx="3996671"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4" name="Google Shape;974;p91"/>
          <p:cNvSpPr txBox="1"/>
          <p:nvPr/>
        </p:nvSpPr>
        <p:spPr>
          <a:xfrm>
            <a:off x="2586107" y="2962407"/>
            <a:ext cx="1082348" cy="523220"/>
          </a:xfrm>
          <a:prstGeom prst="rect">
            <a:avLst/>
          </a:prstGeom>
          <a:blipFill rotWithShape="1">
            <a:blip r:embed="rId6">
              <a:alphaModFix/>
            </a:blip>
            <a:stretch>
              <a:fillRect b="-32559" l="0" r="-8989" t="-116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5" name="Google Shape;975;p91"/>
          <p:cNvSpPr txBox="1"/>
          <p:nvPr/>
        </p:nvSpPr>
        <p:spPr>
          <a:xfrm>
            <a:off x="484565" y="4546868"/>
            <a:ext cx="10522286" cy="18256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How is finding the distance between a negative number and a positive number different than finding the distance between two positive numbers?</a:t>
            </a:r>
            <a:endParaRPr b="0" i="0" sz="1400" u="none" cap="none" strike="noStrike">
              <a:solidFill>
                <a:srgbClr val="000000"/>
              </a:solidFill>
              <a:latin typeface="Arial"/>
              <a:ea typeface="Arial"/>
              <a:cs typeface="Arial"/>
              <a:sym typeface="Arial"/>
            </a:endParaRPr>
          </a:p>
        </p:txBody>
      </p:sp>
      <p:sp>
        <p:nvSpPr>
          <p:cNvPr id="976" name="Google Shape;976;p91"/>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39b8bf72b523429c9dd1c1de721abfcf\narm24_c10703_se_004a-dig.png" id="977" name="Google Shape;977;p91"/>
          <p:cNvPicPr preferRelativeResize="0"/>
          <p:nvPr/>
        </p:nvPicPr>
        <p:blipFill rotWithShape="1">
          <a:blip r:embed="rId7">
            <a:alphaModFix/>
          </a:blip>
          <a:srcRect b="0" l="0" r="0" t="0"/>
          <a:stretch/>
        </p:blipFill>
        <p:spPr>
          <a:xfrm>
            <a:off x="8171869" y="1376873"/>
            <a:ext cx="3381375" cy="3409950"/>
          </a:xfrm>
          <a:prstGeom prst="rect">
            <a:avLst/>
          </a:prstGeom>
          <a:noFill/>
          <a:ln>
            <a:noFill/>
          </a:ln>
        </p:spPr>
      </p:pic>
      <p:sp>
        <p:nvSpPr>
          <p:cNvPr id="9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53</a:t>
            </a:r>
          </a:p>
        </p:txBody>
      </p:sp>
      <p:grpSp>
        <p:nvGrpSpPr>
          <p:cNvPr id="979" name="TEACH-2-student-move" descr="TEACH 2 · Use strategies and tasks to engage students in rigorous work"/>
          <p:cNvGrpSpPr/>
          <p:nvPr/>
        </p:nvGrpSpPr>
        <p:grpSpPr>
          <a:xfrm>
            <a:off x="6187440" y="700217"/>
            <a:ext cx="5501640" cy="594360"/>
            <a:chOff x="6187440" y="700217"/>
            <a:chExt cx="5501640" cy="594360"/>
          </a:xfrm>
        </p:grpSpPr>
        <p:sp>
          <p:nvSpPr>
            <p:cNvPr id="980" name="TEACH-move-card"/>
            <p:cNvSpPr/>
            <p:nvPr/>
          </p:nvSpPr>
          <p:spPr>
            <a:xfrm>
              <a:off x="6187440" y="70021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81" name="TEACH-move-rule"/>
            <p:cNvSpPr/>
            <p:nvPr/>
          </p:nvSpPr>
          <p:spPr>
            <a:xfrm>
              <a:off x="6233160" y="813145"/>
              <a:ext cx="100584" cy="368504"/>
            </a:xfrm>
            <a:prstGeom prst="roundRect">
              <a:avLst>
                <a:gd name="adj" fmla="val 50000"/>
              </a:avLst>
            </a:prstGeom>
            <a:solidFill>
              <a:srgbClr val="01708C"/>
            </a:solidFill>
            <a:ln>
              <a:noFill/>
            </a:ln>
          </p:spPr>
          <p:txBody>
            <a:bodyPr/>
            <a:lstStyle/>
            <a:p>
              <a:endParaRPr/>
            </a:p>
          </p:txBody>
        </p:sp>
        <p:sp>
          <p:nvSpPr>
            <p:cNvPr id="982" name="TEACH-move-text"/>
            <p:cNvSpPr txBox="1"/>
            <p:nvPr/>
          </p:nvSpPr>
          <p:spPr>
            <a:xfrm>
              <a:off x="6507480" y="70021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cxnSp>
        <p:nvCxnSpPr>
          <p:cNvPr id="995" name="Google Shape;995;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6" name="Google Shape;996;p93"/>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sp>
        <p:nvSpPr>
          <p:cNvPr id="997" name="Google Shape;997;p93"/>
          <p:cNvSpPr txBox="1"/>
          <p:nvPr/>
        </p:nvSpPr>
        <p:spPr>
          <a:xfrm>
            <a:off x="478113" y="5050540"/>
            <a:ext cx="6337880" cy="11704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degrees Fahrenheit</a:t>
            </a:r>
            <a:endParaRPr b="0" i="0" sz="2800" u="none" cap="none" strike="noStrike">
              <a:solidFill>
                <a:srgbClr val="595959"/>
              </a:solidFill>
              <a:latin typeface="Arial"/>
              <a:ea typeface="Arial"/>
              <a:cs typeface="Arial"/>
              <a:sym typeface="Arial"/>
            </a:endParaRPr>
          </a:p>
        </p:txBody>
      </p:sp>
      <p:sp>
        <p:nvSpPr>
          <p:cNvPr id="998" name="Google Shape;998;p93"/>
          <p:cNvSpPr txBox="1"/>
          <p:nvPr/>
        </p:nvSpPr>
        <p:spPr>
          <a:xfrm>
            <a:off x="1321614" y="936000"/>
            <a:ext cx="2325439" cy="548872"/>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9" name="Google Shape;999;p93"/>
          <p:cNvSpPr/>
          <p:nvPr/>
        </p:nvSpPr>
        <p:spPr>
          <a:xfrm>
            <a:off x="489010" y="3485626"/>
            <a:ext cx="739179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should be the unit of measure given the context of the situation?</a:t>
            </a:r>
            <a:endParaRPr b="0" i="0" sz="2800" u="none" cap="none" strike="noStrike">
              <a:solidFill>
                <a:schemeClr val="dk1"/>
              </a:solidFill>
              <a:latin typeface="Arial"/>
              <a:ea typeface="Arial"/>
              <a:cs typeface="Arial"/>
              <a:sym typeface="Arial"/>
            </a:endParaRPr>
          </a:p>
        </p:txBody>
      </p:sp>
      <p:sp>
        <p:nvSpPr>
          <p:cNvPr id="1000" name="Google Shape;1000;p93"/>
          <p:cNvSpPr/>
          <p:nvPr/>
        </p:nvSpPr>
        <p:spPr>
          <a:xfrm>
            <a:off x="1824224" y="1628570"/>
            <a:ext cx="1852558"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1" name="Google Shape;1001;p93"/>
          <p:cNvSpPr/>
          <p:nvPr/>
        </p:nvSpPr>
        <p:spPr>
          <a:xfrm>
            <a:off x="485999" y="2295488"/>
            <a:ext cx="3996671"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2" name="Google Shape;1002;p93"/>
          <p:cNvSpPr txBox="1"/>
          <p:nvPr/>
        </p:nvSpPr>
        <p:spPr>
          <a:xfrm>
            <a:off x="2586107" y="2962407"/>
            <a:ext cx="1082348" cy="523220"/>
          </a:xfrm>
          <a:prstGeom prst="rect">
            <a:avLst/>
          </a:prstGeom>
          <a:blipFill rotWithShape="1">
            <a:blip r:embed="rId6">
              <a:alphaModFix/>
            </a:blip>
            <a:stretch>
              <a:fillRect b="-32559" l="0" r="-8989" t="-116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39b8bf72b523429c9dd1c1de721abfcf\narm24_c10703_se_004a-dig.png" id="1003" name="Google Shape;1003;p93"/>
          <p:cNvPicPr preferRelativeResize="0"/>
          <p:nvPr/>
        </p:nvPicPr>
        <p:blipFill rotWithShape="1">
          <a:blip r:embed="rId7">
            <a:alphaModFix/>
          </a:blip>
          <a:srcRect b="0" l="0" r="0" t="0"/>
          <a:stretch/>
        </p:blipFill>
        <p:spPr>
          <a:xfrm>
            <a:off x="8171869" y="1376873"/>
            <a:ext cx="3381375" cy="3409950"/>
          </a:xfrm>
          <a:prstGeom prst="rect">
            <a:avLst/>
          </a:prstGeom>
          <a:noFill/>
          <a:ln>
            <a:noFill/>
          </a:ln>
        </p:spPr>
      </p:pic>
      <p:sp>
        <p:nvSpPr>
          <p:cNvPr id="100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53</a:t>
            </a:r>
          </a:p>
        </p:txBody>
      </p:sp>
      <p:sp>
        <p:nvSpPr>
          <p:cNvPr id="1005" name="EWL-COVER-1"/>
          <p:cNvSpPr/>
          <p:nvPr/>
        </p:nvSpPr>
        <p:spPr>
          <a:xfrm>
            <a:off x="423249" y="4995676"/>
            <a:ext cx="6447608" cy="1280202"/>
          </a:xfrm>
          <a:prstGeom prst="rect">
            <a:avLst/>
          </a:prstGeom>
          <a:solidFill>
            <a:srgbClr val="FFFFFF"/>
          </a:solidFill>
          <a:ln>
            <a:noFill/>
          </a:ln>
        </p:spPr>
        <p:txBody>
          <a:bodyPr/>
          <a:lstStyle/>
          <a:p/>
        </p:txBody>
      </p:sp>
      <p:sp xmlns:p="http://schemas.openxmlformats.org/presentationml/2006/main" xmlns:a="http://schemas.openxmlformats.org/drawingml/2006/main">
        <p:nvSpPr>
          <p:cNvPr id="1006"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cxnSp>
        <p:nvCxnSpPr>
          <p:cNvPr id="1008" name="Google Shape;1008;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9" name="Google Shape;1009;p94"/>
          <p:cNvSpPr txBox="1"/>
          <p:nvPr/>
        </p:nvSpPr>
        <p:spPr>
          <a:xfrm>
            <a:off x="486000" y="936000"/>
            <a:ext cx="6120949" cy="143634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greatest temperature swing in a 24-hour period happened in Loma, Montana in 1972.</a:t>
            </a:r>
            <a:endParaRPr b="1" i="0" sz="2800" u="none" cap="none" strike="noStrike">
              <a:solidFill>
                <a:schemeClr val="dk1"/>
              </a:solidFill>
              <a:latin typeface="Arial"/>
              <a:ea typeface="Arial"/>
              <a:cs typeface="Arial"/>
              <a:sym typeface="Arial"/>
            </a:endParaRPr>
          </a:p>
        </p:txBody>
      </p:sp>
      <p:sp>
        <p:nvSpPr>
          <p:cNvPr id="1010" name="Google Shape;1010;p94"/>
          <p:cNvSpPr/>
          <p:nvPr/>
        </p:nvSpPr>
        <p:spPr>
          <a:xfrm>
            <a:off x="486000" y="3819549"/>
            <a:ext cx="6263592" cy="724171"/>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11" name="Google Shape;1011;p94"/>
          <p:cNvSpPr/>
          <p:nvPr/>
        </p:nvSpPr>
        <p:spPr>
          <a:xfrm>
            <a:off x="628485" y="3927553"/>
            <a:ext cx="583597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temperature swing was 103°F.</a:t>
            </a:r>
            <a:endParaRPr b="0" i="0" sz="2800" u="none" cap="none" strike="noStrike">
              <a:solidFill>
                <a:srgbClr val="262626"/>
              </a:solidFill>
              <a:latin typeface="Arial"/>
              <a:ea typeface="Arial"/>
              <a:cs typeface="Arial"/>
              <a:sym typeface="Arial"/>
            </a:endParaRPr>
          </a:p>
        </p:txBody>
      </p:sp>
      <p:sp>
        <p:nvSpPr>
          <p:cNvPr id="1012" name="Google Shape;1012;p94"/>
          <p:cNvSpPr/>
          <p:nvPr/>
        </p:nvSpPr>
        <p:spPr>
          <a:xfrm>
            <a:off x="486000" y="2618894"/>
            <a:ext cx="63324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great was the temperature swing?</a:t>
            </a:r>
            <a:endParaRPr b="0" i="0" sz="2800" u="none" cap="none" strike="noStrike">
              <a:solidFill>
                <a:schemeClr val="dk1"/>
              </a:solidFill>
              <a:latin typeface="Arial"/>
              <a:ea typeface="Arial"/>
              <a:cs typeface="Arial"/>
              <a:sym typeface="Arial"/>
            </a:endParaRPr>
          </a:p>
        </p:txBody>
      </p:sp>
      <p:sp>
        <p:nvSpPr>
          <p:cNvPr id="1013" name="Google Shape;1013;p94"/>
          <p:cNvSpPr txBox="1"/>
          <p:nvPr/>
        </p:nvSpPr>
        <p:spPr>
          <a:xfrm>
            <a:off x="486000"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39b8bf72b523429c9dd1c1de721abfcf\narm24_c10703_se_004a-dig.png" id="1014" name="Google Shape;1014;p94"/>
          <p:cNvPicPr preferRelativeResize="0"/>
          <p:nvPr/>
        </p:nvPicPr>
        <p:blipFill rotWithShape="1">
          <a:blip r:embed="rId3">
            <a:alphaModFix/>
          </a:blip>
          <a:srcRect b="0" l="0" r="0" t="0"/>
          <a:stretch/>
        </p:blipFill>
        <p:spPr>
          <a:xfrm>
            <a:off x="8171869" y="1376873"/>
            <a:ext cx="3381375" cy="3409950"/>
          </a:xfrm>
          <a:prstGeom prst="rect">
            <a:avLst/>
          </a:prstGeom>
          <a:noFill/>
          <a:ln>
            <a:noFill/>
          </a:ln>
        </p:spPr>
      </p:pic>
      <p:sp>
        <p:nvSpPr>
          <p:cNvPr id="10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53</a:t>
            </a:r>
          </a:p>
        </p:txBody>
      </p:sp>
      <p:sp xmlns:p="http://schemas.openxmlformats.org/presentationml/2006/main" xmlns:a="http://schemas.openxmlformats.org/drawingml/2006/main">
        <p:nvSpPr>
          <p:cNvPr id="101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cxnSp>
        <p:nvCxnSpPr>
          <p:cNvPr id="1019" name="Google Shape;1019;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0" name="Google Shape;1020;p9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21" name="Google Shape;1021;p95"/>
          <p:cNvSpPr txBox="1"/>
          <p:nvPr/>
        </p:nvSpPr>
        <p:spPr>
          <a:xfrm>
            <a:off x="484564" y="936000"/>
            <a:ext cx="7547074" cy="135375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What other temperature has the same magnitude as −54°F? Explain your reasoning.</a:t>
            </a:r>
            <a:endParaRPr b="1" i="0" sz="2800" u="none" cap="none" strike="noStrike">
              <a:solidFill>
                <a:schemeClr val="dk1"/>
              </a:solidFill>
              <a:latin typeface="Arial"/>
              <a:ea typeface="Arial"/>
              <a:cs typeface="Arial"/>
              <a:sym typeface="Arial"/>
            </a:endParaRPr>
          </a:p>
          <a:p>
            <a:pPr indent="-336550" lvl="0" marL="514350" marR="0" rtl="0" algn="l">
              <a:lnSpc>
                <a:spcPct val="100000"/>
              </a:lnSpc>
              <a:spcBef>
                <a:spcPts val="120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1" i="0" sz="2800" u="none" cap="none" strike="noStrike">
              <a:solidFill>
                <a:schemeClr val="dk1"/>
              </a:solidFill>
              <a:latin typeface="Arial"/>
              <a:ea typeface="Arial"/>
              <a:cs typeface="Arial"/>
              <a:sym typeface="Arial"/>
            </a:endParaRPr>
          </a:p>
        </p:txBody>
      </p:sp>
      <p:sp>
        <p:nvSpPr>
          <p:cNvPr id="1022" name="Google Shape;1022;p95"/>
          <p:cNvSpPr/>
          <p:nvPr/>
        </p:nvSpPr>
        <p:spPr>
          <a:xfrm>
            <a:off x="484563" y="2402479"/>
            <a:ext cx="7745037" cy="118184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23" name="Google Shape;1023;p95"/>
          <p:cNvSpPr txBox="1"/>
          <p:nvPr/>
        </p:nvSpPr>
        <p:spPr>
          <a:xfrm>
            <a:off x="6930288" y="582758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24" name="Google Shape;1024;p95"/>
          <p:cNvSpPr/>
          <p:nvPr/>
        </p:nvSpPr>
        <p:spPr>
          <a:xfrm>
            <a:off x="484563" y="4742930"/>
            <a:ext cx="7745037" cy="151646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25" name="Google Shape;1025;p95"/>
          <p:cNvSpPr/>
          <p:nvPr/>
        </p:nvSpPr>
        <p:spPr>
          <a:xfrm>
            <a:off x="486000" y="3782157"/>
            <a:ext cx="7842577" cy="95410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Why is the absolute value of a number never negative?</a:t>
            </a:r>
            <a:endParaRPr b="0" i="0" sz="1400" u="none" cap="none" strike="noStrike">
              <a:solidFill>
                <a:srgbClr val="000000"/>
              </a:solidFill>
              <a:latin typeface="Arial"/>
              <a:ea typeface="Arial"/>
              <a:cs typeface="Arial"/>
              <a:sym typeface="Arial"/>
            </a:endParaRPr>
          </a:p>
        </p:txBody>
      </p:sp>
      <p:sp>
        <p:nvSpPr>
          <p:cNvPr id="1026" name="Google Shape;1026;p95"/>
          <p:cNvSpPr txBox="1"/>
          <p:nvPr/>
        </p:nvSpPr>
        <p:spPr>
          <a:xfrm>
            <a:off x="6930288" y="3175412"/>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assigning a negative absolute value to a negative number.</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Trace distance from zero on the given number line and label position separately.</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2" name="Google Shape;872;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3" name="Google Shape;873;p83"/>
          <p:cNvSpPr txBox="1"/>
          <p:nvPr/>
        </p:nvSpPr>
        <p:spPr>
          <a:xfrm>
            <a:off x="486000" y="936000"/>
            <a:ext cx="7893725" cy="5789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−54 is to the left of 0 and 49 is to the right of 0.</a:t>
            </a:r>
            <a:endParaRPr b="1" i="0" sz="2800" u="none" cap="none" strike="noStrike">
              <a:solidFill>
                <a:schemeClr val="dk1"/>
              </a:solidFill>
              <a:latin typeface="Arial"/>
              <a:ea typeface="Arial"/>
              <a:cs typeface="Arial"/>
              <a:sym typeface="Arial"/>
            </a:endParaRPr>
          </a:p>
        </p:txBody>
      </p:sp>
      <p:sp>
        <p:nvSpPr>
          <p:cNvPr id="874" name="Google Shape;874;p83"/>
          <p:cNvSpPr txBox="1"/>
          <p:nvPr/>
        </p:nvSpPr>
        <p:spPr>
          <a:xfrm>
            <a:off x="489007" y="4774914"/>
            <a:ext cx="8333534" cy="15439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temperature swing is the sum of the distance from −54 to 0 and the distance from 0 to 49.</a:t>
            </a:r>
            <a:endParaRPr b="1" i="0" sz="2800" u="none" cap="none" strike="noStrike">
              <a:solidFill>
                <a:srgbClr val="595959"/>
              </a:solidFill>
              <a:latin typeface="Arial"/>
              <a:ea typeface="Arial"/>
              <a:cs typeface="Arial"/>
              <a:sym typeface="Arial"/>
            </a:endParaRPr>
          </a:p>
        </p:txBody>
      </p:sp>
      <p:sp>
        <p:nvSpPr>
          <p:cNvPr id="875" name="Google Shape;875;p83"/>
          <p:cNvSpPr/>
          <p:nvPr/>
        </p:nvSpPr>
        <p:spPr>
          <a:xfrm>
            <a:off x="467031" y="3697978"/>
            <a:ext cx="89772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does the distance of each number from 0 relate to the temperature swing?</a:t>
            </a:r>
            <a:endParaRPr b="0" i="0" sz="2800" u="none" cap="none" strike="noStrike">
              <a:solidFill>
                <a:schemeClr val="dk1"/>
              </a:solidFill>
              <a:latin typeface="Arial"/>
              <a:ea typeface="Arial"/>
              <a:cs typeface="Arial"/>
              <a:sym typeface="Arial"/>
            </a:endParaRPr>
          </a:p>
        </p:txBody>
      </p:sp>
      <p:sp>
        <p:nvSpPr>
          <p:cNvPr id="876" name="Google Shape;876;p83"/>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Record Temperatures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3a752cebc28f4a8990d93c6b948e56a1\narm24_c10703_se_002a-dig-a-eps.png" id="877" name="Google Shape;877;p83"/>
          <p:cNvPicPr preferRelativeResize="0"/>
          <p:nvPr/>
        </p:nvPicPr>
        <p:blipFill rotWithShape="1">
          <a:blip r:embed="rId2">
            <a:alphaModFix/>
          </a:blip>
          <a:srcRect b="0" l="0" r="0" t="0"/>
          <a:stretch/>
        </p:blipFill>
        <p:spPr>
          <a:xfrm>
            <a:off x="1327712" y="1725377"/>
            <a:ext cx="6210300" cy="1762125"/>
          </a:xfrm>
          <a:prstGeom prst="rect">
            <a:avLst/>
          </a:prstGeom>
          <a:noFill/>
          <a:ln>
            <a:noFill/>
          </a:ln>
        </p:spPr>
      </p:pic>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38 / 43</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cxnSp>
        <p:nvCxnSpPr>
          <p:cNvPr id="1031" name="Google Shape;1031;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2" name="Google Shape;1032;p96"/>
          <p:cNvSpPr txBox="1"/>
          <p:nvPr/>
        </p:nvSpPr>
        <p:spPr>
          <a:xfrm>
            <a:off x="486001" y="316800"/>
            <a:ext cx="5609999" cy="12384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Understand Absolute Values of Numbers</a:t>
            </a:r>
            <a:endParaRPr b="0" i="0" sz="1400" u="none" cap="none" strike="noStrike">
              <a:solidFill>
                <a:srgbClr val="000000"/>
              </a:solidFill>
              <a:latin typeface="Arial"/>
              <a:ea typeface="Arial"/>
              <a:cs typeface="Arial"/>
              <a:sym typeface="Arial"/>
            </a:endParaRPr>
          </a:p>
        </p:txBody>
      </p:sp>
      <p:sp>
        <p:nvSpPr>
          <p:cNvPr id="1033" name="Google Shape;1033;p96"/>
          <p:cNvSpPr txBox="1"/>
          <p:nvPr/>
        </p:nvSpPr>
        <p:spPr>
          <a:xfrm>
            <a:off x="486001" y="1296000"/>
            <a:ext cx="8944602" cy="21841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absolute value of a number is its distance from 0 on the number line. The distance is always expressed as a positive number. In real-world situations, absolute value is sometimes referred to as the magnitude of a number.</a:t>
            </a:r>
            <a:endParaRPr b="0" i="0" sz="1400" u="none" cap="none" strike="noStrike">
              <a:solidFill>
                <a:srgbClr val="000000"/>
              </a:solidFill>
              <a:latin typeface="Arial"/>
              <a:ea typeface="Arial"/>
              <a:cs typeface="Arial"/>
              <a:sym typeface="Arial"/>
            </a:endParaRPr>
          </a:p>
        </p:txBody>
      </p:sp>
      <p:sp>
        <p:nvSpPr>
          <p:cNvPr id="1034" name="Google Shape;1034;p96"/>
          <p:cNvSpPr/>
          <p:nvPr/>
        </p:nvSpPr>
        <p:spPr>
          <a:xfrm>
            <a:off x="512071" y="3894822"/>
            <a:ext cx="8494226" cy="523220"/>
          </a:xfrm>
          <a:prstGeom prst="rect">
            <a:avLst/>
          </a:prstGeom>
          <a:blipFill rotWithShape="1">
            <a:blip r:embed="rId3">
              <a:alphaModFix/>
            </a:blip>
            <a:stretch>
              <a:fillRect b="-31395" l="-1436" r="0" t="-127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d595370fb4a54384b578e41d522572d0\narm24_c10703_se_003a-dig-eps.png" id="1035" name="Google Shape;1035;p96"/>
          <p:cNvPicPr preferRelativeResize="0"/>
          <p:nvPr/>
        </p:nvPicPr>
        <p:blipFill rotWithShape="1">
          <a:blip r:embed="rId4">
            <a:alphaModFix/>
          </a:blip>
          <a:srcRect b="0" l="0" r="0" t="0"/>
          <a:stretch/>
        </p:blipFill>
        <p:spPr>
          <a:xfrm>
            <a:off x="1391533" y="4747398"/>
            <a:ext cx="6153150" cy="1095375"/>
          </a:xfrm>
          <a:prstGeom prst="rect">
            <a:avLst/>
          </a:prstGeom>
          <a:noFill/>
          <a:ln>
            <a:noFill/>
          </a:ln>
        </p:spPr>
      </p:pic>
      <p:sp>
        <p:nvSpPr>
          <p:cNvPr id="10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53</a:t>
            </a:r>
          </a:p>
        </p:txBody>
      </p:sp>
      <p:sp>
        <p:nvSpPr>
          <p:cNvPr id="1037"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grpSp>
        <p:nvGrpSpPr>
          <p:cNvPr id="1038" name="TEACH-3-student-move" descr="TEACH 3 · Use intentional questioning to deepen learning"/>
          <p:cNvGrpSpPr/>
          <p:nvPr/>
        </p:nvGrpSpPr>
        <p:grpSpPr>
          <a:xfrm>
            <a:off x="502920" y="5879349"/>
            <a:ext cx="11186160" cy="402336"/>
            <a:chOff x="502920" y="5879349"/>
            <a:chExt cx="11186160" cy="402336"/>
          </a:xfrm>
        </p:grpSpPr>
        <p:sp>
          <p:nvSpPr>
            <p:cNvPr id="1039" name="TEACH-move-card"/>
            <p:cNvSpPr/>
            <p:nvPr/>
          </p:nvSpPr>
          <p:spPr>
            <a:xfrm>
              <a:off x="502920" y="5879349"/>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40" name="TEACH-move-rule"/>
            <p:cNvSpPr/>
            <p:nvPr/>
          </p:nvSpPr>
          <p:spPr>
            <a:xfrm>
              <a:off x="548640" y="5955793"/>
              <a:ext cx="100584" cy="249448"/>
            </a:xfrm>
            <a:prstGeom prst="roundRect">
              <a:avLst>
                <a:gd name="adj" fmla="val 50000"/>
              </a:avLst>
            </a:prstGeom>
            <a:solidFill>
              <a:srgbClr val="01708C"/>
            </a:solidFill>
            <a:ln>
              <a:noFill/>
            </a:ln>
          </p:spPr>
          <p:txBody>
            <a:bodyPr/>
            <a:lstStyle/>
            <a:p>
              <a:endParaRPr/>
            </a:p>
          </p:txBody>
        </p:sp>
        <p:sp>
          <p:nvSpPr>
            <p:cNvPr id="1041" name="TEACH-move-text"/>
            <p:cNvSpPr txBox="1"/>
            <p:nvPr/>
          </p:nvSpPr>
          <p:spPr>
            <a:xfrm>
              <a:off x="822960" y="5879349"/>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97"/>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Comparing Heights</a:t>
            </a:r>
            <a:endParaRPr b="1" i="0" sz="2800" u="none" cap="none" strike="noStrike">
              <a:solidFill>
                <a:srgbClr val="782DA0"/>
              </a:solidFill>
              <a:latin typeface="Arial"/>
              <a:ea typeface="Arial"/>
              <a:cs typeface="Arial"/>
              <a:sym typeface="Arial"/>
            </a:endParaRPr>
          </a:p>
        </p:txBody>
      </p:sp>
      <p:cxnSp>
        <p:nvCxnSpPr>
          <p:cNvPr id="1041" name="Google Shape;1041;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2" name="Google Shape;1042;p97"/>
          <p:cNvSpPr txBox="1"/>
          <p:nvPr/>
        </p:nvSpPr>
        <p:spPr>
          <a:xfrm>
            <a:off x="484565" y="935999"/>
            <a:ext cx="6284945" cy="24077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Two of the tallest formations on Earth are Mount Everest and Mauna Kea. Mount Everest is a mountain in South Asia. Mauna Kea is a dormant volcano on the island of Hawaii.</a:t>
            </a:r>
            <a:endParaRPr b="0" i="0" sz="1400" u="none" cap="none" strike="noStrike">
              <a:solidFill>
                <a:srgbClr val="000000"/>
              </a:solidFill>
              <a:latin typeface="Arial"/>
              <a:ea typeface="Arial"/>
              <a:cs typeface="Arial"/>
              <a:sym typeface="Arial"/>
            </a:endParaRPr>
          </a:p>
        </p:txBody>
      </p:sp>
      <p:sp>
        <p:nvSpPr>
          <p:cNvPr id="1043" name="Google Shape;1043;p97"/>
          <p:cNvSpPr txBox="1"/>
          <p:nvPr/>
        </p:nvSpPr>
        <p:spPr>
          <a:xfrm>
            <a:off x="484565" y="4240725"/>
            <a:ext cx="628494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 :</a:t>
            </a:r>
            <a:r>
              <a:rPr b="0" i="0" lang="en-US" sz="2800" u="none" cap="none" strike="noStrike">
                <a:solidFill>
                  <a:schemeClr val="dk1"/>
                </a:solidFill>
                <a:latin typeface="Arial"/>
                <a:ea typeface="Arial"/>
                <a:cs typeface="Arial"/>
                <a:sym typeface="Arial"/>
              </a:rPr>
              <a:t xml:space="preserve"> Which formation is taller? Explain how you know.</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45844de6f6c74c88bb53f27bffc20b2a\narm24_c10703_se_005a-dig-eps.png" id="1044" name="Google Shape;1044;p97"/>
          <p:cNvPicPr preferRelativeResize="0"/>
          <p:nvPr/>
        </p:nvPicPr>
        <p:blipFill rotWithShape="1">
          <a:blip r:embed="rId3">
            <a:alphaModFix/>
          </a:blip>
          <a:srcRect b="0" l="0" r="0" t="0"/>
          <a:stretch/>
        </p:blipFill>
        <p:spPr>
          <a:xfrm>
            <a:off x="7065543" y="1402023"/>
            <a:ext cx="4641892" cy="3600000"/>
          </a:xfrm>
          <a:prstGeom prst="rect">
            <a:avLst/>
          </a:prstGeom>
          <a:noFill/>
          <a:ln>
            <a:noFill/>
          </a:ln>
        </p:spPr>
      </p:pic>
      <p:sp>
        <p:nvSpPr>
          <p:cNvPr id="10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53</a:t>
            </a:r>
          </a:p>
        </p:txBody>
      </p:sp>
      <p:sp>
        <p:nvSpPr>
          <p:cNvPr id="104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 then check the goal.</a:t>
            </a:r>
            <a:endParaRPr lang="en-US"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98"/>
          <p:cNvSpPr txBox="1"/>
          <p:nvPr/>
        </p:nvSpPr>
        <p:spPr>
          <a:xfrm>
            <a:off x="484565" y="434021"/>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0" name="Google Shape;1050;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1" name="Google Shape;1051;p98"/>
          <p:cNvSpPr txBox="1"/>
          <p:nvPr/>
        </p:nvSpPr>
        <p:spPr>
          <a:xfrm>
            <a:off x="484565" y="117825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explain that the absolute value of a number is the distance between the number and zero on a number line.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repeated reasoning to find the absolute value of a number.</a:t>
            </a:r>
            <a:endParaRPr b="0" i="0" sz="1400" u="none" cap="none" strike="noStrike">
              <a:solidFill>
                <a:srgbClr val="000000"/>
              </a:solidFill>
              <a:latin typeface="Arial"/>
              <a:ea typeface="Arial"/>
              <a:cs typeface="Arial"/>
              <a:sym typeface="Arial"/>
            </a:endParaRPr>
          </a:p>
        </p:txBody>
      </p:sp>
      <p:sp>
        <p:nvSpPr>
          <p:cNvPr id="10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53</a:t>
            </a:r>
          </a:p>
        </p:txBody>
      </p:sp>
      <p:sp xmlns:p="http://schemas.openxmlformats.org/presentationml/2006/main" xmlns:a="http://schemas.openxmlformats.org/drawingml/2006/main">
        <p:nvSpPr>
          <p:cNvPr id="105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62" name="Google Shape;762;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3" name="Google Shape;763;p73"/>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64" name="Google Shape;764;p73"/>
          <p:cNvPicPr preferRelativeResize="0"/>
          <p:nvPr/>
        </p:nvPicPr>
        <p:blipFill rotWithShape="1">
          <a:blip r:embed="rId2">
            <a:alphaModFix/>
          </a:blip>
          <a:srcRect b="0" l="0" r="0" t="0"/>
          <a:stretch/>
        </p:blipFill>
        <p:spPr>
          <a:xfrm>
            <a:off x="427774" y="4561592"/>
            <a:ext cx="5054600" cy="838200"/>
          </a:xfrm>
          <a:prstGeom prst="rect">
            <a:avLst/>
          </a:prstGeom>
          <a:noFill/>
          <a:ln>
            <a:noFill/>
          </a:ln>
        </p:spPr>
      </p:pic>
      <p:sp>
        <p:nvSpPr>
          <p:cNvPr id="765" name="Google Shape;765;p73"/>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66" name="Google Shape;766;p73"/>
          <p:cNvSpPr txBox="1"/>
          <p:nvPr/>
        </p:nvSpPr>
        <p:spPr>
          <a:xfrm>
            <a:off x="484560" y="936000"/>
            <a:ext cx="4101088"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What’s the question?</a:t>
            </a:r>
            <a:endParaRPr b="1" i="0" sz="2800" u="none" cap="none" strike="noStrike">
              <a:solidFill>
                <a:schemeClr val="dk1"/>
              </a:solidFill>
              <a:latin typeface="Arial"/>
              <a:ea typeface="Arial"/>
              <a:cs typeface="Arial"/>
              <a:sym typeface="Arial"/>
            </a:endParaRPr>
          </a:p>
        </p:txBody>
      </p:sp>
      <p:sp>
        <p:nvSpPr>
          <p:cNvPr id="767" name="Google Shape;767;p73"/>
          <p:cNvSpPr txBox="1"/>
          <p:nvPr/>
        </p:nvSpPr>
        <p:spPr>
          <a:xfrm>
            <a:off x="3147578" y="4719082"/>
            <a:ext cx="21470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68" name="Google Shape;768;p73"/>
          <p:cNvSpPr/>
          <p:nvPr/>
        </p:nvSpPr>
        <p:spPr>
          <a:xfrm>
            <a:off x="601862" y="5322880"/>
            <a:ext cx="1053181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are you doing to stay productive when you are frustrated with math?</a:t>
            </a:r>
            <a:endParaRPr b="0" i="0" sz="2600" u="none" cap="none" strike="noStrike">
              <a:solidFill>
                <a:srgbClr val="595959"/>
              </a:solidFill>
              <a:latin typeface="Arial"/>
              <a:ea typeface="Arial"/>
              <a:cs typeface="Arial"/>
              <a:sym typeface="Arial"/>
            </a:endParaRPr>
          </a:p>
        </p:txBody>
      </p:sp>
      <p:sp>
        <p:nvSpPr>
          <p:cNvPr id="769" name="Google Shape;769;p73"/>
          <p:cNvSpPr/>
          <p:nvPr/>
        </p:nvSpPr>
        <p:spPr>
          <a:xfrm>
            <a:off x="427774" y="1549416"/>
            <a:ext cx="8876482" cy="2854686"/>
          </a:xfrm>
          <a:prstGeom prst="snip1Rect">
            <a:avLst>
              <a:gd fmla="val 16667" name="adj"/>
            </a:avLst>
          </a:prstGeom>
          <a:solidFill>
            <a:schemeClr val="lt1"/>
          </a:solidFill>
          <a:ln cap="flat" cmpd="sng" w="19050">
            <a:solidFill>
              <a:srgbClr val="00B05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The greatest </a:t>
            </a:r>
            <a:r>
              <a:rPr b="0" i="0" lang="en-US" sz="1800" u="none" cap="none" strike="noStrike">
                <a:solidFill>
                  <a:schemeClr val="lt1"/>
                </a:solidFill>
                <a:latin typeface="Calibri"/>
                <a:ea typeface="Calibri"/>
                <a:cs typeface="Calibri"/>
                <a:sym typeface="Calibri"/>
              </a:rPr>
              <a:t>The greatest temperature swing in a 24-hour period happened in Loma, Montana in 1972. The lowest recorded temperature was a negative temperature and the greatest recorded temperature was a positive</a:t>
            </a:r>
            <a:endParaRPr b="0" i="0" sz="1800" u="none" cap="none" strike="noStrike">
              <a:solidFill>
                <a:schemeClr val="lt1"/>
              </a:solidFill>
              <a:latin typeface="Arial"/>
              <a:ea typeface="Arial"/>
              <a:cs typeface="Arial"/>
              <a:sym typeface="Arial"/>
            </a:endParaRPr>
          </a:p>
        </p:txBody>
      </p:sp>
      <p:sp>
        <p:nvSpPr>
          <p:cNvPr id="770" name="Google Shape;770;p73"/>
          <p:cNvSpPr/>
          <p:nvPr/>
        </p:nvSpPr>
        <p:spPr>
          <a:xfrm>
            <a:off x="865883" y="1853374"/>
            <a:ext cx="7759644"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1" lang="en-US" sz="2800" u="none" cap="none" strike="noStrike">
                <a:solidFill>
                  <a:srgbClr val="7030A0"/>
                </a:solidFill>
                <a:latin typeface="Arial"/>
                <a:ea typeface="Arial"/>
                <a:cs typeface="Arial"/>
                <a:sym typeface="Arial"/>
              </a:rPr>
              <a:t>The greatest temperature swing in a 24-hour period happened in Loma, Montana in 1972. The lowest recorded temperature was a negative temperature and the greatest recorded temperature was a positive temperature.</a:t>
            </a:r>
            <a:endParaRPr b="0" i="1" sz="2800" u="none" cap="none" strike="noStrike">
              <a:solidFill>
                <a:srgbClr val="7030A0"/>
              </a:solidFill>
              <a:latin typeface="Arial"/>
              <a:ea typeface="Arial"/>
              <a:cs typeface="Arial"/>
              <a:sym typeface="Arial"/>
            </a:endParaRPr>
          </a:p>
        </p:txBody>
      </p:sp>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42 / 43</a:t>
            </a:r>
            <a:endParaRPr/>
          </a:p>
        </p:txBody>
      </p:sp>
      <p:grpSp>
        <p:nvGrpSpPr>
          <p:cNvPr id="771" name="TEACH-3-student-move" descr="TEACH 3 · Use intentional questioning to deepen learning"/>
          <p:cNvGrpSpPr/>
          <p:nvPr/>
        </p:nvGrpSpPr>
        <p:grpSpPr>
          <a:xfrm>
            <a:off x="6187440" y="4646224"/>
            <a:ext cx="5501640" cy="594360"/>
            <a:chOff x="6187440" y="4646224"/>
            <a:chExt cx="5501640" cy="594360"/>
          </a:xfrm>
        </p:grpSpPr>
        <p:sp>
          <p:nvSpPr>
            <p:cNvPr id="772" name="TEACH-move-card"/>
            <p:cNvSpPr/>
            <p:nvPr/>
          </p:nvSpPr>
          <p:spPr>
            <a:xfrm>
              <a:off x="6187440" y="464622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73" name="TEACH-move-rule"/>
            <p:cNvSpPr/>
            <p:nvPr/>
          </p:nvSpPr>
          <p:spPr>
            <a:xfrm>
              <a:off x="6233160" y="4759152"/>
              <a:ext cx="100584" cy="368504"/>
            </a:xfrm>
            <a:prstGeom prst="roundRect">
              <a:avLst>
                <a:gd name="adj" fmla="val 50000"/>
              </a:avLst>
            </a:prstGeom>
            <a:solidFill>
              <a:srgbClr val="01708C"/>
            </a:solidFill>
            <a:ln>
              <a:noFill/>
            </a:ln>
          </p:spPr>
          <p:txBody>
            <a:bodyPr/>
            <a:lstStyle/>
            <a:p>
              <a:endParaRPr/>
            </a:p>
          </p:txBody>
        </p:sp>
        <p:sp>
          <p:nvSpPr>
            <p:cNvPr id="774" name="TEACH-move-text"/>
            <p:cNvSpPr txBox="1"/>
            <p:nvPr/>
          </p:nvSpPr>
          <p:spPr>
            <a:xfrm>
              <a:off x="6507480" y="464622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49" name="Google Shape;1049;p98"/>
          <p:cNvSpPr txBox="1"/>
          <p:nvPr/>
        </p:nvSpPr>
        <p:spPr>
          <a:xfrm>
            <a:off x="484565" y="434021"/>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0" name="Google Shape;1050;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1" name="Google Shape;1051;p98"/>
          <p:cNvSpPr txBox="1"/>
          <p:nvPr/>
        </p:nvSpPr>
        <p:spPr>
          <a:xfrm>
            <a:off x="484565" y="117825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explain that the absolute value of a number is the distance between the number and zero on a number line.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repeated reasoning to find the absolute value of a number.</a:t>
            </a:r>
            <a:endParaRPr b="0" i="0" sz="1400" u="none" cap="none" strike="noStrike">
              <a:solidFill>
                <a:srgbClr val="000000"/>
              </a:solidFill>
              <a:latin typeface="Arial"/>
              <a:ea typeface="Arial"/>
              <a:cs typeface="Arial"/>
              <a:sym typeface="Arial"/>
            </a:endParaRPr>
          </a:p>
        </p:txBody>
      </p:sp>
      <p:sp>
        <p:nvSpPr>
          <p:cNvPr id="294" name="Google Shape;294;p43"/>
          <p:cNvSpPr txBox="1"/>
          <p:nvPr/>
        </p:nvSpPr>
        <p:spPr>
          <a:xfrm>
            <a:off x="9651469"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43 / 43</a:t>
            </a:r>
            <a:endParaRPr/>
          </a:p>
        </p:txBody>
      </p:sp>
      <p:sp xmlns:p="http://schemas.openxmlformats.org/presentationml/2006/main" xmlns:a="http://schemas.openxmlformats.org/drawingml/2006/main">
        <p:nvSpPr>
          <p:cNvPr id="105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7.3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Interpret absolute value as nonnegative distance.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18 / 53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53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6-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28 / 53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53</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53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47 / 53</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7.3 — Understand Absolute Value of Rational Numbers</dc:title>
  <dc:creator>Neft Teacher</dc:creator>
  <cp:lastModifiedBy>Neft Teacher</cp:lastModifiedBy>
  <dcterms:created xsi:type="dcterms:W3CDTF">2026-09-30T12:04:43Z</dcterms:created>
  <dcterms:modified xsi:type="dcterms:W3CDTF">2026-09-30T12:04:43Z</dcterms:modified>
</cp:coreProperties>
</file>