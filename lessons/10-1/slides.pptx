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key — 4 × 6 = 24, not 10. The student added instead of multiplied. Correct: V = 9 × 24 = 216 ft³.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749040" cy="5143500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Shape 1"/>
          <p:cNvSpPr/>
          <p:nvPr/>
        </p:nvSpPr>
        <p:spPr>
          <a:xfrm>
            <a:off x="2651760" y="-640080"/>
            <a:ext cx="2011680" cy="2011680"/>
          </a:xfrm>
          <a:prstGeom prst="ellipse">
            <a:avLst/>
          </a:prstGeom>
          <a:solidFill>
            <a:srgbClr val="B0883B">
              <a:alpha val="3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36576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77724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📦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11480" y="1783080"/>
            <a:ext cx="30175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Volume with Whole Number Edges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411480" y="4160520"/>
            <a:ext cx="1188720" cy="310896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6.G.2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691640" y="4160520"/>
            <a:ext cx="1920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FE6E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Unit 10  ·  Lesson 10-1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023360" y="411480"/>
            <a:ext cx="48006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251960" y="54864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Math Notebook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251960" y="1024128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Name: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983480" y="1207008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51960" y="1280160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Date: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83480" y="1463040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51960" y="1536192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Period: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983480" y="1719072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023360" y="2011680"/>
            <a:ext cx="4800600" cy="1143000"/>
          </a:xfrm>
          <a:prstGeom prst="roundRect">
            <a:avLst>
              <a:gd name="adj" fmla="val 6400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206240" y="210312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0883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CAN…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Yo puedo…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206240" y="2395728"/>
            <a:ext cx="44348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find the volume of a rectangular prism with whole-number edges using length × width × height.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023360" y="3291840"/>
            <a:ext cx="480060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206240" y="338328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0883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WILL EXPLAIN…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Objetivo de lenguaje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206240" y="3675888"/>
            <a:ext cx="4434840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explain my work using the words volume, rectangular prism, cubic units, and edge.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 Curious / Sé Curioso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10  ·  Lesson 10-1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3716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VISUAL PROMPT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07008"/>
            <a:ext cx="3794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Time Capsule Project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508760"/>
            <a:ext cx="3794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Your team is building time capsule containers to store class memories. Each container is a rectangular prism, and you need to figure out how much each one can hold. That means calculating the volume using whole number dimensions!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94360" y="315468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Jot your first idea: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94360" y="356616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594360" y="388620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594360" y="42062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4709160" y="685800"/>
            <a:ext cx="411480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👁  I Notice…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892040" y="1051560"/>
            <a:ext cx="37490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three measurements do you need to find the volume of a box?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does volume tell us about a container?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How is volume different from the area of one face?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709160" y="2743200"/>
            <a:ext cx="411480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4709160" y="2743200"/>
            <a:ext cx="4114800" cy="274320"/>
          </a:xfrm>
          <a:prstGeom prst="rect">
            <a:avLst/>
          </a:prstGeom>
          <a:solidFill>
            <a:srgbClr val="F2C1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💭  I Wonder…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892040" y="3108960"/>
            <a:ext cx="374904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If two containers have the same volume, must they have the same shape?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happens to the volume if you double just one dimension?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Vocabulary / Vocabulario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10  ·  Lesson 10-1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685800"/>
          <a:ext cx="84124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114800"/>
                <a:gridCol w="21945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Term / Término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Meaning / Significado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Example / Ejemplo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Volume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Volumen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How much space is inside a solid shape.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Cuánto espacio hay dentro de una figura sólida.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box 3 × 2 × 4 holds 24 unit cubes, so V = 24 cubic units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Rectangular prism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Prisma rectangular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solid box shape with six flat rectangle sides.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Una figura sólida en forma de caja con seis lados rectangulares.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cereal box or shoe box — it has length, width, and height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Cubic units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Unidades cúbicas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The units used to measure space inside, like cubic inches.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Las unidades para medir el espacio interior, como pulgadas cúbicas.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tiny cube that is 1 in × 1 in × 1 in = 1 in³ (one cubic inch)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Length, width, height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Largo, ancho, altura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How long, how wide, and how tall a box is.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Qué tan largo, ancho y alto es una caja.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V = l × w × h: for a box 5 × 3 × 2, volume = 30 cubic units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Net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Plantilla (desarrollo plano)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flat shape that folds up into a solid.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Una figura plana que se dobla y forma un sólido.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cross-shaped pattern of 6 rectangles folds into a rectangular box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Text 15"/>
          <p:cNvSpPr/>
          <p:nvPr/>
        </p:nvSpPr>
        <p:spPr>
          <a:xfrm>
            <a:off x="411480" y="3520440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Rectangular prism — example vs. non-example: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411480" y="3813048"/>
            <a:ext cx="4114800" cy="457200"/>
          </a:xfrm>
          <a:prstGeom prst="roundRect">
            <a:avLst>
              <a:gd name="adj" fmla="val 10000"/>
            </a:avLst>
          </a:prstGeom>
          <a:solidFill>
            <a:srgbClr val="E7F6F4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521208" y="3813048"/>
            <a:ext cx="3895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✓ </a:t>
            </a:r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cardboard box  </a:t>
            </a:r>
            <a:pPr indent="0" marL="0">
              <a:buNone/>
            </a:pPr>
            <a:r>
              <a:rPr lang="en-US" sz="8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It has six rectangular faces.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4663440" y="3813048"/>
            <a:ext cx="4114800" cy="457200"/>
          </a:xfrm>
          <a:prstGeom prst="roundRect">
            <a:avLst>
              <a:gd name="adj" fmla="val 10000"/>
            </a:avLst>
          </a:prstGeom>
          <a:solidFill>
            <a:srgbClr val="FDECEA"/>
          </a:solidFill>
          <a:ln w="12700">
            <a:solidFill>
              <a:srgbClr val="E2A39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4773168" y="3813048"/>
            <a:ext cx="3895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0392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✗ </a:t>
            </a:r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ball  </a:t>
            </a:r>
            <a:pPr indent="0" marL="0">
              <a:buNone/>
            </a:pPr>
            <a:r>
              <a:rPr lang="en-US" sz="8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ball is a sphere, not a prism.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Guided Practice / Práctica Guiada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10  ·  Lesson 10-1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73736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👩‍🏫 WE DO TOGETHER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1887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How do we find the volume of a box?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1609344"/>
            <a:ext cx="274320" cy="274320"/>
          </a:xfrm>
          <a:prstGeom prst="ellipse">
            <a:avLst/>
          </a:prstGeom>
          <a:solidFill>
            <a:srgbClr val="B0883B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160934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24128" y="1554480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Now a smaller box: 5 long, 2 wide, 2 tall. What formula do we use?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40080" y="2084832"/>
            <a:ext cx="274320" cy="274320"/>
          </a:xfrm>
          <a:prstGeom prst="ellipse">
            <a:avLst/>
          </a:prstGeom>
          <a:solidFill>
            <a:srgbClr val="B0883B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24128" y="2029968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Let's put in the numbers: V = 5 × 2 × 2. What is 5 × 2?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40080" y="2560320"/>
            <a:ext cx="274320" cy="274320"/>
          </a:xfrm>
          <a:prstGeom prst="ellipse">
            <a:avLst/>
          </a:prstGeom>
          <a:solidFill>
            <a:srgbClr val="B0883B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" y="256032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024128" y="2505456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We got 10. Now multiply 10 × 2. What is the volume?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40080" y="3035808"/>
            <a:ext cx="274320" cy="274320"/>
          </a:xfrm>
          <a:prstGeom prst="ellipse">
            <a:avLst/>
          </a:prstGeom>
          <a:solidFill>
            <a:srgbClr val="B0883B"/>
          </a:solidFill>
          <a:ln/>
        </p:spPr>
      </p:sp>
      <p:sp>
        <p:nvSpPr>
          <p:cNvPr id="30" name="Text 28"/>
          <p:cNvSpPr/>
          <p:nvPr/>
        </p:nvSpPr>
        <p:spPr>
          <a:xfrm>
            <a:off x="640080" y="303580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1024128" y="2980944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Yes, V = 20 cubic units. Don't forget the cubic units!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594360" y="3886200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Your turn — show your work: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640080" y="4297680"/>
            <a:ext cx="51206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217920" y="1097280"/>
            <a:ext cx="24688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Your time capsule container is a rectangular prism. To find how much it can hold, why do you need three measurements (length, width, and height) instead of just one or two?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6172200" y="2743200"/>
            <a:ext cx="25146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6309360" y="283464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0883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🔑 Key Idea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6309360" y="3108960"/>
            <a:ext cx="22860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 find the volume of a box, multiply all three edges: V = length × width × height.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Sort It Out / Clasifícalo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10  ·  Lesson 10-1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5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2296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Calculate the volume of each time capsule container. Use V = l × w × h.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20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Bank — cut or sort these cards: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59436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85800" y="1481328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1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36220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2453640" y="1481328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2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13004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221480" y="1481328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3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94360" y="1975104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85800" y="1975104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4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94360" y="2560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B0883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594360" y="2560320"/>
            <a:ext cx="2514600" cy="292608"/>
          </a:xfrm>
          <a:prstGeom prst="rect">
            <a:avLst/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Group A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3246120" y="2560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B0883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3246120" y="2560320"/>
            <a:ext cx="2514600" cy="292608"/>
          </a:xfrm>
          <a:prstGeom prst="rect">
            <a:avLst/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Group B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217920" y="1097280"/>
            <a:ext cx="24688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Container C is 8 × 3 × 4 and Container B is 5 × 5 × 2. How did you count or multiply the unit cubes to find each volume, and which holds more?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6217920" y="274320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6217920" y="307238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6217920" y="340156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6217920" y="373075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6217920" y="40599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Error Analysis / Análisis de Errores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10  ·  Lesson 10-1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554480" cy="274320"/>
          </a:xfrm>
          <a:prstGeom prst="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⚠ FIND THE ERROR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286000" y="841248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Find the Volume Error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1887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classmate turned in the work below. One step has a mistake — find it, name it, fix it.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94360" y="1627632"/>
            <a:ext cx="5166360" cy="1901952"/>
          </a:xfrm>
          <a:prstGeom prst="roundRect">
            <a:avLst>
              <a:gd name="adj" fmla="val 2404"/>
            </a:avLst>
          </a:prstGeom>
          <a:solidFill>
            <a:srgbClr val="F4F1E8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13232" y="1691640"/>
            <a:ext cx="4937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Student's work (contains an error):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77240" y="1938528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Dimensions: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 = 9 ft, w = 4 ft, h = 6 ft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77240" y="2322576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Formula: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 = l × w × h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777240" y="2706624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Calculate: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 = 9 × 4 × 6 = 9 × 10 = 90 ft³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777240" y="3090672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4.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Answer: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Volume = 90 ft³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94360" y="3666744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Which step has the error? Circle it above.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FCE6DE"/>
          </a:solidFill>
          <a:ln w="12700">
            <a:solidFill>
              <a:srgbClr val="E2A39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🛠 Explain &amp; Fix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217920" y="109728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mistake was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 because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.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217920" y="178308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207568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6217920" y="236829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6217920" y="278892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Fix it — rewrite the step correctly: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217920" y="324612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6217920" y="353872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6217920" y="38313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6217920" y="412394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Two-Column Notes / Notas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10  ·  Lesson 10-1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7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92608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Steps / Pasos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" y="1243584"/>
            <a:ext cx="274320" cy="274320"/>
          </a:xfrm>
          <a:prstGeom prst="ellipse">
            <a:avLst/>
          </a:prstGeom>
          <a:solidFill>
            <a:srgbClr val="B0883B"/>
          </a:solidFill>
          <a:ln/>
        </p:spPr>
      </p:sp>
      <p:sp>
        <p:nvSpPr>
          <p:cNvPr id="20" name="Text 18"/>
          <p:cNvSpPr/>
          <p:nvPr/>
        </p:nvSpPr>
        <p:spPr>
          <a:xfrm>
            <a:off x="594360" y="124358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78408" y="1188720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time capsule box is 6 long, 4 wide, and 3 tall. I write the formula: V = length × width × height.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94360" y="1719072"/>
            <a:ext cx="274320" cy="274320"/>
          </a:xfrm>
          <a:prstGeom prst="ellipse">
            <a:avLst/>
          </a:prstGeom>
          <a:solidFill>
            <a:srgbClr val="B0883B"/>
          </a:solidFill>
          <a:ln/>
        </p:spPr>
      </p:sp>
      <p:sp>
        <p:nvSpPr>
          <p:cNvPr id="23" name="Text 21"/>
          <p:cNvSpPr/>
          <p:nvPr/>
        </p:nvSpPr>
        <p:spPr>
          <a:xfrm>
            <a:off x="594360" y="171907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78408" y="1664208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put in the numbers: V = 6 × 4 × 3.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2194560"/>
            <a:ext cx="274320" cy="274320"/>
          </a:xfrm>
          <a:prstGeom prst="ellipse">
            <a:avLst/>
          </a:prstGeom>
          <a:solidFill>
            <a:srgbClr val="B0883B"/>
          </a:solidFill>
          <a:ln/>
        </p:spPr>
      </p:sp>
      <p:sp>
        <p:nvSpPr>
          <p:cNvPr id="26" name="Text 24"/>
          <p:cNvSpPr/>
          <p:nvPr/>
        </p:nvSpPr>
        <p:spPr>
          <a:xfrm>
            <a:off x="594360" y="219456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78408" y="2139696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First I multiply two of them: 6 × 4 = 24.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94360" y="2670048"/>
            <a:ext cx="274320" cy="274320"/>
          </a:xfrm>
          <a:prstGeom prst="ellipse">
            <a:avLst/>
          </a:prstGeom>
          <a:solidFill>
            <a:srgbClr val="B0883B"/>
          </a:solidFill>
          <a:ln/>
        </p:spPr>
      </p:sp>
      <p:sp>
        <p:nvSpPr>
          <p:cNvPr id="29" name="Text 27"/>
          <p:cNvSpPr/>
          <p:nvPr/>
        </p:nvSpPr>
        <p:spPr>
          <a:xfrm>
            <a:off x="594360" y="267004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978408" y="2615184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Then I multiply by the last one: 24 × 3 = 72.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94360" y="3145536"/>
            <a:ext cx="274320" cy="274320"/>
          </a:xfrm>
          <a:prstGeom prst="ellipse">
            <a:avLst/>
          </a:prstGeom>
          <a:solidFill>
            <a:srgbClr val="B0883B"/>
          </a:solidFill>
          <a:ln/>
        </p:spPr>
      </p:sp>
      <p:sp>
        <p:nvSpPr>
          <p:cNvPr id="32" name="Text 30"/>
          <p:cNvSpPr/>
          <p:nvPr/>
        </p:nvSpPr>
        <p:spPr>
          <a:xfrm>
            <a:off x="594360" y="3145536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5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978408" y="3090672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So the volume is 72 cubic units. I use cubic units because volume fills space in 3 directions.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4709160" y="685800"/>
            <a:ext cx="4114800" cy="292608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Example / Mi Ejemplo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892040" y="114300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problem here, matching each step on the left: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4892040" y="178308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4892040" y="211226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4892040" y="244144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4892040" y="277063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4892040" y="3099816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2" name="Shape 40"/>
          <p:cNvSpPr/>
          <p:nvPr/>
        </p:nvSpPr>
        <p:spPr>
          <a:xfrm>
            <a:off x="4892040" y="342900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4892040" y="375818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4" name="Shape 42"/>
          <p:cNvSpPr/>
          <p:nvPr/>
        </p:nvSpPr>
        <p:spPr>
          <a:xfrm>
            <a:off x="4892040" y="408736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Choice Board / Tablero de Opciones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10  ·  Lesson 10-1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8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Choose ONE to show what you know: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1148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4864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✏️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123444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Draw &amp; Label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9436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Sketch a model for today's problem. Label it using Volume and Rectangular prism.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70916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84632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💬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553212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It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89204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In 2–3 sentences, explain "To find the volume of a box, multiply all three edges: V = length × width × height." in your own words.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148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4864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🧮</a:t>
            </a:r>
            <a:endParaRPr lang="en-US" sz="2600" dirty="0"/>
          </a:p>
        </p:txBody>
      </p:sp>
      <p:sp>
        <p:nvSpPr>
          <p:cNvPr id="28" name="Text 26"/>
          <p:cNvSpPr/>
          <p:nvPr/>
        </p:nvSpPr>
        <p:spPr>
          <a:xfrm>
            <a:off x="123444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Solve It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9436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practice problem and show every step clearly.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70916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84632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🎯</a:t>
            </a:r>
            <a:endParaRPr lang="en-US" sz="2600" dirty="0"/>
          </a:p>
        </p:txBody>
      </p:sp>
      <p:sp>
        <p:nvSpPr>
          <p:cNvPr id="32" name="Text 30"/>
          <p:cNvSpPr/>
          <p:nvPr/>
        </p:nvSpPr>
        <p:spPr>
          <a:xfrm>
            <a:off x="553212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Create a Problem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89204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Write your own problem that uses Volume, then solve it and make an answer key.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Independent Practice / Práctica Independiente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10  ·  Lesson 10-1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9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46304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✍️ ON YOUR OWN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B0883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Two storage bins: Bin A is 8 × 6 × 5 inches. Bin B is 9 × 4 × 7 inches. Which holds more and by how much?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77240" y="178308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594360" y="219456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B0883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What is the volume of a rectangular prism with l = 7 in, w = 3 in, h = 4 in?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77240" y="274320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315468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B0883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time capsule box has a volume of 120 cm³. Its length is 10 cm and width is 4 cm. What is its height?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77240" y="370332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217920" y="1097280"/>
            <a:ext cx="24688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moving company's large box is 24 × 18 × 18 in and its medium box is 18 × 14 × 12 in. Talk through how you would find how many more cubic inches the large box holds.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217920" y="283464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6217920" y="316382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6217920" y="349300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217920" y="382219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415137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Think–Write–Respond / Piensa y Escribe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10  ·  Lesson 10-1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10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03504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Use evidence from today's lesson to complete each frame.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11480" y="96012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94360" y="105156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1 — </a:t>
            </a:r>
            <a:pPr indent="0" marL="0">
              <a:buNone/>
            </a:pPr>
            <a:r>
              <a:rPr lang="en-US" sz="1100" b="1" dirty="0">
                <a:solidFill>
                  <a:srgbClr val="B0883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the Rule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34416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Today's key idea is "To find the volume of a box, multiply all three edges: V = length × width × height." — and it works because ___.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94360" y="189280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411480" y="224028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94360" y="233172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2 — </a:t>
            </a:r>
            <a:pPr indent="0" marL="0">
              <a:buNone/>
            </a:pPr>
            <a:r>
              <a:rPr lang="en-US" sz="1100" b="1" dirty="0">
                <a:solidFill>
                  <a:srgbClr val="B0883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Because / But / So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94360" y="262432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Because Volume means ___, but a tricky part is ___, so I have to ___.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317296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411480" y="352044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94360" y="361188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3 — </a:t>
            </a:r>
            <a:pPr indent="0" marL="0">
              <a:buNone/>
            </a:pPr>
            <a:r>
              <a:rPr lang="en-US" sz="1100" b="1" dirty="0">
                <a:solidFill>
                  <a:srgbClr val="B0883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Catch the Mistake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94360" y="390448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common mistake with Volume is ___. It happens because ___, and the fix is ___.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94360" y="445312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Exit Ticket / Boleto de Salida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10  ·  Lesson 10-1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11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Reflection / Reflexión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94360" y="109728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 I learned that ___ because ___.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94360" y="178308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594360" y="209397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594360" y="240487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283464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One thing I am still not sure about is ___.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94360" y="35204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594360" y="383133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594360" y="414223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Quick Exit Ticket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892040" y="1097280"/>
            <a:ext cx="37490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B0883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1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rectangular prism has l = 11 in, w = 5 in, h = 4 in. What is the volume?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029200" y="178308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A.  220 in³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029200" y="2093976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B.  55 in³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029200" y="2404872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C.  220 in²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029200" y="2715768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D.  200 in³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892040" y="3163824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B0883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2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Explain how you know your answer is correct. Use at least one vocabulary word.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892040" y="380390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4892040" y="409651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4892040" y="438912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Goal Tracker / Seguimiento de Metas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10  ·  Lesson 10-1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58368"/>
            <a:ext cx="8412480" cy="502920"/>
          </a:xfrm>
          <a:prstGeom prst="roundRect">
            <a:avLst>
              <a:gd name="adj" fmla="val 14545"/>
            </a:avLst>
          </a:prstGeom>
          <a:solidFill>
            <a:srgbClr val="17324D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658368"/>
            <a:ext cx="7955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C15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Goal: 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find the volume of a rectangular prism with whole-number edges using length × width × height.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1148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1138428" y="1508760"/>
            <a:ext cx="512064" cy="512064"/>
          </a:xfrm>
          <a:prstGeom prst="ellipse">
            <a:avLst/>
          </a:prstGeom>
          <a:solidFill>
            <a:srgbClr val="B0883B"/>
          </a:solidFill>
          <a:ln/>
        </p:spPr>
      </p:sp>
      <p:sp>
        <p:nvSpPr>
          <p:cNvPr id="21" name="Text 19"/>
          <p:cNvSpPr/>
          <p:nvPr/>
        </p:nvSpPr>
        <p:spPr>
          <a:xfrm>
            <a:off x="113842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45720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Not Yet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2120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need more help. This does not make sense to me yet.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720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256032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287268" y="1508760"/>
            <a:ext cx="512064" cy="512064"/>
          </a:xfrm>
          <a:prstGeom prst="ellipse">
            <a:avLst/>
          </a:prstGeom>
          <a:solidFill>
            <a:srgbClr val="B0883B"/>
          </a:solidFill>
          <a:ln/>
        </p:spPr>
      </p:sp>
      <p:sp>
        <p:nvSpPr>
          <p:cNvPr id="27" name="Text 25"/>
          <p:cNvSpPr/>
          <p:nvPr/>
        </p:nvSpPr>
        <p:spPr>
          <a:xfrm>
            <a:off x="328726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260604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Getting There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267004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understand the idea but I make mistakes when I work.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260604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470916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5436108" y="1508760"/>
            <a:ext cx="512064" cy="512064"/>
          </a:xfrm>
          <a:prstGeom prst="ellipse">
            <a:avLst/>
          </a:prstGeom>
          <a:solidFill>
            <a:srgbClr val="B0883B"/>
          </a:solidFill>
          <a:ln/>
        </p:spPr>
      </p:sp>
      <p:sp>
        <p:nvSpPr>
          <p:cNvPr id="33" name="Text 31"/>
          <p:cNvSpPr/>
          <p:nvPr/>
        </p:nvSpPr>
        <p:spPr>
          <a:xfrm>
            <a:off x="543610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475488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Got It!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481888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solve problems on my own and explain my thinking.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75488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685800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7584948" y="1508760"/>
            <a:ext cx="512064" cy="512064"/>
          </a:xfrm>
          <a:prstGeom prst="ellipse">
            <a:avLst/>
          </a:prstGeom>
          <a:solidFill>
            <a:srgbClr val="B0883B"/>
          </a:solidFill>
          <a:ln/>
        </p:spPr>
      </p:sp>
      <p:sp>
        <p:nvSpPr>
          <p:cNvPr id="39" name="Text 37"/>
          <p:cNvSpPr/>
          <p:nvPr/>
        </p:nvSpPr>
        <p:spPr>
          <a:xfrm>
            <a:off x="758494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2000" dirty="0"/>
          </a:p>
        </p:txBody>
      </p:sp>
      <p:sp>
        <p:nvSpPr>
          <p:cNvPr id="40" name="Text 38"/>
          <p:cNvSpPr/>
          <p:nvPr/>
        </p:nvSpPr>
        <p:spPr>
          <a:xfrm>
            <a:off x="690372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Can Teach It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696772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clearly teach this strategy to a classmate.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90372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411480" y="3977640"/>
            <a:ext cx="841248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640080" y="3977640"/>
            <a:ext cx="7955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0883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next step:  </a:t>
            </a:r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 move up one level, I will ___.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Neft Teacher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10-1: Volume with Whole Number Edges</dc:title>
  <dc:subject>6.G.2</dc:subject>
  <dc:creator>Neft Teacher</dc:creator>
  <cp:lastModifiedBy>Neft Teacher</cp:lastModifiedBy>
  <cp:revision>1</cp:revision>
  <dcterms:created xsi:type="dcterms:W3CDTF">2026-06-08T12:10:58Z</dcterms:created>
  <dcterms:modified xsi:type="dcterms:W3CDTF">2026-06-08T12:10:58Z</dcterms:modified>
</cp:coreProperties>
</file>