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5"/>
    <p:sldMasterId id="2147483686" r:id="rId6"/>
    <p:sldMasterId id="2147483687" r:id="rId7"/>
    <p:sldMasterId id="2147483688" r:id="rId8"/>
  </p:sldMasterIdLst>
  <p:notesMasterIdLst>
    <p:notesMasterId r:id="rId9"/>
  </p:notesMasterIdLst>
  <p:sldIdLst>
    <p:sldId id="259" r:id="rId13"/>
    <p:sldId id="268" r:id="rId22"/>
    <p:sldId id="269" r:id="rId23"/>
    <p:sldId id="256" r:id="rId10"/>
    <p:sldId id="257" r:id="rId11"/>
    <p:sldId id="260" r:id="rId14"/>
    <p:sldId id="320" r:id="rId64"/>
    <p:sldId id="319" r:id="rId26"/>
    <p:sldId id="318" r:id="rId49"/>
    <p:sldId id="317" r:id="rId28"/>
    <p:sldId id="316" r:id="rId47"/>
    <p:sldId id="315" r:id="rId30"/>
    <p:sldId id="314" r:id="rId45"/>
    <p:sldId id="313" r:id="rId32"/>
    <p:sldId id="261" r:id="rId15"/>
    <p:sldId id="273" r:id="rId27"/>
    <p:sldId id="275" r:id="rId29"/>
    <p:sldId id="277" r:id="rId31"/>
    <p:sldId id="279" r:id="rId33"/>
    <p:sldId id="281" r:id="rId35"/>
    <p:sldId id="282" r:id="rId36"/>
    <p:sldId id="283" r:id="rId37"/>
    <p:sldId id="284" r:id="rId38"/>
    <p:sldId id="324" r:id="rId68"/>
    <p:sldId id="321" r:id="rId65"/>
    <p:sldId id="312" r:id="rId43"/>
    <p:sldId id="311" r:id="rId34"/>
    <p:sldId id="307" r:id="rId62"/>
    <p:sldId id="325" r:id="rId69"/>
    <p:sldId id="308" r:id="rId63"/>
    <p:sldId id="306" r:id="rId39"/>
    <p:sldId id="288" r:id="rId42"/>
    <p:sldId id="290" r:id="rId44"/>
    <p:sldId id="292" r:id="rId46"/>
    <p:sldId id="326" r:id="rId70"/>
    <p:sldId id="294" r:id="rId48"/>
    <p:sldId id="296" r:id="rId50"/>
    <p:sldId id="300" r:id="rId54"/>
    <p:sldId id="301" r:id="rId55"/>
    <p:sldId id="302" r:id="rId56"/>
    <p:sldId id="322" r:id="rId66"/>
    <p:sldId id="310" r:id="rId41"/>
    <p:sldId id="303" r:id="rId57"/>
    <p:sldId id="304" r:id="rId58"/>
    <p:sldId id="305" r:id="rId59"/>
    <p:sldId id="309" r:id="rId40"/>
    <p:sldId id="323" r:id="rId67"/>
  </p:sldIdLst>
  <p:sldSz cy="6858000" cx="12192000"/>
  <p:notesSz cx="7010400" cy="9236075"/>
  <p:embeddedFontLst>
    <p:embeddedFont>
      <p:font typeface="Cambria Math"/>
      <p:regular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778AC1-6D25-4D5F-9B34-2D005565A165}">
  <a:tblStyle styleId="{7E778AC1-6D25-4D5F-9B34-2D005565A16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1080875F-0568-4F12-9248-1A56478D126B}"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6" Type="http://schemas.openxmlformats.org/officeDocument/2006/relationships/slide" Target="slides/slide8.xml"/><Relationship Id="rId27" Type="http://schemas.openxmlformats.org/officeDocument/2006/relationships/slide" Target="slides/slide16.xml"/><Relationship Id="rId28" Type="http://schemas.openxmlformats.org/officeDocument/2006/relationships/slide" Target="slides/slide10.xml"/><Relationship Id="rId29" Type="http://schemas.openxmlformats.org/officeDocument/2006/relationships/slide" Target="slides/slide17.xml"/><Relationship Id="rId30" Type="http://schemas.openxmlformats.org/officeDocument/2006/relationships/slide" Target="slides/slide12.xml"/><Relationship Id="rId31" Type="http://schemas.openxmlformats.org/officeDocument/2006/relationships/slide" Target="slides/slide18.xml"/><Relationship Id="rId32" Type="http://schemas.openxmlformats.org/officeDocument/2006/relationships/slide" Target="slides/slide14.xml"/><Relationship Id="rId33" Type="http://schemas.openxmlformats.org/officeDocument/2006/relationships/slide" Target="slides/slide19.xml"/><Relationship Id="rId34" Type="http://schemas.openxmlformats.org/officeDocument/2006/relationships/slide" Target="slides/slide26.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9.xml"/><Relationship Id="rId40" Type="http://schemas.openxmlformats.org/officeDocument/2006/relationships/slide" Target="slides/slide43.xml"/><Relationship Id="rId41" Type="http://schemas.openxmlformats.org/officeDocument/2006/relationships/slide" Target="slides/slide39.xml"/><Relationship Id="rId42" Type="http://schemas.openxmlformats.org/officeDocument/2006/relationships/slide" Target="slides/slide30.xml"/><Relationship Id="rId43" Type="http://schemas.openxmlformats.org/officeDocument/2006/relationships/slide" Target="slides/slide25.xml"/><Relationship Id="rId44" Type="http://schemas.openxmlformats.org/officeDocument/2006/relationships/slide" Target="slides/slide31.xml"/><Relationship Id="rId45" Type="http://schemas.openxmlformats.org/officeDocument/2006/relationships/slide" Target="slides/slide13.xml"/><Relationship Id="rId46" Type="http://schemas.openxmlformats.org/officeDocument/2006/relationships/slide" Target="slides/slide32.xml"/><Relationship Id="rId47" Type="http://schemas.openxmlformats.org/officeDocument/2006/relationships/slide" Target="slides/slide11.xml"/><Relationship Id="rId48" Type="http://schemas.openxmlformats.org/officeDocument/2006/relationships/slide" Target="slides/slide33.xml"/><Relationship Id="rId49" Type="http://schemas.openxmlformats.org/officeDocument/2006/relationships/slide" Target="slides/slide9.xml"/><Relationship Id="rId50" Type="http://schemas.openxmlformats.org/officeDocument/2006/relationships/slide" Target="slides/slide34.xml"/><Relationship Id="rId54" Type="http://schemas.openxmlformats.org/officeDocument/2006/relationships/slide" Target="slides/slide35.xml"/><Relationship Id="rId55" Type="http://schemas.openxmlformats.org/officeDocument/2006/relationships/slide" Target="slides/slide36.xml"/><Relationship Id="rId56" Type="http://schemas.openxmlformats.org/officeDocument/2006/relationships/slide" Target="slides/slide37.xml"/><Relationship Id="rId57" Type="http://schemas.openxmlformats.org/officeDocument/2006/relationships/slide" Target="slides/slide40.xml"/><Relationship Id="rId58" Type="http://schemas.openxmlformats.org/officeDocument/2006/relationships/slide" Target="slides/slide41.xml"/><Relationship Id="rId59" Type="http://schemas.openxmlformats.org/officeDocument/2006/relationships/slide" Target="slides/slide42.xml"/><Relationship Id="rId61" Type="http://schemas.openxmlformats.org/officeDocument/2006/relationships/font" Target="fonts/CambriaMath-regular.fntdata"/><Relationship Id="rId62" Type="http://schemas.openxmlformats.org/officeDocument/2006/relationships/slide" Target="slides/slide27.xml"/><Relationship Id="rId63" Type="http://schemas.openxmlformats.org/officeDocument/2006/relationships/slide" Target="slides/slide28.xml"/><Relationship Id="rId64" Type="http://schemas.openxmlformats.org/officeDocument/2006/relationships/slide" Target="slides/slide7.xml"/><Relationship Id="rId65" Type="http://schemas.openxmlformats.org/officeDocument/2006/relationships/slide" Target="slides/slide24.xml"/><Relationship Id="rId66" Type="http://schemas.openxmlformats.org/officeDocument/2006/relationships/slide" Target="slides/slide38.xml"/><Relationship Id="rId67" Type="http://schemas.openxmlformats.org/officeDocument/2006/relationships/slide" Target="slides/slide44.xml"/><Relationship Id="rId68" Type="http://schemas.openxmlformats.org/officeDocument/2006/relationships/slide" Target="slides/slide45.xml"/><Relationship Id="rId69" Type="http://schemas.openxmlformats.org/officeDocument/2006/relationships/slide" Target="slides/slide46.xml"/><Relationship Id="rId70"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4 | DIVIDER</a:t>
            </a:r>
          </a:p>
          <a:p xmlns:a="http://schemas.openxmlformats.org/drawingml/2006/main">
            <a:pPr>
              <a:buNone/>
            </a:pPr>
            <a:r>
              <a:rPr lang="en-US" sz="1100"/>
              <a:t>Focus on the existing task: Apply Area Concepts to Solve Problems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3" name="Google Shape;233;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5 | TASK</a:t>
            </a:r>
          </a:p>
          <a:p xmlns:a="http://schemas.openxmlformats.org/drawingml/2006/main">
            <a:pPr>
              <a:buNone/>
            </a:pPr>
            <a:r>
              <a:rPr lang="en-US" sz="1100"/>
              <a:t>Focus on the existing task: This or That Would you rather have THIS or THAT tokens for prizes?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40" name="Google Shape;240;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1 | WARMUP</a:t>
            </a:r>
          </a:p>
          <a:p xmlns:a="http://schemas.openxmlformats.org/drawingml/2006/main">
            <a:pPr>
              <a:buNone/>
            </a:pPr>
            <a:r>
              <a:rPr lang="en-US" sz="1100"/>
              <a:t>Focus on the existing task: Warm-Up WARM-UP · THINK • TRY • CHECK Do these four…</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20 square meters   2) 54 square units   3) 6 feet   4) 72 square inches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decompose or enclose the figure; account for every region once; add or subtract areas. Review recent work and today’s warm-up to choose flexible groups and access supports; do not infer needs from identity or perceived ability. Use the existing lesson tasks and stated standards.</a:t>
            </a:r>
          </a:p>
          <a:p>
            <a:pPr>
              <a:buNone/>
            </a:pPr>
            <a:r>
              <a:rPr lang="en-US" sz="1100"/>
              <a:t>Anticipate: counting an overlapping region twice or retaining a cutout. If observed, outline a proposed partition on the original diagram and label each included region.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6 | GOAL</a:t>
            </a:r>
          </a:p>
          <a:p xmlns:a="http://schemas.openxmlformats.org/drawingml/2006/main">
            <a:pPr>
              <a:buNone/>
            </a:pPr>
            <a:r>
              <a:rPr lang="en-US" sz="1100"/>
              <a:t>Focus on the existing task: Today’s Objectives Apply Area Concepts to Solve…</a:t>
            </a:r>
          </a:p>
          <a:p xmlns:a="http://schemas.openxmlformats.org/drawingml/2006/main">
            <a:pPr>
              <a:buNone/>
            </a:pPr>
            <a:r>
              <a:rPr lang="en-US" sz="1100"/>
              <a:t>CONNECT (T1/4): Ask students to restate the displayed goal or key idea and connect it to earlier work. Relevant lesson evidence: decompose or enclose the figure; account for every region once; add or subtract areas.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decompose or enclose the figure; account for every region once; add or subtract areas.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15 | VOCAB</a:t>
            </a:r>
          </a:p>
          <a:p xmlns:a="http://schemas.openxmlformats.org/drawingml/2006/main">
            <a:pPr>
              <a:buNone/>
            </a:pPr>
            <a:r>
              <a:rPr lang="en-US" sz="1100"/>
              <a:t>Focus on the existing task: Vocabulary Today’s Math Words We learn every word…</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2 | NOTES</a:t>
            </a:r>
          </a:p>
          <a:p xmlns:a="http://schemas.openxmlformats.org/drawingml/2006/main">
            <a:pPr>
              <a:buNone/>
            </a:pPr>
            <a:r>
              <a:rPr lang="en-US" sz="1100"/>
              <a:t>Focus on the existing task: Today’s Math Notes Section 1: Math Words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98" name="Google Shape;498;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3 | NOTES</a:t>
            </a:r>
          </a:p>
          <a:p xmlns:a="http://schemas.openxmlformats.org/drawingml/2006/main">
            <a:pPr>
              <a:buNone/>
            </a:pPr>
            <a:r>
              <a:rPr lang="en-US" sz="1100"/>
              <a:t>Focus on the existing task: Today’s Math Notes Section 2: Today’s Math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26" name="Google Shape;526;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16 | TASK</a:t>
            </a:r>
          </a:p>
          <a:p xmlns:a="http://schemas.openxmlformats.org/drawingml/2006/main">
            <a:pPr>
              <a:buNone/>
            </a:pPr>
            <a:r>
              <a:rPr lang="en-US" sz="1100"/>
              <a:t>Focus on the existing task: What do you already know about the problem?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can you show that your pieces cover exactly the original figure?” Wait for evidence, invite another pathway, and have a student ask a follow-up question. Do not replace students’ reasoning with a sequence of leading steps.</a:t>
            </a:r>
          </a:p>
        </p:txBody>
      </p:sp>
      <p:sp>
        <p:nvSpPr>
          <p:cNvPr id="581" name="Google Shape;581;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2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17 | COLLABORATE</a:t>
            </a:r>
          </a:p>
          <a:p xmlns:a="http://schemas.openxmlformats.org/drawingml/2006/main">
            <a:pPr>
              <a:buNone/>
            </a:pPr>
            <a:r>
              <a:rPr lang="en-US" sz="1100"/>
              <a:t>Focus on the existing task: Collaborate and Connect Reveal: We can decompose it into 8 triangles. How can you decompose the octagon into shapes that you can find the area of?</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counting an overlapping region twice or retaining a cutout. If it appears, outline a proposed partition on the original diagram and label each included region; then ask the student to revise the same response and explain the change. If evidence is secure, have students compare a second valid pathway or state why their approach works. Choose the next step from the responses, not a preset pace.</a:t>
            </a:r>
          </a:p>
        </p:txBody>
      </p:sp>
      <p:sp>
        <p:nvSpPr>
          <p:cNvPr id="603" name="Google Shape;603;p2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18 | TASK</a:t>
            </a:r>
          </a:p>
          <a:p xmlns:a="http://schemas.openxmlformats.org/drawingml/2006/main">
            <a:pPr>
              <a:buNone/>
            </a:pPr>
            <a:r>
              <a:rPr lang="en-US" sz="1100"/>
              <a:t>Focus on the existing task: Think About It: Why is the height of one triangle 18 inches?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623" name="Google Shape;623;p2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19 | REVEAL</a:t>
            </a:r>
          </a:p>
          <a:p xmlns:a="http://schemas.openxmlformats.org/drawingml/2006/main">
            <a:pPr>
              <a:buNone/>
            </a:pPr>
            <a:r>
              <a:rPr lang="en-US" sz="1100"/>
              <a:t>Focus on the existing task: Why do you think this is?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They are the same because each side is the base of one triangle.</a:t>
            </a:r>
          </a:p>
          <a:p>
            <a:pPr indent="0" lvl="0" marL="0" rtl="0" algn="l">
              <a:lnSpc>
                <a:spcPct val="100000"/>
              </a:lnSpc>
              <a:spcBef>
                <a:spcPts val="0"/>
              </a:spcBef>
              <a:spcAft>
                <a:spcPts val="0"/>
              </a:spcAft>
              <a:buSzPts val="1400"/>
              <a:buNone/>
            </a:pPr>
            <a:r>
              <a:t>UIFR: TEACH 3 · TEACH 4.</a:t>
            </a:r>
          </a:p>
        </p:txBody>
      </p:sp>
      <p:sp>
        <p:nvSpPr>
          <p:cNvPr id="643" name="Google Shape;643;p24: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20 | REVEAL</a:t>
            </a:r>
          </a:p>
          <a:p xmlns:a="http://schemas.openxmlformats.org/drawingml/2006/main">
            <a:pPr>
              <a:buNone/>
            </a:pPr>
            <a:r>
              <a:rPr lang="en-US" sz="1100"/>
              <a:t>Focus on the existing task: Reveal: We can find the area of one triangle and then multiply the area by 8, or the number of triangles. The octagon can be decomposed…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find the area of one triangle and then multiply the area by 8, or the number of triangles.</a:t>
            </a:r>
          </a:p>
          <a:p>
            <a:pPr indent="0" lvl="0" marL="0" rtl="0" algn="l">
              <a:lnSpc>
                <a:spcPct val="100000"/>
              </a:lnSpc>
              <a:spcBef>
                <a:spcPts val="0"/>
              </a:spcBef>
              <a:spcAft>
                <a:spcPts val="0"/>
              </a:spcAft>
              <a:buSzPts val="1400"/>
              <a:buNone/>
            </a:pPr>
            <a:r>
              <a:t>UIFR: TEACH 3 · TEACH 4.</a:t>
            </a:r>
          </a:p>
        </p:txBody>
      </p:sp>
      <p:sp>
        <p:nvSpPr>
          <p:cNvPr id="663" name="Google Shape;663;p26: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2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p2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21 | WORKED</a:t>
            </a:r>
          </a:p>
          <a:p xmlns:a="http://schemas.openxmlformats.org/drawingml/2006/main">
            <a:pPr>
              <a:buNone/>
            </a:pPr>
            <a:r>
              <a:rPr lang="en-US" sz="1100"/>
              <a:t>Focus on the existing task: Let’s use the triangles to find the area of the octagon. Stop Sign</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73" name="Google Shape;673;p27: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22 | WORKED</a:t>
            </a:r>
          </a:p>
          <a:p xmlns:a="http://schemas.openxmlformats.org/drawingml/2006/main">
            <a:pPr>
              <a:buNone/>
            </a:pPr>
            <a:r>
              <a:rPr lang="en-US" sz="1100"/>
              <a:t>Focus on the existing task: The area of the stop sign is approximately 1,073 square inches. Stop Sign</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84" name="Google Shape;684;p28: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23 | PRACTICE</a:t>
            </a:r>
          </a:p>
          <a:p xmlns:a="http://schemas.openxmlformats.org/drawingml/2006/main">
            <a:pPr>
              <a:buNone/>
            </a:pPr>
            <a:r>
              <a:rPr lang="en-US" sz="1100"/>
              <a:t>Focus on the existing task: Workspace With the given information, can you compose or decompose the octagon into different shapes to find the area?</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693" name="Google Shape;693;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29 | DIVIDER</a:t>
            </a:r>
          </a:p>
          <a:p xmlns:a="http://schemas.openxmlformats.org/drawingml/2006/main">
            <a:pPr>
              <a:buNone/>
            </a:pPr>
            <a:r>
              <a:rPr lang="en-US" sz="1100"/>
              <a:t>Focus on the existing task: Apply Area Concepts to Solve Problems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02" name="Google Shape;702;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30 | TASK</a:t>
            </a:r>
          </a:p>
          <a:p xmlns:a="http://schemas.openxmlformats.org/drawingml/2006/main">
            <a:pPr>
              <a:buNone/>
            </a:pPr>
            <a:r>
              <a:rPr lang="en-US" sz="1100"/>
              <a:t>Focus on the existing task: The Ohio Burgee, the official flag of Ohio, is a swallowtail flag. It is the only non-rectangular U.S. state flag. The dimensions of a flag are shown. What is the area of the flag?</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is the area of the flag?</a:t>
            </a:r>
          </a:p>
          <a:p>
            <a:pPr indent="0" lvl="0" marL="0" rtl="0" algn="l">
              <a:lnSpc>
                <a:spcPct val="100000"/>
              </a:lnSpc>
              <a:spcBef>
                <a:spcPts val="0"/>
              </a:spcBef>
              <a:spcAft>
                <a:spcPts val="0"/>
              </a:spcAft>
              <a:buSzPts val="1400"/>
              <a:buNone/>
            </a:pPr>
            <a:r>
              <a:t>UIFR: TEACH 1 · TEACH 3.</a:t>
            </a:r>
          </a:p>
        </p:txBody>
      </p:sp>
      <p:sp>
        <p:nvSpPr>
          <p:cNvPr id="732" name="Google Shape;732;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3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31 | COLLABORATE</a:t>
            </a:r>
          </a:p>
          <a:p xmlns:a="http://schemas.openxmlformats.org/drawingml/2006/main">
            <a:pPr>
              <a:buNone/>
            </a:pPr>
            <a:r>
              <a:rPr lang="en-US" sz="1100"/>
              <a:t>Focus on the existing task: How can you use your prior knowledge of area to help you determine the area of the irregular shape?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p:txBody>
      </p:sp>
      <p:sp>
        <p:nvSpPr>
          <p:cNvPr id="751" name="Google Shape;751;p3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32 | TASK</a:t>
            </a:r>
          </a:p>
          <a:p xmlns:a="http://schemas.openxmlformats.org/drawingml/2006/main">
            <a:pPr>
              <a:buNone/>
            </a:pPr>
            <a:r>
              <a:rPr lang="en-US" sz="1100"/>
              <a:t>Focus on the existing task: Let’s compose the shape into a trapezoid. Think About It: How were the dimensions 10 feet and 3 feet determined?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772" name="Google Shape;772;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33 | REVEAL</a:t>
            </a:r>
          </a:p>
          <a:p xmlns:a="http://schemas.openxmlformats.org/drawingml/2006/main">
            <a:pPr>
              <a:buNone/>
            </a:pPr>
            <a:r>
              <a:rPr lang="en-US" sz="1100"/>
              <a:t>Focus on the existing task: What do you notice about the trapezoid?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It is a trapezoid with a triangle cut-out .</a:t>
            </a:r>
          </a:p>
          <a:p>
            <a:pPr indent="0" lvl="0" marL="0" rtl="0" algn="l">
              <a:lnSpc>
                <a:spcPct val="100000"/>
              </a:lnSpc>
              <a:spcBef>
                <a:spcPts val="0"/>
              </a:spcBef>
              <a:spcAft>
                <a:spcPts val="0"/>
              </a:spcAft>
              <a:buSzPts val="1400"/>
              <a:buNone/>
            </a:pPr>
            <a:r>
              <a:t>UIFR: TEACH 3 · TEACH 4.</a:t>
            </a:r>
          </a:p>
        </p:txBody>
      </p:sp>
      <p:sp>
        <p:nvSpPr>
          <p:cNvPr id="791" name="Google Shape;791;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34 | REVEAL</a:t>
            </a:r>
          </a:p>
          <a:p xmlns:a="http://schemas.openxmlformats.org/drawingml/2006/main">
            <a:pPr>
              <a:buNone/>
            </a:pPr>
            <a:r>
              <a:rPr lang="en-US" sz="1100"/>
              <a:t>Focus on the existing task: The flag is a trapezoid with a triangular cut-out. How can you use the trapezoid and triangle to find the area of the flag?</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add or subtract areas.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find the area of each shape and subtract the area of the triangular cut-out from the area of the trapezoid.</a:t>
            </a:r>
          </a:p>
          <a:p>
            <a:pPr indent="0" lvl="0" marL="0" rtl="0" algn="l">
              <a:lnSpc>
                <a:spcPct val="100000"/>
              </a:lnSpc>
              <a:spcBef>
                <a:spcPts val="0"/>
              </a:spcBef>
              <a:spcAft>
                <a:spcPts val="0"/>
              </a:spcAft>
              <a:buSzPts val="1400"/>
              <a:buNone/>
            </a:pPr>
            <a:r>
              <a:t>UIFR: TEACH 3 · TEACH 4.</a:t>
            </a:r>
          </a:p>
        </p:txBody>
      </p:sp>
      <p:sp>
        <p:nvSpPr>
          <p:cNvPr id="809" name="Google Shape;809;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35 | TASK</a:t>
            </a:r>
          </a:p>
          <a:p xmlns:a="http://schemas.openxmlformats.org/drawingml/2006/main">
            <a:pPr>
              <a:buNone/>
            </a:pPr>
            <a:r>
              <a:rPr lang="en-US" sz="1100"/>
              <a:t>Focus on the existing task: How would you check your answer?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45" name="Google Shape;845;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36 | TASK</a:t>
            </a:r>
          </a:p>
          <a:p xmlns:a="http://schemas.openxmlformats.org/drawingml/2006/main">
            <a:pPr>
              <a:buNone/>
            </a:pPr>
            <a:r>
              <a:rPr lang="en-US" sz="1100"/>
              <a:t>Focus on the existing task: The Ohio Burgee, the official flag of Ohio, is a swallowtail flag. It is the only non-rectangular U.S. state flag. The dimensions of a flag are shown. What is the area of the flag?</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is the area of the flag?</a:t>
            </a:r>
          </a:p>
          <a:p>
            <a:pPr indent="0" lvl="0" marL="0" rtl="0" algn="l">
              <a:lnSpc>
                <a:spcPct val="100000"/>
              </a:lnSpc>
              <a:spcBef>
                <a:spcPts val="0"/>
              </a:spcBef>
              <a:spcAft>
                <a:spcPts val="0"/>
              </a:spcAft>
              <a:buSzPts val="1400"/>
              <a:buNone/>
            </a:pPr>
            <a:r>
              <a:t>UIFR: TEACH 1 · TEACH 3.</a:t>
            </a:r>
          </a:p>
        </p:txBody>
      </p:sp>
      <p:sp>
        <p:nvSpPr>
          <p:cNvPr id="857" name="Google Shape;857;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37 | PRACTICE</a:t>
            </a:r>
          </a:p>
          <a:p xmlns:a="http://schemas.openxmlformats.org/drawingml/2006/main">
            <a:pPr>
              <a:buNone/>
            </a:pPr>
            <a:r>
              <a:rPr lang="en-US" sz="1100"/>
              <a:t>Focus on the existing task: What is another way you could determine the area of the flag?</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66" name="Google Shape;866;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40 | SUMMARIZE</a:t>
            </a:r>
          </a:p>
          <a:p xmlns:a="http://schemas.openxmlformats.org/drawingml/2006/main">
            <a:pPr>
              <a:buNone/>
            </a:pPr>
            <a:r>
              <a:rPr lang="en-US" sz="1100"/>
              <a:t>Focus on the existing task: Summarize: Area of Polygons The area of polygons can be found by decomposing them into triangles or quadrilaterals, or by composing…</a:t>
            </a:r>
          </a:p>
          <a:p xmlns:a="http://schemas.openxmlformats.org/drawingml/2006/main">
            <a:pPr>
              <a:buNone/>
            </a:pPr>
            <a:r>
              <a:rPr lang="en-US" sz="1100"/>
              <a:t>CONNECT (T1/4): Ask students to restate the displayed goal or key idea and connect it to earlier work. Relevant lesson evidence: decompose or enclose the figure; account for every region once; add or subtract areas.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874" name="Google Shape;874;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41 | SUMMARIZE</a:t>
            </a:r>
          </a:p>
          <a:p xmlns:a="http://schemas.openxmlformats.org/drawingml/2006/main">
            <a:pPr>
              <a:buNone/>
            </a:pPr>
            <a:r>
              <a:rPr lang="en-US" sz="1100"/>
              <a:t>Focus on the existing task: Summarize: Area of Polygons The area of polygons can be found by decomposing them into triangles or quadrilaterals, or by composing them…</a:t>
            </a:r>
          </a:p>
          <a:p xmlns:a="http://schemas.openxmlformats.org/drawingml/2006/main">
            <a:pPr>
              <a:buNone/>
            </a:pPr>
            <a:r>
              <a:rPr lang="en-US" sz="1100"/>
              <a:t>CONNECT (T1/4): Ask students to restate the displayed goal or key idea and connect it to earlier work. Relevant lesson evidence: decompose or enclose the figure; account for every region once; add or subtract areas.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883" name="Google Shape;883;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5.4, slide 42 | APPLY</a:t>
            </a:r>
          </a:p>
          <a:p xmlns:a="http://schemas.openxmlformats.org/drawingml/2006/main">
            <a:pPr>
              <a:buNone/>
            </a:pPr>
            <a:r>
              <a:rPr lang="en-US" sz="1100"/>
              <a:t>Focus on the existing task: A garden designer wants to cover a gazebo floor with tiles. The gazebo is shaped like a decagon with equal sides. Question: If floor…</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decompose or enclose the figure; account for every region once; add or subtract areas. Respond with one specific next step tied to the work. Students revise and annotate what changed, then identify a criterion they can now demonstrate and one they still need to practice.</a:t>
            </a:r>
          </a:p>
        </p:txBody>
      </p:sp>
      <p:sp>
        <p:nvSpPr>
          <p:cNvPr id="892" name="Google Shape;892;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5.4, slide 27 | WARMUP</a:t>
            </a:r>
          </a:p>
          <a:p xmlns:a="http://schemas.openxmlformats.org/drawingml/2006/main">
            <a:pPr>
              <a:buNone/>
            </a:pPr>
            <a:r>
              <a:rPr lang="en-US" sz="1100"/>
              <a:t>Focus on the existing task: Warm-Up Session 2 Warm-Up Check what you remember…</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5.4, slide 28 | NOTES</a:t>
            </a:r>
          </a:p>
          <a:p xmlns:a="http://schemas.openxmlformats.org/drawingml/2006/main">
            <a:pPr>
              <a:buNone/>
            </a:pPr>
            <a:r>
              <a:rPr lang="en-US" sz="1100"/>
              <a:t>Focus on the existing task: Review Notes — Session 2 Session 2: Review Notes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43 | REFLECTION</a:t>
            </a:r>
          </a:p>
          <a:p xmlns:a="http://schemas.openxmlformats.org/drawingml/2006/main">
            <a:pPr>
              <a:buNone/>
            </a:pPr>
            <a:r>
              <a:rPr lang="en-US" sz="1100"/>
              <a:t>Focus on the existing task: Learning Targets I can find the area of a regular polygon by decomposing the figure into triangles. I can make use of structure to find…</a:t>
            </a:r>
          </a:p>
          <a:p xmlns:a="http://schemas.openxmlformats.org/drawingml/2006/main">
            <a:pPr>
              <a:buNone/>
            </a:pPr>
            <a:r>
              <a:rPr lang="en-US" sz="1100"/>
              <a:t>CONNECT (T1/4): Ask students to restate the displayed goal or key idea and connect it to earlier work. Relevant lesson evidence: decompose or enclose the figure; account for every region once; add or subtract areas.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counting an overlapping region twice or retaining a cutout.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outline a proposed partition on the original diagram and label each included region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7 | PRIOR_INSERT</a:t>
            </a:r>
          </a:p>
          <a:p xmlns:a="http://schemas.openxmlformats.org/drawingml/2006/main">
            <a:pPr>
              <a:buNone/>
            </a:pPr>
            <a:r>
              <a:rPr lang="en-US" sz="1100"/>
              <a:t>Focus on the existing task: LESSON 5.4 / OUR LEARNING What will show your learning?</a:t>
            </a:r>
          </a:p>
          <a:p xmlns:a="http://schemas.openxmlformats.org/drawingml/2006/main">
            <a:pPr>
              <a:buNone/>
            </a:pPr>
            <a:r>
              <a:rPr lang="en-US" sz="1100"/>
              <a:t>CONNECT (T1/4): Ask students to restate the displayed goal or key idea and connect it to earlier work. Relevant lesson evidence: decompose or enclose the figure; account for every region once; add or subtract areas.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5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8 | VOCAB</a:t>
            </a:r>
          </a:p>
          <a:p xmlns:a="http://schemas.openxmlformats.org/drawingml/2006/main">
            <a:pPr>
              <a:buNone/>
            </a:pPr>
            <a:r>
              <a:rPr lang="en-US" sz="1100"/>
              <a:t>Focus on the existing task: Vocabulary 1 of 6 Area of Composite Figures The…</a:t>
            </a:r>
          </a:p>
          <a:p xmlns:a="http://schemas.openxmlformats.org/drawingml/2006/main">
            <a:pPr>
              <a:buNone/>
            </a:pPr>
            <a:r>
              <a:rPr lang="en-US" sz="1100"/>
              <a:t>ASK (T1/3/5): Where does “Area of Composite Figures”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5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9 | VOCAB</a:t>
            </a:r>
          </a:p>
          <a:p xmlns:a="http://schemas.openxmlformats.org/drawingml/2006/main">
            <a:pPr>
              <a:buNone/>
            </a:pPr>
            <a:r>
              <a:rPr lang="en-US" sz="1100"/>
              <a:t>Focus on the existing task: Vocabulary 2 of 6 Composite Figure A shape made by…</a:t>
            </a:r>
          </a:p>
          <a:p xmlns:a="http://schemas.openxmlformats.org/drawingml/2006/main">
            <a:pPr>
              <a:buNone/>
            </a:pPr>
            <a:r>
              <a:rPr lang="en-US" sz="1100"/>
              <a:t>ASK (T1/3/5): Where does “Composite Figure”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5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10 | VOCAB</a:t>
            </a:r>
          </a:p>
          <a:p xmlns:a="http://schemas.openxmlformats.org/drawingml/2006/main">
            <a:pPr>
              <a:buNone/>
            </a:pPr>
            <a:r>
              <a:rPr lang="en-US" sz="1100"/>
              <a:t>Focus on the existing task: Vocabulary 3 of 6 Decompose To break a shape into…</a:t>
            </a:r>
          </a:p>
          <a:p xmlns:a="http://schemas.openxmlformats.org/drawingml/2006/main">
            <a:pPr>
              <a:buNone/>
            </a:pPr>
            <a:r>
              <a:rPr lang="en-US" sz="1100"/>
              <a:t>ASK (T1/3/5): Where does “Decompose”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5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11 | VOCAB</a:t>
            </a:r>
          </a:p>
          <a:p xmlns:a="http://schemas.openxmlformats.org/drawingml/2006/main">
            <a:pPr>
              <a:buNone/>
            </a:pPr>
            <a:r>
              <a:rPr lang="en-US" sz="1100"/>
              <a:t>Focus on the existing task: Vocabulary 4 of 6 Add Add up the areas of the…</a:t>
            </a:r>
          </a:p>
          <a:p xmlns:a="http://schemas.openxmlformats.org/drawingml/2006/main">
            <a:pPr>
              <a:buNone/>
            </a:pPr>
            <a:r>
              <a:rPr lang="en-US" sz="1100"/>
              <a:t>ASK (T1/3/5): Where does “Add”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12 | VOCAB</a:t>
            </a:r>
          </a:p>
          <a:p xmlns:a="http://schemas.openxmlformats.org/drawingml/2006/main">
            <a:pPr>
              <a:buNone/>
            </a:pPr>
            <a:r>
              <a:rPr lang="en-US" sz="1100"/>
              <a:t>Focus on the existing task: Vocabulary 5 of 6 Subtract Take away the area of a…</a:t>
            </a:r>
          </a:p>
          <a:p xmlns:a="http://schemas.openxmlformats.org/drawingml/2006/main">
            <a:pPr>
              <a:buNone/>
            </a:pPr>
            <a:r>
              <a:rPr lang="en-US" sz="1100"/>
              <a:t>ASK (T1/3/5): Where does “Subtract”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13 | VOCAB</a:t>
            </a:r>
          </a:p>
          <a:p xmlns:a="http://schemas.openxmlformats.org/drawingml/2006/main">
            <a:pPr>
              <a:buNone/>
            </a:pPr>
            <a:r>
              <a:rPr lang="en-US" sz="1100"/>
              <a:t>Focus on the existing task: Vocabulary 6 of 6 Formula A math rule written with…</a:t>
            </a:r>
          </a:p>
          <a:p xmlns:a="http://schemas.openxmlformats.org/drawingml/2006/main">
            <a:pPr>
              <a:buNone/>
            </a:pPr>
            <a:r>
              <a:rPr lang="en-US" sz="1100"/>
              <a:t>ASK (T1/3/5): Where does “Formula”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14 | CURIOUS</a:t>
            </a:r>
          </a:p>
          <a:p xmlns:a="http://schemas.openxmlformats.org/drawingml/2006/main">
            <a:pPr>
              <a:buNone/>
            </a:pPr>
            <a:r>
              <a:rPr lang="en-US" sz="1100"/>
              <a:t>Focus on the existing task: Why does confidence in yourself and your abilities help you be successful in math?</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24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decompose or enclose the figure; account for every region once; add or subtract areas.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25 | COLLABORATE</a:t>
            </a:r>
          </a:p>
          <a:p xmlns:a="http://schemas.openxmlformats.org/drawingml/2006/main">
            <a:pPr>
              <a:buNone/>
            </a:pPr>
            <a:r>
              <a:rPr lang="en-US" sz="1100"/>
              <a:t>Focus on the existing task: Collaborate and Connect Reveal: We can decompose it into 8 triangles. How can you decompose the octagon into shapes that you can find the area of?</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26 | CURIOUS</a:t>
            </a:r>
          </a:p>
          <a:p xmlns:a="http://schemas.openxmlformats.org/drawingml/2006/main">
            <a:pPr>
              <a:buNone/>
            </a:pPr>
            <a:r>
              <a:rPr lang="en-US" sz="1100"/>
              <a:t>Focus on the existing task: Why is confidence in yourself and your abilities helping you be successful in math?</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38 | PRIOR_INSERT</a:t>
            </a:r>
          </a:p>
          <a:p xmlns:a="http://schemas.openxmlformats.org/drawingml/2006/main">
            <a:pPr>
              <a:buNone/>
            </a:pPr>
            <a:r>
              <a:rPr lang="en-US" sz="1100"/>
              <a:t>Focus on the existing task: LESSON 5.4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decompose or enclose the figure; account for every region once; add or subtract areas.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39 | REVEAL</a:t>
            </a:r>
          </a:p>
          <a:p xmlns:a="http://schemas.openxmlformats.org/drawingml/2006/main">
            <a:pPr>
              <a:buNone/>
            </a:pPr>
            <a:r>
              <a:rPr lang="en-US" sz="1100"/>
              <a:t>Focus on the existing task: What do you notice about the trapezoid?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decompose or enclose the figure. Ask which feature of their work supports the claim.</a:t>
            </a:r>
          </a:p>
          <a:p xmlns:a="http://schemas.openxmlformats.org/drawingml/2006/main">
            <a:pPr>
              <a:buNone/>
            </a:pPr>
            <a:r>
              <a:rPr lang="en-US" sz="1100"/>
              <a:t>RESPOND: If this task shows the lesson misconception—counting an overlapping region twice or retaining a cutout—outline a proposed partition on the original diagram and label each included region.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5.4, slide 44 | PRIOR_INSERT</a:t>
            </a:r>
          </a:p>
          <a:p xmlns:a="http://schemas.openxmlformats.org/drawingml/2006/main">
            <a:pPr>
              <a:buNone/>
            </a:pPr>
            <a:r>
              <a:rPr lang="en-US" sz="1100"/>
              <a:t>Focus on the existing task: LESSON 5.4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decompose or enclose the figure; account for every region once; add or subtract areas.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90" name="Shape 90"/>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7" name="Shape 97"/>
        <p:cNvGrpSpPr/>
        <p:nvPr/>
      </p:nvGrpSpPr>
      <p:grpSpPr>
        <a:xfrm>
          <a:off x="0" y="0"/>
          <a:ext cx="0" cy="0"/>
          <a:chOff x="0" y="0"/>
          <a:chExt cx="0" cy="0"/>
        </a:xfrm>
      </p:grpSpPr>
      <p:sp>
        <p:nvSpPr>
          <p:cNvPr id="98" name="Google Shape;98;p1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0" name="Google Shape;100;p1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1" name="Shape 101"/>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2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4" name="Google Shape;104;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 name="Google Shape;105;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7" name="Google Shape;107;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8" name="Shape 108"/>
        <p:cNvGrpSpPr/>
        <p:nvPr/>
      </p:nvGrpSpPr>
      <p:grpSpPr>
        <a:xfrm>
          <a:off x="0" y="0"/>
          <a:ext cx="0" cy="0"/>
          <a:chOff x="0" y="0"/>
          <a:chExt cx="0" cy="0"/>
        </a:xfrm>
      </p:grpSpPr>
      <p:sp>
        <p:nvSpPr>
          <p:cNvPr id="109" name="Google Shape;109;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0" name="Google Shape;110;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1" name="Google Shape;111;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3" name="Google Shape;113;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4" name="Shape 114"/>
        <p:cNvGrpSpPr/>
        <p:nvPr/>
      </p:nvGrpSpPr>
      <p:grpSpPr>
        <a:xfrm>
          <a:off x="0" y="0"/>
          <a:ext cx="0" cy="0"/>
          <a:chOff x="0" y="0"/>
          <a:chExt cx="0" cy="0"/>
        </a:xfrm>
      </p:grpSpPr>
      <p:sp>
        <p:nvSpPr>
          <p:cNvPr id="115" name="Google Shape;115;p2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6" name="Google Shape;116;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8" name="Google Shape;118;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0" name="Google Shape;120;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1" name="Shape 121"/>
        <p:cNvGrpSpPr/>
        <p:nvPr/>
      </p:nvGrpSpPr>
      <p:grpSpPr>
        <a:xfrm>
          <a:off x="0" y="0"/>
          <a:ext cx="0" cy="0"/>
          <a:chOff x="0" y="0"/>
          <a:chExt cx="0" cy="0"/>
        </a:xfrm>
      </p:grpSpPr>
      <p:sp>
        <p:nvSpPr>
          <p:cNvPr id="122" name="Google Shape;122;p2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3" name="Google Shape;123;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4" name="Google Shape;124;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5" name="Google Shape;125;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6" name="Google Shape;126;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7" name="Google Shape;127;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9" name="Google Shape;129;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0" name="Shape 130"/>
        <p:cNvGrpSpPr/>
        <p:nvPr/>
      </p:nvGrpSpPr>
      <p:grpSpPr>
        <a:xfrm>
          <a:off x="0" y="0"/>
          <a:ext cx="0" cy="0"/>
          <a:chOff x="0" y="0"/>
          <a:chExt cx="0" cy="0"/>
        </a:xfrm>
      </p:grpSpPr>
      <p:sp>
        <p:nvSpPr>
          <p:cNvPr id="131" name="Google Shape;131;p2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2" name="Google Shape;132;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4" name="Google Shape;134;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5" name="Shape 135"/>
        <p:cNvGrpSpPr/>
        <p:nvPr/>
      </p:nvGrpSpPr>
      <p:grpSpPr>
        <a:xfrm>
          <a:off x="0" y="0"/>
          <a:ext cx="0" cy="0"/>
          <a:chOff x="0" y="0"/>
          <a:chExt cx="0" cy="0"/>
        </a:xfrm>
      </p:grpSpPr>
      <p:sp>
        <p:nvSpPr>
          <p:cNvPr id="136" name="Google Shape;136;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7" name="Google Shape;137;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8" name="Google Shape;138;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9" name="Google Shape;139;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1" name="Google Shape;141;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2" name="Shape 142"/>
        <p:cNvGrpSpPr/>
        <p:nvPr/>
      </p:nvGrpSpPr>
      <p:grpSpPr>
        <a:xfrm>
          <a:off x="0" y="0"/>
          <a:ext cx="0" cy="0"/>
          <a:chOff x="0" y="0"/>
          <a:chExt cx="0" cy="0"/>
        </a:xfrm>
      </p:grpSpPr>
      <p:sp>
        <p:nvSpPr>
          <p:cNvPr id="143" name="Google Shape;143;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4" name="Google Shape;144;p26"/>
          <p:cNvSpPr/>
          <p:nvPr>
            <p:ph idx="2" type="pic"/>
          </p:nvPr>
        </p:nvSpPr>
        <p:spPr>
          <a:xfrm>
            <a:off x="5183188" y="987425"/>
            <a:ext cx="6172200" cy="4873625"/>
          </a:xfrm>
          <a:prstGeom prst="rect">
            <a:avLst/>
          </a:prstGeom>
          <a:noFill/>
          <a:ln>
            <a:noFill/>
          </a:ln>
        </p:spPr>
      </p:sp>
      <p:sp>
        <p:nvSpPr>
          <p:cNvPr id="145" name="Google Shape;145;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6" name="Google Shape;146;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8" name="Google Shape;148;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9" name="Shape 149"/>
        <p:cNvGrpSpPr/>
        <p:nvPr/>
      </p:nvGrpSpPr>
      <p:grpSpPr>
        <a:xfrm>
          <a:off x="0" y="0"/>
          <a:ext cx="0" cy="0"/>
          <a:chOff x="0" y="0"/>
          <a:chExt cx="0" cy="0"/>
        </a:xfrm>
      </p:grpSpPr>
      <p:sp>
        <p:nvSpPr>
          <p:cNvPr id="150" name="Google Shape;150;p2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1" name="Google Shape;151;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2" name="Google Shape;152;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4" name="Google Shape;154;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5" name="Shape 155"/>
        <p:cNvGrpSpPr/>
        <p:nvPr/>
      </p:nvGrpSpPr>
      <p:grpSpPr>
        <a:xfrm>
          <a:off x="0" y="0"/>
          <a:ext cx="0" cy="0"/>
          <a:chOff x="0" y="0"/>
          <a:chExt cx="0" cy="0"/>
        </a:xfrm>
      </p:grpSpPr>
      <p:sp>
        <p:nvSpPr>
          <p:cNvPr id="156" name="Google Shape;156;p28"/>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7" name="Google Shape;157;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8" name="Google Shape;158;p2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0" name="Google Shape;160;p2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6" name="Shape 166"/>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7" name="Shape 167"/>
        <p:cNvGrpSpPr/>
        <p:nvPr/>
      </p:nvGrpSpPr>
      <p:grpSpPr>
        <a:xfrm>
          <a:off x="0" y="0"/>
          <a:ext cx="0" cy="0"/>
          <a:chOff x="0" y="0"/>
          <a:chExt cx="0" cy="0"/>
        </a:xfrm>
      </p:grpSpPr>
      <p:sp>
        <p:nvSpPr>
          <p:cNvPr id="168" name="Google Shape;168;p3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9" name="Google Shape;169;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0" name="Google Shape;170;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2" name="Google Shape;172;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3" name="Shape 173"/>
        <p:cNvGrpSpPr/>
        <p:nvPr/>
      </p:nvGrpSpPr>
      <p:grpSpPr>
        <a:xfrm>
          <a:off x="0" y="0"/>
          <a:ext cx="0" cy="0"/>
          <a:chOff x="0" y="0"/>
          <a:chExt cx="0" cy="0"/>
        </a:xfrm>
      </p:grpSpPr>
      <p:sp>
        <p:nvSpPr>
          <p:cNvPr id="174" name="Google Shape;174;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5" name="Google Shape;175;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6" name="Google Shape;176;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8" name="Google Shape;178;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9" name="Shape 179"/>
        <p:cNvGrpSpPr/>
        <p:nvPr/>
      </p:nvGrpSpPr>
      <p:grpSpPr>
        <a:xfrm>
          <a:off x="0" y="0"/>
          <a:ext cx="0" cy="0"/>
          <a:chOff x="0" y="0"/>
          <a:chExt cx="0" cy="0"/>
        </a:xfrm>
      </p:grpSpPr>
      <p:sp>
        <p:nvSpPr>
          <p:cNvPr id="180" name="Google Shape;180;p3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1" name="Google Shape;181;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3" name="Google Shape;183;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5" name="Google Shape;185;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6" name="Shape 186"/>
        <p:cNvGrpSpPr/>
        <p:nvPr/>
      </p:nvGrpSpPr>
      <p:grpSpPr>
        <a:xfrm>
          <a:off x="0" y="0"/>
          <a:ext cx="0" cy="0"/>
          <a:chOff x="0" y="0"/>
          <a:chExt cx="0" cy="0"/>
        </a:xfrm>
      </p:grpSpPr>
      <p:sp>
        <p:nvSpPr>
          <p:cNvPr id="187" name="Google Shape;187;p34"/>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8" name="Google Shape;188;p3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9" name="Google Shape;189;p3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0" name="Google Shape;190;p3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1" name="Google Shape;191;p3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2" name="Google Shape;192;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4" name="Google Shape;194;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5" name="Shape 195"/>
        <p:cNvGrpSpPr/>
        <p:nvPr/>
      </p:nvGrpSpPr>
      <p:grpSpPr>
        <a:xfrm>
          <a:off x="0" y="0"/>
          <a:ext cx="0" cy="0"/>
          <a:chOff x="0" y="0"/>
          <a:chExt cx="0" cy="0"/>
        </a:xfrm>
      </p:grpSpPr>
      <p:sp>
        <p:nvSpPr>
          <p:cNvPr id="196" name="Google Shape;196;p35"/>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7" name="Google Shape;197;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9" name="Google Shape;199;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0" name="Shape 200"/>
        <p:cNvGrpSpPr/>
        <p:nvPr/>
      </p:nvGrpSpPr>
      <p:grpSpPr>
        <a:xfrm>
          <a:off x="0" y="0"/>
          <a:ext cx="0" cy="0"/>
          <a:chOff x="0" y="0"/>
          <a:chExt cx="0" cy="0"/>
        </a:xfrm>
      </p:grpSpPr>
      <p:sp>
        <p:nvSpPr>
          <p:cNvPr id="201" name="Google Shape;201;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3" name="Google Shape;203;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4" name="Shape 204"/>
        <p:cNvGrpSpPr/>
        <p:nvPr/>
      </p:nvGrpSpPr>
      <p:grpSpPr>
        <a:xfrm>
          <a:off x="0" y="0"/>
          <a:ext cx="0" cy="0"/>
          <a:chOff x="0" y="0"/>
          <a:chExt cx="0" cy="0"/>
        </a:xfrm>
      </p:grpSpPr>
      <p:sp>
        <p:nvSpPr>
          <p:cNvPr id="205" name="Google Shape;205;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6" name="Google Shape;206;p3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7" name="Google Shape;207;p3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8" name="Google Shape;208;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0" name="Google Shape;210;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1" name="Shape 211"/>
        <p:cNvGrpSpPr/>
        <p:nvPr/>
      </p:nvGrpSpPr>
      <p:grpSpPr>
        <a:xfrm>
          <a:off x="0" y="0"/>
          <a:ext cx="0" cy="0"/>
          <a:chOff x="0" y="0"/>
          <a:chExt cx="0" cy="0"/>
        </a:xfrm>
      </p:grpSpPr>
      <p:sp>
        <p:nvSpPr>
          <p:cNvPr id="212" name="Google Shape;212;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3" name="Google Shape;213;p38"/>
          <p:cNvSpPr/>
          <p:nvPr>
            <p:ph idx="2" type="pic"/>
          </p:nvPr>
        </p:nvSpPr>
        <p:spPr>
          <a:xfrm>
            <a:off x="5183188" y="987425"/>
            <a:ext cx="6172200" cy="4873625"/>
          </a:xfrm>
          <a:prstGeom prst="rect">
            <a:avLst/>
          </a:prstGeom>
          <a:noFill/>
          <a:ln>
            <a:noFill/>
          </a:ln>
        </p:spPr>
      </p:sp>
      <p:sp>
        <p:nvSpPr>
          <p:cNvPr id="214" name="Google Shape;214;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5" name="Google Shape;215;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7" name="Google Shape;217;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p3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0" name="Google Shape;220;p3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1" name="Google Shape;221;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3" name="Google Shape;223;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p40"/>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6" name="Google Shape;226;p4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7" name="Google Shape;227;p4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4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9" name="Google Shape;229;p4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230" name="Shape 230"/>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slideLayout" Target="../slideLayouts/slideLayout37.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Apply Area Concepts to Solve Problems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cxnSp>
        <p:nvCxnSpPr>
          <p:cNvPr id="92" name="Google Shape;92;p17"/>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3" name="Google Shape;93;p17"/>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4" name="Google Shape;94;p17"/>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Apply Area Concepts to Solve Problems</a:t>
            </a:r>
            <a:endParaRPr b="0" i="0" sz="1400" u="none" cap="none" strike="noStrike">
              <a:solidFill>
                <a:srgbClr val="000000"/>
              </a:solidFill>
              <a:latin typeface="Arial"/>
              <a:ea typeface="Arial"/>
              <a:cs typeface="Arial"/>
              <a:sym typeface="Arial"/>
            </a:endParaRPr>
          </a:p>
        </p:txBody>
      </p:sp>
      <p:sp>
        <p:nvSpPr>
          <p:cNvPr id="95" name="Google Shape;95;p17"/>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6" name="Google Shape;96;p17"/>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cxnSp>
        <p:nvCxnSpPr>
          <p:cNvPr id="162" name="Google Shape;162;p29"/>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3" name="Google Shape;163;p29"/>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a:t>
            </a:r>
            <a:endParaRPr b="0" i="0" sz="900" u="none" cap="none" strike="noStrike">
              <a:solidFill>
                <a:schemeClr val="dk2"/>
              </a:solidFill>
              <a:latin typeface="Arial"/>
              <a:ea typeface="Arial"/>
              <a:cs typeface="Arial"/>
              <a:sym typeface="Arial"/>
            </a:endParaRPr>
          </a:p>
        </p:txBody>
      </p:sp>
      <p:sp>
        <p:nvSpPr>
          <p:cNvPr id="164" name="Google Shape;164;p29"/>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5" name="Google Shape;165;p29"/>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5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5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5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6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notesSlide" Target="../notesSlides/notesSlide6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12.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20.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9.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6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notesSlide" Target="../notesSlides/notesSlide6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2.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5.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notesSlide" Target="../notesSlides/notesSlide6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4.png"/><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6.png"/><Relationship Id="rId4"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5-4 · Apply Area Concepts to Solve Problems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A triangle has base 8 m and height 5 m. Area =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A 10 by 6 rectangle has a 3 by 2 square cut out.</a:t>
            </a:r>
          </a:p>
          <a:p>
            <a:pPr algn="l"/>
            <a:r>
              <a:rPr sz="1800" b="1">
                <a:solidFill>
                  <a:srgbClr val="23282D"/>
                </a:solidFill>
                <a:latin typeface="Arial"/>
              </a:rPr>
              <a:t>The area left =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A 15 ft side splits into a 9 ft piece and one more piece.</a:t>
            </a:r>
          </a:p>
          <a:p>
            <a:pPr algn="l"/>
            <a:r>
              <a:rPr sz="1800" b="1">
                <a:solidFill>
                  <a:srgbClr val="23282D"/>
                </a:solidFill>
                <a:latin typeface="Arial"/>
              </a:rPr>
              <a:t>The other piece is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One identical triangle is 12 square in. Six of them cover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47</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03" name="Google Shape;503;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5-4 · Apply Area Concepts to Solve Problems</a:t>
            </a:r>
            <a:endParaRPr/>
          </a:p>
        </p:txBody>
      </p:sp>
      <p:sp>
        <p:nvSpPr>
          <p:cNvPr id="504" name="Google Shape;504;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06" name="Google Shape;506;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07" name="Google Shape;507;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09" name="Google Shape;509;p54"/>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4"/>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4"/>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12" name="Google Shape;512;p54"/>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Area of Composite Figures</a:t>
            </a:r>
            <a:endParaRPr/>
          </a:p>
        </p:txBody>
      </p:sp>
      <p:sp>
        <p:nvSpPr>
          <p:cNvPr id="513" name="Google Shape;513;p54"/>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total space inside a figure made of basic shapes</a:t>
            </a:r>
            <a:endParaRPr/>
          </a:p>
        </p:txBody>
      </p:sp>
      <p:sp>
        <p:nvSpPr>
          <p:cNvPr id="514" name="Google Shape;514;p54"/>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4"/>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4"/>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17" name="Google Shape;517;p54"/>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Composite Figure</a:t>
            </a:r>
            <a:endParaRPr/>
          </a:p>
        </p:txBody>
      </p:sp>
      <p:sp>
        <p:nvSpPr>
          <p:cNvPr id="518" name="Google Shape;518;p54"/>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shape made by putting two or more simple shapes together</a:t>
            </a:r>
            <a:endParaRPr/>
          </a:p>
        </p:txBody>
      </p:sp>
      <p:sp>
        <p:nvSpPr>
          <p:cNvPr id="519" name="Google Shape;519;p54"/>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54"/>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4"/>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22" name="Google Shape;522;p54"/>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Decompose</a:t>
            </a:r>
            <a:endParaRPr/>
          </a:p>
        </p:txBody>
      </p:sp>
      <p:sp>
        <p:nvSpPr>
          <p:cNvPr id="523" name="Google Shape;523;p54"/>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To break a shape into smaller, simpler shapes</a:t>
            </a:r>
            <a:endParaRPr/>
          </a:p>
        </p:txBody>
      </p:sp>
      <p:sp>
        <p:nvSpPr>
          <p:cNvPr id="5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47</a:t>
            </a:r>
          </a:p>
        </p:txBody>
      </p:sp>
      <p:grpSp>
        <p:nvGrpSpPr>
          <p:cNvPr id="525" name="TEACH-1-student-move" descr="TEACH 1 · Facilitate clear, standards-based content learning"/>
          <p:cNvGrpSpPr/>
          <p:nvPr/>
        </p:nvGrpSpPr>
        <p:grpSpPr>
          <a:xfrm>
            <a:off x="6187440" y="1682496"/>
            <a:ext cx="5501640" cy="594360"/>
            <a:chOff x="6187440" y="1682496"/>
            <a:chExt cx="5501640" cy="594360"/>
          </a:xfrm>
        </p:grpSpPr>
        <p:sp>
          <p:nvSpPr>
            <p:cNvPr id="52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2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2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5"/>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31" name="Google Shape;531;p5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5-4 · Apply Area Concepts to Solve Problems</a:t>
            </a:r>
            <a:endParaRPr/>
          </a:p>
        </p:txBody>
      </p:sp>
      <p:sp>
        <p:nvSpPr>
          <p:cNvPr id="532" name="Google Shape;532;p5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5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34" name="Google Shape;534;p55"/>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35" name="Google Shape;535;p55"/>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5"/>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37" name="Google Shape;537;p55"/>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8" name="Google Shape;538;p55"/>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Area of Composite Figures</a:t>
            </a:r>
            <a:endParaRPr/>
          </a:p>
        </p:txBody>
      </p:sp>
      <p:sp>
        <p:nvSpPr>
          <p:cNvPr id="539" name="Google Shape;539;p55"/>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5"/>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41" name="Google Shape;541;p55"/>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Decompose: </a:t>
            </a:r>
            <a:r>
              <a:rPr b="0" i="0" lang="en-US" sz="1600" u="none" cap="none" strike="noStrike">
                <a:solidFill>
                  <a:srgbClr val="14223A"/>
                </a:solidFill>
                <a:latin typeface="Arial"/>
                <a:ea typeface="Arial"/>
                <a:cs typeface="Arial"/>
                <a:sym typeface="Arial"/>
              </a:rPr>
              <a:t>Split the irregular shape into basic figures (rectangles, triangles, trapezoids)</a:t>
            </a:r>
            <a:endParaRPr/>
          </a:p>
        </p:txBody>
      </p:sp>
      <p:sp>
        <p:nvSpPr>
          <p:cNvPr id="542" name="Google Shape;542;p55"/>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3" name="Google Shape;543;p55"/>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44" name="Google Shape;544;p55"/>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Calculate: </a:t>
            </a:r>
            <a:r>
              <a:rPr b="0" i="0" lang="en-US" sz="1600" u="none" cap="none" strike="noStrike">
                <a:solidFill>
                  <a:srgbClr val="14223A"/>
                </a:solidFill>
                <a:latin typeface="Arial"/>
                <a:ea typeface="Arial"/>
                <a:cs typeface="Arial"/>
                <a:sym typeface="Arial"/>
              </a:rPr>
              <a:t xml:space="preserve">Find the </a:t>
            </a:r>
            <a:r>
              <a:rPr b="1" i="0" lang="en-US" sz="1600" u="none" cap="none" strike="noStrike">
                <a:solidFill>
                  <a:srgbClr val="14223A"/>
                </a:solidFill>
                <a:latin typeface="Arial"/>
                <a:ea typeface="Arial"/>
                <a:cs typeface="Arial"/>
                <a:sym typeface="Arial"/>
              </a:rPr>
              <a:t xml:space="preserve">area</a:t>
            </a:r>
            <a:r>
              <a:rPr b="0" i="0" lang="en-US" sz="1600" u="none" cap="none" strike="noStrike">
                <a:solidFill>
                  <a:srgbClr val="14223A"/>
                </a:solidFill>
                <a:latin typeface="Arial"/>
                <a:ea typeface="Arial"/>
                <a:cs typeface="Arial"/>
                <a:sym typeface="Arial"/>
              </a:rPr>
              <a:t xml:space="preserve"> of each individual sub-figure</a:t>
            </a:r>
            <a:endParaRPr/>
          </a:p>
        </p:txBody>
      </p:sp>
      <p:sp>
        <p:nvSpPr>
          <p:cNvPr id="545" name="Google Shape;545;p55"/>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6" name="Google Shape;546;p55"/>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47" name="Google Shape;547;p55"/>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Combine: </a:t>
            </a:r>
            <a:r>
              <a:rPr b="0" i="0" lang="en-US" sz="1600" u="none" cap="none" strike="noStrike">
                <a:solidFill>
                  <a:srgbClr val="14223A"/>
                </a:solidFill>
                <a:latin typeface="Arial"/>
                <a:ea typeface="Arial"/>
                <a:cs typeface="Arial"/>
                <a:sym typeface="Arial"/>
              </a:rPr>
              <a:t>Add the areas together (or subtract if a piece is removed/cut out)</a:t>
            </a:r>
            <a:endParaRPr/>
          </a:p>
        </p:txBody>
      </p:sp>
      <p:sp>
        <p:nvSpPr>
          <p:cNvPr id="54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47</a:t>
            </a:r>
          </a:p>
        </p:txBody>
      </p:sp>
      <p:grpSp>
        <p:nvGrpSpPr>
          <p:cNvPr id="549" name="TEACH-1-student-move" descr="TEACH 1 · Facilitate clear, standards-based content learning"/>
          <p:cNvGrpSpPr/>
          <p:nvPr/>
        </p:nvGrpSpPr>
        <p:grpSpPr>
          <a:xfrm>
            <a:off x="502920" y="5111496"/>
            <a:ext cx="11186160" cy="402336"/>
            <a:chOff x="502920" y="5111496"/>
            <a:chExt cx="11186160" cy="402336"/>
          </a:xfrm>
        </p:grpSpPr>
        <p:sp>
          <p:nvSpPr>
            <p:cNvPr id="550" name="TEACH-move-card"/>
            <p:cNvSpPr/>
            <p:nvPr/>
          </p:nvSpPr>
          <p:spPr>
            <a:xfrm>
              <a:off x="502920" y="51114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51" name="TEACH-move-rule"/>
            <p:cNvSpPr/>
            <p:nvPr/>
          </p:nvSpPr>
          <p:spPr>
            <a:xfrm>
              <a:off x="548640" y="5187940"/>
              <a:ext cx="100584" cy="249448"/>
            </a:xfrm>
            <a:prstGeom prst="roundRect">
              <a:avLst>
                <a:gd name="adj" fmla="val 50000"/>
              </a:avLst>
            </a:prstGeom>
            <a:solidFill>
              <a:srgbClr val="01708C"/>
            </a:solidFill>
            <a:ln>
              <a:noFill/>
            </a:ln>
          </p:spPr>
          <p:txBody>
            <a:bodyPr/>
            <a:lstStyle/>
            <a:p>
              <a:endParaRPr/>
            </a:p>
          </p:txBody>
        </p:sp>
        <p:sp>
          <p:nvSpPr>
            <p:cNvPr id="552" name="TEACH-move-text"/>
            <p:cNvSpPr txBox="1"/>
            <p:nvPr/>
          </p:nvSpPr>
          <p:spPr>
            <a:xfrm>
              <a:off x="822960" y="51114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2"/>
          <p:cNvSpPr txBox="1"/>
          <p:nvPr/>
        </p:nvSpPr>
        <p:spPr>
          <a:xfrm>
            <a:off x="1402827" y="2453950"/>
            <a:ext cx="8950541" cy="13101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Apply Area Concepts to Solve Problems</a:t>
            </a:r>
            <a:endParaRPr b="0" i="0" sz="1400" u="none" cap="none" strike="noStrike">
              <a:solidFill>
                <a:srgbClr val="000000"/>
              </a:solidFill>
              <a:latin typeface="Arial"/>
              <a:ea typeface="Arial"/>
              <a:cs typeface="Arial"/>
              <a:sym typeface="Arial"/>
            </a:endParaRPr>
          </a:p>
        </p:txBody>
      </p:sp>
      <p:sp>
        <p:nvSpPr>
          <p:cNvPr id="236" name="Google Shape;236;p42"/>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7" name="Google Shape;237;p42"/>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47</a:t>
            </a:r>
          </a:p>
        </p:txBody>
      </p:sp>
      <p:grpSp>
        <p:nvGrpSpPr>
          <p:cNvPr id="239" name="TEACH-2-student-move" descr="TEACH 2 · Use strategies and tasks to engage students in rigorous work"/>
          <p:cNvGrpSpPr/>
          <p:nvPr/>
        </p:nvGrpSpPr>
        <p:grpSpPr>
          <a:xfrm>
            <a:off x="502920" y="3846428"/>
            <a:ext cx="11186160" cy="731520"/>
            <a:chOff x="502920" y="3846428"/>
            <a:chExt cx="11186160" cy="731520"/>
          </a:xfrm>
        </p:grpSpPr>
        <p:sp>
          <p:nvSpPr>
            <p:cNvPr id="240" name="TEACH-move-card"/>
            <p:cNvSpPr/>
            <p:nvPr/>
          </p:nvSpPr>
          <p:spPr>
            <a:xfrm>
              <a:off x="502920" y="3846428"/>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41" name="TEACH-move-rule"/>
            <p:cNvSpPr/>
            <p:nvPr/>
          </p:nvSpPr>
          <p:spPr>
            <a:xfrm>
              <a:off x="548640" y="3985417"/>
              <a:ext cx="100584" cy="453542"/>
            </a:xfrm>
            <a:prstGeom prst="roundRect">
              <a:avLst>
                <a:gd name="adj" fmla="val 50000"/>
              </a:avLst>
            </a:prstGeom>
            <a:solidFill>
              <a:srgbClr val="01708C"/>
            </a:solidFill>
            <a:ln>
              <a:noFill/>
            </a:ln>
          </p:spPr>
          <p:txBody>
            <a:bodyPr/>
            <a:lstStyle/>
            <a:p>
              <a:endParaRPr/>
            </a:p>
          </p:txBody>
        </p:sp>
        <p:sp>
          <p:nvSpPr>
            <p:cNvPr id="242" name="TEACH-move-text"/>
            <p:cNvSpPr txBox="1"/>
            <p:nvPr/>
          </p:nvSpPr>
          <p:spPr>
            <a:xfrm>
              <a:off x="822960" y="3846428"/>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cxnSp>
        <p:nvCxnSpPr>
          <p:cNvPr id="242" name="Google Shape;242;p4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3" name="Google Shape;243;p43"/>
          <p:cNvSpPr txBox="1"/>
          <p:nvPr/>
        </p:nvSpPr>
        <p:spPr>
          <a:xfrm>
            <a:off x="505579"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This or That</a:t>
            </a:r>
            <a:endParaRPr b="0" i="0" sz="1400" u="none" cap="none" strike="noStrike">
              <a:solidFill>
                <a:srgbClr val="000000"/>
              </a:solidFill>
              <a:latin typeface="Arial"/>
              <a:ea typeface="Arial"/>
              <a:cs typeface="Arial"/>
              <a:sym typeface="Arial"/>
            </a:endParaRPr>
          </a:p>
        </p:txBody>
      </p:sp>
      <p:sp>
        <p:nvSpPr>
          <p:cNvPr id="244" name="Google Shape;244;p43"/>
          <p:cNvSpPr txBox="1"/>
          <p:nvPr/>
        </p:nvSpPr>
        <p:spPr>
          <a:xfrm>
            <a:off x="484560" y="936101"/>
            <a:ext cx="7720656" cy="9472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Would you rather have THIS or THAT tokens for prizes?</a:t>
            </a:r>
            <a:endParaRPr b="0" i="0" sz="1400" u="none" cap="none" strike="noStrike">
              <a:solidFill>
                <a:srgbClr val="000000"/>
              </a:solidFill>
              <a:latin typeface="Arial"/>
              <a:ea typeface="Arial"/>
              <a:cs typeface="Arial"/>
              <a:sym typeface="Arial"/>
            </a:endParaRPr>
          </a:p>
        </p:txBody>
      </p:sp>
      <p:graphicFrame>
        <p:nvGraphicFramePr>
          <p:cNvPr id="245" name="Google Shape;245;p43"/>
          <p:cNvGraphicFramePr/>
          <p:nvPr/>
        </p:nvGraphicFramePr>
        <p:xfrm>
          <a:off x="505579" y="2721802"/>
          <a:ext cx="3000000" cy="3000000"/>
        </p:xfrm>
        <a:graphic>
          <a:graphicData uri="http://schemas.openxmlformats.org/drawingml/2006/table">
            <a:tbl>
              <a:tblPr bandRow="1" firstRow="1">
                <a:noFill/>
                <a:tableStyleId>{7E778AC1-6D25-4D5F-9B34-2D005565A165}</a:tableStyleId>
              </a:tblPr>
              <a:tblGrid>
                <a:gridCol w="3184100"/>
                <a:gridCol w="2734050"/>
              </a:tblGrid>
              <a:tr h="603100">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THIS</a:t>
                      </a:r>
                      <a:endParaRPr i="1" sz="2800" u="none" cap="none" strike="noStrike">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THAT</a:t>
                      </a:r>
                      <a:endParaRPr i="1" sz="2800" u="none" cap="none" strike="noStrike">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bl>
          </a:graphicData>
        </a:graphic>
      </p:graphicFrame>
      <p:sp>
        <p:nvSpPr>
          <p:cNvPr id="246" name="Google Shape;246;p43"/>
          <p:cNvSpPr/>
          <p:nvPr/>
        </p:nvSpPr>
        <p:spPr>
          <a:xfrm>
            <a:off x="505579" y="2205272"/>
            <a:ext cx="5918162" cy="52322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Tokens For Prizes</a:t>
            </a:r>
            <a:endParaRPr b="0" i="0" sz="1400" u="none" cap="none" strike="noStrike">
              <a:solidFill>
                <a:srgbClr val="000000"/>
              </a:solidFill>
              <a:latin typeface="Arial"/>
              <a:ea typeface="Arial"/>
              <a:cs typeface="Arial"/>
              <a:sym typeface="Arial"/>
            </a:endParaRPr>
          </a:p>
        </p:txBody>
      </p:sp>
      <p:sp>
        <p:nvSpPr>
          <p:cNvPr id="24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47</a:t>
            </a:r>
          </a:p>
        </p:txBody>
      </p:sp>
      <p:sp xmlns:p="http://schemas.openxmlformats.org/presentationml/2006/main" xmlns:a="http://schemas.openxmlformats.org/drawingml/2006/main">
        <p:nvSpPr>
          <p:cNvPr id="248"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6"/>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5-4 · Apply Area Concepts to Solve Problems</a:t>
            </a:r>
            <a:endParaRPr/>
          </a:p>
        </p:txBody>
      </p:sp>
      <p:sp>
        <p:nvSpPr>
          <p:cNvPr id="338" name="Google Shape;338;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6"/>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Apply Area Concepts to Solve Problems</a:t>
            </a:r>
            <a:endParaRPr/>
          </a:p>
        </p:txBody>
      </p:sp>
      <p:sp>
        <p:nvSpPr>
          <p:cNvPr id="341" name="Google Shape;341;p46"/>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6.GR.1</a:t>
            </a:r>
            <a:endParaRPr/>
          </a:p>
        </p:txBody>
      </p:sp>
      <p:sp>
        <p:nvSpPr>
          <p:cNvPr id="342" name="Google Shape;342;p46"/>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6"/>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6"/>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6"/>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6"/>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200" u="none" cap="none" strike="noStrike">
                <a:solidFill>
                  <a:srgbClr val="14223A"/>
                </a:solidFill>
                <a:latin typeface="Arial"/>
                <a:ea typeface="Arial"/>
                <a:cs typeface="Arial"/>
                <a:sym typeface="Arial"/>
              </a:rPr>
              <a:t>I can find the area of a composite figure by decomposing it into basic shapes, including a regular polygon split into triangles, and adding or subtracting the areas.</a:t>
            </a:r>
            <a:endParaRPr/>
          </a:p>
        </p:txBody>
      </p:sp>
      <p:sp>
        <p:nvSpPr>
          <p:cNvPr id="347" name="Google Shape;347;p46"/>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6"/>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6"/>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6"/>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6"/>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steps using the words composite figure, decompose, add, and subtract.</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47</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5.4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Decompose or enclose the figure.</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Account for every region once.</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Add or subtract areas.</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2" name="Google Shape;392;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6</a:t>
            </a:r>
            <a:endParaRPr/>
          </a:p>
        </p:txBody>
      </p:sp>
      <p:sp>
        <p:nvSpPr>
          <p:cNvPr id="395" name="Google Shape;395;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5-4 · Apply Area Concepts to Solve Problems</a:t>
            </a:r>
            <a:endParaRPr/>
          </a:p>
        </p:txBody>
      </p:sp>
      <p:sp>
        <p:nvSpPr>
          <p:cNvPr id="396" name="Google Shape;396;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98" name="Google Shape;398;p48"/>
          <p:cNvSpPr txBox="1"/>
          <p:nvPr/>
        </p:nvSpPr>
        <p:spPr>
          <a:xfrm>
            <a:off x="640080" y="1385315"/>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Area of Composite Figures</a:t>
            </a:r>
            <a:endParaRPr/>
          </a:p>
        </p:txBody>
      </p:sp>
      <p:sp>
        <p:nvSpPr>
          <p:cNvPr id="399" name="Google Shape;399;p48"/>
          <p:cNvSpPr/>
          <p:nvPr/>
        </p:nvSpPr>
        <p:spPr>
          <a:xfrm>
            <a:off x="658368" y="2903219"/>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8"/>
          <p:cNvSpPr txBox="1"/>
          <p:nvPr/>
        </p:nvSpPr>
        <p:spPr>
          <a:xfrm>
            <a:off x="640080" y="3264407"/>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The total space inside a figure made of basic shapes. Formula: A = A₁ + A₂ — add the parts (or subtract a missing piece).</a:t>
            </a:r>
            <a:endParaRPr/>
          </a:p>
        </p:txBody>
      </p:sp>
      <p:sp>
        <p:nvSpPr>
          <p:cNvPr id="401" name="Google Shape;401;p48"/>
          <p:cNvSpPr/>
          <p:nvPr/>
        </p:nvSpPr>
        <p:spPr>
          <a:xfrm>
            <a:off x="640080" y="474116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8"/>
          <p:cNvSpPr/>
          <p:nvPr/>
        </p:nvSpPr>
        <p:spPr>
          <a:xfrm>
            <a:off x="640080" y="474116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8"/>
          <p:cNvSpPr txBox="1"/>
          <p:nvPr/>
        </p:nvSpPr>
        <p:spPr>
          <a:xfrm>
            <a:off x="932688" y="491490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4" name="Google Shape;404;p48"/>
          <p:cNvSpPr txBox="1"/>
          <p:nvPr/>
        </p:nvSpPr>
        <p:spPr>
          <a:xfrm>
            <a:off x="932688" y="521665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Total area = area of rectangle 1 + area of rectangle 2.</a:t>
            </a:r>
            <a:endParaRPr/>
          </a:p>
        </p:txBody>
      </p:sp>
      <p:pic>
        <p:nvPicPr>
          <p:cNvPr descr="area-of-composite-figures.png" id="405" name="Google Shape;405;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47</a:t>
            </a:r>
          </a:p>
        </p:txBody>
      </p:sp>
      <p:grpSp>
        <p:nvGrpSpPr>
          <p:cNvPr id="406" name="TEACH-5-student-move" descr="TEACH 5 · Facilitate student interactions and academic talk"/>
          <p:cNvGrpSpPr/>
          <p:nvPr/>
        </p:nvGrpSpPr>
        <p:grpSpPr>
          <a:xfrm>
            <a:off x="502920" y="5829300"/>
            <a:ext cx="11186160" cy="457200"/>
            <a:chOff x="502920" y="5829300"/>
            <a:chExt cx="11186160" cy="457200"/>
          </a:xfrm>
        </p:grpSpPr>
        <p:sp>
          <p:nvSpPr>
            <p:cNvPr id="407" name="TEACH-move-card"/>
            <p:cNvSpPr/>
            <p:nvPr/>
          </p:nvSpPr>
          <p:spPr>
            <a:xfrm>
              <a:off x="502920" y="582930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408" name="TEACH-move-rule"/>
            <p:cNvSpPr/>
            <p:nvPr/>
          </p:nvSpPr>
          <p:spPr>
            <a:xfrm>
              <a:off x="548640" y="5916168"/>
              <a:ext cx="100584" cy="283464"/>
            </a:xfrm>
            <a:prstGeom prst="roundRect">
              <a:avLst>
                <a:gd name="adj" fmla="val 50000"/>
              </a:avLst>
            </a:prstGeom>
            <a:solidFill>
              <a:srgbClr val="01708C"/>
            </a:solidFill>
            <a:ln>
              <a:noFill/>
            </a:ln>
          </p:spPr>
          <p:txBody>
            <a:bodyPr/>
            <a:lstStyle/>
            <a:p>
              <a:endParaRPr/>
            </a:p>
          </p:txBody>
        </p:sp>
        <p:sp>
          <p:nvSpPr>
            <p:cNvPr id="409" name="TEACH-move-text"/>
            <p:cNvSpPr txBox="1"/>
            <p:nvPr/>
          </p:nvSpPr>
          <p:spPr>
            <a:xfrm>
              <a:off x="822960" y="582930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0" name="Google Shape;410;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413" name="Google Shape;413;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5-4 · Apply Area Concepts to Solve Problems</a:t>
            </a:r>
            <a:endParaRPr/>
          </a:p>
        </p:txBody>
      </p:sp>
      <p:sp>
        <p:nvSpPr>
          <p:cNvPr id="414" name="Google Shape;414;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6" name="Google Shape;416;p4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Composite Figure</a:t>
            </a:r>
            <a:endParaRPr/>
          </a:p>
        </p:txBody>
      </p:sp>
      <p:sp>
        <p:nvSpPr>
          <p:cNvPr id="417" name="Google Shape;417;p49"/>
          <p:cNvSpPr/>
          <p:nvPr/>
        </p:nvSpPr>
        <p:spPr>
          <a:xfrm>
            <a:off x="658368" y="2638806"/>
            <a:ext cx="190195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shape made by putting two or more simple shapes together.</a:t>
            </a:r>
            <a:endParaRPr/>
          </a:p>
        </p:txBody>
      </p:sp>
      <p:sp>
        <p:nvSpPr>
          <p:cNvPr id="419" name="Google Shape;419;p4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2" name="Google Shape;422;p4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An L-shaped room = a 12×8 rectangle joined to a 6×5 rectangle; total area = 96 + 30 = 126 sq ft</a:t>
            </a:r>
            <a:endParaRPr/>
          </a:p>
        </p:txBody>
      </p:sp>
      <p:pic>
        <p:nvPicPr>
          <p:cNvPr descr="composite-figure.png" id="423" name="Google Shape;423;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47</a:t>
            </a:r>
          </a:p>
        </p:txBody>
      </p:sp>
      <p:sp xmlns:p="http://schemas.openxmlformats.org/presentationml/2006/main" xmlns:a="http://schemas.openxmlformats.org/drawingml/2006/main">
        <p:nvSpPr>
          <p:cNvPr id="424"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“Composite Figure”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8" name="Google Shape;428;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431" name="Google Shape;431;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5-4 · Apply Area Concepts to Solve Problems</a:t>
            </a:r>
            <a:endParaRPr/>
          </a:p>
        </p:txBody>
      </p:sp>
      <p:sp>
        <p:nvSpPr>
          <p:cNvPr id="432" name="Google Shape;432;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4" name="Google Shape;434;p50"/>
          <p:cNvSpPr txBox="1"/>
          <p:nvPr/>
        </p:nvSpPr>
        <p:spPr>
          <a:xfrm>
            <a:off x="640080" y="18501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Decompose</a:t>
            </a:r>
            <a:endParaRPr/>
          </a:p>
        </p:txBody>
      </p:sp>
      <p:sp>
        <p:nvSpPr>
          <p:cNvPr id="435" name="Google Shape;435;p50"/>
          <p:cNvSpPr/>
          <p:nvPr/>
        </p:nvSpPr>
        <p:spPr>
          <a:xfrm>
            <a:off x="658368" y="268528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50"/>
          <p:cNvSpPr txBox="1"/>
          <p:nvPr/>
        </p:nvSpPr>
        <p:spPr>
          <a:xfrm>
            <a:off x="640080" y="30464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break a shape into smaller, simpler shapes.</a:t>
            </a:r>
            <a:endParaRPr/>
          </a:p>
        </p:txBody>
      </p:sp>
      <p:sp>
        <p:nvSpPr>
          <p:cNvPr id="437" name="Google Shape;437;p50"/>
          <p:cNvSpPr/>
          <p:nvPr/>
        </p:nvSpPr>
        <p:spPr>
          <a:xfrm>
            <a:off x="640080" y="3819144"/>
            <a:ext cx="5897880" cy="15087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50"/>
          <p:cNvSpPr/>
          <p:nvPr/>
        </p:nvSpPr>
        <p:spPr>
          <a:xfrm>
            <a:off x="640080" y="3819144"/>
            <a:ext cx="91440" cy="15087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50"/>
          <p:cNvSpPr txBox="1"/>
          <p:nvPr/>
        </p:nvSpPr>
        <p:spPr>
          <a:xfrm>
            <a:off x="932688" y="39928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0" name="Google Shape;440;p50"/>
          <p:cNvSpPr txBox="1"/>
          <p:nvPr/>
        </p:nvSpPr>
        <p:spPr>
          <a:xfrm>
            <a:off x="932688" y="4294632"/>
            <a:ext cx="5330952" cy="8869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Draw a dashed line across the L-shape to split it into two rectangles — now you can find each area separately</a:t>
            </a:r>
            <a:endParaRPr/>
          </a:p>
        </p:txBody>
      </p:sp>
      <p:pic>
        <p:nvPicPr>
          <p:cNvPr descr="decompose.png" id="441" name="Google Shape;441;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47</a:t>
            </a:r>
          </a:p>
        </p:txBody>
      </p:sp>
      <p:sp xmlns:p="http://schemas.openxmlformats.org/presentationml/2006/main" xmlns:a="http://schemas.openxmlformats.org/drawingml/2006/main">
        <p:nvSpPr>
          <p:cNvPr id="44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“Decompose”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6" name="Google Shape;446;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6</a:t>
            </a:r>
            <a:endParaRPr/>
          </a:p>
        </p:txBody>
      </p:sp>
      <p:sp>
        <p:nvSpPr>
          <p:cNvPr id="449" name="Google Shape;449;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5-4 · Apply Area Concepts to Solve Problems</a:t>
            </a:r>
            <a:endParaRPr/>
          </a:p>
        </p:txBody>
      </p:sp>
      <p:sp>
        <p:nvSpPr>
          <p:cNvPr id="450" name="Google Shape;450;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2" name="Google Shape;452;p51"/>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Add</a:t>
            </a:r>
            <a:endParaRPr/>
          </a:p>
        </p:txBody>
      </p:sp>
      <p:sp>
        <p:nvSpPr>
          <p:cNvPr id="453" name="Google Shape;453;p51"/>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51"/>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Add up the areas of the smaller shapes to get the total.</a:t>
            </a:r>
            <a:endParaRPr/>
          </a:p>
        </p:txBody>
      </p:sp>
      <p:sp>
        <p:nvSpPr>
          <p:cNvPr id="455" name="Google Shape;455;p51"/>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51"/>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51"/>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8" name="Google Shape;458;p51"/>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T-shaped hallway: top rectangle = 30 sq ft, bottom rectangle = 28 sq ft → total = 30 + 28 = 58 sq ft</a:t>
            </a:r>
            <a:endParaRPr/>
          </a:p>
        </p:txBody>
      </p:sp>
      <p:pic>
        <p:nvPicPr>
          <p:cNvPr descr="add.png" id="459" name="Google Shape;459;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47</a:t>
            </a:r>
          </a:p>
        </p:txBody>
      </p:sp>
      <p:sp xmlns:p="http://schemas.openxmlformats.org/presentationml/2006/main" xmlns:a="http://schemas.openxmlformats.org/drawingml/2006/main">
        <p:nvSpPr>
          <p:cNvPr id="46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“Add”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4" name="Google Shape;464;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467" name="Google Shape;467;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5-4 · Apply Area Concepts to Solve Problems</a:t>
            </a:r>
            <a:endParaRPr/>
          </a:p>
        </p:txBody>
      </p:sp>
      <p:sp>
        <p:nvSpPr>
          <p:cNvPr id="468" name="Google Shape;468;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0" name="Google Shape;470;p52"/>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Subtract</a:t>
            </a:r>
            <a:endParaRPr/>
          </a:p>
        </p:txBody>
      </p:sp>
      <p:sp>
        <p:nvSpPr>
          <p:cNvPr id="471" name="Google Shape;471;p52"/>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2"/>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Take away the area of a missing piece from a bigger shape.</a:t>
            </a:r>
            <a:endParaRPr/>
          </a:p>
        </p:txBody>
      </p:sp>
      <p:sp>
        <p:nvSpPr>
          <p:cNvPr id="473" name="Google Shape;473;p52"/>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2"/>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2"/>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6" name="Google Shape;476;p52"/>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14×10 pool with a 6×4 cutout: 140 − 24 = 116 sq ft of water surface</a:t>
            </a:r>
            <a:endParaRPr/>
          </a:p>
        </p:txBody>
      </p:sp>
      <p:pic>
        <p:nvPicPr>
          <p:cNvPr descr="subtract.png" id="477" name="Google Shape;477;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47</a:t>
            </a:r>
          </a:p>
        </p:txBody>
      </p:sp>
      <p:sp xmlns:p="http://schemas.openxmlformats.org/presentationml/2006/main" xmlns:a="http://schemas.openxmlformats.org/drawingml/2006/main">
        <p:nvSpPr>
          <p:cNvPr id="47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“Subtract”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2" name="Google Shape;482;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85" name="Google Shape;485;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5-4 · Apply Area Concepts to Solve Problems</a:t>
            </a:r>
            <a:endParaRPr/>
          </a:p>
        </p:txBody>
      </p:sp>
      <p:sp>
        <p:nvSpPr>
          <p:cNvPr id="486" name="Google Shape;486;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8" name="Google Shape;488;p53"/>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Formula</a:t>
            </a:r>
            <a:endParaRPr/>
          </a:p>
        </p:txBody>
      </p:sp>
      <p:sp>
        <p:nvSpPr>
          <p:cNvPr id="489" name="Google Shape;489;p53"/>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3"/>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math rule written with symbols.</a:t>
            </a:r>
            <a:endParaRPr/>
          </a:p>
        </p:txBody>
      </p:sp>
      <p:sp>
        <p:nvSpPr>
          <p:cNvPr id="491" name="Google Shape;491;p53"/>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3"/>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3"/>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4" name="Google Shape;494;p53"/>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Rectangle: A = l × w; Triangle: A = ½ × b × h; use the right formula for each piece of a composite figure</a:t>
            </a:r>
            <a:endParaRPr/>
          </a:p>
        </p:txBody>
      </p:sp>
      <p:pic>
        <p:nvPicPr>
          <p:cNvPr descr="area-of-composite-figures.png" id="495" name="Google Shape;495;p53"/>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47</a:t>
            </a:r>
          </a:p>
        </p:txBody>
      </p:sp>
      <p:sp xmlns:p="http://schemas.openxmlformats.org/presentationml/2006/main" xmlns:a="http://schemas.openxmlformats.org/drawingml/2006/main">
        <p:nvSpPr>
          <p:cNvPr id="49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“Formula”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62" name="Google Shape;562;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3" name="Google Shape;563;p57"/>
          <p:cNvSpPr/>
          <p:nvPr/>
        </p:nvSpPr>
        <p:spPr>
          <a:xfrm>
            <a:off x="574786" y="4972830"/>
            <a:ext cx="5198345" cy="1292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Why does confidence in yourself and your abilities help you be successful in math?</a:t>
            </a:r>
            <a:endParaRPr b="0" i="0" sz="1400" u="none" cap="none" strike="noStrike">
              <a:solidFill>
                <a:srgbClr val="000000"/>
              </a:solidFill>
              <a:latin typeface="Arial"/>
              <a:ea typeface="Arial"/>
              <a:cs typeface="Arial"/>
              <a:sym typeface="Arial"/>
            </a:endParaRPr>
          </a:p>
        </p:txBody>
      </p:sp>
      <p:sp>
        <p:nvSpPr>
          <p:cNvPr id="564" name="Google Shape;564;p57"/>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65" name="Google Shape;565;p57"/>
          <p:cNvSpPr txBox="1"/>
          <p:nvPr/>
        </p:nvSpPr>
        <p:spPr>
          <a:xfrm>
            <a:off x="474055" y="936100"/>
            <a:ext cx="4271495"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pic>
        <p:nvPicPr>
          <p:cNvPr id="566" name="Google Shape;566;p57"/>
          <p:cNvPicPr preferRelativeResize="0"/>
          <p:nvPr/>
        </p:nvPicPr>
        <p:blipFill rotWithShape="1">
          <a:blip r:embed="rId2">
            <a:alphaModFix/>
          </a:blip>
          <a:srcRect b="0" l="0" r="0" t="0"/>
          <a:stretch/>
        </p:blipFill>
        <p:spPr>
          <a:xfrm>
            <a:off x="481450" y="4134630"/>
            <a:ext cx="5054600" cy="838200"/>
          </a:xfrm>
          <a:prstGeom prst="rect">
            <a:avLst/>
          </a:prstGeom>
          <a:noFill/>
          <a:ln>
            <a:noFill/>
          </a:ln>
        </p:spPr>
      </p:pic>
      <p:sp>
        <p:nvSpPr>
          <p:cNvPr id="567" name="Google Shape;567;p57"/>
          <p:cNvSpPr txBox="1"/>
          <p:nvPr/>
        </p:nvSpPr>
        <p:spPr>
          <a:xfrm>
            <a:off x="3341467" y="429194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pic>
        <p:nvPicPr>
          <p:cNvPr id="568" name="Google Shape;568;p57"/>
          <p:cNvPicPr preferRelativeResize="0"/>
          <p:nvPr/>
        </p:nvPicPr>
        <p:blipFill rotWithShape="1">
          <a:blip r:embed="rId3">
            <a:alphaModFix/>
          </a:blip>
          <a:srcRect b="0" l="0" r="0" t="0"/>
          <a:stretch/>
        </p:blipFill>
        <p:spPr>
          <a:xfrm>
            <a:off x="6394315" y="1326334"/>
            <a:ext cx="4452179" cy="4971600"/>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47</a:t>
            </a:r>
          </a:p>
        </p:txBody>
      </p:sp>
      <p:sp xmlns:p="http://schemas.openxmlformats.org/presentationml/2006/main" xmlns:a="http://schemas.openxmlformats.org/drawingml/2006/main">
        <p:nvSpPr>
          <p:cNvPr id="569" name="TEACH-embedded-student-prompt" descr="Student thinking and response directions"/>
          <p:cNvSpPr txBox="1"/>
          <p:nvPr/>
        </p:nvSpPr>
        <p:spPr>
          <a:xfrm>
            <a:off x="594360" y="3218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59" name="Google Shape;359;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5-4 · Apply Area Concepts to Solve Problems</a:t>
            </a:r>
            <a:endParaRPr/>
          </a:p>
        </p:txBody>
      </p:sp>
      <p:sp>
        <p:nvSpPr>
          <p:cNvPr id="360" name="Google Shape;360;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7"/>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7"/>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7"/>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7"/>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7"/>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Area of Composite Figures</a:t>
            </a:r>
            <a:endParaRPr/>
          </a:p>
        </p:txBody>
      </p:sp>
      <p:sp>
        <p:nvSpPr>
          <p:cNvPr id="367" name="Google Shape;367;p47"/>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total space inside a figure made of basic shapes</a:t>
            </a:r>
            <a:endParaRPr/>
          </a:p>
        </p:txBody>
      </p:sp>
      <p:sp>
        <p:nvSpPr>
          <p:cNvPr id="368" name="Google Shape;368;p47"/>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7"/>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7"/>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Composite Figure</a:t>
            </a:r>
            <a:endParaRPr/>
          </a:p>
        </p:txBody>
      </p:sp>
      <p:sp>
        <p:nvSpPr>
          <p:cNvPr id="371" name="Google Shape;371;p47"/>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A shape made by putting two or more simple shapes together</a:t>
            </a:r>
            <a:endParaRPr/>
          </a:p>
        </p:txBody>
      </p:sp>
      <p:sp>
        <p:nvSpPr>
          <p:cNvPr id="372" name="Google Shape;372;p47"/>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7"/>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7"/>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Decompose</a:t>
            </a:r>
            <a:endParaRPr/>
          </a:p>
        </p:txBody>
      </p:sp>
      <p:sp>
        <p:nvSpPr>
          <p:cNvPr id="375" name="Google Shape;375;p47"/>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To break a shape into smaller, simpler shapes</a:t>
            </a:r>
            <a:endParaRPr/>
          </a:p>
        </p:txBody>
      </p:sp>
      <p:sp>
        <p:nvSpPr>
          <p:cNvPr id="376" name="Google Shape;376;p47"/>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7"/>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7"/>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Add</a:t>
            </a:r>
            <a:endParaRPr/>
          </a:p>
        </p:txBody>
      </p:sp>
      <p:sp>
        <p:nvSpPr>
          <p:cNvPr id="379" name="Google Shape;379;p47"/>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Add up the areas of the smaller shapes to get the total</a:t>
            </a:r>
            <a:endParaRPr/>
          </a:p>
        </p:txBody>
      </p:sp>
      <p:sp>
        <p:nvSpPr>
          <p:cNvPr id="380" name="Google Shape;380;p47"/>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7"/>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7"/>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Subtract</a:t>
            </a:r>
            <a:endParaRPr/>
          </a:p>
        </p:txBody>
      </p:sp>
      <p:sp>
        <p:nvSpPr>
          <p:cNvPr id="383" name="Google Shape;383;p47"/>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Take away the area of a missing piece from a bigger shape</a:t>
            </a:r>
            <a:endParaRPr/>
          </a:p>
        </p:txBody>
      </p:sp>
      <p:sp>
        <p:nvSpPr>
          <p:cNvPr id="384" name="Google Shape;384;p47"/>
          <p:cNvSpPr/>
          <p:nvPr/>
        </p:nvSpPr>
        <p:spPr>
          <a:xfrm>
            <a:off x="6260576"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7"/>
          <p:cNvSpPr/>
          <p:nvPr/>
        </p:nvSpPr>
        <p:spPr>
          <a:xfrm>
            <a:off x="6260576"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7"/>
          <p:cNvSpPr txBox="1"/>
          <p:nvPr/>
        </p:nvSpPr>
        <p:spPr>
          <a:xfrm>
            <a:off x="6571472"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Formula</a:t>
            </a:r>
            <a:endParaRPr/>
          </a:p>
        </p:txBody>
      </p:sp>
      <p:sp>
        <p:nvSpPr>
          <p:cNvPr id="387" name="Google Shape;387;p47"/>
          <p:cNvSpPr txBox="1"/>
          <p:nvPr/>
        </p:nvSpPr>
        <p:spPr>
          <a:xfrm>
            <a:off x="6571472"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 math rule written with symbols</a:t>
            </a:r>
            <a:endParaRPr/>
          </a:p>
        </p:txBody>
      </p:sp>
      <p:sp>
        <p:nvSpPr>
          <p:cNvPr id="3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47</a:t>
            </a:r>
          </a:p>
        </p:txBody>
      </p:sp>
      <p:grpSp>
        <p:nvGrpSpPr>
          <p:cNvPr id="389" name="TEACH-5-student-move" descr="TEACH 5 · Facilitate student interactions and academic talk"/>
          <p:cNvGrpSpPr/>
          <p:nvPr/>
        </p:nvGrpSpPr>
        <p:grpSpPr>
          <a:xfrm>
            <a:off x="502920" y="5852160"/>
            <a:ext cx="11186160" cy="457200"/>
            <a:chOff x="502920" y="5852160"/>
            <a:chExt cx="11186160" cy="457200"/>
          </a:xfrm>
        </p:grpSpPr>
        <p:sp>
          <p:nvSpPr>
            <p:cNvPr id="390" name="TEACH-move-card"/>
            <p:cNvSpPr/>
            <p:nvPr/>
          </p:nvSpPr>
          <p:spPr>
            <a:xfrm>
              <a:off x="502920" y="585216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391" name="TEACH-move-rule"/>
            <p:cNvSpPr/>
            <p:nvPr/>
          </p:nvSpPr>
          <p:spPr>
            <a:xfrm>
              <a:off x="548640" y="5939028"/>
              <a:ext cx="100584" cy="283464"/>
            </a:xfrm>
            <a:prstGeom prst="roundRect">
              <a:avLst>
                <a:gd name="adj" fmla="val 50000"/>
              </a:avLst>
            </a:prstGeom>
            <a:solidFill>
              <a:srgbClr val="01708C"/>
            </a:solidFill>
            <a:ln>
              <a:noFill/>
            </a:ln>
          </p:spPr>
          <p:txBody>
            <a:bodyPr/>
            <a:lstStyle/>
            <a:p>
              <a:endParaRPr/>
            </a:p>
          </p:txBody>
        </p:sp>
        <p:sp>
          <p:nvSpPr>
            <p:cNvPr id="392" name="TEACH-move-text"/>
            <p:cNvSpPr txBox="1"/>
            <p:nvPr/>
          </p:nvSpPr>
          <p:spPr>
            <a:xfrm>
              <a:off x="822960" y="585216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cxnSp>
        <p:nvCxnSpPr>
          <p:cNvPr id="583" name="Google Shape;583;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4" name="Google Shape;584;p59"/>
          <p:cNvSpPr/>
          <p:nvPr/>
        </p:nvSpPr>
        <p:spPr>
          <a:xfrm>
            <a:off x="597504" y="5769440"/>
            <a:ext cx="9760632"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do you already know about the problem?</a:t>
            </a:r>
            <a:endParaRPr b="0" i="0" sz="1400" u="none" cap="none" strike="noStrike">
              <a:solidFill>
                <a:srgbClr val="000000"/>
              </a:solidFill>
              <a:latin typeface="Arial"/>
              <a:ea typeface="Arial"/>
              <a:cs typeface="Arial"/>
              <a:sym typeface="Arial"/>
            </a:endParaRPr>
          </a:p>
        </p:txBody>
      </p:sp>
      <p:pic>
        <p:nvPicPr>
          <p:cNvPr id="585" name="Google Shape;585;p59"/>
          <p:cNvPicPr preferRelativeResize="0"/>
          <p:nvPr/>
        </p:nvPicPr>
        <p:blipFill rotWithShape="1">
          <a:blip r:embed="rId3">
            <a:alphaModFix/>
          </a:blip>
          <a:srcRect b="0" l="0" r="0" t="0"/>
          <a:stretch/>
        </p:blipFill>
        <p:spPr>
          <a:xfrm>
            <a:off x="8590269" y="1638629"/>
            <a:ext cx="3267075" cy="2762250"/>
          </a:xfrm>
          <a:prstGeom prst="rect">
            <a:avLst/>
          </a:prstGeom>
          <a:noFill/>
          <a:ln>
            <a:noFill/>
          </a:ln>
        </p:spPr>
      </p:pic>
      <p:sp>
        <p:nvSpPr>
          <p:cNvPr id="586" name="Google Shape;586;p59"/>
          <p:cNvSpPr txBox="1"/>
          <p:nvPr/>
        </p:nvSpPr>
        <p:spPr>
          <a:xfrm>
            <a:off x="486000" y="936000"/>
            <a:ext cx="6818828" cy="2247474"/>
          </a:xfrm>
          <a:prstGeom prst="rect">
            <a:avLst/>
          </a:prstGeom>
          <a:blipFill rotWithShape="1">
            <a:blip r:embed="rId4">
              <a:alphaModFix/>
            </a:blip>
            <a:stretch>
              <a:fillRect b="-6250" l="-1878" r="-358" t="-298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87" name="Google Shape;587;p59"/>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Stop Sign</a:t>
            </a:r>
            <a:endParaRPr b="0" i="0" sz="1400" u="none" cap="none" strike="noStrike">
              <a:solidFill>
                <a:srgbClr val="000000"/>
              </a:solidFill>
              <a:latin typeface="Arial"/>
              <a:ea typeface="Arial"/>
              <a:cs typeface="Arial"/>
              <a:sym typeface="Arial"/>
            </a:endParaRPr>
          </a:p>
        </p:txBody>
      </p:sp>
      <p:pic>
        <p:nvPicPr>
          <p:cNvPr id="588" name="Google Shape;588;p59"/>
          <p:cNvPicPr preferRelativeResize="0"/>
          <p:nvPr/>
        </p:nvPicPr>
        <p:blipFill rotWithShape="1">
          <a:blip r:embed="rId5">
            <a:alphaModFix/>
          </a:blip>
          <a:srcRect b="0" l="0" r="0" t="0"/>
          <a:stretch/>
        </p:blipFill>
        <p:spPr>
          <a:xfrm>
            <a:off x="486000" y="4946152"/>
            <a:ext cx="5054600" cy="838200"/>
          </a:xfrm>
          <a:prstGeom prst="rect">
            <a:avLst/>
          </a:prstGeom>
          <a:noFill/>
          <a:ln>
            <a:noFill/>
          </a:ln>
        </p:spPr>
      </p:pic>
      <p:sp>
        <p:nvSpPr>
          <p:cNvPr id="589" name="Google Shape;589;p59"/>
          <p:cNvSpPr txBox="1"/>
          <p:nvPr/>
        </p:nvSpPr>
        <p:spPr>
          <a:xfrm>
            <a:off x="3283237" y="5103470"/>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Analyzing</a:t>
            </a:r>
            <a:endParaRPr b="0" i="0" sz="2800" u="none" cap="none" strike="noStrike">
              <a:solidFill>
                <a:schemeClr val="dk1"/>
              </a:solidFill>
              <a:latin typeface="Arial"/>
              <a:ea typeface="Arial"/>
              <a:cs typeface="Arial"/>
              <a:sym typeface="Arial"/>
            </a:endParaRPr>
          </a:p>
        </p:txBody>
      </p:sp>
      <p:sp>
        <p:nvSpPr>
          <p:cNvPr id="59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47</a:t>
            </a:r>
          </a:p>
        </p:txBody>
      </p:sp>
      <p:sp xmlns:p="http://schemas.openxmlformats.org/presentationml/2006/main" xmlns:a="http://schemas.openxmlformats.org/drawingml/2006/main">
        <p:nvSpPr>
          <p:cNvPr id="591" name="TEACH-embedded-student-prompt" descr="Student thinking and response directions"/>
          <p:cNvSpPr txBox="1"/>
          <p:nvPr/>
        </p:nvSpPr>
        <p:spPr>
          <a:xfrm>
            <a:off x="594360" y="40416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cxnSp>
        <p:nvCxnSpPr>
          <p:cNvPr id="605" name="Google Shape;605;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6" name="Google Shape;606;p61"/>
          <p:cNvSpPr txBox="1"/>
          <p:nvPr/>
        </p:nvSpPr>
        <p:spPr>
          <a:xfrm>
            <a:off x="953847" y="348649"/>
            <a:ext cx="533881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1" i="0" sz="1500" u="none" cap="none" strike="noStrike">
              <a:solidFill>
                <a:srgbClr val="782DA0"/>
              </a:solidFill>
              <a:latin typeface="Arial"/>
              <a:ea typeface="Arial"/>
              <a:cs typeface="Arial"/>
              <a:sym typeface="Arial"/>
            </a:endParaRPr>
          </a:p>
        </p:txBody>
      </p:sp>
      <p:pic>
        <p:nvPicPr>
          <p:cNvPr id="607" name="Google Shape;607;p61"/>
          <p:cNvPicPr preferRelativeResize="0"/>
          <p:nvPr/>
        </p:nvPicPr>
        <p:blipFill rotWithShape="1">
          <a:blip r:embed="rId3">
            <a:alphaModFix/>
          </a:blip>
          <a:srcRect b="0" l="0" r="0" t="0"/>
          <a:stretch/>
        </p:blipFill>
        <p:spPr>
          <a:xfrm>
            <a:off x="543714" y="414982"/>
            <a:ext cx="353635" cy="340537"/>
          </a:xfrm>
          <a:prstGeom prst="rect">
            <a:avLst/>
          </a:prstGeom>
          <a:noFill/>
          <a:ln>
            <a:noFill/>
          </a:ln>
        </p:spPr>
      </p:pic>
      <p:sp>
        <p:nvSpPr>
          <p:cNvPr id="608" name="Google Shape;608;p61"/>
          <p:cNvSpPr txBox="1"/>
          <p:nvPr/>
        </p:nvSpPr>
        <p:spPr>
          <a:xfrm>
            <a:off x="486000" y="5220000"/>
            <a:ext cx="6869774" cy="10233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decompose it into 8 triangles.</a:t>
            </a:r>
            <a:endParaRPr b="0" i="0" sz="2800" u="none" cap="none" strike="noStrike">
              <a:solidFill>
                <a:srgbClr val="595959"/>
              </a:solidFill>
              <a:latin typeface="Arial"/>
              <a:ea typeface="Arial"/>
              <a:cs typeface="Arial"/>
              <a:sym typeface="Arial"/>
            </a:endParaRPr>
          </a:p>
        </p:txBody>
      </p:sp>
      <p:sp>
        <p:nvSpPr>
          <p:cNvPr id="609" name="Google Shape;609;p61"/>
          <p:cNvSpPr txBox="1"/>
          <p:nvPr/>
        </p:nvSpPr>
        <p:spPr>
          <a:xfrm>
            <a:off x="484563" y="936100"/>
            <a:ext cx="6708717" cy="1971692"/>
          </a:xfrm>
          <a:prstGeom prst="rect">
            <a:avLst/>
          </a:prstGeom>
          <a:blipFill rotWithShape="1">
            <a:blip r:embed="rId4">
              <a:alphaModFix/>
            </a:blip>
            <a:stretch>
              <a:fillRect b="-8978" l="-1817" r="-1998" t="-340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10" name="Google Shape;610;p61"/>
          <p:cNvSpPr txBox="1"/>
          <p:nvPr/>
        </p:nvSpPr>
        <p:spPr>
          <a:xfrm>
            <a:off x="484563" y="2979270"/>
            <a:ext cx="6135693" cy="13184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decompose the octagon into shapes that you can find the area of?</a:t>
            </a:r>
            <a:endParaRPr b="0" i="0" sz="1400" u="none" cap="none" strike="noStrike">
              <a:solidFill>
                <a:srgbClr val="000000"/>
              </a:solidFill>
              <a:latin typeface="Arial"/>
              <a:ea typeface="Arial"/>
              <a:cs typeface="Arial"/>
              <a:sym typeface="Arial"/>
            </a:endParaRPr>
          </a:p>
        </p:txBody>
      </p:sp>
      <p:pic>
        <p:nvPicPr>
          <p:cNvPr id="611" name="Google Shape;611;p61"/>
          <p:cNvPicPr preferRelativeResize="0"/>
          <p:nvPr/>
        </p:nvPicPr>
        <p:blipFill rotWithShape="1">
          <a:blip r:embed="rId5">
            <a:alphaModFix/>
          </a:blip>
          <a:srcRect b="0" l="0" r="0" t="0"/>
          <a:stretch/>
        </p:blipFill>
        <p:spPr>
          <a:xfrm>
            <a:off x="8590269" y="1638629"/>
            <a:ext cx="3267075" cy="2762250"/>
          </a:xfrm>
          <a:prstGeom prst="rect">
            <a:avLst/>
          </a:prstGeom>
          <a:noFill/>
          <a:ln>
            <a:noFill/>
          </a:ln>
        </p:spPr>
      </p:pic>
      <p:sp>
        <p:nvSpPr>
          <p:cNvPr id="61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47</a:t>
            </a:r>
          </a:p>
        </p:txBody>
      </p:sp>
      <p:sp>
        <p:nvSpPr>
          <p:cNvPr id="613" name="EWL-COVER-1"/>
          <p:cNvSpPr/>
          <p:nvPr/>
        </p:nvSpPr>
        <p:spPr>
          <a:xfrm>
            <a:off x="431136" y="5165136"/>
            <a:ext cx="6979502" cy="1133094"/>
          </a:xfrm>
          <a:prstGeom prst="rect">
            <a:avLst/>
          </a:prstGeom>
          <a:solidFill>
            <a:srgbClr val="FFFFFF"/>
          </a:solidFill>
          <a:ln>
            <a:noFill/>
          </a:ln>
        </p:spPr>
        <p:txBody>
          <a:bodyPr/>
          <a:lstStyle/>
          <a:p/>
        </p:txBody>
      </p:sp>
      <p:sp>
        <p:nvSpPr>
          <p:cNvPr id="61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xmlns:p="http://schemas.openxmlformats.org/presentationml/2006/main" xmlns:a="http://schemas.openxmlformats.org/drawingml/2006/main">
        <p:nvSpPr>
          <p:cNvPr id="615"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 both 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cxnSp>
        <p:nvCxnSpPr>
          <p:cNvPr id="625" name="Google Shape;625;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6" name="Google Shape;626;p63"/>
          <p:cNvSpPr txBox="1"/>
          <p:nvPr/>
        </p:nvSpPr>
        <p:spPr>
          <a:xfrm>
            <a:off x="486000" y="5128560"/>
            <a:ext cx="7503646" cy="10625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Why is the height of one triangle 18 inches?</a:t>
            </a:r>
            <a:endParaRPr b="1" i="0" sz="2800" u="none" cap="none" strike="noStrike">
              <a:solidFill>
                <a:schemeClr val="lt1"/>
              </a:solidFill>
              <a:highlight>
                <a:srgbClr val="1E2682"/>
              </a:highlight>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pic>
        <p:nvPicPr>
          <p:cNvPr id="627" name="Google Shape;627;p63"/>
          <p:cNvPicPr preferRelativeResize="0"/>
          <p:nvPr/>
        </p:nvPicPr>
        <p:blipFill rotWithShape="1">
          <a:blip r:embed="rId3">
            <a:alphaModFix/>
          </a:blip>
          <a:srcRect b="0" l="0" r="0" t="0"/>
          <a:stretch/>
        </p:blipFill>
        <p:spPr>
          <a:xfrm>
            <a:off x="8076417" y="1391327"/>
            <a:ext cx="3286125" cy="3086100"/>
          </a:xfrm>
          <a:prstGeom prst="rect">
            <a:avLst/>
          </a:prstGeom>
          <a:noFill/>
          <a:ln>
            <a:noFill/>
          </a:ln>
        </p:spPr>
      </p:pic>
      <p:sp>
        <p:nvSpPr>
          <p:cNvPr id="628" name="Google Shape;628;p63"/>
          <p:cNvSpPr txBox="1"/>
          <p:nvPr/>
        </p:nvSpPr>
        <p:spPr>
          <a:xfrm>
            <a:off x="486000" y="936101"/>
            <a:ext cx="7123241" cy="301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decompose the octagon into 8 congruent triangles.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Because each side has the same length, the octagon is a regular polygon. You can decompose a regular polygon into triangles to determine the area.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629" name="Google Shape;629;p63"/>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Stop Sign</a:t>
            </a:r>
            <a:endParaRPr b="0" i="0" sz="1400" u="none" cap="none" strike="noStrike">
              <a:solidFill>
                <a:srgbClr val="000000"/>
              </a:solidFill>
              <a:latin typeface="Arial"/>
              <a:ea typeface="Arial"/>
              <a:cs typeface="Arial"/>
              <a:sym typeface="Arial"/>
            </a:endParaRPr>
          </a:p>
        </p:txBody>
      </p:sp>
      <p:sp>
        <p:nvSpPr>
          <p:cNvPr id="6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47</a:t>
            </a:r>
          </a:p>
        </p:txBody>
      </p:sp>
      <p:sp xmlns:p="http://schemas.openxmlformats.org/presentationml/2006/main" xmlns:a="http://schemas.openxmlformats.org/drawingml/2006/main">
        <p:nvSpPr>
          <p:cNvPr id="631" name="TEACH-embedded-student-prompt" descr="Student thinking and response directions"/>
          <p:cNvSpPr txBox="1"/>
          <p:nvPr/>
        </p:nvSpPr>
        <p:spPr>
          <a:xfrm>
            <a:off x="594360" y="42245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Point to a base and its matching</a:t>
            </a:r>
            <a:endParaRPr lang="en-US" sz="2000"/>
          </a:p>
          <a:p>
            <a:pPr>
              <a:lnSpc>
                <a:spcPts val="2400"/>
              </a:lnSpc>
              <a:buNone/>
            </a:pPr>
            <a:r>
              <a:rPr lang="en-US" sz="2000">
                <a:solidFill>
                  <a:srgbClr val="174D60"/>
                </a:solidFill>
                <a:latin typeface="Arial"/>
              </a:rPr>
              <a:t>height. Explain how your method uses them.</a:t>
            </a:r>
            <a:endParaRPr lang="en-US"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cxnSp>
        <p:nvCxnSpPr>
          <p:cNvPr id="645" name="Google Shape;645;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6" name="Google Shape;646;p65"/>
          <p:cNvSpPr txBox="1"/>
          <p:nvPr/>
        </p:nvSpPr>
        <p:spPr>
          <a:xfrm>
            <a:off x="486000" y="5220000"/>
            <a:ext cx="10685118" cy="10233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They are the same because each side is the base of one triangle.</a:t>
            </a:r>
            <a:endParaRPr b="0" i="0" sz="2800" u="none" cap="none" strike="noStrike">
              <a:solidFill>
                <a:srgbClr val="595959"/>
              </a:solidFill>
              <a:latin typeface="Arial"/>
              <a:ea typeface="Arial"/>
              <a:cs typeface="Arial"/>
              <a:sym typeface="Arial"/>
            </a:endParaRPr>
          </a:p>
        </p:txBody>
      </p:sp>
      <p:pic>
        <p:nvPicPr>
          <p:cNvPr id="647" name="Google Shape;647;p65"/>
          <p:cNvPicPr preferRelativeResize="0"/>
          <p:nvPr/>
        </p:nvPicPr>
        <p:blipFill rotWithShape="1">
          <a:blip r:embed="rId3">
            <a:alphaModFix/>
          </a:blip>
          <a:srcRect b="0" l="0" r="0" t="0"/>
          <a:stretch/>
        </p:blipFill>
        <p:spPr>
          <a:xfrm>
            <a:off x="8673062" y="1409083"/>
            <a:ext cx="2714625" cy="3067050"/>
          </a:xfrm>
          <a:prstGeom prst="rect">
            <a:avLst/>
          </a:prstGeom>
          <a:noFill/>
          <a:ln>
            <a:noFill/>
          </a:ln>
        </p:spPr>
      </p:pic>
      <p:sp>
        <p:nvSpPr>
          <p:cNvPr id="648" name="Google Shape;648;p65"/>
          <p:cNvSpPr txBox="1"/>
          <p:nvPr/>
        </p:nvSpPr>
        <p:spPr>
          <a:xfrm>
            <a:off x="484565" y="936100"/>
            <a:ext cx="6754435" cy="3007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octagon can be decomposed into 8 congruent triangles.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do you notice about the number of congruent triangles and the number of sides of the original polygon? Why do you think this is?</a:t>
            </a:r>
            <a:endParaRPr b="0" i="0" sz="1400" u="none" cap="none" strike="noStrike">
              <a:solidFill>
                <a:srgbClr val="000000"/>
              </a:solidFill>
              <a:latin typeface="Arial"/>
              <a:ea typeface="Arial"/>
              <a:cs typeface="Arial"/>
              <a:sym typeface="Arial"/>
            </a:endParaRPr>
          </a:p>
        </p:txBody>
      </p:sp>
      <p:sp>
        <p:nvSpPr>
          <p:cNvPr id="649" name="Google Shape;649;p65"/>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Stop Sign</a:t>
            </a:r>
            <a:endParaRPr b="0" i="0" sz="1400" u="none" cap="none" strike="noStrike">
              <a:solidFill>
                <a:srgbClr val="000000"/>
              </a:solidFill>
              <a:latin typeface="Arial"/>
              <a:ea typeface="Arial"/>
              <a:cs typeface="Arial"/>
              <a:sym typeface="Arial"/>
            </a:endParaRPr>
          </a:p>
        </p:txBody>
      </p:sp>
      <p:sp>
        <p:nvSpPr>
          <p:cNvPr id="6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47</a:t>
            </a:r>
          </a:p>
        </p:txBody>
      </p:sp>
      <p:sp>
        <p:nvSpPr>
          <p:cNvPr id="651" name="EWL-COVER-1"/>
          <p:cNvSpPr/>
          <p:nvPr/>
        </p:nvSpPr>
        <p:spPr>
          <a:xfrm>
            <a:off x="431136" y="5165136"/>
            <a:ext cx="10794846" cy="1133094"/>
          </a:xfrm>
          <a:prstGeom prst="rect">
            <a:avLst/>
          </a:prstGeom>
          <a:solidFill>
            <a:srgbClr val="FFFFFF"/>
          </a:solidFill>
          <a:ln>
            <a:noFill/>
          </a:ln>
        </p:spPr>
        <p:txBody>
          <a:bodyPr/>
          <a:lstStyle/>
          <a:p/>
        </p:txBody>
      </p:sp>
      <p:sp xmlns:p="http://schemas.openxmlformats.org/presentationml/2006/main" xmlns:a="http://schemas.openxmlformats.org/drawingml/2006/main">
        <p:nvSpPr>
          <p:cNvPr id="652" name="TEACH-embedded-student-prompt" descr="Student thinking and response directions"/>
          <p:cNvSpPr txBox="1"/>
          <p:nvPr/>
        </p:nvSpPr>
        <p:spPr>
          <a:xfrm>
            <a:off x="594360" y="422452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cxnSp>
        <p:nvCxnSpPr>
          <p:cNvPr id="665" name="Google Shape;665;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6" name="Google Shape;666;p67"/>
          <p:cNvSpPr txBox="1"/>
          <p:nvPr/>
        </p:nvSpPr>
        <p:spPr>
          <a:xfrm>
            <a:off x="486000" y="4860000"/>
            <a:ext cx="10685118" cy="14377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find the area of one triangle and then multiply the area by 8, or the number of triangles.</a:t>
            </a:r>
            <a:endParaRPr b="0" i="0" sz="2800" u="none" cap="none" strike="noStrike">
              <a:solidFill>
                <a:srgbClr val="595959"/>
              </a:solidFill>
              <a:latin typeface="Arial"/>
              <a:ea typeface="Arial"/>
              <a:cs typeface="Arial"/>
              <a:sym typeface="Arial"/>
            </a:endParaRPr>
          </a:p>
        </p:txBody>
      </p:sp>
      <p:pic>
        <p:nvPicPr>
          <p:cNvPr id="667" name="Google Shape;667;p67"/>
          <p:cNvPicPr preferRelativeResize="0"/>
          <p:nvPr/>
        </p:nvPicPr>
        <p:blipFill rotWithShape="1">
          <a:blip r:embed="rId3">
            <a:alphaModFix/>
          </a:blip>
          <a:srcRect b="0" l="0" r="0" t="0"/>
          <a:stretch/>
        </p:blipFill>
        <p:spPr>
          <a:xfrm>
            <a:off x="8673062" y="1409083"/>
            <a:ext cx="2714625" cy="3067050"/>
          </a:xfrm>
          <a:prstGeom prst="rect">
            <a:avLst/>
          </a:prstGeom>
          <a:noFill/>
          <a:ln>
            <a:noFill/>
          </a:ln>
        </p:spPr>
      </p:pic>
      <p:sp>
        <p:nvSpPr>
          <p:cNvPr id="668" name="Google Shape;668;p67"/>
          <p:cNvSpPr txBox="1"/>
          <p:nvPr/>
        </p:nvSpPr>
        <p:spPr>
          <a:xfrm>
            <a:off x="484565" y="936100"/>
            <a:ext cx="6440491" cy="275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octagon can be decomposed into 8 congruent triangles. Each side is the base of a triangle.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determine the area of the octagon using the triangles?</a:t>
            </a:r>
            <a:endParaRPr b="0" i="0" sz="1400" u="none" cap="none" strike="noStrike">
              <a:solidFill>
                <a:srgbClr val="000000"/>
              </a:solidFill>
              <a:latin typeface="Arial"/>
              <a:ea typeface="Arial"/>
              <a:cs typeface="Arial"/>
              <a:sym typeface="Arial"/>
            </a:endParaRPr>
          </a:p>
        </p:txBody>
      </p:sp>
      <p:sp>
        <p:nvSpPr>
          <p:cNvPr id="669" name="Google Shape;669;p67"/>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Stop Sign</a:t>
            </a:r>
            <a:endParaRPr b="0" i="0" sz="1400" u="none" cap="none" strike="noStrike">
              <a:solidFill>
                <a:srgbClr val="000000"/>
              </a:solidFill>
              <a:latin typeface="Arial"/>
              <a:ea typeface="Arial"/>
              <a:cs typeface="Arial"/>
              <a:sym typeface="Arial"/>
            </a:endParaRPr>
          </a:p>
        </p:txBody>
      </p:sp>
      <p:sp>
        <p:nvSpPr>
          <p:cNvPr id="6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47</a:t>
            </a:r>
          </a:p>
        </p:txBody>
      </p:sp>
      <p:sp>
        <p:nvSpPr>
          <p:cNvPr id="671" name="EWL-COVER-1"/>
          <p:cNvSpPr/>
          <p:nvPr/>
        </p:nvSpPr>
        <p:spPr>
          <a:xfrm>
            <a:off x="431136" y="4805136"/>
            <a:ext cx="10794846" cy="1547512"/>
          </a:xfrm>
          <a:prstGeom prst="rect">
            <a:avLst/>
          </a:prstGeom>
          <a:solidFill>
            <a:srgbClr val="FFFFFF"/>
          </a:solidFill>
          <a:ln>
            <a:noFill/>
          </a:ln>
        </p:spPr>
        <p:txBody>
          <a:bodyPr/>
          <a:lstStyle/>
          <a:p/>
        </p:txBody>
      </p:sp>
      <p:sp xmlns:p="http://schemas.openxmlformats.org/presentationml/2006/main" xmlns:a="http://schemas.openxmlformats.org/drawingml/2006/main">
        <p:nvSpPr>
          <p:cNvPr id="672" name="TEACH-embedded-student-prompt" descr="Student thinking and response directions"/>
          <p:cNvSpPr txBox="1"/>
          <p:nvPr/>
        </p:nvSpPr>
        <p:spPr>
          <a:xfrm>
            <a:off x="594360" y="385876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7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cxnSp>
        <p:nvCxnSpPr>
          <p:cNvPr id="675" name="Google Shape;675;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6" name="Google Shape;676;p68"/>
          <p:cNvSpPr txBox="1"/>
          <p:nvPr/>
        </p:nvSpPr>
        <p:spPr>
          <a:xfrm>
            <a:off x="484566" y="936101"/>
            <a:ext cx="8586282" cy="6197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use the triangles to find the area of the octagon.</a:t>
            </a:r>
            <a:endParaRPr b="0" i="0" sz="1400" u="none" cap="none" strike="noStrike">
              <a:solidFill>
                <a:srgbClr val="000000"/>
              </a:solidFill>
              <a:latin typeface="Arial"/>
              <a:ea typeface="Arial"/>
              <a:cs typeface="Arial"/>
              <a:sym typeface="Arial"/>
            </a:endParaRPr>
          </a:p>
        </p:txBody>
      </p:sp>
      <p:sp>
        <p:nvSpPr>
          <p:cNvPr id="677" name="Google Shape;677;p68"/>
          <p:cNvSpPr txBox="1"/>
          <p:nvPr/>
        </p:nvSpPr>
        <p:spPr>
          <a:xfrm>
            <a:off x="484566" y="1555844"/>
            <a:ext cx="5635914" cy="3345340"/>
          </a:xfrm>
          <a:prstGeom prst="rect">
            <a:avLst/>
          </a:prstGeom>
          <a:blipFill rotWithShape="1">
            <a:blip r:embed="rId3">
              <a:alphaModFix/>
            </a:blip>
            <a:stretch>
              <a:fillRect b="-5647" l="-2162" r="0" t="-182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678" name="Google Shape;678;p68"/>
          <p:cNvPicPr preferRelativeResize="0"/>
          <p:nvPr/>
        </p:nvPicPr>
        <p:blipFill rotWithShape="1">
          <a:blip r:embed="rId4">
            <a:alphaModFix/>
          </a:blip>
          <a:srcRect b="0" l="0" r="0" t="0"/>
          <a:stretch/>
        </p:blipFill>
        <p:spPr>
          <a:xfrm>
            <a:off x="8673062" y="1409083"/>
            <a:ext cx="2714625" cy="3067050"/>
          </a:xfrm>
          <a:prstGeom prst="rect">
            <a:avLst/>
          </a:prstGeom>
          <a:noFill/>
          <a:ln>
            <a:noFill/>
          </a:ln>
        </p:spPr>
      </p:pic>
      <p:pic>
        <p:nvPicPr>
          <p:cNvPr id="679" name="Google Shape;679;p68"/>
          <p:cNvPicPr preferRelativeResize="0"/>
          <p:nvPr/>
        </p:nvPicPr>
        <p:blipFill rotWithShape="1">
          <a:blip r:embed="rId5">
            <a:alphaModFix/>
          </a:blip>
          <a:srcRect b="0" l="0" r="0" t="0"/>
          <a:stretch/>
        </p:blipFill>
        <p:spPr>
          <a:xfrm>
            <a:off x="484566" y="4901184"/>
            <a:ext cx="5305425" cy="1304925"/>
          </a:xfrm>
          <a:prstGeom prst="rect">
            <a:avLst/>
          </a:prstGeom>
          <a:noFill/>
          <a:ln>
            <a:noFill/>
          </a:ln>
        </p:spPr>
      </p:pic>
      <p:sp>
        <p:nvSpPr>
          <p:cNvPr id="680" name="Google Shape;680;p68"/>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Stop Sign</a:t>
            </a:r>
            <a:endParaRPr b="0" i="0" sz="1400" u="none" cap="none" strike="noStrike">
              <a:solidFill>
                <a:srgbClr val="000000"/>
              </a:solidFill>
              <a:latin typeface="Arial"/>
              <a:ea typeface="Arial"/>
              <a:cs typeface="Arial"/>
              <a:sym typeface="Arial"/>
            </a:endParaRPr>
          </a:p>
        </p:txBody>
      </p:sp>
      <p:sp>
        <p:nvSpPr>
          <p:cNvPr id="6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47</a:t>
            </a:r>
          </a:p>
        </p:txBody>
      </p:sp>
      <p:sp xmlns:p="http://schemas.openxmlformats.org/presentationml/2006/main" xmlns:a="http://schemas.openxmlformats.org/drawingml/2006/main">
        <p:nvSpPr>
          <p:cNvPr id="682" name="TEACH-embedded-student-prompt" descr="Student thinking and response directions"/>
          <p:cNvSpPr txBox="1"/>
          <p:nvPr/>
        </p:nvSpPr>
        <p:spPr>
          <a:xfrm>
            <a:off x="6111240" y="5413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a base and its matching height.</a:t>
            </a:r>
            <a:endParaRPr lang="en-US" sz="2000"/>
          </a:p>
          <a:p>
            <a:pPr>
              <a:lnSpc>
                <a:spcPts val="2400"/>
              </a:lnSpc>
              <a:buNone/>
            </a:pPr>
            <a:r>
              <a:rPr lang="en-US" sz="2000">
                <a:solidFill>
                  <a:srgbClr val="174D60"/>
                </a:solidFill>
                <a:latin typeface="Arial"/>
              </a:rPr>
              <a:t>Explain how your method uses them.</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cxnSp>
        <p:nvCxnSpPr>
          <p:cNvPr id="686" name="Google Shape;686;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7" name="Google Shape;687;p69"/>
          <p:cNvSpPr txBox="1"/>
          <p:nvPr/>
        </p:nvSpPr>
        <p:spPr>
          <a:xfrm>
            <a:off x="484566" y="936100"/>
            <a:ext cx="6708714" cy="1624219"/>
          </a:xfrm>
          <a:prstGeom prst="rect">
            <a:avLst/>
          </a:prstGeom>
          <a:blipFill rotWithShape="1">
            <a:blip r:embed="rId3">
              <a:alphaModFix/>
            </a:blip>
            <a:stretch>
              <a:fillRect b="-46991" l="-1817" r="-1998" t="-413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88" name="Google Shape;688;p69"/>
          <p:cNvSpPr txBox="1"/>
          <p:nvPr/>
        </p:nvSpPr>
        <p:spPr>
          <a:xfrm>
            <a:off x="484564" y="3698543"/>
            <a:ext cx="7062645" cy="954107"/>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The area of the stop sign is approximately 1,073 square inches. </a:t>
            </a:r>
            <a:endParaRPr b="0" i="0" sz="1400" u="none" cap="none" strike="noStrike">
              <a:solidFill>
                <a:srgbClr val="000000"/>
              </a:solidFill>
              <a:latin typeface="Arial"/>
              <a:ea typeface="Arial"/>
              <a:cs typeface="Arial"/>
              <a:sym typeface="Arial"/>
            </a:endParaRPr>
          </a:p>
        </p:txBody>
      </p:sp>
      <p:pic>
        <p:nvPicPr>
          <p:cNvPr id="689" name="Google Shape;689;p69"/>
          <p:cNvPicPr preferRelativeResize="0"/>
          <p:nvPr/>
        </p:nvPicPr>
        <p:blipFill rotWithShape="1">
          <a:blip r:embed="rId4">
            <a:alphaModFix/>
          </a:blip>
          <a:srcRect b="0" l="0" r="0" t="0"/>
          <a:stretch/>
        </p:blipFill>
        <p:spPr>
          <a:xfrm>
            <a:off x="8590269" y="1638629"/>
            <a:ext cx="3267075" cy="2762250"/>
          </a:xfrm>
          <a:prstGeom prst="rect">
            <a:avLst/>
          </a:prstGeom>
          <a:noFill/>
          <a:ln>
            <a:noFill/>
          </a:ln>
        </p:spPr>
      </p:pic>
      <p:sp>
        <p:nvSpPr>
          <p:cNvPr id="690" name="Google Shape;690;p69"/>
          <p:cNvSpPr txBox="1"/>
          <p:nvPr/>
        </p:nvSpPr>
        <p:spPr>
          <a:xfrm>
            <a:off x="486000" y="316800"/>
            <a:ext cx="491994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Stop Sign</a:t>
            </a:r>
            <a:endParaRPr b="0" i="0" sz="1400" u="none" cap="none" strike="noStrike">
              <a:solidFill>
                <a:srgbClr val="000000"/>
              </a:solidFill>
              <a:latin typeface="Arial"/>
              <a:ea typeface="Arial"/>
              <a:cs typeface="Arial"/>
              <a:sym typeface="Arial"/>
            </a:endParaRPr>
          </a:p>
        </p:txBody>
      </p:sp>
      <p:sp>
        <p:nvSpPr>
          <p:cNvPr id="69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47</a:t>
            </a:r>
          </a:p>
        </p:txBody>
      </p:sp>
      <p:sp xmlns:p="http://schemas.openxmlformats.org/presentationml/2006/main" xmlns:a="http://schemas.openxmlformats.org/drawingml/2006/main">
        <p:nvSpPr>
          <p:cNvPr id="692"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70"/>
          <p:cNvSpPr txBox="1"/>
          <p:nvPr/>
        </p:nvSpPr>
        <p:spPr>
          <a:xfrm>
            <a:off x="7143719" y="5945966"/>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696" name="Google Shape;696;p70"/>
          <p:cNvSpPr/>
          <p:nvPr/>
        </p:nvSpPr>
        <p:spPr>
          <a:xfrm>
            <a:off x="567559" y="2349730"/>
            <a:ext cx="7780913" cy="392857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697" name="Google Shape;697;p70"/>
          <p:cNvSpPr txBox="1"/>
          <p:nvPr/>
        </p:nvSpPr>
        <p:spPr>
          <a:xfrm>
            <a:off x="484564" y="927529"/>
            <a:ext cx="7863908" cy="1422201"/>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With the given information, can you compose or decompose the octagon into different shapes to find the area? Why or why not?</a:t>
            </a:r>
            <a:endParaRPr b="0" i="0" sz="1400" u="none" cap="none" strike="noStrike">
              <a:solidFill>
                <a:srgbClr val="000000"/>
              </a:solidFill>
              <a:latin typeface="Arial"/>
              <a:ea typeface="Arial"/>
              <a:cs typeface="Arial"/>
              <a:sym typeface="Arial"/>
            </a:endParaRPr>
          </a:p>
        </p:txBody>
      </p:sp>
      <p:sp>
        <p:nvSpPr>
          <p:cNvPr id="698" name="Google Shape;698;p7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pic>
        <p:nvPicPr>
          <p:cNvPr id="699" name="Google Shape;699;p70"/>
          <p:cNvPicPr preferRelativeResize="0"/>
          <p:nvPr/>
        </p:nvPicPr>
        <p:blipFill rotWithShape="1">
          <a:blip r:embed="rId3">
            <a:alphaModFix/>
          </a:blip>
          <a:srcRect b="0" l="0" r="0" t="0"/>
          <a:stretch/>
        </p:blipFill>
        <p:spPr>
          <a:xfrm>
            <a:off x="8590269" y="1638629"/>
            <a:ext cx="3267075" cy="2762250"/>
          </a:xfrm>
          <a:prstGeom prst="rect">
            <a:avLst/>
          </a:prstGeom>
          <a:noFill/>
          <a:ln>
            <a:noFill/>
          </a:ln>
        </p:spPr>
      </p:pic>
      <p:sp>
        <p:nvSpPr>
          <p:cNvPr id="7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5.4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can you show that your pieces cover exactly the original figure?</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05" name="Google Shape;605;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6" name="Google Shape;606;p61"/>
          <p:cNvSpPr txBox="1"/>
          <p:nvPr/>
        </p:nvSpPr>
        <p:spPr>
          <a:xfrm>
            <a:off x="953847" y="348649"/>
            <a:ext cx="533881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1" i="0" sz="1500" u="none" cap="none" strike="noStrike">
              <a:solidFill>
                <a:srgbClr val="782DA0"/>
              </a:solidFill>
              <a:latin typeface="Arial"/>
              <a:ea typeface="Arial"/>
              <a:cs typeface="Arial"/>
              <a:sym typeface="Arial"/>
            </a:endParaRPr>
          </a:p>
        </p:txBody>
      </p:sp>
      <p:pic>
        <p:nvPicPr>
          <p:cNvPr id="607" name="Google Shape;607;p61"/>
          <p:cNvPicPr preferRelativeResize="0"/>
          <p:nvPr/>
        </p:nvPicPr>
        <p:blipFill rotWithShape="1">
          <a:blip r:embed="rId2">
            <a:alphaModFix/>
          </a:blip>
          <a:srcRect b="0" l="0" r="0" t="0"/>
          <a:stretch/>
        </p:blipFill>
        <p:spPr>
          <a:xfrm>
            <a:off x="543714" y="414982"/>
            <a:ext cx="353635" cy="340537"/>
          </a:xfrm>
          <a:prstGeom prst="rect">
            <a:avLst/>
          </a:prstGeom>
          <a:noFill/>
          <a:ln>
            <a:noFill/>
          </a:ln>
        </p:spPr>
      </p:pic>
      <p:sp>
        <p:nvSpPr>
          <p:cNvPr id="608" name="Google Shape;608;p61"/>
          <p:cNvSpPr txBox="1"/>
          <p:nvPr/>
        </p:nvSpPr>
        <p:spPr>
          <a:xfrm>
            <a:off x="486000" y="5220000"/>
            <a:ext cx="6869774" cy="10233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decompose it into 8 triangles.</a:t>
            </a:r>
            <a:endParaRPr b="0" i="0" sz="2800" u="none" cap="none" strike="noStrike">
              <a:solidFill>
                <a:srgbClr val="595959"/>
              </a:solidFill>
              <a:latin typeface="Arial"/>
              <a:ea typeface="Arial"/>
              <a:cs typeface="Arial"/>
              <a:sym typeface="Arial"/>
            </a:endParaRPr>
          </a:p>
        </p:txBody>
      </p:sp>
      <p:sp>
        <p:nvSpPr>
          <p:cNvPr id="609" name="Google Shape;609;p61"/>
          <p:cNvSpPr txBox="1"/>
          <p:nvPr/>
        </p:nvSpPr>
        <p:spPr>
          <a:xfrm>
            <a:off x="484563" y="936100"/>
            <a:ext cx="6708717" cy="1971692"/>
          </a:xfrm>
          <a:prstGeom prst="rect">
            <a:avLst/>
          </a:prstGeom>
          <a:blipFill rotWithShape="1">
            <a:blip r:embed="rId3">
              <a:alphaModFix/>
            </a:blip>
            <a:stretch>
              <a:fillRect b="-8978" l="-1817" r="-1998" t="-340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10" name="Google Shape;610;p61"/>
          <p:cNvSpPr txBox="1"/>
          <p:nvPr/>
        </p:nvSpPr>
        <p:spPr>
          <a:xfrm>
            <a:off x="484563" y="2979270"/>
            <a:ext cx="6135693" cy="13184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decompose the octagon into shapes that you can find the area of?</a:t>
            </a:r>
            <a:endParaRPr b="0" i="0" sz="1400" u="none" cap="none" strike="noStrike">
              <a:solidFill>
                <a:srgbClr val="000000"/>
              </a:solidFill>
              <a:latin typeface="Arial"/>
              <a:ea typeface="Arial"/>
              <a:cs typeface="Arial"/>
              <a:sym typeface="Arial"/>
            </a:endParaRPr>
          </a:p>
        </p:txBody>
      </p:sp>
      <p:pic>
        <p:nvPicPr>
          <p:cNvPr id="611" name="Google Shape;611;p61"/>
          <p:cNvPicPr preferRelativeResize="0"/>
          <p:nvPr/>
        </p:nvPicPr>
        <p:blipFill rotWithShape="1">
          <a:blip r:embed="rId4">
            <a:alphaModFix/>
          </a:blip>
          <a:srcRect b="0" l="0" r="0" t="0"/>
          <a:stretch/>
        </p:blipFill>
        <p:spPr>
          <a:xfrm>
            <a:off x="8590269" y="1638629"/>
            <a:ext cx="3267075" cy="2762250"/>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47</a:t>
            </a:r>
          </a:p>
        </p:txBody>
      </p:sp>
      <p:sp xmlns:p="http://schemas.openxmlformats.org/presentationml/2006/main" xmlns:a="http://schemas.openxmlformats.org/drawingml/2006/main">
        <p:nvSpPr>
          <p:cNvPr id="612"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 both revise.</a:t>
            </a:r>
            <a:endParaRPr lang="en-US" sz="200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22" name="Google Shape;722;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3" name="Google Shape;723;p73"/>
          <p:cNvSpPr/>
          <p:nvPr/>
        </p:nvSpPr>
        <p:spPr>
          <a:xfrm>
            <a:off x="548833" y="5433307"/>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Why is confidence in yourself and your abilities helping you be successful in math?</a:t>
            </a:r>
            <a:endParaRPr b="0" i="0" sz="1400" u="none" cap="none" strike="noStrike">
              <a:solidFill>
                <a:srgbClr val="000000"/>
              </a:solidFill>
              <a:latin typeface="Arial"/>
              <a:ea typeface="Arial"/>
              <a:cs typeface="Arial"/>
              <a:sym typeface="Arial"/>
            </a:endParaRPr>
          </a:p>
        </p:txBody>
      </p:sp>
      <p:pic>
        <p:nvPicPr>
          <p:cNvPr id="724" name="Google Shape;724;p73"/>
          <p:cNvPicPr preferRelativeResize="0"/>
          <p:nvPr/>
        </p:nvPicPr>
        <p:blipFill rotWithShape="1">
          <a:blip r:embed="rId2">
            <a:alphaModFix/>
          </a:blip>
          <a:srcRect b="0" l="0" r="0" t="0"/>
          <a:stretch/>
        </p:blipFill>
        <p:spPr>
          <a:xfrm>
            <a:off x="4962990" y="1387624"/>
            <a:ext cx="2952000" cy="2809734"/>
          </a:xfrm>
          <a:prstGeom prst="rect">
            <a:avLst/>
          </a:prstGeom>
          <a:noFill/>
          <a:ln>
            <a:noFill/>
          </a:ln>
        </p:spPr>
      </p:pic>
      <p:sp>
        <p:nvSpPr>
          <p:cNvPr id="725" name="Google Shape;725;p73"/>
          <p:cNvSpPr txBox="1"/>
          <p:nvPr/>
        </p:nvSpPr>
        <p:spPr>
          <a:xfrm>
            <a:off x="484561" y="936100"/>
            <a:ext cx="4309112"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How are they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How are they different?</a:t>
            </a:r>
            <a:endParaRPr b="0" i="0" sz="1400" u="none" cap="none" strike="noStrike">
              <a:solidFill>
                <a:srgbClr val="000000"/>
              </a:solidFill>
              <a:latin typeface="Arial"/>
              <a:ea typeface="Arial"/>
              <a:cs typeface="Arial"/>
              <a:sym typeface="Arial"/>
            </a:endParaRPr>
          </a:p>
        </p:txBody>
      </p:sp>
      <p:sp>
        <p:nvSpPr>
          <p:cNvPr id="726" name="Google Shape;726;p73"/>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727" name="Google Shape;727;p73"/>
          <p:cNvPicPr preferRelativeResize="0"/>
          <p:nvPr/>
        </p:nvPicPr>
        <p:blipFill rotWithShape="1">
          <a:blip r:embed="rId3">
            <a:alphaModFix/>
          </a:blip>
          <a:srcRect b="0" l="0" r="0" t="0"/>
          <a:stretch/>
        </p:blipFill>
        <p:spPr>
          <a:xfrm>
            <a:off x="8602373" y="1503333"/>
            <a:ext cx="2808000" cy="2672674"/>
          </a:xfrm>
          <a:prstGeom prst="rect">
            <a:avLst/>
          </a:prstGeom>
          <a:noFill/>
          <a:ln>
            <a:noFill/>
          </a:ln>
        </p:spPr>
      </p:pic>
      <p:pic>
        <p:nvPicPr>
          <p:cNvPr id="728" name="Google Shape;728;p73"/>
          <p:cNvPicPr preferRelativeResize="0"/>
          <p:nvPr/>
        </p:nvPicPr>
        <p:blipFill rotWithShape="1">
          <a:blip r:embed="rId4">
            <a:alphaModFix/>
          </a:blip>
          <a:srcRect b="0" l="0" r="0" t="0"/>
          <a:stretch/>
        </p:blipFill>
        <p:spPr>
          <a:xfrm>
            <a:off x="481450" y="4573542"/>
            <a:ext cx="5054600" cy="838200"/>
          </a:xfrm>
          <a:prstGeom prst="rect">
            <a:avLst/>
          </a:prstGeom>
          <a:noFill/>
          <a:ln>
            <a:noFill/>
          </a:ln>
        </p:spPr>
      </p:pic>
      <p:sp>
        <p:nvSpPr>
          <p:cNvPr id="729" name="Google Shape;729;p73"/>
          <p:cNvSpPr txBox="1"/>
          <p:nvPr/>
        </p:nvSpPr>
        <p:spPr>
          <a:xfrm>
            <a:off x="3341467" y="4730860"/>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47</a:t>
            </a:r>
          </a:p>
        </p:txBody>
      </p:sp>
      <p:sp xmlns:p="http://schemas.openxmlformats.org/presentationml/2006/main" xmlns:a="http://schemas.openxmlformats.org/drawingml/2006/main">
        <p:nvSpPr>
          <p:cNvPr id="730" name="TEACH-embedded-student-prompt" descr="Student thinking and response directions"/>
          <p:cNvSpPr txBox="1"/>
          <p:nvPr/>
        </p:nvSpPr>
        <p:spPr>
          <a:xfrm>
            <a:off x="6111240" y="44988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5-4 · Apply Area Concepts to Solve Problems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A composite figure is a shape made up of:</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circles</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Two or more simpler geometric shapes</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Straight lines only</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3D blocks</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To find the area of a composite figure, you can:</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Multiply all side lengths</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Decompose into rectangles and triangles, then add</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Only measure perimeter</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Guess the center</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An L-shaped room is split into 4 × 5 and 3 × 2 rectangles. Total area is:</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14</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26</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40</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60</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When subtracting an unshaded hole from a shape:</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Add the areas</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Subtract the hole area from the total area</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Multiply areas</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Divide by 2</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47</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5-4 · Apply Area Concepts to Solve Problems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Decomposition Strategy</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Break complex irregular </a:t>
            </a:r>
            <a:r>
              <a:rPr b="1" i="0" lang="en-US" sz="1450" u="none" cap="none" strike="noStrike">
                <a:solidFill>
                  <a:srgbClr val="475569"/>
                </a:solidFill>
                <a:latin typeface="Arial"/>
                <a:ea typeface="Arial"/>
                <a:cs typeface="Arial"/>
                <a:sym typeface="Arial"/>
              </a:rPr>
              <a:t xml:space="preserve">polygons</a:t>
            </a:r>
            <a:r>
              <a:rPr b="0" i="0" lang="en-US" sz="1450" u="none" cap="none" strike="noStrike">
                <a:solidFill>
                  <a:srgbClr val="475569"/>
                </a:solidFill>
                <a:latin typeface="Arial"/>
                <a:ea typeface="Arial"/>
                <a:cs typeface="Arial"/>
                <a:sym typeface="Arial"/>
              </a:rPr>
              <a:t xml:space="preserve"> into recognizable rectangles, triangles, and parallelograms.</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Additive Area</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Calculate the </a:t>
            </a:r>
            <a:r>
              <a:rPr b="1" i="0" lang="en-US" sz="1450" u="none" cap="none" strike="noStrike">
                <a:solidFill>
                  <a:srgbClr val="475569"/>
                </a:solidFill>
                <a:latin typeface="Arial"/>
                <a:ea typeface="Arial"/>
                <a:cs typeface="Arial"/>
                <a:sym typeface="Arial"/>
              </a:rPr>
              <a:t xml:space="preserve">area</a:t>
            </a:r>
            <a:r>
              <a:rPr b="0" i="0" lang="en-US" sz="1450" u="none" cap="none" strike="noStrike">
                <a:solidFill>
                  <a:srgbClr val="475569"/>
                </a:solidFill>
                <a:latin typeface="Arial"/>
                <a:ea typeface="Arial"/>
                <a:cs typeface="Arial"/>
                <a:sym typeface="Arial"/>
              </a:rPr>
              <a:t xml:space="preserve"> of each individual region and sum them to obtain total figure area.</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Subtractive Area</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Find the area of the outer bounding figure and subtract any interior cutout spaces.</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47</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71"/>
          <p:cNvSpPr txBox="1"/>
          <p:nvPr/>
        </p:nvSpPr>
        <p:spPr>
          <a:xfrm>
            <a:off x="1402828" y="2453950"/>
            <a:ext cx="9230759" cy="13368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Apply Area Concepts to Solve Problems</a:t>
            </a:r>
            <a:endParaRPr b="0" i="0" sz="1400" u="none" cap="none" strike="noStrike">
              <a:solidFill>
                <a:srgbClr val="000000"/>
              </a:solidFill>
              <a:latin typeface="Arial"/>
              <a:ea typeface="Arial"/>
              <a:cs typeface="Arial"/>
              <a:sym typeface="Arial"/>
            </a:endParaRPr>
          </a:p>
        </p:txBody>
      </p:sp>
      <p:sp>
        <p:nvSpPr>
          <p:cNvPr id="705" name="Google Shape;705;p71"/>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06" name="Google Shape;706;p71"/>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0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47</a:t>
            </a:r>
          </a:p>
        </p:txBody>
      </p:sp>
      <p:grpSp>
        <p:nvGrpSpPr>
          <p:cNvPr id="708" name="TEACH-3-student-move" descr="TEACH 3 · Use intentional questioning to deepen learning"/>
          <p:cNvGrpSpPr/>
          <p:nvPr/>
        </p:nvGrpSpPr>
        <p:grpSpPr>
          <a:xfrm>
            <a:off x="502920" y="3201929"/>
            <a:ext cx="11186160" cy="731520"/>
            <a:chOff x="502920" y="3201929"/>
            <a:chExt cx="11186160" cy="731520"/>
          </a:xfrm>
        </p:grpSpPr>
        <p:sp>
          <p:nvSpPr>
            <p:cNvPr id="709"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10"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711"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JUSTIFY IT  ·  </a:t>
              </a:r>
              <a:r>
                <a:rPr lang="en-US" sz="1800" dirty="0">
                  <a:solidFill>
                    <a:srgbClr val="13303A"/>
                  </a:solidFill>
                  <a:latin typeface="Arial"/>
                </a:rPr>
                <a:t>Say it like this: “I know ______ because ______.”</a:t>
              </a:r>
              <a:endParaRPr lang="en-US" sz="1800"/>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cxnSp>
        <p:nvCxnSpPr>
          <p:cNvPr id="734" name="Google Shape;734;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5" name="Google Shape;735;p74"/>
          <p:cNvSpPr txBox="1"/>
          <p:nvPr/>
        </p:nvSpPr>
        <p:spPr>
          <a:xfrm>
            <a:off x="486000" y="936101"/>
            <a:ext cx="7634200" cy="329757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Ohio Burgee, the official flag of Ohio, is a swallowtail flag. It is the only non-rectangular U.S. state flag. The dimensions of a flag are shown.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What is the area of the flag?</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736" name="Google Shape;736;p74"/>
          <p:cNvSpPr txBox="1"/>
          <p:nvPr/>
        </p:nvSpPr>
        <p:spPr>
          <a:xfrm>
            <a:off x="486000" y="274981"/>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pic>
        <p:nvPicPr>
          <p:cNvPr id="737" name="Google Shape;737;p74"/>
          <p:cNvPicPr preferRelativeResize="0"/>
          <p:nvPr/>
        </p:nvPicPr>
        <p:blipFill rotWithShape="1">
          <a:blip r:embed="rId3">
            <a:alphaModFix/>
          </a:blip>
          <a:srcRect b="0" l="0" r="0" t="0"/>
          <a:stretch/>
        </p:blipFill>
        <p:spPr>
          <a:xfrm>
            <a:off x="8460487" y="1952625"/>
            <a:ext cx="3467100" cy="2724149"/>
          </a:xfrm>
          <a:prstGeom prst="rect">
            <a:avLst/>
          </a:prstGeom>
          <a:noFill/>
          <a:ln>
            <a:noFill/>
          </a:ln>
        </p:spPr>
      </p:pic>
      <p:sp>
        <p:nvSpPr>
          <p:cNvPr id="73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47</a:t>
            </a:r>
          </a:p>
        </p:txBody>
      </p:sp>
      <p:sp xmlns:p="http://schemas.openxmlformats.org/presentationml/2006/main" xmlns:a="http://schemas.openxmlformats.org/drawingml/2006/main">
        <p:nvSpPr>
          <p:cNvPr id="739"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cxnSp>
        <p:nvCxnSpPr>
          <p:cNvPr id="753" name="Google Shape;753;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4" name="Google Shape;754;p76"/>
          <p:cNvSpPr txBox="1"/>
          <p:nvPr/>
        </p:nvSpPr>
        <p:spPr>
          <a:xfrm>
            <a:off x="505108" y="646594"/>
            <a:ext cx="764134"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2800"/>
              <a:buFont typeface="Calibri"/>
              <a:buNone/>
            </a:pPr>
            <a:r>
              <a:t/>
            </a:r>
            <a:endParaRPr b="1" i="0" sz="2800" u="none" cap="none" strike="noStrike">
              <a:solidFill>
                <a:schemeClr val="dk1"/>
              </a:solidFill>
              <a:latin typeface="Arial"/>
              <a:ea typeface="Arial"/>
              <a:cs typeface="Arial"/>
              <a:sym typeface="Arial"/>
            </a:endParaRPr>
          </a:p>
        </p:txBody>
      </p:sp>
      <p:sp>
        <p:nvSpPr>
          <p:cNvPr id="755" name="Google Shape;755;p76"/>
          <p:cNvSpPr txBox="1"/>
          <p:nvPr/>
        </p:nvSpPr>
        <p:spPr>
          <a:xfrm>
            <a:off x="486000" y="4860000"/>
            <a:ext cx="10685118" cy="14377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compose or decompose the figure into known shapes and use those areas to determine the area of the flag.</a:t>
            </a:r>
            <a:endParaRPr b="0" i="0" sz="2800" u="none" cap="none" strike="noStrike">
              <a:solidFill>
                <a:srgbClr val="595959"/>
              </a:solidFill>
              <a:latin typeface="Arial"/>
              <a:ea typeface="Arial"/>
              <a:cs typeface="Arial"/>
              <a:sym typeface="Arial"/>
            </a:endParaRPr>
          </a:p>
        </p:txBody>
      </p:sp>
      <p:pic>
        <p:nvPicPr>
          <p:cNvPr id="756" name="Google Shape;756;p76"/>
          <p:cNvPicPr preferRelativeResize="0"/>
          <p:nvPr/>
        </p:nvPicPr>
        <p:blipFill rotWithShape="1">
          <a:blip r:embed="rId3">
            <a:alphaModFix/>
          </a:blip>
          <a:srcRect b="0" l="0" r="0" t="0"/>
          <a:stretch/>
        </p:blipFill>
        <p:spPr>
          <a:xfrm>
            <a:off x="8860537" y="2266950"/>
            <a:ext cx="2667000" cy="2095500"/>
          </a:xfrm>
          <a:prstGeom prst="rect">
            <a:avLst/>
          </a:prstGeom>
          <a:noFill/>
          <a:ln>
            <a:noFill/>
          </a:ln>
        </p:spPr>
      </p:pic>
      <p:sp>
        <p:nvSpPr>
          <p:cNvPr id="757" name="Google Shape;757;p76"/>
          <p:cNvSpPr txBox="1"/>
          <p:nvPr/>
        </p:nvSpPr>
        <p:spPr>
          <a:xfrm>
            <a:off x="484566" y="936000"/>
            <a:ext cx="7867864" cy="353901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Ohio Burgee, the official flag of Ohio, is a swallowtail flag. It is the only non-rectangular U.S. state flag. The dimensions of a flag are shown. What is the area of the flag?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How can you use your prior knowledge of area to help you determine the area of the irregular shape?</a:t>
            </a:r>
            <a:endParaRPr b="1" i="0" sz="2800" u="none" cap="none" strike="noStrike">
              <a:solidFill>
                <a:schemeClr val="dk1"/>
              </a:solidFill>
              <a:latin typeface="Arial"/>
              <a:ea typeface="Arial"/>
              <a:cs typeface="Arial"/>
              <a:sym typeface="Arial"/>
            </a:endParaRPr>
          </a:p>
        </p:txBody>
      </p:sp>
      <p:sp>
        <p:nvSpPr>
          <p:cNvPr id="758" name="Google Shape;758;p76"/>
          <p:cNvSpPr txBox="1"/>
          <p:nvPr/>
        </p:nvSpPr>
        <p:spPr>
          <a:xfrm>
            <a:off x="839635" y="300585"/>
            <a:ext cx="5338818" cy="48999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1" i="0" sz="1500" u="none" cap="none" strike="noStrike">
              <a:solidFill>
                <a:srgbClr val="782DA0"/>
              </a:solidFill>
              <a:latin typeface="Arial"/>
              <a:ea typeface="Arial"/>
              <a:cs typeface="Arial"/>
              <a:sym typeface="Arial"/>
            </a:endParaRPr>
          </a:p>
        </p:txBody>
      </p:sp>
      <p:pic>
        <p:nvPicPr>
          <p:cNvPr id="759" name="Google Shape;759;p76"/>
          <p:cNvPicPr preferRelativeResize="0"/>
          <p:nvPr/>
        </p:nvPicPr>
        <p:blipFill rotWithShape="1">
          <a:blip r:embed="rId4">
            <a:alphaModFix/>
          </a:blip>
          <a:srcRect b="0" l="0" r="0" t="0"/>
          <a:stretch/>
        </p:blipFill>
        <p:spPr>
          <a:xfrm>
            <a:off x="486000" y="316800"/>
            <a:ext cx="353635" cy="340537"/>
          </a:xfrm>
          <a:prstGeom prst="rect">
            <a:avLst/>
          </a:prstGeom>
          <a:noFill/>
          <a:ln>
            <a:noFill/>
          </a:ln>
        </p:spPr>
      </p:pic>
      <p:sp>
        <p:nvSpPr>
          <p:cNvPr id="7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47</a:t>
            </a:r>
          </a:p>
        </p:txBody>
      </p:sp>
      <p:sp>
        <p:nvSpPr>
          <p:cNvPr id="761" name="EWL-COVER-1"/>
          <p:cNvSpPr/>
          <p:nvPr/>
        </p:nvSpPr>
        <p:spPr>
          <a:xfrm>
            <a:off x="431136" y="4805136"/>
            <a:ext cx="10794846" cy="1547512"/>
          </a:xfrm>
          <a:prstGeom prst="rect">
            <a:avLst/>
          </a:prstGeom>
          <a:solidFill>
            <a:srgbClr val="FFFFFF"/>
          </a:solidFill>
          <a:ln>
            <a:noFill/>
          </a:ln>
        </p:spPr>
        <p:txBody>
          <a:bodyPr/>
          <a:lstStyle/>
          <a:p/>
        </p:txBody>
      </p:sp>
      <p:sp>
        <p:nvSpPr>
          <p:cNvPr id="76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  TALK IT THROUGH • AGREE ON A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cxnSp>
        <p:nvCxnSpPr>
          <p:cNvPr id="774" name="Google Shape;774;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5" name="Google Shape;775;p78"/>
          <p:cNvSpPr txBox="1"/>
          <p:nvPr/>
        </p:nvSpPr>
        <p:spPr>
          <a:xfrm>
            <a:off x="486000" y="936001"/>
            <a:ext cx="6939817" cy="9013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compose the shape into a trapezoid.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776" name="Google Shape;776;p78"/>
          <p:cNvSpPr txBox="1"/>
          <p:nvPr/>
        </p:nvSpPr>
        <p:spPr>
          <a:xfrm>
            <a:off x="486000" y="5220000"/>
            <a:ext cx="10100542" cy="10808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How were the dimensions 10 feet and 3 feet determined?</a:t>
            </a:r>
            <a:endParaRPr b="0" i="0" sz="2800" u="none" cap="none" strike="noStrike">
              <a:solidFill>
                <a:srgbClr val="595959"/>
              </a:solidFill>
              <a:latin typeface="Arial"/>
              <a:ea typeface="Arial"/>
              <a:cs typeface="Arial"/>
              <a:sym typeface="Arial"/>
            </a:endParaRPr>
          </a:p>
        </p:txBody>
      </p:sp>
      <p:pic>
        <p:nvPicPr>
          <p:cNvPr id="777" name="Google Shape;777;p78"/>
          <p:cNvPicPr preferRelativeResize="0"/>
          <p:nvPr/>
        </p:nvPicPr>
        <p:blipFill rotWithShape="1">
          <a:blip r:embed="rId3">
            <a:alphaModFix/>
          </a:blip>
          <a:srcRect b="0" l="0" r="0" t="0"/>
          <a:stretch/>
        </p:blipFill>
        <p:spPr>
          <a:xfrm>
            <a:off x="8860537" y="2266950"/>
            <a:ext cx="2667000" cy="2095500"/>
          </a:xfrm>
          <a:prstGeom prst="rect">
            <a:avLst/>
          </a:prstGeom>
          <a:noFill/>
          <a:ln>
            <a:noFill/>
          </a:ln>
        </p:spPr>
      </p:pic>
      <p:sp>
        <p:nvSpPr>
          <p:cNvPr id="778" name="Google Shape;778;p78"/>
          <p:cNvSpPr txBox="1"/>
          <p:nvPr/>
        </p:nvSpPr>
        <p:spPr>
          <a:xfrm>
            <a:off x="486000" y="274981"/>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pic>
        <p:nvPicPr>
          <p:cNvPr id="779" name="Google Shape;779;p78"/>
          <p:cNvPicPr preferRelativeResize="0"/>
          <p:nvPr/>
        </p:nvPicPr>
        <p:blipFill rotWithShape="1">
          <a:blip r:embed="rId4">
            <a:alphaModFix/>
          </a:blip>
          <a:srcRect b="0" l="0" r="0" t="0"/>
          <a:stretch/>
        </p:blipFill>
        <p:spPr>
          <a:xfrm>
            <a:off x="883444" y="1697051"/>
            <a:ext cx="6480000" cy="3235298"/>
          </a:xfrm>
          <a:prstGeom prst="rect">
            <a:avLst/>
          </a:prstGeom>
          <a:noFill/>
          <a:ln>
            <a:noFill/>
          </a:ln>
        </p:spPr>
      </p:pic>
      <p:sp>
        <p:nvSpPr>
          <p:cNvPr id="7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47</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cxnSp>
        <p:nvCxnSpPr>
          <p:cNvPr id="793" name="Google Shape;793;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4" name="Google Shape;794;p80"/>
          <p:cNvSpPr txBox="1"/>
          <p:nvPr/>
        </p:nvSpPr>
        <p:spPr>
          <a:xfrm>
            <a:off x="486000" y="936000"/>
            <a:ext cx="7185478" cy="5923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do you notice about the trapezoid?</a:t>
            </a:r>
            <a:endParaRPr b="0" i="0" sz="1400" u="none" cap="none" strike="noStrike">
              <a:solidFill>
                <a:srgbClr val="000000"/>
              </a:solidFill>
              <a:latin typeface="Arial"/>
              <a:ea typeface="Arial"/>
              <a:cs typeface="Arial"/>
              <a:sym typeface="Arial"/>
            </a:endParaRPr>
          </a:p>
        </p:txBody>
      </p:sp>
      <p:sp>
        <p:nvSpPr>
          <p:cNvPr id="795" name="Google Shape;795;p80"/>
          <p:cNvSpPr txBox="1"/>
          <p:nvPr/>
        </p:nvSpPr>
        <p:spPr>
          <a:xfrm>
            <a:off x="486000" y="5220000"/>
            <a:ext cx="10685118" cy="10537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It is a trapezoid with a triangle cut-out</a:t>
            </a:r>
            <a:r>
              <a:rPr b="0" i="0" lang="en-US" sz="3200" u="none" cap="none" strike="noStrike">
                <a:solidFill>
                  <a:schemeClr val="dk2"/>
                </a:solidFill>
                <a:latin typeface="Arial"/>
                <a:ea typeface="Arial"/>
                <a:cs typeface="Arial"/>
                <a:sym typeface="Arial"/>
              </a:rPr>
              <a:t>.</a:t>
            </a:r>
            <a:endParaRPr b="0" i="0" sz="2800" u="none" cap="none" strike="noStrike">
              <a:solidFill>
                <a:srgbClr val="595959"/>
              </a:solidFill>
              <a:latin typeface="Arial"/>
              <a:ea typeface="Arial"/>
              <a:cs typeface="Arial"/>
              <a:sym typeface="Arial"/>
            </a:endParaRPr>
          </a:p>
        </p:txBody>
      </p:sp>
      <p:sp>
        <p:nvSpPr>
          <p:cNvPr id="796" name="Google Shape;796;p80"/>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pic>
        <p:nvPicPr>
          <p:cNvPr id="797" name="Google Shape;797;p80"/>
          <p:cNvPicPr preferRelativeResize="0"/>
          <p:nvPr/>
        </p:nvPicPr>
        <p:blipFill rotWithShape="1">
          <a:blip r:embed="rId3">
            <a:alphaModFix/>
          </a:blip>
          <a:srcRect b="0" l="0" r="0" t="0"/>
          <a:stretch/>
        </p:blipFill>
        <p:spPr>
          <a:xfrm>
            <a:off x="7515225" y="1790700"/>
            <a:ext cx="4533900" cy="3276600"/>
          </a:xfrm>
          <a:prstGeom prst="rect">
            <a:avLst/>
          </a:prstGeom>
          <a:noFill/>
          <a:ln>
            <a:noFill/>
          </a:ln>
        </p:spPr>
      </p:pic>
      <p:sp>
        <p:nvSpPr>
          <p:cNvPr id="79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47</a:t>
            </a:r>
          </a:p>
        </p:txBody>
      </p:sp>
      <p:sp>
        <p:nvSpPr>
          <p:cNvPr id="799" name="EWL-COVER-1"/>
          <p:cNvSpPr/>
          <p:nvPr/>
        </p:nvSpPr>
        <p:spPr>
          <a:xfrm>
            <a:off x="431136" y="5165136"/>
            <a:ext cx="10794846" cy="1163464"/>
          </a:xfrm>
          <a:prstGeom prst="rect">
            <a:avLst/>
          </a:prstGeom>
          <a:solidFill>
            <a:srgbClr val="FFFFFF"/>
          </a:solidFill>
          <a:ln>
            <a:noFill/>
          </a:ln>
        </p:spPr>
        <p:txBody>
          <a:bodyPr/>
          <a:lstStyle/>
          <a:p/>
        </p:txBody>
      </p:sp>
      <p:sp xmlns:p="http://schemas.openxmlformats.org/presentationml/2006/main" xmlns:a="http://schemas.openxmlformats.org/drawingml/2006/main">
        <p:nvSpPr>
          <p:cNvPr id="800" name="TEACH-embedded-student-prompt" descr="Student thinking and response directions"/>
          <p:cNvSpPr txBox="1"/>
          <p:nvPr/>
        </p:nvSpPr>
        <p:spPr>
          <a:xfrm>
            <a:off x="594360" y="42245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cxnSp>
        <p:nvCxnSpPr>
          <p:cNvPr id="811" name="Google Shape;811;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12" name="Google Shape;812;p82"/>
          <p:cNvSpPr/>
          <p:nvPr/>
        </p:nvSpPr>
        <p:spPr>
          <a:xfrm>
            <a:off x="484566" y="936000"/>
            <a:ext cx="6858343" cy="31085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The flag is a trapezoid with a triangular cut-out.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How can you use the trapezoid and triangle to find the area of the flag?</a:t>
            </a:r>
            <a:endParaRPr b="0" i="0" sz="1400" u="none" cap="none" strike="noStrike">
              <a:solidFill>
                <a:srgbClr val="000000"/>
              </a:solidFill>
              <a:latin typeface="Arial"/>
              <a:ea typeface="Arial"/>
              <a:cs typeface="Arial"/>
              <a:sym typeface="Arial"/>
            </a:endParaRPr>
          </a:p>
        </p:txBody>
      </p:sp>
      <p:sp>
        <p:nvSpPr>
          <p:cNvPr id="813" name="Google Shape;813;p82"/>
          <p:cNvSpPr txBox="1"/>
          <p:nvPr/>
        </p:nvSpPr>
        <p:spPr>
          <a:xfrm>
            <a:off x="486000" y="4860000"/>
            <a:ext cx="10685118" cy="14288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find the area of each shape and subtract the area of the triangular cut-out from the area of the trapezoid.</a:t>
            </a:r>
            <a:endParaRPr b="0" i="0" sz="2800" u="none" cap="none" strike="noStrike">
              <a:solidFill>
                <a:srgbClr val="595959"/>
              </a:solidFill>
              <a:latin typeface="Arial"/>
              <a:ea typeface="Arial"/>
              <a:cs typeface="Arial"/>
              <a:sym typeface="Arial"/>
            </a:endParaRPr>
          </a:p>
        </p:txBody>
      </p:sp>
      <p:sp>
        <p:nvSpPr>
          <p:cNvPr id="814" name="Google Shape;814;p82"/>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pic>
        <p:nvPicPr>
          <p:cNvPr id="815" name="Google Shape;815;p82"/>
          <p:cNvPicPr preferRelativeResize="0"/>
          <p:nvPr/>
        </p:nvPicPr>
        <p:blipFill rotWithShape="1">
          <a:blip r:embed="rId3">
            <a:alphaModFix/>
          </a:blip>
          <a:srcRect b="0" l="0" r="0" t="0"/>
          <a:stretch/>
        </p:blipFill>
        <p:spPr>
          <a:xfrm>
            <a:off x="7515225" y="1790700"/>
            <a:ext cx="4533900" cy="3276600"/>
          </a:xfrm>
          <a:prstGeom prst="rect">
            <a:avLst/>
          </a:prstGeom>
          <a:noFill/>
          <a:ln>
            <a:noFill/>
          </a:ln>
        </p:spPr>
      </p:pic>
      <p:sp>
        <p:nvSpPr>
          <p:cNvPr id="8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47</a:t>
            </a:r>
          </a:p>
        </p:txBody>
      </p:sp>
      <p:sp>
        <p:nvSpPr>
          <p:cNvPr id="817" name="EWL-COVER-1"/>
          <p:cNvSpPr/>
          <p:nvPr/>
        </p:nvSpPr>
        <p:spPr>
          <a:xfrm>
            <a:off x="431136" y="4805136"/>
            <a:ext cx="10794846" cy="1538557"/>
          </a:xfrm>
          <a:prstGeom prst="rect">
            <a:avLst/>
          </a:prstGeom>
          <a:solidFill>
            <a:srgbClr val="FFFFFF"/>
          </a:solidFill>
          <a:ln>
            <a:noFill/>
          </a:ln>
        </p:spPr>
        <p:txBody>
          <a:bodyPr/>
          <a:lstStyle/>
          <a:p/>
        </p:txBody>
      </p:sp>
      <p:grpSp>
        <p:nvGrpSpPr>
          <p:cNvPr id="818" name="TEACH-6-student-move" descr="TEACH 6 · Organize and implement routines to support a learning-focused classroom"/>
          <p:cNvGrpSpPr/>
          <p:nvPr/>
        </p:nvGrpSpPr>
        <p:grpSpPr>
          <a:xfrm>
            <a:off x="502920" y="4183344"/>
            <a:ext cx="5501640" cy="594360"/>
            <a:chOff x="502920" y="4183344"/>
            <a:chExt cx="5501640" cy="594360"/>
          </a:xfrm>
        </p:grpSpPr>
        <p:sp>
          <p:nvSpPr>
            <p:cNvPr id="819" name="TEACH-move-card"/>
            <p:cNvSpPr/>
            <p:nvPr/>
          </p:nvSpPr>
          <p:spPr>
            <a:xfrm>
              <a:off x="502920" y="418334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20" name="TEACH-move-rule"/>
            <p:cNvSpPr/>
            <p:nvPr/>
          </p:nvSpPr>
          <p:spPr>
            <a:xfrm>
              <a:off x="548640" y="4296272"/>
              <a:ext cx="100584" cy="368504"/>
            </a:xfrm>
            <a:prstGeom prst="roundRect">
              <a:avLst>
                <a:gd name="adj" fmla="val 50000"/>
              </a:avLst>
            </a:prstGeom>
            <a:solidFill>
              <a:srgbClr val="01708C"/>
            </a:solidFill>
            <a:ln>
              <a:noFill/>
            </a:ln>
          </p:spPr>
          <p:txBody>
            <a:bodyPr/>
            <a:lstStyle/>
            <a:p>
              <a:endParaRPr/>
            </a:p>
          </p:txBody>
        </p:sp>
        <p:sp>
          <p:nvSpPr>
            <p:cNvPr id="821" name="TEACH-move-text"/>
            <p:cNvSpPr txBox="1"/>
            <p:nvPr/>
          </p:nvSpPr>
          <p:spPr>
            <a:xfrm>
              <a:off x="822960" y="418334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cxnSp>
        <p:nvCxnSpPr>
          <p:cNvPr id="847" name="Google Shape;847;p8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848" name="Google Shape;848;p86"/>
          <p:cNvPicPr preferRelativeResize="0"/>
          <p:nvPr/>
        </p:nvPicPr>
        <p:blipFill rotWithShape="1">
          <a:blip r:embed="rId3">
            <a:alphaModFix/>
          </a:blip>
          <a:srcRect b="0" l="0" r="0" t="0"/>
          <a:stretch/>
        </p:blipFill>
        <p:spPr>
          <a:xfrm>
            <a:off x="8094710" y="1474993"/>
            <a:ext cx="3676650" cy="2647950"/>
          </a:xfrm>
          <a:prstGeom prst="rect">
            <a:avLst/>
          </a:prstGeom>
          <a:noFill/>
          <a:ln>
            <a:noFill/>
          </a:ln>
        </p:spPr>
      </p:pic>
      <p:sp>
        <p:nvSpPr>
          <p:cNvPr id="849" name="Google Shape;849;p86"/>
          <p:cNvSpPr/>
          <p:nvPr/>
        </p:nvSpPr>
        <p:spPr>
          <a:xfrm>
            <a:off x="589783" y="5781622"/>
            <a:ext cx="6245333"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would you check your answer?</a:t>
            </a:r>
            <a:endParaRPr b="0" i="0" sz="2600" u="none" cap="none" strike="noStrike">
              <a:solidFill>
                <a:srgbClr val="595959"/>
              </a:solidFill>
              <a:latin typeface="Arial"/>
              <a:ea typeface="Calibri"/>
              <a:cs typeface="Calibri"/>
              <a:sym typeface="Calibri"/>
            </a:endParaRPr>
          </a:p>
        </p:txBody>
      </p:sp>
      <p:pic>
        <p:nvPicPr>
          <p:cNvPr id="850" name="Google Shape;850;p86"/>
          <p:cNvPicPr preferRelativeResize="0"/>
          <p:nvPr/>
        </p:nvPicPr>
        <p:blipFill rotWithShape="1">
          <a:blip r:embed="rId4">
            <a:alphaModFix/>
          </a:blip>
          <a:srcRect b="0" l="0" r="0" t="0"/>
          <a:stretch/>
        </p:blipFill>
        <p:spPr>
          <a:xfrm>
            <a:off x="486000" y="5000262"/>
            <a:ext cx="5054600" cy="838200"/>
          </a:xfrm>
          <a:prstGeom prst="rect">
            <a:avLst/>
          </a:prstGeom>
          <a:noFill/>
          <a:ln>
            <a:noFill/>
          </a:ln>
        </p:spPr>
      </p:pic>
      <p:sp>
        <p:nvSpPr>
          <p:cNvPr id="851" name="Google Shape;851;p86"/>
          <p:cNvSpPr txBox="1"/>
          <p:nvPr/>
        </p:nvSpPr>
        <p:spPr>
          <a:xfrm>
            <a:off x="3236692" y="5170171"/>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Persevering</a:t>
            </a:r>
            <a:endParaRPr b="0" i="0" sz="2800" u="none" cap="none" strike="noStrike">
              <a:solidFill>
                <a:srgbClr val="262626"/>
              </a:solidFill>
              <a:latin typeface="Arial"/>
              <a:ea typeface="Arial"/>
              <a:cs typeface="Arial"/>
              <a:sym typeface="Arial"/>
            </a:endParaRPr>
          </a:p>
        </p:txBody>
      </p:sp>
      <p:pic>
        <p:nvPicPr>
          <p:cNvPr id="852" name="Google Shape;852;p86"/>
          <p:cNvPicPr preferRelativeResize="0"/>
          <p:nvPr/>
        </p:nvPicPr>
        <p:blipFill rotWithShape="1">
          <a:blip r:embed="rId3">
            <a:alphaModFix/>
          </a:blip>
          <a:srcRect b="0" l="0" r="0" t="0"/>
          <a:stretch/>
        </p:blipFill>
        <p:spPr>
          <a:xfrm>
            <a:off x="8094710" y="1474993"/>
            <a:ext cx="3676650" cy="2647950"/>
          </a:xfrm>
          <a:prstGeom prst="rect">
            <a:avLst/>
          </a:prstGeom>
          <a:noFill/>
          <a:ln>
            <a:noFill/>
          </a:ln>
        </p:spPr>
      </p:pic>
      <p:graphicFrame>
        <p:nvGraphicFramePr>
          <p:cNvPr id="853" name="Google Shape;853;p86"/>
          <p:cNvGraphicFramePr/>
          <p:nvPr/>
        </p:nvGraphicFramePr>
        <p:xfrm>
          <a:off x="486000" y="936000"/>
          <a:ext cx="3000000" cy="3000000"/>
        </p:xfrm>
        <a:graphic>
          <a:graphicData uri="http://schemas.openxmlformats.org/drawingml/2006/table">
            <a:tbl>
              <a:tblPr>
                <a:noFill/>
                <a:tableStyleId>{1080875F-0568-4F12-9248-1A56478D126B}</a:tableStyleId>
              </a:tblPr>
              <a:tblGrid>
                <a:gridCol w="6676800"/>
              </a:tblGrid>
              <a:tr h="24617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76200" marR="7620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854" name="Google Shape;854;p86"/>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sp>
        <p:nvSpPr>
          <p:cNvPr id="85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47</a:t>
            </a:r>
          </a:p>
        </p:txBody>
      </p:sp>
      <p:sp xmlns:p="http://schemas.openxmlformats.org/presentationml/2006/main" xmlns:a="http://schemas.openxmlformats.org/drawingml/2006/main">
        <p:nvSpPr>
          <p:cNvPr id="856" name="TEACH-embedded-student-prompt" descr="Student thinking and response directions"/>
          <p:cNvSpPr txBox="1"/>
          <p:nvPr/>
        </p:nvSpPr>
        <p:spPr>
          <a:xfrm>
            <a:off x="594360" y="43525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cxnSp>
        <p:nvCxnSpPr>
          <p:cNvPr id="859" name="Google Shape;859;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0" name="Google Shape;860;p87"/>
          <p:cNvSpPr txBox="1"/>
          <p:nvPr/>
        </p:nvSpPr>
        <p:spPr>
          <a:xfrm>
            <a:off x="486000" y="1190247"/>
            <a:ext cx="7010744" cy="31132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Ohio Burgee, the official flag of Ohio, is a swallowtail flag. It is the only non-rectangular U.S. state flag. The dimensions of a flag are shown.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What is the area of the flag?</a:t>
            </a:r>
            <a:endParaRPr b="0" i="0" sz="1400" u="none" cap="none" strike="noStrike">
              <a:solidFill>
                <a:srgbClr val="000000"/>
              </a:solidFill>
              <a:latin typeface="Arial"/>
              <a:ea typeface="Arial"/>
              <a:cs typeface="Arial"/>
              <a:sym typeface="Arial"/>
            </a:endParaRPr>
          </a:p>
        </p:txBody>
      </p:sp>
      <p:sp>
        <p:nvSpPr>
          <p:cNvPr id="861" name="Google Shape;861;p87"/>
          <p:cNvSpPr txBox="1"/>
          <p:nvPr/>
        </p:nvSpPr>
        <p:spPr>
          <a:xfrm>
            <a:off x="486000" y="4839688"/>
            <a:ext cx="6313572" cy="523220"/>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 area of the flag is 77 square feet.</a:t>
            </a:r>
            <a:endParaRPr b="0" i="0" sz="2800" u="none" cap="none" strike="noStrike">
              <a:solidFill>
                <a:schemeClr val="dk1"/>
              </a:solidFill>
              <a:latin typeface="Arial"/>
              <a:ea typeface="Arial"/>
              <a:cs typeface="Arial"/>
              <a:sym typeface="Arial"/>
            </a:endParaRPr>
          </a:p>
        </p:txBody>
      </p:sp>
      <p:pic>
        <p:nvPicPr>
          <p:cNvPr id="862" name="Google Shape;862;p87"/>
          <p:cNvPicPr preferRelativeResize="0"/>
          <p:nvPr/>
        </p:nvPicPr>
        <p:blipFill rotWithShape="1">
          <a:blip r:embed="rId3">
            <a:alphaModFix/>
          </a:blip>
          <a:srcRect b="0" l="0" r="0" t="0"/>
          <a:stretch/>
        </p:blipFill>
        <p:spPr>
          <a:xfrm>
            <a:off x="8460487" y="1952625"/>
            <a:ext cx="3467100" cy="2724149"/>
          </a:xfrm>
          <a:prstGeom prst="rect">
            <a:avLst/>
          </a:prstGeom>
          <a:noFill/>
          <a:ln>
            <a:noFill/>
          </a:ln>
        </p:spPr>
      </p:pic>
      <p:sp>
        <p:nvSpPr>
          <p:cNvPr id="863" name="Google Shape;863;p87"/>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sp>
        <p:nvSpPr>
          <p:cNvPr id="86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47</a:t>
            </a:r>
          </a:p>
        </p:txBody>
      </p:sp>
      <p:sp xmlns:p="http://schemas.openxmlformats.org/presentationml/2006/main" xmlns:a="http://schemas.openxmlformats.org/drawingml/2006/main">
        <p:nvSpPr>
          <p:cNvPr id="86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88"/>
          <p:cNvSpPr txBox="1"/>
          <p:nvPr/>
        </p:nvSpPr>
        <p:spPr>
          <a:xfrm>
            <a:off x="484564" y="927528"/>
            <a:ext cx="7827331" cy="1146932"/>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pPr>
            <a:r>
              <a:rPr b="0" i="0" lang="en-US" sz="2800" u="none" cap="none" strike="noStrike">
                <a:solidFill>
                  <a:schemeClr val="dk1"/>
                </a:solidFill>
                <a:latin typeface="Arial"/>
                <a:ea typeface="Arial"/>
                <a:cs typeface="Arial"/>
                <a:sym typeface="Arial"/>
              </a:rPr>
              <a:t>What is another way you could determine the area of the flag?</a:t>
            </a:r>
            <a:endParaRPr b="0" i="0" sz="1400" u="none" cap="none" strike="noStrike">
              <a:solidFill>
                <a:srgbClr val="000000"/>
              </a:solidFill>
              <a:latin typeface="Arial"/>
              <a:ea typeface="Arial"/>
              <a:cs typeface="Arial"/>
              <a:sym typeface="Arial"/>
            </a:endParaRPr>
          </a:p>
        </p:txBody>
      </p:sp>
      <p:sp>
        <p:nvSpPr>
          <p:cNvPr id="869" name="Google Shape;869;p8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70" name="Google Shape;870;p88"/>
          <p:cNvSpPr txBox="1"/>
          <p:nvPr/>
        </p:nvSpPr>
        <p:spPr>
          <a:xfrm>
            <a:off x="484565" y="3597576"/>
            <a:ext cx="7823464" cy="1146932"/>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pPr>
            <a:r>
              <a:rPr b="0" i="0" lang="en-US" sz="2800" u="none" cap="none" strike="noStrike">
                <a:solidFill>
                  <a:schemeClr val="dk1"/>
                </a:solidFill>
                <a:latin typeface="Arial"/>
                <a:ea typeface="Arial"/>
                <a:cs typeface="Arial"/>
                <a:sym typeface="Arial"/>
              </a:rPr>
              <a:t>What method do you prefer for finding the area of the flag? Explain.</a:t>
            </a:r>
            <a:endParaRPr b="0" i="0" sz="1400" u="none" cap="none" strike="noStrike">
              <a:solidFill>
                <a:srgbClr val="000000"/>
              </a:solidFill>
              <a:latin typeface="Arial"/>
              <a:ea typeface="Arial"/>
              <a:cs typeface="Arial"/>
              <a:sym typeface="Arial"/>
            </a:endParaRPr>
          </a:p>
        </p:txBody>
      </p:sp>
      <p:pic>
        <p:nvPicPr>
          <p:cNvPr id="871" name="Google Shape;871;p88"/>
          <p:cNvPicPr preferRelativeResize="0"/>
          <p:nvPr/>
        </p:nvPicPr>
        <p:blipFill rotWithShape="1">
          <a:blip r:embed="rId3">
            <a:alphaModFix/>
          </a:blip>
          <a:srcRect b="0" l="0" r="0" t="0"/>
          <a:stretch/>
        </p:blipFill>
        <p:spPr>
          <a:xfrm>
            <a:off x="8460487" y="1952625"/>
            <a:ext cx="3467100" cy="2724149"/>
          </a:xfrm>
          <a:prstGeom prst="rect">
            <a:avLst/>
          </a:prstGeom>
          <a:noFill/>
          <a:ln>
            <a:noFill/>
          </a:ln>
        </p:spPr>
      </p:pic>
      <p:sp>
        <p:nvSpPr>
          <p:cNvPr id="87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47</a:t>
            </a:r>
          </a:p>
        </p:txBody>
      </p:sp>
      <p:sp xmlns:p="http://schemas.openxmlformats.org/presentationml/2006/main" xmlns:a="http://schemas.openxmlformats.org/drawingml/2006/main">
        <p:nvSpPr>
          <p:cNvPr id="87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 partner; explain one choice and revise.</a:t>
            </a:r>
            <a:endParaRPr lang="en-US" sz="200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5.4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counting an overlapping region twice or retaining a cutout.</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Outline a proposed partition on the given diagram and label each included region.</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93" name="Google Shape;793;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4" name="Google Shape;794;p80"/>
          <p:cNvSpPr txBox="1"/>
          <p:nvPr/>
        </p:nvSpPr>
        <p:spPr>
          <a:xfrm>
            <a:off x="486000" y="936000"/>
            <a:ext cx="7185478" cy="5923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do you notice about the trapezoid?</a:t>
            </a:r>
            <a:endParaRPr b="0" i="0" sz="1400" u="none" cap="none" strike="noStrike">
              <a:solidFill>
                <a:srgbClr val="000000"/>
              </a:solidFill>
              <a:latin typeface="Arial"/>
              <a:ea typeface="Arial"/>
              <a:cs typeface="Arial"/>
              <a:sym typeface="Arial"/>
            </a:endParaRPr>
          </a:p>
        </p:txBody>
      </p:sp>
      <p:sp>
        <p:nvSpPr>
          <p:cNvPr id="795" name="Google Shape;795;p80"/>
          <p:cNvSpPr txBox="1"/>
          <p:nvPr/>
        </p:nvSpPr>
        <p:spPr>
          <a:xfrm>
            <a:off x="486000" y="5220000"/>
            <a:ext cx="10685118" cy="10537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It is a trapezoid with a triangle cut-out</a:t>
            </a:r>
            <a:r>
              <a:rPr b="0" i="0" lang="en-US" sz="3200" u="none" cap="none" strike="noStrike">
                <a:solidFill>
                  <a:schemeClr val="dk2"/>
                </a:solidFill>
                <a:latin typeface="Arial"/>
                <a:ea typeface="Arial"/>
                <a:cs typeface="Arial"/>
                <a:sym typeface="Arial"/>
              </a:rPr>
              <a:t>.</a:t>
            </a:r>
            <a:endParaRPr b="0" i="0" sz="2800" u="none" cap="none" strike="noStrike">
              <a:solidFill>
                <a:srgbClr val="595959"/>
              </a:solidFill>
              <a:latin typeface="Arial"/>
              <a:ea typeface="Arial"/>
              <a:cs typeface="Arial"/>
              <a:sym typeface="Arial"/>
            </a:endParaRPr>
          </a:p>
        </p:txBody>
      </p:sp>
      <p:sp>
        <p:nvSpPr>
          <p:cNvPr id="796" name="Google Shape;796;p80"/>
          <p:cNvSpPr txBox="1"/>
          <p:nvPr/>
        </p:nvSpPr>
        <p:spPr>
          <a:xfrm>
            <a:off x="486000" y="316800"/>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pic>
        <p:nvPicPr>
          <p:cNvPr id="797" name="Google Shape;797;p80"/>
          <p:cNvPicPr preferRelativeResize="0"/>
          <p:nvPr/>
        </p:nvPicPr>
        <p:blipFill rotWithShape="1">
          <a:blip r:embed="rId2">
            <a:alphaModFix/>
          </a:blip>
          <a:srcRect b="0" l="0" r="0" t="0"/>
          <a:stretch/>
        </p:blipFill>
        <p:spPr>
          <a:xfrm>
            <a:off x="7515225" y="1790700"/>
            <a:ext cx="4533900" cy="3276600"/>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47</a:t>
            </a:r>
          </a:p>
        </p:txBody>
      </p:sp>
      <p:sp xmlns:p="http://schemas.openxmlformats.org/presentationml/2006/main" xmlns:a="http://schemas.openxmlformats.org/drawingml/2006/main">
        <p:nvSpPr>
          <p:cNvPr id="798" name="TEACH-embedded-student-prompt" descr="Student thinking and response directions"/>
          <p:cNvSpPr txBox="1"/>
          <p:nvPr/>
        </p:nvSpPr>
        <p:spPr>
          <a:xfrm>
            <a:off x="594360" y="43159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cxnSp>
        <p:nvCxnSpPr>
          <p:cNvPr id="876" name="Google Shape;876;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7" name="Google Shape;877;p89"/>
          <p:cNvSpPr txBox="1"/>
          <p:nvPr/>
        </p:nvSpPr>
        <p:spPr>
          <a:xfrm>
            <a:off x="484565" y="293237"/>
            <a:ext cx="5492675" cy="64277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 </a:t>
            </a:r>
            <a:r>
              <a:rPr b="1" i="0" lang="en-US" sz="2800" u="none" cap="none" strike="noStrike">
                <a:solidFill>
                  <a:srgbClr val="782DA0"/>
                </a:solidFill>
                <a:latin typeface="Arial"/>
                <a:ea typeface="Arial"/>
                <a:cs typeface="Arial"/>
                <a:sym typeface="Arial"/>
              </a:rPr>
              <a:t>Area of Polygons</a:t>
            </a:r>
            <a:endParaRPr b="1" i="0" sz="1500" u="none" cap="none" strike="noStrike">
              <a:solidFill>
                <a:srgbClr val="782DA0"/>
              </a:solidFill>
              <a:latin typeface="Arial"/>
              <a:ea typeface="Arial"/>
              <a:cs typeface="Arial"/>
              <a:sym typeface="Arial"/>
            </a:endParaRPr>
          </a:p>
        </p:txBody>
      </p:sp>
      <p:sp>
        <p:nvSpPr>
          <p:cNvPr id="878" name="Google Shape;878;p89"/>
          <p:cNvSpPr/>
          <p:nvPr/>
        </p:nvSpPr>
        <p:spPr>
          <a:xfrm>
            <a:off x="4559403" y="3407496"/>
            <a:ext cx="5901949" cy="2037161"/>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79" name="Google Shape;879;p89"/>
          <p:cNvSpPr txBox="1"/>
          <p:nvPr/>
        </p:nvSpPr>
        <p:spPr>
          <a:xfrm>
            <a:off x="484565" y="936000"/>
            <a:ext cx="7916485" cy="184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area of polygons can be found by decomposing them into triangles or quadrilaterals, or by composing them into rectangles.</a:t>
            </a:r>
            <a:endParaRPr b="0" i="0" sz="2800" u="none" cap="none" strike="noStrike">
              <a:solidFill>
                <a:srgbClr val="262626"/>
              </a:solidFill>
              <a:latin typeface="Cambria Math"/>
              <a:ea typeface="Cambria Math"/>
              <a:cs typeface="Cambria Math"/>
              <a:sym typeface="Cambria Math"/>
            </a:endParaRPr>
          </a:p>
        </p:txBody>
      </p:sp>
      <p:pic>
        <p:nvPicPr>
          <p:cNvPr id="880" name="Google Shape;880;p89"/>
          <p:cNvPicPr preferRelativeResize="0"/>
          <p:nvPr/>
        </p:nvPicPr>
        <p:blipFill rotWithShape="1">
          <a:blip r:embed="rId4">
            <a:alphaModFix/>
          </a:blip>
          <a:srcRect b="0" l="0" r="0" t="0"/>
          <a:stretch/>
        </p:blipFill>
        <p:spPr>
          <a:xfrm>
            <a:off x="906786" y="2976340"/>
            <a:ext cx="2714625" cy="3067050"/>
          </a:xfrm>
          <a:prstGeom prst="rect">
            <a:avLst/>
          </a:prstGeom>
          <a:noFill/>
          <a:ln>
            <a:noFill/>
          </a:ln>
        </p:spPr>
      </p:pic>
      <p:sp>
        <p:nvSpPr>
          <p:cNvPr id="8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47</a:t>
            </a:r>
          </a:p>
        </p:txBody>
      </p:sp>
      <p:sp>
        <p:nvSpPr>
          <p:cNvPr id="88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  SAY IT IN YOUR OWN WORDS</a:t>
            </a:r>
          </a:p>
        </p:txBody>
      </p:sp>
      <p:grpSp>
        <p:nvGrpSpPr>
          <p:cNvPr id="883" name="TEACH-4-student-move" descr="TEACH 4 · Monitor progress and provide feedback"/>
          <p:cNvGrpSpPr/>
          <p:nvPr/>
        </p:nvGrpSpPr>
        <p:grpSpPr>
          <a:xfrm>
            <a:off x="4753661" y="2540000"/>
            <a:ext cx="6935419" cy="681375"/>
            <a:chOff x="502920" y="2537428"/>
            <a:chExt cx="11186160" cy="402336"/>
          </a:xfrm>
        </p:grpSpPr>
        <p:sp>
          <p:nvSpPr>
            <p:cNvPr id="884" name="TEACH-move-card"/>
            <p:cNvSpPr/>
            <p:nvPr/>
          </p:nvSpPr>
          <p:spPr>
            <a:xfrm>
              <a:off x="502920" y="25374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85" name="TEACH-move-rule"/>
            <p:cNvSpPr/>
            <p:nvPr/>
          </p:nvSpPr>
          <p:spPr>
            <a:xfrm>
              <a:off x="548640" y="2613872"/>
              <a:ext cx="100584" cy="249448"/>
            </a:xfrm>
            <a:prstGeom prst="roundRect">
              <a:avLst>
                <a:gd name="adj" fmla="val 50000"/>
              </a:avLst>
            </a:prstGeom>
            <a:solidFill>
              <a:srgbClr val="01708C"/>
            </a:solidFill>
            <a:ln>
              <a:noFill/>
            </a:ln>
          </p:spPr>
          <p:txBody>
            <a:bodyPr/>
            <a:lstStyle/>
            <a:p>
              <a:endParaRPr/>
            </a:p>
          </p:txBody>
        </p:sp>
        <p:sp>
          <p:nvSpPr>
            <p:cNvPr id="886" name="TEACH-move-text"/>
            <p:cNvSpPr txBox="1"/>
            <p:nvPr/>
          </p:nvSpPr>
          <p:spPr>
            <a:xfrm>
              <a:off x="822960" y="25374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cxnSp>
        <p:nvCxnSpPr>
          <p:cNvPr id="885" name="Google Shape;885;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6" name="Google Shape;886;p90"/>
          <p:cNvSpPr/>
          <p:nvPr/>
        </p:nvSpPr>
        <p:spPr>
          <a:xfrm>
            <a:off x="5405491" y="3327470"/>
            <a:ext cx="6405509" cy="197470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87" name="Google Shape;887;p90"/>
          <p:cNvSpPr txBox="1"/>
          <p:nvPr/>
        </p:nvSpPr>
        <p:spPr>
          <a:xfrm>
            <a:off x="484565" y="293237"/>
            <a:ext cx="5492675" cy="64277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Summarize: </a:t>
            </a:r>
            <a:r>
              <a:rPr b="1" i="0" lang="en-US" sz="2800" u="none" cap="none" strike="noStrike">
                <a:solidFill>
                  <a:srgbClr val="782DA0"/>
                </a:solidFill>
                <a:latin typeface="Arial"/>
                <a:ea typeface="Arial"/>
                <a:cs typeface="Arial"/>
                <a:sym typeface="Arial"/>
              </a:rPr>
              <a:t>Area of Polygons</a:t>
            </a:r>
            <a:endParaRPr b="1" i="0" sz="1500" u="none" cap="none" strike="noStrike">
              <a:solidFill>
                <a:srgbClr val="782DA0"/>
              </a:solidFill>
              <a:latin typeface="Arial"/>
              <a:ea typeface="Arial"/>
              <a:cs typeface="Arial"/>
              <a:sym typeface="Arial"/>
            </a:endParaRPr>
          </a:p>
        </p:txBody>
      </p:sp>
      <p:pic>
        <p:nvPicPr>
          <p:cNvPr id="888" name="Google Shape;888;p90"/>
          <p:cNvPicPr preferRelativeResize="0"/>
          <p:nvPr/>
        </p:nvPicPr>
        <p:blipFill rotWithShape="1">
          <a:blip r:embed="rId4">
            <a:alphaModFix/>
          </a:blip>
          <a:srcRect b="0" l="0" r="0" t="0"/>
          <a:stretch/>
        </p:blipFill>
        <p:spPr>
          <a:xfrm>
            <a:off x="491457" y="2890837"/>
            <a:ext cx="4533900" cy="2847975"/>
          </a:xfrm>
          <a:prstGeom prst="rect">
            <a:avLst/>
          </a:prstGeom>
          <a:noFill/>
          <a:ln>
            <a:noFill/>
          </a:ln>
        </p:spPr>
      </p:pic>
      <p:sp>
        <p:nvSpPr>
          <p:cNvPr id="889" name="Google Shape;889;p90"/>
          <p:cNvSpPr txBox="1"/>
          <p:nvPr/>
        </p:nvSpPr>
        <p:spPr>
          <a:xfrm>
            <a:off x="484565" y="936000"/>
            <a:ext cx="7916485" cy="184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area of polygons can be found by decomposing them into triangles or quadrilaterals, or by composing them into rectangles.</a:t>
            </a:r>
            <a:endParaRPr b="0" i="0" sz="2800" u="none" cap="none" strike="noStrike">
              <a:solidFill>
                <a:srgbClr val="262626"/>
              </a:solidFill>
              <a:latin typeface="Cambria Math"/>
              <a:ea typeface="Cambria Math"/>
              <a:cs typeface="Cambria Math"/>
              <a:sym typeface="Cambria Math"/>
            </a:endParaRPr>
          </a:p>
        </p:txBody>
      </p:sp>
      <p:sp>
        <p:nvSpPr>
          <p:cNvPr id="89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47</a:t>
            </a:r>
          </a:p>
        </p:txBody>
      </p:sp>
      <p:sp>
        <p:nvSpPr>
          <p:cNvPr id="89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  SAY IT IN YOUR OWN WORDS</a:t>
            </a:r>
          </a:p>
        </p:txBody>
      </p:sp>
      <p:sp xmlns:p="http://schemas.openxmlformats.org/presentationml/2006/main" xmlns:a="http://schemas.openxmlformats.org/drawingml/2006/main">
        <p:nvSpPr>
          <p:cNvPr id="892"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a:t>
            </a:r>
            <a:endParaRPr lang="en-US" sz="2000"/>
          </a:p>
          <a:p>
            <a:pPr>
              <a:lnSpc>
                <a:spcPts val="2400"/>
              </a:lnSpc>
              <a:buNone/>
            </a:pPr>
            <a:r>
              <a:rPr lang="en-US" sz="2000">
                <a:solidFill>
                  <a:srgbClr val="174D60"/>
                </a:solidFill>
                <a:latin typeface="Arial"/>
              </a:rPr>
              <a:t>today’s example as evidence.</a:t>
            </a:r>
            <a:endParaRPr lang="en-US"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cxnSp>
        <p:nvCxnSpPr>
          <p:cNvPr id="894" name="Google Shape;894;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5" name="Google Shape;895;p91"/>
          <p:cNvSpPr txBox="1"/>
          <p:nvPr/>
        </p:nvSpPr>
        <p:spPr>
          <a:xfrm>
            <a:off x="484566" y="928800"/>
            <a:ext cx="5907784" cy="51684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A garden designer wants to cover a gazebo floor with tiles. The gazebo is shaped like a decagon with equal sides.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Question: </a:t>
            </a:r>
            <a:r>
              <a:rPr b="0" i="0" lang="en-US" sz="2800" u="none" cap="none" strike="noStrike">
                <a:solidFill>
                  <a:srgbClr val="23282D"/>
                </a:solidFill>
                <a:latin typeface="Arial"/>
                <a:ea typeface="Arial"/>
                <a:cs typeface="Arial"/>
                <a:sym typeface="Arial"/>
              </a:rPr>
              <a:t>If floor tiles cost $2.89 per square foot, what budget do you recommend the designer have for the tiles?</a:t>
            </a:r>
            <a:endParaRPr b="0" i="0" sz="1400" u="none" cap="none" strike="noStrike">
              <a:solidFill>
                <a:srgbClr val="000000"/>
              </a:solidFill>
              <a:latin typeface="Arial"/>
              <a:ea typeface="Arial"/>
              <a:cs typeface="Arial"/>
              <a:sym typeface="Arial"/>
            </a:endParaRPr>
          </a:p>
        </p:txBody>
      </p:sp>
      <p:sp>
        <p:nvSpPr>
          <p:cNvPr id="896" name="Google Shape;896;p91"/>
          <p:cNvSpPr txBox="1"/>
          <p:nvPr/>
        </p:nvSpPr>
        <p:spPr>
          <a:xfrm>
            <a:off x="360704" y="297746"/>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 </a:t>
            </a:r>
            <a:r>
              <a:rPr b="0" i="0" lang="en-US" sz="2800" u="none" cap="none" strike="noStrike">
                <a:solidFill>
                  <a:srgbClr val="782DA0"/>
                </a:solidFill>
                <a:latin typeface="Arial"/>
                <a:ea typeface="Arial"/>
                <a:cs typeface="Arial"/>
                <a:sym typeface="Arial"/>
              </a:rPr>
              <a:t>Apply: </a:t>
            </a:r>
            <a:r>
              <a:rPr b="1" i="0" lang="en-US" sz="2800" u="none" cap="none" strike="noStrike">
                <a:solidFill>
                  <a:srgbClr val="782DA0"/>
                </a:solidFill>
                <a:latin typeface="Arial"/>
                <a:ea typeface="Arial"/>
                <a:cs typeface="Arial"/>
                <a:sym typeface="Arial"/>
              </a:rPr>
              <a:t>Flooring</a:t>
            </a:r>
            <a:endParaRPr b="0" i="0" sz="1400" u="none" cap="none" strike="noStrike">
              <a:solidFill>
                <a:srgbClr val="000000"/>
              </a:solidFill>
              <a:latin typeface="Arial"/>
              <a:ea typeface="Arial"/>
              <a:cs typeface="Arial"/>
              <a:sym typeface="Arial"/>
            </a:endParaRPr>
          </a:p>
        </p:txBody>
      </p:sp>
      <p:pic>
        <p:nvPicPr>
          <p:cNvPr id="897" name="Google Shape;897;p91"/>
          <p:cNvPicPr preferRelativeResize="0"/>
          <p:nvPr/>
        </p:nvPicPr>
        <p:blipFill rotWithShape="1">
          <a:blip r:embed="rId3">
            <a:alphaModFix/>
          </a:blip>
          <a:srcRect b="0" l="0" r="0" t="0"/>
          <a:stretch/>
        </p:blipFill>
        <p:spPr>
          <a:xfrm>
            <a:off x="6601900" y="2262561"/>
            <a:ext cx="5379231" cy="2520000"/>
          </a:xfrm>
          <a:prstGeom prst="rect">
            <a:avLst/>
          </a:prstGeom>
          <a:noFill/>
          <a:ln>
            <a:noFill/>
          </a:ln>
        </p:spPr>
      </p:pic>
      <p:sp>
        <p:nvSpPr>
          <p:cNvPr id="89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47</a:t>
            </a:r>
          </a:p>
        </p:txBody>
      </p:sp>
      <p:sp>
        <p:nvSpPr>
          <p:cNvPr id="899"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  PLAN IT • SOLVE IT • PROVE IT</a:t>
            </a:r>
          </a:p>
        </p:txBody>
      </p:sp>
      <p:sp xmlns:p="http://schemas.openxmlformats.org/presentationml/2006/main" xmlns:a="http://schemas.openxmlformats.org/drawingml/2006/main">
        <p:nvSpPr>
          <p:cNvPr id="900"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a:t>
            </a:r>
            <a:endParaRPr lang="en-US" sz="2000"/>
          </a:p>
          <a:p>
            <a:pPr>
              <a:lnSpc>
                <a:spcPts val="2400"/>
              </a:lnSpc>
              <a:buNone/>
            </a:pPr>
            <a:r>
              <a:rPr lang="en-US" sz="2000">
                <a:solidFill>
                  <a:srgbClr val="174D60"/>
                </a:solidFill>
                <a:latin typeface="Arial"/>
              </a:rPr>
              <a:t>independently, justify your</a:t>
            </a:r>
            <a:endParaRPr lang="en-US" sz="2000"/>
          </a:p>
          <a:p>
            <a:pPr>
              <a:lnSpc>
                <a:spcPts val="2400"/>
              </a:lnSpc>
              <a:buNone/>
            </a:pPr>
            <a:r>
              <a:rPr lang="en-US" sz="2000">
                <a:solidFill>
                  <a:srgbClr val="174D60"/>
                </a:solidFill>
                <a:latin typeface="Arial"/>
              </a:rPr>
              <a:t>answer, then check the goal.</a:t>
            </a:r>
            <a:endParaRPr lang="en-US" sz="200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02" name="Google Shape;902;p9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03" name="Google Shape;903;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4" name="Google Shape;904;p92"/>
          <p:cNvSpPr txBox="1"/>
          <p:nvPr/>
        </p:nvSpPr>
        <p:spPr>
          <a:xfrm>
            <a:off x="484564" y="927528"/>
            <a:ext cx="818794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find the area of a regular polygon by decomposing the figure into triangles.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make use of structure to find the area of a composite figure by decomposing the figure into other shapes.</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47</a:t>
            </a:r>
          </a:p>
        </p:txBody>
      </p:sp>
      <p:grpSp>
        <p:nvGrpSpPr>
          <p:cNvPr id="905" name="TEACH-1-student-move" descr="TEACH 1 · Facilitate clear, standards-based content learning"/>
          <p:cNvGrpSpPr/>
          <p:nvPr/>
        </p:nvGrpSpPr>
        <p:grpSpPr>
          <a:xfrm>
            <a:off x="502920" y="5472790"/>
            <a:ext cx="11186160" cy="402336"/>
            <a:chOff x="502920" y="5472790"/>
            <a:chExt cx="11186160" cy="402336"/>
          </a:xfrm>
        </p:grpSpPr>
        <p:sp>
          <p:nvSpPr>
            <p:cNvPr id="906"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7"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08"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5.4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Decompose or enclose the figure.</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24 / 47</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29 / 47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5-4</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35 / 47</a:t>
            </a:r>
          </a:p>
        </p:txBody>
      </p:sp>
    </p:spTree>
  </p:cSld>
  <p:clrMapOvr>
    <a:masterClrMapping/>
  </p:clrMapOvr>
</p:sld>
</file>

<file path=ppt/theme/theme1.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5.4 — Apply Area Concepts to Solve Problems</dc:title>
  <dc:creator>Neft Teacher</dc:creator>
  <cp:lastModifiedBy>Neft Teacher</cp:lastModifiedBy>
  <dcterms:created xsi:type="dcterms:W3CDTF">2026-09-30T12:04:43Z</dcterms:created>
  <dcterms:modified xsi:type="dcterms:W3CDTF">2026-09-30T12:04:43Z</dcterms:modified>
</cp:coreProperties>
</file>